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58" r:id="rId2"/>
    <p:sldId id="265" r:id="rId3"/>
    <p:sldId id="262" r:id="rId4"/>
    <p:sldId id="257" r:id="rId5"/>
    <p:sldId id="260" r:id="rId6"/>
    <p:sldId id="277" r:id="rId7"/>
    <p:sldId id="276" r:id="rId8"/>
    <p:sldId id="278" r:id="rId9"/>
    <p:sldId id="279" r:id="rId10"/>
    <p:sldId id="281" r:id="rId11"/>
    <p:sldId id="280" r:id="rId12"/>
    <p:sldId id="308" r:id="rId13"/>
    <p:sldId id="266" r:id="rId14"/>
    <p:sldId id="270" r:id="rId15"/>
    <p:sldId id="267" r:id="rId16"/>
    <p:sldId id="271" r:id="rId17"/>
    <p:sldId id="282" r:id="rId18"/>
    <p:sldId id="285" r:id="rId19"/>
    <p:sldId id="289" r:id="rId20"/>
    <p:sldId id="290" r:id="rId21"/>
    <p:sldId id="291" r:id="rId22"/>
    <p:sldId id="292" r:id="rId23"/>
    <p:sldId id="293" r:id="rId24"/>
    <p:sldId id="294" r:id="rId25"/>
    <p:sldId id="303" r:id="rId26"/>
    <p:sldId id="305" r:id="rId27"/>
    <p:sldId id="304" r:id="rId28"/>
    <p:sldId id="306" r:id="rId29"/>
    <p:sldId id="307" r:id="rId30"/>
    <p:sldId id="309" r:id="rId31"/>
    <p:sldId id="310" r:id="rId32"/>
    <p:sldId id="312" r:id="rId33"/>
    <p:sldId id="311" r:id="rId34"/>
    <p:sldId id="313" r:id="rId35"/>
    <p:sldId id="275" r:id="rId36"/>
    <p:sldId id="286" r:id="rId37"/>
    <p:sldId id="295" r:id="rId38"/>
    <p:sldId id="296" r:id="rId39"/>
    <p:sldId id="297" r:id="rId40"/>
    <p:sldId id="298" r:id="rId41"/>
    <p:sldId id="283" r:id="rId42"/>
    <p:sldId id="287" r:id="rId43"/>
    <p:sldId id="299" r:id="rId44"/>
    <p:sldId id="284" r:id="rId45"/>
    <p:sldId id="288" r:id="rId46"/>
    <p:sldId id="300" r:id="rId47"/>
    <p:sldId id="301" r:id="rId48"/>
    <p:sldId id="302" r:id="rId49"/>
    <p:sldId id="268" r:id="rId50"/>
    <p:sldId id="272" r:id="rId51"/>
    <p:sldId id="264" r:id="rId52"/>
    <p:sldId id="261" r:id="rId53"/>
  </p:sldIdLst>
  <p:sldSz cx="12192000" cy="6858000"/>
  <p:notesSz cx="6858000" cy="9144000"/>
  <p:custDataLst>
    <p:tags r:id="rId5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661" autoAdjust="0"/>
  </p:normalViewPr>
  <p:slideViewPr>
    <p:cSldViewPr snapToGrid="0" showGuides="1">
      <p:cViewPr varScale="1">
        <p:scale>
          <a:sx n="95" d="100"/>
          <a:sy n="95" d="100"/>
        </p:scale>
        <p:origin x="1134" y="78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en-US" altLang="zh-CN" dirty="0" smtClean="0"/>
            <a:t>IPC</a:t>
          </a:r>
          <a:r>
            <a:rPr lang="zh-CN" altLang="en-US" dirty="0" smtClean="0"/>
            <a:t>的使用及初始化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安装必需的库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程序代码介绍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修改并运行程序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C002880E-6274-46E4-B62A-87EA10AFD6A8}" type="presOf" srcId="{3F9AE8EF-E0BD-4A86-A1DC-73AF72B43E8D}" destId="{2147596E-7442-41E7-9852-40E25C424996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9A062C16-6F15-4B9E-A9B7-0837B9668702}" type="presOf" srcId="{314AE731-DFBF-4A5B-8171-86B7AA2F2858}" destId="{5653E5CF-63C1-4886-9DFE-DC4B36C44A33}" srcOrd="0" destOrd="0" presId="urn:microsoft.com/office/officeart/2005/8/layout/chevron1"/>
    <dgm:cxn modelId="{2D21A569-BF9C-4944-95D7-704E6DF4C4C1}" type="presOf" srcId="{BEAB6AAF-246B-444D-90D9-FB867EA43595}" destId="{FC4CA3E0-7A9C-47CB-88C9-7F81B89FD5A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CA28E8CD-F885-4687-A296-505B0F94DE9C}" type="presOf" srcId="{211D359A-E621-4AEC-B365-EBCECA4D5608}" destId="{50739AC9-FC4E-42C3-B62E-1016634A724A}" srcOrd="0" destOrd="0" presId="urn:microsoft.com/office/officeart/2005/8/layout/chevron1"/>
    <dgm:cxn modelId="{CB6E85CA-FF12-4A70-B208-0DC1386BFDE4}" type="presOf" srcId="{C6C44482-D821-4FAE-BB52-29931F8BCBDE}" destId="{E2DC7CE9-31B9-4959-914F-451EA2F3687E}" srcOrd="0" destOrd="0" presId="urn:microsoft.com/office/officeart/2005/8/layout/chevron1"/>
    <dgm:cxn modelId="{4E9DB1F7-0598-463B-AFB2-9F0937D455ED}" type="presParOf" srcId="{5653E5CF-63C1-4886-9DFE-DC4B36C44A33}" destId="{FC4CA3E0-7A9C-47CB-88C9-7F81B89FD5AA}" srcOrd="0" destOrd="0" presId="urn:microsoft.com/office/officeart/2005/8/layout/chevron1"/>
    <dgm:cxn modelId="{CAE2E7CA-8AD9-4DB9-B411-E075A77A2E26}" type="presParOf" srcId="{5653E5CF-63C1-4886-9DFE-DC4B36C44A33}" destId="{ED8D2DC7-F6B9-49A1-A3FB-6645AA0B27C9}" srcOrd="1" destOrd="0" presId="urn:microsoft.com/office/officeart/2005/8/layout/chevron1"/>
    <dgm:cxn modelId="{60B9A9ED-EA9F-43BD-BE1B-8A51F47518B6}" type="presParOf" srcId="{5653E5CF-63C1-4886-9DFE-DC4B36C44A33}" destId="{2147596E-7442-41E7-9852-40E25C424996}" srcOrd="2" destOrd="0" presId="urn:microsoft.com/office/officeart/2005/8/layout/chevron1"/>
    <dgm:cxn modelId="{0C031293-4477-4282-A20D-1559E5B8B912}" type="presParOf" srcId="{5653E5CF-63C1-4886-9DFE-DC4B36C44A33}" destId="{78A125B0-FC96-47C5-ADBC-5773E5EBD695}" srcOrd="3" destOrd="0" presId="urn:microsoft.com/office/officeart/2005/8/layout/chevron1"/>
    <dgm:cxn modelId="{F38C2E7B-33BC-404B-B175-E9CB6249303D}" type="presParOf" srcId="{5653E5CF-63C1-4886-9DFE-DC4B36C44A33}" destId="{50739AC9-FC4E-42C3-B62E-1016634A724A}" srcOrd="4" destOrd="0" presId="urn:microsoft.com/office/officeart/2005/8/layout/chevron1"/>
    <dgm:cxn modelId="{9FD14DC6-48EF-4C88-A9DA-91274B8A8A70}" type="presParOf" srcId="{5653E5CF-63C1-4886-9DFE-DC4B36C44A33}" destId="{BA7DB2C5-C694-4861-95D5-BF30690EE501}" srcOrd="5" destOrd="0" presId="urn:microsoft.com/office/officeart/2005/8/layout/chevron1"/>
    <dgm:cxn modelId="{58EB0E55-3764-474A-AD1E-05419BBC63AA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IPC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的使用及初始化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安装必需的库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程序代码介绍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修改并运行程序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DB94DC7-836C-429B-BC18-42499EFFC39E}" type="presOf" srcId="{314AE731-DFBF-4A5B-8171-86B7AA2F2858}" destId="{5653E5CF-63C1-4886-9DFE-DC4B36C44A33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C7787033-9692-42DE-A1DE-BC1E15B1222B}" type="presOf" srcId="{C6C44482-D821-4FAE-BB52-29931F8BCBDE}" destId="{E2DC7CE9-31B9-4959-914F-451EA2F3687E}" srcOrd="0" destOrd="0" presId="urn:microsoft.com/office/officeart/2005/8/layout/chevron1"/>
    <dgm:cxn modelId="{9965E78D-691A-45C6-AD34-DBD22E423534}" type="presOf" srcId="{3F9AE8EF-E0BD-4A86-A1DC-73AF72B43E8D}" destId="{2147596E-7442-41E7-9852-40E25C424996}" srcOrd="0" destOrd="0" presId="urn:microsoft.com/office/officeart/2005/8/layout/chevron1"/>
    <dgm:cxn modelId="{52BEFBA7-5BCF-4469-A91F-095F620F1938}" type="presOf" srcId="{211D359A-E621-4AEC-B365-EBCECA4D5608}" destId="{50739AC9-FC4E-42C3-B62E-1016634A724A}" srcOrd="0" destOrd="0" presId="urn:microsoft.com/office/officeart/2005/8/layout/chevron1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49C9BA12-7321-4431-AC00-E99D5CB75F63}" type="presOf" srcId="{BEAB6AAF-246B-444D-90D9-FB867EA43595}" destId="{FC4CA3E0-7A9C-47CB-88C9-7F81B89FD5AA}" srcOrd="0" destOrd="0" presId="urn:microsoft.com/office/officeart/2005/8/layout/chevron1"/>
    <dgm:cxn modelId="{6DDBC2C8-FF22-4C4C-A3D8-9EC66F065022}" type="presParOf" srcId="{5653E5CF-63C1-4886-9DFE-DC4B36C44A33}" destId="{FC4CA3E0-7A9C-47CB-88C9-7F81B89FD5AA}" srcOrd="0" destOrd="0" presId="urn:microsoft.com/office/officeart/2005/8/layout/chevron1"/>
    <dgm:cxn modelId="{CAD9BDAB-5448-4960-865A-3FA66FD02A47}" type="presParOf" srcId="{5653E5CF-63C1-4886-9DFE-DC4B36C44A33}" destId="{ED8D2DC7-F6B9-49A1-A3FB-6645AA0B27C9}" srcOrd="1" destOrd="0" presId="urn:microsoft.com/office/officeart/2005/8/layout/chevron1"/>
    <dgm:cxn modelId="{1F2734E0-ED53-4F82-A67C-5A138DA9F36C}" type="presParOf" srcId="{5653E5CF-63C1-4886-9DFE-DC4B36C44A33}" destId="{2147596E-7442-41E7-9852-40E25C424996}" srcOrd="2" destOrd="0" presId="urn:microsoft.com/office/officeart/2005/8/layout/chevron1"/>
    <dgm:cxn modelId="{792EA11F-509A-4115-9ACF-F0A12C61CE85}" type="presParOf" srcId="{5653E5CF-63C1-4886-9DFE-DC4B36C44A33}" destId="{78A125B0-FC96-47C5-ADBC-5773E5EBD695}" srcOrd="3" destOrd="0" presId="urn:microsoft.com/office/officeart/2005/8/layout/chevron1"/>
    <dgm:cxn modelId="{CE300AD1-6D5B-46E2-AD5F-03C95537CCAD}" type="presParOf" srcId="{5653E5CF-63C1-4886-9DFE-DC4B36C44A33}" destId="{50739AC9-FC4E-42C3-B62E-1016634A724A}" srcOrd="4" destOrd="0" presId="urn:microsoft.com/office/officeart/2005/8/layout/chevron1"/>
    <dgm:cxn modelId="{BB5D0528-0BE7-4252-A0D8-D84A85F603CD}" type="presParOf" srcId="{5653E5CF-63C1-4886-9DFE-DC4B36C44A33}" destId="{BA7DB2C5-C694-4861-95D5-BF30690EE501}" srcOrd="5" destOrd="0" presId="urn:microsoft.com/office/officeart/2005/8/layout/chevron1"/>
    <dgm:cxn modelId="{806F5495-EA44-4148-92B9-5A344F1D8BF5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IPC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的使用及初始化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安装必需的库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程序代码介绍</a:t>
          </a:r>
          <a:endParaRPr lang="zh-CN" altLang="en-US" dirty="0">
            <a:solidFill>
              <a:schemeClr val="tx1"/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修改并运行程序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9571334E-749B-4866-9949-DAC273D9E6EA}" type="presOf" srcId="{314AE731-DFBF-4A5B-8171-86B7AA2F2858}" destId="{5653E5CF-63C1-4886-9DFE-DC4B36C44A33}" srcOrd="0" destOrd="0" presId="urn:microsoft.com/office/officeart/2005/8/layout/chevron1"/>
    <dgm:cxn modelId="{E340AA15-AF91-4554-ACEB-AA0B379E7BF9}" type="presOf" srcId="{3F9AE8EF-E0BD-4A86-A1DC-73AF72B43E8D}" destId="{2147596E-7442-41E7-9852-40E25C424996}" srcOrd="0" destOrd="0" presId="urn:microsoft.com/office/officeart/2005/8/layout/chevron1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44B4A6B0-D476-4576-AD90-259A962386C9}" type="presOf" srcId="{C6C44482-D821-4FAE-BB52-29931F8BCBDE}" destId="{E2DC7CE9-31B9-4959-914F-451EA2F3687E}" srcOrd="0" destOrd="0" presId="urn:microsoft.com/office/officeart/2005/8/layout/chevron1"/>
    <dgm:cxn modelId="{06CDA6D7-676F-4C7F-B4EA-73FF1929DBFF}" type="presOf" srcId="{211D359A-E621-4AEC-B365-EBCECA4D5608}" destId="{50739AC9-FC4E-42C3-B62E-1016634A724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72E54EB2-BF35-4F56-87DA-6206A5AD5FA0}" type="presOf" srcId="{BEAB6AAF-246B-444D-90D9-FB867EA43595}" destId="{FC4CA3E0-7A9C-47CB-88C9-7F81B89FD5AA}" srcOrd="0" destOrd="0" presId="urn:microsoft.com/office/officeart/2005/8/layout/chevron1"/>
    <dgm:cxn modelId="{E0F70F49-1752-4B04-A916-633BB6E91DA6}" type="presParOf" srcId="{5653E5CF-63C1-4886-9DFE-DC4B36C44A33}" destId="{FC4CA3E0-7A9C-47CB-88C9-7F81B89FD5AA}" srcOrd="0" destOrd="0" presId="urn:microsoft.com/office/officeart/2005/8/layout/chevron1"/>
    <dgm:cxn modelId="{DE50C0F2-CB5B-4E7F-8C5A-68349D1B359E}" type="presParOf" srcId="{5653E5CF-63C1-4886-9DFE-DC4B36C44A33}" destId="{ED8D2DC7-F6B9-49A1-A3FB-6645AA0B27C9}" srcOrd="1" destOrd="0" presId="urn:microsoft.com/office/officeart/2005/8/layout/chevron1"/>
    <dgm:cxn modelId="{855CB7C3-DB64-47A6-B42B-217C8C37BFE6}" type="presParOf" srcId="{5653E5CF-63C1-4886-9DFE-DC4B36C44A33}" destId="{2147596E-7442-41E7-9852-40E25C424996}" srcOrd="2" destOrd="0" presId="urn:microsoft.com/office/officeart/2005/8/layout/chevron1"/>
    <dgm:cxn modelId="{B2152A3E-3B4D-4B49-B657-2B774545EF63}" type="presParOf" srcId="{5653E5CF-63C1-4886-9DFE-DC4B36C44A33}" destId="{78A125B0-FC96-47C5-ADBC-5773E5EBD695}" srcOrd="3" destOrd="0" presId="urn:microsoft.com/office/officeart/2005/8/layout/chevron1"/>
    <dgm:cxn modelId="{D66C2265-30F4-46B5-BFC9-1382A31897C4}" type="presParOf" srcId="{5653E5CF-63C1-4886-9DFE-DC4B36C44A33}" destId="{50739AC9-FC4E-42C3-B62E-1016634A724A}" srcOrd="4" destOrd="0" presId="urn:microsoft.com/office/officeart/2005/8/layout/chevron1"/>
    <dgm:cxn modelId="{26823EEE-2BF7-44CD-9D54-0A45FC40F2CD}" type="presParOf" srcId="{5653E5CF-63C1-4886-9DFE-DC4B36C44A33}" destId="{BA7DB2C5-C694-4861-95D5-BF30690EE501}" srcOrd="5" destOrd="0" presId="urn:microsoft.com/office/officeart/2005/8/layout/chevron1"/>
    <dgm:cxn modelId="{BEE192C6-208B-4425-A2CB-E0714A1C9A21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en-US" altLang="zh-CN" dirty="0" smtClean="0">
              <a:solidFill>
                <a:schemeClr val="bg1">
                  <a:lumMod val="65000"/>
                </a:schemeClr>
              </a:solidFill>
            </a:rPr>
            <a:t>IPC</a:t>
          </a:r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的使用及初始化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安装必需的库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程序代码介绍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修改并运行程序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E60BD537-1C47-4EE9-BCB5-92C7EC16CB0E}" type="presOf" srcId="{C6C44482-D821-4FAE-BB52-29931F8BCBDE}" destId="{E2DC7CE9-31B9-4959-914F-451EA2F3687E}" srcOrd="0" destOrd="0" presId="urn:microsoft.com/office/officeart/2005/8/layout/chevron1"/>
    <dgm:cxn modelId="{DC51B7D4-FF32-4085-B643-DBF1C6654F6C}" type="presOf" srcId="{3F9AE8EF-E0BD-4A86-A1DC-73AF72B43E8D}" destId="{2147596E-7442-41E7-9852-40E25C424996}" srcOrd="0" destOrd="0" presId="urn:microsoft.com/office/officeart/2005/8/layout/chevron1"/>
    <dgm:cxn modelId="{9EF94BC3-CA14-4EE9-A63E-66BF2B68FF19}" type="presOf" srcId="{BEAB6AAF-246B-444D-90D9-FB867EA43595}" destId="{FC4CA3E0-7A9C-47CB-88C9-7F81B89FD5A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17607B3F-C785-451C-8038-A27522E9AD9F}" type="presOf" srcId="{314AE731-DFBF-4A5B-8171-86B7AA2F2858}" destId="{5653E5CF-63C1-4886-9DFE-DC4B36C44A33}" srcOrd="0" destOrd="0" presId="urn:microsoft.com/office/officeart/2005/8/layout/chevron1"/>
    <dgm:cxn modelId="{8E36D140-B518-40AF-9847-48CEB9BFEC14}" type="presOf" srcId="{211D359A-E621-4AEC-B365-EBCECA4D5608}" destId="{50739AC9-FC4E-42C3-B62E-1016634A724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9ACDEF0E-58C4-4FD6-8A15-6854D1BADE0C}" type="presParOf" srcId="{5653E5CF-63C1-4886-9DFE-DC4B36C44A33}" destId="{FC4CA3E0-7A9C-47CB-88C9-7F81B89FD5AA}" srcOrd="0" destOrd="0" presId="urn:microsoft.com/office/officeart/2005/8/layout/chevron1"/>
    <dgm:cxn modelId="{FED8F008-E0D0-43E4-B3B8-36008018478F}" type="presParOf" srcId="{5653E5CF-63C1-4886-9DFE-DC4B36C44A33}" destId="{ED8D2DC7-F6B9-49A1-A3FB-6645AA0B27C9}" srcOrd="1" destOrd="0" presId="urn:microsoft.com/office/officeart/2005/8/layout/chevron1"/>
    <dgm:cxn modelId="{CE757F16-511D-47D6-B473-AB0B22CCB9F4}" type="presParOf" srcId="{5653E5CF-63C1-4886-9DFE-DC4B36C44A33}" destId="{2147596E-7442-41E7-9852-40E25C424996}" srcOrd="2" destOrd="0" presId="urn:microsoft.com/office/officeart/2005/8/layout/chevron1"/>
    <dgm:cxn modelId="{513DB04B-CE31-4B80-B273-7E13FEE6C6C1}" type="presParOf" srcId="{5653E5CF-63C1-4886-9DFE-DC4B36C44A33}" destId="{78A125B0-FC96-47C5-ADBC-5773E5EBD695}" srcOrd="3" destOrd="0" presId="urn:microsoft.com/office/officeart/2005/8/layout/chevron1"/>
    <dgm:cxn modelId="{3A1C1CE7-AE9E-4E01-A802-88F2916AD31B}" type="presParOf" srcId="{5653E5CF-63C1-4886-9DFE-DC4B36C44A33}" destId="{50739AC9-FC4E-42C3-B62E-1016634A724A}" srcOrd="4" destOrd="0" presId="urn:microsoft.com/office/officeart/2005/8/layout/chevron1"/>
    <dgm:cxn modelId="{A585CA18-CC9E-4B6B-ABFE-EE55C8A2DE79}" type="presParOf" srcId="{5653E5CF-63C1-4886-9DFE-DC4B36C44A33}" destId="{BA7DB2C5-C694-4861-95D5-BF30690EE501}" srcOrd="5" destOrd="0" presId="urn:microsoft.com/office/officeart/2005/8/layout/chevron1"/>
    <dgm:cxn modelId="{D471EFB4-1B0F-4FEA-8181-B7EB4ECB8FDD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:a16="http://schemas.microsoft.com/office/drawing/2014/main" xmlns="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:a16="http://schemas.microsoft.com/office/drawing/2014/main" xmlns="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xmlns="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:a16="http://schemas.microsoft.com/office/drawing/2014/main" xmlns="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摄像头在我们的日常生活中可以说时随处可见。而在当下的时代，大多数摄像头都已经网络化，早期的网络摄像机硬件提供商都采用私有协议进行通讯。但随着时代的发展，摄像头的应用场景越来越多，各个摄像头的厂商也是百花齐放。私有协议终究会被淘汰。</a:t>
            </a:r>
            <a:br>
              <a:rPr lang="zh-CN" altLang="en-US" dirty="0" smtClean="0"/>
            </a:br>
            <a:r>
              <a:rPr lang="zh-CN" altLang="en-US" dirty="0" smtClean="0"/>
              <a:t>为了解决这一困境，安讯士联合博世及索尼公司，共同制定了</a:t>
            </a:r>
            <a:r>
              <a:rPr lang="en-US" altLang="zh-CN" dirty="0" err="1" smtClean="0"/>
              <a:t>onvif</a:t>
            </a:r>
            <a:r>
              <a:rPr lang="zh-CN" altLang="en-US" dirty="0" smtClean="0"/>
              <a:t>（</a:t>
            </a:r>
            <a:r>
              <a:rPr lang="en-US" altLang="zh-CN" dirty="0" smtClean="0"/>
              <a:t>Open Network Video Interface Forum</a:t>
            </a:r>
            <a:r>
              <a:rPr lang="zh-CN" altLang="en-US" dirty="0" smtClean="0"/>
              <a:t>，开放型网络视频接口论坛）协议，规范描述了网络视频的模型、接口、数据类型以及数据交互的模式。</a:t>
            </a:r>
            <a:endParaRPr lang="en-US" altLang="zh-CN" dirty="0" smtClean="0"/>
          </a:p>
          <a:p>
            <a:r>
              <a:rPr lang="en-US" altLang="zh-CN" dirty="0" smtClean="0"/>
              <a:t>ONVIF</a:t>
            </a:r>
            <a:r>
              <a:rPr lang="zh-CN" altLang="en-US" dirty="0" smtClean="0"/>
              <a:t>规范中设备管理和控制部分所定义的接口均以</a:t>
            </a:r>
            <a:r>
              <a:rPr lang="en-US" altLang="zh-CN" dirty="0" smtClean="0"/>
              <a:t>Web Services</a:t>
            </a:r>
            <a:r>
              <a:rPr lang="zh-CN" altLang="en-US" dirty="0" smtClean="0"/>
              <a:t>的形式提供。每一个支持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规范的终端设备均须提供与功能相应的</a:t>
            </a:r>
            <a:r>
              <a:rPr lang="en-US" altLang="zh-CN" dirty="0" smtClean="0"/>
              <a:t>Web Service</a:t>
            </a:r>
            <a:r>
              <a:rPr lang="zh-CN" altLang="en-US" dirty="0" smtClean="0"/>
              <a:t>。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中的其他部分比如音视频流则通过</a:t>
            </a:r>
            <a:r>
              <a:rPr lang="en-US" altLang="zh-CN" dirty="0" smtClean="0"/>
              <a:t>RTP/RTSP</a:t>
            </a:r>
            <a:r>
              <a:rPr lang="zh-CN" altLang="en-US" dirty="0" smtClean="0"/>
              <a:t>进行，本实验使用的就是</a:t>
            </a:r>
            <a:r>
              <a:rPr lang="en-US" altLang="zh-CN" dirty="0" smtClean="0"/>
              <a:t>RTSP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3509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ONVIF</a:t>
            </a:r>
            <a:r>
              <a:rPr lang="zh-CN" altLang="en-US" dirty="0" smtClean="0"/>
              <a:t>以公开、开放的原则共同制定开放性行业标准</a:t>
            </a:r>
            <a:endParaRPr lang="en-US" altLang="zh-CN" dirty="0" smtClean="0"/>
          </a:p>
          <a:p>
            <a:r>
              <a:rPr lang="en-US" altLang="zh-CN" dirty="0" smtClean="0"/>
              <a:t>ONVIF</a:t>
            </a:r>
            <a:r>
              <a:rPr lang="zh-CN" altLang="en-US" dirty="0" smtClean="0"/>
              <a:t>显著的优势有：</a:t>
            </a:r>
            <a:endParaRPr lang="en-US" altLang="zh-CN" dirty="0" smtClean="0"/>
          </a:p>
          <a:p>
            <a:r>
              <a:rPr lang="zh-CN" altLang="en-US" dirty="0" smtClean="0"/>
              <a:t>协同性：不同厂商所提供的产品，均可以通过一个统一的“语言”来进行交流。方便了系统的集成。</a:t>
            </a:r>
            <a:endParaRPr lang="en-US" altLang="zh-CN" dirty="0" smtClean="0"/>
          </a:p>
          <a:p>
            <a:r>
              <a:rPr lang="zh-CN" altLang="en-US" dirty="0" smtClean="0"/>
              <a:t>灵活性：终端用户和集成用户不需要被某些设备的固有解决方案所束缚。大大降低了开发成本。</a:t>
            </a:r>
            <a:endParaRPr lang="en-US" altLang="zh-CN" dirty="0" smtClean="0"/>
          </a:p>
          <a:p>
            <a:r>
              <a:rPr lang="zh-CN" altLang="en-US" dirty="0" smtClean="0"/>
              <a:t>质量保证：不断扩展的规范将由市场来导向，遵循规范的同时也满足主流的用户需求。</a:t>
            </a:r>
            <a:endParaRPr lang="en-US" altLang="zh-CN" dirty="0" smtClean="0"/>
          </a:p>
          <a:p>
            <a:r>
              <a:rPr lang="zh-CN" altLang="en-US" dirty="0" smtClean="0"/>
              <a:t>从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官网上可以了解到（</a:t>
            </a:r>
            <a:r>
              <a:rPr lang="en-US" altLang="zh-CN" dirty="0" smtClean="0"/>
              <a:t>https://www.onvif.org/about/member-list/</a:t>
            </a:r>
            <a:r>
              <a:rPr lang="zh-CN" altLang="en-US" dirty="0" smtClean="0"/>
              <a:t>），为适应各种不同的参与级别，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提供了不同等级的会员企业资格，其中不乏国内外著名的设备制造商与集成商，国内的华为、海康威视、浙江大华、波粒科技和佳信捷也是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论坛的高级会员。</a:t>
            </a:r>
          </a:p>
          <a:p>
            <a:pPr lvl="1"/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8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9855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拿</a:t>
            </a:r>
            <a:r>
              <a:rPr lang="en-US" altLang="zh-CN" dirty="0" smtClean="0"/>
              <a:t>IPC</a:t>
            </a:r>
            <a:r>
              <a:rPr lang="zh-CN" altLang="en-US" dirty="0" smtClean="0"/>
              <a:t>摄像头来说，</a:t>
            </a:r>
            <a:r>
              <a:rPr lang="en-US" altLang="zh-CN" dirty="0" smtClean="0"/>
              <a:t>IPC</a:t>
            </a:r>
            <a:r>
              <a:rPr lang="zh-CN" altLang="en-US" dirty="0" smtClean="0"/>
              <a:t>是</a:t>
            </a:r>
            <a:r>
              <a:rPr lang="en-US" altLang="zh-CN" dirty="0" smtClean="0"/>
              <a:t>Web Services</a:t>
            </a:r>
            <a:r>
              <a:rPr lang="zh-CN" altLang="en-US" dirty="0" smtClean="0"/>
              <a:t>服务端，其提供的</a:t>
            </a:r>
            <a:r>
              <a:rPr lang="en-US" altLang="zh-CN" dirty="0" smtClean="0"/>
              <a:t>WEB</a:t>
            </a:r>
            <a:r>
              <a:rPr lang="zh-CN" altLang="en-US" dirty="0" smtClean="0"/>
              <a:t>服务接口需符合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协议规范（这些接口在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规定的</a:t>
            </a:r>
            <a:r>
              <a:rPr lang="en-US" altLang="zh-CN" dirty="0" smtClean="0"/>
              <a:t>WSDL</a:t>
            </a:r>
            <a:r>
              <a:rPr lang="zh-CN" altLang="en-US" dirty="0" smtClean="0"/>
              <a:t>文档中），我们开发的客户端通过这些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规范接口跟</a:t>
            </a:r>
            <a:r>
              <a:rPr lang="en-US" altLang="zh-CN" dirty="0" smtClean="0"/>
              <a:t>IPC</a:t>
            </a:r>
            <a:r>
              <a:rPr lang="zh-CN" altLang="en-US" dirty="0" smtClean="0"/>
              <a:t>通讯，比如：获取</a:t>
            </a:r>
            <a:r>
              <a:rPr lang="en-US" altLang="zh-CN" dirty="0" smtClean="0"/>
              <a:t>IPC</a:t>
            </a:r>
            <a:r>
              <a:rPr lang="zh-CN" altLang="en-US" dirty="0" smtClean="0"/>
              <a:t>的基本信息（厂家信息、版本信息等）；修改</a:t>
            </a:r>
            <a:r>
              <a:rPr lang="en-US" altLang="zh-CN" dirty="0" smtClean="0"/>
              <a:t>IPC</a:t>
            </a:r>
            <a:r>
              <a:rPr lang="zh-CN" altLang="en-US" dirty="0" smtClean="0"/>
              <a:t>的系统日期、时间；修改</a:t>
            </a:r>
            <a:r>
              <a:rPr lang="en-US" altLang="zh-CN" dirty="0" smtClean="0"/>
              <a:t>IPC</a:t>
            </a:r>
            <a:r>
              <a:rPr lang="zh-CN" altLang="en-US" dirty="0" smtClean="0"/>
              <a:t>的网络配置（</a:t>
            </a:r>
            <a:r>
              <a:rPr lang="en-US" altLang="zh-CN" dirty="0" smtClean="0"/>
              <a:t>IP</a:t>
            </a:r>
            <a:r>
              <a:rPr lang="zh-CN" altLang="en-US" dirty="0" smtClean="0"/>
              <a:t>、子网掩码等）；获取</a:t>
            </a:r>
            <a:r>
              <a:rPr lang="en-US" altLang="zh-CN" dirty="0" smtClean="0"/>
              <a:t>/</a:t>
            </a:r>
            <a:r>
              <a:rPr lang="zh-CN" altLang="en-US" dirty="0" smtClean="0"/>
              <a:t>修改</a:t>
            </a:r>
            <a:r>
              <a:rPr lang="en-US" altLang="zh-CN" dirty="0" smtClean="0"/>
              <a:t>IPC</a:t>
            </a:r>
            <a:r>
              <a:rPr lang="zh-CN" altLang="en-US" dirty="0" smtClean="0"/>
              <a:t>摄像头的各种参数（视频分辨率、码率、帧率、</a:t>
            </a:r>
            <a:r>
              <a:rPr lang="en-US" altLang="zh-CN" dirty="0" smtClean="0"/>
              <a:t>OSD</a:t>
            </a:r>
            <a:r>
              <a:rPr lang="zh-CN" altLang="en-US" dirty="0" smtClean="0"/>
              <a:t>，云台控制等）；由于</a:t>
            </a:r>
            <a:r>
              <a:rPr lang="en-US" altLang="zh-CN" dirty="0" smtClean="0"/>
              <a:t>SOAP</a:t>
            </a:r>
            <a:r>
              <a:rPr lang="zh-CN" altLang="en-US" dirty="0" smtClean="0"/>
              <a:t>协议不适合传输音视频流，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规范中的传输音视频流采用的是已经很成熟的</a:t>
            </a:r>
            <a:r>
              <a:rPr lang="en-US" altLang="zh-CN" dirty="0" smtClean="0"/>
              <a:t>RTP/RTSP</a:t>
            </a:r>
            <a:r>
              <a:rPr lang="zh-CN" altLang="en-US" dirty="0" smtClean="0"/>
              <a:t>多媒体传输协议。简单粗暴的理解：</a:t>
            </a:r>
            <a:r>
              <a:rPr lang="en-US" altLang="zh-CN" dirty="0" smtClean="0"/>
              <a:t>IPC</a:t>
            </a:r>
            <a:r>
              <a:rPr lang="zh-CN" altLang="en-US" dirty="0" smtClean="0"/>
              <a:t>的各种参数获取</a:t>
            </a:r>
            <a:r>
              <a:rPr lang="en-US" altLang="zh-CN" dirty="0" smtClean="0"/>
              <a:t>/</a:t>
            </a:r>
            <a:r>
              <a:rPr lang="zh-CN" altLang="en-US" dirty="0" smtClean="0"/>
              <a:t>配置都是通过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协议实现，而音视频流多媒体传输采用的是</a:t>
            </a:r>
            <a:r>
              <a:rPr lang="en-US" altLang="zh-CN" dirty="0" smtClean="0"/>
              <a:t>RTP/RTSP</a:t>
            </a:r>
            <a:r>
              <a:rPr lang="zh-CN" altLang="en-US" dirty="0" smtClean="0"/>
              <a:t>协议实现。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9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3872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本实验不涉及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协议部分的改动，仅使用</a:t>
            </a:r>
            <a:r>
              <a:rPr lang="en-US" altLang="zh-CN" dirty="0" smtClean="0"/>
              <a:t>RTSP</a:t>
            </a:r>
            <a:r>
              <a:rPr lang="zh-CN" altLang="en-US" dirty="0" smtClean="0"/>
              <a:t>获取视频流进行应用。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10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5366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本实验中设备初始化密码均为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“terabits123456”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25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820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b="1" dirty="0" smtClean="0"/>
              <a:t>注：设置自动获取</a:t>
            </a:r>
            <a:r>
              <a:rPr lang="en-US" altLang="zh-CN" b="1" dirty="0" smtClean="0"/>
              <a:t>IP</a:t>
            </a:r>
            <a:r>
              <a:rPr lang="zh-CN" altLang="zh-CN" b="1" dirty="0" smtClean="0"/>
              <a:t>后，不会产生同一网段下多个设备</a:t>
            </a:r>
            <a:r>
              <a:rPr lang="en-US" altLang="zh-CN" b="1" dirty="0" smtClean="0"/>
              <a:t>IP</a:t>
            </a:r>
            <a:r>
              <a:rPr lang="zh-CN" altLang="zh-CN" b="1" dirty="0" smtClean="0"/>
              <a:t>地址冲突的问题，但每次重启设备可能会刷新</a:t>
            </a:r>
            <a:r>
              <a:rPr lang="en-US" altLang="zh-CN" b="1" dirty="0" smtClean="0"/>
              <a:t>IP</a:t>
            </a:r>
            <a:r>
              <a:rPr lang="zh-CN" altLang="zh-CN" b="1" dirty="0" smtClean="0"/>
              <a:t>地址，需要重新获取。</a:t>
            </a:r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30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0098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33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3680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用命令提示符安装库更加规范及通用；两种方式安装的库版本与名称有细微差别，不影响程序实际调用及功能实现。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82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 smtClean="0"/>
              <a:t>因此我们可以将这个值理解为：</a:t>
            </a:r>
            <a:endParaRPr lang="en-US" altLang="zh-CN" dirty="0" smtClean="0"/>
          </a:p>
          <a:p>
            <a:pPr lvl="1"/>
            <a:r>
              <a:rPr lang="en-US" altLang="zh-CN" b="1" dirty="0" smtClean="0"/>
              <a:t>rtsp://</a:t>
            </a:r>
            <a:r>
              <a:rPr lang="zh-CN" altLang="zh-CN" b="1" dirty="0" smtClean="0"/>
              <a:t>用户名</a:t>
            </a:r>
            <a:r>
              <a:rPr lang="en-US" altLang="zh-CN" b="1" dirty="0" smtClean="0"/>
              <a:t>:</a:t>
            </a:r>
            <a:r>
              <a:rPr lang="zh-CN" altLang="zh-CN" b="1" dirty="0" smtClean="0"/>
              <a:t>密码</a:t>
            </a:r>
            <a:r>
              <a:rPr lang="en-US" altLang="zh-CN" b="1" dirty="0" smtClean="0"/>
              <a:t>@IP/Streaming/Channels/101</a:t>
            </a:r>
          </a:p>
          <a:p>
            <a:pPr lvl="1"/>
            <a:endParaRPr lang="en-US" altLang="zh-CN" b="1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注：所有设备初始化的用户名为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，密码为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terabits123456</a:t>
            </a: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，本实验演示中使用的密码为</a:t>
            </a:r>
            <a:r>
              <a:rPr lang="en-US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Terabits</a:t>
            </a:r>
            <a:r>
              <a:rPr lang="zh-CN" altLang="zh-CN" sz="1200" b="1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zh-CN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0215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xmlns="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xmlns="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:a16="http://schemas.microsoft.com/office/drawing/2014/main" xmlns="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:a16="http://schemas.microsoft.com/office/drawing/2014/main" xmlns="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:a16="http://schemas.microsoft.com/office/drawing/2014/main" xmlns="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:a16="http://schemas.microsoft.com/office/drawing/2014/main" xmlns="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:a16="http://schemas.microsoft.com/office/drawing/2014/main" xmlns="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:a16="http://schemas.microsoft.com/office/drawing/2014/main" xmlns="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:a16="http://schemas.microsoft.com/office/drawing/2014/main" xmlns="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:a16="http://schemas.microsoft.com/office/drawing/2014/main" xmlns="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:a16="http://schemas.microsoft.com/office/drawing/2014/main" xmlns="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:a16="http://schemas.microsoft.com/office/drawing/2014/main" xmlns="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:a16="http://schemas.microsoft.com/office/drawing/2014/main" xmlns="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:a16="http://schemas.microsoft.com/office/drawing/2014/main" xmlns="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:a16="http://schemas.microsoft.com/office/drawing/2014/main" xmlns="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:a16="http://schemas.microsoft.com/office/drawing/2014/main" xmlns="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xmlns="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:a16="http://schemas.microsoft.com/office/drawing/2014/main" xmlns="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:a16="http://schemas.microsoft.com/office/drawing/2014/main" xmlns="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:a16="http://schemas.microsoft.com/office/drawing/2014/main" xmlns="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:a16="http://schemas.microsoft.com/office/drawing/2014/main" xmlns="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:a16="http://schemas.microsoft.com/office/drawing/2014/main" xmlns="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:a16="http://schemas.microsoft.com/office/drawing/2014/main" xmlns="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:a16="http://schemas.microsoft.com/office/drawing/2014/main" xmlns="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:a16="http://schemas.microsoft.com/office/drawing/2014/main" xmlns="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:a16="http://schemas.microsoft.com/office/drawing/2014/main" xmlns="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:a16="http://schemas.microsoft.com/office/drawing/2014/main" xmlns="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:a16="http://schemas.microsoft.com/office/drawing/2014/main" xmlns="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:a16="http://schemas.microsoft.com/office/drawing/2014/main" xmlns="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:a16="http://schemas.microsoft.com/office/drawing/2014/main" xmlns="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:a16="http://schemas.microsoft.com/office/drawing/2014/main" xmlns="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:a16="http://schemas.microsoft.com/office/drawing/2014/main" xmlns="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:a16="http://schemas.microsoft.com/office/drawing/2014/main" xmlns="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:a16="http://schemas.microsoft.com/office/drawing/2014/main" xmlns="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:a16="http://schemas.microsoft.com/office/drawing/2014/main" xmlns="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:a16="http://schemas.microsoft.com/office/drawing/2014/main" xmlns="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xmlns="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:a16="http://schemas.microsoft.com/office/drawing/2014/main" xmlns="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:a16="http://schemas.microsoft.com/office/drawing/2014/main" xmlns="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:a16="http://schemas.microsoft.com/office/drawing/2014/main" xmlns="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:a16="http://schemas.microsoft.com/office/drawing/2014/main" xmlns="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:a16="http://schemas.microsoft.com/office/drawing/2014/main" xmlns="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:a16="http://schemas.microsoft.com/office/drawing/2014/main" xmlns="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:a16="http://schemas.microsoft.com/office/drawing/2014/main" xmlns="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:a16="http://schemas.microsoft.com/office/drawing/2014/main" xmlns="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:a16="http://schemas.microsoft.com/office/drawing/2014/main" xmlns="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:a16="http://schemas.microsoft.com/office/drawing/2014/main" xmlns="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:a16="http://schemas.microsoft.com/office/drawing/2014/main" xmlns="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:a16="http://schemas.microsoft.com/office/drawing/2014/main" xmlns="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:a16="http://schemas.microsoft.com/office/drawing/2014/main" xmlns="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:a16="http://schemas.microsoft.com/office/drawing/2014/main" xmlns="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:a16="http://schemas.microsoft.com/office/drawing/2014/main" xmlns="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:a16="http://schemas.microsoft.com/office/drawing/2014/main" xmlns="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:a16="http://schemas.microsoft.com/office/drawing/2014/main" xmlns="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:a16="http://schemas.microsoft.com/office/drawing/2014/main" xmlns="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:a16="http://schemas.microsoft.com/office/drawing/2014/main" xmlns="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:a16="http://schemas.microsoft.com/office/drawing/2014/main" xmlns="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:a16="http://schemas.microsoft.com/office/drawing/2014/main" xmlns="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:a16="http://schemas.microsoft.com/office/drawing/2014/main" xmlns="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:a16="http://schemas.microsoft.com/office/drawing/2014/main" xmlns="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:a16="http://schemas.microsoft.com/office/drawing/2014/main" xmlns="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:a16="http://schemas.microsoft.com/office/drawing/2014/main" xmlns="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:a16="http://schemas.microsoft.com/office/drawing/2014/main" xmlns="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:a16="http://schemas.microsoft.com/office/drawing/2014/main" xmlns="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:a16="http://schemas.microsoft.com/office/drawing/2014/main" xmlns="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:a16="http://schemas.microsoft.com/office/drawing/2014/main" xmlns="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:a16="http://schemas.microsoft.com/office/drawing/2014/main" xmlns="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:a16="http://schemas.microsoft.com/office/drawing/2014/main" xmlns="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:a16="http://schemas.microsoft.com/office/drawing/2014/main" xmlns="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:a16="http://schemas.microsoft.com/office/drawing/2014/main" xmlns="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:a16="http://schemas.microsoft.com/office/drawing/2014/main" xmlns="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:a16="http://schemas.microsoft.com/office/drawing/2014/main" xmlns="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:a16="http://schemas.microsoft.com/office/drawing/2014/main" xmlns="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:a16="http://schemas.microsoft.com/office/drawing/2014/main" xmlns="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:a16="http://schemas.microsoft.com/office/drawing/2014/main" xmlns="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:a16="http://schemas.microsoft.com/office/drawing/2014/main" xmlns="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:a16="http://schemas.microsoft.com/office/drawing/2014/main" xmlns="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:a16="http://schemas.microsoft.com/office/drawing/2014/main" xmlns="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:a16="http://schemas.microsoft.com/office/drawing/2014/main" xmlns="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:a16="http://schemas.microsoft.com/office/drawing/2014/main" xmlns="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:a16="http://schemas.microsoft.com/office/drawing/2014/main" xmlns="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:a16="http://schemas.microsoft.com/office/drawing/2014/main" xmlns="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:a16="http://schemas.microsoft.com/office/drawing/2014/main" xmlns="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:a16="http://schemas.microsoft.com/office/drawing/2014/main" xmlns="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:a16="http://schemas.microsoft.com/office/drawing/2014/main" xmlns="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:a16="http://schemas.microsoft.com/office/drawing/2014/main" xmlns="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:a16="http://schemas.microsoft.com/office/drawing/2014/main" xmlns="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:a16="http://schemas.microsoft.com/office/drawing/2014/main" xmlns="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:a16="http://schemas.microsoft.com/office/drawing/2014/main" xmlns="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:a16="http://schemas.microsoft.com/office/drawing/2014/main" xmlns="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:a16="http://schemas.microsoft.com/office/drawing/2014/main" xmlns="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:a16="http://schemas.microsoft.com/office/drawing/2014/main" xmlns="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:a16="http://schemas.microsoft.com/office/drawing/2014/main" xmlns="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:a16="http://schemas.microsoft.com/office/drawing/2014/main" xmlns="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:a16="http://schemas.microsoft.com/office/drawing/2014/main" xmlns="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:a16="http://schemas.microsoft.com/office/drawing/2014/main" xmlns="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:a16="http://schemas.microsoft.com/office/drawing/2014/main" xmlns="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:a16="http://schemas.microsoft.com/office/drawing/2014/main" xmlns="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xmlns="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:a16="http://schemas.microsoft.com/office/drawing/2014/main" xmlns="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:a16="http://schemas.microsoft.com/office/drawing/2014/main" xmlns="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:a16="http://schemas.microsoft.com/office/drawing/2014/main" xmlns="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:a16="http://schemas.microsoft.com/office/drawing/2014/main" xmlns="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:a16="http://schemas.microsoft.com/office/drawing/2014/main" xmlns="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:a16="http://schemas.microsoft.com/office/drawing/2014/main" xmlns="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:a16="http://schemas.microsoft.com/office/drawing/2014/main" xmlns="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:a16="http://schemas.microsoft.com/office/drawing/2014/main" xmlns="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:a16="http://schemas.microsoft.com/office/drawing/2014/main" xmlns="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:a16="http://schemas.microsoft.com/office/drawing/2014/main" xmlns="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:a16="http://schemas.microsoft.com/office/drawing/2014/main" xmlns="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:a16="http://schemas.microsoft.com/office/drawing/2014/main" xmlns="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:a16="http://schemas.microsoft.com/office/drawing/2014/main" xmlns="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:a16="http://schemas.microsoft.com/office/drawing/2014/main" xmlns="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:a16="http://schemas.microsoft.com/office/drawing/2014/main" xmlns="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:a16="http://schemas.microsoft.com/office/drawing/2014/main" xmlns="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:a16="http://schemas.microsoft.com/office/drawing/2014/main" xmlns="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:a16="http://schemas.microsoft.com/office/drawing/2014/main" xmlns="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:a16="http://schemas.microsoft.com/office/drawing/2014/main" xmlns="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:a16="http://schemas.microsoft.com/office/drawing/2014/main" xmlns="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:a16="http://schemas.microsoft.com/office/drawing/2014/main" xmlns="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:a16="http://schemas.microsoft.com/office/drawing/2014/main" xmlns="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:a16="http://schemas.microsoft.com/office/drawing/2014/main" xmlns="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:a16="http://schemas.microsoft.com/office/drawing/2014/main" xmlns="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:a16="http://schemas.microsoft.com/office/drawing/2014/main" xmlns="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:a16="http://schemas.microsoft.com/office/drawing/2014/main" xmlns="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:a16="http://schemas.microsoft.com/office/drawing/2014/main" xmlns="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:a16="http://schemas.microsoft.com/office/drawing/2014/main" xmlns="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:a16="http://schemas.microsoft.com/office/drawing/2014/main" xmlns="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:a16="http://schemas.microsoft.com/office/drawing/2014/main" xmlns="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:a16="http://schemas.microsoft.com/office/drawing/2014/main" xmlns="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:a16="http://schemas.microsoft.com/office/drawing/2014/main" xmlns="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:a16="http://schemas.microsoft.com/office/drawing/2014/main" xmlns="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:a16="http://schemas.microsoft.com/office/drawing/2014/main" xmlns="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:a16="http://schemas.microsoft.com/office/drawing/2014/main" xmlns="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:a16="http://schemas.microsoft.com/office/drawing/2014/main" xmlns="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:a16="http://schemas.microsoft.com/office/drawing/2014/main" xmlns="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:a16="http://schemas.microsoft.com/office/drawing/2014/main" xmlns="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:a16="http://schemas.microsoft.com/office/drawing/2014/main" xmlns="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:a16="http://schemas.microsoft.com/office/drawing/2014/main" xmlns="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:a16="http://schemas.microsoft.com/office/drawing/2014/main" xmlns="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:a16="http://schemas.microsoft.com/office/drawing/2014/main" xmlns="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:a16="http://schemas.microsoft.com/office/drawing/2014/main" xmlns="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:a16="http://schemas.microsoft.com/office/drawing/2014/main" xmlns="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:a16="http://schemas.microsoft.com/office/drawing/2014/main" xmlns="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:a16="http://schemas.microsoft.com/office/drawing/2014/main" xmlns="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:a16="http://schemas.microsoft.com/office/drawing/2014/main" xmlns="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:a16="http://schemas.microsoft.com/office/drawing/2014/main" xmlns="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:a16="http://schemas.microsoft.com/office/drawing/2014/main" xmlns="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:a16="http://schemas.microsoft.com/office/drawing/2014/main" xmlns="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:a16="http://schemas.microsoft.com/office/drawing/2014/main" xmlns="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:a16="http://schemas.microsoft.com/office/drawing/2014/main" xmlns="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:a16="http://schemas.microsoft.com/office/drawing/2014/main" xmlns="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:a16="http://schemas.microsoft.com/office/drawing/2014/main" xmlns="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:a16="http://schemas.microsoft.com/office/drawing/2014/main" xmlns="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:a16="http://schemas.microsoft.com/office/drawing/2014/main" xmlns="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:a16="http://schemas.microsoft.com/office/drawing/2014/main" xmlns="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:a16="http://schemas.microsoft.com/office/drawing/2014/main" xmlns="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:a16="http://schemas.microsoft.com/office/drawing/2014/main" xmlns="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:a16="http://schemas.microsoft.com/office/drawing/2014/main" xmlns="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:a16="http://schemas.microsoft.com/office/drawing/2014/main" xmlns="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:a16="http://schemas.microsoft.com/office/drawing/2014/main" xmlns="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:a16="http://schemas.microsoft.com/office/drawing/2014/main" xmlns="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:a16="http://schemas.microsoft.com/office/drawing/2014/main" xmlns="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:a16="http://schemas.microsoft.com/office/drawing/2014/main" xmlns="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:a16="http://schemas.microsoft.com/office/drawing/2014/main" xmlns="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:a16="http://schemas.microsoft.com/office/drawing/2014/main" xmlns="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:a16="http://schemas.microsoft.com/office/drawing/2014/main" xmlns="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:a16="http://schemas.microsoft.com/office/drawing/2014/main" xmlns="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:a16="http://schemas.microsoft.com/office/drawing/2014/main" xmlns="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:a16="http://schemas.microsoft.com/office/drawing/2014/main" xmlns="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:a16="http://schemas.microsoft.com/office/drawing/2014/main" xmlns="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:a16="http://schemas.microsoft.com/office/drawing/2014/main" xmlns="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:a16="http://schemas.microsoft.com/office/drawing/2014/main" xmlns="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:a16="http://schemas.microsoft.com/office/drawing/2014/main" xmlns="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:a16="http://schemas.microsoft.com/office/drawing/2014/main" xmlns="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:a16="http://schemas.microsoft.com/office/drawing/2014/main" xmlns="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:a16="http://schemas.microsoft.com/office/drawing/2014/main" xmlns="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:a16="http://schemas.microsoft.com/office/drawing/2014/main" xmlns="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:a16="http://schemas.microsoft.com/office/drawing/2014/main" xmlns="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:a16="http://schemas.microsoft.com/office/drawing/2014/main" xmlns="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:a16="http://schemas.microsoft.com/office/drawing/2014/main" xmlns="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:a16="http://schemas.microsoft.com/office/drawing/2014/main" xmlns="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:a16="http://schemas.microsoft.com/office/drawing/2014/main" xmlns="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:a16="http://schemas.microsoft.com/office/drawing/2014/main" xmlns="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:a16="http://schemas.microsoft.com/office/drawing/2014/main" xmlns="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:a16="http://schemas.microsoft.com/office/drawing/2014/main" xmlns="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:a16="http://schemas.microsoft.com/office/drawing/2014/main" xmlns="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:a16="http://schemas.microsoft.com/office/drawing/2014/main" xmlns="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:a16="http://schemas.microsoft.com/office/drawing/2014/main" xmlns="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:a16="http://schemas.microsoft.com/office/drawing/2014/main" xmlns="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:a16="http://schemas.microsoft.com/office/drawing/2014/main" xmlns="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:a16="http://schemas.microsoft.com/office/drawing/2014/main" xmlns="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:a16="http://schemas.microsoft.com/office/drawing/2014/main" xmlns="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:a16="http://schemas.microsoft.com/office/drawing/2014/main" xmlns="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:a16="http://schemas.microsoft.com/office/drawing/2014/main" xmlns="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:a16="http://schemas.microsoft.com/office/drawing/2014/main" xmlns="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:a16="http://schemas.microsoft.com/office/drawing/2014/main" xmlns="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:a16="http://schemas.microsoft.com/office/drawing/2014/main" xmlns="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:a16="http://schemas.microsoft.com/office/drawing/2014/main" xmlns="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:a16="http://schemas.microsoft.com/office/drawing/2014/main" xmlns="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:a16="http://schemas.microsoft.com/office/drawing/2014/main" xmlns="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:a16="http://schemas.microsoft.com/office/drawing/2014/main" xmlns="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:a16="http://schemas.microsoft.com/office/drawing/2014/main" xmlns="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:a16="http://schemas.microsoft.com/office/drawing/2014/main" xmlns="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:a16="http://schemas.microsoft.com/office/drawing/2014/main" xmlns="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:a16="http://schemas.microsoft.com/office/drawing/2014/main" xmlns="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:a16="http://schemas.microsoft.com/office/drawing/2014/main" xmlns="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:a16="http://schemas.microsoft.com/office/drawing/2014/main" xmlns="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:a16="http://schemas.microsoft.com/office/drawing/2014/main" xmlns="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:a16="http://schemas.microsoft.com/office/drawing/2014/main" xmlns="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:a16="http://schemas.microsoft.com/office/drawing/2014/main" xmlns="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:a16="http://schemas.microsoft.com/office/drawing/2014/main" xmlns="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:a16="http://schemas.microsoft.com/office/drawing/2014/main" xmlns="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:a16="http://schemas.microsoft.com/office/drawing/2014/main" xmlns="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:a16="http://schemas.microsoft.com/office/drawing/2014/main" xmlns="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:a16="http://schemas.microsoft.com/office/drawing/2014/main" xmlns="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:a16="http://schemas.microsoft.com/office/drawing/2014/main" xmlns="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:a16="http://schemas.microsoft.com/office/drawing/2014/main" xmlns="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:a16="http://schemas.microsoft.com/office/drawing/2014/main" xmlns="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:a16="http://schemas.microsoft.com/office/drawing/2014/main" xmlns="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:a16="http://schemas.microsoft.com/office/drawing/2014/main" xmlns="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:a16="http://schemas.microsoft.com/office/drawing/2014/main" xmlns="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:a16="http://schemas.microsoft.com/office/drawing/2014/main" xmlns="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:a16="http://schemas.microsoft.com/office/drawing/2014/main" xmlns="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:a16="http://schemas.microsoft.com/office/drawing/2014/main" xmlns="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:a16="http://schemas.microsoft.com/office/drawing/2014/main" xmlns="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:a16="http://schemas.microsoft.com/office/drawing/2014/main" xmlns="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:a16="http://schemas.microsoft.com/office/drawing/2014/main" xmlns="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:a16="http://schemas.microsoft.com/office/drawing/2014/main" xmlns="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:a16="http://schemas.microsoft.com/office/drawing/2014/main" xmlns="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:a16="http://schemas.microsoft.com/office/drawing/2014/main" xmlns="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:a16="http://schemas.microsoft.com/office/drawing/2014/main" xmlns="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:a16="http://schemas.microsoft.com/office/drawing/2014/main" xmlns="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:a16="http://schemas.microsoft.com/office/drawing/2014/main" xmlns="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:a16="http://schemas.microsoft.com/office/drawing/2014/main" xmlns="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:a16="http://schemas.microsoft.com/office/drawing/2014/main" xmlns="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:a16="http://schemas.microsoft.com/office/drawing/2014/main" xmlns="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:a16="http://schemas.microsoft.com/office/drawing/2014/main" xmlns="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:a16="http://schemas.microsoft.com/office/drawing/2014/main" xmlns="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:a16="http://schemas.microsoft.com/office/drawing/2014/main" xmlns="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:a16="http://schemas.microsoft.com/office/drawing/2014/main" xmlns="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:a16="http://schemas.microsoft.com/office/drawing/2014/main" xmlns="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:a16="http://schemas.microsoft.com/office/drawing/2014/main" xmlns="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:a16="http://schemas.microsoft.com/office/drawing/2014/main" xmlns="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:a16="http://schemas.microsoft.com/office/drawing/2014/main" xmlns="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:a16="http://schemas.microsoft.com/office/drawing/2014/main" xmlns="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:a16="http://schemas.microsoft.com/office/drawing/2014/main" xmlns="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:a16="http://schemas.microsoft.com/office/drawing/2014/main" xmlns="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:a16="http://schemas.microsoft.com/office/drawing/2014/main" xmlns="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xmlns="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:a16="http://schemas.microsoft.com/office/drawing/2014/main" xmlns="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xmlns="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:a16="http://schemas.microsoft.com/office/drawing/2014/main" xmlns="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:a16="http://schemas.microsoft.com/office/drawing/2014/main" xmlns="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:a16="http://schemas.microsoft.com/office/drawing/2014/main" xmlns="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:a16="http://schemas.microsoft.com/office/drawing/2014/main" xmlns="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:a16="http://schemas.microsoft.com/office/drawing/2014/main" xmlns="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:a16="http://schemas.microsoft.com/office/drawing/2014/main" xmlns="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:a16="http://schemas.microsoft.com/office/drawing/2014/main" xmlns="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:a16="http://schemas.microsoft.com/office/drawing/2014/main" xmlns="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:a16="http://schemas.microsoft.com/office/drawing/2014/main" xmlns="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:a16="http://schemas.microsoft.com/office/drawing/2014/main" xmlns="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:a16="http://schemas.microsoft.com/office/drawing/2014/main" xmlns="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xmlns="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:a16="http://schemas.microsoft.com/office/drawing/2014/main" xmlns="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:a16="http://schemas.microsoft.com/office/drawing/2014/main" xmlns="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:a16="http://schemas.microsoft.com/office/drawing/2014/main" xmlns="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:a16="http://schemas.microsoft.com/office/drawing/2014/main" xmlns="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:a16="http://schemas.microsoft.com/office/drawing/2014/main" xmlns="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:a16="http://schemas.microsoft.com/office/drawing/2014/main" xmlns="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:a16="http://schemas.microsoft.com/office/drawing/2014/main" xmlns="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:a16="http://schemas.microsoft.com/office/drawing/2014/main" xmlns="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:a16="http://schemas.microsoft.com/office/drawing/2014/main" xmlns="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:a16="http://schemas.microsoft.com/office/drawing/2014/main" xmlns="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:a16="http://schemas.microsoft.com/office/drawing/2014/main" xmlns="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:a16="http://schemas.microsoft.com/office/drawing/2014/main" xmlns="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:a16="http://schemas.microsoft.com/office/drawing/2014/main" xmlns="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:a16="http://schemas.microsoft.com/office/drawing/2014/main" xmlns="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:a16="http://schemas.microsoft.com/office/drawing/2014/main" xmlns="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:a16="http://schemas.microsoft.com/office/drawing/2014/main" xmlns="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:a16="http://schemas.microsoft.com/office/drawing/2014/main" xmlns="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:a16="http://schemas.microsoft.com/office/drawing/2014/main" xmlns="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:a16="http://schemas.microsoft.com/office/drawing/2014/main" xmlns="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:a16="http://schemas.microsoft.com/office/drawing/2014/main" xmlns="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:a16="http://schemas.microsoft.com/office/drawing/2014/main" xmlns="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:a16="http://schemas.microsoft.com/office/drawing/2014/main" xmlns="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:a16="http://schemas.microsoft.com/office/drawing/2014/main" xmlns="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:a16="http://schemas.microsoft.com/office/drawing/2014/main" xmlns="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:a16="http://schemas.microsoft.com/office/drawing/2014/main" xmlns="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:a16="http://schemas.microsoft.com/office/drawing/2014/main" xmlns="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:a16="http://schemas.microsoft.com/office/drawing/2014/main" xmlns="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:a16="http://schemas.microsoft.com/office/drawing/2014/main" xmlns="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:a16="http://schemas.microsoft.com/office/drawing/2014/main" xmlns="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:a16="http://schemas.microsoft.com/office/drawing/2014/main" xmlns="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:a16="http://schemas.microsoft.com/office/drawing/2014/main" xmlns="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:a16="http://schemas.microsoft.com/office/drawing/2014/main" xmlns="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:a16="http://schemas.microsoft.com/office/drawing/2014/main" xmlns="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:a16="http://schemas.microsoft.com/office/drawing/2014/main" xmlns="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:a16="http://schemas.microsoft.com/office/drawing/2014/main" xmlns="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:a16="http://schemas.microsoft.com/office/drawing/2014/main" xmlns="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:a16="http://schemas.microsoft.com/office/drawing/2014/main" xmlns="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:a16="http://schemas.microsoft.com/office/drawing/2014/main" xmlns="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:a16="http://schemas.microsoft.com/office/drawing/2014/main" xmlns="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:a16="http://schemas.microsoft.com/office/drawing/2014/main" xmlns="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:a16="http://schemas.microsoft.com/office/drawing/2014/main" xmlns="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:a16="http://schemas.microsoft.com/office/drawing/2014/main" xmlns="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:a16="http://schemas.microsoft.com/office/drawing/2014/main" xmlns="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:a16="http://schemas.microsoft.com/office/drawing/2014/main" xmlns="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:a16="http://schemas.microsoft.com/office/drawing/2014/main" xmlns="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:a16="http://schemas.microsoft.com/office/drawing/2014/main" xmlns="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:a16="http://schemas.microsoft.com/office/drawing/2014/main" xmlns="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:a16="http://schemas.microsoft.com/office/drawing/2014/main" xmlns="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:a16="http://schemas.microsoft.com/office/drawing/2014/main" xmlns="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:a16="http://schemas.microsoft.com/office/drawing/2014/main" xmlns="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:a16="http://schemas.microsoft.com/office/drawing/2014/main" xmlns="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:a16="http://schemas.microsoft.com/office/drawing/2014/main" xmlns="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:a16="http://schemas.microsoft.com/office/drawing/2014/main" xmlns="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:a16="http://schemas.microsoft.com/office/drawing/2014/main" xmlns="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:a16="http://schemas.microsoft.com/office/drawing/2014/main" xmlns="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:a16="http://schemas.microsoft.com/office/drawing/2014/main" xmlns="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:a16="http://schemas.microsoft.com/office/drawing/2014/main" xmlns="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:a16="http://schemas.microsoft.com/office/drawing/2014/main" xmlns="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:a16="http://schemas.microsoft.com/office/drawing/2014/main" xmlns="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:a16="http://schemas.microsoft.com/office/drawing/2014/main" xmlns="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:a16="http://schemas.microsoft.com/office/drawing/2014/main" xmlns="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:a16="http://schemas.microsoft.com/office/drawing/2014/main" xmlns="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:a16="http://schemas.microsoft.com/office/drawing/2014/main" xmlns="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:a16="http://schemas.microsoft.com/office/drawing/2014/main" xmlns="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:a16="http://schemas.microsoft.com/office/drawing/2014/main" xmlns="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:a16="http://schemas.microsoft.com/office/drawing/2014/main" xmlns="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:a16="http://schemas.microsoft.com/office/drawing/2014/main" xmlns="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:a16="http://schemas.microsoft.com/office/drawing/2014/main" xmlns="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:a16="http://schemas.microsoft.com/office/drawing/2014/main" xmlns="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:a16="http://schemas.microsoft.com/office/drawing/2014/main" xmlns="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:a16="http://schemas.microsoft.com/office/drawing/2014/main" xmlns="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:a16="http://schemas.microsoft.com/office/drawing/2014/main" xmlns="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:a16="http://schemas.microsoft.com/office/drawing/2014/main" xmlns="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:a16="http://schemas.microsoft.com/office/drawing/2014/main" xmlns="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:a16="http://schemas.microsoft.com/office/drawing/2014/main" xmlns="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:a16="http://schemas.microsoft.com/office/drawing/2014/main" xmlns="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:a16="http://schemas.microsoft.com/office/drawing/2014/main" xmlns="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:a16="http://schemas.microsoft.com/office/drawing/2014/main" xmlns="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:a16="http://schemas.microsoft.com/office/drawing/2014/main" xmlns="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:a16="http://schemas.microsoft.com/office/drawing/2014/main" xmlns="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:a16="http://schemas.microsoft.com/office/drawing/2014/main" xmlns="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:a16="http://schemas.microsoft.com/office/drawing/2014/main" xmlns="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:a16="http://schemas.microsoft.com/office/drawing/2014/main" xmlns="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:a16="http://schemas.microsoft.com/office/drawing/2014/main" xmlns="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:a16="http://schemas.microsoft.com/office/drawing/2014/main" xmlns="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xmlns="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:a16="http://schemas.microsoft.com/office/drawing/2014/main" xmlns="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:a16="http://schemas.microsoft.com/office/drawing/2014/main" xmlns="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:a16="http://schemas.microsoft.com/office/drawing/2014/main" xmlns="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:a16="http://schemas.microsoft.com/office/drawing/2014/main" xmlns="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:a16="http://schemas.microsoft.com/office/drawing/2014/main" xmlns="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:a16="http://schemas.microsoft.com/office/drawing/2014/main" xmlns="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:a16="http://schemas.microsoft.com/office/drawing/2014/main" xmlns="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:a16="http://schemas.microsoft.com/office/drawing/2014/main" xmlns="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:a16="http://schemas.microsoft.com/office/drawing/2014/main" xmlns="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:a16="http://schemas.microsoft.com/office/drawing/2014/main" xmlns="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:a16="http://schemas.microsoft.com/office/drawing/2014/main" xmlns="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:a16="http://schemas.microsoft.com/office/drawing/2014/main" xmlns="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:a16="http://schemas.microsoft.com/office/drawing/2014/main" xmlns="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:a16="http://schemas.microsoft.com/office/drawing/2014/main" xmlns="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:a16="http://schemas.microsoft.com/office/drawing/2014/main" xmlns="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:a16="http://schemas.microsoft.com/office/drawing/2014/main" xmlns="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:a16="http://schemas.microsoft.com/office/drawing/2014/main" xmlns="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:a16="http://schemas.microsoft.com/office/drawing/2014/main" xmlns="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:a16="http://schemas.microsoft.com/office/drawing/2014/main" xmlns="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:a16="http://schemas.microsoft.com/office/drawing/2014/main" xmlns="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:a16="http://schemas.microsoft.com/office/drawing/2014/main" xmlns="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:a16="http://schemas.microsoft.com/office/drawing/2014/main" xmlns="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:a16="http://schemas.microsoft.com/office/drawing/2014/main" xmlns="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:a16="http://schemas.microsoft.com/office/drawing/2014/main" xmlns="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:a16="http://schemas.microsoft.com/office/drawing/2014/main" xmlns="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:a16="http://schemas.microsoft.com/office/drawing/2014/main" xmlns="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:a16="http://schemas.microsoft.com/office/drawing/2014/main" xmlns="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:a16="http://schemas.microsoft.com/office/drawing/2014/main" xmlns="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:a16="http://schemas.microsoft.com/office/drawing/2014/main" xmlns="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:a16="http://schemas.microsoft.com/office/drawing/2014/main" xmlns="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:a16="http://schemas.microsoft.com/office/drawing/2014/main" xmlns="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:a16="http://schemas.microsoft.com/office/drawing/2014/main" xmlns="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:a16="http://schemas.microsoft.com/office/drawing/2014/main" xmlns="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:a16="http://schemas.microsoft.com/office/drawing/2014/main" xmlns="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:a16="http://schemas.microsoft.com/office/drawing/2014/main" xmlns="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:a16="http://schemas.microsoft.com/office/drawing/2014/main" xmlns="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:a16="http://schemas.microsoft.com/office/drawing/2014/main" xmlns="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:a16="http://schemas.microsoft.com/office/drawing/2014/main" xmlns="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:a16="http://schemas.microsoft.com/office/drawing/2014/main" xmlns="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:a16="http://schemas.microsoft.com/office/drawing/2014/main" xmlns="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vif.org/about/member-lis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实验：基于</a:t>
            </a:r>
            <a:r>
              <a:rPr lang="en-US" altLang="zh-CN" dirty="0" smtClean="0"/>
              <a:t>ONVIF</a:t>
            </a:r>
            <a:r>
              <a:rPr lang="zh-CN" altLang="en-US" dirty="0"/>
              <a:t>协议</a:t>
            </a:r>
            <a:r>
              <a:rPr lang="en-US" altLang="zh-CN" dirty="0" smtClean="0"/>
              <a:t>IPC</a:t>
            </a:r>
            <a:r>
              <a:rPr lang="zh-CN" altLang="en-US" dirty="0" smtClean="0"/>
              <a:t>采集图像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目标检测的准备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3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ONVIF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协议、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IPC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的概念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利用程序获取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IPC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视频流并保存实时画面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8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xmlns="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利用遵循</a:t>
            </a:r>
            <a:r>
              <a:rPr lang="en-US" altLang="zh-CN" dirty="0" smtClean="0"/>
              <a:t>ONVIF</a:t>
            </a:r>
            <a:r>
              <a:rPr lang="zh-CN" altLang="en-US" dirty="0" smtClean="0"/>
              <a:t>协议的网络摄像机（</a:t>
            </a:r>
            <a:r>
              <a:rPr lang="en-US" altLang="zh-CN" dirty="0" smtClean="0"/>
              <a:t>IPC</a:t>
            </a:r>
            <a:r>
              <a:rPr lang="zh-CN" altLang="en-US" dirty="0" smtClean="0"/>
              <a:t>）获取实时视频流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编写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程序采集训练模型所需的图像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IP Camera</a:t>
            </a:r>
            <a:r>
              <a:rPr lang="zh-CN" altLang="en-US" dirty="0" smtClean="0"/>
              <a:t>，网络摄像机）：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由网络</a:t>
            </a:r>
            <a:r>
              <a:rPr lang="zh-CN" altLang="en-US" dirty="0"/>
              <a:t>编码模块和模拟摄像机组合而</a:t>
            </a:r>
            <a:r>
              <a:rPr lang="zh-CN" altLang="en-US" dirty="0" smtClean="0"/>
              <a:t>成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网络</a:t>
            </a:r>
            <a:r>
              <a:rPr lang="zh-CN" altLang="en-US" dirty="0"/>
              <a:t>编码模块将模拟摄像机采集到的模拟视频信号编码压缩成数字信号，从而可以直接接入网络交换及路由</a:t>
            </a:r>
            <a:r>
              <a:rPr lang="zh-CN" altLang="en-US" dirty="0" smtClean="0"/>
              <a:t>设备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网络</a:t>
            </a:r>
            <a:r>
              <a:rPr lang="zh-CN" altLang="en-US" dirty="0"/>
              <a:t>摄像机内置一个嵌入式芯片，采用嵌入式</a:t>
            </a:r>
            <a:r>
              <a:rPr lang="zh-CN" altLang="en-US" dirty="0" smtClean="0"/>
              <a:t>实时操作系统</a:t>
            </a:r>
            <a:endParaRPr lang="en-US" altLang="zh-CN" dirty="0" smtClean="0"/>
          </a:p>
          <a:p>
            <a:pPr lvl="1"/>
            <a:r>
              <a:rPr lang="zh-CN" altLang="en-US" dirty="0"/>
              <a:t>是</a:t>
            </a:r>
            <a:r>
              <a:rPr lang="zh-CN" altLang="en-US" dirty="0" smtClean="0"/>
              <a:t>传统</a:t>
            </a:r>
            <a:r>
              <a:rPr lang="zh-CN" altLang="en-US" dirty="0"/>
              <a:t>摄像机与网络视频技术相结合的新一代</a:t>
            </a:r>
            <a:r>
              <a:rPr lang="zh-CN" altLang="en-US" dirty="0" smtClean="0"/>
              <a:t>产品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0"/>
          <a:stretch/>
        </p:blipFill>
        <p:spPr>
          <a:xfrm>
            <a:off x="7220743" y="2537274"/>
            <a:ext cx="4299745" cy="360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5" y="3617274"/>
            <a:ext cx="2520000" cy="252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925" y="3617274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41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ONVIF</a:t>
            </a:r>
            <a:r>
              <a:rPr lang="zh-CN" altLang="en-US" dirty="0" smtClean="0"/>
              <a:t>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ONVIF</a:t>
            </a:r>
            <a:r>
              <a:rPr lang="zh-CN" altLang="en-US" dirty="0" smtClean="0"/>
              <a:t>（</a:t>
            </a:r>
            <a:r>
              <a:rPr lang="en-US" altLang="zh-CN" dirty="0"/>
              <a:t>Open Network Video Interface </a:t>
            </a:r>
            <a:r>
              <a:rPr lang="en-US" altLang="zh-CN" dirty="0" smtClean="0"/>
              <a:t>Forum</a:t>
            </a:r>
            <a:r>
              <a:rPr lang="zh-CN" altLang="en-US" dirty="0" smtClean="0"/>
              <a:t>，</a:t>
            </a:r>
            <a:r>
              <a:rPr lang="zh-CN" altLang="en-US" dirty="0"/>
              <a:t>开放型网络视频接口论坛</a:t>
            </a:r>
            <a:r>
              <a:rPr lang="zh-CN" altLang="en-US" dirty="0" smtClean="0"/>
              <a:t>）协议：</a:t>
            </a:r>
            <a:endParaRPr lang="en-US" altLang="zh-CN" dirty="0" smtClean="0"/>
          </a:p>
          <a:p>
            <a:pPr lvl="1"/>
            <a:r>
              <a:rPr lang="zh-CN" altLang="en-US" dirty="0"/>
              <a:t>规范描述了网络视频的模型、接口、数据类型以及数据交互的</a:t>
            </a:r>
            <a:r>
              <a:rPr lang="zh-CN" altLang="en-US" dirty="0" smtClean="0"/>
              <a:t>模式</a:t>
            </a:r>
            <a:endParaRPr lang="en-US" altLang="zh-CN" dirty="0" smtClean="0"/>
          </a:p>
          <a:p>
            <a:pPr lvl="1"/>
            <a:r>
              <a:rPr lang="zh-CN" altLang="en-US" dirty="0"/>
              <a:t>规范中设备管理和控制部分所定义的接口均以</a:t>
            </a:r>
            <a:r>
              <a:rPr lang="en-US" altLang="zh-CN" dirty="0"/>
              <a:t>Web Services</a:t>
            </a:r>
            <a:r>
              <a:rPr lang="zh-CN" altLang="en-US" dirty="0"/>
              <a:t>的形式</a:t>
            </a:r>
            <a:r>
              <a:rPr lang="zh-CN" altLang="en-US" dirty="0" smtClean="0"/>
              <a:t>提供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</a:t>
            </a:r>
            <a:r>
              <a:rPr lang="zh-CN" altLang="en-US" dirty="0"/>
              <a:t>一个支持</a:t>
            </a:r>
            <a:r>
              <a:rPr lang="en-US" altLang="zh-CN" dirty="0"/>
              <a:t>ONVIF</a:t>
            </a:r>
            <a:r>
              <a:rPr lang="zh-CN" altLang="en-US" dirty="0"/>
              <a:t>规范的终端设备均须提供与功能相应的</a:t>
            </a:r>
            <a:r>
              <a:rPr lang="en-US" altLang="zh-CN" dirty="0"/>
              <a:t>Web </a:t>
            </a:r>
            <a:r>
              <a:rPr lang="en-US" altLang="zh-CN" dirty="0" smtClean="0"/>
              <a:t>Service</a:t>
            </a:r>
          </a:p>
          <a:p>
            <a:pPr lvl="1"/>
            <a:r>
              <a:rPr lang="zh-CN" altLang="en-US" dirty="0"/>
              <a:t>服务端与客户端的数据交互采用</a:t>
            </a:r>
            <a:r>
              <a:rPr lang="en-US" altLang="zh-CN" dirty="0"/>
              <a:t>SOAP</a:t>
            </a:r>
            <a:r>
              <a:rPr lang="zh-CN" altLang="en-US" dirty="0" smtClean="0"/>
              <a:t>协议</a:t>
            </a:r>
            <a:endParaRPr lang="en-US" altLang="zh-CN" dirty="0" smtClean="0"/>
          </a:p>
          <a:p>
            <a:pPr lvl="1"/>
            <a:r>
              <a:rPr lang="en-US" altLang="zh-CN" b="1" dirty="0" smtClean="0"/>
              <a:t>ONVIF</a:t>
            </a:r>
            <a:r>
              <a:rPr lang="zh-CN" altLang="en-US" b="1" dirty="0"/>
              <a:t>中的其他部分比如音视频流则通过</a:t>
            </a:r>
            <a:r>
              <a:rPr lang="en-US" altLang="zh-CN" b="1" dirty="0"/>
              <a:t>RTP/RTSP</a:t>
            </a:r>
            <a:r>
              <a:rPr lang="zh-CN" altLang="en-US" b="1" dirty="0" smtClean="0"/>
              <a:t>进行</a:t>
            </a:r>
            <a:endParaRPr lang="en-US" altLang="zh-CN" b="1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70" y="3441971"/>
            <a:ext cx="7591672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59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ONVIF</a:t>
            </a:r>
            <a:r>
              <a:rPr lang="zh-CN" altLang="en-US" dirty="0"/>
              <a:t>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ONVIF</a:t>
            </a:r>
            <a:r>
              <a:rPr lang="zh-CN" altLang="en-US" dirty="0"/>
              <a:t>以公开、开放的原则共同制定开放性行业</a:t>
            </a:r>
            <a:r>
              <a:rPr lang="zh-CN" altLang="en-US" dirty="0" smtClean="0"/>
              <a:t>标准</a:t>
            </a:r>
            <a:endParaRPr lang="en-US" altLang="zh-CN" dirty="0" smtClean="0"/>
          </a:p>
          <a:p>
            <a:r>
              <a:rPr lang="zh-CN" altLang="en-US" dirty="0" smtClean="0"/>
              <a:t>其</a:t>
            </a:r>
            <a:r>
              <a:rPr lang="zh-CN" altLang="en-US" dirty="0"/>
              <a:t>显著的优势有：</a:t>
            </a:r>
            <a:endParaRPr lang="en-US" altLang="zh-CN" dirty="0"/>
          </a:p>
          <a:p>
            <a:pPr lvl="1"/>
            <a:r>
              <a:rPr lang="zh-CN" altLang="en-US" dirty="0"/>
              <a:t>协同性：不同厂商所提供的产品，均可以通过一个统一的“语言”来进行交流。方便了系统的集成。</a:t>
            </a:r>
          </a:p>
          <a:p>
            <a:pPr lvl="1"/>
            <a:r>
              <a:rPr lang="zh-CN" altLang="en-US" dirty="0"/>
              <a:t>灵活性：终端用户和集成用户不需要被某些设备的固有解决方案所束缚。大大降低了开发成本。</a:t>
            </a:r>
          </a:p>
          <a:p>
            <a:pPr lvl="1"/>
            <a:r>
              <a:rPr lang="zh-CN" altLang="en-US" dirty="0"/>
              <a:t>质量保证：不断扩展的规范将由市场来导向，遵循规范的同时也满足主流的用户需求。</a:t>
            </a:r>
          </a:p>
          <a:p>
            <a:r>
              <a:rPr lang="zh-CN" altLang="en-US" dirty="0" smtClean="0"/>
              <a:t>官方网址：</a:t>
            </a:r>
            <a:r>
              <a:rPr lang="en-US" altLang="zh-CN" dirty="0">
                <a:hlinkClick r:id="rId3"/>
              </a:rPr>
              <a:t>https://www.onvif.org/about/member-list/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206" y="4610675"/>
            <a:ext cx="5092584" cy="128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524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ONVIF</a:t>
            </a:r>
            <a:r>
              <a:rPr lang="zh-CN" altLang="en-US" dirty="0" smtClean="0"/>
              <a:t>协议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以</a:t>
            </a:r>
            <a:r>
              <a:rPr lang="en-US" altLang="zh-CN" dirty="0" smtClean="0"/>
              <a:t>IPC</a:t>
            </a:r>
            <a:r>
              <a:rPr lang="zh-CN" altLang="en-US" dirty="0" smtClean="0"/>
              <a:t>摄像机为例：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IPC</a:t>
            </a:r>
            <a:r>
              <a:rPr lang="zh-CN" altLang="en-US" dirty="0"/>
              <a:t>是</a:t>
            </a:r>
            <a:r>
              <a:rPr lang="en-US" altLang="zh-CN" dirty="0"/>
              <a:t>Web Services</a:t>
            </a:r>
            <a:r>
              <a:rPr lang="zh-CN" altLang="en-US" dirty="0"/>
              <a:t>服务端，其提供的</a:t>
            </a:r>
            <a:r>
              <a:rPr lang="en-US" altLang="zh-CN" dirty="0"/>
              <a:t>WEB</a:t>
            </a:r>
            <a:r>
              <a:rPr lang="zh-CN" altLang="en-US" dirty="0"/>
              <a:t>服务接口需符合</a:t>
            </a:r>
            <a:r>
              <a:rPr lang="en-US" altLang="zh-CN" dirty="0"/>
              <a:t>ONVIF</a:t>
            </a:r>
            <a:r>
              <a:rPr lang="zh-CN" altLang="en-US" dirty="0" smtClean="0"/>
              <a:t>协议规范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开发的客户端通过</a:t>
            </a:r>
            <a:r>
              <a:rPr lang="en-US" altLang="zh-CN" dirty="0"/>
              <a:t>ONVIF</a:t>
            </a:r>
            <a:r>
              <a:rPr lang="zh-CN" altLang="en-US" dirty="0"/>
              <a:t>规范接口跟</a:t>
            </a:r>
            <a:r>
              <a:rPr lang="en-US" altLang="zh-CN" dirty="0"/>
              <a:t>IPC</a:t>
            </a:r>
            <a:r>
              <a:rPr lang="zh-CN" altLang="en-US" dirty="0" smtClean="0"/>
              <a:t>通讯</a:t>
            </a:r>
            <a:endParaRPr lang="en-US" altLang="zh-CN" dirty="0" smtClean="0"/>
          </a:p>
          <a:p>
            <a:r>
              <a:rPr lang="zh-CN" altLang="en-US" dirty="0" smtClean="0"/>
              <a:t>可以完成的操作有：</a:t>
            </a: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获取</a:t>
            </a:r>
            <a:r>
              <a:rPr lang="en-US" altLang="zh-CN" dirty="0"/>
              <a:t>IPC</a:t>
            </a:r>
            <a:r>
              <a:rPr lang="zh-CN" altLang="en-US" dirty="0"/>
              <a:t>的基本信息（厂家信息、版本信息等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修改</a:t>
            </a:r>
            <a:r>
              <a:rPr lang="en-US" altLang="zh-CN" dirty="0"/>
              <a:t>IPC</a:t>
            </a:r>
            <a:r>
              <a:rPr lang="zh-CN" altLang="en-US" dirty="0"/>
              <a:t>的系统日期、</a:t>
            </a:r>
            <a:r>
              <a:rPr lang="zh-CN" altLang="en-US" dirty="0" smtClean="0"/>
              <a:t>时间</a:t>
            </a: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修改</a:t>
            </a:r>
            <a:r>
              <a:rPr lang="en-US" altLang="zh-CN" dirty="0"/>
              <a:t>IPC</a:t>
            </a:r>
            <a:r>
              <a:rPr lang="zh-CN" altLang="en-US" dirty="0"/>
              <a:t>的网络配置（</a:t>
            </a:r>
            <a:r>
              <a:rPr lang="en-US" altLang="zh-CN" dirty="0"/>
              <a:t>IP</a:t>
            </a:r>
            <a:r>
              <a:rPr lang="zh-CN" altLang="en-US" dirty="0"/>
              <a:t>、子网掩码等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获取</a:t>
            </a:r>
            <a:r>
              <a:rPr lang="en-US" altLang="zh-CN" dirty="0"/>
              <a:t>/</a:t>
            </a:r>
            <a:r>
              <a:rPr lang="zh-CN" altLang="en-US" dirty="0"/>
              <a:t>修改</a:t>
            </a:r>
            <a:r>
              <a:rPr lang="en-US" altLang="zh-CN" dirty="0" smtClean="0"/>
              <a:t>IPC</a:t>
            </a:r>
            <a:r>
              <a:rPr lang="zh-CN" altLang="en-US" dirty="0"/>
              <a:t>摄像头的各种参数（视频分辨率、码率、帧率、</a:t>
            </a:r>
            <a:r>
              <a:rPr lang="en-US" altLang="zh-CN" dirty="0"/>
              <a:t>OSD</a:t>
            </a:r>
            <a:r>
              <a:rPr lang="zh-CN" altLang="en-US" dirty="0"/>
              <a:t>，云台控制等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/>
              <a:t>由于</a:t>
            </a:r>
            <a:r>
              <a:rPr lang="en-US" altLang="zh-CN" dirty="0"/>
              <a:t>SOAP</a:t>
            </a:r>
            <a:r>
              <a:rPr lang="zh-CN" altLang="en-US" dirty="0"/>
              <a:t>协议不适合传输音视频流，</a:t>
            </a:r>
            <a:r>
              <a:rPr lang="en-US" altLang="zh-CN" dirty="0"/>
              <a:t>ONVIF</a:t>
            </a:r>
            <a:r>
              <a:rPr lang="zh-CN" altLang="en-US" dirty="0"/>
              <a:t>规范中的传输音视频流采用的是已经很成熟的</a:t>
            </a:r>
            <a:r>
              <a:rPr lang="en-US" altLang="zh-CN" dirty="0"/>
              <a:t>RTP/RTSP</a:t>
            </a:r>
            <a:r>
              <a:rPr lang="zh-CN" altLang="en-US" dirty="0"/>
              <a:t>多媒体传输协议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可以理解为：</a:t>
            </a:r>
            <a:r>
              <a:rPr lang="en-US" altLang="zh-CN" dirty="0" smtClean="0"/>
              <a:t>IPC</a:t>
            </a:r>
            <a:r>
              <a:rPr lang="zh-CN" altLang="en-US" dirty="0"/>
              <a:t>的各种参数获取</a:t>
            </a:r>
            <a:r>
              <a:rPr lang="en-US" altLang="zh-CN" dirty="0"/>
              <a:t>/</a:t>
            </a:r>
            <a:r>
              <a:rPr lang="zh-CN" altLang="en-US" dirty="0"/>
              <a:t>配置都是通过</a:t>
            </a:r>
            <a:r>
              <a:rPr lang="en-US" altLang="zh-CN" dirty="0"/>
              <a:t>ONVIF</a:t>
            </a:r>
            <a:r>
              <a:rPr lang="zh-CN" altLang="en-US" dirty="0"/>
              <a:t>协议实现，而音视频流多媒体传输采用的是</a:t>
            </a:r>
            <a:r>
              <a:rPr lang="en-US" altLang="zh-CN" dirty="0"/>
              <a:t>RTP/RTSP</a:t>
            </a:r>
            <a:r>
              <a:rPr lang="zh-CN" altLang="en-US" dirty="0"/>
              <a:t>协议实现。</a:t>
            </a:r>
          </a:p>
        </p:txBody>
      </p:sp>
    </p:spTree>
    <p:extLst>
      <p:ext uri="{BB962C8B-B14F-4D97-AF65-F5344CB8AC3E}">
        <p14:creationId xmlns:p14="http://schemas.microsoft.com/office/powerpoint/2010/main" val="146187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IPC</a:t>
            </a:r>
            <a:r>
              <a:rPr lang="zh-CN" altLang="en-US" dirty="0" smtClean="0"/>
              <a:t>开发流程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smtClean="0"/>
              <a:t>ONVIF</a:t>
            </a:r>
            <a:r>
              <a:rPr lang="zh-CN" altLang="en-US" dirty="0" smtClean="0"/>
              <a:t>协议部分由</a:t>
            </a:r>
            <a:r>
              <a:rPr lang="en-US" altLang="zh-CN" dirty="0" err="1" smtClean="0"/>
              <a:t>gSOAP</a:t>
            </a:r>
            <a:r>
              <a:rPr lang="zh-CN" altLang="en-US" dirty="0" smtClean="0"/>
              <a:t>工具自动生成代码框架</a:t>
            </a:r>
            <a:endParaRPr lang="en-US" altLang="zh-CN" dirty="0" smtClean="0"/>
          </a:p>
          <a:p>
            <a:r>
              <a:rPr lang="en-US" altLang="zh-CN" dirty="0" smtClean="0"/>
              <a:t>RTSP</a:t>
            </a:r>
            <a:r>
              <a:rPr lang="zh-CN" altLang="en-US" dirty="0" smtClean="0"/>
              <a:t>音视频传输部分采用开源的</a:t>
            </a:r>
            <a:r>
              <a:rPr lang="en-US" altLang="zh-CN" dirty="0" err="1" smtClean="0"/>
              <a:t>FFmpeg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349" y="2784893"/>
            <a:ext cx="8285714" cy="33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6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FFmpeg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FFmpeg</a:t>
            </a:r>
            <a:r>
              <a:rPr lang="zh-CN" altLang="en-US" dirty="0"/>
              <a:t>是一套可以用来记录、转换数字音频、视频，并能将其转化为流的开源计算机程序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能够实现的功能有：</a:t>
            </a:r>
            <a:endParaRPr lang="en-US" altLang="zh-CN" dirty="0" smtClean="0"/>
          </a:p>
          <a:p>
            <a:pPr lvl="1"/>
            <a:r>
              <a:rPr lang="zh-CN" altLang="en-US" dirty="0"/>
              <a:t>音</a:t>
            </a:r>
            <a:r>
              <a:rPr lang="zh-CN" altLang="en-US" dirty="0" smtClean="0"/>
              <a:t>视频采集</a:t>
            </a:r>
            <a:endParaRPr lang="en-US" altLang="zh-CN" dirty="0" smtClean="0"/>
          </a:p>
          <a:p>
            <a:pPr lvl="1"/>
            <a:r>
              <a:rPr lang="zh-CN" altLang="en-US" dirty="0"/>
              <a:t>音</a:t>
            </a:r>
            <a:r>
              <a:rPr lang="zh-CN" altLang="en-US" dirty="0" smtClean="0"/>
              <a:t>视频编码、解码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音视频播放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视频播放、缩放等</a:t>
            </a:r>
            <a:endParaRPr lang="en-US" altLang="zh-CN" dirty="0" smtClean="0"/>
          </a:p>
          <a:p>
            <a:pPr lvl="1"/>
            <a:r>
              <a:rPr lang="zh-CN" altLang="en-US" dirty="0"/>
              <a:t>音</a:t>
            </a:r>
            <a:r>
              <a:rPr lang="zh-CN" altLang="en-US" dirty="0" smtClean="0"/>
              <a:t>视频格式转换（如</a:t>
            </a:r>
            <a:r>
              <a:rPr lang="en-US" altLang="zh-CN" dirty="0" smtClean="0"/>
              <a:t>MP4</a:t>
            </a:r>
            <a:r>
              <a:rPr lang="zh-CN" altLang="en-US" dirty="0" smtClean="0"/>
              <a:t>转为</a:t>
            </a:r>
            <a:r>
              <a:rPr lang="en-US" altLang="zh-CN" dirty="0" smtClean="0"/>
              <a:t>AVI</a:t>
            </a:r>
            <a:r>
              <a:rPr lang="zh-CN" altLang="en-US" dirty="0" smtClean="0"/>
              <a:t>等）</a:t>
            </a:r>
            <a:endParaRPr lang="en-US" altLang="zh-CN" dirty="0" smtClean="0"/>
          </a:p>
          <a:p>
            <a:pPr lvl="1"/>
            <a:r>
              <a:rPr lang="zh-CN" altLang="en-US" dirty="0"/>
              <a:t>音</a:t>
            </a:r>
            <a:r>
              <a:rPr lang="zh-CN" altLang="en-US" dirty="0" smtClean="0"/>
              <a:t>视频网络流读取（如</a:t>
            </a:r>
            <a:r>
              <a:rPr lang="en-US" altLang="zh-CN" dirty="0" smtClean="0"/>
              <a:t>RTSP</a:t>
            </a:r>
            <a:r>
              <a:rPr lang="zh-CN" altLang="en-US" dirty="0" smtClean="0"/>
              <a:t>等）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334" y="2897274"/>
            <a:ext cx="6646154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58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海康</a:t>
            </a:r>
            <a:r>
              <a:rPr lang="en-US" altLang="zh-CN" dirty="0" smtClean="0"/>
              <a:t>IPC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本实验使用海康威视</a:t>
            </a:r>
            <a:r>
              <a:rPr lang="en-US" altLang="zh-CN" dirty="0" smtClean="0"/>
              <a:t>IPC</a:t>
            </a:r>
            <a:r>
              <a:rPr lang="zh-CN" altLang="en-US" dirty="0" smtClean="0"/>
              <a:t>进行实验。在实验进行前，我们需要先启动海康</a:t>
            </a:r>
            <a:r>
              <a:rPr lang="en-US" altLang="zh-CN" dirty="0" smtClean="0"/>
              <a:t>IPC</a:t>
            </a:r>
            <a:r>
              <a:rPr lang="zh-CN" altLang="en-US" dirty="0" smtClean="0"/>
              <a:t>设备。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连接电源线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连接网线（和</a:t>
            </a:r>
            <a:r>
              <a:rPr lang="en-US" altLang="zh-CN" dirty="0" smtClean="0"/>
              <a:t>PC</a:t>
            </a:r>
            <a:r>
              <a:rPr lang="zh-CN" altLang="en-US" dirty="0" smtClean="0"/>
              <a:t>机位于同一网段下）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en-US" dirty="0" smtClean="0"/>
              <a:t>连接完成后自动开机，开机比较缓慢，需要等待一段时间。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749823" y="1758527"/>
            <a:ext cx="3240000" cy="432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322592" y="1758527"/>
            <a:ext cx="3240000" cy="4320000"/>
          </a:xfrm>
          <a:prstGeom prst="rect">
            <a:avLst/>
          </a:prstGeom>
        </p:spPr>
      </p:pic>
      <p:sp>
        <p:nvSpPr>
          <p:cNvPr id="9" name="右箭头 8"/>
          <p:cNvSpPr/>
          <p:nvPr/>
        </p:nvSpPr>
        <p:spPr>
          <a:xfrm>
            <a:off x="5677319" y="3742681"/>
            <a:ext cx="954593" cy="35169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34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778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PC</a:t>
            </a:r>
            <a:r>
              <a:rPr lang="zh-CN" altLang="zh-CN" dirty="0"/>
              <a:t>机一台，其中包含：</a:t>
            </a:r>
          </a:p>
          <a:p>
            <a:pPr lvl="1"/>
            <a:r>
              <a:rPr lang="en-US" altLang="zh-CN" dirty="0"/>
              <a:t>Python</a:t>
            </a:r>
            <a:r>
              <a:rPr lang="zh-CN" altLang="zh-CN" dirty="0"/>
              <a:t>，版本</a:t>
            </a:r>
            <a:r>
              <a:rPr lang="en-US" altLang="zh-CN" dirty="0"/>
              <a:t>3.6</a:t>
            </a:r>
            <a:r>
              <a:rPr lang="zh-CN" altLang="zh-CN" dirty="0"/>
              <a:t>，其中包含：</a:t>
            </a:r>
          </a:p>
          <a:p>
            <a:pPr lvl="2"/>
            <a:r>
              <a:rPr lang="zh-CN" altLang="zh-CN" dirty="0"/>
              <a:t>计算机视觉</a:t>
            </a:r>
            <a:r>
              <a:rPr lang="en-US" altLang="zh-CN" dirty="0" err="1"/>
              <a:t>Opencv</a:t>
            </a:r>
            <a:r>
              <a:rPr lang="zh-CN" altLang="zh-CN" dirty="0"/>
              <a:t>库，版本</a:t>
            </a:r>
            <a:r>
              <a:rPr lang="en-US" altLang="zh-CN" dirty="0"/>
              <a:t>3.4.2.17</a:t>
            </a:r>
            <a:endParaRPr lang="zh-CN" altLang="zh-CN" dirty="0"/>
          </a:p>
          <a:p>
            <a:pPr lvl="2"/>
            <a:r>
              <a:rPr lang="en-US" altLang="zh-CN" dirty="0" err="1"/>
              <a:t>numpy</a:t>
            </a:r>
            <a:r>
              <a:rPr lang="zh-CN" altLang="zh-CN" dirty="0"/>
              <a:t>库，版本</a:t>
            </a:r>
            <a:r>
              <a:rPr lang="en-US" altLang="zh-CN" dirty="0"/>
              <a:t>1.19.2</a:t>
            </a:r>
            <a:endParaRPr lang="zh-CN" altLang="zh-CN" dirty="0"/>
          </a:p>
          <a:p>
            <a:pPr lvl="2"/>
            <a:r>
              <a:rPr lang="zh-CN" altLang="zh-CN" dirty="0"/>
              <a:t>操作系统交互库</a:t>
            </a:r>
            <a:r>
              <a:rPr lang="en-US" altLang="zh-CN" dirty="0" err="1"/>
              <a:t>os</a:t>
            </a:r>
            <a:endParaRPr lang="zh-CN" altLang="zh-CN" dirty="0"/>
          </a:p>
          <a:p>
            <a:pPr lvl="0"/>
            <a:r>
              <a:rPr lang="zh-CN" altLang="zh-CN" dirty="0"/>
              <a:t>遵循</a:t>
            </a:r>
            <a:r>
              <a:rPr lang="en-US" altLang="zh-CN" dirty="0"/>
              <a:t>ONVIF</a:t>
            </a:r>
            <a:r>
              <a:rPr lang="zh-CN" altLang="zh-CN" dirty="0"/>
              <a:t>通信协议的海康威视</a:t>
            </a:r>
            <a:r>
              <a:rPr lang="en-US" altLang="zh-CN" dirty="0"/>
              <a:t>IPC</a:t>
            </a:r>
            <a:r>
              <a:rPr lang="zh-CN" altLang="zh-CN" dirty="0"/>
              <a:t>一台</a:t>
            </a:r>
          </a:p>
          <a:p>
            <a:r>
              <a:rPr lang="zh-CN" altLang="zh-CN" b="1" dirty="0"/>
              <a:t>注：请确保</a:t>
            </a:r>
            <a:r>
              <a:rPr lang="en-US" altLang="zh-CN" b="1" dirty="0"/>
              <a:t>PC</a:t>
            </a:r>
            <a:r>
              <a:rPr lang="zh-CN" altLang="zh-CN" b="1" dirty="0"/>
              <a:t>机与</a:t>
            </a:r>
            <a:r>
              <a:rPr lang="en-US" altLang="zh-CN" b="1" dirty="0"/>
              <a:t>IPC</a:t>
            </a:r>
            <a:r>
              <a:rPr lang="zh-CN" altLang="zh-CN" b="1" dirty="0"/>
              <a:t>位于同一网段下。</a:t>
            </a:r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417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841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安装必需的库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程序代码介绍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修改并运行程序</a:t>
            </a: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115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656438369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240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安装海康威视官方设备网络搜索软件，安装步骤较简单，直接按流程进行即可。</a:t>
            </a:r>
          </a:p>
          <a:p>
            <a:r>
              <a:rPr lang="zh-CN" altLang="zh-CN" dirty="0"/>
              <a:t>接受软件使用许可协议后点击</a:t>
            </a:r>
            <a:r>
              <a:rPr lang="zh-CN" altLang="zh-CN" dirty="0" smtClean="0"/>
              <a:t>下一步</a:t>
            </a:r>
            <a:r>
              <a:rPr lang="zh-CN" altLang="en-US" dirty="0"/>
              <a:t>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5"/>
          <a:stretch/>
        </p:blipFill>
        <p:spPr>
          <a:xfrm>
            <a:off x="3372386" y="2537274"/>
            <a:ext cx="544564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537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选择安装语言，默认选择简体中文，点击</a:t>
            </a:r>
            <a:r>
              <a:rPr lang="zh-CN" altLang="zh-CN" dirty="0" smtClean="0"/>
              <a:t>下一步</a:t>
            </a:r>
            <a:r>
              <a:rPr lang="zh-CN" altLang="en-US" dirty="0"/>
              <a:t>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2"/>
          <a:stretch/>
        </p:blipFill>
        <p:spPr>
          <a:xfrm>
            <a:off x="3366309" y="2537274"/>
            <a:ext cx="545779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12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选择安装路径，根据情况自己选择后，单击</a:t>
            </a:r>
            <a:r>
              <a:rPr lang="zh-CN" altLang="zh-CN" dirty="0" smtClean="0"/>
              <a:t>安装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076" y="2537274"/>
            <a:ext cx="5396259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16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完成安装</a:t>
            </a:r>
            <a:r>
              <a:rPr lang="zh-CN" altLang="zh-CN" dirty="0" smtClean="0"/>
              <a:t>界面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054" y="2537274"/>
            <a:ext cx="5426304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42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安装完成后运行该应用程序，界面如图</a:t>
            </a:r>
            <a:r>
              <a:rPr lang="en-US" altLang="zh-CN" dirty="0"/>
              <a:t>5</a:t>
            </a:r>
            <a:r>
              <a:rPr lang="zh-CN" altLang="zh-CN" dirty="0"/>
              <a:t>所示，程序会自动获取同一网段下的海康</a:t>
            </a:r>
            <a:r>
              <a:rPr lang="en-US" altLang="zh-CN" dirty="0"/>
              <a:t>IPC</a:t>
            </a:r>
            <a:r>
              <a:rPr lang="zh-CN" altLang="zh-CN" dirty="0"/>
              <a:t>设备。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上图</a:t>
            </a:r>
            <a:r>
              <a:rPr lang="zh-CN" altLang="zh-CN" dirty="0" smtClean="0"/>
              <a:t>显示</a:t>
            </a:r>
            <a:r>
              <a:rPr lang="zh-CN" altLang="zh-CN" dirty="0"/>
              <a:t>了所有在线设备的</a:t>
            </a:r>
            <a:r>
              <a:rPr lang="en-US" altLang="zh-CN" dirty="0"/>
              <a:t>IP</a:t>
            </a:r>
            <a:r>
              <a:rPr lang="zh-CN" altLang="zh-CN" dirty="0"/>
              <a:t>地址、网关、</a:t>
            </a:r>
            <a:r>
              <a:rPr lang="en-US" altLang="zh-CN" dirty="0"/>
              <a:t>HTTP</a:t>
            </a:r>
            <a:r>
              <a:rPr lang="zh-CN" altLang="zh-CN" dirty="0"/>
              <a:t>端口等。我们需要获取的信息是设备的</a:t>
            </a:r>
            <a:r>
              <a:rPr lang="en-US" altLang="zh-CN" dirty="0"/>
              <a:t>IP</a:t>
            </a:r>
            <a:r>
              <a:rPr lang="zh-CN" altLang="zh-CN" dirty="0"/>
              <a:t>地址，并且验证</a:t>
            </a:r>
            <a:r>
              <a:rPr lang="en-US" altLang="zh-CN" dirty="0"/>
              <a:t>PC</a:t>
            </a:r>
            <a:r>
              <a:rPr lang="zh-CN" altLang="zh-CN" dirty="0"/>
              <a:t>机与</a:t>
            </a:r>
            <a:r>
              <a:rPr lang="en-US" altLang="zh-CN" dirty="0"/>
              <a:t>IPC</a:t>
            </a:r>
            <a:r>
              <a:rPr lang="zh-CN" altLang="zh-CN" dirty="0"/>
              <a:t>位于同一网段下。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27"/>
          <a:stretch/>
        </p:blipFill>
        <p:spPr>
          <a:xfrm>
            <a:off x="498627" y="2193786"/>
            <a:ext cx="11193157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9515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验证</a:t>
            </a:r>
            <a:r>
              <a:rPr lang="en-US" altLang="zh-CN" dirty="0"/>
              <a:t>PC</a:t>
            </a:r>
            <a:r>
              <a:rPr lang="zh-CN" altLang="zh-CN" dirty="0"/>
              <a:t>机与</a:t>
            </a:r>
            <a:r>
              <a:rPr lang="en-US" altLang="zh-CN" dirty="0"/>
              <a:t>IPC</a:t>
            </a:r>
            <a:r>
              <a:rPr lang="zh-CN" altLang="zh-CN" dirty="0"/>
              <a:t>位于同一网段</a:t>
            </a:r>
            <a:r>
              <a:rPr lang="zh-CN" altLang="zh-CN" dirty="0" smtClean="0"/>
              <a:t>下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Windows+R</a:t>
            </a:r>
            <a:r>
              <a:rPr lang="zh-CN" altLang="zh-CN" dirty="0"/>
              <a:t>组合键打开运行，输入</a:t>
            </a:r>
            <a:r>
              <a:rPr lang="en-US" altLang="zh-CN" dirty="0" err="1"/>
              <a:t>cmd</a:t>
            </a:r>
            <a:r>
              <a:rPr lang="zh-CN" altLang="zh-CN" dirty="0"/>
              <a:t>后回车打开命令提示</a:t>
            </a:r>
            <a:r>
              <a:rPr lang="zh-CN" altLang="zh-CN" dirty="0" smtClean="0"/>
              <a:t>符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444" y="2443310"/>
            <a:ext cx="4009524" cy="2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290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在命令提示符下输入指令获取网关信息：</a:t>
            </a:r>
          </a:p>
          <a:p>
            <a:pPr lvl="1"/>
            <a:r>
              <a:rPr lang="en-US" altLang="zh-CN" dirty="0" err="1" smtClean="0"/>
              <a:t>ipconfig</a:t>
            </a:r>
            <a:endParaRPr lang="en-US" altLang="zh-CN" dirty="0" smtClean="0"/>
          </a:p>
          <a:p>
            <a:r>
              <a:rPr lang="zh-CN" altLang="zh-CN" dirty="0"/>
              <a:t>显示的信息可能</a:t>
            </a:r>
            <a:r>
              <a:rPr lang="zh-CN" altLang="zh-CN" dirty="0" smtClean="0"/>
              <a:t>如</a:t>
            </a:r>
            <a:r>
              <a:rPr lang="zh-CN" altLang="en-US" dirty="0"/>
              <a:t>下图</a:t>
            </a:r>
            <a:r>
              <a:rPr lang="zh-CN" altLang="zh-CN" dirty="0" smtClean="0"/>
              <a:t>所</a:t>
            </a:r>
            <a:r>
              <a:rPr lang="zh-CN" altLang="zh-CN" dirty="0"/>
              <a:t>示，将“默认网关”与之前查找到的</a:t>
            </a:r>
            <a:r>
              <a:rPr lang="en-US" altLang="zh-CN" dirty="0"/>
              <a:t>IPC</a:t>
            </a:r>
            <a:r>
              <a:rPr lang="zh-CN" altLang="zh-CN" dirty="0"/>
              <a:t>设备</a:t>
            </a:r>
            <a:r>
              <a:rPr lang="en-US" altLang="zh-CN" dirty="0"/>
              <a:t>IPv4</a:t>
            </a:r>
            <a:r>
              <a:rPr lang="zh-CN" altLang="zh-CN" dirty="0"/>
              <a:t>网关进行对比，如果相同则说明位于同一网段下。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063" y="3194417"/>
            <a:ext cx="9314286" cy="2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90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如果设备是第一次使用，还需要进行设备初始化。设备的激活状态会显示为“未激活”，我们需要勾选该设备，打开右边栏重置密码进行初始化</a:t>
            </a:r>
            <a:r>
              <a:rPr lang="zh-CN" altLang="zh-CN" dirty="0" smtClean="0"/>
              <a:t>设置</a:t>
            </a:r>
            <a:r>
              <a:rPr lang="zh-CN" altLang="en-US" dirty="0" smtClean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07"/>
          <a:stretch/>
        </p:blipFill>
        <p:spPr>
          <a:xfrm>
            <a:off x="1748854" y="1997348"/>
            <a:ext cx="8692704" cy="413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55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设置完毕后点击“激活”，会弹出设置安全问题的选项，本实验演示时选择了“取消”，如果是个人设备则可以通过设置安全问题对设备进一步</a:t>
            </a:r>
            <a:r>
              <a:rPr lang="zh-CN" altLang="zh-CN" dirty="0" smtClean="0"/>
              <a:t>加密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80"/>
          <a:stretch/>
        </p:blipFill>
        <p:spPr>
          <a:xfrm>
            <a:off x="1779439" y="1961206"/>
            <a:ext cx="8631534" cy="417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814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可以发现该设备已经激活，此外还可以通过输入密码修改设备的部分网络</a:t>
            </a:r>
            <a:r>
              <a:rPr lang="zh-CN" altLang="zh-CN" dirty="0" smtClean="0"/>
              <a:t>参数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93"/>
          <a:stretch/>
        </p:blipFill>
        <p:spPr>
          <a:xfrm>
            <a:off x="1508134" y="1614229"/>
            <a:ext cx="9174144" cy="452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10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打开浏览器，直接输入该设备的</a:t>
            </a:r>
            <a:r>
              <a:rPr lang="en-US" altLang="zh-CN" dirty="0"/>
              <a:t>IP</a:t>
            </a:r>
            <a:r>
              <a:rPr lang="zh-CN" altLang="zh-CN" dirty="0"/>
              <a:t>地址，可以进入后台界面（</a:t>
            </a:r>
            <a:r>
              <a:rPr lang="en-US" altLang="zh-CN" dirty="0"/>
              <a:t>PC</a:t>
            </a:r>
            <a:r>
              <a:rPr lang="zh-CN" altLang="zh-CN" dirty="0"/>
              <a:t>机和设备须在同一网段下），输入用户名</a:t>
            </a:r>
            <a:r>
              <a:rPr lang="en-US" altLang="zh-CN" dirty="0"/>
              <a:t>“admin”</a:t>
            </a:r>
            <a:r>
              <a:rPr lang="zh-CN" altLang="zh-CN" dirty="0"/>
              <a:t>和刚才初始化的密码</a:t>
            </a:r>
            <a:r>
              <a:rPr lang="en-US" altLang="zh-CN" dirty="0"/>
              <a:t>“terabits123456”</a:t>
            </a:r>
            <a:r>
              <a:rPr lang="zh-CN" altLang="zh-CN" dirty="0"/>
              <a:t>，以管理员身份进入后台管理</a:t>
            </a:r>
            <a:r>
              <a:rPr lang="zh-CN" altLang="zh-CN" dirty="0" smtClean="0"/>
              <a:t>界面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06" y="2653506"/>
            <a:ext cx="10058400" cy="348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44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以管理员身份进入后台界面后，就能够修改设备各项参数属性。我们以修改设备显示时间配置为例，设备的默认初始时间为</a:t>
            </a:r>
            <a:r>
              <a:rPr lang="en-US" altLang="zh-CN" dirty="0"/>
              <a:t>1970-01-01</a:t>
            </a:r>
            <a:r>
              <a:rPr lang="zh-CN" altLang="zh-CN" dirty="0"/>
              <a:t>，我们需要调整为当前时间，具体步骤如下：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点击左上角</a:t>
            </a:r>
            <a:r>
              <a:rPr lang="en-US" altLang="zh-CN" dirty="0"/>
              <a:t>“</a:t>
            </a:r>
            <a:r>
              <a:rPr lang="zh-CN" altLang="zh-CN" dirty="0"/>
              <a:t>配置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左边栏点击</a:t>
            </a:r>
            <a:r>
              <a:rPr lang="en-US" altLang="zh-CN" dirty="0"/>
              <a:t>“</a:t>
            </a:r>
            <a:r>
              <a:rPr lang="zh-CN" altLang="zh-CN" dirty="0"/>
              <a:t>系统</a:t>
            </a:r>
            <a:r>
              <a:rPr lang="en-US" altLang="zh-CN" dirty="0"/>
              <a:t>”</a:t>
            </a:r>
            <a:r>
              <a:rPr lang="zh-CN" altLang="zh-CN" dirty="0"/>
              <a:t>下的</a:t>
            </a:r>
            <a:r>
              <a:rPr lang="en-US" altLang="zh-CN" dirty="0"/>
              <a:t>“</a:t>
            </a:r>
            <a:r>
              <a:rPr lang="zh-CN" altLang="zh-CN" dirty="0"/>
              <a:t>系统设置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点击</a:t>
            </a:r>
            <a:r>
              <a:rPr lang="en-US" altLang="zh-CN" dirty="0"/>
              <a:t>“</a:t>
            </a:r>
            <a:r>
              <a:rPr lang="zh-CN" altLang="zh-CN" dirty="0"/>
              <a:t>时间配置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在下方</a:t>
            </a:r>
            <a:r>
              <a:rPr lang="en-US" altLang="zh-CN" dirty="0"/>
              <a:t>“</a:t>
            </a:r>
            <a:r>
              <a:rPr lang="zh-CN" altLang="zh-CN" dirty="0"/>
              <a:t>手动校时</a:t>
            </a:r>
            <a:r>
              <a:rPr lang="en-US" altLang="zh-CN" dirty="0"/>
              <a:t>”</a:t>
            </a:r>
            <a:r>
              <a:rPr lang="zh-CN" altLang="zh-CN" dirty="0"/>
              <a:t>中，勾选选项</a:t>
            </a:r>
            <a:r>
              <a:rPr lang="en-US" altLang="zh-CN" dirty="0"/>
              <a:t>“</a:t>
            </a:r>
            <a:r>
              <a:rPr lang="zh-CN" altLang="zh-CN" dirty="0"/>
              <a:t>与计算机时间同步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点击保存</a:t>
            </a:r>
            <a:r>
              <a:rPr lang="zh-CN" altLang="zh-CN" dirty="0" smtClean="0"/>
              <a:t>，</a:t>
            </a:r>
            <a:r>
              <a:rPr lang="zh-CN" altLang="zh-CN" dirty="0"/>
              <a:t>右下角弹出提示框</a:t>
            </a:r>
            <a:r>
              <a:rPr lang="zh-CN" altLang="zh-CN" dirty="0" smtClean="0"/>
              <a:t>“保存成功”</a:t>
            </a: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 smtClean="0"/>
              <a:t>设备</a:t>
            </a:r>
            <a:r>
              <a:rPr lang="zh-CN" altLang="zh-CN" dirty="0"/>
              <a:t>已变为当前时间</a:t>
            </a:r>
          </a:p>
          <a:p>
            <a:endParaRPr lang="en-US" altLang="zh-CN" b="1" dirty="0" smtClean="0"/>
          </a:p>
          <a:p>
            <a:endParaRPr lang="en-US" altLang="zh-CN" b="1" dirty="0"/>
          </a:p>
          <a:p>
            <a:endParaRPr lang="en-US" altLang="zh-CN" b="1" dirty="0" smtClean="0"/>
          </a:p>
          <a:p>
            <a:r>
              <a:rPr lang="zh-CN" altLang="zh-CN" b="1" dirty="0" smtClean="0"/>
              <a:t>注</a:t>
            </a:r>
            <a:r>
              <a:rPr lang="zh-CN" altLang="zh-CN" b="1" dirty="0"/>
              <a:t>：预览功能还需安装浏览器插件，本实验未使用该功能，故不在此赘述。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7540" y="2062353"/>
            <a:ext cx="5232948" cy="314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40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除此之外，我们还需要对设备的网络进行初始化管理。进入</a:t>
            </a:r>
            <a:r>
              <a:rPr lang="en-US" altLang="zh-CN" dirty="0"/>
              <a:t>“</a:t>
            </a:r>
            <a:r>
              <a:rPr lang="zh-CN" altLang="zh-CN" dirty="0"/>
              <a:t>网络</a:t>
            </a:r>
            <a:r>
              <a:rPr lang="en-US" altLang="zh-CN" dirty="0"/>
              <a:t>”—— “</a:t>
            </a:r>
            <a:r>
              <a:rPr lang="zh-CN" altLang="zh-CN" dirty="0"/>
              <a:t>基本配置</a:t>
            </a:r>
            <a:r>
              <a:rPr lang="en-US" altLang="zh-CN" dirty="0"/>
              <a:t>”</a:t>
            </a:r>
            <a:r>
              <a:rPr lang="zh-CN" altLang="zh-CN" dirty="0"/>
              <a:t>，具体步骤如下：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点击左上角</a:t>
            </a:r>
            <a:r>
              <a:rPr lang="en-US" altLang="zh-CN" dirty="0"/>
              <a:t>“</a:t>
            </a:r>
            <a:r>
              <a:rPr lang="zh-CN" altLang="zh-CN" dirty="0"/>
              <a:t>配置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左边栏点击</a:t>
            </a:r>
            <a:r>
              <a:rPr lang="en-US" altLang="zh-CN" dirty="0"/>
              <a:t>“</a:t>
            </a:r>
            <a:r>
              <a:rPr lang="zh-CN" altLang="zh-CN" dirty="0"/>
              <a:t>网络</a:t>
            </a:r>
            <a:r>
              <a:rPr lang="en-US" altLang="zh-CN" dirty="0"/>
              <a:t>”</a:t>
            </a:r>
            <a:r>
              <a:rPr lang="zh-CN" altLang="zh-CN" dirty="0"/>
              <a:t>下的</a:t>
            </a:r>
            <a:r>
              <a:rPr lang="en-US" altLang="zh-CN" dirty="0"/>
              <a:t>“</a:t>
            </a:r>
            <a:r>
              <a:rPr lang="zh-CN" altLang="zh-CN" dirty="0"/>
              <a:t>基本设置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在</a:t>
            </a:r>
            <a:r>
              <a:rPr lang="en-US" altLang="zh-CN" dirty="0"/>
              <a:t>“TCP/IP”</a:t>
            </a:r>
            <a:r>
              <a:rPr lang="zh-CN" altLang="zh-CN" dirty="0"/>
              <a:t>中，勾选自动获取，会自动分配</a:t>
            </a:r>
            <a:r>
              <a:rPr lang="en-US" altLang="zh-CN" dirty="0"/>
              <a:t>IP</a:t>
            </a:r>
            <a:r>
              <a:rPr lang="zh-CN" altLang="zh-CN" dirty="0"/>
              <a:t>地址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点击</a:t>
            </a:r>
            <a:r>
              <a:rPr lang="en-US" altLang="zh-CN" dirty="0"/>
              <a:t>“</a:t>
            </a:r>
            <a:r>
              <a:rPr lang="zh-CN" altLang="zh-CN" dirty="0"/>
              <a:t>测试</a:t>
            </a:r>
            <a:r>
              <a:rPr lang="en-US" altLang="zh-CN" dirty="0"/>
              <a:t>”</a:t>
            </a:r>
            <a:r>
              <a:rPr lang="zh-CN" altLang="zh-CN" dirty="0"/>
              <a:t>按钮，弹出提示框</a:t>
            </a:r>
            <a:r>
              <a:rPr lang="en-US" altLang="zh-CN" dirty="0"/>
              <a:t>“</a:t>
            </a:r>
            <a:r>
              <a:rPr lang="zh-CN" altLang="zh-CN" dirty="0"/>
              <a:t>该地址尚未被使用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点击保存，右下角弹出提示框</a:t>
            </a:r>
            <a:r>
              <a:rPr lang="en-US" altLang="zh-CN" dirty="0"/>
              <a:t>“</a:t>
            </a:r>
            <a:r>
              <a:rPr lang="zh-CN" altLang="zh-CN" dirty="0"/>
              <a:t>保存成功</a:t>
            </a:r>
            <a:r>
              <a:rPr lang="en-US" altLang="zh-CN" dirty="0" smtClean="0"/>
              <a:t>”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630" y="1580354"/>
            <a:ext cx="4936290" cy="476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33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点击</a:t>
            </a:r>
            <a:r>
              <a:rPr lang="en-US" altLang="zh-CN" dirty="0"/>
              <a:t>“</a:t>
            </a:r>
            <a:r>
              <a:rPr lang="zh-CN" altLang="zh-CN" dirty="0"/>
              <a:t>网络</a:t>
            </a:r>
            <a:r>
              <a:rPr lang="en-US" altLang="zh-CN" dirty="0"/>
              <a:t>”—— “</a:t>
            </a:r>
            <a:r>
              <a:rPr lang="zh-CN" altLang="zh-CN" dirty="0"/>
              <a:t>高级配置</a:t>
            </a:r>
            <a:r>
              <a:rPr lang="en-US" altLang="zh-CN" dirty="0"/>
              <a:t>”</a:t>
            </a:r>
            <a:r>
              <a:rPr lang="zh-CN" altLang="zh-CN" dirty="0"/>
              <a:t>，选择集成协议，</a:t>
            </a:r>
            <a:r>
              <a:rPr lang="zh-CN" altLang="zh-CN" b="1" dirty="0">
                <a:solidFill>
                  <a:srgbClr val="FF0000"/>
                </a:solidFill>
              </a:rPr>
              <a:t>必须勾选</a:t>
            </a:r>
            <a:r>
              <a:rPr lang="en-US" altLang="zh-CN" b="1" dirty="0">
                <a:solidFill>
                  <a:srgbClr val="FF0000"/>
                </a:solidFill>
              </a:rPr>
              <a:t>“</a:t>
            </a:r>
            <a:r>
              <a:rPr lang="zh-CN" altLang="zh-CN" b="1" dirty="0">
                <a:solidFill>
                  <a:srgbClr val="FF0000"/>
                </a:solidFill>
              </a:rPr>
              <a:t>启用开放型网络视频接口</a:t>
            </a:r>
            <a:r>
              <a:rPr lang="en-US" altLang="zh-CN" b="1" dirty="0">
                <a:solidFill>
                  <a:srgbClr val="FF0000"/>
                </a:solidFill>
              </a:rPr>
              <a:t>”</a:t>
            </a:r>
            <a:r>
              <a:rPr lang="zh-CN" altLang="zh-CN" b="1" dirty="0"/>
              <a:t>，</a:t>
            </a:r>
            <a:r>
              <a:rPr lang="zh-CN" altLang="zh-CN" dirty="0"/>
              <a:t>否则将无法通过</a:t>
            </a:r>
            <a:r>
              <a:rPr lang="en-US" altLang="zh-CN" dirty="0" err="1"/>
              <a:t>onvif</a:t>
            </a:r>
            <a:r>
              <a:rPr lang="zh-CN" altLang="zh-CN" dirty="0"/>
              <a:t>协议搜索到该设备的</a:t>
            </a:r>
            <a:r>
              <a:rPr lang="en-US" altLang="zh-CN" dirty="0"/>
              <a:t>IP</a:t>
            </a:r>
            <a:r>
              <a:rPr lang="zh-CN" altLang="zh-CN" dirty="0" smtClean="0"/>
              <a:t>地址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469" y="1731017"/>
            <a:ext cx="6581019" cy="440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49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在同一页面下，</a:t>
            </a:r>
            <a:r>
              <a:rPr lang="en-US" altLang="zh-CN" dirty="0"/>
              <a:t>“</a:t>
            </a:r>
            <a:r>
              <a:rPr lang="zh-CN" altLang="zh-CN" dirty="0"/>
              <a:t>用户列表</a:t>
            </a:r>
            <a:r>
              <a:rPr lang="en-US" altLang="zh-CN" dirty="0"/>
              <a:t>”</a:t>
            </a:r>
            <a:r>
              <a:rPr lang="zh-CN" altLang="zh-CN" dirty="0"/>
              <a:t>点击</a:t>
            </a:r>
            <a:r>
              <a:rPr lang="en-US" altLang="zh-CN" dirty="0"/>
              <a:t>“</a:t>
            </a:r>
            <a:r>
              <a:rPr lang="zh-CN" altLang="zh-CN" dirty="0"/>
              <a:t>添加</a:t>
            </a:r>
            <a:r>
              <a:rPr lang="en-US" altLang="zh-CN" dirty="0"/>
              <a:t>”</a:t>
            </a:r>
            <a:r>
              <a:rPr lang="zh-CN" altLang="zh-CN" dirty="0"/>
              <a:t>按钮，输入默认用户名</a:t>
            </a:r>
            <a:r>
              <a:rPr lang="en-US" altLang="zh-CN" dirty="0"/>
              <a:t>“admin”</a:t>
            </a:r>
            <a:r>
              <a:rPr lang="zh-CN" altLang="zh-CN" dirty="0"/>
              <a:t>及两次密码</a:t>
            </a:r>
            <a:r>
              <a:rPr lang="en-US" altLang="zh-CN" dirty="0"/>
              <a:t>“terabits123456”</a:t>
            </a:r>
            <a:r>
              <a:rPr lang="zh-CN" altLang="zh-CN" dirty="0"/>
              <a:t>，用户类型勾选</a:t>
            </a:r>
            <a:r>
              <a:rPr lang="en-US" altLang="zh-CN" dirty="0"/>
              <a:t>“</a:t>
            </a:r>
            <a:r>
              <a:rPr lang="zh-CN" altLang="zh-CN" dirty="0"/>
              <a:t>管理员</a:t>
            </a:r>
            <a:r>
              <a:rPr lang="en-US" altLang="zh-CN" dirty="0"/>
              <a:t>”</a:t>
            </a:r>
            <a:r>
              <a:rPr lang="zh-CN" altLang="zh-CN" dirty="0"/>
              <a:t>，点击</a:t>
            </a:r>
            <a:r>
              <a:rPr lang="en-US" altLang="zh-CN" dirty="0"/>
              <a:t>“</a:t>
            </a:r>
            <a:r>
              <a:rPr lang="zh-CN" altLang="zh-CN" dirty="0"/>
              <a:t>确认</a:t>
            </a:r>
            <a:r>
              <a:rPr lang="en-US" altLang="zh-CN" dirty="0" smtClean="0"/>
              <a:t>”</a:t>
            </a:r>
            <a:r>
              <a:rPr lang="zh-CN" altLang="en-US" dirty="0"/>
              <a:t>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032" y="2537274"/>
            <a:ext cx="4124348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3427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IPC</a:t>
            </a:r>
            <a:r>
              <a:rPr lang="zh-CN" altLang="en-US" dirty="0" smtClean="0"/>
              <a:t>的使用及初始化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添加完毕后用户列表会有一条</a:t>
            </a:r>
            <a:r>
              <a:rPr lang="en-US" altLang="zh-CN" dirty="0"/>
              <a:t>admin</a:t>
            </a:r>
            <a:r>
              <a:rPr lang="zh-CN" altLang="zh-CN" dirty="0"/>
              <a:t>用户信息，点击保存，右下角弹出提示框</a:t>
            </a:r>
            <a:r>
              <a:rPr lang="zh-CN" altLang="zh-CN" dirty="0" smtClean="0"/>
              <a:t>“保存成功”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129" y="1473786"/>
            <a:ext cx="4786154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720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IPC</a:t>
            </a:r>
            <a:r>
              <a:rPr lang="zh-CN" altLang="en-US" dirty="0"/>
              <a:t>的使用及初始化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此外，由于后续课程还需要利用</a:t>
            </a:r>
            <a:r>
              <a:rPr lang="en-US" altLang="zh-CN" dirty="0"/>
              <a:t>IPC</a:t>
            </a:r>
            <a:r>
              <a:rPr lang="zh-CN" altLang="zh-CN" dirty="0"/>
              <a:t>视频流调用目标检测模型，为了保证调用模型的检测速度，我们对</a:t>
            </a:r>
            <a:r>
              <a:rPr lang="en-US" altLang="zh-CN" dirty="0"/>
              <a:t>IPC</a:t>
            </a:r>
            <a:r>
              <a:rPr lang="zh-CN" altLang="zh-CN" dirty="0"/>
              <a:t>的视频流进行设置：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左侧栏选择</a:t>
            </a:r>
            <a:r>
              <a:rPr lang="en-US" altLang="zh-CN" dirty="0"/>
              <a:t>“</a:t>
            </a:r>
            <a:r>
              <a:rPr lang="zh-CN" altLang="zh-CN" dirty="0"/>
              <a:t>视音频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选择</a:t>
            </a:r>
            <a:r>
              <a:rPr lang="en-US" altLang="zh-CN" dirty="0"/>
              <a:t>“</a:t>
            </a:r>
            <a:r>
              <a:rPr lang="zh-CN" altLang="zh-CN" dirty="0"/>
              <a:t>视频</a:t>
            </a:r>
            <a:r>
              <a:rPr lang="en-US" altLang="zh-CN" dirty="0"/>
              <a:t>”</a:t>
            </a:r>
            <a:endParaRPr lang="zh-CN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更改视频类型（视频流）与分辨率（</a:t>
            </a:r>
            <a:r>
              <a:rPr lang="en-US" altLang="zh-CN" dirty="0"/>
              <a:t>1280*720P</a:t>
            </a:r>
            <a:r>
              <a:rPr lang="zh-CN" altLang="zh-CN" dirty="0"/>
              <a:t>）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调整码率上限（</a:t>
            </a:r>
            <a:r>
              <a:rPr lang="en-US" altLang="zh-CN" dirty="0"/>
              <a:t>1024Kbps</a:t>
            </a:r>
            <a:r>
              <a:rPr lang="zh-CN" altLang="zh-CN" dirty="0"/>
              <a:t>）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保存，右下角弹出提示框</a:t>
            </a:r>
            <a:r>
              <a:rPr lang="en-US" altLang="zh-CN" dirty="0"/>
              <a:t>“</a:t>
            </a:r>
            <a:r>
              <a:rPr lang="zh-CN" altLang="zh-CN" dirty="0"/>
              <a:t>保存成功</a:t>
            </a:r>
            <a:r>
              <a:rPr lang="en-US" altLang="zh-CN" dirty="0" smtClean="0"/>
              <a:t>”</a:t>
            </a:r>
          </a:p>
          <a:p>
            <a:pPr marL="800100" lvl="1" indent="-342900">
              <a:buFont typeface="+mj-lt"/>
              <a:buAutoNum type="arabicPeriod"/>
            </a:pP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endParaRPr lang="en-US" altLang="zh-CN" dirty="0"/>
          </a:p>
          <a:p>
            <a:r>
              <a:rPr lang="zh-CN" altLang="zh-CN" dirty="0"/>
              <a:t>至此，有关</a:t>
            </a:r>
            <a:r>
              <a:rPr lang="en-US" altLang="zh-CN" dirty="0"/>
              <a:t>IPC</a:t>
            </a:r>
            <a:r>
              <a:rPr lang="zh-CN" altLang="zh-CN"/>
              <a:t>初始化及设置必需步骤全部完成。</a:t>
            </a:r>
          </a:p>
          <a:p>
            <a:endParaRPr lang="zh-CN" altLang="zh-CN" dirty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027" y="1833786"/>
            <a:ext cx="553846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09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982420460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96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安装必需的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 err="1"/>
              <a:t>pycharm</a:t>
            </a:r>
            <a:r>
              <a:rPr lang="zh-CN" altLang="zh-CN" dirty="0"/>
              <a:t>，选择项目环境后，左上角</a:t>
            </a:r>
            <a:r>
              <a:rPr lang="en-US" altLang="zh-CN" dirty="0" err="1"/>
              <a:t>File➡settings</a:t>
            </a:r>
            <a:r>
              <a:rPr lang="en-US" altLang="zh-CN" dirty="0"/>
              <a:t>…</a:t>
            </a:r>
            <a:r>
              <a:rPr lang="zh-CN" altLang="zh-CN" dirty="0"/>
              <a:t>进入设置界面。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088" y="2056370"/>
            <a:ext cx="2714236" cy="315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742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安装必需的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在设置界面中，选择</a:t>
            </a:r>
            <a:r>
              <a:rPr lang="en-US" altLang="zh-CN" dirty="0"/>
              <a:t>Python Interpreter</a:t>
            </a:r>
            <a:r>
              <a:rPr lang="zh-CN" altLang="zh-CN" dirty="0"/>
              <a:t>，点击</a:t>
            </a:r>
            <a:r>
              <a:rPr lang="zh-CN" altLang="zh-CN" dirty="0" smtClean="0"/>
              <a:t>加号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563" y="1817274"/>
            <a:ext cx="594528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825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安装必需的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5565039" cy="5006975"/>
          </a:xfrm>
        </p:spPr>
        <p:txBody>
          <a:bodyPr/>
          <a:lstStyle/>
          <a:p>
            <a:r>
              <a:rPr lang="zh-CN" altLang="zh-CN" dirty="0"/>
              <a:t>在接下来的界面中搜索想要安装的库进行</a:t>
            </a:r>
            <a:r>
              <a:rPr lang="zh-CN" altLang="zh-CN" dirty="0" smtClean="0"/>
              <a:t>安装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/>
              <a:t>步骤</a:t>
            </a:r>
            <a:r>
              <a:rPr lang="en-US" altLang="zh-CN" dirty="0"/>
              <a:t>1</a:t>
            </a:r>
            <a:r>
              <a:rPr lang="zh-CN" altLang="zh-CN" dirty="0"/>
              <a:t>：搜索行搜索</a:t>
            </a:r>
            <a:r>
              <a:rPr lang="en-US" altLang="zh-CN" dirty="0"/>
              <a:t>“</a:t>
            </a:r>
            <a:r>
              <a:rPr lang="en-US" altLang="zh-CN" dirty="0" err="1"/>
              <a:t>opencv</a:t>
            </a:r>
            <a:r>
              <a:rPr lang="en-US" altLang="zh-CN" dirty="0"/>
              <a:t>”</a:t>
            </a:r>
            <a:endParaRPr lang="zh-CN" altLang="zh-CN" dirty="0"/>
          </a:p>
          <a:p>
            <a:pPr lvl="1"/>
            <a:r>
              <a:rPr lang="zh-CN" altLang="zh-CN" dirty="0"/>
              <a:t>步骤</a:t>
            </a:r>
            <a:r>
              <a:rPr lang="en-US" altLang="zh-CN" dirty="0"/>
              <a:t>2</a:t>
            </a:r>
            <a:r>
              <a:rPr lang="zh-CN" altLang="zh-CN" dirty="0"/>
              <a:t>：等待一段时间后显示结果，单击选择</a:t>
            </a:r>
            <a:r>
              <a:rPr lang="en-US" altLang="zh-CN" dirty="0" smtClean="0"/>
              <a:t>“</a:t>
            </a:r>
            <a:r>
              <a:rPr lang="en-US" altLang="zh-CN" dirty="0" err="1" smtClean="0"/>
              <a:t>opencv</a:t>
            </a:r>
            <a:r>
              <a:rPr lang="en-US" altLang="zh-CN" dirty="0"/>
              <a:t>”</a:t>
            </a:r>
            <a:endParaRPr lang="zh-CN" altLang="zh-CN" dirty="0"/>
          </a:p>
          <a:p>
            <a:pPr lvl="1"/>
            <a:r>
              <a:rPr lang="zh-CN" altLang="zh-CN" dirty="0"/>
              <a:t>步骤</a:t>
            </a:r>
            <a:r>
              <a:rPr lang="en-US" altLang="zh-CN" dirty="0"/>
              <a:t>3</a:t>
            </a:r>
            <a:r>
              <a:rPr lang="zh-CN" altLang="zh-CN" dirty="0"/>
              <a:t>：选择不同的版本及安装选项，这里我们需要勾选</a:t>
            </a:r>
            <a:r>
              <a:rPr lang="en-US" altLang="zh-CN" dirty="0"/>
              <a:t>“Specify version”</a:t>
            </a:r>
            <a:r>
              <a:rPr lang="zh-CN" altLang="zh-CN" dirty="0"/>
              <a:t>，点击右侧下拉框选择安装版本，安装的版本为</a:t>
            </a:r>
            <a:r>
              <a:rPr lang="en-US" altLang="zh-CN" dirty="0"/>
              <a:t>3.4.2</a:t>
            </a:r>
            <a:r>
              <a:rPr lang="zh-CN" altLang="zh-CN" dirty="0"/>
              <a:t>。</a:t>
            </a:r>
          </a:p>
          <a:p>
            <a:pPr lvl="1"/>
            <a:r>
              <a:rPr lang="zh-CN" altLang="zh-CN" dirty="0"/>
              <a:t>步骤</a:t>
            </a:r>
            <a:r>
              <a:rPr lang="en-US" altLang="zh-CN" dirty="0"/>
              <a:t>4</a:t>
            </a:r>
            <a:r>
              <a:rPr lang="zh-CN" altLang="zh-CN" dirty="0"/>
              <a:t>：单击</a:t>
            </a:r>
            <a:r>
              <a:rPr lang="en-US" altLang="zh-CN" dirty="0"/>
              <a:t>“Install Package”</a:t>
            </a:r>
            <a:r>
              <a:rPr lang="zh-CN" altLang="zh-CN" dirty="0"/>
              <a:t>安装。</a:t>
            </a:r>
          </a:p>
          <a:p>
            <a:endParaRPr lang="zh-CN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964" y="1817274"/>
            <a:ext cx="529142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632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安装必需的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可以在</a:t>
            </a:r>
            <a:r>
              <a:rPr lang="en-US" altLang="zh-CN" dirty="0"/>
              <a:t>Python Interpreter</a:t>
            </a:r>
            <a:r>
              <a:rPr lang="zh-CN" altLang="zh-CN" dirty="0"/>
              <a:t>页面检查</a:t>
            </a:r>
            <a:r>
              <a:rPr lang="en-US" altLang="zh-CN" dirty="0" err="1"/>
              <a:t>opencv</a:t>
            </a:r>
            <a:r>
              <a:rPr lang="zh-CN" altLang="zh-CN" dirty="0"/>
              <a:t>是否成功安装以及</a:t>
            </a:r>
            <a:r>
              <a:rPr lang="en-US" altLang="zh-CN" dirty="0" err="1"/>
              <a:t>opencv</a:t>
            </a:r>
            <a:r>
              <a:rPr lang="zh-CN" altLang="zh-CN" dirty="0"/>
              <a:t>的</a:t>
            </a:r>
            <a:r>
              <a:rPr lang="zh-CN" altLang="zh-CN" dirty="0" smtClean="0"/>
              <a:t>版本。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注：</a:t>
            </a:r>
            <a:r>
              <a:rPr lang="en-US" altLang="zh-CN" dirty="0" err="1"/>
              <a:t>opencv</a:t>
            </a:r>
            <a:r>
              <a:rPr lang="zh-CN" altLang="zh-CN" dirty="0"/>
              <a:t>库包含很多其他的基础库如</a:t>
            </a:r>
            <a:r>
              <a:rPr lang="en-US" altLang="zh-CN" dirty="0" err="1"/>
              <a:t>numpy</a:t>
            </a:r>
            <a:r>
              <a:rPr lang="zh-CN" altLang="zh-CN" dirty="0"/>
              <a:t>等，库列表中新增很多库属于正常现象。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601" y="1576113"/>
            <a:ext cx="486920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012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安装必需的</a:t>
            </a:r>
            <a:r>
              <a:rPr lang="zh-CN" altLang="en-US" dirty="0" smtClean="0"/>
              <a:t>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也可以通过打开命令提示符通过指令安装指定版本的</a:t>
            </a:r>
            <a:r>
              <a:rPr lang="en-US" altLang="zh-CN" dirty="0" err="1"/>
              <a:t>opencv</a:t>
            </a:r>
            <a:r>
              <a:rPr lang="zh-CN" altLang="zh-CN" dirty="0"/>
              <a:t>，</a:t>
            </a:r>
            <a:r>
              <a:rPr lang="en-US" altLang="zh-CN" dirty="0" err="1"/>
              <a:t>Win+R</a:t>
            </a:r>
            <a:r>
              <a:rPr lang="zh-CN" altLang="zh-CN" dirty="0"/>
              <a:t>组合键打开运行界面，输入</a:t>
            </a:r>
            <a:r>
              <a:rPr lang="en-US" altLang="zh-CN" dirty="0" err="1"/>
              <a:t>cmd</a:t>
            </a:r>
            <a:r>
              <a:rPr lang="zh-CN" altLang="zh-CN" dirty="0"/>
              <a:t>回车进入命令提示符，输入以下</a:t>
            </a:r>
            <a:r>
              <a:rPr lang="zh-CN" altLang="zh-CN" dirty="0" smtClean="0"/>
              <a:t>指令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conda</a:t>
            </a:r>
            <a:r>
              <a:rPr lang="en-US" altLang="zh-CN" dirty="0"/>
              <a:t> activate python36</a:t>
            </a:r>
            <a:endParaRPr lang="zh-CN" altLang="zh-CN" dirty="0"/>
          </a:p>
          <a:p>
            <a:pPr lvl="1"/>
            <a:r>
              <a:rPr lang="en-US" altLang="zh-CN" dirty="0"/>
              <a:t>pip install </a:t>
            </a:r>
            <a:r>
              <a:rPr lang="en-US" altLang="zh-CN" dirty="0" err="1"/>
              <a:t>opencv</a:t>
            </a:r>
            <a:r>
              <a:rPr lang="en-US" altLang="zh-CN" dirty="0"/>
              <a:t>-python==3.4.2.17</a:t>
            </a:r>
            <a:r>
              <a:rPr lang="zh-CN" altLang="zh-CN" dirty="0"/>
              <a:t>（指定版本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440" y="2671728"/>
            <a:ext cx="686953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556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907186390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838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程序代码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通过</a:t>
            </a:r>
            <a:r>
              <a:rPr lang="en-US" altLang="zh-CN" dirty="0"/>
              <a:t>ONVIF</a:t>
            </a:r>
            <a:r>
              <a:rPr lang="zh-CN" altLang="zh-CN" dirty="0"/>
              <a:t>协议中音视频</a:t>
            </a:r>
            <a:r>
              <a:rPr lang="en-US" altLang="zh-CN" dirty="0" err="1"/>
              <a:t>rtsp</a:t>
            </a:r>
            <a:r>
              <a:rPr lang="zh-CN" altLang="zh-CN" dirty="0"/>
              <a:t>协议读取摄像机视频流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err="1"/>
              <a:t>cam_url</a:t>
            </a:r>
            <a:r>
              <a:rPr lang="zh-CN" altLang="zh-CN" dirty="0"/>
              <a:t>值采用</a:t>
            </a:r>
            <a:r>
              <a:rPr lang="en-US" altLang="zh-CN" dirty="0" err="1"/>
              <a:t>rtsp</a:t>
            </a:r>
            <a:r>
              <a:rPr lang="zh-CN" altLang="zh-CN" dirty="0"/>
              <a:t>协议读取指定设备视频流。该值由若干个属性构成，下面对其进行逐一解释：</a:t>
            </a:r>
          </a:p>
          <a:p>
            <a:pPr lvl="1"/>
            <a:r>
              <a:rPr lang="en-US" altLang="zh-CN" b="1" dirty="0"/>
              <a:t>‘</a:t>
            </a:r>
            <a:r>
              <a:rPr lang="en-US" altLang="zh-CN" b="1" dirty="0" err="1"/>
              <a:t>rtsp</a:t>
            </a:r>
            <a:r>
              <a:rPr lang="en-US" altLang="zh-CN" b="1" dirty="0"/>
              <a:t>:// admin: Terabits@ 192.168.1.93 /Streaming/Channels/1’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dirty="0"/>
              <a:t>rtsp://</a:t>
            </a:r>
            <a:r>
              <a:rPr lang="zh-CN" altLang="zh-CN" dirty="0"/>
              <a:t>，</a:t>
            </a:r>
            <a:r>
              <a:rPr lang="en-US" altLang="zh-CN" dirty="0" err="1"/>
              <a:t>rtsp</a:t>
            </a:r>
            <a:r>
              <a:rPr lang="zh-CN" altLang="zh-CN" dirty="0"/>
              <a:t>实时流协议规范，一般不作修改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dirty="0"/>
              <a:t>admin</a:t>
            </a:r>
            <a:r>
              <a:rPr lang="zh-CN" altLang="zh-CN" dirty="0"/>
              <a:t>，</a:t>
            </a:r>
            <a:r>
              <a:rPr lang="en-US" altLang="zh-CN" dirty="0"/>
              <a:t>IPC</a:t>
            </a:r>
            <a:r>
              <a:rPr lang="zh-CN" altLang="zh-CN" dirty="0"/>
              <a:t>设备预设置的用户名（根据设备修改）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dirty="0"/>
              <a:t>Terabits</a:t>
            </a:r>
            <a:r>
              <a:rPr lang="zh-CN" altLang="zh-CN" dirty="0"/>
              <a:t>，</a:t>
            </a:r>
            <a:r>
              <a:rPr lang="en-US" altLang="zh-CN" dirty="0"/>
              <a:t>IPC</a:t>
            </a:r>
            <a:r>
              <a:rPr lang="zh-CN" altLang="zh-CN" dirty="0"/>
              <a:t>设备预设置的密码（根据设备修改）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dirty="0"/>
              <a:t>192.168.1.93</a:t>
            </a:r>
            <a:r>
              <a:rPr lang="zh-CN" altLang="zh-CN" dirty="0"/>
              <a:t>，</a:t>
            </a:r>
            <a:r>
              <a:rPr lang="en-US" altLang="zh-CN" dirty="0"/>
              <a:t>IPC</a:t>
            </a:r>
            <a:r>
              <a:rPr lang="zh-CN" altLang="zh-CN" dirty="0"/>
              <a:t>设备的</a:t>
            </a:r>
            <a:r>
              <a:rPr lang="en-US" altLang="zh-CN" dirty="0"/>
              <a:t>IP</a:t>
            </a:r>
            <a:r>
              <a:rPr lang="zh-CN" altLang="zh-CN" dirty="0"/>
              <a:t>地址（根据实际情况修改，即本实验第一步查询到的</a:t>
            </a:r>
            <a:r>
              <a:rPr lang="en-US" altLang="zh-CN" dirty="0"/>
              <a:t>IP</a:t>
            </a:r>
            <a:r>
              <a:rPr lang="zh-CN" altLang="zh-CN" dirty="0"/>
              <a:t>地址）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zh-CN" dirty="0"/>
              <a:t>Streaming/Channels/1</a:t>
            </a:r>
            <a:r>
              <a:rPr lang="zh-CN" altLang="zh-CN" dirty="0"/>
              <a:t>，海康摄像机</a:t>
            </a:r>
            <a:r>
              <a:rPr lang="en-US" altLang="zh-CN" dirty="0" err="1"/>
              <a:t>rtsp</a:t>
            </a:r>
            <a:r>
              <a:rPr lang="zh-CN" altLang="zh-CN" dirty="0"/>
              <a:t>地址，一般不作修改（不同品牌的设备会有差异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b="1" dirty="0" smtClean="0"/>
              <a:t>rtsp</a:t>
            </a:r>
            <a:r>
              <a:rPr lang="en-US" altLang="zh-CN" b="1" dirty="0"/>
              <a:t>://</a:t>
            </a:r>
            <a:r>
              <a:rPr lang="zh-CN" altLang="zh-CN" b="1" dirty="0"/>
              <a:t>用户名</a:t>
            </a:r>
            <a:r>
              <a:rPr lang="en-US" altLang="zh-CN" b="1" dirty="0"/>
              <a:t>:</a:t>
            </a:r>
            <a:r>
              <a:rPr lang="zh-CN" altLang="zh-CN" b="1" dirty="0"/>
              <a:t>密码</a:t>
            </a:r>
            <a:r>
              <a:rPr lang="en-US" altLang="zh-CN" b="1" dirty="0"/>
              <a:t>@IP/Streaming/Channels/101</a:t>
            </a:r>
          </a:p>
          <a:p>
            <a:pPr marL="800100" lvl="1" indent="-342900">
              <a:buFont typeface="+mj-lt"/>
              <a:buAutoNum type="arabicPeriod"/>
            </a:pP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206" y="1568775"/>
            <a:ext cx="5600000" cy="1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689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程序代码</a:t>
            </a:r>
            <a:r>
              <a:rPr lang="zh-CN" altLang="en-US" dirty="0" smtClean="0"/>
              <a:t>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6734479" cy="5006975"/>
          </a:xfrm>
        </p:spPr>
        <p:txBody>
          <a:bodyPr/>
          <a:lstStyle/>
          <a:p>
            <a:r>
              <a:rPr lang="zh-CN" altLang="zh-CN" dirty="0" smtClean="0"/>
              <a:t>后</a:t>
            </a:r>
            <a:r>
              <a:rPr lang="zh-CN" altLang="zh-CN" dirty="0"/>
              <a:t>几行代码利用</a:t>
            </a:r>
            <a:r>
              <a:rPr lang="en-US" altLang="zh-CN" dirty="0" err="1"/>
              <a:t>opencv</a:t>
            </a:r>
            <a:r>
              <a:rPr lang="zh-CN" altLang="zh-CN" dirty="0"/>
              <a:t>库读取并打开获得的视频流。当读取失败时返回</a:t>
            </a:r>
            <a:r>
              <a:rPr lang="en-US" altLang="zh-CN" dirty="0"/>
              <a:t>error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当</a:t>
            </a:r>
            <a:r>
              <a:rPr lang="zh-CN" altLang="zh-CN" dirty="0"/>
              <a:t>读取到视频流后，利用</a:t>
            </a:r>
            <a:r>
              <a:rPr lang="en-US" altLang="zh-CN" dirty="0" err="1"/>
              <a:t>opencv</a:t>
            </a:r>
            <a:r>
              <a:rPr lang="zh-CN" altLang="zh-CN" dirty="0"/>
              <a:t>库打开输出画面显示视频流。</a:t>
            </a:r>
          </a:p>
          <a:p>
            <a:pPr lvl="1"/>
            <a:r>
              <a:rPr lang="en-US" altLang="zh-CN" dirty="0"/>
              <a:t>frame=</a:t>
            </a:r>
            <a:r>
              <a:rPr lang="en-US" altLang="zh-CN" dirty="0" err="1"/>
              <a:t>cv.resize</a:t>
            </a:r>
            <a:r>
              <a:rPr lang="en-US" altLang="zh-CN" dirty="0"/>
              <a:t>(frame,(960,540))</a:t>
            </a:r>
            <a:r>
              <a:rPr lang="zh-CN" altLang="zh-CN" dirty="0"/>
              <a:t>中，</a:t>
            </a:r>
            <a:r>
              <a:rPr lang="en-US" altLang="zh-CN" dirty="0"/>
              <a:t>960</a:t>
            </a:r>
            <a:r>
              <a:rPr lang="zh-CN" altLang="zh-CN" dirty="0"/>
              <a:t>，</a:t>
            </a:r>
            <a:r>
              <a:rPr lang="en-US" altLang="zh-CN" dirty="0"/>
              <a:t>540</a:t>
            </a:r>
            <a:r>
              <a:rPr lang="zh-CN" altLang="zh-CN" dirty="0"/>
              <a:t>为界面显示大小，可自行调整。</a:t>
            </a:r>
          </a:p>
          <a:p>
            <a:pPr lvl="1"/>
            <a:r>
              <a:rPr lang="zh-CN" altLang="zh-CN" dirty="0"/>
              <a:t>按下指定键</a:t>
            </a:r>
            <a:r>
              <a:rPr lang="en-US" altLang="zh-CN" dirty="0"/>
              <a:t>“s”</a:t>
            </a:r>
            <a:r>
              <a:rPr lang="zh-CN" altLang="zh-CN" dirty="0"/>
              <a:t>保存摄像机画面并写入存储路径，如果存储路径不存在就新建文件夹。</a:t>
            </a:r>
          </a:p>
          <a:p>
            <a:pPr lvl="1"/>
            <a:r>
              <a:rPr lang="zh-CN" altLang="zh-CN" dirty="0"/>
              <a:t>然后会显示输出图像的尺寸，注意该尺寸和之前提到的界面大小不是同一个概念，该尺寸表示摄像机的像素值，通常是固定值，且与摄像机设备性能有关。</a:t>
            </a:r>
          </a:p>
          <a:p>
            <a:pPr lvl="1"/>
            <a:r>
              <a:rPr lang="zh-CN" altLang="zh-CN" dirty="0"/>
              <a:t>最后设置按键以退出程序，释放摄像头设备资源，关闭所有窗口。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4404" y="2013786"/>
            <a:ext cx="4116084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069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52856238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2890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修改并运行</a:t>
            </a:r>
            <a:r>
              <a:rPr lang="zh-CN" altLang="en-US" dirty="0" smtClean="0"/>
              <a:t>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6886435" cy="5006975"/>
          </a:xfrm>
        </p:spPr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/>
              <a:t>“</a:t>
            </a:r>
            <a:r>
              <a:rPr lang="zh-CN" altLang="zh-CN" dirty="0"/>
              <a:t>采集</a:t>
            </a:r>
            <a:r>
              <a:rPr lang="en-US" altLang="zh-CN" dirty="0"/>
              <a:t>IPC</a:t>
            </a:r>
            <a:r>
              <a:rPr lang="zh-CN" altLang="zh-CN" dirty="0"/>
              <a:t>图像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en-US" altLang="zh-CN" dirty="0"/>
              <a:t>”</a:t>
            </a:r>
            <a:r>
              <a:rPr lang="zh-CN" altLang="zh-CN" dirty="0"/>
              <a:t>，根据实际情况修改以下几个值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第</a:t>
            </a:r>
            <a:r>
              <a:rPr lang="en-US" altLang="zh-CN" dirty="0"/>
              <a:t>9</a:t>
            </a:r>
            <a:r>
              <a:rPr lang="zh-CN" altLang="zh-CN" dirty="0"/>
              <a:t>行的</a:t>
            </a:r>
            <a:r>
              <a:rPr lang="en-US" altLang="zh-CN" dirty="0" err="1"/>
              <a:t>cam_url</a:t>
            </a:r>
            <a:r>
              <a:rPr lang="zh-CN" altLang="zh-CN" dirty="0"/>
              <a:t>，根据上一步骤介绍修改且</a:t>
            </a:r>
            <a:r>
              <a:rPr lang="zh-CN" altLang="zh-CN" b="1" dirty="0"/>
              <a:t>必须修改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457200" lvl="1" indent="0">
              <a:buNone/>
            </a:pPr>
            <a:r>
              <a:rPr lang="en-US" altLang="zh-CN" b="1" dirty="0"/>
              <a:t>rtsp://</a:t>
            </a:r>
            <a:r>
              <a:rPr lang="zh-CN" altLang="zh-CN" b="1" dirty="0"/>
              <a:t>用户名</a:t>
            </a:r>
            <a:r>
              <a:rPr lang="en-US" altLang="zh-CN" b="1" dirty="0"/>
              <a:t>:</a:t>
            </a:r>
            <a:r>
              <a:rPr lang="zh-CN" altLang="zh-CN" b="1" dirty="0"/>
              <a:t>密码</a:t>
            </a:r>
            <a:r>
              <a:rPr lang="en-US" altLang="zh-CN" b="1" dirty="0"/>
              <a:t>@IP/Streaming/Channels/101</a:t>
            </a:r>
          </a:p>
          <a:p>
            <a:pPr marL="800100" lvl="1" indent="-342900">
              <a:buFont typeface="+mj-lt"/>
              <a:buAutoNum type="arabicPeriod" startAt="2"/>
            </a:pPr>
            <a:r>
              <a:rPr lang="zh-CN" altLang="zh-CN" dirty="0"/>
              <a:t>第</a:t>
            </a:r>
            <a:r>
              <a:rPr lang="en-US" altLang="zh-CN" dirty="0"/>
              <a:t>20</a:t>
            </a:r>
            <a:r>
              <a:rPr lang="zh-CN" altLang="zh-CN" dirty="0"/>
              <a:t>行的</a:t>
            </a:r>
            <a:r>
              <a:rPr lang="en-US" altLang="zh-CN" dirty="0"/>
              <a:t>frame</a:t>
            </a:r>
            <a:r>
              <a:rPr lang="zh-CN" altLang="zh-CN" dirty="0"/>
              <a:t>下括号内显示图像界面的大小，根据显示屏分辨率修改（可选</a:t>
            </a:r>
            <a:r>
              <a:rPr lang="zh-CN" altLang="zh-CN" dirty="0" smtClean="0"/>
              <a:t>）</a:t>
            </a:r>
            <a:endParaRPr lang="en-US" altLang="zh-CN" dirty="0" smtClean="0"/>
          </a:p>
          <a:p>
            <a:pPr marL="800100" lvl="1" indent="-342900">
              <a:buFont typeface="+mj-lt"/>
              <a:buAutoNum type="arabicPeriod" startAt="2"/>
            </a:pPr>
            <a:r>
              <a:rPr lang="zh-CN" altLang="zh-CN" dirty="0"/>
              <a:t>第</a:t>
            </a:r>
            <a:r>
              <a:rPr lang="en-US" altLang="zh-CN" dirty="0"/>
              <a:t>25</a:t>
            </a:r>
            <a:r>
              <a:rPr lang="zh-CN" altLang="zh-CN" dirty="0"/>
              <a:t>行</a:t>
            </a:r>
            <a:r>
              <a:rPr lang="en-US" altLang="zh-CN" dirty="0"/>
              <a:t>path</a:t>
            </a:r>
            <a:r>
              <a:rPr lang="zh-CN" altLang="zh-CN" dirty="0"/>
              <a:t>，图像的存储路径，根据实际情况修改（可选）</a:t>
            </a:r>
          </a:p>
          <a:p>
            <a:pPr marL="800100" lvl="1" indent="-342900">
              <a:buFont typeface="+mj-lt"/>
              <a:buAutoNum type="arabicPeriod" startAt="2"/>
            </a:pPr>
            <a:endParaRPr lang="zh-CN" altLang="zh-CN" dirty="0"/>
          </a:p>
          <a:p>
            <a:pPr marL="800100" lvl="1" indent="-342900">
              <a:buFont typeface="+mj-lt"/>
              <a:buAutoNum type="arabicPeriod" startAt="2"/>
            </a:pPr>
            <a:endParaRPr lang="en-US" altLang="zh-CN" dirty="0"/>
          </a:p>
          <a:p>
            <a:pPr marL="800100" lvl="1" indent="-342900">
              <a:buFont typeface="+mj-lt"/>
              <a:buAutoNum type="arabicPeriod" startAt="2"/>
            </a:pPr>
            <a:endParaRPr lang="zh-CN" altLang="zh-CN" dirty="0"/>
          </a:p>
          <a:p>
            <a:pPr marL="457200" lvl="1" indent="0">
              <a:buNone/>
            </a:pPr>
            <a:endParaRPr lang="zh-CN" altLang="zh-CN" b="1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269" y="1130299"/>
            <a:ext cx="3806219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574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修改并运行</a:t>
            </a:r>
            <a:r>
              <a:rPr lang="zh-CN" altLang="en-US" dirty="0" smtClean="0"/>
              <a:t>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修改完毕后右键选择</a:t>
            </a:r>
            <a:r>
              <a:rPr lang="en-US" altLang="zh-CN" dirty="0"/>
              <a:t>Run</a:t>
            </a:r>
            <a:r>
              <a:rPr lang="zh-CN" altLang="zh-CN" dirty="0"/>
              <a:t>‘采集</a:t>
            </a:r>
            <a:r>
              <a:rPr lang="en-US" altLang="zh-CN" dirty="0"/>
              <a:t>IPC</a:t>
            </a:r>
            <a:r>
              <a:rPr lang="zh-CN" altLang="zh-CN" dirty="0"/>
              <a:t>图像’，或点击右上方绿色箭头运行，系统会自动打开摄像机画面。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023" y="1544490"/>
            <a:ext cx="8470366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029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/>
              <a:t>修改并运行</a:t>
            </a:r>
            <a:r>
              <a:rPr lang="zh-CN" altLang="en-US" dirty="0" smtClean="0"/>
              <a:t>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b="1" dirty="0"/>
              <a:t>在该界面下</a:t>
            </a:r>
            <a:r>
              <a:rPr lang="zh-CN" altLang="zh-CN" dirty="0"/>
              <a:t>按下</a:t>
            </a:r>
            <a:r>
              <a:rPr lang="en-US" altLang="zh-CN" dirty="0"/>
              <a:t>“s”</a:t>
            </a:r>
            <a:r>
              <a:rPr lang="zh-CN" altLang="zh-CN" dirty="0"/>
              <a:t>键，采集当前摄像头画面并保存在之前设置的</a:t>
            </a:r>
            <a:r>
              <a:rPr lang="en-US" altLang="zh-CN" dirty="0"/>
              <a:t>path</a:t>
            </a:r>
            <a:r>
              <a:rPr lang="zh-CN" altLang="zh-CN" dirty="0"/>
              <a:t>中。调整摄像头和画面，多次按</a:t>
            </a:r>
            <a:r>
              <a:rPr lang="en-US" altLang="zh-CN" dirty="0"/>
              <a:t>“s”</a:t>
            </a:r>
            <a:r>
              <a:rPr lang="zh-CN" altLang="zh-CN" dirty="0"/>
              <a:t>键以采集多张图片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拍摄完成后，在该界面下按</a:t>
            </a:r>
            <a:r>
              <a:rPr lang="en-US" altLang="zh-CN" dirty="0"/>
              <a:t>“q”</a:t>
            </a:r>
            <a:r>
              <a:rPr lang="zh-CN" altLang="zh-CN" dirty="0"/>
              <a:t>键退出程序。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206" y="1646452"/>
            <a:ext cx="5445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714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/>
              <a:t>path</a:t>
            </a:r>
            <a:r>
              <a:rPr lang="zh-CN" altLang="zh-CN" dirty="0"/>
              <a:t>存储路径，可以发现拍摄的图片已经保存在其中。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015" y="2529024"/>
            <a:ext cx="5552381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369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378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确保</a:t>
            </a:r>
            <a:r>
              <a:rPr lang="en-US" altLang="zh-CN" dirty="0"/>
              <a:t>PC</a:t>
            </a:r>
            <a:r>
              <a:rPr lang="zh-CN" altLang="zh-CN" dirty="0"/>
              <a:t>机与</a:t>
            </a:r>
            <a:r>
              <a:rPr lang="en-US" altLang="zh-CN" dirty="0"/>
              <a:t>IPC</a:t>
            </a:r>
            <a:r>
              <a:rPr lang="zh-CN" altLang="zh-CN" dirty="0"/>
              <a:t>位于同一网段下。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不同品牌型号的</a:t>
            </a:r>
            <a:r>
              <a:rPr lang="en-US" altLang="zh-CN" dirty="0"/>
              <a:t>IPC</a:t>
            </a:r>
            <a:r>
              <a:rPr lang="zh-CN" altLang="zh-CN" dirty="0"/>
              <a:t>可能遵循不同的通信协议，协议的写法也有所不同，本实验仅以海康摄像机为例，具体实际情况需要查询相对应设备的手册说明。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采集的图像尺寸大小由摄像机的像素性能决定。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b="1" dirty="0"/>
              <a:t>尽量不要卸载官方软件再重新安装，</a:t>
            </a:r>
            <a:r>
              <a:rPr lang="en-US" altLang="zh-CN" b="1" dirty="0"/>
              <a:t>Win10</a:t>
            </a:r>
            <a:r>
              <a:rPr lang="zh-CN" altLang="zh-CN" b="1" dirty="0"/>
              <a:t>下卸载需要用数据表完全卸载，非常麻烦</a:t>
            </a:r>
            <a:r>
              <a:rPr lang="zh-CN" altLang="zh-CN" b="1" dirty="0" smtClean="0"/>
              <a:t>。</a:t>
            </a:r>
            <a:endParaRPr lang="en-US" altLang="zh-CN" b="1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zh-CN" dirty="0"/>
              <a:t>更改设备</a:t>
            </a:r>
            <a:r>
              <a:rPr lang="en-US" altLang="zh-CN" dirty="0"/>
              <a:t>IP</a:t>
            </a:r>
            <a:r>
              <a:rPr lang="zh-CN" altLang="zh-CN" dirty="0"/>
              <a:t>后网址界面会重定向导致卡顿，需要重新输入新</a:t>
            </a:r>
            <a:r>
              <a:rPr lang="en-US" altLang="zh-CN" dirty="0"/>
              <a:t>IP</a:t>
            </a:r>
            <a:r>
              <a:rPr lang="zh-CN" altLang="zh-CN" dirty="0"/>
              <a:t>地址进行访问。</a:t>
            </a:r>
          </a:p>
          <a:p>
            <a:pPr marL="342900" lvl="0" indent="-342900">
              <a:buFont typeface="+mj-lt"/>
              <a:buAutoNum type="arabicPeriod"/>
            </a:pPr>
            <a:endParaRPr lang="zh-CN" altLang="zh-CN" dirty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1953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en-US" altLang="zh-CN" dirty="0" smtClean="0"/>
              <a:t>ONVIF</a:t>
            </a:r>
            <a:r>
              <a:rPr lang="zh-CN" altLang="en-US" dirty="0" smtClean="0"/>
              <a:t>协议与</a:t>
            </a:r>
            <a:r>
              <a:rPr lang="en-US" altLang="zh-CN" dirty="0" smtClean="0"/>
              <a:t>IPC</a:t>
            </a:r>
            <a:r>
              <a:rPr lang="zh-CN" altLang="en-US" dirty="0" smtClean="0"/>
              <a:t>的概念</a:t>
            </a:r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程序获取视频流</a:t>
            </a:r>
            <a:endParaRPr lang="en-US" altLang="zh-CN" dirty="0" smtClean="0"/>
          </a:p>
          <a:p>
            <a:r>
              <a:rPr lang="zh-CN" altLang="en-US" dirty="0" smtClean="0"/>
              <a:t>使用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程序采集</a:t>
            </a:r>
            <a:r>
              <a:rPr lang="en-US" altLang="zh-CN" smtClean="0"/>
              <a:t>IPC</a:t>
            </a:r>
            <a:r>
              <a:rPr lang="zh-CN" altLang="en-US" smtClean="0"/>
              <a:t>图像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93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1124</TotalTime>
  <Words>3010</Words>
  <Application>Microsoft Office PowerPoint</Application>
  <PresentationFormat>宽屏</PresentationFormat>
  <Paragraphs>314</Paragraphs>
  <Slides>52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9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目标检测的准备</vt:lpstr>
      <vt:lpstr>课程目标</vt:lpstr>
      <vt:lpstr>PowerPoint 演示文稿</vt:lpstr>
      <vt:lpstr>/01</vt:lpstr>
      <vt:lpstr>实验介绍</vt:lpstr>
      <vt:lpstr>IPC</vt:lpstr>
      <vt:lpstr>ONVIF协议</vt:lpstr>
      <vt:lpstr>ONVIF协议</vt:lpstr>
      <vt:lpstr>ONVIF协议</vt:lpstr>
      <vt:lpstr>IPC开发流程</vt:lpstr>
      <vt:lpstr>FFmpeg</vt:lpstr>
      <vt:lpstr>海康IPC</vt:lpstr>
      <vt:lpstr>/02</vt:lpstr>
      <vt:lpstr>实验环境</vt:lpstr>
      <vt:lpstr>/03</vt:lpstr>
      <vt:lpstr>实验步骤</vt:lpstr>
      <vt:lpstr>实验流程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IPC的使用及初始化</vt:lpstr>
      <vt:lpstr>实验流程</vt:lpstr>
      <vt:lpstr>安装必需的库</vt:lpstr>
      <vt:lpstr>安装必需的库</vt:lpstr>
      <vt:lpstr>安装必需的库</vt:lpstr>
      <vt:lpstr>安装必需的库</vt:lpstr>
      <vt:lpstr>安装必需的库</vt:lpstr>
      <vt:lpstr>实验流程</vt:lpstr>
      <vt:lpstr>程序代码介绍</vt:lpstr>
      <vt:lpstr>程序代码介绍</vt:lpstr>
      <vt:lpstr>实验流程</vt:lpstr>
      <vt:lpstr>修改并运行程序</vt:lpstr>
      <vt:lpstr>修改并运行程序</vt:lpstr>
      <vt:lpstr>修改并运行程序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39</cp:revision>
  <cp:lastPrinted>2018-09-20T16:00:00Z</cp:lastPrinted>
  <dcterms:created xsi:type="dcterms:W3CDTF">2022-06-27T01:42:48Z</dcterms:created>
  <dcterms:modified xsi:type="dcterms:W3CDTF">2022-12-27T09:12:58Z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