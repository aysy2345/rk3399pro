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handoutMasterIdLst>
    <p:handoutMasterId r:id="rId65"/>
  </p:handoutMasterIdLst>
  <p:sldIdLst>
    <p:sldId id="258" r:id="rId2"/>
    <p:sldId id="263" r:id="rId3"/>
    <p:sldId id="262" r:id="rId4"/>
    <p:sldId id="267" r:id="rId5"/>
    <p:sldId id="268" r:id="rId6"/>
    <p:sldId id="288" r:id="rId7"/>
    <p:sldId id="269" r:id="rId8"/>
    <p:sldId id="270" r:id="rId9"/>
    <p:sldId id="271" r:id="rId10"/>
    <p:sldId id="272" r:id="rId11"/>
    <p:sldId id="273" r:id="rId12"/>
    <p:sldId id="274" r:id="rId13"/>
    <p:sldId id="275" r:id="rId14"/>
    <p:sldId id="276" r:id="rId15"/>
    <p:sldId id="285" r:id="rId16"/>
    <p:sldId id="286" r:id="rId17"/>
    <p:sldId id="287" r:id="rId18"/>
    <p:sldId id="277" r:id="rId19"/>
    <p:sldId id="278" r:id="rId20"/>
    <p:sldId id="279" r:id="rId21"/>
    <p:sldId id="280" r:id="rId22"/>
    <p:sldId id="281" r:id="rId23"/>
    <p:sldId id="282" r:id="rId24"/>
    <p:sldId id="289" r:id="rId25"/>
    <p:sldId id="283" r:id="rId26"/>
    <p:sldId id="284"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320" r:id="rId58"/>
    <p:sldId id="321" r:id="rId59"/>
    <p:sldId id="322" r:id="rId60"/>
    <p:sldId id="323" r:id="rId61"/>
    <p:sldId id="324" r:id="rId62"/>
    <p:sldId id="261" r:id="rId63"/>
  </p:sldIdLst>
  <p:sldSz cx="12192000" cy="6858000"/>
  <p:notesSz cx="6858000" cy="9144000"/>
  <p:custDataLst>
    <p:tags r:id="rId66"/>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2AEBC"/>
    <a:srgbClr val="F03662"/>
    <a:srgbClr val="5F5F5F"/>
    <a:srgbClr val="36A4BC"/>
    <a:srgbClr val="FCCC6B"/>
    <a:srgbClr val="0B077F"/>
    <a:srgbClr val="28508A"/>
    <a:srgbClr val="327CA6"/>
    <a:srgbClr val="1FDBE8"/>
    <a:srgbClr val="FBBB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76009" autoAdjust="0"/>
  </p:normalViewPr>
  <p:slideViewPr>
    <p:cSldViewPr snapToGrid="0" showGuides="1">
      <p:cViewPr varScale="1">
        <p:scale>
          <a:sx n="88" d="100"/>
          <a:sy n="88" d="100"/>
        </p:scale>
        <p:origin x="1440" y="90"/>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 xmlns:a16="http://schemas.microsoft.com/office/drawing/2014/main"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 xmlns:a16="http://schemas.microsoft.com/office/drawing/2014/main"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 xmlns:a16="http://schemas.microsoft.com/office/drawing/2014/main"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 xmlns:a16="http://schemas.microsoft.com/office/drawing/2014/main"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 xmlns:a16="http://schemas.microsoft.com/office/drawing/2014/main"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 xmlns:a16="http://schemas.microsoft.com/office/drawing/2014/main"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 xmlns:a16="http://schemas.microsoft.com/office/drawing/2014/main"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 xmlns:a16="http://schemas.microsoft.com/office/drawing/2014/main"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 xmlns:a16="http://schemas.microsoft.com/office/drawing/2014/main"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 xmlns:a16="http://schemas.microsoft.com/office/drawing/2014/main"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之前的课程中提到目标检测是计算机视觉的一个分支，我们先从计算机视觉开始，进而引入深度学习的卷积神经网络，介绍目标检测的原理。</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15395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82778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200000"/>
              </a:lnSpc>
              <a:spcBef>
                <a:spcPct val="0"/>
              </a:spcBef>
              <a:spcAft>
                <a:spcPct val="0"/>
              </a:spcAft>
              <a:buClrTx/>
              <a:buSzTx/>
              <a:buFontTx/>
              <a:buNone/>
              <a:tabLst/>
              <a:defRPr/>
            </a:pPr>
            <a:r>
              <a:rPr lang="zh-CN" altLang="en-US" sz="1200" dirty="0" smtClean="0"/>
              <a:t>为了解决在上一课时中提出的实现计算机视觉的两大难点，我们引入了深度学习概念中的卷积神经网络。</a:t>
            </a:r>
            <a:endParaRPr lang="en-US" altLang="zh-CN" sz="1200" dirty="0" smtClean="0"/>
          </a:p>
          <a:p>
            <a:pPr marL="0" marR="0" indent="0" algn="l" defTabSz="914400" rtl="0" eaLnBrk="1" fontAlgn="base" latinLnBrk="0" hangingPunct="1">
              <a:lnSpc>
                <a:spcPct val="200000"/>
              </a:lnSpc>
              <a:spcBef>
                <a:spcPct val="0"/>
              </a:spcBef>
              <a:spcAft>
                <a:spcPct val="0"/>
              </a:spcAft>
              <a:buClrTx/>
              <a:buSzTx/>
              <a:buFontTx/>
              <a:buNone/>
              <a:tabLst/>
              <a:defRPr/>
            </a:pPr>
            <a:r>
              <a:rPr lang="zh-CN" altLang="en-US" sz="1200" dirty="0" smtClean="0"/>
              <a:t>卷积神经网络</a:t>
            </a:r>
            <a:r>
              <a:rPr lang="en-US" altLang="zh-CN" sz="1200" dirty="0" smtClean="0"/>
              <a:t> (Convolutional Neural Network, CNN) </a:t>
            </a:r>
            <a:r>
              <a:rPr lang="zh-CN" altLang="en-US" sz="1200" dirty="0" smtClean="0"/>
              <a:t>是一种深度前馈神经网络，目前广泛应用于图像分类、图像检索、目标检测、目标分割、目标跟踪、视频分类等图像识别领域。</a:t>
            </a:r>
            <a:endParaRPr lang="en-US" altLang="zh-CN" sz="1200" dirty="0" smtClean="0"/>
          </a:p>
          <a:p>
            <a:pPr eaLnBrk="1" hangingPunct="1">
              <a:lnSpc>
                <a:spcPct val="200000"/>
              </a:lnSpc>
              <a:spcBef>
                <a:spcPct val="0"/>
              </a:spcBef>
            </a:pPr>
            <a:r>
              <a:rPr lang="en-US" altLang="zh-CN" sz="1200" dirty="0" smtClean="0"/>
              <a:t>CNN</a:t>
            </a:r>
            <a:r>
              <a:rPr lang="zh-CN" altLang="en-US" sz="1200" dirty="0" smtClean="0"/>
              <a:t>可以基于原始图像的像素数据在第一层网络进行边缘检测；然后在第二层网络中，通过边缘检测识别的形状（如斑点），检测到更高层级的特征（如人类面部特征）；最后在第三层网络使用这些特征做图像预测。</a:t>
            </a:r>
          </a:p>
          <a:p>
            <a:pPr eaLnBrk="1" hangingPunct="1">
              <a:lnSpc>
                <a:spcPct val="200000"/>
              </a:lnSpc>
              <a:spcBef>
                <a:spcPct val="0"/>
              </a:spcBef>
            </a:pPr>
            <a:r>
              <a:rPr lang="zh-CN" altLang="en-US" sz="1200" dirty="0" smtClean="0"/>
              <a:t>相比传统神经网络的全连接，卷积神经网络通过“卷积核”进行连接。这种做法具有参数共享、连接稀疏的优点，不仅保留了图像的局部位置信息，也极大降低了参数的量级。</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95880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与普通的神经网络相比，卷积神经网络有一些特殊的层，右图是一个典型的卷积神经网络执行目标检测任务时的结构。下面就将一一详细介绍这些新概念，并推理每一层的计算和作用。</a:t>
            </a:r>
            <a:endParaRPr lang="en-US" altLang="zh-CN" dirty="0" smtClean="0"/>
          </a:p>
          <a:p>
            <a:r>
              <a:rPr lang="zh-CN" altLang="en-US" dirty="0" smtClean="0"/>
              <a:t>此外，我们还将介绍一些其他的概念，以便更深入地了解卷积神经网络。</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35449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卷积层与全连接层不同，它保留了输入图像的空间特征，用一张</a:t>
            </a:r>
            <a:r>
              <a:rPr lang="en-US" altLang="zh-CN" sz="1200" dirty="0" smtClean="0"/>
              <a:t>32</a:t>
            </a:r>
            <a:r>
              <a:rPr lang="en-US" altLang="zh-CN" sz="1200" b="1" dirty="0" smtClean="0"/>
              <a:t>×</a:t>
            </a:r>
            <a:r>
              <a:rPr lang="en-US" altLang="zh-CN" sz="1200" dirty="0" smtClean="0"/>
              <a:t>32</a:t>
            </a:r>
            <a:r>
              <a:rPr lang="en-US" altLang="zh-CN" sz="1200" b="1" dirty="0" smtClean="0"/>
              <a:t>×</a:t>
            </a:r>
            <a:r>
              <a:rPr lang="en-US" altLang="zh-CN" sz="1200" dirty="0" smtClean="0"/>
              <a:t>3</a:t>
            </a:r>
            <a:r>
              <a:rPr lang="zh-CN" altLang="en-US" sz="1200" dirty="0" smtClean="0"/>
              <a:t>的图像为例 </a:t>
            </a:r>
            <a:r>
              <a:rPr lang="en-US" altLang="zh-CN" sz="1200" dirty="0" smtClean="0"/>
              <a:t>(</a:t>
            </a:r>
            <a:r>
              <a:rPr lang="zh-CN" altLang="en-US" sz="1200" dirty="0" smtClean="0"/>
              <a:t>宽、高均为</a:t>
            </a:r>
            <a:r>
              <a:rPr lang="en-US" altLang="zh-CN" sz="1200" dirty="0" smtClean="0"/>
              <a:t>32</a:t>
            </a:r>
            <a:r>
              <a:rPr lang="zh-CN" altLang="en-US" sz="1200" dirty="0" smtClean="0"/>
              <a:t>像素，彩色</a:t>
            </a:r>
            <a:r>
              <a:rPr lang="en-US" altLang="zh-CN" sz="1200" dirty="0" smtClean="0"/>
              <a:t>RGB3</a:t>
            </a:r>
            <a:r>
              <a:rPr lang="zh-CN" altLang="en-US" sz="1200" dirty="0" smtClean="0"/>
              <a:t>通道</a:t>
            </a:r>
            <a:r>
              <a:rPr lang="en-US" altLang="zh-CN" sz="1200" dirty="0" smtClean="0"/>
              <a:t>)</a:t>
            </a:r>
            <a:r>
              <a:rPr lang="zh-CN" altLang="en-US" sz="1200" dirty="0" smtClean="0"/>
              <a:t>，卷积层的输入就是</a:t>
            </a:r>
            <a:r>
              <a:rPr lang="en-US" altLang="zh-CN" sz="1200" dirty="0" smtClean="0"/>
              <a:t>32</a:t>
            </a:r>
            <a:r>
              <a:rPr lang="en-US" altLang="zh-CN" sz="1200" b="1" dirty="0" smtClean="0"/>
              <a:t>×</a:t>
            </a:r>
            <a:r>
              <a:rPr lang="en-US" altLang="zh-CN" sz="1200" dirty="0" smtClean="0"/>
              <a:t>32</a:t>
            </a:r>
            <a:r>
              <a:rPr lang="en-US" altLang="zh-CN" sz="1200" b="1" dirty="0" smtClean="0"/>
              <a:t>×</a:t>
            </a:r>
            <a:r>
              <a:rPr lang="en-US" altLang="zh-CN" sz="1200" dirty="0" smtClean="0"/>
              <a:t>3</a:t>
            </a:r>
            <a:r>
              <a:rPr lang="zh-CN" altLang="en-US" sz="1200" dirty="0" smtClean="0"/>
              <a:t>的矩阵。</a:t>
            </a:r>
            <a:endParaRPr lang="en-US" altLang="zh-CN" sz="1200" dirty="0" smtClean="0"/>
          </a:p>
          <a:p>
            <a:pPr eaLnBrk="1" hangingPunct="1">
              <a:lnSpc>
                <a:spcPct val="200000"/>
              </a:lnSpc>
              <a:spcBef>
                <a:spcPct val="0"/>
              </a:spcBef>
            </a:pPr>
            <a:r>
              <a:rPr lang="zh-CN" altLang="en-US" sz="1200" dirty="0" smtClean="0"/>
              <a:t>卷积层的主要作用是提取特征，不论是局部特征还是整体特征。每层卷积层由若干卷积单元组成，每个卷积单元的参数都是通过反向传播算法优化得到的。卷积运算的目的是提取输入的不同特征，第一层卷积层可能只能提取一些低级的特征如边缘、线条和角等层级，更多层的网络能从低级特征中迭代提取更复杂的特征。</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761375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在卷积层中，对图像进行的处理就是卷积运算，这里我们需要引入一个新的概念</a:t>
            </a:r>
            <a:r>
              <a:rPr lang="en-US" altLang="zh-CN" sz="1200" dirty="0" smtClean="0"/>
              <a:t>——</a:t>
            </a:r>
            <a:r>
              <a:rPr lang="zh-CN" altLang="en-US" sz="1200" dirty="0" smtClean="0"/>
              <a:t>卷积核 </a:t>
            </a:r>
            <a:r>
              <a:rPr lang="en-US" altLang="zh-CN" sz="1200" dirty="0" smtClean="0"/>
              <a:t>(kernel, </a:t>
            </a:r>
            <a:r>
              <a:rPr lang="zh-CN" altLang="en-US" sz="1200" dirty="0" smtClean="0"/>
              <a:t>常简称为卷积，有时也称为滤波器</a:t>
            </a:r>
            <a:r>
              <a:rPr lang="en-US" altLang="zh-CN" sz="1200" dirty="0" smtClean="0"/>
              <a:t>, filter) </a:t>
            </a:r>
            <a:r>
              <a:rPr lang="zh-CN" altLang="en-US" sz="1200" dirty="0" smtClean="0"/>
              <a:t>。卷积核的尺寸可以根据实际需要自行定义，通常设为 </a:t>
            </a:r>
            <a:r>
              <a:rPr lang="en-US" altLang="zh-CN" sz="1200" dirty="0" smtClean="0"/>
              <a:t>(1,1) (3,3) (5,5)</a:t>
            </a:r>
            <a:r>
              <a:rPr lang="zh-CN" altLang="en-US" sz="1200" dirty="0" smtClean="0"/>
              <a:t>等。尺寸较大的卷积核带来的计算量会比较大，因此目前主流的卷积核尺寸都相对较小。卷积核的通道个数一般设置为与输入图像通道数一致（如果输入图像是黑白的灰度图，则通道数为</a:t>
            </a:r>
            <a:r>
              <a:rPr lang="en-US" altLang="zh-CN" sz="1200" dirty="0" smtClean="0"/>
              <a:t>1</a:t>
            </a:r>
            <a:r>
              <a:rPr lang="zh-CN" altLang="en-US" sz="1200" dirty="0" smtClean="0"/>
              <a:t>，如果输入图像是彩色图，则通道数为</a:t>
            </a:r>
            <a:r>
              <a:rPr lang="en-US" altLang="zh-CN" sz="1200" dirty="0" smtClean="0"/>
              <a:t>3</a:t>
            </a:r>
            <a:r>
              <a:rPr lang="zh-CN" altLang="en-US" sz="1200" dirty="0" smtClean="0"/>
              <a:t>）。</a:t>
            </a:r>
            <a:endParaRPr lang="en-US" altLang="zh-CN" sz="1200" dirty="0" smtClean="0"/>
          </a:p>
          <a:p>
            <a:pPr eaLnBrk="1" hangingPunct="1">
              <a:lnSpc>
                <a:spcPct val="200000"/>
              </a:lnSpc>
              <a:spcBef>
                <a:spcPct val="0"/>
              </a:spcBef>
            </a:pPr>
            <a:r>
              <a:rPr lang="zh-CN" altLang="en-US" sz="1200" dirty="0" smtClean="0"/>
              <a:t>右图是一种特殊的卷积核，名为</a:t>
            </a:r>
            <a:r>
              <a:rPr lang="en-US" altLang="zh-CN" sz="1200" dirty="0" err="1" smtClean="0"/>
              <a:t>Laplacian</a:t>
            </a:r>
            <a:r>
              <a:rPr lang="zh-CN" altLang="en-US" sz="1200" dirty="0" smtClean="0"/>
              <a:t>算子，主要应用于边缘检测，感兴趣的同学可以自行探索。</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882926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在介绍完卷积核后，我们探讨一下卷积计算的过程。让卷积核在输入特征图上依次滑动，滑动方向为从左到右，从上到下。每滑动一次，卷积核就和滑窗位置对应的输入特征图做一次点乘运算（将各个位置上卷积核的元素和输入特征图对应位置的元素先相乘再求和），并将得到的数值保存到输出特征图对应的位置上，最终得到卷积运算的输出。</a:t>
            </a:r>
            <a:endParaRPr lang="en-US" altLang="zh-CN" sz="1200" dirty="0" smtClean="0"/>
          </a:p>
          <a:p>
            <a:pPr eaLnBrk="1" hangingPunct="1">
              <a:lnSpc>
                <a:spcPct val="200000"/>
              </a:lnSpc>
              <a:spcBef>
                <a:spcPct val="0"/>
              </a:spcBef>
            </a:pPr>
            <a:r>
              <a:rPr lang="zh-CN" altLang="en-US" sz="1200" dirty="0" smtClean="0"/>
              <a:t>右图就是一张</a:t>
            </a:r>
            <a:r>
              <a:rPr lang="en-US" altLang="zh-CN" sz="1200" dirty="0" smtClean="0"/>
              <a:t>6×6</a:t>
            </a:r>
            <a:r>
              <a:rPr lang="zh-CN" altLang="en-US" sz="1200" dirty="0" smtClean="0"/>
              <a:t>彩色图像经过</a:t>
            </a:r>
            <a:r>
              <a:rPr lang="en-US" altLang="zh-CN" sz="1200" dirty="0" smtClean="0"/>
              <a:t>3</a:t>
            </a:r>
            <a:r>
              <a:rPr lang="zh-CN" altLang="en-US" sz="1200" dirty="0" smtClean="0"/>
              <a:t>通道的</a:t>
            </a:r>
            <a:r>
              <a:rPr lang="en-US" altLang="zh-CN" sz="1200" dirty="0" smtClean="0"/>
              <a:t>(3,3)</a:t>
            </a:r>
            <a:r>
              <a:rPr lang="zh-CN" altLang="en-US" sz="1200" dirty="0" smtClean="0"/>
              <a:t>卷积核进行卷积计算的示例。</a:t>
            </a:r>
            <a:endParaRPr lang="en-US" altLang="zh-CN" sz="1200" dirty="0" smtClean="0"/>
          </a:p>
          <a:p>
            <a:pPr eaLnBrk="1" hangingPunct="1">
              <a:lnSpc>
                <a:spcPct val="200000"/>
              </a:lnSpc>
              <a:spcBef>
                <a:spcPct val="0"/>
              </a:spcBef>
            </a:pPr>
            <a:r>
              <a:rPr lang="zh-CN" altLang="en-US" sz="1200" dirty="0" smtClean="0"/>
              <a:t>在</a:t>
            </a:r>
            <a:r>
              <a:rPr lang="en-US" altLang="zh-CN" sz="1200" dirty="0" smtClean="0"/>
              <a:t>CNN</a:t>
            </a:r>
            <a:r>
              <a:rPr lang="zh-CN" altLang="en-US" sz="1200" dirty="0" smtClean="0"/>
              <a:t>中，卷积核除了有权重参数之外，也存在偏置，偏置通常只有一个</a:t>
            </a:r>
            <a:r>
              <a:rPr lang="en-US" altLang="zh-CN" sz="1200" dirty="0" smtClean="0"/>
              <a:t> (1,1) </a:t>
            </a:r>
            <a:r>
              <a:rPr lang="zh-CN" altLang="en-US" sz="1200" dirty="0" smtClean="0"/>
              <a:t>，它会被加到应用卷积核的所有元素上。</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41189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我们通过一些具体的示例加深对卷积计算的理解。</a:t>
            </a:r>
            <a:endParaRPr lang="en-US" altLang="zh-CN" sz="1200" dirty="0" smtClean="0"/>
          </a:p>
          <a:p>
            <a:pPr eaLnBrk="1" hangingPunct="1">
              <a:lnSpc>
                <a:spcPct val="200000"/>
              </a:lnSpc>
              <a:spcBef>
                <a:spcPct val="0"/>
              </a:spcBef>
            </a:pPr>
            <a:r>
              <a:rPr lang="zh-CN" altLang="en-US" sz="1200" dirty="0" smtClean="0"/>
              <a:t>假设有一张</a:t>
            </a:r>
            <a:r>
              <a:rPr lang="en-US" altLang="zh-CN" sz="1200" dirty="0" smtClean="0"/>
              <a:t>4</a:t>
            </a:r>
            <a:r>
              <a:rPr lang="en-US" altLang="zh-CN" sz="1200" b="1" dirty="0" smtClean="0"/>
              <a:t>×</a:t>
            </a:r>
            <a:r>
              <a:rPr lang="en-US" altLang="zh-CN" sz="1200" dirty="0" smtClean="0"/>
              <a:t>4</a:t>
            </a:r>
            <a:r>
              <a:rPr lang="zh-CN" altLang="en-US" sz="1200" dirty="0" smtClean="0"/>
              <a:t>的黑白图像，它的特征图如下图所示。使用的卷积核是之前提到的</a:t>
            </a:r>
            <a:r>
              <a:rPr lang="en-US" altLang="zh-CN" sz="1200" dirty="0" err="1" smtClean="0"/>
              <a:t>Laplacian</a:t>
            </a:r>
            <a:r>
              <a:rPr lang="zh-CN" altLang="en-US" sz="1200" dirty="0" smtClean="0"/>
              <a:t>算子，偏置值为</a:t>
            </a:r>
            <a:r>
              <a:rPr lang="en-US" altLang="zh-CN" sz="1200" dirty="0" smtClean="0"/>
              <a:t>2</a:t>
            </a:r>
            <a:r>
              <a:rPr lang="zh-CN" altLang="en-US" sz="1200" dirty="0" smtClean="0"/>
              <a:t>，滑动步长为</a:t>
            </a:r>
            <a:r>
              <a:rPr lang="en-US" altLang="zh-CN" sz="1200" dirty="0" smtClean="0"/>
              <a:t>1</a:t>
            </a:r>
            <a:r>
              <a:rPr lang="zh-CN" altLang="en-US" sz="1200"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96606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t>这里需要提到另一个概念：步长，即卷积核在输入特征图上需要移动的像素。在上述例子中滑动步长为</a:t>
            </a:r>
            <a:r>
              <a:rPr lang="en-US" altLang="zh-CN" sz="1200" dirty="0" smtClean="0"/>
              <a:t>1</a:t>
            </a:r>
            <a:r>
              <a:rPr lang="zh-CN" altLang="en-US" sz="1200" dirty="0" smtClean="0"/>
              <a:t>，卷积核每次只移动</a:t>
            </a:r>
            <a:r>
              <a:rPr lang="en-US" altLang="zh-CN" sz="1200" dirty="0" smtClean="0"/>
              <a:t>1</a:t>
            </a:r>
            <a:r>
              <a:rPr lang="zh-CN" altLang="en-US" sz="1200" dirty="0" smtClean="0"/>
              <a:t>个像素，计算过程不会跳过任何一个像素；而步长为</a:t>
            </a:r>
            <a:r>
              <a:rPr lang="en-US" altLang="zh-CN" sz="1200" dirty="0" smtClean="0"/>
              <a:t>2</a:t>
            </a:r>
            <a:r>
              <a:rPr lang="zh-CN" altLang="en-US" sz="1200" dirty="0" smtClean="0"/>
              <a:t>时，卷积核会跳过</a:t>
            </a:r>
            <a:r>
              <a:rPr lang="en-US" altLang="zh-CN" sz="1200" dirty="0" smtClean="0"/>
              <a:t>1</a:t>
            </a:r>
            <a:r>
              <a:rPr lang="zh-CN" altLang="en-US" sz="1200" dirty="0" smtClean="0"/>
              <a:t>个像素，每次移动</a:t>
            </a:r>
            <a:r>
              <a:rPr lang="en-US" altLang="zh-CN" sz="1200" dirty="0" smtClean="0"/>
              <a:t>2</a:t>
            </a:r>
            <a:r>
              <a:rPr lang="zh-CN" altLang="en-US" sz="1200" dirty="0" smtClean="0"/>
              <a:t>个像素。</a:t>
            </a:r>
            <a:endParaRPr lang="en-US" altLang="zh-CN" sz="1200"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noProof="1" smtClean="0">
                <a:latin typeface="微软雅黑" panose="020B0503020204020204" pitchFamily="34" charset="-122"/>
              </a:rPr>
              <a:t>卷积核每次滑动覆盖的范围叫感受野，即下图演示的灰色区域。</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09058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t>为了方便理解，我们先看一维卷积运算的情况。我们输入一个 </a:t>
            </a:r>
            <a:r>
              <a:rPr lang="en-US" altLang="zh-CN" sz="1200" dirty="0" smtClean="0"/>
              <a:t>(1,7) </a:t>
            </a:r>
            <a:r>
              <a:rPr lang="zh-CN" altLang="en-US" sz="1200" dirty="0" smtClean="0"/>
              <a:t>的向量及其对应的数值。定义一个一维卷积，尺寸为 </a:t>
            </a:r>
            <a:r>
              <a:rPr lang="en-US" altLang="zh-CN" sz="1200" dirty="0" smtClean="0"/>
              <a:t>(1,3)</a:t>
            </a:r>
            <a:r>
              <a:rPr lang="zh-CN" altLang="en-US" sz="1200" dirty="0" smtClean="0"/>
              <a:t>，数值分别为</a:t>
            </a:r>
            <a:r>
              <a:rPr lang="en-US" altLang="zh-CN" sz="1200" dirty="0" smtClean="0"/>
              <a:t>10</a:t>
            </a:r>
            <a:r>
              <a:rPr lang="zh-CN" altLang="en-US" sz="1200" dirty="0" smtClean="0"/>
              <a:t>、</a:t>
            </a:r>
            <a:r>
              <a:rPr lang="en-US" altLang="zh-CN" sz="1200" dirty="0" smtClean="0"/>
              <a:t>5</a:t>
            </a:r>
            <a:r>
              <a:rPr lang="zh-CN" altLang="en-US" sz="1200" dirty="0" smtClean="0"/>
              <a:t>、</a:t>
            </a:r>
            <a:r>
              <a:rPr lang="en-US" altLang="zh-CN" sz="1200" dirty="0" smtClean="0"/>
              <a:t>11</a:t>
            </a:r>
            <a:r>
              <a:rPr lang="zh-CN" altLang="en-US" sz="1200" dirty="0" smtClean="0"/>
              <a:t>，这个例子中，设置偏置为</a:t>
            </a:r>
            <a:r>
              <a:rPr lang="en-US" altLang="zh-CN" sz="1200" dirty="0" smtClean="0"/>
              <a:t>0</a:t>
            </a:r>
            <a:r>
              <a:rPr lang="zh-CN" altLang="en-US" sz="1200" dirty="0" smtClean="0"/>
              <a:t>（无偏置）。我们先设置滑动步长为</a:t>
            </a:r>
            <a:r>
              <a:rPr lang="en-US" altLang="zh-CN" sz="1200" dirty="0" smtClean="0"/>
              <a:t>1</a:t>
            </a:r>
            <a:r>
              <a:rPr lang="zh-CN" altLang="en-US" sz="1200" dirty="0" smtClean="0"/>
              <a:t>来计算。第一步结果如图所示。</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567929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因为我们定义步长为</a:t>
            </a:r>
            <a:r>
              <a:rPr lang="en-US" altLang="zh-CN" sz="1200" dirty="0" smtClean="0"/>
              <a:t>1</a:t>
            </a:r>
            <a:r>
              <a:rPr lang="zh-CN" altLang="en-US" sz="1200" dirty="0" smtClean="0"/>
              <a:t>，所以接下来卷积移动一个格子（在图像中一个步长可以理解为一个像素）。</a:t>
            </a:r>
            <a:endParaRPr lang="en-US" altLang="zh-CN" sz="1200" dirty="0" smtClean="0"/>
          </a:p>
          <a:p>
            <a:pPr eaLnBrk="1" hangingPunct="1">
              <a:lnSpc>
                <a:spcPct val="200000"/>
              </a:lnSpc>
              <a:spcBef>
                <a:spcPct val="0"/>
              </a:spcBef>
            </a:pPr>
            <a:r>
              <a:rPr lang="zh-CN" altLang="en-US" dirty="0" smtClean="0"/>
              <a:t>依旧遵循卷积核从左到右从上到下的滑动规则。</a:t>
            </a:r>
            <a:endParaRPr lang="en-US" altLang="zh-CN" sz="1200" dirty="0" smtClean="0"/>
          </a:p>
          <a:p>
            <a:pPr eaLnBrk="1" hangingPunct="1">
              <a:lnSpc>
                <a:spcPct val="200000"/>
              </a:lnSpc>
              <a:spcBef>
                <a:spcPct val="0"/>
              </a:spcBef>
            </a:pPr>
            <a:r>
              <a:rPr lang="zh-CN" altLang="en-US" sz="1200" dirty="0" smtClean="0"/>
              <a:t>以此类推，我们最终得到一个</a:t>
            </a:r>
            <a:r>
              <a:rPr lang="en-US" altLang="zh-CN" sz="1200" dirty="0" smtClean="0"/>
              <a:t> (1,5) </a:t>
            </a:r>
            <a:r>
              <a:rPr lang="zh-CN" altLang="en-US" sz="1200" dirty="0" smtClean="0"/>
              <a:t>的向量，如右图所示。</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269641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如果我们定义步长为</a:t>
            </a:r>
            <a:r>
              <a:rPr lang="en-US" altLang="zh-CN" sz="1200" dirty="0" smtClean="0"/>
              <a:t>2</a:t>
            </a:r>
            <a:r>
              <a:rPr lang="zh-CN" altLang="en-US" sz="1200" dirty="0" smtClean="0"/>
              <a:t>，结果又会怎样呢？</a:t>
            </a:r>
            <a:endParaRPr lang="en-US" altLang="zh-CN" sz="1200" dirty="0" smtClean="0"/>
          </a:p>
          <a:p>
            <a:pPr eaLnBrk="1" hangingPunct="1">
              <a:lnSpc>
                <a:spcPct val="200000"/>
              </a:lnSpc>
              <a:spcBef>
                <a:spcPct val="0"/>
              </a:spcBef>
            </a:pPr>
            <a:r>
              <a:rPr lang="zh-CN" altLang="en-US" sz="1200" dirty="0" smtClean="0"/>
              <a:t>同样是 </a:t>
            </a:r>
            <a:r>
              <a:rPr lang="en-US" altLang="zh-CN" sz="1200" dirty="0" smtClean="0"/>
              <a:t>(1,7) </a:t>
            </a:r>
            <a:r>
              <a:rPr lang="zh-CN" altLang="en-US" sz="1200" dirty="0" smtClean="0"/>
              <a:t>的输入向量和 </a:t>
            </a:r>
            <a:r>
              <a:rPr lang="en-US" altLang="zh-CN" sz="1200" dirty="0" smtClean="0"/>
              <a:t>(1,3) </a:t>
            </a:r>
            <a:r>
              <a:rPr lang="zh-CN" altLang="en-US" sz="1200" dirty="0" smtClean="0"/>
              <a:t>的卷积核，卷积核每次移动</a:t>
            </a:r>
            <a:r>
              <a:rPr lang="en-US" altLang="zh-CN" sz="1200" dirty="0" smtClean="0"/>
              <a:t>2</a:t>
            </a:r>
            <a:r>
              <a:rPr lang="zh-CN" altLang="en-US" sz="1200" dirty="0" smtClean="0"/>
              <a:t>个格子（像素），最终得到一个</a:t>
            </a:r>
            <a:r>
              <a:rPr lang="en-US" altLang="zh-CN" sz="1200" dirty="0" smtClean="0"/>
              <a:t> (1,3) </a:t>
            </a:r>
            <a:r>
              <a:rPr lang="zh-CN" altLang="en-US" sz="1200" dirty="0" smtClean="0"/>
              <a:t>的向量。</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53973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defRPr/>
            </a:pPr>
            <a:r>
              <a:rPr lang="zh-CN" altLang="en-US" sz="1200" dirty="0" smtClean="0"/>
              <a:t>不难发现，我们在进行卷积计算的过程中，特征图尺寸在不断缩小，且边缘像素只计算了一遍，容易造成边缘信息丢失。</a:t>
            </a:r>
            <a:endParaRPr lang="en-US" altLang="zh-CN" sz="1200" dirty="0" smtClean="0"/>
          </a:p>
          <a:p>
            <a:pPr eaLnBrk="1" hangingPunct="1">
              <a:lnSpc>
                <a:spcPct val="200000"/>
              </a:lnSpc>
              <a:spcBef>
                <a:spcPct val="0"/>
              </a:spcBef>
              <a:defRPr/>
            </a:pPr>
            <a:r>
              <a:rPr lang="zh-CN" altLang="en-US" sz="1200" dirty="0" smtClean="0"/>
              <a:t>下面介绍另一个重要的概念：填充。填充指的是向输入特征图的周围填入固定的数据（比如</a:t>
            </a:r>
            <a:r>
              <a:rPr lang="en-US" altLang="zh-CN" sz="1200" dirty="0" smtClean="0"/>
              <a:t>0</a:t>
            </a:r>
            <a:r>
              <a:rPr lang="zh-CN" altLang="en-US" sz="1200" dirty="0" smtClean="0"/>
              <a:t>）。使用填充可以调整输出特征图的大小。以之前的例子来说，我们将输入大小 </a:t>
            </a:r>
            <a:r>
              <a:rPr lang="en-US" altLang="zh-CN" sz="1200" dirty="0" smtClean="0"/>
              <a:t>(4,4) </a:t>
            </a:r>
            <a:r>
              <a:rPr lang="zh-CN" altLang="en-US" sz="1200" dirty="0" smtClean="0"/>
              <a:t>的特征图输出为 </a:t>
            </a:r>
            <a:r>
              <a:rPr lang="en-US" altLang="zh-CN" sz="1200" dirty="0" smtClean="0"/>
              <a:t>(2,2) </a:t>
            </a:r>
            <a:r>
              <a:rPr lang="zh-CN" altLang="en-US" sz="1200" dirty="0" smtClean="0"/>
              <a:t>的特征图。如果不使用填充，在反复进行多次卷积运算后，深度网络的输出特征图尺寸有可能在某时刻变为</a:t>
            </a:r>
            <a:r>
              <a:rPr lang="en-US" altLang="zh-CN" sz="1200" dirty="0" smtClean="0"/>
              <a:t>1</a:t>
            </a:r>
            <a:r>
              <a:rPr lang="zh-CN" altLang="en-US" sz="1200" dirty="0" smtClean="0"/>
              <a:t>，导致无法再进行卷积计算。</a:t>
            </a:r>
            <a:endParaRPr lang="en-US" altLang="zh-CN" sz="1200" dirty="0" smtClean="0"/>
          </a:p>
          <a:p>
            <a:pPr eaLnBrk="1" hangingPunct="1">
              <a:lnSpc>
                <a:spcPct val="200000"/>
              </a:lnSpc>
              <a:spcBef>
                <a:spcPct val="0"/>
              </a:spcBef>
              <a:defRPr/>
            </a:pPr>
            <a:r>
              <a:rPr lang="zh-CN" altLang="en-US" sz="1200" dirty="0" smtClean="0"/>
              <a:t>为了避免这种情况的出现，就需要使用填充。</a:t>
            </a:r>
            <a:endParaRPr lang="en-US" altLang="zh-CN" sz="1200" dirty="0" smtClean="0"/>
          </a:p>
          <a:p>
            <a:pPr eaLnBrk="1" hangingPunct="1">
              <a:lnSpc>
                <a:spcPct val="200000"/>
              </a:lnSpc>
              <a:spcBef>
                <a:spcPct val="0"/>
              </a:spcBef>
              <a:defRPr/>
            </a:pPr>
            <a:r>
              <a:rPr lang="zh-CN" altLang="en-US" sz="1200" dirty="0" smtClean="0"/>
              <a:t>为什么填充的值是</a:t>
            </a:r>
            <a:r>
              <a:rPr lang="en-US" altLang="zh-CN" sz="1200" dirty="0" smtClean="0"/>
              <a:t>0</a:t>
            </a:r>
            <a:r>
              <a:rPr lang="zh-CN" altLang="en-US" sz="1200" dirty="0" smtClean="0"/>
              <a:t>？因为</a:t>
            </a:r>
            <a:r>
              <a:rPr lang="en-US" altLang="zh-CN" sz="1200" dirty="0" smtClean="0"/>
              <a:t>0</a:t>
            </a:r>
            <a:r>
              <a:rPr lang="zh-CN" altLang="en-US" sz="1200" dirty="0" smtClean="0"/>
              <a:t>在权重乘积和运算中对最终结果不造成影响，也就避免了图片增加额外的干扰信息。</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257640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t>在之前例子的基础上，我们定义填充为</a:t>
            </a:r>
            <a:r>
              <a:rPr lang="en-US" altLang="zh-CN" sz="1200" dirty="0" smtClean="0"/>
              <a:t>1</a:t>
            </a:r>
            <a:r>
              <a:rPr lang="zh-CN" altLang="en-US" sz="1200" dirty="0" smtClean="0"/>
              <a:t>，即对输入图像的周边做</a:t>
            </a:r>
            <a:r>
              <a:rPr lang="en-US" altLang="zh-CN" sz="1200" dirty="0" smtClean="0"/>
              <a:t>1</a:t>
            </a:r>
            <a:r>
              <a:rPr lang="zh-CN" altLang="en-US" sz="1200" dirty="0" smtClean="0"/>
              <a:t>个像素的填充，填充的默认值为</a:t>
            </a:r>
            <a:r>
              <a:rPr lang="en-US" altLang="zh-CN" sz="1200" dirty="0" smtClean="0"/>
              <a:t>0</a:t>
            </a:r>
            <a:r>
              <a:rPr lang="zh-CN" altLang="en-US" sz="1200" dirty="0" smtClean="0"/>
              <a:t>，用相同的卷积核、偏置以及滑动步长进行卷积计算。可以看到，输出特征图的尺寸可以保持为原来的 </a:t>
            </a:r>
            <a:r>
              <a:rPr lang="en-US" altLang="zh-CN" sz="1200" dirty="0" smtClean="0"/>
              <a:t>(4,4) , </a:t>
            </a:r>
            <a:r>
              <a:rPr lang="zh-CN" altLang="en-US" sz="1200" dirty="0" smtClean="0"/>
              <a:t>且有效地避免了边缘信息的丢失。因为在之前的卷积计算中，四个角落的值只计算</a:t>
            </a:r>
            <a:r>
              <a:rPr lang="en-US" altLang="zh-CN" sz="1200" dirty="0" smtClean="0"/>
              <a:t>1</a:t>
            </a:r>
            <a:r>
              <a:rPr lang="zh-CN" altLang="en-US" sz="1200" dirty="0" smtClean="0"/>
              <a:t>次，而中心值计算了</a:t>
            </a:r>
            <a:r>
              <a:rPr lang="en-US" altLang="zh-CN" sz="1200" dirty="0" smtClean="0"/>
              <a:t>4</a:t>
            </a:r>
            <a:r>
              <a:rPr lang="zh-CN" altLang="en-US" sz="1200" dirty="0" smtClean="0"/>
              <a:t>次。</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0448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接下来我们学习一种更为通用的卷积形式，总结步长、填充、卷积核大小与输入输出特征图尺寸的关系。</a:t>
            </a:r>
            <a:endParaRPr lang="en-US" altLang="zh-CN" sz="1200" dirty="0" smtClean="0"/>
          </a:p>
          <a:p>
            <a:pPr marL="0" marR="0" lvl="2" indent="0" algn="l" defTabSz="914400" rtl="0" eaLnBrk="1" fontAlgn="base" latinLnBrk="0" hangingPunct="1">
              <a:lnSpc>
                <a:spcPct val="200000"/>
              </a:lnSpc>
              <a:spcBef>
                <a:spcPct val="0"/>
              </a:spcBef>
              <a:spcAft>
                <a:spcPct val="0"/>
              </a:spcAft>
              <a:buClrTx/>
              <a:buSzTx/>
              <a:buFontTx/>
              <a:buNone/>
              <a:tabLst/>
              <a:defRPr/>
            </a:pPr>
            <a:r>
              <a:rPr lang="zh-CN" altLang="en-US" sz="1200" dirty="0" smtClean="0"/>
              <a:t>假设输入特征图（图像）大小为</a:t>
            </a:r>
            <a:r>
              <a:rPr lang="en-US" altLang="zh-CN" sz="1200" dirty="0" smtClean="0"/>
              <a:t>W1</a:t>
            </a:r>
            <a:r>
              <a:rPr lang="en-US" altLang="zh-CN" sz="1200" b="1" dirty="0" smtClean="0"/>
              <a:t>×</a:t>
            </a:r>
            <a:r>
              <a:rPr lang="en-US" altLang="zh-CN" sz="1200" dirty="0" smtClean="0"/>
              <a:t>H1</a:t>
            </a:r>
            <a:r>
              <a:rPr lang="en-US" altLang="zh-CN" sz="1200" b="1" dirty="0" smtClean="0"/>
              <a:t>×</a:t>
            </a:r>
            <a:r>
              <a:rPr lang="en-US" altLang="zh-CN" sz="1200" dirty="0" smtClean="0"/>
              <a:t>D1</a:t>
            </a:r>
            <a:r>
              <a:rPr lang="zh-CN" altLang="en-US" sz="1200" dirty="0" smtClean="0"/>
              <a:t>，这里</a:t>
            </a:r>
            <a:r>
              <a:rPr lang="en-US" altLang="zh-CN" sz="1200" dirty="0" smtClean="0"/>
              <a:t>W1</a:t>
            </a:r>
            <a:r>
              <a:rPr lang="zh-CN" altLang="en-US" sz="1200" dirty="0" smtClean="0"/>
              <a:t>表示图像的宽（像素），</a:t>
            </a:r>
            <a:r>
              <a:rPr lang="en-US" altLang="zh-CN" sz="1200" dirty="0" smtClean="0"/>
              <a:t>H1</a:t>
            </a:r>
            <a:r>
              <a:rPr lang="zh-CN" altLang="en-US" sz="1200" dirty="0" smtClean="0"/>
              <a:t>表示图像的高（像素），</a:t>
            </a:r>
            <a:r>
              <a:rPr lang="en-US" altLang="zh-CN" sz="1200" dirty="0" smtClean="0"/>
              <a:t>D1</a:t>
            </a:r>
            <a:r>
              <a:rPr lang="zh-CN" altLang="en-US" sz="1200" dirty="0" smtClean="0"/>
              <a:t>表示图像的通道数。卷积层中卷积核大小为 </a:t>
            </a:r>
            <a:r>
              <a:rPr lang="en-US" altLang="zh-CN" sz="1200" dirty="0" smtClean="0"/>
              <a:t>(F,F)</a:t>
            </a:r>
            <a:r>
              <a:rPr lang="zh-CN" altLang="en-US" sz="1200" dirty="0" smtClean="0"/>
              <a:t>，步长为</a:t>
            </a:r>
            <a:r>
              <a:rPr lang="en-US" altLang="zh-CN" sz="1200" dirty="0" smtClean="0"/>
              <a:t>S</a:t>
            </a:r>
            <a:r>
              <a:rPr lang="zh-CN" altLang="en-US" sz="1200" dirty="0" smtClean="0"/>
              <a:t>，填充大小为</a:t>
            </a:r>
            <a:r>
              <a:rPr lang="en-US" altLang="zh-CN" sz="1200" dirty="0" smtClean="0"/>
              <a:t>P</a:t>
            </a:r>
            <a:r>
              <a:rPr lang="zh-CN" altLang="en-US" sz="1200" dirty="0" smtClean="0"/>
              <a:t>，卷积核的个数为</a:t>
            </a:r>
            <a:r>
              <a:rPr lang="en-US" altLang="zh-CN" sz="1200" dirty="0" smtClean="0"/>
              <a:t>K</a:t>
            </a:r>
            <a:r>
              <a:rPr lang="zh-CN" altLang="en-US" sz="1200" dirty="0" smtClean="0"/>
              <a:t>，那么经过卷积运算后输出图像的宽、高、通道数分别为</a:t>
            </a:r>
            <a:r>
              <a:rPr lang="en-US" altLang="zh-CN" sz="1200" dirty="0" smtClean="0"/>
              <a:t>W2=</a:t>
            </a:r>
            <a:r>
              <a:rPr lang="zh-CN" altLang="en-US" sz="1200" dirty="0" smtClean="0"/>
              <a:t>（</a:t>
            </a:r>
            <a:r>
              <a:rPr lang="en-US" altLang="zh-CN" sz="1200" dirty="0" smtClean="0"/>
              <a:t>W1-F+2P</a:t>
            </a:r>
            <a:r>
              <a:rPr lang="zh-CN" altLang="en-US" sz="1200" dirty="0" smtClean="0"/>
              <a:t>）</a:t>
            </a:r>
            <a:r>
              <a:rPr lang="en-US" altLang="zh-CN" sz="1200" dirty="0" smtClean="0"/>
              <a:t>/ S +1</a:t>
            </a:r>
            <a:r>
              <a:rPr lang="zh-CN" altLang="en-US" sz="1200" dirty="0" smtClean="0"/>
              <a:t>，</a:t>
            </a:r>
            <a:r>
              <a:rPr lang="en-US" altLang="zh-CN" sz="1200" dirty="0" smtClean="0"/>
              <a:t>H2=</a:t>
            </a:r>
            <a:r>
              <a:rPr lang="zh-CN" altLang="en-US" sz="1200" dirty="0" smtClean="0"/>
              <a:t>（</a:t>
            </a:r>
            <a:r>
              <a:rPr lang="en-US" altLang="zh-CN" sz="1200" dirty="0" smtClean="0"/>
              <a:t>H1-F+2P</a:t>
            </a:r>
            <a:r>
              <a:rPr lang="zh-CN" altLang="en-US" sz="1200" dirty="0" smtClean="0"/>
              <a:t>）</a:t>
            </a:r>
            <a:r>
              <a:rPr lang="en-US" altLang="zh-CN" sz="1200" dirty="0" smtClean="0"/>
              <a:t>/ S+1</a:t>
            </a:r>
            <a:r>
              <a:rPr lang="zh-CN" altLang="en-US" sz="1200" dirty="0" smtClean="0"/>
              <a:t>，</a:t>
            </a:r>
            <a:r>
              <a:rPr lang="en-US" altLang="zh-CN" sz="1200" dirty="0" smtClean="0"/>
              <a:t>D2=K</a:t>
            </a:r>
            <a:r>
              <a:rPr lang="zh-CN" altLang="en-US" sz="1200" dirty="0" smtClean="0"/>
              <a:t>。这里发现有一个参数在</a:t>
            </a:r>
            <a:r>
              <a:rPr lang="en-US" altLang="zh-CN" dirty="0" smtClean="0"/>
              <a:t>D</a:t>
            </a:r>
            <a:r>
              <a:rPr lang="en-US" altLang="zh-CN" baseline="-25000" dirty="0" smtClean="0"/>
              <a:t>1</a:t>
            </a:r>
            <a:r>
              <a:rPr lang="zh-CN" altLang="en-US" sz="1200" dirty="0" smtClean="0"/>
              <a:t>并没有出现在公式中。之前提到过，卷积核通道个数一般和输入图像通道数一致。因此实际上每一个卷积核其实是由</a:t>
            </a:r>
            <a:r>
              <a:rPr lang="en-US" altLang="zh-CN" sz="1200" dirty="0" smtClean="0"/>
              <a:t>D</a:t>
            </a:r>
            <a:r>
              <a:rPr lang="en-US" altLang="zh-CN" baseline="-25000" dirty="0" smtClean="0"/>
              <a:t>1</a:t>
            </a:r>
            <a:r>
              <a:rPr lang="zh-CN" altLang="en-US" sz="1200" dirty="0" smtClean="0"/>
              <a:t>个大小为（</a:t>
            </a:r>
            <a:r>
              <a:rPr lang="en-US" altLang="zh-CN" sz="1200" dirty="0" smtClean="0"/>
              <a:t>F,F</a:t>
            </a:r>
            <a:r>
              <a:rPr lang="zh-CN" altLang="en-US" sz="1200" dirty="0" smtClean="0"/>
              <a:t>）构成的，也可以写作</a:t>
            </a:r>
            <a:r>
              <a:rPr lang="en-US" altLang="zh-CN" dirty="0" smtClean="0"/>
              <a:t>F× F×D</a:t>
            </a:r>
            <a:r>
              <a:rPr lang="en-US" altLang="zh-CN" baseline="-25000" dirty="0" smtClean="0"/>
              <a:t>1</a:t>
            </a:r>
            <a:r>
              <a:rPr lang="zh-CN" altLang="en-US" baseline="-25000" dirty="0" smtClean="0"/>
              <a:t>。</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38166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我们以之前的例子进行简单的验证。</a:t>
            </a:r>
            <a:endParaRPr lang="en-US" altLang="zh-CN" dirty="0" smtClean="0"/>
          </a:p>
          <a:p>
            <a:r>
              <a:rPr lang="zh-CN" altLang="en-US" dirty="0" smtClean="0"/>
              <a:t>如图。</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9930720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我们把它上升到一般情况。输入</a:t>
            </a:r>
            <a:r>
              <a:rPr lang="en-US" altLang="zh-CN" dirty="0" smtClean="0"/>
              <a:t>(W1</a:t>
            </a:r>
            <a:r>
              <a:rPr lang="zh-CN" altLang="en-US" dirty="0" smtClean="0"/>
              <a:t>，</a:t>
            </a:r>
            <a:r>
              <a:rPr lang="en-US" altLang="zh-CN" dirty="0" smtClean="0"/>
              <a:t>H1)</a:t>
            </a:r>
            <a:r>
              <a:rPr lang="zh-CN" altLang="en-US" dirty="0" smtClean="0"/>
              <a:t>，通道</a:t>
            </a:r>
            <a:r>
              <a:rPr lang="en-US" altLang="zh-CN" dirty="0" smtClean="0"/>
              <a:t>D1</a:t>
            </a:r>
            <a:r>
              <a:rPr lang="zh-CN" altLang="en-US" dirty="0" smtClean="0"/>
              <a:t>，填充</a:t>
            </a:r>
            <a:r>
              <a:rPr lang="en-US" altLang="zh-CN" dirty="0" smtClean="0"/>
              <a:t>P</a:t>
            </a:r>
            <a:r>
              <a:rPr lang="zh-CN" altLang="en-US" dirty="0" smtClean="0"/>
              <a:t>，步长</a:t>
            </a:r>
            <a:r>
              <a:rPr lang="en-US" altLang="zh-CN" dirty="0" smtClean="0"/>
              <a:t>S</a:t>
            </a:r>
            <a:r>
              <a:rPr lang="zh-CN" altLang="en-US" dirty="0" smtClean="0"/>
              <a:t>，使用</a:t>
            </a:r>
            <a:r>
              <a:rPr lang="en-US" altLang="zh-CN" dirty="0" smtClean="0"/>
              <a:t>K</a:t>
            </a:r>
            <a:r>
              <a:rPr lang="zh-CN" altLang="en-US" dirty="0" smtClean="0"/>
              <a:t>个</a:t>
            </a:r>
            <a:r>
              <a:rPr lang="en-US" altLang="zh-CN" dirty="0" smtClean="0"/>
              <a:t>(F,F)</a:t>
            </a:r>
            <a:r>
              <a:rPr lang="zh-CN" altLang="en-US" dirty="0" smtClean="0"/>
              <a:t>通道为</a:t>
            </a:r>
            <a:r>
              <a:rPr lang="en-US" altLang="zh-CN" dirty="0" smtClean="0"/>
              <a:t>D1</a:t>
            </a:r>
            <a:r>
              <a:rPr lang="zh-CN" altLang="en-US" dirty="0" smtClean="0"/>
              <a:t>的卷积核和</a:t>
            </a:r>
            <a:r>
              <a:rPr lang="en-US" altLang="zh-CN" dirty="0" smtClean="0"/>
              <a:t>K</a:t>
            </a:r>
            <a:r>
              <a:rPr lang="zh-CN" altLang="en-US" dirty="0" smtClean="0"/>
              <a:t>个偏置。</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一般偏置个数与卷积核数量保持一致。该卷积层所含参数数量为</a:t>
            </a:r>
            <a:r>
              <a:rPr lang="en-US" altLang="zh-CN" dirty="0" smtClean="0"/>
              <a:t>F</a:t>
            </a:r>
            <a:r>
              <a:rPr lang="en-US" altLang="zh-CN" baseline="30000" dirty="0" smtClean="0"/>
              <a:t>2</a:t>
            </a:r>
            <a:r>
              <a:rPr lang="en-US" altLang="zh-CN" b="1" dirty="0" smtClean="0"/>
              <a:t>×</a:t>
            </a:r>
            <a:r>
              <a:rPr lang="en-US" altLang="zh-CN" dirty="0" smtClean="0"/>
              <a:t>D</a:t>
            </a:r>
            <a:r>
              <a:rPr lang="en-US" altLang="zh-CN" baseline="-25000" dirty="0" smtClean="0"/>
              <a:t>1</a:t>
            </a:r>
            <a:r>
              <a:rPr lang="en-US" altLang="zh-CN" b="1" dirty="0" smtClean="0"/>
              <a:t>×</a:t>
            </a:r>
            <a:r>
              <a:rPr lang="en-US" altLang="zh-CN" dirty="0" smtClean="0"/>
              <a:t>K + K</a:t>
            </a:r>
            <a:r>
              <a:rPr lang="zh-CN" altLang="en-US" dirty="0" smtClean="0"/>
              <a:t>。</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738002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介绍完卷积层后简单提一下激活层。</a:t>
            </a:r>
            <a:endParaRPr lang="en-US" altLang="zh-CN" dirty="0" smtClean="0"/>
          </a:p>
          <a:p>
            <a:r>
              <a:rPr lang="zh-CN" altLang="en-US" dirty="0" smtClean="0"/>
              <a:t>卷积神经网络就是由一系列卷积层经过激活而得。</a:t>
            </a:r>
            <a:endParaRPr lang="en-US" altLang="zh-CN" dirty="0" smtClean="0"/>
          </a:p>
          <a:p>
            <a:r>
              <a:rPr lang="zh-CN" altLang="en-US" sz="1200" b="0" i="0" kern="1200" dirty="0" smtClean="0">
                <a:solidFill>
                  <a:schemeClr val="tx1"/>
                </a:solidFill>
                <a:effectLst/>
                <a:latin typeface="+mn-lt"/>
                <a:ea typeface="+mn-ea"/>
                <a:cs typeface="+mn-cs"/>
              </a:rPr>
              <a:t>各种激活函数层数不穷，各有优缺点。常用的激活函数有</a:t>
            </a:r>
            <a:r>
              <a:rPr lang="en-US" altLang="zh-CN" sz="1200" b="0" i="0" kern="1200" dirty="0" smtClean="0">
                <a:solidFill>
                  <a:schemeClr val="tx1"/>
                </a:solidFill>
                <a:effectLst/>
                <a:latin typeface="+mn-lt"/>
                <a:ea typeface="+mn-ea"/>
                <a:cs typeface="+mn-cs"/>
              </a:rPr>
              <a:t>sigmoid</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tanh</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relu</a:t>
            </a:r>
            <a:r>
              <a:rPr lang="zh-CN" altLang="en-US" sz="1200" b="0" i="0" kern="1200" dirty="0" smtClean="0">
                <a:solidFill>
                  <a:schemeClr val="tx1"/>
                </a:solidFill>
                <a:effectLst/>
                <a:latin typeface="+mn-lt"/>
                <a:ea typeface="+mn-ea"/>
                <a:cs typeface="+mn-cs"/>
              </a:rPr>
              <a:t>等等，前两者</a:t>
            </a:r>
            <a:r>
              <a:rPr lang="en-US" altLang="zh-CN" sz="1200" b="0" i="0" kern="1200" dirty="0" smtClean="0">
                <a:solidFill>
                  <a:schemeClr val="tx1"/>
                </a:solidFill>
                <a:effectLst/>
                <a:latin typeface="+mn-lt"/>
                <a:ea typeface="+mn-ea"/>
                <a:cs typeface="+mn-cs"/>
              </a:rPr>
              <a:t>sigmoid/</a:t>
            </a:r>
            <a:r>
              <a:rPr lang="en-US" altLang="zh-CN" sz="1200" b="0" i="0" kern="1200" dirty="0" err="1" smtClean="0">
                <a:solidFill>
                  <a:schemeClr val="tx1"/>
                </a:solidFill>
                <a:effectLst/>
                <a:latin typeface="+mn-lt"/>
                <a:ea typeface="+mn-ea"/>
                <a:cs typeface="+mn-cs"/>
              </a:rPr>
              <a:t>tanh</a:t>
            </a:r>
            <a:r>
              <a:rPr lang="zh-CN" altLang="en-US" sz="1200" b="0" i="0" kern="1200" dirty="0" smtClean="0">
                <a:solidFill>
                  <a:schemeClr val="tx1"/>
                </a:solidFill>
                <a:effectLst/>
                <a:latin typeface="+mn-lt"/>
                <a:ea typeface="+mn-ea"/>
                <a:cs typeface="+mn-cs"/>
              </a:rPr>
              <a:t>比较常见于全连接层，后者</a:t>
            </a:r>
            <a:r>
              <a:rPr lang="en-US" altLang="zh-CN" sz="1200" b="0" i="0" kern="1200" dirty="0" err="1" smtClean="0">
                <a:solidFill>
                  <a:schemeClr val="tx1"/>
                </a:solidFill>
                <a:effectLst/>
                <a:latin typeface="+mn-lt"/>
                <a:ea typeface="+mn-ea"/>
                <a:cs typeface="+mn-cs"/>
              </a:rPr>
              <a:t>ReLU</a:t>
            </a:r>
            <a:r>
              <a:rPr lang="zh-CN" altLang="en-US" sz="1200" b="0" i="0" kern="1200" dirty="0" smtClean="0">
                <a:solidFill>
                  <a:schemeClr val="tx1"/>
                </a:solidFill>
                <a:effectLst/>
                <a:latin typeface="+mn-lt"/>
                <a:ea typeface="+mn-ea"/>
                <a:cs typeface="+mn-cs"/>
              </a:rPr>
              <a:t>常见于卷积层。激活函数的作用是用来加入非线性因素，把卷积层输出结果做非线性映射。在卷积神经网络中，激活函数一般使用</a:t>
            </a:r>
            <a:r>
              <a:rPr lang="en-US" altLang="zh-CN" sz="1200" b="0" i="0" kern="1200" dirty="0" err="1" smtClean="0">
                <a:solidFill>
                  <a:schemeClr val="tx1"/>
                </a:solidFill>
                <a:effectLst/>
                <a:latin typeface="+mn-lt"/>
                <a:ea typeface="+mn-ea"/>
                <a:cs typeface="+mn-cs"/>
              </a:rPr>
              <a:t>ReLU</a:t>
            </a:r>
            <a:r>
              <a:rPr lang="en-US" altLang="zh-CN" sz="1200" b="0" i="0" kern="1200" dirty="0" smtClean="0">
                <a:solidFill>
                  <a:schemeClr val="tx1"/>
                </a:solidFill>
                <a:effectLst/>
                <a:latin typeface="+mn-lt"/>
                <a:ea typeface="+mn-ea"/>
                <a:cs typeface="+mn-cs"/>
              </a:rPr>
              <a:t>(The Rectified Linear Unit</a:t>
            </a:r>
            <a:r>
              <a:rPr lang="zh-CN" altLang="en-US" sz="1200" b="0" i="0" kern="1200" dirty="0" smtClean="0">
                <a:solidFill>
                  <a:schemeClr val="tx1"/>
                </a:solidFill>
                <a:effectLst/>
                <a:latin typeface="+mn-lt"/>
                <a:ea typeface="+mn-ea"/>
                <a:cs typeface="+mn-cs"/>
              </a:rPr>
              <a:t>，修正线性单元</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，它的特点是收敛快，求梯度简单。计算公式也很简单，</a:t>
            </a:r>
            <a:r>
              <a:rPr lang="en-US" altLang="zh-CN" sz="1200" b="0" i="0" kern="1200" dirty="0" smtClean="0">
                <a:solidFill>
                  <a:schemeClr val="tx1"/>
                </a:solidFill>
                <a:effectLst/>
                <a:latin typeface="+mn-lt"/>
                <a:ea typeface="+mn-ea"/>
                <a:cs typeface="+mn-cs"/>
              </a:rPr>
              <a:t>max(0,x)</a:t>
            </a:r>
            <a:r>
              <a:rPr lang="zh-CN" altLang="en-US" sz="1200" b="0" i="0" kern="1200" dirty="0" smtClean="0">
                <a:solidFill>
                  <a:schemeClr val="tx1"/>
                </a:solidFill>
                <a:effectLst/>
                <a:latin typeface="+mn-lt"/>
                <a:ea typeface="+mn-ea"/>
                <a:cs typeface="+mn-cs"/>
              </a:rPr>
              <a:t>，即对于输入的负值，输出全为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，对于正值，则原样输出。</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40177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介绍完激活层之后我们介绍池化层。</a:t>
            </a:r>
            <a:endParaRPr lang="en-US" altLang="zh-CN" dirty="0" smtClean="0"/>
          </a:p>
          <a:p>
            <a:r>
              <a:rPr lang="zh-CN" altLang="en-US" dirty="0" smtClean="0"/>
              <a:t>池化是对图像进行压缩（降采样）的一种方法，有利于减少后续的计算量，同时不会影响特征的提取。池化层在图像分类领域的应用非常广泛，但是在目标检测以及图像分割领域的存在感就弱了一些，究其原因在于检测与分割需要被检测对象在图像中的具体位置信息，而池化层容易丢失这样的信息。池化的方法有很多，如最大池化、平均池化等。池化层的特点是没有要学习的参数，池化只是从目标区域中取最大值或者平均值；在池化运算中，输入特征图和输出特征图的通道数不会发生变化（计算是按通道独立进行的），但通常会降低图像的尺寸。</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9155665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尽管没有需要学习的参数，池化层也有操作参数，我们假设输入图像为</a:t>
            </a:r>
            <a:r>
              <a:rPr lang="en-US" altLang="zh-CN" dirty="0" smtClean="0"/>
              <a:t>W1*H1*D1</a:t>
            </a:r>
            <a:r>
              <a:rPr lang="zh-CN" altLang="en-US" dirty="0" smtClean="0"/>
              <a:t>，</a:t>
            </a:r>
            <a:r>
              <a:rPr lang="en-US" altLang="zh-CN" dirty="0" smtClean="0"/>
              <a:t>W1</a:t>
            </a:r>
            <a:r>
              <a:rPr lang="zh-CN" altLang="en-US" dirty="0" smtClean="0"/>
              <a:t>、</a:t>
            </a:r>
            <a:r>
              <a:rPr lang="en-US" altLang="zh-CN" dirty="0" smtClean="0"/>
              <a:t>H1</a:t>
            </a:r>
            <a:r>
              <a:rPr lang="zh-CN" altLang="en-US" dirty="0" smtClean="0"/>
              <a:t>、</a:t>
            </a:r>
            <a:r>
              <a:rPr lang="en-US" altLang="zh-CN" dirty="0" smtClean="0"/>
              <a:t>D1</a:t>
            </a:r>
            <a:r>
              <a:rPr lang="zh-CN" altLang="en-US" dirty="0" smtClean="0"/>
              <a:t>分别表示图像的宽、高、通道数。池化层中池化卷积核的尺寸为（</a:t>
            </a:r>
            <a:r>
              <a:rPr lang="en-US" altLang="zh-CN" dirty="0" smtClean="0"/>
              <a:t>F</a:t>
            </a:r>
            <a:r>
              <a:rPr lang="zh-CN" altLang="en-US" dirty="0" smtClean="0"/>
              <a:t>，</a:t>
            </a:r>
            <a:r>
              <a:rPr lang="en-US" altLang="zh-CN" dirty="0" smtClean="0"/>
              <a:t>F</a:t>
            </a:r>
            <a:r>
              <a:rPr lang="zh-CN" altLang="en-US" dirty="0" smtClean="0"/>
              <a:t>），步长为</a:t>
            </a:r>
            <a:r>
              <a:rPr lang="en-US" altLang="zh-CN" dirty="0" smtClean="0"/>
              <a:t>S</a:t>
            </a:r>
            <a:r>
              <a:rPr lang="zh-CN" altLang="en-US" dirty="0" smtClean="0"/>
              <a:t>，填充为</a:t>
            </a:r>
            <a:r>
              <a:rPr lang="en-US" altLang="zh-CN" dirty="0" smtClean="0"/>
              <a:t>P</a:t>
            </a:r>
            <a:r>
              <a:rPr lang="zh-CN" altLang="en-US" dirty="0" smtClean="0"/>
              <a:t>，那么经过池化后输出图像的宽、高、通道数分别为</a:t>
            </a:r>
            <a:r>
              <a:rPr lang="en-US" altLang="zh-CN" dirty="0" smtClean="0"/>
              <a:t>(W1-F+2P</a:t>
            </a:r>
            <a:r>
              <a:rPr lang="zh-CN" altLang="en-US" dirty="0" smtClean="0"/>
              <a:t>）</a:t>
            </a:r>
            <a:r>
              <a:rPr lang="en-US" altLang="zh-CN" dirty="0" smtClean="0"/>
              <a:t>/S</a:t>
            </a:r>
            <a:r>
              <a:rPr lang="en-US" altLang="zh-CN" baseline="0" dirty="0" smtClean="0"/>
              <a:t> +1</a:t>
            </a:r>
            <a:r>
              <a:rPr lang="zh-CN" altLang="en-US" dirty="0" smtClean="0"/>
              <a:t>，</a:t>
            </a:r>
            <a:r>
              <a:rPr lang="en-US" altLang="zh-CN" dirty="0" smtClean="0"/>
              <a:t>(H1-F+2P</a:t>
            </a:r>
            <a:r>
              <a:rPr lang="zh-CN" altLang="en-US" dirty="0" smtClean="0"/>
              <a:t>）</a:t>
            </a:r>
            <a:r>
              <a:rPr lang="en-US" altLang="zh-CN" dirty="0" smtClean="0"/>
              <a:t>/S</a:t>
            </a:r>
            <a:r>
              <a:rPr lang="en-US" altLang="zh-CN" baseline="0" dirty="0" smtClean="0"/>
              <a:t> +1</a:t>
            </a:r>
            <a:r>
              <a:rPr lang="zh-CN" altLang="en-US" dirty="0" smtClean="0"/>
              <a:t>，</a:t>
            </a:r>
            <a:r>
              <a:rPr lang="en-US" altLang="zh-CN" dirty="0" smtClean="0"/>
              <a:t>D2</a:t>
            </a:r>
            <a:r>
              <a:rPr lang="zh-CN" altLang="en-US" dirty="0" smtClean="0"/>
              <a:t>，与卷积层计算尺寸相同。通常情况下</a:t>
            </a:r>
            <a:r>
              <a:rPr lang="en-US" altLang="zh-CN" dirty="0" smtClean="0"/>
              <a:t>F=2</a:t>
            </a:r>
            <a:r>
              <a:rPr lang="zh-CN" altLang="en-US" dirty="0" smtClean="0"/>
              <a:t>，</a:t>
            </a:r>
            <a:r>
              <a:rPr lang="en-US" altLang="zh-CN" dirty="0" smtClean="0"/>
              <a:t>S=2</a:t>
            </a:r>
            <a:r>
              <a:rPr lang="zh-CN" altLang="en-US" dirty="0" smtClean="0"/>
              <a:t>，</a:t>
            </a:r>
            <a:r>
              <a:rPr lang="en-US" altLang="zh-CN" dirty="0" smtClean="0"/>
              <a:t>P=0</a:t>
            </a:r>
            <a:r>
              <a:rPr lang="zh-CN" altLang="en-US" dirty="0" smtClean="0"/>
              <a:t>。一个（</a:t>
            </a:r>
            <a:r>
              <a:rPr lang="en-US" altLang="zh-CN" dirty="0" smtClean="0"/>
              <a:t>4</a:t>
            </a:r>
            <a:r>
              <a:rPr lang="zh-CN" altLang="en-US" dirty="0" smtClean="0"/>
              <a:t>，</a:t>
            </a:r>
            <a:r>
              <a:rPr lang="en-US" altLang="zh-CN" dirty="0" smtClean="0"/>
              <a:t>4</a:t>
            </a:r>
            <a:r>
              <a:rPr lang="zh-CN" altLang="en-US" dirty="0" smtClean="0"/>
              <a:t>）的特征层经过卷积核尺寸为（</a:t>
            </a:r>
            <a:r>
              <a:rPr lang="en-US" altLang="zh-CN" dirty="0" smtClean="0"/>
              <a:t>2</a:t>
            </a:r>
            <a:r>
              <a:rPr lang="zh-CN" altLang="en-US" dirty="0" smtClean="0"/>
              <a:t>，</a:t>
            </a:r>
            <a:r>
              <a:rPr lang="en-US" altLang="zh-CN" dirty="0" smtClean="0"/>
              <a:t>2</a:t>
            </a:r>
            <a:r>
              <a:rPr lang="zh-CN" altLang="en-US" dirty="0" smtClean="0"/>
              <a:t>），步长为</a:t>
            </a:r>
            <a:r>
              <a:rPr lang="en-US" altLang="zh-CN" dirty="0" smtClean="0"/>
              <a:t>2</a:t>
            </a:r>
            <a:r>
              <a:rPr lang="zh-CN" altLang="en-US" dirty="0" smtClean="0"/>
              <a:t>的最大池化操作后得到一个（</a:t>
            </a:r>
            <a:r>
              <a:rPr lang="en-US" altLang="zh-CN" dirty="0" smtClean="0"/>
              <a:t>2</a:t>
            </a:r>
            <a:r>
              <a:rPr lang="zh-CN" altLang="en-US" dirty="0" smtClean="0"/>
              <a:t>，</a:t>
            </a:r>
            <a:r>
              <a:rPr lang="en-US" altLang="zh-CN" dirty="0" smtClean="0"/>
              <a:t>2</a:t>
            </a:r>
            <a:r>
              <a:rPr lang="zh-CN" altLang="en-US" dirty="0" smtClean="0"/>
              <a:t>）的特征层。</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2997555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池化层对原始特征层的信息进行压缩，当输入数据发生微小偏差的时候，池化层的计算仍然会返回相同的结果，因此池化层对数据发生的微小偏差具有一定的鲁棒性。此外，相同卷积核情况下，对池化后的特征图进行特征提取可以获取更多的信息。综合来看，池化层是卷积神经网络中很重要的一步，我们将会看到在绝大多数情况下，卷积层、池化层、激活层三者像一个整体一样共同出现，三者结合使用提取不同维度的特征。</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6690505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传统神经网络中相邻层的所有神经元之间都是相互连接的，所以也将相邻层称为全连接层。卷积神经网络中，全连接层起到分类的作用，通常不止一层，位于神经网络末端。它包含权重向量</a:t>
            </a:r>
            <a:r>
              <a:rPr lang="en-US" altLang="zh-CN" dirty="0" smtClean="0"/>
              <a:t>W</a:t>
            </a:r>
            <a:r>
              <a:rPr lang="zh-CN" altLang="en-US" dirty="0" smtClean="0"/>
              <a:t>和激活函数，将最后一次卷积层的特征图拉伸展开为一维向量作为输入。具体来说，如果一张图像经过卷积池化最终的特征图大小为</a:t>
            </a:r>
            <a:r>
              <a:rPr lang="en-US" altLang="zh-CN" dirty="0" smtClean="0"/>
              <a:t>32×32×3</a:t>
            </a:r>
            <a:r>
              <a:rPr lang="zh-CN" altLang="en-US" dirty="0" smtClean="0"/>
              <a:t>（宽和高均为</a:t>
            </a:r>
            <a:r>
              <a:rPr lang="en-US" altLang="zh-CN" dirty="0" smtClean="0"/>
              <a:t>32</a:t>
            </a:r>
            <a:r>
              <a:rPr lang="zh-CN" altLang="en-US" dirty="0" smtClean="0"/>
              <a:t>个像素，有</a:t>
            </a:r>
            <a:r>
              <a:rPr lang="en-US" altLang="zh-CN" dirty="0" smtClean="0"/>
              <a:t>3</a:t>
            </a:r>
            <a:r>
              <a:rPr lang="zh-CN" altLang="en-US" dirty="0" smtClean="0"/>
              <a:t>个</a:t>
            </a:r>
            <a:r>
              <a:rPr lang="en-US" altLang="zh-CN" dirty="0" smtClean="0"/>
              <a:t>RGB</a:t>
            </a:r>
            <a:r>
              <a:rPr lang="zh-CN" altLang="en-US" dirty="0" smtClean="0"/>
              <a:t>通道，可以理解为一个</a:t>
            </a:r>
            <a:r>
              <a:rPr lang="en-US" altLang="zh-CN" dirty="0" smtClean="0"/>
              <a:t>32×32×3</a:t>
            </a:r>
            <a:r>
              <a:rPr lang="zh-CN" altLang="en-US" dirty="0" smtClean="0"/>
              <a:t>的矩阵）要通过全连接层，首先要将其拉伸为</a:t>
            </a:r>
            <a:r>
              <a:rPr lang="en-US" altLang="zh-CN" dirty="0" smtClean="0"/>
              <a:t>3072×1</a:t>
            </a:r>
            <a:r>
              <a:rPr lang="zh-CN" altLang="en-US" dirty="0" smtClean="0"/>
              <a:t>的向量，作为神经网络隐藏层的输入，然后对该向量与权重向量</a:t>
            </a:r>
            <a:r>
              <a:rPr lang="en-US" altLang="zh-CN" dirty="0" smtClean="0"/>
              <a:t>W</a:t>
            </a:r>
            <a:r>
              <a:rPr lang="zh-CN" altLang="en-US" dirty="0" smtClean="0"/>
              <a:t>做点乘操作，将点乘后的结果作为激活函数（如</a:t>
            </a:r>
            <a:r>
              <a:rPr lang="en-US" altLang="zh-CN" dirty="0" smtClean="0"/>
              <a:t>Sigmoid</a:t>
            </a:r>
            <a:r>
              <a:rPr lang="zh-CN" altLang="en-US" dirty="0" smtClean="0"/>
              <a:t>或</a:t>
            </a:r>
            <a:r>
              <a:rPr lang="en-US" altLang="zh-CN" dirty="0" err="1" smtClean="0"/>
              <a:t>ReLU</a:t>
            </a:r>
            <a:r>
              <a:rPr lang="zh-CN" altLang="en-US" dirty="0" smtClean="0"/>
              <a:t>）的输入，最后激活函数输出的结果便是全连接层的最终结果。其中圆圈的值表示所有</a:t>
            </a:r>
            <a:r>
              <a:rPr lang="en-US" altLang="zh-CN" dirty="0" smtClean="0"/>
              <a:t>3072</a:t>
            </a:r>
            <a:r>
              <a:rPr lang="zh-CN" altLang="en-US" dirty="0" smtClean="0"/>
              <a:t>个输入和</a:t>
            </a:r>
            <a:r>
              <a:rPr lang="en-US" altLang="zh-CN" dirty="0" smtClean="0"/>
              <a:t>10</a:t>
            </a:r>
            <a:r>
              <a:rPr lang="zh-CN" altLang="en-US" dirty="0" smtClean="0"/>
              <a:t>维权重向量</a:t>
            </a:r>
            <a:r>
              <a:rPr lang="en-US" altLang="zh-CN" dirty="0" smtClean="0"/>
              <a:t>W</a:t>
            </a:r>
            <a:r>
              <a:rPr lang="zh-CN" altLang="en-US" dirty="0" smtClean="0"/>
              <a:t>点乘的结果。可以看作输入是（</a:t>
            </a:r>
            <a:r>
              <a:rPr lang="en-US" altLang="zh-CN" dirty="0" smtClean="0"/>
              <a:t>1</a:t>
            </a:r>
            <a:r>
              <a:rPr lang="zh-CN" altLang="en-US" dirty="0" smtClean="0"/>
              <a:t>，</a:t>
            </a:r>
            <a:r>
              <a:rPr lang="en-US" altLang="zh-CN" dirty="0" smtClean="0"/>
              <a:t>m</a:t>
            </a:r>
            <a:r>
              <a:rPr lang="zh-CN" altLang="en-US" dirty="0" smtClean="0"/>
              <a:t>）的向量，权重向量</a:t>
            </a:r>
            <a:r>
              <a:rPr lang="en-US" altLang="zh-CN" dirty="0" smtClean="0"/>
              <a:t>W</a:t>
            </a:r>
            <a:r>
              <a:rPr lang="zh-CN" altLang="en-US" dirty="0" smtClean="0"/>
              <a:t>是（</a:t>
            </a:r>
            <a:r>
              <a:rPr lang="en-US" altLang="zh-CN" dirty="0" smtClean="0"/>
              <a:t>m</a:t>
            </a:r>
            <a:r>
              <a:rPr lang="zh-CN" altLang="en-US" dirty="0" smtClean="0"/>
              <a:t>，</a:t>
            </a:r>
            <a:r>
              <a:rPr lang="en-US" altLang="zh-CN" dirty="0" smtClean="0"/>
              <a:t>n</a:t>
            </a:r>
            <a:r>
              <a:rPr lang="zh-CN" altLang="en-US" dirty="0" smtClean="0"/>
              <a:t>）大小的矩阵，输出结果是（</a:t>
            </a:r>
            <a:r>
              <a:rPr lang="en-US" altLang="zh-CN" dirty="0" smtClean="0"/>
              <a:t>1</a:t>
            </a:r>
            <a:r>
              <a:rPr lang="zh-CN" altLang="en-US" dirty="0" smtClean="0"/>
              <a:t>，</a:t>
            </a:r>
            <a:r>
              <a:rPr lang="en-US" altLang="zh-CN" dirty="0" smtClean="0"/>
              <a:t>n</a:t>
            </a:r>
            <a:r>
              <a:rPr lang="zh-CN" altLang="en-US" dirty="0" smtClean="0"/>
              <a:t>）的向量。</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936312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简单来说，</a:t>
            </a:r>
            <a:r>
              <a:rPr lang="zh-CN" altLang="en-US" sz="1200" b="0" i="0" kern="1200" dirty="0" smtClean="0">
                <a:solidFill>
                  <a:schemeClr val="tx1"/>
                </a:solidFill>
                <a:effectLst/>
                <a:latin typeface="+mn-lt"/>
                <a:ea typeface="+mn-ea"/>
                <a:cs typeface="+mn-cs"/>
              </a:rPr>
              <a:t>全连接常用于对前面设计的特征做加权和。前面的卷积和池化相当于做特征工程，后面的全连接相当于做特征加权。一般使用</a:t>
            </a:r>
            <a:r>
              <a:rPr lang="en-US" altLang="zh-CN" sz="1200" b="0" i="0" kern="1200" dirty="0" err="1" smtClean="0">
                <a:solidFill>
                  <a:schemeClr val="tx1"/>
                </a:solidFill>
                <a:effectLst/>
                <a:latin typeface="+mn-lt"/>
                <a:ea typeface="+mn-ea"/>
                <a:cs typeface="+mn-cs"/>
              </a:rPr>
              <a:t>ReLU</a:t>
            </a:r>
            <a:r>
              <a:rPr lang="zh-CN" altLang="en-US" sz="1200" b="0" i="0" kern="1200" dirty="0" smtClean="0">
                <a:solidFill>
                  <a:schemeClr val="tx1"/>
                </a:solidFill>
                <a:effectLst/>
                <a:latin typeface="+mn-lt"/>
                <a:ea typeface="+mn-ea"/>
                <a:cs typeface="+mn-cs"/>
              </a:rPr>
              <a:t>激活函数，最后一层全连接层一般使用</a:t>
            </a:r>
            <a:r>
              <a:rPr lang="en-US" altLang="zh-CN" sz="1200" b="0" i="0" kern="1200" dirty="0" err="1" smtClean="0">
                <a:solidFill>
                  <a:schemeClr val="tx1"/>
                </a:solidFill>
                <a:effectLst/>
                <a:latin typeface="+mn-lt"/>
                <a:ea typeface="+mn-ea"/>
                <a:cs typeface="+mn-cs"/>
              </a:rPr>
              <a:t>softmax</a:t>
            </a:r>
            <a:r>
              <a:rPr lang="zh-CN" altLang="en-US" sz="1200" b="0" i="0" kern="1200" dirty="0" smtClean="0">
                <a:solidFill>
                  <a:schemeClr val="tx1"/>
                </a:solidFill>
                <a:effectLst/>
                <a:latin typeface="+mn-lt"/>
                <a:ea typeface="+mn-ea"/>
                <a:cs typeface="+mn-cs"/>
              </a:rPr>
              <a:t>进行分类。</a:t>
            </a:r>
            <a:r>
              <a:rPr lang="en-US" altLang="zh-CN" b="0" dirty="0" err="1" smtClean="0"/>
              <a:t>Softmax</a:t>
            </a:r>
            <a:r>
              <a:rPr lang="zh-CN" altLang="en-US" b="0" dirty="0" smtClean="0"/>
              <a:t>函数可以将各类预测值映射成为</a:t>
            </a:r>
            <a:r>
              <a:rPr lang="en-US" altLang="zh-CN" b="0" dirty="0" smtClean="0"/>
              <a:t>(0,1)</a:t>
            </a:r>
            <a:r>
              <a:rPr lang="zh-CN" altLang="en-US" b="0" dirty="0" smtClean="0"/>
              <a:t>的值，而这些值的累和为</a:t>
            </a:r>
            <a:r>
              <a:rPr lang="en-US" altLang="zh-CN" b="0" dirty="0" smtClean="0"/>
              <a:t>1</a:t>
            </a:r>
            <a:r>
              <a:rPr lang="zh-CN" altLang="en-US" b="0" dirty="0" smtClean="0"/>
              <a:t>（满足概率的性质），那么就可以将它理解成概率，在最后选取输出结点的时候，就可以选取概率最大（也就是值对应最大的）结点，作为我们的预测目标。</a:t>
            </a:r>
            <a:endParaRPr lang="en-US" altLang="zh-CN" sz="1200" b="0" i="0" kern="1200" dirty="0" smtClean="0">
              <a:solidFill>
                <a:schemeClr val="tx1"/>
              </a:solidFill>
              <a:effectLst/>
              <a:latin typeface="+mn-lt"/>
              <a:ea typeface="+mn-ea"/>
              <a:cs typeface="+mn-cs"/>
            </a:endParaRPr>
          </a:p>
          <a:p>
            <a:r>
              <a:rPr lang="zh-CN" altLang="en-US" dirty="0" smtClean="0"/>
              <a:t>右图例子中，原始图像是一张</a:t>
            </a:r>
            <a:r>
              <a:rPr lang="en-US" altLang="zh-CN" dirty="0" smtClean="0"/>
              <a:t>224*224*3</a:t>
            </a:r>
            <a:r>
              <a:rPr lang="zh-CN" altLang="en-US" dirty="0" smtClean="0"/>
              <a:t>的输入，经过卷积池化后最终得到</a:t>
            </a:r>
            <a:r>
              <a:rPr lang="en-US" altLang="zh-CN" dirty="0" smtClean="0"/>
              <a:t>7*7*512</a:t>
            </a:r>
            <a:r>
              <a:rPr lang="zh-CN" altLang="en-US" dirty="0" smtClean="0"/>
              <a:t>的特征图，拉伸后得到</a:t>
            </a:r>
            <a:r>
              <a:rPr lang="en-US" altLang="zh-CN" dirty="0" smtClean="0"/>
              <a:t>7*7*512=25088</a:t>
            </a:r>
            <a:r>
              <a:rPr lang="zh-CN" altLang="en-US" dirty="0" smtClean="0"/>
              <a:t>个参数，用了</a:t>
            </a:r>
            <a:r>
              <a:rPr lang="en-US" altLang="zh-CN" dirty="0" smtClean="0"/>
              <a:t>4096</a:t>
            </a:r>
            <a:r>
              <a:rPr lang="zh-CN" altLang="en-US" dirty="0" smtClean="0"/>
              <a:t>维权重向量，涉及的参数量为</a:t>
            </a:r>
            <a:r>
              <a:rPr lang="en-US" altLang="zh-CN" dirty="0" smtClean="0"/>
              <a:t>25088*4096</a:t>
            </a:r>
            <a:r>
              <a:rPr lang="zh-CN" altLang="en-US" dirty="0" smtClean="0"/>
              <a:t>。最后一层全连接层作为分类依据，</a:t>
            </a:r>
            <a:r>
              <a:rPr lang="en-US" altLang="zh-CN" dirty="0" smtClean="0"/>
              <a:t>1*1*1000</a:t>
            </a:r>
            <a:r>
              <a:rPr lang="zh-CN" altLang="en-US" dirty="0" smtClean="0"/>
              <a:t>意为可以针对</a:t>
            </a:r>
            <a:r>
              <a:rPr lang="en-US" altLang="zh-CN" dirty="0" smtClean="0"/>
              <a:t>1000</a:t>
            </a:r>
            <a:r>
              <a:rPr lang="zh-CN" altLang="en-US" dirty="0" smtClean="0"/>
              <a:t>种物体进行分类。</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305373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在步长与填充总结中的一般情况已经提及了三维数据的卷积运算，在这里更为系统的讲解一遍。</a:t>
            </a:r>
            <a:endParaRPr lang="en-US" altLang="zh-CN" dirty="0" smtClean="0"/>
          </a:p>
          <a:p>
            <a:r>
              <a:rPr lang="zh-CN" altLang="en-US" dirty="0" smtClean="0"/>
              <a:t>通道方向有多个卷积核的时候，会按通道进行输入特征图和卷积核的卷积运算，并将结果相加，从而得到输出结果。（需要注意的是，在三维数据的卷积运算中，输入特征图和卷积核的通道数必须保持一致，即均为</a:t>
            </a:r>
            <a:r>
              <a:rPr lang="en-US" altLang="zh-CN" dirty="0" smtClean="0"/>
              <a:t>3</a:t>
            </a:r>
            <a:r>
              <a:rPr lang="zh-CN" altLang="en-US" dirty="0" smtClean="0"/>
              <a:t>，通道的卷积核尺寸可以设置为任意值，但是同一个通道内的卷积核尺寸必须保持一致）。可以看到，使用一个尺寸为</a:t>
            </a:r>
            <a:r>
              <a:rPr lang="en-US" altLang="zh-CN" dirty="0" smtClean="0"/>
              <a:t>3*3</a:t>
            </a:r>
            <a:r>
              <a:rPr lang="zh-CN" altLang="en-US" dirty="0" smtClean="0"/>
              <a:t>通道数为</a:t>
            </a:r>
            <a:r>
              <a:rPr lang="en-US" altLang="zh-CN" dirty="0" smtClean="0"/>
              <a:t>3</a:t>
            </a:r>
            <a:r>
              <a:rPr lang="zh-CN" altLang="en-US" dirty="0" smtClean="0"/>
              <a:t>的卷积核，输出结果是尺寸为</a:t>
            </a:r>
            <a:r>
              <a:rPr lang="en-US" altLang="zh-CN" dirty="0" smtClean="0"/>
              <a:t>4*4</a:t>
            </a:r>
            <a:r>
              <a:rPr lang="zh-CN" altLang="en-US" dirty="0" smtClean="0"/>
              <a:t>的一维图。</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2706714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通过应用</a:t>
            </a:r>
            <a:r>
              <a:rPr lang="en-US" altLang="zh-CN" dirty="0" smtClean="0"/>
              <a:t>N</a:t>
            </a:r>
            <a:r>
              <a:rPr lang="zh-CN" altLang="en-US" dirty="0" smtClean="0"/>
              <a:t>个卷积核（本例为</a:t>
            </a:r>
            <a:r>
              <a:rPr lang="en-US" altLang="zh-CN" dirty="0" smtClean="0"/>
              <a:t>2</a:t>
            </a:r>
            <a:r>
              <a:rPr lang="zh-CN" altLang="en-US" dirty="0" smtClean="0"/>
              <a:t>个），输出特征图也生成了</a:t>
            </a:r>
            <a:r>
              <a:rPr lang="en-US" altLang="zh-CN" dirty="0" smtClean="0"/>
              <a:t>N</a:t>
            </a:r>
            <a:r>
              <a:rPr lang="zh-CN" altLang="en-US" dirty="0" smtClean="0"/>
              <a:t>个。如果将</a:t>
            </a:r>
            <a:r>
              <a:rPr lang="en-US" altLang="zh-CN" dirty="0" smtClean="0"/>
              <a:t>N</a:t>
            </a:r>
            <a:r>
              <a:rPr lang="zh-CN" altLang="en-US" dirty="0" smtClean="0"/>
              <a:t>个输出特征图汇集在一起，就得到了尺寸为（</a:t>
            </a:r>
            <a:r>
              <a:rPr lang="en-US" altLang="zh-CN" dirty="0" smtClean="0"/>
              <a:t>N</a:t>
            </a:r>
            <a:r>
              <a:rPr lang="zh-CN" altLang="en-US" dirty="0" smtClean="0"/>
              <a:t>，</a:t>
            </a:r>
            <a:r>
              <a:rPr lang="en-US" altLang="zh-CN" dirty="0" smtClean="0"/>
              <a:t>H</a:t>
            </a:r>
            <a:r>
              <a:rPr lang="zh-CN" altLang="en-US" dirty="0" smtClean="0"/>
              <a:t>，</a:t>
            </a:r>
            <a:r>
              <a:rPr lang="en-US" altLang="zh-CN" dirty="0" smtClean="0"/>
              <a:t>W</a:t>
            </a:r>
            <a:r>
              <a:rPr lang="zh-CN" altLang="en-US" dirty="0" smtClean="0"/>
              <a:t>）的矩阵，将这个矩阵传给下一层网络就是</a:t>
            </a:r>
            <a:r>
              <a:rPr lang="en-US" altLang="zh-CN" dirty="0" smtClean="0"/>
              <a:t>CNN</a:t>
            </a:r>
            <a:r>
              <a:rPr lang="zh-CN" altLang="en-US" dirty="0" smtClean="0"/>
              <a:t>的处理流。最后矩阵的层数等于要检测的特征数，表示的是卷积核的个数，还可以添加很多层。每个通道只有一个偏置，这里偏置的尺寸是（</a:t>
            </a:r>
            <a:r>
              <a:rPr lang="en-US" altLang="zh-CN" dirty="0" smtClean="0"/>
              <a:t>N</a:t>
            </a:r>
            <a:r>
              <a:rPr lang="zh-CN" altLang="en-US" dirty="0" smtClean="0"/>
              <a:t>，</a:t>
            </a:r>
            <a:r>
              <a:rPr lang="en-US" altLang="zh-CN" dirty="0" smtClean="0"/>
              <a:t>1</a:t>
            </a:r>
            <a:r>
              <a:rPr lang="zh-CN" altLang="en-US" dirty="0" smtClean="0"/>
              <a:t>，</a:t>
            </a:r>
            <a:r>
              <a:rPr lang="en-US" altLang="zh-CN" dirty="0" smtClean="0"/>
              <a:t>1</a:t>
            </a:r>
            <a:r>
              <a:rPr lang="zh-CN" altLang="en-US" dirty="0" smtClean="0"/>
              <a:t>），卷积核输出结果的尺寸是（</a:t>
            </a:r>
            <a:r>
              <a:rPr lang="en-US" altLang="zh-CN" dirty="0" smtClean="0"/>
              <a:t>N</a:t>
            </a:r>
            <a:r>
              <a:rPr lang="zh-CN" altLang="en-US" dirty="0" smtClean="0"/>
              <a:t>，</a:t>
            </a:r>
            <a:r>
              <a:rPr lang="en-US" altLang="zh-CN" dirty="0" smtClean="0"/>
              <a:t>H</a:t>
            </a:r>
            <a:r>
              <a:rPr lang="zh-CN" altLang="en-US" dirty="0" smtClean="0"/>
              <a:t>，</a:t>
            </a:r>
            <a:r>
              <a:rPr lang="en-US" altLang="zh-CN" dirty="0" smtClean="0"/>
              <a:t>W</a:t>
            </a:r>
            <a:r>
              <a:rPr lang="zh-CN" altLang="en-US" dirty="0" smtClean="0"/>
              <a:t>），这两个方块相加的时候，要对卷积核的输出结果（</a:t>
            </a:r>
            <a:r>
              <a:rPr lang="en-US" altLang="zh-CN" dirty="0" smtClean="0"/>
              <a:t>N</a:t>
            </a:r>
            <a:r>
              <a:rPr lang="zh-CN" altLang="en-US" dirty="0" smtClean="0"/>
              <a:t>，</a:t>
            </a:r>
            <a:r>
              <a:rPr lang="en-US" altLang="zh-CN" dirty="0" smtClean="0"/>
              <a:t>H</a:t>
            </a:r>
            <a:r>
              <a:rPr lang="zh-CN" altLang="en-US" dirty="0" smtClean="0"/>
              <a:t>，</a:t>
            </a:r>
            <a:r>
              <a:rPr lang="en-US" altLang="zh-CN" dirty="0" smtClean="0"/>
              <a:t>W</a:t>
            </a:r>
            <a:r>
              <a:rPr lang="zh-CN" altLang="en-US" dirty="0" smtClean="0"/>
              <a:t>）加上与通道数相同的偏置值，最后得到输出特征图（</a:t>
            </a:r>
            <a:r>
              <a:rPr lang="en-US" altLang="zh-CN" dirty="0" smtClean="0"/>
              <a:t>N</a:t>
            </a:r>
            <a:r>
              <a:rPr lang="zh-CN" altLang="en-US" dirty="0" smtClean="0"/>
              <a:t>，</a:t>
            </a:r>
            <a:r>
              <a:rPr lang="en-US" altLang="zh-CN" dirty="0" smtClean="0"/>
              <a:t>H</a:t>
            </a:r>
            <a:r>
              <a:rPr lang="zh-CN" altLang="en-US" dirty="0" smtClean="0"/>
              <a:t>，</a:t>
            </a:r>
            <a:r>
              <a:rPr lang="en-US" altLang="zh-CN" dirty="0" smtClean="0"/>
              <a:t>W</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300389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批规范化层是</a:t>
            </a:r>
            <a:r>
              <a:rPr lang="en-US" altLang="zh-CN" dirty="0" smtClean="0"/>
              <a:t>2015</a:t>
            </a:r>
            <a:r>
              <a:rPr lang="zh-CN" altLang="en-US" dirty="0" smtClean="0"/>
              <a:t>年</a:t>
            </a:r>
            <a:r>
              <a:rPr lang="en-US" altLang="zh-CN" dirty="0" err="1" smtClean="0"/>
              <a:t>Ioffe</a:t>
            </a:r>
            <a:r>
              <a:rPr lang="zh-CN" altLang="en-US" dirty="0" smtClean="0"/>
              <a:t>和</a:t>
            </a:r>
            <a:r>
              <a:rPr lang="en-US" altLang="zh-CN" dirty="0" err="1" smtClean="0"/>
              <a:t>Szegedy</a:t>
            </a:r>
            <a:r>
              <a:rPr lang="zh-CN" altLang="en-US" dirty="0" smtClean="0"/>
              <a:t>等人提出的想法，目标是加速神经网络的收敛过程，提高训练过程中的稳定性。深度学习的训练过程始终需要精心调试，比如设置初始化参数、使用较小的学习率等。批规范化层在后面很多实验中被证明非常有效。如图所示，当没有进行数据批规范化处理时，数据的分布是任意的，那么就会有大量数据处在激活函数的敏感区域外，而如果进行了数据批规范化处理，相对来说数据的分布就比较均衡了。</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176331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了解了批规范化的基本思想之后，我们再来了解批规范化的具体处理流程。在用卷积神经网络处理图像数据时，往往是几张图像同时输入网络中进行前向计算，误差也是该批次中所有图像的误差累计起来一起回传。批规范化方法其实就是对一个批次中的数据进行如下归一化处理。</a:t>
                </a:r>
                <a:endParaRPr lang="en-US" altLang="zh-CN" dirty="0" smtClean="0"/>
              </a:p>
              <a:p>
                <a:r>
                  <a:rPr lang="zh-CN" altLang="en-US" dirty="0" smtClean="0"/>
                  <a:t>第</a:t>
                </a:r>
                <a:r>
                  <a:rPr lang="en-US" altLang="zh-CN" dirty="0" smtClean="0"/>
                  <a:t>1</a:t>
                </a:r>
                <a:r>
                  <a:rPr lang="zh-CN" altLang="en-US" dirty="0" smtClean="0"/>
                  <a:t>步，获得一个小批次的输入</a:t>
                </a:r>
                <a:r>
                  <a:rPr lang="en-US" altLang="zh-CN" dirty="0" smtClean="0"/>
                  <a:t>β={x1</a:t>
                </a:r>
                <a:r>
                  <a:rPr lang="zh-CN" altLang="en-US" dirty="0" smtClean="0"/>
                  <a:t>，</a:t>
                </a:r>
                <a:r>
                  <a:rPr lang="en-US" altLang="zh-CN" dirty="0" smtClean="0"/>
                  <a:t>…</a:t>
                </a:r>
                <a:r>
                  <a:rPr lang="zh-CN" altLang="en-US" dirty="0" smtClean="0"/>
                  <a:t>，</a:t>
                </a:r>
                <a:r>
                  <a:rPr lang="en-US" altLang="zh-CN" dirty="0" err="1" smtClean="0"/>
                  <a:t>xm</a:t>
                </a:r>
                <a:r>
                  <a:rPr lang="en-US" altLang="zh-CN" dirty="0" smtClean="0"/>
                  <a:t>}</a:t>
                </a:r>
                <a:r>
                  <a:rPr lang="zh-CN" altLang="en-US" dirty="0" smtClean="0"/>
                  <a:t>。可以看出批次大小就是</a:t>
                </a:r>
                <a:r>
                  <a:rPr lang="en-US" altLang="zh-CN" dirty="0" smtClean="0"/>
                  <a:t>m</a:t>
                </a:r>
                <a:r>
                  <a:rPr lang="zh-CN" altLang="en-US" dirty="0" smtClean="0"/>
                  <a:t>。第</a:t>
                </a:r>
                <a:r>
                  <a:rPr lang="en-US" altLang="zh-CN" dirty="0" smtClean="0"/>
                  <a:t>2</a:t>
                </a:r>
                <a:r>
                  <a:rPr lang="zh-CN" altLang="en-US" dirty="0" smtClean="0"/>
                  <a:t>步，求这个批次的均值</a:t>
                </a:r>
                <a:r>
                  <a:rPr lang="en-US" altLang="zh-CN" dirty="0" smtClean="0"/>
                  <a:t>μ</a:t>
                </a:r>
                <a:r>
                  <a:rPr lang="zh-CN" altLang="en-US" dirty="0" smtClean="0"/>
                  <a:t>和方差</a:t>
                </a:r>
                <a:r>
                  <a:rPr lang="en-US" altLang="zh-CN" dirty="0" smtClean="0"/>
                  <a:t>σ</a:t>
                </a:r>
                <a:r>
                  <a:rPr lang="zh-CN" altLang="en-US" dirty="0" smtClean="0"/>
                  <a:t>。第</a:t>
                </a:r>
                <a:r>
                  <a:rPr lang="en-US" altLang="zh-CN" dirty="0" smtClean="0"/>
                  <a:t>3</a:t>
                </a:r>
                <a:r>
                  <a:rPr lang="zh-CN" altLang="en-US" dirty="0" smtClean="0"/>
                  <a:t>步，对所有</a:t>
                </a:r>
                <a:r>
                  <a:rPr lang="en-US" altLang="zh-CN" dirty="0" smtClean="0"/>
                  <a:t>xi</a:t>
                </a:r>
                <a:r>
                  <a:rPr lang="zh-CN" altLang="en-US" dirty="0" smtClean="0"/>
                  <a:t>进行标准化处理，得到</a:t>
                </a:r>
                <a14:m>
                  <m:oMath xmlns:m="http://schemas.openxmlformats.org/officeDocument/2006/math">
                    <m:acc>
                      <m:accPr>
                        <m:chr m:val="̂"/>
                        <m:ctrlPr>
                          <a:rPr lang="zh-CN" altLang="en-US" i="1" smtClean="0">
                            <a:latin typeface="Cambria Math" panose="02040503050406030204" pitchFamily="18" charset="0"/>
                          </a:rPr>
                        </m:ctrlPr>
                      </m:accPr>
                      <m:e>
                        <m:r>
                          <m:rPr>
                            <m:sty m:val="p"/>
                          </m:rPr>
                          <a:rPr lang="en-US" altLang="zh-CN" i="1">
                            <a:latin typeface="Cambria Math" panose="02040503050406030204" pitchFamily="18" charset="0"/>
                          </a:rPr>
                          <m:t>x</m:t>
                        </m:r>
                        <m:r>
                          <a:rPr lang="en-US" altLang="zh-CN" b="0" i="1" baseline="-25000" smtClean="0">
                            <a:latin typeface="Cambria Math" panose="02040503050406030204" pitchFamily="18" charset="0"/>
                          </a:rPr>
                          <m:t>𝑖</m:t>
                        </m:r>
                      </m:e>
                    </m:acc>
                  </m:oMath>
                </a14:m>
                <a:r>
                  <a:rPr lang="zh-CN" altLang="en-US" dirty="0" smtClean="0"/>
                  <a:t>（</a:t>
                </a:r>
                <a:r>
                  <a:rPr lang="en-US" altLang="zh-CN" dirty="0" smtClean="0"/>
                  <a:t>xi hat</a:t>
                </a:r>
                <a:r>
                  <a:rPr lang="zh-CN" altLang="en-US" dirty="0" smtClean="0"/>
                  <a:t>）。这里的</a:t>
                </a:r>
                <a:r>
                  <a:rPr lang="en-US" altLang="zh-CN" dirty="0" smtClean="0"/>
                  <a:t>ε</a:t>
                </a:r>
                <a:r>
                  <a:rPr lang="zh-CN" altLang="en-US" dirty="0" smtClean="0"/>
                  <a:t>是一个很小的数，用于避免因分母等于</a:t>
                </a:r>
                <a:r>
                  <a:rPr lang="en-US" altLang="zh-CN" dirty="0" smtClean="0"/>
                  <a:t>0</a:t>
                </a:r>
                <a:r>
                  <a:rPr lang="zh-CN" altLang="en-US" dirty="0" smtClean="0"/>
                  <a:t>带来的系统错误。第</a:t>
                </a:r>
                <a:r>
                  <a:rPr lang="en-US" altLang="zh-CN" dirty="0" smtClean="0"/>
                  <a:t>4</a:t>
                </a:r>
                <a:r>
                  <a:rPr lang="zh-CN" altLang="en-US" dirty="0" smtClean="0"/>
                  <a:t>步，对</a:t>
                </a:r>
                <a14:m>
                  <m:oMath xmlns:m="http://schemas.openxmlformats.org/officeDocument/2006/math">
                    <m:acc>
                      <m:accPr>
                        <m:chr m:val="̂"/>
                        <m:ctrlPr>
                          <a:rPr lang="zh-CN" altLang="en-US" i="1" smtClean="0">
                            <a:latin typeface="Cambria Math" panose="02040503050406030204" pitchFamily="18" charset="0"/>
                          </a:rPr>
                        </m:ctrlPr>
                      </m:accPr>
                      <m:e>
                        <m:r>
                          <m:rPr>
                            <m:sty m:val="p"/>
                          </m:rPr>
                          <a:rPr lang="en-US" altLang="zh-CN" i="1">
                            <a:latin typeface="Cambria Math" panose="02040503050406030204" pitchFamily="18" charset="0"/>
                          </a:rPr>
                          <m:t>x</m:t>
                        </m:r>
                        <m:r>
                          <a:rPr lang="en-US" altLang="zh-CN" b="0" i="1" baseline="-25000" smtClean="0">
                            <a:latin typeface="Cambria Math" panose="02040503050406030204" pitchFamily="18" charset="0"/>
                          </a:rPr>
                          <m:t>𝑖</m:t>
                        </m:r>
                      </m:e>
                    </m:acc>
                  </m:oMath>
                </a14:m>
                <a:r>
                  <a:rPr lang="zh-CN" altLang="en-US" dirty="0" smtClean="0"/>
                  <a:t>（</a:t>
                </a:r>
                <a:r>
                  <a:rPr lang="en-US" altLang="zh-CN" dirty="0" smtClean="0"/>
                  <a:t>xi hat</a:t>
                </a:r>
                <a:r>
                  <a:rPr lang="zh-CN" altLang="en-US" dirty="0" smtClean="0"/>
                  <a:t>）做线性变换，得到输出</a:t>
                </a:r>
                <a:r>
                  <a:rPr lang="en-US" altLang="zh-CN" dirty="0" err="1" smtClean="0"/>
                  <a:t>yi</a:t>
                </a:r>
                <a:r>
                  <a:rPr lang="zh-CN" altLang="en-US" dirty="0" smtClean="0"/>
                  <a:t>。在第</a:t>
                </a:r>
                <a:r>
                  <a:rPr lang="en-US" altLang="zh-CN" dirty="0" smtClean="0"/>
                  <a:t>4</a:t>
                </a:r>
                <a:r>
                  <a:rPr lang="zh-CN" altLang="en-US" dirty="0" smtClean="0"/>
                  <a:t>步中，</a:t>
                </a:r>
                <a:r>
                  <a:rPr lang="en-US" altLang="zh-CN" dirty="0" smtClean="0"/>
                  <a:t>γ</a:t>
                </a:r>
                <a:r>
                  <a:rPr lang="zh-CN" altLang="en-US" dirty="0" smtClean="0"/>
                  <a:t>和</a:t>
                </a:r>
                <a:r>
                  <a:rPr lang="en-US" altLang="zh-CN" dirty="0" smtClean="0"/>
                  <a:t>β</a:t>
                </a:r>
                <a:r>
                  <a:rPr lang="zh-CN" altLang="en-US" dirty="0" smtClean="0"/>
                  <a:t>是可学习的。我们获得一个关于</a:t>
                </a:r>
                <a:r>
                  <a:rPr lang="en-US" altLang="zh-CN" dirty="0" smtClean="0"/>
                  <a:t>y</a:t>
                </a:r>
                <a:r>
                  <a:rPr lang="zh-CN" altLang="en-US" dirty="0" smtClean="0"/>
                  <a:t>轴对称的分布真的是最符合神经网络训练的吗？没有任何证据能证明这点。事实上，</a:t>
                </a:r>
                <a:r>
                  <a:rPr lang="en-US" altLang="zh-CN" dirty="0" smtClean="0"/>
                  <a:t>γ</a:t>
                </a:r>
                <a:r>
                  <a:rPr lang="zh-CN" altLang="en-US" dirty="0" smtClean="0"/>
                  <a:t>和</a:t>
                </a:r>
                <a:r>
                  <a:rPr lang="en-US" altLang="zh-CN" dirty="0" smtClean="0"/>
                  <a:t>β</a:t>
                </a:r>
                <a:r>
                  <a:rPr lang="zh-CN" altLang="en-US" dirty="0" smtClean="0"/>
                  <a:t>为输出的线性调整参数，可以让分布曲线压缩或延长一点，上移或下移一点。由于</a:t>
                </a:r>
                <a:r>
                  <a:rPr lang="en-US" altLang="zh-CN" dirty="0" smtClean="0"/>
                  <a:t>γ</a:t>
                </a:r>
                <a:r>
                  <a:rPr lang="zh-CN" altLang="en-US" dirty="0" smtClean="0"/>
                  <a:t>和</a:t>
                </a:r>
                <a:r>
                  <a:rPr lang="en-US" altLang="zh-CN" dirty="0" smtClean="0"/>
                  <a:t>β</a:t>
                </a:r>
                <a:r>
                  <a:rPr lang="zh-CN" altLang="en-US" dirty="0" smtClean="0"/>
                  <a:t>是可训练的，意味着神经网络会随着训练过程自己挑选一个最适合的分布。如果我们固执地不用</a:t>
                </a:r>
                <a:r>
                  <a:rPr lang="en-US" altLang="zh-CN" dirty="0" smtClean="0"/>
                  <a:t>γ</a:t>
                </a:r>
                <a:r>
                  <a:rPr lang="zh-CN" altLang="en-US" dirty="0" smtClean="0"/>
                  <a:t>和</a:t>
                </a:r>
                <a:r>
                  <a:rPr lang="en-US" altLang="zh-CN" dirty="0" smtClean="0"/>
                  <a:t>β</a:t>
                </a:r>
                <a:r>
                  <a:rPr lang="zh-CN" altLang="en-US" dirty="0" smtClean="0"/>
                  <a:t>会怎么样呢？那势必会把压力转移到特征提取层，虽然最后的结果依然可观，但训练压力会很大：一边只需要训练两个数，另一边需要训练特征提取层来符合最优分布。显然前者的训练成本更低。</a:t>
                </a:r>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了解了批规范化的基本思想之后，我们再来了解批规范化的具体处理流程。在用卷积神经网络处理图像数据时，往往是几张图像同时输入网络中进行前向计算，误差也是该批次中所有图像的误差累计起来一起回传。批规范化方法其实就是对一个批次中的数据进行如下归一化处理</a:t>
                </a:r>
                <a:r>
                  <a:rPr lang="zh-CN" altLang="en-US" dirty="0" smtClean="0"/>
                  <a:t>。</a:t>
                </a:r>
                <a:endParaRPr lang="en-US" altLang="zh-CN" dirty="0" smtClean="0"/>
              </a:p>
              <a:p>
                <a:r>
                  <a:rPr lang="zh-CN" altLang="en-US" dirty="0" smtClean="0"/>
                  <a:t>第</a:t>
                </a:r>
                <a:r>
                  <a:rPr lang="en-US" altLang="zh-CN" dirty="0" smtClean="0"/>
                  <a:t>1</a:t>
                </a:r>
                <a:r>
                  <a:rPr lang="zh-CN" altLang="en-US" dirty="0" smtClean="0"/>
                  <a:t>步，获得一个小批次的输入</a:t>
                </a:r>
                <a:r>
                  <a:rPr lang="en-US" altLang="zh-CN" dirty="0" smtClean="0"/>
                  <a:t>β={x1</a:t>
                </a:r>
                <a:r>
                  <a:rPr lang="zh-CN" altLang="en-US" dirty="0" smtClean="0"/>
                  <a:t>，</a:t>
                </a:r>
                <a:r>
                  <a:rPr lang="en-US" altLang="zh-CN" dirty="0" smtClean="0"/>
                  <a:t>…</a:t>
                </a:r>
                <a:r>
                  <a:rPr lang="zh-CN" altLang="en-US" dirty="0" smtClean="0"/>
                  <a:t>，</a:t>
                </a:r>
                <a:r>
                  <a:rPr lang="en-US" altLang="zh-CN" dirty="0" err="1" smtClean="0"/>
                  <a:t>xm</a:t>
                </a:r>
                <a:r>
                  <a:rPr lang="en-US" altLang="zh-CN" dirty="0" smtClean="0"/>
                  <a:t>}</a:t>
                </a:r>
                <a:r>
                  <a:rPr lang="zh-CN" altLang="en-US" dirty="0" smtClean="0"/>
                  <a:t>。可以看出批次大小就是</a:t>
                </a:r>
                <a:r>
                  <a:rPr lang="en-US" altLang="zh-CN" dirty="0" smtClean="0"/>
                  <a:t>m</a:t>
                </a:r>
                <a:r>
                  <a:rPr lang="zh-CN" altLang="en-US" dirty="0" smtClean="0"/>
                  <a:t>。第</a:t>
                </a:r>
                <a:r>
                  <a:rPr lang="en-US" altLang="zh-CN" dirty="0" smtClean="0"/>
                  <a:t>2</a:t>
                </a:r>
                <a:r>
                  <a:rPr lang="zh-CN" altLang="en-US" dirty="0" smtClean="0"/>
                  <a:t>步，求这个批次的均值</a:t>
                </a:r>
                <a:r>
                  <a:rPr lang="en-US" altLang="zh-CN" dirty="0" smtClean="0"/>
                  <a:t>μ</a:t>
                </a:r>
                <a:r>
                  <a:rPr lang="zh-CN" altLang="en-US" dirty="0" smtClean="0"/>
                  <a:t>和方差</a:t>
                </a:r>
                <a:r>
                  <a:rPr lang="en-US" altLang="zh-CN" dirty="0" smtClean="0"/>
                  <a:t>σ</a:t>
                </a:r>
                <a:r>
                  <a:rPr lang="zh-CN" altLang="en-US" dirty="0" smtClean="0"/>
                  <a:t>。第</a:t>
                </a:r>
                <a:r>
                  <a:rPr lang="en-US" altLang="zh-CN" dirty="0" smtClean="0"/>
                  <a:t>3</a:t>
                </a:r>
                <a:r>
                  <a:rPr lang="zh-CN" altLang="en-US" dirty="0" smtClean="0"/>
                  <a:t>步，对所有</a:t>
                </a:r>
                <a:r>
                  <a:rPr lang="en-US" altLang="zh-CN" dirty="0" smtClean="0"/>
                  <a:t>xi</a:t>
                </a:r>
                <a:r>
                  <a:rPr lang="zh-CN" altLang="en-US" dirty="0" smtClean="0"/>
                  <a:t>进行标准化处理，得到</a:t>
                </a:r>
                <a:r>
                  <a:rPr lang="zh-CN" altLang="en-US" i="0" smtClean="0">
                    <a:latin typeface="Cambria Math" panose="02040503050406030204" pitchFamily="18" charset="0"/>
                  </a:rPr>
                  <a:t>(</a:t>
                </a:r>
                <a:r>
                  <a:rPr lang="en-US" altLang="zh-CN" i="0">
                    <a:latin typeface="Cambria Math" panose="02040503050406030204" pitchFamily="18" charset="0"/>
                  </a:rPr>
                  <a:t>x</a:t>
                </a:r>
                <a:r>
                  <a:rPr lang="en-US" altLang="zh-CN" b="0" i="0" baseline="-25000" smtClean="0">
                    <a:latin typeface="Cambria Math" panose="02040503050406030204" pitchFamily="18" charset="0"/>
                  </a:rPr>
                  <a:t>𝑖</a:t>
                </a:r>
                <a:r>
                  <a:rPr lang="zh-CN" altLang="en-US" b="0" i="0" baseline="-25000" smtClean="0">
                    <a:latin typeface="Cambria Math" panose="02040503050406030204" pitchFamily="18" charset="0"/>
                  </a:rPr>
                  <a:t>) ̂</a:t>
                </a:r>
                <a:r>
                  <a:rPr lang="zh-CN" altLang="en-US" dirty="0" smtClean="0"/>
                  <a:t>（</a:t>
                </a:r>
                <a:r>
                  <a:rPr lang="en-US" altLang="zh-CN" dirty="0" smtClean="0"/>
                  <a:t>xi hat</a:t>
                </a:r>
                <a:r>
                  <a:rPr lang="zh-CN" altLang="en-US" dirty="0" smtClean="0"/>
                  <a:t>）。这里的</a:t>
                </a:r>
                <a:r>
                  <a:rPr lang="en-US" altLang="zh-CN" dirty="0" smtClean="0"/>
                  <a:t>ε</a:t>
                </a:r>
                <a:r>
                  <a:rPr lang="zh-CN" altLang="en-US" dirty="0" smtClean="0"/>
                  <a:t>是一个很小的数，用于避免因分母等于</a:t>
                </a:r>
                <a:r>
                  <a:rPr lang="en-US" altLang="zh-CN" dirty="0" smtClean="0"/>
                  <a:t>0</a:t>
                </a:r>
                <a:r>
                  <a:rPr lang="zh-CN" altLang="en-US" dirty="0" smtClean="0"/>
                  <a:t>带来的系统错误。第</a:t>
                </a:r>
                <a:r>
                  <a:rPr lang="en-US" altLang="zh-CN" dirty="0" smtClean="0"/>
                  <a:t>4</a:t>
                </a:r>
                <a:r>
                  <a:rPr lang="zh-CN" altLang="en-US" dirty="0" smtClean="0"/>
                  <a:t>步，对</a:t>
                </a:r>
                <a:r>
                  <a:rPr lang="zh-CN" altLang="en-US" i="0" smtClean="0">
                    <a:latin typeface="Cambria Math" panose="02040503050406030204" pitchFamily="18" charset="0"/>
                  </a:rPr>
                  <a:t>(</a:t>
                </a:r>
                <a:r>
                  <a:rPr lang="en-US" altLang="zh-CN" i="0">
                    <a:latin typeface="Cambria Math" panose="02040503050406030204" pitchFamily="18" charset="0"/>
                  </a:rPr>
                  <a:t>x</a:t>
                </a:r>
                <a:r>
                  <a:rPr lang="en-US" altLang="zh-CN" b="0" i="0" baseline="-25000" smtClean="0">
                    <a:latin typeface="Cambria Math" panose="02040503050406030204" pitchFamily="18" charset="0"/>
                  </a:rPr>
                  <a:t>𝑖</a:t>
                </a:r>
                <a:r>
                  <a:rPr lang="zh-CN" altLang="en-US" b="0" i="0" baseline="-25000" smtClean="0">
                    <a:latin typeface="Cambria Math" panose="02040503050406030204" pitchFamily="18" charset="0"/>
                  </a:rPr>
                  <a:t>) ̂</a:t>
                </a:r>
                <a:r>
                  <a:rPr lang="zh-CN" altLang="en-US" dirty="0" smtClean="0"/>
                  <a:t>（</a:t>
                </a:r>
                <a:r>
                  <a:rPr lang="en-US" altLang="zh-CN" dirty="0" smtClean="0"/>
                  <a:t>xi hat</a:t>
                </a:r>
                <a:r>
                  <a:rPr lang="zh-CN" altLang="en-US" dirty="0" smtClean="0"/>
                  <a:t>）</a:t>
                </a:r>
                <a:r>
                  <a:rPr lang="zh-CN" altLang="en-US" dirty="0" smtClean="0"/>
                  <a:t>做线性变换，得到输出</a:t>
                </a:r>
                <a:r>
                  <a:rPr lang="en-US" altLang="zh-CN" dirty="0" err="1" smtClean="0"/>
                  <a:t>yi</a:t>
                </a:r>
                <a:r>
                  <a:rPr lang="zh-CN" altLang="en-US" dirty="0" smtClean="0"/>
                  <a:t>。在第</a:t>
                </a:r>
                <a:r>
                  <a:rPr lang="en-US" altLang="zh-CN" dirty="0" smtClean="0"/>
                  <a:t>4</a:t>
                </a:r>
                <a:r>
                  <a:rPr lang="zh-CN" altLang="en-US" dirty="0" smtClean="0"/>
                  <a:t>步中，</a:t>
                </a:r>
                <a:r>
                  <a:rPr lang="en-US" altLang="zh-CN" dirty="0" smtClean="0"/>
                  <a:t>γ</a:t>
                </a:r>
                <a:r>
                  <a:rPr lang="zh-CN" altLang="en-US" dirty="0" smtClean="0"/>
                  <a:t>和</a:t>
                </a:r>
                <a:r>
                  <a:rPr lang="en-US" altLang="zh-CN" dirty="0" smtClean="0"/>
                  <a:t>β</a:t>
                </a:r>
                <a:r>
                  <a:rPr lang="zh-CN" altLang="en-US" dirty="0" smtClean="0"/>
                  <a:t>是可学习的。我们获得一个关于</a:t>
                </a:r>
                <a:r>
                  <a:rPr lang="en-US" altLang="zh-CN" dirty="0" smtClean="0"/>
                  <a:t>y</a:t>
                </a:r>
                <a:r>
                  <a:rPr lang="zh-CN" altLang="en-US" dirty="0" smtClean="0"/>
                  <a:t>轴对称的分布真的是最符合神经网络训练的吗？没有任何证据能证明这点。事实上，</a:t>
                </a:r>
                <a:r>
                  <a:rPr lang="en-US" altLang="zh-CN" dirty="0" smtClean="0"/>
                  <a:t>γ</a:t>
                </a:r>
                <a:r>
                  <a:rPr lang="zh-CN" altLang="en-US" dirty="0" smtClean="0"/>
                  <a:t>和</a:t>
                </a:r>
                <a:r>
                  <a:rPr lang="en-US" altLang="zh-CN" dirty="0" smtClean="0"/>
                  <a:t>β</a:t>
                </a:r>
                <a:r>
                  <a:rPr lang="zh-CN" altLang="en-US" dirty="0" smtClean="0"/>
                  <a:t>为输出的线性调整参数，可以让分布曲线压缩或延长一点，上移或下移一点。由于</a:t>
                </a:r>
                <a:r>
                  <a:rPr lang="en-US" altLang="zh-CN" dirty="0" smtClean="0"/>
                  <a:t>γ</a:t>
                </a:r>
                <a:r>
                  <a:rPr lang="zh-CN" altLang="en-US" dirty="0" smtClean="0"/>
                  <a:t>和</a:t>
                </a:r>
                <a:r>
                  <a:rPr lang="en-US" altLang="zh-CN" dirty="0" smtClean="0"/>
                  <a:t>β</a:t>
                </a:r>
                <a:r>
                  <a:rPr lang="zh-CN" altLang="en-US" dirty="0" smtClean="0"/>
                  <a:t>是可训练的，意味着神经网络会随着训练过程自己挑选一个最适合的分布。如果我们固执地不用</a:t>
                </a:r>
                <a:r>
                  <a:rPr lang="en-US" altLang="zh-CN" dirty="0" smtClean="0"/>
                  <a:t>γ</a:t>
                </a:r>
                <a:r>
                  <a:rPr lang="zh-CN" altLang="en-US" dirty="0" smtClean="0"/>
                  <a:t>和</a:t>
                </a:r>
                <a:r>
                  <a:rPr lang="en-US" altLang="zh-CN" dirty="0" smtClean="0"/>
                  <a:t>β</a:t>
                </a:r>
                <a:r>
                  <a:rPr lang="zh-CN" altLang="en-US" dirty="0" smtClean="0"/>
                  <a:t>会怎么样呢？那势必会把压力转移到特征提取层，虽然最后的结果依然可观，但训练压力会很大：一边只需要训练两个数，另一边需要训练特征提取层来符合最优分布。显然前者的训练成本更低。</a:t>
                </a:r>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33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562232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批规范化处理通常用在卷积层之后，激活函数之前。虽然批规范化也不一定用在卷积层之后，但用在激活函数之前是必需的（这样才能发挥它的作用）。</a:t>
            </a:r>
            <a:endParaRPr lang="en-US" altLang="zh-CN" dirty="0" smtClean="0"/>
          </a:p>
          <a:p>
            <a:r>
              <a:rPr lang="zh-CN" altLang="en-US" dirty="0" smtClean="0"/>
              <a:t>批规范化处理会在训练过程中调整每层网络输出数据的分布，使其更合理地进入激活函数的作用区。激活函数的作用区是指原点附近的区域，梯度弥散率低、区分率高。</a:t>
            </a:r>
            <a:endParaRPr lang="en-US" altLang="zh-CN" dirty="0" smtClean="0"/>
          </a:p>
          <a:p>
            <a:r>
              <a:rPr lang="zh-CN" altLang="en-US" dirty="0" smtClean="0"/>
              <a:t>批规范化具有加速收敛的特点，这是因为不必训练神经网络适应数据的分布，所以减少了</a:t>
            </a:r>
            <a:r>
              <a:rPr lang="en-US" altLang="zh-CN" dirty="0" smtClean="0"/>
              <a:t>epoch</a:t>
            </a:r>
            <a:r>
              <a:rPr lang="zh-CN" altLang="en-US" dirty="0" smtClean="0"/>
              <a:t>轮数。批规范化完美地使用了激活函数对数据进行修剪，减少了梯度弥散。同时，学习率也可以大一点。</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960844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Dropout</a:t>
            </a:r>
            <a:r>
              <a:rPr lang="zh-CN" altLang="en-US" dirty="0" smtClean="0"/>
              <a:t>可以看作一种模型平均。所谓模型平均，顾名思义，就是把来自不同模型的估计或者预测通过一定的权重进行平均，在一些文献中也成为模型组合，一般包括组合估计和组合预测。</a:t>
            </a:r>
            <a:endParaRPr lang="en-US" altLang="zh-CN" dirty="0" smtClean="0"/>
          </a:p>
          <a:p>
            <a:r>
              <a:rPr lang="zh-CN" altLang="en-US" dirty="0" smtClean="0"/>
              <a:t>在机器学习模型中，如果模型的参数太多，而训练样本又太少，训练出来的模型很容易产生过拟合现象。在训练神经网络的时候经常会遇到过拟合的问题，具体表现在：模型在训练数据上损失函数较小，预测准确率较高，而在测试数据上损失函数较大，预测准确率较低。</a:t>
            </a:r>
            <a:endParaRPr lang="en-US" altLang="zh-CN" dirty="0" smtClean="0"/>
          </a:p>
          <a:p>
            <a:r>
              <a:rPr lang="zh-CN" altLang="en-US" dirty="0" smtClean="0"/>
              <a:t>过拟合是很多机器学习模型的通病。如果模型过拟合，那么得到的模型基本不能用。为了解决过拟合问题，一般会采用模型集成的方法，即训练多个模型进行组合。此时，又出现了训练模型的耗时问题，不仅训练多个模型很费时，测试多个模型也费时。</a:t>
            </a:r>
            <a:endParaRPr lang="en-US" altLang="zh-CN" dirty="0" smtClean="0"/>
          </a:p>
          <a:p>
            <a:r>
              <a:rPr lang="en-US" altLang="zh-CN" dirty="0" smtClean="0"/>
              <a:t>Dropout</a:t>
            </a:r>
            <a:r>
              <a:rPr lang="zh-CN" altLang="en-US" dirty="0" smtClean="0"/>
              <a:t>可以作为训练深度神经网络的一项秘密武器。在每次训练中，忽略一般特征检测器（让一般的隐层节点值为</a:t>
            </a:r>
            <a:r>
              <a:rPr lang="en-US" altLang="zh-CN" dirty="0" smtClean="0"/>
              <a:t>0</a:t>
            </a:r>
            <a:r>
              <a:rPr lang="zh-CN" altLang="en-US" dirty="0" smtClean="0"/>
              <a:t>），可以明显减少过拟合现象。这种方式可以减少特征检测器之间的相互作用。检测器之间的相互作用是指某些检测器只有依赖其他检测器才能发挥作用。</a:t>
            </a:r>
            <a:endParaRPr lang="en-US" altLang="zh-CN" dirty="0" smtClean="0"/>
          </a:p>
          <a:p>
            <a:r>
              <a:rPr lang="en-US" altLang="zh-CN" dirty="0" smtClean="0"/>
              <a:t>Dropout</a:t>
            </a:r>
            <a:r>
              <a:rPr lang="zh-CN" altLang="en-US" dirty="0" smtClean="0"/>
              <a:t>说简单一点就是在前向传播的时候，让某个神经元的激活值以一定的概率</a:t>
            </a:r>
            <a:r>
              <a:rPr lang="en-US" altLang="zh-CN" dirty="0" smtClean="0"/>
              <a:t>p</a:t>
            </a:r>
            <a:r>
              <a:rPr lang="zh-CN" altLang="en-US" dirty="0" smtClean="0"/>
              <a:t>（通常为</a:t>
            </a:r>
            <a:r>
              <a:rPr lang="en-US" altLang="zh-CN" dirty="0" smtClean="0"/>
              <a:t>0.5</a:t>
            </a:r>
            <a:r>
              <a:rPr lang="zh-CN" altLang="en-US" dirty="0" smtClean="0"/>
              <a:t>，即一般的神经元）停止工作，这样可以使模型的泛化性更强，因为它不太会依赖某些局部特征。</a:t>
            </a:r>
            <a:endParaRPr lang="en-US" altLang="zh-CN" dirty="0" smtClean="0"/>
          </a:p>
          <a:p>
            <a:r>
              <a:rPr lang="en-US" altLang="zh-CN" dirty="0" smtClean="0"/>
              <a:t>Dropout</a:t>
            </a:r>
            <a:r>
              <a:rPr lang="zh-CN" altLang="en-US" dirty="0" smtClean="0"/>
              <a:t>能体现不同模型的奥秘在于我们随机选择被忽略的隐层节点。在每个批次的训练过程中，因为每次随机忽略的隐层节点不同，所以每次训练的网络都是不一样的，每次训练都可以算作一个新的模型。此外，隐含节点都是以一定概率随机出现的，不能保证每两个隐含节点每次都同时出现，这样权值的更新不再依赖有固定关系的隐含节点的共同作用，避免了某些特征仅在特定特征下才有效果的情况。</a:t>
            </a:r>
            <a:endParaRPr lang="en-US" altLang="zh-CN" dirty="0" smtClean="0"/>
          </a:p>
          <a:p>
            <a:r>
              <a:rPr lang="en-US" altLang="zh-CN" dirty="0" smtClean="0"/>
              <a:t>Dropout</a:t>
            </a:r>
            <a:r>
              <a:rPr lang="zh-CN" altLang="en-US" dirty="0" smtClean="0"/>
              <a:t>是一个非常有效的神经网络模型平均方法，通过训练大量不同的网络，得到平均预测概率。不同的模型在不同的训练集上训练（每个批次的训练数据都是随机选择的），最后在每个模型上用相同的权重来融合。</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338899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卷积层作为特征提取的主要网络层，在网络的构建过程中应用最为广泛；批规范化层作为归一化层，经常与卷积层成对出现，能够有效加速模型的收敛，池化层作为降采样层，能够缩减特征图的维度、降低噪声；全连接层完成最终分类目标；应用在全连接层上的</a:t>
            </a:r>
            <a:r>
              <a:rPr lang="en-US" altLang="zh-CN" dirty="0" smtClean="0"/>
              <a:t>Dropout</a:t>
            </a:r>
            <a:r>
              <a:rPr lang="zh-CN" altLang="en-US" dirty="0" smtClean="0"/>
              <a:t>层用于避免过拟合。</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833627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下面将介绍目前常用的卷积神经网络结构，了解</a:t>
            </a:r>
            <a:r>
              <a:rPr lang="en-US" altLang="zh-CN" dirty="0" smtClean="0"/>
              <a:t>CNN</a:t>
            </a:r>
            <a:r>
              <a:rPr lang="zh-CN" altLang="en-US" dirty="0" smtClean="0"/>
              <a:t>的发展历程。尽管各种神经网络在细节的处理上略有不同，本质上网络结构是不变的。</a:t>
            </a:r>
            <a:r>
              <a:rPr lang="en-US" altLang="zh-CN" dirty="0" smtClean="0"/>
              <a:t/>
            </a:r>
            <a:br>
              <a:rPr lang="en-US" altLang="zh-CN" dirty="0" smtClean="0"/>
            </a:br>
            <a:r>
              <a:rPr lang="zh-CN" altLang="en-US" dirty="0" smtClean="0"/>
              <a:t>工业界的很多图像算法模型会采用基于</a:t>
            </a:r>
            <a:r>
              <a:rPr lang="en-US" altLang="zh-CN" dirty="0" err="1" smtClean="0"/>
              <a:t>ImageNet</a:t>
            </a:r>
            <a:r>
              <a:rPr lang="zh-CN" altLang="en-US" dirty="0" smtClean="0"/>
              <a:t>数据集的预训练模型进行参数初始化，这种做法叫做迁移学习。</a:t>
            </a:r>
            <a:r>
              <a:rPr lang="zh-CN" altLang="en-US" sz="1200" b="0" i="0" kern="1200" dirty="0" smtClean="0">
                <a:solidFill>
                  <a:schemeClr val="tx1"/>
                </a:solidFill>
                <a:effectLst/>
                <a:latin typeface="+mn-lt"/>
                <a:ea typeface="+mn-ea"/>
                <a:cs typeface="+mn-cs"/>
              </a:rPr>
              <a:t>基于共享参数的迁移研究的是如何找到源数据和目标数据的空间模型之间的共同参数或者先验分布，从而可以通过进一步处理，达到知识迁移的目的，假设前提是，学习任务中的的每个相关模型会共享一些相同的参数或者先验分布。</a:t>
            </a:r>
            <a:r>
              <a:rPr lang="zh-CN" altLang="en-US" dirty="0" smtClean="0"/>
              <a:t>这样做不仅可以加快模型的收敛速度，还能有效降低因数据量小而带来的过拟合风险。</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89237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LeNet</a:t>
            </a:r>
            <a:r>
              <a:rPr lang="zh-CN" altLang="en-US" dirty="0" smtClean="0"/>
              <a:t>是卷积神经网络的奠基人 </a:t>
            </a:r>
            <a:r>
              <a:rPr lang="en-US" altLang="zh-CN" dirty="0" err="1" smtClean="0"/>
              <a:t>Yann</a:t>
            </a:r>
            <a:r>
              <a:rPr lang="en-US" altLang="zh-CN" dirty="0" smtClean="0"/>
              <a:t> </a:t>
            </a:r>
            <a:r>
              <a:rPr lang="en-US" altLang="zh-CN" dirty="0" err="1" smtClean="0"/>
              <a:t>LeCun</a:t>
            </a:r>
            <a:r>
              <a:rPr lang="zh-CN" altLang="en-US" dirty="0" smtClean="0"/>
              <a:t>在</a:t>
            </a:r>
            <a:r>
              <a:rPr lang="en-US" altLang="zh-CN" dirty="0" smtClean="0"/>
              <a:t>1998</a:t>
            </a:r>
            <a:r>
              <a:rPr lang="zh-CN" altLang="en-US" dirty="0" smtClean="0"/>
              <a:t>年提出的，用于解决手写数字识别的视觉任务。它的结构非常简单</a:t>
            </a:r>
            <a:r>
              <a:rPr lang="en-US" altLang="zh-CN" dirty="0" smtClean="0"/>
              <a:t>,</a:t>
            </a:r>
            <a:r>
              <a:rPr lang="zh-CN" altLang="en-US" dirty="0" smtClean="0"/>
              <a:t>我们通过这个简单的网络来学习时下最为流行的卷积神经网络结构。如今各大深度学习框架中使用的</a:t>
            </a:r>
            <a:r>
              <a:rPr lang="en-US" altLang="zh-CN" dirty="0" err="1" smtClean="0"/>
              <a:t>LeNet</a:t>
            </a:r>
            <a:r>
              <a:rPr lang="zh-CN" altLang="en-US" dirty="0" smtClean="0"/>
              <a:t>都是经过简化改进过的</a:t>
            </a:r>
            <a:r>
              <a:rPr lang="en-US" altLang="zh-CN" dirty="0" smtClean="0"/>
              <a:t>LeNet-5</a:t>
            </a:r>
            <a:r>
              <a:rPr lang="zh-CN" altLang="en-US" dirty="0" smtClean="0"/>
              <a:t>，如图所示，和原始的</a:t>
            </a:r>
            <a:r>
              <a:rPr lang="en-US" altLang="zh-CN" dirty="0" err="1" smtClean="0"/>
              <a:t>LeNet</a:t>
            </a:r>
            <a:r>
              <a:rPr lang="zh-CN" altLang="en-US" dirty="0" smtClean="0"/>
              <a:t>有些许不同，激活函数也从原来的 </a:t>
            </a:r>
            <a:r>
              <a:rPr lang="en-US" altLang="zh-CN" dirty="0" err="1" smtClean="0"/>
              <a:t>tanh</a:t>
            </a:r>
            <a:r>
              <a:rPr lang="en-US" altLang="zh-CN" dirty="0" smtClean="0"/>
              <a:t> </a:t>
            </a:r>
            <a:r>
              <a:rPr lang="zh-CN" altLang="en-US" dirty="0" smtClean="0"/>
              <a:t>改为现在常用的</a:t>
            </a:r>
            <a:r>
              <a:rPr lang="en-US" altLang="zh-CN" dirty="0" err="1" smtClean="0"/>
              <a:t>ReLU</a:t>
            </a:r>
            <a:r>
              <a:rPr lang="zh-CN" altLang="en-US" dirty="0" smtClean="0"/>
              <a:t>。如今的</a:t>
            </a:r>
            <a:r>
              <a:rPr lang="en-US" altLang="zh-CN" dirty="0" err="1" smtClean="0"/>
              <a:t>LeNet</a:t>
            </a:r>
            <a:r>
              <a:rPr lang="en-US" altLang="zh-CN" dirty="0" smtClean="0"/>
              <a:t> </a:t>
            </a:r>
            <a:r>
              <a:rPr lang="zh-CN" altLang="en-US" dirty="0" smtClean="0"/>
              <a:t>网络与卷积层之后紧跟池化层再接</a:t>
            </a:r>
            <a:r>
              <a:rPr lang="en-US" altLang="zh-CN" dirty="0" err="1" smtClean="0"/>
              <a:t>ReLU</a:t>
            </a:r>
            <a:r>
              <a:rPr lang="zh-CN" altLang="en-US" dirty="0" smtClean="0"/>
              <a:t>层的套路不同，而是卷积层</a:t>
            </a:r>
            <a:r>
              <a:rPr lang="en-US" altLang="zh-CN" dirty="0" smtClean="0"/>
              <a:t>1→ReLU→</a:t>
            </a:r>
            <a:r>
              <a:rPr lang="zh-CN" altLang="en-US" dirty="0" smtClean="0"/>
              <a:t>池化层</a:t>
            </a:r>
            <a:r>
              <a:rPr lang="en-US" altLang="zh-CN" dirty="0" smtClean="0"/>
              <a:t>1→</a:t>
            </a:r>
            <a:r>
              <a:rPr lang="zh-CN" altLang="en-US" dirty="0" smtClean="0"/>
              <a:t>卷积层</a:t>
            </a:r>
            <a:r>
              <a:rPr lang="en-US" altLang="zh-CN" dirty="0" smtClean="0"/>
              <a:t>2→ReLU→</a:t>
            </a:r>
            <a:r>
              <a:rPr lang="zh-CN" altLang="en-US" dirty="0" smtClean="0"/>
              <a:t>池化层</a:t>
            </a:r>
            <a:r>
              <a:rPr lang="en-US" altLang="zh-CN" dirty="0" smtClean="0"/>
              <a:t>2</a:t>
            </a:r>
            <a:r>
              <a:rPr lang="zh-CN" altLang="en-US" dirty="0" smtClean="0"/>
              <a:t>再接全连接层，但卷积层后紧接池化层的模式依旧不变。</a:t>
            </a:r>
            <a:endParaRPr lang="en-US" altLang="zh-CN" dirty="0" smtClean="0"/>
          </a:p>
          <a:p>
            <a:r>
              <a:rPr lang="zh-CN" altLang="en-US" dirty="0" smtClean="0"/>
              <a:t>接着我们对经典的</a:t>
            </a:r>
            <a:r>
              <a:rPr lang="en-US" altLang="zh-CN" dirty="0" err="1" smtClean="0"/>
              <a:t>LeNet</a:t>
            </a:r>
            <a:r>
              <a:rPr lang="en-US" altLang="zh-CN" dirty="0" smtClean="0"/>
              <a:t> </a:t>
            </a:r>
            <a:r>
              <a:rPr lang="zh-CN" altLang="en-US" dirty="0" smtClean="0"/>
              <a:t>网络做深入分析。</a:t>
            </a:r>
            <a:r>
              <a:rPr lang="en-US" altLang="zh-CN" dirty="0" err="1" smtClean="0"/>
              <a:t>LeNet</a:t>
            </a:r>
            <a:r>
              <a:rPr lang="zh-CN" altLang="en-US" dirty="0" smtClean="0"/>
              <a:t>包括卷积层和全连接层</a:t>
            </a:r>
            <a:r>
              <a:rPr lang="en-US" altLang="zh-CN" dirty="0" smtClean="0"/>
              <a:t>,</a:t>
            </a:r>
            <a:r>
              <a:rPr lang="zh-CN" altLang="en-US" dirty="0" smtClean="0"/>
              <a:t>卷积层用来识别图像里的特征、比如线条和物体的局部特征，之后的池化层用来降低卷积层对位置的敏感性。卷积层的输出形状为</a:t>
            </a:r>
            <a:r>
              <a:rPr lang="en-US" altLang="zh-CN" dirty="0" smtClean="0"/>
              <a:t>(</a:t>
            </a:r>
            <a:r>
              <a:rPr lang="zh-CN" altLang="en-US" dirty="0" smtClean="0"/>
              <a:t>批次大小</a:t>
            </a:r>
            <a:r>
              <a:rPr lang="en-US" altLang="zh-CN" dirty="0" smtClean="0"/>
              <a:t>,</a:t>
            </a:r>
            <a:r>
              <a:rPr lang="zh-CN" altLang="en-US" dirty="0" smtClean="0"/>
              <a:t>通道，高，宽</a:t>
            </a:r>
            <a:r>
              <a:rPr lang="en-US" altLang="zh-CN" dirty="0" smtClean="0"/>
              <a:t>),</a:t>
            </a:r>
            <a:r>
              <a:rPr lang="zh-CN" altLang="en-US" dirty="0" smtClean="0"/>
              <a:t>当卷积层的输出传入全连接层的时候</a:t>
            </a:r>
            <a:r>
              <a:rPr lang="en-US" altLang="zh-CN" dirty="0" smtClean="0"/>
              <a:t>,</a:t>
            </a:r>
            <a:r>
              <a:rPr lang="zh-CN" altLang="en-US" dirty="0" smtClean="0"/>
              <a:t>全连接层会对每个样本做拉伸</a:t>
            </a:r>
            <a:r>
              <a:rPr lang="en-US" altLang="zh-CN" dirty="0" smtClean="0"/>
              <a:t>(flatten)</a:t>
            </a:r>
            <a:r>
              <a:rPr lang="zh-CN" altLang="en-US" dirty="0" smtClean="0"/>
              <a:t>处理。也就是说</a:t>
            </a:r>
            <a:r>
              <a:rPr lang="en-US" altLang="zh-CN" dirty="0" smtClean="0"/>
              <a:t>,</a:t>
            </a:r>
            <a:r>
              <a:rPr lang="zh-CN" altLang="en-US" dirty="0" smtClean="0"/>
              <a:t>全连接层的输入形状将变为二维，其中第一维是批次中的样本数，第二维是每个样本拉伸后的向量表示。</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0812159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err="1" smtClean="0"/>
              <a:t>LeNet</a:t>
            </a:r>
            <a:r>
              <a:rPr lang="zh-CN" altLang="en-US" dirty="0" smtClean="0"/>
              <a:t>的优点显而易见：结构简单，使用参数少，模型速度快。</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右图是使用</a:t>
            </a:r>
            <a:r>
              <a:rPr lang="en-US" altLang="zh-CN" dirty="0" smtClean="0"/>
              <a:t>LeNet-5</a:t>
            </a:r>
            <a:r>
              <a:rPr lang="zh-CN" altLang="en-US" dirty="0" smtClean="0"/>
              <a:t>识别数字</a:t>
            </a:r>
            <a:r>
              <a:rPr lang="en-US" altLang="zh-CN" dirty="0" smtClean="0"/>
              <a:t>3</a:t>
            </a:r>
            <a:r>
              <a:rPr lang="zh-CN" altLang="en-US" dirty="0" smtClean="0"/>
              <a:t>的过程。</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372074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虽然</a:t>
            </a:r>
            <a:r>
              <a:rPr lang="en-US" altLang="zh-CN" dirty="0" err="1" smtClean="0"/>
              <a:t>LeNet</a:t>
            </a:r>
            <a:r>
              <a:rPr lang="zh-CN" altLang="en-US" dirty="0" smtClean="0"/>
              <a:t>在小数据集上的表现非常好，但是在更大的真实数据集上的表现就没那么出色了</a:t>
            </a:r>
            <a:r>
              <a:rPr lang="en-US" altLang="zh-CN" dirty="0" smtClean="0"/>
              <a:t>,</a:t>
            </a:r>
            <a:r>
              <a:rPr lang="zh-CN" altLang="en-US" dirty="0" smtClean="0"/>
              <a:t>一直到</a:t>
            </a:r>
            <a:r>
              <a:rPr lang="en-US" altLang="zh-CN" dirty="0" smtClean="0"/>
              <a:t>2012</a:t>
            </a:r>
            <a:r>
              <a:rPr lang="zh-CN" altLang="en-US" dirty="0" smtClean="0"/>
              <a:t>年 </a:t>
            </a:r>
            <a:r>
              <a:rPr lang="en-US" altLang="zh-CN" dirty="0" err="1" smtClean="0"/>
              <a:t>AlexNet</a:t>
            </a:r>
            <a:r>
              <a:rPr lang="en-US" altLang="zh-CN" dirty="0" smtClean="0"/>
              <a:t> </a:t>
            </a:r>
            <a:r>
              <a:rPr lang="zh-CN" altLang="en-US" dirty="0" smtClean="0"/>
              <a:t>横空出世。本节介绍神经网络的坚守者</a:t>
            </a:r>
            <a:r>
              <a:rPr lang="en-US" altLang="zh-CN" dirty="0" smtClean="0"/>
              <a:t>Hinton </a:t>
            </a:r>
            <a:r>
              <a:rPr lang="zh-CN" altLang="en-US" dirty="0" smtClean="0"/>
              <a:t>在</a:t>
            </a:r>
            <a:r>
              <a:rPr lang="en-US" altLang="zh-CN" dirty="0" smtClean="0"/>
              <a:t>2012</a:t>
            </a:r>
            <a:r>
              <a:rPr lang="zh-CN" altLang="en-US" dirty="0" smtClean="0"/>
              <a:t>年和他的学生</a:t>
            </a:r>
            <a:r>
              <a:rPr lang="en-US" altLang="zh-CN" dirty="0" err="1" smtClean="0"/>
              <a:t>Alev</a:t>
            </a:r>
            <a:r>
              <a:rPr lang="en-US" altLang="zh-CN" dirty="0" smtClean="0"/>
              <a:t> </a:t>
            </a:r>
            <a:r>
              <a:rPr lang="en-US" altLang="zh-CN" dirty="0" err="1" smtClean="0"/>
              <a:t>Krizhevsky</a:t>
            </a:r>
            <a:r>
              <a:rPr lang="zh-CN" altLang="en-US" dirty="0" smtClean="0"/>
              <a:t>设计的</a:t>
            </a:r>
            <a:r>
              <a:rPr lang="en-US" altLang="zh-CN" dirty="0" err="1" smtClean="0"/>
              <a:t>AlexNet</a:t>
            </a:r>
            <a:r>
              <a:rPr lang="zh-CN" altLang="en-US" dirty="0" smtClean="0"/>
              <a:t>神经网络，该模型拿到了当年 </a:t>
            </a:r>
            <a:r>
              <a:rPr lang="en-US" altLang="zh-CN" dirty="0" err="1" smtClean="0"/>
              <a:t>ImageNet</a:t>
            </a:r>
            <a:r>
              <a:rPr lang="zh-CN" altLang="en-US" dirty="0" smtClean="0"/>
              <a:t>竞赛的冠军，并从此掀起了一波深度学习的热潮。</a:t>
            </a:r>
            <a:r>
              <a:rPr lang="en-US" altLang="zh-CN" dirty="0" err="1" smtClean="0"/>
              <a:t>ImageNet</a:t>
            </a:r>
            <a:r>
              <a:rPr lang="zh-CN" altLang="en-US" dirty="0" smtClean="0"/>
              <a:t>在之前有介绍过，是李飞飞团队创建的用干图像识别的十刑数据库句含超过</a:t>
            </a:r>
            <a:r>
              <a:rPr lang="en-US" altLang="zh-CN" dirty="0" smtClean="0"/>
              <a:t>1400</a:t>
            </a:r>
            <a:r>
              <a:rPr lang="zh-CN" altLang="en-US" dirty="0" smtClean="0"/>
              <a:t>万张带标记的图像。自</a:t>
            </a:r>
            <a:r>
              <a:rPr lang="en-US" altLang="zh-CN" dirty="0" smtClean="0"/>
              <a:t>2010</a:t>
            </a:r>
            <a:r>
              <a:rPr lang="zh-CN" altLang="en-US" dirty="0" smtClean="0"/>
              <a:t>年起，</a:t>
            </a:r>
            <a:r>
              <a:rPr lang="en-US" altLang="zh-CN" dirty="0" err="1" smtClean="0"/>
              <a:t>ImageNet</a:t>
            </a:r>
            <a:r>
              <a:rPr lang="zh-CN" altLang="en-US" dirty="0" smtClean="0"/>
              <a:t>每年举办一次图像分类和物体检测比赛</a:t>
            </a:r>
            <a:r>
              <a:rPr lang="en-US" altLang="zh-CN" dirty="0" smtClean="0"/>
              <a:t>——ILSVRC</a:t>
            </a:r>
            <a:r>
              <a:rPr lang="zh-CN" altLang="en-US" dirty="0" smtClean="0"/>
              <a:t>。图像分类比赛中有</a:t>
            </a:r>
            <a:r>
              <a:rPr lang="en-US" altLang="zh-CN" dirty="0" smtClean="0"/>
              <a:t>1000</a:t>
            </a:r>
            <a:r>
              <a:rPr lang="zh-CN" altLang="en-US" dirty="0" smtClean="0"/>
              <a:t>个不同类别的图像。每个类别有</a:t>
            </a:r>
            <a:r>
              <a:rPr lang="en-US" altLang="zh-CN" dirty="0" smtClean="0"/>
              <a:t>200</a:t>
            </a:r>
            <a:r>
              <a:rPr lang="zh-CN" altLang="en-US" dirty="0" smtClean="0"/>
              <a:t>～</a:t>
            </a:r>
            <a:r>
              <a:rPr lang="en-US" altLang="zh-CN" dirty="0" smtClean="0"/>
              <a:t>1000</a:t>
            </a:r>
            <a:r>
              <a:rPr lang="zh-CN" altLang="en-US" dirty="0" smtClean="0"/>
              <a:t>张不同源的图像。回到</a:t>
            </a:r>
            <a:r>
              <a:rPr lang="en-US" altLang="zh-CN" dirty="0" err="1" smtClean="0"/>
              <a:t>AlexNet</a:t>
            </a:r>
            <a:r>
              <a:rPr lang="en-US" altLang="zh-CN" dirty="0" smtClean="0"/>
              <a:t>,</a:t>
            </a:r>
            <a:r>
              <a:rPr lang="zh-CN" altLang="en-US" dirty="0" smtClean="0"/>
              <a:t>先看其网络结构</a:t>
            </a:r>
            <a:r>
              <a:rPr lang="en-US" altLang="zh-CN" dirty="0" smtClean="0"/>
              <a:t>,</a:t>
            </a:r>
            <a:r>
              <a:rPr lang="zh-CN" altLang="en-US" dirty="0" smtClean="0"/>
              <a:t>如图所示。</a:t>
            </a:r>
            <a:r>
              <a:rPr lang="en-US" altLang="zh-CN" dirty="0" err="1" smtClean="0"/>
              <a:t>AlexNet</a:t>
            </a:r>
            <a:r>
              <a:rPr lang="zh-CN" altLang="en-US" dirty="0" smtClean="0"/>
              <a:t>主要由</a:t>
            </a:r>
            <a:r>
              <a:rPr lang="en-US" altLang="zh-CN" dirty="0" smtClean="0"/>
              <a:t>5</a:t>
            </a:r>
            <a:r>
              <a:rPr lang="zh-CN" altLang="en-US" dirty="0" smtClean="0"/>
              <a:t>个卷积层和</a:t>
            </a:r>
            <a:r>
              <a:rPr lang="en-US" altLang="zh-CN" dirty="0" smtClean="0"/>
              <a:t>3</a:t>
            </a:r>
            <a:r>
              <a:rPr lang="zh-CN" altLang="en-US" dirty="0" smtClean="0"/>
              <a:t>个全连接层组成，最后一个全连接层通过</a:t>
            </a:r>
            <a:r>
              <a:rPr lang="en-US" altLang="zh-CN" dirty="0" err="1" smtClean="0"/>
              <a:t>softmax</a:t>
            </a:r>
            <a:r>
              <a:rPr lang="zh-CN" altLang="en-US" dirty="0" smtClean="0"/>
              <a:t>产生的结果作为输入图像在</a:t>
            </a:r>
            <a:r>
              <a:rPr lang="en-US" altLang="zh-CN" dirty="0" smtClean="0"/>
              <a:t>1000</a:t>
            </a:r>
            <a:r>
              <a:rPr lang="zh-CN" altLang="en-US" dirty="0" smtClean="0"/>
              <a:t>个类别（</a:t>
            </a:r>
            <a:r>
              <a:rPr lang="en-US" altLang="zh-CN" dirty="0" smtClean="0"/>
              <a:t>ILSVRC</a:t>
            </a:r>
            <a:r>
              <a:rPr lang="zh-CN" altLang="en-US" dirty="0" smtClean="0"/>
              <a:t>图像分类比赛有</a:t>
            </a:r>
            <a:r>
              <a:rPr lang="en-US" altLang="zh-CN" dirty="0" smtClean="0"/>
              <a:t>1000</a:t>
            </a:r>
            <a:r>
              <a:rPr lang="zh-CN" altLang="en-US" dirty="0" smtClean="0"/>
              <a:t>个类别）上的得分。以输入一个（</a:t>
            </a:r>
            <a:r>
              <a:rPr lang="en-US" altLang="zh-CN" dirty="0" smtClean="0"/>
              <a:t>227, 227,3</a:t>
            </a:r>
            <a:r>
              <a:rPr lang="zh-CN" altLang="en-US" dirty="0" smtClean="0"/>
              <a:t>）的图像</a:t>
            </a:r>
            <a:r>
              <a:rPr lang="en-US" altLang="zh-CN" dirty="0" smtClean="0"/>
              <a:t>(</a:t>
            </a:r>
            <a:r>
              <a:rPr lang="zh-CN" altLang="en-US" dirty="0" smtClean="0"/>
              <a:t>长和宽均为</a:t>
            </a:r>
            <a:r>
              <a:rPr lang="en-US" altLang="zh-CN" dirty="0" smtClean="0"/>
              <a:t>227</a:t>
            </a:r>
            <a:r>
              <a:rPr lang="zh-CN" altLang="en-US" dirty="0" smtClean="0"/>
              <a:t>像素的彩色图，通道数为</a:t>
            </a:r>
            <a:r>
              <a:rPr lang="en-US" altLang="zh-CN" dirty="0" smtClean="0"/>
              <a:t>3)</a:t>
            </a:r>
            <a:r>
              <a:rPr lang="zh-CN" altLang="en-US" dirty="0" smtClean="0"/>
              <a:t>为例</a:t>
            </a:r>
            <a:r>
              <a:rPr lang="en-US" altLang="zh-CN" dirty="0" smtClean="0"/>
              <a:t>,</a:t>
            </a:r>
            <a:r>
              <a:rPr lang="zh-CN" altLang="en-US" dirty="0" smtClean="0"/>
              <a:t>第一层卷积的卷积核大小为（</a:t>
            </a:r>
            <a:r>
              <a:rPr lang="en-US" altLang="zh-CN" dirty="0" smtClean="0"/>
              <a:t>11</a:t>
            </a:r>
            <a:r>
              <a:rPr lang="zh-CN" altLang="en-US" dirty="0" smtClean="0"/>
              <a:t>，</a:t>
            </a:r>
            <a:r>
              <a:rPr lang="en-US" altLang="zh-CN" dirty="0" smtClean="0"/>
              <a:t>11</a:t>
            </a:r>
            <a:r>
              <a:rPr lang="zh-CN" altLang="en-US" dirty="0" smtClean="0"/>
              <a:t>，</a:t>
            </a:r>
            <a:r>
              <a:rPr lang="en-US" altLang="zh-CN" dirty="0" smtClean="0"/>
              <a:t>3)</a:t>
            </a:r>
            <a:r>
              <a:rPr lang="zh-CN" altLang="en-US" dirty="0" smtClean="0"/>
              <a:t>，由</a:t>
            </a:r>
            <a:r>
              <a:rPr lang="en-US" altLang="zh-CN" dirty="0" smtClean="0"/>
              <a:t>96</a:t>
            </a:r>
            <a:r>
              <a:rPr lang="zh-CN" altLang="en-US" dirty="0" smtClean="0"/>
              <a:t>个卷积核组成。所有卷积核以滑动步长为</a:t>
            </a:r>
            <a:r>
              <a:rPr lang="en-US" altLang="zh-CN" dirty="0" smtClean="0"/>
              <a:t>4</a:t>
            </a:r>
            <a:r>
              <a:rPr lang="zh-CN" altLang="en-US" dirty="0" smtClean="0"/>
              <a:t>滑过整张图像，根据卷积输出层分辨率计算公式（</a:t>
            </a:r>
            <a:r>
              <a:rPr lang="en-US" altLang="zh-CN" dirty="0" smtClean="0"/>
              <a:t>W+2 x padding-kernel</a:t>
            </a:r>
            <a:r>
              <a:rPr lang="zh-CN" altLang="en-US" dirty="0" smtClean="0"/>
              <a:t>）</a:t>
            </a:r>
            <a:r>
              <a:rPr lang="en-US" altLang="zh-CN" dirty="0" smtClean="0"/>
              <a:t>/stride+1</a:t>
            </a:r>
            <a:r>
              <a:rPr lang="zh-CN" altLang="en-US" dirty="0" smtClean="0"/>
              <a:t>可得出第一个卷积层输出层分辨率大小为</a:t>
            </a:r>
            <a:r>
              <a:rPr lang="en-US" altLang="zh-CN" dirty="0" smtClean="0"/>
              <a:t>(227+2×0-11)/4+1=55</a:t>
            </a:r>
            <a:r>
              <a:rPr lang="zh-CN" altLang="en-US" dirty="0" smtClean="0"/>
              <a:t>。因此，不难得出第一层卷积最终输出尺寸为（</a:t>
            </a:r>
            <a:r>
              <a:rPr lang="en-US" altLang="zh-CN" dirty="0" smtClean="0"/>
              <a:t>55.55.96)</a:t>
            </a:r>
            <a:r>
              <a:rPr lang="zh-CN" altLang="en-US" dirty="0" smtClean="0"/>
              <a:t>。因为卷积层只有卷积核含有神经网络的参数，所以第一层卷积参数总量为</a:t>
            </a:r>
            <a:r>
              <a:rPr lang="en-US" altLang="zh-CN" dirty="0" smtClean="0"/>
              <a:t>(11x11×3)×96=35000</a:t>
            </a:r>
            <a:r>
              <a:rPr lang="zh-CN" altLang="en-US" dirty="0" smtClean="0"/>
              <a:t>。以此类推，可根据图</a:t>
            </a:r>
            <a:r>
              <a:rPr lang="en-US" altLang="zh-CN" dirty="0" smtClean="0"/>
              <a:t>5-2</a:t>
            </a:r>
            <a:r>
              <a:rPr lang="zh-CN" altLang="en-US" dirty="0" smtClean="0"/>
              <a:t>中</a:t>
            </a:r>
            <a:r>
              <a:rPr lang="en-US" altLang="zh-CN" dirty="0" err="1" smtClean="0"/>
              <a:t>AlexNet</a:t>
            </a:r>
            <a:r>
              <a:rPr lang="zh-CN" altLang="en-US" dirty="0" smtClean="0"/>
              <a:t>的网络结构推导出对应输出的大小及相应的参数个数。</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8896053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AlexNet</a:t>
            </a:r>
            <a:r>
              <a:rPr lang="zh-CN" altLang="en-US" dirty="0" smtClean="0"/>
              <a:t>有如下两个特点：</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使用</a:t>
            </a:r>
            <a:r>
              <a:rPr lang="en-US" altLang="zh-CN" dirty="0" err="1" smtClean="0"/>
              <a:t>ReLU</a:t>
            </a:r>
            <a:r>
              <a:rPr lang="zh-CN" altLang="en-US" dirty="0" smtClean="0"/>
              <a:t>作为激活函数。为了加快深度神经网络的训练速度，</a:t>
            </a:r>
            <a:r>
              <a:rPr lang="en-US" altLang="zh-CN" dirty="0" err="1" smtClean="0"/>
              <a:t>AlexNet</a:t>
            </a:r>
            <a:r>
              <a:rPr lang="zh-CN" altLang="en-US" dirty="0" smtClean="0"/>
              <a:t>将传统神经网络神经元激活函数</a:t>
            </a:r>
            <a:r>
              <a:rPr lang="en-US" altLang="zh-CN" dirty="0" smtClean="0"/>
              <a:t>f(x)= </a:t>
            </a:r>
            <a:r>
              <a:rPr lang="en-US" altLang="zh-CN" dirty="0" err="1" smtClean="0"/>
              <a:t>tanh</a:t>
            </a:r>
            <a:r>
              <a:rPr lang="en-US" altLang="zh-CN" dirty="0" smtClean="0"/>
              <a:t>(x)</a:t>
            </a:r>
            <a:r>
              <a:rPr lang="zh-CN" altLang="en-US" dirty="0" smtClean="0"/>
              <a:t>或</a:t>
            </a:r>
            <a:r>
              <a:rPr lang="en-US" altLang="zh-CN" dirty="0" smtClean="0"/>
              <a:t>f(x)=(1+e-x)-1</a:t>
            </a:r>
            <a:r>
              <a:rPr lang="zh-CN" altLang="en-US" dirty="0" smtClean="0"/>
              <a:t>改为</a:t>
            </a:r>
            <a:r>
              <a:rPr lang="en-US" altLang="zh-CN" dirty="0" smtClean="0"/>
              <a:t>f(x)=max </a:t>
            </a:r>
            <a:r>
              <a:rPr lang="zh-CN" altLang="en-US" dirty="0" smtClean="0"/>
              <a:t>（</a:t>
            </a:r>
            <a:r>
              <a:rPr lang="en-US" altLang="zh-CN" dirty="0" smtClean="0"/>
              <a:t>0;x)</a:t>
            </a:r>
            <a:r>
              <a:rPr lang="zh-CN" altLang="en-US" dirty="0" smtClean="0"/>
              <a:t>，即 </a:t>
            </a:r>
            <a:r>
              <a:rPr lang="en-US" altLang="zh-CN" dirty="0" err="1" smtClean="0"/>
              <a:t>ReLU</a:t>
            </a:r>
            <a:r>
              <a:rPr lang="zh-CN" altLang="en-US" dirty="0" smtClean="0"/>
              <a:t>。从图可以看出</a:t>
            </a:r>
            <a:r>
              <a:rPr lang="en-US" altLang="zh-CN" dirty="0" smtClean="0"/>
              <a:t>,</a:t>
            </a:r>
            <a:r>
              <a:rPr lang="zh-CN" altLang="en-US" dirty="0" smtClean="0"/>
              <a:t>从一个含有</a:t>
            </a:r>
            <a:r>
              <a:rPr lang="en-US" altLang="zh-CN" dirty="0" smtClean="0"/>
              <a:t>4</a:t>
            </a:r>
            <a:r>
              <a:rPr lang="zh-CN" altLang="en-US" dirty="0" smtClean="0"/>
              <a:t>层卷积的神经网络上看，相比</a:t>
            </a:r>
            <a:r>
              <a:rPr lang="en-US" altLang="zh-CN" dirty="0" err="1" smtClean="0"/>
              <a:t>tanh</a:t>
            </a:r>
            <a:r>
              <a:rPr lang="zh-CN" altLang="en-US" dirty="0" smtClean="0"/>
              <a:t>函数，</a:t>
            </a:r>
            <a:r>
              <a:rPr lang="en-US" altLang="zh-CN" dirty="0" err="1" smtClean="0"/>
              <a:t>ReLU</a:t>
            </a:r>
            <a:r>
              <a:rPr lang="zh-CN" altLang="en-US" dirty="0" smtClean="0"/>
              <a:t>的收敛速度快了好几倍。当训练误差同为</a:t>
            </a:r>
            <a:r>
              <a:rPr lang="en-US" altLang="zh-CN" dirty="0" smtClean="0"/>
              <a:t>25%</a:t>
            </a:r>
            <a:r>
              <a:rPr lang="zh-CN" altLang="en-US" dirty="0" smtClean="0"/>
              <a:t>时</a:t>
            </a:r>
            <a:r>
              <a:rPr lang="en-US" altLang="zh-CN" dirty="0" smtClean="0"/>
              <a:t>,</a:t>
            </a:r>
            <a:r>
              <a:rPr lang="en-US" altLang="zh-CN" dirty="0" err="1" smtClean="0"/>
              <a:t>ReLU</a:t>
            </a:r>
            <a:r>
              <a:rPr lang="zh-CN" altLang="en-US" dirty="0" smtClean="0"/>
              <a:t>经过约</a:t>
            </a:r>
            <a:r>
              <a:rPr lang="en-US" altLang="zh-CN" dirty="0" smtClean="0"/>
              <a:t>5</a:t>
            </a:r>
            <a:r>
              <a:rPr lang="zh-CN" altLang="en-US" dirty="0" smtClean="0"/>
              <a:t>次迭代即可达到</a:t>
            </a:r>
            <a:r>
              <a:rPr lang="en-US" altLang="zh-CN" dirty="0" err="1" smtClean="0"/>
              <a:t>tanh</a:t>
            </a:r>
            <a:r>
              <a:rPr lang="zh-CN" altLang="en-US" dirty="0" smtClean="0"/>
              <a:t>迭代</a:t>
            </a:r>
            <a:r>
              <a:rPr lang="en-US" altLang="zh-CN" dirty="0" smtClean="0"/>
              <a:t>35</a:t>
            </a:r>
            <a:r>
              <a:rPr lang="zh-CN" altLang="en-US" dirty="0" smtClean="0"/>
              <a:t>次的效果。</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经过分析可知，</a:t>
            </a:r>
            <a:r>
              <a:rPr lang="en-US" altLang="zh-CN" dirty="0" err="1" smtClean="0"/>
              <a:t>AlexNet</a:t>
            </a:r>
            <a:r>
              <a:rPr lang="zh-CN" altLang="en-US" dirty="0" smtClean="0"/>
              <a:t>有超过</a:t>
            </a:r>
            <a:r>
              <a:rPr lang="en-US" altLang="zh-CN" dirty="0" smtClean="0"/>
              <a:t>6</a:t>
            </a:r>
            <a:r>
              <a:rPr lang="zh-CN" altLang="en-US" dirty="0" smtClean="0"/>
              <a:t>千万个参数，虽然</a:t>
            </a:r>
            <a:r>
              <a:rPr lang="en-US" altLang="zh-CN" dirty="0" smtClean="0"/>
              <a:t>ILSVRC</a:t>
            </a:r>
            <a:r>
              <a:rPr lang="zh-CN" altLang="en-US" dirty="0" smtClean="0"/>
              <a:t>比赛有大量训练数据，但仍很难完成数量如此庞大的参数训练，从而导致严重的过拟合问题。</a:t>
            </a:r>
            <a:r>
              <a:rPr lang="en-US" altLang="zh-CN" dirty="0" err="1" smtClean="0"/>
              <a:t>AlexNet</a:t>
            </a:r>
            <a:r>
              <a:rPr lang="zh-CN" altLang="en-US" dirty="0" smtClean="0"/>
              <a:t>巧妙地用下面两种方法处理了这个问题。</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在图像领域</a:t>
            </a:r>
            <a:r>
              <a:rPr lang="en-US" altLang="zh-CN" dirty="0" smtClean="0"/>
              <a:t>,</a:t>
            </a:r>
            <a:r>
              <a:rPr lang="zh-CN" altLang="en-US" dirty="0" smtClean="0"/>
              <a:t>避免过拟合最简单也最常用的方法就是增强数据集。这里介绍一些比较常见的数据增强方法。</a:t>
            </a:r>
            <a:endParaRPr lang="en-US" altLang="zh-CN" dirty="0" smtClean="0"/>
          </a:p>
          <a:p>
            <a:r>
              <a:rPr lang="en-US" altLang="zh-CN" dirty="0" smtClean="0"/>
              <a:t>1</a:t>
            </a:r>
            <a:r>
              <a:rPr lang="zh-CN" altLang="en-US" dirty="0" smtClean="0"/>
              <a:t>）对原始图像做随机裁剪。如原始输入图像尺寸为（</a:t>
            </a:r>
            <a:r>
              <a:rPr lang="en-US" altLang="zh-CN" dirty="0" smtClean="0"/>
              <a:t>256,256),</a:t>
            </a:r>
            <a:r>
              <a:rPr lang="zh-CN" altLang="en-US" dirty="0" smtClean="0"/>
              <a:t>训练时随机从（</a:t>
            </a:r>
            <a:r>
              <a:rPr lang="en-US" altLang="zh-CN" dirty="0" smtClean="0"/>
              <a:t>256,256</a:t>
            </a:r>
            <a:r>
              <a:rPr lang="zh-CN" altLang="en-US" dirty="0" smtClean="0"/>
              <a:t>）的图像上裁剪（</a:t>
            </a:r>
            <a:r>
              <a:rPr lang="en-US" altLang="zh-CN" dirty="0" smtClean="0"/>
              <a:t>224</a:t>
            </a:r>
            <a:r>
              <a:rPr lang="zh-CN" altLang="en-US" dirty="0" smtClean="0"/>
              <a:t>，</a:t>
            </a:r>
            <a:r>
              <a:rPr lang="en-US" altLang="zh-CN" dirty="0" smtClean="0"/>
              <a:t>224</a:t>
            </a:r>
            <a:r>
              <a:rPr lang="zh-CN" altLang="en-US" dirty="0" smtClean="0"/>
              <a:t>）的图像作为网络的输入。</a:t>
            </a:r>
            <a:r>
              <a:rPr lang="en-US" altLang="zh-CN" dirty="0" smtClean="0"/>
              <a:t>2</a:t>
            </a:r>
            <a:r>
              <a:rPr lang="zh-CN" altLang="en-US" dirty="0" smtClean="0"/>
              <a:t>）一些其他常见的数据增强方法，如训练时对原始图像进行随机上下翻转、左右翻转、平移、缩放、旋转等，在实践中都有很好的效果，只是</a:t>
            </a:r>
            <a:r>
              <a:rPr lang="en-US" altLang="zh-CN" dirty="0" err="1" smtClean="0"/>
              <a:t>AlexNet</a:t>
            </a:r>
            <a:r>
              <a:rPr lang="zh-CN" altLang="en-US" dirty="0" smtClean="0"/>
              <a:t>中并没有全部用到。</a:t>
            </a:r>
            <a:endParaRPr lang="en-US" altLang="zh-CN" dirty="0" smtClean="0"/>
          </a:p>
          <a:p>
            <a:r>
              <a:rPr lang="zh-CN" altLang="en-US" dirty="0" smtClean="0"/>
              <a:t>使用</a:t>
            </a:r>
            <a:r>
              <a:rPr lang="en-US" altLang="zh-CN" dirty="0" smtClean="0"/>
              <a:t>dropout</a:t>
            </a:r>
            <a:r>
              <a:rPr lang="zh-CN" altLang="en-US" dirty="0" smtClean="0"/>
              <a:t>方法一方面是为了避免模型过拟合</a:t>
            </a:r>
            <a:r>
              <a:rPr lang="en-US" altLang="zh-CN" dirty="0" smtClean="0"/>
              <a:t>,</a:t>
            </a:r>
            <a:r>
              <a:rPr lang="zh-CN" altLang="en-US" dirty="0" smtClean="0"/>
              <a:t>另一方面是使用更有效的方式进行模型融合。具体方法是在训练时让神经网络中每一个中间层神经元以一定的概率（比如</a:t>
            </a:r>
            <a:r>
              <a:rPr lang="en-US" altLang="zh-CN" dirty="0" smtClean="0"/>
              <a:t>0.5</a:t>
            </a:r>
            <a:r>
              <a:rPr lang="zh-CN" altLang="en-US" dirty="0" smtClean="0"/>
              <a:t>）置为</a:t>
            </a:r>
            <a:r>
              <a:rPr lang="en-US" altLang="zh-CN" dirty="0" smtClean="0"/>
              <a:t>0</a:t>
            </a:r>
            <a:r>
              <a:rPr lang="zh-CN" altLang="en-US" dirty="0" smtClean="0"/>
              <a:t>。当某个神经元被置为</a:t>
            </a:r>
            <a:r>
              <a:rPr lang="en-US" altLang="zh-CN" dirty="0" smtClean="0"/>
              <a:t>0</a:t>
            </a:r>
            <a:r>
              <a:rPr lang="zh-CN" altLang="en-US" dirty="0" smtClean="0"/>
              <a:t>时</a:t>
            </a:r>
            <a:r>
              <a:rPr lang="en-US" altLang="zh-CN" dirty="0" smtClean="0"/>
              <a:t>,</a:t>
            </a:r>
            <a:r>
              <a:rPr lang="zh-CN" altLang="en-US" dirty="0" smtClean="0"/>
              <a:t>它不会参与前向传播以及反向回传的计算。因此</a:t>
            </a:r>
            <a:r>
              <a:rPr lang="en-US" altLang="zh-CN" dirty="0" smtClean="0"/>
              <a:t>,</a:t>
            </a:r>
            <a:r>
              <a:rPr lang="zh-CN" altLang="en-US" dirty="0" smtClean="0"/>
              <a:t>每当有一个新的图像输入</a:t>
            </a:r>
            <a:r>
              <a:rPr lang="en-US" altLang="zh-CN" dirty="0" smtClean="0"/>
              <a:t>,</a:t>
            </a:r>
            <a:r>
              <a:rPr lang="zh-CN" altLang="en-US" dirty="0" smtClean="0"/>
              <a:t>就意味着网络随机采样出一个新的网络结构</a:t>
            </a:r>
            <a:r>
              <a:rPr lang="en-US" altLang="zh-CN" dirty="0" smtClean="0"/>
              <a:t>,</a:t>
            </a:r>
            <a:r>
              <a:rPr lang="zh-CN" altLang="en-US" dirty="0" smtClean="0"/>
              <a:t>而整个网络的权重一直是共享的。</a:t>
            </a:r>
            <a:endParaRPr lang="en-US" altLang="zh-CN" dirty="0" smtClean="0"/>
          </a:p>
          <a:p>
            <a:r>
              <a:rPr lang="zh-CN" altLang="en-US" dirty="0" smtClean="0"/>
              <a:t>从感性的角度讲，</a:t>
            </a:r>
            <a:r>
              <a:rPr lang="en-US" altLang="zh-CN" dirty="0" smtClean="0"/>
              <a:t>dropout</a:t>
            </a:r>
            <a:r>
              <a:rPr lang="zh-CN" altLang="en-US" dirty="0" smtClean="0"/>
              <a:t>方法强迫神经网络学习出更稳定的特征（因为在训练过程中，随机屏蔽一些权重的同时要保证算法效果，所以学习出来的模型相对更加稳定</a:t>
            </a:r>
            <a:r>
              <a:rPr lang="en-US" altLang="zh-CN" dirty="0" smtClean="0"/>
              <a:t>)</a:t>
            </a:r>
            <a:r>
              <a:rPr lang="zh-CN" altLang="en-US" dirty="0" smtClean="0"/>
              <a:t>。预测时使用所有的神经元</a:t>
            </a:r>
            <a:r>
              <a:rPr lang="en-US" altLang="zh-CN" dirty="0" smtClean="0"/>
              <a:t>,</a:t>
            </a:r>
            <a:r>
              <a:rPr lang="zh-CN" altLang="en-US" dirty="0" smtClean="0"/>
              <a:t>但将其所有输出乘以</a:t>
            </a:r>
            <a:r>
              <a:rPr lang="en-US" altLang="zh-CN" dirty="0" smtClean="0"/>
              <a:t>0.5</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201002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2012</a:t>
            </a:r>
            <a:r>
              <a:rPr lang="zh-CN" altLang="en-US" dirty="0" smtClean="0"/>
              <a:t>年，</a:t>
            </a:r>
            <a:r>
              <a:rPr lang="en-US" altLang="zh-CN" dirty="0" err="1" smtClean="0"/>
              <a:t>AlexNet</a:t>
            </a:r>
            <a:r>
              <a:rPr lang="zh-CN" altLang="en-US" dirty="0" smtClean="0"/>
              <a:t>使用</a:t>
            </a:r>
            <a:r>
              <a:rPr lang="en-US" altLang="zh-CN" dirty="0" smtClean="0"/>
              <a:t>8</a:t>
            </a:r>
            <a:r>
              <a:rPr lang="zh-CN" altLang="en-US" dirty="0" smtClean="0"/>
              <a:t>层神经网络以</a:t>
            </a:r>
            <a:r>
              <a:rPr lang="en-US" altLang="zh-CN" dirty="0" smtClean="0"/>
              <a:t>top1(</a:t>
            </a:r>
            <a:r>
              <a:rPr lang="zh-CN" altLang="en-US" dirty="0" smtClean="0"/>
              <a:t>指排名第一的类别与实际结果相符的准确率）分类误差</a:t>
            </a:r>
            <a:r>
              <a:rPr lang="en-US" altLang="zh-CN" dirty="0" smtClean="0"/>
              <a:t>16.4%</a:t>
            </a:r>
            <a:r>
              <a:rPr lang="zh-CN" altLang="en-US" dirty="0" smtClean="0"/>
              <a:t>的成绩摘得</a:t>
            </a:r>
            <a:r>
              <a:rPr lang="en-US" altLang="zh-CN" dirty="0" smtClean="0"/>
              <a:t>ILSVRC </a:t>
            </a:r>
            <a:r>
              <a:rPr lang="zh-CN" altLang="en-US" dirty="0" smtClean="0"/>
              <a:t>比赛桂冠。</a:t>
            </a:r>
            <a:r>
              <a:rPr lang="en-US" altLang="zh-CN" dirty="0" smtClean="0"/>
              <a:t>2013</a:t>
            </a:r>
            <a:r>
              <a:rPr lang="zh-CN" altLang="en-US" dirty="0" smtClean="0"/>
              <a:t>年，</a:t>
            </a:r>
            <a:r>
              <a:rPr lang="en-US" altLang="zh-CN" dirty="0" err="1" smtClean="0"/>
              <a:t>ZFNet</a:t>
            </a:r>
            <a:r>
              <a:rPr lang="zh-CN" altLang="en-US" dirty="0" smtClean="0"/>
              <a:t>在</a:t>
            </a:r>
            <a:r>
              <a:rPr lang="en-US" altLang="zh-CN" dirty="0" err="1" smtClean="0"/>
              <a:t>AlexNet</a:t>
            </a:r>
            <a:r>
              <a:rPr lang="zh-CN" altLang="en-US" dirty="0" smtClean="0"/>
              <a:t>的基础上做了超参的调整，使</a:t>
            </a:r>
            <a:r>
              <a:rPr lang="en-US" altLang="zh-CN" dirty="0" smtClean="0"/>
              <a:t>top1</a:t>
            </a:r>
            <a:r>
              <a:rPr lang="zh-CN" altLang="en-US" dirty="0" smtClean="0"/>
              <a:t>分类误差降到</a:t>
            </a:r>
            <a:r>
              <a:rPr lang="en-US" altLang="zh-CN" dirty="0" smtClean="0"/>
              <a:t>11.7%</a:t>
            </a:r>
            <a:r>
              <a:rPr lang="zh-CN" altLang="en-US" dirty="0" smtClean="0"/>
              <a:t>，并成为新的冠军。</a:t>
            </a:r>
            <a:r>
              <a:rPr lang="en-US" altLang="zh-CN" dirty="0" err="1" smtClean="0"/>
              <a:t>ZFNet</a:t>
            </a:r>
            <a:r>
              <a:rPr lang="zh-CN" altLang="en-US" dirty="0" smtClean="0"/>
              <a:t>将</a:t>
            </a:r>
            <a:r>
              <a:rPr lang="en-US" altLang="zh-CN" dirty="0" err="1" smtClean="0"/>
              <a:t>AlexNet</a:t>
            </a:r>
            <a:r>
              <a:rPr lang="en-US" altLang="zh-CN" dirty="0" smtClean="0"/>
              <a:t> </a:t>
            </a:r>
            <a:r>
              <a:rPr lang="zh-CN" altLang="en-US" dirty="0" smtClean="0"/>
              <a:t>的第一个卷积层从卷积核尺寸（</a:t>
            </a:r>
            <a:r>
              <a:rPr lang="en-US" altLang="zh-CN" dirty="0" smtClean="0"/>
              <a:t>11</a:t>
            </a:r>
            <a:r>
              <a:rPr lang="zh-CN" altLang="en-US" dirty="0" smtClean="0"/>
              <a:t>，</a:t>
            </a:r>
            <a:r>
              <a:rPr lang="en-US" altLang="zh-CN" dirty="0" smtClean="0"/>
              <a:t>11)</a:t>
            </a:r>
            <a:r>
              <a:rPr lang="zh-CN" altLang="en-US" dirty="0" smtClean="0"/>
              <a:t>、滑动步长</a:t>
            </a:r>
            <a:r>
              <a:rPr lang="en-US" altLang="zh-CN" dirty="0" smtClean="0"/>
              <a:t>4</a:t>
            </a:r>
            <a:r>
              <a:rPr lang="zh-CN" altLang="en-US" dirty="0" smtClean="0"/>
              <a:t>改为卷积核尺寸</a:t>
            </a:r>
            <a:r>
              <a:rPr lang="en-US" altLang="zh-CN" dirty="0" smtClean="0"/>
              <a:t>(7,7)</a:t>
            </a:r>
            <a:r>
              <a:rPr lang="zh-CN" altLang="en-US" dirty="0" smtClean="0"/>
              <a:t>、滑动步长</a:t>
            </a:r>
            <a:r>
              <a:rPr lang="en-US" altLang="zh-CN" dirty="0" smtClean="0"/>
              <a:t>2;</a:t>
            </a:r>
            <a:r>
              <a:rPr lang="zh-CN" altLang="en-US" dirty="0" smtClean="0"/>
              <a:t>第</a:t>
            </a:r>
            <a:r>
              <a:rPr lang="en-US" altLang="zh-CN" dirty="0" smtClean="0"/>
              <a:t>3</a:t>
            </a:r>
            <a:r>
              <a:rPr lang="zh-CN" altLang="en-US" dirty="0" smtClean="0"/>
              <a:t>～</a:t>
            </a:r>
            <a:r>
              <a:rPr lang="en-US" altLang="zh-CN" dirty="0" smtClean="0"/>
              <a:t>5</a:t>
            </a:r>
            <a:r>
              <a:rPr lang="zh-CN" altLang="en-US" dirty="0" smtClean="0"/>
              <a:t>层卷积的卷积核个数分别从</a:t>
            </a:r>
            <a:r>
              <a:rPr lang="en-US" altLang="zh-CN" dirty="0" smtClean="0"/>
              <a:t>384</a:t>
            </a:r>
            <a:r>
              <a:rPr lang="zh-CN" altLang="en-US" dirty="0" smtClean="0"/>
              <a:t>、</a:t>
            </a:r>
            <a:r>
              <a:rPr lang="en-US" altLang="zh-CN" dirty="0" smtClean="0"/>
              <a:t>384</a:t>
            </a:r>
            <a:r>
              <a:rPr lang="zh-CN" altLang="en-US" dirty="0" smtClean="0"/>
              <a:t>、</a:t>
            </a:r>
            <a:r>
              <a:rPr lang="en-US" altLang="zh-CN" dirty="0" smtClean="0"/>
              <a:t>256</a:t>
            </a:r>
            <a:r>
              <a:rPr lang="zh-CN" altLang="en-US" dirty="0" smtClean="0"/>
              <a:t>改为</a:t>
            </a:r>
            <a:r>
              <a:rPr lang="en-US" altLang="zh-CN" dirty="0" smtClean="0"/>
              <a:t>512</a:t>
            </a:r>
            <a:r>
              <a:rPr lang="zh-CN" altLang="en-US" dirty="0" smtClean="0"/>
              <a:t>、</a:t>
            </a:r>
            <a:r>
              <a:rPr lang="en-US" altLang="zh-CN" dirty="0" smtClean="0"/>
              <a:t>1024</a:t>
            </a:r>
            <a:r>
              <a:rPr lang="zh-CN" altLang="en-US" dirty="0" smtClean="0"/>
              <a:t>和</a:t>
            </a:r>
            <a:r>
              <a:rPr lang="en-US" altLang="zh-CN" dirty="0" smtClean="0"/>
              <a:t>512</a:t>
            </a:r>
            <a:r>
              <a:rPr lang="zh-CN" altLang="en-US" dirty="0" smtClean="0"/>
              <a:t>。</a:t>
            </a:r>
            <a:r>
              <a:rPr lang="en-US" altLang="zh-CN" dirty="0" smtClean="0"/>
              <a:t>2014</a:t>
            </a:r>
            <a:r>
              <a:rPr lang="zh-CN" altLang="en-US" dirty="0" smtClean="0"/>
              <a:t>年</a:t>
            </a:r>
            <a:r>
              <a:rPr lang="en-US" altLang="zh-CN" dirty="0" smtClean="0"/>
              <a:t>,</a:t>
            </a:r>
            <a:r>
              <a:rPr lang="en-US" altLang="zh-CN" dirty="0" err="1" smtClean="0"/>
              <a:t>Simonyan</a:t>
            </a:r>
            <a:r>
              <a:rPr lang="zh-CN" altLang="en-US" dirty="0" smtClean="0"/>
              <a:t>和 </a:t>
            </a:r>
            <a:r>
              <a:rPr lang="en-US" altLang="zh-CN" dirty="0" err="1" smtClean="0"/>
              <a:t>Zisserman</a:t>
            </a:r>
            <a:r>
              <a:rPr lang="zh-CN" altLang="en-US" dirty="0" smtClean="0"/>
              <a:t>设计了层次更深并且卷积核更小的 </a:t>
            </a:r>
            <a:r>
              <a:rPr lang="en-US" altLang="zh-CN" dirty="0" err="1" smtClean="0"/>
              <a:t>VGGNet</a:t>
            </a:r>
            <a:r>
              <a:rPr lang="zh-CN" altLang="en-US" dirty="0" smtClean="0"/>
              <a:t>模型</a:t>
            </a:r>
            <a:r>
              <a:rPr lang="en-US" altLang="zh-CN" dirty="0" smtClean="0"/>
              <a:t>,</a:t>
            </a:r>
            <a:r>
              <a:rPr lang="zh-CN" altLang="en-US" dirty="0" smtClean="0"/>
              <a:t>下图是分类比赛误差比较。</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916295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2014</a:t>
            </a:r>
            <a:r>
              <a:rPr lang="zh-CN" altLang="en-US" dirty="0" smtClean="0"/>
              <a:t>年，参加</a:t>
            </a:r>
            <a:r>
              <a:rPr lang="en-US" altLang="zh-CN" dirty="0" smtClean="0"/>
              <a:t>ILSVRC</a:t>
            </a:r>
            <a:r>
              <a:rPr lang="zh-CN" altLang="en-US" dirty="0" smtClean="0"/>
              <a:t>比赛的</a:t>
            </a:r>
            <a:r>
              <a:rPr lang="en-US" altLang="zh-CN" dirty="0" smtClean="0"/>
              <a:t>VGG</a:t>
            </a:r>
            <a:r>
              <a:rPr lang="zh-CN" altLang="en-US" dirty="0" smtClean="0"/>
              <a:t>队在</a:t>
            </a:r>
            <a:r>
              <a:rPr lang="en-US" altLang="zh-CN" dirty="0" err="1" smtClean="0"/>
              <a:t>ImageNet</a:t>
            </a:r>
            <a:r>
              <a:rPr lang="zh-CN" altLang="en-US" dirty="0" smtClean="0"/>
              <a:t>比赛中获得了亚军。</a:t>
            </a:r>
            <a:r>
              <a:rPr lang="en-US" altLang="zh-CN" dirty="0" err="1" smtClean="0"/>
              <a:t>VGGNet</a:t>
            </a:r>
            <a:r>
              <a:rPr lang="zh-CN" altLang="en-US" dirty="0" smtClean="0"/>
              <a:t>的核心思想是利用较小的卷积核增加网络的深度</a:t>
            </a:r>
            <a:r>
              <a:rPr lang="en-US" altLang="zh-CN" dirty="0" smtClean="0"/>
              <a:t>,</a:t>
            </a:r>
            <a:r>
              <a:rPr lang="en-US" altLang="zh-CN" dirty="0" err="1" smtClean="0"/>
              <a:t>VGGNet</a:t>
            </a:r>
            <a:r>
              <a:rPr lang="zh-CN" altLang="en-US" dirty="0" smtClean="0"/>
              <a:t>网络结构清晰简洁，虽然已经发表多年，但目前仍有非常广泛的应用。</a:t>
            </a:r>
            <a:r>
              <a:rPr lang="en-US" altLang="zh-CN" dirty="0" smtClean="0"/>
              <a:t>VGG</a:t>
            </a:r>
            <a:r>
              <a:rPr lang="zh-CN" altLang="en-US" dirty="0" smtClean="0"/>
              <a:t>的</a:t>
            </a:r>
            <a:r>
              <a:rPr lang="zh-CN" altLang="en-US" sz="1200" b="0" i="0" kern="1200" dirty="0" smtClean="0">
                <a:solidFill>
                  <a:schemeClr val="tx1"/>
                </a:solidFill>
                <a:effectLst/>
                <a:latin typeface="+mn-lt"/>
                <a:ea typeface="+mn-ea"/>
                <a:cs typeface="+mn-cs"/>
              </a:rPr>
              <a:t>主要工作是证明了增加网络的深度能够在一定程度上影响网络最终的性能。</a:t>
            </a:r>
            <a:r>
              <a:rPr lang="en-US" altLang="zh-CN" sz="1200" b="0" i="0" kern="1200" dirty="0" smtClean="0">
                <a:solidFill>
                  <a:schemeClr val="tx1"/>
                </a:solidFill>
                <a:effectLst/>
                <a:latin typeface="+mn-lt"/>
                <a:ea typeface="+mn-ea"/>
                <a:cs typeface="+mn-cs"/>
              </a:rPr>
              <a:t>VGG</a:t>
            </a:r>
            <a:r>
              <a:rPr lang="zh-CN" altLang="en-US" sz="1200" b="0" i="0" kern="1200" dirty="0" smtClean="0">
                <a:solidFill>
                  <a:schemeClr val="tx1"/>
                </a:solidFill>
                <a:effectLst/>
                <a:latin typeface="+mn-lt"/>
                <a:ea typeface="+mn-ea"/>
                <a:cs typeface="+mn-cs"/>
              </a:rPr>
              <a:t>有两种结构，分别是</a:t>
            </a:r>
            <a:r>
              <a:rPr lang="en-US" altLang="zh-CN" sz="1200" b="0" i="0" kern="1200" dirty="0" smtClean="0">
                <a:solidFill>
                  <a:schemeClr val="tx1"/>
                </a:solidFill>
                <a:effectLst/>
                <a:latin typeface="+mn-lt"/>
                <a:ea typeface="+mn-ea"/>
                <a:cs typeface="+mn-cs"/>
              </a:rPr>
              <a:t>VGG16</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VGG19</a:t>
            </a:r>
            <a:r>
              <a:rPr lang="zh-CN" altLang="en-US" sz="1200" b="0" i="0" kern="1200" dirty="0" smtClean="0">
                <a:solidFill>
                  <a:schemeClr val="tx1"/>
                </a:solidFill>
                <a:effectLst/>
                <a:latin typeface="+mn-lt"/>
                <a:ea typeface="+mn-ea"/>
                <a:cs typeface="+mn-cs"/>
              </a:rPr>
              <a:t>，两者并没有本质上的区别，只是网络深度不一样。</a:t>
            </a:r>
            <a:r>
              <a:rPr lang="en-US" altLang="zh-CN" dirty="0" smtClean="0"/>
              <a:t>VGG16</a:t>
            </a:r>
            <a:r>
              <a:rPr lang="zh-CN" altLang="en-US" dirty="0" smtClean="0"/>
              <a:t>拥有</a:t>
            </a:r>
            <a:r>
              <a:rPr lang="en-US" altLang="zh-CN" dirty="0" smtClean="0"/>
              <a:t>13</a:t>
            </a:r>
            <a:r>
              <a:rPr lang="zh-CN" altLang="en-US" dirty="0" smtClean="0"/>
              <a:t>个核大小均为</a:t>
            </a:r>
            <a:r>
              <a:rPr lang="en-US" altLang="zh-CN" dirty="0" smtClean="0"/>
              <a:t>(3</a:t>
            </a:r>
            <a:r>
              <a:rPr lang="zh-CN" altLang="en-US" dirty="0" smtClean="0"/>
              <a:t>，</a:t>
            </a:r>
            <a:r>
              <a:rPr lang="en-US" altLang="zh-CN" dirty="0" smtClean="0"/>
              <a:t>3</a:t>
            </a:r>
            <a:r>
              <a:rPr lang="zh-CN" altLang="en-US" dirty="0" smtClean="0"/>
              <a:t>）的卷积层、</a:t>
            </a:r>
            <a:r>
              <a:rPr lang="en-US" altLang="zh-CN" dirty="0" smtClean="0"/>
              <a:t>5</a:t>
            </a:r>
            <a:r>
              <a:rPr lang="zh-CN" altLang="en-US" dirty="0" smtClean="0"/>
              <a:t>个最大池化层和</a:t>
            </a:r>
            <a:r>
              <a:rPr lang="en-US" altLang="zh-CN" dirty="0" smtClean="0"/>
              <a:t>3</a:t>
            </a:r>
            <a:r>
              <a:rPr lang="zh-CN" altLang="en-US" dirty="0" smtClean="0"/>
              <a:t>个全连接层。</a:t>
            </a:r>
            <a:r>
              <a:rPr lang="en-US" altLang="zh-CN" dirty="0" smtClean="0"/>
              <a:t>VGG19</a:t>
            </a:r>
            <a:r>
              <a:rPr lang="zh-CN" altLang="en-US" dirty="0" smtClean="0"/>
              <a:t>拥有</a:t>
            </a:r>
            <a:r>
              <a:rPr lang="en-US" altLang="zh-CN" dirty="0" smtClean="0"/>
              <a:t>16</a:t>
            </a:r>
            <a:r>
              <a:rPr lang="zh-CN" altLang="en-US" dirty="0" smtClean="0"/>
              <a:t>个核大小均为</a:t>
            </a:r>
            <a:r>
              <a:rPr lang="en-US" altLang="zh-CN" dirty="0" smtClean="0"/>
              <a:t>(3,3</a:t>
            </a:r>
            <a:r>
              <a:rPr lang="zh-CN" altLang="en-US" dirty="0" smtClean="0"/>
              <a:t>）的卷积层、</a:t>
            </a:r>
            <a:r>
              <a:rPr lang="en-US" altLang="zh-CN" dirty="0" smtClean="0"/>
              <a:t>5</a:t>
            </a:r>
            <a:r>
              <a:rPr lang="zh-CN" altLang="en-US" dirty="0" smtClean="0"/>
              <a:t>个最大池化层和</a:t>
            </a:r>
            <a:r>
              <a:rPr lang="en-US" altLang="zh-CN" dirty="0" smtClean="0"/>
              <a:t>3</a:t>
            </a:r>
            <a:r>
              <a:rPr lang="zh-CN" altLang="en-US" dirty="0" smtClean="0"/>
              <a:t>个全连接层。</a:t>
            </a:r>
            <a:r>
              <a:rPr lang="en-US" altLang="zh-CN" dirty="0" smtClean="0"/>
              <a:t>VGG19</a:t>
            </a:r>
            <a:r>
              <a:rPr lang="zh-CN" altLang="en-US" dirty="0" smtClean="0"/>
              <a:t>和</a:t>
            </a:r>
            <a:r>
              <a:rPr lang="en-US" altLang="zh-CN" dirty="0" smtClean="0"/>
              <a:t>VGG16</a:t>
            </a:r>
            <a:r>
              <a:rPr lang="zh-CN" altLang="en-US" dirty="0" smtClean="0"/>
              <a:t>的区别仅在后三个卷积</a:t>
            </a:r>
            <a:r>
              <a:rPr lang="en-US" altLang="zh-CN" dirty="0" smtClean="0"/>
              <a:t>+</a:t>
            </a:r>
            <a:r>
              <a:rPr lang="zh-CN" altLang="en-US" dirty="0" smtClean="0"/>
              <a:t>池化层组中多加了一个卷积层。</a:t>
            </a:r>
            <a:endParaRPr lang="en-US" altLang="zh-CN" dirty="0" smtClean="0"/>
          </a:p>
          <a:p>
            <a:r>
              <a:rPr lang="en-US" altLang="zh-CN" dirty="0" smtClean="0"/>
              <a:t>16</a:t>
            </a:r>
            <a:r>
              <a:rPr lang="zh-CN" altLang="en-US" dirty="0" smtClean="0"/>
              <a:t>和</a:t>
            </a:r>
            <a:r>
              <a:rPr lang="en-US" altLang="zh-CN" dirty="0" smtClean="0"/>
              <a:t>19</a:t>
            </a:r>
            <a:r>
              <a:rPr lang="zh-CN" altLang="en-US" dirty="0" smtClean="0"/>
              <a:t>的由来：</a:t>
            </a:r>
            <a:r>
              <a:rPr lang="en-US" altLang="zh-CN" dirty="0" smtClean="0"/>
              <a:t>16=13</a:t>
            </a:r>
            <a:r>
              <a:rPr lang="zh-CN" altLang="en-US" dirty="0" smtClean="0"/>
              <a:t>（卷积层）</a:t>
            </a:r>
            <a:r>
              <a:rPr lang="en-US" altLang="zh-CN" dirty="0" smtClean="0"/>
              <a:t>+3</a:t>
            </a:r>
            <a:r>
              <a:rPr lang="zh-CN" altLang="en-US" dirty="0" smtClean="0"/>
              <a:t>（全连接层），</a:t>
            </a:r>
            <a:r>
              <a:rPr lang="en-US" altLang="zh-CN" dirty="0" smtClean="0"/>
              <a:t>19=16</a:t>
            </a:r>
            <a:r>
              <a:rPr lang="zh-CN" altLang="en-US" dirty="0" smtClean="0"/>
              <a:t>（卷积层）</a:t>
            </a:r>
            <a:r>
              <a:rPr lang="en-US" altLang="zh-CN" dirty="0" smtClean="0"/>
              <a:t>+3</a:t>
            </a:r>
            <a:r>
              <a:rPr lang="zh-CN" altLang="en-US" dirty="0" smtClean="0"/>
              <a:t>（全连接层）由于池化层不涉及权重参数，不属于权重层，因此未被计数。</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212492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VGG</a:t>
            </a:r>
            <a:r>
              <a:rPr lang="zh-CN" altLang="en-US" sz="1200" b="0" i="0" kern="1200" dirty="0" smtClean="0">
                <a:solidFill>
                  <a:schemeClr val="tx1"/>
                </a:solidFill>
                <a:effectLst/>
                <a:latin typeface="+mn-lt"/>
                <a:ea typeface="+mn-ea"/>
                <a:cs typeface="+mn-cs"/>
              </a:rPr>
              <a:t>神经网络的突出特点是</a:t>
            </a:r>
            <a:r>
              <a:rPr lang="zh-CN" altLang="en-US" sz="1200" b="1" i="0" kern="1200" dirty="0" smtClean="0">
                <a:solidFill>
                  <a:schemeClr val="tx1"/>
                </a:solidFill>
                <a:effectLst/>
                <a:latin typeface="+mn-lt"/>
                <a:ea typeface="+mn-ea"/>
                <a:cs typeface="+mn-cs"/>
              </a:rPr>
              <a:t>简单</a:t>
            </a:r>
            <a:r>
              <a:rPr lang="zh-CN" altLang="en-US" sz="1200" b="0" i="0" kern="1200" dirty="0" smtClean="0">
                <a:solidFill>
                  <a:schemeClr val="tx1"/>
                </a:solidFill>
                <a:effectLst/>
                <a:latin typeface="+mn-lt"/>
                <a:ea typeface="+mn-ea"/>
                <a:cs typeface="+mn-cs"/>
              </a:rPr>
              <a:t>，体现在：卷积层均采用相同的卷积核参数</a:t>
            </a:r>
          </a:p>
          <a:p>
            <a:r>
              <a:rPr lang="zh-CN" altLang="en-US" sz="1200" b="0" i="0" kern="1200" dirty="0" smtClean="0">
                <a:solidFill>
                  <a:schemeClr val="tx1"/>
                </a:solidFill>
                <a:effectLst/>
                <a:latin typeface="+mn-lt"/>
                <a:ea typeface="+mn-ea"/>
                <a:cs typeface="+mn-cs"/>
              </a:rPr>
              <a:t>卷积层均表示为</a:t>
            </a:r>
            <a:r>
              <a:rPr lang="en-US" altLang="zh-CN" sz="1200" b="0" i="0" kern="1200" dirty="0" smtClean="0">
                <a:solidFill>
                  <a:schemeClr val="tx1"/>
                </a:solidFill>
                <a:effectLst/>
                <a:latin typeface="+mn-lt"/>
                <a:ea typeface="+mn-ea"/>
                <a:cs typeface="+mn-cs"/>
              </a:rPr>
              <a:t>conv3-XXX</a:t>
            </a:r>
            <a:r>
              <a:rPr lang="zh-CN" altLang="en-US" sz="1200" b="0" i="0" kern="1200" dirty="0" smtClean="0">
                <a:solidFill>
                  <a:schemeClr val="tx1"/>
                </a:solidFill>
                <a:effectLst/>
                <a:latin typeface="+mn-lt"/>
                <a:ea typeface="+mn-ea"/>
                <a:cs typeface="+mn-cs"/>
              </a:rPr>
              <a:t>，其中</a:t>
            </a:r>
            <a:r>
              <a:rPr lang="en-US" altLang="zh-CN" sz="1200" b="0" i="0" kern="1200" dirty="0" smtClean="0">
                <a:solidFill>
                  <a:schemeClr val="tx1"/>
                </a:solidFill>
                <a:effectLst/>
                <a:latin typeface="+mn-lt"/>
                <a:ea typeface="+mn-ea"/>
                <a:cs typeface="+mn-cs"/>
              </a:rPr>
              <a:t>conv3</a:t>
            </a:r>
            <a:r>
              <a:rPr lang="zh-CN" altLang="en-US" sz="1200" b="0" i="0" kern="1200" dirty="0" smtClean="0">
                <a:solidFill>
                  <a:schemeClr val="tx1"/>
                </a:solidFill>
                <a:effectLst/>
                <a:latin typeface="+mn-lt"/>
                <a:ea typeface="+mn-ea"/>
                <a:cs typeface="+mn-cs"/>
              </a:rPr>
              <a:t>说明该卷积层采用的卷积核的尺寸</a:t>
            </a:r>
            <a:r>
              <a:rPr lang="en-US" altLang="zh-CN" sz="1200" b="0" i="0" kern="1200" dirty="0" smtClean="0">
                <a:solidFill>
                  <a:schemeClr val="tx1"/>
                </a:solidFill>
                <a:effectLst/>
                <a:latin typeface="+mn-lt"/>
                <a:ea typeface="+mn-ea"/>
                <a:cs typeface="+mn-cs"/>
              </a:rPr>
              <a:t>(kernel size)</a:t>
            </a:r>
            <a:r>
              <a:rPr lang="zh-CN" altLang="en-US" sz="1200" b="0" i="0" kern="1200" dirty="0" smtClean="0">
                <a:solidFill>
                  <a:schemeClr val="tx1"/>
                </a:solidFill>
                <a:effectLst/>
                <a:latin typeface="+mn-lt"/>
                <a:ea typeface="+mn-ea"/>
                <a:cs typeface="+mn-cs"/>
              </a:rPr>
              <a:t>是</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，即宽（</a:t>
            </a:r>
            <a:r>
              <a:rPr lang="en-US" altLang="zh-CN" sz="1200" b="0" i="0" kern="1200" dirty="0" smtClean="0">
                <a:solidFill>
                  <a:schemeClr val="tx1"/>
                </a:solidFill>
                <a:effectLst/>
                <a:latin typeface="+mn-lt"/>
                <a:ea typeface="+mn-ea"/>
                <a:cs typeface="+mn-cs"/>
              </a:rPr>
              <a:t>width</a:t>
            </a:r>
            <a:r>
              <a:rPr lang="zh-CN" altLang="en-US" sz="1200" b="0" i="0" kern="1200" dirty="0" smtClean="0">
                <a:solidFill>
                  <a:schemeClr val="tx1"/>
                </a:solidFill>
                <a:effectLst/>
                <a:latin typeface="+mn-lt"/>
                <a:ea typeface="+mn-ea"/>
                <a:cs typeface="+mn-cs"/>
              </a:rPr>
              <a:t>）和高（</a:t>
            </a:r>
            <a:r>
              <a:rPr lang="en-US" altLang="zh-CN" sz="1200" b="0" i="0" kern="1200" dirty="0" smtClean="0">
                <a:solidFill>
                  <a:schemeClr val="tx1"/>
                </a:solidFill>
                <a:effectLst/>
                <a:latin typeface="+mn-lt"/>
                <a:ea typeface="+mn-ea"/>
                <a:cs typeface="+mn-cs"/>
              </a:rPr>
              <a:t>height</a:t>
            </a:r>
            <a:r>
              <a:rPr lang="zh-CN" altLang="en-US" sz="1200" b="0" i="0" kern="1200" dirty="0" smtClean="0">
                <a:solidFill>
                  <a:schemeClr val="tx1"/>
                </a:solidFill>
                <a:effectLst/>
                <a:latin typeface="+mn-lt"/>
                <a:ea typeface="+mn-ea"/>
                <a:cs typeface="+mn-cs"/>
              </a:rPr>
              <a:t>）均为</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3*3</a:t>
            </a:r>
            <a:r>
              <a:rPr lang="zh-CN" altLang="en-US" sz="1200" b="0" i="0" kern="1200" dirty="0" smtClean="0">
                <a:solidFill>
                  <a:schemeClr val="tx1"/>
                </a:solidFill>
                <a:effectLst/>
                <a:latin typeface="+mn-lt"/>
                <a:ea typeface="+mn-ea"/>
                <a:cs typeface="+mn-cs"/>
              </a:rPr>
              <a:t>是</a:t>
            </a:r>
            <a:r>
              <a:rPr lang="zh-CN" altLang="en-US" sz="1200" b="1" i="0" kern="1200" dirty="0" smtClean="0">
                <a:solidFill>
                  <a:schemeClr val="tx1"/>
                </a:solidFill>
                <a:effectLst/>
                <a:latin typeface="+mn-lt"/>
                <a:ea typeface="+mn-ea"/>
                <a:cs typeface="+mn-cs"/>
              </a:rPr>
              <a:t>很小的卷积核尺寸</a:t>
            </a:r>
            <a:r>
              <a:rPr lang="zh-CN" altLang="en-US" sz="1200" b="0" i="0" kern="1200" dirty="0" smtClean="0">
                <a:solidFill>
                  <a:schemeClr val="tx1"/>
                </a:solidFill>
                <a:effectLst/>
                <a:latin typeface="+mn-lt"/>
                <a:ea typeface="+mn-ea"/>
                <a:cs typeface="+mn-cs"/>
              </a:rPr>
              <a:t>，结合其它参数（步幅</a:t>
            </a:r>
            <a:r>
              <a:rPr lang="en-US" altLang="zh-CN" sz="1200" b="0" i="0" kern="1200" dirty="0" smtClean="0">
                <a:solidFill>
                  <a:schemeClr val="tx1"/>
                </a:solidFill>
                <a:effectLst/>
                <a:latin typeface="+mn-lt"/>
                <a:ea typeface="+mn-ea"/>
                <a:cs typeface="+mn-cs"/>
              </a:rPr>
              <a:t>stride=1</a:t>
            </a:r>
            <a:r>
              <a:rPr lang="zh-CN" altLang="en-US" sz="1200" b="0" i="0" kern="1200" dirty="0" smtClean="0">
                <a:solidFill>
                  <a:schemeClr val="tx1"/>
                </a:solidFill>
                <a:effectLst/>
                <a:latin typeface="+mn-lt"/>
                <a:ea typeface="+mn-ea"/>
                <a:cs typeface="+mn-cs"/>
              </a:rPr>
              <a:t>，填充方式</a:t>
            </a:r>
            <a:r>
              <a:rPr lang="en-US" altLang="zh-CN" sz="1200" b="0" i="0" kern="1200" dirty="0" smtClean="0">
                <a:solidFill>
                  <a:schemeClr val="tx1"/>
                </a:solidFill>
                <a:effectLst/>
                <a:latin typeface="+mn-lt"/>
                <a:ea typeface="+mn-ea"/>
                <a:cs typeface="+mn-cs"/>
              </a:rPr>
              <a:t>padding=same</a:t>
            </a:r>
            <a:r>
              <a:rPr lang="zh-CN" altLang="en-US" sz="1200" b="0" i="0" kern="1200" dirty="0" smtClean="0">
                <a:solidFill>
                  <a:schemeClr val="tx1"/>
                </a:solidFill>
                <a:effectLst/>
                <a:latin typeface="+mn-lt"/>
                <a:ea typeface="+mn-ea"/>
                <a:cs typeface="+mn-cs"/>
              </a:rPr>
              <a:t>），这样就能够使得每一个卷积层</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张量</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与前一层（张量）保持相同的宽和高。</a:t>
            </a:r>
            <a:r>
              <a:rPr lang="en-US" altLang="zh-CN" sz="1200" b="0" i="0" kern="1200" dirty="0" smtClean="0">
                <a:solidFill>
                  <a:schemeClr val="tx1"/>
                </a:solidFill>
                <a:effectLst/>
                <a:latin typeface="+mn-lt"/>
                <a:ea typeface="+mn-ea"/>
                <a:cs typeface="+mn-cs"/>
              </a:rPr>
              <a:t>XXX</a:t>
            </a:r>
            <a:r>
              <a:rPr lang="zh-CN" altLang="en-US" sz="1200" b="0" i="0" kern="1200" dirty="0" smtClean="0">
                <a:solidFill>
                  <a:schemeClr val="tx1"/>
                </a:solidFill>
                <a:effectLst/>
                <a:latin typeface="+mn-lt"/>
                <a:ea typeface="+mn-ea"/>
                <a:cs typeface="+mn-cs"/>
              </a:rPr>
              <a:t>代表卷积层的通道数。</a:t>
            </a:r>
          </a:p>
          <a:p>
            <a:r>
              <a:rPr lang="zh-CN" altLang="en-US" sz="1200" b="0" i="0" kern="1200" dirty="0" smtClean="0">
                <a:solidFill>
                  <a:schemeClr val="tx1"/>
                </a:solidFill>
                <a:effectLst/>
                <a:latin typeface="+mn-lt"/>
                <a:ea typeface="+mn-ea"/>
                <a:cs typeface="+mn-cs"/>
              </a:rPr>
              <a:t>池化层均采用相同的池化核参数</a:t>
            </a:r>
          </a:p>
          <a:p>
            <a:r>
              <a:rPr lang="zh-CN" altLang="en-US" sz="1200" b="0" i="0" kern="1200" dirty="0" smtClean="0">
                <a:solidFill>
                  <a:schemeClr val="tx1"/>
                </a:solidFill>
                <a:effectLst/>
                <a:latin typeface="+mn-lt"/>
                <a:ea typeface="+mn-ea"/>
                <a:cs typeface="+mn-cs"/>
              </a:rPr>
              <a:t>池化层的参数均为</a:t>
            </a:r>
            <a:r>
              <a:rPr lang="en-US" altLang="zh-CN" sz="1200" b="0" i="0" kern="1200" dirty="0" smtClean="0">
                <a:solidFill>
                  <a:schemeClr val="tx1"/>
                </a:solidFill>
                <a:effectLst/>
                <a:latin typeface="+mn-lt"/>
                <a:ea typeface="+mn-ea"/>
                <a:cs typeface="+mn-cs"/>
              </a:rPr>
              <a:t>2</a:t>
            </a:r>
            <a:r>
              <a:rPr lang="en-US" altLang="zh-CN" sz="1200" b="0" i="0" u="none" strike="noStrike" kern="1200" dirty="0" smtClean="0">
                <a:solidFill>
                  <a:schemeClr val="tx1"/>
                </a:solidFill>
                <a:effectLst/>
                <a:latin typeface="+mn-lt"/>
                <a:ea typeface="+mn-ea"/>
                <a:cs typeface="+mn-cs"/>
              </a:rPr>
              <a:t>×2</a:t>
            </a:r>
            <a:r>
              <a:rPr lang="zh-CN" altLang="en-US" sz="1200" b="0" i="0" u="none" strike="noStrike" kern="1200" dirty="0" smtClean="0">
                <a:solidFill>
                  <a:schemeClr val="tx1"/>
                </a:solidFill>
                <a:effectLst/>
                <a:latin typeface="+mn-lt"/>
                <a:ea typeface="+mn-ea"/>
                <a:cs typeface="+mn-cs"/>
              </a:rPr>
              <a:t>，步幅</a:t>
            </a:r>
            <a:r>
              <a:rPr lang="en-US" altLang="zh-CN" sz="1200" b="0" i="0" u="none" strike="noStrike" kern="1200" dirty="0" smtClean="0">
                <a:solidFill>
                  <a:schemeClr val="tx1"/>
                </a:solidFill>
                <a:effectLst/>
                <a:latin typeface="+mn-lt"/>
                <a:ea typeface="+mn-ea"/>
                <a:cs typeface="+mn-cs"/>
              </a:rPr>
              <a:t>stride=2</a:t>
            </a:r>
            <a:r>
              <a:rPr lang="zh-CN" altLang="en-US" sz="1200" b="0" i="0" u="none" strike="noStrike" kern="1200" dirty="0" smtClean="0">
                <a:solidFill>
                  <a:schemeClr val="tx1"/>
                </a:solidFill>
                <a:effectLst/>
                <a:latin typeface="+mn-lt"/>
                <a:ea typeface="+mn-ea"/>
                <a:cs typeface="+mn-cs"/>
              </a:rPr>
              <a:t>，</a:t>
            </a:r>
            <a:r>
              <a:rPr lang="en-US" altLang="zh-CN" sz="1200" b="0" i="0" u="none" strike="noStrike" kern="1200" dirty="0" smtClean="0">
                <a:solidFill>
                  <a:schemeClr val="tx1"/>
                </a:solidFill>
                <a:effectLst/>
                <a:latin typeface="+mn-lt"/>
                <a:ea typeface="+mn-ea"/>
                <a:cs typeface="+mn-cs"/>
              </a:rPr>
              <a:t>max</a:t>
            </a:r>
            <a:r>
              <a:rPr lang="zh-CN" altLang="en-US" sz="1200" b="0" i="0" u="none" strike="noStrike" kern="1200" dirty="0" smtClean="0">
                <a:solidFill>
                  <a:schemeClr val="tx1"/>
                </a:solidFill>
                <a:effectLst/>
                <a:latin typeface="+mn-lt"/>
                <a:ea typeface="+mn-ea"/>
                <a:cs typeface="+mn-cs"/>
              </a:rPr>
              <a:t>的池化方式，这样就能够使得每一个池化层（张量）的宽和高是前一层（张量）的</a:t>
            </a:r>
            <a:r>
              <a:rPr lang="en-US" altLang="zh-CN" sz="1200" b="0" i="0" u="none" strike="noStrike" kern="1200" dirty="0" smtClean="0">
                <a:solidFill>
                  <a:schemeClr val="tx1"/>
                </a:solidFill>
                <a:effectLst/>
                <a:latin typeface="+mn-lt"/>
                <a:ea typeface="+mn-ea"/>
                <a:cs typeface="+mn-cs"/>
              </a:rPr>
              <a:t>1/2</a:t>
            </a:r>
            <a:r>
              <a:rPr lang="zh-CN" altLang="en-US" sz="1200" b="0" i="0" u="none" strike="noStrike" kern="1200" dirty="0" smtClean="0">
                <a:solidFill>
                  <a:schemeClr val="tx1"/>
                </a:solidFill>
                <a:effectLst/>
                <a:latin typeface="+mn-lt"/>
                <a:ea typeface="+mn-ea"/>
                <a:cs typeface="+mn-cs"/>
              </a:rPr>
              <a:t>。</a:t>
            </a:r>
            <a:endParaRPr lang="zh-CN" altLang="en-US"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模型是由若干卷积层和池化层堆叠（</a:t>
            </a:r>
            <a:r>
              <a:rPr lang="en-US" altLang="zh-CN" sz="1200" b="0" i="0" kern="1200" dirty="0" smtClean="0">
                <a:solidFill>
                  <a:schemeClr val="tx1"/>
                </a:solidFill>
                <a:effectLst/>
                <a:latin typeface="+mn-lt"/>
                <a:ea typeface="+mn-ea"/>
                <a:cs typeface="+mn-cs"/>
              </a:rPr>
              <a:t>stack</a:t>
            </a:r>
            <a:r>
              <a:rPr lang="zh-CN" altLang="en-US" sz="1200" b="0" i="0" kern="1200" dirty="0" smtClean="0">
                <a:solidFill>
                  <a:schemeClr val="tx1"/>
                </a:solidFill>
                <a:effectLst/>
                <a:latin typeface="+mn-lt"/>
                <a:ea typeface="+mn-ea"/>
                <a:cs typeface="+mn-cs"/>
              </a:rPr>
              <a:t>）的方式构成，比较容易形成较深的网络结构（在</a:t>
            </a:r>
            <a:r>
              <a:rPr lang="en-US" altLang="zh-CN" sz="1200" b="0" i="0" kern="1200" dirty="0" smtClean="0">
                <a:solidFill>
                  <a:schemeClr val="tx1"/>
                </a:solidFill>
                <a:effectLst/>
                <a:latin typeface="+mn-lt"/>
                <a:ea typeface="+mn-ea"/>
                <a:cs typeface="+mn-cs"/>
              </a:rPr>
              <a:t>2014</a:t>
            </a:r>
            <a:r>
              <a:rPr lang="zh-CN" altLang="en-US" sz="1200" b="0" i="0" kern="1200" dirty="0" smtClean="0">
                <a:solidFill>
                  <a:schemeClr val="tx1"/>
                </a:solidFill>
                <a:effectLst/>
                <a:latin typeface="+mn-lt"/>
                <a:ea typeface="+mn-ea"/>
                <a:cs typeface="+mn-cs"/>
              </a:rPr>
              <a:t>年，</a:t>
            </a:r>
            <a:r>
              <a:rPr lang="en-US" altLang="zh-CN" sz="1200" b="0" i="0" kern="1200" dirty="0" smtClean="0">
                <a:solidFill>
                  <a:schemeClr val="tx1"/>
                </a:solidFill>
                <a:effectLst/>
                <a:latin typeface="+mn-lt"/>
                <a:ea typeface="+mn-ea"/>
                <a:cs typeface="+mn-cs"/>
              </a:rPr>
              <a:t>16</a:t>
            </a:r>
            <a:r>
              <a:rPr lang="zh-CN" altLang="en-US" sz="1200" b="0" i="0" kern="1200" dirty="0" smtClean="0">
                <a:solidFill>
                  <a:schemeClr val="tx1"/>
                </a:solidFill>
                <a:effectLst/>
                <a:latin typeface="+mn-lt"/>
                <a:ea typeface="+mn-ea"/>
                <a:cs typeface="+mn-cs"/>
              </a:rPr>
              <a:t>层已经被认为很深了）。</a:t>
            </a:r>
          </a:p>
          <a:p>
            <a:r>
              <a:rPr lang="zh-CN" altLang="en-US" sz="1200" b="0" i="0" kern="1200" dirty="0" smtClean="0">
                <a:solidFill>
                  <a:schemeClr val="tx1"/>
                </a:solidFill>
                <a:effectLst/>
                <a:latin typeface="+mn-lt"/>
                <a:ea typeface="+mn-ea"/>
                <a:cs typeface="+mn-cs"/>
              </a:rPr>
              <a:t>综合上述分析，可以概括</a:t>
            </a:r>
            <a:r>
              <a:rPr lang="en-US" altLang="zh-CN" sz="1200" b="0" i="0" kern="1200" dirty="0" smtClean="0">
                <a:solidFill>
                  <a:schemeClr val="tx1"/>
                </a:solidFill>
                <a:effectLst/>
                <a:latin typeface="+mn-lt"/>
                <a:ea typeface="+mn-ea"/>
                <a:cs typeface="+mn-cs"/>
              </a:rPr>
              <a:t>VGG</a:t>
            </a:r>
            <a:r>
              <a:rPr lang="zh-CN" altLang="en-US" sz="1200" b="0" i="0" kern="1200" dirty="0" smtClean="0">
                <a:solidFill>
                  <a:schemeClr val="tx1"/>
                </a:solidFill>
                <a:effectLst/>
                <a:latin typeface="+mn-lt"/>
                <a:ea typeface="+mn-ea"/>
                <a:cs typeface="+mn-cs"/>
              </a:rPr>
              <a:t>的优点为</a:t>
            </a:r>
            <a:r>
              <a:rPr lang="en-US" altLang="zh-CN" sz="1200" b="0" i="0" kern="1200" dirty="0" smtClean="0">
                <a:solidFill>
                  <a:schemeClr val="tx1"/>
                </a:solidFill>
                <a:effectLst/>
                <a:latin typeface="+mn-lt"/>
                <a:ea typeface="+mn-ea"/>
                <a:cs typeface="+mn-cs"/>
              </a:rPr>
              <a:t>: </a:t>
            </a:r>
            <a:r>
              <a:rPr lang="en-US" altLang="zh-CN" sz="1200" b="1" i="0" kern="1200" dirty="0" smtClean="0">
                <a:solidFill>
                  <a:schemeClr val="tx1"/>
                </a:solidFill>
                <a:effectLst/>
                <a:latin typeface="+mn-lt"/>
                <a:ea typeface="+mn-ea"/>
                <a:cs typeface="+mn-cs"/>
              </a:rPr>
              <a:t>Small filters, Deeper networks</a:t>
            </a:r>
            <a:r>
              <a:rPr lang="en-US" altLang="zh-CN" sz="1200" b="0" i="0" kern="1200" dirty="0" smtClean="0">
                <a:solidFill>
                  <a:schemeClr val="tx1"/>
                </a:solidFill>
                <a:effectLst/>
                <a:latin typeface="+mn-lt"/>
                <a:ea typeface="+mn-ea"/>
                <a:cs typeface="+mn-cs"/>
              </a:rPr>
              <a:t>.</a:t>
            </a:r>
          </a:p>
          <a:p>
            <a:r>
              <a:rPr lang="en-US" altLang="zh-CN" sz="1200" b="0" i="0" kern="1200" dirty="0" err="1" smtClean="0">
                <a:solidFill>
                  <a:schemeClr val="tx1"/>
                </a:solidFill>
                <a:effectLst/>
                <a:latin typeface="+mn-lt"/>
                <a:ea typeface="+mn-ea"/>
                <a:cs typeface="+mn-cs"/>
              </a:rPr>
              <a:t>VGGNet</a:t>
            </a:r>
            <a:r>
              <a:rPr lang="zh-CN" altLang="en-US" sz="1200" b="0" i="0" kern="1200" dirty="0" smtClean="0">
                <a:solidFill>
                  <a:schemeClr val="tx1"/>
                </a:solidFill>
                <a:effectLst/>
                <a:latin typeface="+mn-lt"/>
                <a:ea typeface="+mn-ea"/>
                <a:cs typeface="+mn-cs"/>
              </a:rPr>
              <a:t>有两种结构分别为</a:t>
            </a:r>
            <a:r>
              <a:rPr lang="en-US" altLang="zh-CN" sz="1200" b="0" i="0" kern="1200" dirty="0" smtClean="0">
                <a:solidFill>
                  <a:schemeClr val="tx1"/>
                </a:solidFill>
                <a:effectLst/>
                <a:latin typeface="+mn-lt"/>
                <a:ea typeface="+mn-ea"/>
                <a:cs typeface="+mn-cs"/>
              </a:rPr>
              <a:t>16</a:t>
            </a:r>
            <a:r>
              <a:rPr lang="zh-CN" altLang="en-US" sz="1200" b="0" i="0" kern="1200" dirty="0" smtClean="0">
                <a:solidFill>
                  <a:schemeClr val="tx1"/>
                </a:solidFill>
                <a:effectLst/>
                <a:latin typeface="+mn-lt"/>
                <a:ea typeface="+mn-ea"/>
                <a:cs typeface="+mn-cs"/>
              </a:rPr>
              <a:t>层和</a:t>
            </a:r>
            <a:r>
              <a:rPr lang="en-US" altLang="zh-CN" sz="1200" b="0" i="0" kern="1200" dirty="0" smtClean="0">
                <a:solidFill>
                  <a:schemeClr val="tx1"/>
                </a:solidFill>
                <a:effectLst/>
                <a:latin typeface="+mn-lt"/>
                <a:ea typeface="+mn-ea"/>
                <a:cs typeface="+mn-cs"/>
              </a:rPr>
              <a:t>19</a:t>
            </a:r>
            <a:r>
              <a:rPr lang="zh-CN" altLang="en-US" sz="1200" b="0" i="0" kern="1200" dirty="0" smtClean="0">
                <a:solidFill>
                  <a:schemeClr val="tx1"/>
                </a:solidFill>
                <a:effectLst/>
                <a:latin typeface="+mn-lt"/>
                <a:ea typeface="+mn-ea"/>
                <a:cs typeface="+mn-cs"/>
              </a:rPr>
              <a:t>层，从图</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可以看出，</a:t>
            </a:r>
            <a:r>
              <a:rPr lang="en-US" altLang="zh-CN" sz="1200" b="0" i="0" kern="1200" dirty="0" err="1" smtClean="0">
                <a:solidFill>
                  <a:schemeClr val="tx1"/>
                </a:solidFill>
                <a:effectLst/>
                <a:latin typeface="+mn-lt"/>
                <a:ea typeface="+mn-ea"/>
                <a:cs typeface="+mn-cs"/>
              </a:rPr>
              <a:t>VGGNet</a:t>
            </a:r>
            <a:r>
              <a:rPr lang="zh-CN" altLang="en-US" sz="1200" b="0" i="0" kern="1200" dirty="0" smtClean="0">
                <a:solidFill>
                  <a:schemeClr val="tx1"/>
                </a:solidFill>
                <a:effectLst/>
                <a:latin typeface="+mn-lt"/>
                <a:ea typeface="+mn-ea"/>
                <a:cs typeface="+mn-cs"/>
              </a:rPr>
              <a:t>结构所有卷积层的</a:t>
            </a:r>
            <a:r>
              <a:rPr lang="en-US" altLang="zh-CN" sz="1200" b="0" i="0" kern="1200" dirty="0" smtClean="0">
                <a:solidFill>
                  <a:schemeClr val="tx1"/>
                </a:solidFill>
                <a:effectLst/>
                <a:latin typeface="+mn-lt"/>
                <a:ea typeface="+mn-ea"/>
                <a:cs typeface="+mn-cs"/>
              </a:rPr>
              <a:t>kernel</a:t>
            </a:r>
            <a:r>
              <a:rPr lang="zh-CN" altLang="en-US" sz="1200" b="0" i="0" kern="1200" dirty="0" smtClean="0">
                <a:solidFill>
                  <a:schemeClr val="tx1"/>
                </a:solidFill>
                <a:effectLst/>
                <a:latin typeface="+mn-lt"/>
                <a:ea typeface="+mn-ea"/>
                <a:cs typeface="+mn-cs"/>
              </a:rPr>
              <a:t>都只有</a:t>
            </a:r>
            <a:r>
              <a:rPr lang="en-US" altLang="zh-CN" sz="1200" b="0" i="0" kern="1200" dirty="0" smtClean="0">
                <a:solidFill>
                  <a:schemeClr val="tx1"/>
                </a:solidFill>
                <a:effectLst/>
                <a:latin typeface="+mn-lt"/>
                <a:ea typeface="+mn-ea"/>
                <a:cs typeface="+mn-cs"/>
              </a:rPr>
              <a:t>3*3</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VGGNet</a:t>
            </a:r>
            <a:r>
              <a:rPr lang="zh-CN" altLang="en-US" sz="1200" b="0" i="0" kern="1200" dirty="0" smtClean="0">
                <a:solidFill>
                  <a:schemeClr val="tx1"/>
                </a:solidFill>
                <a:effectLst/>
                <a:latin typeface="+mn-lt"/>
                <a:ea typeface="+mn-ea"/>
                <a:cs typeface="+mn-cs"/>
              </a:rPr>
              <a:t>中连续使用</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组</a:t>
            </a:r>
            <a:r>
              <a:rPr lang="en-US" altLang="zh-CN" sz="1200" b="0" i="0" kern="1200" dirty="0" smtClean="0">
                <a:solidFill>
                  <a:schemeClr val="tx1"/>
                </a:solidFill>
                <a:effectLst/>
                <a:latin typeface="+mn-lt"/>
                <a:ea typeface="+mn-ea"/>
                <a:cs typeface="+mn-cs"/>
              </a:rPr>
              <a:t>3*3kernel</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stride</a:t>
            </a:r>
            <a:r>
              <a:rPr lang="zh-CN" altLang="en-US" sz="1200" b="0" i="0" kern="1200" dirty="0" smtClean="0">
                <a:solidFill>
                  <a:schemeClr val="tx1"/>
                </a:solidFill>
                <a:effectLst/>
                <a:latin typeface="+mn-lt"/>
                <a:ea typeface="+mn-ea"/>
                <a:cs typeface="+mn-cs"/>
              </a:rPr>
              <a:t>为</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）的原因是它和使用</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个</a:t>
            </a:r>
            <a:r>
              <a:rPr lang="en-US" altLang="zh-CN" sz="1200" b="0" i="0" kern="1200" dirty="0" smtClean="0">
                <a:solidFill>
                  <a:schemeClr val="tx1"/>
                </a:solidFill>
                <a:effectLst/>
                <a:latin typeface="+mn-lt"/>
                <a:ea typeface="+mn-ea"/>
                <a:cs typeface="+mn-cs"/>
              </a:rPr>
              <a:t>7*7kernel</a:t>
            </a:r>
            <a:r>
              <a:rPr lang="zh-CN" altLang="en-US" sz="1200" b="0" i="0" kern="1200" dirty="0" smtClean="0">
                <a:solidFill>
                  <a:schemeClr val="tx1"/>
                </a:solidFill>
                <a:effectLst/>
                <a:latin typeface="+mn-lt"/>
                <a:ea typeface="+mn-ea"/>
                <a:cs typeface="+mn-cs"/>
              </a:rPr>
              <a:t>产生的效果相同（图以一维卷积为例解释效果相同的原理），然而更深的网络结构会学习到更复杂的非线性关系，使得模型效果更好。该操作带来的另一个好处是参数数量的减少，因为对于一个有</a:t>
            </a:r>
            <a:r>
              <a:rPr lang="en-US" altLang="zh-CN" sz="1200" b="0" i="0" kern="1200" dirty="0"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个</a:t>
            </a:r>
            <a:r>
              <a:rPr lang="en-US" altLang="zh-CN" sz="1200" b="0" i="0" kern="1200" dirty="0" smtClean="0">
                <a:solidFill>
                  <a:schemeClr val="tx1"/>
                </a:solidFill>
                <a:effectLst/>
                <a:latin typeface="+mn-lt"/>
                <a:ea typeface="+mn-ea"/>
                <a:cs typeface="+mn-cs"/>
              </a:rPr>
              <a:t>kernel</a:t>
            </a:r>
            <a:r>
              <a:rPr lang="zh-CN" altLang="en-US" sz="1200" b="0" i="0" kern="1200" dirty="0" smtClean="0">
                <a:solidFill>
                  <a:schemeClr val="tx1"/>
                </a:solidFill>
                <a:effectLst/>
                <a:latin typeface="+mn-lt"/>
                <a:ea typeface="+mn-ea"/>
                <a:cs typeface="+mn-cs"/>
              </a:rPr>
              <a:t>的卷积层来说，原来的参数个数为</a:t>
            </a:r>
            <a:r>
              <a:rPr lang="en-US" altLang="zh-CN" sz="1200" b="0" i="0" kern="1200" dirty="0" smtClean="0">
                <a:solidFill>
                  <a:schemeClr val="tx1"/>
                </a:solidFill>
                <a:effectLst/>
                <a:latin typeface="+mn-lt"/>
                <a:ea typeface="+mn-ea"/>
                <a:cs typeface="+mn-cs"/>
              </a:rPr>
              <a:t>7*7*C</a:t>
            </a:r>
            <a:r>
              <a:rPr lang="zh-CN" altLang="en-US" sz="1200" b="0" i="0" kern="1200" dirty="0" smtClean="0">
                <a:solidFill>
                  <a:schemeClr val="tx1"/>
                </a:solidFill>
                <a:effectLst/>
                <a:latin typeface="+mn-lt"/>
                <a:ea typeface="+mn-ea"/>
                <a:cs typeface="+mn-cs"/>
              </a:rPr>
              <a:t>，而新的参数个数为</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3*3*C</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尽管</a:t>
            </a:r>
            <a:r>
              <a:rPr lang="en-US" altLang="zh-CN" sz="1200" b="0" i="0" kern="1200" dirty="0" smtClean="0">
                <a:solidFill>
                  <a:schemeClr val="tx1"/>
                </a:solidFill>
                <a:effectLst/>
                <a:latin typeface="+mn-lt"/>
                <a:ea typeface="+mn-ea"/>
                <a:cs typeface="+mn-cs"/>
              </a:rPr>
              <a:t>VGG</a:t>
            </a:r>
            <a:r>
              <a:rPr lang="zh-CN" altLang="en-US" sz="1200" b="0" i="0" kern="1200" dirty="0" smtClean="0">
                <a:solidFill>
                  <a:schemeClr val="tx1"/>
                </a:solidFill>
                <a:effectLst/>
                <a:latin typeface="+mn-lt"/>
                <a:ea typeface="+mn-ea"/>
                <a:cs typeface="+mn-cs"/>
              </a:rPr>
              <a:t>的结构简单，所包含的权重数目却很大，这包括了卷积层与全连接层的权重参数。这导致了训练时间过长，调参难度大。需要的存储容量大，不利于部署。例如存储</a:t>
            </a:r>
            <a:r>
              <a:rPr lang="en-US" altLang="zh-CN" sz="1200" b="0" i="0" kern="1200" dirty="0" smtClean="0">
                <a:solidFill>
                  <a:schemeClr val="tx1"/>
                </a:solidFill>
                <a:effectLst/>
                <a:latin typeface="+mn-lt"/>
                <a:ea typeface="+mn-ea"/>
                <a:cs typeface="+mn-cs"/>
              </a:rPr>
              <a:t>VGG16</a:t>
            </a:r>
            <a:r>
              <a:rPr lang="zh-CN" altLang="en-US" sz="1200" b="0" i="0" kern="1200" dirty="0" smtClean="0">
                <a:solidFill>
                  <a:schemeClr val="tx1"/>
                </a:solidFill>
                <a:effectLst/>
                <a:latin typeface="+mn-lt"/>
                <a:ea typeface="+mn-ea"/>
                <a:cs typeface="+mn-cs"/>
              </a:rPr>
              <a:t>权重值文件的大小为</a:t>
            </a:r>
            <a:r>
              <a:rPr lang="en-US" altLang="zh-CN" sz="1200" b="0" i="0" kern="1200" dirty="0" smtClean="0">
                <a:solidFill>
                  <a:schemeClr val="tx1"/>
                </a:solidFill>
                <a:effectLst/>
                <a:latin typeface="+mn-lt"/>
                <a:ea typeface="+mn-ea"/>
                <a:cs typeface="+mn-cs"/>
              </a:rPr>
              <a:t>500</a:t>
            </a:r>
            <a:r>
              <a:rPr lang="zh-CN" altLang="en-US" sz="1200" b="0" i="0" kern="1200" dirty="0" smtClean="0">
                <a:solidFill>
                  <a:schemeClr val="tx1"/>
                </a:solidFill>
                <a:effectLst/>
                <a:latin typeface="+mn-lt"/>
                <a:ea typeface="+mn-ea"/>
                <a:cs typeface="+mn-cs"/>
              </a:rPr>
              <a:t>多</a:t>
            </a:r>
            <a:r>
              <a:rPr lang="en-US" altLang="zh-CN" sz="1200" b="0" i="0" kern="1200" dirty="0" smtClean="0">
                <a:solidFill>
                  <a:schemeClr val="tx1"/>
                </a:solidFill>
                <a:effectLst/>
                <a:latin typeface="+mn-lt"/>
                <a:ea typeface="+mn-ea"/>
                <a:cs typeface="+mn-cs"/>
              </a:rPr>
              <a:t>MB</a:t>
            </a:r>
            <a:r>
              <a:rPr lang="zh-CN" altLang="en-US" sz="1200" b="0" i="0" kern="1200" dirty="0" smtClean="0">
                <a:solidFill>
                  <a:schemeClr val="tx1"/>
                </a:solidFill>
                <a:effectLst/>
                <a:latin typeface="+mn-lt"/>
                <a:ea typeface="+mn-ea"/>
                <a:cs typeface="+mn-cs"/>
              </a:rPr>
              <a:t>，不利于安装到嵌入式系统中。</a:t>
            </a:r>
          </a:p>
          <a:p>
            <a:pPr marL="0" marR="0" indent="0" algn="l" defTabSz="914400" rtl="0" eaLnBrk="1" fontAlgn="base" latinLnBrk="0" hangingPunct="1">
              <a:lnSpc>
                <a:spcPct val="100000"/>
              </a:lnSpc>
              <a:spcBef>
                <a:spcPct val="0"/>
              </a:spcBef>
              <a:spcAft>
                <a:spcPct val="0"/>
              </a:spcAft>
              <a:buClrTx/>
              <a:buSzTx/>
              <a:buFontTx/>
              <a:buNone/>
              <a:tabLst/>
              <a:defRPr/>
            </a:pPr>
            <a:endParaRPr lang="zh-CN" altLang="en-US" sz="1200" b="0" i="0" kern="1200" dirty="0" smtClean="0">
              <a:solidFill>
                <a:schemeClr val="tx1"/>
              </a:solidFill>
              <a:effectLst/>
              <a:latin typeface="+mn-lt"/>
              <a:ea typeface="+mn-ea"/>
              <a:cs typeface="+mn-cs"/>
            </a:endParaRPr>
          </a:p>
          <a:p>
            <a:pPr marL="0" marR="0" indent="0" algn="l" defTabSz="914400" rtl="0" eaLnBrk="1" fontAlgn="base" latinLnBrk="0" hangingPunct="1">
              <a:lnSpc>
                <a:spcPct val="100000"/>
              </a:lnSpc>
              <a:spcBef>
                <a:spcPct val="0"/>
              </a:spcBef>
              <a:spcAft>
                <a:spcPct val="0"/>
              </a:spcAft>
              <a:buClrTx/>
              <a:buSzTx/>
              <a:buFontTx/>
              <a:buNone/>
              <a:tabLst/>
              <a:defRPr/>
            </a:pPr>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036080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GoogLeNet</a:t>
            </a:r>
            <a:r>
              <a:rPr lang="zh-CN" altLang="en-US" dirty="0" smtClean="0"/>
              <a:t>专注于加深网络结构，同时引入了新的基本结构</a:t>
            </a:r>
            <a:r>
              <a:rPr lang="en-US" altLang="zh-CN" dirty="0" smtClean="0"/>
              <a:t>——Inception</a:t>
            </a:r>
            <a:r>
              <a:rPr lang="zh-CN" altLang="en-US" dirty="0" smtClean="0"/>
              <a:t>模块</a:t>
            </a:r>
            <a:r>
              <a:rPr lang="en-US" altLang="zh-CN" dirty="0" smtClean="0"/>
              <a:t>,</a:t>
            </a:r>
            <a:r>
              <a:rPr lang="zh-CN" altLang="en-US" dirty="0" smtClean="0"/>
              <a:t>以增加网络的宽度。</a:t>
            </a:r>
            <a:r>
              <a:rPr lang="en-US" altLang="zh-CN" dirty="0" err="1" smtClean="0"/>
              <a:t>GoogLeNet</a:t>
            </a:r>
            <a:r>
              <a:rPr lang="zh-CN" altLang="en-US" dirty="0" smtClean="0"/>
              <a:t>一共</a:t>
            </a:r>
            <a:r>
              <a:rPr lang="en-US" altLang="zh-CN" dirty="0" smtClean="0"/>
              <a:t>22</a:t>
            </a:r>
            <a:r>
              <a:rPr lang="zh-CN" altLang="en-US" dirty="0" smtClean="0"/>
              <a:t>层</a:t>
            </a:r>
            <a:r>
              <a:rPr lang="en-US" altLang="zh-CN" dirty="0" smtClean="0"/>
              <a:t>,</a:t>
            </a:r>
            <a:r>
              <a:rPr lang="zh-CN" altLang="en-US" dirty="0" smtClean="0"/>
              <a:t>主干网络没有全连接层，在</a:t>
            </a:r>
            <a:r>
              <a:rPr lang="en-US" altLang="zh-CN" dirty="0" smtClean="0"/>
              <a:t>2014</a:t>
            </a:r>
            <a:r>
              <a:rPr lang="zh-CN" altLang="en-US" dirty="0" smtClean="0"/>
              <a:t>年的</a:t>
            </a:r>
            <a:r>
              <a:rPr lang="en-US" altLang="zh-CN" dirty="0" err="1" smtClean="0"/>
              <a:t>ImageNet</a:t>
            </a:r>
            <a:r>
              <a:rPr lang="zh-CN" altLang="en-US" dirty="0" smtClean="0"/>
              <a:t>图像识别挑战赛中获得了冠军。</a:t>
            </a:r>
            <a:endParaRPr lang="en-US" altLang="zh-CN" dirty="0" smtClean="0"/>
          </a:p>
          <a:p>
            <a:r>
              <a:rPr lang="en-US" altLang="zh-CN" dirty="0" err="1" smtClean="0"/>
              <a:t>GoogLeNet</a:t>
            </a:r>
            <a:r>
              <a:rPr lang="zh-CN" altLang="en-US" dirty="0" smtClean="0"/>
              <a:t>最初始的想法很简单</a:t>
            </a:r>
            <a:r>
              <a:rPr lang="en-US" altLang="zh-CN" dirty="0" smtClean="0"/>
              <a:t>,</a:t>
            </a:r>
            <a:r>
              <a:rPr lang="zh-CN" altLang="en-US" dirty="0" smtClean="0"/>
              <a:t>想要更好的预测效果，</a:t>
            </a:r>
          </a:p>
          <a:p>
            <a:r>
              <a:rPr lang="zh-CN" altLang="en-US" dirty="0" smtClean="0"/>
              <a:t>就要从网络深度和网络宽度两个角度出发增加网络的复杂度。但这个思路有两个较为明显的问题。首先</a:t>
            </a:r>
            <a:r>
              <a:rPr lang="en-US" altLang="zh-CN" dirty="0" smtClean="0"/>
              <a:t>,</a:t>
            </a:r>
            <a:r>
              <a:rPr lang="zh-CN" altLang="en-US" dirty="0" smtClean="0"/>
              <a:t>更复杂的网络意味着更多的参数</a:t>
            </a:r>
            <a:r>
              <a:rPr lang="en-US" altLang="zh-CN" dirty="0" smtClean="0"/>
              <a:t>,</a:t>
            </a:r>
            <a:r>
              <a:rPr lang="zh-CN" altLang="en-US" dirty="0" smtClean="0"/>
              <a:t>就算是</a:t>
            </a:r>
            <a:r>
              <a:rPr lang="en-US" altLang="zh-CN" dirty="0" smtClean="0"/>
              <a:t>ILSVRC</a:t>
            </a:r>
            <a:r>
              <a:rPr lang="zh-CN" altLang="en-US" dirty="0" smtClean="0"/>
              <a:t>这种有</a:t>
            </a:r>
            <a:r>
              <a:rPr lang="en-US" altLang="zh-CN" dirty="0" smtClean="0"/>
              <a:t>1000</a:t>
            </a:r>
            <a:r>
              <a:rPr lang="zh-CN" altLang="en-US" dirty="0" smtClean="0"/>
              <a:t>类标签的数据集也很容易过拟合。其次，更复杂的网络会消耗更多的计算资源，而且卷积核个数设计不合理，导致了卷积核中参数没有被完全利用</a:t>
            </a:r>
            <a:r>
              <a:rPr lang="en-US" altLang="zh-CN" dirty="0" smtClean="0"/>
              <a:t>(</a:t>
            </a:r>
            <a:r>
              <a:rPr lang="zh-CN" altLang="en-US" dirty="0" smtClean="0"/>
              <a:t>多数权重都趋近</a:t>
            </a:r>
            <a:r>
              <a:rPr lang="en-US" altLang="zh-CN" dirty="0" smtClean="0"/>
              <a:t>0)</a:t>
            </a:r>
            <a:r>
              <a:rPr lang="zh-CN" altLang="en-US" dirty="0" smtClean="0"/>
              <a:t>时</a:t>
            </a:r>
            <a:r>
              <a:rPr lang="en-US" altLang="zh-CN" dirty="0" smtClean="0"/>
              <a:t>,</a:t>
            </a:r>
            <a:r>
              <a:rPr lang="zh-CN" altLang="en-US" dirty="0" smtClean="0"/>
              <a:t>会造成大量计算资源的浪费。</a:t>
            </a:r>
            <a:endParaRPr lang="en-US" altLang="zh-CN" dirty="0" smtClean="0"/>
          </a:p>
          <a:p>
            <a:r>
              <a:rPr lang="en-US" altLang="zh-CN" dirty="0" err="1" smtClean="0"/>
              <a:t>GoogLeNet</a:t>
            </a:r>
            <a:r>
              <a:rPr lang="zh-CN" altLang="en-US" dirty="0" smtClean="0"/>
              <a:t>引入</a:t>
            </a:r>
            <a:r>
              <a:rPr lang="en-US" altLang="zh-CN" dirty="0" smtClean="0"/>
              <a:t>inception</a:t>
            </a:r>
            <a:r>
              <a:rPr lang="zh-CN" altLang="en-US" dirty="0" smtClean="0"/>
              <a:t>模块来解决上述问题，其中涉及大量的数学推导和原理，感兴趣的读者可查阅相关资料，这里以一种简单的方式解释</a:t>
            </a:r>
            <a:r>
              <a:rPr lang="en-US" altLang="zh-CN" dirty="0" smtClean="0"/>
              <a:t>inception </a:t>
            </a:r>
            <a:r>
              <a:rPr lang="zh-CN" altLang="en-US" dirty="0" smtClean="0"/>
              <a:t>设计的初衷。</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51778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首先，神经网络的权重矩阵是稀疏的，如果能将上图左边的稀疏矩阵和（</a:t>
            </a:r>
            <a:r>
              <a:rPr lang="en-US" altLang="zh-CN" dirty="0" smtClean="0"/>
              <a:t>2,2)</a:t>
            </a:r>
            <a:r>
              <a:rPr lang="zh-CN" altLang="en-US" dirty="0" smtClean="0"/>
              <a:t>的矩阵卷积转换成右边</a:t>
            </a:r>
            <a:r>
              <a:rPr lang="en-US" altLang="zh-CN" dirty="0" smtClean="0"/>
              <a:t>2</a:t>
            </a:r>
            <a:r>
              <a:rPr lang="zh-CN" altLang="en-US" dirty="0" smtClean="0"/>
              <a:t>个子矩阵和（</a:t>
            </a:r>
            <a:r>
              <a:rPr lang="en-US" altLang="zh-CN" dirty="0" smtClean="0"/>
              <a:t>2,2</a:t>
            </a:r>
            <a:r>
              <a:rPr lang="zh-CN" altLang="en-US" dirty="0" smtClean="0"/>
              <a:t>）矩阵做卷积的方式，就能大大降低计算量。那么</a:t>
            </a:r>
            <a:r>
              <a:rPr lang="en-US" altLang="zh-CN" dirty="0" smtClean="0"/>
              <a:t>,</a:t>
            </a:r>
            <a:r>
              <a:rPr lang="zh-CN" altLang="en-US" dirty="0" smtClean="0"/>
              <a:t>同样的道理，应用在降低卷积神经网络的计算量上就产生了下图所示的 </a:t>
            </a:r>
            <a:r>
              <a:rPr lang="en-US" altLang="zh-CN" dirty="0" smtClean="0"/>
              <a:t>inception </a:t>
            </a:r>
            <a:r>
              <a:rPr lang="zh-CN" altLang="en-US" dirty="0" smtClean="0"/>
              <a:t>结构。在这个结构中，将</a:t>
            </a:r>
            <a:r>
              <a:rPr lang="en-US" altLang="zh-CN" dirty="0" smtClean="0"/>
              <a:t>256</a:t>
            </a:r>
            <a:r>
              <a:rPr lang="zh-CN" altLang="en-US" dirty="0" smtClean="0"/>
              <a:t>个均匀分布在（</a:t>
            </a:r>
            <a:r>
              <a:rPr lang="en-US" altLang="zh-CN" dirty="0" smtClean="0"/>
              <a:t>3</a:t>
            </a:r>
            <a:r>
              <a:rPr lang="zh-CN" altLang="en-US" dirty="0" smtClean="0"/>
              <a:t>，</a:t>
            </a:r>
            <a:r>
              <a:rPr lang="en-US" altLang="zh-CN" dirty="0" smtClean="0"/>
              <a:t>3</a:t>
            </a:r>
            <a:r>
              <a:rPr lang="zh-CN" altLang="en-US" dirty="0" smtClean="0"/>
              <a:t>）尺度的特征转换成多个不同尺度的聚类，这样可以使计算更有效</a:t>
            </a:r>
            <a:r>
              <a:rPr lang="en-US" altLang="zh-CN" dirty="0" smtClean="0"/>
              <a:t>,</a:t>
            </a:r>
            <a:r>
              <a:rPr lang="zh-CN" altLang="en-US" dirty="0" smtClean="0"/>
              <a:t>收敛更快。</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8031667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但是，</a:t>
            </a:r>
            <a:r>
              <a:rPr lang="en-US" altLang="zh-CN" dirty="0" smtClean="0"/>
              <a:t>inception</a:t>
            </a:r>
            <a:r>
              <a:rPr lang="zh-CN" altLang="en-US" dirty="0" smtClean="0"/>
              <a:t>结构仍然有较大的计算量，如表所示。可以看出，对于最简单的</a:t>
            </a:r>
            <a:r>
              <a:rPr lang="en-US" altLang="zh-CN" dirty="0" smtClean="0"/>
              <a:t>inception</a:t>
            </a:r>
            <a:r>
              <a:rPr lang="zh-CN" altLang="en-US" dirty="0" smtClean="0"/>
              <a:t>结构而言，一个（</a:t>
            </a:r>
            <a:r>
              <a:rPr lang="en-US" altLang="zh-CN" dirty="0" smtClean="0"/>
              <a:t>28</a:t>
            </a:r>
            <a:r>
              <a:rPr lang="zh-CN" altLang="en-US" dirty="0" smtClean="0"/>
              <a:t>，</a:t>
            </a:r>
            <a:r>
              <a:rPr lang="en-US" altLang="zh-CN" dirty="0" smtClean="0"/>
              <a:t>28</a:t>
            </a:r>
            <a:r>
              <a:rPr lang="zh-CN" altLang="en-US" dirty="0" smtClean="0"/>
              <a:t>，</a:t>
            </a:r>
            <a:r>
              <a:rPr lang="en-US" altLang="zh-CN" dirty="0" smtClean="0"/>
              <a:t>256</a:t>
            </a:r>
            <a:r>
              <a:rPr lang="zh-CN" altLang="en-US" dirty="0" smtClean="0"/>
              <a:t>）的输入最终计算量约为</a:t>
            </a:r>
            <a:r>
              <a:rPr lang="en-US" altLang="zh-CN" dirty="0" smtClean="0"/>
              <a:t>854M</a:t>
            </a:r>
            <a:r>
              <a:rPr lang="zh-CN" altLang="en-US" dirty="0" smtClean="0"/>
              <a:t>。</a:t>
            </a:r>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1116227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为了进一步减小计算量，</a:t>
            </a:r>
            <a:r>
              <a:rPr lang="en-US" altLang="zh-CN" sz="1200" b="0" i="0" kern="1200" dirty="0" err="1" smtClean="0">
                <a:solidFill>
                  <a:schemeClr val="tx1"/>
                </a:solidFill>
                <a:effectLst/>
                <a:latin typeface="+mn-lt"/>
                <a:ea typeface="+mn-ea"/>
                <a:cs typeface="+mn-cs"/>
              </a:rPr>
              <a:t>Szegedy</a:t>
            </a:r>
            <a:r>
              <a:rPr lang="zh-CN" altLang="en-US" sz="1200" b="0" i="0" kern="1200" dirty="0" smtClean="0">
                <a:solidFill>
                  <a:schemeClr val="tx1"/>
                </a:solidFill>
                <a:effectLst/>
                <a:latin typeface="+mn-lt"/>
                <a:ea typeface="+mn-ea"/>
                <a:cs typeface="+mn-cs"/>
              </a:rPr>
              <a:t>等人引入小尺寸</a:t>
            </a:r>
            <a:r>
              <a:rPr lang="en-US" altLang="zh-CN" sz="1200" b="0" i="0" kern="1200" dirty="0" smtClean="0">
                <a:solidFill>
                  <a:schemeClr val="tx1"/>
                </a:solidFill>
                <a:effectLst/>
                <a:latin typeface="+mn-lt"/>
                <a:ea typeface="+mn-ea"/>
                <a:cs typeface="+mn-cs"/>
              </a:rPr>
              <a:t>kernel</a:t>
            </a:r>
            <a:r>
              <a:rPr lang="zh-CN" altLang="en-US" sz="1200" b="0" i="0" kern="1200" dirty="0" smtClean="0">
                <a:solidFill>
                  <a:schemeClr val="tx1"/>
                </a:solidFill>
                <a:effectLst/>
                <a:latin typeface="+mn-lt"/>
                <a:ea typeface="+mn-ea"/>
                <a:cs typeface="+mn-cs"/>
              </a:rPr>
              <a:t>对</a:t>
            </a:r>
            <a:r>
              <a:rPr lang="en-US" altLang="zh-CN" sz="1200" b="0" i="0" kern="1200" dirty="0" smtClean="0">
                <a:solidFill>
                  <a:schemeClr val="tx1"/>
                </a:solidFill>
                <a:effectLst/>
                <a:latin typeface="+mn-lt"/>
                <a:ea typeface="+mn-ea"/>
                <a:cs typeface="+mn-cs"/>
              </a:rPr>
              <a:t>inception</a:t>
            </a:r>
            <a:r>
              <a:rPr lang="zh-CN" altLang="en-US" sz="1200" b="0" i="0" kern="1200" dirty="0" smtClean="0">
                <a:solidFill>
                  <a:schemeClr val="tx1"/>
                </a:solidFill>
                <a:effectLst/>
                <a:latin typeface="+mn-lt"/>
                <a:ea typeface="+mn-ea"/>
                <a:cs typeface="+mn-cs"/>
              </a:rPr>
              <a:t>结构进行降维，如图所示。通过降维，原来一个</a:t>
            </a:r>
            <a:r>
              <a:rPr lang="en-US" altLang="zh-CN" sz="1200" b="0" i="0" kern="1200" dirty="0" smtClean="0">
                <a:solidFill>
                  <a:schemeClr val="tx1"/>
                </a:solidFill>
                <a:effectLst/>
                <a:latin typeface="+mn-lt"/>
                <a:ea typeface="+mn-ea"/>
                <a:cs typeface="+mn-cs"/>
              </a:rPr>
              <a:t>28*28*256</a:t>
            </a:r>
            <a:r>
              <a:rPr lang="zh-CN" altLang="en-US" sz="1200" b="0" i="0" kern="1200" dirty="0" smtClean="0">
                <a:solidFill>
                  <a:schemeClr val="tx1"/>
                </a:solidFill>
                <a:effectLst/>
                <a:latin typeface="+mn-lt"/>
                <a:ea typeface="+mn-ea"/>
                <a:cs typeface="+mn-cs"/>
              </a:rPr>
              <a:t>的输入计算量仅仅需要降低到约</a:t>
            </a:r>
            <a:r>
              <a:rPr lang="en-US" altLang="zh-CN" sz="1200" b="0" i="0" kern="1200" dirty="0" smtClean="0">
                <a:solidFill>
                  <a:schemeClr val="tx1"/>
                </a:solidFill>
                <a:effectLst/>
                <a:latin typeface="+mn-lt"/>
                <a:ea typeface="+mn-ea"/>
                <a:cs typeface="+mn-cs"/>
              </a:rPr>
              <a:t>358M</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这里对图做一些补充说明。不同大小的卷积核意味着不同大小的感受野，最后拼接意味着不同尺度特征的融合，使用（</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5</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5</a:t>
            </a:r>
            <a:r>
              <a:rPr lang="zh-CN" altLang="en-US" sz="1200" b="0" i="0" kern="1200" dirty="0" smtClean="0">
                <a:solidFill>
                  <a:schemeClr val="tx1"/>
                </a:solidFill>
                <a:effectLst/>
                <a:latin typeface="+mn-lt"/>
                <a:ea typeface="+mn-ea"/>
                <a:cs typeface="+mn-cs"/>
              </a:rPr>
              <a:t>）的卷积核是为了方便对齐，设定步长为</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后，只需要分别设定填充的大小为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就能得到相同维度的特征，并将这些特征拼接到一起。</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使用（</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）的卷积核到底有什么作用呢</a:t>
            </a:r>
            <a:r>
              <a:rPr lang="en-US" altLang="zh-CN" sz="1200" b="0" i="0" kern="1200" dirty="0" smtClean="0">
                <a:solidFill>
                  <a:schemeClr val="tx1"/>
                </a:solidFill>
                <a:effectLst/>
                <a:latin typeface="+mn-lt"/>
                <a:ea typeface="+mn-ea"/>
                <a:cs typeface="+mn-cs"/>
              </a:rPr>
              <a:t>?</a:t>
            </a:r>
          </a:p>
          <a:p>
            <a:r>
              <a:rPr lang="zh-CN" altLang="en-US" sz="1200" b="0" i="0" kern="1200" dirty="0" smtClean="0">
                <a:solidFill>
                  <a:schemeClr val="tx1"/>
                </a:solidFill>
                <a:effectLst/>
                <a:latin typeface="+mn-lt"/>
                <a:ea typeface="+mn-ea"/>
                <a:cs typeface="+mn-cs"/>
              </a:rPr>
              <a:t>答案是可以减小维度</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并且修正线性激活函数。比如</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上一层的输出为（</a:t>
            </a:r>
            <a:r>
              <a:rPr lang="en-US" altLang="zh-CN" sz="1200" b="0" i="0" kern="1200" dirty="0" smtClean="0">
                <a:solidFill>
                  <a:schemeClr val="tx1"/>
                </a:solidFill>
                <a:effectLst/>
                <a:latin typeface="+mn-lt"/>
                <a:ea typeface="+mn-ea"/>
                <a:cs typeface="+mn-cs"/>
              </a:rPr>
              <a:t>100,100</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128</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经过具有</a:t>
            </a:r>
            <a:r>
              <a:rPr lang="en-US" altLang="zh-CN" sz="1200" b="0" i="0" kern="1200" dirty="0" smtClean="0">
                <a:solidFill>
                  <a:schemeClr val="tx1"/>
                </a:solidFill>
                <a:effectLst/>
                <a:latin typeface="+mn-lt"/>
                <a:ea typeface="+mn-ea"/>
                <a:cs typeface="+mn-cs"/>
              </a:rPr>
              <a:t>256</a:t>
            </a:r>
            <a:r>
              <a:rPr lang="zh-CN" altLang="en-US" sz="1200" b="0" i="0" kern="1200" dirty="0" smtClean="0">
                <a:solidFill>
                  <a:schemeClr val="tx1"/>
                </a:solidFill>
                <a:effectLst/>
                <a:latin typeface="+mn-lt"/>
                <a:ea typeface="+mn-ea"/>
                <a:cs typeface="+mn-cs"/>
              </a:rPr>
              <a:t>个通道的（</a:t>
            </a:r>
            <a:r>
              <a:rPr lang="en-US" altLang="zh-CN" sz="1200" b="0" i="0" kern="1200" dirty="0" smtClean="0">
                <a:solidFill>
                  <a:schemeClr val="tx1"/>
                </a:solidFill>
                <a:effectLst/>
                <a:latin typeface="+mn-lt"/>
                <a:ea typeface="+mn-ea"/>
                <a:cs typeface="+mn-cs"/>
              </a:rPr>
              <a:t>5,5</a:t>
            </a:r>
            <a:r>
              <a:rPr lang="zh-CN" altLang="en-US" sz="1200" b="0" i="0" kern="1200" dirty="0" smtClean="0">
                <a:solidFill>
                  <a:schemeClr val="tx1"/>
                </a:solidFill>
                <a:effectLst/>
                <a:latin typeface="+mn-lt"/>
                <a:ea typeface="+mn-ea"/>
                <a:cs typeface="+mn-cs"/>
              </a:rPr>
              <a:t>）卷积层之后（</a:t>
            </a:r>
            <a:r>
              <a:rPr lang="en-US" altLang="zh-CN" sz="1200" b="0" i="0" kern="1200" dirty="0" smtClean="0">
                <a:solidFill>
                  <a:schemeClr val="tx1"/>
                </a:solidFill>
                <a:effectLst/>
                <a:latin typeface="+mn-lt"/>
                <a:ea typeface="+mn-ea"/>
                <a:cs typeface="+mn-cs"/>
              </a:rPr>
              <a:t>stride=1, padding=2),</a:t>
            </a:r>
            <a:r>
              <a:rPr lang="zh-CN" altLang="en-US" sz="1200" b="0" i="0" kern="1200" dirty="0" smtClean="0">
                <a:solidFill>
                  <a:schemeClr val="tx1"/>
                </a:solidFill>
                <a:effectLst/>
                <a:latin typeface="+mn-lt"/>
                <a:ea typeface="+mn-ea"/>
                <a:cs typeface="+mn-cs"/>
              </a:rPr>
              <a:t>输出数据为（</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100,256</a:t>
            </a:r>
            <a:r>
              <a:rPr lang="zh-CN" altLang="en-US" sz="1200" b="0" i="0" kern="1200" dirty="0" smtClean="0">
                <a:solidFill>
                  <a:schemeClr val="tx1"/>
                </a:solidFill>
                <a:effectLst/>
                <a:latin typeface="+mn-lt"/>
                <a:ea typeface="+mn-ea"/>
                <a:cs typeface="+mn-cs"/>
              </a:rPr>
              <a:t>）。其中</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卷积层的参数为</a:t>
            </a:r>
            <a:r>
              <a:rPr lang="en-US" altLang="zh-CN" sz="1200" b="0" i="0" kern="1200" dirty="0" smtClean="0">
                <a:solidFill>
                  <a:schemeClr val="tx1"/>
                </a:solidFill>
                <a:effectLst/>
                <a:latin typeface="+mn-lt"/>
                <a:ea typeface="+mn-ea"/>
                <a:cs typeface="+mn-cs"/>
              </a:rPr>
              <a:t>128×5×5×256=819200</a:t>
            </a:r>
            <a:r>
              <a:rPr lang="zh-CN" altLang="en-US" sz="1200" b="0" i="0" kern="1200" dirty="0" smtClean="0">
                <a:solidFill>
                  <a:schemeClr val="tx1"/>
                </a:solidFill>
                <a:effectLst/>
                <a:latin typeface="+mn-lt"/>
                <a:ea typeface="+mn-ea"/>
                <a:cs typeface="+mn-cs"/>
              </a:rPr>
              <a:t>。而假如上一层输出先经过具有</a:t>
            </a:r>
            <a:r>
              <a:rPr lang="en-US" altLang="zh-CN" sz="1200" b="0" i="0" kern="1200" dirty="0" smtClean="0">
                <a:solidFill>
                  <a:schemeClr val="tx1"/>
                </a:solidFill>
                <a:effectLst/>
                <a:latin typeface="+mn-lt"/>
                <a:ea typeface="+mn-ea"/>
                <a:cs typeface="+mn-cs"/>
              </a:rPr>
              <a:t>32</a:t>
            </a:r>
            <a:r>
              <a:rPr lang="zh-CN" altLang="en-US" sz="1200" b="0" i="0" kern="1200" dirty="0" smtClean="0">
                <a:solidFill>
                  <a:schemeClr val="tx1"/>
                </a:solidFill>
                <a:effectLst/>
                <a:latin typeface="+mn-lt"/>
                <a:ea typeface="+mn-ea"/>
                <a:cs typeface="+mn-cs"/>
              </a:rPr>
              <a:t>个通道的（</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卷积层，再经过具有</a:t>
            </a:r>
            <a:r>
              <a:rPr lang="en-US" altLang="zh-CN" sz="1200" b="0" i="0" kern="1200" dirty="0" smtClean="0">
                <a:solidFill>
                  <a:schemeClr val="tx1"/>
                </a:solidFill>
                <a:effectLst/>
                <a:latin typeface="+mn-lt"/>
                <a:ea typeface="+mn-ea"/>
                <a:cs typeface="+mn-cs"/>
              </a:rPr>
              <a:t>256</a:t>
            </a:r>
            <a:r>
              <a:rPr lang="zh-CN" altLang="en-US" sz="1200" b="0" i="0" kern="1200" dirty="0" smtClean="0">
                <a:solidFill>
                  <a:schemeClr val="tx1"/>
                </a:solidFill>
                <a:effectLst/>
                <a:latin typeface="+mn-lt"/>
                <a:ea typeface="+mn-ea"/>
                <a:cs typeface="+mn-cs"/>
              </a:rPr>
              <a:t>个输出的</a:t>
            </a:r>
            <a:r>
              <a:rPr lang="en-US" altLang="zh-CN" sz="1200" b="0" i="0" kern="1200" dirty="0" smtClean="0">
                <a:solidFill>
                  <a:schemeClr val="tx1"/>
                </a:solidFill>
                <a:effectLst/>
                <a:latin typeface="+mn-lt"/>
                <a:ea typeface="+mn-ea"/>
                <a:cs typeface="+mn-cs"/>
              </a:rPr>
              <a:t>(5,5</a:t>
            </a:r>
            <a:r>
              <a:rPr lang="zh-CN" altLang="en-US" sz="1200" b="0" i="0" kern="1200" dirty="0" smtClean="0">
                <a:solidFill>
                  <a:schemeClr val="tx1"/>
                </a:solidFill>
                <a:effectLst/>
                <a:latin typeface="+mn-lt"/>
                <a:ea typeface="+mn-ea"/>
                <a:cs typeface="+mn-cs"/>
              </a:rPr>
              <a:t>）卷积层，那么输出数据仍为（</a:t>
            </a:r>
            <a:r>
              <a:rPr lang="en-US" altLang="zh-CN" sz="1200" b="0" i="0" kern="1200" dirty="0" smtClean="0">
                <a:solidFill>
                  <a:schemeClr val="tx1"/>
                </a:solidFill>
                <a:effectLst/>
                <a:latin typeface="+mn-lt"/>
                <a:ea typeface="+mn-ea"/>
                <a:cs typeface="+mn-cs"/>
              </a:rPr>
              <a:t>100,100</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256),</a:t>
            </a:r>
            <a:r>
              <a:rPr lang="zh-CN" altLang="en-US" sz="1200" b="0" i="0" kern="1200" dirty="0" smtClean="0">
                <a:solidFill>
                  <a:schemeClr val="tx1"/>
                </a:solidFill>
                <a:effectLst/>
                <a:latin typeface="+mn-lt"/>
                <a:ea typeface="+mn-ea"/>
                <a:cs typeface="+mn-cs"/>
              </a:rPr>
              <a:t>但卷积参数量已经减少为</a:t>
            </a:r>
            <a:r>
              <a:rPr lang="en-US" altLang="zh-CN" sz="1200" b="0" i="0" kern="1200" dirty="0" smtClean="0">
                <a:solidFill>
                  <a:schemeClr val="tx1"/>
                </a:solidFill>
                <a:effectLst/>
                <a:latin typeface="+mn-lt"/>
                <a:ea typeface="+mn-ea"/>
                <a:cs typeface="+mn-cs"/>
              </a:rPr>
              <a:t>128×1×1×32+32×5×5×256=204800,</a:t>
            </a:r>
            <a:r>
              <a:rPr lang="zh-CN" altLang="en-US" sz="1200" b="0" i="0" kern="1200" dirty="0" smtClean="0">
                <a:solidFill>
                  <a:schemeClr val="tx1"/>
                </a:solidFill>
                <a:effectLst/>
                <a:latin typeface="+mn-lt"/>
                <a:ea typeface="+mn-ea"/>
                <a:cs typeface="+mn-cs"/>
              </a:rPr>
              <a:t>大约减少了</a:t>
            </a:r>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倍。</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除了</a:t>
            </a:r>
            <a:r>
              <a:rPr lang="en-US" altLang="zh-CN" sz="1200" b="0" i="0" kern="1200" dirty="0" smtClean="0">
                <a:solidFill>
                  <a:schemeClr val="tx1"/>
                </a:solidFill>
                <a:effectLst/>
                <a:latin typeface="+mn-lt"/>
                <a:ea typeface="+mn-ea"/>
                <a:cs typeface="+mn-cs"/>
              </a:rPr>
              <a:t>inception</a:t>
            </a:r>
            <a:r>
              <a:rPr lang="zh-CN" altLang="en-US" sz="1200" b="0" i="0" kern="1200" dirty="0" smtClean="0">
                <a:solidFill>
                  <a:schemeClr val="tx1"/>
                </a:solidFill>
                <a:effectLst/>
                <a:latin typeface="+mn-lt"/>
                <a:ea typeface="+mn-ea"/>
                <a:cs typeface="+mn-cs"/>
              </a:rPr>
              <a:t>结构</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可以发现</a:t>
            </a:r>
            <a:r>
              <a:rPr lang="en-US" altLang="zh-CN" sz="1200" b="0" i="0" kern="1200" dirty="0" err="1" smtClean="0">
                <a:solidFill>
                  <a:schemeClr val="tx1"/>
                </a:solidFill>
                <a:effectLst/>
                <a:latin typeface="+mn-lt"/>
                <a:ea typeface="+mn-ea"/>
                <a:cs typeface="+mn-cs"/>
              </a:rPr>
              <a:t>GoogleNet</a:t>
            </a:r>
            <a:r>
              <a:rPr lang="zh-CN" altLang="en-US" sz="1200" b="0" i="0" kern="1200" dirty="0" smtClean="0">
                <a:solidFill>
                  <a:schemeClr val="tx1"/>
                </a:solidFill>
                <a:effectLst/>
                <a:latin typeface="+mn-lt"/>
                <a:ea typeface="+mn-ea"/>
                <a:cs typeface="+mn-cs"/>
              </a:rPr>
              <a:t>的另外一个特点是主干网络部分使用了卷积网络，仅在最终分类使用全连接层。</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7279260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接着我们简单介绍一下 </a:t>
            </a:r>
            <a:r>
              <a:rPr lang="en-US" altLang="zh-CN" dirty="0" err="1" smtClean="0"/>
              <a:t>GoogleNet</a:t>
            </a:r>
            <a:r>
              <a:rPr lang="zh-CN" altLang="en-US" dirty="0" smtClean="0"/>
              <a:t>第二版到第四版的演变。</a:t>
            </a:r>
          </a:p>
          <a:p>
            <a:r>
              <a:rPr lang="en-US" altLang="zh-CN" dirty="0" smtClean="0"/>
              <a:t>inception</a:t>
            </a:r>
            <a:r>
              <a:rPr lang="zh-CN" altLang="en-US" dirty="0" smtClean="0"/>
              <a:t>第二版其实在网络结构上没有什么改动，只是在输入的时候增加了批标准化操作（</a:t>
            </a:r>
            <a:r>
              <a:rPr lang="en-US" altLang="zh-CN" dirty="0" smtClean="0"/>
              <a:t>batch normal).</a:t>
            </a:r>
            <a:r>
              <a:rPr lang="zh-CN" altLang="en-US" dirty="0" smtClean="0"/>
              <a:t>加入批标准化操作后，训练模型收敛更快</a:t>
            </a:r>
            <a:r>
              <a:rPr lang="en-US" altLang="zh-CN" dirty="0" smtClean="0"/>
              <a:t>,</a:t>
            </a:r>
            <a:r>
              <a:rPr lang="zh-CN" altLang="en-US" dirty="0" smtClean="0"/>
              <a:t>学习起来自然更高效。参考</a:t>
            </a:r>
            <a:r>
              <a:rPr lang="en-US" altLang="zh-CN" dirty="0" smtClean="0"/>
              <a:t>VGG</a:t>
            </a:r>
            <a:r>
              <a:rPr lang="zh-CN" altLang="en-US" dirty="0" smtClean="0"/>
              <a:t>的处理方式，把</a:t>
            </a:r>
            <a:r>
              <a:rPr lang="en-US" altLang="zh-CN" dirty="0" smtClean="0"/>
              <a:t>5×5</a:t>
            </a:r>
            <a:r>
              <a:rPr lang="zh-CN" altLang="en-US" dirty="0" smtClean="0"/>
              <a:t>的卷积改成两个</a:t>
            </a:r>
            <a:r>
              <a:rPr lang="en-US" altLang="zh-CN" dirty="0" smtClean="0"/>
              <a:t>3×3</a:t>
            </a:r>
            <a:r>
              <a:rPr lang="zh-CN" altLang="en-US" dirty="0" smtClean="0"/>
              <a:t>卷积串联，因为一个</a:t>
            </a:r>
            <a:r>
              <a:rPr lang="en-US" altLang="zh-CN" dirty="0" smtClean="0"/>
              <a:t>5x5</a:t>
            </a:r>
            <a:r>
              <a:rPr lang="zh-CN" altLang="en-US" dirty="0" smtClean="0"/>
              <a:t>的卷积看起来像是一个</a:t>
            </a:r>
            <a:r>
              <a:rPr lang="en-US" altLang="zh-CN" dirty="0" smtClean="0"/>
              <a:t>5×5</a:t>
            </a:r>
            <a:r>
              <a:rPr lang="zh-CN" altLang="en-US" dirty="0" smtClean="0"/>
              <a:t>的全连接，所以直接用两个</a:t>
            </a:r>
            <a:r>
              <a:rPr lang="en-US" altLang="zh-CN" dirty="0" smtClean="0"/>
              <a:t>3×3</a:t>
            </a:r>
            <a:r>
              <a:rPr lang="zh-CN" altLang="en-US" dirty="0" smtClean="0"/>
              <a:t>的卷积替代</a:t>
            </a:r>
            <a:r>
              <a:rPr lang="en-US" altLang="zh-CN" dirty="0" smtClean="0"/>
              <a:t>,</a:t>
            </a:r>
            <a:r>
              <a:rPr lang="zh-CN" altLang="en-US" dirty="0" smtClean="0"/>
              <a:t>第一层是卷积层，第二层相当于全连接层</a:t>
            </a:r>
            <a:r>
              <a:rPr lang="en-US" altLang="zh-CN" dirty="0" smtClean="0"/>
              <a:t>,</a:t>
            </a:r>
            <a:r>
              <a:rPr lang="zh-CN" altLang="en-US" dirty="0" smtClean="0"/>
              <a:t>这样可以增加网络的深度</a:t>
            </a:r>
            <a:r>
              <a:rPr lang="en-US" altLang="zh-CN" dirty="0" smtClean="0"/>
              <a:t>,</a:t>
            </a:r>
            <a:r>
              <a:rPr lang="zh-CN" altLang="en-US" dirty="0" smtClean="0"/>
              <a:t>并且减少很多参数</a:t>
            </a:r>
            <a:r>
              <a:rPr lang="en-US" altLang="zh-CN" dirty="0" smtClean="0"/>
              <a:t>,</a:t>
            </a:r>
            <a:r>
              <a:rPr lang="zh-CN" altLang="en-US" dirty="0" smtClean="0"/>
              <a:t>如图所示。</a:t>
            </a:r>
          </a:p>
          <a:p>
            <a:r>
              <a:rPr lang="en-US" altLang="zh-CN" dirty="0" smtClean="0"/>
              <a:t>inception</a:t>
            </a:r>
            <a:r>
              <a:rPr lang="zh-CN" altLang="en-US" dirty="0" smtClean="0"/>
              <a:t>第三版把 </a:t>
            </a:r>
            <a:r>
              <a:rPr lang="en-US" altLang="zh-CN" dirty="0" err="1" smtClean="0"/>
              <a:t>GoogLeNet</a:t>
            </a:r>
            <a:r>
              <a:rPr lang="zh-CN" altLang="en-US" dirty="0" smtClean="0"/>
              <a:t>中的一些</a:t>
            </a:r>
            <a:r>
              <a:rPr lang="en-US" altLang="zh-CN" dirty="0" smtClean="0"/>
              <a:t>(7,7)</a:t>
            </a:r>
            <a:r>
              <a:rPr lang="zh-CN" altLang="en-US" dirty="0" smtClean="0"/>
              <a:t>卷积变成了</a:t>
            </a:r>
            <a:r>
              <a:rPr lang="en-US" altLang="zh-CN" dirty="0" smtClean="0"/>
              <a:t>(1,7</a:t>
            </a:r>
            <a:r>
              <a:rPr lang="zh-CN" altLang="en-US" dirty="0" smtClean="0"/>
              <a:t>）和（</a:t>
            </a:r>
            <a:r>
              <a:rPr lang="en-US" altLang="zh-CN" dirty="0" smtClean="0"/>
              <a:t>7</a:t>
            </a:r>
            <a:r>
              <a:rPr lang="zh-CN" altLang="en-US" dirty="0" smtClean="0"/>
              <a:t>，</a:t>
            </a:r>
            <a:r>
              <a:rPr lang="en-US" altLang="zh-CN" dirty="0" smtClean="0"/>
              <a:t>1)</a:t>
            </a:r>
            <a:r>
              <a:rPr lang="zh-CN" altLang="en-US" dirty="0" smtClean="0"/>
              <a:t>两层卷积串联</a:t>
            </a:r>
            <a:r>
              <a:rPr lang="en-US" altLang="zh-CN" dirty="0" smtClean="0"/>
              <a:t>;(3,3</a:t>
            </a:r>
            <a:r>
              <a:rPr lang="zh-CN" altLang="en-US" dirty="0" smtClean="0"/>
              <a:t>）的卷积也一样</a:t>
            </a:r>
            <a:r>
              <a:rPr lang="en-US" altLang="zh-CN" dirty="0" smtClean="0"/>
              <a:t>,</a:t>
            </a:r>
            <a:r>
              <a:rPr lang="zh-CN" altLang="en-US" dirty="0" smtClean="0"/>
              <a:t>变成了（</a:t>
            </a:r>
            <a:r>
              <a:rPr lang="en-US" altLang="zh-CN" dirty="0" smtClean="0"/>
              <a:t>1,3</a:t>
            </a:r>
            <a:r>
              <a:rPr lang="zh-CN" altLang="en-US" dirty="0" smtClean="0"/>
              <a:t>）和（</a:t>
            </a:r>
            <a:r>
              <a:rPr lang="en-US" altLang="zh-CN" dirty="0" smtClean="0"/>
              <a:t>3</a:t>
            </a:r>
            <a:r>
              <a:rPr lang="zh-CN" altLang="en-US" dirty="0" smtClean="0"/>
              <a:t>，</a:t>
            </a:r>
            <a:r>
              <a:rPr lang="en-US" altLang="zh-CN" dirty="0" smtClean="0"/>
              <a:t>1</a:t>
            </a:r>
            <a:r>
              <a:rPr lang="zh-CN" altLang="en-US" dirty="0" smtClean="0"/>
              <a:t>）两层卷积串联</a:t>
            </a:r>
            <a:r>
              <a:rPr lang="en-US" altLang="zh-CN" dirty="0" smtClean="0"/>
              <a:t>,</a:t>
            </a:r>
            <a:r>
              <a:rPr lang="zh-CN" altLang="en-US" dirty="0" smtClean="0"/>
              <a:t>这样做加速了计算</a:t>
            </a:r>
            <a:r>
              <a:rPr lang="en-US" altLang="zh-CN" dirty="0" smtClean="0"/>
              <a:t>,</a:t>
            </a:r>
            <a:r>
              <a:rPr lang="zh-CN" altLang="en-US" dirty="0" smtClean="0"/>
              <a:t>还增加了网络的非线性</a:t>
            </a:r>
            <a:r>
              <a:rPr lang="en-US" altLang="zh-CN" dirty="0" smtClean="0"/>
              <a:t>,</a:t>
            </a:r>
            <a:r>
              <a:rPr lang="zh-CN" altLang="en-US" dirty="0" smtClean="0"/>
              <a:t>减小过拟合的概率。另外</a:t>
            </a:r>
            <a:r>
              <a:rPr lang="en-US" altLang="zh-CN" dirty="0" smtClean="0"/>
              <a:t>,</a:t>
            </a:r>
            <a:r>
              <a:rPr lang="zh-CN" altLang="en-US" dirty="0" smtClean="0"/>
              <a:t>网络的输入特征图尺寸从（</a:t>
            </a:r>
            <a:r>
              <a:rPr lang="en-US" altLang="zh-CN" dirty="0" smtClean="0"/>
              <a:t>224,224</a:t>
            </a:r>
            <a:r>
              <a:rPr lang="zh-CN" altLang="en-US" dirty="0" smtClean="0"/>
              <a:t>）改成了（</a:t>
            </a:r>
            <a:r>
              <a:rPr lang="en-US" altLang="zh-CN" dirty="0" smtClean="0"/>
              <a:t>299, 299)</a:t>
            </a:r>
            <a:r>
              <a:rPr lang="zh-CN" altLang="en-US" dirty="0" smtClean="0"/>
              <a:t>。</a:t>
            </a:r>
          </a:p>
          <a:p>
            <a:r>
              <a:rPr lang="en-US" altLang="zh-CN" dirty="0" smtClean="0"/>
              <a:t>Inception</a:t>
            </a:r>
            <a:r>
              <a:rPr lang="zh-CN" altLang="en-US" dirty="0" smtClean="0"/>
              <a:t>第四版是在上一版的基础上增加了</a:t>
            </a:r>
            <a:r>
              <a:rPr lang="en-US" altLang="zh-CN" dirty="0" err="1" smtClean="0"/>
              <a:t>ResNet</a:t>
            </a:r>
            <a:r>
              <a:rPr lang="zh-CN" altLang="en-US" dirty="0" smtClean="0"/>
              <a:t>方法及一些细微的改变</a:t>
            </a:r>
            <a:r>
              <a:rPr lang="en-US" altLang="zh-CN" dirty="0" smtClean="0"/>
              <a:t>(</a:t>
            </a:r>
            <a:r>
              <a:rPr lang="zh-CN" altLang="en-US" dirty="0" smtClean="0"/>
              <a:t>需要了解细节的同学可以直接查阅论文</a:t>
            </a:r>
            <a:r>
              <a:rPr lang="en-US" altLang="zh-CN" dirty="0" smtClean="0"/>
              <a:t>)</a:t>
            </a:r>
            <a:r>
              <a:rPr lang="zh-CN" altLang="en-US" dirty="0" smtClean="0"/>
              <a:t>。引入</a:t>
            </a:r>
            <a:r>
              <a:rPr lang="en-US" altLang="zh-CN" dirty="0" err="1" smtClean="0"/>
              <a:t>ResNet</a:t>
            </a:r>
            <a:r>
              <a:rPr lang="zh-CN" altLang="en-US" dirty="0" smtClean="0"/>
              <a:t>方法并不是为了提高深度和准确度，只是用来提高训练速度。</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339416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GoogleNet</a:t>
            </a:r>
            <a:r>
              <a:rPr lang="zh-CN" altLang="en-US" dirty="0" smtClean="0"/>
              <a:t>神经网络整体结构如图所示。这里做一下解释说明：</a:t>
            </a:r>
            <a:endParaRPr lang="en-US" altLang="zh-CN" dirty="0" smtClean="0"/>
          </a:p>
          <a:p>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GoogLeNet</a:t>
            </a:r>
            <a:r>
              <a:rPr lang="zh-CN" altLang="en-US" sz="1200" b="0" i="0" kern="1200" dirty="0" smtClean="0">
                <a:solidFill>
                  <a:schemeClr val="tx1"/>
                </a:solidFill>
                <a:effectLst/>
                <a:latin typeface="+mn-lt"/>
                <a:ea typeface="+mn-ea"/>
                <a:cs typeface="+mn-cs"/>
              </a:rPr>
              <a:t>采用了模块化的结构（</a:t>
            </a:r>
            <a:r>
              <a:rPr lang="en-US" altLang="zh-CN" sz="1200" b="0" i="0" kern="1200" dirty="0" smtClean="0">
                <a:solidFill>
                  <a:schemeClr val="tx1"/>
                </a:solidFill>
                <a:effectLst/>
                <a:latin typeface="+mn-lt"/>
                <a:ea typeface="+mn-ea"/>
                <a:cs typeface="+mn-cs"/>
              </a:rPr>
              <a:t>Inception</a:t>
            </a:r>
            <a:r>
              <a:rPr lang="zh-CN" altLang="en-US" sz="1200" b="0" i="0" kern="1200" dirty="0" smtClean="0">
                <a:solidFill>
                  <a:schemeClr val="tx1"/>
                </a:solidFill>
                <a:effectLst/>
                <a:latin typeface="+mn-lt"/>
                <a:ea typeface="+mn-ea"/>
                <a:cs typeface="+mn-cs"/>
              </a:rPr>
              <a:t>结构），方便增添和修改；</a:t>
            </a:r>
          </a:p>
          <a:p>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）网络最后采用了</a:t>
            </a:r>
            <a:r>
              <a:rPr lang="en-US" altLang="zh-CN" sz="1200" b="0" i="0" kern="1200" dirty="0" smtClean="0">
                <a:solidFill>
                  <a:schemeClr val="tx1"/>
                </a:solidFill>
                <a:effectLst/>
                <a:latin typeface="+mn-lt"/>
                <a:ea typeface="+mn-ea"/>
                <a:cs typeface="+mn-cs"/>
              </a:rPr>
              <a:t>average pooling</a:t>
            </a:r>
            <a:r>
              <a:rPr lang="zh-CN" altLang="en-US" sz="1200" b="0" i="0" kern="1200" dirty="0" smtClean="0">
                <a:solidFill>
                  <a:schemeClr val="tx1"/>
                </a:solidFill>
                <a:effectLst/>
                <a:latin typeface="+mn-lt"/>
                <a:ea typeface="+mn-ea"/>
                <a:cs typeface="+mn-cs"/>
              </a:rPr>
              <a:t>（平均池化）来代替全连接层，该想法来自</a:t>
            </a:r>
            <a:r>
              <a:rPr lang="en-US" altLang="zh-CN" sz="1200" b="0" i="0" kern="1200" dirty="0" smtClean="0">
                <a:solidFill>
                  <a:schemeClr val="tx1"/>
                </a:solidFill>
                <a:effectLst/>
                <a:latin typeface="+mn-lt"/>
                <a:ea typeface="+mn-ea"/>
                <a:cs typeface="+mn-cs"/>
              </a:rPr>
              <a:t>NIN</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Network in Network</a:t>
            </a:r>
            <a:r>
              <a:rPr lang="zh-CN" altLang="en-US" sz="1200" b="0" i="0" kern="1200" dirty="0" smtClean="0">
                <a:solidFill>
                  <a:schemeClr val="tx1"/>
                </a:solidFill>
                <a:effectLst/>
                <a:latin typeface="+mn-lt"/>
                <a:ea typeface="+mn-ea"/>
                <a:cs typeface="+mn-cs"/>
              </a:rPr>
              <a:t>），事实证明这样可以将准确率提高</a:t>
            </a:r>
            <a:r>
              <a:rPr lang="en-US" altLang="zh-CN" sz="1200" b="0" i="0" kern="1200" dirty="0" smtClean="0">
                <a:solidFill>
                  <a:schemeClr val="tx1"/>
                </a:solidFill>
                <a:effectLst/>
                <a:latin typeface="+mn-lt"/>
                <a:ea typeface="+mn-ea"/>
                <a:cs typeface="+mn-cs"/>
              </a:rPr>
              <a:t>0.6%</a:t>
            </a:r>
            <a:r>
              <a:rPr lang="zh-CN" altLang="en-US" sz="1200" b="0" i="0" kern="1200" dirty="0" smtClean="0">
                <a:solidFill>
                  <a:schemeClr val="tx1"/>
                </a:solidFill>
                <a:effectLst/>
                <a:latin typeface="+mn-lt"/>
                <a:ea typeface="+mn-ea"/>
                <a:cs typeface="+mn-cs"/>
              </a:rPr>
              <a:t>。</a:t>
            </a:r>
          </a:p>
          <a:p>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）虽然移除了全连接，但是网络中依然使用了</a:t>
            </a:r>
            <a:r>
              <a:rPr lang="en-US" altLang="zh-CN" sz="1200" b="0" i="0" kern="1200" dirty="0" smtClean="0">
                <a:solidFill>
                  <a:schemeClr val="tx1"/>
                </a:solidFill>
                <a:effectLst/>
                <a:latin typeface="+mn-lt"/>
                <a:ea typeface="+mn-ea"/>
                <a:cs typeface="+mn-cs"/>
              </a:rPr>
              <a:t>Dropout ;</a:t>
            </a:r>
          </a:p>
          <a:p>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）为了避免梯度消失，网络额外增加了</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个辅助的</a:t>
            </a:r>
            <a:r>
              <a:rPr lang="en-US" altLang="zh-CN" sz="1200" b="0" i="0" kern="1200" dirty="0" err="1" smtClean="0">
                <a:solidFill>
                  <a:schemeClr val="tx1"/>
                </a:solidFill>
                <a:effectLst/>
                <a:latin typeface="+mn-lt"/>
                <a:ea typeface="+mn-ea"/>
                <a:cs typeface="+mn-cs"/>
              </a:rPr>
              <a:t>softmax</a:t>
            </a:r>
            <a:r>
              <a:rPr lang="zh-CN" altLang="en-US" sz="1200" b="0" i="0" kern="1200" dirty="0" smtClean="0">
                <a:solidFill>
                  <a:schemeClr val="tx1"/>
                </a:solidFill>
                <a:effectLst/>
                <a:latin typeface="+mn-lt"/>
                <a:ea typeface="+mn-ea"/>
                <a:cs typeface="+mn-cs"/>
              </a:rPr>
              <a:t>用于向前传导梯度（辅助分类器）</a:t>
            </a:r>
          </a:p>
          <a:p>
            <a:r>
              <a:rPr lang="zh-CN" altLang="en-US" sz="1200" b="0" i="0" kern="1200" dirty="0" smtClean="0">
                <a:solidFill>
                  <a:schemeClr val="tx1"/>
                </a:solidFill>
                <a:effectLst/>
                <a:latin typeface="+mn-lt"/>
                <a:ea typeface="+mn-ea"/>
                <a:cs typeface="+mn-cs"/>
              </a:rPr>
              <a:t>对于前三点都很好理解，下面我们重点看一下第</a:t>
            </a:r>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点。这里的辅助分类器只是在训练时使用，在正常预测时会被去掉。辅助分类器促进了更稳定的学习和更好的收敛，往往在接近训练结束时，辅助分支网络开始超越没有任何分支的网络的准确性，达到了更高的水平。</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138693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2015</a:t>
            </a:r>
            <a:r>
              <a:rPr lang="zh-CN" altLang="en-US" dirty="0" smtClean="0"/>
              <a:t>年何恺明提出了</a:t>
            </a:r>
            <a:r>
              <a:rPr lang="en-US" altLang="zh-CN" dirty="0" smtClean="0"/>
              <a:t>152</a:t>
            </a:r>
            <a:r>
              <a:rPr lang="zh-CN" altLang="en-US" dirty="0" smtClean="0"/>
              <a:t>层的</a:t>
            </a:r>
            <a:r>
              <a:rPr lang="en-US" altLang="zh-CN" dirty="0" err="1" smtClean="0"/>
              <a:t>ResNet</a:t>
            </a:r>
            <a:r>
              <a:rPr lang="en-US" altLang="zh-CN" dirty="0" smtClean="0"/>
              <a:t>,</a:t>
            </a:r>
            <a:r>
              <a:rPr lang="zh-CN" altLang="en-US" dirty="0" smtClean="0"/>
              <a:t>以 </a:t>
            </a:r>
            <a:r>
              <a:rPr lang="en-US" altLang="zh-CN" dirty="0" smtClean="0"/>
              <a:t>top1</a:t>
            </a:r>
            <a:r>
              <a:rPr lang="zh-CN" altLang="en-US" dirty="0" smtClean="0"/>
              <a:t>误差</a:t>
            </a:r>
            <a:r>
              <a:rPr lang="en-US" altLang="zh-CN" dirty="0" smtClean="0"/>
              <a:t>3.6%</a:t>
            </a:r>
            <a:r>
              <a:rPr lang="zh-CN" altLang="en-US" dirty="0" smtClean="0"/>
              <a:t>的图像识别记录获得了</a:t>
            </a:r>
            <a:r>
              <a:rPr lang="en-US" altLang="zh-CN" dirty="0" smtClean="0"/>
              <a:t>2015</a:t>
            </a:r>
            <a:r>
              <a:rPr lang="zh-CN" altLang="en-US" dirty="0" smtClean="0"/>
              <a:t>年</a:t>
            </a:r>
            <a:r>
              <a:rPr lang="en-US" altLang="zh-CN" dirty="0" smtClean="0"/>
              <a:t>ILSVPC</a:t>
            </a:r>
            <a:r>
              <a:rPr lang="zh-CN" altLang="en-US" dirty="0" smtClean="0"/>
              <a:t>比赛的冠军</a:t>
            </a:r>
            <a:r>
              <a:rPr lang="en-US" altLang="zh-CN" dirty="0" smtClean="0"/>
              <a:t>,</a:t>
            </a:r>
            <a:r>
              <a:rPr lang="zh-CN" altLang="en-US" dirty="0" smtClean="0"/>
              <a:t>这使得卷积神经网络有了真正的“深度”。</a:t>
            </a:r>
            <a:r>
              <a:rPr lang="en-US" altLang="zh-CN" dirty="0" err="1" smtClean="0"/>
              <a:t>ResNet</a:t>
            </a:r>
            <a:r>
              <a:rPr lang="zh-CN" altLang="en-US" dirty="0" smtClean="0"/>
              <a:t>的提出具有革命性意义，为神经网络中因为网络深度导致梯度消失的问题提供了一个非常好的解决思路。</a:t>
            </a:r>
            <a:endParaRPr lang="en-US" altLang="zh-CN" dirty="0" smtClean="0"/>
          </a:p>
          <a:p>
            <a:r>
              <a:rPr lang="zh-CN" altLang="en-US" dirty="0" smtClean="0"/>
              <a:t>根据网络层数不同，</a:t>
            </a:r>
            <a:r>
              <a:rPr lang="en-US" altLang="zh-CN" dirty="0" err="1" smtClean="0"/>
              <a:t>ResNet</a:t>
            </a:r>
            <a:r>
              <a:rPr lang="zh-CN" altLang="en-US" dirty="0" smtClean="0"/>
              <a:t>的深度有所不同，但大致结构不变：</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41156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这里解释一下梯度消失问题</a:t>
            </a:r>
            <a:r>
              <a:rPr lang="en-US" altLang="zh-CN" dirty="0" smtClean="0"/>
              <a:t>,</a:t>
            </a:r>
            <a:r>
              <a:rPr lang="zh-CN" altLang="en-US" dirty="0" smtClean="0"/>
              <a:t>从前面提到的</a:t>
            </a:r>
            <a:r>
              <a:rPr lang="en-US" altLang="zh-CN" dirty="0" err="1" smtClean="0"/>
              <a:t>AlexNet</a:t>
            </a:r>
            <a:r>
              <a:rPr lang="zh-CN" altLang="en-US" dirty="0" smtClean="0"/>
              <a:t>、</a:t>
            </a:r>
            <a:r>
              <a:rPr lang="en-US" altLang="zh-CN" dirty="0" err="1" smtClean="0"/>
              <a:t>VGGNet</a:t>
            </a:r>
            <a:r>
              <a:rPr lang="zh-CN" altLang="en-US" dirty="0" smtClean="0"/>
              <a:t>、</a:t>
            </a:r>
            <a:r>
              <a:rPr lang="en-US" altLang="zh-CN" dirty="0" err="1" smtClean="0"/>
              <a:t>GoogLeNet</a:t>
            </a:r>
            <a:r>
              <a:rPr lang="zh-CN" altLang="en-US" dirty="0" smtClean="0"/>
              <a:t>可以看出</a:t>
            </a:r>
            <a:r>
              <a:rPr lang="en-US" altLang="zh-CN" dirty="0" smtClean="0"/>
              <a:t>,</a:t>
            </a:r>
            <a:r>
              <a:rPr lang="zh-CN" altLang="en-US" dirty="0" smtClean="0"/>
              <a:t>更深层次的网络可以带来更好的识别效果。那么</a:t>
            </a:r>
            <a:r>
              <a:rPr lang="en-US" altLang="zh-CN" dirty="0" smtClean="0"/>
              <a:t>,</a:t>
            </a:r>
          </a:p>
          <a:p>
            <a:r>
              <a:rPr lang="zh-CN" altLang="en-US" dirty="0" smtClean="0"/>
              <a:t>是不是网络结构越深、卷积层数量堆叠得越多越好呢</a:t>
            </a:r>
            <a:r>
              <a:rPr lang="en-US" altLang="zh-CN" dirty="0" smtClean="0"/>
              <a:t>?</a:t>
            </a:r>
            <a:r>
              <a:rPr lang="zh-CN" altLang="en-US" dirty="0" smtClean="0"/>
              <a:t>这里有个简单的实验，从图中可以看出</a:t>
            </a:r>
            <a:r>
              <a:rPr lang="en-US" altLang="zh-CN" dirty="0" smtClean="0"/>
              <a:t>,56</a:t>
            </a:r>
            <a:r>
              <a:rPr lang="zh-CN" altLang="en-US" dirty="0" smtClean="0"/>
              <a:t>层的卷积神经网络在训练和预测方面的误差都大于</a:t>
            </a:r>
            <a:r>
              <a:rPr lang="en-US" altLang="zh-CN" dirty="0" smtClean="0"/>
              <a:t>20</a:t>
            </a:r>
            <a:r>
              <a:rPr lang="zh-CN" altLang="en-US" dirty="0" smtClean="0"/>
              <a:t>层的网络</a:t>
            </a:r>
            <a:r>
              <a:rPr lang="en-US" altLang="zh-CN" dirty="0" smtClean="0"/>
              <a:t>,</a:t>
            </a:r>
            <a:r>
              <a:rPr lang="zh-CN" altLang="en-US" dirty="0" smtClean="0"/>
              <a:t>可以排除过拟合的干扰因素。产生这一结果的真实原因就是梯度消失（初始化网络权值</a:t>
            </a:r>
            <a:r>
              <a:rPr lang="en-US" altLang="zh-CN" dirty="0" smtClean="0"/>
              <a:t>W</a:t>
            </a:r>
            <a:r>
              <a:rPr lang="zh-CN" altLang="en-US" dirty="0" smtClean="0"/>
              <a:t>通常在</a:t>
            </a:r>
            <a:r>
              <a:rPr lang="en-US" altLang="zh-CN" dirty="0" smtClean="0"/>
              <a:t>0</a:t>
            </a:r>
            <a:r>
              <a:rPr lang="zh-CN" altLang="en-US" dirty="0" smtClean="0"/>
              <a:t>附近</a:t>
            </a:r>
            <a:r>
              <a:rPr lang="en-US" altLang="zh-CN" dirty="0" smtClean="0"/>
              <a:t>,</a:t>
            </a:r>
            <a:r>
              <a:rPr lang="zh-CN" altLang="en-US" dirty="0" smtClean="0"/>
              <a:t>因而会导致出现梯度消失的情况</a:t>
            </a:r>
            <a:r>
              <a:rPr lang="en-US" altLang="zh-CN" dirty="0" smtClean="0"/>
              <a:t>),</a:t>
            </a:r>
            <a:r>
              <a:rPr lang="zh-CN" altLang="en-US" dirty="0" smtClean="0"/>
              <a:t>下面我们简单看下原理。</a:t>
            </a:r>
            <a:endParaRPr lang="en-US" altLang="zh-CN" dirty="0" smtClean="0"/>
          </a:p>
          <a:p>
            <a:r>
              <a:rPr lang="zh-CN" altLang="en-US" dirty="0" smtClean="0"/>
              <a:t>网络的损失函数为</a:t>
            </a:r>
            <a:r>
              <a:rPr lang="en-US" altLang="zh-CN" dirty="0" smtClean="0"/>
              <a:t>F(X,W),</a:t>
            </a:r>
            <a:r>
              <a:rPr lang="zh-CN" altLang="en-US" dirty="0" smtClean="0"/>
              <a:t>如公式</a:t>
            </a:r>
            <a:r>
              <a:rPr lang="en-US" altLang="zh-CN" dirty="0" smtClean="0"/>
              <a:t>1</a:t>
            </a:r>
            <a:r>
              <a:rPr lang="zh-CN" altLang="en-US" dirty="0" smtClean="0"/>
              <a:t>所示，其反向传播的梯度值如公式</a:t>
            </a:r>
            <a:r>
              <a:rPr lang="en-US" altLang="zh-CN" dirty="0" smtClean="0"/>
              <a:t>2</a:t>
            </a:r>
            <a:r>
              <a:rPr lang="zh-CN" altLang="en-US" dirty="0" smtClean="0"/>
              <a:t>所示。同样的原理，扩展到多层神经网络</a:t>
            </a:r>
            <a:r>
              <a:rPr lang="en-US" altLang="zh-CN" dirty="0" smtClean="0"/>
              <a:t>,</a:t>
            </a:r>
            <a:r>
              <a:rPr lang="zh-CN" altLang="en-US" dirty="0" smtClean="0"/>
              <a:t>如公式</a:t>
            </a:r>
            <a:r>
              <a:rPr lang="en-US" altLang="zh-CN" dirty="0" smtClean="0"/>
              <a:t>3</a:t>
            </a:r>
            <a:r>
              <a:rPr lang="zh-CN" altLang="en-US" dirty="0" smtClean="0"/>
              <a:t>所示。</a:t>
            </a:r>
          </a:p>
          <a:p>
            <a:r>
              <a:rPr lang="zh-CN" altLang="en-US" dirty="0" smtClean="0"/>
              <a:t>其中</a:t>
            </a:r>
            <a:r>
              <a:rPr lang="en-US" altLang="zh-CN" dirty="0" smtClean="0"/>
              <a:t>n</a:t>
            </a:r>
            <a:r>
              <a:rPr lang="zh-CN" altLang="en-US" dirty="0" smtClean="0"/>
              <a:t>为神经网络的层数，最终根据链式法则可推导出在第</a:t>
            </a:r>
            <a:r>
              <a:rPr lang="en-US" altLang="zh-CN" dirty="0" err="1" smtClean="0"/>
              <a:t>i</a:t>
            </a:r>
            <a:r>
              <a:rPr lang="zh-CN" altLang="en-US" dirty="0" smtClean="0"/>
              <a:t>层的梯度，如公式</a:t>
            </a:r>
            <a:r>
              <a:rPr lang="en-US" altLang="zh-CN" dirty="0" smtClean="0"/>
              <a:t>4</a:t>
            </a:r>
            <a:r>
              <a:rPr lang="zh-CN" altLang="en-US" dirty="0" smtClean="0"/>
              <a:t>所示。由此可以看出，随着误差的回传，前层网络的梯度越来越小。为了解决神经网络过深导致的梯度消失问题，</a:t>
            </a:r>
            <a:r>
              <a:rPr lang="en-US" altLang="zh-CN" dirty="0" err="1" smtClean="0"/>
              <a:t>ResNet</a:t>
            </a:r>
            <a:r>
              <a:rPr lang="zh-CN" altLang="en-US" dirty="0" smtClean="0"/>
              <a:t>巧妙地引入了残差结构，即把输出层</a:t>
            </a:r>
            <a:r>
              <a:rPr lang="en-US" altLang="zh-CN" dirty="0" smtClean="0"/>
              <a:t>H(X)=F(X)</a:t>
            </a:r>
            <a:r>
              <a:rPr lang="zh-CN" altLang="en-US" dirty="0" smtClean="0"/>
              <a:t>改为</a:t>
            </a:r>
            <a:r>
              <a:rPr lang="en-US" altLang="zh-CN" dirty="0" smtClean="0"/>
              <a:t>H(X)=F(X)+X,</a:t>
            </a:r>
            <a:r>
              <a:rPr lang="zh-CN" altLang="en-US" dirty="0" smtClean="0"/>
              <a:t>将公式</a:t>
            </a:r>
            <a:r>
              <a:rPr lang="en-US" altLang="zh-CN" dirty="0" smtClean="0"/>
              <a:t>4</a:t>
            </a:r>
            <a:r>
              <a:rPr lang="zh-CN" altLang="en-US" dirty="0" smtClean="0"/>
              <a:t>变为了公式</a:t>
            </a:r>
            <a:r>
              <a:rPr lang="en-US" altLang="zh-CN" dirty="0" smtClean="0"/>
              <a:t>5</a:t>
            </a:r>
            <a:r>
              <a:rPr lang="zh-CN" altLang="en-US" dirty="0" smtClean="0"/>
              <a:t>。这样一来，就算网络结构很深，梯度也不会消失。</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459230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除残差结构外，</a:t>
            </a:r>
            <a:r>
              <a:rPr lang="en-US" altLang="zh-CN" dirty="0" err="1" smtClean="0"/>
              <a:t>ResNet</a:t>
            </a:r>
            <a:r>
              <a:rPr lang="zh-CN" altLang="en-US" dirty="0" smtClean="0"/>
              <a:t>沿用了一些可以提升网络性能和效果的设计</a:t>
            </a:r>
            <a:r>
              <a:rPr lang="en-US" altLang="zh-CN" dirty="0" smtClean="0"/>
              <a:t>,</a:t>
            </a:r>
            <a:r>
              <a:rPr lang="zh-CN" altLang="en-US" dirty="0" smtClean="0"/>
              <a:t>如堆叠式残差结构。</a:t>
            </a:r>
            <a:r>
              <a:rPr lang="en-US" altLang="zh-CN" dirty="0" err="1" smtClean="0"/>
              <a:t>ResNet</a:t>
            </a:r>
            <a:r>
              <a:rPr lang="zh-CN" altLang="en-US" dirty="0" smtClean="0"/>
              <a:t>网络深度有</a:t>
            </a:r>
            <a:r>
              <a:rPr lang="en-US" altLang="zh-CN" dirty="0" smtClean="0"/>
              <a:t>34</a:t>
            </a:r>
            <a:r>
              <a:rPr lang="zh-CN" altLang="en-US" dirty="0" smtClean="0"/>
              <a:t>、</a:t>
            </a:r>
            <a:r>
              <a:rPr lang="en-US" altLang="zh-CN" dirty="0" smtClean="0"/>
              <a:t>50</a:t>
            </a:r>
            <a:r>
              <a:rPr lang="zh-CN" altLang="en-US" dirty="0" smtClean="0"/>
              <a:t>、</a:t>
            </a:r>
            <a:r>
              <a:rPr lang="en-US" altLang="zh-CN" dirty="0" smtClean="0"/>
              <a:t>101</a:t>
            </a:r>
            <a:r>
              <a:rPr lang="zh-CN" altLang="en-US" dirty="0" smtClean="0"/>
              <a:t>、</a:t>
            </a:r>
            <a:r>
              <a:rPr lang="en-US" altLang="zh-CN" dirty="0" smtClean="0"/>
              <a:t>152</a:t>
            </a:r>
            <a:r>
              <a:rPr lang="zh-CN" altLang="en-US" dirty="0" smtClean="0"/>
              <a:t>等，对于</a:t>
            </a:r>
            <a:r>
              <a:rPr lang="en-US" altLang="zh-CN" dirty="0" smtClean="0"/>
              <a:t>50</a:t>
            </a:r>
            <a:r>
              <a:rPr lang="zh-CN" altLang="en-US" dirty="0" smtClean="0"/>
              <a:t>层以上的</a:t>
            </a:r>
            <a:r>
              <a:rPr lang="en-US" altLang="zh-CN" dirty="0" err="1" smtClean="0"/>
              <a:t>ResNet</a:t>
            </a:r>
            <a:r>
              <a:rPr lang="en-US" altLang="zh-CN" dirty="0" smtClean="0"/>
              <a:t>,</a:t>
            </a:r>
            <a:r>
              <a:rPr lang="zh-CN" altLang="en-US" dirty="0" smtClean="0"/>
              <a:t>也借鉴了类似</a:t>
            </a:r>
            <a:r>
              <a:rPr lang="en-US" altLang="zh-CN" dirty="0" err="1" smtClean="0"/>
              <a:t>GoogLeNet</a:t>
            </a:r>
            <a:r>
              <a:rPr lang="zh-CN" altLang="en-US" dirty="0" smtClean="0"/>
              <a:t>的思想</a:t>
            </a:r>
            <a:r>
              <a:rPr lang="en-US" altLang="zh-CN" dirty="0" smtClean="0"/>
              <a:t>,</a:t>
            </a:r>
            <a:r>
              <a:rPr lang="zh-CN" altLang="en-US" dirty="0" smtClean="0"/>
              <a:t>在细节上使用了</a:t>
            </a:r>
            <a:r>
              <a:rPr lang="en-US" altLang="zh-CN" dirty="0" smtClean="0"/>
              <a:t>bottleneck</a:t>
            </a:r>
            <a:r>
              <a:rPr lang="zh-CN" altLang="en-US" dirty="0" smtClean="0"/>
              <a:t>的设计方式</a:t>
            </a:r>
            <a:r>
              <a:rPr lang="en-US" altLang="zh-CN" dirty="0" smtClean="0"/>
              <a:t>(</a:t>
            </a:r>
            <a:r>
              <a:rPr lang="zh-CN" altLang="en-US" dirty="0" smtClean="0"/>
              <a:t>从左图变为右图</a:t>
            </a:r>
            <a:r>
              <a:rPr lang="en-US" altLang="zh-CN" dirty="0" smtClean="0"/>
              <a:t>).</a:t>
            </a:r>
          </a:p>
          <a:p>
            <a:r>
              <a:rPr lang="zh-CN" altLang="en-US" dirty="0" smtClean="0"/>
              <a:t>这两种结构是分别针对</a:t>
            </a:r>
            <a:r>
              <a:rPr lang="en-US" altLang="zh-CN" dirty="0" smtClean="0"/>
              <a:t>ResNet34</a:t>
            </a:r>
            <a:r>
              <a:rPr lang="zh-CN" altLang="en-US" dirty="0" smtClean="0"/>
              <a:t>和</a:t>
            </a:r>
            <a:r>
              <a:rPr lang="en-US" altLang="zh-CN" dirty="0" smtClean="0"/>
              <a:t>ResNet50/101/152</a:t>
            </a:r>
            <a:r>
              <a:rPr lang="zh-CN" altLang="en-US" dirty="0" smtClean="0"/>
              <a:t>，右边的“</a:t>
            </a:r>
            <a:r>
              <a:rPr lang="en-US" altLang="zh-CN" dirty="0" smtClean="0"/>
              <a:t>bottleneck design”</a:t>
            </a:r>
            <a:r>
              <a:rPr lang="zh-CN" altLang="en-US" dirty="0" smtClean="0"/>
              <a:t>要比左边的“</a:t>
            </a:r>
            <a:r>
              <a:rPr lang="en-US" altLang="zh-CN" dirty="0" smtClean="0"/>
              <a:t>building block”</a:t>
            </a:r>
            <a:r>
              <a:rPr lang="zh-CN" altLang="en-US" dirty="0" smtClean="0"/>
              <a:t>多了</a:t>
            </a:r>
            <a:r>
              <a:rPr lang="en-US" altLang="zh-CN" dirty="0" smtClean="0"/>
              <a:t>1</a:t>
            </a:r>
            <a:r>
              <a:rPr lang="zh-CN" altLang="en-US" dirty="0" smtClean="0"/>
              <a:t>层，增添</a:t>
            </a:r>
            <a:r>
              <a:rPr lang="en-US" altLang="zh-CN" dirty="0" smtClean="0"/>
              <a:t>1*1</a:t>
            </a:r>
            <a:r>
              <a:rPr lang="zh-CN" altLang="en-US" dirty="0" smtClean="0"/>
              <a:t>的卷积目的就是为了降低参数的数目，减少计算量。所以浅层次的网络，可使用“</a:t>
            </a:r>
            <a:r>
              <a:rPr lang="en-US" altLang="zh-CN" dirty="0" smtClean="0"/>
              <a:t>building block”</a:t>
            </a:r>
            <a:r>
              <a:rPr lang="zh-CN" altLang="en-US" dirty="0" smtClean="0"/>
              <a:t>，对于深层次的网络，为了减少计算量，</a:t>
            </a:r>
            <a:r>
              <a:rPr lang="en-US" altLang="zh-CN" dirty="0" smtClean="0"/>
              <a:t>bottleneck design </a:t>
            </a:r>
            <a:r>
              <a:rPr lang="zh-CN" altLang="en-US" dirty="0" smtClean="0"/>
              <a:t>是更好的选择。</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673313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至此介绍了</a:t>
            </a:r>
            <a:r>
              <a:rPr lang="en-US" altLang="zh-CN" sz="1200" b="0" i="0" kern="1200" dirty="0" smtClean="0">
                <a:solidFill>
                  <a:schemeClr val="tx1"/>
                </a:solidFill>
                <a:effectLst/>
                <a:latin typeface="+mn-lt"/>
                <a:ea typeface="+mn-ea"/>
                <a:cs typeface="+mn-cs"/>
              </a:rPr>
              <a:t>5</a:t>
            </a:r>
            <a:r>
              <a:rPr lang="zh-CN" altLang="en-US" sz="1200" b="0" i="0" kern="1200" dirty="0" smtClean="0">
                <a:solidFill>
                  <a:schemeClr val="tx1"/>
                </a:solidFill>
                <a:effectLst/>
                <a:latin typeface="+mn-lt"/>
                <a:ea typeface="+mn-ea"/>
                <a:cs typeface="+mn-cs"/>
              </a:rPr>
              <a:t>种基础的网络结构和设计网络时涉及的主要思想。在</a:t>
            </a:r>
            <a:r>
              <a:rPr lang="en-US" altLang="zh-CN" sz="1200" b="0" i="0" kern="1200" dirty="0" err="1" smtClean="0">
                <a:solidFill>
                  <a:schemeClr val="tx1"/>
                </a:solidFill>
                <a:effectLst/>
                <a:latin typeface="+mn-lt"/>
                <a:ea typeface="+mn-ea"/>
                <a:cs typeface="+mn-cs"/>
              </a:rPr>
              <a:t>ResNet</a:t>
            </a:r>
            <a:r>
              <a:rPr lang="zh-CN" altLang="en-US" sz="1200" b="0" i="0" kern="1200" dirty="0" smtClean="0">
                <a:solidFill>
                  <a:schemeClr val="tx1"/>
                </a:solidFill>
                <a:effectLst/>
                <a:latin typeface="+mn-lt"/>
                <a:ea typeface="+mn-ea"/>
                <a:cs typeface="+mn-cs"/>
              </a:rPr>
              <a:t>之后还有很多新的网络结构不断出现，但主要思想大体基于以上</a:t>
            </a:r>
            <a:r>
              <a:rPr lang="en-US" altLang="zh-CN" sz="1200" b="0" i="0" kern="1200" dirty="0" smtClean="0">
                <a:solidFill>
                  <a:schemeClr val="tx1"/>
                </a:solidFill>
                <a:effectLst/>
                <a:latin typeface="+mn-lt"/>
                <a:ea typeface="+mn-ea"/>
                <a:cs typeface="+mn-cs"/>
              </a:rPr>
              <a:t>5</a:t>
            </a:r>
            <a:r>
              <a:rPr lang="zh-CN" altLang="en-US" sz="1200" b="0" i="0" kern="1200" dirty="0" smtClean="0">
                <a:solidFill>
                  <a:schemeClr val="tx1"/>
                </a:solidFill>
                <a:effectLst/>
                <a:latin typeface="+mn-lt"/>
                <a:ea typeface="+mn-ea"/>
                <a:cs typeface="+mn-cs"/>
              </a:rPr>
              <a:t>种类型做的一些分析和改进，如</a:t>
            </a:r>
            <a:r>
              <a:rPr lang="en-US" altLang="zh-CN" sz="1200" b="0" i="0" kern="1200" dirty="0" smtClean="0">
                <a:solidFill>
                  <a:schemeClr val="tx1"/>
                </a:solidFill>
                <a:effectLst/>
                <a:latin typeface="+mn-lt"/>
                <a:ea typeface="+mn-ea"/>
                <a:cs typeface="+mn-cs"/>
              </a:rPr>
              <a:t>Inception-v4</a:t>
            </a:r>
            <a:r>
              <a:rPr lang="zh-CN" altLang="en-US" sz="1200" b="0" i="0" kern="1200" dirty="0" smtClean="0">
                <a:solidFill>
                  <a:schemeClr val="tx1"/>
                </a:solidFill>
                <a:effectLst/>
                <a:latin typeface="+mn-lt"/>
                <a:ea typeface="+mn-ea"/>
                <a:cs typeface="+mn-cs"/>
              </a:rPr>
              <a:t>主要思想便是</a:t>
            </a:r>
            <a:r>
              <a:rPr lang="en-US" altLang="zh-CN" sz="1200" b="0" i="0" kern="1200" dirty="0" err="1" smtClean="0">
                <a:solidFill>
                  <a:schemeClr val="tx1"/>
                </a:solidFill>
                <a:effectLst/>
                <a:latin typeface="+mn-lt"/>
                <a:ea typeface="+mn-ea"/>
                <a:cs typeface="+mn-cs"/>
              </a:rPr>
              <a:t>ResNet+Inception</a:t>
            </a:r>
            <a:r>
              <a:rPr lang="zh-CN" altLang="en-US" sz="1200" b="0" i="0" kern="1200" dirty="0" smtClean="0">
                <a:solidFill>
                  <a:schemeClr val="tx1"/>
                </a:solidFill>
                <a:effectLst/>
                <a:latin typeface="+mn-lt"/>
                <a:ea typeface="+mn-ea"/>
                <a:cs typeface="+mn-cs"/>
              </a:rPr>
              <a:t>。图中列出了不同网络结构可以达到的算法精度以及其内存消耗情况。左图横轴是不同模型，竖轴是</a:t>
            </a:r>
            <a:r>
              <a:rPr lang="en-US" altLang="zh-CN" sz="1200" b="0" i="0" kern="1200" dirty="0" smtClean="0">
                <a:solidFill>
                  <a:schemeClr val="tx1"/>
                </a:solidFill>
                <a:effectLst/>
                <a:latin typeface="+mn-lt"/>
                <a:ea typeface="+mn-ea"/>
                <a:cs typeface="+mn-cs"/>
              </a:rPr>
              <a:t>top1</a:t>
            </a:r>
            <a:r>
              <a:rPr lang="zh-CN" altLang="en-US" sz="1200" b="0" i="0" kern="1200" dirty="0" smtClean="0">
                <a:solidFill>
                  <a:schemeClr val="tx1"/>
                </a:solidFill>
                <a:effectLst/>
                <a:latin typeface="+mn-lt"/>
                <a:ea typeface="+mn-ea"/>
                <a:cs typeface="+mn-cs"/>
              </a:rPr>
              <a:t>精度。右图横轴是计算量，竖轴是</a:t>
            </a:r>
            <a:r>
              <a:rPr lang="en-US" altLang="zh-CN" sz="1200" b="0" i="0" kern="1200" dirty="0" smtClean="0">
                <a:solidFill>
                  <a:schemeClr val="tx1"/>
                </a:solidFill>
                <a:effectLst/>
                <a:latin typeface="+mn-lt"/>
                <a:ea typeface="+mn-ea"/>
                <a:cs typeface="+mn-cs"/>
              </a:rPr>
              <a:t>top1</a:t>
            </a:r>
            <a:r>
              <a:rPr lang="zh-CN" altLang="en-US" sz="1200" b="0" i="0" kern="1200" dirty="0" smtClean="0">
                <a:solidFill>
                  <a:schemeClr val="tx1"/>
                </a:solidFill>
                <a:effectLst/>
                <a:latin typeface="+mn-lt"/>
                <a:ea typeface="+mn-ea"/>
                <a:cs typeface="+mn-cs"/>
              </a:rPr>
              <a:t>精度，圆圈大小表示内存的消耗。与其他模型相比，</a:t>
            </a:r>
            <a:r>
              <a:rPr lang="en-US" altLang="zh-CN" sz="1200" b="0" i="0" kern="1200" dirty="0" err="1" smtClean="0">
                <a:solidFill>
                  <a:schemeClr val="tx1"/>
                </a:solidFill>
                <a:effectLst/>
                <a:latin typeface="+mn-lt"/>
                <a:ea typeface="+mn-ea"/>
                <a:cs typeface="+mn-cs"/>
              </a:rPr>
              <a:t>VGGNet</a:t>
            </a:r>
            <a:r>
              <a:rPr lang="zh-CN" altLang="en-US" sz="1200" b="0" i="0" kern="1200" dirty="0" smtClean="0">
                <a:solidFill>
                  <a:schemeClr val="tx1"/>
                </a:solidFill>
                <a:effectLst/>
                <a:latin typeface="+mn-lt"/>
                <a:ea typeface="+mn-ea"/>
                <a:cs typeface="+mn-cs"/>
              </a:rPr>
              <a:t>计算量最多，并且消耗最大的内存。</a:t>
            </a:r>
            <a:r>
              <a:rPr lang="en-US" altLang="zh-CN" sz="1200" b="0" i="0" kern="1200" dirty="0" err="1" smtClean="0">
                <a:solidFill>
                  <a:schemeClr val="tx1"/>
                </a:solidFill>
                <a:effectLst/>
                <a:latin typeface="+mn-lt"/>
                <a:ea typeface="+mn-ea"/>
                <a:cs typeface="+mn-cs"/>
              </a:rPr>
              <a:t>GoogLeNet</a:t>
            </a:r>
            <a:r>
              <a:rPr lang="zh-CN" altLang="en-US" sz="1200" b="0" i="0" kern="1200" dirty="0" smtClean="0">
                <a:solidFill>
                  <a:schemeClr val="tx1"/>
                </a:solidFill>
                <a:effectLst/>
                <a:latin typeface="+mn-lt"/>
                <a:ea typeface="+mn-ea"/>
                <a:cs typeface="+mn-cs"/>
              </a:rPr>
              <a:t>是上述几种模型中计算量和内存消耗最小的模型。</a:t>
            </a:r>
            <a:r>
              <a:rPr lang="en-US" altLang="zh-CN" sz="1200" b="0" i="0" kern="1200" dirty="0" err="1" smtClean="0">
                <a:solidFill>
                  <a:schemeClr val="tx1"/>
                </a:solidFill>
                <a:effectLst/>
                <a:latin typeface="+mn-lt"/>
                <a:ea typeface="+mn-ea"/>
                <a:cs typeface="+mn-cs"/>
              </a:rPr>
              <a:t>AlexNet</a:t>
            </a:r>
            <a:r>
              <a:rPr lang="zh-CN" altLang="en-US" sz="1200" b="0" i="0" kern="1200" dirty="0" smtClean="0">
                <a:solidFill>
                  <a:schemeClr val="tx1"/>
                </a:solidFill>
                <a:effectLst/>
                <a:latin typeface="+mn-lt"/>
                <a:ea typeface="+mn-ea"/>
                <a:cs typeface="+mn-cs"/>
              </a:rPr>
              <a:t>虽然计算量不高，但占用较大的内存并且精度不高。不同大小的</a:t>
            </a:r>
            <a:r>
              <a:rPr lang="en-US" altLang="zh-CN" sz="1200" b="0" i="0" kern="1200" dirty="0" err="1" smtClean="0">
                <a:solidFill>
                  <a:schemeClr val="tx1"/>
                </a:solidFill>
                <a:effectLst/>
                <a:latin typeface="+mn-lt"/>
                <a:ea typeface="+mn-ea"/>
                <a:cs typeface="+mn-cs"/>
              </a:rPr>
              <a:t>ResNet</a:t>
            </a:r>
            <a:r>
              <a:rPr lang="zh-CN" altLang="en-US" sz="1200" b="0" i="0" kern="1200" dirty="0" smtClean="0">
                <a:solidFill>
                  <a:schemeClr val="tx1"/>
                </a:solidFill>
                <a:effectLst/>
                <a:latin typeface="+mn-lt"/>
                <a:ea typeface="+mn-ea"/>
                <a:cs typeface="+mn-cs"/>
              </a:rPr>
              <a:t>模型性能差异也较大，具体需要根据应用场景选择合适的模型。</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864551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在</a:t>
            </a:r>
            <a:r>
              <a:rPr lang="en-US" altLang="zh-CN" dirty="0" err="1" smtClean="0"/>
              <a:t>ResNet</a:t>
            </a:r>
            <a:r>
              <a:rPr lang="zh-CN" altLang="en-US" dirty="0" smtClean="0"/>
              <a:t>的基础上，还出现了一些其他的网络结构，下面对它们进行简单的介绍。</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6519135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Wide </a:t>
            </a:r>
            <a:r>
              <a:rPr lang="en-US" altLang="zh-CN" dirty="0" err="1" smtClean="0"/>
              <a:t>ResNet</a:t>
            </a:r>
            <a:r>
              <a:rPr lang="zh-CN" altLang="en-US" dirty="0" smtClean="0"/>
              <a:t>是 </a:t>
            </a:r>
            <a:r>
              <a:rPr lang="en-US" altLang="zh-CN" dirty="0" err="1" smtClean="0"/>
              <a:t>Zagoruyko</a:t>
            </a:r>
            <a:r>
              <a:rPr lang="zh-CN" altLang="en-US" dirty="0" smtClean="0"/>
              <a:t>等人于</a:t>
            </a:r>
            <a:r>
              <a:rPr lang="en-US" altLang="zh-CN" dirty="0" smtClean="0"/>
              <a:t>2016</a:t>
            </a:r>
            <a:r>
              <a:rPr lang="zh-CN" altLang="en-US" dirty="0" smtClean="0"/>
              <a:t>年提出的，他们认为残差结构比深度更重要，因此设计了更宽的残差模块，如图所示。实验证明，</a:t>
            </a:r>
            <a:r>
              <a:rPr lang="en-US" altLang="zh-CN" dirty="0" smtClean="0"/>
              <a:t>50</a:t>
            </a:r>
            <a:r>
              <a:rPr lang="zh-CN" altLang="en-US" dirty="0" smtClean="0"/>
              <a:t>层加宽残差网络比</a:t>
            </a:r>
            <a:r>
              <a:rPr lang="en-US" altLang="zh-CN" dirty="0" smtClean="0"/>
              <a:t>152</a:t>
            </a:r>
            <a:r>
              <a:rPr lang="zh-CN" altLang="en-US" dirty="0" smtClean="0"/>
              <a:t>层的原</a:t>
            </a:r>
            <a:r>
              <a:rPr lang="en-US" altLang="zh-CN" dirty="0" err="1" smtClean="0"/>
              <a:t>ResNet</a:t>
            </a:r>
            <a:r>
              <a:rPr lang="en-US" altLang="zh-CN" dirty="0" smtClean="0"/>
              <a:t> </a:t>
            </a:r>
            <a:r>
              <a:rPr lang="zh-CN" altLang="en-US" dirty="0" smtClean="0"/>
              <a:t>网络效果更好。</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408371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err="1" smtClean="0"/>
              <a:t>ResNeXt</a:t>
            </a:r>
            <a:r>
              <a:rPr lang="zh-CN" altLang="en-US" dirty="0" smtClean="0"/>
              <a:t>是</a:t>
            </a:r>
            <a:r>
              <a:rPr lang="en-US" altLang="zh-CN" dirty="0" err="1" smtClean="0"/>
              <a:t>Xie</a:t>
            </a:r>
            <a:r>
              <a:rPr lang="zh-CN" altLang="en-US" dirty="0" smtClean="0"/>
              <a:t>等人于</a:t>
            </a:r>
            <a:r>
              <a:rPr lang="en-US" altLang="zh-CN" dirty="0" smtClean="0"/>
              <a:t>2016</a:t>
            </a:r>
            <a:r>
              <a:rPr lang="zh-CN" altLang="en-US" dirty="0" smtClean="0"/>
              <a:t>年提出的，与</a:t>
            </a:r>
            <a:r>
              <a:rPr lang="en-US" altLang="zh-CN" dirty="0" smtClean="0"/>
              <a:t>Wide </a:t>
            </a:r>
            <a:r>
              <a:rPr lang="en-US" altLang="zh-CN" dirty="0" err="1" smtClean="0"/>
              <a:t>ResNet</a:t>
            </a:r>
            <a:r>
              <a:rPr lang="zh-CN" altLang="en-US" dirty="0" smtClean="0"/>
              <a:t>不同，</a:t>
            </a:r>
            <a:r>
              <a:rPr lang="en-US" altLang="zh-CN" dirty="0" err="1" smtClean="0"/>
              <a:t>ResNeXt</a:t>
            </a:r>
            <a:r>
              <a:rPr lang="zh-CN" altLang="en-US" dirty="0" smtClean="0"/>
              <a:t>在</a:t>
            </a:r>
            <a:r>
              <a:rPr lang="en-US" altLang="zh-CN" dirty="0" err="1" smtClean="0"/>
              <a:t>ResNet</a:t>
            </a:r>
            <a:r>
              <a:rPr lang="zh-CN" altLang="en-US" dirty="0" smtClean="0"/>
              <a:t>的基础上，通过增加</a:t>
            </a:r>
            <a:r>
              <a:rPr lang="en-US" altLang="zh-CN" dirty="0" smtClean="0"/>
              <a:t>inception</a:t>
            </a:r>
            <a:r>
              <a:rPr lang="zh-CN" altLang="en-US" dirty="0" smtClean="0"/>
              <a:t>个数的方式扩展残差模块，如图所示。</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340637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err="1" smtClean="0"/>
              <a:t>DenseNet</a:t>
            </a:r>
            <a:r>
              <a:rPr lang="zh-CN" altLang="en-US" dirty="0" smtClean="0"/>
              <a:t>是</a:t>
            </a:r>
            <a:r>
              <a:rPr lang="en-US" altLang="zh-CN" dirty="0" smtClean="0"/>
              <a:t>Huang</a:t>
            </a:r>
            <a:r>
              <a:rPr lang="zh-CN" altLang="en-US" dirty="0" smtClean="0"/>
              <a:t>等人在</a:t>
            </a:r>
            <a:r>
              <a:rPr lang="en-US" altLang="zh-CN" dirty="0" smtClean="0"/>
              <a:t>2017</a:t>
            </a:r>
            <a:r>
              <a:rPr lang="zh-CN" altLang="en-US" dirty="0" smtClean="0"/>
              <a:t>年提出的，网络模块如右图所示。在</a:t>
            </a:r>
            <a:r>
              <a:rPr lang="en-US" altLang="zh-CN" dirty="0" err="1" smtClean="0"/>
              <a:t>DenseNet</a:t>
            </a:r>
            <a:r>
              <a:rPr lang="zh-CN" altLang="en-US" dirty="0" smtClean="0"/>
              <a:t>中，每一层都与其他层相关联，这样的设计大大减轻了梯度消失的问题。</a:t>
            </a:r>
            <a:r>
              <a:rPr lang="zh-CN" altLang="en-US" sz="1200" b="0" i="0" kern="1200" dirty="0" smtClean="0">
                <a:solidFill>
                  <a:schemeClr val="tx1"/>
                </a:solidFill>
                <a:effectLst/>
                <a:latin typeface="+mn-lt"/>
                <a:ea typeface="+mn-ea"/>
                <a:cs typeface="+mn-cs"/>
              </a:rPr>
              <a:t>需要明确一点，</a:t>
            </a:r>
            <a:r>
              <a:rPr lang="en-US" altLang="zh-CN" sz="1200" b="0" i="0" kern="1200" dirty="0" smtClean="0">
                <a:solidFill>
                  <a:schemeClr val="tx1"/>
                </a:solidFill>
                <a:effectLst/>
                <a:latin typeface="+mn-lt"/>
                <a:ea typeface="+mn-ea"/>
                <a:cs typeface="+mn-cs"/>
              </a:rPr>
              <a:t>dense connectivity </a:t>
            </a:r>
            <a:r>
              <a:rPr lang="zh-CN" altLang="en-US" sz="1200" b="0" i="0" kern="1200" dirty="0" smtClean="0">
                <a:solidFill>
                  <a:schemeClr val="tx1"/>
                </a:solidFill>
                <a:effectLst/>
                <a:latin typeface="+mn-lt"/>
                <a:ea typeface="+mn-ea"/>
                <a:cs typeface="+mn-cs"/>
              </a:rPr>
              <a:t>仅仅是在一个</a:t>
            </a:r>
            <a:r>
              <a:rPr lang="en-US" altLang="zh-CN" sz="1200" b="0" i="0" kern="1200" dirty="0" smtClean="0">
                <a:solidFill>
                  <a:schemeClr val="tx1"/>
                </a:solidFill>
                <a:effectLst/>
                <a:latin typeface="+mn-lt"/>
                <a:ea typeface="+mn-ea"/>
                <a:cs typeface="+mn-cs"/>
              </a:rPr>
              <a:t>dense block</a:t>
            </a:r>
            <a:r>
              <a:rPr lang="zh-CN" altLang="en-US" sz="1200" b="0" i="0" kern="1200" dirty="0" smtClean="0">
                <a:solidFill>
                  <a:schemeClr val="tx1"/>
                </a:solidFill>
                <a:effectLst/>
                <a:latin typeface="+mn-lt"/>
                <a:ea typeface="+mn-ea"/>
                <a:cs typeface="+mn-cs"/>
              </a:rPr>
              <a:t>里的，不同</a:t>
            </a:r>
            <a:r>
              <a:rPr lang="en-US" altLang="zh-CN" sz="1200" b="0" i="0" kern="1200" dirty="0" smtClean="0">
                <a:solidFill>
                  <a:schemeClr val="tx1"/>
                </a:solidFill>
                <a:effectLst/>
                <a:latin typeface="+mn-lt"/>
                <a:ea typeface="+mn-ea"/>
                <a:cs typeface="+mn-cs"/>
              </a:rPr>
              <a:t>dense block </a:t>
            </a:r>
            <a:r>
              <a:rPr lang="zh-CN" altLang="en-US" sz="1200" b="0" i="0" kern="1200" dirty="0" smtClean="0">
                <a:solidFill>
                  <a:schemeClr val="tx1"/>
                </a:solidFill>
                <a:effectLst/>
                <a:latin typeface="+mn-lt"/>
                <a:ea typeface="+mn-ea"/>
                <a:cs typeface="+mn-cs"/>
              </a:rPr>
              <a:t>之间是没有</a:t>
            </a:r>
            <a:r>
              <a:rPr lang="en-US" altLang="zh-CN" sz="1200" b="0" i="0" kern="1200" dirty="0" smtClean="0">
                <a:solidFill>
                  <a:schemeClr val="tx1"/>
                </a:solidFill>
                <a:effectLst/>
                <a:latin typeface="+mn-lt"/>
                <a:ea typeface="+mn-ea"/>
                <a:cs typeface="+mn-cs"/>
              </a:rPr>
              <a:t>dense connectivity</a:t>
            </a:r>
            <a:r>
              <a:rPr lang="zh-CN" altLang="en-US" sz="1200" b="0" i="0" kern="1200" dirty="0" smtClean="0">
                <a:solidFill>
                  <a:schemeClr val="tx1"/>
                </a:solidFill>
                <a:effectLst/>
                <a:latin typeface="+mn-lt"/>
                <a:ea typeface="+mn-ea"/>
                <a:cs typeface="+mn-cs"/>
              </a:rPr>
              <a:t>的。</a:t>
            </a:r>
            <a:endParaRPr lang="en-US" altLang="zh-CN" dirty="0" smtClean="0"/>
          </a:p>
          <a:p>
            <a:r>
              <a:rPr lang="zh-CN" altLang="en-US" dirty="0" smtClean="0"/>
              <a:t>此外，</a:t>
            </a:r>
            <a:r>
              <a:rPr lang="en-US" altLang="zh-CN" dirty="0" err="1" smtClean="0"/>
              <a:t>ResNet</a:t>
            </a:r>
            <a:r>
              <a:rPr lang="zh-CN" altLang="en-US" dirty="0" smtClean="0"/>
              <a:t>和</a:t>
            </a:r>
            <a:r>
              <a:rPr lang="en-US" altLang="zh-CN" dirty="0" err="1" smtClean="0"/>
              <a:t>DenseNet</a:t>
            </a:r>
            <a:r>
              <a:rPr lang="zh-CN" altLang="en-US" dirty="0" smtClean="0"/>
              <a:t>在跨层连接上的主要区别是使用了相加和连接。这也是</a:t>
            </a:r>
            <a:r>
              <a:rPr lang="en-US" altLang="zh-CN" dirty="0" err="1" smtClean="0"/>
              <a:t>DenseNet</a:t>
            </a:r>
            <a:r>
              <a:rPr lang="zh-CN" altLang="en-US" dirty="0" smtClean="0"/>
              <a:t>被称为稠密连接的原因。</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5702748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在</a:t>
            </a:r>
            <a:r>
              <a:rPr lang="en-US" altLang="zh-CN" sz="1200" b="0" i="0" kern="1200" dirty="0" err="1" smtClean="0">
                <a:solidFill>
                  <a:schemeClr val="tx1"/>
                </a:solidFill>
                <a:effectLst/>
                <a:latin typeface="+mn-lt"/>
                <a:ea typeface="+mn-ea"/>
                <a:cs typeface="+mn-cs"/>
              </a:rPr>
              <a:t>ResNet</a:t>
            </a:r>
            <a:r>
              <a:rPr lang="zh-CN" altLang="en-US" sz="1200" b="0" i="0" kern="1200" dirty="0" smtClean="0">
                <a:solidFill>
                  <a:schemeClr val="tx1"/>
                </a:solidFill>
                <a:effectLst/>
                <a:latin typeface="+mn-lt"/>
                <a:ea typeface="+mn-ea"/>
                <a:cs typeface="+mn-cs"/>
              </a:rPr>
              <a:t>中，层与层之间是元素相加的，但是在</a:t>
            </a:r>
            <a:r>
              <a:rPr lang="en-US" altLang="zh-CN" sz="1200" b="0" i="0" kern="1200" dirty="0" err="1" smtClean="0">
                <a:solidFill>
                  <a:schemeClr val="tx1"/>
                </a:solidFill>
                <a:effectLst/>
                <a:latin typeface="+mn-lt"/>
                <a:ea typeface="+mn-ea"/>
                <a:cs typeface="+mn-cs"/>
              </a:rPr>
              <a:t>DenseNet</a:t>
            </a:r>
            <a:r>
              <a:rPr lang="zh-CN" altLang="en-US" sz="1200" b="0" i="0" kern="1200" dirty="0" smtClean="0">
                <a:solidFill>
                  <a:schemeClr val="tx1"/>
                </a:solidFill>
                <a:effectLst/>
                <a:latin typeface="+mn-lt"/>
                <a:ea typeface="+mn-ea"/>
                <a:cs typeface="+mn-cs"/>
              </a:rPr>
              <a:t>中，不同层之间的连接方式变成了</a:t>
            </a:r>
            <a:r>
              <a:rPr lang="en-US" altLang="zh-CN" sz="1200" b="0" i="0" kern="1200" dirty="0" smtClean="0">
                <a:solidFill>
                  <a:schemeClr val="tx1"/>
                </a:solidFill>
                <a:effectLst/>
                <a:latin typeface="+mn-lt"/>
                <a:ea typeface="+mn-ea"/>
                <a:cs typeface="+mn-cs"/>
              </a:rPr>
              <a:t>concatenating</a:t>
            </a:r>
            <a:r>
              <a:rPr lang="zh-CN" altLang="en-US" sz="1200" b="0" i="0" kern="1200" dirty="0" smtClean="0">
                <a:solidFill>
                  <a:schemeClr val="tx1"/>
                </a:solidFill>
                <a:effectLst/>
                <a:latin typeface="+mn-lt"/>
                <a:ea typeface="+mn-ea"/>
                <a:cs typeface="+mn-cs"/>
              </a:rPr>
              <a:t>，即维度上的叠加。</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由于密集连接方式，</a:t>
            </a:r>
            <a:r>
              <a:rPr lang="en-US" altLang="zh-CN" sz="1200" b="0" i="0" kern="1200" dirty="0" err="1" smtClean="0">
                <a:solidFill>
                  <a:schemeClr val="tx1"/>
                </a:solidFill>
                <a:effectLst/>
                <a:latin typeface="+mn-lt"/>
                <a:ea typeface="+mn-ea"/>
                <a:cs typeface="+mn-cs"/>
              </a:rPr>
              <a:t>DenseNet</a:t>
            </a:r>
            <a:r>
              <a:rPr lang="zh-CN" altLang="en-US" sz="1200" b="0" i="0" kern="1200" dirty="0" smtClean="0">
                <a:solidFill>
                  <a:schemeClr val="tx1"/>
                </a:solidFill>
                <a:effectLst/>
                <a:latin typeface="+mn-lt"/>
                <a:ea typeface="+mn-ea"/>
                <a:cs typeface="+mn-cs"/>
              </a:rPr>
              <a:t>提升了梯度的反向传播，使得网络更容易训练。密集连接这个词给人的第一感觉就是极大的增加了网络的参数量和计算量。但由于每层计算量的减少以及特征的重复利用</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DenseNet</a:t>
            </a:r>
            <a:r>
              <a:rPr lang="zh-CN" altLang="en-US" sz="1200" b="0" i="0" kern="1200" dirty="0" smtClean="0">
                <a:solidFill>
                  <a:schemeClr val="tx1"/>
                </a:solidFill>
                <a:effectLst/>
                <a:latin typeface="+mn-lt"/>
                <a:ea typeface="+mn-ea"/>
                <a:cs typeface="+mn-cs"/>
              </a:rPr>
              <a:t>的参数量会更少，并且由于每一层都包含之前所有层的输出信息，因此其只需要很少的特征图就够了，这也是为什么</a:t>
            </a:r>
            <a:r>
              <a:rPr lang="en-US" altLang="zh-CN" sz="1200" b="0" i="0" kern="1200" dirty="0" err="1" smtClean="0">
                <a:solidFill>
                  <a:schemeClr val="tx1"/>
                </a:solidFill>
                <a:effectLst/>
                <a:latin typeface="+mn-lt"/>
                <a:ea typeface="+mn-ea"/>
                <a:cs typeface="+mn-cs"/>
              </a:rPr>
              <a:t>DenseNet</a:t>
            </a:r>
            <a:r>
              <a:rPr lang="zh-CN" altLang="en-US" sz="1200" b="0" i="0" kern="1200" dirty="0" smtClean="0">
                <a:solidFill>
                  <a:schemeClr val="tx1"/>
                </a:solidFill>
                <a:effectLst/>
                <a:latin typeface="+mn-lt"/>
                <a:ea typeface="+mn-ea"/>
                <a:cs typeface="+mn-cs"/>
              </a:rPr>
              <a:t>的参数量较其他模型大大减少的原因。这种</a:t>
            </a:r>
            <a:r>
              <a:rPr lang="en-US" altLang="zh-CN" sz="1200" b="0" i="0" kern="1200" dirty="0" smtClean="0">
                <a:solidFill>
                  <a:schemeClr val="tx1"/>
                </a:solidFill>
                <a:effectLst/>
                <a:latin typeface="+mn-lt"/>
                <a:ea typeface="+mn-ea"/>
                <a:cs typeface="+mn-cs"/>
              </a:rPr>
              <a:t>dense connection</a:t>
            </a:r>
            <a:r>
              <a:rPr lang="zh-CN" altLang="en-US" sz="1200" b="0" i="0" kern="1200" dirty="0" smtClean="0">
                <a:solidFill>
                  <a:schemeClr val="tx1"/>
                </a:solidFill>
                <a:effectLst/>
                <a:latin typeface="+mn-lt"/>
                <a:ea typeface="+mn-ea"/>
                <a:cs typeface="+mn-cs"/>
              </a:rPr>
              <a:t>相当于每一层都直接连接</a:t>
            </a:r>
            <a:r>
              <a:rPr lang="en-US" altLang="zh-CN" sz="1200" b="0" i="0" kern="1200" dirty="0" smtClean="0">
                <a:solidFill>
                  <a:schemeClr val="tx1"/>
                </a:solidFill>
                <a:effectLst/>
                <a:latin typeface="+mn-lt"/>
                <a:ea typeface="+mn-ea"/>
                <a:cs typeface="+mn-cs"/>
              </a:rPr>
              <a:t>input</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loss</a:t>
            </a:r>
            <a:r>
              <a:rPr lang="zh-CN" altLang="en-US" sz="1200" b="0" i="0" kern="1200" dirty="0" smtClean="0">
                <a:solidFill>
                  <a:schemeClr val="tx1"/>
                </a:solidFill>
                <a:effectLst/>
                <a:latin typeface="+mn-lt"/>
                <a:ea typeface="+mn-ea"/>
                <a:cs typeface="+mn-cs"/>
              </a:rPr>
              <a:t>，因此就可以减轻梯度消失现象。</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然而，</a:t>
            </a:r>
            <a:r>
              <a:rPr lang="en-US" altLang="zh-CN" sz="1200" b="0" i="0" kern="1200" dirty="0" err="1" smtClean="0">
                <a:solidFill>
                  <a:schemeClr val="tx1"/>
                </a:solidFill>
                <a:effectLst/>
                <a:latin typeface="+mn-lt"/>
                <a:ea typeface="+mn-ea"/>
                <a:cs typeface="+mn-cs"/>
              </a:rPr>
              <a:t>DenseNet</a:t>
            </a:r>
            <a:r>
              <a:rPr lang="zh-CN" altLang="en-US" sz="1200" b="0" i="0" kern="1200" dirty="0" smtClean="0">
                <a:solidFill>
                  <a:schemeClr val="tx1"/>
                </a:solidFill>
                <a:effectLst/>
                <a:latin typeface="+mn-lt"/>
                <a:ea typeface="+mn-ea"/>
                <a:cs typeface="+mn-cs"/>
              </a:rPr>
              <a:t>的反复拼接操作，导致每次读取后面层时需要读取所有前面层的参数，造成了恐怖的内存占用，训练速度也非常的慢。</a:t>
            </a:r>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58505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 xmlns:a16="http://schemas.microsoft.com/office/drawing/2014/main"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 xmlns:a16="http://schemas.microsoft.com/office/drawing/2014/main"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 xmlns:a16="http://schemas.microsoft.com/office/drawing/2014/main"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 xmlns:a16="http://schemas.microsoft.com/office/drawing/2014/main"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 xmlns:a16="http://schemas.microsoft.com/office/drawing/2014/main"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 xmlns:a16="http://schemas.microsoft.com/office/drawing/2014/main"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 xmlns:a16="http://schemas.microsoft.com/office/drawing/2014/main"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 xmlns:a16="http://schemas.microsoft.com/office/drawing/2014/main"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 xmlns:a16="http://schemas.microsoft.com/office/drawing/2014/main"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 xmlns:a16="http://schemas.microsoft.com/office/drawing/2014/main"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 xmlns:a16="http://schemas.microsoft.com/office/drawing/2014/main"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 xmlns:a16="http://schemas.microsoft.com/office/drawing/2014/main"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 xmlns:a16="http://schemas.microsoft.com/office/drawing/2014/main"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 xmlns:a16="http://schemas.microsoft.com/office/drawing/2014/main"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 xmlns:a16="http://schemas.microsoft.com/office/drawing/2014/main"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 xmlns:a16="http://schemas.microsoft.com/office/drawing/2014/main"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 xmlns:a16="http://schemas.microsoft.com/office/drawing/2014/main"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 xmlns:a16="http://schemas.microsoft.com/office/drawing/2014/main"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 xmlns:a16="http://schemas.microsoft.com/office/drawing/2014/main"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 xmlns:a16="http://schemas.microsoft.com/office/drawing/2014/main"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 xmlns:a16="http://schemas.microsoft.com/office/drawing/2014/main"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 xmlns:a16="http://schemas.microsoft.com/office/drawing/2014/main"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 xmlns:a16="http://schemas.microsoft.com/office/drawing/2014/main"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 xmlns:a16="http://schemas.microsoft.com/office/drawing/2014/main"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 xmlns:a16="http://schemas.microsoft.com/office/drawing/2014/main"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 xmlns:a16="http://schemas.microsoft.com/office/drawing/2014/main"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 xmlns:a16="http://schemas.microsoft.com/office/drawing/2014/main"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 xmlns:a16="http://schemas.microsoft.com/office/drawing/2014/main"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 xmlns:a16="http://schemas.microsoft.com/office/drawing/2014/main"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 xmlns:a16="http://schemas.microsoft.com/office/drawing/2014/main"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 xmlns:a16="http://schemas.microsoft.com/office/drawing/2014/main"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 xmlns:a16="http://schemas.microsoft.com/office/drawing/2014/main"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 xmlns:a16="http://schemas.microsoft.com/office/drawing/2014/main"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 xmlns:a16="http://schemas.microsoft.com/office/drawing/2014/main"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 xmlns:a16="http://schemas.microsoft.com/office/drawing/2014/main"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 xmlns:a16="http://schemas.microsoft.com/office/drawing/2014/main"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 xmlns:a16="http://schemas.microsoft.com/office/drawing/2014/main"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 xmlns:a16="http://schemas.microsoft.com/office/drawing/2014/main"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 xmlns:a16="http://schemas.microsoft.com/office/drawing/2014/main"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 xmlns:a16="http://schemas.microsoft.com/office/drawing/2014/main"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 xmlns:a16="http://schemas.microsoft.com/office/drawing/2014/main"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 xmlns:a16="http://schemas.microsoft.com/office/drawing/2014/main"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 xmlns:a16="http://schemas.microsoft.com/office/drawing/2014/main"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 xmlns:a16="http://schemas.microsoft.com/office/drawing/2014/main"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 xmlns:a16="http://schemas.microsoft.com/office/drawing/2014/main"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 xmlns:a16="http://schemas.microsoft.com/office/drawing/2014/main"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 xmlns:a16="http://schemas.microsoft.com/office/drawing/2014/main"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 xmlns:a16="http://schemas.microsoft.com/office/drawing/2014/main"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 xmlns:a16="http://schemas.microsoft.com/office/drawing/2014/main"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 xmlns:a16="http://schemas.microsoft.com/office/drawing/2014/main"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 xmlns:a16="http://schemas.microsoft.com/office/drawing/2014/main"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 xmlns:a16="http://schemas.microsoft.com/office/drawing/2014/main"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 xmlns:a16="http://schemas.microsoft.com/office/drawing/2014/main"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 xmlns:a16="http://schemas.microsoft.com/office/drawing/2014/main"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 xmlns:a16="http://schemas.microsoft.com/office/drawing/2014/main"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 xmlns:a16="http://schemas.microsoft.com/office/drawing/2014/main"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 xmlns:a16="http://schemas.microsoft.com/office/drawing/2014/main"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 xmlns:a16="http://schemas.microsoft.com/office/drawing/2014/main"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 xmlns:a16="http://schemas.microsoft.com/office/drawing/2014/main"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 xmlns:a16="http://schemas.microsoft.com/office/drawing/2014/main"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 xmlns:a16="http://schemas.microsoft.com/office/drawing/2014/main"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 xmlns:a16="http://schemas.microsoft.com/office/drawing/2014/main"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 xmlns:a16="http://schemas.microsoft.com/office/drawing/2014/main"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 xmlns:a16="http://schemas.microsoft.com/office/drawing/2014/main"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 xmlns:a16="http://schemas.microsoft.com/office/drawing/2014/main"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 xmlns:a16="http://schemas.microsoft.com/office/drawing/2014/main"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 xmlns:a16="http://schemas.microsoft.com/office/drawing/2014/main"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 xmlns:a16="http://schemas.microsoft.com/office/drawing/2014/main"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 xmlns:a16="http://schemas.microsoft.com/office/drawing/2014/main"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 xmlns:a16="http://schemas.microsoft.com/office/drawing/2014/main"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 xmlns:a16="http://schemas.microsoft.com/office/drawing/2014/main"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 xmlns:a16="http://schemas.microsoft.com/office/drawing/2014/main"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 xmlns:a16="http://schemas.microsoft.com/office/drawing/2014/main"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 xmlns:a16="http://schemas.microsoft.com/office/drawing/2014/main"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 xmlns:a16="http://schemas.microsoft.com/office/drawing/2014/main"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 xmlns:a16="http://schemas.microsoft.com/office/drawing/2014/main"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 xmlns:a16="http://schemas.microsoft.com/office/drawing/2014/main"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 xmlns:a16="http://schemas.microsoft.com/office/drawing/2014/main"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 xmlns:a16="http://schemas.microsoft.com/office/drawing/2014/main"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 xmlns:a16="http://schemas.microsoft.com/office/drawing/2014/main"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 xmlns:a16="http://schemas.microsoft.com/office/drawing/2014/main"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 xmlns:a16="http://schemas.microsoft.com/office/drawing/2014/main"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 xmlns:a16="http://schemas.microsoft.com/office/drawing/2014/main"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 xmlns:a16="http://schemas.microsoft.com/office/drawing/2014/main"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 xmlns:a16="http://schemas.microsoft.com/office/drawing/2014/main"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 xmlns:a16="http://schemas.microsoft.com/office/drawing/2014/main"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 xmlns:a16="http://schemas.microsoft.com/office/drawing/2014/main"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 xmlns:a16="http://schemas.microsoft.com/office/drawing/2014/main"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 xmlns:a16="http://schemas.microsoft.com/office/drawing/2014/main"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 xmlns:a16="http://schemas.microsoft.com/office/drawing/2014/main"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 xmlns:a16="http://schemas.microsoft.com/office/drawing/2014/main"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 xmlns:a16="http://schemas.microsoft.com/office/drawing/2014/main"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 xmlns:a16="http://schemas.microsoft.com/office/drawing/2014/main"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 xmlns:a16="http://schemas.microsoft.com/office/drawing/2014/main"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 xmlns:a16="http://schemas.microsoft.com/office/drawing/2014/main"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 xmlns:a16="http://schemas.microsoft.com/office/drawing/2014/main"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 xmlns:a16="http://schemas.microsoft.com/office/drawing/2014/main"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 xmlns:a16="http://schemas.microsoft.com/office/drawing/2014/main"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 xmlns:a16="http://schemas.microsoft.com/office/drawing/2014/main"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 xmlns:a16="http://schemas.microsoft.com/office/drawing/2014/main"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 xmlns:a16="http://schemas.microsoft.com/office/drawing/2014/main"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 xmlns:a16="http://schemas.microsoft.com/office/drawing/2014/main"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 xmlns:a16="http://schemas.microsoft.com/office/drawing/2014/main"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 xmlns:a16="http://schemas.microsoft.com/office/drawing/2014/main"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 xmlns:a16="http://schemas.microsoft.com/office/drawing/2014/main"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 xmlns:a16="http://schemas.microsoft.com/office/drawing/2014/main"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 xmlns:a16="http://schemas.microsoft.com/office/drawing/2014/main"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 xmlns:a16="http://schemas.microsoft.com/office/drawing/2014/main"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 xmlns:a16="http://schemas.microsoft.com/office/drawing/2014/main"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 xmlns:a16="http://schemas.microsoft.com/office/drawing/2014/main"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 xmlns:a16="http://schemas.microsoft.com/office/drawing/2014/main"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 xmlns:a16="http://schemas.microsoft.com/office/drawing/2014/main"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 xmlns:a16="http://schemas.microsoft.com/office/drawing/2014/main"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 xmlns:a16="http://schemas.microsoft.com/office/drawing/2014/main"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 xmlns:a16="http://schemas.microsoft.com/office/drawing/2014/main"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 xmlns:a16="http://schemas.microsoft.com/office/drawing/2014/main"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 xmlns:a16="http://schemas.microsoft.com/office/drawing/2014/main"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 xmlns:a16="http://schemas.microsoft.com/office/drawing/2014/main"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 xmlns:a16="http://schemas.microsoft.com/office/drawing/2014/main"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 xmlns:a16="http://schemas.microsoft.com/office/drawing/2014/main"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 xmlns:a16="http://schemas.microsoft.com/office/drawing/2014/main"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 xmlns:a16="http://schemas.microsoft.com/office/drawing/2014/main"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 xmlns:a16="http://schemas.microsoft.com/office/drawing/2014/main"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 xmlns:a16="http://schemas.microsoft.com/office/drawing/2014/main"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 xmlns:a16="http://schemas.microsoft.com/office/drawing/2014/main"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 xmlns:a16="http://schemas.microsoft.com/office/drawing/2014/main"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 xmlns:a16="http://schemas.microsoft.com/office/drawing/2014/main"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 xmlns:a16="http://schemas.microsoft.com/office/drawing/2014/main"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 xmlns:a16="http://schemas.microsoft.com/office/drawing/2014/main"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 xmlns:a16="http://schemas.microsoft.com/office/drawing/2014/main"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 xmlns:a16="http://schemas.microsoft.com/office/drawing/2014/main"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 xmlns:a16="http://schemas.microsoft.com/office/drawing/2014/main"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 xmlns:a16="http://schemas.microsoft.com/office/drawing/2014/main"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 xmlns:a16="http://schemas.microsoft.com/office/drawing/2014/main"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 xmlns:a16="http://schemas.microsoft.com/office/drawing/2014/main"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 xmlns:a16="http://schemas.microsoft.com/office/drawing/2014/main"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 xmlns:a16="http://schemas.microsoft.com/office/drawing/2014/main"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 xmlns:a16="http://schemas.microsoft.com/office/drawing/2014/main"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 xmlns:a16="http://schemas.microsoft.com/office/drawing/2014/main"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 xmlns:a16="http://schemas.microsoft.com/office/drawing/2014/main"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 xmlns:a16="http://schemas.microsoft.com/office/drawing/2014/main"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 xmlns:a16="http://schemas.microsoft.com/office/drawing/2014/main"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 xmlns:a16="http://schemas.microsoft.com/office/drawing/2014/main"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 xmlns:a16="http://schemas.microsoft.com/office/drawing/2014/main"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 xmlns:a16="http://schemas.microsoft.com/office/drawing/2014/main"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 xmlns:a16="http://schemas.microsoft.com/office/drawing/2014/main"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 xmlns:a16="http://schemas.microsoft.com/office/drawing/2014/main"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 xmlns:a16="http://schemas.microsoft.com/office/drawing/2014/main"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 xmlns:a16="http://schemas.microsoft.com/office/drawing/2014/main"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 xmlns:a16="http://schemas.microsoft.com/office/drawing/2014/main"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 xmlns:a16="http://schemas.microsoft.com/office/drawing/2014/main"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 xmlns:a16="http://schemas.microsoft.com/office/drawing/2014/main"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 xmlns:a16="http://schemas.microsoft.com/office/drawing/2014/main"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 xmlns:a16="http://schemas.microsoft.com/office/drawing/2014/main"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 xmlns:a16="http://schemas.microsoft.com/office/drawing/2014/main"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 xmlns:a16="http://schemas.microsoft.com/office/drawing/2014/main"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 xmlns:a16="http://schemas.microsoft.com/office/drawing/2014/main"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 xmlns:a16="http://schemas.microsoft.com/office/drawing/2014/main"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 xmlns:a16="http://schemas.microsoft.com/office/drawing/2014/main"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 xmlns:a16="http://schemas.microsoft.com/office/drawing/2014/main"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 xmlns:a16="http://schemas.microsoft.com/office/drawing/2014/main"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 xmlns:a16="http://schemas.microsoft.com/office/drawing/2014/main"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 xmlns:a16="http://schemas.microsoft.com/office/drawing/2014/main"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 xmlns:a16="http://schemas.microsoft.com/office/drawing/2014/main"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 xmlns:a16="http://schemas.microsoft.com/office/drawing/2014/main"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 xmlns:a16="http://schemas.microsoft.com/office/drawing/2014/main"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 xmlns:a16="http://schemas.microsoft.com/office/drawing/2014/main"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 xmlns:a16="http://schemas.microsoft.com/office/drawing/2014/main"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 xmlns:a16="http://schemas.microsoft.com/office/drawing/2014/main"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 xmlns:a16="http://schemas.microsoft.com/office/drawing/2014/main"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 xmlns:a16="http://schemas.microsoft.com/office/drawing/2014/main"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 xmlns:a16="http://schemas.microsoft.com/office/drawing/2014/main"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 xmlns:a16="http://schemas.microsoft.com/office/drawing/2014/main"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 xmlns:a16="http://schemas.microsoft.com/office/drawing/2014/main"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 xmlns:a16="http://schemas.microsoft.com/office/drawing/2014/main"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 xmlns:a16="http://schemas.microsoft.com/office/drawing/2014/main"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 xmlns:a16="http://schemas.microsoft.com/office/drawing/2014/main"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 xmlns:a16="http://schemas.microsoft.com/office/drawing/2014/main"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 xmlns:a16="http://schemas.microsoft.com/office/drawing/2014/main"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 xmlns:a16="http://schemas.microsoft.com/office/drawing/2014/main"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 xmlns:a16="http://schemas.microsoft.com/office/drawing/2014/main"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 xmlns:a16="http://schemas.microsoft.com/office/drawing/2014/main"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 xmlns:a16="http://schemas.microsoft.com/office/drawing/2014/main"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 xmlns:a16="http://schemas.microsoft.com/office/drawing/2014/main"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 xmlns:a16="http://schemas.microsoft.com/office/drawing/2014/main"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 xmlns:a16="http://schemas.microsoft.com/office/drawing/2014/main"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 xmlns:a16="http://schemas.microsoft.com/office/drawing/2014/main"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 xmlns:a16="http://schemas.microsoft.com/office/drawing/2014/main"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 xmlns:a16="http://schemas.microsoft.com/office/drawing/2014/main"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 xmlns:a16="http://schemas.microsoft.com/office/drawing/2014/main"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 xmlns:a16="http://schemas.microsoft.com/office/drawing/2014/main"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 xmlns:a16="http://schemas.microsoft.com/office/drawing/2014/main"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 xmlns:a16="http://schemas.microsoft.com/office/drawing/2014/main"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 xmlns:a16="http://schemas.microsoft.com/office/drawing/2014/main"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 xmlns:a16="http://schemas.microsoft.com/office/drawing/2014/main"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 xmlns:a16="http://schemas.microsoft.com/office/drawing/2014/main"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 xmlns:a16="http://schemas.microsoft.com/office/drawing/2014/main"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 xmlns:a16="http://schemas.microsoft.com/office/drawing/2014/main"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 xmlns:a16="http://schemas.microsoft.com/office/drawing/2014/main"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 xmlns:a16="http://schemas.microsoft.com/office/drawing/2014/main"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 xmlns:a16="http://schemas.microsoft.com/office/drawing/2014/main"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 xmlns:a16="http://schemas.microsoft.com/office/drawing/2014/main"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 xmlns:a16="http://schemas.microsoft.com/office/drawing/2014/main"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 xmlns:a16="http://schemas.microsoft.com/office/drawing/2014/main"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 xmlns:a16="http://schemas.microsoft.com/office/drawing/2014/main"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 xmlns:a16="http://schemas.microsoft.com/office/drawing/2014/main"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 xmlns:a16="http://schemas.microsoft.com/office/drawing/2014/main"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 xmlns:a16="http://schemas.microsoft.com/office/drawing/2014/main"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 xmlns:a16="http://schemas.microsoft.com/office/drawing/2014/main"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 xmlns:a16="http://schemas.microsoft.com/office/drawing/2014/main"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 xmlns:a16="http://schemas.microsoft.com/office/drawing/2014/main"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 xmlns:a16="http://schemas.microsoft.com/office/drawing/2014/main"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 xmlns:a16="http://schemas.microsoft.com/office/drawing/2014/main"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 xmlns:a16="http://schemas.microsoft.com/office/drawing/2014/main"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 xmlns:a16="http://schemas.microsoft.com/office/drawing/2014/main"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 xmlns:a16="http://schemas.microsoft.com/office/drawing/2014/main"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 xmlns:a16="http://schemas.microsoft.com/office/drawing/2014/main"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 xmlns:a16="http://schemas.microsoft.com/office/drawing/2014/main"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 xmlns:a16="http://schemas.microsoft.com/office/drawing/2014/main"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 xmlns:a16="http://schemas.microsoft.com/office/drawing/2014/main"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 xmlns:a16="http://schemas.microsoft.com/office/drawing/2014/main"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 xmlns:a16="http://schemas.microsoft.com/office/drawing/2014/main"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 xmlns:a16="http://schemas.microsoft.com/office/drawing/2014/main"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 xmlns:a16="http://schemas.microsoft.com/office/drawing/2014/main"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 xmlns:a16="http://schemas.microsoft.com/office/drawing/2014/main"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 xmlns:a16="http://schemas.microsoft.com/office/drawing/2014/main"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 xmlns:a16="http://schemas.microsoft.com/office/drawing/2014/main"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 xmlns:a16="http://schemas.microsoft.com/office/drawing/2014/main"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 xmlns:a16="http://schemas.microsoft.com/office/drawing/2014/main"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 xmlns:a16="http://schemas.microsoft.com/office/drawing/2014/main"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 xmlns:a16="http://schemas.microsoft.com/office/drawing/2014/main"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 xmlns:a16="http://schemas.microsoft.com/office/drawing/2014/main"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 xmlns:a16="http://schemas.microsoft.com/office/drawing/2014/main"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 xmlns:a16="http://schemas.microsoft.com/office/drawing/2014/main"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 xmlns:a16="http://schemas.microsoft.com/office/drawing/2014/main"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 xmlns:a16="http://schemas.microsoft.com/office/drawing/2014/main"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 xmlns:a16="http://schemas.microsoft.com/office/drawing/2014/main"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 xmlns:a16="http://schemas.microsoft.com/office/drawing/2014/main"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 xmlns:a16="http://schemas.microsoft.com/office/drawing/2014/main"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 xmlns:a16="http://schemas.microsoft.com/office/drawing/2014/main"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 xmlns:a16="http://schemas.microsoft.com/office/drawing/2014/main"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 xmlns:a16="http://schemas.microsoft.com/office/drawing/2014/main"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 xmlns:a16="http://schemas.microsoft.com/office/drawing/2014/main"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 xmlns:a16="http://schemas.microsoft.com/office/drawing/2014/main"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 xmlns:a16="http://schemas.microsoft.com/office/drawing/2014/main"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 xmlns:a16="http://schemas.microsoft.com/office/drawing/2014/main"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 xmlns:a16="http://schemas.microsoft.com/office/drawing/2014/main"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 xmlns:a16="http://schemas.microsoft.com/office/drawing/2014/main"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 xmlns:a16="http://schemas.microsoft.com/office/drawing/2014/main"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 xmlns:a16="http://schemas.microsoft.com/office/drawing/2014/main"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 xmlns:a16="http://schemas.microsoft.com/office/drawing/2014/main"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 xmlns:a16="http://schemas.microsoft.com/office/drawing/2014/main"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 xmlns:a16="http://schemas.microsoft.com/office/drawing/2014/main"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 xmlns:a16="http://schemas.microsoft.com/office/drawing/2014/main"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 xmlns:a16="http://schemas.microsoft.com/office/drawing/2014/main"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 xmlns:a16="http://schemas.microsoft.com/office/drawing/2014/main"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 xmlns:a16="http://schemas.microsoft.com/office/drawing/2014/main"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 xmlns:a16="http://schemas.microsoft.com/office/drawing/2014/main"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 xmlns:a16="http://schemas.microsoft.com/office/drawing/2014/main"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 xmlns:a16="http://schemas.microsoft.com/office/drawing/2014/main"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 xmlns:a16="http://schemas.microsoft.com/office/drawing/2014/main"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 xmlns:a16="http://schemas.microsoft.com/office/drawing/2014/main"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 xmlns:a16="http://schemas.microsoft.com/office/drawing/2014/main"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 xmlns:a16="http://schemas.microsoft.com/office/drawing/2014/main"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 xmlns:a16="http://schemas.microsoft.com/office/drawing/2014/main"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 xmlns:a16="http://schemas.microsoft.com/office/drawing/2014/main"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 xmlns:a16="http://schemas.microsoft.com/office/drawing/2014/main"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 xmlns:a16="http://schemas.microsoft.com/office/drawing/2014/main"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 xmlns:a16="http://schemas.microsoft.com/office/drawing/2014/main"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 xmlns:a16="http://schemas.microsoft.com/office/drawing/2014/main"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 xmlns:a16="http://schemas.microsoft.com/office/drawing/2014/main"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 xmlns:a16="http://schemas.microsoft.com/office/drawing/2014/main"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 xmlns:a16="http://schemas.microsoft.com/office/drawing/2014/main"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 xmlns:a16="http://schemas.microsoft.com/office/drawing/2014/main"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 xmlns:a16="http://schemas.microsoft.com/office/drawing/2014/main"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 xmlns:a16="http://schemas.microsoft.com/office/drawing/2014/main"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 xmlns:a16="http://schemas.microsoft.com/office/drawing/2014/main"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 xmlns:a16="http://schemas.microsoft.com/office/drawing/2014/main"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 xmlns:a16="http://schemas.microsoft.com/office/drawing/2014/main"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 xmlns:a16="http://schemas.microsoft.com/office/drawing/2014/main"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 xmlns:a16="http://schemas.microsoft.com/office/drawing/2014/main"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 xmlns:a16="http://schemas.microsoft.com/office/drawing/2014/main"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 xmlns:a16="http://schemas.microsoft.com/office/drawing/2014/main"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 xmlns:a16="http://schemas.microsoft.com/office/drawing/2014/main"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 xmlns:a16="http://schemas.microsoft.com/office/drawing/2014/main"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 xmlns:a16="http://schemas.microsoft.com/office/drawing/2014/main"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 xmlns:a16="http://schemas.microsoft.com/office/drawing/2014/main"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 xmlns:a16="http://schemas.microsoft.com/office/drawing/2014/main"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 xmlns:a16="http://schemas.microsoft.com/office/drawing/2014/main"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 xmlns:a16="http://schemas.microsoft.com/office/drawing/2014/main"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 xmlns:a16="http://schemas.microsoft.com/office/drawing/2014/main"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 xmlns:a16="http://schemas.microsoft.com/office/drawing/2014/main"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 xmlns:a16="http://schemas.microsoft.com/office/drawing/2014/main"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 xmlns:a16="http://schemas.microsoft.com/office/drawing/2014/main"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 xmlns:a16="http://schemas.microsoft.com/office/drawing/2014/main"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 xmlns:a16="http://schemas.microsoft.com/office/drawing/2014/main"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 xmlns:a16="http://schemas.microsoft.com/office/drawing/2014/main"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 xmlns:a16="http://schemas.microsoft.com/office/drawing/2014/main"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 xmlns:a16="http://schemas.microsoft.com/office/drawing/2014/main"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 xmlns:a16="http://schemas.microsoft.com/office/drawing/2014/main"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 xmlns:a16="http://schemas.microsoft.com/office/drawing/2014/main"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 xmlns:a16="http://schemas.microsoft.com/office/drawing/2014/main"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 xmlns:a16="http://schemas.microsoft.com/office/drawing/2014/main"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 xmlns:a16="http://schemas.microsoft.com/office/drawing/2014/main"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 xmlns:a16="http://schemas.microsoft.com/office/drawing/2014/main"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 xmlns:a16="http://schemas.microsoft.com/office/drawing/2014/main"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 xmlns:a16="http://schemas.microsoft.com/office/drawing/2014/main"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 xmlns:a16="http://schemas.microsoft.com/office/drawing/2014/main"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 xmlns:a16="http://schemas.microsoft.com/office/drawing/2014/main"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 xmlns:a16="http://schemas.microsoft.com/office/drawing/2014/main"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 xmlns:a16="http://schemas.microsoft.com/office/drawing/2014/main"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 xmlns:a16="http://schemas.microsoft.com/office/drawing/2014/main"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 xmlns:a16="http://schemas.microsoft.com/office/drawing/2014/main"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 xmlns:a16="http://schemas.microsoft.com/office/drawing/2014/main"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 xmlns:a16="http://schemas.microsoft.com/office/drawing/2014/main"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 xmlns:a16="http://schemas.microsoft.com/office/drawing/2014/main"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 xmlns:a16="http://schemas.microsoft.com/office/drawing/2014/main"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 xmlns:a16="http://schemas.microsoft.com/office/drawing/2014/main"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 xmlns:a16="http://schemas.microsoft.com/office/drawing/2014/main"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 xmlns:a16="http://schemas.microsoft.com/office/drawing/2014/main"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 xmlns:a16="http://schemas.microsoft.com/office/drawing/2014/main"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 xmlns:a16="http://schemas.microsoft.com/office/drawing/2014/main"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 xmlns:a16="http://schemas.microsoft.com/office/drawing/2014/main"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 xmlns:a16="http://schemas.microsoft.com/office/drawing/2014/main"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 xmlns:a16="http://schemas.microsoft.com/office/drawing/2014/main"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 xmlns:a16="http://schemas.microsoft.com/office/drawing/2014/main"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 xmlns:a16="http://schemas.microsoft.com/office/drawing/2014/main"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 xmlns:a16="http://schemas.microsoft.com/office/drawing/2014/main"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 xmlns:a16="http://schemas.microsoft.com/office/drawing/2014/main"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 xmlns:a16="http://schemas.microsoft.com/office/drawing/2014/main"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 xmlns:a16="http://schemas.microsoft.com/office/drawing/2014/main"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 xmlns:a16="http://schemas.microsoft.com/office/drawing/2014/main"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 xmlns:a16="http://schemas.microsoft.com/office/drawing/2014/main"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 xmlns:a16="http://schemas.microsoft.com/office/drawing/2014/main"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 xmlns:a16="http://schemas.microsoft.com/office/drawing/2014/main"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 xmlns:a16="http://schemas.microsoft.com/office/drawing/2014/main"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 xmlns:a16="http://schemas.microsoft.com/office/drawing/2014/main"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 xmlns:a16="http://schemas.microsoft.com/office/drawing/2014/main"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 xmlns:a16="http://schemas.microsoft.com/office/drawing/2014/main"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 xmlns:a16="http://schemas.microsoft.com/office/drawing/2014/main"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 xmlns:a16="http://schemas.microsoft.com/office/drawing/2014/main"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 xmlns:a16="http://schemas.microsoft.com/office/drawing/2014/main"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 xmlns:a16="http://schemas.microsoft.com/office/drawing/2014/main"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 xmlns:a16="http://schemas.microsoft.com/office/drawing/2014/main"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 xmlns:a16="http://schemas.microsoft.com/office/drawing/2014/main"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 xmlns:a16="http://schemas.microsoft.com/office/drawing/2014/main"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 xmlns:a16="http://schemas.microsoft.com/office/drawing/2014/main"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 xmlns:a16="http://schemas.microsoft.com/office/drawing/2014/main"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 xmlns:a16="http://schemas.microsoft.com/office/drawing/2014/main"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 xmlns:a16="http://schemas.microsoft.com/office/drawing/2014/main"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 xmlns:a16="http://schemas.microsoft.com/office/drawing/2014/main"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 xmlns:a16="http://schemas.microsoft.com/office/drawing/2014/main"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 xmlns:a16="http://schemas.microsoft.com/office/drawing/2014/main"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 xmlns:a16="http://schemas.microsoft.com/office/drawing/2014/main"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 xmlns:a16="http://schemas.microsoft.com/office/drawing/2014/main"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 xmlns:a16="http://schemas.microsoft.com/office/drawing/2014/main"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 xmlns:a16="http://schemas.microsoft.com/office/drawing/2014/main"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 xmlns:a16="http://schemas.microsoft.com/office/drawing/2014/main"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 xmlns:a16="http://schemas.microsoft.com/office/drawing/2014/main"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 xmlns:a16="http://schemas.microsoft.com/office/drawing/2014/main"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 xmlns:a16="http://schemas.microsoft.com/office/drawing/2014/main"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 xmlns:a16="http://schemas.microsoft.com/office/drawing/2014/main"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 xmlns:a16="http://schemas.microsoft.com/office/drawing/2014/main"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 xmlns:a16="http://schemas.microsoft.com/office/drawing/2014/main"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 xmlns:a16="http://schemas.microsoft.com/office/drawing/2014/main"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 xmlns:a16="http://schemas.microsoft.com/office/drawing/2014/main"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 xmlns:a16="http://schemas.microsoft.com/office/drawing/2014/main"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 xmlns:a16="http://schemas.microsoft.com/office/drawing/2014/main"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 xmlns:a16="http://schemas.microsoft.com/office/drawing/2014/main"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 xmlns:a16="http://schemas.microsoft.com/office/drawing/2014/main"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 xmlns:a16="http://schemas.microsoft.com/office/drawing/2014/main"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 xmlns:a16="http://schemas.microsoft.com/office/drawing/2014/main"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 xmlns:a16="http://schemas.microsoft.com/office/drawing/2014/main"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 xmlns:a16="http://schemas.microsoft.com/office/drawing/2014/main"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 xmlns:a16="http://schemas.microsoft.com/office/drawing/2014/main"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 xmlns:a16="http://schemas.microsoft.com/office/drawing/2014/main"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 xmlns:a16="http://schemas.microsoft.com/office/drawing/2014/main"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 xmlns:a16="http://schemas.microsoft.com/office/drawing/2014/main"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 xmlns:a16="http://schemas.microsoft.com/office/drawing/2014/main"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7.jpg"/></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1.png"/></Relationships>
</file>

<file path=ppt/slides/_rels/slide5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5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40.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 xmlns:a16="http://schemas.microsoft.com/office/drawing/2014/main" id="{5C674A10-3091-4452-A509-500FDC13F4FE}"/>
              </a:ext>
            </a:extLst>
          </p:cNvPr>
          <p:cNvSpPr>
            <a:spLocks noGrp="1"/>
          </p:cNvSpPr>
          <p:nvPr>
            <p:ph type="subTitle" idx="1"/>
          </p:nvPr>
        </p:nvSpPr>
        <p:spPr/>
        <p:txBody>
          <a:bodyPr/>
          <a:lstStyle/>
          <a:p>
            <a:r>
              <a:rPr lang="zh-CN" altLang="en-US" smtClean="0"/>
              <a:t>课件：目标</a:t>
            </a:r>
            <a:r>
              <a:rPr lang="zh-CN" altLang="en-US" dirty="0" smtClean="0"/>
              <a:t>检测原理</a:t>
            </a:r>
            <a:endParaRPr lang="zh-CN" altLang="en-US" dirty="0"/>
          </a:p>
        </p:txBody>
      </p:sp>
      <p:sp>
        <p:nvSpPr>
          <p:cNvPr id="3" name="标题 2">
            <a:extLst>
              <a:ext uri="{FF2B5EF4-FFF2-40B4-BE49-F238E27FC236}">
                <a16:creationId xmlns="" xmlns:a16="http://schemas.microsoft.com/office/drawing/2014/main" id="{37B72B94-1F12-468F-939B-26F0B436DFF1}"/>
              </a:ext>
            </a:extLst>
          </p:cNvPr>
          <p:cNvSpPr>
            <a:spLocks noGrp="1"/>
          </p:cNvSpPr>
          <p:nvPr>
            <p:ph type="ctrTitle"/>
          </p:nvPr>
        </p:nvSpPr>
        <p:spPr/>
        <p:txBody>
          <a:bodyPr/>
          <a:lstStyle/>
          <a:p>
            <a:r>
              <a:rPr lang="zh-CN" altLang="en-US" smtClean="0"/>
              <a:t>目标检测的准备</a:t>
            </a:r>
            <a:endParaRPr lang="zh-CN" altLang="en-US" dirty="0"/>
          </a:p>
        </p:txBody>
      </p:sp>
      <p:sp>
        <p:nvSpPr>
          <p:cNvPr id="4" name="文本占位符 3">
            <a:extLst>
              <a:ext uri="{FF2B5EF4-FFF2-40B4-BE49-F238E27FC236}">
                <a16:creationId xmlns="" xmlns:a16="http://schemas.microsoft.com/office/drawing/2014/main"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 xmlns:a16="http://schemas.microsoft.com/office/drawing/2014/main"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endParaRPr kumimoji="1" lang="en-US" altLang="zh-CN" b="1" dirty="0">
              <a:latin typeface="微软雅黑" panose="020B0503020204020204" pitchFamily="34" charset="-122"/>
              <a:ea typeface="微软雅黑" panose="020B0503020204020204" pitchFamily="34" charset="-122"/>
            </a:endParaRPr>
          </a:p>
          <a:p>
            <a:pPr marL="342900" indent="-342900" defTabSz="2400300">
              <a:lnSpc>
                <a:spcPct val="150000"/>
              </a:lnSpc>
              <a:buFont typeface="Arial" panose="020B0604020202020204" pitchFamily="34" charset="0"/>
              <a:buAutoNum type="arabicPeriod"/>
            </a:pPr>
            <a:r>
              <a:rPr kumimoji="1" lang="zh-CN" altLang="en-US" dirty="0" smtClean="0">
                <a:latin typeface="微软雅黑" panose="020B0503020204020204" pitchFamily="34" charset="-122"/>
                <a:ea typeface="微软雅黑" panose="020B0503020204020204" pitchFamily="34" charset="-122"/>
              </a:rPr>
              <a:t>了解目标检测的原理</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Font typeface="Arial" panose="020B0604020202020204" pitchFamily="34" charset="0"/>
              <a:buAutoNum type="arabicPeriod"/>
            </a:pPr>
            <a:r>
              <a:rPr kumimoji="1" lang="zh-CN" altLang="en-US" dirty="0" smtClean="0">
                <a:latin typeface="微软雅黑" panose="020B0503020204020204" pitchFamily="34" charset="-122"/>
                <a:ea typeface="微软雅黑" panose="020B0503020204020204" pitchFamily="34" charset="-122"/>
              </a:rPr>
              <a:t>了解卷积神经网络各层的作用与原理</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Font typeface="Arial" panose="020B0604020202020204" pitchFamily="34" charset="0"/>
              <a:buAutoNum type="arabicPeriod"/>
            </a:pPr>
            <a:r>
              <a:rPr kumimoji="1" lang="zh-CN" altLang="en-US" dirty="0" smtClean="0">
                <a:latin typeface="微软雅黑" panose="020B0503020204020204" pitchFamily="34" charset="-122"/>
                <a:ea typeface="微软雅黑" panose="020B0503020204020204" pitchFamily="34" charset="-122"/>
              </a:rPr>
              <a:t>学会简单的卷积计算</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Font typeface="Arial" panose="020B0604020202020204" pitchFamily="34" charset="0"/>
              <a:buAutoNum type="arabicPeriod"/>
            </a:pPr>
            <a:r>
              <a:rPr kumimoji="1" lang="zh-CN" altLang="en-US" dirty="0" smtClean="0">
                <a:latin typeface="微软雅黑" panose="020B0503020204020204" pitchFamily="34" charset="-122"/>
                <a:ea typeface="微软雅黑" panose="020B0503020204020204" pitchFamily="34" charset="-122"/>
              </a:rPr>
              <a:t>了解常用的卷积网络结构</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Font typeface="Arial" panose="020B0604020202020204" pitchFamily="34" charset="0"/>
              <a:buAutoNum type="arabicPeriod"/>
            </a:pPr>
            <a:endParaRPr lang="en-US" altLang="zh-CN" dirty="0" smtClean="0"/>
          </a:p>
        </p:txBody>
      </p:sp>
    </p:spTree>
    <p:extLst>
      <p:ext uri="{BB962C8B-B14F-4D97-AF65-F5344CB8AC3E}">
        <p14:creationId xmlns:p14="http://schemas.microsoft.com/office/powerpoint/2010/main" val="3870144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 xmlns:a16="http://schemas.microsoft.com/office/drawing/2014/main"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卷积神经网络基础</a:t>
            </a:r>
            <a:endParaRPr lang="en-US" altLang="zh-CN" dirty="0" smtClean="0"/>
          </a:p>
          <a:p>
            <a:pPr>
              <a:lnSpc>
                <a:spcPct val="125000"/>
              </a:lnSpc>
              <a:buFont typeface="+mj-lt"/>
              <a:buAutoNum type="arabicPeriod"/>
            </a:pPr>
            <a:r>
              <a:rPr lang="zh-CN" altLang="en-US" dirty="0" smtClean="0"/>
              <a:t>常见卷积神经网络结构</a:t>
            </a: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01</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卷积神经网络基础</a:t>
            </a:r>
            <a:endParaRPr lang="zh-CN" altLang="en-US" dirty="0"/>
          </a:p>
        </p:txBody>
      </p:sp>
    </p:spTree>
    <p:extLst>
      <p:ext uri="{BB962C8B-B14F-4D97-AF65-F5344CB8AC3E}">
        <p14:creationId xmlns:p14="http://schemas.microsoft.com/office/powerpoint/2010/main" val="2393945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卷积神经网络基础</a:t>
            </a:r>
            <a:endParaRPr lang="zh-CN" altLang="en-US" dirty="0"/>
          </a:p>
        </p:txBody>
      </p:sp>
      <p:sp>
        <p:nvSpPr>
          <p:cNvPr id="3" name="内容占位符 2"/>
          <p:cNvSpPr>
            <a:spLocks noGrp="1"/>
          </p:cNvSpPr>
          <p:nvPr>
            <p:ph sz="quarter" idx="13"/>
          </p:nvPr>
        </p:nvSpPr>
        <p:spPr/>
        <p:txBody>
          <a:bodyPr/>
          <a:lstStyle/>
          <a:p>
            <a:r>
              <a:rPr lang="zh-CN" altLang="en-US" dirty="0"/>
              <a:t>卷积神经网络</a:t>
            </a:r>
            <a:r>
              <a:rPr lang="en-US" altLang="zh-CN" dirty="0"/>
              <a:t> (Convolutional Neural Network, CNN</a:t>
            </a:r>
            <a:r>
              <a:rPr lang="en-US" altLang="zh-CN" dirty="0" smtClean="0"/>
              <a:t>)</a:t>
            </a:r>
            <a:r>
              <a:rPr lang="zh-CN" altLang="en-US" dirty="0" smtClean="0"/>
              <a:t>：</a:t>
            </a:r>
            <a:endParaRPr lang="en-US" altLang="zh-CN" dirty="0" smtClean="0"/>
          </a:p>
          <a:p>
            <a:pPr lvl="1"/>
            <a:r>
              <a:rPr lang="zh-CN" altLang="en-US" dirty="0"/>
              <a:t>一种深度前馈</a:t>
            </a:r>
            <a:r>
              <a:rPr lang="zh-CN" altLang="en-US" dirty="0" smtClean="0"/>
              <a:t>神经网络</a:t>
            </a:r>
            <a:endParaRPr lang="en-US" altLang="zh-CN" dirty="0" smtClean="0"/>
          </a:p>
          <a:p>
            <a:pPr lvl="1"/>
            <a:r>
              <a:rPr lang="zh-CN" altLang="en-US" dirty="0" smtClean="0"/>
              <a:t>广泛应用于图像识别领域：</a:t>
            </a:r>
            <a:endParaRPr lang="en-US" altLang="zh-CN" dirty="0" smtClean="0"/>
          </a:p>
          <a:p>
            <a:pPr lvl="2"/>
            <a:r>
              <a:rPr lang="zh-CN" altLang="en-US" dirty="0"/>
              <a:t>图像</a:t>
            </a:r>
            <a:r>
              <a:rPr lang="zh-CN" altLang="en-US" dirty="0" smtClean="0"/>
              <a:t>检索</a:t>
            </a:r>
            <a:endParaRPr lang="en-US" altLang="zh-CN" dirty="0" smtClean="0"/>
          </a:p>
          <a:p>
            <a:pPr lvl="2"/>
            <a:r>
              <a:rPr lang="zh-CN" altLang="en-US" dirty="0" smtClean="0"/>
              <a:t>目标检测</a:t>
            </a:r>
            <a:endParaRPr lang="en-US" altLang="zh-CN" dirty="0" smtClean="0"/>
          </a:p>
          <a:p>
            <a:pPr lvl="2"/>
            <a:r>
              <a:rPr lang="zh-CN" altLang="en-US" dirty="0" smtClean="0"/>
              <a:t>目标分割</a:t>
            </a:r>
            <a:endParaRPr lang="en-US" altLang="zh-CN" dirty="0" smtClean="0"/>
          </a:p>
          <a:p>
            <a:pPr lvl="2"/>
            <a:r>
              <a:rPr lang="zh-CN" altLang="en-US" dirty="0" smtClean="0"/>
              <a:t>目标跟踪</a:t>
            </a:r>
            <a:endParaRPr lang="en-US" altLang="zh-CN" dirty="0" smtClean="0"/>
          </a:p>
          <a:p>
            <a:pPr lvl="2"/>
            <a:r>
              <a:rPr lang="zh-CN" altLang="en-US" dirty="0" smtClean="0"/>
              <a:t>视频分类</a:t>
            </a:r>
            <a:endParaRPr lang="en-US" altLang="zh-CN" dirty="0" smtClean="0"/>
          </a:p>
          <a:p>
            <a:pPr lvl="1"/>
            <a:r>
              <a:rPr lang="zh-CN" altLang="en-US" dirty="0" smtClean="0"/>
              <a:t>不同深度的网络层检测不同层级的特征</a:t>
            </a:r>
            <a:endParaRPr lang="en-US" altLang="zh-CN" dirty="0" smtClean="0"/>
          </a:p>
          <a:p>
            <a:pPr lvl="1"/>
            <a:r>
              <a:rPr lang="zh-CN" altLang="en-US" dirty="0" smtClean="0"/>
              <a:t>通过卷积核进行连接，优点：</a:t>
            </a:r>
            <a:endParaRPr lang="en-US" altLang="zh-CN" dirty="0" smtClean="0"/>
          </a:p>
          <a:p>
            <a:pPr lvl="2"/>
            <a:r>
              <a:rPr lang="zh-CN" altLang="en-US" dirty="0" smtClean="0"/>
              <a:t>参数共享</a:t>
            </a:r>
            <a:endParaRPr lang="en-US" altLang="zh-CN" dirty="0" smtClean="0"/>
          </a:p>
          <a:p>
            <a:pPr lvl="2"/>
            <a:r>
              <a:rPr lang="zh-CN" altLang="en-US" dirty="0" smtClean="0"/>
              <a:t>连接稀疏</a:t>
            </a:r>
            <a:endParaRPr lang="en-US" altLang="zh-CN" dirty="0" smtClean="0"/>
          </a:p>
          <a:p>
            <a:pPr lvl="1"/>
            <a:endParaRPr lang="zh-CN" altLang="en-US" dirty="0"/>
          </a:p>
        </p:txBody>
      </p:sp>
      <p:pic>
        <p:nvPicPr>
          <p:cNvPr id="5"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58504" y="1554157"/>
            <a:ext cx="4176713" cy="212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910047" y="3884613"/>
            <a:ext cx="4873625"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19"/>
          <p:cNvSpPr txBox="1">
            <a:spLocks noChangeArrowheads="1"/>
          </p:cNvSpPr>
          <p:nvPr/>
        </p:nvSpPr>
        <p:spPr bwMode="auto">
          <a:xfrm>
            <a:off x="7984950" y="3679820"/>
            <a:ext cx="27238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传统全连接神经网络结构</a:t>
            </a:r>
          </a:p>
        </p:txBody>
      </p:sp>
      <p:sp>
        <p:nvSpPr>
          <p:cNvPr id="8" name="文本框 20"/>
          <p:cNvSpPr txBox="1">
            <a:spLocks noChangeArrowheads="1"/>
          </p:cNvSpPr>
          <p:nvPr/>
        </p:nvSpPr>
        <p:spPr bwMode="auto">
          <a:xfrm>
            <a:off x="8331200" y="5735638"/>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卷积神经网络结构</a:t>
            </a:r>
          </a:p>
        </p:txBody>
      </p:sp>
    </p:spTree>
    <p:extLst>
      <p:ext uri="{BB962C8B-B14F-4D97-AF65-F5344CB8AC3E}">
        <p14:creationId xmlns:p14="http://schemas.microsoft.com/office/powerpoint/2010/main" val="3812310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卷积神经网络基础</a:t>
            </a:r>
            <a:endParaRPr lang="zh-CN" altLang="en-US" dirty="0"/>
          </a:p>
        </p:txBody>
      </p:sp>
      <p:sp>
        <p:nvSpPr>
          <p:cNvPr id="3" name="内容占位符 2"/>
          <p:cNvSpPr>
            <a:spLocks noGrp="1"/>
          </p:cNvSpPr>
          <p:nvPr>
            <p:ph sz="quarter" idx="13"/>
          </p:nvPr>
        </p:nvSpPr>
        <p:spPr/>
        <p:txBody>
          <a:bodyPr/>
          <a:lstStyle/>
          <a:p>
            <a:r>
              <a:rPr lang="zh-CN" altLang="en-US" dirty="0"/>
              <a:t>卷积</a:t>
            </a:r>
            <a:r>
              <a:rPr lang="zh-CN" altLang="en-US" dirty="0" smtClean="0"/>
              <a:t>神经网络结构常见特殊层：</a:t>
            </a:r>
            <a:endParaRPr lang="en-US" altLang="zh-CN" dirty="0" smtClean="0"/>
          </a:p>
          <a:p>
            <a:pPr lvl="1"/>
            <a:r>
              <a:rPr lang="zh-CN" altLang="en-US" dirty="0"/>
              <a:t>卷积</a:t>
            </a:r>
            <a:r>
              <a:rPr lang="zh-CN" altLang="en-US" dirty="0" smtClean="0"/>
              <a:t>层</a:t>
            </a:r>
            <a:endParaRPr lang="en-US" altLang="zh-CN" dirty="0" smtClean="0"/>
          </a:p>
          <a:p>
            <a:pPr lvl="1"/>
            <a:r>
              <a:rPr lang="zh-CN" altLang="en-US" dirty="0"/>
              <a:t>池化</a:t>
            </a:r>
            <a:r>
              <a:rPr lang="zh-CN" altLang="en-US" dirty="0" smtClean="0"/>
              <a:t>层</a:t>
            </a:r>
            <a:endParaRPr lang="en-US" altLang="zh-CN" dirty="0" smtClean="0"/>
          </a:p>
          <a:p>
            <a:pPr lvl="1"/>
            <a:r>
              <a:rPr lang="zh-CN" altLang="en-US" dirty="0"/>
              <a:t>全</a:t>
            </a:r>
            <a:r>
              <a:rPr lang="zh-CN" altLang="en-US" dirty="0" smtClean="0"/>
              <a:t>连接层</a:t>
            </a:r>
            <a:endParaRPr lang="en-US" altLang="zh-CN" dirty="0" smtClean="0"/>
          </a:p>
          <a:p>
            <a:r>
              <a:rPr lang="zh-CN" altLang="en-US" dirty="0" smtClean="0"/>
              <a:t>此外，我们还将介绍</a:t>
            </a:r>
            <a:endParaRPr lang="en-US" altLang="zh-CN" dirty="0" smtClean="0"/>
          </a:p>
          <a:p>
            <a:pPr lvl="1"/>
            <a:r>
              <a:rPr lang="zh-CN" altLang="en-US" dirty="0" smtClean="0"/>
              <a:t>三维数据的卷积运算</a:t>
            </a:r>
            <a:endParaRPr lang="en-US" altLang="zh-CN" dirty="0" smtClean="0"/>
          </a:p>
          <a:p>
            <a:pPr lvl="1"/>
            <a:r>
              <a:rPr lang="zh-CN" altLang="en-US" dirty="0" smtClean="0"/>
              <a:t>批规范化层</a:t>
            </a:r>
            <a:endParaRPr lang="en-US" altLang="zh-CN" dirty="0" smtClean="0"/>
          </a:p>
          <a:p>
            <a:pPr lvl="1"/>
            <a:r>
              <a:rPr lang="en-US" altLang="zh-CN" dirty="0" smtClean="0"/>
              <a:t>Dropout</a:t>
            </a:r>
            <a:r>
              <a:rPr lang="zh-CN" altLang="en-US" dirty="0" smtClean="0"/>
              <a:t>层</a:t>
            </a:r>
            <a:endParaRPr lang="en-US" altLang="zh-CN" dirty="0" smtClean="0"/>
          </a:p>
          <a:p>
            <a:pPr lvl="1"/>
            <a:endParaRPr lang="en-US" altLang="zh-CN" dirty="0" smtClean="0"/>
          </a:p>
          <a:p>
            <a:pPr lvl="1"/>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7314" y="1986988"/>
            <a:ext cx="5523174" cy="3293595"/>
          </a:xfrm>
          <a:prstGeom prst="rect">
            <a:avLst/>
          </a:prstGeom>
        </p:spPr>
      </p:pic>
    </p:spTree>
    <p:extLst>
      <p:ext uri="{BB962C8B-B14F-4D97-AF65-F5344CB8AC3E}">
        <p14:creationId xmlns:p14="http://schemas.microsoft.com/office/powerpoint/2010/main" val="2020396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卷积层</a:t>
            </a:r>
            <a:endParaRPr lang="zh-CN" altLang="en-US" dirty="0"/>
          </a:p>
        </p:txBody>
      </p:sp>
      <p:sp>
        <p:nvSpPr>
          <p:cNvPr id="3" name="内容占位符 2"/>
          <p:cNvSpPr>
            <a:spLocks noGrp="1"/>
          </p:cNvSpPr>
          <p:nvPr>
            <p:ph sz="quarter" idx="13"/>
          </p:nvPr>
        </p:nvSpPr>
        <p:spPr/>
        <p:txBody>
          <a:bodyPr/>
          <a:lstStyle/>
          <a:p>
            <a:r>
              <a:rPr lang="zh-CN" altLang="en-US" dirty="0"/>
              <a:t>卷积层与全连接层不同，它保留了输入图像的空间</a:t>
            </a:r>
            <a:r>
              <a:rPr lang="zh-CN" altLang="en-US" dirty="0" smtClean="0"/>
              <a:t>特征。</a:t>
            </a:r>
            <a:endParaRPr lang="en-US" altLang="zh-CN" dirty="0" smtClean="0"/>
          </a:p>
          <a:p>
            <a:r>
              <a:rPr lang="zh-CN" altLang="en-US" dirty="0" smtClean="0"/>
              <a:t>卷积层的主要作用是提取特征。</a:t>
            </a:r>
            <a:endParaRPr lang="en-US" altLang="zh-CN" dirty="0" smtClean="0"/>
          </a:p>
          <a:p>
            <a:r>
              <a:rPr lang="zh-CN" altLang="en-US" dirty="0"/>
              <a:t>卷积</a:t>
            </a:r>
            <a:r>
              <a:rPr lang="zh-CN" altLang="en-US" dirty="0" smtClean="0"/>
              <a:t>层由若干卷积单元组成，参数通过算法优化得到。</a:t>
            </a:r>
            <a:endParaRPr lang="en-US" altLang="zh-CN" dirty="0" smtClean="0"/>
          </a:p>
          <a:p>
            <a:r>
              <a:rPr lang="zh-CN" altLang="en-US" dirty="0" smtClean="0"/>
              <a:t>不同深度的卷积层提取不同程度的特征。</a:t>
            </a:r>
            <a:endParaRPr lang="en-US" altLang="zh-CN" dirty="0" smtClean="0"/>
          </a:p>
          <a:p>
            <a:endParaRPr lang="en-US" altLang="zh-CN" dirty="0" smtClean="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7797" y="1923810"/>
            <a:ext cx="4772691" cy="3419952"/>
          </a:xfrm>
          <a:prstGeom prst="rect">
            <a:avLst/>
          </a:prstGeom>
        </p:spPr>
      </p:pic>
    </p:spTree>
    <p:extLst>
      <p:ext uri="{BB962C8B-B14F-4D97-AF65-F5344CB8AC3E}">
        <p14:creationId xmlns:p14="http://schemas.microsoft.com/office/powerpoint/2010/main" val="3168864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卷积核</a:t>
            </a:r>
            <a:endParaRPr lang="zh-CN" altLang="en-US" dirty="0"/>
          </a:p>
        </p:txBody>
      </p:sp>
      <p:sp>
        <p:nvSpPr>
          <p:cNvPr id="3" name="内容占位符 2"/>
          <p:cNvSpPr>
            <a:spLocks noGrp="1"/>
          </p:cNvSpPr>
          <p:nvPr>
            <p:ph sz="quarter" idx="13"/>
          </p:nvPr>
        </p:nvSpPr>
        <p:spPr/>
        <p:txBody>
          <a:bodyPr/>
          <a:lstStyle/>
          <a:p>
            <a:r>
              <a:rPr lang="zh-CN" altLang="en-US" dirty="0" smtClean="0"/>
              <a:t>卷积核</a:t>
            </a:r>
            <a:r>
              <a:rPr lang="en-US" altLang="zh-CN" dirty="0"/>
              <a:t>(kernel, </a:t>
            </a:r>
            <a:r>
              <a:rPr lang="zh-CN" altLang="en-US" dirty="0"/>
              <a:t>常简称为卷积，有时也称为滤波器</a:t>
            </a:r>
            <a:r>
              <a:rPr lang="en-US" altLang="zh-CN" dirty="0"/>
              <a:t>, filter) </a:t>
            </a:r>
            <a:r>
              <a:rPr lang="zh-CN" altLang="en-US" dirty="0" smtClean="0"/>
              <a:t>：</a:t>
            </a:r>
            <a:endParaRPr lang="en-US" altLang="zh-CN" dirty="0" smtClean="0"/>
          </a:p>
          <a:p>
            <a:pPr lvl="1"/>
            <a:r>
              <a:rPr lang="zh-CN" altLang="en-US" dirty="0" smtClean="0"/>
              <a:t>对图像进行卷积计算时使用</a:t>
            </a:r>
            <a:endParaRPr lang="en-US" altLang="zh-CN" dirty="0" smtClean="0"/>
          </a:p>
          <a:p>
            <a:pPr lvl="1"/>
            <a:r>
              <a:rPr lang="zh-CN" altLang="en-US" dirty="0" smtClean="0"/>
              <a:t>尺寸根据实际需要自行定义</a:t>
            </a:r>
            <a:endParaRPr lang="en-US" altLang="zh-CN" dirty="0" smtClean="0"/>
          </a:p>
          <a:p>
            <a:pPr lvl="1"/>
            <a:r>
              <a:rPr lang="zh-CN" altLang="en-US" dirty="0" smtClean="0"/>
              <a:t>通常尺寸设为</a:t>
            </a:r>
            <a:r>
              <a:rPr lang="en-US" altLang="zh-CN" dirty="0"/>
              <a:t>(1,1) (3,3) (5,5)</a:t>
            </a:r>
            <a:r>
              <a:rPr lang="zh-CN" altLang="en-US" dirty="0" smtClean="0"/>
              <a:t>等</a:t>
            </a:r>
            <a:endParaRPr lang="en-US" altLang="zh-CN" dirty="0" smtClean="0"/>
          </a:p>
          <a:p>
            <a:pPr lvl="1"/>
            <a:r>
              <a:rPr lang="zh-CN" altLang="en-US" dirty="0" smtClean="0"/>
              <a:t>卷积核通道数一般与输入图像通道数一致</a:t>
            </a:r>
            <a:endParaRPr lang="en-US" altLang="zh-CN" dirty="0"/>
          </a:p>
          <a:p>
            <a:r>
              <a:rPr lang="zh-CN" altLang="en-US" dirty="0" smtClean="0"/>
              <a:t>右图是一种特殊的卷积核，名为</a:t>
            </a:r>
            <a:r>
              <a:rPr lang="en-US" altLang="zh-CN" dirty="0" err="1" smtClean="0"/>
              <a:t>Laplacian</a:t>
            </a:r>
            <a:r>
              <a:rPr lang="zh-CN" altLang="en-US" dirty="0" smtClean="0"/>
              <a:t>算子，单通道，大小为</a:t>
            </a:r>
            <a:r>
              <a:rPr lang="en-US" altLang="zh-CN" dirty="0" smtClean="0"/>
              <a:t>(3,3)</a:t>
            </a:r>
          </a:p>
          <a:p>
            <a:pPr lvl="1"/>
            <a:endParaRPr lang="en-US" altLang="zh-CN" dirty="0" smtClean="0"/>
          </a:p>
        </p:txBody>
      </p:sp>
      <p:graphicFrame>
        <p:nvGraphicFramePr>
          <p:cNvPr id="4" name="表格 3"/>
          <p:cNvGraphicFramePr>
            <a:graphicFrameLocks noGrp="1"/>
          </p:cNvGraphicFramePr>
          <p:nvPr>
            <p:extLst>
              <p:ext uri="{D42A27DB-BD31-4B8C-83A1-F6EECF244321}">
                <p14:modId xmlns:p14="http://schemas.microsoft.com/office/powerpoint/2010/main" val="3082233754"/>
              </p:ext>
            </p:extLst>
          </p:nvPr>
        </p:nvGraphicFramePr>
        <p:xfrm>
          <a:off x="8034255" y="2604925"/>
          <a:ext cx="2159001" cy="2160588"/>
        </p:xfrm>
        <a:graphic>
          <a:graphicData uri="http://schemas.openxmlformats.org/drawingml/2006/table">
            <a:tbl>
              <a:tblPr firstRow="1" bandRow="1">
                <a:tableStyleId>{5940675A-B579-460E-94D1-54222C63F5DA}</a:tableStyleId>
              </a:tblPr>
              <a:tblGrid>
                <a:gridCol w="719667"/>
                <a:gridCol w="719667"/>
                <a:gridCol w="719667"/>
              </a:tblGrid>
              <a:tr h="720196">
                <a:tc>
                  <a:txBody>
                    <a:bodyPr/>
                    <a:lstStyle/>
                    <a:p>
                      <a:pPr algn="ctr"/>
                      <a:r>
                        <a:rPr lang="en-US" altLang="zh-CN" sz="1800" b="1" dirty="0" smtClean="0"/>
                        <a:t>0</a:t>
                      </a:r>
                      <a:endParaRPr lang="zh-CN" altLang="en-US" sz="1800" b="1" dirty="0"/>
                    </a:p>
                  </a:txBody>
                  <a:tcPr marL="91356" marR="91356" marT="45738" marB="4573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356" marR="91356" marT="45738" marB="4573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356" marR="91356" marT="45738" marB="45738" anchor="ctr">
                    <a:solidFill>
                      <a:schemeClr val="accent2">
                        <a:lumMod val="20000"/>
                        <a:lumOff val="80000"/>
                      </a:schemeClr>
                    </a:solidFill>
                  </a:tcPr>
                </a:tc>
              </a:tr>
              <a:tr h="720196">
                <a:tc>
                  <a:txBody>
                    <a:bodyPr/>
                    <a:lstStyle/>
                    <a:p>
                      <a:pPr algn="ctr"/>
                      <a:r>
                        <a:rPr lang="en-US" altLang="zh-CN" sz="1800" b="1" dirty="0" smtClean="0"/>
                        <a:t>1</a:t>
                      </a:r>
                      <a:endParaRPr lang="zh-CN" altLang="en-US" sz="1800" b="1" dirty="0"/>
                    </a:p>
                  </a:txBody>
                  <a:tcPr marL="91356" marR="91356" marT="45738" marB="45738" anchor="ctr">
                    <a:solidFill>
                      <a:schemeClr val="accent2">
                        <a:lumMod val="20000"/>
                        <a:lumOff val="80000"/>
                      </a:schemeClr>
                    </a:solidFill>
                  </a:tcPr>
                </a:tc>
                <a:tc>
                  <a:txBody>
                    <a:bodyPr/>
                    <a:lstStyle/>
                    <a:p>
                      <a:pPr algn="ctr"/>
                      <a:r>
                        <a:rPr lang="en-US" altLang="zh-CN" sz="1800" b="1" dirty="0" smtClean="0"/>
                        <a:t>-4</a:t>
                      </a:r>
                      <a:endParaRPr lang="zh-CN" altLang="en-US" sz="1800" b="1" dirty="0"/>
                    </a:p>
                  </a:txBody>
                  <a:tcPr marL="91356" marR="91356" marT="45738" marB="4573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356" marR="91356" marT="45738" marB="45738" anchor="ctr">
                    <a:solidFill>
                      <a:schemeClr val="accent2">
                        <a:lumMod val="20000"/>
                        <a:lumOff val="80000"/>
                      </a:schemeClr>
                    </a:solidFill>
                  </a:tcPr>
                </a:tc>
              </a:tr>
              <a:tr h="720196">
                <a:tc>
                  <a:txBody>
                    <a:bodyPr/>
                    <a:lstStyle/>
                    <a:p>
                      <a:pPr algn="ctr"/>
                      <a:r>
                        <a:rPr lang="en-US" altLang="zh-CN" sz="1800" b="1" dirty="0" smtClean="0"/>
                        <a:t>0</a:t>
                      </a:r>
                      <a:endParaRPr lang="zh-CN" altLang="en-US" sz="1800" b="1" dirty="0"/>
                    </a:p>
                  </a:txBody>
                  <a:tcPr marL="91356" marR="91356" marT="45738" marB="4573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356" marR="91356" marT="45738" marB="4573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356" marR="91356" marT="45738" marB="45738"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2535294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卷积计算</a:t>
            </a:r>
            <a:endParaRPr lang="zh-CN" altLang="en-US" dirty="0"/>
          </a:p>
        </p:txBody>
      </p:sp>
      <p:sp>
        <p:nvSpPr>
          <p:cNvPr id="3" name="内容占位符 2"/>
          <p:cNvSpPr>
            <a:spLocks noGrp="1"/>
          </p:cNvSpPr>
          <p:nvPr>
            <p:ph sz="quarter" idx="13"/>
          </p:nvPr>
        </p:nvSpPr>
        <p:spPr/>
        <p:txBody>
          <a:bodyPr/>
          <a:lstStyle/>
          <a:p>
            <a:r>
              <a:rPr lang="zh-CN" altLang="en-US" dirty="0" smtClean="0"/>
              <a:t>卷积计算的过程：</a:t>
            </a:r>
            <a:endParaRPr lang="en-US" altLang="zh-CN" dirty="0" smtClean="0"/>
          </a:p>
          <a:p>
            <a:pPr lvl="1"/>
            <a:r>
              <a:rPr lang="zh-CN" altLang="en-US" dirty="0"/>
              <a:t>卷积核在输入特征图上依次</a:t>
            </a:r>
            <a:r>
              <a:rPr lang="zh-CN" altLang="en-US" dirty="0" smtClean="0"/>
              <a:t>滑动</a:t>
            </a:r>
            <a:endParaRPr lang="en-US" altLang="zh-CN" dirty="0" smtClean="0"/>
          </a:p>
          <a:p>
            <a:pPr lvl="1"/>
            <a:r>
              <a:rPr lang="zh-CN" altLang="en-US" dirty="0"/>
              <a:t>滑动方向为从左到右，</a:t>
            </a:r>
            <a:r>
              <a:rPr lang="zh-CN" altLang="en-US" dirty="0" smtClean="0"/>
              <a:t>从上到下</a:t>
            </a:r>
            <a:endParaRPr lang="en-US" altLang="zh-CN" dirty="0" smtClean="0"/>
          </a:p>
          <a:p>
            <a:pPr lvl="1"/>
            <a:r>
              <a:rPr lang="zh-CN" altLang="en-US" dirty="0"/>
              <a:t>每</a:t>
            </a:r>
            <a:r>
              <a:rPr lang="zh-CN" altLang="en-US" dirty="0" smtClean="0"/>
              <a:t>滑动</a:t>
            </a:r>
            <a:r>
              <a:rPr lang="zh-CN" altLang="en-US" dirty="0"/>
              <a:t>一次，卷积核就和滑窗位置对应的输入特征图做一次点乘</a:t>
            </a:r>
            <a:r>
              <a:rPr lang="zh-CN" altLang="en-US" dirty="0" smtClean="0"/>
              <a:t>运算</a:t>
            </a:r>
            <a:endParaRPr lang="en-US" altLang="zh-CN" dirty="0" smtClean="0"/>
          </a:p>
          <a:p>
            <a:pPr lvl="1"/>
            <a:r>
              <a:rPr lang="zh-CN" altLang="en-US" dirty="0"/>
              <a:t>得到的数值保存到输出特征图对应的位置</a:t>
            </a:r>
            <a:r>
              <a:rPr lang="zh-CN" altLang="en-US" dirty="0" smtClean="0"/>
              <a:t>上</a:t>
            </a:r>
            <a:endParaRPr lang="en-US" altLang="zh-CN" dirty="0" smtClean="0"/>
          </a:p>
          <a:p>
            <a:pPr lvl="1"/>
            <a:r>
              <a:rPr lang="zh-CN" altLang="en-US" dirty="0" smtClean="0"/>
              <a:t>输出特征图即为卷积</a:t>
            </a:r>
            <a:r>
              <a:rPr lang="zh-CN" altLang="en-US" dirty="0"/>
              <a:t>运算的</a:t>
            </a:r>
            <a:r>
              <a:rPr lang="zh-CN" altLang="en-US" dirty="0" smtClean="0"/>
              <a:t>输出</a:t>
            </a:r>
            <a:endParaRPr lang="en-US" altLang="zh-CN" dirty="0" smtClean="0"/>
          </a:p>
          <a:p>
            <a:r>
              <a:rPr lang="zh-CN" altLang="en-US" dirty="0"/>
              <a:t>卷积核除了有权重参数之外，也存在</a:t>
            </a:r>
            <a:r>
              <a:rPr lang="zh-CN" altLang="en-US" dirty="0" smtClean="0"/>
              <a:t>偏置。</a:t>
            </a:r>
            <a:endParaRPr lang="en-US" altLang="zh-CN" dirty="0" smtClean="0"/>
          </a:p>
          <a:p>
            <a:r>
              <a:rPr lang="zh-CN" altLang="en-US" dirty="0"/>
              <a:t>偏置通常只有一个</a:t>
            </a:r>
            <a:r>
              <a:rPr lang="en-US" altLang="zh-CN" dirty="0"/>
              <a:t> (1,1) </a:t>
            </a:r>
            <a:r>
              <a:rPr lang="zh-CN" altLang="en-US" dirty="0"/>
              <a:t>，它会被加到应用卷积核的所有元素上。</a:t>
            </a:r>
            <a:endParaRPr lang="en-US" altLang="zh-CN" dirty="0"/>
          </a:p>
          <a:p>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43480" y="4461469"/>
            <a:ext cx="4177008" cy="1675805"/>
          </a:xfrm>
          <a:prstGeom prst="rect">
            <a:avLst/>
          </a:prstGeom>
        </p:spPr>
      </p:pic>
    </p:spTree>
    <p:extLst>
      <p:ext uri="{BB962C8B-B14F-4D97-AF65-F5344CB8AC3E}">
        <p14:creationId xmlns:p14="http://schemas.microsoft.com/office/powerpoint/2010/main" val="3390924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卷积计算示例</a:t>
            </a:r>
            <a:endParaRPr lang="zh-CN" altLang="en-US" dirty="0"/>
          </a:p>
        </p:txBody>
      </p:sp>
      <p:sp>
        <p:nvSpPr>
          <p:cNvPr id="3" name="内容占位符 2"/>
          <p:cNvSpPr>
            <a:spLocks noGrp="1"/>
          </p:cNvSpPr>
          <p:nvPr>
            <p:ph sz="quarter" idx="13"/>
          </p:nvPr>
        </p:nvSpPr>
        <p:spPr/>
        <p:txBody>
          <a:bodyPr/>
          <a:lstStyle/>
          <a:p>
            <a:r>
              <a:rPr lang="zh-CN" altLang="en-US" dirty="0" smtClean="0"/>
              <a:t>我们通过一些具体的的示例加深</a:t>
            </a:r>
            <a:r>
              <a:rPr lang="zh-CN" altLang="en-US" dirty="0"/>
              <a:t>对卷积计算的理解。</a:t>
            </a:r>
            <a:endParaRPr lang="en-US" altLang="zh-CN" dirty="0"/>
          </a:p>
          <a:p>
            <a:r>
              <a:rPr lang="zh-CN" altLang="en-US" dirty="0"/>
              <a:t>假设</a:t>
            </a:r>
            <a:r>
              <a:rPr lang="zh-CN" altLang="en-US" dirty="0" smtClean="0"/>
              <a:t>有</a:t>
            </a:r>
            <a:r>
              <a:rPr lang="zh-CN" altLang="en-US" dirty="0"/>
              <a:t>一张</a:t>
            </a:r>
            <a:r>
              <a:rPr lang="en-US" altLang="zh-CN" dirty="0"/>
              <a:t>4</a:t>
            </a:r>
            <a:r>
              <a:rPr lang="en-US" altLang="zh-CN" b="1" dirty="0"/>
              <a:t>×</a:t>
            </a:r>
            <a:r>
              <a:rPr lang="en-US" altLang="zh-CN" dirty="0"/>
              <a:t>4</a:t>
            </a:r>
            <a:r>
              <a:rPr lang="zh-CN" altLang="en-US" dirty="0"/>
              <a:t>的黑白图像，它的特征图如下图所示。使用的卷积核是之前提到的</a:t>
            </a:r>
            <a:r>
              <a:rPr lang="en-US" altLang="zh-CN" dirty="0" err="1"/>
              <a:t>Laplacian</a:t>
            </a:r>
            <a:r>
              <a:rPr lang="zh-CN" altLang="en-US" dirty="0"/>
              <a:t>算子，偏置值为</a:t>
            </a:r>
            <a:r>
              <a:rPr lang="en-US" altLang="zh-CN" dirty="0"/>
              <a:t>2</a:t>
            </a:r>
            <a:r>
              <a:rPr lang="zh-CN" altLang="en-US" dirty="0"/>
              <a:t>，</a:t>
            </a:r>
            <a:r>
              <a:rPr lang="zh-CN" altLang="en-US" dirty="0" smtClean="0"/>
              <a:t>滑动</a:t>
            </a:r>
            <a:r>
              <a:rPr lang="zh-CN" altLang="en-US" dirty="0"/>
              <a:t>步长为</a:t>
            </a:r>
            <a:r>
              <a:rPr lang="en-US" altLang="zh-CN" dirty="0"/>
              <a:t>1</a:t>
            </a:r>
            <a:r>
              <a:rPr lang="zh-CN" altLang="en-US" dirty="0"/>
              <a:t>。</a:t>
            </a:r>
          </a:p>
        </p:txBody>
      </p:sp>
      <p:graphicFrame>
        <p:nvGraphicFramePr>
          <p:cNvPr id="6" name="表格 5"/>
          <p:cNvGraphicFramePr>
            <a:graphicFrameLocks noGrp="1"/>
          </p:cNvGraphicFramePr>
          <p:nvPr>
            <p:extLst>
              <p:ext uri="{D42A27DB-BD31-4B8C-83A1-F6EECF244321}">
                <p14:modId xmlns:p14="http://schemas.microsoft.com/office/powerpoint/2010/main" val="1347852129"/>
              </p:ext>
            </p:extLst>
          </p:nvPr>
        </p:nvGraphicFramePr>
        <p:xfrm>
          <a:off x="1060040" y="2707444"/>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r>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5</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1829146845"/>
              </p:ext>
            </p:extLst>
          </p:nvPr>
        </p:nvGraphicFramePr>
        <p:xfrm>
          <a:off x="4849402" y="3094794"/>
          <a:ext cx="2160588" cy="2159001"/>
        </p:xfrm>
        <a:graphic>
          <a:graphicData uri="http://schemas.openxmlformats.org/drawingml/2006/table">
            <a:tbl>
              <a:tblPr firstRow="1" bandRow="1">
                <a:tableStyleId>{5940675A-B579-460E-94D1-54222C63F5DA}</a:tableStyleId>
              </a:tblPr>
              <a:tblGrid>
                <a:gridCol w="720196"/>
                <a:gridCol w="720196"/>
                <a:gridCol w="720196"/>
              </a:tblGrid>
              <a:tr h="719667">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r>
              <a:tr h="719667">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-4</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r>
              <a:tr h="719667">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r>
            </a:tbl>
          </a:graphicData>
        </a:graphic>
      </p:graphicFrame>
      <p:sp>
        <p:nvSpPr>
          <p:cNvPr id="8" name="文本框 21"/>
          <p:cNvSpPr txBox="1">
            <a:spLocks noChangeArrowheads="1"/>
          </p:cNvSpPr>
          <p:nvPr/>
        </p:nvSpPr>
        <p:spPr bwMode="auto">
          <a:xfrm>
            <a:off x="1444468" y="5767942"/>
            <a:ext cx="20024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4×4</a:t>
            </a:r>
            <a:r>
              <a:rPr lang="zh-CN" altLang="en-US" b="1" dirty="0"/>
              <a:t>单通道特征图</a:t>
            </a:r>
          </a:p>
        </p:txBody>
      </p:sp>
      <p:sp>
        <p:nvSpPr>
          <p:cNvPr id="9" name="文本框 22"/>
          <p:cNvSpPr txBox="1">
            <a:spLocks noChangeArrowheads="1"/>
          </p:cNvSpPr>
          <p:nvPr/>
        </p:nvSpPr>
        <p:spPr bwMode="auto">
          <a:xfrm>
            <a:off x="4426333" y="5771662"/>
            <a:ext cx="31181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3×3</a:t>
            </a:r>
            <a:r>
              <a:rPr lang="zh-CN" altLang="en-US" b="1" dirty="0"/>
              <a:t>卷积核 </a:t>
            </a:r>
            <a:r>
              <a:rPr lang="en-US" altLang="zh-CN" b="1" dirty="0"/>
              <a:t>(</a:t>
            </a:r>
            <a:r>
              <a:rPr lang="en-US" altLang="zh-CN" b="1" dirty="0" err="1"/>
              <a:t>Laplacian</a:t>
            </a:r>
            <a:r>
              <a:rPr lang="zh-CN" altLang="en-US" b="1" dirty="0"/>
              <a:t>算子</a:t>
            </a:r>
            <a:r>
              <a:rPr lang="en-US" altLang="zh-CN" b="1" dirty="0"/>
              <a:t>) </a:t>
            </a:r>
            <a:endParaRPr lang="zh-CN" altLang="en-US" b="1" dirty="0"/>
          </a:p>
        </p:txBody>
      </p:sp>
      <p:sp>
        <p:nvSpPr>
          <p:cNvPr id="10" name="文本框 6"/>
          <p:cNvSpPr txBox="1">
            <a:spLocks noChangeArrowheads="1"/>
          </p:cNvSpPr>
          <p:nvPr/>
        </p:nvSpPr>
        <p:spPr bwMode="auto">
          <a:xfrm>
            <a:off x="4228690" y="3937756"/>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Wingdings 2" panose="05020102010507070707" pitchFamily="18" charset="2"/>
              </a:rPr>
              <a:t></a:t>
            </a:r>
            <a:endParaRPr lang="zh-CN" altLang="en-US" dirty="0"/>
          </a:p>
        </p:txBody>
      </p:sp>
      <p:graphicFrame>
        <p:nvGraphicFramePr>
          <p:cNvPr id="11" name="表格 10"/>
          <p:cNvGraphicFramePr>
            <a:graphicFrameLocks noGrp="1"/>
          </p:cNvGraphicFramePr>
          <p:nvPr>
            <p:extLst>
              <p:ext uri="{D42A27DB-BD31-4B8C-83A1-F6EECF244321}">
                <p14:modId xmlns:p14="http://schemas.microsoft.com/office/powerpoint/2010/main" val="605633553"/>
              </p:ext>
            </p:extLst>
          </p:nvPr>
        </p:nvGraphicFramePr>
        <p:xfrm>
          <a:off x="7776752" y="3763131"/>
          <a:ext cx="720725" cy="719138"/>
        </p:xfrm>
        <a:graphic>
          <a:graphicData uri="http://schemas.openxmlformats.org/drawingml/2006/table">
            <a:tbl>
              <a:tblPr firstRow="1" bandRow="1">
                <a:tableStyleId>{5C22544A-7EE6-4342-B048-85BDC9FD1C3A}</a:tableStyleId>
              </a:tblPr>
              <a:tblGrid>
                <a:gridCol w="720725"/>
              </a:tblGrid>
              <a:tr h="719138">
                <a:tc>
                  <a:txBody>
                    <a:bodyPr/>
                    <a:lstStyle/>
                    <a:p>
                      <a:pPr algn="ctr"/>
                      <a:r>
                        <a:rPr lang="en-US" altLang="zh-CN" sz="1800" b="1" dirty="0" smtClean="0">
                          <a:solidFill>
                            <a:schemeClr val="tx1"/>
                          </a:solidFill>
                        </a:rPr>
                        <a:t>2</a:t>
                      </a:r>
                      <a:endParaRPr lang="zh-CN" altLang="en-US" sz="1800" b="1" dirty="0">
                        <a:solidFill>
                          <a:schemeClr val="tx1"/>
                        </a:solidFill>
                      </a:endParaRPr>
                    </a:p>
                  </a:txBody>
                  <a:tcPr marL="91543" marR="91543" marT="45671" marB="45671" anchor="ctr">
                    <a:solidFill>
                      <a:schemeClr val="accent2">
                        <a:lumMod val="20000"/>
                        <a:lumOff val="80000"/>
                      </a:schemeClr>
                    </a:solidFill>
                  </a:tcPr>
                </a:tc>
              </a:tr>
            </a:tbl>
          </a:graphicData>
        </a:graphic>
      </p:graphicFrame>
      <p:sp>
        <p:nvSpPr>
          <p:cNvPr id="12" name="文本框 23"/>
          <p:cNvSpPr txBox="1">
            <a:spLocks noChangeArrowheads="1"/>
          </p:cNvSpPr>
          <p:nvPr/>
        </p:nvSpPr>
        <p:spPr bwMode="auto">
          <a:xfrm>
            <a:off x="7877557" y="5767942"/>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偏置</a:t>
            </a:r>
          </a:p>
        </p:txBody>
      </p:sp>
      <p:sp>
        <p:nvSpPr>
          <p:cNvPr id="13" name="文本框 24"/>
          <p:cNvSpPr txBox="1">
            <a:spLocks noChangeArrowheads="1"/>
          </p:cNvSpPr>
          <p:nvPr/>
        </p:nvSpPr>
        <p:spPr bwMode="auto">
          <a:xfrm>
            <a:off x="7292565" y="3937756"/>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Symbol" panose="05050102010706020507" pitchFamily="18" charset="2"/>
              </a:rPr>
              <a:t></a:t>
            </a:r>
            <a:endParaRPr lang="zh-CN" altLang="en-US"/>
          </a:p>
        </p:txBody>
      </p:sp>
      <p:sp>
        <p:nvSpPr>
          <p:cNvPr id="14" name="文本框 23"/>
          <p:cNvSpPr txBox="1">
            <a:spLocks noChangeArrowheads="1"/>
          </p:cNvSpPr>
          <p:nvPr/>
        </p:nvSpPr>
        <p:spPr bwMode="auto">
          <a:xfrm>
            <a:off x="8754652" y="3967919"/>
            <a:ext cx="288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a:t>=</a:t>
            </a:r>
            <a:endParaRPr lang="zh-CN" altLang="en-US" sz="1400" b="1"/>
          </a:p>
        </p:txBody>
      </p:sp>
      <p:graphicFrame>
        <p:nvGraphicFramePr>
          <p:cNvPr id="15" name="表格 14"/>
          <p:cNvGraphicFramePr>
            <a:graphicFrameLocks noGrp="1"/>
          </p:cNvGraphicFramePr>
          <p:nvPr>
            <p:extLst>
              <p:ext uri="{D42A27DB-BD31-4B8C-83A1-F6EECF244321}">
                <p14:modId xmlns:p14="http://schemas.microsoft.com/office/powerpoint/2010/main" val="2504512732"/>
              </p:ext>
            </p:extLst>
          </p:nvPr>
        </p:nvGraphicFramePr>
        <p:xfrm>
          <a:off x="9232490" y="3424994"/>
          <a:ext cx="1439862" cy="1441450"/>
        </p:xfrm>
        <a:graphic>
          <a:graphicData uri="http://schemas.openxmlformats.org/drawingml/2006/table">
            <a:tbl>
              <a:tblPr firstRow="1" bandRow="1">
                <a:tableStyleId>{5940675A-B579-460E-94D1-54222C63F5DA}</a:tableStyleId>
              </a:tblPr>
              <a:tblGrid>
                <a:gridCol w="719931"/>
                <a:gridCol w="719931"/>
              </a:tblGrid>
              <a:tr h="720725">
                <a:tc>
                  <a:txBody>
                    <a:bodyPr/>
                    <a:lstStyle/>
                    <a:p>
                      <a:pPr algn="ctr"/>
                      <a:endParaRPr lang="zh-CN" altLang="en-US" sz="1800" dirty="0"/>
                    </a:p>
                  </a:txBody>
                  <a:tcPr marL="91431" marR="91431" marT="45766" marB="45766" anchor="ctr"/>
                </a:tc>
                <a:tc>
                  <a:txBody>
                    <a:bodyPr/>
                    <a:lstStyle/>
                    <a:p>
                      <a:pPr algn="ctr"/>
                      <a:endParaRPr lang="zh-CN" altLang="en-US" sz="1800"/>
                    </a:p>
                  </a:txBody>
                  <a:tcPr marL="91431" marR="91431" marT="45766" marB="45766" anchor="ctr"/>
                </a:tc>
              </a:tr>
              <a:tr h="720725">
                <a:tc>
                  <a:txBody>
                    <a:bodyPr/>
                    <a:lstStyle/>
                    <a:p>
                      <a:pPr algn="ctr"/>
                      <a:endParaRPr lang="zh-CN" altLang="en-US" sz="1800" dirty="0"/>
                    </a:p>
                  </a:txBody>
                  <a:tcPr marL="91431" marR="91431" marT="45766" marB="45766" anchor="ctr"/>
                </a:tc>
                <a:tc>
                  <a:txBody>
                    <a:bodyPr/>
                    <a:lstStyle/>
                    <a:p>
                      <a:pPr algn="ctr"/>
                      <a:endParaRPr lang="zh-CN" altLang="en-US" sz="1800" dirty="0"/>
                    </a:p>
                  </a:txBody>
                  <a:tcPr marL="91431" marR="91431" marT="45766" marB="45766" anchor="ctr"/>
                </a:tc>
              </a:tr>
            </a:tbl>
          </a:graphicData>
        </a:graphic>
      </p:graphicFrame>
    </p:spTree>
    <p:extLst>
      <p:ext uri="{BB962C8B-B14F-4D97-AF65-F5344CB8AC3E}">
        <p14:creationId xmlns:p14="http://schemas.microsoft.com/office/powerpoint/2010/main" val="1936081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卷积计算示例</a:t>
            </a:r>
            <a:endParaRPr lang="zh-CN" altLang="en-US" dirty="0"/>
          </a:p>
        </p:txBody>
      </p:sp>
      <p:sp>
        <p:nvSpPr>
          <p:cNvPr id="3" name="内容占位符 2"/>
          <p:cNvSpPr>
            <a:spLocks noGrp="1"/>
          </p:cNvSpPr>
          <p:nvPr>
            <p:ph sz="quarter" idx="13"/>
          </p:nvPr>
        </p:nvSpPr>
        <p:spPr/>
        <p:txBody>
          <a:bodyPr/>
          <a:lstStyle/>
          <a:p>
            <a:r>
              <a:rPr lang="zh-CN" altLang="en-US" dirty="0"/>
              <a:t>先从左上角开始，选取和卷积核一样大小的特征图区域开始计算，卷积核和滑窗位置的输入特征图做一次点乘运算：</a:t>
            </a:r>
            <a:endParaRPr lang="en-US" altLang="zh-CN" dirty="0"/>
          </a:p>
          <a:p>
            <a:r>
              <a:rPr lang="en-US" altLang="zh-CN" b="1" dirty="0" smtClean="0"/>
              <a:t> </a:t>
            </a:r>
            <a:r>
              <a:rPr lang="en-US" altLang="zh-CN" b="1" dirty="0" smtClean="0">
                <a:solidFill>
                  <a:srgbClr val="FF0000"/>
                </a:solidFill>
              </a:rPr>
              <a:t>1×0</a:t>
            </a:r>
            <a:r>
              <a:rPr lang="en-US" altLang="zh-CN" b="1" dirty="0" smtClean="0"/>
              <a:t>+</a:t>
            </a:r>
            <a:r>
              <a:rPr lang="en-US" altLang="zh-CN" b="1" dirty="0" smtClean="0">
                <a:solidFill>
                  <a:srgbClr val="FF33CC"/>
                </a:solidFill>
              </a:rPr>
              <a:t>3×1</a:t>
            </a:r>
            <a:r>
              <a:rPr lang="en-US" altLang="zh-CN" b="1" dirty="0" smtClean="0"/>
              <a:t>+</a:t>
            </a:r>
            <a:r>
              <a:rPr lang="en-US" altLang="zh-CN" b="1" dirty="0" smtClean="0">
                <a:solidFill>
                  <a:schemeClr val="accent4">
                    <a:lumMod val="75000"/>
                  </a:schemeClr>
                </a:solidFill>
              </a:rPr>
              <a:t>1×0</a:t>
            </a:r>
            <a:r>
              <a:rPr lang="en-US" altLang="zh-CN" b="1" dirty="0" smtClean="0"/>
              <a:t>+</a:t>
            </a:r>
            <a:r>
              <a:rPr lang="en-US" altLang="zh-CN" b="1" dirty="0" smtClean="0">
                <a:solidFill>
                  <a:srgbClr val="FF7C80"/>
                </a:solidFill>
              </a:rPr>
              <a:t>2×1</a:t>
            </a:r>
            <a:r>
              <a:rPr lang="en-US" altLang="zh-CN" b="1" dirty="0" smtClean="0"/>
              <a:t>+</a:t>
            </a:r>
            <a:r>
              <a:rPr lang="en-US" altLang="zh-CN" b="1" dirty="0" smtClean="0">
                <a:solidFill>
                  <a:srgbClr val="0000FF"/>
                </a:solidFill>
              </a:rPr>
              <a:t>0×(-4)</a:t>
            </a:r>
            <a:r>
              <a:rPr lang="en-US" altLang="zh-CN" b="1" dirty="0" smtClean="0"/>
              <a:t>+</a:t>
            </a:r>
            <a:r>
              <a:rPr lang="en-US" altLang="zh-CN" b="1" dirty="0" smtClean="0">
                <a:solidFill>
                  <a:srgbClr val="A50021"/>
                </a:solidFill>
              </a:rPr>
              <a:t>0×1</a:t>
            </a:r>
            <a:r>
              <a:rPr lang="en-US" altLang="zh-CN" b="1" dirty="0" smtClean="0"/>
              <a:t>+</a:t>
            </a:r>
            <a:r>
              <a:rPr lang="en-US" altLang="zh-CN" b="1" dirty="0" smtClean="0">
                <a:solidFill>
                  <a:srgbClr val="00CC00"/>
                </a:solidFill>
              </a:rPr>
              <a:t>2×0</a:t>
            </a:r>
            <a:r>
              <a:rPr lang="en-US" altLang="zh-CN" b="1" dirty="0" smtClean="0"/>
              <a:t>+</a:t>
            </a:r>
            <a:r>
              <a:rPr lang="en-US" altLang="zh-CN" b="1" dirty="0" smtClean="0">
                <a:solidFill>
                  <a:srgbClr val="003366"/>
                </a:solidFill>
              </a:rPr>
              <a:t>3×1</a:t>
            </a:r>
            <a:r>
              <a:rPr lang="en-US" altLang="zh-CN" b="1" dirty="0" smtClean="0"/>
              <a:t>+</a:t>
            </a:r>
            <a:r>
              <a:rPr lang="en-US" altLang="zh-CN" b="1" dirty="0" smtClean="0">
                <a:solidFill>
                  <a:srgbClr val="008000"/>
                </a:solidFill>
              </a:rPr>
              <a:t>1×0 </a:t>
            </a:r>
            <a:r>
              <a:rPr lang="en-US" altLang="zh-CN" b="1" dirty="0" smtClean="0"/>
              <a:t>= 8</a:t>
            </a:r>
            <a:r>
              <a:rPr lang="zh-CN" altLang="en-US" b="1" dirty="0" smtClean="0"/>
              <a:t>，</a:t>
            </a:r>
            <a:r>
              <a:rPr lang="zh-CN" altLang="en-US" dirty="0" smtClean="0"/>
              <a:t>再加上偏置</a:t>
            </a:r>
            <a:r>
              <a:rPr lang="en-US" altLang="zh-CN" b="1" dirty="0" smtClean="0">
                <a:solidFill>
                  <a:srgbClr val="82AEBC"/>
                </a:solidFill>
              </a:rPr>
              <a:t>2</a:t>
            </a:r>
            <a:r>
              <a:rPr lang="zh-CN" altLang="en-US" dirty="0" smtClean="0"/>
              <a:t>，最后结果为</a:t>
            </a:r>
            <a:r>
              <a:rPr lang="en-US" altLang="zh-CN" dirty="0" smtClean="0"/>
              <a:t> </a:t>
            </a:r>
            <a:r>
              <a:rPr lang="en-US" altLang="zh-CN" b="1" dirty="0" smtClean="0"/>
              <a:t>8 + </a:t>
            </a:r>
            <a:r>
              <a:rPr lang="en-US" altLang="zh-CN" b="1" dirty="0" smtClean="0">
                <a:solidFill>
                  <a:srgbClr val="82AEBC"/>
                </a:solidFill>
              </a:rPr>
              <a:t>2</a:t>
            </a:r>
            <a:r>
              <a:rPr lang="en-US" altLang="zh-CN" b="1" dirty="0" smtClean="0"/>
              <a:t> = 10</a:t>
            </a:r>
            <a:r>
              <a:rPr lang="zh-CN" altLang="en-US" dirty="0" smtClean="0"/>
              <a:t>。</a:t>
            </a:r>
            <a:endParaRPr lang="en-US" altLang="zh-CN" b="1" dirty="0" smtClean="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270494414"/>
              </p:ext>
            </p:extLst>
          </p:nvPr>
        </p:nvGraphicFramePr>
        <p:xfrm>
          <a:off x="1163736" y="2811135"/>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solidFill>
                            <a:srgbClr val="FF0000"/>
                          </a:solidFill>
                        </a:rPr>
                        <a:t>1</a:t>
                      </a:r>
                      <a:endParaRPr lang="zh-CN" altLang="en-US" sz="1800" b="1" dirty="0">
                        <a:solidFill>
                          <a:srgbClr val="FF0000"/>
                        </a:solidFill>
                      </a:endParaRPr>
                    </a:p>
                  </a:txBody>
                  <a:tcPr marL="91431" marR="91431" marT="45716" marB="45716" anchor="ctr">
                    <a:solidFill>
                      <a:schemeClr val="bg1">
                        <a:lumMod val="85000"/>
                      </a:schemeClr>
                    </a:solidFill>
                  </a:tcPr>
                </a:tc>
                <a:tc>
                  <a:txBody>
                    <a:bodyPr/>
                    <a:lstStyle/>
                    <a:p>
                      <a:pPr algn="ctr"/>
                      <a:r>
                        <a:rPr lang="en-US" altLang="zh-CN" sz="1800" b="1" dirty="0" smtClean="0">
                          <a:solidFill>
                            <a:srgbClr val="FF33CC"/>
                          </a:solidFill>
                        </a:rPr>
                        <a:t>3</a:t>
                      </a:r>
                      <a:endParaRPr lang="zh-CN" altLang="en-US" sz="1800" b="1" dirty="0">
                        <a:solidFill>
                          <a:srgbClr val="FF33CC"/>
                        </a:solidFill>
                      </a:endParaRPr>
                    </a:p>
                  </a:txBody>
                  <a:tcPr marL="91431" marR="91431" marT="45716" marB="45716" anchor="ctr">
                    <a:solidFill>
                      <a:schemeClr val="bg1">
                        <a:lumMod val="85000"/>
                      </a:schemeClr>
                    </a:solidFill>
                  </a:tcPr>
                </a:tc>
                <a:tc>
                  <a:txBody>
                    <a:bodyPr/>
                    <a:lstStyle/>
                    <a:p>
                      <a:pPr algn="ctr"/>
                      <a:r>
                        <a:rPr lang="en-US" altLang="zh-CN" sz="1800" b="1" dirty="0" smtClean="0">
                          <a:solidFill>
                            <a:schemeClr val="accent4">
                              <a:lumMod val="75000"/>
                            </a:schemeClr>
                          </a:solidFill>
                        </a:rPr>
                        <a:t>1</a:t>
                      </a:r>
                      <a:endParaRPr lang="zh-CN" altLang="en-US" sz="1800" b="1" dirty="0">
                        <a:solidFill>
                          <a:schemeClr val="accent4">
                            <a:lumMod val="75000"/>
                          </a:schemeClr>
                        </a:solidFill>
                      </a:endParaRPr>
                    </a:p>
                  </a:txBody>
                  <a:tcPr marL="91431" marR="91431" marT="45716" marB="45716" anchor="ctr">
                    <a:solidFill>
                      <a:schemeClr val="bg1">
                        <a:lumMod val="85000"/>
                      </a:schemeClr>
                    </a:solidFill>
                  </a:tcPr>
                </a:tc>
                <a:tc>
                  <a:txBody>
                    <a:bodyPr/>
                    <a:lstStyle/>
                    <a:p>
                      <a:pPr algn="ctr"/>
                      <a:r>
                        <a:rPr lang="en-US" altLang="zh-CN" sz="1800" b="1" dirty="0" smtClean="0"/>
                        <a:t>2</a:t>
                      </a:r>
                      <a:endParaRPr lang="zh-CN" altLang="en-US" sz="1800" b="1" dirty="0"/>
                    </a:p>
                  </a:txBody>
                  <a:tcPr marL="91431" marR="91431" marT="45716" marB="45716" anchor="ctr"/>
                </a:tc>
              </a:tr>
              <a:tr h="719931">
                <a:tc>
                  <a:txBody>
                    <a:bodyPr/>
                    <a:lstStyle/>
                    <a:p>
                      <a:pPr algn="ctr"/>
                      <a:r>
                        <a:rPr lang="en-US" altLang="zh-CN" sz="1800" b="1" dirty="0" smtClean="0">
                          <a:solidFill>
                            <a:srgbClr val="FF7C80"/>
                          </a:solidFill>
                        </a:rPr>
                        <a:t>2</a:t>
                      </a:r>
                      <a:endParaRPr lang="zh-CN" altLang="en-US" sz="1800" b="1" dirty="0">
                        <a:solidFill>
                          <a:srgbClr val="FF7C80"/>
                        </a:solidFill>
                      </a:endParaRPr>
                    </a:p>
                  </a:txBody>
                  <a:tcPr marL="91431" marR="91431" marT="45716" marB="45716" anchor="ctr">
                    <a:solidFill>
                      <a:schemeClr val="bg1">
                        <a:lumMod val="85000"/>
                      </a:schemeClr>
                    </a:solidFill>
                  </a:tcPr>
                </a:tc>
                <a:tc>
                  <a:txBody>
                    <a:bodyPr/>
                    <a:lstStyle/>
                    <a:p>
                      <a:pPr algn="ctr"/>
                      <a:r>
                        <a:rPr lang="en-US" altLang="zh-CN" sz="1800" b="1" dirty="0" smtClean="0">
                          <a:solidFill>
                            <a:srgbClr val="0000FF"/>
                          </a:solidFill>
                        </a:rPr>
                        <a:t>0</a:t>
                      </a:r>
                      <a:endParaRPr lang="zh-CN" altLang="en-US" sz="1800" b="1" dirty="0">
                        <a:solidFill>
                          <a:srgbClr val="0000FF"/>
                        </a:solidFill>
                      </a:endParaRPr>
                    </a:p>
                  </a:txBody>
                  <a:tcPr marL="91431" marR="91431" marT="45716" marB="45716" anchor="ctr">
                    <a:solidFill>
                      <a:schemeClr val="bg1">
                        <a:lumMod val="85000"/>
                      </a:schemeClr>
                    </a:solidFill>
                  </a:tcPr>
                </a:tc>
                <a:tc>
                  <a:txBody>
                    <a:bodyPr/>
                    <a:lstStyle/>
                    <a:p>
                      <a:pPr algn="ctr"/>
                      <a:r>
                        <a:rPr lang="en-US" altLang="zh-CN" sz="1800" b="1" dirty="0" smtClean="0">
                          <a:solidFill>
                            <a:srgbClr val="A50021"/>
                          </a:solidFill>
                        </a:rPr>
                        <a:t>0</a:t>
                      </a:r>
                      <a:endParaRPr lang="zh-CN" altLang="en-US" sz="1800" b="1" dirty="0">
                        <a:solidFill>
                          <a:srgbClr val="A50021"/>
                        </a:solidFill>
                      </a:endParaRPr>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tc>
              </a:tr>
              <a:tr h="719931">
                <a:tc>
                  <a:txBody>
                    <a:bodyPr/>
                    <a:lstStyle/>
                    <a:p>
                      <a:pPr algn="ctr"/>
                      <a:r>
                        <a:rPr lang="en-US" altLang="zh-CN" sz="1800" b="1" dirty="0" smtClean="0">
                          <a:solidFill>
                            <a:srgbClr val="00CC00"/>
                          </a:solidFill>
                        </a:rPr>
                        <a:t>2</a:t>
                      </a:r>
                      <a:endParaRPr lang="zh-CN" altLang="en-US" sz="1800" b="1" dirty="0">
                        <a:solidFill>
                          <a:srgbClr val="00CC00"/>
                        </a:solidFill>
                      </a:endParaRPr>
                    </a:p>
                  </a:txBody>
                  <a:tcPr marL="91431" marR="91431" marT="45716" marB="45716" anchor="ctr">
                    <a:solidFill>
                      <a:schemeClr val="bg1">
                        <a:lumMod val="85000"/>
                      </a:schemeClr>
                    </a:solidFill>
                  </a:tcPr>
                </a:tc>
                <a:tc>
                  <a:txBody>
                    <a:bodyPr/>
                    <a:lstStyle/>
                    <a:p>
                      <a:pPr algn="ctr"/>
                      <a:r>
                        <a:rPr lang="en-US" altLang="zh-CN" sz="1800" b="1" dirty="0" smtClean="0">
                          <a:solidFill>
                            <a:srgbClr val="003366"/>
                          </a:solidFill>
                        </a:rPr>
                        <a:t>3</a:t>
                      </a:r>
                      <a:endParaRPr lang="zh-CN" altLang="en-US" sz="1800" b="1" dirty="0">
                        <a:solidFill>
                          <a:srgbClr val="003366"/>
                        </a:solidFill>
                      </a:endParaRPr>
                    </a:p>
                  </a:txBody>
                  <a:tcPr marL="91431" marR="91431" marT="45716" marB="45716" anchor="ctr">
                    <a:solidFill>
                      <a:schemeClr val="bg1">
                        <a:lumMod val="85000"/>
                      </a:schemeClr>
                    </a:solidFill>
                  </a:tcPr>
                </a:tc>
                <a:tc>
                  <a:txBody>
                    <a:bodyPr/>
                    <a:lstStyle/>
                    <a:p>
                      <a:pPr algn="ctr"/>
                      <a:r>
                        <a:rPr lang="en-US" altLang="zh-CN" sz="1800" b="1" dirty="0" smtClean="0">
                          <a:solidFill>
                            <a:srgbClr val="008000"/>
                          </a:solidFill>
                        </a:rPr>
                        <a:t>1</a:t>
                      </a:r>
                      <a:endParaRPr lang="zh-CN" altLang="en-US" sz="1800" b="1" dirty="0">
                        <a:solidFill>
                          <a:srgbClr val="008000"/>
                        </a:solidFill>
                      </a:endParaRPr>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tc>
              </a:tr>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5</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485654279"/>
              </p:ext>
            </p:extLst>
          </p:nvPr>
        </p:nvGraphicFramePr>
        <p:xfrm>
          <a:off x="4935636" y="3142922"/>
          <a:ext cx="2159001" cy="2160588"/>
        </p:xfrm>
        <a:graphic>
          <a:graphicData uri="http://schemas.openxmlformats.org/drawingml/2006/table">
            <a:tbl>
              <a:tblPr firstRow="1" bandRow="1">
                <a:tableStyleId>{5940675A-B579-460E-94D1-54222C63F5DA}</a:tableStyleId>
              </a:tblPr>
              <a:tblGrid>
                <a:gridCol w="719667"/>
                <a:gridCol w="719667"/>
                <a:gridCol w="719667"/>
              </a:tblGrid>
              <a:tr h="720196">
                <a:tc>
                  <a:txBody>
                    <a:bodyPr/>
                    <a:lstStyle/>
                    <a:p>
                      <a:pPr algn="ctr"/>
                      <a:r>
                        <a:rPr lang="en-US" altLang="zh-CN" sz="1800" b="1" dirty="0" smtClean="0">
                          <a:solidFill>
                            <a:srgbClr val="FF0000"/>
                          </a:solidFill>
                        </a:rPr>
                        <a:t>0</a:t>
                      </a:r>
                      <a:endParaRPr lang="zh-CN" altLang="en-US" sz="1800" b="1" dirty="0">
                        <a:solidFill>
                          <a:srgbClr val="FF0000"/>
                        </a:solidFill>
                      </a:endParaRPr>
                    </a:p>
                  </a:txBody>
                  <a:tcPr marL="91409" marR="91409" marT="45711" marB="45711" anchor="ctr">
                    <a:solidFill>
                      <a:schemeClr val="accent2">
                        <a:lumMod val="20000"/>
                        <a:lumOff val="80000"/>
                      </a:schemeClr>
                    </a:solidFill>
                  </a:tcPr>
                </a:tc>
                <a:tc>
                  <a:txBody>
                    <a:bodyPr/>
                    <a:lstStyle/>
                    <a:p>
                      <a:pPr algn="ctr"/>
                      <a:r>
                        <a:rPr lang="en-US" altLang="zh-CN" sz="1800" b="1" dirty="0" smtClean="0">
                          <a:solidFill>
                            <a:srgbClr val="FF33CC"/>
                          </a:solidFill>
                        </a:rPr>
                        <a:t>1</a:t>
                      </a:r>
                      <a:endParaRPr lang="zh-CN" altLang="en-US" sz="1800" b="1" dirty="0">
                        <a:solidFill>
                          <a:srgbClr val="FF33CC"/>
                        </a:solidFill>
                      </a:endParaRPr>
                    </a:p>
                  </a:txBody>
                  <a:tcPr marL="91409" marR="91409" marT="45711" marB="45711" anchor="ctr">
                    <a:solidFill>
                      <a:schemeClr val="accent2">
                        <a:lumMod val="20000"/>
                        <a:lumOff val="80000"/>
                      </a:schemeClr>
                    </a:solidFill>
                  </a:tcPr>
                </a:tc>
                <a:tc>
                  <a:txBody>
                    <a:bodyPr/>
                    <a:lstStyle/>
                    <a:p>
                      <a:pPr algn="ctr"/>
                      <a:r>
                        <a:rPr lang="en-US" altLang="zh-CN" sz="1800" b="1" dirty="0" smtClean="0">
                          <a:solidFill>
                            <a:schemeClr val="accent4">
                              <a:lumMod val="75000"/>
                            </a:schemeClr>
                          </a:solidFill>
                        </a:rPr>
                        <a:t>0</a:t>
                      </a:r>
                      <a:endParaRPr lang="zh-CN" altLang="en-US" sz="1800" b="1" dirty="0">
                        <a:solidFill>
                          <a:schemeClr val="accent4">
                            <a:lumMod val="75000"/>
                          </a:schemeClr>
                        </a:solidFill>
                      </a:endParaRPr>
                    </a:p>
                  </a:txBody>
                  <a:tcPr marL="91409" marR="91409" marT="45711" marB="45711" anchor="ctr">
                    <a:solidFill>
                      <a:schemeClr val="accent2">
                        <a:lumMod val="20000"/>
                        <a:lumOff val="80000"/>
                      </a:schemeClr>
                    </a:solidFill>
                  </a:tcPr>
                </a:tc>
              </a:tr>
              <a:tr h="720196">
                <a:tc>
                  <a:txBody>
                    <a:bodyPr/>
                    <a:lstStyle/>
                    <a:p>
                      <a:pPr algn="ctr"/>
                      <a:r>
                        <a:rPr lang="en-US" altLang="zh-CN" sz="1800" b="1" dirty="0" smtClean="0">
                          <a:solidFill>
                            <a:srgbClr val="FF7C80"/>
                          </a:solidFill>
                        </a:rPr>
                        <a:t>1</a:t>
                      </a:r>
                      <a:endParaRPr lang="zh-CN" altLang="en-US" sz="1800" b="1" dirty="0">
                        <a:solidFill>
                          <a:srgbClr val="FF7C80"/>
                        </a:solidFill>
                      </a:endParaRPr>
                    </a:p>
                  </a:txBody>
                  <a:tcPr marL="91409" marR="91409" marT="45711" marB="45711" anchor="ctr">
                    <a:solidFill>
                      <a:schemeClr val="accent2">
                        <a:lumMod val="20000"/>
                        <a:lumOff val="80000"/>
                      </a:schemeClr>
                    </a:solidFill>
                  </a:tcPr>
                </a:tc>
                <a:tc>
                  <a:txBody>
                    <a:bodyPr/>
                    <a:lstStyle/>
                    <a:p>
                      <a:pPr algn="ctr"/>
                      <a:r>
                        <a:rPr lang="en-US" altLang="zh-CN" sz="1800" b="1" dirty="0" smtClean="0">
                          <a:solidFill>
                            <a:srgbClr val="0000FF"/>
                          </a:solidFill>
                        </a:rPr>
                        <a:t>-4</a:t>
                      </a:r>
                      <a:endParaRPr lang="zh-CN" altLang="en-US" sz="1800" b="1" dirty="0">
                        <a:solidFill>
                          <a:srgbClr val="0000FF"/>
                        </a:solidFill>
                      </a:endParaRPr>
                    </a:p>
                  </a:txBody>
                  <a:tcPr marL="91409" marR="91409" marT="45711" marB="45711" anchor="ctr">
                    <a:solidFill>
                      <a:schemeClr val="accent2">
                        <a:lumMod val="20000"/>
                        <a:lumOff val="80000"/>
                      </a:schemeClr>
                    </a:solidFill>
                  </a:tcPr>
                </a:tc>
                <a:tc>
                  <a:txBody>
                    <a:bodyPr/>
                    <a:lstStyle/>
                    <a:p>
                      <a:pPr algn="ctr"/>
                      <a:r>
                        <a:rPr lang="en-US" altLang="zh-CN" sz="1800" b="1" dirty="0" smtClean="0">
                          <a:solidFill>
                            <a:srgbClr val="A50021"/>
                          </a:solidFill>
                        </a:rPr>
                        <a:t>1</a:t>
                      </a:r>
                      <a:endParaRPr lang="zh-CN" altLang="en-US" sz="1800" b="1" dirty="0">
                        <a:solidFill>
                          <a:srgbClr val="A50021"/>
                        </a:solidFill>
                      </a:endParaRPr>
                    </a:p>
                  </a:txBody>
                  <a:tcPr marL="91409" marR="91409" marT="45711" marB="45711" anchor="ctr">
                    <a:solidFill>
                      <a:schemeClr val="accent2">
                        <a:lumMod val="20000"/>
                        <a:lumOff val="80000"/>
                      </a:schemeClr>
                    </a:solidFill>
                  </a:tcPr>
                </a:tc>
              </a:tr>
              <a:tr h="720196">
                <a:tc>
                  <a:txBody>
                    <a:bodyPr/>
                    <a:lstStyle/>
                    <a:p>
                      <a:pPr algn="ctr"/>
                      <a:r>
                        <a:rPr lang="en-US" altLang="zh-CN" sz="1800" b="1" dirty="0" smtClean="0">
                          <a:solidFill>
                            <a:srgbClr val="00CC00"/>
                          </a:solidFill>
                        </a:rPr>
                        <a:t>0</a:t>
                      </a:r>
                      <a:endParaRPr lang="zh-CN" altLang="en-US" sz="1800" b="1" dirty="0">
                        <a:solidFill>
                          <a:srgbClr val="00CC00"/>
                        </a:solidFill>
                      </a:endParaRPr>
                    </a:p>
                  </a:txBody>
                  <a:tcPr marL="91409" marR="91409" marT="45711" marB="45711" anchor="ctr">
                    <a:solidFill>
                      <a:schemeClr val="accent2">
                        <a:lumMod val="20000"/>
                        <a:lumOff val="80000"/>
                      </a:schemeClr>
                    </a:solidFill>
                  </a:tcPr>
                </a:tc>
                <a:tc>
                  <a:txBody>
                    <a:bodyPr/>
                    <a:lstStyle/>
                    <a:p>
                      <a:pPr algn="ctr"/>
                      <a:r>
                        <a:rPr lang="en-US" altLang="zh-CN" sz="1800" b="1" dirty="0" smtClean="0">
                          <a:solidFill>
                            <a:srgbClr val="003366"/>
                          </a:solidFill>
                        </a:rPr>
                        <a:t>1</a:t>
                      </a:r>
                      <a:endParaRPr lang="zh-CN" altLang="en-US" sz="1800" b="1" dirty="0">
                        <a:solidFill>
                          <a:srgbClr val="003366"/>
                        </a:solidFill>
                      </a:endParaRPr>
                    </a:p>
                  </a:txBody>
                  <a:tcPr marL="91409" marR="91409" marT="45711" marB="45711" anchor="ctr">
                    <a:solidFill>
                      <a:schemeClr val="accent2">
                        <a:lumMod val="20000"/>
                        <a:lumOff val="80000"/>
                      </a:schemeClr>
                    </a:solidFill>
                  </a:tcPr>
                </a:tc>
                <a:tc>
                  <a:txBody>
                    <a:bodyPr/>
                    <a:lstStyle/>
                    <a:p>
                      <a:pPr algn="ctr"/>
                      <a:r>
                        <a:rPr lang="en-US" altLang="zh-CN" sz="1800" b="1" dirty="0" smtClean="0">
                          <a:solidFill>
                            <a:srgbClr val="008000"/>
                          </a:solidFill>
                        </a:rPr>
                        <a:t>0</a:t>
                      </a:r>
                      <a:endParaRPr lang="zh-CN" altLang="en-US" sz="1800" b="1" dirty="0">
                        <a:solidFill>
                          <a:srgbClr val="008000"/>
                        </a:solidFill>
                      </a:endParaRPr>
                    </a:p>
                  </a:txBody>
                  <a:tcPr marL="91409" marR="91409" marT="45711" marB="45711" anchor="ctr">
                    <a:solidFill>
                      <a:schemeClr val="accent2">
                        <a:lumMod val="20000"/>
                        <a:lumOff val="80000"/>
                      </a:schemeClr>
                    </a:solidFill>
                  </a:tcPr>
                </a:tc>
              </a:tr>
            </a:tbl>
          </a:graphicData>
        </a:graphic>
      </p:graphicFrame>
      <p:sp>
        <p:nvSpPr>
          <p:cNvPr id="6" name="文本框 21"/>
          <p:cNvSpPr txBox="1">
            <a:spLocks noChangeArrowheads="1"/>
          </p:cNvSpPr>
          <p:nvPr/>
        </p:nvSpPr>
        <p:spPr bwMode="auto">
          <a:xfrm>
            <a:off x="1495097" y="5767942"/>
            <a:ext cx="20024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4×4</a:t>
            </a:r>
            <a:r>
              <a:rPr lang="zh-CN" altLang="en-US" b="1" dirty="0"/>
              <a:t>单通道特征图</a:t>
            </a:r>
          </a:p>
        </p:txBody>
      </p:sp>
      <p:sp>
        <p:nvSpPr>
          <p:cNvPr id="7" name="文本框 22"/>
          <p:cNvSpPr txBox="1">
            <a:spLocks noChangeArrowheads="1"/>
          </p:cNvSpPr>
          <p:nvPr/>
        </p:nvSpPr>
        <p:spPr bwMode="auto">
          <a:xfrm>
            <a:off x="4536125" y="5767942"/>
            <a:ext cx="31181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3×3</a:t>
            </a:r>
            <a:r>
              <a:rPr lang="zh-CN" altLang="en-US" b="1" dirty="0"/>
              <a:t>卷积核 </a:t>
            </a:r>
            <a:r>
              <a:rPr lang="en-US" altLang="zh-CN" b="1" dirty="0"/>
              <a:t>(</a:t>
            </a:r>
            <a:r>
              <a:rPr lang="en-US" altLang="zh-CN" b="1" dirty="0" err="1"/>
              <a:t>Laplacian</a:t>
            </a:r>
            <a:r>
              <a:rPr lang="zh-CN" altLang="en-US" b="1" dirty="0"/>
              <a:t>算子</a:t>
            </a:r>
            <a:r>
              <a:rPr lang="en-US" altLang="zh-CN" b="1" dirty="0"/>
              <a:t>) </a:t>
            </a:r>
            <a:endParaRPr lang="zh-CN" altLang="en-US" b="1" dirty="0"/>
          </a:p>
        </p:txBody>
      </p:sp>
      <p:sp>
        <p:nvSpPr>
          <p:cNvPr id="8" name="文本框 6"/>
          <p:cNvSpPr txBox="1">
            <a:spLocks noChangeArrowheads="1"/>
          </p:cNvSpPr>
          <p:nvPr/>
        </p:nvSpPr>
        <p:spPr bwMode="auto">
          <a:xfrm>
            <a:off x="4332386" y="4041447"/>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Wingdings 2" panose="05020102010507070707" pitchFamily="18" charset="2"/>
              </a:rPr>
              <a:t></a:t>
            </a:r>
            <a:endParaRPr lang="zh-CN" altLang="en-US"/>
          </a:p>
        </p:txBody>
      </p:sp>
      <p:graphicFrame>
        <p:nvGraphicFramePr>
          <p:cNvPr id="9" name="表格 8"/>
          <p:cNvGraphicFramePr>
            <a:graphicFrameLocks noGrp="1"/>
          </p:cNvGraphicFramePr>
          <p:nvPr>
            <p:extLst>
              <p:ext uri="{D42A27DB-BD31-4B8C-83A1-F6EECF244321}">
                <p14:modId xmlns:p14="http://schemas.microsoft.com/office/powerpoint/2010/main" val="1000184788"/>
              </p:ext>
            </p:extLst>
          </p:nvPr>
        </p:nvGraphicFramePr>
        <p:xfrm>
          <a:off x="7880448" y="3866822"/>
          <a:ext cx="720725" cy="719138"/>
        </p:xfrm>
        <a:graphic>
          <a:graphicData uri="http://schemas.openxmlformats.org/drawingml/2006/table">
            <a:tbl>
              <a:tblPr firstRow="1" bandRow="1">
                <a:tableStyleId>{5C22544A-7EE6-4342-B048-85BDC9FD1C3A}</a:tableStyleId>
              </a:tblPr>
              <a:tblGrid>
                <a:gridCol w="720725"/>
              </a:tblGrid>
              <a:tr h="719138">
                <a:tc>
                  <a:txBody>
                    <a:bodyPr/>
                    <a:lstStyle/>
                    <a:p>
                      <a:pPr algn="ctr"/>
                      <a:r>
                        <a:rPr lang="en-US" altLang="zh-CN" sz="1800" b="1" dirty="0" smtClean="0">
                          <a:solidFill>
                            <a:srgbClr val="82AEBC"/>
                          </a:solidFill>
                        </a:rPr>
                        <a:t>2</a:t>
                      </a:r>
                      <a:endParaRPr lang="zh-CN" altLang="en-US" sz="1800" b="1" dirty="0">
                        <a:solidFill>
                          <a:srgbClr val="82AEBC"/>
                        </a:solidFill>
                      </a:endParaRPr>
                    </a:p>
                  </a:txBody>
                  <a:tcPr marL="91543" marR="91543" marT="45671" marB="45671" anchor="ctr">
                    <a:solidFill>
                      <a:schemeClr val="accent2">
                        <a:lumMod val="20000"/>
                        <a:lumOff val="80000"/>
                      </a:schemeClr>
                    </a:solidFill>
                  </a:tcPr>
                </a:tc>
              </a:tr>
            </a:tbl>
          </a:graphicData>
        </a:graphic>
      </p:graphicFrame>
      <p:sp>
        <p:nvSpPr>
          <p:cNvPr id="10" name="文本框 23"/>
          <p:cNvSpPr txBox="1">
            <a:spLocks noChangeArrowheads="1"/>
          </p:cNvSpPr>
          <p:nvPr/>
        </p:nvSpPr>
        <p:spPr bwMode="auto">
          <a:xfrm>
            <a:off x="7980524" y="5767942"/>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偏置</a:t>
            </a:r>
          </a:p>
        </p:txBody>
      </p:sp>
      <p:sp>
        <p:nvSpPr>
          <p:cNvPr id="11" name="文本框 24"/>
          <p:cNvSpPr txBox="1">
            <a:spLocks noChangeArrowheads="1"/>
          </p:cNvSpPr>
          <p:nvPr/>
        </p:nvSpPr>
        <p:spPr bwMode="auto">
          <a:xfrm>
            <a:off x="7396261" y="4041447"/>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Symbol" panose="05050102010706020507" pitchFamily="18" charset="2"/>
              </a:rPr>
              <a:t></a:t>
            </a:r>
            <a:endParaRPr lang="zh-CN" altLang="en-US"/>
          </a:p>
        </p:txBody>
      </p:sp>
      <p:sp>
        <p:nvSpPr>
          <p:cNvPr id="12" name="文本框 23"/>
          <p:cNvSpPr txBox="1">
            <a:spLocks noChangeArrowheads="1"/>
          </p:cNvSpPr>
          <p:nvPr/>
        </p:nvSpPr>
        <p:spPr bwMode="auto">
          <a:xfrm>
            <a:off x="8858348" y="4071610"/>
            <a:ext cx="288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a:t>=</a:t>
            </a:r>
            <a:endParaRPr lang="zh-CN" altLang="en-US" sz="1400" b="1"/>
          </a:p>
        </p:txBody>
      </p:sp>
      <p:graphicFrame>
        <p:nvGraphicFramePr>
          <p:cNvPr id="13" name="表格 12"/>
          <p:cNvGraphicFramePr>
            <a:graphicFrameLocks noGrp="1"/>
          </p:cNvGraphicFramePr>
          <p:nvPr>
            <p:extLst>
              <p:ext uri="{D42A27DB-BD31-4B8C-83A1-F6EECF244321}">
                <p14:modId xmlns:p14="http://schemas.microsoft.com/office/powerpoint/2010/main" val="1940871566"/>
              </p:ext>
            </p:extLst>
          </p:nvPr>
        </p:nvGraphicFramePr>
        <p:xfrm>
          <a:off x="9336186" y="3528685"/>
          <a:ext cx="1439862" cy="1441450"/>
        </p:xfrm>
        <a:graphic>
          <a:graphicData uri="http://schemas.openxmlformats.org/drawingml/2006/table">
            <a:tbl>
              <a:tblPr firstRow="1" bandRow="1">
                <a:tableStyleId>{5940675A-B579-460E-94D1-54222C63F5DA}</a:tableStyleId>
              </a:tblPr>
              <a:tblGrid>
                <a:gridCol w="719931"/>
                <a:gridCol w="719931"/>
              </a:tblGrid>
              <a:tr h="720725">
                <a:tc>
                  <a:txBody>
                    <a:bodyPr/>
                    <a:lstStyle/>
                    <a:p>
                      <a:pPr algn="ctr"/>
                      <a:r>
                        <a:rPr lang="en-US" altLang="zh-CN" sz="1800" b="1" dirty="0" smtClean="0">
                          <a:solidFill>
                            <a:schemeClr val="tx1"/>
                          </a:solidFill>
                        </a:rPr>
                        <a:t>10</a:t>
                      </a:r>
                      <a:endParaRPr lang="zh-CN" altLang="en-US" sz="1800" b="1" dirty="0">
                        <a:solidFill>
                          <a:schemeClr val="tx1"/>
                        </a:solidFill>
                      </a:endParaRPr>
                    </a:p>
                  </a:txBody>
                  <a:tcPr marL="91431" marR="91431" marT="45766" marB="45766" anchor="ctr">
                    <a:solidFill>
                      <a:schemeClr val="bg1">
                        <a:lumMod val="85000"/>
                      </a:schemeClr>
                    </a:solidFill>
                  </a:tcPr>
                </a:tc>
                <a:tc>
                  <a:txBody>
                    <a:bodyPr/>
                    <a:lstStyle/>
                    <a:p>
                      <a:pPr algn="ctr"/>
                      <a:endParaRPr lang="zh-CN" altLang="en-US" sz="1800" dirty="0"/>
                    </a:p>
                  </a:txBody>
                  <a:tcPr marL="91431" marR="91431" marT="45766" marB="45766" anchor="ctr"/>
                </a:tc>
              </a:tr>
              <a:tr h="720725">
                <a:tc>
                  <a:txBody>
                    <a:bodyPr/>
                    <a:lstStyle/>
                    <a:p>
                      <a:pPr algn="ctr"/>
                      <a:endParaRPr lang="zh-CN" altLang="en-US" sz="1800" dirty="0"/>
                    </a:p>
                  </a:txBody>
                  <a:tcPr marL="91431" marR="91431" marT="45766" marB="45766" anchor="ctr"/>
                </a:tc>
                <a:tc>
                  <a:txBody>
                    <a:bodyPr/>
                    <a:lstStyle/>
                    <a:p>
                      <a:pPr algn="ctr"/>
                      <a:endParaRPr lang="zh-CN" altLang="en-US" sz="1800" dirty="0"/>
                    </a:p>
                  </a:txBody>
                  <a:tcPr marL="91431" marR="91431" marT="45766" marB="45766" anchor="ctr"/>
                </a:tc>
              </a:tr>
            </a:tbl>
          </a:graphicData>
        </a:graphic>
      </p:graphicFrame>
    </p:spTree>
    <p:extLst>
      <p:ext uri="{BB962C8B-B14F-4D97-AF65-F5344CB8AC3E}">
        <p14:creationId xmlns:p14="http://schemas.microsoft.com/office/powerpoint/2010/main" val="3537426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卷积计算示例</a:t>
            </a:r>
            <a:endParaRPr lang="zh-CN" altLang="en-US" dirty="0"/>
          </a:p>
        </p:txBody>
      </p:sp>
      <p:sp>
        <p:nvSpPr>
          <p:cNvPr id="3" name="内容占位符 2"/>
          <p:cNvSpPr>
            <a:spLocks noGrp="1"/>
          </p:cNvSpPr>
          <p:nvPr>
            <p:ph sz="quarter" idx="13"/>
          </p:nvPr>
        </p:nvSpPr>
        <p:spPr/>
        <p:txBody>
          <a:bodyPr/>
          <a:lstStyle/>
          <a:p>
            <a:r>
              <a:rPr lang="zh-CN" altLang="en-US" dirty="0"/>
              <a:t>接下来我们开始让卷积核在输入特征图上依次滑动，滑动方向为从左到右，从上到下</a:t>
            </a:r>
            <a:r>
              <a:rPr lang="zh-CN" altLang="en-US" dirty="0" smtClean="0"/>
              <a:t>。</a:t>
            </a:r>
            <a:endParaRPr lang="en-US" altLang="zh-CN" dirty="0" smtClean="0"/>
          </a:p>
          <a:p>
            <a:r>
              <a:rPr lang="zh-CN" altLang="en-US" dirty="0"/>
              <a:t>同样地，对第二个区域使用相同的卷积核与偏置进行卷积</a:t>
            </a:r>
            <a:r>
              <a:rPr lang="zh-CN" altLang="en-US" dirty="0" smtClean="0"/>
              <a:t>计算</a:t>
            </a:r>
            <a:r>
              <a:rPr lang="zh-CN" altLang="en-US" dirty="0"/>
              <a:t>。</a:t>
            </a:r>
            <a:endParaRPr lang="en-US" altLang="zh-CN" dirty="0" smtClean="0"/>
          </a:p>
          <a:p>
            <a:r>
              <a:rPr lang="en-US" altLang="zh-CN" b="1" dirty="0" smtClean="0"/>
              <a:t>(</a:t>
            </a:r>
            <a:r>
              <a:rPr lang="en-US" altLang="zh-CN" b="1" dirty="0"/>
              <a:t>3×0+1×1+2×0+0×1+0×(-4)+1×1+3×0+1×1+0×0)+2 = </a:t>
            </a:r>
            <a:r>
              <a:rPr lang="en-US" altLang="zh-CN" b="1" dirty="0">
                <a:solidFill>
                  <a:srgbClr val="79D1ED"/>
                </a:solidFill>
              </a:rPr>
              <a:t>5</a:t>
            </a:r>
            <a:r>
              <a:rPr lang="en-US" altLang="zh-CN" b="1" dirty="0"/>
              <a:t> </a:t>
            </a:r>
            <a:r>
              <a:rPr lang="zh-CN" altLang="en-US" b="1" dirty="0"/>
              <a:t>。</a:t>
            </a:r>
            <a:endParaRPr lang="en-US" altLang="zh-CN" dirty="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93278671"/>
              </p:ext>
            </p:extLst>
          </p:nvPr>
        </p:nvGraphicFramePr>
        <p:xfrm>
          <a:off x="1060040" y="2707444"/>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5</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612044545"/>
              </p:ext>
            </p:extLst>
          </p:nvPr>
        </p:nvGraphicFramePr>
        <p:xfrm>
          <a:off x="4849402" y="3094794"/>
          <a:ext cx="2160588" cy="2159001"/>
        </p:xfrm>
        <a:graphic>
          <a:graphicData uri="http://schemas.openxmlformats.org/drawingml/2006/table">
            <a:tbl>
              <a:tblPr firstRow="1" bandRow="1">
                <a:tableStyleId>{5940675A-B579-460E-94D1-54222C63F5DA}</a:tableStyleId>
              </a:tblPr>
              <a:tblGrid>
                <a:gridCol w="720196"/>
                <a:gridCol w="720196"/>
                <a:gridCol w="720196"/>
              </a:tblGrid>
              <a:tr h="719667">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r>
              <a:tr h="719667">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-4</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r>
              <a:tr h="719667">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r>
            </a:tbl>
          </a:graphicData>
        </a:graphic>
      </p:graphicFrame>
      <p:sp>
        <p:nvSpPr>
          <p:cNvPr id="6" name="文本框 21"/>
          <p:cNvSpPr txBox="1">
            <a:spLocks noChangeArrowheads="1"/>
          </p:cNvSpPr>
          <p:nvPr/>
        </p:nvSpPr>
        <p:spPr bwMode="auto">
          <a:xfrm>
            <a:off x="1444468" y="5767942"/>
            <a:ext cx="20024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4×4</a:t>
            </a:r>
            <a:r>
              <a:rPr lang="zh-CN" altLang="en-US" b="1" dirty="0"/>
              <a:t>单通道特征图</a:t>
            </a:r>
          </a:p>
        </p:txBody>
      </p:sp>
      <p:sp>
        <p:nvSpPr>
          <p:cNvPr id="7" name="文本框 22"/>
          <p:cNvSpPr txBox="1">
            <a:spLocks noChangeArrowheads="1"/>
          </p:cNvSpPr>
          <p:nvPr/>
        </p:nvSpPr>
        <p:spPr bwMode="auto">
          <a:xfrm>
            <a:off x="4426333" y="5771662"/>
            <a:ext cx="31181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3×3</a:t>
            </a:r>
            <a:r>
              <a:rPr lang="zh-CN" altLang="en-US" b="1" dirty="0"/>
              <a:t>卷积核 </a:t>
            </a:r>
            <a:r>
              <a:rPr lang="en-US" altLang="zh-CN" b="1" dirty="0"/>
              <a:t>(</a:t>
            </a:r>
            <a:r>
              <a:rPr lang="en-US" altLang="zh-CN" b="1" dirty="0" err="1"/>
              <a:t>Laplacian</a:t>
            </a:r>
            <a:r>
              <a:rPr lang="zh-CN" altLang="en-US" b="1" dirty="0"/>
              <a:t>算子</a:t>
            </a:r>
            <a:r>
              <a:rPr lang="en-US" altLang="zh-CN" b="1" dirty="0"/>
              <a:t>) </a:t>
            </a:r>
            <a:endParaRPr lang="zh-CN" altLang="en-US" b="1" dirty="0"/>
          </a:p>
        </p:txBody>
      </p:sp>
      <p:sp>
        <p:nvSpPr>
          <p:cNvPr id="8" name="文本框 6"/>
          <p:cNvSpPr txBox="1">
            <a:spLocks noChangeArrowheads="1"/>
          </p:cNvSpPr>
          <p:nvPr/>
        </p:nvSpPr>
        <p:spPr bwMode="auto">
          <a:xfrm>
            <a:off x="4228690" y="3937756"/>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Wingdings 2" panose="05020102010507070707" pitchFamily="18" charset="2"/>
              </a:rPr>
              <a:t></a:t>
            </a:r>
            <a:endParaRPr lang="zh-CN" altLang="en-US"/>
          </a:p>
        </p:txBody>
      </p:sp>
      <p:graphicFrame>
        <p:nvGraphicFramePr>
          <p:cNvPr id="9" name="表格 8"/>
          <p:cNvGraphicFramePr>
            <a:graphicFrameLocks noGrp="1"/>
          </p:cNvGraphicFramePr>
          <p:nvPr>
            <p:extLst>
              <p:ext uri="{D42A27DB-BD31-4B8C-83A1-F6EECF244321}">
                <p14:modId xmlns:p14="http://schemas.microsoft.com/office/powerpoint/2010/main" val="2592716840"/>
              </p:ext>
            </p:extLst>
          </p:nvPr>
        </p:nvGraphicFramePr>
        <p:xfrm>
          <a:off x="7776752" y="3763131"/>
          <a:ext cx="720725" cy="719138"/>
        </p:xfrm>
        <a:graphic>
          <a:graphicData uri="http://schemas.openxmlformats.org/drawingml/2006/table">
            <a:tbl>
              <a:tblPr firstRow="1" bandRow="1">
                <a:tableStyleId>{5C22544A-7EE6-4342-B048-85BDC9FD1C3A}</a:tableStyleId>
              </a:tblPr>
              <a:tblGrid>
                <a:gridCol w="720725"/>
              </a:tblGrid>
              <a:tr h="719138">
                <a:tc>
                  <a:txBody>
                    <a:bodyPr/>
                    <a:lstStyle/>
                    <a:p>
                      <a:pPr algn="ctr"/>
                      <a:r>
                        <a:rPr lang="en-US" altLang="zh-CN" sz="1800" b="1" dirty="0" smtClean="0">
                          <a:solidFill>
                            <a:schemeClr val="tx1"/>
                          </a:solidFill>
                        </a:rPr>
                        <a:t>2</a:t>
                      </a:r>
                      <a:endParaRPr lang="zh-CN" altLang="en-US" sz="1800" b="1" dirty="0">
                        <a:solidFill>
                          <a:schemeClr val="tx1"/>
                        </a:solidFill>
                      </a:endParaRPr>
                    </a:p>
                  </a:txBody>
                  <a:tcPr marL="91543" marR="91543" marT="45671" marB="45671" anchor="ctr">
                    <a:solidFill>
                      <a:schemeClr val="accent2">
                        <a:lumMod val="20000"/>
                        <a:lumOff val="80000"/>
                      </a:schemeClr>
                    </a:solidFill>
                  </a:tcPr>
                </a:tc>
              </a:tr>
            </a:tbl>
          </a:graphicData>
        </a:graphic>
      </p:graphicFrame>
      <p:sp>
        <p:nvSpPr>
          <p:cNvPr id="10" name="文本框 23"/>
          <p:cNvSpPr txBox="1">
            <a:spLocks noChangeArrowheads="1"/>
          </p:cNvSpPr>
          <p:nvPr/>
        </p:nvSpPr>
        <p:spPr bwMode="auto">
          <a:xfrm>
            <a:off x="7877557" y="5767942"/>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偏置</a:t>
            </a:r>
          </a:p>
        </p:txBody>
      </p:sp>
      <p:sp>
        <p:nvSpPr>
          <p:cNvPr id="11" name="文本框 24"/>
          <p:cNvSpPr txBox="1">
            <a:spLocks noChangeArrowheads="1"/>
          </p:cNvSpPr>
          <p:nvPr/>
        </p:nvSpPr>
        <p:spPr bwMode="auto">
          <a:xfrm>
            <a:off x="7292565" y="3937756"/>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Symbol" panose="05050102010706020507" pitchFamily="18" charset="2"/>
              </a:rPr>
              <a:t></a:t>
            </a:r>
            <a:endParaRPr lang="zh-CN" altLang="en-US"/>
          </a:p>
        </p:txBody>
      </p:sp>
      <p:sp>
        <p:nvSpPr>
          <p:cNvPr id="12" name="文本框 23"/>
          <p:cNvSpPr txBox="1">
            <a:spLocks noChangeArrowheads="1"/>
          </p:cNvSpPr>
          <p:nvPr/>
        </p:nvSpPr>
        <p:spPr bwMode="auto">
          <a:xfrm>
            <a:off x="8754652" y="3967919"/>
            <a:ext cx="288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a:t>=</a:t>
            </a:r>
            <a:endParaRPr lang="zh-CN" altLang="en-US" sz="1400" b="1"/>
          </a:p>
        </p:txBody>
      </p:sp>
      <p:graphicFrame>
        <p:nvGraphicFramePr>
          <p:cNvPr id="13" name="表格 12"/>
          <p:cNvGraphicFramePr>
            <a:graphicFrameLocks noGrp="1"/>
          </p:cNvGraphicFramePr>
          <p:nvPr>
            <p:extLst>
              <p:ext uri="{D42A27DB-BD31-4B8C-83A1-F6EECF244321}">
                <p14:modId xmlns:p14="http://schemas.microsoft.com/office/powerpoint/2010/main" val="2692549791"/>
              </p:ext>
            </p:extLst>
          </p:nvPr>
        </p:nvGraphicFramePr>
        <p:xfrm>
          <a:off x="9232490" y="3424994"/>
          <a:ext cx="1439862" cy="1441450"/>
        </p:xfrm>
        <a:graphic>
          <a:graphicData uri="http://schemas.openxmlformats.org/drawingml/2006/table">
            <a:tbl>
              <a:tblPr firstRow="1" bandRow="1">
                <a:tableStyleId>{5940675A-B579-460E-94D1-54222C63F5DA}</a:tableStyleId>
              </a:tblPr>
              <a:tblGrid>
                <a:gridCol w="719931"/>
                <a:gridCol w="719931"/>
              </a:tblGrid>
              <a:tr h="72072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smtClean="0">
                          <a:solidFill>
                            <a:schemeClr val="tx1"/>
                          </a:solidFill>
                        </a:rPr>
                        <a:t>10</a:t>
                      </a:r>
                      <a:endParaRPr lang="zh-CN" altLang="en-US" sz="1800" b="1" dirty="0" smtClean="0">
                        <a:solidFill>
                          <a:schemeClr val="tx1"/>
                        </a:solidFill>
                      </a:endParaRPr>
                    </a:p>
                  </a:txBody>
                  <a:tcPr marL="91431" marR="91431" marT="45766" marB="45766"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smtClean="0">
                          <a:solidFill>
                            <a:schemeClr val="tx1"/>
                          </a:solidFill>
                        </a:rPr>
                        <a:t>5</a:t>
                      </a:r>
                      <a:endParaRPr lang="zh-CN" altLang="en-US" sz="1800" b="1" dirty="0" smtClean="0">
                        <a:solidFill>
                          <a:schemeClr val="tx1"/>
                        </a:solidFill>
                      </a:endParaRPr>
                    </a:p>
                  </a:txBody>
                  <a:tcPr marL="91431" marR="91431" marT="45766" marB="45766" anchor="ctr">
                    <a:solidFill>
                      <a:schemeClr val="bg1">
                        <a:lumMod val="85000"/>
                      </a:schemeClr>
                    </a:solidFill>
                  </a:tcPr>
                </a:tc>
              </a:tr>
              <a:tr h="720725">
                <a:tc>
                  <a:txBody>
                    <a:bodyPr/>
                    <a:lstStyle/>
                    <a:p>
                      <a:pPr algn="ctr"/>
                      <a:endParaRPr lang="zh-CN" altLang="en-US" sz="1800" dirty="0"/>
                    </a:p>
                  </a:txBody>
                  <a:tcPr marL="91431" marR="91431" marT="45766" marB="45766" anchor="ctr"/>
                </a:tc>
                <a:tc>
                  <a:txBody>
                    <a:bodyPr/>
                    <a:lstStyle/>
                    <a:p>
                      <a:pPr algn="ctr"/>
                      <a:endParaRPr lang="zh-CN" altLang="en-US" sz="1800" dirty="0"/>
                    </a:p>
                  </a:txBody>
                  <a:tcPr marL="91431" marR="91431" marT="45766" marB="45766" anchor="ctr"/>
                </a:tc>
              </a:tr>
            </a:tbl>
          </a:graphicData>
        </a:graphic>
      </p:graphicFrame>
    </p:spTree>
    <p:extLst>
      <p:ext uri="{BB962C8B-B14F-4D97-AF65-F5344CB8AC3E}">
        <p14:creationId xmlns:p14="http://schemas.microsoft.com/office/powerpoint/2010/main" val="3883854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卷积计算示例</a:t>
            </a:r>
            <a:endParaRPr lang="zh-CN" altLang="en-US" dirty="0"/>
          </a:p>
        </p:txBody>
      </p:sp>
      <p:sp>
        <p:nvSpPr>
          <p:cNvPr id="3" name="内容占位符 2"/>
          <p:cNvSpPr>
            <a:spLocks noGrp="1"/>
          </p:cNvSpPr>
          <p:nvPr>
            <p:ph sz="quarter" idx="13"/>
          </p:nvPr>
        </p:nvSpPr>
        <p:spPr/>
        <p:txBody>
          <a:bodyPr/>
          <a:lstStyle/>
          <a:p>
            <a:r>
              <a:rPr lang="zh-CN" altLang="en-US" dirty="0" smtClean="0"/>
              <a:t>继续滑动，</a:t>
            </a:r>
            <a:r>
              <a:rPr lang="zh-CN" altLang="en-US" dirty="0"/>
              <a:t>滑动方向为从左到右，从上到下。</a:t>
            </a:r>
            <a:endParaRPr lang="en-US" altLang="zh-CN" dirty="0"/>
          </a:p>
          <a:p>
            <a:r>
              <a:rPr lang="zh-CN" altLang="en-US" dirty="0"/>
              <a:t>对第三和第四个区域使用相同的卷积核与偏置进行卷积计算，分别得出结果为</a:t>
            </a:r>
            <a:r>
              <a:rPr lang="en-US" altLang="zh-CN" dirty="0"/>
              <a:t>-2</a:t>
            </a:r>
            <a:r>
              <a:rPr lang="zh-CN" altLang="en-US" dirty="0"/>
              <a:t>和</a:t>
            </a:r>
            <a:r>
              <a:rPr lang="en-US" altLang="zh-CN" dirty="0"/>
              <a:t>3</a:t>
            </a:r>
            <a:r>
              <a:rPr lang="zh-CN" altLang="en-US" dirty="0"/>
              <a:t>。</a:t>
            </a:r>
            <a:endParaRPr lang="en-US" altLang="zh-CN" b="1" dirty="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334833420"/>
              </p:ext>
            </p:extLst>
          </p:nvPr>
        </p:nvGraphicFramePr>
        <p:xfrm>
          <a:off x="1060040" y="2707444"/>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tc>
              </a:tr>
              <a:tr h="719931">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5</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sp>
        <p:nvSpPr>
          <p:cNvPr id="5" name="文本框 6"/>
          <p:cNvSpPr txBox="1">
            <a:spLocks noChangeArrowheads="1"/>
          </p:cNvSpPr>
          <p:nvPr/>
        </p:nvSpPr>
        <p:spPr bwMode="auto">
          <a:xfrm>
            <a:off x="3945886" y="3947183"/>
            <a:ext cx="3952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smtClean="0">
                <a:sym typeface="Wingdings 2" panose="05020102010507070707" pitchFamily="18" charset="2"/>
              </a:rPr>
              <a:t></a:t>
            </a:r>
            <a:endParaRPr lang="zh-CN" altLang="en-US" dirty="0"/>
          </a:p>
        </p:txBody>
      </p:sp>
      <p:sp>
        <p:nvSpPr>
          <p:cNvPr id="6" name="文本框 21"/>
          <p:cNvSpPr txBox="1">
            <a:spLocks noChangeArrowheads="1"/>
          </p:cNvSpPr>
          <p:nvPr/>
        </p:nvSpPr>
        <p:spPr bwMode="auto">
          <a:xfrm>
            <a:off x="4341173" y="3978655"/>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dirty="0"/>
              <a:t>···</a:t>
            </a:r>
            <a:endParaRPr lang="zh-CN" altLang="en-US" sz="1400" b="1" dirty="0"/>
          </a:p>
        </p:txBody>
      </p:sp>
      <p:sp>
        <p:nvSpPr>
          <p:cNvPr id="7" name="文本框 24"/>
          <p:cNvSpPr txBox="1">
            <a:spLocks noChangeArrowheads="1"/>
          </p:cNvSpPr>
          <p:nvPr/>
        </p:nvSpPr>
        <p:spPr bwMode="auto">
          <a:xfrm>
            <a:off x="4703123" y="3946628"/>
            <a:ext cx="3952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Symbol" panose="05050102010706020507" pitchFamily="18" charset="2"/>
              </a:rPr>
              <a:t></a:t>
            </a:r>
            <a:endParaRPr lang="zh-CN" altLang="en-US" dirty="0"/>
          </a:p>
        </p:txBody>
      </p:sp>
      <p:sp>
        <p:nvSpPr>
          <p:cNvPr id="8" name="文本框 21"/>
          <p:cNvSpPr txBox="1">
            <a:spLocks noChangeArrowheads="1"/>
          </p:cNvSpPr>
          <p:nvPr/>
        </p:nvSpPr>
        <p:spPr bwMode="auto">
          <a:xfrm>
            <a:off x="5098410" y="3978655"/>
            <a:ext cx="5476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dirty="0"/>
              <a:t>=  -2</a:t>
            </a:r>
            <a:endParaRPr lang="zh-CN" altLang="en-US" sz="1400" b="1" dirty="0"/>
          </a:p>
        </p:txBody>
      </p:sp>
      <p:graphicFrame>
        <p:nvGraphicFramePr>
          <p:cNvPr id="9" name="表格 8"/>
          <p:cNvGraphicFramePr>
            <a:graphicFrameLocks noGrp="1"/>
          </p:cNvGraphicFramePr>
          <p:nvPr>
            <p:extLst>
              <p:ext uri="{D42A27DB-BD31-4B8C-83A1-F6EECF244321}">
                <p14:modId xmlns:p14="http://schemas.microsoft.com/office/powerpoint/2010/main" val="3629531069"/>
              </p:ext>
            </p:extLst>
          </p:nvPr>
        </p:nvGraphicFramePr>
        <p:xfrm>
          <a:off x="6041385" y="2691709"/>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solidFill>
                  </a:tcP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1</a:t>
                      </a:r>
                      <a:endParaRPr lang="zh-CN" altLang="en-US" sz="1800" b="1" dirty="0"/>
                    </a:p>
                  </a:txBody>
                  <a:tcPr marL="91431" marR="91431" marT="45716" marB="45716" anchor="ctr">
                    <a:solidFill>
                      <a:schemeClr val="bg1"/>
                    </a:solidFill>
                  </a:tcPr>
                </a:tc>
                <a:tc>
                  <a:txBody>
                    <a:bodyPr/>
                    <a:lstStyle/>
                    <a:p>
                      <a:pPr algn="ctr"/>
                      <a:r>
                        <a:rPr lang="en-US" altLang="zh-CN" sz="1800" b="1" dirty="0" smtClean="0"/>
                        <a:t>5</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r>
            </a:tbl>
          </a:graphicData>
        </a:graphic>
      </p:graphicFrame>
      <p:sp>
        <p:nvSpPr>
          <p:cNvPr id="10" name="文本框 6"/>
          <p:cNvSpPr txBox="1">
            <a:spLocks noChangeArrowheads="1"/>
          </p:cNvSpPr>
          <p:nvPr/>
        </p:nvSpPr>
        <p:spPr bwMode="auto">
          <a:xfrm>
            <a:off x="8933964" y="3946628"/>
            <a:ext cx="3952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smtClean="0">
                <a:sym typeface="Wingdings 2" panose="05020102010507070707" pitchFamily="18" charset="2"/>
              </a:rPr>
              <a:t></a:t>
            </a:r>
            <a:endParaRPr lang="zh-CN" altLang="en-US" dirty="0"/>
          </a:p>
        </p:txBody>
      </p:sp>
      <p:sp>
        <p:nvSpPr>
          <p:cNvPr id="11" name="文本框 21"/>
          <p:cNvSpPr txBox="1">
            <a:spLocks noChangeArrowheads="1"/>
          </p:cNvSpPr>
          <p:nvPr/>
        </p:nvSpPr>
        <p:spPr bwMode="auto">
          <a:xfrm>
            <a:off x="9329251" y="3978100"/>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dirty="0"/>
              <a:t>···</a:t>
            </a:r>
            <a:endParaRPr lang="zh-CN" altLang="en-US" sz="1400" b="1" dirty="0"/>
          </a:p>
        </p:txBody>
      </p:sp>
      <p:sp>
        <p:nvSpPr>
          <p:cNvPr id="12" name="文本框 24"/>
          <p:cNvSpPr txBox="1">
            <a:spLocks noChangeArrowheads="1"/>
          </p:cNvSpPr>
          <p:nvPr/>
        </p:nvSpPr>
        <p:spPr bwMode="auto">
          <a:xfrm>
            <a:off x="9691201" y="3946073"/>
            <a:ext cx="3952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Symbol" panose="05050102010706020507" pitchFamily="18" charset="2"/>
              </a:rPr>
              <a:t></a:t>
            </a:r>
            <a:endParaRPr lang="zh-CN" altLang="en-US" dirty="0"/>
          </a:p>
        </p:txBody>
      </p:sp>
      <p:sp>
        <p:nvSpPr>
          <p:cNvPr id="13" name="文本框 21"/>
          <p:cNvSpPr txBox="1">
            <a:spLocks noChangeArrowheads="1"/>
          </p:cNvSpPr>
          <p:nvPr/>
        </p:nvSpPr>
        <p:spPr bwMode="auto">
          <a:xfrm>
            <a:off x="10086488" y="3978100"/>
            <a:ext cx="4876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dirty="0"/>
              <a:t>=  3</a:t>
            </a:r>
            <a:endParaRPr lang="zh-CN" altLang="en-US" sz="1400" b="1" dirty="0"/>
          </a:p>
        </p:txBody>
      </p:sp>
    </p:spTree>
    <p:extLst>
      <p:ext uri="{BB962C8B-B14F-4D97-AF65-F5344CB8AC3E}">
        <p14:creationId xmlns:p14="http://schemas.microsoft.com/office/powerpoint/2010/main" val="3044415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卷积计算示例</a:t>
            </a:r>
          </a:p>
        </p:txBody>
      </p:sp>
      <p:sp>
        <p:nvSpPr>
          <p:cNvPr id="3" name="内容占位符 2"/>
          <p:cNvSpPr>
            <a:spLocks noGrp="1"/>
          </p:cNvSpPr>
          <p:nvPr>
            <p:ph sz="quarter" idx="13"/>
          </p:nvPr>
        </p:nvSpPr>
        <p:spPr/>
        <p:txBody>
          <a:bodyPr/>
          <a:lstStyle/>
          <a:p>
            <a:r>
              <a:rPr lang="zh-CN" altLang="en-US" dirty="0" smtClean="0"/>
              <a:t>至此</a:t>
            </a:r>
            <a:r>
              <a:rPr lang="zh-CN" altLang="en-US" dirty="0"/>
              <a:t>我们已经完成了对原始特征图的所有卷积计算，输出特征图的大小是</a:t>
            </a:r>
            <a:r>
              <a:rPr lang="en-US" altLang="zh-CN" dirty="0"/>
              <a:t>2</a:t>
            </a:r>
            <a:r>
              <a:rPr lang="en-US" altLang="zh-CN" b="1" dirty="0"/>
              <a:t>×</a:t>
            </a:r>
            <a:r>
              <a:rPr lang="en-US" altLang="zh-CN" dirty="0"/>
              <a:t>2</a:t>
            </a:r>
            <a:r>
              <a:rPr lang="zh-CN" altLang="en-US" dirty="0" smtClean="0"/>
              <a:t>。</a:t>
            </a:r>
            <a:endParaRPr lang="en-US" altLang="zh-CN" dirty="0" smtClean="0"/>
          </a:p>
          <a:p>
            <a:r>
              <a:rPr lang="zh-CN" altLang="en-US" dirty="0"/>
              <a:t>由此可见，卷积计算不仅保留了图像的局部位置信息，也极大降低了参数的量级。</a:t>
            </a:r>
            <a:endParaRPr lang="en-US" altLang="zh-CN" dirty="0"/>
          </a:p>
          <a:p>
            <a:endParaRPr lang="en-US" altLang="zh-CN" dirty="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620771548"/>
              </p:ext>
            </p:extLst>
          </p:nvPr>
        </p:nvGraphicFramePr>
        <p:xfrm>
          <a:off x="1060040" y="2707444"/>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r>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5</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228779846"/>
              </p:ext>
            </p:extLst>
          </p:nvPr>
        </p:nvGraphicFramePr>
        <p:xfrm>
          <a:off x="4849402" y="3094794"/>
          <a:ext cx="2160588" cy="2159001"/>
        </p:xfrm>
        <a:graphic>
          <a:graphicData uri="http://schemas.openxmlformats.org/drawingml/2006/table">
            <a:tbl>
              <a:tblPr firstRow="1" bandRow="1">
                <a:tableStyleId>{5940675A-B579-460E-94D1-54222C63F5DA}</a:tableStyleId>
              </a:tblPr>
              <a:tblGrid>
                <a:gridCol w="720196"/>
                <a:gridCol w="720196"/>
                <a:gridCol w="720196"/>
              </a:tblGrid>
              <a:tr h="719667">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r>
              <a:tr h="719667">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-4</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r>
              <a:tr h="719667">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r>
            </a:tbl>
          </a:graphicData>
        </a:graphic>
      </p:graphicFrame>
      <p:sp>
        <p:nvSpPr>
          <p:cNvPr id="6" name="文本框 21"/>
          <p:cNvSpPr txBox="1">
            <a:spLocks noChangeArrowheads="1"/>
          </p:cNvSpPr>
          <p:nvPr/>
        </p:nvSpPr>
        <p:spPr bwMode="auto">
          <a:xfrm>
            <a:off x="1444468" y="5767942"/>
            <a:ext cx="20024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4×4</a:t>
            </a:r>
            <a:r>
              <a:rPr lang="zh-CN" altLang="en-US" b="1" dirty="0"/>
              <a:t>单通道特征图</a:t>
            </a:r>
          </a:p>
        </p:txBody>
      </p:sp>
      <p:sp>
        <p:nvSpPr>
          <p:cNvPr id="7" name="文本框 22"/>
          <p:cNvSpPr txBox="1">
            <a:spLocks noChangeArrowheads="1"/>
          </p:cNvSpPr>
          <p:nvPr/>
        </p:nvSpPr>
        <p:spPr bwMode="auto">
          <a:xfrm>
            <a:off x="4426333" y="5771662"/>
            <a:ext cx="31181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3×3</a:t>
            </a:r>
            <a:r>
              <a:rPr lang="zh-CN" altLang="en-US" b="1" dirty="0"/>
              <a:t>卷积核 </a:t>
            </a:r>
            <a:r>
              <a:rPr lang="en-US" altLang="zh-CN" b="1" dirty="0"/>
              <a:t>(</a:t>
            </a:r>
            <a:r>
              <a:rPr lang="en-US" altLang="zh-CN" b="1" dirty="0" err="1"/>
              <a:t>Laplacian</a:t>
            </a:r>
            <a:r>
              <a:rPr lang="zh-CN" altLang="en-US" b="1" dirty="0"/>
              <a:t>算子</a:t>
            </a:r>
            <a:r>
              <a:rPr lang="en-US" altLang="zh-CN" b="1" dirty="0"/>
              <a:t>) </a:t>
            </a:r>
            <a:endParaRPr lang="zh-CN" altLang="en-US" b="1" dirty="0"/>
          </a:p>
        </p:txBody>
      </p:sp>
      <p:sp>
        <p:nvSpPr>
          <p:cNvPr id="8" name="文本框 6"/>
          <p:cNvSpPr txBox="1">
            <a:spLocks noChangeArrowheads="1"/>
          </p:cNvSpPr>
          <p:nvPr/>
        </p:nvSpPr>
        <p:spPr bwMode="auto">
          <a:xfrm>
            <a:off x="4228690" y="3937756"/>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Wingdings 2" panose="05020102010507070707" pitchFamily="18" charset="2"/>
              </a:rPr>
              <a:t></a:t>
            </a:r>
            <a:endParaRPr lang="zh-CN" altLang="en-US" dirty="0"/>
          </a:p>
        </p:txBody>
      </p:sp>
      <p:graphicFrame>
        <p:nvGraphicFramePr>
          <p:cNvPr id="9" name="表格 8"/>
          <p:cNvGraphicFramePr>
            <a:graphicFrameLocks noGrp="1"/>
          </p:cNvGraphicFramePr>
          <p:nvPr>
            <p:extLst>
              <p:ext uri="{D42A27DB-BD31-4B8C-83A1-F6EECF244321}">
                <p14:modId xmlns:p14="http://schemas.microsoft.com/office/powerpoint/2010/main" val="1552005318"/>
              </p:ext>
            </p:extLst>
          </p:nvPr>
        </p:nvGraphicFramePr>
        <p:xfrm>
          <a:off x="7776752" y="3763131"/>
          <a:ext cx="720725" cy="719138"/>
        </p:xfrm>
        <a:graphic>
          <a:graphicData uri="http://schemas.openxmlformats.org/drawingml/2006/table">
            <a:tbl>
              <a:tblPr firstRow="1" bandRow="1">
                <a:tableStyleId>{5C22544A-7EE6-4342-B048-85BDC9FD1C3A}</a:tableStyleId>
              </a:tblPr>
              <a:tblGrid>
                <a:gridCol w="720725"/>
              </a:tblGrid>
              <a:tr h="719138">
                <a:tc>
                  <a:txBody>
                    <a:bodyPr/>
                    <a:lstStyle/>
                    <a:p>
                      <a:pPr algn="ctr"/>
                      <a:r>
                        <a:rPr lang="en-US" altLang="zh-CN" sz="1800" b="1" dirty="0" smtClean="0">
                          <a:solidFill>
                            <a:schemeClr val="tx1"/>
                          </a:solidFill>
                        </a:rPr>
                        <a:t>2</a:t>
                      </a:r>
                      <a:endParaRPr lang="zh-CN" altLang="en-US" sz="1800" b="1" dirty="0">
                        <a:solidFill>
                          <a:schemeClr val="tx1"/>
                        </a:solidFill>
                      </a:endParaRPr>
                    </a:p>
                  </a:txBody>
                  <a:tcPr marL="91543" marR="91543" marT="45671" marB="45671" anchor="ctr">
                    <a:solidFill>
                      <a:schemeClr val="accent2">
                        <a:lumMod val="20000"/>
                        <a:lumOff val="80000"/>
                      </a:schemeClr>
                    </a:solidFill>
                  </a:tcPr>
                </a:tc>
              </a:tr>
            </a:tbl>
          </a:graphicData>
        </a:graphic>
      </p:graphicFrame>
      <p:sp>
        <p:nvSpPr>
          <p:cNvPr id="10" name="文本框 23"/>
          <p:cNvSpPr txBox="1">
            <a:spLocks noChangeArrowheads="1"/>
          </p:cNvSpPr>
          <p:nvPr/>
        </p:nvSpPr>
        <p:spPr bwMode="auto">
          <a:xfrm>
            <a:off x="7877557" y="5767942"/>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偏置</a:t>
            </a:r>
          </a:p>
        </p:txBody>
      </p:sp>
      <p:sp>
        <p:nvSpPr>
          <p:cNvPr id="11" name="文本框 24"/>
          <p:cNvSpPr txBox="1">
            <a:spLocks noChangeArrowheads="1"/>
          </p:cNvSpPr>
          <p:nvPr/>
        </p:nvSpPr>
        <p:spPr bwMode="auto">
          <a:xfrm>
            <a:off x="7292565" y="3937756"/>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Symbol" panose="05050102010706020507" pitchFamily="18" charset="2"/>
              </a:rPr>
              <a:t></a:t>
            </a:r>
            <a:endParaRPr lang="zh-CN" altLang="en-US"/>
          </a:p>
        </p:txBody>
      </p:sp>
      <p:sp>
        <p:nvSpPr>
          <p:cNvPr id="12" name="文本框 23"/>
          <p:cNvSpPr txBox="1">
            <a:spLocks noChangeArrowheads="1"/>
          </p:cNvSpPr>
          <p:nvPr/>
        </p:nvSpPr>
        <p:spPr bwMode="auto">
          <a:xfrm>
            <a:off x="8754652" y="3967919"/>
            <a:ext cx="288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a:t>=</a:t>
            </a:r>
            <a:endParaRPr lang="zh-CN" altLang="en-US" sz="1400" b="1"/>
          </a:p>
        </p:txBody>
      </p:sp>
      <p:graphicFrame>
        <p:nvGraphicFramePr>
          <p:cNvPr id="13" name="表格 12"/>
          <p:cNvGraphicFramePr>
            <a:graphicFrameLocks noGrp="1"/>
          </p:cNvGraphicFramePr>
          <p:nvPr>
            <p:extLst>
              <p:ext uri="{D42A27DB-BD31-4B8C-83A1-F6EECF244321}">
                <p14:modId xmlns:p14="http://schemas.microsoft.com/office/powerpoint/2010/main" val="1461763837"/>
              </p:ext>
            </p:extLst>
          </p:nvPr>
        </p:nvGraphicFramePr>
        <p:xfrm>
          <a:off x="9232490" y="3424994"/>
          <a:ext cx="1439862" cy="1441450"/>
        </p:xfrm>
        <a:graphic>
          <a:graphicData uri="http://schemas.openxmlformats.org/drawingml/2006/table">
            <a:tbl>
              <a:tblPr firstRow="1" bandRow="1">
                <a:tableStyleId>{5940675A-B579-460E-94D1-54222C63F5DA}</a:tableStyleId>
              </a:tblPr>
              <a:tblGrid>
                <a:gridCol w="719931"/>
                <a:gridCol w="719931"/>
              </a:tblGrid>
              <a:tr h="720725">
                <a:tc>
                  <a:txBody>
                    <a:bodyPr/>
                    <a:lstStyle/>
                    <a:p>
                      <a:pPr algn="ctr"/>
                      <a:r>
                        <a:rPr lang="en-US" altLang="zh-CN" sz="1800" b="1" dirty="0" smtClean="0">
                          <a:solidFill>
                            <a:schemeClr val="tx1"/>
                          </a:solidFill>
                        </a:rPr>
                        <a:t>10</a:t>
                      </a:r>
                      <a:endParaRPr lang="zh-CN" altLang="en-US" sz="1800" b="1" dirty="0">
                        <a:solidFill>
                          <a:schemeClr val="tx1"/>
                        </a:solidFill>
                      </a:endParaRPr>
                    </a:p>
                  </a:txBody>
                  <a:tcPr marL="91431" marR="91431" marT="45766" marB="45766" anchor="ctr"/>
                </a:tc>
                <a:tc>
                  <a:txBody>
                    <a:bodyPr/>
                    <a:lstStyle/>
                    <a:p>
                      <a:pPr algn="ctr"/>
                      <a:r>
                        <a:rPr lang="en-US" altLang="zh-CN" sz="1800" b="1" dirty="0" smtClean="0">
                          <a:solidFill>
                            <a:schemeClr val="tx1"/>
                          </a:solidFill>
                        </a:rPr>
                        <a:t>5</a:t>
                      </a:r>
                      <a:endParaRPr lang="zh-CN" altLang="en-US" sz="1800" b="1" dirty="0">
                        <a:solidFill>
                          <a:schemeClr val="tx1"/>
                        </a:solidFill>
                      </a:endParaRPr>
                    </a:p>
                  </a:txBody>
                  <a:tcPr marL="91431" marR="91431" marT="45766" marB="45766" anchor="ctr"/>
                </a:tc>
              </a:tr>
              <a:tr h="720725">
                <a:tc>
                  <a:txBody>
                    <a:bodyPr/>
                    <a:lstStyle/>
                    <a:p>
                      <a:pPr algn="ctr"/>
                      <a:r>
                        <a:rPr lang="en-US" altLang="zh-CN" sz="1800" b="1" dirty="0" smtClean="0">
                          <a:solidFill>
                            <a:schemeClr val="tx1"/>
                          </a:solidFill>
                        </a:rPr>
                        <a:t>-2</a:t>
                      </a:r>
                      <a:endParaRPr lang="zh-CN" altLang="en-US" sz="1800" b="1" dirty="0">
                        <a:solidFill>
                          <a:schemeClr val="tx1"/>
                        </a:solidFill>
                      </a:endParaRPr>
                    </a:p>
                  </a:txBody>
                  <a:tcPr marL="91431" marR="91431" marT="45766" marB="45766" anchor="ctr"/>
                </a:tc>
                <a:tc>
                  <a:txBody>
                    <a:bodyPr/>
                    <a:lstStyle/>
                    <a:p>
                      <a:pPr algn="ctr"/>
                      <a:r>
                        <a:rPr lang="en-US" altLang="zh-CN" sz="1800" b="1" dirty="0" smtClean="0">
                          <a:solidFill>
                            <a:schemeClr val="tx1"/>
                          </a:solidFill>
                        </a:rPr>
                        <a:t>3</a:t>
                      </a:r>
                      <a:endParaRPr lang="zh-CN" altLang="en-US" sz="1800" b="1" dirty="0">
                        <a:solidFill>
                          <a:schemeClr val="tx1"/>
                        </a:solidFill>
                      </a:endParaRPr>
                    </a:p>
                  </a:txBody>
                  <a:tcPr marL="91431" marR="91431" marT="45766" marB="45766" anchor="ctr"/>
                </a:tc>
              </a:tr>
            </a:tbl>
          </a:graphicData>
        </a:graphic>
      </p:graphicFrame>
      <p:sp>
        <p:nvSpPr>
          <p:cNvPr id="14" name="文本框 21"/>
          <p:cNvSpPr txBox="1">
            <a:spLocks noChangeArrowheads="1"/>
          </p:cNvSpPr>
          <p:nvPr/>
        </p:nvSpPr>
        <p:spPr bwMode="auto">
          <a:xfrm>
            <a:off x="9043577" y="5767942"/>
            <a:ext cx="20024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a:t>2×2</a:t>
            </a:r>
            <a:r>
              <a:rPr lang="zh-CN" altLang="en-US" b="1"/>
              <a:t>单通道特征图</a:t>
            </a:r>
          </a:p>
        </p:txBody>
      </p:sp>
    </p:spTree>
    <p:extLst>
      <p:ext uri="{BB962C8B-B14F-4D97-AF65-F5344CB8AC3E}">
        <p14:creationId xmlns:p14="http://schemas.microsoft.com/office/powerpoint/2010/main" val="1215716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步长</a:t>
            </a:r>
          </a:p>
        </p:txBody>
      </p:sp>
      <p:sp>
        <p:nvSpPr>
          <p:cNvPr id="3" name="内容占位符 2"/>
          <p:cNvSpPr>
            <a:spLocks noGrp="1"/>
          </p:cNvSpPr>
          <p:nvPr>
            <p:ph sz="quarter" idx="13"/>
          </p:nvPr>
        </p:nvSpPr>
        <p:spPr/>
        <p:txBody>
          <a:bodyPr/>
          <a:lstStyle/>
          <a:p>
            <a:r>
              <a:rPr lang="zh-CN" altLang="en-US" dirty="0" smtClean="0"/>
              <a:t>步长</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strides)</a:t>
            </a:r>
            <a:r>
              <a:rPr lang="zh-CN" altLang="en-US" noProof="1" smtClean="0"/>
              <a:t>是</a:t>
            </a:r>
            <a:r>
              <a:rPr lang="zh-CN" altLang="en-US" noProof="1"/>
              <a:t>卷积</a:t>
            </a:r>
            <a:r>
              <a:rPr lang="zh-CN" altLang="en-US" noProof="1" smtClean="0"/>
              <a:t>计算中另一个概念：</a:t>
            </a:r>
            <a:endParaRPr lang="en-US" altLang="zh-CN" noProof="1" smtClean="0"/>
          </a:p>
          <a:p>
            <a:pPr lvl="1"/>
            <a:r>
              <a:rPr lang="zh-CN" altLang="en-US" dirty="0" smtClean="0"/>
              <a:t>表示卷积</a:t>
            </a:r>
            <a:r>
              <a:rPr lang="zh-CN" altLang="en-US" dirty="0"/>
              <a:t>核在输入特征图上需要移动的</a:t>
            </a:r>
            <a:r>
              <a:rPr lang="zh-CN" altLang="en-US" dirty="0" smtClean="0"/>
              <a:t>像素</a:t>
            </a:r>
            <a:endParaRPr lang="en-US" altLang="zh-CN" noProof="1" smtClean="0">
              <a:latin typeface="微软雅黑" panose="020B0503020204020204" pitchFamily="34" charset="-122"/>
            </a:endParaRPr>
          </a:p>
          <a:p>
            <a:r>
              <a:rPr lang="zh-CN" altLang="en-US" noProof="1" smtClean="0">
                <a:latin typeface="微软雅黑" panose="020B0503020204020204" pitchFamily="34" charset="-122"/>
              </a:rPr>
              <a:t>在上述例子中，滑动步长为</a:t>
            </a:r>
            <a:r>
              <a:rPr lang="en-US" altLang="zh-CN" noProof="1" smtClean="0">
                <a:latin typeface="微软雅黑" panose="020B0503020204020204" pitchFamily="34" charset="-122"/>
              </a:rPr>
              <a:t>1</a:t>
            </a:r>
            <a:r>
              <a:rPr lang="zh-CN" altLang="en-US" noProof="1" smtClean="0">
                <a:latin typeface="微软雅黑" panose="020B0503020204020204" pitchFamily="34" charset="-122"/>
              </a:rPr>
              <a:t>，卷积核每次只移动</a:t>
            </a:r>
            <a:r>
              <a:rPr lang="en-US" altLang="zh-CN" noProof="1" smtClean="0">
                <a:latin typeface="微软雅黑" panose="020B0503020204020204" pitchFamily="34" charset="-122"/>
              </a:rPr>
              <a:t>1</a:t>
            </a:r>
            <a:r>
              <a:rPr lang="zh-CN" altLang="en-US" noProof="1" smtClean="0">
                <a:latin typeface="微软雅黑" panose="020B0503020204020204" pitchFamily="34" charset="-122"/>
              </a:rPr>
              <a:t>个像素。</a:t>
            </a:r>
            <a:endParaRPr lang="en-US" altLang="zh-CN" noProof="1" smtClean="0">
              <a:latin typeface="微软雅黑" panose="020B0503020204020204" pitchFamily="34" charset="-122"/>
            </a:endParaRPr>
          </a:p>
          <a:p>
            <a:r>
              <a:rPr lang="zh-CN" altLang="en-US" noProof="1">
                <a:latin typeface="微软雅黑" panose="020B0503020204020204" pitchFamily="34" charset="-122"/>
              </a:rPr>
              <a:t>卷积</a:t>
            </a:r>
            <a:r>
              <a:rPr lang="zh-CN" altLang="en-US" noProof="1" smtClean="0">
                <a:latin typeface="微软雅黑" panose="020B0503020204020204" pitchFamily="34" charset="-122"/>
              </a:rPr>
              <a:t>核每次滑动覆盖的范围叫感受野，即下图演示的灰色区域。</a:t>
            </a:r>
            <a:endParaRPr lang="en-US" altLang="zh-CN" dirty="0" smtClean="0"/>
          </a:p>
        </p:txBody>
      </p:sp>
      <p:graphicFrame>
        <p:nvGraphicFramePr>
          <p:cNvPr id="4" name="表格 3"/>
          <p:cNvGraphicFramePr>
            <a:graphicFrameLocks noGrp="1"/>
          </p:cNvGraphicFramePr>
          <p:nvPr>
            <p:extLst>
              <p:ext uri="{D42A27DB-BD31-4B8C-83A1-F6EECF244321}">
                <p14:modId xmlns:p14="http://schemas.microsoft.com/office/powerpoint/2010/main" val="4111165465"/>
              </p:ext>
            </p:extLst>
          </p:nvPr>
        </p:nvGraphicFramePr>
        <p:xfrm>
          <a:off x="1173163" y="3084513"/>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2</a:t>
                      </a:r>
                      <a:endParaRPr lang="zh-CN" altLang="en-US" sz="1800" b="1" dirty="0"/>
                    </a:p>
                  </a:txBody>
                  <a:tcPr marL="91431" marR="91431" marT="45716" marB="45716" anchor="ctr">
                    <a:solidFill>
                      <a:schemeClr val="bg1"/>
                    </a:solidFill>
                  </a:tcP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solidFill>
                  </a:tcP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solidFill>
                  </a:tcPr>
                </a:tc>
              </a:tr>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5</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graphicFrame>
        <p:nvGraphicFramePr>
          <p:cNvPr id="5" name="表格 4"/>
          <p:cNvGraphicFramePr>
            <a:graphicFrameLocks noGrp="1"/>
          </p:cNvGraphicFramePr>
          <p:nvPr/>
        </p:nvGraphicFramePr>
        <p:xfrm>
          <a:off x="1428750" y="3335338"/>
          <a:ext cx="2159001" cy="2160588"/>
        </p:xfrm>
        <a:graphic>
          <a:graphicData uri="http://schemas.openxmlformats.org/drawingml/2006/table">
            <a:tbl>
              <a:tblPr firstRow="1" bandRow="1">
                <a:tableStyleId>{5940675A-B579-460E-94D1-54222C63F5DA}</a:tableStyleId>
              </a:tblPr>
              <a:tblGrid>
                <a:gridCol w="719667"/>
                <a:gridCol w="719667"/>
                <a:gridCol w="719667"/>
              </a:tblGrid>
              <a:tr h="720196">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r>
              <a:tr h="720196">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-4</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r>
              <a:tr h="720196">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r>
            </a:tbl>
          </a:graphicData>
        </a:graphic>
      </p:graphicFrame>
      <p:cxnSp>
        <p:nvCxnSpPr>
          <p:cNvPr id="6" name="直接连接符 5"/>
          <p:cNvCxnSpPr/>
          <p:nvPr/>
        </p:nvCxnSpPr>
        <p:spPr>
          <a:xfrm>
            <a:off x="1169988" y="3081338"/>
            <a:ext cx="274637" cy="274637"/>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22638" y="3081338"/>
            <a:ext cx="273050" cy="274637"/>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1169988" y="5233988"/>
            <a:ext cx="274637" cy="274637"/>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3322638" y="5230813"/>
            <a:ext cx="273050" cy="274637"/>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10" name="右箭头 9"/>
          <p:cNvSpPr/>
          <p:nvPr/>
        </p:nvSpPr>
        <p:spPr>
          <a:xfrm>
            <a:off x="4605338" y="4221163"/>
            <a:ext cx="2825750" cy="320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文本框 21"/>
          <p:cNvSpPr txBox="1">
            <a:spLocks noChangeArrowheads="1"/>
          </p:cNvSpPr>
          <p:nvPr/>
        </p:nvSpPr>
        <p:spPr bwMode="auto">
          <a:xfrm>
            <a:off x="4669174" y="3851831"/>
            <a:ext cx="28520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滑动步长为</a:t>
            </a:r>
            <a:r>
              <a:rPr lang="en-US" altLang="zh-CN" b="1" dirty="0"/>
              <a:t>1</a:t>
            </a:r>
            <a:r>
              <a:rPr lang="zh-CN" altLang="en-US" b="1" dirty="0"/>
              <a:t>，卷积核滑动</a:t>
            </a:r>
          </a:p>
        </p:txBody>
      </p:sp>
      <p:graphicFrame>
        <p:nvGraphicFramePr>
          <p:cNvPr id="12" name="表格 11"/>
          <p:cNvGraphicFramePr>
            <a:graphicFrameLocks noGrp="1"/>
          </p:cNvGraphicFramePr>
          <p:nvPr>
            <p:extLst>
              <p:ext uri="{D42A27DB-BD31-4B8C-83A1-F6EECF244321}">
                <p14:modId xmlns:p14="http://schemas.microsoft.com/office/powerpoint/2010/main" val="385288876"/>
              </p:ext>
            </p:extLst>
          </p:nvPr>
        </p:nvGraphicFramePr>
        <p:xfrm>
          <a:off x="8093075" y="3021013"/>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solidFill>
                      <a:schemeClr val="bg1"/>
                    </a:solidFill>
                  </a:tcP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solidFill>
                  </a:tcP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5</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graphicFrame>
        <p:nvGraphicFramePr>
          <p:cNvPr id="13" name="表格 12"/>
          <p:cNvGraphicFramePr>
            <a:graphicFrameLocks noGrp="1"/>
          </p:cNvGraphicFramePr>
          <p:nvPr/>
        </p:nvGraphicFramePr>
        <p:xfrm>
          <a:off x="9078913" y="3259138"/>
          <a:ext cx="2159001" cy="2160588"/>
        </p:xfrm>
        <a:graphic>
          <a:graphicData uri="http://schemas.openxmlformats.org/drawingml/2006/table">
            <a:tbl>
              <a:tblPr firstRow="1" bandRow="1">
                <a:tableStyleId>{5940675A-B579-460E-94D1-54222C63F5DA}</a:tableStyleId>
              </a:tblPr>
              <a:tblGrid>
                <a:gridCol w="719667"/>
                <a:gridCol w="719667"/>
                <a:gridCol w="719667"/>
              </a:tblGrid>
              <a:tr h="720196">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r>
              <a:tr h="720196">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-4</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r>
              <a:tr h="720196">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r>
            </a:tbl>
          </a:graphicData>
        </a:graphic>
      </p:graphicFrame>
      <p:cxnSp>
        <p:nvCxnSpPr>
          <p:cNvPr id="14" name="直接连接符 13"/>
          <p:cNvCxnSpPr/>
          <p:nvPr/>
        </p:nvCxnSpPr>
        <p:spPr>
          <a:xfrm>
            <a:off x="8820150" y="3022600"/>
            <a:ext cx="274638" cy="274638"/>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0972800" y="3022600"/>
            <a:ext cx="274638" cy="274638"/>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8820150" y="5176838"/>
            <a:ext cx="274638" cy="27305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0972800" y="5178425"/>
            <a:ext cx="274638" cy="274638"/>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4561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步长</a:t>
            </a:r>
          </a:p>
        </p:txBody>
      </p:sp>
      <p:sp>
        <p:nvSpPr>
          <p:cNvPr id="3" name="内容占位符 2"/>
          <p:cNvSpPr>
            <a:spLocks noGrp="1"/>
          </p:cNvSpPr>
          <p:nvPr>
            <p:ph sz="quarter" idx="13"/>
          </p:nvPr>
        </p:nvSpPr>
        <p:spPr/>
        <p:txBody>
          <a:bodyPr/>
          <a:lstStyle/>
          <a:p>
            <a:r>
              <a:rPr lang="zh-CN" altLang="en-US" dirty="0" smtClean="0"/>
              <a:t>为了方便理解，我们先看一维卷积运算的情况。</a:t>
            </a:r>
            <a:endParaRPr lang="en-US" altLang="zh-CN" dirty="0" smtClean="0"/>
          </a:p>
          <a:p>
            <a:r>
              <a:rPr lang="zh-CN" altLang="en-US" dirty="0" smtClean="0"/>
              <a:t>输入一个</a:t>
            </a:r>
            <a:r>
              <a:rPr lang="en-US" altLang="zh-CN" dirty="0"/>
              <a:t>(1,7) </a:t>
            </a:r>
            <a:r>
              <a:rPr lang="zh-CN" altLang="en-US" dirty="0"/>
              <a:t>的向量及其对应的</a:t>
            </a:r>
            <a:r>
              <a:rPr lang="zh-CN" altLang="en-US" dirty="0" smtClean="0"/>
              <a:t>数值。</a:t>
            </a:r>
            <a:endParaRPr lang="en-US" altLang="zh-CN" dirty="0" smtClean="0"/>
          </a:p>
          <a:p>
            <a:r>
              <a:rPr lang="zh-CN" altLang="en-US" dirty="0"/>
              <a:t>定义一个一维</a:t>
            </a:r>
            <a:r>
              <a:rPr lang="zh-CN" altLang="en-US" dirty="0" smtClean="0"/>
              <a:t>卷积，尺寸为</a:t>
            </a:r>
            <a:r>
              <a:rPr lang="en-US" altLang="zh-CN" dirty="0"/>
              <a:t>(1,3</a:t>
            </a:r>
            <a:r>
              <a:rPr lang="en-US" altLang="zh-CN" dirty="0" smtClean="0"/>
              <a:t>)</a:t>
            </a:r>
            <a:r>
              <a:rPr lang="zh-CN" altLang="en-US" dirty="0" smtClean="0"/>
              <a:t>，数值分别为</a:t>
            </a:r>
            <a:r>
              <a:rPr lang="en-US" altLang="zh-CN" dirty="0"/>
              <a:t>10</a:t>
            </a:r>
            <a:r>
              <a:rPr lang="zh-CN" altLang="en-US" dirty="0"/>
              <a:t>、</a:t>
            </a:r>
            <a:r>
              <a:rPr lang="en-US" altLang="zh-CN" dirty="0"/>
              <a:t>5</a:t>
            </a:r>
            <a:r>
              <a:rPr lang="zh-CN" altLang="en-US" dirty="0"/>
              <a:t>、</a:t>
            </a:r>
            <a:r>
              <a:rPr lang="en-US" altLang="zh-CN" dirty="0" smtClean="0"/>
              <a:t>11</a:t>
            </a:r>
            <a:r>
              <a:rPr lang="zh-CN" altLang="en-US" dirty="0" smtClean="0"/>
              <a:t>。</a:t>
            </a:r>
            <a:endParaRPr lang="en-US" altLang="zh-CN" dirty="0" smtClean="0"/>
          </a:p>
          <a:p>
            <a:r>
              <a:rPr lang="zh-CN" altLang="en-US" dirty="0" smtClean="0"/>
              <a:t>设置偏置为</a:t>
            </a:r>
            <a:r>
              <a:rPr lang="en-US" altLang="zh-CN" dirty="0" smtClean="0"/>
              <a:t>0</a:t>
            </a:r>
            <a:r>
              <a:rPr lang="zh-CN" altLang="en-US" dirty="0" smtClean="0"/>
              <a:t>（无偏置），滑动步长为</a:t>
            </a:r>
            <a:r>
              <a:rPr lang="en-US" altLang="zh-CN" dirty="0" smtClean="0"/>
              <a:t>1</a:t>
            </a:r>
            <a:r>
              <a:rPr lang="zh-CN" altLang="en-US" dirty="0" smtClean="0"/>
              <a:t>。</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965607180"/>
              </p:ext>
            </p:extLst>
          </p:nvPr>
        </p:nvGraphicFramePr>
        <p:xfrm>
          <a:off x="2699750" y="3149600"/>
          <a:ext cx="3779839" cy="539750"/>
        </p:xfrm>
        <a:graphic>
          <a:graphicData uri="http://schemas.openxmlformats.org/drawingml/2006/table">
            <a:tbl>
              <a:tblPr firstRow="1" bandRow="1">
                <a:tableStyleId>{5940675A-B579-460E-94D1-54222C63F5DA}</a:tableStyleId>
              </a:tblPr>
              <a:tblGrid>
                <a:gridCol w="539977"/>
                <a:gridCol w="539977"/>
                <a:gridCol w="539977"/>
                <a:gridCol w="539977"/>
                <a:gridCol w="539977"/>
                <a:gridCol w="539977"/>
                <a:gridCol w="539977"/>
              </a:tblGrid>
              <a:tr h="539750">
                <a:tc>
                  <a:txBody>
                    <a:bodyPr/>
                    <a:lstStyle/>
                    <a:p>
                      <a:pPr algn="ctr"/>
                      <a:r>
                        <a:rPr lang="en-US" altLang="zh-CN" sz="1800" dirty="0" smtClean="0"/>
                        <a:t>5</a:t>
                      </a:r>
                      <a:endParaRPr lang="zh-CN" altLang="en-US" sz="1800" dirty="0"/>
                    </a:p>
                  </a:txBody>
                  <a:tcPr marL="91436" marR="91436" marT="45699" marB="45699" anchor="ctr"/>
                </a:tc>
                <a:tc>
                  <a:txBody>
                    <a:bodyPr/>
                    <a:lstStyle/>
                    <a:p>
                      <a:pPr algn="ctr"/>
                      <a:r>
                        <a:rPr lang="en-US" altLang="zh-CN" sz="1800" dirty="0" smtClean="0"/>
                        <a:t>2</a:t>
                      </a:r>
                      <a:endParaRPr lang="zh-CN" altLang="en-US" sz="1800" dirty="0"/>
                    </a:p>
                  </a:txBody>
                  <a:tcPr marL="91436" marR="91436" marT="45699" marB="45699" anchor="ctr"/>
                </a:tc>
                <a:tc>
                  <a:txBody>
                    <a:bodyPr/>
                    <a:lstStyle/>
                    <a:p>
                      <a:pPr algn="ctr"/>
                      <a:r>
                        <a:rPr lang="en-US" altLang="zh-CN" sz="1800" dirty="0" smtClean="0"/>
                        <a:t>6</a:t>
                      </a:r>
                      <a:endParaRPr lang="zh-CN" altLang="en-US" sz="1800" dirty="0"/>
                    </a:p>
                  </a:txBody>
                  <a:tcPr marL="91436" marR="91436" marT="45699" marB="45699" anchor="ctr"/>
                </a:tc>
                <a:tc>
                  <a:txBody>
                    <a:bodyPr/>
                    <a:lstStyle/>
                    <a:p>
                      <a:pPr algn="ctr"/>
                      <a:r>
                        <a:rPr lang="en-US" altLang="zh-CN" sz="1800" dirty="0" smtClean="0"/>
                        <a:t>10</a:t>
                      </a:r>
                      <a:endParaRPr lang="zh-CN" altLang="en-US" sz="1800" dirty="0"/>
                    </a:p>
                  </a:txBody>
                  <a:tcPr marL="91436" marR="91436" marT="45699" marB="45699" anchor="ctr"/>
                </a:tc>
                <a:tc>
                  <a:txBody>
                    <a:bodyPr/>
                    <a:lstStyle/>
                    <a:p>
                      <a:pPr algn="ctr"/>
                      <a:r>
                        <a:rPr lang="en-US" altLang="zh-CN" sz="1800" dirty="0" smtClean="0"/>
                        <a:t>7</a:t>
                      </a:r>
                      <a:endParaRPr lang="zh-CN" altLang="en-US" sz="1800" dirty="0"/>
                    </a:p>
                  </a:txBody>
                  <a:tcPr marL="91436" marR="91436" marT="45699" marB="45699" anchor="ctr"/>
                </a:tc>
                <a:tc>
                  <a:txBody>
                    <a:bodyPr/>
                    <a:lstStyle/>
                    <a:p>
                      <a:pPr algn="ctr"/>
                      <a:r>
                        <a:rPr lang="en-US" altLang="zh-CN" sz="1800" dirty="0" smtClean="0"/>
                        <a:t>12</a:t>
                      </a:r>
                      <a:endParaRPr lang="zh-CN" altLang="en-US" sz="1800" dirty="0"/>
                    </a:p>
                  </a:txBody>
                  <a:tcPr marL="91436" marR="91436" marT="45699" marB="45699" anchor="ctr"/>
                </a:tc>
                <a:tc>
                  <a:txBody>
                    <a:bodyPr/>
                    <a:lstStyle/>
                    <a:p>
                      <a:pPr algn="ctr"/>
                      <a:r>
                        <a:rPr lang="en-US" altLang="zh-CN" sz="1800" dirty="0" smtClean="0"/>
                        <a:t>8</a:t>
                      </a:r>
                      <a:endParaRPr lang="zh-CN" altLang="en-US" sz="1800" dirty="0"/>
                    </a:p>
                  </a:txBody>
                  <a:tcPr marL="91436" marR="91436" marT="45699" marB="45699" anchor="ctr"/>
                </a:tc>
              </a:tr>
            </a:tbl>
          </a:graphicData>
        </a:graphic>
      </p:graphicFrame>
      <p:sp>
        <p:nvSpPr>
          <p:cNvPr id="5" name="文本框 23"/>
          <p:cNvSpPr txBox="1">
            <a:spLocks noChangeArrowheads="1"/>
          </p:cNvSpPr>
          <p:nvPr/>
        </p:nvSpPr>
        <p:spPr bwMode="auto">
          <a:xfrm>
            <a:off x="1688512" y="32607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输入</a:t>
            </a:r>
          </a:p>
        </p:txBody>
      </p:sp>
      <p:sp>
        <p:nvSpPr>
          <p:cNvPr id="6" name="文本框 23"/>
          <p:cNvSpPr txBox="1">
            <a:spLocks noChangeArrowheads="1"/>
          </p:cNvSpPr>
          <p:nvPr/>
        </p:nvSpPr>
        <p:spPr bwMode="auto">
          <a:xfrm>
            <a:off x="1340563" y="3935951"/>
            <a:ext cx="1309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1×3</a:t>
            </a:r>
            <a:r>
              <a:rPr lang="zh-CN" altLang="en-US" b="1" dirty="0"/>
              <a:t>卷积核</a:t>
            </a:r>
          </a:p>
        </p:txBody>
      </p:sp>
      <p:graphicFrame>
        <p:nvGraphicFramePr>
          <p:cNvPr id="7" name="表格 6"/>
          <p:cNvGraphicFramePr>
            <a:graphicFrameLocks noGrp="1"/>
          </p:cNvGraphicFramePr>
          <p:nvPr>
            <p:extLst>
              <p:ext uri="{D42A27DB-BD31-4B8C-83A1-F6EECF244321}">
                <p14:modId xmlns:p14="http://schemas.microsoft.com/office/powerpoint/2010/main" val="1565006376"/>
              </p:ext>
            </p:extLst>
          </p:nvPr>
        </p:nvGraphicFramePr>
        <p:xfrm>
          <a:off x="2704512" y="3867150"/>
          <a:ext cx="1620837" cy="539750"/>
        </p:xfrm>
        <a:graphic>
          <a:graphicData uri="http://schemas.openxmlformats.org/drawingml/2006/table">
            <a:tbl>
              <a:tblPr firstRow="1" bandRow="1">
                <a:tableStyleId>{5940675A-B579-460E-94D1-54222C63F5DA}</a:tableStyleId>
              </a:tblPr>
              <a:tblGrid>
                <a:gridCol w="540279"/>
                <a:gridCol w="540279"/>
                <a:gridCol w="540279"/>
              </a:tblGrid>
              <a:tr h="539750">
                <a:tc>
                  <a:txBody>
                    <a:bodyPr/>
                    <a:lstStyle/>
                    <a:p>
                      <a:pPr algn="ctr"/>
                      <a:r>
                        <a:rPr lang="en-US" altLang="zh-CN" sz="1800" dirty="0" smtClean="0"/>
                        <a:t>10</a:t>
                      </a:r>
                      <a:endParaRPr lang="zh-CN" altLang="en-US" sz="1800" dirty="0"/>
                    </a:p>
                  </a:txBody>
                  <a:tcPr marL="91487" marR="91487" marT="45699" marB="45699" anchor="ctr"/>
                </a:tc>
                <a:tc>
                  <a:txBody>
                    <a:bodyPr/>
                    <a:lstStyle/>
                    <a:p>
                      <a:pPr algn="ctr"/>
                      <a:r>
                        <a:rPr lang="en-US" altLang="zh-CN" sz="1800" dirty="0" smtClean="0"/>
                        <a:t>5</a:t>
                      </a:r>
                      <a:endParaRPr lang="zh-CN" altLang="en-US" sz="1800" dirty="0"/>
                    </a:p>
                  </a:txBody>
                  <a:tcPr marL="91487" marR="91487" marT="45699" marB="45699" anchor="ctr"/>
                </a:tc>
                <a:tc>
                  <a:txBody>
                    <a:bodyPr/>
                    <a:lstStyle/>
                    <a:p>
                      <a:pPr algn="ctr"/>
                      <a:r>
                        <a:rPr lang="en-US" altLang="zh-CN" sz="1800" dirty="0" smtClean="0"/>
                        <a:t>11</a:t>
                      </a:r>
                      <a:endParaRPr lang="zh-CN" altLang="en-US" sz="1800" dirty="0"/>
                    </a:p>
                  </a:txBody>
                  <a:tcPr marL="91487" marR="91487" marT="45699" marB="45699" anchor="ctr"/>
                </a:tc>
              </a:tr>
            </a:tbl>
          </a:graphicData>
        </a:graphic>
      </p:graphicFrame>
      <p:sp>
        <p:nvSpPr>
          <p:cNvPr id="8" name="文本框 23"/>
          <p:cNvSpPr txBox="1">
            <a:spLocks noChangeArrowheads="1"/>
          </p:cNvSpPr>
          <p:nvPr/>
        </p:nvSpPr>
        <p:spPr bwMode="auto">
          <a:xfrm>
            <a:off x="1688512" y="5087938"/>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输出</a:t>
            </a:r>
          </a:p>
        </p:txBody>
      </p:sp>
      <p:graphicFrame>
        <p:nvGraphicFramePr>
          <p:cNvPr id="9" name="表格 8"/>
          <p:cNvGraphicFramePr>
            <a:graphicFrameLocks noGrp="1"/>
          </p:cNvGraphicFramePr>
          <p:nvPr>
            <p:extLst>
              <p:ext uri="{D42A27DB-BD31-4B8C-83A1-F6EECF244321}">
                <p14:modId xmlns:p14="http://schemas.microsoft.com/office/powerpoint/2010/main" val="1299181939"/>
              </p:ext>
            </p:extLst>
          </p:nvPr>
        </p:nvGraphicFramePr>
        <p:xfrm>
          <a:off x="3188700" y="5064125"/>
          <a:ext cx="539750" cy="541338"/>
        </p:xfrm>
        <a:graphic>
          <a:graphicData uri="http://schemas.openxmlformats.org/drawingml/2006/table">
            <a:tbl>
              <a:tblPr firstRow="1" bandRow="1">
                <a:tableStyleId>{5940675A-B579-460E-94D1-54222C63F5DA}</a:tableStyleId>
              </a:tblPr>
              <a:tblGrid>
                <a:gridCol w="539750"/>
              </a:tblGrid>
              <a:tr h="541338">
                <a:tc>
                  <a:txBody>
                    <a:bodyPr/>
                    <a:lstStyle/>
                    <a:p>
                      <a:pPr algn="ctr"/>
                      <a:r>
                        <a:rPr lang="en-US" altLang="zh-CN" sz="1800" dirty="0" smtClean="0"/>
                        <a:t>A</a:t>
                      </a:r>
                      <a:endParaRPr lang="zh-CN" altLang="en-US" sz="1800" dirty="0"/>
                    </a:p>
                  </a:txBody>
                  <a:tcPr marL="91398" marR="91398" marT="45833" marB="45833" anchor="ctr"/>
                </a:tc>
              </a:tr>
            </a:tbl>
          </a:graphicData>
        </a:graphic>
      </p:graphicFrame>
      <p:sp>
        <p:nvSpPr>
          <p:cNvPr id="10" name="矩形 9"/>
          <p:cNvSpPr/>
          <p:nvPr/>
        </p:nvSpPr>
        <p:spPr>
          <a:xfrm>
            <a:off x="2650537" y="3109913"/>
            <a:ext cx="1692275" cy="611187"/>
          </a:xfrm>
          <a:prstGeom prst="rect">
            <a:avLst/>
          </a:prstGeom>
          <a:solidFill>
            <a:schemeClr val="lt1">
              <a:alpha val="0"/>
            </a:schemeClr>
          </a:solidFill>
          <a:ln w="31750"/>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cxnSp>
        <p:nvCxnSpPr>
          <p:cNvPr id="11" name="直接连接符 10"/>
          <p:cNvCxnSpPr/>
          <p:nvPr/>
        </p:nvCxnSpPr>
        <p:spPr>
          <a:xfrm>
            <a:off x="2715625" y="4429125"/>
            <a:ext cx="522287" cy="563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3710987" y="4429125"/>
            <a:ext cx="611188" cy="563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23"/>
          <p:cNvSpPr txBox="1">
            <a:spLocks noChangeArrowheads="1"/>
          </p:cNvSpPr>
          <p:nvPr/>
        </p:nvSpPr>
        <p:spPr bwMode="auto">
          <a:xfrm>
            <a:off x="6840506" y="4275137"/>
            <a:ext cx="39367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A = 5 × 10 + 2 × 5 + 6 × 11 = 126</a:t>
            </a:r>
            <a:r>
              <a:rPr lang="zh-CN" altLang="en-US" b="1" dirty="0"/>
              <a:t>。</a:t>
            </a:r>
          </a:p>
        </p:txBody>
      </p:sp>
    </p:spTree>
    <p:extLst>
      <p:ext uri="{BB962C8B-B14F-4D97-AF65-F5344CB8AC3E}">
        <p14:creationId xmlns:p14="http://schemas.microsoft.com/office/powerpoint/2010/main" val="1162022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步长</a:t>
            </a:r>
            <a:endParaRPr lang="zh-CN" altLang="en-US" dirty="0"/>
          </a:p>
        </p:txBody>
      </p:sp>
      <p:sp>
        <p:nvSpPr>
          <p:cNvPr id="3" name="内容占位符 2"/>
          <p:cNvSpPr>
            <a:spLocks noGrp="1"/>
          </p:cNvSpPr>
          <p:nvPr>
            <p:ph sz="quarter" idx="13"/>
          </p:nvPr>
        </p:nvSpPr>
        <p:spPr/>
        <p:txBody>
          <a:bodyPr/>
          <a:lstStyle/>
          <a:p>
            <a:r>
              <a:rPr lang="zh-CN" altLang="en-US" dirty="0"/>
              <a:t>因为我们定义步长为</a:t>
            </a:r>
            <a:r>
              <a:rPr lang="en-US" altLang="zh-CN" dirty="0"/>
              <a:t>1</a:t>
            </a:r>
            <a:r>
              <a:rPr lang="zh-CN" altLang="en-US" dirty="0"/>
              <a:t>，所以接下来卷积移动一个格子（在图像中一个步长可以理解为一个像素）。</a:t>
            </a:r>
            <a:endParaRPr lang="en-US" altLang="zh-CN" dirty="0"/>
          </a:p>
          <a:p>
            <a:r>
              <a:rPr lang="zh-CN" altLang="en-US" dirty="0" smtClean="0"/>
              <a:t>依旧遵循卷积核从左到右从上到下的滑动规则。</a:t>
            </a:r>
            <a:endParaRPr lang="en-US" altLang="zh-CN" dirty="0" smtClean="0"/>
          </a:p>
          <a:p>
            <a:r>
              <a:rPr lang="zh-CN" altLang="en-US" dirty="0" smtClean="0"/>
              <a:t>以此类推</a:t>
            </a:r>
            <a:r>
              <a:rPr lang="zh-CN" altLang="en-US" dirty="0"/>
              <a:t>，我们最终得到一个</a:t>
            </a:r>
            <a:r>
              <a:rPr lang="en-US" altLang="zh-CN" dirty="0"/>
              <a:t> (1,5) </a:t>
            </a:r>
            <a:r>
              <a:rPr lang="zh-CN" altLang="en-US" dirty="0"/>
              <a:t>的向量，如右图所示。</a:t>
            </a:r>
            <a:endParaRPr lang="en-US" altLang="zh-CN" dirty="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360109318"/>
              </p:ext>
            </p:extLst>
          </p:nvPr>
        </p:nvGraphicFramePr>
        <p:xfrm>
          <a:off x="2124715" y="3121319"/>
          <a:ext cx="3779839" cy="539750"/>
        </p:xfrm>
        <a:graphic>
          <a:graphicData uri="http://schemas.openxmlformats.org/drawingml/2006/table">
            <a:tbl>
              <a:tblPr firstRow="1" bandRow="1">
                <a:tableStyleId>{5940675A-B579-460E-94D1-54222C63F5DA}</a:tableStyleId>
              </a:tblPr>
              <a:tblGrid>
                <a:gridCol w="539977"/>
                <a:gridCol w="539977"/>
                <a:gridCol w="539977"/>
                <a:gridCol w="539977"/>
                <a:gridCol w="539977"/>
                <a:gridCol w="539977"/>
                <a:gridCol w="539977"/>
              </a:tblGrid>
              <a:tr h="539750">
                <a:tc>
                  <a:txBody>
                    <a:bodyPr/>
                    <a:lstStyle/>
                    <a:p>
                      <a:pPr algn="ctr"/>
                      <a:r>
                        <a:rPr lang="en-US" altLang="zh-CN" sz="1800" dirty="0" smtClean="0"/>
                        <a:t>5</a:t>
                      </a:r>
                      <a:endParaRPr lang="zh-CN" altLang="en-US" sz="1800" dirty="0"/>
                    </a:p>
                  </a:txBody>
                  <a:tcPr marL="91436" marR="91436" marT="45699" marB="45699" anchor="ctr"/>
                </a:tc>
                <a:tc>
                  <a:txBody>
                    <a:bodyPr/>
                    <a:lstStyle/>
                    <a:p>
                      <a:pPr algn="ctr"/>
                      <a:r>
                        <a:rPr lang="en-US" altLang="zh-CN" sz="1800" dirty="0" smtClean="0"/>
                        <a:t>2</a:t>
                      </a:r>
                      <a:endParaRPr lang="zh-CN" altLang="en-US" sz="1800" dirty="0"/>
                    </a:p>
                  </a:txBody>
                  <a:tcPr marL="91436" marR="91436" marT="45699" marB="45699" anchor="ctr"/>
                </a:tc>
                <a:tc>
                  <a:txBody>
                    <a:bodyPr/>
                    <a:lstStyle/>
                    <a:p>
                      <a:pPr algn="ctr"/>
                      <a:r>
                        <a:rPr lang="en-US" altLang="zh-CN" sz="1800" dirty="0" smtClean="0"/>
                        <a:t>6</a:t>
                      </a:r>
                      <a:endParaRPr lang="zh-CN" altLang="en-US" sz="1800" dirty="0"/>
                    </a:p>
                  </a:txBody>
                  <a:tcPr marL="91436" marR="91436" marT="45699" marB="45699" anchor="ctr"/>
                </a:tc>
                <a:tc>
                  <a:txBody>
                    <a:bodyPr/>
                    <a:lstStyle/>
                    <a:p>
                      <a:pPr algn="ctr"/>
                      <a:r>
                        <a:rPr lang="en-US" altLang="zh-CN" sz="1800" dirty="0" smtClean="0"/>
                        <a:t>10</a:t>
                      </a:r>
                      <a:endParaRPr lang="zh-CN" altLang="en-US" sz="1800" dirty="0"/>
                    </a:p>
                  </a:txBody>
                  <a:tcPr marL="91436" marR="91436" marT="45699" marB="45699" anchor="ctr"/>
                </a:tc>
                <a:tc>
                  <a:txBody>
                    <a:bodyPr/>
                    <a:lstStyle/>
                    <a:p>
                      <a:pPr algn="ctr"/>
                      <a:r>
                        <a:rPr lang="en-US" altLang="zh-CN" sz="1800" dirty="0" smtClean="0"/>
                        <a:t>7</a:t>
                      </a:r>
                      <a:endParaRPr lang="zh-CN" altLang="en-US" sz="1800" dirty="0"/>
                    </a:p>
                  </a:txBody>
                  <a:tcPr marL="91436" marR="91436" marT="45699" marB="45699" anchor="ctr"/>
                </a:tc>
                <a:tc>
                  <a:txBody>
                    <a:bodyPr/>
                    <a:lstStyle/>
                    <a:p>
                      <a:pPr algn="ctr"/>
                      <a:r>
                        <a:rPr lang="en-US" altLang="zh-CN" sz="1800" dirty="0" smtClean="0"/>
                        <a:t>12</a:t>
                      </a:r>
                      <a:endParaRPr lang="zh-CN" altLang="en-US" sz="1800" dirty="0"/>
                    </a:p>
                  </a:txBody>
                  <a:tcPr marL="91436" marR="91436" marT="45699" marB="45699" anchor="ctr"/>
                </a:tc>
                <a:tc>
                  <a:txBody>
                    <a:bodyPr/>
                    <a:lstStyle/>
                    <a:p>
                      <a:pPr algn="ctr"/>
                      <a:r>
                        <a:rPr lang="en-US" altLang="zh-CN" sz="1800" dirty="0" smtClean="0"/>
                        <a:t>8</a:t>
                      </a:r>
                      <a:endParaRPr lang="zh-CN" altLang="en-US" sz="1800" dirty="0"/>
                    </a:p>
                  </a:txBody>
                  <a:tcPr marL="91436" marR="91436" marT="45699" marB="45699" anchor="ctr"/>
                </a:tc>
              </a:tr>
            </a:tbl>
          </a:graphicData>
        </a:graphic>
      </p:graphicFrame>
      <p:sp>
        <p:nvSpPr>
          <p:cNvPr id="5" name="文本框 23"/>
          <p:cNvSpPr txBox="1">
            <a:spLocks noChangeArrowheads="1"/>
          </p:cNvSpPr>
          <p:nvPr/>
        </p:nvSpPr>
        <p:spPr bwMode="auto">
          <a:xfrm>
            <a:off x="1113477" y="323244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输入</a:t>
            </a:r>
          </a:p>
        </p:txBody>
      </p:sp>
      <p:sp>
        <p:nvSpPr>
          <p:cNvPr id="6" name="文本框 23"/>
          <p:cNvSpPr txBox="1">
            <a:spLocks noChangeArrowheads="1"/>
          </p:cNvSpPr>
          <p:nvPr/>
        </p:nvSpPr>
        <p:spPr bwMode="auto">
          <a:xfrm>
            <a:off x="856302" y="3954757"/>
            <a:ext cx="1309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a:t>1×3</a:t>
            </a:r>
            <a:r>
              <a:rPr lang="zh-CN" altLang="en-US" b="1"/>
              <a:t>卷积核</a:t>
            </a:r>
          </a:p>
        </p:txBody>
      </p:sp>
      <p:graphicFrame>
        <p:nvGraphicFramePr>
          <p:cNvPr id="7" name="表格 6"/>
          <p:cNvGraphicFramePr>
            <a:graphicFrameLocks noGrp="1"/>
          </p:cNvGraphicFramePr>
          <p:nvPr>
            <p:extLst>
              <p:ext uri="{D42A27DB-BD31-4B8C-83A1-F6EECF244321}">
                <p14:modId xmlns:p14="http://schemas.microsoft.com/office/powerpoint/2010/main" val="2178802369"/>
              </p:ext>
            </p:extLst>
          </p:nvPr>
        </p:nvGraphicFramePr>
        <p:xfrm>
          <a:off x="2662877" y="3792832"/>
          <a:ext cx="1620837" cy="539750"/>
        </p:xfrm>
        <a:graphic>
          <a:graphicData uri="http://schemas.openxmlformats.org/drawingml/2006/table">
            <a:tbl>
              <a:tblPr firstRow="1" bandRow="1">
                <a:tableStyleId>{5940675A-B579-460E-94D1-54222C63F5DA}</a:tableStyleId>
              </a:tblPr>
              <a:tblGrid>
                <a:gridCol w="540279"/>
                <a:gridCol w="540279"/>
                <a:gridCol w="540279"/>
              </a:tblGrid>
              <a:tr h="539750">
                <a:tc>
                  <a:txBody>
                    <a:bodyPr/>
                    <a:lstStyle/>
                    <a:p>
                      <a:pPr algn="ctr"/>
                      <a:r>
                        <a:rPr lang="en-US" altLang="zh-CN" sz="1800" dirty="0" smtClean="0"/>
                        <a:t>10</a:t>
                      </a:r>
                      <a:endParaRPr lang="zh-CN" altLang="en-US" sz="1800" dirty="0"/>
                    </a:p>
                  </a:txBody>
                  <a:tcPr marL="91487" marR="91487" marT="45699" marB="45699" anchor="ctr"/>
                </a:tc>
                <a:tc>
                  <a:txBody>
                    <a:bodyPr/>
                    <a:lstStyle/>
                    <a:p>
                      <a:pPr algn="ctr"/>
                      <a:r>
                        <a:rPr lang="en-US" altLang="zh-CN" sz="1800" dirty="0" smtClean="0"/>
                        <a:t>5</a:t>
                      </a:r>
                      <a:endParaRPr lang="zh-CN" altLang="en-US" sz="1800" dirty="0"/>
                    </a:p>
                  </a:txBody>
                  <a:tcPr marL="91487" marR="91487" marT="45699" marB="45699" anchor="ctr"/>
                </a:tc>
                <a:tc>
                  <a:txBody>
                    <a:bodyPr/>
                    <a:lstStyle/>
                    <a:p>
                      <a:pPr algn="ctr"/>
                      <a:r>
                        <a:rPr lang="en-US" altLang="zh-CN" sz="1800" dirty="0" smtClean="0"/>
                        <a:t>11</a:t>
                      </a:r>
                      <a:endParaRPr lang="zh-CN" altLang="en-US" sz="1800" dirty="0"/>
                    </a:p>
                  </a:txBody>
                  <a:tcPr marL="91487" marR="91487" marT="45699" marB="45699" anchor="ctr"/>
                </a:tc>
              </a:tr>
            </a:tbl>
          </a:graphicData>
        </a:graphic>
      </p:graphicFrame>
      <p:sp>
        <p:nvSpPr>
          <p:cNvPr id="8" name="文本框 23"/>
          <p:cNvSpPr txBox="1">
            <a:spLocks noChangeArrowheads="1"/>
          </p:cNvSpPr>
          <p:nvPr/>
        </p:nvSpPr>
        <p:spPr bwMode="auto">
          <a:xfrm>
            <a:off x="1113477" y="5059657"/>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输出</a:t>
            </a:r>
          </a:p>
        </p:txBody>
      </p:sp>
      <p:sp>
        <p:nvSpPr>
          <p:cNvPr id="9" name="矩形 8"/>
          <p:cNvSpPr/>
          <p:nvPr/>
        </p:nvSpPr>
        <p:spPr>
          <a:xfrm>
            <a:off x="2615252" y="3081632"/>
            <a:ext cx="1692275" cy="611187"/>
          </a:xfrm>
          <a:prstGeom prst="rect">
            <a:avLst/>
          </a:prstGeom>
          <a:solidFill>
            <a:schemeClr val="lt1">
              <a:alpha val="0"/>
            </a:schemeClr>
          </a:solidFill>
          <a:ln w="31750"/>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cxnSp>
        <p:nvCxnSpPr>
          <p:cNvPr id="10" name="直接连接符 9"/>
          <p:cNvCxnSpPr/>
          <p:nvPr/>
        </p:nvCxnSpPr>
        <p:spPr>
          <a:xfrm>
            <a:off x="2623190" y="4400844"/>
            <a:ext cx="523875" cy="563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3696340" y="4392907"/>
            <a:ext cx="611187" cy="5635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2" name="表格 11"/>
          <p:cNvGraphicFramePr>
            <a:graphicFrameLocks noGrp="1"/>
          </p:cNvGraphicFramePr>
          <p:nvPr>
            <p:extLst>
              <p:ext uri="{D42A27DB-BD31-4B8C-83A1-F6EECF244321}">
                <p14:modId xmlns:p14="http://schemas.microsoft.com/office/powerpoint/2010/main" val="3256333477"/>
              </p:ext>
            </p:extLst>
          </p:nvPr>
        </p:nvGraphicFramePr>
        <p:xfrm>
          <a:off x="2615252" y="4992982"/>
          <a:ext cx="1079500" cy="539750"/>
        </p:xfrm>
        <a:graphic>
          <a:graphicData uri="http://schemas.openxmlformats.org/drawingml/2006/table">
            <a:tbl>
              <a:tblPr firstRow="1" bandRow="1">
                <a:tableStyleId>{5940675A-B579-460E-94D1-54222C63F5DA}</a:tableStyleId>
              </a:tblPr>
              <a:tblGrid>
                <a:gridCol w="539750"/>
                <a:gridCol w="539750"/>
              </a:tblGrid>
              <a:tr h="539750">
                <a:tc>
                  <a:txBody>
                    <a:bodyPr/>
                    <a:lstStyle/>
                    <a:p>
                      <a:pPr algn="ctr"/>
                      <a:r>
                        <a:rPr lang="en-US" altLang="zh-CN" sz="1800" b="1" dirty="0" smtClean="0"/>
                        <a:t>A</a:t>
                      </a:r>
                      <a:endParaRPr lang="zh-CN" altLang="en-US" sz="1800" b="1" dirty="0"/>
                    </a:p>
                  </a:txBody>
                  <a:tcPr marL="91398" marR="91398" marT="45699" marB="45699" anchor="ctr"/>
                </a:tc>
                <a:tc>
                  <a:txBody>
                    <a:bodyPr/>
                    <a:lstStyle/>
                    <a:p>
                      <a:pPr algn="ctr"/>
                      <a:r>
                        <a:rPr lang="en-US" altLang="zh-CN" sz="1800" b="1" dirty="0" smtClean="0"/>
                        <a:t>B</a:t>
                      </a:r>
                      <a:endParaRPr lang="zh-CN" altLang="en-US" sz="1800" b="1" dirty="0"/>
                    </a:p>
                  </a:txBody>
                  <a:tcPr marL="91398" marR="91398" marT="45699" marB="45699" anchor="ctr"/>
                </a:tc>
              </a:tr>
            </a:tbl>
          </a:graphicData>
        </a:graphic>
      </p:graphicFrame>
      <p:sp>
        <p:nvSpPr>
          <p:cNvPr id="13" name="右箭头 12"/>
          <p:cNvSpPr/>
          <p:nvPr/>
        </p:nvSpPr>
        <p:spPr>
          <a:xfrm>
            <a:off x="2920052" y="2999082"/>
            <a:ext cx="541338" cy="4445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右箭头 13"/>
          <p:cNvSpPr/>
          <p:nvPr/>
        </p:nvSpPr>
        <p:spPr>
          <a:xfrm>
            <a:off x="2578740" y="4651669"/>
            <a:ext cx="541337" cy="46038"/>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15" name="表格 14"/>
          <p:cNvGraphicFramePr>
            <a:graphicFrameLocks noGrp="1"/>
          </p:cNvGraphicFramePr>
          <p:nvPr>
            <p:extLst>
              <p:ext uri="{D42A27DB-BD31-4B8C-83A1-F6EECF244321}">
                <p14:modId xmlns:p14="http://schemas.microsoft.com/office/powerpoint/2010/main" val="847364492"/>
              </p:ext>
            </p:extLst>
          </p:nvPr>
        </p:nvGraphicFramePr>
        <p:xfrm>
          <a:off x="7322190" y="3157832"/>
          <a:ext cx="3781428" cy="539750"/>
        </p:xfrm>
        <a:graphic>
          <a:graphicData uri="http://schemas.openxmlformats.org/drawingml/2006/table">
            <a:tbl>
              <a:tblPr firstRow="1" bandRow="1">
                <a:tableStyleId>{5940675A-B579-460E-94D1-54222C63F5DA}</a:tableStyleId>
              </a:tblPr>
              <a:tblGrid>
                <a:gridCol w="540204"/>
                <a:gridCol w="540204"/>
                <a:gridCol w="540204"/>
                <a:gridCol w="540204"/>
                <a:gridCol w="540204"/>
                <a:gridCol w="540204"/>
                <a:gridCol w="540204"/>
              </a:tblGrid>
              <a:tr h="539750">
                <a:tc>
                  <a:txBody>
                    <a:bodyPr/>
                    <a:lstStyle/>
                    <a:p>
                      <a:pPr algn="ctr"/>
                      <a:r>
                        <a:rPr lang="en-US" altLang="zh-CN" sz="1800" dirty="0" smtClean="0"/>
                        <a:t>5</a:t>
                      </a:r>
                      <a:endParaRPr lang="zh-CN" altLang="en-US" sz="1800" dirty="0"/>
                    </a:p>
                  </a:txBody>
                  <a:tcPr marL="91474" marR="91474" marT="45699" marB="45699" anchor="ctr"/>
                </a:tc>
                <a:tc>
                  <a:txBody>
                    <a:bodyPr/>
                    <a:lstStyle/>
                    <a:p>
                      <a:pPr algn="ctr"/>
                      <a:r>
                        <a:rPr lang="en-US" altLang="zh-CN" sz="1800" dirty="0" smtClean="0"/>
                        <a:t>2</a:t>
                      </a:r>
                      <a:endParaRPr lang="zh-CN" altLang="en-US" sz="1800" dirty="0"/>
                    </a:p>
                  </a:txBody>
                  <a:tcPr marL="91474" marR="91474" marT="45699" marB="45699" anchor="ctr"/>
                </a:tc>
                <a:tc>
                  <a:txBody>
                    <a:bodyPr/>
                    <a:lstStyle/>
                    <a:p>
                      <a:pPr algn="ctr"/>
                      <a:r>
                        <a:rPr lang="en-US" altLang="zh-CN" sz="1800" dirty="0" smtClean="0"/>
                        <a:t>6</a:t>
                      </a:r>
                      <a:endParaRPr lang="zh-CN" altLang="en-US" sz="1800" dirty="0"/>
                    </a:p>
                  </a:txBody>
                  <a:tcPr marL="91474" marR="91474" marT="45699" marB="45699" anchor="ctr"/>
                </a:tc>
                <a:tc>
                  <a:txBody>
                    <a:bodyPr/>
                    <a:lstStyle/>
                    <a:p>
                      <a:pPr algn="ctr"/>
                      <a:r>
                        <a:rPr lang="en-US" altLang="zh-CN" sz="1800" dirty="0" smtClean="0"/>
                        <a:t>10</a:t>
                      </a:r>
                      <a:endParaRPr lang="zh-CN" altLang="en-US" sz="1800" dirty="0"/>
                    </a:p>
                  </a:txBody>
                  <a:tcPr marL="91474" marR="91474" marT="45699" marB="45699" anchor="ctr"/>
                </a:tc>
                <a:tc>
                  <a:txBody>
                    <a:bodyPr/>
                    <a:lstStyle/>
                    <a:p>
                      <a:pPr algn="ctr"/>
                      <a:r>
                        <a:rPr lang="en-US" altLang="zh-CN" sz="1800" dirty="0" smtClean="0"/>
                        <a:t>7</a:t>
                      </a:r>
                      <a:endParaRPr lang="zh-CN" altLang="en-US" sz="1800" dirty="0"/>
                    </a:p>
                  </a:txBody>
                  <a:tcPr marL="91474" marR="91474" marT="45699" marB="45699" anchor="ctr"/>
                </a:tc>
                <a:tc>
                  <a:txBody>
                    <a:bodyPr/>
                    <a:lstStyle/>
                    <a:p>
                      <a:pPr algn="ctr"/>
                      <a:r>
                        <a:rPr lang="en-US" altLang="zh-CN" sz="1800" dirty="0" smtClean="0"/>
                        <a:t>12</a:t>
                      </a:r>
                      <a:endParaRPr lang="zh-CN" altLang="en-US" sz="1800" dirty="0"/>
                    </a:p>
                  </a:txBody>
                  <a:tcPr marL="91474" marR="91474" marT="45699" marB="45699" anchor="ctr"/>
                </a:tc>
                <a:tc>
                  <a:txBody>
                    <a:bodyPr/>
                    <a:lstStyle/>
                    <a:p>
                      <a:pPr algn="ctr"/>
                      <a:r>
                        <a:rPr lang="en-US" altLang="zh-CN" sz="1800" dirty="0" smtClean="0"/>
                        <a:t>8</a:t>
                      </a:r>
                      <a:endParaRPr lang="zh-CN" altLang="en-US" sz="1800" dirty="0"/>
                    </a:p>
                  </a:txBody>
                  <a:tcPr marL="91474" marR="91474" marT="45699" marB="45699" anchor="ctr"/>
                </a:tc>
              </a:tr>
            </a:tbl>
          </a:graphicData>
        </a:graphic>
      </p:graphicFrame>
      <p:sp>
        <p:nvSpPr>
          <p:cNvPr id="16" name="文本框 23"/>
          <p:cNvSpPr txBox="1">
            <a:spLocks noChangeArrowheads="1"/>
          </p:cNvSpPr>
          <p:nvPr/>
        </p:nvSpPr>
        <p:spPr bwMode="auto">
          <a:xfrm>
            <a:off x="6312540" y="3268957"/>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输入</a:t>
            </a:r>
          </a:p>
        </p:txBody>
      </p:sp>
      <p:sp>
        <p:nvSpPr>
          <p:cNvPr id="17" name="文本框 23"/>
          <p:cNvSpPr txBox="1">
            <a:spLocks noChangeArrowheads="1"/>
          </p:cNvSpPr>
          <p:nvPr/>
        </p:nvSpPr>
        <p:spPr bwMode="auto">
          <a:xfrm>
            <a:off x="6055365" y="3991269"/>
            <a:ext cx="1309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a:t>1×3</a:t>
            </a:r>
            <a:r>
              <a:rPr lang="zh-CN" altLang="en-US" b="1"/>
              <a:t>卷积核</a:t>
            </a:r>
          </a:p>
        </p:txBody>
      </p:sp>
      <p:graphicFrame>
        <p:nvGraphicFramePr>
          <p:cNvPr id="18" name="表格 17"/>
          <p:cNvGraphicFramePr>
            <a:graphicFrameLocks noGrp="1"/>
          </p:cNvGraphicFramePr>
          <p:nvPr>
            <p:extLst>
              <p:ext uri="{D42A27DB-BD31-4B8C-83A1-F6EECF244321}">
                <p14:modId xmlns:p14="http://schemas.microsoft.com/office/powerpoint/2010/main" val="1341051790"/>
              </p:ext>
            </p:extLst>
          </p:nvPr>
        </p:nvGraphicFramePr>
        <p:xfrm>
          <a:off x="9481190" y="3829344"/>
          <a:ext cx="1619250" cy="539750"/>
        </p:xfrm>
        <a:graphic>
          <a:graphicData uri="http://schemas.openxmlformats.org/drawingml/2006/table">
            <a:tbl>
              <a:tblPr firstRow="1" bandRow="1">
                <a:tableStyleId>{5940675A-B579-460E-94D1-54222C63F5DA}</a:tableStyleId>
              </a:tblPr>
              <a:tblGrid>
                <a:gridCol w="539750"/>
                <a:gridCol w="539750"/>
                <a:gridCol w="539750"/>
              </a:tblGrid>
              <a:tr h="539750">
                <a:tc>
                  <a:txBody>
                    <a:bodyPr/>
                    <a:lstStyle/>
                    <a:p>
                      <a:pPr algn="ctr"/>
                      <a:r>
                        <a:rPr lang="en-US" altLang="zh-CN" sz="1800" dirty="0" smtClean="0"/>
                        <a:t>10</a:t>
                      </a:r>
                      <a:endParaRPr lang="zh-CN" altLang="en-US" sz="1800" dirty="0"/>
                    </a:p>
                  </a:txBody>
                  <a:tcPr marL="91398" marR="91398" marT="45699" marB="45699" anchor="ctr"/>
                </a:tc>
                <a:tc>
                  <a:txBody>
                    <a:bodyPr/>
                    <a:lstStyle/>
                    <a:p>
                      <a:pPr algn="ctr"/>
                      <a:r>
                        <a:rPr lang="en-US" altLang="zh-CN" sz="1800" dirty="0" smtClean="0"/>
                        <a:t>5</a:t>
                      </a:r>
                      <a:endParaRPr lang="zh-CN" altLang="en-US" sz="1800" dirty="0"/>
                    </a:p>
                  </a:txBody>
                  <a:tcPr marL="91398" marR="91398" marT="45699" marB="45699" anchor="ctr"/>
                </a:tc>
                <a:tc>
                  <a:txBody>
                    <a:bodyPr/>
                    <a:lstStyle/>
                    <a:p>
                      <a:pPr algn="ctr"/>
                      <a:r>
                        <a:rPr lang="en-US" altLang="zh-CN" sz="1800" dirty="0" smtClean="0"/>
                        <a:t>11</a:t>
                      </a:r>
                      <a:endParaRPr lang="zh-CN" altLang="en-US" sz="1800" dirty="0"/>
                    </a:p>
                  </a:txBody>
                  <a:tcPr marL="91398" marR="91398" marT="45699" marB="45699" anchor="ctr"/>
                </a:tc>
              </a:tr>
            </a:tbl>
          </a:graphicData>
        </a:graphic>
      </p:graphicFrame>
      <p:sp>
        <p:nvSpPr>
          <p:cNvPr id="19" name="文本框 23"/>
          <p:cNvSpPr txBox="1">
            <a:spLocks noChangeArrowheads="1"/>
          </p:cNvSpPr>
          <p:nvPr/>
        </p:nvSpPr>
        <p:spPr bwMode="auto">
          <a:xfrm>
            <a:off x="6312540" y="5096169"/>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输出</a:t>
            </a:r>
          </a:p>
        </p:txBody>
      </p:sp>
      <p:cxnSp>
        <p:nvCxnSpPr>
          <p:cNvPr id="20" name="直接连接符 19"/>
          <p:cNvCxnSpPr/>
          <p:nvPr/>
        </p:nvCxnSpPr>
        <p:spPr>
          <a:xfrm>
            <a:off x="9439915" y="4437357"/>
            <a:ext cx="523875" cy="5635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10513065" y="4429419"/>
            <a:ext cx="611187" cy="563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2" name="表格 21"/>
          <p:cNvGraphicFramePr>
            <a:graphicFrameLocks noGrp="1"/>
          </p:cNvGraphicFramePr>
          <p:nvPr>
            <p:extLst>
              <p:ext uri="{D42A27DB-BD31-4B8C-83A1-F6EECF244321}">
                <p14:modId xmlns:p14="http://schemas.microsoft.com/office/powerpoint/2010/main" val="1148758397"/>
              </p:ext>
            </p:extLst>
          </p:nvPr>
        </p:nvGraphicFramePr>
        <p:xfrm>
          <a:off x="7812727" y="5029494"/>
          <a:ext cx="2700340" cy="539750"/>
        </p:xfrm>
        <a:graphic>
          <a:graphicData uri="http://schemas.openxmlformats.org/drawingml/2006/table">
            <a:tbl>
              <a:tblPr firstRow="1" bandRow="1">
                <a:tableStyleId>{5940675A-B579-460E-94D1-54222C63F5DA}</a:tableStyleId>
              </a:tblPr>
              <a:tblGrid>
                <a:gridCol w="540068"/>
                <a:gridCol w="540068"/>
                <a:gridCol w="540068"/>
                <a:gridCol w="540068"/>
                <a:gridCol w="540068"/>
              </a:tblGrid>
              <a:tr h="539750">
                <a:tc>
                  <a:txBody>
                    <a:bodyPr/>
                    <a:lstStyle/>
                    <a:p>
                      <a:pPr algn="ctr"/>
                      <a:r>
                        <a:rPr lang="en-US" altLang="zh-CN" sz="1800" b="1" dirty="0" smtClean="0"/>
                        <a:t>A</a:t>
                      </a:r>
                      <a:endParaRPr lang="zh-CN" altLang="en-US" sz="1800" b="1" dirty="0"/>
                    </a:p>
                  </a:txBody>
                  <a:tcPr marL="91451" marR="91451" marT="45699" marB="45699" anchor="ctr"/>
                </a:tc>
                <a:tc>
                  <a:txBody>
                    <a:bodyPr/>
                    <a:lstStyle/>
                    <a:p>
                      <a:pPr algn="ctr"/>
                      <a:r>
                        <a:rPr lang="en-US" altLang="zh-CN" sz="1800" b="1" dirty="0" smtClean="0"/>
                        <a:t>B</a:t>
                      </a:r>
                      <a:endParaRPr lang="zh-CN" altLang="en-US" sz="1800" b="1" dirty="0"/>
                    </a:p>
                  </a:txBody>
                  <a:tcPr marL="91451" marR="91451" marT="45699" marB="45699" anchor="ctr"/>
                </a:tc>
                <a:tc>
                  <a:txBody>
                    <a:bodyPr/>
                    <a:lstStyle/>
                    <a:p>
                      <a:pPr algn="ctr"/>
                      <a:r>
                        <a:rPr lang="en-US" altLang="zh-CN" sz="1800" b="1" dirty="0" smtClean="0"/>
                        <a:t>C</a:t>
                      </a:r>
                      <a:endParaRPr lang="zh-CN" altLang="en-US" sz="1800" b="1" dirty="0"/>
                    </a:p>
                  </a:txBody>
                  <a:tcPr marL="91451" marR="91451" marT="45699" marB="45699" anchor="ctr"/>
                </a:tc>
                <a:tc>
                  <a:txBody>
                    <a:bodyPr/>
                    <a:lstStyle/>
                    <a:p>
                      <a:pPr algn="ctr"/>
                      <a:r>
                        <a:rPr lang="en-US" altLang="zh-CN" sz="1800" b="1" dirty="0" smtClean="0"/>
                        <a:t>D</a:t>
                      </a:r>
                      <a:endParaRPr lang="zh-CN" altLang="en-US" sz="1800" b="1" dirty="0"/>
                    </a:p>
                  </a:txBody>
                  <a:tcPr marL="91451" marR="91451" marT="45699" marB="45699" anchor="ctr"/>
                </a:tc>
                <a:tc>
                  <a:txBody>
                    <a:bodyPr/>
                    <a:lstStyle/>
                    <a:p>
                      <a:pPr algn="ctr"/>
                      <a:r>
                        <a:rPr lang="en-US" altLang="zh-CN" sz="1800" b="1" dirty="0" smtClean="0"/>
                        <a:t>E</a:t>
                      </a:r>
                      <a:endParaRPr lang="zh-CN" altLang="en-US" sz="1800" b="1" dirty="0"/>
                    </a:p>
                  </a:txBody>
                  <a:tcPr marL="91451" marR="91451" marT="45699" marB="45699" anchor="ctr"/>
                </a:tc>
              </a:tr>
            </a:tbl>
          </a:graphicData>
        </a:graphic>
      </p:graphicFrame>
      <p:sp>
        <p:nvSpPr>
          <p:cNvPr id="23" name="右箭头 22"/>
          <p:cNvSpPr/>
          <p:nvPr/>
        </p:nvSpPr>
        <p:spPr>
          <a:xfrm>
            <a:off x="9006527" y="4697707"/>
            <a:ext cx="541338" cy="4445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 name="矩形 23"/>
          <p:cNvSpPr/>
          <p:nvPr/>
        </p:nvSpPr>
        <p:spPr>
          <a:xfrm>
            <a:off x="9439915" y="3111794"/>
            <a:ext cx="1692275" cy="611188"/>
          </a:xfrm>
          <a:prstGeom prst="rect">
            <a:avLst/>
          </a:prstGeom>
          <a:solidFill>
            <a:schemeClr val="lt1">
              <a:alpha val="0"/>
            </a:schemeClr>
          </a:solidFill>
          <a:ln w="31750"/>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sp>
        <p:nvSpPr>
          <p:cNvPr id="25" name="右箭头 24"/>
          <p:cNvSpPr/>
          <p:nvPr/>
        </p:nvSpPr>
        <p:spPr>
          <a:xfrm>
            <a:off x="9744715" y="3029244"/>
            <a:ext cx="541337" cy="4445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27" name="直接连接符 26"/>
          <p:cNvCxnSpPr/>
          <p:nvPr/>
        </p:nvCxnSpPr>
        <p:spPr>
          <a:xfrm>
            <a:off x="6055365" y="2714920"/>
            <a:ext cx="0" cy="324282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7606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步长</a:t>
            </a:r>
          </a:p>
        </p:txBody>
      </p:sp>
      <p:sp>
        <p:nvSpPr>
          <p:cNvPr id="3" name="内容占位符 2"/>
          <p:cNvSpPr>
            <a:spLocks noGrp="1"/>
          </p:cNvSpPr>
          <p:nvPr>
            <p:ph sz="quarter" idx="13"/>
          </p:nvPr>
        </p:nvSpPr>
        <p:spPr/>
        <p:txBody>
          <a:bodyPr/>
          <a:lstStyle/>
          <a:p>
            <a:r>
              <a:rPr lang="zh-CN" altLang="en-US" dirty="0" smtClean="0"/>
              <a:t>现在我们定义步长为</a:t>
            </a:r>
            <a:r>
              <a:rPr lang="en-US" altLang="zh-CN" dirty="0" smtClean="0"/>
              <a:t>2</a:t>
            </a:r>
            <a:r>
              <a:rPr lang="zh-CN" altLang="en-US" dirty="0" smtClean="0"/>
              <a:t>。使用同样的输入向量和卷积核计算。</a:t>
            </a:r>
            <a:endParaRPr lang="en-US" altLang="zh-CN" dirty="0" smtClean="0"/>
          </a:p>
          <a:p>
            <a:r>
              <a:rPr lang="zh-CN" altLang="en-US" dirty="0" smtClean="0"/>
              <a:t>最终得到一个大小为</a:t>
            </a:r>
            <a:r>
              <a:rPr lang="en-US" altLang="zh-CN" dirty="0" smtClean="0"/>
              <a:t>(1,3</a:t>
            </a:r>
            <a:r>
              <a:rPr lang="en-US" altLang="zh-CN" dirty="0"/>
              <a:t>) </a:t>
            </a:r>
            <a:r>
              <a:rPr lang="zh-CN" altLang="en-US" dirty="0"/>
              <a:t>的</a:t>
            </a:r>
            <a:r>
              <a:rPr lang="zh-CN" altLang="en-US" dirty="0" smtClean="0"/>
              <a:t>向量</a:t>
            </a:r>
            <a:r>
              <a:rPr lang="zh-CN" altLang="en-US" dirty="0"/>
              <a:t>。</a:t>
            </a:r>
            <a:endParaRPr lang="en-US" altLang="zh-CN" dirty="0" smtClean="0"/>
          </a:p>
        </p:txBody>
      </p:sp>
      <p:graphicFrame>
        <p:nvGraphicFramePr>
          <p:cNvPr id="4" name="表格 3"/>
          <p:cNvGraphicFramePr>
            <a:graphicFrameLocks noGrp="1"/>
          </p:cNvGraphicFramePr>
          <p:nvPr>
            <p:extLst>
              <p:ext uri="{D42A27DB-BD31-4B8C-83A1-F6EECF244321}">
                <p14:modId xmlns:p14="http://schemas.microsoft.com/office/powerpoint/2010/main" val="2747789837"/>
              </p:ext>
            </p:extLst>
          </p:nvPr>
        </p:nvGraphicFramePr>
        <p:xfrm>
          <a:off x="7359901" y="3120124"/>
          <a:ext cx="3781428" cy="539750"/>
        </p:xfrm>
        <a:graphic>
          <a:graphicData uri="http://schemas.openxmlformats.org/drawingml/2006/table">
            <a:tbl>
              <a:tblPr firstRow="1" bandRow="1">
                <a:tableStyleId>{5940675A-B579-460E-94D1-54222C63F5DA}</a:tableStyleId>
              </a:tblPr>
              <a:tblGrid>
                <a:gridCol w="540204"/>
                <a:gridCol w="540204"/>
                <a:gridCol w="540204"/>
                <a:gridCol w="540204"/>
                <a:gridCol w="540204"/>
                <a:gridCol w="540204"/>
                <a:gridCol w="540204"/>
              </a:tblGrid>
              <a:tr h="539750">
                <a:tc>
                  <a:txBody>
                    <a:bodyPr/>
                    <a:lstStyle/>
                    <a:p>
                      <a:pPr algn="ctr"/>
                      <a:r>
                        <a:rPr lang="en-US" altLang="zh-CN" sz="1800" dirty="0" smtClean="0"/>
                        <a:t>5</a:t>
                      </a:r>
                      <a:endParaRPr lang="zh-CN" altLang="en-US" sz="1800" dirty="0"/>
                    </a:p>
                  </a:txBody>
                  <a:tcPr marL="91474" marR="91474" marT="45699" marB="45699" anchor="ctr"/>
                </a:tc>
                <a:tc>
                  <a:txBody>
                    <a:bodyPr/>
                    <a:lstStyle/>
                    <a:p>
                      <a:pPr algn="ctr"/>
                      <a:r>
                        <a:rPr lang="en-US" altLang="zh-CN" sz="1800" dirty="0" smtClean="0"/>
                        <a:t>2</a:t>
                      </a:r>
                      <a:endParaRPr lang="zh-CN" altLang="en-US" sz="1800" dirty="0"/>
                    </a:p>
                  </a:txBody>
                  <a:tcPr marL="91474" marR="91474" marT="45699" marB="45699" anchor="ctr"/>
                </a:tc>
                <a:tc>
                  <a:txBody>
                    <a:bodyPr/>
                    <a:lstStyle/>
                    <a:p>
                      <a:pPr algn="ctr"/>
                      <a:r>
                        <a:rPr lang="en-US" altLang="zh-CN" sz="1800" dirty="0" smtClean="0"/>
                        <a:t>6</a:t>
                      </a:r>
                      <a:endParaRPr lang="zh-CN" altLang="en-US" sz="1800" dirty="0"/>
                    </a:p>
                  </a:txBody>
                  <a:tcPr marL="91474" marR="91474" marT="45699" marB="45699" anchor="ctr"/>
                </a:tc>
                <a:tc>
                  <a:txBody>
                    <a:bodyPr/>
                    <a:lstStyle/>
                    <a:p>
                      <a:pPr algn="ctr"/>
                      <a:r>
                        <a:rPr lang="en-US" altLang="zh-CN" sz="1800" dirty="0" smtClean="0"/>
                        <a:t>10</a:t>
                      </a:r>
                      <a:endParaRPr lang="zh-CN" altLang="en-US" sz="1800" dirty="0"/>
                    </a:p>
                  </a:txBody>
                  <a:tcPr marL="91474" marR="91474" marT="45699" marB="45699" anchor="ctr"/>
                </a:tc>
                <a:tc>
                  <a:txBody>
                    <a:bodyPr/>
                    <a:lstStyle/>
                    <a:p>
                      <a:pPr algn="ctr"/>
                      <a:r>
                        <a:rPr lang="en-US" altLang="zh-CN" sz="1800" dirty="0" smtClean="0"/>
                        <a:t>7</a:t>
                      </a:r>
                      <a:endParaRPr lang="zh-CN" altLang="en-US" sz="1800" dirty="0"/>
                    </a:p>
                  </a:txBody>
                  <a:tcPr marL="91474" marR="91474" marT="45699" marB="45699" anchor="ctr"/>
                </a:tc>
                <a:tc>
                  <a:txBody>
                    <a:bodyPr/>
                    <a:lstStyle/>
                    <a:p>
                      <a:pPr algn="ctr"/>
                      <a:r>
                        <a:rPr lang="en-US" altLang="zh-CN" sz="1800" dirty="0" smtClean="0"/>
                        <a:t>12</a:t>
                      </a:r>
                      <a:endParaRPr lang="zh-CN" altLang="en-US" sz="1800" dirty="0"/>
                    </a:p>
                  </a:txBody>
                  <a:tcPr marL="91474" marR="91474" marT="45699" marB="45699" anchor="ctr"/>
                </a:tc>
                <a:tc>
                  <a:txBody>
                    <a:bodyPr/>
                    <a:lstStyle/>
                    <a:p>
                      <a:pPr algn="ctr"/>
                      <a:r>
                        <a:rPr lang="en-US" altLang="zh-CN" sz="1800" dirty="0" smtClean="0"/>
                        <a:t>8</a:t>
                      </a:r>
                      <a:endParaRPr lang="zh-CN" altLang="en-US" sz="1800" dirty="0"/>
                    </a:p>
                  </a:txBody>
                  <a:tcPr marL="91474" marR="91474" marT="45699" marB="45699" anchor="ctr"/>
                </a:tc>
              </a:tr>
            </a:tbl>
          </a:graphicData>
        </a:graphic>
      </p:graphicFrame>
      <p:sp>
        <p:nvSpPr>
          <p:cNvPr id="5" name="文本框 23"/>
          <p:cNvSpPr txBox="1">
            <a:spLocks noChangeArrowheads="1"/>
          </p:cNvSpPr>
          <p:nvPr/>
        </p:nvSpPr>
        <p:spPr bwMode="auto">
          <a:xfrm>
            <a:off x="6350251" y="3231249"/>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输入</a:t>
            </a:r>
          </a:p>
        </p:txBody>
      </p:sp>
      <p:sp>
        <p:nvSpPr>
          <p:cNvPr id="6" name="文本框 23"/>
          <p:cNvSpPr txBox="1">
            <a:spLocks noChangeArrowheads="1"/>
          </p:cNvSpPr>
          <p:nvPr/>
        </p:nvSpPr>
        <p:spPr bwMode="auto">
          <a:xfrm>
            <a:off x="6093076" y="3953561"/>
            <a:ext cx="1309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a:t>1×3</a:t>
            </a:r>
            <a:r>
              <a:rPr lang="zh-CN" altLang="en-US" b="1"/>
              <a:t>卷积核</a:t>
            </a:r>
          </a:p>
        </p:txBody>
      </p:sp>
      <p:graphicFrame>
        <p:nvGraphicFramePr>
          <p:cNvPr id="7" name="表格 6"/>
          <p:cNvGraphicFramePr>
            <a:graphicFrameLocks noGrp="1"/>
          </p:cNvGraphicFramePr>
          <p:nvPr>
            <p:extLst>
              <p:ext uri="{D42A27DB-BD31-4B8C-83A1-F6EECF244321}">
                <p14:modId xmlns:p14="http://schemas.microsoft.com/office/powerpoint/2010/main" val="2204525314"/>
              </p:ext>
            </p:extLst>
          </p:nvPr>
        </p:nvGraphicFramePr>
        <p:xfrm>
          <a:off x="8439401" y="3791636"/>
          <a:ext cx="1620837" cy="539750"/>
        </p:xfrm>
        <a:graphic>
          <a:graphicData uri="http://schemas.openxmlformats.org/drawingml/2006/table">
            <a:tbl>
              <a:tblPr firstRow="1" bandRow="1">
                <a:tableStyleId>{5940675A-B579-460E-94D1-54222C63F5DA}</a:tableStyleId>
              </a:tblPr>
              <a:tblGrid>
                <a:gridCol w="540279"/>
                <a:gridCol w="540279"/>
                <a:gridCol w="540279"/>
              </a:tblGrid>
              <a:tr h="539750">
                <a:tc>
                  <a:txBody>
                    <a:bodyPr/>
                    <a:lstStyle/>
                    <a:p>
                      <a:pPr algn="ctr"/>
                      <a:r>
                        <a:rPr lang="en-US" altLang="zh-CN" sz="1800" dirty="0" smtClean="0"/>
                        <a:t>10</a:t>
                      </a:r>
                      <a:endParaRPr lang="zh-CN" altLang="en-US" sz="1800" dirty="0"/>
                    </a:p>
                  </a:txBody>
                  <a:tcPr marL="91487" marR="91487" marT="45699" marB="45699" anchor="ctr"/>
                </a:tc>
                <a:tc>
                  <a:txBody>
                    <a:bodyPr/>
                    <a:lstStyle/>
                    <a:p>
                      <a:pPr algn="ctr"/>
                      <a:r>
                        <a:rPr lang="en-US" altLang="zh-CN" sz="1800" dirty="0" smtClean="0"/>
                        <a:t>5</a:t>
                      </a:r>
                      <a:endParaRPr lang="zh-CN" altLang="en-US" sz="1800" dirty="0"/>
                    </a:p>
                  </a:txBody>
                  <a:tcPr marL="91487" marR="91487" marT="45699" marB="45699" anchor="ctr"/>
                </a:tc>
                <a:tc>
                  <a:txBody>
                    <a:bodyPr/>
                    <a:lstStyle/>
                    <a:p>
                      <a:pPr algn="ctr"/>
                      <a:r>
                        <a:rPr lang="en-US" altLang="zh-CN" sz="1800" dirty="0" smtClean="0"/>
                        <a:t>11</a:t>
                      </a:r>
                      <a:endParaRPr lang="zh-CN" altLang="en-US" sz="1800" dirty="0"/>
                    </a:p>
                  </a:txBody>
                  <a:tcPr marL="91487" marR="91487" marT="45699" marB="45699" anchor="ctr"/>
                </a:tc>
              </a:tr>
            </a:tbl>
          </a:graphicData>
        </a:graphic>
      </p:graphicFrame>
      <p:sp>
        <p:nvSpPr>
          <p:cNvPr id="8" name="文本框 23"/>
          <p:cNvSpPr txBox="1">
            <a:spLocks noChangeArrowheads="1"/>
          </p:cNvSpPr>
          <p:nvPr/>
        </p:nvSpPr>
        <p:spPr bwMode="auto">
          <a:xfrm>
            <a:off x="6350251" y="5058461"/>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输出</a:t>
            </a:r>
          </a:p>
        </p:txBody>
      </p:sp>
      <p:cxnSp>
        <p:nvCxnSpPr>
          <p:cNvPr id="9" name="直接连接符 8"/>
          <p:cNvCxnSpPr/>
          <p:nvPr/>
        </p:nvCxnSpPr>
        <p:spPr>
          <a:xfrm>
            <a:off x="8399713" y="4399649"/>
            <a:ext cx="523875" cy="5635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9472863" y="4391711"/>
            <a:ext cx="611188" cy="563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表格 10"/>
          <p:cNvGraphicFramePr>
            <a:graphicFrameLocks noGrp="1"/>
          </p:cNvGraphicFramePr>
          <p:nvPr>
            <p:extLst>
              <p:ext uri="{D42A27DB-BD31-4B8C-83A1-F6EECF244321}">
                <p14:modId xmlns:p14="http://schemas.microsoft.com/office/powerpoint/2010/main" val="3617446397"/>
              </p:ext>
            </p:extLst>
          </p:nvPr>
        </p:nvGraphicFramePr>
        <p:xfrm>
          <a:off x="8391776" y="4991786"/>
          <a:ext cx="1620837" cy="539750"/>
        </p:xfrm>
        <a:graphic>
          <a:graphicData uri="http://schemas.openxmlformats.org/drawingml/2006/table">
            <a:tbl>
              <a:tblPr firstRow="1" bandRow="1">
                <a:tableStyleId>{5940675A-B579-460E-94D1-54222C63F5DA}</a:tableStyleId>
              </a:tblPr>
              <a:tblGrid>
                <a:gridCol w="540279"/>
                <a:gridCol w="540279"/>
                <a:gridCol w="540279"/>
              </a:tblGrid>
              <a:tr h="539750">
                <a:tc>
                  <a:txBody>
                    <a:bodyPr/>
                    <a:lstStyle/>
                    <a:p>
                      <a:pPr algn="ctr"/>
                      <a:r>
                        <a:rPr lang="en-US" altLang="zh-CN" sz="1800" b="1" dirty="0" smtClean="0"/>
                        <a:t>A</a:t>
                      </a:r>
                      <a:endParaRPr lang="zh-CN" altLang="en-US" sz="1800" b="1" dirty="0"/>
                    </a:p>
                  </a:txBody>
                  <a:tcPr marL="91487" marR="91487" marT="45699" marB="45699" anchor="ctr"/>
                </a:tc>
                <a:tc>
                  <a:txBody>
                    <a:bodyPr/>
                    <a:lstStyle/>
                    <a:p>
                      <a:pPr algn="ctr"/>
                      <a:r>
                        <a:rPr lang="en-US" altLang="zh-CN" sz="1800" b="1" dirty="0" smtClean="0"/>
                        <a:t>B</a:t>
                      </a:r>
                      <a:endParaRPr lang="zh-CN" altLang="en-US" sz="1800" b="1" dirty="0"/>
                    </a:p>
                  </a:txBody>
                  <a:tcPr marL="91487" marR="91487" marT="45699" marB="45699" anchor="ctr">
                    <a:lnR w="12700" cap="flat" cmpd="sng" algn="ctr">
                      <a:solidFill>
                        <a:schemeClr val="tx1"/>
                      </a:solidFill>
                      <a:prstDash val="solid"/>
                      <a:round/>
                      <a:headEnd type="none" w="med" len="med"/>
                      <a:tailEnd type="none" w="med" len="med"/>
                    </a:lnR>
                  </a:tcPr>
                </a:tc>
                <a:tc>
                  <a:txBody>
                    <a:bodyPr/>
                    <a:lstStyle/>
                    <a:p>
                      <a:pPr algn="ctr"/>
                      <a:r>
                        <a:rPr lang="en-US" altLang="zh-CN" sz="1800" b="1" dirty="0" smtClean="0"/>
                        <a:t>C</a:t>
                      </a:r>
                      <a:endParaRPr lang="zh-CN" altLang="en-US" sz="1800" b="1" dirty="0"/>
                    </a:p>
                  </a:txBody>
                  <a:tcPr marL="91487" marR="91487" marT="45699" marB="45699" anchor="ct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r>
            </a:tbl>
          </a:graphicData>
        </a:graphic>
      </p:graphicFrame>
      <p:sp>
        <p:nvSpPr>
          <p:cNvPr id="12" name="矩形 11"/>
          <p:cNvSpPr/>
          <p:nvPr/>
        </p:nvSpPr>
        <p:spPr>
          <a:xfrm>
            <a:off x="8399713" y="3082024"/>
            <a:ext cx="1692275" cy="612775"/>
          </a:xfrm>
          <a:prstGeom prst="rect">
            <a:avLst/>
          </a:prstGeom>
          <a:solidFill>
            <a:schemeClr val="lt1">
              <a:alpha val="0"/>
            </a:schemeClr>
          </a:solidFill>
          <a:ln w="31750"/>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sp>
        <p:nvSpPr>
          <p:cNvPr id="13" name="右箭头 12"/>
          <p:cNvSpPr/>
          <p:nvPr/>
        </p:nvSpPr>
        <p:spPr>
          <a:xfrm flipV="1">
            <a:off x="8123488" y="3013761"/>
            <a:ext cx="1122363" cy="46038"/>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14" name="表格 13"/>
          <p:cNvGraphicFramePr>
            <a:graphicFrameLocks noGrp="1"/>
          </p:cNvGraphicFramePr>
          <p:nvPr>
            <p:extLst>
              <p:ext uri="{D42A27DB-BD31-4B8C-83A1-F6EECF244321}">
                <p14:modId xmlns:p14="http://schemas.microsoft.com/office/powerpoint/2010/main" val="1427021662"/>
              </p:ext>
            </p:extLst>
          </p:nvPr>
        </p:nvGraphicFramePr>
        <p:xfrm>
          <a:off x="2162426" y="3083611"/>
          <a:ext cx="3779839" cy="539750"/>
        </p:xfrm>
        <a:graphic>
          <a:graphicData uri="http://schemas.openxmlformats.org/drawingml/2006/table">
            <a:tbl>
              <a:tblPr firstRow="1" bandRow="1">
                <a:tableStyleId>{5940675A-B579-460E-94D1-54222C63F5DA}</a:tableStyleId>
              </a:tblPr>
              <a:tblGrid>
                <a:gridCol w="539977"/>
                <a:gridCol w="539977"/>
                <a:gridCol w="539977"/>
                <a:gridCol w="539977"/>
                <a:gridCol w="539977"/>
                <a:gridCol w="539977"/>
                <a:gridCol w="539977"/>
              </a:tblGrid>
              <a:tr h="539750">
                <a:tc>
                  <a:txBody>
                    <a:bodyPr/>
                    <a:lstStyle/>
                    <a:p>
                      <a:pPr algn="ctr"/>
                      <a:r>
                        <a:rPr lang="en-US" altLang="zh-CN" sz="1800" dirty="0" smtClean="0"/>
                        <a:t>5</a:t>
                      </a:r>
                      <a:endParaRPr lang="zh-CN" altLang="en-US" sz="1800" dirty="0"/>
                    </a:p>
                  </a:txBody>
                  <a:tcPr marL="91436" marR="91436" marT="45699" marB="45699" anchor="ctr"/>
                </a:tc>
                <a:tc>
                  <a:txBody>
                    <a:bodyPr/>
                    <a:lstStyle/>
                    <a:p>
                      <a:pPr algn="ctr"/>
                      <a:r>
                        <a:rPr lang="en-US" altLang="zh-CN" sz="1800" dirty="0" smtClean="0"/>
                        <a:t>2</a:t>
                      </a:r>
                      <a:endParaRPr lang="zh-CN" altLang="en-US" sz="1800" dirty="0"/>
                    </a:p>
                  </a:txBody>
                  <a:tcPr marL="91436" marR="91436" marT="45699" marB="45699" anchor="ctr"/>
                </a:tc>
                <a:tc>
                  <a:txBody>
                    <a:bodyPr/>
                    <a:lstStyle/>
                    <a:p>
                      <a:pPr algn="ctr"/>
                      <a:r>
                        <a:rPr lang="en-US" altLang="zh-CN" sz="1800" dirty="0" smtClean="0"/>
                        <a:t>6</a:t>
                      </a:r>
                      <a:endParaRPr lang="zh-CN" altLang="en-US" sz="1800" dirty="0"/>
                    </a:p>
                  </a:txBody>
                  <a:tcPr marL="91436" marR="91436" marT="45699" marB="45699" anchor="ctr"/>
                </a:tc>
                <a:tc>
                  <a:txBody>
                    <a:bodyPr/>
                    <a:lstStyle/>
                    <a:p>
                      <a:pPr algn="ctr"/>
                      <a:r>
                        <a:rPr lang="en-US" altLang="zh-CN" sz="1800" dirty="0" smtClean="0"/>
                        <a:t>10</a:t>
                      </a:r>
                      <a:endParaRPr lang="zh-CN" altLang="en-US" sz="1800" dirty="0"/>
                    </a:p>
                  </a:txBody>
                  <a:tcPr marL="91436" marR="91436" marT="45699" marB="45699" anchor="ctr"/>
                </a:tc>
                <a:tc>
                  <a:txBody>
                    <a:bodyPr/>
                    <a:lstStyle/>
                    <a:p>
                      <a:pPr algn="ctr"/>
                      <a:r>
                        <a:rPr lang="en-US" altLang="zh-CN" sz="1800" dirty="0" smtClean="0"/>
                        <a:t>7</a:t>
                      </a:r>
                      <a:endParaRPr lang="zh-CN" altLang="en-US" sz="1800" dirty="0"/>
                    </a:p>
                  </a:txBody>
                  <a:tcPr marL="91436" marR="91436" marT="45699" marB="45699" anchor="ctr"/>
                </a:tc>
                <a:tc>
                  <a:txBody>
                    <a:bodyPr/>
                    <a:lstStyle/>
                    <a:p>
                      <a:pPr algn="ctr"/>
                      <a:r>
                        <a:rPr lang="en-US" altLang="zh-CN" sz="1800" dirty="0" smtClean="0"/>
                        <a:t>12</a:t>
                      </a:r>
                      <a:endParaRPr lang="zh-CN" altLang="en-US" sz="1800" dirty="0"/>
                    </a:p>
                  </a:txBody>
                  <a:tcPr marL="91436" marR="91436" marT="45699" marB="45699" anchor="ctr"/>
                </a:tc>
                <a:tc>
                  <a:txBody>
                    <a:bodyPr/>
                    <a:lstStyle/>
                    <a:p>
                      <a:pPr algn="ctr"/>
                      <a:r>
                        <a:rPr lang="en-US" altLang="zh-CN" sz="1800" dirty="0" smtClean="0"/>
                        <a:t>8</a:t>
                      </a:r>
                      <a:endParaRPr lang="zh-CN" altLang="en-US" sz="1800" dirty="0"/>
                    </a:p>
                  </a:txBody>
                  <a:tcPr marL="91436" marR="91436" marT="45699" marB="45699" anchor="ctr"/>
                </a:tc>
              </a:tr>
            </a:tbl>
          </a:graphicData>
        </a:graphic>
      </p:graphicFrame>
      <p:sp>
        <p:nvSpPr>
          <p:cNvPr id="15" name="文本框 23"/>
          <p:cNvSpPr txBox="1">
            <a:spLocks noChangeArrowheads="1"/>
          </p:cNvSpPr>
          <p:nvPr/>
        </p:nvSpPr>
        <p:spPr bwMode="auto">
          <a:xfrm>
            <a:off x="1151188" y="3194736"/>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输入</a:t>
            </a:r>
          </a:p>
        </p:txBody>
      </p:sp>
      <p:sp>
        <p:nvSpPr>
          <p:cNvPr id="16" name="文本框 23"/>
          <p:cNvSpPr txBox="1">
            <a:spLocks noChangeArrowheads="1"/>
          </p:cNvSpPr>
          <p:nvPr/>
        </p:nvSpPr>
        <p:spPr bwMode="auto">
          <a:xfrm>
            <a:off x="894013" y="3917049"/>
            <a:ext cx="1309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a:t>1×3</a:t>
            </a:r>
            <a:r>
              <a:rPr lang="zh-CN" altLang="en-US" b="1"/>
              <a:t>卷积核</a:t>
            </a:r>
          </a:p>
        </p:txBody>
      </p:sp>
      <p:graphicFrame>
        <p:nvGraphicFramePr>
          <p:cNvPr id="17" name="表格 16"/>
          <p:cNvGraphicFramePr>
            <a:graphicFrameLocks noGrp="1"/>
          </p:cNvGraphicFramePr>
          <p:nvPr>
            <p:extLst>
              <p:ext uri="{D42A27DB-BD31-4B8C-83A1-F6EECF244321}">
                <p14:modId xmlns:p14="http://schemas.microsoft.com/office/powerpoint/2010/main" val="323265365"/>
              </p:ext>
            </p:extLst>
          </p:nvPr>
        </p:nvGraphicFramePr>
        <p:xfrm>
          <a:off x="2167188" y="3801161"/>
          <a:ext cx="1620837" cy="539750"/>
        </p:xfrm>
        <a:graphic>
          <a:graphicData uri="http://schemas.openxmlformats.org/drawingml/2006/table">
            <a:tbl>
              <a:tblPr firstRow="1" bandRow="1">
                <a:tableStyleId>{5940675A-B579-460E-94D1-54222C63F5DA}</a:tableStyleId>
              </a:tblPr>
              <a:tblGrid>
                <a:gridCol w="540279"/>
                <a:gridCol w="540279"/>
                <a:gridCol w="540279"/>
              </a:tblGrid>
              <a:tr h="539750">
                <a:tc>
                  <a:txBody>
                    <a:bodyPr/>
                    <a:lstStyle/>
                    <a:p>
                      <a:pPr algn="ctr"/>
                      <a:r>
                        <a:rPr lang="en-US" altLang="zh-CN" sz="1800" dirty="0" smtClean="0"/>
                        <a:t>10</a:t>
                      </a:r>
                      <a:endParaRPr lang="zh-CN" altLang="en-US" sz="1800" dirty="0"/>
                    </a:p>
                  </a:txBody>
                  <a:tcPr marL="91487" marR="91487" marT="45699" marB="45699" anchor="ctr"/>
                </a:tc>
                <a:tc>
                  <a:txBody>
                    <a:bodyPr/>
                    <a:lstStyle/>
                    <a:p>
                      <a:pPr algn="ctr"/>
                      <a:r>
                        <a:rPr lang="en-US" altLang="zh-CN" sz="1800" dirty="0" smtClean="0"/>
                        <a:t>5</a:t>
                      </a:r>
                      <a:endParaRPr lang="zh-CN" altLang="en-US" sz="1800" dirty="0"/>
                    </a:p>
                  </a:txBody>
                  <a:tcPr marL="91487" marR="91487" marT="45699" marB="45699" anchor="ctr"/>
                </a:tc>
                <a:tc>
                  <a:txBody>
                    <a:bodyPr/>
                    <a:lstStyle/>
                    <a:p>
                      <a:pPr algn="ctr"/>
                      <a:r>
                        <a:rPr lang="en-US" altLang="zh-CN" sz="1800" dirty="0" smtClean="0"/>
                        <a:t>11</a:t>
                      </a:r>
                      <a:endParaRPr lang="zh-CN" altLang="en-US" sz="1800" dirty="0"/>
                    </a:p>
                  </a:txBody>
                  <a:tcPr marL="91487" marR="91487" marT="45699" marB="45699" anchor="ctr"/>
                </a:tc>
              </a:tr>
            </a:tbl>
          </a:graphicData>
        </a:graphic>
      </p:graphicFrame>
      <p:sp>
        <p:nvSpPr>
          <p:cNvPr id="18" name="文本框 23"/>
          <p:cNvSpPr txBox="1">
            <a:spLocks noChangeArrowheads="1"/>
          </p:cNvSpPr>
          <p:nvPr/>
        </p:nvSpPr>
        <p:spPr bwMode="auto">
          <a:xfrm>
            <a:off x="1151188" y="5021949"/>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输出</a:t>
            </a:r>
          </a:p>
        </p:txBody>
      </p:sp>
      <p:graphicFrame>
        <p:nvGraphicFramePr>
          <p:cNvPr id="19" name="表格 18"/>
          <p:cNvGraphicFramePr>
            <a:graphicFrameLocks noGrp="1"/>
          </p:cNvGraphicFramePr>
          <p:nvPr>
            <p:extLst>
              <p:ext uri="{D42A27DB-BD31-4B8C-83A1-F6EECF244321}">
                <p14:modId xmlns:p14="http://schemas.microsoft.com/office/powerpoint/2010/main" val="2360264977"/>
              </p:ext>
            </p:extLst>
          </p:nvPr>
        </p:nvGraphicFramePr>
        <p:xfrm>
          <a:off x="2651376" y="4998136"/>
          <a:ext cx="539750" cy="541338"/>
        </p:xfrm>
        <a:graphic>
          <a:graphicData uri="http://schemas.openxmlformats.org/drawingml/2006/table">
            <a:tbl>
              <a:tblPr firstRow="1" bandRow="1">
                <a:tableStyleId>{5940675A-B579-460E-94D1-54222C63F5DA}</a:tableStyleId>
              </a:tblPr>
              <a:tblGrid>
                <a:gridCol w="539750"/>
              </a:tblGrid>
              <a:tr h="541338">
                <a:tc>
                  <a:txBody>
                    <a:bodyPr/>
                    <a:lstStyle/>
                    <a:p>
                      <a:pPr algn="ctr"/>
                      <a:r>
                        <a:rPr lang="en-US" altLang="zh-CN" sz="1800" b="1" dirty="0" smtClean="0"/>
                        <a:t>A</a:t>
                      </a:r>
                      <a:endParaRPr lang="zh-CN" altLang="en-US" sz="1800" b="1" dirty="0"/>
                    </a:p>
                  </a:txBody>
                  <a:tcPr marL="91398" marR="91398" marT="45833" marB="45833" anchor="ctr"/>
                </a:tc>
              </a:tr>
            </a:tbl>
          </a:graphicData>
        </a:graphic>
      </p:graphicFrame>
      <p:sp>
        <p:nvSpPr>
          <p:cNvPr id="20" name="矩形 19"/>
          <p:cNvSpPr/>
          <p:nvPr/>
        </p:nvSpPr>
        <p:spPr>
          <a:xfrm>
            <a:off x="2113213" y="3043924"/>
            <a:ext cx="1692275" cy="611187"/>
          </a:xfrm>
          <a:prstGeom prst="rect">
            <a:avLst/>
          </a:prstGeom>
          <a:solidFill>
            <a:schemeClr val="lt1">
              <a:alpha val="0"/>
            </a:schemeClr>
          </a:solidFill>
          <a:ln w="31750"/>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cxnSp>
        <p:nvCxnSpPr>
          <p:cNvPr id="21" name="直接连接符 20"/>
          <p:cNvCxnSpPr/>
          <p:nvPr/>
        </p:nvCxnSpPr>
        <p:spPr>
          <a:xfrm>
            <a:off x="2178301" y="4363136"/>
            <a:ext cx="522287" cy="563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3173663" y="4363136"/>
            <a:ext cx="611188" cy="563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右箭头 22"/>
          <p:cNvSpPr/>
          <p:nvPr/>
        </p:nvSpPr>
        <p:spPr>
          <a:xfrm flipV="1">
            <a:off x="8075863" y="4658411"/>
            <a:ext cx="1122363" cy="46038"/>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 name="矩形 23"/>
          <p:cNvSpPr/>
          <p:nvPr/>
        </p:nvSpPr>
        <p:spPr>
          <a:xfrm>
            <a:off x="9474451" y="3082024"/>
            <a:ext cx="1692275" cy="612775"/>
          </a:xfrm>
          <a:prstGeom prst="rect">
            <a:avLst/>
          </a:prstGeom>
          <a:solidFill>
            <a:schemeClr val="lt1">
              <a:alpha val="0"/>
            </a:schemeClr>
          </a:solidFill>
          <a:ln w="31750">
            <a:solidFill>
              <a:schemeClr val="tx1"/>
            </a:solidFill>
            <a:prstDash val="sysDot"/>
          </a:ln>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spTree>
    <p:extLst>
      <p:ext uri="{BB962C8B-B14F-4D97-AF65-F5344CB8AC3E}">
        <p14:creationId xmlns:p14="http://schemas.microsoft.com/office/powerpoint/2010/main" val="3805904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填充</a:t>
            </a:r>
            <a:endParaRPr lang="zh-CN" altLang="en-US" dirty="0"/>
          </a:p>
        </p:txBody>
      </p:sp>
      <p:sp>
        <p:nvSpPr>
          <p:cNvPr id="3" name="内容占位符 2"/>
          <p:cNvSpPr>
            <a:spLocks noGrp="1"/>
          </p:cNvSpPr>
          <p:nvPr>
            <p:ph sz="quarter" idx="13"/>
          </p:nvPr>
        </p:nvSpPr>
        <p:spPr/>
        <p:txBody>
          <a:bodyPr/>
          <a:lstStyle/>
          <a:p>
            <a:r>
              <a:rPr lang="zh-CN" altLang="en-US" dirty="0" smtClean="0"/>
              <a:t>填充（</a:t>
            </a:r>
            <a:r>
              <a:rPr lang="en-US" altLang="zh-CN" dirty="0" smtClean="0"/>
              <a:t>padding</a:t>
            </a:r>
            <a:r>
              <a:rPr lang="zh-CN" altLang="en-US" dirty="0" smtClean="0"/>
              <a:t>）是卷积计算中另一个重要的概念：</a:t>
            </a:r>
            <a:endParaRPr lang="en-US" altLang="zh-CN" dirty="0"/>
          </a:p>
          <a:p>
            <a:pPr lvl="1"/>
            <a:r>
              <a:rPr lang="zh-CN" altLang="en-US" dirty="0" smtClean="0"/>
              <a:t>表示向输入特征图的周围填入固定的数据（比如</a:t>
            </a:r>
            <a:r>
              <a:rPr lang="en-US" altLang="zh-CN" dirty="0" smtClean="0"/>
              <a:t>0</a:t>
            </a:r>
            <a:r>
              <a:rPr lang="zh-CN" altLang="en-US" dirty="0" smtClean="0"/>
              <a:t>）</a:t>
            </a:r>
            <a:endParaRPr lang="en-US" altLang="zh-CN" dirty="0" smtClean="0"/>
          </a:p>
          <a:p>
            <a:r>
              <a:rPr lang="zh-CN" altLang="en-US" dirty="0" smtClean="0"/>
              <a:t>使用填充可以调整输出特征图的大小。</a:t>
            </a:r>
            <a:endParaRPr lang="en-US" altLang="zh-CN" dirty="0" smtClean="0"/>
          </a:p>
          <a:p>
            <a:r>
              <a:rPr lang="zh-CN" altLang="en-US" dirty="0" smtClean="0"/>
              <a:t>不使用填充，反复卷积计算后会导致特征图尺寸</a:t>
            </a:r>
            <a:r>
              <a:rPr lang="zh-CN" altLang="en-US" dirty="0"/>
              <a:t>越来越小</a:t>
            </a:r>
            <a:r>
              <a:rPr lang="zh-CN" altLang="en-US" dirty="0" smtClean="0"/>
              <a:t>。</a:t>
            </a:r>
            <a:endParaRPr lang="en-US" altLang="zh-CN" dirty="0" smtClean="0"/>
          </a:p>
          <a:p>
            <a:r>
              <a:rPr lang="zh-CN" altLang="en-US" dirty="0" smtClean="0"/>
              <a:t>通常填充的值为</a:t>
            </a:r>
            <a:r>
              <a:rPr lang="en-US" altLang="zh-CN" dirty="0" smtClean="0"/>
              <a:t>0</a:t>
            </a:r>
            <a:r>
              <a:rPr lang="zh-CN" altLang="en-US" dirty="0" smtClean="0"/>
              <a:t>：</a:t>
            </a:r>
            <a:endParaRPr lang="en-US" altLang="zh-CN" dirty="0"/>
          </a:p>
          <a:p>
            <a:pPr lvl="1"/>
            <a:r>
              <a:rPr lang="en-US" altLang="zh-CN" dirty="0" smtClean="0"/>
              <a:t>0</a:t>
            </a:r>
            <a:r>
              <a:rPr lang="zh-CN" altLang="en-US" dirty="0" smtClean="0"/>
              <a:t>在</a:t>
            </a:r>
            <a:r>
              <a:rPr lang="zh-CN" altLang="en-US" dirty="0"/>
              <a:t>权重乘积和运算中对最终结果不造成</a:t>
            </a:r>
            <a:r>
              <a:rPr lang="zh-CN" altLang="en-US" dirty="0" smtClean="0"/>
              <a:t>影响</a:t>
            </a:r>
            <a:endParaRPr lang="en-US" altLang="zh-CN" dirty="0" smtClean="0"/>
          </a:p>
          <a:p>
            <a:pPr lvl="1"/>
            <a:r>
              <a:rPr lang="zh-CN" altLang="en-US" dirty="0"/>
              <a:t>避免了图片增加额外的干扰信息</a:t>
            </a:r>
            <a:endParaRPr lang="en-US" altLang="zh-CN" dirty="0" smtClean="0"/>
          </a:p>
        </p:txBody>
      </p:sp>
      <p:graphicFrame>
        <p:nvGraphicFramePr>
          <p:cNvPr id="4" name="表格 3"/>
          <p:cNvGraphicFramePr>
            <a:graphicFrameLocks noGrp="1"/>
          </p:cNvGraphicFramePr>
          <p:nvPr>
            <p:extLst>
              <p:ext uri="{D42A27DB-BD31-4B8C-83A1-F6EECF244321}">
                <p14:modId xmlns:p14="http://schemas.microsoft.com/office/powerpoint/2010/main" val="5353111"/>
              </p:ext>
            </p:extLst>
          </p:nvPr>
        </p:nvGraphicFramePr>
        <p:xfrm>
          <a:off x="5696521" y="2888218"/>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r>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5</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sp>
        <p:nvSpPr>
          <p:cNvPr id="5" name="文本框 23"/>
          <p:cNvSpPr txBox="1">
            <a:spLocks noChangeArrowheads="1"/>
          </p:cNvSpPr>
          <p:nvPr/>
        </p:nvSpPr>
        <p:spPr bwMode="auto">
          <a:xfrm>
            <a:off x="6566547" y="5767942"/>
            <a:ext cx="11208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输入</a:t>
            </a:r>
            <a:r>
              <a:rPr lang="en-US" altLang="zh-CN" b="1" dirty="0" smtClean="0"/>
              <a:t>(4,4)</a:t>
            </a:r>
            <a:endParaRPr lang="zh-CN" altLang="en-US" b="1" dirty="0"/>
          </a:p>
        </p:txBody>
      </p:sp>
      <p:graphicFrame>
        <p:nvGraphicFramePr>
          <p:cNvPr id="6" name="表格 5"/>
          <p:cNvGraphicFramePr>
            <a:graphicFrameLocks noGrp="1"/>
          </p:cNvGraphicFramePr>
          <p:nvPr>
            <p:extLst>
              <p:ext uri="{D42A27DB-BD31-4B8C-83A1-F6EECF244321}">
                <p14:modId xmlns:p14="http://schemas.microsoft.com/office/powerpoint/2010/main" val="1726103556"/>
              </p:ext>
            </p:extLst>
          </p:nvPr>
        </p:nvGraphicFramePr>
        <p:xfrm>
          <a:off x="9213637" y="3622957"/>
          <a:ext cx="1439862" cy="1441450"/>
        </p:xfrm>
        <a:graphic>
          <a:graphicData uri="http://schemas.openxmlformats.org/drawingml/2006/table">
            <a:tbl>
              <a:tblPr firstRow="1" bandRow="1">
                <a:tableStyleId>{5940675A-B579-460E-94D1-54222C63F5DA}</a:tableStyleId>
              </a:tblPr>
              <a:tblGrid>
                <a:gridCol w="719931"/>
                <a:gridCol w="719931"/>
              </a:tblGrid>
              <a:tr h="720725">
                <a:tc>
                  <a:txBody>
                    <a:bodyPr/>
                    <a:lstStyle/>
                    <a:p>
                      <a:pPr algn="ctr"/>
                      <a:r>
                        <a:rPr lang="en-US" altLang="zh-CN" sz="1800" b="1" dirty="0" smtClean="0">
                          <a:solidFill>
                            <a:schemeClr val="tx1"/>
                          </a:solidFill>
                        </a:rPr>
                        <a:t>10</a:t>
                      </a:r>
                      <a:endParaRPr lang="zh-CN" altLang="en-US" sz="1800" b="1" dirty="0">
                        <a:solidFill>
                          <a:schemeClr val="tx1"/>
                        </a:solidFill>
                      </a:endParaRPr>
                    </a:p>
                  </a:txBody>
                  <a:tcPr marL="91431" marR="91431" marT="45766" marB="45766" anchor="ctr"/>
                </a:tc>
                <a:tc>
                  <a:txBody>
                    <a:bodyPr/>
                    <a:lstStyle/>
                    <a:p>
                      <a:pPr algn="ctr"/>
                      <a:r>
                        <a:rPr lang="en-US" altLang="zh-CN" sz="1800" b="1" dirty="0" smtClean="0">
                          <a:solidFill>
                            <a:schemeClr val="tx1"/>
                          </a:solidFill>
                        </a:rPr>
                        <a:t>5</a:t>
                      </a:r>
                      <a:endParaRPr lang="zh-CN" altLang="en-US" sz="1800" b="1" dirty="0">
                        <a:solidFill>
                          <a:schemeClr val="tx1"/>
                        </a:solidFill>
                      </a:endParaRPr>
                    </a:p>
                  </a:txBody>
                  <a:tcPr marL="91431" marR="91431" marT="45766" marB="45766" anchor="ctr"/>
                </a:tc>
              </a:tr>
              <a:tr h="720725">
                <a:tc>
                  <a:txBody>
                    <a:bodyPr/>
                    <a:lstStyle/>
                    <a:p>
                      <a:pPr algn="ctr"/>
                      <a:r>
                        <a:rPr lang="en-US" altLang="zh-CN" sz="1800" b="1" dirty="0" smtClean="0">
                          <a:solidFill>
                            <a:schemeClr val="tx1"/>
                          </a:solidFill>
                        </a:rPr>
                        <a:t>-2</a:t>
                      </a:r>
                      <a:endParaRPr lang="zh-CN" altLang="en-US" sz="1800" b="1" dirty="0">
                        <a:solidFill>
                          <a:schemeClr val="tx1"/>
                        </a:solidFill>
                      </a:endParaRPr>
                    </a:p>
                  </a:txBody>
                  <a:tcPr marL="91431" marR="91431" marT="45766" marB="45766" anchor="ctr"/>
                </a:tc>
                <a:tc>
                  <a:txBody>
                    <a:bodyPr/>
                    <a:lstStyle/>
                    <a:p>
                      <a:pPr algn="ctr"/>
                      <a:r>
                        <a:rPr lang="en-US" altLang="zh-CN" sz="1800" b="1" dirty="0" smtClean="0">
                          <a:solidFill>
                            <a:schemeClr val="tx1"/>
                          </a:solidFill>
                        </a:rPr>
                        <a:t>3</a:t>
                      </a:r>
                      <a:endParaRPr lang="zh-CN" altLang="en-US" sz="1800" b="1" dirty="0">
                        <a:solidFill>
                          <a:schemeClr val="tx1"/>
                        </a:solidFill>
                      </a:endParaRPr>
                    </a:p>
                  </a:txBody>
                  <a:tcPr marL="91431" marR="91431" marT="45766" marB="45766" anchor="ctr"/>
                </a:tc>
              </a:tr>
            </a:tbl>
          </a:graphicData>
        </a:graphic>
      </p:graphicFrame>
      <p:sp>
        <p:nvSpPr>
          <p:cNvPr id="7" name="文本框 23"/>
          <p:cNvSpPr txBox="1">
            <a:spLocks noChangeArrowheads="1"/>
          </p:cNvSpPr>
          <p:nvPr/>
        </p:nvSpPr>
        <p:spPr bwMode="auto">
          <a:xfrm>
            <a:off x="9377305" y="5767942"/>
            <a:ext cx="11208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输</a:t>
            </a:r>
            <a:r>
              <a:rPr lang="zh-CN" altLang="en-US" b="1" dirty="0"/>
              <a:t>出</a:t>
            </a:r>
            <a:r>
              <a:rPr lang="en-US" altLang="zh-CN" b="1" dirty="0" smtClean="0"/>
              <a:t>(2,2)</a:t>
            </a:r>
            <a:endParaRPr lang="zh-CN" altLang="en-US" b="1" dirty="0"/>
          </a:p>
        </p:txBody>
      </p:sp>
    </p:spTree>
    <p:extLst>
      <p:ext uri="{BB962C8B-B14F-4D97-AF65-F5344CB8AC3E}">
        <p14:creationId xmlns:p14="http://schemas.microsoft.com/office/powerpoint/2010/main" val="1113185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填充</a:t>
            </a:r>
            <a:endParaRPr lang="zh-CN" altLang="en-US" dirty="0"/>
          </a:p>
        </p:txBody>
      </p:sp>
      <p:sp>
        <p:nvSpPr>
          <p:cNvPr id="3" name="内容占位符 2"/>
          <p:cNvSpPr>
            <a:spLocks noGrp="1"/>
          </p:cNvSpPr>
          <p:nvPr>
            <p:ph sz="quarter" idx="13"/>
          </p:nvPr>
        </p:nvSpPr>
        <p:spPr/>
        <p:txBody>
          <a:bodyPr/>
          <a:lstStyle/>
          <a:p>
            <a:r>
              <a:rPr lang="zh-CN" altLang="en-US" dirty="0" smtClean="0"/>
              <a:t>以之前的例子为基础，定义填充为</a:t>
            </a:r>
            <a:r>
              <a:rPr lang="en-US" altLang="zh-CN" dirty="0" smtClean="0"/>
              <a:t>1</a:t>
            </a:r>
            <a:r>
              <a:rPr lang="zh-CN" altLang="en-US" dirty="0" smtClean="0"/>
              <a:t>，填充默认值为</a:t>
            </a:r>
            <a:r>
              <a:rPr lang="en-US" altLang="zh-CN" dirty="0" smtClean="0"/>
              <a:t>0</a:t>
            </a:r>
            <a:r>
              <a:rPr lang="zh-CN" altLang="en-US" dirty="0" smtClean="0"/>
              <a:t>。</a:t>
            </a:r>
            <a:endParaRPr lang="en-US" altLang="zh-CN" dirty="0" smtClean="0"/>
          </a:p>
          <a:p>
            <a:r>
              <a:rPr lang="zh-CN" altLang="en-US" dirty="0" smtClean="0"/>
              <a:t>输出特征图的尺寸保持为原来的</a:t>
            </a:r>
            <a:r>
              <a:rPr lang="en-US" altLang="zh-CN" dirty="0"/>
              <a:t>(4,4) , </a:t>
            </a:r>
            <a:r>
              <a:rPr lang="zh-CN" altLang="en-US" dirty="0"/>
              <a:t>且有效地避免了边缘信息的</a:t>
            </a:r>
            <a:r>
              <a:rPr lang="zh-CN" altLang="en-US" dirty="0" smtClean="0"/>
              <a:t>丢失。</a:t>
            </a:r>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2596253842"/>
              </p:ext>
            </p:extLst>
          </p:nvPr>
        </p:nvGraphicFramePr>
        <p:xfrm>
          <a:off x="988076" y="2219323"/>
          <a:ext cx="3238500" cy="3240090"/>
        </p:xfrm>
        <a:graphic>
          <a:graphicData uri="http://schemas.openxmlformats.org/drawingml/2006/table">
            <a:tbl>
              <a:tblPr firstRow="1" bandRow="1">
                <a:tableStyleId>{5940675A-B579-460E-94D1-54222C63F5DA}</a:tableStyleId>
              </a:tblPr>
              <a:tblGrid>
                <a:gridCol w="539750"/>
                <a:gridCol w="539750"/>
                <a:gridCol w="539750"/>
                <a:gridCol w="539750"/>
                <a:gridCol w="539750"/>
                <a:gridCol w="539750"/>
              </a:tblGrid>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3</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3</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5</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r>
            </a:tbl>
          </a:graphicData>
        </a:graphic>
      </p:graphicFrame>
      <p:sp>
        <p:nvSpPr>
          <p:cNvPr id="6" name="文本框 21"/>
          <p:cNvSpPr txBox="1">
            <a:spLocks noChangeArrowheads="1"/>
          </p:cNvSpPr>
          <p:nvPr/>
        </p:nvSpPr>
        <p:spPr bwMode="auto">
          <a:xfrm>
            <a:off x="1455100" y="5616223"/>
            <a:ext cx="20441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填充后的</a:t>
            </a:r>
            <a:r>
              <a:rPr lang="zh-CN" altLang="en-US" b="1" dirty="0" smtClean="0"/>
              <a:t>输入</a:t>
            </a:r>
            <a:r>
              <a:rPr lang="en-US" altLang="zh-CN" b="1" dirty="0" smtClean="0"/>
              <a:t>(6,6)</a:t>
            </a:r>
            <a:endParaRPr lang="zh-CN" altLang="en-US" b="1" dirty="0"/>
          </a:p>
        </p:txBody>
      </p:sp>
      <p:graphicFrame>
        <p:nvGraphicFramePr>
          <p:cNvPr id="7" name="表格 6"/>
          <p:cNvGraphicFramePr>
            <a:graphicFrameLocks noGrp="1"/>
          </p:cNvGraphicFramePr>
          <p:nvPr>
            <p:extLst>
              <p:ext uri="{D42A27DB-BD31-4B8C-83A1-F6EECF244321}">
                <p14:modId xmlns:p14="http://schemas.microsoft.com/office/powerpoint/2010/main" val="3867261388"/>
              </p:ext>
            </p:extLst>
          </p:nvPr>
        </p:nvGraphicFramePr>
        <p:xfrm>
          <a:off x="4780305" y="3008311"/>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-4</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r>
            </a:tbl>
          </a:graphicData>
        </a:graphic>
      </p:graphicFrame>
      <p:sp>
        <p:nvSpPr>
          <p:cNvPr id="8" name="文本框 22"/>
          <p:cNvSpPr txBox="1">
            <a:spLocks noChangeArrowheads="1"/>
          </p:cNvSpPr>
          <p:nvPr/>
        </p:nvSpPr>
        <p:spPr bwMode="auto">
          <a:xfrm>
            <a:off x="4895736" y="5616223"/>
            <a:ext cx="1309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3×3</a:t>
            </a:r>
            <a:r>
              <a:rPr lang="zh-CN" altLang="en-US" b="1" dirty="0"/>
              <a:t>卷积核</a:t>
            </a:r>
          </a:p>
        </p:txBody>
      </p:sp>
      <p:sp>
        <p:nvSpPr>
          <p:cNvPr id="10" name="文本框 21"/>
          <p:cNvSpPr txBox="1">
            <a:spLocks noChangeArrowheads="1"/>
          </p:cNvSpPr>
          <p:nvPr/>
        </p:nvSpPr>
        <p:spPr bwMode="auto">
          <a:xfrm>
            <a:off x="8577398" y="5613218"/>
            <a:ext cx="11208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输出</a:t>
            </a:r>
            <a:r>
              <a:rPr lang="en-US" altLang="zh-CN" b="1" dirty="0" smtClean="0"/>
              <a:t>(4,4)</a:t>
            </a:r>
            <a:endParaRPr lang="zh-CN" altLang="en-US" b="1" dirty="0"/>
          </a:p>
        </p:txBody>
      </p:sp>
      <p:sp>
        <p:nvSpPr>
          <p:cNvPr id="11" name="文本框 6"/>
          <p:cNvSpPr txBox="1">
            <a:spLocks noChangeArrowheads="1"/>
          </p:cNvSpPr>
          <p:nvPr/>
        </p:nvSpPr>
        <p:spPr bwMode="auto">
          <a:xfrm>
            <a:off x="4311143" y="3633786"/>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Wingdings 2" panose="05020102010507070707" pitchFamily="18" charset="2"/>
              </a:rPr>
              <a:t></a:t>
            </a:r>
            <a:endParaRPr lang="zh-CN" altLang="en-US"/>
          </a:p>
        </p:txBody>
      </p:sp>
      <p:sp>
        <p:nvSpPr>
          <p:cNvPr id="12" name="文本框 24"/>
          <p:cNvSpPr txBox="1">
            <a:spLocks noChangeArrowheads="1"/>
          </p:cNvSpPr>
          <p:nvPr/>
        </p:nvSpPr>
        <p:spPr bwMode="auto">
          <a:xfrm>
            <a:off x="6473607" y="3645521"/>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Symbol" panose="05050102010706020507" pitchFamily="18" charset="2"/>
              </a:rPr>
              <a:t></a:t>
            </a:r>
            <a:endParaRPr lang="zh-CN" altLang="en-US" dirty="0"/>
          </a:p>
        </p:txBody>
      </p:sp>
      <p:graphicFrame>
        <p:nvGraphicFramePr>
          <p:cNvPr id="13" name="表格 12"/>
          <p:cNvGraphicFramePr>
            <a:graphicFrameLocks noGrp="1"/>
          </p:cNvGraphicFramePr>
          <p:nvPr>
            <p:extLst>
              <p:ext uri="{D42A27DB-BD31-4B8C-83A1-F6EECF244321}">
                <p14:modId xmlns:p14="http://schemas.microsoft.com/office/powerpoint/2010/main" val="3426324050"/>
              </p:ext>
            </p:extLst>
          </p:nvPr>
        </p:nvGraphicFramePr>
        <p:xfrm>
          <a:off x="6868894" y="3548061"/>
          <a:ext cx="541338" cy="541338"/>
        </p:xfrm>
        <a:graphic>
          <a:graphicData uri="http://schemas.openxmlformats.org/drawingml/2006/table">
            <a:tbl>
              <a:tblPr firstRow="1" bandRow="1">
                <a:tableStyleId>{5C22544A-7EE6-4342-B048-85BDC9FD1C3A}</a:tableStyleId>
              </a:tblPr>
              <a:tblGrid>
                <a:gridCol w="541338"/>
              </a:tblGrid>
              <a:tr h="541338">
                <a:tc>
                  <a:txBody>
                    <a:bodyPr/>
                    <a:lstStyle/>
                    <a:p>
                      <a:pPr algn="ctr"/>
                      <a:r>
                        <a:rPr lang="en-US" altLang="zh-CN" sz="1800" b="1" dirty="0" smtClean="0">
                          <a:solidFill>
                            <a:schemeClr val="tx1"/>
                          </a:solidFill>
                        </a:rPr>
                        <a:t>2</a:t>
                      </a:r>
                      <a:endParaRPr lang="zh-CN" altLang="en-US" sz="1800" b="1" dirty="0">
                        <a:solidFill>
                          <a:schemeClr val="tx1"/>
                        </a:solidFill>
                      </a:endParaRPr>
                    </a:p>
                  </a:txBody>
                  <a:tcPr marL="91678" marR="91678" marT="45839" marB="4583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r>
            </a:tbl>
          </a:graphicData>
        </a:graphic>
      </p:graphicFrame>
      <p:sp>
        <p:nvSpPr>
          <p:cNvPr id="14" name="文本框 23"/>
          <p:cNvSpPr txBox="1">
            <a:spLocks noChangeArrowheads="1"/>
          </p:cNvSpPr>
          <p:nvPr/>
        </p:nvSpPr>
        <p:spPr bwMode="auto">
          <a:xfrm>
            <a:off x="6868894" y="5613218"/>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偏置</a:t>
            </a:r>
          </a:p>
        </p:txBody>
      </p:sp>
      <p:graphicFrame>
        <p:nvGraphicFramePr>
          <p:cNvPr id="15" name="表格 14"/>
          <p:cNvGraphicFramePr>
            <a:graphicFrameLocks noGrp="1"/>
          </p:cNvGraphicFramePr>
          <p:nvPr>
            <p:extLst>
              <p:ext uri="{D42A27DB-BD31-4B8C-83A1-F6EECF244321}">
                <p14:modId xmlns:p14="http://schemas.microsoft.com/office/powerpoint/2010/main" val="246509239"/>
              </p:ext>
            </p:extLst>
          </p:nvPr>
        </p:nvGraphicFramePr>
        <p:xfrm>
          <a:off x="8114397" y="2750965"/>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-8</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-4</a:t>
                      </a:r>
                      <a:endParaRPr lang="zh-CN" altLang="en-US" sz="1800" b="1" dirty="0"/>
                    </a:p>
                  </a:txBody>
                  <a:tcPr marL="91456" marR="91456" marT="45695" marB="45695" anchor="ctr">
                    <a:solidFill>
                      <a:schemeClr val="bg2">
                        <a:lumMod val="90000"/>
                      </a:schemeClr>
                    </a:solidFill>
                  </a:tcPr>
                </a:tc>
              </a:tr>
              <a:tr h="539750">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10</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5</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0</a:t>
                      </a:r>
                      <a:endParaRPr lang="zh-CN" altLang="en-US" sz="1800" b="1" dirty="0"/>
                    </a:p>
                  </a:txBody>
                  <a:tcPr marL="91456" marR="91456" marT="45695" marB="45695" anchor="ctr">
                    <a:solidFill>
                      <a:schemeClr val="bg2">
                        <a:lumMod val="90000"/>
                      </a:schemeClr>
                    </a:solidFill>
                  </a:tcPr>
                </a:tc>
              </a:tr>
              <a:tr h="539750">
                <a:tc>
                  <a:txBody>
                    <a:bodyPr/>
                    <a:lstStyle/>
                    <a:p>
                      <a:pPr algn="ctr"/>
                      <a:r>
                        <a:rPr lang="en-US" altLang="zh-CN" sz="1800" b="1" dirty="0" smtClean="0"/>
                        <a:t>0</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-2</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5</a:t>
                      </a:r>
                      <a:endParaRPr lang="zh-CN" altLang="en-US" sz="1800" b="1" dirty="0"/>
                    </a:p>
                  </a:txBody>
                  <a:tcPr marL="91456" marR="91456" marT="45695" marB="45695" anchor="ctr">
                    <a:solidFill>
                      <a:schemeClr val="bg2">
                        <a:lumMod val="90000"/>
                      </a:schemeClr>
                    </a:solidFill>
                  </a:tcPr>
                </a:tc>
              </a:tr>
              <a:tr h="539750">
                <a:tc>
                  <a:txBody>
                    <a:bodyPr/>
                    <a:lstStyle/>
                    <a:p>
                      <a:pPr algn="ctr"/>
                      <a:r>
                        <a:rPr lang="en-US" altLang="zh-CN" sz="1800" b="1" dirty="0" smtClean="0"/>
                        <a:t>5</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-12</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1</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0</a:t>
                      </a:r>
                      <a:endParaRPr lang="zh-CN" altLang="en-US" sz="1800" b="1" dirty="0"/>
                    </a:p>
                  </a:txBody>
                  <a:tcPr marL="91456" marR="91456" marT="45695" marB="45695" anchor="ctr">
                    <a:solidFill>
                      <a:schemeClr val="bg2">
                        <a:lumMod val="90000"/>
                      </a:schemeClr>
                    </a:solidFill>
                  </a:tcPr>
                </a:tc>
              </a:tr>
            </a:tbl>
          </a:graphicData>
        </a:graphic>
      </p:graphicFrame>
      <p:sp>
        <p:nvSpPr>
          <p:cNvPr id="16" name="文本框 23"/>
          <p:cNvSpPr txBox="1">
            <a:spLocks noChangeArrowheads="1"/>
          </p:cNvSpPr>
          <p:nvPr/>
        </p:nvSpPr>
        <p:spPr bwMode="auto">
          <a:xfrm>
            <a:off x="7515225" y="3646077"/>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a:t>
            </a:r>
            <a:endParaRPr lang="zh-CN" altLang="en-US" b="1" dirty="0"/>
          </a:p>
        </p:txBody>
      </p:sp>
    </p:spTree>
    <p:extLst>
      <p:ext uri="{BB962C8B-B14F-4D97-AF65-F5344CB8AC3E}">
        <p14:creationId xmlns:p14="http://schemas.microsoft.com/office/powerpoint/2010/main" val="4225475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步长与填充</a:t>
            </a:r>
            <a:r>
              <a:rPr lang="zh-CN" altLang="en-US" noProof="1" smtClean="0">
                <a:latin typeface="微软雅黑" panose="020B0503020204020204" pitchFamily="34" charset="-122"/>
                <a:cs typeface="微软雅黑" panose="020B0503020204020204" pitchFamily="34" charset="-122"/>
              </a:rPr>
              <a:t>总结</a:t>
            </a:r>
            <a:endParaRPr lang="zh-CN" altLang="en-US" dirty="0"/>
          </a:p>
        </p:txBody>
      </p:sp>
      <p:sp>
        <p:nvSpPr>
          <p:cNvPr id="3" name="内容占位符 2"/>
          <p:cNvSpPr>
            <a:spLocks noGrp="1"/>
          </p:cNvSpPr>
          <p:nvPr>
            <p:ph sz="quarter" idx="13"/>
          </p:nvPr>
        </p:nvSpPr>
        <p:spPr/>
        <p:txBody>
          <a:bodyPr/>
          <a:lstStyle/>
          <a:p>
            <a:r>
              <a:rPr lang="zh-CN" altLang="en-US" dirty="0"/>
              <a:t>接下来我们学习一种更为通用的卷积形式，总结步长、填充、卷积核大小与输入输出特征图尺寸的关系</a:t>
            </a:r>
            <a:r>
              <a:rPr lang="zh-CN" altLang="en-US" dirty="0" smtClean="0"/>
              <a:t>。</a:t>
            </a:r>
            <a:endParaRPr lang="en-US" altLang="zh-CN" dirty="0" smtClean="0"/>
          </a:p>
          <a:p>
            <a:r>
              <a:rPr lang="zh-CN" altLang="en-US" dirty="0" smtClean="0"/>
              <a:t>给定所有的参数：</a:t>
            </a:r>
            <a:endParaRPr lang="en-US" altLang="zh-CN" dirty="0" smtClean="0"/>
          </a:p>
          <a:p>
            <a:pPr lvl="1"/>
            <a:r>
              <a:rPr lang="zh-CN" altLang="en-US" dirty="0" smtClean="0"/>
              <a:t>输入特征图</a:t>
            </a:r>
            <a:endParaRPr lang="en-US" altLang="zh-CN" dirty="0"/>
          </a:p>
          <a:p>
            <a:pPr lvl="2"/>
            <a:r>
              <a:rPr lang="zh-CN" altLang="en-US" dirty="0" smtClean="0"/>
              <a:t>宽：</a:t>
            </a:r>
            <a:r>
              <a:rPr lang="en-US" altLang="zh-CN" dirty="0" smtClean="0"/>
              <a:t>W</a:t>
            </a:r>
            <a:r>
              <a:rPr lang="en-US" altLang="zh-CN" baseline="-25000" dirty="0" smtClean="0"/>
              <a:t>1</a:t>
            </a:r>
            <a:r>
              <a:rPr lang="zh-CN" altLang="en-US" dirty="0" smtClean="0"/>
              <a:t>（像素）</a:t>
            </a:r>
            <a:endParaRPr lang="en-US" altLang="zh-CN" dirty="0" smtClean="0"/>
          </a:p>
          <a:p>
            <a:pPr lvl="2"/>
            <a:r>
              <a:rPr lang="zh-CN" altLang="en-US" dirty="0" smtClean="0"/>
              <a:t>高：</a:t>
            </a:r>
            <a:r>
              <a:rPr lang="en-US" altLang="zh-CN" dirty="0" smtClean="0"/>
              <a:t>H</a:t>
            </a:r>
            <a:r>
              <a:rPr lang="en-US" altLang="zh-CN" baseline="-25000" dirty="0" smtClean="0"/>
              <a:t>1</a:t>
            </a:r>
            <a:r>
              <a:rPr lang="zh-CN" altLang="en-US" dirty="0" smtClean="0"/>
              <a:t>（像素）</a:t>
            </a:r>
            <a:endParaRPr lang="en-US" altLang="zh-CN" dirty="0" smtClean="0"/>
          </a:p>
          <a:p>
            <a:pPr lvl="2"/>
            <a:r>
              <a:rPr lang="zh-CN" altLang="en-US" dirty="0"/>
              <a:t>通道</a:t>
            </a:r>
            <a:r>
              <a:rPr lang="zh-CN" altLang="en-US" dirty="0" smtClean="0"/>
              <a:t>数：</a:t>
            </a:r>
            <a:r>
              <a:rPr lang="en-US" altLang="zh-CN" dirty="0" smtClean="0"/>
              <a:t>D</a:t>
            </a:r>
            <a:r>
              <a:rPr lang="en-US" altLang="zh-CN" baseline="-25000" dirty="0" smtClean="0"/>
              <a:t>1</a:t>
            </a:r>
          </a:p>
          <a:p>
            <a:pPr lvl="1"/>
            <a:r>
              <a:rPr lang="zh-CN" altLang="en-US" dirty="0" smtClean="0"/>
              <a:t>卷积核大小（</a:t>
            </a:r>
            <a:r>
              <a:rPr lang="en-US" altLang="zh-CN" dirty="0" smtClean="0"/>
              <a:t>F</a:t>
            </a:r>
            <a:r>
              <a:rPr lang="zh-CN" altLang="en-US" dirty="0" smtClean="0"/>
              <a:t>，</a:t>
            </a:r>
            <a:r>
              <a:rPr lang="en-US" altLang="zh-CN" dirty="0" smtClean="0"/>
              <a:t>F</a:t>
            </a:r>
            <a:r>
              <a:rPr lang="zh-CN" altLang="en-US" dirty="0" smtClean="0"/>
              <a:t>），即</a:t>
            </a:r>
            <a:r>
              <a:rPr lang="en-US" altLang="zh-CN" dirty="0" smtClean="0"/>
              <a:t>F× F×D</a:t>
            </a:r>
            <a:r>
              <a:rPr lang="en-US" altLang="zh-CN" baseline="-25000" dirty="0" smtClean="0"/>
              <a:t>1</a:t>
            </a:r>
            <a:endParaRPr lang="en-US" altLang="zh-CN" dirty="0" smtClean="0"/>
          </a:p>
          <a:p>
            <a:pPr lvl="1"/>
            <a:r>
              <a:rPr lang="zh-CN" altLang="en-US" dirty="0" smtClean="0"/>
              <a:t>步长：</a:t>
            </a:r>
            <a:r>
              <a:rPr lang="en-US" altLang="zh-CN" dirty="0" smtClean="0"/>
              <a:t>S</a:t>
            </a:r>
          </a:p>
          <a:p>
            <a:pPr lvl="1"/>
            <a:r>
              <a:rPr lang="zh-CN" altLang="en-US" dirty="0" smtClean="0"/>
              <a:t>填充大小：</a:t>
            </a:r>
            <a:r>
              <a:rPr lang="en-US" altLang="zh-CN" dirty="0" smtClean="0"/>
              <a:t>P</a:t>
            </a:r>
          </a:p>
          <a:p>
            <a:pPr lvl="1"/>
            <a:r>
              <a:rPr lang="zh-CN" altLang="en-US" dirty="0"/>
              <a:t>卷积</a:t>
            </a:r>
            <a:r>
              <a:rPr lang="zh-CN" altLang="en-US" dirty="0" smtClean="0"/>
              <a:t>核个数：</a:t>
            </a:r>
            <a:r>
              <a:rPr lang="en-US" altLang="zh-CN" dirty="0" smtClean="0"/>
              <a:t>K</a:t>
            </a:r>
          </a:p>
          <a:p>
            <a:r>
              <a:rPr lang="zh-CN" altLang="en-US" dirty="0" smtClean="0"/>
              <a:t>那么经过卷积计算后，输出特征图图像：</a:t>
            </a:r>
            <a:endParaRPr lang="en-US" altLang="zh-CN" dirty="0"/>
          </a:p>
          <a:p>
            <a:pPr lvl="1"/>
            <a:r>
              <a:rPr lang="en-US" altLang="zh-CN" dirty="0" smtClean="0"/>
              <a:t>W</a:t>
            </a:r>
            <a:r>
              <a:rPr lang="en-US" altLang="zh-CN" baseline="-25000" dirty="0" smtClean="0"/>
              <a:t>2 </a:t>
            </a:r>
            <a:r>
              <a:rPr lang="en-US" altLang="zh-CN" dirty="0" smtClean="0"/>
              <a:t>= ( W</a:t>
            </a:r>
            <a:r>
              <a:rPr lang="en-US" altLang="zh-CN" baseline="-25000" dirty="0" smtClean="0"/>
              <a:t>1 </a:t>
            </a:r>
            <a:r>
              <a:rPr lang="en-US" altLang="zh-CN" dirty="0" smtClean="0"/>
              <a:t>- F +2P ) / S + 1</a:t>
            </a:r>
          </a:p>
          <a:p>
            <a:pPr lvl="1"/>
            <a:r>
              <a:rPr lang="en-US" altLang="zh-CN" dirty="0" smtClean="0"/>
              <a:t>H</a:t>
            </a:r>
            <a:r>
              <a:rPr lang="en-US" altLang="zh-CN" baseline="-25000" dirty="0" smtClean="0"/>
              <a:t>2 </a:t>
            </a:r>
            <a:r>
              <a:rPr lang="en-US" altLang="zh-CN" dirty="0" smtClean="0"/>
              <a:t>= </a:t>
            </a:r>
            <a:r>
              <a:rPr lang="en-US" altLang="zh-CN" dirty="0"/>
              <a:t>( W</a:t>
            </a:r>
            <a:r>
              <a:rPr lang="en-US" altLang="zh-CN" baseline="-25000" dirty="0"/>
              <a:t>1 </a:t>
            </a:r>
            <a:r>
              <a:rPr lang="en-US" altLang="zh-CN" dirty="0"/>
              <a:t>- F +2P ) / S + </a:t>
            </a:r>
            <a:r>
              <a:rPr lang="en-US" altLang="zh-CN" dirty="0" smtClean="0"/>
              <a:t>1</a:t>
            </a:r>
          </a:p>
          <a:p>
            <a:pPr lvl="1"/>
            <a:r>
              <a:rPr lang="en-US" altLang="zh-CN" dirty="0" smtClean="0"/>
              <a:t>D</a:t>
            </a:r>
            <a:r>
              <a:rPr lang="en-US" altLang="zh-CN" baseline="-25000" dirty="0" smtClean="0"/>
              <a:t>2</a:t>
            </a:r>
            <a:r>
              <a:rPr lang="en-US" altLang="zh-CN" dirty="0" smtClean="0"/>
              <a:t> = K</a:t>
            </a:r>
            <a:endParaRPr lang="en-US" altLang="zh-CN" dirty="0"/>
          </a:p>
          <a:p>
            <a:pPr lvl="1"/>
            <a:endParaRPr lang="zh-CN" altLang="en-US" dirty="0"/>
          </a:p>
        </p:txBody>
      </p:sp>
    </p:spTree>
    <p:extLst>
      <p:ext uri="{BB962C8B-B14F-4D97-AF65-F5344CB8AC3E}">
        <p14:creationId xmlns:p14="http://schemas.microsoft.com/office/powerpoint/2010/main" val="507131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步长与填充总结</a:t>
            </a:r>
            <a:endParaRPr lang="zh-CN" altLang="en-US" dirty="0"/>
          </a:p>
        </p:txBody>
      </p:sp>
      <p:sp>
        <p:nvSpPr>
          <p:cNvPr id="3" name="内容占位符 2"/>
          <p:cNvSpPr>
            <a:spLocks noGrp="1"/>
          </p:cNvSpPr>
          <p:nvPr>
            <p:ph sz="quarter" idx="13"/>
          </p:nvPr>
        </p:nvSpPr>
        <p:spPr/>
        <p:txBody>
          <a:bodyPr/>
          <a:lstStyle/>
          <a:p>
            <a:pPr marL="228600" lvl="1">
              <a:spcBef>
                <a:spcPts val="1000"/>
              </a:spcBef>
            </a:pPr>
            <a:r>
              <a:rPr lang="en-US" altLang="zh-CN" dirty="0"/>
              <a:t>W</a:t>
            </a:r>
            <a:r>
              <a:rPr lang="en-US" altLang="zh-CN" baseline="-25000" dirty="0"/>
              <a:t>2 </a:t>
            </a:r>
            <a:r>
              <a:rPr lang="en-US" altLang="zh-CN" dirty="0"/>
              <a:t>= ( W</a:t>
            </a:r>
            <a:r>
              <a:rPr lang="en-US" altLang="zh-CN" baseline="-25000" dirty="0"/>
              <a:t>1 </a:t>
            </a:r>
            <a:r>
              <a:rPr lang="en-US" altLang="zh-CN" dirty="0"/>
              <a:t>- F +2P ) / S + </a:t>
            </a:r>
            <a:r>
              <a:rPr lang="en-US" altLang="zh-CN" dirty="0" smtClean="0"/>
              <a:t>1 </a:t>
            </a:r>
            <a:r>
              <a:rPr lang="zh-CN" altLang="en-US" dirty="0" smtClean="0"/>
              <a:t>， </a:t>
            </a:r>
            <a:r>
              <a:rPr lang="en-US" altLang="zh-CN" dirty="0"/>
              <a:t>W</a:t>
            </a:r>
            <a:r>
              <a:rPr lang="en-US" altLang="zh-CN" baseline="-25000" dirty="0"/>
              <a:t>2 </a:t>
            </a:r>
            <a:r>
              <a:rPr lang="en-US" altLang="zh-CN" dirty="0" smtClean="0"/>
              <a:t>=</a:t>
            </a:r>
            <a:r>
              <a:rPr lang="zh-CN" altLang="en-US" dirty="0" smtClean="0"/>
              <a:t>（</a:t>
            </a:r>
            <a:r>
              <a:rPr lang="en-US" altLang="zh-CN" dirty="0"/>
              <a:t>4</a:t>
            </a:r>
            <a:r>
              <a:rPr lang="en-US" altLang="zh-CN" dirty="0" smtClean="0"/>
              <a:t> – 3 + 2 × 1) / 1 + 1 = 4</a:t>
            </a:r>
            <a:endParaRPr lang="en-US" altLang="zh-CN" dirty="0"/>
          </a:p>
          <a:p>
            <a:pPr marL="228600" lvl="1">
              <a:spcBef>
                <a:spcPts val="1000"/>
              </a:spcBef>
            </a:pPr>
            <a:r>
              <a:rPr lang="en-US" altLang="zh-CN" dirty="0"/>
              <a:t>H</a:t>
            </a:r>
            <a:r>
              <a:rPr lang="en-US" altLang="zh-CN" baseline="-25000" dirty="0"/>
              <a:t>2 </a:t>
            </a:r>
            <a:r>
              <a:rPr lang="en-US" altLang="zh-CN" dirty="0"/>
              <a:t>= ( W</a:t>
            </a:r>
            <a:r>
              <a:rPr lang="en-US" altLang="zh-CN" baseline="-25000" dirty="0"/>
              <a:t>1 </a:t>
            </a:r>
            <a:r>
              <a:rPr lang="en-US" altLang="zh-CN" dirty="0"/>
              <a:t>- F +2P ) / S + </a:t>
            </a:r>
            <a:r>
              <a:rPr lang="en-US" altLang="zh-CN" dirty="0" smtClean="0"/>
              <a:t>1</a:t>
            </a:r>
            <a:r>
              <a:rPr lang="zh-CN" altLang="en-US" dirty="0" smtClean="0"/>
              <a:t>， </a:t>
            </a:r>
            <a:r>
              <a:rPr lang="en-US" altLang="zh-CN" dirty="0"/>
              <a:t>H</a:t>
            </a:r>
            <a:r>
              <a:rPr lang="en-US" altLang="zh-CN" baseline="-25000" dirty="0" smtClean="0"/>
              <a:t>2 </a:t>
            </a:r>
            <a:r>
              <a:rPr lang="en-US" altLang="zh-CN" dirty="0"/>
              <a:t>=</a:t>
            </a:r>
            <a:r>
              <a:rPr lang="zh-CN" altLang="en-US" dirty="0"/>
              <a:t>（</a:t>
            </a:r>
            <a:r>
              <a:rPr lang="en-US" altLang="zh-CN" dirty="0"/>
              <a:t>4 – 3 + 2 × 1) / 1 + 1 = </a:t>
            </a:r>
            <a:r>
              <a:rPr lang="en-US" altLang="zh-CN" dirty="0" smtClean="0"/>
              <a:t>4</a:t>
            </a:r>
            <a:endParaRPr lang="en-US" altLang="zh-CN" dirty="0"/>
          </a:p>
          <a:p>
            <a:pPr marL="228600" lvl="1">
              <a:spcBef>
                <a:spcPts val="1000"/>
              </a:spcBef>
            </a:pPr>
            <a:r>
              <a:rPr lang="en-US" altLang="zh-CN" dirty="0"/>
              <a:t>D</a:t>
            </a:r>
            <a:r>
              <a:rPr lang="en-US" altLang="zh-CN" baseline="-25000" dirty="0"/>
              <a:t>2</a:t>
            </a:r>
            <a:r>
              <a:rPr lang="en-US" altLang="zh-CN" dirty="0"/>
              <a:t> = </a:t>
            </a:r>
            <a:r>
              <a:rPr lang="en-US" altLang="zh-CN" dirty="0" smtClean="0"/>
              <a:t>K </a:t>
            </a:r>
            <a:r>
              <a:rPr lang="zh-CN" altLang="en-US" dirty="0" smtClean="0"/>
              <a:t>，</a:t>
            </a:r>
            <a:r>
              <a:rPr lang="en-US" altLang="zh-CN" dirty="0"/>
              <a:t> </a:t>
            </a:r>
            <a:r>
              <a:rPr lang="en-US" altLang="zh-CN" dirty="0" smtClean="0"/>
              <a:t>D</a:t>
            </a:r>
            <a:r>
              <a:rPr lang="en-US" altLang="zh-CN" baseline="-25000" dirty="0" smtClean="0"/>
              <a:t>2 </a:t>
            </a:r>
            <a:r>
              <a:rPr lang="en-US" altLang="zh-CN" dirty="0"/>
              <a:t>= </a:t>
            </a:r>
            <a:r>
              <a:rPr lang="en-US" altLang="zh-CN" dirty="0" smtClean="0"/>
              <a:t>1</a:t>
            </a:r>
            <a:endParaRPr lang="en-US" altLang="zh-CN" dirty="0"/>
          </a:p>
        </p:txBody>
      </p:sp>
      <p:graphicFrame>
        <p:nvGraphicFramePr>
          <p:cNvPr id="4" name="表格 3"/>
          <p:cNvGraphicFramePr>
            <a:graphicFrameLocks noGrp="1"/>
          </p:cNvGraphicFramePr>
          <p:nvPr>
            <p:extLst>
              <p:ext uri="{D42A27DB-BD31-4B8C-83A1-F6EECF244321}">
                <p14:modId xmlns:p14="http://schemas.microsoft.com/office/powerpoint/2010/main" val="3898376023"/>
              </p:ext>
            </p:extLst>
          </p:nvPr>
        </p:nvGraphicFramePr>
        <p:xfrm>
          <a:off x="1223749" y="2549259"/>
          <a:ext cx="3238500" cy="3240090"/>
        </p:xfrm>
        <a:graphic>
          <a:graphicData uri="http://schemas.openxmlformats.org/drawingml/2006/table">
            <a:tbl>
              <a:tblPr firstRow="1" bandRow="1">
                <a:tableStyleId>{5940675A-B579-460E-94D1-54222C63F5DA}</a:tableStyleId>
              </a:tblPr>
              <a:tblGrid>
                <a:gridCol w="539750"/>
                <a:gridCol w="539750"/>
                <a:gridCol w="539750"/>
                <a:gridCol w="539750"/>
                <a:gridCol w="539750"/>
                <a:gridCol w="539750"/>
              </a:tblGrid>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3</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3</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5</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r>
            </a:tbl>
          </a:graphicData>
        </a:graphic>
      </p:graphicFrame>
      <p:sp>
        <p:nvSpPr>
          <p:cNvPr id="5" name="文本框 21"/>
          <p:cNvSpPr txBox="1">
            <a:spLocks noChangeArrowheads="1"/>
          </p:cNvSpPr>
          <p:nvPr/>
        </p:nvSpPr>
        <p:spPr bwMode="auto">
          <a:xfrm>
            <a:off x="1464526" y="5946159"/>
            <a:ext cx="26340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输入</a:t>
            </a:r>
            <a:r>
              <a:rPr lang="en-US" altLang="zh-CN" b="1" dirty="0" smtClean="0"/>
              <a:t>(4,4)</a:t>
            </a:r>
            <a:r>
              <a:rPr lang="zh-CN" altLang="en-US" b="1" dirty="0" smtClean="0"/>
              <a:t>，</a:t>
            </a:r>
            <a:r>
              <a:rPr lang="zh-CN" altLang="en-US" b="1" dirty="0"/>
              <a:t>单通道</a:t>
            </a:r>
            <a:r>
              <a:rPr lang="zh-CN" altLang="en-US" b="1" dirty="0" smtClean="0"/>
              <a:t>填充</a:t>
            </a:r>
            <a:r>
              <a:rPr lang="en-US" altLang="zh-CN" b="1" dirty="0" smtClean="0"/>
              <a:t>1</a:t>
            </a:r>
            <a:endParaRPr lang="zh-CN" altLang="en-US" b="1" dirty="0"/>
          </a:p>
        </p:txBody>
      </p:sp>
      <p:graphicFrame>
        <p:nvGraphicFramePr>
          <p:cNvPr id="6" name="表格 5"/>
          <p:cNvGraphicFramePr>
            <a:graphicFrameLocks noGrp="1"/>
          </p:cNvGraphicFramePr>
          <p:nvPr>
            <p:extLst>
              <p:ext uri="{D42A27DB-BD31-4B8C-83A1-F6EECF244321}">
                <p14:modId xmlns:p14="http://schemas.microsoft.com/office/powerpoint/2010/main" val="1887281796"/>
              </p:ext>
            </p:extLst>
          </p:nvPr>
        </p:nvGraphicFramePr>
        <p:xfrm>
          <a:off x="5015978" y="3338247"/>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-4</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r>
            </a:tbl>
          </a:graphicData>
        </a:graphic>
      </p:graphicFrame>
      <p:sp>
        <p:nvSpPr>
          <p:cNvPr id="7" name="文本框 22"/>
          <p:cNvSpPr txBox="1">
            <a:spLocks noChangeArrowheads="1"/>
          </p:cNvSpPr>
          <p:nvPr/>
        </p:nvSpPr>
        <p:spPr bwMode="auto">
          <a:xfrm>
            <a:off x="4999433" y="5946159"/>
            <a:ext cx="1669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1</a:t>
            </a:r>
            <a:r>
              <a:rPr lang="zh-CN" altLang="en-US" b="1" dirty="0" smtClean="0"/>
              <a:t>个</a:t>
            </a:r>
            <a:r>
              <a:rPr lang="en-US" altLang="zh-CN" b="1" dirty="0" smtClean="0"/>
              <a:t>3×3</a:t>
            </a:r>
            <a:r>
              <a:rPr lang="zh-CN" altLang="en-US" b="1" dirty="0"/>
              <a:t>卷积核</a:t>
            </a:r>
          </a:p>
        </p:txBody>
      </p:sp>
      <p:sp>
        <p:nvSpPr>
          <p:cNvPr id="8" name="文本框 21"/>
          <p:cNvSpPr txBox="1">
            <a:spLocks noChangeArrowheads="1"/>
          </p:cNvSpPr>
          <p:nvPr/>
        </p:nvSpPr>
        <p:spPr bwMode="auto">
          <a:xfrm>
            <a:off x="8511413" y="5943154"/>
            <a:ext cx="20441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输出</a:t>
            </a:r>
            <a:r>
              <a:rPr lang="en-US" altLang="zh-CN" b="1" dirty="0" smtClean="0"/>
              <a:t>(4,4)</a:t>
            </a:r>
            <a:r>
              <a:rPr lang="zh-CN" altLang="en-US" b="1" dirty="0" smtClean="0"/>
              <a:t>，单通道</a:t>
            </a:r>
            <a:endParaRPr lang="zh-CN" altLang="en-US" b="1" dirty="0"/>
          </a:p>
        </p:txBody>
      </p:sp>
      <p:sp>
        <p:nvSpPr>
          <p:cNvPr id="9" name="文本框 6"/>
          <p:cNvSpPr txBox="1">
            <a:spLocks noChangeArrowheads="1"/>
          </p:cNvSpPr>
          <p:nvPr/>
        </p:nvSpPr>
        <p:spPr bwMode="auto">
          <a:xfrm>
            <a:off x="4546816" y="3963722"/>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Wingdings 2" panose="05020102010507070707" pitchFamily="18" charset="2"/>
              </a:rPr>
              <a:t></a:t>
            </a:r>
            <a:endParaRPr lang="zh-CN" altLang="en-US"/>
          </a:p>
        </p:txBody>
      </p:sp>
      <p:sp>
        <p:nvSpPr>
          <p:cNvPr id="10" name="文本框 24"/>
          <p:cNvSpPr txBox="1">
            <a:spLocks noChangeArrowheads="1"/>
          </p:cNvSpPr>
          <p:nvPr/>
        </p:nvSpPr>
        <p:spPr bwMode="auto">
          <a:xfrm>
            <a:off x="6709280" y="3975457"/>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Symbol" panose="05050102010706020507" pitchFamily="18" charset="2"/>
              </a:rPr>
              <a:t></a:t>
            </a:r>
            <a:endParaRPr lang="zh-CN" altLang="en-US" dirty="0"/>
          </a:p>
        </p:txBody>
      </p:sp>
      <p:graphicFrame>
        <p:nvGraphicFramePr>
          <p:cNvPr id="11" name="表格 10"/>
          <p:cNvGraphicFramePr>
            <a:graphicFrameLocks noGrp="1"/>
          </p:cNvGraphicFramePr>
          <p:nvPr>
            <p:extLst>
              <p:ext uri="{D42A27DB-BD31-4B8C-83A1-F6EECF244321}">
                <p14:modId xmlns:p14="http://schemas.microsoft.com/office/powerpoint/2010/main" val="1971240551"/>
              </p:ext>
            </p:extLst>
          </p:nvPr>
        </p:nvGraphicFramePr>
        <p:xfrm>
          <a:off x="7104567" y="3877997"/>
          <a:ext cx="541338" cy="541338"/>
        </p:xfrm>
        <a:graphic>
          <a:graphicData uri="http://schemas.openxmlformats.org/drawingml/2006/table">
            <a:tbl>
              <a:tblPr firstRow="1" bandRow="1">
                <a:tableStyleId>{5C22544A-7EE6-4342-B048-85BDC9FD1C3A}</a:tableStyleId>
              </a:tblPr>
              <a:tblGrid>
                <a:gridCol w="541338"/>
              </a:tblGrid>
              <a:tr h="541338">
                <a:tc>
                  <a:txBody>
                    <a:bodyPr/>
                    <a:lstStyle/>
                    <a:p>
                      <a:pPr algn="ctr"/>
                      <a:r>
                        <a:rPr lang="en-US" altLang="zh-CN" sz="1800" b="1" dirty="0" smtClean="0">
                          <a:solidFill>
                            <a:schemeClr val="tx1"/>
                          </a:solidFill>
                        </a:rPr>
                        <a:t>2</a:t>
                      </a:r>
                      <a:endParaRPr lang="zh-CN" altLang="en-US" sz="1800" b="1" dirty="0">
                        <a:solidFill>
                          <a:schemeClr val="tx1"/>
                        </a:solidFill>
                      </a:endParaRPr>
                    </a:p>
                  </a:txBody>
                  <a:tcPr marL="91678" marR="91678" marT="45839" marB="4583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r>
            </a:tbl>
          </a:graphicData>
        </a:graphic>
      </p:graphicFrame>
      <p:sp>
        <p:nvSpPr>
          <p:cNvPr id="12" name="文本框 23"/>
          <p:cNvSpPr txBox="1">
            <a:spLocks noChangeArrowheads="1"/>
          </p:cNvSpPr>
          <p:nvPr/>
        </p:nvSpPr>
        <p:spPr bwMode="auto">
          <a:xfrm>
            <a:off x="7104567" y="594315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偏置</a:t>
            </a:r>
          </a:p>
        </p:txBody>
      </p:sp>
      <p:graphicFrame>
        <p:nvGraphicFramePr>
          <p:cNvPr id="13" name="表格 12"/>
          <p:cNvGraphicFramePr>
            <a:graphicFrameLocks noGrp="1"/>
          </p:cNvGraphicFramePr>
          <p:nvPr>
            <p:extLst>
              <p:ext uri="{D42A27DB-BD31-4B8C-83A1-F6EECF244321}">
                <p14:modId xmlns:p14="http://schemas.microsoft.com/office/powerpoint/2010/main" val="1219436720"/>
              </p:ext>
            </p:extLst>
          </p:nvPr>
        </p:nvGraphicFramePr>
        <p:xfrm>
          <a:off x="8350070" y="3080901"/>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-8</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-4</a:t>
                      </a:r>
                      <a:endParaRPr lang="zh-CN" altLang="en-US" sz="1800" b="1" dirty="0"/>
                    </a:p>
                  </a:txBody>
                  <a:tcPr marL="91456" marR="91456" marT="45695" marB="45695" anchor="ctr">
                    <a:solidFill>
                      <a:schemeClr val="bg2">
                        <a:lumMod val="90000"/>
                      </a:schemeClr>
                    </a:solidFill>
                  </a:tcPr>
                </a:tc>
              </a:tr>
              <a:tr h="539750">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10</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5</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0</a:t>
                      </a:r>
                      <a:endParaRPr lang="zh-CN" altLang="en-US" sz="1800" b="1" dirty="0"/>
                    </a:p>
                  </a:txBody>
                  <a:tcPr marL="91456" marR="91456" marT="45695" marB="45695" anchor="ctr">
                    <a:solidFill>
                      <a:schemeClr val="bg2">
                        <a:lumMod val="90000"/>
                      </a:schemeClr>
                    </a:solidFill>
                  </a:tcPr>
                </a:tc>
              </a:tr>
              <a:tr h="539750">
                <a:tc>
                  <a:txBody>
                    <a:bodyPr/>
                    <a:lstStyle/>
                    <a:p>
                      <a:pPr algn="ctr"/>
                      <a:r>
                        <a:rPr lang="en-US" altLang="zh-CN" sz="1800" b="1" dirty="0" smtClean="0"/>
                        <a:t>0</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-2</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5</a:t>
                      </a:r>
                      <a:endParaRPr lang="zh-CN" altLang="en-US" sz="1800" b="1" dirty="0"/>
                    </a:p>
                  </a:txBody>
                  <a:tcPr marL="91456" marR="91456" marT="45695" marB="45695" anchor="ctr">
                    <a:solidFill>
                      <a:schemeClr val="bg2">
                        <a:lumMod val="90000"/>
                      </a:schemeClr>
                    </a:solidFill>
                  </a:tcPr>
                </a:tc>
              </a:tr>
              <a:tr h="539750">
                <a:tc>
                  <a:txBody>
                    <a:bodyPr/>
                    <a:lstStyle/>
                    <a:p>
                      <a:pPr algn="ctr"/>
                      <a:r>
                        <a:rPr lang="en-US" altLang="zh-CN" sz="1800" b="1" dirty="0" smtClean="0"/>
                        <a:t>5</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-12</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1</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0</a:t>
                      </a:r>
                      <a:endParaRPr lang="zh-CN" altLang="en-US" sz="1800" b="1" dirty="0"/>
                    </a:p>
                  </a:txBody>
                  <a:tcPr marL="91456" marR="91456" marT="45695" marB="45695" anchor="ctr">
                    <a:solidFill>
                      <a:schemeClr val="bg2">
                        <a:lumMod val="90000"/>
                      </a:schemeClr>
                    </a:solidFill>
                  </a:tcPr>
                </a:tc>
              </a:tr>
            </a:tbl>
          </a:graphicData>
        </a:graphic>
      </p:graphicFrame>
      <p:sp>
        <p:nvSpPr>
          <p:cNvPr id="14" name="文本框 23"/>
          <p:cNvSpPr txBox="1">
            <a:spLocks noChangeArrowheads="1"/>
          </p:cNvSpPr>
          <p:nvPr/>
        </p:nvSpPr>
        <p:spPr bwMode="auto">
          <a:xfrm>
            <a:off x="7750898" y="3976013"/>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a:t>
            </a:r>
            <a:endParaRPr lang="zh-CN" altLang="en-US" b="1" dirty="0"/>
          </a:p>
        </p:txBody>
      </p:sp>
    </p:spTree>
    <p:extLst>
      <p:ext uri="{BB962C8B-B14F-4D97-AF65-F5344CB8AC3E}">
        <p14:creationId xmlns:p14="http://schemas.microsoft.com/office/powerpoint/2010/main" val="2926250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表格 33"/>
          <p:cNvGraphicFramePr>
            <a:graphicFrameLocks noGrp="1"/>
          </p:cNvGraphicFramePr>
          <p:nvPr>
            <p:extLst>
              <p:ext uri="{D42A27DB-BD31-4B8C-83A1-F6EECF244321}">
                <p14:modId xmlns:p14="http://schemas.microsoft.com/office/powerpoint/2010/main" val="1383369030"/>
              </p:ext>
            </p:extLst>
          </p:nvPr>
        </p:nvGraphicFramePr>
        <p:xfrm>
          <a:off x="9600530" y="2528351"/>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graphicFrame>
        <p:nvGraphicFramePr>
          <p:cNvPr id="33" name="表格 32"/>
          <p:cNvGraphicFramePr>
            <a:graphicFrameLocks noGrp="1"/>
          </p:cNvGraphicFramePr>
          <p:nvPr>
            <p:extLst>
              <p:ext uri="{D42A27DB-BD31-4B8C-83A1-F6EECF244321}">
                <p14:modId xmlns:p14="http://schemas.microsoft.com/office/powerpoint/2010/main" val="2114749413"/>
              </p:ext>
            </p:extLst>
          </p:nvPr>
        </p:nvGraphicFramePr>
        <p:xfrm>
          <a:off x="9229235" y="2874860"/>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graphicFrame>
        <p:nvGraphicFramePr>
          <p:cNvPr id="32" name="表格 31"/>
          <p:cNvGraphicFramePr>
            <a:graphicFrameLocks noGrp="1"/>
          </p:cNvGraphicFramePr>
          <p:nvPr>
            <p:extLst>
              <p:ext uri="{D42A27DB-BD31-4B8C-83A1-F6EECF244321}">
                <p14:modId xmlns:p14="http://schemas.microsoft.com/office/powerpoint/2010/main" val="4219560104"/>
              </p:ext>
            </p:extLst>
          </p:nvPr>
        </p:nvGraphicFramePr>
        <p:xfrm>
          <a:off x="9098165" y="3019238"/>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graphicFrame>
        <p:nvGraphicFramePr>
          <p:cNvPr id="16" name="表格 15"/>
          <p:cNvGraphicFramePr>
            <a:graphicFrameLocks noGrp="1"/>
          </p:cNvGraphicFramePr>
          <p:nvPr>
            <p:extLst>
              <p:ext uri="{D42A27DB-BD31-4B8C-83A1-F6EECF244321}">
                <p14:modId xmlns:p14="http://schemas.microsoft.com/office/powerpoint/2010/main" val="2399120193"/>
              </p:ext>
            </p:extLst>
          </p:nvPr>
        </p:nvGraphicFramePr>
        <p:xfrm>
          <a:off x="1105170" y="2247223"/>
          <a:ext cx="3238500" cy="3240090"/>
        </p:xfrm>
        <a:graphic>
          <a:graphicData uri="http://schemas.openxmlformats.org/drawingml/2006/table">
            <a:tbl>
              <a:tblPr firstRow="1" bandRow="1">
                <a:effectLst>
                  <a:outerShdw blurRad="50800" dist="50800" dir="5400000" algn="ctr" rotWithShape="0">
                    <a:srgbClr val="000000">
                      <a:alpha val="30000"/>
                    </a:srgbClr>
                  </a:outerShdw>
                </a:effectLst>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r>
            </a:tbl>
          </a:graphicData>
        </a:graphic>
      </p:graphicFrame>
      <p:graphicFrame>
        <p:nvGraphicFramePr>
          <p:cNvPr id="15" name="表格 14"/>
          <p:cNvGraphicFramePr>
            <a:graphicFrameLocks noGrp="1"/>
          </p:cNvGraphicFramePr>
          <p:nvPr>
            <p:extLst>
              <p:ext uri="{D42A27DB-BD31-4B8C-83A1-F6EECF244321}">
                <p14:modId xmlns:p14="http://schemas.microsoft.com/office/powerpoint/2010/main" val="357681744"/>
              </p:ext>
            </p:extLst>
          </p:nvPr>
        </p:nvGraphicFramePr>
        <p:xfrm>
          <a:off x="960773" y="2364023"/>
          <a:ext cx="3238500" cy="3240090"/>
        </p:xfrm>
        <a:graphic>
          <a:graphicData uri="http://schemas.openxmlformats.org/drawingml/2006/table">
            <a:tbl>
              <a:tblPr firstRow="1" bandRow="1">
                <a:effectLst>
                  <a:outerShdw blurRad="50800" dist="50800" dir="5400000" algn="ctr" rotWithShape="0">
                    <a:srgbClr val="000000">
                      <a:alpha val="30000"/>
                    </a:srgbClr>
                  </a:outerShdw>
                </a:effectLst>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r>
            </a:tbl>
          </a:graphicData>
        </a:graphic>
      </p:graphicFrame>
      <p:sp>
        <p:nvSpPr>
          <p:cNvPr id="2" name="标题 1"/>
          <p:cNvSpPr>
            <a:spLocks noGrp="1"/>
          </p:cNvSpPr>
          <p:nvPr>
            <p:ph type="title"/>
          </p:nvPr>
        </p:nvSpPr>
        <p:spPr/>
        <p:txBody>
          <a:bodyPr/>
          <a:lstStyle/>
          <a:p>
            <a:r>
              <a:rPr lang="zh-CN" altLang="en-US" dirty="0" smtClean="0"/>
              <a:t>步长与填充总结</a:t>
            </a:r>
            <a:endParaRPr lang="zh-CN" altLang="en-US" dirty="0"/>
          </a:p>
        </p:txBody>
      </p:sp>
      <p:sp>
        <p:nvSpPr>
          <p:cNvPr id="3" name="内容占位符 2"/>
          <p:cNvSpPr>
            <a:spLocks noGrp="1"/>
          </p:cNvSpPr>
          <p:nvPr>
            <p:ph sz="quarter" idx="13"/>
          </p:nvPr>
        </p:nvSpPr>
        <p:spPr/>
        <p:txBody>
          <a:bodyPr/>
          <a:lstStyle/>
          <a:p>
            <a:r>
              <a:rPr lang="zh-CN" altLang="en-US" dirty="0" smtClean="0"/>
              <a:t>一般情况：</a:t>
            </a:r>
            <a:endParaRPr lang="en-US" altLang="zh-CN" dirty="0" smtClean="0"/>
          </a:p>
          <a:p>
            <a:r>
              <a:rPr lang="zh-CN" altLang="en-US" dirty="0" smtClean="0"/>
              <a:t>该卷积层所含参数数量为</a:t>
            </a:r>
            <a:r>
              <a:rPr lang="en-US" altLang="zh-CN" dirty="0" smtClean="0"/>
              <a:t>F</a:t>
            </a:r>
            <a:r>
              <a:rPr lang="en-US" altLang="zh-CN" baseline="30000" dirty="0" smtClean="0"/>
              <a:t>2</a:t>
            </a:r>
            <a:r>
              <a:rPr lang="en-US" altLang="zh-CN" b="1" dirty="0" smtClean="0"/>
              <a:t>×</a:t>
            </a:r>
            <a:r>
              <a:rPr lang="en-US" altLang="zh-CN" dirty="0" smtClean="0"/>
              <a:t>D</a:t>
            </a:r>
            <a:r>
              <a:rPr lang="en-US" altLang="zh-CN" baseline="-25000" dirty="0" smtClean="0"/>
              <a:t>1</a:t>
            </a:r>
            <a:r>
              <a:rPr lang="en-US" altLang="zh-CN" b="1" dirty="0"/>
              <a:t>×</a:t>
            </a:r>
            <a:r>
              <a:rPr lang="en-US" altLang="zh-CN" dirty="0" smtClean="0"/>
              <a:t>K + K</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4135534624"/>
              </p:ext>
            </p:extLst>
          </p:nvPr>
        </p:nvGraphicFramePr>
        <p:xfrm>
          <a:off x="830184" y="2482361"/>
          <a:ext cx="3238500" cy="3240090"/>
        </p:xfrm>
        <a:graphic>
          <a:graphicData uri="http://schemas.openxmlformats.org/drawingml/2006/table">
            <a:tbl>
              <a:tblPr firstRow="1" bandRow="1">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r>
            </a:tbl>
          </a:graphicData>
        </a:graphic>
      </p:graphicFrame>
      <p:sp>
        <p:nvSpPr>
          <p:cNvPr id="5" name="文本框 21"/>
          <p:cNvSpPr txBox="1">
            <a:spLocks noChangeArrowheads="1"/>
          </p:cNvSpPr>
          <p:nvPr/>
        </p:nvSpPr>
        <p:spPr bwMode="auto">
          <a:xfrm>
            <a:off x="669925" y="5767942"/>
            <a:ext cx="39917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输入</a:t>
            </a:r>
            <a:r>
              <a:rPr lang="en-US" altLang="zh-CN" b="1" dirty="0" smtClean="0"/>
              <a:t>(W</a:t>
            </a:r>
            <a:r>
              <a:rPr lang="en-US" altLang="zh-CN" b="1" baseline="-25000" dirty="0" smtClean="0"/>
              <a:t>1</a:t>
            </a:r>
            <a:r>
              <a:rPr lang="zh-CN" altLang="en-US" b="1" dirty="0" smtClean="0"/>
              <a:t>，</a:t>
            </a:r>
            <a:r>
              <a:rPr lang="en-US" altLang="zh-CN" b="1" dirty="0" smtClean="0"/>
              <a:t>H</a:t>
            </a:r>
            <a:r>
              <a:rPr lang="en-US" altLang="zh-CN" b="1" baseline="-25000" dirty="0" smtClean="0"/>
              <a:t>1</a:t>
            </a:r>
            <a:r>
              <a:rPr lang="en-US" altLang="zh-CN" b="1" dirty="0" smtClean="0"/>
              <a:t>)</a:t>
            </a:r>
            <a:r>
              <a:rPr lang="zh-CN" altLang="en-US" b="1" dirty="0" smtClean="0"/>
              <a:t>，通道</a:t>
            </a:r>
            <a:r>
              <a:rPr lang="en-US" altLang="zh-CN" b="1" dirty="0" smtClean="0"/>
              <a:t>D</a:t>
            </a:r>
            <a:r>
              <a:rPr lang="en-US" altLang="zh-CN" b="1" baseline="-25000" dirty="0" smtClean="0"/>
              <a:t>1</a:t>
            </a:r>
            <a:r>
              <a:rPr lang="zh-CN" altLang="en-US" b="1" dirty="0" smtClean="0"/>
              <a:t>填充</a:t>
            </a:r>
            <a:r>
              <a:rPr lang="en-US" altLang="zh-CN" b="1" dirty="0" smtClean="0"/>
              <a:t>P</a:t>
            </a:r>
            <a:r>
              <a:rPr lang="zh-CN" altLang="en-US" b="1" dirty="0" smtClean="0"/>
              <a:t>，步长</a:t>
            </a:r>
            <a:r>
              <a:rPr lang="en-US" altLang="zh-CN" b="1" dirty="0" smtClean="0"/>
              <a:t>S</a:t>
            </a:r>
            <a:endParaRPr lang="zh-CN" altLang="en-US" b="1" dirty="0"/>
          </a:p>
        </p:txBody>
      </p:sp>
      <p:sp>
        <p:nvSpPr>
          <p:cNvPr id="7" name="文本框 22"/>
          <p:cNvSpPr txBox="1">
            <a:spLocks noChangeArrowheads="1"/>
          </p:cNvSpPr>
          <p:nvPr/>
        </p:nvSpPr>
        <p:spPr bwMode="auto">
          <a:xfrm>
            <a:off x="4988330" y="5762658"/>
            <a:ext cx="24625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K</a:t>
            </a:r>
            <a:r>
              <a:rPr lang="zh-CN" altLang="en-US" b="1" dirty="0" smtClean="0"/>
              <a:t>个</a:t>
            </a:r>
            <a:r>
              <a:rPr lang="en-US" altLang="zh-CN" b="1" dirty="0" smtClean="0"/>
              <a:t>(F,F)</a:t>
            </a:r>
            <a:r>
              <a:rPr lang="zh-CN" altLang="en-US" b="1" dirty="0" smtClean="0"/>
              <a:t>通道</a:t>
            </a:r>
            <a:r>
              <a:rPr lang="en-US" altLang="zh-CN" b="1" dirty="0"/>
              <a:t>D</a:t>
            </a:r>
            <a:r>
              <a:rPr lang="en-US" altLang="zh-CN" b="1" baseline="-25000" dirty="0"/>
              <a:t>1</a:t>
            </a:r>
            <a:r>
              <a:rPr lang="zh-CN" altLang="en-US" b="1" dirty="0" smtClean="0"/>
              <a:t>卷积</a:t>
            </a:r>
            <a:r>
              <a:rPr lang="zh-CN" altLang="en-US" b="1" dirty="0"/>
              <a:t>核</a:t>
            </a:r>
          </a:p>
        </p:txBody>
      </p:sp>
      <p:sp>
        <p:nvSpPr>
          <p:cNvPr id="8" name="文本框 21"/>
          <p:cNvSpPr txBox="1">
            <a:spLocks noChangeArrowheads="1"/>
          </p:cNvSpPr>
          <p:nvPr/>
        </p:nvSpPr>
        <p:spPr bwMode="auto">
          <a:xfrm>
            <a:off x="8867333" y="5767942"/>
            <a:ext cx="27286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输出</a:t>
            </a:r>
            <a:r>
              <a:rPr lang="en-US" altLang="zh-CN" b="1" dirty="0" smtClean="0"/>
              <a:t>(W</a:t>
            </a:r>
            <a:r>
              <a:rPr lang="en-US" altLang="zh-CN" b="1" baseline="-25000" dirty="0" smtClean="0"/>
              <a:t>2</a:t>
            </a:r>
            <a:r>
              <a:rPr lang="en-US" altLang="zh-CN" b="1" dirty="0" smtClean="0"/>
              <a:t>,H</a:t>
            </a:r>
            <a:r>
              <a:rPr lang="en-US" altLang="zh-CN" b="1" baseline="-25000" dirty="0" smtClean="0"/>
              <a:t>2</a:t>
            </a:r>
            <a:r>
              <a:rPr lang="en-US" altLang="zh-CN" b="1" dirty="0" smtClean="0"/>
              <a:t>)</a:t>
            </a:r>
            <a:r>
              <a:rPr lang="zh-CN" altLang="en-US" b="1" dirty="0" smtClean="0"/>
              <a:t>，</a:t>
            </a:r>
            <a:r>
              <a:rPr lang="en-US" altLang="zh-CN" b="1" dirty="0"/>
              <a:t> </a:t>
            </a:r>
            <a:r>
              <a:rPr lang="en-US" altLang="zh-CN" b="1" dirty="0" smtClean="0"/>
              <a:t>D</a:t>
            </a:r>
            <a:r>
              <a:rPr lang="en-US" altLang="zh-CN" b="1" baseline="-25000" dirty="0"/>
              <a:t>2</a:t>
            </a:r>
            <a:r>
              <a:rPr lang="en-US" altLang="zh-CN" b="1" dirty="0" smtClean="0"/>
              <a:t>=K</a:t>
            </a:r>
            <a:r>
              <a:rPr lang="zh-CN" altLang="en-US" b="1" dirty="0" smtClean="0"/>
              <a:t>通道</a:t>
            </a:r>
            <a:endParaRPr lang="zh-CN" altLang="en-US" b="1" dirty="0"/>
          </a:p>
        </p:txBody>
      </p:sp>
      <p:sp>
        <p:nvSpPr>
          <p:cNvPr id="9" name="文本框 6"/>
          <p:cNvSpPr txBox="1">
            <a:spLocks noChangeArrowheads="1"/>
          </p:cNvSpPr>
          <p:nvPr/>
        </p:nvSpPr>
        <p:spPr bwMode="auto">
          <a:xfrm>
            <a:off x="4449859" y="3661013"/>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Wingdings 2" panose="05020102010507070707" pitchFamily="18" charset="2"/>
              </a:rPr>
              <a:t></a:t>
            </a:r>
            <a:endParaRPr lang="zh-CN" altLang="en-US" dirty="0"/>
          </a:p>
        </p:txBody>
      </p:sp>
      <p:sp>
        <p:nvSpPr>
          <p:cNvPr id="10" name="文本框 24"/>
          <p:cNvSpPr txBox="1">
            <a:spLocks noChangeArrowheads="1"/>
          </p:cNvSpPr>
          <p:nvPr/>
        </p:nvSpPr>
        <p:spPr bwMode="auto">
          <a:xfrm>
            <a:off x="7148614" y="3661013"/>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Symbol" panose="05050102010706020507" pitchFamily="18" charset="2"/>
              </a:rPr>
              <a:t></a:t>
            </a:r>
            <a:endParaRPr lang="zh-CN" altLang="en-US" dirty="0"/>
          </a:p>
        </p:txBody>
      </p:sp>
      <p:graphicFrame>
        <p:nvGraphicFramePr>
          <p:cNvPr id="11" name="表格 10"/>
          <p:cNvGraphicFramePr>
            <a:graphicFrameLocks noGrp="1"/>
          </p:cNvGraphicFramePr>
          <p:nvPr>
            <p:extLst>
              <p:ext uri="{D42A27DB-BD31-4B8C-83A1-F6EECF244321}">
                <p14:modId xmlns:p14="http://schemas.microsoft.com/office/powerpoint/2010/main" val="30749019"/>
              </p:ext>
            </p:extLst>
          </p:nvPr>
        </p:nvGraphicFramePr>
        <p:xfrm>
          <a:off x="7535324" y="1851452"/>
          <a:ext cx="541338" cy="541338"/>
        </p:xfrm>
        <a:graphic>
          <a:graphicData uri="http://schemas.openxmlformats.org/drawingml/2006/table">
            <a:tbl>
              <a:tblPr firstRow="1" bandRow="1">
                <a:tableStyleId>{5C22544A-7EE6-4342-B048-85BDC9FD1C3A}</a:tableStyleId>
              </a:tblPr>
              <a:tblGrid>
                <a:gridCol w="541338"/>
              </a:tblGrid>
              <a:tr h="541338">
                <a:tc>
                  <a:txBody>
                    <a:bodyPr/>
                    <a:lstStyle/>
                    <a:p>
                      <a:pPr algn="ctr"/>
                      <a:endParaRPr lang="zh-CN" altLang="en-US" sz="1800" b="1" dirty="0">
                        <a:solidFill>
                          <a:schemeClr val="tx1"/>
                        </a:solidFill>
                      </a:endParaRPr>
                    </a:p>
                  </a:txBody>
                  <a:tcPr marL="91678" marR="91678" marT="45839" marB="4583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r>
            </a:tbl>
          </a:graphicData>
        </a:graphic>
      </p:graphicFrame>
      <p:sp>
        <p:nvSpPr>
          <p:cNvPr id="12" name="文本框 23"/>
          <p:cNvSpPr txBox="1">
            <a:spLocks noChangeArrowheads="1"/>
          </p:cNvSpPr>
          <p:nvPr/>
        </p:nvSpPr>
        <p:spPr bwMode="auto">
          <a:xfrm>
            <a:off x="7413946" y="5767942"/>
            <a:ext cx="10823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K</a:t>
            </a:r>
            <a:r>
              <a:rPr lang="zh-CN" altLang="en-US" b="1" dirty="0" smtClean="0"/>
              <a:t>个偏置</a:t>
            </a:r>
            <a:endParaRPr lang="zh-CN" altLang="en-US" b="1" dirty="0"/>
          </a:p>
        </p:txBody>
      </p:sp>
      <p:graphicFrame>
        <p:nvGraphicFramePr>
          <p:cNvPr id="13" name="表格 12"/>
          <p:cNvGraphicFramePr>
            <a:graphicFrameLocks noGrp="1"/>
          </p:cNvGraphicFramePr>
          <p:nvPr>
            <p:extLst>
              <p:ext uri="{D42A27DB-BD31-4B8C-83A1-F6EECF244321}">
                <p14:modId xmlns:p14="http://schemas.microsoft.com/office/powerpoint/2010/main" val="2997190911"/>
              </p:ext>
            </p:extLst>
          </p:nvPr>
        </p:nvGraphicFramePr>
        <p:xfrm>
          <a:off x="8972490" y="3145971"/>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sp>
        <p:nvSpPr>
          <p:cNvPr id="14" name="文本框 23"/>
          <p:cNvSpPr txBox="1">
            <a:spLocks noChangeArrowheads="1"/>
          </p:cNvSpPr>
          <p:nvPr/>
        </p:nvSpPr>
        <p:spPr bwMode="auto">
          <a:xfrm>
            <a:off x="8529792" y="3658929"/>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a:t>
            </a:r>
            <a:endParaRPr lang="zh-CN" altLang="en-US" b="1" dirty="0"/>
          </a:p>
        </p:txBody>
      </p:sp>
      <p:graphicFrame>
        <p:nvGraphicFramePr>
          <p:cNvPr id="19" name="表格 18"/>
          <p:cNvGraphicFramePr>
            <a:graphicFrameLocks noGrp="1"/>
          </p:cNvGraphicFramePr>
          <p:nvPr>
            <p:extLst>
              <p:ext uri="{D42A27DB-BD31-4B8C-83A1-F6EECF244321}">
                <p14:modId xmlns:p14="http://schemas.microsoft.com/office/powerpoint/2010/main" val="3631778699"/>
              </p:ext>
            </p:extLst>
          </p:nvPr>
        </p:nvGraphicFramePr>
        <p:xfrm>
          <a:off x="5364093" y="3819494"/>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20" name="表格 19"/>
          <p:cNvGraphicFramePr>
            <a:graphicFrameLocks noGrp="1"/>
          </p:cNvGraphicFramePr>
          <p:nvPr>
            <p:extLst>
              <p:ext uri="{D42A27DB-BD31-4B8C-83A1-F6EECF244321}">
                <p14:modId xmlns:p14="http://schemas.microsoft.com/office/powerpoint/2010/main" val="2347070496"/>
              </p:ext>
            </p:extLst>
          </p:nvPr>
        </p:nvGraphicFramePr>
        <p:xfrm>
          <a:off x="5220059" y="3946058"/>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21" name="表格 20"/>
          <p:cNvGraphicFramePr>
            <a:graphicFrameLocks noGrp="1"/>
          </p:cNvGraphicFramePr>
          <p:nvPr>
            <p:extLst>
              <p:ext uri="{D42A27DB-BD31-4B8C-83A1-F6EECF244321}">
                <p14:modId xmlns:p14="http://schemas.microsoft.com/office/powerpoint/2010/main" val="4058419113"/>
              </p:ext>
            </p:extLst>
          </p:nvPr>
        </p:nvGraphicFramePr>
        <p:xfrm>
          <a:off x="5117962" y="4062262"/>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22" name="表格 21"/>
          <p:cNvGraphicFramePr>
            <a:graphicFrameLocks noGrp="1"/>
          </p:cNvGraphicFramePr>
          <p:nvPr>
            <p:extLst>
              <p:ext uri="{D42A27DB-BD31-4B8C-83A1-F6EECF244321}">
                <p14:modId xmlns:p14="http://schemas.microsoft.com/office/powerpoint/2010/main" val="3662276177"/>
              </p:ext>
            </p:extLst>
          </p:nvPr>
        </p:nvGraphicFramePr>
        <p:xfrm>
          <a:off x="5429868" y="1209435"/>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23" name="表格 22"/>
          <p:cNvGraphicFramePr>
            <a:graphicFrameLocks noGrp="1"/>
          </p:cNvGraphicFramePr>
          <p:nvPr>
            <p:extLst>
              <p:ext uri="{D42A27DB-BD31-4B8C-83A1-F6EECF244321}">
                <p14:modId xmlns:p14="http://schemas.microsoft.com/office/powerpoint/2010/main" val="3969256859"/>
              </p:ext>
            </p:extLst>
          </p:nvPr>
        </p:nvGraphicFramePr>
        <p:xfrm>
          <a:off x="5285834" y="1335999"/>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1341885079"/>
              </p:ext>
            </p:extLst>
          </p:nvPr>
        </p:nvGraphicFramePr>
        <p:xfrm>
          <a:off x="5183737" y="1452203"/>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sp>
        <p:nvSpPr>
          <p:cNvPr id="25" name="文本框 24"/>
          <p:cNvSpPr txBox="1"/>
          <p:nvPr/>
        </p:nvSpPr>
        <p:spPr>
          <a:xfrm>
            <a:off x="5743470" y="3176337"/>
            <a:ext cx="461665" cy="553998"/>
          </a:xfrm>
          <a:prstGeom prst="rect">
            <a:avLst/>
          </a:prstGeom>
          <a:noFill/>
        </p:spPr>
        <p:txBody>
          <a:bodyPr vert="eaVert" wrap="none" rtlCol="0">
            <a:spAutoFit/>
          </a:bodyPr>
          <a:lstStyle/>
          <a:p>
            <a:r>
              <a:rPr lang="en-US" altLang="zh-CN" dirty="0" smtClean="0"/>
              <a:t>······</a:t>
            </a:r>
            <a:endParaRPr lang="zh-CN" altLang="en-US" dirty="0"/>
          </a:p>
        </p:txBody>
      </p:sp>
      <p:sp>
        <p:nvSpPr>
          <p:cNvPr id="26" name="文本框 25"/>
          <p:cNvSpPr txBox="1"/>
          <p:nvPr/>
        </p:nvSpPr>
        <p:spPr>
          <a:xfrm>
            <a:off x="7525108" y="3140964"/>
            <a:ext cx="461665" cy="553998"/>
          </a:xfrm>
          <a:prstGeom prst="rect">
            <a:avLst/>
          </a:prstGeom>
          <a:noFill/>
        </p:spPr>
        <p:txBody>
          <a:bodyPr vert="eaVert" wrap="none" rtlCol="0">
            <a:spAutoFit/>
          </a:bodyPr>
          <a:lstStyle/>
          <a:p>
            <a:r>
              <a:rPr lang="en-US" altLang="zh-CN" dirty="0" smtClean="0"/>
              <a:t>······</a:t>
            </a:r>
            <a:endParaRPr lang="zh-CN" altLang="en-US" dirty="0"/>
          </a:p>
        </p:txBody>
      </p:sp>
      <p:graphicFrame>
        <p:nvGraphicFramePr>
          <p:cNvPr id="28" name="表格 27"/>
          <p:cNvGraphicFramePr>
            <a:graphicFrameLocks noGrp="1"/>
          </p:cNvGraphicFramePr>
          <p:nvPr>
            <p:extLst>
              <p:ext uri="{D42A27DB-BD31-4B8C-83A1-F6EECF244321}">
                <p14:modId xmlns:p14="http://schemas.microsoft.com/office/powerpoint/2010/main" val="1896164751"/>
              </p:ext>
            </p:extLst>
          </p:nvPr>
        </p:nvGraphicFramePr>
        <p:xfrm>
          <a:off x="7535324" y="4476362"/>
          <a:ext cx="541338" cy="541338"/>
        </p:xfrm>
        <a:graphic>
          <a:graphicData uri="http://schemas.openxmlformats.org/drawingml/2006/table">
            <a:tbl>
              <a:tblPr firstRow="1" bandRow="1">
                <a:tableStyleId>{5C22544A-7EE6-4342-B048-85BDC9FD1C3A}</a:tableStyleId>
              </a:tblPr>
              <a:tblGrid>
                <a:gridCol w="541338"/>
              </a:tblGrid>
              <a:tr h="541338">
                <a:tc>
                  <a:txBody>
                    <a:bodyPr/>
                    <a:lstStyle/>
                    <a:p>
                      <a:pPr algn="ctr"/>
                      <a:endParaRPr lang="zh-CN" altLang="en-US" sz="1800" b="1" dirty="0">
                        <a:solidFill>
                          <a:schemeClr val="tx1"/>
                        </a:solidFill>
                      </a:endParaRPr>
                    </a:p>
                  </a:txBody>
                  <a:tcPr marL="91678" marR="91678" marT="45839" marB="4583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r>
            </a:tbl>
          </a:graphicData>
        </a:graphic>
      </p:graphicFrame>
      <p:sp>
        <p:nvSpPr>
          <p:cNvPr id="30" name="文本框 29"/>
          <p:cNvSpPr txBox="1"/>
          <p:nvPr/>
        </p:nvSpPr>
        <p:spPr>
          <a:xfrm>
            <a:off x="5924517" y="3114782"/>
            <a:ext cx="322524" cy="584775"/>
          </a:xfrm>
          <a:prstGeom prst="rect">
            <a:avLst/>
          </a:prstGeom>
          <a:noFill/>
        </p:spPr>
        <p:txBody>
          <a:bodyPr wrap="none" rtlCol="0">
            <a:spAutoFit/>
          </a:bodyPr>
          <a:lstStyle/>
          <a:p>
            <a:r>
              <a:rPr lang="en-US" altLang="zh-CN" sz="3200" dirty="0" smtClean="0"/>
              <a:t>}</a:t>
            </a:r>
            <a:endParaRPr lang="zh-CN" altLang="en-US" sz="3200" dirty="0"/>
          </a:p>
        </p:txBody>
      </p:sp>
      <p:sp>
        <p:nvSpPr>
          <p:cNvPr id="31" name="文本框 30"/>
          <p:cNvSpPr txBox="1"/>
          <p:nvPr/>
        </p:nvSpPr>
        <p:spPr>
          <a:xfrm>
            <a:off x="7708805" y="3074593"/>
            <a:ext cx="322524" cy="584775"/>
          </a:xfrm>
          <a:prstGeom prst="rect">
            <a:avLst/>
          </a:prstGeom>
          <a:noFill/>
        </p:spPr>
        <p:txBody>
          <a:bodyPr wrap="none" rtlCol="0">
            <a:spAutoFit/>
          </a:bodyPr>
          <a:lstStyle/>
          <a:p>
            <a:r>
              <a:rPr lang="en-US" altLang="zh-CN" sz="3200" dirty="0" smtClean="0"/>
              <a:t>}</a:t>
            </a:r>
            <a:endParaRPr lang="zh-CN" altLang="en-US" sz="3200" dirty="0"/>
          </a:p>
        </p:txBody>
      </p:sp>
      <p:sp>
        <p:nvSpPr>
          <p:cNvPr id="35" name="文本框 34"/>
          <p:cNvSpPr txBox="1"/>
          <p:nvPr/>
        </p:nvSpPr>
        <p:spPr>
          <a:xfrm rot="2700000">
            <a:off x="9207440" y="2578227"/>
            <a:ext cx="461665" cy="323165"/>
          </a:xfrm>
          <a:prstGeom prst="rect">
            <a:avLst/>
          </a:prstGeom>
          <a:noFill/>
        </p:spPr>
        <p:txBody>
          <a:bodyPr vert="eaVert" wrap="none" rtlCol="0">
            <a:spAutoFit/>
          </a:bodyPr>
          <a:lstStyle/>
          <a:p>
            <a:r>
              <a:rPr lang="en-US" altLang="zh-CN" dirty="0" smtClean="0"/>
              <a:t>···</a:t>
            </a:r>
            <a:endParaRPr lang="zh-CN" altLang="en-US" dirty="0"/>
          </a:p>
        </p:txBody>
      </p:sp>
      <p:sp>
        <p:nvSpPr>
          <p:cNvPr id="37" name="文本框 36"/>
          <p:cNvSpPr txBox="1"/>
          <p:nvPr/>
        </p:nvSpPr>
        <p:spPr>
          <a:xfrm rot="2700000">
            <a:off x="9226650" y="2448212"/>
            <a:ext cx="261610" cy="369332"/>
          </a:xfrm>
          <a:prstGeom prst="rect">
            <a:avLst/>
          </a:prstGeom>
          <a:noFill/>
        </p:spPr>
        <p:txBody>
          <a:bodyPr wrap="none" rtlCol="0">
            <a:spAutoFit/>
          </a:bodyPr>
          <a:lstStyle/>
          <a:p>
            <a:r>
              <a:rPr lang="en-US" altLang="zh-CN" dirty="0" smtClean="0"/>
              <a:t>{</a:t>
            </a:r>
            <a:endParaRPr lang="zh-CN" altLang="en-US" dirty="0"/>
          </a:p>
        </p:txBody>
      </p:sp>
      <p:sp>
        <p:nvSpPr>
          <p:cNvPr id="38" name="文本框 37"/>
          <p:cNvSpPr txBox="1"/>
          <p:nvPr/>
        </p:nvSpPr>
        <p:spPr>
          <a:xfrm rot="-2700000">
            <a:off x="8791683" y="2277665"/>
            <a:ext cx="800219" cy="369332"/>
          </a:xfrm>
          <a:prstGeom prst="rect">
            <a:avLst/>
          </a:prstGeom>
          <a:noFill/>
        </p:spPr>
        <p:txBody>
          <a:bodyPr wrap="none" rtlCol="0">
            <a:spAutoFit/>
          </a:bodyPr>
          <a:lstStyle/>
          <a:p>
            <a:r>
              <a:rPr lang="en-US" altLang="zh-CN" dirty="0" smtClean="0"/>
              <a:t>K</a:t>
            </a:r>
            <a:r>
              <a:rPr lang="zh-CN" altLang="en-US" dirty="0" smtClean="0"/>
              <a:t>通道</a:t>
            </a:r>
            <a:endParaRPr lang="zh-CN" altLang="en-US" dirty="0"/>
          </a:p>
        </p:txBody>
      </p:sp>
      <p:sp>
        <p:nvSpPr>
          <p:cNvPr id="40" name="文本框 39"/>
          <p:cNvSpPr txBox="1"/>
          <p:nvPr/>
        </p:nvSpPr>
        <p:spPr>
          <a:xfrm>
            <a:off x="6123842" y="3261813"/>
            <a:ext cx="569387" cy="369332"/>
          </a:xfrm>
          <a:prstGeom prst="rect">
            <a:avLst/>
          </a:prstGeom>
          <a:noFill/>
        </p:spPr>
        <p:txBody>
          <a:bodyPr wrap="none" rtlCol="0">
            <a:spAutoFit/>
          </a:bodyPr>
          <a:lstStyle/>
          <a:p>
            <a:r>
              <a:rPr lang="en-US" altLang="zh-CN" dirty="0" smtClean="0"/>
              <a:t>K</a:t>
            </a:r>
            <a:r>
              <a:rPr lang="zh-CN" altLang="en-US" dirty="0" smtClean="0"/>
              <a:t>个</a:t>
            </a:r>
            <a:endParaRPr lang="zh-CN" altLang="en-US" dirty="0"/>
          </a:p>
        </p:txBody>
      </p:sp>
      <p:sp>
        <p:nvSpPr>
          <p:cNvPr id="41" name="文本框 40"/>
          <p:cNvSpPr txBox="1"/>
          <p:nvPr/>
        </p:nvSpPr>
        <p:spPr>
          <a:xfrm>
            <a:off x="7911539" y="3222503"/>
            <a:ext cx="569387" cy="369332"/>
          </a:xfrm>
          <a:prstGeom prst="rect">
            <a:avLst/>
          </a:prstGeom>
          <a:noFill/>
        </p:spPr>
        <p:txBody>
          <a:bodyPr wrap="none" rtlCol="0">
            <a:spAutoFit/>
          </a:bodyPr>
          <a:lstStyle/>
          <a:p>
            <a:r>
              <a:rPr lang="en-US" altLang="zh-CN" dirty="0" smtClean="0"/>
              <a:t>K</a:t>
            </a:r>
            <a:r>
              <a:rPr lang="zh-CN" altLang="en-US" dirty="0" smtClean="0"/>
              <a:t>个</a:t>
            </a:r>
            <a:endParaRPr lang="zh-CN" altLang="en-US" dirty="0"/>
          </a:p>
        </p:txBody>
      </p:sp>
      <p:sp>
        <p:nvSpPr>
          <p:cNvPr id="43" name="矩形 42"/>
          <p:cNvSpPr/>
          <p:nvPr/>
        </p:nvSpPr>
        <p:spPr>
          <a:xfrm>
            <a:off x="4986779" y="1130299"/>
            <a:ext cx="3610466" cy="5001691"/>
          </a:xfrm>
          <a:prstGeom prst="rect">
            <a:avLst/>
          </a:prstGeom>
          <a:solidFill>
            <a:schemeClr val="accent1">
              <a:alpha val="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39765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激活层</a:t>
            </a:r>
            <a:endParaRPr lang="zh-CN" altLang="en-US" dirty="0"/>
          </a:p>
        </p:txBody>
      </p:sp>
      <p:sp>
        <p:nvSpPr>
          <p:cNvPr id="3" name="内容占位符 2"/>
          <p:cNvSpPr>
            <a:spLocks noGrp="1"/>
          </p:cNvSpPr>
          <p:nvPr>
            <p:ph sz="quarter" idx="13"/>
          </p:nvPr>
        </p:nvSpPr>
        <p:spPr/>
        <p:txBody>
          <a:bodyPr/>
          <a:lstStyle/>
          <a:p>
            <a:r>
              <a:rPr lang="zh-CN" altLang="en-US" dirty="0" smtClean="0"/>
              <a:t>卷积神经网络就是由一系列卷积层经过激活而得。</a:t>
            </a:r>
            <a:endParaRPr lang="en-US" altLang="zh-CN" dirty="0" smtClean="0"/>
          </a:p>
          <a:p>
            <a:r>
              <a:rPr lang="zh-CN" altLang="en-US" dirty="0" smtClean="0"/>
              <a:t>神经网络常用的激活函数：</a:t>
            </a:r>
            <a:endParaRPr lang="en-US" altLang="zh-CN" dirty="0" smtClean="0"/>
          </a:p>
          <a:p>
            <a:pPr lvl="1"/>
            <a:r>
              <a:rPr lang="en-US" altLang="zh-CN" dirty="0" smtClean="0"/>
              <a:t>Sigmoid</a:t>
            </a:r>
          </a:p>
          <a:p>
            <a:pPr lvl="1"/>
            <a:r>
              <a:rPr lang="en-US" altLang="zh-CN" dirty="0" err="1"/>
              <a:t>tanh</a:t>
            </a:r>
            <a:endParaRPr lang="en-US" altLang="zh-CN" dirty="0"/>
          </a:p>
          <a:p>
            <a:pPr lvl="1"/>
            <a:r>
              <a:rPr lang="en-US" altLang="zh-CN" dirty="0" err="1" smtClean="0"/>
              <a:t>ReLU</a:t>
            </a:r>
            <a:endParaRPr lang="en-US" altLang="zh-CN" dirty="0" smtClean="0"/>
          </a:p>
          <a:p>
            <a:pPr lvl="1"/>
            <a:r>
              <a:rPr lang="en-US" altLang="zh-CN" dirty="0" smtClean="0"/>
              <a:t>Leaky </a:t>
            </a:r>
            <a:r>
              <a:rPr lang="en-US" altLang="zh-CN" dirty="0" err="1" smtClean="0"/>
              <a:t>ReLU</a:t>
            </a:r>
            <a:endParaRPr lang="en-US" altLang="zh-CN" dirty="0" smtClean="0"/>
          </a:p>
          <a:p>
            <a:pPr lvl="1"/>
            <a:r>
              <a:rPr lang="en-US" altLang="zh-CN" dirty="0" err="1" smtClean="0"/>
              <a:t>Maxout</a:t>
            </a:r>
            <a:endParaRPr lang="en-US" altLang="zh-CN" dirty="0" smtClean="0"/>
          </a:p>
          <a:p>
            <a:pPr lvl="1"/>
            <a:r>
              <a:rPr lang="en-US" altLang="zh-CN" dirty="0" smtClean="0"/>
              <a:t>ELU</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6860" y="2331560"/>
            <a:ext cx="8440714" cy="3805714"/>
          </a:xfrm>
          <a:prstGeom prst="rect">
            <a:avLst/>
          </a:prstGeom>
        </p:spPr>
      </p:pic>
    </p:spTree>
    <p:extLst>
      <p:ext uri="{BB962C8B-B14F-4D97-AF65-F5344CB8AC3E}">
        <p14:creationId xmlns:p14="http://schemas.microsoft.com/office/powerpoint/2010/main" val="843340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池化层</a:t>
            </a:r>
            <a:endParaRPr lang="zh-CN" altLang="en-US" dirty="0"/>
          </a:p>
        </p:txBody>
      </p:sp>
      <p:sp>
        <p:nvSpPr>
          <p:cNvPr id="3" name="内容占位符 2"/>
          <p:cNvSpPr>
            <a:spLocks noGrp="1"/>
          </p:cNvSpPr>
          <p:nvPr>
            <p:ph sz="quarter" idx="13"/>
          </p:nvPr>
        </p:nvSpPr>
        <p:spPr/>
        <p:txBody>
          <a:bodyPr/>
          <a:lstStyle/>
          <a:p>
            <a:r>
              <a:rPr lang="zh-CN" altLang="en-US" dirty="0" smtClean="0"/>
              <a:t>池化是对图像进行压缩的一种方法：</a:t>
            </a:r>
            <a:endParaRPr lang="en-US" altLang="zh-CN" dirty="0" smtClean="0"/>
          </a:p>
          <a:p>
            <a:pPr lvl="1"/>
            <a:r>
              <a:rPr lang="zh-CN" altLang="en-US" dirty="0" smtClean="0"/>
              <a:t>本质是一个下采样</a:t>
            </a:r>
            <a:endParaRPr lang="en-US" altLang="zh-CN" dirty="0" smtClean="0"/>
          </a:p>
          <a:p>
            <a:pPr lvl="1"/>
            <a:r>
              <a:rPr lang="zh-CN" altLang="en-US" dirty="0" smtClean="0"/>
              <a:t>减少参数与后续计算量</a:t>
            </a:r>
            <a:endParaRPr lang="en-US" altLang="zh-CN" dirty="0" smtClean="0"/>
          </a:p>
          <a:p>
            <a:pPr lvl="1"/>
            <a:r>
              <a:rPr lang="zh-CN" altLang="en-US" dirty="0" smtClean="0"/>
              <a:t>基本不影响特征提取</a:t>
            </a:r>
            <a:endParaRPr lang="en-US" altLang="zh-CN" dirty="0" smtClean="0"/>
          </a:p>
          <a:p>
            <a:pPr lvl="1"/>
            <a:r>
              <a:rPr lang="zh-CN" altLang="en-US" dirty="0" smtClean="0"/>
              <a:t>没有要学习的参数，计算非常简单</a:t>
            </a:r>
            <a:endParaRPr lang="en-US" altLang="zh-CN" dirty="0" smtClean="0"/>
          </a:p>
          <a:p>
            <a:pPr lvl="1"/>
            <a:r>
              <a:rPr lang="zh-CN" altLang="en-US" dirty="0"/>
              <a:t>不</a:t>
            </a:r>
            <a:r>
              <a:rPr lang="zh-CN" altLang="en-US" dirty="0" smtClean="0"/>
              <a:t>改变输入特征图的通道数</a:t>
            </a:r>
            <a:endParaRPr lang="en-US" altLang="zh-CN" dirty="0"/>
          </a:p>
          <a:p>
            <a:r>
              <a:rPr lang="zh-CN" altLang="en-US" dirty="0"/>
              <a:t>池</a:t>
            </a:r>
            <a:r>
              <a:rPr lang="zh-CN" altLang="en-US" dirty="0" smtClean="0"/>
              <a:t>化常见方法：</a:t>
            </a:r>
            <a:endParaRPr lang="en-US" altLang="zh-CN" dirty="0" smtClean="0"/>
          </a:p>
          <a:p>
            <a:pPr lvl="1"/>
            <a:r>
              <a:rPr lang="zh-CN" altLang="en-US" dirty="0" smtClean="0"/>
              <a:t>最大池化</a:t>
            </a:r>
            <a:endParaRPr lang="en-US" altLang="zh-CN" dirty="0" smtClean="0"/>
          </a:p>
          <a:p>
            <a:pPr lvl="1"/>
            <a:r>
              <a:rPr lang="zh-CN" altLang="en-US" dirty="0" smtClean="0"/>
              <a:t>平均池化</a:t>
            </a:r>
          </a:p>
        </p:txBody>
      </p:sp>
      <p:pic>
        <p:nvPicPr>
          <p:cNvPr id="6" name="图片 5"/>
          <p:cNvPicPr>
            <a:picLocks noChangeAspect="1"/>
          </p:cNvPicPr>
          <p:nvPr/>
        </p:nvPicPr>
        <p:blipFill>
          <a:blip r:embed="rId3"/>
          <a:stretch>
            <a:fillRect/>
          </a:stretch>
        </p:blipFill>
        <p:spPr>
          <a:xfrm>
            <a:off x="5383061" y="1532269"/>
            <a:ext cx="6137427" cy="4605005"/>
          </a:xfrm>
          <a:prstGeom prst="rect">
            <a:avLst/>
          </a:prstGeom>
        </p:spPr>
      </p:pic>
    </p:spTree>
    <p:extLst>
      <p:ext uri="{BB962C8B-B14F-4D97-AF65-F5344CB8AC3E}">
        <p14:creationId xmlns:p14="http://schemas.microsoft.com/office/powerpoint/2010/main" val="12873846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池化层计算</a:t>
            </a:r>
            <a:endParaRPr lang="zh-CN" altLang="en-US" dirty="0"/>
          </a:p>
        </p:txBody>
      </p:sp>
      <p:sp>
        <p:nvSpPr>
          <p:cNvPr id="3" name="内容占位符 2"/>
          <p:cNvSpPr>
            <a:spLocks noGrp="1"/>
          </p:cNvSpPr>
          <p:nvPr>
            <p:ph sz="quarter" idx="13"/>
          </p:nvPr>
        </p:nvSpPr>
        <p:spPr/>
        <p:txBody>
          <a:bodyPr/>
          <a:lstStyle/>
          <a:p>
            <a:r>
              <a:rPr lang="zh-CN" altLang="en-US" dirty="0" smtClean="0"/>
              <a:t>池化层的计算非常简单：</a:t>
            </a:r>
            <a:endParaRPr lang="en-US" altLang="zh-CN" dirty="0" smtClean="0"/>
          </a:p>
          <a:p>
            <a:pPr lvl="1"/>
            <a:r>
              <a:rPr lang="zh-CN" altLang="en-US" dirty="0"/>
              <a:t>池</a:t>
            </a:r>
            <a:r>
              <a:rPr lang="zh-CN" altLang="en-US" dirty="0" smtClean="0"/>
              <a:t>化卷积核尺寸（</a:t>
            </a:r>
            <a:r>
              <a:rPr lang="en-US" altLang="zh-CN" dirty="0" smtClean="0"/>
              <a:t>F</a:t>
            </a:r>
            <a:r>
              <a:rPr lang="zh-CN" altLang="en-US" dirty="0" smtClean="0"/>
              <a:t>，</a:t>
            </a:r>
            <a:r>
              <a:rPr lang="en-US" altLang="zh-CN" dirty="0" smtClean="0"/>
              <a:t>F</a:t>
            </a:r>
            <a:r>
              <a:rPr lang="zh-CN" altLang="en-US" dirty="0" smtClean="0"/>
              <a:t>）</a:t>
            </a:r>
            <a:endParaRPr lang="en-US" altLang="zh-CN" dirty="0" smtClean="0"/>
          </a:p>
          <a:p>
            <a:pPr lvl="1"/>
            <a:r>
              <a:rPr lang="zh-CN" altLang="en-US" dirty="0" smtClean="0"/>
              <a:t>步长为</a:t>
            </a:r>
            <a:r>
              <a:rPr lang="en-US" altLang="zh-CN" dirty="0" smtClean="0"/>
              <a:t>S</a:t>
            </a:r>
          </a:p>
          <a:p>
            <a:pPr lvl="1"/>
            <a:r>
              <a:rPr lang="zh-CN" altLang="en-US" dirty="0" smtClean="0"/>
              <a:t>填充为</a:t>
            </a:r>
            <a:r>
              <a:rPr lang="en-US" altLang="zh-CN" dirty="0" smtClean="0"/>
              <a:t>P</a:t>
            </a:r>
            <a:r>
              <a:rPr lang="zh-CN" altLang="en-US" dirty="0" smtClean="0"/>
              <a:t>（一般不做填充）</a:t>
            </a:r>
            <a:endParaRPr lang="en-US" altLang="zh-CN" dirty="0" smtClean="0"/>
          </a:p>
          <a:p>
            <a:r>
              <a:rPr lang="zh-CN" altLang="en-US" dirty="0" smtClean="0"/>
              <a:t>右图是一个典型的池化示例。</a:t>
            </a:r>
            <a:endParaRPr lang="en-US" altLang="zh-CN" dirty="0" smtClean="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3270" y="1610385"/>
            <a:ext cx="5907218" cy="4046802"/>
          </a:xfrm>
          <a:prstGeom prst="rect">
            <a:avLst/>
          </a:prstGeom>
        </p:spPr>
      </p:pic>
    </p:spTree>
    <p:extLst>
      <p:ext uri="{BB962C8B-B14F-4D97-AF65-F5344CB8AC3E}">
        <p14:creationId xmlns:p14="http://schemas.microsoft.com/office/powerpoint/2010/main" val="39227468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池化层</a:t>
            </a:r>
            <a:endParaRPr lang="zh-CN" altLang="en-US" dirty="0"/>
          </a:p>
        </p:txBody>
      </p:sp>
      <p:sp>
        <p:nvSpPr>
          <p:cNvPr id="5" name="内容占位符 4"/>
          <p:cNvSpPr>
            <a:spLocks noGrp="1"/>
          </p:cNvSpPr>
          <p:nvPr>
            <p:ph sz="quarter" idx="13"/>
          </p:nvPr>
        </p:nvSpPr>
        <p:spPr/>
        <p:txBody>
          <a:bodyPr/>
          <a:lstStyle/>
          <a:p>
            <a:r>
              <a:rPr lang="zh-CN" altLang="en-US" dirty="0" smtClean="0"/>
              <a:t>池化层优点：</a:t>
            </a:r>
            <a:endParaRPr lang="en-US" altLang="zh-CN" dirty="0" smtClean="0"/>
          </a:p>
          <a:p>
            <a:pPr lvl="1"/>
            <a:r>
              <a:rPr lang="zh-CN" altLang="en-US" dirty="0" smtClean="0"/>
              <a:t>降低尺寸，减少参数，提高计算速度</a:t>
            </a:r>
            <a:endParaRPr lang="en-US" altLang="zh-CN" dirty="0" smtClean="0"/>
          </a:p>
          <a:p>
            <a:pPr lvl="1"/>
            <a:r>
              <a:rPr lang="zh-CN" altLang="en-US" dirty="0" smtClean="0"/>
              <a:t>保留主要特征，不影响特征提取</a:t>
            </a:r>
            <a:endParaRPr lang="en-US" altLang="zh-CN" dirty="0" smtClean="0"/>
          </a:p>
          <a:p>
            <a:pPr lvl="1"/>
            <a:r>
              <a:rPr lang="zh-CN" altLang="en-US" dirty="0"/>
              <a:t>增大卷积核</a:t>
            </a:r>
            <a:r>
              <a:rPr lang="zh-CN" altLang="en-US" dirty="0" smtClean="0"/>
              <a:t>感受野，防止过拟合</a:t>
            </a:r>
            <a:endParaRPr lang="en-US" altLang="zh-CN" dirty="0" smtClean="0"/>
          </a:p>
          <a:p>
            <a:r>
              <a:rPr lang="zh-CN" altLang="en-US" dirty="0"/>
              <a:t>右图是一个完整的卷积神经网络处理过程</a:t>
            </a:r>
            <a:endParaRPr lang="en-US" altLang="zh-CN" dirty="0"/>
          </a:p>
          <a:p>
            <a:pPr lvl="1"/>
            <a:r>
              <a:rPr lang="zh-CN" altLang="en-US" dirty="0" smtClean="0"/>
              <a:t>卷积层，池化层，激活层通常一同出现</a:t>
            </a:r>
            <a:endParaRPr lang="en-US" altLang="zh-CN" dirty="0" smtClean="0"/>
          </a:p>
          <a:p>
            <a:pPr lvl="1"/>
            <a:r>
              <a:rPr lang="zh-CN" altLang="en-US" dirty="0"/>
              <a:t>三</a:t>
            </a:r>
            <a:r>
              <a:rPr lang="zh-CN" altLang="en-US" dirty="0" smtClean="0"/>
              <a:t>者结合使用提取不同维度的特征</a:t>
            </a:r>
            <a:endParaRPr lang="en-US" altLang="zh-CN" dirty="0" smtClean="0"/>
          </a:p>
          <a:p>
            <a:pPr lvl="1"/>
            <a:r>
              <a:rPr lang="zh-CN" altLang="en-US" dirty="0" smtClean="0"/>
              <a:t>通常多卷积层</a:t>
            </a:r>
            <a:r>
              <a:rPr lang="en-US" altLang="zh-CN" dirty="0" smtClean="0"/>
              <a:t>+</a:t>
            </a:r>
            <a:r>
              <a:rPr lang="zh-CN" altLang="en-US" dirty="0" smtClean="0"/>
              <a:t>激活层后进行一次池化</a:t>
            </a:r>
            <a:endParaRPr lang="en-US" altLang="zh-CN" dirty="0"/>
          </a:p>
          <a:p>
            <a:pPr lvl="1"/>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4495" y="1980185"/>
            <a:ext cx="5545993" cy="3307202"/>
          </a:xfrm>
          <a:prstGeom prst="rect">
            <a:avLst/>
          </a:prstGeom>
        </p:spPr>
      </p:pic>
    </p:spTree>
    <p:extLst>
      <p:ext uri="{BB962C8B-B14F-4D97-AF65-F5344CB8AC3E}">
        <p14:creationId xmlns:p14="http://schemas.microsoft.com/office/powerpoint/2010/main" val="18903854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全连接层</a:t>
            </a:r>
            <a:endParaRPr lang="zh-CN" altLang="en-US" dirty="0"/>
          </a:p>
        </p:txBody>
      </p:sp>
      <p:sp>
        <p:nvSpPr>
          <p:cNvPr id="3" name="内容占位符 2"/>
          <p:cNvSpPr>
            <a:spLocks noGrp="1"/>
          </p:cNvSpPr>
          <p:nvPr>
            <p:ph sz="quarter" idx="13"/>
          </p:nvPr>
        </p:nvSpPr>
        <p:spPr/>
        <p:txBody>
          <a:bodyPr/>
          <a:lstStyle/>
          <a:p>
            <a:r>
              <a:rPr lang="zh-CN" altLang="en-US" dirty="0" smtClean="0"/>
              <a:t>全连接层</a:t>
            </a:r>
            <a:endParaRPr lang="en-US" altLang="zh-CN" dirty="0" smtClean="0"/>
          </a:p>
          <a:p>
            <a:pPr lvl="1"/>
            <a:r>
              <a:rPr lang="zh-CN" altLang="en-US" dirty="0" smtClean="0"/>
              <a:t>包含权重向量</a:t>
            </a:r>
            <a:r>
              <a:rPr lang="en-US" altLang="zh-CN" dirty="0" smtClean="0"/>
              <a:t>W</a:t>
            </a:r>
            <a:r>
              <a:rPr lang="zh-CN" altLang="en-US" dirty="0" smtClean="0"/>
              <a:t>和激活函数</a:t>
            </a:r>
            <a:endParaRPr lang="en-US" altLang="zh-CN" dirty="0" smtClean="0"/>
          </a:p>
          <a:p>
            <a:pPr lvl="1"/>
            <a:r>
              <a:rPr lang="zh-CN" altLang="en-US" dirty="0" smtClean="0"/>
              <a:t>通常</a:t>
            </a:r>
            <a:r>
              <a:rPr lang="zh-CN" altLang="en-US" dirty="0"/>
              <a:t>不止一</a:t>
            </a:r>
            <a:r>
              <a:rPr lang="zh-CN" altLang="en-US" dirty="0" smtClean="0"/>
              <a:t>层，位于卷积神经网络末端</a:t>
            </a:r>
            <a:endParaRPr lang="en-US" altLang="zh-CN" dirty="0" smtClean="0"/>
          </a:p>
          <a:p>
            <a:pPr lvl="1"/>
            <a:r>
              <a:rPr lang="zh-CN" altLang="en-US" dirty="0" smtClean="0"/>
              <a:t>将最后</a:t>
            </a:r>
            <a:r>
              <a:rPr lang="zh-CN" altLang="en-US" dirty="0"/>
              <a:t>一层卷积得到的特征</a:t>
            </a:r>
            <a:r>
              <a:rPr lang="zh-CN" altLang="en-US" dirty="0" smtClean="0"/>
              <a:t>图</a:t>
            </a:r>
            <a:r>
              <a:rPr lang="zh-CN" altLang="en-US" dirty="0"/>
              <a:t>展开成一维</a:t>
            </a:r>
            <a:r>
              <a:rPr lang="zh-CN" altLang="en-US" dirty="0" smtClean="0"/>
              <a:t>向量</a:t>
            </a:r>
            <a:endParaRPr lang="en-US" altLang="zh-CN" dirty="0" smtClean="0"/>
          </a:p>
          <a:p>
            <a:pPr lvl="1"/>
            <a:r>
              <a:rPr lang="zh-CN" altLang="en-US" dirty="0"/>
              <a:t>起</a:t>
            </a:r>
            <a:r>
              <a:rPr lang="zh-CN" altLang="en-US" dirty="0" smtClean="0"/>
              <a:t>到分类的作用</a:t>
            </a:r>
            <a:endParaRPr lang="en-US" altLang="zh-CN" dirty="0" smtClean="0"/>
          </a:p>
          <a:p>
            <a:r>
              <a:rPr lang="zh-CN" altLang="en-US" dirty="0"/>
              <a:t>全连接</a:t>
            </a:r>
            <a:r>
              <a:rPr lang="zh-CN" altLang="en-US" dirty="0" smtClean="0"/>
              <a:t>层将上层特征图中所有的值拉伸成</a:t>
            </a:r>
            <a:r>
              <a:rPr lang="en-US" altLang="zh-CN" dirty="0" smtClean="0"/>
              <a:t>1×m</a:t>
            </a:r>
            <a:r>
              <a:rPr lang="zh-CN" altLang="en-US" dirty="0" smtClean="0"/>
              <a:t>作为输入</a:t>
            </a:r>
            <a:endParaRPr lang="en-US" altLang="zh-CN" dirty="0" smtClean="0"/>
          </a:p>
          <a:p>
            <a:r>
              <a:rPr lang="en-US" altLang="zh-CN" dirty="0"/>
              <a:t>n</a:t>
            </a:r>
            <a:r>
              <a:rPr lang="zh-CN" altLang="en-US" dirty="0" smtClean="0"/>
              <a:t>维权重向量</a:t>
            </a:r>
            <a:r>
              <a:rPr lang="en-US" altLang="zh-CN" dirty="0" smtClean="0"/>
              <a:t>W</a:t>
            </a:r>
            <a:r>
              <a:rPr lang="zh-CN" altLang="en-US" dirty="0" smtClean="0"/>
              <a:t>与输入点乘，得到</a:t>
            </a:r>
            <a:r>
              <a:rPr lang="en-US" altLang="zh-CN" dirty="0" smtClean="0"/>
              <a:t>1×n</a:t>
            </a:r>
            <a:r>
              <a:rPr lang="zh-CN" altLang="en-US" dirty="0" smtClean="0"/>
              <a:t>作为输出</a:t>
            </a:r>
          </a:p>
        </p:txBody>
      </p:sp>
      <p:pic>
        <p:nvPicPr>
          <p:cNvPr id="7" name="图片 6"/>
          <p:cNvPicPr>
            <a:picLocks noChangeAspect="1"/>
          </p:cNvPicPr>
          <p:nvPr/>
        </p:nvPicPr>
        <p:blipFill>
          <a:blip r:embed="rId3"/>
          <a:stretch>
            <a:fillRect/>
          </a:stretch>
        </p:blipFill>
        <p:spPr>
          <a:xfrm>
            <a:off x="2495206" y="4902731"/>
            <a:ext cx="7200000" cy="1234543"/>
          </a:xfrm>
          <a:prstGeom prst="rect">
            <a:avLst/>
          </a:prstGeom>
        </p:spPr>
      </p:pic>
    </p:spTree>
    <p:extLst>
      <p:ext uri="{BB962C8B-B14F-4D97-AF65-F5344CB8AC3E}">
        <p14:creationId xmlns:p14="http://schemas.microsoft.com/office/powerpoint/2010/main" val="8540036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全连接层</a:t>
            </a:r>
            <a:endParaRPr lang="zh-CN" altLang="en-US" dirty="0"/>
          </a:p>
        </p:txBody>
      </p:sp>
      <p:sp>
        <p:nvSpPr>
          <p:cNvPr id="3" name="内容占位符 2"/>
          <p:cNvSpPr>
            <a:spLocks noGrp="1"/>
          </p:cNvSpPr>
          <p:nvPr>
            <p:ph sz="quarter" idx="13"/>
          </p:nvPr>
        </p:nvSpPr>
        <p:spPr/>
        <p:txBody>
          <a:bodyPr/>
          <a:lstStyle/>
          <a:p>
            <a:r>
              <a:rPr lang="zh-CN" altLang="en-US" dirty="0" smtClean="0"/>
              <a:t>全连接层的参数数量巨大</a:t>
            </a:r>
            <a:endParaRPr lang="en-US" altLang="zh-CN" dirty="0" smtClean="0"/>
          </a:p>
          <a:p>
            <a:r>
              <a:rPr lang="zh-CN" altLang="en-US" dirty="0"/>
              <a:t>多</a:t>
            </a:r>
            <a:r>
              <a:rPr lang="zh-CN" altLang="en-US" dirty="0" smtClean="0"/>
              <a:t>层全连接层能够很好解决非线性问题</a:t>
            </a:r>
            <a:endParaRPr lang="en-US" altLang="zh-CN" dirty="0" smtClean="0"/>
          </a:p>
          <a:p>
            <a:r>
              <a:rPr lang="zh-CN" altLang="en-US" dirty="0" smtClean="0"/>
              <a:t>最后一层全连接层作为分类依据</a:t>
            </a:r>
            <a:endParaRPr lang="en-US" altLang="zh-CN" dirty="0" smtClean="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4495" y="1980185"/>
            <a:ext cx="5545993" cy="3307202"/>
          </a:xfrm>
          <a:prstGeom prst="rect">
            <a:avLst/>
          </a:prstGeom>
        </p:spPr>
      </p:pic>
    </p:spTree>
    <p:extLst>
      <p:ext uri="{BB962C8B-B14F-4D97-AF65-F5344CB8AC3E}">
        <p14:creationId xmlns:p14="http://schemas.microsoft.com/office/powerpoint/2010/main" val="32835387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三维数据的卷积运算</a:t>
            </a:r>
            <a:endParaRPr lang="zh-CN" altLang="en-US" dirty="0"/>
          </a:p>
        </p:txBody>
      </p:sp>
      <p:sp>
        <p:nvSpPr>
          <p:cNvPr id="3" name="内容占位符 2"/>
          <p:cNvSpPr>
            <a:spLocks noGrp="1"/>
          </p:cNvSpPr>
          <p:nvPr>
            <p:ph sz="quarter" idx="13"/>
          </p:nvPr>
        </p:nvSpPr>
        <p:spPr/>
        <p:txBody>
          <a:bodyPr/>
          <a:lstStyle/>
          <a:p>
            <a:r>
              <a:rPr lang="zh-CN" altLang="en-US" dirty="0" smtClean="0"/>
              <a:t>输入特征图和卷积核的通道数必须保持一致</a:t>
            </a:r>
            <a:endParaRPr lang="en-US" altLang="zh-CN" dirty="0" smtClean="0"/>
          </a:p>
          <a:p>
            <a:r>
              <a:rPr lang="zh-CN" altLang="en-US" dirty="0"/>
              <a:t>同一</a:t>
            </a:r>
            <a:r>
              <a:rPr lang="zh-CN" altLang="en-US" dirty="0" smtClean="0"/>
              <a:t>个通道内卷积核尺寸必须保持一致</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526611120"/>
              </p:ext>
            </p:extLst>
          </p:nvPr>
        </p:nvGraphicFramePr>
        <p:xfrm>
          <a:off x="1491349" y="2153509"/>
          <a:ext cx="3238500" cy="3240090"/>
        </p:xfrm>
        <a:graphic>
          <a:graphicData uri="http://schemas.openxmlformats.org/drawingml/2006/table">
            <a:tbl>
              <a:tblPr firstRow="1" bandRow="1">
                <a:effectLst>
                  <a:outerShdw blurRad="50800" dist="50800" dir="5400000" algn="ctr" rotWithShape="0">
                    <a:srgbClr val="000000">
                      <a:alpha val="30000"/>
                    </a:srgbClr>
                  </a:outerShdw>
                </a:effectLst>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03144631"/>
              </p:ext>
            </p:extLst>
          </p:nvPr>
        </p:nvGraphicFramePr>
        <p:xfrm>
          <a:off x="1310413" y="2317142"/>
          <a:ext cx="3238500" cy="3240090"/>
        </p:xfrm>
        <a:graphic>
          <a:graphicData uri="http://schemas.openxmlformats.org/drawingml/2006/table">
            <a:tbl>
              <a:tblPr firstRow="1" bandRow="1">
                <a:effectLst>
                  <a:outerShdw blurRad="50800" dist="50800" dir="5400000" algn="ctr" rotWithShape="0">
                    <a:srgbClr val="000000">
                      <a:alpha val="30000"/>
                    </a:srgbClr>
                  </a:outerShdw>
                </a:effectLst>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451895034"/>
              </p:ext>
            </p:extLst>
          </p:nvPr>
        </p:nvGraphicFramePr>
        <p:xfrm>
          <a:off x="1131522" y="2482915"/>
          <a:ext cx="3238500" cy="3240090"/>
        </p:xfrm>
        <a:graphic>
          <a:graphicData uri="http://schemas.openxmlformats.org/drawingml/2006/table">
            <a:tbl>
              <a:tblPr firstRow="1" bandRow="1">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bl>
          </a:graphicData>
        </a:graphic>
      </p:graphicFrame>
      <p:sp>
        <p:nvSpPr>
          <p:cNvPr id="7" name="文本框 6"/>
          <p:cNvSpPr txBox="1">
            <a:spLocks noChangeArrowheads="1"/>
          </p:cNvSpPr>
          <p:nvPr/>
        </p:nvSpPr>
        <p:spPr bwMode="auto">
          <a:xfrm>
            <a:off x="5109416" y="3561783"/>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Wingdings 2" panose="05020102010507070707" pitchFamily="18" charset="2"/>
              </a:rPr>
              <a:t></a:t>
            </a:r>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3356875969"/>
              </p:ext>
            </p:extLst>
          </p:nvPr>
        </p:nvGraphicFramePr>
        <p:xfrm>
          <a:off x="6184012" y="2941268"/>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3212574892"/>
              </p:ext>
            </p:extLst>
          </p:nvPr>
        </p:nvGraphicFramePr>
        <p:xfrm>
          <a:off x="6039978" y="3067832"/>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3161014217"/>
              </p:ext>
            </p:extLst>
          </p:nvPr>
        </p:nvGraphicFramePr>
        <p:xfrm>
          <a:off x="5937881" y="3184036"/>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3545032945"/>
              </p:ext>
            </p:extLst>
          </p:nvPr>
        </p:nvGraphicFramePr>
        <p:xfrm>
          <a:off x="8557711" y="2721762"/>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sp>
        <p:nvSpPr>
          <p:cNvPr id="12" name="文本框 23"/>
          <p:cNvSpPr txBox="1">
            <a:spLocks noChangeArrowheads="1"/>
          </p:cNvSpPr>
          <p:nvPr/>
        </p:nvSpPr>
        <p:spPr bwMode="auto">
          <a:xfrm>
            <a:off x="8117426" y="3567299"/>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a:t>
            </a:r>
            <a:endParaRPr lang="zh-CN" altLang="en-US" b="1" dirty="0"/>
          </a:p>
        </p:txBody>
      </p:sp>
      <p:sp>
        <p:nvSpPr>
          <p:cNvPr id="13" name="文本框 21"/>
          <p:cNvSpPr txBox="1">
            <a:spLocks noChangeArrowheads="1"/>
          </p:cNvSpPr>
          <p:nvPr/>
        </p:nvSpPr>
        <p:spPr bwMode="auto">
          <a:xfrm>
            <a:off x="2305395" y="5767942"/>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6×6×</a:t>
            </a:r>
            <a:r>
              <a:rPr lang="en-US" altLang="zh-CN" b="1" dirty="0" smtClean="0">
                <a:solidFill>
                  <a:srgbClr val="FF0000"/>
                </a:solidFill>
              </a:rPr>
              <a:t>3</a:t>
            </a:r>
            <a:endParaRPr lang="zh-CN" altLang="en-US" b="1" dirty="0">
              <a:solidFill>
                <a:srgbClr val="FF0000"/>
              </a:solidFill>
            </a:endParaRPr>
          </a:p>
        </p:txBody>
      </p:sp>
      <p:sp>
        <p:nvSpPr>
          <p:cNvPr id="14" name="文本框 21"/>
          <p:cNvSpPr txBox="1">
            <a:spLocks noChangeArrowheads="1"/>
          </p:cNvSpPr>
          <p:nvPr/>
        </p:nvSpPr>
        <p:spPr bwMode="auto">
          <a:xfrm>
            <a:off x="6451917" y="5767942"/>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a:t>
            </a:r>
            <a:r>
              <a:rPr lang="en-US" altLang="zh-CN" b="1" dirty="0" smtClean="0"/>
              <a:t>×3×</a:t>
            </a:r>
            <a:r>
              <a:rPr lang="en-US" altLang="zh-CN" b="1" dirty="0" smtClean="0">
                <a:solidFill>
                  <a:srgbClr val="FF0000"/>
                </a:solidFill>
              </a:rPr>
              <a:t>3</a:t>
            </a:r>
            <a:endParaRPr lang="zh-CN" altLang="en-US" b="1" dirty="0">
              <a:solidFill>
                <a:srgbClr val="FF0000"/>
              </a:solidFill>
            </a:endParaRPr>
          </a:p>
        </p:txBody>
      </p:sp>
      <p:sp>
        <p:nvSpPr>
          <p:cNvPr id="15" name="文本框 21"/>
          <p:cNvSpPr txBox="1">
            <a:spLocks noChangeArrowheads="1"/>
          </p:cNvSpPr>
          <p:nvPr/>
        </p:nvSpPr>
        <p:spPr bwMode="auto">
          <a:xfrm>
            <a:off x="9226240" y="5767942"/>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4×4×</a:t>
            </a:r>
            <a:r>
              <a:rPr lang="en-US" altLang="zh-CN" b="1" dirty="0">
                <a:solidFill>
                  <a:srgbClr val="FF0000"/>
                </a:solidFill>
              </a:rPr>
              <a:t>1</a:t>
            </a:r>
            <a:endParaRPr lang="zh-CN" altLang="en-US" b="1" dirty="0">
              <a:solidFill>
                <a:srgbClr val="FF0000"/>
              </a:solidFill>
            </a:endParaRPr>
          </a:p>
        </p:txBody>
      </p:sp>
      <p:sp>
        <p:nvSpPr>
          <p:cNvPr id="20" name="文本框 19"/>
          <p:cNvSpPr txBox="1"/>
          <p:nvPr/>
        </p:nvSpPr>
        <p:spPr>
          <a:xfrm>
            <a:off x="8797946" y="5398610"/>
            <a:ext cx="1800493" cy="369332"/>
          </a:xfrm>
          <a:prstGeom prst="rect">
            <a:avLst/>
          </a:prstGeom>
          <a:noFill/>
        </p:spPr>
        <p:txBody>
          <a:bodyPr wrap="none" rtlCol="0">
            <a:spAutoFit/>
          </a:bodyPr>
          <a:lstStyle/>
          <a:p>
            <a:r>
              <a:rPr lang="zh-CN" altLang="en-US" dirty="0" smtClean="0"/>
              <a:t>输出的是一维图</a:t>
            </a:r>
            <a:endParaRPr lang="zh-CN" altLang="en-US" dirty="0"/>
          </a:p>
        </p:txBody>
      </p:sp>
    </p:spTree>
    <p:extLst>
      <p:ext uri="{BB962C8B-B14F-4D97-AF65-F5344CB8AC3E}">
        <p14:creationId xmlns:p14="http://schemas.microsoft.com/office/powerpoint/2010/main" val="2659879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三维数据的卷积运算</a:t>
            </a:r>
            <a:endParaRPr lang="zh-CN" altLang="en-US" dirty="0"/>
          </a:p>
        </p:txBody>
      </p:sp>
      <p:sp>
        <p:nvSpPr>
          <p:cNvPr id="3" name="内容占位符 2"/>
          <p:cNvSpPr>
            <a:spLocks noGrp="1"/>
          </p:cNvSpPr>
          <p:nvPr>
            <p:ph sz="quarter" idx="13"/>
          </p:nvPr>
        </p:nvSpPr>
        <p:spPr/>
        <p:txBody>
          <a:bodyPr/>
          <a:lstStyle/>
          <a:p>
            <a:r>
              <a:rPr lang="zh-CN" altLang="en-US" dirty="0" smtClean="0"/>
              <a:t>采用</a:t>
            </a:r>
            <a:r>
              <a:rPr lang="en-US" altLang="zh-CN" dirty="0" smtClean="0"/>
              <a:t>n</a:t>
            </a:r>
            <a:r>
              <a:rPr lang="zh-CN" altLang="en-US" dirty="0" smtClean="0"/>
              <a:t>个卷积核运算，最终输出通道数为</a:t>
            </a:r>
            <a:r>
              <a:rPr lang="en-US" altLang="zh-CN" dirty="0" smtClean="0"/>
              <a:t>n</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208921241"/>
              </p:ext>
            </p:extLst>
          </p:nvPr>
        </p:nvGraphicFramePr>
        <p:xfrm>
          <a:off x="1038863" y="1936695"/>
          <a:ext cx="3238500" cy="3240090"/>
        </p:xfrm>
        <a:graphic>
          <a:graphicData uri="http://schemas.openxmlformats.org/drawingml/2006/table">
            <a:tbl>
              <a:tblPr firstRow="1" bandRow="1">
                <a:effectLst>
                  <a:outerShdw blurRad="50800" dist="50800" dir="5400000" algn="ctr" rotWithShape="0">
                    <a:srgbClr val="000000">
                      <a:alpha val="30000"/>
                    </a:srgbClr>
                  </a:outerShdw>
                </a:effectLst>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596370108"/>
              </p:ext>
            </p:extLst>
          </p:nvPr>
        </p:nvGraphicFramePr>
        <p:xfrm>
          <a:off x="857927" y="2100328"/>
          <a:ext cx="3238500" cy="3240090"/>
        </p:xfrm>
        <a:graphic>
          <a:graphicData uri="http://schemas.openxmlformats.org/drawingml/2006/table">
            <a:tbl>
              <a:tblPr firstRow="1" bandRow="1">
                <a:effectLst>
                  <a:outerShdw blurRad="50800" dist="50800" dir="5400000" algn="ctr" rotWithShape="0">
                    <a:srgbClr val="000000">
                      <a:alpha val="30000"/>
                    </a:srgbClr>
                  </a:outerShdw>
                </a:effectLst>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1337610902"/>
              </p:ext>
            </p:extLst>
          </p:nvPr>
        </p:nvGraphicFramePr>
        <p:xfrm>
          <a:off x="679036" y="2266101"/>
          <a:ext cx="3238500" cy="3240090"/>
        </p:xfrm>
        <a:graphic>
          <a:graphicData uri="http://schemas.openxmlformats.org/drawingml/2006/table">
            <a:tbl>
              <a:tblPr firstRow="1" bandRow="1">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bl>
          </a:graphicData>
        </a:graphic>
      </p:graphicFrame>
      <p:sp>
        <p:nvSpPr>
          <p:cNvPr id="7" name="文本框 6"/>
          <p:cNvSpPr txBox="1">
            <a:spLocks noChangeArrowheads="1"/>
          </p:cNvSpPr>
          <p:nvPr/>
        </p:nvSpPr>
        <p:spPr bwMode="auto">
          <a:xfrm>
            <a:off x="4280175" y="2383433"/>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Wingdings 2" panose="05020102010507070707" pitchFamily="18" charset="2"/>
              </a:rPr>
              <a:t></a:t>
            </a:r>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800051890"/>
              </p:ext>
            </p:extLst>
          </p:nvPr>
        </p:nvGraphicFramePr>
        <p:xfrm>
          <a:off x="4921592" y="1581258"/>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2162683627"/>
              </p:ext>
            </p:extLst>
          </p:nvPr>
        </p:nvGraphicFramePr>
        <p:xfrm>
          <a:off x="4777558" y="1707822"/>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560299958"/>
              </p:ext>
            </p:extLst>
          </p:nvPr>
        </p:nvGraphicFramePr>
        <p:xfrm>
          <a:off x="4675461" y="1824026"/>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3513174420"/>
              </p:ext>
            </p:extLst>
          </p:nvPr>
        </p:nvGraphicFramePr>
        <p:xfrm>
          <a:off x="6896218" y="1474786"/>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sp>
        <p:nvSpPr>
          <p:cNvPr id="12" name="文本框 23"/>
          <p:cNvSpPr txBox="1">
            <a:spLocks noChangeArrowheads="1"/>
          </p:cNvSpPr>
          <p:nvPr/>
        </p:nvSpPr>
        <p:spPr bwMode="auto">
          <a:xfrm>
            <a:off x="6524295" y="4440047"/>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a:t>
            </a:r>
            <a:endParaRPr lang="zh-CN" altLang="en-US" b="1" dirty="0"/>
          </a:p>
        </p:txBody>
      </p:sp>
      <p:sp>
        <p:nvSpPr>
          <p:cNvPr id="13" name="文本框 21"/>
          <p:cNvSpPr txBox="1">
            <a:spLocks noChangeArrowheads="1"/>
          </p:cNvSpPr>
          <p:nvPr/>
        </p:nvSpPr>
        <p:spPr bwMode="auto">
          <a:xfrm>
            <a:off x="1852908" y="5767942"/>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6×6×</a:t>
            </a:r>
            <a:r>
              <a:rPr lang="en-US" altLang="zh-CN" b="1" dirty="0" smtClean="0">
                <a:solidFill>
                  <a:srgbClr val="FF0000"/>
                </a:solidFill>
              </a:rPr>
              <a:t>3</a:t>
            </a:r>
            <a:endParaRPr lang="zh-CN" altLang="en-US" b="1" dirty="0">
              <a:solidFill>
                <a:srgbClr val="FF0000"/>
              </a:solidFill>
            </a:endParaRPr>
          </a:p>
        </p:txBody>
      </p:sp>
      <p:sp>
        <p:nvSpPr>
          <p:cNvPr id="14" name="文本框 21"/>
          <p:cNvSpPr txBox="1">
            <a:spLocks noChangeArrowheads="1"/>
          </p:cNvSpPr>
          <p:nvPr/>
        </p:nvSpPr>
        <p:spPr bwMode="auto">
          <a:xfrm>
            <a:off x="4955398" y="3449787"/>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a:t>
            </a:r>
            <a:r>
              <a:rPr lang="en-US" altLang="zh-CN" b="1" dirty="0" smtClean="0"/>
              <a:t>×3×</a:t>
            </a:r>
            <a:r>
              <a:rPr lang="en-US" altLang="zh-CN" b="1" dirty="0" smtClean="0">
                <a:solidFill>
                  <a:srgbClr val="FF0000"/>
                </a:solidFill>
              </a:rPr>
              <a:t>3</a:t>
            </a:r>
            <a:endParaRPr lang="zh-CN" altLang="en-US" b="1" dirty="0">
              <a:solidFill>
                <a:srgbClr val="FF0000"/>
              </a:solidFill>
            </a:endParaRPr>
          </a:p>
        </p:txBody>
      </p:sp>
      <p:sp>
        <p:nvSpPr>
          <p:cNvPr id="15" name="文本框 21"/>
          <p:cNvSpPr txBox="1">
            <a:spLocks noChangeArrowheads="1"/>
          </p:cNvSpPr>
          <p:nvPr/>
        </p:nvSpPr>
        <p:spPr bwMode="auto">
          <a:xfrm>
            <a:off x="7519988" y="3633786"/>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4×4×</a:t>
            </a:r>
            <a:r>
              <a:rPr lang="en-US" altLang="zh-CN" b="1" dirty="0">
                <a:solidFill>
                  <a:srgbClr val="FF0000"/>
                </a:solidFill>
              </a:rPr>
              <a:t>1</a:t>
            </a:r>
            <a:endParaRPr lang="zh-CN" altLang="en-US" b="1" dirty="0">
              <a:solidFill>
                <a:srgbClr val="FF0000"/>
              </a:solidFill>
            </a:endParaRPr>
          </a:p>
        </p:txBody>
      </p:sp>
      <p:sp>
        <p:nvSpPr>
          <p:cNvPr id="17" name="文本框 16"/>
          <p:cNvSpPr txBox="1">
            <a:spLocks noChangeArrowheads="1"/>
          </p:cNvSpPr>
          <p:nvPr/>
        </p:nvSpPr>
        <p:spPr bwMode="auto">
          <a:xfrm>
            <a:off x="4280174" y="4440047"/>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Wingdings 2" panose="05020102010507070707" pitchFamily="18" charset="2"/>
              </a:rPr>
              <a:t></a:t>
            </a:r>
            <a:endParaRPr lang="zh-CN" altLang="en-US" dirty="0"/>
          </a:p>
        </p:txBody>
      </p:sp>
      <p:graphicFrame>
        <p:nvGraphicFramePr>
          <p:cNvPr id="18" name="表格 17"/>
          <p:cNvGraphicFramePr>
            <a:graphicFrameLocks noGrp="1"/>
          </p:cNvGraphicFramePr>
          <p:nvPr>
            <p:extLst>
              <p:ext uri="{D42A27DB-BD31-4B8C-83A1-F6EECF244321}">
                <p14:modId xmlns:p14="http://schemas.microsoft.com/office/powerpoint/2010/main" val="420454101"/>
              </p:ext>
            </p:extLst>
          </p:nvPr>
        </p:nvGraphicFramePr>
        <p:xfrm>
          <a:off x="4909988" y="3878420"/>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19" name="表格 18"/>
          <p:cNvGraphicFramePr>
            <a:graphicFrameLocks noGrp="1"/>
          </p:cNvGraphicFramePr>
          <p:nvPr>
            <p:extLst>
              <p:ext uri="{D42A27DB-BD31-4B8C-83A1-F6EECF244321}">
                <p14:modId xmlns:p14="http://schemas.microsoft.com/office/powerpoint/2010/main" val="3095856898"/>
              </p:ext>
            </p:extLst>
          </p:nvPr>
        </p:nvGraphicFramePr>
        <p:xfrm>
          <a:off x="4765954" y="4004984"/>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20" name="表格 19"/>
          <p:cNvGraphicFramePr>
            <a:graphicFrameLocks noGrp="1"/>
          </p:cNvGraphicFramePr>
          <p:nvPr>
            <p:extLst>
              <p:ext uri="{D42A27DB-BD31-4B8C-83A1-F6EECF244321}">
                <p14:modId xmlns:p14="http://schemas.microsoft.com/office/powerpoint/2010/main" val="2176767948"/>
              </p:ext>
            </p:extLst>
          </p:nvPr>
        </p:nvGraphicFramePr>
        <p:xfrm>
          <a:off x="4663857" y="4121188"/>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sp>
        <p:nvSpPr>
          <p:cNvPr id="21" name="文本框 21"/>
          <p:cNvSpPr txBox="1">
            <a:spLocks noChangeArrowheads="1"/>
          </p:cNvSpPr>
          <p:nvPr/>
        </p:nvSpPr>
        <p:spPr bwMode="auto">
          <a:xfrm>
            <a:off x="4942221" y="5787709"/>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a:t>
            </a:r>
            <a:r>
              <a:rPr lang="en-US" altLang="zh-CN" b="1" dirty="0" smtClean="0"/>
              <a:t>×3×</a:t>
            </a:r>
            <a:r>
              <a:rPr lang="en-US" altLang="zh-CN" b="1" dirty="0" smtClean="0">
                <a:solidFill>
                  <a:srgbClr val="FF0000"/>
                </a:solidFill>
              </a:rPr>
              <a:t>3</a:t>
            </a:r>
            <a:endParaRPr lang="zh-CN" altLang="en-US" b="1" dirty="0">
              <a:solidFill>
                <a:srgbClr val="FF0000"/>
              </a:solidFill>
            </a:endParaRPr>
          </a:p>
        </p:txBody>
      </p:sp>
      <p:graphicFrame>
        <p:nvGraphicFramePr>
          <p:cNvPr id="22" name="表格 21"/>
          <p:cNvGraphicFramePr>
            <a:graphicFrameLocks noGrp="1"/>
          </p:cNvGraphicFramePr>
          <p:nvPr>
            <p:extLst>
              <p:ext uri="{D42A27DB-BD31-4B8C-83A1-F6EECF244321}">
                <p14:modId xmlns:p14="http://schemas.microsoft.com/office/powerpoint/2010/main" val="3487253022"/>
              </p:ext>
            </p:extLst>
          </p:nvPr>
        </p:nvGraphicFramePr>
        <p:xfrm>
          <a:off x="6894678" y="4008731"/>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sp>
        <p:nvSpPr>
          <p:cNvPr id="23" name="文本框 21"/>
          <p:cNvSpPr txBox="1">
            <a:spLocks noChangeArrowheads="1"/>
          </p:cNvSpPr>
          <p:nvPr/>
        </p:nvSpPr>
        <p:spPr bwMode="auto">
          <a:xfrm>
            <a:off x="7519987" y="6157401"/>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4×4×</a:t>
            </a:r>
            <a:r>
              <a:rPr lang="en-US" altLang="zh-CN" b="1" dirty="0">
                <a:solidFill>
                  <a:srgbClr val="FF0000"/>
                </a:solidFill>
              </a:rPr>
              <a:t>1</a:t>
            </a:r>
            <a:endParaRPr lang="zh-CN" altLang="en-US" b="1" dirty="0">
              <a:solidFill>
                <a:srgbClr val="FF0000"/>
              </a:solidFill>
            </a:endParaRPr>
          </a:p>
        </p:txBody>
      </p:sp>
      <p:graphicFrame>
        <p:nvGraphicFramePr>
          <p:cNvPr id="24" name="表格 23"/>
          <p:cNvGraphicFramePr>
            <a:graphicFrameLocks noGrp="1"/>
          </p:cNvGraphicFramePr>
          <p:nvPr>
            <p:extLst>
              <p:ext uri="{D42A27DB-BD31-4B8C-83A1-F6EECF244321}">
                <p14:modId xmlns:p14="http://schemas.microsoft.com/office/powerpoint/2010/main" val="3060789723"/>
              </p:ext>
            </p:extLst>
          </p:nvPr>
        </p:nvGraphicFramePr>
        <p:xfrm>
          <a:off x="9359900" y="2729525"/>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135908785"/>
              </p:ext>
            </p:extLst>
          </p:nvPr>
        </p:nvGraphicFramePr>
        <p:xfrm>
          <a:off x="9204023" y="2899231"/>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sp>
        <p:nvSpPr>
          <p:cNvPr id="26" name="文本框 21"/>
          <p:cNvSpPr txBox="1">
            <a:spLocks noChangeArrowheads="1"/>
          </p:cNvSpPr>
          <p:nvPr/>
        </p:nvSpPr>
        <p:spPr bwMode="auto">
          <a:xfrm>
            <a:off x="9859406" y="5112597"/>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4×4×</a:t>
            </a:r>
            <a:r>
              <a:rPr lang="en-US" altLang="zh-CN" b="1" dirty="0" smtClean="0">
                <a:solidFill>
                  <a:srgbClr val="FF0000"/>
                </a:solidFill>
              </a:rPr>
              <a:t>2</a:t>
            </a:r>
            <a:endParaRPr lang="zh-CN" altLang="en-US" b="1" dirty="0">
              <a:solidFill>
                <a:srgbClr val="FF0000"/>
              </a:solidFill>
            </a:endParaRPr>
          </a:p>
        </p:txBody>
      </p:sp>
      <p:sp>
        <p:nvSpPr>
          <p:cNvPr id="30" name="右箭头 29"/>
          <p:cNvSpPr/>
          <p:nvPr/>
        </p:nvSpPr>
        <p:spPr>
          <a:xfrm rot="2700000">
            <a:off x="9049431" y="2109557"/>
            <a:ext cx="989814" cy="257177"/>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右箭头 30"/>
          <p:cNvSpPr/>
          <p:nvPr/>
        </p:nvSpPr>
        <p:spPr>
          <a:xfrm rot="-2700000">
            <a:off x="9049431" y="5353340"/>
            <a:ext cx="989814" cy="257177"/>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23"/>
          <p:cNvSpPr txBox="1">
            <a:spLocks noChangeArrowheads="1"/>
          </p:cNvSpPr>
          <p:nvPr/>
        </p:nvSpPr>
        <p:spPr bwMode="auto">
          <a:xfrm>
            <a:off x="6524295" y="2383433"/>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a:t>
            </a:r>
            <a:endParaRPr lang="zh-CN" altLang="en-US" b="1" dirty="0"/>
          </a:p>
        </p:txBody>
      </p:sp>
      <p:sp>
        <p:nvSpPr>
          <p:cNvPr id="33" name="文本框 32"/>
          <p:cNvSpPr txBox="1"/>
          <p:nvPr/>
        </p:nvSpPr>
        <p:spPr>
          <a:xfrm>
            <a:off x="4169926" y="6126773"/>
            <a:ext cx="2621230" cy="369332"/>
          </a:xfrm>
          <a:prstGeom prst="rect">
            <a:avLst/>
          </a:prstGeom>
          <a:noFill/>
        </p:spPr>
        <p:txBody>
          <a:bodyPr wrap="none" rtlCol="0">
            <a:spAutoFit/>
          </a:bodyPr>
          <a:lstStyle/>
          <a:p>
            <a:r>
              <a:rPr lang="en-US" altLang="zh-CN" b="1" dirty="0" smtClean="0">
                <a:solidFill>
                  <a:srgbClr val="FF0000"/>
                </a:solidFill>
              </a:rPr>
              <a:t>3</a:t>
            </a:r>
            <a:r>
              <a:rPr lang="zh-CN" altLang="en-US" dirty="0" smtClean="0"/>
              <a:t>表示单个卷积核的层数</a:t>
            </a:r>
            <a:endParaRPr lang="zh-CN" altLang="en-US" dirty="0"/>
          </a:p>
        </p:txBody>
      </p:sp>
    </p:spTree>
    <p:extLst>
      <p:ext uri="{BB962C8B-B14F-4D97-AF65-F5344CB8AC3E}">
        <p14:creationId xmlns:p14="http://schemas.microsoft.com/office/powerpoint/2010/main" val="29981843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批规范化层</a:t>
            </a:r>
            <a:endParaRPr lang="zh-CN" altLang="en-US" dirty="0"/>
          </a:p>
        </p:txBody>
      </p:sp>
      <p:sp>
        <p:nvSpPr>
          <p:cNvPr id="3" name="内容占位符 2"/>
          <p:cNvSpPr>
            <a:spLocks noGrp="1"/>
          </p:cNvSpPr>
          <p:nvPr>
            <p:ph sz="quarter" idx="13"/>
          </p:nvPr>
        </p:nvSpPr>
        <p:spPr/>
        <p:txBody>
          <a:bodyPr/>
          <a:lstStyle/>
          <a:p>
            <a:r>
              <a:rPr lang="zh-CN" altLang="en-US" dirty="0" smtClean="0"/>
              <a:t>批规范化（</a:t>
            </a:r>
            <a:r>
              <a:rPr lang="en-US" altLang="zh-CN" dirty="0" smtClean="0"/>
              <a:t>Batch Normalization</a:t>
            </a:r>
            <a:r>
              <a:rPr lang="zh-CN" altLang="en-US" dirty="0" smtClean="0"/>
              <a:t>，</a:t>
            </a:r>
            <a:r>
              <a:rPr lang="en-US" altLang="zh-CN" dirty="0" smtClean="0"/>
              <a:t>BN</a:t>
            </a:r>
            <a:r>
              <a:rPr lang="zh-CN" altLang="en-US" dirty="0" smtClean="0"/>
              <a:t>）层</a:t>
            </a:r>
            <a:endParaRPr lang="en-US" altLang="zh-CN" dirty="0" smtClean="0"/>
          </a:p>
          <a:p>
            <a:pPr lvl="1"/>
            <a:r>
              <a:rPr lang="en-US" altLang="zh-CN" dirty="0" err="1"/>
              <a:t>Ioffe</a:t>
            </a:r>
            <a:r>
              <a:rPr lang="zh-CN" altLang="en-US" dirty="0"/>
              <a:t>和</a:t>
            </a:r>
            <a:r>
              <a:rPr lang="en-US" altLang="zh-CN" dirty="0" err="1"/>
              <a:t>Szegedy</a:t>
            </a:r>
            <a:r>
              <a:rPr lang="zh-CN" altLang="en-US" dirty="0"/>
              <a:t>等</a:t>
            </a:r>
            <a:r>
              <a:rPr lang="zh-CN" altLang="en-US" dirty="0" smtClean="0"/>
              <a:t>人于</a:t>
            </a:r>
            <a:r>
              <a:rPr lang="en-US" altLang="zh-CN" dirty="0" smtClean="0"/>
              <a:t>2015</a:t>
            </a:r>
            <a:r>
              <a:rPr lang="zh-CN" altLang="en-US" dirty="0" smtClean="0"/>
              <a:t>年提出</a:t>
            </a:r>
            <a:endParaRPr lang="en-US" altLang="zh-CN" dirty="0" smtClean="0"/>
          </a:p>
          <a:p>
            <a:pPr lvl="1"/>
            <a:r>
              <a:rPr lang="zh-CN" altLang="en-US" dirty="0" smtClean="0"/>
              <a:t>加速神经网络收敛过程</a:t>
            </a:r>
            <a:endParaRPr lang="en-US" altLang="zh-CN" dirty="0" smtClean="0"/>
          </a:p>
          <a:p>
            <a:pPr lvl="1"/>
            <a:r>
              <a:rPr lang="zh-CN" altLang="en-US" dirty="0" smtClean="0"/>
              <a:t>提高训练过程中的稳定性</a:t>
            </a:r>
            <a:endParaRPr lang="en-US" altLang="zh-CN" dirty="0"/>
          </a:p>
          <a:p>
            <a:endParaRPr lang="zh-CN" altLang="en-US" dirty="0"/>
          </a:p>
        </p:txBody>
      </p:sp>
      <p:pic>
        <p:nvPicPr>
          <p:cNvPr id="4" name="图片 3"/>
          <p:cNvPicPr>
            <a:picLocks noChangeAspect="1"/>
          </p:cNvPicPr>
          <p:nvPr/>
        </p:nvPicPr>
        <p:blipFill>
          <a:blip r:embed="rId3"/>
          <a:stretch>
            <a:fillRect/>
          </a:stretch>
        </p:blipFill>
        <p:spPr>
          <a:xfrm>
            <a:off x="4625250" y="1514738"/>
            <a:ext cx="6895238" cy="4238095"/>
          </a:xfrm>
          <a:prstGeom prst="rect">
            <a:avLst/>
          </a:prstGeom>
        </p:spPr>
      </p:pic>
    </p:spTree>
    <p:extLst>
      <p:ext uri="{BB962C8B-B14F-4D97-AF65-F5344CB8AC3E}">
        <p14:creationId xmlns:p14="http://schemas.microsoft.com/office/powerpoint/2010/main" val="2125262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批规范化处理流程</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pPr marL="342900" indent="-342900">
                  <a:buFont typeface="+mj-lt"/>
                  <a:buAutoNum type="arabicPeriod"/>
                </a:pPr>
                <a:r>
                  <a:rPr lang="zh-CN" altLang="en-US" dirty="0" smtClean="0"/>
                  <a:t>获得</a:t>
                </a:r>
                <a:r>
                  <a:rPr lang="zh-CN" altLang="en-US" dirty="0"/>
                  <a:t>一个小批次的输入</a:t>
                </a:r>
                <a:r>
                  <a:rPr lang="en-US" altLang="zh-CN" dirty="0"/>
                  <a:t>β={x1</a:t>
                </a:r>
                <a:r>
                  <a:rPr lang="zh-CN" altLang="en-US" dirty="0"/>
                  <a:t>，</a:t>
                </a:r>
                <a:r>
                  <a:rPr lang="en-US" altLang="zh-CN" dirty="0"/>
                  <a:t>…</a:t>
                </a:r>
                <a:r>
                  <a:rPr lang="zh-CN" altLang="en-US" dirty="0"/>
                  <a:t>，</a:t>
                </a:r>
                <a:r>
                  <a:rPr lang="en-US" altLang="zh-CN" dirty="0" err="1"/>
                  <a:t>xm</a:t>
                </a:r>
                <a:r>
                  <a:rPr lang="en-US" altLang="zh-CN" dirty="0"/>
                  <a:t>}</a:t>
                </a:r>
                <a:r>
                  <a:rPr lang="zh-CN" altLang="en-US" dirty="0" smtClean="0"/>
                  <a:t>。可以</a:t>
                </a:r>
                <a:r>
                  <a:rPr lang="zh-CN" altLang="en-US" dirty="0"/>
                  <a:t>看出批次大小就是</a:t>
                </a:r>
                <a:r>
                  <a:rPr lang="en-US" altLang="zh-CN" dirty="0"/>
                  <a:t>m</a:t>
                </a:r>
                <a:r>
                  <a:rPr lang="zh-CN" altLang="en-US" dirty="0" smtClean="0"/>
                  <a:t>。</a:t>
                </a:r>
                <a:endParaRPr lang="en-US" altLang="zh-CN" dirty="0" smtClean="0"/>
              </a:p>
              <a:p>
                <a:pPr marL="342900" indent="-342900">
                  <a:buFont typeface="+mj-lt"/>
                  <a:buAutoNum type="arabicPeriod"/>
                </a:pPr>
                <a:r>
                  <a:rPr lang="zh-CN" altLang="en-US" dirty="0" smtClean="0"/>
                  <a:t>求</a:t>
                </a:r>
                <a:r>
                  <a:rPr lang="zh-CN" altLang="en-US" dirty="0"/>
                  <a:t>这个批次的均值</a:t>
                </a:r>
                <a:r>
                  <a:rPr lang="en-US" altLang="zh-CN" dirty="0"/>
                  <a:t>μ</a:t>
                </a:r>
                <a:r>
                  <a:rPr lang="zh-CN" altLang="en-US" dirty="0"/>
                  <a:t>和方差</a:t>
                </a:r>
                <a:r>
                  <a:rPr lang="en-US" altLang="zh-CN" dirty="0"/>
                  <a:t>σ</a:t>
                </a:r>
                <a:r>
                  <a:rPr lang="zh-CN" altLang="en-US" dirty="0" smtClean="0"/>
                  <a:t>。</a:t>
                </a:r>
                <a:endParaRPr lang="en-US" altLang="zh-CN" dirty="0" smtClean="0"/>
              </a:p>
              <a:p>
                <a:pPr marL="342900" indent="-342900">
                  <a:buFont typeface="+mj-lt"/>
                  <a:buAutoNum type="arabicPeriod"/>
                </a:pPr>
                <a:r>
                  <a:rPr lang="zh-CN" altLang="en-US" dirty="0" smtClean="0"/>
                  <a:t>对</a:t>
                </a:r>
                <a:r>
                  <a:rPr lang="zh-CN" altLang="en-US" dirty="0"/>
                  <a:t>所有</a:t>
                </a:r>
                <a:r>
                  <a:rPr lang="en-US" altLang="zh-CN" dirty="0"/>
                  <a:t>xi</a:t>
                </a:r>
                <a:r>
                  <a:rPr lang="zh-CN" altLang="en-US" dirty="0"/>
                  <a:t>进行标准化处理，</a:t>
                </a:r>
                <a:r>
                  <a:rPr lang="zh-CN" altLang="en-US" dirty="0" smtClean="0"/>
                  <a:t>得到</a:t>
                </a:r>
                <a14:m>
                  <m:oMath xmlns:m="http://schemas.openxmlformats.org/officeDocument/2006/math">
                    <m:acc>
                      <m:accPr>
                        <m:chr m:val="̂"/>
                        <m:ctrlPr>
                          <a:rPr lang="zh-CN" altLang="en-US" i="1" smtClean="0">
                            <a:latin typeface="Cambria Math" panose="02040503050406030204" pitchFamily="18" charset="0"/>
                          </a:rPr>
                        </m:ctrlPr>
                      </m:accPr>
                      <m:e>
                        <m:r>
                          <m:rPr>
                            <m:sty m:val="p"/>
                          </m:rPr>
                          <a:rPr lang="en-US" altLang="zh-CN" i="1">
                            <a:latin typeface="Cambria Math" panose="02040503050406030204" pitchFamily="18" charset="0"/>
                          </a:rPr>
                          <m:t>x</m:t>
                        </m:r>
                        <m:r>
                          <a:rPr lang="en-US" altLang="zh-CN" b="0" i="1" baseline="-25000" smtClean="0">
                            <a:latin typeface="Cambria Math" panose="02040503050406030204" pitchFamily="18" charset="0"/>
                          </a:rPr>
                          <m:t>𝑖</m:t>
                        </m:r>
                      </m:e>
                    </m:acc>
                  </m:oMath>
                </a14:m>
                <a:r>
                  <a:rPr lang="zh-CN" altLang="en-US" dirty="0" smtClean="0"/>
                  <a:t>。这里</a:t>
                </a:r>
                <a:r>
                  <a:rPr lang="zh-CN" altLang="en-US" dirty="0"/>
                  <a:t>的</a:t>
                </a:r>
                <a:r>
                  <a:rPr lang="en-US" altLang="zh-CN" dirty="0"/>
                  <a:t>ε</a:t>
                </a:r>
                <a:r>
                  <a:rPr lang="zh-CN" altLang="en-US" dirty="0"/>
                  <a:t>是一个很小的数，用于避免因分母等于</a:t>
                </a:r>
                <a:r>
                  <a:rPr lang="en-US" altLang="zh-CN" dirty="0"/>
                  <a:t>0</a:t>
                </a:r>
                <a:r>
                  <a:rPr lang="zh-CN" altLang="en-US" dirty="0"/>
                  <a:t>带来的系统错误</a:t>
                </a:r>
                <a:r>
                  <a:rPr lang="zh-CN" altLang="en-US" dirty="0" smtClean="0"/>
                  <a:t>。</a:t>
                </a:r>
                <a:endParaRPr lang="en-US" altLang="zh-CN" dirty="0" smtClean="0"/>
              </a:p>
              <a:p>
                <a:pPr marL="342900" indent="-342900">
                  <a:buFont typeface="+mj-lt"/>
                  <a:buAutoNum type="arabicPeriod"/>
                </a:pPr>
                <a:r>
                  <a:rPr lang="zh-CN" altLang="en-US" dirty="0" smtClean="0"/>
                  <a:t>第</a:t>
                </a:r>
                <a:r>
                  <a:rPr lang="en-US" altLang="zh-CN" dirty="0"/>
                  <a:t>4</a:t>
                </a:r>
                <a:r>
                  <a:rPr lang="zh-CN" altLang="en-US" dirty="0"/>
                  <a:t>步，</a:t>
                </a:r>
                <a:r>
                  <a:rPr lang="zh-CN" altLang="en-US" dirty="0" smtClean="0"/>
                  <a:t>对</a:t>
                </a:r>
                <a14:m>
                  <m:oMath xmlns:m="http://schemas.openxmlformats.org/officeDocument/2006/math">
                    <m:acc>
                      <m:accPr>
                        <m:chr m:val="̂"/>
                        <m:ctrlPr>
                          <a:rPr lang="zh-CN" altLang="en-US" i="1">
                            <a:latin typeface="Cambria Math" panose="02040503050406030204" pitchFamily="18" charset="0"/>
                          </a:rPr>
                        </m:ctrlPr>
                      </m:accPr>
                      <m:e>
                        <m:r>
                          <m:rPr>
                            <m:sty m:val="p"/>
                          </m:rPr>
                          <a:rPr lang="en-US" altLang="zh-CN" i="1">
                            <a:latin typeface="Cambria Math" panose="02040503050406030204" pitchFamily="18" charset="0"/>
                          </a:rPr>
                          <m:t>x</m:t>
                        </m:r>
                        <m:r>
                          <a:rPr lang="en-US" altLang="zh-CN" i="1" baseline="-25000">
                            <a:latin typeface="Cambria Math" panose="02040503050406030204" pitchFamily="18" charset="0"/>
                          </a:rPr>
                          <m:t>𝑖</m:t>
                        </m:r>
                      </m:e>
                    </m:acc>
                  </m:oMath>
                </a14:m>
                <a:r>
                  <a:rPr lang="zh-CN" altLang="en-US" dirty="0" smtClean="0"/>
                  <a:t>做</a:t>
                </a:r>
                <a:r>
                  <a:rPr lang="zh-CN" altLang="en-US" dirty="0"/>
                  <a:t>线性变换，得到输出</a:t>
                </a:r>
                <a:r>
                  <a:rPr lang="en-US" altLang="zh-CN" dirty="0" err="1"/>
                  <a:t>yi</a:t>
                </a:r>
                <a:r>
                  <a:rPr lang="zh-CN" altLang="en-US" dirty="0"/>
                  <a:t>。</a:t>
                </a:r>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5" name="图片 4"/>
          <p:cNvPicPr>
            <a:picLocks noChangeAspect="1"/>
          </p:cNvPicPr>
          <p:nvPr/>
        </p:nvPicPr>
        <p:blipFill>
          <a:blip r:embed="rId4"/>
          <a:stretch>
            <a:fillRect/>
          </a:stretch>
        </p:blipFill>
        <p:spPr>
          <a:xfrm>
            <a:off x="7341068" y="2494081"/>
            <a:ext cx="4179420" cy="3643193"/>
          </a:xfrm>
          <a:prstGeom prst="rect">
            <a:avLst/>
          </a:prstGeom>
        </p:spPr>
      </p:pic>
    </p:spTree>
    <p:extLst>
      <p:ext uri="{BB962C8B-B14F-4D97-AF65-F5344CB8AC3E}">
        <p14:creationId xmlns:p14="http://schemas.microsoft.com/office/powerpoint/2010/main" val="18629782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批</a:t>
            </a:r>
            <a:r>
              <a:rPr lang="zh-CN" altLang="en-US" dirty="0" smtClean="0"/>
              <a:t>规范化处理</a:t>
            </a:r>
            <a:endParaRPr lang="zh-CN" altLang="en-US" dirty="0"/>
          </a:p>
        </p:txBody>
      </p:sp>
      <p:sp>
        <p:nvSpPr>
          <p:cNvPr id="3" name="内容占位符 2"/>
          <p:cNvSpPr>
            <a:spLocks noGrp="1"/>
          </p:cNvSpPr>
          <p:nvPr>
            <p:ph sz="quarter" idx="13"/>
          </p:nvPr>
        </p:nvSpPr>
        <p:spPr/>
        <p:txBody>
          <a:bodyPr/>
          <a:lstStyle/>
          <a:p>
            <a:r>
              <a:rPr lang="zh-CN" altLang="en-US" dirty="0" smtClean="0"/>
              <a:t>批规范化处理</a:t>
            </a:r>
            <a:endParaRPr lang="en-US" altLang="zh-CN" dirty="0" smtClean="0"/>
          </a:p>
          <a:p>
            <a:pPr lvl="1"/>
            <a:r>
              <a:rPr lang="zh-CN" altLang="en-US" dirty="0" smtClean="0"/>
              <a:t>通常用在卷积层之后，激活函数之前。</a:t>
            </a:r>
            <a:endParaRPr lang="en-US" altLang="zh-CN" dirty="0" smtClean="0"/>
          </a:p>
          <a:p>
            <a:pPr lvl="1"/>
            <a:r>
              <a:rPr lang="zh-CN" altLang="en-US" dirty="0" smtClean="0"/>
              <a:t>调整每层网络输出数据分布</a:t>
            </a:r>
            <a:endParaRPr lang="en-US" altLang="zh-CN" dirty="0" smtClean="0"/>
          </a:p>
          <a:p>
            <a:pPr lvl="1"/>
            <a:r>
              <a:rPr lang="zh-CN" altLang="en-US" dirty="0" smtClean="0"/>
              <a:t>加速收敛</a:t>
            </a:r>
            <a:endParaRPr lang="en-US" altLang="zh-CN" dirty="0" smtClean="0"/>
          </a:p>
          <a:p>
            <a:pPr lvl="1"/>
            <a:endParaRPr lang="en-US" altLang="zh-CN" dirty="0" smtClean="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4288" y="3060699"/>
            <a:ext cx="7696200" cy="3076575"/>
          </a:xfrm>
          <a:prstGeom prst="rect">
            <a:avLst/>
          </a:prstGeom>
        </p:spPr>
      </p:pic>
    </p:spTree>
    <p:extLst>
      <p:ext uri="{BB962C8B-B14F-4D97-AF65-F5344CB8AC3E}">
        <p14:creationId xmlns:p14="http://schemas.microsoft.com/office/powerpoint/2010/main" val="26715669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Dropout</a:t>
            </a:r>
            <a:r>
              <a:rPr lang="zh-CN" altLang="en-US" dirty="0" smtClean="0"/>
              <a:t>层</a:t>
            </a:r>
            <a:endParaRPr lang="zh-CN" altLang="en-US" dirty="0"/>
          </a:p>
        </p:txBody>
      </p:sp>
      <p:sp>
        <p:nvSpPr>
          <p:cNvPr id="3" name="内容占位符 2"/>
          <p:cNvSpPr>
            <a:spLocks noGrp="1"/>
          </p:cNvSpPr>
          <p:nvPr>
            <p:ph sz="quarter" idx="13"/>
          </p:nvPr>
        </p:nvSpPr>
        <p:spPr/>
        <p:txBody>
          <a:bodyPr/>
          <a:lstStyle/>
          <a:p>
            <a:r>
              <a:rPr lang="en-US" altLang="zh-CN" dirty="0" smtClean="0"/>
              <a:t>Dropout</a:t>
            </a:r>
            <a:r>
              <a:rPr lang="zh-CN" altLang="en-US" dirty="0" smtClean="0"/>
              <a:t>层是一种非常有效的神经网络模型平均方法：</a:t>
            </a:r>
            <a:endParaRPr lang="en-US" altLang="zh-CN" dirty="0" smtClean="0"/>
          </a:p>
          <a:p>
            <a:pPr lvl="1"/>
            <a:r>
              <a:rPr lang="zh-CN" altLang="en-US" dirty="0" smtClean="0"/>
              <a:t>可以看作一种模型平均</a:t>
            </a:r>
            <a:endParaRPr lang="en-US" altLang="zh-CN" dirty="0" smtClean="0"/>
          </a:p>
          <a:p>
            <a:pPr lvl="1"/>
            <a:r>
              <a:rPr lang="zh-CN" altLang="en-US" dirty="0" smtClean="0"/>
              <a:t>减少模型过拟合现象</a:t>
            </a:r>
            <a:endParaRPr lang="en-US" altLang="zh-CN" dirty="0" smtClean="0"/>
          </a:p>
          <a:p>
            <a:pPr lvl="1"/>
            <a:r>
              <a:rPr lang="zh-CN" altLang="en-US" dirty="0" smtClean="0"/>
              <a:t>以一定概率随机忽略隐层节点</a:t>
            </a:r>
            <a:endParaRPr lang="en-US" altLang="zh-CN" dirty="0" smtClean="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7820" y="2055322"/>
            <a:ext cx="6292668" cy="3156928"/>
          </a:xfrm>
          <a:prstGeom prst="rect">
            <a:avLst/>
          </a:prstGeom>
        </p:spPr>
      </p:pic>
      <p:sp>
        <p:nvSpPr>
          <p:cNvPr id="5" name="文本框 23"/>
          <p:cNvSpPr txBox="1">
            <a:spLocks noChangeArrowheads="1"/>
          </p:cNvSpPr>
          <p:nvPr/>
        </p:nvSpPr>
        <p:spPr bwMode="auto">
          <a:xfrm>
            <a:off x="5893720" y="5490096"/>
            <a:ext cx="23487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标准全连接神经网络</a:t>
            </a:r>
            <a:endParaRPr lang="zh-CN" altLang="en-US" b="1" dirty="0"/>
          </a:p>
        </p:txBody>
      </p:sp>
      <p:sp>
        <p:nvSpPr>
          <p:cNvPr id="6" name="文本框 23"/>
          <p:cNvSpPr txBox="1">
            <a:spLocks noChangeArrowheads="1"/>
          </p:cNvSpPr>
          <p:nvPr/>
        </p:nvSpPr>
        <p:spPr bwMode="auto">
          <a:xfrm>
            <a:off x="9340290" y="5490096"/>
            <a:ext cx="10823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Dropout</a:t>
            </a:r>
            <a:endParaRPr lang="zh-CN" altLang="en-US" b="1" dirty="0"/>
          </a:p>
        </p:txBody>
      </p:sp>
    </p:spTree>
    <p:extLst>
      <p:ext uri="{BB962C8B-B14F-4D97-AF65-F5344CB8AC3E}">
        <p14:creationId xmlns:p14="http://schemas.microsoft.com/office/powerpoint/2010/main" val="527904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卷积神经网络总结</a:t>
            </a:r>
            <a:endParaRPr lang="zh-CN" altLang="en-US" dirty="0"/>
          </a:p>
        </p:txBody>
      </p:sp>
      <p:sp>
        <p:nvSpPr>
          <p:cNvPr id="3" name="内容占位符 2"/>
          <p:cNvSpPr>
            <a:spLocks noGrp="1"/>
          </p:cNvSpPr>
          <p:nvPr>
            <p:ph sz="quarter" idx="13"/>
          </p:nvPr>
        </p:nvSpPr>
        <p:spPr/>
        <p:txBody>
          <a:bodyPr/>
          <a:lstStyle/>
          <a:p>
            <a:r>
              <a:rPr lang="zh-CN" altLang="en-US" dirty="0" smtClean="0"/>
              <a:t>卷积神经网络各层作用</a:t>
            </a:r>
            <a:endParaRPr lang="en-US" altLang="zh-CN" dirty="0" smtClean="0"/>
          </a:p>
          <a:p>
            <a:pPr lvl="1"/>
            <a:r>
              <a:rPr lang="zh-CN" altLang="en-US" dirty="0"/>
              <a:t>卷积</a:t>
            </a:r>
            <a:r>
              <a:rPr lang="zh-CN" altLang="en-US" dirty="0" smtClean="0"/>
              <a:t>层</a:t>
            </a:r>
            <a:endParaRPr lang="en-US" altLang="zh-CN" dirty="0"/>
          </a:p>
          <a:p>
            <a:pPr lvl="2"/>
            <a:r>
              <a:rPr lang="zh-CN" altLang="en-US" dirty="0" smtClean="0"/>
              <a:t>特征提取主要层</a:t>
            </a:r>
            <a:endParaRPr lang="en-US" altLang="zh-CN" dirty="0" smtClean="0"/>
          </a:p>
          <a:p>
            <a:pPr lvl="1"/>
            <a:r>
              <a:rPr lang="zh-CN" altLang="en-US" dirty="0"/>
              <a:t>批</a:t>
            </a:r>
            <a:r>
              <a:rPr lang="zh-CN" altLang="en-US" dirty="0" smtClean="0"/>
              <a:t>规范化层</a:t>
            </a:r>
            <a:endParaRPr lang="en-US" altLang="zh-CN" dirty="0" smtClean="0"/>
          </a:p>
          <a:p>
            <a:pPr lvl="2"/>
            <a:r>
              <a:rPr lang="zh-CN" altLang="en-US" dirty="0" smtClean="0"/>
              <a:t>归一化层</a:t>
            </a:r>
            <a:endParaRPr lang="en-US" altLang="zh-CN" dirty="0" smtClean="0"/>
          </a:p>
          <a:p>
            <a:pPr lvl="2"/>
            <a:r>
              <a:rPr lang="zh-CN" altLang="en-US" dirty="0" smtClean="0"/>
              <a:t>加速模型收敛</a:t>
            </a:r>
            <a:endParaRPr lang="en-US" altLang="zh-CN" dirty="0" smtClean="0"/>
          </a:p>
          <a:p>
            <a:pPr lvl="1"/>
            <a:r>
              <a:rPr lang="zh-CN" altLang="en-US" dirty="0"/>
              <a:t>池化</a:t>
            </a:r>
            <a:r>
              <a:rPr lang="zh-CN" altLang="en-US" dirty="0" smtClean="0"/>
              <a:t>层</a:t>
            </a:r>
            <a:endParaRPr lang="en-US" altLang="zh-CN" dirty="0" smtClean="0"/>
          </a:p>
          <a:p>
            <a:pPr lvl="2"/>
            <a:r>
              <a:rPr lang="zh-CN" altLang="en-US" dirty="0" smtClean="0"/>
              <a:t>缩减特征图的维度</a:t>
            </a:r>
            <a:endParaRPr lang="en-US" altLang="zh-CN" dirty="0" smtClean="0"/>
          </a:p>
          <a:p>
            <a:pPr lvl="2"/>
            <a:r>
              <a:rPr lang="zh-CN" altLang="en-US" dirty="0" smtClean="0"/>
              <a:t>降低噪声</a:t>
            </a:r>
            <a:endParaRPr lang="en-US" altLang="zh-CN" dirty="0" smtClean="0"/>
          </a:p>
          <a:p>
            <a:pPr lvl="1"/>
            <a:r>
              <a:rPr lang="zh-CN" altLang="en-US" dirty="0"/>
              <a:t>全连接</a:t>
            </a:r>
            <a:r>
              <a:rPr lang="zh-CN" altLang="en-US" dirty="0" smtClean="0"/>
              <a:t>层</a:t>
            </a:r>
            <a:endParaRPr lang="en-US" altLang="zh-CN" dirty="0" smtClean="0"/>
          </a:p>
          <a:p>
            <a:pPr lvl="2"/>
            <a:r>
              <a:rPr lang="zh-CN" altLang="en-US" dirty="0" smtClean="0"/>
              <a:t>进行分类</a:t>
            </a:r>
            <a:endParaRPr lang="en-US" altLang="zh-CN" dirty="0"/>
          </a:p>
          <a:p>
            <a:pPr lvl="1"/>
            <a:r>
              <a:rPr lang="en-US" altLang="zh-CN" dirty="0" smtClean="0"/>
              <a:t>Dropout</a:t>
            </a:r>
          </a:p>
          <a:p>
            <a:pPr lvl="2"/>
            <a:r>
              <a:rPr lang="zh-CN" altLang="en-US" dirty="0" smtClean="0"/>
              <a:t>避免过拟合</a:t>
            </a:r>
            <a:endParaRPr lang="en-US" altLang="zh-CN" dirty="0" smtClean="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3905" y="1576378"/>
            <a:ext cx="7966583" cy="4114815"/>
          </a:xfrm>
          <a:prstGeom prst="rect">
            <a:avLst/>
          </a:prstGeom>
        </p:spPr>
      </p:pic>
      <p:sp>
        <p:nvSpPr>
          <p:cNvPr id="7" name="文本框 6"/>
          <p:cNvSpPr txBox="1"/>
          <p:nvPr/>
        </p:nvSpPr>
        <p:spPr>
          <a:xfrm>
            <a:off x="2988515" y="5767940"/>
            <a:ext cx="9097362" cy="369332"/>
          </a:xfrm>
          <a:prstGeom prst="rect">
            <a:avLst/>
          </a:prstGeom>
          <a:noFill/>
        </p:spPr>
        <p:txBody>
          <a:bodyPr wrap="none" rtlCol="0">
            <a:spAutoFit/>
          </a:bodyPr>
          <a:lstStyle/>
          <a:p>
            <a:r>
              <a:rPr lang="zh-CN" altLang="en-US" dirty="0" smtClean="0"/>
              <a:t>流程：输入图像➡</a:t>
            </a:r>
            <a:r>
              <a:rPr lang="zh-CN" altLang="en-US" dirty="0"/>
              <a:t>多卷积</a:t>
            </a:r>
            <a:r>
              <a:rPr lang="en-US" altLang="zh-CN" dirty="0" smtClean="0"/>
              <a:t>+BN</a:t>
            </a:r>
            <a:r>
              <a:rPr lang="zh-CN" altLang="en-US" dirty="0" smtClean="0"/>
              <a:t>层</a:t>
            </a:r>
            <a:r>
              <a:rPr lang="en-US" altLang="zh-CN" dirty="0" smtClean="0"/>
              <a:t>+</a:t>
            </a:r>
            <a:r>
              <a:rPr lang="zh-CN" altLang="en-US" dirty="0" smtClean="0"/>
              <a:t>激活层➡</a:t>
            </a:r>
            <a:r>
              <a:rPr lang="zh-CN" altLang="en-US" dirty="0"/>
              <a:t>池化</a:t>
            </a:r>
            <a:r>
              <a:rPr lang="zh-CN" altLang="en-US" dirty="0" smtClean="0"/>
              <a:t>层➡ </a:t>
            </a:r>
            <a:r>
              <a:rPr lang="en-US" altLang="zh-CN" dirty="0" smtClean="0"/>
              <a:t>···</a:t>
            </a:r>
            <a:r>
              <a:rPr lang="zh-CN" altLang="en-US" dirty="0"/>
              <a:t> ➡</a:t>
            </a:r>
            <a:r>
              <a:rPr lang="zh-CN" altLang="en-US" dirty="0" smtClean="0"/>
              <a:t>多全连接层</a:t>
            </a:r>
            <a:r>
              <a:rPr lang="en-US" altLang="zh-CN" dirty="0" smtClean="0"/>
              <a:t>(Dropout)</a:t>
            </a:r>
            <a:r>
              <a:rPr lang="zh-CN" altLang="en-US" dirty="0"/>
              <a:t> </a:t>
            </a:r>
            <a:r>
              <a:rPr lang="zh-CN" altLang="en-US" dirty="0" smtClean="0"/>
              <a:t>➡结果</a:t>
            </a:r>
            <a:endParaRPr lang="zh-CN" altLang="en-US" dirty="0"/>
          </a:p>
        </p:txBody>
      </p:sp>
    </p:spTree>
    <p:extLst>
      <p:ext uri="{BB962C8B-B14F-4D97-AF65-F5344CB8AC3E}">
        <p14:creationId xmlns:p14="http://schemas.microsoft.com/office/powerpoint/2010/main" val="21563402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normAutofit fontScale="92500" lnSpcReduction="20000"/>
          </a:bodyPr>
          <a:lstStyle/>
          <a:p>
            <a:pPr>
              <a:lnSpc>
                <a:spcPct val="125000"/>
              </a:lnSpc>
            </a:pPr>
            <a:r>
              <a:rPr lang="zh-CN" altLang="en-US" dirty="0" smtClean="0"/>
              <a:t>常见卷积</a:t>
            </a:r>
            <a:r>
              <a:rPr lang="zh-CN" altLang="en-US" dirty="0"/>
              <a:t>神经网络结构</a:t>
            </a:r>
          </a:p>
        </p:txBody>
      </p:sp>
    </p:spTree>
    <p:extLst>
      <p:ext uri="{BB962C8B-B14F-4D97-AF65-F5344CB8AC3E}">
        <p14:creationId xmlns:p14="http://schemas.microsoft.com/office/powerpoint/2010/main" val="25951512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常见卷积神经网络结构</a:t>
            </a:r>
            <a:endParaRPr lang="zh-CN" altLang="en-US" dirty="0"/>
          </a:p>
        </p:txBody>
      </p:sp>
      <p:sp>
        <p:nvSpPr>
          <p:cNvPr id="3" name="内容占位符 2"/>
          <p:cNvSpPr>
            <a:spLocks noGrp="1"/>
          </p:cNvSpPr>
          <p:nvPr>
            <p:ph sz="quarter" idx="13"/>
          </p:nvPr>
        </p:nvSpPr>
        <p:spPr/>
        <p:txBody>
          <a:bodyPr/>
          <a:lstStyle/>
          <a:p>
            <a:r>
              <a:rPr lang="zh-CN" altLang="en-US" dirty="0" smtClean="0"/>
              <a:t>常见卷积神经网络结构</a:t>
            </a:r>
            <a:endParaRPr lang="en-US" altLang="zh-CN" dirty="0"/>
          </a:p>
          <a:p>
            <a:pPr lvl="1"/>
            <a:r>
              <a:rPr lang="en-US" altLang="zh-CN" dirty="0" err="1" smtClean="0"/>
              <a:t>LeNet</a:t>
            </a:r>
            <a:r>
              <a:rPr lang="zh-CN" altLang="en-US" dirty="0" smtClean="0"/>
              <a:t>神经网络</a:t>
            </a:r>
            <a:endParaRPr lang="en-US" altLang="zh-CN" dirty="0"/>
          </a:p>
          <a:p>
            <a:pPr lvl="1"/>
            <a:r>
              <a:rPr lang="en-US" altLang="zh-CN" dirty="0" err="1" smtClean="0"/>
              <a:t>AlexNet</a:t>
            </a:r>
            <a:r>
              <a:rPr lang="zh-CN" altLang="en-US" dirty="0" smtClean="0"/>
              <a:t>神经网络</a:t>
            </a:r>
            <a:endParaRPr lang="en-US" altLang="zh-CN" dirty="0" smtClean="0"/>
          </a:p>
          <a:p>
            <a:pPr lvl="1"/>
            <a:r>
              <a:rPr lang="en-US" altLang="zh-CN" dirty="0" err="1" smtClean="0"/>
              <a:t>VGGNet</a:t>
            </a:r>
            <a:r>
              <a:rPr lang="zh-CN" altLang="en-US" dirty="0" smtClean="0"/>
              <a:t>神经网络</a:t>
            </a:r>
            <a:endParaRPr lang="en-US" altLang="zh-CN" dirty="0" smtClean="0"/>
          </a:p>
          <a:p>
            <a:pPr lvl="1"/>
            <a:r>
              <a:rPr lang="en-US" altLang="zh-CN" dirty="0" err="1" smtClean="0"/>
              <a:t>GoogLeNet</a:t>
            </a:r>
            <a:r>
              <a:rPr lang="zh-CN" altLang="en-US" dirty="0" smtClean="0"/>
              <a:t>神经网络</a:t>
            </a:r>
            <a:endParaRPr lang="en-US" altLang="zh-CN" dirty="0" smtClean="0"/>
          </a:p>
          <a:p>
            <a:pPr lvl="1"/>
            <a:r>
              <a:rPr lang="en-US" altLang="zh-CN" dirty="0" err="1" smtClean="0"/>
              <a:t>ResNet</a:t>
            </a:r>
            <a:endParaRPr lang="en-US" altLang="zh-CN" dirty="0" smtClean="0"/>
          </a:p>
          <a:p>
            <a:pPr lvl="1"/>
            <a:r>
              <a:rPr lang="zh-CN" altLang="en-US" dirty="0" smtClean="0"/>
              <a:t>其他网络结构</a:t>
            </a:r>
            <a:endParaRPr lang="en-US" altLang="zh-CN" dirty="0" smtClean="0"/>
          </a:p>
          <a:p>
            <a:r>
              <a:rPr lang="zh-CN" altLang="en-US" dirty="0" smtClean="0"/>
              <a:t>工业界图像算法模型</a:t>
            </a:r>
            <a:endParaRPr lang="en-US" altLang="zh-CN" dirty="0" smtClean="0"/>
          </a:p>
          <a:p>
            <a:pPr lvl="1"/>
            <a:r>
              <a:rPr lang="zh-CN" altLang="en-US" dirty="0" smtClean="0"/>
              <a:t>基于</a:t>
            </a:r>
            <a:r>
              <a:rPr lang="en-US" altLang="zh-CN" dirty="0" err="1" smtClean="0"/>
              <a:t>ImageNet</a:t>
            </a:r>
            <a:r>
              <a:rPr lang="zh-CN" altLang="en-US" dirty="0" smtClean="0"/>
              <a:t>数据集的预训练模型</a:t>
            </a:r>
            <a:endParaRPr lang="en-US" altLang="zh-CN" dirty="0" smtClean="0"/>
          </a:p>
          <a:p>
            <a:pPr lvl="1"/>
            <a:r>
              <a:rPr lang="zh-CN" altLang="en-US" dirty="0" smtClean="0"/>
              <a:t>加快模型收敛速度</a:t>
            </a:r>
            <a:endParaRPr lang="en-US" altLang="zh-CN" dirty="0" smtClean="0"/>
          </a:p>
          <a:p>
            <a:pPr lvl="1"/>
            <a:r>
              <a:rPr lang="zh-CN" altLang="en-US" dirty="0" smtClean="0"/>
              <a:t>降低过拟合风险</a:t>
            </a:r>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26678" y="1079432"/>
            <a:ext cx="3896051" cy="2719815"/>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5070" y="4004040"/>
            <a:ext cx="4299268" cy="2549705"/>
          </a:xfrm>
          <a:prstGeom prst="rect">
            <a:avLst/>
          </a:prstGeom>
        </p:spPr>
      </p:pic>
    </p:spTree>
    <p:extLst>
      <p:ext uri="{BB962C8B-B14F-4D97-AF65-F5344CB8AC3E}">
        <p14:creationId xmlns:p14="http://schemas.microsoft.com/office/powerpoint/2010/main" val="384843350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LeNet</a:t>
            </a:r>
            <a:r>
              <a:rPr lang="zh-CN" altLang="en-US" dirty="0" smtClean="0"/>
              <a:t>神经网络</a:t>
            </a:r>
            <a:endParaRPr lang="zh-CN" altLang="en-US" dirty="0"/>
          </a:p>
        </p:txBody>
      </p:sp>
      <p:sp>
        <p:nvSpPr>
          <p:cNvPr id="3" name="内容占位符 2"/>
          <p:cNvSpPr>
            <a:spLocks noGrp="1"/>
          </p:cNvSpPr>
          <p:nvPr>
            <p:ph sz="quarter" idx="13"/>
          </p:nvPr>
        </p:nvSpPr>
        <p:spPr/>
        <p:txBody>
          <a:bodyPr/>
          <a:lstStyle/>
          <a:p>
            <a:r>
              <a:rPr lang="en-US" altLang="zh-CN" dirty="0" err="1" smtClean="0"/>
              <a:t>LeNet</a:t>
            </a:r>
            <a:endParaRPr lang="en-US" altLang="zh-CN" dirty="0"/>
          </a:p>
          <a:p>
            <a:pPr lvl="1"/>
            <a:r>
              <a:rPr lang="en-US" altLang="zh-CN" dirty="0" err="1" smtClean="0"/>
              <a:t>Yann</a:t>
            </a:r>
            <a:r>
              <a:rPr lang="en-US" altLang="zh-CN" dirty="0" smtClean="0"/>
              <a:t> </a:t>
            </a:r>
            <a:r>
              <a:rPr lang="en-US" altLang="zh-CN" dirty="0" err="1" smtClean="0"/>
              <a:t>LeCun</a:t>
            </a:r>
            <a:r>
              <a:rPr lang="zh-CN" altLang="en-US" dirty="0" smtClean="0"/>
              <a:t>于</a:t>
            </a:r>
            <a:r>
              <a:rPr lang="en-US" altLang="zh-CN" dirty="0" smtClean="0"/>
              <a:t>1998</a:t>
            </a:r>
            <a:r>
              <a:rPr lang="zh-CN" altLang="en-US" dirty="0" smtClean="0"/>
              <a:t>年提出</a:t>
            </a:r>
            <a:endParaRPr lang="en-US" altLang="zh-CN" dirty="0" smtClean="0"/>
          </a:p>
          <a:p>
            <a:pPr lvl="1"/>
            <a:r>
              <a:rPr lang="zh-CN" altLang="en-US" dirty="0" smtClean="0"/>
              <a:t>结构简单</a:t>
            </a:r>
            <a:endParaRPr lang="en-US" altLang="zh-CN" dirty="0" smtClean="0"/>
          </a:p>
          <a:p>
            <a:pPr lvl="1"/>
            <a:r>
              <a:rPr lang="zh-CN" altLang="en-US" dirty="0" smtClean="0"/>
              <a:t>最早的卷积神经网络</a:t>
            </a:r>
            <a:endParaRPr lang="en-US" altLang="zh-CN" dirty="0" smtClean="0"/>
          </a:p>
          <a:p>
            <a:r>
              <a:rPr lang="zh-CN" altLang="en-US" dirty="0" smtClean="0"/>
              <a:t>主要结构</a:t>
            </a:r>
            <a:endParaRPr lang="en-US" altLang="zh-CN" dirty="0" smtClean="0"/>
          </a:p>
          <a:p>
            <a:pPr lvl="1"/>
            <a:r>
              <a:rPr lang="zh-CN" altLang="en-US" dirty="0" smtClean="0"/>
              <a:t>输入图像</a:t>
            </a:r>
            <a:endParaRPr lang="en-US" altLang="zh-CN" dirty="0"/>
          </a:p>
          <a:p>
            <a:pPr lvl="1"/>
            <a:r>
              <a:rPr lang="zh-CN" altLang="en-US" dirty="0"/>
              <a:t>卷积</a:t>
            </a:r>
            <a:r>
              <a:rPr lang="zh-CN" altLang="en-US" dirty="0" smtClean="0"/>
              <a:t>层</a:t>
            </a:r>
            <a:r>
              <a:rPr lang="en-US" altLang="zh-CN" dirty="0" smtClean="0"/>
              <a:t>conv1</a:t>
            </a:r>
          </a:p>
          <a:p>
            <a:pPr lvl="1"/>
            <a:r>
              <a:rPr lang="zh-CN" altLang="en-US" dirty="0"/>
              <a:t>池化</a:t>
            </a:r>
            <a:r>
              <a:rPr lang="zh-CN" altLang="en-US" dirty="0" smtClean="0"/>
              <a:t>层</a:t>
            </a:r>
            <a:r>
              <a:rPr lang="en-US" altLang="zh-CN" dirty="0" smtClean="0"/>
              <a:t>pool1</a:t>
            </a:r>
          </a:p>
          <a:p>
            <a:pPr lvl="1"/>
            <a:r>
              <a:rPr lang="zh-CN" altLang="en-US" dirty="0" smtClean="0"/>
              <a:t>卷积层</a:t>
            </a:r>
            <a:r>
              <a:rPr lang="en-US" altLang="zh-CN" dirty="0" smtClean="0"/>
              <a:t>conv2</a:t>
            </a:r>
          </a:p>
          <a:p>
            <a:pPr lvl="1"/>
            <a:r>
              <a:rPr lang="zh-CN" altLang="en-US" dirty="0"/>
              <a:t>池化</a:t>
            </a:r>
            <a:r>
              <a:rPr lang="zh-CN" altLang="en-US" dirty="0" smtClean="0"/>
              <a:t>层</a:t>
            </a:r>
            <a:r>
              <a:rPr lang="en-US" altLang="zh-CN" dirty="0" smtClean="0"/>
              <a:t>pool2</a:t>
            </a:r>
          </a:p>
          <a:p>
            <a:pPr lvl="1"/>
            <a:r>
              <a:rPr lang="zh-CN" altLang="en-US" dirty="0"/>
              <a:t>全连接</a:t>
            </a:r>
            <a:r>
              <a:rPr lang="zh-CN" altLang="en-US" dirty="0" smtClean="0"/>
              <a:t>层</a:t>
            </a:r>
            <a:r>
              <a:rPr lang="en-US" altLang="zh-CN" dirty="0" smtClean="0"/>
              <a:t>f1</a:t>
            </a:r>
          </a:p>
          <a:p>
            <a:pPr lvl="1"/>
            <a:r>
              <a:rPr lang="zh-CN" altLang="en-US" dirty="0"/>
              <a:t>全</a:t>
            </a:r>
            <a:r>
              <a:rPr lang="zh-CN" altLang="en-US" dirty="0" smtClean="0"/>
              <a:t>连接层</a:t>
            </a:r>
            <a:r>
              <a:rPr lang="en-US" altLang="zh-CN" dirty="0" smtClean="0"/>
              <a:t>f2</a:t>
            </a:r>
          </a:p>
          <a:p>
            <a:pPr lvl="1"/>
            <a:r>
              <a:rPr lang="zh-CN" altLang="en-US" dirty="0" smtClean="0"/>
              <a:t>输出结果</a:t>
            </a:r>
            <a:endParaRPr lang="zh-CN" altLang="en-US" dirty="0"/>
          </a:p>
        </p:txBody>
      </p:sp>
      <p:pic>
        <p:nvPicPr>
          <p:cNvPr id="7" name="图片 6"/>
          <p:cNvPicPr>
            <a:picLocks noChangeAspect="1"/>
          </p:cNvPicPr>
          <p:nvPr/>
        </p:nvPicPr>
        <p:blipFill>
          <a:blip r:embed="rId3"/>
          <a:stretch>
            <a:fillRect/>
          </a:stretch>
        </p:blipFill>
        <p:spPr>
          <a:xfrm>
            <a:off x="4872869" y="2733786"/>
            <a:ext cx="6647619" cy="1800000"/>
          </a:xfrm>
          <a:prstGeom prst="rect">
            <a:avLst/>
          </a:prstGeom>
        </p:spPr>
      </p:pic>
    </p:spTree>
    <p:extLst>
      <p:ext uri="{BB962C8B-B14F-4D97-AF65-F5344CB8AC3E}">
        <p14:creationId xmlns:p14="http://schemas.microsoft.com/office/powerpoint/2010/main" val="16785227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LeNet</a:t>
            </a:r>
            <a:r>
              <a:rPr lang="zh-CN" altLang="en-US" dirty="0"/>
              <a:t>神经网络</a:t>
            </a:r>
          </a:p>
        </p:txBody>
      </p:sp>
      <p:sp>
        <p:nvSpPr>
          <p:cNvPr id="3" name="内容占位符 2"/>
          <p:cNvSpPr>
            <a:spLocks noGrp="1"/>
          </p:cNvSpPr>
          <p:nvPr>
            <p:ph sz="quarter" idx="13"/>
          </p:nvPr>
        </p:nvSpPr>
        <p:spPr/>
        <p:txBody>
          <a:bodyPr/>
          <a:lstStyle/>
          <a:p>
            <a:r>
              <a:rPr lang="zh-CN" altLang="en-US" dirty="0" smtClean="0"/>
              <a:t>使用参数少，结构简单，模型速度快</a:t>
            </a:r>
            <a:endParaRPr lang="en-US" altLang="zh-CN" dirty="0" smtClean="0"/>
          </a:p>
          <a:p>
            <a:r>
              <a:rPr lang="zh-CN" altLang="en-US" dirty="0" smtClean="0"/>
              <a:t>右图是使用</a:t>
            </a:r>
            <a:r>
              <a:rPr lang="en-US" altLang="zh-CN" dirty="0" smtClean="0"/>
              <a:t>LeNet-5</a:t>
            </a:r>
            <a:r>
              <a:rPr lang="zh-CN" altLang="en-US" dirty="0" smtClean="0"/>
              <a:t>识别数字</a:t>
            </a:r>
            <a:r>
              <a:rPr lang="en-US" altLang="zh-CN" dirty="0" smtClean="0"/>
              <a:t>3</a:t>
            </a:r>
            <a:r>
              <a:rPr lang="zh-CN" altLang="en-US" dirty="0" smtClean="0"/>
              <a:t>的过程。</a:t>
            </a:r>
            <a:endParaRPr lang="zh-CN" altLang="en-US" dirty="0"/>
          </a:p>
        </p:txBody>
      </p:sp>
      <p:pic>
        <p:nvPicPr>
          <p:cNvPr id="4" name="图片 3"/>
          <p:cNvPicPr>
            <a:picLocks noChangeAspect="1"/>
          </p:cNvPicPr>
          <p:nvPr/>
        </p:nvPicPr>
        <p:blipFill>
          <a:blip r:embed="rId3"/>
          <a:stretch>
            <a:fillRect/>
          </a:stretch>
        </p:blipFill>
        <p:spPr>
          <a:xfrm>
            <a:off x="6413626" y="1705214"/>
            <a:ext cx="5038095" cy="3857143"/>
          </a:xfrm>
          <a:prstGeom prst="rect">
            <a:avLst/>
          </a:prstGeom>
        </p:spPr>
      </p:pic>
    </p:spTree>
    <p:extLst>
      <p:ext uri="{BB962C8B-B14F-4D97-AF65-F5344CB8AC3E}">
        <p14:creationId xmlns:p14="http://schemas.microsoft.com/office/powerpoint/2010/main" val="6535069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AlexNet</a:t>
            </a:r>
            <a:r>
              <a:rPr lang="zh-CN" altLang="en-US" dirty="0" smtClean="0"/>
              <a:t>神经网络</a:t>
            </a:r>
            <a:endParaRPr lang="zh-CN" altLang="en-US" dirty="0"/>
          </a:p>
        </p:txBody>
      </p:sp>
      <p:sp>
        <p:nvSpPr>
          <p:cNvPr id="3" name="内容占位符 2"/>
          <p:cNvSpPr>
            <a:spLocks noGrp="1"/>
          </p:cNvSpPr>
          <p:nvPr>
            <p:ph sz="quarter" idx="13"/>
          </p:nvPr>
        </p:nvSpPr>
        <p:spPr/>
        <p:txBody>
          <a:bodyPr/>
          <a:lstStyle/>
          <a:p>
            <a:r>
              <a:rPr lang="en-US" altLang="zh-CN" dirty="0" err="1" smtClean="0"/>
              <a:t>AlexNet</a:t>
            </a:r>
            <a:endParaRPr lang="en-US" altLang="zh-CN" dirty="0" smtClean="0"/>
          </a:p>
          <a:p>
            <a:pPr lvl="1"/>
            <a:r>
              <a:rPr lang="zh-CN" altLang="en-US" dirty="0" smtClean="0"/>
              <a:t>由</a:t>
            </a:r>
            <a:r>
              <a:rPr lang="en-US" altLang="zh-CN" dirty="0" smtClean="0"/>
              <a:t>Hinton</a:t>
            </a:r>
            <a:r>
              <a:rPr lang="zh-CN" altLang="en-US" dirty="0" smtClean="0"/>
              <a:t>和</a:t>
            </a:r>
            <a:r>
              <a:rPr lang="en-US" altLang="zh-CN" dirty="0" smtClean="0"/>
              <a:t>Alex </a:t>
            </a:r>
            <a:r>
              <a:rPr lang="en-US" altLang="zh-CN" dirty="0" err="1" smtClean="0"/>
              <a:t>Krizhevsky</a:t>
            </a:r>
            <a:r>
              <a:rPr lang="zh-CN" altLang="en-US" dirty="0" smtClean="0"/>
              <a:t>于</a:t>
            </a:r>
            <a:r>
              <a:rPr lang="en-US" altLang="zh-CN" dirty="0" smtClean="0"/>
              <a:t>2012</a:t>
            </a:r>
            <a:r>
              <a:rPr lang="zh-CN" altLang="en-US" dirty="0" smtClean="0"/>
              <a:t>年设计</a:t>
            </a:r>
            <a:endParaRPr lang="en-US" altLang="zh-CN" dirty="0" smtClean="0"/>
          </a:p>
          <a:p>
            <a:pPr lvl="1"/>
            <a:r>
              <a:rPr lang="zh-CN" altLang="en-US" dirty="0" smtClean="0"/>
              <a:t>第一个在</a:t>
            </a:r>
            <a:r>
              <a:rPr lang="en-US" altLang="zh-CN" dirty="0" smtClean="0"/>
              <a:t>ILSVRC</a:t>
            </a:r>
            <a:r>
              <a:rPr lang="zh-CN" altLang="en-US" dirty="0" smtClean="0"/>
              <a:t>获得冠军的卷积神经网络</a:t>
            </a:r>
            <a:endParaRPr lang="en-US" altLang="zh-CN" dirty="0" smtClean="0"/>
          </a:p>
          <a:p>
            <a:r>
              <a:rPr lang="zh-CN" altLang="en-US" dirty="0" smtClean="0"/>
              <a:t>主要结构</a:t>
            </a:r>
            <a:endParaRPr lang="en-US" altLang="zh-CN" dirty="0" smtClean="0"/>
          </a:p>
          <a:p>
            <a:pPr lvl="1"/>
            <a:r>
              <a:rPr lang="zh-CN" altLang="en-US" dirty="0" smtClean="0"/>
              <a:t>输入图像</a:t>
            </a:r>
            <a:endParaRPr lang="en-US" altLang="zh-CN" dirty="0" smtClean="0"/>
          </a:p>
          <a:p>
            <a:pPr lvl="1"/>
            <a:r>
              <a:rPr lang="zh-CN" altLang="en-US" dirty="0" smtClean="0"/>
              <a:t>卷积层</a:t>
            </a:r>
            <a:r>
              <a:rPr lang="en-US" altLang="zh-CN" dirty="0" smtClean="0"/>
              <a:t>conv1+</a:t>
            </a:r>
            <a:r>
              <a:rPr lang="zh-CN" altLang="en-US" dirty="0" smtClean="0"/>
              <a:t>池化层</a:t>
            </a:r>
            <a:r>
              <a:rPr lang="en-US" altLang="zh-CN" dirty="0" smtClean="0"/>
              <a:t>pool1</a:t>
            </a:r>
          </a:p>
          <a:p>
            <a:pPr lvl="1"/>
            <a:r>
              <a:rPr lang="zh-CN" altLang="en-US" dirty="0"/>
              <a:t>卷积层</a:t>
            </a:r>
            <a:r>
              <a:rPr lang="en-US" altLang="zh-CN" dirty="0" smtClean="0"/>
              <a:t>conv2+</a:t>
            </a:r>
            <a:r>
              <a:rPr lang="zh-CN" altLang="en-US" dirty="0"/>
              <a:t>池化层</a:t>
            </a:r>
            <a:r>
              <a:rPr lang="en-US" altLang="zh-CN" dirty="0" smtClean="0"/>
              <a:t>pool2</a:t>
            </a:r>
            <a:endParaRPr lang="en-US" altLang="zh-CN" dirty="0"/>
          </a:p>
          <a:p>
            <a:pPr lvl="1"/>
            <a:r>
              <a:rPr lang="zh-CN" altLang="en-US" dirty="0"/>
              <a:t>卷积</a:t>
            </a:r>
            <a:r>
              <a:rPr lang="zh-CN" altLang="en-US" dirty="0" smtClean="0"/>
              <a:t>层</a:t>
            </a:r>
            <a:r>
              <a:rPr lang="en-US" altLang="zh-CN" dirty="0" smtClean="0"/>
              <a:t>conv3,conv4,conv5</a:t>
            </a:r>
          </a:p>
          <a:p>
            <a:pPr lvl="1"/>
            <a:r>
              <a:rPr lang="zh-CN" altLang="en-US" dirty="0"/>
              <a:t>池化</a:t>
            </a:r>
            <a:r>
              <a:rPr lang="zh-CN" altLang="en-US" dirty="0" smtClean="0"/>
              <a:t>层</a:t>
            </a:r>
            <a:r>
              <a:rPr lang="en-US" altLang="zh-CN" dirty="0" smtClean="0"/>
              <a:t>pool3</a:t>
            </a:r>
          </a:p>
          <a:p>
            <a:pPr lvl="1"/>
            <a:r>
              <a:rPr lang="zh-CN" altLang="en-US" dirty="0"/>
              <a:t>全连接</a:t>
            </a:r>
            <a:r>
              <a:rPr lang="zh-CN" altLang="en-US" dirty="0" smtClean="0"/>
              <a:t>层</a:t>
            </a:r>
            <a:r>
              <a:rPr lang="en-US" altLang="zh-CN" dirty="0" smtClean="0"/>
              <a:t>fc1</a:t>
            </a:r>
          </a:p>
          <a:p>
            <a:pPr lvl="1"/>
            <a:r>
              <a:rPr lang="zh-CN" altLang="en-US" dirty="0"/>
              <a:t>全连接</a:t>
            </a:r>
            <a:r>
              <a:rPr lang="zh-CN" altLang="en-US" dirty="0" smtClean="0"/>
              <a:t>层</a:t>
            </a:r>
            <a:r>
              <a:rPr lang="en-US" altLang="zh-CN" dirty="0" smtClean="0"/>
              <a:t>fc2</a:t>
            </a:r>
          </a:p>
          <a:p>
            <a:pPr lvl="1"/>
            <a:r>
              <a:rPr lang="zh-CN" altLang="en-US" dirty="0" smtClean="0"/>
              <a:t>输出结果</a:t>
            </a:r>
            <a:endParaRPr lang="en-US" altLang="zh-CN" dirty="0" smtClean="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7119" y="2529754"/>
            <a:ext cx="6413369" cy="3607520"/>
          </a:xfrm>
          <a:prstGeom prst="rect">
            <a:avLst/>
          </a:prstGeom>
        </p:spPr>
      </p:pic>
    </p:spTree>
    <p:extLst>
      <p:ext uri="{BB962C8B-B14F-4D97-AF65-F5344CB8AC3E}">
        <p14:creationId xmlns:p14="http://schemas.microsoft.com/office/powerpoint/2010/main" val="7137846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AlexNet</a:t>
            </a:r>
            <a:r>
              <a:rPr lang="zh-CN" altLang="en-US" dirty="0"/>
              <a:t>神经网络</a:t>
            </a:r>
          </a:p>
        </p:txBody>
      </p:sp>
      <p:sp>
        <p:nvSpPr>
          <p:cNvPr id="3" name="内容占位符 2"/>
          <p:cNvSpPr>
            <a:spLocks noGrp="1"/>
          </p:cNvSpPr>
          <p:nvPr>
            <p:ph sz="quarter" idx="13"/>
          </p:nvPr>
        </p:nvSpPr>
        <p:spPr/>
        <p:txBody>
          <a:bodyPr/>
          <a:lstStyle/>
          <a:p>
            <a:r>
              <a:rPr lang="zh-CN" altLang="en-US" dirty="0" smtClean="0"/>
              <a:t>使用</a:t>
            </a:r>
            <a:r>
              <a:rPr lang="en-US" altLang="zh-CN" dirty="0" err="1" smtClean="0"/>
              <a:t>ReLU</a:t>
            </a:r>
            <a:r>
              <a:rPr lang="zh-CN" altLang="en-US" dirty="0" smtClean="0"/>
              <a:t>作为激活函数</a:t>
            </a:r>
            <a:endParaRPr lang="en-US" altLang="zh-CN" dirty="0" smtClean="0"/>
          </a:p>
          <a:p>
            <a:pPr lvl="1"/>
            <a:r>
              <a:rPr lang="zh-CN" altLang="en-US" dirty="0" smtClean="0"/>
              <a:t>取代了原先的激活函数</a:t>
            </a:r>
            <a:r>
              <a:rPr lang="en-US" altLang="zh-CN" dirty="0" smtClean="0"/>
              <a:t>Sigmoid</a:t>
            </a:r>
            <a:r>
              <a:rPr lang="zh-CN" altLang="en-US" dirty="0"/>
              <a:t>或</a:t>
            </a:r>
            <a:r>
              <a:rPr lang="en-US" altLang="zh-CN" dirty="0" err="1" smtClean="0"/>
              <a:t>tanh</a:t>
            </a:r>
            <a:r>
              <a:rPr lang="en-US" altLang="zh-CN" dirty="0" smtClean="0"/>
              <a:t>(x</a:t>
            </a:r>
            <a:r>
              <a:rPr lang="en-US" altLang="zh-CN" dirty="0"/>
              <a:t>)</a:t>
            </a:r>
            <a:endParaRPr lang="en-US" altLang="zh-CN" dirty="0" smtClean="0"/>
          </a:p>
          <a:p>
            <a:r>
              <a:rPr lang="zh-CN" altLang="en-US" dirty="0" smtClean="0"/>
              <a:t>使用多种方法避免过拟合</a:t>
            </a:r>
            <a:endParaRPr lang="en-US" altLang="zh-CN" dirty="0" smtClean="0"/>
          </a:p>
          <a:p>
            <a:pPr lvl="1"/>
            <a:r>
              <a:rPr lang="zh-CN" altLang="en-US" dirty="0"/>
              <a:t>数据</a:t>
            </a:r>
            <a:r>
              <a:rPr lang="zh-CN" altLang="en-US" dirty="0" smtClean="0"/>
              <a:t>增强</a:t>
            </a:r>
            <a:endParaRPr lang="en-US" altLang="zh-CN" dirty="0"/>
          </a:p>
          <a:p>
            <a:pPr marL="1257300" lvl="2" indent="-342900">
              <a:buFont typeface="+mj-lt"/>
              <a:buAutoNum type="arabicPeriod"/>
            </a:pPr>
            <a:r>
              <a:rPr lang="zh-CN" altLang="en-US" dirty="0" smtClean="0"/>
              <a:t>随机裁剪</a:t>
            </a:r>
            <a:endParaRPr lang="en-US" altLang="zh-CN" dirty="0" smtClean="0"/>
          </a:p>
          <a:p>
            <a:pPr marL="1257300" lvl="2" indent="-342900">
              <a:buFont typeface="+mj-lt"/>
              <a:buAutoNum type="arabicPeriod"/>
            </a:pPr>
            <a:r>
              <a:rPr lang="zh-CN" altLang="en-US" dirty="0" smtClean="0"/>
              <a:t>随机翻转平移缩放等</a:t>
            </a:r>
            <a:endParaRPr lang="en-US" altLang="zh-CN" dirty="0" smtClean="0"/>
          </a:p>
          <a:p>
            <a:pPr lvl="1"/>
            <a:r>
              <a:rPr lang="zh-CN" altLang="en-US" dirty="0" smtClean="0"/>
              <a:t>使用</a:t>
            </a:r>
            <a:r>
              <a:rPr lang="en-US" altLang="zh-CN" dirty="0" smtClean="0"/>
              <a:t>dropout</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5848" y="1814511"/>
            <a:ext cx="4391025" cy="3638550"/>
          </a:xfrm>
          <a:prstGeom prst="rect">
            <a:avLst/>
          </a:prstGeom>
        </p:spPr>
      </p:pic>
      <p:cxnSp>
        <p:nvCxnSpPr>
          <p:cNvPr id="7" name="直接连接符 6"/>
          <p:cNvCxnSpPr/>
          <p:nvPr/>
        </p:nvCxnSpPr>
        <p:spPr>
          <a:xfrm>
            <a:off x="9445658" y="1461155"/>
            <a:ext cx="612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9445658" y="1736665"/>
            <a:ext cx="612742"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0058400" y="1338044"/>
            <a:ext cx="511679" cy="246221"/>
          </a:xfrm>
          <a:prstGeom prst="rect">
            <a:avLst/>
          </a:prstGeom>
          <a:noFill/>
        </p:spPr>
        <p:txBody>
          <a:bodyPr wrap="none" rtlCol="0">
            <a:spAutoFit/>
          </a:bodyPr>
          <a:lstStyle/>
          <a:p>
            <a:r>
              <a:rPr lang="en-US" altLang="zh-CN" sz="1000" dirty="0" err="1" smtClean="0"/>
              <a:t>ReLU</a:t>
            </a:r>
            <a:endParaRPr lang="zh-CN" altLang="en-US" sz="1000" dirty="0"/>
          </a:p>
        </p:txBody>
      </p:sp>
      <p:sp>
        <p:nvSpPr>
          <p:cNvPr id="10" name="文本框 9"/>
          <p:cNvSpPr txBox="1"/>
          <p:nvPr/>
        </p:nvSpPr>
        <p:spPr>
          <a:xfrm>
            <a:off x="10058400" y="1584265"/>
            <a:ext cx="431528" cy="246221"/>
          </a:xfrm>
          <a:prstGeom prst="rect">
            <a:avLst/>
          </a:prstGeom>
          <a:noFill/>
        </p:spPr>
        <p:txBody>
          <a:bodyPr wrap="none" rtlCol="0">
            <a:spAutoFit/>
          </a:bodyPr>
          <a:lstStyle/>
          <a:p>
            <a:r>
              <a:rPr lang="en-US" altLang="zh-CN" sz="1000" dirty="0" err="1" smtClean="0"/>
              <a:t>tanh</a:t>
            </a:r>
            <a:endParaRPr lang="zh-CN" altLang="en-US" sz="1000" dirty="0"/>
          </a:p>
        </p:txBody>
      </p:sp>
    </p:spTree>
    <p:extLst>
      <p:ext uri="{BB962C8B-B14F-4D97-AF65-F5344CB8AC3E}">
        <p14:creationId xmlns:p14="http://schemas.microsoft.com/office/powerpoint/2010/main" val="222263817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AlexNet</a:t>
            </a:r>
            <a:r>
              <a:rPr lang="zh-CN" altLang="en-US" dirty="0" smtClean="0"/>
              <a:t>神经网络</a:t>
            </a:r>
            <a:endParaRPr lang="zh-CN" altLang="en-US" dirty="0"/>
          </a:p>
        </p:txBody>
      </p:sp>
      <p:sp>
        <p:nvSpPr>
          <p:cNvPr id="3" name="内容占位符 2"/>
          <p:cNvSpPr>
            <a:spLocks noGrp="1"/>
          </p:cNvSpPr>
          <p:nvPr>
            <p:ph sz="quarter" idx="13"/>
          </p:nvPr>
        </p:nvSpPr>
        <p:spPr/>
        <p:txBody>
          <a:bodyPr/>
          <a:lstStyle/>
          <a:p>
            <a:r>
              <a:rPr lang="en-US" altLang="zh-CN" dirty="0" err="1" smtClean="0"/>
              <a:t>ZFNet</a:t>
            </a:r>
            <a:r>
              <a:rPr lang="zh-CN" altLang="en-US" dirty="0" smtClean="0"/>
              <a:t>在</a:t>
            </a:r>
            <a:r>
              <a:rPr lang="en-US" altLang="zh-CN" dirty="0" err="1" smtClean="0"/>
              <a:t>AlexNet</a:t>
            </a:r>
            <a:r>
              <a:rPr lang="zh-CN" altLang="en-US" dirty="0" smtClean="0"/>
              <a:t>的基础上做了超参数的调整：</a:t>
            </a:r>
            <a:endParaRPr lang="en-US" altLang="zh-CN" dirty="0" smtClean="0"/>
          </a:p>
          <a:p>
            <a:pPr lvl="1"/>
            <a:r>
              <a:rPr lang="en-US" altLang="zh-CN" dirty="0" smtClean="0"/>
              <a:t>Conv1</a:t>
            </a:r>
            <a:r>
              <a:rPr lang="zh-CN" altLang="en-US" dirty="0" smtClean="0"/>
              <a:t>尺寸由（</a:t>
            </a:r>
            <a:r>
              <a:rPr lang="en-US" altLang="zh-CN" dirty="0" smtClean="0"/>
              <a:t>11</a:t>
            </a:r>
            <a:r>
              <a:rPr lang="zh-CN" altLang="en-US" dirty="0" smtClean="0"/>
              <a:t>，</a:t>
            </a:r>
            <a:r>
              <a:rPr lang="en-US" altLang="zh-CN" dirty="0" smtClean="0"/>
              <a:t>11</a:t>
            </a:r>
            <a:r>
              <a:rPr lang="zh-CN" altLang="en-US" dirty="0" smtClean="0"/>
              <a:t>）变为（</a:t>
            </a:r>
            <a:r>
              <a:rPr lang="en-US" altLang="zh-CN" dirty="0" smtClean="0"/>
              <a:t>7</a:t>
            </a:r>
            <a:r>
              <a:rPr lang="zh-CN" altLang="en-US" dirty="0" smtClean="0"/>
              <a:t>，</a:t>
            </a:r>
            <a:r>
              <a:rPr lang="en-US" altLang="zh-CN" dirty="0" smtClean="0"/>
              <a:t>7</a:t>
            </a:r>
            <a:r>
              <a:rPr lang="zh-CN" altLang="en-US" dirty="0" smtClean="0"/>
              <a:t>），步长由</a:t>
            </a:r>
            <a:r>
              <a:rPr lang="en-US" altLang="zh-CN" dirty="0" smtClean="0"/>
              <a:t>4</a:t>
            </a:r>
            <a:r>
              <a:rPr lang="zh-CN" altLang="en-US" dirty="0" smtClean="0"/>
              <a:t>变为</a:t>
            </a:r>
            <a:r>
              <a:rPr lang="en-US" altLang="zh-CN" dirty="0" smtClean="0"/>
              <a:t>2</a:t>
            </a:r>
          </a:p>
          <a:p>
            <a:pPr lvl="1"/>
            <a:r>
              <a:rPr lang="en-US" altLang="zh-CN" dirty="0" smtClean="0"/>
              <a:t>Conv3~5</a:t>
            </a:r>
            <a:r>
              <a:rPr lang="zh-CN" altLang="en-US" dirty="0" smtClean="0"/>
              <a:t>卷积核个数分别从</a:t>
            </a:r>
            <a:r>
              <a:rPr lang="en-US" altLang="zh-CN" dirty="0" smtClean="0"/>
              <a:t>384</a:t>
            </a:r>
            <a:r>
              <a:rPr lang="zh-CN" altLang="en-US" dirty="0" smtClean="0"/>
              <a:t>、</a:t>
            </a:r>
            <a:r>
              <a:rPr lang="en-US" altLang="zh-CN" dirty="0" smtClean="0"/>
              <a:t>384</a:t>
            </a:r>
            <a:r>
              <a:rPr lang="zh-CN" altLang="en-US" dirty="0" smtClean="0"/>
              <a:t>、</a:t>
            </a:r>
            <a:r>
              <a:rPr lang="en-US" altLang="zh-CN" dirty="0" smtClean="0"/>
              <a:t>256</a:t>
            </a:r>
            <a:r>
              <a:rPr lang="zh-CN" altLang="en-US" dirty="0" smtClean="0"/>
              <a:t>改为</a:t>
            </a:r>
            <a:r>
              <a:rPr lang="en-US" altLang="zh-CN" dirty="0" smtClean="0"/>
              <a:t>512</a:t>
            </a:r>
            <a:r>
              <a:rPr lang="zh-CN" altLang="en-US" dirty="0" smtClean="0"/>
              <a:t>、</a:t>
            </a:r>
            <a:r>
              <a:rPr lang="en-US" altLang="zh-CN" dirty="0" smtClean="0"/>
              <a:t>1024</a:t>
            </a:r>
            <a:r>
              <a:rPr lang="zh-CN" altLang="en-US" dirty="0" smtClean="0"/>
              <a:t>、</a:t>
            </a:r>
            <a:r>
              <a:rPr lang="en-US" altLang="zh-CN" dirty="0" smtClean="0"/>
              <a:t>512</a:t>
            </a:r>
          </a:p>
          <a:p>
            <a:pPr lvl="1"/>
            <a:r>
              <a:rPr lang="zh-CN" altLang="en-US" dirty="0" smtClean="0"/>
              <a:t>获得</a:t>
            </a:r>
            <a:r>
              <a:rPr lang="en-US" altLang="zh-CN" dirty="0" smtClean="0"/>
              <a:t>2013</a:t>
            </a:r>
            <a:r>
              <a:rPr lang="zh-CN" altLang="en-US" dirty="0" smtClean="0"/>
              <a:t>年</a:t>
            </a:r>
            <a:r>
              <a:rPr lang="en-US" altLang="zh-CN" dirty="0" smtClean="0"/>
              <a:t>ILSVRC</a:t>
            </a:r>
            <a:r>
              <a:rPr lang="zh-CN" altLang="en-US" dirty="0" smtClean="0"/>
              <a:t>冠军</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556" y="2808292"/>
            <a:ext cx="6591300" cy="3533775"/>
          </a:xfrm>
          <a:prstGeom prst="rect">
            <a:avLst/>
          </a:prstGeom>
        </p:spPr>
      </p:pic>
    </p:spTree>
    <p:extLst>
      <p:ext uri="{BB962C8B-B14F-4D97-AF65-F5344CB8AC3E}">
        <p14:creationId xmlns:p14="http://schemas.microsoft.com/office/powerpoint/2010/main" val="169148499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VGG</a:t>
            </a:r>
            <a:r>
              <a:rPr lang="zh-CN" altLang="en-US" dirty="0" smtClean="0"/>
              <a:t>神经网络</a:t>
            </a:r>
            <a:endParaRPr lang="zh-CN" altLang="en-US" dirty="0"/>
          </a:p>
        </p:txBody>
      </p:sp>
      <p:sp>
        <p:nvSpPr>
          <p:cNvPr id="3" name="内容占位符 2"/>
          <p:cNvSpPr>
            <a:spLocks noGrp="1"/>
          </p:cNvSpPr>
          <p:nvPr>
            <p:ph sz="quarter" idx="13"/>
          </p:nvPr>
        </p:nvSpPr>
        <p:spPr/>
        <p:txBody>
          <a:bodyPr/>
          <a:lstStyle/>
          <a:p>
            <a:r>
              <a:rPr lang="en-US" altLang="zh-CN" dirty="0" smtClean="0"/>
              <a:t>VGG</a:t>
            </a:r>
            <a:r>
              <a:rPr lang="zh-CN" altLang="en-US" dirty="0" smtClean="0"/>
              <a:t>神经网络</a:t>
            </a:r>
            <a:endParaRPr lang="en-US" altLang="zh-CN" dirty="0" smtClean="0"/>
          </a:p>
          <a:p>
            <a:pPr lvl="1"/>
            <a:r>
              <a:rPr lang="zh-CN" altLang="en-US" dirty="0" smtClean="0"/>
              <a:t>由牛津大学的</a:t>
            </a:r>
            <a:r>
              <a:rPr lang="en-US" altLang="zh-CN" b="1" dirty="0" smtClean="0"/>
              <a:t>V</a:t>
            </a:r>
            <a:r>
              <a:rPr lang="en-US" altLang="zh-CN" dirty="0" smtClean="0"/>
              <a:t>isual</a:t>
            </a:r>
            <a:r>
              <a:rPr lang="en-US" altLang="zh-CN" dirty="0"/>
              <a:t> </a:t>
            </a:r>
            <a:r>
              <a:rPr lang="en-US" altLang="zh-CN" b="1" dirty="0"/>
              <a:t>G</a:t>
            </a:r>
            <a:r>
              <a:rPr lang="en-US" altLang="zh-CN" dirty="0"/>
              <a:t>eometry </a:t>
            </a:r>
            <a:r>
              <a:rPr lang="en-US" altLang="zh-CN" b="1" dirty="0" smtClean="0"/>
              <a:t>G</a:t>
            </a:r>
            <a:r>
              <a:rPr lang="en-US" altLang="zh-CN" dirty="0" smtClean="0"/>
              <a:t>roup</a:t>
            </a:r>
            <a:r>
              <a:rPr lang="zh-CN" altLang="en-US" dirty="0" smtClean="0"/>
              <a:t>于</a:t>
            </a:r>
            <a:r>
              <a:rPr lang="en-US" altLang="zh-CN" dirty="0" smtClean="0"/>
              <a:t>2014</a:t>
            </a:r>
            <a:r>
              <a:rPr lang="zh-CN" altLang="en-US" dirty="0" smtClean="0"/>
              <a:t>年提出</a:t>
            </a:r>
            <a:endParaRPr lang="en-US" altLang="zh-CN" dirty="0" smtClean="0"/>
          </a:p>
          <a:p>
            <a:pPr lvl="1"/>
            <a:r>
              <a:rPr lang="zh-CN" altLang="en-US" dirty="0" smtClean="0"/>
              <a:t>在</a:t>
            </a:r>
            <a:r>
              <a:rPr lang="en-US" altLang="zh-CN" dirty="0" smtClean="0"/>
              <a:t>2014</a:t>
            </a:r>
            <a:r>
              <a:rPr lang="zh-CN" altLang="en-US" dirty="0" smtClean="0"/>
              <a:t>的</a:t>
            </a:r>
            <a:r>
              <a:rPr lang="en-US" altLang="zh-CN" dirty="0" err="1" smtClean="0"/>
              <a:t>ImageNet</a:t>
            </a:r>
            <a:r>
              <a:rPr lang="zh-CN" altLang="en-US" dirty="0" smtClean="0"/>
              <a:t>比赛获得亚军</a:t>
            </a:r>
            <a:endParaRPr lang="en-US" altLang="zh-CN" dirty="0" smtClean="0"/>
          </a:p>
          <a:p>
            <a:pPr lvl="1"/>
            <a:r>
              <a:rPr lang="zh-CN" altLang="en-US" dirty="0" smtClean="0"/>
              <a:t>证明了增加网络深度能够影响网络性能</a:t>
            </a:r>
            <a:endParaRPr lang="en-US" altLang="zh-CN" dirty="0" smtClean="0"/>
          </a:p>
          <a:p>
            <a:r>
              <a:rPr lang="zh-CN" altLang="en-US" dirty="0" smtClean="0"/>
              <a:t>主要结构（以</a:t>
            </a:r>
            <a:r>
              <a:rPr lang="en-US" altLang="zh-CN" dirty="0" smtClean="0"/>
              <a:t>VGG16</a:t>
            </a:r>
            <a:r>
              <a:rPr lang="zh-CN" altLang="en-US" dirty="0" smtClean="0"/>
              <a:t>为例）</a:t>
            </a:r>
            <a:endParaRPr lang="en-US" altLang="zh-CN" dirty="0" smtClean="0"/>
          </a:p>
          <a:p>
            <a:pPr lvl="1"/>
            <a:r>
              <a:rPr lang="zh-CN" altLang="en-US" dirty="0"/>
              <a:t>输入</a:t>
            </a:r>
            <a:r>
              <a:rPr lang="zh-CN" altLang="en-US" dirty="0" smtClean="0"/>
              <a:t>图像</a:t>
            </a:r>
            <a:endParaRPr lang="en-US" altLang="zh-CN" dirty="0" smtClean="0"/>
          </a:p>
          <a:p>
            <a:pPr lvl="1"/>
            <a:r>
              <a:rPr lang="en-US" altLang="zh-CN" dirty="0" smtClean="0"/>
              <a:t>Block1:</a:t>
            </a:r>
            <a:r>
              <a:rPr lang="zh-CN" altLang="en-US" dirty="0" smtClean="0"/>
              <a:t>卷积层</a:t>
            </a:r>
            <a:r>
              <a:rPr lang="en-US" altLang="zh-CN" dirty="0" smtClean="0"/>
              <a:t>conv1,conv2,</a:t>
            </a:r>
            <a:r>
              <a:rPr lang="zh-CN" altLang="en-US" dirty="0" smtClean="0"/>
              <a:t>池化层</a:t>
            </a:r>
            <a:r>
              <a:rPr lang="en-US" altLang="zh-CN" dirty="0" smtClean="0"/>
              <a:t>pool1</a:t>
            </a:r>
          </a:p>
          <a:p>
            <a:pPr lvl="1"/>
            <a:r>
              <a:rPr lang="en-US" altLang="zh-CN" dirty="0" smtClean="0"/>
              <a:t>Block2:</a:t>
            </a:r>
            <a:r>
              <a:rPr lang="zh-CN" altLang="en-US" dirty="0" smtClean="0"/>
              <a:t>卷积层</a:t>
            </a:r>
            <a:r>
              <a:rPr lang="en-US" altLang="zh-CN" dirty="0" smtClean="0"/>
              <a:t>conv3,conv4,</a:t>
            </a:r>
            <a:r>
              <a:rPr lang="zh-CN" altLang="en-US" dirty="0" smtClean="0"/>
              <a:t>池化层</a:t>
            </a:r>
            <a:r>
              <a:rPr lang="en-US" altLang="zh-CN" dirty="0" smtClean="0"/>
              <a:t>pool2</a:t>
            </a:r>
          </a:p>
          <a:p>
            <a:pPr lvl="1"/>
            <a:r>
              <a:rPr lang="en-US" altLang="zh-CN" dirty="0" smtClean="0"/>
              <a:t>Block3:</a:t>
            </a:r>
            <a:r>
              <a:rPr lang="zh-CN" altLang="en-US" dirty="0" smtClean="0"/>
              <a:t>卷积层</a:t>
            </a:r>
            <a:r>
              <a:rPr lang="en-US" altLang="zh-CN" dirty="0" smtClean="0"/>
              <a:t>conv5-7</a:t>
            </a:r>
            <a:r>
              <a:rPr lang="zh-CN" altLang="en-US" dirty="0" smtClean="0"/>
              <a:t>，池化层</a:t>
            </a:r>
            <a:r>
              <a:rPr lang="en-US" altLang="zh-CN" dirty="0" smtClean="0"/>
              <a:t>pool3</a:t>
            </a:r>
          </a:p>
          <a:p>
            <a:pPr lvl="1"/>
            <a:r>
              <a:rPr lang="en-US" altLang="zh-CN" dirty="0" smtClean="0"/>
              <a:t>Block4:</a:t>
            </a:r>
            <a:r>
              <a:rPr lang="zh-CN" altLang="en-US" dirty="0" smtClean="0"/>
              <a:t>卷积层</a:t>
            </a:r>
            <a:r>
              <a:rPr lang="en-US" altLang="zh-CN" dirty="0" smtClean="0"/>
              <a:t>conv8-10</a:t>
            </a:r>
            <a:r>
              <a:rPr lang="zh-CN" altLang="en-US" dirty="0" smtClean="0"/>
              <a:t>，</a:t>
            </a:r>
            <a:r>
              <a:rPr lang="zh-CN" altLang="en-US" dirty="0"/>
              <a:t>池化层</a:t>
            </a:r>
            <a:r>
              <a:rPr lang="en-US" altLang="zh-CN" dirty="0" smtClean="0"/>
              <a:t>pool4</a:t>
            </a:r>
          </a:p>
          <a:p>
            <a:pPr lvl="1"/>
            <a:r>
              <a:rPr lang="en-US" altLang="zh-CN" dirty="0" smtClean="0"/>
              <a:t>Block5:</a:t>
            </a:r>
            <a:r>
              <a:rPr lang="zh-CN" altLang="en-US" dirty="0" smtClean="0"/>
              <a:t>卷积</a:t>
            </a:r>
            <a:r>
              <a:rPr lang="zh-CN" altLang="en-US" dirty="0"/>
              <a:t>层</a:t>
            </a:r>
            <a:r>
              <a:rPr lang="en-US" altLang="zh-CN" dirty="0" smtClean="0"/>
              <a:t>conv11-13</a:t>
            </a:r>
            <a:r>
              <a:rPr lang="zh-CN" altLang="en-US" dirty="0" smtClean="0"/>
              <a:t>，</a:t>
            </a:r>
            <a:r>
              <a:rPr lang="zh-CN" altLang="en-US" dirty="0"/>
              <a:t>池化层</a:t>
            </a:r>
            <a:r>
              <a:rPr lang="en-US" altLang="zh-CN" dirty="0" smtClean="0"/>
              <a:t>pool5</a:t>
            </a:r>
          </a:p>
          <a:p>
            <a:pPr lvl="1"/>
            <a:r>
              <a:rPr lang="zh-CN" altLang="en-US" dirty="0"/>
              <a:t>全连接</a:t>
            </a:r>
            <a:r>
              <a:rPr lang="zh-CN" altLang="en-US" dirty="0" smtClean="0"/>
              <a:t>层</a:t>
            </a:r>
            <a:r>
              <a:rPr lang="en-US" altLang="zh-CN" dirty="0" smtClean="0"/>
              <a:t>fc1,fc2,fc3</a:t>
            </a:r>
          </a:p>
          <a:p>
            <a:pPr lvl="1"/>
            <a:r>
              <a:rPr lang="zh-CN" altLang="en-US" dirty="0"/>
              <a:t>输出结果</a:t>
            </a:r>
            <a:endParaRPr lang="en-US" altLang="zh-CN" dirty="0"/>
          </a:p>
          <a:p>
            <a:pPr lvl="1"/>
            <a:endParaRPr lang="zh-CN" altLang="en-US" dirty="0"/>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0373" y="1130299"/>
            <a:ext cx="4320769" cy="5006975"/>
          </a:xfrm>
          <a:prstGeom prst="rect">
            <a:avLst/>
          </a:prstGeom>
        </p:spPr>
      </p:pic>
    </p:spTree>
    <p:extLst>
      <p:ext uri="{BB962C8B-B14F-4D97-AF65-F5344CB8AC3E}">
        <p14:creationId xmlns:p14="http://schemas.microsoft.com/office/powerpoint/2010/main" val="346697996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VGG</a:t>
            </a:r>
            <a:r>
              <a:rPr lang="zh-CN" altLang="en-US" dirty="0" smtClean="0"/>
              <a:t>神经网络</a:t>
            </a:r>
            <a:endParaRPr lang="zh-CN" altLang="en-US" dirty="0"/>
          </a:p>
        </p:txBody>
      </p:sp>
      <p:sp>
        <p:nvSpPr>
          <p:cNvPr id="3" name="内容占位符 2"/>
          <p:cNvSpPr>
            <a:spLocks noGrp="1"/>
          </p:cNvSpPr>
          <p:nvPr>
            <p:ph sz="quarter" idx="13"/>
          </p:nvPr>
        </p:nvSpPr>
        <p:spPr/>
        <p:txBody>
          <a:bodyPr/>
          <a:lstStyle/>
          <a:p>
            <a:r>
              <a:rPr lang="en-US" altLang="zh-CN" dirty="0" smtClean="0"/>
              <a:t>VGG</a:t>
            </a:r>
            <a:r>
              <a:rPr lang="zh-CN" altLang="en-US" dirty="0" smtClean="0"/>
              <a:t>神经网络的突出特点是简单：</a:t>
            </a:r>
            <a:endParaRPr lang="en-US" altLang="zh-CN" dirty="0" smtClean="0"/>
          </a:p>
          <a:p>
            <a:pPr lvl="1"/>
            <a:r>
              <a:rPr lang="zh-CN" altLang="en-US" dirty="0"/>
              <a:t>卷积</a:t>
            </a:r>
            <a:r>
              <a:rPr lang="zh-CN" altLang="en-US" dirty="0" smtClean="0"/>
              <a:t>层均采用相同的卷积核参数</a:t>
            </a:r>
            <a:endParaRPr lang="en-US" altLang="zh-CN" dirty="0" smtClean="0"/>
          </a:p>
          <a:p>
            <a:pPr lvl="1"/>
            <a:r>
              <a:rPr lang="zh-CN" altLang="en-US" dirty="0"/>
              <a:t>池化</a:t>
            </a:r>
            <a:r>
              <a:rPr lang="zh-CN" altLang="en-US" dirty="0" smtClean="0"/>
              <a:t>层均采用相同的池化核参数</a:t>
            </a:r>
            <a:endParaRPr lang="en-US" altLang="zh-CN" dirty="0" smtClean="0"/>
          </a:p>
          <a:p>
            <a:pPr lvl="1"/>
            <a:r>
              <a:rPr lang="zh-CN" altLang="en-US" dirty="0" smtClean="0"/>
              <a:t>由若干卷积层与池化层堆叠构成</a:t>
            </a:r>
            <a:endParaRPr lang="en-US" altLang="zh-CN" dirty="0" smtClean="0"/>
          </a:p>
          <a:p>
            <a:pPr lvl="1"/>
            <a:r>
              <a:rPr lang="zh-CN" altLang="en-US" dirty="0" smtClean="0"/>
              <a:t>卷积核小，网络层深</a:t>
            </a:r>
            <a:endParaRPr lang="en-US" altLang="zh-CN" dirty="0" smtClean="0"/>
          </a:p>
          <a:p>
            <a:pPr lvl="2"/>
            <a:r>
              <a:rPr lang="zh-CN" altLang="en-US" dirty="0" smtClean="0"/>
              <a:t>可以学习更复杂的非线性关系</a:t>
            </a:r>
            <a:endParaRPr lang="en-US" altLang="zh-CN" dirty="0" smtClean="0"/>
          </a:p>
          <a:p>
            <a:pPr lvl="2"/>
            <a:r>
              <a:rPr lang="zh-CN" altLang="en-US" dirty="0" smtClean="0"/>
              <a:t>权重参数数量减少</a:t>
            </a:r>
            <a:endParaRPr lang="en-US" altLang="zh-CN" dirty="0" smtClean="0"/>
          </a:p>
          <a:p>
            <a:pPr lvl="1"/>
            <a:r>
              <a:rPr lang="zh-CN" altLang="en-US" dirty="0"/>
              <a:t>参数</a:t>
            </a:r>
            <a:r>
              <a:rPr lang="zh-CN" altLang="en-US" dirty="0" smtClean="0"/>
              <a:t>数目巨大，训练时间长</a:t>
            </a:r>
            <a:endParaRPr lang="en-US" altLang="zh-CN" dirty="0" smtClean="0"/>
          </a:p>
          <a:p>
            <a:pPr lvl="1"/>
            <a:r>
              <a:rPr lang="zh-CN" altLang="en-US" dirty="0" smtClean="0"/>
              <a:t>需要存储容量大，不利于部署</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202675590"/>
              </p:ext>
            </p:extLst>
          </p:nvPr>
        </p:nvGraphicFramePr>
        <p:xfrm>
          <a:off x="2173514" y="4366380"/>
          <a:ext cx="3024000" cy="432000"/>
        </p:xfrm>
        <a:graphic>
          <a:graphicData uri="http://schemas.openxmlformats.org/drawingml/2006/table">
            <a:tbl>
              <a:tblPr firstRow="1" bandRow="1">
                <a:tableStyleId>{5940675A-B579-460E-94D1-54222C63F5DA}</a:tableStyleId>
              </a:tblPr>
              <a:tblGrid>
                <a:gridCol w="432000"/>
                <a:gridCol w="432000"/>
                <a:gridCol w="432000"/>
                <a:gridCol w="432000"/>
                <a:gridCol w="432000"/>
                <a:gridCol w="432000"/>
                <a:gridCol w="432000"/>
              </a:tblGrid>
              <a:tr h="432000">
                <a:tc>
                  <a:txBody>
                    <a:bodyPr/>
                    <a:lstStyle/>
                    <a:p>
                      <a:pPr algn="ctr"/>
                      <a:r>
                        <a:rPr lang="en-US" altLang="zh-CN" dirty="0" smtClean="0"/>
                        <a:t>1</a:t>
                      </a:r>
                      <a:endParaRPr lang="zh-CN" altLang="en-US" dirty="0"/>
                    </a:p>
                  </a:txBody>
                  <a:tcPr anchor="ctr"/>
                </a:tc>
                <a:tc>
                  <a:txBody>
                    <a:bodyPr/>
                    <a:lstStyle/>
                    <a:p>
                      <a:pPr algn="ctr"/>
                      <a:r>
                        <a:rPr lang="en-US" altLang="zh-CN" dirty="0" smtClean="0"/>
                        <a:t>2</a:t>
                      </a:r>
                      <a:endParaRPr lang="zh-CN" altLang="en-US" dirty="0"/>
                    </a:p>
                  </a:txBody>
                  <a:tcPr anchor="ctr"/>
                </a:tc>
                <a:tc>
                  <a:txBody>
                    <a:bodyPr/>
                    <a:lstStyle/>
                    <a:p>
                      <a:pPr algn="ctr"/>
                      <a:r>
                        <a:rPr lang="en-US" altLang="zh-CN" dirty="0" smtClean="0"/>
                        <a:t>3</a:t>
                      </a:r>
                      <a:endParaRPr lang="zh-CN" altLang="en-US" dirty="0"/>
                    </a:p>
                  </a:txBody>
                  <a:tcPr anchor="ctr"/>
                </a:tc>
                <a:tc>
                  <a:txBody>
                    <a:bodyPr/>
                    <a:lstStyle/>
                    <a:p>
                      <a:pPr algn="ctr"/>
                      <a:r>
                        <a:rPr lang="en-US" altLang="zh-CN" dirty="0" smtClean="0"/>
                        <a:t>4</a:t>
                      </a:r>
                      <a:endParaRPr lang="zh-CN" altLang="en-US" dirty="0"/>
                    </a:p>
                  </a:txBody>
                  <a:tcPr anchor="ctr"/>
                </a:tc>
                <a:tc>
                  <a:txBody>
                    <a:bodyPr/>
                    <a:lstStyle/>
                    <a:p>
                      <a:pPr algn="ctr"/>
                      <a:r>
                        <a:rPr lang="en-US" altLang="zh-CN" dirty="0" smtClean="0"/>
                        <a:t>5</a:t>
                      </a:r>
                      <a:endParaRPr lang="zh-CN" altLang="en-US" dirty="0"/>
                    </a:p>
                  </a:txBody>
                  <a:tcPr anchor="ctr"/>
                </a:tc>
                <a:tc>
                  <a:txBody>
                    <a:bodyPr/>
                    <a:lstStyle/>
                    <a:p>
                      <a:pPr algn="ctr"/>
                      <a:r>
                        <a:rPr lang="en-US" altLang="zh-CN" dirty="0" smtClean="0"/>
                        <a:t>6</a:t>
                      </a:r>
                      <a:endParaRPr lang="zh-CN" altLang="en-US" dirty="0"/>
                    </a:p>
                  </a:txBody>
                  <a:tcPr anchor="ctr"/>
                </a:tc>
                <a:tc>
                  <a:txBody>
                    <a:bodyPr/>
                    <a:lstStyle/>
                    <a:p>
                      <a:pPr algn="ctr"/>
                      <a:r>
                        <a:rPr lang="en-US" altLang="zh-CN" dirty="0" smtClean="0"/>
                        <a:t>7</a:t>
                      </a:r>
                      <a:endParaRPr lang="zh-CN" altLang="en-US" dirty="0"/>
                    </a:p>
                  </a:txBody>
                  <a:tcPr anchor="ct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755197950"/>
              </p:ext>
            </p:extLst>
          </p:nvPr>
        </p:nvGraphicFramePr>
        <p:xfrm>
          <a:off x="3468914" y="5454952"/>
          <a:ext cx="432000" cy="432000"/>
        </p:xfrm>
        <a:graphic>
          <a:graphicData uri="http://schemas.openxmlformats.org/drawingml/2006/table">
            <a:tbl>
              <a:tblPr firstRow="1" bandRow="1">
                <a:tableStyleId>{5940675A-B579-460E-94D1-54222C63F5DA}</a:tableStyleId>
              </a:tblPr>
              <a:tblGrid>
                <a:gridCol w="432000"/>
              </a:tblGrid>
              <a:tr h="432000">
                <a:tc>
                  <a:txBody>
                    <a:bodyPr/>
                    <a:lstStyle/>
                    <a:p>
                      <a:pPr algn="ctr"/>
                      <a:r>
                        <a:rPr lang="en-US" altLang="zh-CN" dirty="0" smtClean="0"/>
                        <a:t>1</a:t>
                      </a:r>
                      <a:endParaRPr lang="zh-CN" altLang="en-US" dirty="0"/>
                    </a:p>
                  </a:txBody>
                  <a:tcPr anchor="ctr"/>
                </a:tc>
              </a:tr>
            </a:tbl>
          </a:graphicData>
        </a:graphic>
      </p:graphicFrame>
      <p:cxnSp>
        <p:nvCxnSpPr>
          <p:cNvPr id="7" name="直接连接符 6"/>
          <p:cNvCxnSpPr/>
          <p:nvPr/>
        </p:nvCxnSpPr>
        <p:spPr>
          <a:xfrm>
            <a:off x="2166257" y="4800600"/>
            <a:ext cx="1284514" cy="653143"/>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9" name="直接连接符 8"/>
          <p:cNvCxnSpPr/>
          <p:nvPr/>
        </p:nvCxnSpPr>
        <p:spPr>
          <a:xfrm flipH="1">
            <a:off x="3886200" y="4800600"/>
            <a:ext cx="1295400" cy="653143"/>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1597030" y="5453743"/>
            <a:ext cx="1138453" cy="369332"/>
          </a:xfrm>
          <a:prstGeom prst="rect">
            <a:avLst/>
          </a:prstGeom>
          <a:noFill/>
        </p:spPr>
        <p:txBody>
          <a:bodyPr wrap="none" rtlCol="0">
            <a:spAutoFit/>
          </a:bodyPr>
          <a:lstStyle/>
          <a:p>
            <a:r>
              <a:rPr lang="en-US" altLang="zh-CN" dirty="0" smtClean="0"/>
              <a:t>7×7 </a:t>
            </a:r>
            <a:r>
              <a:rPr lang="zh-CN" altLang="en-US" dirty="0" smtClean="0"/>
              <a:t>卷积</a:t>
            </a:r>
            <a:endParaRPr lang="zh-CN" altLang="en-US" dirty="0"/>
          </a:p>
        </p:txBody>
      </p:sp>
      <p:graphicFrame>
        <p:nvGraphicFramePr>
          <p:cNvPr id="12" name="表格 11"/>
          <p:cNvGraphicFramePr>
            <a:graphicFrameLocks noGrp="1"/>
          </p:cNvGraphicFramePr>
          <p:nvPr>
            <p:extLst>
              <p:ext uri="{D42A27DB-BD31-4B8C-83A1-F6EECF244321}">
                <p14:modId xmlns:p14="http://schemas.microsoft.com/office/powerpoint/2010/main" val="3145796734"/>
              </p:ext>
            </p:extLst>
          </p:nvPr>
        </p:nvGraphicFramePr>
        <p:xfrm>
          <a:off x="7507514" y="2883505"/>
          <a:ext cx="3024000" cy="432000"/>
        </p:xfrm>
        <a:graphic>
          <a:graphicData uri="http://schemas.openxmlformats.org/drawingml/2006/table">
            <a:tbl>
              <a:tblPr firstRow="1" bandRow="1">
                <a:tableStyleId>{5940675A-B579-460E-94D1-54222C63F5DA}</a:tableStyleId>
              </a:tblPr>
              <a:tblGrid>
                <a:gridCol w="432000"/>
                <a:gridCol w="432000"/>
                <a:gridCol w="432000"/>
                <a:gridCol w="432000"/>
                <a:gridCol w="432000"/>
                <a:gridCol w="432000"/>
                <a:gridCol w="432000"/>
              </a:tblGrid>
              <a:tr h="432000">
                <a:tc>
                  <a:txBody>
                    <a:bodyPr/>
                    <a:lstStyle/>
                    <a:p>
                      <a:pPr algn="ctr"/>
                      <a:r>
                        <a:rPr lang="en-US" altLang="zh-CN" dirty="0" smtClean="0"/>
                        <a:t>1</a:t>
                      </a:r>
                      <a:endParaRPr lang="zh-CN" altLang="en-US" dirty="0"/>
                    </a:p>
                  </a:txBody>
                  <a:tcPr anchor="ctr"/>
                </a:tc>
                <a:tc>
                  <a:txBody>
                    <a:bodyPr/>
                    <a:lstStyle/>
                    <a:p>
                      <a:pPr algn="ctr"/>
                      <a:r>
                        <a:rPr lang="en-US" altLang="zh-CN" dirty="0" smtClean="0"/>
                        <a:t>2</a:t>
                      </a:r>
                      <a:endParaRPr lang="zh-CN" altLang="en-US" dirty="0"/>
                    </a:p>
                  </a:txBody>
                  <a:tcPr anchor="ctr"/>
                </a:tc>
                <a:tc>
                  <a:txBody>
                    <a:bodyPr/>
                    <a:lstStyle/>
                    <a:p>
                      <a:pPr algn="ctr"/>
                      <a:r>
                        <a:rPr lang="en-US" altLang="zh-CN" dirty="0" smtClean="0"/>
                        <a:t>3</a:t>
                      </a:r>
                      <a:endParaRPr lang="zh-CN" altLang="en-US" dirty="0"/>
                    </a:p>
                  </a:txBody>
                  <a:tcPr anchor="ctr"/>
                </a:tc>
                <a:tc>
                  <a:txBody>
                    <a:bodyPr/>
                    <a:lstStyle/>
                    <a:p>
                      <a:pPr algn="ctr"/>
                      <a:r>
                        <a:rPr lang="en-US" altLang="zh-CN" dirty="0" smtClean="0"/>
                        <a:t>4</a:t>
                      </a:r>
                      <a:endParaRPr lang="zh-CN" altLang="en-US" dirty="0"/>
                    </a:p>
                  </a:txBody>
                  <a:tcPr anchor="ctr"/>
                </a:tc>
                <a:tc>
                  <a:txBody>
                    <a:bodyPr/>
                    <a:lstStyle/>
                    <a:p>
                      <a:pPr algn="ctr"/>
                      <a:r>
                        <a:rPr lang="en-US" altLang="zh-CN" dirty="0" smtClean="0"/>
                        <a:t>5</a:t>
                      </a:r>
                      <a:endParaRPr lang="zh-CN" altLang="en-US" dirty="0"/>
                    </a:p>
                  </a:txBody>
                  <a:tcPr anchor="ctr"/>
                </a:tc>
                <a:tc>
                  <a:txBody>
                    <a:bodyPr/>
                    <a:lstStyle/>
                    <a:p>
                      <a:pPr algn="ctr"/>
                      <a:r>
                        <a:rPr lang="en-US" altLang="zh-CN" dirty="0" smtClean="0"/>
                        <a:t>6</a:t>
                      </a:r>
                      <a:endParaRPr lang="zh-CN" altLang="en-US" dirty="0"/>
                    </a:p>
                  </a:txBody>
                  <a:tcPr anchor="ctr"/>
                </a:tc>
                <a:tc>
                  <a:txBody>
                    <a:bodyPr/>
                    <a:lstStyle/>
                    <a:p>
                      <a:pPr algn="ctr"/>
                      <a:r>
                        <a:rPr lang="en-US" altLang="zh-CN" dirty="0" smtClean="0"/>
                        <a:t>7</a:t>
                      </a:r>
                      <a:endParaRPr lang="zh-CN" altLang="en-US" dirty="0"/>
                    </a:p>
                  </a:txBody>
                  <a:tcPr anchor="ctr"/>
                </a:tc>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1428039567"/>
              </p:ext>
            </p:extLst>
          </p:nvPr>
        </p:nvGraphicFramePr>
        <p:xfrm>
          <a:off x="7932256" y="3741256"/>
          <a:ext cx="2160000" cy="432000"/>
        </p:xfrm>
        <a:graphic>
          <a:graphicData uri="http://schemas.openxmlformats.org/drawingml/2006/table">
            <a:tbl>
              <a:tblPr firstRow="1" bandRow="1">
                <a:tableStyleId>{5940675A-B579-460E-94D1-54222C63F5DA}</a:tableStyleId>
              </a:tblPr>
              <a:tblGrid>
                <a:gridCol w="432000"/>
                <a:gridCol w="432000"/>
                <a:gridCol w="432000"/>
                <a:gridCol w="432000"/>
                <a:gridCol w="432000"/>
              </a:tblGrid>
              <a:tr h="432000">
                <a:tc>
                  <a:txBody>
                    <a:bodyPr/>
                    <a:lstStyle/>
                    <a:p>
                      <a:pPr algn="ctr"/>
                      <a:r>
                        <a:rPr lang="en-US" altLang="zh-CN" dirty="0" smtClean="0"/>
                        <a:t>1</a:t>
                      </a:r>
                      <a:endParaRPr lang="zh-CN" altLang="en-US" dirty="0"/>
                    </a:p>
                  </a:txBody>
                  <a:tcPr anchor="ctr"/>
                </a:tc>
                <a:tc>
                  <a:txBody>
                    <a:bodyPr/>
                    <a:lstStyle/>
                    <a:p>
                      <a:pPr algn="ctr"/>
                      <a:r>
                        <a:rPr lang="en-US" altLang="zh-CN" dirty="0" smtClean="0"/>
                        <a:t>2</a:t>
                      </a:r>
                      <a:endParaRPr lang="zh-CN" altLang="en-US" dirty="0"/>
                    </a:p>
                  </a:txBody>
                  <a:tcPr anchor="ctr"/>
                </a:tc>
                <a:tc>
                  <a:txBody>
                    <a:bodyPr/>
                    <a:lstStyle/>
                    <a:p>
                      <a:pPr algn="ctr"/>
                      <a:r>
                        <a:rPr lang="en-US" altLang="zh-CN" dirty="0" smtClean="0"/>
                        <a:t>3</a:t>
                      </a:r>
                      <a:endParaRPr lang="zh-CN" altLang="en-US" dirty="0"/>
                    </a:p>
                  </a:txBody>
                  <a:tcPr anchor="ctr"/>
                </a:tc>
                <a:tc>
                  <a:txBody>
                    <a:bodyPr/>
                    <a:lstStyle/>
                    <a:p>
                      <a:pPr algn="ctr"/>
                      <a:r>
                        <a:rPr lang="en-US" altLang="zh-CN" dirty="0" smtClean="0"/>
                        <a:t>4</a:t>
                      </a:r>
                      <a:endParaRPr lang="zh-CN" altLang="en-US" dirty="0"/>
                    </a:p>
                  </a:txBody>
                  <a:tcPr anchor="ctr"/>
                </a:tc>
                <a:tc>
                  <a:txBody>
                    <a:bodyPr/>
                    <a:lstStyle/>
                    <a:p>
                      <a:pPr algn="ctr"/>
                      <a:r>
                        <a:rPr lang="en-US" altLang="zh-CN" dirty="0" smtClean="0"/>
                        <a:t>5</a:t>
                      </a:r>
                      <a:endParaRPr lang="zh-CN" altLang="en-US" dirty="0"/>
                    </a:p>
                  </a:txBody>
                  <a:tcPr anchor="ctr"/>
                </a:tc>
              </a:tr>
            </a:tbl>
          </a:graphicData>
        </a:graphic>
      </p:graphicFrame>
      <p:cxnSp>
        <p:nvCxnSpPr>
          <p:cNvPr id="15" name="直接连接符 14"/>
          <p:cNvCxnSpPr/>
          <p:nvPr/>
        </p:nvCxnSpPr>
        <p:spPr>
          <a:xfrm>
            <a:off x="7500256" y="3309256"/>
            <a:ext cx="432000" cy="432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0" name="直接连接符 19"/>
          <p:cNvCxnSpPr/>
          <p:nvPr/>
        </p:nvCxnSpPr>
        <p:spPr>
          <a:xfrm rot="5400000">
            <a:off x="10091056" y="3309256"/>
            <a:ext cx="432000" cy="432000"/>
          </a:xfrm>
          <a:prstGeom prst="line">
            <a:avLst/>
          </a:prstGeom>
          <a:ln>
            <a:solidFill>
              <a:schemeClr val="tx1"/>
            </a:solidFill>
            <a:prstDash val="sysDash"/>
          </a:ln>
        </p:spPr>
        <p:style>
          <a:lnRef idx="1">
            <a:schemeClr val="dk1"/>
          </a:lnRef>
          <a:fillRef idx="0">
            <a:schemeClr val="dk1"/>
          </a:fillRef>
          <a:effectRef idx="0">
            <a:schemeClr val="dk1"/>
          </a:effectRef>
          <a:fontRef idx="minor">
            <a:schemeClr val="tx1"/>
          </a:fontRef>
        </p:style>
      </p:cxnSp>
      <p:graphicFrame>
        <p:nvGraphicFramePr>
          <p:cNvPr id="21" name="表格 20"/>
          <p:cNvGraphicFramePr>
            <a:graphicFrameLocks noGrp="1"/>
          </p:cNvGraphicFramePr>
          <p:nvPr>
            <p:extLst>
              <p:ext uri="{D42A27DB-BD31-4B8C-83A1-F6EECF244321}">
                <p14:modId xmlns:p14="http://schemas.microsoft.com/office/powerpoint/2010/main" val="2570046326"/>
              </p:ext>
            </p:extLst>
          </p:nvPr>
        </p:nvGraphicFramePr>
        <p:xfrm>
          <a:off x="8366485" y="4595586"/>
          <a:ext cx="1296000" cy="432000"/>
        </p:xfrm>
        <a:graphic>
          <a:graphicData uri="http://schemas.openxmlformats.org/drawingml/2006/table">
            <a:tbl>
              <a:tblPr firstRow="1" bandRow="1">
                <a:tableStyleId>{5940675A-B579-460E-94D1-54222C63F5DA}</a:tableStyleId>
              </a:tblPr>
              <a:tblGrid>
                <a:gridCol w="432000"/>
                <a:gridCol w="432000"/>
                <a:gridCol w="432000"/>
              </a:tblGrid>
              <a:tr h="432000">
                <a:tc>
                  <a:txBody>
                    <a:bodyPr/>
                    <a:lstStyle/>
                    <a:p>
                      <a:pPr algn="ctr"/>
                      <a:r>
                        <a:rPr lang="en-US" altLang="zh-CN" dirty="0" smtClean="0"/>
                        <a:t>1</a:t>
                      </a:r>
                      <a:endParaRPr lang="zh-CN" altLang="en-US" dirty="0"/>
                    </a:p>
                  </a:txBody>
                  <a:tcPr anchor="ctr"/>
                </a:tc>
                <a:tc>
                  <a:txBody>
                    <a:bodyPr/>
                    <a:lstStyle/>
                    <a:p>
                      <a:pPr algn="ctr"/>
                      <a:r>
                        <a:rPr lang="en-US" altLang="zh-CN" dirty="0" smtClean="0"/>
                        <a:t>2</a:t>
                      </a:r>
                      <a:endParaRPr lang="zh-CN" altLang="en-US" dirty="0"/>
                    </a:p>
                  </a:txBody>
                  <a:tcPr anchor="ctr"/>
                </a:tc>
                <a:tc>
                  <a:txBody>
                    <a:bodyPr/>
                    <a:lstStyle/>
                    <a:p>
                      <a:pPr algn="ctr"/>
                      <a:r>
                        <a:rPr lang="en-US" altLang="zh-CN" dirty="0" smtClean="0"/>
                        <a:t>3</a:t>
                      </a:r>
                      <a:endParaRPr lang="zh-CN" altLang="en-US" dirty="0"/>
                    </a:p>
                  </a:txBody>
                  <a:tcPr anchor="ctr"/>
                </a:tc>
              </a:tr>
            </a:tbl>
          </a:graphicData>
        </a:graphic>
      </p:graphicFrame>
      <p:cxnSp>
        <p:nvCxnSpPr>
          <p:cNvPr id="22" name="直接连接符 21"/>
          <p:cNvCxnSpPr/>
          <p:nvPr/>
        </p:nvCxnSpPr>
        <p:spPr>
          <a:xfrm>
            <a:off x="7932256" y="4158341"/>
            <a:ext cx="432000" cy="432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3" name="直接连接符 22"/>
          <p:cNvCxnSpPr/>
          <p:nvPr/>
        </p:nvCxnSpPr>
        <p:spPr>
          <a:xfrm rot="5400000">
            <a:off x="8790430" y="4158341"/>
            <a:ext cx="432000" cy="432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graphicFrame>
        <p:nvGraphicFramePr>
          <p:cNvPr id="24" name="表格 23"/>
          <p:cNvGraphicFramePr>
            <a:graphicFrameLocks noGrp="1"/>
          </p:cNvGraphicFramePr>
          <p:nvPr>
            <p:extLst>
              <p:ext uri="{D42A27DB-BD31-4B8C-83A1-F6EECF244321}">
                <p14:modId xmlns:p14="http://schemas.microsoft.com/office/powerpoint/2010/main" val="3645821503"/>
              </p:ext>
            </p:extLst>
          </p:nvPr>
        </p:nvGraphicFramePr>
        <p:xfrm>
          <a:off x="8796256" y="5477227"/>
          <a:ext cx="432000" cy="432000"/>
        </p:xfrm>
        <a:graphic>
          <a:graphicData uri="http://schemas.openxmlformats.org/drawingml/2006/table">
            <a:tbl>
              <a:tblPr firstRow="1" bandRow="1">
                <a:tableStyleId>{5940675A-B579-460E-94D1-54222C63F5DA}</a:tableStyleId>
              </a:tblPr>
              <a:tblGrid>
                <a:gridCol w="432000"/>
              </a:tblGrid>
              <a:tr h="432000">
                <a:tc>
                  <a:txBody>
                    <a:bodyPr/>
                    <a:lstStyle/>
                    <a:p>
                      <a:pPr algn="ctr"/>
                      <a:r>
                        <a:rPr lang="en-US" altLang="zh-CN" dirty="0" smtClean="0"/>
                        <a:t>1</a:t>
                      </a:r>
                      <a:endParaRPr lang="zh-CN" altLang="en-US" dirty="0"/>
                    </a:p>
                  </a:txBody>
                  <a:tcPr anchor="ctr"/>
                </a:tc>
              </a:tr>
            </a:tbl>
          </a:graphicData>
        </a:graphic>
      </p:graphicFrame>
      <p:cxnSp>
        <p:nvCxnSpPr>
          <p:cNvPr id="25" name="直接连接符 24"/>
          <p:cNvCxnSpPr/>
          <p:nvPr/>
        </p:nvCxnSpPr>
        <p:spPr>
          <a:xfrm>
            <a:off x="8364256" y="5025769"/>
            <a:ext cx="432000" cy="432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6" name="直接连接符 25"/>
          <p:cNvCxnSpPr/>
          <p:nvPr/>
        </p:nvCxnSpPr>
        <p:spPr>
          <a:xfrm rot="5400000">
            <a:off x="9227056" y="5044112"/>
            <a:ext cx="432000" cy="432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27" name="文本框 26"/>
          <p:cNvSpPr txBox="1"/>
          <p:nvPr/>
        </p:nvSpPr>
        <p:spPr>
          <a:xfrm>
            <a:off x="6115273" y="3719487"/>
            <a:ext cx="1394934" cy="369332"/>
          </a:xfrm>
          <a:prstGeom prst="rect">
            <a:avLst/>
          </a:prstGeom>
          <a:noFill/>
        </p:spPr>
        <p:txBody>
          <a:bodyPr wrap="none" rtlCol="0">
            <a:spAutoFit/>
          </a:bodyPr>
          <a:lstStyle/>
          <a:p>
            <a:r>
              <a:rPr lang="en-US" altLang="zh-CN" dirty="0"/>
              <a:t>3</a:t>
            </a:r>
            <a:r>
              <a:rPr lang="en-US" altLang="zh-CN" dirty="0" smtClean="0"/>
              <a:t>×3   </a:t>
            </a:r>
            <a:r>
              <a:rPr lang="zh-CN" altLang="en-US" dirty="0" smtClean="0"/>
              <a:t>卷积</a:t>
            </a:r>
            <a:r>
              <a:rPr lang="en-US" altLang="zh-CN" dirty="0" smtClean="0"/>
              <a:t>1</a:t>
            </a:r>
            <a:endParaRPr lang="zh-CN" altLang="en-US" dirty="0"/>
          </a:p>
        </p:txBody>
      </p:sp>
      <p:cxnSp>
        <p:nvCxnSpPr>
          <p:cNvPr id="28" name="直接连接符 27"/>
          <p:cNvCxnSpPr/>
          <p:nvPr/>
        </p:nvCxnSpPr>
        <p:spPr>
          <a:xfrm rot="5400000">
            <a:off x="8364256" y="3301799"/>
            <a:ext cx="432000" cy="432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9" name="直接连接符 28"/>
          <p:cNvCxnSpPr/>
          <p:nvPr/>
        </p:nvCxnSpPr>
        <p:spPr>
          <a:xfrm>
            <a:off x="9227056" y="3317519"/>
            <a:ext cx="432000" cy="432000"/>
          </a:xfrm>
          <a:prstGeom prst="line">
            <a:avLst/>
          </a:prstGeom>
          <a:ln>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30" name="直接连接符 29"/>
          <p:cNvCxnSpPr/>
          <p:nvPr/>
        </p:nvCxnSpPr>
        <p:spPr>
          <a:xfrm rot="5400000">
            <a:off x="8795658" y="3287487"/>
            <a:ext cx="432000" cy="432000"/>
          </a:xfrm>
          <a:prstGeom prst="line">
            <a:avLst/>
          </a:prstGeom>
          <a:ln>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31" name="直接连接符 30"/>
          <p:cNvCxnSpPr/>
          <p:nvPr/>
        </p:nvCxnSpPr>
        <p:spPr>
          <a:xfrm>
            <a:off x="7931658" y="3295750"/>
            <a:ext cx="432000" cy="432000"/>
          </a:xfrm>
          <a:prstGeom prst="line">
            <a:avLst/>
          </a:prstGeom>
          <a:ln>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32" name="直接连接符 31"/>
          <p:cNvCxnSpPr/>
          <p:nvPr/>
        </p:nvCxnSpPr>
        <p:spPr>
          <a:xfrm rot="5400000">
            <a:off x="9655627" y="4158342"/>
            <a:ext cx="432000" cy="432000"/>
          </a:xfrm>
          <a:prstGeom prst="line">
            <a:avLst/>
          </a:prstGeom>
          <a:ln>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33" name="直接连接符 32"/>
          <p:cNvCxnSpPr/>
          <p:nvPr/>
        </p:nvCxnSpPr>
        <p:spPr>
          <a:xfrm>
            <a:off x="8791627" y="4166605"/>
            <a:ext cx="432000" cy="432000"/>
          </a:xfrm>
          <a:prstGeom prst="line">
            <a:avLst/>
          </a:prstGeom>
          <a:ln>
            <a:solidFill>
              <a:schemeClr val="tx1"/>
            </a:solidFill>
            <a:prstDash val="sysDash"/>
          </a:ln>
        </p:spPr>
        <p:style>
          <a:lnRef idx="1">
            <a:schemeClr val="dk1"/>
          </a:lnRef>
          <a:fillRef idx="0">
            <a:schemeClr val="dk1"/>
          </a:fillRef>
          <a:effectRef idx="0">
            <a:schemeClr val="dk1"/>
          </a:effectRef>
          <a:fontRef idx="minor">
            <a:schemeClr val="tx1"/>
          </a:fontRef>
        </p:style>
      </p:cxnSp>
      <p:sp>
        <p:nvSpPr>
          <p:cNvPr id="34" name="文本框 33"/>
          <p:cNvSpPr txBox="1"/>
          <p:nvPr/>
        </p:nvSpPr>
        <p:spPr>
          <a:xfrm>
            <a:off x="6111148" y="4590341"/>
            <a:ext cx="1394934" cy="369332"/>
          </a:xfrm>
          <a:prstGeom prst="rect">
            <a:avLst/>
          </a:prstGeom>
          <a:noFill/>
        </p:spPr>
        <p:txBody>
          <a:bodyPr wrap="none" rtlCol="0">
            <a:spAutoFit/>
          </a:bodyPr>
          <a:lstStyle/>
          <a:p>
            <a:r>
              <a:rPr lang="en-US" altLang="zh-CN" dirty="0"/>
              <a:t>3</a:t>
            </a:r>
            <a:r>
              <a:rPr lang="en-US" altLang="zh-CN" dirty="0" smtClean="0"/>
              <a:t>×3   </a:t>
            </a:r>
            <a:r>
              <a:rPr lang="zh-CN" altLang="en-US" dirty="0" smtClean="0"/>
              <a:t>卷积</a:t>
            </a:r>
            <a:r>
              <a:rPr lang="en-US" altLang="zh-CN" dirty="0"/>
              <a:t>2</a:t>
            </a:r>
            <a:endParaRPr lang="zh-CN" altLang="en-US" dirty="0"/>
          </a:p>
        </p:txBody>
      </p:sp>
      <p:sp>
        <p:nvSpPr>
          <p:cNvPr id="35" name="文本框 34"/>
          <p:cNvSpPr txBox="1"/>
          <p:nvPr/>
        </p:nvSpPr>
        <p:spPr>
          <a:xfrm>
            <a:off x="6111148" y="5457769"/>
            <a:ext cx="1394934" cy="369332"/>
          </a:xfrm>
          <a:prstGeom prst="rect">
            <a:avLst/>
          </a:prstGeom>
          <a:noFill/>
        </p:spPr>
        <p:txBody>
          <a:bodyPr wrap="none" rtlCol="0">
            <a:spAutoFit/>
          </a:bodyPr>
          <a:lstStyle/>
          <a:p>
            <a:r>
              <a:rPr lang="en-US" altLang="zh-CN" dirty="0"/>
              <a:t>3</a:t>
            </a:r>
            <a:r>
              <a:rPr lang="en-US" altLang="zh-CN" dirty="0" smtClean="0"/>
              <a:t>×3   </a:t>
            </a:r>
            <a:r>
              <a:rPr lang="zh-CN" altLang="en-US" dirty="0" smtClean="0"/>
              <a:t>卷积</a:t>
            </a:r>
            <a:r>
              <a:rPr lang="en-US" altLang="zh-CN" dirty="0" smtClean="0"/>
              <a:t>3</a:t>
            </a:r>
            <a:endParaRPr lang="zh-CN" altLang="en-US" dirty="0"/>
          </a:p>
        </p:txBody>
      </p:sp>
    </p:spTree>
    <p:extLst>
      <p:ext uri="{BB962C8B-B14F-4D97-AF65-F5344CB8AC3E}">
        <p14:creationId xmlns:p14="http://schemas.microsoft.com/office/powerpoint/2010/main" val="40415200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GoogLeNet</a:t>
            </a:r>
            <a:r>
              <a:rPr lang="zh-CN" altLang="en-US" dirty="0" smtClean="0"/>
              <a:t>神经网络</a:t>
            </a:r>
            <a:endParaRPr lang="zh-CN" altLang="en-US" dirty="0"/>
          </a:p>
        </p:txBody>
      </p:sp>
      <p:sp>
        <p:nvSpPr>
          <p:cNvPr id="3" name="内容占位符 2"/>
          <p:cNvSpPr>
            <a:spLocks noGrp="1"/>
          </p:cNvSpPr>
          <p:nvPr>
            <p:ph sz="quarter" idx="13"/>
          </p:nvPr>
        </p:nvSpPr>
        <p:spPr/>
        <p:txBody>
          <a:bodyPr/>
          <a:lstStyle/>
          <a:p>
            <a:r>
              <a:rPr lang="en-US" altLang="zh-CN" dirty="0" err="1" smtClean="0"/>
              <a:t>GoogLeNet</a:t>
            </a:r>
            <a:r>
              <a:rPr lang="zh-CN" altLang="en-US" dirty="0"/>
              <a:t>于</a:t>
            </a:r>
            <a:r>
              <a:rPr lang="en-US" altLang="zh-CN" dirty="0" smtClean="0"/>
              <a:t>2014</a:t>
            </a:r>
            <a:r>
              <a:rPr lang="zh-CN" altLang="en-US" dirty="0" smtClean="0"/>
              <a:t>年由</a:t>
            </a:r>
            <a:r>
              <a:rPr lang="en-US" altLang="zh-CN" dirty="0" smtClean="0"/>
              <a:t>Christian </a:t>
            </a:r>
            <a:r>
              <a:rPr lang="en-US" altLang="zh-CN" dirty="0" err="1"/>
              <a:t>Szegedy</a:t>
            </a:r>
            <a:r>
              <a:rPr lang="zh-CN" altLang="en-US" dirty="0" smtClean="0"/>
              <a:t>提出</a:t>
            </a:r>
            <a:endParaRPr lang="en-US" altLang="zh-CN" dirty="0" smtClean="0"/>
          </a:p>
          <a:p>
            <a:pPr lvl="1"/>
            <a:r>
              <a:rPr lang="zh-CN" altLang="en-US" dirty="0" smtClean="0"/>
              <a:t>加深网络结构</a:t>
            </a:r>
            <a:endParaRPr lang="en-US" altLang="zh-CN" dirty="0" smtClean="0"/>
          </a:p>
          <a:p>
            <a:pPr lvl="1"/>
            <a:r>
              <a:rPr lang="zh-CN" altLang="en-US" dirty="0" smtClean="0"/>
              <a:t>引入了新的基本结构</a:t>
            </a:r>
            <a:r>
              <a:rPr lang="en-US" altLang="zh-CN" dirty="0" smtClean="0"/>
              <a:t>Inception</a:t>
            </a:r>
            <a:r>
              <a:rPr lang="zh-CN" altLang="en-US" dirty="0" smtClean="0"/>
              <a:t>模块</a:t>
            </a:r>
            <a:endParaRPr lang="en-US" altLang="zh-CN" dirty="0" smtClean="0"/>
          </a:p>
          <a:p>
            <a:pPr lvl="1"/>
            <a:r>
              <a:rPr lang="zh-CN" altLang="en-US" dirty="0" smtClean="0"/>
              <a:t>在</a:t>
            </a:r>
            <a:r>
              <a:rPr lang="en-US" altLang="zh-CN" dirty="0" smtClean="0"/>
              <a:t>2014</a:t>
            </a:r>
            <a:r>
              <a:rPr lang="zh-CN" altLang="en-US" dirty="0" smtClean="0"/>
              <a:t>年</a:t>
            </a:r>
            <a:r>
              <a:rPr lang="en-US" altLang="zh-CN" dirty="0" err="1" smtClean="0"/>
              <a:t>ImageNet</a:t>
            </a:r>
            <a:r>
              <a:rPr lang="zh-CN" altLang="en-US" dirty="0" smtClean="0"/>
              <a:t>比赛获得冠军</a:t>
            </a:r>
            <a:endParaRPr lang="en-US" altLang="zh-CN" dirty="0" smtClean="0"/>
          </a:p>
          <a:p>
            <a:r>
              <a:rPr lang="zh-CN" altLang="en-US" dirty="0" smtClean="0"/>
              <a:t>主要结构</a:t>
            </a:r>
            <a:endParaRPr lang="en-US" altLang="zh-CN" dirty="0" smtClean="0"/>
          </a:p>
          <a:p>
            <a:pPr lvl="1"/>
            <a:r>
              <a:rPr lang="zh-CN" altLang="en-US" dirty="0" smtClean="0"/>
              <a:t>输入图像</a:t>
            </a:r>
            <a:endParaRPr lang="en-US" altLang="zh-CN" dirty="0" smtClean="0"/>
          </a:p>
          <a:p>
            <a:pPr lvl="1"/>
            <a:r>
              <a:rPr lang="zh-CN" altLang="en-US" dirty="0" smtClean="0"/>
              <a:t>卷积层</a:t>
            </a:r>
            <a:r>
              <a:rPr lang="en-US" altLang="zh-CN" dirty="0" smtClean="0"/>
              <a:t>conv1+</a:t>
            </a:r>
            <a:r>
              <a:rPr lang="zh-CN" altLang="en-US" dirty="0" smtClean="0"/>
              <a:t>池化层</a:t>
            </a:r>
            <a:r>
              <a:rPr lang="en-US" altLang="zh-CN" dirty="0" smtClean="0"/>
              <a:t>pool1</a:t>
            </a:r>
          </a:p>
          <a:p>
            <a:pPr lvl="1"/>
            <a:r>
              <a:rPr lang="zh-CN" altLang="en-US" dirty="0"/>
              <a:t>卷积</a:t>
            </a:r>
            <a:r>
              <a:rPr lang="zh-CN" altLang="en-US" dirty="0" smtClean="0"/>
              <a:t>层</a:t>
            </a:r>
            <a:r>
              <a:rPr lang="en-US" altLang="zh-CN" dirty="0" smtClean="0"/>
              <a:t>conv2,conv3+</a:t>
            </a:r>
            <a:r>
              <a:rPr lang="zh-CN" altLang="en-US" dirty="0" smtClean="0"/>
              <a:t>池化层</a:t>
            </a:r>
            <a:r>
              <a:rPr lang="en-US" altLang="zh-CN" dirty="0" smtClean="0"/>
              <a:t>pool2</a:t>
            </a:r>
          </a:p>
          <a:p>
            <a:pPr lvl="1"/>
            <a:r>
              <a:rPr lang="en-US" altLang="zh-CN" dirty="0" smtClean="0"/>
              <a:t>Inception</a:t>
            </a:r>
            <a:r>
              <a:rPr lang="zh-CN" altLang="en-US" dirty="0"/>
              <a:t>块</a:t>
            </a:r>
            <a:r>
              <a:rPr lang="en-US" altLang="zh-CN" dirty="0" smtClean="0"/>
              <a:t>3a,3b+</a:t>
            </a:r>
            <a:r>
              <a:rPr lang="zh-CN" altLang="en-US" dirty="0" smtClean="0"/>
              <a:t>池化层</a:t>
            </a:r>
            <a:r>
              <a:rPr lang="en-US" altLang="zh-CN" dirty="0" smtClean="0"/>
              <a:t>pool3</a:t>
            </a:r>
          </a:p>
          <a:p>
            <a:pPr lvl="1"/>
            <a:r>
              <a:rPr lang="en-US" altLang="zh-CN" dirty="0" smtClean="0"/>
              <a:t>Inception</a:t>
            </a:r>
            <a:r>
              <a:rPr lang="zh-CN" altLang="en-US" dirty="0"/>
              <a:t>块</a:t>
            </a:r>
            <a:r>
              <a:rPr lang="en-US" altLang="zh-CN" dirty="0" smtClean="0"/>
              <a:t>4a~4e+</a:t>
            </a:r>
            <a:r>
              <a:rPr lang="zh-CN" altLang="en-US" dirty="0" smtClean="0"/>
              <a:t>池化层</a:t>
            </a:r>
            <a:r>
              <a:rPr lang="en-US" altLang="zh-CN" dirty="0"/>
              <a:t>p</a:t>
            </a:r>
            <a:r>
              <a:rPr lang="en-US" altLang="zh-CN" dirty="0" smtClean="0"/>
              <a:t>ool4</a:t>
            </a:r>
          </a:p>
          <a:p>
            <a:pPr lvl="1"/>
            <a:r>
              <a:rPr lang="en-US" altLang="zh-CN" dirty="0" smtClean="0"/>
              <a:t>Inception</a:t>
            </a:r>
            <a:r>
              <a:rPr lang="zh-CN" altLang="en-US" dirty="0"/>
              <a:t>块</a:t>
            </a:r>
            <a:r>
              <a:rPr lang="en-US" altLang="zh-CN" dirty="0" smtClean="0"/>
              <a:t>5a,5b+</a:t>
            </a:r>
            <a:r>
              <a:rPr lang="zh-CN" altLang="en-US" dirty="0" smtClean="0"/>
              <a:t>池化层</a:t>
            </a:r>
            <a:r>
              <a:rPr lang="en-US" altLang="zh-CN" dirty="0" smtClean="0"/>
              <a:t>pool5</a:t>
            </a:r>
          </a:p>
          <a:p>
            <a:pPr lvl="1"/>
            <a:r>
              <a:rPr lang="zh-CN" altLang="en-US" dirty="0"/>
              <a:t>全连接</a:t>
            </a:r>
            <a:r>
              <a:rPr lang="zh-CN" altLang="en-US" dirty="0" smtClean="0"/>
              <a:t>层分类</a:t>
            </a:r>
            <a:endParaRPr lang="en-US" altLang="zh-CN" dirty="0" smtClean="0"/>
          </a:p>
          <a:p>
            <a:pPr lvl="1"/>
            <a:r>
              <a:rPr lang="zh-CN" altLang="en-US" dirty="0" smtClean="0"/>
              <a:t>输出结果</a:t>
            </a:r>
            <a:endParaRPr lang="zh-CN" altLang="en-US" dirty="0"/>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4402" y="1553328"/>
            <a:ext cx="6986086" cy="4583946"/>
          </a:xfrm>
          <a:prstGeom prst="rect">
            <a:avLst/>
          </a:prstGeom>
        </p:spPr>
      </p:pic>
    </p:spTree>
    <p:extLst>
      <p:ext uri="{BB962C8B-B14F-4D97-AF65-F5344CB8AC3E}">
        <p14:creationId xmlns:p14="http://schemas.microsoft.com/office/powerpoint/2010/main" val="17039894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GoogLeNet</a:t>
            </a:r>
            <a:r>
              <a:rPr lang="zh-CN" altLang="en-US" dirty="0"/>
              <a:t>神经网络</a:t>
            </a:r>
          </a:p>
        </p:txBody>
      </p:sp>
      <p:sp>
        <p:nvSpPr>
          <p:cNvPr id="3" name="内容占位符 2"/>
          <p:cNvSpPr>
            <a:spLocks noGrp="1"/>
          </p:cNvSpPr>
          <p:nvPr>
            <p:ph sz="quarter" idx="13"/>
          </p:nvPr>
        </p:nvSpPr>
        <p:spPr/>
        <p:txBody>
          <a:bodyPr/>
          <a:lstStyle/>
          <a:p>
            <a:r>
              <a:rPr lang="en-US" altLang="zh-CN" dirty="0" smtClean="0"/>
              <a:t>Inception</a:t>
            </a:r>
            <a:r>
              <a:rPr lang="zh-CN" altLang="en-US" dirty="0"/>
              <a:t>结构</a:t>
            </a:r>
            <a:endParaRPr lang="en-US" altLang="zh-CN" dirty="0" smtClean="0"/>
          </a:p>
          <a:p>
            <a:pPr lvl="1"/>
            <a:r>
              <a:rPr lang="zh-CN" altLang="en-US" dirty="0" smtClean="0"/>
              <a:t>矩阵转换减少计算量</a:t>
            </a:r>
            <a:endParaRPr lang="en-US" altLang="zh-CN" dirty="0" smtClean="0"/>
          </a:p>
          <a:p>
            <a:pPr lvl="1"/>
            <a:r>
              <a:rPr lang="zh-CN" altLang="en-US" dirty="0"/>
              <a:t>应用</a:t>
            </a:r>
            <a:r>
              <a:rPr lang="zh-CN" altLang="en-US" dirty="0" smtClean="0"/>
              <a:t>在神经网络中就产生了</a:t>
            </a:r>
            <a:r>
              <a:rPr lang="en-US" altLang="zh-CN" dirty="0" smtClean="0"/>
              <a:t>Inception</a:t>
            </a:r>
            <a:r>
              <a:rPr lang="zh-CN" altLang="en-US" dirty="0" smtClean="0"/>
              <a:t>结构</a:t>
            </a:r>
            <a:endParaRPr lang="en-US" altLang="zh-CN" dirty="0" smtClean="0"/>
          </a:p>
          <a:p>
            <a:pPr lvl="1"/>
            <a:r>
              <a:rPr lang="zh-CN" altLang="en-US" dirty="0" smtClean="0"/>
              <a:t>特征转换成不同尺度的聚类</a:t>
            </a:r>
            <a:endParaRPr lang="en-US" altLang="zh-CN" dirty="0" smtClean="0"/>
          </a:p>
          <a:p>
            <a:pPr lvl="1"/>
            <a:r>
              <a:rPr lang="zh-CN" altLang="en-US" dirty="0" smtClean="0"/>
              <a:t>计算更有效，收敛更快</a:t>
            </a:r>
            <a:endParaRPr lang="en-US" altLang="zh-CN" dirty="0" smtClean="0"/>
          </a:p>
          <a:p>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0457" y="1734569"/>
            <a:ext cx="6230031" cy="4317075"/>
          </a:xfrm>
          <a:prstGeom prst="rect">
            <a:avLst/>
          </a:prstGeom>
        </p:spPr>
      </p:pic>
      <p:sp>
        <p:nvSpPr>
          <p:cNvPr id="7" name="文本框 6"/>
          <p:cNvSpPr txBox="1"/>
          <p:nvPr/>
        </p:nvSpPr>
        <p:spPr>
          <a:xfrm>
            <a:off x="7642212" y="3449511"/>
            <a:ext cx="1569660" cy="369332"/>
          </a:xfrm>
          <a:prstGeom prst="rect">
            <a:avLst/>
          </a:prstGeom>
          <a:noFill/>
        </p:spPr>
        <p:txBody>
          <a:bodyPr wrap="none" rtlCol="0">
            <a:spAutoFit/>
          </a:bodyPr>
          <a:lstStyle/>
          <a:p>
            <a:r>
              <a:rPr lang="zh-CN" altLang="en-US" dirty="0" smtClean="0"/>
              <a:t>矩阵转换方式</a:t>
            </a:r>
            <a:endParaRPr lang="zh-CN" altLang="en-US" dirty="0"/>
          </a:p>
        </p:txBody>
      </p:sp>
      <p:sp>
        <p:nvSpPr>
          <p:cNvPr id="8" name="文本框 7"/>
          <p:cNvSpPr txBox="1"/>
          <p:nvPr/>
        </p:nvSpPr>
        <p:spPr>
          <a:xfrm>
            <a:off x="7267981" y="5767942"/>
            <a:ext cx="2274982" cy="369332"/>
          </a:xfrm>
          <a:prstGeom prst="rect">
            <a:avLst/>
          </a:prstGeom>
          <a:noFill/>
        </p:spPr>
        <p:txBody>
          <a:bodyPr wrap="none" rtlCol="0">
            <a:spAutoFit/>
          </a:bodyPr>
          <a:lstStyle/>
          <a:p>
            <a:r>
              <a:rPr lang="zh-CN" altLang="en-US" dirty="0" smtClean="0"/>
              <a:t>简单的</a:t>
            </a:r>
            <a:r>
              <a:rPr lang="en-US" altLang="zh-CN" dirty="0" smtClean="0"/>
              <a:t>Inception</a:t>
            </a:r>
            <a:r>
              <a:rPr lang="zh-CN" altLang="en-US" dirty="0" smtClean="0"/>
              <a:t>结构</a:t>
            </a:r>
            <a:endParaRPr lang="zh-CN" altLang="en-US" dirty="0"/>
          </a:p>
        </p:txBody>
      </p:sp>
    </p:spTree>
    <p:extLst>
      <p:ext uri="{BB962C8B-B14F-4D97-AF65-F5344CB8AC3E}">
        <p14:creationId xmlns:p14="http://schemas.microsoft.com/office/powerpoint/2010/main" val="24524953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GoogLeNet</a:t>
            </a:r>
            <a:r>
              <a:rPr lang="zh-CN" altLang="en-US" dirty="0"/>
              <a:t>神经网络</a:t>
            </a:r>
          </a:p>
        </p:txBody>
      </p:sp>
      <p:sp>
        <p:nvSpPr>
          <p:cNvPr id="3" name="内容占位符 2"/>
          <p:cNvSpPr>
            <a:spLocks noGrp="1"/>
          </p:cNvSpPr>
          <p:nvPr>
            <p:ph sz="quarter" idx="13"/>
          </p:nvPr>
        </p:nvSpPr>
        <p:spPr/>
        <p:txBody>
          <a:bodyPr/>
          <a:lstStyle/>
          <a:p>
            <a:r>
              <a:rPr lang="en-US" altLang="zh-CN" dirty="0" smtClean="0"/>
              <a:t>Inception</a:t>
            </a:r>
            <a:r>
              <a:rPr lang="zh-CN" altLang="en-US" dirty="0" smtClean="0"/>
              <a:t>结构</a:t>
            </a:r>
            <a:endParaRPr lang="en-US" altLang="zh-CN" dirty="0" smtClean="0"/>
          </a:p>
          <a:p>
            <a:pPr lvl="1"/>
            <a:r>
              <a:rPr lang="zh-CN" altLang="en-US" dirty="0" smtClean="0"/>
              <a:t>简单的</a:t>
            </a:r>
            <a:r>
              <a:rPr lang="en-US" altLang="zh-CN" dirty="0" smtClean="0"/>
              <a:t>Inception</a:t>
            </a:r>
            <a:r>
              <a:rPr lang="zh-CN" altLang="en-US" dirty="0" smtClean="0"/>
              <a:t>计算量仍较大</a:t>
            </a:r>
            <a:endParaRPr lang="en-US" altLang="zh-CN" dirty="0" smtClean="0"/>
          </a:p>
          <a:p>
            <a:pPr lvl="1"/>
            <a:r>
              <a:rPr lang="zh-CN" altLang="en-US" dirty="0" smtClean="0"/>
              <a:t>引入小尺寸卷积核对结构降维</a:t>
            </a:r>
            <a:endParaRPr lang="en-US" altLang="zh-CN" dirty="0" smtClean="0"/>
          </a:p>
        </p:txBody>
      </p:sp>
      <p:graphicFrame>
        <p:nvGraphicFramePr>
          <p:cNvPr id="4" name="表格 3"/>
          <p:cNvGraphicFramePr>
            <a:graphicFrameLocks noGrp="1"/>
          </p:cNvGraphicFramePr>
          <p:nvPr>
            <p:extLst>
              <p:ext uri="{D42A27DB-BD31-4B8C-83A1-F6EECF244321}">
                <p14:modId xmlns:p14="http://schemas.microsoft.com/office/powerpoint/2010/main" val="1895651398"/>
              </p:ext>
            </p:extLst>
          </p:nvPr>
        </p:nvGraphicFramePr>
        <p:xfrm>
          <a:off x="1672773" y="3974495"/>
          <a:ext cx="9141600" cy="1854200"/>
        </p:xfrm>
        <a:graphic>
          <a:graphicData uri="http://schemas.openxmlformats.org/drawingml/2006/table">
            <a:tbl>
              <a:tblPr firstRow="1" bandRow="1">
                <a:tableStyleId>{5940675A-B579-460E-94D1-54222C63F5DA}</a:tableStyleId>
              </a:tblPr>
              <a:tblGrid>
                <a:gridCol w="2032000"/>
                <a:gridCol w="2032000"/>
                <a:gridCol w="2032000"/>
                <a:gridCol w="3045600"/>
              </a:tblGrid>
              <a:tr h="370840">
                <a:tc>
                  <a:txBody>
                    <a:bodyPr/>
                    <a:lstStyle/>
                    <a:p>
                      <a:pPr algn="ctr"/>
                      <a:r>
                        <a:rPr lang="zh-CN" altLang="en-US" b="1" dirty="0" smtClean="0"/>
                        <a:t>输入尺寸</a:t>
                      </a:r>
                      <a:endParaRPr lang="zh-CN" altLang="en-US" b="1" dirty="0"/>
                    </a:p>
                  </a:txBody>
                  <a:tcPr anchor="b"/>
                </a:tc>
                <a:tc>
                  <a:txBody>
                    <a:bodyPr/>
                    <a:lstStyle/>
                    <a:p>
                      <a:pPr algn="ctr"/>
                      <a:r>
                        <a:rPr lang="zh-CN" altLang="en-US" b="1" dirty="0" smtClean="0"/>
                        <a:t>层</a:t>
                      </a:r>
                      <a:endParaRPr lang="zh-CN" altLang="en-US" b="1" dirty="0"/>
                    </a:p>
                  </a:txBody>
                  <a:tcPr/>
                </a:tc>
                <a:tc>
                  <a:txBody>
                    <a:bodyPr/>
                    <a:lstStyle/>
                    <a:p>
                      <a:pPr algn="ctr"/>
                      <a:r>
                        <a:rPr lang="zh-CN" altLang="en-US" b="1" dirty="0" smtClean="0"/>
                        <a:t>输出尺寸</a:t>
                      </a:r>
                      <a:endParaRPr lang="zh-CN" altLang="en-US" b="1" dirty="0"/>
                    </a:p>
                  </a:txBody>
                  <a:tcPr/>
                </a:tc>
                <a:tc>
                  <a:txBody>
                    <a:bodyPr/>
                    <a:lstStyle/>
                    <a:p>
                      <a:pPr algn="ctr"/>
                      <a:r>
                        <a:rPr lang="zh-CN" altLang="en-US" b="1" dirty="0" smtClean="0"/>
                        <a:t>计算量</a:t>
                      </a:r>
                      <a:endParaRPr lang="zh-CN" altLang="en-US" b="1" dirty="0"/>
                    </a:p>
                  </a:txBody>
                  <a:tcPr/>
                </a:tc>
              </a:tr>
              <a:tr h="370840">
                <a:tc>
                  <a:txBody>
                    <a:bodyPr/>
                    <a:lstStyle/>
                    <a:p>
                      <a:pPr algn="ctr"/>
                      <a:r>
                        <a:rPr lang="en-US" altLang="zh-CN" dirty="0" smtClean="0"/>
                        <a:t>28×28×256</a:t>
                      </a:r>
                      <a:endParaRPr lang="zh-CN" altLang="en-US" dirty="0"/>
                    </a:p>
                  </a:txBody>
                  <a:tcPr/>
                </a:tc>
                <a:tc>
                  <a:txBody>
                    <a:bodyPr/>
                    <a:lstStyle/>
                    <a:p>
                      <a:pPr algn="just"/>
                      <a:r>
                        <a:rPr lang="en-US" altLang="zh-CN" dirty="0" smtClean="0"/>
                        <a:t>1×1×128 </a:t>
                      </a:r>
                      <a:r>
                        <a:rPr lang="en-US" altLang="zh-CN" dirty="0" err="1" smtClean="0"/>
                        <a:t>conv</a:t>
                      </a:r>
                      <a:endParaRPr lang="zh-CN" altLang="en-US" dirty="0"/>
                    </a:p>
                  </a:txBody>
                  <a:tcPr marL="360000" anchor="b"/>
                </a:tc>
                <a:tc>
                  <a:txBody>
                    <a:bodyPr/>
                    <a:lstStyle/>
                    <a:p>
                      <a:pPr algn="l"/>
                      <a:r>
                        <a:rPr lang="en-US" altLang="zh-CN" dirty="0" smtClean="0"/>
                        <a:t>28×28×128</a:t>
                      </a:r>
                      <a:endParaRPr lang="zh-CN" altLang="en-US" dirty="0"/>
                    </a:p>
                  </a:txBody>
                  <a:tcPr marL="360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28×28×128×1×1×256</a:t>
                      </a:r>
                      <a:endParaRPr lang="zh-CN" altLang="en-US" dirty="0" smtClean="0"/>
                    </a:p>
                  </a:txBody>
                  <a:tcPr marL="360000"/>
                </a:tc>
              </a:tr>
              <a:tr h="370840">
                <a:tc>
                  <a:txBody>
                    <a:bodyPr/>
                    <a:lstStyle/>
                    <a:p>
                      <a:pPr algn="ctr"/>
                      <a:endParaRPr lang="zh-CN" altLang="en-US"/>
                    </a:p>
                  </a:txBody>
                  <a:tcPr/>
                </a:tc>
                <a:tc>
                  <a:txBody>
                    <a:bodyPr/>
                    <a:lstStyle/>
                    <a:p>
                      <a:pPr algn="just"/>
                      <a:r>
                        <a:rPr lang="en-US" altLang="zh-CN" dirty="0" smtClean="0"/>
                        <a:t>3×3×192 </a:t>
                      </a:r>
                      <a:r>
                        <a:rPr lang="en-US" altLang="zh-CN" dirty="0" err="1" smtClean="0"/>
                        <a:t>conv</a:t>
                      </a:r>
                      <a:endParaRPr lang="zh-CN" altLang="en-US" dirty="0"/>
                    </a:p>
                  </a:txBody>
                  <a:tcPr marL="360000" anchor="b"/>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28×28×192</a:t>
                      </a:r>
                      <a:endParaRPr lang="zh-CN" altLang="en-US" dirty="0" smtClean="0"/>
                    </a:p>
                  </a:txBody>
                  <a:tcPr marL="360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28×28×192×3×3×256</a:t>
                      </a:r>
                      <a:endParaRPr lang="zh-CN" altLang="en-US" dirty="0" smtClean="0"/>
                    </a:p>
                  </a:txBody>
                  <a:tcPr marL="360000"/>
                </a:tc>
              </a:tr>
              <a:tr h="370840">
                <a:tc>
                  <a:txBody>
                    <a:bodyPr/>
                    <a:lstStyle/>
                    <a:p>
                      <a:pPr algn="ctr"/>
                      <a:endParaRPr lang="zh-CN" altLang="en-US" dirty="0"/>
                    </a:p>
                  </a:txBody>
                  <a:tcPr/>
                </a:tc>
                <a:tc>
                  <a:txBody>
                    <a:bodyPr/>
                    <a:lstStyle/>
                    <a:p>
                      <a:pPr algn="just"/>
                      <a:r>
                        <a:rPr lang="en-US" altLang="zh-CN" dirty="0" smtClean="0"/>
                        <a:t>5×5×96 </a:t>
                      </a:r>
                      <a:r>
                        <a:rPr lang="en-US" altLang="zh-CN" dirty="0" err="1" smtClean="0"/>
                        <a:t>conv</a:t>
                      </a:r>
                      <a:endParaRPr lang="zh-CN" altLang="en-US" dirty="0"/>
                    </a:p>
                  </a:txBody>
                  <a:tcPr marL="360000" anchor="b"/>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28×28×96</a:t>
                      </a:r>
                      <a:endParaRPr lang="zh-CN" altLang="en-US" dirty="0" smtClean="0"/>
                    </a:p>
                  </a:txBody>
                  <a:tcPr marL="360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28×28×96×5×5×256</a:t>
                      </a:r>
                      <a:endParaRPr lang="zh-CN" altLang="en-US" dirty="0" smtClean="0"/>
                    </a:p>
                  </a:txBody>
                  <a:tcPr marL="360000"/>
                </a:tc>
              </a:tr>
              <a:tr h="370840">
                <a:tc>
                  <a:txBody>
                    <a:bodyPr/>
                    <a:lstStyle/>
                    <a:p>
                      <a:pPr algn="ctr"/>
                      <a:endParaRPr lang="zh-CN" altLang="en-US"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dirty="0" smtClean="0"/>
                        <a:t>3×3 pool</a:t>
                      </a:r>
                      <a:endParaRPr lang="zh-CN" altLang="en-US" dirty="0" smtClean="0"/>
                    </a:p>
                  </a:txBody>
                  <a:tcPr marL="360000" anchor="b"/>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28×28×256</a:t>
                      </a:r>
                      <a:endParaRPr lang="zh-CN" altLang="en-US" dirty="0" smtClean="0"/>
                    </a:p>
                  </a:txBody>
                  <a:tcPr marL="360000"/>
                </a:tc>
                <a:tc>
                  <a:txBody>
                    <a:bodyPr/>
                    <a:lstStyle/>
                    <a:p>
                      <a:pPr algn="ctr"/>
                      <a:endParaRPr lang="zh-CN" altLang="en-US" dirty="0"/>
                    </a:p>
                  </a:txBody>
                  <a:tcPr/>
                </a:tc>
              </a:tr>
            </a:tbl>
          </a:graphicData>
        </a:graphic>
      </p:graphicFrame>
      <p:pic>
        <p:nvPicPr>
          <p:cNvPr id="5" name="图片 4"/>
          <p:cNvPicPr>
            <a:picLocks noChangeAspect="1"/>
          </p:cNvPicPr>
          <p:nvPr/>
        </p:nvPicPr>
        <p:blipFill>
          <a:blip r:embed="rId3"/>
          <a:stretch>
            <a:fillRect/>
          </a:stretch>
        </p:blipFill>
        <p:spPr>
          <a:xfrm>
            <a:off x="4952343" y="1621409"/>
            <a:ext cx="5946639" cy="2068848"/>
          </a:xfrm>
          <a:prstGeom prst="rect">
            <a:avLst/>
          </a:prstGeom>
        </p:spPr>
      </p:pic>
    </p:spTree>
    <p:extLst>
      <p:ext uri="{BB962C8B-B14F-4D97-AF65-F5344CB8AC3E}">
        <p14:creationId xmlns:p14="http://schemas.microsoft.com/office/powerpoint/2010/main" val="2729658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GoogLeNet</a:t>
            </a:r>
            <a:r>
              <a:rPr lang="zh-CN" altLang="en-US" dirty="0"/>
              <a:t>神经网络</a:t>
            </a:r>
          </a:p>
        </p:txBody>
      </p:sp>
      <p:sp>
        <p:nvSpPr>
          <p:cNvPr id="5" name="内容占位符 4"/>
          <p:cNvSpPr>
            <a:spLocks noGrp="1"/>
          </p:cNvSpPr>
          <p:nvPr>
            <p:ph sz="quarter" idx="13"/>
          </p:nvPr>
        </p:nvSpPr>
        <p:spPr/>
        <p:txBody>
          <a:bodyPr/>
          <a:lstStyle/>
          <a:p>
            <a:r>
              <a:rPr lang="en-US" altLang="zh-CN" dirty="0" smtClean="0"/>
              <a:t>Inception</a:t>
            </a:r>
            <a:r>
              <a:rPr lang="zh-CN" altLang="en-US" dirty="0" smtClean="0"/>
              <a:t>结构</a:t>
            </a:r>
            <a:endParaRPr lang="en-US" altLang="zh-CN" dirty="0" smtClean="0"/>
          </a:p>
          <a:p>
            <a:pPr lvl="1"/>
            <a:r>
              <a:rPr lang="zh-CN" altLang="en-US" dirty="0"/>
              <a:t>降</a:t>
            </a:r>
            <a:r>
              <a:rPr lang="zh-CN" altLang="en-US" dirty="0" smtClean="0"/>
              <a:t>维后降低计算量</a:t>
            </a:r>
            <a:endParaRPr lang="en-US" altLang="zh-CN" dirty="0" smtClean="0"/>
          </a:p>
          <a:p>
            <a:pPr lvl="1"/>
            <a:r>
              <a:rPr lang="zh-CN" altLang="en-US" dirty="0" smtClean="0"/>
              <a:t>不同大小卷积核提取不同尺度的特征</a:t>
            </a:r>
            <a:endParaRPr lang="en-US" altLang="zh-CN" dirty="0" smtClean="0"/>
          </a:p>
          <a:p>
            <a:r>
              <a:rPr lang="zh-CN" altLang="en-US" dirty="0" smtClean="0"/>
              <a:t>使用</a:t>
            </a:r>
            <a:r>
              <a:rPr lang="en-US" altLang="zh-CN" dirty="0" smtClean="0"/>
              <a:t>(1,1)</a:t>
            </a:r>
            <a:r>
              <a:rPr lang="zh-CN" altLang="en-US" dirty="0" smtClean="0"/>
              <a:t>卷积核的作用</a:t>
            </a:r>
            <a:endParaRPr lang="en-US" altLang="zh-CN" dirty="0" smtClean="0"/>
          </a:p>
          <a:p>
            <a:pPr lvl="1"/>
            <a:r>
              <a:rPr lang="zh-CN" altLang="en-US" dirty="0"/>
              <a:t>减小维</a:t>
            </a:r>
            <a:r>
              <a:rPr lang="zh-CN" altLang="en-US" dirty="0" smtClean="0"/>
              <a:t>度</a:t>
            </a:r>
            <a:endParaRPr lang="en-US" altLang="zh-CN" dirty="0" smtClean="0"/>
          </a:p>
          <a:p>
            <a:pPr lvl="1"/>
            <a:r>
              <a:rPr lang="zh-CN" altLang="en-US" dirty="0" smtClean="0"/>
              <a:t>修正线性激活函数</a:t>
            </a:r>
            <a:endParaRPr lang="en-US" altLang="zh-CN" dirty="0" smtClean="0"/>
          </a:p>
          <a:p>
            <a:pPr lvl="1">
              <a:buFont typeface="Wingdings" panose="05000000000000000000" pitchFamily="2" charset="2"/>
              <a:buChar char="n"/>
            </a:pPr>
            <a:r>
              <a:rPr lang="zh-CN" altLang="en-US" dirty="0" smtClean="0"/>
              <a:t>输入</a:t>
            </a:r>
            <a:r>
              <a:rPr lang="en-US" altLang="zh-CN" dirty="0" smtClean="0"/>
              <a:t>(100</a:t>
            </a:r>
            <a:r>
              <a:rPr lang="zh-CN" altLang="en-US" dirty="0" smtClean="0"/>
              <a:t>，</a:t>
            </a:r>
            <a:r>
              <a:rPr lang="en-US" altLang="zh-CN" dirty="0" smtClean="0"/>
              <a:t>100</a:t>
            </a:r>
            <a:r>
              <a:rPr lang="zh-CN" altLang="en-US" dirty="0" smtClean="0"/>
              <a:t>，</a:t>
            </a:r>
            <a:r>
              <a:rPr lang="en-US" altLang="zh-CN" dirty="0" smtClean="0"/>
              <a:t>128)</a:t>
            </a:r>
          </a:p>
          <a:p>
            <a:pPr lvl="1">
              <a:buFont typeface="Wingdings" panose="05000000000000000000" pitchFamily="2" charset="2"/>
              <a:buChar char="n"/>
            </a:pPr>
            <a:r>
              <a:rPr lang="en-US" altLang="zh-CN" dirty="0" smtClean="0"/>
              <a:t>256</a:t>
            </a:r>
            <a:r>
              <a:rPr lang="zh-CN" altLang="en-US" dirty="0" smtClean="0"/>
              <a:t>通道</a:t>
            </a:r>
            <a:r>
              <a:rPr lang="en-US" altLang="zh-CN" dirty="0" smtClean="0"/>
              <a:t>(5,5)</a:t>
            </a:r>
            <a:r>
              <a:rPr lang="zh-CN" altLang="en-US" dirty="0" smtClean="0"/>
              <a:t>卷积层</a:t>
            </a:r>
            <a:endParaRPr lang="en-US" altLang="zh-CN" dirty="0" smtClean="0"/>
          </a:p>
          <a:p>
            <a:pPr lvl="1">
              <a:buFont typeface="Wingdings" panose="05000000000000000000" pitchFamily="2" charset="2"/>
              <a:buChar char="n"/>
            </a:pPr>
            <a:r>
              <a:rPr lang="zh-CN" altLang="en-US" dirty="0" smtClean="0"/>
              <a:t>参数为</a:t>
            </a:r>
            <a:r>
              <a:rPr lang="en-US" altLang="zh-CN" dirty="0" smtClean="0"/>
              <a:t>128×5×5×256</a:t>
            </a:r>
          </a:p>
          <a:p>
            <a:pPr lvl="1">
              <a:buFont typeface="Wingdings" panose="05000000000000000000" pitchFamily="2" charset="2"/>
              <a:buChar char="u"/>
            </a:pPr>
            <a:r>
              <a:rPr lang="zh-CN" altLang="en-US" dirty="0" smtClean="0"/>
              <a:t>先经过</a:t>
            </a:r>
            <a:r>
              <a:rPr lang="en-US" altLang="zh-CN" dirty="0" smtClean="0"/>
              <a:t>32</a:t>
            </a:r>
            <a:r>
              <a:rPr lang="zh-CN" altLang="en-US" dirty="0" smtClean="0"/>
              <a:t>通道</a:t>
            </a:r>
            <a:r>
              <a:rPr lang="en-US" altLang="zh-CN" dirty="0" smtClean="0"/>
              <a:t>(1,1)</a:t>
            </a:r>
            <a:r>
              <a:rPr lang="zh-CN" altLang="en-US" dirty="0" smtClean="0"/>
              <a:t>卷积层</a:t>
            </a:r>
            <a:endParaRPr lang="en-US" altLang="zh-CN" dirty="0" smtClean="0"/>
          </a:p>
          <a:p>
            <a:pPr lvl="1">
              <a:buFont typeface="Wingdings" panose="05000000000000000000" pitchFamily="2" charset="2"/>
              <a:buChar char="u"/>
            </a:pPr>
            <a:r>
              <a:rPr lang="en-US" altLang="zh-CN" dirty="0"/>
              <a:t>256</a:t>
            </a:r>
            <a:r>
              <a:rPr lang="zh-CN" altLang="en-US" dirty="0"/>
              <a:t>通道</a:t>
            </a:r>
            <a:r>
              <a:rPr lang="en-US" altLang="zh-CN" dirty="0"/>
              <a:t>(5,5)</a:t>
            </a:r>
            <a:r>
              <a:rPr lang="zh-CN" altLang="en-US" dirty="0"/>
              <a:t>卷积层</a:t>
            </a:r>
            <a:endParaRPr lang="en-US" altLang="zh-CN" dirty="0"/>
          </a:p>
          <a:p>
            <a:pPr lvl="1">
              <a:buFont typeface="Wingdings" panose="05000000000000000000" pitchFamily="2" charset="2"/>
              <a:buChar char="u"/>
            </a:pPr>
            <a:r>
              <a:rPr lang="zh-CN" altLang="en-US" dirty="0" smtClean="0"/>
              <a:t>参数为</a:t>
            </a:r>
            <a:r>
              <a:rPr lang="en-US" altLang="zh-CN" dirty="0" smtClean="0"/>
              <a:t>128×1×1×32+32×5×5×256 </a:t>
            </a:r>
            <a:endParaRPr lang="zh-CN" altLang="en-US" dirty="0"/>
          </a:p>
        </p:txBody>
      </p:sp>
      <p:pic>
        <p:nvPicPr>
          <p:cNvPr id="7" name="图片 6"/>
          <p:cNvPicPr>
            <a:picLocks noChangeAspect="1"/>
          </p:cNvPicPr>
          <p:nvPr/>
        </p:nvPicPr>
        <p:blipFill>
          <a:blip r:embed="rId3"/>
          <a:stretch>
            <a:fillRect/>
          </a:stretch>
        </p:blipFill>
        <p:spPr>
          <a:xfrm>
            <a:off x="3874762" y="2151675"/>
            <a:ext cx="7645726" cy="2964222"/>
          </a:xfrm>
          <a:prstGeom prst="rect">
            <a:avLst/>
          </a:prstGeom>
        </p:spPr>
      </p:pic>
    </p:spTree>
    <p:extLst>
      <p:ext uri="{BB962C8B-B14F-4D97-AF65-F5344CB8AC3E}">
        <p14:creationId xmlns:p14="http://schemas.microsoft.com/office/powerpoint/2010/main" val="354740197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GoogLeNet</a:t>
            </a:r>
            <a:r>
              <a:rPr lang="zh-CN" altLang="en-US" dirty="0"/>
              <a:t>神经网络</a:t>
            </a:r>
          </a:p>
        </p:txBody>
      </p:sp>
      <p:sp>
        <p:nvSpPr>
          <p:cNvPr id="3" name="内容占位符 2"/>
          <p:cNvSpPr>
            <a:spLocks noGrp="1"/>
          </p:cNvSpPr>
          <p:nvPr>
            <p:ph sz="quarter" idx="13"/>
          </p:nvPr>
        </p:nvSpPr>
        <p:spPr/>
        <p:txBody>
          <a:bodyPr/>
          <a:lstStyle/>
          <a:p>
            <a:r>
              <a:rPr lang="en-US" altLang="zh-CN" dirty="0" err="1" smtClean="0"/>
              <a:t>GoogLeNet</a:t>
            </a:r>
            <a:r>
              <a:rPr lang="zh-CN" altLang="en-US" dirty="0" smtClean="0"/>
              <a:t>的演变</a:t>
            </a:r>
            <a:endParaRPr lang="en-US" altLang="zh-CN" dirty="0" smtClean="0"/>
          </a:p>
          <a:p>
            <a:pPr lvl="1"/>
            <a:r>
              <a:rPr lang="en-US" altLang="zh-CN" dirty="0" smtClean="0"/>
              <a:t>Inception</a:t>
            </a:r>
            <a:r>
              <a:rPr lang="zh-CN" altLang="en-US" dirty="0" smtClean="0"/>
              <a:t>第二版</a:t>
            </a:r>
            <a:endParaRPr lang="en-US" altLang="zh-CN" dirty="0" smtClean="0"/>
          </a:p>
          <a:p>
            <a:pPr lvl="2"/>
            <a:r>
              <a:rPr lang="zh-CN" altLang="en-US" dirty="0" smtClean="0"/>
              <a:t>加入批标准化操作（</a:t>
            </a:r>
            <a:r>
              <a:rPr lang="en-US" altLang="zh-CN" dirty="0" smtClean="0"/>
              <a:t>BN</a:t>
            </a:r>
            <a:r>
              <a:rPr lang="zh-CN" altLang="en-US" dirty="0" smtClean="0"/>
              <a:t>层）</a:t>
            </a:r>
            <a:endParaRPr lang="en-US" altLang="zh-CN" dirty="0" smtClean="0"/>
          </a:p>
          <a:p>
            <a:pPr lvl="2"/>
            <a:r>
              <a:rPr lang="zh-CN" altLang="en-US" dirty="0" smtClean="0"/>
              <a:t>训练模型收敛更快</a:t>
            </a:r>
            <a:endParaRPr lang="en-US" altLang="zh-CN" dirty="0" smtClean="0"/>
          </a:p>
          <a:p>
            <a:pPr lvl="2"/>
            <a:r>
              <a:rPr lang="zh-CN" altLang="en-US" dirty="0" smtClean="0"/>
              <a:t>增加深度，减少参数</a:t>
            </a:r>
            <a:endParaRPr lang="en-US" altLang="zh-CN" dirty="0" smtClean="0"/>
          </a:p>
          <a:p>
            <a:pPr lvl="1"/>
            <a:r>
              <a:rPr lang="en-US" altLang="zh-CN" dirty="0"/>
              <a:t>Inception</a:t>
            </a:r>
            <a:r>
              <a:rPr lang="zh-CN" altLang="en-US" dirty="0" smtClean="0"/>
              <a:t>第三版</a:t>
            </a:r>
            <a:endParaRPr lang="en-US" altLang="zh-CN" dirty="0" smtClean="0"/>
          </a:p>
          <a:p>
            <a:pPr lvl="2"/>
            <a:r>
              <a:rPr lang="en-US" altLang="zh-CN" dirty="0" smtClean="0"/>
              <a:t>(F,F)</a:t>
            </a:r>
            <a:r>
              <a:rPr lang="zh-CN" altLang="en-US" dirty="0" smtClean="0"/>
              <a:t>卷积变成</a:t>
            </a:r>
            <a:r>
              <a:rPr lang="en-US" altLang="zh-CN" dirty="0" smtClean="0"/>
              <a:t>(1,F)</a:t>
            </a:r>
            <a:r>
              <a:rPr lang="zh-CN" altLang="en-US" dirty="0" smtClean="0"/>
              <a:t>和</a:t>
            </a:r>
            <a:r>
              <a:rPr lang="en-US" altLang="zh-CN" dirty="0" smtClean="0"/>
              <a:t>(F,1)</a:t>
            </a:r>
            <a:r>
              <a:rPr lang="zh-CN" altLang="en-US" dirty="0" smtClean="0"/>
              <a:t>串联</a:t>
            </a:r>
            <a:endParaRPr lang="en-US" altLang="zh-CN" dirty="0" smtClean="0"/>
          </a:p>
          <a:p>
            <a:pPr lvl="2"/>
            <a:r>
              <a:rPr lang="zh-CN" altLang="en-US" dirty="0" smtClean="0"/>
              <a:t>加速计算，减小过拟合概率</a:t>
            </a:r>
            <a:endParaRPr lang="en-US" altLang="zh-CN" dirty="0" smtClean="0"/>
          </a:p>
          <a:p>
            <a:pPr lvl="2"/>
            <a:r>
              <a:rPr lang="zh-CN" altLang="en-US" dirty="0" smtClean="0"/>
              <a:t>输入特征图尺寸</a:t>
            </a:r>
            <a:r>
              <a:rPr lang="en-US" altLang="zh-CN" dirty="0" smtClean="0"/>
              <a:t>(224,224)</a:t>
            </a:r>
            <a:r>
              <a:rPr lang="zh-CN" altLang="en-US" dirty="0" smtClean="0"/>
              <a:t>变为</a:t>
            </a:r>
            <a:r>
              <a:rPr lang="en-US" altLang="zh-CN" dirty="0" smtClean="0"/>
              <a:t>(299,299)</a:t>
            </a:r>
            <a:endParaRPr lang="en-US" altLang="zh-CN" dirty="0"/>
          </a:p>
          <a:p>
            <a:pPr lvl="1"/>
            <a:r>
              <a:rPr lang="en-US" altLang="zh-CN" dirty="0"/>
              <a:t>Inception</a:t>
            </a:r>
            <a:r>
              <a:rPr lang="zh-CN" altLang="en-US" dirty="0" smtClean="0"/>
              <a:t>第四版</a:t>
            </a:r>
            <a:endParaRPr lang="en-US" altLang="zh-CN" dirty="0" smtClean="0"/>
          </a:p>
          <a:p>
            <a:pPr lvl="2"/>
            <a:r>
              <a:rPr lang="zh-CN" altLang="en-US" dirty="0" smtClean="0"/>
              <a:t>增加</a:t>
            </a:r>
            <a:r>
              <a:rPr lang="en-US" altLang="zh-CN" dirty="0" err="1" smtClean="0"/>
              <a:t>ResNet</a:t>
            </a:r>
            <a:r>
              <a:rPr lang="zh-CN" altLang="en-US" dirty="0" smtClean="0"/>
              <a:t>方法</a:t>
            </a:r>
            <a:endParaRPr lang="en-US" altLang="zh-CN" dirty="0" smtClean="0"/>
          </a:p>
          <a:p>
            <a:pPr lvl="2"/>
            <a:r>
              <a:rPr lang="zh-CN" altLang="en-US" dirty="0" smtClean="0"/>
              <a:t>提高训练速度</a:t>
            </a:r>
            <a:endParaRPr lang="en-US" altLang="zh-CN" dirty="0"/>
          </a:p>
          <a:p>
            <a:pPr lvl="1"/>
            <a:endParaRPr lang="en-US" altLang="zh-CN" dirty="0" smtClean="0"/>
          </a:p>
          <a:p>
            <a:pPr lvl="1"/>
            <a:endParaRPr lang="zh-CN" altLang="en-US" dirty="0"/>
          </a:p>
        </p:txBody>
      </p:sp>
      <p:sp>
        <p:nvSpPr>
          <p:cNvPr id="4" name="矩形 3"/>
          <p:cNvSpPr/>
          <p:nvPr/>
        </p:nvSpPr>
        <p:spPr>
          <a:xfrm>
            <a:off x="8305800" y="5398180"/>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Base</a:t>
            </a:r>
            <a:endParaRPr lang="zh-CN" altLang="en-US" dirty="0"/>
          </a:p>
        </p:txBody>
      </p:sp>
      <p:sp>
        <p:nvSpPr>
          <p:cNvPr id="5" name="矩形 4"/>
          <p:cNvSpPr/>
          <p:nvPr/>
        </p:nvSpPr>
        <p:spPr>
          <a:xfrm>
            <a:off x="6248797" y="4659086"/>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1×1</a:t>
            </a:r>
            <a:endParaRPr lang="zh-CN" altLang="en-US" dirty="0"/>
          </a:p>
        </p:txBody>
      </p:sp>
      <p:sp>
        <p:nvSpPr>
          <p:cNvPr id="6" name="矩形 5"/>
          <p:cNvSpPr/>
          <p:nvPr/>
        </p:nvSpPr>
        <p:spPr>
          <a:xfrm>
            <a:off x="7609114" y="4659086"/>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1×1</a:t>
            </a:r>
            <a:endParaRPr lang="zh-CN" altLang="en-US" dirty="0"/>
          </a:p>
        </p:txBody>
      </p:sp>
      <p:sp>
        <p:nvSpPr>
          <p:cNvPr id="7" name="矩形 6"/>
          <p:cNvSpPr/>
          <p:nvPr/>
        </p:nvSpPr>
        <p:spPr>
          <a:xfrm>
            <a:off x="8969431" y="4659086"/>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Pool</a:t>
            </a:r>
            <a:endParaRPr lang="zh-CN" altLang="en-US" dirty="0"/>
          </a:p>
        </p:txBody>
      </p:sp>
      <p:sp>
        <p:nvSpPr>
          <p:cNvPr id="8" name="矩形 7"/>
          <p:cNvSpPr/>
          <p:nvPr/>
        </p:nvSpPr>
        <p:spPr>
          <a:xfrm>
            <a:off x="10329748" y="4659086"/>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1×1</a:t>
            </a:r>
            <a:endParaRPr lang="zh-CN" altLang="en-US" dirty="0"/>
          </a:p>
        </p:txBody>
      </p:sp>
      <p:sp>
        <p:nvSpPr>
          <p:cNvPr id="9" name="矩形 8"/>
          <p:cNvSpPr/>
          <p:nvPr/>
        </p:nvSpPr>
        <p:spPr>
          <a:xfrm>
            <a:off x="6243553" y="3985190"/>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3</a:t>
            </a:r>
            <a:r>
              <a:rPr lang="en-US" altLang="zh-CN" dirty="0" smtClean="0"/>
              <a:t>×3</a:t>
            </a:r>
            <a:endParaRPr lang="zh-CN" altLang="en-US" dirty="0"/>
          </a:p>
        </p:txBody>
      </p:sp>
      <p:sp>
        <p:nvSpPr>
          <p:cNvPr id="10" name="矩形 9"/>
          <p:cNvSpPr/>
          <p:nvPr/>
        </p:nvSpPr>
        <p:spPr>
          <a:xfrm>
            <a:off x="7609114" y="3985190"/>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3×3</a:t>
            </a:r>
            <a:endParaRPr lang="zh-CN" altLang="en-US" dirty="0"/>
          </a:p>
        </p:txBody>
      </p:sp>
      <p:sp>
        <p:nvSpPr>
          <p:cNvPr id="11" name="矩形 10"/>
          <p:cNvSpPr/>
          <p:nvPr/>
        </p:nvSpPr>
        <p:spPr>
          <a:xfrm>
            <a:off x="8969431" y="3980315"/>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1×1</a:t>
            </a:r>
            <a:endParaRPr lang="zh-CN" altLang="en-US" dirty="0"/>
          </a:p>
        </p:txBody>
      </p:sp>
      <p:sp>
        <p:nvSpPr>
          <p:cNvPr id="13" name="矩形 12"/>
          <p:cNvSpPr/>
          <p:nvPr/>
        </p:nvSpPr>
        <p:spPr>
          <a:xfrm>
            <a:off x="6243553" y="3311294"/>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3</a:t>
            </a:r>
            <a:r>
              <a:rPr lang="en-US" altLang="zh-CN" dirty="0" smtClean="0"/>
              <a:t>×3</a:t>
            </a:r>
            <a:endParaRPr lang="zh-CN" altLang="en-US" dirty="0"/>
          </a:p>
        </p:txBody>
      </p:sp>
      <p:sp>
        <p:nvSpPr>
          <p:cNvPr id="14" name="矩形 13"/>
          <p:cNvSpPr/>
          <p:nvPr/>
        </p:nvSpPr>
        <p:spPr>
          <a:xfrm>
            <a:off x="7391400" y="2171870"/>
            <a:ext cx="26778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Filter </a:t>
            </a:r>
            <a:r>
              <a:rPr lang="en-US" altLang="zh-CN" dirty="0" err="1" smtClean="0"/>
              <a:t>Concat</a:t>
            </a:r>
            <a:r>
              <a:rPr lang="zh-CN" altLang="en-US" dirty="0" smtClean="0"/>
              <a:t>操作</a:t>
            </a:r>
            <a:endParaRPr lang="zh-CN" altLang="en-US" dirty="0"/>
          </a:p>
        </p:txBody>
      </p:sp>
      <p:cxnSp>
        <p:nvCxnSpPr>
          <p:cNvPr id="16" name="直接箭头连接符 15"/>
          <p:cNvCxnSpPr>
            <a:stCxn id="4" idx="0"/>
            <a:endCxn id="5" idx="2"/>
          </p:cNvCxnSpPr>
          <p:nvPr/>
        </p:nvCxnSpPr>
        <p:spPr>
          <a:xfrm flipH="1" flipV="1">
            <a:off x="6673340" y="5040086"/>
            <a:ext cx="2057003" cy="3580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4" idx="0"/>
            <a:endCxn id="6" idx="2"/>
          </p:cNvCxnSpPr>
          <p:nvPr/>
        </p:nvCxnSpPr>
        <p:spPr>
          <a:xfrm flipH="1" flipV="1">
            <a:off x="8033657" y="5040086"/>
            <a:ext cx="696686" cy="3580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4" idx="0"/>
            <a:endCxn id="7" idx="2"/>
          </p:cNvCxnSpPr>
          <p:nvPr/>
        </p:nvCxnSpPr>
        <p:spPr>
          <a:xfrm flipV="1">
            <a:off x="8730343" y="5040086"/>
            <a:ext cx="663631" cy="3580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4" idx="0"/>
            <a:endCxn id="8" idx="2"/>
          </p:cNvCxnSpPr>
          <p:nvPr/>
        </p:nvCxnSpPr>
        <p:spPr>
          <a:xfrm flipV="1">
            <a:off x="8730343" y="5040086"/>
            <a:ext cx="2023948" cy="3580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5" idx="0"/>
            <a:endCxn id="9" idx="2"/>
          </p:cNvCxnSpPr>
          <p:nvPr/>
        </p:nvCxnSpPr>
        <p:spPr>
          <a:xfrm flipH="1" flipV="1">
            <a:off x="6668096" y="4366190"/>
            <a:ext cx="5244" cy="2928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flipV="1">
            <a:off x="8023169" y="4361315"/>
            <a:ext cx="5244" cy="2928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flipV="1">
            <a:off x="9388730" y="4349920"/>
            <a:ext cx="5244" cy="2928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flipH="1" flipV="1">
            <a:off x="6662852" y="3692294"/>
            <a:ext cx="5244" cy="2928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3" idx="0"/>
            <a:endCxn id="14" idx="2"/>
          </p:cNvCxnSpPr>
          <p:nvPr/>
        </p:nvCxnSpPr>
        <p:spPr>
          <a:xfrm flipV="1">
            <a:off x="6668096" y="2552870"/>
            <a:ext cx="2062247" cy="7584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0" idx="0"/>
            <a:endCxn id="14" idx="2"/>
          </p:cNvCxnSpPr>
          <p:nvPr/>
        </p:nvCxnSpPr>
        <p:spPr>
          <a:xfrm flipV="1">
            <a:off x="8033657" y="2552870"/>
            <a:ext cx="696686" cy="14323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1" idx="0"/>
            <a:endCxn id="14" idx="2"/>
          </p:cNvCxnSpPr>
          <p:nvPr/>
        </p:nvCxnSpPr>
        <p:spPr>
          <a:xfrm flipH="1" flipV="1">
            <a:off x="8730343" y="2552870"/>
            <a:ext cx="663631" cy="14274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8" idx="0"/>
            <a:endCxn id="14" idx="2"/>
          </p:cNvCxnSpPr>
          <p:nvPr/>
        </p:nvCxnSpPr>
        <p:spPr>
          <a:xfrm flipH="1" flipV="1">
            <a:off x="8730343" y="2552870"/>
            <a:ext cx="2023948" cy="21062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033935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GoogleNet</a:t>
            </a:r>
            <a:r>
              <a:rPr lang="zh-CN" altLang="en-US" dirty="0" smtClean="0"/>
              <a:t>神经网络</a:t>
            </a:r>
            <a:endParaRPr lang="zh-CN" altLang="en-US" dirty="0"/>
          </a:p>
        </p:txBody>
      </p:sp>
      <p:sp>
        <p:nvSpPr>
          <p:cNvPr id="5" name="内容占位符 4"/>
          <p:cNvSpPr>
            <a:spLocks noGrp="1"/>
          </p:cNvSpPr>
          <p:nvPr>
            <p:ph sz="quarter" idx="13"/>
          </p:nvPr>
        </p:nvSpPr>
        <p:spPr/>
        <p:txBody>
          <a:bodyPr/>
          <a:lstStyle/>
          <a:p>
            <a:r>
              <a:rPr lang="en-US" altLang="zh-CN" dirty="0" err="1" smtClean="0"/>
              <a:t>GoogLeNet</a:t>
            </a:r>
            <a:r>
              <a:rPr lang="zh-CN" altLang="en-US" dirty="0" smtClean="0"/>
              <a:t>神经网络：</a:t>
            </a:r>
            <a:endParaRPr lang="en-US" altLang="zh-CN" dirty="0" smtClean="0"/>
          </a:p>
          <a:p>
            <a:pPr marL="800100" lvl="1" indent="-342900">
              <a:buFont typeface="+mj-lt"/>
              <a:buAutoNum type="arabicPeriod"/>
            </a:pPr>
            <a:r>
              <a:rPr lang="zh-CN" altLang="en-US" dirty="0" smtClean="0"/>
              <a:t>模块化结构</a:t>
            </a:r>
            <a:endParaRPr lang="en-US" altLang="zh-CN" dirty="0" smtClean="0"/>
          </a:p>
          <a:p>
            <a:pPr marL="800100" lvl="1" indent="-342900">
              <a:buFont typeface="+mj-lt"/>
              <a:buAutoNum type="arabicPeriod"/>
            </a:pPr>
            <a:r>
              <a:rPr lang="zh-CN" altLang="en-US" dirty="0" smtClean="0"/>
              <a:t>最后采用</a:t>
            </a:r>
            <a:r>
              <a:rPr lang="en-US" altLang="zh-CN" dirty="0" err="1" smtClean="0"/>
              <a:t>avgpool</a:t>
            </a:r>
            <a:endParaRPr lang="en-US" altLang="zh-CN" dirty="0" smtClean="0"/>
          </a:p>
          <a:p>
            <a:pPr marL="800100" lvl="1" indent="-342900">
              <a:buFont typeface="+mj-lt"/>
              <a:buAutoNum type="arabicPeriod"/>
            </a:pPr>
            <a:r>
              <a:rPr lang="zh-CN" altLang="en-US" dirty="0" smtClean="0"/>
              <a:t>仍使用</a:t>
            </a:r>
            <a:r>
              <a:rPr lang="en-US" altLang="zh-CN" dirty="0" smtClean="0"/>
              <a:t>Dropout</a:t>
            </a:r>
          </a:p>
          <a:p>
            <a:pPr marL="800100" lvl="1" indent="-342900">
              <a:buFont typeface="+mj-lt"/>
              <a:buAutoNum type="arabicPeriod"/>
            </a:pPr>
            <a:r>
              <a:rPr lang="zh-CN" altLang="en-US" dirty="0" smtClean="0"/>
              <a:t>添加两个辅助分类器</a:t>
            </a:r>
            <a:endParaRPr lang="en-US" altLang="zh-CN" dirty="0" smtClean="0"/>
          </a:p>
          <a:p>
            <a:pPr lvl="1"/>
            <a:endParaRPr lang="zh-CN" altLang="en-US" dirty="0"/>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00909" y="1424734"/>
            <a:ext cx="8119579" cy="4712540"/>
          </a:xfrm>
          <a:prstGeom prst="rect">
            <a:avLst/>
          </a:prstGeom>
        </p:spPr>
      </p:pic>
    </p:spTree>
    <p:extLst>
      <p:ext uri="{BB962C8B-B14F-4D97-AF65-F5344CB8AC3E}">
        <p14:creationId xmlns:p14="http://schemas.microsoft.com/office/powerpoint/2010/main" val="76376761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ResNet</a:t>
            </a:r>
            <a:endParaRPr lang="zh-CN" altLang="en-US" dirty="0"/>
          </a:p>
        </p:txBody>
      </p:sp>
      <p:sp>
        <p:nvSpPr>
          <p:cNvPr id="3" name="内容占位符 2"/>
          <p:cNvSpPr>
            <a:spLocks noGrp="1"/>
          </p:cNvSpPr>
          <p:nvPr>
            <p:ph sz="quarter" idx="13"/>
          </p:nvPr>
        </p:nvSpPr>
        <p:spPr/>
        <p:txBody>
          <a:bodyPr/>
          <a:lstStyle/>
          <a:p>
            <a:r>
              <a:rPr lang="en-US" altLang="zh-CN" dirty="0" err="1" smtClean="0"/>
              <a:t>ResNet</a:t>
            </a:r>
            <a:endParaRPr lang="en-US" altLang="zh-CN" dirty="0" smtClean="0"/>
          </a:p>
          <a:p>
            <a:pPr lvl="1"/>
            <a:r>
              <a:rPr lang="en-US" altLang="zh-CN" dirty="0" smtClean="0"/>
              <a:t>2015</a:t>
            </a:r>
            <a:r>
              <a:rPr lang="zh-CN" altLang="en-US" dirty="0" smtClean="0"/>
              <a:t>年，何恺明提出了</a:t>
            </a:r>
            <a:r>
              <a:rPr lang="en-US" altLang="zh-CN" dirty="0" smtClean="0"/>
              <a:t>152</a:t>
            </a:r>
            <a:r>
              <a:rPr lang="zh-CN" altLang="en-US" dirty="0" smtClean="0"/>
              <a:t>层的</a:t>
            </a:r>
            <a:r>
              <a:rPr lang="en-US" altLang="zh-CN" dirty="0" err="1" smtClean="0"/>
              <a:t>ResNet</a:t>
            </a:r>
            <a:endParaRPr lang="en-US" altLang="zh-CN" dirty="0" smtClean="0"/>
          </a:p>
          <a:p>
            <a:pPr lvl="1"/>
            <a:r>
              <a:rPr lang="zh-CN" altLang="en-US" dirty="0" smtClean="0"/>
              <a:t>有效改善因网络深度导致的梯度消失</a:t>
            </a:r>
            <a:endParaRPr lang="en-US" altLang="zh-CN" dirty="0" smtClean="0"/>
          </a:p>
          <a:p>
            <a:pPr lvl="1"/>
            <a:r>
              <a:rPr lang="zh-CN" altLang="en-US" dirty="0"/>
              <a:t>在</a:t>
            </a:r>
            <a:r>
              <a:rPr lang="en-US" altLang="zh-CN" dirty="0" smtClean="0"/>
              <a:t>2015</a:t>
            </a:r>
            <a:r>
              <a:rPr lang="zh-CN" altLang="en-US" dirty="0" smtClean="0"/>
              <a:t>年</a:t>
            </a:r>
            <a:r>
              <a:rPr lang="en-US" altLang="zh-CN" dirty="0" err="1"/>
              <a:t>ImageNet</a:t>
            </a:r>
            <a:r>
              <a:rPr lang="zh-CN" altLang="en-US" dirty="0"/>
              <a:t>比赛获得冠军</a:t>
            </a:r>
            <a:endParaRPr lang="en-US" altLang="zh-CN" dirty="0"/>
          </a:p>
          <a:p>
            <a:r>
              <a:rPr lang="zh-CN" altLang="en-US" dirty="0" smtClean="0"/>
              <a:t>主要结构</a:t>
            </a:r>
            <a:endParaRPr lang="en-US" altLang="zh-CN" dirty="0" smtClean="0"/>
          </a:p>
          <a:p>
            <a:pPr lvl="1"/>
            <a:r>
              <a:rPr lang="zh-CN" altLang="en-US" dirty="0"/>
              <a:t>输入图像</a:t>
            </a:r>
            <a:endParaRPr lang="en-US" altLang="zh-CN" dirty="0" smtClean="0"/>
          </a:p>
          <a:p>
            <a:pPr lvl="1"/>
            <a:r>
              <a:rPr lang="zh-CN" altLang="en-US" dirty="0"/>
              <a:t>卷积</a:t>
            </a:r>
            <a:r>
              <a:rPr lang="zh-CN" altLang="en-US" dirty="0" smtClean="0"/>
              <a:t>层</a:t>
            </a:r>
            <a:r>
              <a:rPr lang="en-US" altLang="zh-CN" dirty="0" smtClean="0"/>
              <a:t>conv1</a:t>
            </a:r>
          </a:p>
          <a:p>
            <a:pPr lvl="1"/>
            <a:r>
              <a:rPr lang="zh-CN" altLang="en-US" dirty="0" smtClean="0"/>
              <a:t>卷积块</a:t>
            </a:r>
            <a:r>
              <a:rPr lang="en-US" altLang="zh-CN" dirty="0" smtClean="0"/>
              <a:t>conv2_x</a:t>
            </a:r>
          </a:p>
          <a:p>
            <a:pPr lvl="1"/>
            <a:r>
              <a:rPr lang="zh-CN" altLang="en-US" dirty="0"/>
              <a:t>卷积</a:t>
            </a:r>
            <a:r>
              <a:rPr lang="zh-CN" altLang="en-US" dirty="0" smtClean="0"/>
              <a:t>块</a:t>
            </a:r>
            <a:r>
              <a:rPr lang="en-US" altLang="zh-CN" dirty="0" smtClean="0"/>
              <a:t>conv3_x</a:t>
            </a:r>
          </a:p>
          <a:p>
            <a:pPr lvl="1"/>
            <a:r>
              <a:rPr lang="zh-CN" altLang="en-US" dirty="0"/>
              <a:t>卷积块</a:t>
            </a:r>
            <a:r>
              <a:rPr lang="en-US" altLang="zh-CN" dirty="0" smtClean="0"/>
              <a:t>conv4_x</a:t>
            </a:r>
            <a:endParaRPr lang="en-US" altLang="zh-CN" dirty="0"/>
          </a:p>
          <a:p>
            <a:pPr lvl="1"/>
            <a:r>
              <a:rPr lang="zh-CN" altLang="en-US" dirty="0"/>
              <a:t>卷积块</a:t>
            </a:r>
            <a:r>
              <a:rPr lang="en-US" altLang="zh-CN" dirty="0" smtClean="0"/>
              <a:t>conv5_x</a:t>
            </a:r>
            <a:endParaRPr lang="en-US" altLang="zh-CN" dirty="0"/>
          </a:p>
          <a:p>
            <a:pPr lvl="1"/>
            <a:r>
              <a:rPr lang="zh-CN" altLang="en-US" dirty="0" smtClean="0"/>
              <a:t>平均池化层</a:t>
            </a:r>
            <a:r>
              <a:rPr lang="en-US" altLang="zh-CN" dirty="0" smtClean="0"/>
              <a:t>+</a:t>
            </a:r>
            <a:r>
              <a:rPr lang="zh-CN" altLang="en-US" dirty="0" smtClean="0"/>
              <a:t>全连接层</a:t>
            </a:r>
            <a:endParaRPr lang="en-US" altLang="zh-CN" dirty="0" smtClean="0"/>
          </a:p>
          <a:p>
            <a:pPr lvl="1"/>
            <a:r>
              <a:rPr lang="zh-CN" altLang="en-US" dirty="0" smtClean="0"/>
              <a:t>输出结果</a:t>
            </a:r>
            <a:endParaRPr lang="zh-CN" altLang="en-US" dirty="0"/>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9486" y="2901573"/>
            <a:ext cx="7471002" cy="3235701"/>
          </a:xfrm>
          <a:prstGeom prst="rect">
            <a:avLst/>
          </a:prstGeom>
        </p:spPr>
      </p:pic>
    </p:spTree>
    <p:extLst>
      <p:ext uri="{BB962C8B-B14F-4D97-AF65-F5344CB8AC3E}">
        <p14:creationId xmlns:p14="http://schemas.microsoft.com/office/powerpoint/2010/main" val="178627383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ResNet</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梯度消失</a:t>
                </a:r>
                <a:endParaRPr lang="en-US" altLang="zh-CN" dirty="0" smtClean="0"/>
              </a:p>
              <a:p>
                <a:pPr lvl="1"/>
                <a:r>
                  <a:rPr lang="zh-CN" altLang="en-US" dirty="0" smtClean="0"/>
                  <a:t>由于网络结构深度导致</a:t>
                </a:r>
                <a:endParaRPr lang="en-US" altLang="zh-CN" dirty="0" smtClean="0"/>
              </a:p>
              <a:p>
                <a:pPr lvl="1"/>
                <a:r>
                  <a:rPr lang="zh-CN" altLang="en-US" dirty="0" smtClean="0"/>
                  <a:t>随着误差回传，前层网络梯度越来越小</a:t>
                </a:r>
                <a:endParaRPr lang="en-US" altLang="zh-CN" dirty="0" smtClean="0"/>
              </a:p>
              <a:p>
                <a:pPr marL="342900" indent="-342900">
                  <a:buFont typeface="+mj-lt"/>
                  <a:buAutoNum type="arabicPeriod"/>
                </a:pPr>
                <a14:m>
                  <m:oMath xmlns:m="http://schemas.openxmlformats.org/officeDocument/2006/math">
                    <m:r>
                      <a:rPr lang="en-US" altLang="zh-CN" i="1">
                        <a:latin typeface="Cambria Math" panose="02040503050406030204" pitchFamily="18" charset="0"/>
                      </a:rPr>
                      <m:t>𝐿𝑜𝑠𝑠</m:t>
                    </m:r>
                    <m:r>
                      <a:rPr lang="en-US" altLang="zh-CN" dirty="0" smtClean="0">
                        <a:latin typeface="Cambria Math" panose="02040503050406030204" pitchFamily="18" charset="0"/>
                        <a:ea typeface="Cambria Math" panose="02040503050406030204" pitchFamily="18" charset="0"/>
                      </a:rPr>
                      <m:t>=</m:t>
                    </m:r>
                    <m:r>
                      <m:rPr>
                        <m:sty m:val="p"/>
                      </m:rPr>
                      <a:rPr lang="en-US" altLang="zh-CN" b="0" i="0" dirty="0" smtClean="0">
                        <a:latin typeface="Cambria Math" panose="02040503050406030204" pitchFamily="18" charset="0"/>
                        <a:ea typeface="Cambria Math" panose="02040503050406030204" pitchFamily="18" charset="0"/>
                      </a:rPr>
                      <m:t>F</m:t>
                    </m:r>
                    <m:r>
                      <a:rPr lang="en-US" altLang="zh-CN" b="0" i="0"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𝑋</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𝑊</m:t>
                    </m:r>
                    <m:r>
                      <a:rPr lang="en-US" altLang="zh-CN" b="0" i="1" dirty="0" smtClean="0">
                        <a:latin typeface="Cambria Math" panose="02040503050406030204" pitchFamily="18" charset="0"/>
                        <a:ea typeface="Cambria Math" panose="02040503050406030204" pitchFamily="18" charset="0"/>
                      </a:rPr>
                      <m:t>)</m:t>
                    </m:r>
                  </m:oMath>
                </a14:m>
                <a:endParaRPr lang="en-US" altLang="zh-CN" b="0" dirty="0" smtClean="0"/>
              </a:p>
              <a:p>
                <a:pPr marL="342900" indent="-342900">
                  <a:buFont typeface="+mj-lt"/>
                  <a:buAutoNum type="arabicPeriod"/>
                </a:pPr>
                <a14:m>
                  <m:oMath xmlns:m="http://schemas.openxmlformats.org/officeDocument/2006/math">
                    <m:f>
                      <m:fPr>
                        <m:ctrlPr>
                          <a:rPr lang="en-US" altLang="zh-CN" b="0" i="1" smtClean="0">
                            <a:latin typeface="Cambria Math" panose="02040503050406030204" pitchFamily="18" charset="0"/>
                          </a:rPr>
                        </m:ctrlPr>
                      </m:fPr>
                      <m:num>
                        <m:r>
                          <a:rPr lang="zh-CN" altLang="en-US" b="0" i="1" smtClean="0">
                            <a:latin typeface="Cambria Math" panose="02040503050406030204" pitchFamily="18" charset="0"/>
                          </a:rPr>
                          <m:t>𝜕</m:t>
                        </m:r>
                        <m:r>
                          <a:rPr lang="en-US" altLang="zh-CN" i="1">
                            <a:latin typeface="Cambria Math" panose="02040503050406030204" pitchFamily="18" charset="0"/>
                          </a:rPr>
                          <m:t>𝐿𝑜𝑠𝑠</m:t>
                        </m:r>
                      </m:num>
                      <m:den>
                        <m:r>
                          <a:rPr lang="zh-CN" altLang="en-US" b="0" i="1" smtClean="0">
                            <a:latin typeface="Cambria Math" panose="02040503050406030204" pitchFamily="18" charset="0"/>
                          </a:rPr>
                          <m:t>𝜕</m:t>
                        </m:r>
                        <m:r>
                          <a:rPr lang="en-US" altLang="zh-CN" b="0" i="1" smtClean="0">
                            <a:latin typeface="Cambria Math" panose="02040503050406030204" pitchFamily="18" charset="0"/>
                          </a:rPr>
                          <m:t>𝑋</m:t>
                        </m:r>
                      </m:den>
                    </m:f>
                    <m:r>
                      <a:rPr lang="en-US" altLang="zh-CN" dirty="0">
                        <a:latin typeface="Cambria Math" panose="02040503050406030204" pitchFamily="18" charset="0"/>
                        <a:ea typeface="Cambria Math" panose="02040503050406030204" pitchFamily="18" charset="0"/>
                      </a:rPr>
                      <m:t>=</m:t>
                    </m:r>
                    <m:f>
                      <m:fPr>
                        <m:ctrlPr>
                          <a:rPr lang="en-US" altLang="zh-CN" i="1" dirty="0" smtClean="0">
                            <a:latin typeface="Cambria Math" panose="02040503050406030204" pitchFamily="18" charset="0"/>
                            <a:ea typeface="Cambria Math" panose="02040503050406030204" pitchFamily="18" charset="0"/>
                          </a:rPr>
                        </m:ctrlPr>
                      </m:fPr>
                      <m:num>
                        <m:r>
                          <a:rPr lang="zh-CN" altLang="en-US" i="1" dirty="0" smtClean="0">
                            <a:latin typeface="Cambria Math" panose="02040503050406030204" pitchFamily="18" charset="0"/>
                            <a:ea typeface="Cambria Math" panose="02040503050406030204" pitchFamily="18" charset="0"/>
                          </a:rPr>
                          <m:t>𝜕</m:t>
                        </m:r>
                        <m:r>
                          <m:rPr>
                            <m:sty m:val="p"/>
                          </m:rPr>
                          <a:rPr lang="en-US" altLang="zh-CN" i="1" dirty="0">
                            <a:latin typeface="Cambria Math" panose="02040503050406030204" pitchFamily="18" charset="0"/>
                            <a:ea typeface="Cambria Math" panose="02040503050406030204" pitchFamily="18" charset="0"/>
                          </a:rPr>
                          <m:t>F</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𝑋</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𝑊</m:t>
                        </m:r>
                        <m:r>
                          <a:rPr lang="en-US" altLang="zh-CN" b="0" i="1" dirty="0" smtClean="0">
                            <a:latin typeface="Cambria Math" panose="02040503050406030204" pitchFamily="18" charset="0"/>
                            <a:ea typeface="Cambria Math" panose="02040503050406030204" pitchFamily="18" charset="0"/>
                          </a:rPr>
                          <m:t>)</m:t>
                        </m:r>
                      </m:num>
                      <m:den>
                        <m:r>
                          <a:rPr lang="zh-CN" altLang="en-US"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𝑋</m:t>
                        </m:r>
                      </m:den>
                    </m:f>
                  </m:oMath>
                </a14:m>
                <a:r>
                  <a:rPr lang="en-US" altLang="zh-CN" b="0" dirty="0" smtClean="0"/>
                  <a:t> </a:t>
                </a:r>
              </a:p>
              <a:p>
                <a:pPr marL="342900" indent="-342900">
                  <a:buFont typeface="+mj-lt"/>
                  <a:buAutoNum type="arabicPeriod"/>
                </a:pPr>
                <a14:m>
                  <m:oMath xmlns:m="http://schemas.openxmlformats.org/officeDocument/2006/math">
                    <m:r>
                      <a:rPr lang="en-US" altLang="zh-CN" b="0" i="1" smtClean="0">
                        <a:latin typeface="Cambria Math" panose="02040503050406030204" pitchFamily="18" charset="0"/>
                      </a:rPr>
                      <m:t>𝐿𝑜𝑠𝑠</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m:rPr>
                            <m:sty m:val="p"/>
                          </m:rPr>
                          <a:rPr lang="en-US" altLang="zh-CN" i="1">
                            <a:latin typeface="Cambria Math" panose="02040503050406030204" pitchFamily="18" charset="0"/>
                          </a:rPr>
                          <m:t>n</m:t>
                        </m:r>
                      </m:sub>
                    </m:sSub>
                    <m:r>
                      <a:rPr lang="en-US" altLang="zh-CN" b="0" i="1" smtClean="0">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𝑊</m:t>
                        </m:r>
                      </m:e>
                      <m:sub>
                        <m:r>
                          <m:rPr>
                            <m:sty m:val="p"/>
                          </m:rPr>
                          <a:rPr lang="en-US" altLang="zh-CN" i="1">
                            <a:latin typeface="Cambria Math" panose="02040503050406030204" pitchFamily="18" charset="0"/>
                          </a:rPr>
                          <m:t>n</m:t>
                        </m:r>
                      </m:sub>
                    </m:sSub>
                  </m:oMath>
                </a14:m>
                <a:r>
                  <a:rPr lang="en-US" altLang="zh-CN" b="0" dirty="0" smtClean="0"/>
                  <a:t>)</a:t>
                </a:r>
                <a:r>
                  <a:rPr lang="zh-CN" altLang="en-US" b="0" dirty="0" smtClean="0"/>
                  <a:t>，</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𝐿</m:t>
                        </m:r>
                      </m:e>
                      <m:sub>
                        <m:r>
                          <a:rPr lang="en-US" altLang="zh-CN" b="0" i="1" dirty="0" smtClean="0">
                            <a:latin typeface="Cambria Math" panose="02040503050406030204" pitchFamily="18" charset="0"/>
                          </a:rPr>
                          <m:t>𝑛</m:t>
                        </m:r>
                      </m:sub>
                    </m:sSub>
                    <m:r>
                      <a:rPr lang="en-US" altLang="zh-CN" dirty="0">
                        <a:latin typeface="Cambria Math" panose="02040503050406030204" pitchFamily="18" charset="0"/>
                        <a:ea typeface="Cambria Math" panose="02040503050406030204" pitchFamily="18" charset="0"/>
                      </a:rPr>
                      <m:t>=</m:t>
                    </m:r>
                    <m:sSub>
                      <m:sSubPr>
                        <m:ctrlPr>
                          <a:rPr lang="en-US" altLang="zh-CN"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𝐹</m:t>
                        </m:r>
                      </m:e>
                      <m:sub>
                        <m:r>
                          <a:rPr lang="en-US" altLang="zh-CN" b="0" i="1" dirty="0" smtClean="0">
                            <a:latin typeface="Cambria Math" panose="02040503050406030204" pitchFamily="18" charset="0"/>
                            <a:ea typeface="Cambria Math" panose="02040503050406030204" pitchFamily="18" charset="0"/>
                          </a:rPr>
                          <m:t>𝑛</m:t>
                        </m:r>
                        <m:r>
                          <a:rPr lang="en-US" altLang="zh-CN" b="0" i="1" dirty="0" smtClean="0">
                            <a:latin typeface="Cambria Math" panose="02040503050406030204" pitchFamily="18" charset="0"/>
                            <a:ea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m:rPr>
                            <m:sty m:val="p"/>
                          </m:rPr>
                          <a:rPr lang="en-US" altLang="zh-CN" i="1">
                            <a:latin typeface="Cambria Math" panose="02040503050406030204" pitchFamily="18" charset="0"/>
                          </a:rPr>
                          <m:t>n</m:t>
                        </m:r>
                        <m:r>
                          <a:rPr lang="en-US" altLang="zh-CN" b="0" i="1" smtClean="0">
                            <a:latin typeface="Cambria Math" panose="02040503050406030204" pitchFamily="18" charset="0"/>
                          </a:rPr>
                          <m:t>−1</m:t>
                        </m:r>
                      </m:sub>
                    </m:sSub>
                    <m:r>
                      <a:rPr lang="en-US" altLang="zh-CN" i="1">
                        <a:latin typeface="Cambria Math" panose="02040503050406030204" pitchFamily="18" charset="0"/>
                      </a:rPr>
                      <m:t>,</m:t>
                    </m:r>
                    <m:r>
                      <m:rPr>
                        <m:nor/>
                      </m:rPr>
                      <a:rPr lang="en-US" altLang="zh-CN" dirty="0"/>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m:rPr>
                            <m:sty m:val="p"/>
                          </m:rPr>
                          <a:rPr lang="en-US" altLang="zh-CN" i="1">
                            <a:latin typeface="Cambria Math" panose="02040503050406030204" pitchFamily="18" charset="0"/>
                          </a:rPr>
                          <m:t>n</m:t>
                        </m:r>
                        <m:r>
                          <a:rPr lang="en-US" altLang="zh-CN" b="0" i="1" smtClean="0">
                            <a:latin typeface="Cambria Math" panose="02040503050406030204" pitchFamily="18" charset="0"/>
                          </a:rPr>
                          <m:t>−1</m:t>
                        </m:r>
                      </m:sub>
                    </m:sSub>
                    <m:r>
                      <m:rPr>
                        <m:nor/>
                      </m:rPr>
                      <a:rPr lang="en-US" altLang="zh-CN" dirty="0"/>
                      <m:t>)</m:t>
                    </m:r>
                    <m:r>
                      <m:rPr>
                        <m:nor/>
                      </m:rPr>
                      <a:rPr lang="en-US" altLang="zh-CN" b="0" i="0" dirty="0" smtClean="0"/>
                      <m:t>,</m:t>
                    </m:r>
                    <m:r>
                      <a:rPr lang="en-US" altLang="zh-CN" b="0" i="1" dirty="0" smtClean="0">
                        <a:latin typeface="Cambria Math" panose="02040503050406030204" pitchFamily="18" charset="0"/>
                        <a:ea typeface="Cambria Math" panose="02040503050406030204" pitchFamily="18" charset="0"/>
                      </a:rPr>
                      <m:t>⋯,</m:t>
                    </m:r>
                  </m:oMath>
                </a14:m>
                <a:r>
                  <a:rPr lang="en-US" altLang="zh-CN"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𝐿</m:t>
                        </m:r>
                      </m:e>
                      <m:sub>
                        <m:r>
                          <a:rPr lang="en-US" altLang="zh-CN" b="0" i="1" dirty="0" smtClean="0">
                            <a:latin typeface="Cambria Math" panose="02040503050406030204" pitchFamily="18" charset="0"/>
                          </a:rPr>
                          <m:t>2</m:t>
                        </m:r>
                      </m:sub>
                    </m:sSub>
                    <m:r>
                      <a:rPr lang="en-US" altLang="zh-CN"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𝐹</m:t>
                        </m:r>
                      </m:e>
                      <m:sub>
                        <m:r>
                          <a:rPr lang="en-US" altLang="zh-CN" i="1" dirty="0">
                            <a:latin typeface="Cambria Math" panose="02040503050406030204" pitchFamily="18" charset="0"/>
                            <a:ea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1</m:t>
                        </m:r>
                      </m:sub>
                    </m:sSub>
                    <m:r>
                      <a:rPr lang="en-US" altLang="zh-CN" i="1">
                        <a:latin typeface="Cambria Math" panose="02040503050406030204" pitchFamily="18" charset="0"/>
                      </a:rPr>
                      <m:t>,</m:t>
                    </m:r>
                    <m:r>
                      <m:rPr>
                        <m:nor/>
                      </m:rPr>
                      <a:rPr lang="en-US" altLang="zh-CN" dirty="0"/>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i="1">
                            <a:latin typeface="Cambria Math" panose="02040503050406030204" pitchFamily="18" charset="0"/>
                          </a:rPr>
                          <m:t>1</m:t>
                        </m:r>
                      </m:sub>
                    </m:sSub>
                    <m:r>
                      <m:rPr>
                        <m:nor/>
                      </m:rPr>
                      <a:rPr lang="en-US" altLang="zh-CN" dirty="0"/>
                      <m:t>)</m:t>
                    </m:r>
                  </m:oMath>
                </a14:m>
                <a:endParaRPr lang="en-US" altLang="zh-CN" b="0" dirty="0" smtClean="0"/>
              </a:p>
              <a:p>
                <a:pPr marL="342900" indent="-342900">
                  <a:buFont typeface="+mj-lt"/>
                  <a:buAutoNum type="arabicPeriod"/>
                </a:pPr>
                <a14:m>
                  <m:oMath xmlns:m="http://schemas.openxmlformats.org/officeDocument/2006/math">
                    <m:f>
                      <m:fPr>
                        <m:ctrlPr>
                          <a:rPr lang="en-US" altLang="zh-CN" b="0" i="1" smtClean="0">
                            <a:latin typeface="Cambria Math" panose="02040503050406030204" pitchFamily="18" charset="0"/>
                          </a:rPr>
                        </m:ctrlPr>
                      </m:fPr>
                      <m:num>
                        <m:r>
                          <a:rPr lang="zh-CN" altLang="en-US" b="0" i="1" smtClean="0">
                            <a:latin typeface="Cambria Math" panose="02040503050406030204" pitchFamily="18" charset="0"/>
                          </a:rPr>
                          <m:t>𝜕</m:t>
                        </m:r>
                        <m:r>
                          <a:rPr lang="en-US" altLang="zh-CN" b="0" i="1" smtClean="0">
                            <a:latin typeface="Cambria Math" panose="02040503050406030204" pitchFamily="18" charset="0"/>
                          </a:rPr>
                          <m:t>𝐿𝑜𝑠𝑠</m:t>
                        </m:r>
                      </m:num>
                      <m:den>
                        <m:r>
                          <a:rPr lang="zh-CN" altLang="en-US"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den>
                    </m:f>
                    <m:r>
                      <a:rPr lang="en-US" altLang="zh-CN" b="0" i="1" smtClean="0">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rPr>
                        </m:ctrlPr>
                      </m:fPr>
                      <m:num>
                        <m:r>
                          <a:rPr lang="zh-CN" altLang="en-US"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b="0" i="1" smtClean="0">
                                <a:latin typeface="Cambria Math" panose="02040503050406030204" pitchFamily="18" charset="0"/>
                              </a:rPr>
                              <m:t>𝑛</m:t>
                            </m:r>
                          </m:sub>
                        </m:sSub>
                      </m:den>
                    </m:f>
                    <m:r>
                      <a:rPr lang="en-US" altLang="zh-CN" i="1" smtClean="0">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rPr>
                        </m:ctrlPr>
                      </m:fPr>
                      <m:num>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b="0" i="1" smtClean="0">
                                <a:latin typeface="Cambria Math" panose="02040503050406030204" pitchFamily="18" charset="0"/>
                              </a:rPr>
                              <m:t>2</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e>
                        </m:d>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b="0" i="1" smtClean="0">
                                <a:latin typeface="Cambria Math" panose="02040503050406030204" pitchFamily="18" charset="0"/>
                              </a:rPr>
                              <m:t>𝑖</m:t>
                            </m:r>
                          </m:sub>
                        </m:sSub>
                      </m:den>
                    </m:f>
                  </m:oMath>
                </a14:m>
                <a:endParaRPr lang="en-US" altLang="zh-CN" dirty="0" smtClean="0"/>
              </a:p>
              <a:p>
                <a:pPr marL="342900" indent="-342900">
                  <a:buFont typeface="+mj-lt"/>
                  <a:buAutoNum type="arabicPeriod"/>
                </a:pPr>
                <a14:m>
                  <m:oMath xmlns:m="http://schemas.openxmlformats.org/officeDocument/2006/math">
                    <m:f>
                      <m:fPr>
                        <m:ctrlPr>
                          <a:rPr lang="en-US" altLang="zh-CN" i="1">
                            <a:latin typeface="Cambria Math" panose="02040503050406030204" pitchFamily="18" charset="0"/>
                          </a:rPr>
                        </m:ctrlPr>
                      </m:fPr>
                      <m:num>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r>
                              <a:rPr lang="en-US" altLang="zh-CN" b="0" i="1" smtClean="0">
                                <a:latin typeface="Cambria Math" panose="02040503050406030204" pitchFamily="18" charset="0"/>
                              </a:rPr>
                              <m:t>+1</m:t>
                            </m:r>
                          </m:sub>
                        </m:sSub>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sub>
                        </m:sSub>
                      </m:den>
                    </m:f>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rPr>
                        </m:ctrlPr>
                      </m:fPr>
                      <m:num>
                        <m:r>
                          <a:rPr lang="zh-CN" altLang="en-US" i="1" smtClean="0">
                            <a:latin typeface="Cambria Math" panose="02040503050406030204" pitchFamily="18" charset="0"/>
                          </a:rPr>
                          <m:t>𝜕</m:t>
                        </m:r>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X</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zh-CN" altLang="en-US" i="1">
                            <a:latin typeface="Cambria Math" panose="02040503050406030204" pitchFamily="18" charset="0"/>
                          </a:rPr>
                          <m:t>𝜕</m:t>
                        </m:r>
                        <m:r>
                          <a:rPr lang="en-US" altLang="zh-CN" b="0" i="1" smtClean="0">
                            <a:latin typeface="Cambria Math" panose="02040503050406030204" pitchFamily="18" charset="0"/>
                          </a:rPr>
                          <m:t>𝐹</m:t>
                        </m:r>
                        <m:r>
                          <a:rPr lang="en-US" altLang="zh-CN" i="1" smtClean="0">
                            <a:latin typeface="Cambria Math" panose="02040503050406030204" pitchFamily="18" charset="0"/>
                          </a:rPr>
                          <m:t> </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X</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i="1">
                                <a:latin typeface="Cambria Math" panose="02040503050406030204" pitchFamily="18" charset="0"/>
                              </a:rPr>
                              <m:t>𝑖</m:t>
                            </m:r>
                          </m:sub>
                        </m:sSub>
                        <m:r>
                          <a:rPr lang="en-US" altLang="zh-CN" i="1">
                            <a:latin typeface="Cambria Math" panose="02040503050406030204" pitchFamily="18" charset="0"/>
                          </a:rPr>
                          <m:t>)</m:t>
                        </m:r>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sub>
                        </m:sSub>
                      </m:den>
                    </m:f>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f>
                      <m:fPr>
                        <m:ctrlPr>
                          <a:rPr lang="en-US" altLang="zh-CN" i="1">
                            <a:latin typeface="Cambria Math" panose="02040503050406030204" pitchFamily="18" charset="0"/>
                          </a:rPr>
                        </m:ctrlPr>
                      </m:fPr>
                      <m:num>
                        <m:r>
                          <a:rPr lang="zh-CN" altLang="en-US" i="1">
                            <a:latin typeface="Cambria Math" panose="02040503050406030204" pitchFamily="18" charset="0"/>
                          </a:rPr>
                          <m:t>𝜕</m:t>
                        </m:r>
                        <m:r>
                          <a:rPr lang="en-US" altLang="zh-CN" b="0" i="1" smtClean="0">
                            <a:latin typeface="Cambria Math" panose="02040503050406030204" pitchFamily="18" charset="0"/>
                          </a:rPr>
                          <m:t>𝐹</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i="1">
                                    <a:latin typeface="Cambria Math" panose="02040503050406030204" pitchFamily="18" charset="0"/>
                                  </a:rPr>
                                  <m:t>𝑖</m:t>
                                </m:r>
                                <m:r>
                                  <a:rPr lang="en-US" altLang="zh-CN" i="1">
                                    <a:latin typeface="Cambria Math" panose="02040503050406030204" pitchFamily="18" charset="0"/>
                                  </a:rPr>
                                  <m:t>+1</m:t>
                                </m:r>
                              </m:sub>
                            </m:sSub>
                          </m:e>
                        </m:d>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sub>
                        </m:sSub>
                      </m:den>
                    </m:f>
                  </m:oMath>
                </a14:m>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449"/>
                </a:stretch>
              </a:blipFill>
            </p:spPr>
            <p:txBody>
              <a:bodyPr/>
              <a:lstStyle/>
              <a:p>
                <a:r>
                  <a:rPr lang="zh-CN" altLang="en-US">
                    <a:noFill/>
                  </a:rPr>
                  <a:t> </a:t>
                </a:r>
              </a:p>
            </p:txBody>
          </p:sp>
        </mc:Fallback>
      </mc:AlternateContent>
      <p:pic>
        <p:nvPicPr>
          <p:cNvPr id="4" name="图片 3"/>
          <p:cNvPicPr>
            <a:picLocks noChangeAspect="1"/>
          </p:cNvPicPr>
          <p:nvPr/>
        </p:nvPicPr>
        <p:blipFill>
          <a:blip r:embed="rId4"/>
          <a:stretch>
            <a:fillRect/>
          </a:stretch>
        </p:blipFill>
        <p:spPr>
          <a:xfrm>
            <a:off x="6091917" y="1130299"/>
            <a:ext cx="5428571" cy="1619048"/>
          </a:xfrm>
          <a:prstGeom prst="rect">
            <a:avLst/>
          </a:prstGeom>
        </p:spPr>
      </p:pic>
      <p:pic>
        <p:nvPicPr>
          <p:cNvPr id="6" name="图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3228" y="3927750"/>
            <a:ext cx="5371429" cy="2209524"/>
          </a:xfrm>
          <a:prstGeom prst="rect">
            <a:avLst/>
          </a:prstGeom>
        </p:spPr>
      </p:pic>
    </p:spTree>
    <p:extLst>
      <p:ext uri="{BB962C8B-B14F-4D97-AF65-F5344CB8AC3E}">
        <p14:creationId xmlns:p14="http://schemas.microsoft.com/office/powerpoint/2010/main" val="274573739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ResNet</a:t>
            </a:r>
            <a:endParaRPr lang="zh-CN" altLang="en-US" dirty="0"/>
          </a:p>
        </p:txBody>
      </p:sp>
      <p:sp>
        <p:nvSpPr>
          <p:cNvPr id="3" name="内容占位符 2"/>
          <p:cNvSpPr>
            <a:spLocks noGrp="1"/>
          </p:cNvSpPr>
          <p:nvPr>
            <p:ph sz="quarter" idx="13"/>
          </p:nvPr>
        </p:nvSpPr>
        <p:spPr/>
        <p:txBody>
          <a:bodyPr/>
          <a:lstStyle/>
          <a:p>
            <a:r>
              <a:rPr lang="zh-CN" altLang="en-US" dirty="0"/>
              <a:t>其他</a:t>
            </a:r>
            <a:r>
              <a:rPr lang="zh-CN" altLang="en-US" dirty="0" smtClean="0"/>
              <a:t>一些可以提升网络性能和效果的设计：</a:t>
            </a:r>
            <a:endParaRPr lang="en-US" altLang="zh-CN" dirty="0" smtClean="0"/>
          </a:p>
          <a:p>
            <a:pPr lvl="1"/>
            <a:r>
              <a:rPr lang="zh-CN" altLang="en-US" dirty="0" smtClean="0"/>
              <a:t>堆叠式残差结构</a:t>
            </a:r>
            <a:endParaRPr lang="en-US" altLang="zh-CN" dirty="0" smtClean="0"/>
          </a:p>
          <a:p>
            <a:pPr lvl="1"/>
            <a:r>
              <a:rPr lang="en-US" altLang="zh-CN" dirty="0" smtClean="0"/>
              <a:t>Bottleneck</a:t>
            </a:r>
            <a:r>
              <a:rPr lang="zh-CN" altLang="en-US" dirty="0" smtClean="0"/>
              <a:t>的设计方式</a:t>
            </a:r>
            <a:endParaRPr lang="en-US" altLang="zh-CN" dirty="0" smtClean="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7640" y="1130299"/>
            <a:ext cx="1595131" cy="5292560"/>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92771" y="2888323"/>
            <a:ext cx="4627715" cy="1769772"/>
          </a:xfrm>
          <a:prstGeom prst="rect">
            <a:avLst/>
          </a:prstGeom>
        </p:spPr>
      </p:pic>
      <p:sp>
        <p:nvSpPr>
          <p:cNvPr id="7" name="文本框 6"/>
          <p:cNvSpPr txBox="1"/>
          <p:nvPr/>
        </p:nvSpPr>
        <p:spPr>
          <a:xfrm>
            <a:off x="6892769" y="4658095"/>
            <a:ext cx="1608133" cy="369332"/>
          </a:xfrm>
          <a:prstGeom prst="rect">
            <a:avLst/>
          </a:prstGeom>
          <a:noFill/>
        </p:spPr>
        <p:txBody>
          <a:bodyPr wrap="none" rtlCol="0">
            <a:spAutoFit/>
          </a:bodyPr>
          <a:lstStyle/>
          <a:p>
            <a:r>
              <a:rPr lang="en-US" altLang="zh-CN" dirty="0" smtClean="0"/>
              <a:t>Building block</a:t>
            </a:r>
            <a:endParaRPr lang="zh-CN" altLang="en-US" dirty="0"/>
          </a:p>
        </p:txBody>
      </p:sp>
      <p:sp>
        <p:nvSpPr>
          <p:cNvPr id="8" name="文本框 7"/>
          <p:cNvSpPr txBox="1"/>
          <p:nvPr/>
        </p:nvSpPr>
        <p:spPr>
          <a:xfrm>
            <a:off x="9316038" y="4658095"/>
            <a:ext cx="2005677" cy="369332"/>
          </a:xfrm>
          <a:prstGeom prst="rect">
            <a:avLst/>
          </a:prstGeom>
          <a:noFill/>
        </p:spPr>
        <p:txBody>
          <a:bodyPr wrap="none" rtlCol="0">
            <a:spAutoFit/>
          </a:bodyPr>
          <a:lstStyle/>
          <a:p>
            <a:r>
              <a:rPr lang="en-US" altLang="zh-CN" dirty="0" smtClean="0"/>
              <a:t>Bottleneck design</a:t>
            </a:r>
            <a:endParaRPr lang="zh-CN" altLang="en-US" dirty="0"/>
          </a:p>
        </p:txBody>
      </p:sp>
    </p:spTree>
    <p:extLst>
      <p:ext uri="{BB962C8B-B14F-4D97-AF65-F5344CB8AC3E}">
        <p14:creationId xmlns:p14="http://schemas.microsoft.com/office/powerpoint/2010/main" val="289160600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常见卷积神经网络结构总结</a:t>
            </a:r>
            <a:endParaRPr lang="zh-CN" altLang="en-US" dirty="0"/>
          </a:p>
        </p:txBody>
      </p:sp>
      <p:pic>
        <p:nvPicPr>
          <p:cNvPr id="4" name="内容占位符 3"/>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758348" y="1786617"/>
            <a:ext cx="10673715" cy="3925253"/>
          </a:xfrm>
        </p:spPr>
      </p:pic>
      <p:sp>
        <p:nvSpPr>
          <p:cNvPr id="5" name="文本框 4"/>
          <p:cNvSpPr txBox="1"/>
          <p:nvPr/>
        </p:nvSpPr>
        <p:spPr>
          <a:xfrm>
            <a:off x="1730829" y="5711870"/>
            <a:ext cx="2954655" cy="369332"/>
          </a:xfrm>
          <a:prstGeom prst="rect">
            <a:avLst/>
          </a:prstGeom>
          <a:noFill/>
        </p:spPr>
        <p:txBody>
          <a:bodyPr wrap="none" rtlCol="0">
            <a:spAutoFit/>
          </a:bodyPr>
          <a:lstStyle/>
          <a:p>
            <a:r>
              <a:rPr lang="zh-CN" altLang="en-US" dirty="0" smtClean="0"/>
              <a:t>网络结构可达到的最高精度</a:t>
            </a:r>
            <a:endParaRPr lang="zh-CN" altLang="en-US" dirty="0"/>
          </a:p>
        </p:txBody>
      </p:sp>
      <p:sp>
        <p:nvSpPr>
          <p:cNvPr id="6" name="文本框 5"/>
          <p:cNvSpPr txBox="1"/>
          <p:nvPr/>
        </p:nvSpPr>
        <p:spPr>
          <a:xfrm>
            <a:off x="7249887" y="5711870"/>
            <a:ext cx="3647152" cy="369332"/>
          </a:xfrm>
          <a:prstGeom prst="rect">
            <a:avLst/>
          </a:prstGeom>
          <a:noFill/>
        </p:spPr>
        <p:txBody>
          <a:bodyPr wrap="none" rtlCol="0">
            <a:spAutoFit/>
          </a:bodyPr>
          <a:lstStyle/>
          <a:p>
            <a:r>
              <a:rPr lang="zh-CN" altLang="en-US" dirty="0" smtClean="0"/>
              <a:t>网络结构精度、计算量、内存消耗</a:t>
            </a:r>
            <a:endParaRPr lang="zh-CN" altLang="en-US" dirty="0"/>
          </a:p>
        </p:txBody>
      </p:sp>
    </p:spTree>
    <p:extLst>
      <p:ext uri="{BB962C8B-B14F-4D97-AF65-F5344CB8AC3E}">
        <p14:creationId xmlns:p14="http://schemas.microsoft.com/office/powerpoint/2010/main" val="16173349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其他网络结构</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en-US" altLang="zh-CN" dirty="0" err="1" smtClean="0"/>
              <a:t>ResNet</a:t>
            </a:r>
            <a:r>
              <a:rPr lang="zh-CN" altLang="en-US" dirty="0" smtClean="0"/>
              <a:t>的基础上，出现的一些其他的网络结构</a:t>
            </a:r>
            <a:endParaRPr lang="en-US" altLang="zh-CN" dirty="0" smtClean="0"/>
          </a:p>
          <a:p>
            <a:pPr lvl="1"/>
            <a:r>
              <a:rPr lang="en-US" altLang="zh-CN" dirty="0" smtClean="0"/>
              <a:t>Wide </a:t>
            </a:r>
            <a:r>
              <a:rPr lang="en-US" altLang="zh-CN" dirty="0" err="1" smtClean="0"/>
              <a:t>ResNet</a:t>
            </a:r>
            <a:endParaRPr lang="en-US" altLang="zh-CN" dirty="0" smtClean="0"/>
          </a:p>
          <a:p>
            <a:pPr lvl="1"/>
            <a:r>
              <a:rPr lang="en-US" altLang="zh-CN" dirty="0" err="1" smtClean="0"/>
              <a:t>ResNeXt</a:t>
            </a:r>
          </a:p>
          <a:p>
            <a:pPr lvl="1"/>
            <a:r>
              <a:rPr lang="en-US" altLang="zh-CN" dirty="0" err="1" smtClean="0"/>
              <a:t>DenseNet</a:t>
            </a:r>
            <a:endParaRPr lang="zh-CN" altLang="en-US" dirty="0"/>
          </a:p>
        </p:txBody>
      </p:sp>
    </p:spTree>
    <p:extLst>
      <p:ext uri="{BB962C8B-B14F-4D97-AF65-F5344CB8AC3E}">
        <p14:creationId xmlns:p14="http://schemas.microsoft.com/office/powerpoint/2010/main" val="29180723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其他网络结构</a:t>
            </a:r>
          </a:p>
        </p:txBody>
      </p:sp>
      <p:sp>
        <p:nvSpPr>
          <p:cNvPr id="3" name="内容占位符 2"/>
          <p:cNvSpPr>
            <a:spLocks noGrp="1"/>
          </p:cNvSpPr>
          <p:nvPr>
            <p:ph sz="quarter" idx="13"/>
          </p:nvPr>
        </p:nvSpPr>
        <p:spPr/>
        <p:txBody>
          <a:bodyPr/>
          <a:lstStyle/>
          <a:p>
            <a:r>
              <a:rPr lang="en-US" altLang="zh-CN" dirty="0" smtClean="0"/>
              <a:t>Wide </a:t>
            </a:r>
            <a:r>
              <a:rPr lang="en-US" altLang="zh-CN" dirty="0" err="1" smtClean="0"/>
              <a:t>ResNet</a:t>
            </a:r>
            <a:endParaRPr lang="en-US" altLang="zh-CN" dirty="0" smtClean="0"/>
          </a:p>
          <a:p>
            <a:pPr lvl="1"/>
            <a:r>
              <a:rPr lang="en-US" altLang="zh-CN" dirty="0" smtClean="0"/>
              <a:t>Wide </a:t>
            </a:r>
            <a:r>
              <a:rPr lang="en-US" altLang="zh-CN" dirty="0" err="1" smtClean="0"/>
              <a:t>ResNet</a:t>
            </a:r>
            <a:r>
              <a:rPr lang="zh-CN" altLang="en-US" dirty="0" smtClean="0"/>
              <a:t>由</a:t>
            </a:r>
            <a:r>
              <a:rPr lang="en-US" altLang="zh-CN" dirty="0" err="1" smtClean="0"/>
              <a:t>Zagoruyko</a:t>
            </a:r>
            <a:r>
              <a:rPr lang="zh-CN" altLang="en-US" dirty="0" smtClean="0"/>
              <a:t>等人于</a:t>
            </a:r>
            <a:r>
              <a:rPr lang="en-US" altLang="zh-CN" dirty="0" smtClean="0"/>
              <a:t>2016</a:t>
            </a:r>
            <a:r>
              <a:rPr lang="zh-CN" altLang="en-US" dirty="0" smtClean="0"/>
              <a:t>年提出</a:t>
            </a:r>
            <a:endParaRPr lang="en-US" altLang="zh-CN" dirty="0" smtClean="0"/>
          </a:p>
          <a:p>
            <a:pPr lvl="1"/>
            <a:r>
              <a:rPr lang="zh-CN" altLang="en-US" dirty="0" smtClean="0"/>
              <a:t>认为残差结构比深度更重要</a:t>
            </a:r>
            <a:endParaRPr lang="en-US" altLang="zh-CN" dirty="0" smtClean="0"/>
          </a:p>
          <a:p>
            <a:pPr lvl="1"/>
            <a:r>
              <a:rPr lang="zh-CN" altLang="en-US" dirty="0" smtClean="0"/>
              <a:t>设计了更宽的残差模块</a:t>
            </a:r>
            <a:endParaRPr lang="en-US" altLang="zh-CN" dirty="0" smtClean="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9151" y="1972807"/>
            <a:ext cx="5581337" cy="3321958"/>
          </a:xfrm>
          <a:prstGeom prst="rect">
            <a:avLst/>
          </a:prstGeom>
        </p:spPr>
      </p:pic>
    </p:spTree>
    <p:extLst>
      <p:ext uri="{BB962C8B-B14F-4D97-AF65-F5344CB8AC3E}">
        <p14:creationId xmlns:p14="http://schemas.microsoft.com/office/powerpoint/2010/main" val="4848019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其他网络结构</a:t>
            </a:r>
          </a:p>
        </p:txBody>
      </p:sp>
      <p:sp>
        <p:nvSpPr>
          <p:cNvPr id="3" name="内容占位符 2"/>
          <p:cNvSpPr>
            <a:spLocks noGrp="1"/>
          </p:cNvSpPr>
          <p:nvPr>
            <p:ph sz="quarter" idx="13"/>
          </p:nvPr>
        </p:nvSpPr>
        <p:spPr/>
        <p:txBody>
          <a:bodyPr/>
          <a:lstStyle/>
          <a:p>
            <a:r>
              <a:rPr lang="en-US" altLang="zh-CN" dirty="0" err="1"/>
              <a:t>ResNeXt</a:t>
            </a:r>
            <a:endParaRPr lang="en-US" altLang="zh-CN" dirty="0"/>
          </a:p>
          <a:p>
            <a:pPr lvl="1"/>
            <a:r>
              <a:rPr lang="en-US" altLang="zh-CN" dirty="0" err="1"/>
              <a:t>ResNeXt</a:t>
            </a:r>
            <a:r>
              <a:rPr lang="zh-CN" altLang="en-US" dirty="0"/>
              <a:t>由</a:t>
            </a:r>
            <a:r>
              <a:rPr lang="en-US" altLang="zh-CN" dirty="0" err="1"/>
              <a:t>Xie</a:t>
            </a:r>
            <a:r>
              <a:rPr lang="zh-CN" altLang="en-US" dirty="0"/>
              <a:t>等人于</a:t>
            </a:r>
            <a:r>
              <a:rPr lang="en-US" altLang="zh-CN" dirty="0"/>
              <a:t>2016</a:t>
            </a:r>
            <a:r>
              <a:rPr lang="zh-CN" altLang="en-US" dirty="0"/>
              <a:t>年提出</a:t>
            </a:r>
            <a:endParaRPr lang="en-US" altLang="zh-CN" dirty="0"/>
          </a:p>
          <a:p>
            <a:pPr lvl="1"/>
            <a:r>
              <a:rPr lang="zh-CN" altLang="en-US" dirty="0"/>
              <a:t>在</a:t>
            </a:r>
            <a:r>
              <a:rPr lang="en-US" altLang="zh-CN" dirty="0" err="1"/>
              <a:t>ResNet</a:t>
            </a:r>
            <a:r>
              <a:rPr lang="zh-CN" altLang="en-US" dirty="0"/>
              <a:t>基础上增加</a:t>
            </a:r>
            <a:r>
              <a:rPr lang="en-US" altLang="zh-CN" dirty="0"/>
              <a:t>inception</a:t>
            </a:r>
            <a:r>
              <a:rPr lang="zh-CN" altLang="en-US" dirty="0"/>
              <a:t>个数扩展残差模块</a:t>
            </a: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4915" y="2464804"/>
            <a:ext cx="7035574" cy="3672470"/>
          </a:xfrm>
          <a:prstGeom prst="rect">
            <a:avLst/>
          </a:prstGeom>
        </p:spPr>
      </p:pic>
    </p:spTree>
    <p:extLst>
      <p:ext uri="{BB962C8B-B14F-4D97-AF65-F5344CB8AC3E}">
        <p14:creationId xmlns:p14="http://schemas.microsoft.com/office/powerpoint/2010/main" val="356435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其他网络结构</a:t>
            </a:r>
            <a:endParaRPr lang="zh-CN" altLang="en-US" dirty="0"/>
          </a:p>
        </p:txBody>
      </p:sp>
      <p:sp>
        <p:nvSpPr>
          <p:cNvPr id="3" name="内容占位符 2"/>
          <p:cNvSpPr>
            <a:spLocks noGrp="1"/>
          </p:cNvSpPr>
          <p:nvPr>
            <p:ph sz="quarter" idx="13"/>
          </p:nvPr>
        </p:nvSpPr>
        <p:spPr/>
        <p:txBody>
          <a:bodyPr/>
          <a:lstStyle/>
          <a:p>
            <a:r>
              <a:rPr lang="en-US" altLang="zh-CN" dirty="0" err="1" smtClean="0"/>
              <a:t>DenseNet</a:t>
            </a:r>
            <a:endParaRPr lang="en-US" altLang="zh-CN" dirty="0" smtClean="0"/>
          </a:p>
          <a:p>
            <a:pPr lvl="1"/>
            <a:r>
              <a:rPr lang="en-US" altLang="zh-CN" dirty="0" err="1" smtClean="0"/>
              <a:t>DenseNet</a:t>
            </a:r>
            <a:r>
              <a:rPr lang="zh-CN" altLang="en-US" dirty="0" smtClean="0"/>
              <a:t>由</a:t>
            </a:r>
            <a:r>
              <a:rPr lang="en-US" altLang="zh-CN" dirty="0" smtClean="0"/>
              <a:t>Huang</a:t>
            </a:r>
            <a:r>
              <a:rPr lang="zh-CN" altLang="en-US" dirty="0" smtClean="0"/>
              <a:t>等人于</a:t>
            </a:r>
            <a:r>
              <a:rPr lang="en-US" altLang="zh-CN" dirty="0" smtClean="0"/>
              <a:t>2017</a:t>
            </a:r>
            <a:r>
              <a:rPr lang="zh-CN" altLang="en-US" dirty="0" smtClean="0"/>
              <a:t>年提出</a:t>
            </a:r>
            <a:endParaRPr lang="en-US" altLang="zh-CN" dirty="0" smtClean="0"/>
          </a:p>
          <a:p>
            <a:pPr lvl="1"/>
            <a:r>
              <a:rPr lang="zh-CN" altLang="en-US" dirty="0"/>
              <a:t>每</a:t>
            </a:r>
            <a:r>
              <a:rPr lang="zh-CN" altLang="en-US" dirty="0" smtClean="0"/>
              <a:t>一层都与其他层相关联</a:t>
            </a:r>
            <a:endParaRPr lang="en-US" altLang="zh-CN" dirty="0" smtClean="0"/>
          </a:p>
          <a:p>
            <a:pPr lvl="1"/>
            <a:r>
              <a:rPr lang="zh-CN" altLang="en-US" dirty="0" smtClean="0"/>
              <a:t>大大减轻梯度消失的问题</a:t>
            </a:r>
            <a:endParaRPr lang="en-US" altLang="zh-CN" dirty="0" smtClean="0"/>
          </a:p>
          <a:p>
            <a:pPr lvl="1"/>
            <a:r>
              <a:rPr lang="zh-CN" altLang="en-US" dirty="0" smtClean="0"/>
              <a:t>在跨</a:t>
            </a:r>
            <a:r>
              <a:rPr lang="zh-CN" altLang="en-US" dirty="0"/>
              <a:t>层</a:t>
            </a:r>
            <a:r>
              <a:rPr lang="zh-CN" altLang="en-US" dirty="0" smtClean="0"/>
              <a:t>连接</a:t>
            </a:r>
            <a:r>
              <a:rPr lang="zh-CN" altLang="en-US" dirty="0"/>
              <a:t>上</a:t>
            </a:r>
            <a:r>
              <a:rPr lang="zh-CN" altLang="en-US" dirty="0" smtClean="0"/>
              <a:t>使用</a:t>
            </a:r>
            <a:r>
              <a:rPr lang="zh-CN" altLang="en-US" dirty="0"/>
              <a:t>相连接</a:t>
            </a:r>
            <a:r>
              <a:rPr lang="zh-CN" altLang="en-US" dirty="0" smtClean="0"/>
              <a:t>的方法替代相加</a:t>
            </a:r>
            <a:endParaRPr lang="en-US" altLang="zh-CN" dirty="0" smtClean="0"/>
          </a:p>
          <a:p>
            <a:pPr lvl="1"/>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1148" y="1687965"/>
            <a:ext cx="5248275" cy="4048125"/>
          </a:xfrm>
          <a:prstGeom prst="rect">
            <a:avLst/>
          </a:prstGeom>
        </p:spPr>
      </p:pic>
    </p:spTree>
    <p:extLst>
      <p:ext uri="{BB962C8B-B14F-4D97-AF65-F5344CB8AC3E}">
        <p14:creationId xmlns:p14="http://schemas.microsoft.com/office/powerpoint/2010/main" val="34718865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其他网络结构</a:t>
            </a:r>
            <a:endParaRPr lang="zh-CN" altLang="en-US" dirty="0"/>
          </a:p>
        </p:txBody>
      </p:sp>
      <p:sp>
        <p:nvSpPr>
          <p:cNvPr id="3" name="内容占位符 2"/>
          <p:cNvSpPr>
            <a:spLocks noGrp="1"/>
          </p:cNvSpPr>
          <p:nvPr>
            <p:ph sz="quarter" idx="13"/>
          </p:nvPr>
        </p:nvSpPr>
        <p:spPr/>
        <p:txBody>
          <a:bodyPr/>
          <a:lstStyle/>
          <a:p>
            <a:r>
              <a:rPr lang="en-US" altLang="zh-CN" dirty="0" err="1" smtClean="0"/>
              <a:t>DenseNet</a:t>
            </a:r>
            <a:r>
              <a:rPr lang="zh-CN" altLang="en-US" dirty="0" smtClean="0"/>
              <a:t>与</a:t>
            </a:r>
            <a:r>
              <a:rPr lang="en-US" altLang="zh-CN" dirty="0" err="1" smtClean="0"/>
              <a:t>ResNet</a:t>
            </a:r>
            <a:r>
              <a:rPr lang="zh-CN" altLang="en-US" dirty="0" smtClean="0"/>
              <a:t>比较</a:t>
            </a:r>
            <a:endParaRPr lang="en-US" altLang="zh-CN" dirty="0" smtClean="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9147" y="1130299"/>
            <a:ext cx="5831341" cy="2016672"/>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9146" y="3415982"/>
            <a:ext cx="5831341" cy="2721292"/>
          </a:xfrm>
          <a:prstGeom prst="rect">
            <a:avLst/>
          </a:prstGeom>
        </p:spPr>
      </p:pic>
      <p:sp>
        <p:nvSpPr>
          <p:cNvPr id="6" name="文本框 5"/>
          <p:cNvSpPr txBox="1"/>
          <p:nvPr/>
        </p:nvSpPr>
        <p:spPr>
          <a:xfrm>
            <a:off x="8146998" y="3096811"/>
            <a:ext cx="954107" cy="369332"/>
          </a:xfrm>
          <a:prstGeom prst="rect">
            <a:avLst/>
          </a:prstGeom>
          <a:noFill/>
        </p:spPr>
        <p:txBody>
          <a:bodyPr wrap="none" rtlCol="0">
            <a:spAutoFit/>
          </a:bodyPr>
          <a:lstStyle/>
          <a:p>
            <a:r>
              <a:rPr lang="en-US" altLang="zh-CN" dirty="0" err="1" smtClean="0"/>
              <a:t>ResNet</a:t>
            </a:r>
            <a:endParaRPr lang="zh-CN" altLang="en-US" dirty="0"/>
          </a:p>
        </p:txBody>
      </p:sp>
      <p:sp>
        <p:nvSpPr>
          <p:cNvPr id="7" name="文本框 6"/>
          <p:cNvSpPr txBox="1"/>
          <p:nvPr/>
        </p:nvSpPr>
        <p:spPr>
          <a:xfrm>
            <a:off x="8018757" y="6124119"/>
            <a:ext cx="1210588" cy="369332"/>
          </a:xfrm>
          <a:prstGeom prst="rect">
            <a:avLst/>
          </a:prstGeom>
          <a:noFill/>
        </p:spPr>
        <p:txBody>
          <a:bodyPr wrap="none" rtlCol="0">
            <a:spAutoFit/>
          </a:bodyPr>
          <a:lstStyle/>
          <a:p>
            <a:r>
              <a:rPr lang="en-US" altLang="zh-CN" dirty="0" err="1" smtClean="0"/>
              <a:t>DenseNet</a:t>
            </a:r>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4012712309"/>
              </p:ext>
            </p:extLst>
          </p:nvPr>
        </p:nvGraphicFramePr>
        <p:xfrm>
          <a:off x="749535" y="1613451"/>
          <a:ext cx="4860000" cy="1483360"/>
        </p:xfrm>
        <a:graphic>
          <a:graphicData uri="http://schemas.openxmlformats.org/drawingml/2006/table">
            <a:tbl>
              <a:tblPr firstRow="1" bandRow="1">
                <a:tableStyleId>{5940675A-B579-460E-94D1-54222C63F5DA}</a:tableStyleId>
              </a:tblPr>
              <a:tblGrid>
                <a:gridCol w="1260000"/>
                <a:gridCol w="1800000"/>
                <a:gridCol w="1800000"/>
              </a:tblGrid>
              <a:tr h="370840">
                <a:tc>
                  <a:txBody>
                    <a:bodyPr/>
                    <a:lstStyle/>
                    <a:p>
                      <a:endParaRPr lang="zh-CN" altLang="en-US" dirty="0"/>
                    </a:p>
                  </a:txBody>
                  <a:tcPr/>
                </a:tc>
                <a:tc>
                  <a:txBody>
                    <a:bodyPr/>
                    <a:lstStyle/>
                    <a:p>
                      <a:r>
                        <a:rPr lang="en-US" altLang="zh-CN" dirty="0" err="1" smtClean="0"/>
                        <a:t>ResNet</a:t>
                      </a:r>
                      <a:endParaRPr lang="zh-CN" altLang="en-US" dirty="0"/>
                    </a:p>
                  </a:txBody>
                  <a:tcPr/>
                </a:tc>
                <a:tc>
                  <a:txBody>
                    <a:bodyPr/>
                    <a:lstStyle/>
                    <a:p>
                      <a:r>
                        <a:rPr lang="en-US" altLang="zh-CN" dirty="0" err="1" smtClean="0"/>
                        <a:t>DenseNet</a:t>
                      </a:r>
                      <a:endParaRPr lang="zh-CN" altLang="en-US" dirty="0"/>
                    </a:p>
                  </a:txBody>
                  <a:tcPr/>
                </a:tc>
              </a:tr>
              <a:tr h="370840">
                <a:tc>
                  <a:txBody>
                    <a:bodyPr/>
                    <a:lstStyle/>
                    <a:p>
                      <a:r>
                        <a:rPr lang="zh-CN" altLang="en-US" dirty="0" smtClean="0"/>
                        <a:t>拼接方式</a:t>
                      </a:r>
                      <a:endParaRPr lang="zh-CN" altLang="en-US" dirty="0"/>
                    </a:p>
                  </a:txBody>
                  <a:tcPr/>
                </a:tc>
                <a:tc>
                  <a:txBody>
                    <a:bodyPr/>
                    <a:lstStyle/>
                    <a:p>
                      <a:r>
                        <a:rPr lang="en-US" altLang="zh-CN" dirty="0" smtClean="0"/>
                        <a:t>Element</a:t>
                      </a:r>
                      <a:r>
                        <a:rPr lang="en-US" altLang="zh-CN" baseline="0" dirty="0" smtClean="0"/>
                        <a:t> </a:t>
                      </a:r>
                      <a:r>
                        <a:rPr lang="en-US" altLang="zh-CN" dirty="0" smtClean="0"/>
                        <a:t>add</a:t>
                      </a:r>
                      <a:endParaRPr lang="zh-CN" altLang="en-US" dirty="0"/>
                    </a:p>
                  </a:txBody>
                  <a:tcPr/>
                </a:tc>
                <a:tc>
                  <a:txBody>
                    <a:bodyPr/>
                    <a:lstStyle/>
                    <a:p>
                      <a:r>
                        <a:rPr lang="en-US" altLang="zh-CN" dirty="0" smtClean="0"/>
                        <a:t>Concatenate</a:t>
                      </a:r>
                      <a:endParaRPr lang="zh-CN" altLang="en-US" dirty="0"/>
                    </a:p>
                  </a:txBody>
                  <a:tcPr/>
                </a:tc>
              </a:tr>
              <a:tr h="370840">
                <a:tc>
                  <a:txBody>
                    <a:bodyPr/>
                    <a:lstStyle/>
                    <a:p>
                      <a:r>
                        <a:rPr lang="zh-CN" altLang="en-US" dirty="0" smtClean="0"/>
                        <a:t>训练速度</a:t>
                      </a:r>
                      <a:endParaRPr lang="zh-CN" altLang="en-US" dirty="0"/>
                    </a:p>
                  </a:txBody>
                  <a:tcPr/>
                </a:tc>
                <a:tc>
                  <a:txBody>
                    <a:bodyPr/>
                    <a:lstStyle/>
                    <a:p>
                      <a:r>
                        <a:rPr lang="zh-CN" altLang="en-US" dirty="0" smtClean="0"/>
                        <a:t>快</a:t>
                      </a:r>
                      <a:endParaRPr lang="zh-CN" altLang="en-US" dirty="0"/>
                    </a:p>
                  </a:txBody>
                  <a:tcPr/>
                </a:tc>
                <a:tc>
                  <a:txBody>
                    <a:bodyPr/>
                    <a:lstStyle/>
                    <a:p>
                      <a:r>
                        <a:rPr lang="zh-CN" altLang="en-US" dirty="0" smtClean="0"/>
                        <a:t>慢</a:t>
                      </a:r>
                      <a:endParaRPr lang="zh-CN" altLang="en-US" dirty="0"/>
                    </a:p>
                  </a:txBody>
                  <a:tcPr/>
                </a:tc>
              </a:tr>
              <a:tr h="370840">
                <a:tc>
                  <a:txBody>
                    <a:bodyPr/>
                    <a:lstStyle/>
                    <a:p>
                      <a:r>
                        <a:rPr lang="zh-CN" altLang="en-US" dirty="0" smtClean="0"/>
                        <a:t>参数量</a:t>
                      </a:r>
                      <a:endParaRPr lang="zh-CN" altLang="en-US" dirty="0"/>
                    </a:p>
                  </a:txBody>
                  <a:tcPr/>
                </a:tc>
                <a:tc>
                  <a:txBody>
                    <a:bodyPr/>
                    <a:lstStyle/>
                    <a:p>
                      <a:r>
                        <a:rPr lang="zh-CN" altLang="en-US" dirty="0" smtClean="0"/>
                        <a:t>多</a:t>
                      </a:r>
                      <a:endParaRPr lang="zh-CN" altLang="en-US" dirty="0"/>
                    </a:p>
                  </a:txBody>
                  <a:tcPr/>
                </a:tc>
                <a:tc>
                  <a:txBody>
                    <a:bodyPr/>
                    <a:lstStyle/>
                    <a:p>
                      <a:r>
                        <a:rPr lang="zh-CN" altLang="en-US" dirty="0" smtClean="0"/>
                        <a:t>少</a:t>
                      </a:r>
                      <a:endParaRPr lang="zh-CN" altLang="en-US" dirty="0"/>
                    </a:p>
                  </a:txBody>
                  <a:tcPr/>
                </a:tc>
              </a:tr>
            </a:tbl>
          </a:graphicData>
        </a:graphic>
      </p:graphicFrame>
    </p:spTree>
    <p:extLst>
      <p:ext uri="{BB962C8B-B14F-4D97-AF65-F5344CB8AC3E}">
        <p14:creationId xmlns:p14="http://schemas.microsoft.com/office/powerpoint/2010/main" val="22365870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目标检测的基本原理</a:t>
            </a:r>
            <a:endParaRPr lang="en-US" altLang="zh-CN" dirty="0" smtClean="0"/>
          </a:p>
          <a:p>
            <a:r>
              <a:rPr lang="zh-CN" altLang="en-US" dirty="0"/>
              <a:t>卷积</a:t>
            </a:r>
            <a:r>
              <a:rPr lang="zh-CN" altLang="en-US" dirty="0" smtClean="0"/>
              <a:t>神经网络各层的作用及原理</a:t>
            </a:r>
            <a:endParaRPr lang="en-US" altLang="zh-CN" dirty="0" smtClean="0"/>
          </a:p>
          <a:p>
            <a:r>
              <a:rPr lang="zh-CN" altLang="en-US" dirty="0" smtClean="0"/>
              <a:t>卷积计算</a:t>
            </a:r>
            <a:endParaRPr lang="en-US" altLang="zh-CN" dirty="0" smtClean="0"/>
          </a:p>
          <a:p>
            <a:r>
              <a:rPr lang="zh-CN" altLang="en-US" dirty="0" smtClean="0"/>
              <a:t>几种常用的卷积神经网络结构</a:t>
            </a:r>
            <a:endParaRPr lang="en-US" altLang="zh-CN" dirty="0" smtClean="0"/>
          </a:p>
          <a:p>
            <a:endParaRPr lang="en-US" altLang="zh-CN" dirty="0"/>
          </a:p>
          <a:p>
            <a:endParaRPr lang="zh-CN" altLang="en-US" dirty="0"/>
          </a:p>
        </p:txBody>
      </p:sp>
    </p:spTree>
    <p:extLst>
      <p:ext uri="{BB962C8B-B14F-4D97-AF65-F5344CB8AC3E}">
        <p14:creationId xmlns:p14="http://schemas.microsoft.com/office/powerpoint/2010/main" val="24237112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 xmlns:a16="http://schemas.microsoft.com/office/drawing/2014/main"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 xmlns:a16="http://schemas.microsoft.com/office/drawing/2014/main"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dk1"/>
        </a:lnRef>
        <a:fillRef idx="1">
          <a:schemeClr val="lt1"/>
        </a:fillRef>
        <a:effectRef idx="0">
          <a:schemeClr val="dk1"/>
        </a:effectRef>
        <a:fontRef idx="minor">
          <a:schemeClr val="dk1"/>
        </a:fontRef>
      </a:style>
    </a:spDef>
    <a:lnDef>
      <a:spPr>
        <a:ln>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1753</TotalTime>
  <Words>11188</Words>
  <Application>Microsoft Office PowerPoint</Application>
  <PresentationFormat>宽屏</PresentationFormat>
  <Paragraphs>1165</Paragraphs>
  <Slides>62</Slides>
  <Notes>53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62</vt:i4>
      </vt:variant>
    </vt:vector>
  </HeadingPairs>
  <TitlesOfParts>
    <vt:vector size="73" baseType="lpstr">
      <vt:lpstr>等线</vt:lpstr>
      <vt:lpstr>宋体</vt:lpstr>
      <vt:lpstr>微软雅黑</vt:lpstr>
      <vt:lpstr>Arial</vt:lpstr>
      <vt:lpstr>Calibri</vt:lpstr>
      <vt:lpstr>Cambria Math</vt:lpstr>
      <vt:lpstr>Ebrima</vt:lpstr>
      <vt:lpstr>Symbol</vt:lpstr>
      <vt:lpstr>Wingdings</vt:lpstr>
      <vt:lpstr>Wingdings 2</vt:lpstr>
      <vt:lpstr>主题5</vt:lpstr>
      <vt:lpstr>目标检测的准备</vt:lpstr>
      <vt:lpstr>课程目标</vt:lpstr>
      <vt:lpstr>PowerPoint 演示文稿</vt:lpstr>
      <vt:lpstr>/01</vt:lpstr>
      <vt:lpstr>卷积神经网络基础</vt:lpstr>
      <vt:lpstr>卷积神经网络基础</vt:lpstr>
      <vt:lpstr>卷积层</vt:lpstr>
      <vt:lpstr>卷积核</vt:lpstr>
      <vt:lpstr>卷积计算</vt:lpstr>
      <vt:lpstr>卷积计算示例</vt:lpstr>
      <vt:lpstr>卷积计算示例</vt:lpstr>
      <vt:lpstr>卷积计算示例</vt:lpstr>
      <vt:lpstr>卷积计算示例</vt:lpstr>
      <vt:lpstr>卷积计算示例</vt:lpstr>
      <vt:lpstr>步长</vt:lpstr>
      <vt:lpstr>步长</vt:lpstr>
      <vt:lpstr>步长</vt:lpstr>
      <vt:lpstr>步长</vt:lpstr>
      <vt:lpstr>填充</vt:lpstr>
      <vt:lpstr>填充</vt:lpstr>
      <vt:lpstr>步长与填充总结</vt:lpstr>
      <vt:lpstr>步长与填充总结</vt:lpstr>
      <vt:lpstr>步长与填充总结</vt:lpstr>
      <vt:lpstr>激活层</vt:lpstr>
      <vt:lpstr>池化层</vt:lpstr>
      <vt:lpstr>池化层计算</vt:lpstr>
      <vt:lpstr>池化层</vt:lpstr>
      <vt:lpstr>全连接层</vt:lpstr>
      <vt:lpstr>全连接层</vt:lpstr>
      <vt:lpstr>三维数据的卷积运算</vt:lpstr>
      <vt:lpstr>三维数据的卷积运算</vt:lpstr>
      <vt:lpstr>批规范化层</vt:lpstr>
      <vt:lpstr>批规范化处理流程</vt:lpstr>
      <vt:lpstr>批规范化处理</vt:lpstr>
      <vt:lpstr>Dropout层</vt:lpstr>
      <vt:lpstr>卷积神经网络总结</vt:lpstr>
      <vt:lpstr>/02</vt:lpstr>
      <vt:lpstr>常见卷积神经网络结构</vt:lpstr>
      <vt:lpstr>LeNet神经网络</vt:lpstr>
      <vt:lpstr>LeNet神经网络</vt:lpstr>
      <vt:lpstr>AlexNet神经网络</vt:lpstr>
      <vt:lpstr>AlexNet神经网络</vt:lpstr>
      <vt:lpstr>AlexNet神经网络</vt:lpstr>
      <vt:lpstr>VGG神经网络</vt:lpstr>
      <vt:lpstr>VGG神经网络</vt:lpstr>
      <vt:lpstr>GoogLeNet神经网络</vt:lpstr>
      <vt:lpstr>GoogLeNet神经网络</vt:lpstr>
      <vt:lpstr>GoogLeNet神经网络</vt:lpstr>
      <vt:lpstr>GoogLeNet神经网络</vt:lpstr>
      <vt:lpstr>GoogLeNet神经网络</vt:lpstr>
      <vt:lpstr>GoogleNet神经网络</vt:lpstr>
      <vt:lpstr>ResNet</vt:lpstr>
      <vt:lpstr>ResNet</vt:lpstr>
      <vt:lpstr>ResNet</vt:lpstr>
      <vt:lpstr>常见卷积神经网络结构总结</vt:lpstr>
      <vt:lpstr>其他网络结构</vt:lpstr>
      <vt:lpstr>其他网络结构</vt:lpstr>
      <vt:lpstr>其他网络结构</vt:lpstr>
      <vt:lpstr>其他网络结构</vt:lpstr>
      <vt:lpstr>其他网络结构</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107</cp:revision>
  <cp:lastPrinted>2018-09-20T16:00:00Z</cp:lastPrinted>
  <dcterms:created xsi:type="dcterms:W3CDTF">2022-06-27T01:42:48Z</dcterms:created>
  <dcterms:modified xsi:type="dcterms:W3CDTF">2022-12-27T09:12:34Z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