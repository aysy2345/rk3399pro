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258" r:id="rId2"/>
    <p:sldId id="265" r:id="rId3"/>
    <p:sldId id="262" r:id="rId4"/>
    <p:sldId id="257" r:id="rId5"/>
    <p:sldId id="260" r:id="rId6"/>
    <p:sldId id="303" r:id="rId7"/>
    <p:sldId id="266" r:id="rId8"/>
    <p:sldId id="270" r:id="rId9"/>
    <p:sldId id="267" r:id="rId10"/>
    <p:sldId id="271" r:id="rId11"/>
    <p:sldId id="274" r:id="rId12"/>
    <p:sldId id="279" r:id="rId13"/>
    <p:sldId id="284" r:id="rId14"/>
    <p:sldId id="285" r:id="rId15"/>
    <p:sldId id="286" r:id="rId16"/>
    <p:sldId id="288" r:id="rId17"/>
    <p:sldId id="287" r:id="rId18"/>
    <p:sldId id="289" r:id="rId19"/>
    <p:sldId id="290" r:id="rId20"/>
    <p:sldId id="275" r:id="rId21"/>
    <p:sldId id="280" r:id="rId22"/>
    <p:sldId id="291" r:id="rId23"/>
    <p:sldId id="276" r:id="rId24"/>
    <p:sldId id="281" r:id="rId25"/>
    <p:sldId id="292" r:id="rId26"/>
    <p:sldId id="277" r:id="rId27"/>
    <p:sldId id="282" r:id="rId28"/>
    <p:sldId id="294" r:id="rId29"/>
    <p:sldId id="295" r:id="rId30"/>
    <p:sldId id="278" r:id="rId31"/>
    <p:sldId id="283" r:id="rId32"/>
    <p:sldId id="296" r:id="rId33"/>
    <p:sldId id="297" r:id="rId34"/>
    <p:sldId id="298" r:id="rId35"/>
    <p:sldId id="299" r:id="rId36"/>
    <p:sldId id="300" r:id="rId37"/>
    <p:sldId id="301" r:id="rId38"/>
    <p:sldId id="302" r:id="rId39"/>
    <p:sldId id="268" r:id="rId40"/>
    <p:sldId id="272" r:id="rId41"/>
    <p:sldId id="264" r:id="rId42"/>
    <p:sldId id="261" r:id="rId43"/>
  </p:sldIdLst>
  <p:sldSz cx="12192000" cy="6858000"/>
  <p:notesSz cx="6858000" cy="9144000"/>
  <p:custDataLst>
    <p:tags r:id="rId46"/>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9965" autoAdjust="0"/>
  </p:normalViewPr>
  <p:slideViewPr>
    <p:cSldViewPr snapToGrid="0" showGuides="1">
      <p:cViewPr varScale="1">
        <p:scale>
          <a:sx n="104" d="100"/>
          <a:sy n="104" d="100"/>
        </p:scale>
        <p:origin x="774" y="90"/>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t>程序代码介绍</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85000"/>
                </a:schemeClr>
              </a:solidFill>
            </a:rPr>
            <a:t>图像翻转</a:t>
          </a:r>
          <a:endParaRPr lang="zh-CN" altLang="en-US" dirty="0">
            <a:solidFill>
              <a:schemeClr val="bg1">
                <a:lumMod val="8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图像旋转</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图像亮度对比度变换</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49B80CC1-DD4E-43F1-B203-0023B7BA1158}">
      <dgm:prSet/>
      <dgm:spPr/>
      <dgm:t>
        <a:bodyPr/>
        <a:lstStyle/>
        <a:p>
          <a:r>
            <a:rPr lang="zh-CN" altLang="en-US" dirty="0" smtClean="0">
              <a:solidFill>
                <a:schemeClr val="bg1">
                  <a:lumMod val="85000"/>
                </a:schemeClr>
              </a:solidFill>
            </a:rPr>
            <a:t>数据检验</a:t>
          </a:r>
          <a:endParaRPr lang="zh-CN" altLang="en-US" dirty="0">
            <a:solidFill>
              <a:schemeClr val="bg1">
                <a:lumMod val="85000"/>
              </a:schemeClr>
            </a:solidFill>
          </a:endParaRPr>
        </a:p>
      </dgm:t>
    </dgm:pt>
    <dgm:pt modelId="{3DE423A4-ACB8-471E-8238-99FF7CA8FBF5}" type="parTrans" cxnId="{6E54F5E2-A25B-4EBC-86C9-4055291AE7DC}">
      <dgm:prSet/>
      <dgm:spPr/>
      <dgm:t>
        <a:bodyPr/>
        <a:lstStyle/>
        <a:p>
          <a:endParaRPr lang="zh-CN" altLang="en-US"/>
        </a:p>
      </dgm:t>
    </dgm:pt>
    <dgm:pt modelId="{0682EFB9-5EC9-452E-B73F-BD5EFDE59161}" type="sibTrans" cxnId="{6E54F5E2-A25B-4EBC-86C9-4055291AE7DC}">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DEDE159F-2CF2-4AE8-AD83-652E4B27D2D9}" type="pres">
      <dgm:prSet presAssocID="{FA81CD99-4C17-4421-BECF-3D861154DBDD}" presName="parTxOnlySpace" presStyleCnt="0"/>
      <dgm:spPr/>
    </dgm:pt>
    <dgm:pt modelId="{D5890DF0-C50E-4039-A158-5D7D95FCE67F}" type="pres">
      <dgm:prSet presAssocID="{49B80CC1-DD4E-43F1-B203-0023B7BA1158}"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B35B0B15-9288-432E-971D-794EF457547C}" type="presOf" srcId="{314AE731-DFBF-4A5B-8171-86B7AA2F2858}" destId="{5653E5CF-63C1-4886-9DFE-DC4B36C44A33}" srcOrd="0" destOrd="0" presId="urn:microsoft.com/office/officeart/2005/8/layout/chevron1"/>
    <dgm:cxn modelId="{6E54F5E2-A25B-4EBC-86C9-4055291AE7DC}" srcId="{314AE731-DFBF-4A5B-8171-86B7AA2F2858}" destId="{49B80CC1-DD4E-43F1-B203-0023B7BA1158}" srcOrd="4" destOrd="0" parTransId="{3DE423A4-ACB8-471E-8238-99FF7CA8FBF5}" sibTransId="{0682EFB9-5EC9-452E-B73F-BD5EFDE59161}"/>
    <dgm:cxn modelId="{9D3FE869-B094-4FEF-B1F4-DBD2082FF8A0}" type="presOf" srcId="{211D359A-E621-4AEC-B365-EBCECA4D5608}" destId="{50739AC9-FC4E-42C3-B62E-1016634A724A}" srcOrd="0" destOrd="0" presId="urn:microsoft.com/office/officeart/2005/8/layout/chevron1"/>
    <dgm:cxn modelId="{6B20F624-BD21-4BE4-931C-2FF51C8C896C}" type="presOf" srcId="{BEAB6AAF-246B-444D-90D9-FB867EA43595}" destId="{FC4CA3E0-7A9C-47CB-88C9-7F81B89FD5AA}"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66638CAC-123E-4530-BEDD-30FADC271D64}" srcId="{314AE731-DFBF-4A5B-8171-86B7AA2F2858}" destId="{3F9AE8EF-E0BD-4A86-A1DC-73AF72B43E8D}" srcOrd="1" destOrd="0" parTransId="{5F12A6E5-E57E-4059-894D-D3A3846C30F2}" sibTransId="{7CE50C93-6A94-4F11-A61C-2C90215515AB}"/>
    <dgm:cxn modelId="{D096C6CA-ED3A-4F81-B795-074A3A359CE0}" type="presOf" srcId="{3F9AE8EF-E0BD-4A86-A1DC-73AF72B43E8D}" destId="{2147596E-7442-41E7-9852-40E25C424996}"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FEB94636-DBCD-4D7F-A7D5-43ED72C42F03}" type="presOf" srcId="{C6C44482-D821-4FAE-BB52-29931F8BCBDE}" destId="{E2DC7CE9-31B9-4959-914F-451EA2F3687E}" srcOrd="0" destOrd="0" presId="urn:microsoft.com/office/officeart/2005/8/layout/chevron1"/>
    <dgm:cxn modelId="{3BB20B52-16BC-4C88-ACE8-DA7E96A37399}" type="presOf" srcId="{49B80CC1-DD4E-43F1-B203-0023B7BA1158}" destId="{D5890DF0-C50E-4039-A158-5D7D95FCE67F}" srcOrd="0" destOrd="0" presId="urn:microsoft.com/office/officeart/2005/8/layout/chevron1"/>
    <dgm:cxn modelId="{C34A5262-5BA9-41CF-9607-C23B2D59E3F0}" type="presParOf" srcId="{5653E5CF-63C1-4886-9DFE-DC4B36C44A33}" destId="{FC4CA3E0-7A9C-47CB-88C9-7F81B89FD5AA}" srcOrd="0" destOrd="0" presId="urn:microsoft.com/office/officeart/2005/8/layout/chevron1"/>
    <dgm:cxn modelId="{46D6B07E-15BD-47B6-9B6C-E8C9D0D86798}" type="presParOf" srcId="{5653E5CF-63C1-4886-9DFE-DC4B36C44A33}" destId="{ED8D2DC7-F6B9-49A1-A3FB-6645AA0B27C9}" srcOrd="1" destOrd="0" presId="urn:microsoft.com/office/officeart/2005/8/layout/chevron1"/>
    <dgm:cxn modelId="{D3E92C7A-7A0D-41AF-AE4D-41892C590642}" type="presParOf" srcId="{5653E5CF-63C1-4886-9DFE-DC4B36C44A33}" destId="{2147596E-7442-41E7-9852-40E25C424996}" srcOrd="2" destOrd="0" presId="urn:microsoft.com/office/officeart/2005/8/layout/chevron1"/>
    <dgm:cxn modelId="{F234FC4D-57F1-47D2-BDD9-7E57F9EBB0E4}" type="presParOf" srcId="{5653E5CF-63C1-4886-9DFE-DC4B36C44A33}" destId="{78A125B0-FC96-47C5-ADBC-5773E5EBD695}" srcOrd="3" destOrd="0" presId="urn:microsoft.com/office/officeart/2005/8/layout/chevron1"/>
    <dgm:cxn modelId="{26912117-896E-4A97-8B0A-37C93880D92F}" type="presParOf" srcId="{5653E5CF-63C1-4886-9DFE-DC4B36C44A33}" destId="{50739AC9-FC4E-42C3-B62E-1016634A724A}" srcOrd="4" destOrd="0" presId="urn:microsoft.com/office/officeart/2005/8/layout/chevron1"/>
    <dgm:cxn modelId="{7ADC84B1-29CC-444B-AB62-73D8615163A0}" type="presParOf" srcId="{5653E5CF-63C1-4886-9DFE-DC4B36C44A33}" destId="{BA7DB2C5-C694-4861-95D5-BF30690EE501}" srcOrd="5" destOrd="0" presId="urn:microsoft.com/office/officeart/2005/8/layout/chevron1"/>
    <dgm:cxn modelId="{C54DEF90-16C0-4479-9D0C-68A49C46ACD0}" type="presParOf" srcId="{5653E5CF-63C1-4886-9DFE-DC4B36C44A33}" destId="{E2DC7CE9-31B9-4959-914F-451EA2F3687E}" srcOrd="6" destOrd="0" presId="urn:microsoft.com/office/officeart/2005/8/layout/chevron1"/>
    <dgm:cxn modelId="{12E13297-A0CF-48BA-B89A-6ED1D848FDC0}" type="presParOf" srcId="{5653E5CF-63C1-4886-9DFE-DC4B36C44A33}" destId="{DEDE159F-2CF2-4AE8-AD83-652E4B27D2D9}" srcOrd="7" destOrd="0" presId="urn:microsoft.com/office/officeart/2005/8/layout/chevron1"/>
    <dgm:cxn modelId="{60670728-2BA4-462E-B098-C656996E1183}" type="presParOf" srcId="{5653E5CF-63C1-4886-9DFE-DC4B36C44A33}" destId="{D5890DF0-C50E-4039-A158-5D7D95FCE67F}"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程序代码介绍</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tx1"/>
              </a:solidFill>
            </a:rPr>
            <a:t>图像翻转</a:t>
          </a:r>
          <a:endParaRPr lang="zh-CN" altLang="en-US" dirty="0">
            <a:solidFill>
              <a:schemeClr val="tx1"/>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图像旋转</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图像亮度对比度变换</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49B80CC1-DD4E-43F1-B203-0023B7BA1158}">
      <dgm:prSet/>
      <dgm:spPr/>
      <dgm:t>
        <a:bodyPr/>
        <a:lstStyle/>
        <a:p>
          <a:r>
            <a:rPr lang="zh-CN" altLang="en-US" dirty="0" smtClean="0">
              <a:solidFill>
                <a:schemeClr val="bg1">
                  <a:lumMod val="85000"/>
                </a:schemeClr>
              </a:solidFill>
            </a:rPr>
            <a:t>数据检验</a:t>
          </a:r>
          <a:endParaRPr lang="zh-CN" altLang="en-US" dirty="0">
            <a:solidFill>
              <a:schemeClr val="bg1">
                <a:lumMod val="85000"/>
              </a:schemeClr>
            </a:solidFill>
          </a:endParaRPr>
        </a:p>
      </dgm:t>
    </dgm:pt>
    <dgm:pt modelId="{3DE423A4-ACB8-471E-8238-99FF7CA8FBF5}" type="parTrans" cxnId="{6E54F5E2-A25B-4EBC-86C9-4055291AE7DC}">
      <dgm:prSet/>
      <dgm:spPr/>
      <dgm:t>
        <a:bodyPr/>
        <a:lstStyle/>
        <a:p>
          <a:endParaRPr lang="zh-CN" altLang="en-US"/>
        </a:p>
      </dgm:t>
    </dgm:pt>
    <dgm:pt modelId="{0682EFB9-5EC9-452E-B73F-BD5EFDE59161}" type="sibTrans" cxnId="{6E54F5E2-A25B-4EBC-86C9-4055291AE7DC}">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DEDE159F-2CF2-4AE8-AD83-652E4B27D2D9}" type="pres">
      <dgm:prSet presAssocID="{FA81CD99-4C17-4421-BECF-3D861154DBDD}" presName="parTxOnlySpace" presStyleCnt="0"/>
      <dgm:spPr/>
    </dgm:pt>
    <dgm:pt modelId="{D5890DF0-C50E-4039-A158-5D7D95FCE67F}" type="pres">
      <dgm:prSet presAssocID="{49B80CC1-DD4E-43F1-B203-0023B7BA1158}"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E46B839C-9515-449E-ADE4-DA2F9A224E9A}" type="presOf" srcId="{C6C44482-D821-4FAE-BB52-29931F8BCBDE}" destId="{E2DC7CE9-31B9-4959-914F-451EA2F3687E}" srcOrd="0" destOrd="0" presId="urn:microsoft.com/office/officeart/2005/8/layout/chevron1"/>
    <dgm:cxn modelId="{AD8BEAB8-CDA1-4A00-B24A-F36B93A6DC02}" type="presOf" srcId="{211D359A-E621-4AEC-B365-EBCECA4D5608}" destId="{50739AC9-FC4E-42C3-B62E-1016634A724A}" srcOrd="0" destOrd="0" presId="urn:microsoft.com/office/officeart/2005/8/layout/chevron1"/>
    <dgm:cxn modelId="{2BB3AABF-488F-44E7-A431-B585D5177CBA}" type="presOf" srcId="{BEAB6AAF-246B-444D-90D9-FB867EA43595}" destId="{FC4CA3E0-7A9C-47CB-88C9-7F81B89FD5AA}" srcOrd="0" destOrd="0" presId="urn:microsoft.com/office/officeart/2005/8/layout/chevron1"/>
    <dgm:cxn modelId="{6E54F5E2-A25B-4EBC-86C9-4055291AE7DC}" srcId="{314AE731-DFBF-4A5B-8171-86B7AA2F2858}" destId="{49B80CC1-DD4E-43F1-B203-0023B7BA1158}" srcOrd="4" destOrd="0" parTransId="{3DE423A4-ACB8-471E-8238-99FF7CA8FBF5}" sibTransId="{0682EFB9-5EC9-452E-B73F-BD5EFDE59161}"/>
    <dgm:cxn modelId="{8391D2FD-DF7B-4C62-86A0-3B6A6D109176}" type="presOf" srcId="{49B80CC1-DD4E-43F1-B203-0023B7BA1158}" destId="{D5890DF0-C50E-4039-A158-5D7D95FCE67F}" srcOrd="0" destOrd="0" presId="urn:microsoft.com/office/officeart/2005/8/layout/chevron1"/>
    <dgm:cxn modelId="{E03A15F7-8AB8-4712-90AD-F8FEDEBFD700}" type="presOf" srcId="{314AE731-DFBF-4A5B-8171-86B7AA2F2858}" destId="{5653E5CF-63C1-4886-9DFE-DC4B36C44A33}"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66638CAC-123E-4530-BEDD-30FADC271D64}" srcId="{314AE731-DFBF-4A5B-8171-86B7AA2F2858}" destId="{3F9AE8EF-E0BD-4A86-A1DC-73AF72B43E8D}" srcOrd="1" destOrd="0" parTransId="{5F12A6E5-E57E-4059-894D-D3A3846C30F2}" sibTransId="{7CE50C93-6A94-4F11-A61C-2C90215515AB}"/>
    <dgm:cxn modelId="{92506333-C76A-46B6-9E92-A17561A26D15}" type="presOf" srcId="{3F9AE8EF-E0BD-4A86-A1DC-73AF72B43E8D}" destId="{2147596E-7442-41E7-9852-40E25C424996}"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D91EE3EF-55C4-4361-A1E6-08036AAD9769}" type="presParOf" srcId="{5653E5CF-63C1-4886-9DFE-DC4B36C44A33}" destId="{FC4CA3E0-7A9C-47CB-88C9-7F81B89FD5AA}" srcOrd="0" destOrd="0" presId="urn:microsoft.com/office/officeart/2005/8/layout/chevron1"/>
    <dgm:cxn modelId="{91C2A946-7B40-43FC-8988-D597DBE3D21C}" type="presParOf" srcId="{5653E5CF-63C1-4886-9DFE-DC4B36C44A33}" destId="{ED8D2DC7-F6B9-49A1-A3FB-6645AA0B27C9}" srcOrd="1" destOrd="0" presId="urn:microsoft.com/office/officeart/2005/8/layout/chevron1"/>
    <dgm:cxn modelId="{687D1E01-77AE-46CA-9A16-B148DC0FF7B9}" type="presParOf" srcId="{5653E5CF-63C1-4886-9DFE-DC4B36C44A33}" destId="{2147596E-7442-41E7-9852-40E25C424996}" srcOrd="2" destOrd="0" presId="urn:microsoft.com/office/officeart/2005/8/layout/chevron1"/>
    <dgm:cxn modelId="{100D008B-CF8D-4121-9E46-BEF00E72C8DC}" type="presParOf" srcId="{5653E5CF-63C1-4886-9DFE-DC4B36C44A33}" destId="{78A125B0-FC96-47C5-ADBC-5773E5EBD695}" srcOrd="3" destOrd="0" presId="urn:microsoft.com/office/officeart/2005/8/layout/chevron1"/>
    <dgm:cxn modelId="{FED4D198-5CCC-446F-9A6D-5359E9784232}" type="presParOf" srcId="{5653E5CF-63C1-4886-9DFE-DC4B36C44A33}" destId="{50739AC9-FC4E-42C3-B62E-1016634A724A}" srcOrd="4" destOrd="0" presId="urn:microsoft.com/office/officeart/2005/8/layout/chevron1"/>
    <dgm:cxn modelId="{168B9CEE-B11A-439C-B99E-7C944BC3997D}" type="presParOf" srcId="{5653E5CF-63C1-4886-9DFE-DC4B36C44A33}" destId="{BA7DB2C5-C694-4861-95D5-BF30690EE501}" srcOrd="5" destOrd="0" presId="urn:microsoft.com/office/officeart/2005/8/layout/chevron1"/>
    <dgm:cxn modelId="{B3BF64A3-4E97-4072-859B-4AF7D7EB0D92}" type="presParOf" srcId="{5653E5CF-63C1-4886-9DFE-DC4B36C44A33}" destId="{E2DC7CE9-31B9-4959-914F-451EA2F3687E}" srcOrd="6" destOrd="0" presId="urn:microsoft.com/office/officeart/2005/8/layout/chevron1"/>
    <dgm:cxn modelId="{CA2B05C7-6727-43B6-9EB3-F2D372055D1F}" type="presParOf" srcId="{5653E5CF-63C1-4886-9DFE-DC4B36C44A33}" destId="{DEDE159F-2CF2-4AE8-AD83-652E4B27D2D9}" srcOrd="7" destOrd="0" presId="urn:microsoft.com/office/officeart/2005/8/layout/chevron1"/>
    <dgm:cxn modelId="{D05B5674-D337-4113-87FB-21F7EBEDAF86}" type="presParOf" srcId="{5653E5CF-63C1-4886-9DFE-DC4B36C44A33}" destId="{D5890DF0-C50E-4039-A158-5D7D95FCE67F}"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程序代码介绍</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图像翻转</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tx1"/>
              </a:solidFill>
            </a:rPr>
            <a:t>图像旋转</a:t>
          </a:r>
          <a:endParaRPr lang="zh-CN" altLang="en-US" dirty="0">
            <a:solidFill>
              <a:schemeClr val="tx1"/>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图像亮度对比度变换</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49B80CC1-DD4E-43F1-B203-0023B7BA1158}">
      <dgm:prSet/>
      <dgm:spPr/>
      <dgm:t>
        <a:bodyPr/>
        <a:lstStyle/>
        <a:p>
          <a:r>
            <a:rPr lang="zh-CN" altLang="en-US" dirty="0" smtClean="0">
              <a:solidFill>
                <a:schemeClr val="bg1">
                  <a:lumMod val="85000"/>
                </a:schemeClr>
              </a:solidFill>
            </a:rPr>
            <a:t>数据检验</a:t>
          </a:r>
          <a:endParaRPr lang="zh-CN" altLang="en-US" dirty="0">
            <a:solidFill>
              <a:schemeClr val="bg1">
                <a:lumMod val="85000"/>
              </a:schemeClr>
            </a:solidFill>
          </a:endParaRPr>
        </a:p>
      </dgm:t>
    </dgm:pt>
    <dgm:pt modelId="{3DE423A4-ACB8-471E-8238-99FF7CA8FBF5}" type="parTrans" cxnId="{6E54F5E2-A25B-4EBC-86C9-4055291AE7DC}">
      <dgm:prSet/>
      <dgm:spPr/>
      <dgm:t>
        <a:bodyPr/>
        <a:lstStyle/>
        <a:p>
          <a:endParaRPr lang="zh-CN" altLang="en-US"/>
        </a:p>
      </dgm:t>
    </dgm:pt>
    <dgm:pt modelId="{0682EFB9-5EC9-452E-B73F-BD5EFDE59161}" type="sibTrans" cxnId="{6E54F5E2-A25B-4EBC-86C9-4055291AE7DC}">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DEDE159F-2CF2-4AE8-AD83-652E4B27D2D9}" type="pres">
      <dgm:prSet presAssocID="{FA81CD99-4C17-4421-BECF-3D861154DBDD}" presName="parTxOnlySpace" presStyleCnt="0"/>
      <dgm:spPr/>
    </dgm:pt>
    <dgm:pt modelId="{D5890DF0-C50E-4039-A158-5D7D95FCE67F}" type="pres">
      <dgm:prSet presAssocID="{49B80CC1-DD4E-43F1-B203-0023B7BA1158}" presName="parTxOnly" presStyleLbl="node1" presStyleIdx="4" presStyleCnt="5">
        <dgm:presLayoutVars>
          <dgm:chMax val="0"/>
          <dgm:chPref val="0"/>
          <dgm:bulletEnabled val="1"/>
        </dgm:presLayoutVars>
      </dgm:prSet>
      <dgm:spPr/>
      <dgm:t>
        <a:bodyPr/>
        <a:lstStyle/>
        <a:p>
          <a:endParaRPr lang="zh-CN" altLang="en-US"/>
        </a:p>
      </dgm:t>
    </dgm:pt>
  </dgm:ptLst>
  <dgm:cxnLst>
    <dgm:cxn modelId="{C34609DF-C943-45BB-B560-120486042DD2}" type="presOf" srcId="{3F9AE8EF-E0BD-4A86-A1DC-73AF72B43E8D}" destId="{2147596E-7442-41E7-9852-40E25C424996}"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6E54F5E2-A25B-4EBC-86C9-4055291AE7DC}" srcId="{314AE731-DFBF-4A5B-8171-86B7AA2F2858}" destId="{49B80CC1-DD4E-43F1-B203-0023B7BA1158}" srcOrd="4" destOrd="0" parTransId="{3DE423A4-ACB8-471E-8238-99FF7CA8FBF5}" sibTransId="{0682EFB9-5EC9-452E-B73F-BD5EFDE59161}"/>
    <dgm:cxn modelId="{7BD99A13-6249-4E5E-B6AE-FD5659E6C627}" type="presOf" srcId="{49B80CC1-DD4E-43F1-B203-0023B7BA1158}" destId="{D5890DF0-C50E-4039-A158-5D7D95FCE67F}"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66638CAC-123E-4530-BEDD-30FADC271D64}" srcId="{314AE731-DFBF-4A5B-8171-86B7AA2F2858}" destId="{3F9AE8EF-E0BD-4A86-A1DC-73AF72B43E8D}" srcOrd="1" destOrd="0" parTransId="{5F12A6E5-E57E-4059-894D-D3A3846C30F2}" sibTransId="{7CE50C93-6A94-4F11-A61C-2C90215515AB}"/>
    <dgm:cxn modelId="{B3A143B5-F835-455F-A46F-64D9F82EC32B}" type="presOf" srcId="{211D359A-E621-4AEC-B365-EBCECA4D5608}" destId="{50739AC9-FC4E-42C3-B62E-1016634A724A}"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89D52FA3-7C4E-4EDF-A2AD-6AA06B4FBA9D}" type="presOf" srcId="{C6C44482-D821-4FAE-BB52-29931F8BCBDE}" destId="{E2DC7CE9-31B9-4959-914F-451EA2F3687E}" srcOrd="0" destOrd="0" presId="urn:microsoft.com/office/officeart/2005/8/layout/chevron1"/>
    <dgm:cxn modelId="{76144183-E19D-43FB-BA02-7529C295CE3F}" type="presOf" srcId="{314AE731-DFBF-4A5B-8171-86B7AA2F2858}" destId="{5653E5CF-63C1-4886-9DFE-DC4B36C44A33}" srcOrd="0" destOrd="0" presId="urn:microsoft.com/office/officeart/2005/8/layout/chevron1"/>
    <dgm:cxn modelId="{1D8035D4-C8DC-4490-9878-4A1956A58459}" type="presOf" srcId="{BEAB6AAF-246B-444D-90D9-FB867EA43595}" destId="{FC4CA3E0-7A9C-47CB-88C9-7F81B89FD5AA}" srcOrd="0" destOrd="0" presId="urn:microsoft.com/office/officeart/2005/8/layout/chevron1"/>
    <dgm:cxn modelId="{8F240DD6-B28F-4EA0-BFD9-26B468C9E03C}" type="presParOf" srcId="{5653E5CF-63C1-4886-9DFE-DC4B36C44A33}" destId="{FC4CA3E0-7A9C-47CB-88C9-7F81B89FD5AA}" srcOrd="0" destOrd="0" presId="urn:microsoft.com/office/officeart/2005/8/layout/chevron1"/>
    <dgm:cxn modelId="{D773AC33-BA2F-4C54-93C5-6A8FE8309D1A}" type="presParOf" srcId="{5653E5CF-63C1-4886-9DFE-DC4B36C44A33}" destId="{ED8D2DC7-F6B9-49A1-A3FB-6645AA0B27C9}" srcOrd="1" destOrd="0" presId="urn:microsoft.com/office/officeart/2005/8/layout/chevron1"/>
    <dgm:cxn modelId="{975709C1-DB4F-467E-B09A-4CEE8023CBE8}" type="presParOf" srcId="{5653E5CF-63C1-4886-9DFE-DC4B36C44A33}" destId="{2147596E-7442-41E7-9852-40E25C424996}" srcOrd="2" destOrd="0" presId="urn:microsoft.com/office/officeart/2005/8/layout/chevron1"/>
    <dgm:cxn modelId="{E81A2936-C58F-4B14-80CC-3EEB87D8CC7F}" type="presParOf" srcId="{5653E5CF-63C1-4886-9DFE-DC4B36C44A33}" destId="{78A125B0-FC96-47C5-ADBC-5773E5EBD695}" srcOrd="3" destOrd="0" presId="urn:microsoft.com/office/officeart/2005/8/layout/chevron1"/>
    <dgm:cxn modelId="{385A796E-81D1-4CD2-B310-F78808D327AE}" type="presParOf" srcId="{5653E5CF-63C1-4886-9DFE-DC4B36C44A33}" destId="{50739AC9-FC4E-42C3-B62E-1016634A724A}" srcOrd="4" destOrd="0" presId="urn:microsoft.com/office/officeart/2005/8/layout/chevron1"/>
    <dgm:cxn modelId="{3DD0EB06-275E-48CD-8B01-A3CCFE3F8ED8}" type="presParOf" srcId="{5653E5CF-63C1-4886-9DFE-DC4B36C44A33}" destId="{BA7DB2C5-C694-4861-95D5-BF30690EE501}" srcOrd="5" destOrd="0" presId="urn:microsoft.com/office/officeart/2005/8/layout/chevron1"/>
    <dgm:cxn modelId="{33BD9270-DA20-4290-AA73-139C00F4DB71}" type="presParOf" srcId="{5653E5CF-63C1-4886-9DFE-DC4B36C44A33}" destId="{E2DC7CE9-31B9-4959-914F-451EA2F3687E}" srcOrd="6" destOrd="0" presId="urn:microsoft.com/office/officeart/2005/8/layout/chevron1"/>
    <dgm:cxn modelId="{2E6D2FDF-3D74-4131-B742-535291D761B3}" type="presParOf" srcId="{5653E5CF-63C1-4886-9DFE-DC4B36C44A33}" destId="{DEDE159F-2CF2-4AE8-AD83-652E4B27D2D9}" srcOrd="7" destOrd="0" presId="urn:microsoft.com/office/officeart/2005/8/layout/chevron1"/>
    <dgm:cxn modelId="{F8E35FAA-79D0-4749-84C3-FA54C12DAE17}" type="presParOf" srcId="{5653E5CF-63C1-4886-9DFE-DC4B36C44A33}" destId="{D5890DF0-C50E-4039-A158-5D7D95FCE67F}"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程序代码介绍</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图像翻转</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65000"/>
                </a:schemeClr>
              </a:solidFill>
            </a:rPr>
            <a:t>图像旋转</a:t>
          </a:r>
          <a:endParaRPr lang="zh-CN" altLang="en-US" dirty="0">
            <a:solidFill>
              <a:schemeClr val="bg1">
                <a:lumMod val="6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tx1"/>
              </a:solidFill>
            </a:rPr>
            <a:t>图像亮度对比度变换</a:t>
          </a:r>
          <a:endParaRPr lang="zh-CN" altLang="en-US" dirty="0">
            <a:solidFill>
              <a:schemeClr val="tx1"/>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49B80CC1-DD4E-43F1-B203-0023B7BA1158}">
      <dgm:prSet/>
      <dgm:spPr/>
      <dgm:t>
        <a:bodyPr/>
        <a:lstStyle/>
        <a:p>
          <a:r>
            <a:rPr lang="zh-CN" altLang="en-US" dirty="0" smtClean="0">
              <a:solidFill>
                <a:schemeClr val="bg1">
                  <a:lumMod val="85000"/>
                </a:schemeClr>
              </a:solidFill>
            </a:rPr>
            <a:t>数据检验</a:t>
          </a:r>
          <a:endParaRPr lang="zh-CN" altLang="en-US" dirty="0">
            <a:solidFill>
              <a:schemeClr val="bg1">
                <a:lumMod val="85000"/>
              </a:schemeClr>
            </a:solidFill>
          </a:endParaRPr>
        </a:p>
      </dgm:t>
    </dgm:pt>
    <dgm:pt modelId="{3DE423A4-ACB8-471E-8238-99FF7CA8FBF5}" type="parTrans" cxnId="{6E54F5E2-A25B-4EBC-86C9-4055291AE7DC}">
      <dgm:prSet/>
      <dgm:spPr/>
      <dgm:t>
        <a:bodyPr/>
        <a:lstStyle/>
        <a:p>
          <a:endParaRPr lang="zh-CN" altLang="en-US"/>
        </a:p>
      </dgm:t>
    </dgm:pt>
    <dgm:pt modelId="{0682EFB9-5EC9-452E-B73F-BD5EFDE59161}" type="sibTrans" cxnId="{6E54F5E2-A25B-4EBC-86C9-4055291AE7DC}">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DEDE159F-2CF2-4AE8-AD83-652E4B27D2D9}" type="pres">
      <dgm:prSet presAssocID="{FA81CD99-4C17-4421-BECF-3D861154DBDD}" presName="parTxOnlySpace" presStyleCnt="0"/>
      <dgm:spPr/>
    </dgm:pt>
    <dgm:pt modelId="{D5890DF0-C50E-4039-A158-5D7D95FCE67F}" type="pres">
      <dgm:prSet presAssocID="{49B80CC1-DD4E-43F1-B203-0023B7BA1158}"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E7744263-15B0-4F11-933F-3CB475B36D4E}" type="presOf" srcId="{3F9AE8EF-E0BD-4A86-A1DC-73AF72B43E8D}" destId="{2147596E-7442-41E7-9852-40E25C424996}" srcOrd="0" destOrd="0" presId="urn:microsoft.com/office/officeart/2005/8/layout/chevron1"/>
    <dgm:cxn modelId="{381A6AB1-D816-4D74-87AD-446E12B0E26E}" type="presOf" srcId="{49B80CC1-DD4E-43F1-B203-0023B7BA1158}" destId="{D5890DF0-C50E-4039-A158-5D7D95FCE67F}" srcOrd="0" destOrd="0" presId="urn:microsoft.com/office/officeart/2005/8/layout/chevron1"/>
    <dgm:cxn modelId="{6E54F5E2-A25B-4EBC-86C9-4055291AE7DC}" srcId="{314AE731-DFBF-4A5B-8171-86B7AA2F2858}" destId="{49B80CC1-DD4E-43F1-B203-0023B7BA1158}" srcOrd="4" destOrd="0" parTransId="{3DE423A4-ACB8-471E-8238-99FF7CA8FBF5}" sibTransId="{0682EFB9-5EC9-452E-B73F-BD5EFDE59161}"/>
    <dgm:cxn modelId="{A236C423-6556-4B78-9515-CF059F0DE7BF}" type="presOf" srcId="{211D359A-E621-4AEC-B365-EBCECA4D5608}" destId="{50739AC9-FC4E-42C3-B62E-1016634A724A}" srcOrd="0" destOrd="0" presId="urn:microsoft.com/office/officeart/2005/8/layout/chevron1"/>
    <dgm:cxn modelId="{60C47BD6-4D7F-437B-A616-B3667C31B876}" type="presOf" srcId="{BEAB6AAF-246B-444D-90D9-FB867EA43595}" destId="{FC4CA3E0-7A9C-47CB-88C9-7F81B89FD5AA}"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C7FACC55-E703-46CB-8BAF-FA2B374597A7}" type="presOf" srcId="{314AE731-DFBF-4A5B-8171-86B7AA2F2858}" destId="{5653E5CF-63C1-4886-9DFE-DC4B36C44A33}"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BF6558B0-650E-4BA1-A1B1-1CA458E6EC49}" srcId="{314AE731-DFBF-4A5B-8171-86B7AA2F2858}" destId="{211D359A-E621-4AEC-B365-EBCECA4D5608}" srcOrd="2" destOrd="0" parTransId="{95B58C96-0D87-4CC9-A2F6-B9DFCA67DC5F}" sibTransId="{56BE99E8-BF29-4F85-BEC4-A54AC3654A13}"/>
    <dgm:cxn modelId="{6E1A69FA-A981-40E3-9B49-2899DDF30B06}" type="presOf" srcId="{C6C44482-D821-4FAE-BB52-29931F8BCBDE}" destId="{E2DC7CE9-31B9-4959-914F-451EA2F3687E}" srcOrd="0" destOrd="0" presId="urn:microsoft.com/office/officeart/2005/8/layout/chevron1"/>
    <dgm:cxn modelId="{CABD4FFA-7410-4A66-B7AF-074C835CBB22}" type="presParOf" srcId="{5653E5CF-63C1-4886-9DFE-DC4B36C44A33}" destId="{FC4CA3E0-7A9C-47CB-88C9-7F81B89FD5AA}" srcOrd="0" destOrd="0" presId="urn:microsoft.com/office/officeart/2005/8/layout/chevron1"/>
    <dgm:cxn modelId="{4F8A7BB3-E0E0-436F-8D94-BF487CC35404}" type="presParOf" srcId="{5653E5CF-63C1-4886-9DFE-DC4B36C44A33}" destId="{ED8D2DC7-F6B9-49A1-A3FB-6645AA0B27C9}" srcOrd="1" destOrd="0" presId="urn:microsoft.com/office/officeart/2005/8/layout/chevron1"/>
    <dgm:cxn modelId="{C90982A8-2552-40EC-B7BA-7CFB7A7933CE}" type="presParOf" srcId="{5653E5CF-63C1-4886-9DFE-DC4B36C44A33}" destId="{2147596E-7442-41E7-9852-40E25C424996}" srcOrd="2" destOrd="0" presId="urn:microsoft.com/office/officeart/2005/8/layout/chevron1"/>
    <dgm:cxn modelId="{EA3B9F15-5690-4916-B7E8-6F62461A4191}" type="presParOf" srcId="{5653E5CF-63C1-4886-9DFE-DC4B36C44A33}" destId="{78A125B0-FC96-47C5-ADBC-5773E5EBD695}" srcOrd="3" destOrd="0" presId="urn:microsoft.com/office/officeart/2005/8/layout/chevron1"/>
    <dgm:cxn modelId="{1B7FF01E-416C-46C3-9108-7DD384A56D26}" type="presParOf" srcId="{5653E5CF-63C1-4886-9DFE-DC4B36C44A33}" destId="{50739AC9-FC4E-42C3-B62E-1016634A724A}" srcOrd="4" destOrd="0" presId="urn:microsoft.com/office/officeart/2005/8/layout/chevron1"/>
    <dgm:cxn modelId="{17C76192-744B-4FC4-B70A-873F1B3B0FE9}" type="presParOf" srcId="{5653E5CF-63C1-4886-9DFE-DC4B36C44A33}" destId="{BA7DB2C5-C694-4861-95D5-BF30690EE501}" srcOrd="5" destOrd="0" presId="urn:microsoft.com/office/officeart/2005/8/layout/chevron1"/>
    <dgm:cxn modelId="{851B28DF-C9C2-4C20-96EB-761B01549BC2}" type="presParOf" srcId="{5653E5CF-63C1-4886-9DFE-DC4B36C44A33}" destId="{E2DC7CE9-31B9-4959-914F-451EA2F3687E}" srcOrd="6" destOrd="0" presId="urn:microsoft.com/office/officeart/2005/8/layout/chevron1"/>
    <dgm:cxn modelId="{07A6DE1C-CD3F-4FDF-A97B-B318422ABE09}" type="presParOf" srcId="{5653E5CF-63C1-4886-9DFE-DC4B36C44A33}" destId="{DEDE159F-2CF2-4AE8-AD83-652E4B27D2D9}" srcOrd="7" destOrd="0" presId="urn:microsoft.com/office/officeart/2005/8/layout/chevron1"/>
    <dgm:cxn modelId="{72ABD7E4-9D26-4FFC-B047-ABA82A533452}" type="presParOf" srcId="{5653E5CF-63C1-4886-9DFE-DC4B36C44A33}" destId="{D5890DF0-C50E-4039-A158-5D7D95FCE67F}"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程序代码介绍</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图像翻转</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65000"/>
                </a:schemeClr>
              </a:solidFill>
            </a:rPr>
            <a:t>图像旋转</a:t>
          </a:r>
          <a:endParaRPr lang="zh-CN" altLang="en-US" dirty="0">
            <a:solidFill>
              <a:schemeClr val="bg1">
                <a:lumMod val="6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65000"/>
                </a:schemeClr>
              </a:solidFill>
            </a:rPr>
            <a:t>图像亮度对比度变换</a:t>
          </a:r>
          <a:endParaRPr lang="zh-CN" altLang="en-US" dirty="0">
            <a:solidFill>
              <a:schemeClr val="bg1">
                <a:lumMod val="6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49B80CC1-DD4E-43F1-B203-0023B7BA1158}">
      <dgm:prSet/>
      <dgm:spPr/>
      <dgm:t>
        <a:bodyPr/>
        <a:lstStyle/>
        <a:p>
          <a:r>
            <a:rPr lang="zh-CN" altLang="en-US" dirty="0" smtClean="0">
              <a:solidFill>
                <a:schemeClr val="tx1"/>
              </a:solidFill>
            </a:rPr>
            <a:t>数据检验</a:t>
          </a:r>
          <a:endParaRPr lang="zh-CN" altLang="en-US" dirty="0">
            <a:solidFill>
              <a:schemeClr val="tx1"/>
            </a:solidFill>
          </a:endParaRPr>
        </a:p>
      </dgm:t>
    </dgm:pt>
    <dgm:pt modelId="{3DE423A4-ACB8-471E-8238-99FF7CA8FBF5}" type="parTrans" cxnId="{6E54F5E2-A25B-4EBC-86C9-4055291AE7DC}">
      <dgm:prSet/>
      <dgm:spPr/>
      <dgm:t>
        <a:bodyPr/>
        <a:lstStyle/>
        <a:p>
          <a:endParaRPr lang="zh-CN" altLang="en-US"/>
        </a:p>
      </dgm:t>
    </dgm:pt>
    <dgm:pt modelId="{0682EFB9-5EC9-452E-B73F-BD5EFDE59161}" type="sibTrans" cxnId="{6E54F5E2-A25B-4EBC-86C9-4055291AE7DC}">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DEDE159F-2CF2-4AE8-AD83-652E4B27D2D9}" type="pres">
      <dgm:prSet presAssocID="{FA81CD99-4C17-4421-BECF-3D861154DBDD}" presName="parTxOnlySpace" presStyleCnt="0"/>
      <dgm:spPr/>
    </dgm:pt>
    <dgm:pt modelId="{D5890DF0-C50E-4039-A158-5D7D95FCE67F}" type="pres">
      <dgm:prSet presAssocID="{49B80CC1-DD4E-43F1-B203-0023B7BA1158}"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6E54F5E2-A25B-4EBC-86C9-4055291AE7DC}" srcId="{314AE731-DFBF-4A5B-8171-86B7AA2F2858}" destId="{49B80CC1-DD4E-43F1-B203-0023B7BA1158}" srcOrd="4" destOrd="0" parTransId="{3DE423A4-ACB8-471E-8238-99FF7CA8FBF5}" sibTransId="{0682EFB9-5EC9-452E-B73F-BD5EFDE59161}"/>
    <dgm:cxn modelId="{8DE5A67F-2E8D-435D-91BF-09A0BDBC3683}" type="presOf" srcId="{314AE731-DFBF-4A5B-8171-86B7AA2F2858}" destId="{5653E5CF-63C1-4886-9DFE-DC4B36C44A33}" srcOrd="0" destOrd="0" presId="urn:microsoft.com/office/officeart/2005/8/layout/chevron1"/>
    <dgm:cxn modelId="{54E9775A-0F60-481C-9772-B88BB42B9FA3}" type="presOf" srcId="{49B80CC1-DD4E-43F1-B203-0023B7BA1158}" destId="{D5890DF0-C50E-4039-A158-5D7D95FCE67F}" srcOrd="0" destOrd="0" presId="urn:microsoft.com/office/officeart/2005/8/layout/chevron1"/>
    <dgm:cxn modelId="{5A20FC31-E000-41C1-B78A-26F35B3E2EA1}" type="presOf" srcId="{BEAB6AAF-246B-444D-90D9-FB867EA43595}" destId="{FC4CA3E0-7A9C-47CB-88C9-7F81B89FD5AA}"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66638CAC-123E-4530-BEDD-30FADC271D64}" srcId="{314AE731-DFBF-4A5B-8171-86B7AA2F2858}" destId="{3F9AE8EF-E0BD-4A86-A1DC-73AF72B43E8D}" srcOrd="1" destOrd="0" parTransId="{5F12A6E5-E57E-4059-894D-D3A3846C30F2}" sibTransId="{7CE50C93-6A94-4F11-A61C-2C90215515AB}"/>
    <dgm:cxn modelId="{3A5882C1-22F1-4D91-A842-E7877D171DE1}" type="presOf" srcId="{3F9AE8EF-E0BD-4A86-A1DC-73AF72B43E8D}" destId="{2147596E-7442-41E7-9852-40E25C424996}"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6838718D-EBBF-4997-9136-226E7E2CF25A}" type="presOf" srcId="{C6C44482-D821-4FAE-BB52-29931F8BCBDE}" destId="{E2DC7CE9-31B9-4959-914F-451EA2F3687E}" srcOrd="0" destOrd="0" presId="urn:microsoft.com/office/officeart/2005/8/layout/chevron1"/>
    <dgm:cxn modelId="{F3CA925A-3C99-4741-A9D8-03EAD2254250}" type="presOf" srcId="{211D359A-E621-4AEC-B365-EBCECA4D5608}" destId="{50739AC9-FC4E-42C3-B62E-1016634A724A}" srcOrd="0" destOrd="0" presId="urn:microsoft.com/office/officeart/2005/8/layout/chevron1"/>
    <dgm:cxn modelId="{3D3AC8DB-E028-485C-98B8-1679397A9081}" type="presParOf" srcId="{5653E5CF-63C1-4886-9DFE-DC4B36C44A33}" destId="{FC4CA3E0-7A9C-47CB-88C9-7F81B89FD5AA}" srcOrd="0" destOrd="0" presId="urn:microsoft.com/office/officeart/2005/8/layout/chevron1"/>
    <dgm:cxn modelId="{398495D2-8CC7-4BB0-861A-E85EC4742622}" type="presParOf" srcId="{5653E5CF-63C1-4886-9DFE-DC4B36C44A33}" destId="{ED8D2DC7-F6B9-49A1-A3FB-6645AA0B27C9}" srcOrd="1" destOrd="0" presId="urn:microsoft.com/office/officeart/2005/8/layout/chevron1"/>
    <dgm:cxn modelId="{11860990-6546-4119-BE6C-8FA6C0EEEC3A}" type="presParOf" srcId="{5653E5CF-63C1-4886-9DFE-DC4B36C44A33}" destId="{2147596E-7442-41E7-9852-40E25C424996}" srcOrd="2" destOrd="0" presId="urn:microsoft.com/office/officeart/2005/8/layout/chevron1"/>
    <dgm:cxn modelId="{ECC6A172-4662-4918-80B2-023CF55BDF3B}" type="presParOf" srcId="{5653E5CF-63C1-4886-9DFE-DC4B36C44A33}" destId="{78A125B0-FC96-47C5-ADBC-5773E5EBD695}" srcOrd="3" destOrd="0" presId="urn:microsoft.com/office/officeart/2005/8/layout/chevron1"/>
    <dgm:cxn modelId="{E15EB85F-909F-4A9A-B9C5-9C2DDD616F18}" type="presParOf" srcId="{5653E5CF-63C1-4886-9DFE-DC4B36C44A33}" destId="{50739AC9-FC4E-42C3-B62E-1016634A724A}" srcOrd="4" destOrd="0" presId="urn:microsoft.com/office/officeart/2005/8/layout/chevron1"/>
    <dgm:cxn modelId="{753C3BEA-E9ED-4A56-A889-8F9CA4B07CE4}" type="presParOf" srcId="{5653E5CF-63C1-4886-9DFE-DC4B36C44A33}" destId="{BA7DB2C5-C694-4861-95D5-BF30690EE501}" srcOrd="5" destOrd="0" presId="urn:microsoft.com/office/officeart/2005/8/layout/chevron1"/>
    <dgm:cxn modelId="{1A1DCDEF-3DE3-4186-93E8-6016099E71C9}" type="presParOf" srcId="{5653E5CF-63C1-4886-9DFE-DC4B36C44A33}" destId="{E2DC7CE9-31B9-4959-914F-451EA2F3687E}" srcOrd="6" destOrd="0" presId="urn:microsoft.com/office/officeart/2005/8/layout/chevron1"/>
    <dgm:cxn modelId="{055D8A71-AF55-4477-9C6A-0BABC06F4482}" type="presParOf" srcId="{5653E5CF-63C1-4886-9DFE-DC4B36C44A33}" destId="{DEDE159F-2CF2-4AE8-AD83-652E4B27D2D9}" srcOrd="7" destOrd="0" presId="urn:microsoft.com/office/officeart/2005/8/layout/chevron1"/>
    <dgm:cxn modelId="{32D921ED-C1B6-435E-8EA6-0E5848079155}" type="presParOf" srcId="{5653E5CF-63C1-4886-9DFE-DC4B36C44A33}" destId="{D5890DF0-C50E-4039-A158-5D7D95FCE67F}"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什么是数据增强？</a:t>
            </a:r>
          </a:p>
          <a:p>
            <a:r>
              <a:rPr lang="zh-CN" altLang="zh-CN" sz="1200" kern="1200" dirty="0" smtClean="0">
                <a:solidFill>
                  <a:schemeClr val="tx1"/>
                </a:solidFill>
                <a:effectLst/>
                <a:latin typeface="+mn-lt"/>
                <a:ea typeface="+mn-ea"/>
                <a:cs typeface="+mn-cs"/>
              </a:rPr>
              <a:t>在深度学习领域中往往需要大量的数据，数据增强是一种常用的数据扩充技术，能够利用有限的数据创造尽可能多的利用价值。</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29853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简单了解一些常用的数据增强方法。</a:t>
            </a:r>
            <a:endParaRPr lang="en-US" altLang="zh-CN" dirty="0" smtClean="0"/>
          </a:p>
          <a:p>
            <a:r>
              <a:rPr lang="zh-CN" altLang="en-US" dirty="0" smtClean="0"/>
              <a:t>在实际应用中，往往是多种数据增强方式结合使用，从而得到更加多样的数据。</a:t>
            </a:r>
            <a:endParaRPr lang="en-US" altLang="zh-CN" dirty="0" smtClean="0"/>
          </a:p>
          <a:p>
            <a:r>
              <a:rPr lang="zh-CN" altLang="en-US" dirty="0" smtClean="0"/>
              <a:t>数据增强有助于降低模型过拟合的风险，提升模型的泛化能力。</a:t>
            </a:r>
            <a:endParaRPr lang="en-US" altLang="zh-CN" dirty="0" smtClean="0"/>
          </a:p>
          <a:p>
            <a:r>
              <a:rPr lang="zh-CN" altLang="en-US" dirty="0" smtClean="0"/>
              <a:t>在本实验中，我们将实践后三种数据增强的方法。</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86314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如果是按照课程一步步来的，本实验无需安装新的库。</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08159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836925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280010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dirty="0" smtClean="0"/>
              <a:t>实验：数据</a:t>
            </a:r>
            <a:r>
              <a:rPr lang="zh-CN" altLang="en-US" dirty="0" smtClean="0"/>
              <a:t>增强与</a:t>
            </a:r>
            <a:r>
              <a:rPr lang="zh-CN" altLang="en-US" dirty="0"/>
              <a:t>检验</a:t>
            </a:r>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smtClean="0"/>
              <a:t>目标检测的准备</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了解几种基本的数据增强方法</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采用数据增强方法丰富自己的数据集</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检验数据增强的结果</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smtClean="0"/>
              <a:t>实验步骤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a:p>
            <a:pPr>
              <a:lnSpc>
                <a:spcPct val="125000"/>
              </a:lnSpc>
              <a:buFont typeface="+mj-lt"/>
              <a:buAutoNum type="arabicPeriod"/>
            </a:pPr>
            <a:r>
              <a:rPr lang="zh-CN" altLang="en-US" dirty="0"/>
              <a:t>实验</a:t>
            </a:r>
            <a:r>
              <a:rPr lang="zh-CN" altLang="en-US" dirty="0" smtClean="0"/>
              <a:t>源码</a:t>
            </a: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实验介绍</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indent="-342900">
              <a:lnSpc>
                <a:spcPct val="125000"/>
              </a:lnSpc>
              <a:buFont typeface="+mj-lt"/>
              <a:buAutoNum type="arabicPeriod"/>
            </a:pPr>
            <a:r>
              <a:rPr lang="zh-CN" altLang="en-US" dirty="0" smtClean="0"/>
              <a:t>利用</a:t>
            </a:r>
            <a:r>
              <a:rPr lang="en-US" altLang="zh-CN" dirty="0" err="1" smtClean="0"/>
              <a:t>opencv</a:t>
            </a:r>
            <a:r>
              <a:rPr lang="zh-CN" altLang="en-US" dirty="0" smtClean="0"/>
              <a:t>库做一些简单的数据增强</a:t>
            </a:r>
            <a:endParaRPr lang="en-US" altLang="zh-CN" dirty="0" smtClean="0"/>
          </a:p>
          <a:p>
            <a:pPr marL="342900" indent="-342900">
              <a:lnSpc>
                <a:spcPct val="125000"/>
              </a:lnSpc>
              <a:buFont typeface="+mj-lt"/>
              <a:buAutoNum type="arabicPeriod"/>
            </a:pPr>
            <a:r>
              <a:rPr lang="zh-CN" altLang="en-US" dirty="0"/>
              <a:t>检验</a:t>
            </a:r>
            <a:r>
              <a:rPr lang="zh-CN" altLang="en-US" dirty="0" smtClean="0"/>
              <a:t>数据增强结果</a:t>
            </a: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数据增强</a:t>
            </a:r>
            <a:endParaRPr lang="zh-CN" altLang="en-US" dirty="0"/>
          </a:p>
        </p:txBody>
      </p:sp>
      <p:sp>
        <p:nvSpPr>
          <p:cNvPr id="3" name="内容占位符 2"/>
          <p:cNvSpPr>
            <a:spLocks noGrp="1"/>
          </p:cNvSpPr>
          <p:nvPr>
            <p:ph sz="quarter" idx="13"/>
          </p:nvPr>
        </p:nvSpPr>
        <p:spPr/>
        <p:txBody>
          <a:bodyPr/>
          <a:lstStyle/>
          <a:p>
            <a:r>
              <a:rPr lang="zh-CN" altLang="en-US" dirty="0" smtClean="0"/>
              <a:t>数据增强的几种常用方法：</a:t>
            </a:r>
            <a:endParaRPr lang="en-US" altLang="zh-CN" dirty="0" smtClean="0"/>
          </a:p>
          <a:p>
            <a:pPr lvl="1"/>
            <a:r>
              <a:rPr lang="zh-CN" altLang="en-US" dirty="0" smtClean="0"/>
              <a:t>对图像进行一定比例的缩放</a:t>
            </a:r>
            <a:endParaRPr lang="en-US" altLang="zh-CN" dirty="0" smtClean="0"/>
          </a:p>
          <a:p>
            <a:pPr lvl="1"/>
            <a:r>
              <a:rPr lang="zh-CN" altLang="en-US" dirty="0"/>
              <a:t>对</a:t>
            </a:r>
            <a:r>
              <a:rPr lang="zh-CN" altLang="en-US" dirty="0" smtClean="0"/>
              <a:t>图像进行随机位置的截取</a:t>
            </a:r>
            <a:endParaRPr lang="en-US" altLang="zh-CN" dirty="0" smtClean="0"/>
          </a:p>
          <a:p>
            <a:pPr lvl="1"/>
            <a:r>
              <a:rPr lang="zh-CN" altLang="en-US" dirty="0" smtClean="0"/>
              <a:t>对图像进行水平和垂直翻转</a:t>
            </a:r>
            <a:endParaRPr lang="en-US" altLang="zh-CN" dirty="0" smtClean="0"/>
          </a:p>
          <a:p>
            <a:pPr lvl="1"/>
            <a:r>
              <a:rPr lang="zh-CN" altLang="en-US" dirty="0" smtClean="0"/>
              <a:t>对图像进行一定角度的旋转</a:t>
            </a:r>
            <a:endParaRPr lang="en-US" altLang="zh-CN" dirty="0" smtClean="0"/>
          </a:p>
          <a:p>
            <a:pPr lvl="1"/>
            <a:r>
              <a:rPr lang="zh-CN" altLang="en-US" dirty="0" smtClean="0"/>
              <a:t>对图像进行亮度、对比度的变换</a:t>
            </a:r>
            <a:endParaRPr lang="zh-CN" altLang="en-US" dirty="0"/>
          </a:p>
        </p:txBody>
      </p:sp>
    </p:spTree>
    <p:extLst>
      <p:ext uri="{BB962C8B-B14F-4D97-AF65-F5344CB8AC3E}">
        <p14:creationId xmlns:p14="http://schemas.microsoft.com/office/powerpoint/2010/main" val="3415179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3172778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lvl="0"/>
            <a:r>
              <a:rPr lang="zh-CN" altLang="zh-CN" dirty="0"/>
              <a:t>运行</a:t>
            </a:r>
            <a:r>
              <a:rPr lang="en-US" altLang="zh-CN" dirty="0"/>
              <a:t>Windows</a:t>
            </a:r>
            <a:r>
              <a:rPr lang="zh-CN" altLang="zh-CN" dirty="0"/>
              <a:t>的</a:t>
            </a:r>
            <a:r>
              <a:rPr lang="en-US" altLang="zh-CN" dirty="0"/>
              <a:t>PC</a:t>
            </a:r>
            <a:r>
              <a:rPr lang="zh-CN" altLang="zh-CN" dirty="0"/>
              <a:t>机一台，其中包含：</a:t>
            </a:r>
          </a:p>
          <a:p>
            <a:pPr lvl="1"/>
            <a:r>
              <a:rPr lang="en-US" altLang="zh-CN" dirty="0"/>
              <a:t>Python</a:t>
            </a:r>
            <a:r>
              <a:rPr lang="zh-CN" altLang="zh-CN" dirty="0"/>
              <a:t>，版本</a:t>
            </a:r>
            <a:r>
              <a:rPr lang="en-US" altLang="zh-CN" dirty="0"/>
              <a:t>3.6</a:t>
            </a:r>
            <a:r>
              <a:rPr lang="zh-CN" altLang="zh-CN" dirty="0"/>
              <a:t>，其中包含：</a:t>
            </a:r>
          </a:p>
          <a:p>
            <a:pPr lvl="2"/>
            <a:r>
              <a:rPr lang="zh-CN" altLang="zh-CN" dirty="0"/>
              <a:t>数学库</a:t>
            </a:r>
            <a:r>
              <a:rPr lang="en-US" altLang="zh-CN" dirty="0"/>
              <a:t>math</a:t>
            </a:r>
            <a:endParaRPr lang="zh-CN" altLang="zh-CN" dirty="0"/>
          </a:p>
          <a:p>
            <a:pPr lvl="2"/>
            <a:r>
              <a:rPr lang="zh-CN" altLang="zh-CN" dirty="0"/>
              <a:t>操作系统交互库</a:t>
            </a:r>
            <a:r>
              <a:rPr lang="en-US" altLang="zh-CN" dirty="0" err="1"/>
              <a:t>os</a:t>
            </a:r>
            <a:endParaRPr lang="zh-CN" altLang="zh-CN" dirty="0"/>
          </a:p>
          <a:p>
            <a:pPr lvl="1"/>
            <a:r>
              <a:rPr lang="zh-CN" altLang="zh-CN" dirty="0"/>
              <a:t>计算机视觉</a:t>
            </a:r>
            <a:r>
              <a:rPr lang="en-US" altLang="zh-CN" dirty="0" err="1"/>
              <a:t>Opencv</a:t>
            </a:r>
            <a:r>
              <a:rPr lang="zh-CN" altLang="zh-CN" dirty="0"/>
              <a:t>库，版本</a:t>
            </a:r>
            <a:r>
              <a:rPr lang="en-US" altLang="zh-CN" dirty="0"/>
              <a:t>3.4.2.17</a:t>
            </a:r>
            <a:r>
              <a:rPr lang="zh-CN" altLang="zh-CN" dirty="0"/>
              <a:t>，其中包含：</a:t>
            </a:r>
          </a:p>
          <a:p>
            <a:pPr lvl="2"/>
            <a:r>
              <a:rPr lang="zh-CN" altLang="zh-CN" dirty="0"/>
              <a:t>多维数组与矩阵运算库</a:t>
            </a:r>
            <a:r>
              <a:rPr lang="en-US" altLang="zh-CN" dirty="0" err="1"/>
              <a:t>numpy</a:t>
            </a:r>
            <a:r>
              <a:rPr lang="zh-CN" altLang="zh-CN" dirty="0"/>
              <a:t>，版本</a:t>
            </a:r>
            <a:r>
              <a:rPr lang="en-US" altLang="zh-CN" dirty="0"/>
              <a:t>1.19.2</a:t>
            </a:r>
            <a:endParaRPr lang="zh-CN" altLang="zh-CN" dirty="0"/>
          </a:p>
          <a:p>
            <a:pPr lvl="1"/>
            <a:r>
              <a:rPr lang="zh-CN" altLang="zh-CN" dirty="0"/>
              <a:t>支持</a:t>
            </a:r>
            <a:r>
              <a:rPr lang="en-US" altLang="zh-CN" dirty="0"/>
              <a:t>HTML</a:t>
            </a:r>
            <a:r>
              <a:rPr lang="zh-CN" altLang="zh-CN" dirty="0"/>
              <a:t>和</a:t>
            </a:r>
            <a:r>
              <a:rPr lang="en-US" altLang="zh-CN" dirty="0"/>
              <a:t>XML</a:t>
            </a:r>
            <a:r>
              <a:rPr lang="zh-CN" altLang="zh-CN" dirty="0"/>
              <a:t>的解析库</a:t>
            </a:r>
            <a:r>
              <a:rPr lang="en-US" altLang="zh-CN" dirty="0" err="1"/>
              <a:t>lxml</a:t>
            </a:r>
            <a:r>
              <a:rPr lang="zh-CN" altLang="zh-CN" dirty="0"/>
              <a:t>，版本</a:t>
            </a:r>
            <a:r>
              <a:rPr lang="en-US" altLang="zh-CN" dirty="0" smtClean="0"/>
              <a:t>4.6.3</a:t>
            </a:r>
            <a:endParaRPr lang="zh-CN" altLang="zh-CN" dirty="0"/>
          </a:p>
        </p:txBody>
      </p:sp>
    </p:spTree>
    <p:extLst>
      <p:ext uri="{BB962C8B-B14F-4D97-AF65-F5344CB8AC3E}">
        <p14:creationId xmlns:p14="http://schemas.microsoft.com/office/powerpoint/2010/main" val="3353417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2305384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zh-CN" altLang="en-US" dirty="0" smtClean="0"/>
              <a:t>程序代码介绍</a:t>
            </a:r>
            <a:endParaRPr lang="en-US" altLang="zh-CN" dirty="0" smtClean="0"/>
          </a:p>
          <a:p>
            <a:pPr>
              <a:lnSpc>
                <a:spcPct val="125000"/>
              </a:lnSpc>
            </a:pPr>
            <a:r>
              <a:rPr lang="zh-CN" altLang="en-US" dirty="0" smtClean="0"/>
              <a:t>图像翻转</a:t>
            </a:r>
            <a:endParaRPr lang="en-US" altLang="zh-CN" dirty="0" smtClean="0"/>
          </a:p>
          <a:p>
            <a:pPr>
              <a:lnSpc>
                <a:spcPct val="125000"/>
              </a:lnSpc>
            </a:pPr>
            <a:r>
              <a:rPr lang="zh-CN" altLang="en-US" dirty="0" smtClean="0"/>
              <a:t>图像旋转</a:t>
            </a:r>
            <a:endParaRPr lang="en-US" altLang="zh-CN" dirty="0" smtClean="0"/>
          </a:p>
          <a:p>
            <a:pPr>
              <a:lnSpc>
                <a:spcPct val="125000"/>
              </a:lnSpc>
            </a:pPr>
            <a:r>
              <a:rPr lang="zh-CN" altLang="en-US" dirty="0" smtClean="0"/>
              <a:t>图像亮度对比度变换</a:t>
            </a:r>
            <a:endParaRPr lang="en-US" altLang="zh-CN" dirty="0" smtClean="0"/>
          </a:p>
          <a:p>
            <a:pPr>
              <a:lnSpc>
                <a:spcPct val="125000"/>
              </a:lnSpc>
            </a:pPr>
            <a:r>
              <a:rPr lang="zh-CN" altLang="en-US" dirty="0" smtClean="0"/>
              <a:t>数据检验</a:t>
            </a:r>
            <a:endParaRPr lang="en-US" altLang="zh-CN" dirty="0" smtClean="0"/>
          </a:p>
        </p:txBody>
      </p:sp>
    </p:spTree>
    <p:extLst>
      <p:ext uri="{BB962C8B-B14F-4D97-AF65-F5344CB8AC3E}">
        <p14:creationId xmlns:p14="http://schemas.microsoft.com/office/powerpoint/2010/main" val="2880115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186979824"/>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932648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zh-CN" altLang="zh-CN" dirty="0"/>
              <a:t>本实验需要用到</a:t>
            </a:r>
            <a:r>
              <a:rPr lang="en-US" altLang="zh-CN" dirty="0"/>
              <a:t>mirror.py</a:t>
            </a:r>
            <a:r>
              <a:rPr lang="zh-CN" altLang="zh-CN" dirty="0"/>
              <a:t>，</a:t>
            </a:r>
            <a:r>
              <a:rPr lang="en-US" altLang="zh-CN" dirty="0"/>
              <a:t>rotated.py</a:t>
            </a:r>
            <a:r>
              <a:rPr lang="zh-CN" altLang="zh-CN" dirty="0"/>
              <a:t>，</a:t>
            </a:r>
            <a:r>
              <a:rPr lang="en-US" altLang="zh-CN" dirty="0"/>
              <a:t>color.py</a:t>
            </a:r>
            <a:r>
              <a:rPr lang="zh-CN" altLang="zh-CN" dirty="0"/>
              <a:t>，</a:t>
            </a:r>
            <a:r>
              <a:rPr lang="en-US" altLang="zh-CN" dirty="0"/>
              <a:t>change_xml.py</a:t>
            </a:r>
            <a:r>
              <a:rPr lang="zh-CN" altLang="zh-CN" dirty="0"/>
              <a:t>，以及可能用到的</a:t>
            </a:r>
            <a:r>
              <a:rPr lang="en-US" altLang="zh-CN" dirty="0"/>
              <a:t>apart.py</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0920" y="2752833"/>
            <a:ext cx="6028571" cy="1761905"/>
          </a:xfrm>
          <a:prstGeom prst="rect">
            <a:avLst/>
          </a:prstGeom>
        </p:spPr>
      </p:pic>
    </p:spTree>
    <p:extLst>
      <p:ext uri="{BB962C8B-B14F-4D97-AF65-F5344CB8AC3E}">
        <p14:creationId xmlns:p14="http://schemas.microsoft.com/office/powerpoint/2010/main" val="1185127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en-US" altLang="zh-CN" dirty="0"/>
              <a:t>mirror.py</a:t>
            </a:r>
            <a:r>
              <a:rPr lang="zh-CN" altLang="zh-CN" dirty="0"/>
              <a:t>主要由函数</a:t>
            </a:r>
            <a:r>
              <a:rPr lang="en-US" altLang="zh-CN" dirty="0"/>
              <a:t>mirror()</a:t>
            </a:r>
            <a:r>
              <a:rPr lang="zh-CN" altLang="zh-CN" dirty="0"/>
              <a:t>及其他</a:t>
            </a:r>
            <a:r>
              <a:rPr lang="en-US" altLang="zh-CN" dirty="0"/>
              <a:t>6</a:t>
            </a:r>
            <a:r>
              <a:rPr lang="zh-CN" altLang="zh-CN" dirty="0"/>
              <a:t>个控制图像和标注框翻转的函数实现翻转功能：</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9015" y="1742840"/>
            <a:ext cx="5552381" cy="4476190"/>
          </a:xfrm>
          <a:prstGeom prst="rect">
            <a:avLst/>
          </a:prstGeom>
        </p:spPr>
      </p:pic>
    </p:spTree>
    <p:extLst>
      <p:ext uri="{BB962C8B-B14F-4D97-AF65-F5344CB8AC3E}">
        <p14:creationId xmlns:p14="http://schemas.microsoft.com/office/powerpoint/2010/main" val="170099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zh-CN" altLang="zh-CN" dirty="0"/>
              <a:t>其中，函数</a:t>
            </a:r>
            <a:r>
              <a:rPr lang="en-US" altLang="zh-CN" dirty="0"/>
              <a:t>*_</a:t>
            </a:r>
            <a:r>
              <a:rPr lang="en-US" altLang="zh-CN" dirty="0" err="1"/>
              <a:t>MirrorImg</a:t>
            </a:r>
            <a:r>
              <a:rPr lang="en-US" altLang="zh-CN" dirty="0"/>
              <a:t>()</a:t>
            </a:r>
            <a:r>
              <a:rPr lang="zh-CN" altLang="zh-CN" dirty="0"/>
              <a:t>通过调用</a:t>
            </a:r>
            <a:r>
              <a:rPr lang="en-US" altLang="zh-CN" dirty="0" err="1"/>
              <a:t>opencv</a:t>
            </a:r>
            <a:r>
              <a:rPr lang="zh-CN" altLang="zh-CN" dirty="0"/>
              <a:t>库中的方法实现图像翻转并保存新的图像：</a:t>
            </a:r>
          </a:p>
          <a:p>
            <a:r>
              <a:rPr lang="zh-CN" altLang="zh-CN" dirty="0"/>
              <a:t>以</a:t>
            </a:r>
            <a:r>
              <a:rPr lang="en-US" altLang="zh-CN" dirty="0" err="1"/>
              <a:t>h_MirrorImg</a:t>
            </a:r>
            <a:r>
              <a:rPr lang="en-US" altLang="zh-CN" dirty="0"/>
              <a:t>(</a:t>
            </a:r>
            <a:r>
              <a:rPr lang="en-US" altLang="zh-CN" dirty="0" err="1"/>
              <a:t>img_path,img_write_path</a:t>
            </a:r>
            <a:r>
              <a:rPr lang="en-US" altLang="zh-CN" dirty="0"/>
              <a:t>)</a:t>
            </a:r>
            <a:r>
              <a:rPr lang="zh-CN" altLang="zh-CN" dirty="0"/>
              <a:t>为例：（</a:t>
            </a:r>
            <a:r>
              <a:rPr lang="en-US" altLang="zh-CN" dirty="0"/>
              <a:t>h</a:t>
            </a:r>
            <a:r>
              <a:rPr lang="zh-CN" altLang="zh-CN" dirty="0"/>
              <a:t>水平，</a:t>
            </a:r>
            <a:r>
              <a:rPr lang="en-US" altLang="zh-CN" dirty="0"/>
              <a:t>v</a:t>
            </a:r>
            <a:r>
              <a:rPr lang="zh-CN" altLang="zh-CN" dirty="0"/>
              <a:t>垂直，</a:t>
            </a:r>
            <a:r>
              <a:rPr lang="en-US" altLang="zh-CN" dirty="0"/>
              <a:t>a</a:t>
            </a:r>
            <a:r>
              <a:rPr lang="zh-CN" altLang="zh-CN" dirty="0"/>
              <a:t>水平加垂直</a:t>
            </a:r>
            <a:r>
              <a:rPr lang="zh-CN" altLang="zh-CN" dirty="0" smtClean="0"/>
              <a:t>）</a:t>
            </a:r>
            <a:endParaRPr lang="en-US" altLang="zh-CN" dirty="0" smtClean="0"/>
          </a:p>
          <a:p>
            <a:endParaRPr lang="en-US" altLang="zh-CN" dirty="0"/>
          </a:p>
          <a:p>
            <a:endParaRPr lang="en-US" altLang="zh-CN" dirty="0" smtClean="0"/>
          </a:p>
          <a:p>
            <a:endParaRPr lang="en-US" altLang="zh-CN" dirty="0"/>
          </a:p>
          <a:p>
            <a:pPr lvl="1"/>
            <a:r>
              <a:rPr lang="en-US" altLang="zh-CN" dirty="0"/>
              <a:t>cv2.imread(</a:t>
            </a:r>
            <a:r>
              <a:rPr lang="zh-CN" altLang="zh-CN" dirty="0"/>
              <a:t>图像路径</a:t>
            </a:r>
            <a:r>
              <a:rPr lang="en-US" altLang="zh-CN" dirty="0"/>
              <a:t>)</a:t>
            </a:r>
            <a:r>
              <a:rPr lang="zh-CN" altLang="zh-CN" dirty="0"/>
              <a:t>，读取图像；</a:t>
            </a:r>
          </a:p>
          <a:p>
            <a:pPr lvl="1"/>
            <a:r>
              <a:rPr lang="en-US" altLang="zh-CN" dirty="0"/>
              <a:t>cv2.flip(</a:t>
            </a:r>
            <a:r>
              <a:rPr lang="zh-CN" altLang="zh-CN" dirty="0"/>
              <a:t>图像</a:t>
            </a:r>
            <a:r>
              <a:rPr lang="en-US" altLang="zh-CN" dirty="0"/>
              <a:t>,</a:t>
            </a:r>
            <a:r>
              <a:rPr lang="zh-CN" altLang="zh-CN" dirty="0"/>
              <a:t>翻转参数</a:t>
            </a:r>
            <a:r>
              <a:rPr lang="en-US" altLang="zh-CN" dirty="0"/>
              <a:t>)</a:t>
            </a:r>
            <a:r>
              <a:rPr lang="zh-CN" altLang="zh-CN" dirty="0"/>
              <a:t>，翻转图像；（翻转参数</a:t>
            </a:r>
            <a:r>
              <a:rPr lang="en-US" altLang="zh-CN" dirty="0"/>
              <a:t>1</a:t>
            </a:r>
            <a:r>
              <a:rPr lang="zh-CN" altLang="zh-CN" dirty="0"/>
              <a:t>➡水平，</a:t>
            </a:r>
            <a:r>
              <a:rPr lang="en-US" altLang="zh-CN" dirty="0"/>
              <a:t>0</a:t>
            </a:r>
            <a:r>
              <a:rPr lang="zh-CN" altLang="zh-CN" dirty="0"/>
              <a:t>➡垂直，</a:t>
            </a:r>
            <a:r>
              <a:rPr lang="en-US" altLang="zh-CN" dirty="0"/>
              <a:t>-1</a:t>
            </a:r>
            <a:r>
              <a:rPr lang="zh-CN" altLang="zh-CN" dirty="0"/>
              <a:t>➡水平加垂直）</a:t>
            </a:r>
          </a:p>
          <a:p>
            <a:pPr lvl="1"/>
            <a:r>
              <a:rPr lang="en-US" altLang="zh-CN" dirty="0"/>
              <a:t>cv2.imwrite(</a:t>
            </a:r>
            <a:r>
              <a:rPr lang="zh-CN" altLang="zh-CN" dirty="0"/>
              <a:t>翻转图像写入路径</a:t>
            </a:r>
            <a:r>
              <a:rPr lang="en-US" altLang="zh-CN" dirty="0"/>
              <a:t>,</a:t>
            </a:r>
            <a:r>
              <a:rPr lang="zh-CN" altLang="zh-CN" dirty="0"/>
              <a:t>翻转图像</a:t>
            </a:r>
            <a:r>
              <a:rPr lang="en-US" altLang="zh-CN" dirty="0"/>
              <a:t>)</a:t>
            </a:r>
            <a:r>
              <a:rPr lang="zh-CN" altLang="zh-CN" dirty="0"/>
              <a:t>，保存新的图像；</a:t>
            </a:r>
          </a:p>
          <a:p>
            <a:r>
              <a:rPr lang="zh-CN" altLang="zh-CN" dirty="0"/>
              <a:t>函数</a:t>
            </a:r>
            <a:r>
              <a:rPr lang="en-US" altLang="zh-CN" dirty="0"/>
              <a:t>*_</a:t>
            </a:r>
            <a:r>
              <a:rPr lang="en-US" altLang="zh-CN" dirty="0" err="1"/>
              <a:t>MirrorAnno</a:t>
            </a:r>
            <a:r>
              <a:rPr lang="en-US" altLang="zh-CN" dirty="0"/>
              <a:t>()</a:t>
            </a:r>
            <a:r>
              <a:rPr lang="zh-CN" altLang="zh-CN" dirty="0"/>
              <a:t>通过</a:t>
            </a:r>
            <a:r>
              <a:rPr lang="en-US" altLang="zh-CN" dirty="0" err="1"/>
              <a:t>lxml</a:t>
            </a:r>
            <a:r>
              <a:rPr lang="zh-CN" altLang="zh-CN" dirty="0"/>
              <a:t>库中的方法对标注框</a:t>
            </a:r>
            <a:r>
              <a:rPr lang="en-US" altLang="zh-CN" dirty="0" err="1"/>
              <a:t>bbox</a:t>
            </a:r>
            <a:r>
              <a:rPr lang="zh-CN" altLang="zh-CN" dirty="0"/>
              <a:t>进行一系列计算并保存新的标签文件，读取修改后写入的原理大致相同。</a:t>
            </a:r>
          </a:p>
          <a:p>
            <a:r>
              <a:rPr lang="zh-CN" altLang="zh-CN" dirty="0"/>
              <a:t>函数</a:t>
            </a:r>
            <a:r>
              <a:rPr lang="en-US" altLang="zh-CN" dirty="0"/>
              <a:t>mirror()</a:t>
            </a:r>
            <a:r>
              <a:rPr lang="zh-CN" altLang="zh-CN" dirty="0"/>
              <a:t>起到主函数的作用，将前</a:t>
            </a:r>
            <a:r>
              <a:rPr lang="en-US" altLang="zh-CN" dirty="0"/>
              <a:t>6</a:t>
            </a:r>
            <a:r>
              <a:rPr lang="zh-CN" altLang="zh-CN" dirty="0"/>
              <a:t>个函数的功能整合。如果写入路径不存在，则新建文件夹</a:t>
            </a:r>
            <a:r>
              <a:rPr lang="zh-CN" altLang="zh-CN" dirty="0" smtClean="0"/>
              <a:t>。</a:t>
            </a:r>
            <a:endParaRPr lang="zh-CN" altLang="zh-CN" dirty="0"/>
          </a:p>
          <a:p>
            <a:endParaRPr lang="zh-CN" altLang="en-US" dirty="0"/>
          </a:p>
        </p:txBody>
      </p:sp>
      <p:pic>
        <p:nvPicPr>
          <p:cNvPr id="4" name="图片 3"/>
          <p:cNvPicPr>
            <a:picLocks noChangeAspect="1"/>
          </p:cNvPicPr>
          <p:nvPr/>
        </p:nvPicPr>
        <p:blipFill>
          <a:blip r:embed="rId2"/>
          <a:stretch>
            <a:fillRect/>
          </a:stretch>
        </p:blipFill>
        <p:spPr>
          <a:xfrm>
            <a:off x="4009491" y="2334194"/>
            <a:ext cx="4171429" cy="885714"/>
          </a:xfrm>
          <a:prstGeom prst="rect">
            <a:avLst/>
          </a:prstGeom>
        </p:spPr>
      </p:pic>
    </p:spTree>
    <p:extLst>
      <p:ext uri="{BB962C8B-B14F-4D97-AF65-F5344CB8AC3E}">
        <p14:creationId xmlns:p14="http://schemas.microsoft.com/office/powerpoint/2010/main" val="535039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en-US" altLang="zh-CN" dirty="0"/>
              <a:t>rotated.py</a:t>
            </a:r>
            <a:r>
              <a:rPr lang="zh-CN" altLang="zh-CN" dirty="0"/>
              <a:t>由</a:t>
            </a:r>
            <a:r>
              <a:rPr lang="en-US" altLang="zh-CN" dirty="0" err="1"/>
              <a:t>getRotatedImg</a:t>
            </a:r>
            <a:r>
              <a:rPr lang="en-US" altLang="zh-CN" dirty="0"/>
              <a:t>()</a:t>
            </a:r>
            <a:r>
              <a:rPr lang="zh-CN" altLang="zh-CN" dirty="0"/>
              <a:t>，</a:t>
            </a:r>
            <a:r>
              <a:rPr lang="en-US" altLang="zh-CN" dirty="0" err="1"/>
              <a:t>getRotatedAnno</a:t>
            </a:r>
            <a:r>
              <a:rPr lang="en-US" altLang="zh-CN" dirty="0"/>
              <a:t>()</a:t>
            </a:r>
            <a:r>
              <a:rPr lang="zh-CN" altLang="zh-CN" dirty="0"/>
              <a:t>，</a:t>
            </a:r>
            <a:r>
              <a:rPr lang="en-US" altLang="zh-CN" dirty="0"/>
              <a:t>rotate()</a:t>
            </a:r>
            <a:r>
              <a:rPr lang="zh-CN" altLang="zh-CN" dirty="0"/>
              <a:t>三个函数实现旋转功能：</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9968" y="1581405"/>
            <a:ext cx="6590476" cy="4104762"/>
          </a:xfrm>
          <a:prstGeom prst="rect">
            <a:avLst/>
          </a:prstGeom>
        </p:spPr>
      </p:pic>
    </p:spTree>
    <p:extLst>
      <p:ext uri="{BB962C8B-B14F-4D97-AF65-F5344CB8AC3E}">
        <p14:creationId xmlns:p14="http://schemas.microsoft.com/office/powerpoint/2010/main" val="1008830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zh-CN" altLang="zh-CN" dirty="0"/>
              <a:t>函数</a:t>
            </a:r>
            <a:r>
              <a:rPr lang="en-US" altLang="zh-CN" dirty="0" err="1"/>
              <a:t>getRotatedImg</a:t>
            </a:r>
            <a:r>
              <a:rPr lang="en-US" altLang="zh-CN" dirty="0"/>
              <a:t>()</a:t>
            </a:r>
            <a:r>
              <a:rPr lang="zh-CN" altLang="zh-CN" dirty="0"/>
              <a:t>调用</a:t>
            </a:r>
            <a:r>
              <a:rPr lang="en-US" altLang="zh-CN" dirty="0" err="1"/>
              <a:t>opencv</a:t>
            </a:r>
            <a:r>
              <a:rPr lang="zh-CN" altLang="zh-CN" dirty="0"/>
              <a:t>库的方法，除调用读取和写入方法外，还调用了</a:t>
            </a:r>
            <a:r>
              <a:rPr lang="en-US" altLang="zh-CN" dirty="0"/>
              <a:t>getRotationMatrix2D()</a:t>
            </a:r>
            <a:r>
              <a:rPr lang="zh-CN" altLang="zh-CN" dirty="0"/>
              <a:t>和</a:t>
            </a:r>
            <a:r>
              <a:rPr lang="en-US" altLang="zh-CN" dirty="0" err="1"/>
              <a:t>warpAffine</a:t>
            </a:r>
            <a:r>
              <a:rPr lang="en-US" altLang="zh-CN" dirty="0"/>
              <a:t>()</a:t>
            </a:r>
            <a:r>
              <a:rPr lang="zh-CN" altLang="zh-CN" dirty="0"/>
              <a:t>方法</a:t>
            </a:r>
            <a:r>
              <a:rPr lang="zh-CN" altLang="zh-CN" dirty="0" smtClean="0"/>
              <a:t>：</a:t>
            </a:r>
            <a:endParaRPr lang="en-US" altLang="zh-CN" dirty="0" smtClean="0"/>
          </a:p>
          <a:p>
            <a:endParaRPr lang="en-US" altLang="zh-CN" dirty="0"/>
          </a:p>
          <a:p>
            <a:endParaRPr lang="en-US" altLang="zh-CN" dirty="0" smtClean="0"/>
          </a:p>
          <a:p>
            <a:endParaRPr lang="en-US" altLang="zh-CN" dirty="0"/>
          </a:p>
          <a:p>
            <a:pPr lvl="1"/>
            <a:r>
              <a:rPr lang="en-US" altLang="zh-CN" dirty="0"/>
              <a:t>getRotationMatrix2D()</a:t>
            </a:r>
            <a:r>
              <a:rPr lang="zh-CN" altLang="zh-CN" dirty="0"/>
              <a:t>三个参数分别为旋转中心（前两行代码就是计算图像的中心，否则默认旋转中心为图像左上角第一个像素）；旋转角度；旋转后的缩放比例。</a:t>
            </a:r>
          </a:p>
          <a:p>
            <a:pPr lvl="1"/>
            <a:r>
              <a:rPr lang="en-US" altLang="zh-CN" dirty="0" err="1"/>
              <a:t>warpAffine</a:t>
            </a:r>
            <a:r>
              <a:rPr lang="en-US" altLang="zh-CN" dirty="0"/>
              <a:t>()</a:t>
            </a:r>
            <a:r>
              <a:rPr lang="zh-CN" altLang="zh-CN" dirty="0"/>
              <a:t>三个参数分别为输入图像；变换矩阵；输出图像尺寸，这里保持尺寸不变。</a:t>
            </a:r>
          </a:p>
          <a:p>
            <a:r>
              <a:rPr lang="zh-CN" altLang="zh-CN" dirty="0"/>
              <a:t>函数</a:t>
            </a:r>
            <a:r>
              <a:rPr lang="en-US" altLang="zh-CN" dirty="0" err="1"/>
              <a:t>getRotatedAnno</a:t>
            </a:r>
            <a:r>
              <a:rPr lang="en-US" altLang="zh-CN" dirty="0"/>
              <a:t>()</a:t>
            </a:r>
            <a:r>
              <a:rPr lang="zh-CN" altLang="zh-CN" dirty="0"/>
              <a:t>在调用</a:t>
            </a:r>
            <a:r>
              <a:rPr lang="en-US" altLang="zh-CN" dirty="0" err="1"/>
              <a:t>lxml</a:t>
            </a:r>
            <a:r>
              <a:rPr lang="zh-CN" altLang="zh-CN" dirty="0"/>
              <a:t>库之外，还调用</a:t>
            </a:r>
            <a:r>
              <a:rPr lang="en-US" altLang="zh-CN" dirty="0"/>
              <a:t>math</a:t>
            </a:r>
            <a:r>
              <a:rPr lang="zh-CN" altLang="zh-CN" dirty="0"/>
              <a:t>库对标注框进行旋转计算。计算时用到了弧度，涉及三角函数</a:t>
            </a:r>
            <a:r>
              <a:rPr lang="en-US" altLang="zh-CN" dirty="0" err="1"/>
              <a:t>math.sin</a:t>
            </a:r>
            <a:r>
              <a:rPr lang="en-US" altLang="zh-CN" dirty="0"/>
              <a:t>()</a:t>
            </a:r>
            <a:r>
              <a:rPr lang="zh-CN" altLang="zh-CN" dirty="0"/>
              <a:t>与</a:t>
            </a:r>
            <a:r>
              <a:rPr lang="en-US" altLang="zh-CN" dirty="0" err="1"/>
              <a:t>math.cos</a:t>
            </a:r>
            <a:r>
              <a:rPr lang="en-US" altLang="zh-CN" dirty="0"/>
              <a:t>()</a:t>
            </a:r>
            <a:r>
              <a:rPr lang="zh-CN" altLang="zh-CN" dirty="0"/>
              <a:t>，具体计算方法不做赘述。</a:t>
            </a:r>
          </a:p>
          <a:p>
            <a:r>
              <a:rPr lang="zh-CN" altLang="zh-CN" dirty="0"/>
              <a:t>同样，函数</a:t>
            </a:r>
            <a:r>
              <a:rPr lang="en-US" altLang="zh-CN" dirty="0"/>
              <a:t>rotate()</a:t>
            </a:r>
            <a:r>
              <a:rPr lang="zh-CN" altLang="zh-CN" dirty="0"/>
              <a:t>起到主函数的作用，如果写入路径不存在，则新建文件夹，还将输入的旋转角度转化为弧度制。</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396" y="2204833"/>
            <a:ext cx="6247619" cy="866667"/>
          </a:xfrm>
          <a:prstGeom prst="rect">
            <a:avLst/>
          </a:prstGeom>
        </p:spPr>
      </p:pic>
    </p:spTree>
    <p:extLst>
      <p:ext uri="{BB962C8B-B14F-4D97-AF65-F5344CB8AC3E}">
        <p14:creationId xmlns:p14="http://schemas.microsoft.com/office/powerpoint/2010/main" val="2085966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en-US" altLang="zh-CN" dirty="0"/>
              <a:t>color.py</a:t>
            </a:r>
            <a:r>
              <a:rPr lang="zh-CN" altLang="zh-CN" dirty="0"/>
              <a:t>由</a:t>
            </a:r>
            <a:r>
              <a:rPr lang="en-US" altLang="zh-CN" dirty="0" err="1"/>
              <a:t>getColorImg</a:t>
            </a:r>
            <a:r>
              <a:rPr lang="en-US" altLang="zh-CN" dirty="0"/>
              <a:t>()</a:t>
            </a:r>
            <a:r>
              <a:rPr lang="zh-CN" altLang="zh-CN" dirty="0"/>
              <a:t>，</a:t>
            </a:r>
            <a:r>
              <a:rPr lang="en-US" altLang="zh-CN" dirty="0" err="1"/>
              <a:t>getColorAnno</a:t>
            </a:r>
            <a:r>
              <a:rPr lang="en-US" altLang="zh-CN" dirty="0"/>
              <a:t>()</a:t>
            </a:r>
            <a:r>
              <a:rPr lang="zh-CN" altLang="zh-CN" dirty="0"/>
              <a:t>，</a:t>
            </a:r>
            <a:r>
              <a:rPr lang="en-US" altLang="zh-CN" dirty="0"/>
              <a:t>color()</a:t>
            </a:r>
            <a:r>
              <a:rPr lang="zh-CN" altLang="zh-CN" dirty="0"/>
              <a:t>三个函数实现颜色变换功能：</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8539" y="1600452"/>
            <a:ext cx="6933333" cy="4066667"/>
          </a:xfrm>
          <a:prstGeom prst="rect">
            <a:avLst/>
          </a:prstGeom>
        </p:spPr>
      </p:pic>
    </p:spTree>
    <p:extLst>
      <p:ext uri="{BB962C8B-B14F-4D97-AF65-F5344CB8AC3E}">
        <p14:creationId xmlns:p14="http://schemas.microsoft.com/office/powerpoint/2010/main" val="1873149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zh-CN" altLang="zh-CN" dirty="0"/>
              <a:t>函数</a:t>
            </a:r>
            <a:r>
              <a:rPr lang="en-US" altLang="zh-CN" dirty="0" err="1"/>
              <a:t>getColorImg</a:t>
            </a:r>
            <a:r>
              <a:rPr lang="en-US" altLang="zh-CN" dirty="0"/>
              <a:t>()</a:t>
            </a:r>
            <a:r>
              <a:rPr lang="zh-CN" altLang="zh-CN" dirty="0"/>
              <a:t>除了调用</a:t>
            </a:r>
            <a:r>
              <a:rPr lang="en-US" altLang="zh-CN" dirty="0" err="1"/>
              <a:t>opencv</a:t>
            </a:r>
            <a:r>
              <a:rPr lang="zh-CN" altLang="zh-CN" dirty="0"/>
              <a:t>库的读取写入方法外，还调用</a:t>
            </a:r>
            <a:r>
              <a:rPr lang="en-US" altLang="zh-CN" dirty="0" err="1"/>
              <a:t>numpy</a:t>
            </a:r>
            <a:r>
              <a:rPr lang="zh-CN" altLang="zh-CN" dirty="0"/>
              <a:t>库中</a:t>
            </a:r>
            <a:r>
              <a:rPr lang="en-US" altLang="zh-CN" dirty="0"/>
              <a:t>uint8()</a:t>
            </a:r>
            <a:r>
              <a:rPr lang="zh-CN" altLang="zh-CN" dirty="0"/>
              <a:t>方法与</a:t>
            </a:r>
            <a:r>
              <a:rPr lang="en-US" altLang="zh-CN" dirty="0"/>
              <a:t>clip()</a:t>
            </a:r>
            <a:r>
              <a:rPr lang="zh-CN" altLang="zh-CN" dirty="0"/>
              <a:t>方法</a:t>
            </a:r>
            <a:r>
              <a:rPr lang="zh-CN" altLang="zh-CN" dirty="0" smtClean="0"/>
              <a:t>：</a:t>
            </a:r>
            <a:endParaRPr lang="en-US" altLang="zh-CN" dirty="0" smtClean="0"/>
          </a:p>
          <a:p>
            <a:endParaRPr lang="en-US" altLang="zh-CN" dirty="0"/>
          </a:p>
          <a:p>
            <a:endParaRPr lang="en-US" altLang="zh-CN" dirty="0" smtClean="0"/>
          </a:p>
          <a:p>
            <a:endParaRPr lang="en-US" altLang="zh-CN" dirty="0"/>
          </a:p>
          <a:p>
            <a:pPr lvl="1"/>
            <a:r>
              <a:rPr lang="zh-CN" altLang="zh-CN" dirty="0"/>
              <a:t>其中，</a:t>
            </a:r>
            <a:r>
              <a:rPr lang="en-US" altLang="zh-CN" dirty="0"/>
              <a:t>uint8()</a:t>
            </a:r>
            <a:r>
              <a:rPr lang="zh-CN" altLang="zh-CN" dirty="0"/>
              <a:t>方法将矩阵类型变为图像存储类型；（会截断所有大于</a:t>
            </a:r>
            <a:r>
              <a:rPr lang="en-US" altLang="zh-CN" dirty="0"/>
              <a:t>2</a:t>
            </a:r>
            <a:r>
              <a:rPr lang="en-US" altLang="zh-CN" baseline="30000" dirty="0"/>
              <a:t>8</a:t>
            </a:r>
            <a:r>
              <a:rPr lang="en-US" altLang="zh-CN" dirty="0"/>
              <a:t>-1=255</a:t>
            </a:r>
            <a:r>
              <a:rPr lang="zh-CN" altLang="zh-CN" dirty="0"/>
              <a:t>的值）</a:t>
            </a:r>
          </a:p>
          <a:p>
            <a:pPr lvl="1"/>
            <a:r>
              <a:rPr lang="en-US" altLang="zh-CN" dirty="0"/>
              <a:t>clip()</a:t>
            </a:r>
            <a:r>
              <a:rPr lang="zh-CN" altLang="zh-CN" dirty="0"/>
              <a:t>方法将取值范围定在</a:t>
            </a:r>
            <a:r>
              <a:rPr lang="en-US" altLang="zh-CN" dirty="0"/>
              <a:t>0~255</a:t>
            </a:r>
            <a:r>
              <a:rPr lang="zh-CN" altLang="zh-CN" dirty="0"/>
              <a:t>之间，</a:t>
            </a:r>
            <a:r>
              <a:rPr lang="en-US" altLang="zh-CN" dirty="0"/>
              <a:t>alpha</a:t>
            </a:r>
            <a:r>
              <a:rPr lang="zh-CN" altLang="zh-CN" dirty="0"/>
              <a:t>为图像对比度，</a:t>
            </a:r>
            <a:r>
              <a:rPr lang="en-US" altLang="zh-CN" dirty="0"/>
              <a:t>beta</a:t>
            </a:r>
            <a:r>
              <a:rPr lang="zh-CN" altLang="zh-CN" dirty="0"/>
              <a:t>为图像亮度，这两个值在后续自行修改。</a:t>
            </a:r>
          </a:p>
          <a:p>
            <a:r>
              <a:rPr lang="zh-CN" altLang="zh-CN" dirty="0"/>
              <a:t>函数</a:t>
            </a:r>
            <a:r>
              <a:rPr lang="en-US" altLang="zh-CN" dirty="0" err="1"/>
              <a:t>getColorAnno</a:t>
            </a:r>
            <a:r>
              <a:rPr lang="en-US" altLang="zh-CN" dirty="0"/>
              <a:t>()</a:t>
            </a:r>
            <a:r>
              <a:rPr lang="zh-CN" altLang="zh-CN" dirty="0"/>
              <a:t>仅仅只是读取原标签文件并写入另一个路径（类似于拷贝），因为图像颜色、对比度、亮度的变换并不会改变标注框的大小和位置。</a:t>
            </a:r>
          </a:p>
          <a:p>
            <a:r>
              <a:rPr lang="zh-CN" altLang="zh-CN" dirty="0"/>
              <a:t>同样，函数</a:t>
            </a:r>
            <a:r>
              <a:rPr lang="en-US" altLang="zh-CN" dirty="0"/>
              <a:t>color()</a:t>
            </a:r>
            <a:r>
              <a:rPr lang="zh-CN" altLang="zh-CN" dirty="0"/>
              <a:t>起到主函数的作用，如果写入路径不存在，则新建文件夹。</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4253" y="1743133"/>
            <a:ext cx="5161905" cy="933333"/>
          </a:xfrm>
          <a:prstGeom prst="rect">
            <a:avLst/>
          </a:prstGeom>
        </p:spPr>
      </p:pic>
    </p:spTree>
    <p:extLst>
      <p:ext uri="{BB962C8B-B14F-4D97-AF65-F5344CB8AC3E}">
        <p14:creationId xmlns:p14="http://schemas.microsoft.com/office/powerpoint/2010/main" val="1774816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en-US" altLang="zh-CN" dirty="0"/>
              <a:t>change_xml.py</a:t>
            </a:r>
            <a:r>
              <a:rPr lang="zh-CN" altLang="zh-CN" dirty="0"/>
              <a:t>调用</a:t>
            </a:r>
            <a:r>
              <a:rPr lang="en-US" altLang="zh-CN" dirty="0" err="1"/>
              <a:t>lxml</a:t>
            </a:r>
            <a:r>
              <a:rPr lang="zh-CN" altLang="zh-CN" dirty="0"/>
              <a:t>库的方法，实现对</a:t>
            </a:r>
            <a:r>
              <a:rPr lang="en-US" altLang="zh-CN" dirty="0"/>
              <a:t>xml</a:t>
            </a:r>
            <a:r>
              <a:rPr lang="zh-CN" altLang="zh-CN" dirty="0"/>
              <a:t>文件的批量修改，仅有一个</a:t>
            </a:r>
            <a:r>
              <a:rPr lang="en-US" altLang="zh-CN" dirty="0" err="1"/>
              <a:t>change_xml</a:t>
            </a:r>
            <a:r>
              <a:rPr lang="en-US" altLang="zh-CN" dirty="0"/>
              <a:t>()</a:t>
            </a:r>
            <a:r>
              <a:rPr lang="zh-CN" altLang="zh-CN" dirty="0"/>
              <a:t>函数和主函数。该程序适用于原始图像路径被移动后的情况，直接批量修改同名标签文件。</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4252" y="2178106"/>
            <a:ext cx="6541907" cy="3959168"/>
          </a:xfrm>
          <a:prstGeom prst="rect">
            <a:avLst/>
          </a:prstGeom>
        </p:spPr>
      </p:pic>
    </p:spTree>
    <p:extLst>
      <p:ext uri="{BB962C8B-B14F-4D97-AF65-F5344CB8AC3E}">
        <p14:creationId xmlns:p14="http://schemas.microsoft.com/office/powerpoint/2010/main" val="1765184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349070287"/>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0087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图像翻转</a:t>
            </a:r>
            <a:endParaRPr lang="zh-CN" altLang="en-US" dirty="0"/>
          </a:p>
        </p:txBody>
      </p:sp>
      <p:sp>
        <p:nvSpPr>
          <p:cNvPr id="3" name="内容占位符 2"/>
          <p:cNvSpPr>
            <a:spLocks noGrp="1"/>
          </p:cNvSpPr>
          <p:nvPr>
            <p:ph sz="quarter" idx="13"/>
          </p:nvPr>
        </p:nvSpPr>
        <p:spPr/>
        <p:txBody>
          <a:bodyPr/>
          <a:lstStyle/>
          <a:p>
            <a:r>
              <a:rPr lang="zh-CN" altLang="zh-CN" dirty="0"/>
              <a:t>图像翻转是指原始图像数据通过水平、垂直、水平垂直翻转进行数据增强。</a:t>
            </a:r>
          </a:p>
          <a:p>
            <a:r>
              <a:rPr lang="zh-CN" altLang="zh-CN" dirty="0"/>
              <a:t>将</a:t>
            </a:r>
            <a:r>
              <a:rPr lang="en-US" altLang="zh-CN" dirty="0"/>
              <a:t>mirror.py</a:t>
            </a:r>
            <a:r>
              <a:rPr lang="zh-CN" altLang="zh-CN" dirty="0"/>
              <a:t>文件放入先前设定的项目文件夹中，用</a:t>
            </a:r>
            <a:r>
              <a:rPr lang="en-US" altLang="zh-CN" dirty="0" err="1"/>
              <a:t>pycharm</a:t>
            </a:r>
            <a:r>
              <a:rPr lang="zh-CN" altLang="zh-CN" dirty="0"/>
              <a:t>打开。</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9082" y="2122866"/>
            <a:ext cx="5172248" cy="4014408"/>
          </a:xfrm>
          <a:prstGeom prst="rect">
            <a:avLst/>
          </a:prstGeom>
        </p:spPr>
      </p:pic>
    </p:spTree>
    <p:extLst>
      <p:ext uri="{BB962C8B-B14F-4D97-AF65-F5344CB8AC3E}">
        <p14:creationId xmlns:p14="http://schemas.microsoft.com/office/powerpoint/2010/main" val="1458998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图像翻转</a:t>
            </a:r>
            <a:endParaRPr lang="zh-CN" altLang="en-US" dirty="0"/>
          </a:p>
        </p:txBody>
      </p:sp>
      <p:sp>
        <p:nvSpPr>
          <p:cNvPr id="3" name="内容占位符 2"/>
          <p:cNvSpPr>
            <a:spLocks noGrp="1"/>
          </p:cNvSpPr>
          <p:nvPr>
            <p:ph sz="quarter" idx="13"/>
          </p:nvPr>
        </p:nvSpPr>
        <p:spPr/>
        <p:txBody>
          <a:bodyPr/>
          <a:lstStyle/>
          <a:p>
            <a:r>
              <a:rPr lang="zh-CN" altLang="zh-CN" dirty="0"/>
              <a:t>将文件中倒数几行的</a:t>
            </a:r>
            <a:r>
              <a:rPr lang="en-US" altLang="zh-CN" dirty="0" err="1"/>
              <a:t>img_dir</a:t>
            </a:r>
            <a:r>
              <a:rPr lang="zh-CN" altLang="zh-CN" dirty="0"/>
              <a:t>，</a:t>
            </a:r>
            <a:r>
              <a:rPr lang="en-US" altLang="zh-CN" dirty="0" err="1"/>
              <a:t>anno_dir</a:t>
            </a:r>
            <a:r>
              <a:rPr lang="zh-CN" altLang="zh-CN" dirty="0"/>
              <a:t>，</a:t>
            </a:r>
            <a:r>
              <a:rPr lang="en-US" altLang="zh-CN" dirty="0" err="1"/>
              <a:t>img_write_dir</a:t>
            </a:r>
            <a:r>
              <a:rPr lang="zh-CN" altLang="zh-CN" dirty="0"/>
              <a:t>，</a:t>
            </a:r>
            <a:r>
              <a:rPr lang="en-US" altLang="zh-CN" dirty="0" err="1"/>
              <a:t>anno_write_dir</a:t>
            </a:r>
            <a:r>
              <a:rPr lang="zh-CN" altLang="zh-CN" dirty="0"/>
              <a:t>改为自己的路径：</a:t>
            </a:r>
          </a:p>
          <a:p>
            <a:r>
              <a:rPr lang="en-US" altLang="zh-CN" dirty="0" err="1"/>
              <a:t>img_dir</a:t>
            </a:r>
            <a:r>
              <a:rPr lang="zh-CN" altLang="zh-CN" dirty="0"/>
              <a:t>指原始图像的路径，</a:t>
            </a:r>
            <a:r>
              <a:rPr lang="en-US" altLang="zh-CN" dirty="0" err="1"/>
              <a:t>anno_dir</a:t>
            </a:r>
            <a:r>
              <a:rPr lang="zh-CN" altLang="zh-CN" dirty="0"/>
              <a:t>指对应的原始标签文件的路径，</a:t>
            </a:r>
          </a:p>
          <a:p>
            <a:r>
              <a:rPr lang="en-US" altLang="zh-CN" dirty="0" err="1"/>
              <a:t>img_write_dir</a:t>
            </a:r>
            <a:r>
              <a:rPr lang="zh-CN" altLang="zh-CN" dirty="0"/>
              <a:t>与</a:t>
            </a:r>
            <a:r>
              <a:rPr lang="en-US" altLang="zh-CN" dirty="0" err="1"/>
              <a:t>anno_write_dir</a:t>
            </a:r>
            <a:r>
              <a:rPr lang="zh-CN" altLang="zh-CN" dirty="0"/>
              <a:t>指翻转后生成的图像与标签文件写入的路径，可以自己随意选择，建议选择绝对路径并放在同一级目录中。</a:t>
            </a:r>
          </a:p>
          <a:p>
            <a:r>
              <a:rPr lang="zh-CN" altLang="zh-CN" dirty="0"/>
              <a:t>运行</a:t>
            </a:r>
            <a:r>
              <a:rPr lang="en-US" altLang="zh-CN" dirty="0"/>
              <a:t>mirror.py</a:t>
            </a:r>
            <a:r>
              <a:rPr lang="zh-CN" altLang="zh-CN" dirty="0"/>
              <a:t>，在设置的路径中生成了两个新文件夹，分别包含翻转后的图片与标签文件：</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1872" y="3663502"/>
            <a:ext cx="7066667" cy="2290939"/>
          </a:xfrm>
          <a:prstGeom prst="rect">
            <a:avLst/>
          </a:prstGeom>
        </p:spPr>
      </p:pic>
    </p:spTree>
    <p:extLst>
      <p:ext uri="{BB962C8B-B14F-4D97-AF65-F5344CB8AC3E}">
        <p14:creationId xmlns:p14="http://schemas.microsoft.com/office/powerpoint/2010/main" val="17948921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4093277451"/>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63444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图像旋转</a:t>
            </a:r>
            <a:endParaRPr lang="zh-CN" altLang="en-US" dirty="0"/>
          </a:p>
        </p:txBody>
      </p:sp>
      <p:sp>
        <p:nvSpPr>
          <p:cNvPr id="3" name="内容占位符 2"/>
          <p:cNvSpPr>
            <a:spLocks noGrp="1"/>
          </p:cNvSpPr>
          <p:nvPr>
            <p:ph sz="quarter" idx="13"/>
          </p:nvPr>
        </p:nvSpPr>
        <p:spPr/>
        <p:txBody>
          <a:bodyPr/>
          <a:lstStyle/>
          <a:p>
            <a:r>
              <a:rPr lang="zh-CN" altLang="zh-CN" dirty="0"/>
              <a:t>图像旋转是指原始图像数据通过某一角度的旋转进行的数据增强。</a:t>
            </a:r>
          </a:p>
          <a:p>
            <a:r>
              <a:rPr lang="zh-CN" altLang="zh-CN" dirty="0"/>
              <a:t>将</a:t>
            </a:r>
            <a:r>
              <a:rPr lang="en-US" altLang="zh-CN" dirty="0"/>
              <a:t>rotated.py</a:t>
            </a:r>
            <a:r>
              <a:rPr lang="zh-CN" altLang="zh-CN" dirty="0"/>
              <a:t>文件放入先前设定的项目文件夹中，用</a:t>
            </a:r>
            <a:r>
              <a:rPr lang="en-US" altLang="zh-CN" dirty="0" err="1"/>
              <a:t>pycharm</a:t>
            </a:r>
            <a:r>
              <a:rPr lang="zh-CN" altLang="zh-CN" dirty="0"/>
              <a:t>打开。</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6634" y="2138548"/>
            <a:ext cx="6057143" cy="2990476"/>
          </a:xfrm>
          <a:prstGeom prst="rect">
            <a:avLst/>
          </a:prstGeom>
        </p:spPr>
      </p:pic>
    </p:spTree>
    <p:extLst>
      <p:ext uri="{BB962C8B-B14F-4D97-AF65-F5344CB8AC3E}">
        <p14:creationId xmlns:p14="http://schemas.microsoft.com/office/powerpoint/2010/main" val="2769191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图像旋转</a:t>
            </a:r>
            <a:endParaRPr lang="zh-CN" altLang="en-US" dirty="0"/>
          </a:p>
        </p:txBody>
      </p:sp>
      <p:sp>
        <p:nvSpPr>
          <p:cNvPr id="3" name="内容占位符 2"/>
          <p:cNvSpPr>
            <a:spLocks noGrp="1"/>
          </p:cNvSpPr>
          <p:nvPr>
            <p:ph sz="quarter" idx="13"/>
          </p:nvPr>
        </p:nvSpPr>
        <p:spPr/>
        <p:txBody>
          <a:bodyPr/>
          <a:lstStyle/>
          <a:p>
            <a:r>
              <a:rPr lang="zh-CN" altLang="zh-CN" dirty="0"/>
              <a:t>除了修改路径外，还需要设置旋转的角度值</a:t>
            </a:r>
            <a:r>
              <a:rPr lang="en-US" altLang="zh-CN" dirty="0"/>
              <a:t>angle</a:t>
            </a:r>
            <a:r>
              <a:rPr lang="zh-CN" altLang="zh-CN" dirty="0"/>
              <a:t>，程序文件函数中已经将输入的角度转换为弧度制方便计算，添加了负号使得默认旋转方向为逆时针。</a:t>
            </a:r>
          </a:p>
          <a:p>
            <a:r>
              <a:rPr lang="zh-CN" altLang="zh-CN" dirty="0"/>
              <a:t>运行</a:t>
            </a:r>
            <a:r>
              <a:rPr lang="en-US" altLang="zh-CN" dirty="0"/>
              <a:t>rotated.py</a:t>
            </a:r>
            <a:r>
              <a:rPr lang="zh-CN" altLang="zh-CN" dirty="0"/>
              <a:t>，在设置的路径中生成了两个新文件夹，分别</a:t>
            </a:r>
            <a:r>
              <a:rPr lang="zh-CN" altLang="zh-CN" dirty="0" smtClean="0"/>
              <a:t>包含旋转后</a:t>
            </a:r>
            <a:r>
              <a:rPr lang="zh-CN" altLang="zh-CN" dirty="0"/>
              <a:t>的图片与标签文件：</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1653" y="2405682"/>
            <a:ext cx="7847105" cy="2456208"/>
          </a:xfrm>
          <a:prstGeom prst="rect">
            <a:avLst/>
          </a:prstGeom>
        </p:spPr>
      </p:pic>
    </p:spTree>
    <p:extLst>
      <p:ext uri="{BB962C8B-B14F-4D97-AF65-F5344CB8AC3E}">
        <p14:creationId xmlns:p14="http://schemas.microsoft.com/office/powerpoint/2010/main" val="1641923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271122334"/>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40054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图像亮度对比度变换</a:t>
            </a:r>
            <a:endParaRPr lang="zh-CN" altLang="en-US" dirty="0"/>
          </a:p>
        </p:txBody>
      </p:sp>
      <p:sp>
        <p:nvSpPr>
          <p:cNvPr id="3" name="内容占位符 2"/>
          <p:cNvSpPr>
            <a:spLocks noGrp="1"/>
          </p:cNvSpPr>
          <p:nvPr>
            <p:ph sz="quarter" idx="13"/>
          </p:nvPr>
        </p:nvSpPr>
        <p:spPr/>
        <p:txBody>
          <a:bodyPr/>
          <a:lstStyle/>
          <a:p>
            <a:r>
              <a:rPr lang="zh-CN" altLang="zh-CN" dirty="0"/>
              <a:t>图像亮度对比度变换是指通过修改原始图像亮度与对比度进行的数据增强。</a:t>
            </a:r>
          </a:p>
          <a:p>
            <a:r>
              <a:rPr lang="zh-CN" altLang="zh-CN" dirty="0"/>
              <a:t>将</a:t>
            </a:r>
            <a:r>
              <a:rPr lang="en-US" altLang="zh-CN" dirty="0"/>
              <a:t>color.py</a:t>
            </a:r>
            <a:r>
              <a:rPr lang="zh-CN" altLang="zh-CN" dirty="0"/>
              <a:t>文件放入先前设定的项目文件夹中，用</a:t>
            </a:r>
            <a:r>
              <a:rPr lang="en-US" altLang="zh-CN" dirty="0" err="1"/>
              <a:t>pycharm</a:t>
            </a:r>
            <a:r>
              <a:rPr lang="zh-CN" altLang="zh-CN" dirty="0"/>
              <a:t>打开。</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23" y="2135789"/>
            <a:ext cx="5462966" cy="4001485"/>
          </a:xfrm>
          <a:prstGeom prst="rect">
            <a:avLst/>
          </a:prstGeom>
        </p:spPr>
      </p:pic>
    </p:spTree>
    <p:extLst>
      <p:ext uri="{BB962C8B-B14F-4D97-AF65-F5344CB8AC3E}">
        <p14:creationId xmlns:p14="http://schemas.microsoft.com/office/powerpoint/2010/main" val="25210659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图像亮度对比度变换</a:t>
            </a:r>
            <a:endParaRPr lang="zh-CN" altLang="en-US" dirty="0"/>
          </a:p>
        </p:txBody>
      </p:sp>
      <p:sp>
        <p:nvSpPr>
          <p:cNvPr id="3" name="内容占位符 2"/>
          <p:cNvSpPr>
            <a:spLocks noGrp="1"/>
          </p:cNvSpPr>
          <p:nvPr>
            <p:ph sz="quarter" idx="13"/>
          </p:nvPr>
        </p:nvSpPr>
        <p:spPr/>
        <p:txBody>
          <a:bodyPr/>
          <a:lstStyle/>
          <a:p>
            <a:r>
              <a:rPr lang="zh-CN" altLang="zh-CN" dirty="0"/>
              <a:t>除了修改路径外，还需要设置控制图像亮度对比度的值</a:t>
            </a:r>
            <a:r>
              <a:rPr lang="en-US" altLang="zh-CN" dirty="0"/>
              <a:t>alphas</a:t>
            </a:r>
            <a:r>
              <a:rPr lang="zh-CN" altLang="zh-CN" dirty="0"/>
              <a:t>和</a:t>
            </a:r>
            <a:r>
              <a:rPr lang="en-US" altLang="zh-CN" dirty="0"/>
              <a:t>beta</a:t>
            </a:r>
            <a:r>
              <a:rPr lang="zh-CN" altLang="zh-CN" dirty="0"/>
              <a:t>。</a:t>
            </a:r>
          </a:p>
          <a:p>
            <a:r>
              <a:rPr lang="zh-CN" altLang="zh-CN" dirty="0"/>
              <a:t>调整图像亮度和对比度属于像素变换操作，即遍历每一个像素点进行变换，公式为</a:t>
            </a:r>
            <a:r>
              <a:rPr lang="zh-CN" altLang="zh-CN" dirty="0" smtClean="0"/>
              <a:t>：</a:t>
            </a:r>
            <a:endParaRPr lang="en-US" altLang="zh-CN" dirty="0" smtClean="0"/>
          </a:p>
          <a:p>
            <a:endParaRPr lang="en-US" altLang="zh-CN" dirty="0"/>
          </a:p>
          <a:p>
            <a:endParaRPr lang="en-US" altLang="zh-CN" dirty="0" smtClean="0"/>
          </a:p>
          <a:p>
            <a:r>
              <a:rPr lang="zh-CN" altLang="zh-CN" dirty="0" smtClean="0"/>
              <a:t>增益</a:t>
            </a:r>
            <a:r>
              <a:rPr lang="zh-CN" altLang="zh-CN" dirty="0"/>
              <a:t>变量就是在前面基础上再加多少，亮度表示</a:t>
            </a:r>
            <a:r>
              <a:rPr lang="en-US" altLang="zh-CN" dirty="0"/>
              <a:t>0-255</a:t>
            </a:r>
            <a:r>
              <a:rPr lang="zh-CN" altLang="zh-CN" dirty="0"/>
              <a:t>之间的像素值大小，</a:t>
            </a:r>
            <a:r>
              <a:rPr lang="zh-CN" altLang="zh-CN" dirty="0" smtClean="0"/>
              <a:t>越亮越向</a:t>
            </a:r>
            <a:r>
              <a:rPr lang="zh-CN" altLang="zh-CN" dirty="0"/>
              <a:t>白的靠拢，像素值就该越大，整体要提高亮度就要扩大增益变量</a:t>
            </a:r>
            <a:r>
              <a:rPr lang="en-US" altLang="zh-CN" dirty="0"/>
              <a:t>beta</a:t>
            </a:r>
            <a:r>
              <a:rPr lang="zh-CN" altLang="zh-CN" dirty="0"/>
              <a:t>；</a:t>
            </a:r>
          </a:p>
          <a:p>
            <a:r>
              <a:rPr lang="zh-CN" altLang="zh-CN" dirty="0"/>
              <a:t>提高对比度就是扩大两图像像素的差值，增大</a:t>
            </a:r>
            <a:r>
              <a:rPr lang="en-US" altLang="zh-CN" dirty="0"/>
              <a:t>alpha</a:t>
            </a:r>
            <a:r>
              <a:rPr lang="zh-CN" altLang="zh-CN" dirty="0"/>
              <a:t>。提高对比度就是增大差值，大的越大，小的越小。对比度系数</a:t>
            </a:r>
            <a:r>
              <a:rPr lang="en-US" altLang="zh-CN" dirty="0"/>
              <a:t>alpha</a:t>
            </a:r>
            <a:r>
              <a:rPr lang="zh-CN" altLang="zh-CN" dirty="0"/>
              <a:t>，小于</a:t>
            </a:r>
            <a:r>
              <a:rPr lang="en-US" altLang="zh-CN" dirty="0"/>
              <a:t>1</a:t>
            </a:r>
            <a:r>
              <a:rPr lang="zh-CN" altLang="zh-CN" dirty="0"/>
              <a:t>变暗，大于</a:t>
            </a:r>
            <a:r>
              <a:rPr lang="en-US" altLang="zh-CN" dirty="0"/>
              <a:t>1</a:t>
            </a:r>
            <a:r>
              <a:rPr lang="zh-CN" altLang="zh-CN" dirty="0"/>
              <a:t>变亮</a:t>
            </a:r>
            <a:r>
              <a:rPr lang="zh-CN" altLang="zh-CN" dirty="0" smtClean="0"/>
              <a:t>。</a:t>
            </a:r>
            <a:endParaRPr lang="en-US" altLang="zh-CN" dirty="0" smtClean="0"/>
          </a:p>
          <a:p>
            <a:r>
              <a:rPr lang="zh-CN" altLang="zh-CN" dirty="0"/>
              <a:t>这里我们设置了</a:t>
            </a:r>
            <a:r>
              <a:rPr lang="en-US" altLang="zh-CN" dirty="0"/>
              <a:t>4</a:t>
            </a:r>
            <a:r>
              <a:rPr lang="zh-CN" altLang="zh-CN" dirty="0"/>
              <a:t>种</a:t>
            </a:r>
            <a:r>
              <a:rPr lang="en-US" altLang="zh-CN" dirty="0"/>
              <a:t>alpha</a:t>
            </a:r>
            <a:r>
              <a:rPr lang="zh-CN" altLang="zh-CN" dirty="0"/>
              <a:t>值与固定的</a:t>
            </a:r>
            <a:r>
              <a:rPr lang="en-US" altLang="zh-CN" dirty="0"/>
              <a:t>beta</a:t>
            </a:r>
            <a:r>
              <a:rPr lang="zh-CN" altLang="zh-CN" dirty="0"/>
              <a:t>值，也可以根据需要自行修改。</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7910" y="2154278"/>
            <a:ext cx="8354591" cy="638264"/>
          </a:xfrm>
          <a:prstGeom prst="rect">
            <a:avLst/>
          </a:prstGeom>
        </p:spPr>
      </p:pic>
    </p:spTree>
    <p:extLst>
      <p:ext uri="{BB962C8B-B14F-4D97-AF65-F5344CB8AC3E}">
        <p14:creationId xmlns:p14="http://schemas.microsoft.com/office/powerpoint/2010/main" val="3034344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图像亮度对比度变换</a:t>
            </a:r>
            <a:endParaRPr lang="zh-CN" altLang="en-US" dirty="0"/>
          </a:p>
        </p:txBody>
      </p:sp>
      <p:sp>
        <p:nvSpPr>
          <p:cNvPr id="3" name="内容占位符 2"/>
          <p:cNvSpPr>
            <a:spLocks noGrp="1"/>
          </p:cNvSpPr>
          <p:nvPr>
            <p:ph sz="quarter" idx="13"/>
          </p:nvPr>
        </p:nvSpPr>
        <p:spPr/>
        <p:txBody>
          <a:bodyPr/>
          <a:lstStyle/>
          <a:p>
            <a:r>
              <a:rPr lang="zh-CN" altLang="zh-CN" dirty="0"/>
              <a:t>运行</a:t>
            </a:r>
            <a:r>
              <a:rPr lang="en-US" altLang="zh-CN" dirty="0"/>
              <a:t>color.py</a:t>
            </a:r>
            <a:r>
              <a:rPr lang="zh-CN" altLang="zh-CN" dirty="0"/>
              <a:t>，在设置的路径中生成了两个新文件夹，分别包含亮度对比度变换后的图片与标签文件：</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9133" y="1967119"/>
            <a:ext cx="6132145" cy="3333333"/>
          </a:xfrm>
          <a:prstGeom prst="rect">
            <a:avLst/>
          </a:prstGeom>
        </p:spPr>
      </p:pic>
    </p:spTree>
    <p:extLst>
      <p:ext uri="{BB962C8B-B14F-4D97-AF65-F5344CB8AC3E}">
        <p14:creationId xmlns:p14="http://schemas.microsoft.com/office/powerpoint/2010/main" val="6633952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243923278"/>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13472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数据检验</a:t>
            </a:r>
            <a:endParaRPr lang="zh-CN" altLang="en-US" dirty="0"/>
          </a:p>
        </p:txBody>
      </p:sp>
      <p:sp>
        <p:nvSpPr>
          <p:cNvPr id="3" name="内容占位符 2"/>
          <p:cNvSpPr>
            <a:spLocks noGrp="1"/>
          </p:cNvSpPr>
          <p:nvPr>
            <p:ph sz="quarter" idx="13"/>
          </p:nvPr>
        </p:nvSpPr>
        <p:spPr/>
        <p:txBody>
          <a:bodyPr/>
          <a:lstStyle/>
          <a:p>
            <a:r>
              <a:rPr lang="zh-CN" altLang="en-US" dirty="0" smtClean="0"/>
              <a:t>在进行所有数据预处理的工作后，我们需要整合所有的数据及标签文件。</a:t>
            </a:r>
            <a:endParaRPr lang="en-US" altLang="zh-CN" dirty="0" smtClean="0"/>
          </a:p>
          <a:p>
            <a:r>
              <a:rPr lang="zh-CN" altLang="zh-CN" dirty="0"/>
              <a:t>将增强的数据与标签文件复制移动并重命名后，出现标签文件中对应的图像路径会产生不匹配的</a:t>
            </a:r>
            <a:r>
              <a:rPr lang="zh-CN" altLang="zh-CN" dirty="0" smtClean="0"/>
              <a:t>情况。</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4253" y="2675912"/>
            <a:ext cx="6161905" cy="1915747"/>
          </a:xfrm>
          <a:prstGeom prst="rect">
            <a:avLst/>
          </a:prstGeom>
        </p:spPr>
      </p:pic>
    </p:spTree>
    <p:extLst>
      <p:ext uri="{BB962C8B-B14F-4D97-AF65-F5344CB8AC3E}">
        <p14:creationId xmlns:p14="http://schemas.microsoft.com/office/powerpoint/2010/main" val="7695902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数据检验</a:t>
            </a:r>
            <a:endParaRPr lang="zh-CN" altLang="en-US" dirty="0"/>
          </a:p>
        </p:txBody>
      </p:sp>
      <p:sp>
        <p:nvSpPr>
          <p:cNvPr id="3" name="内容占位符 2"/>
          <p:cNvSpPr>
            <a:spLocks noGrp="1"/>
          </p:cNvSpPr>
          <p:nvPr>
            <p:ph sz="quarter" idx="13"/>
          </p:nvPr>
        </p:nvSpPr>
        <p:spPr/>
        <p:txBody>
          <a:bodyPr/>
          <a:lstStyle/>
          <a:p>
            <a:r>
              <a:rPr lang="zh-CN" altLang="zh-CN" dirty="0"/>
              <a:t>将</a:t>
            </a:r>
            <a:r>
              <a:rPr lang="en-US" altLang="zh-CN" dirty="0"/>
              <a:t>change_xml.py</a:t>
            </a:r>
            <a:r>
              <a:rPr lang="zh-CN" altLang="zh-CN" dirty="0"/>
              <a:t>文件放入先前设定的项目文件夹中，用</a:t>
            </a:r>
            <a:r>
              <a:rPr lang="en-US" altLang="zh-CN" dirty="0" err="1"/>
              <a:t>pycharm</a:t>
            </a:r>
            <a:r>
              <a:rPr lang="zh-CN" altLang="zh-CN" dirty="0"/>
              <a:t>打开</a:t>
            </a:r>
            <a:r>
              <a:rPr lang="zh-CN" altLang="zh-CN" dirty="0" smtClean="0"/>
              <a:t>。</a:t>
            </a:r>
            <a:endParaRPr lang="en-US" altLang="zh-CN" dirty="0"/>
          </a:p>
          <a:p>
            <a:endParaRPr lang="zh-CN"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修改路径，这里</a:t>
            </a:r>
            <a:r>
              <a:rPr lang="en-US" altLang="zh-CN" dirty="0"/>
              <a:t>path</a:t>
            </a:r>
            <a:r>
              <a:rPr lang="zh-CN" altLang="zh-CN" dirty="0"/>
              <a:t>对应</a:t>
            </a:r>
            <a:r>
              <a:rPr lang="en-US" altLang="zh-CN" dirty="0"/>
              <a:t>.xml</a:t>
            </a:r>
            <a:r>
              <a:rPr lang="zh-CN" altLang="zh-CN" dirty="0"/>
              <a:t>标签文件的路径，</a:t>
            </a:r>
            <a:r>
              <a:rPr lang="en-US" altLang="zh-CN" dirty="0" err="1"/>
              <a:t>imgpath</a:t>
            </a:r>
            <a:r>
              <a:rPr lang="zh-CN" altLang="zh-CN" dirty="0"/>
              <a:t>对应图像的路径，</a:t>
            </a:r>
            <a:r>
              <a:rPr lang="en-US" altLang="zh-CN" dirty="0" err="1"/>
              <a:t>save_path</a:t>
            </a:r>
            <a:r>
              <a:rPr lang="zh-CN" altLang="zh-CN" dirty="0"/>
              <a:t>对应新生成</a:t>
            </a:r>
            <a:r>
              <a:rPr lang="en-US" altLang="zh-CN" dirty="0"/>
              <a:t>.xml</a:t>
            </a:r>
            <a:r>
              <a:rPr lang="zh-CN" altLang="zh-CN" dirty="0"/>
              <a:t>标签文件路径（可自行随意选择，建议绝对路径并放在同一级目录中）。</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3450" y="2119500"/>
            <a:ext cx="7663511" cy="3028571"/>
          </a:xfrm>
          <a:prstGeom prst="rect">
            <a:avLst/>
          </a:prstGeom>
        </p:spPr>
      </p:pic>
    </p:spTree>
    <p:extLst>
      <p:ext uri="{BB962C8B-B14F-4D97-AF65-F5344CB8AC3E}">
        <p14:creationId xmlns:p14="http://schemas.microsoft.com/office/powerpoint/2010/main" val="35941226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数据检验</a:t>
            </a:r>
            <a:endParaRPr lang="zh-CN" altLang="en-US" dirty="0"/>
          </a:p>
        </p:txBody>
      </p:sp>
      <p:sp>
        <p:nvSpPr>
          <p:cNvPr id="3" name="内容占位符 2"/>
          <p:cNvSpPr>
            <a:spLocks noGrp="1"/>
          </p:cNvSpPr>
          <p:nvPr>
            <p:ph sz="quarter" idx="13"/>
          </p:nvPr>
        </p:nvSpPr>
        <p:spPr/>
        <p:txBody>
          <a:bodyPr/>
          <a:lstStyle/>
          <a:p>
            <a:r>
              <a:rPr lang="zh-CN" altLang="zh-CN" dirty="0"/>
              <a:t>运行</a:t>
            </a:r>
            <a:r>
              <a:rPr lang="en-US" altLang="zh-CN" dirty="0"/>
              <a:t>change_xml.py</a:t>
            </a:r>
            <a:r>
              <a:rPr lang="zh-CN" altLang="zh-CN" dirty="0"/>
              <a:t>，在设置的路径中生成了一个新文件夹，包含新的同名标签文件：</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2768" y="1943310"/>
            <a:ext cx="6704875" cy="3380952"/>
          </a:xfrm>
          <a:prstGeom prst="rect">
            <a:avLst/>
          </a:prstGeom>
        </p:spPr>
      </p:pic>
    </p:spTree>
    <p:extLst>
      <p:ext uri="{BB962C8B-B14F-4D97-AF65-F5344CB8AC3E}">
        <p14:creationId xmlns:p14="http://schemas.microsoft.com/office/powerpoint/2010/main" val="33903530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数据检验</a:t>
            </a:r>
            <a:endParaRPr lang="zh-CN" altLang="en-US" dirty="0"/>
          </a:p>
        </p:txBody>
      </p:sp>
      <p:sp>
        <p:nvSpPr>
          <p:cNvPr id="3" name="内容占位符 2"/>
          <p:cNvSpPr>
            <a:spLocks noGrp="1"/>
          </p:cNvSpPr>
          <p:nvPr>
            <p:ph sz="quarter" idx="13"/>
          </p:nvPr>
        </p:nvSpPr>
        <p:spPr/>
        <p:txBody>
          <a:bodyPr/>
          <a:lstStyle/>
          <a:p>
            <a:r>
              <a:rPr lang="zh-CN" altLang="zh-CN" dirty="0"/>
              <a:t>我们可以通过标注工具</a:t>
            </a:r>
            <a:r>
              <a:rPr lang="en-US" altLang="zh-CN" dirty="0" err="1"/>
              <a:t>labelimg</a:t>
            </a:r>
            <a:r>
              <a:rPr lang="zh-CN" altLang="zh-CN" dirty="0"/>
              <a:t>来验证图像增强后的标签是否仍匹配。以</a:t>
            </a:r>
            <a:r>
              <a:rPr lang="en-US" altLang="zh-CN" dirty="0"/>
              <a:t>color</a:t>
            </a:r>
            <a:r>
              <a:rPr lang="zh-CN" altLang="zh-CN" dirty="0"/>
              <a:t>为例</a:t>
            </a:r>
            <a:r>
              <a:rPr lang="zh-CN" altLang="zh-CN" dirty="0" smtClean="0"/>
              <a:t>：</a:t>
            </a:r>
            <a:endParaRPr lang="en-US" altLang="zh-CN" dirty="0" smtClean="0"/>
          </a:p>
          <a:p>
            <a:pPr marL="800100" lvl="1" indent="-342900">
              <a:buFont typeface="+mj-lt"/>
              <a:buAutoNum type="arabicPeriod"/>
            </a:pPr>
            <a:r>
              <a:rPr lang="zh-CN" altLang="en-US" dirty="0"/>
              <a:t>打开</a:t>
            </a:r>
            <a:r>
              <a:rPr lang="zh-CN" altLang="en-US" dirty="0" smtClean="0"/>
              <a:t>目录，选择图像路径</a:t>
            </a:r>
            <a:endParaRPr lang="en-US" altLang="zh-CN" dirty="0" smtClean="0"/>
          </a:p>
          <a:p>
            <a:pPr marL="800100" lvl="1" indent="-342900">
              <a:buFont typeface="+mj-lt"/>
              <a:buAutoNum type="arabicPeriod"/>
            </a:pPr>
            <a:r>
              <a:rPr lang="zh-CN" altLang="en-US" dirty="0" smtClean="0"/>
              <a:t>改变存放目录，选择标签文件路径</a:t>
            </a:r>
            <a:endParaRPr lang="en-US" altLang="zh-CN" dirty="0" smtClean="0"/>
          </a:p>
          <a:p>
            <a:r>
              <a:rPr lang="zh-CN" altLang="en-US" dirty="0" smtClean="0"/>
              <a:t>同理可以通过此方法检验所有的数据。</a:t>
            </a:r>
            <a:endParaRPr lang="zh-CN" altLang="zh-CN" dirty="0"/>
          </a:p>
          <a:p>
            <a:endParaRPr lang="zh-CN" altLang="en-US"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12600" y="1916053"/>
            <a:ext cx="6707888" cy="4179687"/>
          </a:xfrm>
          <a:prstGeom prst="rect">
            <a:avLst/>
          </a:prstGeom>
        </p:spPr>
      </p:pic>
    </p:spTree>
    <p:extLst>
      <p:ext uri="{BB962C8B-B14F-4D97-AF65-F5344CB8AC3E}">
        <p14:creationId xmlns:p14="http://schemas.microsoft.com/office/powerpoint/2010/main" val="9428622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原始图像（以</a:t>
            </a:r>
            <a:r>
              <a:rPr lang="zh-CN" altLang="zh-CN" dirty="0" smtClean="0"/>
              <a:t>这</a:t>
            </a:r>
            <a:r>
              <a:rPr lang="zh-CN" altLang="en-US" dirty="0"/>
              <a:t>六</a:t>
            </a:r>
            <a:r>
              <a:rPr lang="zh-CN" altLang="zh-CN" dirty="0" smtClean="0"/>
              <a:t>张</a:t>
            </a:r>
            <a:r>
              <a:rPr lang="zh-CN" altLang="zh-CN" dirty="0"/>
              <a:t>为例）</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翻转后图像：</a:t>
            </a:r>
          </a:p>
          <a:p>
            <a:endParaRPr lang="zh-CN" altLang="zh-CN" dirty="0"/>
          </a:p>
          <a:p>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0159" y="1474865"/>
            <a:ext cx="6622771" cy="1676190"/>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4644" y="3525824"/>
            <a:ext cx="5113803" cy="2441473"/>
          </a:xfrm>
          <a:prstGeom prst="rect">
            <a:avLst/>
          </a:prstGeom>
        </p:spPr>
      </p:pic>
    </p:spTree>
    <p:extLst>
      <p:ext uri="{BB962C8B-B14F-4D97-AF65-F5344CB8AC3E}">
        <p14:creationId xmlns:p14="http://schemas.microsoft.com/office/powerpoint/2010/main" val="25384203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原始图像（以</a:t>
            </a:r>
            <a:r>
              <a:rPr lang="zh-CN" altLang="zh-CN" dirty="0" smtClean="0"/>
              <a:t>这</a:t>
            </a:r>
            <a:r>
              <a:rPr lang="zh-CN" altLang="en-US" dirty="0" smtClean="0"/>
              <a:t>六</a:t>
            </a:r>
            <a:r>
              <a:rPr lang="zh-CN" altLang="zh-CN" dirty="0" smtClean="0"/>
              <a:t>张</a:t>
            </a:r>
            <a:r>
              <a:rPr lang="zh-CN" altLang="zh-CN" dirty="0"/>
              <a:t>为例）</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旋转后图像：</a:t>
            </a:r>
          </a:p>
          <a:p>
            <a:endParaRPr lang="zh-CN" altLang="zh-CN" dirty="0"/>
          </a:p>
          <a:p>
            <a:endParaRPr lang="zh-CN" altLang="en-US" dirty="0"/>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3820" y="1612497"/>
            <a:ext cx="6622771" cy="1676190"/>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0920" y="4010328"/>
            <a:ext cx="6828571" cy="1800000"/>
          </a:xfrm>
          <a:prstGeom prst="rect">
            <a:avLst/>
          </a:prstGeom>
        </p:spPr>
      </p:pic>
    </p:spTree>
    <p:extLst>
      <p:ext uri="{BB962C8B-B14F-4D97-AF65-F5344CB8AC3E}">
        <p14:creationId xmlns:p14="http://schemas.microsoft.com/office/powerpoint/2010/main" val="26483338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原始图像（以</a:t>
            </a:r>
            <a:r>
              <a:rPr lang="zh-CN" altLang="zh-CN" dirty="0" smtClean="0"/>
              <a:t>这</a:t>
            </a:r>
            <a:r>
              <a:rPr lang="zh-CN" altLang="en-US" dirty="0" smtClean="0"/>
              <a:t>六</a:t>
            </a:r>
            <a:r>
              <a:rPr lang="zh-CN" altLang="zh-CN" dirty="0" smtClean="0"/>
              <a:t>张</a:t>
            </a:r>
            <a:r>
              <a:rPr lang="zh-CN" altLang="zh-CN" dirty="0"/>
              <a:t>为例）</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亮度对比度变换后图像：</a:t>
            </a:r>
          </a:p>
          <a:p>
            <a:endParaRPr lang="zh-CN" altLang="zh-CN" dirty="0"/>
          </a:p>
          <a:p>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0843" y="1130299"/>
            <a:ext cx="5288718" cy="1338548"/>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6284" y="2799990"/>
            <a:ext cx="4837176" cy="3306507"/>
          </a:xfrm>
          <a:prstGeom prst="rect">
            <a:avLst/>
          </a:prstGeom>
        </p:spPr>
      </p:pic>
    </p:spTree>
    <p:extLst>
      <p:ext uri="{BB962C8B-B14F-4D97-AF65-F5344CB8AC3E}">
        <p14:creationId xmlns:p14="http://schemas.microsoft.com/office/powerpoint/2010/main" val="1402312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修改标签文件路径与现有图像路径相匹配：</a:t>
            </a:r>
          </a:p>
          <a:p>
            <a:endParaRPr lang="en-US" altLang="zh-CN" dirty="0"/>
          </a:p>
          <a:p>
            <a:endParaRPr lang="en-US" altLang="zh-CN" dirty="0" smtClean="0"/>
          </a:p>
          <a:p>
            <a:endParaRPr lang="en-US" altLang="zh-CN" dirty="0"/>
          </a:p>
          <a:p>
            <a:endParaRPr lang="en-US" altLang="zh-CN" dirty="0" smtClean="0"/>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250" y="1825721"/>
            <a:ext cx="6161905" cy="1915747"/>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250" y="3873778"/>
            <a:ext cx="7095238" cy="2219633"/>
          </a:xfrm>
          <a:prstGeom prst="rect">
            <a:avLst/>
          </a:prstGeom>
        </p:spPr>
      </p:pic>
    </p:spTree>
    <p:extLst>
      <p:ext uri="{BB962C8B-B14F-4D97-AF65-F5344CB8AC3E}">
        <p14:creationId xmlns:p14="http://schemas.microsoft.com/office/powerpoint/2010/main" val="34842229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注意事项</a:t>
            </a:r>
            <a:endParaRPr lang="zh-CN" altLang="en-US" dirty="0"/>
          </a:p>
        </p:txBody>
      </p:sp>
    </p:spTree>
    <p:extLst>
      <p:ext uri="{BB962C8B-B14F-4D97-AF65-F5344CB8AC3E}">
        <p14:creationId xmlns:p14="http://schemas.microsoft.com/office/powerpoint/2010/main" val="39231378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lvl="0" indent="-342900">
              <a:buFont typeface="+mj-lt"/>
              <a:buAutoNum type="arabicPeriod"/>
            </a:pPr>
            <a:r>
              <a:rPr lang="zh-CN" altLang="zh-CN" dirty="0"/>
              <a:t>进行图像旋转的数据增强时，容易发生标注框消失的情况，是因为部分标注框经过旋转后超出了原始图像的边界而被舍去。因此建议旋转角度尽量设置在</a:t>
            </a:r>
            <a:r>
              <a:rPr lang="en-US" altLang="zh-CN" dirty="0"/>
              <a:t>15°</a:t>
            </a:r>
            <a:r>
              <a:rPr lang="zh-CN" altLang="zh-CN" dirty="0"/>
              <a:t>以内，并使用</a:t>
            </a:r>
            <a:r>
              <a:rPr lang="en-US" altLang="zh-CN" dirty="0" err="1"/>
              <a:t>labelimg</a:t>
            </a:r>
            <a:r>
              <a:rPr lang="zh-CN" altLang="zh-CN" dirty="0"/>
              <a:t>进行人工筛选；</a:t>
            </a:r>
          </a:p>
          <a:p>
            <a:pPr marL="342900" lvl="0" indent="-342900">
              <a:buFont typeface="+mj-lt"/>
              <a:buAutoNum type="arabicPeriod"/>
            </a:pPr>
            <a:r>
              <a:rPr lang="zh-CN" altLang="zh-CN" dirty="0"/>
              <a:t>使用</a:t>
            </a:r>
            <a:r>
              <a:rPr lang="en-US" altLang="zh-CN" dirty="0" err="1"/>
              <a:t>labelimg</a:t>
            </a:r>
            <a:r>
              <a:rPr lang="zh-CN" altLang="zh-CN" dirty="0"/>
              <a:t>验证标注框时，选择图像与标签文件路径后，第一张图未正确显示标注框，属于正常现象，先按</a:t>
            </a:r>
            <a:r>
              <a:rPr lang="en-US" altLang="zh-CN" dirty="0"/>
              <a:t>“D”</a:t>
            </a:r>
            <a:r>
              <a:rPr lang="zh-CN" altLang="zh-CN" dirty="0"/>
              <a:t>切换至下一张再按</a:t>
            </a:r>
            <a:r>
              <a:rPr lang="en-US" altLang="zh-CN" dirty="0"/>
              <a:t>“A”</a:t>
            </a:r>
            <a:r>
              <a:rPr lang="zh-CN" altLang="zh-CN" dirty="0"/>
              <a:t>切换回上一张即可刷新出标注框。</a:t>
            </a:r>
          </a:p>
          <a:p>
            <a:pPr marL="342900" lvl="0" indent="-342900">
              <a:buFont typeface="+mj-lt"/>
              <a:buAutoNum type="arabicPeriod"/>
            </a:pPr>
            <a:r>
              <a:rPr lang="en-US" altLang="zh-CN" dirty="0"/>
              <a:t>apart.py</a:t>
            </a:r>
            <a:r>
              <a:rPr lang="zh-CN" altLang="zh-CN" dirty="0"/>
              <a:t>适用于图像文件和同名标注文件混在同一个文件夹的情况，可以修改路径将所有图像文件复制到另一个文件夹起到分类的效果。</a:t>
            </a:r>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39311953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几种常用的数据增强方法（翻转、旋转、亮度对比度变换）</a:t>
            </a:r>
            <a:endParaRPr lang="en-US" altLang="zh-CN" dirty="0" smtClean="0"/>
          </a:p>
          <a:p>
            <a:r>
              <a:rPr lang="zh-CN" altLang="en-US" dirty="0" smtClean="0"/>
              <a:t>图像与对应标签文件的检验</a:t>
            </a:r>
            <a:endParaRPr lang="en-US" altLang="zh-CN" dirty="0" smtClean="0"/>
          </a:p>
          <a:p>
            <a:endParaRPr lang="en-US" altLang="zh-CN" dirty="0" smtClean="0"/>
          </a:p>
          <a:p>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2076</TotalTime>
  <Words>1865</Words>
  <Application>Microsoft Office PowerPoint</Application>
  <PresentationFormat>宽屏</PresentationFormat>
  <Paragraphs>210</Paragraphs>
  <Slides>42</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42</vt:i4>
      </vt:variant>
    </vt:vector>
  </HeadingPairs>
  <TitlesOfParts>
    <vt:vector size="49" baseType="lpstr">
      <vt:lpstr>等线</vt:lpstr>
      <vt:lpstr>宋体</vt:lpstr>
      <vt:lpstr>微软雅黑</vt:lpstr>
      <vt:lpstr>Arial</vt:lpstr>
      <vt:lpstr>Calibri</vt:lpstr>
      <vt:lpstr>Ebrima</vt:lpstr>
      <vt:lpstr>主题5</vt:lpstr>
      <vt:lpstr>目标检测的准备</vt:lpstr>
      <vt:lpstr>课程目标</vt:lpstr>
      <vt:lpstr>PowerPoint 演示文稿</vt:lpstr>
      <vt:lpstr>/01</vt:lpstr>
      <vt:lpstr>实验介绍</vt:lpstr>
      <vt:lpstr>数据增强</vt:lpstr>
      <vt:lpstr>/02</vt:lpstr>
      <vt:lpstr>实验环境</vt:lpstr>
      <vt:lpstr>/03</vt:lpstr>
      <vt:lpstr>实验步骤</vt:lpstr>
      <vt:lpstr>实验流程</vt:lpstr>
      <vt:lpstr>程序代码介绍</vt:lpstr>
      <vt:lpstr>程序代码介绍</vt:lpstr>
      <vt:lpstr>程序代码介绍</vt:lpstr>
      <vt:lpstr>程序代码介绍</vt:lpstr>
      <vt:lpstr>程序代码介绍</vt:lpstr>
      <vt:lpstr>程序代码介绍</vt:lpstr>
      <vt:lpstr>程序代码介绍</vt:lpstr>
      <vt:lpstr>程序代码介绍</vt:lpstr>
      <vt:lpstr>实验流程</vt:lpstr>
      <vt:lpstr>图像翻转</vt:lpstr>
      <vt:lpstr>图像翻转</vt:lpstr>
      <vt:lpstr>实验流程</vt:lpstr>
      <vt:lpstr>图像旋转</vt:lpstr>
      <vt:lpstr>图像旋转</vt:lpstr>
      <vt:lpstr>实验流程</vt:lpstr>
      <vt:lpstr>图像亮度对比度变换</vt:lpstr>
      <vt:lpstr>图像亮度对比度变换</vt:lpstr>
      <vt:lpstr>图像亮度对比度变换</vt:lpstr>
      <vt:lpstr>实验流程</vt:lpstr>
      <vt:lpstr>数据检验</vt:lpstr>
      <vt:lpstr>数据检验</vt:lpstr>
      <vt:lpstr>数据检验</vt:lpstr>
      <vt:lpstr>数据检验</vt:lpstr>
      <vt:lpstr>实验结果</vt:lpstr>
      <vt:lpstr>实验结果</vt:lpstr>
      <vt:lpstr>实验结果</vt:lpstr>
      <vt:lpstr>实验结果</vt:lpstr>
      <vt:lpstr>/04</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36</cp:revision>
  <cp:lastPrinted>2018-09-20T16:00:00Z</cp:lastPrinted>
  <dcterms:created xsi:type="dcterms:W3CDTF">2022-06-27T01:42:48Z</dcterms:created>
  <dcterms:modified xsi:type="dcterms:W3CDTF">2022-12-27T09:16:52Z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