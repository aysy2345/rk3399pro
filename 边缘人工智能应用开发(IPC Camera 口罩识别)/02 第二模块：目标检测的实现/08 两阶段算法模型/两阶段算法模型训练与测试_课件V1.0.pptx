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handoutMasterIdLst>
    <p:handoutMasterId r:id="rId68"/>
  </p:handoutMasterIdLst>
  <p:sldIdLst>
    <p:sldId id="258" r:id="rId2"/>
    <p:sldId id="265" r:id="rId3"/>
    <p:sldId id="262" r:id="rId4"/>
    <p:sldId id="257" r:id="rId5"/>
    <p:sldId id="260" r:id="rId6"/>
    <p:sldId id="266" r:id="rId7"/>
    <p:sldId id="328" r:id="rId8"/>
    <p:sldId id="267" r:id="rId9"/>
    <p:sldId id="271" r:id="rId10"/>
    <p:sldId id="320" r:id="rId11"/>
    <p:sldId id="323" r:id="rId12"/>
    <p:sldId id="324" r:id="rId13"/>
    <p:sldId id="325" r:id="rId14"/>
    <p:sldId id="275" r:id="rId15"/>
    <p:sldId id="279" r:id="rId16"/>
    <p:sldId id="280" r:id="rId17"/>
    <p:sldId id="281" r:id="rId18"/>
    <p:sldId id="282" r:id="rId19"/>
    <p:sldId id="283" r:id="rId20"/>
    <p:sldId id="299" r:id="rId21"/>
    <p:sldId id="300" r:id="rId22"/>
    <p:sldId id="329" r:id="rId23"/>
    <p:sldId id="330" r:id="rId24"/>
    <p:sldId id="301" r:id="rId25"/>
    <p:sldId id="331" r:id="rId26"/>
    <p:sldId id="276" r:id="rId27"/>
    <p:sldId id="302" r:id="rId28"/>
    <p:sldId id="303" r:id="rId29"/>
    <p:sldId id="304" r:id="rId30"/>
    <p:sldId id="305" r:id="rId31"/>
    <p:sldId id="332" r:id="rId32"/>
    <p:sldId id="306" r:id="rId33"/>
    <p:sldId id="307" r:id="rId34"/>
    <p:sldId id="333" r:id="rId35"/>
    <p:sldId id="277" r:id="rId36"/>
    <p:sldId id="290" r:id="rId37"/>
    <p:sldId id="291" r:id="rId38"/>
    <p:sldId id="292" r:id="rId39"/>
    <p:sldId id="293" r:id="rId40"/>
    <p:sldId id="334" r:id="rId41"/>
    <p:sldId id="335" r:id="rId42"/>
    <p:sldId id="308" r:id="rId43"/>
    <p:sldId id="294" r:id="rId44"/>
    <p:sldId id="309" r:id="rId45"/>
    <p:sldId id="336" r:id="rId46"/>
    <p:sldId id="278" r:id="rId47"/>
    <p:sldId id="295" r:id="rId48"/>
    <p:sldId id="297" r:id="rId49"/>
    <p:sldId id="338" r:id="rId50"/>
    <p:sldId id="339" r:id="rId51"/>
    <p:sldId id="340" r:id="rId52"/>
    <p:sldId id="311" r:id="rId53"/>
    <p:sldId id="312" r:id="rId54"/>
    <p:sldId id="337" r:id="rId55"/>
    <p:sldId id="313" r:id="rId56"/>
    <p:sldId id="314" r:id="rId57"/>
    <p:sldId id="315" r:id="rId58"/>
    <p:sldId id="316" r:id="rId59"/>
    <p:sldId id="327" r:id="rId60"/>
    <p:sldId id="268" r:id="rId61"/>
    <p:sldId id="272" r:id="rId62"/>
    <p:sldId id="317" r:id="rId63"/>
    <p:sldId id="318" r:id="rId64"/>
    <p:sldId id="264" r:id="rId65"/>
    <p:sldId id="261" r:id="rId66"/>
  </p:sldIdLst>
  <p:sldSz cx="12192000" cy="6858000"/>
  <p:notesSz cx="6858000" cy="9144000"/>
  <p:custDataLst>
    <p:tags r:id="rId69"/>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3737" autoAdjust="0"/>
  </p:normalViewPr>
  <p:slideViewPr>
    <p:cSldViewPr snapToGrid="0" showGuides="1">
      <p:cViewPr varScale="1">
        <p:scale>
          <a:sx n="97" d="100"/>
          <a:sy n="97" d="100"/>
        </p:scale>
        <p:origin x="1056" y="90"/>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85000"/>
                </a:schemeClr>
              </a:solidFill>
            </a:rPr>
            <a:t>数据集的准备</a:t>
          </a:r>
          <a:endParaRPr lang="zh-CN" altLang="en-US" dirty="0">
            <a:solidFill>
              <a:schemeClr val="bg1">
                <a:lumMod val="8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85000"/>
                </a:schemeClr>
              </a:solidFill>
            </a:rPr>
            <a:t>训练模型</a:t>
          </a:r>
          <a:endParaRPr lang="zh-CN" altLang="en-US" dirty="0">
            <a:solidFill>
              <a:schemeClr val="bg1">
                <a:lumMod val="8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评估模型</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测试模型</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A09776FE-A894-491F-AB3B-DFF26D7C38F9}">
      <dgm:prSet/>
      <dgm:spPr/>
      <dgm:t>
        <a:bodyPr/>
        <a:lstStyle/>
        <a:p>
          <a:r>
            <a:rPr lang="zh-CN" altLang="en-US" dirty="0" smtClean="0">
              <a:solidFill>
                <a:schemeClr val="tx1"/>
              </a:solidFill>
            </a:rPr>
            <a:t>代码工程分析</a:t>
          </a:r>
          <a:endParaRPr lang="zh-CN" altLang="en-US" dirty="0">
            <a:solidFill>
              <a:schemeClr val="tx1"/>
            </a:solidFill>
          </a:endParaRPr>
        </a:p>
      </dgm:t>
    </dgm:pt>
    <dgm:pt modelId="{D79696C6-BA54-4B5C-AC49-72DA7C54D805}" type="parTrans" cxnId="{59FA3D0D-9CF2-4245-A3D2-75F7D40DDA94}">
      <dgm:prSet/>
      <dgm:spPr/>
    </dgm:pt>
    <dgm:pt modelId="{9BA8358E-CD9F-4E05-8AEE-E074D688F396}" type="sibTrans" cxnId="{59FA3D0D-9CF2-4245-A3D2-75F7D40DDA94}">
      <dgm:prSet/>
      <dgm:spPr/>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BAE09FF7-5A1D-4CCB-B380-F4C1C83709BA}" type="pres">
      <dgm:prSet presAssocID="{A09776FE-A894-491F-AB3B-DFF26D7C38F9}" presName="parTxOnly" presStyleLbl="node1" presStyleIdx="0" presStyleCnt="5">
        <dgm:presLayoutVars>
          <dgm:chMax val="0"/>
          <dgm:chPref val="0"/>
          <dgm:bulletEnabled val="1"/>
        </dgm:presLayoutVars>
      </dgm:prSet>
      <dgm:spPr/>
      <dgm:t>
        <a:bodyPr/>
        <a:lstStyle/>
        <a:p>
          <a:endParaRPr lang="zh-CN" altLang="en-US"/>
        </a:p>
      </dgm:t>
    </dgm:pt>
    <dgm:pt modelId="{E03CB312-7D16-49AA-8F9D-3DC3CF6076F2}" type="pres">
      <dgm:prSet presAssocID="{9BA8358E-CD9F-4E05-8AEE-E074D688F396}" presName="parTxOnlySpace" presStyleCnt="0"/>
      <dgm:spPr/>
    </dgm:pt>
    <dgm:pt modelId="{FC4CA3E0-7A9C-47CB-88C9-7F81B89FD5AA}" type="pres">
      <dgm:prSet presAssocID="{BEAB6AAF-246B-444D-90D9-FB867EA43595}" presName="parTxOnly" presStyleLbl="node1" presStyleIdx="1"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2"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3"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1" destOrd="0" parTransId="{7B320CD8-B4D8-4FF3-9549-4626CCF5C355}" sibTransId="{9D8C5213-1CA7-47CA-A58A-0ECD696509D5}"/>
    <dgm:cxn modelId="{0FFE8ABF-335E-4F02-BC05-37EB9C8CB192}" type="presOf" srcId="{C6C44482-D821-4FAE-BB52-29931F8BCBDE}" destId="{E2DC7CE9-31B9-4959-914F-451EA2F3687E}" srcOrd="0" destOrd="0" presId="urn:microsoft.com/office/officeart/2005/8/layout/chevron1"/>
    <dgm:cxn modelId="{80F8930D-5816-4EC5-A90F-461BE15645B6}" srcId="{314AE731-DFBF-4A5B-8171-86B7AA2F2858}" destId="{C6C44482-D821-4FAE-BB52-29931F8BCBDE}" srcOrd="4" destOrd="0" parTransId="{DE3ECBCB-59A7-4B29-8005-72F8BCC1C41D}" sibTransId="{FA81CD99-4C17-4421-BECF-3D861154DBDD}"/>
    <dgm:cxn modelId="{BB43153C-DCFB-46BA-9CDB-74D37F9D19AC}" type="presOf" srcId="{211D359A-E621-4AEC-B365-EBCECA4D5608}" destId="{50739AC9-FC4E-42C3-B62E-1016634A724A}" srcOrd="0" destOrd="0" presId="urn:microsoft.com/office/officeart/2005/8/layout/chevron1"/>
    <dgm:cxn modelId="{83A628C7-C21B-4101-939A-9C630D44BEE9}" type="presOf" srcId="{3F9AE8EF-E0BD-4A86-A1DC-73AF72B43E8D}" destId="{2147596E-7442-41E7-9852-40E25C424996}" srcOrd="0" destOrd="0" presId="urn:microsoft.com/office/officeart/2005/8/layout/chevron1"/>
    <dgm:cxn modelId="{0CE63EDD-DEE0-4E04-B9DC-D6FB58417E6B}" type="presOf" srcId="{314AE731-DFBF-4A5B-8171-86B7AA2F2858}" destId="{5653E5CF-63C1-4886-9DFE-DC4B36C44A33}" srcOrd="0" destOrd="0" presId="urn:microsoft.com/office/officeart/2005/8/layout/chevron1"/>
    <dgm:cxn modelId="{66638CAC-123E-4530-BEDD-30FADC271D64}" srcId="{314AE731-DFBF-4A5B-8171-86B7AA2F2858}" destId="{3F9AE8EF-E0BD-4A86-A1DC-73AF72B43E8D}" srcOrd="2" destOrd="0" parTransId="{5F12A6E5-E57E-4059-894D-D3A3846C30F2}" sibTransId="{7CE50C93-6A94-4F11-A61C-2C90215515AB}"/>
    <dgm:cxn modelId="{BF7061E9-A02B-4990-94FA-3ABEC4EA5B3B}" type="presOf" srcId="{BEAB6AAF-246B-444D-90D9-FB867EA43595}" destId="{FC4CA3E0-7A9C-47CB-88C9-7F81B89FD5AA}" srcOrd="0" destOrd="0" presId="urn:microsoft.com/office/officeart/2005/8/layout/chevron1"/>
    <dgm:cxn modelId="{B5C6C1D5-A57F-484C-98A5-69677707F442}" type="presOf" srcId="{A09776FE-A894-491F-AB3B-DFF26D7C38F9}" destId="{BAE09FF7-5A1D-4CCB-B380-F4C1C83709BA}" srcOrd="0" destOrd="0" presId="urn:microsoft.com/office/officeart/2005/8/layout/chevron1"/>
    <dgm:cxn modelId="{BF6558B0-650E-4BA1-A1B1-1CA458E6EC49}" srcId="{314AE731-DFBF-4A5B-8171-86B7AA2F2858}" destId="{211D359A-E621-4AEC-B365-EBCECA4D5608}" srcOrd="3" destOrd="0" parTransId="{95B58C96-0D87-4CC9-A2F6-B9DFCA67DC5F}" sibTransId="{56BE99E8-BF29-4F85-BEC4-A54AC3654A13}"/>
    <dgm:cxn modelId="{59FA3D0D-9CF2-4245-A3D2-75F7D40DDA94}" srcId="{314AE731-DFBF-4A5B-8171-86B7AA2F2858}" destId="{A09776FE-A894-491F-AB3B-DFF26D7C38F9}" srcOrd="0" destOrd="0" parTransId="{D79696C6-BA54-4B5C-AC49-72DA7C54D805}" sibTransId="{9BA8358E-CD9F-4E05-8AEE-E074D688F396}"/>
    <dgm:cxn modelId="{AAF6A4A6-8E4D-4DB3-AD86-E61F9B77619D}" type="presParOf" srcId="{5653E5CF-63C1-4886-9DFE-DC4B36C44A33}" destId="{BAE09FF7-5A1D-4CCB-B380-F4C1C83709BA}" srcOrd="0" destOrd="0" presId="urn:microsoft.com/office/officeart/2005/8/layout/chevron1"/>
    <dgm:cxn modelId="{A496E021-7E1B-45B3-965D-30CA5831086D}" type="presParOf" srcId="{5653E5CF-63C1-4886-9DFE-DC4B36C44A33}" destId="{E03CB312-7D16-49AA-8F9D-3DC3CF6076F2}" srcOrd="1" destOrd="0" presId="urn:microsoft.com/office/officeart/2005/8/layout/chevron1"/>
    <dgm:cxn modelId="{753E1392-2653-498D-8FA4-3069603706B9}" type="presParOf" srcId="{5653E5CF-63C1-4886-9DFE-DC4B36C44A33}" destId="{FC4CA3E0-7A9C-47CB-88C9-7F81B89FD5AA}" srcOrd="2" destOrd="0" presId="urn:microsoft.com/office/officeart/2005/8/layout/chevron1"/>
    <dgm:cxn modelId="{0F5BFF7E-0839-4A48-8861-882F4BC11CE9}" type="presParOf" srcId="{5653E5CF-63C1-4886-9DFE-DC4B36C44A33}" destId="{ED8D2DC7-F6B9-49A1-A3FB-6645AA0B27C9}" srcOrd="3" destOrd="0" presId="urn:microsoft.com/office/officeart/2005/8/layout/chevron1"/>
    <dgm:cxn modelId="{8B3EDEB1-F53C-4D48-8B82-1961914F3567}" type="presParOf" srcId="{5653E5CF-63C1-4886-9DFE-DC4B36C44A33}" destId="{2147596E-7442-41E7-9852-40E25C424996}" srcOrd="4" destOrd="0" presId="urn:microsoft.com/office/officeart/2005/8/layout/chevron1"/>
    <dgm:cxn modelId="{B294F5FF-10FD-4299-8E25-DEFC60C30D0D}" type="presParOf" srcId="{5653E5CF-63C1-4886-9DFE-DC4B36C44A33}" destId="{78A125B0-FC96-47C5-ADBC-5773E5EBD695}" srcOrd="5" destOrd="0" presId="urn:microsoft.com/office/officeart/2005/8/layout/chevron1"/>
    <dgm:cxn modelId="{1B7EBC85-E7AE-4983-A73C-B64941544F84}" type="presParOf" srcId="{5653E5CF-63C1-4886-9DFE-DC4B36C44A33}" destId="{50739AC9-FC4E-42C3-B62E-1016634A724A}" srcOrd="6" destOrd="0" presId="urn:microsoft.com/office/officeart/2005/8/layout/chevron1"/>
    <dgm:cxn modelId="{12DC3532-3DF8-4B23-B1FA-141C16070863}" type="presParOf" srcId="{5653E5CF-63C1-4886-9DFE-DC4B36C44A33}" destId="{BA7DB2C5-C694-4861-95D5-BF30690EE501}" srcOrd="7" destOrd="0" presId="urn:microsoft.com/office/officeart/2005/8/layout/chevron1"/>
    <dgm:cxn modelId="{2500909C-4790-41B6-92CB-0DBA97291068}" type="presParOf" srcId="{5653E5CF-63C1-4886-9DFE-DC4B36C44A33}" destId="{E2DC7CE9-31B9-4959-914F-451EA2F3687E}"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t>数据集的准备</a:t>
          </a:r>
          <a:endParaRPr lang="zh-CN" altLang="en-US" dirty="0"/>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85000"/>
                </a:schemeClr>
              </a:solidFill>
            </a:rPr>
            <a:t>训练模型</a:t>
          </a:r>
          <a:endParaRPr lang="zh-CN" altLang="en-US" dirty="0">
            <a:solidFill>
              <a:schemeClr val="bg1">
                <a:lumMod val="8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评估模型</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测试模型</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A09776FE-A894-491F-AB3B-DFF26D7C38F9}">
      <dgm:prSet/>
      <dgm:spPr/>
      <dgm:t>
        <a:bodyPr/>
        <a:lstStyle/>
        <a:p>
          <a:r>
            <a:rPr lang="zh-CN" altLang="en-US" dirty="0" smtClean="0">
              <a:solidFill>
                <a:schemeClr val="bg1">
                  <a:lumMod val="65000"/>
                </a:schemeClr>
              </a:solidFill>
            </a:rPr>
            <a:t>代码工程分析</a:t>
          </a:r>
          <a:endParaRPr lang="zh-CN" altLang="en-US" dirty="0">
            <a:solidFill>
              <a:schemeClr val="bg1">
                <a:lumMod val="65000"/>
              </a:schemeClr>
            </a:solidFill>
          </a:endParaRPr>
        </a:p>
      </dgm:t>
    </dgm:pt>
    <dgm:pt modelId="{D79696C6-BA54-4B5C-AC49-72DA7C54D805}" type="parTrans" cxnId="{59FA3D0D-9CF2-4245-A3D2-75F7D40DDA94}">
      <dgm:prSet/>
      <dgm:spPr/>
    </dgm:pt>
    <dgm:pt modelId="{9BA8358E-CD9F-4E05-8AEE-E074D688F396}" type="sibTrans" cxnId="{59FA3D0D-9CF2-4245-A3D2-75F7D40DDA94}">
      <dgm:prSet/>
      <dgm:spPr/>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BAE09FF7-5A1D-4CCB-B380-F4C1C83709BA}" type="pres">
      <dgm:prSet presAssocID="{A09776FE-A894-491F-AB3B-DFF26D7C38F9}" presName="parTxOnly" presStyleLbl="node1" presStyleIdx="0" presStyleCnt="5">
        <dgm:presLayoutVars>
          <dgm:chMax val="0"/>
          <dgm:chPref val="0"/>
          <dgm:bulletEnabled val="1"/>
        </dgm:presLayoutVars>
      </dgm:prSet>
      <dgm:spPr/>
      <dgm:t>
        <a:bodyPr/>
        <a:lstStyle/>
        <a:p>
          <a:endParaRPr lang="zh-CN" altLang="en-US"/>
        </a:p>
      </dgm:t>
    </dgm:pt>
    <dgm:pt modelId="{E03CB312-7D16-49AA-8F9D-3DC3CF6076F2}" type="pres">
      <dgm:prSet presAssocID="{9BA8358E-CD9F-4E05-8AEE-E074D688F396}" presName="parTxOnlySpace" presStyleCnt="0"/>
      <dgm:spPr/>
    </dgm:pt>
    <dgm:pt modelId="{FC4CA3E0-7A9C-47CB-88C9-7F81B89FD5AA}" type="pres">
      <dgm:prSet presAssocID="{BEAB6AAF-246B-444D-90D9-FB867EA43595}" presName="parTxOnly" presStyleLbl="node1" presStyleIdx="1"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2"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3"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1" destOrd="0" parTransId="{7B320CD8-B4D8-4FF3-9549-4626CCF5C355}" sibTransId="{9D8C5213-1CA7-47CA-A58A-0ECD696509D5}"/>
    <dgm:cxn modelId="{80F8930D-5816-4EC5-A90F-461BE15645B6}" srcId="{314AE731-DFBF-4A5B-8171-86B7AA2F2858}" destId="{C6C44482-D821-4FAE-BB52-29931F8BCBDE}" srcOrd="4" destOrd="0" parTransId="{DE3ECBCB-59A7-4B29-8005-72F8BCC1C41D}" sibTransId="{FA81CD99-4C17-4421-BECF-3D861154DBDD}"/>
    <dgm:cxn modelId="{D8FFDD82-91FD-4AE4-BDE7-3340322D7E27}" type="presOf" srcId="{BEAB6AAF-246B-444D-90D9-FB867EA43595}" destId="{FC4CA3E0-7A9C-47CB-88C9-7F81B89FD5AA}" srcOrd="0" destOrd="0" presId="urn:microsoft.com/office/officeart/2005/8/layout/chevron1"/>
    <dgm:cxn modelId="{73D63B69-7F3E-4C53-858C-B1963EE5E716}" type="presOf" srcId="{A09776FE-A894-491F-AB3B-DFF26D7C38F9}" destId="{BAE09FF7-5A1D-4CCB-B380-F4C1C83709BA}" srcOrd="0" destOrd="0" presId="urn:microsoft.com/office/officeart/2005/8/layout/chevron1"/>
    <dgm:cxn modelId="{8DB94DC7-836C-429B-BC18-42499EFFC39E}" type="presOf" srcId="{314AE731-DFBF-4A5B-8171-86B7AA2F2858}" destId="{5653E5CF-63C1-4886-9DFE-DC4B36C44A33}" srcOrd="0" destOrd="0" presId="urn:microsoft.com/office/officeart/2005/8/layout/chevron1"/>
    <dgm:cxn modelId="{6F37553C-9B5E-4C7F-A720-608B49619A53}" type="presOf" srcId="{211D359A-E621-4AEC-B365-EBCECA4D5608}" destId="{50739AC9-FC4E-42C3-B62E-1016634A724A}" srcOrd="0" destOrd="0" presId="urn:microsoft.com/office/officeart/2005/8/layout/chevron1"/>
    <dgm:cxn modelId="{66638CAC-123E-4530-BEDD-30FADC271D64}" srcId="{314AE731-DFBF-4A5B-8171-86B7AA2F2858}" destId="{3F9AE8EF-E0BD-4A86-A1DC-73AF72B43E8D}" srcOrd="2" destOrd="0" parTransId="{5F12A6E5-E57E-4059-894D-D3A3846C30F2}" sibTransId="{7CE50C93-6A94-4F11-A61C-2C90215515AB}"/>
    <dgm:cxn modelId="{364EDC94-EC4B-491C-A741-3B160BF9A450}" type="presOf" srcId="{C6C44482-D821-4FAE-BB52-29931F8BCBDE}" destId="{E2DC7CE9-31B9-4959-914F-451EA2F3687E}" srcOrd="0" destOrd="0" presId="urn:microsoft.com/office/officeart/2005/8/layout/chevron1"/>
    <dgm:cxn modelId="{CA7861C1-4D00-4392-9BE4-06657C518507}" type="presOf" srcId="{3F9AE8EF-E0BD-4A86-A1DC-73AF72B43E8D}" destId="{2147596E-7442-41E7-9852-40E25C424996}" srcOrd="0" destOrd="0" presId="urn:microsoft.com/office/officeart/2005/8/layout/chevron1"/>
    <dgm:cxn modelId="{BF6558B0-650E-4BA1-A1B1-1CA458E6EC49}" srcId="{314AE731-DFBF-4A5B-8171-86B7AA2F2858}" destId="{211D359A-E621-4AEC-B365-EBCECA4D5608}" srcOrd="3" destOrd="0" parTransId="{95B58C96-0D87-4CC9-A2F6-B9DFCA67DC5F}" sibTransId="{56BE99E8-BF29-4F85-BEC4-A54AC3654A13}"/>
    <dgm:cxn modelId="{59FA3D0D-9CF2-4245-A3D2-75F7D40DDA94}" srcId="{314AE731-DFBF-4A5B-8171-86B7AA2F2858}" destId="{A09776FE-A894-491F-AB3B-DFF26D7C38F9}" srcOrd="0" destOrd="0" parTransId="{D79696C6-BA54-4B5C-AC49-72DA7C54D805}" sibTransId="{9BA8358E-CD9F-4E05-8AEE-E074D688F396}"/>
    <dgm:cxn modelId="{4154B269-8E9C-48F0-BA89-55A7040415EE}" type="presParOf" srcId="{5653E5CF-63C1-4886-9DFE-DC4B36C44A33}" destId="{BAE09FF7-5A1D-4CCB-B380-F4C1C83709BA}" srcOrd="0" destOrd="0" presId="urn:microsoft.com/office/officeart/2005/8/layout/chevron1"/>
    <dgm:cxn modelId="{9C0052ED-AA56-4C5C-8DD9-27C121167FF5}" type="presParOf" srcId="{5653E5CF-63C1-4886-9DFE-DC4B36C44A33}" destId="{E03CB312-7D16-49AA-8F9D-3DC3CF6076F2}" srcOrd="1" destOrd="0" presId="urn:microsoft.com/office/officeart/2005/8/layout/chevron1"/>
    <dgm:cxn modelId="{F2C6B8D1-4B71-40CC-87B2-BBF7B3638C12}" type="presParOf" srcId="{5653E5CF-63C1-4886-9DFE-DC4B36C44A33}" destId="{FC4CA3E0-7A9C-47CB-88C9-7F81B89FD5AA}" srcOrd="2" destOrd="0" presId="urn:microsoft.com/office/officeart/2005/8/layout/chevron1"/>
    <dgm:cxn modelId="{CBDA65DE-CFE8-4539-98FD-1321FB77EC74}" type="presParOf" srcId="{5653E5CF-63C1-4886-9DFE-DC4B36C44A33}" destId="{ED8D2DC7-F6B9-49A1-A3FB-6645AA0B27C9}" srcOrd="3" destOrd="0" presId="urn:microsoft.com/office/officeart/2005/8/layout/chevron1"/>
    <dgm:cxn modelId="{1906E0B1-90F0-49C1-A3FF-601FA7F8018F}" type="presParOf" srcId="{5653E5CF-63C1-4886-9DFE-DC4B36C44A33}" destId="{2147596E-7442-41E7-9852-40E25C424996}" srcOrd="4" destOrd="0" presId="urn:microsoft.com/office/officeart/2005/8/layout/chevron1"/>
    <dgm:cxn modelId="{FFD4599E-D047-4A86-A46F-ADE9054B1302}" type="presParOf" srcId="{5653E5CF-63C1-4886-9DFE-DC4B36C44A33}" destId="{78A125B0-FC96-47C5-ADBC-5773E5EBD695}" srcOrd="5" destOrd="0" presId="urn:microsoft.com/office/officeart/2005/8/layout/chevron1"/>
    <dgm:cxn modelId="{3189A08E-AB79-4014-8E5F-D758773DC3B2}" type="presParOf" srcId="{5653E5CF-63C1-4886-9DFE-DC4B36C44A33}" destId="{50739AC9-FC4E-42C3-B62E-1016634A724A}" srcOrd="6" destOrd="0" presId="urn:microsoft.com/office/officeart/2005/8/layout/chevron1"/>
    <dgm:cxn modelId="{8C3E2633-089E-4259-9C68-62ED80F7385B}" type="presParOf" srcId="{5653E5CF-63C1-4886-9DFE-DC4B36C44A33}" destId="{BA7DB2C5-C694-4861-95D5-BF30690EE501}" srcOrd="7" destOrd="0" presId="urn:microsoft.com/office/officeart/2005/8/layout/chevron1"/>
    <dgm:cxn modelId="{AB4BF981-5920-4006-83F8-E05CB215D2D8}" type="presParOf" srcId="{5653E5CF-63C1-4886-9DFE-DC4B36C44A33}" destId="{E2DC7CE9-31B9-4959-914F-451EA2F3687E}"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数据集的准备</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tx1"/>
              </a:solidFill>
            </a:rPr>
            <a:t>训练模型</a:t>
          </a:r>
          <a:endParaRPr lang="zh-CN" altLang="en-US" dirty="0">
            <a:solidFill>
              <a:schemeClr val="tx1"/>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评估模型</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测试模型</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3CD2F7D1-C7E0-48EF-99AC-7AB3088CD940}">
      <dgm:prSet/>
      <dgm:spPr/>
      <dgm:t>
        <a:bodyPr/>
        <a:lstStyle/>
        <a:p>
          <a:r>
            <a:rPr lang="zh-CN" altLang="en-US" dirty="0" smtClean="0">
              <a:solidFill>
                <a:schemeClr val="bg1">
                  <a:lumMod val="65000"/>
                </a:schemeClr>
              </a:solidFill>
            </a:rPr>
            <a:t>代码工程分析</a:t>
          </a:r>
          <a:endParaRPr lang="zh-CN" altLang="en-US" dirty="0">
            <a:solidFill>
              <a:schemeClr val="bg1">
                <a:lumMod val="65000"/>
              </a:schemeClr>
            </a:solidFill>
          </a:endParaRPr>
        </a:p>
      </dgm:t>
    </dgm:pt>
    <dgm:pt modelId="{9861AD9C-3165-47E1-B3BB-4576300F5432}" type="parTrans" cxnId="{2CCC7704-A1BC-462A-AFAE-924FEF3AD2D4}">
      <dgm:prSet/>
      <dgm:spPr/>
    </dgm:pt>
    <dgm:pt modelId="{65B7BF75-1928-44DC-9D57-993223E949B2}" type="sibTrans" cxnId="{2CCC7704-A1BC-462A-AFAE-924FEF3AD2D4}">
      <dgm:prSet/>
      <dgm:spPr/>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33FC71C1-4D7E-422D-A253-0C022D7C6AFC}" type="pres">
      <dgm:prSet presAssocID="{3CD2F7D1-C7E0-48EF-99AC-7AB3088CD940}" presName="parTxOnly" presStyleLbl="node1" presStyleIdx="0" presStyleCnt="5">
        <dgm:presLayoutVars>
          <dgm:chMax val="0"/>
          <dgm:chPref val="0"/>
          <dgm:bulletEnabled val="1"/>
        </dgm:presLayoutVars>
      </dgm:prSet>
      <dgm:spPr/>
      <dgm:t>
        <a:bodyPr/>
        <a:lstStyle/>
        <a:p>
          <a:endParaRPr lang="zh-CN" altLang="en-US"/>
        </a:p>
      </dgm:t>
    </dgm:pt>
    <dgm:pt modelId="{2E1A6747-FB06-4A18-A610-EA6B8BFCCA44}" type="pres">
      <dgm:prSet presAssocID="{65B7BF75-1928-44DC-9D57-993223E949B2}" presName="parTxOnlySpace" presStyleCnt="0"/>
      <dgm:spPr/>
    </dgm:pt>
    <dgm:pt modelId="{FC4CA3E0-7A9C-47CB-88C9-7F81B89FD5AA}" type="pres">
      <dgm:prSet presAssocID="{BEAB6AAF-246B-444D-90D9-FB867EA43595}" presName="parTxOnly" presStyleLbl="node1" presStyleIdx="1"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2"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3"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1" destOrd="0" parTransId="{7B320CD8-B4D8-4FF3-9549-4626CCF5C355}" sibTransId="{9D8C5213-1CA7-47CA-A58A-0ECD696509D5}"/>
    <dgm:cxn modelId="{16C4A26C-606E-462C-A4D3-2A630E27F774}" type="presOf" srcId="{C6C44482-D821-4FAE-BB52-29931F8BCBDE}" destId="{E2DC7CE9-31B9-4959-914F-451EA2F3687E}" srcOrd="0" destOrd="0" presId="urn:microsoft.com/office/officeart/2005/8/layout/chevron1"/>
    <dgm:cxn modelId="{1389A7CD-259E-4AAD-AB23-E6920D217FA6}" type="presOf" srcId="{BEAB6AAF-246B-444D-90D9-FB867EA43595}" destId="{FC4CA3E0-7A9C-47CB-88C9-7F81B89FD5AA}" srcOrd="0" destOrd="0" presId="urn:microsoft.com/office/officeart/2005/8/layout/chevron1"/>
    <dgm:cxn modelId="{9710FB6D-E907-445E-A537-6D5FE081191E}" type="presOf" srcId="{3F9AE8EF-E0BD-4A86-A1DC-73AF72B43E8D}" destId="{2147596E-7442-41E7-9852-40E25C424996}" srcOrd="0" destOrd="0" presId="urn:microsoft.com/office/officeart/2005/8/layout/chevron1"/>
    <dgm:cxn modelId="{2CCC7704-A1BC-462A-AFAE-924FEF3AD2D4}" srcId="{314AE731-DFBF-4A5B-8171-86B7AA2F2858}" destId="{3CD2F7D1-C7E0-48EF-99AC-7AB3088CD940}" srcOrd="0" destOrd="0" parTransId="{9861AD9C-3165-47E1-B3BB-4576300F5432}" sibTransId="{65B7BF75-1928-44DC-9D57-993223E949B2}"/>
    <dgm:cxn modelId="{0C973B93-B6EF-4B2A-A43A-A7447702093F}" type="presOf" srcId="{211D359A-E621-4AEC-B365-EBCECA4D5608}" destId="{50739AC9-FC4E-42C3-B62E-1016634A724A}" srcOrd="0" destOrd="0" presId="urn:microsoft.com/office/officeart/2005/8/layout/chevron1"/>
    <dgm:cxn modelId="{D1247BFA-6DC4-4CCE-8129-2AFC7182A4FD}" type="presOf" srcId="{314AE731-DFBF-4A5B-8171-86B7AA2F2858}" destId="{5653E5CF-63C1-4886-9DFE-DC4B36C44A33}" srcOrd="0" destOrd="0" presId="urn:microsoft.com/office/officeart/2005/8/layout/chevron1"/>
    <dgm:cxn modelId="{80F8930D-5816-4EC5-A90F-461BE15645B6}" srcId="{314AE731-DFBF-4A5B-8171-86B7AA2F2858}" destId="{C6C44482-D821-4FAE-BB52-29931F8BCBDE}" srcOrd="4" destOrd="0" parTransId="{DE3ECBCB-59A7-4B29-8005-72F8BCC1C41D}" sibTransId="{FA81CD99-4C17-4421-BECF-3D861154DBDD}"/>
    <dgm:cxn modelId="{66638CAC-123E-4530-BEDD-30FADC271D64}" srcId="{314AE731-DFBF-4A5B-8171-86B7AA2F2858}" destId="{3F9AE8EF-E0BD-4A86-A1DC-73AF72B43E8D}" srcOrd="2" destOrd="0" parTransId="{5F12A6E5-E57E-4059-894D-D3A3846C30F2}" sibTransId="{7CE50C93-6A94-4F11-A61C-2C90215515AB}"/>
    <dgm:cxn modelId="{BF6558B0-650E-4BA1-A1B1-1CA458E6EC49}" srcId="{314AE731-DFBF-4A5B-8171-86B7AA2F2858}" destId="{211D359A-E621-4AEC-B365-EBCECA4D5608}" srcOrd="3" destOrd="0" parTransId="{95B58C96-0D87-4CC9-A2F6-B9DFCA67DC5F}" sibTransId="{56BE99E8-BF29-4F85-BEC4-A54AC3654A13}"/>
    <dgm:cxn modelId="{CFE3BD5C-089F-444F-B9FA-034756F78D11}" type="presOf" srcId="{3CD2F7D1-C7E0-48EF-99AC-7AB3088CD940}" destId="{33FC71C1-4D7E-422D-A253-0C022D7C6AFC}" srcOrd="0" destOrd="0" presId="urn:microsoft.com/office/officeart/2005/8/layout/chevron1"/>
    <dgm:cxn modelId="{8C333802-EBE1-47C8-A321-99D32CC63C3F}" type="presParOf" srcId="{5653E5CF-63C1-4886-9DFE-DC4B36C44A33}" destId="{33FC71C1-4D7E-422D-A253-0C022D7C6AFC}" srcOrd="0" destOrd="0" presId="urn:microsoft.com/office/officeart/2005/8/layout/chevron1"/>
    <dgm:cxn modelId="{507E25CC-42D2-49F7-AB70-C2F8CAD38BF7}" type="presParOf" srcId="{5653E5CF-63C1-4886-9DFE-DC4B36C44A33}" destId="{2E1A6747-FB06-4A18-A610-EA6B8BFCCA44}" srcOrd="1" destOrd="0" presId="urn:microsoft.com/office/officeart/2005/8/layout/chevron1"/>
    <dgm:cxn modelId="{008DC346-CD6B-4A30-983A-5F8258C68E74}" type="presParOf" srcId="{5653E5CF-63C1-4886-9DFE-DC4B36C44A33}" destId="{FC4CA3E0-7A9C-47CB-88C9-7F81B89FD5AA}" srcOrd="2" destOrd="0" presId="urn:microsoft.com/office/officeart/2005/8/layout/chevron1"/>
    <dgm:cxn modelId="{45F545DC-F1D8-4E54-AC62-E5FA66555E68}" type="presParOf" srcId="{5653E5CF-63C1-4886-9DFE-DC4B36C44A33}" destId="{ED8D2DC7-F6B9-49A1-A3FB-6645AA0B27C9}" srcOrd="3" destOrd="0" presId="urn:microsoft.com/office/officeart/2005/8/layout/chevron1"/>
    <dgm:cxn modelId="{55DC22EB-400B-4D60-8A4C-2A18222694C0}" type="presParOf" srcId="{5653E5CF-63C1-4886-9DFE-DC4B36C44A33}" destId="{2147596E-7442-41E7-9852-40E25C424996}" srcOrd="4" destOrd="0" presId="urn:microsoft.com/office/officeart/2005/8/layout/chevron1"/>
    <dgm:cxn modelId="{97948EBC-ECA4-48FD-8F16-2D221AEF50F6}" type="presParOf" srcId="{5653E5CF-63C1-4886-9DFE-DC4B36C44A33}" destId="{78A125B0-FC96-47C5-ADBC-5773E5EBD695}" srcOrd="5" destOrd="0" presId="urn:microsoft.com/office/officeart/2005/8/layout/chevron1"/>
    <dgm:cxn modelId="{D6DB94D4-6FCC-4BA0-B596-C944B5099488}" type="presParOf" srcId="{5653E5CF-63C1-4886-9DFE-DC4B36C44A33}" destId="{50739AC9-FC4E-42C3-B62E-1016634A724A}" srcOrd="6" destOrd="0" presId="urn:microsoft.com/office/officeart/2005/8/layout/chevron1"/>
    <dgm:cxn modelId="{0795ADD9-601A-40FA-AE8F-F08A1EB6A331}" type="presParOf" srcId="{5653E5CF-63C1-4886-9DFE-DC4B36C44A33}" destId="{BA7DB2C5-C694-4861-95D5-BF30690EE501}" srcOrd="7" destOrd="0" presId="urn:microsoft.com/office/officeart/2005/8/layout/chevron1"/>
    <dgm:cxn modelId="{90C3CC7D-C65D-4EA3-BE2D-CC9B72635227}" type="presParOf" srcId="{5653E5CF-63C1-4886-9DFE-DC4B36C44A33}" destId="{E2DC7CE9-31B9-4959-914F-451EA2F3687E}"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数据集的准备</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训练模型</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tx1"/>
              </a:solidFill>
            </a:rPr>
            <a:t>评估模型</a:t>
          </a:r>
          <a:endParaRPr lang="zh-CN" altLang="en-US" dirty="0">
            <a:solidFill>
              <a:schemeClr val="tx1"/>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测试模型</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1A0FDC1F-245D-4A11-879A-32918BDDCA25}">
      <dgm:prSet/>
      <dgm:spPr/>
      <dgm:t>
        <a:bodyPr/>
        <a:lstStyle/>
        <a:p>
          <a:r>
            <a:rPr lang="zh-CN" altLang="en-US" dirty="0" smtClean="0">
              <a:solidFill>
                <a:schemeClr val="bg1">
                  <a:lumMod val="65000"/>
                </a:schemeClr>
              </a:solidFill>
            </a:rPr>
            <a:t>代码工程分析</a:t>
          </a:r>
          <a:endParaRPr lang="zh-CN" altLang="en-US" dirty="0">
            <a:solidFill>
              <a:schemeClr val="bg1">
                <a:lumMod val="65000"/>
              </a:schemeClr>
            </a:solidFill>
          </a:endParaRPr>
        </a:p>
      </dgm:t>
    </dgm:pt>
    <dgm:pt modelId="{F8E7A0DA-FEA2-4E28-8590-6C497994A117}" type="parTrans" cxnId="{C271A0D5-2EBC-48A2-A990-EFAD8A573F44}">
      <dgm:prSet/>
      <dgm:spPr/>
    </dgm:pt>
    <dgm:pt modelId="{5BCCB32C-25E4-43F8-BB09-E719C7C1DEE0}" type="sibTrans" cxnId="{C271A0D5-2EBC-48A2-A990-EFAD8A573F44}">
      <dgm:prSet/>
      <dgm:spPr/>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9B002312-A197-4D1C-9A42-9F61F3D3B0FC}" type="pres">
      <dgm:prSet presAssocID="{1A0FDC1F-245D-4A11-879A-32918BDDCA25}" presName="parTxOnly" presStyleLbl="node1" presStyleIdx="0" presStyleCnt="5">
        <dgm:presLayoutVars>
          <dgm:chMax val="0"/>
          <dgm:chPref val="0"/>
          <dgm:bulletEnabled val="1"/>
        </dgm:presLayoutVars>
      </dgm:prSet>
      <dgm:spPr/>
      <dgm:t>
        <a:bodyPr/>
        <a:lstStyle/>
        <a:p>
          <a:endParaRPr lang="zh-CN" altLang="en-US"/>
        </a:p>
      </dgm:t>
    </dgm:pt>
    <dgm:pt modelId="{5E2BCD7F-835E-445F-ABBD-95F167C9B91D}" type="pres">
      <dgm:prSet presAssocID="{5BCCB32C-25E4-43F8-BB09-E719C7C1DEE0}" presName="parTxOnlySpace" presStyleCnt="0"/>
      <dgm:spPr/>
    </dgm:pt>
    <dgm:pt modelId="{FC4CA3E0-7A9C-47CB-88C9-7F81B89FD5AA}" type="pres">
      <dgm:prSet presAssocID="{BEAB6AAF-246B-444D-90D9-FB867EA43595}" presName="parTxOnly" presStyleLbl="node1" presStyleIdx="1"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2"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3"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4" presStyleCnt="5">
        <dgm:presLayoutVars>
          <dgm:chMax val="0"/>
          <dgm:chPref val="0"/>
          <dgm:bulletEnabled val="1"/>
        </dgm:presLayoutVars>
      </dgm:prSet>
      <dgm:spPr/>
      <dgm:t>
        <a:bodyPr/>
        <a:lstStyle/>
        <a:p>
          <a:endParaRPr lang="zh-CN" altLang="en-US"/>
        </a:p>
      </dgm:t>
    </dgm:pt>
  </dgm:ptLst>
  <dgm:cxnLst>
    <dgm:cxn modelId="{DE686386-077A-48D2-9A2C-BC558A554C08}" type="presOf" srcId="{C6C44482-D821-4FAE-BB52-29931F8BCBDE}" destId="{E2DC7CE9-31B9-4959-914F-451EA2F3687E}" srcOrd="0" destOrd="0" presId="urn:microsoft.com/office/officeart/2005/8/layout/chevron1"/>
    <dgm:cxn modelId="{C271A0D5-2EBC-48A2-A990-EFAD8A573F44}" srcId="{314AE731-DFBF-4A5B-8171-86B7AA2F2858}" destId="{1A0FDC1F-245D-4A11-879A-32918BDDCA25}" srcOrd="0" destOrd="0" parTransId="{F8E7A0DA-FEA2-4E28-8590-6C497994A117}" sibTransId="{5BCCB32C-25E4-43F8-BB09-E719C7C1DEE0}"/>
    <dgm:cxn modelId="{62D19679-9152-4CA8-9676-592927ED4E56}" srcId="{314AE731-DFBF-4A5B-8171-86B7AA2F2858}" destId="{BEAB6AAF-246B-444D-90D9-FB867EA43595}" srcOrd="1" destOrd="0" parTransId="{7B320CD8-B4D8-4FF3-9549-4626CCF5C355}" sibTransId="{9D8C5213-1CA7-47CA-A58A-0ECD696509D5}"/>
    <dgm:cxn modelId="{A8405D3F-7F61-4087-A42F-C46A1E1A7D82}" type="presOf" srcId="{BEAB6AAF-246B-444D-90D9-FB867EA43595}" destId="{FC4CA3E0-7A9C-47CB-88C9-7F81B89FD5AA}" srcOrd="0" destOrd="0" presId="urn:microsoft.com/office/officeart/2005/8/layout/chevron1"/>
    <dgm:cxn modelId="{BF6558B0-650E-4BA1-A1B1-1CA458E6EC49}" srcId="{314AE731-DFBF-4A5B-8171-86B7AA2F2858}" destId="{211D359A-E621-4AEC-B365-EBCECA4D5608}" srcOrd="3" destOrd="0" parTransId="{95B58C96-0D87-4CC9-A2F6-B9DFCA67DC5F}" sibTransId="{56BE99E8-BF29-4F85-BEC4-A54AC3654A13}"/>
    <dgm:cxn modelId="{76715051-FFA1-44F9-8417-7A5399FE09F6}" type="presOf" srcId="{314AE731-DFBF-4A5B-8171-86B7AA2F2858}" destId="{5653E5CF-63C1-4886-9DFE-DC4B36C44A33}" srcOrd="0" destOrd="0" presId="urn:microsoft.com/office/officeart/2005/8/layout/chevron1"/>
    <dgm:cxn modelId="{C8308AF5-A405-41D0-BA71-E184DBED98B0}" type="presOf" srcId="{1A0FDC1F-245D-4A11-879A-32918BDDCA25}" destId="{9B002312-A197-4D1C-9A42-9F61F3D3B0FC}" srcOrd="0" destOrd="0" presId="urn:microsoft.com/office/officeart/2005/8/layout/chevron1"/>
    <dgm:cxn modelId="{80F8930D-5816-4EC5-A90F-461BE15645B6}" srcId="{314AE731-DFBF-4A5B-8171-86B7AA2F2858}" destId="{C6C44482-D821-4FAE-BB52-29931F8BCBDE}" srcOrd="4" destOrd="0" parTransId="{DE3ECBCB-59A7-4B29-8005-72F8BCC1C41D}" sibTransId="{FA81CD99-4C17-4421-BECF-3D861154DBDD}"/>
    <dgm:cxn modelId="{66638CAC-123E-4530-BEDD-30FADC271D64}" srcId="{314AE731-DFBF-4A5B-8171-86B7AA2F2858}" destId="{3F9AE8EF-E0BD-4A86-A1DC-73AF72B43E8D}" srcOrd="2" destOrd="0" parTransId="{5F12A6E5-E57E-4059-894D-D3A3846C30F2}" sibTransId="{7CE50C93-6A94-4F11-A61C-2C90215515AB}"/>
    <dgm:cxn modelId="{D8D8313E-5256-470E-A679-0F7FEE1921E9}" type="presOf" srcId="{211D359A-E621-4AEC-B365-EBCECA4D5608}" destId="{50739AC9-FC4E-42C3-B62E-1016634A724A}" srcOrd="0" destOrd="0" presId="urn:microsoft.com/office/officeart/2005/8/layout/chevron1"/>
    <dgm:cxn modelId="{C91EF9D9-B409-4C45-BCAE-EB84D022174F}" type="presOf" srcId="{3F9AE8EF-E0BD-4A86-A1DC-73AF72B43E8D}" destId="{2147596E-7442-41E7-9852-40E25C424996}" srcOrd="0" destOrd="0" presId="urn:microsoft.com/office/officeart/2005/8/layout/chevron1"/>
    <dgm:cxn modelId="{8A6F3E57-BF70-4B9B-A860-97D1C915AB01}" type="presParOf" srcId="{5653E5CF-63C1-4886-9DFE-DC4B36C44A33}" destId="{9B002312-A197-4D1C-9A42-9F61F3D3B0FC}" srcOrd="0" destOrd="0" presId="urn:microsoft.com/office/officeart/2005/8/layout/chevron1"/>
    <dgm:cxn modelId="{8B264851-CE6A-4780-925D-CB4C1D7988F1}" type="presParOf" srcId="{5653E5CF-63C1-4886-9DFE-DC4B36C44A33}" destId="{5E2BCD7F-835E-445F-ABBD-95F167C9B91D}" srcOrd="1" destOrd="0" presId="urn:microsoft.com/office/officeart/2005/8/layout/chevron1"/>
    <dgm:cxn modelId="{E9739A2D-989E-4773-AC98-229F90AE2023}" type="presParOf" srcId="{5653E5CF-63C1-4886-9DFE-DC4B36C44A33}" destId="{FC4CA3E0-7A9C-47CB-88C9-7F81B89FD5AA}" srcOrd="2" destOrd="0" presId="urn:microsoft.com/office/officeart/2005/8/layout/chevron1"/>
    <dgm:cxn modelId="{BB003D29-47B4-488E-9FEB-1AD2384FBE7C}" type="presParOf" srcId="{5653E5CF-63C1-4886-9DFE-DC4B36C44A33}" destId="{ED8D2DC7-F6B9-49A1-A3FB-6645AA0B27C9}" srcOrd="3" destOrd="0" presId="urn:microsoft.com/office/officeart/2005/8/layout/chevron1"/>
    <dgm:cxn modelId="{60B65EE0-BCEA-4ACD-AB10-9C1F0EE26095}" type="presParOf" srcId="{5653E5CF-63C1-4886-9DFE-DC4B36C44A33}" destId="{2147596E-7442-41E7-9852-40E25C424996}" srcOrd="4" destOrd="0" presId="urn:microsoft.com/office/officeart/2005/8/layout/chevron1"/>
    <dgm:cxn modelId="{FCD2ADE8-E844-41BE-A230-03ABC05BC250}" type="presParOf" srcId="{5653E5CF-63C1-4886-9DFE-DC4B36C44A33}" destId="{78A125B0-FC96-47C5-ADBC-5773E5EBD695}" srcOrd="5" destOrd="0" presId="urn:microsoft.com/office/officeart/2005/8/layout/chevron1"/>
    <dgm:cxn modelId="{5F6F2557-FE44-4B26-BFDE-17F1B3FD95B4}" type="presParOf" srcId="{5653E5CF-63C1-4886-9DFE-DC4B36C44A33}" destId="{50739AC9-FC4E-42C3-B62E-1016634A724A}" srcOrd="6" destOrd="0" presId="urn:microsoft.com/office/officeart/2005/8/layout/chevron1"/>
    <dgm:cxn modelId="{BC9AB58B-5F57-4675-BB12-02A2DB1B5CCB}" type="presParOf" srcId="{5653E5CF-63C1-4886-9DFE-DC4B36C44A33}" destId="{BA7DB2C5-C694-4861-95D5-BF30690EE501}" srcOrd="7" destOrd="0" presId="urn:microsoft.com/office/officeart/2005/8/layout/chevron1"/>
    <dgm:cxn modelId="{588B1415-8110-4923-9A60-33392D534BC0}" type="presParOf" srcId="{5653E5CF-63C1-4886-9DFE-DC4B36C44A33}" destId="{E2DC7CE9-31B9-4959-914F-451EA2F3687E}"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数据集的准备</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训练模型</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65000"/>
                </a:schemeClr>
              </a:solidFill>
            </a:rPr>
            <a:t>评估模型</a:t>
          </a:r>
          <a:endParaRPr lang="zh-CN" altLang="en-US" dirty="0">
            <a:solidFill>
              <a:schemeClr val="bg1">
                <a:lumMod val="6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tx1"/>
              </a:solidFill>
            </a:rPr>
            <a:t>测试模型</a:t>
          </a:r>
          <a:endParaRPr lang="zh-CN" altLang="en-US" dirty="0">
            <a:solidFill>
              <a:schemeClr val="tx1"/>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BB725D25-3157-4B8A-8A7E-39942A604026}">
      <dgm:prSet/>
      <dgm:spPr/>
      <dgm:t>
        <a:bodyPr/>
        <a:lstStyle/>
        <a:p>
          <a:r>
            <a:rPr lang="zh-CN" altLang="en-US" dirty="0" smtClean="0">
              <a:solidFill>
                <a:schemeClr val="bg1">
                  <a:lumMod val="65000"/>
                </a:schemeClr>
              </a:solidFill>
            </a:rPr>
            <a:t>代码工程分析</a:t>
          </a:r>
          <a:endParaRPr lang="zh-CN" altLang="en-US" dirty="0">
            <a:solidFill>
              <a:schemeClr val="bg1">
                <a:lumMod val="65000"/>
              </a:schemeClr>
            </a:solidFill>
          </a:endParaRPr>
        </a:p>
      </dgm:t>
    </dgm:pt>
    <dgm:pt modelId="{C01B00F8-4A43-4EFF-AEFB-B33733DCCB26}" type="parTrans" cxnId="{46020085-5BFF-4C19-866F-E33A4ADF94DD}">
      <dgm:prSet/>
      <dgm:spPr/>
      <dgm:t>
        <a:bodyPr/>
        <a:lstStyle/>
        <a:p>
          <a:endParaRPr lang="zh-CN" altLang="en-US"/>
        </a:p>
      </dgm:t>
    </dgm:pt>
    <dgm:pt modelId="{67559DE7-18C5-4DFC-836E-3AEDACA3FACC}" type="sibTrans" cxnId="{46020085-5BFF-4C19-866F-E33A4ADF94DD}">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46F5AEE2-AF4E-44EA-9353-B21187E20E73}" type="pres">
      <dgm:prSet presAssocID="{BB725D25-3157-4B8A-8A7E-39942A604026}" presName="parTxOnly" presStyleLbl="node1" presStyleIdx="0" presStyleCnt="5">
        <dgm:presLayoutVars>
          <dgm:chMax val="0"/>
          <dgm:chPref val="0"/>
          <dgm:bulletEnabled val="1"/>
        </dgm:presLayoutVars>
      </dgm:prSet>
      <dgm:spPr/>
      <dgm:t>
        <a:bodyPr/>
        <a:lstStyle/>
        <a:p>
          <a:endParaRPr lang="zh-CN" altLang="en-US"/>
        </a:p>
      </dgm:t>
    </dgm:pt>
    <dgm:pt modelId="{4FEABF8E-6C16-44D1-925C-6D72D8411067}" type="pres">
      <dgm:prSet presAssocID="{67559DE7-18C5-4DFC-836E-3AEDACA3FACC}" presName="parTxOnlySpace" presStyleCnt="0"/>
      <dgm:spPr/>
    </dgm:pt>
    <dgm:pt modelId="{FC4CA3E0-7A9C-47CB-88C9-7F81B89FD5AA}" type="pres">
      <dgm:prSet presAssocID="{BEAB6AAF-246B-444D-90D9-FB867EA43595}" presName="parTxOnly" presStyleLbl="node1" presStyleIdx="1"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2"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3"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1" destOrd="0" parTransId="{7B320CD8-B4D8-4FF3-9549-4626CCF5C355}" sibTransId="{9D8C5213-1CA7-47CA-A58A-0ECD696509D5}"/>
    <dgm:cxn modelId="{C38D089A-0E69-4D82-8152-309BB6556C3F}" type="presOf" srcId="{314AE731-DFBF-4A5B-8171-86B7AA2F2858}" destId="{5653E5CF-63C1-4886-9DFE-DC4B36C44A33}" srcOrd="0" destOrd="0" presId="urn:microsoft.com/office/officeart/2005/8/layout/chevron1"/>
    <dgm:cxn modelId="{A3588BCB-89AA-4D32-8F41-B6EBDBAF38FF}" type="presOf" srcId="{3F9AE8EF-E0BD-4A86-A1DC-73AF72B43E8D}" destId="{2147596E-7442-41E7-9852-40E25C424996}" srcOrd="0" destOrd="0" presId="urn:microsoft.com/office/officeart/2005/8/layout/chevron1"/>
    <dgm:cxn modelId="{450D0B66-CB66-4D77-A3ED-2530773B450B}" type="presOf" srcId="{BB725D25-3157-4B8A-8A7E-39942A604026}" destId="{46F5AEE2-AF4E-44EA-9353-B21187E20E73}" srcOrd="0" destOrd="0" presId="urn:microsoft.com/office/officeart/2005/8/layout/chevron1"/>
    <dgm:cxn modelId="{46020085-5BFF-4C19-866F-E33A4ADF94DD}" srcId="{314AE731-DFBF-4A5B-8171-86B7AA2F2858}" destId="{BB725D25-3157-4B8A-8A7E-39942A604026}" srcOrd="0" destOrd="0" parTransId="{C01B00F8-4A43-4EFF-AEFB-B33733DCCB26}" sibTransId="{67559DE7-18C5-4DFC-836E-3AEDACA3FACC}"/>
    <dgm:cxn modelId="{77C7124C-F0A0-4526-84A7-1A2BA02EB8ED}" type="presOf" srcId="{BEAB6AAF-246B-444D-90D9-FB867EA43595}" destId="{FC4CA3E0-7A9C-47CB-88C9-7F81B89FD5AA}" srcOrd="0" destOrd="0" presId="urn:microsoft.com/office/officeart/2005/8/layout/chevron1"/>
    <dgm:cxn modelId="{725078FC-A772-439B-AEC6-D7DE94F433B6}" type="presOf" srcId="{C6C44482-D821-4FAE-BB52-29931F8BCBDE}" destId="{E2DC7CE9-31B9-4959-914F-451EA2F3687E}" srcOrd="0" destOrd="0" presId="urn:microsoft.com/office/officeart/2005/8/layout/chevron1"/>
    <dgm:cxn modelId="{80F8930D-5816-4EC5-A90F-461BE15645B6}" srcId="{314AE731-DFBF-4A5B-8171-86B7AA2F2858}" destId="{C6C44482-D821-4FAE-BB52-29931F8BCBDE}" srcOrd="4" destOrd="0" parTransId="{DE3ECBCB-59A7-4B29-8005-72F8BCC1C41D}" sibTransId="{FA81CD99-4C17-4421-BECF-3D861154DBDD}"/>
    <dgm:cxn modelId="{66638CAC-123E-4530-BEDD-30FADC271D64}" srcId="{314AE731-DFBF-4A5B-8171-86B7AA2F2858}" destId="{3F9AE8EF-E0BD-4A86-A1DC-73AF72B43E8D}" srcOrd="2" destOrd="0" parTransId="{5F12A6E5-E57E-4059-894D-D3A3846C30F2}" sibTransId="{7CE50C93-6A94-4F11-A61C-2C90215515AB}"/>
    <dgm:cxn modelId="{BF6558B0-650E-4BA1-A1B1-1CA458E6EC49}" srcId="{314AE731-DFBF-4A5B-8171-86B7AA2F2858}" destId="{211D359A-E621-4AEC-B365-EBCECA4D5608}" srcOrd="3" destOrd="0" parTransId="{95B58C96-0D87-4CC9-A2F6-B9DFCA67DC5F}" sibTransId="{56BE99E8-BF29-4F85-BEC4-A54AC3654A13}"/>
    <dgm:cxn modelId="{7BFA6B42-F050-4DCB-9D85-03BAC402C622}" type="presOf" srcId="{211D359A-E621-4AEC-B365-EBCECA4D5608}" destId="{50739AC9-FC4E-42C3-B62E-1016634A724A}" srcOrd="0" destOrd="0" presId="urn:microsoft.com/office/officeart/2005/8/layout/chevron1"/>
    <dgm:cxn modelId="{0D3DAA3F-2624-4443-A132-B616E0281098}" type="presParOf" srcId="{5653E5CF-63C1-4886-9DFE-DC4B36C44A33}" destId="{46F5AEE2-AF4E-44EA-9353-B21187E20E73}" srcOrd="0" destOrd="0" presId="urn:microsoft.com/office/officeart/2005/8/layout/chevron1"/>
    <dgm:cxn modelId="{2DC82C78-32BF-45FF-B3DB-92169AFFDF65}" type="presParOf" srcId="{5653E5CF-63C1-4886-9DFE-DC4B36C44A33}" destId="{4FEABF8E-6C16-44D1-925C-6D72D8411067}" srcOrd="1" destOrd="0" presId="urn:microsoft.com/office/officeart/2005/8/layout/chevron1"/>
    <dgm:cxn modelId="{3846630C-119F-413E-819F-159185152D59}" type="presParOf" srcId="{5653E5CF-63C1-4886-9DFE-DC4B36C44A33}" destId="{FC4CA3E0-7A9C-47CB-88C9-7F81B89FD5AA}" srcOrd="2" destOrd="0" presId="urn:microsoft.com/office/officeart/2005/8/layout/chevron1"/>
    <dgm:cxn modelId="{BCA9344B-DE54-4806-B9F9-58EE3C8E09A8}" type="presParOf" srcId="{5653E5CF-63C1-4886-9DFE-DC4B36C44A33}" destId="{ED8D2DC7-F6B9-49A1-A3FB-6645AA0B27C9}" srcOrd="3" destOrd="0" presId="urn:microsoft.com/office/officeart/2005/8/layout/chevron1"/>
    <dgm:cxn modelId="{37731AC2-0AFA-478A-A291-1FFF43295AA1}" type="presParOf" srcId="{5653E5CF-63C1-4886-9DFE-DC4B36C44A33}" destId="{2147596E-7442-41E7-9852-40E25C424996}" srcOrd="4" destOrd="0" presId="urn:microsoft.com/office/officeart/2005/8/layout/chevron1"/>
    <dgm:cxn modelId="{5E555680-A62C-4EF9-B9EF-0D4E3D885150}" type="presParOf" srcId="{5653E5CF-63C1-4886-9DFE-DC4B36C44A33}" destId="{78A125B0-FC96-47C5-ADBC-5773E5EBD695}" srcOrd="5" destOrd="0" presId="urn:microsoft.com/office/officeart/2005/8/layout/chevron1"/>
    <dgm:cxn modelId="{307B7214-174F-404D-925D-688E1156C488}" type="presParOf" srcId="{5653E5CF-63C1-4886-9DFE-DC4B36C44A33}" destId="{50739AC9-FC4E-42C3-B62E-1016634A724A}" srcOrd="6" destOrd="0" presId="urn:microsoft.com/office/officeart/2005/8/layout/chevron1"/>
    <dgm:cxn modelId="{E2485EDE-B918-4A24-A3DE-F79727243E39}" type="presParOf" srcId="{5653E5CF-63C1-4886-9DFE-DC4B36C44A33}" destId="{BA7DB2C5-C694-4861-95D5-BF30690EE501}" srcOrd="7" destOrd="0" presId="urn:microsoft.com/office/officeart/2005/8/layout/chevron1"/>
    <dgm:cxn modelId="{D914C14B-1122-4C5C-8F49-7A9BD25C9A37}" type="presParOf" srcId="{5653E5CF-63C1-4886-9DFE-DC4B36C44A33}" destId="{E2DC7CE9-31B9-4959-914F-451EA2F3687E}"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 xmlns:a16="http://schemas.microsoft.com/office/drawing/2014/main"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 xmlns:a16="http://schemas.microsoft.com/office/drawing/2014/main"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 xmlns:a16="http://schemas.microsoft.com/office/drawing/2014/main"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 xmlns:a16="http://schemas.microsoft.com/office/drawing/2014/main"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 xmlns:a16="http://schemas.microsoft.com/office/drawing/2014/main"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 xmlns:a16="http://schemas.microsoft.com/office/drawing/2014/main"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 xmlns:a16="http://schemas.microsoft.com/office/drawing/2014/main"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 xmlns:a16="http://schemas.microsoft.com/office/drawing/2014/main"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 xmlns:a16="http://schemas.microsoft.com/office/drawing/2014/main"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 xmlns:a16="http://schemas.microsoft.com/office/drawing/2014/main"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097117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smtClean="0"/>
              <a:t>对于检测速度跟不上</a:t>
            </a:r>
            <a:r>
              <a:rPr lang="en-US" altLang="zh-CN" dirty="0" smtClean="0"/>
              <a:t>IPC</a:t>
            </a:r>
            <a:r>
              <a:rPr lang="zh-CN" altLang="zh-CN" dirty="0" smtClean="0"/>
              <a:t>视频流</a:t>
            </a:r>
            <a:r>
              <a:rPr lang="en-US" altLang="zh-CN" dirty="0" smtClean="0"/>
              <a:t>fps</a:t>
            </a:r>
            <a:r>
              <a:rPr lang="zh-CN" altLang="zh-CN" dirty="0" smtClean="0"/>
              <a:t>的问题，同样采用每隔几帧调用一次模型进行检测的方式来弥补，由于两阶段算法速度相较于一阶段算法更慢，因此建议在较好的设备下运行。</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09512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解释完迁移学习后，我们首先</a:t>
            </a:r>
            <a:r>
              <a:rPr lang="zh-CN" altLang="zh-CN" dirty="0" smtClean="0"/>
              <a:t>将预训练权重文件移至</a:t>
            </a:r>
            <a:r>
              <a:rPr lang="en-US" altLang="zh-CN" dirty="0" err="1" smtClean="0"/>
              <a:t>model_data</a:t>
            </a:r>
            <a:r>
              <a:rPr lang="zh-CN" altLang="zh-CN" dirty="0" smtClean="0"/>
              <a:t>文件夹下：</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7538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通常使用第二种训练方式的结果会略优于第一种训练方式。第一种方式在检测</a:t>
            </a:r>
            <a:r>
              <a:rPr lang="en-US" altLang="zh-CN" sz="1200" kern="1200" dirty="0" err="1" smtClean="0">
                <a:solidFill>
                  <a:schemeClr val="tx1"/>
                </a:solidFill>
                <a:effectLst/>
                <a:latin typeface="+mn-lt"/>
                <a:ea typeface="+mn-ea"/>
                <a:cs typeface="+mn-cs"/>
              </a:rPr>
              <a:t>voc</a:t>
            </a:r>
            <a:r>
              <a:rPr lang="zh-CN" altLang="zh-CN" sz="1200" kern="1200" dirty="0" smtClean="0">
                <a:solidFill>
                  <a:schemeClr val="tx1"/>
                </a:solidFill>
                <a:effectLst/>
                <a:latin typeface="+mn-lt"/>
                <a:ea typeface="+mn-ea"/>
                <a:cs typeface="+mn-cs"/>
              </a:rPr>
              <a:t>公开数据集上有较好的效果，因为整个网络的权重就是在</a:t>
            </a:r>
            <a:r>
              <a:rPr lang="en-US" altLang="zh-CN" sz="1200" kern="1200" dirty="0" err="1" smtClean="0">
                <a:solidFill>
                  <a:schemeClr val="tx1"/>
                </a:solidFill>
                <a:effectLst/>
                <a:latin typeface="+mn-lt"/>
                <a:ea typeface="+mn-ea"/>
                <a:cs typeface="+mn-cs"/>
              </a:rPr>
              <a:t>voc</a:t>
            </a:r>
            <a:r>
              <a:rPr lang="zh-CN" altLang="zh-CN" sz="1200" kern="1200" dirty="0" smtClean="0">
                <a:solidFill>
                  <a:schemeClr val="tx1"/>
                </a:solidFill>
                <a:effectLst/>
                <a:latin typeface="+mn-lt"/>
                <a:ea typeface="+mn-ea"/>
                <a:cs typeface="+mn-cs"/>
              </a:rPr>
              <a:t>数据集上训练而得。而使用主干网络的预训练方法，在自己的数据集上检测效果更好。本实验手册结果截图使用第一种训练方式而得，推荐使用第二种训练方式，</a:t>
            </a:r>
            <a:r>
              <a:rPr lang="zh-CN" altLang="en-US" sz="1200" kern="1200" dirty="0" smtClean="0">
                <a:solidFill>
                  <a:schemeClr val="tx1"/>
                </a:solidFill>
                <a:effectLst/>
                <a:latin typeface="+mn-lt"/>
                <a:ea typeface="+mn-ea"/>
                <a:cs typeface="+mn-cs"/>
              </a:rPr>
              <a:t>可</a:t>
            </a:r>
            <a:r>
              <a:rPr lang="zh-CN" altLang="zh-CN" sz="1200" kern="1200" dirty="0" smtClean="0">
                <a:solidFill>
                  <a:schemeClr val="tx1"/>
                </a:solidFill>
                <a:effectLst/>
                <a:latin typeface="+mn-lt"/>
                <a:ea typeface="+mn-ea"/>
                <a:cs typeface="+mn-cs"/>
              </a:rPr>
              <a:t>与实验手册结果进行对比。</a:t>
            </a:r>
            <a:endParaRPr lang="en-US" altLang="zh-CN" sz="1200" kern="1200" dirty="0" smtClean="0">
              <a:solidFill>
                <a:schemeClr val="tx1"/>
              </a:solidFill>
              <a:effectLst/>
              <a:latin typeface="+mn-lt"/>
              <a:ea typeface="+mn-ea"/>
              <a:cs typeface="+mn-cs"/>
            </a:endParaRPr>
          </a:p>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关于其他可选参数的修改，代码中有极为详细的注释，这里不做赘述。</a:t>
            </a:r>
          </a:p>
          <a:p>
            <a:pPr marL="0" marR="0" indent="0" algn="l" defTabSz="914400" rtl="0" eaLnBrk="1" fontAlgn="base" latinLnBrk="0" hangingPunct="1">
              <a:lnSpc>
                <a:spcPct val="100000"/>
              </a:lnSpc>
              <a:spcBef>
                <a:spcPct val="0"/>
              </a:spcBef>
              <a:spcAft>
                <a:spcPct val="0"/>
              </a:spcAft>
              <a:buClrTx/>
              <a:buSzTx/>
              <a:buFontTx/>
              <a:buNone/>
              <a:tabLst/>
              <a:defRPr/>
            </a:pP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619985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8483259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373359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38646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406377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smtClean="0"/>
              <a:t>原始模型文件夹中</a:t>
            </a:r>
            <a:r>
              <a:rPr lang="en-US" altLang="zh-CN" dirty="0" err="1" smtClean="0"/>
              <a:t>img</a:t>
            </a:r>
            <a:r>
              <a:rPr lang="zh-CN" altLang="zh-CN" dirty="0" smtClean="0"/>
              <a:t>文件夹仅自带一张街道图片</a:t>
            </a:r>
            <a:r>
              <a:rPr lang="en-US" altLang="zh-CN" dirty="0" smtClean="0"/>
              <a:t>street.jpg</a:t>
            </a:r>
            <a:r>
              <a:rPr lang="zh-CN" altLang="zh-CN" dirty="0" smtClean="0"/>
              <a:t>用于测试，我们需要自行导入其他待检测图片。为了方便观察结果，已经拍摄了几张含检测目标的</a:t>
            </a:r>
            <a:r>
              <a:rPr lang="en-US" altLang="zh-CN" dirty="0" smtClean="0"/>
              <a:t>“test*”</a:t>
            </a:r>
            <a:r>
              <a:rPr lang="zh-CN" altLang="zh-CN" dirty="0" smtClean="0"/>
              <a:t>命名的图片放在</a:t>
            </a:r>
            <a:r>
              <a:rPr lang="en-US" altLang="zh-CN" dirty="0" err="1" smtClean="0"/>
              <a:t>img</a:t>
            </a:r>
            <a:r>
              <a:rPr lang="zh-CN" altLang="zh-CN" dirty="0" smtClean="0"/>
              <a:t>文件夹下，也可根据实际情况自行拍摄。</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8283858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通常结果为无检测目标或出现极少个置信度低的检测目标，因为原始图像</a:t>
            </a:r>
            <a:r>
              <a:rPr lang="en-US" altLang="zh-CN" sz="1200" kern="1200" dirty="0" smtClean="0">
                <a:solidFill>
                  <a:schemeClr val="tx1"/>
                </a:solidFill>
                <a:effectLst/>
                <a:latin typeface="+mn-lt"/>
                <a:ea typeface="+mn-ea"/>
                <a:cs typeface="+mn-cs"/>
              </a:rPr>
              <a:t>street.jpg</a:t>
            </a:r>
            <a:r>
              <a:rPr lang="zh-CN" altLang="zh-CN" sz="1200" kern="1200" dirty="0" smtClean="0">
                <a:solidFill>
                  <a:schemeClr val="tx1"/>
                </a:solidFill>
                <a:effectLst/>
                <a:latin typeface="+mn-lt"/>
                <a:ea typeface="+mn-ea"/>
                <a:cs typeface="+mn-cs"/>
              </a:rPr>
              <a:t>中缺少待检测的正脸目标。输入其他含有检测目标图片的路径获得更直观的结果。</a:t>
            </a:r>
          </a:p>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注：点击左侧红色方块以中止程序。</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909831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065945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22163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zh-CN" sz="1200" kern="1200" dirty="0" smtClean="0">
                <a:solidFill>
                  <a:schemeClr val="tx1"/>
                </a:solidFill>
                <a:effectLst/>
                <a:latin typeface="+mn-lt"/>
                <a:ea typeface="+mn-ea"/>
                <a:cs typeface="+mn-cs"/>
              </a:rPr>
              <a:t>如果只想截取检测结果的某一帧，在弹出的</a:t>
            </a:r>
            <a:r>
              <a:rPr lang="en-US" altLang="zh-CN" sz="1200" kern="1200" dirty="0" smtClean="0">
                <a:solidFill>
                  <a:schemeClr val="tx1"/>
                </a:solidFill>
                <a:effectLst/>
                <a:latin typeface="+mn-lt"/>
                <a:ea typeface="+mn-ea"/>
                <a:cs typeface="+mn-cs"/>
              </a:rPr>
              <a:t>video</a:t>
            </a:r>
            <a:r>
              <a:rPr lang="zh-CN" altLang="zh-CN" sz="1200" kern="1200" dirty="0" smtClean="0">
                <a:solidFill>
                  <a:schemeClr val="tx1"/>
                </a:solidFill>
                <a:effectLst/>
                <a:latin typeface="+mn-lt"/>
                <a:ea typeface="+mn-ea"/>
                <a:cs typeface="+mn-cs"/>
              </a:rPr>
              <a:t>界面中按</a:t>
            </a:r>
            <a:r>
              <a:rPr lang="en-US" altLang="zh-CN" sz="1200" kern="1200" dirty="0" smtClean="0">
                <a:solidFill>
                  <a:schemeClr val="tx1"/>
                </a:solidFill>
                <a:effectLst/>
                <a:latin typeface="+mn-lt"/>
                <a:ea typeface="+mn-ea"/>
                <a:cs typeface="+mn-cs"/>
              </a:rPr>
              <a:t>“s”</a:t>
            </a:r>
            <a:r>
              <a:rPr lang="zh-CN" altLang="zh-CN" sz="1200" kern="1200" dirty="0" smtClean="0">
                <a:solidFill>
                  <a:schemeClr val="tx1"/>
                </a:solidFill>
                <a:effectLst/>
                <a:latin typeface="+mn-lt"/>
                <a:ea typeface="+mn-ea"/>
                <a:cs typeface="+mn-cs"/>
              </a:rPr>
              <a:t>或空格键，该帧画面便保存在根目录下新建的文件夹</a:t>
            </a:r>
            <a:r>
              <a:rPr lang="en-US" altLang="zh-CN" sz="1200" kern="1200" dirty="0" err="1" smtClean="0">
                <a:solidFill>
                  <a:schemeClr val="tx1"/>
                </a:solidFill>
                <a:effectLst/>
                <a:latin typeface="+mn-lt"/>
                <a:ea typeface="+mn-ea"/>
                <a:cs typeface="+mn-cs"/>
              </a:rPr>
              <a:t>video_img</a:t>
            </a:r>
            <a:r>
              <a:rPr lang="zh-CN" altLang="zh-CN" sz="1200" kern="1200" dirty="0" smtClean="0">
                <a:solidFill>
                  <a:schemeClr val="tx1"/>
                </a:solidFill>
                <a:effectLst/>
                <a:latin typeface="+mn-lt"/>
                <a:ea typeface="+mn-ea"/>
                <a:cs typeface="+mn-cs"/>
              </a:rPr>
              <a:t>中。按</a:t>
            </a:r>
            <a:r>
              <a:rPr lang="en-US" altLang="zh-CN" sz="1200" kern="1200" dirty="0" smtClean="0">
                <a:solidFill>
                  <a:schemeClr val="tx1"/>
                </a:solidFill>
                <a:effectLst/>
                <a:latin typeface="+mn-lt"/>
                <a:ea typeface="+mn-ea"/>
                <a:cs typeface="+mn-cs"/>
              </a:rPr>
              <a:t>“q”</a:t>
            </a:r>
            <a:r>
              <a:rPr lang="zh-CN" altLang="zh-CN" sz="1200" kern="1200" dirty="0" smtClean="0">
                <a:solidFill>
                  <a:schemeClr val="tx1"/>
                </a:solidFill>
                <a:effectLst/>
                <a:latin typeface="+mn-lt"/>
                <a:ea typeface="+mn-ea"/>
                <a:cs typeface="+mn-cs"/>
              </a:rPr>
              <a:t>或</a:t>
            </a:r>
            <a:r>
              <a:rPr lang="en-US" altLang="zh-CN" sz="1200" kern="1200" dirty="0" smtClean="0">
                <a:solidFill>
                  <a:schemeClr val="tx1"/>
                </a:solidFill>
                <a:effectLst/>
                <a:latin typeface="+mn-lt"/>
                <a:ea typeface="+mn-ea"/>
                <a:cs typeface="+mn-cs"/>
              </a:rPr>
              <a:t>“esc”</a:t>
            </a:r>
            <a:r>
              <a:rPr lang="zh-CN" altLang="zh-CN" sz="1200" kern="1200" dirty="0" smtClean="0">
                <a:solidFill>
                  <a:schemeClr val="tx1"/>
                </a:solidFill>
                <a:effectLst/>
                <a:latin typeface="+mn-lt"/>
                <a:ea typeface="+mn-ea"/>
                <a:cs typeface="+mn-cs"/>
              </a:rPr>
              <a:t>键关闭</a:t>
            </a:r>
            <a:r>
              <a:rPr lang="en-US" altLang="zh-CN" sz="1200" kern="1200" dirty="0" smtClean="0">
                <a:solidFill>
                  <a:schemeClr val="tx1"/>
                </a:solidFill>
                <a:effectLst/>
                <a:latin typeface="+mn-lt"/>
                <a:ea typeface="+mn-ea"/>
                <a:cs typeface="+mn-cs"/>
              </a:rPr>
              <a:t>video</a:t>
            </a:r>
            <a:r>
              <a:rPr lang="zh-CN" altLang="zh-CN" sz="1200" kern="1200" dirty="0" smtClean="0">
                <a:solidFill>
                  <a:schemeClr val="tx1"/>
                </a:solidFill>
                <a:effectLst/>
                <a:latin typeface="+mn-lt"/>
                <a:ea typeface="+mn-ea"/>
                <a:cs typeface="+mn-cs"/>
              </a:rPr>
              <a:t>界面，程序停止运行。</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5326779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对</a:t>
            </a:r>
            <a:r>
              <a:rPr lang="en-US" altLang="zh-CN" sz="1200" kern="1200" dirty="0" smtClean="0">
                <a:solidFill>
                  <a:schemeClr val="tx1"/>
                </a:solidFill>
                <a:effectLst/>
                <a:latin typeface="+mn-lt"/>
                <a:ea typeface="+mn-ea"/>
                <a:cs typeface="+mn-cs"/>
              </a:rPr>
              <a:t>street.jpg</a:t>
            </a:r>
            <a:r>
              <a:rPr lang="zh-CN" altLang="zh-CN" sz="1200" kern="1200" dirty="0" smtClean="0">
                <a:solidFill>
                  <a:schemeClr val="tx1"/>
                </a:solidFill>
                <a:effectLst/>
                <a:latin typeface="+mn-lt"/>
                <a:ea typeface="+mn-ea"/>
                <a:cs typeface="+mn-cs"/>
              </a:rPr>
              <a:t>的检测结果进行分析，发现仅检测出一名未戴口罩的目标，原因是训练模型所用的数据集大多是正脸目标，对侧脸目标的检测效果不佳。 </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962020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该结果不仅会显示摄像头画面的实时检测结果，还会显示检测的</a:t>
            </a:r>
            <a:r>
              <a:rPr lang="en-US" altLang="zh-CN" sz="1200" kern="1200" dirty="0" smtClean="0">
                <a:solidFill>
                  <a:schemeClr val="tx1"/>
                </a:solidFill>
                <a:effectLst/>
                <a:latin typeface="+mn-lt"/>
                <a:ea typeface="+mn-ea"/>
                <a:cs typeface="+mn-cs"/>
              </a:rPr>
              <a:t>fps</a:t>
            </a:r>
            <a:r>
              <a:rPr lang="zh-CN" altLang="zh-CN" sz="1200" kern="1200" dirty="0" smtClean="0">
                <a:solidFill>
                  <a:schemeClr val="tx1"/>
                </a:solidFill>
                <a:effectLst/>
                <a:latin typeface="+mn-lt"/>
                <a:ea typeface="+mn-ea"/>
                <a:cs typeface="+mn-cs"/>
              </a:rPr>
              <a:t>（帧数）。由于笔者电脑</a:t>
            </a:r>
            <a:r>
              <a:rPr lang="en-US" altLang="zh-CN" sz="1200" kern="1200" dirty="0" smtClean="0">
                <a:solidFill>
                  <a:schemeClr val="tx1"/>
                </a:solidFill>
                <a:effectLst/>
                <a:latin typeface="+mn-lt"/>
                <a:ea typeface="+mn-ea"/>
                <a:cs typeface="+mn-cs"/>
              </a:rPr>
              <a:t>GPU</a:t>
            </a:r>
            <a:r>
              <a:rPr lang="zh-CN" altLang="zh-CN" sz="1200" kern="1200" dirty="0" smtClean="0">
                <a:solidFill>
                  <a:schemeClr val="tx1"/>
                </a:solidFill>
                <a:effectLst/>
                <a:latin typeface="+mn-lt"/>
                <a:ea typeface="+mn-ea"/>
                <a:cs typeface="+mn-cs"/>
              </a:rPr>
              <a:t>性能并不强，这里的</a:t>
            </a:r>
            <a:r>
              <a:rPr lang="en-US" altLang="zh-CN" sz="1200" kern="1200" dirty="0" smtClean="0">
                <a:solidFill>
                  <a:schemeClr val="tx1"/>
                </a:solidFill>
                <a:effectLst/>
                <a:latin typeface="+mn-lt"/>
                <a:ea typeface="+mn-ea"/>
                <a:cs typeface="+mn-cs"/>
              </a:rPr>
              <a:t>fps&lt;1</a:t>
            </a:r>
            <a:r>
              <a:rPr lang="zh-CN" altLang="zh-CN" sz="1200" kern="1200" dirty="0" smtClean="0">
                <a:solidFill>
                  <a:schemeClr val="tx1"/>
                </a:solidFill>
                <a:effectLst/>
                <a:latin typeface="+mn-lt"/>
                <a:ea typeface="+mn-ea"/>
                <a:cs typeface="+mn-cs"/>
              </a:rPr>
              <a:t>说明每秒检测图像小于</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张，画面会出现明显卡顿。出现卡顿的原因大部分是因为电脑</a:t>
            </a:r>
            <a:r>
              <a:rPr lang="en-US" altLang="zh-CN" sz="1200" kern="1200" dirty="0" smtClean="0">
                <a:solidFill>
                  <a:schemeClr val="tx1"/>
                </a:solidFill>
                <a:effectLst/>
                <a:latin typeface="+mn-lt"/>
                <a:ea typeface="+mn-ea"/>
                <a:cs typeface="+mn-cs"/>
              </a:rPr>
              <a:t>GPU</a:t>
            </a:r>
            <a:r>
              <a:rPr lang="zh-CN" altLang="zh-CN" sz="1200" kern="1200" dirty="0" smtClean="0">
                <a:solidFill>
                  <a:schemeClr val="tx1"/>
                </a:solidFill>
                <a:effectLst/>
                <a:latin typeface="+mn-lt"/>
                <a:ea typeface="+mn-ea"/>
                <a:cs typeface="+mn-cs"/>
              </a:rPr>
              <a:t>性能问题，小部分可能是摄像头设备及其他问题。</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850944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该模型检测一张图像约使用</a:t>
            </a:r>
            <a:r>
              <a:rPr lang="en-US" altLang="zh-CN" sz="1200" kern="1200" dirty="0" smtClean="0">
                <a:solidFill>
                  <a:schemeClr val="tx1"/>
                </a:solidFill>
                <a:effectLst/>
                <a:latin typeface="+mn-lt"/>
                <a:ea typeface="+mn-ea"/>
                <a:cs typeface="+mn-cs"/>
              </a:rPr>
              <a:t>5.54</a:t>
            </a:r>
            <a:r>
              <a:rPr lang="zh-CN" altLang="zh-CN" sz="1200" kern="1200" dirty="0" smtClean="0">
                <a:solidFill>
                  <a:schemeClr val="tx1"/>
                </a:solidFill>
                <a:effectLst/>
                <a:latin typeface="+mn-lt"/>
                <a:ea typeface="+mn-ea"/>
                <a:cs typeface="+mn-cs"/>
              </a:rPr>
              <a:t>秒，意味着</a:t>
            </a:r>
            <a:r>
              <a:rPr lang="en-US" altLang="zh-CN" sz="1200" kern="1200" dirty="0" smtClean="0">
                <a:solidFill>
                  <a:schemeClr val="tx1"/>
                </a:solidFill>
                <a:effectLst/>
                <a:latin typeface="+mn-lt"/>
                <a:ea typeface="+mn-ea"/>
                <a:cs typeface="+mn-cs"/>
              </a:rPr>
              <a:t>FPS</a:t>
            </a:r>
            <a:r>
              <a:rPr lang="zh-CN" altLang="zh-CN" sz="1200" kern="1200" dirty="0" smtClean="0">
                <a:solidFill>
                  <a:schemeClr val="tx1"/>
                </a:solidFill>
                <a:effectLst/>
                <a:latin typeface="+mn-lt"/>
                <a:ea typeface="+mn-ea"/>
                <a:cs typeface="+mn-cs"/>
              </a:rPr>
              <a:t>仅有</a:t>
            </a:r>
            <a:r>
              <a:rPr lang="en-US" altLang="zh-CN" sz="1200" kern="1200" dirty="0" smtClean="0">
                <a:solidFill>
                  <a:schemeClr val="tx1"/>
                </a:solidFill>
                <a:effectLst/>
                <a:latin typeface="+mn-lt"/>
                <a:ea typeface="+mn-ea"/>
                <a:cs typeface="+mn-cs"/>
              </a:rPr>
              <a:t>0.18</a:t>
            </a:r>
            <a:r>
              <a:rPr lang="zh-CN" altLang="zh-CN" sz="1200" kern="1200" dirty="0" smtClean="0">
                <a:solidFill>
                  <a:schemeClr val="tx1"/>
                </a:solidFill>
                <a:effectLst/>
                <a:latin typeface="+mn-lt"/>
                <a:ea typeface="+mn-ea"/>
                <a:cs typeface="+mn-cs"/>
              </a:rPr>
              <a:t>（低性能配置下）。而</a:t>
            </a:r>
            <a:r>
              <a:rPr lang="en-US" altLang="zh-CN" sz="1200" kern="1200" dirty="0" smtClean="0">
                <a:solidFill>
                  <a:schemeClr val="tx1"/>
                </a:solidFill>
                <a:effectLst/>
                <a:latin typeface="+mn-lt"/>
                <a:ea typeface="+mn-ea"/>
                <a:cs typeface="+mn-cs"/>
              </a:rPr>
              <a:t>CPU</a:t>
            </a:r>
            <a:r>
              <a:rPr lang="zh-CN" altLang="zh-CN" sz="1200" kern="1200" dirty="0" smtClean="0">
                <a:solidFill>
                  <a:schemeClr val="tx1"/>
                </a:solidFill>
                <a:effectLst/>
                <a:latin typeface="+mn-lt"/>
                <a:ea typeface="+mn-ea"/>
                <a:cs typeface="+mn-cs"/>
              </a:rPr>
              <a:t>的检测速度会更慢，因此本实验不推荐使用</a:t>
            </a:r>
            <a:r>
              <a:rPr lang="en-US" altLang="zh-CN" sz="1200" kern="1200" dirty="0" smtClean="0">
                <a:solidFill>
                  <a:schemeClr val="tx1"/>
                </a:solidFill>
                <a:effectLst/>
                <a:latin typeface="+mn-lt"/>
                <a:ea typeface="+mn-ea"/>
                <a:cs typeface="+mn-cs"/>
              </a:rPr>
              <a:t>CPU</a:t>
            </a:r>
            <a:r>
              <a:rPr lang="zh-CN" altLang="zh-CN" sz="1200" kern="1200" dirty="0" smtClean="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31060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2079460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64773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 xmlns:a16="http://schemas.microsoft.com/office/drawing/2014/main"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 xmlns:a16="http://schemas.microsoft.com/office/drawing/2014/main"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 xmlns:a16="http://schemas.microsoft.com/office/drawing/2014/main"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 xmlns:a16="http://schemas.microsoft.com/office/drawing/2014/main"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 xmlns:a16="http://schemas.microsoft.com/office/drawing/2014/main"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 xmlns:a16="http://schemas.microsoft.com/office/drawing/2014/main"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 xmlns:a16="http://schemas.microsoft.com/office/drawing/2014/main"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 xmlns:a16="http://schemas.microsoft.com/office/drawing/2014/main"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 xmlns:a16="http://schemas.microsoft.com/office/drawing/2014/main"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 xmlns:a16="http://schemas.microsoft.com/office/drawing/2014/main"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 xmlns:a16="http://schemas.microsoft.com/office/drawing/2014/main"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 xmlns:a16="http://schemas.microsoft.com/office/drawing/2014/main"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 xmlns:a16="http://schemas.microsoft.com/office/drawing/2014/main"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 xmlns:a16="http://schemas.microsoft.com/office/drawing/2014/main"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 xmlns:a16="http://schemas.microsoft.com/office/drawing/2014/main"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 xmlns:a16="http://schemas.microsoft.com/office/drawing/2014/main"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 xmlns:a16="http://schemas.microsoft.com/office/drawing/2014/main"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 xmlns:a16="http://schemas.microsoft.com/office/drawing/2014/main"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 xmlns:a16="http://schemas.microsoft.com/office/drawing/2014/main"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 xmlns:a16="http://schemas.microsoft.com/office/drawing/2014/main"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 xmlns:a16="http://schemas.microsoft.com/office/drawing/2014/main"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 xmlns:a16="http://schemas.microsoft.com/office/drawing/2014/main"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 xmlns:a16="http://schemas.microsoft.com/office/drawing/2014/main"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 xmlns:a16="http://schemas.microsoft.com/office/drawing/2014/main"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 xmlns:a16="http://schemas.microsoft.com/office/drawing/2014/main"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 xmlns:a16="http://schemas.microsoft.com/office/drawing/2014/main"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 xmlns:a16="http://schemas.microsoft.com/office/drawing/2014/main"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 xmlns:a16="http://schemas.microsoft.com/office/drawing/2014/main"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 xmlns:a16="http://schemas.microsoft.com/office/drawing/2014/main"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 xmlns:a16="http://schemas.microsoft.com/office/drawing/2014/main"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 xmlns:a16="http://schemas.microsoft.com/office/drawing/2014/main"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 xmlns:a16="http://schemas.microsoft.com/office/drawing/2014/main"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 xmlns:a16="http://schemas.microsoft.com/office/drawing/2014/main"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 xmlns:a16="http://schemas.microsoft.com/office/drawing/2014/main"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 xmlns:a16="http://schemas.microsoft.com/office/drawing/2014/main"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 xmlns:a16="http://schemas.microsoft.com/office/drawing/2014/main"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 xmlns:a16="http://schemas.microsoft.com/office/drawing/2014/main"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 xmlns:a16="http://schemas.microsoft.com/office/drawing/2014/main"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 xmlns:a16="http://schemas.microsoft.com/office/drawing/2014/main"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 xmlns:a16="http://schemas.microsoft.com/office/drawing/2014/main"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 xmlns:a16="http://schemas.microsoft.com/office/drawing/2014/main"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 xmlns:a16="http://schemas.microsoft.com/office/drawing/2014/main"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 xmlns:a16="http://schemas.microsoft.com/office/drawing/2014/main"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 xmlns:a16="http://schemas.microsoft.com/office/drawing/2014/main"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 xmlns:a16="http://schemas.microsoft.com/office/drawing/2014/main"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 xmlns:a16="http://schemas.microsoft.com/office/drawing/2014/main"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 xmlns:a16="http://schemas.microsoft.com/office/drawing/2014/main"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 xmlns:a16="http://schemas.microsoft.com/office/drawing/2014/main"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 xmlns:a16="http://schemas.microsoft.com/office/drawing/2014/main"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 xmlns:a16="http://schemas.microsoft.com/office/drawing/2014/main"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 xmlns:a16="http://schemas.microsoft.com/office/drawing/2014/main"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 xmlns:a16="http://schemas.microsoft.com/office/drawing/2014/main"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 xmlns:a16="http://schemas.microsoft.com/office/drawing/2014/main"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 xmlns:a16="http://schemas.microsoft.com/office/drawing/2014/main"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 xmlns:a16="http://schemas.microsoft.com/office/drawing/2014/main"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 xmlns:a16="http://schemas.microsoft.com/office/drawing/2014/main"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 xmlns:a16="http://schemas.microsoft.com/office/drawing/2014/main"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 xmlns:a16="http://schemas.microsoft.com/office/drawing/2014/main"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 xmlns:a16="http://schemas.microsoft.com/office/drawing/2014/main"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 xmlns:a16="http://schemas.microsoft.com/office/drawing/2014/main"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 xmlns:a16="http://schemas.microsoft.com/office/drawing/2014/main"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 xmlns:a16="http://schemas.microsoft.com/office/drawing/2014/main"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 xmlns:a16="http://schemas.microsoft.com/office/drawing/2014/main"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 xmlns:a16="http://schemas.microsoft.com/office/drawing/2014/main"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 xmlns:a16="http://schemas.microsoft.com/office/drawing/2014/main"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 xmlns:a16="http://schemas.microsoft.com/office/drawing/2014/main"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 xmlns:a16="http://schemas.microsoft.com/office/drawing/2014/main"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 xmlns:a16="http://schemas.microsoft.com/office/drawing/2014/main"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 xmlns:a16="http://schemas.microsoft.com/office/drawing/2014/main"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 xmlns:a16="http://schemas.microsoft.com/office/drawing/2014/main"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 xmlns:a16="http://schemas.microsoft.com/office/drawing/2014/main"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 xmlns:a16="http://schemas.microsoft.com/office/drawing/2014/main"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 xmlns:a16="http://schemas.microsoft.com/office/drawing/2014/main"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 xmlns:a16="http://schemas.microsoft.com/office/drawing/2014/main"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 xmlns:a16="http://schemas.microsoft.com/office/drawing/2014/main"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 xmlns:a16="http://schemas.microsoft.com/office/drawing/2014/main"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 xmlns:a16="http://schemas.microsoft.com/office/drawing/2014/main"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 xmlns:a16="http://schemas.microsoft.com/office/drawing/2014/main"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 xmlns:a16="http://schemas.microsoft.com/office/drawing/2014/main"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 xmlns:a16="http://schemas.microsoft.com/office/drawing/2014/main"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 xmlns:a16="http://schemas.microsoft.com/office/drawing/2014/main"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 xmlns:a16="http://schemas.microsoft.com/office/drawing/2014/main"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 xmlns:a16="http://schemas.microsoft.com/office/drawing/2014/main"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 xmlns:a16="http://schemas.microsoft.com/office/drawing/2014/main"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 xmlns:a16="http://schemas.microsoft.com/office/drawing/2014/main"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 xmlns:a16="http://schemas.microsoft.com/office/drawing/2014/main"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 xmlns:a16="http://schemas.microsoft.com/office/drawing/2014/main"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 xmlns:a16="http://schemas.microsoft.com/office/drawing/2014/main"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 xmlns:a16="http://schemas.microsoft.com/office/drawing/2014/main"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 xmlns:a16="http://schemas.microsoft.com/office/drawing/2014/main"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 xmlns:a16="http://schemas.microsoft.com/office/drawing/2014/main"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 xmlns:a16="http://schemas.microsoft.com/office/drawing/2014/main"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 xmlns:a16="http://schemas.microsoft.com/office/drawing/2014/main"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 xmlns:a16="http://schemas.microsoft.com/office/drawing/2014/main"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 xmlns:a16="http://schemas.microsoft.com/office/drawing/2014/main"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 xmlns:a16="http://schemas.microsoft.com/office/drawing/2014/main"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 xmlns:a16="http://schemas.microsoft.com/office/drawing/2014/main"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 xmlns:a16="http://schemas.microsoft.com/office/drawing/2014/main"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 xmlns:a16="http://schemas.microsoft.com/office/drawing/2014/main"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 xmlns:a16="http://schemas.microsoft.com/office/drawing/2014/main"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 xmlns:a16="http://schemas.microsoft.com/office/drawing/2014/main"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 xmlns:a16="http://schemas.microsoft.com/office/drawing/2014/main"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 xmlns:a16="http://schemas.microsoft.com/office/drawing/2014/main"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 xmlns:a16="http://schemas.microsoft.com/office/drawing/2014/main"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 xmlns:a16="http://schemas.microsoft.com/office/drawing/2014/main"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 xmlns:a16="http://schemas.microsoft.com/office/drawing/2014/main"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 xmlns:a16="http://schemas.microsoft.com/office/drawing/2014/main"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 xmlns:a16="http://schemas.microsoft.com/office/drawing/2014/main"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 xmlns:a16="http://schemas.microsoft.com/office/drawing/2014/main"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 xmlns:a16="http://schemas.microsoft.com/office/drawing/2014/main"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 xmlns:a16="http://schemas.microsoft.com/office/drawing/2014/main"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 xmlns:a16="http://schemas.microsoft.com/office/drawing/2014/main"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 xmlns:a16="http://schemas.microsoft.com/office/drawing/2014/main"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 xmlns:a16="http://schemas.microsoft.com/office/drawing/2014/main"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 xmlns:a16="http://schemas.microsoft.com/office/drawing/2014/main"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 xmlns:a16="http://schemas.microsoft.com/office/drawing/2014/main"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 xmlns:a16="http://schemas.microsoft.com/office/drawing/2014/main"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 xmlns:a16="http://schemas.microsoft.com/office/drawing/2014/main"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 xmlns:a16="http://schemas.microsoft.com/office/drawing/2014/main"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 xmlns:a16="http://schemas.microsoft.com/office/drawing/2014/main"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 xmlns:a16="http://schemas.microsoft.com/office/drawing/2014/main"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 xmlns:a16="http://schemas.microsoft.com/office/drawing/2014/main"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 xmlns:a16="http://schemas.microsoft.com/office/drawing/2014/main"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 xmlns:a16="http://schemas.microsoft.com/office/drawing/2014/main"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 xmlns:a16="http://schemas.microsoft.com/office/drawing/2014/main"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 xmlns:a16="http://schemas.microsoft.com/office/drawing/2014/main"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 xmlns:a16="http://schemas.microsoft.com/office/drawing/2014/main"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 xmlns:a16="http://schemas.microsoft.com/office/drawing/2014/main"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 xmlns:a16="http://schemas.microsoft.com/office/drawing/2014/main"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 xmlns:a16="http://schemas.microsoft.com/office/drawing/2014/main"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 xmlns:a16="http://schemas.microsoft.com/office/drawing/2014/main"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 xmlns:a16="http://schemas.microsoft.com/office/drawing/2014/main"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 xmlns:a16="http://schemas.microsoft.com/office/drawing/2014/main"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 xmlns:a16="http://schemas.microsoft.com/office/drawing/2014/main"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 xmlns:a16="http://schemas.microsoft.com/office/drawing/2014/main"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 xmlns:a16="http://schemas.microsoft.com/office/drawing/2014/main"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 xmlns:a16="http://schemas.microsoft.com/office/drawing/2014/main"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 xmlns:a16="http://schemas.microsoft.com/office/drawing/2014/main"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 xmlns:a16="http://schemas.microsoft.com/office/drawing/2014/main"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 xmlns:a16="http://schemas.microsoft.com/office/drawing/2014/main"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 xmlns:a16="http://schemas.microsoft.com/office/drawing/2014/main"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 xmlns:a16="http://schemas.microsoft.com/office/drawing/2014/main"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 xmlns:a16="http://schemas.microsoft.com/office/drawing/2014/main"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 xmlns:a16="http://schemas.microsoft.com/office/drawing/2014/main"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 xmlns:a16="http://schemas.microsoft.com/office/drawing/2014/main"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 xmlns:a16="http://schemas.microsoft.com/office/drawing/2014/main"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 xmlns:a16="http://schemas.microsoft.com/office/drawing/2014/main"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 xmlns:a16="http://schemas.microsoft.com/office/drawing/2014/main"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 xmlns:a16="http://schemas.microsoft.com/office/drawing/2014/main"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 xmlns:a16="http://schemas.microsoft.com/office/drawing/2014/main"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 xmlns:a16="http://schemas.microsoft.com/office/drawing/2014/main"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 xmlns:a16="http://schemas.microsoft.com/office/drawing/2014/main"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 xmlns:a16="http://schemas.microsoft.com/office/drawing/2014/main"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 xmlns:a16="http://schemas.microsoft.com/office/drawing/2014/main"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 xmlns:a16="http://schemas.microsoft.com/office/drawing/2014/main"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 xmlns:a16="http://schemas.microsoft.com/office/drawing/2014/main"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 xmlns:a16="http://schemas.microsoft.com/office/drawing/2014/main"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 xmlns:a16="http://schemas.microsoft.com/office/drawing/2014/main"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 xmlns:a16="http://schemas.microsoft.com/office/drawing/2014/main"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 xmlns:a16="http://schemas.microsoft.com/office/drawing/2014/main"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 xmlns:a16="http://schemas.microsoft.com/office/drawing/2014/main"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 xmlns:a16="http://schemas.microsoft.com/office/drawing/2014/main"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 xmlns:a16="http://schemas.microsoft.com/office/drawing/2014/main"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 xmlns:a16="http://schemas.microsoft.com/office/drawing/2014/main"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 xmlns:a16="http://schemas.microsoft.com/office/drawing/2014/main"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 xmlns:a16="http://schemas.microsoft.com/office/drawing/2014/main"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 xmlns:a16="http://schemas.microsoft.com/office/drawing/2014/main"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 xmlns:a16="http://schemas.microsoft.com/office/drawing/2014/main"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 xmlns:a16="http://schemas.microsoft.com/office/drawing/2014/main"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 xmlns:a16="http://schemas.microsoft.com/office/drawing/2014/main"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 xmlns:a16="http://schemas.microsoft.com/office/drawing/2014/main"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 xmlns:a16="http://schemas.microsoft.com/office/drawing/2014/main"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 xmlns:a16="http://schemas.microsoft.com/office/drawing/2014/main"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 xmlns:a16="http://schemas.microsoft.com/office/drawing/2014/main"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 xmlns:a16="http://schemas.microsoft.com/office/drawing/2014/main"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 xmlns:a16="http://schemas.microsoft.com/office/drawing/2014/main"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 xmlns:a16="http://schemas.microsoft.com/office/drawing/2014/main"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 xmlns:a16="http://schemas.microsoft.com/office/drawing/2014/main"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 xmlns:a16="http://schemas.microsoft.com/office/drawing/2014/main"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 xmlns:a16="http://schemas.microsoft.com/office/drawing/2014/main"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 xmlns:a16="http://schemas.microsoft.com/office/drawing/2014/main"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 xmlns:a16="http://schemas.microsoft.com/office/drawing/2014/main"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 xmlns:a16="http://schemas.microsoft.com/office/drawing/2014/main"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 xmlns:a16="http://schemas.microsoft.com/office/drawing/2014/main"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 xmlns:a16="http://schemas.microsoft.com/office/drawing/2014/main"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 xmlns:a16="http://schemas.microsoft.com/office/drawing/2014/main"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 xmlns:a16="http://schemas.microsoft.com/office/drawing/2014/main"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 xmlns:a16="http://schemas.microsoft.com/office/drawing/2014/main"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 xmlns:a16="http://schemas.microsoft.com/office/drawing/2014/main"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 xmlns:a16="http://schemas.microsoft.com/office/drawing/2014/main"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 xmlns:a16="http://schemas.microsoft.com/office/drawing/2014/main"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 xmlns:a16="http://schemas.microsoft.com/office/drawing/2014/main"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 xmlns:a16="http://schemas.microsoft.com/office/drawing/2014/main"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 xmlns:a16="http://schemas.microsoft.com/office/drawing/2014/main"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 xmlns:a16="http://schemas.microsoft.com/office/drawing/2014/main"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 xmlns:a16="http://schemas.microsoft.com/office/drawing/2014/main"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 xmlns:a16="http://schemas.microsoft.com/office/drawing/2014/main"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 xmlns:a16="http://schemas.microsoft.com/office/drawing/2014/main"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 xmlns:a16="http://schemas.microsoft.com/office/drawing/2014/main"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 xmlns:a16="http://schemas.microsoft.com/office/drawing/2014/main"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 xmlns:a16="http://schemas.microsoft.com/office/drawing/2014/main"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 xmlns:a16="http://schemas.microsoft.com/office/drawing/2014/main"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 xmlns:a16="http://schemas.microsoft.com/office/drawing/2014/main"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 xmlns:a16="http://schemas.microsoft.com/office/drawing/2014/main"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 xmlns:a16="http://schemas.microsoft.com/office/drawing/2014/main"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 xmlns:a16="http://schemas.microsoft.com/office/drawing/2014/main"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 xmlns:a16="http://schemas.microsoft.com/office/drawing/2014/main"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 xmlns:a16="http://schemas.microsoft.com/office/drawing/2014/main"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 xmlns:a16="http://schemas.microsoft.com/office/drawing/2014/main"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 xmlns:a16="http://schemas.microsoft.com/office/drawing/2014/main"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 xmlns:a16="http://schemas.microsoft.com/office/drawing/2014/main"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 xmlns:a16="http://schemas.microsoft.com/office/drawing/2014/main"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 xmlns:a16="http://schemas.microsoft.com/office/drawing/2014/main"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 xmlns:a16="http://schemas.microsoft.com/office/drawing/2014/main"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 xmlns:a16="http://schemas.microsoft.com/office/drawing/2014/main"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 xmlns:a16="http://schemas.microsoft.com/office/drawing/2014/main"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 xmlns:a16="http://schemas.microsoft.com/office/drawing/2014/main"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 xmlns:a16="http://schemas.microsoft.com/office/drawing/2014/main"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 xmlns:a16="http://schemas.microsoft.com/office/drawing/2014/main"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 xmlns:a16="http://schemas.microsoft.com/office/drawing/2014/main"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 xmlns:a16="http://schemas.microsoft.com/office/drawing/2014/main"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 xmlns:a16="http://schemas.microsoft.com/office/drawing/2014/main"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 xmlns:a16="http://schemas.microsoft.com/office/drawing/2014/main"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 xmlns:a16="http://schemas.microsoft.com/office/drawing/2014/main"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 xmlns:a16="http://schemas.microsoft.com/office/drawing/2014/main"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 xmlns:a16="http://schemas.microsoft.com/office/drawing/2014/main"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 xmlns:a16="http://schemas.microsoft.com/office/drawing/2014/main"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 xmlns:a16="http://schemas.microsoft.com/office/drawing/2014/main"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 xmlns:a16="http://schemas.microsoft.com/office/drawing/2014/main"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 xmlns:a16="http://schemas.microsoft.com/office/drawing/2014/main"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 xmlns:a16="http://schemas.microsoft.com/office/drawing/2014/main"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 xmlns:a16="http://schemas.microsoft.com/office/drawing/2014/main"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 xmlns:a16="http://schemas.microsoft.com/office/drawing/2014/main"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 xmlns:a16="http://schemas.microsoft.com/office/drawing/2014/main"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 xmlns:a16="http://schemas.microsoft.com/office/drawing/2014/main"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 xmlns:a16="http://schemas.microsoft.com/office/drawing/2014/main"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 xmlns:a16="http://schemas.microsoft.com/office/drawing/2014/main"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 xmlns:a16="http://schemas.microsoft.com/office/drawing/2014/main"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 xmlns:a16="http://schemas.microsoft.com/office/drawing/2014/main"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 xmlns:a16="http://schemas.microsoft.com/office/drawing/2014/main"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 xmlns:a16="http://schemas.microsoft.com/office/drawing/2014/main"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 xmlns:a16="http://schemas.microsoft.com/office/drawing/2014/main"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 xmlns:a16="http://schemas.microsoft.com/office/drawing/2014/main"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 xmlns:a16="http://schemas.microsoft.com/office/drawing/2014/main"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 xmlns:a16="http://schemas.microsoft.com/office/drawing/2014/main"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 xmlns:a16="http://schemas.microsoft.com/office/drawing/2014/main"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 xmlns:a16="http://schemas.microsoft.com/office/drawing/2014/main"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 xmlns:a16="http://schemas.microsoft.com/office/drawing/2014/main"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 xmlns:a16="http://schemas.microsoft.com/office/drawing/2014/main"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 xmlns:a16="http://schemas.microsoft.com/office/drawing/2014/main"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 xmlns:a16="http://schemas.microsoft.com/office/drawing/2014/main"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 xmlns:a16="http://schemas.microsoft.com/office/drawing/2014/main"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 xmlns:a16="http://schemas.microsoft.com/office/drawing/2014/main"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 xmlns:a16="http://schemas.microsoft.com/office/drawing/2014/main"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 xmlns:a16="http://schemas.microsoft.com/office/drawing/2014/main"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 xmlns:a16="http://schemas.microsoft.com/office/drawing/2014/main"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 xmlns:a16="http://schemas.microsoft.com/office/drawing/2014/main"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 xmlns:a16="http://schemas.microsoft.com/office/drawing/2014/main"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 xmlns:a16="http://schemas.microsoft.com/office/drawing/2014/main"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 xmlns:a16="http://schemas.microsoft.com/office/drawing/2014/main"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 xmlns:a16="http://schemas.microsoft.com/office/drawing/2014/main"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 xmlns:a16="http://schemas.microsoft.com/office/drawing/2014/main"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 xmlns:a16="http://schemas.microsoft.com/office/drawing/2014/main"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 xmlns:a16="http://schemas.microsoft.com/office/drawing/2014/main"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 xmlns:a16="http://schemas.microsoft.com/office/drawing/2014/main"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 xmlns:a16="http://schemas.microsoft.com/office/drawing/2014/main"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 xmlns:a16="http://schemas.microsoft.com/office/drawing/2014/main"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 xmlns:a16="http://schemas.microsoft.com/office/drawing/2014/main"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 xmlns:a16="http://schemas.microsoft.com/office/drawing/2014/main"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 xmlns:a16="http://schemas.microsoft.com/office/drawing/2014/main"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 xmlns:a16="http://schemas.microsoft.com/office/drawing/2014/main"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 xmlns:a16="http://schemas.microsoft.com/office/drawing/2014/main"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 xmlns:a16="http://schemas.microsoft.com/office/drawing/2014/main"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 xmlns:a16="http://schemas.microsoft.com/office/drawing/2014/main"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 xmlns:a16="http://schemas.microsoft.com/office/drawing/2014/main"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 xmlns:a16="http://schemas.microsoft.com/office/drawing/2014/main"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 xmlns:a16="http://schemas.microsoft.com/office/drawing/2014/main"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 xmlns:a16="http://schemas.microsoft.com/office/drawing/2014/main"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 xmlns:a16="http://schemas.microsoft.com/office/drawing/2014/main"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 xmlns:a16="http://schemas.microsoft.com/office/drawing/2014/main"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 xmlns:a16="http://schemas.microsoft.com/office/drawing/2014/main"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 xmlns:a16="http://schemas.microsoft.com/office/drawing/2014/main"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 xmlns:a16="http://schemas.microsoft.com/office/drawing/2014/main"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 xmlns:a16="http://schemas.microsoft.com/office/drawing/2014/main"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 xmlns:a16="http://schemas.microsoft.com/office/drawing/2014/main"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 xmlns:a16="http://schemas.microsoft.com/office/drawing/2014/main"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 xmlns:a16="http://schemas.microsoft.com/office/drawing/2014/main"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 xmlns:a16="http://schemas.microsoft.com/office/drawing/2014/main"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 xmlns:a16="http://schemas.microsoft.com/office/drawing/2014/main"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 xmlns:a16="http://schemas.microsoft.com/office/drawing/2014/main"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 xmlns:a16="http://schemas.microsoft.com/office/drawing/2014/main"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 xmlns:a16="http://schemas.microsoft.com/office/drawing/2014/main"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 xmlns:a16="http://schemas.microsoft.com/office/drawing/2014/main"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 xmlns:a16="http://schemas.microsoft.com/office/drawing/2014/main"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 xmlns:a16="http://schemas.microsoft.com/office/drawing/2014/main"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 xmlns:a16="http://schemas.microsoft.com/office/drawing/2014/main"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 xmlns:a16="http://schemas.microsoft.com/office/drawing/2014/main"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 xmlns:a16="http://schemas.microsoft.com/office/drawing/2014/main"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 xmlns:a16="http://schemas.microsoft.com/office/drawing/2014/main"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 xmlns:a16="http://schemas.microsoft.com/office/drawing/2014/main"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 xmlns:a16="http://schemas.microsoft.com/office/drawing/2014/main"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 xmlns:a16="http://schemas.microsoft.com/office/drawing/2014/main"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 xmlns:a16="http://schemas.microsoft.com/office/drawing/2014/main"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 xmlns:a16="http://schemas.microsoft.com/office/drawing/2014/main"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 xmlns:a16="http://schemas.microsoft.com/office/drawing/2014/main"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 xmlns:a16="http://schemas.microsoft.com/office/drawing/2014/main"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 xmlns:a16="http://schemas.microsoft.com/office/drawing/2014/main"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 xmlns:a16="http://schemas.microsoft.com/office/drawing/2014/main"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 xmlns:a16="http://schemas.microsoft.com/office/drawing/2014/main"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 xmlns:a16="http://schemas.microsoft.com/office/drawing/2014/main"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 xmlns:a16="http://schemas.microsoft.com/office/drawing/2014/main"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 xmlns:a16="http://schemas.microsoft.com/office/drawing/2014/main"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 xmlns:a16="http://schemas.microsoft.com/office/drawing/2014/main"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 xmlns:a16="http://schemas.microsoft.com/office/drawing/2014/main"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 xmlns:a16="http://schemas.microsoft.com/office/drawing/2014/main"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 xmlns:a16="http://schemas.microsoft.com/office/drawing/2014/main"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 xmlns:a16="http://schemas.microsoft.com/office/drawing/2014/main"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 xmlns:a16="http://schemas.microsoft.com/office/drawing/2014/main"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 xmlns:a16="http://schemas.microsoft.com/office/drawing/2014/main"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 xmlns:a16="http://schemas.microsoft.com/office/drawing/2014/main"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 xmlns:a16="http://schemas.microsoft.com/office/drawing/2014/main"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 xmlns:a16="http://schemas.microsoft.com/office/drawing/2014/main"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 xmlns:a16="http://schemas.microsoft.com/office/drawing/2014/main"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 xmlns:a16="http://schemas.microsoft.com/office/drawing/2014/main"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 xmlns:a16="http://schemas.microsoft.com/office/drawing/2014/main"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 xmlns:a16="http://schemas.microsoft.com/office/drawing/2014/main"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 xmlns:a16="http://schemas.microsoft.com/office/drawing/2014/main"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 xmlns:a16="http://schemas.microsoft.com/office/drawing/2014/main"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 xmlns:a16="http://schemas.microsoft.com/office/drawing/2014/main"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 xmlns:a16="http://schemas.microsoft.com/office/drawing/2014/main"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 xmlns:a16="http://schemas.microsoft.com/office/drawing/2014/main"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 xmlns:a16="http://schemas.microsoft.com/office/drawing/2014/main"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 xmlns:a16="http://schemas.microsoft.com/office/drawing/2014/main"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 xmlns:a16="http://schemas.microsoft.com/office/drawing/2014/main"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 xmlns:a16="http://schemas.microsoft.com/office/drawing/2014/main"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 xmlns:a16="http://schemas.microsoft.com/office/drawing/2014/main"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 xmlns:a16="http://schemas.microsoft.com/office/drawing/2014/main"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 xmlns:a16="http://schemas.microsoft.com/office/drawing/2014/main"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 xmlns:a16="http://schemas.microsoft.com/office/drawing/2014/main"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 xmlns:a16="http://schemas.microsoft.com/office/drawing/2014/main"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 xmlns:a16="http://schemas.microsoft.com/office/drawing/2014/main"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 xmlns:a16="http://schemas.microsoft.com/office/drawing/2014/main"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 xmlns:a16="http://schemas.microsoft.com/office/drawing/2014/main"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 xmlns:a16="http://schemas.microsoft.com/office/drawing/2014/main"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 xmlns:a16="http://schemas.microsoft.com/office/drawing/2014/main"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 xmlns:a16="http://schemas.microsoft.com/office/drawing/2014/main"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 xmlns:a16="http://schemas.microsoft.com/office/drawing/2014/main"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 xmlns:a16="http://schemas.microsoft.com/office/drawing/2014/main"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 xmlns:a16="http://schemas.microsoft.com/office/drawing/2014/main"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 xmlns:a16="http://schemas.microsoft.com/office/drawing/2014/main"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 xmlns:a16="http://schemas.microsoft.com/office/drawing/2014/main"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 xmlns:a16="http://schemas.microsoft.com/office/drawing/2014/main"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 xmlns:a16="http://schemas.microsoft.com/office/drawing/2014/main"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 xmlns:a16="http://schemas.microsoft.com/office/drawing/2014/main"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 xmlns:a16="http://schemas.microsoft.com/office/drawing/2014/main"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 xmlns:a16="http://schemas.microsoft.com/office/drawing/2014/main"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 xmlns:a16="http://schemas.microsoft.com/office/drawing/2014/main"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 xmlns:a16="http://schemas.microsoft.com/office/drawing/2014/main"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 xmlns:a16="http://schemas.microsoft.com/office/drawing/2014/main"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 xmlns:a16="http://schemas.microsoft.com/office/drawing/2014/main"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 xmlns:a16="http://schemas.microsoft.com/office/drawing/2014/main"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 xmlns:a16="http://schemas.microsoft.com/office/drawing/2014/main"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 xmlns:a16="http://schemas.microsoft.com/office/drawing/2014/main"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 xmlns:a16="http://schemas.microsoft.com/office/drawing/2014/main"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 xmlns:a16="http://schemas.microsoft.com/office/drawing/2014/main"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 xmlns:a16="http://schemas.microsoft.com/office/drawing/2014/main"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 xmlns:a16="http://schemas.microsoft.com/office/drawing/2014/main"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 xmlns:a16="http://schemas.microsoft.com/office/drawing/2014/main"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 xmlns:a16="http://schemas.microsoft.com/office/drawing/2014/main"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 xmlns:a16="http://schemas.microsoft.com/office/drawing/2014/main"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 xmlns:a16="http://schemas.microsoft.com/office/drawing/2014/main"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 xmlns:a16="http://schemas.microsoft.com/office/drawing/2014/main"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 xmlns:a16="http://schemas.microsoft.com/office/drawing/2014/main"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 xmlns:a16="http://schemas.microsoft.com/office/drawing/2014/main"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 xmlns:a16="http://schemas.microsoft.com/office/drawing/2014/main"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 xmlns:a16="http://schemas.microsoft.com/office/drawing/2014/main"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 xmlns:a16="http://schemas.microsoft.com/office/drawing/2014/main"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 xmlns:a16="http://schemas.microsoft.com/office/drawing/2014/main"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 xmlns:a16="http://schemas.microsoft.com/office/drawing/2014/main"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 xmlns:a16="http://schemas.microsoft.com/office/drawing/2014/main"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 xmlns:a16="http://schemas.microsoft.com/office/drawing/2014/main"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 Target="slide2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_&#27880;&#24847;&#20107;&#39033;"/><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mirrors.aliyun.com/pypi/simple/" TargetMode="External"/><Relationship Id="rId7" Type="http://schemas.openxmlformats.org/officeDocument/2006/relationships/hyperlink" Target="https://************&#65288;&#22269;&#20869;&#38236;&#20687;&#28304;"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hyperlink" Target="https://pypi.tuna.tsinghua.edu.cn/simple/" TargetMode="External"/><Relationship Id="rId5" Type="http://schemas.openxmlformats.org/officeDocument/2006/relationships/hyperlink" Target="http://pypi.douban.com/simple/" TargetMode="External"/><Relationship Id="rId4" Type="http://schemas.openxmlformats.org/officeDocument/2006/relationships/hyperlink" Target="https://pypi.mirrors.ustc.edu.cn/simple/"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 xmlns:a16="http://schemas.microsoft.com/office/drawing/2014/main" id="{5C674A10-3091-4452-A509-500FDC13F4FE}"/>
              </a:ext>
            </a:extLst>
          </p:cNvPr>
          <p:cNvSpPr>
            <a:spLocks noGrp="1"/>
          </p:cNvSpPr>
          <p:nvPr>
            <p:ph type="subTitle" idx="1"/>
          </p:nvPr>
        </p:nvSpPr>
        <p:spPr/>
        <p:txBody>
          <a:bodyPr/>
          <a:lstStyle/>
          <a:p>
            <a:r>
              <a:rPr lang="zh-CN" altLang="en-US" smtClean="0"/>
              <a:t>实验：两</a:t>
            </a:r>
            <a:r>
              <a:rPr lang="zh-CN" altLang="en-US" dirty="0" smtClean="0"/>
              <a:t>阶段算法模型的训练与测试</a:t>
            </a:r>
            <a:endParaRPr lang="zh-CN" altLang="en-US" dirty="0"/>
          </a:p>
        </p:txBody>
      </p:sp>
      <p:sp>
        <p:nvSpPr>
          <p:cNvPr id="3" name="标题 2">
            <a:extLst>
              <a:ext uri="{FF2B5EF4-FFF2-40B4-BE49-F238E27FC236}">
                <a16:creationId xmlns="" xmlns:a16="http://schemas.microsoft.com/office/drawing/2014/main" id="{37B72B94-1F12-468F-939B-26F0B436DFF1}"/>
              </a:ext>
            </a:extLst>
          </p:cNvPr>
          <p:cNvSpPr>
            <a:spLocks noGrp="1"/>
          </p:cNvSpPr>
          <p:nvPr>
            <p:ph type="ctrTitle"/>
          </p:nvPr>
        </p:nvSpPr>
        <p:spPr/>
        <p:txBody>
          <a:bodyPr/>
          <a:lstStyle/>
          <a:p>
            <a:r>
              <a:rPr lang="zh-CN" altLang="en-US" dirty="0" smtClean="0"/>
              <a:t>目标检测的实现</a:t>
            </a:r>
            <a:endParaRPr lang="zh-CN" altLang="en-US" dirty="0"/>
          </a:p>
        </p:txBody>
      </p:sp>
      <p:sp>
        <p:nvSpPr>
          <p:cNvPr id="4" name="文本占位符 3">
            <a:extLst>
              <a:ext uri="{FF2B5EF4-FFF2-40B4-BE49-F238E27FC236}">
                <a16:creationId xmlns="" xmlns:a16="http://schemas.microsoft.com/office/drawing/2014/main"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 xmlns:a16="http://schemas.microsoft.com/office/drawing/2014/main"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训练两阶段算法（</a:t>
            </a:r>
            <a:r>
              <a:rPr kumimoji="1" lang="en-US" altLang="zh-CN" dirty="0" smtClean="0">
                <a:latin typeface="微软雅黑" panose="020B0503020204020204" pitchFamily="34" charset="-122"/>
                <a:ea typeface="微软雅黑" panose="020B0503020204020204" pitchFamily="34" charset="-122"/>
              </a:rPr>
              <a:t>Faster R-CNN</a:t>
            </a:r>
            <a:r>
              <a:rPr kumimoji="1" lang="zh-CN" altLang="en-US" dirty="0" smtClean="0">
                <a:latin typeface="微软雅黑" panose="020B0503020204020204" pitchFamily="34" charset="-122"/>
                <a:ea typeface="微软雅黑" panose="020B0503020204020204" pitchFamily="34" charset="-122"/>
              </a:rPr>
              <a:t>）模型</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评估训练的算法模型</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使用图像或视频测试模型</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与一阶段算法模型比较</a:t>
            </a: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 xmlns:a16="http://schemas.microsoft.com/office/drawing/2014/main"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实验介绍</a:t>
            </a:r>
            <a:endParaRPr lang="en-US" altLang="zh-CN" dirty="0" smtClean="0"/>
          </a:p>
          <a:p>
            <a:pPr>
              <a:lnSpc>
                <a:spcPct val="125000"/>
              </a:lnSpc>
              <a:buFont typeface="+mj-lt"/>
              <a:buAutoNum type="arabicPeriod"/>
            </a:pPr>
            <a:r>
              <a:rPr lang="zh-CN" altLang="en-US" dirty="0" smtClean="0"/>
              <a:t>实验环境</a:t>
            </a:r>
            <a:endParaRPr lang="en-US" altLang="zh-CN" dirty="0" smtClean="0"/>
          </a:p>
          <a:p>
            <a:pPr>
              <a:lnSpc>
                <a:spcPct val="125000"/>
              </a:lnSpc>
              <a:buFont typeface="+mj-lt"/>
              <a:buAutoNum type="arabicPeriod"/>
            </a:pPr>
            <a:r>
              <a:rPr lang="zh-CN" altLang="en-US" dirty="0" smtClean="0"/>
              <a:t>实验步骤</a:t>
            </a:r>
            <a:endParaRPr lang="en-US" altLang="zh-CN" dirty="0" smtClean="0"/>
          </a:p>
          <a:p>
            <a:pPr>
              <a:lnSpc>
                <a:spcPct val="125000"/>
              </a:lnSpc>
              <a:buFont typeface="+mj-lt"/>
              <a:buAutoNum type="arabicPeriod"/>
            </a:pPr>
            <a:r>
              <a:rPr lang="zh-CN" altLang="en-US" dirty="0"/>
              <a:t>注意</a:t>
            </a:r>
            <a:r>
              <a:rPr lang="zh-CN" altLang="en-US" dirty="0" smtClean="0"/>
              <a:t>事项</a:t>
            </a:r>
            <a:endParaRPr lang="en-US" altLang="zh-CN" dirty="0" smtClean="0"/>
          </a:p>
          <a:p>
            <a:pPr>
              <a:lnSpc>
                <a:spcPct val="125000"/>
              </a:lnSpc>
              <a:buFont typeface="+mj-lt"/>
              <a:buAutoNum type="arabicPeriod"/>
            </a:pPr>
            <a:endParaRPr lang="zh-CN" altLang="en-US" dirty="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实验介绍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实验介绍</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marL="342900" indent="-342900">
              <a:lnSpc>
                <a:spcPct val="125000"/>
              </a:lnSpc>
              <a:buFont typeface="+mj-lt"/>
              <a:buAutoNum type="arabicPeriod"/>
            </a:pPr>
            <a:r>
              <a:rPr lang="zh-CN" altLang="en-US" dirty="0" smtClean="0"/>
              <a:t>使用准备好的数据集在搭建好的环境中训练</a:t>
            </a:r>
            <a:r>
              <a:rPr lang="en-US" altLang="zh-CN" dirty="0" smtClean="0"/>
              <a:t>Faster R-CNN</a:t>
            </a:r>
            <a:r>
              <a:rPr lang="zh-CN" altLang="en-US" dirty="0" smtClean="0"/>
              <a:t>模型</a:t>
            </a:r>
            <a:endParaRPr lang="en-US" altLang="zh-CN" dirty="0" smtClean="0"/>
          </a:p>
          <a:p>
            <a:pPr marL="342900" indent="-342900">
              <a:lnSpc>
                <a:spcPct val="125000"/>
              </a:lnSpc>
              <a:buFont typeface="+mj-lt"/>
              <a:buAutoNum type="arabicPeriod"/>
            </a:pPr>
            <a:r>
              <a:rPr lang="zh-CN" altLang="en-US" dirty="0" smtClean="0"/>
              <a:t>评估模型的精度</a:t>
            </a:r>
            <a:endParaRPr lang="en-US" altLang="zh-CN" dirty="0" smtClean="0"/>
          </a:p>
          <a:p>
            <a:pPr marL="342900" indent="-342900">
              <a:lnSpc>
                <a:spcPct val="125000"/>
              </a:lnSpc>
              <a:buFont typeface="+mj-lt"/>
              <a:buAutoNum type="arabicPeriod"/>
            </a:pPr>
            <a:r>
              <a:rPr lang="zh-CN" altLang="en-US" dirty="0" smtClean="0"/>
              <a:t>使用图像或实时视频测试模型的性能</a:t>
            </a:r>
            <a:endParaRPr lang="en-US" altLang="zh-CN" dirty="0" smtClean="0"/>
          </a:p>
          <a:p>
            <a:pPr marL="342900" indent="-342900">
              <a:lnSpc>
                <a:spcPct val="125000"/>
              </a:lnSpc>
              <a:buFont typeface="+mj-lt"/>
              <a:buAutoNum type="arabicPeriod"/>
            </a:pPr>
            <a:r>
              <a:rPr lang="zh-CN" altLang="en-US" dirty="0" smtClean="0"/>
              <a:t>比较两阶段模型与一阶段模型的差异</a:t>
            </a:r>
            <a:endParaRPr lang="zh-CN" altLang="en-US" dirty="0"/>
          </a:p>
        </p:txBody>
      </p:sp>
    </p:spTree>
    <p:extLst>
      <p:ext uri="{BB962C8B-B14F-4D97-AF65-F5344CB8AC3E}">
        <p14:creationId xmlns:p14="http://schemas.microsoft.com/office/powerpoint/2010/main" val="3928265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实验环境</a:t>
            </a:r>
            <a:endParaRPr lang="zh-CN" altLang="en-US" dirty="0"/>
          </a:p>
        </p:txBody>
      </p:sp>
    </p:spTree>
    <p:extLst>
      <p:ext uri="{BB962C8B-B14F-4D97-AF65-F5344CB8AC3E}">
        <p14:creationId xmlns:p14="http://schemas.microsoft.com/office/powerpoint/2010/main" val="3172778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实验环境</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a:xfrm>
            <a:off x="669926" y="1130299"/>
            <a:ext cx="6572846" cy="5006975"/>
          </a:xfrm>
        </p:spPr>
        <p:txBody>
          <a:bodyPr/>
          <a:lstStyle/>
          <a:p>
            <a:r>
              <a:rPr lang="zh-CN" altLang="zh-CN" dirty="0"/>
              <a:t>遵循</a:t>
            </a:r>
            <a:r>
              <a:rPr lang="en-US" altLang="zh-CN" dirty="0"/>
              <a:t>ONVIF</a:t>
            </a:r>
            <a:r>
              <a:rPr lang="zh-CN" altLang="zh-CN" dirty="0"/>
              <a:t>通信协议的海康威视</a:t>
            </a:r>
            <a:r>
              <a:rPr lang="en-US" altLang="zh-CN" dirty="0"/>
              <a:t>IPC</a:t>
            </a:r>
            <a:r>
              <a:rPr lang="zh-CN" altLang="zh-CN" dirty="0"/>
              <a:t>一</a:t>
            </a:r>
            <a:r>
              <a:rPr lang="zh-CN" altLang="zh-CN" dirty="0" smtClean="0"/>
              <a:t>台</a:t>
            </a:r>
          </a:p>
          <a:p>
            <a:pPr lvl="0"/>
            <a:r>
              <a:rPr lang="zh-CN" altLang="zh-CN" dirty="0" smtClean="0"/>
              <a:t>运行</a:t>
            </a:r>
            <a:r>
              <a:rPr lang="en-US" altLang="zh-CN" dirty="0" smtClean="0"/>
              <a:t>Windows</a:t>
            </a:r>
            <a:r>
              <a:rPr lang="zh-CN" altLang="zh-CN" dirty="0" smtClean="0"/>
              <a:t>系统的</a:t>
            </a:r>
            <a:r>
              <a:rPr lang="zh-CN" altLang="en-US" dirty="0" smtClean="0"/>
              <a:t>已安装</a:t>
            </a:r>
            <a:r>
              <a:rPr lang="en-US" altLang="zh-CN" dirty="0" smtClean="0"/>
              <a:t>SDK</a:t>
            </a:r>
            <a:r>
              <a:rPr lang="zh-CN" altLang="en-US" dirty="0" smtClean="0"/>
              <a:t>的</a:t>
            </a:r>
            <a:r>
              <a:rPr lang="en-US" altLang="zh-CN" dirty="0" smtClean="0"/>
              <a:t>PC</a:t>
            </a:r>
            <a:r>
              <a:rPr lang="zh-CN" altLang="zh-CN" dirty="0" smtClean="0"/>
              <a:t>机一台，其中包含：</a:t>
            </a:r>
          </a:p>
          <a:p>
            <a:pPr lvl="1"/>
            <a:r>
              <a:rPr lang="en-US" altLang="zh-CN" dirty="0" smtClean="0"/>
              <a:t>CPU</a:t>
            </a:r>
            <a:r>
              <a:rPr lang="zh-CN" altLang="zh-CN" dirty="0"/>
              <a:t>版本：</a:t>
            </a:r>
          </a:p>
          <a:p>
            <a:pPr lvl="2"/>
            <a:r>
              <a:rPr lang="en-US" altLang="zh-CN" dirty="0"/>
              <a:t>Python</a:t>
            </a:r>
            <a:r>
              <a:rPr lang="zh-CN" altLang="zh-CN" dirty="0"/>
              <a:t>，版本</a:t>
            </a:r>
            <a:r>
              <a:rPr lang="en-US" altLang="zh-CN" dirty="0"/>
              <a:t>3.6.13</a:t>
            </a:r>
            <a:r>
              <a:rPr lang="zh-CN" altLang="zh-CN" dirty="0"/>
              <a:t>，其中包含：</a:t>
            </a:r>
          </a:p>
          <a:p>
            <a:pPr lvl="3"/>
            <a:r>
              <a:rPr lang="en-US" altLang="zh-CN" dirty="0" err="1"/>
              <a:t>scipy</a:t>
            </a:r>
            <a:r>
              <a:rPr lang="zh-CN" altLang="zh-CN" dirty="0"/>
              <a:t>库，版本</a:t>
            </a:r>
            <a:r>
              <a:rPr lang="en-US" altLang="zh-CN" dirty="0"/>
              <a:t>1.2.1</a:t>
            </a:r>
            <a:endParaRPr lang="zh-CN" altLang="zh-CN" dirty="0"/>
          </a:p>
          <a:p>
            <a:pPr lvl="3"/>
            <a:r>
              <a:rPr lang="en-US" altLang="zh-CN" dirty="0" err="1"/>
              <a:t>numpy</a:t>
            </a:r>
            <a:r>
              <a:rPr lang="zh-CN" altLang="zh-CN" dirty="0"/>
              <a:t>库</a:t>
            </a:r>
            <a:r>
              <a:rPr lang="zh-CN" altLang="zh-CN" dirty="0" smtClean="0"/>
              <a:t>，版本</a:t>
            </a:r>
            <a:r>
              <a:rPr lang="en-US" altLang="zh-CN" dirty="0"/>
              <a:t>1.16.4</a:t>
            </a:r>
            <a:endParaRPr lang="zh-CN" altLang="zh-CN" dirty="0" smtClean="0"/>
          </a:p>
          <a:p>
            <a:pPr lvl="3"/>
            <a:r>
              <a:rPr lang="en-US" altLang="zh-CN" dirty="0" err="1" smtClean="0"/>
              <a:t>matplotlib</a:t>
            </a:r>
            <a:r>
              <a:rPr lang="zh-CN" altLang="zh-CN" dirty="0" smtClean="0"/>
              <a:t>库，版本</a:t>
            </a:r>
            <a:r>
              <a:rPr lang="en-US" altLang="zh-CN" dirty="0" smtClean="0"/>
              <a:t>3.1.2</a:t>
            </a:r>
            <a:endParaRPr lang="zh-CN" altLang="zh-CN" dirty="0" smtClean="0"/>
          </a:p>
          <a:p>
            <a:pPr lvl="3"/>
            <a:r>
              <a:rPr lang="en-US" altLang="zh-CN" dirty="0" err="1" smtClean="0"/>
              <a:t>opencv_python</a:t>
            </a:r>
            <a:r>
              <a:rPr lang="zh-CN" altLang="zh-CN" dirty="0"/>
              <a:t>库，版本</a:t>
            </a:r>
            <a:r>
              <a:rPr lang="en-US" altLang="zh-CN" dirty="0"/>
              <a:t>4.1.2.30</a:t>
            </a:r>
            <a:endParaRPr lang="zh-CN" altLang="zh-CN" dirty="0"/>
          </a:p>
          <a:p>
            <a:pPr lvl="3"/>
            <a:r>
              <a:rPr lang="en-US" altLang="zh-CN" dirty="0" err="1"/>
              <a:t>tqdm</a:t>
            </a:r>
            <a:r>
              <a:rPr lang="zh-CN" altLang="zh-CN" dirty="0"/>
              <a:t>库，版本</a:t>
            </a:r>
            <a:r>
              <a:rPr lang="en-US" altLang="zh-CN" dirty="0"/>
              <a:t>4.60.0</a:t>
            </a:r>
            <a:endParaRPr lang="zh-CN" altLang="zh-CN" dirty="0"/>
          </a:p>
          <a:p>
            <a:pPr lvl="3"/>
            <a:r>
              <a:rPr lang="en-US" altLang="zh-CN" dirty="0"/>
              <a:t>Pillow</a:t>
            </a:r>
            <a:r>
              <a:rPr lang="zh-CN" altLang="zh-CN" dirty="0"/>
              <a:t>库，版本</a:t>
            </a:r>
            <a:r>
              <a:rPr lang="en-US" altLang="zh-CN" dirty="0"/>
              <a:t>8.2.0</a:t>
            </a:r>
            <a:endParaRPr lang="zh-CN" altLang="zh-CN" dirty="0"/>
          </a:p>
          <a:p>
            <a:pPr lvl="3"/>
            <a:r>
              <a:rPr lang="en-US" altLang="zh-CN" dirty="0"/>
              <a:t>h5py</a:t>
            </a:r>
            <a:r>
              <a:rPr lang="zh-CN" altLang="zh-CN" dirty="0"/>
              <a:t>库，版本</a:t>
            </a:r>
            <a:r>
              <a:rPr lang="en-US" altLang="zh-CN" dirty="0" smtClean="0"/>
              <a:t>2.10.0</a:t>
            </a:r>
          </a:p>
          <a:p>
            <a:pPr lvl="3"/>
            <a:r>
              <a:rPr lang="en-US" altLang="zh-CN" dirty="0" err="1"/>
              <a:t>tensorboard</a:t>
            </a:r>
            <a:r>
              <a:rPr lang="zh-CN" altLang="zh-CN" dirty="0"/>
              <a:t>库，版本</a:t>
            </a:r>
            <a:r>
              <a:rPr lang="en-US" altLang="zh-CN" dirty="0"/>
              <a:t>1.14.0</a:t>
            </a:r>
            <a:endParaRPr lang="zh-CN" altLang="zh-CN" dirty="0"/>
          </a:p>
          <a:p>
            <a:pPr lvl="3"/>
            <a:r>
              <a:rPr lang="en-US" altLang="zh-CN" dirty="0" err="1"/>
              <a:t>Pytorch</a:t>
            </a:r>
            <a:r>
              <a:rPr lang="zh-CN" altLang="zh-CN" dirty="0"/>
              <a:t>，</a:t>
            </a:r>
            <a:r>
              <a:rPr lang="en-US" altLang="zh-CN" dirty="0"/>
              <a:t>CPU</a:t>
            </a:r>
            <a:r>
              <a:rPr lang="zh-CN" altLang="zh-CN" dirty="0"/>
              <a:t>版本</a:t>
            </a:r>
            <a:r>
              <a:rPr lang="en-US" altLang="zh-CN" dirty="0"/>
              <a:t>1.5.1</a:t>
            </a:r>
            <a:r>
              <a:rPr lang="zh-CN" altLang="zh-CN" dirty="0"/>
              <a:t>（或</a:t>
            </a:r>
            <a:r>
              <a:rPr lang="en-US" altLang="zh-CN" dirty="0"/>
              <a:t>1.2.0</a:t>
            </a:r>
            <a:r>
              <a:rPr lang="zh-CN" altLang="zh-CN" dirty="0"/>
              <a:t>），其中包含：</a:t>
            </a:r>
          </a:p>
          <a:p>
            <a:pPr lvl="4"/>
            <a:r>
              <a:rPr lang="en-US" altLang="zh-CN" dirty="0" err="1"/>
              <a:t>torchvison</a:t>
            </a:r>
            <a:r>
              <a:rPr lang="zh-CN" altLang="zh-CN" dirty="0"/>
              <a:t>，版本</a:t>
            </a:r>
            <a:r>
              <a:rPr lang="en-US" altLang="zh-CN" dirty="0"/>
              <a:t>0.6.1</a:t>
            </a:r>
            <a:r>
              <a:rPr lang="zh-CN" altLang="zh-CN" dirty="0"/>
              <a:t>（或</a:t>
            </a:r>
            <a:r>
              <a:rPr lang="en-US" altLang="zh-CN" dirty="0"/>
              <a:t>0.4.0</a:t>
            </a:r>
            <a:r>
              <a:rPr lang="zh-CN" altLang="zh-CN" dirty="0"/>
              <a:t>）</a:t>
            </a:r>
          </a:p>
          <a:p>
            <a:pPr lvl="0"/>
            <a:r>
              <a:rPr lang="zh-CN" altLang="zh-CN" dirty="0"/>
              <a:t>注：请确保</a:t>
            </a:r>
            <a:r>
              <a:rPr lang="en-US" altLang="zh-CN" dirty="0"/>
              <a:t>PC</a:t>
            </a:r>
            <a:r>
              <a:rPr lang="zh-CN" altLang="zh-CN" dirty="0"/>
              <a:t>机与</a:t>
            </a:r>
            <a:r>
              <a:rPr lang="en-US" altLang="zh-CN" dirty="0"/>
              <a:t>IPC</a:t>
            </a:r>
            <a:r>
              <a:rPr lang="zh-CN" altLang="zh-CN" dirty="0"/>
              <a:t>位于同一网段下。</a:t>
            </a:r>
          </a:p>
          <a:p>
            <a:pPr>
              <a:lnSpc>
                <a:spcPct val="125000"/>
              </a:lnSpc>
            </a:pPr>
            <a:endParaRPr lang="zh-CN" altLang="en-US" dirty="0"/>
          </a:p>
        </p:txBody>
      </p:sp>
      <p:sp>
        <p:nvSpPr>
          <p:cNvPr id="4" name="内容占位符 2">
            <a:extLst>
              <a:ext uri="{FF2B5EF4-FFF2-40B4-BE49-F238E27FC236}">
                <a16:creationId xmlns="" xmlns:a16="http://schemas.microsoft.com/office/drawing/2014/main" id="{563A06F3-7CD2-4EAF-8250-D2FE6CCEE61E}"/>
              </a:ext>
            </a:extLst>
          </p:cNvPr>
          <p:cNvSpPr txBox="1">
            <a:spLocks/>
          </p:cNvSpPr>
          <p:nvPr/>
        </p:nvSpPr>
        <p:spPr bwMode="auto">
          <a:xfrm>
            <a:off x="5477347" y="1130299"/>
            <a:ext cx="6043141" cy="500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1" fontAlgn="base" hangingPunct="1">
              <a:lnSpc>
                <a:spcPct val="125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125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125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125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125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dirty="0" smtClean="0"/>
          </a:p>
          <a:p>
            <a:endParaRPr lang="zh-CN" altLang="zh-CN" dirty="0" smtClean="0"/>
          </a:p>
          <a:p>
            <a:pPr lvl="1"/>
            <a:r>
              <a:rPr lang="en-US" altLang="zh-CN" dirty="0" smtClean="0"/>
              <a:t>GPU</a:t>
            </a:r>
            <a:r>
              <a:rPr lang="zh-CN" altLang="zh-CN" dirty="0"/>
              <a:t>版本（需配置</a:t>
            </a:r>
            <a:r>
              <a:rPr lang="en-US" altLang="zh-CN" dirty="0"/>
              <a:t>CUDA</a:t>
            </a:r>
            <a:r>
              <a:rPr lang="zh-CN" altLang="zh-CN" dirty="0"/>
              <a:t>与</a:t>
            </a:r>
            <a:r>
              <a:rPr lang="en-US" altLang="zh-CN" dirty="0" err="1"/>
              <a:t>cuDNN</a:t>
            </a:r>
            <a:r>
              <a:rPr lang="zh-CN" altLang="zh-CN" dirty="0"/>
              <a:t>环境）：</a:t>
            </a:r>
          </a:p>
          <a:p>
            <a:pPr lvl="2"/>
            <a:r>
              <a:rPr lang="zh-CN" altLang="zh-CN" dirty="0"/>
              <a:t>高性能的</a:t>
            </a:r>
            <a:r>
              <a:rPr lang="en-US" altLang="zh-CN" dirty="0" err="1"/>
              <a:t>Nvidia</a:t>
            </a:r>
            <a:r>
              <a:rPr lang="zh-CN" altLang="zh-CN" dirty="0"/>
              <a:t>显卡（至少一块）</a:t>
            </a:r>
          </a:p>
          <a:p>
            <a:pPr lvl="2"/>
            <a:r>
              <a:rPr lang="en-US" altLang="zh-CN" dirty="0"/>
              <a:t>CUDA toolkit</a:t>
            </a:r>
            <a:r>
              <a:rPr lang="zh-CN" altLang="zh-CN" dirty="0"/>
              <a:t>，版本</a:t>
            </a:r>
            <a:r>
              <a:rPr lang="en-US" altLang="zh-CN" dirty="0"/>
              <a:t>10.1</a:t>
            </a:r>
            <a:r>
              <a:rPr lang="zh-CN" altLang="zh-CN" dirty="0"/>
              <a:t>，以及对应的</a:t>
            </a:r>
            <a:r>
              <a:rPr lang="en-US" altLang="zh-CN" dirty="0" err="1"/>
              <a:t>cuDNN</a:t>
            </a:r>
            <a:r>
              <a:rPr lang="zh-CN" altLang="zh-CN" dirty="0"/>
              <a:t>（</a:t>
            </a:r>
            <a:r>
              <a:rPr lang="en-US" altLang="zh-CN" dirty="0"/>
              <a:t>v8.0.5</a:t>
            </a:r>
            <a:r>
              <a:rPr lang="zh-CN" altLang="zh-CN" dirty="0"/>
              <a:t>）</a:t>
            </a:r>
          </a:p>
          <a:p>
            <a:pPr lvl="2"/>
            <a:r>
              <a:rPr lang="en-US" altLang="zh-CN" dirty="0"/>
              <a:t>Python</a:t>
            </a:r>
            <a:r>
              <a:rPr lang="zh-CN" altLang="zh-CN" dirty="0"/>
              <a:t>，版本</a:t>
            </a:r>
            <a:r>
              <a:rPr lang="en-US" altLang="zh-CN" dirty="0"/>
              <a:t>3.6.13</a:t>
            </a:r>
            <a:r>
              <a:rPr lang="zh-CN" altLang="zh-CN" dirty="0"/>
              <a:t>，其中包含：</a:t>
            </a:r>
          </a:p>
          <a:p>
            <a:pPr lvl="3"/>
            <a:r>
              <a:rPr lang="en-US" altLang="zh-CN" dirty="0" err="1"/>
              <a:t>scipy</a:t>
            </a:r>
            <a:r>
              <a:rPr lang="zh-CN" altLang="zh-CN" dirty="0"/>
              <a:t>库，版本</a:t>
            </a:r>
            <a:r>
              <a:rPr lang="en-US" altLang="zh-CN" dirty="0"/>
              <a:t>1.2.1</a:t>
            </a:r>
            <a:endParaRPr lang="zh-CN" altLang="zh-CN" dirty="0"/>
          </a:p>
          <a:p>
            <a:pPr lvl="3"/>
            <a:r>
              <a:rPr lang="en-US" altLang="zh-CN" dirty="0" err="1"/>
              <a:t>numpy</a:t>
            </a:r>
            <a:r>
              <a:rPr lang="zh-CN" altLang="zh-CN" dirty="0"/>
              <a:t>库</a:t>
            </a:r>
            <a:r>
              <a:rPr lang="zh-CN" altLang="zh-CN" dirty="0" smtClean="0"/>
              <a:t>，版本</a:t>
            </a:r>
            <a:r>
              <a:rPr lang="en-US" altLang="zh-CN" dirty="0"/>
              <a:t>1.16.4</a:t>
            </a:r>
            <a:endParaRPr lang="zh-CN" altLang="zh-CN" dirty="0" smtClean="0"/>
          </a:p>
          <a:p>
            <a:pPr lvl="3"/>
            <a:r>
              <a:rPr lang="en-US" altLang="zh-CN" dirty="0" err="1" smtClean="0"/>
              <a:t>matplotlib</a:t>
            </a:r>
            <a:r>
              <a:rPr lang="zh-CN" altLang="zh-CN" dirty="0" smtClean="0"/>
              <a:t>库，版本</a:t>
            </a:r>
            <a:r>
              <a:rPr lang="en-US" altLang="zh-CN" dirty="0" smtClean="0"/>
              <a:t>3.1.2</a:t>
            </a:r>
            <a:endParaRPr lang="zh-CN" altLang="zh-CN" dirty="0" smtClean="0"/>
          </a:p>
          <a:p>
            <a:pPr lvl="3"/>
            <a:r>
              <a:rPr lang="en-US" altLang="zh-CN" dirty="0" err="1" smtClean="0"/>
              <a:t>opencv_python</a:t>
            </a:r>
            <a:r>
              <a:rPr lang="zh-CN" altLang="zh-CN" dirty="0"/>
              <a:t>库，版本</a:t>
            </a:r>
            <a:r>
              <a:rPr lang="en-US" altLang="zh-CN" dirty="0"/>
              <a:t>4.1.2.30</a:t>
            </a:r>
            <a:endParaRPr lang="zh-CN" altLang="zh-CN" dirty="0"/>
          </a:p>
          <a:p>
            <a:pPr lvl="3"/>
            <a:r>
              <a:rPr lang="en-US" altLang="zh-CN" dirty="0" err="1"/>
              <a:t>tqdm</a:t>
            </a:r>
            <a:r>
              <a:rPr lang="zh-CN" altLang="zh-CN" dirty="0"/>
              <a:t>库，版本</a:t>
            </a:r>
            <a:r>
              <a:rPr lang="en-US" altLang="zh-CN" dirty="0"/>
              <a:t>4.60.0</a:t>
            </a:r>
            <a:endParaRPr lang="zh-CN" altLang="zh-CN" dirty="0"/>
          </a:p>
          <a:p>
            <a:pPr lvl="3"/>
            <a:r>
              <a:rPr lang="en-US" altLang="zh-CN" dirty="0"/>
              <a:t>Pillow</a:t>
            </a:r>
            <a:r>
              <a:rPr lang="zh-CN" altLang="zh-CN" dirty="0"/>
              <a:t>库，版本</a:t>
            </a:r>
            <a:r>
              <a:rPr lang="en-US" altLang="zh-CN" dirty="0"/>
              <a:t>8.2.0</a:t>
            </a:r>
            <a:endParaRPr lang="zh-CN" altLang="zh-CN" dirty="0"/>
          </a:p>
          <a:p>
            <a:pPr lvl="3"/>
            <a:r>
              <a:rPr lang="en-US" altLang="zh-CN" dirty="0"/>
              <a:t>h5py</a:t>
            </a:r>
            <a:r>
              <a:rPr lang="zh-CN" altLang="zh-CN" dirty="0"/>
              <a:t>库，版本</a:t>
            </a:r>
            <a:r>
              <a:rPr lang="en-US" altLang="zh-CN" dirty="0" smtClean="0"/>
              <a:t>2.10.0</a:t>
            </a:r>
          </a:p>
          <a:p>
            <a:pPr lvl="3"/>
            <a:r>
              <a:rPr lang="en-US" altLang="zh-CN" dirty="0" err="1"/>
              <a:t>tensorboard</a:t>
            </a:r>
            <a:r>
              <a:rPr lang="zh-CN" altLang="zh-CN" dirty="0"/>
              <a:t>库，版本</a:t>
            </a:r>
            <a:r>
              <a:rPr lang="en-US" altLang="zh-CN" dirty="0"/>
              <a:t>1.14.0</a:t>
            </a:r>
            <a:endParaRPr lang="zh-CN" altLang="zh-CN" dirty="0"/>
          </a:p>
          <a:p>
            <a:pPr lvl="3"/>
            <a:r>
              <a:rPr lang="en-US" altLang="zh-CN" dirty="0" err="1"/>
              <a:t>Pytorch</a:t>
            </a:r>
            <a:r>
              <a:rPr lang="zh-CN" altLang="zh-CN" dirty="0"/>
              <a:t>，</a:t>
            </a:r>
            <a:r>
              <a:rPr lang="en-US" altLang="zh-CN" dirty="0"/>
              <a:t>GPU</a:t>
            </a:r>
            <a:r>
              <a:rPr lang="zh-CN" altLang="zh-CN" dirty="0"/>
              <a:t>版本</a:t>
            </a:r>
            <a:r>
              <a:rPr lang="en-US" altLang="zh-CN" dirty="0"/>
              <a:t>1.5.1</a:t>
            </a:r>
            <a:r>
              <a:rPr lang="zh-CN" altLang="zh-CN" dirty="0"/>
              <a:t>（或</a:t>
            </a:r>
            <a:r>
              <a:rPr lang="en-US" altLang="zh-CN" dirty="0"/>
              <a:t>1.2.0</a:t>
            </a:r>
            <a:r>
              <a:rPr lang="zh-CN" altLang="zh-CN" dirty="0"/>
              <a:t>），其中包含：</a:t>
            </a:r>
          </a:p>
          <a:p>
            <a:pPr lvl="4"/>
            <a:r>
              <a:rPr lang="en-US" altLang="zh-CN" dirty="0" err="1"/>
              <a:t>torchvison</a:t>
            </a:r>
            <a:r>
              <a:rPr lang="zh-CN" altLang="zh-CN" dirty="0"/>
              <a:t>，版本</a:t>
            </a:r>
            <a:r>
              <a:rPr lang="en-US" altLang="zh-CN" dirty="0"/>
              <a:t>0.6.1</a:t>
            </a:r>
            <a:r>
              <a:rPr lang="zh-CN" altLang="zh-CN" dirty="0"/>
              <a:t>（或</a:t>
            </a:r>
            <a:r>
              <a:rPr lang="en-US" altLang="zh-CN" dirty="0"/>
              <a:t>0.4.0</a:t>
            </a:r>
            <a:r>
              <a:rPr lang="zh-CN" altLang="zh-CN" dirty="0"/>
              <a:t>）</a:t>
            </a:r>
          </a:p>
          <a:p>
            <a:endParaRPr lang="zh-CN" altLang="zh-CN" dirty="0" smtClean="0"/>
          </a:p>
          <a:p>
            <a:endParaRPr lang="zh-CN" altLang="en-US" dirty="0"/>
          </a:p>
        </p:txBody>
      </p:sp>
      <p:sp>
        <p:nvSpPr>
          <p:cNvPr id="5" name="文本框 5"/>
          <p:cNvSpPr txBox="1"/>
          <p:nvPr/>
        </p:nvSpPr>
        <p:spPr>
          <a:xfrm>
            <a:off x="5888251" y="3244334"/>
            <a:ext cx="415498" cy="369332"/>
          </a:xfrm>
          <a:prstGeom prst="rect">
            <a:avLst/>
          </a:prstGeom>
          <a:noFill/>
        </p:spPr>
        <p:txBody>
          <a:bodyPr wrap="non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a:lstStyle>
          <a:p>
            <a:r>
              <a:rPr lang="zh-CN" altLang="en-US" dirty="0" smtClean="0"/>
              <a:t>或</a:t>
            </a:r>
            <a:endParaRPr lang="zh-CN" altLang="en-US" dirty="0"/>
          </a:p>
        </p:txBody>
      </p:sp>
    </p:spTree>
    <p:extLst>
      <p:ext uri="{BB962C8B-B14F-4D97-AF65-F5344CB8AC3E}">
        <p14:creationId xmlns:p14="http://schemas.microsoft.com/office/powerpoint/2010/main" val="398883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实验步骤</a:t>
            </a:r>
            <a:endParaRPr lang="zh-CN" altLang="en-US" dirty="0"/>
          </a:p>
        </p:txBody>
      </p:sp>
    </p:spTree>
    <p:extLst>
      <p:ext uri="{BB962C8B-B14F-4D97-AF65-F5344CB8AC3E}">
        <p14:creationId xmlns:p14="http://schemas.microsoft.com/office/powerpoint/2010/main" val="2305384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实验步骤</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a:lnSpc>
                <a:spcPct val="125000"/>
              </a:lnSpc>
            </a:pPr>
            <a:r>
              <a:rPr lang="zh-CN" altLang="en-US" dirty="0" smtClean="0"/>
              <a:t>代码工程分析</a:t>
            </a:r>
            <a:endParaRPr lang="en-US" altLang="zh-CN" dirty="0" smtClean="0"/>
          </a:p>
          <a:p>
            <a:pPr>
              <a:lnSpc>
                <a:spcPct val="125000"/>
              </a:lnSpc>
            </a:pPr>
            <a:r>
              <a:rPr lang="zh-CN" altLang="en-US" dirty="0" smtClean="0"/>
              <a:t>数据集的准备</a:t>
            </a:r>
            <a:endParaRPr lang="en-US" altLang="zh-CN" dirty="0" smtClean="0"/>
          </a:p>
          <a:p>
            <a:pPr>
              <a:lnSpc>
                <a:spcPct val="125000"/>
              </a:lnSpc>
            </a:pPr>
            <a:r>
              <a:rPr lang="zh-CN" altLang="en-US" dirty="0" smtClean="0"/>
              <a:t>训练模型</a:t>
            </a:r>
            <a:endParaRPr lang="en-US" altLang="zh-CN" dirty="0"/>
          </a:p>
          <a:p>
            <a:pPr>
              <a:lnSpc>
                <a:spcPct val="125000"/>
              </a:lnSpc>
            </a:pPr>
            <a:r>
              <a:rPr lang="zh-CN" altLang="en-US" dirty="0" smtClean="0"/>
              <a:t>评估模型</a:t>
            </a:r>
            <a:endParaRPr lang="en-US" altLang="zh-CN" dirty="0" smtClean="0"/>
          </a:p>
          <a:p>
            <a:pPr>
              <a:lnSpc>
                <a:spcPct val="125000"/>
              </a:lnSpc>
            </a:pPr>
            <a:r>
              <a:rPr lang="zh-CN" altLang="en-US" dirty="0" smtClean="0"/>
              <a:t>测试模型</a:t>
            </a:r>
            <a:endParaRPr lang="en-US" altLang="zh-CN" dirty="0" smtClean="0"/>
          </a:p>
        </p:txBody>
      </p:sp>
    </p:spTree>
    <p:extLst>
      <p:ext uri="{BB962C8B-B14F-4D97-AF65-F5344CB8AC3E}">
        <p14:creationId xmlns:p14="http://schemas.microsoft.com/office/powerpoint/2010/main" val="2880115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780283561"/>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460986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根据使用的版本（</a:t>
            </a:r>
            <a:r>
              <a:rPr lang="en-US" altLang="zh-CN" dirty="0"/>
              <a:t>CPU/GPU</a:t>
            </a:r>
            <a:r>
              <a:rPr lang="zh-CN" altLang="zh-CN" dirty="0"/>
              <a:t>），选择之前创建好的虚拟环境（</a:t>
            </a:r>
            <a:r>
              <a:rPr lang="en-US" altLang="zh-CN" dirty="0" err="1"/>
              <a:t>cputorch</a:t>
            </a:r>
            <a:r>
              <a:rPr lang="en-US" altLang="zh-CN" dirty="0"/>
              <a:t>/</a:t>
            </a:r>
            <a:r>
              <a:rPr lang="en-US" altLang="zh-CN" dirty="0" err="1"/>
              <a:t>gputorch</a:t>
            </a:r>
            <a:r>
              <a:rPr lang="zh-CN" altLang="zh-CN" dirty="0"/>
              <a:t>），使用</a:t>
            </a:r>
            <a:r>
              <a:rPr lang="en-US" altLang="zh-CN" dirty="0" err="1"/>
              <a:t>Pytorch</a:t>
            </a:r>
            <a:r>
              <a:rPr lang="zh-CN" altLang="zh-CN" dirty="0"/>
              <a:t>打开项目并选择虚拟环境。（步骤请参考之前的</a:t>
            </a:r>
            <a:r>
              <a:rPr lang="en-US" altLang="zh-CN" dirty="0"/>
              <a:t>“</a:t>
            </a:r>
            <a:r>
              <a:rPr lang="zh-CN" altLang="zh-CN" dirty="0"/>
              <a:t>实验：开发环境配置</a:t>
            </a:r>
            <a:r>
              <a:rPr lang="en-US" altLang="zh-CN" dirty="0"/>
              <a:t>”</a:t>
            </a:r>
            <a:r>
              <a:rPr lang="zh-CN" altLang="zh-CN" dirty="0"/>
              <a:t>。</a:t>
            </a:r>
            <a:r>
              <a:rPr lang="zh-CN" altLang="zh-CN" dirty="0" smtClean="0"/>
              <a:t>）打开</a:t>
            </a:r>
            <a:r>
              <a:rPr lang="zh-CN" altLang="zh-CN" dirty="0"/>
              <a:t>项目文件后文件夹</a:t>
            </a:r>
            <a:r>
              <a:rPr lang="zh-CN" altLang="zh-CN" dirty="0" smtClean="0"/>
              <a:t>内容</a:t>
            </a:r>
            <a:r>
              <a:rPr lang="zh-CN" altLang="en-US" dirty="0" smtClean="0"/>
              <a:t>如下：</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4811" y="2204578"/>
            <a:ext cx="4080789" cy="3932696"/>
          </a:xfrm>
          <a:prstGeom prst="rect">
            <a:avLst/>
          </a:prstGeom>
        </p:spPr>
      </p:pic>
    </p:spTree>
    <p:extLst>
      <p:ext uri="{BB962C8B-B14F-4D97-AF65-F5344CB8AC3E}">
        <p14:creationId xmlns:p14="http://schemas.microsoft.com/office/powerpoint/2010/main" val="2059099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项目文件夹与之前一阶段算法模型的构造基本相同，主要区别为</a:t>
            </a:r>
            <a:r>
              <a:rPr lang="en-US" altLang="zh-CN" dirty="0"/>
              <a:t>yolo.py</a:t>
            </a:r>
            <a:r>
              <a:rPr lang="zh-CN" altLang="zh-CN" dirty="0"/>
              <a:t>变成了</a:t>
            </a:r>
            <a:r>
              <a:rPr lang="en-US" altLang="zh-CN" dirty="0"/>
              <a:t>frcnn.py</a:t>
            </a:r>
            <a:r>
              <a:rPr lang="zh-CN" altLang="zh-CN" dirty="0"/>
              <a:t>，且</a:t>
            </a:r>
            <a:r>
              <a:rPr lang="en-US" altLang="zh-CN" dirty="0"/>
              <a:t>nets</a:t>
            </a:r>
            <a:r>
              <a:rPr lang="zh-CN" altLang="zh-CN" dirty="0"/>
              <a:t>文件夹和</a:t>
            </a:r>
            <a:r>
              <a:rPr lang="en-US" altLang="zh-CN" dirty="0" err="1"/>
              <a:t>utils</a:t>
            </a:r>
            <a:r>
              <a:rPr lang="zh-CN" altLang="zh-CN" dirty="0"/>
              <a:t>文件夹下的文件根据</a:t>
            </a:r>
            <a:r>
              <a:rPr lang="en-US" altLang="zh-CN" dirty="0"/>
              <a:t>Faster R-CNN</a:t>
            </a:r>
            <a:r>
              <a:rPr lang="zh-CN" altLang="zh-CN" dirty="0"/>
              <a:t>的网络有所变化</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a:t>nets</a:t>
            </a:r>
            <a:r>
              <a:rPr lang="zh-CN" altLang="zh-CN" dirty="0"/>
              <a:t>文件夹下可用的网络为</a:t>
            </a:r>
            <a:r>
              <a:rPr lang="en-US" altLang="zh-CN" dirty="0"/>
              <a:t>resnet50.py</a:t>
            </a:r>
            <a:r>
              <a:rPr lang="zh-CN" altLang="zh-CN" dirty="0"/>
              <a:t>和</a:t>
            </a:r>
            <a:r>
              <a:rPr lang="en-US" altLang="zh-CN" dirty="0"/>
              <a:t>vgg16.py</a:t>
            </a:r>
            <a:r>
              <a:rPr lang="zh-CN" altLang="zh-CN" dirty="0"/>
              <a:t>，此外两阶段算法还需要提取候选框，分别体现在</a:t>
            </a:r>
            <a:r>
              <a:rPr lang="en-US" altLang="zh-CN" dirty="0"/>
              <a:t>rpn.py</a:t>
            </a:r>
            <a:r>
              <a:rPr lang="zh-CN" altLang="zh-CN" dirty="0"/>
              <a:t>，</a:t>
            </a:r>
            <a:r>
              <a:rPr lang="en-US" altLang="zh-CN" dirty="0"/>
              <a:t>classifier.py</a:t>
            </a:r>
            <a:r>
              <a:rPr lang="zh-CN" altLang="zh-CN" dirty="0"/>
              <a:t>以及</a:t>
            </a:r>
            <a:r>
              <a:rPr lang="en-US" altLang="zh-CN" dirty="0" err="1"/>
              <a:t>utils</a:t>
            </a:r>
            <a:r>
              <a:rPr lang="zh-CN" altLang="zh-CN" dirty="0"/>
              <a:t>文件夹下新增的</a:t>
            </a:r>
            <a:r>
              <a:rPr lang="en-US" altLang="zh-CN" dirty="0"/>
              <a:t>anchors.py</a:t>
            </a:r>
            <a:r>
              <a:rPr lang="zh-CN" altLang="zh-CN" dirty="0"/>
              <a:t>文件中。这两个文件夹下的文件一般不做修改。</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8525" y="2838548"/>
            <a:ext cx="2057143" cy="1590476"/>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42555" y="2752833"/>
            <a:ext cx="2000000" cy="1761905"/>
          </a:xfrm>
          <a:prstGeom prst="rect">
            <a:avLst/>
          </a:prstGeom>
        </p:spPr>
      </p:pic>
    </p:spTree>
    <p:extLst>
      <p:ext uri="{BB962C8B-B14F-4D97-AF65-F5344CB8AC3E}">
        <p14:creationId xmlns:p14="http://schemas.microsoft.com/office/powerpoint/2010/main" val="4021417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代码工程分析</a:t>
            </a:r>
            <a:endParaRPr lang="zh-CN" altLang="en-US" dirty="0"/>
          </a:p>
        </p:txBody>
      </p:sp>
      <p:sp>
        <p:nvSpPr>
          <p:cNvPr id="3" name="内容占位符 2"/>
          <p:cNvSpPr>
            <a:spLocks noGrp="1"/>
          </p:cNvSpPr>
          <p:nvPr>
            <p:ph sz="quarter" idx="13"/>
          </p:nvPr>
        </p:nvSpPr>
        <p:spPr/>
        <p:txBody>
          <a:bodyPr/>
          <a:lstStyle/>
          <a:p>
            <a:r>
              <a:rPr lang="zh-CN" altLang="zh-CN" dirty="0"/>
              <a:t>同样地，</a:t>
            </a:r>
            <a:r>
              <a:rPr lang="en-US" altLang="zh-CN" dirty="0"/>
              <a:t>summary.py</a:t>
            </a:r>
            <a:r>
              <a:rPr lang="zh-CN" altLang="zh-CN" dirty="0"/>
              <a:t>用于查看网络结构；使用</a:t>
            </a:r>
            <a:r>
              <a:rPr lang="en-US" altLang="zh-CN" dirty="0"/>
              <a:t>voc_annotation.py</a:t>
            </a:r>
            <a:r>
              <a:rPr lang="zh-CN" altLang="zh-CN" dirty="0"/>
              <a:t>文件进行数据集的划分；</a:t>
            </a:r>
            <a:r>
              <a:rPr lang="en-US" altLang="zh-CN" dirty="0"/>
              <a:t>train.py</a:t>
            </a:r>
            <a:r>
              <a:rPr lang="zh-CN" altLang="zh-CN" dirty="0"/>
              <a:t>进行模型的训练；</a:t>
            </a:r>
            <a:r>
              <a:rPr lang="en-US" altLang="zh-CN" dirty="0"/>
              <a:t>get_map.py</a:t>
            </a:r>
            <a:r>
              <a:rPr lang="zh-CN" altLang="zh-CN" dirty="0"/>
              <a:t>用于模型的评估；</a:t>
            </a:r>
            <a:r>
              <a:rPr lang="en-US" altLang="zh-CN" dirty="0"/>
              <a:t>predict.py</a:t>
            </a:r>
            <a:r>
              <a:rPr lang="zh-CN" altLang="zh-CN" dirty="0"/>
              <a:t>用于模型的测试；</a:t>
            </a:r>
            <a:r>
              <a:rPr lang="en-US" altLang="zh-CN" dirty="0"/>
              <a:t>frcnn.py</a:t>
            </a:r>
            <a:r>
              <a:rPr lang="zh-CN" altLang="zh-CN" dirty="0"/>
              <a:t>封装函数用于以上程序的调用</a:t>
            </a:r>
            <a:r>
              <a:rPr lang="zh-CN" altLang="zh-CN" dirty="0" smtClean="0"/>
              <a:t>。</a:t>
            </a:r>
            <a:endParaRPr lang="en-US" altLang="zh-CN" dirty="0" smtClean="0"/>
          </a:p>
          <a:p>
            <a:endParaRPr lang="zh-CN" altLang="zh-CN" dirty="0"/>
          </a:p>
          <a:p>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01054" y="2340077"/>
            <a:ext cx="3988304" cy="3797197"/>
          </a:xfrm>
          <a:prstGeom prst="rect">
            <a:avLst/>
          </a:prstGeom>
        </p:spPr>
      </p:pic>
    </p:spTree>
    <p:extLst>
      <p:ext uri="{BB962C8B-B14F-4D97-AF65-F5344CB8AC3E}">
        <p14:creationId xmlns:p14="http://schemas.microsoft.com/office/powerpoint/2010/main" val="3854202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372597838"/>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19663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使用之前准备好的数据集文件夹</a:t>
            </a:r>
            <a:r>
              <a:rPr lang="en-US" altLang="zh-CN" dirty="0"/>
              <a:t>“VOC2007”</a:t>
            </a:r>
            <a:r>
              <a:rPr lang="zh-CN" altLang="zh-CN" dirty="0"/>
              <a:t>，将其拷贝</a:t>
            </a:r>
            <a:r>
              <a:rPr lang="zh-CN" altLang="zh-CN" dirty="0" smtClean="0"/>
              <a:t>至模型根目录</a:t>
            </a:r>
            <a:r>
              <a:rPr lang="zh-CN" altLang="zh-CN" dirty="0"/>
              <a:t>下空文件夹</a:t>
            </a:r>
            <a:r>
              <a:rPr lang="en-US" altLang="zh-CN" dirty="0"/>
              <a:t>“</a:t>
            </a:r>
            <a:r>
              <a:rPr lang="en-US" altLang="zh-CN" dirty="0" err="1"/>
              <a:t>VOCdevkit</a:t>
            </a:r>
            <a:r>
              <a:rPr lang="en-US" altLang="zh-CN" dirty="0"/>
              <a:t>”</a:t>
            </a:r>
            <a:r>
              <a:rPr lang="zh-CN" altLang="zh-CN" dirty="0"/>
              <a:t>中。</a:t>
            </a:r>
            <a:r>
              <a:rPr lang="en-US" altLang="zh-CN" dirty="0" err="1"/>
              <a:t>VOCdevkit</a:t>
            </a:r>
            <a:r>
              <a:rPr lang="zh-CN" altLang="zh-CN" dirty="0"/>
              <a:t>文件夹结构为：</a:t>
            </a:r>
          </a:p>
          <a:p>
            <a:pPr lvl="0"/>
            <a:r>
              <a:rPr lang="en-US" altLang="zh-CN" dirty="0" err="1"/>
              <a:t>VOCdevkit</a:t>
            </a:r>
            <a:endParaRPr lang="zh-CN" altLang="zh-CN" dirty="0"/>
          </a:p>
          <a:p>
            <a:pPr lvl="1"/>
            <a:r>
              <a:rPr lang="en-US" altLang="zh-CN" dirty="0"/>
              <a:t>VOC2007</a:t>
            </a:r>
            <a:endParaRPr lang="zh-CN" altLang="zh-CN" dirty="0"/>
          </a:p>
          <a:p>
            <a:pPr lvl="2"/>
            <a:r>
              <a:rPr lang="en-US" altLang="zh-CN" dirty="0"/>
              <a:t>Annotations </a:t>
            </a:r>
            <a:r>
              <a:rPr lang="zh-CN" altLang="zh-CN" dirty="0"/>
              <a:t>（所有的</a:t>
            </a:r>
            <a:r>
              <a:rPr lang="en-US" altLang="zh-CN" dirty="0"/>
              <a:t>.xml</a:t>
            </a:r>
            <a:r>
              <a:rPr lang="zh-CN" altLang="zh-CN" dirty="0"/>
              <a:t>标签文件）</a:t>
            </a:r>
          </a:p>
          <a:p>
            <a:pPr lvl="2"/>
            <a:r>
              <a:rPr lang="en-US" altLang="zh-CN" dirty="0" err="1"/>
              <a:t>ImageSets</a:t>
            </a:r>
            <a:endParaRPr lang="zh-CN" altLang="zh-CN" dirty="0"/>
          </a:p>
          <a:p>
            <a:pPr lvl="3"/>
            <a:r>
              <a:rPr lang="en-US" altLang="zh-CN" dirty="0"/>
              <a:t>Main </a:t>
            </a:r>
            <a:r>
              <a:rPr lang="zh-CN" altLang="zh-CN" dirty="0"/>
              <a:t>（目前为空文件）</a:t>
            </a:r>
          </a:p>
          <a:p>
            <a:pPr lvl="2"/>
            <a:r>
              <a:rPr lang="en-US" altLang="zh-CN" dirty="0" err="1"/>
              <a:t>JPEGImages</a:t>
            </a:r>
            <a:r>
              <a:rPr lang="en-US" altLang="zh-CN" dirty="0"/>
              <a:t> </a:t>
            </a:r>
            <a:r>
              <a:rPr lang="zh-CN" altLang="zh-CN" dirty="0"/>
              <a:t>（所有的</a:t>
            </a:r>
            <a:r>
              <a:rPr lang="en-US" altLang="zh-CN" dirty="0"/>
              <a:t>.jpg</a:t>
            </a:r>
            <a:r>
              <a:rPr lang="zh-CN" altLang="zh-CN" dirty="0"/>
              <a:t>图像文件）</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3896" y="3795107"/>
            <a:ext cx="6526592" cy="2342167"/>
          </a:xfrm>
          <a:prstGeom prst="rect">
            <a:avLst/>
          </a:prstGeom>
        </p:spPr>
      </p:pic>
    </p:spTree>
    <p:extLst>
      <p:ext uri="{BB962C8B-B14F-4D97-AF65-F5344CB8AC3E}">
        <p14:creationId xmlns:p14="http://schemas.microsoft.com/office/powerpoint/2010/main" val="3834149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完成数据集的存放之后，回到模型根目录下，打开</a:t>
            </a:r>
            <a:r>
              <a:rPr lang="en-US" altLang="zh-CN" dirty="0" err="1"/>
              <a:t>model_data</a:t>
            </a:r>
            <a:r>
              <a:rPr lang="zh-CN" altLang="zh-CN" dirty="0"/>
              <a:t>文件夹，该文件夹用于存放字体与检测类别文本文件：</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6634" y="2586167"/>
            <a:ext cx="6457143" cy="2095238"/>
          </a:xfrm>
          <a:prstGeom prst="rect">
            <a:avLst/>
          </a:prstGeom>
        </p:spPr>
      </p:pic>
    </p:spTree>
    <p:extLst>
      <p:ext uri="{BB962C8B-B14F-4D97-AF65-F5344CB8AC3E}">
        <p14:creationId xmlns:p14="http://schemas.microsoft.com/office/powerpoint/2010/main" val="1086217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已有的</a:t>
            </a:r>
            <a:r>
              <a:rPr lang="en-US" altLang="zh-CN" dirty="0"/>
              <a:t>voc_classes.txt</a:t>
            </a:r>
            <a:r>
              <a:rPr lang="zh-CN" altLang="zh-CN" dirty="0"/>
              <a:t>适用于</a:t>
            </a:r>
            <a:r>
              <a:rPr lang="en-US" altLang="zh-CN" dirty="0"/>
              <a:t>VOC</a:t>
            </a:r>
            <a:r>
              <a:rPr lang="zh-CN" altLang="zh-CN" dirty="0"/>
              <a:t>数据集</a:t>
            </a:r>
            <a:r>
              <a:rPr lang="zh-CN" altLang="zh-CN" dirty="0" smtClean="0"/>
              <a:t>的</a:t>
            </a:r>
            <a:r>
              <a:rPr lang="zh-CN" altLang="en-US" dirty="0" smtClean="0"/>
              <a:t>特定的</a:t>
            </a:r>
            <a:r>
              <a:rPr lang="en-US" altLang="zh-CN" dirty="0" smtClean="0"/>
              <a:t>20</a:t>
            </a:r>
            <a:r>
              <a:rPr lang="zh-CN" altLang="zh-CN" dirty="0"/>
              <a:t>类检测目标，我们需要根据自己的需求修改文件或新建文件，在文件中每行输入对应的检测目标类别。最简便的方式是将之前使用</a:t>
            </a:r>
            <a:r>
              <a:rPr lang="en-US" altLang="zh-CN" dirty="0" err="1"/>
              <a:t>labelimg</a:t>
            </a:r>
            <a:r>
              <a:rPr lang="zh-CN" altLang="zh-CN" dirty="0"/>
              <a:t>标注文件的</a:t>
            </a:r>
            <a:r>
              <a:rPr lang="en-US" altLang="zh-CN" dirty="0"/>
              <a:t>predefined_classes.txt</a:t>
            </a:r>
            <a:r>
              <a:rPr lang="zh-CN" altLang="zh-CN" dirty="0"/>
              <a:t>复制到该目录中：</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492" y="3373064"/>
            <a:ext cx="7771428" cy="2404611"/>
          </a:xfrm>
          <a:prstGeom prst="rect">
            <a:avLst/>
          </a:prstGeom>
        </p:spPr>
      </p:pic>
    </p:spTree>
    <p:extLst>
      <p:ext uri="{BB962C8B-B14F-4D97-AF65-F5344CB8AC3E}">
        <p14:creationId xmlns:p14="http://schemas.microsoft.com/office/powerpoint/2010/main" val="2231496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之后回到模型根目录，打开</a:t>
            </a:r>
            <a:r>
              <a:rPr lang="en-US" altLang="zh-CN" dirty="0"/>
              <a:t>voc_annotation.py</a:t>
            </a:r>
            <a:r>
              <a:rPr lang="zh-CN" altLang="zh-CN" dirty="0"/>
              <a:t>文件，修改</a:t>
            </a:r>
            <a:r>
              <a:rPr lang="en-US" altLang="zh-CN" dirty="0" err="1"/>
              <a:t>classes_path</a:t>
            </a:r>
            <a:r>
              <a:rPr lang="zh-CN" altLang="zh-CN" dirty="0"/>
              <a:t>：</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0180" y="1729366"/>
            <a:ext cx="6110051" cy="4407908"/>
          </a:xfrm>
          <a:prstGeom prst="rect">
            <a:avLst/>
          </a:prstGeom>
        </p:spPr>
      </p:pic>
    </p:spTree>
    <p:extLst>
      <p:ext uri="{BB962C8B-B14F-4D97-AF65-F5344CB8AC3E}">
        <p14:creationId xmlns:p14="http://schemas.microsoft.com/office/powerpoint/2010/main" val="941531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smtClean="0"/>
              <a:t>如果想要改变训练集与验证集、训练集验证集与测试集的比例也可在</a:t>
            </a:r>
            <a:r>
              <a:rPr lang="en-US" altLang="zh-CN" dirty="0" smtClean="0"/>
              <a:t>voc_annotation.py</a:t>
            </a:r>
            <a:r>
              <a:rPr lang="zh-CN" altLang="zh-CN" dirty="0" smtClean="0"/>
              <a:t>中修改，默认值均为</a:t>
            </a:r>
            <a:r>
              <a:rPr lang="en-US" altLang="zh-CN" dirty="0" smtClean="0"/>
              <a:t>9</a:t>
            </a:r>
            <a:r>
              <a:rPr lang="zh-CN" altLang="zh-CN" dirty="0" smtClean="0"/>
              <a:t>：</a:t>
            </a:r>
            <a:r>
              <a:rPr lang="en-US" altLang="zh-CN" dirty="0" smtClean="0"/>
              <a:t>1</a:t>
            </a:r>
            <a:endParaRPr lang="zh-CN" altLang="zh-CN" dirty="0" smtClean="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0920" y="2605214"/>
            <a:ext cx="7828571" cy="2057143"/>
          </a:xfrm>
          <a:prstGeom prst="rect">
            <a:avLst/>
          </a:prstGeom>
        </p:spPr>
      </p:pic>
    </p:spTree>
    <p:extLst>
      <p:ext uri="{BB962C8B-B14F-4D97-AF65-F5344CB8AC3E}">
        <p14:creationId xmlns:p14="http://schemas.microsoft.com/office/powerpoint/2010/main" val="1697905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zh-CN" altLang="zh-CN" dirty="0"/>
              <a:t>修改完毕后保存并退出</a:t>
            </a:r>
            <a:r>
              <a:rPr lang="zh-CN" altLang="zh-CN" dirty="0" smtClean="0"/>
              <a:t>。</a:t>
            </a:r>
            <a:r>
              <a:rPr lang="zh-CN" altLang="zh-CN" dirty="0"/>
              <a:t>之前进行过</a:t>
            </a:r>
            <a:r>
              <a:rPr lang="en-US" altLang="zh-CN" dirty="0"/>
              <a:t>“</a:t>
            </a:r>
            <a:r>
              <a:rPr lang="zh-CN" altLang="zh-CN" dirty="0"/>
              <a:t>实验：一阶段算法模型训练</a:t>
            </a:r>
            <a:r>
              <a:rPr lang="en-US" altLang="zh-CN" dirty="0"/>
              <a:t>”</a:t>
            </a:r>
            <a:r>
              <a:rPr lang="zh-CN" altLang="zh-CN" dirty="0"/>
              <a:t>且已经配置好相应</a:t>
            </a:r>
            <a:r>
              <a:rPr lang="en-US" altLang="zh-CN" dirty="0"/>
              <a:t>CPU/GPU</a:t>
            </a:r>
            <a:r>
              <a:rPr lang="zh-CN" altLang="zh-CN" dirty="0"/>
              <a:t>环境，可直接</a:t>
            </a:r>
            <a:r>
              <a:rPr lang="en-US" altLang="zh-CN" u="sng" dirty="0">
                <a:hlinkClick r:id="rId2" action="ppaction://hlinksldjump"/>
              </a:rPr>
              <a:t>跳过以下配置环境的步骤</a:t>
            </a:r>
            <a:r>
              <a:rPr lang="zh-CN" altLang="zh-CN" dirty="0" smtClean="0"/>
              <a:t>。</a:t>
            </a:r>
            <a:endParaRPr lang="en-US" altLang="zh-CN" dirty="0" smtClean="0"/>
          </a:p>
          <a:p>
            <a:r>
              <a:rPr lang="zh-CN" altLang="zh-CN" dirty="0"/>
              <a:t>如果之前已经配置好</a:t>
            </a:r>
            <a:r>
              <a:rPr lang="en-US" altLang="zh-CN" dirty="0" err="1"/>
              <a:t>Pytorch</a:t>
            </a:r>
            <a:r>
              <a:rPr lang="zh-CN" altLang="zh-CN" dirty="0"/>
              <a:t>环境的，请删除主文件夹下</a:t>
            </a:r>
            <a:r>
              <a:rPr lang="en-US" altLang="zh-CN" dirty="0"/>
              <a:t>requirements.txt</a:t>
            </a:r>
            <a:r>
              <a:rPr lang="zh-CN" altLang="zh-CN" dirty="0"/>
              <a:t>中</a:t>
            </a:r>
            <a:r>
              <a:rPr lang="en-US" altLang="zh-CN" dirty="0"/>
              <a:t>torch</a:t>
            </a:r>
            <a:r>
              <a:rPr lang="zh-CN" altLang="zh-CN" dirty="0"/>
              <a:t>与</a:t>
            </a:r>
            <a:r>
              <a:rPr lang="en-US" altLang="zh-CN" dirty="0" err="1"/>
              <a:t>torchvision</a:t>
            </a:r>
            <a:r>
              <a:rPr lang="zh-CN" altLang="zh-CN" dirty="0"/>
              <a:t>两</a:t>
            </a:r>
            <a:r>
              <a:rPr lang="zh-CN" altLang="zh-CN" dirty="0" smtClean="0"/>
              <a:t>行</a:t>
            </a:r>
            <a:r>
              <a:rPr lang="zh-CN" altLang="en-US" dirty="0" smtClean="0"/>
              <a:t>。</a:t>
            </a:r>
            <a:endParaRPr lang="zh-CN" altLang="zh-CN" dirty="0"/>
          </a:p>
          <a:p>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2825" y="2384893"/>
            <a:ext cx="9704762" cy="3752381"/>
          </a:xfrm>
          <a:prstGeom prst="rect">
            <a:avLst/>
          </a:prstGeom>
        </p:spPr>
      </p:pic>
    </p:spTree>
    <p:extLst>
      <p:ext uri="{BB962C8B-B14F-4D97-AF65-F5344CB8AC3E}">
        <p14:creationId xmlns:p14="http://schemas.microsoft.com/office/powerpoint/2010/main" val="1877965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p:txBody>
          <a:bodyPr/>
          <a:lstStyle/>
          <a:p>
            <a:r>
              <a:rPr lang="en-US" altLang="zh-CN" dirty="0" err="1"/>
              <a:t>Win+R</a:t>
            </a:r>
            <a:r>
              <a:rPr lang="zh-CN" altLang="zh-CN" dirty="0"/>
              <a:t>组合键打开运行界面，输入</a:t>
            </a:r>
            <a:r>
              <a:rPr lang="en-US" altLang="zh-CN" dirty="0"/>
              <a:t>“</a:t>
            </a:r>
            <a:r>
              <a:rPr lang="en-US" altLang="zh-CN" dirty="0" err="1"/>
              <a:t>cmd</a:t>
            </a:r>
            <a:r>
              <a:rPr lang="en-US" altLang="zh-CN" dirty="0"/>
              <a:t>”</a:t>
            </a:r>
            <a:r>
              <a:rPr lang="zh-CN" altLang="zh-CN" dirty="0"/>
              <a:t>后回车打开命令提示符。在命令提示符中，输入指令：（这里以</a:t>
            </a:r>
            <a:r>
              <a:rPr lang="en-US" altLang="zh-CN" dirty="0"/>
              <a:t>GPU</a:t>
            </a:r>
            <a:r>
              <a:rPr lang="zh-CN" altLang="zh-CN" dirty="0"/>
              <a:t>版本为例）</a:t>
            </a:r>
          </a:p>
          <a:p>
            <a:pPr lvl="1"/>
            <a:r>
              <a:rPr lang="en-US" altLang="zh-CN" dirty="0" err="1"/>
              <a:t>conda</a:t>
            </a:r>
            <a:r>
              <a:rPr lang="en-US" altLang="zh-CN" dirty="0"/>
              <a:t> activate </a:t>
            </a:r>
            <a:r>
              <a:rPr lang="en-US" altLang="zh-CN" b="1" dirty="0" err="1"/>
              <a:t>cputorch</a:t>
            </a:r>
            <a:r>
              <a:rPr lang="en-US" altLang="zh-CN" b="1" dirty="0"/>
              <a:t>/</a:t>
            </a:r>
            <a:r>
              <a:rPr lang="en-US" altLang="zh-CN" b="1" dirty="0" err="1"/>
              <a:t>gputorch</a:t>
            </a:r>
            <a:r>
              <a:rPr lang="zh-CN" altLang="zh-CN" dirty="0"/>
              <a:t>（根据实际情况选择）</a:t>
            </a:r>
          </a:p>
          <a:p>
            <a:pPr lvl="1"/>
            <a:r>
              <a:rPr lang="en-US" altLang="zh-CN" dirty="0"/>
              <a:t>cd /d </a:t>
            </a:r>
            <a:r>
              <a:rPr lang="en-US" altLang="zh-CN" b="1" dirty="0"/>
              <a:t>G:\faster-rcnn-pytorch-master</a:t>
            </a:r>
            <a:r>
              <a:rPr lang="zh-CN" altLang="zh-CN" dirty="0"/>
              <a:t>（根据你自己的项目文件夹实际路径修改）</a:t>
            </a:r>
          </a:p>
          <a:p>
            <a:pPr lvl="1"/>
            <a:r>
              <a:rPr lang="en-US" altLang="zh-CN" dirty="0"/>
              <a:t>pip install </a:t>
            </a:r>
            <a:r>
              <a:rPr lang="en-US" altLang="zh-CN" dirty="0" smtClean="0"/>
              <a:t>--user </a:t>
            </a:r>
            <a:r>
              <a:rPr lang="en-US" altLang="zh-CN" dirty="0"/>
              <a:t>–r requirements.txt</a:t>
            </a:r>
            <a:r>
              <a:rPr lang="zh-CN" altLang="zh-CN" dirty="0"/>
              <a:t>（批量安装库</a:t>
            </a:r>
            <a:r>
              <a:rPr lang="zh-CN" altLang="zh-CN" dirty="0" smtClean="0"/>
              <a:t>）</a:t>
            </a:r>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r>
              <a:rPr lang="zh-CN" altLang="zh-CN" dirty="0"/>
              <a:t>该指令会在虚拟环境下安装所有所需的库。安装的库比较多，请耐心等待。如果出现黄色的</a:t>
            </a:r>
            <a:r>
              <a:rPr lang="en-US" altLang="zh-CN" dirty="0"/>
              <a:t>WARNING</a:t>
            </a:r>
            <a:r>
              <a:rPr lang="zh-CN" altLang="zh-CN" dirty="0"/>
              <a:t>属于正常现象，出现红色</a:t>
            </a:r>
            <a:r>
              <a:rPr lang="en-US" altLang="zh-CN" dirty="0"/>
              <a:t>ERROR</a:t>
            </a:r>
            <a:r>
              <a:rPr lang="zh-CN" altLang="zh-CN" dirty="0"/>
              <a:t>表示安装失败，具体参考</a:t>
            </a:r>
            <a:r>
              <a:rPr lang="en-US" altLang="zh-CN" u="sng" dirty="0">
                <a:hlinkClick r:id="rId2" action="ppaction://hlinkfile"/>
              </a:rPr>
              <a:t>“4 </a:t>
            </a:r>
            <a:r>
              <a:rPr lang="en-US" altLang="zh-CN" u="sng" dirty="0" err="1">
                <a:hlinkClick r:id="rId2" action="ppaction://hlinkfile"/>
              </a:rPr>
              <a:t>注意事项”第一条</a:t>
            </a:r>
            <a:r>
              <a:rPr lang="zh-CN" altLang="zh-CN" dirty="0"/>
              <a:t>。</a:t>
            </a:r>
          </a:p>
          <a:p>
            <a:pPr lvl="1"/>
            <a:endParaRPr lang="zh-CN" altLang="zh-CN" dirty="0"/>
          </a:p>
          <a:p>
            <a:endParaRPr lang="zh-CN" altLang="zh-CN" dirty="0"/>
          </a:p>
          <a:p>
            <a:endParaRPr lang="zh-CN" altLang="zh-CN" dirty="0"/>
          </a:p>
          <a:p>
            <a:endParaRPr lang="zh-CN" altLang="en-US" dirty="0"/>
          </a:p>
        </p:txBody>
      </p:sp>
      <p:pic>
        <p:nvPicPr>
          <p:cNvPr id="5" name="图片 4"/>
          <p:cNvPicPr>
            <a:picLocks noChangeAspect="1"/>
          </p:cNvPicPr>
          <p:nvPr/>
        </p:nvPicPr>
        <p:blipFill rotWithShape="1">
          <a:blip r:embed="rId3">
            <a:extLst>
              <a:ext uri="{28A0092B-C50C-407E-A947-70E740481C1C}">
                <a14:useLocalDpi xmlns:a14="http://schemas.microsoft.com/office/drawing/2010/main" val="0"/>
              </a:ext>
            </a:extLst>
          </a:blip>
          <a:srcRect b="55155"/>
          <a:stretch/>
        </p:blipFill>
        <p:spPr>
          <a:xfrm>
            <a:off x="1447587" y="3001130"/>
            <a:ext cx="9295238" cy="2178201"/>
          </a:xfrm>
          <a:prstGeom prst="rect">
            <a:avLst/>
          </a:prstGeom>
        </p:spPr>
      </p:pic>
    </p:spTree>
    <p:extLst>
      <p:ext uri="{BB962C8B-B14F-4D97-AF65-F5344CB8AC3E}">
        <p14:creationId xmlns:p14="http://schemas.microsoft.com/office/powerpoint/2010/main" val="37279309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数据集的准备</a:t>
            </a:r>
          </a:p>
        </p:txBody>
      </p:sp>
      <p:sp>
        <p:nvSpPr>
          <p:cNvPr id="3" name="内容占位符 2"/>
          <p:cNvSpPr>
            <a:spLocks noGrp="1"/>
          </p:cNvSpPr>
          <p:nvPr>
            <p:ph sz="quarter" idx="13"/>
          </p:nvPr>
        </p:nvSpPr>
        <p:spPr/>
        <p:txBody>
          <a:bodyPr/>
          <a:lstStyle/>
          <a:p>
            <a:r>
              <a:rPr lang="zh-CN" altLang="zh-CN" dirty="0"/>
              <a:t>本实验中所有命令提示符指令均在同一个虚拟环境中输入（本实验以</a:t>
            </a:r>
            <a:r>
              <a:rPr lang="en-US" altLang="zh-CN" dirty="0" err="1"/>
              <a:t>gputorch</a:t>
            </a:r>
            <a:r>
              <a:rPr lang="zh-CN" altLang="zh-CN" dirty="0"/>
              <a:t>为示例，</a:t>
            </a:r>
            <a:r>
              <a:rPr lang="en-US" altLang="zh-CN" dirty="0" err="1"/>
              <a:t>cputorch</a:t>
            </a:r>
            <a:r>
              <a:rPr lang="zh-CN" altLang="zh-CN" dirty="0"/>
              <a:t>同理），后续不再切换环境。打开新的命令提示符时务必先执行指令：</a:t>
            </a:r>
          </a:p>
          <a:p>
            <a:pPr lvl="1"/>
            <a:r>
              <a:rPr lang="en-US" altLang="zh-CN" dirty="0" err="1"/>
              <a:t>conda</a:t>
            </a:r>
            <a:r>
              <a:rPr lang="en-US" altLang="zh-CN" dirty="0"/>
              <a:t> activate </a:t>
            </a:r>
            <a:r>
              <a:rPr lang="en-US" altLang="zh-CN" dirty="0" err="1" smtClean="0"/>
              <a:t>cputorch</a:t>
            </a:r>
            <a:r>
              <a:rPr lang="en-US" altLang="zh-CN" dirty="0" smtClean="0"/>
              <a:t>/</a:t>
            </a:r>
            <a:r>
              <a:rPr lang="en-US" altLang="zh-CN" dirty="0" err="1" smtClean="0"/>
              <a:t>gputorch</a:t>
            </a:r>
            <a:endParaRPr lang="en-US" altLang="zh-CN" dirty="0" smtClean="0"/>
          </a:p>
          <a:p>
            <a:r>
              <a:rPr lang="zh-CN" altLang="zh-CN" dirty="0"/>
              <a:t>并请留意路径前括号内环境是否正确</a:t>
            </a:r>
            <a:r>
              <a:rPr lang="zh-CN" altLang="zh-CN" dirty="0" smtClean="0"/>
              <a:t>，</a:t>
            </a:r>
            <a:r>
              <a:rPr lang="zh-CN" altLang="en-US" dirty="0" smtClean="0"/>
              <a:t>下图</a:t>
            </a:r>
            <a:r>
              <a:rPr lang="zh-CN" altLang="zh-CN" dirty="0" smtClean="0"/>
              <a:t>中</a:t>
            </a:r>
            <a:r>
              <a:rPr lang="zh-CN" altLang="zh-CN" dirty="0"/>
              <a:t>，在路径前会显示</a:t>
            </a:r>
            <a:r>
              <a:rPr lang="en-US" altLang="zh-CN" dirty="0"/>
              <a:t>“(</a:t>
            </a:r>
            <a:r>
              <a:rPr lang="en-US" altLang="zh-CN" dirty="0" err="1"/>
              <a:t>gputorch</a:t>
            </a:r>
            <a:r>
              <a:rPr lang="en-US" altLang="zh-CN" dirty="0"/>
              <a:t>)”</a:t>
            </a:r>
            <a:r>
              <a:rPr lang="zh-CN" altLang="zh-CN" dirty="0"/>
              <a:t>，表示在该环境下操作。</a:t>
            </a:r>
          </a:p>
          <a:p>
            <a:endParaRPr lang="zh-CN" altLang="en-US" dirty="0"/>
          </a:p>
        </p:txBody>
      </p:sp>
      <p:pic>
        <p:nvPicPr>
          <p:cNvPr id="5" name="图片 4"/>
          <p:cNvPicPr>
            <a:picLocks noChangeAspect="1"/>
          </p:cNvPicPr>
          <p:nvPr/>
        </p:nvPicPr>
        <p:blipFill rotWithShape="1">
          <a:blip r:embed="rId2">
            <a:extLst>
              <a:ext uri="{28A0092B-C50C-407E-A947-70E740481C1C}">
                <a14:useLocalDpi xmlns:a14="http://schemas.microsoft.com/office/drawing/2010/main" val="0"/>
              </a:ext>
            </a:extLst>
          </a:blip>
          <a:srcRect b="55155"/>
          <a:stretch/>
        </p:blipFill>
        <p:spPr>
          <a:xfrm>
            <a:off x="1447587" y="3073701"/>
            <a:ext cx="9295238" cy="2178201"/>
          </a:xfrm>
          <a:prstGeom prst="rect">
            <a:avLst/>
          </a:prstGeom>
        </p:spPr>
      </p:pic>
    </p:spTree>
    <p:extLst>
      <p:ext uri="{BB962C8B-B14F-4D97-AF65-F5344CB8AC3E}">
        <p14:creationId xmlns:p14="http://schemas.microsoft.com/office/powerpoint/2010/main" val="1392125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a:t>
            </a:r>
            <a:r>
              <a:rPr lang="zh-CN" altLang="en-US" dirty="0" smtClean="0"/>
              <a:t>集的准备</a:t>
            </a:r>
            <a:endParaRPr lang="zh-CN" altLang="en-US" dirty="0"/>
          </a:p>
        </p:txBody>
      </p:sp>
      <p:sp>
        <p:nvSpPr>
          <p:cNvPr id="3" name="内容占位符 2"/>
          <p:cNvSpPr>
            <a:spLocks noGrp="1"/>
          </p:cNvSpPr>
          <p:nvPr>
            <p:ph sz="quarter" idx="13"/>
          </p:nvPr>
        </p:nvSpPr>
        <p:spPr/>
        <p:txBody>
          <a:bodyPr/>
          <a:lstStyle/>
          <a:p>
            <a:r>
              <a:rPr lang="en-US" altLang="zh-CN" dirty="0"/>
              <a:t>GPU</a:t>
            </a:r>
            <a:r>
              <a:rPr lang="zh-CN" altLang="zh-CN" dirty="0"/>
              <a:t>版本下，检验</a:t>
            </a:r>
            <a:r>
              <a:rPr lang="en-US" altLang="zh-CN" dirty="0" err="1"/>
              <a:t>pytorch</a:t>
            </a:r>
            <a:r>
              <a:rPr lang="zh-CN" altLang="zh-CN" dirty="0"/>
              <a:t>是否可用步骤依旧是进入</a:t>
            </a:r>
            <a:r>
              <a:rPr lang="en-US" altLang="zh-CN" dirty="0"/>
              <a:t>python</a:t>
            </a:r>
            <a:r>
              <a:rPr lang="zh-CN" altLang="zh-CN" dirty="0"/>
              <a:t>编辑环境，在该环境下输入：</a:t>
            </a:r>
          </a:p>
          <a:p>
            <a:pPr lvl="1"/>
            <a:r>
              <a:rPr lang="en-US" altLang="zh-CN" dirty="0"/>
              <a:t>python</a:t>
            </a:r>
            <a:endParaRPr lang="zh-CN" altLang="zh-CN" dirty="0"/>
          </a:p>
          <a:p>
            <a:pPr lvl="1"/>
            <a:r>
              <a:rPr lang="en-US" altLang="zh-CN" dirty="0"/>
              <a:t>&gt;&gt;&gt;import torch</a:t>
            </a:r>
            <a:endParaRPr lang="zh-CN" altLang="zh-CN" dirty="0"/>
          </a:p>
          <a:p>
            <a:pPr lvl="1"/>
            <a:r>
              <a:rPr lang="en-US" altLang="zh-CN" dirty="0"/>
              <a:t>&gt;&gt;&gt;</a:t>
            </a:r>
            <a:r>
              <a:rPr lang="en-US" altLang="zh-CN" dirty="0" err="1"/>
              <a:t>torch.cuda.is_available</a:t>
            </a:r>
            <a:r>
              <a:rPr lang="en-US" altLang="zh-CN" dirty="0" smtClean="0"/>
              <a:t>()</a:t>
            </a:r>
          </a:p>
          <a:p>
            <a:r>
              <a:rPr lang="zh-CN" altLang="zh-CN" dirty="0"/>
              <a:t>若返回</a:t>
            </a:r>
            <a:r>
              <a:rPr lang="en-US" altLang="zh-CN" dirty="0"/>
              <a:t>True</a:t>
            </a:r>
            <a:r>
              <a:rPr lang="zh-CN" altLang="zh-CN" dirty="0"/>
              <a:t>则可用。输入</a:t>
            </a:r>
            <a:r>
              <a:rPr lang="en-US" altLang="zh-CN" dirty="0"/>
              <a:t>“exit()”</a:t>
            </a:r>
            <a:r>
              <a:rPr lang="zh-CN" altLang="zh-CN" dirty="0"/>
              <a:t>退出</a:t>
            </a:r>
            <a:r>
              <a:rPr lang="en-US" altLang="zh-CN" dirty="0"/>
              <a:t>python</a:t>
            </a:r>
            <a:r>
              <a:rPr lang="zh-CN" altLang="zh-CN" dirty="0"/>
              <a:t>编辑环境。</a:t>
            </a:r>
          </a:p>
          <a:p>
            <a:endParaRPr lang="en-US" altLang="zh-CN" dirty="0" smtClean="0"/>
          </a:p>
          <a:p>
            <a:r>
              <a:rPr lang="en-US" altLang="zh-CN" dirty="0" smtClean="0"/>
              <a:t>CPU</a:t>
            </a:r>
            <a:r>
              <a:rPr lang="zh-CN" altLang="zh-CN" dirty="0"/>
              <a:t>版本下，同样是进入</a:t>
            </a:r>
            <a:r>
              <a:rPr lang="en-US" altLang="zh-CN" dirty="0"/>
              <a:t>python</a:t>
            </a:r>
            <a:r>
              <a:rPr lang="zh-CN" altLang="zh-CN" dirty="0"/>
              <a:t>编辑环境，在该环境下输入</a:t>
            </a:r>
            <a:r>
              <a:rPr lang="zh-CN" altLang="zh-CN" dirty="0" smtClean="0"/>
              <a:t>：</a:t>
            </a:r>
            <a:endParaRPr lang="en-US" altLang="zh-CN" dirty="0" smtClean="0"/>
          </a:p>
          <a:p>
            <a:pPr lvl="1"/>
            <a:r>
              <a:rPr lang="en-US" altLang="zh-CN" dirty="0"/>
              <a:t>python</a:t>
            </a:r>
            <a:endParaRPr lang="zh-CN" altLang="zh-CN" dirty="0"/>
          </a:p>
          <a:p>
            <a:pPr lvl="1"/>
            <a:r>
              <a:rPr lang="en-US" altLang="zh-CN" dirty="0" smtClean="0"/>
              <a:t>&gt;&gt;&gt;</a:t>
            </a:r>
            <a:r>
              <a:rPr lang="en-US" altLang="zh-CN" dirty="0"/>
              <a:t>import </a:t>
            </a:r>
            <a:r>
              <a:rPr lang="en-US" altLang="zh-CN" dirty="0" smtClean="0"/>
              <a:t>torch</a:t>
            </a:r>
          </a:p>
          <a:p>
            <a:r>
              <a:rPr lang="zh-CN" altLang="zh-CN" dirty="0"/>
              <a:t>如果没有任何反应则可用。输入</a:t>
            </a:r>
            <a:r>
              <a:rPr lang="en-US" altLang="zh-CN" dirty="0"/>
              <a:t>“exit()”</a:t>
            </a:r>
            <a:r>
              <a:rPr lang="zh-CN" altLang="zh-CN" dirty="0"/>
              <a:t>退出</a:t>
            </a:r>
            <a:r>
              <a:rPr lang="en-US" altLang="zh-CN" dirty="0"/>
              <a:t>python</a:t>
            </a:r>
            <a:r>
              <a:rPr lang="zh-CN" altLang="zh-CN" dirty="0"/>
              <a:t>编辑环境。</a:t>
            </a:r>
          </a:p>
          <a:p>
            <a:endParaRPr lang="zh-CN" altLang="zh-CN" dirty="0"/>
          </a:p>
          <a:p>
            <a:endParaRPr lang="zh-CN" altLang="en-US" dirty="0"/>
          </a:p>
        </p:txBody>
      </p:sp>
    </p:spTree>
    <p:extLst>
      <p:ext uri="{BB962C8B-B14F-4D97-AF65-F5344CB8AC3E}">
        <p14:creationId xmlns:p14="http://schemas.microsoft.com/office/powerpoint/2010/main" val="514443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数据集的准备</a:t>
            </a:r>
            <a:endParaRPr lang="zh-CN" altLang="en-US" dirty="0"/>
          </a:p>
        </p:txBody>
      </p:sp>
      <p:sp>
        <p:nvSpPr>
          <p:cNvPr id="3" name="内容占位符 2"/>
          <p:cNvSpPr>
            <a:spLocks noGrp="1"/>
          </p:cNvSpPr>
          <p:nvPr>
            <p:ph sz="quarter" idx="13"/>
          </p:nvPr>
        </p:nvSpPr>
        <p:spPr>
          <a:xfrm>
            <a:off x="669926" y="1130299"/>
            <a:ext cx="10850562" cy="5006975"/>
          </a:xfrm>
        </p:spPr>
        <p:txBody>
          <a:bodyPr/>
          <a:lstStyle/>
          <a:p>
            <a:r>
              <a:rPr lang="zh-CN" altLang="zh-CN" dirty="0"/>
              <a:t>在项目主文件夹目录下，在虚拟环境下输入指令：</a:t>
            </a:r>
          </a:p>
          <a:p>
            <a:pPr lvl="1"/>
            <a:r>
              <a:rPr lang="en-US" altLang="zh-CN" dirty="0" smtClean="0"/>
              <a:t>python voc_annotation.py</a:t>
            </a:r>
          </a:p>
          <a:p>
            <a:r>
              <a:rPr lang="zh-CN" altLang="zh-CN" dirty="0"/>
              <a:t>运行完毕后，会自动根据之前设置的比例划分整个数据集，在</a:t>
            </a:r>
            <a:r>
              <a:rPr lang="en-US" altLang="zh-CN" dirty="0" err="1"/>
              <a:t>ImageSets</a:t>
            </a:r>
            <a:r>
              <a:rPr lang="en-US" altLang="zh-CN" dirty="0"/>
              <a:t>/Main</a:t>
            </a:r>
            <a:r>
              <a:rPr lang="zh-CN" altLang="zh-CN" dirty="0"/>
              <a:t>中生成</a:t>
            </a:r>
            <a:r>
              <a:rPr lang="en-US" altLang="zh-CN" dirty="0"/>
              <a:t>4</a:t>
            </a:r>
            <a:r>
              <a:rPr lang="zh-CN" altLang="zh-CN" dirty="0"/>
              <a:t>个</a:t>
            </a:r>
            <a:r>
              <a:rPr lang="en-US" altLang="zh-CN" dirty="0"/>
              <a:t>.txt</a:t>
            </a:r>
            <a:r>
              <a:rPr lang="zh-CN" altLang="zh-CN" dirty="0"/>
              <a:t>文件，在模型根目录下生成</a:t>
            </a:r>
            <a:r>
              <a:rPr lang="en-US" altLang="zh-CN" dirty="0"/>
              <a:t>2007_train.txt</a:t>
            </a:r>
            <a:r>
              <a:rPr lang="zh-CN" altLang="zh-CN" dirty="0"/>
              <a:t>和</a:t>
            </a:r>
            <a:r>
              <a:rPr lang="en-US" altLang="zh-CN" dirty="0"/>
              <a:t>2007_val.txt</a:t>
            </a:r>
            <a:r>
              <a:rPr lang="zh-CN" altLang="zh-CN" dirty="0"/>
              <a:t>文件，并显示整个数据</a:t>
            </a:r>
            <a:r>
              <a:rPr lang="zh-CN" altLang="zh-CN" dirty="0" smtClean="0"/>
              <a:t>集中</a:t>
            </a:r>
            <a:r>
              <a:rPr lang="zh-CN" altLang="zh-CN" dirty="0"/>
              <a:t>戴口罩目标和未戴口罩目标</a:t>
            </a:r>
            <a:r>
              <a:rPr lang="zh-CN" altLang="zh-CN" dirty="0" smtClean="0"/>
              <a:t>的</a:t>
            </a:r>
            <a:r>
              <a:rPr lang="zh-CN" altLang="zh-CN" dirty="0"/>
              <a:t>数量</a:t>
            </a:r>
            <a:r>
              <a:rPr lang="zh-CN" altLang="zh-CN" dirty="0" smtClean="0"/>
              <a:t>。</a:t>
            </a:r>
            <a:endParaRPr lang="zh-CN" altLang="zh-CN" dirty="0"/>
          </a:p>
          <a:p>
            <a:endParaRPr lang="zh-CN" altLang="zh-CN" dirty="0"/>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8539" y="3257686"/>
            <a:ext cx="9333333" cy="2673461"/>
          </a:xfrm>
          <a:prstGeom prst="rect">
            <a:avLst/>
          </a:prstGeom>
        </p:spPr>
      </p:pic>
    </p:spTree>
    <p:extLst>
      <p:ext uri="{BB962C8B-B14F-4D97-AF65-F5344CB8AC3E}">
        <p14:creationId xmlns:p14="http://schemas.microsoft.com/office/powerpoint/2010/main" val="29209205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a:t>
            </a:r>
            <a:r>
              <a:rPr lang="zh-CN" altLang="en-US" dirty="0" smtClean="0"/>
              <a:t>集的准备</a:t>
            </a:r>
            <a:endParaRPr lang="zh-CN" altLang="en-US" dirty="0"/>
          </a:p>
        </p:txBody>
      </p:sp>
      <p:sp>
        <p:nvSpPr>
          <p:cNvPr id="3" name="内容占位符 2"/>
          <p:cNvSpPr>
            <a:spLocks noGrp="1"/>
          </p:cNvSpPr>
          <p:nvPr>
            <p:ph sz="quarter" idx="13"/>
          </p:nvPr>
        </p:nvSpPr>
        <p:spPr/>
        <p:txBody>
          <a:bodyPr/>
          <a:lstStyle/>
          <a:p>
            <a:r>
              <a:rPr lang="zh-CN" altLang="zh-CN" dirty="0"/>
              <a:t>为了方便，我们也可以直接在</a:t>
            </a:r>
            <a:r>
              <a:rPr lang="en-US" altLang="zh-CN" dirty="0" err="1"/>
              <a:t>Pycharm</a:t>
            </a:r>
            <a:r>
              <a:rPr lang="zh-CN" altLang="zh-CN" dirty="0"/>
              <a:t>中运行</a:t>
            </a:r>
            <a:r>
              <a:rPr lang="en-US" altLang="zh-CN" dirty="0"/>
              <a:t>voc_annotation.py</a:t>
            </a:r>
            <a:r>
              <a:rPr lang="zh-CN" altLang="zh-CN" dirty="0"/>
              <a:t>，最终的结果与命令提示符运行的结果</a:t>
            </a:r>
            <a:r>
              <a:rPr lang="zh-CN" altLang="zh-CN" dirty="0" smtClean="0"/>
              <a:t>相同</a:t>
            </a:r>
            <a:r>
              <a:rPr lang="zh-CN" altLang="en-US" dirty="0"/>
              <a:t>。</a:t>
            </a:r>
            <a:r>
              <a:rPr lang="zh-CN" altLang="zh-CN" dirty="0" smtClean="0"/>
              <a:t>这里</a:t>
            </a:r>
            <a:r>
              <a:rPr lang="zh-CN" altLang="zh-CN" dirty="0"/>
              <a:t>需要注意，</a:t>
            </a:r>
            <a:r>
              <a:rPr lang="en-US" altLang="zh-CN" dirty="0" err="1"/>
              <a:t>Pycharm</a:t>
            </a:r>
            <a:r>
              <a:rPr lang="zh-CN" altLang="zh-CN" dirty="0"/>
              <a:t>中需要选择</a:t>
            </a:r>
            <a:r>
              <a:rPr lang="en-US" altLang="zh-CN" dirty="0" err="1"/>
              <a:t>Conda</a:t>
            </a:r>
            <a:r>
              <a:rPr lang="zh-CN" altLang="zh-CN" dirty="0"/>
              <a:t>虚拟环境，具体步骤参考之前的</a:t>
            </a:r>
            <a:r>
              <a:rPr lang="en-US" altLang="zh-CN" dirty="0"/>
              <a:t>“</a:t>
            </a:r>
            <a:r>
              <a:rPr lang="zh-CN" altLang="zh-CN" dirty="0"/>
              <a:t>实验：开发环境配置</a:t>
            </a:r>
            <a:r>
              <a:rPr lang="en-US" altLang="zh-CN" dirty="0"/>
              <a:t>”</a:t>
            </a:r>
            <a:r>
              <a:rPr lang="zh-CN" altLang="zh-CN" dirty="0"/>
              <a:t>。后续运行程序都使用</a:t>
            </a:r>
            <a:r>
              <a:rPr lang="en-US" altLang="zh-CN" dirty="0" err="1"/>
              <a:t>Pycharm</a:t>
            </a:r>
            <a:r>
              <a:rPr lang="zh-CN" altLang="zh-CN" dirty="0"/>
              <a:t>运行。</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0964" y="2921604"/>
            <a:ext cx="7188484" cy="2082528"/>
          </a:xfrm>
          <a:prstGeom prst="rect">
            <a:avLst/>
          </a:prstGeom>
        </p:spPr>
      </p:pic>
    </p:spTree>
    <p:extLst>
      <p:ext uri="{BB962C8B-B14F-4D97-AF65-F5344CB8AC3E}">
        <p14:creationId xmlns:p14="http://schemas.microsoft.com/office/powerpoint/2010/main" val="5224115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930308901"/>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95911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将预训练权重文件移至</a:t>
            </a:r>
            <a:r>
              <a:rPr lang="en-US" altLang="zh-CN" dirty="0" err="1"/>
              <a:t>model_data</a:t>
            </a:r>
            <a:r>
              <a:rPr lang="zh-CN" altLang="zh-CN" dirty="0"/>
              <a:t>文件夹下</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smtClean="0"/>
          </a:p>
          <a:p>
            <a:r>
              <a:rPr lang="en-US" altLang="zh-CN" dirty="0" err="1" smtClean="0"/>
              <a:t>voc</a:t>
            </a:r>
            <a:r>
              <a:rPr lang="en-US" altLang="zh-CN" dirty="0"/>
              <a:t>_******.</a:t>
            </a:r>
            <a:r>
              <a:rPr lang="en-US" altLang="zh-CN" dirty="0" err="1"/>
              <a:t>pth</a:t>
            </a:r>
            <a:r>
              <a:rPr lang="zh-CN" altLang="zh-CN" dirty="0"/>
              <a:t>的权重文件指已经在</a:t>
            </a:r>
            <a:r>
              <a:rPr lang="en-US" altLang="zh-CN" dirty="0" err="1"/>
              <a:t>voc</a:t>
            </a:r>
            <a:r>
              <a:rPr lang="zh-CN" altLang="zh-CN" dirty="0"/>
              <a:t>数据集上训练得到的整个网络的所有权重；</a:t>
            </a:r>
          </a:p>
          <a:p>
            <a:r>
              <a:rPr lang="en-US" altLang="zh-CN" dirty="0"/>
              <a:t>resnet50-****.</a:t>
            </a:r>
            <a:r>
              <a:rPr lang="en-US" altLang="zh-CN" dirty="0" err="1"/>
              <a:t>pth</a:t>
            </a:r>
            <a:r>
              <a:rPr lang="zh-CN" altLang="zh-CN" dirty="0"/>
              <a:t>和</a:t>
            </a:r>
            <a:r>
              <a:rPr lang="en-US" altLang="zh-CN" dirty="0"/>
              <a:t>vgg16-****.</a:t>
            </a:r>
            <a:r>
              <a:rPr lang="en-US" altLang="zh-CN" dirty="0" err="1"/>
              <a:t>pth</a:t>
            </a:r>
            <a:r>
              <a:rPr lang="zh-CN" altLang="zh-CN" dirty="0"/>
              <a:t>指仅保留主干网络的权重文件。</a:t>
            </a:r>
          </a:p>
          <a:p>
            <a:r>
              <a:rPr lang="zh-CN" altLang="zh-CN" dirty="0"/>
              <a:t>包含整个网络所有权重的文件大小会大于仅保留主干网络权重的文件。</a:t>
            </a:r>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01" y="1778867"/>
            <a:ext cx="7723809" cy="2980952"/>
          </a:xfrm>
          <a:prstGeom prst="rect">
            <a:avLst/>
          </a:prstGeom>
        </p:spPr>
      </p:pic>
    </p:spTree>
    <p:extLst>
      <p:ext uri="{BB962C8B-B14F-4D97-AF65-F5344CB8AC3E}">
        <p14:creationId xmlns:p14="http://schemas.microsoft.com/office/powerpoint/2010/main" val="31262790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训练模型的主要代码及参数均在</a:t>
            </a:r>
            <a:r>
              <a:rPr lang="en-US" altLang="zh-CN" dirty="0"/>
              <a:t>train.py</a:t>
            </a:r>
            <a:r>
              <a:rPr lang="zh-CN" altLang="zh-CN" dirty="0"/>
              <a:t>中，涉及到的参数很多，部分参数</a:t>
            </a:r>
            <a:r>
              <a:rPr lang="zh-CN" altLang="zh-CN" b="1" dirty="0">
                <a:solidFill>
                  <a:srgbClr val="FF0000"/>
                </a:solidFill>
              </a:rPr>
              <a:t>必须</a:t>
            </a:r>
            <a:r>
              <a:rPr lang="zh-CN" altLang="zh-CN" dirty="0"/>
              <a:t>修改：</a:t>
            </a:r>
          </a:p>
          <a:p>
            <a:r>
              <a:rPr lang="en-US" altLang="zh-CN" dirty="0" err="1"/>
              <a:t>classes_path</a:t>
            </a:r>
            <a:r>
              <a:rPr lang="zh-CN" altLang="zh-CN" dirty="0"/>
              <a:t>，改为</a:t>
            </a:r>
            <a:r>
              <a:rPr lang="en-US" altLang="zh-CN" dirty="0"/>
              <a:t>‘</a:t>
            </a:r>
            <a:r>
              <a:rPr lang="en-US" altLang="zh-CN" dirty="0" err="1"/>
              <a:t>model_data</a:t>
            </a:r>
            <a:r>
              <a:rPr lang="en-US" altLang="zh-CN" dirty="0"/>
              <a:t>/predefined_classes.txt’</a:t>
            </a:r>
            <a:r>
              <a:rPr lang="zh-CN" altLang="zh-CN" dirty="0"/>
              <a:t>（与上一步骤相同）</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err="1"/>
              <a:t>model_path</a:t>
            </a:r>
            <a:r>
              <a:rPr lang="zh-CN" altLang="zh-CN" dirty="0"/>
              <a:t>，已有的模型文件，填预训练权重文件的路径。必须要使用预训练权重，因为我们的数据量级远不及训练整个网络的标准。</a:t>
            </a:r>
          </a:p>
          <a:p>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6158" y="2852833"/>
            <a:ext cx="6638095" cy="1561905"/>
          </a:xfrm>
          <a:prstGeom prst="rect">
            <a:avLst/>
          </a:prstGeom>
        </p:spPr>
      </p:pic>
    </p:spTree>
    <p:extLst>
      <p:ext uri="{BB962C8B-B14F-4D97-AF65-F5344CB8AC3E}">
        <p14:creationId xmlns:p14="http://schemas.microsoft.com/office/powerpoint/2010/main" val="16121124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smtClean="0"/>
              <a:t>这里</a:t>
            </a:r>
            <a:r>
              <a:rPr lang="zh-CN" altLang="zh-CN" dirty="0"/>
              <a:t>有两种训练方式，第一种方式是将</a:t>
            </a:r>
            <a:r>
              <a:rPr lang="en-US" altLang="zh-CN" dirty="0" err="1"/>
              <a:t>model_path</a:t>
            </a:r>
            <a:r>
              <a:rPr lang="zh-CN" altLang="zh-CN" dirty="0"/>
              <a:t>改为已经在</a:t>
            </a:r>
            <a:r>
              <a:rPr lang="en-US" altLang="zh-CN" dirty="0" err="1"/>
              <a:t>voc</a:t>
            </a:r>
            <a:r>
              <a:rPr lang="zh-CN" altLang="zh-CN" dirty="0"/>
              <a:t>数据集上训练得到模型的全部权重，即直接使用</a:t>
            </a:r>
            <a:r>
              <a:rPr lang="en-US" altLang="zh-CN" dirty="0" err="1"/>
              <a:t>voc</a:t>
            </a:r>
            <a:r>
              <a:rPr lang="zh-CN" altLang="zh-CN" dirty="0"/>
              <a:t>上训练得到的模型，采用微调的方法进行训练。</a:t>
            </a:r>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smtClean="0"/>
              <a:t>上图使用</a:t>
            </a:r>
            <a:r>
              <a:rPr lang="en-US" altLang="zh-CN" dirty="0" err="1" smtClean="0"/>
              <a:t>resnet</a:t>
            </a:r>
            <a:r>
              <a:rPr lang="zh-CN" altLang="zh-CN" dirty="0" smtClean="0"/>
              <a:t>在</a:t>
            </a:r>
            <a:r>
              <a:rPr lang="en-US" altLang="zh-CN" dirty="0" err="1" smtClean="0"/>
              <a:t>voc</a:t>
            </a:r>
            <a:r>
              <a:rPr lang="zh-CN" altLang="zh-CN" dirty="0" smtClean="0"/>
              <a:t>网络上训练得出的模型为例，也可以使用</a:t>
            </a:r>
            <a:r>
              <a:rPr lang="en-US" altLang="zh-CN" dirty="0" err="1" smtClean="0"/>
              <a:t>vgg</a:t>
            </a:r>
            <a:r>
              <a:rPr lang="zh-CN" altLang="zh-CN" dirty="0" smtClean="0"/>
              <a:t>得出的模型。</a:t>
            </a:r>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06" y="2552033"/>
            <a:ext cx="10058400" cy="2163505"/>
          </a:xfrm>
          <a:prstGeom prst="rect">
            <a:avLst/>
          </a:prstGeom>
        </p:spPr>
      </p:pic>
    </p:spTree>
    <p:extLst>
      <p:ext uri="{BB962C8B-B14F-4D97-AF65-F5344CB8AC3E}">
        <p14:creationId xmlns:p14="http://schemas.microsoft.com/office/powerpoint/2010/main" val="12963812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第二种方式是不填</a:t>
            </a:r>
            <a:r>
              <a:rPr lang="en-US" altLang="zh-CN" dirty="0" err="1"/>
              <a:t>model_path</a:t>
            </a:r>
            <a:r>
              <a:rPr lang="zh-CN" altLang="zh-CN" dirty="0" smtClean="0"/>
              <a:t>，选择</a:t>
            </a:r>
            <a:r>
              <a:rPr lang="en-US" altLang="zh-CN" dirty="0" smtClean="0"/>
              <a:t>backbone</a:t>
            </a:r>
            <a:r>
              <a:rPr lang="zh-CN" altLang="zh-CN" dirty="0" smtClean="0"/>
              <a:t>的值，将下面的</a:t>
            </a:r>
            <a:r>
              <a:rPr lang="en-US" altLang="zh-CN" dirty="0" err="1" smtClean="0"/>
              <a:t>pretrained</a:t>
            </a:r>
            <a:r>
              <a:rPr lang="zh-CN" altLang="zh-CN" dirty="0" smtClean="0"/>
              <a:t>参数改为</a:t>
            </a:r>
            <a:r>
              <a:rPr lang="en-US" altLang="zh-CN" dirty="0" smtClean="0"/>
              <a:t>True</a:t>
            </a:r>
            <a:r>
              <a:rPr lang="zh-CN" altLang="zh-CN" dirty="0" smtClean="0"/>
              <a:t>：</a:t>
            </a:r>
            <a:endParaRPr lang="en-US" altLang="zh-CN" dirty="0" smtClean="0"/>
          </a:p>
          <a:p>
            <a:endParaRPr lang="en-US" altLang="zh-CN" dirty="0" smtClean="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smtClean="0"/>
              <a:t>会根据选择的</a:t>
            </a:r>
            <a:r>
              <a:rPr lang="en-US" altLang="zh-CN" dirty="0" smtClean="0"/>
              <a:t>backbone</a:t>
            </a:r>
            <a:r>
              <a:rPr lang="zh-CN" altLang="zh-CN" dirty="0" smtClean="0"/>
              <a:t>（主干网络类型）进行训练，上图以</a:t>
            </a:r>
            <a:r>
              <a:rPr lang="en-US" altLang="zh-CN" dirty="0" smtClean="0"/>
              <a:t>resnet50</a:t>
            </a:r>
            <a:r>
              <a:rPr lang="zh-CN" altLang="zh-CN" dirty="0" smtClean="0"/>
              <a:t>为例，会自动调用之前下载的</a:t>
            </a:r>
            <a:r>
              <a:rPr lang="en-US" altLang="zh-CN" dirty="0" smtClean="0"/>
              <a:t>resnet50-****.</a:t>
            </a:r>
            <a:r>
              <a:rPr lang="en-US" altLang="zh-CN" dirty="0" err="1" smtClean="0"/>
              <a:t>pth</a:t>
            </a:r>
            <a:r>
              <a:rPr lang="zh-CN" altLang="zh-CN" dirty="0" smtClean="0"/>
              <a:t>文件，仅加载主干网络开始训练。 </a:t>
            </a:r>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1872" y="1843306"/>
            <a:ext cx="8986667" cy="3580960"/>
          </a:xfrm>
          <a:prstGeom prst="rect">
            <a:avLst/>
          </a:prstGeom>
        </p:spPr>
      </p:pic>
    </p:spTree>
    <p:extLst>
      <p:ext uri="{BB962C8B-B14F-4D97-AF65-F5344CB8AC3E}">
        <p14:creationId xmlns:p14="http://schemas.microsoft.com/office/powerpoint/2010/main" val="39958030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b="1" dirty="0"/>
              <a:t>如果是采用</a:t>
            </a:r>
            <a:r>
              <a:rPr lang="en-US" altLang="zh-CN" b="1" dirty="0"/>
              <a:t>CPU</a:t>
            </a:r>
            <a:r>
              <a:rPr lang="zh-CN" altLang="zh-CN" b="1" dirty="0" smtClean="0"/>
              <a:t>训练的</a:t>
            </a:r>
            <a:r>
              <a:rPr lang="zh-CN" altLang="zh-CN" b="1" dirty="0"/>
              <a:t>方式，还需要将</a:t>
            </a:r>
            <a:r>
              <a:rPr lang="en-US" altLang="zh-CN" b="1" dirty="0"/>
              <a:t>CUDA</a:t>
            </a:r>
            <a:r>
              <a:rPr lang="zh-CN" altLang="zh-CN" b="1" dirty="0"/>
              <a:t>改为</a:t>
            </a:r>
            <a:r>
              <a:rPr lang="en-US" altLang="zh-CN" b="1" dirty="0" smtClean="0"/>
              <a:t>False</a:t>
            </a:r>
            <a:r>
              <a:rPr lang="zh-CN" altLang="en-US" b="1" dirty="0" smtClean="0"/>
              <a:t>。</a:t>
            </a:r>
            <a:endParaRPr lang="en-US" altLang="zh-CN" b="1" dirty="0" smtClean="0"/>
          </a:p>
          <a:p>
            <a:r>
              <a:rPr lang="zh-CN" altLang="zh-CN" b="1" dirty="0"/>
              <a:t>两阶段算法需要消耗大量显存</a:t>
            </a:r>
            <a:r>
              <a:rPr lang="en-US" altLang="zh-CN" b="1" dirty="0"/>
              <a:t>/</a:t>
            </a:r>
            <a:r>
              <a:rPr lang="zh-CN" altLang="zh-CN" b="1" dirty="0"/>
              <a:t>内存，因此极不推荐采用</a:t>
            </a:r>
            <a:r>
              <a:rPr lang="en-US" altLang="zh-CN" b="1" dirty="0"/>
              <a:t>CPU</a:t>
            </a:r>
            <a:r>
              <a:rPr lang="zh-CN" altLang="zh-CN" b="1" dirty="0"/>
              <a:t>训练，会花费大量时间</a:t>
            </a:r>
            <a:r>
              <a:rPr lang="zh-CN" altLang="zh-CN" b="1" dirty="0" smtClean="0"/>
              <a:t>。</a:t>
            </a:r>
            <a:endParaRPr lang="en-US" altLang="zh-CN" b="1" dirty="0" smtClean="0"/>
          </a:p>
          <a:p>
            <a:endParaRPr lang="en-US" altLang="zh-CN" b="1" dirty="0"/>
          </a:p>
          <a:p>
            <a:endParaRPr lang="en-US" altLang="zh-CN" b="1" dirty="0" smtClean="0"/>
          </a:p>
          <a:p>
            <a:endParaRPr lang="en-US" altLang="zh-CN" b="1" dirty="0"/>
          </a:p>
          <a:p>
            <a:endParaRPr lang="en-US" altLang="zh-CN" b="1" dirty="0" smtClean="0"/>
          </a:p>
          <a:p>
            <a:endParaRPr lang="en-US" altLang="zh-CN" b="1" dirty="0"/>
          </a:p>
          <a:p>
            <a:endParaRPr lang="en-US" altLang="zh-CN" b="1" dirty="0" smtClean="0"/>
          </a:p>
          <a:p>
            <a:endParaRPr lang="en-US" altLang="zh-CN" b="1" dirty="0"/>
          </a:p>
          <a:p>
            <a:r>
              <a:rPr lang="zh-CN" altLang="zh-CN" dirty="0"/>
              <a:t>关于其他可选参数的修改，代码中有极为详细的注释，这里不做赘述。</a:t>
            </a:r>
          </a:p>
          <a:p>
            <a:endParaRPr lang="zh-CN" altLang="zh-CN" dirty="0"/>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3301" y="2743310"/>
            <a:ext cx="3923809" cy="1780952"/>
          </a:xfrm>
          <a:prstGeom prst="rect">
            <a:avLst/>
          </a:prstGeom>
        </p:spPr>
      </p:pic>
    </p:spTree>
    <p:extLst>
      <p:ext uri="{BB962C8B-B14F-4D97-AF65-F5344CB8AC3E}">
        <p14:creationId xmlns:p14="http://schemas.microsoft.com/office/powerpoint/2010/main" val="29833144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在</a:t>
            </a:r>
            <a:r>
              <a:rPr lang="en-US" altLang="zh-CN" dirty="0" err="1"/>
              <a:t>Pycharm</a:t>
            </a:r>
            <a:r>
              <a:rPr lang="zh-CN" altLang="zh-CN" dirty="0"/>
              <a:t>中运行</a:t>
            </a:r>
            <a:r>
              <a:rPr lang="en-US" altLang="zh-CN" dirty="0"/>
              <a:t>train.py</a:t>
            </a:r>
            <a:r>
              <a:rPr lang="zh-CN" altLang="zh-CN" dirty="0"/>
              <a:t>，将会自动加载模型参数开始</a:t>
            </a:r>
            <a:r>
              <a:rPr lang="zh-CN" altLang="zh-CN" dirty="0" smtClean="0"/>
              <a:t>训练</a:t>
            </a:r>
            <a:r>
              <a:rPr lang="zh-CN" altLang="en-US" dirty="0"/>
              <a:t>。</a:t>
            </a:r>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pPr lvl="1"/>
            <a:endParaRPr lang="en-US" altLang="zh-CN" dirty="0"/>
          </a:p>
          <a:p>
            <a:pPr lvl="1"/>
            <a:endParaRPr lang="en-US" altLang="zh-CN" dirty="0" smtClean="0"/>
          </a:p>
          <a:p>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4209" y="1728525"/>
            <a:ext cx="3921993" cy="4276794"/>
          </a:xfrm>
          <a:prstGeom prst="rect">
            <a:avLst/>
          </a:prstGeom>
        </p:spPr>
      </p:pic>
    </p:spTree>
    <p:extLst>
      <p:ext uri="{BB962C8B-B14F-4D97-AF65-F5344CB8AC3E}">
        <p14:creationId xmlns:p14="http://schemas.microsoft.com/office/powerpoint/2010/main" val="15635541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zh-CN" altLang="zh-CN" dirty="0"/>
              <a:t>模型已开始根据设置的参数训练，训练时间主要与</a:t>
            </a:r>
            <a:r>
              <a:rPr lang="en-US" altLang="zh-CN" dirty="0"/>
              <a:t>CPU/GPU</a:t>
            </a:r>
            <a:r>
              <a:rPr lang="zh-CN" altLang="zh-CN" dirty="0"/>
              <a:t>性能、数据集大小、训练的世代（</a:t>
            </a:r>
            <a:r>
              <a:rPr lang="en-US" altLang="zh-CN" dirty="0"/>
              <a:t>epoch</a:t>
            </a:r>
            <a:r>
              <a:rPr lang="zh-CN" altLang="zh-CN" dirty="0"/>
              <a:t>）有关。如果是</a:t>
            </a:r>
            <a:r>
              <a:rPr lang="en-US" altLang="zh-CN" dirty="0"/>
              <a:t>CPU</a:t>
            </a:r>
            <a:r>
              <a:rPr lang="zh-CN" altLang="zh-CN" dirty="0"/>
              <a:t>训练会比</a:t>
            </a:r>
            <a:r>
              <a:rPr lang="en-US" altLang="zh-CN" dirty="0"/>
              <a:t>GPU</a:t>
            </a:r>
            <a:r>
              <a:rPr lang="zh-CN" altLang="zh-CN" dirty="0"/>
              <a:t>训练花费更多的时间。</a:t>
            </a:r>
          </a:p>
          <a:p>
            <a:r>
              <a:rPr lang="zh-CN" altLang="zh-CN" dirty="0"/>
              <a:t>通常来说，两阶段算法的模型文件大小要比一阶段算法的模型大，所需训练的时间也更长。</a:t>
            </a:r>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zh-CN" altLang="zh-CN" dirty="0"/>
          </a:p>
          <a:p>
            <a:endParaRPr lang="zh-CN" altLang="zh-CN" dirty="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7393" y="2412806"/>
            <a:ext cx="3815626" cy="3724468"/>
          </a:xfrm>
          <a:prstGeom prst="rect">
            <a:avLst/>
          </a:prstGeom>
        </p:spPr>
      </p:pic>
    </p:spTree>
    <p:extLst>
      <p:ext uri="{BB962C8B-B14F-4D97-AF65-F5344CB8AC3E}">
        <p14:creationId xmlns:p14="http://schemas.microsoft.com/office/powerpoint/2010/main" val="20438573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训练模型</a:t>
            </a:r>
            <a:endParaRPr lang="zh-CN" altLang="en-US" dirty="0"/>
          </a:p>
        </p:txBody>
      </p:sp>
      <p:sp>
        <p:nvSpPr>
          <p:cNvPr id="3" name="内容占位符 2"/>
          <p:cNvSpPr>
            <a:spLocks noGrp="1"/>
          </p:cNvSpPr>
          <p:nvPr>
            <p:ph sz="quarter" idx="13"/>
          </p:nvPr>
        </p:nvSpPr>
        <p:spPr/>
        <p:txBody>
          <a:bodyPr/>
          <a:lstStyle/>
          <a:p>
            <a:r>
              <a:rPr lang="en-US" altLang="zh-CN" dirty="0"/>
              <a:t>*</a:t>
            </a:r>
            <a:r>
              <a:rPr lang="zh-CN" altLang="zh-CN" dirty="0"/>
              <a:t>在性能与数据集大小确定的情况下，通过改小训练的世代能够缩短训练的时间，但可能会错过最佳的模型，因此不推荐。本实验中的示例图采用世代值为</a:t>
            </a:r>
            <a:r>
              <a:rPr lang="en-US" altLang="zh-CN" dirty="0"/>
              <a:t>100</a:t>
            </a:r>
            <a:r>
              <a:rPr lang="zh-CN" altLang="zh-CN" dirty="0"/>
              <a:t>，考虑到最终检测目标仅为两种，可以适当地降低</a:t>
            </a:r>
            <a:r>
              <a:rPr lang="en-US" altLang="zh-CN" dirty="0"/>
              <a:t>epoch</a:t>
            </a:r>
            <a:r>
              <a:rPr lang="zh-CN" altLang="zh-CN" dirty="0"/>
              <a:t>值，比如改为</a:t>
            </a:r>
            <a:r>
              <a:rPr lang="en-US" altLang="zh-CN" dirty="0" smtClean="0"/>
              <a:t>80</a:t>
            </a:r>
            <a:r>
              <a:rPr lang="zh-CN" altLang="en-US" dirty="0" smtClean="0"/>
              <a:t>，如图所示。</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0444" y="2948071"/>
            <a:ext cx="5609524" cy="1371429"/>
          </a:xfrm>
          <a:prstGeom prst="rect">
            <a:avLst/>
          </a:prstGeom>
        </p:spPr>
      </p:pic>
    </p:spTree>
    <p:extLst>
      <p:ext uri="{BB962C8B-B14F-4D97-AF65-F5344CB8AC3E}">
        <p14:creationId xmlns:p14="http://schemas.microsoft.com/office/powerpoint/2010/main" val="1768189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3952674562"/>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4453941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p:txBody>
          <a:bodyPr/>
          <a:lstStyle/>
          <a:p>
            <a:r>
              <a:rPr lang="zh-CN" altLang="zh-CN" dirty="0"/>
              <a:t>模型训练完毕后，</a:t>
            </a:r>
            <a:r>
              <a:rPr lang="en-US" altLang="zh-CN" dirty="0"/>
              <a:t>logs</a:t>
            </a:r>
            <a:r>
              <a:rPr lang="zh-CN" altLang="zh-CN" dirty="0"/>
              <a:t>文件夹下存放训练过程中的所有权重文件：</a:t>
            </a:r>
          </a:p>
          <a:p>
            <a:pPr marL="800100" lvl="1" indent="-342900">
              <a:buFont typeface="+mj-lt"/>
              <a:buAutoNum type="arabicPeriod"/>
            </a:pPr>
            <a:r>
              <a:rPr lang="zh-CN" altLang="zh-CN" dirty="0"/>
              <a:t>每</a:t>
            </a:r>
            <a:r>
              <a:rPr lang="en-US" altLang="zh-CN" dirty="0"/>
              <a:t>n</a:t>
            </a:r>
            <a:r>
              <a:rPr lang="zh-CN" altLang="zh-CN" dirty="0"/>
              <a:t>个</a:t>
            </a:r>
            <a:r>
              <a:rPr lang="en-US" altLang="zh-CN" dirty="0"/>
              <a:t>epoch</a:t>
            </a:r>
            <a:r>
              <a:rPr lang="zh-CN" altLang="zh-CN" dirty="0"/>
              <a:t>保存一次的权重文件</a:t>
            </a:r>
            <a:r>
              <a:rPr lang="en-US" altLang="zh-CN" dirty="0" err="1"/>
              <a:t>ep</a:t>
            </a:r>
            <a:r>
              <a:rPr lang="en-US" altLang="zh-CN" dirty="0"/>
              <a:t>***-loss***-</a:t>
            </a:r>
            <a:r>
              <a:rPr lang="en-US" altLang="zh-CN" dirty="0" err="1"/>
              <a:t>val_loss</a:t>
            </a:r>
            <a:r>
              <a:rPr lang="en-US" altLang="zh-CN" dirty="0"/>
              <a:t>***.</a:t>
            </a:r>
            <a:r>
              <a:rPr lang="en-US" altLang="zh-CN" dirty="0" err="1"/>
              <a:t>pth</a:t>
            </a:r>
            <a:r>
              <a:rPr lang="zh-CN" altLang="zh-CN" dirty="0"/>
              <a:t>；</a:t>
            </a:r>
          </a:p>
          <a:p>
            <a:pPr marL="800100" lvl="1" indent="-342900">
              <a:buFont typeface="+mj-lt"/>
              <a:buAutoNum type="arabicPeriod"/>
            </a:pPr>
            <a:r>
              <a:rPr lang="zh-CN" altLang="zh-CN" dirty="0"/>
              <a:t>最后一个</a:t>
            </a:r>
            <a:r>
              <a:rPr lang="en-US" altLang="zh-CN" dirty="0"/>
              <a:t>epoch</a:t>
            </a:r>
            <a:r>
              <a:rPr lang="zh-CN" altLang="zh-CN" dirty="0"/>
              <a:t>保存的权重文件</a:t>
            </a:r>
            <a:r>
              <a:rPr lang="en-US" altLang="zh-CN" dirty="0" err="1"/>
              <a:t>last_epoch_weights.pth</a:t>
            </a:r>
            <a:r>
              <a:rPr lang="zh-CN" altLang="zh-CN" dirty="0"/>
              <a:t>；</a:t>
            </a:r>
          </a:p>
          <a:p>
            <a:pPr marL="800100" lvl="1" indent="-342900">
              <a:buFont typeface="+mj-lt"/>
              <a:buAutoNum type="arabicPeriod"/>
            </a:pPr>
            <a:r>
              <a:rPr lang="zh-CN" altLang="zh-CN" dirty="0"/>
              <a:t>最好的一个</a:t>
            </a:r>
            <a:r>
              <a:rPr lang="en-US" altLang="zh-CN" dirty="0"/>
              <a:t>epoch</a:t>
            </a:r>
            <a:r>
              <a:rPr lang="zh-CN" altLang="zh-CN" dirty="0"/>
              <a:t>保存的权重文件</a:t>
            </a:r>
            <a:r>
              <a:rPr lang="en-US" altLang="zh-CN" dirty="0" err="1"/>
              <a:t>best_epoch_weights.pth</a:t>
            </a:r>
            <a:r>
              <a:rPr lang="zh-CN" altLang="zh-CN" dirty="0"/>
              <a:t>。</a:t>
            </a:r>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r>
              <a:rPr lang="zh-CN" altLang="zh-CN" dirty="0"/>
              <a:t>大多数情况下使用</a:t>
            </a:r>
            <a:r>
              <a:rPr lang="en-US" altLang="zh-CN" dirty="0" err="1"/>
              <a:t>best_epoch_weights.pth</a:t>
            </a:r>
            <a:r>
              <a:rPr lang="zh-CN" altLang="zh-CN" dirty="0"/>
              <a:t>，少数情况下使用</a:t>
            </a:r>
            <a:r>
              <a:rPr lang="en-US" altLang="zh-CN" dirty="0" err="1"/>
              <a:t>last_epoch_weights.pth</a:t>
            </a:r>
            <a:r>
              <a:rPr lang="zh-CN" altLang="zh-CN" dirty="0"/>
              <a:t>。</a:t>
            </a:r>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4903" y="1885949"/>
            <a:ext cx="4146938" cy="3495674"/>
          </a:xfrm>
          <a:prstGeom prst="rect">
            <a:avLst/>
          </a:prstGeom>
        </p:spPr>
      </p:pic>
    </p:spTree>
    <p:extLst>
      <p:ext uri="{BB962C8B-B14F-4D97-AF65-F5344CB8AC3E}">
        <p14:creationId xmlns:p14="http://schemas.microsoft.com/office/powerpoint/2010/main" val="334766394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p:txBody>
          <a:bodyPr/>
          <a:lstStyle/>
          <a:p>
            <a:r>
              <a:rPr lang="zh-CN" altLang="zh-CN" dirty="0" smtClean="0"/>
              <a:t>除了</a:t>
            </a:r>
            <a:r>
              <a:rPr lang="zh-CN" altLang="zh-CN" dirty="0"/>
              <a:t>模型文件（权重文件，</a:t>
            </a:r>
            <a:r>
              <a:rPr lang="en-US" altLang="zh-CN" dirty="0" err="1"/>
              <a:t>pytorch</a:t>
            </a:r>
            <a:r>
              <a:rPr lang="zh-CN" altLang="zh-CN" dirty="0"/>
              <a:t>框架以</a:t>
            </a:r>
            <a:r>
              <a:rPr lang="en-US" altLang="zh-CN" dirty="0"/>
              <a:t>.</a:t>
            </a:r>
            <a:r>
              <a:rPr lang="en-US" altLang="zh-CN" dirty="0" err="1"/>
              <a:t>pth</a:t>
            </a:r>
            <a:r>
              <a:rPr lang="zh-CN" altLang="zh-CN" dirty="0"/>
              <a:t>结尾），还有一个以</a:t>
            </a:r>
            <a:r>
              <a:rPr lang="en-US" altLang="zh-CN" dirty="0"/>
              <a:t>loss_******* </a:t>
            </a:r>
            <a:r>
              <a:rPr lang="zh-CN" altLang="zh-CN" dirty="0"/>
              <a:t>命名的文件夹。</a:t>
            </a:r>
          </a:p>
          <a:p>
            <a:r>
              <a:rPr lang="zh-CN" altLang="zh-CN" dirty="0"/>
              <a:t>文件夹下有如下文件</a:t>
            </a:r>
            <a:r>
              <a:rPr lang="zh-CN" altLang="zh-CN" dirty="0" smtClean="0"/>
              <a:t>：</a:t>
            </a:r>
            <a:endParaRPr lang="en-US" altLang="zh-CN" dirty="0" smtClean="0"/>
          </a:p>
          <a:p>
            <a:pPr lvl="1"/>
            <a:r>
              <a:rPr lang="en-US" altLang="zh-CN" dirty="0"/>
              <a:t>epoch_loss.png</a:t>
            </a:r>
            <a:r>
              <a:rPr lang="zh-CN" altLang="zh-CN" dirty="0"/>
              <a:t>：训练过程中根据训练集与验证集每一个</a:t>
            </a:r>
            <a:r>
              <a:rPr lang="en-US" altLang="zh-CN" dirty="0"/>
              <a:t>epoch</a:t>
            </a:r>
            <a:r>
              <a:rPr lang="zh-CN" altLang="zh-CN" dirty="0"/>
              <a:t>的</a:t>
            </a:r>
            <a:r>
              <a:rPr lang="en-US" altLang="zh-CN" dirty="0"/>
              <a:t>loss</a:t>
            </a:r>
            <a:r>
              <a:rPr lang="zh-CN" altLang="zh-CN" dirty="0"/>
              <a:t>值绘制的图。</a:t>
            </a:r>
          </a:p>
          <a:p>
            <a:pPr lvl="1"/>
            <a:r>
              <a:rPr lang="en-US" altLang="zh-CN" dirty="0"/>
              <a:t>epoch_loss.txt</a:t>
            </a:r>
            <a:r>
              <a:rPr lang="zh-CN" altLang="zh-CN" dirty="0"/>
              <a:t>：训练过程中记录训练集每一个</a:t>
            </a:r>
            <a:r>
              <a:rPr lang="en-US" altLang="zh-CN" dirty="0"/>
              <a:t>epoch</a:t>
            </a:r>
            <a:r>
              <a:rPr lang="zh-CN" altLang="zh-CN" dirty="0"/>
              <a:t>的</a:t>
            </a:r>
            <a:r>
              <a:rPr lang="en-US" altLang="zh-CN" dirty="0"/>
              <a:t>loss</a:t>
            </a:r>
            <a:r>
              <a:rPr lang="zh-CN" altLang="zh-CN" dirty="0"/>
              <a:t>值。</a:t>
            </a:r>
          </a:p>
          <a:p>
            <a:pPr lvl="1"/>
            <a:r>
              <a:rPr lang="en-US" altLang="zh-CN" dirty="0"/>
              <a:t>epoch_map.png</a:t>
            </a:r>
            <a:r>
              <a:rPr lang="zh-CN" altLang="zh-CN" dirty="0"/>
              <a:t>：训练过程中根据训练集每一个</a:t>
            </a:r>
            <a:r>
              <a:rPr lang="en-US" altLang="zh-CN" dirty="0"/>
              <a:t>epoch</a:t>
            </a:r>
            <a:r>
              <a:rPr lang="zh-CN" altLang="zh-CN" dirty="0"/>
              <a:t>的</a:t>
            </a:r>
            <a:r>
              <a:rPr lang="en-US" altLang="zh-CN" dirty="0"/>
              <a:t>map</a:t>
            </a:r>
            <a:r>
              <a:rPr lang="zh-CN" altLang="zh-CN" dirty="0"/>
              <a:t>值绘制的图。</a:t>
            </a:r>
          </a:p>
          <a:p>
            <a:pPr lvl="1"/>
            <a:r>
              <a:rPr lang="en-US" altLang="zh-CN" dirty="0"/>
              <a:t>epoch_map.txt</a:t>
            </a:r>
            <a:r>
              <a:rPr lang="zh-CN" altLang="zh-CN" dirty="0"/>
              <a:t>：训练过程中记录训练集每一个</a:t>
            </a:r>
            <a:r>
              <a:rPr lang="en-US" altLang="zh-CN" dirty="0"/>
              <a:t>epoch</a:t>
            </a:r>
            <a:r>
              <a:rPr lang="zh-CN" altLang="zh-CN" dirty="0"/>
              <a:t>的</a:t>
            </a:r>
            <a:r>
              <a:rPr lang="en-US" altLang="zh-CN" dirty="0"/>
              <a:t>map</a:t>
            </a:r>
            <a:r>
              <a:rPr lang="zh-CN" altLang="zh-CN" dirty="0"/>
              <a:t>值。</a:t>
            </a:r>
          </a:p>
          <a:p>
            <a:pPr lvl="1"/>
            <a:r>
              <a:rPr lang="en-US" altLang="zh-CN" dirty="0"/>
              <a:t>epoch_val_loss.txt</a:t>
            </a:r>
            <a:r>
              <a:rPr lang="zh-CN" altLang="zh-CN" dirty="0"/>
              <a:t>：训练过程中记录验证集每一个</a:t>
            </a:r>
            <a:r>
              <a:rPr lang="en-US" altLang="zh-CN" dirty="0"/>
              <a:t>epoch</a:t>
            </a:r>
            <a:r>
              <a:rPr lang="zh-CN" altLang="zh-CN" dirty="0"/>
              <a:t>的</a:t>
            </a:r>
            <a:r>
              <a:rPr lang="en-US" altLang="zh-CN" dirty="0"/>
              <a:t>loss</a:t>
            </a:r>
            <a:r>
              <a:rPr lang="zh-CN" altLang="zh-CN" dirty="0"/>
              <a:t>值。</a:t>
            </a:r>
          </a:p>
          <a:p>
            <a:pPr lvl="1"/>
            <a:r>
              <a:rPr lang="en-US" altLang="zh-CN" dirty="0" err="1"/>
              <a:t>events.out.tfevents</a:t>
            </a:r>
            <a:r>
              <a:rPr lang="en-US" altLang="zh-CN" dirty="0"/>
              <a:t>.*****</a:t>
            </a:r>
            <a:r>
              <a:rPr lang="zh-CN" altLang="zh-CN" dirty="0"/>
              <a:t>：无法直接打开，可以使用</a:t>
            </a:r>
            <a:r>
              <a:rPr lang="en-US" altLang="zh-CN" dirty="0" err="1"/>
              <a:t>tensorboard</a:t>
            </a:r>
            <a:r>
              <a:rPr lang="zh-CN" altLang="zh-CN" dirty="0"/>
              <a:t>可视化图表。</a:t>
            </a:r>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8659" y="4187421"/>
            <a:ext cx="4693094" cy="1949853"/>
          </a:xfrm>
          <a:prstGeom prst="rect">
            <a:avLst/>
          </a:prstGeom>
        </p:spPr>
      </p:pic>
    </p:spTree>
    <p:extLst>
      <p:ext uri="{BB962C8B-B14F-4D97-AF65-F5344CB8AC3E}">
        <p14:creationId xmlns:p14="http://schemas.microsoft.com/office/powerpoint/2010/main" val="87179702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p:txBody>
          <a:bodyPr/>
          <a:lstStyle/>
          <a:p>
            <a:r>
              <a:rPr lang="zh-CN" altLang="zh-CN" dirty="0"/>
              <a:t>一般来说，随着训练的进行，</a:t>
            </a:r>
            <a:r>
              <a:rPr lang="en-US" altLang="zh-CN" dirty="0"/>
              <a:t>loss</a:t>
            </a:r>
            <a:r>
              <a:rPr lang="zh-CN" altLang="zh-CN" dirty="0"/>
              <a:t>会不断下降，</a:t>
            </a:r>
            <a:r>
              <a:rPr lang="en-US" altLang="zh-CN" dirty="0"/>
              <a:t>map</a:t>
            </a:r>
            <a:r>
              <a:rPr lang="zh-CN" altLang="zh-CN" dirty="0"/>
              <a:t>会不断上升，最后趋于一个固定的值上下波动。</a:t>
            </a:r>
          </a:p>
          <a:p>
            <a:r>
              <a:rPr lang="zh-CN" altLang="zh-CN" dirty="0"/>
              <a:t>如果没有出现这种情况（小概率），则说明模型尚未完全拟合，所得模型尚未达到最优，需要增大</a:t>
            </a:r>
            <a:r>
              <a:rPr lang="en-US" altLang="zh-CN" dirty="0"/>
              <a:t>epoch</a:t>
            </a:r>
            <a:r>
              <a:rPr lang="zh-CN" altLang="zh-CN" dirty="0"/>
              <a:t>的值重新训练。</a:t>
            </a:r>
            <a:r>
              <a:rPr lang="en-US" altLang="zh-CN" dirty="0"/>
              <a:t>epoch</a:t>
            </a:r>
            <a:r>
              <a:rPr lang="zh-CN" altLang="zh-CN" dirty="0"/>
              <a:t>在上一步骤中的</a:t>
            </a:r>
            <a:r>
              <a:rPr lang="en-US" altLang="zh-CN" dirty="0"/>
              <a:t>train.py</a:t>
            </a:r>
            <a:r>
              <a:rPr lang="zh-CN" altLang="zh-CN" dirty="0"/>
              <a:t>文件中修改。增大该值后，模型会训练更多的</a:t>
            </a:r>
            <a:r>
              <a:rPr lang="en-US" altLang="zh-CN" dirty="0"/>
              <a:t>epoch</a:t>
            </a:r>
            <a:r>
              <a:rPr lang="zh-CN" altLang="zh-CN" dirty="0"/>
              <a:t>，花费的时间也会更长，但错过最优模型的几率就更低。</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2349" y="3908703"/>
            <a:ext cx="6085714" cy="2228571"/>
          </a:xfrm>
          <a:prstGeom prst="rect">
            <a:avLst/>
          </a:prstGeom>
        </p:spPr>
      </p:pic>
    </p:spTree>
    <p:extLst>
      <p:ext uri="{BB962C8B-B14F-4D97-AF65-F5344CB8AC3E}">
        <p14:creationId xmlns:p14="http://schemas.microsoft.com/office/powerpoint/2010/main" val="191451847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p:txBody>
          <a:bodyPr/>
          <a:lstStyle/>
          <a:p>
            <a:r>
              <a:rPr lang="zh-CN" altLang="zh-CN" dirty="0"/>
              <a:t>使用</a:t>
            </a:r>
            <a:r>
              <a:rPr lang="en-US" altLang="zh-CN" dirty="0" err="1"/>
              <a:t>Pycharm</a:t>
            </a:r>
            <a:r>
              <a:rPr lang="zh-CN" altLang="zh-CN" dirty="0"/>
              <a:t>打开</a:t>
            </a:r>
            <a:r>
              <a:rPr lang="en-US" altLang="zh-CN" dirty="0"/>
              <a:t>frcnn.py</a:t>
            </a:r>
            <a:r>
              <a:rPr lang="zh-CN" altLang="zh-CN" dirty="0"/>
              <a:t>，修改其中的</a:t>
            </a:r>
            <a:r>
              <a:rPr lang="en-US" altLang="zh-CN" dirty="0" err="1"/>
              <a:t>model_path</a:t>
            </a:r>
            <a:r>
              <a:rPr lang="zh-CN" altLang="zh-CN" dirty="0"/>
              <a:t>和</a:t>
            </a:r>
            <a:r>
              <a:rPr lang="en-US" altLang="zh-CN" dirty="0" err="1"/>
              <a:t>classes_path</a:t>
            </a:r>
            <a:r>
              <a:rPr lang="zh-CN" altLang="zh-CN" dirty="0"/>
              <a:t>：</a:t>
            </a:r>
            <a:endParaRPr lang="en-US" altLang="zh-CN" dirty="0"/>
          </a:p>
          <a:p>
            <a:r>
              <a:rPr lang="en-US" altLang="zh-CN" dirty="0" err="1" smtClean="0"/>
              <a:t>model_path</a:t>
            </a:r>
            <a:r>
              <a:rPr lang="zh-CN" altLang="zh-CN" dirty="0"/>
              <a:t>改为</a:t>
            </a:r>
            <a:r>
              <a:rPr lang="en-US" altLang="zh-CN" dirty="0">
                <a:solidFill>
                  <a:srgbClr val="FF0000"/>
                </a:solidFill>
              </a:rPr>
              <a:t>logs</a:t>
            </a:r>
            <a:r>
              <a:rPr lang="zh-CN" altLang="zh-CN" dirty="0"/>
              <a:t>文件夹下的权重文件（</a:t>
            </a:r>
            <a:r>
              <a:rPr lang="en-US" altLang="zh-CN" dirty="0"/>
              <a:t>logs/</a:t>
            </a:r>
            <a:r>
              <a:rPr lang="en-US" altLang="zh-CN" dirty="0" err="1"/>
              <a:t>best_epoch_weights.pth</a:t>
            </a:r>
            <a:r>
              <a:rPr lang="zh-CN" altLang="zh-CN" dirty="0"/>
              <a:t>）；</a:t>
            </a:r>
          </a:p>
          <a:p>
            <a:r>
              <a:rPr lang="en-US" altLang="zh-CN" dirty="0" err="1"/>
              <a:t>classes_path</a:t>
            </a:r>
            <a:r>
              <a:rPr lang="zh-CN" altLang="zh-CN" dirty="0"/>
              <a:t>和之前一样改为自己的类别文件（</a:t>
            </a:r>
            <a:r>
              <a:rPr lang="en-US" altLang="zh-CN" dirty="0" err="1"/>
              <a:t>model_data</a:t>
            </a:r>
            <a:r>
              <a:rPr lang="en-US" altLang="zh-CN" dirty="0"/>
              <a:t>/predefined_classes.txt</a:t>
            </a:r>
            <a:r>
              <a:rPr lang="zh-CN" altLang="zh-CN" dirty="0"/>
              <a:t>）</a:t>
            </a:r>
          </a:p>
          <a:p>
            <a:endParaRPr lang="zh-CN"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9434" y="2627086"/>
            <a:ext cx="7491544" cy="3510188"/>
          </a:xfrm>
          <a:prstGeom prst="rect">
            <a:avLst/>
          </a:prstGeom>
        </p:spPr>
      </p:pic>
    </p:spTree>
    <p:extLst>
      <p:ext uri="{BB962C8B-B14F-4D97-AF65-F5344CB8AC3E}">
        <p14:creationId xmlns:p14="http://schemas.microsoft.com/office/powerpoint/2010/main" val="219879829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p:txBody>
          <a:bodyPr/>
          <a:lstStyle/>
          <a:p>
            <a:r>
              <a:rPr lang="zh-CN" altLang="zh-CN" dirty="0"/>
              <a:t>此外，</a:t>
            </a:r>
            <a:r>
              <a:rPr lang="en-US" altLang="zh-CN" dirty="0"/>
              <a:t>frcnn.py</a:t>
            </a:r>
            <a:r>
              <a:rPr lang="zh-CN" altLang="zh-CN" dirty="0"/>
              <a:t>还可以修改主干网络、检测框置信度、非极大值抑制阈值、先验框大小等参数，</a:t>
            </a:r>
            <a:r>
              <a:rPr lang="zh-CN" altLang="zh-CN" b="1" dirty="0"/>
              <a:t>如果是</a:t>
            </a:r>
            <a:r>
              <a:rPr lang="en-US" altLang="zh-CN" b="1" dirty="0"/>
              <a:t>CPU</a:t>
            </a:r>
            <a:r>
              <a:rPr lang="zh-CN" altLang="zh-CN" b="1" dirty="0"/>
              <a:t>版本，必须将</a:t>
            </a:r>
            <a:r>
              <a:rPr lang="en-US" altLang="zh-CN" b="1" dirty="0" err="1"/>
              <a:t>cuda</a:t>
            </a:r>
            <a:r>
              <a:rPr lang="zh-CN" altLang="zh-CN" b="1" dirty="0"/>
              <a:t>值改为</a:t>
            </a:r>
            <a:r>
              <a:rPr lang="en-US" altLang="zh-CN" b="1" dirty="0"/>
              <a:t>“False</a:t>
            </a:r>
            <a:r>
              <a:rPr lang="en-US" altLang="zh-CN" b="1" dirty="0" smtClean="0"/>
              <a:t>”</a:t>
            </a:r>
            <a:r>
              <a:rPr lang="zh-CN" altLang="en-US" b="1" dirty="0" smtClean="0"/>
              <a:t>。</a:t>
            </a:r>
            <a:endParaRPr lang="en-US" altLang="zh-CN" b="1" dirty="0" smtClean="0"/>
          </a:p>
          <a:p>
            <a:r>
              <a:rPr lang="en-US" altLang="zh-CN" dirty="0"/>
              <a:t>backbone</a:t>
            </a:r>
            <a:r>
              <a:rPr lang="zh-CN" altLang="zh-CN" dirty="0"/>
              <a:t>：网络的主干特征提取网络，可以选择</a:t>
            </a:r>
            <a:r>
              <a:rPr lang="en-US" altLang="zh-CN" dirty="0"/>
              <a:t>resnet50</a:t>
            </a:r>
            <a:r>
              <a:rPr lang="zh-CN" altLang="zh-CN" dirty="0"/>
              <a:t>或</a:t>
            </a:r>
            <a:r>
              <a:rPr lang="en-US" altLang="zh-CN" dirty="0" err="1"/>
              <a:t>vgg</a:t>
            </a:r>
            <a:r>
              <a:rPr lang="zh-CN" altLang="zh-CN" dirty="0"/>
              <a:t>，也可在网上下载其他开源网络。推荐使用较为轻量级的</a:t>
            </a:r>
            <a:r>
              <a:rPr lang="en-US" altLang="zh-CN" dirty="0"/>
              <a:t>resnet50</a:t>
            </a:r>
            <a:r>
              <a:rPr lang="zh-CN" altLang="zh-CN" dirty="0"/>
              <a:t>，速度会快一些。</a:t>
            </a:r>
          </a:p>
          <a:p>
            <a:r>
              <a:rPr lang="en-US" altLang="zh-CN" dirty="0"/>
              <a:t>confidence</a:t>
            </a:r>
            <a:r>
              <a:rPr lang="zh-CN" altLang="zh-CN" dirty="0"/>
              <a:t>：检测框的置信度，默认值为</a:t>
            </a:r>
            <a:r>
              <a:rPr lang="en-US" altLang="zh-CN" dirty="0"/>
              <a:t>0.9</a:t>
            </a:r>
            <a:r>
              <a:rPr lang="zh-CN" altLang="zh-CN" dirty="0"/>
              <a:t>，大于该置信度的检测框才会被显示。由于两阶段算法精度会明显高于一阶段算法精度，阈值设置为</a:t>
            </a:r>
            <a:r>
              <a:rPr lang="en-US" altLang="zh-CN" dirty="0"/>
              <a:t>0.95</a:t>
            </a:r>
            <a:r>
              <a:rPr lang="zh-CN" altLang="zh-CN" dirty="0"/>
              <a:t>或更高的值都是合理的。</a:t>
            </a:r>
          </a:p>
          <a:p>
            <a:r>
              <a:rPr lang="en-US" altLang="zh-CN" dirty="0" err="1"/>
              <a:t>nms_iou</a:t>
            </a:r>
            <a:r>
              <a:rPr lang="zh-CN" altLang="zh-CN" dirty="0"/>
              <a:t>：非极大值抑制阈值，默认值为</a:t>
            </a:r>
            <a:r>
              <a:rPr lang="en-US" altLang="zh-CN" dirty="0"/>
              <a:t>0.3</a:t>
            </a:r>
            <a:r>
              <a:rPr lang="zh-CN" altLang="zh-CN" dirty="0"/>
              <a:t>，交并比大于该值的框将被舍弃。如果目标数量多且重叠部分较多，可适当调高该值。推荐值为</a:t>
            </a:r>
            <a:r>
              <a:rPr lang="en-US" altLang="zh-CN" dirty="0"/>
              <a:t>0.3-0.5</a:t>
            </a:r>
            <a:r>
              <a:rPr lang="zh-CN" altLang="zh-CN" dirty="0"/>
              <a:t>。</a:t>
            </a:r>
          </a:p>
          <a:p>
            <a:r>
              <a:rPr lang="en-US" altLang="zh-CN" dirty="0" err="1"/>
              <a:t>anchors_size</a:t>
            </a:r>
            <a:r>
              <a:rPr lang="zh-CN" altLang="zh-CN" dirty="0"/>
              <a:t>：先验框的大小，默认值为</a:t>
            </a:r>
            <a:r>
              <a:rPr lang="en-US" altLang="zh-CN" dirty="0"/>
              <a:t>[8,16,32]</a:t>
            </a:r>
            <a:r>
              <a:rPr lang="zh-CN" altLang="zh-CN" dirty="0"/>
              <a:t>，无需修改。 </a:t>
            </a:r>
          </a:p>
          <a:p>
            <a:r>
              <a:rPr lang="en-US" altLang="zh-CN" dirty="0" err="1"/>
              <a:t>cuda</a:t>
            </a:r>
            <a:r>
              <a:rPr lang="zh-CN" altLang="zh-CN" dirty="0"/>
              <a:t>：是否使用</a:t>
            </a:r>
            <a:r>
              <a:rPr lang="en-US" altLang="zh-CN" dirty="0" err="1"/>
              <a:t>cuda</a:t>
            </a:r>
            <a:r>
              <a:rPr lang="zh-CN" altLang="zh-CN" dirty="0"/>
              <a:t>，默认值为</a:t>
            </a:r>
            <a:r>
              <a:rPr lang="en-US" altLang="zh-CN" dirty="0"/>
              <a:t>True</a:t>
            </a:r>
            <a:r>
              <a:rPr lang="zh-CN" altLang="zh-CN" dirty="0"/>
              <a:t>，</a:t>
            </a:r>
            <a:r>
              <a:rPr lang="en-US" altLang="zh-CN" b="1" dirty="0" err="1"/>
              <a:t>cuda</a:t>
            </a:r>
            <a:r>
              <a:rPr lang="zh-CN" altLang="zh-CN" b="1" dirty="0"/>
              <a:t>只能在配置好</a:t>
            </a:r>
            <a:r>
              <a:rPr lang="en-US" altLang="zh-CN" b="1" dirty="0"/>
              <a:t>GPU</a:t>
            </a:r>
            <a:r>
              <a:rPr lang="zh-CN" altLang="zh-CN" b="1" dirty="0"/>
              <a:t>环境下使用，因此</a:t>
            </a:r>
            <a:r>
              <a:rPr lang="en-US" altLang="zh-CN" b="1" dirty="0"/>
              <a:t>CPU</a:t>
            </a:r>
            <a:r>
              <a:rPr lang="zh-CN" altLang="zh-CN" b="1" dirty="0"/>
              <a:t>版本下必须将该值改为</a:t>
            </a:r>
            <a:r>
              <a:rPr lang="en-US" altLang="zh-CN" b="1" dirty="0"/>
              <a:t>False</a:t>
            </a:r>
            <a:r>
              <a:rPr lang="zh-CN" altLang="zh-CN" b="1" dirty="0"/>
              <a:t>。在本实验中十分不推荐使用</a:t>
            </a:r>
            <a:r>
              <a:rPr lang="en-US" altLang="zh-CN" b="1" dirty="0"/>
              <a:t>CPU</a:t>
            </a:r>
            <a:r>
              <a:rPr lang="zh-CN" altLang="zh-CN" b="1" dirty="0"/>
              <a:t>！</a:t>
            </a:r>
            <a:endParaRPr lang="zh-CN" altLang="en-US" dirty="0"/>
          </a:p>
        </p:txBody>
      </p:sp>
    </p:spTree>
    <p:extLst>
      <p:ext uri="{BB962C8B-B14F-4D97-AF65-F5344CB8AC3E}">
        <p14:creationId xmlns:p14="http://schemas.microsoft.com/office/powerpoint/2010/main" val="16250413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p:txBody>
          <a:bodyPr/>
          <a:lstStyle/>
          <a:p>
            <a:r>
              <a:rPr lang="zh-CN" altLang="en-US" dirty="0" smtClean="0"/>
              <a:t>具体设置如下：</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5393" y="1391667"/>
            <a:ext cx="6499626" cy="4484238"/>
          </a:xfrm>
          <a:prstGeom prst="rect">
            <a:avLst/>
          </a:prstGeom>
        </p:spPr>
      </p:pic>
    </p:spTree>
    <p:extLst>
      <p:ext uri="{BB962C8B-B14F-4D97-AF65-F5344CB8AC3E}">
        <p14:creationId xmlns:p14="http://schemas.microsoft.com/office/powerpoint/2010/main" val="33729650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p:txBody>
          <a:bodyPr/>
          <a:lstStyle/>
          <a:p>
            <a:r>
              <a:rPr lang="zh-CN" altLang="zh-CN" dirty="0"/>
              <a:t>使用</a:t>
            </a:r>
            <a:r>
              <a:rPr lang="en-US" altLang="zh-CN" dirty="0" err="1"/>
              <a:t>Pycharm</a:t>
            </a:r>
            <a:r>
              <a:rPr lang="zh-CN" altLang="zh-CN" dirty="0"/>
              <a:t>打开</a:t>
            </a:r>
            <a:r>
              <a:rPr lang="en-US" altLang="zh-CN" dirty="0"/>
              <a:t>get_map.py</a:t>
            </a:r>
            <a:r>
              <a:rPr lang="zh-CN" altLang="zh-CN" dirty="0"/>
              <a:t>，修改其中的</a:t>
            </a:r>
            <a:r>
              <a:rPr lang="en-US" altLang="zh-CN" dirty="0" err="1"/>
              <a:t>classes_path</a:t>
            </a:r>
            <a:r>
              <a:rPr lang="zh-CN" altLang="zh-CN" dirty="0"/>
              <a:t>，改为自己的类别文件（</a:t>
            </a:r>
            <a:r>
              <a:rPr lang="en-US" altLang="zh-CN" dirty="0"/>
              <a:t>predefined_classes.txt</a:t>
            </a:r>
            <a:r>
              <a:rPr lang="zh-CN" altLang="zh-CN" dirty="0"/>
              <a:t>）</a:t>
            </a:r>
            <a:endParaRPr lang="en-US" altLang="zh-CN" dirty="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301" y="2871881"/>
            <a:ext cx="7923809" cy="1523810"/>
          </a:xfrm>
          <a:prstGeom prst="rect">
            <a:avLst/>
          </a:prstGeom>
        </p:spPr>
      </p:pic>
    </p:spTree>
    <p:extLst>
      <p:ext uri="{BB962C8B-B14F-4D97-AF65-F5344CB8AC3E}">
        <p14:creationId xmlns:p14="http://schemas.microsoft.com/office/powerpoint/2010/main" val="370650396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a:xfrm>
            <a:off x="669925" y="1130299"/>
            <a:ext cx="6018065" cy="5006975"/>
          </a:xfrm>
        </p:spPr>
        <p:txBody>
          <a:bodyPr/>
          <a:lstStyle/>
          <a:p>
            <a:r>
              <a:rPr lang="zh-CN" altLang="zh-CN" dirty="0"/>
              <a:t>全部改完之后</a:t>
            </a:r>
            <a:r>
              <a:rPr lang="zh-CN" altLang="zh-CN" dirty="0" smtClean="0"/>
              <a:t>，</a:t>
            </a:r>
            <a:r>
              <a:rPr lang="zh-CN" altLang="zh-CN" dirty="0"/>
              <a:t>运行</a:t>
            </a:r>
            <a:r>
              <a:rPr lang="en-US" altLang="zh-CN" dirty="0" smtClean="0"/>
              <a:t>get_map.py</a:t>
            </a:r>
          </a:p>
          <a:p>
            <a:r>
              <a:rPr lang="zh-CN" altLang="zh-CN" dirty="0"/>
              <a:t>模型加载需要一段时间，运行完成后会显示一张</a:t>
            </a:r>
            <a:r>
              <a:rPr lang="en-US" altLang="zh-CN" dirty="0" err="1"/>
              <a:t>mAP</a:t>
            </a:r>
            <a:r>
              <a:rPr lang="zh-CN" altLang="zh-CN" dirty="0"/>
              <a:t>柱状图，列举了各种类检测的</a:t>
            </a:r>
            <a:r>
              <a:rPr lang="en-US" altLang="zh-CN" dirty="0" err="1"/>
              <a:t>mAP</a:t>
            </a:r>
            <a:r>
              <a:rPr lang="zh-CN" altLang="zh-CN" dirty="0" smtClean="0"/>
              <a:t>。</a:t>
            </a:r>
            <a:endParaRPr lang="en-US" altLang="zh-CN" dirty="0" smtClean="0"/>
          </a:p>
          <a:p>
            <a:pPr lvl="1"/>
            <a:r>
              <a:rPr lang="zh-CN" altLang="zh-CN" dirty="0"/>
              <a:t>注：由于数据集随机划分，每次训练评估的模型性能会有较小的偏差。</a:t>
            </a:r>
          </a:p>
          <a:p>
            <a:r>
              <a:rPr lang="zh-CN" altLang="zh-CN" dirty="0" smtClean="0"/>
              <a:t>此外</a:t>
            </a:r>
            <a:r>
              <a:rPr lang="zh-CN" altLang="zh-CN" dirty="0"/>
              <a:t>还会生成一个</a:t>
            </a:r>
            <a:r>
              <a:rPr lang="en-US" altLang="zh-CN" dirty="0" err="1"/>
              <a:t>map_out</a:t>
            </a:r>
            <a:r>
              <a:rPr lang="zh-CN" altLang="zh-CN" dirty="0"/>
              <a:t>文件夹，包含模型在测试集上的测试结果。</a:t>
            </a:r>
          </a:p>
          <a:p>
            <a:endParaRPr lang="zh-CN" altLang="zh-CN" dirty="0"/>
          </a:p>
          <a:p>
            <a:endParaRPr lang="zh-CN"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smtClean="0"/>
          </a:p>
          <a:p>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8908" y="1130299"/>
            <a:ext cx="4570660" cy="5006975"/>
          </a:xfrm>
          <a:prstGeom prst="rect">
            <a:avLst/>
          </a:prstGeom>
        </p:spPr>
      </p:pic>
    </p:spTree>
    <p:extLst>
      <p:ext uri="{BB962C8B-B14F-4D97-AF65-F5344CB8AC3E}">
        <p14:creationId xmlns:p14="http://schemas.microsoft.com/office/powerpoint/2010/main" val="141583728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p:txBody>
          <a:bodyPr/>
          <a:lstStyle/>
          <a:p>
            <a:r>
              <a:rPr lang="zh-CN" altLang="zh-CN" dirty="0" smtClean="0"/>
              <a:t>打开</a:t>
            </a:r>
            <a:r>
              <a:rPr lang="zh-CN" altLang="zh-CN" dirty="0"/>
              <a:t>其中的</a:t>
            </a:r>
            <a:r>
              <a:rPr lang="en-US" altLang="zh-CN" dirty="0"/>
              <a:t>results</a:t>
            </a:r>
            <a:r>
              <a:rPr lang="zh-CN" altLang="zh-CN" dirty="0"/>
              <a:t>文件夹，可以获取更多评估模型的参数如</a:t>
            </a:r>
            <a:r>
              <a:rPr lang="en-US" altLang="zh-CN" dirty="0"/>
              <a:t>F1</a:t>
            </a:r>
            <a:r>
              <a:rPr lang="zh-CN" altLang="zh-CN" dirty="0"/>
              <a:t>、</a:t>
            </a:r>
            <a:r>
              <a:rPr lang="en-US" altLang="zh-CN" dirty="0" err="1"/>
              <a:t>mAP</a:t>
            </a:r>
            <a:r>
              <a:rPr lang="zh-CN" altLang="zh-CN" dirty="0"/>
              <a:t>等</a:t>
            </a:r>
            <a:r>
              <a:rPr lang="zh-CN" altLang="zh-CN" dirty="0" smtClean="0"/>
              <a:t>。</a:t>
            </a:r>
            <a:endParaRPr lang="en-US" altLang="zh-CN" dirty="0" smtClean="0"/>
          </a:p>
          <a:p>
            <a:r>
              <a:rPr lang="en-US" altLang="zh-CN" dirty="0"/>
              <a:t>AP</a:t>
            </a:r>
            <a:r>
              <a:rPr lang="zh-CN" altLang="zh-CN" dirty="0"/>
              <a:t>文件夹下，根据</a:t>
            </a:r>
            <a:r>
              <a:rPr lang="en-US" altLang="zh-CN" dirty="0"/>
              <a:t>AP</a:t>
            </a:r>
            <a:r>
              <a:rPr lang="zh-CN" altLang="zh-CN" dirty="0"/>
              <a:t>的计算公式，围成的面积越大说明模型对该类目标的检测效果越</a:t>
            </a:r>
            <a:r>
              <a:rPr lang="zh-CN" altLang="zh-CN" dirty="0" smtClean="0"/>
              <a:t>好</a:t>
            </a:r>
            <a:r>
              <a:rPr lang="zh-CN" altLang="en-US"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F1</a:t>
            </a:r>
            <a:r>
              <a:rPr lang="zh-CN" altLang="zh-CN" dirty="0"/>
              <a:t>文件夹下，在</a:t>
            </a:r>
            <a:r>
              <a:rPr lang="en-US" altLang="zh-CN" dirty="0"/>
              <a:t>F1</a:t>
            </a:r>
            <a:r>
              <a:rPr lang="zh-CN" altLang="zh-CN" dirty="0"/>
              <a:t>图中，横坐标为检测的阈值，纵坐标为</a:t>
            </a:r>
            <a:r>
              <a:rPr lang="en-US" altLang="zh-CN" dirty="0"/>
              <a:t>F1</a:t>
            </a:r>
            <a:r>
              <a:rPr lang="zh-CN" altLang="zh-CN" dirty="0"/>
              <a:t>值，选取的阈值下</a:t>
            </a:r>
            <a:r>
              <a:rPr lang="en-US" altLang="zh-CN" dirty="0"/>
              <a:t>F1</a:t>
            </a:r>
            <a:r>
              <a:rPr lang="zh-CN" altLang="zh-CN" dirty="0"/>
              <a:t>值越高模型越优，</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1890" y="2180416"/>
            <a:ext cx="4866629" cy="1624534"/>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1890" y="4511878"/>
            <a:ext cx="4866629" cy="1522130"/>
          </a:xfrm>
          <a:prstGeom prst="rect">
            <a:avLst/>
          </a:prstGeom>
        </p:spPr>
      </p:pic>
    </p:spTree>
    <p:extLst>
      <p:ext uri="{BB962C8B-B14F-4D97-AF65-F5344CB8AC3E}">
        <p14:creationId xmlns:p14="http://schemas.microsoft.com/office/powerpoint/2010/main" val="52157873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评估模型</a:t>
            </a:r>
            <a:endParaRPr lang="zh-CN" altLang="en-US" dirty="0"/>
          </a:p>
        </p:txBody>
      </p:sp>
      <p:sp>
        <p:nvSpPr>
          <p:cNvPr id="3" name="内容占位符 2"/>
          <p:cNvSpPr>
            <a:spLocks noGrp="1"/>
          </p:cNvSpPr>
          <p:nvPr>
            <p:ph sz="quarter" idx="13"/>
          </p:nvPr>
        </p:nvSpPr>
        <p:spPr/>
        <p:txBody>
          <a:bodyPr/>
          <a:lstStyle/>
          <a:p>
            <a:r>
              <a:rPr lang="en-US" altLang="zh-CN" dirty="0" smtClean="0"/>
              <a:t>mAP.png</a:t>
            </a:r>
            <a:r>
              <a:rPr lang="zh-CN" altLang="zh-CN" dirty="0"/>
              <a:t>与之前运行指令时出现的一样，通常以该图作为评估整个模型的标准，如果出现某一类目标的检测结果特别差，通常先考虑更换该类目标的数据集重新训练，而不是更改算法。一般来说，通过自己制作的小数据集训练的模型，</a:t>
            </a:r>
            <a:r>
              <a:rPr lang="en-US" altLang="zh-CN" dirty="0" err="1"/>
              <a:t>mAP</a:t>
            </a:r>
            <a:r>
              <a:rPr lang="zh-CN" altLang="zh-CN" dirty="0"/>
              <a:t>通常要达到</a:t>
            </a:r>
            <a:r>
              <a:rPr lang="en-US" altLang="zh-CN" dirty="0"/>
              <a:t>90%</a:t>
            </a:r>
            <a:r>
              <a:rPr lang="zh-CN" altLang="zh-CN" dirty="0"/>
              <a:t>甚至</a:t>
            </a:r>
            <a:r>
              <a:rPr lang="en-US" altLang="zh-CN" dirty="0"/>
              <a:t>95%</a:t>
            </a:r>
            <a:r>
              <a:rPr lang="zh-CN" altLang="zh-CN" dirty="0" smtClean="0"/>
              <a:t>以上</a:t>
            </a:r>
            <a:r>
              <a:rPr lang="zh-CN" altLang="en-US" dirty="0" smtClean="0"/>
              <a:t>。</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96457" y="2534808"/>
            <a:ext cx="7206142" cy="3589336"/>
          </a:xfrm>
          <a:prstGeom prst="rect">
            <a:avLst/>
          </a:prstGeom>
        </p:spPr>
      </p:pic>
    </p:spTree>
    <p:extLst>
      <p:ext uri="{BB962C8B-B14F-4D97-AF65-F5344CB8AC3E}">
        <p14:creationId xmlns:p14="http://schemas.microsoft.com/office/powerpoint/2010/main" val="8224287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1158181680"/>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181278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dirty="0"/>
              <a:t>接下来我们利用训练的模型进行图像</a:t>
            </a:r>
            <a:r>
              <a:rPr lang="en-US" altLang="zh-CN" dirty="0"/>
              <a:t>/</a:t>
            </a:r>
            <a:r>
              <a:rPr lang="zh-CN" altLang="zh-CN" dirty="0"/>
              <a:t>视频检测，打开</a:t>
            </a:r>
            <a:r>
              <a:rPr lang="en-US" altLang="zh-CN" dirty="0"/>
              <a:t>predict.py</a:t>
            </a:r>
            <a:r>
              <a:rPr lang="zh-CN" altLang="zh-CN" dirty="0"/>
              <a:t>，修改检测模式</a:t>
            </a:r>
            <a:r>
              <a:rPr lang="en-US" altLang="zh-CN" dirty="0"/>
              <a:t>mode</a:t>
            </a:r>
            <a:r>
              <a:rPr lang="zh-CN" altLang="zh-CN" dirty="0"/>
              <a:t>：</a:t>
            </a:r>
          </a:p>
          <a:p>
            <a:pPr lvl="1"/>
            <a:r>
              <a:rPr lang="en-US" altLang="zh-CN" dirty="0"/>
              <a:t>mode = “predict”</a:t>
            </a:r>
            <a:r>
              <a:rPr lang="zh-CN" altLang="zh-CN" dirty="0"/>
              <a:t>：检测单张图片。 </a:t>
            </a:r>
          </a:p>
          <a:p>
            <a:pPr lvl="1"/>
            <a:r>
              <a:rPr lang="en-US" altLang="zh-CN" dirty="0"/>
              <a:t>mode = “video”</a:t>
            </a:r>
            <a:r>
              <a:rPr lang="zh-CN" altLang="zh-CN" dirty="0"/>
              <a:t>：检测已有视频或连接摄像头进行实时检测。</a:t>
            </a:r>
          </a:p>
          <a:p>
            <a:pPr lvl="1"/>
            <a:r>
              <a:rPr lang="en-US" altLang="zh-CN" dirty="0"/>
              <a:t>mode = “fps”</a:t>
            </a:r>
            <a:r>
              <a:rPr lang="zh-CN" altLang="zh-CN" dirty="0"/>
              <a:t>：使用单张图片测试模型的</a:t>
            </a:r>
            <a:r>
              <a:rPr lang="en-US" altLang="zh-CN" dirty="0"/>
              <a:t>fps</a:t>
            </a:r>
            <a:r>
              <a:rPr lang="zh-CN" altLang="zh-CN" dirty="0"/>
              <a:t>，即测试模型检测一张图片所需的时间。</a:t>
            </a:r>
          </a:p>
          <a:p>
            <a:pPr lvl="1"/>
            <a:r>
              <a:rPr lang="en-US" altLang="zh-CN" dirty="0"/>
              <a:t>mode = “</a:t>
            </a:r>
            <a:r>
              <a:rPr lang="en-US" altLang="zh-CN" dirty="0" err="1"/>
              <a:t>dir_predict</a:t>
            </a:r>
            <a:r>
              <a:rPr lang="en-US" altLang="zh-CN" dirty="0"/>
              <a:t>”</a:t>
            </a:r>
            <a:r>
              <a:rPr lang="zh-CN" altLang="zh-CN" dirty="0"/>
              <a:t>：遍历</a:t>
            </a:r>
            <a:r>
              <a:rPr lang="en-US" altLang="zh-CN" dirty="0" err="1"/>
              <a:t>img</a:t>
            </a:r>
            <a:r>
              <a:rPr lang="zh-CN" altLang="zh-CN" dirty="0"/>
              <a:t>文件夹下所有图片进行检测，结果保存在</a:t>
            </a:r>
            <a:r>
              <a:rPr lang="en-US" altLang="zh-CN" dirty="0" err="1"/>
              <a:t>img_out</a:t>
            </a:r>
            <a:r>
              <a:rPr lang="zh-CN" altLang="zh-CN" dirty="0"/>
              <a:t>文件夹下。</a:t>
            </a:r>
          </a:p>
          <a:p>
            <a:r>
              <a:rPr lang="zh-CN" altLang="zh-CN" dirty="0" smtClean="0"/>
              <a:t>相比</a:t>
            </a:r>
            <a:r>
              <a:rPr lang="zh-CN" altLang="zh-CN" dirty="0"/>
              <a:t>于一阶段算法，减少了热力图显示与</a:t>
            </a:r>
            <a:r>
              <a:rPr lang="en-US" altLang="zh-CN" dirty="0" err="1"/>
              <a:t>onnx</a:t>
            </a:r>
            <a:r>
              <a:rPr lang="zh-CN" altLang="zh-CN" dirty="0"/>
              <a:t>模型转换的功能</a:t>
            </a:r>
            <a:r>
              <a:rPr lang="zh-CN" altLang="zh-CN" dirty="0" smtClean="0"/>
              <a:t>。</a:t>
            </a:r>
            <a:endParaRPr lang="en-US" altLang="zh-CN" dirty="0" smtClean="0"/>
          </a:p>
          <a:p>
            <a:endParaRPr lang="zh-CN" altLang="zh-CN" dirty="0"/>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5012" y="3499844"/>
            <a:ext cx="6580387" cy="2637430"/>
          </a:xfrm>
          <a:prstGeom prst="rect">
            <a:avLst/>
          </a:prstGeom>
        </p:spPr>
      </p:pic>
    </p:spTree>
    <p:extLst>
      <p:ext uri="{BB962C8B-B14F-4D97-AF65-F5344CB8AC3E}">
        <p14:creationId xmlns:p14="http://schemas.microsoft.com/office/powerpoint/2010/main" val="92671720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b="1" dirty="0"/>
              <a:t>修改</a:t>
            </a:r>
            <a:r>
              <a:rPr lang="en-US" altLang="zh-CN" b="1" dirty="0"/>
              <a:t>mode = “predict”</a:t>
            </a:r>
            <a:r>
              <a:rPr lang="zh-CN" altLang="zh-CN" dirty="0"/>
              <a:t>；运行</a:t>
            </a:r>
            <a:r>
              <a:rPr lang="en-US" altLang="zh-CN" dirty="0"/>
              <a:t>predict.py</a:t>
            </a:r>
            <a:r>
              <a:rPr lang="zh-CN" altLang="zh-CN" dirty="0"/>
              <a:t>：</a:t>
            </a:r>
          </a:p>
          <a:p>
            <a:r>
              <a:rPr lang="zh-CN" altLang="zh-CN" dirty="0"/>
              <a:t>在</a:t>
            </a:r>
            <a:r>
              <a:rPr lang="en-US" altLang="zh-CN" dirty="0"/>
              <a:t>“Input image filename</a:t>
            </a:r>
            <a:r>
              <a:rPr lang="zh-CN" altLang="zh-CN" dirty="0"/>
              <a:t>：</a:t>
            </a:r>
            <a:r>
              <a:rPr lang="en-US" altLang="zh-CN" dirty="0"/>
              <a:t>”</a:t>
            </a:r>
            <a:r>
              <a:rPr lang="zh-CN" altLang="zh-CN" dirty="0"/>
              <a:t>后输入待检测图片路径并回车，这里就以</a:t>
            </a:r>
            <a:r>
              <a:rPr lang="en-US" altLang="zh-CN" dirty="0" err="1"/>
              <a:t>img</a:t>
            </a:r>
            <a:r>
              <a:rPr lang="en-US" altLang="zh-CN" dirty="0"/>
              <a:t>/street.jpg</a:t>
            </a:r>
            <a:r>
              <a:rPr lang="zh-CN" altLang="zh-CN" dirty="0"/>
              <a:t>为例：</a:t>
            </a:r>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pPr lvl="1"/>
            <a:endParaRPr lang="en-US" altLang="zh-CN" dirty="0" smtClean="0"/>
          </a:p>
          <a:p>
            <a:endParaRPr lang="zh-CN" altLang="zh-CN" dirty="0"/>
          </a:p>
          <a:p>
            <a:endParaRPr lang="zh-CN" altLang="zh-CN" dirty="0"/>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0920" y="2033786"/>
            <a:ext cx="6428571" cy="3200000"/>
          </a:xfrm>
          <a:prstGeom prst="rect">
            <a:avLst/>
          </a:prstGeom>
        </p:spPr>
      </p:pic>
    </p:spTree>
    <p:extLst>
      <p:ext uri="{BB962C8B-B14F-4D97-AF65-F5344CB8AC3E}">
        <p14:creationId xmlns:p14="http://schemas.microsoft.com/office/powerpoint/2010/main" val="396766131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b="1" dirty="0"/>
              <a:t>修改</a:t>
            </a:r>
            <a:r>
              <a:rPr lang="en-US" altLang="zh-CN" b="1" dirty="0"/>
              <a:t>mode = “video”</a:t>
            </a:r>
            <a:r>
              <a:rPr lang="zh-CN" altLang="zh-CN" dirty="0" smtClean="0"/>
              <a:t>；</a:t>
            </a:r>
            <a:r>
              <a:rPr lang="zh-CN" altLang="zh-CN" dirty="0"/>
              <a:t>将</a:t>
            </a:r>
            <a:r>
              <a:rPr lang="en-US" altLang="zh-CN" dirty="0"/>
              <a:t>predict.py</a:t>
            </a:r>
            <a:r>
              <a:rPr lang="zh-CN" altLang="zh-CN" dirty="0"/>
              <a:t>中的</a:t>
            </a:r>
            <a:r>
              <a:rPr lang="en-US" altLang="zh-CN" dirty="0" err="1"/>
              <a:t>video_path</a:t>
            </a:r>
            <a:r>
              <a:rPr lang="zh-CN" altLang="zh-CN" dirty="0"/>
              <a:t>值修改为</a:t>
            </a:r>
            <a:r>
              <a:rPr lang="en-US" altLang="zh-CN" dirty="0"/>
              <a:t>IPC</a:t>
            </a:r>
            <a:r>
              <a:rPr lang="zh-CN" altLang="zh-CN" dirty="0"/>
              <a:t>视频流，视频流的输入地址根据实际情况修改，具体修改方式为</a:t>
            </a:r>
            <a:r>
              <a:rPr lang="zh-CN" altLang="zh-CN" dirty="0" smtClean="0"/>
              <a:t>：</a:t>
            </a:r>
            <a:endParaRPr lang="en-US" altLang="zh-CN" dirty="0" smtClean="0"/>
          </a:p>
          <a:p>
            <a:pPr lvl="1"/>
            <a:r>
              <a:rPr lang="en-US" altLang="zh-CN" dirty="0"/>
              <a:t>rtsp://&lt;</a:t>
            </a:r>
            <a:r>
              <a:rPr lang="zh-CN" altLang="zh-CN" dirty="0"/>
              <a:t>用户名</a:t>
            </a:r>
            <a:r>
              <a:rPr lang="en-US" altLang="zh-CN" dirty="0"/>
              <a:t>&gt;:&lt;</a:t>
            </a:r>
            <a:r>
              <a:rPr lang="zh-CN" altLang="zh-CN" dirty="0"/>
              <a:t>密码</a:t>
            </a:r>
            <a:r>
              <a:rPr lang="en-US" altLang="zh-CN" dirty="0"/>
              <a:t>&gt;@&lt;IP&gt;/</a:t>
            </a:r>
            <a:r>
              <a:rPr lang="en-US" altLang="zh-CN" dirty="0" smtClean="0"/>
              <a:t>Streaming/Channels/101</a:t>
            </a:r>
            <a:endParaRPr lang="en-US" altLang="zh-CN" dirty="0"/>
          </a:p>
          <a:p>
            <a:endParaRPr lang="en-US" altLang="zh-CN" dirty="0" smtClean="0"/>
          </a:p>
          <a:p>
            <a:endParaRPr lang="en-US" altLang="zh-CN" dirty="0"/>
          </a:p>
          <a:p>
            <a:endParaRPr lang="en-US" altLang="zh-CN" dirty="0" smtClean="0"/>
          </a:p>
          <a:p>
            <a:endParaRPr lang="en-US" altLang="zh-CN" dirty="0"/>
          </a:p>
          <a:p>
            <a:endParaRPr lang="zh-CN" altLang="zh-CN" dirty="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4253" y="3143310"/>
            <a:ext cx="6761905" cy="980952"/>
          </a:xfrm>
          <a:prstGeom prst="rect">
            <a:avLst/>
          </a:prstGeom>
        </p:spPr>
      </p:pic>
    </p:spTree>
    <p:extLst>
      <p:ext uri="{BB962C8B-B14F-4D97-AF65-F5344CB8AC3E}">
        <p14:creationId xmlns:p14="http://schemas.microsoft.com/office/powerpoint/2010/main" val="102119000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b="1" dirty="0"/>
              <a:t>修改</a:t>
            </a:r>
            <a:r>
              <a:rPr lang="en-US" altLang="zh-CN" b="1" dirty="0"/>
              <a:t>mode = “video</a:t>
            </a:r>
            <a:r>
              <a:rPr lang="en-US" altLang="zh-CN" b="1" dirty="0" smtClean="0"/>
              <a:t>”</a:t>
            </a:r>
            <a:r>
              <a:rPr lang="zh-CN" altLang="en-US" b="1" dirty="0" smtClean="0"/>
              <a:t>，</a:t>
            </a:r>
            <a:r>
              <a:rPr lang="en-US" altLang="zh-CN" dirty="0" err="1" smtClean="0"/>
              <a:t>video_path</a:t>
            </a:r>
            <a:r>
              <a:rPr lang="zh-CN" altLang="en-US" dirty="0" smtClean="0"/>
              <a:t>修改完毕后，</a:t>
            </a:r>
            <a:r>
              <a:rPr lang="zh-CN" altLang="zh-CN" dirty="0"/>
              <a:t>运行</a:t>
            </a:r>
            <a:r>
              <a:rPr lang="en-US" altLang="zh-CN" dirty="0"/>
              <a:t>predict.py</a:t>
            </a:r>
            <a:r>
              <a:rPr lang="zh-CN" altLang="zh-CN" dirty="0"/>
              <a:t>，会显示当前</a:t>
            </a:r>
            <a:r>
              <a:rPr lang="en-US" altLang="zh-CN" dirty="0"/>
              <a:t>IPC</a:t>
            </a:r>
            <a:r>
              <a:rPr lang="zh-CN" altLang="zh-CN" dirty="0"/>
              <a:t>的检测</a:t>
            </a:r>
            <a:r>
              <a:rPr lang="zh-CN" altLang="zh-CN" dirty="0" smtClean="0"/>
              <a:t>画面</a:t>
            </a:r>
            <a:r>
              <a:rPr lang="zh-CN" altLang="en-US" dirty="0" smtClean="0"/>
              <a:t>：</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4728" y="1671277"/>
            <a:ext cx="8240956" cy="4463851"/>
          </a:xfrm>
          <a:prstGeom prst="rect">
            <a:avLst/>
          </a:prstGeom>
        </p:spPr>
      </p:pic>
    </p:spTree>
    <p:extLst>
      <p:ext uri="{BB962C8B-B14F-4D97-AF65-F5344CB8AC3E}">
        <p14:creationId xmlns:p14="http://schemas.microsoft.com/office/powerpoint/2010/main" val="21718534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dirty="0"/>
              <a:t>在主机性能不佳的情况下，由于</a:t>
            </a:r>
            <a:r>
              <a:rPr lang="en-US" altLang="zh-CN" dirty="0"/>
              <a:t>IPC</a:t>
            </a:r>
            <a:r>
              <a:rPr lang="zh-CN" altLang="zh-CN" dirty="0"/>
              <a:t>传输的画面分辨率较高，执行两阶段检测算法会明显卡顿。这里将</a:t>
            </a:r>
            <a:r>
              <a:rPr lang="en-US" altLang="zh-CN" dirty="0" err="1"/>
              <a:t>frameinterval</a:t>
            </a:r>
            <a:r>
              <a:rPr lang="zh-CN" altLang="zh-CN" dirty="0"/>
              <a:t>设置为</a:t>
            </a:r>
            <a:r>
              <a:rPr lang="en-US" altLang="zh-CN" dirty="0"/>
              <a:t>75</a:t>
            </a:r>
            <a:r>
              <a:rPr lang="zh-CN" altLang="zh-CN" dirty="0"/>
              <a:t>，即每</a:t>
            </a:r>
            <a:r>
              <a:rPr lang="en-US" altLang="zh-CN" dirty="0"/>
              <a:t>75</a:t>
            </a:r>
            <a:r>
              <a:rPr lang="zh-CN" altLang="zh-CN" dirty="0"/>
              <a:t>帧（即</a:t>
            </a:r>
            <a:r>
              <a:rPr lang="en-US" altLang="zh-CN" dirty="0"/>
              <a:t>3</a:t>
            </a:r>
            <a:r>
              <a:rPr lang="zh-CN" altLang="zh-CN" dirty="0"/>
              <a:t>秒）图像调用一次模型进行检测，可根据实际情况更改该值。实际投入生产使用过程中，需要配合高性能的设备以满足流畅的检测效果</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zh-CN" dirty="0"/>
              <a:t>如果只想截取检测结果的某一帧，在弹出的</a:t>
            </a:r>
            <a:r>
              <a:rPr lang="en-US" altLang="zh-CN" dirty="0"/>
              <a:t>video</a:t>
            </a:r>
            <a:r>
              <a:rPr lang="zh-CN" altLang="zh-CN" dirty="0"/>
              <a:t>界面中按</a:t>
            </a:r>
            <a:r>
              <a:rPr lang="en-US" altLang="zh-CN" dirty="0"/>
              <a:t>“s”</a:t>
            </a:r>
            <a:r>
              <a:rPr lang="zh-CN" altLang="zh-CN" dirty="0"/>
              <a:t>或空格键，该帧画面便保存在根目录下新建的文件夹</a:t>
            </a:r>
            <a:r>
              <a:rPr lang="en-US" altLang="zh-CN" dirty="0" err="1"/>
              <a:t>video_img</a:t>
            </a:r>
            <a:r>
              <a:rPr lang="zh-CN" altLang="zh-CN" dirty="0"/>
              <a:t>中。按</a:t>
            </a:r>
            <a:r>
              <a:rPr lang="en-US" altLang="zh-CN" dirty="0"/>
              <a:t>“q”</a:t>
            </a:r>
            <a:r>
              <a:rPr lang="zh-CN" altLang="zh-CN" dirty="0"/>
              <a:t>或</a:t>
            </a:r>
            <a:r>
              <a:rPr lang="en-US" altLang="zh-CN" dirty="0"/>
              <a:t>“esc”</a:t>
            </a:r>
            <a:r>
              <a:rPr lang="zh-CN" altLang="zh-CN" dirty="0"/>
              <a:t>键关闭</a:t>
            </a:r>
            <a:r>
              <a:rPr lang="en-US" altLang="zh-CN" dirty="0"/>
              <a:t>video</a:t>
            </a:r>
            <a:r>
              <a:rPr lang="zh-CN" altLang="zh-CN" dirty="0"/>
              <a:t>界面，程序停止运行</a:t>
            </a:r>
            <a:r>
              <a:rPr lang="zh-CN" altLang="zh-CN" dirty="0" smtClean="0"/>
              <a:t>。</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8539" y="2714738"/>
            <a:ext cx="5533333" cy="1838095"/>
          </a:xfrm>
          <a:prstGeom prst="rect">
            <a:avLst/>
          </a:prstGeom>
        </p:spPr>
      </p:pic>
    </p:spTree>
    <p:extLst>
      <p:ext uri="{BB962C8B-B14F-4D97-AF65-F5344CB8AC3E}">
        <p14:creationId xmlns:p14="http://schemas.microsoft.com/office/powerpoint/2010/main" val="40246325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测试模型</a:t>
            </a:r>
            <a:endParaRPr lang="zh-CN" altLang="en-US" dirty="0"/>
          </a:p>
        </p:txBody>
      </p:sp>
      <p:sp>
        <p:nvSpPr>
          <p:cNvPr id="3" name="内容占位符 2"/>
          <p:cNvSpPr>
            <a:spLocks noGrp="1"/>
          </p:cNvSpPr>
          <p:nvPr>
            <p:ph sz="quarter" idx="13"/>
          </p:nvPr>
        </p:nvSpPr>
        <p:spPr/>
        <p:txBody>
          <a:bodyPr/>
          <a:lstStyle/>
          <a:p>
            <a:r>
              <a:rPr lang="zh-CN" altLang="zh-CN" b="1" dirty="0" smtClean="0"/>
              <a:t>修改</a:t>
            </a:r>
            <a:r>
              <a:rPr lang="en-US" altLang="zh-CN" b="1" dirty="0"/>
              <a:t>mode = “fps”</a:t>
            </a:r>
            <a:r>
              <a:rPr lang="zh-CN" altLang="zh-CN" dirty="0" smtClean="0"/>
              <a:t>，</a:t>
            </a:r>
            <a:r>
              <a:rPr lang="zh-CN" altLang="zh-CN" dirty="0"/>
              <a:t>修改使用的图片路径，默认为</a:t>
            </a:r>
            <a:r>
              <a:rPr lang="en-US" altLang="zh-CN" dirty="0" err="1"/>
              <a:t>img</a:t>
            </a:r>
            <a:r>
              <a:rPr lang="en-US" altLang="zh-CN" dirty="0"/>
              <a:t>/street.jpg</a:t>
            </a:r>
            <a:r>
              <a:rPr lang="zh-CN" altLang="zh-CN" dirty="0"/>
              <a:t>，</a:t>
            </a:r>
            <a:r>
              <a:rPr lang="zh-CN" altLang="zh-CN" dirty="0" smtClean="0"/>
              <a:t>运行</a:t>
            </a:r>
            <a:r>
              <a:rPr lang="en-US" altLang="zh-CN" dirty="0"/>
              <a:t>predict.py</a:t>
            </a:r>
            <a:r>
              <a:rPr lang="zh-CN" altLang="zh-CN" dirty="0" smtClean="0"/>
              <a:t>。</a:t>
            </a:r>
            <a:endParaRPr lang="en-US" altLang="zh-CN" dirty="0" smtClean="0"/>
          </a:p>
          <a:p>
            <a:endParaRPr lang="en-US" altLang="zh-CN" dirty="0"/>
          </a:p>
          <a:p>
            <a:endParaRPr lang="en-US" altLang="zh-CN" dirty="0" smtClean="0"/>
          </a:p>
          <a:p>
            <a:endParaRPr lang="zh-CN" altLang="zh-CN" dirty="0"/>
          </a:p>
          <a:p>
            <a:endParaRPr lang="en-US" altLang="zh-CN" dirty="0" smtClean="0"/>
          </a:p>
          <a:p>
            <a:r>
              <a:rPr lang="zh-CN" altLang="zh-CN" dirty="0" smtClean="0"/>
              <a:t>结果</a:t>
            </a:r>
            <a:r>
              <a:rPr lang="zh-CN" altLang="zh-CN" dirty="0"/>
              <a:t>将直接在终端出现。</a:t>
            </a:r>
          </a:p>
          <a:p>
            <a:r>
              <a:rPr lang="zh-CN" altLang="zh-CN" b="1" dirty="0"/>
              <a:t>修改</a:t>
            </a:r>
            <a:r>
              <a:rPr lang="en-US" altLang="zh-CN" b="1" dirty="0"/>
              <a:t>mode = “</a:t>
            </a:r>
            <a:r>
              <a:rPr lang="en-US" altLang="zh-CN" b="1" dirty="0" err="1"/>
              <a:t>dir_predict</a:t>
            </a:r>
            <a:r>
              <a:rPr lang="en-US" altLang="zh-CN" b="1" dirty="0"/>
              <a:t>”</a:t>
            </a:r>
            <a:r>
              <a:rPr lang="zh-CN" altLang="zh-CN" dirty="0"/>
              <a:t>，运行</a:t>
            </a:r>
            <a:r>
              <a:rPr lang="en-US" altLang="zh-CN" dirty="0"/>
              <a:t>predict.py</a:t>
            </a:r>
            <a:r>
              <a:rPr lang="zh-CN" altLang="zh-CN" dirty="0"/>
              <a:t>。</a:t>
            </a:r>
          </a:p>
          <a:p>
            <a:r>
              <a:rPr lang="zh-CN" altLang="zh-CN" dirty="0"/>
              <a:t>结果将在一个新的文件夹</a:t>
            </a:r>
            <a:r>
              <a:rPr lang="en-US" altLang="zh-CN" dirty="0" err="1"/>
              <a:t>img_out</a:t>
            </a:r>
            <a:r>
              <a:rPr lang="zh-CN" altLang="zh-CN" dirty="0"/>
              <a:t>下出现。</a:t>
            </a:r>
          </a:p>
          <a:p>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7111" y="1634264"/>
            <a:ext cx="7476190" cy="1800000"/>
          </a:xfrm>
          <a:prstGeom prst="rect">
            <a:avLst/>
          </a:prstGeom>
        </p:spPr>
      </p:pic>
    </p:spTree>
    <p:extLst>
      <p:ext uri="{BB962C8B-B14F-4D97-AF65-F5344CB8AC3E}">
        <p14:creationId xmlns:p14="http://schemas.microsoft.com/office/powerpoint/2010/main" val="356952802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最终采用的模型文件为</a:t>
            </a:r>
            <a:r>
              <a:rPr lang="en-US" altLang="zh-CN" dirty="0" err="1"/>
              <a:t>best_epoch_weights.pth</a:t>
            </a:r>
            <a:r>
              <a:rPr lang="zh-CN" altLang="zh-CN" dirty="0"/>
              <a:t>。</a:t>
            </a:r>
          </a:p>
          <a:p>
            <a:r>
              <a:rPr lang="zh-CN" altLang="zh-CN" dirty="0"/>
              <a:t>使用单张图片进行检测（</a:t>
            </a:r>
            <a:r>
              <a:rPr lang="en-US" altLang="zh-CN" dirty="0"/>
              <a:t>mode = “predict”</a:t>
            </a:r>
            <a:r>
              <a:rPr lang="zh-CN" altLang="zh-CN" dirty="0"/>
              <a:t>），这里以自带的</a:t>
            </a:r>
            <a:r>
              <a:rPr lang="en-US" altLang="zh-CN" dirty="0" err="1"/>
              <a:t>img</a:t>
            </a:r>
            <a:r>
              <a:rPr lang="en-US" altLang="zh-CN" dirty="0"/>
              <a:t>/street.jpg</a:t>
            </a:r>
            <a:r>
              <a:rPr lang="zh-CN" altLang="zh-CN" dirty="0"/>
              <a:t>为例，检测结果如下图：</a:t>
            </a:r>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7132" y="2179135"/>
            <a:ext cx="3956146" cy="3956146"/>
          </a:xfrm>
          <a:prstGeom prst="rect">
            <a:avLst/>
          </a:prstGeom>
        </p:spPr>
      </p:pic>
    </p:spTree>
    <p:extLst>
      <p:ext uri="{BB962C8B-B14F-4D97-AF65-F5344CB8AC3E}">
        <p14:creationId xmlns:p14="http://schemas.microsoft.com/office/powerpoint/2010/main" val="247348431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换成一张更符合检测标准的图片</a:t>
            </a:r>
            <a:r>
              <a:rPr lang="en-US" altLang="zh-CN" dirty="0" err="1"/>
              <a:t>img</a:t>
            </a:r>
            <a:r>
              <a:rPr lang="en-US" altLang="zh-CN" dirty="0"/>
              <a:t>/test1.jpg</a:t>
            </a:r>
            <a:r>
              <a:rPr lang="zh-CN" altLang="zh-CN" dirty="0"/>
              <a:t>进行检测</a:t>
            </a:r>
            <a:r>
              <a:rPr lang="zh-CN" altLang="en-US" dirty="0" smtClean="0"/>
              <a:t>：</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9894" y="1799303"/>
            <a:ext cx="7690623" cy="4337971"/>
          </a:xfrm>
          <a:prstGeom prst="rect">
            <a:avLst/>
          </a:prstGeom>
        </p:spPr>
      </p:pic>
    </p:spTree>
    <p:extLst>
      <p:ext uri="{BB962C8B-B14F-4D97-AF65-F5344CB8AC3E}">
        <p14:creationId xmlns:p14="http://schemas.microsoft.com/office/powerpoint/2010/main" val="30980423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使用摄像头进行实时检测（</a:t>
            </a:r>
            <a:r>
              <a:rPr lang="en-US" altLang="zh-CN" dirty="0"/>
              <a:t>mode = “video”</a:t>
            </a:r>
            <a:r>
              <a:rPr lang="zh-CN" altLang="zh-CN" dirty="0"/>
              <a:t>），检测结果如下图（某一时刻的截图）：</a:t>
            </a:r>
          </a:p>
          <a:p>
            <a:endParaRPr lang="zh-CN" altLang="en-US" dirty="0"/>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19696" y="1730478"/>
            <a:ext cx="6761754" cy="3817404"/>
          </a:xfrm>
          <a:prstGeom prst="rect">
            <a:avLst/>
          </a:prstGeom>
        </p:spPr>
      </p:pic>
    </p:spTree>
    <p:extLst>
      <p:ext uri="{BB962C8B-B14F-4D97-AF65-F5344CB8AC3E}">
        <p14:creationId xmlns:p14="http://schemas.microsoft.com/office/powerpoint/2010/main" val="259558515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使用单张图片测试模型的</a:t>
            </a:r>
            <a:r>
              <a:rPr lang="en-US" altLang="zh-CN" dirty="0"/>
              <a:t>fps</a:t>
            </a:r>
            <a:r>
              <a:rPr lang="zh-CN" altLang="zh-CN" dirty="0"/>
              <a:t>（</a:t>
            </a:r>
            <a:r>
              <a:rPr lang="en-US" altLang="zh-CN" dirty="0"/>
              <a:t>mode = “fps”</a:t>
            </a:r>
            <a:r>
              <a:rPr lang="zh-CN" altLang="zh-CN" dirty="0"/>
              <a:t>），检测结果如下图：</a:t>
            </a:r>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1396" y="1951084"/>
            <a:ext cx="7447619" cy="4096190"/>
          </a:xfrm>
          <a:prstGeom prst="rect">
            <a:avLst/>
          </a:prstGeom>
        </p:spPr>
      </p:pic>
    </p:spTree>
    <p:extLst>
      <p:ext uri="{BB962C8B-B14F-4D97-AF65-F5344CB8AC3E}">
        <p14:creationId xmlns:p14="http://schemas.microsoft.com/office/powerpoint/2010/main" val="312229206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遍历</a:t>
            </a:r>
            <a:r>
              <a:rPr lang="en-US" altLang="zh-CN" dirty="0" err="1"/>
              <a:t>img</a:t>
            </a:r>
            <a:r>
              <a:rPr lang="zh-CN" altLang="zh-CN" dirty="0"/>
              <a:t>文件夹下所有图片进行检测（</a:t>
            </a:r>
            <a:r>
              <a:rPr lang="en-US" altLang="zh-CN" dirty="0"/>
              <a:t>mode = “</a:t>
            </a:r>
            <a:r>
              <a:rPr lang="en-US" altLang="zh-CN" dirty="0" err="1"/>
              <a:t>dir_predict</a:t>
            </a:r>
            <a:r>
              <a:rPr lang="en-US" altLang="zh-CN" dirty="0"/>
              <a:t>”</a:t>
            </a:r>
            <a:r>
              <a:rPr lang="zh-CN" altLang="zh-CN" dirty="0"/>
              <a:t>），使用该方式检测时需要提前将所有待检测图像放入</a:t>
            </a:r>
            <a:r>
              <a:rPr lang="en-US" altLang="zh-CN" dirty="0" err="1"/>
              <a:t>img</a:t>
            </a:r>
            <a:r>
              <a:rPr lang="zh-CN" altLang="zh-CN" dirty="0"/>
              <a:t>文件夹下，目前已经添加</a:t>
            </a:r>
            <a:r>
              <a:rPr lang="zh-CN" altLang="zh-CN" dirty="0" smtClean="0"/>
              <a:t>了</a:t>
            </a:r>
            <a:r>
              <a:rPr lang="zh-CN" altLang="en-US" dirty="0"/>
              <a:t>两</a:t>
            </a:r>
            <a:r>
              <a:rPr lang="zh-CN" altLang="zh-CN" dirty="0" smtClean="0"/>
              <a:t>张</a:t>
            </a:r>
            <a:r>
              <a:rPr lang="zh-CN" altLang="zh-CN" dirty="0"/>
              <a:t>，可根据需要自行添加</a:t>
            </a:r>
            <a:r>
              <a:rPr lang="zh-CN" altLang="zh-CN" dirty="0" smtClean="0"/>
              <a:t>。</a:t>
            </a:r>
            <a:endParaRPr lang="en-US" altLang="zh-CN" dirty="0" smtClean="0"/>
          </a:p>
          <a:p>
            <a:r>
              <a:rPr lang="zh-CN" altLang="zh-CN" dirty="0"/>
              <a:t>检测</a:t>
            </a:r>
            <a:r>
              <a:rPr lang="zh-CN" altLang="zh-CN" dirty="0" smtClean="0"/>
              <a:t>过程</a:t>
            </a:r>
            <a:r>
              <a:rPr lang="zh-CN" altLang="en-US" dirty="0"/>
              <a:t>：</a:t>
            </a:r>
            <a:endParaRPr lang="en-US" altLang="zh-CN" dirty="0" smtClean="0"/>
          </a:p>
          <a:p>
            <a:endParaRPr lang="en-US" altLang="zh-CN" dirty="0" smtClean="0"/>
          </a:p>
          <a:p>
            <a:endParaRPr lang="en-US" altLang="zh-CN" dirty="0"/>
          </a:p>
          <a:p>
            <a:endParaRPr lang="en-US" altLang="zh-CN" dirty="0" smtClean="0"/>
          </a:p>
          <a:p>
            <a:endParaRPr lang="en-US" altLang="zh-CN" dirty="0"/>
          </a:p>
          <a:p>
            <a:endParaRPr lang="zh-CN" altLang="zh-CN" dirty="0"/>
          </a:p>
          <a:p>
            <a:endParaRPr lang="zh-CN" altLang="en-US"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0920" y="2247389"/>
            <a:ext cx="7028571" cy="3779769"/>
          </a:xfrm>
          <a:prstGeom prst="rect">
            <a:avLst/>
          </a:prstGeom>
        </p:spPr>
      </p:pic>
    </p:spTree>
    <p:extLst>
      <p:ext uri="{BB962C8B-B14F-4D97-AF65-F5344CB8AC3E}">
        <p14:creationId xmlns:p14="http://schemas.microsoft.com/office/powerpoint/2010/main" val="182945125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zh-CN" dirty="0"/>
              <a:t>在</a:t>
            </a:r>
            <a:r>
              <a:rPr lang="en-US" altLang="zh-CN" dirty="0" err="1"/>
              <a:t>img_out</a:t>
            </a:r>
            <a:r>
              <a:rPr lang="zh-CN" altLang="zh-CN" dirty="0"/>
              <a:t>文件夹下可以看到保存的检测</a:t>
            </a:r>
            <a:r>
              <a:rPr lang="zh-CN" altLang="zh-CN" dirty="0" smtClean="0"/>
              <a:t>结果</a:t>
            </a:r>
            <a:r>
              <a:rPr lang="zh-CN" altLang="en-US"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smtClean="0"/>
          </a:p>
          <a:p>
            <a:r>
              <a:rPr lang="zh-CN" altLang="zh-CN" dirty="0" smtClean="0"/>
              <a:t>注</a:t>
            </a:r>
            <a:r>
              <a:rPr lang="zh-CN" altLang="zh-CN" dirty="0"/>
              <a:t>：单张图片的检测结果与之前使用</a:t>
            </a:r>
            <a:r>
              <a:rPr lang="en-US" altLang="zh-CN" dirty="0"/>
              <a:t>mode = “predict”</a:t>
            </a:r>
            <a:r>
              <a:rPr lang="zh-CN" altLang="zh-CN" dirty="0"/>
              <a:t>的检测结果相同。</a:t>
            </a:r>
          </a:p>
          <a:p>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7152" y="2663168"/>
            <a:ext cx="3728403" cy="1941234"/>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2626" y="1504202"/>
            <a:ext cx="5197862" cy="4259165"/>
          </a:xfrm>
          <a:prstGeom prst="rect">
            <a:avLst/>
          </a:prstGeom>
        </p:spPr>
      </p:pic>
      <p:sp>
        <p:nvSpPr>
          <p:cNvPr id="10" name="右箭头 9"/>
          <p:cNvSpPr/>
          <p:nvPr/>
        </p:nvSpPr>
        <p:spPr>
          <a:xfrm>
            <a:off x="5210629" y="3633785"/>
            <a:ext cx="688726" cy="3286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1522125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实验结果</a:t>
            </a:r>
            <a:endParaRPr lang="zh-CN" altLang="en-US" dirty="0"/>
          </a:p>
        </p:txBody>
      </p:sp>
      <p:sp>
        <p:nvSpPr>
          <p:cNvPr id="3" name="内容占位符 2"/>
          <p:cNvSpPr>
            <a:spLocks noGrp="1"/>
          </p:cNvSpPr>
          <p:nvPr>
            <p:ph sz="quarter" idx="13"/>
          </p:nvPr>
        </p:nvSpPr>
        <p:spPr/>
        <p:txBody>
          <a:bodyPr/>
          <a:lstStyle/>
          <a:p>
            <a:r>
              <a:rPr lang="zh-CN" altLang="en-US" dirty="0" smtClean="0"/>
              <a:t>至此，我们用相同数据集训练了两阶段算法模型（</a:t>
            </a:r>
            <a:r>
              <a:rPr lang="en-US" altLang="zh-CN" dirty="0" smtClean="0"/>
              <a:t>Faster R-CNN</a:t>
            </a:r>
            <a:r>
              <a:rPr lang="zh-CN" altLang="en-US" dirty="0" smtClean="0"/>
              <a:t>）与一阶段算法模型（</a:t>
            </a:r>
            <a:r>
              <a:rPr lang="en-US" altLang="zh-CN" dirty="0" smtClean="0"/>
              <a:t>Yolov4-Tiny</a:t>
            </a:r>
            <a:r>
              <a:rPr lang="zh-CN" altLang="en-US" dirty="0" smtClean="0"/>
              <a:t>）。</a:t>
            </a:r>
            <a:endParaRPr lang="en-US" altLang="zh-CN" dirty="0" smtClean="0"/>
          </a:p>
          <a:p>
            <a:r>
              <a:rPr lang="zh-CN" altLang="en-US" dirty="0" smtClean="0"/>
              <a:t>对它们进行直观对比（表中数据均为相对值）：</a:t>
            </a:r>
            <a:endParaRPr lang="en-US" altLang="zh-CN" dirty="0" smtClean="0"/>
          </a:p>
          <a:p>
            <a:endParaRPr lang="en-US" altLang="zh-CN" dirty="0"/>
          </a:p>
          <a:p>
            <a:endParaRPr lang="en-US" altLang="zh-CN" dirty="0" smtClean="0"/>
          </a:p>
          <a:p>
            <a:endParaRPr lang="en-US" altLang="zh-CN" dirty="0"/>
          </a:p>
          <a:p>
            <a:endParaRPr lang="en-US" altLang="zh-CN" dirty="0" smtClean="0"/>
          </a:p>
          <a:p>
            <a:r>
              <a:rPr lang="zh-CN" altLang="en-US" dirty="0"/>
              <a:t>结果</a:t>
            </a:r>
            <a:r>
              <a:rPr lang="zh-CN" altLang="en-US" dirty="0" smtClean="0"/>
              <a:t>都与理论相吻合。</a:t>
            </a:r>
            <a:endParaRPr lang="en-US" altLang="zh-CN" dirty="0" smtClean="0"/>
          </a:p>
          <a:p>
            <a:r>
              <a:rPr lang="zh-CN" altLang="en-US" dirty="0" smtClean="0"/>
              <a:t>在小型嵌入式</a:t>
            </a:r>
            <a:r>
              <a:rPr lang="zh-CN" altLang="en-US" dirty="0"/>
              <a:t>设备</a:t>
            </a:r>
            <a:r>
              <a:rPr lang="zh-CN" altLang="en-US" dirty="0" smtClean="0"/>
              <a:t>中，往往难以达到</a:t>
            </a:r>
            <a:r>
              <a:rPr lang="en-US" altLang="zh-CN" dirty="0" smtClean="0"/>
              <a:t>PC</a:t>
            </a:r>
            <a:r>
              <a:rPr lang="zh-CN" altLang="en-US" dirty="0" smtClean="0"/>
              <a:t>端高性能显卡（</a:t>
            </a:r>
            <a:r>
              <a:rPr lang="en-US" altLang="zh-CN" dirty="0" smtClean="0"/>
              <a:t>GPU</a:t>
            </a:r>
            <a:r>
              <a:rPr lang="zh-CN" altLang="en-US" dirty="0" smtClean="0"/>
              <a:t>）的计算能力，因此更适合使用模型小、检测速度快的一阶段算法模型。</a:t>
            </a:r>
            <a:r>
              <a:rPr lang="zh-CN" altLang="zh-CN" dirty="0"/>
              <a:t>在下一章节中，我们将学习如何将</a:t>
            </a:r>
            <a:r>
              <a:rPr lang="en-US" altLang="zh-CN" dirty="0" err="1"/>
              <a:t>yolo</a:t>
            </a:r>
            <a:r>
              <a:rPr lang="zh-CN" altLang="zh-CN" dirty="0"/>
              <a:t>模型转化并部署在嵌入式开发板上，进行边缘端目标检测。</a:t>
            </a:r>
            <a:endParaRPr lang="en-US" altLang="zh-CN" dirty="0" smtClean="0"/>
          </a:p>
          <a:p>
            <a:endParaRPr lang="zh-CN" altLang="en-US" dirty="0"/>
          </a:p>
        </p:txBody>
      </p:sp>
      <p:graphicFrame>
        <p:nvGraphicFramePr>
          <p:cNvPr id="4" name="表格 3"/>
          <p:cNvGraphicFramePr>
            <a:graphicFrameLocks noGrp="1"/>
          </p:cNvGraphicFramePr>
          <p:nvPr>
            <p:extLst/>
          </p:nvPr>
        </p:nvGraphicFramePr>
        <p:xfrm>
          <a:off x="1095471" y="2222542"/>
          <a:ext cx="9709212" cy="1483360"/>
        </p:xfrm>
        <a:graphic>
          <a:graphicData uri="http://schemas.openxmlformats.org/drawingml/2006/table">
            <a:tbl>
              <a:tblPr firstRow="1" bandRow="1">
                <a:tableStyleId>{5940675A-B579-460E-94D1-54222C63F5DA}</a:tableStyleId>
              </a:tblPr>
              <a:tblGrid>
                <a:gridCol w="2509212"/>
                <a:gridCol w="3600000"/>
                <a:gridCol w="3600000"/>
              </a:tblGrid>
              <a:tr h="370840">
                <a:tc>
                  <a:txBody>
                    <a:bodyPr/>
                    <a:lstStyle/>
                    <a:p>
                      <a:pPr algn="ctr"/>
                      <a:endParaRPr lang="zh-CN" altLang="en-US" dirty="0"/>
                    </a:p>
                  </a:txBody>
                  <a:tcPr anchor="ctr"/>
                </a:tc>
                <a:tc>
                  <a:txBody>
                    <a:bodyPr/>
                    <a:lstStyle/>
                    <a:p>
                      <a:pPr algn="ctr"/>
                      <a:r>
                        <a:rPr lang="en-US" altLang="zh-CN" dirty="0" smtClean="0"/>
                        <a:t>Faster</a:t>
                      </a:r>
                      <a:r>
                        <a:rPr lang="en-US" altLang="zh-CN" baseline="0" dirty="0" smtClean="0"/>
                        <a:t> R-CNN(Two Stage)</a:t>
                      </a:r>
                      <a:endParaRPr lang="zh-CN" altLang="en-US" dirty="0"/>
                    </a:p>
                  </a:txBody>
                  <a:tcPr anchor="ctr"/>
                </a:tc>
                <a:tc>
                  <a:txBody>
                    <a:bodyPr/>
                    <a:lstStyle/>
                    <a:p>
                      <a:pPr algn="ctr"/>
                      <a:r>
                        <a:rPr lang="en-US" altLang="zh-CN" dirty="0" smtClean="0"/>
                        <a:t>Yolov4-Tiny(One Stage)</a:t>
                      </a:r>
                      <a:endParaRPr lang="zh-CN" altLang="en-US" dirty="0"/>
                    </a:p>
                  </a:txBody>
                  <a:tcPr anchor="ctr"/>
                </a:tc>
              </a:tr>
              <a:tr h="370840">
                <a:tc>
                  <a:txBody>
                    <a:bodyPr/>
                    <a:lstStyle/>
                    <a:p>
                      <a:pPr algn="ctr"/>
                      <a:r>
                        <a:rPr lang="zh-CN" altLang="en-US" dirty="0" smtClean="0"/>
                        <a:t>模型大小（</a:t>
                      </a:r>
                      <a:r>
                        <a:rPr lang="en-US" altLang="zh-CN" dirty="0" smtClean="0"/>
                        <a:t>.</a:t>
                      </a:r>
                      <a:r>
                        <a:rPr lang="en-US" altLang="zh-CN" dirty="0" err="1" smtClean="0"/>
                        <a:t>pth</a:t>
                      </a:r>
                      <a:r>
                        <a:rPr lang="zh-CN" altLang="en-US" dirty="0" smtClean="0"/>
                        <a:t>文件）</a:t>
                      </a:r>
                      <a:endParaRPr lang="zh-CN" altLang="en-US" dirty="0"/>
                    </a:p>
                  </a:txBody>
                  <a:tcPr anchor="ctr"/>
                </a:tc>
                <a:tc>
                  <a:txBody>
                    <a:bodyPr/>
                    <a:lstStyle/>
                    <a:p>
                      <a:pPr algn="ctr"/>
                      <a:r>
                        <a:rPr lang="zh-CN" altLang="en-US" dirty="0" smtClean="0"/>
                        <a:t>大</a:t>
                      </a:r>
                      <a:endParaRPr lang="zh-CN" altLang="en-US" dirty="0"/>
                    </a:p>
                  </a:txBody>
                  <a:tcPr anchor="ctr"/>
                </a:tc>
                <a:tc>
                  <a:txBody>
                    <a:bodyPr/>
                    <a:lstStyle/>
                    <a:p>
                      <a:pPr algn="ctr"/>
                      <a:r>
                        <a:rPr lang="zh-CN" altLang="en-US" dirty="0" smtClean="0"/>
                        <a:t>小</a:t>
                      </a:r>
                      <a:endParaRPr lang="zh-CN" altLang="en-US" dirty="0"/>
                    </a:p>
                  </a:txBody>
                  <a:tcPr anchor="ctr"/>
                </a:tc>
              </a:tr>
              <a:tr h="370840">
                <a:tc>
                  <a:txBody>
                    <a:bodyPr/>
                    <a:lstStyle/>
                    <a:p>
                      <a:pPr algn="ctr"/>
                      <a:r>
                        <a:rPr lang="zh-CN" altLang="en-US" dirty="0" smtClean="0"/>
                        <a:t>平均精度（</a:t>
                      </a:r>
                      <a:r>
                        <a:rPr lang="en-US" altLang="zh-CN" dirty="0" err="1" smtClean="0"/>
                        <a:t>mAP</a:t>
                      </a:r>
                      <a:r>
                        <a:rPr lang="zh-CN" altLang="en-US" dirty="0" smtClean="0"/>
                        <a:t>）</a:t>
                      </a:r>
                      <a:endParaRPr lang="zh-CN" altLang="en-US" dirty="0"/>
                    </a:p>
                  </a:txBody>
                  <a:tcPr anchor="ctr"/>
                </a:tc>
                <a:tc>
                  <a:txBody>
                    <a:bodyPr/>
                    <a:lstStyle/>
                    <a:p>
                      <a:pPr algn="ctr"/>
                      <a:r>
                        <a:rPr lang="zh-CN" altLang="en-US" dirty="0" smtClean="0"/>
                        <a:t>高</a:t>
                      </a:r>
                      <a:endParaRPr lang="zh-CN" altLang="en-US" dirty="0"/>
                    </a:p>
                  </a:txBody>
                  <a:tcPr anchor="ctr"/>
                </a:tc>
                <a:tc>
                  <a:txBody>
                    <a:bodyPr/>
                    <a:lstStyle/>
                    <a:p>
                      <a:pPr algn="ctr"/>
                      <a:r>
                        <a:rPr lang="zh-CN" altLang="en-US" dirty="0" smtClean="0"/>
                        <a:t>低</a:t>
                      </a:r>
                      <a:endParaRPr lang="zh-CN" altLang="en-US" dirty="0"/>
                    </a:p>
                  </a:txBody>
                  <a:tcPr anchor="ctr"/>
                </a:tc>
              </a:tr>
              <a:tr h="370840">
                <a:tc>
                  <a:txBody>
                    <a:bodyPr/>
                    <a:lstStyle/>
                    <a:p>
                      <a:pPr algn="ctr"/>
                      <a:r>
                        <a:rPr lang="zh-CN" altLang="en-US" dirty="0" smtClean="0"/>
                        <a:t>检测速度（</a:t>
                      </a:r>
                      <a:r>
                        <a:rPr lang="en-US" altLang="zh-CN" dirty="0" smtClean="0"/>
                        <a:t>fps</a:t>
                      </a:r>
                      <a:r>
                        <a:rPr lang="zh-CN" altLang="en-US" dirty="0" smtClean="0"/>
                        <a:t>）</a:t>
                      </a:r>
                      <a:endParaRPr lang="zh-CN" altLang="en-US" dirty="0"/>
                    </a:p>
                  </a:txBody>
                  <a:tcPr anchor="ctr"/>
                </a:tc>
                <a:tc>
                  <a:txBody>
                    <a:bodyPr/>
                    <a:lstStyle/>
                    <a:p>
                      <a:pPr algn="ctr"/>
                      <a:r>
                        <a:rPr lang="zh-CN" altLang="en-US" dirty="0" smtClean="0"/>
                        <a:t>慢</a:t>
                      </a:r>
                      <a:endParaRPr lang="zh-CN" altLang="en-US" dirty="0"/>
                    </a:p>
                  </a:txBody>
                  <a:tcPr anchor="ctr"/>
                </a:tc>
                <a:tc>
                  <a:txBody>
                    <a:bodyPr/>
                    <a:lstStyle/>
                    <a:p>
                      <a:pPr algn="ctr"/>
                      <a:r>
                        <a:rPr lang="zh-CN" altLang="en-US" dirty="0" smtClean="0"/>
                        <a:t>快</a:t>
                      </a:r>
                      <a:endParaRPr lang="zh-CN" altLang="en-US" dirty="0"/>
                    </a:p>
                  </a:txBody>
                  <a:tcPr anchor="ctr"/>
                </a:tc>
              </a:tr>
            </a:tbl>
          </a:graphicData>
        </a:graphic>
      </p:graphicFrame>
    </p:spTree>
    <p:extLst>
      <p:ext uri="{BB962C8B-B14F-4D97-AF65-F5344CB8AC3E}">
        <p14:creationId xmlns:p14="http://schemas.microsoft.com/office/powerpoint/2010/main" val="301071998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注意事项</a:t>
            </a:r>
            <a:endParaRPr lang="zh-CN" altLang="en-US" dirty="0"/>
          </a:p>
        </p:txBody>
      </p:sp>
    </p:spTree>
    <p:extLst>
      <p:ext uri="{BB962C8B-B14F-4D97-AF65-F5344CB8AC3E}">
        <p14:creationId xmlns:p14="http://schemas.microsoft.com/office/powerpoint/2010/main" val="39231378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注意事项</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marL="342900" lvl="0" indent="-342900">
              <a:buFont typeface="+mj-lt"/>
              <a:buAutoNum type="arabicPeriod"/>
            </a:pPr>
            <a:r>
              <a:rPr lang="zh-CN" altLang="zh-CN" dirty="0" smtClean="0"/>
              <a:t>按照</a:t>
            </a:r>
            <a:r>
              <a:rPr lang="en-US" altLang="zh-CN" dirty="0"/>
              <a:t>requirements.txt</a:t>
            </a:r>
            <a:r>
              <a:rPr lang="zh-CN" altLang="zh-CN" dirty="0"/>
              <a:t>下载必需库时，可以使用国内镜像源加快下载速度，也可以避免因超时产生的报错。指令为</a:t>
            </a:r>
            <a:r>
              <a:rPr lang="zh-CN" altLang="zh-CN" dirty="0" smtClean="0"/>
              <a:t>：</a:t>
            </a:r>
            <a:endParaRPr lang="en-US" altLang="zh-CN" dirty="0" smtClean="0"/>
          </a:p>
          <a:p>
            <a:pPr lvl="1"/>
            <a:r>
              <a:rPr lang="en-US" altLang="zh-CN" dirty="0"/>
              <a:t>pip install -r requirements.txt –</a:t>
            </a:r>
            <a:r>
              <a:rPr lang="en-US" altLang="zh-CN" dirty="0" err="1"/>
              <a:t>i</a:t>
            </a:r>
            <a:r>
              <a:rPr lang="en-US" altLang="zh-CN" dirty="0"/>
              <a:t> https://************</a:t>
            </a:r>
            <a:r>
              <a:rPr lang="zh-CN" altLang="zh-CN" dirty="0"/>
              <a:t>（国内镜像源）</a:t>
            </a:r>
          </a:p>
          <a:p>
            <a:r>
              <a:rPr lang="zh-CN" altLang="zh-CN" dirty="0"/>
              <a:t>常用国内镜像源地址：</a:t>
            </a:r>
          </a:p>
          <a:p>
            <a:r>
              <a:rPr lang="zh-CN" altLang="zh-CN" dirty="0"/>
              <a:t>阿里云：</a:t>
            </a:r>
            <a:r>
              <a:rPr lang="en-US" altLang="zh-CN" u="sng" dirty="0">
                <a:hlinkClick r:id="rId3"/>
              </a:rPr>
              <a:t>http://mirrors.aliyun.com/pypi/simple/</a:t>
            </a:r>
            <a:endParaRPr lang="zh-CN" altLang="zh-CN" dirty="0"/>
          </a:p>
          <a:p>
            <a:r>
              <a:rPr lang="zh-CN" altLang="zh-CN" dirty="0"/>
              <a:t>中科大：</a:t>
            </a:r>
            <a:r>
              <a:rPr lang="en-US" altLang="zh-CN" u="sng" dirty="0">
                <a:hlinkClick r:id="rId4"/>
              </a:rPr>
              <a:t>https://pypi.mirrors.ustc.edu.cn/simple/</a:t>
            </a:r>
            <a:endParaRPr lang="zh-CN" altLang="zh-CN" dirty="0"/>
          </a:p>
          <a:p>
            <a:r>
              <a:rPr lang="zh-CN" altLang="zh-CN" dirty="0"/>
              <a:t>豆瓣：</a:t>
            </a:r>
            <a:r>
              <a:rPr lang="en-US" altLang="zh-CN" u="sng" dirty="0">
                <a:hlinkClick r:id="rId5"/>
              </a:rPr>
              <a:t>http://pypi.douban.com/simple/</a:t>
            </a:r>
            <a:endParaRPr lang="zh-CN" altLang="zh-CN" dirty="0"/>
          </a:p>
          <a:p>
            <a:r>
              <a:rPr lang="zh-CN" altLang="zh-CN" dirty="0"/>
              <a:t>清华大学：</a:t>
            </a:r>
            <a:r>
              <a:rPr lang="en-US" altLang="zh-CN" u="sng" dirty="0">
                <a:hlinkClick r:id="rId6"/>
              </a:rPr>
              <a:t>https://pypi.tuna.tsinghua.edu.cn/simple/</a:t>
            </a:r>
            <a:endParaRPr lang="zh-CN" altLang="zh-CN" dirty="0"/>
          </a:p>
          <a:p>
            <a:r>
              <a:rPr lang="zh-CN" altLang="zh-CN" dirty="0"/>
              <a:t>部分库的安装会出现下载超时等情况，换源多尝试几次或单独输入一条指令安装：</a:t>
            </a:r>
          </a:p>
          <a:p>
            <a:pPr lvl="1"/>
            <a:r>
              <a:rPr lang="en-US" altLang="zh-CN" dirty="0"/>
              <a:t>pip install &lt;</a:t>
            </a:r>
            <a:r>
              <a:rPr lang="zh-CN" altLang="zh-CN" dirty="0"/>
              <a:t>库的名称</a:t>
            </a:r>
            <a:r>
              <a:rPr lang="en-US" altLang="zh-CN" dirty="0"/>
              <a:t>&gt; == &lt;</a:t>
            </a:r>
            <a:r>
              <a:rPr lang="zh-CN" altLang="zh-CN" dirty="0"/>
              <a:t>库的版本</a:t>
            </a:r>
            <a:r>
              <a:rPr lang="en-US" altLang="zh-CN" dirty="0"/>
              <a:t>&gt; -</a:t>
            </a:r>
            <a:r>
              <a:rPr lang="en-US" altLang="zh-CN" dirty="0" err="1"/>
              <a:t>i</a:t>
            </a:r>
            <a:r>
              <a:rPr lang="en-US" altLang="zh-CN" dirty="0"/>
              <a:t> </a:t>
            </a:r>
            <a:r>
              <a:rPr lang="en-US" altLang="zh-CN" dirty="0">
                <a:hlinkClick r:id="rId7"/>
              </a:rPr>
              <a:t>https://************（</a:t>
            </a:r>
            <a:r>
              <a:rPr lang="en-US" altLang="zh-CN" dirty="0" err="1">
                <a:hlinkClick r:id="rId7"/>
              </a:rPr>
              <a:t>国内镜像源</a:t>
            </a:r>
            <a:r>
              <a:rPr lang="zh-CN" altLang="zh-CN" dirty="0" smtClean="0"/>
              <a:t>）</a:t>
            </a:r>
            <a:endParaRPr lang="en-US" altLang="zh-CN" dirty="0" smtClean="0"/>
          </a:p>
          <a:p>
            <a:r>
              <a:rPr lang="zh-CN" altLang="zh-CN" dirty="0"/>
              <a:t>例如在某环境下单独安装</a:t>
            </a:r>
            <a:r>
              <a:rPr lang="en-US" altLang="zh-CN" dirty="0"/>
              <a:t>1.16.4</a:t>
            </a:r>
            <a:r>
              <a:rPr lang="zh-CN" altLang="zh-CN" dirty="0"/>
              <a:t>版本的</a:t>
            </a:r>
            <a:r>
              <a:rPr lang="en-US" altLang="zh-CN" dirty="0" err="1"/>
              <a:t>numpy</a:t>
            </a:r>
            <a:r>
              <a:rPr lang="zh-CN" altLang="zh-CN" dirty="0"/>
              <a:t>，使用阿里云镜像源：</a:t>
            </a:r>
          </a:p>
          <a:p>
            <a:pPr lvl="1"/>
            <a:r>
              <a:rPr lang="en-US" altLang="zh-CN" dirty="0"/>
              <a:t>pip install </a:t>
            </a:r>
            <a:r>
              <a:rPr lang="en-US" altLang="zh-CN" dirty="0" err="1"/>
              <a:t>numpy</a:t>
            </a:r>
            <a:r>
              <a:rPr lang="en-US" altLang="zh-CN" dirty="0"/>
              <a:t> == 1.16.4 --user -</a:t>
            </a:r>
            <a:r>
              <a:rPr lang="en-US" altLang="zh-CN" dirty="0" err="1"/>
              <a:t>i</a:t>
            </a:r>
            <a:r>
              <a:rPr lang="en-US" altLang="zh-CN" dirty="0"/>
              <a:t> http://mirrors.aliyun.com/pypi/simple/</a:t>
            </a:r>
            <a:endParaRPr lang="zh-CN" altLang="zh-CN" dirty="0"/>
          </a:p>
          <a:p>
            <a:endParaRPr lang="zh-CN" altLang="zh-CN" dirty="0"/>
          </a:p>
          <a:p>
            <a:pPr marL="342900" indent="-342900">
              <a:lnSpc>
                <a:spcPct val="125000"/>
              </a:lnSpc>
              <a:buFont typeface="+mj-lt"/>
              <a:buAutoNum type="arabicPeriod"/>
            </a:pPr>
            <a:endParaRPr lang="zh-CN" altLang="en-US" dirty="0"/>
          </a:p>
        </p:txBody>
      </p:sp>
    </p:spTree>
    <p:extLst>
      <p:ext uri="{BB962C8B-B14F-4D97-AF65-F5344CB8AC3E}">
        <p14:creationId xmlns:p14="http://schemas.microsoft.com/office/powerpoint/2010/main" val="393119538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注意事项</a:t>
            </a:r>
            <a:endParaRPr lang="zh-CN" altLang="en-US" dirty="0"/>
          </a:p>
        </p:txBody>
      </p:sp>
      <p:sp>
        <p:nvSpPr>
          <p:cNvPr id="3" name="内容占位符 2"/>
          <p:cNvSpPr>
            <a:spLocks noGrp="1"/>
          </p:cNvSpPr>
          <p:nvPr>
            <p:ph sz="quarter" idx="13"/>
          </p:nvPr>
        </p:nvSpPr>
        <p:spPr/>
        <p:txBody>
          <a:bodyPr/>
          <a:lstStyle/>
          <a:p>
            <a:pPr marL="342900" lvl="0" indent="-342900">
              <a:buFont typeface="+mj-lt"/>
              <a:buAutoNum type="arabicPeriod" startAt="2"/>
            </a:pPr>
            <a:r>
              <a:rPr lang="zh-CN" altLang="zh-CN" dirty="0"/>
              <a:t>直接通过</a:t>
            </a:r>
            <a:r>
              <a:rPr lang="en-US" altLang="zh-CN" dirty="0"/>
              <a:t>pip install torch==&lt;</a:t>
            </a:r>
            <a:r>
              <a:rPr lang="zh-CN" altLang="zh-CN" dirty="0"/>
              <a:t>版本</a:t>
            </a:r>
            <a:r>
              <a:rPr lang="en-US" altLang="zh-CN" dirty="0"/>
              <a:t>&gt;</a:t>
            </a:r>
            <a:r>
              <a:rPr lang="zh-CN" altLang="zh-CN" dirty="0"/>
              <a:t>指令安装的</a:t>
            </a:r>
            <a:r>
              <a:rPr lang="en-US" altLang="zh-CN" dirty="0" err="1"/>
              <a:t>Pytorch</a:t>
            </a:r>
            <a:r>
              <a:rPr lang="zh-CN" altLang="zh-CN" dirty="0"/>
              <a:t>会默认安装</a:t>
            </a:r>
            <a:r>
              <a:rPr lang="en-US" altLang="zh-CN" dirty="0" err="1"/>
              <a:t>cpu</a:t>
            </a:r>
            <a:r>
              <a:rPr lang="zh-CN" altLang="zh-CN" dirty="0"/>
              <a:t>版本，正确安装</a:t>
            </a:r>
            <a:r>
              <a:rPr lang="en-US" altLang="zh-CN" dirty="0" err="1"/>
              <a:t>gpu</a:t>
            </a:r>
            <a:r>
              <a:rPr lang="zh-CN" altLang="zh-CN" dirty="0"/>
              <a:t>版本的指令为</a:t>
            </a:r>
            <a:r>
              <a:rPr lang="en-US" altLang="zh-CN" dirty="0"/>
              <a:t>pip install torch==&lt;</a:t>
            </a:r>
            <a:r>
              <a:rPr lang="zh-CN" altLang="zh-CN" dirty="0"/>
              <a:t>版本</a:t>
            </a:r>
            <a:r>
              <a:rPr lang="en-US" altLang="zh-CN" dirty="0"/>
              <a:t>&gt; -c </a:t>
            </a:r>
            <a:r>
              <a:rPr lang="en-US" altLang="zh-CN" dirty="0" err="1"/>
              <a:t>pytorch</a:t>
            </a:r>
            <a:r>
              <a:rPr lang="en-US" altLang="zh-CN" dirty="0"/>
              <a:t> </a:t>
            </a:r>
            <a:r>
              <a:rPr lang="zh-CN" altLang="zh-CN" dirty="0"/>
              <a:t>，但仍可能报错。建议采用之前实验介绍的官方安装方式</a:t>
            </a:r>
            <a:r>
              <a:rPr lang="zh-CN" altLang="zh-CN" dirty="0" smtClean="0"/>
              <a:t>。</a:t>
            </a:r>
            <a:endParaRPr lang="en-US" altLang="zh-CN" dirty="0" smtClean="0"/>
          </a:p>
          <a:p>
            <a:pPr marL="342900" indent="-342900">
              <a:buFont typeface="+mj-lt"/>
              <a:buAutoNum type="arabicPeriod" startAt="2"/>
            </a:pPr>
            <a:r>
              <a:rPr lang="zh-CN" altLang="zh-CN" dirty="0"/>
              <a:t>运行</a:t>
            </a:r>
            <a:r>
              <a:rPr lang="en-US" altLang="zh-CN" dirty="0" err="1"/>
              <a:t>voc_annotation</a:t>
            </a:r>
            <a:r>
              <a:rPr lang="zh-CN" altLang="zh-CN" dirty="0"/>
              <a:t>后，生成的训练集、验证集与测试集对应文件路径已经固定，如果想要移动项目路径重新训练（比如换设备）需要再次运行该文件。</a:t>
            </a:r>
          </a:p>
          <a:p>
            <a:pPr marL="342900" indent="-342900">
              <a:buFont typeface="+mj-lt"/>
              <a:buAutoNum type="arabicPeriod" startAt="2"/>
            </a:pPr>
            <a:r>
              <a:rPr lang="zh-CN" altLang="zh-CN" dirty="0"/>
              <a:t>修改文件时涉及到许多路径的修改，务必确保路径的准确性。</a:t>
            </a:r>
          </a:p>
          <a:p>
            <a:pPr marL="342900" lvl="0" indent="-342900">
              <a:buFont typeface="+mj-lt"/>
              <a:buAutoNum type="arabicPeriod" startAt="2"/>
            </a:pPr>
            <a:endParaRPr lang="zh-CN" altLang="zh-CN" dirty="0" smtClean="0"/>
          </a:p>
          <a:p>
            <a:endParaRPr lang="zh-CN" altLang="en-US" dirty="0"/>
          </a:p>
        </p:txBody>
      </p:sp>
    </p:spTree>
    <p:extLst>
      <p:ext uri="{BB962C8B-B14F-4D97-AF65-F5344CB8AC3E}">
        <p14:creationId xmlns:p14="http://schemas.microsoft.com/office/powerpoint/2010/main" val="409088707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注意事项</a:t>
            </a:r>
            <a:endParaRPr lang="zh-CN" altLang="en-US" dirty="0"/>
          </a:p>
        </p:txBody>
      </p:sp>
      <p:sp>
        <p:nvSpPr>
          <p:cNvPr id="3" name="内容占位符 2"/>
          <p:cNvSpPr>
            <a:spLocks noGrp="1"/>
          </p:cNvSpPr>
          <p:nvPr>
            <p:ph sz="quarter" idx="13"/>
          </p:nvPr>
        </p:nvSpPr>
        <p:spPr/>
        <p:txBody>
          <a:bodyPr/>
          <a:lstStyle/>
          <a:p>
            <a:pPr marL="342900" lvl="0" indent="-342900">
              <a:buFont typeface="+mj-lt"/>
              <a:buAutoNum type="arabicPeriod" startAt="5"/>
            </a:pPr>
            <a:r>
              <a:rPr lang="zh-CN" altLang="zh-CN" dirty="0"/>
              <a:t>训练模型过程中出现</a:t>
            </a:r>
            <a:r>
              <a:rPr lang="en-US" altLang="zh-CN" dirty="0"/>
              <a:t>CUDA out of memory</a:t>
            </a:r>
            <a:r>
              <a:rPr lang="zh-CN" altLang="zh-CN" dirty="0"/>
              <a:t>问题</a:t>
            </a:r>
            <a:r>
              <a:rPr lang="zh-CN" altLang="zh-CN" dirty="0" smtClean="0"/>
              <a:t>：</a:t>
            </a:r>
            <a:endParaRPr lang="en-US" altLang="zh-CN" dirty="0" smtClean="0"/>
          </a:p>
          <a:p>
            <a:pPr marL="342900" lvl="0" indent="-342900">
              <a:buFont typeface="+mj-lt"/>
              <a:buAutoNum type="arabicPeriod" startAt="5"/>
            </a:pPr>
            <a:endParaRPr lang="en-US" altLang="zh-CN" dirty="0"/>
          </a:p>
          <a:p>
            <a:r>
              <a:rPr lang="zh-CN" altLang="zh-CN" dirty="0"/>
              <a:t>原因：显卡显存不够，更换更高性能显卡或改小</a:t>
            </a:r>
            <a:r>
              <a:rPr lang="en-US" altLang="zh-CN" dirty="0"/>
              <a:t>train.py</a:t>
            </a:r>
            <a:r>
              <a:rPr lang="zh-CN" altLang="zh-CN" dirty="0"/>
              <a:t>中的</a:t>
            </a:r>
            <a:r>
              <a:rPr lang="en-US" altLang="zh-CN" dirty="0" err="1"/>
              <a:t>batch_size</a:t>
            </a:r>
            <a:r>
              <a:rPr lang="zh-CN" altLang="zh-CN" dirty="0"/>
              <a:t>值：</a:t>
            </a:r>
          </a:p>
          <a:p>
            <a:endParaRPr lang="en-US" altLang="zh-CN" dirty="0" smtClean="0"/>
          </a:p>
          <a:p>
            <a:pPr marL="0" lvl="0" indent="0">
              <a:buNone/>
            </a:pPr>
            <a:endParaRPr lang="zh-CN" altLang="zh-CN" dirty="0"/>
          </a:p>
          <a:p>
            <a:pPr marL="342900" indent="-342900">
              <a:buFont typeface="+mj-lt"/>
              <a:buAutoNum type="arabicPeriod" startAt="5"/>
            </a:pPr>
            <a:endParaRPr lang="zh-CN" altLang="en-US" dirty="0"/>
          </a:p>
        </p:txBody>
      </p:sp>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b="19980"/>
          <a:stretch/>
        </p:blipFill>
        <p:spPr>
          <a:xfrm>
            <a:off x="2404730" y="1559499"/>
            <a:ext cx="7380952" cy="472501"/>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3301" y="2499179"/>
            <a:ext cx="6923809" cy="3638095"/>
          </a:xfrm>
          <a:prstGeom prst="rect">
            <a:avLst/>
          </a:prstGeom>
        </p:spPr>
      </p:pic>
    </p:spTree>
    <p:extLst>
      <p:ext uri="{BB962C8B-B14F-4D97-AF65-F5344CB8AC3E}">
        <p14:creationId xmlns:p14="http://schemas.microsoft.com/office/powerpoint/2010/main" val="280363851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两阶段算法模型的训练</a:t>
            </a:r>
            <a:endParaRPr lang="en-US" altLang="zh-CN" dirty="0" smtClean="0"/>
          </a:p>
          <a:p>
            <a:r>
              <a:rPr lang="zh-CN" altLang="en-US" dirty="0" smtClean="0"/>
              <a:t>两阶段算法模型的评估</a:t>
            </a:r>
            <a:endParaRPr lang="en-US" altLang="zh-CN" dirty="0" smtClean="0"/>
          </a:p>
          <a:p>
            <a:r>
              <a:rPr lang="zh-CN" altLang="en-US" dirty="0" smtClean="0"/>
              <a:t>使用图像或（实时）视频测试模型</a:t>
            </a:r>
            <a:endParaRPr lang="en-US" altLang="zh-CN" dirty="0" smtClean="0"/>
          </a:p>
          <a:p>
            <a:r>
              <a:rPr lang="zh-CN" altLang="en-US" dirty="0" smtClean="0"/>
              <a:t>与一阶段算法模型的比较</a:t>
            </a:r>
            <a:endParaRPr lang="zh-CN" altLang="en-US" dirty="0"/>
          </a:p>
        </p:txBody>
      </p:sp>
    </p:spTree>
    <p:extLst>
      <p:ext uri="{BB962C8B-B14F-4D97-AF65-F5344CB8AC3E}">
        <p14:creationId xmlns:p14="http://schemas.microsoft.com/office/powerpoint/2010/main" val="313789395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 xmlns:a16="http://schemas.microsoft.com/office/drawing/2014/main"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 xmlns:a16="http://schemas.microsoft.com/office/drawing/2014/main"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867</TotalTime>
  <Words>4219</Words>
  <Application>Microsoft Office PowerPoint</Application>
  <PresentationFormat>宽屏</PresentationFormat>
  <Paragraphs>456</Paragraphs>
  <Slides>65</Slides>
  <Notes>18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65</vt:i4>
      </vt:variant>
    </vt:vector>
  </HeadingPairs>
  <TitlesOfParts>
    <vt:vector size="72" baseType="lpstr">
      <vt:lpstr>等线</vt:lpstr>
      <vt:lpstr>宋体</vt:lpstr>
      <vt:lpstr>微软雅黑</vt:lpstr>
      <vt:lpstr>Arial</vt:lpstr>
      <vt:lpstr>Calibri</vt:lpstr>
      <vt:lpstr>Ebrima</vt:lpstr>
      <vt:lpstr>主题5</vt:lpstr>
      <vt:lpstr>目标检测的实现</vt:lpstr>
      <vt:lpstr>课程目标</vt:lpstr>
      <vt:lpstr>PowerPoint 演示文稿</vt:lpstr>
      <vt:lpstr>/01</vt:lpstr>
      <vt:lpstr>实验介绍</vt:lpstr>
      <vt:lpstr>/02</vt:lpstr>
      <vt:lpstr>实验环境</vt:lpstr>
      <vt:lpstr>/03</vt:lpstr>
      <vt:lpstr>实验步骤</vt:lpstr>
      <vt:lpstr>实验流程</vt:lpstr>
      <vt:lpstr>代码工程分析</vt:lpstr>
      <vt:lpstr>代码工程分析</vt:lpstr>
      <vt:lpstr>代码工程分析</vt:lpstr>
      <vt:lpstr>实验流程</vt:lpstr>
      <vt:lpstr>数据集的准备</vt:lpstr>
      <vt:lpstr>数据集的准备</vt:lpstr>
      <vt:lpstr>数据集的准备</vt:lpstr>
      <vt:lpstr>数据集的准备</vt:lpstr>
      <vt:lpstr>数据集的准备</vt:lpstr>
      <vt:lpstr>数据集的准备</vt:lpstr>
      <vt:lpstr>数据集的准备</vt:lpstr>
      <vt:lpstr>数据集的准备</vt:lpstr>
      <vt:lpstr>数据集的准备</vt:lpstr>
      <vt:lpstr>数据集的准备</vt:lpstr>
      <vt:lpstr>数据集的准备</vt:lpstr>
      <vt:lpstr>实验流程</vt:lpstr>
      <vt:lpstr>训练模型</vt:lpstr>
      <vt:lpstr>训练模型</vt:lpstr>
      <vt:lpstr>训练模型</vt:lpstr>
      <vt:lpstr>训练模型</vt:lpstr>
      <vt:lpstr>训练模型</vt:lpstr>
      <vt:lpstr>训练模型</vt:lpstr>
      <vt:lpstr>训练模型</vt:lpstr>
      <vt:lpstr>训练模型</vt:lpstr>
      <vt:lpstr>实验流程</vt:lpstr>
      <vt:lpstr>评估模型</vt:lpstr>
      <vt:lpstr>评估模型</vt:lpstr>
      <vt:lpstr>评估模型</vt:lpstr>
      <vt:lpstr>评估模型</vt:lpstr>
      <vt:lpstr>评估模型</vt:lpstr>
      <vt:lpstr>评估模型</vt:lpstr>
      <vt:lpstr>评估模型</vt:lpstr>
      <vt:lpstr>评估模型</vt:lpstr>
      <vt:lpstr>评估模型</vt:lpstr>
      <vt:lpstr>评估模型</vt:lpstr>
      <vt:lpstr>实验流程</vt:lpstr>
      <vt:lpstr>测试模型</vt:lpstr>
      <vt:lpstr>测试模型</vt:lpstr>
      <vt:lpstr>测试模型</vt:lpstr>
      <vt:lpstr>测试模型</vt:lpstr>
      <vt:lpstr>测试模型</vt:lpstr>
      <vt:lpstr>测试模型</vt:lpstr>
      <vt:lpstr>实验结果</vt:lpstr>
      <vt:lpstr>实验结果</vt:lpstr>
      <vt:lpstr>实验结果</vt:lpstr>
      <vt:lpstr>实验结果</vt:lpstr>
      <vt:lpstr>实验结果</vt:lpstr>
      <vt:lpstr>实验结果</vt:lpstr>
      <vt:lpstr>实验结果</vt:lpstr>
      <vt:lpstr>/04</vt:lpstr>
      <vt:lpstr>注意事项</vt:lpstr>
      <vt:lpstr>注意事项</vt:lpstr>
      <vt:lpstr>注意事项</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75</cp:revision>
  <cp:lastPrinted>2018-09-20T16:00:00Z</cp:lastPrinted>
  <dcterms:created xsi:type="dcterms:W3CDTF">2022-06-27T01:42:48Z</dcterms:created>
  <dcterms:modified xsi:type="dcterms:W3CDTF">2022-12-27T09:24:33Z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