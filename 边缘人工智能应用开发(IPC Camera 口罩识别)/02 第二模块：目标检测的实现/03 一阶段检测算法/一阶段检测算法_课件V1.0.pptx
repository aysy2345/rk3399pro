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handoutMasterIdLst>
    <p:handoutMasterId r:id="rId50"/>
  </p:handoutMasterIdLst>
  <p:sldIdLst>
    <p:sldId id="266" r:id="rId2"/>
    <p:sldId id="265" r:id="rId3"/>
    <p:sldId id="262" r:id="rId4"/>
    <p:sldId id="257" r:id="rId5"/>
    <p:sldId id="268" r:id="rId6"/>
    <p:sldId id="269" r:id="rId7"/>
    <p:sldId id="270" r:id="rId8"/>
    <p:sldId id="271" r:id="rId9"/>
    <p:sldId id="272" r:id="rId10"/>
    <p:sldId id="273" r:id="rId11"/>
    <p:sldId id="274" r:id="rId12"/>
    <p:sldId id="275" r:id="rId13"/>
    <p:sldId id="276" r:id="rId14"/>
    <p:sldId id="277" r:id="rId15"/>
    <p:sldId id="278" r:id="rId16"/>
    <p:sldId id="279" r:id="rId17"/>
    <p:sldId id="280" r:id="rId18"/>
    <p:sldId id="281" r:id="rId19"/>
    <p:sldId id="282" r:id="rId20"/>
    <p:sldId id="283" r:id="rId21"/>
    <p:sldId id="284" r:id="rId22"/>
    <p:sldId id="285" r:id="rId23"/>
    <p:sldId id="286" r:id="rId24"/>
    <p:sldId id="287" r:id="rId25"/>
    <p:sldId id="288" r:id="rId26"/>
    <p:sldId id="289" r:id="rId27"/>
    <p:sldId id="290" r:id="rId28"/>
    <p:sldId id="291" r:id="rId29"/>
    <p:sldId id="292" r:id="rId30"/>
    <p:sldId id="293" r:id="rId31"/>
    <p:sldId id="294" r:id="rId32"/>
    <p:sldId id="295" r:id="rId33"/>
    <p:sldId id="267" r:id="rId34"/>
    <p:sldId id="296" r:id="rId35"/>
    <p:sldId id="297" r:id="rId36"/>
    <p:sldId id="298" r:id="rId37"/>
    <p:sldId id="299" r:id="rId38"/>
    <p:sldId id="300" r:id="rId39"/>
    <p:sldId id="301" r:id="rId40"/>
    <p:sldId id="302" r:id="rId41"/>
    <p:sldId id="303" r:id="rId42"/>
    <p:sldId id="304" r:id="rId43"/>
    <p:sldId id="305" r:id="rId44"/>
    <p:sldId id="306" r:id="rId45"/>
    <p:sldId id="307" r:id="rId46"/>
    <p:sldId id="264" r:id="rId47"/>
    <p:sldId id="261" r:id="rId48"/>
  </p:sldIdLst>
  <p:sldSz cx="12192000" cy="6858000"/>
  <p:notesSz cx="6858000" cy="9144000"/>
  <p:custDataLst>
    <p:tags r:id="rId51"/>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pos="3840" userDrawn="1">
          <p15:clr>
            <a:srgbClr val="F26B43"/>
          </p15:clr>
        </p15:guide>
        <p15:guide id="2" pos="7256" userDrawn="1">
          <p15:clr>
            <a:srgbClr val="A4A3A4"/>
          </p15:clr>
        </p15:guide>
        <p15:guide id="5" orient="horz" pos="3929" userDrawn="1">
          <p15:clr>
            <a:srgbClr val="A4A3A4"/>
          </p15:clr>
        </p15:guide>
        <p15:guide id="6" orient="horz" pos="3864" userDrawn="1">
          <p15:clr>
            <a:srgbClr val="A4A3A4"/>
          </p15:clr>
        </p15:guide>
        <p15:guide id="7" orient="horz" pos="2160" userDrawn="1">
          <p15:clr>
            <a:srgbClr val="F26B43"/>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6A4BC"/>
    <a:srgbClr val="FCCC6B"/>
    <a:srgbClr val="0B077F"/>
    <a:srgbClr val="28508A"/>
    <a:srgbClr val="327CA6"/>
    <a:srgbClr val="1FDBE8"/>
    <a:srgbClr val="FBBB3B"/>
    <a:srgbClr val="1A12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1661" autoAdjust="0"/>
  </p:normalViewPr>
  <p:slideViewPr>
    <p:cSldViewPr snapToGrid="0" showGuides="1">
      <p:cViewPr varScale="1">
        <p:scale>
          <a:sx n="95" d="100"/>
          <a:sy n="95" d="100"/>
        </p:scale>
        <p:origin x="1134" y="78"/>
      </p:cViewPr>
      <p:guideLst>
        <p:guide pos="3840"/>
        <p:guide pos="7256"/>
        <p:guide orient="horz" pos="3929"/>
        <p:guide orient="horz" pos="3864"/>
        <p:guide orient="horz" pos="2160"/>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ags" Target="tags/tag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xmlns="" id="{83C43651-EA8B-4678-8FD9-6C875DB136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
        <p:nvSpPr>
          <p:cNvPr id="3" name="日期占位符 2">
            <a:extLst>
              <a:ext uri="{FF2B5EF4-FFF2-40B4-BE49-F238E27FC236}">
                <a16:creationId xmlns:a16="http://schemas.microsoft.com/office/drawing/2014/main" xmlns="" id="{6BD28C34-B0BD-41BE-80A7-C252BFAB08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09C1BF11-5702-475A-BDCC-CA13CC2B291E}"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4" name="页脚占位符 3">
            <a:extLst>
              <a:ext uri="{FF2B5EF4-FFF2-40B4-BE49-F238E27FC236}">
                <a16:creationId xmlns:a16="http://schemas.microsoft.com/office/drawing/2014/main" xmlns="" id="{A77B7009-201B-41DD-A31B-ADB4AD7A41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5" name="灯片编号占位符 4">
            <a:extLst>
              <a:ext uri="{FF2B5EF4-FFF2-40B4-BE49-F238E27FC236}">
                <a16:creationId xmlns:a16="http://schemas.microsoft.com/office/drawing/2014/main" xmlns="" id="{DBB078B8-0584-4580-A4FF-8E471217AEE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381B0EFE-A81B-4FF2-A11B-20F00DF34C36}" type="slidenum">
              <a:rPr lang="zh-CN" altLang="en-US"/>
              <a:pPr/>
              <a:t>‹#›</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403255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xmlns="" id="{A1E830F0-DDCD-4D0F-B5F3-4FD19C8F867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E86D8963-CFCD-4740-AF60-049850373CDF}"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30723" name="幻灯片图像占位符 3">
            <a:extLst>
              <a:ext uri="{FF2B5EF4-FFF2-40B4-BE49-F238E27FC236}">
                <a16:creationId xmlns:a16="http://schemas.microsoft.com/office/drawing/2014/main" xmlns="" id="{0E0776D9-EB5E-4648-A11C-5DC5CDC40389}"/>
              </a:ext>
            </a:extLst>
          </p:cNvPr>
          <p:cNvSpPr>
            <a:spLocks noGrp="1" noRot="1" noChangeAspect="1" noChangeArrowheads="1"/>
          </p:cNvSpPr>
          <p:nvPr>
            <p:ph type="sldImg" idx="4294967295"/>
          </p:nvPr>
        </p:nvSpPr>
        <p:spPr bwMode="auto">
          <a:xfrm>
            <a:off x="685800" y="1143000"/>
            <a:ext cx="5486400" cy="3086100"/>
          </a:xfrm>
          <a:prstGeom prst="rect">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30724" name="备注占位符 7">
            <a:extLst>
              <a:ext uri="{FF2B5EF4-FFF2-40B4-BE49-F238E27FC236}">
                <a16:creationId xmlns:a16="http://schemas.microsoft.com/office/drawing/2014/main" xmlns="" id="{283E4D93-BBF5-4A19-BF46-DCA634601C1A}"/>
              </a:ext>
            </a:extLst>
          </p:cNvPr>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9" name="灯片编号占位符 8">
            <a:extLst>
              <a:ext uri="{FF2B5EF4-FFF2-40B4-BE49-F238E27FC236}">
                <a16:creationId xmlns:a16="http://schemas.microsoft.com/office/drawing/2014/main" xmlns="" id="{DF32E9F7-1370-428C-9546-57C93750911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4C464E13-4384-4E27-B198-CCD5CE71F818}" type="slidenum">
              <a:rPr lang="zh-CN" altLang="en-US"/>
              <a:pPr/>
              <a:t>‹#›</a:t>
            </a:fld>
            <a:endParaRPr lang="zh-CN" altLang="en-US">
              <a:latin typeface="Arial" panose="020B0604020202020204" pitchFamily="34" charset="0"/>
              <a:ea typeface="微软雅黑" panose="020B0503020204020204" pitchFamily="34" charset="-122"/>
            </a:endParaRPr>
          </a:p>
        </p:txBody>
      </p:sp>
      <p:sp>
        <p:nvSpPr>
          <p:cNvPr id="10" name="页脚占位符 9">
            <a:extLst>
              <a:ext uri="{FF2B5EF4-FFF2-40B4-BE49-F238E27FC236}">
                <a16:creationId xmlns:a16="http://schemas.microsoft.com/office/drawing/2014/main" xmlns="" id="{22C67519-F77F-4031-9D1A-E102741AFDF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11" name="页眉占位符 10">
            <a:extLst>
              <a:ext uri="{FF2B5EF4-FFF2-40B4-BE49-F238E27FC236}">
                <a16:creationId xmlns:a16="http://schemas.microsoft.com/office/drawing/2014/main" xmlns="" id="{A2FFFFAA-8C8E-43C6-8DDC-20C2BA84D3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Tree>
    <p:extLst>
      <p:ext uri="{BB962C8B-B14F-4D97-AF65-F5344CB8AC3E}">
        <p14:creationId xmlns:p14="http://schemas.microsoft.com/office/powerpoint/2010/main" val="2146978427"/>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尽管两阶段检测算法流程清晰，检测结果较好，但由于其存在候选区域提取和类别判定两个相对对立的过程，计算时间较长。</a:t>
            </a:r>
            <a:endParaRPr lang="en-US" altLang="zh-CN" dirty="0" smtClean="0"/>
          </a:p>
          <a:p>
            <a:r>
              <a:rPr lang="zh-CN" altLang="en-US" dirty="0" smtClean="0"/>
              <a:t>为了进一步提升算法速度和算法落地的可行性，业界又提出了若干一阶段检测算法，包括</a:t>
            </a:r>
            <a:r>
              <a:rPr lang="en-US" altLang="zh-CN" dirty="0" smtClean="0"/>
              <a:t>YOLO</a:t>
            </a:r>
            <a:r>
              <a:rPr lang="zh-CN" altLang="en-US" dirty="0" smtClean="0"/>
              <a:t>、</a:t>
            </a:r>
            <a:r>
              <a:rPr lang="en-US" altLang="zh-CN" dirty="0" smtClean="0"/>
              <a:t>SSD</a:t>
            </a:r>
            <a:r>
              <a:rPr lang="zh-CN" altLang="en-US" dirty="0" smtClean="0"/>
              <a:t>、</a:t>
            </a:r>
            <a:r>
              <a:rPr lang="en-US" altLang="zh-CN" dirty="0" smtClean="0"/>
              <a:t>FCOS</a:t>
            </a:r>
            <a:r>
              <a:rPr lang="zh-CN" altLang="en-US" dirty="0" smtClean="0"/>
              <a:t>等。这些算法中，</a:t>
            </a:r>
            <a:r>
              <a:rPr lang="en-US" altLang="zh-CN" dirty="0" smtClean="0"/>
              <a:t>YOLO</a:t>
            </a:r>
            <a:r>
              <a:rPr lang="zh-CN" altLang="en-US" dirty="0" smtClean="0"/>
              <a:t>、</a:t>
            </a:r>
            <a:r>
              <a:rPr lang="en-US" altLang="zh-CN" dirty="0" smtClean="0"/>
              <a:t>SSD</a:t>
            </a:r>
            <a:r>
              <a:rPr lang="zh-CN" altLang="en-US" dirty="0" smtClean="0"/>
              <a:t>基于锚，通常用于目标尺寸、形态变化不太大的场景，如行人检测、人脸检测等；</a:t>
            </a:r>
            <a:r>
              <a:rPr lang="en-US" altLang="zh-CN" dirty="0" smtClean="0"/>
              <a:t>FCOS</a:t>
            </a:r>
            <a:r>
              <a:rPr lang="zh-CN" altLang="en-US" dirty="0" smtClean="0"/>
              <a:t>不依赖锚，更适合目标尺寸、形态变化剧烈的场景，比如在工业瑕疵检测场景中，瑕疵的尺寸通常变化很多，小的瑕疵尺度大多小于</a:t>
            </a:r>
            <a:r>
              <a:rPr lang="en-US" altLang="zh-CN" dirty="0" smtClean="0"/>
              <a:t>5×5</a:t>
            </a:r>
            <a:r>
              <a:rPr lang="zh-CN" altLang="en-US" dirty="0" smtClean="0"/>
              <a:t>，大的瑕疵尺寸可能大于</a:t>
            </a:r>
            <a:r>
              <a:rPr lang="en-US" altLang="zh-CN" dirty="0" smtClean="0"/>
              <a:t>100×100</a:t>
            </a:r>
            <a:r>
              <a:rPr lang="zh-CN" altLang="en-US" dirty="0" smtClean="0"/>
              <a:t>，瑕疵的形态也存在很大差异，这种情况下就更适合通过</a:t>
            </a:r>
            <a:r>
              <a:rPr lang="en-US" altLang="zh-CN" dirty="0" smtClean="0"/>
              <a:t>FCOS</a:t>
            </a:r>
            <a:r>
              <a:rPr lang="zh-CN" altLang="en-US" dirty="0" smtClean="0"/>
              <a:t>算法来解决问题。下面我们详细介绍这些算法。</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434862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YOLO</a:t>
            </a:r>
            <a:r>
              <a:rPr lang="zh-CN" altLang="en-US" dirty="0" smtClean="0"/>
              <a:t>是一种重要的一阶段检测算法，其核心思想是将整幅图像作为输入，通过神经网络直接回归目标的位置坐标和分类概率。与两阶段算法不同，</a:t>
            </a:r>
            <a:r>
              <a:rPr lang="en-US" altLang="zh-CN" dirty="0" smtClean="0"/>
              <a:t>YOLO</a:t>
            </a:r>
            <a:r>
              <a:rPr lang="zh-CN" altLang="en-US" dirty="0" smtClean="0"/>
              <a:t>不需要进行预测候选框这个步骤，带来的好处就是显著提升目标检测算法的执行速度，可以在实时系统中得以使用。</a:t>
            </a:r>
            <a:endParaRPr lang="en-US" altLang="zh-CN" dirty="0" smtClean="0"/>
          </a:p>
          <a:p>
            <a:r>
              <a:rPr lang="en-US" altLang="zh-CN" dirty="0" smtClean="0"/>
              <a:t>YOLO</a:t>
            </a:r>
            <a:r>
              <a:rPr lang="zh-CN" altLang="en-US" dirty="0" smtClean="0"/>
              <a:t>目前已经迭代了</a:t>
            </a:r>
            <a:r>
              <a:rPr lang="en-US" altLang="zh-CN" dirty="0" smtClean="0"/>
              <a:t>5</a:t>
            </a:r>
            <a:r>
              <a:rPr lang="zh-CN" altLang="en-US" dirty="0" smtClean="0"/>
              <a:t>个版本，是目前最常用的一阶段检测算法，后续实验中我们将使用</a:t>
            </a:r>
            <a:r>
              <a:rPr lang="en-US" altLang="zh-CN" dirty="0" smtClean="0"/>
              <a:t>YOLO</a:t>
            </a:r>
            <a:r>
              <a:rPr lang="zh-CN" altLang="en-US" dirty="0" smtClean="0"/>
              <a:t>对之前的数据集进行目标检测的训练与测试。</a:t>
            </a:r>
            <a:endParaRPr lang="en-US" altLang="zh-CN" dirty="0" smtClean="0"/>
          </a:p>
          <a:p>
            <a:r>
              <a:rPr lang="zh-CN" altLang="en-US" dirty="0" smtClean="0"/>
              <a:t>处理检测问题最直接的方法是使用不同尺度和形状的候选框在图像上密集采样，以此判断候选框是否包含目标，这种方法极为耗时。另一种方法是两阶段算法中采用的策略，先通过</a:t>
            </a:r>
            <a:r>
              <a:rPr lang="en-US" altLang="zh-CN" dirty="0" smtClean="0"/>
              <a:t>Selective Search</a:t>
            </a:r>
            <a:r>
              <a:rPr lang="zh-CN" altLang="en-US" dirty="0" smtClean="0"/>
              <a:t>等方法生成一系列候选框，然后使用分类器判断候选框是否包含目标，再对目标的位置进行精细修正。这种方法的优点是能够得到比较准确的目标位置，缺点仍然是消耗较多的计算时间。那么如何进一步降低算法耗时呢</a:t>
            </a:r>
            <a:r>
              <a:rPr lang="en-US" altLang="zh-CN" dirty="0" smtClean="0"/>
              <a:t>?</a:t>
            </a:r>
            <a:r>
              <a:rPr lang="zh-CN" altLang="en-US" dirty="0" smtClean="0"/>
              <a:t>一个比较便捷的方法是直接回归目标框的位置坐标和分类概率，把检测问题转化成回归问题</a:t>
            </a:r>
            <a:r>
              <a:rPr lang="en-US" altLang="zh-CN" dirty="0" smtClean="0"/>
              <a:t>,</a:t>
            </a:r>
            <a:r>
              <a:rPr lang="zh-CN" altLang="en-US" dirty="0" smtClean="0"/>
              <a:t>这也是 </a:t>
            </a:r>
            <a:r>
              <a:rPr lang="en-US" altLang="zh-CN" dirty="0" smtClean="0"/>
              <a:t>YOLO</a:t>
            </a:r>
            <a:r>
              <a:rPr lang="zh-CN" altLang="en-US" dirty="0" smtClean="0"/>
              <a:t>算法的基本思路。</a:t>
            </a:r>
            <a:r>
              <a:rPr lang="en-US" altLang="zh-CN" dirty="0" smtClean="0"/>
              <a:t>YOLO</a:t>
            </a:r>
            <a:r>
              <a:rPr lang="zh-CN" altLang="en-US" dirty="0" smtClean="0"/>
              <a:t>另一个显著特点是将一整张图作为输入，每个回归的目标都基于整张图像的信息</a:t>
            </a:r>
            <a:r>
              <a:rPr lang="en-US" altLang="zh-CN" dirty="0" smtClean="0"/>
              <a:t>,</a:t>
            </a:r>
            <a:r>
              <a:rPr lang="zh-CN" altLang="en-US" dirty="0" smtClean="0"/>
              <a:t>因此</a:t>
            </a:r>
            <a:r>
              <a:rPr lang="en-US" altLang="zh-CN" dirty="0" smtClean="0"/>
              <a:t>YOLO </a:t>
            </a:r>
            <a:r>
              <a:rPr lang="zh-CN" altLang="en-US" dirty="0" smtClean="0"/>
              <a:t>能够利用更加全面的上下文信息。</a:t>
            </a:r>
            <a:endParaRPr lang="en-US" altLang="zh-CN" dirty="0" smtClean="0"/>
          </a:p>
          <a:p>
            <a:r>
              <a:rPr lang="en-US" altLang="zh-CN" dirty="0" smtClean="0"/>
              <a:t>YOLO</a:t>
            </a:r>
            <a:r>
              <a:rPr lang="zh-CN" altLang="en-US" dirty="0" smtClean="0"/>
              <a:t>也有一些明显的局限性</a:t>
            </a:r>
            <a:r>
              <a:rPr lang="en-US" altLang="zh-CN" dirty="0" smtClean="0"/>
              <a:t>,</a:t>
            </a:r>
            <a:r>
              <a:rPr lang="zh-CN" altLang="en-US" dirty="0" smtClean="0"/>
              <a:t>其有一个默认的假设</a:t>
            </a:r>
            <a:r>
              <a:rPr lang="en-US" altLang="zh-CN" dirty="0" smtClean="0"/>
              <a:t>,</a:t>
            </a:r>
            <a:r>
              <a:rPr lang="zh-CN" altLang="en-US" dirty="0" smtClean="0"/>
              <a:t>认为图像中的目标都比较大，不存在密集小目标，因此需要根据实际的应用场景判断是否适合使用</a:t>
            </a:r>
            <a:r>
              <a:rPr lang="en-US" altLang="zh-CN" dirty="0" smtClean="0"/>
              <a:t>YOLO</a:t>
            </a:r>
            <a:r>
              <a:rPr lang="zh-CN" altLang="en-US" dirty="0" smtClean="0"/>
              <a:t>算法。</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6377075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en-US" altLang="zh-CN" dirty="0" smtClean="0"/>
                  <a:t>YOLO</a:t>
                </a:r>
                <a:r>
                  <a:rPr lang="zh-CN" altLang="en-US" dirty="0" smtClean="0"/>
                  <a:t>算法通过一个</a:t>
                </a:r>
                <a:r>
                  <a:rPr lang="en-US" altLang="zh-CN" dirty="0" smtClean="0"/>
                  <a:t>S</a:t>
                </a:r>
                <a:r>
                  <a:rPr lang="zh-CN" altLang="en-US" dirty="0" smtClean="0"/>
                  <a:t>行</a:t>
                </a:r>
                <a:r>
                  <a:rPr lang="en-US" altLang="zh-CN" dirty="0" smtClean="0"/>
                  <a:t>×S</a:t>
                </a:r>
                <a:r>
                  <a:rPr lang="zh-CN" altLang="en-US" dirty="0" smtClean="0"/>
                  <a:t>列的均匀网格，将一张输入的图像均匀分成</a:t>
                </a:r>
                <a:r>
                  <a:rPr lang="en-US" altLang="zh-CN" dirty="0" smtClean="0"/>
                  <a:t>S×S</a:t>
                </a:r>
                <a:r>
                  <a:rPr lang="zh-CN" altLang="en-US" dirty="0" smtClean="0"/>
                  <a:t>个子图像块，如果目标的中心点落在某个子图像块内，就认为这个目标归属于这个子图像块，也可以说这个子图像块包含这个目标</a:t>
                </a:r>
                <a:r>
                  <a:rPr lang="en-US" altLang="zh-CN" dirty="0" smtClean="0"/>
                  <a:t>(</a:t>
                </a:r>
                <a:r>
                  <a:rPr lang="zh-CN" altLang="en-US" dirty="0" smtClean="0"/>
                  <a:t>其实是包含目标的中心</a:t>
                </a:r>
                <a:r>
                  <a:rPr lang="en-US" altLang="zh-CN" dirty="0" smtClean="0"/>
                  <a:t>)</a:t>
                </a:r>
                <a:r>
                  <a:rPr lang="zh-CN" altLang="en-US" dirty="0" smtClean="0"/>
                  <a:t>。这里的图中分成了</a:t>
                </a:r>
                <a:r>
                  <a:rPr lang="en-US" altLang="zh-CN" dirty="0" smtClean="0"/>
                  <a:t>7×7=49</a:t>
                </a:r>
                <a:r>
                  <a:rPr lang="zh-CN" altLang="en-US" dirty="0" smtClean="0"/>
                  <a:t>个子图像块。在每一个子图像块中，会预测</a:t>
                </a:r>
                <a:r>
                  <a:rPr lang="en-US" altLang="zh-CN" dirty="0" smtClean="0"/>
                  <a:t>B</a:t>
                </a:r>
                <a:r>
                  <a:rPr lang="zh-CN" altLang="en-US" dirty="0" smtClean="0"/>
                  <a:t>个目标框的坐标以及这</a:t>
                </a:r>
                <a:r>
                  <a:rPr lang="en-US" altLang="zh-CN" dirty="0" smtClean="0"/>
                  <a:t>B</a:t>
                </a:r>
                <a:r>
                  <a:rPr lang="zh-CN" altLang="en-US" dirty="0" smtClean="0"/>
                  <a:t>个目标框框中目标的置信度，这个置信度反映的是当前预测框框中目标的概率以及预测框位置的准确程度。具体可以通过如下公式描述</a:t>
                </a:r>
                <a:r>
                  <a:rPr lang="en-US" altLang="zh-CN" dirty="0" smtClean="0"/>
                  <a:t>:</a:t>
                </a:r>
                <a14:m>
                  <m:oMath xmlns:m="http://schemas.openxmlformats.org/officeDocument/2006/math">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𝑃𝑟</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𝑂𝑏𝑗𝑒𝑐𝑡</m:t>
                        </m:r>
                      </m:e>
                    </m:d>
                    <m:r>
                      <a:rPr lang="en-US" altLang="zh-CN" i="1">
                        <a:latin typeface="Cambria Math" panose="02040503050406030204" pitchFamily="18" charset="0"/>
                      </a:rPr>
                      <m:t>×</m:t>
                    </m:r>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𝐼𝑜𝑈</m:t>
                        </m:r>
                      </m:e>
                      <m:sub>
                        <m:r>
                          <a:rPr lang="en-US" altLang="zh-CN" b="0" i="1" smtClean="0">
                            <a:latin typeface="Cambria Math" panose="02040503050406030204" pitchFamily="18" charset="0"/>
                          </a:rPr>
                          <m:t>𝑝𝑟𝑒𝑑</m:t>
                        </m:r>
                      </m:sub>
                      <m:sup>
                        <m:r>
                          <a:rPr lang="en-US" altLang="zh-CN" b="0" i="1" smtClean="0">
                            <a:latin typeface="Cambria Math" panose="02040503050406030204" pitchFamily="18" charset="0"/>
                          </a:rPr>
                          <m:t>𝑡𝑟𝑢𝑡h</m:t>
                        </m:r>
                      </m:sup>
                    </m:sSubSup>
                    <m:r>
                      <a:rPr lang="zh-CN" altLang="en-US" b="0" i="1" smtClean="0">
                        <a:latin typeface="Cambria Math" panose="02040503050406030204" pitchFamily="18" charset="0"/>
                      </a:rPr>
                      <m:t>。</m:t>
                    </m:r>
                  </m:oMath>
                </a14:m>
                <a:endParaRPr lang="en-US" altLang="zh-CN" dirty="0" smtClean="0"/>
              </a:p>
              <a:p>
                <a:r>
                  <a:rPr lang="zh-CN" altLang="en-US" dirty="0" smtClean="0"/>
                  <a:t>如果当前预测框没有框中目标，则</a:t>
                </a:r>
                <a:r>
                  <a:rPr lang="en-US" altLang="zh-CN" dirty="0" err="1" smtClean="0"/>
                  <a:t>Pr</a:t>
                </a:r>
                <a:r>
                  <a:rPr lang="en-US" altLang="zh-CN" dirty="0" smtClean="0"/>
                  <a:t>(Object)=0;</a:t>
                </a:r>
                <a:r>
                  <a:rPr lang="zh-CN" altLang="en-US" dirty="0" smtClean="0"/>
                  <a:t>反之，如果当前预测框框中了目标，则</a:t>
                </a:r>
                <a:r>
                  <a:rPr lang="en-US" altLang="zh-CN" dirty="0" err="1" smtClean="0"/>
                  <a:t>Pr</a:t>
                </a:r>
                <a:r>
                  <a:rPr lang="en-US" altLang="zh-CN" dirty="0" smtClean="0"/>
                  <a:t>(Object)=1</a:t>
                </a:r>
                <a:r>
                  <a:rPr lang="zh-CN" altLang="en-US" dirty="0" smtClean="0"/>
                  <a:t>。</a:t>
                </a:r>
              </a:p>
              <a:p>
                <a14:m>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𝐼𝑜𝑈</m:t>
                        </m:r>
                      </m:e>
                      <m:sub>
                        <m:r>
                          <a:rPr lang="en-US" altLang="zh-CN" b="0" i="1" smtClean="0">
                            <a:latin typeface="Cambria Math" panose="02040503050406030204" pitchFamily="18" charset="0"/>
                          </a:rPr>
                          <m:t>𝑝𝑟𝑒𝑑</m:t>
                        </m:r>
                      </m:sub>
                      <m:sup>
                        <m:r>
                          <a:rPr lang="en-US" altLang="zh-CN" b="0" i="1" smtClean="0">
                            <a:latin typeface="Cambria Math" panose="02040503050406030204" pitchFamily="18" charset="0"/>
                          </a:rPr>
                          <m:t>𝑡𝑟𝑢𝑡h</m:t>
                        </m:r>
                      </m:sup>
                    </m:sSubSup>
                  </m:oMath>
                </a14:m>
                <a:r>
                  <a:rPr lang="zh-CN" altLang="en-US" dirty="0" smtClean="0"/>
                  <a:t>是预测框和目标真值框的交并比，反映预测框和真值框的重合度。这里说明一下何为框中目标，如果一个目标的中心点没有落在当前子图像块内，则这个目标不属于当前子图像块，当前子图像块的预测框不会框中这个目标</a:t>
                </a:r>
                <a:r>
                  <a:rPr lang="en-US" altLang="zh-CN" dirty="0" smtClean="0"/>
                  <a:t>;</a:t>
                </a:r>
                <a:r>
                  <a:rPr lang="zh-CN" altLang="en-US" dirty="0" smtClean="0"/>
                  <a:t>如果一个目标的中心点落在当前子图像块中，就需要分别计算各个预测框与目标真值框的交并比，认为</a:t>
                </a:r>
                <a:r>
                  <a:rPr lang="en-US" altLang="zh-CN" dirty="0" err="1" smtClean="0"/>
                  <a:t>IoU</a:t>
                </a:r>
                <a:r>
                  <a:rPr lang="zh-CN" altLang="en-US" dirty="0" smtClean="0"/>
                  <a:t>最大的预测框框中了目标，其他预测框没有框中目标，其实这个约定并不见得合理，仅是</a:t>
                </a:r>
                <a:r>
                  <a:rPr lang="en-US" altLang="zh-CN" dirty="0" smtClean="0"/>
                  <a:t>YOLO</a:t>
                </a:r>
                <a:r>
                  <a:rPr lang="zh-CN" altLang="en-US" dirty="0" smtClean="0"/>
                  <a:t>的一个策略。另外，如前所述， 因为</a:t>
                </a:r>
                <a:r>
                  <a:rPr lang="en-US" altLang="zh-CN" dirty="0" smtClean="0"/>
                  <a:t>YOLO</a:t>
                </a:r>
                <a:r>
                  <a:rPr lang="zh-CN" altLang="en-US" dirty="0" smtClean="0"/>
                  <a:t>默认图像中的目标都比较大，以至于不会出现一一个子图像块中有多个目标的情况，所以如果有多个非常小的目标的中心落在同一个子图像块内，算法就会出现问题，最终只有一个目标会被检测出来。</a:t>
                </a:r>
                <a:endParaRPr lang="en-US" altLang="zh-CN" dirty="0" smtClean="0"/>
              </a:p>
              <a:p>
                <a:r>
                  <a:rPr lang="zh-CN" altLang="en-US" dirty="0" smtClean="0"/>
                  <a:t>对于每一个预测框，都需要回归框的中心点坐标</a:t>
                </a:r>
                <a:r>
                  <a:rPr lang="en-US" altLang="zh-CN" dirty="0" smtClean="0"/>
                  <a:t>(x</a:t>
                </a:r>
                <a:r>
                  <a:rPr lang="zh-CN" altLang="en-US" dirty="0" smtClean="0"/>
                  <a:t>，</a:t>
                </a:r>
                <a:r>
                  <a:rPr lang="en-US" altLang="zh-CN" dirty="0" smtClean="0"/>
                  <a:t>y)</a:t>
                </a:r>
                <a:r>
                  <a:rPr lang="zh-CN" altLang="en-US" dirty="0" smtClean="0"/>
                  <a:t>， 框的宽</a:t>
                </a:r>
                <a:r>
                  <a:rPr lang="en-US" altLang="zh-CN" dirty="0" smtClean="0"/>
                  <a:t>w</a:t>
                </a:r>
                <a:r>
                  <a:rPr lang="zh-CN" altLang="en-US" dirty="0" smtClean="0"/>
                  <a:t>和高</a:t>
                </a:r>
                <a:r>
                  <a:rPr lang="en-US" altLang="zh-CN" dirty="0" smtClean="0"/>
                  <a:t>h</a:t>
                </a:r>
                <a:r>
                  <a:rPr lang="zh-CN" altLang="en-US" dirty="0" smtClean="0"/>
                  <a:t>以及预测框的置信度。预测框的置信度如上文所述，描述的是预测框框中目标的概率以及预测框与真值框的交并比，</a:t>
                </a:r>
                <a:r>
                  <a:rPr lang="en-US" altLang="zh-CN" dirty="0" smtClean="0"/>
                  <a:t>(x, y)</a:t>
                </a:r>
                <a:r>
                  <a:rPr lang="zh-CN" altLang="en-US" dirty="0" smtClean="0"/>
                  <a:t>是当前子图像块的相对坐标，坐标原点位于子图像块的左上角，且坐标值通过除以子图像块的宽、高，进行了归一化处理。</a:t>
                </a:r>
                <a:r>
                  <a:rPr lang="en-US" altLang="zh-CN" dirty="0" smtClean="0"/>
                  <a:t>w</a:t>
                </a:r>
                <a:r>
                  <a:rPr lang="zh-CN" altLang="en-US" dirty="0" smtClean="0"/>
                  <a:t>、</a:t>
                </a:r>
                <a:r>
                  <a:rPr lang="en-US" altLang="zh-CN" dirty="0" smtClean="0"/>
                  <a:t>h</a:t>
                </a:r>
                <a:r>
                  <a:rPr lang="zh-CN" altLang="en-US" dirty="0" smtClean="0"/>
                  <a:t>也是经过归一化处理的宽和高，是将预测框的宽和高，分别除以整幅图像的宽和高得到的。</a:t>
                </a:r>
              </a:p>
              <a:p>
                <a:r>
                  <a:rPr lang="zh-CN" altLang="en-US" dirty="0" smtClean="0"/>
                  <a:t>每个子图像块都会回归</a:t>
                </a:r>
                <a:r>
                  <a:rPr lang="en-US" altLang="zh-CN" dirty="0" smtClean="0"/>
                  <a:t>C</a:t>
                </a:r>
                <a:r>
                  <a:rPr lang="zh-CN" altLang="en-US" dirty="0" smtClean="0"/>
                  <a:t>个条件概率，用</a:t>
                </a:r>
                <a:r>
                  <a:rPr lang="en-US" altLang="zh-CN" dirty="0" err="1" smtClean="0"/>
                  <a:t>Pr</a:t>
                </a:r>
                <a:r>
                  <a:rPr lang="en-US" altLang="zh-CN" dirty="0" smtClean="0"/>
                  <a:t>(</a:t>
                </a:r>
                <a:r>
                  <a:rPr lang="en-US" altLang="zh-CN" dirty="0" err="1" smtClean="0"/>
                  <a:t>Class</a:t>
                </a:r>
                <a:r>
                  <a:rPr lang="en-US" altLang="zh-CN" baseline="-25000" dirty="0" err="1" smtClean="0"/>
                  <a:t>i</a:t>
                </a:r>
                <a:r>
                  <a:rPr lang="en-US" altLang="zh-CN" dirty="0" err="1" smtClean="0"/>
                  <a:t>|Object</a:t>
                </a:r>
                <a:r>
                  <a:rPr lang="en-US" altLang="zh-CN" dirty="0" smtClean="0"/>
                  <a:t>)</a:t>
                </a:r>
                <a:r>
                  <a:rPr lang="zh-CN" altLang="en-US" dirty="0" smtClean="0"/>
                  <a:t>表示，表示在框中目标的前提下，目标属于某个类别的概率。因为</a:t>
                </a:r>
                <a:r>
                  <a:rPr lang="en-US" altLang="zh-CN" dirty="0" smtClean="0"/>
                  <a:t>YOLO</a:t>
                </a:r>
                <a:r>
                  <a:rPr lang="zh-CN" altLang="en-US" dirty="0" smtClean="0"/>
                  <a:t>默认每个子图像块只包含一个目标，所以无论要预测多少个目标框，只需要回归一组条件概率。在测试的时候，由预测框的置信度和条件概率相乘得到最终的置信度，其中融合了位置和类别的信息，可以用下面的公式描述。</a:t>
                </a:r>
                <a:endParaRPr lang="en-US" altLang="zh-CN" dirty="0" smtClean="0"/>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𝑃𝑟</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𝐶𝑙𝑎𝑠𝑠</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𝑂𝑏𝑗𝑒𝑐𝑡</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𝑃𝑟</m:t>
                      </m:r>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𝑂𝑏𝑗𝑒𝑐𝑡</m:t>
                          </m:r>
                        </m:e>
                      </m:d>
                      <m:r>
                        <a:rPr lang="en-US" altLang="zh-CN" b="0" i="1" smtClean="0">
                          <a:latin typeface="Cambria Math" panose="02040503050406030204" pitchFamily="18" charset="0"/>
                          <a:ea typeface="Cambria Math" panose="02040503050406030204" pitchFamily="18" charset="0"/>
                        </a:rPr>
                        <m:t>×</m:t>
                      </m:r>
                      <m:sSubSup>
                        <m:sSubSupPr>
                          <m:ctrlPr>
                            <a:rPr lang="en-US" altLang="zh-CN" b="0"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𝐼𝑜𝑈</m:t>
                          </m:r>
                        </m:e>
                        <m:sub>
                          <m:r>
                            <a:rPr lang="en-US" altLang="zh-CN" b="0" i="1" smtClean="0">
                              <a:latin typeface="Cambria Math" panose="02040503050406030204" pitchFamily="18" charset="0"/>
                              <a:ea typeface="Cambria Math" panose="02040503050406030204" pitchFamily="18" charset="0"/>
                            </a:rPr>
                            <m:t>𝑝𝑟𝑒𝑑</m:t>
                          </m:r>
                        </m:sub>
                        <m:sup>
                          <m:r>
                            <a:rPr lang="en-US" altLang="zh-CN" b="0" i="1" smtClean="0">
                              <a:latin typeface="Cambria Math" panose="02040503050406030204" pitchFamily="18" charset="0"/>
                              <a:ea typeface="Cambria Math" panose="02040503050406030204" pitchFamily="18" charset="0"/>
                            </a:rPr>
                            <m:t>𝑡𝑟𝑢𝑡h</m:t>
                          </m:r>
                        </m:sup>
                      </m:sSubSup>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𝑃𝑟</m:t>
                      </m:r>
                      <m:d>
                        <m:dPr>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𝐶𝑙𝑎𝑠𝑠</m:t>
                              </m:r>
                            </m:e>
                            <m:sub>
                              <m:r>
                                <a:rPr lang="en-US" altLang="zh-CN" b="0" i="1" smtClean="0">
                                  <a:latin typeface="Cambria Math" panose="02040503050406030204" pitchFamily="18" charset="0"/>
                                  <a:ea typeface="Cambria Math" panose="02040503050406030204" pitchFamily="18" charset="0"/>
                                </a:rPr>
                                <m:t>𝑖</m:t>
                              </m:r>
                            </m:sub>
                          </m:sSub>
                        </m:e>
                      </m:d>
                      <m:r>
                        <a:rPr lang="en-US" altLang="zh-CN" b="0" i="1" smtClean="0">
                          <a:latin typeface="Cambria Math" panose="02040503050406030204" pitchFamily="18" charset="0"/>
                          <a:ea typeface="Cambria Math" panose="02040503050406030204" pitchFamily="18" charset="0"/>
                        </a:rPr>
                        <m:t>×</m:t>
                      </m:r>
                      <m:sSubSup>
                        <m:sSubSupPr>
                          <m:ctrlPr>
                            <a:rPr lang="en-US" altLang="zh-CN" b="0"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𝐼𝑜𝑈</m:t>
                          </m:r>
                        </m:e>
                        <m:sub>
                          <m:r>
                            <a:rPr lang="en-US" altLang="zh-CN" b="0" i="1" smtClean="0">
                              <a:latin typeface="Cambria Math" panose="02040503050406030204" pitchFamily="18" charset="0"/>
                              <a:ea typeface="Cambria Math" panose="02040503050406030204" pitchFamily="18" charset="0"/>
                            </a:rPr>
                            <m:t>𝑝𝑟𝑒𝑑</m:t>
                          </m:r>
                        </m:sub>
                        <m:sup>
                          <m:r>
                            <a:rPr lang="en-US" altLang="zh-CN" b="0" i="1" smtClean="0">
                              <a:latin typeface="Cambria Math" panose="02040503050406030204" pitchFamily="18" charset="0"/>
                              <a:ea typeface="Cambria Math" panose="02040503050406030204" pitchFamily="18" charset="0"/>
                            </a:rPr>
                            <m:t>𝑡𝑟𝑢𝑡h</m:t>
                          </m:r>
                        </m:sup>
                      </m:sSubSup>
                    </m:oMath>
                  </m:oMathPara>
                </a14:m>
                <a:endParaRPr lang="zh-CN" altLang="en-US" dirty="0" smtClean="0"/>
              </a:p>
            </p:txBody>
          </p:sp>
        </mc:Choice>
        <mc:Fallback xmlns="">
          <p:sp>
            <p:nvSpPr>
              <p:cNvPr id="3" name="备注占位符 2"/>
              <p:cNvSpPr>
                <a:spLocks noGrp="1"/>
              </p:cNvSpPr>
              <p:nvPr>
                <p:ph type="body" idx="1"/>
              </p:nvPr>
            </p:nvSpPr>
            <p:spPr/>
            <p:txBody>
              <a:bodyPr/>
              <a:lstStyle/>
              <a:p>
                <a:r>
                  <a:rPr lang="en-US" altLang="zh-CN" dirty="0" smtClean="0"/>
                  <a:t>YOLO</a:t>
                </a:r>
                <a:r>
                  <a:rPr lang="zh-CN" altLang="en-US" dirty="0" smtClean="0"/>
                  <a:t>算法通过一个</a:t>
                </a:r>
                <a:r>
                  <a:rPr lang="en-US" altLang="zh-CN" dirty="0" smtClean="0"/>
                  <a:t>S</a:t>
                </a:r>
                <a:r>
                  <a:rPr lang="zh-CN" altLang="en-US" dirty="0" smtClean="0"/>
                  <a:t>行</a:t>
                </a:r>
                <a:r>
                  <a:rPr lang="en-US" altLang="zh-CN" dirty="0" smtClean="0"/>
                  <a:t>×S</a:t>
                </a:r>
                <a:r>
                  <a:rPr lang="zh-CN" altLang="en-US" dirty="0" smtClean="0"/>
                  <a:t>列的均匀网格，将一张输入的图像均匀分成</a:t>
                </a:r>
                <a:r>
                  <a:rPr lang="en-US" altLang="zh-CN" dirty="0" smtClean="0"/>
                  <a:t>S×S</a:t>
                </a:r>
                <a:r>
                  <a:rPr lang="zh-CN" altLang="en-US" dirty="0" smtClean="0"/>
                  <a:t>个子图像块，如果目标的中心点落在某个子图像块内，就认为这个目标归属于这个子图像块，也可以说这个子图像块包含这个目标</a:t>
                </a:r>
                <a:r>
                  <a:rPr lang="en-US" altLang="zh-CN" dirty="0" smtClean="0"/>
                  <a:t>(</a:t>
                </a:r>
                <a:r>
                  <a:rPr lang="zh-CN" altLang="en-US" dirty="0" smtClean="0"/>
                  <a:t>其实是包含目标的中心</a:t>
                </a:r>
                <a:r>
                  <a:rPr lang="en-US" altLang="zh-CN" dirty="0" smtClean="0"/>
                  <a:t>)</a:t>
                </a:r>
                <a:r>
                  <a:rPr lang="zh-CN" altLang="en-US" dirty="0" smtClean="0"/>
                  <a:t>。这里的图中分成了</a:t>
                </a:r>
                <a:r>
                  <a:rPr lang="en-US" altLang="zh-CN" dirty="0" smtClean="0"/>
                  <a:t>7×7=49</a:t>
                </a:r>
                <a:r>
                  <a:rPr lang="zh-CN" altLang="en-US" dirty="0" smtClean="0"/>
                  <a:t>个子图像块。在每一个子图像块中，会预测</a:t>
                </a:r>
                <a:r>
                  <a:rPr lang="en-US" altLang="zh-CN" dirty="0" smtClean="0"/>
                  <a:t>B</a:t>
                </a:r>
                <a:r>
                  <a:rPr lang="zh-CN" altLang="en-US" dirty="0" smtClean="0"/>
                  <a:t>个目标框的坐标以及这</a:t>
                </a:r>
                <a:r>
                  <a:rPr lang="en-US" altLang="zh-CN" dirty="0" smtClean="0"/>
                  <a:t>B</a:t>
                </a:r>
                <a:r>
                  <a:rPr lang="zh-CN" altLang="en-US" dirty="0" smtClean="0"/>
                  <a:t>个目标框框中目标的置信度，这个置信度反映的是当前预测框框中目标的概率以及预测框位置的准确程度。具体可以通过如下公式描述</a:t>
                </a:r>
                <a:r>
                  <a:rPr lang="en-US" altLang="zh-CN" dirty="0" smtClean="0"/>
                  <a:t>:</a:t>
                </a:r>
                <a:r>
                  <a:rPr lang="en-US" altLang="zh-CN" b="0" i="0" smtClean="0">
                    <a:latin typeface="Cambria Math" panose="02040503050406030204" pitchFamily="18" charset="0"/>
                  </a:rPr>
                  <a:t>𝑃=𝑃𝑟(𝑂𝑏𝑗𝑒𝑐𝑡)</a:t>
                </a:r>
                <a:r>
                  <a:rPr lang="en-US" altLang="zh-CN" i="0">
                    <a:latin typeface="Cambria Math" panose="02040503050406030204" pitchFamily="18" charset="0"/>
                  </a:rPr>
                  <a:t>×</a:t>
                </a:r>
                <a:r>
                  <a:rPr lang="en-US" altLang="zh-CN" i="0" smtClean="0">
                    <a:latin typeface="Cambria Math" panose="02040503050406030204" pitchFamily="18" charset="0"/>
                  </a:rPr>
                  <a:t>〖</a:t>
                </a:r>
                <a:r>
                  <a:rPr lang="en-US" altLang="zh-CN" b="0" i="0" smtClean="0">
                    <a:latin typeface="Cambria Math" panose="02040503050406030204" pitchFamily="18" charset="0"/>
                  </a:rPr>
                  <a:t>𝐼𝑜𝑈〗_𝑝𝑟𝑒𝑑^𝑡𝑟𝑢𝑡ℎ</a:t>
                </a:r>
                <a:r>
                  <a:rPr lang="zh-CN" altLang="en-US" b="0" i="0" smtClean="0">
                    <a:latin typeface="Cambria Math" panose="02040503050406030204" pitchFamily="18" charset="0"/>
                  </a:rPr>
                  <a:t> 。</a:t>
                </a:r>
                <a:endParaRPr lang="en-US" altLang="zh-CN" dirty="0" smtClean="0"/>
              </a:p>
              <a:p>
                <a:r>
                  <a:rPr lang="zh-CN" altLang="en-US" dirty="0" smtClean="0"/>
                  <a:t>如果当前预测框没有框中目标，则</a:t>
                </a:r>
                <a:r>
                  <a:rPr lang="en-US" altLang="zh-CN" dirty="0" err="1" smtClean="0"/>
                  <a:t>Pr</a:t>
                </a:r>
                <a:r>
                  <a:rPr lang="en-US" altLang="zh-CN" dirty="0" smtClean="0"/>
                  <a:t>(Object)=0;</a:t>
                </a:r>
                <a:r>
                  <a:rPr lang="zh-CN" altLang="en-US" dirty="0" smtClean="0"/>
                  <a:t>反之，如果当前预测框框中了目标，则</a:t>
                </a:r>
                <a:r>
                  <a:rPr lang="en-US" altLang="zh-CN" dirty="0" err="1" smtClean="0"/>
                  <a:t>Pr</a:t>
                </a:r>
                <a:r>
                  <a:rPr lang="en-US" altLang="zh-CN" dirty="0" smtClean="0"/>
                  <a:t>(Object)=1</a:t>
                </a:r>
                <a:r>
                  <a:rPr lang="zh-CN" altLang="en-US" dirty="0" smtClean="0"/>
                  <a:t>。</a:t>
                </a:r>
              </a:p>
              <a:p>
                <a:r>
                  <a:rPr lang="en-US" altLang="zh-CN" i="0" smtClean="0">
                    <a:latin typeface="Cambria Math" panose="02040503050406030204" pitchFamily="18" charset="0"/>
                  </a:rPr>
                  <a:t>〖</a:t>
                </a:r>
                <a:r>
                  <a:rPr lang="en-US" altLang="zh-CN" b="0" i="0" smtClean="0">
                    <a:latin typeface="Cambria Math" panose="02040503050406030204" pitchFamily="18" charset="0"/>
                  </a:rPr>
                  <a:t>𝐼𝑜𝑈〗_𝑝𝑟𝑒𝑑^𝑡𝑟𝑢𝑡ℎ</a:t>
                </a:r>
                <a:r>
                  <a:rPr lang="zh-CN" altLang="en-US" dirty="0" smtClean="0"/>
                  <a:t>是预测框和目标真值框的交并比，反映预测框和真值框的重合度。这里说明一下何为框中目标，如果一个目标的中心点没有落在当前子图像块内，则这个目标不属于当前子图像块，当前子图像块的预测框不会框中这个目标</a:t>
                </a:r>
                <a:r>
                  <a:rPr lang="en-US" altLang="zh-CN" dirty="0" smtClean="0"/>
                  <a:t>;</a:t>
                </a:r>
                <a:r>
                  <a:rPr lang="zh-CN" altLang="en-US" dirty="0" smtClean="0"/>
                  <a:t>如果一个目标的中心点落在当前子图像块中，就需要分别计算各个预测框与目标真值框的交并比，认为</a:t>
                </a:r>
                <a:r>
                  <a:rPr lang="en-US" altLang="zh-CN" dirty="0" err="1" smtClean="0"/>
                  <a:t>IoU</a:t>
                </a:r>
                <a:r>
                  <a:rPr lang="zh-CN" altLang="en-US" dirty="0" smtClean="0"/>
                  <a:t>最大的预测框框中了目标，其他预测框没有框中目标，其实这个约定并不见得合理，仅是</a:t>
                </a:r>
                <a:r>
                  <a:rPr lang="en-US" altLang="zh-CN" dirty="0" smtClean="0"/>
                  <a:t>YOLO</a:t>
                </a:r>
                <a:r>
                  <a:rPr lang="zh-CN" altLang="en-US" dirty="0" smtClean="0"/>
                  <a:t>的一个策略。另外，如前所述， 因为</a:t>
                </a:r>
                <a:r>
                  <a:rPr lang="en-US" altLang="zh-CN" dirty="0" smtClean="0"/>
                  <a:t>YOLO</a:t>
                </a:r>
                <a:r>
                  <a:rPr lang="zh-CN" altLang="en-US" dirty="0" smtClean="0"/>
                  <a:t>默认图像中的目标都比较大，以至于不会出现一一个子图像块中有多个目标的情况，所以如果有多个非常小的目标的中心落在同一个子图像块内，算法就会出现问题，最终只有一个目标会被检测出来。</a:t>
                </a:r>
                <a:endParaRPr lang="en-US" altLang="zh-CN" dirty="0" smtClean="0"/>
              </a:p>
              <a:p>
                <a:r>
                  <a:rPr lang="zh-CN" altLang="en-US" dirty="0" smtClean="0"/>
                  <a:t>对于每一个预测框，都需要回归框的中心点坐标</a:t>
                </a:r>
                <a:r>
                  <a:rPr lang="en-US" altLang="zh-CN" dirty="0" smtClean="0"/>
                  <a:t>(x</a:t>
                </a:r>
                <a:r>
                  <a:rPr lang="zh-CN" altLang="en-US" dirty="0" smtClean="0"/>
                  <a:t>，</a:t>
                </a:r>
                <a:r>
                  <a:rPr lang="en-US" altLang="zh-CN" dirty="0" smtClean="0"/>
                  <a:t>y)</a:t>
                </a:r>
                <a:r>
                  <a:rPr lang="zh-CN" altLang="en-US" dirty="0" smtClean="0"/>
                  <a:t>， 框的宽</a:t>
                </a:r>
                <a:r>
                  <a:rPr lang="en-US" altLang="zh-CN" dirty="0" smtClean="0"/>
                  <a:t>w</a:t>
                </a:r>
                <a:r>
                  <a:rPr lang="zh-CN" altLang="en-US" dirty="0" smtClean="0"/>
                  <a:t>和高</a:t>
                </a:r>
                <a:r>
                  <a:rPr lang="en-US" altLang="zh-CN" dirty="0" smtClean="0"/>
                  <a:t>h</a:t>
                </a:r>
                <a:r>
                  <a:rPr lang="zh-CN" altLang="en-US" dirty="0" smtClean="0"/>
                  <a:t>以及预测框的置信度。预测框的置信度如上文所述，描述的是预测框框中目标的概率以及预测框与真值框的交并比，</a:t>
                </a:r>
                <a:r>
                  <a:rPr lang="en-US" altLang="zh-CN" dirty="0" smtClean="0"/>
                  <a:t>(x, y)</a:t>
                </a:r>
                <a:r>
                  <a:rPr lang="zh-CN" altLang="en-US" dirty="0" smtClean="0"/>
                  <a:t>是当前子图像块的相对坐标，坐标原点位于子图像块的左上角，且坐标值通过除以子图像块的宽、高，进行了归一化处理。</a:t>
                </a:r>
                <a:r>
                  <a:rPr lang="en-US" altLang="zh-CN" dirty="0" smtClean="0"/>
                  <a:t>w</a:t>
                </a:r>
                <a:r>
                  <a:rPr lang="zh-CN" altLang="en-US" dirty="0" smtClean="0"/>
                  <a:t>、</a:t>
                </a:r>
                <a:r>
                  <a:rPr lang="en-US" altLang="zh-CN" dirty="0" smtClean="0"/>
                  <a:t>h</a:t>
                </a:r>
                <a:r>
                  <a:rPr lang="zh-CN" altLang="en-US" dirty="0" smtClean="0"/>
                  <a:t>也是经过归一化处理的宽和高，是将预测框的宽和高，分别除以整幅图像的宽和高得到的。</a:t>
                </a:r>
              </a:p>
              <a:p>
                <a:r>
                  <a:rPr lang="zh-CN" altLang="en-US" dirty="0" smtClean="0"/>
                  <a:t>每个子图像块都会回归</a:t>
                </a:r>
                <a:r>
                  <a:rPr lang="en-US" altLang="zh-CN" dirty="0" smtClean="0"/>
                  <a:t>C</a:t>
                </a:r>
                <a:r>
                  <a:rPr lang="zh-CN" altLang="en-US" dirty="0" smtClean="0"/>
                  <a:t>个条件概率，用</a:t>
                </a:r>
                <a:r>
                  <a:rPr lang="en-US" altLang="zh-CN" dirty="0" err="1" smtClean="0"/>
                  <a:t>Pr</a:t>
                </a:r>
                <a:r>
                  <a:rPr lang="en-US" altLang="zh-CN" dirty="0" smtClean="0"/>
                  <a:t>(</a:t>
                </a:r>
                <a:r>
                  <a:rPr lang="en-US" altLang="zh-CN" dirty="0" err="1" smtClean="0"/>
                  <a:t>Class</a:t>
                </a:r>
                <a:r>
                  <a:rPr lang="en-US" altLang="zh-CN" baseline="-25000" dirty="0" err="1" smtClean="0"/>
                  <a:t>i</a:t>
                </a:r>
                <a:r>
                  <a:rPr lang="en-US" altLang="zh-CN" dirty="0" err="1" smtClean="0"/>
                  <a:t>|Object</a:t>
                </a:r>
                <a:r>
                  <a:rPr lang="en-US" altLang="zh-CN" dirty="0" smtClean="0"/>
                  <a:t>)</a:t>
                </a:r>
                <a:r>
                  <a:rPr lang="zh-CN" altLang="en-US" dirty="0" smtClean="0"/>
                  <a:t>表示，表示在框中目标的前提下，目标属于某个类别的概率。因为</a:t>
                </a:r>
                <a:r>
                  <a:rPr lang="en-US" altLang="zh-CN" dirty="0" smtClean="0"/>
                  <a:t>YOLO</a:t>
                </a:r>
                <a:r>
                  <a:rPr lang="zh-CN" altLang="en-US" dirty="0" smtClean="0"/>
                  <a:t>默认每个子图像块只包含一个目标，所以无论要预测多少个目标框，只需要回归一组条件概率。在测试的时候，由预测框的置信度和条件概率相乘得到最终的置信度，其中融合了位置和类别的信息，可以用下面的公式描述。</a:t>
                </a:r>
                <a:endParaRPr lang="en-US" altLang="zh-CN" dirty="0" smtClean="0"/>
              </a:p>
              <a:p>
                <a:pPr/>
                <a:r>
                  <a:rPr lang="en-US" altLang="zh-CN" b="0" i="0" smtClean="0">
                    <a:latin typeface="Cambria Math" panose="02040503050406030204" pitchFamily="18" charset="0"/>
                  </a:rPr>
                  <a:t>𝑃𝑟(〖𝐶𝑙𝑎𝑠𝑠〗_𝑖 |𝑂𝑏𝑗𝑒𝑐𝑡)</a:t>
                </a:r>
                <a:r>
                  <a:rPr lang="en-US" altLang="zh-CN" b="0" i="0" smtClean="0">
                    <a:latin typeface="Cambria Math" panose="02040503050406030204" pitchFamily="18" charset="0"/>
                    <a:ea typeface="Cambria Math" panose="02040503050406030204" pitchFamily="18" charset="0"/>
                  </a:rPr>
                  <a:t>×𝑃𝑟(𝑂𝑏𝑗𝑒𝑐𝑡)×〖𝐼𝑜𝑈〗_𝑝𝑟𝑒𝑑^𝑡𝑟𝑢𝑡ℎ=𝑃𝑟(〖𝐶𝑙𝑎𝑠𝑠〗_𝑖 )×〖𝐼𝑜𝑈〗_𝑝𝑟𝑒𝑑^𝑡𝑟𝑢𝑡ℎ</a:t>
                </a:r>
                <a:endParaRPr lang="zh-CN" altLang="en-US" dirty="0" smtClean="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1866384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如图所示，测试时将图像分成</a:t>
                </a:r>
                <a:r>
                  <a:rPr lang="en-US" altLang="zh-CN" dirty="0" smtClean="0"/>
                  <a:t>S×S</a:t>
                </a:r>
                <a:r>
                  <a:rPr lang="zh-CN" altLang="en-US" dirty="0" smtClean="0"/>
                  <a:t>个子图像块，总共回归</a:t>
                </a:r>
                <a:r>
                  <a:rPr lang="en-US" altLang="zh-CN" dirty="0" smtClean="0"/>
                  <a:t>S×S×</a:t>
                </a:r>
                <a:r>
                  <a:rPr lang="zh-CN" altLang="en-US" dirty="0" smtClean="0"/>
                  <a:t>（</a:t>
                </a:r>
                <a:r>
                  <a:rPr lang="en-US" altLang="zh-CN" dirty="0" smtClean="0"/>
                  <a:t>B×5+C</a:t>
                </a:r>
                <a:r>
                  <a:rPr lang="zh-CN" altLang="en-US" dirty="0" smtClean="0"/>
                  <a:t>）个参数（</a:t>
                </a:r>
                <a:r>
                  <a:rPr lang="en-US" altLang="zh-CN" dirty="0" smtClean="0"/>
                  <a:t>5</a:t>
                </a:r>
                <a:r>
                  <a:rPr lang="zh-CN" altLang="en-US" dirty="0" smtClean="0"/>
                  <a:t>表示</a:t>
                </a:r>
                <a:r>
                  <a:rPr lang="en-US" altLang="zh-CN" dirty="0" smtClean="0"/>
                  <a:t>4</a:t>
                </a:r>
                <a:r>
                  <a:rPr lang="zh-CN" altLang="en-US" dirty="0" smtClean="0"/>
                  <a:t>个位置参数</a:t>
                </a:r>
                <a:r>
                  <a:rPr lang="en-US" altLang="zh-CN" dirty="0" err="1" smtClean="0"/>
                  <a:t>x,y,w,h</a:t>
                </a:r>
                <a:r>
                  <a:rPr lang="zh-CN" altLang="en-US" dirty="0" smtClean="0"/>
                  <a:t>和</a:t>
                </a:r>
                <a:r>
                  <a:rPr lang="en-US" altLang="zh-CN" dirty="0" smtClean="0"/>
                  <a:t>1</a:t>
                </a:r>
                <a:r>
                  <a:rPr lang="zh-CN" altLang="en-US" dirty="0" smtClean="0"/>
                  <a:t>个置信度），基于回归的结果，分别计算每个框的</a:t>
                </a:r>
                <a14:m>
                  <m:oMath xmlns:m="http://schemas.openxmlformats.org/officeDocument/2006/math">
                    <m:r>
                      <a:rPr lang="en-US" altLang="zh-CN" i="1" smtClean="0">
                        <a:latin typeface="Cambria Math" panose="02040503050406030204" pitchFamily="18" charset="0"/>
                      </a:rPr>
                      <m:t>𝑃𝑟</m:t>
                    </m:r>
                    <m:d>
                      <m:dPr>
                        <m:ctrlPr>
                          <a:rPr lang="en-US" altLang="zh-CN" i="1">
                            <a:latin typeface="Cambria Math" panose="02040503050406030204" pitchFamily="18" charset="0"/>
                          </a:rPr>
                        </m:ctrlPr>
                      </m:dPr>
                      <m:e>
                        <m:r>
                          <a:rPr lang="en-US" altLang="zh-CN" i="1">
                            <a:latin typeface="Cambria Math" panose="02040503050406030204" pitchFamily="18" charset="0"/>
                          </a:rPr>
                          <m:t>𝑂𝑏𝑗𝑒𝑐𝑡</m:t>
                        </m:r>
                      </m:e>
                    </m:d>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𝐼𝑜𝑈</m:t>
                        </m:r>
                      </m:e>
                      <m:sub>
                        <m:r>
                          <a:rPr lang="en-US" altLang="zh-CN" i="1">
                            <a:latin typeface="Cambria Math" panose="02040503050406030204" pitchFamily="18" charset="0"/>
                          </a:rPr>
                          <m:t>𝑝𝑟𝑒𝑑</m:t>
                        </m:r>
                      </m:sub>
                      <m:sup>
                        <m:r>
                          <a:rPr lang="en-US" altLang="zh-CN" i="1">
                            <a:latin typeface="Cambria Math" panose="02040503050406030204" pitchFamily="18" charset="0"/>
                          </a:rPr>
                          <m:t>𝑡𝑟𝑢𝑡h</m:t>
                        </m:r>
                      </m:sup>
                    </m:sSubSup>
                  </m:oMath>
                </a14:m>
                <a:r>
                  <a:rPr lang="zh-CN" altLang="en-US" smtClean="0"/>
                  <a:t>的值，当该值为所在子块中的最大值，且大于预设的检出阈值时，输出对应的预测框。</a:t>
                </a:r>
                <a:endParaRPr lang="zh-CN" altLang="en-US" dirty="0"/>
              </a:p>
            </p:txBody>
          </p:sp>
        </mc:Choice>
        <mc:Fallback xmlns="">
          <p:sp>
            <p:nvSpPr>
              <p:cNvPr id="3" name="备注占位符 2"/>
              <p:cNvSpPr>
                <a:spLocks noGrp="1"/>
              </p:cNvSpPr>
              <p:nvPr>
                <p:ph type="body" idx="1"/>
              </p:nvPr>
            </p:nvSpPr>
            <p:spPr/>
            <p:txBody>
              <a:bodyPr/>
              <a:lstStyle/>
              <a:p>
                <a:r>
                  <a:rPr lang="zh-CN" altLang="en-US" dirty="0" smtClean="0"/>
                  <a:t>如图所示，测试时将图像分成</a:t>
                </a:r>
                <a:r>
                  <a:rPr lang="en-US" altLang="zh-CN" dirty="0" smtClean="0"/>
                  <a:t>S×S</a:t>
                </a:r>
                <a:r>
                  <a:rPr lang="zh-CN" altLang="en-US" dirty="0" smtClean="0"/>
                  <a:t>个子图像块，总共回归</a:t>
                </a:r>
                <a:r>
                  <a:rPr lang="en-US" altLang="zh-CN" dirty="0" smtClean="0"/>
                  <a:t>S×S×</a:t>
                </a:r>
                <a:r>
                  <a:rPr lang="zh-CN" altLang="en-US" dirty="0" smtClean="0"/>
                  <a:t>（</a:t>
                </a:r>
                <a:r>
                  <a:rPr lang="en-US" altLang="zh-CN" dirty="0" smtClean="0"/>
                  <a:t>B×5+C</a:t>
                </a:r>
                <a:r>
                  <a:rPr lang="zh-CN" altLang="en-US" dirty="0" smtClean="0"/>
                  <a:t>）个参数（</a:t>
                </a:r>
                <a:r>
                  <a:rPr lang="en-US" altLang="zh-CN" dirty="0" smtClean="0"/>
                  <a:t>5</a:t>
                </a:r>
                <a:r>
                  <a:rPr lang="zh-CN" altLang="en-US" dirty="0" smtClean="0"/>
                  <a:t>表示</a:t>
                </a:r>
                <a:r>
                  <a:rPr lang="en-US" altLang="zh-CN" dirty="0" smtClean="0"/>
                  <a:t>4</a:t>
                </a:r>
                <a:r>
                  <a:rPr lang="zh-CN" altLang="en-US" dirty="0" smtClean="0"/>
                  <a:t>个位置参数</a:t>
                </a:r>
                <a:r>
                  <a:rPr lang="en-US" altLang="zh-CN" dirty="0" err="1" smtClean="0"/>
                  <a:t>x,y,w,h</a:t>
                </a:r>
                <a:r>
                  <a:rPr lang="zh-CN" altLang="en-US" dirty="0" smtClean="0"/>
                  <a:t>和</a:t>
                </a:r>
                <a:r>
                  <a:rPr lang="en-US" altLang="zh-CN" dirty="0" smtClean="0"/>
                  <a:t>1</a:t>
                </a:r>
                <a:r>
                  <a:rPr lang="zh-CN" altLang="en-US" dirty="0" smtClean="0"/>
                  <a:t>个置信度），基于回归的结果，分别计算每个框的</a:t>
                </a:r>
                <a:r>
                  <a:rPr lang="en-US" altLang="zh-CN" i="0" smtClean="0">
                    <a:latin typeface="Cambria Math" panose="02040503050406030204" pitchFamily="18" charset="0"/>
                  </a:rPr>
                  <a:t>𝑃𝑟</a:t>
                </a:r>
                <a:r>
                  <a:rPr lang="en-US" altLang="zh-CN" i="0">
                    <a:latin typeface="Cambria Math" panose="02040503050406030204" pitchFamily="18" charset="0"/>
                  </a:rPr>
                  <a:t>(𝑂𝑏𝑗𝑒𝑐𝑡)×〖𝐼𝑜𝑈〗_𝑝𝑟𝑒𝑑^𝑡𝑟𝑢𝑡ℎ</a:t>
                </a:r>
                <a:r>
                  <a:rPr lang="zh-CN" altLang="en-US" smtClean="0"/>
                  <a:t>的值，当该值为所在子块中的最大值，且大于预设的检出阈值时，输出对应的预测框。</a:t>
                </a:r>
                <a:endParaRPr lang="zh-CN" altLang="en-US" dirty="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5575164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下面基于</a:t>
            </a:r>
            <a:r>
              <a:rPr lang="en-US" altLang="zh-CN" dirty="0" smtClean="0"/>
              <a:t>PASCAL VOC</a:t>
            </a:r>
            <a:r>
              <a:rPr lang="zh-CN" altLang="en-US" dirty="0" smtClean="0"/>
              <a:t>数据集，介绍</a:t>
            </a:r>
            <a:r>
              <a:rPr lang="en-US" altLang="zh-CN" dirty="0" smtClean="0"/>
              <a:t>YOLO</a:t>
            </a:r>
            <a:r>
              <a:rPr lang="zh-CN" altLang="en-US" dirty="0" smtClean="0"/>
              <a:t>第一版的训练方法。取</a:t>
            </a:r>
            <a:r>
              <a:rPr lang="en-US" altLang="zh-CN" dirty="0" smtClean="0"/>
              <a:t>S=7</a:t>
            </a:r>
            <a:r>
              <a:rPr lang="zh-CN" altLang="en-US" dirty="0" smtClean="0"/>
              <a:t>、</a:t>
            </a:r>
            <a:r>
              <a:rPr lang="en-US" altLang="zh-CN" dirty="0" smtClean="0"/>
              <a:t>B=2</a:t>
            </a:r>
            <a:r>
              <a:rPr lang="zh-CN" altLang="en-US" dirty="0" smtClean="0"/>
              <a:t>，则图像被划分成</a:t>
            </a:r>
            <a:r>
              <a:rPr lang="en-US" altLang="zh-CN" dirty="0" smtClean="0"/>
              <a:t>7×7</a:t>
            </a:r>
            <a:r>
              <a:rPr lang="zh-CN" altLang="en-US" dirty="0" smtClean="0"/>
              <a:t>个子图像块，每个子图像块需要预测</a:t>
            </a:r>
            <a:r>
              <a:rPr lang="en-US" altLang="zh-CN" dirty="0" smtClean="0"/>
              <a:t>2</a:t>
            </a:r>
            <a:r>
              <a:rPr lang="zh-CN" altLang="en-US" dirty="0" smtClean="0"/>
              <a:t>个目标框。</a:t>
            </a:r>
            <a:r>
              <a:rPr lang="en-US" altLang="zh-CN" dirty="0" smtClean="0"/>
              <a:t>PASCAL VOC</a:t>
            </a:r>
            <a:r>
              <a:rPr lang="zh-CN" altLang="en-US" dirty="0" smtClean="0"/>
              <a:t>数据集有</a:t>
            </a:r>
            <a:r>
              <a:rPr lang="en-US" altLang="zh-CN" dirty="0" smtClean="0"/>
              <a:t>20</a:t>
            </a:r>
            <a:r>
              <a:rPr lang="zh-CN" altLang="en-US" dirty="0" smtClean="0"/>
              <a:t>个类别，则最后需要回归的参数数量为</a:t>
            </a:r>
            <a:r>
              <a:rPr lang="en-US" altLang="zh-CN" dirty="0" smtClean="0"/>
              <a:t>7×7×[2×(4+1)+20]=7×7×30</a:t>
            </a:r>
            <a:r>
              <a:rPr lang="zh-CN" altLang="en-US" dirty="0" smtClean="0"/>
              <a:t>，其中</a:t>
            </a:r>
            <a:r>
              <a:rPr lang="en-US" altLang="zh-CN" dirty="0" smtClean="0"/>
              <a:t>7×7</a:t>
            </a:r>
            <a:r>
              <a:rPr lang="zh-CN" altLang="en-US" dirty="0" smtClean="0"/>
              <a:t>为子图像块的数量，</a:t>
            </a:r>
            <a:r>
              <a:rPr lang="en-US" altLang="zh-CN" dirty="0" smtClean="0"/>
              <a:t>2</a:t>
            </a:r>
            <a:r>
              <a:rPr lang="zh-CN" altLang="en-US" dirty="0" smtClean="0"/>
              <a:t>为每个子图像块需要预测的框的数量，</a:t>
            </a:r>
            <a:r>
              <a:rPr lang="en-US" altLang="zh-CN" dirty="0" smtClean="0"/>
              <a:t>4+1</a:t>
            </a:r>
            <a:r>
              <a:rPr lang="zh-CN" altLang="en-US" dirty="0" smtClean="0"/>
              <a:t>代表框的位置参数</a:t>
            </a:r>
            <a:r>
              <a:rPr lang="en-US" altLang="zh-CN" dirty="0" err="1" smtClean="0"/>
              <a:t>x,y,w,h</a:t>
            </a:r>
            <a:r>
              <a:rPr lang="zh-CN" altLang="en-US" dirty="0" smtClean="0"/>
              <a:t>以及</a:t>
            </a:r>
            <a:r>
              <a:rPr lang="en-US" altLang="zh-CN" dirty="0" smtClean="0"/>
              <a:t>1</a:t>
            </a:r>
            <a:r>
              <a:rPr lang="zh-CN" altLang="en-US" dirty="0" smtClean="0"/>
              <a:t>个框的置信度，</a:t>
            </a:r>
            <a:r>
              <a:rPr lang="en-US" altLang="zh-CN" dirty="0" smtClean="0"/>
              <a:t>20</a:t>
            </a:r>
            <a:r>
              <a:rPr lang="zh-CN" altLang="en-US" dirty="0" smtClean="0"/>
              <a:t>表示</a:t>
            </a:r>
            <a:r>
              <a:rPr lang="en-US" altLang="zh-CN" dirty="0" smtClean="0"/>
              <a:t>20</a:t>
            </a:r>
            <a:r>
              <a:rPr lang="zh-CN" altLang="en-US" dirty="0" smtClean="0"/>
              <a:t>个类别的分类概率。</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8135594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YOLO</a:t>
            </a:r>
            <a:r>
              <a:rPr lang="zh-CN" altLang="en-US" dirty="0" smtClean="0"/>
              <a:t>第一版的网络结构如图所示，借鉴了</a:t>
            </a:r>
            <a:r>
              <a:rPr lang="en-US" altLang="zh-CN" dirty="0" err="1" smtClean="0"/>
              <a:t>GoogleNet</a:t>
            </a:r>
            <a:r>
              <a:rPr lang="zh-CN" altLang="en-US" dirty="0" smtClean="0"/>
              <a:t>的结构，先通过</a:t>
            </a:r>
            <a:r>
              <a:rPr lang="en-US" altLang="zh-CN" dirty="0" smtClean="0"/>
              <a:t>24</a:t>
            </a:r>
            <a:r>
              <a:rPr lang="zh-CN" altLang="en-US" dirty="0" smtClean="0"/>
              <a:t>个卷积层提取特征，然后</a:t>
            </a:r>
            <a:r>
              <a:rPr lang="en-US" altLang="zh-CN" dirty="0" smtClean="0"/>
              <a:t>2</a:t>
            </a:r>
            <a:r>
              <a:rPr lang="zh-CN" altLang="en-US" dirty="0" smtClean="0"/>
              <a:t>层使用全连接层回归框的坐标、置信度以及分类概率，最后输出的参数工</a:t>
            </a:r>
            <a:r>
              <a:rPr lang="en-US" altLang="zh-CN" dirty="0" smtClean="0"/>
              <a:t>7×7×30</a:t>
            </a:r>
            <a:r>
              <a:rPr lang="zh-CN" altLang="en-US" dirty="0" smtClean="0"/>
              <a:t>维。因为网络最后</a:t>
            </a:r>
            <a:r>
              <a:rPr lang="en-US" altLang="zh-CN" dirty="0" smtClean="0"/>
              <a:t>2</a:t>
            </a:r>
            <a:r>
              <a:rPr lang="zh-CN" altLang="en-US" dirty="0" smtClean="0"/>
              <a:t>层是全连接层，所以要求整个网络具有固定尺度的输入。（图中的</a:t>
            </a:r>
            <a:r>
              <a:rPr lang="en-US" altLang="zh-CN" dirty="0" smtClean="0"/>
              <a:t>-s-</a:t>
            </a:r>
            <a:r>
              <a:rPr lang="zh-CN" altLang="en-US" dirty="0" smtClean="0"/>
              <a:t>代表除）</a:t>
            </a:r>
            <a:endParaRPr lang="en-US" altLang="zh-CN" dirty="0" smtClean="0"/>
          </a:p>
          <a:p>
            <a:r>
              <a:rPr lang="zh-CN" altLang="en-US" dirty="0" smtClean="0"/>
              <a:t>训练模型时，仍然采用基于</a:t>
            </a:r>
            <a:r>
              <a:rPr lang="en-US" altLang="zh-CN" dirty="0" err="1" smtClean="0"/>
              <a:t>ImageNet</a:t>
            </a:r>
            <a:r>
              <a:rPr lang="zh-CN" altLang="en-US" dirty="0" smtClean="0"/>
              <a:t>分类数据集进行预训练的方式。取上述网络的前</a:t>
            </a:r>
            <a:r>
              <a:rPr lang="en-US" altLang="zh-CN" dirty="0" smtClean="0"/>
              <a:t>20</a:t>
            </a:r>
            <a:r>
              <a:rPr lang="zh-CN" altLang="en-US" dirty="0" smtClean="0"/>
              <a:t>个卷积层，后面接一个全连接层训练分类模型。在这个过程中，用于分类模型训练的图像尺度为</a:t>
            </a:r>
            <a:r>
              <a:rPr lang="en-US" altLang="zh-CN" dirty="0" smtClean="0"/>
              <a:t>224×224</a:t>
            </a:r>
            <a:r>
              <a:rPr lang="zh-CN" altLang="en-US" dirty="0" smtClean="0"/>
              <a:t>。分类模型训练完成后，在</a:t>
            </a:r>
            <a:r>
              <a:rPr lang="en-US" altLang="zh-CN" dirty="0" smtClean="0"/>
              <a:t>20</a:t>
            </a:r>
            <a:r>
              <a:rPr lang="zh-CN" altLang="en-US" dirty="0" smtClean="0"/>
              <a:t>个预训练的卷积层之后加上</a:t>
            </a:r>
            <a:r>
              <a:rPr lang="en-US" altLang="zh-CN" dirty="0" smtClean="0"/>
              <a:t>4</a:t>
            </a:r>
            <a:r>
              <a:rPr lang="zh-CN" altLang="en-US" dirty="0" smtClean="0"/>
              <a:t>个新的卷积层和</a:t>
            </a:r>
            <a:r>
              <a:rPr lang="en-US" altLang="zh-CN" dirty="0" smtClean="0"/>
              <a:t>2</a:t>
            </a:r>
            <a:r>
              <a:rPr lang="zh-CN" altLang="en-US" dirty="0" smtClean="0"/>
              <a:t>个全连接层，构造</a:t>
            </a:r>
            <a:r>
              <a:rPr lang="en-US" altLang="zh-CN" dirty="0" smtClean="0"/>
              <a:t>YOLO</a:t>
            </a:r>
            <a:r>
              <a:rPr lang="zh-CN" altLang="en-US" dirty="0" smtClean="0"/>
              <a:t>网络，其中</a:t>
            </a:r>
            <a:r>
              <a:rPr lang="en-US" altLang="zh-CN" dirty="0" smtClean="0"/>
              <a:t>4</a:t>
            </a:r>
            <a:r>
              <a:rPr lang="zh-CN" altLang="en-US" dirty="0" smtClean="0"/>
              <a:t>个卷积层和</a:t>
            </a:r>
            <a:r>
              <a:rPr lang="en-US" altLang="zh-CN" dirty="0" smtClean="0"/>
              <a:t>2</a:t>
            </a:r>
            <a:r>
              <a:rPr lang="zh-CN" altLang="en-US" dirty="0" smtClean="0"/>
              <a:t>个新的全连接层的参数可以通过随机的方式进行初始化，为了使用更加精细的信息，</a:t>
            </a:r>
            <a:r>
              <a:rPr lang="en-US" altLang="zh-CN" dirty="0" smtClean="0"/>
              <a:t>YOLO</a:t>
            </a:r>
            <a:r>
              <a:rPr lang="zh-CN" altLang="en-US" dirty="0" smtClean="0"/>
              <a:t>第一版网络适配了全连接层的尺度，使得输入的图像尺度为</a:t>
            </a:r>
            <a:r>
              <a:rPr lang="en-US" altLang="zh-CN" dirty="0" smtClean="0"/>
              <a:t>448×448</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2421519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损失函数</a:t>
                </a:r>
                <a:r>
                  <a:rPr lang="en-US" altLang="zh-CN" dirty="0" smtClean="0"/>
                  <a:t>L=</a:t>
                </a:r>
                <a:r>
                  <a:rPr lang="zh-CN" altLang="en-US" dirty="0" smtClean="0"/>
                  <a:t>坐标损失</a:t>
                </a:r>
                <a:r>
                  <a:rPr lang="en-US" altLang="zh-CN" dirty="0" smtClean="0"/>
                  <a:t>+</a:t>
                </a:r>
                <a:r>
                  <a:rPr lang="zh-CN" altLang="en-US" dirty="0" smtClean="0"/>
                  <a:t>置信度损失</a:t>
                </a:r>
                <a:r>
                  <a:rPr lang="en-US" altLang="zh-CN" dirty="0" smtClean="0"/>
                  <a:t>+</a:t>
                </a:r>
                <a:r>
                  <a:rPr lang="zh-CN" altLang="en-US" dirty="0" smtClean="0"/>
                  <a:t>预测类别损失。</a:t>
                </a:r>
                <a:endParaRPr lang="en-US" altLang="zh-CN" dirty="0" smtClean="0"/>
              </a:p>
              <a:p>
                <a:r>
                  <a:rPr lang="en-US" altLang="zh-CN" dirty="0" smtClean="0"/>
                  <a:t>YOLO</a:t>
                </a:r>
                <a:r>
                  <a:rPr lang="zh-CN" altLang="en-US" dirty="0" smtClean="0"/>
                  <a:t>第一版中有个并不合理的默认假设，就是一个子图像块中最多只能包含一个目标，因此</a:t>
                </a:r>
                <a:r>
                  <a:rPr lang="en-US" altLang="zh-CN" dirty="0" smtClean="0"/>
                  <a:t>YOLO</a:t>
                </a:r>
                <a:r>
                  <a:rPr lang="zh-CN" altLang="en-US" dirty="0" smtClean="0"/>
                  <a:t>第一版不适合小目标的检测场景。另外，</a:t>
                </a:r>
                <a:r>
                  <a:rPr lang="en-US" altLang="zh-CN" dirty="0" smtClean="0"/>
                  <a:t>YOLO</a:t>
                </a:r>
                <a:r>
                  <a:rPr lang="zh-CN" altLang="en-US" dirty="0" smtClean="0"/>
                  <a:t>第一版中约定了每个子图像块中与目标框</a:t>
                </a:r>
                <a:r>
                  <a:rPr lang="en-US" altLang="zh-CN" dirty="0" err="1" smtClean="0"/>
                  <a:t>IoU</a:t>
                </a:r>
                <a:r>
                  <a:rPr lang="zh-CN" altLang="en-US" dirty="0" smtClean="0"/>
                  <a:t>最大的预测框是框中目标的，其余的预测框认为未框中目标。</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14:m>
                  <m:oMath xmlns:m="http://schemas.openxmlformats.org/officeDocument/2006/math">
                    <m:sSubSup>
                      <m:sSubSupPr>
                        <m:ctrlPr>
                          <a:rPr lang="en-US" altLang="zh-CN" i="1" smtClean="0">
                            <a:latin typeface="Cambria Math" panose="02040503050406030204" pitchFamily="18" charset="0"/>
                          </a:rPr>
                        </m:ctrlPr>
                      </m:sSubSupPr>
                      <m:e>
                        <m:r>
                          <m:rPr>
                            <m:nor/>
                          </m:rPr>
                          <a:rPr lang="en-US" altLang="zh-CN"/>
                          <m:t>Ⅱ</m:t>
                        </m:r>
                      </m:e>
                      <m:sub>
                        <m:r>
                          <a:rPr lang="en-US" altLang="zh-CN" b="0" i="1" smtClean="0">
                            <a:latin typeface="Cambria Math" panose="02040503050406030204" pitchFamily="18" charset="0"/>
                          </a:rPr>
                          <m:t>𝑖𝑗</m:t>
                        </m:r>
                      </m:sub>
                      <m:sup>
                        <m:r>
                          <a:rPr lang="en-US" altLang="zh-CN" b="0" i="1" smtClean="0">
                            <a:latin typeface="Cambria Math" panose="02040503050406030204" pitchFamily="18" charset="0"/>
                          </a:rPr>
                          <m:t>𝑜𝑏𝑗</m:t>
                        </m:r>
                      </m:sup>
                    </m:sSubSup>
                  </m:oMath>
                </a14:m>
                <a:r>
                  <a:rPr lang="zh-CN" altLang="en-US" dirty="0" smtClean="0"/>
                  <a:t>是指示函数，当第</a:t>
                </a:r>
                <a:r>
                  <a:rPr lang="en-US" altLang="zh-CN" dirty="0" err="1" smtClean="0"/>
                  <a:t>i</a:t>
                </a:r>
                <a:r>
                  <a:rPr lang="zh-CN" altLang="en-US" dirty="0" smtClean="0"/>
                  <a:t>个子图像块的第</a:t>
                </a:r>
                <a:r>
                  <a:rPr lang="en-US" altLang="zh-CN" dirty="0" smtClean="0"/>
                  <a:t>j</a:t>
                </a:r>
                <a:r>
                  <a:rPr lang="zh-CN" altLang="en-US" dirty="0" smtClean="0"/>
                  <a:t>个预测框框中目标时，</a:t>
                </a:r>
                <a14:m>
                  <m:oMath xmlns:m="http://schemas.openxmlformats.org/officeDocument/2006/math">
                    <m:sSubSup>
                      <m:sSubSupPr>
                        <m:ctrlPr>
                          <a:rPr lang="en-US" altLang="zh-CN" i="1" smtClean="0">
                            <a:latin typeface="Cambria Math" panose="02040503050406030204" pitchFamily="18" charset="0"/>
                          </a:rPr>
                        </m:ctrlPr>
                      </m:sSubSupPr>
                      <m:e>
                        <m:r>
                          <m:rPr>
                            <m:nor/>
                          </m:rPr>
                          <a:rPr lang="en-US" altLang="zh-CN"/>
                          <m:t>Ⅱ</m:t>
                        </m:r>
                      </m:e>
                      <m:sub>
                        <m:r>
                          <a:rPr lang="en-US" altLang="zh-CN" b="0" i="1" smtClean="0">
                            <a:latin typeface="Cambria Math" panose="02040503050406030204" pitchFamily="18" charset="0"/>
                          </a:rPr>
                          <m:t>𝑖𝑗</m:t>
                        </m:r>
                      </m:sub>
                      <m:sup>
                        <m:r>
                          <a:rPr lang="en-US" altLang="zh-CN" b="0" i="1" smtClean="0">
                            <a:latin typeface="Cambria Math" panose="02040503050406030204" pitchFamily="18" charset="0"/>
                          </a:rPr>
                          <m:t>𝑜𝑏𝑗</m:t>
                        </m:r>
                      </m:sup>
                    </m:sSubSup>
                  </m:oMath>
                </a14:m>
                <a:r>
                  <a:rPr lang="en-US" altLang="zh-CN" dirty="0" smtClean="0"/>
                  <a:t>=1</a:t>
                </a:r>
                <a:r>
                  <a:rPr lang="zh-CN" altLang="en-US" dirty="0" smtClean="0"/>
                  <a:t>，否则</a:t>
                </a:r>
                <a14:m>
                  <m:oMath xmlns:m="http://schemas.openxmlformats.org/officeDocument/2006/math">
                    <m:sSubSup>
                      <m:sSubSupPr>
                        <m:ctrlPr>
                          <a:rPr lang="en-US" altLang="zh-CN" i="1" smtClean="0">
                            <a:latin typeface="Cambria Math" panose="02040503050406030204" pitchFamily="18" charset="0"/>
                          </a:rPr>
                        </m:ctrlPr>
                      </m:sSubSupPr>
                      <m:e>
                        <m:r>
                          <m:rPr>
                            <m:nor/>
                          </m:rPr>
                          <a:rPr lang="en-US" altLang="zh-CN"/>
                          <m:t>Ⅱ</m:t>
                        </m:r>
                      </m:e>
                      <m:sub>
                        <m:r>
                          <a:rPr lang="en-US" altLang="zh-CN" b="0" i="1" smtClean="0">
                            <a:latin typeface="Cambria Math" panose="02040503050406030204" pitchFamily="18" charset="0"/>
                          </a:rPr>
                          <m:t>𝑖𝑗</m:t>
                        </m:r>
                      </m:sub>
                      <m:sup>
                        <m:r>
                          <a:rPr lang="en-US" altLang="zh-CN" b="0" i="1" smtClean="0">
                            <a:latin typeface="Cambria Math" panose="02040503050406030204" pitchFamily="18" charset="0"/>
                          </a:rPr>
                          <m:t>𝑜𝑏𝑗</m:t>
                        </m:r>
                      </m:sup>
                    </m:sSubSup>
                  </m:oMath>
                </a14:m>
                <a:r>
                  <a:rPr lang="en-US" altLang="zh-CN" dirty="0" smtClean="0"/>
                  <a:t>=0</a:t>
                </a:r>
                <a:r>
                  <a:rPr lang="zh-CN" altLang="en-US" dirty="0" smtClean="0"/>
                  <a:t>。所以图中前三行表示包含目标的框的位置损失和置信度损失，如前所述，公式中</a:t>
                </a:r>
                <a:r>
                  <a:rPr lang="en-US" altLang="zh-CN" dirty="0" err="1" smtClean="0"/>
                  <a:t>x,y</a:t>
                </a:r>
                <a:r>
                  <a:rPr lang="zh-CN" altLang="en-US" dirty="0" smtClean="0"/>
                  <a:t>和</a:t>
                </a:r>
                <a14:m>
                  <m:oMath xmlns:m="http://schemas.openxmlformats.org/officeDocument/2006/math">
                    <m:acc>
                      <m:accPr>
                        <m:chr m:val="̂"/>
                        <m:ctrlPr>
                          <a:rPr lang="zh-CN" altLang="en-US" i="1" smtClean="0">
                            <a:latin typeface="Cambria Math" panose="02040503050406030204" pitchFamily="18" charset="0"/>
                          </a:rPr>
                        </m:ctrlPr>
                      </m:accPr>
                      <m:e>
                        <m:r>
                          <a:rPr lang="en-US" altLang="zh-CN" b="0" i="1" smtClean="0">
                            <a:latin typeface="Cambria Math" panose="02040503050406030204" pitchFamily="18" charset="0"/>
                          </a:rPr>
                          <m:t>𝑥</m:t>
                        </m:r>
                      </m:e>
                    </m:acc>
                    <m:acc>
                      <m:accPr>
                        <m:chr m:val="̂"/>
                        <m:ctrlPr>
                          <a:rPr lang="zh-CN" altLang="en-US" i="1" smtClean="0">
                            <a:latin typeface="Cambria Math" panose="02040503050406030204" pitchFamily="18" charset="0"/>
                          </a:rPr>
                        </m:ctrlPr>
                      </m:accPr>
                      <m:e>
                        <m:r>
                          <a:rPr lang="en-US" altLang="zh-CN" b="0" i="1" smtClean="0">
                            <a:latin typeface="Cambria Math" panose="02040503050406030204" pitchFamily="18" charset="0"/>
                          </a:rPr>
                          <m:t>𝑦</m:t>
                        </m:r>
                      </m:e>
                    </m:acc>
                    <m:r>
                      <a:rPr lang="zh-CN" altLang="en-US" b="0" i="1" smtClean="0">
                        <a:latin typeface="Cambria Math" panose="02040503050406030204" pitchFamily="18" charset="0"/>
                      </a:rPr>
                      <m:t>分别</m:t>
                    </m:r>
                  </m:oMath>
                </a14:m>
                <a:r>
                  <a:rPr lang="zh-CN" altLang="en-US" dirty="0" smtClean="0"/>
                  <a:t>表示预测框和目标框的中心点相对于子图像块的归一化坐标，</a:t>
                </a:r>
                <a:r>
                  <a:rPr lang="en-US" altLang="zh-CN" dirty="0" err="1" smtClean="0"/>
                  <a:t>w,h</a:t>
                </a:r>
                <a:r>
                  <a:rPr lang="zh-CN" altLang="en-US" dirty="0" smtClean="0"/>
                  <a:t>和</a:t>
                </a:r>
                <a14:m>
                  <m:oMath xmlns:m="http://schemas.openxmlformats.org/officeDocument/2006/math">
                    <m:acc>
                      <m:accPr>
                        <m:chr m:val="̂"/>
                        <m:ctrlPr>
                          <a:rPr lang="zh-CN" altLang="en-US" i="1" smtClean="0">
                            <a:latin typeface="Cambria Math" panose="02040503050406030204" pitchFamily="18" charset="0"/>
                          </a:rPr>
                        </m:ctrlPr>
                      </m:accPr>
                      <m:e>
                        <m:r>
                          <a:rPr lang="en-US" altLang="zh-CN" b="0" i="1" smtClean="0">
                            <a:latin typeface="Cambria Math" panose="02040503050406030204" pitchFamily="18" charset="0"/>
                          </a:rPr>
                          <m:t>𝑤</m:t>
                        </m:r>
                      </m:e>
                    </m:acc>
                    <m:acc>
                      <m:accPr>
                        <m:chr m:val="̂"/>
                        <m:ctrlPr>
                          <a:rPr lang="zh-CN" altLang="en-US" i="1" smtClean="0">
                            <a:latin typeface="Cambria Math" panose="02040503050406030204" pitchFamily="18" charset="0"/>
                          </a:rPr>
                        </m:ctrlPr>
                      </m:accPr>
                      <m:e>
                        <m:r>
                          <a:rPr lang="en-US" altLang="zh-CN" b="0" i="1" smtClean="0">
                            <a:latin typeface="Cambria Math" panose="02040503050406030204" pitchFamily="18" charset="0"/>
                          </a:rPr>
                          <m:t>h</m:t>
                        </m:r>
                      </m:e>
                    </m:acc>
                  </m:oMath>
                </a14:m>
                <a:r>
                  <a:rPr lang="zh-CN" altLang="en-US" dirty="0" smtClean="0"/>
                  <a:t>分别表示预测框和目标框相对于整幅图像的宽和高的归一化宽和高。这部分仅将框中目标的预测框的损失进行计算和梯度回传；图中第</a:t>
                </a:r>
                <a:r>
                  <a:rPr lang="en-US" altLang="zh-CN" dirty="0" smtClean="0"/>
                  <a:t>4</a:t>
                </a:r>
                <a:r>
                  <a:rPr lang="zh-CN" altLang="en-US" dirty="0" smtClean="0"/>
                  <a:t>行表示未包含目标的预测框的置信度损失，因为没有目标，其框中目标的置信度</a:t>
                </a:r>
                <a14:m>
                  <m:oMath xmlns:m="http://schemas.openxmlformats.org/officeDocument/2006/math">
                    <m:acc>
                      <m:accPr>
                        <m:chr m:val="̂"/>
                        <m:ctrlPr>
                          <a:rPr lang="zh-CN" altLang="en-US" i="1" smtClean="0">
                            <a:latin typeface="Cambria Math" panose="02040503050406030204" pitchFamily="18" charset="0"/>
                          </a:rPr>
                        </m:ctrlPr>
                      </m:acc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𝑖</m:t>
                            </m:r>
                          </m:sub>
                        </m:sSub>
                      </m:e>
                    </m:acc>
                  </m:oMath>
                </a14:m>
                <a:r>
                  <a:rPr lang="zh-CN" altLang="en-US" dirty="0" smtClean="0"/>
                  <a:t>的值为</a:t>
                </a:r>
                <a:r>
                  <a:rPr lang="en-US" altLang="zh-CN" dirty="0" smtClean="0"/>
                  <a:t>0</a:t>
                </a:r>
                <a:r>
                  <a:rPr lang="zh-CN" altLang="en-US" dirty="0" smtClean="0"/>
                  <a:t>；图中最后一行表示包含目标的分类损失。</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sz="1200" b="0" i="0" kern="1200" dirty="0" smtClean="0">
                    <a:solidFill>
                      <a:schemeClr val="tx1"/>
                    </a:solidFill>
                    <a:effectLst/>
                    <a:latin typeface="+mn-lt"/>
                    <a:ea typeface="+mn-ea"/>
                    <a:cs typeface="+mn-cs"/>
                  </a:rPr>
                  <a:t>如果只是简单的把它们相加，</a:t>
                </a:r>
                <a:r>
                  <a:rPr lang="en-US" altLang="zh-CN" sz="1200" b="0" i="0" kern="1200" dirty="0" smtClean="0">
                    <a:solidFill>
                      <a:schemeClr val="tx1"/>
                    </a:solidFill>
                    <a:effectLst/>
                    <a:latin typeface="+mn-lt"/>
                    <a:ea typeface="+mn-ea"/>
                    <a:cs typeface="+mn-cs"/>
                  </a:rPr>
                  <a:t>8</a:t>
                </a:r>
                <a:r>
                  <a:rPr lang="zh-CN" altLang="en-US" sz="1200" b="0" i="0" kern="1200" dirty="0" smtClean="0">
                    <a:solidFill>
                      <a:schemeClr val="tx1"/>
                    </a:solidFill>
                    <a:effectLst/>
                    <a:latin typeface="+mn-lt"/>
                    <a:ea typeface="+mn-ea"/>
                    <a:cs typeface="+mn-cs"/>
                  </a:rPr>
                  <a:t>维的坐标损失和</a:t>
                </a:r>
                <a:r>
                  <a:rPr lang="en-US" altLang="zh-CN" sz="1200" b="0" i="0" kern="1200" dirty="0" smtClean="0">
                    <a:solidFill>
                      <a:schemeClr val="tx1"/>
                    </a:solidFill>
                    <a:effectLst/>
                    <a:latin typeface="+mn-lt"/>
                    <a:ea typeface="+mn-ea"/>
                    <a:cs typeface="+mn-cs"/>
                  </a:rPr>
                  <a:t>20</a:t>
                </a:r>
                <a:r>
                  <a:rPr lang="zh-CN" altLang="en-US" sz="1200" b="0" i="0" kern="1200" dirty="0" smtClean="0">
                    <a:solidFill>
                      <a:schemeClr val="tx1"/>
                    </a:solidFill>
                    <a:effectLst/>
                    <a:latin typeface="+mn-lt"/>
                    <a:ea typeface="+mn-ea"/>
                    <a:cs typeface="+mn-cs"/>
                  </a:rPr>
                  <a:t>维的分类损失同等重要显然是不合理的。如果一些框没有目标（一幅图中这种框很多），那么就会将这些框的置信度设置为</a:t>
                </a:r>
                <a:r>
                  <a:rPr lang="en-US" altLang="zh-CN" sz="1200" b="0" i="0" kern="1200" dirty="0" smtClean="0">
                    <a:solidFill>
                      <a:schemeClr val="tx1"/>
                    </a:solidFill>
                    <a:effectLst/>
                    <a:latin typeface="+mn-lt"/>
                    <a:ea typeface="+mn-ea"/>
                    <a:cs typeface="+mn-cs"/>
                  </a:rPr>
                  <a:t>0</a:t>
                </a:r>
                <a:r>
                  <a:rPr lang="zh-CN" altLang="en-US" sz="1200" b="0" i="0" kern="1200" dirty="0" smtClean="0">
                    <a:solidFill>
                      <a:schemeClr val="tx1"/>
                    </a:solidFill>
                    <a:effectLst/>
                    <a:latin typeface="+mn-lt"/>
                    <a:ea typeface="+mn-ea"/>
                    <a:cs typeface="+mn-cs"/>
                  </a:rPr>
                  <a:t>，相比于数量较少的有目标的框，这些不包含目标的框对梯度更新的贡献更大，导致网络不稳定甚至发散。因此引入了</a:t>
                </a:r>
                <a:r>
                  <a:rPr lang="el-GR" altLang="zh-CN" sz="1200" b="0" i="0" kern="1200" dirty="0" smtClean="0">
                    <a:solidFill>
                      <a:schemeClr val="tx1"/>
                    </a:solidFill>
                    <a:effectLst/>
                    <a:latin typeface="+mn-lt"/>
                    <a:ea typeface="+mn-ea"/>
                    <a:cs typeface="+mn-cs"/>
                  </a:rPr>
                  <a:t>λ</a:t>
                </a:r>
                <a:r>
                  <a:rPr lang="zh-CN" altLang="en-US" sz="1200" b="0" i="0" kern="1200" dirty="0" smtClean="0">
                    <a:solidFill>
                      <a:schemeClr val="tx1"/>
                    </a:solidFill>
                    <a:effectLst/>
                    <a:latin typeface="+mn-lt"/>
                    <a:ea typeface="+mn-ea"/>
                    <a:cs typeface="+mn-cs"/>
                  </a:rPr>
                  <a:t>表示加权系数，用于平衡各部分损失的比例。图中引入了两个</a:t>
                </a:r>
                <a:r>
                  <a:rPr lang="el-GR" altLang="zh-CN" sz="1200" b="0" i="0" kern="1200" dirty="0" smtClean="0">
                    <a:solidFill>
                      <a:schemeClr val="tx1"/>
                    </a:solidFill>
                    <a:effectLst/>
                    <a:latin typeface="+mn-lt"/>
                    <a:ea typeface="+mn-ea"/>
                    <a:cs typeface="+mn-cs"/>
                  </a:rPr>
                  <a:t>λ</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λcoord</a:t>
                </a:r>
                <a:r>
                  <a:rPr lang="zh-CN" altLang="en-US" sz="1200" b="0" i="0" kern="1200" dirty="0" smtClean="0">
                    <a:solidFill>
                      <a:schemeClr val="tx1"/>
                    </a:solidFill>
                    <a:effectLst/>
                    <a:latin typeface="+mn-lt"/>
                    <a:ea typeface="+mn-ea"/>
                    <a:cs typeface="+mn-cs"/>
                  </a:rPr>
                  <a:t>更重视</a:t>
                </a:r>
                <a:r>
                  <a:rPr lang="en-US" altLang="zh-CN" sz="1200" b="0" i="0" kern="1200" dirty="0" smtClean="0">
                    <a:solidFill>
                      <a:schemeClr val="tx1"/>
                    </a:solidFill>
                    <a:effectLst/>
                    <a:latin typeface="+mn-lt"/>
                    <a:ea typeface="+mn-ea"/>
                    <a:cs typeface="+mn-cs"/>
                  </a:rPr>
                  <a:t>8</a:t>
                </a:r>
                <a:r>
                  <a:rPr lang="zh-CN" altLang="en-US" sz="1200" b="0" i="0" kern="1200" dirty="0" smtClean="0">
                    <a:solidFill>
                      <a:schemeClr val="tx1"/>
                    </a:solidFill>
                    <a:effectLst/>
                    <a:latin typeface="+mn-lt"/>
                    <a:ea typeface="+mn-ea"/>
                    <a:cs typeface="+mn-cs"/>
                  </a:rPr>
                  <a:t>维的坐标预测，给这些损失前面赋予更大的</a:t>
                </a:r>
                <a:r>
                  <a:rPr lang="en-US" altLang="zh-CN" sz="1200" b="0" i="0" kern="1200" dirty="0" smtClean="0">
                    <a:solidFill>
                      <a:schemeClr val="tx1"/>
                    </a:solidFill>
                    <a:effectLst/>
                    <a:latin typeface="+mn-lt"/>
                    <a:ea typeface="+mn-ea"/>
                    <a:cs typeface="+mn-cs"/>
                  </a:rPr>
                  <a:t>loss weight, ,</a:t>
                </a:r>
                <a:r>
                  <a:rPr lang="zh-CN" altLang="en-US" sz="1200" b="0" i="0" kern="1200" dirty="0" smtClean="0">
                    <a:solidFill>
                      <a:schemeClr val="tx1"/>
                    </a:solidFill>
                    <a:effectLst/>
                    <a:latin typeface="+mn-lt"/>
                    <a:ea typeface="+mn-ea"/>
                    <a:cs typeface="+mn-cs"/>
                  </a:rPr>
                  <a:t>在</a:t>
                </a:r>
                <a:r>
                  <a:rPr lang="en-US" altLang="zh-CN" sz="1200" b="0" i="0" kern="1200" dirty="0" err="1" smtClean="0">
                    <a:solidFill>
                      <a:schemeClr val="tx1"/>
                    </a:solidFill>
                    <a:effectLst/>
                    <a:latin typeface="+mn-lt"/>
                    <a:ea typeface="+mn-ea"/>
                    <a:cs typeface="+mn-cs"/>
                  </a:rPr>
                  <a:t>pascal</a:t>
                </a:r>
                <a:r>
                  <a:rPr lang="en-US" altLang="zh-CN" sz="1200" b="0" i="0" kern="1200" dirty="0" smtClean="0">
                    <a:solidFill>
                      <a:schemeClr val="tx1"/>
                    </a:solidFill>
                    <a:effectLst/>
                    <a:latin typeface="+mn-lt"/>
                    <a:ea typeface="+mn-ea"/>
                    <a:cs typeface="+mn-cs"/>
                  </a:rPr>
                  <a:t> VOC</a:t>
                </a:r>
                <a:r>
                  <a:rPr lang="zh-CN" altLang="en-US" sz="1200" b="0" i="0" kern="1200" dirty="0" smtClean="0">
                    <a:solidFill>
                      <a:schemeClr val="tx1"/>
                    </a:solidFill>
                    <a:effectLst/>
                    <a:latin typeface="+mn-lt"/>
                    <a:ea typeface="+mn-ea"/>
                    <a:cs typeface="+mn-cs"/>
                  </a:rPr>
                  <a:t>训练中取</a:t>
                </a:r>
                <a:r>
                  <a:rPr lang="en-US" altLang="zh-CN" sz="1200" b="0" i="0" kern="1200" dirty="0" smtClean="0">
                    <a:solidFill>
                      <a:schemeClr val="tx1"/>
                    </a:solidFill>
                    <a:effectLst/>
                    <a:latin typeface="+mn-lt"/>
                    <a:ea typeface="+mn-ea"/>
                    <a:cs typeface="+mn-cs"/>
                  </a:rPr>
                  <a:t>5,</a:t>
                </a:r>
                <a:r>
                  <a:rPr lang="el-GR" altLang="zh-CN" sz="1200" b="0" i="0" kern="1200" dirty="0" smtClean="0">
                    <a:solidFill>
                      <a:schemeClr val="tx1"/>
                    </a:solidFill>
                    <a:effectLst/>
                    <a:latin typeface="+mn-lt"/>
                    <a:ea typeface="+mn-ea"/>
                    <a:cs typeface="+mn-cs"/>
                  </a:rPr>
                  <a:t> λ</a:t>
                </a:r>
                <a:r>
                  <a:rPr lang="en-US" altLang="zh-CN" sz="1200" b="0" i="0" kern="1200" dirty="0" err="1" smtClean="0">
                    <a:solidFill>
                      <a:schemeClr val="tx1"/>
                    </a:solidFill>
                    <a:effectLst/>
                    <a:latin typeface="+mn-lt"/>
                    <a:ea typeface="+mn-ea"/>
                    <a:cs typeface="+mn-cs"/>
                  </a:rPr>
                  <a:t>noobj</a:t>
                </a:r>
                <a:r>
                  <a:rPr lang="zh-CN" altLang="en-US" sz="1200" b="0" i="0" kern="1200" dirty="0" smtClean="0">
                    <a:solidFill>
                      <a:schemeClr val="tx1"/>
                    </a:solidFill>
                    <a:effectLst/>
                    <a:latin typeface="+mn-lt"/>
                    <a:ea typeface="+mn-ea"/>
                    <a:cs typeface="+mn-cs"/>
                  </a:rPr>
                  <a:t>对没有</a:t>
                </a:r>
                <a:r>
                  <a:rPr lang="en-US" altLang="zh-CN" sz="1200" b="0" i="0" kern="1200" dirty="0" smtClean="0">
                    <a:solidFill>
                      <a:schemeClr val="tx1"/>
                    </a:solidFill>
                    <a:effectLst/>
                    <a:latin typeface="+mn-lt"/>
                    <a:ea typeface="+mn-ea"/>
                    <a:cs typeface="+mn-cs"/>
                  </a:rPr>
                  <a:t>object</a:t>
                </a:r>
                <a:r>
                  <a:rPr lang="zh-CN" altLang="en-US" sz="1200" b="0" i="0" kern="1200" dirty="0" smtClean="0">
                    <a:solidFill>
                      <a:schemeClr val="tx1"/>
                    </a:solidFill>
                    <a:effectLst/>
                    <a:latin typeface="+mn-lt"/>
                    <a:ea typeface="+mn-ea"/>
                    <a:cs typeface="+mn-cs"/>
                  </a:rPr>
                  <a:t>的</a:t>
                </a:r>
                <a:r>
                  <a:rPr lang="en-US" altLang="zh-CN" sz="1200" b="0" i="0" kern="1200" dirty="0" err="1" smtClean="0">
                    <a:solidFill>
                      <a:schemeClr val="tx1"/>
                    </a:solidFill>
                    <a:effectLst/>
                    <a:latin typeface="+mn-lt"/>
                    <a:ea typeface="+mn-ea"/>
                    <a:cs typeface="+mn-cs"/>
                  </a:rPr>
                  <a:t>bbox</a:t>
                </a:r>
                <a:r>
                  <a:rPr lang="zh-CN" altLang="en-US" sz="1200" b="0" i="0" kern="1200" dirty="0" smtClean="0">
                    <a:solidFill>
                      <a:schemeClr val="tx1"/>
                    </a:solidFill>
                    <a:effectLst/>
                    <a:latin typeface="+mn-lt"/>
                    <a:ea typeface="+mn-ea"/>
                    <a:cs typeface="+mn-cs"/>
                  </a:rPr>
                  <a:t>的</a:t>
                </a:r>
                <a:r>
                  <a:rPr lang="en-US" altLang="zh-CN" sz="1200" b="0" i="0" kern="1200" dirty="0" smtClean="0">
                    <a:solidFill>
                      <a:schemeClr val="tx1"/>
                    </a:solidFill>
                    <a:effectLst/>
                    <a:latin typeface="+mn-lt"/>
                    <a:ea typeface="+mn-ea"/>
                    <a:cs typeface="+mn-cs"/>
                  </a:rPr>
                  <a:t>confidence loss</a:t>
                </a:r>
                <a:r>
                  <a:rPr lang="zh-CN" altLang="en-US" sz="1200" b="0" i="0" kern="1200" dirty="0" smtClean="0">
                    <a:solidFill>
                      <a:schemeClr val="tx1"/>
                    </a:solidFill>
                    <a:effectLst/>
                    <a:latin typeface="+mn-lt"/>
                    <a:ea typeface="+mn-ea"/>
                    <a:cs typeface="+mn-cs"/>
                  </a:rPr>
                  <a:t>，赋予小的</a:t>
                </a:r>
                <a:r>
                  <a:rPr lang="en-US" altLang="zh-CN" sz="1200" b="0" i="0" kern="1200" dirty="0" smtClean="0">
                    <a:solidFill>
                      <a:schemeClr val="tx1"/>
                    </a:solidFill>
                    <a:effectLst/>
                    <a:latin typeface="+mn-lt"/>
                    <a:ea typeface="+mn-ea"/>
                    <a:cs typeface="+mn-cs"/>
                  </a:rPr>
                  <a:t>loss weight</a:t>
                </a:r>
                <a:r>
                  <a:rPr lang="zh-CN" altLang="en-US" sz="1200" b="0" i="0" kern="1200" dirty="0" smtClean="0">
                    <a:solidFill>
                      <a:schemeClr val="tx1"/>
                    </a:solidFill>
                    <a:effectLst/>
                    <a:latin typeface="+mn-lt"/>
                    <a:ea typeface="+mn-ea"/>
                    <a:cs typeface="+mn-cs"/>
                  </a:rPr>
                  <a:t>，在</a:t>
                </a:r>
                <a:r>
                  <a:rPr lang="en-US" altLang="zh-CN" sz="1200" b="0" i="0" kern="1200" dirty="0" err="1" smtClean="0">
                    <a:solidFill>
                      <a:schemeClr val="tx1"/>
                    </a:solidFill>
                    <a:effectLst/>
                    <a:latin typeface="+mn-lt"/>
                    <a:ea typeface="+mn-ea"/>
                    <a:cs typeface="+mn-cs"/>
                  </a:rPr>
                  <a:t>pascal</a:t>
                </a:r>
                <a:r>
                  <a:rPr lang="en-US" altLang="zh-CN" sz="1200" b="0" i="0" kern="1200" dirty="0" smtClean="0">
                    <a:solidFill>
                      <a:schemeClr val="tx1"/>
                    </a:solidFill>
                    <a:effectLst/>
                    <a:latin typeface="+mn-lt"/>
                    <a:ea typeface="+mn-ea"/>
                    <a:cs typeface="+mn-cs"/>
                  </a:rPr>
                  <a:t> VOC</a:t>
                </a:r>
                <a:r>
                  <a:rPr lang="zh-CN" altLang="en-US" sz="1200" b="0" i="0" kern="1200" dirty="0" smtClean="0">
                    <a:solidFill>
                      <a:schemeClr val="tx1"/>
                    </a:solidFill>
                    <a:effectLst/>
                    <a:latin typeface="+mn-lt"/>
                    <a:ea typeface="+mn-ea"/>
                    <a:cs typeface="+mn-cs"/>
                  </a:rPr>
                  <a:t>训练中取</a:t>
                </a:r>
                <a:r>
                  <a:rPr lang="en-US" altLang="zh-CN" sz="1200" b="0" i="0" kern="1200" dirty="0" smtClean="0">
                    <a:solidFill>
                      <a:schemeClr val="tx1"/>
                    </a:solidFill>
                    <a:effectLst/>
                    <a:latin typeface="+mn-lt"/>
                    <a:ea typeface="+mn-ea"/>
                    <a:cs typeface="+mn-cs"/>
                  </a:rPr>
                  <a:t>0.5</a:t>
                </a:r>
                <a:r>
                  <a:rPr lang="zh-CN" altLang="en-US" sz="1200" b="0" i="0" kern="1200" dirty="0" smtClean="0">
                    <a:solidFill>
                      <a:schemeClr val="tx1"/>
                    </a:solidFill>
                    <a:effectLst/>
                    <a:latin typeface="+mn-lt"/>
                    <a:ea typeface="+mn-ea"/>
                    <a:cs typeface="+mn-cs"/>
                  </a:rPr>
                  <a:t>。</a:t>
                </a:r>
                <a:endParaRPr lang="en-US" altLang="zh-CN" sz="1200" b="0" i="0" kern="1200" dirty="0" smtClean="0">
                  <a:solidFill>
                    <a:schemeClr val="tx1"/>
                  </a:solidFill>
                  <a:effectLst/>
                  <a:latin typeface="+mn-lt"/>
                  <a:ea typeface="+mn-ea"/>
                  <a:cs typeface="+mn-cs"/>
                </a:endParaRPr>
              </a:p>
            </p:txBody>
          </p:sp>
        </mc:Choice>
        <mc:Fallback xmlns="">
          <p:sp>
            <p:nvSpPr>
              <p:cNvPr id="3" name="备注占位符 2"/>
              <p:cNvSpPr>
                <a:spLocks noGrp="1"/>
              </p:cNvSpPr>
              <p:nvPr>
                <p:ph type="body" idx="1"/>
              </p:nvPr>
            </p:nvSpPr>
            <p:spPr/>
            <p:txBody>
              <a:bodyPr/>
              <a:lstStyle/>
              <a:p>
                <a:r>
                  <a:rPr lang="zh-CN" altLang="en-US" dirty="0" smtClean="0"/>
                  <a:t>损失函数</a:t>
                </a:r>
                <a:r>
                  <a:rPr lang="en-US" altLang="zh-CN" dirty="0" smtClean="0"/>
                  <a:t>L=</a:t>
                </a:r>
                <a:r>
                  <a:rPr lang="zh-CN" altLang="en-US" dirty="0" smtClean="0"/>
                  <a:t>坐标损失</a:t>
                </a:r>
                <a:r>
                  <a:rPr lang="en-US" altLang="zh-CN" dirty="0" smtClean="0"/>
                  <a:t>+</a:t>
                </a:r>
                <a:r>
                  <a:rPr lang="zh-CN" altLang="en-US" dirty="0" smtClean="0"/>
                  <a:t>置信度损失</a:t>
                </a:r>
                <a:r>
                  <a:rPr lang="en-US" altLang="zh-CN" dirty="0" smtClean="0"/>
                  <a:t>+</a:t>
                </a:r>
                <a:r>
                  <a:rPr lang="zh-CN" altLang="en-US" dirty="0" smtClean="0"/>
                  <a:t>预测类别损失。</a:t>
                </a:r>
                <a:endParaRPr lang="en-US" altLang="zh-CN" dirty="0" smtClean="0"/>
              </a:p>
              <a:p>
                <a:r>
                  <a:rPr lang="en-US" altLang="zh-CN" dirty="0" smtClean="0"/>
                  <a:t>YOLO</a:t>
                </a:r>
                <a:r>
                  <a:rPr lang="zh-CN" altLang="en-US" dirty="0" smtClean="0"/>
                  <a:t>第一版中有个并不合理的默认假设，就是一个子图像块中最多只能包含一个目标，因此</a:t>
                </a:r>
                <a:r>
                  <a:rPr lang="en-US" altLang="zh-CN" dirty="0" smtClean="0"/>
                  <a:t>YOLO</a:t>
                </a:r>
                <a:r>
                  <a:rPr lang="zh-CN" altLang="en-US" dirty="0" smtClean="0"/>
                  <a:t>第一版不适合小目标的检测场景。另外，</a:t>
                </a:r>
                <a:r>
                  <a:rPr lang="en-US" altLang="zh-CN" dirty="0" smtClean="0"/>
                  <a:t>YOLO</a:t>
                </a:r>
                <a:r>
                  <a:rPr lang="zh-CN" altLang="en-US" dirty="0" smtClean="0"/>
                  <a:t>第一版中约定了每个子图像块中与目标框</a:t>
                </a:r>
                <a:r>
                  <a:rPr lang="en-US" altLang="zh-CN" dirty="0" err="1" smtClean="0"/>
                  <a:t>IoU</a:t>
                </a:r>
                <a:r>
                  <a:rPr lang="zh-CN" altLang="en-US" dirty="0" smtClean="0"/>
                  <a:t>最大的预测框是框中目标的，其余的预测框认为未框中目标。</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en-US" altLang="zh-CN" i="0"/>
                  <a:t>"Ⅱ</a:t>
                </a:r>
                <a:r>
                  <a:rPr lang="en-US" altLang="zh-CN" i="0">
                    <a:latin typeface="Cambria Math" panose="02040503050406030204" pitchFamily="18" charset="0"/>
                  </a:rPr>
                  <a:t>" </a:t>
                </a:r>
                <a:r>
                  <a:rPr lang="en-US" altLang="zh-CN" i="0" smtClean="0">
                    <a:latin typeface="Cambria Math" panose="02040503050406030204" pitchFamily="18" charset="0"/>
                  </a:rPr>
                  <a:t>_</a:t>
                </a:r>
                <a:r>
                  <a:rPr lang="en-US" altLang="zh-CN" b="0" i="0" smtClean="0">
                    <a:latin typeface="Cambria Math" panose="02040503050406030204" pitchFamily="18" charset="0"/>
                  </a:rPr>
                  <a:t>𝑖𝑗^𝑜𝑏𝑗</a:t>
                </a:r>
                <a:r>
                  <a:rPr lang="zh-CN" altLang="en-US" dirty="0" smtClean="0"/>
                  <a:t>是指示函数，当第</a:t>
                </a:r>
                <a:r>
                  <a:rPr lang="en-US" altLang="zh-CN" dirty="0" err="1" smtClean="0"/>
                  <a:t>i</a:t>
                </a:r>
                <a:r>
                  <a:rPr lang="zh-CN" altLang="en-US" dirty="0" smtClean="0"/>
                  <a:t>个子图像块的第</a:t>
                </a:r>
                <a:r>
                  <a:rPr lang="en-US" altLang="zh-CN" dirty="0" smtClean="0"/>
                  <a:t>j</a:t>
                </a:r>
                <a:r>
                  <a:rPr lang="zh-CN" altLang="en-US" dirty="0" smtClean="0"/>
                  <a:t>个预测框框中目标时，</a:t>
                </a:r>
                <a:r>
                  <a:rPr lang="en-US" altLang="zh-CN" i="0"/>
                  <a:t>"Ⅱ</a:t>
                </a:r>
                <a:r>
                  <a:rPr lang="en-US" altLang="zh-CN" i="0">
                    <a:latin typeface="Cambria Math" panose="02040503050406030204" pitchFamily="18" charset="0"/>
                  </a:rPr>
                  <a:t>" </a:t>
                </a:r>
                <a:r>
                  <a:rPr lang="en-US" altLang="zh-CN" i="0" smtClean="0">
                    <a:latin typeface="Cambria Math" panose="02040503050406030204" pitchFamily="18" charset="0"/>
                  </a:rPr>
                  <a:t>_</a:t>
                </a:r>
                <a:r>
                  <a:rPr lang="en-US" altLang="zh-CN" b="0" i="0" smtClean="0">
                    <a:latin typeface="Cambria Math" panose="02040503050406030204" pitchFamily="18" charset="0"/>
                  </a:rPr>
                  <a:t>𝑖𝑗^𝑜𝑏𝑗</a:t>
                </a:r>
                <a:r>
                  <a:rPr lang="en-US" altLang="zh-CN" dirty="0" smtClean="0"/>
                  <a:t>=1</a:t>
                </a:r>
                <a:r>
                  <a:rPr lang="zh-CN" altLang="en-US" dirty="0" smtClean="0"/>
                  <a:t>，否则</a:t>
                </a:r>
                <a:r>
                  <a:rPr lang="en-US" altLang="zh-CN" i="0"/>
                  <a:t>"Ⅱ</a:t>
                </a:r>
                <a:r>
                  <a:rPr lang="en-US" altLang="zh-CN" i="0">
                    <a:latin typeface="Cambria Math" panose="02040503050406030204" pitchFamily="18" charset="0"/>
                  </a:rPr>
                  <a:t>" </a:t>
                </a:r>
                <a:r>
                  <a:rPr lang="en-US" altLang="zh-CN" i="0" smtClean="0">
                    <a:latin typeface="Cambria Math" panose="02040503050406030204" pitchFamily="18" charset="0"/>
                  </a:rPr>
                  <a:t>_</a:t>
                </a:r>
                <a:r>
                  <a:rPr lang="en-US" altLang="zh-CN" b="0" i="0" smtClean="0">
                    <a:latin typeface="Cambria Math" panose="02040503050406030204" pitchFamily="18" charset="0"/>
                  </a:rPr>
                  <a:t>𝑖𝑗^𝑜𝑏𝑗</a:t>
                </a:r>
                <a:r>
                  <a:rPr lang="en-US" altLang="zh-CN" dirty="0" smtClean="0"/>
                  <a:t>=0</a:t>
                </a:r>
                <a:r>
                  <a:rPr lang="zh-CN" altLang="en-US" dirty="0" smtClean="0"/>
                  <a:t>。所以图中前三行表示包含目标的框的位置损失和置信度损失，如前所述，公式中</a:t>
                </a:r>
                <a:r>
                  <a:rPr lang="en-US" altLang="zh-CN" dirty="0" err="1" smtClean="0"/>
                  <a:t>x,y</a:t>
                </a:r>
                <a:r>
                  <a:rPr lang="zh-CN" altLang="en-US" dirty="0" smtClean="0"/>
                  <a:t>和</a:t>
                </a:r>
                <a:r>
                  <a:rPr lang="en-US" altLang="zh-CN" b="0" i="0" smtClean="0">
                    <a:latin typeface="Cambria Math" panose="02040503050406030204" pitchFamily="18" charset="0"/>
                  </a:rPr>
                  <a:t>𝑥</a:t>
                </a:r>
                <a:r>
                  <a:rPr lang="zh-CN" altLang="en-US" b="0" i="0" smtClean="0">
                    <a:latin typeface="Cambria Math" panose="02040503050406030204" pitchFamily="18" charset="0"/>
                  </a:rPr>
                  <a:t> ̂</a:t>
                </a:r>
                <a:r>
                  <a:rPr lang="en-US" altLang="zh-CN" b="0" i="0" smtClean="0">
                    <a:latin typeface="Cambria Math" panose="02040503050406030204" pitchFamily="18" charset="0"/>
                  </a:rPr>
                  <a:t>𝑦</a:t>
                </a:r>
                <a:r>
                  <a:rPr lang="zh-CN" altLang="en-US" b="0" i="0" smtClean="0">
                    <a:latin typeface="Cambria Math" panose="02040503050406030204" pitchFamily="18" charset="0"/>
                  </a:rPr>
                  <a:t> ̂分别</a:t>
                </a:r>
                <a:r>
                  <a:rPr lang="zh-CN" altLang="en-US" dirty="0" smtClean="0"/>
                  <a:t>表示预测框和目标框的中心点相对于子图像块的归一化坐标，</a:t>
                </a:r>
                <a:r>
                  <a:rPr lang="en-US" altLang="zh-CN" dirty="0" err="1" smtClean="0"/>
                  <a:t>w,h</a:t>
                </a:r>
                <a:r>
                  <a:rPr lang="zh-CN" altLang="en-US" dirty="0" smtClean="0"/>
                  <a:t>和</a:t>
                </a:r>
                <a:r>
                  <a:rPr lang="en-US" altLang="zh-CN" b="0" i="0" smtClean="0">
                    <a:latin typeface="Cambria Math" panose="02040503050406030204" pitchFamily="18" charset="0"/>
                  </a:rPr>
                  <a:t>𝑤</a:t>
                </a:r>
                <a:r>
                  <a:rPr lang="zh-CN" altLang="en-US" b="0" i="0" smtClean="0">
                    <a:latin typeface="Cambria Math" panose="02040503050406030204" pitchFamily="18" charset="0"/>
                  </a:rPr>
                  <a:t> ̂</a:t>
                </a:r>
                <a:r>
                  <a:rPr lang="en-US" altLang="zh-CN" b="0" i="0" smtClean="0">
                    <a:latin typeface="Cambria Math" panose="02040503050406030204" pitchFamily="18" charset="0"/>
                  </a:rPr>
                  <a:t>ℎ</a:t>
                </a:r>
                <a:r>
                  <a:rPr lang="zh-CN" altLang="en-US" b="0" i="0" smtClean="0">
                    <a:latin typeface="Cambria Math" panose="02040503050406030204" pitchFamily="18" charset="0"/>
                  </a:rPr>
                  <a:t> ̂</a:t>
                </a:r>
                <a:r>
                  <a:rPr lang="zh-CN" altLang="en-US" dirty="0" smtClean="0"/>
                  <a:t>分别表示预测框和目标框相对于整幅图像的宽和高的归一化宽和高。这部分仅将框中目标的预测框的损失进行计算和梯度回传；图中第</a:t>
                </a:r>
                <a:r>
                  <a:rPr lang="en-US" altLang="zh-CN" dirty="0" smtClean="0"/>
                  <a:t>4</a:t>
                </a:r>
                <a:r>
                  <a:rPr lang="zh-CN" altLang="en-US" dirty="0" smtClean="0"/>
                  <a:t>行表示未包含目标的预测框的置信度损失，因为没有目标，其框中目标的置信度</a:t>
                </a:r>
                <a:r>
                  <a:rPr lang="zh-CN" altLang="en-US" i="0" smtClean="0">
                    <a:latin typeface="Cambria Math" panose="02040503050406030204" pitchFamily="18" charset="0"/>
                  </a:rPr>
                  <a:t>(</a:t>
                </a:r>
                <a:r>
                  <a:rPr lang="en-US" altLang="zh-CN" b="0" i="0" smtClean="0">
                    <a:latin typeface="Cambria Math" panose="02040503050406030204" pitchFamily="18" charset="0"/>
                  </a:rPr>
                  <a:t>𝐶_𝑖 </a:t>
                </a:r>
                <a:r>
                  <a:rPr lang="zh-CN" altLang="en-US" b="0" i="0" smtClean="0">
                    <a:latin typeface="Cambria Math" panose="02040503050406030204" pitchFamily="18" charset="0"/>
                  </a:rPr>
                  <a:t>) ̂</a:t>
                </a:r>
                <a:r>
                  <a:rPr lang="zh-CN" altLang="en-US" dirty="0" smtClean="0"/>
                  <a:t>的值为</a:t>
                </a:r>
                <a:r>
                  <a:rPr lang="en-US" altLang="zh-CN" dirty="0" smtClean="0"/>
                  <a:t>0</a:t>
                </a:r>
                <a:r>
                  <a:rPr lang="zh-CN" altLang="en-US" dirty="0" smtClean="0"/>
                  <a:t>；图中最后一行表示包含目标的分类损失。</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sz="1200" b="0" i="0" kern="1200" dirty="0" smtClean="0">
                    <a:solidFill>
                      <a:schemeClr val="tx1"/>
                    </a:solidFill>
                    <a:effectLst/>
                    <a:latin typeface="+mn-lt"/>
                    <a:ea typeface="+mn-ea"/>
                    <a:cs typeface="+mn-cs"/>
                  </a:rPr>
                  <a:t>如果只是简单的把它们相加，</a:t>
                </a:r>
                <a:r>
                  <a:rPr lang="en-US" altLang="zh-CN" sz="1200" b="0" i="0" kern="1200" dirty="0" smtClean="0">
                    <a:solidFill>
                      <a:schemeClr val="tx1"/>
                    </a:solidFill>
                    <a:effectLst/>
                    <a:latin typeface="+mn-lt"/>
                    <a:ea typeface="+mn-ea"/>
                    <a:cs typeface="+mn-cs"/>
                  </a:rPr>
                  <a:t>8</a:t>
                </a:r>
                <a:r>
                  <a:rPr lang="zh-CN" altLang="en-US" sz="1200" b="0" i="0" kern="1200" dirty="0" smtClean="0">
                    <a:solidFill>
                      <a:schemeClr val="tx1"/>
                    </a:solidFill>
                    <a:effectLst/>
                    <a:latin typeface="+mn-lt"/>
                    <a:ea typeface="+mn-ea"/>
                    <a:cs typeface="+mn-cs"/>
                  </a:rPr>
                  <a:t>维的坐标损失和</a:t>
                </a:r>
                <a:r>
                  <a:rPr lang="en-US" altLang="zh-CN" sz="1200" b="0" i="0" kern="1200" dirty="0" smtClean="0">
                    <a:solidFill>
                      <a:schemeClr val="tx1"/>
                    </a:solidFill>
                    <a:effectLst/>
                    <a:latin typeface="+mn-lt"/>
                    <a:ea typeface="+mn-ea"/>
                    <a:cs typeface="+mn-cs"/>
                  </a:rPr>
                  <a:t>20</a:t>
                </a:r>
                <a:r>
                  <a:rPr lang="zh-CN" altLang="en-US" sz="1200" b="0" i="0" kern="1200" dirty="0" smtClean="0">
                    <a:solidFill>
                      <a:schemeClr val="tx1"/>
                    </a:solidFill>
                    <a:effectLst/>
                    <a:latin typeface="+mn-lt"/>
                    <a:ea typeface="+mn-ea"/>
                    <a:cs typeface="+mn-cs"/>
                  </a:rPr>
                  <a:t>维的分类损失同等重要显然是不合理的。如果一些框没有目标（一幅图中这种框很多），那么就会将这些框的置信度设置为</a:t>
                </a:r>
                <a:r>
                  <a:rPr lang="en-US" altLang="zh-CN" sz="1200" b="0" i="0" kern="1200" dirty="0" smtClean="0">
                    <a:solidFill>
                      <a:schemeClr val="tx1"/>
                    </a:solidFill>
                    <a:effectLst/>
                    <a:latin typeface="+mn-lt"/>
                    <a:ea typeface="+mn-ea"/>
                    <a:cs typeface="+mn-cs"/>
                  </a:rPr>
                  <a:t>0</a:t>
                </a:r>
                <a:r>
                  <a:rPr lang="zh-CN" altLang="en-US" sz="1200" b="0" i="0" kern="1200" dirty="0" smtClean="0">
                    <a:solidFill>
                      <a:schemeClr val="tx1"/>
                    </a:solidFill>
                    <a:effectLst/>
                    <a:latin typeface="+mn-lt"/>
                    <a:ea typeface="+mn-ea"/>
                    <a:cs typeface="+mn-cs"/>
                  </a:rPr>
                  <a:t>，相比于数量较少的有目标的框，这些不包含目标的框对梯度更新的贡献更大，导致网络不稳定甚至发散。因此引入了</a:t>
                </a:r>
                <a:r>
                  <a:rPr lang="el-GR" altLang="zh-CN" sz="1200" b="0" i="0" kern="1200" dirty="0" smtClean="0">
                    <a:solidFill>
                      <a:schemeClr val="tx1"/>
                    </a:solidFill>
                    <a:effectLst/>
                    <a:latin typeface="+mn-lt"/>
                    <a:ea typeface="+mn-ea"/>
                    <a:cs typeface="+mn-cs"/>
                  </a:rPr>
                  <a:t>λ</a:t>
                </a:r>
                <a:r>
                  <a:rPr lang="zh-CN" altLang="en-US" sz="1200" b="0" i="0" kern="1200" dirty="0" smtClean="0">
                    <a:solidFill>
                      <a:schemeClr val="tx1"/>
                    </a:solidFill>
                    <a:effectLst/>
                    <a:latin typeface="+mn-lt"/>
                    <a:ea typeface="+mn-ea"/>
                    <a:cs typeface="+mn-cs"/>
                  </a:rPr>
                  <a:t>表示加权系数，用于平衡各部分损失的比例。图中引入了两个</a:t>
                </a:r>
                <a:r>
                  <a:rPr lang="el-GR" altLang="zh-CN" sz="1200" b="0" i="0" kern="1200" dirty="0" smtClean="0">
                    <a:solidFill>
                      <a:schemeClr val="tx1"/>
                    </a:solidFill>
                    <a:effectLst/>
                    <a:latin typeface="+mn-lt"/>
                    <a:ea typeface="+mn-ea"/>
                    <a:cs typeface="+mn-cs"/>
                  </a:rPr>
                  <a:t>λ</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λcoord</a:t>
                </a:r>
                <a:r>
                  <a:rPr lang="zh-CN" altLang="en-US" sz="1200" b="0" i="0" kern="1200" dirty="0" smtClean="0">
                    <a:solidFill>
                      <a:schemeClr val="tx1"/>
                    </a:solidFill>
                    <a:effectLst/>
                    <a:latin typeface="+mn-lt"/>
                    <a:ea typeface="+mn-ea"/>
                    <a:cs typeface="+mn-cs"/>
                  </a:rPr>
                  <a:t>更重视</a:t>
                </a:r>
                <a:r>
                  <a:rPr lang="en-US" altLang="zh-CN" sz="1200" b="0" i="0" kern="1200" dirty="0" smtClean="0">
                    <a:solidFill>
                      <a:schemeClr val="tx1"/>
                    </a:solidFill>
                    <a:effectLst/>
                    <a:latin typeface="+mn-lt"/>
                    <a:ea typeface="+mn-ea"/>
                    <a:cs typeface="+mn-cs"/>
                  </a:rPr>
                  <a:t>8</a:t>
                </a:r>
                <a:r>
                  <a:rPr lang="zh-CN" altLang="en-US" sz="1200" b="0" i="0" kern="1200" dirty="0" smtClean="0">
                    <a:solidFill>
                      <a:schemeClr val="tx1"/>
                    </a:solidFill>
                    <a:effectLst/>
                    <a:latin typeface="+mn-lt"/>
                    <a:ea typeface="+mn-ea"/>
                    <a:cs typeface="+mn-cs"/>
                  </a:rPr>
                  <a:t>维的坐标预测，给这些损失前面赋予更大的</a:t>
                </a:r>
                <a:r>
                  <a:rPr lang="en-US" altLang="zh-CN" sz="1200" b="0" i="0" kern="1200" dirty="0" smtClean="0">
                    <a:solidFill>
                      <a:schemeClr val="tx1"/>
                    </a:solidFill>
                    <a:effectLst/>
                    <a:latin typeface="+mn-lt"/>
                    <a:ea typeface="+mn-ea"/>
                    <a:cs typeface="+mn-cs"/>
                  </a:rPr>
                  <a:t>loss weight, ,</a:t>
                </a:r>
                <a:r>
                  <a:rPr lang="zh-CN" altLang="en-US" sz="1200" b="0" i="0" kern="1200" dirty="0" smtClean="0">
                    <a:solidFill>
                      <a:schemeClr val="tx1"/>
                    </a:solidFill>
                    <a:effectLst/>
                    <a:latin typeface="+mn-lt"/>
                    <a:ea typeface="+mn-ea"/>
                    <a:cs typeface="+mn-cs"/>
                  </a:rPr>
                  <a:t>在</a:t>
                </a:r>
                <a:r>
                  <a:rPr lang="en-US" altLang="zh-CN" sz="1200" b="0" i="0" kern="1200" dirty="0" err="1" smtClean="0">
                    <a:solidFill>
                      <a:schemeClr val="tx1"/>
                    </a:solidFill>
                    <a:effectLst/>
                    <a:latin typeface="+mn-lt"/>
                    <a:ea typeface="+mn-ea"/>
                    <a:cs typeface="+mn-cs"/>
                  </a:rPr>
                  <a:t>pascal</a:t>
                </a:r>
                <a:r>
                  <a:rPr lang="en-US" altLang="zh-CN" sz="1200" b="0" i="0" kern="1200" dirty="0" smtClean="0">
                    <a:solidFill>
                      <a:schemeClr val="tx1"/>
                    </a:solidFill>
                    <a:effectLst/>
                    <a:latin typeface="+mn-lt"/>
                    <a:ea typeface="+mn-ea"/>
                    <a:cs typeface="+mn-cs"/>
                  </a:rPr>
                  <a:t> VOC</a:t>
                </a:r>
                <a:r>
                  <a:rPr lang="zh-CN" altLang="en-US" sz="1200" b="0" i="0" kern="1200" dirty="0" smtClean="0">
                    <a:solidFill>
                      <a:schemeClr val="tx1"/>
                    </a:solidFill>
                    <a:effectLst/>
                    <a:latin typeface="+mn-lt"/>
                    <a:ea typeface="+mn-ea"/>
                    <a:cs typeface="+mn-cs"/>
                  </a:rPr>
                  <a:t>训练中取</a:t>
                </a:r>
                <a:r>
                  <a:rPr lang="en-US" altLang="zh-CN" sz="1200" b="0" i="0" kern="1200" dirty="0" smtClean="0">
                    <a:solidFill>
                      <a:schemeClr val="tx1"/>
                    </a:solidFill>
                    <a:effectLst/>
                    <a:latin typeface="+mn-lt"/>
                    <a:ea typeface="+mn-ea"/>
                    <a:cs typeface="+mn-cs"/>
                  </a:rPr>
                  <a:t>5,</a:t>
                </a:r>
                <a:r>
                  <a:rPr lang="el-GR" altLang="zh-CN" sz="1200" b="0" i="0" kern="1200" dirty="0" smtClean="0">
                    <a:solidFill>
                      <a:schemeClr val="tx1"/>
                    </a:solidFill>
                    <a:effectLst/>
                    <a:latin typeface="+mn-lt"/>
                    <a:ea typeface="+mn-ea"/>
                    <a:cs typeface="+mn-cs"/>
                  </a:rPr>
                  <a:t> λ</a:t>
                </a:r>
                <a:r>
                  <a:rPr lang="en-US" altLang="zh-CN" sz="1200" b="0" i="0" kern="1200" dirty="0" err="1" smtClean="0">
                    <a:solidFill>
                      <a:schemeClr val="tx1"/>
                    </a:solidFill>
                    <a:effectLst/>
                    <a:latin typeface="+mn-lt"/>
                    <a:ea typeface="+mn-ea"/>
                    <a:cs typeface="+mn-cs"/>
                  </a:rPr>
                  <a:t>noobj</a:t>
                </a:r>
                <a:r>
                  <a:rPr lang="zh-CN" altLang="en-US" sz="1200" b="0" i="0" kern="1200" dirty="0" smtClean="0">
                    <a:solidFill>
                      <a:schemeClr val="tx1"/>
                    </a:solidFill>
                    <a:effectLst/>
                    <a:latin typeface="+mn-lt"/>
                    <a:ea typeface="+mn-ea"/>
                    <a:cs typeface="+mn-cs"/>
                  </a:rPr>
                  <a:t>对没有</a:t>
                </a:r>
                <a:r>
                  <a:rPr lang="en-US" altLang="zh-CN" sz="1200" b="0" i="0" kern="1200" dirty="0" smtClean="0">
                    <a:solidFill>
                      <a:schemeClr val="tx1"/>
                    </a:solidFill>
                    <a:effectLst/>
                    <a:latin typeface="+mn-lt"/>
                    <a:ea typeface="+mn-ea"/>
                    <a:cs typeface="+mn-cs"/>
                  </a:rPr>
                  <a:t>object</a:t>
                </a:r>
                <a:r>
                  <a:rPr lang="zh-CN" altLang="en-US" sz="1200" b="0" i="0" kern="1200" dirty="0" smtClean="0">
                    <a:solidFill>
                      <a:schemeClr val="tx1"/>
                    </a:solidFill>
                    <a:effectLst/>
                    <a:latin typeface="+mn-lt"/>
                    <a:ea typeface="+mn-ea"/>
                    <a:cs typeface="+mn-cs"/>
                  </a:rPr>
                  <a:t>的</a:t>
                </a:r>
                <a:r>
                  <a:rPr lang="en-US" altLang="zh-CN" sz="1200" b="0" i="0" kern="1200" dirty="0" err="1" smtClean="0">
                    <a:solidFill>
                      <a:schemeClr val="tx1"/>
                    </a:solidFill>
                    <a:effectLst/>
                    <a:latin typeface="+mn-lt"/>
                    <a:ea typeface="+mn-ea"/>
                    <a:cs typeface="+mn-cs"/>
                  </a:rPr>
                  <a:t>bbox</a:t>
                </a:r>
                <a:r>
                  <a:rPr lang="zh-CN" altLang="en-US" sz="1200" b="0" i="0" kern="1200" dirty="0" smtClean="0">
                    <a:solidFill>
                      <a:schemeClr val="tx1"/>
                    </a:solidFill>
                    <a:effectLst/>
                    <a:latin typeface="+mn-lt"/>
                    <a:ea typeface="+mn-ea"/>
                    <a:cs typeface="+mn-cs"/>
                  </a:rPr>
                  <a:t>的</a:t>
                </a:r>
                <a:r>
                  <a:rPr lang="en-US" altLang="zh-CN" sz="1200" b="0" i="0" kern="1200" dirty="0" smtClean="0">
                    <a:solidFill>
                      <a:schemeClr val="tx1"/>
                    </a:solidFill>
                    <a:effectLst/>
                    <a:latin typeface="+mn-lt"/>
                    <a:ea typeface="+mn-ea"/>
                    <a:cs typeface="+mn-cs"/>
                  </a:rPr>
                  <a:t>confidence loss</a:t>
                </a:r>
                <a:r>
                  <a:rPr lang="zh-CN" altLang="en-US" sz="1200" b="0" i="0" kern="1200" dirty="0" smtClean="0">
                    <a:solidFill>
                      <a:schemeClr val="tx1"/>
                    </a:solidFill>
                    <a:effectLst/>
                    <a:latin typeface="+mn-lt"/>
                    <a:ea typeface="+mn-ea"/>
                    <a:cs typeface="+mn-cs"/>
                  </a:rPr>
                  <a:t>，赋予小的</a:t>
                </a:r>
                <a:r>
                  <a:rPr lang="en-US" altLang="zh-CN" sz="1200" b="0" i="0" kern="1200" dirty="0" smtClean="0">
                    <a:solidFill>
                      <a:schemeClr val="tx1"/>
                    </a:solidFill>
                    <a:effectLst/>
                    <a:latin typeface="+mn-lt"/>
                    <a:ea typeface="+mn-ea"/>
                    <a:cs typeface="+mn-cs"/>
                  </a:rPr>
                  <a:t>loss weight</a:t>
                </a:r>
                <a:r>
                  <a:rPr lang="zh-CN" altLang="en-US" sz="1200" b="0" i="0" kern="1200" dirty="0" smtClean="0">
                    <a:solidFill>
                      <a:schemeClr val="tx1"/>
                    </a:solidFill>
                    <a:effectLst/>
                    <a:latin typeface="+mn-lt"/>
                    <a:ea typeface="+mn-ea"/>
                    <a:cs typeface="+mn-cs"/>
                  </a:rPr>
                  <a:t>，在</a:t>
                </a:r>
                <a:r>
                  <a:rPr lang="en-US" altLang="zh-CN" sz="1200" b="0" i="0" kern="1200" dirty="0" err="1" smtClean="0">
                    <a:solidFill>
                      <a:schemeClr val="tx1"/>
                    </a:solidFill>
                    <a:effectLst/>
                    <a:latin typeface="+mn-lt"/>
                    <a:ea typeface="+mn-ea"/>
                    <a:cs typeface="+mn-cs"/>
                  </a:rPr>
                  <a:t>pascal</a:t>
                </a:r>
                <a:r>
                  <a:rPr lang="en-US" altLang="zh-CN" sz="1200" b="0" i="0" kern="1200" dirty="0" smtClean="0">
                    <a:solidFill>
                      <a:schemeClr val="tx1"/>
                    </a:solidFill>
                    <a:effectLst/>
                    <a:latin typeface="+mn-lt"/>
                    <a:ea typeface="+mn-ea"/>
                    <a:cs typeface="+mn-cs"/>
                  </a:rPr>
                  <a:t> VOC</a:t>
                </a:r>
                <a:r>
                  <a:rPr lang="zh-CN" altLang="en-US" sz="1200" b="0" i="0" kern="1200" dirty="0" smtClean="0">
                    <a:solidFill>
                      <a:schemeClr val="tx1"/>
                    </a:solidFill>
                    <a:effectLst/>
                    <a:latin typeface="+mn-lt"/>
                    <a:ea typeface="+mn-ea"/>
                    <a:cs typeface="+mn-cs"/>
                  </a:rPr>
                  <a:t>训练中取</a:t>
                </a:r>
                <a:r>
                  <a:rPr lang="en-US" altLang="zh-CN" sz="1200" b="0" i="0" kern="1200" dirty="0" smtClean="0">
                    <a:solidFill>
                      <a:schemeClr val="tx1"/>
                    </a:solidFill>
                    <a:effectLst/>
                    <a:latin typeface="+mn-lt"/>
                    <a:ea typeface="+mn-ea"/>
                    <a:cs typeface="+mn-cs"/>
                  </a:rPr>
                  <a:t>0.5</a:t>
                </a:r>
                <a:r>
                  <a:rPr lang="zh-CN" altLang="en-US" sz="1200" b="0" i="0" kern="1200" dirty="0" smtClean="0">
                    <a:solidFill>
                      <a:schemeClr val="tx1"/>
                    </a:solidFill>
                    <a:effectLst/>
                    <a:latin typeface="+mn-lt"/>
                    <a:ea typeface="+mn-ea"/>
                    <a:cs typeface="+mn-cs"/>
                  </a:rPr>
                  <a:t>。</a:t>
                </a:r>
                <a:endParaRPr lang="en-US" altLang="zh-CN" sz="1200" b="0" i="0" kern="1200" dirty="0" smtClean="0">
                  <a:solidFill>
                    <a:schemeClr val="tx1"/>
                  </a:solidFill>
                  <a:effectLst/>
                  <a:latin typeface="+mn-lt"/>
                  <a:ea typeface="+mn-ea"/>
                  <a:cs typeface="+mn-cs"/>
                </a:endParaRPr>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11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7747760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对不同大小的</a:t>
            </a:r>
            <a:r>
              <a:rPr lang="en-US" altLang="zh-CN" dirty="0" err="1" smtClean="0"/>
              <a:t>bbox</a:t>
            </a:r>
            <a:r>
              <a:rPr lang="zh-CN" altLang="en-US" dirty="0" smtClean="0"/>
              <a:t>预测中，相比于大</a:t>
            </a:r>
            <a:r>
              <a:rPr lang="en-US" altLang="zh-CN" dirty="0" err="1" smtClean="0"/>
              <a:t>bbox</a:t>
            </a:r>
            <a:r>
              <a:rPr lang="zh-CN" altLang="en-US" dirty="0" smtClean="0"/>
              <a:t>预测偏一点，小</a:t>
            </a:r>
            <a:r>
              <a:rPr lang="en-US" altLang="zh-CN" dirty="0" smtClean="0"/>
              <a:t>box</a:t>
            </a:r>
            <a:r>
              <a:rPr lang="zh-CN" altLang="en-US" dirty="0" smtClean="0"/>
              <a:t>预测偏相同的尺寸对</a:t>
            </a:r>
            <a:r>
              <a:rPr lang="en-US" altLang="zh-CN" dirty="0" smtClean="0"/>
              <a:t>IOU</a:t>
            </a:r>
            <a:r>
              <a:rPr lang="zh-CN" altLang="en-US" dirty="0" smtClean="0"/>
              <a:t>的影响更大。而</a:t>
            </a:r>
            <a:r>
              <a:rPr lang="en-US" altLang="zh-CN" dirty="0" smtClean="0"/>
              <a:t>sum-square error loss</a:t>
            </a:r>
            <a:r>
              <a:rPr lang="zh-CN" altLang="en-US" dirty="0" smtClean="0"/>
              <a:t>中对同样的偏移</a:t>
            </a:r>
            <a:r>
              <a:rPr lang="en-US" altLang="zh-CN" dirty="0" smtClean="0"/>
              <a:t>loss</a:t>
            </a:r>
            <a:r>
              <a:rPr lang="zh-CN" altLang="en-US" dirty="0" smtClean="0"/>
              <a:t>是一样。为了缓和这个问题，作者用了一个巧妙的办法，就是将</a:t>
            </a:r>
            <a:r>
              <a:rPr lang="en-US" altLang="zh-CN" dirty="0" smtClean="0"/>
              <a:t>box</a:t>
            </a:r>
            <a:r>
              <a:rPr lang="zh-CN" altLang="en-US" dirty="0" smtClean="0"/>
              <a:t>的</a:t>
            </a:r>
            <a:r>
              <a:rPr lang="en-US" altLang="zh-CN" dirty="0" smtClean="0"/>
              <a:t>width</a:t>
            </a:r>
            <a:r>
              <a:rPr lang="zh-CN" altLang="en-US" dirty="0" smtClean="0"/>
              <a:t>和</a:t>
            </a:r>
            <a:r>
              <a:rPr lang="en-US" altLang="zh-CN" dirty="0" smtClean="0"/>
              <a:t>height</a:t>
            </a:r>
            <a:r>
              <a:rPr lang="zh-CN" altLang="en-US" dirty="0" smtClean="0"/>
              <a:t>取平方根代替原本的</a:t>
            </a:r>
            <a:r>
              <a:rPr lang="en-US" altLang="zh-CN" dirty="0" smtClean="0"/>
              <a:t>height</a:t>
            </a:r>
            <a:r>
              <a:rPr lang="zh-CN" altLang="en-US" dirty="0" smtClean="0"/>
              <a:t>和</a:t>
            </a:r>
            <a:r>
              <a:rPr lang="en-US" altLang="zh-CN" dirty="0" smtClean="0"/>
              <a:t>width</a:t>
            </a:r>
            <a:r>
              <a:rPr lang="zh-CN" altLang="en-US" dirty="0" smtClean="0"/>
              <a:t>。 如下图：</a:t>
            </a:r>
            <a:r>
              <a:rPr lang="en-US" altLang="zh-CN" dirty="0" smtClean="0"/>
              <a:t>small </a:t>
            </a:r>
            <a:r>
              <a:rPr lang="en-US" altLang="zh-CN" dirty="0" err="1" smtClean="0"/>
              <a:t>bbox</a:t>
            </a:r>
            <a:r>
              <a:rPr lang="zh-CN" altLang="en-US" dirty="0" smtClean="0"/>
              <a:t>的横轴值较小，发生偏移时，反应到</a:t>
            </a:r>
            <a:r>
              <a:rPr lang="en-US" altLang="zh-CN" dirty="0" smtClean="0"/>
              <a:t>y</a:t>
            </a:r>
            <a:r>
              <a:rPr lang="zh-CN" altLang="en-US" dirty="0" smtClean="0"/>
              <a:t>轴上的</a:t>
            </a:r>
            <a:r>
              <a:rPr lang="en-US" altLang="zh-CN" dirty="0" smtClean="0"/>
              <a:t>loss</a:t>
            </a:r>
            <a:r>
              <a:rPr lang="zh-CN" altLang="en-US" dirty="0" smtClean="0"/>
              <a:t>（图绿色）比</a:t>
            </a:r>
            <a:r>
              <a:rPr lang="en-US" altLang="zh-CN" dirty="0" smtClean="0"/>
              <a:t>big box(</a:t>
            </a:r>
            <a:r>
              <a:rPr lang="zh-CN" altLang="en-US" dirty="0" smtClean="0"/>
              <a:t>图红色</a:t>
            </a:r>
            <a:r>
              <a:rPr lang="en-US" altLang="zh-CN" dirty="0" smtClean="0"/>
              <a:t>)</a:t>
            </a:r>
            <a:r>
              <a:rPr lang="zh-CN" altLang="en-US" dirty="0" smtClean="0"/>
              <a:t>要大。</a:t>
            </a:r>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3548524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为了防止模型过拟合（在训练集上模型的预测效果很好，在测试集上效果明显变差），</a:t>
            </a:r>
            <a:r>
              <a:rPr lang="en-US" altLang="zh-CN" dirty="0" smtClean="0"/>
              <a:t>YOLO</a:t>
            </a:r>
            <a:r>
              <a:rPr lang="zh-CN" altLang="en-US" dirty="0" smtClean="0"/>
              <a:t>第一版使用了</a:t>
            </a:r>
            <a:r>
              <a:rPr lang="en-US" altLang="zh-CN" dirty="0" smtClean="0"/>
              <a:t>drop out</a:t>
            </a:r>
            <a:r>
              <a:rPr lang="zh-CN" altLang="en-US" dirty="0" smtClean="0"/>
              <a:t>策略，同时在图像尺度和图像</a:t>
            </a:r>
            <a:r>
              <a:rPr lang="en-US" altLang="zh-CN" dirty="0" smtClean="0"/>
              <a:t>HSV</a:t>
            </a:r>
            <a:r>
              <a:rPr lang="zh-CN" altLang="en-US" dirty="0" smtClean="0"/>
              <a:t>颜色空间上进行样本的扰动扩充，使得训练的模型具有更好的泛化能力。</a:t>
            </a:r>
            <a:endParaRPr lang="en-US" altLang="zh-CN" dirty="0" smtClean="0"/>
          </a:p>
          <a:p>
            <a:r>
              <a:rPr lang="zh-CN" altLang="en-US" dirty="0" smtClean="0"/>
              <a:t>其实，</a:t>
            </a:r>
            <a:r>
              <a:rPr lang="en-US" altLang="zh-CN" dirty="0" smtClean="0"/>
              <a:t>YOLO</a:t>
            </a:r>
            <a:r>
              <a:rPr lang="zh-CN" altLang="en-US" dirty="0" smtClean="0"/>
              <a:t>第一版中的具体实现方法未必都很合理，比如一个子图像块的各个预测框都对应同一组分类概率的约定就有些问题，对于不同的预测框，完全可以让每个框对应各自的分类概率。另外，在计算损失的时候，也可以把同一子块中各个预测框与真值框的损失都进行同级并加入梯度回传，这样看起来会更合理一些。</a:t>
            </a:r>
            <a:endParaRPr lang="en-US" altLang="zh-CN" dirty="0" smtClean="0"/>
          </a:p>
          <a:p>
            <a:r>
              <a:rPr lang="zh-CN" altLang="en-US" dirty="0" smtClean="0"/>
              <a:t>基于</a:t>
            </a:r>
            <a:r>
              <a:rPr lang="en-US" altLang="zh-CN" dirty="0" smtClean="0"/>
              <a:t>YOLO</a:t>
            </a:r>
            <a:r>
              <a:rPr lang="zh-CN" altLang="en-US" dirty="0" smtClean="0"/>
              <a:t>进行检测和其他检测方法类似，对</a:t>
            </a:r>
            <a:r>
              <a:rPr lang="en-US" altLang="zh-CN" dirty="0" smtClean="0"/>
              <a:t>7×7×2=98</a:t>
            </a:r>
            <a:r>
              <a:rPr lang="zh-CN" altLang="en-US" dirty="0" smtClean="0"/>
              <a:t>个预测框，分别计算框中目标的概率与最大分类概率的乘积，当其大于指定阈值时，将预测框作为目标框输出，再对所有的目标框进行非极大值抑制处理，得到最终的结果。</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5497007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YOLO</a:t>
            </a:r>
            <a:r>
              <a:rPr lang="zh-CN" altLang="en-US" dirty="0" smtClean="0"/>
              <a:t>第一版的优势在于算法执行的速度快，但在实际使用的时候，对目标框位置的预测精度和目标的召回率都不及两阶段算法，在</a:t>
            </a:r>
            <a:r>
              <a:rPr lang="en-US" altLang="zh-CN" dirty="0" smtClean="0"/>
              <a:t>YOLO</a:t>
            </a:r>
            <a:r>
              <a:rPr lang="zh-CN" altLang="en-US" dirty="0" smtClean="0"/>
              <a:t>第二版中，对算法的一些实现细节进行了改进。主要有以下几点改进：</a:t>
            </a:r>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0157223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1.</a:t>
            </a:r>
            <a:r>
              <a:rPr lang="zh-CN" altLang="en-US" dirty="0" smtClean="0"/>
              <a:t>批次归一化</a:t>
            </a:r>
            <a:endParaRPr lang="en-US" altLang="zh-CN" dirty="0" smtClean="0"/>
          </a:p>
          <a:p>
            <a:r>
              <a:rPr lang="en-US" altLang="zh-CN" dirty="0" smtClean="0"/>
              <a:t>YOLO</a:t>
            </a:r>
            <a:r>
              <a:rPr lang="zh-CN" altLang="en-US" dirty="0" smtClean="0"/>
              <a:t>第二版在训练时使用的是批次归一化方法（</a:t>
            </a:r>
            <a:r>
              <a:rPr lang="en-US" altLang="zh-CN" dirty="0" smtClean="0"/>
              <a:t>BN</a:t>
            </a:r>
            <a:r>
              <a:rPr lang="zh-CN" altLang="en-US" dirty="0" smtClean="0"/>
              <a:t>）方法，能够更好的增加模型的泛化能力。在</a:t>
            </a:r>
            <a:r>
              <a:rPr lang="en-US" altLang="zh-CN" dirty="0" smtClean="0"/>
              <a:t>PASCOL VOC</a:t>
            </a:r>
            <a:r>
              <a:rPr lang="zh-CN" altLang="en-US" dirty="0" smtClean="0"/>
              <a:t>数据集上，不改变网络结构的前提下，</a:t>
            </a:r>
            <a:r>
              <a:rPr lang="en-US" altLang="zh-CN" dirty="0" err="1" smtClean="0"/>
              <a:t>mAP</a:t>
            </a:r>
            <a:r>
              <a:rPr lang="zh-CN" altLang="en-US" dirty="0" smtClean="0"/>
              <a:t>有</a:t>
            </a:r>
            <a:r>
              <a:rPr lang="en-US" altLang="zh-CN" dirty="0" smtClean="0"/>
              <a:t>2.4%</a:t>
            </a:r>
            <a:r>
              <a:rPr lang="zh-CN" altLang="en-US" dirty="0" smtClean="0"/>
              <a:t>的提升。另外，使用了批量归一化方法之后，可以去掉</a:t>
            </a:r>
            <a:r>
              <a:rPr lang="en-US" altLang="zh-CN" dirty="0" smtClean="0"/>
              <a:t>YOLO</a:t>
            </a:r>
            <a:r>
              <a:rPr lang="zh-CN" altLang="en-US" dirty="0" smtClean="0"/>
              <a:t>第一版使用的</a:t>
            </a:r>
            <a:r>
              <a:rPr lang="en-US" altLang="zh-CN" dirty="0" smtClean="0"/>
              <a:t>dropout</a:t>
            </a:r>
            <a:r>
              <a:rPr lang="zh-CN" altLang="en-US" dirty="0" smtClean="0"/>
              <a:t>方法。</a:t>
            </a:r>
          </a:p>
          <a:p>
            <a:r>
              <a:rPr lang="en-US" altLang="zh-CN" dirty="0" smtClean="0"/>
              <a:t>2.</a:t>
            </a:r>
            <a:r>
              <a:rPr lang="zh-CN" altLang="en-US" dirty="0" smtClean="0"/>
              <a:t>使用高分辨率训练集</a:t>
            </a:r>
            <a:endParaRPr lang="en-US" altLang="zh-CN" dirty="0" smtClean="0"/>
          </a:p>
          <a:p>
            <a:r>
              <a:rPr lang="en-US" altLang="zh-CN" dirty="0" smtClean="0"/>
              <a:t>YOLO</a:t>
            </a:r>
            <a:r>
              <a:rPr lang="zh-CN" altLang="en-US" dirty="0" smtClean="0"/>
              <a:t>第二版训练时，使用了更高分辨率的数据。</a:t>
            </a:r>
            <a:r>
              <a:rPr lang="zh-CN" altLang="en-US" sz="1200" b="0" i="0" kern="1200" dirty="0" smtClean="0">
                <a:solidFill>
                  <a:schemeClr val="tx1"/>
                </a:solidFill>
                <a:effectLst/>
                <a:latin typeface="+mn-lt"/>
                <a:ea typeface="+mn-ea"/>
                <a:cs typeface="+mn-cs"/>
              </a:rPr>
              <a:t>目前大部分的检测模型都会在先在</a:t>
            </a:r>
            <a:r>
              <a:rPr lang="en-US" altLang="zh-CN" sz="1200" b="0" i="0" kern="1200" dirty="0" err="1" smtClean="0">
                <a:solidFill>
                  <a:schemeClr val="tx1"/>
                </a:solidFill>
                <a:effectLst/>
                <a:latin typeface="+mn-lt"/>
                <a:ea typeface="+mn-ea"/>
                <a:cs typeface="+mn-cs"/>
              </a:rPr>
              <a:t>ImageNet</a:t>
            </a:r>
            <a:r>
              <a:rPr lang="zh-CN" altLang="en-US" sz="1200" b="0" i="0" kern="1200" dirty="0" smtClean="0">
                <a:solidFill>
                  <a:schemeClr val="tx1"/>
                </a:solidFill>
                <a:effectLst/>
                <a:latin typeface="+mn-lt"/>
                <a:ea typeface="+mn-ea"/>
                <a:cs typeface="+mn-cs"/>
              </a:rPr>
              <a:t>分类数据集上预训练模型的主体部分，</a:t>
            </a:r>
            <a:r>
              <a:rPr lang="zh-CN" altLang="en-US" dirty="0" smtClean="0"/>
              <a:t>由于历史原因，</a:t>
            </a:r>
            <a:r>
              <a:rPr lang="en-US" altLang="zh-CN" dirty="0" err="1" smtClean="0"/>
              <a:t>ImageNet</a:t>
            </a:r>
            <a:r>
              <a:rPr lang="zh-CN" altLang="en-US" dirty="0" smtClean="0"/>
              <a:t>分类模型基本采用</a:t>
            </a:r>
            <a:r>
              <a:rPr lang="en-US" altLang="zh-CN" dirty="0" smtClean="0"/>
              <a:t>224×224</a:t>
            </a:r>
            <a:r>
              <a:rPr lang="zh-CN" altLang="en-US" dirty="0" smtClean="0"/>
              <a:t>大小的数据作为输入。</a:t>
            </a:r>
            <a:r>
              <a:rPr lang="en-US" altLang="zh-CN" dirty="0" smtClean="0"/>
              <a:t>YOLO</a:t>
            </a:r>
            <a:r>
              <a:rPr lang="zh-CN" altLang="en-US" dirty="0" smtClean="0"/>
              <a:t>第一版首先基于</a:t>
            </a:r>
            <a:r>
              <a:rPr lang="en-US" altLang="zh-CN" dirty="0" smtClean="0"/>
              <a:t>224×224</a:t>
            </a:r>
            <a:r>
              <a:rPr lang="zh-CN" altLang="en-US" dirty="0" smtClean="0"/>
              <a:t>的分类数据集训练前面的卷积层后，直接切换在</a:t>
            </a:r>
            <a:r>
              <a:rPr lang="en-US" altLang="zh-CN" dirty="0" smtClean="0"/>
              <a:t>448×448</a:t>
            </a:r>
            <a:r>
              <a:rPr lang="zh-CN" altLang="en-US" dirty="0" smtClean="0"/>
              <a:t>的检测数据集上训练整个检测网络，两次训练数据的分辨率存在差距，使得模型不容易达到最优的效果。</a:t>
            </a:r>
            <a:r>
              <a:rPr lang="en-US" altLang="zh-CN" dirty="0" smtClean="0"/>
              <a:t>YOLO</a:t>
            </a:r>
            <a:r>
              <a:rPr lang="zh-CN" altLang="en-US" dirty="0" smtClean="0"/>
              <a:t>第二版为了克服这个问题，在</a:t>
            </a:r>
            <a:r>
              <a:rPr lang="en-US" altLang="zh-CN" dirty="0" smtClean="0"/>
              <a:t>224×224</a:t>
            </a:r>
            <a:r>
              <a:rPr lang="zh-CN" altLang="en-US" dirty="0" smtClean="0"/>
              <a:t>的分类数据集训练前的卷积层之后，基于</a:t>
            </a:r>
            <a:r>
              <a:rPr lang="en-US" altLang="zh-CN" dirty="0" smtClean="0"/>
              <a:t>448×448</a:t>
            </a:r>
            <a:r>
              <a:rPr lang="zh-CN" altLang="en-US" dirty="0" smtClean="0"/>
              <a:t>的分类数据进行了若干轮迭代训练，使得网络更加适配高分辨率的数据，之后，在分辨率为</a:t>
            </a:r>
            <a:r>
              <a:rPr lang="en-US" altLang="zh-CN" dirty="0" smtClean="0"/>
              <a:t>448×448</a:t>
            </a:r>
            <a:r>
              <a:rPr lang="zh-CN" altLang="en-US" dirty="0" smtClean="0"/>
              <a:t>的检测数据集上训练整个检测网络。通过这样的训练策略，模型的</a:t>
            </a:r>
            <a:r>
              <a:rPr lang="en-US" altLang="zh-CN" dirty="0" err="1" smtClean="0"/>
              <a:t>mAP</a:t>
            </a:r>
            <a:r>
              <a:rPr lang="zh-CN" altLang="en-US" dirty="0" smtClean="0"/>
              <a:t>有了</a:t>
            </a:r>
            <a:r>
              <a:rPr lang="en-US" altLang="zh-CN" dirty="0" smtClean="0"/>
              <a:t>4%</a:t>
            </a:r>
            <a:r>
              <a:rPr lang="zh-CN" altLang="en-US" dirty="0" smtClean="0"/>
              <a:t>的提升。</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2245076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mn-lt"/>
                <a:ea typeface="+mn-ea"/>
                <a:cs typeface="+mn-cs"/>
              </a:rPr>
              <a:t>YOLOv2</a:t>
            </a:r>
            <a:r>
              <a:rPr lang="zh-CN" altLang="en-US" sz="1200" b="0" i="0" kern="1200" dirty="0" smtClean="0">
                <a:solidFill>
                  <a:schemeClr val="tx1"/>
                </a:solidFill>
                <a:effectLst/>
                <a:latin typeface="+mn-lt"/>
                <a:ea typeface="+mn-ea"/>
                <a:cs typeface="+mn-cs"/>
              </a:rPr>
              <a:t>采用了一个新的基础模型（特征提取器），称为</a:t>
            </a:r>
            <a:r>
              <a:rPr lang="en-US" altLang="zh-CN" sz="1200" b="0" i="0" kern="1200" dirty="0" smtClean="0">
                <a:solidFill>
                  <a:schemeClr val="tx1"/>
                </a:solidFill>
                <a:effectLst/>
                <a:latin typeface="+mn-lt"/>
                <a:ea typeface="+mn-ea"/>
                <a:cs typeface="+mn-cs"/>
              </a:rPr>
              <a:t>Darknet-19</a:t>
            </a:r>
            <a:r>
              <a:rPr lang="zh-CN" altLang="en-US" sz="1200" b="0" i="0" kern="1200" dirty="0" smtClean="0">
                <a:solidFill>
                  <a:schemeClr val="tx1"/>
                </a:solidFill>
                <a:effectLst/>
                <a:latin typeface="+mn-lt"/>
                <a:ea typeface="+mn-ea"/>
                <a:cs typeface="+mn-cs"/>
              </a:rPr>
              <a:t>，包括</a:t>
            </a:r>
            <a:r>
              <a:rPr lang="en-US" altLang="zh-CN" sz="1200" b="0" i="0" kern="1200" dirty="0" smtClean="0">
                <a:solidFill>
                  <a:schemeClr val="tx1"/>
                </a:solidFill>
                <a:effectLst/>
                <a:latin typeface="+mn-lt"/>
                <a:ea typeface="+mn-ea"/>
                <a:cs typeface="+mn-cs"/>
              </a:rPr>
              <a:t>19</a:t>
            </a:r>
            <a:r>
              <a:rPr lang="zh-CN" altLang="en-US" sz="1200" b="0" i="0" kern="1200" dirty="0" smtClean="0">
                <a:solidFill>
                  <a:schemeClr val="tx1"/>
                </a:solidFill>
                <a:effectLst/>
                <a:latin typeface="+mn-lt"/>
                <a:ea typeface="+mn-ea"/>
                <a:cs typeface="+mn-cs"/>
              </a:rPr>
              <a:t>个卷积层和</a:t>
            </a:r>
            <a:r>
              <a:rPr lang="en-US" altLang="zh-CN" sz="1200" b="0" i="0" kern="1200" dirty="0" smtClean="0">
                <a:solidFill>
                  <a:schemeClr val="tx1"/>
                </a:solidFill>
                <a:effectLst/>
                <a:latin typeface="+mn-lt"/>
                <a:ea typeface="+mn-ea"/>
                <a:cs typeface="+mn-cs"/>
              </a:rPr>
              <a:t>5</a:t>
            </a:r>
            <a:r>
              <a:rPr lang="zh-CN" altLang="en-US" sz="1200" b="0" i="0" kern="1200" dirty="0" smtClean="0">
                <a:solidFill>
                  <a:schemeClr val="tx1"/>
                </a:solidFill>
                <a:effectLst/>
                <a:latin typeface="+mn-lt"/>
                <a:ea typeface="+mn-ea"/>
                <a:cs typeface="+mn-cs"/>
              </a:rPr>
              <a:t>个</a:t>
            </a:r>
            <a:r>
              <a:rPr lang="en-US" altLang="zh-CN" sz="1200" b="0" i="0" kern="1200" dirty="0" err="1" smtClean="0">
                <a:solidFill>
                  <a:schemeClr val="tx1"/>
                </a:solidFill>
                <a:effectLst/>
                <a:latin typeface="+mn-lt"/>
                <a:ea typeface="+mn-ea"/>
                <a:cs typeface="+mn-cs"/>
              </a:rPr>
              <a:t>maxpooling</a:t>
            </a:r>
            <a:r>
              <a:rPr lang="zh-CN" altLang="en-US" sz="1200" b="0" i="0" kern="1200" dirty="0" smtClean="0">
                <a:solidFill>
                  <a:schemeClr val="tx1"/>
                </a:solidFill>
                <a:effectLst/>
                <a:latin typeface="+mn-lt"/>
                <a:ea typeface="+mn-ea"/>
                <a:cs typeface="+mn-cs"/>
              </a:rPr>
              <a:t>层，如图所示。</a:t>
            </a:r>
            <a:r>
              <a:rPr lang="en-US" altLang="zh-CN" sz="1200" b="0" i="0" kern="1200" dirty="0" smtClean="0">
                <a:solidFill>
                  <a:schemeClr val="tx1"/>
                </a:solidFill>
                <a:effectLst/>
                <a:latin typeface="+mn-lt"/>
                <a:ea typeface="+mn-ea"/>
                <a:cs typeface="+mn-cs"/>
              </a:rPr>
              <a:t>Darknet-19</a:t>
            </a:r>
            <a:r>
              <a:rPr lang="zh-CN" altLang="en-US" sz="1200" b="0" i="0" kern="1200" dirty="0" smtClean="0">
                <a:solidFill>
                  <a:schemeClr val="tx1"/>
                </a:solidFill>
                <a:effectLst/>
                <a:latin typeface="+mn-lt"/>
                <a:ea typeface="+mn-ea"/>
                <a:cs typeface="+mn-cs"/>
              </a:rPr>
              <a:t>与</a:t>
            </a:r>
            <a:r>
              <a:rPr lang="en-US" altLang="zh-CN" sz="1200" b="0" i="0" kern="1200" dirty="0" smtClean="0">
                <a:solidFill>
                  <a:schemeClr val="tx1"/>
                </a:solidFill>
                <a:effectLst/>
                <a:latin typeface="+mn-lt"/>
                <a:ea typeface="+mn-ea"/>
                <a:cs typeface="+mn-cs"/>
              </a:rPr>
              <a:t>VGG16</a:t>
            </a:r>
            <a:r>
              <a:rPr lang="zh-CN" altLang="en-US" sz="1200" b="0" i="0" kern="1200" dirty="0" smtClean="0">
                <a:solidFill>
                  <a:schemeClr val="tx1"/>
                </a:solidFill>
                <a:effectLst/>
                <a:latin typeface="+mn-lt"/>
                <a:ea typeface="+mn-ea"/>
                <a:cs typeface="+mn-cs"/>
              </a:rPr>
              <a:t>模型设计原则是一致的，主要采用</a:t>
            </a:r>
            <a:r>
              <a:rPr lang="en-US" altLang="zh-CN" sz="1200" b="0" i="0" kern="1200" dirty="0" smtClean="0">
                <a:solidFill>
                  <a:schemeClr val="tx1"/>
                </a:solidFill>
                <a:effectLst/>
                <a:latin typeface="+mn-lt"/>
                <a:ea typeface="+mn-ea"/>
                <a:cs typeface="+mn-cs"/>
              </a:rPr>
              <a:t>3×3</a:t>
            </a:r>
            <a:r>
              <a:rPr lang="zh-CN" altLang="en-US" sz="1200" b="0" i="0" kern="1200" dirty="0" smtClean="0">
                <a:solidFill>
                  <a:schemeClr val="tx1"/>
                </a:solidFill>
                <a:effectLst/>
                <a:latin typeface="+mn-lt"/>
                <a:ea typeface="+mn-ea"/>
                <a:cs typeface="+mn-cs"/>
              </a:rPr>
              <a:t>卷积，采用</a:t>
            </a:r>
            <a:r>
              <a:rPr lang="en-US" altLang="zh-CN" sz="1200" b="0" i="0" kern="1200" dirty="0" smtClean="0">
                <a:solidFill>
                  <a:schemeClr val="tx1"/>
                </a:solidFill>
                <a:effectLst/>
                <a:latin typeface="+mn-lt"/>
                <a:ea typeface="+mn-ea"/>
                <a:cs typeface="+mn-cs"/>
              </a:rPr>
              <a:t>2×2</a:t>
            </a:r>
            <a:r>
              <a:rPr lang="zh-CN" altLang="en-US" sz="1200" b="0" i="0" kern="1200" dirty="0" smtClean="0">
                <a:solidFill>
                  <a:schemeClr val="tx1"/>
                </a:solidFill>
                <a:effectLst/>
                <a:latin typeface="+mn-lt"/>
                <a:ea typeface="+mn-ea"/>
                <a:cs typeface="+mn-cs"/>
              </a:rPr>
              <a:t>的</a:t>
            </a:r>
            <a:r>
              <a:rPr lang="en-US" altLang="zh-CN" sz="1200" b="0" i="0" kern="1200" dirty="0" err="1" smtClean="0">
                <a:solidFill>
                  <a:schemeClr val="tx1"/>
                </a:solidFill>
                <a:effectLst/>
                <a:latin typeface="+mn-lt"/>
                <a:ea typeface="+mn-ea"/>
                <a:cs typeface="+mn-cs"/>
              </a:rPr>
              <a:t>maxpooling</a:t>
            </a:r>
            <a:r>
              <a:rPr lang="zh-CN" altLang="en-US" sz="1200" b="0" i="0" kern="1200" dirty="0" smtClean="0">
                <a:solidFill>
                  <a:schemeClr val="tx1"/>
                </a:solidFill>
                <a:effectLst/>
                <a:latin typeface="+mn-lt"/>
                <a:ea typeface="+mn-ea"/>
                <a:cs typeface="+mn-cs"/>
              </a:rPr>
              <a:t>层之后，特征图维度降低</a:t>
            </a:r>
            <a:r>
              <a:rPr lang="en-US" altLang="zh-CN" sz="1200" b="0" i="0" kern="1200" dirty="0" smtClean="0">
                <a:solidFill>
                  <a:schemeClr val="tx1"/>
                </a:solidFill>
                <a:effectLst/>
                <a:latin typeface="+mn-lt"/>
                <a:ea typeface="+mn-ea"/>
                <a:cs typeface="+mn-cs"/>
              </a:rPr>
              <a:t>2</a:t>
            </a:r>
            <a:r>
              <a:rPr lang="zh-CN" altLang="en-US" sz="1200" b="0" i="0" kern="1200" dirty="0" smtClean="0">
                <a:solidFill>
                  <a:schemeClr val="tx1"/>
                </a:solidFill>
                <a:effectLst/>
                <a:latin typeface="+mn-lt"/>
                <a:ea typeface="+mn-ea"/>
                <a:cs typeface="+mn-cs"/>
              </a:rPr>
              <a:t>倍，而同时将特征图的</a:t>
            </a:r>
            <a:r>
              <a:rPr lang="en-US" altLang="zh-CN" sz="1200" b="0" i="0" kern="1200" dirty="0" err="1" smtClean="0">
                <a:solidFill>
                  <a:schemeClr val="tx1"/>
                </a:solidFill>
                <a:effectLst/>
                <a:latin typeface="+mn-lt"/>
                <a:ea typeface="+mn-ea"/>
                <a:cs typeface="+mn-cs"/>
              </a:rPr>
              <a:t>channles</a:t>
            </a:r>
            <a:r>
              <a:rPr lang="zh-CN" altLang="en-US" sz="1200" b="0" i="0" kern="1200" dirty="0" smtClean="0">
                <a:solidFill>
                  <a:schemeClr val="tx1"/>
                </a:solidFill>
                <a:effectLst/>
                <a:latin typeface="+mn-lt"/>
                <a:ea typeface="+mn-ea"/>
                <a:cs typeface="+mn-cs"/>
              </a:rPr>
              <a:t>增加两倍。与</a:t>
            </a:r>
            <a:r>
              <a:rPr lang="en-US" altLang="zh-CN" sz="1200" b="0" i="0" u="none" kern="1200" dirty="0" smtClean="0">
                <a:solidFill>
                  <a:schemeClr val="tx1"/>
                </a:solidFill>
                <a:effectLst/>
                <a:latin typeface="+mn-lt"/>
                <a:ea typeface="+mn-ea"/>
                <a:cs typeface="+mn-cs"/>
              </a:rPr>
              <a:t>NIN(</a:t>
            </a:r>
            <a:r>
              <a:rPr lang="en-US" altLang="zh-CN" sz="1200" b="0" i="0" u="none" strike="noStrike" kern="1200" dirty="0" smtClean="0">
                <a:solidFill>
                  <a:schemeClr val="tx1"/>
                </a:solidFill>
                <a:effectLst/>
                <a:latin typeface="+mn-lt"/>
                <a:ea typeface="+mn-ea"/>
                <a:cs typeface="+mn-cs"/>
              </a:rPr>
              <a:t>Network in Network</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类似，</a:t>
            </a:r>
            <a:r>
              <a:rPr lang="en-US" altLang="zh-CN" sz="1200" b="0" i="0" kern="1200" dirty="0" smtClean="0">
                <a:solidFill>
                  <a:schemeClr val="tx1"/>
                </a:solidFill>
                <a:effectLst/>
                <a:latin typeface="+mn-lt"/>
                <a:ea typeface="+mn-ea"/>
                <a:cs typeface="+mn-cs"/>
              </a:rPr>
              <a:t>Darknet-19</a:t>
            </a:r>
            <a:r>
              <a:rPr lang="zh-CN" altLang="en-US" sz="1200" b="0" i="0" kern="1200" dirty="0" smtClean="0">
                <a:solidFill>
                  <a:schemeClr val="tx1"/>
                </a:solidFill>
                <a:effectLst/>
                <a:latin typeface="+mn-lt"/>
                <a:ea typeface="+mn-ea"/>
                <a:cs typeface="+mn-cs"/>
              </a:rPr>
              <a:t>最终采用</a:t>
            </a:r>
            <a:r>
              <a:rPr lang="en-US" altLang="zh-CN" sz="1200" b="0" i="0" kern="1200" dirty="0" smtClean="0">
                <a:solidFill>
                  <a:schemeClr val="tx1"/>
                </a:solidFill>
                <a:effectLst/>
                <a:latin typeface="+mn-lt"/>
                <a:ea typeface="+mn-ea"/>
                <a:cs typeface="+mn-cs"/>
              </a:rPr>
              <a:t>global </a:t>
            </a:r>
            <a:r>
              <a:rPr lang="en-US" altLang="zh-CN" sz="1200" b="0" i="0" kern="1200" dirty="0" err="1" smtClean="0">
                <a:solidFill>
                  <a:schemeClr val="tx1"/>
                </a:solidFill>
                <a:effectLst/>
                <a:latin typeface="+mn-lt"/>
                <a:ea typeface="+mn-ea"/>
                <a:cs typeface="+mn-cs"/>
              </a:rPr>
              <a:t>avgpooling</a:t>
            </a:r>
            <a:r>
              <a:rPr lang="zh-CN" altLang="en-US" sz="1200" b="0" i="0" kern="1200" dirty="0" smtClean="0">
                <a:solidFill>
                  <a:schemeClr val="tx1"/>
                </a:solidFill>
                <a:effectLst/>
                <a:latin typeface="+mn-lt"/>
                <a:ea typeface="+mn-ea"/>
                <a:cs typeface="+mn-cs"/>
              </a:rPr>
              <a:t>做预测，并且在</a:t>
            </a:r>
            <a:r>
              <a:rPr lang="en-US" altLang="zh-CN" sz="1200" b="0" i="0" kern="1200" dirty="0" smtClean="0">
                <a:solidFill>
                  <a:schemeClr val="tx1"/>
                </a:solidFill>
                <a:effectLst/>
                <a:latin typeface="+mn-lt"/>
                <a:ea typeface="+mn-ea"/>
                <a:cs typeface="+mn-cs"/>
              </a:rPr>
              <a:t>3×3</a:t>
            </a:r>
            <a:r>
              <a:rPr lang="zh-CN" altLang="en-US" sz="1200" b="0" i="0" kern="1200" dirty="0" smtClean="0">
                <a:solidFill>
                  <a:schemeClr val="tx1"/>
                </a:solidFill>
                <a:effectLst/>
                <a:latin typeface="+mn-lt"/>
                <a:ea typeface="+mn-ea"/>
                <a:cs typeface="+mn-cs"/>
              </a:rPr>
              <a:t>卷积之间使用</a:t>
            </a:r>
            <a:r>
              <a:rPr lang="en-US" altLang="zh-CN" sz="1200" b="0" i="0" kern="1200" dirty="0" smtClean="0">
                <a:solidFill>
                  <a:schemeClr val="tx1"/>
                </a:solidFill>
                <a:effectLst/>
                <a:latin typeface="+mn-lt"/>
                <a:ea typeface="+mn-ea"/>
                <a:cs typeface="+mn-cs"/>
              </a:rPr>
              <a:t>1×1</a:t>
            </a:r>
            <a:r>
              <a:rPr lang="zh-CN" altLang="en-US" sz="1200" b="0" i="0" kern="1200" dirty="0" smtClean="0">
                <a:solidFill>
                  <a:schemeClr val="tx1"/>
                </a:solidFill>
                <a:effectLst/>
                <a:latin typeface="+mn-lt"/>
                <a:ea typeface="+mn-ea"/>
                <a:cs typeface="+mn-cs"/>
              </a:rPr>
              <a:t>卷积来压缩特征图</a:t>
            </a:r>
            <a:r>
              <a:rPr lang="en-US" altLang="zh-CN" sz="1200" b="0" i="0" kern="1200" dirty="0" err="1" smtClean="0">
                <a:solidFill>
                  <a:schemeClr val="tx1"/>
                </a:solidFill>
                <a:effectLst/>
                <a:latin typeface="+mn-lt"/>
                <a:ea typeface="+mn-ea"/>
                <a:cs typeface="+mn-cs"/>
              </a:rPr>
              <a:t>channles</a:t>
            </a:r>
            <a:r>
              <a:rPr lang="zh-CN" altLang="en-US" sz="1200" b="0" i="0" kern="1200" dirty="0" smtClean="0">
                <a:solidFill>
                  <a:schemeClr val="tx1"/>
                </a:solidFill>
                <a:effectLst/>
                <a:latin typeface="+mn-lt"/>
                <a:ea typeface="+mn-ea"/>
                <a:cs typeface="+mn-cs"/>
              </a:rPr>
              <a:t>以降低模型计算量和参数。</a:t>
            </a:r>
            <a:r>
              <a:rPr lang="en-US" altLang="zh-CN" sz="1200" b="0" i="0" kern="1200" dirty="0" smtClean="0">
                <a:solidFill>
                  <a:schemeClr val="tx1"/>
                </a:solidFill>
                <a:effectLst/>
                <a:latin typeface="+mn-lt"/>
                <a:ea typeface="+mn-ea"/>
                <a:cs typeface="+mn-cs"/>
              </a:rPr>
              <a:t>Darknet-19</a:t>
            </a:r>
            <a:r>
              <a:rPr lang="zh-CN" altLang="en-US" sz="1200" b="0" i="0" kern="1200" dirty="0" smtClean="0">
                <a:solidFill>
                  <a:schemeClr val="tx1"/>
                </a:solidFill>
                <a:effectLst/>
                <a:latin typeface="+mn-lt"/>
                <a:ea typeface="+mn-ea"/>
                <a:cs typeface="+mn-cs"/>
              </a:rPr>
              <a:t>每个卷积层后面同样使用了</a:t>
            </a:r>
            <a:r>
              <a:rPr lang="en-US" altLang="zh-CN" sz="1200" b="0" i="0" kern="1200" dirty="0" smtClean="0">
                <a:solidFill>
                  <a:schemeClr val="tx1"/>
                </a:solidFill>
                <a:effectLst/>
                <a:latin typeface="+mn-lt"/>
                <a:ea typeface="+mn-ea"/>
                <a:cs typeface="+mn-cs"/>
              </a:rPr>
              <a:t>batch norm</a:t>
            </a:r>
            <a:r>
              <a:rPr lang="zh-CN" altLang="en-US" sz="1200" b="0" i="0" kern="1200" dirty="0" smtClean="0">
                <a:solidFill>
                  <a:schemeClr val="tx1"/>
                </a:solidFill>
                <a:effectLst/>
                <a:latin typeface="+mn-lt"/>
                <a:ea typeface="+mn-ea"/>
                <a:cs typeface="+mn-cs"/>
              </a:rPr>
              <a:t>层以加快收敛速度，降低模型过拟合。在</a:t>
            </a:r>
            <a:r>
              <a:rPr lang="en-US" altLang="zh-CN" sz="1200" b="0" i="0" kern="1200" dirty="0" err="1" smtClean="0">
                <a:solidFill>
                  <a:schemeClr val="tx1"/>
                </a:solidFill>
                <a:effectLst/>
                <a:latin typeface="+mn-lt"/>
                <a:ea typeface="+mn-ea"/>
                <a:cs typeface="+mn-cs"/>
              </a:rPr>
              <a:t>ImageNet</a:t>
            </a:r>
            <a:r>
              <a:rPr lang="zh-CN" altLang="en-US" sz="1200" b="0" i="0" kern="1200" dirty="0" smtClean="0">
                <a:solidFill>
                  <a:schemeClr val="tx1"/>
                </a:solidFill>
                <a:effectLst/>
                <a:latin typeface="+mn-lt"/>
                <a:ea typeface="+mn-ea"/>
                <a:cs typeface="+mn-cs"/>
              </a:rPr>
              <a:t>分类数据集上，</a:t>
            </a:r>
            <a:r>
              <a:rPr lang="en-US" altLang="zh-CN" sz="1200" b="0" i="0" kern="1200" dirty="0" smtClean="0">
                <a:solidFill>
                  <a:schemeClr val="tx1"/>
                </a:solidFill>
                <a:effectLst/>
                <a:latin typeface="+mn-lt"/>
                <a:ea typeface="+mn-ea"/>
                <a:cs typeface="+mn-cs"/>
              </a:rPr>
              <a:t>Darknet-19</a:t>
            </a:r>
            <a:r>
              <a:rPr lang="zh-CN" altLang="en-US" sz="1200" b="0" i="0" kern="1200" dirty="0" smtClean="0">
                <a:solidFill>
                  <a:schemeClr val="tx1"/>
                </a:solidFill>
                <a:effectLst/>
                <a:latin typeface="+mn-lt"/>
                <a:ea typeface="+mn-ea"/>
                <a:cs typeface="+mn-cs"/>
              </a:rPr>
              <a:t>的</a:t>
            </a:r>
            <a:r>
              <a:rPr lang="en-US" altLang="zh-CN" sz="1200" b="0" i="0" kern="1200" dirty="0" smtClean="0">
                <a:solidFill>
                  <a:schemeClr val="tx1"/>
                </a:solidFill>
                <a:effectLst/>
                <a:latin typeface="+mn-lt"/>
                <a:ea typeface="+mn-ea"/>
                <a:cs typeface="+mn-cs"/>
              </a:rPr>
              <a:t>top-1</a:t>
            </a:r>
            <a:r>
              <a:rPr lang="zh-CN" altLang="en-US" sz="1200" b="0" i="0" kern="1200" dirty="0" smtClean="0">
                <a:solidFill>
                  <a:schemeClr val="tx1"/>
                </a:solidFill>
                <a:effectLst/>
                <a:latin typeface="+mn-lt"/>
                <a:ea typeface="+mn-ea"/>
                <a:cs typeface="+mn-cs"/>
              </a:rPr>
              <a:t>准确度为</a:t>
            </a:r>
            <a:r>
              <a:rPr lang="en-US" altLang="zh-CN" sz="1200" b="0" i="0" kern="1200" dirty="0" smtClean="0">
                <a:solidFill>
                  <a:schemeClr val="tx1"/>
                </a:solidFill>
                <a:effectLst/>
                <a:latin typeface="+mn-lt"/>
                <a:ea typeface="+mn-ea"/>
                <a:cs typeface="+mn-cs"/>
              </a:rPr>
              <a:t>72.9%</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top-5</a:t>
            </a:r>
            <a:r>
              <a:rPr lang="zh-CN" altLang="en-US" sz="1200" b="0" i="0" kern="1200" dirty="0" smtClean="0">
                <a:solidFill>
                  <a:schemeClr val="tx1"/>
                </a:solidFill>
                <a:effectLst/>
                <a:latin typeface="+mn-lt"/>
                <a:ea typeface="+mn-ea"/>
                <a:cs typeface="+mn-cs"/>
              </a:rPr>
              <a:t>准确度为</a:t>
            </a:r>
            <a:r>
              <a:rPr lang="en-US" altLang="zh-CN" sz="1200" b="0" i="0" kern="1200" dirty="0" smtClean="0">
                <a:solidFill>
                  <a:schemeClr val="tx1"/>
                </a:solidFill>
                <a:effectLst/>
                <a:latin typeface="+mn-lt"/>
                <a:ea typeface="+mn-ea"/>
                <a:cs typeface="+mn-cs"/>
              </a:rPr>
              <a:t>91.2%</a:t>
            </a:r>
            <a:r>
              <a:rPr lang="zh-CN" altLang="en-US" sz="1200" b="0" i="0" kern="1200" dirty="0" smtClean="0">
                <a:solidFill>
                  <a:schemeClr val="tx1"/>
                </a:solidFill>
                <a:effectLst/>
                <a:latin typeface="+mn-lt"/>
                <a:ea typeface="+mn-ea"/>
                <a:cs typeface="+mn-cs"/>
              </a:rPr>
              <a:t>，但是模型参数相对小一些。使用</a:t>
            </a:r>
            <a:r>
              <a:rPr lang="en-US" altLang="zh-CN" sz="1200" b="0" i="0" kern="1200" dirty="0" smtClean="0">
                <a:solidFill>
                  <a:schemeClr val="tx1"/>
                </a:solidFill>
                <a:effectLst/>
                <a:latin typeface="+mn-lt"/>
                <a:ea typeface="+mn-ea"/>
                <a:cs typeface="+mn-cs"/>
              </a:rPr>
              <a:t>Darknet-19</a:t>
            </a:r>
            <a:r>
              <a:rPr lang="zh-CN" altLang="en-US" sz="1200" b="0" i="0" kern="1200" dirty="0" smtClean="0">
                <a:solidFill>
                  <a:schemeClr val="tx1"/>
                </a:solidFill>
                <a:effectLst/>
                <a:latin typeface="+mn-lt"/>
                <a:ea typeface="+mn-ea"/>
                <a:cs typeface="+mn-cs"/>
              </a:rPr>
              <a:t>之后，</a:t>
            </a:r>
            <a:r>
              <a:rPr lang="en-US" altLang="zh-CN" sz="1200" b="0" i="0" kern="1200" dirty="0" smtClean="0">
                <a:solidFill>
                  <a:schemeClr val="tx1"/>
                </a:solidFill>
                <a:effectLst/>
                <a:latin typeface="+mn-lt"/>
                <a:ea typeface="+mn-ea"/>
                <a:cs typeface="+mn-cs"/>
              </a:rPr>
              <a:t>YOLOv2</a:t>
            </a:r>
            <a:r>
              <a:rPr lang="zh-CN" altLang="en-US" sz="1200" b="0" i="0" kern="1200" dirty="0" smtClean="0">
                <a:solidFill>
                  <a:schemeClr val="tx1"/>
                </a:solidFill>
                <a:effectLst/>
                <a:latin typeface="+mn-lt"/>
                <a:ea typeface="+mn-ea"/>
                <a:cs typeface="+mn-cs"/>
              </a:rPr>
              <a:t>的</a:t>
            </a:r>
            <a:r>
              <a:rPr lang="en-US" altLang="zh-CN" sz="1200" b="0" i="0" kern="1200" dirty="0" err="1" smtClean="0">
                <a:solidFill>
                  <a:schemeClr val="tx1"/>
                </a:solidFill>
                <a:effectLst/>
                <a:latin typeface="+mn-lt"/>
                <a:ea typeface="+mn-ea"/>
                <a:cs typeface="+mn-cs"/>
              </a:rPr>
              <a:t>mAP</a:t>
            </a:r>
            <a:r>
              <a:rPr lang="zh-CN" altLang="en-US" sz="1200" b="0" i="0" kern="1200" dirty="0" smtClean="0">
                <a:solidFill>
                  <a:schemeClr val="tx1"/>
                </a:solidFill>
                <a:effectLst/>
                <a:latin typeface="+mn-lt"/>
                <a:ea typeface="+mn-ea"/>
                <a:cs typeface="+mn-cs"/>
              </a:rPr>
              <a:t>值没有显著提升，但是计算量却可以减少约</a:t>
            </a:r>
            <a:r>
              <a:rPr lang="en-US" altLang="zh-CN" sz="1200" b="0" i="0" kern="1200" dirty="0" smtClean="0">
                <a:solidFill>
                  <a:schemeClr val="tx1"/>
                </a:solidFill>
                <a:effectLst/>
                <a:latin typeface="+mn-lt"/>
                <a:ea typeface="+mn-ea"/>
                <a:cs typeface="+mn-cs"/>
              </a:rPr>
              <a:t>33%</a:t>
            </a:r>
            <a:r>
              <a:rPr lang="zh-CN" altLang="en-US" sz="1200" b="0" i="0" kern="1200" dirty="0" smtClean="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6498443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YOLO </a:t>
            </a:r>
            <a:r>
              <a:rPr lang="zh-CN" altLang="en-US" dirty="0" smtClean="0"/>
              <a:t>第二版相对于第一版另一个重要的改进就是使用了锚。类似 </a:t>
            </a:r>
            <a:r>
              <a:rPr lang="en-US" altLang="zh-CN" dirty="0" smtClean="0"/>
              <a:t>Faster R-CNN </a:t>
            </a:r>
            <a:r>
              <a:rPr lang="zh-CN" altLang="en-US" dirty="0" smtClean="0"/>
              <a:t>中的</a:t>
            </a:r>
            <a:r>
              <a:rPr lang="en-US" altLang="zh-CN" dirty="0" smtClean="0"/>
              <a:t>RPN</a:t>
            </a:r>
            <a:r>
              <a:rPr lang="zh-CN" altLang="en-US" dirty="0" smtClean="0"/>
              <a:t>网络，基于锚的网络是全卷积的，其原理就是在前面若干卷积层提取的特征图上，用一个小卷积网络在每个位置上进行滑动</a:t>
            </a:r>
            <a:r>
              <a:rPr lang="en-US" altLang="zh-CN" dirty="0" smtClean="0"/>
              <a:t>,</a:t>
            </a:r>
            <a:r>
              <a:rPr lang="zh-CN" altLang="en-US" dirty="0" smtClean="0"/>
              <a:t>在特征图每个位置上回归目标参数。在</a:t>
            </a:r>
            <a:r>
              <a:rPr lang="en-US" altLang="zh-CN" dirty="0" smtClean="0"/>
              <a:t>YOLO </a:t>
            </a:r>
            <a:r>
              <a:rPr lang="zh-CN" altLang="en-US" dirty="0" smtClean="0"/>
              <a:t>第二版中</a:t>
            </a:r>
            <a:r>
              <a:rPr lang="en-US" altLang="zh-CN" dirty="0" smtClean="0"/>
              <a:t>,</a:t>
            </a:r>
            <a:r>
              <a:rPr lang="zh-CN" altLang="en-US" dirty="0" smtClean="0"/>
              <a:t>去掉了第一版最后的两个卷积层以及一个池化层</a:t>
            </a:r>
            <a:r>
              <a:rPr lang="en-US" altLang="zh-CN" dirty="0" smtClean="0"/>
              <a:t>,</a:t>
            </a:r>
            <a:r>
              <a:rPr lang="zh-CN" altLang="en-US" dirty="0" smtClean="0"/>
              <a:t>并添加了用于在每个特征图的子块上进行预测的卷积层</a:t>
            </a:r>
            <a:r>
              <a:rPr lang="en-US" altLang="zh-CN" dirty="0" smtClean="0"/>
              <a:t>,</a:t>
            </a:r>
            <a:r>
              <a:rPr lang="zh-CN" altLang="en-US" dirty="0" smtClean="0"/>
              <a:t>整个网络变成全卷积结构。因为采用的是全卷积网络，所以不受输入图像尺寸的限制</a:t>
            </a:r>
            <a:r>
              <a:rPr lang="en-US" altLang="zh-CN" dirty="0" smtClean="0"/>
              <a:t>,</a:t>
            </a:r>
            <a:r>
              <a:rPr lang="zh-CN" altLang="en-US" dirty="0" smtClean="0"/>
              <a:t>对于一些大的目标，很大概率其居于图像中心的位置</a:t>
            </a:r>
            <a:r>
              <a:rPr lang="en-US" altLang="zh-CN" dirty="0" smtClean="0"/>
              <a:t>,</a:t>
            </a:r>
            <a:r>
              <a:rPr lang="zh-CN" altLang="en-US" dirty="0" smtClean="0"/>
              <a:t>如果用于回归的特征图的子块维度为奇数，则目标的中心大概率会落在中心的子块</a:t>
            </a:r>
            <a:r>
              <a:rPr lang="en-US" altLang="zh-CN" dirty="0" smtClean="0"/>
              <a:t>,</a:t>
            </a:r>
            <a:r>
              <a:rPr lang="zh-CN" altLang="en-US" dirty="0" smtClean="0"/>
              <a:t>相比子块维度为偶数时目标中心落在周围的子块的情况，目标中心落在中心子块时锚与目标更容易匹配。因此 </a:t>
            </a:r>
            <a:r>
              <a:rPr lang="en-US" altLang="zh-CN" dirty="0" smtClean="0"/>
              <a:t>YOLO</a:t>
            </a:r>
            <a:r>
              <a:rPr lang="zh-CN" altLang="en-US" dirty="0" smtClean="0"/>
              <a:t>第二版中对输入图像的尺寸做了一点修改，由</a:t>
            </a:r>
            <a:r>
              <a:rPr lang="en-US" altLang="zh-CN" dirty="0" smtClean="0"/>
              <a:t>448×448</a:t>
            </a:r>
            <a:r>
              <a:rPr lang="zh-CN" altLang="en-US" dirty="0" smtClean="0"/>
              <a:t>缩减到</a:t>
            </a:r>
            <a:r>
              <a:rPr lang="en-US" altLang="zh-CN" dirty="0" smtClean="0"/>
              <a:t>416×416.</a:t>
            </a:r>
            <a:r>
              <a:rPr lang="zh-CN" altLang="en-US" dirty="0" smtClean="0"/>
              <a:t>这样经过前面的卷积层，图像经过</a:t>
            </a:r>
            <a:r>
              <a:rPr lang="en-US" altLang="zh-CN" dirty="0" smtClean="0"/>
              <a:t>32</a:t>
            </a:r>
            <a:r>
              <a:rPr lang="zh-CN" altLang="en-US" dirty="0" smtClean="0"/>
              <a:t>倍的下采样，生成的特征图尺寸为</a:t>
            </a:r>
            <a:r>
              <a:rPr lang="en-US" altLang="zh-CN" dirty="0" smtClean="0"/>
              <a:t>13×13</a:t>
            </a:r>
            <a:r>
              <a:rPr lang="zh-CN" altLang="en-US" dirty="0" smtClean="0"/>
              <a:t>，行列均为奇数，即大目标的中心大概率会落在中间的特征子块中</a:t>
            </a:r>
            <a:r>
              <a:rPr lang="en-US" altLang="zh-CN" dirty="0" smtClean="0"/>
              <a:t>,</a:t>
            </a:r>
            <a:r>
              <a:rPr lang="zh-CN" altLang="en-US" dirty="0" smtClean="0"/>
              <a:t>更有助于进行目标的预测。</a:t>
            </a:r>
            <a:endParaRPr lang="en-US" altLang="zh-CN" dirty="0" smtClean="0"/>
          </a:p>
          <a:p>
            <a:r>
              <a:rPr lang="en-US" altLang="zh-CN" dirty="0" smtClean="0"/>
              <a:t>Faster R-CNN</a:t>
            </a:r>
            <a:r>
              <a:rPr lang="zh-CN" altLang="en-US" dirty="0" smtClean="0"/>
              <a:t>使用的锚完全是手工设计的，</a:t>
            </a:r>
            <a:r>
              <a:rPr lang="en-US" altLang="zh-CN" dirty="0" smtClean="0"/>
              <a:t>YOLO </a:t>
            </a:r>
            <a:r>
              <a:rPr lang="zh-CN" altLang="en-US" dirty="0" smtClean="0"/>
              <a:t>第二版做了进一步改进</a:t>
            </a:r>
            <a:r>
              <a:rPr lang="en-US" altLang="zh-CN" dirty="0" smtClean="0"/>
              <a:t>,</a:t>
            </a:r>
            <a:r>
              <a:rPr lang="zh-CN" altLang="en-US" dirty="0" smtClean="0"/>
              <a:t>通过</a:t>
            </a:r>
            <a:r>
              <a:rPr lang="en-US" altLang="zh-CN" dirty="0" smtClean="0"/>
              <a:t>k-means</a:t>
            </a:r>
            <a:r>
              <a:rPr lang="zh-CN" altLang="en-US" dirty="0" smtClean="0"/>
              <a:t>算法，在训练集中对</a:t>
            </a:r>
            <a:r>
              <a:rPr lang="en-US" altLang="zh-CN" dirty="0" smtClean="0"/>
              <a:t>anchor</a:t>
            </a:r>
            <a:r>
              <a:rPr lang="zh-CN" altLang="en-US" dirty="0" smtClean="0"/>
              <a:t>的位置和形状进行了聚类。用</a:t>
            </a:r>
            <a:r>
              <a:rPr lang="en-US" altLang="zh-CN" dirty="0" smtClean="0"/>
              <a:t>box</a:t>
            </a:r>
            <a:r>
              <a:rPr lang="zh-CN" altLang="en-US" dirty="0" smtClean="0"/>
              <a:t>表示图像上任意一个框，</a:t>
            </a:r>
            <a:r>
              <a:rPr lang="en-US" altLang="zh-CN" dirty="0" smtClean="0"/>
              <a:t>centroid</a:t>
            </a:r>
            <a:r>
              <a:rPr lang="zh-CN" altLang="en-US" dirty="0" smtClean="0"/>
              <a:t>表示</a:t>
            </a:r>
            <a:r>
              <a:rPr lang="en-US" altLang="zh-CN" dirty="0" smtClean="0"/>
              <a:t>k-means</a:t>
            </a:r>
            <a:r>
              <a:rPr lang="zh-CN" altLang="en-US" dirty="0" smtClean="0"/>
              <a:t>聚类中心</a:t>
            </a:r>
            <a:r>
              <a:rPr lang="en-US" altLang="zh-CN" dirty="0" smtClean="0"/>
              <a:t>anchor(</a:t>
            </a:r>
            <a:r>
              <a:rPr lang="zh-CN" altLang="en-US" dirty="0" smtClean="0"/>
              <a:t>也是一个框</a:t>
            </a:r>
            <a:r>
              <a:rPr lang="en-US" altLang="zh-CN" dirty="0" smtClean="0"/>
              <a:t>),</a:t>
            </a:r>
            <a:r>
              <a:rPr lang="zh-CN" altLang="en-US" dirty="0" smtClean="0"/>
              <a:t>定义两者的距离为如下公式。</a:t>
            </a:r>
            <a:endParaRPr lang="en-US" altLang="zh-CN" dirty="0" smtClean="0"/>
          </a:p>
          <a:p>
            <a:r>
              <a:rPr lang="zh-CN" altLang="en-US" dirty="0" smtClean="0"/>
              <a:t>选择的聚类中心</a:t>
            </a:r>
            <a:r>
              <a:rPr lang="en-US" altLang="zh-CN" dirty="0" smtClean="0"/>
              <a:t>(</a:t>
            </a:r>
            <a:r>
              <a:rPr lang="zh-CN" altLang="en-US" dirty="0" smtClean="0"/>
              <a:t>这里就是锚</a:t>
            </a:r>
            <a:r>
              <a:rPr lang="en-US" altLang="zh-CN" dirty="0" smtClean="0"/>
              <a:t>)</a:t>
            </a:r>
            <a:r>
              <a:rPr lang="zh-CN" altLang="en-US" dirty="0" smtClean="0"/>
              <a:t>越多，能够匹配的目标框就越多</a:t>
            </a:r>
            <a:r>
              <a:rPr lang="en-US" altLang="zh-CN" dirty="0" smtClean="0"/>
              <a:t>,</a:t>
            </a:r>
            <a:r>
              <a:rPr lang="zh-CN" altLang="en-US" dirty="0" smtClean="0"/>
              <a:t>但计算过程也会越复杂。一般通过统计</a:t>
            </a:r>
            <a:r>
              <a:rPr lang="en-US" altLang="zh-CN" dirty="0" smtClean="0"/>
              <a:t>,</a:t>
            </a:r>
            <a:r>
              <a:rPr lang="zh-CN" altLang="en-US" dirty="0" smtClean="0"/>
              <a:t>会选取一个匹配度和计算复杂度较好的折中。如图所示</a:t>
            </a:r>
            <a:r>
              <a:rPr lang="en-US" altLang="zh-CN" dirty="0" smtClean="0"/>
              <a:t>,</a:t>
            </a:r>
            <a:r>
              <a:rPr lang="zh-CN" altLang="en-US" dirty="0" smtClean="0"/>
              <a:t>通过分析，选择了</a:t>
            </a:r>
            <a:r>
              <a:rPr lang="en-US" altLang="zh-CN" dirty="0" smtClean="0"/>
              <a:t>5</a:t>
            </a:r>
            <a:r>
              <a:rPr lang="zh-CN" altLang="en-US" dirty="0" smtClean="0"/>
              <a:t>个锚。这种情况下，特征图上的每个位置会回归（</a:t>
            </a:r>
            <a:r>
              <a:rPr lang="en-US" altLang="zh-CN" dirty="0" smtClean="0"/>
              <a:t>4+1+20</a:t>
            </a:r>
            <a:r>
              <a:rPr lang="zh-CN" altLang="en-US" dirty="0" smtClean="0"/>
              <a:t>）</a:t>
            </a:r>
            <a:r>
              <a:rPr lang="en-US" altLang="zh-CN" dirty="0" smtClean="0"/>
              <a:t>×5</a:t>
            </a:r>
            <a:r>
              <a:rPr lang="zh-CN" altLang="en-US" dirty="0" smtClean="0"/>
              <a:t>个参数</a:t>
            </a:r>
            <a:r>
              <a:rPr lang="en-US" altLang="zh-CN" dirty="0" smtClean="0"/>
              <a:t>,</a:t>
            </a:r>
            <a:r>
              <a:rPr lang="zh-CN" altLang="en-US" dirty="0" smtClean="0"/>
              <a:t>表示</a:t>
            </a:r>
            <a:r>
              <a:rPr lang="en-US" altLang="zh-CN" dirty="0" smtClean="0"/>
              <a:t>5</a:t>
            </a:r>
            <a:r>
              <a:rPr lang="zh-CN" altLang="en-US" dirty="0" smtClean="0"/>
              <a:t>个锚，每个锚需要回归</a:t>
            </a:r>
            <a:r>
              <a:rPr lang="en-US" altLang="zh-CN" dirty="0" smtClean="0"/>
              <a:t>4</a:t>
            </a:r>
            <a:r>
              <a:rPr lang="zh-CN" altLang="en-US" dirty="0" smtClean="0"/>
              <a:t>个位置坐标、</a:t>
            </a:r>
            <a:r>
              <a:rPr lang="en-US" altLang="zh-CN" dirty="0" smtClean="0"/>
              <a:t>1</a:t>
            </a:r>
            <a:r>
              <a:rPr lang="zh-CN" altLang="en-US" dirty="0" smtClean="0"/>
              <a:t>个框置信度，以及</a:t>
            </a:r>
            <a:r>
              <a:rPr lang="en-US" altLang="zh-CN" dirty="0" smtClean="0"/>
              <a:t>20</a:t>
            </a:r>
            <a:r>
              <a:rPr lang="zh-CN" altLang="en-US" dirty="0" smtClean="0"/>
              <a:t>个分类概率。</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6792063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为了训练过程更加稳定，</a:t>
                </a:r>
                <a:r>
                  <a:rPr lang="en-US" altLang="zh-CN" dirty="0" smtClean="0"/>
                  <a:t>YOLO</a:t>
                </a:r>
                <a:r>
                  <a:rPr lang="zh-CN" altLang="en-US" dirty="0" smtClean="0"/>
                  <a:t>第二版限制了要预测的目标框的位置，如图所示，目标的中心点被限制在当前子块内，通过预测目标框的宽和高与锚的宽和高的比例，获取目标框的位置，计算公式如下。</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整个图像基于子块的宽和高进行了归一化处理，最终子块的宽和高都为</a:t>
                </a:r>
                <a:r>
                  <a:rPr lang="en-US" altLang="zh-CN" dirty="0" smtClean="0"/>
                  <a:t>1</a:t>
                </a:r>
                <a:r>
                  <a:rPr lang="zh-CN" altLang="en-US" dirty="0" smtClean="0"/>
                  <a:t>。</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𝑥</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𝑦</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𝑤</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h</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zh-CN" altLang="en-US" b="0" i="1" smtClean="0">
                            <a:latin typeface="Cambria Math" panose="02040503050406030204" pitchFamily="18" charset="0"/>
                          </a:rPr>
                          <m:t>𝜎</m:t>
                        </m:r>
                      </m:sub>
                    </m:sSub>
                  </m:oMath>
                </a14:m>
                <a:r>
                  <a:rPr lang="zh-CN" altLang="en-US" dirty="0" smtClean="0"/>
                  <a:t>是需要回归的参数，</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𝑥</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𝑦</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𝑤</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h</m:t>
                        </m:r>
                      </m:sub>
                    </m:sSub>
                  </m:oMath>
                </a14:m>
                <a:r>
                  <a:rPr lang="zh-CN" altLang="en-US" dirty="0" smtClean="0"/>
                  <a:t>分别表示整幅图像归一化后目标框的中心点坐标以及宽和高。</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𝑤</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h</m:t>
                        </m:r>
                      </m:sub>
                    </m:sSub>
                  </m:oMath>
                </a14:m>
                <a:r>
                  <a:rPr lang="zh-CN" altLang="en-US" dirty="0" smtClean="0"/>
                  <a:t>分别表示整幅图像归一化后锚的宽和高。其中</a:t>
                </a:r>
                <a14:m>
                  <m:oMath xmlns:m="http://schemas.openxmlformats.org/officeDocument/2006/math">
                    <m:r>
                      <a:rPr lang="zh-CN" altLang="en-US" i="1" smtClean="0">
                        <a:latin typeface="Cambria Math" panose="02040503050406030204" pitchFamily="18" charset="0"/>
                      </a:rPr>
                      <m:t>𝜎</m:t>
                    </m:r>
                    <m:r>
                      <a:rPr lang="zh-CN" altLang="en-US" i="1">
                        <a:latin typeface="Cambria Math" panose="02040503050406030204" pitchFamily="18" charset="0"/>
                      </a:rPr>
                      <m:t>是</m:t>
                    </m:r>
                  </m:oMath>
                </a14:m>
                <a:r>
                  <a:rPr lang="en-US" altLang="zh-CN" dirty="0" smtClean="0"/>
                  <a:t>sigmoid</a:t>
                </a:r>
                <a:r>
                  <a:rPr lang="zh-CN" altLang="en-US" dirty="0" smtClean="0"/>
                  <a:t>函数，将</a:t>
                </a:r>
                <a14:m>
                  <m:oMath xmlns:m="http://schemas.openxmlformats.org/officeDocument/2006/math">
                    <m:r>
                      <a:rPr lang="zh-CN" altLang="en-US" i="1" smtClean="0">
                        <a:latin typeface="Cambria Math" panose="02040503050406030204" pitchFamily="18" charset="0"/>
                      </a:rPr>
                      <m:t>𝜎</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𝑥</m:t>
                            </m:r>
                          </m:sub>
                        </m:sSub>
                      </m:e>
                    </m:d>
                    <m:r>
                      <a:rPr lang="en-US" altLang="zh-CN" i="1">
                        <a:latin typeface="Cambria Math" panose="02040503050406030204" pitchFamily="18" charset="0"/>
                      </a:rPr>
                      <m:t>,</m:t>
                    </m:r>
                    <m:r>
                      <a:rPr lang="zh-CN" altLang="en-US" i="1">
                        <a:latin typeface="Cambria Math" panose="02040503050406030204" pitchFamily="18" charset="0"/>
                      </a:rPr>
                      <m:t>𝜎</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𝑦</m:t>
                            </m:r>
                          </m:sub>
                        </m:sSub>
                      </m:e>
                    </m:d>
                  </m:oMath>
                </a14:m>
                <a:r>
                  <a:rPr lang="zh-CN" altLang="en-US" dirty="0" smtClean="0"/>
                  <a:t>约束在（</a:t>
                </a:r>
                <a:r>
                  <a:rPr lang="en-US" altLang="zh-CN" dirty="0" smtClean="0"/>
                  <a:t>0</a:t>
                </a:r>
                <a:r>
                  <a:rPr lang="zh-CN" altLang="en-US" dirty="0" smtClean="0"/>
                  <a:t>，</a:t>
                </a:r>
                <a:r>
                  <a:rPr lang="en-US" altLang="zh-CN" dirty="0" smtClean="0"/>
                  <a:t>1</a:t>
                </a:r>
                <a:r>
                  <a:rPr lang="zh-CN" altLang="en-US" dirty="0" smtClean="0"/>
                  <a:t>）内。</a:t>
                </a:r>
                <a14:m>
                  <m:oMath xmlns:m="http://schemas.openxmlformats.org/officeDocument/2006/math">
                    <m:r>
                      <a:rPr lang="zh-CN" altLang="en-US" i="1" smtClean="0">
                        <a:latin typeface="Cambria Math" panose="02040503050406030204" pitchFamily="18" charset="0"/>
                      </a:rPr>
                      <m:t>𝜎</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𝑥</m:t>
                            </m:r>
                          </m:sub>
                        </m:sSub>
                      </m:e>
                    </m:d>
                    <m:r>
                      <a:rPr lang="en-US" altLang="zh-CN" i="1">
                        <a:latin typeface="Cambria Math" panose="02040503050406030204" pitchFamily="18" charset="0"/>
                      </a:rPr>
                      <m:t>,</m:t>
                    </m:r>
                    <m:r>
                      <a:rPr lang="zh-CN" altLang="en-US" i="1">
                        <a:latin typeface="Cambria Math" panose="02040503050406030204" pitchFamily="18" charset="0"/>
                      </a:rPr>
                      <m:t>𝜎</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𝑦</m:t>
                            </m:r>
                          </m:sub>
                        </m:sSub>
                      </m:e>
                    </m:d>
                  </m:oMath>
                </a14:m>
                <a:r>
                  <a:rPr lang="zh-CN" altLang="en-US" dirty="0" smtClean="0"/>
                  <a:t>给出了预测框相对于子块左上角原点（</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𝑥</m:t>
                        </m:r>
                      </m:sub>
                    </m:sSub>
                  </m:oMath>
                </a14:m>
                <a:r>
                  <a:rPr lang="zh-CN" altLang="en-US" dirty="0" smtClean="0"/>
                  <a:t>，</a:t>
                </a:r>
                <a14:m>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𝑐</m:t>
                        </m:r>
                      </m:e>
                      <m:sub>
                        <m:r>
                          <a:rPr lang="en-US" altLang="zh-CN" b="0" i="1" smtClean="0">
                            <a:latin typeface="Cambria Math" panose="02040503050406030204" pitchFamily="18" charset="0"/>
                          </a:rPr>
                          <m:t>𝑦</m:t>
                        </m:r>
                      </m:sub>
                    </m:sSub>
                  </m:oMath>
                </a14:m>
                <a:r>
                  <a:rPr lang="zh-CN" altLang="en-US" dirty="0" smtClean="0"/>
                  <a:t>）的归一化偏移量，</a:t>
                </a:r>
                <a14:m>
                  <m:oMath xmlns:m="http://schemas.openxmlformats.org/officeDocument/2006/math">
                    <m:r>
                      <a:rPr lang="zh-CN" altLang="en-US" i="1" smtClean="0">
                        <a:latin typeface="Cambria Math" panose="02040503050406030204" pitchFamily="18" charset="0"/>
                      </a:rPr>
                      <m:t>𝜎</m:t>
                    </m:r>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𝑡</m:t>
                            </m:r>
                          </m:e>
                          <m:sub>
                            <m:r>
                              <a:rPr lang="zh-CN" altLang="en-US" i="1" smtClean="0">
                                <a:latin typeface="Cambria Math" panose="02040503050406030204" pitchFamily="18" charset="0"/>
                              </a:rPr>
                              <m:t>𝜎</m:t>
                            </m:r>
                          </m:sub>
                        </m:sSub>
                      </m:e>
                    </m:d>
                  </m:oMath>
                </a14:m>
                <a:r>
                  <a:rPr lang="zh-CN" altLang="en-US" dirty="0" smtClean="0"/>
                  <a:t>给出预测框的置信度。因为对所预测的目标框中心点位置分为进行了限制，所以模型优化的过程变得更加稳定且更容易学习。</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值得注意的是，</a:t>
                </a:r>
                <a:r>
                  <a:rPr lang="en-US" altLang="zh-CN" dirty="0" smtClean="0"/>
                  <a:t>YOLO</a:t>
                </a:r>
                <a:r>
                  <a:rPr lang="zh-CN" altLang="en-US" dirty="0" smtClean="0"/>
                  <a:t>第二版使用了基于锚的方法，每个锚都分别回归各自框的坐标和分类概率，本质上就去掉了</a:t>
                </a:r>
                <a:r>
                  <a:rPr lang="en-US" altLang="zh-CN" dirty="0" smtClean="0"/>
                  <a:t>YOLO</a:t>
                </a:r>
                <a:r>
                  <a:rPr lang="zh-CN" altLang="en-US" dirty="0" smtClean="0"/>
                  <a:t>第一版中一个子块只包含一个目标的默认假设，从而针对密集小目标场景增加了适应能力。使用锚策略，和</a:t>
                </a:r>
                <a:r>
                  <a:rPr lang="en-US" altLang="zh-CN" dirty="0" smtClean="0"/>
                  <a:t>YOLO</a:t>
                </a:r>
                <a:r>
                  <a:rPr lang="zh-CN" altLang="en-US" dirty="0" smtClean="0"/>
                  <a:t>第一版相比显著增加了预测框的数量。</a:t>
                </a:r>
                <a:r>
                  <a:rPr lang="en-US" altLang="zh-CN" sz="1200" b="0" i="0" kern="1200" dirty="0" smtClean="0">
                    <a:solidFill>
                      <a:schemeClr val="tx1"/>
                    </a:solidFill>
                    <a:effectLst/>
                    <a:latin typeface="+mn-lt"/>
                    <a:ea typeface="+mn-ea"/>
                    <a:cs typeface="+mn-cs"/>
                  </a:rPr>
                  <a:t>YOLOv1</a:t>
                </a:r>
                <a:r>
                  <a:rPr lang="zh-CN" altLang="en-US" sz="1200" b="0" i="0" kern="1200" dirty="0" smtClean="0">
                    <a:solidFill>
                      <a:schemeClr val="tx1"/>
                    </a:solidFill>
                    <a:effectLst/>
                    <a:latin typeface="+mn-lt"/>
                    <a:ea typeface="+mn-ea"/>
                    <a:cs typeface="+mn-cs"/>
                  </a:rPr>
                  <a:t>只能预测</a:t>
                </a:r>
                <a:r>
                  <a:rPr lang="en-US" altLang="zh-CN" sz="1200" b="0" i="0" kern="1200" dirty="0" smtClean="0">
                    <a:solidFill>
                      <a:schemeClr val="tx1"/>
                    </a:solidFill>
                    <a:effectLst/>
                    <a:latin typeface="+mn-lt"/>
                    <a:ea typeface="+mn-ea"/>
                    <a:cs typeface="+mn-cs"/>
                  </a:rPr>
                  <a:t>98</a:t>
                </a:r>
                <a:r>
                  <a:rPr lang="zh-CN" altLang="en-US" sz="1200" b="0" i="0" kern="1200" dirty="0" smtClean="0">
                    <a:solidFill>
                      <a:schemeClr val="tx1"/>
                    </a:solidFill>
                    <a:effectLst/>
                    <a:latin typeface="+mn-lt"/>
                    <a:ea typeface="+mn-ea"/>
                    <a:cs typeface="+mn-cs"/>
                  </a:rPr>
                  <a:t>个边界框（</a:t>
                </a:r>
                <a:r>
                  <a:rPr lang="en-US" altLang="zh-CN" sz="1200" b="0" i="0" kern="1200" dirty="0" smtClean="0">
                    <a:solidFill>
                      <a:schemeClr val="tx1"/>
                    </a:solidFill>
                    <a:effectLst/>
                    <a:latin typeface="+mn-lt"/>
                    <a:ea typeface="+mn-ea"/>
                    <a:cs typeface="+mn-cs"/>
                  </a:rPr>
                  <a:t>7×7×2</a:t>
                </a:r>
                <a:r>
                  <a:rPr lang="zh-CN" altLang="en-US" sz="1200" b="0" i="0" kern="1200" dirty="0" smtClean="0">
                    <a:solidFill>
                      <a:schemeClr val="tx1"/>
                    </a:solidFill>
                    <a:effectLst/>
                    <a:latin typeface="+mn-lt"/>
                    <a:ea typeface="+mn-ea"/>
                    <a:cs typeface="+mn-cs"/>
                  </a:rPr>
                  <a:t>），而</a:t>
                </a:r>
                <a:r>
                  <a:rPr lang="en-US" altLang="zh-CN" sz="1200" b="0" i="0" kern="1200" dirty="0" smtClean="0">
                    <a:solidFill>
                      <a:schemeClr val="tx1"/>
                    </a:solidFill>
                    <a:effectLst/>
                    <a:latin typeface="+mn-lt"/>
                    <a:ea typeface="+mn-ea"/>
                    <a:cs typeface="+mn-cs"/>
                  </a:rPr>
                  <a:t>YOLOv2</a:t>
                </a:r>
                <a:r>
                  <a:rPr lang="zh-CN" altLang="en-US" sz="1200" b="0" i="0" kern="1200" dirty="0" smtClean="0">
                    <a:solidFill>
                      <a:schemeClr val="tx1"/>
                    </a:solidFill>
                    <a:effectLst/>
                    <a:latin typeface="+mn-lt"/>
                    <a:ea typeface="+mn-ea"/>
                    <a:cs typeface="+mn-cs"/>
                  </a:rPr>
                  <a:t>使用锚框之后可以预测上千个边界框（</a:t>
                </a:r>
                <a:r>
                  <a:rPr lang="en-US" altLang="zh-CN" sz="1200" b="0" i="0" kern="1200" dirty="0" smtClean="0">
                    <a:solidFill>
                      <a:schemeClr val="tx1"/>
                    </a:solidFill>
                    <a:effectLst/>
                    <a:latin typeface="+mn-lt"/>
                    <a:ea typeface="+mn-ea"/>
                    <a:cs typeface="+mn-cs"/>
                  </a:rPr>
                  <a:t>13×13×</a:t>
                </a:r>
                <a:r>
                  <a:rPr lang="zh-CN" altLang="en-US" sz="1200" b="0" i="0" kern="1200" dirty="0" smtClean="0">
                    <a:solidFill>
                      <a:schemeClr val="tx1"/>
                    </a:solidFill>
                    <a:effectLst/>
                    <a:latin typeface="+mn-lt"/>
                    <a:ea typeface="+mn-ea"/>
                    <a:cs typeface="+mn-cs"/>
                  </a:rPr>
                  <a:t>锚数量）。所以使用</a:t>
                </a:r>
                <a:r>
                  <a:rPr lang="en-US" altLang="zh-CN" sz="1200" b="0" i="0" kern="1200" dirty="0" smtClean="0">
                    <a:solidFill>
                      <a:schemeClr val="tx1"/>
                    </a:solidFill>
                    <a:effectLst/>
                    <a:latin typeface="+mn-lt"/>
                    <a:ea typeface="+mn-ea"/>
                    <a:cs typeface="+mn-cs"/>
                  </a:rPr>
                  <a:t>anchor boxes</a:t>
                </a:r>
                <a:r>
                  <a:rPr lang="zh-CN" altLang="en-US" sz="1200" b="0" i="0" kern="1200" dirty="0" smtClean="0">
                    <a:solidFill>
                      <a:schemeClr val="tx1"/>
                    </a:solidFill>
                    <a:effectLst/>
                    <a:latin typeface="+mn-lt"/>
                    <a:ea typeface="+mn-ea"/>
                    <a:cs typeface="+mn-cs"/>
                  </a:rPr>
                  <a:t>之后，</a:t>
                </a:r>
                <a:r>
                  <a:rPr lang="en-US" altLang="zh-CN" sz="1200" b="0" i="0" kern="1200" dirty="0" smtClean="0">
                    <a:solidFill>
                      <a:schemeClr val="tx1"/>
                    </a:solidFill>
                    <a:effectLst/>
                    <a:latin typeface="+mn-lt"/>
                    <a:ea typeface="+mn-ea"/>
                    <a:cs typeface="+mn-cs"/>
                  </a:rPr>
                  <a:t>YOLOv2</a:t>
                </a:r>
                <a:r>
                  <a:rPr lang="zh-CN" altLang="en-US" sz="1200" b="0" i="0" kern="1200" dirty="0" smtClean="0">
                    <a:solidFill>
                      <a:schemeClr val="tx1"/>
                    </a:solidFill>
                    <a:effectLst/>
                    <a:latin typeface="+mn-lt"/>
                    <a:ea typeface="+mn-ea"/>
                    <a:cs typeface="+mn-cs"/>
                  </a:rPr>
                  <a:t>的召回率大大提升，由原来的</a:t>
                </a:r>
                <a:r>
                  <a:rPr lang="en-US" altLang="zh-CN" sz="1200" b="0" i="0" kern="1200" dirty="0" smtClean="0">
                    <a:solidFill>
                      <a:schemeClr val="tx1"/>
                    </a:solidFill>
                    <a:effectLst/>
                    <a:latin typeface="+mn-lt"/>
                    <a:ea typeface="+mn-ea"/>
                    <a:cs typeface="+mn-cs"/>
                  </a:rPr>
                  <a:t>81%</a:t>
                </a:r>
                <a:r>
                  <a:rPr lang="zh-CN" altLang="en-US" sz="1200" b="0" i="0" kern="1200" dirty="0" smtClean="0">
                    <a:solidFill>
                      <a:schemeClr val="tx1"/>
                    </a:solidFill>
                    <a:effectLst/>
                    <a:latin typeface="+mn-lt"/>
                    <a:ea typeface="+mn-ea"/>
                    <a:cs typeface="+mn-cs"/>
                  </a:rPr>
                  <a:t>升至</a:t>
                </a:r>
                <a:r>
                  <a:rPr lang="en-US" altLang="zh-CN" sz="1200" b="0" i="0" kern="1200" dirty="0" smtClean="0">
                    <a:solidFill>
                      <a:schemeClr val="tx1"/>
                    </a:solidFill>
                    <a:effectLst/>
                    <a:latin typeface="+mn-lt"/>
                    <a:ea typeface="+mn-ea"/>
                    <a:cs typeface="+mn-cs"/>
                  </a:rPr>
                  <a:t>88%</a:t>
                </a:r>
                <a:r>
                  <a:rPr lang="zh-CN" altLang="en-US" sz="1200" b="0" i="0" kern="1200" dirty="0" smtClean="0">
                    <a:solidFill>
                      <a:schemeClr val="tx1"/>
                    </a:solidFill>
                    <a:effectLst/>
                    <a:latin typeface="+mn-lt"/>
                    <a:ea typeface="+mn-ea"/>
                    <a:cs typeface="+mn-cs"/>
                  </a:rPr>
                  <a:t>。</a:t>
                </a:r>
                <a:endParaRPr lang="zh-CN" altLang="en-US" dirty="0"/>
              </a:p>
            </p:txBody>
          </p:sp>
        </mc:Choice>
        <mc:Fallback xmlns="">
          <p:sp>
            <p:nvSpPr>
              <p:cNvPr id="3" name="备注占位符 2"/>
              <p:cNvSpPr>
                <a:spLocks noGrp="1"/>
              </p:cNvSpPr>
              <p:nvPr>
                <p:ph type="body" idx="1"/>
              </p:nvPr>
            </p:nvSpPr>
            <p:spPr/>
            <p:txBody>
              <a:bodyPr/>
              <a:lstStyle/>
              <a:p>
                <a:r>
                  <a:rPr lang="zh-CN" altLang="en-US" dirty="0" smtClean="0"/>
                  <a:t>为了训练过程更加稳定，</a:t>
                </a:r>
                <a:r>
                  <a:rPr lang="en-US" altLang="zh-CN" dirty="0" smtClean="0"/>
                  <a:t>YOLO</a:t>
                </a:r>
                <a:r>
                  <a:rPr lang="zh-CN" altLang="en-US" dirty="0" smtClean="0"/>
                  <a:t>第二版限制了要预测的目标框的位置，如图所示，目标的中心点被限制在当前子块内，通过预测目标框的宽和高与锚的宽和高的比例，获取目标框的位置，计算公式如下。</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整个图像基于子块的宽和高进行了归一化处理，最终子块的宽和高都为</a:t>
                </a:r>
                <a:r>
                  <a:rPr lang="en-US" altLang="zh-CN" dirty="0" smtClean="0"/>
                  <a:t>1</a:t>
                </a:r>
                <a:r>
                  <a:rPr lang="zh-CN" altLang="en-US" dirty="0" smtClean="0"/>
                  <a:t>。</a:t>
                </a:r>
                <a:r>
                  <a:rPr lang="en-US" altLang="zh-CN" b="0" i="0" smtClean="0">
                    <a:latin typeface="Cambria Math" panose="02040503050406030204" pitchFamily="18" charset="0"/>
                  </a:rPr>
                  <a:t>𝑡_𝑥,𝑡_𝑦,𝑡_𝑤,𝑡_ℎ,𝑡_</a:t>
                </a:r>
                <a:r>
                  <a:rPr lang="zh-CN" altLang="en-US" b="0" i="0" smtClean="0">
                    <a:latin typeface="Cambria Math" panose="02040503050406030204" pitchFamily="18" charset="0"/>
                  </a:rPr>
                  <a:t>𝜎</a:t>
                </a:r>
                <a:r>
                  <a:rPr lang="zh-CN" altLang="en-US" dirty="0" smtClean="0"/>
                  <a:t>是需要回归的参数，</a:t>
                </a:r>
                <a:r>
                  <a:rPr lang="en-US" altLang="zh-CN" b="0" i="0" smtClean="0">
                    <a:latin typeface="Cambria Math" panose="02040503050406030204" pitchFamily="18" charset="0"/>
                  </a:rPr>
                  <a:t>𝑏_𝑥,𝑏_𝑦,𝑏_𝑤,𝑏_ℎ</a:t>
                </a:r>
                <a:r>
                  <a:rPr lang="zh-CN" altLang="en-US" dirty="0" smtClean="0"/>
                  <a:t>分别表示整幅图像归一化后目标框的中心点坐标以及宽和高。</a:t>
                </a:r>
                <a:r>
                  <a:rPr lang="en-US" altLang="zh-CN" b="0" i="0" smtClean="0">
                    <a:latin typeface="Cambria Math" panose="02040503050406030204" pitchFamily="18" charset="0"/>
                  </a:rPr>
                  <a:t>𝑝_𝑤,𝑝_ℎ</a:t>
                </a:r>
                <a:r>
                  <a:rPr lang="zh-CN" altLang="en-US" dirty="0" smtClean="0"/>
                  <a:t>分别表示整幅图像归一化后锚的宽和高。其中</a:t>
                </a:r>
                <a:r>
                  <a:rPr lang="zh-CN" altLang="en-US" i="0" smtClean="0">
                    <a:latin typeface="Cambria Math" panose="02040503050406030204" pitchFamily="18" charset="0"/>
                  </a:rPr>
                  <a:t>𝜎</a:t>
                </a:r>
                <a:r>
                  <a:rPr lang="zh-CN" altLang="en-US" i="0">
                    <a:latin typeface="Cambria Math" panose="02040503050406030204" pitchFamily="18" charset="0"/>
                  </a:rPr>
                  <a:t>是</a:t>
                </a:r>
                <a:r>
                  <a:rPr lang="en-US" altLang="zh-CN" dirty="0" smtClean="0"/>
                  <a:t>sigmoid</a:t>
                </a:r>
                <a:r>
                  <a:rPr lang="zh-CN" altLang="en-US" dirty="0" smtClean="0"/>
                  <a:t>函数，将</a:t>
                </a:r>
                <a:r>
                  <a:rPr lang="zh-CN" altLang="en-US" i="0" smtClean="0">
                    <a:latin typeface="Cambria Math" panose="02040503050406030204" pitchFamily="18" charset="0"/>
                  </a:rPr>
                  <a:t>𝜎</a:t>
                </a:r>
                <a:r>
                  <a:rPr lang="en-US" altLang="zh-CN" i="0">
                    <a:latin typeface="Cambria Math" panose="02040503050406030204" pitchFamily="18" charset="0"/>
                  </a:rPr>
                  <a:t>(𝑡_𝑥 ),</a:t>
                </a:r>
                <a:r>
                  <a:rPr lang="zh-CN" altLang="en-US" i="0">
                    <a:latin typeface="Cambria Math" panose="02040503050406030204" pitchFamily="18" charset="0"/>
                  </a:rPr>
                  <a:t>𝜎</a:t>
                </a:r>
                <a:r>
                  <a:rPr lang="en-US" altLang="zh-CN" i="0">
                    <a:latin typeface="Cambria Math" panose="02040503050406030204" pitchFamily="18" charset="0"/>
                  </a:rPr>
                  <a:t>(𝑡_𝑦 )</a:t>
                </a:r>
                <a:r>
                  <a:rPr lang="zh-CN" altLang="en-US" dirty="0" smtClean="0"/>
                  <a:t>约束在（</a:t>
                </a:r>
                <a:r>
                  <a:rPr lang="en-US" altLang="zh-CN" dirty="0" smtClean="0"/>
                  <a:t>0</a:t>
                </a:r>
                <a:r>
                  <a:rPr lang="zh-CN" altLang="en-US" dirty="0" smtClean="0"/>
                  <a:t>，</a:t>
                </a:r>
                <a:r>
                  <a:rPr lang="en-US" altLang="zh-CN" dirty="0" smtClean="0"/>
                  <a:t>1</a:t>
                </a:r>
                <a:r>
                  <a:rPr lang="zh-CN" altLang="en-US" dirty="0" smtClean="0"/>
                  <a:t>）内。</a:t>
                </a:r>
                <a:r>
                  <a:rPr lang="zh-CN" altLang="en-US" i="0" smtClean="0">
                    <a:latin typeface="Cambria Math" panose="02040503050406030204" pitchFamily="18" charset="0"/>
                  </a:rPr>
                  <a:t>𝜎</a:t>
                </a:r>
                <a:r>
                  <a:rPr lang="en-US" altLang="zh-CN" i="0">
                    <a:latin typeface="Cambria Math" panose="02040503050406030204" pitchFamily="18" charset="0"/>
                  </a:rPr>
                  <a:t>(𝑡_𝑥 ),</a:t>
                </a:r>
                <a:r>
                  <a:rPr lang="zh-CN" altLang="en-US" i="0">
                    <a:latin typeface="Cambria Math" panose="02040503050406030204" pitchFamily="18" charset="0"/>
                  </a:rPr>
                  <a:t>𝜎</a:t>
                </a:r>
                <a:r>
                  <a:rPr lang="en-US" altLang="zh-CN" i="0">
                    <a:latin typeface="Cambria Math" panose="02040503050406030204" pitchFamily="18" charset="0"/>
                  </a:rPr>
                  <a:t>(𝑡_𝑦 )</a:t>
                </a:r>
                <a:r>
                  <a:rPr lang="zh-CN" altLang="en-US" dirty="0" smtClean="0"/>
                  <a:t>给出了预测框相对于子块左上角原点（</a:t>
                </a:r>
                <a:r>
                  <a:rPr lang="en-US" altLang="zh-CN" b="0" i="0" smtClean="0">
                    <a:latin typeface="Cambria Math" panose="02040503050406030204" pitchFamily="18" charset="0"/>
                  </a:rPr>
                  <a:t>𝑐_𝑥</a:t>
                </a:r>
                <a:r>
                  <a:rPr lang="zh-CN" altLang="en-US" dirty="0" smtClean="0"/>
                  <a:t>，</a:t>
                </a:r>
                <a:r>
                  <a:rPr lang="en-US" altLang="zh-CN" i="0">
                    <a:latin typeface="Cambria Math" panose="02040503050406030204" pitchFamily="18" charset="0"/>
                  </a:rPr>
                  <a:t>𝑐</a:t>
                </a:r>
                <a:r>
                  <a:rPr lang="en-US" altLang="zh-CN" i="0" smtClean="0">
                    <a:latin typeface="Cambria Math" panose="02040503050406030204" pitchFamily="18" charset="0"/>
                  </a:rPr>
                  <a:t>_</a:t>
                </a:r>
                <a:r>
                  <a:rPr lang="en-US" altLang="zh-CN" b="0" i="0" smtClean="0">
                    <a:latin typeface="Cambria Math" panose="02040503050406030204" pitchFamily="18" charset="0"/>
                  </a:rPr>
                  <a:t>𝑦</a:t>
                </a:r>
                <a:r>
                  <a:rPr lang="zh-CN" altLang="en-US" dirty="0" smtClean="0"/>
                  <a:t>）的归一化偏移量，</a:t>
                </a:r>
                <a:r>
                  <a:rPr lang="zh-CN" altLang="en-US" i="0" smtClean="0">
                    <a:latin typeface="Cambria Math" panose="02040503050406030204" pitchFamily="18" charset="0"/>
                  </a:rPr>
                  <a:t>𝜎</a:t>
                </a:r>
                <a:r>
                  <a:rPr lang="en-US" altLang="zh-CN" i="0" smtClean="0">
                    <a:latin typeface="Cambria Math" panose="02040503050406030204" pitchFamily="18" charset="0"/>
                  </a:rPr>
                  <a:t>(</a:t>
                </a:r>
                <a:r>
                  <a:rPr lang="en-US" altLang="zh-CN" b="0" i="0" smtClean="0">
                    <a:latin typeface="Cambria Math" panose="02040503050406030204" pitchFamily="18" charset="0"/>
                  </a:rPr>
                  <a:t>𝑡_</a:t>
                </a:r>
                <a:r>
                  <a:rPr lang="zh-CN" altLang="en-US" i="0" smtClean="0">
                    <a:latin typeface="Cambria Math" panose="02040503050406030204" pitchFamily="18" charset="0"/>
                  </a:rPr>
                  <a:t>𝜎 )</a:t>
                </a:r>
                <a:r>
                  <a:rPr lang="zh-CN" altLang="en-US" dirty="0" smtClean="0"/>
                  <a:t>给出预测框的置信度。因为对所预测的目标框中心点位置分为进行了限制，所以模型优化的过程变得更加稳定且更容易学习。</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值得注意的是，</a:t>
                </a:r>
                <a:r>
                  <a:rPr lang="en-US" altLang="zh-CN" dirty="0" smtClean="0"/>
                  <a:t>YOLO</a:t>
                </a:r>
                <a:r>
                  <a:rPr lang="zh-CN" altLang="en-US" dirty="0" smtClean="0"/>
                  <a:t>第二版使用了基于锚的方法，每个锚都分别回归各自框的坐标和分类概率，本质上就去掉了</a:t>
                </a:r>
                <a:r>
                  <a:rPr lang="en-US" altLang="zh-CN" dirty="0" smtClean="0"/>
                  <a:t>YOLO</a:t>
                </a:r>
                <a:r>
                  <a:rPr lang="zh-CN" altLang="en-US" dirty="0" smtClean="0"/>
                  <a:t>第一版中一个子块只包含一个目标的默认假设，从而针对密集小目标场景增加了适应能力。使用锚策略，和</a:t>
                </a:r>
                <a:r>
                  <a:rPr lang="en-US" altLang="zh-CN" dirty="0" smtClean="0"/>
                  <a:t>YOLO</a:t>
                </a:r>
                <a:r>
                  <a:rPr lang="zh-CN" altLang="en-US" dirty="0" smtClean="0"/>
                  <a:t>第一版相比显著增加了预测框的数量。</a:t>
                </a:r>
                <a:r>
                  <a:rPr lang="en-US" altLang="zh-CN" sz="1200" b="0" i="0" kern="1200" dirty="0" smtClean="0">
                    <a:solidFill>
                      <a:schemeClr val="tx1"/>
                    </a:solidFill>
                    <a:effectLst/>
                    <a:latin typeface="+mn-lt"/>
                    <a:ea typeface="+mn-ea"/>
                    <a:cs typeface="+mn-cs"/>
                  </a:rPr>
                  <a:t>YOLOv1</a:t>
                </a:r>
                <a:r>
                  <a:rPr lang="zh-CN" altLang="en-US" sz="1200" b="0" i="0" kern="1200" dirty="0" smtClean="0">
                    <a:solidFill>
                      <a:schemeClr val="tx1"/>
                    </a:solidFill>
                    <a:effectLst/>
                    <a:latin typeface="+mn-lt"/>
                    <a:ea typeface="+mn-ea"/>
                    <a:cs typeface="+mn-cs"/>
                  </a:rPr>
                  <a:t>只能预测</a:t>
                </a:r>
                <a:r>
                  <a:rPr lang="en-US" altLang="zh-CN" sz="1200" b="0" i="0" kern="1200" dirty="0" smtClean="0">
                    <a:solidFill>
                      <a:schemeClr val="tx1"/>
                    </a:solidFill>
                    <a:effectLst/>
                    <a:latin typeface="+mn-lt"/>
                    <a:ea typeface="+mn-ea"/>
                    <a:cs typeface="+mn-cs"/>
                  </a:rPr>
                  <a:t>98</a:t>
                </a:r>
                <a:r>
                  <a:rPr lang="zh-CN" altLang="en-US" sz="1200" b="0" i="0" kern="1200" dirty="0" smtClean="0">
                    <a:solidFill>
                      <a:schemeClr val="tx1"/>
                    </a:solidFill>
                    <a:effectLst/>
                    <a:latin typeface="+mn-lt"/>
                    <a:ea typeface="+mn-ea"/>
                    <a:cs typeface="+mn-cs"/>
                  </a:rPr>
                  <a:t>个边界框（</a:t>
                </a:r>
                <a:r>
                  <a:rPr lang="en-US" altLang="zh-CN" sz="1200" b="0" i="0" kern="1200" dirty="0" smtClean="0">
                    <a:solidFill>
                      <a:schemeClr val="tx1"/>
                    </a:solidFill>
                    <a:effectLst/>
                    <a:latin typeface="+mn-lt"/>
                    <a:ea typeface="+mn-ea"/>
                    <a:cs typeface="+mn-cs"/>
                  </a:rPr>
                  <a:t>7×7×2</a:t>
                </a:r>
                <a:r>
                  <a:rPr lang="zh-CN" altLang="en-US" sz="1200" b="0" i="0" kern="1200" dirty="0" smtClean="0">
                    <a:solidFill>
                      <a:schemeClr val="tx1"/>
                    </a:solidFill>
                    <a:effectLst/>
                    <a:latin typeface="+mn-lt"/>
                    <a:ea typeface="+mn-ea"/>
                    <a:cs typeface="+mn-cs"/>
                  </a:rPr>
                  <a:t>），而</a:t>
                </a:r>
                <a:r>
                  <a:rPr lang="en-US" altLang="zh-CN" sz="1200" b="0" i="0" kern="1200" dirty="0" smtClean="0">
                    <a:solidFill>
                      <a:schemeClr val="tx1"/>
                    </a:solidFill>
                    <a:effectLst/>
                    <a:latin typeface="+mn-lt"/>
                    <a:ea typeface="+mn-ea"/>
                    <a:cs typeface="+mn-cs"/>
                  </a:rPr>
                  <a:t>YOLOv2</a:t>
                </a:r>
                <a:r>
                  <a:rPr lang="zh-CN" altLang="en-US" sz="1200" b="0" i="0" kern="1200" dirty="0" smtClean="0">
                    <a:solidFill>
                      <a:schemeClr val="tx1"/>
                    </a:solidFill>
                    <a:effectLst/>
                    <a:latin typeface="+mn-lt"/>
                    <a:ea typeface="+mn-ea"/>
                    <a:cs typeface="+mn-cs"/>
                  </a:rPr>
                  <a:t>使用锚框之后可以预测上千个边界框（</a:t>
                </a:r>
                <a:r>
                  <a:rPr lang="en-US" altLang="zh-CN" sz="1200" b="0" i="0" kern="1200" dirty="0" smtClean="0">
                    <a:solidFill>
                      <a:schemeClr val="tx1"/>
                    </a:solidFill>
                    <a:effectLst/>
                    <a:latin typeface="+mn-lt"/>
                    <a:ea typeface="+mn-ea"/>
                    <a:cs typeface="+mn-cs"/>
                  </a:rPr>
                  <a:t>13×13×</a:t>
                </a:r>
                <a:r>
                  <a:rPr lang="zh-CN" altLang="en-US" sz="1200" b="0" i="0" kern="1200" dirty="0" smtClean="0">
                    <a:solidFill>
                      <a:schemeClr val="tx1"/>
                    </a:solidFill>
                    <a:effectLst/>
                    <a:latin typeface="+mn-lt"/>
                    <a:ea typeface="+mn-ea"/>
                    <a:cs typeface="+mn-cs"/>
                  </a:rPr>
                  <a:t>锚数量）。所以使用</a:t>
                </a:r>
                <a:r>
                  <a:rPr lang="en-US" altLang="zh-CN" sz="1200" b="0" i="0" kern="1200" dirty="0" smtClean="0">
                    <a:solidFill>
                      <a:schemeClr val="tx1"/>
                    </a:solidFill>
                    <a:effectLst/>
                    <a:latin typeface="+mn-lt"/>
                    <a:ea typeface="+mn-ea"/>
                    <a:cs typeface="+mn-cs"/>
                  </a:rPr>
                  <a:t>anchor boxes</a:t>
                </a:r>
                <a:r>
                  <a:rPr lang="zh-CN" altLang="en-US" sz="1200" b="0" i="0" kern="1200" dirty="0" smtClean="0">
                    <a:solidFill>
                      <a:schemeClr val="tx1"/>
                    </a:solidFill>
                    <a:effectLst/>
                    <a:latin typeface="+mn-lt"/>
                    <a:ea typeface="+mn-ea"/>
                    <a:cs typeface="+mn-cs"/>
                  </a:rPr>
                  <a:t>之后，</a:t>
                </a:r>
                <a:r>
                  <a:rPr lang="en-US" altLang="zh-CN" sz="1200" b="0" i="0" kern="1200" dirty="0" smtClean="0">
                    <a:solidFill>
                      <a:schemeClr val="tx1"/>
                    </a:solidFill>
                    <a:effectLst/>
                    <a:latin typeface="+mn-lt"/>
                    <a:ea typeface="+mn-ea"/>
                    <a:cs typeface="+mn-cs"/>
                  </a:rPr>
                  <a:t>YOLOv2</a:t>
                </a:r>
                <a:r>
                  <a:rPr lang="zh-CN" altLang="en-US" sz="1200" b="0" i="0" kern="1200" dirty="0" smtClean="0">
                    <a:solidFill>
                      <a:schemeClr val="tx1"/>
                    </a:solidFill>
                    <a:effectLst/>
                    <a:latin typeface="+mn-lt"/>
                    <a:ea typeface="+mn-ea"/>
                    <a:cs typeface="+mn-cs"/>
                  </a:rPr>
                  <a:t>的召回率大大提升，由原来的</a:t>
                </a:r>
                <a:r>
                  <a:rPr lang="en-US" altLang="zh-CN" sz="1200" b="0" i="0" kern="1200" dirty="0" smtClean="0">
                    <a:solidFill>
                      <a:schemeClr val="tx1"/>
                    </a:solidFill>
                    <a:effectLst/>
                    <a:latin typeface="+mn-lt"/>
                    <a:ea typeface="+mn-ea"/>
                    <a:cs typeface="+mn-cs"/>
                  </a:rPr>
                  <a:t>81%</a:t>
                </a:r>
                <a:r>
                  <a:rPr lang="zh-CN" altLang="en-US" sz="1200" b="0" i="0" kern="1200" dirty="0" smtClean="0">
                    <a:solidFill>
                      <a:schemeClr val="tx1"/>
                    </a:solidFill>
                    <a:effectLst/>
                    <a:latin typeface="+mn-lt"/>
                    <a:ea typeface="+mn-ea"/>
                    <a:cs typeface="+mn-cs"/>
                  </a:rPr>
                  <a:t>升至</a:t>
                </a:r>
                <a:r>
                  <a:rPr lang="en-US" altLang="zh-CN" sz="1200" b="0" i="0" kern="1200" dirty="0" smtClean="0">
                    <a:solidFill>
                      <a:schemeClr val="tx1"/>
                    </a:solidFill>
                    <a:effectLst/>
                    <a:latin typeface="+mn-lt"/>
                    <a:ea typeface="+mn-ea"/>
                    <a:cs typeface="+mn-cs"/>
                  </a:rPr>
                  <a:t>88%</a:t>
                </a:r>
                <a:r>
                  <a:rPr lang="zh-CN" altLang="en-US" sz="1200" b="0" i="0" kern="1200" dirty="0" smtClean="0">
                    <a:solidFill>
                      <a:schemeClr val="tx1"/>
                    </a:solidFill>
                    <a:effectLst/>
                    <a:latin typeface="+mn-lt"/>
                    <a:ea typeface="+mn-ea"/>
                    <a:cs typeface="+mn-cs"/>
                  </a:rPr>
                  <a:t>。</a:t>
                </a:r>
                <a:endParaRPr lang="zh-CN" altLang="en-US" dirty="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18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7792177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YOLO</a:t>
            </a:r>
            <a:r>
              <a:rPr lang="zh-CN" altLang="en-US" dirty="0" smtClean="0"/>
              <a:t>伸用最上层</a:t>
            </a:r>
            <a:r>
              <a:rPr lang="en-US" altLang="zh-CN" dirty="0" smtClean="0"/>
              <a:t>13×13</a:t>
            </a:r>
            <a:r>
              <a:rPr lang="zh-CN" altLang="en-US" dirty="0" smtClean="0"/>
              <a:t>的特征图进行目标预测</a:t>
            </a:r>
            <a:r>
              <a:rPr lang="en-US" altLang="zh-CN" dirty="0" smtClean="0"/>
              <a:t>,</a:t>
            </a:r>
            <a:r>
              <a:rPr lang="zh-CN" altLang="en-US" dirty="0" smtClean="0"/>
              <a:t>因为顶层的特征图具有较大的感受野，所以有利于对大目标进行预测</a:t>
            </a:r>
            <a:r>
              <a:rPr lang="en-US" altLang="zh-CN" dirty="0" smtClean="0"/>
              <a:t>,</a:t>
            </a:r>
            <a:r>
              <a:rPr lang="zh-CN" altLang="en-US" dirty="0" smtClean="0"/>
              <a:t>但同时</a:t>
            </a:r>
            <a:r>
              <a:rPr lang="en-US" altLang="zh-CN" dirty="0" smtClean="0"/>
              <a:t>,</a:t>
            </a:r>
            <a:r>
              <a:rPr lang="zh-CN" altLang="en-US" dirty="0" smtClean="0"/>
              <a:t>也会因为使用的都是整体特征</a:t>
            </a:r>
            <a:r>
              <a:rPr lang="en-US" altLang="zh-CN" dirty="0" smtClean="0"/>
              <a:t>,</a:t>
            </a:r>
            <a:r>
              <a:rPr lang="zh-CN" altLang="en-US" dirty="0" smtClean="0"/>
              <a:t>所以对细节和小目标的预测性造成影响。为了提升多尺度目标的检测能力</a:t>
            </a:r>
            <a:r>
              <a:rPr lang="en-US" altLang="zh-CN" dirty="0" smtClean="0"/>
              <a:t>,Faster R-CNN </a:t>
            </a:r>
            <a:r>
              <a:rPr lang="zh-CN" altLang="en-US" dirty="0" smtClean="0"/>
              <a:t>采取的策略是在不同尺度的特征图上设计锚， </a:t>
            </a:r>
            <a:r>
              <a:rPr lang="en-US" altLang="zh-CN" dirty="0" smtClean="0"/>
              <a:t>YOLO</a:t>
            </a:r>
            <a:r>
              <a:rPr lang="zh-CN" altLang="en-US" dirty="0" smtClean="0"/>
              <a:t>则另辟蹊径，把深层特征和浅层特征进行级联，使得新的特征图同时具有深层特征和浅层特征的表达能力</a:t>
            </a:r>
            <a:r>
              <a:rPr lang="en-US" altLang="zh-CN" dirty="0" smtClean="0"/>
              <a:t>,</a:t>
            </a:r>
            <a:r>
              <a:rPr lang="zh-CN" altLang="en-US" dirty="0" smtClean="0"/>
              <a:t>并将其命名为</a:t>
            </a:r>
            <a:r>
              <a:rPr lang="en-US" altLang="zh-CN" dirty="0" err="1" smtClean="0"/>
              <a:t>passthrough</a:t>
            </a:r>
            <a:r>
              <a:rPr lang="zh-CN" altLang="en-US" dirty="0" smtClean="0"/>
              <a:t>层。</a:t>
            </a:r>
            <a:endParaRPr lang="en-US" altLang="zh-CN" dirty="0" smtClean="0"/>
          </a:p>
          <a:p>
            <a:r>
              <a:rPr lang="en-US" altLang="zh-CN" sz="1200" b="0" i="0" kern="1200" dirty="0" err="1" smtClean="0">
                <a:solidFill>
                  <a:schemeClr val="tx1"/>
                </a:solidFill>
                <a:effectLst/>
                <a:latin typeface="+mn-lt"/>
                <a:ea typeface="+mn-ea"/>
                <a:cs typeface="+mn-cs"/>
              </a:rPr>
              <a:t>passthrough</a:t>
            </a:r>
            <a:r>
              <a:rPr lang="zh-CN" altLang="en-US" sz="1200" b="0" i="0" kern="1200" dirty="0" smtClean="0">
                <a:solidFill>
                  <a:schemeClr val="tx1"/>
                </a:solidFill>
                <a:effectLst/>
                <a:latin typeface="+mn-lt"/>
                <a:ea typeface="+mn-ea"/>
                <a:cs typeface="+mn-cs"/>
              </a:rPr>
              <a:t>层与</a:t>
            </a:r>
            <a:r>
              <a:rPr lang="en-US" altLang="zh-CN" sz="1200" b="0" i="0" kern="1200" dirty="0" err="1" smtClean="0">
                <a:solidFill>
                  <a:schemeClr val="tx1"/>
                </a:solidFill>
                <a:effectLst/>
                <a:latin typeface="+mn-lt"/>
                <a:ea typeface="+mn-ea"/>
                <a:cs typeface="+mn-cs"/>
              </a:rPr>
              <a:t>ResNet</a:t>
            </a:r>
            <a:r>
              <a:rPr lang="zh-CN" altLang="en-US" sz="1200" b="0" i="0" kern="1200" dirty="0" smtClean="0">
                <a:solidFill>
                  <a:schemeClr val="tx1"/>
                </a:solidFill>
                <a:effectLst/>
                <a:latin typeface="+mn-lt"/>
                <a:ea typeface="+mn-ea"/>
                <a:cs typeface="+mn-cs"/>
              </a:rPr>
              <a:t>网络的</a:t>
            </a:r>
            <a:r>
              <a:rPr lang="en-US" altLang="zh-CN" sz="1200" b="0" i="0" kern="1200" dirty="0" smtClean="0">
                <a:solidFill>
                  <a:schemeClr val="tx1"/>
                </a:solidFill>
                <a:effectLst/>
                <a:latin typeface="+mn-lt"/>
                <a:ea typeface="+mn-ea"/>
                <a:cs typeface="+mn-cs"/>
              </a:rPr>
              <a:t>shortcut</a:t>
            </a:r>
            <a:r>
              <a:rPr lang="zh-CN" altLang="en-US" sz="1200" b="0" i="0" kern="1200" dirty="0" smtClean="0">
                <a:solidFill>
                  <a:schemeClr val="tx1"/>
                </a:solidFill>
                <a:effectLst/>
                <a:latin typeface="+mn-lt"/>
                <a:ea typeface="+mn-ea"/>
                <a:cs typeface="+mn-cs"/>
              </a:rPr>
              <a:t>类似，以前面更高分辨率的特征图为输入，然后将其连接到后面的低分辨率特征图上。</a:t>
            </a:r>
            <a:r>
              <a:rPr lang="zh-CN" altLang="en-US" dirty="0" smtClean="0"/>
              <a:t>下图为</a:t>
            </a:r>
            <a:r>
              <a:rPr lang="en-US" altLang="zh-CN" dirty="0" err="1" smtClean="0"/>
              <a:t>passthrough</a:t>
            </a:r>
            <a:r>
              <a:rPr lang="zh-CN" altLang="en-US" dirty="0" smtClean="0"/>
              <a:t>的简单演示。</a:t>
            </a:r>
            <a:endParaRPr lang="en-US" altLang="zh-CN" dirty="0" smtClean="0"/>
          </a:p>
          <a:p>
            <a:r>
              <a:rPr lang="zh-CN" altLang="en-US" dirty="0" smtClean="0"/>
              <a:t>例如，顶层特征图的尺寸为</a:t>
            </a:r>
            <a:r>
              <a:rPr lang="en-US" altLang="zh-CN" dirty="0" smtClean="0"/>
              <a:t>13×13</a:t>
            </a:r>
            <a:r>
              <a:rPr lang="zh-CN" altLang="en-US" dirty="0" smtClean="0"/>
              <a:t>，其前面一层特征图的尺寸为</a:t>
            </a:r>
            <a:r>
              <a:rPr lang="en-US" altLang="zh-CN" dirty="0" smtClean="0"/>
              <a:t>26×26,</a:t>
            </a:r>
            <a:r>
              <a:rPr lang="zh-CN" altLang="en-US" dirty="0" smtClean="0"/>
              <a:t>将</a:t>
            </a:r>
            <a:r>
              <a:rPr lang="en-US" altLang="zh-CN" dirty="0" smtClean="0"/>
              <a:t>26×26</a:t>
            </a:r>
            <a:r>
              <a:rPr lang="zh-CN" altLang="en-US" dirty="0" smtClean="0"/>
              <a:t>的特征图按照奇数行列和偶数行列进行拆分，变成</a:t>
            </a:r>
            <a:r>
              <a:rPr lang="en-US" altLang="zh-CN" dirty="0" smtClean="0"/>
              <a:t>4</a:t>
            </a:r>
            <a:r>
              <a:rPr lang="zh-CN" altLang="en-US" dirty="0" smtClean="0"/>
              <a:t>个</a:t>
            </a:r>
            <a:r>
              <a:rPr lang="en-US" altLang="zh-CN" dirty="0" smtClean="0"/>
              <a:t>13×13</a:t>
            </a:r>
            <a:r>
              <a:rPr lang="zh-CN" altLang="en-US" dirty="0" smtClean="0"/>
              <a:t>的特征图并依次摞在原始的顶层</a:t>
            </a:r>
            <a:r>
              <a:rPr lang="en-US" altLang="zh-CN" dirty="0" smtClean="0"/>
              <a:t>13×13</a:t>
            </a:r>
            <a:r>
              <a:rPr lang="zh-CN" altLang="en-US" dirty="0" smtClean="0"/>
              <a:t>的特征图上</a:t>
            </a:r>
            <a:r>
              <a:rPr lang="en-US" altLang="zh-CN" dirty="0" smtClean="0"/>
              <a:t>,</a:t>
            </a:r>
            <a:r>
              <a:rPr lang="zh-CN" altLang="en-US" dirty="0" smtClean="0"/>
              <a:t>则新的特征图尺寸仍然保持</a:t>
            </a:r>
            <a:r>
              <a:rPr lang="en-US" altLang="zh-CN" dirty="0" smtClean="0"/>
              <a:t>13×13</a:t>
            </a:r>
            <a:r>
              <a:rPr lang="zh-CN" altLang="en-US" dirty="0" smtClean="0"/>
              <a:t>，通道数为原顶层</a:t>
            </a:r>
            <a:r>
              <a:rPr lang="en-US" altLang="zh-CN" dirty="0" smtClean="0"/>
              <a:t>13×13</a:t>
            </a:r>
            <a:r>
              <a:rPr lang="zh-CN" altLang="en-US" dirty="0" smtClean="0"/>
              <a:t>特征图通道数</a:t>
            </a:r>
            <a:r>
              <a:rPr lang="en-US" altLang="zh-CN" dirty="0" smtClean="0"/>
              <a:t>+4×</a:t>
            </a:r>
            <a:r>
              <a:rPr lang="zh-CN" altLang="en-US" dirty="0" smtClean="0"/>
              <a:t>原</a:t>
            </a:r>
            <a:r>
              <a:rPr lang="en-US" altLang="zh-CN" dirty="0" smtClean="0"/>
              <a:t>26×26</a:t>
            </a:r>
            <a:r>
              <a:rPr lang="zh-CN" altLang="en-US" dirty="0" smtClean="0"/>
              <a:t>特征图的通道数。对于</a:t>
            </a:r>
            <a:r>
              <a:rPr lang="en-US" altLang="zh-CN" dirty="0" smtClean="0"/>
              <a:t>Darknet-19</a:t>
            </a:r>
            <a:r>
              <a:rPr lang="zh-CN" altLang="en-US" dirty="0" smtClean="0"/>
              <a:t>模型，大小为</a:t>
            </a:r>
            <a:r>
              <a:rPr lang="en-US" altLang="zh-CN" dirty="0" smtClean="0"/>
              <a:t>26×26×512</a:t>
            </a:r>
            <a:r>
              <a:rPr lang="zh-CN" altLang="en-US" dirty="0" smtClean="0"/>
              <a:t>的特征图，</a:t>
            </a:r>
            <a:r>
              <a:rPr lang="en-US" altLang="zh-CN" dirty="0" err="1" smtClean="0"/>
              <a:t>passthrough</a:t>
            </a:r>
            <a:r>
              <a:rPr lang="zh-CN" altLang="en-US" dirty="0" smtClean="0"/>
              <a:t>层处理后变为</a:t>
            </a:r>
            <a:r>
              <a:rPr lang="en-US" altLang="zh-CN" dirty="0" smtClean="0"/>
              <a:t>13×13×2048</a:t>
            </a:r>
            <a:r>
              <a:rPr lang="zh-CN" altLang="en-US" dirty="0" smtClean="0"/>
              <a:t>，这样就可以和后面</a:t>
            </a:r>
            <a:r>
              <a:rPr lang="en-US" altLang="zh-CN" dirty="0" smtClean="0"/>
              <a:t>13×13×1024</a:t>
            </a:r>
            <a:r>
              <a:rPr lang="zh-CN" altLang="en-US" dirty="0" smtClean="0"/>
              <a:t>特征图连接，形成新的</a:t>
            </a:r>
            <a:r>
              <a:rPr lang="en-US" altLang="zh-CN" dirty="0" smtClean="0"/>
              <a:t>13×13×3072</a:t>
            </a:r>
            <a:r>
              <a:rPr lang="zh-CN" altLang="en-US" dirty="0" smtClean="0"/>
              <a:t>特征图进行卷积做预测。</a:t>
            </a:r>
          </a:p>
          <a:p>
            <a:r>
              <a:rPr lang="zh-CN" altLang="en-US" dirty="0" smtClean="0"/>
              <a:t>基于新的特征图进行预测</a:t>
            </a:r>
            <a:r>
              <a:rPr lang="en-US" altLang="zh-CN" dirty="0" smtClean="0"/>
              <a:t>,</a:t>
            </a:r>
            <a:r>
              <a:rPr lang="en-US" altLang="zh-CN" dirty="0" err="1" smtClean="0"/>
              <a:t>mAP</a:t>
            </a:r>
            <a:r>
              <a:rPr lang="zh-CN" altLang="en-US" dirty="0" smtClean="0"/>
              <a:t>有了</a:t>
            </a:r>
            <a:r>
              <a:rPr lang="en-US" altLang="zh-CN" dirty="0" smtClean="0"/>
              <a:t>1%</a:t>
            </a:r>
            <a:r>
              <a:rPr lang="zh-CN" altLang="en-US" dirty="0" smtClean="0"/>
              <a:t>的提升。</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19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0936547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因为</a:t>
            </a:r>
            <a:r>
              <a:rPr lang="en-US" altLang="zh-CN" dirty="0" smtClean="0"/>
              <a:t>YOLO</a:t>
            </a:r>
            <a:r>
              <a:rPr lang="zh-CN" altLang="en-US" dirty="0" smtClean="0"/>
              <a:t>第二版使用的是全卷积网络，只包含卷积层和池化层</a:t>
            </a:r>
            <a:r>
              <a:rPr lang="en-US" altLang="zh-CN" dirty="0" smtClean="0"/>
              <a:t>,</a:t>
            </a:r>
            <a:r>
              <a:rPr lang="zh-CN" altLang="en-US" dirty="0" smtClean="0"/>
              <a:t>所以对输入图像的尺寸没有限制。</a:t>
            </a:r>
            <a:r>
              <a:rPr lang="zh-CN" altLang="en-US" sz="1200" b="0" i="0" kern="1200" dirty="0" smtClean="0">
                <a:solidFill>
                  <a:schemeClr val="tx1"/>
                </a:solidFill>
                <a:effectLst/>
                <a:latin typeface="+mn-lt"/>
                <a:ea typeface="+mn-ea"/>
                <a:cs typeface="+mn-cs"/>
              </a:rPr>
              <a:t>为了增强模型的鲁棒性，</a:t>
            </a:r>
            <a:r>
              <a:rPr lang="en-US" altLang="zh-CN" sz="1200" b="0" i="0" kern="1200" dirty="0" smtClean="0">
                <a:solidFill>
                  <a:schemeClr val="tx1"/>
                </a:solidFill>
                <a:effectLst/>
                <a:latin typeface="+mn-lt"/>
                <a:ea typeface="+mn-ea"/>
                <a:cs typeface="+mn-cs"/>
              </a:rPr>
              <a:t>YOLOv2</a:t>
            </a:r>
            <a:r>
              <a:rPr lang="zh-CN" altLang="en-US" sz="1200" b="0" i="0" kern="1200" dirty="0" smtClean="0">
                <a:solidFill>
                  <a:schemeClr val="tx1"/>
                </a:solidFill>
                <a:effectLst/>
                <a:latin typeface="+mn-lt"/>
                <a:ea typeface="+mn-ea"/>
                <a:cs typeface="+mn-cs"/>
              </a:rPr>
              <a:t>借鉴了</a:t>
            </a:r>
            <a:r>
              <a:rPr lang="en-US" altLang="zh-CN" sz="1200" b="0" i="0" kern="1200" dirty="0" smtClean="0">
                <a:solidFill>
                  <a:schemeClr val="tx1"/>
                </a:solidFill>
                <a:effectLst/>
                <a:latin typeface="+mn-lt"/>
                <a:ea typeface="+mn-ea"/>
                <a:cs typeface="+mn-cs"/>
              </a:rPr>
              <a:t>FPN</a:t>
            </a:r>
            <a:r>
              <a:rPr lang="zh-CN" altLang="en-US" sz="1200" b="0" i="0" kern="1200" dirty="0" smtClean="0">
                <a:solidFill>
                  <a:schemeClr val="tx1"/>
                </a:solidFill>
                <a:effectLst/>
                <a:latin typeface="+mn-lt"/>
                <a:ea typeface="+mn-ea"/>
                <a:cs typeface="+mn-cs"/>
              </a:rPr>
              <a:t>的思想，采用了多尺度输入训练策略，具体来说就是在训练过程中每间隔一定的迭代次数之后改变模型的输入图片大小。由于</a:t>
            </a:r>
            <a:r>
              <a:rPr lang="en-US" altLang="zh-CN" sz="1200" b="0" i="0" kern="1200" dirty="0" smtClean="0">
                <a:solidFill>
                  <a:schemeClr val="tx1"/>
                </a:solidFill>
                <a:effectLst/>
                <a:latin typeface="+mn-lt"/>
                <a:ea typeface="+mn-ea"/>
                <a:cs typeface="+mn-cs"/>
              </a:rPr>
              <a:t>YOLOv2</a:t>
            </a:r>
            <a:r>
              <a:rPr lang="zh-CN" altLang="en-US" sz="1200" b="0" i="0" kern="1200" dirty="0" smtClean="0">
                <a:solidFill>
                  <a:schemeClr val="tx1"/>
                </a:solidFill>
                <a:effectLst/>
                <a:latin typeface="+mn-lt"/>
                <a:ea typeface="+mn-ea"/>
                <a:cs typeface="+mn-cs"/>
              </a:rPr>
              <a:t>的下采样总步长为</a:t>
            </a:r>
            <a:r>
              <a:rPr lang="en-US" altLang="zh-CN" sz="1200" b="0" i="0" kern="1200" dirty="0" smtClean="0">
                <a:solidFill>
                  <a:schemeClr val="tx1"/>
                </a:solidFill>
                <a:effectLst/>
                <a:latin typeface="+mn-lt"/>
                <a:ea typeface="+mn-ea"/>
                <a:cs typeface="+mn-cs"/>
              </a:rPr>
              <a:t>32</a:t>
            </a:r>
            <a:r>
              <a:rPr lang="zh-CN" altLang="en-US" sz="1200" b="0" i="0" kern="1200" dirty="0" smtClean="0">
                <a:solidFill>
                  <a:schemeClr val="tx1"/>
                </a:solidFill>
                <a:effectLst/>
                <a:latin typeface="+mn-lt"/>
                <a:ea typeface="+mn-ea"/>
                <a:cs typeface="+mn-cs"/>
              </a:rPr>
              <a:t>，输入图片大小选择一系列为</a:t>
            </a:r>
            <a:r>
              <a:rPr lang="en-US" altLang="zh-CN" sz="1200" b="0" i="0" kern="1200" dirty="0" smtClean="0">
                <a:solidFill>
                  <a:schemeClr val="tx1"/>
                </a:solidFill>
                <a:effectLst/>
                <a:latin typeface="+mn-lt"/>
                <a:ea typeface="+mn-ea"/>
                <a:cs typeface="+mn-cs"/>
              </a:rPr>
              <a:t>32</a:t>
            </a:r>
            <a:r>
              <a:rPr lang="zh-CN" altLang="en-US" sz="1200" b="0" i="0" kern="1200" dirty="0" smtClean="0">
                <a:solidFill>
                  <a:schemeClr val="tx1"/>
                </a:solidFill>
                <a:effectLst/>
                <a:latin typeface="+mn-lt"/>
                <a:ea typeface="+mn-ea"/>
                <a:cs typeface="+mn-cs"/>
              </a:rPr>
              <a:t>倍数的值：</a:t>
            </a:r>
            <a:r>
              <a:rPr lang="en-US" altLang="zh-CN" sz="1200" b="0" i="0" kern="1200" dirty="0" smtClean="0">
                <a:solidFill>
                  <a:schemeClr val="tx1"/>
                </a:solidFill>
                <a:effectLst/>
                <a:latin typeface="+mn-lt"/>
                <a:ea typeface="+mn-ea"/>
                <a:cs typeface="+mn-cs"/>
              </a:rPr>
              <a:t>320</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352</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608</a:t>
            </a:r>
            <a:r>
              <a:rPr lang="zh-CN" altLang="en-US" sz="1200" b="0" i="0" kern="1200" dirty="0" smtClean="0">
                <a:solidFill>
                  <a:schemeClr val="tx1"/>
                </a:solidFill>
                <a:effectLst/>
                <a:latin typeface="+mn-lt"/>
                <a:ea typeface="+mn-ea"/>
                <a:cs typeface="+mn-cs"/>
              </a:rPr>
              <a:t>，输入图片最小为</a:t>
            </a:r>
            <a:r>
              <a:rPr lang="en-US" altLang="zh-CN" sz="1200" b="0" i="0" kern="1200" dirty="0" smtClean="0">
                <a:solidFill>
                  <a:schemeClr val="tx1"/>
                </a:solidFill>
                <a:effectLst/>
                <a:latin typeface="+mn-lt"/>
                <a:ea typeface="+mn-ea"/>
                <a:cs typeface="+mn-cs"/>
              </a:rPr>
              <a:t>320×320</a:t>
            </a:r>
            <a:r>
              <a:rPr lang="zh-CN" altLang="en-US" sz="1200" b="0" i="0" kern="1200" dirty="0" smtClean="0">
                <a:solidFill>
                  <a:schemeClr val="tx1"/>
                </a:solidFill>
                <a:effectLst/>
                <a:latin typeface="+mn-lt"/>
                <a:ea typeface="+mn-ea"/>
                <a:cs typeface="+mn-cs"/>
              </a:rPr>
              <a:t>，此时对应的特征图大小为</a:t>
            </a:r>
            <a:r>
              <a:rPr lang="en-US" altLang="zh-CN" sz="1200" b="0" i="0" kern="1200" dirty="0" smtClean="0">
                <a:solidFill>
                  <a:schemeClr val="tx1"/>
                </a:solidFill>
                <a:effectLst/>
                <a:latin typeface="+mn-lt"/>
                <a:ea typeface="+mn-ea"/>
                <a:cs typeface="+mn-cs"/>
              </a:rPr>
              <a:t>10×10</a:t>
            </a:r>
            <a:r>
              <a:rPr lang="zh-CN" altLang="en-US" sz="1200" b="0" i="0" kern="1200" dirty="0" smtClean="0">
                <a:solidFill>
                  <a:schemeClr val="tx1"/>
                </a:solidFill>
                <a:effectLst/>
                <a:latin typeface="+mn-lt"/>
                <a:ea typeface="+mn-ea"/>
                <a:cs typeface="+mn-cs"/>
              </a:rPr>
              <a:t>（为什么不是奇数尚不清楚），输入图片最大为</a:t>
            </a:r>
            <a:r>
              <a:rPr lang="en-US" altLang="zh-CN" sz="1200" b="0" i="0" kern="1200" dirty="0" smtClean="0">
                <a:solidFill>
                  <a:schemeClr val="tx1"/>
                </a:solidFill>
                <a:effectLst/>
                <a:latin typeface="+mn-lt"/>
                <a:ea typeface="+mn-ea"/>
                <a:cs typeface="+mn-cs"/>
              </a:rPr>
              <a:t>608×608</a:t>
            </a:r>
            <a:r>
              <a:rPr lang="zh-CN" altLang="en-US" sz="1200" b="0" i="0" kern="1200" dirty="0" smtClean="0">
                <a:solidFill>
                  <a:schemeClr val="tx1"/>
                </a:solidFill>
                <a:effectLst/>
                <a:latin typeface="+mn-lt"/>
                <a:ea typeface="+mn-ea"/>
                <a:cs typeface="+mn-cs"/>
              </a:rPr>
              <a:t>，此时对应的特征图大小为</a:t>
            </a:r>
            <a:r>
              <a:rPr lang="en-US" altLang="zh-CN" sz="1200" b="0" i="0" kern="1200" dirty="0" smtClean="0">
                <a:solidFill>
                  <a:schemeClr val="tx1"/>
                </a:solidFill>
                <a:effectLst/>
                <a:latin typeface="+mn-lt"/>
                <a:ea typeface="+mn-ea"/>
                <a:cs typeface="+mn-cs"/>
              </a:rPr>
              <a:t>19×19</a:t>
            </a:r>
            <a:r>
              <a:rPr lang="zh-CN" altLang="en-US" sz="1200" b="0" i="0" kern="1200" dirty="0" smtClean="0">
                <a:solidFill>
                  <a:schemeClr val="tx1"/>
                </a:solidFill>
                <a:effectLst/>
                <a:latin typeface="+mn-lt"/>
                <a:ea typeface="+mn-ea"/>
                <a:cs typeface="+mn-cs"/>
              </a:rPr>
              <a:t>。在训练过程中，每隔</a:t>
            </a:r>
            <a:r>
              <a:rPr lang="en-US" altLang="zh-CN" sz="1200" b="0" i="0" kern="1200" dirty="0" smtClean="0">
                <a:solidFill>
                  <a:schemeClr val="tx1"/>
                </a:solidFill>
                <a:effectLst/>
                <a:latin typeface="+mn-lt"/>
                <a:ea typeface="+mn-ea"/>
                <a:cs typeface="+mn-cs"/>
              </a:rPr>
              <a:t>10</a:t>
            </a:r>
            <a:r>
              <a:rPr lang="zh-CN" altLang="en-US" sz="1200" b="0" i="0" kern="1200" dirty="0" smtClean="0">
                <a:solidFill>
                  <a:schemeClr val="tx1"/>
                </a:solidFill>
                <a:effectLst/>
                <a:latin typeface="+mn-lt"/>
                <a:ea typeface="+mn-ea"/>
                <a:cs typeface="+mn-cs"/>
              </a:rPr>
              <a:t>次迭代随机选择一种输入图片大小，只需要修改对最后检验层的处理就可以重新训练。</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采用这种策略，</a:t>
            </a:r>
            <a:r>
              <a:rPr lang="en-US" altLang="zh-CN" sz="1200" b="0" i="0" kern="1200" dirty="0" smtClean="0">
                <a:solidFill>
                  <a:schemeClr val="tx1"/>
                </a:solidFill>
                <a:effectLst/>
                <a:latin typeface="+mn-lt"/>
                <a:ea typeface="+mn-ea"/>
                <a:cs typeface="+mn-cs"/>
              </a:rPr>
              <a:t>YOLOv2</a:t>
            </a:r>
            <a:r>
              <a:rPr lang="zh-CN" altLang="en-US" sz="1200" b="0" i="0" kern="1200" dirty="0" smtClean="0">
                <a:solidFill>
                  <a:schemeClr val="tx1"/>
                </a:solidFill>
                <a:effectLst/>
                <a:latin typeface="+mn-lt"/>
                <a:ea typeface="+mn-ea"/>
                <a:cs typeface="+mn-cs"/>
              </a:rPr>
              <a:t>可以适应不同大小的图片，并且预测出很好的结果。在测试时，</a:t>
            </a:r>
            <a:r>
              <a:rPr lang="en-US" altLang="zh-CN" sz="1200" b="0" i="0" kern="1200" dirty="0" smtClean="0">
                <a:solidFill>
                  <a:schemeClr val="tx1"/>
                </a:solidFill>
                <a:effectLst/>
                <a:latin typeface="+mn-lt"/>
                <a:ea typeface="+mn-ea"/>
                <a:cs typeface="+mn-cs"/>
              </a:rPr>
              <a:t>YOLOv2</a:t>
            </a:r>
            <a:r>
              <a:rPr lang="zh-CN" altLang="en-US" sz="1200" b="0" i="0" kern="1200" dirty="0" smtClean="0">
                <a:solidFill>
                  <a:schemeClr val="tx1"/>
                </a:solidFill>
                <a:effectLst/>
                <a:latin typeface="+mn-lt"/>
                <a:ea typeface="+mn-ea"/>
                <a:cs typeface="+mn-cs"/>
              </a:rPr>
              <a:t>可以采用不同大小的图片作为输入，在</a:t>
            </a:r>
            <a:r>
              <a:rPr lang="en-US" altLang="zh-CN" sz="1200" b="0" i="0" kern="1200" dirty="0" smtClean="0">
                <a:solidFill>
                  <a:schemeClr val="tx1"/>
                </a:solidFill>
                <a:effectLst/>
                <a:latin typeface="+mn-lt"/>
                <a:ea typeface="+mn-ea"/>
                <a:cs typeface="+mn-cs"/>
              </a:rPr>
              <a:t>VOC 2007</a:t>
            </a:r>
            <a:r>
              <a:rPr lang="zh-CN" altLang="en-US" sz="1200" b="0" i="0" kern="1200" dirty="0" smtClean="0">
                <a:solidFill>
                  <a:schemeClr val="tx1"/>
                </a:solidFill>
                <a:effectLst/>
                <a:latin typeface="+mn-lt"/>
                <a:ea typeface="+mn-ea"/>
                <a:cs typeface="+mn-cs"/>
              </a:rPr>
              <a:t>数据集上的效果如下图所示。可以看到采用较小分辨率时，</a:t>
            </a:r>
            <a:r>
              <a:rPr lang="en-US" altLang="zh-CN" sz="1200" b="0" i="0" kern="1200" dirty="0" smtClean="0">
                <a:solidFill>
                  <a:schemeClr val="tx1"/>
                </a:solidFill>
                <a:effectLst/>
                <a:latin typeface="+mn-lt"/>
                <a:ea typeface="+mn-ea"/>
                <a:cs typeface="+mn-cs"/>
              </a:rPr>
              <a:t>YOLOv2</a:t>
            </a:r>
            <a:r>
              <a:rPr lang="zh-CN" altLang="en-US" sz="1200" b="0" i="0" kern="1200" dirty="0" smtClean="0">
                <a:solidFill>
                  <a:schemeClr val="tx1"/>
                </a:solidFill>
                <a:effectLst/>
                <a:latin typeface="+mn-lt"/>
                <a:ea typeface="+mn-ea"/>
                <a:cs typeface="+mn-cs"/>
              </a:rPr>
              <a:t>的</a:t>
            </a:r>
            <a:r>
              <a:rPr lang="en-US" altLang="zh-CN" sz="1200" b="0" i="0" kern="1200" dirty="0" err="1" smtClean="0">
                <a:solidFill>
                  <a:schemeClr val="tx1"/>
                </a:solidFill>
                <a:effectLst/>
                <a:latin typeface="+mn-lt"/>
                <a:ea typeface="+mn-ea"/>
                <a:cs typeface="+mn-cs"/>
              </a:rPr>
              <a:t>mAP</a:t>
            </a:r>
            <a:r>
              <a:rPr lang="zh-CN" altLang="en-US" sz="1200" b="0" i="0" kern="1200" dirty="0" smtClean="0">
                <a:solidFill>
                  <a:schemeClr val="tx1"/>
                </a:solidFill>
                <a:effectLst/>
                <a:latin typeface="+mn-lt"/>
                <a:ea typeface="+mn-ea"/>
                <a:cs typeface="+mn-cs"/>
              </a:rPr>
              <a:t>值略低，但是速度更快，而采用高分辨输入时，</a:t>
            </a:r>
            <a:r>
              <a:rPr lang="en-US" altLang="zh-CN" sz="1200" b="0" i="0" kern="1200" dirty="0" err="1" smtClean="0">
                <a:solidFill>
                  <a:schemeClr val="tx1"/>
                </a:solidFill>
                <a:effectLst/>
                <a:latin typeface="+mn-lt"/>
                <a:ea typeface="+mn-ea"/>
                <a:cs typeface="+mn-cs"/>
              </a:rPr>
              <a:t>mAP</a:t>
            </a:r>
            <a:r>
              <a:rPr lang="zh-CN" altLang="en-US" sz="1200" b="0" i="0" kern="1200" dirty="0" smtClean="0">
                <a:solidFill>
                  <a:schemeClr val="tx1"/>
                </a:solidFill>
                <a:effectLst/>
                <a:latin typeface="+mn-lt"/>
                <a:ea typeface="+mn-ea"/>
                <a:cs typeface="+mn-cs"/>
              </a:rPr>
              <a:t>值更高，但是速度略有下降，对于</a:t>
            </a:r>
            <a:r>
              <a:rPr lang="en-US" altLang="zh-CN" sz="1200" b="0" i="0" kern="1200" dirty="0" smtClean="0">
                <a:solidFill>
                  <a:schemeClr val="tx1"/>
                </a:solidFill>
                <a:effectLst/>
                <a:latin typeface="+mn-lt"/>
                <a:ea typeface="+mn-ea"/>
                <a:cs typeface="+mn-cs"/>
              </a:rPr>
              <a:t>544×544</a:t>
            </a:r>
            <a:r>
              <a:rPr lang="zh-CN" altLang="en-US"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mAP</a:t>
            </a:r>
            <a:r>
              <a:rPr lang="zh-CN" altLang="en-US" sz="1200" b="0" i="0" kern="1200" dirty="0" smtClean="0">
                <a:solidFill>
                  <a:schemeClr val="tx1"/>
                </a:solidFill>
                <a:effectLst/>
                <a:latin typeface="+mn-lt"/>
                <a:ea typeface="+mn-ea"/>
                <a:cs typeface="+mn-cs"/>
              </a:rPr>
              <a:t>高达</a:t>
            </a:r>
            <a:r>
              <a:rPr lang="en-US" altLang="zh-CN" sz="1200" b="0" i="0" kern="1200" dirty="0" smtClean="0">
                <a:solidFill>
                  <a:schemeClr val="tx1"/>
                </a:solidFill>
                <a:effectLst/>
                <a:latin typeface="+mn-lt"/>
                <a:ea typeface="+mn-ea"/>
                <a:cs typeface="+mn-cs"/>
              </a:rPr>
              <a:t>78.6%</a:t>
            </a:r>
            <a:r>
              <a:rPr lang="zh-CN" altLang="en-US" sz="1200" b="0" i="0" kern="1200" dirty="0" smtClean="0">
                <a:solidFill>
                  <a:schemeClr val="tx1"/>
                </a:solidFill>
                <a:effectLst/>
                <a:latin typeface="+mn-lt"/>
                <a:ea typeface="+mn-ea"/>
                <a:cs typeface="+mn-cs"/>
              </a:rPr>
              <a:t>。注意，这只是测试时输入图片大小不同，而实际上用的是同一个模型（使用多尺度图像进行训练）</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9322026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YOLO</a:t>
            </a:r>
            <a:r>
              <a:rPr lang="zh-CN" altLang="en-US" dirty="0" smtClean="0"/>
              <a:t>第三版并没有特别突出的创新之处，主要是基于</a:t>
            </a:r>
            <a:r>
              <a:rPr lang="en-US" altLang="zh-CN" dirty="0" smtClean="0"/>
              <a:t>YOLO</a:t>
            </a:r>
            <a:r>
              <a:rPr lang="zh-CN" altLang="en-US" dirty="0" smtClean="0"/>
              <a:t>第二版进行了以下一些改进。</a:t>
            </a:r>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8063642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1.</a:t>
            </a:r>
            <a:r>
              <a:rPr lang="zh-CN" altLang="en-US" dirty="0" smtClean="0"/>
              <a:t>类别预测</a:t>
            </a:r>
            <a:endParaRPr lang="en-US" altLang="zh-CN" dirty="0" smtClean="0"/>
          </a:p>
          <a:p>
            <a:r>
              <a:rPr lang="zh-CN" altLang="en-US" dirty="0" smtClean="0"/>
              <a:t>一个目标可能具有多个类别标签，各个类别之间不一定是互斥的。比如，橘子是一种水果，同时还是一种食物，对于这样的目标来说，几个类别标签都是正确的。</a:t>
            </a:r>
            <a:r>
              <a:rPr lang="en-US" altLang="zh-CN" dirty="0" smtClean="0"/>
              <a:t>YOLO</a:t>
            </a:r>
            <a:r>
              <a:rPr lang="zh-CN" altLang="en-US" dirty="0" smtClean="0"/>
              <a:t>第三版采用逻辑回归分类器代替了</a:t>
            </a:r>
            <a:r>
              <a:rPr lang="en-US" altLang="zh-CN" dirty="0" err="1" smtClean="0"/>
              <a:t>softmax</a:t>
            </a:r>
            <a:r>
              <a:rPr lang="zh-CN" altLang="en-US" dirty="0" smtClean="0"/>
              <a:t>分类器</a:t>
            </a:r>
            <a:r>
              <a:rPr lang="zh-CN" altLang="en-US" sz="1200" b="0" i="0" kern="1200" dirty="0" smtClean="0">
                <a:solidFill>
                  <a:schemeClr val="tx1"/>
                </a:solidFill>
                <a:effectLst/>
                <a:latin typeface="+mn-lt"/>
                <a:ea typeface="+mn-ea"/>
                <a:cs typeface="+mn-cs"/>
              </a:rPr>
              <a:t>（全部分类的概率之和为</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a:t>
            </a:r>
            <a:r>
              <a:rPr lang="zh-CN" altLang="en-US" dirty="0" smtClean="0"/>
              <a:t>，在训练过程中，使用了二分交叉熵损失，而非均方误差。</a:t>
            </a:r>
            <a:endParaRPr lang="en-US" altLang="zh-CN" dirty="0" smtClean="0"/>
          </a:p>
          <a:p>
            <a:r>
              <a:rPr lang="zh-CN" altLang="en-US" dirty="0" smtClean="0"/>
              <a:t>本质上，</a:t>
            </a:r>
            <a:r>
              <a:rPr lang="en-US" altLang="zh-CN" dirty="0" smtClean="0"/>
              <a:t>YOLO</a:t>
            </a:r>
            <a:r>
              <a:rPr lang="zh-CN" altLang="en-US" dirty="0" smtClean="0"/>
              <a:t>第三版采用多个二分类器代替一对多分类器，实现了对一个目标多个类别标签的判定。下面两张图仅为示例，左图是</a:t>
            </a:r>
            <a:r>
              <a:rPr lang="en-US" altLang="zh-CN" dirty="0" err="1" smtClean="0"/>
              <a:t>softmax</a:t>
            </a:r>
            <a:r>
              <a:rPr lang="zh-CN" altLang="en-US" dirty="0" smtClean="0"/>
              <a:t>分类器，右图是</a:t>
            </a:r>
            <a:r>
              <a:rPr lang="en-US" altLang="zh-CN" dirty="0" smtClean="0"/>
              <a:t>logistic</a:t>
            </a:r>
            <a:r>
              <a:rPr lang="zh-CN" altLang="en-US" dirty="0" smtClean="0"/>
              <a:t>分类器。</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9928859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YOLO</a:t>
            </a:r>
            <a:r>
              <a:rPr lang="zh-CN" altLang="en-US" dirty="0" smtClean="0"/>
              <a:t>第三版借鉴了</a:t>
            </a:r>
            <a:r>
              <a:rPr lang="en-US" altLang="zh-CN" dirty="0" err="1" smtClean="0"/>
              <a:t>ResNet</a:t>
            </a:r>
            <a:r>
              <a:rPr lang="zh-CN" altLang="en-US" dirty="0" smtClean="0"/>
              <a:t>结构，也设计了一个残差网络</a:t>
            </a:r>
            <a:r>
              <a:rPr lang="en-US" altLang="zh-CN" dirty="0" smtClean="0"/>
              <a:t>Darknet-53</a:t>
            </a:r>
            <a:r>
              <a:rPr lang="zh-CN" altLang="en-US" dirty="0" smtClean="0"/>
              <a:t>，使得整个网络更容易训练。</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41591954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YOLO</a:t>
            </a:r>
            <a:r>
              <a:rPr lang="zh-CN" altLang="en-US" dirty="0" smtClean="0"/>
              <a:t>第三版在特征图上的每个位置使用</a:t>
            </a:r>
            <a:r>
              <a:rPr lang="en-US" altLang="zh-CN" dirty="0" smtClean="0"/>
              <a:t>3</a:t>
            </a:r>
            <a:r>
              <a:rPr lang="zh-CN" altLang="en-US" dirty="0" smtClean="0"/>
              <a:t>个锚，在一个</a:t>
            </a:r>
            <a:r>
              <a:rPr lang="en-US" altLang="zh-CN" dirty="0" err="1" smtClean="0"/>
              <a:t>NxN</a:t>
            </a:r>
            <a:r>
              <a:rPr lang="zh-CN" altLang="en-US" dirty="0" smtClean="0"/>
              <a:t>大小的特征图上</a:t>
            </a:r>
            <a:r>
              <a:rPr lang="en-US" altLang="zh-CN" dirty="0" smtClean="0"/>
              <a:t>,</a:t>
            </a:r>
            <a:r>
              <a:rPr lang="zh-CN" altLang="en-US" dirty="0" smtClean="0"/>
              <a:t>需要预测的参数数量为</a:t>
            </a:r>
            <a:r>
              <a:rPr lang="en-US" altLang="zh-CN" dirty="0" smtClean="0"/>
              <a:t>NxN×3×(4+1+n</a:t>
            </a:r>
            <a:r>
              <a:rPr lang="en-US" altLang="zh-CN" baseline="0" dirty="0" smtClean="0"/>
              <a:t>_</a:t>
            </a:r>
            <a:r>
              <a:rPr lang="en-US" altLang="zh-CN" dirty="0" smtClean="0"/>
              <a:t>class)</a:t>
            </a:r>
            <a:r>
              <a:rPr lang="zh-CN" altLang="en-US" dirty="0" smtClean="0"/>
              <a:t>，其中</a:t>
            </a:r>
            <a:r>
              <a:rPr lang="en-US" altLang="zh-CN" dirty="0" smtClean="0"/>
              <a:t>3</a:t>
            </a:r>
            <a:r>
              <a:rPr lang="zh-CN" altLang="en-US" dirty="0" smtClean="0"/>
              <a:t>表示</a:t>
            </a:r>
            <a:r>
              <a:rPr lang="en-US" altLang="zh-CN" dirty="0" smtClean="0"/>
              <a:t>3</a:t>
            </a:r>
            <a:r>
              <a:rPr lang="zh-CN" altLang="en-US" dirty="0" smtClean="0"/>
              <a:t>个锚</a:t>
            </a:r>
            <a:r>
              <a:rPr lang="en-US" altLang="zh-CN" dirty="0" smtClean="0"/>
              <a:t>,4</a:t>
            </a:r>
            <a:r>
              <a:rPr lang="zh-CN" altLang="en-US" dirty="0" smtClean="0"/>
              <a:t>表示</a:t>
            </a:r>
            <a:r>
              <a:rPr lang="en-US" altLang="zh-CN" dirty="0" smtClean="0"/>
              <a:t>4</a:t>
            </a:r>
            <a:r>
              <a:rPr lang="zh-CN" altLang="en-US" dirty="0" smtClean="0"/>
              <a:t>个坐标</a:t>
            </a:r>
            <a:r>
              <a:rPr lang="en-US" altLang="zh-CN" dirty="0" smtClean="0"/>
              <a:t>,1</a:t>
            </a:r>
            <a:r>
              <a:rPr lang="zh-CN" altLang="en-US" dirty="0" smtClean="0"/>
              <a:t>表示是否框中目标的置信度，</a:t>
            </a:r>
            <a:r>
              <a:rPr lang="en-US" altLang="zh-CN" dirty="0" err="1" smtClean="0"/>
              <a:t>n_class</a:t>
            </a:r>
            <a:r>
              <a:rPr lang="zh-CN" altLang="en-US" dirty="0" smtClean="0"/>
              <a:t>表示需要回归的类别概率。</a:t>
            </a:r>
            <a:r>
              <a:rPr lang="en-US" altLang="zh-CN" dirty="0" smtClean="0"/>
              <a:t>YOLO</a:t>
            </a:r>
            <a:r>
              <a:rPr lang="zh-CN" altLang="en-US" dirty="0" smtClean="0"/>
              <a:t>第三版开始在</a:t>
            </a:r>
            <a:r>
              <a:rPr lang="en-US" altLang="zh-CN" dirty="0" smtClean="0"/>
              <a:t>COCO</a:t>
            </a:r>
            <a:r>
              <a:rPr lang="zh-CN" altLang="en-US" dirty="0" smtClean="0"/>
              <a:t>数据集上测试，</a:t>
            </a:r>
            <a:r>
              <a:rPr lang="en-US" altLang="zh-CN" dirty="0" smtClean="0"/>
              <a:t>COCO</a:t>
            </a:r>
            <a:r>
              <a:rPr lang="zh-CN" altLang="en-US" dirty="0" smtClean="0"/>
              <a:t>数据集的检测类别为</a:t>
            </a:r>
            <a:r>
              <a:rPr lang="en-US" altLang="zh-CN" dirty="0" smtClean="0"/>
              <a:t>80</a:t>
            </a:r>
            <a:r>
              <a:rPr lang="zh-CN" altLang="en-US" dirty="0" smtClean="0"/>
              <a:t>。</a:t>
            </a:r>
            <a:endParaRPr lang="en-US" altLang="zh-CN" dirty="0" smtClean="0"/>
          </a:p>
          <a:p>
            <a:r>
              <a:rPr lang="en-US" altLang="zh-CN" sz="1200" b="0" i="0" kern="1200" dirty="0" smtClean="0">
                <a:solidFill>
                  <a:schemeClr val="tx1"/>
                </a:solidFill>
                <a:effectLst/>
                <a:latin typeface="+mn-lt"/>
                <a:ea typeface="+mn-ea"/>
                <a:cs typeface="+mn-cs"/>
              </a:rPr>
              <a:t>YOLO2</a:t>
            </a:r>
            <a:r>
              <a:rPr lang="zh-CN" altLang="en-US" sz="1200" b="0" i="0" kern="1200" dirty="0" smtClean="0">
                <a:solidFill>
                  <a:schemeClr val="tx1"/>
                </a:solidFill>
                <a:effectLst/>
                <a:latin typeface="+mn-lt"/>
                <a:ea typeface="+mn-ea"/>
                <a:cs typeface="+mn-cs"/>
              </a:rPr>
              <a:t>曾采用</a:t>
            </a:r>
            <a:r>
              <a:rPr lang="en-US" altLang="zh-CN" sz="1200" b="0" i="0" kern="1200" dirty="0" err="1" smtClean="0">
                <a:solidFill>
                  <a:schemeClr val="tx1"/>
                </a:solidFill>
                <a:effectLst/>
                <a:latin typeface="+mn-lt"/>
                <a:ea typeface="+mn-ea"/>
                <a:cs typeface="+mn-cs"/>
              </a:rPr>
              <a:t>passthrough</a:t>
            </a:r>
            <a:r>
              <a:rPr lang="zh-CN" altLang="en-US" sz="1200" b="0" i="0" kern="1200" dirty="0" smtClean="0">
                <a:solidFill>
                  <a:schemeClr val="tx1"/>
                </a:solidFill>
                <a:effectLst/>
                <a:latin typeface="+mn-lt"/>
                <a:ea typeface="+mn-ea"/>
                <a:cs typeface="+mn-cs"/>
              </a:rPr>
              <a:t>结构来检测细粒度特征，在</a:t>
            </a:r>
            <a:r>
              <a:rPr lang="en-US" altLang="zh-CN" sz="1200" b="0" i="0" kern="1200" dirty="0" smtClean="0">
                <a:solidFill>
                  <a:schemeClr val="tx1"/>
                </a:solidFill>
                <a:effectLst/>
                <a:latin typeface="+mn-lt"/>
                <a:ea typeface="+mn-ea"/>
                <a:cs typeface="+mn-cs"/>
              </a:rPr>
              <a:t>YOLO3</a:t>
            </a:r>
            <a:r>
              <a:rPr lang="zh-CN" altLang="en-US" sz="1200" b="0" i="0" kern="1200" dirty="0" smtClean="0">
                <a:solidFill>
                  <a:schemeClr val="tx1"/>
                </a:solidFill>
                <a:effectLst/>
                <a:latin typeface="+mn-lt"/>
                <a:ea typeface="+mn-ea"/>
                <a:cs typeface="+mn-cs"/>
              </a:rPr>
              <a:t>更进一步采用了</a:t>
            </a:r>
            <a:r>
              <a:rPr lang="en-US" altLang="zh-CN" sz="1200" b="0" i="0" kern="1200" dirty="0" smtClean="0">
                <a:solidFill>
                  <a:schemeClr val="tx1"/>
                </a:solidFill>
                <a:effectLst/>
                <a:latin typeface="+mn-lt"/>
                <a:ea typeface="+mn-ea"/>
                <a:cs typeface="+mn-cs"/>
              </a:rPr>
              <a:t>3</a:t>
            </a:r>
            <a:r>
              <a:rPr lang="zh-CN" altLang="en-US" sz="1200" b="0" i="0" kern="1200" dirty="0" smtClean="0">
                <a:solidFill>
                  <a:schemeClr val="tx1"/>
                </a:solidFill>
                <a:effectLst/>
                <a:latin typeface="+mn-lt"/>
                <a:ea typeface="+mn-ea"/>
                <a:cs typeface="+mn-cs"/>
              </a:rPr>
              <a:t>个不同尺度的特征图来进行目标</a:t>
            </a:r>
            <a:r>
              <a:rPr lang="zh-CN" altLang="en-US" sz="1200" b="0" i="0" kern="1200" smtClean="0">
                <a:solidFill>
                  <a:schemeClr val="tx1"/>
                </a:solidFill>
                <a:effectLst/>
                <a:latin typeface="+mn-lt"/>
                <a:ea typeface="+mn-ea"/>
                <a:cs typeface="+mn-cs"/>
              </a:rPr>
              <a:t>检测。</a:t>
            </a:r>
            <a:r>
              <a:rPr lang="zh-CN" altLang="en-US" smtClean="0"/>
              <a:t>假设</a:t>
            </a:r>
            <a:r>
              <a:rPr lang="zh-CN" altLang="en-US" dirty="0" smtClean="0"/>
              <a:t>第一个用于检测的特征图是网络的第</a:t>
            </a:r>
            <a:r>
              <a:rPr lang="en-US" altLang="zh-CN" dirty="0" smtClean="0"/>
              <a:t>n</a:t>
            </a:r>
            <a:r>
              <a:rPr lang="zh-CN" altLang="en-US" dirty="0" smtClean="0"/>
              <a:t>层，在网络较浅的位置取第</a:t>
            </a:r>
            <a:r>
              <a:rPr lang="en-US" altLang="zh-CN" dirty="0" smtClean="0"/>
              <a:t>m</a:t>
            </a:r>
            <a:r>
              <a:rPr lang="zh-CN" altLang="en-US" dirty="0" smtClean="0"/>
              <a:t>层，</a:t>
            </a:r>
            <a:r>
              <a:rPr lang="en-US" altLang="zh-CN" dirty="0" smtClean="0"/>
              <a:t>m&lt;n,</a:t>
            </a:r>
            <a:r>
              <a:rPr lang="zh-CN" altLang="en-US" dirty="0" smtClean="0"/>
              <a:t>第</a:t>
            </a:r>
            <a:r>
              <a:rPr lang="en-US" altLang="zh-CN" dirty="0" smtClean="0"/>
              <a:t>m</a:t>
            </a:r>
            <a:r>
              <a:rPr lang="zh-CN" altLang="en-US" dirty="0" smtClean="0"/>
              <a:t>层的尺寸大于第</a:t>
            </a:r>
            <a:r>
              <a:rPr lang="en-US" altLang="zh-CN" dirty="0" smtClean="0"/>
              <a:t>n</a:t>
            </a:r>
            <a:r>
              <a:rPr lang="zh-CN" altLang="en-US" dirty="0" smtClean="0"/>
              <a:t>层的尺寸，具有更细节的特征表达能力，对第</a:t>
            </a:r>
            <a:r>
              <a:rPr lang="en-US" altLang="zh-CN" dirty="0" smtClean="0"/>
              <a:t>n</a:t>
            </a:r>
            <a:r>
              <a:rPr lang="zh-CN" altLang="en-US" dirty="0" smtClean="0"/>
              <a:t>层的特征图进行上采样，使得上采样后的特征图和第</a:t>
            </a:r>
            <a:r>
              <a:rPr lang="en-US" altLang="zh-CN" dirty="0" smtClean="0"/>
              <a:t>m</a:t>
            </a:r>
            <a:r>
              <a:rPr lang="zh-CN" altLang="en-US" dirty="0" smtClean="0"/>
              <a:t>层的特征图具有相同的尺寸，然后把第</a:t>
            </a:r>
            <a:r>
              <a:rPr lang="en-US" altLang="zh-CN" dirty="0" smtClean="0"/>
              <a:t>m</a:t>
            </a:r>
            <a:r>
              <a:rPr lang="zh-CN" altLang="en-US" dirty="0" smtClean="0"/>
              <a:t>层特征图和上采样后的特征图对齐位置“摞”在一起</a:t>
            </a:r>
            <a:r>
              <a:rPr lang="en-US" altLang="zh-CN" dirty="0" smtClean="0"/>
              <a:t>(</a:t>
            </a:r>
            <a:r>
              <a:rPr lang="zh-CN" altLang="en-US" dirty="0" smtClean="0"/>
              <a:t>进行</a:t>
            </a:r>
            <a:r>
              <a:rPr lang="en-US" altLang="zh-CN" dirty="0" err="1" smtClean="0"/>
              <a:t>concat</a:t>
            </a:r>
            <a:r>
              <a:rPr lang="en-US" altLang="zh-CN" dirty="0" smtClean="0"/>
              <a:t> </a:t>
            </a:r>
            <a:r>
              <a:rPr lang="zh-CN" altLang="en-US" dirty="0" smtClean="0"/>
              <a:t>操作</a:t>
            </a:r>
            <a:r>
              <a:rPr lang="en-US" altLang="zh-CN" dirty="0" smtClean="0"/>
              <a:t>,</a:t>
            </a:r>
            <a:r>
              <a:rPr lang="zh-CN" altLang="en-US" dirty="0" smtClean="0"/>
              <a:t>与 </a:t>
            </a:r>
            <a:r>
              <a:rPr lang="en-US" altLang="zh-CN" dirty="0" smtClean="0"/>
              <a:t>FPN</a:t>
            </a:r>
            <a:r>
              <a:rPr lang="zh-CN" altLang="en-US" dirty="0" smtClean="0"/>
              <a:t>的</a:t>
            </a:r>
            <a:r>
              <a:rPr lang="en-US" altLang="zh-CN" dirty="0" err="1" smtClean="0"/>
              <a:t>elementwise</a:t>
            </a:r>
            <a:r>
              <a:rPr lang="en-US" altLang="zh-CN" dirty="0" smtClean="0"/>
              <a:t> add </a:t>
            </a:r>
            <a:r>
              <a:rPr lang="zh-CN" altLang="en-US" dirty="0" smtClean="0"/>
              <a:t>操作有所区别</a:t>
            </a:r>
            <a:r>
              <a:rPr lang="en-US" altLang="zh-CN" dirty="0" smtClean="0"/>
              <a:t>),</a:t>
            </a:r>
            <a:r>
              <a:rPr lang="zh-CN" altLang="en-US" dirty="0" smtClean="0"/>
              <a:t>构成第</a:t>
            </a:r>
            <a:r>
              <a:rPr lang="en-US" altLang="zh-CN" dirty="0" smtClean="0"/>
              <a:t>2</a:t>
            </a:r>
            <a:r>
              <a:rPr lang="zh-CN" altLang="en-US" dirty="0" smtClean="0"/>
              <a:t>个特征图。新的特征图融合了深层和浅层特征，具备更好的多尺度表达能力。利用类似的方法，可以选取更浅层的特征图构造第</a:t>
            </a:r>
            <a:r>
              <a:rPr lang="en-US" altLang="zh-CN" dirty="0" smtClean="0"/>
              <a:t>3</a:t>
            </a:r>
            <a:r>
              <a:rPr lang="zh-CN" altLang="en-US" dirty="0" smtClean="0"/>
              <a:t>个特征图。分别基于这</a:t>
            </a:r>
            <a:r>
              <a:rPr lang="en-US" altLang="zh-CN" dirty="0" smtClean="0"/>
              <a:t>3</a:t>
            </a:r>
            <a:r>
              <a:rPr lang="zh-CN" altLang="en-US" dirty="0" smtClean="0"/>
              <a:t>个特征图进行预测，能够得到更好的多尺度目标检测效果。</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1695050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结合上图看，卷积网络在</a:t>
            </a:r>
            <a:r>
              <a:rPr lang="en-US" altLang="zh-CN" dirty="0" smtClean="0"/>
              <a:t>79</a:t>
            </a:r>
            <a:r>
              <a:rPr lang="zh-CN" altLang="en-US" dirty="0" smtClean="0"/>
              <a:t>层后，经过下方几个黄色的卷积层得到一种尺度的检测结果。相比输入图像，这里用于检测的特征图有</a:t>
            </a:r>
            <a:r>
              <a:rPr lang="en-US" altLang="zh-CN" dirty="0" smtClean="0"/>
              <a:t>32</a:t>
            </a:r>
            <a:r>
              <a:rPr lang="zh-CN" altLang="en-US" dirty="0" smtClean="0"/>
              <a:t>倍的下采样。比如输入是</a:t>
            </a:r>
            <a:r>
              <a:rPr lang="en-US" altLang="zh-CN" dirty="0" smtClean="0"/>
              <a:t>416 × 416</a:t>
            </a:r>
            <a:r>
              <a:rPr lang="zh-CN" altLang="en-US" dirty="0" smtClean="0"/>
              <a:t>的话，这里的特征图就是</a:t>
            </a:r>
            <a:r>
              <a:rPr lang="en-US" altLang="zh-CN" dirty="0" smtClean="0"/>
              <a:t>13 × 13</a:t>
            </a:r>
            <a:r>
              <a:rPr lang="zh-CN" altLang="en-US" dirty="0" smtClean="0"/>
              <a:t>了。由于下采样倍数高，这里特征图的感受野比较大，因此适合检测图像中尺寸比较大的目标。为了实现细粒度的检测，第</a:t>
            </a:r>
            <a:r>
              <a:rPr lang="en-US" altLang="zh-CN" dirty="0" smtClean="0"/>
              <a:t>79</a:t>
            </a:r>
            <a:r>
              <a:rPr lang="zh-CN" altLang="en-US" dirty="0" smtClean="0"/>
              <a:t>层的特征图又开始作上采样（从</a:t>
            </a:r>
            <a:r>
              <a:rPr lang="en-US" altLang="zh-CN" dirty="0" smtClean="0"/>
              <a:t>79</a:t>
            </a:r>
            <a:r>
              <a:rPr lang="zh-CN" altLang="en-US" dirty="0" smtClean="0"/>
              <a:t>层往右开始上采样卷积），然后与第</a:t>
            </a:r>
            <a:r>
              <a:rPr lang="en-US" altLang="zh-CN" dirty="0" smtClean="0"/>
              <a:t>61</a:t>
            </a:r>
            <a:r>
              <a:rPr lang="zh-CN" altLang="en-US" dirty="0" smtClean="0"/>
              <a:t>层特征图融合（</a:t>
            </a:r>
            <a:r>
              <a:rPr lang="en-US" altLang="zh-CN" dirty="0" smtClean="0"/>
              <a:t>Concatenation</a:t>
            </a:r>
            <a:r>
              <a:rPr lang="zh-CN" altLang="en-US" dirty="0" smtClean="0"/>
              <a:t>），这样得到第</a:t>
            </a:r>
            <a:r>
              <a:rPr lang="en-US" altLang="zh-CN" dirty="0" smtClean="0"/>
              <a:t>91</a:t>
            </a:r>
            <a:r>
              <a:rPr lang="zh-CN" altLang="en-US" dirty="0" smtClean="0"/>
              <a:t>层较细粒度的特征图，同样经过几个卷积层后得到相对输入图像</a:t>
            </a:r>
            <a:r>
              <a:rPr lang="en-US" altLang="zh-CN" dirty="0" smtClean="0"/>
              <a:t>16</a:t>
            </a:r>
            <a:r>
              <a:rPr lang="zh-CN" altLang="en-US" dirty="0" smtClean="0"/>
              <a:t>倍下采样的特征图。它具有中等尺度的感受野，适合检测中等尺度的目标。最后，第</a:t>
            </a:r>
            <a:r>
              <a:rPr lang="en-US" altLang="zh-CN" dirty="0" smtClean="0"/>
              <a:t>91</a:t>
            </a:r>
            <a:r>
              <a:rPr lang="zh-CN" altLang="en-US" dirty="0" smtClean="0"/>
              <a:t>层特征图再次上采样，并与第</a:t>
            </a:r>
            <a:r>
              <a:rPr lang="en-US" altLang="zh-CN" dirty="0" smtClean="0"/>
              <a:t>36</a:t>
            </a:r>
            <a:r>
              <a:rPr lang="zh-CN" altLang="en-US" dirty="0" smtClean="0"/>
              <a:t>层特征图融合（</a:t>
            </a:r>
            <a:r>
              <a:rPr lang="en-US" altLang="zh-CN" dirty="0" smtClean="0"/>
              <a:t>Concatenation</a:t>
            </a:r>
            <a:r>
              <a:rPr lang="zh-CN" altLang="en-US" dirty="0" smtClean="0"/>
              <a:t>），最后得到相对输入图像</a:t>
            </a:r>
            <a:r>
              <a:rPr lang="en-US" altLang="zh-CN" dirty="0" smtClean="0"/>
              <a:t>8</a:t>
            </a:r>
            <a:r>
              <a:rPr lang="zh-CN" altLang="en-US" dirty="0" smtClean="0"/>
              <a:t>倍下采样的特征图。它的感受野最小，适合检测小尺寸的目标。</a:t>
            </a: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3655217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同样，</a:t>
            </a:r>
            <a:r>
              <a:rPr lang="en-US" altLang="zh-CN" dirty="0" smtClean="0"/>
              <a:t>yolov3</a:t>
            </a:r>
            <a:r>
              <a:rPr lang="zh-CN" altLang="en-US" dirty="0" smtClean="0"/>
              <a:t>用</a:t>
            </a:r>
            <a:r>
              <a:rPr lang="en-US" altLang="zh-CN" dirty="0" smtClean="0"/>
              <a:t>K-means</a:t>
            </a:r>
            <a:r>
              <a:rPr lang="zh-CN" altLang="en-US" dirty="0" smtClean="0"/>
              <a:t>聚类得到先验框的尺寸，并为每种下采样尺度设定</a:t>
            </a:r>
            <a:r>
              <a:rPr lang="en-US" altLang="zh-CN" dirty="0" smtClean="0"/>
              <a:t>3</a:t>
            </a:r>
            <a:r>
              <a:rPr lang="zh-CN" altLang="en-US" dirty="0" smtClean="0"/>
              <a:t>种先验框，总共聚类出</a:t>
            </a:r>
            <a:r>
              <a:rPr lang="en-US" altLang="zh-CN" dirty="0" smtClean="0"/>
              <a:t>9</a:t>
            </a:r>
            <a:r>
              <a:rPr lang="zh-CN" altLang="en-US" dirty="0" smtClean="0"/>
              <a:t>种尺寸的先验框，这</a:t>
            </a:r>
            <a:r>
              <a:rPr lang="en-US" altLang="zh-CN" dirty="0" smtClean="0"/>
              <a:t>9</a:t>
            </a:r>
            <a:r>
              <a:rPr lang="zh-CN" altLang="en-US" dirty="0" smtClean="0"/>
              <a:t>个先验框是：</a:t>
            </a:r>
            <a:r>
              <a:rPr lang="en-US" altLang="zh-CN" dirty="0" smtClean="0"/>
              <a:t>(10x13)</a:t>
            </a:r>
            <a:r>
              <a:rPr lang="zh-CN" altLang="en-US" dirty="0" smtClean="0"/>
              <a:t>，</a:t>
            </a:r>
            <a:r>
              <a:rPr lang="en-US" altLang="zh-CN" dirty="0" smtClean="0"/>
              <a:t>(16x30)</a:t>
            </a:r>
            <a:r>
              <a:rPr lang="zh-CN" altLang="en-US" dirty="0" smtClean="0"/>
              <a:t>，</a:t>
            </a:r>
            <a:r>
              <a:rPr lang="en-US" altLang="zh-CN" dirty="0" smtClean="0"/>
              <a:t>(33x23)</a:t>
            </a:r>
            <a:r>
              <a:rPr lang="zh-CN" altLang="en-US" dirty="0" smtClean="0"/>
              <a:t>，</a:t>
            </a:r>
            <a:r>
              <a:rPr lang="en-US" altLang="zh-CN" dirty="0" smtClean="0"/>
              <a:t>(30x61)</a:t>
            </a:r>
            <a:r>
              <a:rPr lang="zh-CN" altLang="en-US" dirty="0" smtClean="0"/>
              <a:t>，</a:t>
            </a:r>
            <a:r>
              <a:rPr lang="en-US" altLang="zh-CN" dirty="0" smtClean="0"/>
              <a:t>(62x45)</a:t>
            </a:r>
            <a:r>
              <a:rPr lang="zh-CN" altLang="en-US" dirty="0" smtClean="0"/>
              <a:t>，</a:t>
            </a:r>
            <a:r>
              <a:rPr lang="en-US" altLang="zh-CN" dirty="0" smtClean="0"/>
              <a:t>(59x119)</a:t>
            </a:r>
            <a:r>
              <a:rPr lang="zh-CN" altLang="en-US" dirty="0" smtClean="0"/>
              <a:t>，</a:t>
            </a:r>
            <a:r>
              <a:rPr lang="en-US" altLang="zh-CN" dirty="0" smtClean="0"/>
              <a:t>(116x90)</a:t>
            </a:r>
            <a:r>
              <a:rPr lang="zh-CN" altLang="en-US" dirty="0" smtClean="0"/>
              <a:t>，</a:t>
            </a:r>
            <a:r>
              <a:rPr lang="en-US" altLang="zh-CN" dirty="0" smtClean="0"/>
              <a:t>(156x198)</a:t>
            </a:r>
            <a:r>
              <a:rPr lang="zh-CN" altLang="en-US" dirty="0" smtClean="0"/>
              <a:t>，</a:t>
            </a:r>
            <a:r>
              <a:rPr lang="en-US" altLang="zh-CN" dirty="0" smtClean="0"/>
              <a:t>(373x326)</a:t>
            </a:r>
            <a:r>
              <a:rPr lang="zh-CN" altLang="en-US" dirty="0" smtClean="0"/>
              <a:t>。</a:t>
            </a:r>
            <a:endParaRPr lang="en-US" altLang="zh-CN" dirty="0" smtClean="0"/>
          </a:p>
          <a:p>
            <a:r>
              <a:rPr lang="zh-CN" altLang="en-US" dirty="0" smtClean="0"/>
              <a:t>在最小的</a:t>
            </a:r>
            <a:r>
              <a:rPr lang="en-US" altLang="zh-CN" dirty="0" smtClean="0"/>
              <a:t>13x13</a:t>
            </a:r>
            <a:r>
              <a:rPr lang="zh-CN" altLang="en-US" dirty="0" smtClean="0"/>
              <a:t>特征图上（有最大的感受野，下采样</a:t>
            </a:r>
            <a:r>
              <a:rPr lang="en-US" altLang="zh-CN" dirty="0" smtClean="0"/>
              <a:t>stride=32</a:t>
            </a:r>
            <a:r>
              <a:rPr lang="zh-CN" altLang="en-US" dirty="0" smtClean="0"/>
              <a:t>），所以用大的先验框</a:t>
            </a:r>
            <a:r>
              <a:rPr lang="en-US" altLang="zh-CN" dirty="0" smtClean="0"/>
              <a:t>(116x90)</a:t>
            </a:r>
            <a:r>
              <a:rPr lang="zh-CN" altLang="en-US" dirty="0" smtClean="0"/>
              <a:t>，</a:t>
            </a:r>
            <a:r>
              <a:rPr lang="en-US" altLang="zh-CN" dirty="0" smtClean="0"/>
              <a:t>(156x198)</a:t>
            </a:r>
            <a:r>
              <a:rPr lang="zh-CN" altLang="en-US" dirty="0" smtClean="0"/>
              <a:t>，</a:t>
            </a:r>
            <a:r>
              <a:rPr lang="en-US" altLang="zh-CN" dirty="0" smtClean="0"/>
              <a:t>(373x326)</a:t>
            </a:r>
            <a:r>
              <a:rPr lang="zh-CN" altLang="en-US" dirty="0" smtClean="0"/>
              <a:t>，检测大对象。在中等的</a:t>
            </a:r>
            <a:r>
              <a:rPr lang="en-US" altLang="zh-CN" dirty="0" smtClean="0"/>
              <a:t>26x26</a:t>
            </a:r>
            <a:r>
              <a:rPr lang="zh-CN" altLang="en-US" dirty="0" smtClean="0"/>
              <a:t>特征图上（有中等的感受野，下采样</a:t>
            </a:r>
            <a:r>
              <a:rPr lang="en-US" altLang="zh-CN" dirty="0" smtClean="0"/>
              <a:t>stride=16</a:t>
            </a:r>
            <a:r>
              <a:rPr lang="zh-CN" altLang="en-US" dirty="0" smtClean="0"/>
              <a:t>），所以用中的先验框</a:t>
            </a:r>
            <a:r>
              <a:rPr lang="en-US" altLang="zh-CN" dirty="0" smtClean="0"/>
              <a:t>(30x61)</a:t>
            </a:r>
            <a:r>
              <a:rPr lang="zh-CN" altLang="en-US" dirty="0" smtClean="0"/>
              <a:t>，</a:t>
            </a:r>
            <a:r>
              <a:rPr lang="en-US" altLang="zh-CN" dirty="0" smtClean="0"/>
              <a:t>(62x45)</a:t>
            </a:r>
            <a:r>
              <a:rPr lang="zh-CN" altLang="en-US" dirty="0" smtClean="0"/>
              <a:t>，</a:t>
            </a:r>
            <a:r>
              <a:rPr lang="en-US" altLang="zh-CN" dirty="0" smtClean="0"/>
              <a:t>(59x119)</a:t>
            </a:r>
            <a:r>
              <a:rPr lang="zh-CN" altLang="en-US" dirty="0" smtClean="0"/>
              <a:t>，检测中等对象。在较大的</a:t>
            </a:r>
            <a:r>
              <a:rPr lang="en-US" altLang="zh-CN" dirty="0" smtClean="0"/>
              <a:t>52x52</a:t>
            </a:r>
            <a:r>
              <a:rPr lang="zh-CN" altLang="en-US" dirty="0" smtClean="0"/>
              <a:t>特征图上（有最小的感受野，下采样</a:t>
            </a:r>
            <a:r>
              <a:rPr lang="en-US" altLang="zh-CN" dirty="0" smtClean="0"/>
              <a:t>stride=8</a:t>
            </a:r>
            <a:r>
              <a:rPr lang="zh-CN" altLang="en-US" dirty="0" smtClean="0"/>
              <a:t>），所以用小的先验框</a:t>
            </a:r>
            <a:r>
              <a:rPr lang="en-US" altLang="zh-CN" dirty="0" smtClean="0"/>
              <a:t>(10x13)</a:t>
            </a:r>
            <a:r>
              <a:rPr lang="zh-CN" altLang="en-US" dirty="0" smtClean="0"/>
              <a:t>，</a:t>
            </a:r>
            <a:r>
              <a:rPr lang="en-US" altLang="zh-CN" dirty="0" smtClean="0"/>
              <a:t>(16x30)</a:t>
            </a:r>
            <a:r>
              <a:rPr lang="zh-CN" altLang="en-US" dirty="0" smtClean="0"/>
              <a:t>，</a:t>
            </a:r>
            <a:r>
              <a:rPr lang="en-US" altLang="zh-CN" dirty="0" smtClean="0"/>
              <a:t>(33x23)</a:t>
            </a:r>
            <a:r>
              <a:rPr lang="zh-CN" altLang="en-US" dirty="0" smtClean="0"/>
              <a:t>，检测小对象。</a:t>
            </a:r>
            <a:endParaRPr lang="en-US" altLang="zh-CN" dirty="0" smtClean="0"/>
          </a:p>
          <a:p>
            <a:r>
              <a:rPr lang="zh-CN" altLang="en-US" sz="1200" b="0" i="0" kern="1200" dirty="0" smtClean="0">
                <a:solidFill>
                  <a:schemeClr val="tx1"/>
                </a:solidFill>
                <a:effectLst/>
                <a:latin typeface="+mn-lt"/>
                <a:ea typeface="+mn-ea"/>
                <a:cs typeface="+mn-cs"/>
              </a:rPr>
              <a:t>感受一下</a:t>
            </a:r>
            <a:r>
              <a:rPr lang="en-US" altLang="zh-CN" sz="1200" b="0" i="0" kern="1200" dirty="0" smtClean="0">
                <a:solidFill>
                  <a:schemeClr val="tx1"/>
                </a:solidFill>
                <a:effectLst/>
                <a:latin typeface="+mn-lt"/>
                <a:ea typeface="+mn-ea"/>
                <a:cs typeface="+mn-cs"/>
              </a:rPr>
              <a:t>9</a:t>
            </a:r>
            <a:r>
              <a:rPr lang="zh-CN" altLang="en-US" sz="1200" b="0" i="0" kern="1200" dirty="0" smtClean="0">
                <a:solidFill>
                  <a:schemeClr val="tx1"/>
                </a:solidFill>
                <a:effectLst/>
                <a:latin typeface="+mn-lt"/>
                <a:ea typeface="+mn-ea"/>
                <a:cs typeface="+mn-cs"/>
              </a:rPr>
              <a:t>种先验框的尺寸，下图中蓝色框为聚类得到的先验框。黄色框式</a:t>
            </a:r>
            <a:r>
              <a:rPr lang="en-US" altLang="zh-CN" sz="1200" b="0" i="0" kern="1200" dirty="0" smtClean="0">
                <a:solidFill>
                  <a:schemeClr val="tx1"/>
                </a:solidFill>
                <a:effectLst/>
                <a:latin typeface="+mn-lt"/>
                <a:ea typeface="+mn-ea"/>
                <a:cs typeface="+mn-cs"/>
              </a:rPr>
              <a:t>ground truth</a:t>
            </a:r>
            <a:r>
              <a:rPr lang="zh-CN" altLang="en-US" sz="1200" b="0" i="0" kern="1200" dirty="0" smtClean="0">
                <a:solidFill>
                  <a:schemeClr val="tx1"/>
                </a:solidFill>
                <a:effectLst/>
                <a:latin typeface="+mn-lt"/>
                <a:ea typeface="+mn-ea"/>
                <a:cs typeface="+mn-cs"/>
              </a:rPr>
              <a:t>，红框是对象中心点所在的网格。</a:t>
            </a:r>
            <a:endParaRPr lang="zh-CN" altLang="en-US" dirty="0" smtClean="0"/>
          </a:p>
          <a:p>
            <a:r>
              <a:rPr lang="zh-CN" altLang="en-US" dirty="0" smtClean="0"/>
              <a:t>由于</a:t>
            </a:r>
            <a:r>
              <a:rPr lang="en-US" altLang="zh-CN" dirty="0" smtClean="0"/>
              <a:t>YOLOv3</a:t>
            </a:r>
            <a:r>
              <a:rPr lang="zh-CN" altLang="en-US" dirty="0" smtClean="0"/>
              <a:t>是在</a:t>
            </a:r>
            <a:r>
              <a:rPr lang="en-US" altLang="zh-CN" dirty="0" smtClean="0"/>
              <a:t>COCO</a:t>
            </a:r>
            <a:r>
              <a:rPr lang="zh-CN" altLang="en-US" dirty="0" smtClean="0"/>
              <a:t>公开数据集上测试的，聚类得到先验框的尺寸不一定适用于其他的数据集（例如网上其他的公开数据集以及我们自己整理的数据集）。</a:t>
            </a: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9329077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随着</a:t>
            </a:r>
            <a:r>
              <a:rPr lang="en-US" altLang="zh-CN" dirty="0" smtClean="0"/>
              <a:t>YOLO</a:t>
            </a:r>
            <a:r>
              <a:rPr lang="zh-CN" altLang="en-US" dirty="0" smtClean="0"/>
              <a:t>系列原作者</a:t>
            </a:r>
            <a:r>
              <a:rPr lang="en-US" altLang="zh-CN" sz="1200" b="0" i="0" kern="1200" dirty="0" smtClean="0">
                <a:solidFill>
                  <a:schemeClr val="tx1"/>
                </a:solidFill>
                <a:effectLst/>
                <a:latin typeface="+mn-lt"/>
                <a:ea typeface="+mn-ea"/>
                <a:cs typeface="+mn-cs"/>
              </a:rPr>
              <a:t>Joseph </a:t>
            </a:r>
            <a:r>
              <a:rPr lang="en-US" altLang="zh-CN" sz="1200" b="0" i="0" kern="1200" dirty="0" err="1" smtClean="0">
                <a:solidFill>
                  <a:schemeClr val="tx1"/>
                </a:solidFill>
                <a:effectLst/>
                <a:latin typeface="+mn-lt"/>
                <a:ea typeface="+mn-ea"/>
                <a:cs typeface="+mn-cs"/>
              </a:rPr>
              <a:t>Redmon</a:t>
            </a:r>
            <a:r>
              <a:rPr lang="zh-CN" altLang="en-US" sz="1200" b="0" i="0" kern="1200" dirty="0" smtClean="0">
                <a:solidFill>
                  <a:schemeClr val="tx1"/>
                </a:solidFill>
                <a:effectLst/>
                <a:latin typeface="+mn-lt"/>
                <a:ea typeface="+mn-ea"/>
                <a:cs typeface="+mn-cs"/>
              </a:rPr>
              <a:t>宣布退出计算机视觉领域后，表明官方不再更新</a:t>
            </a:r>
            <a:r>
              <a:rPr lang="en-US" altLang="zh-CN" sz="1200" b="0" i="0" kern="1200" dirty="0" smtClean="0">
                <a:solidFill>
                  <a:schemeClr val="tx1"/>
                </a:solidFill>
                <a:effectLst/>
                <a:latin typeface="+mn-lt"/>
                <a:ea typeface="+mn-ea"/>
                <a:cs typeface="+mn-cs"/>
              </a:rPr>
              <a:t>YOLOv3</a:t>
            </a:r>
            <a:r>
              <a:rPr lang="zh-CN" altLang="en-US" sz="1200" b="0" i="0" kern="1200" dirty="0" smtClean="0">
                <a:solidFill>
                  <a:schemeClr val="tx1"/>
                </a:solidFill>
                <a:effectLst/>
                <a:latin typeface="+mn-lt"/>
                <a:ea typeface="+mn-ea"/>
                <a:cs typeface="+mn-cs"/>
              </a:rPr>
              <a:t>。但在过去的两年中，</a:t>
            </a:r>
            <a:r>
              <a:rPr lang="en-US" altLang="zh-CN" sz="1200" b="0" i="0" kern="1200" dirty="0" err="1" smtClean="0">
                <a:solidFill>
                  <a:schemeClr val="tx1"/>
                </a:solidFill>
                <a:effectLst/>
                <a:latin typeface="+mn-lt"/>
                <a:ea typeface="+mn-ea"/>
                <a:cs typeface="+mn-cs"/>
              </a:rPr>
              <a:t>Darknet</a:t>
            </a:r>
            <a:r>
              <a:rPr lang="zh-CN" altLang="en-US" sz="1200" b="0" i="0" kern="1200" dirty="0" smtClean="0">
                <a:solidFill>
                  <a:schemeClr val="tx1"/>
                </a:solidFill>
                <a:effectLst/>
                <a:latin typeface="+mn-lt"/>
                <a:ea typeface="+mn-ea"/>
                <a:cs typeface="+mn-cs"/>
              </a:rPr>
              <a:t>的贡献者</a:t>
            </a:r>
            <a:r>
              <a:rPr lang="en-US" altLang="zh-CN" sz="1200" b="0" i="0" kern="1200" dirty="0" err="1" smtClean="0">
                <a:solidFill>
                  <a:schemeClr val="tx1"/>
                </a:solidFill>
                <a:effectLst/>
                <a:latin typeface="+mn-lt"/>
                <a:ea typeface="+mn-ea"/>
                <a:cs typeface="+mn-cs"/>
              </a:rPr>
              <a:t>AlexeyAB</a:t>
            </a:r>
            <a:r>
              <a:rPr lang="zh-CN" altLang="en-US" sz="1200" b="0" i="0" kern="1200" dirty="0" smtClean="0">
                <a:solidFill>
                  <a:schemeClr val="tx1"/>
                </a:solidFill>
                <a:effectLst/>
                <a:latin typeface="+mn-lt"/>
                <a:ea typeface="+mn-ea"/>
                <a:cs typeface="+mn-cs"/>
              </a:rPr>
              <a:t>继承了</a:t>
            </a:r>
            <a:r>
              <a:rPr lang="en-US" altLang="zh-CN" sz="1200" b="0" i="0" kern="1200" dirty="0" smtClean="0">
                <a:solidFill>
                  <a:schemeClr val="tx1"/>
                </a:solidFill>
                <a:effectLst/>
                <a:latin typeface="+mn-lt"/>
                <a:ea typeface="+mn-ea"/>
                <a:cs typeface="+mn-cs"/>
              </a:rPr>
              <a:t>YOLO</a:t>
            </a:r>
            <a:r>
              <a:rPr lang="zh-CN" altLang="en-US" sz="1200" b="0" i="0" kern="1200" dirty="0" smtClean="0">
                <a:solidFill>
                  <a:schemeClr val="tx1"/>
                </a:solidFill>
                <a:effectLst/>
                <a:latin typeface="+mn-lt"/>
                <a:ea typeface="+mn-ea"/>
                <a:cs typeface="+mn-cs"/>
              </a:rPr>
              <a:t>系列的思想和理念发布了</a:t>
            </a:r>
            <a:r>
              <a:rPr lang="en-US" altLang="zh-CN" sz="1200" b="0" i="0" kern="1200" dirty="0" smtClean="0">
                <a:solidFill>
                  <a:schemeClr val="tx1"/>
                </a:solidFill>
                <a:effectLst/>
                <a:latin typeface="+mn-lt"/>
                <a:ea typeface="+mn-ea"/>
                <a:cs typeface="+mn-cs"/>
              </a:rPr>
              <a:t>YOLOv4</a:t>
            </a:r>
            <a:r>
              <a:rPr lang="zh-CN" altLang="en-US" sz="1200" b="0" i="0" kern="1200" dirty="0" smtClean="0">
                <a:solidFill>
                  <a:schemeClr val="tx1"/>
                </a:solidFill>
                <a:effectLst/>
                <a:latin typeface="+mn-lt"/>
                <a:ea typeface="+mn-ea"/>
                <a:cs typeface="+mn-cs"/>
              </a:rPr>
              <a:t>，并得到了原作者</a:t>
            </a:r>
            <a:r>
              <a:rPr lang="en-US" altLang="zh-CN" sz="1200" b="0" i="0" kern="1200" dirty="0" smtClean="0">
                <a:solidFill>
                  <a:schemeClr val="tx1"/>
                </a:solidFill>
                <a:effectLst/>
                <a:latin typeface="+mn-lt"/>
                <a:ea typeface="+mn-ea"/>
                <a:cs typeface="+mn-cs"/>
              </a:rPr>
              <a:t>Joseph </a:t>
            </a:r>
            <a:r>
              <a:rPr lang="en-US" altLang="zh-CN" sz="1200" b="0" i="0" kern="1200" dirty="0" err="1" smtClean="0">
                <a:solidFill>
                  <a:schemeClr val="tx1"/>
                </a:solidFill>
                <a:effectLst/>
                <a:latin typeface="+mn-lt"/>
                <a:ea typeface="+mn-ea"/>
                <a:cs typeface="+mn-cs"/>
              </a:rPr>
              <a:t>Redmon</a:t>
            </a:r>
            <a:r>
              <a:rPr lang="zh-CN" altLang="en-US" sz="1200" b="0" i="0" kern="1200" dirty="0" smtClean="0">
                <a:solidFill>
                  <a:schemeClr val="tx1"/>
                </a:solidFill>
                <a:effectLst/>
                <a:latin typeface="+mn-lt"/>
                <a:ea typeface="+mn-ea"/>
                <a:cs typeface="+mn-cs"/>
              </a:rPr>
              <a:t>的承认。总体而言，</a:t>
            </a:r>
            <a:r>
              <a:rPr lang="en-US" altLang="zh-CN" sz="1200" b="0" i="0" kern="1200" dirty="0" smtClean="0">
                <a:solidFill>
                  <a:schemeClr val="tx1"/>
                </a:solidFill>
                <a:effectLst/>
                <a:latin typeface="+mn-lt"/>
                <a:ea typeface="+mn-ea"/>
                <a:cs typeface="+mn-cs"/>
              </a:rPr>
              <a:t>YOLOv4</a:t>
            </a:r>
            <a:r>
              <a:rPr lang="zh-CN" altLang="en-US" sz="1200" b="0" i="0" kern="1200" dirty="0" smtClean="0">
                <a:solidFill>
                  <a:schemeClr val="tx1"/>
                </a:solidFill>
                <a:effectLst/>
                <a:latin typeface="+mn-lt"/>
                <a:ea typeface="+mn-ea"/>
                <a:cs typeface="+mn-cs"/>
              </a:rPr>
              <a:t>的核心思想与主要架构与</a:t>
            </a:r>
            <a:r>
              <a:rPr lang="en-US" altLang="zh-CN" sz="1200" b="0" i="0" kern="1200" dirty="0" smtClean="0">
                <a:solidFill>
                  <a:schemeClr val="tx1"/>
                </a:solidFill>
                <a:effectLst/>
                <a:latin typeface="+mn-lt"/>
                <a:ea typeface="+mn-ea"/>
                <a:cs typeface="+mn-cs"/>
              </a:rPr>
              <a:t>YOLOv3</a:t>
            </a:r>
            <a:r>
              <a:rPr lang="zh-CN" altLang="en-US" sz="1200" b="0" i="0" kern="1200" dirty="0" smtClean="0">
                <a:solidFill>
                  <a:schemeClr val="tx1"/>
                </a:solidFill>
                <a:effectLst/>
                <a:latin typeface="+mn-lt"/>
                <a:ea typeface="+mn-ea"/>
                <a:cs typeface="+mn-cs"/>
              </a:rPr>
              <a:t>无异，主要是在</a:t>
            </a:r>
            <a:r>
              <a:rPr lang="en-US" altLang="zh-CN" sz="1200" b="0" i="0" kern="1200" dirty="0" smtClean="0">
                <a:solidFill>
                  <a:schemeClr val="tx1"/>
                </a:solidFill>
                <a:effectLst/>
                <a:latin typeface="+mn-lt"/>
                <a:ea typeface="+mn-ea"/>
                <a:cs typeface="+mn-cs"/>
              </a:rPr>
              <a:t>YOLOv3</a:t>
            </a:r>
            <a:r>
              <a:rPr lang="zh-CN" altLang="en-US" sz="1200" b="0" i="0" kern="1200" dirty="0" smtClean="0">
                <a:solidFill>
                  <a:schemeClr val="tx1"/>
                </a:solidFill>
                <a:effectLst/>
                <a:latin typeface="+mn-lt"/>
                <a:ea typeface="+mn-ea"/>
                <a:cs typeface="+mn-cs"/>
              </a:rPr>
              <a:t>的基础上运用了许多小技巧，使得模型速度更快，</a:t>
            </a:r>
            <a:r>
              <a:rPr lang="en-US" altLang="zh-CN" sz="1200" b="0" i="0" kern="1200" dirty="0" err="1" smtClean="0">
                <a:solidFill>
                  <a:schemeClr val="tx1"/>
                </a:solidFill>
                <a:effectLst/>
                <a:latin typeface="+mn-lt"/>
                <a:ea typeface="+mn-ea"/>
                <a:cs typeface="+mn-cs"/>
              </a:rPr>
              <a:t>mAP</a:t>
            </a:r>
            <a:r>
              <a:rPr lang="zh-CN" altLang="en-US" sz="1200" b="0" i="0" kern="1200" dirty="0" smtClean="0">
                <a:solidFill>
                  <a:schemeClr val="tx1"/>
                </a:solidFill>
                <a:effectLst/>
                <a:latin typeface="+mn-lt"/>
                <a:ea typeface="+mn-ea"/>
                <a:cs typeface="+mn-cs"/>
              </a:rPr>
              <a:t>更高。下面简单介绍其中的几个：</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5395735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在平时项目训练时，小目标的</a:t>
            </a:r>
            <a:r>
              <a:rPr lang="en-US" altLang="zh-CN" sz="1200" b="0" i="0" kern="1200" dirty="0" smtClean="0">
                <a:solidFill>
                  <a:schemeClr val="tx1"/>
                </a:solidFill>
                <a:effectLst/>
                <a:latin typeface="+mn-lt"/>
                <a:ea typeface="+mn-ea"/>
                <a:cs typeface="+mn-cs"/>
              </a:rPr>
              <a:t>AP</a:t>
            </a:r>
            <a:r>
              <a:rPr lang="zh-CN" altLang="en-US" sz="1200" b="0" i="0" kern="1200" dirty="0" smtClean="0">
                <a:solidFill>
                  <a:schemeClr val="tx1"/>
                </a:solidFill>
                <a:effectLst/>
                <a:latin typeface="+mn-lt"/>
                <a:ea typeface="+mn-ea"/>
                <a:cs typeface="+mn-cs"/>
              </a:rPr>
              <a:t>一般比中目标和大目标低很多。而</a:t>
            </a:r>
            <a:r>
              <a:rPr lang="en-US" altLang="zh-CN" sz="1200" b="0" i="0" kern="1200" dirty="0" smtClean="0">
                <a:solidFill>
                  <a:schemeClr val="tx1"/>
                </a:solidFill>
                <a:effectLst/>
                <a:latin typeface="+mn-lt"/>
                <a:ea typeface="+mn-ea"/>
                <a:cs typeface="+mn-cs"/>
              </a:rPr>
              <a:t>Coco</a:t>
            </a:r>
            <a:r>
              <a:rPr lang="zh-CN" altLang="en-US" sz="1200" b="0" i="0" kern="1200" dirty="0" smtClean="0">
                <a:solidFill>
                  <a:schemeClr val="tx1"/>
                </a:solidFill>
                <a:effectLst/>
                <a:latin typeface="+mn-lt"/>
                <a:ea typeface="+mn-ea"/>
                <a:cs typeface="+mn-cs"/>
              </a:rPr>
              <a:t>数据集中也包含大量的小目标，但比较麻烦的是小目标的分布并不均匀。所以为了平衡小、中、大目标的占比数量，使用</a:t>
            </a:r>
            <a:r>
              <a:rPr lang="en-US" altLang="zh-CN" sz="1200" b="0" i="0" kern="1200" dirty="0" smtClean="0">
                <a:solidFill>
                  <a:schemeClr val="tx1"/>
                </a:solidFill>
                <a:effectLst/>
                <a:latin typeface="+mn-lt"/>
                <a:ea typeface="+mn-ea"/>
                <a:cs typeface="+mn-cs"/>
              </a:rPr>
              <a:t>Mosaic</a:t>
            </a:r>
            <a:r>
              <a:rPr lang="zh-CN" altLang="en-US" sz="1200" b="0" i="0" kern="1200" dirty="0" smtClean="0">
                <a:solidFill>
                  <a:schemeClr val="tx1"/>
                </a:solidFill>
                <a:effectLst/>
                <a:latin typeface="+mn-lt"/>
                <a:ea typeface="+mn-ea"/>
                <a:cs typeface="+mn-cs"/>
              </a:rPr>
              <a:t>数据增强</a:t>
            </a:r>
            <a:endParaRPr lang="en-US" altLang="zh-CN" sz="1200" b="0" i="0" kern="1200" dirty="0" smtClean="0">
              <a:solidFill>
                <a:schemeClr val="tx1"/>
              </a:solidFill>
              <a:effectLst/>
              <a:latin typeface="+mn-lt"/>
              <a:ea typeface="+mn-ea"/>
              <a:cs typeface="+mn-cs"/>
            </a:endParaRPr>
          </a:p>
          <a:p>
            <a:r>
              <a:rPr lang="en-US" altLang="zh-CN" sz="1200" b="0" i="0" kern="1200" dirty="0" smtClean="0">
                <a:solidFill>
                  <a:schemeClr val="tx1"/>
                </a:solidFill>
                <a:effectLst/>
                <a:latin typeface="+mn-lt"/>
                <a:ea typeface="+mn-ea"/>
                <a:cs typeface="+mn-cs"/>
              </a:rPr>
              <a:t>Yolov4</a:t>
            </a:r>
            <a:r>
              <a:rPr lang="zh-CN" altLang="en-US" sz="1200" b="0" i="0" kern="1200" dirty="0" smtClean="0">
                <a:solidFill>
                  <a:schemeClr val="tx1"/>
                </a:solidFill>
                <a:effectLst/>
                <a:latin typeface="+mn-lt"/>
                <a:ea typeface="+mn-ea"/>
                <a:cs typeface="+mn-cs"/>
              </a:rPr>
              <a:t>中使用的</a:t>
            </a:r>
            <a:r>
              <a:rPr lang="en-US" altLang="zh-CN" sz="1200" b="0" i="0" kern="1200" dirty="0" smtClean="0">
                <a:solidFill>
                  <a:schemeClr val="tx1"/>
                </a:solidFill>
                <a:effectLst/>
                <a:latin typeface="+mn-lt"/>
                <a:ea typeface="+mn-ea"/>
                <a:cs typeface="+mn-cs"/>
              </a:rPr>
              <a:t>Mosaic</a:t>
            </a:r>
            <a:r>
              <a:rPr lang="zh-CN" altLang="en-US" sz="1200" b="0" i="0" kern="1200" dirty="0" smtClean="0">
                <a:solidFill>
                  <a:schemeClr val="tx1"/>
                </a:solidFill>
                <a:effectLst/>
                <a:latin typeface="+mn-lt"/>
                <a:ea typeface="+mn-ea"/>
                <a:cs typeface="+mn-cs"/>
              </a:rPr>
              <a:t>是参考</a:t>
            </a:r>
            <a:r>
              <a:rPr lang="en-US" altLang="zh-CN" sz="1200" b="0" i="0" kern="1200" dirty="0" smtClean="0">
                <a:solidFill>
                  <a:schemeClr val="tx1"/>
                </a:solidFill>
                <a:effectLst/>
                <a:latin typeface="+mn-lt"/>
                <a:ea typeface="+mn-ea"/>
                <a:cs typeface="+mn-cs"/>
              </a:rPr>
              <a:t>2019</a:t>
            </a:r>
            <a:r>
              <a:rPr lang="zh-CN" altLang="en-US" sz="1200" b="0" i="0" kern="1200" dirty="0" smtClean="0">
                <a:solidFill>
                  <a:schemeClr val="tx1"/>
                </a:solidFill>
                <a:effectLst/>
                <a:latin typeface="+mn-lt"/>
                <a:ea typeface="+mn-ea"/>
                <a:cs typeface="+mn-cs"/>
              </a:rPr>
              <a:t>年底提出的</a:t>
            </a:r>
            <a:r>
              <a:rPr lang="en-US" altLang="zh-CN" sz="1200" b="0" i="0" kern="1200" dirty="0" err="1" smtClean="0">
                <a:solidFill>
                  <a:schemeClr val="tx1"/>
                </a:solidFill>
                <a:effectLst/>
                <a:latin typeface="+mn-lt"/>
                <a:ea typeface="+mn-ea"/>
                <a:cs typeface="+mn-cs"/>
              </a:rPr>
              <a:t>CutMix</a:t>
            </a:r>
            <a:r>
              <a:rPr lang="zh-CN" altLang="en-US" sz="1200" b="0" i="0" kern="1200" dirty="0" smtClean="0">
                <a:solidFill>
                  <a:schemeClr val="tx1"/>
                </a:solidFill>
                <a:effectLst/>
                <a:latin typeface="+mn-lt"/>
                <a:ea typeface="+mn-ea"/>
                <a:cs typeface="+mn-cs"/>
              </a:rPr>
              <a:t>数据增强的方式，但</a:t>
            </a:r>
            <a:r>
              <a:rPr lang="en-US" altLang="zh-CN" sz="1200" b="0" i="0" kern="1200" dirty="0" err="1" smtClean="0">
                <a:solidFill>
                  <a:schemeClr val="tx1"/>
                </a:solidFill>
                <a:effectLst/>
                <a:latin typeface="+mn-lt"/>
                <a:ea typeface="+mn-ea"/>
                <a:cs typeface="+mn-cs"/>
              </a:rPr>
              <a:t>CutMix</a:t>
            </a:r>
            <a:r>
              <a:rPr lang="zh-CN" altLang="en-US" sz="1200" b="0" i="0" kern="1200" dirty="0" smtClean="0">
                <a:solidFill>
                  <a:schemeClr val="tx1"/>
                </a:solidFill>
                <a:effectLst/>
                <a:latin typeface="+mn-lt"/>
                <a:ea typeface="+mn-ea"/>
                <a:cs typeface="+mn-cs"/>
              </a:rPr>
              <a:t>只使用了两张图片进行拼接，而</a:t>
            </a:r>
            <a:r>
              <a:rPr lang="en-US" altLang="zh-CN" sz="1200" b="0" i="0" kern="1200" dirty="0" smtClean="0">
                <a:solidFill>
                  <a:schemeClr val="tx1"/>
                </a:solidFill>
                <a:effectLst/>
                <a:latin typeface="+mn-lt"/>
                <a:ea typeface="+mn-ea"/>
                <a:cs typeface="+mn-cs"/>
              </a:rPr>
              <a:t>Mosaic</a:t>
            </a:r>
            <a:r>
              <a:rPr lang="zh-CN" altLang="en-US" sz="1200" b="0" i="0" kern="1200" dirty="0" smtClean="0">
                <a:solidFill>
                  <a:schemeClr val="tx1"/>
                </a:solidFill>
                <a:effectLst/>
                <a:latin typeface="+mn-lt"/>
                <a:ea typeface="+mn-ea"/>
                <a:cs typeface="+mn-cs"/>
              </a:rPr>
              <a:t>数据增强则采用了</a:t>
            </a:r>
            <a:r>
              <a:rPr lang="en-US" altLang="zh-CN" sz="1200" b="0" i="0" kern="1200" dirty="0" smtClean="0">
                <a:solidFill>
                  <a:schemeClr val="tx1"/>
                </a:solidFill>
                <a:effectLst/>
                <a:latin typeface="+mn-lt"/>
                <a:ea typeface="+mn-ea"/>
                <a:cs typeface="+mn-cs"/>
              </a:rPr>
              <a:t>4</a:t>
            </a:r>
            <a:r>
              <a:rPr lang="zh-CN" altLang="en-US" sz="1200" b="0" i="0" kern="1200" dirty="0" smtClean="0">
                <a:solidFill>
                  <a:schemeClr val="tx1"/>
                </a:solidFill>
                <a:effectLst/>
                <a:latin typeface="+mn-lt"/>
                <a:ea typeface="+mn-ea"/>
                <a:cs typeface="+mn-cs"/>
              </a:rPr>
              <a:t>张图片，随机缩放、随机裁剪、随机排布的方式进行拼接。</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这种做法扩充了数据集，均衡大中小目标数量：随机使用</a:t>
            </a:r>
            <a:r>
              <a:rPr lang="en-US" altLang="zh-CN" sz="1200" b="0" i="0" kern="1200" dirty="0" smtClean="0">
                <a:solidFill>
                  <a:schemeClr val="tx1"/>
                </a:solidFill>
                <a:effectLst/>
                <a:latin typeface="+mn-lt"/>
                <a:ea typeface="+mn-ea"/>
                <a:cs typeface="+mn-cs"/>
              </a:rPr>
              <a:t>4</a:t>
            </a:r>
            <a:r>
              <a:rPr lang="zh-CN" altLang="en-US" sz="1200" b="0" i="0" kern="1200" dirty="0" smtClean="0">
                <a:solidFill>
                  <a:schemeClr val="tx1"/>
                </a:solidFill>
                <a:effectLst/>
                <a:latin typeface="+mn-lt"/>
                <a:ea typeface="+mn-ea"/>
                <a:cs typeface="+mn-cs"/>
              </a:rPr>
              <a:t>张图片随机拼接，且通过随机缩放可以获得很多小目标，让网络的鲁棒性更好。</a:t>
            </a:r>
            <a:r>
              <a:rPr lang="zh-CN" altLang="en-US" dirty="0" smtClean="0"/>
              <a:t/>
            </a:r>
            <a:br>
              <a:rPr lang="zh-CN" altLang="en-US" dirty="0" smtClean="0"/>
            </a:br>
            <a:r>
              <a:rPr lang="en-US" altLang="zh-CN" sz="1200" b="0" i="0" kern="1200" dirty="0" smtClean="0">
                <a:solidFill>
                  <a:schemeClr val="tx1"/>
                </a:solidFill>
                <a:effectLst/>
                <a:latin typeface="+mn-lt"/>
                <a:ea typeface="+mn-ea"/>
                <a:cs typeface="+mn-cs"/>
              </a:rPr>
              <a:t>2.</a:t>
            </a:r>
            <a:r>
              <a:rPr lang="zh-CN" altLang="en-US" sz="1200" b="0" i="0" kern="1200" dirty="0" smtClean="0">
                <a:solidFill>
                  <a:schemeClr val="tx1"/>
                </a:solidFill>
                <a:effectLst/>
                <a:latin typeface="+mn-lt"/>
                <a:ea typeface="+mn-ea"/>
                <a:cs typeface="+mn-cs"/>
              </a:rPr>
              <a:t>减少</a:t>
            </a:r>
            <a:r>
              <a:rPr lang="en-US" altLang="zh-CN" sz="1200" b="0" i="0" kern="1200" dirty="0" smtClean="0">
                <a:solidFill>
                  <a:schemeClr val="tx1"/>
                </a:solidFill>
                <a:effectLst/>
                <a:latin typeface="+mn-lt"/>
                <a:ea typeface="+mn-ea"/>
                <a:cs typeface="+mn-cs"/>
              </a:rPr>
              <a:t>GPU</a:t>
            </a:r>
            <a:r>
              <a:rPr lang="zh-CN" altLang="en-US" sz="1200" b="0" i="0" kern="1200" dirty="0" smtClean="0">
                <a:solidFill>
                  <a:schemeClr val="tx1"/>
                </a:solidFill>
                <a:effectLst/>
                <a:latin typeface="+mn-lt"/>
                <a:ea typeface="+mn-ea"/>
                <a:cs typeface="+mn-cs"/>
              </a:rPr>
              <a:t>：因为使用</a:t>
            </a:r>
            <a:r>
              <a:rPr lang="en-US" altLang="zh-CN" sz="1200" b="0" i="0" kern="1200" dirty="0" smtClean="0">
                <a:solidFill>
                  <a:schemeClr val="tx1"/>
                </a:solidFill>
                <a:effectLst/>
                <a:latin typeface="+mn-lt"/>
                <a:ea typeface="+mn-ea"/>
                <a:cs typeface="+mn-cs"/>
              </a:rPr>
              <a:t>Mosaic</a:t>
            </a:r>
            <a:r>
              <a:rPr lang="zh-CN" altLang="en-US" sz="1200" b="0" i="0" kern="1200" dirty="0" smtClean="0">
                <a:solidFill>
                  <a:schemeClr val="tx1"/>
                </a:solidFill>
                <a:effectLst/>
                <a:latin typeface="+mn-lt"/>
                <a:ea typeface="+mn-ea"/>
                <a:cs typeface="+mn-cs"/>
              </a:rPr>
              <a:t>增强进行训练时，</a:t>
            </a:r>
            <a:r>
              <a:rPr lang="en-US" altLang="zh-CN" sz="1200" b="0" i="0" kern="1200" dirty="0" smtClean="0">
                <a:solidFill>
                  <a:schemeClr val="tx1"/>
                </a:solidFill>
                <a:effectLst/>
                <a:latin typeface="+mn-lt"/>
                <a:ea typeface="+mn-ea"/>
                <a:cs typeface="+mn-cs"/>
              </a:rPr>
              <a:t>4</a:t>
            </a:r>
            <a:r>
              <a:rPr lang="zh-CN" altLang="en-US" sz="1200" b="0" i="0" kern="1200" dirty="0" smtClean="0">
                <a:solidFill>
                  <a:schemeClr val="tx1"/>
                </a:solidFill>
                <a:effectLst/>
                <a:latin typeface="+mn-lt"/>
                <a:ea typeface="+mn-ea"/>
                <a:cs typeface="+mn-cs"/>
              </a:rPr>
              <a:t>张图片被整合成一张图片，这样一来可以使</a:t>
            </a:r>
            <a:r>
              <a:rPr lang="en-US" altLang="zh-CN" sz="1200" b="0" i="0" kern="1200" dirty="0" smtClean="0">
                <a:solidFill>
                  <a:schemeClr val="tx1"/>
                </a:solidFill>
                <a:effectLst/>
                <a:latin typeface="+mn-lt"/>
                <a:ea typeface="+mn-ea"/>
                <a:cs typeface="+mn-cs"/>
              </a:rPr>
              <a:t>mini-batch</a:t>
            </a:r>
            <a:r>
              <a:rPr lang="zh-CN" altLang="en-US" sz="1200" b="0" i="0" kern="1200" dirty="0" smtClean="0">
                <a:solidFill>
                  <a:schemeClr val="tx1"/>
                </a:solidFill>
                <a:effectLst/>
                <a:latin typeface="+mn-lt"/>
                <a:ea typeface="+mn-ea"/>
                <a:cs typeface="+mn-cs"/>
              </a:rPr>
              <a:t>大小并不用很大，这样一个</a:t>
            </a:r>
            <a:r>
              <a:rPr lang="en-US" altLang="zh-CN" sz="1200" b="0" i="0" kern="1200" dirty="0" smtClean="0">
                <a:solidFill>
                  <a:schemeClr val="tx1"/>
                </a:solidFill>
                <a:effectLst/>
                <a:latin typeface="+mn-lt"/>
                <a:ea typeface="+mn-ea"/>
                <a:cs typeface="+mn-cs"/>
              </a:rPr>
              <a:t>GPU</a:t>
            </a:r>
            <a:r>
              <a:rPr lang="zh-CN" altLang="en-US" sz="1200" b="0" i="0" kern="1200" dirty="0" smtClean="0">
                <a:solidFill>
                  <a:schemeClr val="tx1"/>
                </a:solidFill>
                <a:effectLst/>
                <a:latin typeface="+mn-lt"/>
                <a:ea typeface="+mn-ea"/>
                <a:cs typeface="+mn-cs"/>
              </a:rPr>
              <a:t>就能达到比较好的效果。</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394850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err="1" smtClean="0">
                <a:solidFill>
                  <a:schemeClr val="tx1"/>
                </a:solidFill>
                <a:effectLst/>
                <a:latin typeface="+mn-lt"/>
                <a:ea typeface="+mn-ea"/>
                <a:cs typeface="+mn-cs"/>
              </a:rPr>
              <a:t>CSPNet</a:t>
            </a:r>
            <a:r>
              <a:rPr lang="en-US" altLang="zh-CN" sz="1200" b="0" i="0" kern="1200" dirty="0" smtClean="0">
                <a:solidFill>
                  <a:schemeClr val="tx1"/>
                </a:solidFill>
                <a:effectLst/>
                <a:latin typeface="+mn-lt"/>
                <a:ea typeface="+mn-ea"/>
                <a:cs typeface="+mn-cs"/>
              </a:rPr>
              <a:t> (Cross Stage </a:t>
            </a:r>
            <a:r>
              <a:rPr lang="en-US" altLang="zh-CN" sz="1200" b="0" i="0" kern="1200" dirty="0" err="1" smtClean="0">
                <a:solidFill>
                  <a:schemeClr val="tx1"/>
                </a:solidFill>
                <a:effectLst/>
                <a:latin typeface="+mn-lt"/>
                <a:ea typeface="+mn-ea"/>
                <a:cs typeface="+mn-cs"/>
              </a:rPr>
              <a:t>Paritial</a:t>
            </a:r>
            <a:r>
              <a:rPr lang="en-US" altLang="zh-CN" sz="1200" b="0" i="0" kern="1200" dirty="0" smtClean="0">
                <a:solidFill>
                  <a:schemeClr val="tx1"/>
                </a:solidFill>
                <a:effectLst/>
                <a:latin typeface="+mn-lt"/>
                <a:ea typeface="+mn-ea"/>
                <a:cs typeface="+mn-cs"/>
              </a:rPr>
              <a:t> Network) </a:t>
            </a:r>
            <a:r>
              <a:rPr lang="zh-CN" altLang="en-US" sz="1200" b="0" i="0" kern="1200" dirty="0" smtClean="0">
                <a:solidFill>
                  <a:schemeClr val="tx1"/>
                </a:solidFill>
                <a:effectLst/>
                <a:latin typeface="+mn-lt"/>
                <a:ea typeface="+mn-ea"/>
                <a:cs typeface="+mn-cs"/>
              </a:rPr>
              <a:t>主要从网络结构设计的角度解决推理中计算量大的问题。</a:t>
            </a:r>
            <a:r>
              <a:rPr lang="en-US" altLang="zh-CN" sz="1200" b="0" i="0" kern="1200" dirty="0" err="1" smtClean="0">
                <a:solidFill>
                  <a:schemeClr val="tx1"/>
                </a:solidFill>
                <a:effectLst/>
                <a:latin typeface="+mn-lt"/>
                <a:ea typeface="+mn-ea"/>
                <a:cs typeface="+mn-cs"/>
              </a:rPr>
              <a:t>CSPNet</a:t>
            </a:r>
            <a:r>
              <a:rPr lang="en-US" altLang="zh-CN" sz="1200" b="0" i="0" kern="1200" dirty="0" smtClean="0">
                <a:solidFill>
                  <a:schemeClr val="tx1"/>
                </a:solidFill>
                <a:effectLst/>
                <a:latin typeface="+mn-lt"/>
                <a:ea typeface="+mn-ea"/>
                <a:cs typeface="+mn-cs"/>
              </a:rPr>
              <a:t> </a:t>
            </a:r>
            <a:r>
              <a:rPr lang="zh-CN" altLang="en-US" sz="1200" b="0" i="0" kern="1200" dirty="0" smtClean="0">
                <a:solidFill>
                  <a:schemeClr val="tx1"/>
                </a:solidFill>
                <a:effectLst/>
                <a:latin typeface="+mn-lt"/>
                <a:ea typeface="+mn-ea"/>
                <a:cs typeface="+mn-cs"/>
              </a:rPr>
              <a:t>的作者认为推理计算过高的问题是由于网络优化中的梯度信息重复导致的。 因此采用 </a:t>
            </a:r>
            <a:r>
              <a:rPr lang="en-US" altLang="zh-CN" sz="1200" b="0" i="0" kern="1200" dirty="0" smtClean="0">
                <a:solidFill>
                  <a:schemeClr val="tx1"/>
                </a:solidFill>
                <a:effectLst/>
                <a:latin typeface="+mn-lt"/>
                <a:ea typeface="+mn-ea"/>
                <a:cs typeface="+mn-cs"/>
              </a:rPr>
              <a:t>Cross-Stage-Partial-connections (CSP) </a:t>
            </a:r>
            <a:r>
              <a:rPr lang="zh-CN" altLang="en-US" sz="1200" b="0" i="0" kern="1200" dirty="0" smtClean="0">
                <a:solidFill>
                  <a:schemeClr val="tx1"/>
                </a:solidFill>
                <a:effectLst/>
                <a:latin typeface="+mn-lt"/>
                <a:ea typeface="+mn-ea"/>
                <a:cs typeface="+mn-cs"/>
              </a:rPr>
              <a:t>先将基础层的特征映射划分为两部分，然后通过跨阶段层次结构将它们合并，在减少了计算量的同时可以保证准确率。</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网络结构采用 </a:t>
            </a:r>
            <a:r>
              <a:rPr lang="en-US" altLang="zh-CN" sz="1200" b="0" i="0" kern="1200" dirty="0" smtClean="0">
                <a:solidFill>
                  <a:schemeClr val="tx1"/>
                </a:solidFill>
                <a:effectLst/>
                <a:latin typeface="+mn-lt"/>
                <a:ea typeface="+mn-ea"/>
                <a:cs typeface="+mn-cs"/>
              </a:rPr>
              <a:t>CSP </a:t>
            </a:r>
            <a:r>
              <a:rPr lang="zh-CN" altLang="en-US" sz="1200" b="0" i="0" kern="1200" dirty="0" smtClean="0">
                <a:solidFill>
                  <a:schemeClr val="tx1"/>
                </a:solidFill>
                <a:effectLst/>
                <a:latin typeface="+mn-lt"/>
                <a:ea typeface="+mn-ea"/>
                <a:cs typeface="+mn-cs"/>
              </a:rPr>
              <a:t>连接，主要以下三个方面的优点：增强 </a:t>
            </a:r>
            <a:r>
              <a:rPr lang="en-US" altLang="zh-CN" sz="1200" b="0" i="0" kern="1200" dirty="0" smtClean="0">
                <a:solidFill>
                  <a:schemeClr val="tx1"/>
                </a:solidFill>
                <a:effectLst/>
                <a:latin typeface="+mn-lt"/>
                <a:ea typeface="+mn-ea"/>
                <a:cs typeface="+mn-cs"/>
              </a:rPr>
              <a:t>CNN </a:t>
            </a:r>
            <a:r>
              <a:rPr lang="zh-CN" altLang="en-US" sz="1200" b="0" i="0" kern="1200" dirty="0" smtClean="0">
                <a:solidFill>
                  <a:schemeClr val="tx1"/>
                </a:solidFill>
                <a:effectLst/>
                <a:latin typeface="+mn-lt"/>
                <a:ea typeface="+mn-ea"/>
                <a:cs typeface="+mn-cs"/>
              </a:rPr>
              <a:t>的学习能力，使得在轻量化的同时保持准确性；降低计算瓶颈；降低内存成本。</a:t>
            </a:r>
            <a:r>
              <a:rPr lang="en-US" altLang="zh-CN" sz="1200" b="0" i="0" kern="1200" dirty="0" smtClean="0">
                <a:solidFill>
                  <a:schemeClr val="tx1"/>
                </a:solidFill>
                <a:effectLst/>
                <a:latin typeface="+mn-lt"/>
                <a:ea typeface="+mn-ea"/>
                <a:cs typeface="+mn-cs"/>
              </a:rPr>
              <a:t>YOLOv4 </a:t>
            </a:r>
            <a:r>
              <a:rPr lang="zh-CN" altLang="en-US" sz="1200" b="0" i="0" kern="1200" dirty="0" smtClean="0">
                <a:solidFill>
                  <a:schemeClr val="tx1"/>
                </a:solidFill>
                <a:effectLst/>
                <a:latin typeface="+mn-lt"/>
                <a:ea typeface="+mn-ea"/>
                <a:cs typeface="+mn-cs"/>
              </a:rPr>
              <a:t>利用上面的 </a:t>
            </a:r>
            <a:r>
              <a:rPr lang="en-US" altLang="zh-CN" sz="1200" b="0" i="0" kern="1200" dirty="0" smtClean="0">
                <a:solidFill>
                  <a:schemeClr val="tx1"/>
                </a:solidFill>
                <a:effectLst/>
                <a:latin typeface="+mn-lt"/>
                <a:ea typeface="+mn-ea"/>
                <a:cs typeface="+mn-cs"/>
              </a:rPr>
              <a:t>CSP </a:t>
            </a:r>
            <a:r>
              <a:rPr lang="zh-CN" altLang="en-US" sz="1200" b="0" i="0" kern="1200" dirty="0" smtClean="0">
                <a:solidFill>
                  <a:schemeClr val="tx1"/>
                </a:solidFill>
                <a:effectLst/>
                <a:latin typeface="+mn-lt"/>
                <a:ea typeface="+mn-ea"/>
                <a:cs typeface="+mn-cs"/>
              </a:rPr>
              <a:t>连接以及</a:t>
            </a:r>
            <a:r>
              <a:rPr lang="en-US" altLang="zh-CN" sz="1200" b="0" i="0" kern="1200" dirty="0" smtClean="0">
                <a:solidFill>
                  <a:schemeClr val="tx1"/>
                </a:solidFill>
                <a:effectLst/>
                <a:latin typeface="+mn-lt"/>
                <a:ea typeface="+mn-ea"/>
                <a:cs typeface="+mn-cs"/>
              </a:rPr>
              <a:t>Darknet-53</a:t>
            </a:r>
            <a:r>
              <a:rPr lang="zh-CN" altLang="en-US" sz="1200" b="0" i="0" kern="1200" dirty="0" smtClean="0">
                <a:solidFill>
                  <a:schemeClr val="tx1"/>
                </a:solidFill>
                <a:effectLst/>
                <a:latin typeface="+mn-lt"/>
                <a:ea typeface="+mn-ea"/>
                <a:cs typeface="+mn-cs"/>
              </a:rPr>
              <a:t>作为提取特征的主干网络。</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此外，</a:t>
            </a:r>
            <a:r>
              <a:rPr lang="en-US" altLang="zh-CN" sz="1200" b="0" i="0" kern="1200" dirty="0" smtClean="0">
                <a:solidFill>
                  <a:schemeClr val="tx1"/>
                </a:solidFill>
                <a:effectLst/>
                <a:latin typeface="+mn-lt"/>
                <a:ea typeface="+mn-ea"/>
                <a:cs typeface="+mn-cs"/>
              </a:rPr>
              <a:t>YOLOv4</a:t>
            </a:r>
            <a:r>
              <a:rPr lang="zh-CN" altLang="en-US" sz="1200" b="0" i="0" kern="1200" dirty="0" smtClean="0">
                <a:solidFill>
                  <a:schemeClr val="tx1"/>
                </a:solidFill>
                <a:effectLst/>
                <a:latin typeface="+mn-lt"/>
                <a:ea typeface="+mn-ea"/>
                <a:cs typeface="+mn-cs"/>
              </a:rPr>
              <a:t>还引入</a:t>
            </a:r>
            <a:r>
              <a:rPr lang="en-US" altLang="zh-CN" sz="1200" b="0" i="0" kern="1200" dirty="0" err="1" smtClean="0">
                <a:solidFill>
                  <a:schemeClr val="tx1"/>
                </a:solidFill>
                <a:effectLst/>
                <a:latin typeface="+mn-lt"/>
                <a:ea typeface="+mn-ea"/>
                <a:cs typeface="+mn-cs"/>
              </a:rPr>
              <a:t>Dropblock</a:t>
            </a:r>
            <a:r>
              <a:rPr lang="zh-CN" altLang="en-US" sz="1200" b="0" i="0" kern="1200" dirty="0" smtClean="0">
                <a:solidFill>
                  <a:schemeClr val="tx1"/>
                </a:solidFill>
                <a:effectLst/>
                <a:latin typeface="+mn-lt"/>
                <a:ea typeface="+mn-ea"/>
                <a:cs typeface="+mn-cs"/>
              </a:rPr>
              <a:t>缓解过拟合问题，作用与</a:t>
            </a:r>
            <a:r>
              <a:rPr lang="en-US" altLang="zh-CN" sz="1200" b="0" i="0" kern="1200" dirty="0" smtClean="0">
                <a:solidFill>
                  <a:schemeClr val="tx1"/>
                </a:solidFill>
                <a:effectLst/>
                <a:latin typeface="+mn-lt"/>
                <a:ea typeface="+mn-ea"/>
                <a:cs typeface="+mn-cs"/>
              </a:rPr>
              <a:t>dropout</a:t>
            </a:r>
            <a:r>
              <a:rPr lang="zh-CN" altLang="en-US" sz="1200" b="0" i="0" kern="1200" dirty="0" smtClean="0">
                <a:solidFill>
                  <a:schemeClr val="tx1"/>
                </a:solidFill>
                <a:effectLst/>
                <a:latin typeface="+mn-lt"/>
                <a:ea typeface="+mn-ea"/>
                <a:cs typeface="+mn-cs"/>
              </a:rPr>
              <a:t>层基本相同。</a:t>
            </a:r>
            <a:r>
              <a:rPr lang="en-US" altLang="zh-CN" sz="1200" b="0" i="0" kern="1200" dirty="0" smtClean="0">
                <a:solidFill>
                  <a:schemeClr val="tx1"/>
                </a:solidFill>
                <a:effectLst/>
                <a:latin typeface="+mn-lt"/>
                <a:ea typeface="+mn-ea"/>
                <a:cs typeface="+mn-cs"/>
              </a:rPr>
              <a:t>Dropout</a:t>
            </a:r>
            <a:r>
              <a:rPr lang="zh-CN" altLang="en-US" sz="1200" b="0" i="0" kern="1200" dirty="0" smtClean="0">
                <a:solidFill>
                  <a:schemeClr val="tx1"/>
                </a:solidFill>
                <a:effectLst/>
                <a:latin typeface="+mn-lt"/>
                <a:ea typeface="+mn-ea"/>
                <a:cs typeface="+mn-cs"/>
              </a:rPr>
              <a:t>使得图像随机位置失活，但这种方式对于</a:t>
            </a:r>
            <a:r>
              <a:rPr lang="en-US" altLang="zh-CN" sz="1200" b="0" i="0" kern="1200" dirty="0" smtClean="0">
                <a:solidFill>
                  <a:schemeClr val="tx1"/>
                </a:solidFill>
                <a:effectLst/>
                <a:latin typeface="+mn-lt"/>
                <a:ea typeface="+mn-ea"/>
                <a:cs typeface="+mn-cs"/>
              </a:rPr>
              <a:t>CNN</a:t>
            </a:r>
            <a:r>
              <a:rPr lang="zh-CN" altLang="en-US" sz="1200" b="0" i="0" kern="1200" dirty="0" smtClean="0">
                <a:solidFill>
                  <a:schemeClr val="tx1"/>
                </a:solidFill>
                <a:effectLst/>
                <a:latin typeface="+mn-lt"/>
                <a:ea typeface="+mn-ea"/>
                <a:cs typeface="+mn-cs"/>
              </a:rPr>
              <a:t>的三层结构（卷积</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激活</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池化）效果并不好。卷积层仍然可以从相邻的激活单元学习到相同的信息，池化层本身就是对相邻单元起作用，对于这种随机丢弃并不敏感。而</a:t>
            </a:r>
            <a:r>
              <a:rPr lang="en-US" altLang="zh-CN" sz="1200" b="0" i="0" kern="1200" dirty="0" err="1" smtClean="0">
                <a:solidFill>
                  <a:schemeClr val="tx1"/>
                </a:solidFill>
                <a:effectLst/>
                <a:latin typeface="+mn-lt"/>
                <a:ea typeface="+mn-ea"/>
                <a:cs typeface="+mn-cs"/>
              </a:rPr>
              <a:t>Dropblock</a:t>
            </a:r>
            <a:r>
              <a:rPr lang="zh-CN" altLang="en-US" sz="1200" b="0" i="0" kern="1200" dirty="0" smtClean="0">
                <a:solidFill>
                  <a:schemeClr val="tx1"/>
                </a:solidFill>
                <a:effectLst/>
                <a:latin typeface="+mn-lt"/>
                <a:ea typeface="+mn-ea"/>
                <a:cs typeface="+mn-cs"/>
              </a:rPr>
              <a:t>则采用将局部区域进行失活，并可以应用到网络中的每一个特征图上，有效缓解过拟合问题。</a:t>
            </a:r>
            <a:endParaRPr lang="en-US" altLang="zh-CN" sz="1200" b="0" i="0" kern="1200" dirty="0" smtClean="0">
              <a:solidFill>
                <a:schemeClr val="tx1"/>
              </a:solidFill>
              <a:effectLst/>
              <a:latin typeface="+mn-lt"/>
              <a:ea typeface="+mn-ea"/>
              <a:cs typeface="+mn-cs"/>
            </a:endParaRPr>
          </a:p>
          <a:p>
            <a:endParaRPr lang="zh-CN" altLang="en-US" sz="1200" b="0" i="0" kern="1200" dirty="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29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8273192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FPN+PAN</a:t>
            </a:r>
            <a:r>
              <a:rPr lang="zh-CN" altLang="en-US" dirty="0" smtClean="0"/>
              <a:t>所谓的</a:t>
            </a:r>
            <a:r>
              <a:rPr lang="en-US" altLang="zh-CN" dirty="0" smtClean="0"/>
              <a:t>FPN</a:t>
            </a:r>
            <a:r>
              <a:rPr lang="zh-CN" altLang="en-US" dirty="0" smtClean="0"/>
              <a:t>，即特征金字塔网络，通过在特征图上面构建金字塔，可以更好的解决目标检测中尺度问题，如左图。</a:t>
            </a:r>
            <a:r>
              <a:rPr lang="en-US" altLang="zh-CN" dirty="0" smtClean="0"/>
              <a:t>PAN</a:t>
            </a:r>
            <a:r>
              <a:rPr lang="zh-CN" altLang="en-US" dirty="0" smtClean="0"/>
              <a:t>则是借鉴了图像分割领域</a:t>
            </a:r>
            <a:r>
              <a:rPr lang="en-US" altLang="zh-CN" dirty="0" err="1" smtClean="0"/>
              <a:t>PANet</a:t>
            </a:r>
            <a:r>
              <a:rPr lang="zh-CN" altLang="en-US" dirty="0" smtClean="0"/>
              <a:t>算法中的创新点，它是一种自底向上的结构，它在</a:t>
            </a:r>
            <a:r>
              <a:rPr lang="en-US" altLang="zh-CN" dirty="0" smtClean="0"/>
              <a:t>FPN</a:t>
            </a:r>
            <a:r>
              <a:rPr lang="zh-CN" altLang="en-US" dirty="0" smtClean="0"/>
              <a:t>的基础上增加了两个</a:t>
            </a:r>
            <a:r>
              <a:rPr lang="en-US" altLang="zh-CN" dirty="0" smtClean="0"/>
              <a:t>PAN</a:t>
            </a:r>
            <a:r>
              <a:rPr lang="zh-CN" altLang="en-US" dirty="0" smtClean="0"/>
              <a:t>结构，如右图中的</a:t>
            </a:r>
            <a:r>
              <a:rPr lang="en-US" altLang="zh-CN" dirty="0" smtClean="0"/>
              <a:t>2</a:t>
            </a:r>
            <a:r>
              <a:rPr lang="zh-CN" altLang="en-US" dirty="0" smtClean="0"/>
              <a:t>和</a:t>
            </a:r>
            <a:r>
              <a:rPr lang="en-US" altLang="zh-CN" dirty="0" smtClean="0"/>
              <a:t>3</a:t>
            </a:r>
            <a:r>
              <a:rPr lang="zh-CN" altLang="en-US" dirty="0" smtClean="0"/>
              <a:t>所示。（</a:t>
            </a:r>
            <a:r>
              <a:rPr lang="en-US" altLang="zh-CN" dirty="0" smtClean="0"/>
              <a:t>1</a:t>
            </a:r>
            <a:r>
              <a:rPr lang="zh-CN" altLang="en-US" dirty="0" smtClean="0"/>
              <a:t>）整个网络的输入图像大小为</a:t>
            </a:r>
            <a:r>
              <a:rPr lang="en-US" altLang="zh-CN" dirty="0" smtClean="0"/>
              <a:t>608*608</a:t>
            </a:r>
            <a:r>
              <a:rPr lang="zh-CN" altLang="en-US" dirty="0" smtClean="0"/>
              <a:t>；然后经过</a:t>
            </a:r>
            <a:r>
              <a:rPr lang="en-US" altLang="zh-CN" dirty="0" smtClean="0"/>
              <a:t>CSP</a:t>
            </a:r>
            <a:r>
              <a:rPr lang="zh-CN" altLang="en-US" dirty="0" smtClean="0"/>
              <a:t>块之后生成一个</a:t>
            </a:r>
            <a:r>
              <a:rPr lang="en-US" altLang="zh-CN" dirty="0" smtClean="0"/>
              <a:t>76*76</a:t>
            </a:r>
            <a:r>
              <a:rPr lang="zh-CN" altLang="en-US" dirty="0" smtClean="0"/>
              <a:t>大小的特征映射，经过下采样操作之后生成</a:t>
            </a:r>
            <a:r>
              <a:rPr lang="en-US" altLang="zh-CN" dirty="0" smtClean="0"/>
              <a:t>38*38</a:t>
            </a:r>
            <a:r>
              <a:rPr lang="zh-CN" altLang="en-US" dirty="0" smtClean="0"/>
              <a:t>的特征映射，经过下采样操作之后生成</a:t>
            </a:r>
            <a:r>
              <a:rPr lang="en-US" altLang="zh-CN" dirty="0" smtClean="0"/>
              <a:t>19*19</a:t>
            </a:r>
            <a:r>
              <a:rPr lang="zh-CN" altLang="en-US" dirty="0" smtClean="0"/>
              <a:t>的特征映射；（</a:t>
            </a:r>
            <a:r>
              <a:rPr lang="en-US" altLang="zh-CN" dirty="0" smtClean="0"/>
              <a:t>2</a:t>
            </a:r>
            <a:r>
              <a:rPr lang="zh-CN" altLang="en-US" dirty="0" smtClean="0"/>
              <a:t>）接着将其传入</a:t>
            </a:r>
            <a:r>
              <a:rPr lang="en-US" altLang="zh-CN" dirty="0" smtClean="0"/>
              <a:t>FPN</a:t>
            </a:r>
            <a:r>
              <a:rPr lang="zh-CN" altLang="en-US" dirty="0" smtClean="0"/>
              <a:t>结构中，依次对</a:t>
            </a:r>
            <a:r>
              <a:rPr lang="en-US" altLang="zh-CN" dirty="0" smtClean="0"/>
              <a:t>19*19</a:t>
            </a:r>
            <a:r>
              <a:rPr lang="zh-CN" altLang="en-US" dirty="0" smtClean="0"/>
              <a:t>、</a:t>
            </a:r>
            <a:r>
              <a:rPr lang="en-US" altLang="zh-CN" dirty="0" smtClean="0"/>
              <a:t>38*38</a:t>
            </a:r>
            <a:r>
              <a:rPr lang="zh-CN" altLang="en-US" dirty="0" smtClean="0"/>
              <a:t>、</a:t>
            </a:r>
            <a:r>
              <a:rPr lang="en-US" altLang="zh-CN" dirty="0" smtClean="0"/>
              <a:t>76*76</a:t>
            </a:r>
            <a:r>
              <a:rPr lang="zh-CN" altLang="en-US" dirty="0" smtClean="0"/>
              <a:t>执行融合操作，即先对比较小的特征映射层执行上采样操作，将其调整成相同大小，然后将两个同等大小的特征映射叠加起来。通过</a:t>
            </a:r>
            <a:r>
              <a:rPr lang="en-US" altLang="zh-CN" dirty="0" smtClean="0"/>
              <a:t>FPN</a:t>
            </a:r>
            <a:r>
              <a:rPr lang="zh-CN" altLang="en-US" dirty="0" smtClean="0"/>
              <a:t>操作可以将</a:t>
            </a:r>
            <a:r>
              <a:rPr lang="en-US" altLang="zh-CN" dirty="0" smtClean="0"/>
              <a:t>19*19</a:t>
            </a:r>
            <a:r>
              <a:rPr lang="zh-CN" altLang="en-US" dirty="0" smtClean="0"/>
              <a:t>大小的特征映射调整为</a:t>
            </a:r>
            <a:r>
              <a:rPr lang="en-US" altLang="zh-CN" dirty="0" smtClean="0"/>
              <a:t>76*76</a:t>
            </a:r>
            <a:r>
              <a:rPr lang="zh-CN" altLang="en-US" dirty="0" smtClean="0"/>
              <a:t>大小，这样不仅提升了特征映射的大小，可以更好的解决检测中尺度 问题，而且增加了网络的深度，提升了网络的鲁棒性。（</a:t>
            </a:r>
            <a:r>
              <a:rPr lang="en-US" altLang="zh-CN" dirty="0" smtClean="0"/>
              <a:t>3</a:t>
            </a:r>
            <a:r>
              <a:rPr lang="zh-CN" altLang="en-US" dirty="0" smtClean="0"/>
              <a:t>）接着将其传入</a:t>
            </a:r>
            <a:r>
              <a:rPr lang="en-US" altLang="zh-CN" dirty="0" smtClean="0"/>
              <a:t>PAN</a:t>
            </a:r>
            <a:r>
              <a:rPr lang="zh-CN" altLang="en-US" dirty="0" smtClean="0"/>
              <a:t>结构中，</a:t>
            </a:r>
            <a:r>
              <a:rPr lang="en-US" altLang="zh-CN" dirty="0" err="1" smtClean="0"/>
              <a:t>PANet</a:t>
            </a:r>
            <a:r>
              <a:rPr lang="zh-CN" altLang="en-US" dirty="0" smtClean="0"/>
              <a:t>网络的</a:t>
            </a:r>
            <a:r>
              <a:rPr lang="en-US" altLang="zh-CN" dirty="0" smtClean="0"/>
              <a:t>PAN</a:t>
            </a:r>
            <a:r>
              <a:rPr lang="zh-CN" altLang="en-US" dirty="0" smtClean="0"/>
              <a:t>结构是将两个相同大小的特征映射执行按位加操作，</a:t>
            </a:r>
            <a:r>
              <a:rPr lang="en-US" altLang="zh-CN" dirty="0" smtClean="0"/>
              <a:t>YOLOv4</a:t>
            </a:r>
            <a:r>
              <a:rPr lang="zh-CN" altLang="en-US" dirty="0" smtClean="0"/>
              <a:t>中使用</a:t>
            </a:r>
            <a:r>
              <a:rPr lang="en-US" altLang="zh-CN" dirty="0" err="1" smtClean="0"/>
              <a:t>Concat</a:t>
            </a:r>
            <a:r>
              <a:rPr lang="zh-CN" altLang="en-US" dirty="0" smtClean="0"/>
              <a:t>操作来代替它。经过两个</a:t>
            </a:r>
            <a:r>
              <a:rPr lang="en-US" altLang="zh-CN" dirty="0" smtClean="0"/>
              <a:t>PAN</a:t>
            </a:r>
            <a:r>
              <a:rPr lang="zh-CN" altLang="en-US" dirty="0" smtClean="0"/>
              <a:t>结构，我们将</a:t>
            </a:r>
            <a:r>
              <a:rPr lang="en-US" altLang="zh-CN" dirty="0" smtClean="0"/>
              <a:t>76*76</a:t>
            </a:r>
            <a:r>
              <a:rPr lang="zh-CN" altLang="en-US" dirty="0" smtClean="0"/>
              <a:t>大小的特征映射重新调整为</a:t>
            </a:r>
            <a:r>
              <a:rPr lang="en-US" altLang="zh-CN" dirty="0" smtClean="0"/>
              <a:t>19*19</a:t>
            </a:r>
            <a:r>
              <a:rPr lang="zh-CN" altLang="en-US" dirty="0" smtClean="0"/>
              <a:t>大小，这样可以在一定程度上提升该算法的目标定位能力。</a:t>
            </a:r>
            <a:r>
              <a:rPr lang="en-US" altLang="zh-CN" dirty="0" smtClean="0"/>
              <a:t>FPN</a:t>
            </a:r>
            <a:r>
              <a:rPr lang="zh-CN" altLang="en-US" dirty="0" smtClean="0"/>
              <a:t>层自顶向下可以捕获强语义特征，而</a:t>
            </a:r>
            <a:r>
              <a:rPr lang="en-US" altLang="zh-CN" dirty="0" smtClean="0"/>
              <a:t>PAF</a:t>
            </a:r>
            <a:r>
              <a:rPr lang="zh-CN" altLang="en-US" dirty="0" smtClean="0"/>
              <a:t>则通过自底向上传达强定位特征，通过组合这两个模块，可以很好的完成目标定位的功能。</a:t>
            </a:r>
            <a:endParaRPr lang="en-US" altLang="zh-CN" dirty="0" smtClean="0"/>
          </a:p>
          <a:p>
            <a:r>
              <a:rPr lang="zh-CN" altLang="en-US" dirty="0" smtClean="0"/>
              <a:t>此外，</a:t>
            </a:r>
            <a:r>
              <a:rPr lang="en-US" altLang="zh-CN" dirty="0" smtClean="0"/>
              <a:t>YOLOv4</a:t>
            </a:r>
            <a:r>
              <a:rPr lang="zh-CN" altLang="en-US" dirty="0" smtClean="0"/>
              <a:t>还有许多小技巧例如主干部分添加</a:t>
            </a:r>
            <a:r>
              <a:rPr lang="en-US" altLang="zh-CN" dirty="0" smtClean="0"/>
              <a:t>SPP-Net</a:t>
            </a:r>
            <a:r>
              <a:rPr lang="zh-CN" altLang="en-US" dirty="0" smtClean="0"/>
              <a:t>，使用</a:t>
            </a:r>
            <a:r>
              <a:rPr lang="en-US" altLang="zh-CN" dirty="0" smtClean="0"/>
              <a:t>Mish</a:t>
            </a:r>
            <a:r>
              <a:rPr lang="zh-CN" altLang="en-US" dirty="0" smtClean="0"/>
              <a:t>激活函数，优化</a:t>
            </a:r>
            <a:r>
              <a:rPr lang="en-US" altLang="zh-CN" dirty="0" err="1" smtClean="0"/>
              <a:t>IoU</a:t>
            </a:r>
            <a:r>
              <a:rPr lang="en-US" altLang="zh-CN" dirty="0" smtClean="0"/>
              <a:t> Loss</a:t>
            </a:r>
            <a:r>
              <a:rPr lang="zh-CN" altLang="en-US" dirty="0" smtClean="0"/>
              <a:t>计算等，这里不再一一赘述。</a:t>
            </a:r>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5491211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mn-lt"/>
                <a:ea typeface="+mn-ea"/>
                <a:cs typeface="+mn-cs"/>
              </a:rPr>
              <a:t>YOLOv5</a:t>
            </a:r>
            <a:r>
              <a:rPr lang="zh-CN" altLang="en-US" sz="1200" b="0" i="0" kern="1200" dirty="0" smtClean="0">
                <a:solidFill>
                  <a:schemeClr val="tx1"/>
                </a:solidFill>
                <a:effectLst/>
                <a:latin typeface="+mn-lt"/>
                <a:ea typeface="+mn-ea"/>
                <a:cs typeface="+mn-cs"/>
              </a:rPr>
              <a:t>在</a:t>
            </a:r>
            <a:r>
              <a:rPr lang="en-US" altLang="zh-CN" sz="1200" b="0" i="0" kern="1200" dirty="0" smtClean="0">
                <a:solidFill>
                  <a:schemeClr val="tx1"/>
                </a:solidFill>
                <a:effectLst/>
                <a:latin typeface="+mn-lt"/>
                <a:ea typeface="+mn-ea"/>
                <a:cs typeface="+mn-cs"/>
              </a:rPr>
              <a:t>YOLOv4</a:t>
            </a:r>
            <a:r>
              <a:rPr lang="zh-CN" altLang="en-US" sz="1200" b="0" i="0" kern="1200" dirty="0" smtClean="0">
                <a:solidFill>
                  <a:schemeClr val="tx1"/>
                </a:solidFill>
                <a:effectLst/>
                <a:latin typeface="+mn-lt"/>
                <a:ea typeface="+mn-ea"/>
                <a:cs typeface="+mn-cs"/>
              </a:rPr>
              <a:t>出来之后没多久就横空出世了。总体来说，</a:t>
            </a:r>
            <a:r>
              <a:rPr lang="en-US" altLang="zh-CN" sz="1200" b="0" i="0" kern="1200" dirty="0" smtClean="0">
                <a:solidFill>
                  <a:schemeClr val="tx1"/>
                </a:solidFill>
                <a:effectLst/>
                <a:latin typeface="+mn-lt"/>
                <a:ea typeface="+mn-ea"/>
                <a:cs typeface="+mn-cs"/>
              </a:rPr>
              <a:t>YOLOv5</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YOLOv4</a:t>
            </a:r>
            <a:r>
              <a:rPr lang="zh-CN" altLang="en-US" sz="1200" b="0" i="0" kern="1200" dirty="0" smtClean="0">
                <a:solidFill>
                  <a:schemeClr val="tx1"/>
                </a:solidFill>
                <a:effectLst/>
                <a:latin typeface="+mn-lt"/>
                <a:ea typeface="+mn-ea"/>
                <a:cs typeface="+mn-cs"/>
              </a:rPr>
              <a:t>差不多，但还是做了一些调整与优化。特点是速度更快，模型更灵活更易部署，但性能上稍弱于</a:t>
            </a:r>
            <a:r>
              <a:rPr lang="en-US" altLang="zh-CN" sz="1200" b="0" i="0" kern="1200" dirty="0" smtClean="0">
                <a:solidFill>
                  <a:schemeClr val="tx1"/>
                </a:solidFill>
                <a:effectLst/>
                <a:latin typeface="+mn-lt"/>
                <a:ea typeface="+mn-ea"/>
                <a:cs typeface="+mn-cs"/>
              </a:rPr>
              <a:t>YOLOv4</a:t>
            </a:r>
            <a:r>
              <a:rPr lang="zh-CN" altLang="en-US" sz="1200" b="0" i="0" kern="1200" dirty="0" smtClean="0">
                <a:solidFill>
                  <a:schemeClr val="tx1"/>
                </a:solidFill>
                <a:effectLst/>
                <a:latin typeface="+mn-lt"/>
                <a:ea typeface="+mn-ea"/>
                <a:cs typeface="+mn-cs"/>
              </a:rPr>
              <a:t>，因此目前仍饱受非议。与之前的</a:t>
            </a:r>
            <a:r>
              <a:rPr lang="en-US" altLang="zh-CN" sz="1200" kern="1200" dirty="0" smtClean="0">
                <a:solidFill>
                  <a:schemeClr val="tx1"/>
                </a:solidFill>
                <a:effectLst/>
                <a:latin typeface="+mn-lt"/>
                <a:ea typeface="+mn-ea"/>
                <a:cs typeface="+mn-cs"/>
              </a:rPr>
              <a:t>YOLOv3</a:t>
            </a:r>
            <a:r>
              <a:rPr lang="zh-CN" altLang="en-US"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YOLOv4</a:t>
            </a:r>
            <a:r>
              <a:rPr lang="zh-CN" altLang="en-US" sz="1200" kern="1200" dirty="0" smtClean="0">
                <a:solidFill>
                  <a:schemeClr val="tx1"/>
                </a:solidFill>
                <a:effectLst/>
                <a:latin typeface="+mn-lt"/>
                <a:ea typeface="+mn-ea"/>
                <a:cs typeface="+mn-cs"/>
              </a:rPr>
              <a:t>不同，</a:t>
            </a:r>
            <a:r>
              <a:rPr lang="en-US" altLang="zh-CN" sz="1200" kern="1200" dirty="0" smtClean="0">
                <a:solidFill>
                  <a:schemeClr val="tx1"/>
                </a:solidFill>
                <a:effectLst/>
                <a:latin typeface="+mn-lt"/>
                <a:ea typeface="+mn-ea"/>
                <a:cs typeface="+mn-cs"/>
              </a:rPr>
              <a:t>v3</a:t>
            </a:r>
            <a:r>
              <a:rPr lang="zh-CN" altLang="en-US"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v4 </a:t>
            </a:r>
            <a:r>
              <a:rPr lang="zh-CN" altLang="en-US" sz="1200" kern="1200" dirty="0" smtClean="0">
                <a:solidFill>
                  <a:schemeClr val="tx1"/>
                </a:solidFill>
                <a:effectLst/>
                <a:latin typeface="+mn-lt"/>
                <a:ea typeface="+mn-ea"/>
                <a:cs typeface="+mn-cs"/>
              </a:rPr>
              <a:t>除了有完整的大模型之外，只有一个轻量级的</a:t>
            </a:r>
            <a:r>
              <a:rPr lang="en-US" altLang="zh-CN" sz="1200" kern="1200" dirty="0" smtClean="0">
                <a:solidFill>
                  <a:schemeClr val="tx1"/>
                </a:solidFill>
                <a:effectLst/>
                <a:latin typeface="+mn-lt"/>
                <a:ea typeface="+mn-ea"/>
                <a:cs typeface="+mn-cs"/>
              </a:rPr>
              <a:t>tiny</a:t>
            </a:r>
            <a:r>
              <a:rPr lang="zh-CN" altLang="en-US" sz="1200" kern="1200" dirty="0" smtClean="0">
                <a:solidFill>
                  <a:schemeClr val="tx1"/>
                </a:solidFill>
                <a:effectLst/>
                <a:latin typeface="+mn-lt"/>
                <a:ea typeface="+mn-ea"/>
                <a:cs typeface="+mn-cs"/>
              </a:rPr>
              <a:t>模型，值得注意的是，在</a:t>
            </a:r>
            <a:r>
              <a:rPr lang="en-US" altLang="zh-CN" sz="1200" kern="1200" dirty="0" smtClean="0">
                <a:solidFill>
                  <a:schemeClr val="tx1"/>
                </a:solidFill>
                <a:effectLst/>
                <a:latin typeface="+mn-lt"/>
                <a:ea typeface="+mn-ea"/>
                <a:cs typeface="+mn-cs"/>
              </a:rPr>
              <a:t>tiny</a:t>
            </a:r>
            <a:r>
              <a:rPr lang="zh-CN" altLang="en-US" sz="1200" kern="1200" dirty="0" smtClean="0">
                <a:solidFill>
                  <a:schemeClr val="tx1"/>
                </a:solidFill>
                <a:effectLst/>
                <a:latin typeface="+mn-lt"/>
                <a:ea typeface="+mn-ea"/>
                <a:cs typeface="+mn-cs"/>
              </a:rPr>
              <a:t>中，只有两个输出层。而</a:t>
            </a:r>
            <a:r>
              <a:rPr lang="en-US" altLang="zh-CN" sz="1200" kern="1200" dirty="0" smtClean="0">
                <a:solidFill>
                  <a:schemeClr val="tx1"/>
                </a:solidFill>
                <a:effectLst/>
                <a:latin typeface="+mn-lt"/>
                <a:ea typeface="+mn-ea"/>
                <a:cs typeface="+mn-cs"/>
              </a:rPr>
              <a:t>YOLOv5</a:t>
            </a:r>
            <a:r>
              <a:rPr lang="zh-CN" altLang="en-US" sz="1200" kern="1200" dirty="0" smtClean="0">
                <a:solidFill>
                  <a:schemeClr val="tx1"/>
                </a:solidFill>
                <a:effectLst/>
                <a:latin typeface="+mn-lt"/>
                <a:ea typeface="+mn-ea"/>
                <a:cs typeface="+mn-cs"/>
              </a:rPr>
              <a:t>则具备四种网络模型：</a:t>
            </a:r>
            <a:r>
              <a:rPr lang="en-US" altLang="zh-CN" sz="1200" kern="1200" dirty="0" smtClean="0">
                <a:solidFill>
                  <a:schemeClr val="tx1"/>
                </a:solidFill>
                <a:effectLst/>
                <a:latin typeface="+mn-lt"/>
                <a:ea typeface="+mn-ea"/>
                <a:cs typeface="+mn-cs"/>
              </a:rPr>
              <a:t>YOLOv5s</a:t>
            </a:r>
            <a:r>
              <a:rPr lang="zh-CN" altLang="en-US"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YOLOv5m</a:t>
            </a:r>
            <a:r>
              <a:rPr lang="zh-CN" altLang="en-US"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YOLOv5l</a:t>
            </a:r>
            <a:r>
              <a:rPr lang="zh-CN" altLang="en-US"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YOLOv5x</a:t>
            </a:r>
            <a:r>
              <a:rPr lang="zh-CN" altLang="en-US" sz="1200" kern="1200" dirty="0" smtClean="0">
                <a:solidFill>
                  <a:schemeClr val="tx1"/>
                </a:solidFill>
                <a:effectLst/>
                <a:latin typeface="+mn-lt"/>
                <a:ea typeface="+mn-ea"/>
                <a:cs typeface="+mn-cs"/>
              </a:rPr>
              <a:t>四种模型。此外，</a:t>
            </a:r>
            <a:r>
              <a:rPr lang="en-US" altLang="zh-CN" sz="1200" kern="1200" dirty="0" smtClean="0">
                <a:solidFill>
                  <a:schemeClr val="tx1"/>
                </a:solidFill>
                <a:effectLst/>
                <a:latin typeface="+mn-lt"/>
                <a:ea typeface="+mn-ea"/>
                <a:cs typeface="+mn-cs"/>
              </a:rPr>
              <a:t>YOLOv5</a:t>
            </a:r>
            <a:r>
              <a:rPr lang="zh-CN" altLang="en-US" sz="1200" kern="1200" dirty="0" smtClean="0">
                <a:solidFill>
                  <a:schemeClr val="tx1"/>
                </a:solidFill>
                <a:effectLst/>
                <a:latin typeface="+mn-lt"/>
                <a:ea typeface="+mn-ea"/>
                <a:cs typeface="+mn-cs"/>
              </a:rPr>
              <a:t>直接使用</a:t>
            </a:r>
            <a:r>
              <a:rPr lang="en-US" altLang="zh-CN" sz="1200" kern="1200" dirty="0" err="1" smtClean="0">
                <a:solidFill>
                  <a:schemeClr val="tx1"/>
                </a:solidFill>
                <a:effectLst/>
                <a:latin typeface="+mn-lt"/>
                <a:ea typeface="+mn-ea"/>
                <a:cs typeface="+mn-cs"/>
              </a:rPr>
              <a:t>Pytorch</a:t>
            </a:r>
            <a:r>
              <a:rPr lang="zh-CN" altLang="en-US" sz="1200" kern="1200" dirty="0" smtClean="0">
                <a:solidFill>
                  <a:schemeClr val="tx1"/>
                </a:solidFill>
                <a:effectLst/>
                <a:latin typeface="+mn-lt"/>
                <a:ea typeface="+mn-ea"/>
                <a:cs typeface="+mn-cs"/>
              </a:rPr>
              <a:t>框架，相对于</a:t>
            </a:r>
            <a:r>
              <a:rPr lang="en-US" altLang="zh-CN" sz="1200" kern="1200" dirty="0" err="1" smtClean="0">
                <a:solidFill>
                  <a:schemeClr val="tx1"/>
                </a:solidFill>
                <a:effectLst/>
                <a:latin typeface="+mn-lt"/>
                <a:ea typeface="+mn-ea"/>
                <a:cs typeface="+mn-cs"/>
              </a:rPr>
              <a:t>Darknet</a:t>
            </a:r>
            <a:r>
              <a:rPr lang="zh-CN" altLang="en-US" sz="1200" kern="1200" dirty="0" smtClean="0">
                <a:solidFill>
                  <a:schemeClr val="tx1"/>
                </a:solidFill>
                <a:effectLst/>
                <a:latin typeface="+mn-lt"/>
                <a:ea typeface="+mn-ea"/>
                <a:cs typeface="+mn-cs"/>
              </a:rPr>
              <a:t>框架更易于投入生产。</a:t>
            </a:r>
            <a:r>
              <a:rPr lang="en-US" altLang="zh-CN" sz="1200" kern="1200" dirty="0" smtClean="0">
                <a:solidFill>
                  <a:schemeClr val="tx1"/>
                </a:solidFill>
                <a:effectLst/>
                <a:latin typeface="+mn-lt"/>
                <a:ea typeface="+mn-ea"/>
                <a:cs typeface="+mn-cs"/>
              </a:rPr>
              <a:t>YOLOv5</a:t>
            </a:r>
            <a:r>
              <a:rPr lang="zh-CN" altLang="en-US" sz="1200" kern="1200" dirty="0" smtClean="0">
                <a:solidFill>
                  <a:schemeClr val="tx1"/>
                </a:solidFill>
                <a:effectLst/>
                <a:latin typeface="+mn-lt"/>
                <a:ea typeface="+mn-ea"/>
                <a:cs typeface="+mn-cs"/>
              </a:rPr>
              <a:t>没有相关的论文，仅有代码文件目前在不断更新。在</a:t>
            </a:r>
            <a:r>
              <a:rPr lang="en-US" altLang="zh-CN" sz="1200" kern="1200" dirty="0" smtClean="0">
                <a:solidFill>
                  <a:schemeClr val="tx1"/>
                </a:solidFill>
                <a:effectLst/>
                <a:latin typeface="+mn-lt"/>
                <a:ea typeface="+mn-ea"/>
                <a:cs typeface="+mn-cs"/>
              </a:rPr>
              <a:t>YOLOv4</a:t>
            </a:r>
            <a:r>
              <a:rPr lang="zh-CN" altLang="en-US" sz="1200" kern="1200" dirty="0" smtClean="0">
                <a:solidFill>
                  <a:schemeClr val="tx1"/>
                </a:solidFill>
                <a:effectLst/>
                <a:latin typeface="+mn-lt"/>
                <a:ea typeface="+mn-ea"/>
                <a:cs typeface="+mn-cs"/>
              </a:rPr>
              <a:t>的基础上，主要有以下改进：</a:t>
            </a:r>
            <a:endParaRPr lang="en-US" altLang="zh-CN" sz="1200" kern="1200" dirty="0" smtClean="0">
              <a:solidFill>
                <a:schemeClr val="tx1"/>
              </a:solidFill>
              <a:effectLst/>
              <a:latin typeface="+mn-lt"/>
              <a:ea typeface="+mn-ea"/>
              <a:cs typeface="+mn-cs"/>
            </a:endParaRPr>
          </a:p>
          <a:p>
            <a:pPr marL="800100" lvl="1" indent="-342900">
              <a:buFont typeface="+mj-lt"/>
              <a:buAutoNum type="arabicPeriod"/>
            </a:pPr>
            <a:r>
              <a:rPr lang="zh-CN" altLang="en-US" dirty="0" smtClean="0"/>
              <a:t>自适应锚框计算</a:t>
            </a:r>
            <a:endParaRPr lang="en-US" altLang="zh-CN" dirty="0" smtClean="0"/>
          </a:p>
          <a:p>
            <a:pPr marL="800100" lvl="1" indent="-342900">
              <a:buFont typeface="+mj-lt"/>
              <a:buAutoNum type="arabicPeriod"/>
            </a:pPr>
            <a:r>
              <a:rPr lang="zh-CN" altLang="en-US" dirty="0" smtClean="0"/>
              <a:t>自适应图片缩放</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8835486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smtClean="0">
                <a:solidFill>
                  <a:schemeClr val="tx1"/>
                </a:solidFill>
                <a:effectLst/>
                <a:latin typeface="+mn-lt"/>
                <a:ea typeface="+mn-ea"/>
                <a:cs typeface="+mn-cs"/>
              </a:rPr>
              <a:t>像之前的 </a:t>
            </a:r>
            <a:r>
              <a:rPr lang="en-US" altLang="zh-CN" sz="1200" kern="1200" dirty="0" smtClean="0">
                <a:solidFill>
                  <a:schemeClr val="tx1"/>
                </a:solidFill>
                <a:effectLst/>
                <a:latin typeface="+mn-lt"/>
                <a:ea typeface="+mn-ea"/>
                <a:cs typeface="+mn-cs"/>
              </a:rPr>
              <a:t>YOLOv3</a:t>
            </a:r>
            <a:r>
              <a:rPr lang="zh-CN" altLang="en-US"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YOLOv4</a:t>
            </a:r>
            <a:r>
              <a:rPr lang="zh-CN" altLang="en-US" sz="1200" kern="1200" dirty="0" smtClean="0">
                <a:solidFill>
                  <a:schemeClr val="tx1"/>
                </a:solidFill>
                <a:effectLst/>
                <a:latin typeface="+mn-lt"/>
                <a:ea typeface="+mn-ea"/>
                <a:cs typeface="+mn-cs"/>
              </a:rPr>
              <a:t>，对于不同的数据集，都会计算先验框 </a:t>
            </a:r>
            <a:r>
              <a:rPr lang="en-US" altLang="zh-CN" sz="1200" kern="1200" dirty="0" smtClean="0">
                <a:solidFill>
                  <a:schemeClr val="tx1"/>
                </a:solidFill>
                <a:effectLst/>
                <a:latin typeface="+mn-lt"/>
                <a:ea typeface="+mn-ea"/>
                <a:cs typeface="+mn-cs"/>
              </a:rPr>
              <a:t>anchor</a:t>
            </a:r>
            <a:r>
              <a:rPr lang="zh-CN" altLang="en-US" sz="1200" kern="1200" dirty="0" smtClean="0">
                <a:solidFill>
                  <a:schemeClr val="tx1"/>
                </a:solidFill>
                <a:effectLst/>
                <a:latin typeface="+mn-lt"/>
                <a:ea typeface="+mn-ea"/>
                <a:cs typeface="+mn-cs"/>
              </a:rPr>
              <a:t>。然后在网络训练时，网络会在 </a:t>
            </a:r>
            <a:r>
              <a:rPr lang="en-US" altLang="zh-CN" sz="1200" kern="1200" dirty="0" smtClean="0">
                <a:solidFill>
                  <a:schemeClr val="tx1"/>
                </a:solidFill>
                <a:effectLst/>
                <a:latin typeface="+mn-lt"/>
                <a:ea typeface="+mn-ea"/>
                <a:cs typeface="+mn-cs"/>
              </a:rPr>
              <a:t>anchor </a:t>
            </a:r>
            <a:r>
              <a:rPr lang="zh-CN" altLang="en-US" sz="1200" kern="1200" dirty="0" smtClean="0">
                <a:solidFill>
                  <a:schemeClr val="tx1"/>
                </a:solidFill>
                <a:effectLst/>
                <a:latin typeface="+mn-lt"/>
                <a:ea typeface="+mn-ea"/>
                <a:cs typeface="+mn-cs"/>
              </a:rPr>
              <a:t>的基础上进行预测，然后输出预测框，再和标签框进行对比，最后就进行梯度地反向传播。</a:t>
            </a:r>
          </a:p>
          <a:p>
            <a:r>
              <a:rPr lang="zh-CN" altLang="en-US" sz="1200" kern="1200" dirty="0" smtClean="0">
                <a:solidFill>
                  <a:schemeClr val="tx1"/>
                </a:solidFill>
                <a:effectLst/>
                <a:latin typeface="+mn-lt"/>
                <a:ea typeface="+mn-ea"/>
                <a:cs typeface="+mn-cs"/>
              </a:rPr>
              <a:t>在 </a:t>
            </a:r>
            <a:r>
              <a:rPr lang="en-US" altLang="zh-CN" sz="1200" kern="1200" dirty="0" smtClean="0">
                <a:solidFill>
                  <a:schemeClr val="tx1"/>
                </a:solidFill>
                <a:effectLst/>
                <a:latin typeface="+mn-lt"/>
                <a:ea typeface="+mn-ea"/>
                <a:cs typeface="+mn-cs"/>
              </a:rPr>
              <a:t>YOLOv3</a:t>
            </a:r>
            <a:r>
              <a:rPr lang="zh-CN" altLang="en-US"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YOLOv4 </a:t>
            </a:r>
            <a:r>
              <a:rPr lang="zh-CN" altLang="en-US" sz="1200" kern="1200" dirty="0" smtClean="0">
                <a:solidFill>
                  <a:schemeClr val="tx1"/>
                </a:solidFill>
                <a:effectLst/>
                <a:latin typeface="+mn-lt"/>
                <a:ea typeface="+mn-ea"/>
                <a:cs typeface="+mn-cs"/>
              </a:rPr>
              <a:t>中，训练不同的数据集时，是使用单独的脚本进行初始锚框的计算，在 </a:t>
            </a:r>
            <a:r>
              <a:rPr lang="en-US" altLang="zh-CN" sz="1200" kern="1200" dirty="0" smtClean="0">
                <a:solidFill>
                  <a:schemeClr val="tx1"/>
                </a:solidFill>
                <a:effectLst/>
                <a:latin typeface="+mn-lt"/>
                <a:ea typeface="+mn-ea"/>
                <a:cs typeface="+mn-cs"/>
              </a:rPr>
              <a:t>YOLOv5 </a:t>
            </a:r>
            <a:r>
              <a:rPr lang="zh-CN" altLang="en-US" sz="1200" kern="1200" dirty="0" smtClean="0">
                <a:solidFill>
                  <a:schemeClr val="tx1"/>
                </a:solidFill>
                <a:effectLst/>
                <a:latin typeface="+mn-lt"/>
                <a:ea typeface="+mn-ea"/>
                <a:cs typeface="+mn-cs"/>
              </a:rPr>
              <a:t>中，则是将此功能嵌入到整个训练代码里中。所以在每次训练开始之前，它都会根据不同的数据集来自适应计算 </a:t>
            </a:r>
            <a:r>
              <a:rPr lang="en-US" altLang="zh-CN" sz="1200" kern="1200" dirty="0" smtClean="0">
                <a:solidFill>
                  <a:schemeClr val="tx1"/>
                </a:solidFill>
                <a:effectLst/>
                <a:latin typeface="+mn-lt"/>
                <a:ea typeface="+mn-ea"/>
                <a:cs typeface="+mn-cs"/>
              </a:rPr>
              <a:t>anchor</a:t>
            </a:r>
            <a:r>
              <a:rPr lang="zh-CN" altLang="en-US"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r>
              <a:rPr lang="zh-CN" altLang="en-US" sz="1200" kern="1200" dirty="0" smtClean="0">
                <a:solidFill>
                  <a:schemeClr val="tx1"/>
                </a:solidFill>
                <a:effectLst/>
                <a:latin typeface="+mn-lt"/>
                <a:ea typeface="+mn-ea"/>
                <a:cs typeface="+mn-cs"/>
              </a:rPr>
              <a:t>原始的缩放方法存在着一些问题，实际的使用中的很多图片的长宽比不同，因此缩放填充之后，两端的黑边大小都不相同。</a:t>
            </a:r>
            <a:r>
              <a:rPr lang="en-US" altLang="zh-CN" sz="1200" kern="1200" dirty="0" smtClean="0">
                <a:solidFill>
                  <a:schemeClr val="tx1"/>
                </a:solidFill>
                <a:effectLst/>
                <a:latin typeface="+mn-lt"/>
                <a:ea typeface="+mn-ea"/>
                <a:cs typeface="+mn-cs"/>
              </a:rPr>
              <a:t>YOLOv5</a:t>
            </a:r>
            <a:r>
              <a:rPr lang="zh-CN" altLang="en-US" sz="1200" kern="1200" dirty="0" smtClean="0">
                <a:solidFill>
                  <a:schemeClr val="tx1"/>
                </a:solidFill>
                <a:effectLst/>
                <a:latin typeface="+mn-lt"/>
                <a:ea typeface="+mn-ea"/>
                <a:cs typeface="+mn-cs"/>
              </a:rPr>
              <a:t>提出一种方法，能够自适应添加最少的黑边到缩放之后的图片中，从而极大提升算法的推理速度。</a:t>
            </a:r>
            <a:endParaRPr lang="en-US" altLang="zh-CN" sz="1200" kern="1200" dirty="0" smtClean="0">
              <a:solidFill>
                <a:schemeClr val="tx1"/>
              </a:solidFill>
              <a:effectLst/>
              <a:latin typeface="+mn-lt"/>
              <a:ea typeface="+mn-ea"/>
              <a:cs typeface="+mn-cs"/>
            </a:endParaRPr>
          </a:p>
          <a:p>
            <a:r>
              <a:rPr lang="zh-CN" altLang="en-US" sz="1200" kern="1200" dirty="0" smtClean="0">
                <a:solidFill>
                  <a:schemeClr val="tx1"/>
                </a:solidFill>
                <a:effectLst/>
                <a:latin typeface="+mn-lt"/>
                <a:ea typeface="+mn-ea"/>
                <a:cs typeface="+mn-cs"/>
              </a:rPr>
              <a:t>步骤一：</a:t>
            </a:r>
            <a:r>
              <a:rPr lang="zh-CN" altLang="en-US" dirty="0" smtClean="0"/>
              <a:t>根据原始图片大小与输入到网络图片大小计算缩放比例</a:t>
            </a:r>
            <a:endParaRPr lang="en-US" altLang="zh-CN" dirty="0" smtClean="0"/>
          </a:p>
          <a:p>
            <a:r>
              <a:rPr lang="zh-CN" altLang="en-US" dirty="0" smtClean="0"/>
              <a:t>步骤二：根据原始图片大小与缩放比例计算缩放后的图片大小</a:t>
            </a:r>
            <a:endParaRPr lang="en-US" altLang="zh-CN" dirty="0" smtClean="0"/>
          </a:p>
          <a:p>
            <a:r>
              <a:rPr lang="zh-CN" altLang="en-US" dirty="0" smtClean="0"/>
              <a:t>步骤三：计算黑边填充数值。</a:t>
            </a:r>
            <a:endParaRPr lang="en-US" altLang="zh-CN" sz="1200" kern="1200" dirty="0" smtClean="0">
              <a:solidFill>
                <a:schemeClr val="tx1"/>
              </a:solidFill>
              <a:effectLst/>
              <a:latin typeface="+mn-lt"/>
              <a:ea typeface="+mn-ea"/>
              <a:cs typeface="+mn-cs"/>
            </a:endParaRPr>
          </a:p>
          <a:p>
            <a:r>
              <a:rPr lang="zh-CN" altLang="en-US" sz="1200" kern="1200" dirty="0" smtClean="0">
                <a:solidFill>
                  <a:schemeClr val="tx1"/>
                </a:solidFill>
                <a:effectLst/>
                <a:latin typeface="+mn-lt"/>
                <a:ea typeface="+mn-ea"/>
                <a:cs typeface="+mn-cs"/>
              </a:rPr>
              <a:t>需要注意的是，该操作仅在模型推理阶段执行，模型训练阶段仍然和传统的方法相同，将原始图片裁剪到</a:t>
            </a:r>
            <a:r>
              <a:rPr lang="en-US" altLang="zh-CN" sz="1200" kern="1200" dirty="0" smtClean="0">
                <a:solidFill>
                  <a:schemeClr val="tx1"/>
                </a:solidFill>
                <a:effectLst/>
                <a:latin typeface="+mn-lt"/>
                <a:ea typeface="+mn-ea"/>
                <a:cs typeface="+mn-cs"/>
              </a:rPr>
              <a:t>416*416</a:t>
            </a:r>
            <a:r>
              <a:rPr lang="zh-CN" altLang="en-US" sz="1200" kern="1200" dirty="0" smtClean="0">
                <a:solidFill>
                  <a:schemeClr val="tx1"/>
                </a:solidFill>
                <a:effectLst/>
                <a:latin typeface="+mn-lt"/>
                <a:ea typeface="+mn-ea"/>
                <a:cs typeface="+mn-cs"/>
              </a:rPr>
              <a:t>大小；</a:t>
            </a:r>
            <a:r>
              <a:rPr lang="en-US" altLang="zh-CN" sz="1200" kern="1200" dirty="0" smtClean="0">
                <a:solidFill>
                  <a:schemeClr val="tx1"/>
                </a:solidFill>
                <a:effectLst/>
                <a:latin typeface="+mn-lt"/>
                <a:ea typeface="+mn-ea"/>
                <a:cs typeface="+mn-cs"/>
              </a:rPr>
              <a:t>(2)YOLOv3</a:t>
            </a:r>
            <a:r>
              <a:rPr lang="zh-CN" altLang="en-US" sz="1200" kern="1200" dirty="0" smtClean="0">
                <a:solidFill>
                  <a:schemeClr val="tx1"/>
                </a:solidFill>
                <a:effectLst/>
                <a:latin typeface="+mn-lt"/>
                <a:ea typeface="+mn-ea"/>
                <a:cs typeface="+mn-cs"/>
              </a:rPr>
              <a:t>与</a:t>
            </a:r>
            <a:r>
              <a:rPr lang="en-US" altLang="zh-CN" sz="1200" kern="1200" dirty="0" smtClean="0">
                <a:solidFill>
                  <a:schemeClr val="tx1"/>
                </a:solidFill>
                <a:effectLst/>
                <a:latin typeface="+mn-lt"/>
                <a:ea typeface="+mn-ea"/>
                <a:cs typeface="+mn-cs"/>
              </a:rPr>
              <a:t>YOLOv4</a:t>
            </a:r>
            <a:r>
              <a:rPr lang="zh-CN" altLang="en-US" sz="1200" kern="1200" dirty="0" smtClean="0">
                <a:solidFill>
                  <a:schemeClr val="tx1"/>
                </a:solidFill>
                <a:effectLst/>
                <a:latin typeface="+mn-lt"/>
                <a:ea typeface="+mn-ea"/>
                <a:cs typeface="+mn-cs"/>
              </a:rPr>
              <a:t>中默认填充的数值是</a:t>
            </a:r>
            <a:r>
              <a:rPr lang="en-US" altLang="zh-CN" sz="1200" kern="1200" dirty="0" smtClean="0">
                <a:solidFill>
                  <a:schemeClr val="tx1"/>
                </a:solidFill>
                <a:effectLst/>
                <a:latin typeface="+mn-lt"/>
                <a:ea typeface="+mn-ea"/>
                <a:cs typeface="+mn-cs"/>
              </a:rPr>
              <a:t>(0,0,0)</a:t>
            </a:r>
            <a:r>
              <a:rPr lang="zh-CN" altLang="en-US" sz="1200" kern="1200" dirty="0" smtClean="0">
                <a:solidFill>
                  <a:schemeClr val="tx1"/>
                </a:solidFill>
                <a:effectLst/>
                <a:latin typeface="+mn-lt"/>
                <a:ea typeface="+mn-ea"/>
                <a:cs typeface="+mn-cs"/>
              </a:rPr>
              <a:t>，而</a:t>
            </a:r>
            <a:r>
              <a:rPr lang="en-US" altLang="zh-CN" sz="1200" kern="1200" dirty="0" smtClean="0">
                <a:solidFill>
                  <a:schemeClr val="tx1"/>
                </a:solidFill>
                <a:effectLst/>
                <a:latin typeface="+mn-lt"/>
                <a:ea typeface="+mn-ea"/>
                <a:cs typeface="+mn-cs"/>
              </a:rPr>
              <a:t>YOLOv5</a:t>
            </a:r>
            <a:r>
              <a:rPr lang="zh-CN" altLang="en-US" sz="1200" kern="1200" dirty="0" smtClean="0">
                <a:solidFill>
                  <a:schemeClr val="tx1"/>
                </a:solidFill>
                <a:effectLst/>
                <a:latin typeface="+mn-lt"/>
                <a:ea typeface="+mn-ea"/>
                <a:cs typeface="+mn-cs"/>
              </a:rPr>
              <a:t>中默认填充的数值是</a:t>
            </a:r>
            <a:r>
              <a:rPr lang="en-US" altLang="zh-CN" sz="1200" kern="1200" dirty="0" smtClean="0">
                <a:solidFill>
                  <a:schemeClr val="tx1"/>
                </a:solidFill>
                <a:effectLst/>
                <a:latin typeface="+mn-lt"/>
                <a:ea typeface="+mn-ea"/>
                <a:cs typeface="+mn-cs"/>
              </a:rPr>
              <a:t>(114,114,114)</a:t>
            </a:r>
            <a:r>
              <a:rPr lang="zh-CN" altLang="en-US"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3</a:t>
            </a:r>
            <a:r>
              <a:rPr lang="zh-CN" altLang="en-US" sz="1200" kern="1200" dirty="0" smtClean="0">
                <a:solidFill>
                  <a:schemeClr val="tx1"/>
                </a:solidFill>
                <a:effectLst/>
                <a:latin typeface="+mn-lt"/>
                <a:ea typeface="+mn-ea"/>
                <a:cs typeface="+mn-cs"/>
              </a:rPr>
              <a:t>）该操作仅仅针对原始图片的短边而言，仍然将长边裁剪到</a:t>
            </a:r>
            <a:r>
              <a:rPr lang="en-US" altLang="zh-CN" sz="1200" kern="1200" dirty="0" smtClean="0">
                <a:solidFill>
                  <a:schemeClr val="tx1"/>
                </a:solidFill>
                <a:effectLst/>
                <a:latin typeface="+mn-lt"/>
                <a:ea typeface="+mn-ea"/>
                <a:cs typeface="+mn-cs"/>
              </a:rPr>
              <a:t>416</a:t>
            </a:r>
            <a:r>
              <a:rPr lang="zh-CN" altLang="en-US" sz="1200" kern="1200" dirty="0" smtClean="0">
                <a:solidFill>
                  <a:schemeClr val="tx1"/>
                </a:solidFill>
                <a:effectLst/>
                <a:latin typeface="+mn-lt"/>
                <a:ea typeface="+mn-ea"/>
                <a:cs typeface="+mn-cs"/>
              </a:rPr>
              <a:t>。</a:t>
            </a:r>
          </a:p>
          <a:p>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1669263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SSD(Single</a:t>
            </a:r>
            <a:r>
              <a:rPr lang="en-US" altLang="zh-CN" baseline="0" dirty="0" smtClean="0"/>
              <a:t> Shot Detector</a:t>
            </a:r>
            <a:r>
              <a:rPr lang="en-US" altLang="zh-CN" dirty="0" smtClean="0"/>
              <a:t>)</a:t>
            </a:r>
            <a:r>
              <a:rPr lang="zh-CN" altLang="en-US" dirty="0" smtClean="0"/>
              <a:t>也是一种重要的一阶段检测算法，如图所示，其核心思想是在特征图的每个位置上，预设固定的一系列默认框</a:t>
            </a:r>
            <a:r>
              <a:rPr lang="en-US" altLang="zh-CN" dirty="0" smtClean="0"/>
              <a:t>(default box)</a:t>
            </a:r>
            <a:r>
              <a:rPr lang="zh-CN" altLang="en-US" dirty="0" smtClean="0"/>
              <a:t>，这些默认框类似于</a:t>
            </a:r>
            <a:r>
              <a:rPr lang="en-US" altLang="zh-CN" dirty="0" smtClean="0"/>
              <a:t>Faster R-CNN</a:t>
            </a:r>
            <a:r>
              <a:rPr lang="zh-CN" altLang="en-US" dirty="0" smtClean="0"/>
              <a:t>的锚，我们亦可以称其为锚。</a:t>
            </a:r>
            <a:r>
              <a:rPr lang="en-US" altLang="zh-CN" dirty="0" smtClean="0"/>
              <a:t>SSD</a:t>
            </a:r>
            <a:r>
              <a:rPr lang="zh-CN" altLang="en-US" dirty="0" smtClean="0"/>
              <a:t>算法使用小尺寸的卷积网络在特征图上滑窗，对于每个位置的各个锚，分别回归目标类型的概率以及目标框相对于锚的位置偏移量和缩放尺度。</a:t>
            </a:r>
            <a:r>
              <a:rPr lang="en-US" altLang="zh-CN" dirty="0" smtClean="0"/>
              <a:t>SSD</a:t>
            </a:r>
            <a:r>
              <a:rPr lang="zh-CN" altLang="en-US" dirty="0" smtClean="0"/>
              <a:t>算法的一个显著特点是，基于不同尺度的特征图进行预测，有效提升了算法对不同尺度目标的检测能力。这和之前</a:t>
            </a:r>
            <a:r>
              <a:rPr lang="en-US" altLang="zh-CN" dirty="0" smtClean="0"/>
              <a:t>YOLOv3</a:t>
            </a:r>
            <a:r>
              <a:rPr lang="zh-CN" altLang="en-US" dirty="0" smtClean="0"/>
              <a:t>中使用的先验框思路相同。同样的，大特征图有小的感受野检测小对象，小特征图有大的感受野检测大对象，如图所示。</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6924350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dirty="0" smtClean="0"/>
              <a:t>SSD</a:t>
            </a:r>
            <a:r>
              <a:rPr lang="zh-CN" altLang="en-US" dirty="0" smtClean="0"/>
              <a:t>算法的网络模型包括两大部分</a:t>
            </a:r>
            <a:r>
              <a:rPr lang="en-US" altLang="zh-CN" dirty="0" smtClean="0"/>
              <a:t>:</a:t>
            </a:r>
            <a:r>
              <a:rPr lang="zh-CN" altLang="en-US" dirty="0" smtClean="0"/>
              <a:t>一部分是基础骨架</a:t>
            </a:r>
            <a:r>
              <a:rPr lang="en-US" altLang="zh-CN" dirty="0" smtClean="0"/>
              <a:t>,</a:t>
            </a:r>
            <a:r>
              <a:rPr lang="zh-CN" altLang="en-US" dirty="0" smtClean="0"/>
              <a:t>用于生成一系列不同尺寸的特征图，这些特征图由浅层到深层尺寸逐渐变小</a:t>
            </a:r>
            <a:r>
              <a:rPr lang="en-US" altLang="zh-CN" dirty="0" smtClean="0"/>
              <a:t>,</a:t>
            </a:r>
            <a:r>
              <a:rPr lang="zh-CN" altLang="en-US" dirty="0" smtClean="0"/>
              <a:t>另一部分是一系列在不同尺寸特征图上滑窗的卷积网络，用于回归特征图上每个位置各个锚对应的目标类型概率以及目标框相对于锚的位置偏移量和缩放尺度。</a:t>
            </a:r>
          </a:p>
          <a:p>
            <a:r>
              <a:rPr lang="zh-CN" altLang="en-US" dirty="0" smtClean="0"/>
              <a:t>对于一个尺寸为</a:t>
            </a:r>
            <a:r>
              <a:rPr lang="en-US" altLang="zh-CN" dirty="0" err="1" smtClean="0"/>
              <a:t>m×n</a:t>
            </a:r>
            <a:r>
              <a:rPr lang="en-US" altLang="zh-CN" dirty="0" smtClean="0"/>
              <a:t>,</a:t>
            </a:r>
            <a:r>
              <a:rPr lang="zh-CN" altLang="en-US" dirty="0" smtClean="0"/>
              <a:t>通道数为</a:t>
            </a:r>
            <a:r>
              <a:rPr lang="en-US" altLang="zh-CN" dirty="0" smtClean="0"/>
              <a:t>p</a:t>
            </a:r>
            <a:r>
              <a:rPr lang="zh-CN" altLang="en-US" dirty="0" smtClean="0"/>
              <a:t>的特征图，通常使用一个尺寸为</a:t>
            </a:r>
            <a:r>
              <a:rPr lang="en-US" altLang="zh-CN" dirty="0" smtClean="0"/>
              <a:t>3×3</a:t>
            </a:r>
            <a:r>
              <a:rPr lang="zh-CN" altLang="en-US" dirty="0" smtClean="0"/>
              <a:t>，通道数为</a:t>
            </a:r>
            <a:r>
              <a:rPr lang="en-US" altLang="zh-CN" dirty="0" smtClean="0"/>
              <a:t>p</a:t>
            </a:r>
            <a:r>
              <a:rPr lang="zh-CN" altLang="en-US" dirty="0" smtClean="0"/>
              <a:t>的小卷积核</a:t>
            </a:r>
            <a:r>
              <a:rPr lang="en-US" altLang="zh-CN" dirty="0" smtClean="0"/>
              <a:t>,</a:t>
            </a:r>
            <a:r>
              <a:rPr lang="zh-CN" altLang="en-US" dirty="0" smtClean="0"/>
              <a:t>这个小卷积核被应用于特征图的</a:t>
            </a:r>
            <a:r>
              <a:rPr lang="en-US" altLang="zh-CN" dirty="0" err="1" smtClean="0"/>
              <a:t>m×n</a:t>
            </a:r>
            <a:r>
              <a:rPr lang="zh-CN" altLang="en-US" dirty="0" smtClean="0"/>
              <a:t>个</a:t>
            </a:r>
          </a:p>
          <a:p>
            <a:r>
              <a:rPr lang="zh-CN" altLang="en-US" dirty="0" smtClean="0"/>
              <a:t>位置上。每个位置对应</a:t>
            </a:r>
            <a:r>
              <a:rPr lang="en-US" altLang="zh-CN" dirty="0" smtClean="0"/>
              <a:t>k</a:t>
            </a:r>
            <a:r>
              <a:rPr lang="zh-CN" altLang="en-US" dirty="0" smtClean="0"/>
              <a:t>个锚</a:t>
            </a:r>
            <a:r>
              <a:rPr lang="en-US" altLang="zh-CN" dirty="0" smtClean="0"/>
              <a:t>,</a:t>
            </a:r>
            <a:r>
              <a:rPr lang="zh-CN" altLang="en-US" dirty="0" smtClean="0"/>
              <a:t>回归的目标类型的概率以及目标框的偏移量和缩放尺度，都是相对于当前锚而言的。假设共有</a:t>
            </a:r>
            <a:r>
              <a:rPr lang="en-US" altLang="zh-CN" dirty="0" smtClean="0"/>
              <a:t>c</a:t>
            </a:r>
            <a:r>
              <a:rPr lang="zh-CN" altLang="en-US" dirty="0" smtClean="0"/>
              <a:t>个目标类别</a:t>
            </a:r>
            <a:r>
              <a:rPr lang="en-US" altLang="zh-CN" dirty="0" smtClean="0"/>
              <a:t>(</a:t>
            </a:r>
            <a:r>
              <a:rPr lang="zh-CN" altLang="en-US" dirty="0" smtClean="0"/>
              <a:t>含背景类</a:t>
            </a:r>
            <a:r>
              <a:rPr lang="en-US" altLang="zh-CN" dirty="0" smtClean="0"/>
              <a:t>),</a:t>
            </a:r>
            <a:r>
              <a:rPr lang="zh-CN" altLang="en-US" dirty="0" smtClean="0"/>
              <a:t>则每个锚需要回归</a:t>
            </a:r>
            <a:r>
              <a:rPr lang="en-US" altLang="zh-CN" dirty="0" smtClean="0"/>
              <a:t>c</a:t>
            </a:r>
            <a:r>
              <a:rPr lang="zh-CN" altLang="en-US" dirty="0" smtClean="0"/>
              <a:t>个概率值以及水平方向、垂直方向的偏移量和缩放因子，合计</a:t>
            </a:r>
            <a:r>
              <a:rPr lang="en-US" altLang="zh-CN" dirty="0" smtClean="0"/>
              <a:t>(c+4</a:t>
            </a:r>
            <a:r>
              <a:rPr lang="zh-CN" altLang="en-US" dirty="0" smtClean="0"/>
              <a:t>）</a:t>
            </a:r>
            <a:r>
              <a:rPr lang="en-US" altLang="zh-CN" dirty="0" smtClean="0"/>
              <a:t>×k</a:t>
            </a:r>
            <a:r>
              <a:rPr lang="zh-CN" altLang="en-US" dirty="0" smtClean="0"/>
              <a:t>个参数</a:t>
            </a:r>
            <a:r>
              <a:rPr lang="en-US" altLang="zh-CN" dirty="0" smtClean="0"/>
              <a:t>,</a:t>
            </a:r>
            <a:r>
              <a:rPr lang="zh-CN" altLang="en-US" dirty="0" smtClean="0"/>
              <a:t>对于整个</a:t>
            </a:r>
            <a:r>
              <a:rPr lang="en-US" altLang="zh-CN" dirty="0" err="1" smtClean="0"/>
              <a:t>m×n</a:t>
            </a:r>
            <a:r>
              <a:rPr lang="zh-CN" altLang="en-US" dirty="0" smtClean="0"/>
              <a:t>的特征图，需要回归（</a:t>
            </a:r>
            <a:r>
              <a:rPr lang="en-US" altLang="zh-CN" dirty="0" smtClean="0"/>
              <a:t>c+4) ×</a:t>
            </a:r>
            <a:r>
              <a:rPr lang="en-US" altLang="zh-CN" dirty="0" err="1" smtClean="0"/>
              <a:t>k×m×n</a:t>
            </a:r>
            <a:r>
              <a:rPr lang="zh-CN" altLang="en-US" dirty="0" smtClean="0"/>
              <a:t>个参数。</a:t>
            </a:r>
            <a:r>
              <a:rPr lang="en-US" altLang="zh-CN" dirty="0" smtClean="0"/>
              <a:t>SSD</a:t>
            </a:r>
            <a:r>
              <a:rPr lang="zh-CN" altLang="en-US" dirty="0" smtClean="0"/>
              <a:t>算法的锚和</a:t>
            </a:r>
            <a:r>
              <a:rPr lang="en-US" altLang="zh-CN" dirty="0" smtClean="0"/>
              <a:t>Faster R-CNN</a:t>
            </a:r>
            <a:r>
              <a:rPr lang="zh-CN" altLang="en-US" dirty="0" smtClean="0"/>
              <a:t>类似，都是在一个位置取若干尺度、横纵比的预设框，区别在于</a:t>
            </a:r>
            <a:r>
              <a:rPr lang="en-US" altLang="zh-CN" dirty="0" smtClean="0"/>
              <a:t>SSD</a:t>
            </a:r>
            <a:r>
              <a:rPr lang="zh-CN" altLang="en-US" dirty="0" smtClean="0"/>
              <a:t>的锚分布在不同层次的特征图上，覆盖了更多的尺度。</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0785202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SSD</a:t>
            </a:r>
            <a:r>
              <a:rPr lang="zh-CN" altLang="en-US" dirty="0" smtClean="0"/>
              <a:t>大致网络架构如图所示。这里的基础网络使用的是</a:t>
            </a:r>
            <a:r>
              <a:rPr lang="en-US" altLang="zh-CN" dirty="0" smtClean="0"/>
              <a:t>VGG-16</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36</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8751966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en-US" altLang="zh-CN" dirty="0" smtClean="0"/>
                  <a:t>SSD</a:t>
                </a:r>
                <a:r>
                  <a:rPr lang="zh-CN" altLang="en-US" dirty="0" smtClean="0"/>
                  <a:t>算法的训练过程和之前介绍的基于候选框（</a:t>
                </a:r>
                <a:r>
                  <a:rPr lang="en-US" altLang="zh-CN" dirty="0" smtClean="0"/>
                  <a:t>region proposal</a:t>
                </a:r>
                <a:r>
                  <a:rPr lang="zh-CN" altLang="en-US" dirty="0" smtClean="0"/>
                  <a:t>）算法的训练过程有一个关键区别，即</a:t>
                </a:r>
                <a:r>
                  <a:rPr lang="en-US" altLang="zh-CN" dirty="0" smtClean="0"/>
                  <a:t>SSD</a:t>
                </a:r>
                <a:r>
                  <a:rPr lang="zh-CN" altLang="en-US" dirty="0" smtClean="0"/>
                  <a:t>算法中的真值信息需要被关联到各层特征图各个位置的一系列锚上，这里锚的位置和形状是固定的。这个特性，使得</a:t>
                </a:r>
                <a:r>
                  <a:rPr lang="en-US" altLang="zh-CN" dirty="0" smtClean="0"/>
                  <a:t>SSD</a:t>
                </a:r>
                <a:r>
                  <a:rPr lang="zh-CN" altLang="en-US" dirty="0" smtClean="0"/>
                  <a:t>的整个训练过程构成一个端到端的结构。</a:t>
                </a:r>
                <a:endParaRPr lang="en-US" altLang="zh-CN" dirty="0" smtClean="0"/>
              </a:p>
              <a:p>
                <a:r>
                  <a:rPr lang="zh-CN" altLang="en-US" dirty="0" smtClean="0"/>
                  <a:t>在训练的过程中，需要给出真值和锚的匹配规则。对于每一个真值，首先匹配给所有锚中与当前真值的交并比最大的锚，而后分配给所有锚中与当前真值的交并比大于某个阈值（一般为</a:t>
                </a:r>
                <a:r>
                  <a:rPr lang="en-US" altLang="zh-CN" dirty="0" smtClean="0"/>
                  <a:t>0.5</a:t>
                </a:r>
                <a:r>
                  <a:rPr lang="zh-CN" altLang="en-US" dirty="0" smtClean="0"/>
                  <a:t>）的锚。通过这种方法，只要交并比大于阈值，一个真值就可以被匹配到多个锚。</a:t>
                </a:r>
                <a:endParaRPr lang="en-US" altLang="zh-CN" dirty="0" smtClean="0"/>
              </a:p>
              <a:p>
                <a:pPr marL="0" marR="0" lvl="2" indent="0" algn="l" defTabSz="914400" rtl="0" eaLnBrk="1" fontAlgn="base" latinLnBrk="0" hangingPunct="1">
                  <a:lnSpc>
                    <a:spcPct val="100000"/>
                  </a:lnSpc>
                  <a:spcBef>
                    <a:spcPct val="0"/>
                  </a:spcBef>
                  <a:spcAft>
                    <a:spcPct val="0"/>
                  </a:spcAft>
                  <a:buClrTx/>
                  <a:buSzTx/>
                  <a:buFontTx/>
                  <a:buNone/>
                  <a:tabLst/>
                  <a:defRPr/>
                </a:pPr>
                <a:r>
                  <a:rPr lang="zh-CN" altLang="en-US" dirty="0" smtClean="0"/>
                  <a:t>下面讨论以下</a:t>
                </a:r>
                <a:r>
                  <a:rPr lang="en-US" altLang="zh-CN" dirty="0" smtClean="0"/>
                  <a:t>SSD</a:t>
                </a:r>
                <a:r>
                  <a:rPr lang="zh-CN" altLang="en-US" dirty="0" smtClean="0"/>
                  <a:t>训练的目标函数。令</a:t>
                </a:r>
                <a14:m>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𝑖𝑗</m:t>
                        </m:r>
                      </m:sub>
                      <m:sup>
                        <m:r>
                          <a:rPr lang="en-US" altLang="zh-CN" b="0" i="1" smtClean="0">
                            <a:latin typeface="Cambria Math" panose="02040503050406030204" pitchFamily="18" charset="0"/>
                          </a:rPr>
                          <m:t>𝑝</m:t>
                        </m:r>
                      </m:sup>
                    </m:sSubSup>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1,0</m:t>
                        </m:r>
                      </m:e>
                    </m:d>
                  </m:oMath>
                </a14:m>
                <a:r>
                  <a:rPr lang="zh-CN" altLang="en-US" dirty="0" smtClean="0"/>
                  <a:t>，</a:t>
                </a:r>
                <a14:m>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𝑖𝑗</m:t>
                        </m:r>
                      </m:sub>
                      <m:sup>
                        <m:r>
                          <a:rPr lang="en-US" altLang="zh-CN" b="0" i="1" smtClean="0">
                            <a:latin typeface="Cambria Math" panose="02040503050406030204" pitchFamily="18" charset="0"/>
                          </a:rPr>
                          <m:t>𝑝</m:t>
                        </m:r>
                      </m:sup>
                    </m:sSubSup>
                  </m:oMath>
                </a14:m>
                <a:r>
                  <a:rPr lang="zh-CN" altLang="en-US" dirty="0" smtClean="0"/>
                  <a:t>表示一个指示变量，当第</a:t>
                </a:r>
                <a:r>
                  <a:rPr lang="en-US" altLang="zh-CN" dirty="0" err="1" smtClean="0"/>
                  <a:t>i</a:t>
                </a:r>
                <a:r>
                  <a:rPr lang="zh-CN" altLang="en-US" dirty="0" smtClean="0"/>
                  <a:t>个锚和第</a:t>
                </a:r>
                <a:r>
                  <a:rPr lang="en-US" altLang="zh-CN" dirty="0" smtClean="0"/>
                  <a:t>j</a:t>
                </a:r>
                <a:r>
                  <a:rPr lang="zh-CN" altLang="en-US" dirty="0" smtClean="0"/>
                  <a:t>个真值（类别为</a:t>
                </a:r>
                <a:r>
                  <a:rPr lang="en-US" altLang="zh-CN" dirty="0" smtClean="0"/>
                  <a:t>p</a:t>
                </a:r>
                <a:r>
                  <a:rPr lang="zh-CN" altLang="en-US" dirty="0" smtClean="0"/>
                  <a:t>）按照上述规则匹配时，</a:t>
                </a:r>
                <a14:m>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𝑖𝑗</m:t>
                        </m:r>
                      </m:sub>
                      <m:sup>
                        <m:r>
                          <a:rPr lang="en-US" altLang="zh-CN" b="0" i="1" smtClean="0">
                            <a:latin typeface="Cambria Math" panose="02040503050406030204" pitchFamily="18" charset="0"/>
                          </a:rPr>
                          <m:t>𝑝</m:t>
                        </m:r>
                      </m:sup>
                    </m:sSubSup>
                    <m:r>
                      <a:rPr lang="en-US" altLang="zh-CN" b="0" i="1" smtClean="0">
                        <a:latin typeface="Cambria Math" panose="02040503050406030204" pitchFamily="18" charset="0"/>
                      </a:rPr>
                      <m:t>=</m:t>
                    </m:r>
                    <m:r>
                      <a:rPr lang="en-US" altLang="zh-CN" b="0" i="0" smtClean="0">
                        <a:latin typeface="Cambria Math" panose="02040503050406030204" pitchFamily="18" charset="0"/>
                      </a:rPr>
                      <m:t>1</m:t>
                    </m:r>
                    <m:r>
                      <a:rPr lang="zh-CN" altLang="en-US" b="0" i="1" smtClean="0">
                        <a:latin typeface="Cambria Math" panose="02040503050406030204" pitchFamily="18" charset="0"/>
                      </a:rPr>
                      <m:t>，</m:t>
                    </m:r>
                  </m:oMath>
                </a14:m>
                <a:r>
                  <a:rPr lang="zh-CN" altLang="en-US" dirty="0" smtClean="0"/>
                  <a:t>否则</a:t>
                </a:r>
                <a14:m>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𝑖𝑗</m:t>
                        </m:r>
                      </m:sub>
                      <m:sup>
                        <m:r>
                          <a:rPr lang="en-US" altLang="zh-CN" b="0" i="1" smtClean="0">
                            <a:latin typeface="Cambria Math" panose="02040503050406030204" pitchFamily="18" charset="0"/>
                          </a:rPr>
                          <m:t>𝑝</m:t>
                        </m:r>
                      </m:sup>
                    </m:sSubSup>
                    <m:r>
                      <a:rPr lang="en-US" altLang="zh-CN" b="0" i="1" smtClean="0">
                        <a:latin typeface="Cambria Math" panose="02040503050406030204" pitchFamily="18" charset="0"/>
                      </a:rPr>
                      <m:t>=0</m:t>
                    </m:r>
                  </m:oMath>
                </a14:m>
                <a:r>
                  <a:rPr lang="zh-CN" altLang="en-US" dirty="0" smtClean="0"/>
                  <a:t>。对于任何一个真值，其必然至少和一个</a:t>
                </a:r>
                <a:r>
                  <a:rPr lang="en-US" altLang="zh-CN" dirty="0" smtClean="0"/>
                  <a:t>anchor</a:t>
                </a:r>
                <a:r>
                  <a:rPr lang="zh-CN" altLang="en-US" dirty="0" smtClean="0"/>
                  <a:t>匹配，则有</a:t>
                </a:r>
                <a14:m>
                  <m:oMath xmlns:m="http://schemas.openxmlformats.org/officeDocument/2006/math">
                    <m:nary>
                      <m:naryPr>
                        <m:chr m:val="∑"/>
                        <m:supHide m:val="on"/>
                        <m:ctrlPr>
                          <a:rPr lang="zh-CN" altLang="en-US" i="1" smtClean="0">
                            <a:latin typeface="Cambria Math" panose="02040503050406030204" pitchFamily="18" charset="0"/>
                          </a:rPr>
                        </m:ctrlPr>
                      </m:naryPr>
                      <m:sub>
                        <m:r>
                          <m:rPr>
                            <m:brk m:alnAt="7"/>
                          </m:rPr>
                          <a:rPr lang="en-US" altLang="zh-CN" b="0" i="1" smtClean="0">
                            <a:latin typeface="Cambria Math" panose="02040503050406030204" pitchFamily="18" charset="0"/>
                          </a:rPr>
                          <m:t>𝑖</m:t>
                        </m:r>
                      </m:sub>
                      <m:sup/>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𝑖𝑗</m:t>
                            </m:r>
                          </m:sub>
                          <m:sup>
                            <m:r>
                              <a:rPr lang="en-US" altLang="zh-CN" i="1">
                                <a:latin typeface="Cambria Math" panose="02040503050406030204" pitchFamily="18" charset="0"/>
                              </a:rPr>
                              <m:t>𝑝</m:t>
                            </m:r>
                          </m:sup>
                        </m:sSubSup>
                      </m:e>
                    </m:nary>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m:t>
                    </m:r>
                    <m:r>
                      <a:rPr lang="zh-CN" altLang="en-US" b="0" i="1" smtClean="0">
                        <a:latin typeface="Cambria Math" panose="02040503050406030204" pitchFamily="18" charset="0"/>
                        <a:ea typeface="Cambria Math" panose="02040503050406030204" pitchFamily="18" charset="0"/>
                      </a:rPr>
                      <m:t>。</m:t>
                    </m:r>
                  </m:oMath>
                </a14:m>
                <a:r>
                  <a:rPr lang="zh-CN" altLang="en-US" dirty="0" smtClean="0"/>
                  <a:t>同样，模型训练的损失函数可以通过分类损失和位置损失来表达，具体公式如下：</a:t>
                </a:r>
                <a14:m>
                  <m:oMath xmlns:m="http://schemas.openxmlformats.org/officeDocument/2006/math">
                    <m:r>
                      <a:rPr lang="en-US" altLang="zh-CN" b="0" i="1" smtClean="0">
                        <a:latin typeface="Cambria Math" panose="02040503050406030204" pitchFamily="18" charset="0"/>
                      </a:rPr>
                      <m:t>𝐿</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𝑐</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r>
                          <a:rPr lang="en-US" altLang="zh-CN" b="0" i="1" smtClean="0">
                            <a:latin typeface="Cambria Math" panose="02040503050406030204" pitchFamily="18" charset="0"/>
                          </a:rPr>
                          <m:t>,</m:t>
                        </m:r>
                        <m:r>
                          <a:rPr lang="en-US" altLang="zh-CN" b="0" i="1" smtClean="0">
                            <a:latin typeface="Cambria Math" panose="02040503050406030204" pitchFamily="18" charset="0"/>
                          </a:rPr>
                          <m:t>𝑔</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𝑁</m:t>
                        </m:r>
                      </m:den>
                    </m:f>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𝑐𝑜𝑛𝑓</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𝑐</m:t>
                            </m:r>
                          </m:e>
                        </m:d>
                        <m:r>
                          <a:rPr lang="en-US" altLang="zh-CN" b="0" i="1" smtClean="0">
                            <a:latin typeface="Cambria Math" panose="02040503050406030204" pitchFamily="18" charset="0"/>
                          </a:rPr>
                          <m:t>+</m:t>
                        </m:r>
                        <m:r>
                          <a:rPr lang="zh-CN" altLang="en-US" b="0" i="1" smtClean="0">
                            <a:latin typeface="Cambria Math" panose="02040503050406030204" pitchFamily="18" charset="0"/>
                          </a:rPr>
                          <m:t>𝛼</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𝑙𝑜𝑐</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r>
                              <a:rPr lang="en-US" altLang="zh-CN" b="0" i="1" smtClean="0">
                                <a:latin typeface="Cambria Math" panose="02040503050406030204" pitchFamily="18" charset="0"/>
                              </a:rPr>
                              <m:t>,</m:t>
                            </m:r>
                            <m:r>
                              <a:rPr lang="en-US" altLang="zh-CN" b="0" i="1" smtClean="0">
                                <a:latin typeface="Cambria Math" panose="02040503050406030204" pitchFamily="18" charset="0"/>
                              </a:rPr>
                              <m:t>𝑔</m:t>
                            </m:r>
                          </m:e>
                        </m:d>
                      </m:e>
                    </m:d>
                  </m:oMath>
                </a14:m>
                <a:endParaRPr lang="en-US" altLang="zh-CN" dirty="0" smtClean="0"/>
              </a:p>
              <a:p>
                <a:pPr marL="0" marR="0" lvl="2" indent="0" algn="l" defTabSz="914400" rtl="0" eaLnBrk="1" fontAlgn="base" latinLnBrk="0" hangingPunct="1">
                  <a:lnSpc>
                    <a:spcPct val="100000"/>
                  </a:lnSpc>
                  <a:spcBef>
                    <a:spcPct val="0"/>
                  </a:spcBef>
                  <a:spcAft>
                    <a:spcPct val="0"/>
                  </a:spcAft>
                  <a:buClrTx/>
                  <a:buSzTx/>
                  <a:buFontTx/>
                  <a:buNone/>
                  <a:tabLst/>
                  <a:defRPr/>
                </a:pPr>
                <a:r>
                  <a:rPr lang="zh-CN" altLang="en-US" dirty="0" smtClean="0"/>
                  <a:t>其中，</a:t>
                </a:r>
                <a14:m>
                  <m:oMath xmlns:m="http://schemas.openxmlformats.org/officeDocument/2006/math">
                    <m:r>
                      <a:rPr lang="en-US" altLang="zh-CN" b="0" i="1" smtClean="0">
                        <a:latin typeface="Cambria Math" panose="02040503050406030204" pitchFamily="18" charset="0"/>
                      </a:rPr>
                      <m:t>𝑁</m:t>
                    </m:r>
                  </m:oMath>
                </a14:m>
                <a:r>
                  <a:rPr lang="zh-CN" altLang="en-US" dirty="0" smtClean="0"/>
                  <a:t>表示和真值匹配成功的</a:t>
                </a:r>
                <a:r>
                  <a:rPr lang="en-US" altLang="zh-CN" dirty="0" smtClean="0"/>
                  <a:t>anchor</a:t>
                </a:r>
                <a:r>
                  <a:rPr lang="zh-CN" altLang="en-US" dirty="0" smtClean="0"/>
                  <a:t>个数，当图像为纯背景，没有真值时，</a:t>
                </a:r>
                <a14:m>
                  <m:oMath xmlns:m="http://schemas.openxmlformats.org/officeDocument/2006/math">
                    <m:r>
                      <a:rPr lang="en-US" altLang="zh-CN" b="0" i="1" smtClean="0">
                        <a:latin typeface="Cambria Math" panose="02040503050406030204" pitchFamily="18" charset="0"/>
                      </a:rPr>
                      <m:t>𝑁</m:t>
                    </m:r>
                    <m:r>
                      <a:rPr lang="en-US" altLang="zh-CN" b="0" i="0" smtClean="0">
                        <a:latin typeface="Cambria Math" panose="02040503050406030204" pitchFamily="18" charset="0"/>
                      </a:rPr>
                      <m:t>=0</m:t>
                    </m:r>
                  </m:oMath>
                </a14:m>
                <a:r>
                  <a:rPr lang="zh-CN" altLang="en-US" dirty="0" smtClean="0"/>
                  <a:t>，此时记</a:t>
                </a:r>
                <a14:m>
                  <m:oMath xmlns:m="http://schemas.openxmlformats.org/officeDocument/2006/math">
                    <m:r>
                      <a:rPr lang="en-US" altLang="zh-CN" b="0" i="1" smtClean="0">
                        <a:latin typeface="Cambria Math" panose="02040503050406030204" pitchFamily="18" charset="0"/>
                      </a:rPr>
                      <m:t>𝐿</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𝑐</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r>
                          <a:rPr lang="en-US" altLang="zh-CN" b="0" i="1" smtClean="0">
                            <a:latin typeface="Cambria Math" panose="02040503050406030204" pitchFamily="18" charset="0"/>
                          </a:rPr>
                          <m:t>,</m:t>
                        </m:r>
                        <m:r>
                          <a:rPr lang="en-US" altLang="zh-CN" b="0" i="1" smtClean="0">
                            <a:latin typeface="Cambria Math" panose="02040503050406030204" pitchFamily="18" charset="0"/>
                          </a:rPr>
                          <m:t>𝑔</m:t>
                        </m:r>
                      </m:e>
                    </m:d>
                    <m:r>
                      <a:rPr lang="en-US" altLang="zh-CN" b="0" i="0" smtClean="0">
                        <a:latin typeface="Cambria Math" panose="02040503050406030204" pitchFamily="18" charset="0"/>
                      </a:rPr>
                      <m:t>=0</m:t>
                    </m:r>
                    <m:r>
                      <a:rPr lang="zh-CN" altLang="en-US" b="0" i="1" smtClean="0">
                        <a:latin typeface="Cambria Math" panose="02040503050406030204" pitchFamily="18" charset="0"/>
                      </a:rPr>
                      <m:t>。</m:t>
                    </m:r>
                  </m:oMath>
                </a14:m>
                <a:r>
                  <a:rPr lang="zh-CN" altLang="en-US" dirty="0" smtClean="0"/>
                  <a:t>公式中</a:t>
                </a:r>
                <a14:m>
                  <m:oMath xmlns:m="http://schemas.openxmlformats.org/officeDocument/2006/math">
                    <m:r>
                      <a:rPr lang="en-US" altLang="zh-CN" b="0" i="1" smtClean="0">
                        <a:latin typeface="Cambria Math" panose="02040503050406030204" pitchFamily="18" charset="0"/>
                      </a:rPr>
                      <m:t>𝑥</m:t>
                    </m:r>
                  </m:oMath>
                </a14:m>
                <a:r>
                  <a:rPr lang="zh-CN" altLang="en-US" dirty="0" smtClean="0"/>
                  <a:t>表示各个指示变量，</a:t>
                </a:r>
                <a:endParaRPr lang="en-US" altLang="zh-CN" dirty="0" smtClean="0"/>
              </a:p>
              <a:p>
                <a:pPr marL="0" marR="0" lvl="2" indent="0" algn="l" defTabSz="914400" rtl="0" eaLnBrk="1" fontAlgn="base" latinLnBrk="0" hangingPunct="1">
                  <a:lnSpc>
                    <a:spcPct val="100000"/>
                  </a:lnSpc>
                  <a:spcBef>
                    <a:spcPct val="0"/>
                  </a:spcBef>
                  <a:spcAft>
                    <a:spcPct val="0"/>
                  </a:spcAft>
                  <a:buClrTx/>
                  <a:buSzTx/>
                  <a:buFontTx/>
                  <a:buNone/>
                  <a:tabLst/>
                  <a:defRPr/>
                </a:pPr>
                <a14:m>
                  <m:oMath xmlns:m="http://schemas.openxmlformats.org/officeDocument/2006/math">
                    <m:r>
                      <a:rPr lang="en-US" altLang="zh-CN" i="1" smtClean="0">
                        <a:latin typeface="Cambria Math" panose="02040503050406030204" pitchFamily="18" charset="0"/>
                      </a:rPr>
                      <m:t>𝑐</m:t>
                    </m:r>
                  </m:oMath>
                </a14:m>
                <a:r>
                  <a:rPr lang="zh-CN" altLang="en-US" dirty="0" smtClean="0"/>
                  <a:t>表示每个类别的概率值，</a:t>
                </a:r>
                <a14:m>
                  <m:oMath xmlns:m="http://schemas.openxmlformats.org/officeDocument/2006/math">
                    <m:r>
                      <a:rPr lang="en-US" altLang="zh-CN" i="1" smtClean="0">
                        <a:latin typeface="Cambria Math" panose="02040503050406030204" pitchFamily="18" charset="0"/>
                      </a:rPr>
                      <m:t>𝑙</m:t>
                    </m:r>
                  </m:oMath>
                </a14:m>
                <a:r>
                  <a:rPr lang="zh-CN" altLang="en-US" dirty="0" smtClean="0"/>
                  <a:t>表示预测框，</a:t>
                </a:r>
                <a:r>
                  <a:rPr lang="en-US" altLang="zh-CN" dirty="0"/>
                  <a:t> </a:t>
                </a:r>
                <a14:m>
                  <m:oMath xmlns:m="http://schemas.openxmlformats.org/officeDocument/2006/math">
                    <m:r>
                      <a:rPr lang="en-US" altLang="zh-CN" i="1">
                        <a:latin typeface="Cambria Math" panose="02040503050406030204" pitchFamily="18" charset="0"/>
                      </a:rPr>
                      <m:t>𝑔</m:t>
                    </m:r>
                  </m:oMath>
                </a14:m>
                <a:r>
                  <a:rPr lang="zh-CN" altLang="en-US" dirty="0" smtClean="0"/>
                  <a:t>表示真值框。</a:t>
                </a:r>
                <a:endParaRPr lang="en-US" altLang="zh-CN" dirty="0" smtClean="0"/>
              </a:p>
            </p:txBody>
          </p:sp>
        </mc:Choice>
        <mc:Fallback xmlns="">
          <p:sp>
            <p:nvSpPr>
              <p:cNvPr id="3" name="备注占位符 2"/>
              <p:cNvSpPr>
                <a:spLocks noGrp="1"/>
              </p:cNvSpPr>
              <p:nvPr>
                <p:ph type="body" idx="1"/>
              </p:nvPr>
            </p:nvSpPr>
            <p:spPr/>
            <p:txBody>
              <a:bodyPr/>
              <a:lstStyle/>
              <a:p>
                <a:r>
                  <a:rPr lang="en-US" altLang="zh-CN" dirty="0" smtClean="0"/>
                  <a:t>SSD</a:t>
                </a:r>
                <a:r>
                  <a:rPr lang="zh-CN" altLang="en-US" dirty="0" smtClean="0"/>
                  <a:t>算法的训练过程和之前介绍的基于候选框（</a:t>
                </a:r>
                <a:r>
                  <a:rPr lang="en-US" altLang="zh-CN" dirty="0" smtClean="0"/>
                  <a:t>region proposal</a:t>
                </a:r>
                <a:r>
                  <a:rPr lang="zh-CN" altLang="en-US" dirty="0" smtClean="0"/>
                  <a:t>）算法的训练过程有一个关键区别，即</a:t>
                </a:r>
                <a:r>
                  <a:rPr lang="en-US" altLang="zh-CN" dirty="0" smtClean="0"/>
                  <a:t>SSD</a:t>
                </a:r>
                <a:r>
                  <a:rPr lang="zh-CN" altLang="en-US" dirty="0" smtClean="0"/>
                  <a:t>算法中的真值信息需要被关联到各层特征图各个位置的一系列锚上，这里锚的位置和形状是固定的。这个特性，使得</a:t>
                </a:r>
                <a:r>
                  <a:rPr lang="en-US" altLang="zh-CN" dirty="0" smtClean="0"/>
                  <a:t>SSD</a:t>
                </a:r>
                <a:r>
                  <a:rPr lang="zh-CN" altLang="en-US" dirty="0" smtClean="0"/>
                  <a:t>的整个训练过程构成一个端到端的结构。</a:t>
                </a:r>
                <a:endParaRPr lang="en-US" altLang="zh-CN" dirty="0" smtClean="0"/>
              </a:p>
              <a:p>
                <a:r>
                  <a:rPr lang="zh-CN" altLang="en-US" dirty="0" smtClean="0"/>
                  <a:t>在训练的过程中，需要给出真值和锚的匹配规则。对于每一个真值，首先匹配给所有锚中与当前真值的交并比最大的锚，而后分配给所有锚中与当前真值的交并比大于某个阈值（一般为</a:t>
                </a:r>
                <a:r>
                  <a:rPr lang="en-US" altLang="zh-CN" dirty="0" smtClean="0"/>
                  <a:t>0.5</a:t>
                </a:r>
                <a:r>
                  <a:rPr lang="zh-CN" altLang="en-US" dirty="0" smtClean="0"/>
                  <a:t>）的锚。通过这种方法，只要交并比大于阈值，一个真值就可以被匹配到多个锚。</a:t>
                </a:r>
                <a:endParaRPr lang="en-US" altLang="zh-CN" dirty="0" smtClean="0"/>
              </a:p>
              <a:p>
                <a:pPr marL="0" marR="0" lvl="2" indent="0" algn="l" defTabSz="914400" rtl="0" eaLnBrk="1" fontAlgn="base" latinLnBrk="0" hangingPunct="1">
                  <a:lnSpc>
                    <a:spcPct val="100000"/>
                  </a:lnSpc>
                  <a:spcBef>
                    <a:spcPct val="0"/>
                  </a:spcBef>
                  <a:spcAft>
                    <a:spcPct val="0"/>
                  </a:spcAft>
                  <a:buClrTx/>
                  <a:buSzTx/>
                  <a:buFontTx/>
                  <a:buNone/>
                  <a:tabLst/>
                  <a:defRPr/>
                </a:pPr>
                <a:r>
                  <a:rPr lang="zh-CN" altLang="en-US" dirty="0" smtClean="0"/>
                  <a:t>下面讨论以下</a:t>
                </a:r>
                <a:r>
                  <a:rPr lang="en-US" altLang="zh-CN" dirty="0" smtClean="0"/>
                  <a:t>SSD</a:t>
                </a:r>
                <a:r>
                  <a:rPr lang="zh-CN" altLang="en-US" dirty="0" smtClean="0"/>
                  <a:t>训练的目标函数。令</a:t>
                </a:r>
                <a:r>
                  <a:rPr lang="en-US" altLang="zh-CN" b="0" i="0" smtClean="0">
                    <a:latin typeface="Cambria Math" panose="02040503050406030204" pitchFamily="18" charset="0"/>
                  </a:rPr>
                  <a:t>𝑥_𝑖𝑗^𝑝={1,0}</a:t>
                </a:r>
                <a:r>
                  <a:rPr lang="zh-CN" altLang="en-US" dirty="0" smtClean="0"/>
                  <a:t>，</a:t>
                </a:r>
                <a:r>
                  <a:rPr lang="en-US" altLang="zh-CN" b="0" i="0" smtClean="0">
                    <a:latin typeface="Cambria Math" panose="02040503050406030204" pitchFamily="18" charset="0"/>
                  </a:rPr>
                  <a:t>𝑥_𝑖𝑗^𝑝</a:t>
                </a:r>
                <a:r>
                  <a:rPr lang="zh-CN" altLang="en-US" dirty="0" smtClean="0"/>
                  <a:t>表示一个指示变量，当第</a:t>
                </a:r>
                <a:r>
                  <a:rPr lang="en-US" altLang="zh-CN" dirty="0" err="1" smtClean="0"/>
                  <a:t>i</a:t>
                </a:r>
                <a:r>
                  <a:rPr lang="zh-CN" altLang="en-US" dirty="0" smtClean="0"/>
                  <a:t>个锚和第</a:t>
                </a:r>
                <a:r>
                  <a:rPr lang="en-US" altLang="zh-CN" dirty="0" smtClean="0"/>
                  <a:t>j</a:t>
                </a:r>
                <a:r>
                  <a:rPr lang="zh-CN" altLang="en-US" dirty="0" smtClean="0"/>
                  <a:t>个真值（类别为</a:t>
                </a:r>
                <a:r>
                  <a:rPr lang="en-US" altLang="zh-CN" dirty="0" smtClean="0"/>
                  <a:t>p</a:t>
                </a:r>
                <a:r>
                  <a:rPr lang="zh-CN" altLang="en-US" dirty="0" smtClean="0"/>
                  <a:t>）按照上述规则匹配时，</a:t>
                </a:r>
                <a:r>
                  <a:rPr lang="en-US" altLang="zh-CN" b="0" i="0" smtClean="0">
                    <a:latin typeface="Cambria Math" panose="02040503050406030204" pitchFamily="18" charset="0"/>
                  </a:rPr>
                  <a:t>𝑥_𝑖𝑗^𝑝=1</a:t>
                </a:r>
                <a:r>
                  <a:rPr lang="zh-CN" altLang="en-US" b="0" i="0" smtClean="0">
                    <a:latin typeface="Cambria Math" panose="02040503050406030204" pitchFamily="18" charset="0"/>
                  </a:rPr>
                  <a:t>，</a:t>
                </a:r>
                <a:r>
                  <a:rPr lang="zh-CN" altLang="en-US" dirty="0" smtClean="0"/>
                  <a:t>否则</a:t>
                </a:r>
                <a:r>
                  <a:rPr lang="en-US" altLang="zh-CN" b="0" i="0" smtClean="0">
                    <a:latin typeface="Cambria Math" panose="02040503050406030204" pitchFamily="18" charset="0"/>
                  </a:rPr>
                  <a:t>𝑥_𝑖𝑗^𝑝=0</a:t>
                </a:r>
                <a:r>
                  <a:rPr lang="zh-CN" altLang="en-US" dirty="0" smtClean="0"/>
                  <a:t>。对于任何一个真值，其必然至少和一个</a:t>
                </a:r>
                <a:r>
                  <a:rPr lang="en-US" altLang="zh-CN" dirty="0" smtClean="0"/>
                  <a:t>anchor</a:t>
                </a:r>
                <a:r>
                  <a:rPr lang="zh-CN" altLang="en-US" dirty="0" smtClean="0"/>
                  <a:t>匹配，则有</a:t>
                </a:r>
                <a:r>
                  <a:rPr lang="zh-CN" altLang="en-US" i="0" smtClean="0">
                    <a:latin typeface="Cambria Math" panose="02040503050406030204" pitchFamily="18" charset="0"/>
                  </a:rPr>
                  <a:t>∑</a:t>
                </a:r>
                <a:r>
                  <a:rPr lang="en-US" altLang="zh-CN" b="0" i="0" smtClean="0">
                    <a:latin typeface="Cambria Math" panose="02040503050406030204" pitchFamily="18" charset="0"/>
                  </a:rPr>
                  <a:t>_𝑖</a:t>
                </a:r>
                <a:r>
                  <a:rPr lang="en-US" altLang="zh-CN" b="0" i="0">
                    <a:latin typeface="Cambria Math" panose="02040503050406030204" pitchFamily="18" charset="0"/>
                  </a:rPr>
                  <a:t>▒</a:t>
                </a:r>
                <a:r>
                  <a:rPr lang="en-US" altLang="zh-CN" i="0">
                    <a:latin typeface="Cambria Math" panose="02040503050406030204" pitchFamily="18" charset="0"/>
                  </a:rPr>
                  <a:t>𝑥_𝑖𝑗^𝑝 </a:t>
                </a:r>
                <a:r>
                  <a:rPr lang="en-US" altLang="zh-CN" i="0" smtClean="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1</a:t>
                </a:r>
                <a:r>
                  <a:rPr lang="zh-CN" altLang="en-US" b="0" i="0" smtClean="0">
                    <a:latin typeface="Cambria Math" panose="02040503050406030204" pitchFamily="18" charset="0"/>
                    <a:ea typeface="Cambria Math" panose="02040503050406030204" pitchFamily="18" charset="0"/>
                  </a:rPr>
                  <a:t>。</a:t>
                </a:r>
                <a:r>
                  <a:rPr lang="zh-CN" altLang="en-US" dirty="0" smtClean="0"/>
                  <a:t>同样，模型训练的损失函数可以通过分类损失和位置损失来表达，具体公式如下：</a:t>
                </a:r>
                <a:r>
                  <a:rPr lang="en-US" altLang="zh-CN" b="0" i="0" smtClean="0">
                    <a:latin typeface="Cambria Math" panose="02040503050406030204" pitchFamily="18" charset="0"/>
                  </a:rPr>
                  <a:t>𝐿(𝑥,𝑐,𝑙,𝑔)=1/𝑁 [𝐿_𝑐𝑜𝑛𝑓 (𝑥,𝑐)+</a:t>
                </a:r>
                <a:r>
                  <a:rPr lang="zh-CN" altLang="en-US" b="0" i="0" smtClean="0">
                    <a:latin typeface="Cambria Math" panose="02040503050406030204" pitchFamily="18" charset="0"/>
                  </a:rPr>
                  <a:t>𝛼</a:t>
                </a:r>
                <a:r>
                  <a:rPr lang="en-US" altLang="zh-CN" b="0" i="0" smtClean="0">
                    <a:latin typeface="Cambria Math" panose="02040503050406030204" pitchFamily="18" charset="0"/>
                  </a:rPr>
                  <a:t>𝐿_𝑙𝑜𝑐 (𝑥,𝑙,𝑔)]</a:t>
                </a:r>
                <a:endParaRPr lang="en-US" altLang="zh-CN" dirty="0" smtClean="0"/>
              </a:p>
              <a:p>
                <a:pPr marL="0" marR="0" lvl="2" indent="0" algn="l" defTabSz="914400" rtl="0" eaLnBrk="1" fontAlgn="base" latinLnBrk="0" hangingPunct="1">
                  <a:lnSpc>
                    <a:spcPct val="100000"/>
                  </a:lnSpc>
                  <a:spcBef>
                    <a:spcPct val="0"/>
                  </a:spcBef>
                  <a:spcAft>
                    <a:spcPct val="0"/>
                  </a:spcAft>
                  <a:buClrTx/>
                  <a:buSzTx/>
                  <a:buFontTx/>
                  <a:buNone/>
                  <a:tabLst/>
                  <a:defRPr/>
                </a:pPr>
                <a:r>
                  <a:rPr lang="zh-CN" altLang="en-US" dirty="0" smtClean="0"/>
                  <a:t>其中，</a:t>
                </a:r>
                <a:r>
                  <a:rPr lang="en-US" altLang="zh-CN" b="0" i="0" smtClean="0">
                    <a:latin typeface="Cambria Math" panose="02040503050406030204" pitchFamily="18" charset="0"/>
                  </a:rPr>
                  <a:t>𝑁</a:t>
                </a:r>
                <a:r>
                  <a:rPr lang="zh-CN" altLang="en-US" dirty="0" smtClean="0"/>
                  <a:t>表示和真值匹配成功的</a:t>
                </a:r>
                <a:r>
                  <a:rPr lang="en-US" altLang="zh-CN" dirty="0" smtClean="0"/>
                  <a:t>anchor</a:t>
                </a:r>
                <a:r>
                  <a:rPr lang="zh-CN" altLang="en-US" dirty="0" smtClean="0"/>
                  <a:t>个数，当图像为纯背景，没有真值时，</a:t>
                </a:r>
                <a:r>
                  <a:rPr lang="en-US" altLang="zh-CN" b="0" i="0" smtClean="0">
                    <a:latin typeface="Cambria Math" panose="02040503050406030204" pitchFamily="18" charset="0"/>
                  </a:rPr>
                  <a:t>𝑁=0</a:t>
                </a:r>
                <a:r>
                  <a:rPr lang="zh-CN" altLang="en-US" dirty="0" smtClean="0"/>
                  <a:t>，此时记</a:t>
                </a:r>
                <a:r>
                  <a:rPr lang="en-US" altLang="zh-CN" b="0" i="0" smtClean="0">
                    <a:latin typeface="Cambria Math" panose="02040503050406030204" pitchFamily="18" charset="0"/>
                  </a:rPr>
                  <a:t>𝐿(𝑥,𝑐,𝑙,𝑔)=0</a:t>
                </a:r>
                <a:r>
                  <a:rPr lang="zh-CN" altLang="en-US" b="0" i="0" smtClean="0">
                    <a:latin typeface="Cambria Math" panose="02040503050406030204" pitchFamily="18" charset="0"/>
                  </a:rPr>
                  <a:t>。</a:t>
                </a:r>
                <a:r>
                  <a:rPr lang="zh-CN" altLang="en-US" dirty="0" smtClean="0"/>
                  <a:t>公式中</a:t>
                </a:r>
                <a:r>
                  <a:rPr lang="en-US" altLang="zh-CN" b="0" i="0" smtClean="0">
                    <a:latin typeface="Cambria Math" panose="02040503050406030204" pitchFamily="18" charset="0"/>
                  </a:rPr>
                  <a:t>𝑥</a:t>
                </a:r>
                <a:r>
                  <a:rPr lang="zh-CN" altLang="en-US" dirty="0" smtClean="0"/>
                  <a:t>表示各个指示变量，</a:t>
                </a:r>
                <a:endParaRPr lang="en-US" altLang="zh-CN" dirty="0" smtClean="0"/>
              </a:p>
              <a:p>
                <a:pPr marL="0" marR="0" lvl="2" indent="0" algn="l" defTabSz="914400" rtl="0" eaLnBrk="1" fontAlgn="base" latinLnBrk="0" hangingPunct="1">
                  <a:lnSpc>
                    <a:spcPct val="100000"/>
                  </a:lnSpc>
                  <a:spcBef>
                    <a:spcPct val="0"/>
                  </a:spcBef>
                  <a:spcAft>
                    <a:spcPct val="0"/>
                  </a:spcAft>
                  <a:buClrTx/>
                  <a:buSzTx/>
                  <a:buFontTx/>
                  <a:buNone/>
                  <a:tabLst/>
                  <a:defRPr/>
                </a:pPr>
                <a:r>
                  <a:rPr lang="en-US" altLang="zh-CN" i="0" smtClean="0">
                    <a:latin typeface="Cambria Math" panose="02040503050406030204" pitchFamily="18" charset="0"/>
                  </a:rPr>
                  <a:t>𝑐</a:t>
                </a:r>
                <a:r>
                  <a:rPr lang="zh-CN" altLang="en-US" dirty="0" smtClean="0"/>
                  <a:t>表示每个类别的概率值，</a:t>
                </a:r>
                <a:r>
                  <a:rPr lang="en-US" altLang="zh-CN" i="0" smtClean="0">
                    <a:latin typeface="Cambria Math" panose="02040503050406030204" pitchFamily="18" charset="0"/>
                  </a:rPr>
                  <a:t>𝑙</a:t>
                </a:r>
                <a:r>
                  <a:rPr lang="zh-CN" altLang="en-US" dirty="0" smtClean="0"/>
                  <a:t>表示预测框，</a:t>
                </a:r>
                <a:r>
                  <a:rPr lang="en-US" altLang="zh-CN" dirty="0"/>
                  <a:t> </a:t>
                </a:r>
                <a:r>
                  <a:rPr lang="en-US" altLang="zh-CN" i="0">
                    <a:latin typeface="Cambria Math" panose="02040503050406030204" pitchFamily="18" charset="0"/>
                  </a:rPr>
                  <a:t>𝑔</a:t>
                </a:r>
                <a:r>
                  <a:rPr lang="zh-CN" altLang="en-US" dirty="0" smtClean="0"/>
                  <a:t>表示真值框。</a:t>
                </a:r>
                <a:endParaRPr lang="en-US" altLang="zh-CN" dirty="0" smtClean="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37</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7183620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位置</a:t>
                </a:r>
                <a:r>
                  <a:rPr lang="zh-CN" altLang="en-US" dirty="0"/>
                  <a:t>损失</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𝑙𝑜𝑐</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𝑙</m:t>
                        </m:r>
                        <m:r>
                          <a:rPr lang="en-US" altLang="zh-CN" i="1">
                            <a:latin typeface="Cambria Math" panose="02040503050406030204" pitchFamily="18" charset="0"/>
                          </a:rPr>
                          <m:t>,</m:t>
                        </m:r>
                        <m:r>
                          <a:rPr lang="en-US" altLang="zh-CN" i="1">
                            <a:latin typeface="Cambria Math" panose="02040503050406030204" pitchFamily="18" charset="0"/>
                          </a:rPr>
                          <m:t>𝑔</m:t>
                        </m:r>
                      </m:e>
                    </m:d>
                  </m:oMath>
                </a14:m>
                <a:r>
                  <a:rPr lang="zh-CN" altLang="en-US" dirty="0"/>
                  <a:t>是预测框</a:t>
                </a:r>
                <a14:m>
                  <m:oMath xmlns:m="http://schemas.openxmlformats.org/officeDocument/2006/math">
                    <m:r>
                      <a:rPr lang="en-US" altLang="zh-CN" i="1">
                        <a:latin typeface="Cambria Math" panose="02040503050406030204" pitchFamily="18" charset="0"/>
                      </a:rPr>
                      <m:t>𝑙</m:t>
                    </m:r>
                  </m:oMath>
                </a14:m>
                <a:r>
                  <a:rPr lang="zh-CN" altLang="en-US" dirty="0"/>
                  <a:t>与真值框</a:t>
                </a:r>
                <a14:m>
                  <m:oMath xmlns:m="http://schemas.openxmlformats.org/officeDocument/2006/math">
                    <m:r>
                      <a:rPr lang="en-US" altLang="zh-CN" i="1">
                        <a:latin typeface="Cambria Math" panose="02040503050406030204" pitchFamily="18" charset="0"/>
                      </a:rPr>
                      <m:t>𝑔</m:t>
                    </m:r>
                  </m:oMath>
                </a14:m>
                <a:r>
                  <a:rPr lang="zh-CN" altLang="en-US" dirty="0"/>
                  <a:t>的</a:t>
                </a:r>
                <a:r>
                  <a:rPr lang="zh-CN" altLang="en-US" dirty="0" smtClean="0"/>
                  <a:t>平滑</a:t>
                </a:r>
                <a14:m>
                  <m:oMath xmlns:m="http://schemas.openxmlformats.org/officeDocument/2006/math">
                    <m:r>
                      <a:rPr lang="en-US" altLang="zh-CN" b="0" i="1" smtClean="0">
                        <a:latin typeface="Cambria Math" panose="02040503050406030204" pitchFamily="18" charset="0"/>
                      </a:rPr>
                      <m:t>𝐿</m:t>
                    </m:r>
                    <m:r>
                      <a:rPr lang="en-US" altLang="zh-CN" b="0" i="1" smtClean="0">
                        <a:latin typeface="Cambria Math" panose="02040503050406030204" pitchFamily="18" charset="0"/>
                      </a:rPr>
                      <m:t>1</m:t>
                    </m:r>
                  </m:oMath>
                </a14:m>
                <a:r>
                  <a:rPr lang="zh-CN" altLang="en-US" dirty="0" smtClean="0"/>
                  <a:t>损失，即之前再</a:t>
                </a:r>
                <a:r>
                  <a:rPr lang="en-US" altLang="zh-CN" dirty="0" smtClean="0"/>
                  <a:t>R-CNN</a:t>
                </a:r>
                <a:r>
                  <a:rPr lang="zh-CN" altLang="en-US" dirty="0" smtClean="0"/>
                  <a:t>中提到过的</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𝑠𝑚𝑜𝑜𝑡h</m:t>
                        </m:r>
                      </m:e>
                      <m:sub>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1</m:t>
                            </m:r>
                          </m:sub>
                        </m:sSub>
                      </m:sub>
                    </m:sSub>
                    <m:r>
                      <a:rPr lang="zh-CN" altLang="en-US" i="1" smtClean="0">
                        <a:latin typeface="Cambria Math" panose="02040503050406030204" pitchFamily="18" charset="0"/>
                      </a:rPr>
                      <m:t>。</m:t>
                    </m:r>
                  </m:oMath>
                </a14:m>
                <a:r>
                  <a:rPr lang="zh-CN" altLang="en-US" dirty="0" smtClean="0"/>
                  <a:t>同样地，回归的是预测框</a:t>
                </a:r>
                <a14:m>
                  <m:oMath xmlns:m="http://schemas.openxmlformats.org/officeDocument/2006/math">
                    <m:r>
                      <a:rPr lang="en-US" altLang="zh-CN" i="1" smtClean="0">
                        <a:latin typeface="Cambria Math" panose="02040503050406030204" pitchFamily="18" charset="0"/>
                      </a:rPr>
                      <m:t>𝑙</m:t>
                    </m:r>
                  </m:oMath>
                </a14:m>
                <a:r>
                  <a:rPr lang="zh-CN" altLang="en-US" dirty="0" smtClean="0"/>
                  <a:t>相对于所匹配的</a:t>
                </a:r>
                <a:r>
                  <a:rPr lang="en-US" altLang="zh-CN" dirty="0" smtClean="0"/>
                  <a:t>anchor</a:t>
                </a:r>
                <a:r>
                  <a:rPr lang="zh-CN" altLang="en-US" dirty="0" smtClean="0"/>
                  <a:t>中心点</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𝑐𝑥</m:t>
                        </m:r>
                        <m:r>
                          <a:rPr lang="en-US" altLang="zh-CN" b="0" i="1" smtClean="0">
                            <a:latin typeface="Cambria Math" panose="02040503050406030204" pitchFamily="18" charset="0"/>
                          </a:rPr>
                          <m:t>,</m:t>
                        </m:r>
                        <m:r>
                          <a:rPr lang="en-US" altLang="zh-CN" b="0" i="1" smtClean="0">
                            <a:latin typeface="Cambria Math" panose="02040503050406030204" pitchFamily="18" charset="0"/>
                          </a:rPr>
                          <m:t>𝑐𝑦</m:t>
                        </m:r>
                      </m:e>
                    </m:d>
                  </m:oMath>
                </a14:m>
                <a:r>
                  <a:rPr lang="zh-CN" altLang="en-US" dirty="0" smtClean="0"/>
                  <a:t>的偏移，以及相对于</a:t>
                </a:r>
                <a:r>
                  <a:rPr lang="en-US" altLang="zh-CN" dirty="0" smtClean="0"/>
                  <a:t>anchor</a:t>
                </a:r>
                <a:r>
                  <a:rPr lang="zh-CN" altLang="en-US" dirty="0" smtClean="0"/>
                  <a:t>宽</a:t>
                </a:r>
                <a14:m>
                  <m:oMath xmlns:m="http://schemas.openxmlformats.org/officeDocument/2006/math">
                    <m:r>
                      <a:rPr lang="en-US" altLang="zh-CN" b="0" i="1" smtClean="0">
                        <a:latin typeface="Cambria Math" panose="02040503050406030204" pitchFamily="18" charset="0"/>
                        <a:ea typeface="Cambria Math" panose="02040503050406030204" pitchFamily="18" charset="0"/>
                      </a:rPr>
                      <m:t>𝑤</m:t>
                    </m:r>
                  </m:oMath>
                </a14:m>
                <a:r>
                  <a:rPr lang="zh-CN" altLang="en-US" dirty="0" smtClean="0"/>
                  <a:t>、高</a:t>
                </a:r>
                <a14:m>
                  <m:oMath xmlns:m="http://schemas.openxmlformats.org/officeDocument/2006/math">
                    <m:r>
                      <a:rPr lang="en-US" altLang="zh-CN" b="0" i="1" smtClean="0">
                        <a:latin typeface="Cambria Math" panose="02040503050406030204" pitchFamily="18" charset="0"/>
                        <a:ea typeface="Cambria Math" panose="02040503050406030204" pitchFamily="18" charset="0"/>
                      </a:rPr>
                      <m:t>h</m:t>
                    </m:r>
                  </m:oMath>
                </a14:m>
                <a:r>
                  <a:rPr lang="zh-CN" altLang="en-US" dirty="0" smtClean="0"/>
                  <a:t>的缩放尺度。分类损失就是多个分类概率</a:t>
                </a:r>
                <a14:m>
                  <m:oMath xmlns:m="http://schemas.openxmlformats.org/officeDocument/2006/math">
                    <m:r>
                      <a:rPr lang="en-US" altLang="zh-CN" b="0" i="1" smtClean="0">
                        <a:latin typeface="Cambria Math" panose="02040503050406030204" pitchFamily="18" charset="0"/>
                      </a:rPr>
                      <m:t>𝑐</m:t>
                    </m:r>
                  </m:oMath>
                </a14:m>
                <a:r>
                  <a:rPr lang="zh-CN" altLang="en-US" dirty="0" smtClean="0"/>
                  <a:t>的</a:t>
                </a:r>
                <a:r>
                  <a:rPr lang="en-US" altLang="zh-CN" dirty="0" err="1" smtClean="0"/>
                  <a:t>softmax</a:t>
                </a:r>
                <a:r>
                  <a:rPr lang="zh-CN" altLang="en-US" dirty="0" smtClean="0"/>
                  <a:t>损失，其中</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𝑐</m:t>
                              </m:r>
                            </m:e>
                          </m:acc>
                        </m:e>
                        <m:sub>
                          <m:r>
                            <a:rPr lang="en-US" altLang="zh-CN" i="1">
                              <a:latin typeface="Cambria Math" panose="02040503050406030204" pitchFamily="18" charset="0"/>
                            </a:rPr>
                            <m:t>𝑖</m:t>
                          </m:r>
                        </m:sub>
                        <m:sup>
                          <m:r>
                            <a:rPr lang="en-US" altLang="zh-CN" i="1">
                              <a:latin typeface="Cambria Math" panose="02040503050406030204" pitchFamily="18" charset="0"/>
                            </a:rPr>
                            <m:t>𝑝</m:t>
                          </m:r>
                        </m:sup>
                      </m:sSubSup>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𝑒𝑥𝑝</m:t>
                          </m:r>
                          <m:d>
                            <m:dPr>
                              <m:ctrlPr>
                                <a:rPr lang="en-US" altLang="zh-CN" b="0" i="1" smtClean="0">
                                  <a:latin typeface="Cambria Math" panose="02040503050406030204" pitchFamily="18" charset="0"/>
                                </a:rPr>
                              </m:ctrlPr>
                            </m:dPr>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𝑝</m:t>
                                  </m:r>
                                </m:sup>
                              </m:sSubSup>
                            </m:e>
                          </m:d>
                        </m:num>
                        <m:den>
                          <m:nary>
                            <m:naryPr>
                              <m:chr m:val="∑"/>
                              <m:supHide m:val="on"/>
                              <m:ctrlPr>
                                <a:rPr lang="en-US" altLang="zh-CN" b="0" i="1" smtClean="0">
                                  <a:latin typeface="Cambria Math" panose="02040503050406030204" pitchFamily="18" charset="0"/>
                                </a:rPr>
                              </m:ctrlPr>
                            </m:naryPr>
                            <m:sub>
                              <m:r>
                                <m:rPr>
                                  <m:brk m:alnAt="7"/>
                                </m:rPr>
                                <a:rPr lang="en-US" altLang="zh-CN" b="0" i="1" smtClean="0">
                                  <a:latin typeface="Cambria Math" panose="02040503050406030204" pitchFamily="18" charset="0"/>
                                </a:rPr>
                                <m:t>𝑝</m:t>
                              </m:r>
                            </m:sub>
                            <m:sup/>
                            <m:e>
                              <m:r>
                                <a:rPr lang="en-US" altLang="zh-CN" i="1">
                                  <a:latin typeface="Cambria Math" panose="02040503050406030204" pitchFamily="18" charset="0"/>
                                </a:rPr>
                                <m:t>𝑒𝑥𝑝</m:t>
                              </m:r>
                              <m:d>
                                <m:dPr>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𝑐</m:t>
                                      </m:r>
                                    </m:e>
                                    <m:sub>
                                      <m:r>
                                        <a:rPr lang="en-US" altLang="zh-CN" i="1">
                                          <a:latin typeface="Cambria Math" panose="02040503050406030204" pitchFamily="18" charset="0"/>
                                        </a:rPr>
                                        <m:t>𝑖</m:t>
                                      </m:r>
                                    </m:sub>
                                    <m:sup>
                                      <m:r>
                                        <a:rPr lang="en-US" altLang="zh-CN" i="1">
                                          <a:latin typeface="Cambria Math" panose="02040503050406030204" pitchFamily="18" charset="0"/>
                                        </a:rPr>
                                        <m:t>𝑝</m:t>
                                      </m:r>
                                    </m:sup>
                                  </m:sSubSup>
                                </m:e>
                              </m:d>
                            </m:e>
                          </m:nary>
                        </m:den>
                      </m:f>
                    </m:oMath>
                  </m:oMathPara>
                </a14:m>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整体损失函数是位置损失和分类损失的加权求和，通常情况下，位置损失和分类损失的权重比例因子取值为</a:t>
                </a:r>
                <a:r>
                  <a:rPr lang="en-US" altLang="zh-CN" dirty="0" smtClean="0"/>
                  <a:t>1</a:t>
                </a:r>
                <a:r>
                  <a:rPr lang="zh-CN" altLang="en-US" dirty="0" smtClean="0"/>
                  <a:t>。</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endParaRPr lang="zh-CN" altLang="en-US" dirty="0"/>
              </a:p>
            </p:txBody>
          </p:sp>
        </mc:Choice>
        <mc:Fallback xmlns="">
          <p:sp>
            <p:nvSpPr>
              <p:cNvPr id="3" name="备注占位符 2"/>
              <p:cNvSpPr>
                <a:spLocks noGrp="1"/>
              </p:cNvSpPr>
              <p:nvPr>
                <p:ph type="body" idx="1"/>
              </p:nvPr>
            </p:nvSpPr>
            <p:spPr/>
            <p:txBody>
              <a:bodyPr/>
              <a:lstStyle/>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位置</a:t>
                </a:r>
                <a:r>
                  <a:rPr lang="zh-CN" altLang="en-US" dirty="0"/>
                  <a:t>损失</a:t>
                </a:r>
                <a:r>
                  <a:rPr lang="en-US" altLang="zh-CN" i="0">
                    <a:latin typeface="Cambria Math" panose="02040503050406030204" pitchFamily="18" charset="0"/>
                  </a:rPr>
                  <a:t>𝐿_𝑙𝑜𝑐 (𝑥,𝑙,𝑔)</a:t>
                </a:r>
                <a:r>
                  <a:rPr lang="zh-CN" altLang="en-US" dirty="0"/>
                  <a:t>是预测框</a:t>
                </a:r>
                <a:r>
                  <a:rPr lang="en-US" altLang="zh-CN" i="0">
                    <a:latin typeface="Cambria Math" panose="02040503050406030204" pitchFamily="18" charset="0"/>
                  </a:rPr>
                  <a:t>𝑙</a:t>
                </a:r>
                <a:r>
                  <a:rPr lang="zh-CN" altLang="en-US" dirty="0"/>
                  <a:t>与真值框</a:t>
                </a:r>
                <a:r>
                  <a:rPr lang="en-US" altLang="zh-CN" i="0">
                    <a:latin typeface="Cambria Math" panose="02040503050406030204" pitchFamily="18" charset="0"/>
                  </a:rPr>
                  <a:t>𝑔</a:t>
                </a:r>
                <a:r>
                  <a:rPr lang="zh-CN" altLang="en-US" dirty="0"/>
                  <a:t>的</a:t>
                </a:r>
                <a:r>
                  <a:rPr lang="zh-CN" altLang="en-US" dirty="0" smtClean="0"/>
                  <a:t>平滑</a:t>
                </a:r>
                <a:r>
                  <a:rPr lang="en-US" altLang="zh-CN" b="0" i="0" smtClean="0">
                    <a:latin typeface="Cambria Math" panose="02040503050406030204" pitchFamily="18" charset="0"/>
                  </a:rPr>
                  <a:t>𝐿1</a:t>
                </a:r>
                <a:r>
                  <a:rPr lang="zh-CN" altLang="en-US" dirty="0" smtClean="0"/>
                  <a:t>损失，即之前再</a:t>
                </a:r>
                <a:r>
                  <a:rPr lang="en-US" altLang="zh-CN" dirty="0" smtClean="0"/>
                  <a:t>R-CNN</a:t>
                </a:r>
                <a:r>
                  <a:rPr lang="zh-CN" altLang="en-US" dirty="0" smtClean="0"/>
                  <a:t>中提到过的</a:t>
                </a:r>
                <a:r>
                  <a:rPr lang="en-US" altLang="zh-CN" i="0">
                    <a:latin typeface="Cambria Math" panose="02040503050406030204" pitchFamily="18" charset="0"/>
                  </a:rPr>
                  <a:t>〖𝑠𝑚𝑜𝑜𝑡ℎ〗_(𝐿_1 )</a:t>
                </a:r>
                <a:r>
                  <a:rPr lang="zh-CN" altLang="en-US" i="0" smtClean="0">
                    <a:latin typeface="Cambria Math" panose="02040503050406030204" pitchFamily="18" charset="0"/>
                  </a:rPr>
                  <a:t> 。</a:t>
                </a:r>
                <a:r>
                  <a:rPr lang="zh-CN" altLang="en-US" dirty="0" smtClean="0"/>
                  <a:t>同样地，回归的是预测框</a:t>
                </a:r>
                <a:r>
                  <a:rPr lang="en-US" altLang="zh-CN" i="0" smtClean="0">
                    <a:latin typeface="Cambria Math" panose="02040503050406030204" pitchFamily="18" charset="0"/>
                  </a:rPr>
                  <a:t>𝑙</a:t>
                </a:r>
                <a:r>
                  <a:rPr lang="zh-CN" altLang="en-US" dirty="0" smtClean="0"/>
                  <a:t>相对于所匹配的</a:t>
                </a:r>
                <a:r>
                  <a:rPr lang="en-US" altLang="zh-CN" dirty="0" smtClean="0"/>
                  <a:t>anchor</a:t>
                </a:r>
                <a:r>
                  <a:rPr lang="zh-CN" altLang="en-US" dirty="0" smtClean="0"/>
                  <a:t>中心点</a:t>
                </a:r>
                <a:r>
                  <a:rPr lang="en-US" altLang="zh-CN" i="0" smtClean="0">
                    <a:latin typeface="Cambria Math" panose="02040503050406030204" pitchFamily="18" charset="0"/>
                  </a:rPr>
                  <a:t>(</a:t>
                </a:r>
                <a:r>
                  <a:rPr lang="en-US" altLang="zh-CN" b="0" i="0" smtClean="0">
                    <a:latin typeface="Cambria Math" panose="02040503050406030204" pitchFamily="18" charset="0"/>
                  </a:rPr>
                  <a:t>𝑐𝑥,𝑐𝑦)</a:t>
                </a:r>
                <a:r>
                  <a:rPr lang="zh-CN" altLang="en-US" dirty="0" smtClean="0"/>
                  <a:t>的偏移，以及相对于</a:t>
                </a:r>
                <a:r>
                  <a:rPr lang="en-US" altLang="zh-CN" dirty="0" smtClean="0"/>
                  <a:t>anchor</a:t>
                </a:r>
                <a:r>
                  <a:rPr lang="zh-CN" altLang="en-US" dirty="0" smtClean="0"/>
                  <a:t>宽</a:t>
                </a:r>
                <a:r>
                  <a:rPr lang="en-US" altLang="zh-CN" b="0" i="0" smtClean="0">
                    <a:latin typeface="Cambria Math" panose="02040503050406030204" pitchFamily="18" charset="0"/>
                    <a:ea typeface="Cambria Math" panose="02040503050406030204" pitchFamily="18" charset="0"/>
                  </a:rPr>
                  <a:t>𝑤</a:t>
                </a:r>
                <a:r>
                  <a:rPr lang="zh-CN" altLang="en-US" dirty="0" smtClean="0"/>
                  <a:t>、高</a:t>
                </a:r>
                <a:r>
                  <a:rPr lang="en-US" altLang="zh-CN" b="0" i="0" smtClean="0">
                    <a:latin typeface="Cambria Math" panose="02040503050406030204" pitchFamily="18" charset="0"/>
                    <a:ea typeface="Cambria Math" panose="02040503050406030204" pitchFamily="18" charset="0"/>
                  </a:rPr>
                  <a:t>ℎ</a:t>
                </a:r>
                <a:r>
                  <a:rPr lang="zh-CN" altLang="en-US" dirty="0" smtClean="0"/>
                  <a:t>的缩放尺度。分类损失就是多个分类概率</a:t>
                </a:r>
                <a:r>
                  <a:rPr lang="en-US" altLang="zh-CN" b="0" i="0" smtClean="0">
                    <a:latin typeface="Cambria Math" panose="02040503050406030204" pitchFamily="18" charset="0"/>
                  </a:rPr>
                  <a:t>𝑐</a:t>
                </a:r>
                <a:r>
                  <a:rPr lang="zh-CN" altLang="en-US" dirty="0" smtClean="0"/>
                  <a:t>的</a:t>
                </a:r>
                <a:r>
                  <a:rPr lang="en-US" altLang="zh-CN" dirty="0" err="1" smtClean="0"/>
                  <a:t>softmax</a:t>
                </a:r>
                <a:r>
                  <a:rPr lang="zh-CN" altLang="en-US" dirty="0" smtClean="0"/>
                  <a:t>损失，其中</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en-US" altLang="zh-CN" i="0">
                    <a:latin typeface="Cambria Math" panose="02040503050406030204" pitchFamily="18" charset="0"/>
                  </a:rPr>
                  <a:t>𝑐 ̂</a:t>
                </a:r>
                <a:r>
                  <a:rPr lang="en-US" altLang="zh-CN" i="0" smtClean="0">
                    <a:latin typeface="Cambria Math" panose="02040503050406030204" pitchFamily="18" charset="0"/>
                  </a:rPr>
                  <a:t>_</a:t>
                </a:r>
                <a:r>
                  <a:rPr lang="en-US" altLang="zh-CN" i="0">
                    <a:latin typeface="Cambria Math" panose="02040503050406030204" pitchFamily="18" charset="0"/>
                  </a:rPr>
                  <a:t>𝑖^𝑝</a:t>
                </a:r>
                <a:r>
                  <a:rPr lang="en-US" altLang="zh-CN" b="0" i="0" smtClean="0">
                    <a:latin typeface="Cambria Math" panose="02040503050406030204" pitchFamily="18" charset="0"/>
                  </a:rPr>
                  <a:t>=𝑒𝑥𝑝(𝑐_𝑖^𝑝 )/(∑_𝑝</a:t>
                </a:r>
                <a:r>
                  <a:rPr lang="en-US" altLang="zh-CN" b="0" i="0">
                    <a:latin typeface="Cambria Math" panose="02040503050406030204" pitchFamily="18" charset="0"/>
                  </a:rPr>
                  <a:t>▒</a:t>
                </a:r>
                <a:r>
                  <a:rPr lang="en-US" altLang="zh-CN" i="0">
                    <a:latin typeface="Cambria Math" panose="02040503050406030204" pitchFamily="18" charset="0"/>
                  </a:rPr>
                  <a:t>𝑒𝑥𝑝(𝑐_𝑖^𝑝 ) </a:t>
                </a:r>
                <a:r>
                  <a:rPr lang="en-US" altLang="zh-CN" b="0" i="0" smtClean="0">
                    <a:latin typeface="Cambria Math" panose="02040503050406030204" pitchFamily="18" charset="0"/>
                  </a:rPr>
                  <a:t>)</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整体损失函数是位置损失和分类损失的加权求和，通常情况下，位置损失和分类损失的权重比例因子取值为</a:t>
                </a:r>
                <a:r>
                  <a:rPr lang="en-US" altLang="zh-CN" dirty="0" smtClean="0"/>
                  <a:t>1</a:t>
                </a:r>
                <a:r>
                  <a:rPr lang="zh-CN" altLang="en-US" dirty="0" smtClean="0"/>
                  <a:t>。</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endParaRPr lang="zh-CN" altLang="en-US" dirty="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38</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6190018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此外，</a:t>
            </a:r>
            <a:r>
              <a:rPr lang="en-US" altLang="zh-CN" dirty="0" smtClean="0"/>
              <a:t>SSD</a:t>
            </a:r>
            <a:r>
              <a:rPr lang="zh-CN" altLang="en-US" dirty="0" smtClean="0"/>
              <a:t>训练过程中也用到了之前提到的诸多方法与技巧。</a:t>
            </a:r>
            <a:endParaRPr lang="en-US" altLang="zh-CN" dirty="0" smtClean="0"/>
          </a:p>
          <a:p>
            <a:r>
              <a:rPr lang="zh-CN" altLang="en-US" dirty="0" smtClean="0"/>
              <a:t>为了检测多尺度的目标，</a:t>
            </a:r>
            <a:r>
              <a:rPr lang="en-US" altLang="zh-CN" dirty="0" smtClean="0"/>
              <a:t>SSD</a:t>
            </a:r>
            <a:r>
              <a:rPr lang="zh-CN" altLang="en-US" dirty="0" smtClean="0"/>
              <a:t>使用了特征金字塔的方法。基于底层特征图提取的特征具有更多细节信息，适合检测较小的目标，基于高层特征图提取的特征具有更多整体信息，适合检测较大的目标。根据不同检测任务设置每一层上锚的尺寸和宽高比是非常有技巧的，一个基本的原则就是尽可能用有限数量的锚覆盖实际场景中各个尺度的目标。</a:t>
            </a:r>
            <a:endParaRPr lang="en-US" altLang="zh-CN" dirty="0" smtClean="0"/>
          </a:p>
          <a:p>
            <a:r>
              <a:rPr lang="zh-CN" altLang="en-US" dirty="0" smtClean="0"/>
              <a:t>在实际场景中，一幅图像上能够和目标匹配的锚数量要远小于无法和目标匹配的锚数量，这就导致样本中负样本的比例远小于正样本的比例，造成严重的样本不均衡的问题。通常使用难例挖掘（</a:t>
            </a:r>
            <a:r>
              <a:rPr lang="en-US" altLang="zh-CN" dirty="0" smtClean="0"/>
              <a:t>hared negative</a:t>
            </a:r>
            <a:r>
              <a:rPr lang="en-US" altLang="zh-CN" baseline="0" dirty="0" smtClean="0"/>
              <a:t> mining</a:t>
            </a:r>
            <a:r>
              <a:rPr lang="zh-CN" altLang="en-US" dirty="0" smtClean="0"/>
              <a:t>）方法解决这一问题。具体做法是，训练时计算每个锚产生的损失，对负样本按照损失大小进行排序，取损失值最大的那部分锚进行模型迭代。（负样本损失大意味着更接近与</a:t>
            </a:r>
            <a:r>
              <a:rPr lang="en-US" altLang="zh-CN" dirty="0" smtClean="0"/>
              <a:t>False Positive,</a:t>
            </a:r>
            <a:r>
              <a:rPr lang="zh-CN" altLang="en-US" dirty="0" smtClean="0"/>
              <a:t>假正样本）负样本的选取比例可以根据实际问题进行调整，一个常规的做法是按照正样本：负样本</a:t>
            </a:r>
            <a:r>
              <a:rPr lang="en-US" altLang="zh-CN" dirty="0" smtClean="0"/>
              <a:t>=1</a:t>
            </a:r>
            <a:r>
              <a:rPr lang="zh-CN" altLang="en-US" dirty="0" smtClean="0"/>
              <a:t>：</a:t>
            </a:r>
            <a:r>
              <a:rPr lang="en-US" altLang="zh-CN" dirty="0" smtClean="0"/>
              <a:t>3</a:t>
            </a:r>
            <a:r>
              <a:rPr lang="zh-CN" altLang="en-US" dirty="0" smtClean="0"/>
              <a:t>比例选取负样本。</a:t>
            </a:r>
            <a:endParaRPr lang="en-US" altLang="zh-CN" dirty="0" smtClean="0"/>
          </a:p>
          <a:p>
            <a:r>
              <a:rPr lang="zh-CN" altLang="en-US" dirty="0" smtClean="0"/>
              <a:t>为了更好地检测实际场景不同尺寸和形状的目标，通常采用数据增强的方法。具体策略主要有以下</a:t>
            </a:r>
            <a:r>
              <a:rPr lang="en-US" altLang="zh-CN" dirty="0" smtClean="0"/>
              <a:t>3</a:t>
            </a:r>
            <a:r>
              <a:rPr lang="zh-CN" altLang="en-US" dirty="0" smtClean="0"/>
              <a:t>个步骤。</a:t>
            </a:r>
            <a:endParaRPr lang="en-US" altLang="zh-CN" dirty="0" smtClean="0"/>
          </a:p>
          <a:p>
            <a:r>
              <a:rPr lang="zh-CN" altLang="en-US" dirty="0" smtClean="0"/>
              <a:t>一、在原图上进行重采样。重采样的数据一般包含如下三种。</a:t>
            </a:r>
            <a:endParaRPr lang="en-US" altLang="zh-CN" dirty="0" smtClean="0"/>
          </a:p>
          <a:p>
            <a:r>
              <a:rPr lang="en-US" altLang="zh-CN" dirty="0" smtClean="0"/>
              <a:t>1</a:t>
            </a:r>
            <a:r>
              <a:rPr lang="zh-CN" altLang="en-US" dirty="0" smtClean="0"/>
              <a:t>、原始图像</a:t>
            </a:r>
            <a:endParaRPr lang="en-US" altLang="zh-CN" dirty="0" smtClean="0"/>
          </a:p>
          <a:p>
            <a:r>
              <a:rPr lang="en-US" altLang="zh-CN" dirty="0" smtClean="0"/>
              <a:t>2</a:t>
            </a:r>
            <a:r>
              <a:rPr lang="zh-CN" altLang="en-US" dirty="0" smtClean="0"/>
              <a:t>、与目标相交的图像，相交的最小比例是</a:t>
            </a:r>
            <a:r>
              <a:rPr lang="en-US" altLang="zh-CN" dirty="0" smtClean="0"/>
              <a:t>0.1</a:t>
            </a:r>
            <a:r>
              <a:rPr lang="zh-CN" altLang="en-US" dirty="0" smtClean="0"/>
              <a:t>、</a:t>
            </a:r>
            <a:r>
              <a:rPr lang="en-US" altLang="zh-CN" dirty="0" smtClean="0"/>
              <a:t>0.3</a:t>
            </a:r>
            <a:r>
              <a:rPr lang="zh-CN" altLang="en-US" dirty="0" smtClean="0"/>
              <a:t>、</a:t>
            </a:r>
            <a:r>
              <a:rPr lang="en-US" altLang="zh-CN" dirty="0" smtClean="0"/>
              <a:t>0.5</a:t>
            </a:r>
            <a:r>
              <a:rPr lang="zh-CN" altLang="en-US" dirty="0" smtClean="0"/>
              <a:t>、</a:t>
            </a:r>
            <a:r>
              <a:rPr lang="en-US" altLang="zh-CN" dirty="0" smtClean="0"/>
              <a:t>0.7</a:t>
            </a:r>
            <a:r>
              <a:rPr lang="zh-CN" altLang="en-US" dirty="0" smtClean="0"/>
              <a:t>、</a:t>
            </a:r>
            <a:r>
              <a:rPr lang="en-US" altLang="zh-CN" dirty="0" smtClean="0"/>
              <a:t>0.9</a:t>
            </a:r>
            <a:r>
              <a:rPr lang="zh-CN" altLang="en-US" dirty="0" smtClean="0"/>
              <a:t>等</a:t>
            </a:r>
            <a:endParaRPr lang="en-US" altLang="zh-CN" dirty="0" smtClean="0"/>
          </a:p>
          <a:p>
            <a:r>
              <a:rPr lang="en-US" altLang="zh-CN" dirty="0" smtClean="0"/>
              <a:t>3</a:t>
            </a:r>
            <a:r>
              <a:rPr lang="zh-CN" altLang="en-US" dirty="0" smtClean="0"/>
              <a:t>、随机采样</a:t>
            </a:r>
            <a:endParaRPr lang="en-US" altLang="zh-CN" dirty="0" smtClean="0"/>
          </a:p>
          <a:p>
            <a:r>
              <a:rPr lang="zh-CN" altLang="en-US" dirty="0" smtClean="0"/>
              <a:t>重采样的图像宽高比限制在</a:t>
            </a:r>
            <a:r>
              <a:rPr lang="en-US" altLang="zh-CN" dirty="0" smtClean="0"/>
              <a:t>1</a:t>
            </a:r>
            <a:r>
              <a:rPr lang="zh-CN" altLang="en-US" dirty="0" smtClean="0"/>
              <a:t>：</a:t>
            </a:r>
            <a:r>
              <a:rPr lang="en-US" altLang="zh-CN" dirty="0" smtClean="0"/>
              <a:t>2~2</a:t>
            </a:r>
            <a:r>
              <a:rPr lang="zh-CN" altLang="en-US" dirty="0" smtClean="0"/>
              <a:t>：</a:t>
            </a:r>
            <a:r>
              <a:rPr lang="en-US" altLang="zh-CN" dirty="0" smtClean="0"/>
              <a:t>1</a:t>
            </a:r>
            <a:r>
              <a:rPr lang="zh-CN" altLang="en-US" dirty="0" smtClean="0"/>
              <a:t>，采样之后被拉伸到统一尺寸进行归一化处理。</a:t>
            </a:r>
            <a:endParaRPr lang="en-US" altLang="zh-CN" dirty="0" smtClean="0"/>
          </a:p>
          <a:p>
            <a:r>
              <a:rPr lang="zh-CN" altLang="en-US" dirty="0" smtClean="0"/>
              <a:t>二、对归一化处理之后的图像进行水平镜像处理</a:t>
            </a:r>
            <a:endParaRPr lang="en-US" altLang="zh-CN" dirty="0" smtClean="0"/>
          </a:p>
          <a:p>
            <a:r>
              <a:rPr lang="zh-CN" altLang="en-US" dirty="0" smtClean="0"/>
              <a:t>三、添加相机畸变</a:t>
            </a:r>
            <a:endParaRPr lang="zh-CN" altLang="en-US" dirty="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39</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975414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FCOS</a:t>
            </a:r>
            <a:r>
              <a:rPr lang="zh-CN" altLang="en-US" dirty="0" smtClean="0"/>
              <a:t>（</a:t>
            </a:r>
            <a:r>
              <a:rPr lang="en-US" altLang="zh-CN" dirty="0" smtClean="0"/>
              <a:t>Fully Convolutional One-Stage Object Detector</a:t>
            </a:r>
            <a:r>
              <a:rPr lang="zh-CN" altLang="en-US" dirty="0" smtClean="0"/>
              <a:t>，全卷积一阶段目标检测）算法是一种基于全卷积网络的一阶段目标检测算法。与之前介绍的</a:t>
            </a:r>
            <a:r>
              <a:rPr lang="en-US" altLang="zh-CN" dirty="0" smtClean="0"/>
              <a:t>Faster R-CNN</a:t>
            </a:r>
            <a:r>
              <a:rPr lang="zh-CN" altLang="en-US" dirty="0" smtClean="0"/>
              <a:t>、</a:t>
            </a:r>
            <a:r>
              <a:rPr lang="en-US" altLang="zh-CN" dirty="0" smtClean="0"/>
              <a:t>SSD</a:t>
            </a:r>
            <a:r>
              <a:rPr lang="zh-CN" altLang="en-US" dirty="0" smtClean="0"/>
              <a:t>、</a:t>
            </a:r>
            <a:r>
              <a:rPr lang="en-US" altLang="zh-CN" dirty="0" smtClean="0"/>
              <a:t>YOLO</a:t>
            </a:r>
            <a:r>
              <a:rPr lang="zh-CN" altLang="en-US" dirty="0" smtClean="0"/>
              <a:t>等算法不同，</a:t>
            </a:r>
            <a:r>
              <a:rPr lang="en-US" altLang="zh-CN" dirty="0" smtClean="0"/>
              <a:t>FCOS</a:t>
            </a:r>
            <a:r>
              <a:rPr lang="zh-CN" altLang="en-US" dirty="0" smtClean="0"/>
              <a:t>不依赖锚，甚至不依赖候选框，而是直接针对图像上的每个像素预测可能包含该像素的目标框的位置。这样的算法设计我们称为</a:t>
            </a:r>
            <a:r>
              <a:rPr lang="en-US" altLang="zh-CN" dirty="0" smtClean="0"/>
              <a:t>anchor-free</a:t>
            </a:r>
            <a:r>
              <a:rPr lang="zh-CN" altLang="en-US" dirty="0" smtClean="0"/>
              <a:t>，既避免了在训练过程中与锚相关的计算，也避免了与锚相关的调参操作，大大简化了训练过程。</a:t>
            </a:r>
            <a:r>
              <a:rPr lang="en-US" altLang="zh-CN" dirty="0" smtClean="0"/>
              <a:t>YOLOv1</a:t>
            </a:r>
            <a:r>
              <a:rPr lang="zh-CN" altLang="en-US" dirty="0" smtClean="0"/>
              <a:t>其实也是</a:t>
            </a:r>
            <a:r>
              <a:rPr lang="en-US" altLang="zh-CN" dirty="0" smtClean="0"/>
              <a:t>anchor-free</a:t>
            </a:r>
            <a:r>
              <a:rPr lang="zh-CN" altLang="en-US" dirty="0" smtClean="0"/>
              <a:t>方法，</a:t>
            </a:r>
            <a:r>
              <a:rPr lang="zh-CN" altLang="en-US" sz="1200" b="0" i="0" kern="1200" dirty="0" smtClean="0">
                <a:solidFill>
                  <a:schemeClr val="tx1"/>
                </a:solidFill>
                <a:effectLst/>
                <a:latin typeface="+mn-lt"/>
                <a:ea typeface="+mn-ea"/>
                <a:cs typeface="+mn-cs"/>
              </a:rPr>
              <a:t>但</a:t>
            </a:r>
            <a:r>
              <a:rPr lang="en-US" altLang="zh-CN" sz="1200" b="0" i="0" kern="1200" dirty="0" smtClean="0">
                <a:solidFill>
                  <a:schemeClr val="tx1"/>
                </a:solidFill>
                <a:effectLst/>
                <a:latin typeface="+mn-lt"/>
                <a:ea typeface="+mn-ea"/>
                <a:cs typeface="+mn-cs"/>
              </a:rPr>
              <a:t>YOLOv1</a:t>
            </a:r>
            <a:r>
              <a:rPr lang="zh-CN" altLang="en-US" sz="1200" b="0" i="0" kern="1200" dirty="0" smtClean="0">
                <a:solidFill>
                  <a:schemeClr val="tx1"/>
                </a:solidFill>
                <a:effectLst/>
                <a:latin typeface="+mn-lt"/>
                <a:ea typeface="+mn-ea"/>
                <a:cs typeface="+mn-cs"/>
              </a:rPr>
              <a:t>因为只检测离中心点近的目标，导致召回率比较低，因此后续版本中还是使用了</a:t>
            </a:r>
            <a:r>
              <a:rPr lang="en-US" altLang="zh-CN" sz="1200" b="0" i="0" kern="1200" dirty="0" smtClean="0">
                <a:solidFill>
                  <a:schemeClr val="tx1"/>
                </a:solidFill>
                <a:effectLst/>
                <a:latin typeface="+mn-lt"/>
                <a:ea typeface="+mn-ea"/>
                <a:cs typeface="+mn-cs"/>
              </a:rPr>
              <a:t>anchor</a:t>
            </a:r>
            <a:r>
              <a:rPr lang="zh-CN" altLang="en-US" sz="1200" b="0" i="0" kern="1200" dirty="0" smtClean="0">
                <a:solidFill>
                  <a:schemeClr val="tx1"/>
                </a:solidFill>
                <a:effectLst/>
                <a:latin typeface="+mn-lt"/>
                <a:ea typeface="+mn-ea"/>
                <a:cs typeface="+mn-cs"/>
              </a:rPr>
              <a:t>。下图是</a:t>
            </a:r>
            <a:r>
              <a:rPr lang="en-US" altLang="zh-CN" sz="1200" b="0" i="0" kern="1200" dirty="0" smtClean="0">
                <a:solidFill>
                  <a:schemeClr val="tx1"/>
                </a:solidFill>
                <a:effectLst/>
                <a:latin typeface="+mn-lt"/>
                <a:ea typeface="+mn-ea"/>
                <a:cs typeface="+mn-cs"/>
              </a:rPr>
              <a:t>FCOS</a:t>
            </a:r>
            <a:r>
              <a:rPr lang="zh-CN" altLang="en-US" sz="1200" b="0" i="0" kern="1200" dirty="0" smtClean="0">
                <a:solidFill>
                  <a:schemeClr val="tx1"/>
                </a:solidFill>
                <a:effectLst/>
                <a:latin typeface="+mn-lt"/>
                <a:ea typeface="+mn-ea"/>
                <a:cs typeface="+mn-cs"/>
              </a:rPr>
              <a:t>论文中与其他模型检测结果的对比。</a:t>
            </a:r>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40</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58497938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之前介绍的几种目标检测算法有一个共同之处，就是都使用了预定义的锚。锚的使用是上述算法非常重要的成功因素，但这种方式也存在一定的弊端</a:t>
                </a:r>
                <a:r>
                  <a:rPr lang="en-US" altLang="zh-CN" dirty="0" smtClean="0"/>
                  <a:t>,</a:t>
                </a:r>
                <a:r>
                  <a:rPr lang="zh-CN" altLang="en-US" dirty="0" smtClean="0"/>
                  <a:t>主要体现在如下几个方面</a:t>
                </a:r>
                <a:r>
                  <a:rPr lang="en-US" altLang="zh-CN" dirty="0" smtClean="0"/>
                  <a:t>:</a:t>
                </a:r>
                <a:r>
                  <a:rPr lang="zh-CN" altLang="en-US" dirty="0" smtClean="0"/>
                  <a:t>（</a:t>
                </a:r>
                <a:r>
                  <a:rPr lang="en-US" altLang="zh-CN" dirty="0" smtClean="0"/>
                  <a:t>1</a:t>
                </a:r>
                <a:r>
                  <a:rPr lang="zh-CN" altLang="en-US" dirty="0" smtClean="0"/>
                  <a:t>）在具体的算法实现过程中，因为每个场景下对锚的大小及形状进行不同取值，会明显影响算法的性能，所以在模型训练的过程中，需要非常仔细地进行调整，以达到更优的性能，这样给模型训练增加了复杂性</a:t>
                </a:r>
                <a:r>
                  <a:rPr lang="en-US" altLang="zh-CN" dirty="0" smtClean="0"/>
                  <a:t>;</a:t>
                </a:r>
                <a:r>
                  <a:rPr lang="zh-CN" altLang="en-US" dirty="0" smtClean="0"/>
                  <a:t>（</a:t>
                </a:r>
                <a:r>
                  <a:rPr lang="en-US" altLang="zh-CN" dirty="0" smtClean="0"/>
                  <a:t>2</a:t>
                </a:r>
                <a:r>
                  <a:rPr lang="zh-CN" altLang="en-US" dirty="0" smtClean="0"/>
                  <a:t>）在同一个检测任务中，锚的大小及形状仅有几个固定的取值，对于检测目标尺寸和形状有较大变化的场景</a:t>
                </a:r>
                <a:r>
                  <a:rPr lang="en-US" altLang="zh-CN" dirty="0" smtClean="0"/>
                  <a:t>,</a:t>
                </a:r>
                <a:r>
                  <a:rPr lang="zh-CN" altLang="en-US" dirty="0" smtClean="0"/>
                  <a:t>算法的性能会受到一些影响</a:t>
                </a:r>
                <a:r>
                  <a:rPr lang="en-US" altLang="zh-CN" dirty="0" smtClean="0"/>
                  <a:t>;</a:t>
                </a:r>
                <a:r>
                  <a:rPr lang="zh-CN" altLang="en-US" dirty="0" smtClean="0"/>
                  <a:t>（例如一本书横着放</a:t>
                </a:r>
                <a:r>
                  <a:rPr lang="en-US" altLang="zh-CN" dirty="0" smtClean="0"/>
                  <a:t>w</a:t>
                </a:r>
                <a:r>
                  <a:rPr lang="zh-CN" altLang="en-US" dirty="0" smtClean="0"/>
                  <a:t>远大于</a:t>
                </a:r>
                <a:r>
                  <a:rPr lang="en-US" altLang="zh-CN" dirty="0" smtClean="0"/>
                  <a:t>h</a:t>
                </a:r>
                <a:r>
                  <a:rPr lang="zh-CN" altLang="en-US" dirty="0" smtClean="0"/>
                  <a:t>，竖着放</a:t>
                </a:r>
                <a:r>
                  <a:rPr lang="en-US" altLang="zh-CN" dirty="0" smtClean="0"/>
                  <a:t>h</a:t>
                </a:r>
                <a:r>
                  <a:rPr lang="zh-CN" altLang="en-US" dirty="0" smtClean="0"/>
                  <a:t>远大于</a:t>
                </a:r>
                <a:r>
                  <a:rPr lang="en-US" altLang="zh-CN" dirty="0" smtClean="0"/>
                  <a:t>w</a:t>
                </a:r>
                <a:r>
                  <a:rPr lang="zh-CN" altLang="en-US" dirty="0" smtClean="0"/>
                  <a:t>，很难设计出合适的锚框）（</a:t>
                </a:r>
                <a:r>
                  <a:rPr lang="en-US" altLang="zh-CN" dirty="0" smtClean="0"/>
                  <a:t>3</a:t>
                </a:r>
                <a:r>
                  <a:rPr lang="zh-CN" altLang="en-US" dirty="0" smtClean="0"/>
                  <a:t>）为了能够更好地覆盖检测目标</a:t>
                </a:r>
                <a:r>
                  <a:rPr lang="en-US" altLang="zh-CN" dirty="0" smtClean="0"/>
                  <a:t>,</a:t>
                </a:r>
                <a:r>
                  <a:rPr lang="zh-CN" altLang="en-US" dirty="0" smtClean="0"/>
                  <a:t>在一张图像上会有非常多的锚，而其中绝大多数是负样本，这导致正负样本极为不平衡</a:t>
                </a:r>
                <a:r>
                  <a:rPr lang="en-US" altLang="zh-CN" dirty="0" smtClean="0"/>
                  <a:t>;(4</a:t>
                </a:r>
                <a:r>
                  <a:rPr lang="zh-CN" altLang="en-US" dirty="0" smtClean="0"/>
                  <a:t>）使用锚</a:t>
                </a:r>
                <a:r>
                  <a:rPr lang="en-US" altLang="zh-CN" dirty="0" smtClean="0"/>
                  <a:t>,</a:t>
                </a:r>
                <a:r>
                  <a:rPr lang="zh-CN" altLang="en-US" dirty="0" smtClean="0"/>
                  <a:t>涉及大量与真值框交并比的计算</a:t>
                </a:r>
                <a:r>
                  <a:rPr lang="en-US" altLang="zh-CN" dirty="0" smtClean="0"/>
                  <a:t>,</a:t>
                </a:r>
                <a:r>
                  <a:rPr lang="zh-CN" altLang="en-US" dirty="0" smtClean="0"/>
                  <a:t>造成很大的计算开销。</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为了解决使用锚存在的上述问题，诞生了一个新的思路，就是不再使用锚，而是基于每个像素，直接预测包含该像素的目标框的位置及目标的类别，如图所示。对于每个像素，预测的目标框用一个</a:t>
                </a:r>
                <a:r>
                  <a:rPr lang="en-US" altLang="zh-CN" dirty="0" smtClean="0"/>
                  <a:t>4</a:t>
                </a:r>
                <a:r>
                  <a:rPr lang="zh-CN" altLang="en-US" dirty="0" smtClean="0"/>
                  <a:t>维向量</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𝑙</m:t>
                        </m:r>
                        <m:r>
                          <a:rPr lang="en-US" altLang="zh-CN" b="0" i="1" smtClean="0">
                            <a:latin typeface="Cambria Math" panose="02040503050406030204" pitchFamily="18" charset="0"/>
                          </a:rPr>
                          <m:t>,</m:t>
                        </m:r>
                        <m:r>
                          <a:rPr lang="en-US" altLang="zh-CN" b="0" i="1" smtClean="0">
                            <a:latin typeface="Cambria Math" panose="02040503050406030204" pitchFamily="18" charset="0"/>
                          </a:rPr>
                          <m:t>𝑟</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e>
                    </m:d>
                  </m:oMath>
                </a14:m>
                <a:r>
                  <a:rPr lang="zh-CN" altLang="en-US" dirty="0" smtClean="0"/>
                  <a:t>表示，</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𝑙</m:t>
                        </m:r>
                        <m:r>
                          <a:rPr lang="en-US" altLang="zh-CN" b="0" i="1" smtClean="0">
                            <a:latin typeface="Cambria Math" panose="02040503050406030204" pitchFamily="18" charset="0"/>
                          </a:rPr>
                          <m:t>,</m:t>
                        </m:r>
                        <m:r>
                          <a:rPr lang="en-US" altLang="zh-CN" b="0" i="1" smtClean="0">
                            <a:latin typeface="Cambria Math" panose="02040503050406030204" pitchFamily="18" charset="0"/>
                          </a:rPr>
                          <m:t>𝑟</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e>
                    </m:d>
                  </m:oMath>
                </a14:m>
                <a:r>
                  <a:rPr lang="zh-CN" altLang="en-US" dirty="0" smtClean="0"/>
                  <a:t>分别代表该像素点到目标框左、右、上、下边边缘的距离。每个像素都对应一个预测的目标框，根据所有预测的目标框的类别和置信度，通过非极大值抑制，就能够得到最终的预测结果。</a:t>
                </a:r>
                <a:endParaRPr lang="en-US" altLang="zh-CN" dirty="0" smtClean="0"/>
              </a:p>
              <a:p>
                <a:endParaRPr lang="zh-CN" altLang="en-US" dirty="0"/>
              </a:p>
            </p:txBody>
          </p:sp>
        </mc:Choice>
        <mc:Fallback xmlns="">
          <p:sp>
            <p:nvSpPr>
              <p:cNvPr id="3" name="备注占位符 2"/>
              <p:cNvSpPr>
                <a:spLocks noGrp="1"/>
              </p:cNvSpPr>
              <p:nvPr>
                <p:ph type="body" idx="1"/>
              </p:nvPr>
            </p:nvSpPr>
            <p:spPr/>
            <p:txBody>
              <a:bodyPr/>
              <a:lstStyle/>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之前介绍的几种目标检测算法有一个共同之处，就是都使用了预定义的锚。锚的使用是上述算法非常重要的成功因素，但这种方式也存在一定的弊端</a:t>
                </a:r>
                <a:r>
                  <a:rPr lang="en-US" altLang="zh-CN" dirty="0" smtClean="0"/>
                  <a:t>,</a:t>
                </a:r>
                <a:r>
                  <a:rPr lang="zh-CN" altLang="en-US" dirty="0" smtClean="0"/>
                  <a:t>主要体现在如下几个方面</a:t>
                </a:r>
                <a:r>
                  <a:rPr lang="en-US" altLang="zh-CN" dirty="0" smtClean="0"/>
                  <a:t>:</a:t>
                </a:r>
                <a:r>
                  <a:rPr lang="zh-CN" altLang="en-US" dirty="0" smtClean="0"/>
                  <a:t>（</a:t>
                </a:r>
                <a:r>
                  <a:rPr lang="en-US" altLang="zh-CN" dirty="0" smtClean="0"/>
                  <a:t>1</a:t>
                </a:r>
                <a:r>
                  <a:rPr lang="zh-CN" altLang="en-US" dirty="0" smtClean="0"/>
                  <a:t>）在具体的算法实现过程中，因为每个场景下对锚的大小及形状进行不同取值，会明显影响算法的性能，所以在模型训练的过程中，需要非常仔细地进行调整，以达到更优的性能，这样给模型训练增加了复杂性</a:t>
                </a:r>
                <a:r>
                  <a:rPr lang="en-US" altLang="zh-CN" dirty="0" smtClean="0"/>
                  <a:t>;</a:t>
                </a:r>
                <a:r>
                  <a:rPr lang="zh-CN" altLang="en-US" dirty="0" smtClean="0"/>
                  <a:t>（</a:t>
                </a:r>
                <a:r>
                  <a:rPr lang="en-US" altLang="zh-CN" dirty="0" smtClean="0"/>
                  <a:t>2</a:t>
                </a:r>
                <a:r>
                  <a:rPr lang="zh-CN" altLang="en-US" dirty="0" smtClean="0"/>
                  <a:t>）在同一个检测任务中，锚的大小及形状仅有几个固定的取值，对于检测目标尺寸和形状有较大变化的场景</a:t>
                </a:r>
                <a:r>
                  <a:rPr lang="en-US" altLang="zh-CN" dirty="0" smtClean="0"/>
                  <a:t>,</a:t>
                </a:r>
                <a:r>
                  <a:rPr lang="zh-CN" altLang="en-US" dirty="0" smtClean="0"/>
                  <a:t>算法的性能会受到一些影响</a:t>
                </a:r>
                <a:r>
                  <a:rPr lang="en-US" altLang="zh-CN" dirty="0" smtClean="0"/>
                  <a:t>;</a:t>
                </a:r>
                <a:r>
                  <a:rPr lang="zh-CN" altLang="en-US" dirty="0" smtClean="0"/>
                  <a:t>（例如一本书横着放</a:t>
                </a:r>
                <a:r>
                  <a:rPr lang="en-US" altLang="zh-CN" dirty="0" smtClean="0"/>
                  <a:t>w</a:t>
                </a:r>
                <a:r>
                  <a:rPr lang="zh-CN" altLang="en-US" dirty="0" smtClean="0"/>
                  <a:t>远大于</a:t>
                </a:r>
                <a:r>
                  <a:rPr lang="en-US" altLang="zh-CN" dirty="0" smtClean="0"/>
                  <a:t>h</a:t>
                </a:r>
                <a:r>
                  <a:rPr lang="zh-CN" altLang="en-US" dirty="0" smtClean="0"/>
                  <a:t>，竖着放</a:t>
                </a:r>
                <a:r>
                  <a:rPr lang="en-US" altLang="zh-CN" dirty="0" smtClean="0"/>
                  <a:t>h</a:t>
                </a:r>
                <a:r>
                  <a:rPr lang="zh-CN" altLang="en-US" dirty="0" smtClean="0"/>
                  <a:t>远大于</a:t>
                </a:r>
                <a:r>
                  <a:rPr lang="en-US" altLang="zh-CN" dirty="0" smtClean="0"/>
                  <a:t>w</a:t>
                </a:r>
                <a:r>
                  <a:rPr lang="zh-CN" altLang="en-US" dirty="0" smtClean="0"/>
                  <a:t>，很难设计出合适的锚框）（</a:t>
                </a:r>
                <a:r>
                  <a:rPr lang="en-US" altLang="zh-CN" dirty="0" smtClean="0"/>
                  <a:t>3</a:t>
                </a:r>
                <a:r>
                  <a:rPr lang="zh-CN" altLang="en-US" dirty="0" smtClean="0"/>
                  <a:t>）为了能够更好地覆盖检测目标</a:t>
                </a:r>
                <a:r>
                  <a:rPr lang="en-US" altLang="zh-CN" dirty="0" smtClean="0"/>
                  <a:t>,</a:t>
                </a:r>
                <a:r>
                  <a:rPr lang="zh-CN" altLang="en-US" dirty="0" smtClean="0"/>
                  <a:t>在一张图像上会有非常多的锚，而其中绝大多数是负样本，这导致正负样本极为不平衡</a:t>
                </a:r>
                <a:r>
                  <a:rPr lang="en-US" altLang="zh-CN" dirty="0" smtClean="0"/>
                  <a:t>;(4</a:t>
                </a:r>
                <a:r>
                  <a:rPr lang="zh-CN" altLang="en-US" dirty="0" smtClean="0"/>
                  <a:t>）使用锚</a:t>
                </a:r>
                <a:r>
                  <a:rPr lang="en-US" altLang="zh-CN" dirty="0" smtClean="0"/>
                  <a:t>,</a:t>
                </a:r>
                <a:r>
                  <a:rPr lang="zh-CN" altLang="en-US" dirty="0" smtClean="0"/>
                  <a:t>涉及大量与真值框交并比的计算</a:t>
                </a:r>
                <a:r>
                  <a:rPr lang="en-US" altLang="zh-CN" dirty="0" smtClean="0"/>
                  <a:t>,</a:t>
                </a:r>
                <a:r>
                  <a:rPr lang="zh-CN" altLang="en-US" dirty="0" smtClean="0"/>
                  <a:t>造成很大的计算开销。</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zh-CN" altLang="en-US" dirty="0" smtClean="0"/>
                  <a:t>为了解决使用锚存在的上述问题，诞生了一个新的思路，就是不再使用锚，而是基于每个像素，直接预测包含该像素的目标框的位置及目标的类别，如图所示。对于每个像素，预测的目标框用一个</a:t>
                </a:r>
                <a:r>
                  <a:rPr lang="en-US" altLang="zh-CN" dirty="0" smtClean="0"/>
                  <a:t>4</a:t>
                </a:r>
                <a:r>
                  <a:rPr lang="zh-CN" altLang="en-US" dirty="0" smtClean="0"/>
                  <a:t>维向量</a:t>
                </a:r>
                <a:r>
                  <a:rPr lang="en-US" altLang="zh-CN" i="0" smtClean="0">
                    <a:latin typeface="Cambria Math" panose="02040503050406030204" pitchFamily="18" charset="0"/>
                  </a:rPr>
                  <a:t>(</a:t>
                </a:r>
                <a:r>
                  <a:rPr lang="en-US" altLang="zh-CN" b="0" i="0" smtClean="0">
                    <a:latin typeface="Cambria Math" panose="02040503050406030204" pitchFamily="18" charset="0"/>
                  </a:rPr>
                  <a:t>𝑙,𝑟,𝑡,𝑏)</a:t>
                </a:r>
                <a:r>
                  <a:rPr lang="zh-CN" altLang="en-US" dirty="0" smtClean="0"/>
                  <a:t>表示，</a:t>
                </a:r>
                <a:r>
                  <a:rPr lang="en-US" altLang="zh-CN" i="0" smtClean="0">
                    <a:latin typeface="Cambria Math" panose="02040503050406030204" pitchFamily="18" charset="0"/>
                  </a:rPr>
                  <a:t>(</a:t>
                </a:r>
                <a:r>
                  <a:rPr lang="en-US" altLang="zh-CN" b="0" i="0" smtClean="0">
                    <a:latin typeface="Cambria Math" panose="02040503050406030204" pitchFamily="18" charset="0"/>
                  </a:rPr>
                  <a:t>𝑙,𝑟,𝑡,𝑏)</a:t>
                </a:r>
                <a:r>
                  <a:rPr lang="zh-CN" altLang="en-US" dirty="0" smtClean="0"/>
                  <a:t>分别代表该像素点到目标框左、右、上、下边边缘的距离。每个像素都对应一个预测的目标框，根据所有预测的目标框的类别和置信度，通过非极大值抑制，就能够得到最终的预测结果。</a:t>
                </a:r>
                <a:endParaRPr lang="en-US" altLang="zh-CN" dirty="0" smtClean="0"/>
              </a:p>
              <a:p>
                <a:endParaRPr lang="zh-CN" altLang="en-US" dirty="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41</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24879230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下面详细介绍算法的具体细节。</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en-US" altLang="zh-CN" dirty="0" smtClean="0"/>
                  <a:t>1.</a:t>
                </a:r>
                <a:r>
                  <a:rPr lang="zh-CN" altLang="en-US" dirty="0" smtClean="0"/>
                  <a:t>基于全卷积网络的一阶段检测算法</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令</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𝑖</m:t>
                        </m:r>
                      </m:sub>
                    </m:sSub>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𝑅</m:t>
                        </m:r>
                      </m:e>
                      <m:sup>
                        <m:r>
                          <a:rPr lang="en-US" altLang="zh-CN" b="0" i="1" smtClean="0">
                            <a:latin typeface="Cambria Math" panose="02040503050406030204" pitchFamily="18" charset="0"/>
                            <a:ea typeface="Cambria Math" panose="02040503050406030204" pitchFamily="18" charset="0"/>
                          </a:rPr>
                          <m:t>𝐻</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𝑊</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𝐶</m:t>
                        </m:r>
                      </m:sup>
                    </m:sSup>
                  </m:oMath>
                </a14:m>
                <a:r>
                  <a:rPr lang="zh-CN" altLang="en-US" dirty="0" smtClean="0"/>
                  <a:t>表示网络骨架第</a:t>
                </a:r>
                <a14:m>
                  <m:oMath xmlns:m="http://schemas.openxmlformats.org/officeDocument/2006/math">
                    <m:r>
                      <a:rPr lang="en-US" altLang="zh-CN" i="1">
                        <a:latin typeface="Cambria Math" panose="02040503050406030204" pitchFamily="18" charset="0"/>
                      </a:rPr>
                      <m:t>𝑖</m:t>
                    </m:r>
                  </m:oMath>
                </a14:m>
                <a:r>
                  <a:rPr lang="zh-CN" altLang="en-US" dirty="0" smtClean="0"/>
                  <a:t>层输出的特征图，</a:t>
                </a:r>
                <a14:m>
                  <m:oMath xmlns:m="http://schemas.openxmlformats.org/officeDocument/2006/math">
                    <m:r>
                      <a:rPr lang="en-US" altLang="zh-CN" b="0" i="1" smtClean="0">
                        <a:latin typeface="Cambria Math" panose="02040503050406030204" pitchFamily="18" charset="0"/>
                      </a:rPr>
                      <m:t>𝑠</m:t>
                    </m:r>
                  </m:oMath>
                </a14:m>
                <a:r>
                  <a:rPr lang="zh-CN" altLang="en-US" dirty="0" smtClean="0"/>
                  <a:t>表示该层相对于原始图像的采样间隔</a:t>
                </a:r>
                <a:r>
                  <a:rPr lang="en-US" altLang="zh-CN" dirty="0" smtClean="0"/>
                  <a:t>(stride)</a:t>
                </a:r>
                <a:r>
                  <a:rPr lang="zh-CN" altLang="en-US" dirty="0" smtClean="0"/>
                  <a:t>。图像中的真值框用</a:t>
                </a:r>
                <a14:m>
                  <m:oMath xmlns:m="http://schemas.openxmlformats.org/officeDocument/2006/math">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𝑖</m:t>
                            </m:r>
                          </m:sub>
                        </m:sSub>
                      </m:e>
                    </m:d>
                  </m:oMath>
                </a14:m>
                <a:r>
                  <a:rPr lang="zh-CN" altLang="en-US" dirty="0" smtClean="0"/>
                  <a:t>表示，其中</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0</m:t>
                            </m:r>
                          </m:sub>
                          <m:sup>
                            <m:r>
                              <a:rPr lang="en-US" altLang="zh-CN" b="0" i="1" smtClean="0">
                                <a:latin typeface="Cambria Math" panose="02040503050406030204" pitchFamily="18" charset="0"/>
                              </a:rPr>
                              <m:t>𝑖</m:t>
                            </m:r>
                          </m:sup>
                        </m:sSubSup>
                        <m:r>
                          <a:rPr lang="en-US" altLang="zh-CN" b="0" i="1" smtClean="0">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b="0" i="1" smtClean="0">
                                <a:latin typeface="Cambria Math" panose="02040503050406030204" pitchFamily="18" charset="0"/>
                              </a:rPr>
                              <m:t>𝑦</m:t>
                            </m:r>
                          </m:e>
                          <m:sub>
                            <m:r>
                              <a:rPr lang="en-US" altLang="zh-CN" i="1">
                                <a:latin typeface="Cambria Math" panose="02040503050406030204" pitchFamily="18" charset="0"/>
                              </a:rPr>
                              <m:t>0</m:t>
                            </m:r>
                          </m:sub>
                          <m:sup>
                            <m:r>
                              <a:rPr lang="en-US" altLang="zh-CN" i="1">
                                <a:latin typeface="Cambria Math" panose="02040503050406030204" pitchFamily="18" charset="0"/>
                              </a:rPr>
                              <m:t>𝑖</m:t>
                            </m:r>
                          </m:sup>
                        </m:sSubSup>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b="0" i="1" smtClean="0">
                                <a:latin typeface="Cambria Math" panose="02040503050406030204" pitchFamily="18" charset="0"/>
                              </a:rPr>
                              <m:t>1</m:t>
                            </m:r>
                          </m:sub>
                          <m:sup>
                            <m:r>
                              <a:rPr lang="en-US" altLang="zh-CN" i="1">
                                <a:latin typeface="Cambria Math" panose="02040503050406030204" pitchFamily="18" charset="0"/>
                              </a:rPr>
                              <m:t>𝑖</m:t>
                            </m:r>
                          </m:sup>
                        </m:sSubSup>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1</m:t>
                            </m:r>
                          </m:sub>
                          <m:sup>
                            <m:r>
                              <a:rPr lang="en-US" altLang="zh-CN" i="1">
                                <a:latin typeface="Cambria Math" panose="02040503050406030204" pitchFamily="18" charset="0"/>
                              </a:rPr>
                              <m:t>𝑖</m:t>
                            </m:r>
                          </m:sup>
                        </m:sSubSup>
                        <m:r>
                          <a:rPr lang="en-US" altLang="zh-CN" i="1">
                            <a:latin typeface="Cambria Math" panose="02040503050406030204" pitchFamily="18" charset="0"/>
                          </a:rPr>
                          <m:t>,</m:t>
                        </m:r>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𝑐</m:t>
                            </m:r>
                          </m:e>
                          <m:sup>
                            <m:r>
                              <a:rPr lang="en-US" altLang="zh-CN" b="0" i="1" smtClean="0">
                                <a:latin typeface="Cambria Math" panose="02040503050406030204" pitchFamily="18" charset="0"/>
                              </a:rPr>
                              <m:t>𝑖</m:t>
                            </m:r>
                          </m:sup>
                        </m:sSup>
                      </m:e>
                    </m:d>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𝑅</m:t>
                        </m:r>
                      </m:e>
                      <m:sup>
                        <m:r>
                          <a:rPr lang="en-US" altLang="zh-CN" b="0" i="1" smtClean="0">
                            <a:latin typeface="Cambria Math" panose="02040503050406030204" pitchFamily="18" charset="0"/>
                            <a:ea typeface="Cambria Math" panose="02040503050406030204" pitchFamily="18" charset="0"/>
                          </a:rPr>
                          <m:t>4</m:t>
                        </m:r>
                      </m:sup>
                    </m:sSup>
                    <m:r>
                      <a:rPr lang="en-US" altLang="zh-CN" b="0" i="1" smtClean="0">
                        <a:latin typeface="Cambria Math" panose="02040503050406030204" pitchFamily="18" charset="0"/>
                        <a:ea typeface="Cambria Math" panose="02040503050406030204" pitchFamily="18" charset="0"/>
                      </a:rPr>
                      <m:t>×</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1,2,⋯,</m:t>
                        </m:r>
                        <m:r>
                          <a:rPr lang="en-US" altLang="zh-CN" b="0" i="1" smtClean="0">
                            <a:latin typeface="Cambria Math" panose="02040503050406030204" pitchFamily="18" charset="0"/>
                            <a:ea typeface="Cambria Math" panose="02040503050406030204" pitchFamily="18" charset="0"/>
                          </a:rPr>
                          <m:t>𝐶</m:t>
                        </m:r>
                      </m:e>
                    </m:d>
                  </m:oMath>
                </a14:m>
                <a:r>
                  <a:rPr lang="en-US" altLang="zh-CN" dirty="0" smtClean="0"/>
                  <a:t>, </a:t>
                </a:r>
                <a14:m>
                  <m:oMath xmlns:m="http://schemas.openxmlformats.org/officeDocument/2006/math">
                    <m:sSubSup>
                      <m:sSubSupPr>
                        <m:ctrlPr>
                          <a:rPr lang="en-US" altLang="zh-CN" i="1">
                            <a:latin typeface="Cambria Math" panose="02040503050406030204" pitchFamily="18" charset="0"/>
                          </a:rPr>
                        </m:ctrlPr>
                      </m:sSubSupPr>
                      <m:e>
                        <m:r>
                          <a:rPr lang="en-US" altLang="zh-CN" b="0" i="1" smtClean="0">
                            <a:latin typeface="Cambria Math" panose="02040503050406030204" pitchFamily="18" charset="0"/>
                          </a:rPr>
                          <m:t>(</m:t>
                        </m:r>
                        <m:r>
                          <a:rPr lang="en-US" altLang="zh-CN" i="1">
                            <a:latin typeface="Cambria Math" panose="02040503050406030204" pitchFamily="18" charset="0"/>
                          </a:rPr>
                          <m:t>𝑥</m:t>
                        </m:r>
                      </m:e>
                      <m:sub>
                        <m:r>
                          <a:rPr lang="en-US" altLang="zh-CN" i="1">
                            <a:latin typeface="Cambria Math" panose="02040503050406030204" pitchFamily="18" charset="0"/>
                          </a:rPr>
                          <m:t>0</m:t>
                        </m:r>
                      </m:sub>
                      <m:sup>
                        <m:r>
                          <a:rPr lang="en-US" altLang="zh-CN" i="1">
                            <a:latin typeface="Cambria Math" panose="02040503050406030204" pitchFamily="18" charset="0"/>
                          </a:rPr>
                          <m:t>𝑖</m:t>
                        </m:r>
                      </m:sup>
                    </m:sSubSup>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𝑦</m:t>
                        </m:r>
                      </m:e>
                      <m:sub>
                        <m:r>
                          <a:rPr lang="en-US" altLang="zh-CN" i="1">
                            <a:latin typeface="Cambria Math" panose="02040503050406030204" pitchFamily="18" charset="0"/>
                          </a:rPr>
                          <m:t>0</m:t>
                        </m:r>
                      </m:sub>
                      <m:sup>
                        <m:r>
                          <a:rPr lang="en-US" altLang="zh-CN" i="1">
                            <a:latin typeface="Cambria Math" panose="02040503050406030204" pitchFamily="18" charset="0"/>
                          </a:rPr>
                          <m:t>𝑖</m:t>
                        </m:r>
                      </m:sup>
                    </m:sSubSup>
                    <m:r>
                      <a:rPr lang="en-US" altLang="zh-CN" b="0" i="1" smtClean="0">
                        <a:latin typeface="Cambria Math" panose="02040503050406030204" pitchFamily="18" charset="0"/>
                      </a:rPr>
                      <m:t>)</m:t>
                    </m:r>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b="0" i="1" smtClean="0">
                            <a:latin typeface="Cambria Math" panose="02040503050406030204" pitchFamily="18" charset="0"/>
                          </a:rPr>
                          <m:t>(</m:t>
                        </m:r>
                        <m:r>
                          <a:rPr lang="en-US" altLang="zh-CN" i="1">
                            <a:latin typeface="Cambria Math" panose="02040503050406030204" pitchFamily="18" charset="0"/>
                          </a:rPr>
                          <m:t>𝑥</m:t>
                        </m:r>
                      </m:e>
                      <m:sub>
                        <m:r>
                          <a:rPr lang="en-US" altLang="zh-CN" i="1">
                            <a:latin typeface="Cambria Math" panose="02040503050406030204" pitchFamily="18" charset="0"/>
                          </a:rPr>
                          <m:t>1</m:t>
                        </m:r>
                      </m:sub>
                      <m:sup>
                        <m:r>
                          <a:rPr lang="en-US" altLang="zh-CN" i="1">
                            <a:latin typeface="Cambria Math" panose="02040503050406030204" pitchFamily="18" charset="0"/>
                          </a:rPr>
                          <m:t>𝑖</m:t>
                        </m:r>
                      </m:sup>
                    </m:sSubSup>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𝑦</m:t>
                        </m:r>
                      </m:e>
                      <m:sub>
                        <m:r>
                          <a:rPr lang="en-US" altLang="zh-CN" i="1">
                            <a:latin typeface="Cambria Math" panose="02040503050406030204" pitchFamily="18" charset="0"/>
                          </a:rPr>
                          <m:t>1</m:t>
                        </m:r>
                      </m:sub>
                      <m:sup>
                        <m:r>
                          <a:rPr lang="en-US" altLang="zh-CN" i="1">
                            <a:latin typeface="Cambria Math" panose="02040503050406030204" pitchFamily="18" charset="0"/>
                          </a:rPr>
                          <m:t>𝑖</m:t>
                        </m:r>
                      </m:sup>
                    </m:sSubSup>
                    <m:r>
                      <a:rPr lang="en-US" altLang="zh-CN" b="0" i="1" smtClean="0">
                        <a:latin typeface="Cambria Math" panose="02040503050406030204" pitchFamily="18" charset="0"/>
                      </a:rPr>
                      <m:t>)</m:t>
                    </m:r>
                  </m:oMath>
                </a14:m>
                <a:r>
                  <a:rPr lang="zh-CN" altLang="en-US" dirty="0" smtClean="0"/>
                  <a:t>分别表示框左上角与右下角坐标，</a:t>
                </a:r>
                <a14:m>
                  <m:oMath xmlns:m="http://schemas.openxmlformats.org/officeDocument/2006/math">
                    <m:sSup>
                      <m:sSupPr>
                        <m:ctrlPr>
                          <a:rPr lang="en-US" altLang="zh-CN" i="1" smtClean="0">
                            <a:latin typeface="Cambria Math" panose="02040503050406030204" pitchFamily="18" charset="0"/>
                          </a:rPr>
                        </m:ctrlPr>
                      </m:sSupPr>
                      <m:e>
                        <m:r>
                          <a:rPr lang="en-US" altLang="zh-CN" i="1">
                            <a:latin typeface="Cambria Math" panose="02040503050406030204" pitchFamily="18" charset="0"/>
                          </a:rPr>
                          <m:t>𝑐</m:t>
                        </m:r>
                      </m:e>
                      <m:sup>
                        <m:r>
                          <a:rPr lang="en-US" altLang="zh-CN" i="1">
                            <a:latin typeface="Cambria Math" panose="02040503050406030204" pitchFamily="18" charset="0"/>
                          </a:rPr>
                          <m:t>𝑖</m:t>
                        </m:r>
                      </m:sup>
                    </m:sSup>
                  </m:oMath>
                </a14:m>
                <a:r>
                  <a:rPr lang="zh-CN" altLang="en-US" dirty="0" smtClean="0"/>
                  <a:t>表示框归属的类别，</a:t>
                </a:r>
                <a14:m>
                  <m:oMath xmlns:m="http://schemas.openxmlformats.org/officeDocument/2006/math">
                    <m:r>
                      <a:rPr lang="en-US" altLang="zh-CN" i="1" smtClean="0">
                        <a:latin typeface="Cambria Math" panose="02040503050406030204" pitchFamily="18" charset="0"/>
                        <a:ea typeface="Cambria Math" panose="02040503050406030204" pitchFamily="18" charset="0"/>
                      </a:rPr>
                      <m:t>𝐶</m:t>
                    </m:r>
                  </m:oMath>
                </a14:m>
                <a:r>
                  <a:rPr lang="zh-CN" altLang="en-US" dirty="0" smtClean="0"/>
                  <a:t>表示类别数量，比如对于</a:t>
                </a:r>
                <a:r>
                  <a:rPr lang="en-US" altLang="zh-CN" dirty="0" smtClean="0"/>
                  <a:t>COCO</a:t>
                </a:r>
                <a:r>
                  <a:rPr lang="zh-CN" altLang="en-US" dirty="0" smtClean="0"/>
                  <a:t>数据集，</a:t>
                </a:r>
                <a:r>
                  <a:rPr lang="en-US" altLang="zh-CN" dirty="0" smtClean="0"/>
                  <a:t>C</a:t>
                </a:r>
                <a:r>
                  <a:rPr lang="zh-CN" altLang="en-US" dirty="0" smtClean="0"/>
                  <a:t>的取值为</a:t>
                </a:r>
                <a:r>
                  <a:rPr lang="en-US" altLang="zh-CN" dirty="0" smtClean="0"/>
                  <a:t>80</a:t>
                </a:r>
                <a:r>
                  <a:rPr lang="zh-CN" altLang="en-US" dirty="0" smtClean="0"/>
                  <a:t>。</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对于特征图</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𝑖</m:t>
                        </m:r>
                      </m:sub>
                    </m:sSub>
                  </m:oMath>
                </a14:m>
                <a:r>
                  <a:rPr lang="zh-CN" altLang="en-US" dirty="0" smtClean="0"/>
                  <a:t>上的一点</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oMath>
                </a14:m>
                <a:r>
                  <a:rPr lang="en-US" altLang="zh-CN" dirty="0" smtClean="0"/>
                  <a:t>,</a:t>
                </a:r>
                <a:r>
                  <a:rPr lang="zh-CN" altLang="en-US" dirty="0" smtClean="0"/>
                  <a:t>可以将其投影到输入图像的原始像素</a:t>
                </a:r>
                <a14:m>
                  <m:oMath xmlns:m="http://schemas.openxmlformats.org/officeDocument/2006/math">
                    <m:d>
                      <m:dPr>
                        <m:ctrlPr>
                          <a:rPr lang="en-US" altLang="zh-CN" i="1" smtClean="0">
                            <a:latin typeface="Cambria Math" panose="02040503050406030204" pitchFamily="18" charset="0"/>
                          </a:rPr>
                        </m:ctrlPr>
                      </m:dPr>
                      <m:e>
                        <m:d>
                          <m:dPr>
                            <m:begChr m:val="⌊"/>
                            <m:endChr m:val="⌋"/>
                            <m:ctrlPr>
                              <a:rPr lang="en-US" altLang="zh-CN" i="1" smtClean="0">
                                <a:latin typeface="Cambria Math" panose="02040503050406030204" pitchFamily="18" charset="0"/>
                              </a:rPr>
                            </m:ctrlPr>
                          </m:dPr>
                          <m:e>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𝑠</m:t>
                                </m:r>
                              </m:num>
                              <m:den>
                                <m:r>
                                  <a:rPr lang="en-US" altLang="zh-CN" b="0" i="1" smtClean="0">
                                    <a:latin typeface="Cambria Math" panose="02040503050406030204" pitchFamily="18" charset="0"/>
                                  </a:rPr>
                                  <m:t>2</m:t>
                                </m:r>
                              </m:den>
                            </m:f>
                          </m:e>
                        </m:d>
                        <m:r>
                          <a:rPr lang="en-US" altLang="zh-CN" b="0" i="1" smtClean="0">
                            <a:latin typeface="Cambria Math" panose="02040503050406030204" pitchFamily="18" charset="0"/>
                          </a:rPr>
                          <m:t>+</m:t>
                        </m:r>
                        <m:r>
                          <a:rPr lang="en-US" altLang="zh-CN" b="0" i="1" smtClean="0">
                            <a:latin typeface="Cambria Math" panose="02040503050406030204" pitchFamily="18" charset="0"/>
                          </a:rPr>
                          <m:t>𝑥𝑠</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𝑠</m:t>
                                </m:r>
                              </m:num>
                              <m:den>
                                <m:r>
                                  <a:rPr lang="en-US" altLang="zh-CN" b="0" i="1" smtClean="0">
                                    <a:latin typeface="Cambria Math" panose="02040503050406030204" pitchFamily="18" charset="0"/>
                                  </a:rPr>
                                  <m:t>2</m:t>
                                </m:r>
                              </m:den>
                            </m:f>
                          </m:e>
                        </m:d>
                        <m:r>
                          <a:rPr lang="en-US" altLang="zh-CN" b="0" i="1" smtClean="0">
                            <a:latin typeface="Cambria Math" panose="02040503050406030204" pitchFamily="18" charset="0"/>
                          </a:rPr>
                          <m:t>+</m:t>
                        </m:r>
                        <m:r>
                          <a:rPr lang="en-US" altLang="zh-CN" b="0" i="1" smtClean="0">
                            <a:latin typeface="Cambria Math" panose="02040503050406030204" pitchFamily="18" charset="0"/>
                          </a:rPr>
                          <m:t>𝑦𝑠</m:t>
                        </m:r>
                      </m:e>
                    </m:d>
                  </m:oMath>
                </a14:m>
                <a:r>
                  <a:rPr lang="zh-CN" altLang="en-US" dirty="0" smtClean="0"/>
                  <a:t>上</a:t>
                </a:r>
                <a14:m>
                  <m:oMath xmlns:m="http://schemas.openxmlformats.org/officeDocument/2006/math">
                    <m:r>
                      <a:rPr lang="zh-CN" altLang="en-US" i="1" dirty="0" smtClean="0">
                        <a:latin typeface="Cambria Math" panose="02040503050406030204" pitchFamily="18" charset="0"/>
                      </a:rPr>
                      <m:t>（注：</m:t>
                    </m:r>
                    <m:d>
                      <m:dPr>
                        <m:begChr m:val="⌊"/>
                        <m:endChr m:val="⌋"/>
                        <m:ctrlPr>
                          <a:rPr lang="en-US" altLang="zh-CN" i="1" smtClean="0">
                            <a:latin typeface="Cambria Math" panose="02040503050406030204" pitchFamily="18" charset="0"/>
                          </a:rPr>
                        </m:ctrlPr>
                      </m:dPr>
                      <m:e/>
                    </m:d>
                    <m:r>
                      <a:rPr lang="zh-CN" altLang="en-US" b="0" i="1" smtClean="0">
                        <a:latin typeface="Cambria Math" panose="02040503050406030204" pitchFamily="18" charset="0"/>
                      </a:rPr>
                      <m:t>表示</m:t>
                    </m:r>
                  </m:oMath>
                </a14:m>
                <a:r>
                  <a:rPr lang="zh-CN" altLang="en-US" dirty="0" smtClean="0"/>
                  <a:t>向下取整），这个投影位置记为</a:t>
                </a:r>
                <a14:m>
                  <m:oMath xmlns:m="http://schemas.openxmlformats.org/officeDocument/2006/math">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𝑝</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𝑝</m:t>
                            </m:r>
                          </m:sub>
                        </m:sSub>
                      </m:e>
                    </m:d>
                  </m:oMath>
                </a14:m>
                <a:r>
                  <a:rPr lang="zh-CN" altLang="en-US" dirty="0" smtClean="0"/>
                  <a:t>，临近</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oMath>
                </a14:m>
                <a:r>
                  <a:rPr lang="zh-CN" altLang="en-US" dirty="0" smtClean="0"/>
                  <a:t>感受野的中心。与基于锚的方法需要回归锚与真值之间的位置偏移和尺度缩放的方法不同，</a:t>
                </a:r>
                <a:r>
                  <a:rPr lang="en-US" altLang="zh-CN" dirty="0" smtClean="0"/>
                  <a:t>FCOS</a:t>
                </a:r>
                <a:r>
                  <a:rPr lang="zh-CN" altLang="en-US" dirty="0" smtClean="0"/>
                  <a:t>直接回归</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oMath>
                </a14:m>
                <a:r>
                  <a:rPr lang="zh-CN" altLang="en-US" dirty="0" smtClean="0"/>
                  <a:t>在原始图像上的投影</a:t>
                </a:r>
                <a14:m>
                  <m:oMath xmlns:m="http://schemas.openxmlformats.org/officeDocument/2006/math">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𝑝</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𝑝</m:t>
                            </m:r>
                          </m:sub>
                        </m:sSub>
                      </m:e>
                    </m:d>
                  </m:oMath>
                </a14:m>
                <a:r>
                  <a:rPr lang="zh-CN" altLang="en-US" dirty="0" smtClean="0"/>
                  <a:t>到真值左、右、上、下</a:t>
                </a:r>
                <a:r>
                  <a:rPr lang="en-US" altLang="zh-CN" dirty="0" smtClean="0"/>
                  <a:t>4</a:t>
                </a:r>
                <a:r>
                  <a:rPr lang="zh-CN" altLang="en-US" dirty="0" smtClean="0"/>
                  <a:t>个边缘的距离，也就是说</a:t>
                </a:r>
                <a14:m>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𝐹</m:t>
                        </m:r>
                      </m:e>
                      <m:sub>
                        <m:r>
                          <a:rPr lang="en-US" altLang="zh-CN" i="1">
                            <a:latin typeface="Cambria Math" panose="02040503050406030204" pitchFamily="18" charset="0"/>
                          </a:rPr>
                          <m:t>𝑖</m:t>
                        </m:r>
                      </m:sub>
                    </m:sSub>
                  </m:oMath>
                </a14:m>
                <a:r>
                  <a:rPr lang="zh-CN" altLang="en-US" dirty="0" smtClean="0"/>
                  <a:t>上的每个位置</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oMath>
                </a14:m>
                <a:r>
                  <a:rPr lang="zh-CN" altLang="en-US" dirty="0" smtClean="0"/>
                  <a:t>，都是</a:t>
                </a:r>
                <a:r>
                  <a:rPr lang="en-US" altLang="zh-CN" dirty="0" smtClean="0"/>
                  <a:t>FCOS</a:t>
                </a:r>
                <a:r>
                  <a:rPr lang="zh-CN" altLang="en-US" dirty="0" smtClean="0"/>
                  <a:t>的训练样本。更具体地说，如果</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oMath>
                </a14:m>
                <a:r>
                  <a:rPr lang="zh-CN" altLang="en-US" dirty="0" smtClean="0"/>
                  <a:t>的投影</a:t>
                </a:r>
                <a14:m>
                  <m:oMath xmlns:m="http://schemas.openxmlformats.org/officeDocument/2006/math">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𝑝</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𝑝</m:t>
                            </m:r>
                          </m:sub>
                        </m:sSub>
                      </m:e>
                    </m:d>
                  </m:oMath>
                </a14:m>
                <a:r>
                  <a:rPr lang="zh-CN" altLang="en-US" dirty="0" smtClean="0"/>
                  <a:t>落在某个真值框之内，</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oMath>
                </a14:m>
                <a:r>
                  <a:rPr lang="zh-CN" altLang="en-US" dirty="0" smtClean="0"/>
                  <a:t>就被视为一个正样本，这个真值框包围的目标的类别</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𝑐</m:t>
                        </m:r>
                      </m:e>
                      <m:sup>
                        <m:r>
                          <a:rPr lang="en-US" altLang="zh-CN" b="0" i="1" smtClean="0">
                            <a:latin typeface="Cambria Math" panose="02040503050406030204" pitchFamily="18" charset="0"/>
                          </a:rPr>
                          <m:t>∗</m:t>
                        </m:r>
                      </m:sup>
                    </m:sSup>
                  </m:oMath>
                </a14:m>
                <a:r>
                  <a:rPr lang="zh-CN" altLang="en-US" dirty="0" smtClean="0"/>
                  <a:t>就是</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oMath>
                </a14:m>
                <a:r>
                  <a:rPr lang="zh-CN" altLang="en-US" dirty="0" smtClean="0"/>
                  <a:t>所属的类别；如果</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oMath>
                </a14:m>
                <a:r>
                  <a:rPr lang="zh-CN" altLang="en-US" dirty="0" smtClean="0"/>
                  <a:t>的投影</a:t>
                </a:r>
                <a14:m>
                  <m:oMath xmlns:m="http://schemas.openxmlformats.org/officeDocument/2006/math">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𝑝</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𝑝</m:t>
                            </m:r>
                          </m:sub>
                        </m:sSub>
                      </m:e>
                    </m:d>
                  </m:oMath>
                </a14:m>
                <a:r>
                  <a:rPr lang="zh-CN" altLang="en-US" dirty="0" smtClean="0"/>
                  <a:t>落在多个彼此覆盖的真值框内，我们就选定其中最小的作为</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oMath>
                </a14:m>
                <a:r>
                  <a:rPr lang="zh-CN" altLang="en-US" dirty="0" smtClean="0"/>
                  <a:t>所属的真值框；如果</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oMath>
                </a14:m>
                <a:r>
                  <a:rPr lang="zh-CN" altLang="en-US" dirty="0" smtClean="0"/>
                  <a:t>的投影</a:t>
                </a:r>
                <a14:m>
                  <m:oMath xmlns:m="http://schemas.openxmlformats.org/officeDocument/2006/math">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𝑝</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𝑝</m:t>
                            </m:r>
                          </m:sub>
                        </m:sSub>
                      </m:e>
                    </m:d>
                    <m:r>
                      <a:rPr lang="zh-CN" altLang="en-US" b="0" i="1" smtClean="0">
                        <a:latin typeface="Cambria Math" panose="02040503050406030204" pitchFamily="18" charset="0"/>
                      </a:rPr>
                      <m:t>未</m:t>
                    </m:r>
                  </m:oMath>
                </a14:m>
                <a:r>
                  <a:rPr lang="zh-CN" altLang="en-US" dirty="0" smtClean="0"/>
                  <a:t>落在任何一个真值框内，则</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oMath>
                </a14:m>
                <a:r>
                  <a:rPr lang="zh-CN" altLang="en-US" dirty="0" smtClean="0"/>
                  <a:t>未负样本，其所属类别为背景类，即</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𝑐</m:t>
                        </m:r>
                      </m:e>
                      <m:sup>
                        <m:r>
                          <a:rPr lang="en-US" altLang="zh-CN" b="0" i="1" smtClean="0">
                            <a:latin typeface="Cambria Math" panose="02040503050406030204" pitchFamily="18" charset="0"/>
                          </a:rPr>
                          <m:t>∗</m:t>
                        </m:r>
                      </m:sup>
                    </m:sSup>
                    <m:r>
                      <a:rPr lang="en-US" altLang="zh-CN" b="0" i="0" smtClean="0">
                        <a:latin typeface="Cambria Math" panose="02040503050406030204" pitchFamily="18" charset="0"/>
                      </a:rPr>
                      <m:t>=0</m:t>
                    </m:r>
                  </m:oMath>
                </a14:m>
                <a:r>
                  <a:rPr lang="zh-CN" altLang="en-US" dirty="0" smtClean="0"/>
                  <a:t>。对于一个正样本，除了要回归类别标签，还需要回归一个</a:t>
                </a:r>
                <a:r>
                  <a:rPr lang="en-US" altLang="zh-CN" dirty="0" smtClean="0"/>
                  <a:t>4</a:t>
                </a:r>
                <a:r>
                  <a:rPr lang="zh-CN" altLang="en-US" dirty="0" smtClean="0"/>
                  <a:t>维的向量，用于定位</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oMath>
                </a14:m>
                <a:r>
                  <a:rPr lang="zh-CN" altLang="en-US" dirty="0" smtClean="0"/>
                  <a:t>投影点</a:t>
                </a:r>
                <a14:m>
                  <m:oMath xmlns:m="http://schemas.openxmlformats.org/officeDocument/2006/math">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𝑝</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𝑝</m:t>
                            </m:r>
                          </m:sub>
                        </m:sSub>
                      </m:e>
                    </m:d>
                  </m:oMath>
                </a14:m>
                <a:r>
                  <a:rPr lang="zh-CN" altLang="en-US" dirty="0" smtClean="0"/>
                  <a:t>对应的目标框。记这个</a:t>
                </a:r>
                <a:r>
                  <a:rPr lang="en-US" altLang="zh-CN" dirty="0" smtClean="0"/>
                  <a:t>4</a:t>
                </a:r>
                <a:r>
                  <a:rPr lang="zh-CN" altLang="en-US" dirty="0" smtClean="0"/>
                  <a:t>维向量</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𝑇</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𝑙</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𝑟</m:t>
                            </m:r>
                          </m:e>
                          <m:sup>
                            <m:r>
                              <a:rPr lang="en-US" altLang="zh-CN" i="1">
                                <a:latin typeface="Cambria Math" panose="02040503050406030204" pitchFamily="18" charset="0"/>
                              </a:rPr>
                              <m:t>∗</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𝑡</m:t>
                            </m:r>
                          </m:e>
                          <m:sup>
                            <m:r>
                              <a:rPr lang="en-US" altLang="zh-CN" i="1">
                                <a:latin typeface="Cambria Math" panose="02040503050406030204" pitchFamily="18" charset="0"/>
                              </a:rPr>
                              <m:t>∗</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𝑏</m:t>
                            </m:r>
                          </m:e>
                          <m:sup>
                            <m:r>
                              <a:rPr lang="en-US" altLang="zh-CN" i="1">
                                <a:latin typeface="Cambria Math" panose="02040503050406030204" pitchFamily="18" charset="0"/>
                              </a:rPr>
                              <m:t>∗</m:t>
                            </m:r>
                          </m:sup>
                        </m:sSup>
                      </m:e>
                    </m:d>
                  </m:oMath>
                </a14:m>
                <a:r>
                  <a:rPr lang="zh-CN" altLang="en-US" dirty="0" smtClean="0"/>
                  <a:t>，分别表示</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oMath>
                </a14:m>
                <a:r>
                  <a:rPr lang="zh-CN" altLang="en-US" dirty="0" smtClean="0"/>
                  <a:t>的投影</a:t>
                </a:r>
                <a14:m>
                  <m:oMath xmlns:m="http://schemas.openxmlformats.org/officeDocument/2006/math">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𝑝</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𝑝</m:t>
                            </m:r>
                          </m:sub>
                        </m:sSub>
                      </m:e>
                    </m:d>
                  </m:oMath>
                </a14:m>
                <a:r>
                  <a:rPr lang="zh-CN" altLang="en-US" dirty="0" smtClean="0"/>
                  <a:t>点到目标框左右上下</a:t>
                </a:r>
                <a:r>
                  <a:rPr lang="en-US" altLang="zh-CN" dirty="0" smtClean="0"/>
                  <a:t>4</a:t>
                </a:r>
                <a:r>
                  <a:rPr lang="zh-CN" altLang="en-US" dirty="0" smtClean="0"/>
                  <a:t>个边缘的距离。很显然，通过这样的方式，避免了锚一系列计算</a:t>
                </a:r>
                <a:r>
                  <a:rPr lang="en-US" altLang="zh-CN" dirty="0" err="1" smtClean="0"/>
                  <a:t>IoU</a:t>
                </a:r>
                <a:r>
                  <a:rPr lang="zh-CN" altLang="en-US" baseline="0" dirty="0" smtClean="0"/>
                  <a:t>的过程，明显提升了算法运行的效率。</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endParaRPr lang="en-US" altLang="zh-CN" dirty="0" smtClean="0"/>
              </a:p>
            </p:txBody>
          </p:sp>
        </mc:Choice>
        <mc:Fallback xmlns="">
          <p:sp>
            <p:nvSpPr>
              <p:cNvPr id="3" name="备注占位符 2"/>
              <p:cNvSpPr>
                <a:spLocks noGrp="1"/>
              </p:cNvSpPr>
              <p:nvPr>
                <p:ph type="body" idx="1"/>
              </p:nvPr>
            </p:nvSpPr>
            <p:spPr/>
            <p:txBody>
              <a:bodyPr/>
              <a:lstStyle/>
              <a:p>
                <a:r>
                  <a:rPr lang="zh-CN" altLang="en-US" dirty="0" smtClean="0"/>
                  <a:t>下面详细介绍算法的具体细节。</a:t>
                </a:r>
                <a:endParaRPr lang="en-US" altLang="zh-CN" dirty="0" smtClean="0"/>
              </a:p>
              <a:p>
                <a:pPr marL="0" marR="0" indent="0" algn="l" defTabSz="914400" rtl="0" eaLnBrk="1" fontAlgn="base" latinLnBrk="0" hangingPunct="1">
                  <a:lnSpc>
                    <a:spcPct val="100000"/>
                  </a:lnSpc>
                  <a:spcBef>
                    <a:spcPct val="0"/>
                  </a:spcBef>
                  <a:spcAft>
                    <a:spcPct val="0"/>
                  </a:spcAft>
                  <a:buClrTx/>
                  <a:buSzTx/>
                  <a:buFontTx/>
                  <a:buNone/>
                  <a:tabLst/>
                  <a:defRPr/>
                </a:pPr>
                <a:r>
                  <a:rPr lang="en-US" altLang="zh-CN" dirty="0" smtClean="0"/>
                  <a:t>1.</a:t>
                </a:r>
                <a:r>
                  <a:rPr lang="zh-CN" altLang="en-US" dirty="0" smtClean="0"/>
                  <a:t>基于全卷积网络的一阶段检测算法</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令</a:t>
                </a:r>
                <a:r>
                  <a:rPr lang="en-US" altLang="zh-CN" b="0" i="0" smtClean="0">
                    <a:latin typeface="Cambria Math" panose="02040503050406030204" pitchFamily="18" charset="0"/>
                  </a:rPr>
                  <a:t>𝐹_𝑖</a:t>
                </a:r>
                <a:r>
                  <a:rPr lang="en-US" altLang="zh-CN" i="0" smtClean="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𝑅^(𝐻</a:t>
                </a:r>
                <a:r>
                  <a:rPr lang="en-US" altLang="zh-CN" i="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𝑊</a:t>
                </a:r>
                <a:r>
                  <a:rPr lang="en-US" altLang="zh-CN" i="0">
                    <a:latin typeface="Cambria Math" panose="02040503050406030204" pitchFamily="18" charset="0"/>
                    <a:ea typeface="Cambria Math" panose="02040503050406030204" pitchFamily="18" charset="0"/>
                  </a:rPr>
                  <a:t>×</a:t>
                </a:r>
                <a:r>
                  <a:rPr lang="en-US" altLang="zh-CN" b="0" i="0" smtClean="0">
                    <a:latin typeface="Cambria Math" panose="02040503050406030204" pitchFamily="18" charset="0"/>
                    <a:ea typeface="Cambria Math" panose="02040503050406030204" pitchFamily="18" charset="0"/>
                  </a:rPr>
                  <a:t>𝐶)</a:t>
                </a:r>
                <a:r>
                  <a:rPr lang="zh-CN" altLang="en-US" dirty="0" smtClean="0"/>
                  <a:t>表示网络骨架第</a:t>
                </a:r>
                <a:r>
                  <a:rPr lang="en-US" altLang="zh-CN" i="0">
                    <a:latin typeface="Cambria Math" panose="02040503050406030204" pitchFamily="18" charset="0"/>
                  </a:rPr>
                  <a:t>𝑖</a:t>
                </a:r>
                <a:r>
                  <a:rPr lang="zh-CN" altLang="en-US" dirty="0" smtClean="0"/>
                  <a:t>层输出的特征图，</a:t>
                </a:r>
                <a:r>
                  <a:rPr lang="en-US" altLang="zh-CN" b="0" i="0" smtClean="0">
                    <a:latin typeface="Cambria Math" panose="02040503050406030204" pitchFamily="18" charset="0"/>
                  </a:rPr>
                  <a:t>𝑠</a:t>
                </a:r>
                <a:r>
                  <a:rPr lang="zh-CN" altLang="en-US" dirty="0" smtClean="0"/>
                  <a:t>表示该层相对于原始图像的采样间隔</a:t>
                </a:r>
                <a:r>
                  <a:rPr lang="en-US" altLang="zh-CN" dirty="0" smtClean="0"/>
                  <a:t>(stride)</a:t>
                </a:r>
                <a:r>
                  <a:rPr lang="zh-CN" altLang="en-US" dirty="0" smtClean="0"/>
                  <a:t>。图像中的真值框用</a:t>
                </a:r>
                <a:r>
                  <a:rPr lang="en-US" altLang="zh-CN" i="0" smtClean="0">
                    <a:latin typeface="Cambria Math" panose="02040503050406030204" pitchFamily="18" charset="0"/>
                  </a:rPr>
                  <a:t>{</a:t>
                </a:r>
                <a:r>
                  <a:rPr lang="en-US" altLang="zh-CN" b="0" i="0" smtClean="0">
                    <a:latin typeface="Cambria Math" panose="02040503050406030204" pitchFamily="18" charset="0"/>
                  </a:rPr>
                  <a:t>𝐵_𝑖 }</a:t>
                </a:r>
                <a:r>
                  <a:rPr lang="zh-CN" altLang="en-US" dirty="0" smtClean="0"/>
                  <a:t>表示，其中</a:t>
                </a:r>
                <a:r>
                  <a:rPr lang="en-US" altLang="zh-CN" b="0" i="0" smtClean="0">
                    <a:latin typeface="Cambria Math" panose="02040503050406030204" pitchFamily="18" charset="0"/>
                  </a:rPr>
                  <a:t>𝐵_𝑖=(𝑥_0^𝑖,𝑦</a:t>
                </a:r>
                <a:r>
                  <a:rPr lang="en-US" altLang="zh-CN" b="0" i="0">
                    <a:latin typeface="Cambria Math" panose="02040503050406030204" pitchFamily="18" charset="0"/>
                  </a:rPr>
                  <a:t>_</a:t>
                </a:r>
                <a:r>
                  <a:rPr lang="en-US" altLang="zh-CN" i="0">
                    <a:latin typeface="Cambria Math" panose="02040503050406030204" pitchFamily="18" charset="0"/>
                  </a:rPr>
                  <a:t>0^𝑖,𝑥_</a:t>
                </a:r>
                <a:r>
                  <a:rPr lang="en-US" altLang="zh-CN" b="0" i="0" smtClean="0">
                    <a:latin typeface="Cambria Math" panose="02040503050406030204" pitchFamily="18" charset="0"/>
                  </a:rPr>
                  <a:t>1^</a:t>
                </a:r>
                <a:r>
                  <a:rPr lang="en-US" altLang="zh-CN" i="0">
                    <a:latin typeface="Cambria Math" panose="02040503050406030204" pitchFamily="18" charset="0"/>
                  </a:rPr>
                  <a:t>𝑖,</a:t>
                </a:r>
                <a:r>
                  <a:rPr lang="en-US" altLang="zh-CN" b="0" i="0" smtClean="0">
                    <a:latin typeface="Cambria Math" panose="02040503050406030204" pitchFamily="18" charset="0"/>
                  </a:rPr>
                  <a:t>𝑦</a:t>
                </a:r>
                <a:r>
                  <a:rPr lang="en-US" altLang="zh-CN" b="0" i="0">
                    <a:latin typeface="Cambria Math" panose="02040503050406030204" pitchFamily="18" charset="0"/>
                  </a:rPr>
                  <a:t>_</a:t>
                </a:r>
                <a:r>
                  <a:rPr lang="en-US" altLang="zh-CN" b="0" i="0" smtClean="0">
                    <a:latin typeface="Cambria Math" panose="02040503050406030204" pitchFamily="18" charset="0"/>
                  </a:rPr>
                  <a:t>1^</a:t>
                </a:r>
                <a:r>
                  <a:rPr lang="en-US" altLang="zh-CN" i="0">
                    <a:latin typeface="Cambria Math" panose="02040503050406030204" pitchFamily="18" charset="0"/>
                  </a:rPr>
                  <a:t>𝑖,</a:t>
                </a:r>
                <a:r>
                  <a:rPr lang="en-US" altLang="zh-CN" b="0" i="0" smtClean="0">
                    <a:latin typeface="Cambria Math" panose="02040503050406030204" pitchFamily="18" charset="0"/>
                  </a:rPr>
                  <a:t>𝑐^𝑖 )</a:t>
                </a:r>
                <a:r>
                  <a:rPr lang="en-US" altLang="zh-CN" b="0" i="0" smtClean="0">
                    <a:latin typeface="Cambria Math" panose="02040503050406030204" pitchFamily="18" charset="0"/>
                    <a:ea typeface="Cambria Math" panose="02040503050406030204" pitchFamily="18" charset="0"/>
                  </a:rPr>
                  <a:t>∈𝑅^4×{1,2,⋯,𝐶}</a:t>
                </a:r>
                <a:r>
                  <a:rPr lang="en-US" altLang="zh-CN" dirty="0" smtClean="0"/>
                  <a:t>, </a:t>
                </a:r>
                <a:r>
                  <a:rPr lang="en-US" altLang="zh-CN" i="0">
                    <a:latin typeface="Cambria Math" panose="02040503050406030204" pitchFamily="18" charset="0"/>
                  </a:rPr>
                  <a:t>〖</a:t>
                </a:r>
                <a:r>
                  <a:rPr lang="en-US" altLang="zh-CN" b="0" i="0" smtClean="0">
                    <a:latin typeface="Cambria Math" panose="02040503050406030204" pitchFamily="18" charset="0"/>
                  </a:rPr>
                  <a:t>(</a:t>
                </a:r>
                <a:r>
                  <a:rPr lang="en-US" altLang="zh-CN" i="0">
                    <a:latin typeface="Cambria Math" panose="02040503050406030204" pitchFamily="18" charset="0"/>
                  </a:rPr>
                  <a:t>𝑥〗_0^𝑖,𝑦_0^𝑖</a:t>
                </a:r>
                <a:r>
                  <a:rPr lang="en-US" altLang="zh-CN" b="0" i="0" smtClean="0">
                    <a:latin typeface="Cambria Math" panose="02040503050406030204" pitchFamily="18" charset="0"/>
                  </a:rPr>
                  <a:t>)</a:t>
                </a:r>
                <a:r>
                  <a:rPr lang="en-US" altLang="zh-CN" i="0">
                    <a:latin typeface="Cambria Math" panose="02040503050406030204" pitchFamily="18" charset="0"/>
                  </a:rPr>
                  <a:t>,〖</a:t>
                </a:r>
                <a:r>
                  <a:rPr lang="en-US" altLang="zh-CN" b="0" i="0" smtClean="0">
                    <a:latin typeface="Cambria Math" panose="02040503050406030204" pitchFamily="18" charset="0"/>
                  </a:rPr>
                  <a:t>(</a:t>
                </a:r>
                <a:r>
                  <a:rPr lang="en-US" altLang="zh-CN" i="0">
                    <a:latin typeface="Cambria Math" panose="02040503050406030204" pitchFamily="18" charset="0"/>
                  </a:rPr>
                  <a:t>𝑥〗_1^𝑖,𝑦_1^𝑖</a:t>
                </a:r>
                <a:r>
                  <a:rPr lang="en-US" altLang="zh-CN" b="0" i="0" smtClean="0">
                    <a:latin typeface="Cambria Math" panose="02040503050406030204" pitchFamily="18" charset="0"/>
                  </a:rPr>
                  <a:t>)</a:t>
                </a:r>
                <a:r>
                  <a:rPr lang="zh-CN" altLang="en-US" dirty="0" smtClean="0"/>
                  <a:t>分别表示框左上角与右下角坐标，</a:t>
                </a:r>
                <a:r>
                  <a:rPr lang="en-US" altLang="zh-CN" i="0">
                    <a:latin typeface="Cambria Math" panose="02040503050406030204" pitchFamily="18" charset="0"/>
                  </a:rPr>
                  <a:t>𝑐</a:t>
                </a:r>
                <a:r>
                  <a:rPr lang="en-US" altLang="zh-CN" i="0" smtClean="0">
                    <a:latin typeface="Cambria Math" panose="02040503050406030204" pitchFamily="18" charset="0"/>
                  </a:rPr>
                  <a:t>^</a:t>
                </a:r>
                <a:r>
                  <a:rPr lang="en-US" altLang="zh-CN" i="0">
                    <a:latin typeface="Cambria Math" panose="02040503050406030204" pitchFamily="18" charset="0"/>
                  </a:rPr>
                  <a:t>𝑖</a:t>
                </a:r>
                <a:r>
                  <a:rPr lang="zh-CN" altLang="en-US" dirty="0" smtClean="0"/>
                  <a:t>表示框归属的类别，</a:t>
                </a:r>
                <a:r>
                  <a:rPr lang="en-US" altLang="zh-CN" i="0" smtClean="0">
                    <a:latin typeface="Cambria Math" panose="02040503050406030204" pitchFamily="18" charset="0"/>
                    <a:ea typeface="Cambria Math" panose="02040503050406030204" pitchFamily="18" charset="0"/>
                  </a:rPr>
                  <a:t>𝐶</a:t>
                </a:r>
                <a:r>
                  <a:rPr lang="zh-CN" altLang="en-US" dirty="0" smtClean="0"/>
                  <a:t>表示类别数量，比如对于</a:t>
                </a:r>
                <a:r>
                  <a:rPr lang="en-US" altLang="zh-CN" dirty="0" smtClean="0"/>
                  <a:t>COCO</a:t>
                </a:r>
                <a:r>
                  <a:rPr lang="zh-CN" altLang="en-US" dirty="0" smtClean="0"/>
                  <a:t>数据集，</a:t>
                </a:r>
                <a:r>
                  <a:rPr lang="en-US" altLang="zh-CN" dirty="0" smtClean="0"/>
                  <a:t>C</a:t>
                </a:r>
                <a:r>
                  <a:rPr lang="zh-CN" altLang="en-US" dirty="0" smtClean="0"/>
                  <a:t>的取值为</a:t>
                </a:r>
                <a:r>
                  <a:rPr lang="en-US" altLang="zh-CN" dirty="0" smtClean="0"/>
                  <a:t>80</a:t>
                </a:r>
                <a:r>
                  <a:rPr lang="zh-CN" altLang="en-US" dirty="0" smtClean="0"/>
                  <a:t>。</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r>
                  <a:rPr lang="zh-CN" altLang="en-US" dirty="0" smtClean="0"/>
                  <a:t>对于特征图</a:t>
                </a:r>
                <a:r>
                  <a:rPr lang="en-US" altLang="zh-CN" b="0" i="0" smtClean="0">
                    <a:latin typeface="Cambria Math" panose="02040503050406030204" pitchFamily="18" charset="0"/>
                  </a:rPr>
                  <a:t>𝐹_𝑖</a:t>
                </a:r>
                <a:r>
                  <a:rPr lang="zh-CN" altLang="en-US" dirty="0" smtClean="0"/>
                  <a:t>上的一点</a:t>
                </a:r>
                <a:r>
                  <a:rPr lang="en-US" altLang="zh-CN" i="0" smtClean="0">
                    <a:latin typeface="Cambria Math" panose="02040503050406030204" pitchFamily="18" charset="0"/>
                  </a:rPr>
                  <a:t>(</a:t>
                </a:r>
                <a:r>
                  <a:rPr lang="en-US" altLang="zh-CN" b="0" i="0" smtClean="0">
                    <a:latin typeface="Cambria Math" panose="02040503050406030204" pitchFamily="18" charset="0"/>
                  </a:rPr>
                  <a:t>𝑥,𝑦)</a:t>
                </a:r>
                <a:r>
                  <a:rPr lang="en-US" altLang="zh-CN" dirty="0" smtClean="0"/>
                  <a:t>,</a:t>
                </a:r>
                <a:r>
                  <a:rPr lang="zh-CN" altLang="en-US" dirty="0" smtClean="0"/>
                  <a:t>可以将其投影到输入图像的原始像素</a:t>
                </a:r>
                <a:r>
                  <a:rPr lang="en-US" altLang="zh-CN" i="0" smtClean="0">
                    <a:latin typeface="Cambria Math" panose="02040503050406030204" pitchFamily="18" charset="0"/>
                  </a:rPr>
                  <a:t>(⌊</a:t>
                </a:r>
                <a:r>
                  <a:rPr lang="en-US" altLang="zh-CN" b="0" i="0" smtClean="0">
                    <a:latin typeface="Cambria Math" panose="02040503050406030204" pitchFamily="18" charset="0"/>
                  </a:rPr>
                  <a:t>𝑠/2⌋+𝑥𝑠,⌊𝑠/2⌋+𝑦𝑠)</a:t>
                </a:r>
                <a:r>
                  <a:rPr lang="zh-CN" altLang="en-US" dirty="0" smtClean="0"/>
                  <a:t>上</a:t>
                </a:r>
                <a:r>
                  <a:rPr lang="zh-CN" altLang="en-US" i="0" dirty="0" smtClean="0">
                    <a:latin typeface="Cambria Math" panose="02040503050406030204" pitchFamily="18" charset="0"/>
                  </a:rPr>
                  <a:t>（注：</a:t>
                </a:r>
                <a:r>
                  <a:rPr lang="en-US" altLang="zh-CN" i="0" smtClean="0">
                    <a:latin typeface="Cambria Math" panose="02040503050406030204" pitchFamily="18" charset="0"/>
                  </a:rPr>
                  <a:t>⌊┤⌋</a:t>
                </a:r>
                <a:r>
                  <a:rPr lang="zh-CN" altLang="en-US" b="0" i="0" smtClean="0">
                    <a:latin typeface="Cambria Math" panose="02040503050406030204" pitchFamily="18" charset="0"/>
                  </a:rPr>
                  <a:t>表示</a:t>
                </a:r>
                <a:r>
                  <a:rPr lang="zh-CN" altLang="en-US" dirty="0" smtClean="0"/>
                  <a:t>向下取整），这个投影位置记为</a:t>
                </a:r>
                <a:r>
                  <a:rPr lang="en-US" altLang="zh-CN" i="0" smtClean="0">
                    <a:latin typeface="Cambria Math" panose="02040503050406030204" pitchFamily="18" charset="0"/>
                  </a:rPr>
                  <a:t>(</a:t>
                </a:r>
                <a:r>
                  <a:rPr lang="en-US" altLang="zh-CN" b="0" i="0" smtClean="0">
                    <a:latin typeface="Cambria Math" panose="02040503050406030204" pitchFamily="18" charset="0"/>
                  </a:rPr>
                  <a:t>𝑥_𝑝,𝑦_𝑝 )</a:t>
                </a:r>
                <a:r>
                  <a:rPr lang="zh-CN" altLang="en-US" dirty="0" smtClean="0"/>
                  <a:t>，临近</a:t>
                </a:r>
                <a:r>
                  <a:rPr lang="en-US" altLang="zh-CN" i="0" smtClean="0">
                    <a:latin typeface="Cambria Math" panose="02040503050406030204" pitchFamily="18" charset="0"/>
                  </a:rPr>
                  <a:t>(</a:t>
                </a:r>
                <a:r>
                  <a:rPr lang="en-US" altLang="zh-CN" b="0" i="0" smtClean="0">
                    <a:latin typeface="Cambria Math" panose="02040503050406030204" pitchFamily="18" charset="0"/>
                  </a:rPr>
                  <a:t>𝑥,𝑦)</a:t>
                </a:r>
                <a:r>
                  <a:rPr lang="zh-CN" altLang="en-US" dirty="0" smtClean="0"/>
                  <a:t>感受野的中心。与基于锚的方法需要回归锚与真值之间的位置偏移和尺度缩放的方法不同，</a:t>
                </a:r>
                <a:r>
                  <a:rPr lang="en-US" altLang="zh-CN" dirty="0" smtClean="0"/>
                  <a:t>FCOS</a:t>
                </a:r>
                <a:r>
                  <a:rPr lang="zh-CN" altLang="en-US" dirty="0" smtClean="0"/>
                  <a:t>直接回归</a:t>
                </a:r>
                <a:r>
                  <a:rPr lang="en-US" altLang="zh-CN" i="0" smtClean="0">
                    <a:latin typeface="Cambria Math" panose="02040503050406030204" pitchFamily="18" charset="0"/>
                  </a:rPr>
                  <a:t>(</a:t>
                </a:r>
                <a:r>
                  <a:rPr lang="en-US" altLang="zh-CN" b="0" i="0" smtClean="0">
                    <a:latin typeface="Cambria Math" panose="02040503050406030204" pitchFamily="18" charset="0"/>
                  </a:rPr>
                  <a:t>𝑥,𝑦)</a:t>
                </a:r>
                <a:r>
                  <a:rPr lang="zh-CN" altLang="en-US" dirty="0" smtClean="0"/>
                  <a:t>在原始图像上的投影</a:t>
                </a:r>
                <a:r>
                  <a:rPr lang="en-US" altLang="zh-CN" i="0" smtClean="0">
                    <a:latin typeface="Cambria Math" panose="02040503050406030204" pitchFamily="18" charset="0"/>
                  </a:rPr>
                  <a:t>(</a:t>
                </a:r>
                <a:r>
                  <a:rPr lang="en-US" altLang="zh-CN" b="0" i="0" smtClean="0">
                    <a:latin typeface="Cambria Math" panose="02040503050406030204" pitchFamily="18" charset="0"/>
                  </a:rPr>
                  <a:t>𝑥_𝑝,𝑦_𝑝 )</a:t>
                </a:r>
                <a:r>
                  <a:rPr lang="zh-CN" altLang="en-US" dirty="0" smtClean="0"/>
                  <a:t>到真值左、右、上、下</a:t>
                </a:r>
                <a:r>
                  <a:rPr lang="en-US" altLang="zh-CN" dirty="0" smtClean="0"/>
                  <a:t>4</a:t>
                </a:r>
                <a:r>
                  <a:rPr lang="zh-CN" altLang="en-US" dirty="0" smtClean="0"/>
                  <a:t>个边缘的距离，也就是说</a:t>
                </a:r>
                <a:r>
                  <a:rPr lang="en-US" altLang="zh-CN" i="0">
                    <a:latin typeface="Cambria Math" panose="02040503050406030204" pitchFamily="18" charset="0"/>
                  </a:rPr>
                  <a:t>𝐹</a:t>
                </a:r>
                <a:r>
                  <a:rPr lang="en-US" altLang="zh-CN" i="0" smtClean="0">
                    <a:latin typeface="Cambria Math" panose="02040503050406030204" pitchFamily="18" charset="0"/>
                  </a:rPr>
                  <a:t>_</a:t>
                </a:r>
                <a:r>
                  <a:rPr lang="en-US" altLang="zh-CN" i="0">
                    <a:latin typeface="Cambria Math" panose="02040503050406030204" pitchFamily="18" charset="0"/>
                  </a:rPr>
                  <a:t>𝑖</a:t>
                </a:r>
                <a:r>
                  <a:rPr lang="zh-CN" altLang="en-US" dirty="0" smtClean="0"/>
                  <a:t>上的每个位置</a:t>
                </a:r>
                <a:r>
                  <a:rPr lang="en-US" altLang="zh-CN" i="0" smtClean="0">
                    <a:latin typeface="Cambria Math" panose="02040503050406030204" pitchFamily="18" charset="0"/>
                  </a:rPr>
                  <a:t>(</a:t>
                </a:r>
                <a:r>
                  <a:rPr lang="en-US" altLang="zh-CN" b="0" i="0" smtClean="0">
                    <a:latin typeface="Cambria Math" panose="02040503050406030204" pitchFamily="18" charset="0"/>
                  </a:rPr>
                  <a:t>𝑥,𝑦)</a:t>
                </a:r>
                <a:r>
                  <a:rPr lang="zh-CN" altLang="en-US" dirty="0" smtClean="0"/>
                  <a:t>，都是</a:t>
                </a:r>
                <a:r>
                  <a:rPr lang="en-US" altLang="zh-CN" dirty="0" smtClean="0"/>
                  <a:t>FCOS</a:t>
                </a:r>
                <a:r>
                  <a:rPr lang="zh-CN" altLang="en-US" dirty="0" smtClean="0"/>
                  <a:t>的训练样本。更具体地说，如果</a:t>
                </a:r>
                <a:r>
                  <a:rPr lang="en-US" altLang="zh-CN" i="0" smtClean="0">
                    <a:latin typeface="Cambria Math" panose="02040503050406030204" pitchFamily="18" charset="0"/>
                  </a:rPr>
                  <a:t>(</a:t>
                </a:r>
                <a:r>
                  <a:rPr lang="en-US" altLang="zh-CN" b="0" i="0" smtClean="0">
                    <a:latin typeface="Cambria Math" panose="02040503050406030204" pitchFamily="18" charset="0"/>
                  </a:rPr>
                  <a:t>𝑥,𝑦)</a:t>
                </a:r>
                <a:r>
                  <a:rPr lang="zh-CN" altLang="en-US" dirty="0" smtClean="0"/>
                  <a:t>的投影</a:t>
                </a:r>
                <a:r>
                  <a:rPr lang="en-US" altLang="zh-CN" i="0" smtClean="0">
                    <a:latin typeface="Cambria Math" panose="02040503050406030204" pitchFamily="18" charset="0"/>
                  </a:rPr>
                  <a:t>(</a:t>
                </a:r>
                <a:r>
                  <a:rPr lang="en-US" altLang="zh-CN" b="0" i="0" smtClean="0">
                    <a:latin typeface="Cambria Math" panose="02040503050406030204" pitchFamily="18" charset="0"/>
                  </a:rPr>
                  <a:t>𝑥_𝑝,𝑦_𝑝 )</a:t>
                </a:r>
                <a:r>
                  <a:rPr lang="zh-CN" altLang="en-US" dirty="0" smtClean="0"/>
                  <a:t>落在某个真值框之内，</a:t>
                </a:r>
                <a:r>
                  <a:rPr lang="en-US" altLang="zh-CN" i="0" smtClean="0">
                    <a:latin typeface="Cambria Math" panose="02040503050406030204" pitchFamily="18" charset="0"/>
                  </a:rPr>
                  <a:t>(</a:t>
                </a:r>
                <a:r>
                  <a:rPr lang="en-US" altLang="zh-CN" b="0" i="0" smtClean="0">
                    <a:latin typeface="Cambria Math" panose="02040503050406030204" pitchFamily="18" charset="0"/>
                  </a:rPr>
                  <a:t>𝑥,𝑦)</a:t>
                </a:r>
                <a:r>
                  <a:rPr lang="zh-CN" altLang="en-US" dirty="0" smtClean="0"/>
                  <a:t>就被视为一个正样本，这个真值框包围的目标的类别</a:t>
                </a:r>
                <a:r>
                  <a:rPr lang="en-US" altLang="zh-CN" b="0" i="0" smtClean="0">
                    <a:latin typeface="Cambria Math" panose="02040503050406030204" pitchFamily="18" charset="0"/>
                  </a:rPr>
                  <a:t>𝑐^∗</a:t>
                </a:r>
                <a:r>
                  <a:rPr lang="zh-CN" altLang="en-US" dirty="0" smtClean="0"/>
                  <a:t>就是</a:t>
                </a:r>
                <a:r>
                  <a:rPr lang="en-US" altLang="zh-CN" i="0" smtClean="0">
                    <a:latin typeface="Cambria Math" panose="02040503050406030204" pitchFamily="18" charset="0"/>
                  </a:rPr>
                  <a:t>(</a:t>
                </a:r>
                <a:r>
                  <a:rPr lang="en-US" altLang="zh-CN" b="0" i="0" smtClean="0">
                    <a:latin typeface="Cambria Math" panose="02040503050406030204" pitchFamily="18" charset="0"/>
                  </a:rPr>
                  <a:t>𝑥,𝑦)</a:t>
                </a:r>
                <a:r>
                  <a:rPr lang="zh-CN" altLang="en-US" dirty="0" smtClean="0"/>
                  <a:t>所属的类别；如果</a:t>
                </a:r>
                <a:r>
                  <a:rPr lang="en-US" altLang="zh-CN" i="0" smtClean="0">
                    <a:latin typeface="Cambria Math" panose="02040503050406030204" pitchFamily="18" charset="0"/>
                  </a:rPr>
                  <a:t>(</a:t>
                </a:r>
                <a:r>
                  <a:rPr lang="en-US" altLang="zh-CN" b="0" i="0" smtClean="0">
                    <a:latin typeface="Cambria Math" panose="02040503050406030204" pitchFamily="18" charset="0"/>
                  </a:rPr>
                  <a:t>𝑥,𝑦)</a:t>
                </a:r>
                <a:r>
                  <a:rPr lang="zh-CN" altLang="en-US" dirty="0" smtClean="0"/>
                  <a:t>的投影</a:t>
                </a:r>
                <a:r>
                  <a:rPr lang="en-US" altLang="zh-CN" i="0" smtClean="0">
                    <a:latin typeface="Cambria Math" panose="02040503050406030204" pitchFamily="18" charset="0"/>
                  </a:rPr>
                  <a:t>(</a:t>
                </a:r>
                <a:r>
                  <a:rPr lang="en-US" altLang="zh-CN" b="0" i="0" smtClean="0">
                    <a:latin typeface="Cambria Math" panose="02040503050406030204" pitchFamily="18" charset="0"/>
                  </a:rPr>
                  <a:t>𝑥_𝑝,𝑦_𝑝 )</a:t>
                </a:r>
                <a:r>
                  <a:rPr lang="zh-CN" altLang="en-US" dirty="0" smtClean="0"/>
                  <a:t>落在多个彼此覆盖的真值框内，我们就选定其中最小的作为</a:t>
                </a:r>
                <a:r>
                  <a:rPr lang="en-US" altLang="zh-CN" i="0" smtClean="0">
                    <a:latin typeface="Cambria Math" panose="02040503050406030204" pitchFamily="18" charset="0"/>
                  </a:rPr>
                  <a:t>(</a:t>
                </a:r>
                <a:r>
                  <a:rPr lang="en-US" altLang="zh-CN" b="0" i="0" smtClean="0">
                    <a:latin typeface="Cambria Math" panose="02040503050406030204" pitchFamily="18" charset="0"/>
                  </a:rPr>
                  <a:t>𝑥,𝑦)</a:t>
                </a:r>
                <a:r>
                  <a:rPr lang="zh-CN" altLang="en-US" dirty="0" smtClean="0"/>
                  <a:t>所属的真值框；如果</a:t>
                </a:r>
                <a:r>
                  <a:rPr lang="en-US" altLang="zh-CN" i="0" smtClean="0">
                    <a:latin typeface="Cambria Math" panose="02040503050406030204" pitchFamily="18" charset="0"/>
                  </a:rPr>
                  <a:t>(</a:t>
                </a:r>
                <a:r>
                  <a:rPr lang="en-US" altLang="zh-CN" b="0" i="0" smtClean="0">
                    <a:latin typeface="Cambria Math" panose="02040503050406030204" pitchFamily="18" charset="0"/>
                  </a:rPr>
                  <a:t>𝑥,𝑦)</a:t>
                </a:r>
                <a:r>
                  <a:rPr lang="zh-CN" altLang="en-US" dirty="0" smtClean="0"/>
                  <a:t>的投影</a:t>
                </a:r>
                <a:r>
                  <a:rPr lang="en-US" altLang="zh-CN" i="0" smtClean="0">
                    <a:latin typeface="Cambria Math" panose="02040503050406030204" pitchFamily="18" charset="0"/>
                  </a:rPr>
                  <a:t>(</a:t>
                </a:r>
                <a:r>
                  <a:rPr lang="en-US" altLang="zh-CN" b="0" i="0" smtClean="0">
                    <a:latin typeface="Cambria Math" panose="02040503050406030204" pitchFamily="18" charset="0"/>
                  </a:rPr>
                  <a:t>𝑥_𝑝,𝑦_𝑝 )</a:t>
                </a:r>
                <a:r>
                  <a:rPr lang="zh-CN" altLang="en-US" b="0" i="0" smtClean="0">
                    <a:latin typeface="Cambria Math" panose="02040503050406030204" pitchFamily="18" charset="0"/>
                  </a:rPr>
                  <a:t>未</a:t>
                </a:r>
                <a:r>
                  <a:rPr lang="zh-CN" altLang="en-US" dirty="0" smtClean="0"/>
                  <a:t>落在任何一个真值框内，则</a:t>
                </a:r>
                <a:r>
                  <a:rPr lang="en-US" altLang="zh-CN" i="0" smtClean="0">
                    <a:latin typeface="Cambria Math" panose="02040503050406030204" pitchFamily="18" charset="0"/>
                  </a:rPr>
                  <a:t>(</a:t>
                </a:r>
                <a:r>
                  <a:rPr lang="en-US" altLang="zh-CN" b="0" i="0" smtClean="0">
                    <a:latin typeface="Cambria Math" panose="02040503050406030204" pitchFamily="18" charset="0"/>
                  </a:rPr>
                  <a:t>𝑥,𝑦)</a:t>
                </a:r>
                <a:r>
                  <a:rPr lang="zh-CN" altLang="en-US" dirty="0" smtClean="0"/>
                  <a:t>未负样本，其所属类别为背景类，即</a:t>
                </a:r>
                <a:r>
                  <a:rPr lang="en-US" altLang="zh-CN" b="0" i="0" smtClean="0">
                    <a:latin typeface="Cambria Math" panose="02040503050406030204" pitchFamily="18" charset="0"/>
                  </a:rPr>
                  <a:t>𝑐^∗=0</a:t>
                </a:r>
                <a:r>
                  <a:rPr lang="zh-CN" altLang="en-US" dirty="0" smtClean="0"/>
                  <a:t>。对于一个正样本，除了要回归类别标签，还需要回归一个</a:t>
                </a:r>
                <a:r>
                  <a:rPr lang="en-US" altLang="zh-CN" dirty="0" smtClean="0"/>
                  <a:t>4</a:t>
                </a:r>
                <a:r>
                  <a:rPr lang="zh-CN" altLang="en-US" dirty="0" smtClean="0"/>
                  <a:t>维的向量，用于定位</a:t>
                </a:r>
                <a:r>
                  <a:rPr lang="en-US" altLang="zh-CN" i="0" smtClean="0">
                    <a:latin typeface="Cambria Math" panose="02040503050406030204" pitchFamily="18" charset="0"/>
                  </a:rPr>
                  <a:t>(</a:t>
                </a:r>
                <a:r>
                  <a:rPr lang="en-US" altLang="zh-CN" b="0" i="0" smtClean="0">
                    <a:latin typeface="Cambria Math" panose="02040503050406030204" pitchFamily="18" charset="0"/>
                  </a:rPr>
                  <a:t>𝑥,𝑦)</a:t>
                </a:r>
                <a:r>
                  <a:rPr lang="zh-CN" altLang="en-US" dirty="0" smtClean="0"/>
                  <a:t>投影点</a:t>
                </a:r>
                <a:r>
                  <a:rPr lang="en-US" altLang="zh-CN" i="0" smtClean="0">
                    <a:latin typeface="Cambria Math" panose="02040503050406030204" pitchFamily="18" charset="0"/>
                  </a:rPr>
                  <a:t>(</a:t>
                </a:r>
                <a:r>
                  <a:rPr lang="en-US" altLang="zh-CN" b="0" i="0" smtClean="0">
                    <a:latin typeface="Cambria Math" panose="02040503050406030204" pitchFamily="18" charset="0"/>
                  </a:rPr>
                  <a:t>𝑥_𝑝,𝑦_𝑝 )</a:t>
                </a:r>
                <a:r>
                  <a:rPr lang="zh-CN" altLang="en-US" dirty="0" smtClean="0"/>
                  <a:t>对应的目标框。记这个</a:t>
                </a:r>
                <a:r>
                  <a:rPr lang="en-US" altLang="zh-CN" dirty="0" smtClean="0"/>
                  <a:t>4</a:t>
                </a:r>
                <a:r>
                  <a:rPr lang="zh-CN" altLang="en-US" dirty="0" smtClean="0"/>
                  <a:t>维向量</a:t>
                </a:r>
                <a:r>
                  <a:rPr lang="en-US" altLang="zh-CN" b="0" i="0" smtClean="0">
                    <a:latin typeface="Cambria Math" panose="02040503050406030204" pitchFamily="18" charset="0"/>
                  </a:rPr>
                  <a:t>𝑇^∗=(𝑙^∗,𝑟</a:t>
                </a:r>
                <a:r>
                  <a:rPr lang="en-US" altLang="zh-CN" b="0" i="0">
                    <a:latin typeface="Cambria Math" panose="02040503050406030204" pitchFamily="18" charset="0"/>
                  </a:rPr>
                  <a:t>^</a:t>
                </a:r>
                <a:r>
                  <a:rPr lang="en-US" altLang="zh-CN" i="0">
                    <a:latin typeface="Cambria Math" panose="02040503050406030204" pitchFamily="18" charset="0"/>
                  </a:rPr>
                  <a:t>∗,</a:t>
                </a:r>
                <a:r>
                  <a:rPr lang="en-US" altLang="zh-CN" b="0" i="0" smtClean="0">
                    <a:latin typeface="Cambria Math" panose="02040503050406030204" pitchFamily="18" charset="0"/>
                  </a:rPr>
                  <a:t>𝑡</a:t>
                </a:r>
                <a:r>
                  <a:rPr lang="en-US" altLang="zh-CN" b="0" i="0">
                    <a:latin typeface="Cambria Math" panose="02040503050406030204" pitchFamily="18" charset="0"/>
                  </a:rPr>
                  <a:t>^</a:t>
                </a:r>
                <a:r>
                  <a:rPr lang="en-US" altLang="zh-CN" i="0">
                    <a:latin typeface="Cambria Math" panose="02040503050406030204" pitchFamily="18" charset="0"/>
                  </a:rPr>
                  <a:t>∗,</a:t>
                </a:r>
                <a:r>
                  <a:rPr lang="en-US" altLang="zh-CN" b="0" i="0" smtClean="0">
                    <a:latin typeface="Cambria Math" panose="02040503050406030204" pitchFamily="18" charset="0"/>
                  </a:rPr>
                  <a:t>𝑏</a:t>
                </a:r>
                <a:r>
                  <a:rPr lang="en-US" altLang="zh-CN" b="0" i="0">
                    <a:latin typeface="Cambria Math" panose="02040503050406030204" pitchFamily="18" charset="0"/>
                  </a:rPr>
                  <a:t>^</a:t>
                </a:r>
                <a:r>
                  <a:rPr lang="en-US" altLang="zh-CN" i="0">
                    <a:latin typeface="Cambria Math" panose="02040503050406030204" pitchFamily="18" charset="0"/>
                  </a:rPr>
                  <a:t>∗ )</a:t>
                </a:r>
                <a:r>
                  <a:rPr lang="zh-CN" altLang="en-US" dirty="0" smtClean="0"/>
                  <a:t>，分别表示</a:t>
                </a:r>
                <a:r>
                  <a:rPr lang="en-US" altLang="zh-CN" i="0" smtClean="0">
                    <a:latin typeface="Cambria Math" panose="02040503050406030204" pitchFamily="18" charset="0"/>
                  </a:rPr>
                  <a:t>(</a:t>
                </a:r>
                <a:r>
                  <a:rPr lang="en-US" altLang="zh-CN" b="0" i="0" smtClean="0">
                    <a:latin typeface="Cambria Math" panose="02040503050406030204" pitchFamily="18" charset="0"/>
                  </a:rPr>
                  <a:t>𝑥,𝑦)</a:t>
                </a:r>
                <a:r>
                  <a:rPr lang="zh-CN" altLang="en-US" dirty="0" smtClean="0"/>
                  <a:t>的投影</a:t>
                </a:r>
                <a:r>
                  <a:rPr lang="en-US" altLang="zh-CN" i="0" smtClean="0">
                    <a:latin typeface="Cambria Math" panose="02040503050406030204" pitchFamily="18" charset="0"/>
                  </a:rPr>
                  <a:t>(</a:t>
                </a:r>
                <a:r>
                  <a:rPr lang="en-US" altLang="zh-CN" b="0" i="0" smtClean="0">
                    <a:latin typeface="Cambria Math" panose="02040503050406030204" pitchFamily="18" charset="0"/>
                  </a:rPr>
                  <a:t>𝑥_𝑝,𝑦_𝑝 )</a:t>
                </a:r>
                <a:r>
                  <a:rPr lang="zh-CN" altLang="en-US" dirty="0" smtClean="0"/>
                  <a:t>点到目标框左右上下</a:t>
                </a:r>
                <a:r>
                  <a:rPr lang="en-US" altLang="zh-CN" dirty="0" smtClean="0"/>
                  <a:t>4</a:t>
                </a:r>
                <a:r>
                  <a:rPr lang="zh-CN" altLang="en-US" dirty="0" smtClean="0"/>
                  <a:t>个边缘的距离。很显然，通过这样的方式，避免了锚一系列计算</a:t>
                </a:r>
                <a:r>
                  <a:rPr lang="en-US" altLang="zh-CN" dirty="0" err="1" smtClean="0"/>
                  <a:t>IoU</a:t>
                </a:r>
                <a:r>
                  <a:rPr lang="zh-CN" altLang="en-US" baseline="0" dirty="0" smtClean="0"/>
                  <a:t>的过程，明显提升了算法运行的效率。</a:t>
                </a: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endParaRPr lang="en-US" altLang="zh-CN" dirty="0" smtClean="0"/>
              </a:p>
              <a:p>
                <a:pPr marL="0" marR="0" lvl="1" indent="0" algn="l" defTabSz="914400" rtl="0" eaLnBrk="1" fontAlgn="base" latinLnBrk="0" hangingPunct="1">
                  <a:lnSpc>
                    <a:spcPct val="100000"/>
                  </a:lnSpc>
                  <a:spcBef>
                    <a:spcPct val="0"/>
                  </a:spcBef>
                  <a:spcAft>
                    <a:spcPct val="0"/>
                  </a:spcAft>
                  <a:buClrTx/>
                  <a:buSzTx/>
                  <a:buFontTx/>
                  <a:buNone/>
                  <a:tabLst/>
                  <a:defRPr/>
                </a:pPr>
                <a:endParaRPr lang="en-US" altLang="zh-CN" dirty="0" smtClean="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42</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7139094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基于</a:t>
                </a:r>
                <a:r>
                  <a:rPr lang="en-US" altLang="zh-CN" dirty="0" smtClean="0"/>
                  <a:t>FCOS</a:t>
                </a:r>
                <a:r>
                  <a:rPr lang="zh-CN" altLang="en-US" dirty="0" smtClean="0"/>
                  <a:t>算法的思想，网络的输出至少包含两个分支：第一个分支是用于分类的概率向量</a:t>
                </a:r>
                <a:r>
                  <a:rPr lang="en-US" altLang="zh-CN" dirty="0" smtClean="0"/>
                  <a:t>p</a:t>
                </a:r>
                <a:r>
                  <a:rPr lang="zh-CN" altLang="en-US" dirty="0" smtClean="0"/>
                  <a:t>，向量的维度等于待检测目标的类别数</a:t>
                </a:r>
                <a:r>
                  <a:rPr lang="en-US" altLang="zh-CN" dirty="0" smtClean="0"/>
                  <a:t>C</a:t>
                </a:r>
                <a:r>
                  <a:rPr lang="zh-CN" altLang="en-US" dirty="0" smtClean="0"/>
                  <a:t>，与多类别</a:t>
                </a:r>
                <a:r>
                  <a:rPr lang="en-US" altLang="zh-CN" dirty="0" err="1" smtClean="0"/>
                  <a:t>softmax</a:t>
                </a:r>
                <a:r>
                  <a:rPr lang="zh-CN" altLang="en-US" dirty="0" smtClean="0"/>
                  <a:t>分类器不同，</a:t>
                </a:r>
                <a:r>
                  <a:rPr lang="en-US" altLang="zh-CN" dirty="0" smtClean="0"/>
                  <a:t>FCOS</a:t>
                </a:r>
                <a:r>
                  <a:rPr lang="zh-CN" altLang="en-US" dirty="0" smtClean="0"/>
                  <a:t>训练了</a:t>
                </a:r>
                <a:r>
                  <a:rPr lang="en-US" altLang="zh-CN" dirty="0" smtClean="0"/>
                  <a:t>C</a:t>
                </a:r>
                <a:r>
                  <a:rPr lang="zh-CN" altLang="en-US" dirty="0" smtClean="0"/>
                  <a:t>个二分类分类器，向量</a:t>
                </a:r>
                <a:r>
                  <a:rPr lang="en-US" altLang="zh-CN" dirty="0" smtClean="0"/>
                  <a:t>p</a:t>
                </a:r>
                <a:r>
                  <a:rPr lang="zh-CN" altLang="en-US" dirty="0" smtClean="0"/>
                  <a:t>的每个分量对应一个目标类别的置信度，置信度最高的分量对应的目标类别，就是网络预测出的目标框的类型；第二个分支是用</a:t>
                </a:r>
                <a:r>
                  <a:rPr lang="en-US" altLang="zh-CN" dirty="0" smtClean="0"/>
                  <a:t>4</a:t>
                </a:r>
                <a:r>
                  <a:rPr lang="zh-CN" altLang="en-US" dirty="0" smtClean="0"/>
                  <a:t>维向量表示的目标框的位置，具体含义如前面所述，因为每个分量的含义都是点到目标框边缘的距离，其值总是大于</a:t>
                </a:r>
                <a:r>
                  <a:rPr lang="en-US" altLang="zh-CN" dirty="0" smtClean="0"/>
                  <a:t>0</a:t>
                </a:r>
                <a:r>
                  <a:rPr lang="zh-CN" altLang="en-US" dirty="0" smtClean="0"/>
                  <a:t>，所以算法实现的过程是通过指数函数</a:t>
                </a:r>
                <a:r>
                  <a:rPr lang="en-US" altLang="zh-CN" dirty="0" err="1" smtClean="0"/>
                  <a:t>exp</a:t>
                </a:r>
                <a:r>
                  <a:rPr lang="en-US" altLang="zh-CN" dirty="0" smtClean="0"/>
                  <a:t>(x)</a:t>
                </a:r>
                <a:r>
                  <a:rPr lang="zh-CN" altLang="en-US" dirty="0" smtClean="0"/>
                  <a:t>进行变换，以保证最终的取值恒为非负值。</a:t>
                </a:r>
                <a:endParaRPr lang="en-US" altLang="zh-CN" dirty="0" smtClean="0"/>
              </a:p>
              <a:p>
                <a:r>
                  <a:rPr lang="zh-CN" altLang="en-US" dirty="0" smtClean="0"/>
                  <a:t>根据</a:t>
                </a:r>
                <a:r>
                  <a:rPr lang="en-US" altLang="zh-CN" dirty="0" smtClean="0"/>
                  <a:t>FCOS</a:t>
                </a:r>
                <a:r>
                  <a:rPr lang="zh-CN" altLang="en-US" dirty="0" smtClean="0"/>
                  <a:t>网络的输出，训练的损失函数按照如下方式定义。</a:t>
                </a:r>
                <a:endParaRPr lang="en-US" altLang="zh-CN" dirty="0" smtClean="0"/>
              </a:p>
              <a:p>
                <a:pPr marL="0" marR="0" lvl="2" indent="0" algn="l" defTabSz="914400" rtl="0" eaLnBrk="1" fontAlgn="base" latinLnBrk="0" hangingPunct="1">
                  <a:lnSpc>
                    <a:spcPct val="100000"/>
                  </a:lnSpc>
                  <a:spcBef>
                    <a:spcPct val="0"/>
                  </a:spcBef>
                  <a:spcAft>
                    <a:spcPct val="0"/>
                  </a:spcAft>
                  <a:buClrTx/>
                  <a:buSzTx/>
                  <a:buFontTx/>
                  <a:buNone/>
                  <a:tabLst/>
                  <a:defRPr/>
                </a:pPr>
                <a:r>
                  <a:rPr lang="zh-CN" altLang="en-US" dirty="0" smtClean="0"/>
                  <a:t>公式中</a:t>
                </a:r>
                <a14:m>
                  <m:oMath xmlns:m="http://schemas.openxmlformats.org/officeDocument/2006/math">
                    <m:d>
                      <m:dPr>
                        <m:begChr m:val="{"/>
                        <m:endChr m:val="}"/>
                        <m:ctrlPr>
                          <a:rPr lang="en-US" altLang="zh-CN" i="1" smtClean="0">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sub>
                        </m:sSub>
                      </m:e>
                    </m:d>
                    <m:r>
                      <a:rPr lang="zh-CN" altLang="en-US" i="1" smtClean="0">
                        <a:latin typeface="Cambria Math" panose="02040503050406030204" pitchFamily="18" charset="0"/>
                      </a:rPr>
                      <m:t>和</m:t>
                    </m:r>
                    <m:d>
                      <m:dPr>
                        <m:begChr m:val="{"/>
                        <m:endChr m:val="}"/>
                        <m:ctrlPr>
                          <a:rPr lang="en-US" altLang="zh-CN" i="1">
                            <a:latin typeface="Cambria Math" panose="02040503050406030204" pitchFamily="18" charset="0"/>
                            <a:ea typeface="Cambria Math" panose="02040503050406030204" pitchFamily="18" charset="0"/>
                          </a:rPr>
                        </m:ctrlPr>
                      </m:dPr>
                      <m:e>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𝑥</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𝑦</m:t>
                            </m:r>
                          </m:sub>
                          <m:sup>
                            <m:r>
                              <a:rPr lang="en-US" altLang="zh-CN" i="1">
                                <a:latin typeface="Cambria Math" panose="02040503050406030204" pitchFamily="18" charset="0"/>
                                <a:ea typeface="Cambria Math" panose="02040503050406030204" pitchFamily="18" charset="0"/>
                              </a:rPr>
                              <m:t>∗</m:t>
                            </m:r>
                          </m:sup>
                        </m:sSubSup>
                      </m:e>
                    </m:d>
                  </m:oMath>
                </a14:m>
                <a:r>
                  <a:rPr lang="zh-CN" altLang="en-US" dirty="0" smtClean="0"/>
                  <a:t>分别表示</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sub>
                    </m:sSub>
                    <m:r>
                      <a:rPr lang="en-US" altLang="zh-CN" b="0" i="1" smtClean="0">
                        <a:latin typeface="Cambria Math" panose="02040503050406030204" pitchFamily="18" charset="0"/>
                      </a:rPr>
                      <m:t>,</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𝑥</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𝑦</m:t>
                        </m:r>
                      </m:sub>
                      <m:sup>
                        <m:r>
                          <a:rPr lang="en-US" altLang="zh-CN" i="1">
                            <a:latin typeface="Cambria Math" panose="02040503050406030204" pitchFamily="18" charset="0"/>
                            <a:ea typeface="Cambria Math" panose="02040503050406030204" pitchFamily="18" charset="0"/>
                          </a:rPr>
                          <m:t>∗</m:t>
                        </m:r>
                      </m:sup>
                    </m:sSubSup>
                  </m:oMath>
                </a14:m>
                <a:r>
                  <a:rPr lang="zh-CN" altLang="en-US" dirty="0" smtClean="0"/>
                  <a:t>对应的矩形框。</a:t>
                </a:r>
                <a14:m>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𝑝𝑜𝑠</m:t>
                        </m:r>
                      </m:sub>
                    </m:sSub>
                  </m:oMath>
                </a14:m>
                <a:r>
                  <a:rPr lang="zh-CN" altLang="en-US" dirty="0" smtClean="0"/>
                  <a:t>表示正样本个数，</a:t>
                </a:r>
                <a14:m>
                  <m:oMath xmlns:m="http://schemas.openxmlformats.org/officeDocument/2006/math">
                    <m:r>
                      <m:rPr>
                        <m:nor/>
                      </m:rPr>
                      <a:rPr lang="el-GR" altLang="zh-CN" smtClean="0"/>
                      <m:t>λ</m:t>
                    </m:r>
                  </m:oMath>
                </a14:m>
                <a:r>
                  <a:rPr lang="zh-CN" altLang="en-US" dirty="0" smtClean="0"/>
                  <a:t>是两个损失的权重因子（通常取</a:t>
                </a:r>
                <a14:m>
                  <m:oMath xmlns:m="http://schemas.openxmlformats.org/officeDocument/2006/math">
                    <m:r>
                      <m:rPr>
                        <m:nor/>
                      </m:rPr>
                      <a:rPr lang="el-GR" altLang="zh-CN" smtClean="0"/>
                      <m:t>λ</m:t>
                    </m:r>
                  </m:oMath>
                </a14:m>
                <a:r>
                  <a:rPr lang="en-US" altLang="zh-CN" dirty="0" smtClean="0"/>
                  <a:t>=1</a:t>
                </a:r>
                <a:r>
                  <a:rPr lang="zh-CN" altLang="en-US" dirty="0" smtClean="0"/>
                  <a:t>），</a:t>
                </a:r>
                <a14:m>
                  <m:oMath xmlns:m="http://schemas.openxmlformats.org/officeDocument/2006/math">
                    <m:nary>
                      <m:naryPr>
                        <m:chr m:val="∑"/>
                        <m:subHide m:val="on"/>
                        <m:supHide m:val="on"/>
                        <m:ctrlPr>
                          <a:rPr lang="en-US" altLang="zh-CN" i="1" smtClean="0">
                            <a:latin typeface="Cambria Math" panose="02040503050406030204" pitchFamily="18" charset="0"/>
                          </a:rPr>
                        </m:ctrlPr>
                      </m:naryPr>
                      <m:sub/>
                      <m:sup/>
                      <m:e/>
                    </m:nary>
                  </m:oMath>
                </a14:m>
                <a:r>
                  <a:rPr lang="zh-CN" altLang="en-US" dirty="0" smtClean="0"/>
                  <a:t>表示对特征图</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𝐹</m:t>
                        </m:r>
                      </m:e>
                      <m:sub>
                        <m:r>
                          <a:rPr lang="en-US" altLang="zh-CN" i="1">
                            <a:latin typeface="Cambria Math" panose="02040503050406030204" pitchFamily="18" charset="0"/>
                          </a:rPr>
                          <m:t>𝑖</m:t>
                        </m:r>
                      </m:sub>
                    </m:sSub>
                  </m:oMath>
                </a14:m>
                <a:r>
                  <a:rPr lang="zh-CN" altLang="en-US" dirty="0" smtClean="0"/>
                  <a:t>上所有位置</a:t>
                </a:r>
                <a14:m>
                  <m:oMath xmlns:m="http://schemas.openxmlformats.org/officeDocument/2006/math">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e>
                    </m:d>
                  </m:oMath>
                </a14:m>
                <a:r>
                  <a:rPr lang="zh-CN" altLang="en-US" dirty="0" smtClean="0"/>
                  <a:t>求和</a:t>
                </a:r>
                <a:r>
                  <a:rPr lang="en-US" altLang="zh-CN" dirty="0" smtClean="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d>
                          <m:dPr>
                            <m:begChr m:val="{"/>
                            <m:endChr m:val="}"/>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𝑐</m:t>
                                </m:r>
                              </m:e>
                              <m:sub>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sub>
                              <m:sup>
                                <m:r>
                                  <a:rPr lang="en-US" altLang="zh-CN" i="1">
                                    <a:latin typeface="Cambria Math" panose="02040503050406030204" pitchFamily="18" charset="0"/>
                                  </a:rPr>
                                  <m:t>∗</m:t>
                                </m:r>
                              </m:sup>
                            </m:sSubSup>
                            <m:r>
                              <a:rPr lang="en-US" altLang="zh-CN" i="1">
                                <a:latin typeface="Cambria Math" panose="02040503050406030204" pitchFamily="18" charset="0"/>
                                <a:ea typeface="Cambria Math" panose="02040503050406030204" pitchFamily="18" charset="0"/>
                              </a:rPr>
                              <m:t>&gt;0</m:t>
                            </m:r>
                          </m:e>
                        </m:d>
                      </m:sub>
                    </m:sSub>
                  </m:oMath>
                </a14:m>
                <a:r>
                  <a:rPr lang="zh-CN" altLang="en-US" dirty="0" smtClean="0"/>
                  <a:t>为示性函数，</a:t>
                </a:r>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𝑐</m:t>
                        </m:r>
                      </m:e>
                      <m:sub>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sub>
                      <m:sup>
                        <m:r>
                          <a:rPr lang="en-US" altLang="zh-CN" i="1">
                            <a:latin typeface="Cambria Math" panose="02040503050406030204" pitchFamily="18" charset="0"/>
                          </a:rPr>
                          <m:t>∗</m:t>
                        </m:r>
                      </m:sup>
                    </m:sSubSup>
                    <m:r>
                      <a:rPr lang="en-US" altLang="zh-CN" i="1">
                        <a:latin typeface="Cambria Math" panose="02040503050406030204" pitchFamily="18" charset="0"/>
                        <a:ea typeface="Cambria Math" panose="02040503050406030204" pitchFamily="18" charset="0"/>
                      </a:rPr>
                      <m:t>&gt;0</m:t>
                    </m:r>
                  </m:oMath>
                </a14:m>
                <a:r>
                  <a:rPr lang="zh-CN" altLang="en-US" dirty="0" smtClean="0"/>
                  <a:t>时</a:t>
                </a:r>
                <a:r>
                  <a:rPr lang="en-US" altLang="zh-CN" dirty="0" smtClean="0"/>
                  <a:t>,</a:t>
                </a:r>
                <a:r>
                  <a:rPr lang="zh-CN" altLang="en-US" dirty="0" smtClean="0"/>
                  <a:t>即</a:t>
                </a:r>
                <a14:m>
                  <m:oMath xmlns:m="http://schemas.openxmlformats.org/officeDocument/2006/math">
                    <m:sSubSup>
                      <m:sSubSupPr>
                        <m:ctrlPr>
                          <a:rPr lang="en-US" altLang="zh-CN" i="1" smtClean="0">
                            <a:latin typeface="Cambria Math" panose="02040503050406030204" pitchFamily="18" charset="0"/>
                          </a:rPr>
                        </m:ctrlPr>
                      </m:sSubSupPr>
                      <m:e>
                        <m:r>
                          <a:rPr lang="en-US" altLang="zh-CN" i="1">
                            <a:latin typeface="Cambria Math" panose="02040503050406030204" pitchFamily="18" charset="0"/>
                          </a:rPr>
                          <m:t>𝑐</m:t>
                        </m:r>
                      </m:e>
                      <m:sub>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sub>
                      <m:sup>
                        <m:r>
                          <a:rPr lang="en-US" altLang="zh-CN" i="1">
                            <a:latin typeface="Cambria Math" panose="02040503050406030204" pitchFamily="18" charset="0"/>
                          </a:rPr>
                          <m:t>∗</m:t>
                        </m:r>
                      </m:sup>
                    </m:sSubSup>
                  </m:oMath>
                </a14:m>
                <a:r>
                  <a:rPr lang="zh-CN" altLang="en-US" dirty="0" smtClean="0"/>
                  <a:t>为目标类别时，其值取</a:t>
                </a:r>
                <a:r>
                  <a:rPr lang="en-US" altLang="zh-CN" dirty="0" smtClean="0"/>
                  <a:t>1</a:t>
                </a:r>
                <a:r>
                  <a:rPr lang="zh-CN" altLang="en-US" dirty="0" smtClean="0"/>
                  <a:t>，否则取</a:t>
                </a:r>
                <a:r>
                  <a:rPr lang="en-US" altLang="zh-CN" dirty="0" smtClean="0"/>
                  <a:t>0</a:t>
                </a:r>
                <a:r>
                  <a:rPr lang="zh-CN" altLang="en-US" dirty="0" smtClean="0"/>
                  <a:t>。</a:t>
                </a:r>
                <a:endParaRPr lang="en-US" altLang="zh-CN" dirty="0" smtClean="0"/>
              </a:p>
              <a:p>
                <a:pPr marL="0" marR="0" lvl="2" indent="0" algn="l" defTabSz="914400" rtl="0" eaLnBrk="1" fontAlgn="base" latinLnBrk="0" hangingPunct="1">
                  <a:lnSpc>
                    <a:spcPct val="100000"/>
                  </a:lnSpc>
                  <a:spcBef>
                    <a:spcPct val="0"/>
                  </a:spcBef>
                  <a:spcAft>
                    <a:spcPct val="0"/>
                  </a:spcAft>
                  <a:buClrTx/>
                  <a:buSzTx/>
                  <a:buFontTx/>
                  <a:buNone/>
                  <a:tabLst/>
                  <a:defRPr/>
                </a:pPr>
                <a:r>
                  <a:rPr lang="zh-CN" altLang="en-US" dirty="0" smtClean="0"/>
                  <a:t>在推理过程中，基于上述方法，可以根据一定的阈值，直接推理出每个目标框的位置及其类别，最后使用</a:t>
                </a:r>
                <a:r>
                  <a:rPr lang="en-US" altLang="zh-CN" dirty="0" smtClean="0"/>
                  <a:t>NMS</a:t>
                </a:r>
                <a:r>
                  <a:rPr lang="zh-CN" altLang="en-US" dirty="0" smtClean="0"/>
                  <a:t>得到输出结果。</a:t>
                </a:r>
                <a:endParaRPr lang="en-US" altLang="zh-CN" dirty="0" smtClean="0"/>
              </a:p>
              <a:p>
                <a:pPr marL="0" marR="0" lvl="2" indent="0" algn="l" defTabSz="914400" rtl="0" eaLnBrk="1" fontAlgn="base" latinLnBrk="0" hangingPunct="1">
                  <a:lnSpc>
                    <a:spcPct val="100000"/>
                  </a:lnSpc>
                  <a:spcBef>
                    <a:spcPct val="0"/>
                  </a:spcBef>
                  <a:spcAft>
                    <a:spcPct val="0"/>
                  </a:spcAft>
                  <a:buClrTx/>
                  <a:buSzTx/>
                  <a:buFontTx/>
                  <a:buNone/>
                  <a:tabLst/>
                  <a:defRPr/>
                </a:pPr>
                <a:endParaRPr lang="en-US" altLang="zh-CN" dirty="0" smtClean="0"/>
              </a:p>
              <a:p>
                <a:endParaRPr lang="en-US" altLang="zh-CN" dirty="0" smtClean="0"/>
              </a:p>
              <a:p>
                <a:endParaRPr lang="zh-CN" altLang="en-US" dirty="0"/>
              </a:p>
            </p:txBody>
          </p:sp>
        </mc:Choice>
        <mc:Fallback xmlns="">
          <p:sp>
            <p:nvSpPr>
              <p:cNvPr id="3" name="备注占位符 2"/>
              <p:cNvSpPr>
                <a:spLocks noGrp="1"/>
              </p:cNvSpPr>
              <p:nvPr>
                <p:ph type="body" idx="1"/>
              </p:nvPr>
            </p:nvSpPr>
            <p:spPr/>
            <p:txBody>
              <a:bodyPr/>
              <a:lstStyle/>
              <a:p>
                <a:r>
                  <a:rPr lang="zh-CN" altLang="en-US" dirty="0" smtClean="0"/>
                  <a:t>基于</a:t>
                </a:r>
                <a:r>
                  <a:rPr lang="en-US" altLang="zh-CN" dirty="0" smtClean="0"/>
                  <a:t>FCOS</a:t>
                </a:r>
                <a:r>
                  <a:rPr lang="zh-CN" altLang="en-US" dirty="0" smtClean="0"/>
                  <a:t>算法的思想，网络的输出至少包含两个分支：第一个分支是用于分类的概率向量</a:t>
                </a:r>
                <a:r>
                  <a:rPr lang="en-US" altLang="zh-CN" dirty="0" smtClean="0"/>
                  <a:t>p</a:t>
                </a:r>
                <a:r>
                  <a:rPr lang="zh-CN" altLang="en-US" dirty="0" smtClean="0"/>
                  <a:t>，向量的维度等于待检测目标的类别数</a:t>
                </a:r>
                <a:r>
                  <a:rPr lang="en-US" altLang="zh-CN" dirty="0" smtClean="0"/>
                  <a:t>C</a:t>
                </a:r>
                <a:r>
                  <a:rPr lang="zh-CN" altLang="en-US" dirty="0" smtClean="0"/>
                  <a:t>，与多类别</a:t>
                </a:r>
                <a:r>
                  <a:rPr lang="en-US" altLang="zh-CN" dirty="0" err="1" smtClean="0"/>
                  <a:t>softmax</a:t>
                </a:r>
                <a:r>
                  <a:rPr lang="zh-CN" altLang="en-US" dirty="0" smtClean="0"/>
                  <a:t>分类器不同，</a:t>
                </a:r>
                <a:r>
                  <a:rPr lang="en-US" altLang="zh-CN" dirty="0" smtClean="0"/>
                  <a:t>FCOS</a:t>
                </a:r>
                <a:r>
                  <a:rPr lang="zh-CN" altLang="en-US" dirty="0" smtClean="0"/>
                  <a:t>训练了</a:t>
                </a:r>
                <a:r>
                  <a:rPr lang="en-US" altLang="zh-CN" dirty="0" smtClean="0"/>
                  <a:t>C</a:t>
                </a:r>
                <a:r>
                  <a:rPr lang="zh-CN" altLang="en-US" dirty="0" smtClean="0"/>
                  <a:t>个二分类分类器，向量</a:t>
                </a:r>
                <a:r>
                  <a:rPr lang="en-US" altLang="zh-CN" dirty="0" smtClean="0"/>
                  <a:t>p</a:t>
                </a:r>
                <a:r>
                  <a:rPr lang="zh-CN" altLang="en-US" dirty="0" smtClean="0"/>
                  <a:t>的每个分量对应一个目标类别的置信度，置信度最高的分量对应的目标类别，就是网络预测出的目标框的类型；第二个分支是用</a:t>
                </a:r>
                <a:r>
                  <a:rPr lang="en-US" altLang="zh-CN" dirty="0" smtClean="0"/>
                  <a:t>4</a:t>
                </a:r>
                <a:r>
                  <a:rPr lang="zh-CN" altLang="en-US" dirty="0" smtClean="0"/>
                  <a:t>维向量表示的目标框的位置，具体含义如前面所述，因为每个分量的含义都是点到目标框边缘的距离，其值总是大于</a:t>
                </a:r>
                <a:r>
                  <a:rPr lang="en-US" altLang="zh-CN" dirty="0" smtClean="0"/>
                  <a:t>0</a:t>
                </a:r>
                <a:r>
                  <a:rPr lang="zh-CN" altLang="en-US" dirty="0" smtClean="0"/>
                  <a:t>，所以算法实现的过程是通过指数函数</a:t>
                </a:r>
                <a:r>
                  <a:rPr lang="en-US" altLang="zh-CN" dirty="0" err="1" smtClean="0"/>
                  <a:t>exp</a:t>
                </a:r>
                <a:r>
                  <a:rPr lang="en-US" altLang="zh-CN" dirty="0" smtClean="0"/>
                  <a:t>(x)</a:t>
                </a:r>
                <a:r>
                  <a:rPr lang="zh-CN" altLang="en-US" dirty="0" smtClean="0"/>
                  <a:t>进行变换，以保证最终的取值恒为非负值。</a:t>
                </a:r>
                <a:endParaRPr lang="en-US" altLang="zh-CN" dirty="0" smtClean="0"/>
              </a:p>
              <a:p>
                <a:r>
                  <a:rPr lang="zh-CN" altLang="en-US" dirty="0" smtClean="0"/>
                  <a:t>根据</a:t>
                </a:r>
                <a:r>
                  <a:rPr lang="en-US" altLang="zh-CN" dirty="0" smtClean="0"/>
                  <a:t>FCOS</a:t>
                </a:r>
                <a:r>
                  <a:rPr lang="zh-CN" altLang="en-US" dirty="0" smtClean="0"/>
                  <a:t>网络的输出，训练的损失函数按照如下方式定义。</a:t>
                </a:r>
                <a:endParaRPr lang="en-US" altLang="zh-CN" dirty="0" smtClean="0"/>
              </a:p>
              <a:p>
                <a:pPr marL="0" marR="0" lvl="2" indent="0" algn="l" defTabSz="914400" rtl="0" eaLnBrk="1" fontAlgn="base" latinLnBrk="0" hangingPunct="1">
                  <a:lnSpc>
                    <a:spcPct val="100000"/>
                  </a:lnSpc>
                  <a:spcBef>
                    <a:spcPct val="0"/>
                  </a:spcBef>
                  <a:spcAft>
                    <a:spcPct val="0"/>
                  </a:spcAft>
                  <a:buClrTx/>
                  <a:buSzTx/>
                  <a:buFontTx/>
                  <a:buNone/>
                  <a:tabLst/>
                  <a:defRPr/>
                </a:pPr>
                <a:r>
                  <a:rPr lang="zh-CN" altLang="en-US" dirty="0" smtClean="0"/>
                  <a:t>公式中</a:t>
                </a:r>
                <a:r>
                  <a:rPr lang="en-US" altLang="zh-CN" i="0" smtClean="0">
                    <a:latin typeface="Cambria Math" panose="02040503050406030204" pitchFamily="18" charset="0"/>
                  </a:rPr>
                  <a:t>{</a:t>
                </a:r>
                <a:r>
                  <a:rPr lang="en-US" altLang="zh-CN" i="0">
                    <a:latin typeface="Cambria Math" panose="02040503050406030204" pitchFamily="18" charset="0"/>
                  </a:rPr>
                  <a:t>𝑡_(𝑥,𝑦) }</a:t>
                </a:r>
                <a:r>
                  <a:rPr lang="zh-CN" altLang="en-US" i="0" smtClean="0">
                    <a:latin typeface="Cambria Math" panose="02040503050406030204" pitchFamily="18" charset="0"/>
                  </a:rPr>
                  <a:t>和</a:t>
                </a:r>
                <a:r>
                  <a:rPr lang="en-US" altLang="zh-CN" i="0">
                    <a:latin typeface="Cambria Math" panose="02040503050406030204" pitchFamily="18" charset="0"/>
                    <a:ea typeface="Cambria Math" panose="02040503050406030204" pitchFamily="18" charset="0"/>
                  </a:rPr>
                  <a:t>{𝑡_(𝑥,𝑦)^∗ }</a:t>
                </a:r>
                <a:r>
                  <a:rPr lang="zh-CN" altLang="en-US" dirty="0" smtClean="0"/>
                  <a:t>分别表示</a:t>
                </a:r>
                <a:r>
                  <a:rPr lang="en-US" altLang="zh-CN" i="0">
                    <a:latin typeface="Cambria Math" panose="02040503050406030204" pitchFamily="18" charset="0"/>
                  </a:rPr>
                  <a:t>𝑡_(𝑥,𝑦)</a:t>
                </a:r>
                <a:r>
                  <a:rPr lang="en-US" altLang="zh-CN" b="0" i="0" smtClean="0">
                    <a:latin typeface="Cambria Math" panose="02040503050406030204" pitchFamily="18" charset="0"/>
                  </a:rPr>
                  <a:t>,</a:t>
                </a:r>
                <a:r>
                  <a:rPr lang="en-US" altLang="zh-CN" i="0">
                    <a:latin typeface="Cambria Math" panose="02040503050406030204" pitchFamily="18" charset="0"/>
                    <a:ea typeface="Cambria Math" panose="02040503050406030204" pitchFamily="18" charset="0"/>
                  </a:rPr>
                  <a:t>𝑡_(𝑥,𝑦)^∗</a:t>
                </a:r>
                <a:r>
                  <a:rPr lang="zh-CN" altLang="en-US" dirty="0" smtClean="0"/>
                  <a:t>对应的矩形框。</a:t>
                </a:r>
                <a:r>
                  <a:rPr lang="en-US" altLang="zh-CN" i="0">
                    <a:latin typeface="Cambria Math" panose="02040503050406030204" pitchFamily="18" charset="0"/>
                  </a:rPr>
                  <a:t>𝑁</a:t>
                </a:r>
                <a:r>
                  <a:rPr lang="en-US" altLang="zh-CN" i="0" smtClean="0">
                    <a:latin typeface="Cambria Math" panose="02040503050406030204" pitchFamily="18" charset="0"/>
                  </a:rPr>
                  <a:t>_</a:t>
                </a:r>
                <a:r>
                  <a:rPr lang="en-US" altLang="zh-CN" i="0">
                    <a:latin typeface="Cambria Math" panose="02040503050406030204" pitchFamily="18" charset="0"/>
                  </a:rPr>
                  <a:t>𝑝𝑜𝑠</a:t>
                </a:r>
                <a:r>
                  <a:rPr lang="zh-CN" altLang="en-US" dirty="0" smtClean="0"/>
                  <a:t>表示正样本个数，</a:t>
                </a:r>
                <a:r>
                  <a:rPr lang="el-GR" altLang="zh-CN" i="0" smtClean="0">
                    <a:latin typeface="Cambria Math" panose="02040503050406030204" pitchFamily="18" charset="0"/>
                  </a:rPr>
                  <a:t>"λ</a:t>
                </a:r>
                <a:r>
                  <a:rPr lang="zh-CN" altLang="en-US" i="0" smtClean="0"/>
                  <a:t>"</a:t>
                </a:r>
                <a:r>
                  <a:rPr lang="zh-CN" altLang="en-US" dirty="0" smtClean="0"/>
                  <a:t>是两个损失的权重因子（通常取</a:t>
                </a:r>
                <a:r>
                  <a:rPr lang="el-GR" altLang="zh-CN" i="0" smtClean="0">
                    <a:latin typeface="Cambria Math" panose="02040503050406030204" pitchFamily="18" charset="0"/>
                  </a:rPr>
                  <a:t>"λ</a:t>
                </a:r>
                <a:r>
                  <a:rPr lang="zh-CN" altLang="en-US" i="0" smtClean="0"/>
                  <a:t>"</a:t>
                </a:r>
                <a:r>
                  <a:rPr lang="en-US" altLang="zh-CN" dirty="0" smtClean="0"/>
                  <a:t>=1</a:t>
                </a:r>
                <a:r>
                  <a:rPr lang="zh-CN" altLang="en-US" dirty="0" smtClean="0"/>
                  <a:t>），</a:t>
                </a:r>
                <a:r>
                  <a:rPr lang="en-US" altLang="zh-CN" i="0" smtClean="0">
                    <a:latin typeface="Cambria Math" panose="02040503050406030204" pitchFamily="18" charset="0"/>
                  </a:rPr>
                  <a:t>∑</a:t>
                </a:r>
                <a:r>
                  <a:rPr lang="zh-CN" altLang="en-US" dirty="0" smtClean="0"/>
                  <a:t>表示对特征图</a:t>
                </a:r>
                <a:r>
                  <a:rPr lang="en-US" altLang="zh-CN" i="0">
                    <a:latin typeface="Cambria Math" panose="02040503050406030204" pitchFamily="18" charset="0"/>
                  </a:rPr>
                  <a:t>𝐹_𝑖</a:t>
                </a:r>
                <a:r>
                  <a:rPr lang="zh-CN" altLang="en-US" dirty="0" smtClean="0"/>
                  <a:t>上所有位置</a:t>
                </a:r>
                <a:r>
                  <a:rPr lang="en-US" altLang="zh-CN" i="0">
                    <a:latin typeface="Cambria Math" panose="02040503050406030204" pitchFamily="18" charset="0"/>
                  </a:rPr>
                  <a:t>(𝑥,𝑦)</a:t>
                </a:r>
                <a:r>
                  <a:rPr lang="zh-CN" altLang="en-US" dirty="0" smtClean="0"/>
                  <a:t>求和</a:t>
                </a:r>
                <a:r>
                  <a:rPr lang="en-US" altLang="zh-CN" dirty="0" smtClean="0"/>
                  <a:t>, </a:t>
                </a:r>
                <a:r>
                  <a:rPr lang="en-US" altLang="zh-CN" i="0">
                    <a:latin typeface="Cambria Math" panose="02040503050406030204" pitchFamily="18" charset="0"/>
                  </a:rPr>
                  <a:t>𝐼_{𝑐_(𝑥,𝑦)^∗</a:t>
                </a:r>
                <a:r>
                  <a:rPr lang="en-US" altLang="zh-CN" i="0">
                    <a:latin typeface="Cambria Math" panose="02040503050406030204" pitchFamily="18" charset="0"/>
                    <a:ea typeface="Cambria Math" panose="02040503050406030204" pitchFamily="18" charset="0"/>
                  </a:rPr>
                  <a:t>&gt;0} </a:t>
                </a:r>
                <a:r>
                  <a:rPr lang="zh-CN" altLang="en-US" dirty="0" smtClean="0"/>
                  <a:t>为示性函数，</a:t>
                </a:r>
                <a:r>
                  <a:rPr lang="en-US" altLang="zh-CN" i="0">
                    <a:latin typeface="Cambria Math" panose="02040503050406030204" pitchFamily="18" charset="0"/>
                  </a:rPr>
                  <a:t>𝑐_(𝑥,𝑦)^∗</a:t>
                </a:r>
                <a:r>
                  <a:rPr lang="en-US" altLang="zh-CN" i="0">
                    <a:latin typeface="Cambria Math" panose="02040503050406030204" pitchFamily="18" charset="0"/>
                    <a:ea typeface="Cambria Math" panose="02040503050406030204" pitchFamily="18" charset="0"/>
                  </a:rPr>
                  <a:t>&gt;0</a:t>
                </a:r>
                <a:r>
                  <a:rPr lang="zh-CN" altLang="en-US" dirty="0" smtClean="0"/>
                  <a:t>时</a:t>
                </a:r>
                <a:r>
                  <a:rPr lang="en-US" altLang="zh-CN" dirty="0" smtClean="0"/>
                  <a:t>,</a:t>
                </a:r>
                <a:r>
                  <a:rPr lang="zh-CN" altLang="en-US" dirty="0" smtClean="0"/>
                  <a:t>即</a:t>
                </a:r>
                <a:r>
                  <a:rPr lang="en-US" altLang="zh-CN" i="0">
                    <a:latin typeface="Cambria Math" panose="02040503050406030204" pitchFamily="18" charset="0"/>
                  </a:rPr>
                  <a:t>𝑐</a:t>
                </a:r>
                <a:r>
                  <a:rPr lang="en-US" altLang="zh-CN" i="0" smtClean="0">
                    <a:latin typeface="Cambria Math" panose="02040503050406030204" pitchFamily="18" charset="0"/>
                  </a:rPr>
                  <a:t>_(</a:t>
                </a:r>
                <a:r>
                  <a:rPr lang="en-US" altLang="zh-CN" i="0">
                    <a:latin typeface="Cambria Math" panose="02040503050406030204" pitchFamily="18" charset="0"/>
                  </a:rPr>
                  <a:t>𝑥,𝑦</a:t>
                </a:r>
                <a:r>
                  <a:rPr lang="en-US" altLang="zh-CN" i="0" smtClean="0">
                    <a:latin typeface="Cambria Math" panose="02040503050406030204" pitchFamily="18" charset="0"/>
                  </a:rPr>
                  <a:t>)</a:t>
                </a:r>
                <a:r>
                  <a:rPr lang="en-US" altLang="zh-CN" i="0">
                    <a:latin typeface="Cambria Math" panose="02040503050406030204" pitchFamily="18" charset="0"/>
                  </a:rPr>
                  <a:t>^∗</a:t>
                </a:r>
                <a:r>
                  <a:rPr lang="zh-CN" altLang="en-US" dirty="0" smtClean="0"/>
                  <a:t>为目标类别时，其值取</a:t>
                </a:r>
                <a:r>
                  <a:rPr lang="en-US" altLang="zh-CN" dirty="0" smtClean="0"/>
                  <a:t>1</a:t>
                </a:r>
                <a:r>
                  <a:rPr lang="zh-CN" altLang="en-US" dirty="0" smtClean="0"/>
                  <a:t>，否则取</a:t>
                </a:r>
                <a:r>
                  <a:rPr lang="en-US" altLang="zh-CN" dirty="0" smtClean="0"/>
                  <a:t>0</a:t>
                </a:r>
                <a:r>
                  <a:rPr lang="zh-CN" altLang="en-US" dirty="0" smtClean="0"/>
                  <a:t>。</a:t>
                </a:r>
                <a:endParaRPr lang="en-US" altLang="zh-CN" dirty="0" smtClean="0"/>
              </a:p>
              <a:p>
                <a:pPr marL="0" marR="0" lvl="2" indent="0" algn="l" defTabSz="914400" rtl="0" eaLnBrk="1" fontAlgn="base" latinLnBrk="0" hangingPunct="1">
                  <a:lnSpc>
                    <a:spcPct val="100000"/>
                  </a:lnSpc>
                  <a:spcBef>
                    <a:spcPct val="0"/>
                  </a:spcBef>
                  <a:spcAft>
                    <a:spcPct val="0"/>
                  </a:spcAft>
                  <a:buClrTx/>
                  <a:buSzTx/>
                  <a:buFontTx/>
                  <a:buNone/>
                  <a:tabLst/>
                  <a:defRPr/>
                </a:pPr>
                <a:r>
                  <a:rPr lang="zh-CN" altLang="en-US" dirty="0" smtClean="0"/>
                  <a:t>在推理过程中，基于上述方法，可以根据一定的阈值，直接推理出每个目标框的位置及其类别，最后使用</a:t>
                </a:r>
                <a:r>
                  <a:rPr lang="en-US" altLang="zh-CN" dirty="0" smtClean="0"/>
                  <a:t>NMS</a:t>
                </a:r>
                <a:r>
                  <a:rPr lang="zh-CN" altLang="en-US" dirty="0" smtClean="0"/>
                  <a:t>得到输出结果。</a:t>
                </a:r>
                <a:endParaRPr lang="en-US" altLang="zh-CN" dirty="0" smtClean="0"/>
              </a:p>
              <a:p>
                <a:pPr marL="0" marR="0" lvl="2" indent="0" algn="l" defTabSz="914400" rtl="0" eaLnBrk="1" fontAlgn="base" latinLnBrk="0" hangingPunct="1">
                  <a:lnSpc>
                    <a:spcPct val="100000"/>
                  </a:lnSpc>
                  <a:spcBef>
                    <a:spcPct val="0"/>
                  </a:spcBef>
                  <a:spcAft>
                    <a:spcPct val="0"/>
                  </a:spcAft>
                  <a:buClrTx/>
                  <a:buSzTx/>
                  <a:buFontTx/>
                  <a:buNone/>
                  <a:tabLst/>
                  <a:defRPr/>
                </a:pPr>
                <a:endParaRPr lang="en-US" altLang="zh-CN" dirty="0" smtClean="0"/>
              </a:p>
              <a:p>
                <a:endParaRPr lang="en-US" altLang="zh-CN" dirty="0" smtClean="0"/>
              </a:p>
              <a:p>
                <a:endParaRPr lang="zh-CN" altLang="en-US" dirty="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43</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13351747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smtClean="0"/>
                  <a:t>如果预测目标框的时候仅使用卷积网络最后一层特征图，会遇到两个问题：一个是相对原图来说</a:t>
                </a:r>
                <a:r>
                  <a:rPr lang="en-US" altLang="zh-CN" dirty="0" smtClean="0"/>
                  <a:t>,</a:t>
                </a:r>
                <a:r>
                  <a:rPr lang="zh-CN" altLang="en-US" dirty="0" smtClean="0"/>
                  <a:t>最后一层采样的间隔很大，编码主要是整体信息，对于比较小的目标信息损失会比较多，容易产生漏检；另一个是不容易区分交叠在一起的目标。为了解决这些问题，</a:t>
                </a:r>
                <a:r>
                  <a:rPr lang="en-US" altLang="zh-CN" dirty="0" smtClean="0"/>
                  <a:t>FCOS</a:t>
                </a:r>
                <a:r>
                  <a:rPr lang="zh-CN" altLang="en-US" dirty="0" smtClean="0"/>
                  <a:t>使用了特征金字塔</a:t>
                </a:r>
                <a:r>
                  <a:rPr lang="en-US" altLang="zh-CN" dirty="0" smtClean="0"/>
                  <a:t>(FPN)</a:t>
                </a:r>
                <a:r>
                  <a:rPr lang="zh-CN" altLang="en-US" dirty="0" smtClean="0"/>
                  <a:t>方法。</a:t>
                </a:r>
                <a:endParaRPr lang="en-US" altLang="zh-CN" dirty="0" smtClean="0"/>
              </a:p>
              <a:p>
                <a:r>
                  <a:rPr lang="zh-CN" altLang="en-US" dirty="0" smtClean="0"/>
                  <a:t>使用</a:t>
                </a:r>
                <a:r>
                  <a:rPr lang="en-US" altLang="zh-CN" dirty="0" smtClean="0"/>
                  <a:t>FPN</a:t>
                </a:r>
                <a:r>
                  <a:rPr lang="zh-CN" altLang="en-US" dirty="0" smtClean="0"/>
                  <a:t>方法的基本思路是</a:t>
                </a:r>
                <a:r>
                  <a:rPr lang="en-US" altLang="zh-CN" dirty="0" smtClean="0"/>
                  <a:t>,</a:t>
                </a:r>
                <a:r>
                  <a:rPr lang="zh-CN" altLang="en-US" dirty="0" smtClean="0"/>
                  <a:t>不同层的特征图</a:t>
                </a:r>
                <a:r>
                  <a:rPr lang="en-US" altLang="zh-CN" dirty="0" smtClean="0"/>
                  <a:t>,</a:t>
                </a:r>
                <a:r>
                  <a:rPr lang="zh-CN" altLang="en-US" dirty="0" smtClean="0"/>
                  <a:t>预测不同尺寸的目标框。如图</a:t>
                </a:r>
                <a:r>
                  <a:rPr lang="en-US" altLang="zh-CN" dirty="0" smtClean="0"/>
                  <a:t>1</a:t>
                </a:r>
                <a:r>
                  <a:rPr lang="zh-CN" altLang="en-US" dirty="0" smtClean="0"/>
                  <a:t>左侧所示，我们将</a:t>
                </a:r>
                <a:r>
                  <a:rPr lang="en-US" altLang="zh-CN" dirty="0" smtClean="0"/>
                  <a:t>FPN</a:t>
                </a:r>
                <a:r>
                  <a:rPr lang="zh-CN" altLang="en-US" dirty="0" smtClean="0"/>
                  <a:t>的特征图用</a:t>
                </a:r>
                <a:r>
                  <a:rPr lang="en-US" altLang="zh-CN" dirty="0" smtClean="0"/>
                  <a:t>{P</a:t>
                </a:r>
                <a:r>
                  <a:rPr lang="en-US" altLang="zh-CN" baseline="-25000" dirty="0" smtClean="0"/>
                  <a:t>3</a:t>
                </a:r>
                <a:r>
                  <a:rPr lang="en-US" altLang="zh-CN" dirty="0" smtClean="0"/>
                  <a:t>,P</a:t>
                </a:r>
                <a:r>
                  <a:rPr lang="en-US" altLang="zh-CN" baseline="-25000" dirty="0" smtClean="0"/>
                  <a:t>4</a:t>
                </a:r>
                <a:r>
                  <a:rPr lang="en-US" altLang="zh-CN" dirty="0" smtClean="0"/>
                  <a:t>,P</a:t>
                </a:r>
                <a:r>
                  <a:rPr lang="en-US" altLang="zh-CN" baseline="-25000" dirty="0" smtClean="0"/>
                  <a:t>5</a:t>
                </a:r>
                <a:r>
                  <a:rPr lang="en-US" altLang="zh-CN" dirty="0" smtClean="0"/>
                  <a:t>,P</a:t>
                </a:r>
                <a:r>
                  <a:rPr lang="en-US" altLang="zh-CN" baseline="-25000" dirty="0" smtClean="0"/>
                  <a:t>6</a:t>
                </a:r>
                <a:r>
                  <a:rPr lang="en-US" altLang="zh-CN" dirty="0" smtClean="0"/>
                  <a:t>,P</a:t>
                </a:r>
                <a:r>
                  <a:rPr lang="en-US" altLang="zh-CN" baseline="-25000" dirty="0" smtClean="0"/>
                  <a:t>7</a:t>
                </a:r>
                <a:r>
                  <a:rPr lang="en-US" altLang="zh-CN" dirty="0" smtClean="0"/>
                  <a:t>}</a:t>
                </a:r>
                <a:r>
                  <a:rPr lang="zh-CN" altLang="en-US" dirty="0" smtClean="0"/>
                  <a:t>来表示，</a:t>
                </a:r>
                <a:r>
                  <a:rPr lang="en-US" altLang="zh-CN" dirty="0" smtClean="0"/>
                  <a:t>P</a:t>
                </a:r>
                <a:r>
                  <a:rPr lang="en-US" altLang="zh-CN" baseline="-25000" dirty="0" smtClean="0"/>
                  <a:t>3</a:t>
                </a:r>
                <a:r>
                  <a:rPr lang="en-US" altLang="zh-CN" dirty="0" smtClean="0"/>
                  <a:t>,P</a:t>
                </a:r>
                <a:r>
                  <a:rPr lang="en-US" altLang="zh-CN" baseline="-25000" dirty="0" smtClean="0"/>
                  <a:t>4</a:t>
                </a:r>
                <a:r>
                  <a:rPr lang="en-US" altLang="zh-CN" dirty="0" smtClean="0"/>
                  <a:t>,P</a:t>
                </a:r>
                <a:r>
                  <a:rPr lang="en-US" altLang="zh-CN" baseline="-25000" dirty="0" smtClean="0"/>
                  <a:t>5</a:t>
                </a:r>
                <a:r>
                  <a:rPr lang="zh-CN" altLang="en-US" dirty="0" smtClean="0"/>
                  <a:t>和前文介绍的一样，由主干网络的输出特征图</a:t>
                </a:r>
                <a:r>
                  <a:rPr lang="en-US" altLang="zh-CN" dirty="0" smtClean="0"/>
                  <a:t>C</a:t>
                </a:r>
                <a:r>
                  <a:rPr lang="en-US" altLang="zh-CN" baseline="-25000" dirty="0" smtClean="0"/>
                  <a:t>3</a:t>
                </a:r>
                <a:r>
                  <a:rPr lang="zh-CN" altLang="en-US" dirty="0" smtClean="0"/>
                  <a:t>、</a:t>
                </a:r>
                <a:r>
                  <a:rPr lang="en-US" altLang="zh-CN" dirty="0" smtClean="0"/>
                  <a:t>C</a:t>
                </a:r>
                <a:r>
                  <a:rPr lang="en-US" altLang="zh-CN" baseline="-25000" dirty="0" smtClean="0"/>
                  <a:t>4</a:t>
                </a:r>
                <a:r>
                  <a:rPr lang="zh-CN" altLang="en-US" dirty="0" smtClean="0"/>
                  <a:t>、</a:t>
                </a:r>
                <a:r>
                  <a:rPr lang="en-US" altLang="zh-CN" dirty="0" smtClean="0"/>
                  <a:t>C</a:t>
                </a:r>
                <a:r>
                  <a:rPr lang="en-US" altLang="zh-CN" baseline="-25000" dirty="0" smtClean="0"/>
                  <a:t>5</a:t>
                </a:r>
                <a:r>
                  <a:rPr lang="zh-CN" altLang="en-US" dirty="0" smtClean="0"/>
                  <a:t>经过自上而下的过程构建</a:t>
                </a:r>
                <a:r>
                  <a:rPr lang="en-US" altLang="zh-CN" dirty="0" smtClean="0"/>
                  <a:t>,P</a:t>
                </a:r>
                <a:r>
                  <a:rPr lang="en-US" altLang="zh-CN" baseline="-25000" dirty="0" smtClean="0"/>
                  <a:t>6</a:t>
                </a:r>
                <a:r>
                  <a:rPr lang="en-US" altLang="zh-CN" dirty="0" smtClean="0"/>
                  <a:t>,P</a:t>
                </a:r>
                <a:r>
                  <a:rPr lang="en-US" altLang="zh-CN" baseline="-25000" dirty="0" smtClean="0"/>
                  <a:t>7</a:t>
                </a:r>
                <a:r>
                  <a:rPr lang="en-US" altLang="zh-CN" dirty="0" smtClean="0"/>
                  <a:t>,</a:t>
                </a:r>
                <a:r>
                  <a:rPr lang="zh-CN" altLang="en-US" dirty="0" smtClean="0"/>
                  <a:t>分别基于</a:t>
                </a:r>
                <a:r>
                  <a:rPr lang="en-US" altLang="zh-CN" dirty="0" smtClean="0"/>
                  <a:t>P</a:t>
                </a:r>
                <a:r>
                  <a:rPr lang="en-US" altLang="zh-CN" baseline="-25000" dirty="0" smtClean="0"/>
                  <a:t>5</a:t>
                </a:r>
                <a:r>
                  <a:rPr lang="zh-CN" altLang="en-US" dirty="0" smtClean="0"/>
                  <a:t>、</a:t>
                </a:r>
                <a:r>
                  <a:rPr lang="en-US" altLang="zh-CN" dirty="0" smtClean="0"/>
                  <a:t>P</a:t>
                </a:r>
                <a:r>
                  <a:rPr lang="en-US" altLang="zh-CN" baseline="-25000" dirty="0" smtClean="0"/>
                  <a:t>6</a:t>
                </a:r>
                <a:r>
                  <a:rPr lang="zh-CN" altLang="en-US" baseline="0" dirty="0" smtClean="0"/>
                  <a:t>，</a:t>
                </a:r>
                <a:r>
                  <a:rPr lang="zh-CN" altLang="en-US" dirty="0" smtClean="0"/>
                  <a:t>通过采样间隔为</a:t>
                </a:r>
                <a:r>
                  <a:rPr lang="en-US" altLang="zh-CN" dirty="0" smtClean="0"/>
                  <a:t>2(stride=2</a:t>
                </a:r>
                <a:r>
                  <a:rPr lang="zh-CN" altLang="en-US" dirty="0" smtClean="0"/>
                  <a:t>）的卷积操作构建</a:t>
                </a:r>
                <a:r>
                  <a:rPr lang="en-US" altLang="zh-CN" dirty="0" smtClean="0"/>
                  <a:t>, P</a:t>
                </a:r>
                <a:r>
                  <a:rPr lang="en-US" altLang="zh-CN" baseline="-25000" dirty="0" smtClean="0"/>
                  <a:t>3</a:t>
                </a:r>
                <a:r>
                  <a:rPr lang="en-US" altLang="zh-CN" dirty="0" smtClean="0"/>
                  <a:t>,P</a:t>
                </a:r>
                <a:r>
                  <a:rPr lang="en-US" altLang="zh-CN" baseline="-25000" dirty="0" smtClean="0"/>
                  <a:t>4</a:t>
                </a:r>
                <a:r>
                  <a:rPr lang="en-US" altLang="zh-CN" dirty="0" smtClean="0"/>
                  <a:t>,P</a:t>
                </a:r>
                <a:r>
                  <a:rPr lang="en-US" altLang="zh-CN" baseline="-25000" dirty="0" smtClean="0"/>
                  <a:t>5</a:t>
                </a:r>
                <a:r>
                  <a:rPr lang="en-US" altLang="zh-CN" dirty="0" smtClean="0"/>
                  <a:t>,P</a:t>
                </a:r>
                <a:r>
                  <a:rPr lang="en-US" altLang="zh-CN" baseline="-25000" dirty="0" smtClean="0"/>
                  <a:t>6</a:t>
                </a:r>
                <a:r>
                  <a:rPr lang="en-US" altLang="zh-CN" dirty="0" smtClean="0"/>
                  <a:t>,P</a:t>
                </a:r>
                <a:r>
                  <a:rPr lang="en-US" altLang="zh-CN" baseline="-25000" dirty="0" smtClean="0"/>
                  <a:t>7</a:t>
                </a:r>
                <a:r>
                  <a:rPr lang="zh-CN" altLang="en-US" dirty="0" smtClean="0"/>
                  <a:t>相对于原图的采样间隔</a:t>
                </a:r>
                <a:r>
                  <a:rPr lang="en-US" altLang="zh-CN" dirty="0" smtClean="0"/>
                  <a:t>,</a:t>
                </a:r>
                <a:r>
                  <a:rPr lang="zh-CN" altLang="en-US" dirty="0" smtClean="0"/>
                  <a:t>分别为</a:t>
                </a:r>
                <a:r>
                  <a:rPr lang="en-US" altLang="zh-CN" dirty="0" smtClean="0"/>
                  <a:t>8</a:t>
                </a:r>
                <a:r>
                  <a:rPr lang="zh-CN" altLang="en-US" dirty="0" smtClean="0"/>
                  <a:t>、</a:t>
                </a:r>
                <a:r>
                  <a:rPr lang="en-US" altLang="zh-CN" dirty="0" smtClean="0"/>
                  <a:t>16</a:t>
                </a:r>
                <a:r>
                  <a:rPr lang="zh-CN" altLang="en-US" dirty="0" smtClean="0"/>
                  <a:t>、</a:t>
                </a:r>
                <a:r>
                  <a:rPr lang="en-US" altLang="zh-CN" dirty="0" smtClean="0"/>
                  <a:t>32</a:t>
                </a:r>
                <a:r>
                  <a:rPr lang="zh-CN" altLang="en-US" dirty="0" smtClean="0"/>
                  <a:t>、</a:t>
                </a:r>
                <a:r>
                  <a:rPr lang="en-US" altLang="zh-CN" dirty="0" smtClean="0"/>
                  <a:t>64</a:t>
                </a:r>
                <a:r>
                  <a:rPr lang="zh-CN" altLang="en-US" dirty="0" smtClean="0"/>
                  <a:t>和</a:t>
                </a:r>
                <a:r>
                  <a:rPr lang="en-US" altLang="zh-CN" dirty="0" smtClean="0"/>
                  <a:t>128</a:t>
                </a:r>
                <a:r>
                  <a:rPr lang="zh-CN" altLang="en-US" dirty="0" smtClean="0"/>
                  <a:t>。</a:t>
                </a:r>
                <a:endParaRPr lang="en-US" altLang="zh-CN" dirty="0" smtClean="0"/>
              </a:p>
              <a:p>
                <a:r>
                  <a:rPr lang="zh-CN" altLang="en-US" dirty="0" smtClean="0"/>
                  <a:t>基于锚的检测方法针对不同层次的特征设置了不同尺度的锚框，而</a:t>
                </a:r>
                <a:r>
                  <a:rPr lang="en-US" altLang="zh-CN" dirty="0" smtClean="0"/>
                  <a:t>FCOS</a:t>
                </a:r>
                <a:r>
                  <a:rPr lang="zh-CN" altLang="en-US" dirty="0" smtClean="0"/>
                  <a:t>是直接限制了通过每一层特征能够回归的框的尺寸。对于</a:t>
                </a:r>
                <a:r>
                  <a:rPr lang="en-US" altLang="zh-CN" dirty="0" smtClean="0"/>
                  <a:t>FPN</a:t>
                </a:r>
                <a:r>
                  <a:rPr lang="zh-CN" altLang="en-US" dirty="0" smtClean="0"/>
                  <a:t>的各层特征图</a:t>
                </a:r>
                <a:r>
                  <a:rPr lang="en-US" altLang="zh-CN" dirty="0" smtClean="0"/>
                  <a:t>P</a:t>
                </a:r>
                <a:r>
                  <a:rPr lang="en-US" altLang="zh-CN" baseline="-25000" dirty="0" smtClean="0"/>
                  <a:t>3</a:t>
                </a:r>
                <a:r>
                  <a:rPr lang="en-US" altLang="zh-CN" dirty="0" smtClean="0"/>
                  <a:t>,P</a:t>
                </a:r>
                <a:r>
                  <a:rPr lang="en-US" altLang="zh-CN" baseline="-25000" dirty="0" smtClean="0"/>
                  <a:t>4</a:t>
                </a:r>
                <a:r>
                  <a:rPr lang="en-US" altLang="zh-CN" dirty="0" smtClean="0"/>
                  <a:t>,P</a:t>
                </a:r>
                <a:r>
                  <a:rPr lang="en-US" altLang="zh-CN" baseline="-25000" dirty="0" smtClean="0"/>
                  <a:t>5</a:t>
                </a:r>
                <a:r>
                  <a:rPr lang="en-US" altLang="zh-CN" dirty="0" smtClean="0"/>
                  <a:t>,P</a:t>
                </a:r>
                <a:r>
                  <a:rPr lang="en-US" altLang="zh-CN" baseline="-25000" dirty="0" smtClean="0"/>
                  <a:t>6</a:t>
                </a:r>
                <a:r>
                  <a:rPr lang="en-US" altLang="zh-CN" dirty="0" smtClean="0"/>
                  <a:t>,P</a:t>
                </a:r>
                <a:r>
                  <a:rPr lang="en-US" altLang="zh-CN" baseline="-25000" dirty="0" smtClean="0"/>
                  <a:t>7</a:t>
                </a:r>
                <a:r>
                  <a:rPr lang="zh-CN" altLang="en-US" dirty="0" smtClean="0"/>
                  <a:t>，分别设置</a:t>
                </a:r>
                <a:r>
                  <a:rPr lang="en-US" altLang="zh-CN" dirty="0" smtClean="0"/>
                  <a:t>m</a:t>
                </a:r>
                <a:r>
                  <a:rPr lang="en-US" altLang="zh-CN" baseline="-25000" dirty="0" smtClean="0"/>
                  <a:t>2</a:t>
                </a:r>
                <a:r>
                  <a:rPr lang="en-US" altLang="zh-CN" dirty="0" smtClean="0"/>
                  <a:t>,m</a:t>
                </a:r>
                <a:r>
                  <a:rPr lang="en-US" altLang="zh-CN" baseline="-25000" dirty="0" smtClean="0"/>
                  <a:t>3</a:t>
                </a:r>
                <a:r>
                  <a:rPr lang="en-US" altLang="zh-CN" dirty="0" smtClean="0"/>
                  <a:t>,m</a:t>
                </a:r>
                <a:r>
                  <a:rPr lang="en-US" altLang="zh-CN" baseline="-25000" dirty="0" smtClean="0"/>
                  <a:t>4</a:t>
                </a:r>
                <a:r>
                  <a:rPr lang="en-US" altLang="zh-CN" dirty="0" smtClean="0"/>
                  <a:t>,m</a:t>
                </a:r>
                <a:r>
                  <a:rPr lang="en-US" altLang="zh-CN" baseline="-25000" dirty="0" smtClean="0"/>
                  <a:t>5</a:t>
                </a:r>
                <a:r>
                  <a:rPr lang="en-US" altLang="zh-CN" dirty="0" smtClean="0"/>
                  <a:t>,m</a:t>
                </a:r>
                <a:r>
                  <a:rPr lang="en-US" altLang="zh-CN" baseline="-25000" dirty="0" smtClean="0"/>
                  <a:t>6</a:t>
                </a:r>
                <a:r>
                  <a:rPr lang="en-US" altLang="zh-CN" dirty="0" smtClean="0"/>
                  <a:t>,m</a:t>
                </a:r>
                <a:r>
                  <a:rPr lang="en-US" altLang="zh-CN" baseline="-25000" dirty="0" smtClean="0"/>
                  <a:t>7</a:t>
                </a:r>
                <a:r>
                  <a:rPr lang="zh-CN" altLang="en-US" baseline="0" dirty="0" smtClean="0"/>
                  <a:t>，比如分别取</a:t>
                </a:r>
                <a:r>
                  <a:rPr lang="en-US" altLang="zh-CN" baseline="0" dirty="0" smtClean="0"/>
                  <a:t>0</a:t>
                </a:r>
                <a:r>
                  <a:rPr lang="zh-CN" altLang="en-US" baseline="0" dirty="0" smtClean="0"/>
                  <a:t>、</a:t>
                </a:r>
                <a:r>
                  <a:rPr lang="en-US" altLang="zh-CN" baseline="0" dirty="0" smtClean="0"/>
                  <a:t>64</a:t>
                </a:r>
                <a:r>
                  <a:rPr lang="zh-CN" altLang="en-US" baseline="0" dirty="0" smtClean="0"/>
                  <a:t>、</a:t>
                </a:r>
                <a:r>
                  <a:rPr lang="en-US" altLang="zh-CN" baseline="0" dirty="0" smtClean="0"/>
                  <a:t>128</a:t>
                </a:r>
                <a:r>
                  <a:rPr lang="zh-CN" altLang="en-US" baseline="0" dirty="0" smtClean="0"/>
                  <a:t>、</a:t>
                </a:r>
                <a:r>
                  <a:rPr lang="en-US" altLang="zh-CN" baseline="0" dirty="0" smtClean="0"/>
                  <a:t>256</a:t>
                </a:r>
                <a:r>
                  <a:rPr lang="zh-CN" altLang="en-US" baseline="0" dirty="0" smtClean="0"/>
                  <a:t>、</a:t>
                </a:r>
                <a:r>
                  <a:rPr lang="en-US" altLang="zh-CN" baseline="0" dirty="0" smtClean="0"/>
                  <a:t>512</a:t>
                </a:r>
                <a:r>
                  <a:rPr lang="zh-CN" altLang="en-US" baseline="0" dirty="0" smtClean="0"/>
                  <a:t>、∞，对于第</a:t>
                </a:r>
                <a:r>
                  <a:rPr lang="en-US" altLang="zh-CN" baseline="0" dirty="0" err="1" smtClean="0"/>
                  <a:t>i</a:t>
                </a:r>
                <a:r>
                  <a:rPr lang="zh-CN" altLang="en-US" baseline="0" dirty="0" smtClean="0"/>
                  <a:t>层特征图，限制</a:t>
                </a:r>
                <a14:m>
                  <m:oMath xmlns:m="http://schemas.openxmlformats.org/officeDocument/2006/math">
                    <m:sSub>
                      <m:sSubPr>
                        <m:ctrlPr>
                          <a:rPr lang="en-US" altLang="zh-CN" i="1" baseline="0" smtClean="0">
                            <a:latin typeface="Cambria Math" panose="02040503050406030204" pitchFamily="18" charset="0"/>
                          </a:rPr>
                        </m:ctrlPr>
                      </m:sSubPr>
                      <m:e>
                        <m:r>
                          <a:rPr lang="en-US" altLang="zh-CN" b="0" i="1" baseline="0" smtClean="0">
                            <a:latin typeface="Cambria Math" panose="02040503050406030204" pitchFamily="18" charset="0"/>
                          </a:rPr>
                          <m:t>𝑚</m:t>
                        </m:r>
                      </m:e>
                      <m:sub>
                        <m:r>
                          <a:rPr lang="en-US" altLang="zh-CN" b="0" i="1" baseline="0" smtClean="0">
                            <a:latin typeface="Cambria Math" panose="02040503050406030204" pitchFamily="18" charset="0"/>
                          </a:rPr>
                          <m:t>𝑖</m:t>
                        </m:r>
                        <m:r>
                          <a:rPr lang="en-US" altLang="zh-CN" b="0" i="1" baseline="0" smtClean="0">
                            <a:latin typeface="Cambria Math" panose="02040503050406030204" pitchFamily="18" charset="0"/>
                          </a:rPr>
                          <m:t>−1</m:t>
                        </m:r>
                      </m:sub>
                    </m:sSub>
                    <m:r>
                      <a:rPr lang="en-US" altLang="zh-CN" i="1" baseline="0" smtClean="0">
                        <a:latin typeface="Cambria Math" panose="02040503050406030204" pitchFamily="18" charset="0"/>
                        <a:ea typeface="Cambria Math" panose="02040503050406030204" pitchFamily="18" charset="0"/>
                      </a:rPr>
                      <m:t>≤</m:t>
                    </m:r>
                    <m:r>
                      <a:rPr lang="en-US" altLang="zh-CN" b="0" i="1" baseline="0" smtClean="0">
                        <a:latin typeface="Cambria Math" panose="02040503050406030204" pitchFamily="18" charset="0"/>
                        <a:ea typeface="Cambria Math" panose="02040503050406030204" pitchFamily="18" charset="0"/>
                      </a:rPr>
                      <m:t>𝑚𝑎𝑥</m:t>
                    </m:r>
                    <m:d>
                      <m:dPr>
                        <m:ctrlPr>
                          <a:rPr lang="en-US" altLang="zh-CN" b="0" i="1" baseline="0" smtClean="0">
                            <a:latin typeface="Cambria Math" panose="02040503050406030204" pitchFamily="18" charset="0"/>
                            <a:ea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𝑙</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𝑟</m:t>
                            </m:r>
                          </m:e>
                          <m:sup>
                            <m:r>
                              <a:rPr lang="en-US" altLang="zh-CN" i="1">
                                <a:latin typeface="Cambria Math" panose="02040503050406030204" pitchFamily="18" charset="0"/>
                              </a:rPr>
                              <m:t>∗</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𝑡</m:t>
                            </m:r>
                          </m:e>
                          <m:sup>
                            <m:r>
                              <a:rPr lang="en-US" altLang="zh-CN" i="1">
                                <a:latin typeface="Cambria Math" panose="02040503050406030204" pitchFamily="18" charset="0"/>
                              </a:rPr>
                              <m:t>∗</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𝑏</m:t>
                            </m:r>
                          </m:e>
                          <m:sup>
                            <m:r>
                              <a:rPr lang="en-US" altLang="zh-CN" i="1">
                                <a:latin typeface="Cambria Math" panose="02040503050406030204" pitchFamily="18" charset="0"/>
                              </a:rPr>
                              <m:t>∗</m:t>
                            </m:r>
                          </m:sup>
                        </m:sSup>
                      </m:e>
                    </m:d>
                    <m:r>
                      <a:rPr lang="en-US" altLang="zh-CN" b="0" i="1" baseline="0" smtClean="0">
                        <a:latin typeface="Cambria Math" panose="02040503050406030204" pitchFamily="18" charset="0"/>
                        <a:ea typeface="Cambria Math" panose="02040503050406030204" pitchFamily="18" charset="0"/>
                      </a:rPr>
                      <m:t>≤</m:t>
                    </m:r>
                    <m:sSub>
                      <m:sSubPr>
                        <m:ctrlPr>
                          <a:rPr lang="en-US" altLang="zh-CN" b="0" i="1" baseline="0" smtClean="0">
                            <a:latin typeface="Cambria Math" panose="02040503050406030204" pitchFamily="18" charset="0"/>
                            <a:ea typeface="Cambria Math" panose="02040503050406030204" pitchFamily="18" charset="0"/>
                          </a:rPr>
                        </m:ctrlPr>
                      </m:sSubPr>
                      <m:e>
                        <m:r>
                          <a:rPr lang="en-US" altLang="zh-CN" b="0" i="1" baseline="0" smtClean="0">
                            <a:latin typeface="Cambria Math" panose="02040503050406030204" pitchFamily="18" charset="0"/>
                            <a:ea typeface="Cambria Math" panose="02040503050406030204" pitchFamily="18" charset="0"/>
                          </a:rPr>
                          <m:t>𝑚</m:t>
                        </m:r>
                      </m:e>
                      <m:sub>
                        <m:r>
                          <a:rPr lang="en-US" altLang="zh-CN" b="0" i="1" baseline="0" smtClean="0">
                            <a:latin typeface="Cambria Math" panose="02040503050406030204" pitchFamily="18" charset="0"/>
                            <a:ea typeface="Cambria Math" panose="02040503050406030204" pitchFamily="18" charset="0"/>
                          </a:rPr>
                          <m:t>𝑖</m:t>
                        </m:r>
                      </m:sub>
                    </m:sSub>
                  </m:oMath>
                </a14:m>
                <a:r>
                  <a:rPr lang="zh-CN" altLang="en-US" baseline="0" dirty="0" smtClean="0"/>
                  <a:t>，如果需要回归的真值框不在限制条件内，则对应的特征图上的点视为负样本，</a:t>
                </a:r>
                <a:r>
                  <a:rPr lang="en-US" altLang="zh-CN" baseline="0" dirty="0" smtClean="0"/>
                  <a:t>FPN</a:t>
                </a:r>
                <a:r>
                  <a:rPr lang="zh-CN" altLang="en-US" baseline="0" dirty="0" smtClean="0"/>
                  <a:t>每一层只负责回归对应尺度的目标框，因此算法的性能得到了较好的保障。另外，因为交叠的目标通常归属于不同的特征图，所以这种方法在一定程度上解决了交叠目标的回归问题</a:t>
                </a:r>
                <a:r>
                  <a:rPr lang="en-US" altLang="zh-CN" baseline="0" dirty="0" smtClean="0"/>
                  <a:t>,</a:t>
                </a:r>
                <a:r>
                  <a:rPr lang="zh-CN" altLang="en-US" baseline="0" dirty="0" smtClean="0"/>
                  <a:t>但如果两个交叠目标的尺度非常接近</a:t>
                </a:r>
                <a:r>
                  <a:rPr lang="en-US" altLang="zh-CN" baseline="0" dirty="0" smtClean="0"/>
                  <a:t>,</a:t>
                </a:r>
                <a:r>
                  <a:rPr lang="zh-CN" altLang="en-US" baseline="0" dirty="0" smtClean="0"/>
                  <a:t>属于同一层特征图</a:t>
                </a:r>
                <a:r>
                  <a:rPr lang="en-US" altLang="zh-CN" baseline="0" dirty="0" smtClean="0"/>
                  <a:t>,</a:t>
                </a:r>
                <a:r>
                  <a:rPr lang="zh-CN" altLang="en-US" baseline="0" dirty="0" smtClean="0"/>
                  <a:t>算法的策略仍然是选择较小的框作为回归对象。</a:t>
                </a:r>
                <a:endParaRPr lang="en-US" altLang="zh-CN" baseline="-25000" dirty="0" smtClean="0"/>
              </a:p>
            </p:txBody>
          </p:sp>
        </mc:Choice>
        <mc:Fallback xmlns="">
          <p:sp>
            <p:nvSpPr>
              <p:cNvPr id="3" name="备注占位符 2"/>
              <p:cNvSpPr>
                <a:spLocks noGrp="1"/>
              </p:cNvSpPr>
              <p:nvPr>
                <p:ph type="body" idx="1"/>
              </p:nvPr>
            </p:nvSpPr>
            <p:spPr/>
            <p:txBody>
              <a:bodyPr/>
              <a:lstStyle/>
              <a:p>
                <a:r>
                  <a:rPr lang="zh-CN" altLang="en-US" dirty="0" smtClean="0"/>
                  <a:t>如果预测目标框的时候仅使用卷积网络最后一层特征图，会遇到两个问题：一个是相对原图来说</a:t>
                </a:r>
                <a:r>
                  <a:rPr lang="en-US" altLang="zh-CN" dirty="0" smtClean="0"/>
                  <a:t>,</a:t>
                </a:r>
                <a:r>
                  <a:rPr lang="zh-CN" altLang="en-US" dirty="0" smtClean="0"/>
                  <a:t>最后一层采样的间隔很大，编码主要是整体信息，对于比较小的目标信息损失会比较多，容易产生漏检；另一个是不容易区分交叠在一起的目标。为了解决这些问题，</a:t>
                </a:r>
                <a:r>
                  <a:rPr lang="en-US" altLang="zh-CN" dirty="0" smtClean="0"/>
                  <a:t>FCOS</a:t>
                </a:r>
                <a:r>
                  <a:rPr lang="zh-CN" altLang="en-US" dirty="0" smtClean="0"/>
                  <a:t>使用了特征金字塔</a:t>
                </a:r>
                <a:r>
                  <a:rPr lang="en-US" altLang="zh-CN" dirty="0" smtClean="0"/>
                  <a:t>(FPN)</a:t>
                </a:r>
                <a:r>
                  <a:rPr lang="zh-CN" altLang="en-US" dirty="0" smtClean="0"/>
                  <a:t>方法。</a:t>
                </a:r>
                <a:endParaRPr lang="en-US" altLang="zh-CN" dirty="0" smtClean="0"/>
              </a:p>
              <a:p>
                <a:r>
                  <a:rPr lang="zh-CN" altLang="en-US" dirty="0" smtClean="0"/>
                  <a:t>使用</a:t>
                </a:r>
                <a:r>
                  <a:rPr lang="en-US" altLang="zh-CN" dirty="0" smtClean="0"/>
                  <a:t>FPN</a:t>
                </a:r>
                <a:r>
                  <a:rPr lang="zh-CN" altLang="en-US" dirty="0" smtClean="0"/>
                  <a:t>方法的基本思路是</a:t>
                </a:r>
                <a:r>
                  <a:rPr lang="en-US" altLang="zh-CN" dirty="0" smtClean="0"/>
                  <a:t>,</a:t>
                </a:r>
                <a:r>
                  <a:rPr lang="zh-CN" altLang="en-US" dirty="0" smtClean="0"/>
                  <a:t>不同层的特征图</a:t>
                </a:r>
                <a:r>
                  <a:rPr lang="en-US" altLang="zh-CN" dirty="0" smtClean="0"/>
                  <a:t>,</a:t>
                </a:r>
                <a:r>
                  <a:rPr lang="zh-CN" altLang="en-US" dirty="0" smtClean="0"/>
                  <a:t>预测不同尺寸的目标框。如图</a:t>
                </a:r>
                <a:r>
                  <a:rPr lang="en-US" altLang="zh-CN" dirty="0" smtClean="0"/>
                  <a:t>1</a:t>
                </a:r>
                <a:r>
                  <a:rPr lang="zh-CN" altLang="en-US" dirty="0" smtClean="0"/>
                  <a:t>左侧所示，我们将</a:t>
                </a:r>
                <a:r>
                  <a:rPr lang="en-US" altLang="zh-CN" dirty="0" smtClean="0"/>
                  <a:t>FPN</a:t>
                </a:r>
                <a:r>
                  <a:rPr lang="zh-CN" altLang="en-US" dirty="0" smtClean="0"/>
                  <a:t>的特征图用</a:t>
                </a:r>
                <a:r>
                  <a:rPr lang="en-US" altLang="zh-CN" dirty="0" smtClean="0"/>
                  <a:t>{P</a:t>
                </a:r>
                <a:r>
                  <a:rPr lang="en-US" altLang="zh-CN" baseline="-25000" dirty="0" smtClean="0"/>
                  <a:t>3</a:t>
                </a:r>
                <a:r>
                  <a:rPr lang="en-US" altLang="zh-CN" dirty="0" smtClean="0"/>
                  <a:t>,P</a:t>
                </a:r>
                <a:r>
                  <a:rPr lang="en-US" altLang="zh-CN" baseline="-25000" dirty="0" smtClean="0"/>
                  <a:t>4</a:t>
                </a:r>
                <a:r>
                  <a:rPr lang="en-US" altLang="zh-CN" dirty="0" smtClean="0"/>
                  <a:t>,P</a:t>
                </a:r>
                <a:r>
                  <a:rPr lang="en-US" altLang="zh-CN" baseline="-25000" dirty="0" smtClean="0"/>
                  <a:t>5</a:t>
                </a:r>
                <a:r>
                  <a:rPr lang="en-US" altLang="zh-CN" dirty="0" smtClean="0"/>
                  <a:t>,P</a:t>
                </a:r>
                <a:r>
                  <a:rPr lang="en-US" altLang="zh-CN" baseline="-25000" dirty="0" smtClean="0"/>
                  <a:t>6</a:t>
                </a:r>
                <a:r>
                  <a:rPr lang="en-US" altLang="zh-CN" dirty="0" smtClean="0"/>
                  <a:t>,P</a:t>
                </a:r>
                <a:r>
                  <a:rPr lang="en-US" altLang="zh-CN" baseline="-25000" dirty="0" smtClean="0"/>
                  <a:t>7</a:t>
                </a:r>
                <a:r>
                  <a:rPr lang="en-US" altLang="zh-CN" dirty="0" smtClean="0"/>
                  <a:t>}</a:t>
                </a:r>
                <a:r>
                  <a:rPr lang="zh-CN" altLang="en-US" dirty="0" smtClean="0"/>
                  <a:t>来表示，</a:t>
                </a:r>
                <a:r>
                  <a:rPr lang="en-US" altLang="zh-CN" dirty="0" smtClean="0"/>
                  <a:t>P</a:t>
                </a:r>
                <a:r>
                  <a:rPr lang="en-US" altLang="zh-CN" baseline="-25000" dirty="0" smtClean="0"/>
                  <a:t>3</a:t>
                </a:r>
                <a:r>
                  <a:rPr lang="en-US" altLang="zh-CN" dirty="0" smtClean="0"/>
                  <a:t>,P</a:t>
                </a:r>
                <a:r>
                  <a:rPr lang="en-US" altLang="zh-CN" baseline="-25000" dirty="0" smtClean="0"/>
                  <a:t>4</a:t>
                </a:r>
                <a:r>
                  <a:rPr lang="en-US" altLang="zh-CN" dirty="0" smtClean="0"/>
                  <a:t>,P</a:t>
                </a:r>
                <a:r>
                  <a:rPr lang="en-US" altLang="zh-CN" baseline="-25000" dirty="0" smtClean="0"/>
                  <a:t>5</a:t>
                </a:r>
                <a:r>
                  <a:rPr lang="zh-CN" altLang="en-US" dirty="0" smtClean="0"/>
                  <a:t>和前文介绍的一样，由主干网络的输出特征图</a:t>
                </a:r>
                <a:r>
                  <a:rPr lang="en-US" altLang="zh-CN" dirty="0" smtClean="0"/>
                  <a:t>C</a:t>
                </a:r>
                <a:r>
                  <a:rPr lang="en-US" altLang="zh-CN" baseline="-25000" dirty="0" smtClean="0"/>
                  <a:t>3</a:t>
                </a:r>
                <a:r>
                  <a:rPr lang="zh-CN" altLang="en-US" dirty="0" smtClean="0"/>
                  <a:t>、</a:t>
                </a:r>
                <a:r>
                  <a:rPr lang="en-US" altLang="zh-CN" dirty="0" smtClean="0"/>
                  <a:t>C</a:t>
                </a:r>
                <a:r>
                  <a:rPr lang="en-US" altLang="zh-CN" baseline="-25000" dirty="0" smtClean="0"/>
                  <a:t>4</a:t>
                </a:r>
                <a:r>
                  <a:rPr lang="zh-CN" altLang="en-US" dirty="0" smtClean="0"/>
                  <a:t>、</a:t>
                </a:r>
                <a:r>
                  <a:rPr lang="en-US" altLang="zh-CN" dirty="0" smtClean="0"/>
                  <a:t>C</a:t>
                </a:r>
                <a:r>
                  <a:rPr lang="en-US" altLang="zh-CN" baseline="-25000" dirty="0" smtClean="0"/>
                  <a:t>5</a:t>
                </a:r>
                <a:r>
                  <a:rPr lang="zh-CN" altLang="en-US" dirty="0" smtClean="0"/>
                  <a:t>经过自上而下的过程构建</a:t>
                </a:r>
                <a:r>
                  <a:rPr lang="en-US" altLang="zh-CN" dirty="0" smtClean="0"/>
                  <a:t>,P</a:t>
                </a:r>
                <a:r>
                  <a:rPr lang="en-US" altLang="zh-CN" baseline="-25000" dirty="0" smtClean="0"/>
                  <a:t>6</a:t>
                </a:r>
                <a:r>
                  <a:rPr lang="en-US" altLang="zh-CN" dirty="0" smtClean="0"/>
                  <a:t>,P</a:t>
                </a:r>
                <a:r>
                  <a:rPr lang="en-US" altLang="zh-CN" baseline="-25000" dirty="0" smtClean="0"/>
                  <a:t>7</a:t>
                </a:r>
                <a:r>
                  <a:rPr lang="en-US" altLang="zh-CN" dirty="0" smtClean="0"/>
                  <a:t>,</a:t>
                </a:r>
                <a:r>
                  <a:rPr lang="zh-CN" altLang="en-US" dirty="0" smtClean="0"/>
                  <a:t>分别基于</a:t>
                </a:r>
                <a:r>
                  <a:rPr lang="en-US" altLang="zh-CN" dirty="0" smtClean="0"/>
                  <a:t>P</a:t>
                </a:r>
                <a:r>
                  <a:rPr lang="en-US" altLang="zh-CN" baseline="-25000" dirty="0" smtClean="0"/>
                  <a:t>5</a:t>
                </a:r>
                <a:r>
                  <a:rPr lang="zh-CN" altLang="en-US" dirty="0" smtClean="0"/>
                  <a:t>、</a:t>
                </a:r>
                <a:r>
                  <a:rPr lang="en-US" altLang="zh-CN" dirty="0" smtClean="0"/>
                  <a:t>P</a:t>
                </a:r>
                <a:r>
                  <a:rPr lang="en-US" altLang="zh-CN" baseline="-25000" dirty="0" smtClean="0"/>
                  <a:t>6</a:t>
                </a:r>
                <a:r>
                  <a:rPr lang="zh-CN" altLang="en-US" baseline="0" dirty="0" smtClean="0"/>
                  <a:t>，</a:t>
                </a:r>
                <a:r>
                  <a:rPr lang="zh-CN" altLang="en-US" dirty="0" smtClean="0"/>
                  <a:t>通过采样间隔为</a:t>
                </a:r>
                <a:r>
                  <a:rPr lang="en-US" altLang="zh-CN" dirty="0" smtClean="0"/>
                  <a:t>2(stride=2</a:t>
                </a:r>
                <a:r>
                  <a:rPr lang="zh-CN" altLang="en-US" dirty="0" smtClean="0"/>
                  <a:t>）的卷积操作构建</a:t>
                </a:r>
                <a:r>
                  <a:rPr lang="en-US" altLang="zh-CN" dirty="0" smtClean="0"/>
                  <a:t>, P</a:t>
                </a:r>
                <a:r>
                  <a:rPr lang="en-US" altLang="zh-CN" baseline="-25000" dirty="0" smtClean="0"/>
                  <a:t>3</a:t>
                </a:r>
                <a:r>
                  <a:rPr lang="en-US" altLang="zh-CN" dirty="0" smtClean="0"/>
                  <a:t>,P</a:t>
                </a:r>
                <a:r>
                  <a:rPr lang="en-US" altLang="zh-CN" baseline="-25000" dirty="0" smtClean="0"/>
                  <a:t>4</a:t>
                </a:r>
                <a:r>
                  <a:rPr lang="en-US" altLang="zh-CN" dirty="0" smtClean="0"/>
                  <a:t>,P</a:t>
                </a:r>
                <a:r>
                  <a:rPr lang="en-US" altLang="zh-CN" baseline="-25000" dirty="0" smtClean="0"/>
                  <a:t>5</a:t>
                </a:r>
                <a:r>
                  <a:rPr lang="en-US" altLang="zh-CN" dirty="0" smtClean="0"/>
                  <a:t>,P</a:t>
                </a:r>
                <a:r>
                  <a:rPr lang="en-US" altLang="zh-CN" baseline="-25000" dirty="0" smtClean="0"/>
                  <a:t>6</a:t>
                </a:r>
                <a:r>
                  <a:rPr lang="en-US" altLang="zh-CN" dirty="0" smtClean="0"/>
                  <a:t>,P</a:t>
                </a:r>
                <a:r>
                  <a:rPr lang="en-US" altLang="zh-CN" baseline="-25000" dirty="0" smtClean="0"/>
                  <a:t>7</a:t>
                </a:r>
                <a:r>
                  <a:rPr lang="zh-CN" altLang="en-US" dirty="0" smtClean="0"/>
                  <a:t>相对于原图的采样间隔</a:t>
                </a:r>
                <a:r>
                  <a:rPr lang="en-US" altLang="zh-CN" dirty="0" smtClean="0"/>
                  <a:t>,</a:t>
                </a:r>
                <a:r>
                  <a:rPr lang="zh-CN" altLang="en-US" dirty="0" smtClean="0"/>
                  <a:t>分别为</a:t>
                </a:r>
                <a:r>
                  <a:rPr lang="en-US" altLang="zh-CN" dirty="0" smtClean="0"/>
                  <a:t>8</a:t>
                </a:r>
                <a:r>
                  <a:rPr lang="zh-CN" altLang="en-US" dirty="0" smtClean="0"/>
                  <a:t>、</a:t>
                </a:r>
                <a:r>
                  <a:rPr lang="en-US" altLang="zh-CN" dirty="0" smtClean="0"/>
                  <a:t>16</a:t>
                </a:r>
                <a:r>
                  <a:rPr lang="zh-CN" altLang="en-US" dirty="0" smtClean="0"/>
                  <a:t>、</a:t>
                </a:r>
                <a:r>
                  <a:rPr lang="en-US" altLang="zh-CN" dirty="0" smtClean="0"/>
                  <a:t>32</a:t>
                </a:r>
                <a:r>
                  <a:rPr lang="zh-CN" altLang="en-US" dirty="0" smtClean="0"/>
                  <a:t>、</a:t>
                </a:r>
                <a:r>
                  <a:rPr lang="en-US" altLang="zh-CN" dirty="0" smtClean="0"/>
                  <a:t>64</a:t>
                </a:r>
                <a:r>
                  <a:rPr lang="zh-CN" altLang="en-US" dirty="0" smtClean="0"/>
                  <a:t>和</a:t>
                </a:r>
                <a:r>
                  <a:rPr lang="en-US" altLang="zh-CN" dirty="0" smtClean="0"/>
                  <a:t>128</a:t>
                </a:r>
                <a:r>
                  <a:rPr lang="zh-CN" altLang="en-US" dirty="0" smtClean="0"/>
                  <a:t>。</a:t>
                </a:r>
                <a:endParaRPr lang="en-US" altLang="zh-CN" dirty="0" smtClean="0"/>
              </a:p>
              <a:p>
                <a:r>
                  <a:rPr lang="zh-CN" altLang="en-US" dirty="0" smtClean="0"/>
                  <a:t>基于锚的检测方法针对不同层次的特征设置了不同尺度的锚框，而</a:t>
                </a:r>
                <a:r>
                  <a:rPr lang="en-US" altLang="zh-CN" dirty="0" smtClean="0"/>
                  <a:t>FCOS</a:t>
                </a:r>
                <a:r>
                  <a:rPr lang="zh-CN" altLang="en-US" dirty="0" smtClean="0"/>
                  <a:t>是直接限制了通过每一层特征能够回归的框的尺寸。对于</a:t>
                </a:r>
                <a:r>
                  <a:rPr lang="en-US" altLang="zh-CN" dirty="0" smtClean="0"/>
                  <a:t>FPN</a:t>
                </a:r>
                <a:r>
                  <a:rPr lang="zh-CN" altLang="en-US" dirty="0" smtClean="0"/>
                  <a:t>的各层特征图</a:t>
                </a:r>
                <a:r>
                  <a:rPr lang="en-US" altLang="zh-CN" dirty="0" smtClean="0"/>
                  <a:t>P</a:t>
                </a:r>
                <a:r>
                  <a:rPr lang="en-US" altLang="zh-CN" baseline="-25000" dirty="0" smtClean="0"/>
                  <a:t>3</a:t>
                </a:r>
                <a:r>
                  <a:rPr lang="en-US" altLang="zh-CN" dirty="0" smtClean="0"/>
                  <a:t>,P</a:t>
                </a:r>
                <a:r>
                  <a:rPr lang="en-US" altLang="zh-CN" baseline="-25000" dirty="0" smtClean="0"/>
                  <a:t>4</a:t>
                </a:r>
                <a:r>
                  <a:rPr lang="en-US" altLang="zh-CN" dirty="0" smtClean="0"/>
                  <a:t>,P</a:t>
                </a:r>
                <a:r>
                  <a:rPr lang="en-US" altLang="zh-CN" baseline="-25000" dirty="0" smtClean="0"/>
                  <a:t>5</a:t>
                </a:r>
                <a:r>
                  <a:rPr lang="en-US" altLang="zh-CN" dirty="0" smtClean="0"/>
                  <a:t>,P</a:t>
                </a:r>
                <a:r>
                  <a:rPr lang="en-US" altLang="zh-CN" baseline="-25000" dirty="0" smtClean="0"/>
                  <a:t>6</a:t>
                </a:r>
                <a:r>
                  <a:rPr lang="en-US" altLang="zh-CN" dirty="0" smtClean="0"/>
                  <a:t>,P</a:t>
                </a:r>
                <a:r>
                  <a:rPr lang="en-US" altLang="zh-CN" baseline="-25000" dirty="0" smtClean="0"/>
                  <a:t>7</a:t>
                </a:r>
                <a:r>
                  <a:rPr lang="zh-CN" altLang="en-US" dirty="0" smtClean="0"/>
                  <a:t>，分别设置</a:t>
                </a:r>
                <a:r>
                  <a:rPr lang="en-US" altLang="zh-CN" dirty="0" smtClean="0"/>
                  <a:t>m</a:t>
                </a:r>
                <a:r>
                  <a:rPr lang="en-US" altLang="zh-CN" baseline="-25000" dirty="0" smtClean="0"/>
                  <a:t>2</a:t>
                </a:r>
                <a:r>
                  <a:rPr lang="en-US" altLang="zh-CN" dirty="0" smtClean="0"/>
                  <a:t>,m</a:t>
                </a:r>
                <a:r>
                  <a:rPr lang="en-US" altLang="zh-CN" baseline="-25000" dirty="0" smtClean="0"/>
                  <a:t>3</a:t>
                </a:r>
                <a:r>
                  <a:rPr lang="en-US" altLang="zh-CN" dirty="0" smtClean="0"/>
                  <a:t>,m</a:t>
                </a:r>
                <a:r>
                  <a:rPr lang="en-US" altLang="zh-CN" baseline="-25000" dirty="0" smtClean="0"/>
                  <a:t>4</a:t>
                </a:r>
                <a:r>
                  <a:rPr lang="en-US" altLang="zh-CN" dirty="0" smtClean="0"/>
                  <a:t>,m</a:t>
                </a:r>
                <a:r>
                  <a:rPr lang="en-US" altLang="zh-CN" baseline="-25000" dirty="0" smtClean="0"/>
                  <a:t>5</a:t>
                </a:r>
                <a:r>
                  <a:rPr lang="en-US" altLang="zh-CN" dirty="0" smtClean="0"/>
                  <a:t>,m</a:t>
                </a:r>
                <a:r>
                  <a:rPr lang="en-US" altLang="zh-CN" baseline="-25000" dirty="0" smtClean="0"/>
                  <a:t>6</a:t>
                </a:r>
                <a:r>
                  <a:rPr lang="en-US" altLang="zh-CN" dirty="0" smtClean="0"/>
                  <a:t>,m</a:t>
                </a:r>
                <a:r>
                  <a:rPr lang="en-US" altLang="zh-CN" baseline="-25000" dirty="0" smtClean="0"/>
                  <a:t>7</a:t>
                </a:r>
                <a:r>
                  <a:rPr lang="zh-CN" altLang="en-US" baseline="0" dirty="0" smtClean="0"/>
                  <a:t>，比如分别取</a:t>
                </a:r>
                <a:r>
                  <a:rPr lang="en-US" altLang="zh-CN" baseline="0" dirty="0" smtClean="0"/>
                  <a:t>0</a:t>
                </a:r>
                <a:r>
                  <a:rPr lang="zh-CN" altLang="en-US" baseline="0" dirty="0" smtClean="0"/>
                  <a:t>、</a:t>
                </a:r>
                <a:r>
                  <a:rPr lang="en-US" altLang="zh-CN" baseline="0" dirty="0" smtClean="0"/>
                  <a:t>64</a:t>
                </a:r>
                <a:r>
                  <a:rPr lang="zh-CN" altLang="en-US" baseline="0" dirty="0" smtClean="0"/>
                  <a:t>、</a:t>
                </a:r>
                <a:r>
                  <a:rPr lang="en-US" altLang="zh-CN" baseline="0" dirty="0" smtClean="0"/>
                  <a:t>128</a:t>
                </a:r>
                <a:r>
                  <a:rPr lang="zh-CN" altLang="en-US" baseline="0" dirty="0" smtClean="0"/>
                  <a:t>、</a:t>
                </a:r>
                <a:r>
                  <a:rPr lang="en-US" altLang="zh-CN" baseline="0" dirty="0" smtClean="0"/>
                  <a:t>256</a:t>
                </a:r>
                <a:r>
                  <a:rPr lang="zh-CN" altLang="en-US" baseline="0" dirty="0" smtClean="0"/>
                  <a:t>、</a:t>
                </a:r>
                <a:r>
                  <a:rPr lang="en-US" altLang="zh-CN" baseline="0" dirty="0" smtClean="0"/>
                  <a:t>512</a:t>
                </a:r>
                <a:r>
                  <a:rPr lang="zh-CN" altLang="en-US" baseline="0" dirty="0" smtClean="0"/>
                  <a:t>、∞，对于第</a:t>
                </a:r>
                <a:r>
                  <a:rPr lang="en-US" altLang="zh-CN" baseline="0" dirty="0" err="1" smtClean="0"/>
                  <a:t>i</a:t>
                </a:r>
                <a:r>
                  <a:rPr lang="zh-CN" altLang="en-US" baseline="0" dirty="0" smtClean="0"/>
                  <a:t>层特征图，限制</a:t>
                </a:r>
                <a:r>
                  <a:rPr lang="en-US" altLang="zh-CN" b="0" i="0" baseline="0" smtClean="0">
                    <a:latin typeface="Cambria Math" panose="02040503050406030204" pitchFamily="18" charset="0"/>
                  </a:rPr>
                  <a:t>𝑚_(𝑖−1)</a:t>
                </a:r>
                <a:r>
                  <a:rPr lang="en-US" altLang="zh-CN" i="0" baseline="0" smtClean="0">
                    <a:latin typeface="Cambria Math" panose="02040503050406030204" pitchFamily="18" charset="0"/>
                    <a:ea typeface="Cambria Math" panose="02040503050406030204" pitchFamily="18" charset="0"/>
                  </a:rPr>
                  <a:t>≤</a:t>
                </a:r>
                <a:r>
                  <a:rPr lang="en-US" altLang="zh-CN" b="0" i="0" baseline="0" smtClean="0">
                    <a:latin typeface="Cambria Math" panose="02040503050406030204" pitchFamily="18" charset="0"/>
                    <a:ea typeface="Cambria Math" panose="02040503050406030204" pitchFamily="18" charset="0"/>
                  </a:rPr>
                  <a:t>𝑚𝑎𝑥(</a:t>
                </a:r>
                <a:r>
                  <a:rPr lang="en-US" altLang="zh-CN" b="0" i="0" smtClean="0">
                    <a:latin typeface="Cambria Math" panose="02040503050406030204" pitchFamily="18" charset="0"/>
                  </a:rPr>
                  <a:t>𝑙^∗,𝑟</a:t>
                </a:r>
                <a:r>
                  <a:rPr lang="en-US" altLang="zh-CN" b="0" i="0">
                    <a:latin typeface="Cambria Math" panose="02040503050406030204" pitchFamily="18" charset="0"/>
                  </a:rPr>
                  <a:t>^</a:t>
                </a:r>
                <a:r>
                  <a:rPr lang="en-US" altLang="zh-CN" i="0">
                    <a:latin typeface="Cambria Math" panose="02040503050406030204" pitchFamily="18" charset="0"/>
                  </a:rPr>
                  <a:t>∗,</a:t>
                </a:r>
                <a:r>
                  <a:rPr lang="en-US" altLang="zh-CN" b="0" i="0" smtClean="0">
                    <a:latin typeface="Cambria Math" panose="02040503050406030204" pitchFamily="18" charset="0"/>
                  </a:rPr>
                  <a:t>𝑡</a:t>
                </a:r>
                <a:r>
                  <a:rPr lang="en-US" altLang="zh-CN" b="0" i="0">
                    <a:latin typeface="Cambria Math" panose="02040503050406030204" pitchFamily="18" charset="0"/>
                  </a:rPr>
                  <a:t>^</a:t>
                </a:r>
                <a:r>
                  <a:rPr lang="en-US" altLang="zh-CN" i="0">
                    <a:latin typeface="Cambria Math" panose="02040503050406030204" pitchFamily="18" charset="0"/>
                  </a:rPr>
                  <a:t>∗,</a:t>
                </a:r>
                <a:r>
                  <a:rPr lang="en-US" altLang="zh-CN" b="0" i="0" smtClean="0">
                    <a:latin typeface="Cambria Math" panose="02040503050406030204" pitchFamily="18" charset="0"/>
                  </a:rPr>
                  <a:t>𝑏</a:t>
                </a:r>
                <a:r>
                  <a:rPr lang="en-US" altLang="zh-CN" b="0" i="0">
                    <a:latin typeface="Cambria Math" panose="02040503050406030204" pitchFamily="18" charset="0"/>
                  </a:rPr>
                  <a:t>^</a:t>
                </a:r>
                <a:r>
                  <a:rPr lang="en-US" altLang="zh-CN" i="0">
                    <a:latin typeface="Cambria Math" panose="02040503050406030204" pitchFamily="18" charset="0"/>
                  </a:rPr>
                  <a:t>∗ )</a:t>
                </a:r>
                <a:r>
                  <a:rPr lang="en-US" altLang="zh-CN" b="0" i="0" baseline="0" smtClean="0">
                    <a:latin typeface="Cambria Math" panose="02040503050406030204" pitchFamily="18" charset="0"/>
                    <a:ea typeface="Cambria Math" panose="02040503050406030204" pitchFamily="18" charset="0"/>
                  </a:rPr>
                  <a:t>≤𝑚_𝑖</a:t>
                </a:r>
                <a:r>
                  <a:rPr lang="zh-CN" altLang="en-US" baseline="0" dirty="0" smtClean="0"/>
                  <a:t>，如果需要回归的真值框不在限制条件内，则对应的特征图上的点视为负样本，</a:t>
                </a:r>
                <a:r>
                  <a:rPr lang="en-US" altLang="zh-CN" baseline="0" dirty="0" smtClean="0"/>
                  <a:t>FPN</a:t>
                </a:r>
                <a:r>
                  <a:rPr lang="zh-CN" altLang="en-US" baseline="0" dirty="0" smtClean="0"/>
                  <a:t>每一层只负责回归对应尺度的目标框，因此算法的性能得到了较好的保障。另外，因为交叠的目标通常归属于不同的特征图，所以这种方法在一定程度上解决了交叠目标的回归问题</a:t>
                </a:r>
                <a:r>
                  <a:rPr lang="en-US" altLang="zh-CN" baseline="0" dirty="0" smtClean="0"/>
                  <a:t>,</a:t>
                </a:r>
                <a:r>
                  <a:rPr lang="zh-CN" altLang="en-US" baseline="0" dirty="0" smtClean="0"/>
                  <a:t>但如果两个交叠目标的尺度非常接近</a:t>
                </a:r>
                <a:r>
                  <a:rPr lang="en-US" altLang="zh-CN" baseline="0" dirty="0" smtClean="0"/>
                  <a:t>,</a:t>
                </a:r>
                <a:r>
                  <a:rPr lang="zh-CN" altLang="en-US" baseline="0" dirty="0" smtClean="0"/>
                  <a:t>属于同一层特征图</a:t>
                </a:r>
                <a:r>
                  <a:rPr lang="en-US" altLang="zh-CN" baseline="0" dirty="0" smtClean="0"/>
                  <a:t>,</a:t>
                </a:r>
                <a:r>
                  <a:rPr lang="zh-CN" altLang="en-US" baseline="0" dirty="0" smtClean="0"/>
                  <a:t>算法的策略仍然是选择较小的框作为回归对象。</a:t>
                </a:r>
                <a:endParaRPr lang="en-US" altLang="zh-CN" baseline="-25000" dirty="0" smtClean="0"/>
              </a:p>
            </p:txBody>
          </p:sp>
        </mc:Fallback>
      </mc:AlternateContent>
      <p:sp>
        <p:nvSpPr>
          <p:cNvPr id="4" name="灯片编号占位符 3"/>
          <p:cNvSpPr>
            <a:spLocks noGrp="1"/>
          </p:cNvSpPr>
          <p:nvPr>
            <p:ph type="sldNum" sz="quarter" idx="10"/>
          </p:nvPr>
        </p:nvSpPr>
        <p:spPr/>
        <p:txBody>
          <a:bodyPr/>
          <a:lstStyle/>
          <a:p>
            <a:fld id="{4C464E13-4384-4E27-B198-CCD5CE71F818}" type="slidenum">
              <a:rPr lang="zh-CN" altLang="en-US" smtClean="0"/>
              <a:pPr/>
              <a:t>44</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9657731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我们在实际测试过程中会发现，即使使用了</a:t>
            </a:r>
            <a:r>
              <a:rPr lang="en-US" altLang="zh-CN" dirty="0" smtClean="0"/>
              <a:t>FPN</a:t>
            </a:r>
            <a:r>
              <a:rPr lang="zh-CN" altLang="en-US" dirty="0" smtClean="0"/>
              <a:t>方法，</a:t>
            </a:r>
            <a:r>
              <a:rPr lang="en-US" altLang="zh-CN" dirty="0" smtClean="0"/>
              <a:t>FCOS</a:t>
            </a:r>
            <a:r>
              <a:rPr lang="zh-CN" altLang="en-US" dirty="0" smtClean="0"/>
              <a:t>的回归结果和基于锚的方法仍有一些差距，通过分析可知，一个主要的原因是有很多预测框的中心明显偏离了特征图上训练样本在原图上的投影点，产生了很多的低质量的预测框，这些低质量的预测框相当于噪声，严重影响了后面</a:t>
            </a:r>
            <a:r>
              <a:rPr lang="en-US" altLang="zh-CN" dirty="0" smtClean="0"/>
              <a:t>NMS</a:t>
            </a:r>
            <a:r>
              <a:rPr lang="zh-CN" altLang="en-US" dirty="0" smtClean="0"/>
              <a:t>的结果。为了解决这个问题，</a:t>
            </a:r>
            <a:r>
              <a:rPr lang="en-US" altLang="zh-CN" dirty="0" smtClean="0"/>
              <a:t>FCOS</a:t>
            </a:r>
            <a:r>
              <a:rPr lang="zh-CN" altLang="en-US" dirty="0" smtClean="0"/>
              <a:t>引入了一个中心指标（</a:t>
            </a:r>
            <a:r>
              <a:rPr lang="en-US" altLang="zh-CN" dirty="0" smtClean="0"/>
              <a:t>center-ness</a:t>
            </a:r>
            <a:r>
              <a:rPr lang="zh-CN" altLang="en-US" dirty="0" smtClean="0"/>
              <a:t>），用于衡量预测框相对于投影点的对称性，计算方法如下。</a:t>
            </a:r>
            <a:endParaRPr lang="en-US" altLang="zh-CN" dirty="0" smtClean="0"/>
          </a:p>
          <a:p>
            <a:r>
              <a:rPr lang="zh-CN" altLang="en-US" dirty="0" smtClean="0"/>
              <a:t>中心指标取值为</a:t>
            </a:r>
            <a:r>
              <a:rPr lang="en-US" altLang="zh-CN" dirty="0" smtClean="0"/>
              <a:t>0~1</a:t>
            </a:r>
            <a:r>
              <a:rPr lang="zh-CN" altLang="en-US" dirty="0" smtClean="0"/>
              <a:t>，取值越大意味着投影点与预测框中心的重合度越高，在训练过程中，如上张幻灯片的图一样，分类分支再分成两个分支，一个用来回归当前像素类别的概率；另一个用来回归中心指标；在测试过程中，中心指标作为一个权重因子与分类分支类别的置信度相乘，即使某个类别的置信度很高，如果中心指标的值非常小，整体加权结果也会很小，就可以被阈值过滤掉，从而不参与</a:t>
            </a:r>
            <a:r>
              <a:rPr lang="en-US" altLang="zh-CN" dirty="0" smtClean="0"/>
              <a:t>NMS</a:t>
            </a:r>
            <a:r>
              <a:rPr lang="zh-CN" altLang="en-US" dirty="0" smtClean="0"/>
              <a:t>的计算，使得算法的性能和计算效率都有一个显著的提升。</a:t>
            </a:r>
            <a:endParaRPr lang="en-US" altLang="zh-CN" dirty="0" smtClean="0"/>
          </a:p>
        </p:txBody>
      </p:sp>
      <p:sp>
        <p:nvSpPr>
          <p:cNvPr id="4" name="灯片编号占位符 3"/>
          <p:cNvSpPr>
            <a:spLocks noGrp="1"/>
          </p:cNvSpPr>
          <p:nvPr>
            <p:ph type="sldNum" sz="quarter" idx="10"/>
          </p:nvPr>
        </p:nvSpPr>
        <p:spPr/>
        <p:txBody>
          <a:bodyPr/>
          <a:lstStyle/>
          <a:p>
            <a:fld id="{4C464E13-4384-4E27-B198-CCD5CE71F818}" type="slidenum">
              <a:rPr lang="zh-CN" altLang="en-US" smtClean="0"/>
              <a:pPr/>
              <a:t>45</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1072002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spTree>
      <p:nvGrpSpPr>
        <p:cNvPr id="1" name=""/>
        <p:cNvGrpSpPr/>
        <p:nvPr/>
      </p:nvGrpSpPr>
      <p:grpSpPr>
        <a:xfrm>
          <a:off x="0" y="0"/>
          <a:ext cx="0" cy="0"/>
          <a:chOff x="0" y="0"/>
          <a:chExt cx="0" cy="0"/>
        </a:xfrm>
      </p:grpSpPr>
      <p:sp>
        <p:nvSpPr>
          <p:cNvPr id="6" name="矩形: 圆角 5">
            <a:extLst>
              <a:ext uri="{FF2B5EF4-FFF2-40B4-BE49-F238E27FC236}">
                <a16:creationId xmlns:a16="http://schemas.microsoft.com/office/drawing/2014/main" xmlns="" id="{6EB3BC85-6B9D-4CAF-90B8-EC7DC38A8093}"/>
              </a:ext>
            </a:extLst>
          </p:cNvPr>
          <p:cNvSpPr/>
          <p:nvPr userDrawn="1"/>
        </p:nvSpPr>
        <p:spPr>
          <a:xfrm>
            <a:off x="0" y="0"/>
            <a:ext cx="12192000" cy="6858000"/>
          </a:xfrm>
          <a:prstGeom prst="roundRect">
            <a:avLst>
              <a:gd name="adj" fmla="val 0"/>
            </a:avLst>
          </a:prstGeom>
          <a:gradFill>
            <a:gsLst>
              <a:gs pos="0">
                <a:schemeClr val="accent2"/>
              </a:gs>
              <a:gs pos="100000">
                <a:schemeClr val="accent3"/>
              </a:gs>
            </a:gsLst>
            <a:lin ang="0" scaled="0"/>
          </a:gra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任意多边形: 形状 6">
            <a:extLst>
              <a:ext uri="{FF2B5EF4-FFF2-40B4-BE49-F238E27FC236}">
                <a16:creationId xmlns:a16="http://schemas.microsoft.com/office/drawing/2014/main" xmlns="" id="{ED0129E5-1051-4340-8E45-BD04A72D1987}"/>
              </a:ext>
            </a:extLst>
          </p:cNvPr>
          <p:cNvSpPr/>
          <p:nvPr userDrawn="1"/>
        </p:nvSpPr>
        <p:spPr>
          <a:xfrm>
            <a:off x="4019550" y="1346200"/>
            <a:ext cx="7832725" cy="5137150"/>
          </a:xfrm>
          <a:custGeom>
            <a:avLst/>
            <a:gdLst>
              <a:gd name="connsiteX0" fmla="*/ 9059374 w 9059374"/>
              <a:gd name="connsiteY0" fmla="*/ 0 h 5940588"/>
              <a:gd name="connsiteX1" fmla="*/ 9059374 w 9059374"/>
              <a:gd name="connsiteY1" fmla="*/ 5940588 h 5940588"/>
              <a:gd name="connsiteX2" fmla="*/ 0 w 9059374"/>
              <a:gd name="connsiteY2" fmla="*/ 5940588 h 5940588"/>
            </a:gdLst>
            <a:ahLst/>
            <a:cxnLst>
              <a:cxn ang="0">
                <a:pos x="connsiteX0" y="connsiteY0"/>
              </a:cxn>
              <a:cxn ang="0">
                <a:pos x="connsiteX1" y="connsiteY1"/>
              </a:cxn>
              <a:cxn ang="0">
                <a:pos x="connsiteX2" y="connsiteY2"/>
              </a:cxn>
            </a:cxnLst>
            <a:rect l="l" t="t" r="r" b="b"/>
            <a:pathLst>
              <a:path w="9059374" h="5940588">
                <a:moveTo>
                  <a:pt x="9059374" y="0"/>
                </a:moveTo>
                <a:lnTo>
                  <a:pt x="9059374" y="5940588"/>
                </a:lnTo>
                <a:lnTo>
                  <a:pt x="0" y="5940588"/>
                </a:lnTo>
                <a:close/>
              </a:path>
            </a:pathLst>
          </a:custGeom>
          <a:solidFill>
            <a:schemeClr val="bg1">
              <a:alpha val="27000"/>
            </a:schemeClr>
          </a:soli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8" name="Freeform 100">
            <a:extLst>
              <a:ext uri="{FF2B5EF4-FFF2-40B4-BE49-F238E27FC236}">
                <a16:creationId xmlns:a16="http://schemas.microsoft.com/office/drawing/2014/main" xmlns="" id="{A36D1798-A1CA-4D7E-B424-254BFF94FD7C}"/>
              </a:ext>
            </a:extLst>
          </p:cNvPr>
          <p:cNvSpPr>
            <a:spLocks noChangeArrowheads="1"/>
          </p:cNvSpPr>
          <p:nvPr/>
        </p:nvSpPr>
        <p:spPr bwMode="auto">
          <a:xfrm>
            <a:off x="6213475" y="1006475"/>
            <a:ext cx="2635250" cy="1997075"/>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1">
            <a:extLst>
              <a:ext uri="{FF2B5EF4-FFF2-40B4-BE49-F238E27FC236}">
                <a16:creationId xmlns:a16="http://schemas.microsoft.com/office/drawing/2014/main" xmlns="" id="{E8C3362A-0A53-4F77-816A-7587B884A5E9}"/>
              </a:ext>
            </a:extLst>
          </p:cNvPr>
          <p:cNvSpPr>
            <a:spLocks noChangeArrowheads="1"/>
          </p:cNvSpPr>
          <p:nvPr/>
        </p:nvSpPr>
        <p:spPr bwMode="auto">
          <a:xfrm>
            <a:off x="7951788" y="830263"/>
            <a:ext cx="1057275" cy="2173287"/>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2">
            <a:extLst>
              <a:ext uri="{FF2B5EF4-FFF2-40B4-BE49-F238E27FC236}">
                <a16:creationId xmlns:a16="http://schemas.microsoft.com/office/drawing/2014/main" xmlns="" id="{B38EB0B3-A79D-4899-B750-F812B5748320}"/>
              </a:ext>
            </a:extLst>
          </p:cNvPr>
          <p:cNvSpPr>
            <a:spLocks noChangeArrowheads="1"/>
          </p:cNvSpPr>
          <p:nvPr/>
        </p:nvSpPr>
        <p:spPr bwMode="auto">
          <a:xfrm>
            <a:off x="7799388" y="639763"/>
            <a:ext cx="1377950" cy="2363787"/>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3">
            <a:extLst>
              <a:ext uri="{FF2B5EF4-FFF2-40B4-BE49-F238E27FC236}">
                <a16:creationId xmlns:a16="http://schemas.microsoft.com/office/drawing/2014/main" xmlns="" id="{70050A56-5891-4390-A47C-74FAD121AB29}"/>
              </a:ext>
            </a:extLst>
          </p:cNvPr>
          <p:cNvSpPr>
            <a:spLocks noEditPoints="1" noChangeArrowheads="1"/>
          </p:cNvSpPr>
          <p:nvPr/>
        </p:nvSpPr>
        <p:spPr bwMode="auto">
          <a:xfrm>
            <a:off x="6129338" y="965200"/>
            <a:ext cx="100012"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4">
            <a:extLst>
              <a:ext uri="{FF2B5EF4-FFF2-40B4-BE49-F238E27FC236}">
                <a16:creationId xmlns:a16="http://schemas.microsoft.com/office/drawing/2014/main" xmlns="" id="{7682B7E0-695F-44B2-875E-095AF6F7046A}"/>
              </a:ext>
            </a:extLst>
          </p:cNvPr>
          <p:cNvSpPr>
            <a:spLocks noEditPoints="1" noChangeArrowheads="1"/>
          </p:cNvSpPr>
          <p:nvPr/>
        </p:nvSpPr>
        <p:spPr bwMode="auto">
          <a:xfrm>
            <a:off x="7867650" y="792163"/>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5">
            <a:extLst>
              <a:ext uri="{FF2B5EF4-FFF2-40B4-BE49-F238E27FC236}">
                <a16:creationId xmlns:a16="http://schemas.microsoft.com/office/drawing/2014/main" xmlns="" id="{CC4A0B06-5CDE-4CBC-B116-907CE683E1CC}"/>
              </a:ext>
            </a:extLst>
          </p:cNvPr>
          <p:cNvSpPr>
            <a:spLocks noEditPoints="1" noChangeArrowheads="1"/>
          </p:cNvSpPr>
          <p:nvPr/>
        </p:nvSpPr>
        <p:spPr bwMode="auto">
          <a:xfrm>
            <a:off x="7715250" y="598488"/>
            <a:ext cx="101600"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6">
            <a:extLst>
              <a:ext uri="{FF2B5EF4-FFF2-40B4-BE49-F238E27FC236}">
                <a16:creationId xmlns:a16="http://schemas.microsoft.com/office/drawing/2014/main" xmlns="" id="{6CB9C93B-43EF-4856-811F-BCF5E95C91D2}"/>
              </a:ext>
            </a:extLst>
          </p:cNvPr>
          <p:cNvSpPr>
            <a:spLocks noChangeArrowheads="1"/>
          </p:cNvSpPr>
          <p:nvPr/>
        </p:nvSpPr>
        <p:spPr bwMode="auto">
          <a:xfrm>
            <a:off x="7313613" y="493713"/>
            <a:ext cx="2027237" cy="2509837"/>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7">
            <a:extLst>
              <a:ext uri="{FF2B5EF4-FFF2-40B4-BE49-F238E27FC236}">
                <a16:creationId xmlns:a16="http://schemas.microsoft.com/office/drawing/2014/main" xmlns="" id="{BCE8B6EB-271B-4795-84B5-C74FC766DFF9}"/>
              </a:ext>
            </a:extLst>
          </p:cNvPr>
          <p:cNvSpPr>
            <a:spLocks noEditPoints="1" noChangeArrowheads="1"/>
          </p:cNvSpPr>
          <p:nvPr/>
        </p:nvSpPr>
        <p:spPr bwMode="auto">
          <a:xfrm>
            <a:off x="7229475" y="452438"/>
            <a:ext cx="100013"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8">
            <a:extLst>
              <a:ext uri="{FF2B5EF4-FFF2-40B4-BE49-F238E27FC236}">
                <a16:creationId xmlns:a16="http://schemas.microsoft.com/office/drawing/2014/main" xmlns="" id="{2C044E33-42F0-47B8-9413-FF36324D4CA0}"/>
              </a:ext>
            </a:extLst>
          </p:cNvPr>
          <p:cNvSpPr>
            <a:spLocks noChangeArrowheads="1"/>
          </p:cNvSpPr>
          <p:nvPr/>
        </p:nvSpPr>
        <p:spPr bwMode="auto">
          <a:xfrm>
            <a:off x="9493250" y="493713"/>
            <a:ext cx="1433513" cy="2509837"/>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09">
            <a:extLst>
              <a:ext uri="{FF2B5EF4-FFF2-40B4-BE49-F238E27FC236}">
                <a16:creationId xmlns:a16="http://schemas.microsoft.com/office/drawing/2014/main" xmlns="" id="{B0B75A94-9E0D-4A3A-831A-ED028A99DB23}"/>
              </a:ext>
            </a:extLst>
          </p:cNvPr>
          <p:cNvSpPr>
            <a:spLocks noEditPoints="1" noChangeArrowheads="1"/>
          </p:cNvSpPr>
          <p:nvPr/>
        </p:nvSpPr>
        <p:spPr bwMode="auto">
          <a:xfrm>
            <a:off x="10904538"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0">
            <a:extLst>
              <a:ext uri="{FF2B5EF4-FFF2-40B4-BE49-F238E27FC236}">
                <a16:creationId xmlns:a16="http://schemas.microsoft.com/office/drawing/2014/main" xmlns="" id="{60903120-90EA-4BD9-989C-DEE80E5D9170}"/>
              </a:ext>
            </a:extLst>
          </p:cNvPr>
          <p:cNvSpPr>
            <a:spLocks noEditPoints="1" noChangeArrowheads="1"/>
          </p:cNvSpPr>
          <p:nvPr/>
        </p:nvSpPr>
        <p:spPr bwMode="auto">
          <a:xfrm>
            <a:off x="11102975"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1">
            <a:extLst>
              <a:ext uri="{FF2B5EF4-FFF2-40B4-BE49-F238E27FC236}">
                <a16:creationId xmlns:a16="http://schemas.microsoft.com/office/drawing/2014/main" xmlns="" id="{5FEBB2C5-1CB2-4CB4-951C-C88673222AA8}"/>
              </a:ext>
            </a:extLst>
          </p:cNvPr>
          <p:cNvSpPr>
            <a:spLocks noEditPoints="1" noChangeArrowheads="1"/>
          </p:cNvSpPr>
          <p:nvPr/>
        </p:nvSpPr>
        <p:spPr bwMode="auto">
          <a:xfrm>
            <a:off x="11307763" y="452438"/>
            <a:ext cx="100012"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2">
            <a:extLst>
              <a:ext uri="{FF2B5EF4-FFF2-40B4-BE49-F238E27FC236}">
                <a16:creationId xmlns:a16="http://schemas.microsoft.com/office/drawing/2014/main" xmlns="" id="{61BBE27F-C126-43A0-ADAC-32F04A7BA344}"/>
              </a:ext>
            </a:extLst>
          </p:cNvPr>
          <p:cNvSpPr>
            <a:spLocks noEditPoints="1" noChangeArrowheads="1"/>
          </p:cNvSpPr>
          <p:nvPr/>
        </p:nvSpPr>
        <p:spPr bwMode="auto">
          <a:xfrm>
            <a:off x="115030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3">
            <a:extLst>
              <a:ext uri="{FF2B5EF4-FFF2-40B4-BE49-F238E27FC236}">
                <a16:creationId xmlns:a16="http://schemas.microsoft.com/office/drawing/2014/main" xmlns="" id="{EAA58AC9-539D-4C09-9AA7-13B04599C160}"/>
              </a:ext>
            </a:extLst>
          </p:cNvPr>
          <p:cNvSpPr>
            <a:spLocks noEditPoints="1" noChangeArrowheads="1"/>
          </p:cNvSpPr>
          <p:nvPr/>
        </p:nvSpPr>
        <p:spPr bwMode="auto">
          <a:xfrm>
            <a:off x="117062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4">
            <a:extLst>
              <a:ext uri="{FF2B5EF4-FFF2-40B4-BE49-F238E27FC236}">
                <a16:creationId xmlns:a16="http://schemas.microsoft.com/office/drawing/2014/main" xmlns="" id="{ACC85A4E-AC3E-44B6-8F1C-395F77E6AE44}"/>
              </a:ext>
            </a:extLst>
          </p:cNvPr>
          <p:cNvSpPr>
            <a:spLocks noEditPoints="1" noChangeArrowheads="1"/>
          </p:cNvSpPr>
          <p:nvPr/>
        </p:nvSpPr>
        <p:spPr bwMode="auto">
          <a:xfrm>
            <a:off x="11904663" y="452438"/>
            <a:ext cx="100012"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7">
            <a:extLst>
              <a:ext uri="{FF2B5EF4-FFF2-40B4-BE49-F238E27FC236}">
                <a16:creationId xmlns:a16="http://schemas.microsoft.com/office/drawing/2014/main" xmlns="" id="{52FC56B6-5653-4FCF-B0E0-5EB6CF7D4CF7}"/>
              </a:ext>
            </a:extLst>
          </p:cNvPr>
          <p:cNvSpPr>
            <a:spLocks noEditPoints="1" noChangeArrowheads="1"/>
          </p:cNvSpPr>
          <p:nvPr/>
        </p:nvSpPr>
        <p:spPr bwMode="auto">
          <a:xfrm>
            <a:off x="4643438" y="2600325"/>
            <a:ext cx="6894512" cy="4008438"/>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8">
            <a:extLst>
              <a:ext uri="{FF2B5EF4-FFF2-40B4-BE49-F238E27FC236}">
                <a16:creationId xmlns:a16="http://schemas.microsoft.com/office/drawing/2014/main" xmlns="" id="{6E93BA8B-AE90-475B-9BCA-7C9DE918B6FE}"/>
              </a:ext>
            </a:extLst>
          </p:cNvPr>
          <p:cNvSpPr>
            <a:spLocks noChangeArrowheads="1"/>
          </p:cNvSpPr>
          <p:nvPr/>
        </p:nvSpPr>
        <p:spPr bwMode="auto">
          <a:xfrm>
            <a:off x="4502150" y="2122488"/>
            <a:ext cx="7172325" cy="4067175"/>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19">
            <a:extLst>
              <a:ext uri="{FF2B5EF4-FFF2-40B4-BE49-F238E27FC236}">
                <a16:creationId xmlns:a16="http://schemas.microsoft.com/office/drawing/2014/main" xmlns="" id="{8272447B-0412-408B-B30E-A3EAA6303F2B}"/>
              </a:ext>
            </a:extLst>
          </p:cNvPr>
          <p:cNvSpPr>
            <a:spLocks noChangeArrowheads="1"/>
          </p:cNvSpPr>
          <p:nvPr/>
        </p:nvSpPr>
        <p:spPr bwMode="auto">
          <a:xfrm>
            <a:off x="4502150" y="3313113"/>
            <a:ext cx="7172325" cy="2860675"/>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0">
            <a:extLst>
              <a:ext uri="{FF2B5EF4-FFF2-40B4-BE49-F238E27FC236}">
                <a16:creationId xmlns:a16="http://schemas.microsoft.com/office/drawing/2014/main" xmlns="" id="{10152BF8-06E3-4D91-BDFF-8B0CB78A2085}"/>
              </a:ext>
            </a:extLst>
          </p:cNvPr>
          <p:cNvSpPr>
            <a:spLocks noChangeArrowheads="1"/>
          </p:cNvSpPr>
          <p:nvPr/>
        </p:nvSpPr>
        <p:spPr bwMode="auto">
          <a:xfrm>
            <a:off x="4502150" y="3375025"/>
            <a:ext cx="7172325" cy="275272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1">
            <a:extLst>
              <a:ext uri="{FF2B5EF4-FFF2-40B4-BE49-F238E27FC236}">
                <a16:creationId xmlns:a16="http://schemas.microsoft.com/office/drawing/2014/main" xmlns="" id="{D116E5C1-D001-4F24-8EAB-DF98F7901648}"/>
              </a:ext>
            </a:extLst>
          </p:cNvPr>
          <p:cNvSpPr>
            <a:spLocks noChangeArrowheads="1"/>
          </p:cNvSpPr>
          <p:nvPr/>
        </p:nvSpPr>
        <p:spPr bwMode="auto">
          <a:xfrm>
            <a:off x="4479925" y="1851025"/>
            <a:ext cx="7221538" cy="4170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2">
            <a:extLst>
              <a:ext uri="{FF2B5EF4-FFF2-40B4-BE49-F238E27FC236}">
                <a16:creationId xmlns:a16="http://schemas.microsoft.com/office/drawing/2014/main" xmlns="" id="{617B4ED8-8EB4-400C-80E8-07B6665657E1}"/>
              </a:ext>
            </a:extLst>
          </p:cNvPr>
          <p:cNvSpPr>
            <a:spLocks noChangeArrowheads="1"/>
          </p:cNvSpPr>
          <p:nvPr/>
        </p:nvSpPr>
        <p:spPr bwMode="auto">
          <a:xfrm>
            <a:off x="6246813" y="5681663"/>
            <a:ext cx="50800" cy="7302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3">
            <a:extLst>
              <a:ext uri="{FF2B5EF4-FFF2-40B4-BE49-F238E27FC236}">
                <a16:creationId xmlns:a16="http://schemas.microsoft.com/office/drawing/2014/main" xmlns="" id="{D73F8684-E5A7-49EE-906B-5C88229AC643}"/>
              </a:ext>
            </a:extLst>
          </p:cNvPr>
          <p:cNvSpPr>
            <a:spLocks noChangeArrowheads="1"/>
          </p:cNvSpPr>
          <p:nvPr/>
        </p:nvSpPr>
        <p:spPr bwMode="auto">
          <a:xfrm>
            <a:off x="6350000" y="5738813"/>
            <a:ext cx="47625" cy="79375"/>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4">
            <a:extLst>
              <a:ext uri="{FF2B5EF4-FFF2-40B4-BE49-F238E27FC236}">
                <a16:creationId xmlns:a16="http://schemas.microsoft.com/office/drawing/2014/main" xmlns="" id="{41621DB1-3C1F-4A87-AAF6-176EE9EE27FB}"/>
              </a:ext>
            </a:extLst>
          </p:cNvPr>
          <p:cNvSpPr>
            <a:spLocks noChangeArrowheads="1"/>
          </p:cNvSpPr>
          <p:nvPr/>
        </p:nvSpPr>
        <p:spPr bwMode="auto">
          <a:xfrm>
            <a:off x="6450013" y="5800725"/>
            <a:ext cx="50800" cy="74613"/>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5">
            <a:extLst>
              <a:ext uri="{FF2B5EF4-FFF2-40B4-BE49-F238E27FC236}">
                <a16:creationId xmlns:a16="http://schemas.microsoft.com/office/drawing/2014/main" xmlns="" id="{C874FC1E-7F15-4D7D-83C8-F6095448BD51}"/>
              </a:ext>
            </a:extLst>
          </p:cNvPr>
          <p:cNvSpPr>
            <a:spLocks noChangeArrowheads="1"/>
          </p:cNvSpPr>
          <p:nvPr/>
        </p:nvSpPr>
        <p:spPr bwMode="auto">
          <a:xfrm>
            <a:off x="4846638" y="4875213"/>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6">
            <a:extLst>
              <a:ext uri="{FF2B5EF4-FFF2-40B4-BE49-F238E27FC236}">
                <a16:creationId xmlns:a16="http://schemas.microsoft.com/office/drawing/2014/main" xmlns="" id="{CFC1559D-E549-405C-86C0-6E9B675C1044}"/>
              </a:ext>
            </a:extLst>
          </p:cNvPr>
          <p:cNvSpPr>
            <a:spLocks noChangeArrowheads="1"/>
          </p:cNvSpPr>
          <p:nvPr/>
        </p:nvSpPr>
        <p:spPr bwMode="auto">
          <a:xfrm>
            <a:off x="4948238" y="4932363"/>
            <a:ext cx="57150" cy="77787"/>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7">
            <a:extLst>
              <a:ext uri="{FF2B5EF4-FFF2-40B4-BE49-F238E27FC236}">
                <a16:creationId xmlns:a16="http://schemas.microsoft.com/office/drawing/2014/main" xmlns="" id="{167C5277-283F-4981-BC8A-44C75FAABDAD}"/>
              </a:ext>
            </a:extLst>
          </p:cNvPr>
          <p:cNvSpPr>
            <a:spLocks noChangeArrowheads="1"/>
          </p:cNvSpPr>
          <p:nvPr/>
        </p:nvSpPr>
        <p:spPr bwMode="auto">
          <a:xfrm>
            <a:off x="5051425" y="4994275"/>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8">
            <a:extLst>
              <a:ext uri="{FF2B5EF4-FFF2-40B4-BE49-F238E27FC236}">
                <a16:creationId xmlns:a16="http://schemas.microsoft.com/office/drawing/2014/main" xmlns="" id="{DB125307-8DC3-45CD-B9BA-5921413A8942}"/>
              </a:ext>
            </a:extLst>
          </p:cNvPr>
          <p:cNvSpPr>
            <a:spLocks noEditPoints="1" noChangeArrowheads="1"/>
          </p:cNvSpPr>
          <p:nvPr/>
        </p:nvSpPr>
        <p:spPr bwMode="auto">
          <a:xfrm>
            <a:off x="8047038" y="1835150"/>
            <a:ext cx="1135062" cy="59690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29">
            <a:extLst>
              <a:ext uri="{FF2B5EF4-FFF2-40B4-BE49-F238E27FC236}">
                <a16:creationId xmlns:a16="http://schemas.microsoft.com/office/drawing/2014/main" xmlns="" id="{7F7D55B9-EFA6-434A-8578-006352C1ADBA}"/>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0">
            <a:extLst>
              <a:ext uri="{FF2B5EF4-FFF2-40B4-BE49-F238E27FC236}">
                <a16:creationId xmlns:a16="http://schemas.microsoft.com/office/drawing/2014/main" xmlns="" id="{CC862553-9916-4454-9791-F4B520A76C99}"/>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1">
            <a:extLst>
              <a:ext uri="{FF2B5EF4-FFF2-40B4-BE49-F238E27FC236}">
                <a16:creationId xmlns:a16="http://schemas.microsoft.com/office/drawing/2014/main" xmlns="" id="{C855EEB7-A415-4F88-90CF-287B35822CD1}"/>
              </a:ext>
            </a:extLst>
          </p:cNvPr>
          <p:cNvSpPr>
            <a:spLocks noChangeArrowheads="1"/>
          </p:cNvSpPr>
          <p:nvPr/>
        </p:nvSpPr>
        <p:spPr bwMode="auto">
          <a:xfrm>
            <a:off x="8985250" y="1866900"/>
            <a:ext cx="23813" cy="36513"/>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2">
            <a:extLst>
              <a:ext uri="{FF2B5EF4-FFF2-40B4-BE49-F238E27FC236}">
                <a16:creationId xmlns:a16="http://schemas.microsoft.com/office/drawing/2014/main" xmlns="" id="{052F20EB-602F-4FD8-ACC7-6631A771901F}"/>
              </a:ext>
            </a:extLst>
          </p:cNvPr>
          <p:cNvSpPr>
            <a:spLocks noChangeArrowheads="1"/>
          </p:cNvSpPr>
          <p:nvPr/>
        </p:nvSpPr>
        <p:spPr bwMode="auto">
          <a:xfrm>
            <a:off x="9155113" y="1835150"/>
            <a:ext cx="2222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3">
            <a:extLst>
              <a:ext uri="{FF2B5EF4-FFF2-40B4-BE49-F238E27FC236}">
                <a16:creationId xmlns:a16="http://schemas.microsoft.com/office/drawing/2014/main" xmlns="" id="{A53F6B73-E537-4FED-9A29-38A6E605C2B4}"/>
              </a:ext>
            </a:extLst>
          </p:cNvPr>
          <p:cNvSpPr>
            <a:spLocks noChangeArrowheads="1"/>
          </p:cNvSpPr>
          <p:nvPr/>
        </p:nvSpPr>
        <p:spPr bwMode="auto">
          <a:xfrm>
            <a:off x="4497388" y="2924175"/>
            <a:ext cx="2686050" cy="16192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Freeform 134">
            <a:extLst>
              <a:ext uri="{FF2B5EF4-FFF2-40B4-BE49-F238E27FC236}">
                <a16:creationId xmlns:a16="http://schemas.microsoft.com/office/drawing/2014/main" xmlns="" id="{12AF3E8E-CD03-41B7-94AE-F750110E9FA9}"/>
              </a:ext>
            </a:extLst>
          </p:cNvPr>
          <p:cNvSpPr>
            <a:spLocks noChangeArrowheads="1"/>
          </p:cNvSpPr>
          <p:nvPr/>
        </p:nvSpPr>
        <p:spPr bwMode="auto">
          <a:xfrm>
            <a:off x="4506913" y="4486275"/>
            <a:ext cx="2530475" cy="14827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3" name="组合 47">
            <a:extLst>
              <a:ext uri="{FF2B5EF4-FFF2-40B4-BE49-F238E27FC236}">
                <a16:creationId xmlns:a16="http://schemas.microsoft.com/office/drawing/2014/main" xmlns="" id="{8BD377F7-3023-4EBA-A9C2-C59B12DF8729}"/>
              </a:ext>
            </a:extLst>
          </p:cNvPr>
          <p:cNvGrpSpPr>
            <a:grpSpLocks/>
          </p:cNvGrpSpPr>
          <p:nvPr/>
        </p:nvGrpSpPr>
        <p:grpSpPr bwMode="auto">
          <a:xfrm>
            <a:off x="4427538" y="1868488"/>
            <a:ext cx="7250112" cy="4165600"/>
            <a:chOff x="7564437" y="4244495"/>
            <a:chExt cx="4236358" cy="2433801"/>
          </a:xfrm>
        </p:grpSpPr>
        <p:sp>
          <p:nvSpPr>
            <p:cNvPr id="44" name="Freeform 238">
              <a:extLst>
                <a:ext uri="{FF2B5EF4-FFF2-40B4-BE49-F238E27FC236}">
                  <a16:creationId xmlns:a16="http://schemas.microsoft.com/office/drawing/2014/main" xmlns="" id="{06CD3851-C2DC-4690-B440-748F9799AEC1}"/>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973BE56-DEA8-41C4-8C36-37104015B34C}"/>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3548C1B7-A01A-4E0F-AF45-EDD9848EA76A}"/>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238">
              <a:extLst>
                <a:ext uri="{FF2B5EF4-FFF2-40B4-BE49-F238E27FC236}">
                  <a16:creationId xmlns:a16="http://schemas.microsoft.com/office/drawing/2014/main" xmlns="" id="{7F02276A-59AF-4F48-A5AB-24EA731DDD8F}"/>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8" name="Freeform 135">
            <a:extLst>
              <a:ext uri="{FF2B5EF4-FFF2-40B4-BE49-F238E27FC236}">
                <a16:creationId xmlns:a16="http://schemas.microsoft.com/office/drawing/2014/main" xmlns="" id="{6EEB7527-0533-428E-A4E0-60BCFBAF5F82}"/>
              </a:ext>
            </a:extLst>
          </p:cNvPr>
          <p:cNvSpPr>
            <a:spLocks noEditPoints="1" noChangeArrowheads="1"/>
          </p:cNvSpPr>
          <p:nvPr/>
        </p:nvSpPr>
        <p:spPr bwMode="auto">
          <a:xfrm>
            <a:off x="7848600" y="4233863"/>
            <a:ext cx="1522413" cy="885825"/>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7">
            <a:extLst>
              <a:ext uri="{FF2B5EF4-FFF2-40B4-BE49-F238E27FC236}">
                <a16:creationId xmlns:a16="http://schemas.microsoft.com/office/drawing/2014/main" xmlns="" id="{75AA00D5-DAE8-4A1C-B2C9-B215959AC4C9}"/>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6">
            <a:extLst>
              <a:ext uri="{FF2B5EF4-FFF2-40B4-BE49-F238E27FC236}">
                <a16:creationId xmlns:a16="http://schemas.microsoft.com/office/drawing/2014/main" xmlns="" id="{3433F4F9-5741-4C20-8334-162108AEF4AE}"/>
              </a:ext>
            </a:extLst>
          </p:cNvPr>
          <p:cNvSpPr>
            <a:spLocks noEditPoints="1" noChangeArrowheads="1"/>
          </p:cNvSpPr>
          <p:nvPr/>
        </p:nvSpPr>
        <p:spPr bwMode="auto">
          <a:xfrm>
            <a:off x="9302750" y="3255963"/>
            <a:ext cx="1765300" cy="87947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8">
            <a:extLst>
              <a:ext uri="{FF2B5EF4-FFF2-40B4-BE49-F238E27FC236}">
                <a16:creationId xmlns:a16="http://schemas.microsoft.com/office/drawing/2014/main" xmlns="" id="{845BA712-40A3-4972-9FF9-3CC40014772B}"/>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39">
            <a:extLst>
              <a:ext uri="{FF2B5EF4-FFF2-40B4-BE49-F238E27FC236}">
                <a16:creationId xmlns:a16="http://schemas.microsoft.com/office/drawing/2014/main" xmlns="" id="{77A62DCF-8554-49AB-89CF-3940606F5240}"/>
              </a:ext>
            </a:extLst>
          </p:cNvPr>
          <p:cNvSpPr>
            <a:spLocks noEditPoints="1" noChangeArrowheads="1"/>
          </p:cNvSpPr>
          <p:nvPr/>
        </p:nvSpPr>
        <p:spPr bwMode="auto">
          <a:xfrm>
            <a:off x="7194550" y="2668588"/>
            <a:ext cx="1704975" cy="938212"/>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0">
            <a:extLst>
              <a:ext uri="{FF2B5EF4-FFF2-40B4-BE49-F238E27FC236}">
                <a16:creationId xmlns:a16="http://schemas.microsoft.com/office/drawing/2014/main" xmlns="" id="{0534DEAB-9CFA-4BE0-95EB-9E0AD9CFD970}"/>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1">
            <a:extLst>
              <a:ext uri="{FF2B5EF4-FFF2-40B4-BE49-F238E27FC236}">
                <a16:creationId xmlns:a16="http://schemas.microsoft.com/office/drawing/2014/main" xmlns="" id="{B01204B3-A082-461D-8FA8-5DDFE7384B8B}"/>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2">
            <a:extLst>
              <a:ext uri="{FF2B5EF4-FFF2-40B4-BE49-F238E27FC236}">
                <a16:creationId xmlns:a16="http://schemas.microsoft.com/office/drawing/2014/main" xmlns="" id="{B25CF6BF-6664-484E-9E77-6EE02638DCBC}"/>
              </a:ext>
            </a:extLst>
          </p:cNvPr>
          <p:cNvSpPr>
            <a:spLocks noChangeArrowheads="1"/>
          </p:cNvSpPr>
          <p:nvPr/>
        </p:nvSpPr>
        <p:spPr bwMode="auto">
          <a:xfrm>
            <a:off x="5664200" y="5113338"/>
            <a:ext cx="209550" cy="247650"/>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3">
            <a:extLst>
              <a:ext uri="{FF2B5EF4-FFF2-40B4-BE49-F238E27FC236}">
                <a16:creationId xmlns:a16="http://schemas.microsoft.com/office/drawing/2014/main" xmlns="" id="{7B3D527A-1910-41F3-B9D2-41C0BA69E68F}"/>
              </a:ext>
            </a:extLst>
          </p:cNvPr>
          <p:cNvSpPr>
            <a:spLocks noChangeArrowheads="1"/>
          </p:cNvSpPr>
          <p:nvPr/>
        </p:nvSpPr>
        <p:spPr bwMode="auto">
          <a:xfrm>
            <a:off x="5559425" y="5276850"/>
            <a:ext cx="234950" cy="195263"/>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4">
            <a:extLst>
              <a:ext uri="{FF2B5EF4-FFF2-40B4-BE49-F238E27FC236}">
                <a16:creationId xmlns:a16="http://schemas.microsoft.com/office/drawing/2014/main" xmlns="" id="{CD26042C-F6F5-4EA2-B2EE-404C435C734C}"/>
              </a:ext>
            </a:extLst>
          </p:cNvPr>
          <p:cNvSpPr>
            <a:spLocks noChangeArrowheads="1"/>
          </p:cNvSpPr>
          <p:nvPr/>
        </p:nvSpPr>
        <p:spPr bwMode="auto">
          <a:xfrm>
            <a:off x="5800725" y="4875213"/>
            <a:ext cx="2055813" cy="48577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5">
            <a:extLst>
              <a:ext uri="{FF2B5EF4-FFF2-40B4-BE49-F238E27FC236}">
                <a16:creationId xmlns:a16="http://schemas.microsoft.com/office/drawing/2014/main" xmlns="" id="{F3FD4682-F997-400E-9064-1C3B2887DF48}"/>
              </a:ext>
            </a:extLst>
          </p:cNvPr>
          <p:cNvSpPr>
            <a:spLocks noChangeArrowheads="1"/>
          </p:cNvSpPr>
          <p:nvPr/>
        </p:nvSpPr>
        <p:spPr bwMode="auto">
          <a:xfrm>
            <a:off x="6262688" y="3335338"/>
            <a:ext cx="1254125" cy="1558925"/>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46">
            <a:extLst>
              <a:ext uri="{FF2B5EF4-FFF2-40B4-BE49-F238E27FC236}">
                <a16:creationId xmlns:a16="http://schemas.microsoft.com/office/drawing/2014/main" xmlns="" id="{9C8DB4E6-D2BC-4673-97FB-D0A2C1A356A8}"/>
              </a:ext>
            </a:extLst>
          </p:cNvPr>
          <p:cNvSpPr>
            <a:spLocks noChangeArrowheads="1"/>
          </p:cNvSpPr>
          <p:nvPr/>
        </p:nvSpPr>
        <p:spPr bwMode="auto">
          <a:xfrm>
            <a:off x="7439025" y="3711575"/>
            <a:ext cx="2120900" cy="5080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0">
            <a:extLst>
              <a:ext uri="{FF2B5EF4-FFF2-40B4-BE49-F238E27FC236}">
                <a16:creationId xmlns:a16="http://schemas.microsoft.com/office/drawing/2014/main" xmlns="" id="{F12D6E17-390A-4C6C-9340-43843C2353CD}"/>
              </a:ext>
            </a:extLst>
          </p:cNvPr>
          <p:cNvSpPr>
            <a:spLocks noEditPoints="1" noChangeArrowheads="1"/>
          </p:cNvSpPr>
          <p:nvPr/>
        </p:nvSpPr>
        <p:spPr bwMode="auto">
          <a:xfrm>
            <a:off x="8899525" y="24431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1">
            <a:extLst>
              <a:ext uri="{FF2B5EF4-FFF2-40B4-BE49-F238E27FC236}">
                <a16:creationId xmlns:a16="http://schemas.microsoft.com/office/drawing/2014/main" xmlns="" id="{418C5718-98B1-4EFE-A7DF-157381242E7F}"/>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2">
            <a:extLst>
              <a:ext uri="{FF2B5EF4-FFF2-40B4-BE49-F238E27FC236}">
                <a16:creationId xmlns:a16="http://schemas.microsoft.com/office/drawing/2014/main" xmlns="" id="{AC626DAA-F85B-4990-9917-6847D1A0F80A}"/>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3">
            <a:extLst>
              <a:ext uri="{FF2B5EF4-FFF2-40B4-BE49-F238E27FC236}">
                <a16:creationId xmlns:a16="http://schemas.microsoft.com/office/drawing/2014/main" xmlns="" id="{2682A01C-F242-4718-8DC7-9C72C8BCFCBF}"/>
              </a:ext>
            </a:extLst>
          </p:cNvPr>
          <p:cNvSpPr>
            <a:spLocks noEditPoints="1" noChangeArrowheads="1"/>
          </p:cNvSpPr>
          <p:nvPr/>
        </p:nvSpPr>
        <p:spPr bwMode="auto">
          <a:xfrm>
            <a:off x="9634538" y="3825875"/>
            <a:ext cx="600075"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7">
            <a:extLst>
              <a:ext uri="{FF2B5EF4-FFF2-40B4-BE49-F238E27FC236}">
                <a16:creationId xmlns:a16="http://schemas.microsoft.com/office/drawing/2014/main" xmlns="" id="{618CA6E3-B4CF-42B9-866E-5F696FAD9E2D}"/>
              </a:ext>
            </a:extLst>
          </p:cNvPr>
          <p:cNvSpPr>
            <a:spLocks noChangeArrowheads="1"/>
          </p:cNvSpPr>
          <p:nvPr/>
        </p:nvSpPr>
        <p:spPr bwMode="auto">
          <a:xfrm>
            <a:off x="8890000" y="2449513"/>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8">
            <a:extLst>
              <a:ext uri="{FF2B5EF4-FFF2-40B4-BE49-F238E27FC236}">
                <a16:creationId xmlns:a16="http://schemas.microsoft.com/office/drawing/2014/main" xmlns="" id="{0B5FC428-3B11-4AF6-B9D2-CA8C2B2CEA6F}"/>
              </a:ext>
            </a:extLst>
          </p:cNvPr>
          <p:cNvSpPr>
            <a:spLocks noChangeArrowheads="1"/>
          </p:cNvSpPr>
          <p:nvPr/>
        </p:nvSpPr>
        <p:spPr bwMode="auto">
          <a:xfrm>
            <a:off x="8890000" y="2438400"/>
            <a:ext cx="20638" cy="11113"/>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59">
            <a:extLst>
              <a:ext uri="{FF2B5EF4-FFF2-40B4-BE49-F238E27FC236}">
                <a16:creationId xmlns:a16="http://schemas.microsoft.com/office/drawing/2014/main" xmlns="" id="{9EC2BF36-45A7-4B80-B4E2-606D8723965C}"/>
              </a:ext>
            </a:extLst>
          </p:cNvPr>
          <p:cNvSpPr>
            <a:spLocks noChangeArrowheads="1"/>
          </p:cNvSpPr>
          <p:nvPr/>
        </p:nvSpPr>
        <p:spPr bwMode="auto">
          <a:xfrm>
            <a:off x="8890000" y="2432050"/>
            <a:ext cx="1365250" cy="1625600"/>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0">
            <a:extLst>
              <a:ext uri="{FF2B5EF4-FFF2-40B4-BE49-F238E27FC236}">
                <a16:creationId xmlns:a16="http://schemas.microsoft.com/office/drawing/2014/main" xmlns="" id="{E793F106-D7D2-40A2-A50A-484A7939F8B4}"/>
              </a:ext>
            </a:extLst>
          </p:cNvPr>
          <p:cNvSpPr>
            <a:spLocks noEditPoints="1" noChangeArrowheads="1"/>
          </p:cNvSpPr>
          <p:nvPr/>
        </p:nvSpPr>
        <p:spPr bwMode="auto">
          <a:xfrm>
            <a:off x="8890000" y="2443163"/>
            <a:ext cx="9525" cy="6350"/>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64">
            <a:extLst>
              <a:ext uri="{FF2B5EF4-FFF2-40B4-BE49-F238E27FC236}">
                <a16:creationId xmlns:a16="http://schemas.microsoft.com/office/drawing/2014/main" xmlns="" id="{64C94442-35D6-420C-B3DC-F2BB3AE6379D}"/>
              </a:ext>
            </a:extLst>
          </p:cNvPr>
          <p:cNvSpPr>
            <a:spLocks noEditPoints="1" noChangeArrowheads="1"/>
          </p:cNvSpPr>
          <p:nvPr/>
        </p:nvSpPr>
        <p:spPr bwMode="auto">
          <a:xfrm>
            <a:off x="8899525" y="2443163"/>
            <a:ext cx="1335088"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2">
            <a:extLst>
              <a:ext uri="{FF2B5EF4-FFF2-40B4-BE49-F238E27FC236}">
                <a16:creationId xmlns:a16="http://schemas.microsoft.com/office/drawing/2014/main" xmlns="" id="{E802F860-4A5A-48D9-A547-F75E71D1C860}"/>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3">
            <a:extLst>
              <a:ext uri="{FF2B5EF4-FFF2-40B4-BE49-F238E27FC236}">
                <a16:creationId xmlns:a16="http://schemas.microsoft.com/office/drawing/2014/main" xmlns="" id="{831A016A-8C82-46B9-A1D1-3B05F2CBA795}"/>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74">
            <a:extLst>
              <a:ext uri="{FF2B5EF4-FFF2-40B4-BE49-F238E27FC236}">
                <a16:creationId xmlns:a16="http://schemas.microsoft.com/office/drawing/2014/main" xmlns="" id="{0E094A99-E528-43F0-8738-A47BDFDFAD43}"/>
              </a:ext>
            </a:extLst>
          </p:cNvPr>
          <p:cNvSpPr>
            <a:spLocks noEditPoints="1" noChangeArrowheads="1"/>
          </p:cNvSpPr>
          <p:nvPr/>
        </p:nvSpPr>
        <p:spPr bwMode="auto">
          <a:xfrm>
            <a:off x="7935913" y="4806950"/>
            <a:ext cx="596900"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5">
            <a:extLst>
              <a:ext uri="{FF2B5EF4-FFF2-40B4-BE49-F238E27FC236}">
                <a16:creationId xmlns:a16="http://schemas.microsoft.com/office/drawing/2014/main" xmlns="" id="{CCB3F5DE-AD4F-411B-BF35-266F308CFFFE}"/>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6">
            <a:extLst>
              <a:ext uri="{FF2B5EF4-FFF2-40B4-BE49-F238E27FC236}">
                <a16:creationId xmlns:a16="http://schemas.microsoft.com/office/drawing/2014/main" xmlns="" id="{3A8F191C-09FD-4E0E-A62F-4EBCB503B9F1}"/>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7">
            <a:extLst>
              <a:ext uri="{FF2B5EF4-FFF2-40B4-BE49-F238E27FC236}">
                <a16:creationId xmlns:a16="http://schemas.microsoft.com/office/drawing/2014/main" xmlns="" id="{CAFC6174-1FA1-4318-9B1B-18C0FE810777}"/>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98">
            <a:extLst>
              <a:ext uri="{FF2B5EF4-FFF2-40B4-BE49-F238E27FC236}">
                <a16:creationId xmlns:a16="http://schemas.microsoft.com/office/drawing/2014/main" xmlns="" id="{7C8E94EC-1E34-4E52-8E05-B17941CC99EC}"/>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8">
            <a:extLst>
              <a:ext uri="{FF2B5EF4-FFF2-40B4-BE49-F238E27FC236}">
                <a16:creationId xmlns:a16="http://schemas.microsoft.com/office/drawing/2014/main" xmlns="" id="{AAF42AD3-39F6-4BE6-AD0D-10AB81D343F5}"/>
              </a:ext>
            </a:extLst>
          </p:cNvPr>
          <p:cNvSpPr>
            <a:spLocks noChangeArrowheads="1"/>
          </p:cNvSpPr>
          <p:nvPr/>
        </p:nvSpPr>
        <p:spPr bwMode="auto">
          <a:xfrm>
            <a:off x="7188200" y="3381375"/>
            <a:ext cx="1428750" cy="16811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69">
            <a:extLst>
              <a:ext uri="{FF2B5EF4-FFF2-40B4-BE49-F238E27FC236}">
                <a16:creationId xmlns:a16="http://schemas.microsoft.com/office/drawing/2014/main" xmlns="" id="{59A04BA1-DBC9-480E-A3BA-93142F344F97}"/>
              </a:ext>
            </a:extLst>
          </p:cNvPr>
          <p:cNvSpPr>
            <a:spLocks noEditPoints="1" noChangeArrowheads="1"/>
          </p:cNvSpPr>
          <p:nvPr/>
        </p:nvSpPr>
        <p:spPr bwMode="auto">
          <a:xfrm>
            <a:off x="7188200" y="3381375"/>
            <a:ext cx="1428750" cy="16811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0">
            <a:extLst>
              <a:ext uri="{FF2B5EF4-FFF2-40B4-BE49-F238E27FC236}">
                <a16:creationId xmlns:a16="http://schemas.microsoft.com/office/drawing/2014/main" xmlns="" id="{602E2500-A185-42BA-B25E-8932588DFD5E}"/>
              </a:ext>
            </a:extLst>
          </p:cNvPr>
          <p:cNvSpPr>
            <a:spLocks noChangeArrowheads="1"/>
          </p:cNvSpPr>
          <p:nvPr/>
        </p:nvSpPr>
        <p:spPr bwMode="auto">
          <a:xfrm>
            <a:off x="7172325" y="3413125"/>
            <a:ext cx="1360488" cy="16652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1">
            <a:extLst>
              <a:ext uri="{FF2B5EF4-FFF2-40B4-BE49-F238E27FC236}">
                <a16:creationId xmlns:a16="http://schemas.microsoft.com/office/drawing/2014/main" xmlns="" id="{B3B420DA-64DD-4C76-BFDC-88512AE2D943}"/>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5">
            <a:extLst>
              <a:ext uri="{FF2B5EF4-FFF2-40B4-BE49-F238E27FC236}">
                <a16:creationId xmlns:a16="http://schemas.microsoft.com/office/drawing/2014/main" xmlns="" id="{4DEB5CCE-0CD3-4F31-B043-FDA2248D5CFB}"/>
              </a:ext>
            </a:extLst>
          </p:cNvPr>
          <p:cNvSpPr>
            <a:spLocks noChangeArrowheads="1"/>
          </p:cNvSpPr>
          <p:nvPr userDrawn="1"/>
        </p:nvSpPr>
        <p:spPr bwMode="auto">
          <a:xfrm>
            <a:off x="7483475" y="4003675"/>
            <a:ext cx="773113" cy="519113"/>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8">
            <a:extLst>
              <a:ext uri="{FF2B5EF4-FFF2-40B4-BE49-F238E27FC236}">
                <a16:creationId xmlns:a16="http://schemas.microsoft.com/office/drawing/2014/main" xmlns="" id="{5B87708A-020B-4731-BC6A-BB6033608F8B}"/>
              </a:ext>
            </a:extLst>
          </p:cNvPr>
          <p:cNvSpPr>
            <a:spLocks noChangeArrowheads="1"/>
          </p:cNvSpPr>
          <p:nvPr/>
        </p:nvSpPr>
        <p:spPr bwMode="auto">
          <a:xfrm>
            <a:off x="7188200" y="3427413"/>
            <a:ext cx="6350"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79">
            <a:extLst>
              <a:ext uri="{FF2B5EF4-FFF2-40B4-BE49-F238E27FC236}">
                <a16:creationId xmlns:a16="http://schemas.microsoft.com/office/drawing/2014/main" xmlns="" id="{48D19136-8EA5-409F-AE09-7D0E9D58045B}"/>
              </a:ext>
            </a:extLst>
          </p:cNvPr>
          <p:cNvSpPr>
            <a:spLocks noChangeArrowheads="1"/>
          </p:cNvSpPr>
          <p:nvPr/>
        </p:nvSpPr>
        <p:spPr bwMode="auto">
          <a:xfrm>
            <a:off x="7188200" y="3419475"/>
            <a:ext cx="25400"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0">
            <a:extLst>
              <a:ext uri="{FF2B5EF4-FFF2-40B4-BE49-F238E27FC236}">
                <a16:creationId xmlns:a16="http://schemas.microsoft.com/office/drawing/2014/main" xmlns="" id="{E1D44B10-61F0-4A22-8F61-0EFF8E0F789A}"/>
              </a:ext>
            </a:extLst>
          </p:cNvPr>
          <p:cNvSpPr>
            <a:spLocks noChangeArrowheads="1"/>
          </p:cNvSpPr>
          <p:nvPr/>
        </p:nvSpPr>
        <p:spPr bwMode="auto">
          <a:xfrm>
            <a:off x="7188200" y="3413125"/>
            <a:ext cx="1373188" cy="1627188"/>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Freeform 181">
            <a:extLst>
              <a:ext uri="{FF2B5EF4-FFF2-40B4-BE49-F238E27FC236}">
                <a16:creationId xmlns:a16="http://schemas.microsoft.com/office/drawing/2014/main" xmlns="" id="{01785DE4-88DB-4E70-8D62-43640BD11C3C}"/>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Rectangle 182">
            <a:extLst>
              <a:ext uri="{FF2B5EF4-FFF2-40B4-BE49-F238E27FC236}">
                <a16:creationId xmlns:a16="http://schemas.microsoft.com/office/drawing/2014/main" xmlns="" id="{FA03B2C4-2F47-40F5-96A1-71DC1C17E4AE}"/>
              </a:ext>
            </a:extLst>
          </p:cNvPr>
          <p:cNvSpPr>
            <a:spLocks noChangeArrowheads="1"/>
          </p:cNvSpPr>
          <p:nvPr/>
        </p:nvSpPr>
        <p:spPr bwMode="auto">
          <a:xfrm>
            <a:off x="7188200" y="3432175"/>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 name="Freeform 183">
            <a:extLst>
              <a:ext uri="{FF2B5EF4-FFF2-40B4-BE49-F238E27FC236}">
                <a16:creationId xmlns:a16="http://schemas.microsoft.com/office/drawing/2014/main" xmlns="" id="{39F208BB-6E54-42BD-B384-CA8245BA5782}"/>
              </a:ext>
            </a:extLst>
          </p:cNvPr>
          <p:cNvSpPr>
            <a:spLocks noChangeArrowheads="1"/>
          </p:cNvSpPr>
          <p:nvPr/>
        </p:nvSpPr>
        <p:spPr bwMode="auto">
          <a:xfrm>
            <a:off x="7188200" y="34321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6">
            <a:extLst>
              <a:ext uri="{FF2B5EF4-FFF2-40B4-BE49-F238E27FC236}">
                <a16:creationId xmlns:a16="http://schemas.microsoft.com/office/drawing/2014/main" xmlns="" id="{4321967D-D20B-49D8-B111-E234949F838C}"/>
              </a:ext>
            </a:extLst>
          </p:cNvPr>
          <p:cNvSpPr>
            <a:spLocks noChangeArrowheads="1"/>
          </p:cNvSpPr>
          <p:nvPr/>
        </p:nvSpPr>
        <p:spPr bwMode="auto">
          <a:xfrm>
            <a:off x="7199313" y="3419475"/>
            <a:ext cx="1355725" cy="163671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187">
            <a:extLst>
              <a:ext uri="{FF2B5EF4-FFF2-40B4-BE49-F238E27FC236}">
                <a16:creationId xmlns:a16="http://schemas.microsoft.com/office/drawing/2014/main" xmlns="" id="{6A2424E1-F377-4DB2-8EE0-6A6B37318F7D}"/>
              </a:ext>
            </a:extLst>
          </p:cNvPr>
          <p:cNvSpPr>
            <a:spLocks noEditPoints="1" noChangeArrowheads="1"/>
          </p:cNvSpPr>
          <p:nvPr/>
        </p:nvSpPr>
        <p:spPr bwMode="auto">
          <a:xfrm>
            <a:off x="7199313" y="3427413"/>
            <a:ext cx="1333500" cy="16287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09">
            <a:extLst>
              <a:ext uri="{FF2B5EF4-FFF2-40B4-BE49-F238E27FC236}">
                <a16:creationId xmlns:a16="http://schemas.microsoft.com/office/drawing/2014/main" xmlns="" id="{366F7B67-1656-4B2D-9AFB-747409FA6C5C}"/>
              </a:ext>
            </a:extLst>
          </p:cNvPr>
          <p:cNvSpPr>
            <a:spLocks noEditPoints="1" noChangeArrowheads="1"/>
          </p:cNvSpPr>
          <p:nvPr/>
        </p:nvSpPr>
        <p:spPr bwMode="auto">
          <a:xfrm>
            <a:off x="8183563" y="3443288"/>
            <a:ext cx="20637"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7">
            <a:extLst>
              <a:ext uri="{FF2B5EF4-FFF2-40B4-BE49-F238E27FC236}">
                <a16:creationId xmlns:a16="http://schemas.microsoft.com/office/drawing/2014/main" xmlns="" id="{F92F4392-8EEF-43B4-BAE7-A1304B214D1E}"/>
              </a:ext>
            </a:extLst>
          </p:cNvPr>
          <p:cNvSpPr>
            <a:spLocks noChangeArrowheads="1"/>
          </p:cNvSpPr>
          <p:nvPr/>
        </p:nvSpPr>
        <p:spPr bwMode="auto">
          <a:xfrm>
            <a:off x="7229475" y="2422525"/>
            <a:ext cx="168275" cy="246063"/>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8">
            <a:extLst>
              <a:ext uri="{FF2B5EF4-FFF2-40B4-BE49-F238E27FC236}">
                <a16:creationId xmlns:a16="http://schemas.microsoft.com/office/drawing/2014/main" xmlns="" id="{DCBB7236-9675-498B-8C20-A27177002E1A}"/>
              </a:ext>
            </a:extLst>
          </p:cNvPr>
          <p:cNvSpPr>
            <a:spLocks noChangeArrowheads="1"/>
          </p:cNvSpPr>
          <p:nvPr/>
        </p:nvSpPr>
        <p:spPr bwMode="auto">
          <a:xfrm>
            <a:off x="7439025" y="2538413"/>
            <a:ext cx="168275" cy="25558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 name="Freeform 219">
            <a:extLst>
              <a:ext uri="{FF2B5EF4-FFF2-40B4-BE49-F238E27FC236}">
                <a16:creationId xmlns:a16="http://schemas.microsoft.com/office/drawing/2014/main" xmlns="" id="{2FC711F2-E2BD-4A16-A399-0FEB2EE5F771}"/>
              </a:ext>
            </a:extLst>
          </p:cNvPr>
          <p:cNvSpPr>
            <a:spLocks noChangeArrowheads="1"/>
          </p:cNvSpPr>
          <p:nvPr/>
        </p:nvSpPr>
        <p:spPr bwMode="auto">
          <a:xfrm>
            <a:off x="7642225" y="2657475"/>
            <a:ext cx="168275" cy="25558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8">
            <a:extLst>
              <a:ext uri="{FF2B5EF4-FFF2-40B4-BE49-F238E27FC236}">
                <a16:creationId xmlns:a16="http://schemas.microsoft.com/office/drawing/2014/main" xmlns="" id="{00B33BA2-1E71-4715-B21C-1BE16BB3DD42}"/>
              </a:ext>
            </a:extLst>
          </p:cNvPr>
          <p:cNvSpPr>
            <a:spLocks noChangeArrowheads="1"/>
          </p:cNvSpPr>
          <p:nvPr/>
        </p:nvSpPr>
        <p:spPr bwMode="auto">
          <a:xfrm>
            <a:off x="8907463" y="2409825"/>
            <a:ext cx="1428750" cy="168275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0F6C8C1-1875-4877-A5A3-C4D64B673CD0}"/>
              </a:ext>
            </a:extLst>
          </p:cNvPr>
          <p:cNvSpPr>
            <a:spLocks noEditPoints="1" noChangeArrowheads="1"/>
          </p:cNvSpPr>
          <p:nvPr/>
        </p:nvSpPr>
        <p:spPr bwMode="auto">
          <a:xfrm>
            <a:off x="8907463" y="2409825"/>
            <a:ext cx="1428750" cy="168275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E2FBB50E-628E-4EE8-9E0F-DF970466A677}"/>
              </a:ext>
            </a:extLst>
          </p:cNvPr>
          <p:cNvSpPr>
            <a:spLocks noChangeArrowheads="1"/>
          </p:cNvSpPr>
          <p:nvPr/>
        </p:nvSpPr>
        <p:spPr bwMode="auto">
          <a:xfrm>
            <a:off x="8891588" y="2443163"/>
            <a:ext cx="1360487"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50B2F5EC-0905-4B44-A58A-8656F9F0CE8D}"/>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DC9D943D-6708-4514-AA71-4B4A6BC8D98D}"/>
              </a:ext>
            </a:extLst>
          </p:cNvPr>
          <p:cNvSpPr>
            <a:spLocks noChangeArrowheads="1"/>
          </p:cNvSpPr>
          <p:nvPr/>
        </p:nvSpPr>
        <p:spPr bwMode="auto">
          <a:xfrm>
            <a:off x="8872538" y="2470150"/>
            <a:ext cx="1346200" cy="16287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D4C9EE44-49E9-4ABC-AA3B-2F8F7DBE6888}"/>
              </a:ext>
            </a:extLst>
          </p:cNvPr>
          <p:cNvSpPr>
            <a:spLocks noChangeArrowheads="1"/>
          </p:cNvSpPr>
          <p:nvPr/>
        </p:nvSpPr>
        <p:spPr bwMode="auto">
          <a:xfrm>
            <a:off x="8907463" y="2455863"/>
            <a:ext cx="6350" cy="6350"/>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5868E1DB-7A84-47D5-8338-FA8B7B4483C3}"/>
              </a:ext>
            </a:extLst>
          </p:cNvPr>
          <p:cNvSpPr>
            <a:spLocks noChangeArrowheads="1"/>
          </p:cNvSpPr>
          <p:nvPr/>
        </p:nvSpPr>
        <p:spPr bwMode="auto">
          <a:xfrm>
            <a:off x="8907463" y="2447925"/>
            <a:ext cx="25400" cy="1428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11D9D801-49EA-4D68-9F00-D02CEBA3C92A}"/>
              </a:ext>
            </a:extLst>
          </p:cNvPr>
          <p:cNvSpPr>
            <a:spLocks noChangeArrowheads="1"/>
          </p:cNvSpPr>
          <p:nvPr/>
        </p:nvSpPr>
        <p:spPr bwMode="auto">
          <a:xfrm>
            <a:off x="8907463" y="2443163"/>
            <a:ext cx="1373187"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F689A14E-EAB7-43C3-8C68-18F45E106E8B}"/>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71EAAFBF-E3F1-462A-9AFE-49CF2FD57F66}"/>
              </a:ext>
            </a:extLst>
          </p:cNvPr>
          <p:cNvSpPr>
            <a:spLocks noChangeArrowheads="1"/>
          </p:cNvSpPr>
          <p:nvPr/>
        </p:nvSpPr>
        <p:spPr bwMode="auto">
          <a:xfrm>
            <a:off x="8907463" y="246221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54B5E515-73A1-467C-B5F4-A58ED24A17AC}"/>
              </a:ext>
            </a:extLst>
          </p:cNvPr>
          <p:cNvSpPr>
            <a:spLocks noChangeArrowheads="1"/>
          </p:cNvSpPr>
          <p:nvPr/>
        </p:nvSpPr>
        <p:spPr bwMode="auto">
          <a:xfrm>
            <a:off x="8907463" y="246221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0C11D7DE-9C83-4F59-A076-A112149256B6}"/>
              </a:ext>
            </a:extLst>
          </p:cNvPr>
          <p:cNvSpPr>
            <a:spLocks noChangeArrowheads="1"/>
          </p:cNvSpPr>
          <p:nvPr/>
        </p:nvSpPr>
        <p:spPr bwMode="auto">
          <a:xfrm>
            <a:off x="8918575" y="2447925"/>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1A94479D-D678-45DF-B39C-FE3FF191D561}"/>
              </a:ext>
            </a:extLst>
          </p:cNvPr>
          <p:cNvSpPr>
            <a:spLocks noEditPoints="1" noChangeArrowheads="1"/>
          </p:cNvSpPr>
          <p:nvPr/>
        </p:nvSpPr>
        <p:spPr bwMode="auto">
          <a:xfrm>
            <a:off x="8918575" y="2455863"/>
            <a:ext cx="1333500"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E1F1E5F-A6D9-4294-A56F-07981EE41531}"/>
              </a:ext>
            </a:extLst>
          </p:cNvPr>
          <p:cNvSpPr>
            <a:spLocks noEditPoints="1" noChangeArrowheads="1"/>
          </p:cNvSpPr>
          <p:nvPr/>
        </p:nvSpPr>
        <p:spPr bwMode="auto">
          <a:xfrm>
            <a:off x="9902825" y="2473325"/>
            <a:ext cx="20638"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8">
            <a:extLst>
              <a:ext uri="{FF2B5EF4-FFF2-40B4-BE49-F238E27FC236}">
                <a16:creationId xmlns:a16="http://schemas.microsoft.com/office/drawing/2014/main" xmlns="" id="{6EF2154A-BA7C-47B7-91D6-3549B7921817}"/>
              </a:ext>
            </a:extLst>
          </p:cNvPr>
          <p:cNvSpPr>
            <a:spLocks noChangeArrowheads="1"/>
          </p:cNvSpPr>
          <p:nvPr userDrawn="1"/>
        </p:nvSpPr>
        <p:spPr bwMode="auto">
          <a:xfrm>
            <a:off x="6870700" y="1808163"/>
            <a:ext cx="1428750" cy="1681162"/>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9481D083-19D0-4F08-BB3D-656D1A7C6C68}"/>
              </a:ext>
            </a:extLst>
          </p:cNvPr>
          <p:cNvSpPr>
            <a:spLocks noEditPoints="1" noChangeArrowheads="1"/>
          </p:cNvSpPr>
          <p:nvPr userDrawn="1"/>
        </p:nvSpPr>
        <p:spPr bwMode="auto">
          <a:xfrm>
            <a:off x="6870700" y="1808163"/>
            <a:ext cx="1428750" cy="1681162"/>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178C77AC-C797-4C26-AD7B-4176A8934787}"/>
              </a:ext>
            </a:extLst>
          </p:cNvPr>
          <p:cNvSpPr>
            <a:spLocks noChangeArrowheads="1"/>
          </p:cNvSpPr>
          <p:nvPr userDrawn="1"/>
        </p:nvSpPr>
        <p:spPr bwMode="auto">
          <a:xfrm>
            <a:off x="6854825" y="1839913"/>
            <a:ext cx="1360488"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18BEA8C5-4D25-426E-BEF2-7A3AD4387597}"/>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AF47098A-F1EC-4304-81A7-9683D5E9EE4A}"/>
              </a:ext>
            </a:extLst>
          </p:cNvPr>
          <p:cNvSpPr>
            <a:spLocks noChangeArrowheads="1"/>
          </p:cNvSpPr>
          <p:nvPr userDrawn="1"/>
        </p:nvSpPr>
        <p:spPr bwMode="auto">
          <a:xfrm>
            <a:off x="6835775" y="1866900"/>
            <a:ext cx="1344613" cy="1630363"/>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78D26F82-92FE-4ABD-BB3A-A458D21D7DFA}"/>
              </a:ext>
            </a:extLst>
          </p:cNvPr>
          <p:cNvSpPr>
            <a:spLocks noChangeArrowheads="1"/>
          </p:cNvSpPr>
          <p:nvPr userDrawn="1"/>
        </p:nvSpPr>
        <p:spPr bwMode="auto">
          <a:xfrm>
            <a:off x="6870700" y="1854200"/>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0CDF19E4-E8A2-4FFD-8666-E0673286912F}"/>
              </a:ext>
            </a:extLst>
          </p:cNvPr>
          <p:cNvSpPr>
            <a:spLocks noChangeArrowheads="1"/>
          </p:cNvSpPr>
          <p:nvPr userDrawn="1"/>
        </p:nvSpPr>
        <p:spPr bwMode="auto">
          <a:xfrm>
            <a:off x="6870700" y="1846263"/>
            <a:ext cx="23813"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8B144759-F334-44D8-918F-430B5D5150E4}"/>
              </a:ext>
            </a:extLst>
          </p:cNvPr>
          <p:cNvSpPr>
            <a:spLocks noChangeArrowheads="1"/>
          </p:cNvSpPr>
          <p:nvPr userDrawn="1"/>
        </p:nvSpPr>
        <p:spPr bwMode="auto">
          <a:xfrm>
            <a:off x="6870700" y="1839913"/>
            <a:ext cx="1371600"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7AC02806-9C17-440D-A832-74EBC30EEAD4}"/>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BFDB50B1-8CB6-44EE-AA02-30B670BC92B5}"/>
              </a:ext>
            </a:extLst>
          </p:cNvPr>
          <p:cNvSpPr>
            <a:spLocks noChangeArrowheads="1"/>
          </p:cNvSpPr>
          <p:nvPr userDrawn="1"/>
        </p:nvSpPr>
        <p:spPr bwMode="auto">
          <a:xfrm>
            <a:off x="6870700" y="185896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D29DF795-704A-4E4D-9B5A-8C1D49EBCF2D}"/>
              </a:ext>
            </a:extLst>
          </p:cNvPr>
          <p:cNvSpPr>
            <a:spLocks noChangeArrowheads="1"/>
          </p:cNvSpPr>
          <p:nvPr userDrawn="1"/>
        </p:nvSpPr>
        <p:spPr bwMode="auto">
          <a:xfrm>
            <a:off x="6870700" y="1858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0DE687B4-0317-43F9-8EFA-A0B6E879C62B}"/>
              </a:ext>
            </a:extLst>
          </p:cNvPr>
          <p:cNvSpPr>
            <a:spLocks noChangeArrowheads="1"/>
          </p:cNvSpPr>
          <p:nvPr userDrawn="1"/>
        </p:nvSpPr>
        <p:spPr bwMode="auto">
          <a:xfrm>
            <a:off x="6881813" y="1846263"/>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5F5F98F7-4166-4784-8701-CA0CAD24072E}"/>
              </a:ext>
            </a:extLst>
          </p:cNvPr>
          <p:cNvSpPr>
            <a:spLocks noEditPoints="1" noChangeArrowheads="1"/>
          </p:cNvSpPr>
          <p:nvPr userDrawn="1"/>
        </p:nvSpPr>
        <p:spPr bwMode="auto">
          <a:xfrm>
            <a:off x="6881813" y="1854200"/>
            <a:ext cx="1333500" cy="1630363"/>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DE0DA466-8E8A-4A57-8332-086BFF420BCE}"/>
              </a:ext>
            </a:extLst>
          </p:cNvPr>
          <p:cNvSpPr>
            <a:spLocks noEditPoints="1" noChangeArrowheads="1"/>
          </p:cNvSpPr>
          <p:nvPr userDrawn="1"/>
        </p:nvSpPr>
        <p:spPr bwMode="auto">
          <a:xfrm>
            <a:off x="7864475" y="1870075"/>
            <a:ext cx="22225"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242">
            <a:extLst>
              <a:ext uri="{FF2B5EF4-FFF2-40B4-BE49-F238E27FC236}">
                <a16:creationId xmlns:a16="http://schemas.microsoft.com/office/drawing/2014/main" xmlns="" id="{8B5969BC-A18D-4003-AC44-D1AA248FC692}"/>
              </a:ext>
            </a:extLst>
          </p:cNvPr>
          <p:cNvSpPr/>
          <p:nvPr userDrawn="1"/>
        </p:nvSpPr>
        <p:spPr bwMode="auto">
          <a:xfrm>
            <a:off x="7321550" y="2419350"/>
            <a:ext cx="457200" cy="5667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2" name="increasing-stocks-graphic_38888">
            <a:extLst>
              <a:ext uri="{FF2B5EF4-FFF2-40B4-BE49-F238E27FC236}">
                <a16:creationId xmlns:a16="http://schemas.microsoft.com/office/drawing/2014/main" xmlns="" id="{FD506BBB-35F7-41A0-B565-0FDD636776B2}"/>
              </a:ext>
            </a:extLst>
          </p:cNvPr>
          <p:cNvSpPr>
            <a:spLocks noChangeAspect="1" noChangeArrowheads="1"/>
          </p:cNvSpPr>
          <p:nvPr userDrawn="1"/>
        </p:nvSpPr>
        <p:spPr bwMode="auto">
          <a:xfrm>
            <a:off x="9353550" y="3028950"/>
            <a:ext cx="474663" cy="468313"/>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3" name="组合 122">
            <a:extLst>
              <a:ext uri="{FF2B5EF4-FFF2-40B4-BE49-F238E27FC236}">
                <a16:creationId xmlns:a16="http://schemas.microsoft.com/office/drawing/2014/main" xmlns="" id="{46D1E2DE-F6C8-4749-8CD9-9D05F4D51EBF}"/>
              </a:ext>
            </a:extLst>
          </p:cNvPr>
          <p:cNvGrpSpPr/>
          <p:nvPr/>
        </p:nvGrpSpPr>
        <p:grpSpPr>
          <a:xfrm>
            <a:off x="1437600" y="1866560"/>
            <a:ext cx="9392844" cy="3521271"/>
            <a:chOff x="1728788" y="7356475"/>
            <a:chExt cx="10683874" cy="4005263"/>
          </a:xfrm>
          <a:solidFill>
            <a:schemeClr val="bg1">
              <a:alpha val="20000"/>
            </a:schemeClr>
          </a:solidFill>
        </p:grpSpPr>
        <p:sp>
          <p:nvSpPr>
            <p:cNvPr id="124" name="Freeform 192">
              <a:extLst>
                <a:ext uri="{FF2B5EF4-FFF2-40B4-BE49-F238E27FC236}">
                  <a16:creationId xmlns:a16="http://schemas.microsoft.com/office/drawing/2014/main" xmlns="" id="{29BA1BCC-03EA-4C69-9F50-61A520D9CC4D}"/>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5" name="Freeform 193">
              <a:extLst>
                <a:ext uri="{FF2B5EF4-FFF2-40B4-BE49-F238E27FC236}">
                  <a16:creationId xmlns:a16="http://schemas.microsoft.com/office/drawing/2014/main" xmlns="" id="{3C8A66E2-A1E3-41E9-8E26-8AD199BD8FA8}"/>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6" name="Freeform 194">
              <a:extLst>
                <a:ext uri="{FF2B5EF4-FFF2-40B4-BE49-F238E27FC236}">
                  <a16:creationId xmlns:a16="http://schemas.microsoft.com/office/drawing/2014/main" xmlns="" id="{336FC769-45B8-4091-B057-ECF741D6DB5F}"/>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7" name="Freeform 195">
              <a:extLst>
                <a:ext uri="{FF2B5EF4-FFF2-40B4-BE49-F238E27FC236}">
                  <a16:creationId xmlns:a16="http://schemas.microsoft.com/office/drawing/2014/main" xmlns="" id="{10A6BFBE-1E83-4D62-8333-43A7418FF9F4}"/>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8" name="Freeform 196">
              <a:extLst>
                <a:ext uri="{FF2B5EF4-FFF2-40B4-BE49-F238E27FC236}">
                  <a16:creationId xmlns:a16="http://schemas.microsoft.com/office/drawing/2014/main" xmlns="" id="{E2A929D4-59B8-412F-8C71-7BF89C9E8790}"/>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29" name="Freeform 197">
              <a:extLst>
                <a:ext uri="{FF2B5EF4-FFF2-40B4-BE49-F238E27FC236}">
                  <a16:creationId xmlns:a16="http://schemas.microsoft.com/office/drawing/2014/main" xmlns="" id="{05BB23E0-60F9-4FFC-8F81-4014E9BA0BF8}"/>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0" name="Freeform 198">
              <a:extLst>
                <a:ext uri="{FF2B5EF4-FFF2-40B4-BE49-F238E27FC236}">
                  <a16:creationId xmlns:a16="http://schemas.microsoft.com/office/drawing/2014/main" xmlns="" id="{35734EC5-751D-4F47-8703-6C68413A311B}"/>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1" name="Freeform 199">
              <a:extLst>
                <a:ext uri="{FF2B5EF4-FFF2-40B4-BE49-F238E27FC236}">
                  <a16:creationId xmlns:a16="http://schemas.microsoft.com/office/drawing/2014/main" xmlns="" id="{23F0D5E8-59DE-414D-A38F-DBE27BA60468}"/>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2" name="Freeform 200">
              <a:extLst>
                <a:ext uri="{FF2B5EF4-FFF2-40B4-BE49-F238E27FC236}">
                  <a16:creationId xmlns:a16="http://schemas.microsoft.com/office/drawing/2014/main" xmlns="" id="{4726B852-1B6C-4A71-80EC-CDBF35E88EEF}"/>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3" name="Freeform 201">
              <a:extLst>
                <a:ext uri="{FF2B5EF4-FFF2-40B4-BE49-F238E27FC236}">
                  <a16:creationId xmlns:a16="http://schemas.microsoft.com/office/drawing/2014/main" xmlns="" id="{4AA940CB-94EE-4DEF-9E9F-3D11BC8A77E0}"/>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4" name="Freeform 202">
              <a:extLst>
                <a:ext uri="{FF2B5EF4-FFF2-40B4-BE49-F238E27FC236}">
                  <a16:creationId xmlns:a16="http://schemas.microsoft.com/office/drawing/2014/main" xmlns="" id="{37043C60-3F8E-4D98-B028-C28CE45EF949}"/>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5" name="Freeform 203">
              <a:extLst>
                <a:ext uri="{FF2B5EF4-FFF2-40B4-BE49-F238E27FC236}">
                  <a16:creationId xmlns:a16="http://schemas.microsoft.com/office/drawing/2014/main" xmlns="" id="{C81FF395-5597-4B60-94F8-16CFCB54D10B}"/>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6" name="Freeform 204">
              <a:extLst>
                <a:ext uri="{FF2B5EF4-FFF2-40B4-BE49-F238E27FC236}">
                  <a16:creationId xmlns:a16="http://schemas.microsoft.com/office/drawing/2014/main" xmlns="" id="{2007123A-4AA8-48E1-BA2E-A82105D93644}"/>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7" name="Freeform 205">
              <a:extLst>
                <a:ext uri="{FF2B5EF4-FFF2-40B4-BE49-F238E27FC236}">
                  <a16:creationId xmlns:a16="http://schemas.microsoft.com/office/drawing/2014/main" xmlns="" id="{0683844A-AFE8-46C2-94DB-C4A051404877}"/>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8" name="Freeform 206">
              <a:extLst>
                <a:ext uri="{FF2B5EF4-FFF2-40B4-BE49-F238E27FC236}">
                  <a16:creationId xmlns:a16="http://schemas.microsoft.com/office/drawing/2014/main" xmlns="" id="{D8D71F33-0C29-48A9-A65A-A5537F3A52A6}"/>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39" name="Freeform 207">
              <a:extLst>
                <a:ext uri="{FF2B5EF4-FFF2-40B4-BE49-F238E27FC236}">
                  <a16:creationId xmlns:a16="http://schemas.microsoft.com/office/drawing/2014/main" xmlns="" id="{E97DE069-9FC5-47E3-BB06-6C53B57EBB04}"/>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0" name="Freeform 208">
              <a:extLst>
                <a:ext uri="{FF2B5EF4-FFF2-40B4-BE49-F238E27FC236}">
                  <a16:creationId xmlns:a16="http://schemas.microsoft.com/office/drawing/2014/main" xmlns="" id="{EB395240-8714-475A-A9EA-C1988D9DACB8}"/>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1" name="Freeform 209">
              <a:extLst>
                <a:ext uri="{FF2B5EF4-FFF2-40B4-BE49-F238E27FC236}">
                  <a16:creationId xmlns:a16="http://schemas.microsoft.com/office/drawing/2014/main" xmlns="" id="{6139A264-FB50-49CA-AE6F-7F4DFF7C6048}"/>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2" name="Freeform 210">
              <a:extLst>
                <a:ext uri="{FF2B5EF4-FFF2-40B4-BE49-F238E27FC236}">
                  <a16:creationId xmlns:a16="http://schemas.microsoft.com/office/drawing/2014/main" xmlns="" id="{E27E8A68-4257-446B-B011-27B527B11BA3}"/>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3" name="Freeform 211">
              <a:extLst>
                <a:ext uri="{FF2B5EF4-FFF2-40B4-BE49-F238E27FC236}">
                  <a16:creationId xmlns:a16="http://schemas.microsoft.com/office/drawing/2014/main" xmlns="" id="{63CF341D-2B39-4D7A-A0FC-8C9E4CAAD0B7}"/>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2">
              <a:extLst>
                <a:ext uri="{FF2B5EF4-FFF2-40B4-BE49-F238E27FC236}">
                  <a16:creationId xmlns:a16="http://schemas.microsoft.com/office/drawing/2014/main" xmlns="" id="{06245076-6CA3-4FDE-9361-0DA26A2EC607}"/>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5" name="Freeform 213">
              <a:extLst>
                <a:ext uri="{FF2B5EF4-FFF2-40B4-BE49-F238E27FC236}">
                  <a16:creationId xmlns:a16="http://schemas.microsoft.com/office/drawing/2014/main" xmlns="" id="{94E0F53C-DEC9-4430-B64C-6620E76347B0}"/>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6" name="Freeform 214">
              <a:extLst>
                <a:ext uri="{FF2B5EF4-FFF2-40B4-BE49-F238E27FC236}">
                  <a16:creationId xmlns:a16="http://schemas.microsoft.com/office/drawing/2014/main" xmlns="" id="{D426A132-F344-4AFD-9F3C-A887036E24DB}"/>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7" name="Freeform 215">
              <a:extLst>
                <a:ext uri="{FF2B5EF4-FFF2-40B4-BE49-F238E27FC236}">
                  <a16:creationId xmlns:a16="http://schemas.microsoft.com/office/drawing/2014/main" xmlns="" id="{8ACE94DA-4CCE-4980-BE34-998E88B7335D}"/>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8" name="Freeform 216">
              <a:extLst>
                <a:ext uri="{FF2B5EF4-FFF2-40B4-BE49-F238E27FC236}">
                  <a16:creationId xmlns:a16="http://schemas.microsoft.com/office/drawing/2014/main" xmlns="" id="{1186AB81-EC08-47A3-B424-BFDAFD7F41CF}"/>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49" name="Freeform 217">
              <a:extLst>
                <a:ext uri="{FF2B5EF4-FFF2-40B4-BE49-F238E27FC236}">
                  <a16:creationId xmlns:a16="http://schemas.microsoft.com/office/drawing/2014/main" xmlns="" id="{F5668DBE-204F-4171-9E4F-5846978205F7}"/>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0" name="Freeform 218">
              <a:extLst>
                <a:ext uri="{FF2B5EF4-FFF2-40B4-BE49-F238E27FC236}">
                  <a16:creationId xmlns:a16="http://schemas.microsoft.com/office/drawing/2014/main" xmlns="" id="{D3EFCB08-F6F6-491F-9E57-2E2F36735476}"/>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1" name="Freeform 219">
              <a:extLst>
                <a:ext uri="{FF2B5EF4-FFF2-40B4-BE49-F238E27FC236}">
                  <a16:creationId xmlns:a16="http://schemas.microsoft.com/office/drawing/2014/main" xmlns="" id="{FB523A2B-4AE4-496E-B6D5-96A80A3CE231}"/>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2" name="Freeform 220">
              <a:extLst>
                <a:ext uri="{FF2B5EF4-FFF2-40B4-BE49-F238E27FC236}">
                  <a16:creationId xmlns:a16="http://schemas.microsoft.com/office/drawing/2014/main" xmlns="" id="{12AFCCC9-64AE-492B-B862-3E0D337B8B47}"/>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3" name="Freeform 221">
              <a:extLst>
                <a:ext uri="{FF2B5EF4-FFF2-40B4-BE49-F238E27FC236}">
                  <a16:creationId xmlns:a16="http://schemas.microsoft.com/office/drawing/2014/main" xmlns="" id="{46D3A967-56BC-45BF-8ED4-884A091A967F}"/>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4" name="Freeform 222">
              <a:extLst>
                <a:ext uri="{FF2B5EF4-FFF2-40B4-BE49-F238E27FC236}">
                  <a16:creationId xmlns:a16="http://schemas.microsoft.com/office/drawing/2014/main" xmlns="" id="{D8CCC54B-96D6-4384-8DB9-3B07D2811111}"/>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5" name="Freeform 223">
              <a:extLst>
                <a:ext uri="{FF2B5EF4-FFF2-40B4-BE49-F238E27FC236}">
                  <a16:creationId xmlns:a16="http://schemas.microsoft.com/office/drawing/2014/main" xmlns="" id="{1F4F8155-DADF-4F50-AA1B-32DA5B769BCD}"/>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6" name="Freeform 224">
              <a:extLst>
                <a:ext uri="{FF2B5EF4-FFF2-40B4-BE49-F238E27FC236}">
                  <a16:creationId xmlns:a16="http://schemas.microsoft.com/office/drawing/2014/main" xmlns="" id="{4BE96C66-A0A7-483D-9938-D4593CB3AAE6}"/>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7" name="Freeform 225">
              <a:extLst>
                <a:ext uri="{FF2B5EF4-FFF2-40B4-BE49-F238E27FC236}">
                  <a16:creationId xmlns:a16="http://schemas.microsoft.com/office/drawing/2014/main" xmlns="" id="{8F827AD3-64F4-4111-93C8-1B6D02686F78}"/>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8" name="Freeform 226">
              <a:extLst>
                <a:ext uri="{FF2B5EF4-FFF2-40B4-BE49-F238E27FC236}">
                  <a16:creationId xmlns:a16="http://schemas.microsoft.com/office/drawing/2014/main" xmlns="" id="{97C21B80-8D79-4200-8299-0DBC93B18F32}"/>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9" name="Freeform 227">
              <a:extLst>
                <a:ext uri="{FF2B5EF4-FFF2-40B4-BE49-F238E27FC236}">
                  <a16:creationId xmlns:a16="http://schemas.microsoft.com/office/drawing/2014/main" xmlns="" id="{35EE361A-3852-4AEC-A2D1-00DFB9A23BED}"/>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0" name="Freeform 228">
              <a:extLst>
                <a:ext uri="{FF2B5EF4-FFF2-40B4-BE49-F238E27FC236}">
                  <a16:creationId xmlns:a16="http://schemas.microsoft.com/office/drawing/2014/main" xmlns="" id="{A667A830-5619-4A40-B459-B9E18551C481}"/>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1" name="Freeform 229">
              <a:extLst>
                <a:ext uri="{FF2B5EF4-FFF2-40B4-BE49-F238E27FC236}">
                  <a16:creationId xmlns:a16="http://schemas.microsoft.com/office/drawing/2014/main" xmlns="" id="{094D478C-FC2A-490F-B257-2CB4AE472637}"/>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2" name="Freeform 230">
              <a:extLst>
                <a:ext uri="{FF2B5EF4-FFF2-40B4-BE49-F238E27FC236}">
                  <a16:creationId xmlns:a16="http://schemas.microsoft.com/office/drawing/2014/main" xmlns="" id="{DE02CF36-9B20-4CBD-B9B7-A1B6580E1B72}"/>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3" name="Freeform 231">
              <a:extLst>
                <a:ext uri="{FF2B5EF4-FFF2-40B4-BE49-F238E27FC236}">
                  <a16:creationId xmlns:a16="http://schemas.microsoft.com/office/drawing/2014/main" xmlns="" id="{288FF36E-DADD-4B2D-BCCD-465F93CB1BCF}"/>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9801" name="副标题 2"/>
          <p:cNvSpPr>
            <a:spLocks noGrp="1"/>
          </p:cNvSpPr>
          <p:nvPr userDrawn="1">
            <p:ph type="subTitle" idx="1"/>
          </p:nvPr>
        </p:nvSpPr>
        <p:spPr>
          <a:xfrm>
            <a:off x="948718" y="2998375"/>
            <a:ext cx="5087595" cy="558799"/>
          </a:xfrm>
        </p:spPr>
        <p:txBody>
          <a:bodyPr anchor="ct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en-US" noProof="1"/>
          </a:p>
        </p:txBody>
      </p:sp>
      <p:sp>
        <p:nvSpPr>
          <p:cNvPr id="9802" name="标题 1"/>
          <p:cNvSpPr>
            <a:spLocks noGrp="1"/>
          </p:cNvSpPr>
          <p:nvPr userDrawn="1">
            <p:ph type="ctrTitle"/>
          </p:nvPr>
        </p:nvSpPr>
        <p:spPr>
          <a:xfrm>
            <a:off x="948718" y="1785931"/>
            <a:ext cx="5087595" cy="1198382"/>
          </a:xfrm>
        </p:spPr>
        <p:txBody>
          <a:bodyPr anchor="ctr">
            <a:normAutofit/>
          </a:bodyPr>
          <a:lstStyle>
            <a:lvl1pPr algn="l">
              <a:defRPr sz="4000">
                <a:solidFill>
                  <a:schemeClr val="bg1"/>
                </a:solidFill>
              </a:defRPr>
            </a:lvl1pPr>
          </a:lstStyle>
          <a:p>
            <a:r>
              <a:rPr lang="zh-CN" altLang="en-US" noProof="1" smtClean="0"/>
              <a:t>单击此处编辑母版标题样式</a:t>
            </a:r>
            <a:endParaRPr lang="zh-CN" altLang="en-US" noProof="1"/>
          </a:p>
        </p:txBody>
      </p:sp>
      <p:sp>
        <p:nvSpPr>
          <p:cNvPr id="12" name="文本占位符 13"/>
          <p:cNvSpPr>
            <a:spLocks noGrp="1"/>
          </p:cNvSpPr>
          <p:nvPr userDrawn="1">
            <p:ph type="body" sz="quarter" idx="10" hasCustomPrompt="1"/>
          </p:nvPr>
        </p:nvSpPr>
        <p:spPr>
          <a:xfrm>
            <a:off x="949208" y="4137532"/>
            <a:ext cx="2294395" cy="296271"/>
          </a:xfrm>
          <a:prstGeom prst="roundRect">
            <a:avLst>
              <a:gd name="adj" fmla="val 50000"/>
            </a:avLst>
          </a:prstGeom>
          <a:noFill/>
          <a:ln w="12700">
            <a:solidFill>
              <a:schemeClr val="bg1"/>
            </a:solidFill>
          </a:ln>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
        <p:nvSpPr>
          <p:cNvPr id="13" name="文本占位符 13"/>
          <p:cNvSpPr>
            <a:spLocks noGrp="1"/>
          </p:cNvSpPr>
          <p:nvPr userDrawn="1">
            <p:ph type="body" sz="quarter" idx="11" hasCustomPrompt="1"/>
          </p:nvPr>
        </p:nvSpPr>
        <p:spPr>
          <a:xfrm>
            <a:off x="949207" y="4558199"/>
            <a:ext cx="5087595"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Terabits</a:t>
            </a:r>
            <a:endParaRPr lang="zh-CN" altLang="en-US" noProof="1"/>
          </a:p>
        </p:txBody>
      </p:sp>
    </p:spTree>
    <p:extLst>
      <p:ext uri="{BB962C8B-B14F-4D97-AF65-F5344CB8AC3E}">
        <p14:creationId xmlns:p14="http://schemas.microsoft.com/office/powerpoint/2010/main" val="23927664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xmlns="" id="{FA89D527-07F7-4DF8-B4AE-7CE4750343FE}"/>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5" name="矩形 4">
            <a:extLst>
              <a:ext uri="{FF2B5EF4-FFF2-40B4-BE49-F238E27FC236}">
                <a16:creationId xmlns:a16="http://schemas.microsoft.com/office/drawing/2014/main" xmlns="" id="{4D938A1B-0B96-46F2-9400-1487ED36C6FC}"/>
              </a:ext>
            </a:extLst>
          </p:cNvPr>
          <p:cNvSpPr/>
          <p:nvPr userDrawn="1"/>
        </p:nvSpPr>
        <p:spPr>
          <a:xfrm>
            <a:off x="7223125" y="4016375"/>
            <a:ext cx="3338513" cy="2841625"/>
          </a:xfrm>
          <a:prstGeom prst="rect">
            <a:avLst/>
          </a:prstGeom>
          <a:gradFill>
            <a:gsLst>
              <a:gs pos="5000">
                <a:schemeClr val="accent2"/>
              </a:gs>
              <a:gs pos="100000">
                <a:schemeClr val="accent3"/>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6" name="Freeform 100">
            <a:extLst>
              <a:ext uri="{FF2B5EF4-FFF2-40B4-BE49-F238E27FC236}">
                <a16:creationId xmlns:a16="http://schemas.microsoft.com/office/drawing/2014/main" xmlns="" id="{3A1F5932-2139-48CA-8277-742909F78EFD}"/>
              </a:ext>
            </a:extLst>
          </p:cNvPr>
          <p:cNvSpPr>
            <a:spLocks noChangeArrowheads="1"/>
          </p:cNvSpPr>
          <p:nvPr/>
        </p:nvSpPr>
        <p:spPr bwMode="auto">
          <a:xfrm>
            <a:off x="7493000" y="1695450"/>
            <a:ext cx="1912938" cy="1449388"/>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1">
            <a:extLst>
              <a:ext uri="{FF2B5EF4-FFF2-40B4-BE49-F238E27FC236}">
                <a16:creationId xmlns:a16="http://schemas.microsoft.com/office/drawing/2014/main" xmlns="" id="{E2EAF21E-DF3A-47A2-A444-98FA64D4AE97}"/>
              </a:ext>
            </a:extLst>
          </p:cNvPr>
          <p:cNvSpPr>
            <a:spLocks noChangeArrowheads="1"/>
          </p:cNvSpPr>
          <p:nvPr/>
        </p:nvSpPr>
        <p:spPr bwMode="auto">
          <a:xfrm>
            <a:off x="8755063" y="1566863"/>
            <a:ext cx="766762" cy="1577975"/>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2">
            <a:extLst>
              <a:ext uri="{FF2B5EF4-FFF2-40B4-BE49-F238E27FC236}">
                <a16:creationId xmlns:a16="http://schemas.microsoft.com/office/drawing/2014/main" xmlns="" id="{9908D12F-8726-4C8F-8278-5E5EA5C506F7}"/>
              </a:ext>
            </a:extLst>
          </p:cNvPr>
          <p:cNvSpPr>
            <a:spLocks noChangeArrowheads="1"/>
          </p:cNvSpPr>
          <p:nvPr/>
        </p:nvSpPr>
        <p:spPr bwMode="auto">
          <a:xfrm>
            <a:off x="8645525" y="1428750"/>
            <a:ext cx="998538" cy="1716088"/>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3">
            <a:extLst>
              <a:ext uri="{FF2B5EF4-FFF2-40B4-BE49-F238E27FC236}">
                <a16:creationId xmlns:a16="http://schemas.microsoft.com/office/drawing/2014/main" xmlns="" id="{565847EB-3C92-41EA-8FC7-AEB66A45F26B}"/>
              </a:ext>
            </a:extLst>
          </p:cNvPr>
          <p:cNvSpPr>
            <a:spLocks noEditPoints="1" noChangeArrowheads="1"/>
          </p:cNvSpPr>
          <p:nvPr/>
        </p:nvSpPr>
        <p:spPr bwMode="auto">
          <a:xfrm>
            <a:off x="7432675" y="16652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4">
            <a:extLst>
              <a:ext uri="{FF2B5EF4-FFF2-40B4-BE49-F238E27FC236}">
                <a16:creationId xmlns:a16="http://schemas.microsoft.com/office/drawing/2014/main" xmlns="" id="{D8ADE8E6-8C31-478D-B207-22A9E6F64A95}"/>
              </a:ext>
            </a:extLst>
          </p:cNvPr>
          <p:cNvSpPr>
            <a:spLocks noEditPoints="1" noChangeArrowheads="1"/>
          </p:cNvSpPr>
          <p:nvPr/>
        </p:nvSpPr>
        <p:spPr bwMode="auto">
          <a:xfrm>
            <a:off x="8694738" y="153987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5">
            <a:extLst>
              <a:ext uri="{FF2B5EF4-FFF2-40B4-BE49-F238E27FC236}">
                <a16:creationId xmlns:a16="http://schemas.microsoft.com/office/drawing/2014/main" xmlns="" id="{ED5EA8DF-2B7F-458B-A8F1-89B911E1D948}"/>
              </a:ext>
            </a:extLst>
          </p:cNvPr>
          <p:cNvSpPr>
            <a:spLocks noEditPoints="1" noChangeArrowheads="1"/>
          </p:cNvSpPr>
          <p:nvPr/>
        </p:nvSpPr>
        <p:spPr bwMode="auto">
          <a:xfrm>
            <a:off x="8583613" y="13985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6">
            <a:extLst>
              <a:ext uri="{FF2B5EF4-FFF2-40B4-BE49-F238E27FC236}">
                <a16:creationId xmlns:a16="http://schemas.microsoft.com/office/drawing/2014/main" xmlns="" id="{0AEB20D9-923D-4E84-AB1B-3E8954AF5229}"/>
              </a:ext>
            </a:extLst>
          </p:cNvPr>
          <p:cNvSpPr>
            <a:spLocks noChangeArrowheads="1"/>
          </p:cNvSpPr>
          <p:nvPr/>
        </p:nvSpPr>
        <p:spPr bwMode="auto">
          <a:xfrm>
            <a:off x="8291513" y="1322388"/>
            <a:ext cx="1471612" cy="182245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07">
            <a:extLst>
              <a:ext uri="{FF2B5EF4-FFF2-40B4-BE49-F238E27FC236}">
                <a16:creationId xmlns:a16="http://schemas.microsoft.com/office/drawing/2014/main" xmlns="" id="{47CDE46C-DC4A-4CEB-B760-75CE03381F74}"/>
              </a:ext>
            </a:extLst>
          </p:cNvPr>
          <p:cNvSpPr>
            <a:spLocks noEditPoints="1" noChangeArrowheads="1"/>
          </p:cNvSpPr>
          <p:nvPr/>
        </p:nvSpPr>
        <p:spPr bwMode="auto">
          <a:xfrm>
            <a:off x="8231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8">
            <a:extLst>
              <a:ext uri="{FF2B5EF4-FFF2-40B4-BE49-F238E27FC236}">
                <a16:creationId xmlns:a16="http://schemas.microsoft.com/office/drawing/2014/main" xmlns="" id="{7670E6CE-3BB7-4481-8625-050E809ADA4D}"/>
              </a:ext>
            </a:extLst>
          </p:cNvPr>
          <p:cNvSpPr>
            <a:spLocks noChangeArrowheads="1"/>
          </p:cNvSpPr>
          <p:nvPr/>
        </p:nvSpPr>
        <p:spPr bwMode="auto">
          <a:xfrm>
            <a:off x="9872663" y="1322388"/>
            <a:ext cx="1041400" cy="182245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9">
            <a:extLst>
              <a:ext uri="{FF2B5EF4-FFF2-40B4-BE49-F238E27FC236}">
                <a16:creationId xmlns:a16="http://schemas.microsoft.com/office/drawing/2014/main" xmlns="" id="{D3DF8C53-D1F5-492E-99C7-BD5464222F19}"/>
              </a:ext>
            </a:extLst>
          </p:cNvPr>
          <p:cNvSpPr>
            <a:spLocks noEditPoints="1" noChangeArrowheads="1"/>
          </p:cNvSpPr>
          <p:nvPr/>
        </p:nvSpPr>
        <p:spPr bwMode="auto">
          <a:xfrm>
            <a:off x="10898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10">
            <a:extLst>
              <a:ext uri="{FF2B5EF4-FFF2-40B4-BE49-F238E27FC236}">
                <a16:creationId xmlns:a16="http://schemas.microsoft.com/office/drawing/2014/main" xmlns="" id="{A2C0E662-1FEA-4BEB-9A1E-7861B2690B6A}"/>
              </a:ext>
            </a:extLst>
          </p:cNvPr>
          <p:cNvSpPr>
            <a:spLocks noEditPoints="1" noChangeArrowheads="1"/>
          </p:cNvSpPr>
          <p:nvPr/>
        </p:nvSpPr>
        <p:spPr bwMode="auto">
          <a:xfrm>
            <a:off x="11042650"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11">
            <a:extLst>
              <a:ext uri="{FF2B5EF4-FFF2-40B4-BE49-F238E27FC236}">
                <a16:creationId xmlns:a16="http://schemas.microsoft.com/office/drawing/2014/main" xmlns="" id="{3B296366-066A-46CF-BD0B-07AC0B29637C}"/>
              </a:ext>
            </a:extLst>
          </p:cNvPr>
          <p:cNvSpPr>
            <a:spLocks noEditPoints="1" noChangeArrowheads="1"/>
          </p:cNvSpPr>
          <p:nvPr/>
        </p:nvSpPr>
        <p:spPr bwMode="auto">
          <a:xfrm>
            <a:off x="111902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12">
            <a:extLst>
              <a:ext uri="{FF2B5EF4-FFF2-40B4-BE49-F238E27FC236}">
                <a16:creationId xmlns:a16="http://schemas.microsoft.com/office/drawing/2014/main" xmlns="" id="{E2BD13DC-08C4-4EEE-914C-B1A33AECE58F}"/>
              </a:ext>
            </a:extLst>
          </p:cNvPr>
          <p:cNvSpPr>
            <a:spLocks noEditPoints="1" noChangeArrowheads="1"/>
          </p:cNvSpPr>
          <p:nvPr/>
        </p:nvSpPr>
        <p:spPr bwMode="auto">
          <a:xfrm>
            <a:off x="11333163" y="1292225"/>
            <a:ext cx="74612"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3">
            <a:extLst>
              <a:ext uri="{FF2B5EF4-FFF2-40B4-BE49-F238E27FC236}">
                <a16:creationId xmlns:a16="http://schemas.microsoft.com/office/drawing/2014/main" xmlns="" id="{A6B2E18D-6DAB-49DB-B326-FFD09F6A4EB6}"/>
              </a:ext>
            </a:extLst>
          </p:cNvPr>
          <p:cNvSpPr>
            <a:spLocks noEditPoints="1" noChangeArrowheads="1"/>
          </p:cNvSpPr>
          <p:nvPr/>
        </p:nvSpPr>
        <p:spPr bwMode="auto">
          <a:xfrm>
            <a:off x="11480800" y="1292225"/>
            <a:ext cx="74613"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4">
            <a:extLst>
              <a:ext uri="{FF2B5EF4-FFF2-40B4-BE49-F238E27FC236}">
                <a16:creationId xmlns:a16="http://schemas.microsoft.com/office/drawing/2014/main" xmlns="" id="{D09F76B4-9EDF-4BB0-A4BD-C03A27656A55}"/>
              </a:ext>
            </a:extLst>
          </p:cNvPr>
          <p:cNvSpPr>
            <a:spLocks noEditPoints="1" noChangeArrowheads="1"/>
          </p:cNvSpPr>
          <p:nvPr/>
        </p:nvSpPr>
        <p:spPr bwMode="auto">
          <a:xfrm>
            <a:off x="11625263" y="1292225"/>
            <a:ext cx="71437"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7">
            <a:extLst>
              <a:ext uri="{FF2B5EF4-FFF2-40B4-BE49-F238E27FC236}">
                <a16:creationId xmlns:a16="http://schemas.microsoft.com/office/drawing/2014/main" xmlns="" id="{B6666370-092F-4B21-BC49-81C165E4432B}"/>
              </a:ext>
            </a:extLst>
          </p:cNvPr>
          <p:cNvSpPr>
            <a:spLocks noEditPoints="1" noChangeArrowheads="1"/>
          </p:cNvSpPr>
          <p:nvPr/>
        </p:nvSpPr>
        <p:spPr bwMode="auto">
          <a:xfrm>
            <a:off x="6353175" y="2852738"/>
            <a:ext cx="5005388" cy="2908300"/>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8">
            <a:extLst>
              <a:ext uri="{FF2B5EF4-FFF2-40B4-BE49-F238E27FC236}">
                <a16:creationId xmlns:a16="http://schemas.microsoft.com/office/drawing/2014/main" xmlns="" id="{D86BA65D-3B90-41FF-B10A-4F4E0E8CD037}"/>
              </a:ext>
            </a:extLst>
          </p:cNvPr>
          <p:cNvSpPr>
            <a:spLocks noChangeArrowheads="1"/>
          </p:cNvSpPr>
          <p:nvPr/>
        </p:nvSpPr>
        <p:spPr bwMode="auto">
          <a:xfrm>
            <a:off x="6251575" y="2505075"/>
            <a:ext cx="5205413" cy="2952750"/>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9">
            <a:extLst>
              <a:ext uri="{FF2B5EF4-FFF2-40B4-BE49-F238E27FC236}">
                <a16:creationId xmlns:a16="http://schemas.microsoft.com/office/drawing/2014/main" xmlns="" id="{F9FAF9F0-1C4A-4256-A265-62E3124CD75A}"/>
              </a:ext>
            </a:extLst>
          </p:cNvPr>
          <p:cNvSpPr>
            <a:spLocks noChangeArrowheads="1"/>
          </p:cNvSpPr>
          <p:nvPr/>
        </p:nvSpPr>
        <p:spPr bwMode="auto">
          <a:xfrm>
            <a:off x="6251575" y="3368675"/>
            <a:ext cx="5205413" cy="2076450"/>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20">
            <a:extLst>
              <a:ext uri="{FF2B5EF4-FFF2-40B4-BE49-F238E27FC236}">
                <a16:creationId xmlns:a16="http://schemas.microsoft.com/office/drawing/2014/main" xmlns="" id="{03258DA8-CB1C-41C2-8363-C6729AE734D4}"/>
              </a:ext>
            </a:extLst>
          </p:cNvPr>
          <p:cNvSpPr>
            <a:spLocks noChangeArrowheads="1"/>
          </p:cNvSpPr>
          <p:nvPr/>
        </p:nvSpPr>
        <p:spPr bwMode="auto">
          <a:xfrm>
            <a:off x="6251575" y="3414713"/>
            <a:ext cx="5205413" cy="199707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1">
            <a:extLst>
              <a:ext uri="{FF2B5EF4-FFF2-40B4-BE49-F238E27FC236}">
                <a16:creationId xmlns:a16="http://schemas.microsoft.com/office/drawing/2014/main" xmlns="" id="{CAC6BC2E-BC0C-4E06-A519-62B8374FE231}"/>
              </a:ext>
            </a:extLst>
          </p:cNvPr>
          <p:cNvSpPr>
            <a:spLocks noChangeArrowheads="1"/>
          </p:cNvSpPr>
          <p:nvPr/>
        </p:nvSpPr>
        <p:spPr bwMode="auto">
          <a:xfrm>
            <a:off x="6235700" y="2308225"/>
            <a:ext cx="5240338" cy="3027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2">
            <a:extLst>
              <a:ext uri="{FF2B5EF4-FFF2-40B4-BE49-F238E27FC236}">
                <a16:creationId xmlns:a16="http://schemas.microsoft.com/office/drawing/2014/main" xmlns="" id="{4C6722D5-597A-476B-9FFB-A37EBA64EBD1}"/>
              </a:ext>
            </a:extLst>
          </p:cNvPr>
          <p:cNvSpPr>
            <a:spLocks noChangeArrowheads="1"/>
          </p:cNvSpPr>
          <p:nvPr/>
        </p:nvSpPr>
        <p:spPr bwMode="auto">
          <a:xfrm>
            <a:off x="7516813" y="508793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3">
            <a:extLst>
              <a:ext uri="{FF2B5EF4-FFF2-40B4-BE49-F238E27FC236}">
                <a16:creationId xmlns:a16="http://schemas.microsoft.com/office/drawing/2014/main" xmlns="" id="{D8123861-108E-48F3-B00C-328D748ED48A}"/>
              </a:ext>
            </a:extLst>
          </p:cNvPr>
          <p:cNvSpPr>
            <a:spLocks noChangeArrowheads="1"/>
          </p:cNvSpPr>
          <p:nvPr/>
        </p:nvSpPr>
        <p:spPr bwMode="auto">
          <a:xfrm>
            <a:off x="7591425" y="5130800"/>
            <a:ext cx="36513"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4">
            <a:extLst>
              <a:ext uri="{FF2B5EF4-FFF2-40B4-BE49-F238E27FC236}">
                <a16:creationId xmlns:a16="http://schemas.microsoft.com/office/drawing/2014/main" xmlns="" id="{E1E16852-F19B-4C74-8711-911715DAAC0E}"/>
              </a:ext>
            </a:extLst>
          </p:cNvPr>
          <p:cNvSpPr>
            <a:spLocks noChangeArrowheads="1"/>
          </p:cNvSpPr>
          <p:nvPr/>
        </p:nvSpPr>
        <p:spPr bwMode="auto">
          <a:xfrm>
            <a:off x="7664450" y="5175250"/>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5">
            <a:extLst>
              <a:ext uri="{FF2B5EF4-FFF2-40B4-BE49-F238E27FC236}">
                <a16:creationId xmlns:a16="http://schemas.microsoft.com/office/drawing/2014/main" xmlns="" id="{00D3F213-AEE9-461A-9821-E972EB5B5B26}"/>
              </a:ext>
            </a:extLst>
          </p:cNvPr>
          <p:cNvSpPr>
            <a:spLocks noChangeArrowheads="1"/>
          </p:cNvSpPr>
          <p:nvPr/>
        </p:nvSpPr>
        <p:spPr bwMode="auto">
          <a:xfrm>
            <a:off x="6500813" y="4503738"/>
            <a:ext cx="39687" cy="52387"/>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6">
            <a:extLst>
              <a:ext uri="{FF2B5EF4-FFF2-40B4-BE49-F238E27FC236}">
                <a16:creationId xmlns:a16="http://schemas.microsoft.com/office/drawing/2014/main" xmlns="" id="{99FAF4F1-248C-494E-8CAE-9DE0E3F996D5}"/>
              </a:ext>
            </a:extLst>
          </p:cNvPr>
          <p:cNvSpPr>
            <a:spLocks noChangeArrowheads="1"/>
          </p:cNvSpPr>
          <p:nvPr/>
        </p:nvSpPr>
        <p:spPr bwMode="auto">
          <a:xfrm>
            <a:off x="6573838" y="4545013"/>
            <a:ext cx="41275"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7">
            <a:extLst>
              <a:ext uri="{FF2B5EF4-FFF2-40B4-BE49-F238E27FC236}">
                <a16:creationId xmlns:a16="http://schemas.microsoft.com/office/drawing/2014/main" xmlns="" id="{18A61A7E-06D1-4936-9D3C-BD4CF705F18C}"/>
              </a:ext>
            </a:extLst>
          </p:cNvPr>
          <p:cNvSpPr>
            <a:spLocks noChangeArrowheads="1"/>
          </p:cNvSpPr>
          <p:nvPr/>
        </p:nvSpPr>
        <p:spPr bwMode="auto">
          <a:xfrm>
            <a:off x="6650038" y="4589463"/>
            <a:ext cx="38100"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8">
            <a:extLst>
              <a:ext uri="{FF2B5EF4-FFF2-40B4-BE49-F238E27FC236}">
                <a16:creationId xmlns:a16="http://schemas.microsoft.com/office/drawing/2014/main" xmlns="" id="{0C2F7A97-0454-482A-B806-90B72401DD3F}"/>
              </a:ext>
            </a:extLst>
          </p:cNvPr>
          <p:cNvSpPr>
            <a:spLocks noEditPoints="1" noChangeArrowheads="1"/>
          </p:cNvSpPr>
          <p:nvPr/>
        </p:nvSpPr>
        <p:spPr bwMode="auto">
          <a:xfrm>
            <a:off x="8824913" y="2297113"/>
            <a:ext cx="823912" cy="433387"/>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9">
            <a:extLst>
              <a:ext uri="{FF2B5EF4-FFF2-40B4-BE49-F238E27FC236}">
                <a16:creationId xmlns:a16="http://schemas.microsoft.com/office/drawing/2014/main" xmlns="" id="{A2FF0A01-030B-41D0-A009-026BD0FD85C1}"/>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30">
            <a:extLst>
              <a:ext uri="{FF2B5EF4-FFF2-40B4-BE49-F238E27FC236}">
                <a16:creationId xmlns:a16="http://schemas.microsoft.com/office/drawing/2014/main" xmlns="" id="{D7B34D66-772D-48A3-8B1B-E32BD0E7DF88}"/>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1">
            <a:extLst>
              <a:ext uri="{FF2B5EF4-FFF2-40B4-BE49-F238E27FC236}">
                <a16:creationId xmlns:a16="http://schemas.microsoft.com/office/drawing/2014/main" xmlns="" id="{F02319AF-B822-4214-8E97-6B2B659C2CB2}"/>
              </a:ext>
            </a:extLst>
          </p:cNvPr>
          <p:cNvSpPr>
            <a:spLocks noChangeArrowheads="1"/>
          </p:cNvSpPr>
          <p:nvPr/>
        </p:nvSpPr>
        <p:spPr bwMode="auto">
          <a:xfrm>
            <a:off x="9504363" y="2319338"/>
            <a:ext cx="17462" cy="26987"/>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2">
            <a:extLst>
              <a:ext uri="{FF2B5EF4-FFF2-40B4-BE49-F238E27FC236}">
                <a16:creationId xmlns:a16="http://schemas.microsoft.com/office/drawing/2014/main" xmlns="" id="{D72589FA-ED31-4FED-B4A3-6D776324BB62}"/>
              </a:ext>
            </a:extLst>
          </p:cNvPr>
          <p:cNvSpPr>
            <a:spLocks noChangeArrowheads="1"/>
          </p:cNvSpPr>
          <p:nvPr/>
        </p:nvSpPr>
        <p:spPr bwMode="auto">
          <a:xfrm>
            <a:off x="9628188" y="2297113"/>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3">
            <a:extLst>
              <a:ext uri="{FF2B5EF4-FFF2-40B4-BE49-F238E27FC236}">
                <a16:creationId xmlns:a16="http://schemas.microsoft.com/office/drawing/2014/main" xmlns="" id="{5126ED09-4C7C-427B-AAA2-108FB7EA732C}"/>
              </a:ext>
            </a:extLst>
          </p:cNvPr>
          <p:cNvSpPr>
            <a:spLocks noChangeArrowheads="1"/>
          </p:cNvSpPr>
          <p:nvPr/>
        </p:nvSpPr>
        <p:spPr bwMode="auto">
          <a:xfrm>
            <a:off x="6246813" y="3087688"/>
            <a:ext cx="1951037" cy="11747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4">
            <a:extLst>
              <a:ext uri="{FF2B5EF4-FFF2-40B4-BE49-F238E27FC236}">
                <a16:creationId xmlns:a16="http://schemas.microsoft.com/office/drawing/2014/main" xmlns="" id="{1792FC57-ECDB-4D6E-B7C7-77EFC910E875}"/>
              </a:ext>
            </a:extLst>
          </p:cNvPr>
          <p:cNvSpPr>
            <a:spLocks noChangeArrowheads="1"/>
          </p:cNvSpPr>
          <p:nvPr/>
        </p:nvSpPr>
        <p:spPr bwMode="auto">
          <a:xfrm>
            <a:off x="6254750" y="4221163"/>
            <a:ext cx="1836738" cy="10763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1" name="组合 161">
            <a:extLst>
              <a:ext uri="{FF2B5EF4-FFF2-40B4-BE49-F238E27FC236}">
                <a16:creationId xmlns:a16="http://schemas.microsoft.com/office/drawing/2014/main" xmlns="" id="{49541F5F-FC95-468E-B89E-EA6E378B89C7}"/>
              </a:ext>
            </a:extLst>
          </p:cNvPr>
          <p:cNvGrpSpPr>
            <a:grpSpLocks/>
          </p:cNvGrpSpPr>
          <p:nvPr/>
        </p:nvGrpSpPr>
        <p:grpSpPr bwMode="auto">
          <a:xfrm>
            <a:off x="6197600" y="2320925"/>
            <a:ext cx="5260975" cy="3022600"/>
            <a:chOff x="7564437" y="4244495"/>
            <a:chExt cx="4236358" cy="2433801"/>
          </a:xfrm>
        </p:grpSpPr>
        <p:sp>
          <p:nvSpPr>
            <p:cNvPr id="42" name="Freeform 238">
              <a:extLst>
                <a:ext uri="{FF2B5EF4-FFF2-40B4-BE49-F238E27FC236}">
                  <a16:creationId xmlns:a16="http://schemas.microsoft.com/office/drawing/2014/main" xmlns="" id="{D2A5171D-E58B-49E6-8330-867C6E75D918}"/>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Freeform 238">
              <a:extLst>
                <a:ext uri="{FF2B5EF4-FFF2-40B4-BE49-F238E27FC236}">
                  <a16:creationId xmlns:a16="http://schemas.microsoft.com/office/drawing/2014/main" xmlns="" id="{83D6515D-411E-4AE8-86D4-1A76E4EF5650}"/>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DE1FC05-CBFC-4560-906E-DBDADF97B946}"/>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BA520366-ED7A-4104-BCB8-5AFF9EFEA4E0}"/>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 name="Freeform 135">
            <a:extLst>
              <a:ext uri="{FF2B5EF4-FFF2-40B4-BE49-F238E27FC236}">
                <a16:creationId xmlns:a16="http://schemas.microsoft.com/office/drawing/2014/main" xmlns="" id="{F84C648C-8347-47DF-B8BE-C1DB94BF0130}"/>
              </a:ext>
            </a:extLst>
          </p:cNvPr>
          <p:cNvSpPr>
            <a:spLocks noEditPoints="1" noChangeArrowheads="1"/>
          </p:cNvSpPr>
          <p:nvPr/>
        </p:nvSpPr>
        <p:spPr bwMode="auto">
          <a:xfrm>
            <a:off x="8680450" y="4037013"/>
            <a:ext cx="1104900" cy="64293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137">
            <a:extLst>
              <a:ext uri="{FF2B5EF4-FFF2-40B4-BE49-F238E27FC236}">
                <a16:creationId xmlns:a16="http://schemas.microsoft.com/office/drawing/2014/main" xmlns="" id="{020821C1-6477-4F16-B170-5FFE976A9A07}"/>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6">
            <a:extLst>
              <a:ext uri="{FF2B5EF4-FFF2-40B4-BE49-F238E27FC236}">
                <a16:creationId xmlns:a16="http://schemas.microsoft.com/office/drawing/2014/main" xmlns="" id="{6B37FE91-B408-4775-BDA3-199D009784FD}"/>
              </a:ext>
            </a:extLst>
          </p:cNvPr>
          <p:cNvSpPr>
            <a:spLocks noEditPoints="1" noChangeArrowheads="1"/>
          </p:cNvSpPr>
          <p:nvPr/>
        </p:nvSpPr>
        <p:spPr bwMode="auto">
          <a:xfrm>
            <a:off x="9736138" y="3327400"/>
            <a:ext cx="1281112" cy="639763"/>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8">
            <a:extLst>
              <a:ext uri="{FF2B5EF4-FFF2-40B4-BE49-F238E27FC236}">
                <a16:creationId xmlns:a16="http://schemas.microsoft.com/office/drawing/2014/main" xmlns="" id="{FFD860AE-3B39-4E53-819A-3822DD4EFB3B}"/>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9">
            <a:extLst>
              <a:ext uri="{FF2B5EF4-FFF2-40B4-BE49-F238E27FC236}">
                <a16:creationId xmlns:a16="http://schemas.microsoft.com/office/drawing/2014/main" xmlns="" id="{6E1E582E-F77C-4151-B212-6AE8435741B2}"/>
              </a:ext>
            </a:extLst>
          </p:cNvPr>
          <p:cNvSpPr>
            <a:spLocks noEditPoints="1" noChangeArrowheads="1"/>
          </p:cNvSpPr>
          <p:nvPr/>
        </p:nvSpPr>
        <p:spPr bwMode="auto">
          <a:xfrm>
            <a:off x="8205788" y="2901950"/>
            <a:ext cx="1238250" cy="679450"/>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40">
            <a:extLst>
              <a:ext uri="{FF2B5EF4-FFF2-40B4-BE49-F238E27FC236}">
                <a16:creationId xmlns:a16="http://schemas.microsoft.com/office/drawing/2014/main" xmlns="" id="{5076AC02-A9A1-41D3-8BAB-BD3445F9A663}"/>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1">
            <a:extLst>
              <a:ext uri="{FF2B5EF4-FFF2-40B4-BE49-F238E27FC236}">
                <a16:creationId xmlns:a16="http://schemas.microsoft.com/office/drawing/2014/main" xmlns="" id="{7A977D5F-3BC9-49B7-95FA-CBBBA3DE8190}"/>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2">
            <a:extLst>
              <a:ext uri="{FF2B5EF4-FFF2-40B4-BE49-F238E27FC236}">
                <a16:creationId xmlns:a16="http://schemas.microsoft.com/office/drawing/2014/main" xmlns="" id="{CBF95F56-E509-4256-9084-654CF722CC72}"/>
              </a:ext>
            </a:extLst>
          </p:cNvPr>
          <p:cNvSpPr>
            <a:spLocks noChangeArrowheads="1"/>
          </p:cNvSpPr>
          <p:nvPr/>
        </p:nvSpPr>
        <p:spPr bwMode="auto">
          <a:xfrm>
            <a:off x="7094538" y="4676775"/>
            <a:ext cx="152400" cy="179388"/>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3">
            <a:extLst>
              <a:ext uri="{FF2B5EF4-FFF2-40B4-BE49-F238E27FC236}">
                <a16:creationId xmlns:a16="http://schemas.microsoft.com/office/drawing/2014/main" xmlns="" id="{C44C5CC4-F21A-4C0F-875E-43907342E7A7}"/>
              </a:ext>
            </a:extLst>
          </p:cNvPr>
          <p:cNvSpPr>
            <a:spLocks noChangeArrowheads="1"/>
          </p:cNvSpPr>
          <p:nvPr/>
        </p:nvSpPr>
        <p:spPr bwMode="auto">
          <a:xfrm>
            <a:off x="7018338" y="4794250"/>
            <a:ext cx="171450" cy="142875"/>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4">
            <a:extLst>
              <a:ext uri="{FF2B5EF4-FFF2-40B4-BE49-F238E27FC236}">
                <a16:creationId xmlns:a16="http://schemas.microsoft.com/office/drawing/2014/main" xmlns="" id="{778C8FFC-A32B-4CCA-8A70-0807EF721DB4}"/>
              </a:ext>
            </a:extLst>
          </p:cNvPr>
          <p:cNvSpPr>
            <a:spLocks noChangeArrowheads="1"/>
          </p:cNvSpPr>
          <p:nvPr/>
        </p:nvSpPr>
        <p:spPr bwMode="auto">
          <a:xfrm>
            <a:off x="7192963" y="4503738"/>
            <a:ext cx="1493837" cy="35242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5">
            <a:extLst>
              <a:ext uri="{FF2B5EF4-FFF2-40B4-BE49-F238E27FC236}">
                <a16:creationId xmlns:a16="http://schemas.microsoft.com/office/drawing/2014/main" xmlns="" id="{BABAA874-2E54-4C3F-84E3-1BCC5729F79A}"/>
              </a:ext>
            </a:extLst>
          </p:cNvPr>
          <p:cNvSpPr>
            <a:spLocks noChangeArrowheads="1"/>
          </p:cNvSpPr>
          <p:nvPr/>
        </p:nvSpPr>
        <p:spPr bwMode="auto">
          <a:xfrm>
            <a:off x="7529513" y="3384550"/>
            <a:ext cx="909637" cy="1131888"/>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6">
            <a:extLst>
              <a:ext uri="{FF2B5EF4-FFF2-40B4-BE49-F238E27FC236}">
                <a16:creationId xmlns:a16="http://schemas.microsoft.com/office/drawing/2014/main" xmlns="" id="{34D7C0CC-2DA1-4D77-A0C7-0DE9177F6069}"/>
              </a:ext>
            </a:extLst>
          </p:cNvPr>
          <p:cNvSpPr>
            <a:spLocks noChangeArrowheads="1"/>
          </p:cNvSpPr>
          <p:nvPr/>
        </p:nvSpPr>
        <p:spPr bwMode="auto">
          <a:xfrm>
            <a:off x="8382000" y="3659188"/>
            <a:ext cx="1541463" cy="3683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50">
            <a:extLst>
              <a:ext uri="{FF2B5EF4-FFF2-40B4-BE49-F238E27FC236}">
                <a16:creationId xmlns:a16="http://schemas.microsoft.com/office/drawing/2014/main" xmlns="" id="{6D9A3AAD-6D8A-45A0-AEFF-A8702CAC190D}"/>
              </a:ext>
            </a:extLst>
          </p:cNvPr>
          <p:cNvSpPr>
            <a:spLocks noEditPoints="1" noChangeArrowheads="1"/>
          </p:cNvSpPr>
          <p:nvPr/>
        </p:nvSpPr>
        <p:spPr bwMode="auto">
          <a:xfrm>
            <a:off x="9444038" y="273843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1">
            <a:extLst>
              <a:ext uri="{FF2B5EF4-FFF2-40B4-BE49-F238E27FC236}">
                <a16:creationId xmlns:a16="http://schemas.microsoft.com/office/drawing/2014/main" xmlns="" id="{DC69D04C-0CA7-4D0E-8BE8-424D09A6A652}"/>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2">
            <a:extLst>
              <a:ext uri="{FF2B5EF4-FFF2-40B4-BE49-F238E27FC236}">
                <a16:creationId xmlns:a16="http://schemas.microsoft.com/office/drawing/2014/main" xmlns="" id="{49345F0D-FBD5-450B-8D59-13A91F51CC89}"/>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3">
            <a:extLst>
              <a:ext uri="{FF2B5EF4-FFF2-40B4-BE49-F238E27FC236}">
                <a16:creationId xmlns:a16="http://schemas.microsoft.com/office/drawing/2014/main" xmlns="" id="{CA10216E-F4D0-41F8-87EA-B91FA1586C51}"/>
              </a:ext>
            </a:extLst>
          </p:cNvPr>
          <p:cNvSpPr>
            <a:spLocks noEditPoints="1" noChangeArrowheads="1"/>
          </p:cNvSpPr>
          <p:nvPr/>
        </p:nvSpPr>
        <p:spPr bwMode="auto">
          <a:xfrm>
            <a:off x="9975850" y="3741738"/>
            <a:ext cx="436563" cy="155575"/>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7">
            <a:extLst>
              <a:ext uri="{FF2B5EF4-FFF2-40B4-BE49-F238E27FC236}">
                <a16:creationId xmlns:a16="http://schemas.microsoft.com/office/drawing/2014/main" xmlns="" id="{C47C0E1E-6B82-46D4-8A5F-4BDAA17D90F0}"/>
              </a:ext>
            </a:extLst>
          </p:cNvPr>
          <p:cNvSpPr>
            <a:spLocks noChangeArrowheads="1"/>
          </p:cNvSpPr>
          <p:nvPr/>
        </p:nvSpPr>
        <p:spPr bwMode="auto">
          <a:xfrm>
            <a:off x="9436100" y="2741613"/>
            <a:ext cx="3175"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8">
            <a:extLst>
              <a:ext uri="{FF2B5EF4-FFF2-40B4-BE49-F238E27FC236}">
                <a16:creationId xmlns:a16="http://schemas.microsoft.com/office/drawing/2014/main" xmlns="" id="{CD37B47C-BEF0-40D7-9A1B-A0D3212F0135}"/>
              </a:ext>
            </a:extLst>
          </p:cNvPr>
          <p:cNvSpPr>
            <a:spLocks noChangeArrowheads="1"/>
          </p:cNvSpPr>
          <p:nvPr/>
        </p:nvSpPr>
        <p:spPr bwMode="auto">
          <a:xfrm>
            <a:off x="9436100" y="2733675"/>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9">
            <a:extLst>
              <a:ext uri="{FF2B5EF4-FFF2-40B4-BE49-F238E27FC236}">
                <a16:creationId xmlns:a16="http://schemas.microsoft.com/office/drawing/2014/main" xmlns="" id="{843A9F59-04DE-4D8C-B2FC-5EA650D114D8}"/>
              </a:ext>
            </a:extLst>
          </p:cNvPr>
          <p:cNvSpPr>
            <a:spLocks noChangeArrowheads="1"/>
          </p:cNvSpPr>
          <p:nvPr/>
        </p:nvSpPr>
        <p:spPr bwMode="auto">
          <a:xfrm>
            <a:off x="9436100" y="2730500"/>
            <a:ext cx="992188" cy="1179513"/>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60">
            <a:extLst>
              <a:ext uri="{FF2B5EF4-FFF2-40B4-BE49-F238E27FC236}">
                <a16:creationId xmlns:a16="http://schemas.microsoft.com/office/drawing/2014/main" xmlns="" id="{F2F660B3-C66F-4069-8160-FA6D39A4AA9C}"/>
              </a:ext>
            </a:extLst>
          </p:cNvPr>
          <p:cNvSpPr>
            <a:spLocks noEditPoints="1" noChangeArrowheads="1"/>
          </p:cNvSpPr>
          <p:nvPr/>
        </p:nvSpPr>
        <p:spPr bwMode="auto">
          <a:xfrm>
            <a:off x="9436100" y="2738438"/>
            <a:ext cx="7938" cy="3175"/>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4">
            <a:extLst>
              <a:ext uri="{FF2B5EF4-FFF2-40B4-BE49-F238E27FC236}">
                <a16:creationId xmlns:a16="http://schemas.microsoft.com/office/drawing/2014/main" xmlns="" id="{5E578A77-50F6-40CA-9909-4C1F5999004D}"/>
              </a:ext>
            </a:extLst>
          </p:cNvPr>
          <p:cNvSpPr>
            <a:spLocks noEditPoints="1" noChangeArrowheads="1"/>
          </p:cNvSpPr>
          <p:nvPr/>
        </p:nvSpPr>
        <p:spPr bwMode="auto">
          <a:xfrm>
            <a:off x="9444038" y="2738438"/>
            <a:ext cx="968375" cy="11826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72">
            <a:extLst>
              <a:ext uri="{FF2B5EF4-FFF2-40B4-BE49-F238E27FC236}">
                <a16:creationId xmlns:a16="http://schemas.microsoft.com/office/drawing/2014/main" xmlns="" id="{EDCF4CBF-0E29-4753-912C-649CCE95C511}"/>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3">
            <a:extLst>
              <a:ext uri="{FF2B5EF4-FFF2-40B4-BE49-F238E27FC236}">
                <a16:creationId xmlns:a16="http://schemas.microsoft.com/office/drawing/2014/main" xmlns="" id="{0096B257-3E0B-4250-9C13-ACB89DE631ED}"/>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4">
            <a:extLst>
              <a:ext uri="{FF2B5EF4-FFF2-40B4-BE49-F238E27FC236}">
                <a16:creationId xmlns:a16="http://schemas.microsoft.com/office/drawing/2014/main" xmlns="" id="{FDF4A16E-FF3D-4B48-9CAC-B7245AA4972A}"/>
              </a:ext>
            </a:extLst>
          </p:cNvPr>
          <p:cNvSpPr>
            <a:spLocks noEditPoints="1" noChangeArrowheads="1"/>
          </p:cNvSpPr>
          <p:nvPr/>
        </p:nvSpPr>
        <p:spPr bwMode="auto">
          <a:xfrm>
            <a:off x="8743950" y="4452938"/>
            <a:ext cx="433388"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95">
            <a:extLst>
              <a:ext uri="{FF2B5EF4-FFF2-40B4-BE49-F238E27FC236}">
                <a16:creationId xmlns:a16="http://schemas.microsoft.com/office/drawing/2014/main" xmlns="" id="{0FF9BE0F-759D-4F7B-8EB1-E83813E2AAB6}"/>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6">
            <a:extLst>
              <a:ext uri="{FF2B5EF4-FFF2-40B4-BE49-F238E27FC236}">
                <a16:creationId xmlns:a16="http://schemas.microsoft.com/office/drawing/2014/main" xmlns="" id="{77BFB1EA-368C-448C-BEA7-F400B5541498}"/>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7">
            <a:extLst>
              <a:ext uri="{FF2B5EF4-FFF2-40B4-BE49-F238E27FC236}">
                <a16:creationId xmlns:a16="http://schemas.microsoft.com/office/drawing/2014/main" xmlns="" id="{37338B3D-4D3C-4BC3-90CC-D5ABCA8B829F}"/>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8">
            <a:extLst>
              <a:ext uri="{FF2B5EF4-FFF2-40B4-BE49-F238E27FC236}">
                <a16:creationId xmlns:a16="http://schemas.microsoft.com/office/drawing/2014/main" xmlns="" id="{D3BEFF67-5D01-46EE-805B-4DDEDA44AC62}"/>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68">
            <a:extLst>
              <a:ext uri="{FF2B5EF4-FFF2-40B4-BE49-F238E27FC236}">
                <a16:creationId xmlns:a16="http://schemas.microsoft.com/office/drawing/2014/main" xmlns="" id="{0B960C00-8AF9-4DB8-B225-2F0270499866}"/>
              </a:ext>
            </a:extLst>
          </p:cNvPr>
          <p:cNvSpPr>
            <a:spLocks noChangeArrowheads="1"/>
          </p:cNvSpPr>
          <p:nvPr/>
        </p:nvSpPr>
        <p:spPr bwMode="auto">
          <a:xfrm>
            <a:off x="8201025" y="3417888"/>
            <a:ext cx="1038225" cy="12207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9">
            <a:extLst>
              <a:ext uri="{FF2B5EF4-FFF2-40B4-BE49-F238E27FC236}">
                <a16:creationId xmlns:a16="http://schemas.microsoft.com/office/drawing/2014/main" xmlns="" id="{2D024091-F83B-4ED2-81D3-22C831574F85}"/>
              </a:ext>
            </a:extLst>
          </p:cNvPr>
          <p:cNvSpPr>
            <a:spLocks noEditPoints="1" noChangeArrowheads="1"/>
          </p:cNvSpPr>
          <p:nvPr/>
        </p:nvSpPr>
        <p:spPr bwMode="auto">
          <a:xfrm>
            <a:off x="8201025" y="3417888"/>
            <a:ext cx="1038225" cy="12207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70">
            <a:extLst>
              <a:ext uri="{FF2B5EF4-FFF2-40B4-BE49-F238E27FC236}">
                <a16:creationId xmlns:a16="http://schemas.microsoft.com/office/drawing/2014/main" xmlns="" id="{58AF1531-15EE-4560-B2CC-C0630DE3BC23}"/>
              </a:ext>
            </a:extLst>
          </p:cNvPr>
          <p:cNvSpPr>
            <a:spLocks noChangeArrowheads="1"/>
          </p:cNvSpPr>
          <p:nvPr/>
        </p:nvSpPr>
        <p:spPr bwMode="auto">
          <a:xfrm>
            <a:off x="8189913" y="3441700"/>
            <a:ext cx="987425"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1">
            <a:extLst>
              <a:ext uri="{FF2B5EF4-FFF2-40B4-BE49-F238E27FC236}">
                <a16:creationId xmlns:a16="http://schemas.microsoft.com/office/drawing/2014/main" xmlns="" id="{F2056664-D23D-4A4C-8F1C-18A44ADE438E}"/>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5">
            <a:extLst>
              <a:ext uri="{FF2B5EF4-FFF2-40B4-BE49-F238E27FC236}">
                <a16:creationId xmlns:a16="http://schemas.microsoft.com/office/drawing/2014/main" xmlns="" id="{F48EE775-7ED0-4436-BA2B-609D380BE4F1}"/>
              </a:ext>
            </a:extLst>
          </p:cNvPr>
          <p:cNvSpPr>
            <a:spLocks noChangeArrowheads="1"/>
          </p:cNvSpPr>
          <p:nvPr/>
        </p:nvSpPr>
        <p:spPr bwMode="auto">
          <a:xfrm>
            <a:off x="8175625" y="3460750"/>
            <a:ext cx="976313"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8">
            <a:extLst>
              <a:ext uri="{FF2B5EF4-FFF2-40B4-BE49-F238E27FC236}">
                <a16:creationId xmlns:a16="http://schemas.microsoft.com/office/drawing/2014/main" xmlns="" id="{58C5F8D6-C538-4720-9D50-DEB0732D622E}"/>
              </a:ext>
            </a:extLst>
          </p:cNvPr>
          <p:cNvSpPr>
            <a:spLocks noChangeArrowheads="1"/>
          </p:cNvSpPr>
          <p:nvPr/>
        </p:nvSpPr>
        <p:spPr bwMode="auto">
          <a:xfrm>
            <a:off x="8201025" y="3451225"/>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9">
            <a:extLst>
              <a:ext uri="{FF2B5EF4-FFF2-40B4-BE49-F238E27FC236}">
                <a16:creationId xmlns:a16="http://schemas.microsoft.com/office/drawing/2014/main" xmlns="" id="{6494ACA9-4F77-4F46-AEC6-70438F50D835}"/>
              </a:ext>
            </a:extLst>
          </p:cNvPr>
          <p:cNvSpPr>
            <a:spLocks noChangeArrowheads="1"/>
          </p:cNvSpPr>
          <p:nvPr/>
        </p:nvSpPr>
        <p:spPr bwMode="auto">
          <a:xfrm>
            <a:off x="8201025" y="3446463"/>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80">
            <a:extLst>
              <a:ext uri="{FF2B5EF4-FFF2-40B4-BE49-F238E27FC236}">
                <a16:creationId xmlns:a16="http://schemas.microsoft.com/office/drawing/2014/main" xmlns="" id="{92EB9724-3689-4D2F-958E-87C1632CB898}"/>
              </a:ext>
            </a:extLst>
          </p:cNvPr>
          <p:cNvSpPr>
            <a:spLocks noChangeArrowheads="1"/>
          </p:cNvSpPr>
          <p:nvPr/>
        </p:nvSpPr>
        <p:spPr bwMode="auto">
          <a:xfrm>
            <a:off x="8201025" y="3441700"/>
            <a:ext cx="995363"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1">
            <a:extLst>
              <a:ext uri="{FF2B5EF4-FFF2-40B4-BE49-F238E27FC236}">
                <a16:creationId xmlns:a16="http://schemas.microsoft.com/office/drawing/2014/main" xmlns="" id="{26E331AE-1E17-4526-865B-45995F2A04B8}"/>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Rectangle 182">
            <a:extLst>
              <a:ext uri="{FF2B5EF4-FFF2-40B4-BE49-F238E27FC236}">
                <a16:creationId xmlns:a16="http://schemas.microsoft.com/office/drawing/2014/main" xmlns="" id="{79BA8D2E-D375-4FC4-A7EF-8367FC4F9EF2}"/>
              </a:ext>
            </a:extLst>
          </p:cNvPr>
          <p:cNvSpPr>
            <a:spLocks noChangeArrowheads="1"/>
          </p:cNvSpPr>
          <p:nvPr/>
        </p:nvSpPr>
        <p:spPr bwMode="auto">
          <a:xfrm>
            <a:off x="8201025" y="3455988"/>
            <a:ext cx="1588"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4" name="Freeform 183">
            <a:extLst>
              <a:ext uri="{FF2B5EF4-FFF2-40B4-BE49-F238E27FC236}">
                <a16:creationId xmlns:a16="http://schemas.microsoft.com/office/drawing/2014/main" xmlns="" id="{5E30F9DC-C719-47DA-A7D0-6E14FF66FFD9}"/>
              </a:ext>
            </a:extLst>
          </p:cNvPr>
          <p:cNvSpPr>
            <a:spLocks noChangeArrowheads="1"/>
          </p:cNvSpPr>
          <p:nvPr/>
        </p:nvSpPr>
        <p:spPr bwMode="auto">
          <a:xfrm>
            <a:off x="8201025" y="345598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Freeform 186">
            <a:extLst>
              <a:ext uri="{FF2B5EF4-FFF2-40B4-BE49-F238E27FC236}">
                <a16:creationId xmlns:a16="http://schemas.microsoft.com/office/drawing/2014/main" xmlns="" id="{6C437F70-D115-4E2C-AD55-6A1B2801BB99}"/>
              </a:ext>
            </a:extLst>
          </p:cNvPr>
          <p:cNvSpPr>
            <a:spLocks noChangeArrowheads="1"/>
          </p:cNvSpPr>
          <p:nvPr/>
        </p:nvSpPr>
        <p:spPr bwMode="auto">
          <a:xfrm>
            <a:off x="8208963" y="3446463"/>
            <a:ext cx="984250" cy="11890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7">
            <a:extLst>
              <a:ext uri="{FF2B5EF4-FFF2-40B4-BE49-F238E27FC236}">
                <a16:creationId xmlns:a16="http://schemas.microsoft.com/office/drawing/2014/main" xmlns="" id="{64B5063B-6199-4326-ACC8-95137C45B6A3}"/>
              </a:ext>
            </a:extLst>
          </p:cNvPr>
          <p:cNvSpPr>
            <a:spLocks noEditPoints="1" noChangeArrowheads="1"/>
          </p:cNvSpPr>
          <p:nvPr/>
        </p:nvSpPr>
        <p:spPr bwMode="auto">
          <a:xfrm>
            <a:off x="8208963" y="3451225"/>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209">
            <a:extLst>
              <a:ext uri="{FF2B5EF4-FFF2-40B4-BE49-F238E27FC236}">
                <a16:creationId xmlns:a16="http://schemas.microsoft.com/office/drawing/2014/main" xmlns="" id="{1ED1DD6C-3E4B-408C-BD16-030FDA879F28}"/>
              </a:ext>
            </a:extLst>
          </p:cNvPr>
          <p:cNvSpPr>
            <a:spLocks noEditPoints="1" noChangeArrowheads="1"/>
          </p:cNvSpPr>
          <p:nvPr/>
        </p:nvSpPr>
        <p:spPr bwMode="auto">
          <a:xfrm>
            <a:off x="8923338" y="3463925"/>
            <a:ext cx="15875" cy="26988"/>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17">
            <a:extLst>
              <a:ext uri="{FF2B5EF4-FFF2-40B4-BE49-F238E27FC236}">
                <a16:creationId xmlns:a16="http://schemas.microsoft.com/office/drawing/2014/main" xmlns="" id="{C1687EDF-7A9B-4F2D-A05B-AD10A5C5BAEE}"/>
              </a:ext>
            </a:extLst>
          </p:cNvPr>
          <p:cNvSpPr>
            <a:spLocks noChangeArrowheads="1"/>
          </p:cNvSpPr>
          <p:nvPr/>
        </p:nvSpPr>
        <p:spPr bwMode="auto">
          <a:xfrm>
            <a:off x="8231188" y="2722563"/>
            <a:ext cx="122237" cy="179387"/>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8">
            <a:extLst>
              <a:ext uri="{FF2B5EF4-FFF2-40B4-BE49-F238E27FC236}">
                <a16:creationId xmlns:a16="http://schemas.microsoft.com/office/drawing/2014/main" xmlns="" id="{72D2F478-4CDD-4028-AD16-9A931BF1D2B4}"/>
              </a:ext>
            </a:extLst>
          </p:cNvPr>
          <p:cNvSpPr>
            <a:spLocks noChangeArrowheads="1"/>
          </p:cNvSpPr>
          <p:nvPr/>
        </p:nvSpPr>
        <p:spPr bwMode="auto">
          <a:xfrm>
            <a:off x="8382000" y="2806700"/>
            <a:ext cx="122238" cy="18573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9">
            <a:extLst>
              <a:ext uri="{FF2B5EF4-FFF2-40B4-BE49-F238E27FC236}">
                <a16:creationId xmlns:a16="http://schemas.microsoft.com/office/drawing/2014/main" xmlns="" id="{18008606-BD32-46B2-BCD2-F0BBB4821A75}"/>
              </a:ext>
            </a:extLst>
          </p:cNvPr>
          <p:cNvSpPr>
            <a:spLocks noChangeArrowheads="1"/>
          </p:cNvSpPr>
          <p:nvPr/>
        </p:nvSpPr>
        <p:spPr bwMode="auto">
          <a:xfrm>
            <a:off x="8531225" y="2894013"/>
            <a:ext cx="122238" cy="18573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1" name="组合 207">
            <a:extLst>
              <a:ext uri="{FF2B5EF4-FFF2-40B4-BE49-F238E27FC236}">
                <a16:creationId xmlns:a16="http://schemas.microsoft.com/office/drawing/2014/main" xmlns="" id="{2112BA41-5450-4091-A7EC-1F09CA708324}"/>
              </a:ext>
            </a:extLst>
          </p:cNvPr>
          <p:cNvGrpSpPr>
            <a:grpSpLocks/>
          </p:cNvGrpSpPr>
          <p:nvPr/>
        </p:nvGrpSpPr>
        <p:grpSpPr bwMode="auto">
          <a:xfrm>
            <a:off x="9423400" y="2714625"/>
            <a:ext cx="1063625" cy="1231900"/>
            <a:chOff x="5332731" y="3343275"/>
            <a:chExt cx="855345" cy="992188"/>
          </a:xfrm>
        </p:grpSpPr>
        <p:sp>
          <p:nvSpPr>
            <p:cNvPr id="92" name="Freeform 168">
              <a:extLst>
                <a:ext uri="{FF2B5EF4-FFF2-40B4-BE49-F238E27FC236}">
                  <a16:creationId xmlns:a16="http://schemas.microsoft.com/office/drawing/2014/main" xmlns="" id="{D28C4D78-91DA-4AB5-9C87-639CA27589A4}"/>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9">
              <a:extLst>
                <a:ext uri="{FF2B5EF4-FFF2-40B4-BE49-F238E27FC236}">
                  <a16:creationId xmlns:a16="http://schemas.microsoft.com/office/drawing/2014/main" xmlns="" id="{B5DD6C6C-1837-44F6-B91C-8302D2A5BA31}"/>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70">
              <a:extLst>
                <a:ext uri="{FF2B5EF4-FFF2-40B4-BE49-F238E27FC236}">
                  <a16:creationId xmlns:a16="http://schemas.microsoft.com/office/drawing/2014/main" xmlns="" id="{C2584B54-CC5F-4A5F-AE67-36D93EA5C3F8}"/>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1">
              <a:extLst>
                <a:ext uri="{FF2B5EF4-FFF2-40B4-BE49-F238E27FC236}">
                  <a16:creationId xmlns:a16="http://schemas.microsoft.com/office/drawing/2014/main" xmlns="" id="{F1AA8B4F-F6C0-440C-8404-C4E151FFC422}"/>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5">
              <a:extLst>
                <a:ext uri="{FF2B5EF4-FFF2-40B4-BE49-F238E27FC236}">
                  <a16:creationId xmlns:a16="http://schemas.microsoft.com/office/drawing/2014/main" xmlns="" id="{B7125E28-3A03-48AB-B669-5A45B780DA09}"/>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8">
              <a:extLst>
                <a:ext uri="{FF2B5EF4-FFF2-40B4-BE49-F238E27FC236}">
                  <a16:creationId xmlns:a16="http://schemas.microsoft.com/office/drawing/2014/main" xmlns="" id="{1A3E7CB4-3981-4480-9237-99C0C5988C6B}"/>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9">
              <a:extLst>
                <a:ext uri="{FF2B5EF4-FFF2-40B4-BE49-F238E27FC236}">
                  <a16:creationId xmlns:a16="http://schemas.microsoft.com/office/drawing/2014/main" xmlns="" id="{E62C92E3-A523-4D2C-A019-6D03F903B6BB}"/>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80">
              <a:extLst>
                <a:ext uri="{FF2B5EF4-FFF2-40B4-BE49-F238E27FC236}">
                  <a16:creationId xmlns:a16="http://schemas.microsoft.com/office/drawing/2014/main" xmlns="" id="{032D310C-E207-4135-ADD4-AF998E37935B}"/>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1">
              <a:extLst>
                <a:ext uri="{FF2B5EF4-FFF2-40B4-BE49-F238E27FC236}">
                  <a16:creationId xmlns:a16="http://schemas.microsoft.com/office/drawing/2014/main" xmlns="" id="{5579F719-BED4-4738-ABCA-48A4311880F7}"/>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Rectangle 182">
              <a:extLst>
                <a:ext uri="{FF2B5EF4-FFF2-40B4-BE49-F238E27FC236}">
                  <a16:creationId xmlns:a16="http://schemas.microsoft.com/office/drawing/2014/main" xmlns="" id="{86EA70A5-FAAF-41F2-A551-65F490A76416}"/>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 name="Freeform 183">
              <a:extLst>
                <a:ext uri="{FF2B5EF4-FFF2-40B4-BE49-F238E27FC236}">
                  <a16:creationId xmlns:a16="http://schemas.microsoft.com/office/drawing/2014/main" xmlns="" id="{1AD9D5C3-FC81-4BEA-8F62-36932FCF3E54}"/>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 name="Freeform 186">
              <a:extLst>
                <a:ext uri="{FF2B5EF4-FFF2-40B4-BE49-F238E27FC236}">
                  <a16:creationId xmlns:a16="http://schemas.microsoft.com/office/drawing/2014/main" xmlns="" id="{36294BE5-D9C4-4EAB-BE9B-E8FF7D3BFA52}"/>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7">
              <a:extLst>
                <a:ext uri="{FF2B5EF4-FFF2-40B4-BE49-F238E27FC236}">
                  <a16:creationId xmlns:a16="http://schemas.microsoft.com/office/drawing/2014/main" xmlns="" id="{CA21D5A8-FBA6-418E-8DC7-8B926B9B0B04}"/>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209">
              <a:extLst>
                <a:ext uri="{FF2B5EF4-FFF2-40B4-BE49-F238E27FC236}">
                  <a16:creationId xmlns:a16="http://schemas.microsoft.com/office/drawing/2014/main" xmlns="" id="{BE8E7A51-1B94-46EA-ACEA-4B178E9EE24B}"/>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6" name="Freeform 168">
            <a:extLst>
              <a:ext uri="{FF2B5EF4-FFF2-40B4-BE49-F238E27FC236}">
                <a16:creationId xmlns:a16="http://schemas.microsoft.com/office/drawing/2014/main" xmlns="" id="{8BD3E2AD-B03D-4FDE-83C2-16AA9BF21B5D}"/>
              </a:ext>
            </a:extLst>
          </p:cNvPr>
          <p:cNvSpPr>
            <a:spLocks noChangeArrowheads="1"/>
          </p:cNvSpPr>
          <p:nvPr/>
        </p:nvSpPr>
        <p:spPr bwMode="auto">
          <a:xfrm>
            <a:off x="7970838" y="2276475"/>
            <a:ext cx="1036637" cy="1220788"/>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9">
            <a:extLst>
              <a:ext uri="{FF2B5EF4-FFF2-40B4-BE49-F238E27FC236}">
                <a16:creationId xmlns:a16="http://schemas.microsoft.com/office/drawing/2014/main" xmlns="" id="{67ED112B-E648-428C-8FF4-12B3CC9B554D}"/>
              </a:ext>
            </a:extLst>
          </p:cNvPr>
          <p:cNvSpPr>
            <a:spLocks noEditPoints="1" noChangeArrowheads="1"/>
          </p:cNvSpPr>
          <p:nvPr/>
        </p:nvSpPr>
        <p:spPr bwMode="auto">
          <a:xfrm>
            <a:off x="7970838" y="2276475"/>
            <a:ext cx="1036637" cy="1220788"/>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70">
            <a:extLst>
              <a:ext uri="{FF2B5EF4-FFF2-40B4-BE49-F238E27FC236}">
                <a16:creationId xmlns:a16="http://schemas.microsoft.com/office/drawing/2014/main" xmlns="" id="{FEA53336-BAF1-480B-A7FB-594F99D60E7B}"/>
              </a:ext>
            </a:extLst>
          </p:cNvPr>
          <p:cNvSpPr>
            <a:spLocks noChangeArrowheads="1"/>
          </p:cNvSpPr>
          <p:nvPr/>
        </p:nvSpPr>
        <p:spPr bwMode="auto">
          <a:xfrm>
            <a:off x="7958138" y="2300288"/>
            <a:ext cx="989012"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1">
            <a:extLst>
              <a:ext uri="{FF2B5EF4-FFF2-40B4-BE49-F238E27FC236}">
                <a16:creationId xmlns:a16="http://schemas.microsoft.com/office/drawing/2014/main" xmlns="" id="{3ECB9440-F5F1-4174-ACC8-4212F5F4FF0F}"/>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5">
            <a:extLst>
              <a:ext uri="{FF2B5EF4-FFF2-40B4-BE49-F238E27FC236}">
                <a16:creationId xmlns:a16="http://schemas.microsoft.com/office/drawing/2014/main" xmlns="" id="{F133A2C5-3374-497A-8DAE-8E9B4405E46E}"/>
              </a:ext>
            </a:extLst>
          </p:cNvPr>
          <p:cNvSpPr>
            <a:spLocks noChangeArrowheads="1"/>
          </p:cNvSpPr>
          <p:nvPr/>
        </p:nvSpPr>
        <p:spPr bwMode="auto">
          <a:xfrm>
            <a:off x="7945438" y="2319338"/>
            <a:ext cx="976312"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8">
            <a:extLst>
              <a:ext uri="{FF2B5EF4-FFF2-40B4-BE49-F238E27FC236}">
                <a16:creationId xmlns:a16="http://schemas.microsoft.com/office/drawing/2014/main" xmlns="" id="{5CB13AD1-93F1-48BF-8F17-5EB3AE38FE78}"/>
              </a:ext>
            </a:extLst>
          </p:cNvPr>
          <p:cNvSpPr>
            <a:spLocks noChangeArrowheads="1"/>
          </p:cNvSpPr>
          <p:nvPr/>
        </p:nvSpPr>
        <p:spPr bwMode="auto">
          <a:xfrm>
            <a:off x="7970838" y="2309813"/>
            <a:ext cx="3175"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9">
            <a:extLst>
              <a:ext uri="{FF2B5EF4-FFF2-40B4-BE49-F238E27FC236}">
                <a16:creationId xmlns:a16="http://schemas.microsoft.com/office/drawing/2014/main" xmlns="" id="{B542772D-790A-4084-8152-4D470C6CF24F}"/>
              </a:ext>
            </a:extLst>
          </p:cNvPr>
          <p:cNvSpPr>
            <a:spLocks noChangeArrowheads="1"/>
          </p:cNvSpPr>
          <p:nvPr/>
        </p:nvSpPr>
        <p:spPr bwMode="auto">
          <a:xfrm>
            <a:off x="7970838" y="2305050"/>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80">
            <a:extLst>
              <a:ext uri="{FF2B5EF4-FFF2-40B4-BE49-F238E27FC236}">
                <a16:creationId xmlns:a16="http://schemas.microsoft.com/office/drawing/2014/main" xmlns="" id="{07638C50-1674-4D53-9F8A-2068BD384951}"/>
              </a:ext>
            </a:extLst>
          </p:cNvPr>
          <p:cNvSpPr>
            <a:spLocks noChangeArrowheads="1"/>
          </p:cNvSpPr>
          <p:nvPr/>
        </p:nvSpPr>
        <p:spPr bwMode="auto">
          <a:xfrm>
            <a:off x="7970838" y="2300288"/>
            <a:ext cx="995362"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1">
            <a:extLst>
              <a:ext uri="{FF2B5EF4-FFF2-40B4-BE49-F238E27FC236}">
                <a16:creationId xmlns:a16="http://schemas.microsoft.com/office/drawing/2014/main" xmlns="" id="{AD7E9935-1058-4CBB-9CC0-9FC49B000E01}"/>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Rectangle 182">
            <a:extLst>
              <a:ext uri="{FF2B5EF4-FFF2-40B4-BE49-F238E27FC236}">
                <a16:creationId xmlns:a16="http://schemas.microsoft.com/office/drawing/2014/main" xmlns="" id="{35CF0C0D-BD1C-4F0C-8A49-508DC077AE63}"/>
              </a:ext>
            </a:extLst>
          </p:cNvPr>
          <p:cNvSpPr>
            <a:spLocks noChangeArrowheads="1"/>
          </p:cNvSpPr>
          <p:nvPr/>
        </p:nvSpPr>
        <p:spPr bwMode="auto">
          <a:xfrm>
            <a:off x="7970838" y="2314575"/>
            <a:ext cx="1587"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 name="Freeform 183">
            <a:extLst>
              <a:ext uri="{FF2B5EF4-FFF2-40B4-BE49-F238E27FC236}">
                <a16:creationId xmlns:a16="http://schemas.microsoft.com/office/drawing/2014/main" xmlns="" id="{5092FAE1-A83A-48AD-B078-4A5847376C6E}"/>
              </a:ext>
            </a:extLst>
          </p:cNvPr>
          <p:cNvSpPr>
            <a:spLocks noChangeArrowheads="1"/>
          </p:cNvSpPr>
          <p:nvPr/>
        </p:nvSpPr>
        <p:spPr bwMode="auto">
          <a:xfrm>
            <a:off x="7970838" y="23145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7" name="Freeform 186">
            <a:extLst>
              <a:ext uri="{FF2B5EF4-FFF2-40B4-BE49-F238E27FC236}">
                <a16:creationId xmlns:a16="http://schemas.microsoft.com/office/drawing/2014/main" xmlns="" id="{2FE2FBF3-8C57-434A-8D44-A919843F2EA7}"/>
              </a:ext>
            </a:extLst>
          </p:cNvPr>
          <p:cNvSpPr>
            <a:spLocks noChangeArrowheads="1"/>
          </p:cNvSpPr>
          <p:nvPr/>
        </p:nvSpPr>
        <p:spPr bwMode="auto">
          <a:xfrm>
            <a:off x="7978775" y="2305050"/>
            <a:ext cx="984250" cy="11890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7">
            <a:extLst>
              <a:ext uri="{FF2B5EF4-FFF2-40B4-BE49-F238E27FC236}">
                <a16:creationId xmlns:a16="http://schemas.microsoft.com/office/drawing/2014/main" xmlns="" id="{2C6B7A3C-415D-4C97-BC34-CF95A4F8A1B8}"/>
              </a:ext>
            </a:extLst>
          </p:cNvPr>
          <p:cNvSpPr>
            <a:spLocks noEditPoints="1" noChangeArrowheads="1"/>
          </p:cNvSpPr>
          <p:nvPr/>
        </p:nvSpPr>
        <p:spPr bwMode="auto">
          <a:xfrm>
            <a:off x="7978775" y="2309813"/>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209">
            <a:extLst>
              <a:ext uri="{FF2B5EF4-FFF2-40B4-BE49-F238E27FC236}">
                <a16:creationId xmlns:a16="http://schemas.microsoft.com/office/drawing/2014/main" xmlns="" id="{D44F4783-C5E3-43E6-8287-BBFE6E41C05A}"/>
              </a:ext>
            </a:extLst>
          </p:cNvPr>
          <p:cNvSpPr>
            <a:spLocks noEditPoints="1" noChangeArrowheads="1"/>
          </p:cNvSpPr>
          <p:nvPr/>
        </p:nvSpPr>
        <p:spPr bwMode="auto">
          <a:xfrm>
            <a:off x="8691563" y="2322513"/>
            <a:ext cx="15875" cy="26987"/>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increasing-stocks-graphic_38888">
            <a:extLst>
              <a:ext uri="{FF2B5EF4-FFF2-40B4-BE49-F238E27FC236}">
                <a16:creationId xmlns:a16="http://schemas.microsoft.com/office/drawing/2014/main" xmlns="" id="{D8C230C7-6C52-4527-98C1-B1C8AA3BB90A}"/>
              </a:ext>
            </a:extLst>
          </p:cNvPr>
          <p:cNvSpPr>
            <a:spLocks noChangeAspect="1" noChangeArrowheads="1"/>
          </p:cNvSpPr>
          <p:nvPr userDrawn="1"/>
        </p:nvSpPr>
        <p:spPr bwMode="auto">
          <a:xfrm>
            <a:off x="9758363" y="3179763"/>
            <a:ext cx="315912" cy="31115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4725360-A1ED-44FC-8D4E-5B008C3C555A}"/>
              </a:ext>
            </a:extLst>
          </p:cNvPr>
          <p:cNvSpPr>
            <a:spLocks noChangeArrowheads="1"/>
          </p:cNvSpPr>
          <p:nvPr userDrawn="1"/>
        </p:nvSpPr>
        <p:spPr bwMode="auto">
          <a:xfrm>
            <a:off x="8369300" y="3846513"/>
            <a:ext cx="544513" cy="377825"/>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1353EC8B-61D1-4F8C-BEDB-A596757A5A88}"/>
              </a:ext>
            </a:extLst>
          </p:cNvPr>
          <p:cNvSpPr/>
          <p:nvPr userDrawn="1"/>
        </p:nvSpPr>
        <p:spPr bwMode="auto">
          <a:xfrm>
            <a:off x="8234363" y="2692400"/>
            <a:ext cx="347662" cy="4016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20" name="标题 1"/>
          <p:cNvSpPr>
            <a:spLocks noGrp="1"/>
          </p:cNvSpPr>
          <p:nvPr userDrawn="1">
            <p:ph type="title" hasCustomPrompt="1"/>
          </p:nvPr>
        </p:nvSpPr>
        <p:spPr>
          <a:xfrm>
            <a:off x="1344680" y="1738313"/>
            <a:ext cx="5419185" cy="1988965"/>
          </a:xfrm>
        </p:spPr>
        <p:txBody>
          <a:bodyPr>
            <a:noAutofit/>
          </a:bodyPr>
          <a:lstStyle>
            <a:lvl1pPr algn="l">
              <a:defRPr sz="11500" b="1">
                <a:solidFill>
                  <a:schemeClr val="bg1"/>
                </a:solidFill>
                <a:latin typeface="+mn-lt"/>
                <a:cs typeface="Ebrima" panose="02000000000000000000" pitchFamily="2" charset="0"/>
              </a:defRPr>
            </a:lvl1pPr>
          </a:lstStyle>
          <a:p>
            <a:r>
              <a:rPr lang="en-US" altLang="zh-CN" noProof="1"/>
              <a:t>/</a:t>
            </a:r>
            <a:endParaRPr lang="zh-CN" altLang="en-US" noProof="1"/>
          </a:p>
        </p:txBody>
      </p:sp>
      <p:sp>
        <p:nvSpPr>
          <p:cNvPr id="21" name="文本占位符 2"/>
          <p:cNvSpPr>
            <a:spLocks noGrp="1"/>
          </p:cNvSpPr>
          <p:nvPr userDrawn="1">
            <p:ph type="body" idx="1" hasCustomPrompt="1"/>
          </p:nvPr>
        </p:nvSpPr>
        <p:spPr>
          <a:xfrm>
            <a:off x="1345796" y="3727279"/>
            <a:ext cx="5419185" cy="535160"/>
          </a:xfrm>
        </p:spPr>
        <p:txBody>
          <a:bodyPr anchor="ctr" anchorCtr="0">
            <a:normAutofit/>
          </a:bodyPr>
          <a:lstStyle>
            <a:lvl1pPr marL="0" indent="0" algn="l">
              <a:lnSpc>
                <a:spcPct val="100000"/>
              </a:lnSpc>
              <a:buNone/>
              <a:defRPr sz="2800">
                <a:solidFill>
                  <a:schemeClr val="bg1"/>
                </a:solidFill>
                <a:latin typeface="Arial" panose="020B0604020202020204" pitchFamily="34" charset="0"/>
                <a:ea typeface="微软雅黑" panose="020B0503020204020204" pitchFamily="34" charset="-122"/>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Edit Master text </a:t>
            </a:r>
          </a:p>
        </p:txBody>
      </p:sp>
    </p:spTree>
    <p:extLst>
      <p:ext uri="{BB962C8B-B14F-4D97-AF65-F5344CB8AC3E}">
        <p14:creationId xmlns:p14="http://schemas.microsoft.com/office/powerpoint/2010/main" val="148751716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cxnSp>
        <p:nvCxnSpPr>
          <p:cNvPr id="4" name="直接连接符 6">
            <a:extLst>
              <a:ext uri="{FF2B5EF4-FFF2-40B4-BE49-F238E27FC236}">
                <a16:creationId xmlns:a16="http://schemas.microsoft.com/office/drawing/2014/main" xmlns="" id="{C25790C4-96E7-47B2-98D9-A90442BA1067}"/>
              </a:ext>
            </a:extLst>
          </p:cNvPr>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a:xfrm>
            <a:off x="669925" y="0"/>
            <a:ext cx="10850563" cy="925506"/>
          </a:xfrm>
        </p:spPr>
        <p:txBody>
          <a:bodyPr/>
          <a:lstStyle>
            <a:lvl1pPr>
              <a:defRPr/>
            </a:lvl1pPr>
          </a:lstStyle>
          <a:p>
            <a:r>
              <a:rPr lang="zh-CN" altLang="en-US" noProof="1" smtClean="0"/>
              <a:t>单击此处编辑母版标题样式</a:t>
            </a:r>
            <a:endParaRPr lang="zh-CN" altLang="en-US" noProof="1"/>
          </a:p>
        </p:txBody>
      </p:sp>
      <p:sp>
        <p:nvSpPr>
          <p:cNvPr id="8" name="内容占位符 7"/>
          <p:cNvSpPr>
            <a:spLocks noGrp="1"/>
          </p:cNvSpPr>
          <p:nvPr>
            <p:ph sz="quarter" idx="13"/>
          </p:nvPr>
        </p:nvSpPr>
        <p:spPr>
          <a:xfrm>
            <a:off x="669925" y="1130299"/>
            <a:ext cx="10850563" cy="5006975"/>
          </a:xfrm>
        </p:spPr>
        <p:txBody>
          <a:bodyPr/>
          <a:lstStyle>
            <a:lvl1pPr>
              <a:lnSpc>
                <a:spcPct val="125000"/>
              </a:lnSpc>
              <a:defRPr/>
            </a:lvl1pPr>
            <a:lvl2pPr>
              <a:lnSpc>
                <a:spcPct val="125000"/>
              </a:lnSpc>
              <a:defRPr/>
            </a:lvl2pPr>
            <a:lvl3pPr>
              <a:lnSpc>
                <a:spcPct val="125000"/>
              </a:lnSpc>
              <a:defRPr/>
            </a:lvl3pPr>
            <a:lvl4pPr>
              <a:lnSpc>
                <a:spcPct val="125000"/>
              </a:lnSpc>
              <a:defRPr/>
            </a:lvl4pPr>
            <a:lvl5pPr>
              <a:lnSpc>
                <a:spcPct val="125000"/>
              </a:lnSpc>
              <a:defRPr/>
            </a:lvl5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pic>
        <p:nvPicPr>
          <p:cNvPr id="10" name="图片 9">
            <a:extLst>
              <a:ext uri="{FF2B5EF4-FFF2-40B4-BE49-F238E27FC236}">
                <a16:creationId xmlns:a16="http://schemas.microsoft.com/office/drawing/2014/main" xmlns="" id="{B8B0DF5E-9061-4720-BB71-23728B49664F}"/>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4327E7CB-9CE1-4AAA-9E8A-00EA35CC9C0E}"/>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5167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noProof="1" smtClean="0"/>
              <a:t>单击此处编辑母版标题样式</a:t>
            </a:r>
            <a:endParaRPr lang="en-US" noProof="1"/>
          </a:p>
        </p:txBody>
      </p:sp>
      <p:pic>
        <p:nvPicPr>
          <p:cNvPr id="6" name="图片 5">
            <a:extLst>
              <a:ext uri="{FF2B5EF4-FFF2-40B4-BE49-F238E27FC236}">
                <a16:creationId xmlns:a16="http://schemas.microsoft.com/office/drawing/2014/main" xmlns="" id="{4527C82D-DABD-4BD3-B32A-CD466225A13C}"/>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7" name="文本框 6">
            <a:extLst>
              <a:ext uri="{FF2B5EF4-FFF2-40B4-BE49-F238E27FC236}">
                <a16:creationId xmlns:a16="http://schemas.microsoft.com/office/drawing/2014/main" xmlns="" id="{746CFBB3-E2A4-40C3-AD1B-E27C29BCDC02}"/>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805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215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xmlns="" id="{28FE39CA-7A54-4DA1-8DEC-2036FEF5582D}"/>
              </a:ext>
            </a:extLst>
          </p:cNvPr>
          <p:cNvGrpSpPr>
            <a:grpSpLocks/>
          </p:cNvGrpSpPr>
          <p:nvPr userDrawn="1"/>
        </p:nvGrpSpPr>
        <p:grpSpPr bwMode="auto">
          <a:xfrm>
            <a:off x="714375" y="1387475"/>
            <a:ext cx="2623140" cy="4247516"/>
            <a:chOff x="757282" y="1700808"/>
            <a:chExt cx="2623129" cy="4248096"/>
          </a:xfrm>
        </p:grpSpPr>
        <p:grpSp>
          <p:nvGrpSpPr>
            <p:cNvPr id="3" name="2b751056-6b97-492c-b763-340acee7e99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a16="http://schemas.microsoft.com/office/drawing/2014/main" xmlns="" id="{689D706B-B801-4A7E-97C0-CED7C9C74897}"/>
                </a:ext>
              </a:extLst>
            </p:cNvPr>
            <p:cNvGrpSpPr>
              <a:grpSpLocks noChangeAspect="1"/>
            </p:cNvGrpSpPr>
            <p:nvPr/>
          </p:nvGrpSpPr>
          <p:grpSpPr bwMode="auto">
            <a:xfrm>
              <a:off x="757282" y="1700808"/>
              <a:ext cx="2623129" cy="4248096"/>
              <a:chOff x="1175743" y="1700808"/>
              <a:chExt cx="2521145" cy="4248096"/>
            </a:xfrm>
          </p:grpSpPr>
          <p:cxnSp>
            <p:nvCxnSpPr>
              <p:cNvPr id="6" name="直接连接符 5">
                <a:extLst>
                  <a:ext uri="{FF2B5EF4-FFF2-40B4-BE49-F238E27FC236}">
                    <a16:creationId xmlns:a16="http://schemas.microsoft.com/office/drawing/2014/main" xmlns="" id="{14B68020-A78B-4674-A4EC-9191CDE850BD}"/>
                  </a:ext>
                </a:extLst>
              </p:cNvPr>
              <p:cNvCxnSpPr>
                <a:cxnSpLocks noChangeShapeType="1"/>
              </p:cNvCxnSpPr>
              <p:nvPr/>
            </p:nvCxnSpPr>
            <p:spPr bwMode="auto">
              <a:xfrm>
                <a:off x="3696888" y="1780800"/>
                <a:ext cx="0" cy="4168104"/>
              </a:xfrm>
              <a:prstGeom prst="line">
                <a:avLst/>
              </a:prstGeom>
              <a:noFill/>
              <a:ln w="3175">
                <a:solidFill>
                  <a:srgbClr val="BFBFBF"/>
                </a:solidFill>
                <a:round/>
                <a:headEnd/>
                <a:tailEnd/>
              </a:ln>
              <a:extLst>
                <a:ext uri="{909E8E84-426E-40DD-AFC4-6F175D3DCCD1}">
                  <a14:hiddenFill xmlns:a14="http://schemas.microsoft.com/office/drawing/2010/main">
                    <a:noFill/>
                  </a14:hiddenFill>
                </a:ext>
              </a:extLst>
            </p:spPr>
          </p:cxnSp>
          <p:sp>
            <p:nvSpPr>
              <p:cNvPr id="7" name="išľïḋé">
                <a:extLst>
                  <a:ext uri="{FF2B5EF4-FFF2-40B4-BE49-F238E27FC236}">
                    <a16:creationId xmlns:a16="http://schemas.microsoft.com/office/drawing/2014/main" xmlns="" id="{94D24CD7-7253-45D8-843B-80B2009F33E3}"/>
                  </a:ext>
                </a:extLst>
              </p:cNvPr>
              <p:cNvSpPr txBox="1">
                <a:spLocks noChangeArrowheads="1"/>
              </p:cNvSpPr>
              <p:nvPr/>
            </p:nvSpPr>
            <p:spPr bwMode="auto">
              <a:xfrm>
                <a:off x="1175743" y="1700808"/>
                <a:ext cx="2521108"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tr-TR" altLang="zh-CN" sz="2800" b="1" dirty="0">
                    <a:solidFill>
                      <a:schemeClr val="accent1"/>
                    </a:solidFill>
                    <a:sym typeface="Arial" panose="020B0604020202020204" pitchFamily="34" charset="0"/>
                  </a:rPr>
                  <a:t>C</a:t>
                </a:r>
                <a:r>
                  <a:rPr lang="tr-TR" altLang="zh-CN" sz="100" b="1" dirty="0">
                    <a:solidFill>
                      <a:schemeClr val="accent1"/>
                    </a:solidFill>
                    <a:sym typeface="Arial" panose="020B0604020202020204" pitchFamily="34" charset="0"/>
                  </a:rPr>
                  <a:t> </a:t>
                </a:r>
                <a:r>
                  <a:rPr lang="tr-TR" altLang="zh-CN" sz="2800" b="1" dirty="0">
                    <a:solidFill>
                      <a:schemeClr val="accent1"/>
                    </a:solidFill>
                    <a:sym typeface="Arial" panose="020B0604020202020204" pitchFamily="34" charset="0"/>
                  </a:rPr>
                  <a:t>ONTENTS</a:t>
                </a:r>
              </a:p>
            </p:txBody>
          </p:sp>
        </p:grpSp>
        <p:sp>
          <p:nvSpPr>
            <p:cNvPr id="4" name="poetry_91022">
              <a:extLst>
                <a:ext uri="{FF2B5EF4-FFF2-40B4-BE49-F238E27FC236}">
                  <a16:creationId xmlns:a16="http://schemas.microsoft.com/office/drawing/2014/main" xmlns="" id="{0D6BB768-9400-4234-B0A6-052E35682435}"/>
                </a:ext>
              </a:extLst>
            </p:cNvPr>
            <p:cNvSpPr>
              <a:spLocks noChangeAspect="1" noChangeArrowheads="1"/>
            </p:cNvSpPr>
            <p:nvPr/>
          </p:nvSpPr>
          <p:spPr bwMode="auto">
            <a:xfrm>
              <a:off x="2379533" y="5008561"/>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p>
          </p:txBody>
        </p:sp>
      </p:grpSp>
      <p:sp>
        <p:nvSpPr>
          <p:cNvPr id="11" name="内容占位符 10">
            <a:extLst>
              <a:ext uri="{FF2B5EF4-FFF2-40B4-BE49-F238E27FC236}">
                <a16:creationId xmlns:a16="http://schemas.microsoft.com/office/drawing/2014/main" xmlns="" id="{5EFB80EA-1C0D-45B6-A698-96B981D217CF}"/>
              </a:ext>
            </a:extLst>
          </p:cNvPr>
          <p:cNvSpPr>
            <a:spLocks noGrp="1"/>
          </p:cNvSpPr>
          <p:nvPr>
            <p:ph sz="quarter" idx="11"/>
          </p:nvPr>
        </p:nvSpPr>
        <p:spPr>
          <a:xfrm>
            <a:off x="3706832" y="1472484"/>
            <a:ext cx="6816725" cy="4167188"/>
          </a:xfrm>
        </p:spPr>
        <p:txBody>
          <a:bodyPr/>
          <a:lstStyle>
            <a:lvl1pPr marL="342900" indent="-342900">
              <a:lnSpc>
                <a:spcPct val="125000"/>
              </a:lnSpc>
              <a:defRPr kumimoji="0" lang="zh-CN" altLang="en-US" sz="1600" b="1" i="0" u="none" strike="noStrike" kern="1200" cap="none" spc="0" normalizeH="0" baseline="0" dirty="0" smtClean="0">
                <a:ln>
                  <a:noFill/>
                </a:ln>
                <a:solidFill>
                  <a:srgbClr val="000000"/>
                </a:solidFill>
                <a:effectLst/>
                <a:uLnTx/>
                <a:uFillTx/>
                <a:latin typeface="Arial" panose="020B0604020202020204" pitchFamily="34" charset="0"/>
                <a:ea typeface="微软雅黑" panose="020B0503020204020204" pitchFamily="34" charset="-122"/>
                <a:cs typeface="+mn-cs"/>
              </a:defRPr>
            </a:lvl1pPr>
            <a:lvl2pPr marL="800100" indent="-342900">
              <a:lnSpc>
                <a:spcPct val="125000"/>
              </a:lnSpc>
              <a:defRPr kumimoji="0" lang="zh-CN" altLang="en-US" sz="1400" b="0" i="0" u="none" strike="noStrike" kern="1200" cap="none" spc="0" normalizeH="0" baseline="0" dirty="0" smtClean="0">
                <a:ln>
                  <a:noFill/>
                </a:ln>
                <a:solidFill>
                  <a:srgbClr val="4D4D4D"/>
                </a:solidFill>
                <a:effectLst/>
                <a:uLnTx/>
                <a:uFillTx/>
                <a:latin typeface="Arial" panose="020B0604020202020204" pitchFamily="34" charset="0"/>
                <a:ea typeface="微软雅黑" panose="020B0503020204020204" pitchFamily="34" charset="-122"/>
                <a:cs typeface="+mn-cs"/>
              </a:defRPr>
            </a:lvl2pPr>
          </a:lstStyle>
          <a:p>
            <a:pPr marL="0" marR="0" lvl="0"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单击此处编辑母版文本样式</a:t>
            </a:r>
          </a:p>
          <a:p>
            <a:pPr marL="0" marR="0" lvl="1"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第二级</a:t>
            </a:r>
          </a:p>
        </p:txBody>
      </p:sp>
    </p:spTree>
    <p:extLst>
      <p:ext uri="{BB962C8B-B14F-4D97-AF65-F5344CB8AC3E}">
        <p14:creationId xmlns:p14="http://schemas.microsoft.com/office/powerpoint/2010/main" val="1220240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xmlns="" id="{D1501A3B-3447-4F2B-ADAE-503830AA78F6}"/>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Freeform 100">
            <a:extLst>
              <a:ext uri="{FF2B5EF4-FFF2-40B4-BE49-F238E27FC236}">
                <a16:creationId xmlns:a16="http://schemas.microsoft.com/office/drawing/2014/main" xmlns="" id="{9E9B1B0A-F147-48AA-A5DE-03B8826F8FCB}"/>
              </a:ext>
            </a:extLst>
          </p:cNvPr>
          <p:cNvSpPr>
            <a:spLocks noChangeArrowheads="1"/>
          </p:cNvSpPr>
          <p:nvPr/>
        </p:nvSpPr>
        <p:spPr bwMode="auto">
          <a:xfrm>
            <a:off x="1698625" y="1476375"/>
            <a:ext cx="1931988" cy="1465263"/>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1">
            <a:extLst>
              <a:ext uri="{FF2B5EF4-FFF2-40B4-BE49-F238E27FC236}">
                <a16:creationId xmlns:a16="http://schemas.microsoft.com/office/drawing/2014/main" xmlns="" id="{B754F84E-8490-4166-BFA5-A5D0332C0803}"/>
              </a:ext>
            </a:extLst>
          </p:cNvPr>
          <p:cNvSpPr>
            <a:spLocks noChangeArrowheads="1"/>
          </p:cNvSpPr>
          <p:nvPr/>
        </p:nvSpPr>
        <p:spPr bwMode="auto">
          <a:xfrm>
            <a:off x="2973388" y="1347788"/>
            <a:ext cx="774700" cy="1593850"/>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2">
            <a:extLst>
              <a:ext uri="{FF2B5EF4-FFF2-40B4-BE49-F238E27FC236}">
                <a16:creationId xmlns:a16="http://schemas.microsoft.com/office/drawing/2014/main" xmlns="" id="{A5859E9E-C291-4776-AD2A-547BB52A52F4}"/>
              </a:ext>
            </a:extLst>
          </p:cNvPr>
          <p:cNvSpPr>
            <a:spLocks noChangeArrowheads="1"/>
          </p:cNvSpPr>
          <p:nvPr/>
        </p:nvSpPr>
        <p:spPr bwMode="auto">
          <a:xfrm>
            <a:off x="2862263" y="1208088"/>
            <a:ext cx="1009650" cy="1733550"/>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3">
            <a:extLst>
              <a:ext uri="{FF2B5EF4-FFF2-40B4-BE49-F238E27FC236}">
                <a16:creationId xmlns:a16="http://schemas.microsoft.com/office/drawing/2014/main" xmlns="" id="{84012C9C-CCEF-4B10-BD34-2BA7046AE088}"/>
              </a:ext>
            </a:extLst>
          </p:cNvPr>
          <p:cNvSpPr>
            <a:spLocks noEditPoints="1" noChangeArrowheads="1"/>
          </p:cNvSpPr>
          <p:nvPr/>
        </p:nvSpPr>
        <p:spPr bwMode="auto">
          <a:xfrm>
            <a:off x="1636713" y="1446213"/>
            <a:ext cx="74612"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4">
            <a:extLst>
              <a:ext uri="{FF2B5EF4-FFF2-40B4-BE49-F238E27FC236}">
                <a16:creationId xmlns:a16="http://schemas.microsoft.com/office/drawing/2014/main" xmlns="" id="{6C2C5392-8085-47E5-ADA2-0121AB423799}"/>
              </a:ext>
            </a:extLst>
          </p:cNvPr>
          <p:cNvSpPr>
            <a:spLocks noEditPoints="1" noChangeArrowheads="1"/>
          </p:cNvSpPr>
          <p:nvPr/>
        </p:nvSpPr>
        <p:spPr bwMode="auto">
          <a:xfrm>
            <a:off x="2911475" y="1319213"/>
            <a:ext cx="74613"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5">
            <a:extLst>
              <a:ext uri="{FF2B5EF4-FFF2-40B4-BE49-F238E27FC236}">
                <a16:creationId xmlns:a16="http://schemas.microsoft.com/office/drawing/2014/main" xmlns="" id="{DEBD5C80-6B4B-4324-B775-6F17D2D0DE04}"/>
              </a:ext>
            </a:extLst>
          </p:cNvPr>
          <p:cNvSpPr>
            <a:spLocks noEditPoints="1" noChangeArrowheads="1"/>
          </p:cNvSpPr>
          <p:nvPr/>
        </p:nvSpPr>
        <p:spPr bwMode="auto">
          <a:xfrm>
            <a:off x="2800350" y="1177925"/>
            <a:ext cx="74613"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6">
            <a:extLst>
              <a:ext uri="{FF2B5EF4-FFF2-40B4-BE49-F238E27FC236}">
                <a16:creationId xmlns:a16="http://schemas.microsoft.com/office/drawing/2014/main" xmlns="" id="{56C9CF85-CF6D-46EB-B1B9-359294F7F292}"/>
              </a:ext>
            </a:extLst>
          </p:cNvPr>
          <p:cNvSpPr>
            <a:spLocks noChangeArrowheads="1"/>
          </p:cNvSpPr>
          <p:nvPr/>
        </p:nvSpPr>
        <p:spPr bwMode="auto">
          <a:xfrm>
            <a:off x="2505075" y="1100138"/>
            <a:ext cx="1487488" cy="184150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7">
            <a:extLst>
              <a:ext uri="{FF2B5EF4-FFF2-40B4-BE49-F238E27FC236}">
                <a16:creationId xmlns:a16="http://schemas.microsoft.com/office/drawing/2014/main" xmlns="" id="{D84B2DD6-3814-4F72-AA23-465C261DC725}"/>
              </a:ext>
            </a:extLst>
          </p:cNvPr>
          <p:cNvSpPr>
            <a:spLocks noEditPoints="1" noChangeArrowheads="1"/>
          </p:cNvSpPr>
          <p:nvPr/>
        </p:nvSpPr>
        <p:spPr bwMode="auto">
          <a:xfrm>
            <a:off x="244316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8">
            <a:extLst>
              <a:ext uri="{FF2B5EF4-FFF2-40B4-BE49-F238E27FC236}">
                <a16:creationId xmlns:a16="http://schemas.microsoft.com/office/drawing/2014/main" xmlns="" id="{169DB64A-D1FB-4A03-A513-76F01D5894F2}"/>
              </a:ext>
            </a:extLst>
          </p:cNvPr>
          <p:cNvSpPr>
            <a:spLocks noChangeArrowheads="1"/>
          </p:cNvSpPr>
          <p:nvPr/>
        </p:nvSpPr>
        <p:spPr bwMode="auto">
          <a:xfrm>
            <a:off x="4103688" y="1100138"/>
            <a:ext cx="1052512" cy="184150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9">
            <a:extLst>
              <a:ext uri="{FF2B5EF4-FFF2-40B4-BE49-F238E27FC236}">
                <a16:creationId xmlns:a16="http://schemas.microsoft.com/office/drawing/2014/main" xmlns="" id="{C761D5EA-1D1C-4992-9AF7-333C4BADAD3C}"/>
              </a:ext>
            </a:extLst>
          </p:cNvPr>
          <p:cNvSpPr>
            <a:spLocks noEditPoints="1" noChangeArrowheads="1"/>
          </p:cNvSpPr>
          <p:nvPr/>
        </p:nvSpPr>
        <p:spPr bwMode="auto">
          <a:xfrm>
            <a:off x="5140325" y="1069975"/>
            <a:ext cx="73025"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0">
            <a:extLst>
              <a:ext uri="{FF2B5EF4-FFF2-40B4-BE49-F238E27FC236}">
                <a16:creationId xmlns:a16="http://schemas.microsoft.com/office/drawing/2014/main" xmlns="" id="{F6CFCDF6-27D8-4082-9743-1DDF02047326}"/>
              </a:ext>
            </a:extLst>
          </p:cNvPr>
          <p:cNvSpPr>
            <a:spLocks noEditPoints="1" noChangeArrowheads="1"/>
          </p:cNvSpPr>
          <p:nvPr/>
        </p:nvSpPr>
        <p:spPr bwMode="auto">
          <a:xfrm>
            <a:off x="5284788"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1">
            <a:extLst>
              <a:ext uri="{FF2B5EF4-FFF2-40B4-BE49-F238E27FC236}">
                <a16:creationId xmlns:a16="http://schemas.microsoft.com/office/drawing/2014/main" xmlns="" id="{5AF066AD-2A75-4CE0-9985-9E485D212BEB}"/>
              </a:ext>
            </a:extLst>
          </p:cNvPr>
          <p:cNvSpPr>
            <a:spLocks noEditPoints="1" noChangeArrowheads="1"/>
          </p:cNvSpPr>
          <p:nvPr/>
        </p:nvSpPr>
        <p:spPr bwMode="auto">
          <a:xfrm>
            <a:off x="543401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2">
            <a:extLst>
              <a:ext uri="{FF2B5EF4-FFF2-40B4-BE49-F238E27FC236}">
                <a16:creationId xmlns:a16="http://schemas.microsoft.com/office/drawing/2014/main" xmlns="" id="{430A2212-C0FC-49AD-8682-A12C1F9D0EEC}"/>
              </a:ext>
            </a:extLst>
          </p:cNvPr>
          <p:cNvSpPr>
            <a:spLocks noEditPoints="1" noChangeArrowheads="1"/>
          </p:cNvSpPr>
          <p:nvPr/>
        </p:nvSpPr>
        <p:spPr bwMode="auto">
          <a:xfrm>
            <a:off x="5578475"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3">
            <a:extLst>
              <a:ext uri="{FF2B5EF4-FFF2-40B4-BE49-F238E27FC236}">
                <a16:creationId xmlns:a16="http://schemas.microsoft.com/office/drawing/2014/main" xmlns="" id="{D046BB3D-BC01-42D9-BA04-8CCE94C1856A}"/>
              </a:ext>
            </a:extLst>
          </p:cNvPr>
          <p:cNvSpPr>
            <a:spLocks noEditPoints="1" noChangeArrowheads="1"/>
          </p:cNvSpPr>
          <p:nvPr/>
        </p:nvSpPr>
        <p:spPr bwMode="auto">
          <a:xfrm>
            <a:off x="5727700"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4">
            <a:extLst>
              <a:ext uri="{FF2B5EF4-FFF2-40B4-BE49-F238E27FC236}">
                <a16:creationId xmlns:a16="http://schemas.microsoft.com/office/drawing/2014/main" xmlns="" id="{1A57CF94-A167-4B8C-9CAB-F801ED5A5EA5}"/>
              </a:ext>
            </a:extLst>
          </p:cNvPr>
          <p:cNvSpPr>
            <a:spLocks noEditPoints="1" noChangeArrowheads="1"/>
          </p:cNvSpPr>
          <p:nvPr/>
        </p:nvSpPr>
        <p:spPr bwMode="auto">
          <a:xfrm>
            <a:off x="5872163" y="1069975"/>
            <a:ext cx="74612"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7">
            <a:extLst>
              <a:ext uri="{FF2B5EF4-FFF2-40B4-BE49-F238E27FC236}">
                <a16:creationId xmlns:a16="http://schemas.microsoft.com/office/drawing/2014/main" xmlns="" id="{0AC5C741-51D7-459F-9144-1E944F3744F6}"/>
              </a:ext>
            </a:extLst>
          </p:cNvPr>
          <p:cNvSpPr>
            <a:spLocks noEditPoints="1" noChangeArrowheads="1"/>
          </p:cNvSpPr>
          <p:nvPr/>
        </p:nvSpPr>
        <p:spPr bwMode="auto">
          <a:xfrm>
            <a:off x="547688" y="2646363"/>
            <a:ext cx="5056187" cy="2938462"/>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8">
            <a:extLst>
              <a:ext uri="{FF2B5EF4-FFF2-40B4-BE49-F238E27FC236}">
                <a16:creationId xmlns:a16="http://schemas.microsoft.com/office/drawing/2014/main" xmlns="" id="{86C4773B-B1B7-4080-BA05-440FB6AAC6CC}"/>
              </a:ext>
            </a:extLst>
          </p:cNvPr>
          <p:cNvSpPr>
            <a:spLocks noChangeArrowheads="1"/>
          </p:cNvSpPr>
          <p:nvPr/>
        </p:nvSpPr>
        <p:spPr bwMode="auto">
          <a:xfrm>
            <a:off x="442913" y="2295525"/>
            <a:ext cx="5260975" cy="2982913"/>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9">
            <a:extLst>
              <a:ext uri="{FF2B5EF4-FFF2-40B4-BE49-F238E27FC236}">
                <a16:creationId xmlns:a16="http://schemas.microsoft.com/office/drawing/2014/main" xmlns="" id="{AC4D9720-5100-411A-901D-B888CE00D965}"/>
              </a:ext>
            </a:extLst>
          </p:cNvPr>
          <p:cNvSpPr>
            <a:spLocks noChangeArrowheads="1"/>
          </p:cNvSpPr>
          <p:nvPr/>
        </p:nvSpPr>
        <p:spPr bwMode="auto">
          <a:xfrm>
            <a:off x="442913" y="3168650"/>
            <a:ext cx="5260975" cy="2097088"/>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0">
            <a:extLst>
              <a:ext uri="{FF2B5EF4-FFF2-40B4-BE49-F238E27FC236}">
                <a16:creationId xmlns:a16="http://schemas.microsoft.com/office/drawing/2014/main" xmlns="" id="{C18E6281-1439-4738-A204-527A0E2495D8}"/>
              </a:ext>
            </a:extLst>
          </p:cNvPr>
          <p:cNvSpPr>
            <a:spLocks noChangeArrowheads="1"/>
          </p:cNvSpPr>
          <p:nvPr/>
        </p:nvSpPr>
        <p:spPr bwMode="auto">
          <a:xfrm>
            <a:off x="442913" y="3214688"/>
            <a:ext cx="5260975" cy="2017712"/>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1">
            <a:extLst>
              <a:ext uri="{FF2B5EF4-FFF2-40B4-BE49-F238E27FC236}">
                <a16:creationId xmlns:a16="http://schemas.microsoft.com/office/drawing/2014/main" xmlns="" id="{A80684C8-BD2D-4F8B-AE79-EF0E6623ACA8}"/>
              </a:ext>
            </a:extLst>
          </p:cNvPr>
          <p:cNvSpPr>
            <a:spLocks noChangeArrowheads="1"/>
          </p:cNvSpPr>
          <p:nvPr/>
        </p:nvSpPr>
        <p:spPr bwMode="auto">
          <a:xfrm>
            <a:off x="427038" y="2097088"/>
            <a:ext cx="5295900" cy="3057525"/>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2">
            <a:extLst>
              <a:ext uri="{FF2B5EF4-FFF2-40B4-BE49-F238E27FC236}">
                <a16:creationId xmlns:a16="http://schemas.microsoft.com/office/drawing/2014/main" xmlns="" id="{FC982295-AF39-446F-8B26-A196A5A1048C}"/>
              </a:ext>
            </a:extLst>
          </p:cNvPr>
          <p:cNvSpPr>
            <a:spLocks noChangeArrowheads="1"/>
          </p:cNvSpPr>
          <p:nvPr/>
        </p:nvSpPr>
        <p:spPr bwMode="auto">
          <a:xfrm>
            <a:off x="1722438" y="4905375"/>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3">
            <a:extLst>
              <a:ext uri="{FF2B5EF4-FFF2-40B4-BE49-F238E27FC236}">
                <a16:creationId xmlns:a16="http://schemas.microsoft.com/office/drawing/2014/main" xmlns="" id="{3DE41D60-69F3-4AD8-A3C4-DB5F6C6B8BB7}"/>
              </a:ext>
            </a:extLst>
          </p:cNvPr>
          <p:cNvSpPr>
            <a:spLocks noChangeArrowheads="1"/>
          </p:cNvSpPr>
          <p:nvPr/>
        </p:nvSpPr>
        <p:spPr bwMode="auto">
          <a:xfrm>
            <a:off x="1798638" y="4948238"/>
            <a:ext cx="34925"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4">
            <a:extLst>
              <a:ext uri="{FF2B5EF4-FFF2-40B4-BE49-F238E27FC236}">
                <a16:creationId xmlns:a16="http://schemas.microsoft.com/office/drawing/2014/main" xmlns="" id="{671B2D73-DE1F-4F18-A735-6ED7EF0D803B}"/>
              </a:ext>
            </a:extLst>
          </p:cNvPr>
          <p:cNvSpPr>
            <a:spLocks noChangeArrowheads="1"/>
          </p:cNvSpPr>
          <p:nvPr/>
        </p:nvSpPr>
        <p:spPr bwMode="auto">
          <a:xfrm>
            <a:off x="1871663" y="499268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5">
            <a:extLst>
              <a:ext uri="{FF2B5EF4-FFF2-40B4-BE49-F238E27FC236}">
                <a16:creationId xmlns:a16="http://schemas.microsoft.com/office/drawing/2014/main" xmlns="" id="{5FE95CCB-A33F-4C44-B0FE-66461995981F}"/>
              </a:ext>
            </a:extLst>
          </p:cNvPr>
          <p:cNvSpPr>
            <a:spLocks noChangeArrowheads="1"/>
          </p:cNvSpPr>
          <p:nvPr/>
        </p:nvSpPr>
        <p:spPr bwMode="auto">
          <a:xfrm>
            <a:off x="696913" y="4314825"/>
            <a:ext cx="39687" cy="52388"/>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6">
            <a:extLst>
              <a:ext uri="{FF2B5EF4-FFF2-40B4-BE49-F238E27FC236}">
                <a16:creationId xmlns:a16="http://schemas.microsoft.com/office/drawing/2014/main" xmlns="" id="{BF592E61-56AC-4BBC-9A71-C2A7F75729FD}"/>
              </a:ext>
            </a:extLst>
          </p:cNvPr>
          <p:cNvSpPr>
            <a:spLocks noChangeArrowheads="1"/>
          </p:cNvSpPr>
          <p:nvPr/>
        </p:nvSpPr>
        <p:spPr bwMode="auto">
          <a:xfrm>
            <a:off x="769938" y="4356100"/>
            <a:ext cx="42862"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7">
            <a:extLst>
              <a:ext uri="{FF2B5EF4-FFF2-40B4-BE49-F238E27FC236}">
                <a16:creationId xmlns:a16="http://schemas.microsoft.com/office/drawing/2014/main" xmlns="" id="{1DD08F44-ADCA-4FAA-BCDB-D45DFC4327AD}"/>
              </a:ext>
            </a:extLst>
          </p:cNvPr>
          <p:cNvSpPr>
            <a:spLocks noChangeArrowheads="1"/>
          </p:cNvSpPr>
          <p:nvPr/>
        </p:nvSpPr>
        <p:spPr bwMode="auto">
          <a:xfrm>
            <a:off x="846138" y="4402138"/>
            <a:ext cx="39687"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8">
            <a:extLst>
              <a:ext uri="{FF2B5EF4-FFF2-40B4-BE49-F238E27FC236}">
                <a16:creationId xmlns:a16="http://schemas.microsoft.com/office/drawing/2014/main" xmlns="" id="{1F8B2D33-8F37-4844-96B6-DCD16473B33C}"/>
              </a:ext>
            </a:extLst>
          </p:cNvPr>
          <p:cNvSpPr>
            <a:spLocks noEditPoints="1" noChangeArrowheads="1"/>
          </p:cNvSpPr>
          <p:nvPr/>
        </p:nvSpPr>
        <p:spPr bwMode="auto">
          <a:xfrm>
            <a:off x="3043238" y="2084388"/>
            <a:ext cx="833437" cy="43815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9">
            <a:extLst>
              <a:ext uri="{FF2B5EF4-FFF2-40B4-BE49-F238E27FC236}">
                <a16:creationId xmlns:a16="http://schemas.microsoft.com/office/drawing/2014/main" xmlns="" id="{E472FF78-17E6-4FCD-9B8C-E836EAED9F4B}"/>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0">
            <a:extLst>
              <a:ext uri="{FF2B5EF4-FFF2-40B4-BE49-F238E27FC236}">
                <a16:creationId xmlns:a16="http://schemas.microsoft.com/office/drawing/2014/main" xmlns="" id="{9FCFE153-0A16-4933-B53D-FE9BF4F63B47}"/>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1">
            <a:extLst>
              <a:ext uri="{FF2B5EF4-FFF2-40B4-BE49-F238E27FC236}">
                <a16:creationId xmlns:a16="http://schemas.microsoft.com/office/drawing/2014/main" xmlns="" id="{5B4D1BD2-208D-43AE-BA49-8B14AECE7687}"/>
              </a:ext>
            </a:extLst>
          </p:cNvPr>
          <p:cNvSpPr>
            <a:spLocks noChangeArrowheads="1"/>
          </p:cNvSpPr>
          <p:nvPr/>
        </p:nvSpPr>
        <p:spPr bwMode="auto">
          <a:xfrm>
            <a:off x="3730625" y="2108200"/>
            <a:ext cx="17463" cy="25400"/>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2">
            <a:extLst>
              <a:ext uri="{FF2B5EF4-FFF2-40B4-BE49-F238E27FC236}">
                <a16:creationId xmlns:a16="http://schemas.microsoft.com/office/drawing/2014/main" xmlns="" id="{2CB22EA3-BADB-4384-BFA3-C06DF35E56EC}"/>
              </a:ext>
            </a:extLst>
          </p:cNvPr>
          <p:cNvSpPr>
            <a:spLocks noChangeArrowheads="1"/>
          </p:cNvSpPr>
          <p:nvPr/>
        </p:nvSpPr>
        <p:spPr bwMode="auto">
          <a:xfrm>
            <a:off x="3856038" y="2084388"/>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3">
            <a:extLst>
              <a:ext uri="{FF2B5EF4-FFF2-40B4-BE49-F238E27FC236}">
                <a16:creationId xmlns:a16="http://schemas.microsoft.com/office/drawing/2014/main" xmlns="" id="{43AE9CDA-2392-437A-AB8F-27E81AB57E3A}"/>
              </a:ext>
            </a:extLst>
          </p:cNvPr>
          <p:cNvSpPr>
            <a:spLocks noChangeArrowheads="1"/>
          </p:cNvSpPr>
          <p:nvPr/>
        </p:nvSpPr>
        <p:spPr bwMode="auto">
          <a:xfrm>
            <a:off x="439738" y="2882900"/>
            <a:ext cx="1970087" cy="11874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4">
            <a:extLst>
              <a:ext uri="{FF2B5EF4-FFF2-40B4-BE49-F238E27FC236}">
                <a16:creationId xmlns:a16="http://schemas.microsoft.com/office/drawing/2014/main" xmlns="" id="{ACE168ED-DDF0-450D-ABFA-09DDD993483A}"/>
              </a:ext>
            </a:extLst>
          </p:cNvPr>
          <p:cNvSpPr>
            <a:spLocks noChangeArrowheads="1"/>
          </p:cNvSpPr>
          <p:nvPr/>
        </p:nvSpPr>
        <p:spPr bwMode="auto">
          <a:xfrm>
            <a:off x="447675" y="4029075"/>
            <a:ext cx="1854200" cy="1087438"/>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2" name="组合 41">
            <a:extLst>
              <a:ext uri="{FF2B5EF4-FFF2-40B4-BE49-F238E27FC236}">
                <a16:creationId xmlns:a16="http://schemas.microsoft.com/office/drawing/2014/main" xmlns="" id="{FC671DB3-08A4-49B5-B985-6EFAFAFCBA2D}"/>
              </a:ext>
            </a:extLst>
          </p:cNvPr>
          <p:cNvGrpSpPr>
            <a:grpSpLocks/>
          </p:cNvGrpSpPr>
          <p:nvPr/>
        </p:nvGrpSpPr>
        <p:grpSpPr bwMode="auto">
          <a:xfrm>
            <a:off x="388938" y="2109788"/>
            <a:ext cx="5316537" cy="3054350"/>
            <a:chOff x="7564437" y="4244495"/>
            <a:chExt cx="4236358" cy="2433801"/>
          </a:xfrm>
        </p:grpSpPr>
        <p:sp>
          <p:nvSpPr>
            <p:cNvPr id="43" name="Freeform 238">
              <a:extLst>
                <a:ext uri="{FF2B5EF4-FFF2-40B4-BE49-F238E27FC236}">
                  <a16:creationId xmlns:a16="http://schemas.microsoft.com/office/drawing/2014/main" xmlns="" id="{DC4B81A3-97E6-4707-A466-F92F06ECEC5B}"/>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a16="http://schemas.microsoft.com/office/drawing/2014/main" xmlns="" id="{A050C75A-8D86-4374-AC65-4FF5830730AE}"/>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a16="http://schemas.microsoft.com/office/drawing/2014/main" xmlns="" id="{99E7C69A-9566-4E8E-B735-842F824F59F8}"/>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a16="http://schemas.microsoft.com/office/drawing/2014/main" xmlns="" id="{E67EB1E3-0B58-4ADF-B968-E2ECABB43FA3}"/>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7" name="Freeform 135">
            <a:extLst>
              <a:ext uri="{FF2B5EF4-FFF2-40B4-BE49-F238E27FC236}">
                <a16:creationId xmlns:a16="http://schemas.microsoft.com/office/drawing/2014/main" xmlns="" id="{9AA94A5D-629E-483B-B93F-E0C4A658EF00}"/>
              </a:ext>
            </a:extLst>
          </p:cNvPr>
          <p:cNvSpPr>
            <a:spLocks noEditPoints="1" noChangeArrowheads="1"/>
          </p:cNvSpPr>
          <p:nvPr/>
        </p:nvSpPr>
        <p:spPr bwMode="auto">
          <a:xfrm>
            <a:off x="2898775" y="3843338"/>
            <a:ext cx="1114425" cy="64928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7">
            <a:extLst>
              <a:ext uri="{FF2B5EF4-FFF2-40B4-BE49-F238E27FC236}">
                <a16:creationId xmlns:a16="http://schemas.microsoft.com/office/drawing/2014/main" xmlns="" id="{DAC70147-8692-4FF3-B7EB-2157CCD7A066}"/>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6">
            <a:extLst>
              <a:ext uri="{FF2B5EF4-FFF2-40B4-BE49-F238E27FC236}">
                <a16:creationId xmlns:a16="http://schemas.microsoft.com/office/drawing/2014/main" xmlns="" id="{385E68FE-5D09-432B-99FC-CC88F37D5BBA}"/>
              </a:ext>
            </a:extLst>
          </p:cNvPr>
          <p:cNvSpPr>
            <a:spLocks noEditPoints="1" noChangeArrowheads="1"/>
          </p:cNvSpPr>
          <p:nvPr/>
        </p:nvSpPr>
        <p:spPr bwMode="auto">
          <a:xfrm>
            <a:off x="3963988" y="3127375"/>
            <a:ext cx="1295400" cy="64452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8">
            <a:extLst>
              <a:ext uri="{FF2B5EF4-FFF2-40B4-BE49-F238E27FC236}">
                <a16:creationId xmlns:a16="http://schemas.microsoft.com/office/drawing/2014/main" xmlns="" id="{96058411-3529-4DC4-BB4A-0DF91714A5B0}"/>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9">
            <a:extLst>
              <a:ext uri="{FF2B5EF4-FFF2-40B4-BE49-F238E27FC236}">
                <a16:creationId xmlns:a16="http://schemas.microsoft.com/office/drawing/2014/main" xmlns="" id="{D1C2EABB-03C2-40C9-BA63-A0170D6132BC}"/>
              </a:ext>
            </a:extLst>
          </p:cNvPr>
          <p:cNvSpPr>
            <a:spLocks noEditPoints="1" noChangeArrowheads="1"/>
          </p:cNvSpPr>
          <p:nvPr/>
        </p:nvSpPr>
        <p:spPr bwMode="auto">
          <a:xfrm>
            <a:off x="2417763" y="2695575"/>
            <a:ext cx="1250950" cy="687388"/>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0">
            <a:extLst>
              <a:ext uri="{FF2B5EF4-FFF2-40B4-BE49-F238E27FC236}">
                <a16:creationId xmlns:a16="http://schemas.microsoft.com/office/drawing/2014/main" xmlns="" id="{8FE2AB22-B85D-41F0-810B-7B738A0CBDDF}"/>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1">
            <a:extLst>
              <a:ext uri="{FF2B5EF4-FFF2-40B4-BE49-F238E27FC236}">
                <a16:creationId xmlns:a16="http://schemas.microsoft.com/office/drawing/2014/main" xmlns="" id="{E76382D2-16F2-4D91-9ACF-85956555B37C}"/>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2">
            <a:extLst>
              <a:ext uri="{FF2B5EF4-FFF2-40B4-BE49-F238E27FC236}">
                <a16:creationId xmlns:a16="http://schemas.microsoft.com/office/drawing/2014/main" xmlns="" id="{CEAFC3E1-B3B7-42DC-95D4-56F40F86F6D4}"/>
              </a:ext>
            </a:extLst>
          </p:cNvPr>
          <p:cNvSpPr>
            <a:spLocks noChangeArrowheads="1"/>
          </p:cNvSpPr>
          <p:nvPr/>
        </p:nvSpPr>
        <p:spPr bwMode="auto">
          <a:xfrm>
            <a:off x="1295400" y="4489450"/>
            <a:ext cx="153988" cy="180975"/>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3">
            <a:extLst>
              <a:ext uri="{FF2B5EF4-FFF2-40B4-BE49-F238E27FC236}">
                <a16:creationId xmlns:a16="http://schemas.microsoft.com/office/drawing/2014/main" xmlns="" id="{1CA4E850-99C0-4684-AD7B-26F1AD43AD90}"/>
              </a:ext>
            </a:extLst>
          </p:cNvPr>
          <p:cNvSpPr>
            <a:spLocks noChangeArrowheads="1"/>
          </p:cNvSpPr>
          <p:nvPr/>
        </p:nvSpPr>
        <p:spPr bwMode="auto">
          <a:xfrm>
            <a:off x="1219200" y="4608513"/>
            <a:ext cx="173038" cy="144462"/>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4">
            <a:extLst>
              <a:ext uri="{FF2B5EF4-FFF2-40B4-BE49-F238E27FC236}">
                <a16:creationId xmlns:a16="http://schemas.microsoft.com/office/drawing/2014/main" xmlns="" id="{FDEF00B1-D549-4C91-ACC5-CBA5D12AFDA1}"/>
              </a:ext>
            </a:extLst>
          </p:cNvPr>
          <p:cNvSpPr>
            <a:spLocks noChangeArrowheads="1"/>
          </p:cNvSpPr>
          <p:nvPr/>
        </p:nvSpPr>
        <p:spPr bwMode="auto">
          <a:xfrm>
            <a:off x="1395413" y="4314825"/>
            <a:ext cx="1508125" cy="355600"/>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5">
            <a:extLst>
              <a:ext uri="{FF2B5EF4-FFF2-40B4-BE49-F238E27FC236}">
                <a16:creationId xmlns:a16="http://schemas.microsoft.com/office/drawing/2014/main" xmlns="" id="{9A4E88C2-79ED-46D3-8955-2EA725F4CCAE}"/>
              </a:ext>
            </a:extLst>
          </p:cNvPr>
          <p:cNvSpPr>
            <a:spLocks noChangeArrowheads="1"/>
          </p:cNvSpPr>
          <p:nvPr/>
        </p:nvSpPr>
        <p:spPr bwMode="auto">
          <a:xfrm>
            <a:off x="1735138" y="3184525"/>
            <a:ext cx="919162" cy="1143000"/>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6">
            <a:extLst>
              <a:ext uri="{FF2B5EF4-FFF2-40B4-BE49-F238E27FC236}">
                <a16:creationId xmlns:a16="http://schemas.microsoft.com/office/drawing/2014/main" xmlns="" id="{F8F1ABD8-8DCF-42BE-A3B4-6BA4C65C9F67}"/>
              </a:ext>
            </a:extLst>
          </p:cNvPr>
          <p:cNvSpPr>
            <a:spLocks noChangeArrowheads="1"/>
          </p:cNvSpPr>
          <p:nvPr/>
        </p:nvSpPr>
        <p:spPr bwMode="auto">
          <a:xfrm>
            <a:off x="2597150" y="3460750"/>
            <a:ext cx="1555750" cy="373063"/>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0">
            <a:extLst>
              <a:ext uri="{FF2B5EF4-FFF2-40B4-BE49-F238E27FC236}">
                <a16:creationId xmlns:a16="http://schemas.microsoft.com/office/drawing/2014/main" xmlns="" id="{9B5C9F7F-2072-4A7C-B981-C041743A5DE0}"/>
              </a:ext>
            </a:extLst>
          </p:cNvPr>
          <p:cNvSpPr>
            <a:spLocks noEditPoints="1" noChangeArrowheads="1"/>
          </p:cNvSpPr>
          <p:nvPr/>
        </p:nvSpPr>
        <p:spPr bwMode="auto">
          <a:xfrm>
            <a:off x="3668713" y="25304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1">
            <a:extLst>
              <a:ext uri="{FF2B5EF4-FFF2-40B4-BE49-F238E27FC236}">
                <a16:creationId xmlns:a16="http://schemas.microsoft.com/office/drawing/2014/main" xmlns="" id="{E4D34405-0D6B-4B93-B1B5-D7E87BB9AB5F}"/>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2">
            <a:extLst>
              <a:ext uri="{FF2B5EF4-FFF2-40B4-BE49-F238E27FC236}">
                <a16:creationId xmlns:a16="http://schemas.microsoft.com/office/drawing/2014/main" xmlns="" id="{A22F668A-2AFA-4338-8247-881F24AC27FC}"/>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3">
            <a:extLst>
              <a:ext uri="{FF2B5EF4-FFF2-40B4-BE49-F238E27FC236}">
                <a16:creationId xmlns:a16="http://schemas.microsoft.com/office/drawing/2014/main" xmlns="" id="{467314C6-A86B-4F19-84CC-68BF3427848B}"/>
              </a:ext>
            </a:extLst>
          </p:cNvPr>
          <p:cNvSpPr>
            <a:spLocks noEditPoints="1" noChangeArrowheads="1"/>
          </p:cNvSpPr>
          <p:nvPr/>
        </p:nvSpPr>
        <p:spPr bwMode="auto">
          <a:xfrm>
            <a:off x="4206875" y="3544888"/>
            <a:ext cx="441325"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7">
            <a:extLst>
              <a:ext uri="{FF2B5EF4-FFF2-40B4-BE49-F238E27FC236}">
                <a16:creationId xmlns:a16="http://schemas.microsoft.com/office/drawing/2014/main" xmlns="" id="{1BF83113-19A6-46C9-9655-8F0017C40001}"/>
              </a:ext>
            </a:extLst>
          </p:cNvPr>
          <p:cNvSpPr>
            <a:spLocks noChangeArrowheads="1"/>
          </p:cNvSpPr>
          <p:nvPr/>
        </p:nvSpPr>
        <p:spPr bwMode="auto">
          <a:xfrm>
            <a:off x="3660775" y="2535238"/>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8">
            <a:extLst>
              <a:ext uri="{FF2B5EF4-FFF2-40B4-BE49-F238E27FC236}">
                <a16:creationId xmlns:a16="http://schemas.microsoft.com/office/drawing/2014/main" xmlns="" id="{D7C864B2-C3FD-471D-BB1D-6D5B010E7570}"/>
              </a:ext>
            </a:extLst>
          </p:cNvPr>
          <p:cNvSpPr>
            <a:spLocks noChangeArrowheads="1"/>
          </p:cNvSpPr>
          <p:nvPr/>
        </p:nvSpPr>
        <p:spPr bwMode="auto">
          <a:xfrm>
            <a:off x="3660775" y="2527300"/>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9">
            <a:extLst>
              <a:ext uri="{FF2B5EF4-FFF2-40B4-BE49-F238E27FC236}">
                <a16:creationId xmlns:a16="http://schemas.microsoft.com/office/drawing/2014/main" xmlns="" id="{98EC6CF7-E47F-4A0B-9369-2FB873D42C34}"/>
              </a:ext>
            </a:extLst>
          </p:cNvPr>
          <p:cNvSpPr>
            <a:spLocks noChangeArrowheads="1"/>
          </p:cNvSpPr>
          <p:nvPr/>
        </p:nvSpPr>
        <p:spPr bwMode="auto">
          <a:xfrm>
            <a:off x="3660775" y="2522538"/>
            <a:ext cx="1003300" cy="1192212"/>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0">
            <a:extLst>
              <a:ext uri="{FF2B5EF4-FFF2-40B4-BE49-F238E27FC236}">
                <a16:creationId xmlns:a16="http://schemas.microsoft.com/office/drawing/2014/main" xmlns="" id="{258615DC-1A0C-44BB-8ABD-36D8B7BCC5E2}"/>
              </a:ext>
            </a:extLst>
          </p:cNvPr>
          <p:cNvSpPr>
            <a:spLocks noEditPoints="1" noChangeArrowheads="1"/>
          </p:cNvSpPr>
          <p:nvPr/>
        </p:nvSpPr>
        <p:spPr bwMode="auto">
          <a:xfrm>
            <a:off x="3660775" y="2530475"/>
            <a:ext cx="7938" cy="4763"/>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4">
            <a:extLst>
              <a:ext uri="{FF2B5EF4-FFF2-40B4-BE49-F238E27FC236}">
                <a16:creationId xmlns:a16="http://schemas.microsoft.com/office/drawing/2014/main" xmlns="" id="{48873869-26AB-4A9F-A481-7C7111A2C7DB}"/>
              </a:ext>
            </a:extLst>
          </p:cNvPr>
          <p:cNvSpPr>
            <a:spLocks noEditPoints="1" noChangeArrowheads="1"/>
          </p:cNvSpPr>
          <p:nvPr/>
        </p:nvSpPr>
        <p:spPr bwMode="auto">
          <a:xfrm>
            <a:off x="3668713" y="2530475"/>
            <a:ext cx="979487"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2">
            <a:extLst>
              <a:ext uri="{FF2B5EF4-FFF2-40B4-BE49-F238E27FC236}">
                <a16:creationId xmlns:a16="http://schemas.microsoft.com/office/drawing/2014/main" xmlns="" id="{EC497003-DBD3-4806-BCA0-5CA18EFAEFF8}"/>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3">
            <a:extLst>
              <a:ext uri="{FF2B5EF4-FFF2-40B4-BE49-F238E27FC236}">
                <a16:creationId xmlns:a16="http://schemas.microsoft.com/office/drawing/2014/main" xmlns="" id="{B747C441-5A21-40AF-A711-EC145603DDCB}"/>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4">
            <a:extLst>
              <a:ext uri="{FF2B5EF4-FFF2-40B4-BE49-F238E27FC236}">
                <a16:creationId xmlns:a16="http://schemas.microsoft.com/office/drawing/2014/main" xmlns="" id="{4F3B3C19-8717-4B84-BAF1-F7E1213C12B1}"/>
              </a:ext>
            </a:extLst>
          </p:cNvPr>
          <p:cNvSpPr>
            <a:spLocks noEditPoints="1" noChangeArrowheads="1"/>
          </p:cNvSpPr>
          <p:nvPr/>
        </p:nvSpPr>
        <p:spPr bwMode="auto">
          <a:xfrm>
            <a:off x="2962275" y="4264025"/>
            <a:ext cx="438150" cy="15716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5">
            <a:extLst>
              <a:ext uri="{FF2B5EF4-FFF2-40B4-BE49-F238E27FC236}">
                <a16:creationId xmlns:a16="http://schemas.microsoft.com/office/drawing/2014/main" xmlns="" id="{45FD2AC0-4EE3-4E63-801A-6940FF69DE0C}"/>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6">
            <a:extLst>
              <a:ext uri="{FF2B5EF4-FFF2-40B4-BE49-F238E27FC236}">
                <a16:creationId xmlns:a16="http://schemas.microsoft.com/office/drawing/2014/main" xmlns="" id="{34844A0F-31A9-498B-AB22-9A3B9F429DAA}"/>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7">
            <a:extLst>
              <a:ext uri="{FF2B5EF4-FFF2-40B4-BE49-F238E27FC236}">
                <a16:creationId xmlns:a16="http://schemas.microsoft.com/office/drawing/2014/main" xmlns="" id="{0C9FE571-6504-4D50-95FA-C26A1E0FD13D}"/>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8">
            <a:extLst>
              <a:ext uri="{FF2B5EF4-FFF2-40B4-BE49-F238E27FC236}">
                <a16:creationId xmlns:a16="http://schemas.microsoft.com/office/drawing/2014/main" xmlns="" id="{235EC29E-561F-4502-A6EC-0476AB951EA5}"/>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8">
            <a:extLst>
              <a:ext uri="{FF2B5EF4-FFF2-40B4-BE49-F238E27FC236}">
                <a16:creationId xmlns:a16="http://schemas.microsoft.com/office/drawing/2014/main" xmlns="" id="{AE44EABA-F0D6-48DC-9067-7D8D8D01BBBD}"/>
              </a:ext>
            </a:extLst>
          </p:cNvPr>
          <p:cNvSpPr>
            <a:spLocks noChangeArrowheads="1"/>
          </p:cNvSpPr>
          <p:nvPr/>
        </p:nvSpPr>
        <p:spPr bwMode="auto">
          <a:xfrm>
            <a:off x="2414588" y="3217863"/>
            <a:ext cx="1047750" cy="12334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9">
            <a:extLst>
              <a:ext uri="{FF2B5EF4-FFF2-40B4-BE49-F238E27FC236}">
                <a16:creationId xmlns:a16="http://schemas.microsoft.com/office/drawing/2014/main" xmlns="" id="{FA0F6601-90E8-4201-8DC9-55A6E6826EAD}"/>
              </a:ext>
            </a:extLst>
          </p:cNvPr>
          <p:cNvSpPr>
            <a:spLocks noEditPoints="1" noChangeArrowheads="1"/>
          </p:cNvSpPr>
          <p:nvPr/>
        </p:nvSpPr>
        <p:spPr bwMode="auto">
          <a:xfrm>
            <a:off x="2414588" y="3217863"/>
            <a:ext cx="1047750" cy="12334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0">
            <a:extLst>
              <a:ext uri="{FF2B5EF4-FFF2-40B4-BE49-F238E27FC236}">
                <a16:creationId xmlns:a16="http://schemas.microsoft.com/office/drawing/2014/main" xmlns="" id="{685DC869-5BF0-4A5C-92C1-825CFA31CF73}"/>
              </a:ext>
            </a:extLst>
          </p:cNvPr>
          <p:cNvSpPr>
            <a:spLocks noChangeArrowheads="1"/>
          </p:cNvSpPr>
          <p:nvPr/>
        </p:nvSpPr>
        <p:spPr bwMode="auto">
          <a:xfrm>
            <a:off x="2401888" y="3241675"/>
            <a:ext cx="998537" cy="12223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1">
            <a:extLst>
              <a:ext uri="{FF2B5EF4-FFF2-40B4-BE49-F238E27FC236}">
                <a16:creationId xmlns:a16="http://schemas.microsoft.com/office/drawing/2014/main" xmlns="" id="{E4392ACA-855B-4EE2-9DE7-50DE9DA824D3}"/>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5">
            <a:extLst>
              <a:ext uri="{FF2B5EF4-FFF2-40B4-BE49-F238E27FC236}">
                <a16:creationId xmlns:a16="http://schemas.microsoft.com/office/drawing/2014/main" xmlns="" id="{2CC41932-B45C-4518-B132-5AB45491DA36}"/>
              </a:ext>
            </a:extLst>
          </p:cNvPr>
          <p:cNvSpPr>
            <a:spLocks noChangeArrowheads="1"/>
          </p:cNvSpPr>
          <p:nvPr/>
        </p:nvSpPr>
        <p:spPr bwMode="auto">
          <a:xfrm>
            <a:off x="2389188" y="3262313"/>
            <a:ext cx="985837" cy="1195387"/>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8">
            <a:extLst>
              <a:ext uri="{FF2B5EF4-FFF2-40B4-BE49-F238E27FC236}">
                <a16:creationId xmlns:a16="http://schemas.microsoft.com/office/drawing/2014/main" xmlns="" id="{4CB39093-5ACA-46CC-8444-43366D098E07}"/>
              </a:ext>
            </a:extLst>
          </p:cNvPr>
          <p:cNvSpPr>
            <a:spLocks noChangeArrowheads="1"/>
          </p:cNvSpPr>
          <p:nvPr/>
        </p:nvSpPr>
        <p:spPr bwMode="auto">
          <a:xfrm>
            <a:off x="2414588" y="3252788"/>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9">
            <a:extLst>
              <a:ext uri="{FF2B5EF4-FFF2-40B4-BE49-F238E27FC236}">
                <a16:creationId xmlns:a16="http://schemas.microsoft.com/office/drawing/2014/main" xmlns="" id="{F9D766FB-DE9B-4F4A-98DF-AB1A6C892658}"/>
              </a:ext>
            </a:extLst>
          </p:cNvPr>
          <p:cNvSpPr>
            <a:spLocks noChangeArrowheads="1"/>
          </p:cNvSpPr>
          <p:nvPr/>
        </p:nvSpPr>
        <p:spPr bwMode="auto">
          <a:xfrm>
            <a:off x="2414588" y="3246438"/>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0">
            <a:extLst>
              <a:ext uri="{FF2B5EF4-FFF2-40B4-BE49-F238E27FC236}">
                <a16:creationId xmlns:a16="http://schemas.microsoft.com/office/drawing/2014/main" xmlns="" id="{7D1C4006-8482-4DB8-88E9-3934F97DA4D3}"/>
              </a:ext>
            </a:extLst>
          </p:cNvPr>
          <p:cNvSpPr>
            <a:spLocks noChangeArrowheads="1"/>
          </p:cNvSpPr>
          <p:nvPr/>
        </p:nvSpPr>
        <p:spPr bwMode="auto">
          <a:xfrm>
            <a:off x="2414588" y="3241675"/>
            <a:ext cx="1004887" cy="11938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1">
            <a:extLst>
              <a:ext uri="{FF2B5EF4-FFF2-40B4-BE49-F238E27FC236}">
                <a16:creationId xmlns:a16="http://schemas.microsoft.com/office/drawing/2014/main" xmlns="" id="{4D0D5918-119E-4D26-BD83-B2C7ABD74FBD}"/>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Rectangle 182">
            <a:extLst>
              <a:ext uri="{FF2B5EF4-FFF2-40B4-BE49-F238E27FC236}">
                <a16:creationId xmlns:a16="http://schemas.microsoft.com/office/drawing/2014/main" xmlns="" id="{AE613C82-F884-4DC9-9277-4B21560BCF3E}"/>
              </a:ext>
            </a:extLst>
          </p:cNvPr>
          <p:cNvSpPr>
            <a:spLocks noChangeArrowheads="1"/>
          </p:cNvSpPr>
          <p:nvPr/>
        </p:nvSpPr>
        <p:spPr bwMode="auto">
          <a:xfrm>
            <a:off x="2414588" y="3255963"/>
            <a:ext cx="1587"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5" name="Freeform 183">
            <a:extLst>
              <a:ext uri="{FF2B5EF4-FFF2-40B4-BE49-F238E27FC236}">
                <a16:creationId xmlns:a16="http://schemas.microsoft.com/office/drawing/2014/main" xmlns="" id="{D8756AA1-23A1-4CA0-B349-3C9C35AB2FAA}"/>
              </a:ext>
            </a:extLst>
          </p:cNvPr>
          <p:cNvSpPr>
            <a:spLocks noChangeArrowheads="1"/>
          </p:cNvSpPr>
          <p:nvPr/>
        </p:nvSpPr>
        <p:spPr bwMode="auto">
          <a:xfrm>
            <a:off x="2414588" y="3255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6">
            <a:extLst>
              <a:ext uri="{FF2B5EF4-FFF2-40B4-BE49-F238E27FC236}">
                <a16:creationId xmlns:a16="http://schemas.microsoft.com/office/drawing/2014/main" xmlns="" id="{BE9BDD4E-EDB3-44C0-93CF-B76D90F851C8}"/>
              </a:ext>
            </a:extLst>
          </p:cNvPr>
          <p:cNvSpPr>
            <a:spLocks noChangeArrowheads="1"/>
          </p:cNvSpPr>
          <p:nvPr/>
        </p:nvSpPr>
        <p:spPr bwMode="auto">
          <a:xfrm>
            <a:off x="2422525" y="3246438"/>
            <a:ext cx="993775" cy="12017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7">
            <a:extLst>
              <a:ext uri="{FF2B5EF4-FFF2-40B4-BE49-F238E27FC236}">
                <a16:creationId xmlns:a16="http://schemas.microsoft.com/office/drawing/2014/main" xmlns="" id="{A5B9303C-609D-4806-A6F2-A51E180B570F}"/>
              </a:ext>
            </a:extLst>
          </p:cNvPr>
          <p:cNvSpPr>
            <a:spLocks noEditPoints="1" noChangeArrowheads="1"/>
          </p:cNvSpPr>
          <p:nvPr/>
        </p:nvSpPr>
        <p:spPr bwMode="auto">
          <a:xfrm>
            <a:off x="2422525" y="3252788"/>
            <a:ext cx="977900" cy="11953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09">
            <a:extLst>
              <a:ext uri="{FF2B5EF4-FFF2-40B4-BE49-F238E27FC236}">
                <a16:creationId xmlns:a16="http://schemas.microsoft.com/office/drawing/2014/main" xmlns="" id="{74F8F791-0B62-4827-B2F1-D0504FE0E10E}"/>
              </a:ext>
            </a:extLst>
          </p:cNvPr>
          <p:cNvSpPr>
            <a:spLocks noEditPoints="1" noChangeArrowheads="1"/>
          </p:cNvSpPr>
          <p:nvPr/>
        </p:nvSpPr>
        <p:spPr bwMode="auto">
          <a:xfrm>
            <a:off x="3143250" y="3263900"/>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7">
            <a:extLst>
              <a:ext uri="{FF2B5EF4-FFF2-40B4-BE49-F238E27FC236}">
                <a16:creationId xmlns:a16="http://schemas.microsoft.com/office/drawing/2014/main" xmlns="" id="{11EC5DF8-5E89-496F-8081-5FB743F474F8}"/>
              </a:ext>
            </a:extLst>
          </p:cNvPr>
          <p:cNvSpPr>
            <a:spLocks noChangeArrowheads="1"/>
          </p:cNvSpPr>
          <p:nvPr/>
        </p:nvSpPr>
        <p:spPr bwMode="auto">
          <a:xfrm>
            <a:off x="2443163" y="2514600"/>
            <a:ext cx="123825" cy="180975"/>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8">
            <a:extLst>
              <a:ext uri="{FF2B5EF4-FFF2-40B4-BE49-F238E27FC236}">
                <a16:creationId xmlns:a16="http://schemas.microsoft.com/office/drawing/2014/main" xmlns="" id="{6E73F24A-6E9E-4B84-9E02-F5629523D8F4}"/>
              </a:ext>
            </a:extLst>
          </p:cNvPr>
          <p:cNvSpPr>
            <a:spLocks noChangeArrowheads="1"/>
          </p:cNvSpPr>
          <p:nvPr/>
        </p:nvSpPr>
        <p:spPr bwMode="auto">
          <a:xfrm>
            <a:off x="2597150" y="2600325"/>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9">
            <a:extLst>
              <a:ext uri="{FF2B5EF4-FFF2-40B4-BE49-F238E27FC236}">
                <a16:creationId xmlns:a16="http://schemas.microsoft.com/office/drawing/2014/main" xmlns="" id="{BFACD187-1051-4D82-8320-1DAAC7A8FD01}"/>
              </a:ext>
            </a:extLst>
          </p:cNvPr>
          <p:cNvSpPr>
            <a:spLocks noChangeArrowheads="1"/>
          </p:cNvSpPr>
          <p:nvPr/>
        </p:nvSpPr>
        <p:spPr bwMode="auto">
          <a:xfrm>
            <a:off x="2746375" y="2687638"/>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 name="组合 87">
            <a:extLst>
              <a:ext uri="{FF2B5EF4-FFF2-40B4-BE49-F238E27FC236}">
                <a16:creationId xmlns:a16="http://schemas.microsoft.com/office/drawing/2014/main" xmlns="" id="{9BF249A1-4B86-4E76-BEEA-C488BE876470}"/>
              </a:ext>
            </a:extLst>
          </p:cNvPr>
          <p:cNvGrpSpPr>
            <a:grpSpLocks/>
          </p:cNvGrpSpPr>
          <p:nvPr/>
        </p:nvGrpSpPr>
        <p:grpSpPr bwMode="auto">
          <a:xfrm>
            <a:off x="3649663" y="2506663"/>
            <a:ext cx="1073150" cy="1244600"/>
            <a:chOff x="5332731" y="3343275"/>
            <a:chExt cx="855345" cy="992188"/>
          </a:xfrm>
        </p:grpSpPr>
        <p:sp>
          <p:nvSpPr>
            <p:cNvPr id="93" name="Freeform 168">
              <a:extLst>
                <a:ext uri="{FF2B5EF4-FFF2-40B4-BE49-F238E27FC236}">
                  <a16:creationId xmlns:a16="http://schemas.microsoft.com/office/drawing/2014/main" xmlns="" id="{CE1CA0CA-5096-44EA-8D87-2E4D1DA89D8A}"/>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a16="http://schemas.microsoft.com/office/drawing/2014/main" xmlns="" id="{73FF06F4-C87D-42E3-B462-6C99F9C19E98}"/>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a16="http://schemas.microsoft.com/office/drawing/2014/main" xmlns="" id="{C763CF50-EE1F-446E-A897-0607512BE836}"/>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a16="http://schemas.microsoft.com/office/drawing/2014/main" xmlns="" id="{9E220766-4E47-4AB6-B40C-DF1BA1E36585}"/>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a16="http://schemas.microsoft.com/office/drawing/2014/main" xmlns="" id="{CBAE04A0-1673-4DA8-ADD1-7F75FC0B97DD}"/>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a16="http://schemas.microsoft.com/office/drawing/2014/main" xmlns="" id="{BFAA404D-07BC-435C-92F1-7EAC66343258}"/>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a16="http://schemas.microsoft.com/office/drawing/2014/main" xmlns="" id="{D490FBBA-3B99-4D1F-8880-ED9BBB009A35}"/>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a16="http://schemas.microsoft.com/office/drawing/2014/main" xmlns="" id="{05706127-DCED-4513-840A-3BD3AB114F46}"/>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a16="http://schemas.microsoft.com/office/drawing/2014/main" xmlns="" id="{2EC828FC-01D2-484F-9636-FEE3D4CC282C}"/>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a16="http://schemas.microsoft.com/office/drawing/2014/main" xmlns="" id="{66AE8E7E-FFF4-4CCB-8979-7822DC9ACC1D}"/>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a16="http://schemas.microsoft.com/office/drawing/2014/main" xmlns="" id="{8676D9B5-53AC-4347-9C36-47D1E2013766}"/>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a16="http://schemas.microsoft.com/office/drawing/2014/main" xmlns="" id="{BB5420F2-868C-45B1-BAC0-89DC0CF6F05F}"/>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a16="http://schemas.microsoft.com/office/drawing/2014/main" xmlns="" id="{212E335B-E0EE-4EA2-8379-C441DD026D17}"/>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a16="http://schemas.microsoft.com/office/drawing/2014/main" xmlns="" id="{E245FF98-59F8-42A9-8B51-D1B16ADCEA8A}"/>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7" name="Freeform 168">
            <a:extLst>
              <a:ext uri="{FF2B5EF4-FFF2-40B4-BE49-F238E27FC236}">
                <a16:creationId xmlns:a16="http://schemas.microsoft.com/office/drawing/2014/main" xmlns="" id="{C0745924-2690-4861-BFA6-57FA63001986}"/>
              </a:ext>
            </a:extLst>
          </p:cNvPr>
          <p:cNvSpPr>
            <a:spLocks noChangeArrowheads="1"/>
          </p:cNvSpPr>
          <p:nvPr/>
        </p:nvSpPr>
        <p:spPr bwMode="auto">
          <a:xfrm>
            <a:off x="2181225" y="2065338"/>
            <a:ext cx="1047750" cy="123190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a16="http://schemas.microsoft.com/office/drawing/2014/main" xmlns="" id="{3BA63241-B4F6-41AD-8097-BA7F17D98089}"/>
              </a:ext>
            </a:extLst>
          </p:cNvPr>
          <p:cNvSpPr>
            <a:spLocks noEditPoints="1" noChangeArrowheads="1"/>
          </p:cNvSpPr>
          <p:nvPr/>
        </p:nvSpPr>
        <p:spPr bwMode="auto">
          <a:xfrm>
            <a:off x="2181225" y="2065338"/>
            <a:ext cx="1047750" cy="123190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a16="http://schemas.microsoft.com/office/drawing/2014/main" xmlns="" id="{EE9F85AD-BD72-44CB-8220-D182FCEE2724}"/>
              </a:ext>
            </a:extLst>
          </p:cNvPr>
          <p:cNvSpPr>
            <a:spLocks noChangeArrowheads="1"/>
          </p:cNvSpPr>
          <p:nvPr/>
        </p:nvSpPr>
        <p:spPr bwMode="auto">
          <a:xfrm>
            <a:off x="2168525" y="2089150"/>
            <a:ext cx="998538" cy="12207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a16="http://schemas.microsoft.com/office/drawing/2014/main" xmlns="" id="{F9ED6832-E143-46A5-BEDE-DB6969F31A0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a16="http://schemas.microsoft.com/office/drawing/2014/main" xmlns="" id="{2A5206FA-8AC0-4D97-B849-CB9E5D956C21}"/>
              </a:ext>
            </a:extLst>
          </p:cNvPr>
          <p:cNvSpPr>
            <a:spLocks noChangeArrowheads="1"/>
          </p:cNvSpPr>
          <p:nvPr/>
        </p:nvSpPr>
        <p:spPr bwMode="auto">
          <a:xfrm>
            <a:off x="2155825" y="2108200"/>
            <a:ext cx="985838" cy="1195388"/>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a16="http://schemas.microsoft.com/office/drawing/2014/main" xmlns="" id="{0B844651-D0F8-4D4A-8564-83B4253D7942}"/>
              </a:ext>
            </a:extLst>
          </p:cNvPr>
          <p:cNvSpPr>
            <a:spLocks noChangeArrowheads="1"/>
          </p:cNvSpPr>
          <p:nvPr/>
        </p:nvSpPr>
        <p:spPr bwMode="auto">
          <a:xfrm>
            <a:off x="2181225" y="2098675"/>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a16="http://schemas.microsoft.com/office/drawing/2014/main" xmlns="" id="{2FB07380-BAF5-4752-BF7D-B046D6DD3036}"/>
              </a:ext>
            </a:extLst>
          </p:cNvPr>
          <p:cNvSpPr>
            <a:spLocks noChangeArrowheads="1"/>
          </p:cNvSpPr>
          <p:nvPr/>
        </p:nvSpPr>
        <p:spPr bwMode="auto">
          <a:xfrm>
            <a:off x="2181225" y="2092325"/>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a16="http://schemas.microsoft.com/office/drawing/2014/main" xmlns="" id="{5054D291-0697-4316-8BCA-AF35364DF7E0}"/>
              </a:ext>
            </a:extLst>
          </p:cNvPr>
          <p:cNvSpPr>
            <a:spLocks noChangeArrowheads="1"/>
          </p:cNvSpPr>
          <p:nvPr/>
        </p:nvSpPr>
        <p:spPr bwMode="auto">
          <a:xfrm>
            <a:off x="2181225" y="2089150"/>
            <a:ext cx="1004888" cy="11922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a16="http://schemas.microsoft.com/office/drawing/2014/main" xmlns="" id="{34CE39BF-0A01-457A-B10F-2271DE79115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a16="http://schemas.microsoft.com/office/drawing/2014/main" xmlns="" id="{5AB752B0-98E4-4536-A922-C0F815996C09}"/>
              </a:ext>
            </a:extLst>
          </p:cNvPr>
          <p:cNvSpPr>
            <a:spLocks noChangeArrowheads="1"/>
          </p:cNvSpPr>
          <p:nvPr/>
        </p:nvSpPr>
        <p:spPr bwMode="auto">
          <a:xfrm>
            <a:off x="2181225" y="2101850"/>
            <a:ext cx="1588"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a16="http://schemas.microsoft.com/office/drawing/2014/main" xmlns="" id="{1FB66A94-FBB2-4076-9F76-9E9EAAC5E2E5}"/>
              </a:ext>
            </a:extLst>
          </p:cNvPr>
          <p:cNvSpPr>
            <a:spLocks noChangeArrowheads="1"/>
          </p:cNvSpPr>
          <p:nvPr/>
        </p:nvSpPr>
        <p:spPr bwMode="auto">
          <a:xfrm>
            <a:off x="2181225" y="2101850"/>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a16="http://schemas.microsoft.com/office/drawing/2014/main" xmlns="" id="{59541746-04EE-4389-A2E2-39D3E067B698}"/>
              </a:ext>
            </a:extLst>
          </p:cNvPr>
          <p:cNvSpPr>
            <a:spLocks noChangeArrowheads="1"/>
          </p:cNvSpPr>
          <p:nvPr/>
        </p:nvSpPr>
        <p:spPr bwMode="auto">
          <a:xfrm>
            <a:off x="2189163" y="2092325"/>
            <a:ext cx="993775" cy="12017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a16="http://schemas.microsoft.com/office/drawing/2014/main" xmlns="" id="{895B4344-C9C8-4955-9C22-E848BB0EBB99}"/>
              </a:ext>
            </a:extLst>
          </p:cNvPr>
          <p:cNvSpPr>
            <a:spLocks noEditPoints="1" noChangeArrowheads="1"/>
          </p:cNvSpPr>
          <p:nvPr/>
        </p:nvSpPr>
        <p:spPr bwMode="auto">
          <a:xfrm>
            <a:off x="2189163" y="2098675"/>
            <a:ext cx="977900"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a16="http://schemas.microsoft.com/office/drawing/2014/main" xmlns="" id="{2691B07F-7AEB-44A0-B4AE-1AF0FF1D0D83}"/>
              </a:ext>
            </a:extLst>
          </p:cNvPr>
          <p:cNvSpPr>
            <a:spLocks noEditPoints="1" noChangeArrowheads="1"/>
          </p:cNvSpPr>
          <p:nvPr/>
        </p:nvSpPr>
        <p:spPr bwMode="auto">
          <a:xfrm>
            <a:off x="2909888" y="2109788"/>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a16="http://schemas.microsoft.com/office/drawing/2014/main" xmlns="" id="{FB2E26C0-A535-4D34-870F-2DC9AB8C3E63}"/>
              </a:ext>
            </a:extLst>
          </p:cNvPr>
          <p:cNvSpPr>
            <a:spLocks noChangeArrowheads="1"/>
          </p:cNvSpPr>
          <p:nvPr userDrawn="1"/>
        </p:nvSpPr>
        <p:spPr bwMode="auto">
          <a:xfrm>
            <a:off x="2617788" y="3695700"/>
            <a:ext cx="568325" cy="387350"/>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a16="http://schemas.microsoft.com/office/drawing/2014/main" xmlns="" id="{BF2DDFB1-6C1B-4514-9752-CFBF77FA25B1}"/>
              </a:ext>
            </a:extLst>
          </p:cNvPr>
          <p:cNvSpPr/>
          <p:nvPr userDrawn="1"/>
        </p:nvSpPr>
        <p:spPr bwMode="auto">
          <a:xfrm>
            <a:off x="2508250" y="2522538"/>
            <a:ext cx="341313" cy="444500"/>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3" name="increasing-stocks-graphic_38888">
            <a:extLst>
              <a:ext uri="{FF2B5EF4-FFF2-40B4-BE49-F238E27FC236}">
                <a16:creationId xmlns:a16="http://schemas.microsoft.com/office/drawing/2014/main" xmlns="" id="{7B945D96-5651-4B79-8CB4-95DD4AD24423}"/>
              </a:ext>
            </a:extLst>
          </p:cNvPr>
          <p:cNvSpPr>
            <a:spLocks noChangeAspect="1" noChangeArrowheads="1"/>
          </p:cNvSpPr>
          <p:nvPr userDrawn="1"/>
        </p:nvSpPr>
        <p:spPr bwMode="auto">
          <a:xfrm>
            <a:off x="3951288" y="2970213"/>
            <a:ext cx="347662" cy="34290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4" name="组合 123">
            <a:extLst>
              <a:ext uri="{FF2B5EF4-FFF2-40B4-BE49-F238E27FC236}">
                <a16:creationId xmlns:a16="http://schemas.microsoft.com/office/drawing/2014/main" xmlns="" id="{408B5205-2A4B-456E-8135-3354FC249D20}"/>
              </a:ext>
            </a:extLst>
          </p:cNvPr>
          <p:cNvGrpSpPr/>
          <p:nvPr/>
        </p:nvGrpSpPr>
        <p:grpSpPr>
          <a:xfrm>
            <a:off x="937172" y="1836665"/>
            <a:ext cx="10459150" cy="3921025"/>
            <a:chOff x="1728788" y="7356475"/>
            <a:chExt cx="10683874" cy="4005263"/>
          </a:xfrm>
          <a:solidFill>
            <a:schemeClr val="bg1">
              <a:alpha val="20000"/>
            </a:schemeClr>
          </a:solidFill>
        </p:grpSpPr>
        <p:sp>
          <p:nvSpPr>
            <p:cNvPr id="125" name="Freeform 192">
              <a:extLst>
                <a:ext uri="{FF2B5EF4-FFF2-40B4-BE49-F238E27FC236}">
                  <a16:creationId xmlns:a16="http://schemas.microsoft.com/office/drawing/2014/main" xmlns="" id="{58A50D4B-E781-4B8E-B0B8-717CFC9A36B8}"/>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6" name="Freeform 193">
              <a:extLst>
                <a:ext uri="{FF2B5EF4-FFF2-40B4-BE49-F238E27FC236}">
                  <a16:creationId xmlns:a16="http://schemas.microsoft.com/office/drawing/2014/main" xmlns="" id="{42C3B884-6BFA-42E8-B0D5-E83D66B476DD}"/>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7" name="Freeform 194">
              <a:extLst>
                <a:ext uri="{FF2B5EF4-FFF2-40B4-BE49-F238E27FC236}">
                  <a16:creationId xmlns:a16="http://schemas.microsoft.com/office/drawing/2014/main" xmlns="" id="{AC649642-D428-4D63-A6C3-FCE5F6FC2ECD}"/>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8" name="Freeform 195">
              <a:extLst>
                <a:ext uri="{FF2B5EF4-FFF2-40B4-BE49-F238E27FC236}">
                  <a16:creationId xmlns:a16="http://schemas.microsoft.com/office/drawing/2014/main" xmlns="" id="{B582B9E6-10D1-4810-BDCB-33CEB9AE5C13}"/>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9" name="Freeform 196">
              <a:extLst>
                <a:ext uri="{FF2B5EF4-FFF2-40B4-BE49-F238E27FC236}">
                  <a16:creationId xmlns:a16="http://schemas.microsoft.com/office/drawing/2014/main" xmlns="" id="{2D64AF32-6592-48F7-8F90-F628B250CB1A}"/>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30" name="Freeform 197">
              <a:extLst>
                <a:ext uri="{FF2B5EF4-FFF2-40B4-BE49-F238E27FC236}">
                  <a16:creationId xmlns:a16="http://schemas.microsoft.com/office/drawing/2014/main" xmlns="" id="{C7B7BC44-F60B-4CFC-A762-DC1B77B90055}"/>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1" name="Freeform 198">
              <a:extLst>
                <a:ext uri="{FF2B5EF4-FFF2-40B4-BE49-F238E27FC236}">
                  <a16:creationId xmlns:a16="http://schemas.microsoft.com/office/drawing/2014/main" xmlns="" id="{D1A0F323-7BE9-4760-A08B-DC0C71F82299}"/>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2" name="Freeform 199">
              <a:extLst>
                <a:ext uri="{FF2B5EF4-FFF2-40B4-BE49-F238E27FC236}">
                  <a16:creationId xmlns:a16="http://schemas.microsoft.com/office/drawing/2014/main" xmlns="" id="{573B7176-9E7C-4448-8B97-7BC840646C44}"/>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3" name="Freeform 200">
              <a:extLst>
                <a:ext uri="{FF2B5EF4-FFF2-40B4-BE49-F238E27FC236}">
                  <a16:creationId xmlns:a16="http://schemas.microsoft.com/office/drawing/2014/main" xmlns="" id="{25B855A5-D691-4AB7-80BC-8C8ABA078521}"/>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4" name="Freeform 201">
              <a:extLst>
                <a:ext uri="{FF2B5EF4-FFF2-40B4-BE49-F238E27FC236}">
                  <a16:creationId xmlns:a16="http://schemas.microsoft.com/office/drawing/2014/main" xmlns="" id="{0E66EEBF-B104-499C-99BF-2232A7CFAA86}"/>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5" name="Freeform 202">
              <a:extLst>
                <a:ext uri="{FF2B5EF4-FFF2-40B4-BE49-F238E27FC236}">
                  <a16:creationId xmlns:a16="http://schemas.microsoft.com/office/drawing/2014/main" xmlns="" id="{C46644B0-DEA0-494B-80FF-FF2998E8968E}"/>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6" name="Freeform 203">
              <a:extLst>
                <a:ext uri="{FF2B5EF4-FFF2-40B4-BE49-F238E27FC236}">
                  <a16:creationId xmlns:a16="http://schemas.microsoft.com/office/drawing/2014/main" xmlns="" id="{84843ED1-8455-4781-88CA-CEDE3EA329A2}"/>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7" name="Freeform 204">
              <a:extLst>
                <a:ext uri="{FF2B5EF4-FFF2-40B4-BE49-F238E27FC236}">
                  <a16:creationId xmlns:a16="http://schemas.microsoft.com/office/drawing/2014/main" xmlns="" id="{2794E835-85EE-4FB3-B9C5-7B829D44182B}"/>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8" name="Freeform 205">
              <a:extLst>
                <a:ext uri="{FF2B5EF4-FFF2-40B4-BE49-F238E27FC236}">
                  <a16:creationId xmlns:a16="http://schemas.microsoft.com/office/drawing/2014/main" xmlns="" id="{A6A96DDD-881F-4933-8141-B1079D43E40D}"/>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9" name="Freeform 206">
              <a:extLst>
                <a:ext uri="{FF2B5EF4-FFF2-40B4-BE49-F238E27FC236}">
                  <a16:creationId xmlns:a16="http://schemas.microsoft.com/office/drawing/2014/main" xmlns="" id="{91CCE4F0-4E3B-4FC0-9A28-7D5532D360C7}"/>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40" name="Freeform 207">
              <a:extLst>
                <a:ext uri="{FF2B5EF4-FFF2-40B4-BE49-F238E27FC236}">
                  <a16:creationId xmlns:a16="http://schemas.microsoft.com/office/drawing/2014/main" xmlns="" id="{7AD7E107-798E-44E5-9A60-81D6063E552F}"/>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1" name="Freeform 208">
              <a:extLst>
                <a:ext uri="{FF2B5EF4-FFF2-40B4-BE49-F238E27FC236}">
                  <a16:creationId xmlns:a16="http://schemas.microsoft.com/office/drawing/2014/main" xmlns="" id="{B6F24CC8-64D4-45EC-A81B-8E268510B2AE}"/>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2" name="Freeform 209">
              <a:extLst>
                <a:ext uri="{FF2B5EF4-FFF2-40B4-BE49-F238E27FC236}">
                  <a16:creationId xmlns:a16="http://schemas.microsoft.com/office/drawing/2014/main" xmlns="" id="{570606B0-14CE-456E-916D-7B0EF100926A}"/>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3" name="Freeform 210">
              <a:extLst>
                <a:ext uri="{FF2B5EF4-FFF2-40B4-BE49-F238E27FC236}">
                  <a16:creationId xmlns:a16="http://schemas.microsoft.com/office/drawing/2014/main" xmlns="" id="{21926438-26C9-485F-8528-D4EBD2FCD3BD}"/>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1">
              <a:extLst>
                <a:ext uri="{FF2B5EF4-FFF2-40B4-BE49-F238E27FC236}">
                  <a16:creationId xmlns:a16="http://schemas.microsoft.com/office/drawing/2014/main" xmlns="" id="{D6F8F4F0-E282-4028-BD0A-14FE37212B21}"/>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5" name="Freeform 212">
              <a:extLst>
                <a:ext uri="{FF2B5EF4-FFF2-40B4-BE49-F238E27FC236}">
                  <a16:creationId xmlns:a16="http://schemas.microsoft.com/office/drawing/2014/main" xmlns="" id="{49F2D76C-E743-4E53-BCD9-3B76409A0C70}"/>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6" name="Freeform 213">
              <a:extLst>
                <a:ext uri="{FF2B5EF4-FFF2-40B4-BE49-F238E27FC236}">
                  <a16:creationId xmlns:a16="http://schemas.microsoft.com/office/drawing/2014/main" xmlns="" id="{3EC33C70-C173-4119-886B-05C6A3FEE621}"/>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7" name="Freeform 214">
              <a:extLst>
                <a:ext uri="{FF2B5EF4-FFF2-40B4-BE49-F238E27FC236}">
                  <a16:creationId xmlns:a16="http://schemas.microsoft.com/office/drawing/2014/main" xmlns="" id="{5B0986E0-9102-4FE8-8A78-F43B1948E199}"/>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8" name="Freeform 215">
              <a:extLst>
                <a:ext uri="{FF2B5EF4-FFF2-40B4-BE49-F238E27FC236}">
                  <a16:creationId xmlns:a16="http://schemas.microsoft.com/office/drawing/2014/main" xmlns="" id="{4C2CE224-C3E4-435C-9E5F-DFAD396A9B39}"/>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9" name="Freeform 216">
              <a:extLst>
                <a:ext uri="{FF2B5EF4-FFF2-40B4-BE49-F238E27FC236}">
                  <a16:creationId xmlns:a16="http://schemas.microsoft.com/office/drawing/2014/main" xmlns="" id="{3EE7E84E-9FDD-4C43-AEB8-3A0270CCBEF0}"/>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50" name="Freeform 217">
              <a:extLst>
                <a:ext uri="{FF2B5EF4-FFF2-40B4-BE49-F238E27FC236}">
                  <a16:creationId xmlns:a16="http://schemas.microsoft.com/office/drawing/2014/main" xmlns="" id="{9076291C-4C90-4904-AF06-A94D0A908F24}"/>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1" name="Freeform 218">
              <a:extLst>
                <a:ext uri="{FF2B5EF4-FFF2-40B4-BE49-F238E27FC236}">
                  <a16:creationId xmlns:a16="http://schemas.microsoft.com/office/drawing/2014/main" xmlns="" id="{77350675-95D4-42C4-937D-B9404ED3D214}"/>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2" name="Freeform 219">
              <a:extLst>
                <a:ext uri="{FF2B5EF4-FFF2-40B4-BE49-F238E27FC236}">
                  <a16:creationId xmlns:a16="http://schemas.microsoft.com/office/drawing/2014/main" xmlns="" id="{F4C520F9-6C53-4FC2-AE08-184ABD428A0A}"/>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3" name="Freeform 220">
              <a:extLst>
                <a:ext uri="{FF2B5EF4-FFF2-40B4-BE49-F238E27FC236}">
                  <a16:creationId xmlns:a16="http://schemas.microsoft.com/office/drawing/2014/main" xmlns="" id="{51775C85-78BA-4BC7-9DA7-E65A8D3570D1}"/>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4" name="Freeform 221">
              <a:extLst>
                <a:ext uri="{FF2B5EF4-FFF2-40B4-BE49-F238E27FC236}">
                  <a16:creationId xmlns:a16="http://schemas.microsoft.com/office/drawing/2014/main" xmlns="" id="{066B28FA-F507-4F6A-866B-CBEEE43D6578}"/>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5" name="Freeform 222">
              <a:extLst>
                <a:ext uri="{FF2B5EF4-FFF2-40B4-BE49-F238E27FC236}">
                  <a16:creationId xmlns:a16="http://schemas.microsoft.com/office/drawing/2014/main" xmlns="" id="{9BA823AC-0A54-4561-9AF2-6668DED5210E}"/>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6" name="Freeform 223">
              <a:extLst>
                <a:ext uri="{FF2B5EF4-FFF2-40B4-BE49-F238E27FC236}">
                  <a16:creationId xmlns:a16="http://schemas.microsoft.com/office/drawing/2014/main" xmlns="" id="{CD76A1BD-849B-40B9-8635-849C526453AC}"/>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7" name="Freeform 224">
              <a:extLst>
                <a:ext uri="{FF2B5EF4-FFF2-40B4-BE49-F238E27FC236}">
                  <a16:creationId xmlns:a16="http://schemas.microsoft.com/office/drawing/2014/main" xmlns="" id="{2A0EB56E-B765-4A6E-9CB1-93948BBDAD6D}"/>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8" name="Freeform 225">
              <a:extLst>
                <a:ext uri="{FF2B5EF4-FFF2-40B4-BE49-F238E27FC236}">
                  <a16:creationId xmlns:a16="http://schemas.microsoft.com/office/drawing/2014/main" xmlns="" id="{8C224592-BDF6-4F7C-8D70-391E726A53BB}"/>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9" name="Freeform 226">
              <a:extLst>
                <a:ext uri="{FF2B5EF4-FFF2-40B4-BE49-F238E27FC236}">
                  <a16:creationId xmlns:a16="http://schemas.microsoft.com/office/drawing/2014/main" xmlns="" id="{643D17BB-AB5D-40B5-B26F-B16C717896EA}"/>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60" name="Freeform 227">
              <a:extLst>
                <a:ext uri="{FF2B5EF4-FFF2-40B4-BE49-F238E27FC236}">
                  <a16:creationId xmlns:a16="http://schemas.microsoft.com/office/drawing/2014/main" xmlns="" id="{B15EAFBD-9DE6-430C-9E4C-0D0EC0E1350A}"/>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1" name="Freeform 228">
              <a:extLst>
                <a:ext uri="{FF2B5EF4-FFF2-40B4-BE49-F238E27FC236}">
                  <a16:creationId xmlns:a16="http://schemas.microsoft.com/office/drawing/2014/main" xmlns="" id="{1EE8533E-7B34-4C1A-9D4C-F3F650020B8E}"/>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2" name="Freeform 229">
              <a:extLst>
                <a:ext uri="{FF2B5EF4-FFF2-40B4-BE49-F238E27FC236}">
                  <a16:creationId xmlns:a16="http://schemas.microsoft.com/office/drawing/2014/main" xmlns="" id="{AA8EB42A-15EF-4218-9E89-09E076600191}"/>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3" name="Freeform 230">
              <a:extLst>
                <a:ext uri="{FF2B5EF4-FFF2-40B4-BE49-F238E27FC236}">
                  <a16:creationId xmlns:a16="http://schemas.microsoft.com/office/drawing/2014/main" xmlns="" id="{F00CE7C7-86EA-4002-BE71-087D77E8B173}"/>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4" name="Freeform 231">
              <a:extLst>
                <a:ext uri="{FF2B5EF4-FFF2-40B4-BE49-F238E27FC236}">
                  <a16:creationId xmlns:a16="http://schemas.microsoft.com/office/drawing/2014/main" xmlns="" id="{E3C7619A-36B1-4B70-8DF7-CCC35E451F7E}"/>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13" name="标题 1"/>
          <p:cNvSpPr>
            <a:spLocks noGrp="1"/>
          </p:cNvSpPr>
          <p:nvPr userDrawn="1">
            <p:ph type="ctrTitle" hasCustomPrompt="1"/>
          </p:nvPr>
        </p:nvSpPr>
        <p:spPr>
          <a:xfrm>
            <a:off x="6283316" y="2193080"/>
            <a:ext cx="4950229" cy="1621509"/>
          </a:xfrm>
        </p:spPr>
        <p:txBody>
          <a:bodyPr>
            <a:noAutofit/>
          </a:bodyPr>
          <a:lstStyle>
            <a:lvl1pPr marL="0" indent="0" algn="l">
              <a:buFont typeface="Arial" panose="020B0604020202020204" pitchFamily="34" charset="0"/>
              <a:buNone/>
              <a:defRPr sz="8800">
                <a:solidFill>
                  <a:schemeClr val="bg1"/>
                </a:solidFill>
              </a:defRPr>
            </a:lvl1pPr>
          </a:lstStyle>
          <a:p>
            <a:r>
              <a:rPr lang="en-US" altLang="zh-CN" noProof="1"/>
              <a:t>Thanks</a:t>
            </a:r>
            <a:endParaRPr lang="zh-CN" altLang="en-US" noProof="1"/>
          </a:p>
        </p:txBody>
      </p:sp>
      <p:sp>
        <p:nvSpPr>
          <p:cNvPr id="15" name="文本占位符 62"/>
          <p:cNvSpPr>
            <a:spLocks noGrp="1"/>
          </p:cNvSpPr>
          <p:nvPr userDrawn="1">
            <p:ph type="body" sz="quarter" idx="18" hasCustomPrompt="1"/>
          </p:nvPr>
        </p:nvSpPr>
        <p:spPr>
          <a:xfrm>
            <a:off x="6283316" y="4499316"/>
            <a:ext cx="4950229" cy="310871"/>
          </a:xfrm>
        </p:spPr>
        <p:txBody>
          <a:bodyPr rtlCol="0">
            <a:normAutofit/>
          </a:bodyPr>
          <a:lstStyle>
            <a:lvl1pPr marL="0" indent="0" algn="l">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noProof="1"/>
              <a:t>Data</a:t>
            </a:r>
          </a:p>
        </p:txBody>
      </p:sp>
      <p:sp>
        <p:nvSpPr>
          <p:cNvPr id="6" name="文本占位符 13"/>
          <p:cNvSpPr>
            <a:spLocks noGrp="1"/>
          </p:cNvSpPr>
          <p:nvPr userDrawn="1">
            <p:ph type="body" sz="quarter" idx="10" hasCustomPrompt="1"/>
          </p:nvPr>
        </p:nvSpPr>
        <p:spPr>
          <a:xfrm>
            <a:off x="6283318" y="4203045"/>
            <a:ext cx="4950229"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Tree>
    <p:extLst>
      <p:ext uri="{BB962C8B-B14F-4D97-AF65-F5344CB8AC3E}">
        <p14:creationId xmlns:p14="http://schemas.microsoft.com/office/powerpoint/2010/main" val="108328761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xmlns="" id="{6113CD24-F3A3-42C2-A4C2-4BE6EE2CFDEB}"/>
              </a:ext>
            </a:extLst>
          </p:cNvPr>
          <p:cNvSpPr>
            <a:spLocks noGrp="1" noChangeArrowheads="1"/>
          </p:cNvSpPr>
          <p:nvPr>
            <p:ph type="title" idx="4294967295"/>
          </p:nvPr>
        </p:nvSpPr>
        <p:spPr bwMode="auto">
          <a:xfrm>
            <a:off x="669925" y="0"/>
            <a:ext cx="10850563"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xmlns="" id="{2020242A-7B51-4433-88E0-4DA53E65485A}"/>
              </a:ext>
            </a:extLst>
          </p:cNvPr>
          <p:cNvSpPr>
            <a:spLocks noGrp="1" noChangeArrowheads="1"/>
          </p:cNvSpPr>
          <p:nvPr>
            <p:ph type="body" idx="4294967295"/>
          </p:nvPr>
        </p:nvSpPr>
        <p:spPr bwMode="auto">
          <a:xfrm>
            <a:off x="669925" y="1123950"/>
            <a:ext cx="10850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cxnSp>
        <p:nvCxnSpPr>
          <p:cNvPr id="7" name="直接连接符 6">
            <a:extLst>
              <a:ext uri="{FF2B5EF4-FFF2-40B4-BE49-F238E27FC236}">
                <a16:creationId xmlns:a16="http://schemas.microsoft.com/office/drawing/2014/main" xmlns="" id="{9227C1A2-BF7A-415F-B2D5-10EAE8FD94C6}"/>
              </a:ext>
            </a:extLst>
          </p:cNvPr>
          <p:cNvCxnSpPr>
            <a:cxnSpLocks/>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a16="http://schemas.microsoft.com/office/drawing/2014/main" xmlns="" id="{FAC81E72-FAA7-4B1C-89A3-27C0490C863A}"/>
              </a:ext>
            </a:extLst>
          </p:cNvPr>
          <p:cNvPicPr>
            <a:picLocks noChangeAspect="1"/>
          </p:cNvPicPr>
          <p:nvPr userDrawn="1"/>
        </p:nvPicPr>
        <p:blipFill>
          <a:blip r:embed="rId9"/>
          <a:stretch>
            <a:fillRect/>
          </a:stretch>
        </p:blipFill>
        <p:spPr>
          <a:xfrm>
            <a:off x="669925" y="6240463"/>
            <a:ext cx="4170693" cy="206375"/>
          </a:xfrm>
          <a:prstGeom prst="rect">
            <a:avLst/>
          </a:prstGeom>
        </p:spPr>
      </p:pic>
      <p:sp>
        <p:nvSpPr>
          <p:cNvPr id="12" name="文本框 11">
            <a:extLst>
              <a:ext uri="{FF2B5EF4-FFF2-40B4-BE49-F238E27FC236}">
                <a16:creationId xmlns:a16="http://schemas.microsoft.com/office/drawing/2014/main" xmlns="" id="{82F02BE1-6CD5-45BD-B93A-34CD7D9B7B0D}"/>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3" r:id="rId6"/>
    <p:sldLayoutId id="2147483681" r:id="rId7"/>
  </p:sldLayoutIdLst>
  <p:hf sldNum="0" hdr="0" ftr="0" dt="0"/>
  <p:txStyles>
    <p:titleStyle>
      <a:lvl1pPr algn="l" rtl="0" eaLnBrk="1" fontAlgn="base" hangingPunct="1">
        <a:lnSpc>
          <a:spcPct val="90000"/>
        </a:lnSpc>
        <a:spcBef>
          <a:spcPct val="0"/>
        </a:spcBef>
        <a:spcAft>
          <a:spcPct val="0"/>
        </a:spcAft>
        <a:defRPr sz="2800" b="1" kern="1200">
          <a:solidFill>
            <a:schemeClr val="tx1"/>
          </a:solidFill>
          <a:latin typeface="+mj-lt"/>
          <a:ea typeface="+mj-ea"/>
          <a:cs typeface="+mj-cs"/>
        </a:defRPr>
      </a:lvl1pPr>
      <a:lvl2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2pPr>
      <a:lvl3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3pPr>
      <a:lvl4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4pPr>
      <a:lvl5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5pPr>
      <a:lvl6pPr marL="4572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6pPr>
      <a:lvl7pPr marL="9144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7pPr>
      <a:lvl8pPr marL="13716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8pPr>
      <a:lvl9pPr marL="18288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0.jpg"/></Relationships>
</file>

<file path=ppt/slides/_rels/slide2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29.png"/><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33.jpg"/></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8.xml"/><Relationship Id="rId1" Type="http://schemas.openxmlformats.org/officeDocument/2006/relationships/slideLayout" Target="../slideLayouts/slideLayout3.xml"/><Relationship Id="rId5" Type="http://schemas.openxmlformats.org/officeDocument/2006/relationships/image" Target="../media/image39.jpeg"/><Relationship Id="rId4" Type="http://schemas.openxmlformats.org/officeDocument/2006/relationships/image" Target="../media/image38.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43.jpg"/></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46.png"/></Relationships>
</file>

<file path=ppt/slides/_rels/slide4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47.png"/></Relationships>
</file>

<file path=ppt/slides/_rels/slide4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0.xml"/><Relationship Id="rId1" Type="http://schemas.openxmlformats.org/officeDocument/2006/relationships/slideLayout" Target="../slideLayouts/slideLayout3.xml"/><Relationship Id="rId5" Type="http://schemas.openxmlformats.org/officeDocument/2006/relationships/image" Target="../media/image53.png"/><Relationship Id="rId4" Type="http://schemas.openxmlformats.org/officeDocument/2006/relationships/image" Target="../media/image5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xmlns="" id="{5C674A10-3091-4452-A509-500FDC13F4FE}"/>
              </a:ext>
            </a:extLst>
          </p:cNvPr>
          <p:cNvSpPr>
            <a:spLocks noGrp="1"/>
          </p:cNvSpPr>
          <p:nvPr>
            <p:ph type="subTitle" idx="1"/>
          </p:nvPr>
        </p:nvSpPr>
        <p:spPr/>
        <p:txBody>
          <a:bodyPr/>
          <a:lstStyle/>
          <a:p>
            <a:r>
              <a:rPr lang="zh-CN" altLang="en-US" smtClean="0"/>
              <a:t>课件：一</a:t>
            </a:r>
            <a:r>
              <a:rPr lang="zh-CN" altLang="en-US" dirty="0" smtClean="0"/>
              <a:t>阶段检测算法</a:t>
            </a:r>
            <a:endParaRPr lang="zh-CN" altLang="en-US" dirty="0"/>
          </a:p>
        </p:txBody>
      </p:sp>
      <p:sp>
        <p:nvSpPr>
          <p:cNvPr id="3" name="标题 2">
            <a:extLst>
              <a:ext uri="{FF2B5EF4-FFF2-40B4-BE49-F238E27FC236}">
                <a16:creationId xmlns:a16="http://schemas.microsoft.com/office/drawing/2014/main" xmlns="" id="{37B72B94-1F12-468F-939B-26F0B436DFF1}"/>
              </a:ext>
            </a:extLst>
          </p:cNvPr>
          <p:cNvSpPr>
            <a:spLocks noGrp="1"/>
          </p:cNvSpPr>
          <p:nvPr>
            <p:ph type="ctrTitle"/>
          </p:nvPr>
        </p:nvSpPr>
        <p:spPr/>
        <p:txBody>
          <a:bodyPr/>
          <a:lstStyle/>
          <a:p>
            <a:r>
              <a:rPr lang="zh-CN" altLang="en-US" dirty="0" smtClean="0"/>
              <a:t>目标检测的实现</a:t>
            </a:r>
            <a:endParaRPr lang="zh-CN" altLang="en-US" dirty="0"/>
          </a:p>
        </p:txBody>
      </p:sp>
      <p:sp>
        <p:nvSpPr>
          <p:cNvPr id="4" name="文本占位符 3">
            <a:extLst>
              <a:ext uri="{FF2B5EF4-FFF2-40B4-BE49-F238E27FC236}">
                <a16:creationId xmlns:a16="http://schemas.microsoft.com/office/drawing/2014/main" xmlns="" id="{D30CE500-237B-4E6E-B7FE-6735EA2F0F52}"/>
              </a:ext>
            </a:extLst>
          </p:cNvPr>
          <p:cNvSpPr>
            <a:spLocks noGrp="1"/>
          </p:cNvSpPr>
          <p:nvPr>
            <p:ph type="body" sz="quarter" idx="10"/>
          </p:nvPr>
        </p:nvSpPr>
        <p:spPr/>
        <p:txBody>
          <a:bodyPr/>
          <a:lstStyle/>
          <a:p>
            <a:r>
              <a:rPr lang="zh-CN" altLang="en-US" dirty="0"/>
              <a:t>杭州钛比科技有限公司</a:t>
            </a:r>
          </a:p>
        </p:txBody>
      </p:sp>
      <p:sp>
        <p:nvSpPr>
          <p:cNvPr id="5" name="文本占位符 4">
            <a:extLst>
              <a:ext uri="{FF2B5EF4-FFF2-40B4-BE49-F238E27FC236}">
                <a16:creationId xmlns:a16="http://schemas.microsoft.com/office/drawing/2014/main" xmlns="" id="{CB507061-DD1C-4DEB-9AE0-8D195E8974B7}"/>
              </a:ext>
            </a:extLst>
          </p:cNvPr>
          <p:cNvSpPr>
            <a:spLocks noGrp="1"/>
          </p:cNvSpPr>
          <p:nvPr>
            <p:ph type="body" sz="quarter" idx="11"/>
          </p:nvPr>
        </p:nvSpPr>
        <p:spPr/>
        <p:txBody>
          <a:bodyPr/>
          <a:lstStyle/>
          <a:p>
            <a:r>
              <a:rPr lang="en-US" altLang="zh-CN" dirty="0"/>
              <a:t>www.terabits.cn</a:t>
            </a:r>
            <a:endParaRPr lang="zh-CN" altLang="en-US" dirty="0"/>
          </a:p>
        </p:txBody>
      </p:sp>
    </p:spTree>
    <p:extLst>
      <p:ext uri="{BB962C8B-B14F-4D97-AF65-F5344CB8AC3E}">
        <p14:creationId xmlns:p14="http://schemas.microsoft.com/office/powerpoint/2010/main" val="463984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课程目标</a:t>
            </a:r>
            <a:endParaRPr lang="zh-CN" altLang="en-US" dirty="0"/>
          </a:p>
        </p:txBody>
      </p:sp>
      <p:sp>
        <p:nvSpPr>
          <p:cNvPr id="3" name="内容占位符 2"/>
          <p:cNvSpPr>
            <a:spLocks noGrp="1"/>
          </p:cNvSpPr>
          <p:nvPr>
            <p:ph sz="quarter" idx="13"/>
          </p:nvPr>
        </p:nvSpPr>
        <p:spPr/>
        <p:txBody>
          <a:bodyPr/>
          <a:lstStyle/>
          <a:p>
            <a:pPr marL="0" indent="0" defTabSz="2400300">
              <a:lnSpc>
                <a:spcPct val="150000"/>
              </a:lnSpc>
              <a:spcBef>
                <a:spcPts val="600"/>
              </a:spcBef>
              <a:spcAft>
                <a:spcPts val="600"/>
              </a:spcAft>
              <a:buNone/>
            </a:pPr>
            <a:r>
              <a:rPr kumimoji="1" lang="zh-CN" altLang="en-US" b="1" dirty="0">
                <a:latin typeface="微软雅黑" panose="020B0503020204020204" pitchFamily="34" charset="-122"/>
                <a:ea typeface="微软雅黑" panose="020B0503020204020204" pitchFamily="34" charset="-122"/>
              </a:rPr>
              <a:t>学习完本课程后，你将能够</a:t>
            </a:r>
            <a:r>
              <a:rPr kumimoji="1" lang="zh-CN" altLang="en-US" b="1" dirty="0" smtClean="0">
                <a:latin typeface="微软雅黑" panose="020B0503020204020204" pitchFamily="34" charset="-122"/>
                <a:ea typeface="微软雅黑" panose="020B0503020204020204" pitchFamily="34" charset="-122"/>
              </a:rPr>
              <a:t>：</a:t>
            </a: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了解</a:t>
            </a:r>
            <a:r>
              <a:rPr kumimoji="1" lang="en-US" altLang="zh-CN" dirty="0" smtClean="0">
                <a:latin typeface="微软雅黑" panose="020B0503020204020204" pitchFamily="34" charset="-122"/>
                <a:ea typeface="微软雅黑" panose="020B0503020204020204" pitchFamily="34" charset="-122"/>
              </a:rPr>
              <a:t>YOLO</a:t>
            </a:r>
            <a:r>
              <a:rPr kumimoji="1" lang="zh-CN" altLang="en-US" dirty="0" smtClean="0">
                <a:latin typeface="微软雅黑" panose="020B0503020204020204" pitchFamily="34" charset="-122"/>
                <a:ea typeface="微软雅黑" panose="020B0503020204020204" pitchFamily="34" charset="-122"/>
              </a:rPr>
              <a:t>算法的原理与改进</a:t>
            </a:r>
            <a:endParaRPr kumimoji="1" lang="en-US" altLang="zh-CN" dirty="0" smtClean="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r>
              <a:rPr kumimoji="1" lang="zh-CN" altLang="en-US" dirty="0" smtClean="0">
                <a:latin typeface="微软雅黑" panose="020B0503020204020204" pitchFamily="34" charset="-122"/>
                <a:ea typeface="微软雅黑" panose="020B0503020204020204" pitchFamily="34" charset="-122"/>
              </a:rPr>
              <a:t>了解其他重要的一阶段检测算法</a:t>
            </a:r>
            <a:endParaRPr kumimoji="1" lang="en-US" altLang="zh-CN" dirty="0" smtClean="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46861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xmlns="" id="{3D28A7FA-9777-482F-9F1D-686C9423C48A}"/>
              </a:ext>
            </a:extLst>
          </p:cNvPr>
          <p:cNvSpPr>
            <a:spLocks noGrp="1"/>
          </p:cNvSpPr>
          <p:nvPr>
            <p:ph sz="quarter" idx="11"/>
          </p:nvPr>
        </p:nvSpPr>
        <p:spPr/>
        <p:txBody>
          <a:bodyPr/>
          <a:lstStyle/>
          <a:p>
            <a:pPr>
              <a:lnSpc>
                <a:spcPct val="125000"/>
              </a:lnSpc>
              <a:buFont typeface="+mj-lt"/>
              <a:buAutoNum type="arabicPeriod"/>
            </a:pPr>
            <a:r>
              <a:rPr lang="zh-CN" altLang="en-US" dirty="0"/>
              <a:t>一</a:t>
            </a:r>
            <a:r>
              <a:rPr lang="zh-CN" altLang="en-US" dirty="0" smtClean="0"/>
              <a:t>阶段检测算法</a:t>
            </a:r>
            <a:r>
              <a:rPr lang="en-US" altLang="zh-CN" dirty="0" smtClean="0"/>
              <a:t>——YOLO</a:t>
            </a:r>
          </a:p>
          <a:p>
            <a:pPr lvl="1">
              <a:buFont typeface="+mj-lt"/>
              <a:buAutoNum type="arabicPeriod"/>
            </a:pPr>
            <a:r>
              <a:rPr lang="en-US" altLang="zh-CN" dirty="0" smtClean="0"/>
              <a:t>YOLOv1</a:t>
            </a:r>
          </a:p>
          <a:p>
            <a:pPr lvl="1">
              <a:buFont typeface="+mj-lt"/>
              <a:buAutoNum type="arabicPeriod"/>
            </a:pPr>
            <a:r>
              <a:rPr lang="en-US" altLang="zh-CN" dirty="0" smtClean="0"/>
              <a:t>YOLOv2</a:t>
            </a:r>
          </a:p>
          <a:p>
            <a:pPr lvl="1">
              <a:buFont typeface="+mj-lt"/>
              <a:buAutoNum type="arabicPeriod"/>
            </a:pPr>
            <a:r>
              <a:rPr lang="en-US" altLang="zh-CN" dirty="0" smtClean="0"/>
              <a:t>YOLOv3</a:t>
            </a:r>
          </a:p>
          <a:p>
            <a:pPr lvl="1">
              <a:buFont typeface="+mj-lt"/>
              <a:buAutoNum type="arabicPeriod"/>
            </a:pPr>
            <a:r>
              <a:rPr lang="en-US" altLang="zh-CN" dirty="0" smtClean="0"/>
              <a:t>YOLOv4</a:t>
            </a:r>
          </a:p>
          <a:p>
            <a:pPr lvl="1">
              <a:buFont typeface="+mj-lt"/>
              <a:buAutoNum type="arabicPeriod"/>
            </a:pPr>
            <a:r>
              <a:rPr lang="en-US" altLang="zh-CN" dirty="0" smtClean="0"/>
              <a:t>YOLOv5</a:t>
            </a:r>
          </a:p>
          <a:p>
            <a:pPr>
              <a:lnSpc>
                <a:spcPct val="125000"/>
              </a:lnSpc>
              <a:buFont typeface="+mj-lt"/>
              <a:buAutoNum type="arabicPeriod"/>
            </a:pPr>
            <a:r>
              <a:rPr lang="zh-CN" altLang="en-US" dirty="0" smtClean="0"/>
              <a:t>其他的一阶段检测算法</a:t>
            </a:r>
            <a:endParaRPr lang="en-US" altLang="zh-CN" dirty="0" smtClean="0"/>
          </a:p>
          <a:p>
            <a:pPr lvl="1">
              <a:buFont typeface="+mj-lt"/>
              <a:buAutoNum type="arabicPeriod"/>
            </a:pPr>
            <a:r>
              <a:rPr lang="en-US" altLang="zh-CN" dirty="0" smtClean="0"/>
              <a:t>SSD</a:t>
            </a:r>
            <a:r>
              <a:rPr lang="zh-CN" altLang="en-US" dirty="0" smtClean="0"/>
              <a:t>算法</a:t>
            </a:r>
            <a:endParaRPr lang="en-US" altLang="zh-CN" dirty="0" smtClean="0"/>
          </a:p>
          <a:p>
            <a:pPr lvl="1">
              <a:buFont typeface="+mj-lt"/>
              <a:buAutoNum type="arabicPeriod"/>
            </a:pPr>
            <a:r>
              <a:rPr lang="en-US" altLang="zh-CN" dirty="0" smtClean="0"/>
              <a:t>FCOS</a:t>
            </a:r>
            <a:r>
              <a:rPr lang="zh-CN" altLang="en-US" dirty="0" smtClean="0"/>
              <a:t>算法</a:t>
            </a:r>
            <a:endParaRPr lang="zh-CN" altLang="en-US" dirty="0"/>
          </a:p>
        </p:txBody>
      </p:sp>
    </p:spTree>
    <p:extLst>
      <p:ext uri="{BB962C8B-B14F-4D97-AF65-F5344CB8AC3E}">
        <p14:creationId xmlns:p14="http://schemas.microsoft.com/office/powerpoint/2010/main" val="2184989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/01</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一阶段检测算法</a:t>
            </a:r>
            <a:r>
              <a:rPr lang="en-US" altLang="zh-CN" dirty="0" smtClean="0"/>
              <a:t>——YOLO</a:t>
            </a:r>
            <a:endParaRPr lang="zh-CN" altLang="en-US" dirty="0"/>
          </a:p>
        </p:txBody>
      </p:sp>
    </p:spTree>
    <p:extLst>
      <p:ext uri="{BB962C8B-B14F-4D97-AF65-F5344CB8AC3E}">
        <p14:creationId xmlns:p14="http://schemas.microsoft.com/office/powerpoint/2010/main" val="1874987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一阶段检测算法</a:t>
            </a:r>
            <a:endParaRPr lang="zh-CN" altLang="en-US" dirty="0"/>
          </a:p>
        </p:txBody>
      </p:sp>
      <p:sp>
        <p:nvSpPr>
          <p:cNvPr id="3" name="内容占位符 2"/>
          <p:cNvSpPr>
            <a:spLocks noGrp="1"/>
          </p:cNvSpPr>
          <p:nvPr>
            <p:ph sz="quarter" idx="13"/>
          </p:nvPr>
        </p:nvSpPr>
        <p:spPr/>
        <p:txBody>
          <a:bodyPr/>
          <a:lstStyle/>
          <a:p>
            <a:r>
              <a:rPr lang="zh-CN" altLang="en-US" dirty="0" smtClean="0"/>
              <a:t>直接回归目标框的位置坐标和目标的分类概率</a:t>
            </a:r>
            <a:endParaRPr lang="en-US" altLang="zh-CN" dirty="0" smtClean="0"/>
          </a:p>
          <a:p>
            <a:r>
              <a:rPr lang="zh-CN" altLang="en-US" dirty="0" smtClean="0"/>
              <a:t>基于锚：</a:t>
            </a:r>
            <a:endParaRPr lang="en-US" altLang="zh-CN" dirty="0" smtClean="0"/>
          </a:p>
          <a:p>
            <a:pPr lvl="1"/>
            <a:r>
              <a:rPr lang="zh-CN" altLang="en-US" dirty="0" smtClean="0"/>
              <a:t>用于目标尺寸、形态变化不大的场景</a:t>
            </a:r>
            <a:endParaRPr lang="en-US" altLang="zh-CN" dirty="0" smtClean="0"/>
          </a:p>
          <a:p>
            <a:pPr lvl="1"/>
            <a:r>
              <a:rPr lang="zh-CN" altLang="en-US" dirty="0" smtClean="0"/>
              <a:t>如人脸检测、行人检测</a:t>
            </a:r>
            <a:endParaRPr lang="en-US" altLang="zh-CN" dirty="0" smtClean="0"/>
          </a:p>
          <a:p>
            <a:pPr lvl="1"/>
            <a:r>
              <a:rPr lang="en-US" altLang="zh-CN" dirty="0" smtClean="0"/>
              <a:t>YOLO(You Only Look Once)</a:t>
            </a:r>
            <a:r>
              <a:rPr lang="zh-CN" altLang="en-US" dirty="0" smtClean="0"/>
              <a:t>、</a:t>
            </a:r>
            <a:r>
              <a:rPr lang="en-US" altLang="zh-CN" dirty="0" smtClean="0"/>
              <a:t>SSD(Single Shot Detector)</a:t>
            </a:r>
            <a:r>
              <a:rPr lang="zh-CN" altLang="en-US" dirty="0" smtClean="0"/>
              <a:t>算法</a:t>
            </a:r>
            <a:endParaRPr lang="en-US" altLang="zh-CN" dirty="0" smtClean="0"/>
          </a:p>
          <a:p>
            <a:r>
              <a:rPr lang="zh-CN" altLang="en-US" dirty="0"/>
              <a:t>不</a:t>
            </a:r>
            <a:r>
              <a:rPr lang="zh-CN" altLang="en-US" dirty="0" smtClean="0"/>
              <a:t>依赖锚：</a:t>
            </a:r>
            <a:endParaRPr lang="en-US" altLang="zh-CN" dirty="0" smtClean="0"/>
          </a:p>
          <a:p>
            <a:pPr lvl="1"/>
            <a:r>
              <a:rPr lang="zh-CN" altLang="en-US" dirty="0" smtClean="0"/>
              <a:t>适合目标尺寸、形态变化剧烈场景</a:t>
            </a:r>
            <a:endParaRPr lang="en-US" altLang="zh-CN" dirty="0" smtClean="0"/>
          </a:p>
          <a:p>
            <a:pPr lvl="1"/>
            <a:r>
              <a:rPr lang="zh-CN" altLang="en-US" dirty="0" smtClean="0"/>
              <a:t>如工业瑕疵检测</a:t>
            </a:r>
            <a:endParaRPr lang="en-US" altLang="zh-CN" dirty="0" smtClean="0"/>
          </a:p>
          <a:p>
            <a:pPr lvl="1"/>
            <a:r>
              <a:rPr lang="en-US" altLang="zh-CN" dirty="0" smtClean="0"/>
              <a:t>FCOS(Fully Convolutional One-Stage Object Detector)</a:t>
            </a:r>
            <a:r>
              <a:rPr lang="zh-CN" altLang="en-US" dirty="0" smtClean="0"/>
              <a:t>算法</a:t>
            </a:r>
            <a:endParaRPr lang="zh-CN" altLang="en-US" dirty="0"/>
          </a:p>
        </p:txBody>
      </p:sp>
    </p:spTree>
    <p:extLst>
      <p:ext uri="{BB962C8B-B14F-4D97-AF65-F5344CB8AC3E}">
        <p14:creationId xmlns:p14="http://schemas.microsoft.com/office/powerpoint/2010/main" val="3139689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a:t>
            </a:r>
            <a:endParaRPr lang="zh-CN" altLang="en-US" dirty="0"/>
          </a:p>
        </p:txBody>
      </p:sp>
      <p:sp>
        <p:nvSpPr>
          <p:cNvPr id="3" name="内容占位符 2"/>
          <p:cNvSpPr>
            <a:spLocks noGrp="1"/>
          </p:cNvSpPr>
          <p:nvPr>
            <p:ph sz="quarter" idx="13"/>
          </p:nvPr>
        </p:nvSpPr>
        <p:spPr/>
        <p:txBody>
          <a:bodyPr/>
          <a:lstStyle/>
          <a:p>
            <a:r>
              <a:rPr lang="zh-CN" altLang="en-US" dirty="0" smtClean="0"/>
              <a:t>基本思路：</a:t>
            </a:r>
            <a:endParaRPr lang="en-US" altLang="zh-CN" dirty="0" smtClean="0"/>
          </a:p>
          <a:p>
            <a:pPr lvl="1"/>
            <a:r>
              <a:rPr lang="zh-CN" altLang="en-US" dirty="0" smtClean="0"/>
              <a:t>直接回归目标框的位置坐标和分类概率</a:t>
            </a:r>
            <a:r>
              <a:rPr lang="en-US" altLang="zh-CN" dirty="0" smtClean="0"/>
              <a:t>	</a:t>
            </a:r>
          </a:p>
          <a:p>
            <a:pPr lvl="1"/>
            <a:r>
              <a:rPr lang="zh-CN" altLang="en-US" dirty="0" smtClean="0"/>
              <a:t>检测问题直接转化为回归问题</a:t>
            </a:r>
            <a:endParaRPr lang="en-US" altLang="zh-CN" dirty="0" smtClean="0"/>
          </a:p>
          <a:p>
            <a:r>
              <a:rPr lang="zh-CN" altLang="en-US" dirty="0" smtClean="0"/>
              <a:t>特点：</a:t>
            </a:r>
            <a:endParaRPr lang="en-US" altLang="zh-CN" dirty="0" smtClean="0"/>
          </a:p>
          <a:p>
            <a:pPr lvl="1"/>
            <a:r>
              <a:rPr lang="zh-CN" altLang="en-US" dirty="0" smtClean="0"/>
              <a:t>将一整张图作为输入，每个目标都基于整张图像信息</a:t>
            </a:r>
            <a:endParaRPr lang="en-US" altLang="zh-CN" dirty="0" smtClean="0"/>
          </a:p>
          <a:p>
            <a:pPr lvl="1"/>
            <a:r>
              <a:rPr lang="zh-CN" altLang="en-US" dirty="0" smtClean="0"/>
              <a:t>能够利用更加全面的上下文信息</a:t>
            </a:r>
            <a:endParaRPr lang="en-US" altLang="zh-CN" dirty="0" smtClean="0"/>
          </a:p>
          <a:p>
            <a:r>
              <a:rPr lang="zh-CN" altLang="en-US" dirty="0" smtClean="0"/>
              <a:t>局限性：</a:t>
            </a:r>
            <a:endParaRPr lang="en-US" altLang="zh-CN" dirty="0"/>
          </a:p>
          <a:p>
            <a:pPr lvl="1"/>
            <a:r>
              <a:rPr lang="zh-CN" altLang="en-US" dirty="0" smtClean="0"/>
              <a:t>对密集小目标检测结果较差</a:t>
            </a:r>
            <a:endParaRPr lang="en-US" altLang="zh-CN" dirty="0" smtClean="0"/>
          </a:p>
          <a:p>
            <a:r>
              <a:rPr lang="zh-CN" altLang="en-US" dirty="0" smtClean="0"/>
              <a:t>版本：</a:t>
            </a:r>
            <a:endParaRPr lang="en-US" altLang="zh-CN" dirty="0" smtClean="0"/>
          </a:p>
          <a:p>
            <a:pPr lvl="1"/>
            <a:r>
              <a:rPr lang="en-US" altLang="zh-CN" dirty="0" smtClean="0"/>
              <a:t>YOLOv1-YOLOv5</a:t>
            </a:r>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0539" y="3785191"/>
            <a:ext cx="7599949" cy="2352083"/>
          </a:xfrm>
          <a:prstGeom prst="rect">
            <a:avLst/>
          </a:prstGeom>
        </p:spPr>
      </p:pic>
    </p:spTree>
    <p:extLst>
      <p:ext uri="{BB962C8B-B14F-4D97-AF65-F5344CB8AC3E}">
        <p14:creationId xmlns:p14="http://schemas.microsoft.com/office/powerpoint/2010/main" val="3723154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YOLOv1</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en-US" altLang="zh-CN" dirty="0" smtClean="0"/>
                  <a:t>YOLOv1</a:t>
                </a:r>
                <a:r>
                  <a:rPr lang="zh-CN" altLang="en-US" dirty="0" smtClean="0"/>
                  <a:t>算法原理：</a:t>
                </a:r>
                <a:endParaRPr lang="en-US" altLang="zh-CN" dirty="0" smtClean="0"/>
              </a:p>
              <a:p>
                <a:pPr lvl="1"/>
                <a:r>
                  <a:rPr lang="zh-CN" altLang="en-US" dirty="0" smtClean="0"/>
                  <a:t>将图像均匀分为</a:t>
                </a:r>
                <a:r>
                  <a:rPr lang="en-US" altLang="zh-CN" dirty="0" smtClean="0"/>
                  <a:t>S×S</a:t>
                </a:r>
                <a:r>
                  <a:rPr lang="zh-CN" altLang="en-US" dirty="0" smtClean="0"/>
                  <a:t>块，以检测目标的中心点位置决定哪一块</a:t>
                </a:r>
                <a:endParaRPr lang="en-US" altLang="zh-CN" dirty="0" smtClean="0"/>
              </a:p>
              <a:p>
                <a:pPr lvl="1"/>
                <a:r>
                  <a:rPr lang="zh-CN" altLang="en-US" dirty="0" smtClean="0"/>
                  <a:t>保留目标置信度（交并比）最大的预测框</a:t>
                </a:r>
                <a:endParaRPr lang="en-US" altLang="zh-CN" dirty="0" smtClean="0"/>
              </a:p>
              <a:p>
                <a:pPr lvl="1"/>
                <a14:m>
                  <m:oMath xmlns:m="http://schemas.openxmlformats.org/officeDocument/2006/math">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𝑃𝑟</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𝑂𝑏𝑗𝑒𝑐𝑡</m:t>
                        </m:r>
                      </m:e>
                    </m:d>
                    <m:r>
                      <a:rPr lang="en-US" altLang="zh-CN" i="1">
                        <a:latin typeface="Cambria Math" panose="02040503050406030204" pitchFamily="18" charset="0"/>
                      </a:rPr>
                      <m:t>×</m:t>
                    </m:r>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𝐼𝑜𝑈</m:t>
                        </m:r>
                      </m:e>
                      <m:sub>
                        <m:r>
                          <a:rPr lang="en-US" altLang="zh-CN" b="0" i="1" smtClean="0">
                            <a:latin typeface="Cambria Math" panose="02040503050406030204" pitchFamily="18" charset="0"/>
                          </a:rPr>
                          <m:t>𝑝𝑟𝑒𝑑</m:t>
                        </m:r>
                      </m:sub>
                      <m:sup>
                        <m:r>
                          <a:rPr lang="en-US" altLang="zh-CN" b="0" i="1" smtClean="0">
                            <a:latin typeface="Cambria Math" panose="02040503050406030204" pitchFamily="18" charset="0"/>
                          </a:rPr>
                          <m:t>𝑡𝑟𝑢𝑡h</m:t>
                        </m:r>
                      </m:sup>
                    </m:sSubSup>
                  </m:oMath>
                </a14:m>
                <a:endParaRPr lang="en-US" altLang="zh-CN" dirty="0" smtClean="0"/>
              </a:p>
              <a:p>
                <a:pPr lvl="2"/>
                <a:r>
                  <a:rPr lang="zh-CN" altLang="en-US" dirty="0" smtClean="0"/>
                  <a:t>预测框框中目标，</a:t>
                </a:r>
                <a14:m>
                  <m:oMath xmlns:m="http://schemas.openxmlformats.org/officeDocument/2006/math">
                    <m:r>
                      <a:rPr lang="en-US" altLang="zh-CN" i="1">
                        <a:latin typeface="Cambria Math" panose="02040503050406030204" pitchFamily="18" charset="0"/>
                      </a:rPr>
                      <m:t>𝑃𝑟</m:t>
                    </m:r>
                    <m:d>
                      <m:dPr>
                        <m:ctrlPr>
                          <a:rPr lang="en-US" altLang="zh-CN" i="1">
                            <a:latin typeface="Cambria Math" panose="02040503050406030204" pitchFamily="18" charset="0"/>
                          </a:rPr>
                        </m:ctrlPr>
                      </m:dPr>
                      <m:e>
                        <m:r>
                          <a:rPr lang="en-US" altLang="zh-CN" i="1">
                            <a:latin typeface="Cambria Math" panose="02040503050406030204" pitchFamily="18" charset="0"/>
                          </a:rPr>
                          <m:t>𝑂𝑏𝑗𝑒𝑐𝑡</m:t>
                        </m:r>
                      </m:e>
                    </m:d>
                    <m:r>
                      <a:rPr lang="en-US" altLang="zh-CN" b="0" i="1" smtClean="0">
                        <a:latin typeface="Cambria Math" panose="02040503050406030204" pitchFamily="18" charset="0"/>
                      </a:rPr>
                      <m:t>=1</m:t>
                    </m:r>
                  </m:oMath>
                </a14:m>
                <a:r>
                  <a:rPr lang="zh-CN" altLang="en-US" dirty="0" smtClean="0"/>
                  <a:t>，预测框没有框中目标，</a:t>
                </a:r>
                <a14:m>
                  <m:oMath xmlns:m="http://schemas.openxmlformats.org/officeDocument/2006/math">
                    <m:r>
                      <a:rPr lang="en-US" altLang="zh-CN" i="1">
                        <a:latin typeface="Cambria Math" panose="02040503050406030204" pitchFamily="18" charset="0"/>
                      </a:rPr>
                      <m:t>𝑃𝑟</m:t>
                    </m:r>
                    <m:d>
                      <m:dPr>
                        <m:ctrlPr>
                          <a:rPr lang="en-US" altLang="zh-CN" i="1">
                            <a:latin typeface="Cambria Math" panose="02040503050406030204" pitchFamily="18" charset="0"/>
                          </a:rPr>
                        </m:ctrlPr>
                      </m:dPr>
                      <m:e>
                        <m:r>
                          <a:rPr lang="en-US" altLang="zh-CN" i="1">
                            <a:latin typeface="Cambria Math" panose="02040503050406030204" pitchFamily="18" charset="0"/>
                          </a:rPr>
                          <m:t>𝑂𝑏𝑗𝑒𝑐𝑡</m:t>
                        </m:r>
                      </m:e>
                    </m:d>
                    <m:r>
                      <a:rPr lang="en-US" altLang="zh-CN" b="0" i="1" smtClean="0">
                        <a:latin typeface="Cambria Math" panose="02040503050406030204" pitchFamily="18" charset="0"/>
                      </a:rPr>
                      <m:t>=0</m:t>
                    </m:r>
                  </m:oMath>
                </a14:m>
                <a:endParaRPr lang="en-US" altLang="zh-CN" dirty="0" smtClean="0"/>
              </a:p>
              <a:p>
                <a:pPr lvl="1"/>
                <a:r>
                  <a:rPr lang="zh-CN" altLang="en-US" dirty="0"/>
                  <a:t>回归值为</a:t>
                </a:r>
                <a:r>
                  <a:rPr lang="en-US" altLang="zh-CN" dirty="0"/>
                  <a:t>5</a:t>
                </a:r>
                <a:r>
                  <a:rPr lang="zh-CN" altLang="en-US" dirty="0"/>
                  <a:t>个：框中心点坐标</a:t>
                </a:r>
                <a14:m>
                  <m:oMath xmlns:m="http://schemas.openxmlformats.org/officeDocument/2006/math">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e>
                    </m:d>
                  </m:oMath>
                </a14:m>
                <a:r>
                  <a:rPr lang="en-US" altLang="zh-CN" dirty="0"/>
                  <a:t>,</a:t>
                </a:r>
                <a:r>
                  <a:rPr lang="zh-CN" altLang="en-US" dirty="0"/>
                  <a:t>框的宽</a:t>
                </a:r>
                <a14:m>
                  <m:oMath xmlns:m="http://schemas.openxmlformats.org/officeDocument/2006/math">
                    <m:r>
                      <a:rPr lang="en-US" altLang="zh-CN" i="1">
                        <a:latin typeface="Cambria Math" panose="02040503050406030204" pitchFamily="18" charset="0"/>
                      </a:rPr>
                      <m:t>𝑤</m:t>
                    </m:r>
                  </m:oMath>
                </a14:m>
                <a:r>
                  <a:rPr lang="zh-CN" altLang="en-US" dirty="0"/>
                  <a:t>和高</a:t>
                </a:r>
                <a14:m>
                  <m:oMath xmlns:m="http://schemas.openxmlformats.org/officeDocument/2006/math">
                    <m:r>
                      <a:rPr lang="en-US" altLang="zh-CN" i="1">
                        <a:latin typeface="Cambria Math" panose="02040503050406030204" pitchFamily="18" charset="0"/>
                      </a:rPr>
                      <m:t>h</m:t>
                    </m:r>
                  </m:oMath>
                </a14:m>
                <a:r>
                  <a:rPr lang="zh-CN" altLang="en-US" dirty="0"/>
                  <a:t>以及预测框的置信</a:t>
                </a:r>
                <a:r>
                  <a:rPr lang="zh-CN" altLang="en-US" dirty="0" smtClean="0"/>
                  <a:t>度</a:t>
                </a:r>
                <a:endParaRPr lang="en-US" altLang="zh-CN" dirty="0" smtClean="0"/>
              </a:p>
              <a:p>
                <a:pPr lvl="2"/>
                <a:r>
                  <a:rPr lang="zh-CN" altLang="en-US" dirty="0" smtClean="0"/>
                  <a:t>子图像块左上角为坐标原点，坐标值除以子图像块的宽高进行归一化处理</a:t>
                </a:r>
                <a:endParaRPr lang="en-US" altLang="zh-CN" dirty="0" smtClean="0"/>
              </a:p>
              <a:p>
                <a:pPr lvl="2"/>
                <a:r>
                  <a:rPr lang="zh-CN" altLang="en-US" dirty="0" smtClean="0"/>
                  <a:t>预测框的宽和高除以整幅图像宽和高进行归一化处理</a:t>
                </a:r>
                <a:endParaRPr lang="en-US" altLang="zh-CN" dirty="0" smtClean="0"/>
              </a:p>
              <a:p>
                <a:pPr lvl="1"/>
                <a:r>
                  <a:rPr lang="zh-CN" altLang="en-US" dirty="0" smtClean="0"/>
                  <a:t>每个子图像块回归</a:t>
                </a:r>
                <a:r>
                  <a:rPr lang="en-US" altLang="zh-CN" dirty="0" smtClean="0"/>
                  <a:t>C</a:t>
                </a:r>
                <a:r>
                  <a:rPr lang="zh-CN" altLang="en-US" dirty="0" smtClean="0"/>
                  <a:t>个条件概率：</a:t>
                </a:r>
                <a:endParaRPr lang="en-US" altLang="zh-CN" dirty="0" smtClean="0"/>
              </a:p>
              <a:p>
                <a:pPr lvl="2"/>
                <a14:m>
                  <m:oMath xmlns:m="http://schemas.openxmlformats.org/officeDocument/2006/math">
                    <m:r>
                      <a:rPr lang="en-US" altLang="zh-CN" b="0" i="1" smtClean="0">
                        <a:latin typeface="Cambria Math" panose="02040503050406030204" pitchFamily="18" charset="0"/>
                      </a:rPr>
                      <m:t>𝑃𝑟</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𝐶𝑙𝑎𝑠𝑠</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𝑂𝑏𝑗𝑒𝑐𝑡</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𝑃𝑟</m:t>
                    </m:r>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𝑂𝑏𝑗𝑒𝑐𝑡</m:t>
                        </m:r>
                      </m:e>
                    </m:d>
                    <m:r>
                      <a:rPr lang="en-US" altLang="zh-CN" b="0" i="1" smtClean="0">
                        <a:latin typeface="Cambria Math" panose="02040503050406030204" pitchFamily="18" charset="0"/>
                        <a:ea typeface="Cambria Math" panose="02040503050406030204" pitchFamily="18" charset="0"/>
                      </a:rPr>
                      <m:t>×</m:t>
                    </m:r>
                    <m:sSubSup>
                      <m:sSubSupPr>
                        <m:ctrlPr>
                          <a:rPr lang="en-US" altLang="zh-CN" b="0"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𝐼𝑜𝑈</m:t>
                        </m:r>
                      </m:e>
                      <m:sub>
                        <m:r>
                          <a:rPr lang="en-US" altLang="zh-CN" b="0" i="1" smtClean="0">
                            <a:latin typeface="Cambria Math" panose="02040503050406030204" pitchFamily="18" charset="0"/>
                            <a:ea typeface="Cambria Math" panose="02040503050406030204" pitchFamily="18" charset="0"/>
                          </a:rPr>
                          <m:t>𝑝𝑟𝑒𝑑</m:t>
                        </m:r>
                      </m:sub>
                      <m:sup>
                        <m:r>
                          <a:rPr lang="en-US" altLang="zh-CN" b="0" i="1" smtClean="0">
                            <a:latin typeface="Cambria Math" panose="02040503050406030204" pitchFamily="18" charset="0"/>
                            <a:ea typeface="Cambria Math" panose="02040503050406030204" pitchFamily="18" charset="0"/>
                          </a:rPr>
                          <m:t>𝑡𝑟𝑢𝑡h</m:t>
                        </m:r>
                      </m:sup>
                    </m:sSubSup>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𝑃𝑟</m:t>
                    </m:r>
                    <m:d>
                      <m:dPr>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𝐶𝑙𝑎𝑠𝑠</m:t>
                            </m:r>
                          </m:e>
                          <m:sub>
                            <m:r>
                              <a:rPr lang="en-US" altLang="zh-CN" b="0" i="1" smtClean="0">
                                <a:latin typeface="Cambria Math" panose="02040503050406030204" pitchFamily="18" charset="0"/>
                                <a:ea typeface="Cambria Math" panose="02040503050406030204" pitchFamily="18" charset="0"/>
                              </a:rPr>
                              <m:t>𝑖</m:t>
                            </m:r>
                          </m:sub>
                        </m:sSub>
                      </m:e>
                    </m:d>
                    <m:r>
                      <a:rPr lang="en-US" altLang="zh-CN" b="0" i="1" smtClean="0">
                        <a:latin typeface="Cambria Math" panose="02040503050406030204" pitchFamily="18" charset="0"/>
                        <a:ea typeface="Cambria Math" panose="02040503050406030204" pitchFamily="18" charset="0"/>
                      </a:rPr>
                      <m:t>×</m:t>
                    </m:r>
                    <m:sSubSup>
                      <m:sSubSupPr>
                        <m:ctrlPr>
                          <a:rPr lang="en-US" altLang="zh-CN" b="0"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𝐼𝑜𝑈</m:t>
                        </m:r>
                      </m:e>
                      <m:sub>
                        <m:r>
                          <a:rPr lang="en-US" altLang="zh-CN" b="0" i="1" smtClean="0">
                            <a:latin typeface="Cambria Math" panose="02040503050406030204" pitchFamily="18" charset="0"/>
                            <a:ea typeface="Cambria Math" panose="02040503050406030204" pitchFamily="18" charset="0"/>
                          </a:rPr>
                          <m:t>𝑝𝑟𝑒𝑑</m:t>
                        </m:r>
                      </m:sub>
                      <m:sup>
                        <m:r>
                          <a:rPr lang="en-US" altLang="zh-CN" b="0" i="1" smtClean="0">
                            <a:latin typeface="Cambria Math" panose="02040503050406030204" pitchFamily="18" charset="0"/>
                            <a:ea typeface="Cambria Math" panose="02040503050406030204" pitchFamily="18" charset="0"/>
                          </a:rPr>
                          <m:t>𝑡𝑟𝑢𝑡h</m:t>
                        </m:r>
                      </m:sup>
                    </m:sSubSup>
                  </m:oMath>
                </a14:m>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85051" y="2610524"/>
            <a:ext cx="3535437" cy="3526750"/>
          </a:xfrm>
          <a:prstGeom prst="rect">
            <a:avLst/>
          </a:prstGeom>
        </p:spPr>
      </p:pic>
    </p:spTree>
    <p:extLst>
      <p:ext uri="{BB962C8B-B14F-4D97-AF65-F5344CB8AC3E}">
        <p14:creationId xmlns:p14="http://schemas.microsoft.com/office/powerpoint/2010/main" val="7477276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YOLOv1</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en-US" altLang="zh-CN" dirty="0" smtClean="0"/>
                  <a:t>YOLOv1</a:t>
                </a:r>
                <a:r>
                  <a:rPr lang="zh-CN" altLang="en-US" dirty="0" smtClean="0"/>
                  <a:t>算法原理：</a:t>
                </a:r>
                <a:endParaRPr lang="en-US" altLang="zh-CN" dirty="0" smtClean="0"/>
              </a:p>
              <a:p>
                <a:pPr marL="800100" lvl="1" indent="-342900">
                  <a:buFont typeface="+mj-lt"/>
                  <a:buAutoNum type="arabicPeriod"/>
                </a:pPr>
                <a:r>
                  <a:rPr lang="zh-CN" altLang="en-US" dirty="0" smtClean="0"/>
                  <a:t>将图像分为</a:t>
                </a:r>
                <a:r>
                  <a:rPr lang="en-US" altLang="zh-CN" dirty="0" smtClean="0"/>
                  <a:t>S×S</a:t>
                </a:r>
                <a:r>
                  <a:rPr lang="zh-CN" altLang="en-US" dirty="0" smtClean="0"/>
                  <a:t>个方块</a:t>
                </a:r>
                <a:endParaRPr lang="en-US" altLang="zh-CN" dirty="0" smtClean="0"/>
              </a:p>
              <a:p>
                <a:pPr marL="800100" lvl="1" indent="-342900">
                  <a:buFont typeface="+mj-lt"/>
                  <a:buAutoNum type="arabicPeriod"/>
                </a:pPr>
                <a:r>
                  <a:rPr lang="zh-CN" altLang="en-US" dirty="0" smtClean="0"/>
                  <a:t>总共回归</a:t>
                </a:r>
                <a:r>
                  <a:rPr lang="en-US" altLang="zh-CN" dirty="0" smtClean="0"/>
                  <a:t>S×S×</a:t>
                </a:r>
                <a:r>
                  <a:rPr lang="zh-CN" altLang="en-US" dirty="0" smtClean="0"/>
                  <a:t>（</a:t>
                </a:r>
                <a:r>
                  <a:rPr lang="en-US" altLang="zh-CN" dirty="0" smtClean="0"/>
                  <a:t>B×5+C</a:t>
                </a:r>
                <a:r>
                  <a:rPr lang="zh-CN" altLang="en-US" dirty="0" smtClean="0"/>
                  <a:t>）个参数</a:t>
                </a:r>
                <a:endParaRPr lang="en-US" altLang="zh-CN" dirty="0" smtClean="0"/>
              </a:p>
              <a:p>
                <a:pPr marL="800100" lvl="1" indent="-342900">
                  <a:buFont typeface="+mj-lt"/>
                  <a:buAutoNum type="arabicPeriod"/>
                </a:pPr>
                <a:r>
                  <a:rPr lang="zh-CN" altLang="en-US" dirty="0" smtClean="0"/>
                  <a:t>分别计算每个框的</a:t>
                </a:r>
                <a14:m>
                  <m:oMath xmlns:m="http://schemas.openxmlformats.org/officeDocument/2006/math">
                    <m:r>
                      <a:rPr lang="en-US" altLang="zh-CN" i="1">
                        <a:latin typeface="Cambria Math" panose="02040503050406030204" pitchFamily="18" charset="0"/>
                      </a:rPr>
                      <m:t>𝑃𝑟</m:t>
                    </m:r>
                    <m:d>
                      <m:dPr>
                        <m:ctrlPr>
                          <a:rPr lang="en-US" altLang="zh-CN" i="1">
                            <a:latin typeface="Cambria Math" panose="02040503050406030204" pitchFamily="18" charset="0"/>
                          </a:rPr>
                        </m:ctrlPr>
                      </m:dPr>
                      <m:e>
                        <m:r>
                          <a:rPr lang="en-US" altLang="zh-CN" i="1">
                            <a:latin typeface="Cambria Math" panose="02040503050406030204" pitchFamily="18" charset="0"/>
                          </a:rPr>
                          <m:t>𝑂𝑏𝑗𝑒𝑐𝑡</m:t>
                        </m:r>
                      </m:e>
                    </m:d>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𝐼𝑜𝑈</m:t>
                        </m:r>
                      </m:e>
                      <m:sub>
                        <m:r>
                          <a:rPr lang="en-US" altLang="zh-CN" i="1">
                            <a:latin typeface="Cambria Math" panose="02040503050406030204" pitchFamily="18" charset="0"/>
                          </a:rPr>
                          <m:t>𝑝𝑟𝑒𝑑</m:t>
                        </m:r>
                      </m:sub>
                      <m:sup>
                        <m:r>
                          <a:rPr lang="en-US" altLang="zh-CN" i="1">
                            <a:latin typeface="Cambria Math" panose="02040503050406030204" pitchFamily="18" charset="0"/>
                          </a:rPr>
                          <m:t>𝑡𝑟𝑢𝑡h</m:t>
                        </m:r>
                      </m:sup>
                    </m:sSubSup>
                  </m:oMath>
                </a14:m>
                <a:endParaRPr lang="en-US" altLang="zh-CN" dirty="0" smtClean="0"/>
              </a:p>
              <a:p>
                <a:pPr marL="800100" lvl="1" indent="-342900">
                  <a:buFont typeface="+mj-lt"/>
                  <a:buAutoNum type="arabicPeriod"/>
                </a:pPr>
                <a:r>
                  <a:rPr lang="zh-CN" altLang="en-US" dirty="0" smtClean="0"/>
                  <a:t>该值为所在子块最大值且大于预设阈值时，</a:t>
                </a:r>
                <a:endParaRPr lang="en-US" altLang="zh-CN" dirty="0" smtClean="0"/>
              </a:p>
              <a:p>
                <a:pPr marL="457200" lvl="1" indent="0">
                  <a:buNone/>
                </a:pPr>
                <a:r>
                  <a:rPr lang="zh-CN" altLang="en-US" dirty="0" smtClean="0"/>
                  <a:t>输出预测框</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86638" y="1130299"/>
            <a:ext cx="6233850" cy="5006975"/>
          </a:xfrm>
          <a:prstGeom prst="rect">
            <a:avLst/>
          </a:prstGeom>
        </p:spPr>
      </p:pic>
    </p:spTree>
    <p:extLst>
      <p:ext uri="{BB962C8B-B14F-4D97-AF65-F5344CB8AC3E}">
        <p14:creationId xmlns:p14="http://schemas.microsoft.com/office/powerpoint/2010/main" val="1662914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YOLOv1</a:t>
            </a:r>
            <a:endParaRPr lang="zh-CN" altLang="en-US" dirty="0"/>
          </a:p>
        </p:txBody>
      </p:sp>
      <p:sp>
        <p:nvSpPr>
          <p:cNvPr id="3" name="内容占位符 2"/>
          <p:cNvSpPr>
            <a:spLocks noGrp="1"/>
          </p:cNvSpPr>
          <p:nvPr>
            <p:ph sz="quarter" idx="13"/>
          </p:nvPr>
        </p:nvSpPr>
        <p:spPr/>
        <p:txBody>
          <a:bodyPr/>
          <a:lstStyle/>
          <a:p>
            <a:r>
              <a:rPr lang="en-US" altLang="zh-CN" dirty="0" smtClean="0"/>
              <a:t>YOLOv1</a:t>
            </a:r>
            <a:r>
              <a:rPr lang="zh-CN" altLang="en-US" dirty="0" smtClean="0"/>
              <a:t>训练方法</a:t>
            </a:r>
            <a:r>
              <a:rPr lang="en-US" altLang="zh-CN" dirty="0" smtClean="0"/>
              <a:t>:</a:t>
            </a:r>
          </a:p>
          <a:p>
            <a:pPr lvl="1"/>
            <a:r>
              <a:rPr lang="zh-CN" altLang="en-US" dirty="0" smtClean="0"/>
              <a:t>基于</a:t>
            </a:r>
            <a:r>
              <a:rPr lang="en-US" altLang="zh-CN" dirty="0" smtClean="0"/>
              <a:t>PASCAL VOC</a:t>
            </a:r>
            <a:r>
              <a:rPr lang="zh-CN" altLang="en-US" dirty="0" smtClean="0"/>
              <a:t>数据集，该数据集有</a:t>
            </a:r>
            <a:r>
              <a:rPr lang="en-US" altLang="zh-CN" dirty="0" smtClean="0"/>
              <a:t>20</a:t>
            </a:r>
            <a:r>
              <a:rPr lang="zh-CN" altLang="en-US" dirty="0" smtClean="0"/>
              <a:t>个类别（</a:t>
            </a:r>
            <a:r>
              <a:rPr lang="en-US" altLang="zh-CN" dirty="0" smtClean="0"/>
              <a:t>C=20</a:t>
            </a:r>
            <a:r>
              <a:rPr lang="zh-CN" altLang="en-US" dirty="0" smtClean="0"/>
              <a:t>）</a:t>
            </a:r>
            <a:endParaRPr lang="en-US" altLang="zh-CN" dirty="0" smtClean="0"/>
          </a:p>
          <a:p>
            <a:pPr lvl="1"/>
            <a:r>
              <a:rPr lang="zh-CN" altLang="en-US" dirty="0" smtClean="0"/>
              <a:t>取</a:t>
            </a:r>
            <a:r>
              <a:rPr lang="en-US" altLang="zh-CN" dirty="0" smtClean="0"/>
              <a:t>S=7</a:t>
            </a:r>
            <a:r>
              <a:rPr lang="zh-CN" altLang="en-US" dirty="0" smtClean="0"/>
              <a:t>、</a:t>
            </a:r>
            <a:r>
              <a:rPr lang="en-US" altLang="zh-CN" dirty="0" smtClean="0"/>
              <a:t>B=2</a:t>
            </a:r>
            <a:r>
              <a:rPr lang="zh-CN" altLang="en-US" dirty="0" smtClean="0"/>
              <a:t>，则参数数量为</a:t>
            </a:r>
            <a:r>
              <a:rPr lang="en-US" altLang="zh-CN" dirty="0" smtClean="0"/>
              <a:t>7×7×</a:t>
            </a:r>
            <a:r>
              <a:rPr lang="en-US" altLang="zh-CN" dirty="0"/>
              <a:t>[</a:t>
            </a:r>
            <a:r>
              <a:rPr lang="en-US" altLang="zh-CN" dirty="0" smtClean="0"/>
              <a:t>2×(4+1)+20</a:t>
            </a:r>
            <a:r>
              <a:rPr lang="en-US" altLang="zh-CN" dirty="0"/>
              <a:t>]</a:t>
            </a:r>
            <a:r>
              <a:rPr lang="en-US" altLang="zh-CN" dirty="0" smtClean="0"/>
              <a:t>=7×7×30</a:t>
            </a:r>
          </a:p>
          <a:p>
            <a:pPr lvl="1"/>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1220" y="2416226"/>
            <a:ext cx="7287971" cy="3721048"/>
          </a:xfrm>
          <a:prstGeom prst="rect">
            <a:avLst/>
          </a:prstGeom>
        </p:spPr>
      </p:pic>
    </p:spTree>
    <p:extLst>
      <p:ext uri="{BB962C8B-B14F-4D97-AF65-F5344CB8AC3E}">
        <p14:creationId xmlns:p14="http://schemas.microsoft.com/office/powerpoint/2010/main" val="2297464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YOLOv1</a:t>
            </a:r>
            <a:endParaRPr lang="zh-CN" altLang="en-US" dirty="0"/>
          </a:p>
        </p:txBody>
      </p:sp>
      <p:sp>
        <p:nvSpPr>
          <p:cNvPr id="3" name="内容占位符 2"/>
          <p:cNvSpPr>
            <a:spLocks noGrp="1"/>
          </p:cNvSpPr>
          <p:nvPr>
            <p:ph sz="quarter" idx="13"/>
          </p:nvPr>
        </p:nvSpPr>
        <p:spPr/>
        <p:txBody>
          <a:bodyPr/>
          <a:lstStyle/>
          <a:p>
            <a:r>
              <a:rPr lang="en-US" altLang="zh-CN" dirty="0" smtClean="0"/>
              <a:t>YOLOv1</a:t>
            </a:r>
            <a:r>
              <a:rPr lang="zh-CN" altLang="en-US" dirty="0" smtClean="0"/>
              <a:t>训练方法：</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0336" y="1470880"/>
            <a:ext cx="9409740" cy="4666394"/>
          </a:xfrm>
          <a:prstGeom prst="rect">
            <a:avLst/>
          </a:prstGeom>
        </p:spPr>
      </p:pic>
    </p:spTree>
    <p:extLst>
      <p:ext uri="{BB962C8B-B14F-4D97-AF65-F5344CB8AC3E}">
        <p14:creationId xmlns:p14="http://schemas.microsoft.com/office/powerpoint/2010/main" val="34954730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YOLOv1</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en-US" altLang="zh-CN" dirty="0" smtClean="0"/>
                  <a:t>YOLOv1</a:t>
                </a:r>
                <a:r>
                  <a:rPr lang="zh-CN" altLang="en-US" dirty="0" smtClean="0"/>
                  <a:t>损失函数：</a:t>
                </a:r>
                <a:endParaRPr lang="en-US" altLang="zh-CN" dirty="0" smtClean="0"/>
              </a:p>
              <a:p>
                <a:pPr lvl="1"/>
                <a14:m>
                  <m:oMath xmlns:m="http://schemas.openxmlformats.org/officeDocument/2006/math">
                    <m:sSubSup>
                      <m:sSubSupPr>
                        <m:ctrlPr>
                          <a:rPr lang="en-US" altLang="zh-CN" i="1" smtClean="0">
                            <a:latin typeface="Cambria Math" panose="02040503050406030204" pitchFamily="18" charset="0"/>
                          </a:rPr>
                        </m:ctrlPr>
                      </m:sSubSupPr>
                      <m:e>
                        <m:r>
                          <m:rPr>
                            <m:nor/>
                          </m:rPr>
                          <a:rPr lang="en-US" altLang="zh-CN"/>
                          <m:t>Ⅱ</m:t>
                        </m:r>
                      </m:e>
                      <m:sub>
                        <m:r>
                          <a:rPr lang="en-US" altLang="zh-CN" b="0" i="1" smtClean="0">
                            <a:latin typeface="Cambria Math" panose="02040503050406030204" pitchFamily="18" charset="0"/>
                          </a:rPr>
                          <m:t>𝑖𝑗</m:t>
                        </m:r>
                      </m:sub>
                      <m:sup>
                        <m:r>
                          <a:rPr lang="en-US" altLang="zh-CN" b="0" i="1" smtClean="0">
                            <a:latin typeface="Cambria Math" panose="02040503050406030204" pitchFamily="18" charset="0"/>
                          </a:rPr>
                          <m:t>𝑜𝑏𝑗</m:t>
                        </m:r>
                      </m:sup>
                    </m:sSubSup>
                  </m:oMath>
                </a14:m>
                <a:r>
                  <a:rPr lang="zh-CN" altLang="en-US" dirty="0" smtClean="0"/>
                  <a:t>是指示函数</a:t>
                </a:r>
                <a:endParaRPr lang="en-US" altLang="zh-CN" dirty="0" smtClean="0"/>
              </a:p>
              <a:p>
                <a:pPr lvl="1"/>
                <a14:m>
                  <m:oMath xmlns:m="http://schemas.openxmlformats.org/officeDocument/2006/math">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oMath>
                </a14:m>
                <a:r>
                  <a:rPr lang="zh-CN" altLang="en-US" dirty="0"/>
                  <a:t> </a:t>
                </a:r>
                <a14:m>
                  <m:oMath xmlns:m="http://schemas.openxmlformats.org/officeDocument/2006/math">
                    <m:acc>
                      <m:accPr>
                        <m:chr m:val="̂"/>
                        <m:ctrlPr>
                          <a:rPr lang="zh-CN" altLang="en-US" i="1">
                            <a:latin typeface="Cambria Math" panose="02040503050406030204" pitchFamily="18" charset="0"/>
                          </a:rPr>
                        </m:ctrlPr>
                      </m:accPr>
                      <m:e>
                        <m:r>
                          <a:rPr lang="en-US" altLang="zh-CN" i="1">
                            <a:latin typeface="Cambria Math" panose="02040503050406030204" pitchFamily="18" charset="0"/>
                          </a:rPr>
                          <m:t>𝑥</m:t>
                        </m:r>
                      </m:e>
                    </m:acc>
                    <m:r>
                      <a:rPr lang="en-US" altLang="zh-CN" b="0" i="1" smtClean="0">
                        <a:latin typeface="Cambria Math" panose="02040503050406030204" pitchFamily="18" charset="0"/>
                      </a:rPr>
                      <m:t>,</m:t>
                    </m:r>
                    <m:acc>
                      <m:accPr>
                        <m:chr m:val="̂"/>
                        <m:ctrlPr>
                          <a:rPr lang="zh-CN" altLang="en-US" i="1">
                            <a:latin typeface="Cambria Math" panose="02040503050406030204" pitchFamily="18" charset="0"/>
                          </a:rPr>
                        </m:ctrlPr>
                      </m:accPr>
                      <m:e>
                        <m:r>
                          <a:rPr lang="en-US" altLang="zh-CN" i="1">
                            <a:latin typeface="Cambria Math" panose="02040503050406030204" pitchFamily="18" charset="0"/>
                          </a:rPr>
                          <m:t>𝑦</m:t>
                        </m:r>
                      </m:e>
                    </m:acc>
                  </m:oMath>
                </a14:m>
                <a:r>
                  <a:rPr lang="zh-CN" altLang="en-US" dirty="0" smtClean="0"/>
                  <a:t>指中心点归一化坐标</a:t>
                </a:r>
                <a:endParaRPr lang="en-US" altLang="zh-CN" dirty="0" smtClean="0"/>
              </a:p>
              <a:p>
                <a:pPr lvl="1"/>
                <a14:m>
                  <m:oMath xmlns:m="http://schemas.openxmlformats.org/officeDocument/2006/math">
                    <m:r>
                      <a:rPr lang="en-US" altLang="zh-CN" b="0" i="1" smtClean="0">
                        <a:latin typeface="Cambria Math" panose="02040503050406030204" pitchFamily="18" charset="0"/>
                      </a:rPr>
                      <m:t>𝑤</m:t>
                    </m:r>
                    <m:r>
                      <a:rPr lang="en-US" altLang="zh-CN" b="0" i="1" smtClean="0">
                        <a:latin typeface="Cambria Math" panose="02040503050406030204" pitchFamily="18" charset="0"/>
                      </a:rPr>
                      <m:t>,</m:t>
                    </m:r>
                    <m:r>
                      <a:rPr lang="en-US" altLang="zh-CN" b="0" i="1" smtClean="0">
                        <a:latin typeface="Cambria Math" panose="02040503050406030204" pitchFamily="18" charset="0"/>
                      </a:rPr>
                      <m:t>h</m:t>
                    </m:r>
                    <m:r>
                      <a:rPr lang="en-US" altLang="zh-CN" b="0" i="1" smtClean="0">
                        <a:latin typeface="Cambria Math" panose="02040503050406030204" pitchFamily="18" charset="0"/>
                      </a:rPr>
                      <m:t>,</m:t>
                    </m:r>
                  </m:oMath>
                </a14:m>
                <a:r>
                  <a:rPr lang="zh-CN" altLang="en-US" dirty="0"/>
                  <a:t> </a:t>
                </a:r>
                <a14:m>
                  <m:oMath xmlns:m="http://schemas.openxmlformats.org/officeDocument/2006/math">
                    <m:acc>
                      <m:accPr>
                        <m:chr m:val="̂"/>
                        <m:ctrlPr>
                          <a:rPr lang="zh-CN" altLang="en-US" i="1">
                            <a:latin typeface="Cambria Math" panose="02040503050406030204" pitchFamily="18" charset="0"/>
                          </a:rPr>
                        </m:ctrlPr>
                      </m:accPr>
                      <m:e>
                        <m:r>
                          <a:rPr lang="en-US" altLang="zh-CN" i="1">
                            <a:latin typeface="Cambria Math" panose="02040503050406030204" pitchFamily="18" charset="0"/>
                          </a:rPr>
                          <m:t>𝑤</m:t>
                        </m:r>
                      </m:e>
                    </m:acc>
                    <m:r>
                      <a:rPr lang="en-US" altLang="zh-CN" b="0" i="1" smtClean="0">
                        <a:latin typeface="Cambria Math" panose="02040503050406030204" pitchFamily="18" charset="0"/>
                      </a:rPr>
                      <m:t>,</m:t>
                    </m:r>
                    <m:acc>
                      <m:accPr>
                        <m:chr m:val="̂"/>
                        <m:ctrlPr>
                          <a:rPr lang="zh-CN" altLang="en-US" i="1">
                            <a:latin typeface="Cambria Math" panose="02040503050406030204" pitchFamily="18" charset="0"/>
                          </a:rPr>
                        </m:ctrlPr>
                      </m:accPr>
                      <m:e>
                        <m:r>
                          <a:rPr lang="en-US" altLang="zh-CN" i="1">
                            <a:latin typeface="Cambria Math" panose="02040503050406030204" pitchFamily="18" charset="0"/>
                          </a:rPr>
                          <m:t>h</m:t>
                        </m:r>
                      </m:e>
                    </m:acc>
                  </m:oMath>
                </a14:m>
                <a:r>
                  <a:rPr lang="zh-CN" altLang="en-US" dirty="0" smtClean="0"/>
                  <a:t>指框归一化宽和高</a:t>
                </a:r>
                <a:endParaRPr lang="en-US" altLang="zh-CN" dirty="0" smtClean="0"/>
              </a:p>
              <a:p>
                <a:pPr lvl="1"/>
                <a:r>
                  <a:rPr lang="el-GR" altLang="zh-CN" dirty="0" smtClean="0"/>
                  <a:t>λ</a:t>
                </a:r>
                <a:r>
                  <a:rPr lang="zh-CN" altLang="en-US" dirty="0" smtClean="0"/>
                  <a:t>表示加权系数</a:t>
                </a:r>
                <a:endParaRPr lang="en-US" altLang="zh-CN" dirty="0" smtClean="0"/>
              </a:p>
              <a:p>
                <a:pPr lvl="2"/>
                <a:r>
                  <a:rPr lang="el-GR" altLang="zh-CN" dirty="0" smtClean="0"/>
                  <a:t>λ</a:t>
                </a:r>
                <a:r>
                  <a:rPr lang="en-US" altLang="zh-CN" baseline="-25000" dirty="0" err="1" smtClean="0"/>
                  <a:t>coord</a:t>
                </a:r>
                <a:r>
                  <a:rPr lang="zh-CN" altLang="en-US" dirty="0" smtClean="0"/>
                  <a:t>重视</a:t>
                </a:r>
                <a:r>
                  <a:rPr lang="zh-CN" altLang="en-US" dirty="0"/>
                  <a:t>坐标预测</a:t>
                </a:r>
                <a:endParaRPr lang="en-US" altLang="zh-CN" baseline="-25000" dirty="0" smtClean="0"/>
              </a:p>
              <a:p>
                <a:pPr lvl="2"/>
                <a:r>
                  <a:rPr lang="el-GR" altLang="zh-CN" dirty="0" smtClean="0"/>
                  <a:t>λ</a:t>
                </a:r>
                <a:r>
                  <a:rPr lang="en-US" altLang="zh-CN" baseline="-25000" dirty="0" err="1" smtClean="0"/>
                  <a:t>noobj</a:t>
                </a:r>
                <a:r>
                  <a:rPr lang="zh-CN" altLang="en-US" dirty="0" smtClean="0"/>
                  <a:t>缓和正负样本比例</a:t>
                </a:r>
                <a:endParaRPr lang="en-US" altLang="zh-CN" dirty="0" smtClean="0"/>
              </a:p>
              <a:p>
                <a:pPr lvl="1"/>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55042" y="1130299"/>
            <a:ext cx="7065446" cy="5012967"/>
          </a:xfrm>
          <a:prstGeom prst="rect">
            <a:avLst/>
          </a:prstGeom>
        </p:spPr>
      </p:pic>
    </p:spTree>
    <p:extLst>
      <p:ext uri="{BB962C8B-B14F-4D97-AF65-F5344CB8AC3E}">
        <p14:creationId xmlns:p14="http://schemas.microsoft.com/office/powerpoint/2010/main" val="2787746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YOLOv1</a:t>
            </a:r>
            <a:endParaRPr lang="zh-CN" altLang="en-US" dirty="0"/>
          </a:p>
        </p:txBody>
      </p:sp>
      <p:sp>
        <p:nvSpPr>
          <p:cNvPr id="3" name="内容占位符 2"/>
          <p:cNvSpPr>
            <a:spLocks noGrp="1"/>
          </p:cNvSpPr>
          <p:nvPr>
            <p:ph sz="quarter" idx="13"/>
          </p:nvPr>
        </p:nvSpPr>
        <p:spPr/>
        <p:txBody>
          <a:bodyPr/>
          <a:lstStyle/>
          <a:p>
            <a:r>
              <a:rPr lang="zh-CN" altLang="en-US" dirty="0" smtClean="0"/>
              <a:t>此外，针对坐标损失中预测框与目标框宽和高的偏差，采用平方根处理：</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8612" y="1615805"/>
            <a:ext cx="7073188" cy="4521469"/>
          </a:xfrm>
          <a:prstGeom prst="rect">
            <a:avLst/>
          </a:prstGeom>
        </p:spPr>
      </p:pic>
    </p:spTree>
    <p:extLst>
      <p:ext uri="{BB962C8B-B14F-4D97-AF65-F5344CB8AC3E}">
        <p14:creationId xmlns:p14="http://schemas.microsoft.com/office/powerpoint/2010/main" val="24692240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YOLOv1</a:t>
            </a:r>
            <a:endParaRPr lang="zh-CN" altLang="en-US" dirty="0"/>
          </a:p>
        </p:txBody>
      </p:sp>
      <p:sp>
        <p:nvSpPr>
          <p:cNvPr id="3" name="内容占位符 2"/>
          <p:cNvSpPr>
            <a:spLocks noGrp="1"/>
          </p:cNvSpPr>
          <p:nvPr>
            <p:ph sz="quarter" idx="13"/>
          </p:nvPr>
        </p:nvSpPr>
        <p:spPr/>
        <p:txBody>
          <a:bodyPr/>
          <a:lstStyle/>
          <a:p>
            <a:r>
              <a:rPr lang="zh-CN" altLang="en-US" dirty="0" smtClean="0"/>
              <a:t>对每一个框进行计算，计算值与阈值比较后排序，进行非极大值抑制处理。</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6731" y="1638512"/>
            <a:ext cx="8016949" cy="4498762"/>
          </a:xfrm>
          <a:prstGeom prst="rect">
            <a:avLst/>
          </a:prstGeom>
        </p:spPr>
      </p:pic>
    </p:spTree>
    <p:extLst>
      <p:ext uri="{BB962C8B-B14F-4D97-AF65-F5344CB8AC3E}">
        <p14:creationId xmlns:p14="http://schemas.microsoft.com/office/powerpoint/2010/main" val="35595478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YOLOv2</a:t>
            </a:r>
            <a:endParaRPr lang="zh-CN" altLang="en-US" dirty="0"/>
          </a:p>
        </p:txBody>
      </p:sp>
      <p:sp>
        <p:nvSpPr>
          <p:cNvPr id="3" name="内容占位符 2"/>
          <p:cNvSpPr>
            <a:spLocks noGrp="1"/>
          </p:cNvSpPr>
          <p:nvPr>
            <p:ph sz="quarter" idx="13"/>
          </p:nvPr>
        </p:nvSpPr>
        <p:spPr/>
        <p:txBody>
          <a:bodyPr/>
          <a:lstStyle/>
          <a:p>
            <a:r>
              <a:rPr lang="en-US" altLang="zh-CN" dirty="0" smtClean="0"/>
              <a:t>YOLOv2</a:t>
            </a:r>
            <a:r>
              <a:rPr lang="zh-CN" altLang="en-US" dirty="0" smtClean="0"/>
              <a:t>：</a:t>
            </a:r>
            <a:endParaRPr lang="en-US" altLang="zh-CN" dirty="0" smtClean="0"/>
          </a:p>
          <a:p>
            <a:pPr marL="800100" lvl="1" indent="-342900">
              <a:buFont typeface="+mj-lt"/>
              <a:buAutoNum type="arabicPeriod"/>
            </a:pPr>
            <a:r>
              <a:rPr lang="zh-CN" altLang="en-US" dirty="0" smtClean="0"/>
              <a:t>批次归一化</a:t>
            </a:r>
            <a:endParaRPr lang="en-US" altLang="zh-CN" dirty="0" smtClean="0"/>
          </a:p>
          <a:p>
            <a:pPr marL="800100" lvl="1" indent="-342900">
              <a:buFont typeface="+mj-lt"/>
              <a:buAutoNum type="arabicPeriod"/>
            </a:pPr>
            <a:r>
              <a:rPr lang="zh-CN" altLang="en-US" dirty="0" smtClean="0"/>
              <a:t>使用高分辨率训练集</a:t>
            </a:r>
            <a:endParaRPr lang="en-US" altLang="zh-CN" dirty="0" smtClean="0"/>
          </a:p>
          <a:p>
            <a:pPr marL="800100" lvl="1" indent="-342900">
              <a:buFont typeface="+mj-lt"/>
              <a:buAutoNum type="arabicPeriod"/>
            </a:pPr>
            <a:r>
              <a:rPr lang="zh-CN" altLang="en-US" dirty="0" smtClean="0"/>
              <a:t>新的网络结构</a:t>
            </a:r>
            <a:endParaRPr lang="en-US" altLang="zh-CN" dirty="0" smtClean="0"/>
          </a:p>
          <a:p>
            <a:pPr marL="800100" lvl="1" indent="-342900">
              <a:buFont typeface="+mj-lt"/>
              <a:buAutoNum type="arabicPeriod"/>
            </a:pPr>
            <a:r>
              <a:rPr lang="zh-CN" altLang="en-US" dirty="0" smtClean="0"/>
              <a:t>基于锚（</a:t>
            </a:r>
            <a:r>
              <a:rPr lang="en-US" altLang="zh-CN" dirty="0" smtClean="0"/>
              <a:t>anchor boxes</a:t>
            </a:r>
            <a:r>
              <a:rPr lang="zh-CN" altLang="en-US" dirty="0" smtClean="0"/>
              <a:t>）</a:t>
            </a:r>
            <a:endParaRPr lang="en-US" altLang="zh-CN" dirty="0" smtClean="0"/>
          </a:p>
          <a:p>
            <a:pPr marL="800100" lvl="1" indent="-342900">
              <a:buFont typeface="+mj-lt"/>
              <a:buAutoNum type="arabicPeriod"/>
            </a:pPr>
            <a:r>
              <a:rPr lang="zh-CN" altLang="en-US" dirty="0" smtClean="0"/>
              <a:t>使用浅层细节特征</a:t>
            </a:r>
            <a:endParaRPr lang="en-US" altLang="zh-CN" dirty="0" smtClean="0"/>
          </a:p>
          <a:p>
            <a:pPr marL="800100" lvl="1" indent="-342900">
              <a:buFont typeface="+mj-lt"/>
              <a:buAutoNum type="arabicPeriod"/>
            </a:pPr>
            <a:r>
              <a:rPr lang="zh-CN" altLang="en-US" dirty="0" smtClean="0"/>
              <a:t>使用多尺度图像进行训练</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2488" y="2205036"/>
            <a:ext cx="6858000" cy="2857500"/>
          </a:xfrm>
          <a:prstGeom prst="rect">
            <a:avLst/>
          </a:prstGeom>
        </p:spPr>
      </p:pic>
    </p:spTree>
    <p:extLst>
      <p:ext uri="{BB962C8B-B14F-4D97-AF65-F5344CB8AC3E}">
        <p14:creationId xmlns:p14="http://schemas.microsoft.com/office/powerpoint/2010/main" val="18157944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YOLOv2</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a:pPr>
            <a:r>
              <a:rPr lang="zh-CN" altLang="en-US" dirty="0" smtClean="0"/>
              <a:t>批次归一化（</a:t>
            </a:r>
            <a:r>
              <a:rPr lang="en-US" altLang="zh-CN" dirty="0" smtClean="0"/>
              <a:t>Batch Normalization</a:t>
            </a:r>
            <a:r>
              <a:rPr lang="zh-CN" altLang="en-US" dirty="0" smtClean="0"/>
              <a:t>）</a:t>
            </a:r>
            <a:endParaRPr lang="en-US" altLang="zh-CN" dirty="0" smtClean="0"/>
          </a:p>
          <a:p>
            <a:pPr lvl="1"/>
            <a:r>
              <a:rPr lang="zh-CN" altLang="en-US" dirty="0" smtClean="0"/>
              <a:t>增加模型泛化能力</a:t>
            </a:r>
            <a:endParaRPr lang="en-US" altLang="zh-CN" dirty="0" smtClean="0"/>
          </a:p>
          <a:p>
            <a:pPr lvl="1"/>
            <a:r>
              <a:rPr lang="zh-CN" altLang="en-US" dirty="0" smtClean="0"/>
              <a:t>可以去掉</a:t>
            </a:r>
            <a:r>
              <a:rPr lang="en-US" altLang="zh-CN" dirty="0" smtClean="0"/>
              <a:t>dropout</a:t>
            </a:r>
          </a:p>
          <a:p>
            <a:pPr marL="342900" indent="-342900">
              <a:buFont typeface="+mj-lt"/>
              <a:buAutoNum type="arabicPeriod"/>
            </a:pPr>
            <a:r>
              <a:rPr lang="zh-CN" altLang="en-US" dirty="0" smtClean="0"/>
              <a:t>高分辨率训练集</a:t>
            </a:r>
            <a:r>
              <a:rPr lang="en-US" altLang="zh-CN" dirty="0" smtClean="0"/>
              <a:t>(high-resolution)</a:t>
            </a:r>
          </a:p>
          <a:p>
            <a:pPr lvl="1"/>
            <a:r>
              <a:rPr lang="en-US" altLang="zh-CN" dirty="0" smtClean="0"/>
              <a:t>448×448</a:t>
            </a:r>
            <a:r>
              <a:rPr lang="zh-CN" altLang="en-US" dirty="0" smtClean="0"/>
              <a:t>的数据进入训练</a:t>
            </a:r>
            <a:endParaRPr lang="en-US" altLang="zh-CN" dirty="0" smtClean="0"/>
          </a:p>
          <a:p>
            <a:pPr lvl="1"/>
            <a:r>
              <a:rPr lang="zh-CN" altLang="en-US" dirty="0" smtClean="0"/>
              <a:t>更加适配高分辨率的数据</a:t>
            </a:r>
            <a:endParaRPr lang="en-US" altLang="zh-CN" dirty="0" smtClean="0"/>
          </a:p>
          <a:p>
            <a:pPr marL="342900" indent="-342900">
              <a:buFont typeface="+mj-lt"/>
              <a:buAutoNum type="arabicPeriod"/>
            </a:pP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62488" y="2205036"/>
            <a:ext cx="6858000" cy="2857500"/>
          </a:xfrm>
          <a:prstGeom prst="rect">
            <a:avLst/>
          </a:prstGeom>
        </p:spPr>
      </p:pic>
    </p:spTree>
    <p:extLst>
      <p:ext uri="{BB962C8B-B14F-4D97-AF65-F5344CB8AC3E}">
        <p14:creationId xmlns:p14="http://schemas.microsoft.com/office/powerpoint/2010/main" val="30467598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YOLOv2</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startAt="3"/>
            </a:pPr>
            <a:r>
              <a:rPr lang="zh-CN" altLang="en-US" dirty="0"/>
              <a:t>新</a:t>
            </a:r>
            <a:r>
              <a:rPr lang="zh-CN" altLang="en-US" dirty="0" smtClean="0"/>
              <a:t>的网络结构</a:t>
            </a:r>
            <a:endParaRPr lang="en-US" altLang="zh-CN" dirty="0" smtClean="0"/>
          </a:p>
          <a:p>
            <a:pPr lvl="1"/>
            <a:r>
              <a:rPr lang="en-US" altLang="zh-CN" dirty="0" smtClean="0"/>
              <a:t>Darknet-19</a:t>
            </a:r>
            <a:r>
              <a:rPr lang="zh-CN" altLang="en-US" dirty="0" smtClean="0"/>
              <a:t>网络</a:t>
            </a:r>
            <a:endParaRPr lang="en-US" altLang="zh-CN" dirty="0" smtClean="0"/>
          </a:p>
          <a:p>
            <a:pPr lvl="1"/>
            <a:r>
              <a:rPr lang="zh-CN" altLang="en-US" dirty="0" smtClean="0"/>
              <a:t>原理与</a:t>
            </a:r>
            <a:r>
              <a:rPr lang="en-US" altLang="zh-CN" dirty="0" smtClean="0"/>
              <a:t>VGG16</a:t>
            </a:r>
            <a:r>
              <a:rPr lang="zh-CN" altLang="en-US" dirty="0" smtClean="0"/>
              <a:t>类似</a:t>
            </a:r>
            <a:endParaRPr lang="en-US" altLang="zh-CN" dirty="0" smtClean="0"/>
          </a:p>
          <a:p>
            <a:pPr lvl="1"/>
            <a:r>
              <a:rPr lang="zh-CN" altLang="en-US" dirty="0" smtClean="0"/>
              <a:t>计算量减少</a:t>
            </a:r>
            <a:r>
              <a:rPr lang="en-US" altLang="zh-CN" dirty="0" smtClean="0"/>
              <a:t>33%</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52772" y="1130299"/>
            <a:ext cx="3967716" cy="5004733"/>
          </a:xfrm>
          <a:prstGeom prst="rect">
            <a:avLst/>
          </a:prstGeom>
        </p:spPr>
      </p:pic>
    </p:spTree>
    <p:extLst>
      <p:ext uri="{BB962C8B-B14F-4D97-AF65-F5344CB8AC3E}">
        <p14:creationId xmlns:p14="http://schemas.microsoft.com/office/powerpoint/2010/main" val="11683354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YOLOv2</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pPr marL="342900" indent="-342900">
                  <a:buFont typeface="+mj-lt"/>
                  <a:buAutoNum type="arabicPeriod" startAt="4"/>
                </a:pPr>
                <a:r>
                  <a:rPr lang="zh-CN" altLang="en-US" dirty="0" smtClean="0"/>
                  <a:t>基于锚</a:t>
                </a:r>
                <a:endParaRPr lang="en-US" altLang="zh-CN" dirty="0" smtClean="0"/>
              </a:p>
              <a:p>
                <a:pPr lvl="1"/>
                <a:r>
                  <a:rPr lang="zh-CN" altLang="en-US" dirty="0" smtClean="0"/>
                  <a:t>类似</a:t>
                </a:r>
                <a:r>
                  <a:rPr lang="en-US" altLang="zh-CN" dirty="0" smtClean="0"/>
                  <a:t>RPN</a:t>
                </a:r>
                <a:r>
                  <a:rPr lang="zh-CN" altLang="en-US" dirty="0" smtClean="0"/>
                  <a:t>网络，整个网络变成全卷积结构</a:t>
                </a:r>
                <a:endParaRPr lang="en-US" altLang="zh-CN" dirty="0" smtClean="0"/>
              </a:p>
              <a:p>
                <a:pPr lvl="1"/>
                <a:r>
                  <a:rPr lang="zh-CN" altLang="en-US" dirty="0" smtClean="0"/>
                  <a:t>调整输入图像尺寸，下采样后子块维度为奇数</a:t>
                </a:r>
                <a:endParaRPr lang="en-US" altLang="zh-CN" dirty="0" smtClean="0"/>
              </a:p>
              <a:p>
                <a:pPr lvl="1"/>
                <a:r>
                  <a:rPr lang="zh-CN" altLang="en-US" dirty="0" smtClean="0"/>
                  <a:t>使用</a:t>
                </a:r>
                <a:r>
                  <a:rPr lang="en-US" altLang="zh-CN" dirty="0"/>
                  <a:t>k</a:t>
                </a:r>
                <a:r>
                  <a:rPr lang="en-US" altLang="zh-CN" dirty="0" smtClean="0"/>
                  <a:t>-means</a:t>
                </a:r>
                <a:r>
                  <a:rPr lang="zh-CN" altLang="en-US" dirty="0" smtClean="0"/>
                  <a:t>聚类算法对锚进行计算</a:t>
                </a:r>
                <a:endParaRPr lang="en-US" altLang="zh-CN" dirty="0" smtClean="0"/>
              </a:p>
              <a:p>
                <a:pPr lvl="2"/>
                <a14:m>
                  <m:oMath xmlns:m="http://schemas.openxmlformats.org/officeDocument/2006/math">
                    <m:r>
                      <a:rPr lang="en-US" altLang="zh-CN" b="0" i="1" smtClean="0">
                        <a:latin typeface="Cambria Math" panose="02040503050406030204" pitchFamily="18" charset="0"/>
                      </a:rPr>
                      <m:t>𝑑</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𝑏𝑜𝑥</m:t>
                        </m:r>
                        <m:r>
                          <a:rPr lang="en-US" altLang="zh-CN" b="0" i="1" smtClean="0">
                            <a:latin typeface="Cambria Math" panose="02040503050406030204" pitchFamily="18" charset="0"/>
                          </a:rPr>
                          <m:t>,</m:t>
                        </m:r>
                        <m:r>
                          <a:rPr lang="en-US" altLang="zh-CN" b="0" i="1" smtClean="0">
                            <a:latin typeface="Cambria Math" panose="02040503050406030204" pitchFamily="18" charset="0"/>
                          </a:rPr>
                          <m:t>𝑐𝑒𝑛𝑡𝑟𝑜𝑖𝑑</m:t>
                        </m:r>
                      </m:e>
                    </m:d>
                    <m:r>
                      <a:rPr lang="en-US" altLang="zh-CN" b="0" i="1" smtClean="0">
                        <a:latin typeface="Cambria Math" panose="02040503050406030204" pitchFamily="18" charset="0"/>
                      </a:rPr>
                      <m:t>=1−</m:t>
                    </m:r>
                    <m:r>
                      <a:rPr lang="en-US" altLang="zh-CN" b="0" i="1" smtClean="0">
                        <a:latin typeface="Cambria Math" panose="02040503050406030204" pitchFamily="18" charset="0"/>
                      </a:rPr>
                      <m:t>𝐼𝑜𝑈</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𝑏𝑜𝑥</m:t>
                        </m:r>
                        <m:r>
                          <a:rPr lang="en-US" altLang="zh-CN" b="0" i="1" smtClean="0">
                            <a:latin typeface="Cambria Math" panose="02040503050406030204" pitchFamily="18" charset="0"/>
                          </a:rPr>
                          <m:t>,</m:t>
                        </m:r>
                        <m:r>
                          <a:rPr lang="en-US" altLang="zh-CN" b="0" i="1" smtClean="0">
                            <a:latin typeface="Cambria Math" panose="02040503050406030204" pitchFamily="18" charset="0"/>
                          </a:rPr>
                          <m:t>𝑐𝑒𝑛𝑡𝑟𝑜𝑖𝑑</m:t>
                        </m:r>
                      </m:e>
                    </m:d>
                  </m:oMath>
                </a14:m>
                <a:endParaRPr lang="en-US" altLang="zh-CN" dirty="0" smtClean="0"/>
              </a:p>
              <a:p>
                <a:pPr lvl="1"/>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45887" y="2870790"/>
            <a:ext cx="6274600" cy="3266483"/>
          </a:xfrm>
          <a:prstGeom prst="rect">
            <a:avLst/>
          </a:prstGeom>
        </p:spPr>
      </p:pic>
    </p:spTree>
    <p:extLst>
      <p:ext uri="{BB962C8B-B14F-4D97-AF65-F5344CB8AC3E}">
        <p14:creationId xmlns:p14="http://schemas.microsoft.com/office/powerpoint/2010/main" val="6614197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YOLOv2</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pPr marL="342900" indent="-342900">
                  <a:buFont typeface="+mj-lt"/>
                  <a:buAutoNum type="arabicPeriod" startAt="4"/>
                </a:pPr>
                <a:r>
                  <a:rPr lang="zh-CN" altLang="en-US" dirty="0" smtClean="0"/>
                  <a:t>基于锚</a:t>
                </a:r>
                <a:endParaRPr lang="en-US" altLang="zh-CN" dirty="0" smtClean="0"/>
              </a:p>
              <a:p>
                <a:pPr lvl="1"/>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𝑥</m:t>
                        </m:r>
                      </m:sub>
                    </m:sSub>
                    <m:r>
                      <a:rPr lang="en-US" altLang="zh-CN" b="0" i="1" smtClean="0">
                        <a:latin typeface="Cambria Math" panose="02040503050406030204" pitchFamily="18" charset="0"/>
                      </a:rPr>
                      <m:t>=</m:t>
                    </m:r>
                    <m:r>
                      <a:rPr lang="zh-CN" altLang="en-US" b="0" i="1" smtClean="0">
                        <a:latin typeface="Cambria Math" panose="02040503050406030204" pitchFamily="18" charset="0"/>
                      </a:rPr>
                      <m:t>𝜎</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𝑥</m:t>
                            </m:r>
                          </m:sub>
                        </m:sSub>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𝑐</m:t>
                        </m:r>
                      </m:e>
                      <m:sub>
                        <m:r>
                          <a:rPr lang="en-US" altLang="zh-CN" b="0" i="1" smtClean="0">
                            <a:latin typeface="Cambria Math" panose="02040503050406030204" pitchFamily="18" charset="0"/>
                          </a:rPr>
                          <m:t>𝑥</m:t>
                        </m:r>
                      </m:sub>
                    </m:sSub>
                  </m:oMath>
                </a14:m>
                <a:endParaRPr lang="en-US" altLang="zh-CN" b="0" dirty="0" smtClean="0"/>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b="0" i="1" smtClean="0">
                            <a:latin typeface="Cambria Math" panose="02040503050406030204" pitchFamily="18" charset="0"/>
                          </a:rPr>
                          <m:t>𝑦</m:t>
                        </m:r>
                      </m:sub>
                    </m:sSub>
                    <m:r>
                      <a:rPr lang="en-US" altLang="zh-CN" i="1">
                        <a:latin typeface="Cambria Math" panose="02040503050406030204" pitchFamily="18" charset="0"/>
                      </a:rPr>
                      <m:t>=</m:t>
                    </m:r>
                    <m:r>
                      <a:rPr lang="zh-CN" altLang="en-US" i="1">
                        <a:latin typeface="Cambria Math" panose="02040503050406030204" pitchFamily="18" charset="0"/>
                      </a:rPr>
                      <m:t>𝜎</m:t>
                    </m:r>
                    <m:d>
                      <m:dPr>
                        <m:ctrlPr>
                          <a:rPr lang="en-US" altLang="zh-CN" i="1">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𝑡</m:t>
                            </m:r>
                          </m:e>
                          <m:sub>
                            <m:r>
                              <a:rPr lang="en-US" altLang="zh-CN" b="0" i="1" smtClean="0">
                                <a:latin typeface="Cambria Math" panose="02040503050406030204" pitchFamily="18" charset="0"/>
                              </a:rPr>
                              <m:t>𝑦</m:t>
                            </m:r>
                          </m:sub>
                        </m:sSub>
                      </m:e>
                    </m:d>
                    <m:r>
                      <a:rPr lang="en-US" altLang="zh-CN" i="1">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𝑐</m:t>
                        </m:r>
                      </m:e>
                      <m:sub>
                        <m:r>
                          <a:rPr lang="en-US" altLang="zh-CN" b="0" i="1" smtClean="0">
                            <a:latin typeface="Cambria Math" panose="02040503050406030204" pitchFamily="18" charset="0"/>
                          </a:rPr>
                          <m:t>𝑦</m:t>
                        </m:r>
                      </m:sub>
                    </m:sSub>
                  </m:oMath>
                </a14:m>
                <a:endParaRPr lang="en-US" altLang="zh-CN" dirty="0" smtClean="0"/>
              </a:p>
              <a:p>
                <a:pPr lvl="1"/>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𝑤</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𝑤</m:t>
                        </m:r>
                      </m:sub>
                    </m:sSub>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𝑤</m:t>
                            </m:r>
                          </m:sub>
                        </m:sSub>
                      </m:sup>
                    </m:sSup>
                  </m:oMath>
                </a14:m>
                <a:endParaRPr lang="en-US" altLang="zh-CN" b="0" dirty="0" smtClean="0"/>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𝑏</m:t>
                        </m:r>
                      </m:e>
                      <m:sub>
                        <m:r>
                          <a:rPr lang="en-US" altLang="zh-CN" b="0" i="1" smtClean="0">
                            <a:latin typeface="Cambria Math" panose="02040503050406030204" pitchFamily="18" charset="0"/>
                          </a:rPr>
                          <m:t>h</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b="0" i="1" smtClean="0">
                            <a:latin typeface="Cambria Math" panose="02040503050406030204" pitchFamily="18" charset="0"/>
                          </a:rPr>
                          <m:t>h</m:t>
                        </m:r>
                      </m:sub>
                    </m:sSub>
                    <m:sSup>
                      <m:sSupPr>
                        <m:ctrlPr>
                          <a:rPr lang="en-US" altLang="zh-CN" i="1">
                            <a:latin typeface="Cambria Math" panose="02040503050406030204" pitchFamily="18" charset="0"/>
                          </a:rPr>
                        </m:ctrlPr>
                      </m:sSupPr>
                      <m:e>
                        <m:r>
                          <a:rPr lang="en-US" altLang="zh-CN" i="1">
                            <a:latin typeface="Cambria Math" panose="02040503050406030204" pitchFamily="18" charset="0"/>
                          </a:rPr>
                          <m:t>𝑒</m:t>
                        </m:r>
                      </m:e>
                      <m:sup>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b="0" i="1" smtClean="0">
                                <a:latin typeface="Cambria Math" panose="02040503050406030204" pitchFamily="18" charset="0"/>
                              </a:rPr>
                              <m:t>h</m:t>
                            </m:r>
                          </m:sub>
                        </m:sSub>
                      </m:sup>
                    </m:sSup>
                  </m:oMath>
                </a14:m>
                <a:endParaRPr lang="en-US" altLang="zh-CN" dirty="0" smtClean="0"/>
              </a:p>
              <a:p>
                <a:pPr lvl="1"/>
                <a14:m>
                  <m:oMath xmlns:m="http://schemas.openxmlformats.org/officeDocument/2006/math">
                    <m:r>
                      <a:rPr lang="en-US" altLang="zh-CN" b="0" i="1" smtClean="0">
                        <a:latin typeface="Cambria Math" panose="02040503050406030204" pitchFamily="18" charset="0"/>
                      </a:rPr>
                      <m:t>𝑃𝑟</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𝑂𝑏𝑗𝑒𝑐𝑡</m:t>
                        </m:r>
                      </m:e>
                    </m:d>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𝐼𝑜𝑈</m:t>
                    </m:r>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𝑏</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𝑜𝑏𝑗𝑒𝑐𝑡</m:t>
                        </m:r>
                      </m:e>
                    </m:d>
                    <m:r>
                      <a:rPr lang="en-US" altLang="zh-CN" b="0" i="1" smtClean="0">
                        <a:latin typeface="Cambria Math" panose="02040503050406030204" pitchFamily="18" charset="0"/>
                        <a:ea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𝜎</m:t>
                    </m:r>
                    <m:d>
                      <m:dPr>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𝑡</m:t>
                            </m:r>
                          </m:e>
                          <m:sub>
                            <m:r>
                              <a:rPr lang="zh-CN" altLang="en-US" b="0" i="1" smtClean="0">
                                <a:latin typeface="Cambria Math" panose="02040503050406030204" pitchFamily="18" charset="0"/>
                                <a:ea typeface="Cambria Math" panose="02040503050406030204" pitchFamily="18" charset="0"/>
                              </a:rPr>
                              <m:t>𝜎</m:t>
                            </m:r>
                          </m:sub>
                        </m:sSub>
                      </m:e>
                    </m:d>
                  </m:oMath>
                </a14:m>
                <a:endParaRPr lang="en-US" altLang="zh-CN" b="0" dirty="0" smtClean="0">
                  <a:ea typeface="Cambria Math" panose="02040503050406030204" pitchFamily="18" charset="0"/>
                </a:endParaRPr>
              </a:p>
              <a:p>
                <a:pPr lvl="1"/>
                <a:endParaRPr lang="en-US" altLang="zh-CN" dirty="0" smtClean="0"/>
              </a:p>
              <a:p>
                <a:pPr lvl="1"/>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𝑥</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𝑦</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𝑤</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h</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zh-CN" altLang="en-US" b="0" i="1" smtClean="0">
                            <a:latin typeface="Cambria Math" panose="02040503050406030204" pitchFamily="18" charset="0"/>
                          </a:rPr>
                          <m:t>𝜎</m:t>
                        </m:r>
                      </m:sub>
                    </m:sSub>
                    <m:r>
                      <a:rPr lang="zh-CN" altLang="en-US" i="1">
                        <a:latin typeface="Cambria Math" panose="02040503050406030204" pitchFamily="18" charset="0"/>
                      </a:rPr>
                      <m:t>是</m:t>
                    </m:r>
                  </m:oMath>
                </a14:m>
                <a:r>
                  <a:rPr lang="zh-CN" altLang="en-US" dirty="0" smtClean="0"/>
                  <a:t>需要回归的参数</a:t>
                </a:r>
                <a:endParaRPr lang="en-US" altLang="zh-CN" dirty="0" smtClean="0"/>
              </a:p>
              <a:p>
                <a:pPr lvl="1"/>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𝑥</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𝑦</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𝑤</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h</m:t>
                        </m:r>
                      </m:sub>
                    </m:sSub>
                  </m:oMath>
                </a14:m>
                <a:r>
                  <a:rPr lang="zh-CN" altLang="en-US" dirty="0" smtClean="0"/>
                  <a:t>是目标框中心点坐标</a:t>
                </a:r>
                <a:r>
                  <a:rPr lang="zh-CN" altLang="en-US" dirty="0"/>
                  <a:t>和</a:t>
                </a:r>
                <a:r>
                  <a:rPr lang="zh-CN" altLang="en-US" dirty="0" smtClean="0"/>
                  <a:t>宽、高</a:t>
                </a:r>
                <a:endParaRPr lang="en-US" altLang="zh-CN" dirty="0" smtClean="0"/>
              </a:p>
              <a:p>
                <a:pPr lvl="1"/>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𝑤</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h</m:t>
                        </m:r>
                      </m:sub>
                    </m:sSub>
                  </m:oMath>
                </a14:m>
                <a:r>
                  <a:rPr lang="zh-CN" altLang="en-US" dirty="0" smtClean="0"/>
                  <a:t>是锚的宽、高</a:t>
                </a:r>
                <a:endParaRPr lang="en-US" altLang="zh-CN" dirty="0" smtClean="0"/>
              </a:p>
              <a:p>
                <a:pPr lvl="1"/>
                <a14:m>
                  <m:oMath xmlns:m="http://schemas.openxmlformats.org/officeDocument/2006/math">
                    <m:r>
                      <a:rPr lang="zh-CN" altLang="en-US" i="1" smtClean="0">
                        <a:latin typeface="Cambria Math" panose="02040503050406030204" pitchFamily="18" charset="0"/>
                      </a:rPr>
                      <m:t>𝜎</m:t>
                    </m:r>
                    <m:r>
                      <a:rPr lang="zh-CN" altLang="en-US" i="1">
                        <a:latin typeface="Cambria Math" panose="02040503050406030204" pitchFamily="18" charset="0"/>
                      </a:rPr>
                      <m:t>是</m:t>
                    </m:r>
                  </m:oMath>
                </a14:m>
                <a:r>
                  <a:rPr lang="en-US" altLang="zh-CN" dirty="0" smtClean="0"/>
                  <a:t>sigmoid</a:t>
                </a:r>
                <a:r>
                  <a:rPr lang="zh-CN" altLang="en-US" dirty="0" smtClean="0"/>
                  <a:t>函数</a:t>
                </a:r>
                <a14:m>
                  <m:oMath xmlns:m="http://schemas.openxmlformats.org/officeDocument/2006/math">
                    <m:r>
                      <a:rPr lang="zh-CN" altLang="en-US" i="1" dirty="0">
                        <a:latin typeface="Cambria Math" panose="02040503050406030204" pitchFamily="18" charset="0"/>
                      </a:rPr>
                      <m:t>，</m:t>
                    </m:r>
                    <m:r>
                      <a:rPr lang="zh-CN" altLang="en-US" i="1">
                        <a:latin typeface="Cambria Math" panose="02040503050406030204" pitchFamily="18" charset="0"/>
                      </a:rPr>
                      <m:t>𝜎</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𝑥</m:t>
                            </m:r>
                          </m:sub>
                        </m:sSub>
                      </m:e>
                    </m:d>
                    <m:r>
                      <a:rPr lang="en-US" altLang="zh-CN" i="1">
                        <a:latin typeface="Cambria Math" panose="02040503050406030204" pitchFamily="18" charset="0"/>
                      </a:rPr>
                      <m:t>,</m:t>
                    </m:r>
                    <m:r>
                      <a:rPr lang="zh-CN" altLang="en-US" i="1">
                        <a:latin typeface="Cambria Math" panose="02040503050406030204" pitchFamily="18" charset="0"/>
                      </a:rPr>
                      <m:t>𝜎</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𝑦</m:t>
                            </m:r>
                          </m:sub>
                        </m:sSub>
                      </m:e>
                    </m:d>
                    <m:r>
                      <a:rPr lang="en-US" altLang="zh-CN" i="1">
                        <a:latin typeface="Cambria Math" panose="02040503050406030204" pitchFamily="18" charset="0"/>
                        <a:ea typeface="Cambria Math" panose="02040503050406030204" pitchFamily="18" charset="0"/>
                      </a:rPr>
                      <m:t>∈</m:t>
                    </m:r>
                    <m:d>
                      <m:dPr>
                        <m:ctrlPr>
                          <a:rPr lang="en-US" altLang="zh-CN" i="1">
                            <a:latin typeface="Cambria Math" panose="02040503050406030204" pitchFamily="18" charset="0"/>
                            <a:ea typeface="Cambria Math" panose="02040503050406030204" pitchFamily="18" charset="0"/>
                          </a:rPr>
                        </m:ctrlPr>
                      </m:dPr>
                      <m:e>
                        <m:r>
                          <a:rPr lang="en-US" altLang="zh-CN" i="1">
                            <a:latin typeface="Cambria Math" panose="02040503050406030204" pitchFamily="18" charset="0"/>
                            <a:ea typeface="Cambria Math" panose="02040503050406030204" pitchFamily="18" charset="0"/>
                          </a:rPr>
                          <m:t>0,1</m:t>
                        </m:r>
                      </m:e>
                    </m:d>
                  </m:oMath>
                </a14:m>
                <a:endParaRPr lang="en-US" altLang="zh-CN" dirty="0" smtClean="0"/>
              </a:p>
              <a:p>
                <a:pPr lvl="1"/>
                <a14:m>
                  <m:oMath xmlns:m="http://schemas.openxmlformats.org/officeDocument/2006/math">
                    <m:r>
                      <a:rPr lang="zh-CN" altLang="en-US" i="1">
                        <a:latin typeface="Cambria Math" panose="02040503050406030204" pitchFamily="18" charset="0"/>
                      </a:rPr>
                      <m:t>𝜎</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𝑥</m:t>
                            </m:r>
                          </m:sub>
                        </m:sSub>
                      </m:e>
                    </m:d>
                    <m:r>
                      <a:rPr lang="en-US" altLang="zh-CN" i="1">
                        <a:latin typeface="Cambria Math" panose="02040503050406030204" pitchFamily="18" charset="0"/>
                      </a:rPr>
                      <m:t>,</m:t>
                    </m:r>
                    <m:r>
                      <a:rPr lang="zh-CN" altLang="en-US" i="1">
                        <a:latin typeface="Cambria Math" panose="02040503050406030204" pitchFamily="18" charset="0"/>
                      </a:rPr>
                      <m:t>𝜎</m:t>
                    </m:r>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𝑦</m:t>
                            </m:r>
                          </m:sub>
                        </m:sSub>
                      </m:e>
                    </m:d>
                  </m:oMath>
                </a14:m>
                <a:r>
                  <a:rPr lang="zh-CN" altLang="en-US" dirty="0" smtClean="0"/>
                  <a:t>是相对子块原点</a:t>
                </a:r>
                <a:r>
                  <a:rPr lang="en-US" altLang="zh-CN" dirty="0" smtClean="0"/>
                  <a:t>(</a:t>
                </a:r>
                <a14:m>
                  <m:oMath xmlns:m="http://schemas.openxmlformats.org/officeDocument/2006/math">
                    <m:sSub>
                      <m:sSubPr>
                        <m:ctrlPr>
                          <a:rPr lang="en-US" altLang="zh-CN" i="1">
                            <a:latin typeface="Cambria Math" panose="02040503050406030204" pitchFamily="18" charset="0"/>
                          </a:rPr>
                        </m:ctrlPr>
                      </m:sSubPr>
                      <m:e>
                        <m:sSub>
                          <m:sSubPr>
                            <m:ctrlPr>
                              <a:rPr lang="en-US" altLang="zh-CN" i="1">
                                <a:latin typeface="Cambria Math" panose="02040503050406030204" pitchFamily="18" charset="0"/>
                              </a:rPr>
                            </m:ctrlPr>
                          </m:sSubPr>
                          <m:e>
                            <m:r>
                              <a:rPr lang="en-US" altLang="zh-CN" i="1">
                                <a:latin typeface="Cambria Math" panose="02040503050406030204" pitchFamily="18" charset="0"/>
                              </a:rPr>
                              <m:t>𝑐</m:t>
                            </m:r>
                          </m:e>
                          <m:sub>
                            <m:r>
                              <a:rPr lang="en-US" altLang="zh-CN" b="0" i="1" smtClean="0">
                                <a:latin typeface="Cambria Math" panose="02040503050406030204" pitchFamily="18" charset="0"/>
                              </a:rPr>
                              <m:t>𝑥</m:t>
                            </m:r>
                          </m:sub>
                        </m:sSub>
                        <m:r>
                          <a:rPr lang="en-US" altLang="zh-CN" b="0" i="1" smtClean="0">
                            <a:latin typeface="Cambria Math" panose="02040503050406030204" pitchFamily="18" charset="0"/>
                          </a:rPr>
                          <m:t>,</m:t>
                        </m:r>
                        <m:r>
                          <a:rPr lang="en-US" altLang="zh-CN" i="1">
                            <a:latin typeface="Cambria Math" panose="02040503050406030204" pitchFamily="18" charset="0"/>
                          </a:rPr>
                          <m:t>𝑐</m:t>
                        </m:r>
                      </m:e>
                      <m:sub>
                        <m:r>
                          <a:rPr lang="en-US" altLang="zh-CN" i="1">
                            <a:latin typeface="Cambria Math" panose="02040503050406030204" pitchFamily="18" charset="0"/>
                          </a:rPr>
                          <m:t>𝑦</m:t>
                        </m:r>
                      </m:sub>
                    </m:sSub>
                  </m:oMath>
                </a14:m>
                <a:r>
                  <a:rPr lang="en-US" altLang="zh-CN" dirty="0" smtClean="0"/>
                  <a:t>)</a:t>
                </a:r>
                <a:r>
                  <a:rPr lang="zh-CN" altLang="en-US" dirty="0" smtClean="0"/>
                  <a:t>的偏移量</a:t>
                </a:r>
                <a:endParaRPr lang="en-US" altLang="zh-CN" dirty="0" smtClean="0"/>
              </a:p>
              <a:p>
                <a:pPr lvl="1"/>
                <a14:m>
                  <m:oMath xmlns:m="http://schemas.openxmlformats.org/officeDocument/2006/math">
                    <m:r>
                      <a:rPr lang="zh-CN" altLang="en-US" i="1" smtClean="0">
                        <a:latin typeface="Cambria Math" panose="02040503050406030204" pitchFamily="18" charset="0"/>
                      </a:rPr>
                      <m:t>𝜎</m:t>
                    </m:r>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𝑡</m:t>
                            </m:r>
                          </m:e>
                          <m:sub>
                            <m:r>
                              <a:rPr lang="zh-CN" altLang="en-US" i="1" smtClean="0">
                                <a:latin typeface="Cambria Math" panose="02040503050406030204" pitchFamily="18" charset="0"/>
                              </a:rPr>
                              <m:t>𝜎</m:t>
                            </m:r>
                          </m:sub>
                        </m:sSub>
                      </m:e>
                    </m:d>
                  </m:oMath>
                </a14:m>
                <a:r>
                  <a:rPr lang="zh-CN" altLang="en-US" dirty="0" smtClean="0"/>
                  <a:t>是预测框的置信度</a:t>
                </a:r>
                <a:endParaRPr lang="en-US" altLang="zh-CN" dirty="0" smtClean="0"/>
              </a:p>
              <a:p>
                <a:pPr lvl="2"/>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b="-1582"/>
                </a:stretch>
              </a:blipFill>
            </p:spPr>
            <p:txBody>
              <a:bodyPr/>
              <a:lstStyle/>
              <a:p>
                <a:r>
                  <a:rPr lang="zh-CN" altLang="en-US">
                    <a:noFill/>
                  </a:rPr>
                  <a:t> </a:t>
                </a:r>
              </a:p>
            </p:txBody>
          </p:sp>
        </mc:Fallback>
      </mc:AlternateContent>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48522" y="1392865"/>
            <a:ext cx="6171966" cy="4617408"/>
          </a:xfrm>
          <a:prstGeom prst="rect">
            <a:avLst/>
          </a:prstGeom>
        </p:spPr>
      </p:pic>
    </p:spTree>
    <p:extLst>
      <p:ext uri="{BB962C8B-B14F-4D97-AF65-F5344CB8AC3E}">
        <p14:creationId xmlns:p14="http://schemas.microsoft.com/office/powerpoint/2010/main" val="19264664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YOLOv2</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startAt="5"/>
            </a:pPr>
            <a:r>
              <a:rPr lang="zh-CN" altLang="en-US" dirty="0" smtClean="0"/>
              <a:t>使用浅层细节特征</a:t>
            </a:r>
            <a:endParaRPr lang="en-US" altLang="zh-CN" dirty="0" smtClean="0"/>
          </a:p>
          <a:p>
            <a:pPr lvl="1"/>
            <a:r>
              <a:rPr lang="zh-CN" altLang="en-US" dirty="0" smtClean="0"/>
              <a:t>深层特征与浅层特征进行级联</a:t>
            </a:r>
            <a:endParaRPr lang="en-US" altLang="zh-CN" dirty="0" smtClean="0"/>
          </a:p>
          <a:p>
            <a:pPr lvl="1"/>
            <a:r>
              <a:rPr lang="zh-CN" altLang="en-US" dirty="0" smtClean="0"/>
              <a:t>拆分成</a:t>
            </a:r>
            <a:r>
              <a:rPr lang="en-US" altLang="zh-CN" dirty="0" smtClean="0"/>
              <a:t>4</a:t>
            </a:r>
            <a:r>
              <a:rPr lang="zh-CN" altLang="en-US" dirty="0" smtClean="0"/>
              <a:t>个特征图，特征图大小降低</a:t>
            </a:r>
            <a:r>
              <a:rPr lang="en-US" altLang="zh-CN" dirty="0" smtClean="0"/>
              <a:t>4</a:t>
            </a:r>
            <a:r>
              <a:rPr lang="zh-CN" altLang="en-US" dirty="0" smtClean="0"/>
              <a:t>倍，</a:t>
            </a:r>
            <a:r>
              <a:rPr lang="zh-CN" altLang="en-US" dirty="0"/>
              <a:t>通道</a:t>
            </a:r>
            <a:r>
              <a:rPr lang="zh-CN" altLang="en-US" dirty="0" smtClean="0"/>
              <a:t>数增加</a:t>
            </a:r>
            <a:r>
              <a:rPr lang="en-US" altLang="zh-CN" dirty="0" smtClean="0"/>
              <a:t>4</a:t>
            </a:r>
            <a:r>
              <a:rPr lang="zh-CN" altLang="en-US" dirty="0" smtClean="0"/>
              <a:t>倍</a:t>
            </a:r>
            <a:endParaRPr lang="en-US" altLang="zh-CN" dirty="0" smtClean="0"/>
          </a:p>
          <a:p>
            <a:pPr lvl="1"/>
            <a:r>
              <a:rPr lang="zh-CN" altLang="en-US" dirty="0" smtClean="0"/>
              <a:t>类似于</a:t>
            </a:r>
            <a:r>
              <a:rPr lang="en-US" altLang="zh-CN" dirty="0" err="1" smtClean="0"/>
              <a:t>ResNet</a:t>
            </a:r>
            <a:r>
              <a:rPr lang="zh-CN" altLang="en-US" dirty="0" smtClean="0"/>
              <a:t>的思想，该层命名为</a:t>
            </a:r>
            <a:r>
              <a:rPr lang="en-US" altLang="zh-CN" dirty="0" err="1"/>
              <a:t>passthrough</a:t>
            </a:r>
            <a:r>
              <a:rPr lang="zh-CN" altLang="en-US" dirty="0"/>
              <a:t>层</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5206" y="3420359"/>
            <a:ext cx="7620000" cy="1724025"/>
          </a:xfrm>
          <a:prstGeom prst="rect">
            <a:avLst/>
          </a:prstGeom>
        </p:spPr>
      </p:pic>
    </p:spTree>
    <p:extLst>
      <p:ext uri="{BB962C8B-B14F-4D97-AF65-F5344CB8AC3E}">
        <p14:creationId xmlns:p14="http://schemas.microsoft.com/office/powerpoint/2010/main" val="5373899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YOLOv2</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startAt="6"/>
            </a:pPr>
            <a:r>
              <a:rPr lang="zh-CN" altLang="en-US" dirty="0" smtClean="0"/>
              <a:t>使用多尺度图像进行训练</a:t>
            </a:r>
            <a:endParaRPr lang="en-US" altLang="zh-CN" dirty="0" smtClean="0"/>
          </a:p>
          <a:p>
            <a:pPr lvl="1"/>
            <a:r>
              <a:rPr lang="zh-CN" altLang="en-US" dirty="0" smtClean="0"/>
              <a:t>每间隔一定迭代次数之后改变模型的输入图像大小</a:t>
            </a:r>
            <a:endParaRPr lang="en-US" altLang="zh-CN" dirty="0" smtClean="0"/>
          </a:p>
          <a:p>
            <a:pPr lvl="1"/>
            <a:r>
              <a:rPr lang="zh-CN" altLang="en-US" dirty="0" smtClean="0"/>
              <a:t>输入图像大小选择一系列</a:t>
            </a:r>
            <a:r>
              <a:rPr lang="en-US" altLang="zh-CN" dirty="0" smtClean="0"/>
              <a:t>32</a:t>
            </a:r>
            <a:r>
              <a:rPr lang="zh-CN" altLang="en-US" dirty="0" smtClean="0"/>
              <a:t>倍数值，从</a:t>
            </a:r>
            <a:r>
              <a:rPr lang="en-US" altLang="zh-CN" dirty="0" smtClean="0"/>
              <a:t>320</a:t>
            </a:r>
            <a:r>
              <a:rPr lang="zh-CN" altLang="en-US" dirty="0" smtClean="0"/>
              <a:t>至</a:t>
            </a:r>
            <a:r>
              <a:rPr lang="en-US" altLang="zh-CN" dirty="0" smtClean="0"/>
              <a:t>608</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925" y="2651124"/>
            <a:ext cx="4276725" cy="3486150"/>
          </a:xfrm>
          <a:prstGeom prst="rect">
            <a:avLst/>
          </a:prstGeom>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04606" y="2441574"/>
            <a:ext cx="6257925" cy="3695700"/>
          </a:xfrm>
          <a:prstGeom prst="rect">
            <a:avLst/>
          </a:prstGeom>
        </p:spPr>
      </p:pic>
    </p:spTree>
    <p:extLst>
      <p:ext uri="{BB962C8B-B14F-4D97-AF65-F5344CB8AC3E}">
        <p14:creationId xmlns:p14="http://schemas.microsoft.com/office/powerpoint/2010/main" val="34429986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YOLOv3</a:t>
            </a:r>
            <a:endParaRPr lang="zh-CN" altLang="en-US" dirty="0"/>
          </a:p>
        </p:txBody>
      </p:sp>
      <p:sp>
        <p:nvSpPr>
          <p:cNvPr id="3" name="内容占位符 2"/>
          <p:cNvSpPr>
            <a:spLocks noGrp="1"/>
          </p:cNvSpPr>
          <p:nvPr>
            <p:ph sz="quarter" idx="13"/>
          </p:nvPr>
        </p:nvSpPr>
        <p:spPr/>
        <p:txBody>
          <a:bodyPr/>
          <a:lstStyle/>
          <a:p>
            <a:r>
              <a:rPr lang="en-US" altLang="zh-CN" dirty="0" smtClean="0"/>
              <a:t>YOLOv3</a:t>
            </a:r>
            <a:r>
              <a:rPr lang="zh-CN" altLang="en-US" dirty="0" smtClean="0"/>
              <a:t>：</a:t>
            </a:r>
            <a:endParaRPr lang="en-US" altLang="zh-CN" dirty="0" smtClean="0"/>
          </a:p>
          <a:p>
            <a:pPr marL="800100" lvl="1" indent="-342900">
              <a:buFont typeface="+mj-lt"/>
              <a:buAutoNum type="arabicPeriod"/>
            </a:pPr>
            <a:r>
              <a:rPr lang="zh-CN" altLang="en-US" dirty="0" smtClean="0"/>
              <a:t>类别预测</a:t>
            </a:r>
            <a:endParaRPr lang="en-US" altLang="zh-CN" dirty="0" smtClean="0"/>
          </a:p>
          <a:p>
            <a:pPr marL="800100" lvl="1" indent="-342900">
              <a:buFont typeface="+mj-lt"/>
              <a:buAutoNum type="arabicPeriod"/>
            </a:pPr>
            <a:r>
              <a:rPr lang="zh-CN" altLang="en-US" dirty="0"/>
              <a:t>使用残差结构网络</a:t>
            </a:r>
            <a:endParaRPr lang="en-US" altLang="zh-CN" dirty="0"/>
          </a:p>
          <a:p>
            <a:pPr marL="800100" lvl="1" indent="-342900">
              <a:buFont typeface="+mj-lt"/>
              <a:buAutoNum type="arabicPeriod"/>
            </a:pPr>
            <a:r>
              <a:rPr lang="zh-CN" altLang="en-US" dirty="0" smtClean="0"/>
              <a:t>使用多尺度特征</a:t>
            </a:r>
            <a:endParaRPr lang="en-US" altLang="zh-CN" dirty="0" smtClean="0"/>
          </a:p>
          <a:p>
            <a:pPr marL="800100" lvl="1" indent="-342900">
              <a:buFont typeface="+mj-lt"/>
              <a:buAutoNum type="arabicPeriod"/>
            </a:pPr>
            <a:r>
              <a:rPr lang="zh-CN" altLang="en-US" dirty="0"/>
              <a:t>先验</a:t>
            </a:r>
            <a:r>
              <a:rPr lang="zh-CN" altLang="en-US" dirty="0" smtClean="0"/>
              <a:t>框</a:t>
            </a:r>
            <a:endParaRPr lang="en-US" altLang="zh-CN" dirty="0" smtClean="0"/>
          </a:p>
          <a:p>
            <a:pPr lvl="1"/>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38688" y="2155824"/>
            <a:ext cx="6781800" cy="3981450"/>
          </a:xfrm>
          <a:prstGeom prst="rect">
            <a:avLst/>
          </a:prstGeom>
        </p:spPr>
      </p:pic>
    </p:spTree>
    <p:extLst>
      <p:ext uri="{BB962C8B-B14F-4D97-AF65-F5344CB8AC3E}">
        <p14:creationId xmlns:p14="http://schemas.microsoft.com/office/powerpoint/2010/main" val="38389734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YOLOv3</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a:pPr>
            <a:r>
              <a:rPr lang="zh-CN" altLang="en-US" dirty="0" smtClean="0"/>
              <a:t>类别预测</a:t>
            </a:r>
            <a:endParaRPr lang="en-US" altLang="zh-CN" dirty="0" smtClean="0"/>
          </a:p>
          <a:p>
            <a:pPr lvl="1"/>
            <a:r>
              <a:rPr lang="zh-CN" altLang="en-US" dirty="0" smtClean="0"/>
              <a:t>使用</a:t>
            </a:r>
            <a:r>
              <a:rPr lang="en-US" altLang="zh-CN" dirty="0" smtClean="0"/>
              <a:t>logistic</a:t>
            </a:r>
            <a:r>
              <a:rPr lang="zh-CN" altLang="en-US" dirty="0" smtClean="0"/>
              <a:t>分类器代替</a:t>
            </a:r>
            <a:r>
              <a:rPr lang="en-US" altLang="zh-CN" dirty="0" err="1" smtClean="0"/>
              <a:t>softmax</a:t>
            </a:r>
            <a:r>
              <a:rPr lang="zh-CN" altLang="en-US" dirty="0" smtClean="0"/>
              <a:t>分类器</a:t>
            </a:r>
            <a:endParaRPr lang="en-US" altLang="zh-CN" dirty="0" smtClean="0"/>
          </a:p>
          <a:p>
            <a:pPr lvl="2"/>
            <a:r>
              <a:rPr lang="zh-CN" altLang="en-US" dirty="0" smtClean="0"/>
              <a:t>针对每一类使用独立的</a:t>
            </a:r>
            <a:r>
              <a:rPr lang="en-US" altLang="zh-CN" dirty="0" smtClean="0"/>
              <a:t>logistic</a:t>
            </a:r>
            <a:r>
              <a:rPr lang="zh-CN" altLang="en-US" dirty="0" smtClean="0"/>
              <a:t>分类器</a:t>
            </a:r>
            <a:endParaRPr lang="en-US" altLang="zh-CN" dirty="0" smtClean="0"/>
          </a:p>
          <a:p>
            <a:pPr lvl="2"/>
            <a:r>
              <a:rPr lang="en-US" altLang="zh-CN" dirty="0" err="1" smtClean="0"/>
              <a:t>softmax</a:t>
            </a:r>
            <a:r>
              <a:rPr lang="zh-CN" altLang="en-US" dirty="0" smtClean="0"/>
              <a:t>分类器全部分类概率之和为</a:t>
            </a:r>
            <a:r>
              <a:rPr lang="en-US" altLang="zh-CN" dirty="0" smtClean="0"/>
              <a:t>1</a:t>
            </a:r>
          </a:p>
          <a:p>
            <a:pPr lvl="1"/>
            <a:r>
              <a:rPr lang="zh-CN" altLang="en-US" dirty="0" smtClean="0"/>
              <a:t>训练过程使用二分交叉熵损失代替均方误差</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925" y="3020054"/>
            <a:ext cx="4364531" cy="2992404"/>
          </a:xfrm>
          <a:prstGeom prst="rect">
            <a:avLst/>
          </a:prstGeom>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55364" y="3020054"/>
            <a:ext cx="4365124" cy="2992811"/>
          </a:xfrm>
          <a:prstGeom prst="rect">
            <a:avLst/>
          </a:prstGeom>
        </p:spPr>
      </p:pic>
    </p:spTree>
    <p:extLst>
      <p:ext uri="{BB962C8B-B14F-4D97-AF65-F5344CB8AC3E}">
        <p14:creationId xmlns:p14="http://schemas.microsoft.com/office/powerpoint/2010/main" val="21750785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YOLOv3</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startAt="2"/>
            </a:pPr>
            <a:r>
              <a:rPr lang="zh-CN" altLang="en-US" dirty="0" smtClean="0"/>
              <a:t>使用残差结构网络</a:t>
            </a:r>
            <a:endParaRPr lang="en-US" altLang="zh-CN" dirty="0" smtClean="0"/>
          </a:p>
          <a:p>
            <a:pPr lvl="1"/>
            <a:r>
              <a:rPr lang="en-US" altLang="zh-CN" dirty="0" smtClean="0"/>
              <a:t>Darknet-53</a:t>
            </a:r>
          </a:p>
          <a:p>
            <a:pPr marL="342900" indent="-342900">
              <a:buFont typeface="+mj-lt"/>
              <a:buAutoNum type="arabicPeriod" startAt="2"/>
            </a:pP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7413" y="1130299"/>
            <a:ext cx="3923075" cy="5006975"/>
          </a:xfrm>
          <a:prstGeom prst="rect">
            <a:avLst/>
          </a:prstGeom>
        </p:spPr>
      </p:pic>
    </p:spTree>
    <p:extLst>
      <p:ext uri="{BB962C8B-B14F-4D97-AF65-F5344CB8AC3E}">
        <p14:creationId xmlns:p14="http://schemas.microsoft.com/office/powerpoint/2010/main" val="33249631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YOLOv3</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startAt="3"/>
            </a:pPr>
            <a:r>
              <a:rPr lang="zh-CN" altLang="en-US" dirty="0" smtClean="0"/>
              <a:t>使用多尺度特征</a:t>
            </a:r>
            <a:endParaRPr lang="en-US" altLang="zh-CN" dirty="0" smtClean="0"/>
          </a:p>
          <a:p>
            <a:pPr lvl="1"/>
            <a:r>
              <a:rPr lang="zh-CN" altLang="en-US" dirty="0" smtClean="0"/>
              <a:t>特征图每个位置使用</a:t>
            </a:r>
            <a:r>
              <a:rPr lang="en-US" altLang="zh-CN" dirty="0" smtClean="0"/>
              <a:t>3</a:t>
            </a:r>
            <a:r>
              <a:rPr lang="zh-CN" altLang="en-US" dirty="0" smtClean="0"/>
              <a:t>个锚</a:t>
            </a:r>
            <a:endParaRPr lang="en-US" altLang="zh-CN" dirty="0" smtClean="0"/>
          </a:p>
          <a:p>
            <a:pPr lvl="1"/>
            <a:r>
              <a:rPr lang="zh-CN" altLang="en-US" dirty="0" smtClean="0"/>
              <a:t>需要预测的参数数量为</a:t>
            </a:r>
            <a:r>
              <a:rPr lang="en-US" altLang="zh-CN" dirty="0" smtClean="0"/>
              <a:t>N×N×3×(4+1+n_class)</a:t>
            </a:r>
          </a:p>
          <a:p>
            <a:pPr lvl="1"/>
            <a:r>
              <a:rPr lang="en-US" altLang="zh-CN" dirty="0" smtClean="0"/>
              <a:t>3</a:t>
            </a:r>
            <a:r>
              <a:rPr lang="zh-CN" altLang="en-US" dirty="0" smtClean="0"/>
              <a:t>个不同尺度的特征图以获得更好效果</a:t>
            </a:r>
            <a:endParaRPr lang="en-US" altLang="zh-CN" dirty="0" smtClean="0"/>
          </a:p>
          <a:p>
            <a:pPr marL="342900" indent="-342900">
              <a:buFont typeface="+mj-lt"/>
              <a:buAutoNum type="arabicPeriod" startAt="3"/>
            </a:pP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7047" y="1130299"/>
            <a:ext cx="5503441" cy="5014246"/>
          </a:xfrm>
          <a:prstGeom prst="rect">
            <a:avLst/>
          </a:prstGeom>
        </p:spPr>
      </p:pic>
    </p:spTree>
    <p:extLst>
      <p:ext uri="{BB962C8B-B14F-4D97-AF65-F5344CB8AC3E}">
        <p14:creationId xmlns:p14="http://schemas.microsoft.com/office/powerpoint/2010/main" val="349402505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YOLOv3</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startAt="3"/>
            </a:pPr>
            <a:r>
              <a:rPr lang="zh-CN" altLang="en-US" dirty="0" smtClean="0"/>
              <a:t>使用多尺度特征</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34587" y="1363315"/>
            <a:ext cx="8585902" cy="4773960"/>
          </a:xfrm>
          <a:prstGeom prst="rect">
            <a:avLst/>
          </a:prstGeom>
        </p:spPr>
      </p:pic>
    </p:spTree>
    <p:extLst>
      <p:ext uri="{BB962C8B-B14F-4D97-AF65-F5344CB8AC3E}">
        <p14:creationId xmlns:p14="http://schemas.microsoft.com/office/powerpoint/2010/main" val="228015391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YOLOv3</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startAt="4"/>
            </a:pPr>
            <a:r>
              <a:rPr lang="zh-CN" altLang="en-US" dirty="0" smtClean="0"/>
              <a:t>先验框</a:t>
            </a:r>
            <a:endParaRPr lang="en-US" altLang="zh-CN" dirty="0" smtClean="0"/>
          </a:p>
          <a:p>
            <a:pPr lvl="1"/>
            <a:r>
              <a:rPr lang="zh-CN" altLang="en-US" dirty="0" smtClean="0"/>
              <a:t>最小的特征图有最大的感受野，用大的先验框检测大对象</a:t>
            </a:r>
            <a:r>
              <a:rPr lang="en-US" altLang="zh-CN" dirty="0" smtClean="0"/>
              <a:t>{(</a:t>
            </a:r>
            <a:r>
              <a:rPr lang="en-US" altLang="zh-CN" dirty="0"/>
              <a:t>116x90)</a:t>
            </a:r>
            <a:r>
              <a:rPr lang="zh-CN" altLang="en-US" dirty="0"/>
              <a:t>，</a:t>
            </a:r>
            <a:r>
              <a:rPr lang="en-US" altLang="zh-CN" dirty="0"/>
              <a:t>(156x198)</a:t>
            </a:r>
            <a:r>
              <a:rPr lang="zh-CN" altLang="en-US" dirty="0"/>
              <a:t>，</a:t>
            </a:r>
            <a:r>
              <a:rPr lang="en-US" altLang="zh-CN" dirty="0"/>
              <a:t>(373x326</a:t>
            </a:r>
            <a:r>
              <a:rPr lang="en-US" altLang="zh-CN" dirty="0" smtClean="0"/>
              <a:t>)}</a:t>
            </a:r>
          </a:p>
          <a:p>
            <a:pPr lvl="1"/>
            <a:r>
              <a:rPr lang="zh-CN" altLang="en-US" dirty="0" smtClean="0"/>
              <a:t>中等的特征图有中等的感受野，用中的先验框检测中对象</a:t>
            </a:r>
            <a:r>
              <a:rPr lang="en-US" altLang="zh-CN" dirty="0"/>
              <a:t>{(30x61)</a:t>
            </a:r>
            <a:r>
              <a:rPr lang="zh-CN" altLang="en-US" dirty="0"/>
              <a:t>，</a:t>
            </a:r>
            <a:r>
              <a:rPr lang="en-US" altLang="zh-CN" dirty="0"/>
              <a:t>(62x45)</a:t>
            </a:r>
            <a:r>
              <a:rPr lang="zh-CN" altLang="en-US" dirty="0"/>
              <a:t>，</a:t>
            </a:r>
            <a:r>
              <a:rPr lang="en-US" altLang="zh-CN" dirty="0"/>
              <a:t>(59x119)}</a:t>
            </a:r>
            <a:endParaRPr lang="en-US" altLang="zh-CN" dirty="0" smtClean="0"/>
          </a:p>
          <a:p>
            <a:pPr lvl="1"/>
            <a:r>
              <a:rPr lang="zh-CN" altLang="en-US" dirty="0" smtClean="0"/>
              <a:t>最大的特征图有最小的感受野，用小的先验框检测小对象</a:t>
            </a:r>
            <a:r>
              <a:rPr lang="en-US" altLang="zh-CN" dirty="0" smtClean="0"/>
              <a:t>{</a:t>
            </a:r>
            <a:r>
              <a:rPr lang="en-US" altLang="zh-CN" dirty="0"/>
              <a:t>(10x13)</a:t>
            </a:r>
            <a:r>
              <a:rPr lang="zh-CN" altLang="en-US" dirty="0"/>
              <a:t>，</a:t>
            </a:r>
            <a:r>
              <a:rPr lang="en-US" altLang="zh-CN" dirty="0"/>
              <a:t>(16x30)</a:t>
            </a:r>
            <a:r>
              <a:rPr lang="zh-CN" altLang="en-US" dirty="0"/>
              <a:t>，</a:t>
            </a:r>
            <a:r>
              <a:rPr lang="en-US" altLang="zh-CN" dirty="0"/>
              <a:t>(33x23)</a:t>
            </a:r>
            <a:r>
              <a:rPr lang="en-US" altLang="zh-CN" dirty="0" smtClean="0"/>
              <a:t>}</a:t>
            </a:r>
          </a:p>
          <a:p>
            <a:pPr lvl="1"/>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925" y="2785021"/>
            <a:ext cx="3240000" cy="3352253"/>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09925" y="2785021"/>
            <a:ext cx="3240000" cy="3408910"/>
          </a:xfrm>
          <a:prstGeom prst="rect">
            <a:avLst/>
          </a:prstGeom>
        </p:spPr>
      </p:pic>
      <p:pic>
        <p:nvPicPr>
          <p:cNvPr id="7" name="图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49925" y="2818291"/>
            <a:ext cx="3240000" cy="3342370"/>
          </a:xfrm>
          <a:prstGeom prst="rect">
            <a:avLst/>
          </a:prstGeom>
        </p:spPr>
      </p:pic>
    </p:spTree>
    <p:extLst>
      <p:ext uri="{BB962C8B-B14F-4D97-AF65-F5344CB8AC3E}">
        <p14:creationId xmlns:p14="http://schemas.microsoft.com/office/powerpoint/2010/main" val="207975546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YOLOv4</a:t>
            </a:r>
            <a:endParaRPr lang="zh-CN" altLang="en-US" dirty="0"/>
          </a:p>
        </p:txBody>
      </p:sp>
      <p:sp>
        <p:nvSpPr>
          <p:cNvPr id="3" name="内容占位符 2"/>
          <p:cNvSpPr>
            <a:spLocks noGrp="1"/>
          </p:cNvSpPr>
          <p:nvPr>
            <p:ph sz="quarter" idx="13"/>
          </p:nvPr>
        </p:nvSpPr>
        <p:spPr/>
        <p:txBody>
          <a:bodyPr/>
          <a:lstStyle/>
          <a:p>
            <a:r>
              <a:rPr lang="en-US" altLang="zh-CN" dirty="0" smtClean="0"/>
              <a:t>YOLOv4</a:t>
            </a:r>
            <a:r>
              <a:rPr lang="zh-CN" altLang="en-US" dirty="0" smtClean="0"/>
              <a:t>：</a:t>
            </a:r>
            <a:endParaRPr lang="en-US" altLang="zh-CN" dirty="0" smtClean="0"/>
          </a:p>
          <a:p>
            <a:pPr marL="800100" lvl="1" indent="-342900">
              <a:buFont typeface="+mj-lt"/>
              <a:buAutoNum type="arabicPeriod"/>
            </a:pPr>
            <a:r>
              <a:rPr lang="en-US" altLang="zh-CN" dirty="0" smtClean="0"/>
              <a:t>Mosaic</a:t>
            </a:r>
            <a:r>
              <a:rPr lang="zh-CN" altLang="en-US" dirty="0" smtClean="0"/>
              <a:t>数据增强</a:t>
            </a:r>
            <a:endParaRPr lang="en-US" altLang="zh-CN" dirty="0" smtClean="0"/>
          </a:p>
          <a:p>
            <a:pPr marL="800100" lvl="1" indent="-342900">
              <a:buFont typeface="+mj-lt"/>
              <a:buAutoNum type="arabicPeriod"/>
            </a:pPr>
            <a:r>
              <a:rPr lang="zh-CN" altLang="en-US" dirty="0" smtClean="0"/>
              <a:t>主干网络升级</a:t>
            </a:r>
            <a:endParaRPr lang="en-US" altLang="zh-CN" dirty="0" smtClean="0"/>
          </a:p>
          <a:p>
            <a:pPr marL="800100" lvl="1" indent="-342900">
              <a:buFont typeface="+mj-lt"/>
              <a:buAutoNum type="arabicPeriod"/>
            </a:pPr>
            <a:r>
              <a:rPr lang="zh-CN" altLang="en-US" dirty="0"/>
              <a:t>多</a:t>
            </a:r>
            <a:r>
              <a:rPr lang="zh-CN" altLang="en-US" dirty="0" smtClean="0"/>
              <a:t>尺度金字塔升级</a:t>
            </a:r>
            <a:endParaRPr lang="en-US" altLang="zh-CN" dirty="0" smtClean="0"/>
          </a:p>
          <a:p>
            <a:pPr marL="800100" lvl="1" indent="-342900">
              <a:buFont typeface="+mj-lt"/>
              <a:buAutoNum type="arabicPeriod"/>
            </a:pP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28930" y="1251032"/>
            <a:ext cx="5991558" cy="4765507"/>
          </a:xfrm>
          <a:prstGeom prst="rect">
            <a:avLst/>
          </a:prstGeom>
        </p:spPr>
      </p:pic>
    </p:spTree>
    <p:extLst>
      <p:ext uri="{BB962C8B-B14F-4D97-AF65-F5344CB8AC3E}">
        <p14:creationId xmlns:p14="http://schemas.microsoft.com/office/powerpoint/2010/main" val="336985091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YOLOv4</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a:pPr>
            <a:r>
              <a:rPr lang="en-US" altLang="zh-CN" dirty="0" smtClean="0"/>
              <a:t>Mosaic</a:t>
            </a:r>
            <a:r>
              <a:rPr lang="zh-CN" altLang="en-US" dirty="0" smtClean="0"/>
              <a:t>数据增强</a:t>
            </a:r>
            <a:endParaRPr lang="en-US" altLang="zh-CN" dirty="0" smtClean="0"/>
          </a:p>
          <a:p>
            <a:pPr lvl="1"/>
            <a:r>
              <a:rPr lang="zh-CN" altLang="en-US" dirty="0" smtClean="0"/>
              <a:t>平衡不同尺寸目标的占比数量</a:t>
            </a:r>
            <a:endParaRPr lang="en-US" altLang="zh-CN" dirty="0" smtClean="0"/>
          </a:p>
          <a:p>
            <a:pPr lvl="1"/>
            <a:r>
              <a:rPr lang="zh-CN" altLang="en-US" dirty="0" smtClean="0"/>
              <a:t>采用</a:t>
            </a:r>
            <a:r>
              <a:rPr lang="en-US" altLang="zh-CN" dirty="0" smtClean="0"/>
              <a:t>4</a:t>
            </a:r>
            <a:r>
              <a:rPr lang="zh-CN" altLang="en-US" dirty="0" smtClean="0"/>
              <a:t>张图片随机缩放、裁剪、排布进行拼接</a:t>
            </a:r>
            <a:endParaRPr lang="en-US" altLang="zh-CN" dirty="0" smtClean="0"/>
          </a:p>
          <a:p>
            <a:pPr lvl="1"/>
            <a:r>
              <a:rPr lang="zh-CN" altLang="en-US" dirty="0" smtClean="0"/>
              <a:t>扩充了数据集，减少</a:t>
            </a:r>
            <a:r>
              <a:rPr lang="en-US" altLang="zh-CN" dirty="0" smtClean="0"/>
              <a:t>GPU</a:t>
            </a:r>
            <a:r>
              <a:rPr lang="zh-CN" altLang="en-US" dirty="0" smtClean="0"/>
              <a:t>计算量</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6923" y="2812825"/>
            <a:ext cx="8356566" cy="3324449"/>
          </a:xfrm>
          <a:prstGeom prst="rect">
            <a:avLst/>
          </a:prstGeom>
        </p:spPr>
      </p:pic>
    </p:spTree>
    <p:extLst>
      <p:ext uri="{BB962C8B-B14F-4D97-AF65-F5344CB8AC3E}">
        <p14:creationId xmlns:p14="http://schemas.microsoft.com/office/powerpoint/2010/main" val="80325183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YOLOv4</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startAt="2"/>
            </a:pPr>
            <a:r>
              <a:rPr lang="zh-CN" altLang="en-US" dirty="0" smtClean="0"/>
              <a:t>主干网络升级</a:t>
            </a:r>
            <a:endParaRPr lang="en-US" altLang="zh-CN" dirty="0" smtClean="0"/>
          </a:p>
          <a:p>
            <a:pPr lvl="1"/>
            <a:r>
              <a:rPr lang="en-US" altLang="zh-CN" dirty="0" smtClean="0"/>
              <a:t>CSPDarknet-53</a:t>
            </a:r>
            <a:r>
              <a:rPr lang="zh-CN" altLang="en-US" dirty="0" smtClean="0"/>
              <a:t>网络</a:t>
            </a:r>
            <a:endParaRPr lang="en-US" altLang="zh-CN" dirty="0" smtClean="0"/>
          </a:p>
          <a:p>
            <a:pPr lvl="1"/>
            <a:r>
              <a:rPr lang="zh-CN" altLang="en-US" dirty="0" smtClean="0"/>
              <a:t>增强</a:t>
            </a:r>
            <a:r>
              <a:rPr lang="en-US" altLang="zh-CN" dirty="0" smtClean="0"/>
              <a:t>CNN</a:t>
            </a:r>
            <a:r>
              <a:rPr lang="zh-CN" altLang="en-US" dirty="0" smtClean="0"/>
              <a:t>学习能力，降低计算瓶颈及内存成本</a:t>
            </a:r>
            <a:endParaRPr lang="en-US" altLang="zh-CN" dirty="0" smtClean="0"/>
          </a:p>
          <a:p>
            <a:pPr lvl="1"/>
            <a:r>
              <a:rPr lang="en-US" altLang="zh-CN" dirty="0" err="1" smtClean="0"/>
              <a:t>Dropblock</a:t>
            </a:r>
            <a:r>
              <a:rPr lang="zh-CN" altLang="en-US" dirty="0" smtClean="0"/>
              <a:t>缓解过拟合</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3238" y="1130299"/>
            <a:ext cx="4667250" cy="2333625"/>
          </a:xfrm>
          <a:prstGeom prst="rect">
            <a:avLst/>
          </a:prstGeom>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71849" y="3902149"/>
            <a:ext cx="5948639" cy="2235125"/>
          </a:xfrm>
          <a:prstGeom prst="rect">
            <a:avLst/>
          </a:prstGeom>
        </p:spPr>
      </p:pic>
    </p:spTree>
    <p:extLst>
      <p:ext uri="{BB962C8B-B14F-4D97-AF65-F5344CB8AC3E}">
        <p14:creationId xmlns:p14="http://schemas.microsoft.com/office/powerpoint/2010/main" val="34672418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YOLOv4</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startAt="3"/>
            </a:pPr>
            <a:r>
              <a:rPr lang="zh-CN" altLang="en-US" dirty="0" smtClean="0"/>
              <a:t>多尺度金字塔升级</a:t>
            </a:r>
            <a:endParaRPr lang="en-US" altLang="zh-CN" dirty="0" smtClean="0"/>
          </a:p>
          <a:p>
            <a:pPr lvl="1"/>
            <a:r>
              <a:rPr lang="en-US" altLang="zh-CN" dirty="0" smtClean="0"/>
              <a:t>FPN+PAN</a:t>
            </a:r>
            <a:r>
              <a:rPr lang="zh-CN" altLang="en-US" dirty="0" smtClean="0"/>
              <a:t>结构</a:t>
            </a:r>
            <a:endParaRPr lang="en-US" altLang="zh-CN" dirty="0" smtClean="0"/>
          </a:p>
          <a:p>
            <a:pPr lvl="1"/>
            <a:r>
              <a:rPr lang="zh-CN" altLang="en-US" dirty="0" smtClean="0"/>
              <a:t>组合两个模块，</a:t>
            </a:r>
            <a:r>
              <a:rPr lang="en-US" altLang="zh-CN" dirty="0" smtClean="0"/>
              <a:t>FPN</a:t>
            </a:r>
            <a:r>
              <a:rPr lang="zh-CN" altLang="en-US" dirty="0" smtClean="0"/>
              <a:t>自顶向下捕获特征，</a:t>
            </a:r>
            <a:r>
              <a:rPr lang="en-US" altLang="zh-CN" dirty="0" smtClean="0"/>
              <a:t>PAN</a:t>
            </a:r>
            <a:r>
              <a:rPr lang="zh-CN" altLang="en-US" dirty="0" smtClean="0"/>
              <a:t>自底向上传达定位</a:t>
            </a:r>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8844" y="2592281"/>
            <a:ext cx="4484773" cy="3544993"/>
          </a:xfrm>
          <a:prstGeom prst="rect">
            <a:avLst/>
          </a:prstGeom>
          <a:ln>
            <a:noFill/>
          </a:ln>
        </p:spPr>
      </p:pic>
      <p:pic>
        <p:nvPicPr>
          <p:cNvPr id="5" name="图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93617" y="2358454"/>
            <a:ext cx="5026871" cy="3778820"/>
          </a:xfrm>
          <a:prstGeom prst="rect">
            <a:avLst/>
          </a:prstGeom>
        </p:spPr>
      </p:pic>
    </p:spTree>
    <p:extLst>
      <p:ext uri="{BB962C8B-B14F-4D97-AF65-F5344CB8AC3E}">
        <p14:creationId xmlns:p14="http://schemas.microsoft.com/office/powerpoint/2010/main" val="370867577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YOLOv5</a:t>
            </a:r>
            <a:endParaRPr lang="zh-CN" altLang="en-US" dirty="0"/>
          </a:p>
        </p:txBody>
      </p:sp>
      <p:sp>
        <p:nvSpPr>
          <p:cNvPr id="3" name="内容占位符 2"/>
          <p:cNvSpPr>
            <a:spLocks noGrp="1"/>
          </p:cNvSpPr>
          <p:nvPr>
            <p:ph sz="quarter" idx="13"/>
          </p:nvPr>
        </p:nvSpPr>
        <p:spPr/>
        <p:txBody>
          <a:bodyPr/>
          <a:lstStyle/>
          <a:p>
            <a:r>
              <a:rPr lang="en-US" altLang="zh-CN" dirty="0" smtClean="0"/>
              <a:t>YOLOv5</a:t>
            </a:r>
            <a:r>
              <a:rPr lang="zh-CN" altLang="en-US" dirty="0" smtClean="0"/>
              <a:t>：</a:t>
            </a:r>
            <a:endParaRPr lang="en-US" altLang="zh-CN" dirty="0" smtClean="0"/>
          </a:p>
          <a:p>
            <a:pPr marL="800100" lvl="1" indent="-342900">
              <a:buFont typeface="+mj-lt"/>
              <a:buAutoNum type="arabicPeriod"/>
            </a:pPr>
            <a:r>
              <a:rPr lang="zh-CN" altLang="en-US" dirty="0"/>
              <a:t>自适应锚框</a:t>
            </a:r>
            <a:r>
              <a:rPr lang="zh-CN" altLang="en-US" dirty="0" smtClean="0"/>
              <a:t>计算</a:t>
            </a:r>
            <a:endParaRPr lang="en-US" altLang="zh-CN" dirty="0" smtClean="0"/>
          </a:p>
          <a:p>
            <a:pPr marL="800100" lvl="1" indent="-342900">
              <a:buFont typeface="+mj-lt"/>
              <a:buAutoNum type="arabicPeriod"/>
            </a:pPr>
            <a:r>
              <a:rPr lang="zh-CN" altLang="en-US" dirty="0" smtClean="0"/>
              <a:t>自</a:t>
            </a:r>
            <a:r>
              <a:rPr lang="zh-CN" altLang="en-US" dirty="0"/>
              <a:t>适应图片</a:t>
            </a:r>
            <a:r>
              <a:rPr lang="zh-CN" altLang="en-US" dirty="0" smtClean="0"/>
              <a:t>缩放</a:t>
            </a:r>
            <a:endParaRPr lang="en-US" altLang="zh-CN" dirty="0" smtClean="0"/>
          </a:p>
          <a:p>
            <a:pPr marL="800100" lvl="1" indent="-342900">
              <a:buFont typeface="+mj-lt"/>
              <a:buAutoNum type="arabicPeriod"/>
            </a:pPr>
            <a:endParaRPr lang="en-US" altLang="zh-CN" dirty="0" smtClean="0"/>
          </a:p>
          <a:p>
            <a:pPr marL="800100" lvl="1" indent="-342900">
              <a:buFont typeface="+mj-lt"/>
              <a:buAutoNum type="arabicPeriod"/>
            </a:pPr>
            <a:endParaRPr lang="zh-CN" altLang="en-US" dirty="0"/>
          </a:p>
        </p:txBody>
      </p:sp>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05647" y="1199775"/>
            <a:ext cx="6214841" cy="4868022"/>
          </a:xfrm>
          <a:prstGeom prst="rect">
            <a:avLst/>
          </a:prstGeom>
        </p:spPr>
      </p:pic>
    </p:spTree>
    <p:extLst>
      <p:ext uri="{BB962C8B-B14F-4D97-AF65-F5344CB8AC3E}">
        <p14:creationId xmlns:p14="http://schemas.microsoft.com/office/powerpoint/2010/main" val="24238332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YOLOv5</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a:pPr>
            <a:r>
              <a:rPr lang="zh-CN" altLang="en-US" dirty="0" smtClean="0"/>
              <a:t>自适应锚框计算</a:t>
            </a:r>
            <a:endParaRPr lang="en-US" altLang="zh-CN" dirty="0" smtClean="0"/>
          </a:p>
          <a:p>
            <a:pPr lvl="1"/>
            <a:r>
              <a:rPr lang="zh-CN" altLang="en-US" dirty="0" smtClean="0"/>
              <a:t>不再使用单独脚本</a:t>
            </a:r>
            <a:endParaRPr lang="en-US" altLang="zh-CN" dirty="0" smtClean="0"/>
          </a:p>
          <a:p>
            <a:pPr marL="342900" indent="-342900">
              <a:buFont typeface="+mj-lt"/>
              <a:buAutoNum type="arabicPeriod"/>
            </a:pPr>
            <a:r>
              <a:rPr lang="zh-CN" altLang="en-US" dirty="0" smtClean="0"/>
              <a:t>自适应图片缩放</a:t>
            </a:r>
            <a:endParaRPr lang="en-US" altLang="zh-CN" dirty="0" smtClean="0"/>
          </a:p>
          <a:p>
            <a:pPr lvl="1"/>
            <a:r>
              <a:rPr lang="zh-CN" altLang="en-US" dirty="0"/>
              <a:t>根据原始图片大小与输入到网络图片大小计算缩放</a:t>
            </a:r>
            <a:r>
              <a:rPr lang="zh-CN" altLang="en-US" dirty="0" smtClean="0"/>
              <a:t>比例</a:t>
            </a:r>
            <a:endParaRPr lang="en-US" altLang="zh-CN" dirty="0" smtClean="0"/>
          </a:p>
          <a:p>
            <a:pPr lvl="1"/>
            <a:r>
              <a:rPr lang="zh-CN" altLang="en-US" dirty="0"/>
              <a:t>根据原始图片大小与缩放比例计算缩放后的图片</a:t>
            </a:r>
            <a:r>
              <a:rPr lang="zh-CN" altLang="en-US" dirty="0" smtClean="0"/>
              <a:t>大小</a:t>
            </a:r>
            <a:endParaRPr lang="en-US" altLang="zh-CN" dirty="0" smtClean="0"/>
          </a:p>
          <a:p>
            <a:pPr lvl="1"/>
            <a:r>
              <a:rPr lang="zh-CN" altLang="en-US" dirty="0"/>
              <a:t>计算黑边填充数值。</a:t>
            </a: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06023" y="1130299"/>
            <a:ext cx="4914465" cy="2160000"/>
          </a:xfrm>
          <a:prstGeom prst="rect">
            <a:avLst/>
          </a:prstGeom>
        </p:spPr>
      </p:pic>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69925" y="3977274"/>
            <a:ext cx="4914468" cy="2160000"/>
          </a:xfrm>
          <a:prstGeom prst="rect">
            <a:avLst/>
          </a:prstGeom>
        </p:spPr>
      </p:pic>
      <p:pic>
        <p:nvPicPr>
          <p:cNvPr id="6" name="图片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73896" y="3977274"/>
            <a:ext cx="5146592" cy="2160000"/>
          </a:xfrm>
          <a:prstGeom prst="rect">
            <a:avLst/>
          </a:prstGeom>
        </p:spPr>
      </p:pic>
    </p:spTree>
    <p:extLst>
      <p:ext uri="{BB962C8B-B14F-4D97-AF65-F5344CB8AC3E}">
        <p14:creationId xmlns:p14="http://schemas.microsoft.com/office/powerpoint/2010/main" val="3225964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7853AD29-4330-49E9-8BB1-F2974E6EB33B}"/>
              </a:ext>
            </a:extLst>
          </p:cNvPr>
          <p:cNvSpPr>
            <a:spLocks noGrp="1"/>
          </p:cNvSpPr>
          <p:nvPr>
            <p:ph type="title"/>
          </p:nvPr>
        </p:nvSpPr>
        <p:spPr/>
        <p:txBody>
          <a:bodyPr/>
          <a:lstStyle/>
          <a:p>
            <a:r>
              <a:rPr lang="en-US" altLang="zh-CN" dirty="0"/>
              <a:t>/</a:t>
            </a:r>
            <a:r>
              <a:rPr lang="en-US" altLang="zh-CN" dirty="0" smtClean="0"/>
              <a:t>02</a:t>
            </a:r>
            <a:endParaRPr lang="zh-CN" altLang="en-US" dirty="0"/>
          </a:p>
        </p:txBody>
      </p:sp>
      <p:sp>
        <p:nvSpPr>
          <p:cNvPr id="3" name="文本占位符 2">
            <a:extLst>
              <a:ext uri="{FF2B5EF4-FFF2-40B4-BE49-F238E27FC236}">
                <a16:creationId xmlns:a16="http://schemas.microsoft.com/office/drawing/2014/main" xmlns="" id="{271AD5FE-0452-46D3-A132-5A9EF58C7B33}"/>
              </a:ext>
            </a:extLst>
          </p:cNvPr>
          <p:cNvSpPr>
            <a:spLocks noGrp="1"/>
          </p:cNvSpPr>
          <p:nvPr>
            <p:ph type="body" idx="1"/>
          </p:nvPr>
        </p:nvSpPr>
        <p:spPr/>
        <p:txBody>
          <a:bodyPr/>
          <a:lstStyle/>
          <a:p>
            <a:r>
              <a:rPr lang="zh-CN" altLang="en-US" dirty="0" smtClean="0"/>
              <a:t>其他的一阶段检测算法</a:t>
            </a:r>
            <a:endParaRPr lang="zh-CN" altLang="en-US" dirty="0"/>
          </a:p>
        </p:txBody>
      </p:sp>
    </p:spTree>
    <p:extLst>
      <p:ext uri="{BB962C8B-B14F-4D97-AF65-F5344CB8AC3E}">
        <p14:creationId xmlns:p14="http://schemas.microsoft.com/office/powerpoint/2010/main" val="405758675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SSD</a:t>
            </a:r>
            <a:endParaRPr lang="zh-CN" altLang="en-US" dirty="0"/>
          </a:p>
        </p:txBody>
      </p:sp>
      <p:sp>
        <p:nvSpPr>
          <p:cNvPr id="3" name="内容占位符 2"/>
          <p:cNvSpPr>
            <a:spLocks noGrp="1"/>
          </p:cNvSpPr>
          <p:nvPr>
            <p:ph sz="quarter" idx="13"/>
          </p:nvPr>
        </p:nvSpPr>
        <p:spPr/>
        <p:txBody>
          <a:bodyPr/>
          <a:lstStyle/>
          <a:p>
            <a:r>
              <a:rPr lang="zh-CN" altLang="en-US" dirty="0"/>
              <a:t>核心</a:t>
            </a:r>
            <a:r>
              <a:rPr lang="zh-CN" altLang="en-US" dirty="0" smtClean="0"/>
              <a:t>思想：</a:t>
            </a:r>
            <a:endParaRPr lang="en-US" altLang="zh-CN" dirty="0" smtClean="0"/>
          </a:p>
          <a:p>
            <a:pPr lvl="1"/>
            <a:r>
              <a:rPr lang="zh-CN" altLang="en-US" dirty="0"/>
              <a:t>预</a:t>
            </a:r>
            <a:r>
              <a:rPr lang="zh-CN" altLang="en-US" dirty="0" smtClean="0"/>
              <a:t>设一系列锚</a:t>
            </a:r>
            <a:endParaRPr lang="en-US" altLang="zh-CN" dirty="0" smtClean="0"/>
          </a:p>
          <a:p>
            <a:pPr lvl="1"/>
            <a:r>
              <a:rPr lang="zh-CN" altLang="en-US" dirty="0"/>
              <a:t>小</a:t>
            </a:r>
            <a:r>
              <a:rPr lang="zh-CN" altLang="en-US" dirty="0" smtClean="0"/>
              <a:t>尺寸卷积网络滑窗</a:t>
            </a:r>
            <a:endParaRPr lang="en-US" altLang="zh-CN" dirty="0" smtClean="0"/>
          </a:p>
          <a:p>
            <a:pPr lvl="1"/>
            <a:r>
              <a:rPr lang="zh-CN" altLang="en-US" dirty="0" smtClean="0"/>
              <a:t>基于不同尺度特征图预测</a:t>
            </a:r>
            <a:endParaRPr lang="en-US" altLang="zh-CN" dirty="0" smtClean="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5592" y="2692175"/>
            <a:ext cx="9279228" cy="3445099"/>
          </a:xfrm>
          <a:prstGeom prst="rect">
            <a:avLst/>
          </a:prstGeom>
        </p:spPr>
      </p:pic>
    </p:spTree>
    <p:extLst>
      <p:ext uri="{BB962C8B-B14F-4D97-AF65-F5344CB8AC3E}">
        <p14:creationId xmlns:p14="http://schemas.microsoft.com/office/powerpoint/2010/main" val="350222938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SSD</a:t>
            </a:r>
            <a:endParaRPr lang="zh-CN" altLang="en-US" dirty="0"/>
          </a:p>
        </p:txBody>
      </p:sp>
      <p:sp>
        <p:nvSpPr>
          <p:cNvPr id="3" name="内容占位符 2"/>
          <p:cNvSpPr>
            <a:spLocks noGrp="1"/>
          </p:cNvSpPr>
          <p:nvPr>
            <p:ph sz="quarter" idx="13"/>
          </p:nvPr>
        </p:nvSpPr>
        <p:spPr/>
        <p:txBody>
          <a:bodyPr/>
          <a:lstStyle/>
          <a:p>
            <a:r>
              <a:rPr lang="zh-CN" altLang="en-US" dirty="0" smtClean="0"/>
              <a:t>算法原理：</a:t>
            </a:r>
            <a:endParaRPr lang="en-US" altLang="zh-CN" dirty="0" smtClean="0"/>
          </a:p>
          <a:p>
            <a:pPr lvl="1"/>
            <a:r>
              <a:rPr lang="zh-CN" altLang="en-US" dirty="0"/>
              <a:t>基础</a:t>
            </a:r>
            <a:r>
              <a:rPr lang="zh-CN" altLang="en-US" dirty="0" smtClean="0"/>
              <a:t>骨架，生成一系列不同尺寸的特征图</a:t>
            </a:r>
            <a:endParaRPr lang="en-US" altLang="zh-CN" dirty="0" smtClean="0"/>
          </a:p>
          <a:p>
            <a:pPr lvl="1"/>
            <a:r>
              <a:rPr lang="zh-CN" altLang="en-US" dirty="0" smtClean="0"/>
              <a:t>卷积网络，在不同尺寸特征图上进行滑窗</a:t>
            </a:r>
            <a:endParaRPr lang="en-US" altLang="zh-CN" dirty="0" smtClean="0"/>
          </a:p>
          <a:p>
            <a:pPr lvl="1"/>
            <a:r>
              <a:rPr lang="zh-CN" altLang="en-US" dirty="0" smtClean="0"/>
              <a:t>对于一个尺寸</a:t>
            </a:r>
            <a:r>
              <a:rPr lang="en-US" altLang="zh-CN" dirty="0" err="1" smtClean="0"/>
              <a:t>m×n</a:t>
            </a:r>
            <a:r>
              <a:rPr lang="zh-CN" altLang="en-US" dirty="0" smtClean="0"/>
              <a:t>，通道数为</a:t>
            </a:r>
            <a:r>
              <a:rPr lang="en-US" altLang="zh-CN" dirty="0" smtClean="0"/>
              <a:t>p</a:t>
            </a:r>
            <a:r>
              <a:rPr lang="zh-CN" altLang="en-US" dirty="0" smtClean="0"/>
              <a:t>的特征图</a:t>
            </a:r>
            <a:endParaRPr lang="en-US" altLang="zh-CN" dirty="0" smtClean="0"/>
          </a:p>
          <a:p>
            <a:pPr lvl="2"/>
            <a:r>
              <a:rPr lang="zh-CN" altLang="en-US" dirty="0" smtClean="0"/>
              <a:t>使用尺寸</a:t>
            </a:r>
            <a:r>
              <a:rPr lang="en-US" altLang="zh-CN" dirty="0" smtClean="0"/>
              <a:t>3×3</a:t>
            </a:r>
            <a:r>
              <a:rPr lang="zh-CN" altLang="en-US" dirty="0" smtClean="0"/>
              <a:t>，通道数为</a:t>
            </a:r>
            <a:r>
              <a:rPr lang="en-US" altLang="zh-CN" dirty="0" smtClean="0"/>
              <a:t>p</a:t>
            </a:r>
            <a:r>
              <a:rPr lang="zh-CN" altLang="en-US" dirty="0" smtClean="0"/>
              <a:t>的小卷积核</a:t>
            </a:r>
            <a:endParaRPr lang="en-US" altLang="zh-CN" dirty="0" smtClean="0"/>
          </a:p>
          <a:p>
            <a:pPr lvl="2"/>
            <a:r>
              <a:rPr lang="zh-CN" altLang="en-US" dirty="0" smtClean="0"/>
              <a:t>应用到</a:t>
            </a:r>
            <a:r>
              <a:rPr lang="en-US" altLang="zh-CN" dirty="0" err="1" smtClean="0"/>
              <a:t>m×n</a:t>
            </a:r>
            <a:r>
              <a:rPr lang="zh-CN" altLang="en-US" dirty="0" smtClean="0"/>
              <a:t>个位置上</a:t>
            </a:r>
            <a:endParaRPr lang="en-US" altLang="zh-CN" dirty="0" smtClean="0"/>
          </a:p>
          <a:p>
            <a:pPr lvl="2"/>
            <a:r>
              <a:rPr lang="zh-CN" altLang="en-US" dirty="0" smtClean="0"/>
              <a:t>每个位置对应</a:t>
            </a:r>
            <a:r>
              <a:rPr lang="en-US" altLang="zh-CN" dirty="0" smtClean="0"/>
              <a:t>k</a:t>
            </a:r>
            <a:r>
              <a:rPr lang="zh-CN" altLang="en-US" dirty="0" smtClean="0"/>
              <a:t>个锚</a:t>
            </a:r>
            <a:endParaRPr lang="en-US" altLang="zh-CN" dirty="0" smtClean="0"/>
          </a:p>
          <a:p>
            <a:pPr lvl="2"/>
            <a:r>
              <a:rPr lang="zh-CN" altLang="en-US" dirty="0" smtClean="0"/>
              <a:t>假设共有</a:t>
            </a:r>
            <a:r>
              <a:rPr lang="en-US" altLang="zh-CN" dirty="0" smtClean="0"/>
              <a:t>c</a:t>
            </a:r>
            <a:r>
              <a:rPr lang="zh-CN" altLang="en-US" dirty="0" smtClean="0"/>
              <a:t>个目标类别（含背景类）</a:t>
            </a:r>
            <a:endParaRPr lang="en-US" altLang="zh-CN" dirty="0" smtClean="0"/>
          </a:p>
          <a:p>
            <a:pPr lvl="2"/>
            <a:r>
              <a:rPr lang="zh-CN" altLang="en-US" dirty="0" smtClean="0"/>
              <a:t>回归</a:t>
            </a:r>
            <a:r>
              <a:rPr lang="en-US" altLang="zh-CN" dirty="0" smtClean="0"/>
              <a:t>c</a:t>
            </a:r>
            <a:r>
              <a:rPr lang="zh-CN" altLang="en-US" dirty="0" smtClean="0"/>
              <a:t>个概率值，以及水平和垂直方向的偏移量和缩放因子共（</a:t>
            </a:r>
            <a:r>
              <a:rPr lang="en-US" altLang="zh-CN" dirty="0" smtClean="0"/>
              <a:t>c+4)×k</a:t>
            </a:r>
            <a:r>
              <a:rPr lang="zh-CN" altLang="en-US" dirty="0" smtClean="0"/>
              <a:t>个参数</a:t>
            </a:r>
            <a:endParaRPr lang="en-US" altLang="zh-CN" dirty="0" smtClean="0"/>
          </a:p>
          <a:p>
            <a:pPr lvl="1"/>
            <a:r>
              <a:rPr lang="zh-CN" altLang="en-US" dirty="0" smtClean="0"/>
              <a:t>对于整个</a:t>
            </a:r>
            <a:r>
              <a:rPr lang="en-US" altLang="zh-CN" dirty="0" err="1" smtClean="0"/>
              <a:t>m×n</a:t>
            </a:r>
            <a:r>
              <a:rPr lang="zh-CN" altLang="en-US" dirty="0" smtClean="0"/>
              <a:t>的特征图</a:t>
            </a:r>
            <a:r>
              <a:rPr lang="zh-CN" altLang="en-US" dirty="0"/>
              <a:t>需要回归（</a:t>
            </a:r>
            <a:r>
              <a:rPr lang="en-US" altLang="zh-CN" dirty="0"/>
              <a:t>c+4)×</a:t>
            </a:r>
            <a:r>
              <a:rPr lang="en-US" altLang="zh-CN" dirty="0" err="1" smtClean="0"/>
              <a:t>k×m×n</a:t>
            </a:r>
            <a:r>
              <a:rPr lang="zh-CN" altLang="en-US" dirty="0" smtClean="0"/>
              <a:t>个参数</a:t>
            </a:r>
            <a:endParaRPr lang="en-US" altLang="zh-CN" dirty="0"/>
          </a:p>
        </p:txBody>
      </p:sp>
    </p:spTree>
    <p:extLst>
      <p:ext uri="{BB962C8B-B14F-4D97-AF65-F5344CB8AC3E}">
        <p14:creationId xmlns:p14="http://schemas.microsoft.com/office/powerpoint/2010/main" val="79547011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SSD</a:t>
            </a:r>
            <a:endParaRPr lang="zh-CN" altLang="en-US" dirty="0"/>
          </a:p>
        </p:txBody>
      </p:sp>
      <p:sp>
        <p:nvSpPr>
          <p:cNvPr id="3" name="内容占位符 2"/>
          <p:cNvSpPr>
            <a:spLocks noGrp="1"/>
          </p:cNvSpPr>
          <p:nvPr>
            <p:ph sz="quarter" idx="13"/>
          </p:nvPr>
        </p:nvSpPr>
        <p:spPr/>
        <p:txBody>
          <a:bodyPr/>
          <a:lstStyle/>
          <a:p>
            <a:r>
              <a:rPr lang="zh-CN" altLang="en-US" dirty="0" smtClean="0"/>
              <a:t>网络架构</a:t>
            </a:r>
            <a:endParaRPr lang="zh-CN" altLang="en-US" dirty="0"/>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99922" y="1485523"/>
            <a:ext cx="9590567" cy="4651751"/>
          </a:xfrm>
          <a:prstGeom prst="rect">
            <a:avLst/>
          </a:prstGeom>
        </p:spPr>
      </p:pic>
    </p:spTree>
    <p:extLst>
      <p:ext uri="{BB962C8B-B14F-4D97-AF65-F5344CB8AC3E}">
        <p14:creationId xmlns:p14="http://schemas.microsoft.com/office/powerpoint/2010/main" val="183149002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SSD</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dirty="0" smtClean="0"/>
                  <a:t>训练方法</a:t>
                </a:r>
                <a:endParaRPr lang="en-US" altLang="zh-CN" dirty="0" smtClean="0"/>
              </a:p>
              <a:p>
                <a:pPr lvl="1"/>
                <a:r>
                  <a:rPr lang="zh-CN" altLang="en-US" dirty="0"/>
                  <a:t>一</a:t>
                </a:r>
                <a:r>
                  <a:rPr lang="zh-CN" altLang="en-US" dirty="0" smtClean="0"/>
                  <a:t>个真值先匹配</a:t>
                </a:r>
                <a:r>
                  <a:rPr lang="en-US" altLang="zh-CN" dirty="0" err="1" smtClean="0"/>
                  <a:t>IoU</a:t>
                </a:r>
                <a:r>
                  <a:rPr lang="zh-CN" altLang="en-US" dirty="0" smtClean="0"/>
                  <a:t>最大的锚，再分配给所有大于阈值的锚</a:t>
                </a:r>
                <a:endParaRPr lang="en-US" altLang="zh-CN" dirty="0" smtClean="0"/>
              </a:p>
              <a:p>
                <a:pPr lvl="1"/>
                <a:r>
                  <a:rPr lang="zh-CN" altLang="en-US" dirty="0" smtClean="0"/>
                  <a:t>指示变量</a:t>
                </a:r>
                <a14:m>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𝑖𝑗</m:t>
                        </m:r>
                      </m:sub>
                      <m:sup>
                        <m:r>
                          <a:rPr lang="en-US" altLang="zh-CN" b="0" i="1" smtClean="0">
                            <a:latin typeface="Cambria Math" panose="02040503050406030204" pitchFamily="18" charset="0"/>
                          </a:rPr>
                          <m:t>𝑝</m:t>
                        </m:r>
                      </m:sup>
                    </m:sSubSup>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1,0</m:t>
                        </m:r>
                      </m:e>
                    </m:d>
                  </m:oMath>
                </a14:m>
                <a:endParaRPr lang="en-US" altLang="zh-CN" b="0" dirty="0" smtClean="0"/>
              </a:p>
              <a:p>
                <a:pPr lvl="2"/>
                <a:r>
                  <a:rPr lang="zh-CN" altLang="en-US" dirty="0" smtClean="0"/>
                  <a:t>第</a:t>
                </a:r>
                <a:r>
                  <a:rPr lang="en-US" altLang="zh-CN" dirty="0" err="1" smtClean="0"/>
                  <a:t>i</a:t>
                </a:r>
                <a:r>
                  <a:rPr lang="zh-CN" altLang="en-US" dirty="0" smtClean="0"/>
                  <a:t>个锚与第</a:t>
                </a:r>
                <a:r>
                  <a:rPr lang="en-US" altLang="zh-CN" dirty="0" smtClean="0"/>
                  <a:t>j</a:t>
                </a:r>
                <a:r>
                  <a:rPr lang="zh-CN" altLang="en-US" dirty="0" smtClean="0"/>
                  <a:t>个真值（类别为</a:t>
                </a:r>
                <a:r>
                  <a:rPr lang="en-US" altLang="zh-CN" dirty="0" smtClean="0"/>
                  <a:t>p</a:t>
                </a:r>
                <a:r>
                  <a:rPr lang="zh-CN" altLang="en-US" dirty="0" smtClean="0"/>
                  <a:t>）匹配时</a:t>
                </a:r>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𝑖𝑗</m:t>
                        </m:r>
                      </m:sub>
                      <m:sup>
                        <m:r>
                          <a:rPr lang="en-US" altLang="zh-CN" i="1">
                            <a:latin typeface="Cambria Math" panose="02040503050406030204" pitchFamily="18" charset="0"/>
                          </a:rPr>
                          <m:t>𝑝</m:t>
                        </m:r>
                      </m:sup>
                    </m:sSubSup>
                    <m:r>
                      <a:rPr lang="en-US" altLang="zh-CN" i="1">
                        <a:latin typeface="Cambria Math" panose="02040503050406030204" pitchFamily="18" charset="0"/>
                      </a:rPr>
                      <m:t>=</m:t>
                    </m:r>
                    <m:r>
                      <a:rPr lang="en-US" altLang="zh-CN" b="0" i="0" smtClean="0">
                        <a:latin typeface="Cambria Math" panose="02040503050406030204" pitchFamily="18" charset="0"/>
                      </a:rPr>
                      <m:t>1</m:t>
                    </m:r>
                  </m:oMath>
                </a14:m>
                <a:r>
                  <a:rPr lang="zh-CN" altLang="en-US" dirty="0" smtClean="0"/>
                  <a:t>，否则</a:t>
                </a:r>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𝑖𝑗</m:t>
                        </m:r>
                      </m:sub>
                      <m:sup>
                        <m:r>
                          <a:rPr lang="en-US" altLang="zh-CN" i="1">
                            <a:latin typeface="Cambria Math" panose="02040503050406030204" pitchFamily="18" charset="0"/>
                          </a:rPr>
                          <m:t>𝑝</m:t>
                        </m:r>
                      </m:sup>
                    </m:sSubSup>
                    <m:r>
                      <a:rPr lang="en-US" altLang="zh-CN" i="1">
                        <a:latin typeface="Cambria Math" panose="02040503050406030204" pitchFamily="18" charset="0"/>
                      </a:rPr>
                      <m:t>=</m:t>
                    </m:r>
                    <m:r>
                      <a:rPr lang="en-US" altLang="zh-CN" b="0" i="1" smtClean="0">
                        <a:latin typeface="Cambria Math" panose="02040503050406030204" pitchFamily="18" charset="0"/>
                      </a:rPr>
                      <m:t>0</m:t>
                    </m:r>
                  </m:oMath>
                </a14:m>
                <a:endParaRPr lang="en-US" altLang="zh-CN" b="0" dirty="0" smtClean="0"/>
              </a:p>
              <a:p>
                <a:pPr lvl="2"/>
                <a:r>
                  <a:rPr lang="zh-CN" altLang="en-US" dirty="0" smtClean="0"/>
                  <a:t>对于任意一个真值必然至少和一个</a:t>
                </a:r>
                <a:r>
                  <a:rPr lang="en-US" altLang="zh-CN" dirty="0" smtClean="0"/>
                  <a:t>anchor</a:t>
                </a:r>
                <a:r>
                  <a:rPr lang="zh-CN" altLang="en-US" dirty="0" smtClean="0"/>
                  <a:t>匹配，</a:t>
                </a:r>
                <a14:m>
                  <m:oMath xmlns:m="http://schemas.openxmlformats.org/officeDocument/2006/math">
                    <m:nary>
                      <m:naryPr>
                        <m:chr m:val="∑"/>
                        <m:supHide m:val="on"/>
                        <m:ctrlPr>
                          <a:rPr lang="zh-CN" altLang="en-US" i="1" smtClean="0">
                            <a:latin typeface="Cambria Math" panose="02040503050406030204" pitchFamily="18" charset="0"/>
                          </a:rPr>
                        </m:ctrlPr>
                      </m:naryPr>
                      <m:sub>
                        <m:r>
                          <m:rPr>
                            <m:brk m:alnAt="7"/>
                          </m:rPr>
                          <a:rPr lang="en-US" altLang="zh-CN" b="0" i="1" smtClean="0">
                            <a:latin typeface="Cambria Math" panose="02040503050406030204" pitchFamily="18" charset="0"/>
                          </a:rPr>
                          <m:t>𝑖</m:t>
                        </m:r>
                      </m:sub>
                      <m:sup/>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i="1">
                                <a:latin typeface="Cambria Math" panose="02040503050406030204" pitchFamily="18" charset="0"/>
                              </a:rPr>
                              <m:t>𝑖𝑗</m:t>
                            </m:r>
                          </m:sub>
                          <m:sup>
                            <m:r>
                              <a:rPr lang="en-US" altLang="zh-CN" i="1">
                                <a:latin typeface="Cambria Math" panose="02040503050406030204" pitchFamily="18" charset="0"/>
                              </a:rPr>
                              <m:t>𝑝</m:t>
                            </m:r>
                          </m:sup>
                        </m:sSubSup>
                      </m:e>
                    </m:nary>
                    <m:r>
                      <a:rPr lang="en-US" altLang="zh-CN"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1</m:t>
                    </m:r>
                  </m:oMath>
                </a14:m>
                <a:endParaRPr lang="en-US" altLang="zh-CN" dirty="0" smtClean="0"/>
              </a:p>
              <a:p>
                <a:pPr lvl="1"/>
                <a:r>
                  <a:rPr lang="zh-CN" altLang="en-US" dirty="0" smtClean="0"/>
                  <a:t>损失函数</a:t>
                </a:r>
                <a14:m>
                  <m:oMath xmlns:m="http://schemas.openxmlformats.org/officeDocument/2006/math">
                    <m:r>
                      <a:rPr lang="en-US" altLang="zh-CN" b="0" i="1" smtClean="0">
                        <a:latin typeface="Cambria Math" panose="02040503050406030204" pitchFamily="18" charset="0"/>
                      </a:rPr>
                      <m:t>𝐿</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𝑐</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r>
                          <a:rPr lang="en-US" altLang="zh-CN" b="0" i="1" smtClean="0">
                            <a:latin typeface="Cambria Math" panose="02040503050406030204" pitchFamily="18" charset="0"/>
                          </a:rPr>
                          <m:t>,</m:t>
                        </m:r>
                        <m:r>
                          <a:rPr lang="en-US" altLang="zh-CN" b="0" i="1" smtClean="0">
                            <a:latin typeface="Cambria Math" panose="02040503050406030204" pitchFamily="18" charset="0"/>
                          </a:rPr>
                          <m:t>𝑔</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𝑁</m:t>
                        </m:r>
                      </m:den>
                    </m:f>
                    <m:d>
                      <m:dPr>
                        <m:begChr m:val="["/>
                        <m:endChr m:val="]"/>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𝑐𝑜𝑛𝑓</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𝑐</m:t>
                            </m:r>
                          </m:e>
                        </m:d>
                        <m:r>
                          <a:rPr lang="en-US" altLang="zh-CN" b="0" i="1" smtClean="0">
                            <a:latin typeface="Cambria Math" panose="02040503050406030204" pitchFamily="18" charset="0"/>
                          </a:rPr>
                          <m:t>+</m:t>
                        </m:r>
                        <m:r>
                          <a:rPr lang="zh-CN" altLang="en-US" b="0" i="1" smtClean="0">
                            <a:latin typeface="Cambria Math" panose="02040503050406030204" pitchFamily="18" charset="0"/>
                          </a:rPr>
                          <m:t>𝛼</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𝐿</m:t>
                            </m:r>
                          </m:e>
                          <m:sub>
                            <m:r>
                              <a:rPr lang="en-US" altLang="zh-CN" b="0" i="1" smtClean="0">
                                <a:latin typeface="Cambria Math" panose="02040503050406030204" pitchFamily="18" charset="0"/>
                              </a:rPr>
                              <m:t>𝑙𝑜𝑐</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𝑙</m:t>
                            </m:r>
                            <m:r>
                              <a:rPr lang="en-US" altLang="zh-CN" b="0" i="1" smtClean="0">
                                <a:latin typeface="Cambria Math" panose="02040503050406030204" pitchFamily="18" charset="0"/>
                              </a:rPr>
                              <m:t>,</m:t>
                            </m:r>
                            <m:r>
                              <a:rPr lang="en-US" altLang="zh-CN" b="0" i="1" smtClean="0">
                                <a:latin typeface="Cambria Math" panose="02040503050406030204" pitchFamily="18" charset="0"/>
                              </a:rPr>
                              <m:t>𝑔</m:t>
                            </m:r>
                          </m:e>
                        </m:d>
                      </m:e>
                    </m:d>
                  </m:oMath>
                </a14:m>
                <a:endParaRPr lang="en-US" altLang="zh-CN" dirty="0" smtClean="0"/>
              </a:p>
              <a:p>
                <a:pPr lvl="2"/>
                <a14:m>
                  <m:oMath xmlns:m="http://schemas.openxmlformats.org/officeDocument/2006/math">
                    <m:r>
                      <a:rPr lang="en-US" altLang="zh-CN" i="1">
                        <a:latin typeface="Cambria Math" panose="02040503050406030204" pitchFamily="18" charset="0"/>
                      </a:rPr>
                      <m:t>𝑁</m:t>
                    </m:r>
                  </m:oMath>
                </a14:m>
                <a:r>
                  <a:rPr lang="zh-CN" altLang="en-US" dirty="0" smtClean="0"/>
                  <a:t>表示和真值匹配成功的</a:t>
                </a:r>
                <a:r>
                  <a:rPr lang="en-US" altLang="zh-CN" dirty="0" smtClean="0"/>
                  <a:t>anchor</a:t>
                </a:r>
                <a:r>
                  <a:rPr lang="zh-CN" altLang="en-US" dirty="0" smtClean="0"/>
                  <a:t>个数</a:t>
                </a:r>
                <a:endParaRPr lang="en-US" altLang="zh-CN" dirty="0" smtClean="0"/>
              </a:p>
              <a:p>
                <a:pPr lvl="2"/>
                <a14:m>
                  <m:oMath xmlns:m="http://schemas.openxmlformats.org/officeDocument/2006/math">
                    <m:r>
                      <a:rPr lang="en-US" altLang="zh-CN" i="1">
                        <a:latin typeface="Cambria Math" panose="02040503050406030204" pitchFamily="18" charset="0"/>
                      </a:rPr>
                      <m:t>𝑥</m:t>
                    </m:r>
                  </m:oMath>
                </a14:m>
                <a:r>
                  <a:rPr lang="zh-CN" altLang="en-US" dirty="0" smtClean="0"/>
                  <a:t>表示各个指示变量</a:t>
                </a:r>
                <a:endParaRPr lang="en-US" altLang="zh-CN" dirty="0" smtClean="0"/>
              </a:p>
              <a:p>
                <a:pPr lvl="2"/>
                <a14:m>
                  <m:oMath xmlns:m="http://schemas.openxmlformats.org/officeDocument/2006/math">
                    <m:r>
                      <a:rPr lang="en-US" altLang="zh-CN" i="1">
                        <a:latin typeface="Cambria Math" panose="02040503050406030204" pitchFamily="18" charset="0"/>
                      </a:rPr>
                      <m:t>𝑐</m:t>
                    </m:r>
                  </m:oMath>
                </a14:m>
                <a:r>
                  <a:rPr lang="zh-CN" altLang="en-US" dirty="0" smtClean="0"/>
                  <a:t>表示每个类别的概率值</a:t>
                </a:r>
                <a:endParaRPr lang="en-US" altLang="zh-CN" dirty="0" smtClean="0"/>
              </a:p>
              <a:p>
                <a:pPr lvl="2"/>
                <a14:m>
                  <m:oMath xmlns:m="http://schemas.openxmlformats.org/officeDocument/2006/math">
                    <m:r>
                      <a:rPr lang="en-US" altLang="zh-CN" i="1">
                        <a:latin typeface="Cambria Math" panose="02040503050406030204" pitchFamily="18" charset="0"/>
                      </a:rPr>
                      <m:t>𝑙</m:t>
                    </m:r>
                  </m:oMath>
                </a14:m>
                <a:r>
                  <a:rPr lang="zh-CN" altLang="en-US" dirty="0" smtClean="0"/>
                  <a:t>表示预测框，</a:t>
                </a:r>
                <a:r>
                  <a:rPr lang="en-US" altLang="zh-CN" dirty="0"/>
                  <a:t> </a:t>
                </a:r>
                <a14:m>
                  <m:oMath xmlns:m="http://schemas.openxmlformats.org/officeDocument/2006/math">
                    <m:r>
                      <a:rPr lang="en-US" altLang="zh-CN" i="1">
                        <a:latin typeface="Cambria Math" panose="02040503050406030204" pitchFamily="18" charset="0"/>
                      </a:rPr>
                      <m:t>𝑔</m:t>
                    </m:r>
                  </m:oMath>
                </a14:m>
                <a:r>
                  <a:rPr lang="zh-CN" altLang="en-US" dirty="0" smtClean="0"/>
                  <a:t>表示真值框</a:t>
                </a:r>
                <a:endParaRPr lang="en-US" altLang="zh-CN" dirty="0" smtClean="0"/>
              </a:p>
              <a:p>
                <a:pPr marL="914400" lvl="2" indent="0">
                  <a:buNone/>
                </a:pPr>
                <a:endParaRPr lang="en-US" altLang="zh-CN" dirty="0" smtClean="0"/>
              </a:p>
              <a:p>
                <a:pPr lvl="1"/>
                <a:endParaRPr lang="en-US" altLang="zh-CN" dirty="0" smtClean="0"/>
              </a:p>
              <a:p>
                <a:pPr lvl="1"/>
                <a:endParaRPr lang="en-US" altLang="zh-CN" dirty="0" smtClean="0"/>
              </a:p>
              <a:p>
                <a:pPr lvl="1"/>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7451319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SSD</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zh-CN" altLang="en-US" dirty="0" smtClean="0"/>
                  <a:t>损失函数：</a:t>
                </a:r>
                <a14:m>
                  <m:oMath xmlns:m="http://schemas.openxmlformats.org/officeDocument/2006/math">
                    <m:r>
                      <a:rPr lang="en-US" altLang="zh-CN" i="1">
                        <a:latin typeface="Cambria Math" panose="02040503050406030204" pitchFamily="18" charset="0"/>
                      </a:rPr>
                      <m:t>𝐿</m:t>
                    </m:r>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𝑐</m:t>
                        </m:r>
                        <m:r>
                          <a:rPr lang="en-US" altLang="zh-CN" i="1">
                            <a:latin typeface="Cambria Math" panose="02040503050406030204" pitchFamily="18" charset="0"/>
                          </a:rPr>
                          <m:t>,</m:t>
                        </m:r>
                        <m:r>
                          <a:rPr lang="en-US" altLang="zh-CN" i="1">
                            <a:latin typeface="Cambria Math" panose="02040503050406030204" pitchFamily="18" charset="0"/>
                          </a:rPr>
                          <m:t>𝑙</m:t>
                        </m:r>
                        <m:r>
                          <a:rPr lang="en-US" altLang="zh-CN" i="1">
                            <a:latin typeface="Cambria Math" panose="02040503050406030204" pitchFamily="18" charset="0"/>
                          </a:rPr>
                          <m:t>,</m:t>
                        </m:r>
                        <m:r>
                          <a:rPr lang="en-US" altLang="zh-CN" i="1">
                            <a:latin typeface="Cambria Math" panose="02040503050406030204" pitchFamily="18" charset="0"/>
                          </a:rPr>
                          <m:t>𝑔</m:t>
                        </m:r>
                      </m:e>
                    </m:d>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𝑁</m:t>
                        </m:r>
                      </m:den>
                    </m:f>
                    <m:d>
                      <m:dPr>
                        <m:begChr m:val="["/>
                        <m:endChr m:val="]"/>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𝑐𝑜𝑛𝑓</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𝑐</m:t>
                            </m:r>
                          </m:e>
                        </m:d>
                        <m:r>
                          <a:rPr lang="en-US" altLang="zh-CN" i="1">
                            <a:latin typeface="Cambria Math" panose="02040503050406030204" pitchFamily="18" charset="0"/>
                          </a:rPr>
                          <m:t>+</m:t>
                        </m:r>
                        <m:r>
                          <a:rPr lang="zh-CN" altLang="en-US" i="1">
                            <a:latin typeface="Cambria Math" panose="02040503050406030204" pitchFamily="18" charset="0"/>
                          </a:rPr>
                          <m:t>𝛼</m:t>
                        </m:r>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𝑙𝑜𝑐</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𝑙</m:t>
                            </m:r>
                            <m:r>
                              <a:rPr lang="en-US" altLang="zh-CN" i="1">
                                <a:latin typeface="Cambria Math" panose="02040503050406030204" pitchFamily="18" charset="0"/>
                              </a:rPr>
                              <m:t>,</m:t>
                            </m:r>
                            <m:r>
                              <a:rPr lang="en-US" altLang="zh-CN" i="1">
                                <a:latin typeface="Cambria Math" panose="02040503050406030204" pitchFamily="18" charset="0"/>
                              </a:rPr>
                              <m:t>𝑔</m:t>
                            </m:r>
                          </m:e>
                        </m:d>
                      </m:e>
                    </m:d>
                  </m:oMath>
                </a14:m>
                <a:endParaRPr lang="en-US" altLang="zh-CN" dirty="0" smtClean="0"/>
              </a:p>
              <a:p>
                <a:pPr lvl="1"/>
                <a:r>
                  <a:rPr lang="zh-CN" altLang="en-US" dirty="0" smtClean="0"/>
                  <a:t>位置</a:t>
                </a:r>
                <a:r>
                  <a:rPr lang="zh-CN" altLang="en-US" dirty="0"/>
                  <a:t>损失</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𝑙𝑜𝑐</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𝑙</m:t>
                        </m:r>
                        <m:r>
                          <a:rPr lang="en-US" altLang="zh-CN" i="1">
                            <a:latin typeface="Cambria Math" panose="02040503050406030204" pitchFamily="18" charset="0"/>
                          </a:rPr>
                          <m:t>,</m:t>
                        </m:r>
                        <m:r>
                          <a:rPr lang="en-US" altLang="zh-CN" i="1">
                            <a:latin typeface="Cambria Math" panose="02040503050406030204" pitchFamily="18" charset="0"/>
                          </a:rPr>
                          <m:t>𝑔</m:t>
                        </m:r>
                      </m:e>
                    </m:d>
                  </m:oMath>
                </a14:m>
                <a:r>
                  <a:rPr lang="zh-CN" altLang="en-US" dirty="0"/>
                  <a:t>是预测框</a:t>
                </a:r>
                <a14:m>
                  <m:oMath xmlns:m="http://schemas.openxmlformats.org/officeDocument/2006/math">
                    <m:r>
                      <a:rPr lang="en-US" altLang="zh-CN" i="1">
                        <a:latin typeface="Cambria Math" panose="02040503050406030204" pitchFamily="18" charset="0"/>
                      </a:rPr>
                      <m:t>𝑙</m:t>
                    </m:r>
                  </m:oMath>
                </a14:m>
                <a:r>
                  <a:rPr lang="zh-CN" altLang="en-US" dirty="0"/>
                  <a:t>与真值框</a:t>
                </a:r>
                <a14:m>
                  <m:oMath xmlns:m="http://schemas.openxmlformats.org/officeDocument/2006/math">
                    <m:r>
                      <a:rPr lang="en-US" altLang="zh-CN" i="1">
                        <a:latin typeface="Cambria Math" panose="02040503050406030204" pitchFamily="18" charset="0"/>
                      </a:rPr>
                      <m:t>𝑔</m:t>
                    </m:r>
                  </m:oMath>
                </a14:m>
                <a:r>
                  <a:rPr lang="zh-CN" altLang="en-US" dirty="0"/>
                  <a:t>的</a:t>
                </a:r>
                <a:r>
                  <a:rPr lang="zh-CN" altLang="en-US" dirty="0" smtClean="0"/>
                  <a:t>平滑</a:t>
                </a:r>
                <a14:m>
                  <m:oMath xmlns:m="http://schemas.openxmlformats.org/officeDocument/2006/math">
                    <m:r>
                      <a:rPr lang="en-US" altLang="zh-CN" b="0" i="1" smtClean="0">
                        <a:latin typeface="Cambria Math" panose="02040503050406030204" pitchFamily="18" charset="0"/>
                      </a:rPr>
                      <m:t>𝐿</m:t>
                    </m:r>
                    <m:r>
                      <a:rPr lang="en-US" altLang="zh-CN" b="0" i="1" smtClean="0">
                        <a:latin typeface="Cambria Math" panose="02040503050406030204" pitchFamily="18" charset="0"/>
                      </a:rPr>
                      <m:t>1</m:t>
                    </m:r>
                  </m:oMath>
                </a14:m>
                <a:r>
                  <a:rPr lang="zh-CN" altLang="en-US" dirty="0" smtClean="0"/>
                  <a:t>损失，</a:t>
                </a:r>
                <a14:m>
                  <m:oMath xmlns:m="http://schemas.openxmlformats.org/officeDocument/2006/math">
                    <m:r>
                      <m:rPr>
                        <m:nor/>
                      </m:rPr>
                      <a:rPr lang="zh-CN" altLang="en-US" dirty="0"/>
                      <m:t>即</m:t>
                    </m:r>
                    <m:sSub>
                      <m:sSubPr>
                        <m:ctrlPr>
                          <a:rPr lang="en-US" altLang="zh-CN" i="1">
                            <a:latin typeface="Cambria Math" panose="02040503050406030204" pitchFamily="18" charset="0"/>
                          </a:rPr>
                        </m:ctrlPr>
                      </m:sSubPr>
                      <m:e>
                        <m:r>
                          <a:rPr lang="en-US" altLang="zh-CN" i="1">
                            <a:latin typeface="Cambria Math" panose="02040503050406030204" pitchFamily="18" charset="0"/>
                          </a:rPr>
                          <m:t>𝑠𝑚𝑜𝑜𝑡h</m:t>
                        </m:r>
                      </m:e>
                      <m:sub>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1</m:t>
                            </m:r>
                          </m:sub>
                        </m:sSub>
                      </m:sub>
                    </m:sSub>
                  </m:oMath>
                </a14:m>
                <a:r>
                  <a:rPr lang="en-US" altLang="zh-CN" dirty="0" smtClean="0"/>
                  <a:t>:</a:t>
                </a:r>
              </a:p>
              <a:p>
                <a:pPr lvl="2"/>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𝑠𝑚𝑜𝑜𝑡h</m:t>
                        </m:r>
                      </m:e>
                      <m:sub>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1</m:t>
                            </m:r>
                          </m:sub>
                        </m:sSub>
                      </m:sub>
                    </m:sSub>
                    <m:d>
                      <m:dPr>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rPr>
                      <m:t>=</m:t>
                    </m:r>
                    <m:d>
                      <m:dPr>
                        <m:begChr m:val="{"/>
                        <m:endChr m:val=""/>
                        <m:ctrlPr>
                          <a:rPr lang="en-US" altLang="zh-CN" i="1">
                            <a:latin typeface="Cambria Math" panose="02040503050406030204" pitchFamily="18" charset="0"/>
                          </a:rPr>
                        </m:ctrlPr>
                      </m:dPr>
                      <m:e>
                        <m:eqArr>
                          <m:eqArrPr>
                            <m:ctrlPr>
                              <a:rPr lang="en-US" altLang="zh-CN" i="1">
                                <a:latin typeface="Cambria Math" panose="02040503050406030204" pitchFamily="18" charset="0"/>
                              </a:rPr>
                            </m:ctrlPr>
                          </m:eqArrPr>
                          <m:e>
                            <m:r>
                              <a:rPr lang="en-US" altLang="zh-CN" i="1">
                                <a:latin typeface="Cambria Math" panose="02040503050406030204" pitchFamily="18" charset="0"/>
                              </a:rPr>
                              <m:t>0.5</m:t>
                            </m:r>
                            <m:sSup>
                              <m:sSupPr>
                                <m:ctrlPr>
                                  <a:rPr lang="en-US"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i="1">
                                    <a:latin typeface="Cambria Math" panose="02040503050406030204" pitchFamily="18" charset="0"/>
                                  </a:rPr>
                                  <m:t>2</m:t>
                                </m:r>
                              </m:sup>
                            </m:sSup>
                            <m:d>
                              <m:dPr>
                                <m:ctrlPr>
                                  <a:rPr lang="en-US" altLang="zh-CN" i="1">
                                    <a:latin typeface="Cambria Math" panose="02040503050406030204" pitchFamily="18" charset="0"/>
                                  </a:rPr>
                                </m:ctrlPr>
                              </m:dPr>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ea typeface="Cambria Math" panose="02040503050406030204" pitchFamily="18" charset="0"/>
                                  </a:rPr>
                                  <m:t>&lt;1</m:t>
                                </m:r>
                              </m:e>
                            </m:d>
                          </m:e>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rPr>
                              <m:t>−0.5</m:t>
                            </m:r>
                            <m:d>
                              <m:dPr>
                                <m:ctrlPr>
                                  <a:rPr lang="en-US" altLang="zh-CN" i="1">
                                    <a:latin typeface="Cambria Math" panose="02040503050406030204" pitchFamily="18" charset="0"/>
                                  </a:rPr>
                                </m:ctrlPr>
                              </m:dPr>
                              <m:e>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ea typeface="Cambria Math" panose="02040503050406030204" pitchFamily="18" charset="0"/>
                                  </a:rPr>
                                  <m:t>≥1</m:t>
                                </m:r>
                              </m:e>
                            </m:d>
                          </m:e>
                        </m:eqArr>
                      </m:e>
                    </m:d>
                  </m:oMath>
                </a14:m>
                <a:endParaRPr lang="en-US" altLang="zh-CN" dirty="0" smtClean="0"/>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𝑙𝑜𝑐</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𝑙</m:t>
                        </m:r>
                        <m:r>
                          <a:rPr lang="en-US" altLang="zh-CN" i="1">
                            <a:latin typeface="Cambria Math" panose="02040503050406030204" pitchFamily="18" charset="0"/>
                          </a:rPr>
                          <m:t>,</m:t>
                        </m:r>
                        <m:r>
                          <a:rPr lang="en-US" altLang="zh-CN" i="1">
                            <a:latin typeface="Cambria Math" panose="02040503050406030204" pitchFamily="18" charset="0"/>
                          </a:rPr>
                          <m:t>𝑔</m:t>
                        </m:r>
                      </m:e>
                    </m:d>
                    <m:r>
                      <a:rPr lang="en-US" altLang="zh-CN" i="1" smtClean="0">
                        <a:latin typeface="Cambria Math" panose="02040503050406030204" pitchFamily="18" charset="0"/>
                        <a:ea typeface="Cambria Math" panose="02040503050406030204" pitchFamily="18" charset="0"/>
                      </a:rPr>
                      <m:t>=</m:t>
                    </m:r>
                    <m:nary>
                      <m:naryPr>
                        <m:chr m:val="∑"/>
                        <m:ctrlPr>
                          <a:rPr lang="en-US" altLang="zh-CN" i="1" smtClean="0">
                            <a:latin typeface="Cambria Math" panose="02040503050406030204" pitchFamily="18" charset="0"/>
                            <a:ea typeface="Cambria Math" panose="02040503050406030204" pitchFamily="18" charset="0"/>
                          </a:rPr>
                        </m:ctrlPr>
                      </m:naryPr>
                      <m:sub>
                        <m:r>
                          <m:rPr>
                            <m:brk m:alnAt="23"/>
                          </m:rPr>
                          <a:rPr lang="en-US" altLang="zh-CN" b="0" i="1" smtClean="0">
                            <a:latin typeface="Cambria Math" panose="02040503050406030204" pitchFamily="18" charset="0"/>
                            <a:ea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𝑃𝑜𝑠</m:t>
                        </m:r>
                      </m:sub>
                      <m:sup>
                        <m:r>
                          <a:rPr lang="en-US" altLang="zh-CN" b="0" i="1" smtClean="0">
                            <a:latin typeface="Cambria Math" panose="02040503050406030204" pitchFamily="18" charset="0"/>
                            <a:ea typeface="Cambria Math" panose="02040503050406030204" pitchFamily="18" charset="0"/>
                          </a:rPr>
                          <m:t>𝑁</m:t>
                        </m:r>
                      </m:sup>
                      <m:e>
                        <m:nary>
                          <m:naryPr>
                            <m:chr m:val="∑"/>
                            <m:supHide m:val="on"/>
                            <m:ctrlPr>
                              <a:rPr lang="en-US" altLang="zh-CN" i="1" smtClean="0">
                                <a:latin typeface="Cambria Math" panose="02040503050406030204" pitchFamily="18" charset="0"/>
                                <a:ea typeface="Cambria Math" panose="02040503050406030204" pitchFamily="18" charset="0"/>
                              </a:rPr>
                            </m:ctrlPr>
                          </m:naryPr>
                          <m:sub>
                            <m:r>
                              <m:rPr>
                                <m:brk m:alnAt="7"/>
                              </m:rPr>
                              <a:rPr lang="en-US" altLang="zh-CN" b="0" i="1" smtClean="0">
                                <a:latin typeface="Cambria Math" panose="02040503050406030204" pitchFamily="18" charset="0"/>
                                <a:ea typeface="Cambria Math" panose="02040503050406030204" pitchFamily="18" charset="0"/>
                              </a:rPr>
                              <m:t>𝑚</m:t>
                            </m:r>
                            <m:r>
                              <a:rPr lang="en-US" altLang="zh-CN" b="0" i="1" smtClean="0">
                                <a:latin typeface="Cambria Math" panose="02040503050406030204" pitchFamily="18" charset="0"/>
                                <a:ea typeface="Cambria Math" panose="02040503050406030204" pitchFamily="18" charset="0"/>
                              </a:rPr>
                              <m:t>∈</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𝑐𝑥</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𝑐𝑦</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𝑤</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h</m:t>
                                </m:r>
                              </m:e>
                            </m:d>
                          </m:sub>
                          <m:sup/>
                          <m:e>
                            <m:sSubSup>
                              <m:sSubSupPr>
                                <m:ctrlPr>
                                  <a:rPr lang="en-US" altLang="zh-CN" i="1" smtClean="0">
                                    <a:latin typeface="Cambria Math" panose="02040503050406030204" pitchFamily="18" charset="0"/>
                                    <a:ea typeface="Cambria Math" panose="02040503050406030204" pitchFamily="18" charset="0"/>
                                  </a:rPr>
                                </m:ctrlPr>
                              </m:sSubSupPr>
                              <m:e>
                                <m:r>
                                  <a:rPr lang="en-US" altLang="zh-CN" b="0" i="1" smtClean="0">
                                    <a:latin typeface="Cambria Math" panose="02040503050406030204" pitchFamily="18" charset="0"/>
                                    <a:ea typeface="Cambria Math" panose="02040503050406030204" pitchFamily="18" charset="0"/>
                                  </a:rPr>
                                  <m:t>𝑥</m:t>
                                </m:r>
                              </m:e>
                              <m:sub>
                                <m:r>
                                  <a:rPr lang="en-US" altLang="zh-CN" b="0" i="1" smtClean="0">
                                    <a:latin typeface="Cambria Math" panose="02040503050406030204" pitchFamily="18" charset="0"/>
                                    <a:ea typeface="Cambria Math" panose="02040503050406030204" pitchFamily="18" charset="0"/>
                                  </a:rPr>
                                  <m:t>𝑖𝑗</m:t>
                                </m:r>
                              </m:sub>
                              <m:sup>
                                <m:r>
                                  <a:rPr lang="en-US" altLang="zh-CN" b="0" i="1" smtClean="0">
                                    <a:latin typeface="Cambria Math" panose="02040503050406030204" pitchFamily="18" charset="0"/>
                                    <a:ea typeface="Cambria Math" panose="02040503050406030204" pitchFamily="18" charset="0"/>
                                  </a:rPr>
                                  <m:t>𝑝</m:t>
                                </m:r>
                              </m:sup>
                            </m:sSubSup>
                          </m:e>
                        </m:nary>
                      </m:e>
                    </m:nary>
                    <m:sSub>
                      <m:sSubPr>
                        <m:ctrlPr>
                          <a:rPr lang="en-US" altLang="zh-CN" i="1">
                            <a:latin typeface="Cambria Math" panose="02040503050406030204" pitchFamily="18" charset="0"/>
                          </a:rPr>
                        </m:ctrlPr>
                      </m:sSubPr>
                      <m:e>
                        <m:r>
                          <a:rPr lang="en-US" altLang="zh-CN" i="1">
                            <a:latin typeface="Cambria Math" panose="02040503050406030204" pitchFamily="18" charset="0"/>
                          </a:rPr>
                          <m:t>𝑠𝑚𝑜𝑜𝑡h</m:t>
                        </m:r>
                      </m:e>
                      <m:sub>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1</m:t>
                            </m:r>
                          </m:sub>
                        </m:sSub>
                      </m:sub>
                    </m:sSub>
                    <m:d>
                      <m:dPr>
                        <m:ctrlPr>
                          <a:rPr lang="en-US" altLang="zh-CN" i="1" smtClean="0">
                            <a:latin typeface="Cambria Math" panose="02040503050406030204" pitchFamily="18" charset="0"/>
                          </a:rPr>
                        </m:ctrlPr>
                      </m:dPr>
                      <m:e>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𝑙</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𝑚</m:t>
                            </m:r>
                          </m:sup>
                        </m:sSub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𝑔</m:t>
                                </m:r>
                              </m:e>
                            </m:acc>
                          </m:e>
                          <m:sub>
                            <m:r>
                              <a:rPr lang="en-US" altLang="zh-CN" b="0" i="1" smtClean="0">
                                <a:latin typeface="Cambria Math" panose="02040503050406030204" pitchFamily="18" charset="0"/>
                              </a:rPr>
                              <m:t>𝑗</m:t>
                            </m:r>
                          </m:sub>
                          <m:sup>
                            <m:r>
                              <a:rPr lang="en-US" altLang="zh-CN" b="0" i="1" smtClean="0">
                                <a:latin typeface="Cambria Math" panose="02040503050406030204" pitchFamily="18" charset="0"/>
                              </a:rPr>
                              <m:t>𝑚</m:t>
                            </m:r>
                          </m:sup>
                        </m:sSubSup>
                      </m:e>
                    </m:d>
                  </m:oMath>
                </a14:m>
                <a:endParaRPr lang="en-US" altLang="zh-CN" dirty="0" smtClean="0"/>
              </a:p>
              <a:p>
                <a:pPr lvl="2"/>
                <a14:m>
                  <m:oMath xmlns:m="http://schemas.openxmlformats.org/officeDocument/2006/math">
                    <m:sSubSup>
                      <m:sSubSupPr>
                        <m:ctrlPr>
                          <a:rPr lang="en-US" altLang="zh-CN" sz="1600" i="1" smtClean="0">
                            <a:latin typeface="Cambria Math" panose="02040503050406030204" pitchFamily="18" charset="0"/>
                          </a:rPr>
                        </m:ctrlPr>
                      </m:sSubSupPr>
                      <m:e>
                        <m:acc>
                          <m:accPr>
                            <m:chr m:val="̂"/>
                            <m:ctrlPr>
                              <a:rPr lang="en-US" altLang="zh-CN" sz="1600" i="1" smtClean="0">
                                <a:latin typeface="Cambria Math" panose="02040503050406030204" pitchFamily="18" charset="0"/>
                              </a:rPr>
                            </m:ctrlPr>
                          </m:accPr>
                          <m:e>
                            <m:r>
                              <a:rPr lang="en-US" altLang="zh-CN" sz="1600" b="0" i="1" smtClean="0">
                                <a:latin typeface="Cambria Math" panose="02040503050406030204" pitchFamily="18" charset="0"/>
                              </a:rPr>
                              <m:t>𝑔</m:t>
                            </m:r>
                          </m:e>
                        </m:acc>
                      </m:e>
                      <m:sub>
                        <m:r>
                          <a:rPr lang="en-US" altLang="zh-CN" sz="1600" b="0" i="1" smtClean="0">
                            <a:latin typeface="Cambria Math" panose="02040503050406030204" pitchFamily="18" charset="0"/>
                          </a:rPr>
                          <m:t>𝑗</m:t>
                        </m:r>
                      </m:sub>
                      <m:sup>
                        <m:r>
                          <a:rPr lang="en-US" altLang="zh-CN" sz="1600" b="0" i="1" smtClean="0">
                            <a:latin typeface="Cambria Math" panose="02040503050406030204" pitchFamily="18" charset="0"/>
                          </a:rPr>
                          <m:t>𝑐𝑥</m:t>
                        </m:r>
                      </m:sup>
                    </m:sSubSup>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d>
                          <m:dPr>
                            <m:ctrlPr>
                              <a:rPr lang="en-US" altLang="zh-CN" sz="1600" b="0" i="1" smtClean="0">
                                <a:latin typeface="Cambria Math" panose="02040503050406030204" pitchFamily="18" charset="0"/>
                              </a:rPr>
                            </m:ctrlPr>
                          </m:dPr>
                          <m:e>
                            <m:sSubSup>
                              <m:sSubSupPr>
                                <m:ctrlPr>
                                  <a:rPr lang="en-US" altLang="zh-CN" sz="1600" b="0" i="1" smtClean="0">
                                    <a:latin typeface="Cambria Math" panose="02040503050406030204" pitchFamily="18" charset="0"/>
                                  </a:rPr>
                                </m:ctrlPr>
                              </m:sSubSupPr>
                              <m:e>
                                <m:r>
                                  <a:rPr lang="en-US" altLang="zh-CN" sz="1600" b="0" i="1" smtClean="0">
                                    <a:latin typeface="Cambria Math" panose="02040503050406030204" pitchFamily="18" charset="0"/>
                                  </a:rPr>
                                  <m:t>𝑔</m:t>
                                </m:r>
                              </m:e>
                              <m:sub>
                                <m:r>
                                  <a:rPr lang="en-US" altLang="zh-CN" sz="1600" b="0" i="1" smtClean="0">
                                    <a:latin typeface="Cambria Math" panose="02040503050406030204" pitchFamily="18" charset="0"/>
                                  </a:rPr>
                                  <m:t>𝑗</m:t>
                                </m:r>
                              </m:sub>
                              <m:sup>
                                <m:r>
                                  <a:rPr lang="en-US" altLang="zh-CN" sz="1600" b="0" i="1" smtClean="0">
                                    <a:latin typeface="Cambria Math" panose="02040503050406030204" pitchFamily="18" charset="0"/>
                                  </a:rPr>
                                  <m:t>𝑐𝑥</m:t>
                                </m:r>
                              </m:sup>
                            </m:sSubSup>
                            <m:r>
                              <a:rPr lang="en-US" altLang="zh-CN" sz="1600" b="0" i="1" smtClean="0">
                                <a:latin typeface="Cambria Math" panose="02040503050406030204" pitchFamily="18" charset="0"/>
                              </a:rPr>
                              <m:t>−</m:t>
                            </m:r>
                            <m:sSubSup>
                              <m:sSubSupPr>
                                <m:ctrlPr>
                                  <a:rPr lang="en-US" altLang="zh-CN" sz="1600" b="0" i="1" smtClean="0">
                                    <a:latin typeface="Cambria Math" panose="02040503050406030204" pitchFamily="18" charset="0"/>
                                  </a:rPr>
                                </m:ctrlPr>
                              </m:sSubSupPr>
                              <m:e>
                                <m:r>
                                  <a:rPr lang="en-US" altLang="zh-CN" sz="1600" b="0" i="1" smtClean="0">
                                    <a:latin typeface="Cambria Math" panose="02040503050406030204" pitchFamily="18" charset="0"/>
                                  </a:rPr>
                                  <m:t>𝑑</m:t>
                                </m:r>
                              </m:e>
                              <m:sub>
                                <m:r>
                                  <a:rPr lang="en-US" altLang="zh-CN" sz="1600" b="0" i="1" smtClean="0">
                                    <a:latin typeface="Cambria Math" panose="02040503050406030204" pitchFamily="18" charset="0"/>
                                  </a:rPr>
                                  <m:t>𝑖</m:t>
                                </m:r>
                              </m:sub>
                              <m:sup>
                                <m:r>
                                  <a:rPr lang="en-US" altLang="zh-CN" sz="1600" b="0" i="1" smtClean="0">
                                    <a:latin typeface="Cambria Math" panose="02040503050406030204" pitchFamily="18" charset="0"/>
                                  </a:rPr>
                                  <m:t>𝑐𝑥</m:t>
                                </m:r>
                              </m:sup>
                            </m:sSubSup>
                          </m:e>
                        </m:d>
                      </m:num>
                      <m:den>
                        <m:sSubSup>
                          <m:sSubSupPr>
                            <m:ctrlPr>
                              <a:rPr lang="en-US" altLang="zh-CN" sz="1600" b="0" i="1" smtClean="0">
                                <a:latin typeface="Cambria Math" panose="02040503050406030204" pitchFamily="18" charset="0"/>
                              </a:rPr>
                            </m:ctrlPr>
                          </m:sSubSupPr>
                          <m:e>
                            <m:r>
                              <a:rPr lang="en-US" altLang="zh-CN" sz="1600" b="0" i="1" smtClean="0">
                                <a:latin typeface="Cambria Math" panose="02040503050406030204" pitchFamily="18" charset="0"/>
                              </a:rPr>
                              <m:t>𝑑</m:t>
                            </m:r>
                          </m:e>
                          <m:sub>
                            <m:r>
                              <a:rPr lang="en-US" altLang="zh-CN" sz="1600" b="0" i="1" smtClean="0">
                                <a:latin typeface="Cambria Math" panose="02040503050406030204" pitchFamily="18" charset="0"/>
                              </a:rPr>
                              <m:t>𝑖</m:t>
                            </m:r>
                          </m:sub>
                          <m:sup>
                            <m:r>
                              <a:rPr lang="en-US" altLang="zh-CN" sz="1600" b="0" i="1" smtClean="0">
                                <a:latin typeface="Cambria Math" panose="02040503050406030204" pitchFamily="18" charset="0"/>
                              </a:rPr>
                              <m:t>𝑤</m:t>
                            </m:r>
                          </m:sup>
                        </m:sSubSup>
                      </m:den>
                    </m:f>
                    <m:r>
                      <a:rPr lang="en-US" altLang="zh-CN" sz="1600" b="0" i="1" smtClean="0">
                        <a:latin typeface="Cambria Math" panose="02040503050406030204" pitchFamily="18" charset="0"/>
                      </a:rPr>
                      <m:t>,</m:t>
                    </m:r>
                  </m:oMath>
                </a14:m>
                <a:r>
                  <a:rPr lang="en-US" altLang="zh-CN" sz="1600" dirty="0"/>
                  <a:t> </a:t>
                </a:r>
                <a14:m>
                  <m:oMath xmlns:m="http://schemas.openxmlformats.org/officeDocument/2006/math">
                    <m:sSubSup>
                      <m:sSubSupPr>
                        <m:ctrlPr>
                          <a:rPr lang="en-US" altLang="zh-CN" sz="1600" i="1">
                            <a:latin typeface="Cambria Math" panose="02040503050406030204" pitchFamily="18" charset="0"/>
                          </a:rPr>
                        </m:ctrlPr>
                      </m:sSubSupPr>
                      <m:e>
                        <m:acc>
                          <m:accPr>
                            <m:chr m:val="̂"/>
                            <m:ctrlPr>
                              <a:rPr lang="en-US" altLang="zh-CN" sz="1600" i="1">
                                <a:latin typeface="Cambria Math" panose="02040503050406030204" pitchFamily="18" charset="0"/>
                              </a:rPr>
                            </m:ctrlPr>
                          </m:accPr>
                          <m:e>
                            <m:r>
                              <a:rPr lang="en-US" altLang="zh-CN" sz="1600" i="1">
                                <a:latin typeface="Cambria Math" panose="02040503050406030204" pitchFamily="18" charset="0"/>
                              </a:rPr>
                              <m:t>𝑔</m:t>
                            </m:r>
                          </m:e>
                        </m:acc>
                      </m:e>
                      <m:sub>
                        <m:r>
                          <a:rPr lang="en-US" altLang="zh-CN" sz="1600" i="1">
                            <a:latin typeface="Cambria Math" panose="02040503050406030204" pitchFamily="18" charset="0"/>
                          </a:rPr>
                          <m:t>𝑗</m:t>
                        </m:r>
                      </m:sub>
                      <m:sup>
                        <m:r>
                          <a:rPr lang="en-US" altLang="zh-CN" sz="1600" i="1">
                            <a:latin typeface="Cambria Math" panose="02040503050406030204" pitchFamily="18" charset="0"/>
                          </a:rPr>
                          <m:t>𝑐</m:t>
                        </m:r>
                        <m:r>
                          <a:rPr lang="en-US" altLang="zh-CN" sz="1600" b="0" i="1" smtClean="0">
                            <a:latin typeface="Cambria Math" panose="02040503050406030204" pitchFamily="18" charset="0"/>
                          </a:rPr>
                          <m:t>𝑦</m:t>
                        </m:r>
                      </m:sup>
                    </m:sSubSup>
                    <m:r>
                      <a:rPr lang="en-US" altLang="zh-CN" sz="1600" i="1">
                        <a:latin typeface="Cambria Math" panose="02040503050406030204" pitchFamily="18" charset="0"/>
                      </a:rPr>
                      <m:t>=</m:t>
                    </m:r>
                    <m:f>
                      <m:fPr>
                        <m:ctrlPr>
                          <a:rPr lang="en-US" altLang="zh-CN" sz="1600" i="1">
                            <a:latin typeface="Cambria Math" panose="02040503050406030204" pitchFamily="18" charset="0"/>
                          </a:rPr>
                        </m:ctrlPr>
                      </m:fPr>
                      <m:num>
                        <m:d>
                          <m:dPr>
                            <m:ctrlPr>
                              <a:rPr lang="en-US" altLang="zh-CN" sz="1600" i="1">
                                <a:latin typeface="Cambria Math" panose="02040503050406030204" pitchFamily="18" charset="0"/>
                              </a:rPr>
                            </m:ctrlPr>
                          </m:dPr>
                          <m:e>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𝑔</m:t>
                                </m:r>
                              </m:e>
                              <m:sub>
                                <m:r>
                                  <a:rPr lang="en-US" altLang="zh-CN" sz="1600" i="1">
                                    <a:latin typeface="Cambria Math" panose="02040503050406030204" pitchFamily="18" charset="0"/>
                                  </a:rPr>
                                  <m:t>𝑗</m:t>
                                </m:r>
                              </m:sub>
                              <m:sup>
                                <m:r>
                                  <a:rPr lang="en-US" altLang="zh-CN" sz="1600" i="1">
                                    <a:latin typeface="Cambria Math" panose="02040503050406030204" pitchFamily="18" charset="0"/>
                                  </a:rPr>
                                  <m:t>𝑐</m:t>
                                </m:r>
                                <m:r>
                                  <a:rPr lang="en-US" altLang="zh-CN" sz="1600" b="0" i="1" smtClean="0">
                                    <a:latin typeface="Cambria Math" panose="02040503050406030204" pitchFamily="18" charset="0"/>
                                  </a:rPr>
                                  <m:t>𝑦</m:t>
                                </m:r>
                              </m:sup>
                            </m:sSubSup>
                            <m:r>
                              <a:rPr lang="en-US" altLang="zh-CN" sz="1600" i="1">
                                <a:latin typeface="Cambria Math" panose="02040503050406030204" pitchFamily="18" charset="0"/>
                              </a:rPr>
                              <m:t>−</m:t>
                            </m:r>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𝑑</m:t>
                                </m:r>
                              </m:e>
                              <m:sub>
                                <m:r>
                                  <a:rPr lang="en-US" altLang="zh-CN" sz="1600" i="1">
                                    <a:latin typeface="Cambria Math" panose="02040503050406030204" pitchFamily="18" charset="0"/>
                                  </a:rPr>
                                  <m:t>𝑖</m:t>
                                </m:r>
                              </m:sub>
                              <m:sup>
                                <m:r>
                                  <a:rPr lang="en-US" altLang="zh-CN" sz="1600" i="1">
                                    <a:latin typeface="Cambria Math" panose="02040503050406030204" pitchFamily="18" charset="0"/>
                                  </a:rPr>
                                  <m:t>𝑐</m:t>
                                </m:r>
                                <m:r>
                                  <a:rPr lang="en-US" altLang="zh-CN" sz="1600" b="0" i="1" smtClean="0">
                                    <a:latin typeface="Cambria Math" panose="02040503050406030204" pitchFamily="18" charset="0"/>
                                  </a:rPr>
                                  <m:t>𝑦</m:t>
                                </m:r>
                              </m:sup>
                            </m:sSubSup>
                          </m:e>
                        </m:d>
                      </m:num>
                      <m:den>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𝑑</m:t>
                            </m:r>
                          </m:e>
                          <m:sub>
                            <m:r>
                              <a:rPr lang="en-US" altLang="zh-CN" sz="1600" i="1">
                                <a:latin typeface="Cambria Math" panose="02040503050406030204" pitchFamily="18" charset="0"/>
                              </a:rPr>
                              <m:t>𝑖</m:t>
                            </m:r>
                          </m:sub>
                          <m:sup>
                            <m:r>
                              <a:rPr lang="en-US" altLang="zh-CN" sz="1600" b="0" i="1" smtClean="0">
                                <a:latin typeface="Cambria Math" panose="02040503050406030204" pitchFamily="18" charset="0"/>
                              </a:rPr>
                              <m:t>h</m:t>
                            </m:r>
                          </m:sup>
                        </m:sSubSup>
                      </m:den>
                    </m:f>
                  </m:oMath>
                </a14:m>
                <a:endParaRPr lang="en-US" altLang="zh-CN" sz="1600" dirty="0" smtClean="0"/>
              </a:p>
              <a:p>
                <a:pPr lvl="2"/>
                <a14:m>
                  <m:oMath xmlns:m="http://schemas.openxmlformats.org/officeDocument/2006/math">
                    <m:sSubSup>
                      <m:sSubSupPr>
                        <m:ctrlPr>
                          <a:rPr lang="en-US" altLang="zh-CN" sz="1600" i="1" smtClean="0">
                            <a:latin typeface="Cambria Math" panose="02040503050406030204" pitchFamily="18" charset="0"/>
                          </a:rPr>
                        </m:ctrlPr>
                      </m:sSubSupPr>
                      <m:e>
                        <m:acc>
                          <m:accPr>
                            <m:chr m:val="̂"/>
                            <m:ctrlPr>
                              <a:rPr lang="en-US" altLang="zh-CN" sz="1600" i="1" smtClean="0">
                                <a:latin typeface="Cambria Math" panose="02040503050406030204" pitchFamily="18" charset="0"/>
                              </a:rPr>
                            </m:ctrlPr>
                          </m:accPr>
                          <m:e>
                            <m:r>
                              <a:rPr lang="en-US" altLang="zh-CN" sz="1600" b="0" i="1" smtClean="0">
                                <a:latin typeface="Cambria Math" panose="02040503050406030204" pitchFamily="18" charset="0"/>
                              </a:rPr>
                              <m:t>𝑔</m:t>
                            </m:r>
                          </m:e>
                        </m:acc>
                      </m:e>
                      <m:sub>
                        <m:r>
                          <a:rPr lang="en-US" altLang="zh-CN" sz="1600" b="0" i="1" smtClean="0">
                            <a:latin typeface="Cambria Math" panose="02040503050406030204" pitchFamily="18" charset="0"/>
                          </a:rPr>
                          <m:t>𝑗</m:t>
                        </m:r>
                      </m:sub>
                      <m:sup>
                        <m:r>
                          <a:rPr lang="en-US" altLang="zh-CN" sz="1600" b="0" i="1" smtClean="0">
                            <a:latin typeface="Cambria Math" panose="02040503050406030204" pitchFamily="18" charset="0"/>
                          </a:rPr>
                          <m:t>𝑤</m:t>
                        </m:r>
                      </m:sup>
                    </m:sSubSup>
                    <m:r>
                      <a:rPr lang="en-US" altLang="zh-CN" sz="1600" b="0" i="1" smtClean="0">
                        <a:latin typeface="Cambria Math" panose="02040503050406030204" pitchFamily="18" charset="0"/>
                      </a:rPr>
                      <m:t>=</m:t>
                    </m:r>
                    <m:func>
                      <m:funcPr>
                        <m:ctrlPr>
                          <a:rPr lang="en-US" altLang="zh-CN" sz="1600" b="0" i="1" smtClean="0">
                            <a:latin typeface="Cambria Math" panose="02040503050406030204" pitchFamily="18" charset="0"/>
                          </a:rPr>
                        </m:ctrlPr>
                      </m:funcPr>
                      <m:fName>
                        <m:r>
                          <m:rPr>
                            <m:sty m:val="p"/>
                          </m:rPr>
                          <a:rPr lang="en-US" altLang="zh-CN" sz="1600" b="0" i="0" smtClean="0">
                            <a:latin typeface="Cambria Math" panose="02040503050406030204" pitchFamily="18" charset="0"/>
                          </a:rPr>
                          <m:t>log</m:t>
                        </m:r>
                      </m:fName>
                      <m:e>
                        <m:d>
                          <m:dPr>
                            <m:ctrlPr>
                              <a:rPr lang="en-US" altLang="zh-CN" sz="1600" b="0" i="1" smtClean="0">
                                <a:latin typeface="Cambria Math" panose="02040503050406030204" pitchFamily="18" charset="0"/>
                              </a:rPr>
                            </m:ctrlPr>
                          </m:dPr>
                          <m:e>
                            <m:f>
                              <m:fPr>
                                <m:ctrlPr>
                                  <a:rPr lang="en-US" altLang="zh-CN" sz="1600" b="0" i="1" smtClean="0">
                                    <a:latin typeface="Cambria Math" panose="02040503050406030204" pitchFamily="18" charset="0"/>
                                  </a:rPr>
                                </m:ctrlPr>
                              </m:fPr>
                              <m:num>
                                <m:sSubSup>
                                  <m:sSubSupPr>
                                    <m:ctrlPr>
                                      <a:rPr lang="en-US" altLang="zh-CN" sz="1600" b="0" i="1" smtClean="0">
                                        <a:latin typeface="Cambria Math" panose="02040503050406030204" pitchFamily="18" charset="0"/>
                                      </a:rPr>
                                    </m:ctrlPr>
                                  </m:sSubSupPr>
                                  <m:e>
                                    <m:r>
                                      <a:rPr lang="en-US" altLang="zh-CN" sz="1600" b="0" i="1" smtClean="0">
                                        <a:latin typeface="Cambria Math" panose="02040503050406030204" pitchFamily="18" charset="0"/>
                                      </a:rPr>
                                      <m:t>𝑔</m:t>
                                    </m:r>
                                  </m:e>
                                  <m:sub>
                                    <m:r>
                                      <a:rPr lang="en-US" altLang="zh-CN" sz="1600" b="0" i="1" smtClean="0">
                                        <a:latin typeface="Cambria Math" panose="02040503050406030204" pitchFamily="18" charset="0"/>
                                      </a:rPr>
                                      <m:t>𝑗</m:t>
                                    </m:r>
                                  </m:sub>
                                  <m:sup>
                                    <m:r>
                                      <a:rPr lang="en-US" altLang="zh-CN" sz="1600" b="0" i="1" smtClean="0">
                                        <a:latin typeface="Cambria Math" panose="02040503050406030204" pitchFamily="18" charset="0"/>
                                      </a:rPr>
                                      <m:t>𝑤</m:t>
                                    </m:r>
                                  </m:sup>
                                </m:sSubSup>
                              </m:num>
                              <m:den>
                                <m:sSubSup>
                                  <m:sSubSupPr>
                                    <m:ctrlPr>
                                      <a:rPr lang="en-US" altLang="zh-CN" sz="1600" b="0" i="1" smtClean="0">
                                        <a:latin typeface="Cambria Math" panose="02040503050406030204" pitchFamily="18" charset="0"/>
                                      </a:rPr>
                                    </m:ctrlPr>
                                  </m:sSubSupPr>
                                  <m:e>
                                    <m:r>
                                      <a:rPr lang="en-US" altLang="zh-CN" sz="1600" b="0" i="1" smtClean="0">
                                        <a:latin typeface="Cambria Math" panose="02040503050406030204" pitchFamily="18" charset="0"/>
                                      </a:rPr>
                                      <m:t>𝑑</m:t>
                                    </m:r>
                                  </m:e>
                                  <m:sub>
                                    <m:r>
                                      <a:rPr lang="en-US" altLang="zh-CN" sz="1600" b="0" i="1" smtClean="0">
                                        <a:latin typeface="Cambria Math" panose="02040503050406030204" pitchFamily="18" charset="0"/>
                                      </a:rPr>
                                      <m:t>𝑖</m:t>
                                    </m:r>
                                  </m:sub>
                                  <m:sup>
                                    <m:r>
                                      <a:rPr lang="en-US" altLang="zh-CN" sz="1600" b="0" i="1" smtClean="0">
                                        <a:latin typeface="Cambria Math" panose="02040503050406030204" pitchFamily="18" charset="0"/>
                                      </a:rPr>
                                      <m:t>𝑤</m:t>
                                    </m:r>
                                  </m:sup>
                                </m:sSubSup>
                              </m:den>
                            </m:f>
                          </m:e>
                        </m:d>
                      </m:e>
                    </m:func>
                    <m:r>
                      <a:rPr lang="en-US" altLang="zh-CN" sz="1600" b="0" i="1" smtClean="0">
                        <a:latin typeface="Cambria Math" panose="02040503050406030204" pitchFamily="18" charset="0"/>
                      </a:rPr>
                      <m:t>,</m:t>
                    </m:r>
                  </m:oMath>
                </a14:m>
                <a:r>
                  <a:rPr lang="en-US" altLang="zh-CN" sz="1600" dirty="0"/>
                  <a:t> </a:t>
                </a:r>
                <a14:m>
                  <m:oMath xmlns:m="http://schemas.openxmlformats.org/officeDocument/2006/math">
                    <m:sSubSup>
                      <m:sSubSupPr>
                        <m:ctrlPr>
                          <a:rPr lang="en-US" altLang="zh-CN" sz="1600" i="1">
                            <a:latin typeface="Cambria Math" panose="02040503050406030204" pitchFamily="18" charset="0"/>
                          </a:rPr>
                        </m:ctrlPr>
                      </m:sSubSupPr>
                      <m:e>
                        <m:acc>
                          <m:accPr>
                            <m:chr m:val="̂"/>
                            <m:ctrlPr>
                              <a:rPr lang="en-US" altLang="zh-CN" sz="1600" i="1">
                                <a:latin typeface="Cambria Math" panose="02040503050406030204" pitchFamily="18" charset="0"/>
                              </a:rPr>
                            </m:ctrlPr>
                          </m:accPr>
                          <m:e>
                            <m:r>
                              <a:rPr lang="en-US" altLang="zh-CN" sz="1600" i="1">
                                <a:latin typeface="Cambria Math" panose="02040503050406030204" pitchFamily="18" charset="0"/>
                              </a:rPr>
                              <m:t>𝑔</m:t>
                            </m:r>
                          </m:e>
                        </m:acc>
                      </m:e>
                      <m:sub>
                        <m:r>
                          <a:rPr lang="en-US" altLang="zh-CN" sz="1600" i="1">
                            <a:latin typeface="Cambria Math" panose="02040503050406030204" pitchFamily="18" charset="0"/>
                          </a:rPr>
                          <m:t>𝑗</m:t>
                        </m:r>
                      </m:sub>
                      <m:sup>
                        <m:r>
                          <a:rPr lang="en-US" altLang="zh-CN" sz="1600" b="0" i="1" smtClean="0">
                            <a:latin typeface="Cambria Math" panose="02040503050406030204" pitchFamily="18" charset="0"/>
                          </a:rPr>
                          <m:t>h</m:t>
                        </m:r>
                      </m:sup>
                    </m:sSubSup>
                    <m:r>
                      <a:rPr lang="en-US" altLang="zh-CN" sz="1600" i="1">
                        <a:latin typeface="Cambria Math" panose="02040503050406030204" pitchFamily="18" charset="0"/>
                      </a:rPr>
                      <m:t>=</m:t>
                    </m:r>
                    <m:func>
                      <m:funcPr>
                        <m:ctrlPr>
                          <a:rPr lang="en-US" altLang="zh-CN" sz="1600" i="1">
                            <a:latin typeface="Cambria Math" panose="02040503050406030204" pitchFamily="18" charset="0"/>
                          </a:rPr>
                        </m:ctrlPr>
                      </m:funcPr>
                      <m:fName>
                        <m:r>
                          <m:rPr>
                            <m:sty m:val="p"/>
                          </m:rPr>
                          <a:rPr lang="en-US" altLang="zh-CN" sz="1600">
                            <a:latin typeface="Cambria Math" panose="02040503050406030204" pitchFamily="18" charset="0"/>
                          </a:rPr>
                          <m:t>log</m:t>
                        </m:r>
                      </m:fName>
                      <m:e>
                        <m:d>
                          <m:dPr>
                            <m:ctrlPr>
                              <a:rPr lang="en-US" altLang="zh-CN" sz="1600" i="1">
                                <a:latin typeface="Cambria Math" panose="02040503050406030204" pitchFamily="18" charset="0"/>
                              </a:rPr>
                            </m:ctrlPr>
                          </m:dPr>
                          <m:e>
                            <m:f>
                              <m:fPr>
                                <m:ctrlPr>
                                  <a:rPr lang="en-US" altLang="zh-CN" sz="1600" i="1">
                                    <a:latin typeface="Cambria Math" panose="02040503050406030204" pitchFamily="18" charset="0"/>
                                  </a:rPr>
                                </m:ctrlPr>
                              </m:fPr>
                              <m:num>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𝑔</m:t>
                                    </m:r>
                                  </m:e>
                                  <m:sub>
                                    <m:r>
                                      <a:rPr lang="en-US" altLang="zh-CN" sz="1600" i="1">
                                        <a:latin typeface="Cambria Math" panose="02040503050406030204" pitchFamily="18" charset="0"/>
                                      </a:rPr>
                                      <m:t>𝑗</m:t>
                                    </m:r>
                                  </m:sub>
                                  <m:sup>
                                    <m:r>
                                      <a:rPr lang="en-US" altLang="zh-CN" sz="1600" b="0" i="1" smtClean="0">
                                        <a:latin typeface="Cambria Math" panose="02040503050406030204" pitchFamily="18" charset="0"/>
                                      </a:rPr>
                                      <m:t>h</m:t>
                                    </m:r>
                                  </m:sup>
                                </m:sSubSup>
                              </m:num>
                              <m:den>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𝑑</m:t>
                                    </m:r>
                                  </m:e>
                                  <m:sub>
                                    <m:r>
                                      <a:rPr lang="en-US" altLang="zh-CN" sz="1600" i="1">
                                        <a:latin typeface="Cambria Math" panose="02040503050406030204" pitchFamily="18" charset="0"/>
                                      </a:rPr>
                                      <m:t>𝑖</m:t>
                                    </m:r>
                                  </m:sub>
                                  <m:sup>
                                    <m:r>
                                      <a:rPr lang="en-US" altLang="zh-CN" sz="1600" b="0" i="1" smtClean="0">
                                        <a:latin typeface="Cambria Math" panose="02040503050406030204" pitchFamily="18" charset="0"/>
                                      </a:rPr>
                                      <m:t>h</m:t>
                                    </m:r>
                                  </m:sup>
                                </m:sSubSup>
                              </m:den>
                            </m:f>
                          </m:e>
                        </m:d>
                      </m:e>
                    </m:func>
                  </m:oMath>
                </a14:m>
                <a:endParaRPr lang="en-US" altLang="zh-CN" sz="1600" dirty="0" smtClean="0"/>
              </a:p>
              <a:p>
                <a:pPr lvl="1"/>
                <a:r>
                  <a:rPr lang="zh-CN" altLang="en-US" dirty="0" smtClean="0"/>
                  <a:t>分类损失</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𝑐𝑜𝑛𝑓</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𝑐</m:t>
                        </m:r>
                      </m:e>
                    </m:d>
                  </m:oMath>
                </a14:m>
                <a:r>
                  <a:rPr lang="zh-CN" altLang="en-US" dirty="0" smtClean="0"/>
                  <a:t>就是多个分类概率</a:t>
                </a:r>
                <a14:m>
                  <m:oMath xmlns:m="http://schemas.openxmlformats.org/officeDocument/2006/math">
                    <m:r>
                      <a:rPr lang="en-US" altLang="zh-CN" i="1">
                        <a:latin typeface="Cambria Math" panose="02040503050406030204" pitchFamily="18" charset="0"/>
                      </a:rPr>
                      <m:t>𝑐</m:t>
                    </m:r>
                  </m:oMath>
                </a14:m>
                <a:r>
                  <a:rPr lang="zh-CN" altLang="en-US" dirty="0" smtClean="0"/>
                  <a:t>的</a:t>
                </a:r>
                <a:r>
                  <a:rPr lang="en-US" altLang="zh-CN" dirty="0" err="1" smtClean="0"/>
                  <a:t>softmax</a:t>
                </a:r>
                <a:r>
                  <a:rPr lang="zh-CN" altLang="en-US" dirty="0" smtClean="0"/>
                  <a:t>损失：</a:t>
                </a:r>
                <a:endParaRPr lang="en-US" altLang="zh-CN" dirty="0" smtClean="0"/>
              </a:p>
              <a:p>
                <a:pPr lvl="2"/>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𝐿</m:t>
                        </m:r>
                      </m:e>
                      <m:sub>
                        <m:r>
                          <a:rPr lang="en-US" altLang="zh-CN" sz="1600" i="1">
                            <a:latin typeface="Cambria Math" panose="02040503050406030204" pitchFamily="18" charset="0"/>
                          </a:rPr>
                          <m:t>𝑐𝑜𝑛𝑓</m:t>
                        </m:r>
                      </m:sub>
                    </m:sSub>
                    <m:d>
                      <m:dPr>
                        <m:ctrlPr>
                          <a:rPr lang="en-US" altLang="zh-CN" sz="1600" i="1">
                            <a:latin typeface="Cambria Math" panose="02040503050406030204" pitchFamily="18" charset="0"/>
                          </a:rPr>
                        </m:ctrlPr>
                      </m:dPr>
                      <m:e>
                        <m:r>
                          <a:rPr lang="en-US" altLang="zh-CN" sz="1600" i="1">
                            <a:latin typeface="Cambria Math" panose="02040503050406030204" pitchFamily="18" charset="0"/>
                          </a:rPr>
                          <m:t>𝑥</m:t>
                        </m:r>
                        <m:r>
                          <a:rPr lang="en-US" altLang="zh-CN" sz="1600" i="1">
                            <a:latin typeface="Cambria Math" panose="02040503050406030204" pitchFamily="18" charset="0"/>
                          </a:rPr>
                          <m:t>,</m:t>
                        </m:r>
                        <m:r>
                          <a:rPr lang="en-US" altLang="zh-CN" sz="1600" i="1">
                            <a:latin typeface="Cambria Math" panose="02040503050406030204" pitchFamily="18" charset="0"/>
                          </a:rPr>
                          <m:t>𝑐</m:t>
                        </m:r>
                      </m:e>
                    </m:d>
                    <m:r>
                      <a:rPr lang="en-US" altLang="zh-CN" sz="1600" b="0" i="1" smtClean="0">
                        <a:latin typeface="Cambria Math" panose="02040503050406030204" pitchFamily="18" charset="0"/>
                      </a:rPr>
                      <m:t>=−</m:t>
                    </m:r>
                    <m:nary>
                      <m:naryPr>
                        <m:chr m:val="∑"/>
                        <m:ctrlPr>
                          <a:rPr lang="en-US" altLang="zh-CN" sz="1600" b="0" i="1" smtClean="0">
                            <a:latin typeface="Cambria Math" panose="02040503050406030204" pitchFamily="18" charset="0"/>
                          </a:rPr>
                        </m:ctrlPr>
                      </m:naryPr>
                      <m:sub>
                        <m:r>
                          <m:rPr>
                            <m:brk m:alnAt="23"/>
                          </m:rPr>
                          <a:rPr lang="en-US" altLang="zh-CN" sz="1600" b="0" i="1" smtClean="0">
                            <a:latin typeface="Cambria Math" panose="02040503050406030204" pitchFamily="18" charset="0"/>
                          </a:rPr>
                          <m:t>𝑖</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𝑃𝑜𝑠</m:t>
                        </m:r>
                      </m:sub>
                      <m:sup>
                        <m:r>
                          <a:rPr lang="en-US" altLang="zh-CN" sz="1600" b="0" i="1" smtClean="0">
                            <a:latin typeface="Cambria Math" panose="02040503050406030204" pitchFamily="18" charset="0"/>
                          </a:rPr>
                          <m:t>𝑁</m:t>
                        </m:r>
                      </m:sup>
                      <m:e>
                        <m:sSubSup>
                          <m:sSubSupPr>
                            <m:ctrlPr>
                              <a:rPr lang="en-US" altLang="zh-CN" sz="1600" b="0" i="1" smtClean="0">
                                <a:latin typeface="Cambria Math" panose="02040503050406030204" pitchFamily="18" charset="0"/>
                              </a:rPr>
                            </m:ctrlPr>
                          </m:sSubSupPr>
                          <m:e>
                            <m:r>
                              <a:rPr lang="en-US" altLang="zh-CN" sz="1600" b="0" i="1" smtClean="0">
                                <a:latin typeface="Cambria Math" panose="02040503050406030204" pitchFamily="18" charset="0"/>
                              </a:rPr>
                              <m:t>𝑥</m:t>
                            </m:r>
                          </m:e>
                          <m:sub>
                            <m:r>
                              <a:rPr lang="en-US" altLang="zh-CN" sz="1600" b="0" i="1" smtClean="0">
                                <a:latin typeface="Cambria Math" panose="02040503050406030204" pitchFamily="18" charset="0"/>
                              </a:rPr>
                              <m:t>𝑖𝑗</m:t>
                            </m:r>
                          </m:sub>
                          <m:sup>
                            <m:r>
                              <a:rPr lang="en-US" altLang="zh-CN" sz="1600" b="0" i="1" smtClean="0">
                                <a:latin typeface="Cambria Math" panose="02040503050406030204" pitchFamily="18" charset="0"/>
                              </a:rPr>
                              <m:t>𝑝</m:t>
                            </m:r>
                          </m:sup>
                        </m:sSubSup>
                        <m:func>
                          <m:funcPr>
                            <m:ctrlPr>
                              <a:rPr lang="en-US" altLang="zh-CN" sz="1600" b="0" i="1" smtClean="0">
                                <a:latin typeface="Cambria Math" panose="02040503050406030204" pitchFamily="18" charset="0"/>
                              </a:rPr>
                            </m:ctrlPr>
                          </m:funcPr>
                          <m:fName>
                            <m:r>
                              <m:rPr>
                                <m:sty m:val="p"/>
                              </m:rPr>
                              <a:rPr lang="en-US" altLang="zh-CN" sz="1600" b="0" i="0" smtClean="0">
                                <a:latin typeface="Cambria Math" panose="02040503050406030204" pitchFamily="18" charset="0"/>
                              </a:rPr>
                              <m:t>log</m:t>
                            </m:r>
                          </m:fName>
                          <m:e>
                            <m:d>
                              <m:dPr>
                                <m:ctrlPr>
                                  <a:rPr lang="en-US" altLang="zh-CN" sz="1600" b="0" i="1" smtClean="0">
                                    <a:latin typeface="Cambria Math" panose="02040503050406030204" pitchFamily="18" charset="0"/>
                                  </a:rPr>
                                </m:ctrlPr>
                              </m:dPr>
                              <m:e>
                                <m:sSubSup>
                                  <m:sSubSupPr>
                                    <m:ctrlPr>
                                      <a:rPr lang="en-US" altLang="zh-CN" sz="1600" b="0" i="1" smtClean="0">
                                        <a:latin typeface="Cambria Math" panose="02040503050406030204" pitchFamily="18" charset="0"/>
                                      </a:rPr>
                                    </m:ctrlPr>
                                  </m:sSubSupPr>
                                  <m:e>
                                    <m:acc>
                                      <m:accPr>
                                        <m:chr m:val="̂"/>
                                        <m:ctrlPr>
                                          <a:rPr lang="en-US" altLang="zh-CN" sz="1600" b="0" i="1" smtClean="0">
                                            <a:latin typeface="Cambria Math" panose="02040503050406030204" pitchFamily="18" charset="0"/>
                                          </a:rPr>
                                        </m:ctrlPr>
                                      </m:accPr>
                                      <m:e>
                                        <m:r>
                                          <a:rPr lang="en-US" altLang="zh-CN" sz="1600" b="0" i="1" smtClean="0">
                                            <a:latin typeface="Cambria Math" panose="02040503050406030204" pitchFamily="18" charset="0"/>
                                          </a:rPr>
                                          <m:t>𝑐</m:t>
                                        </m:r>
                                      </m:e>
                                    </m:acc>
                                  </m:e>
                                  <m:sub>
                                    <m:r>
                                      <a:rPr lang="en-US" altLang="zh-CN" sz="1600" b="0" i="1" smtClean="0">
                                        <a:latin typeface="Cambria Math" panose="02040503050406030204" pitchFamily="18" charset="0"/>
                                      </a:rPr>
                                      <m:t>𝑖</m:t>
                                    </m:r>
                                  </m:sub>
                                  <m:sup>
                                    <m:r>
                                      <a:rPr lang="en-US" altLang="zh-CN" sz="1600" b="0" i="1" smtClean="0">
                                        <a:latin typeface="Cambria Math" panose="02040503050406030204" pitchFamily="18" charset="0"/>
                                      </a:rPr>
                                      <m:t>𝑝</m:t>
                                    </m:r>
                                  </m:sup>
                                </m:sSubSup>
                              </m:e>
                            </m:d>
                          </m:e>
                        </m:func>
                      </m:e>
                    </m:nary>
                    <m:r>
                      <a:rPr lang="en-US" altLang="zh-CN" sz="1600" b="0" i="1" smtClean="0">
                        <a:latin typeface="Cambria Math" panose="02040503050406030204" pitchFamily="18" charset="0"/>
                      </a:rPr>
                      <m:t>−</m:t>
                    </m:r>
                    <m:nary>
                      <m:naryPr>
                        <m:chr m:val="∑"/>
                        <m:supHide m:val="on"/>
                        <m:ctrlPr>
                          <a:rPr lang="en-US" altLang="zh-CN" sz="1600" b="0" i="1" smtClean="0">
                            <a:latin typeface="Cambria Math" panose="02040503050406030204" pitchFamily="18" charset="0"/>
                          </a:rPr>
                        </m:ctrlPr>
                      </m:naryPr>
                      <m:sub>
                        <m:r>
                          <m:rPr>
                            <m:brk m:alnAt="7"/>
                          </m:rPr>
                          <a:rPr lang="en-US" altLang="zh-CN" sz="1600" b="0" i="1" smtClean="0">
                            <a:latin typeface="Cambria Math" panose="02040503050406030204" pitchFamily="18" charset="0"/>
                          </a:rPr>
                          <m:t>𝑖</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𝑁𝑒𝑔</m:t>
                        </m:r>
                      </m:sub>
                      <m:sup/>
                      <m:e>
                        <m:func>
                          <m:funcPr>
                            <m:ctrlPr>
                              <a:rPr lang="en-US" altLang="zh-CN" sz="1600" b="0" i="1" smtClean="0">
                                <a:latin typeface="Cambria Math" panose="02040503050406030204" pitchFamily="18" charset="0"/>
                              </a:rPr>
                            </m:ctrlPr>
                          </m:funcPr>
                          <m:fName>
                            <m:r>
                              <m:rPr>
                                <m:sty m:val="p"/>
                              </m:rPr>
                              <a:rPr lang="en-US" altLang="zh-CN" sz="1600" b="0" i="0" smtClean="0">
                                <a:latin typeface="Cambria Math" panose="02040503050406030204" pitchFamily="18" charset="0"/>
                              </a:rPr>
                              <m:t>log</m:t>
                            </m:r>
                          </m:fName>
                          <m:e>
                            <m:d>
                              <m:dPr>
                                <m:ctrlPr>
                                  <a:rPr lang="en-US" altLang="zh-CN" sz="1600" b="0" i="1" smtClean="0">
                                    <a:latin typeface="Cambria Math" panose="02040503050406030204" pitchFamily="18" charset="0"/>
                                  </a:rPr>
                                </m:ctrlPr>
                              </m:dPr>
                              <m:e>
                                <m:sSubSup>
                                  <m:sSubSupPr>
                                    <m:ctrlPr>
                                      <a:rPr lang="en-US" altLang="zh-CN" sz="1600" b="0" i="1" smtClean="0">
                                        <a:latin typeface="Cambria Math" panose="02040503050406030204" pitchFamily="18" charset="0"/>
                                      </a:rPr>
                                    </m:ctrlPr>
                                  </m:sSubSupPr>
                                  <m:e>
                                    <m:acc>
                                      <m:accPr>
                                        <m:chr m:val="̂"/>
                                        <m:ctrlPr>
                                          <a:rPr lang="en-US" altLang="zh-CN" sz="1600" b="0" i="1" smtClean="0">
                                            <a:latin typeface="Cambria Math" panose="02040503050406030204" pitchFamily="18" charset="0"/>
                                          </a:rPr>
                                        </m:ctrlPr>
                                      </m:accPr>
                                      <m:e>
                                        <m:r>
                                          <a:rPr lang="en-US" altLang="zh-CN" sz="1600" b="0" i="1" smtClean="0">
                                            <a:latin typeface="Cambria Math" panose="02040503050406030204" pitchFamily="18" charset="0"/>
                                          </a:rPr>
                                          <m:t>𝑐</m:t>
                                        </m:r>
                                      </m:e>
                                    </m:acc>
                                  </m:e>
                                  <m:sub>
                                    <m:r>
                                      <a:rPr lang="en-US" altLang="zh-CN" sz="1600" b="0" i="1" smtClean="0">
                                        <a:latin typeface="Cambria Math" panose="02040503050406030204" pitchFamily="18" charset="0"/>
                                      </a:rPr>
                                      <m:t>𝑖</m:t>
                                    </m:r>
                                  </m:sub>
                                  <m:sup>
                                    <m:r>
                                      <a:rPr lang="en-US" altLang="zh-CN" sz="1600" b="0" i="1" smtClean="0">
                                        <a:latin typeface="Cambria Math" panose="02040503050406030204" pitchFamily="18" charset="0"/>
                                      </a:rPr>
                                      <m:t>0</m:t>
                                    </m:r>
                                  </m:sup>
                                </m:sSubSup>
                              </m:e>
                            </m:d>
                          </m:e>
                        </m:func>
                      </m:e>
                    </m:nary>
                  </m:oMath>
                </a14:m>
                <a:endParaRPr lang="en-US" altLang="zh-CN" sz="1600" dirty="0" smtClean="0"/>
              </a:p>
              <a:p>
                <a:pPr lvl="2"/>
                <a14:m>
                  <m:oMath xmlns:m="http://schemas.openxmlformats.org/officeDocument/2006/math">
                    <m:sSubSup>
                      <m:sSubSupPr>
                        <m:ctrlPr>
                          <a:rPr lang="en-US" altLang="zh-CN" sz="1600" i="1">
                            <a:latin typeface="Cambria Math" panose="02040503050406030204" pitchFamily="18" charset="0"/>
                          </a:rPr>
                        </m:ctrlPr>
                      </m:sSubSupPr>
                      <m:e>
                        <m:acc>
                          <m:accPr>
                            <m:chr m:val="̂"/>
                            <m:ctrlPr>
                              <a:rPr lang="en-US" altLang="zh-CN" sz="1600" i="1">
                                <a:latin typeface="Cambria Math" panose="02040503050406030204" pitchFamily="18" charset="0"/>
                              </a:rPr>
                            </m:ctrlPr>
                          </m:accPr>
                          <m:e>
                            <m:r>
                              <a:rPr lang="en-US" altLang="zh-CN" sz="1600" i="1">
                                <a:latin typeface="Cambria Math" panose="02040503050406030204" pitchFamily="18" charset="0"/>
                              </a:rPr>
                              <m:t>𝑐</m:t>
                            </m:r>
                          </m:e>
                        </m:acc>
                      </m:e>
                      <m:sub>
                        <m:r>
                          <a:rPr lang="en-US" altLang="zh-CN" sz="1600" i="1">
                            <a:latin typeface="Cambria Math" panose="02040503050406030204" pitchFamily="18" charset="0"/>
                          </a:rPr>
                          <m:t>𝑖</m:t>
                        </m:r>
                      </m:sub>
                      <m:sup>
                        <m:r>
                          <a:rPr lang="en-US" altLang="zh-CN" sz="1600" i="1">
                            <a:latin typeface="Cambria Math" panose="02040503050406030204" pitchFamily="18" charset="0"/>
                          </a:rPr>
                          <m:t>𝑝</m:t>
                        </m:r>
                      </m:sup>
                    </m:sSubSup>
                    <m:r>
                      <a:rPr lang="en-US" altLang="zh-CN" sz="1600" b="0" i="1" smtClean="0">
                        <a:latin typeface="Cambria Math" panose="02040503050406030204" pitchFamily="18" charset="0"/>
                      </a:rPr>
                      <m:t>=</m:t>
                    </m:r>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𝑒𝑥𝑝</m:t>
                        </m:r>
                        <m:d>
                          <m:dPr>
                            <m:ctrlPr>
                              <a:rPr lang="en-US" altLang="zh-CN" sz="1600" b="0" i="1" smtClean="0">
                                <a:latin typeface="Cambria Math" panose="02040503050406030204" pitchFamily="18" charset="0"/>
                              </a:rPr>
                            </m:ctrlPr>
                          </m:dPr>
                          <m:e>
                            <m:sSubSup>
                              <m:sSubSupPr>
                                <m:ctrlPr>
                                  <a:rPr lang="en-US" altLang="zh-CN" sz="1600" b="0" i="1" smtClean="0">
                                    <a:latin typeface="Cambria Math" panose="02040503050406030204" pitchFamily="18" charset="0"/>
                                  </a:rPr>
                                </m:ctrlPr>
                              </m:sSubSupPr>
                              <m:e>
                                <m:r>
                                  <a:rPr lang="en-US" altLang="zh-CN" sz="1600" b="0" i="1" smtClean="0">
                                    <a:latin typeface="Cambria Math" panose="02040503050406030204" pitchFamily="18" charset="0"/>
                                  </a:rPr>
                                  <m:t>𝑐</m:t>
                                </m:r>
                              </m:e>
                              <m:sub>
                                <m:r>
                                  <a:rPr lang="en-US" altLang="zh-CN" sz="1600" b="0" i="1" smtClean="0">
                                    <a:latin typeface="Cambria Math" panose="02040503050406030204" pitchFamily="18" charset="0"/>
                                  </a:rPr>
                                  <m:t>𝑖</m:t>
                                </m:r>
                              </m:sub>
                              <m:sup>
                                <m:r>
                                  <a:rPr lang="en-US" altLang="zh-CN" sz="1600" b="0" i="1" smtClean="0">
                                    <a:latin typeface="Cambria Math" panose="02040503050406030204" pitchFamily="18" charset="0"/>
                                  </a:rPr>
                                  <m:t>𝑝</m:t>
                                </m:r>
                              </m:sup>
                            </m:sSubSup>
                          </m:e>
                        </m:d>
                      </m:num>
                      <m:den>
                        <m:nary>
                          <m:naryPr>
                            <m:chr m:val="∑"/>
                            <m:supHide m:val="on"/>
                            <m:ctrlPr>
                              <a:rPr lang="en-US" altLang="zh-CN" sz="1600" b="0" i="1" smtClean="0">
                                <a:latin typeface="Cambria Math" panose="02040503050406030204" pitchFamily="18" charset="0"/>
                              </a:rPr>
                            </m:ctrlPr>
                          </m:naryPr>
                          <m:sub>
                            <m:r>
                              <m:rPr>
                                <m:brk m:alnAt="7"/>
                              </m:rPr>
                              <a:rPr lang="en-US" altLang="zh-CN" sz="1600" b="0" i="1" smtClean="0">
                                <a:latin typeface="Cambria Math" panose="02040503050406030204" pitchFamily="18" charset="0"/>
                              </a:rPr>
                              <m:t>𝑝</m:t>
                            </m:r>
                          </m:sub>
                          <m:sup/>
                          <m:e>
                            <m:r>
                              <a:rPr lang="en-US" altLang="zh-CN" sz="1600" i="1">
                                <a:latin typeface="Cambria Math" panose="02040503050406030204" pitchFamily="18" charset="0"/>
                              </a:rPr>
                              <m:t>𝑒𝑥𝑝</m:t>
                            </m:r>
                            <m:d>
                              <m:dPr>
                                <m:ctrlPr>
                                  <a:rPr lang="en-US" altLang="zh-CN" sz="1600" i="1">
                                    <a:latin typeface="Cambria Math" panose="02040503050406030204" pitchFamily="18" charset="0"/>
                                  </a:rPr>
                                </m:ctrlPr>
                              </m:dPr>
                              <m:e>
                                <m:sSubSup>
                                  <m:sSubSupPr>
                                    <m:ctrlPr>
                                      <a:rPr lang="en-US" altLang="zh-CN" sz="1600" i="1">
                                        <a:latin typeface="Cambria Math" panose="02040503050406030204" pitchFamily="18" charset="0"/>
                                      </a:rPr>
                                    </m:ctrlPr>
                                  </m:sSubSupPr>
                                  <m:e>
                                    <m:r>
                                      <a:rPr lang="en-US" altLang="zh-CN" sz="1600" i="1">
                                        <a:latin typeface="Cambria Math" panose="02040503050406030204" pitchFamily="18" charset="0"/>
                                      </a:rPr>
                                      <m:t>𝑐</m:t>
                                    </m:r>
                                  </m:e>
                                  <m:sub>
                                    <m:r>
                                      <a:rPr lang="en-US" altLang="zh-CN" sz="1600" i="1">
                                        <a:latin typeface="Cambria Math" panose="02040503050406030204" pitchFamily="18" charset="0"/>
                                      </a:rPr>
                                      <m:t>𝑖</m:t>
                                    </m:r>
                                  </m:sub>
                                  <m:sup>
                                    <m:r>
                                      <a:rPr lang="en-US" altLang="zh-CN" sz="1600" i="1">
                                        <a:latin typeface="Cambria Math" panose="02040503050406030204" pitchFamily="18" charset="0"/>
                                      </a:rPr>
                                      <m:t>𝑝</m:t>
                                    </m:r>
                                  </m:sup>
                                </m:sSubSup>
                              </m:e>
                            </m:d>
                          </m:e>
                        </m:nary>
                      </m:den>
                    </m:f>
                  </m:oMath>
                </a14:m>
                <a:endParaRPr lang="zh-CN" altLang="en-US" sz="1600"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4123955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SSD</a:t>
            </a:r>
            <a:endParaRPr lang="zh-CN" altLang="en-US" dirty="0"/>
          </a:p>
        </p:txBody>
      </p:sp>
      <p:sp>
        <p:nvSpPr>
          <p:cNvPr id="3" name="内容占位符 2"/>
          <p:cNvSpPr>
            <a:spLocks noGrp="1"/>
          </p:cNvSpPr>
          <p:nvPr>
            <p:ph sz="quarter" idx="13"/>
          </p:nvPr>
        </p:nvSpPr>
        <p:spPr/>
        <p:txBody>
          <a:bodyPr/>
          <a:lstStyle/>
          <a:p>
            <a:r>
              <a:rPr lang="zh-CN" altLang="en-US" dirty="0" smtClean="0"/>
              <a:t>训练方法</a:t>
            </a:r>
            <a:endParaRPr lang="en-US" altLang="zh-CN" dirty="0" smtClean="0"/>
          </a:p>
          <a:p>
            <a:pPr lvl="1"/>
            <a:r>
              <a:rPr lang="zh-CN" altLang="en-US" dirty="0" smtClean="0"/>
              <a:t>特征金字塔检测多尺度目标</a:t>
            </a:r>
            <a:endParaRPr lang="en-US" altLang="zh-CN" dirty="0" smtClean="0"/>
          </a:p>
          <a:p>
            <a:pPr lvl="1"/>
            <a:r>
              <a:rPr lang="zh-CN" altLang="en-US" dirty="0"/>
              <a:t>难</a:t>
            </a:r>
            <a:r>
              <a:rPr lang="zh-CN" altLang="en-US" dirty="0" smtClean="0"/>
              <a:t>例挖掘解决正负样本不均</a:t>
            </a:r>
            <a:endParaRPr lang="en-US" altLang="zh-CN" dirty="0" smtClean="0"/>
          </a:p>
          <a:p>
            <a:pPr lvl="1"/>
            <a:r>
              <a:rPr lang="zh-CN" altLang="en-US" dirty="0" smtClean="0"/>
              <a:t>数据增强</a:t>
            </a:r>
            <a:endParaRPr lang="en-US" altLang="zh-CN" dirty="0" smtClean="0"/>
          </a:p>
          <a:p>
            <a:pPr marL="1257300" lvl="2" indent="-342900">
              <a:buFont typeface="+mj-lt"/>
              <a:buAutoNum type="arabicPeriod"/>
            </a:pPr>
            <a:r>
              <a:rPr lang="zh-CN" altLang="en-US" dirty="0" smtClean="0"/>
              <a:t>重采样</a:t>
            </a:r>
            <a:endParaRPr lang="en-US" altLang="zh-CN" dirty="0" smtClean="0"/>
          </a:p>
          <a:p>
            <a:pPr lvl="3"/>
            <a:r>
              <a:rPr lang="zh-CN" altLang="en-US" dirty="0" smtClean="0"/>
              <a:t>原始图像</a:t>
            </a:r>
            <a:endParaRPr lang="en-US" altLang="zh-CN" dirty="0" smtClean="0"/>
          </a:p>
          <a:p>
            <a:pPr lvl="3"/>
            <a:r>
              <a:rPr lang="zh-CN" altLang="en-US" dirty="0" smtClean="0"/>
              <a:t>与目标相交的图像</a:t>
            </a:r>
            <a:endParaRPr lang="en-US" altLang="zh-CN" dirty="0" smtClean="0"/>
          </a:p>
          <a:p>
            <a:pPr lvl="3"/>
            <a:r>
              <a:rPr lang="zh-CN" altLang="en-US" dirty="0" smtClean="0"/>
              <a:t>随机采样</a:t>
            </a:r>
            <a:endParaRPr lang="en-US" altLang="zh-CN" dirty="0" smtClean="0"/>
          </a:p>
          <a:p>
            <a:pPr marL="1257300" lvl="2" indent="-342900">
              <a:buFont typeface="+mj-lt"/>
              <a:buAutoNum type="arabicPeriod"/>
            </a:pPr>
            <a:r>
              <a:rPr lang="zh-CN" altLang="en-US" dirty="0" smtClean="0"/>
              <a:t>水平镜像处理</a:t>
            </a:r>
            <a:endParaRPr lang="en-US" altLang="zh-CN" dirty="0" smtClean="0"/>
          </a:p>
          <a:p>
            <a:pPr marL="1257300" lvl="2" indent="-342900">
              <a:buFont typeface="+mj-lt"/>
              <a:buAutoNum type="arabicPeriod"/>
            </a:pPr>
            <a:r>
              <a:rPr lang="zh-CN" altLang="en-US" dirty="0" smtClean="0"/>
              <a:t>添加相机畸变</a:t>
            </a:r>
            <a:endParaRPr lang="en-US" altLang="zh-CN" dirty="0" smtClean="0"/>
          </a:p>
          <a:p>
            <a:endParaRPr lang="zh-CN" altLang="en-US"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8488" y="1130299"/>
            <a:ext cx="4572000" cy="2314575"/>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62800" y="3876674"/>
            <a:ext cx="4143375" cy="1828800"/>
          </a:xfrm>
          <a:prstGeom prst="rect">
            <a:avLst/>
          </a:prstGeom>
        </p:spPr>
      </p:pic>
    </p:spTree>
    <p:extLst>
      <p:ext uri="{BB962C8B-B14F-4D97-AF65-F5344CB8AC3E}">
        <p14:creationId xmlns:p14="http://schemas.microsoft.com/office/powerpoint/2010/main" val="152067157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FCOS</a:t>
            </a:r>
            <a:endParaRPr lang="zh-CN" altLang="en-US" dirty="0"/>
          </a:p>
        </p:txBody>
      </p:sp>
      <p:sp>
        <p:nvSpPr>
          <p:cNvPr id="3" name="内容占位符 2"/>
          <p:cNvSpPr>
            <a:spLocks noGrp="1"/>
          </p:cNvSpPr>
          <p:nvPr>
            <p:ph sz="quarter" idx="13"/>
          </p:nvPr>
        </p:nvSpPr>
        <p:spPr/>
        <p:txBody>
          <a:bodyPr/>
          <a:lstStyle/>
          <a:p>
            <a:r>
              <a:rPr lang="zh-CN" altLang="en-US" dirty="0" smtClean="0"/>
              <a:t>核心思想：</a:t>
            </a:r>
            <a:endParaRPr lang="en-US" altLang="zh-CN" dirty="0" smtClean="0"/>
          </a:p>
          <a:p>
            <a:pPr lvl="1"/>
            <a:r>
              <a:rPr lang="zh-CN" altLang="en-US" dirty="0" smtClean="0"/>
              <a:t>基于全卷积网络</a:t>
            </a:r>
            <a:endParaRPr lang="en-US" altLang="zh-CN" dirty="0" smtClean="0"/>
          </a:p>
          <a:p>
            <a:pPr lvl="1"/>
            <a:r>
              <a:rPr lang="zh-CN" altLang="en-US" dirty="0">
                <a:solidFill>
                  <a:srgbClr val="FF0000"/>
                </a:solidFill>
              </a:rPr>
              <a:t>不</a:t>
            </a:r>
            <a:r>
              <a:rPr lang="zh-CN" altLang="en-US" dirty="0" smtClean="0">
                <a:solidFill>
                  <a:srgbClr val="FF0000"/>
                </a:solidFill>
              </a:rPr>
              <a:t>依赖锚和候选框</a:t>
            </a:r>
            <a:endParaRPr lang="en-US" altLang="zh-CN" dirty="0" smtClean="0">
              <a:solidFill>
                <a:srgbClr val="FF0000"/>
              </a:solidFill>
            </a:endParaRPr>
          </a:p>
          <a:p>
            <a:r>
              <a:rPr lang="zh-CN" altLang="en-US" dirty="0" smtClean="0"/>
              <a:t>算法原理：</a:t>
            </a:r>
            <a:endParaRPr lang="en-US" altLang="zh-CN" dirty="0" smtClean="0"/>
          </a:p>
          <a:p>
            <a:pPr lvl="1"/>
            <a:r>
              <a:rPr lang="zh-CN" altLang="en-US" dirty="0" smtClean="0"/>
              <a:t>基于全卷积网络的一阶段检测算法</a:t>
            </a:r>
            <a:endParaRPr lang="en-US" altLang="zh-CN" dirty="0" smtClean="0"/>
          </a:p>
          <a:p>
            <a:pPr lvl="1"/>
            <a:r>
              <a:rPr lang="zh-CN" altLang="en-US" dirty="0" smtClean="0"/>
              <a:t>使用特征金字塔进行多尺度预测</a:t>
            </a:r>
            <a:endParaRPr lang="en-US" altLang="zh-CN" dirty="0" smtClean="0"/>
          </a:p>
          <a:p>
            <a:pPr lvl="1"/>
            <a:r>
              <a:rPr lang="en-US" altLang="zh-CN" dirty="0" smtClean="0"/>
              <a:t>FCOS</a:t>
            </a:r>
            <a:r>
              <a:rPr lang="zh-CN" altLang="en-US" dirty="0" smtClean="0"/>
              <a:t>的中心指标</a:t>
            </a:r>
            <a:r>
              <a:rPr lang="en-US" altLang="zh-CN" dirty="0" smtClean="0"/>
              <a:t>(center-ness)</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25158" y="3623063"/>
            <a:ext cx="7295329" cy="2514210"/>
          </a:xfrm>
          <a:prstGeom prst="rect">
            <a:avLst/>
          </a:prstGeom>
        </p:spPr>
      </p:pic>
    </p:spTree>
    <p:extLst>
      <p:ext uri="{BB962C8B-B14F-4D97-AF65-F5344CB8AC3E}">
        <p14:creationId xmlns:p14="http://schemas.microsoft.com/office/powerpoint/2010/main" val="43259093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FCOS</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r>
                  <a:rPr lang="en-US" altLang="zh-CN" dirty="0" smtClean="0"/>
                  <a:t>FCOS</a:t>
                </a:r>
                <a:r>
                  <a:rPr lang="zh-CN" altLang="en-US" dirty="0" smtClean="0"/>
                  <a:t>最大的特点就是不依赖锚的结构。</a:t>
                </a:r>
                <a:endParaRPr lang="en-US" altLang="zh-CN" dirty="0" smtClean="0"/>
              </a:p>
              <a:p>
                <a:r>
                  <a:rPr lang="zh-CN" altLang="en-US" dirty="0" smtClean="0"/>
                  <a:t>基于锚的结构</a:t>
                </a:r>
                <a:r>
                  <a:rPr lang="en-US" altLang="zh-CN" dirty="0" smtClean="0"/>
                  <a:t>(anchor-based)</a:t>
                </a:r>
              </a:p>
              <a:p>
                <a:pPr lvl="1"/>
                <a:r>
                  <a:rPr lang="zh-CN" altLang="en-US" dirty="0"/>
                  <a:t>锚的形状与大小调整增加了训练复杂性</a:t>
                </a:r>
                <a:endParaRPr lang="en-US" altLang="zh-CN" dirty="0"/>
              </a:p>
              <a:p>
                <a:pPr lvl="1"/>
                <a:r>
                  <a:rPr lang="zh-CN" altLang="en-US" dirty="0"/>
                  <a:t>锚的大小及形状仅有几个固定取值</a:t>
                </a:r>
                <a:endParaRPr lang="en-US" altLang="zh-CN" dirty="0"/>
              </a:p>
              <a:p>
                <a:pPr lvl="1"/>
                <a:r>
                  <a:rPr lang="zh-CN" altLang="en-US" dirty="0"/>
                  <a:t>一张图像上使用非常多的锚导致正负样本不均</a:t>
                </a:r>
                <a:endParaRPr lang="en-US" altLang="zh-CN" dirty="0"/>
              </a:p>
              <a:p>
                <a:pPr lvl="1"/>
                <a:r>
                  <a:rPr lang="zh-CN" altLang="en-US" dirty="0"/>
                  <a:t>涉及大量真值框交并比计算造成计算</a:t>
                </a:r>
                <a:r>
                  <a:rPr lang="zh-CN" altLang="en-US" dirty="0" smtClean="0"/>
                  <a:t>开销</a:t>
                </a:r>
                <a:endParaRPr lang="en-US" altLang="zh-CN" dirty="0" smtClean="0"/>
              </a:p>
              <a:p>
                <a:r>
                  <a:rPr lang="zh-CN" altLang="en-US" dirty="0" smtClean="0"/>
                  <a:t>不依赖锚的结构</a:t>
                </a:r>
                <a:r>
                  <a:rPr lang="en-US" altLang="zh-CN" dirty="0" smtClean="0"/>
                  <a:t>(anchor-free)</a:t>
                </a:r>
              </a:p>
              <a:p>
                <a:pPr lvl="1"/>
                <a:r>
                  <a:rPr lang="zh-CN" altLang="en-US" dirty="0" smtClean="0"/>
                  <a:t>基于每个像素预测</a:t>
                </a:r>
                <a:endParaRPr lang="en-US" altLang="zh-CN" dirty="0" smtClean="0"/>
              </a:p>
              <a:p>
                <a:pPr lvl="1"/>
                <a:r>
                  <a:rPr lang="zh-CN" altLang="en-US" dirty="0"/>
                  <a:t>用一</a:t>
                </a:r>
                <a:r>
                  <a:rPr lang="zh-CN" altLang="en-US" dirty="0" smtClean="0"/>
                  <a:t>个</a:t>
                </a:r>
                <a:r>
                  <a:rPr lang="en-US" altLang="zh-CN" dirty="0" smtClean="0"/>
                  <a:t>4</a:t>
                </a:r>
                <a:r>
                  <a:rPr lang="zh-CN" altLang="en-US" dirty="0" smtClean="0"/>
                  <a:t>维向量</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𝑙</m:t>
                        </m:r>
                        <m:r>
                          <a:rPr lang="en-US" altLang="zh-CN" b="0" i="1" smtClean="0">
                            <a:latin typeface="Cambria Math" panose="02040503050406030204" pitchFamily="18" charset="0"/>
                          </a:rPr>
                          <m:t>,</m:t>
                        </m:r>
                        <m:r>
                          <a:rPr lang="en-US" altLang="zh-CN" b="0" i="1" smtClean="0">
                            <a:latin typeface="Cambria Math" panose="02040503050406030204" pitchFamily="18" charset="0"/>
                          </a:rPr>
                          <m:t>𝑟</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e>
                    </m:d>
                  </m:oMath>
                </a14:m>
                <a:r>
                  <a:rPr lang="zh-CN" altLang="en-US" dirty="0" smtClean="0"/>
                  <a:t>表示</a:t>
                </a:r>
                <a:endParaRPr lang="en-US" altLang="zh-CN" dirty="0" smtClean="0"/>
              </a:p>
              <a:p>
                <a:pPr lvl="2"/>
                <a14:m>
                  <m:oMath xmlns:m="http://schemas.openxmlformats.org/officeDocument/2006/math">
                    <m:r>
                      <a:rPr lang="en-US" altLang="zh-CN" i="1">
                        <a:latin typeface="Cambria Math" panose="02040503050406030204" pitchFamily="18" charset="0"/>
                      </a:rPr>
                      <m:t>𝑙</m:t>
                    </m:r>
                    <m:r>
                      <a:rPr lang="en-US" altLang="zh-CN" i="1">
                        <a:latin typeface="Cambria Math" panose="02040503050406030204" pitchFamily="18" charset="0"/>
                      </a:rPr>
                      <m:t>,</m:t>
                    </m:r>
                    <m:r>
                      <a:rPr lang="en-US" altLang="zh-CN" i="1">
                        <a:latin typeface="Cambria Math" panose="02040503050406030204" pitchFamily="18" charset="0"/>
                      </a:rPr>
                      <m:t>𝑟</m:t>
                    </m:r>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m:t>
                    </m:r>
                    <m:r>
                      <a:rPr lang="en-US" altLang="zh-CN" i="1">
                        <a:latin typeface="Cambria Math" panose="02040503050406030204" pitchFamily="18" charset="0"/>
                      </a:rPr>
                      <m:t>𝑏</m:t>
                    </m:r>
                  </m:oMath>
                </a14:m>
                <a:r>
                  <a:rPr lang="zh-CN" altLang="en-US" dirty="0" smtClean="0"/>
                  <a:t>分别代表该像素到目标框各边边缘的距离</a:t>
                </a:r>
                <a:endParaRPr lang="en-US" altLang="zh-CN" dirty="0" smtClean="0"/>
              </a:p>
              <a:p>
                <a:pPr lvl="1"/>
                <a:r>
                  <a:rPr lang="zh-CN" altLang="en-US" dirty="0" smtClean="0"/>
                  <a:t>每个像素对应一个预测的目标框</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09964" y="2018519"/>
            <a:ext cx="5810524" cy="3230533"/>
          </a:xfrm>
          <a:prstGeom prst="rect">
            <a:avLst/>
          </a:prstGeom>
        </p:spPr>
      </p:pic>
    </p:spTree>
    <p:extLst>
      <p:ext uri="{BB962C8B-B14F-4D97-AF65-F5344CB8AC3E}">
        <p14:creationId xmlns:p14="http://schemas.microsoft.com/office/powerpoint/2010/main" val="28868552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FCOS</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pPr marL="342900" indent="-342900">
                  <a:buFont typeface="+mj-lt"/>
                  <a:buAutoNum type="arabicPeriod"/>
                </a:pPr>
                <a:r>
                  <a:rPr lang="zh-CN" altLang="en-US" dirty="0" smtClean="0"/>
                  <a:t>基于全卷积网络的一阶段检测算法</a:t>
                </a:r>
                <a:endParaRPr lang="en-US" altLang="zh-CN" dirty="0" smtClean="0"/>
              </a:p>
              <a:p>
                <a:pPr lvl="1"/>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𝐹</m:t>
                        </m:r>
                      </m:e>
                      <m:sub>
                        <m:r>
                          <a:rPr lang="en-US" altLang="zh-CN" b="0" i="1" smtClean="0">
                            <a:latin typeface="Cambria Math" panose="02040503050406030204" pitchFamily="18" charset="0"/>
                          </a:rPr>
                          <m:t>𝑖</m:t>
                        </m:r>
                      </m:sub>
                    </m:sSub>
                    <m:r>
                      <a:rPr lang="en-US" altLang="zh-CN" i="1" smtClean="0">
                        <a:latin typeface="Cambria Math" panose="02040503050406030204" pitchFamily="18" charset="0"/>
                        <a:ea typeface="Cambria Math" panose="02040503050406030204" pitchFamily="18" charset="0"/>
                      </a:rPr>
                      <m:t>∈</m:t>
                    </m:r>
                    <m:sSup>
                      <m:sSupPr>
                        <m:ctrlPr>
                          <a:rPr lang="en-US" altLang="zh-CN"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𝑅</m:t>
                        </m:r>
                      </m:e>
                      <m:sup>
                        <m:r>
                          <a:rPr lang="en-US" altLang="zh-CN" b="0" i="1" smtClean="0">
                            <a:latin typeface="Cambria Math" panose="02040503050406030204" pitchFamily="18" charset="0"/>
                            <a:ea typeface="Cambria Math" panose="02040503050406030204" pitchFamily="18" charset="0"/>
                          </a:rPr>
                          <m:t>𝐻</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𝑊</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𝐶</m:t>
                        </m:r>
                      </m:sup>
                    </m:sSup>
                  </m:oMath>
                </a14:m>
                <a:r>
                  <a:rPr lang="zh-CN" altLang="en-US" dirty="0" smtClean="0"/>
                  <a:t>表示网络骨架第</a:t>
                </a:r>
                <a14:m>
                  <m:oMath xmlns:m="http://schemas.openxmlformats.org/officeDocument/2006/math">
                    <m:r>
                      <a:rPr lang="en-US" altLang="zh-CN" i="1">
                        <a:latin typeface="Cambria Math" panose="02040503050406030204" pitchFamily="18" charset="0"/>
                      </a:rPr>
                      <m:t>𝑖</m:t>
                    </m:r>
                  </m:oMath>
                </a14:m>
                <a:r>
                  <a:rPr lang="zh-CN" altLang="en-US" dirty="0" smtClean="0"/>
                  <a:t>层输出的特征图</a:t>
                </a:r>
                <a:endParaRPr lang="en-US" altLang="zh-CN" dirty="0" smtClean="0"/>
              </a:p>
              <a:p>
                <a:pPr lvl="1"/>
                <a14:m>
                  <m:oMath xmlns:m="http://schemas.openxmlformats.org/officeDocument/2006/math">
                    <m:r>
                      <a:rPr lang="en-US" altLang="zh-CN" b="0" i="1" smtClean="0">
                        <a:latin typeface="Cambria Math" panose="02040503050406030204" pitchFamily="18" charset="0"/>
                      </a:rPr>
                      <m:t>𝑠</m:t>
                    </m:r>
                  </m:oMath>
                </a14:m>
                <a:r>
                  <a:rPr lang="zh-CN" altLang="en-US" dirty="0" smtClean="0"/>
                  <a:t>表示相对于原始图像的采样间隔</a:t>
                </a:r>
                <a:r>
                  <a:rPr lang="en-US" altLang="zh-CN" dirty="0" smtClean="0"/>
                  <a:t>(stride)</a:t>
                </a:r>
              </a:p>
              <a:p>
                <a:pPr lvl="1"/>
                <a14:m>
                  <m:oMath xmlns:m="http://schemas.openxmlformats.org/officeDocument/2006/math">
                    <m:d>
                      <m:dPr>
                        <m:begChr m:val="{"/>
                        <m:endChr m:val="}"/>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𝑖</m:t>
                            </m:r>
                          </m:sub>
                        </m:sSub>
                      </m:e>
                    </m:d>
                  </m:oMath>
                </a14:m>
                <a:r>
                  <a:rPr lang="zh-CN" altLang="en-US" dirty="0" smtClean="0"/>
                  <a:t>表示</a:t>
                </a:r>
                <a:r>
                  <a:rPr lang="zh-CN" altLang="en-US" dirty="0"/>
                  <a:t>真值</a:t>
                </a:r>
                <a:r>
                  <a:rPr lang="zh-CN" altLang="en-US" dirty="0" smtClean="0"/>
                  <a:t>框，</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0</m:t>
                            </m:r>
                          </m:sub>
                          <m:sup>
                            <m:r>
                              <a:rPr lang="en-US" altLang="zh-CN" b="0" i="1" smtClean="0">
                                <a:latin typeface="Cambria Math" panose="02040503050406030204" pitchFamily="18" charset="0"/>
                              </a:rPr>
                              <m:t>𝑖</m:t>
                            </m:r>
                          </m:sup>
                        </m:sSubSup>
                        <m:r>
                          <a:rPr lang="en-US" altLang="zh-CN" b="0" i="1" smtClean="0">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b="0" i="1" smtClean="0">
                                <a:latin typeface="Cambria Math" panose="02040503050406030204" pitchFamily="18" charset="0"/>
                              </a:rPr>
                              <m:t>𝑦</m:t>
                            </m:r>
                          </m:e>
                          <m:sub>
                            <m:r>
                              <a:rPr lang="en-US" altLang="zh-CN" i="1">
                                <a:latin typeface="Cambria Math" panose="02040503050406030204" pitchFamily="18" charset="0"/>
                              </a:rPr>
                              <m:t>0</m:t>
                            </m:r>
                          </m:sub>
                          <m:sup>
                            <m:r>
                              <a:rPr lang="en-US" altLang="zh-CN" i="1">
                                <a:latin typeface="Cambria Math" panose="02040503050406030204" pitchFamily="18" charset="0"/>
                              </a:rPr>
                              <m:t>𝑖</m:t>
                            </m:r>
                          </m:sup>
                        </m:sSubSup>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𝑥</m:t>
                            </m:r>
                          </m:e>
                          <m:sub>
                            <m:r>
                              <a:rPr lang="en-US" altLang="zh-CN" b="0" i="1" smtClean="0">
                                <a:latin typeface="Cambria Math" panose="02040503050406030204" pitchFamily="18" charset="0"/>
                              </a:rPr>
                              <m:t>1</m:t>
                            </m:r>
                          </m:sub>
                          <m:sup>
                            <m:r>
                              <a:rPr lang="en-US" altLang="zh-CN" i="1">
                                <a:latin typeface="Cambria Math" panose="02040503050406030204" pitchFamily="18" charset="0"/>
                              </a:rPr>
                              <m:t>𝑖</m:t>
                            </m:r>
                          </m:sup>
                        </m:sSubSup>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1</m:t>
                            </m:r>
                          </m:sub>
                          <m:sup>
                            <m:r>
                              <a:rPr lang="en-US" altLang="zh-CN" i="1">
                                <a:latin typeface="Cambria Math" panose="02040503050406030204" pitchFamily="18" charset="0"/>
                              </a:rPr>
                              <m:t>𝑖</m:t>
                            </m:r>
                          </m:sup>
                        </m:sSubSup>
                        <m:r>
                          <a:rPr lang="en-US" altLang="zh-CN" i="1">
                            <a:latin typeface="Cambria Math" panose="02040503050406030204" pitchFamily="18" charset="0"/>
                          </a:rPr>
                          <m:t>,</m:t>
                        </m:r>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𝑐</m:t>
                            </m:r>
                          </m:e>
                          <m:sup>
                            <m:r>
                              <a:rPr lang="en-US" altLang="zh-CN" b="0" i="1" smtClean="0">
                                <a:latin typeface="Cambria Math" panose="02040503050406030204" pitchFamily="18" charset="0"/>
                              </a:rPr>
                              <m:t>𝑖</m:t>
                            </m:r>
                          </m:sup>
                        </m:sSup>
                      </m:e>
                    </m:d>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𝑅</m:t>
                        </m:r>
                      </m:e>
                      <m:sup>
                        <m:r>
                          <a:rPr lang="en-US" altLang="zh-CN" b="0" i="1" smtClean="0">
                            <a:latin typeface="Cambria Math" panose="02040503050406030204" pitchFamily="18" charset="0"/>
                            <a:ea typeface="Cambria Math" panose="02040503050406030204" pitchFamily="18" charset="0"/>
                          </a:rPr>
                          <m:t>4</m:t>
                        </m:r>
                      </m:sup>
                    </m:sSup>
                    <m:r>
                      <a:rPr lang="en-US" altLang="zh-CN" b="0" i="1" smtClean="0">
                        <a:latin typeface="Cambria Math" panose="02040503050406030204" pitchFamily="18" charset="0"/>
                        <a:ea typeface="Cambria Math" panose="02040503050406030204" pitchFamily="18" charset="0"/>
                      </a:rPr>
                      <m:t>×</m:t>
                    </m:r>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1,2,⋯,</m:t>
                        </m:r>
                        <m:r>
                          <a:rPr lang="en-US" altLang="zh-CN" b="0" i="1" smtClean="0">
                            <a:latin typeface="Cambria Math" panose="02040503050406030204" pitchFamily="18" charset="0"/>
                            <a:ea typeface="Cambria Math" panose="02040503050406030204" pitchFamily="18" charset="0"/>
                          </a:rPr>
                          <m:t>𝐶</m:t>
                        </m:r>
                      </m:e>
                    </m:d>
                  </m:oMath>
                </a14:m>
                <a:r>
                  <a:rPr lang="en-US" altLang="zh-CN" dirty="0" smtClean="0"/>
                  <a:t>,</a:t>
                </a:r>
              </a:p>
              <a:p>
                <a:pPr lvl="2"/>
                <a14:m>
                  <m:oMath xmlns:m="http://schemas.openxmlformats.org/officeDocument/2006/math">
                    <m:sSubSup>
                      <m:sSubSupPr>
                        <m:ctrlPr>
                          <a:rPr lang="en-US" altLang="zh-CN" i="1">
                            <a:latin typeface="Cambria Math" panose="02040503050406030204" pitchFamily="18" charset="0"/>
                          </a:rPr>
                        </m:ctrlPr>
                      </m:sSubSupPr>
                      <m:e>
                        <m:r>
                          <a:rPr lang="en-US" altLang="zh-CN" b="0" i="1" smtClean="0">
                            <a:latin typeface="Cambria Math" panose="02040503050406030204" pitchFamily="18" charset="0"/>
                          </a:rPr>
                          <m:t>(</m:t>
                        </m:r>
                        <m:r>
                          <a:rPr lang="en-US" altLang="zh-CN" i="1">
                            <a:latin typeface="Cambria Math" panose="02040503050406030204" pitchFamily="18" charset="0"/>
                          </a:rPr>
                          <m:t>𝑥</m:t>
                        </m:r>
                      </m:e>
                      <m:sub>
                        <m:r>
                          <a:rPr lang="en-US" altLang="zh-CN" i="1">
                            <a:latin typeface="Cambria Math" panose="02040503050406030204" pitchFamily="18" charset="0"/>
                          </a:rPr>
                          <m:t>0</m:t>
                        </m:r>
                      </m:sub>
                      <m:sup>
                        <m:r>
                          <a:rPr lang="en-US" altLang="zh-CN" i="1">
                            <a:latin typeface="Cambria Math" panose="02040503050406030204" pitchFamily="18" charset="0"/>
                          </a:rPr>
                          <m:t>𝑖</m:t>
                        </m:r>
                      </m:sup>
                    </m:sSubSup>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𝑦</m:t>
                        </m:r>
                      </m:e>
                      <m:sub>
                        <m:r>
                          <a:rPr lang="en-US" altLang="zh-CN" i="1">
                            <a:latin typeface="Cambria Math" panose="02040503050406030204" pitchFamily="18" charset="0"/>
                          </a:rPr>
                          <m:t>0</m:t>
                        </m:r>
                      </m:sub>
                      <m:sup>
                        <m:r>
                          <a:rPr lang="en-US" altLang="zh-CN" i="1">
                            <a:latin typeface="Cambria Math" panose="02040503050406030204" pitchFamily="18" charset="0"/>
                          </a:rPr>
                          <m:t>𝑖</m:t>
                        </m:r>
                      </m:sup>
                    </m:sSubSup>
                    <m:r>
                      <a:rPr lang="en-US" altLang="zh-CN" b="0" i="1" smtClean="0">
                        <a:latin typeface="Cambria Math" panose="02040503050406030204" pitchFamily="18" charset="0"/>
                      </a:rPr>
                      <m:t>)</m:t>
                    </m:r>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b="0" i="1" smtClean="0">
                            <a:latin typeface="Cambria Math" panose="02040503050406030204" pitchFamily="18" charset="0"/>
                          </a:rPr>
                          <m:t>(</m:t>
                        </m:r>
                        <m:r>
                          <a:rPr lang="en-US" altLang="zh-CN" i="1">
                            <a:latin typeface="Cambria Math" panose="02040503050406030204" pitchFamily="18" charset="0"/>
                          </a:rPr>
                          <m:t>𝑥</m:t>
                        </m:r>
                      </m:e>
                      <m:sub>
                        <m:r>
                          <a:rPr lang="en-US" altLang="zh-CN" i="1">
                            <a:latin typeface="Cambria Math" panose="02040503050406030204" pitchFamily="18" charset="0"/>
                          </a:rPr>
                          <m:t>1</m:t>
                        </m:r>
                      </m:sub>
                      <m:sup>
                        <m:r>
                          <a:rPr lang="en-US" altLang="zh-CN" i="1">
                            <a:latin typeface="Cambria Math" panose="02040503050406030204" pitchFamily="18" charset="0"/>
                          </a:rPr>
                          <m:t>𝑖</m:t>
                        </m:r>
                      </m:sup>
                    </m:sSubSup>
                    <m:r>
                      <a:rPr lang="en-US" altLang="zh-CN" i="1">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𝑦</m:t>
                        </m:r>
                      </m:e>
                      <m:sub>
                        <m:r>
                          <a:rPr lang="en-US" altLang="zh-CN" i="1">
                            <a:latin typeface="Cambria Math" panose="02040503050406030204" pitchFamily="18" charset="0"/>
                          </a:rPr>
                          <m:t>1</m:t>
                        </m:r>
                      </m:sub>
                      <m:sup>
                        <m:r>
                          <a:rPr lang="en-US" altLang="zh-CN" i="1">
                            <a:latin typeface="Cambria Math" panose="02040503050406030204" pitchFamily="18" charset="0"/>
                          </a:rPr>
                          <m:t>𝑖</m:t>
                        </m:r>
                      </m:sup>
                    </m:sSubSup>
                    <m:r>
                      <a:rPr lang="en-US" altLang="zh-CN" b="0" i="1" smtClean="0">
                        <a:latin typeface="Cambria Math" panose="02040503050406030204" pitchFamily="18" charset="0"/>
                      </a:rPr>
                      <m:t>)</m:t>
                    </m:r>
                  </m:oMath>
                </a14:m>
                <a:r>
                  <a:rPr lang="zh-CN" altLang="en-US" dirty="0" smtClean="0"/>
                  <a:t>分别表示框左上角与右下角坐标</a:t>
                </a:r>
                <a:endParaRPr lang="en-US" altLang="zh-CN" dirty="0" smtClean="0"/>
              </a:p>
              <a:p>
                <a:pPr lvl="2"/>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𝑐</m:t>
                        </m:r>
                      </m:e>
                      <m:sup>
                        <m:r>
                          <a:rPr lang="en-US" altLang="zh-CN" i="1">
                            <a:latin typeface="Cambria Math" panose="02040503050406030204" pitchFamily="18" charset="0"/>
                          </a:rPr>
                          <m:t>𝑖</m:t>
                        </m:r>
                      </m:sup>
                    </m:sSup>
                  </m:oMath>
                </a14:m>
                <a:r>
                  <a:rPr lang="zh-CN" altLang="en-US" dirty="0" smtClean="0"/>
                  <a:t>表示框归属的类别</a:t>
                </a:r>
                <a:endParaRPr lang="en-US" altLang="zh-CN" dirty="0" smtClean="0"/>
              </a:p>
              <a:p>
                <a:pPr lvl="2"/>
                <a14:m>
                  <m:oMath xmlns:m="http://schemas.openxmlformats.org/officeDocument/2006/math">
                    <m:r>
                      <a:rPr lang="en-US" altLang="zh-CN" i="1">
                        <a:latin typeface="Cambria Math" panose="02040503050406030204" pitchFamily="18" charset="0"/>
                        <a:ea typeface="Cambria Math" panose="02040503050406030204" pitchFamily="18" charset="0"/>
                      </a:rPr>
                      <m:t>𝐶</m:t>
                    </m:r>
                  </m:oMath>
                </a14:m>
                <a:r>
                  <a:rPr lang="zh-CN" altLang="en-US" dirty="0" smtClean="0"/>
                  <a:t>表示类别数量</a:t>
                </a:r>
                <a:endParaRPr lang="en-US" altLang="zh-CN" dirty="0" smtClean="0"/>
              </a:p>
              <a:p>
                <a:pPr lvl="1"/>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𝐹</m:t>
                        </m:r>
                      </m:e>
                      <m:sub>
                        <m:r>
                          <a:rPr lang="en-US" altLang="zh-CN" i="1">
                            <a:latin typeface="Cambria Math" panose="02040503050406030204" pitchFamily="18" charset="0"/>
                          </a:rPr>
                          <m:t>𝑖</m:t>
                        </m:r>
                      </m:sub>
                    </m:sSub>
                  </m:oMath>
                </a14:m>
                <a:r>
                  <a:rPr lang="zh-CN" altLang="en-US" dirty="0" smtClean="0"/>
                  <a:t>上一点</a:t>
                </a:r>
                <a14:m>
                  <m:oMath xmlns:m="http://schemas.openxmlformats.org/officeDocument/2006/math">
                    <m:d>
                      <m:dPr>
                        <m:ctrlPr>
                          <a:rPr lang="en-US" altLang="zh-CN" i="1" smtClean="0">
                            <a:latin typeface="Cambria Math" panose="02040503050406030204" pitchFamily="18" charset="0"/>
                          </a:rPr>
                        </m:ctrlPr>
                      </m:dPr>
                      <m:e>
                        <m:r>
                          <a:rPr lang="en-US" altLang="zh-CN" b="0" i="1" smtClean="0">
                            <a:latin typeface="Cambria Math" panose="02040503050406030204" pitchFamily="18" charset="0"/>
                          </a:rPr>
                          <m:t>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d>
                  </m:oMath>
                </a14:m>
                <a:r>
                  <a:rPr lang="zh-CN" altLang="en-US" dirty="0" smtClean="0"/>
                  <a:t>投影到输入图像原始像素</a:t>
                </a:r>
                <a14:m>
                  <m:oMath xmlns:m="http://schemas.openxmlformats.org/officeDocument/2006/math">
                    <m:d>
                      <m:dPr>
                        <m:ctrlPr>
                          <a:rPr lang="en-US" altLang="zh-CN" i="1" smtClean="0">
                            <a:latin typeface="Cambria Math" panose="02040503050406030204" pitchFamily="18" charset="0"/>
                          </a:rPr>
                        </m:ctrlPr>
                      </m:dPr>
                      <m:e>
                        <m:d>
                          <m:dPr>
                            <m:begChr m:val="⌊"/>
                            <m:endChr m:val="⌋"/>
                            <m:ctrlPr>
                              <a:rPr lang="en-US" altLang="zh-CN" i="1" smtClean="0">
                                <a:latin typeface="Cambria Math" panose="02040503050406030204" pitchFamily="18" charset="0"/>
                              </a:rPr>
                            </m:ctrlPr>
                          </m:dPr>
                          <m:e>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𝑠</m:t>
                                </m:r>
                              </m:num>
                              <m:den>
                                <m:r>
                                  <a:rPr lang="en-US" altLang="zh-CN" b="0" i="1" smtClean="0">
                                    <a:latin typeface="Cambria Math" panose="02040503050406030204" pitchFamily="18" charset="0"/>
                                  </a:rPr>
                                  <m:t>2</m:t>
                                </m:r>
                              </m:den>
                            </m:f>
                          </m:e>
                        </m:d>
                        <m:r>
                          <a:rPr lang="en-US" altLang="zh-CN" b="0" i="1" smtClean="0">
                            <a:latin typeface="Cambria Math" panose="02040503050406030204" pitchFamily="18" charset="0"/>
                          </a:rPr>
                          <m:t>+</m:t>
                        </m:r>
                        <m:r>
                          <a:rPr lang="en-US" altLang="zh-CN" b="0" i="1" smtClean="0">
                            <a:latin typeface="Cambria Math" panose="02040503050406030204" pitchFamily="18" charset="0"/>
                          </a:rPr>
                          <m:t>𝑥𝑠</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𝑠</m:t>
                                </m:r>
                              </m:num>
                              <m:den>
                                <m:r>
                                  <a:rPr lang="en-US" altLang="zh-CN" b="0" i="1" smtClean="0">
                                    <a:latin typeface="Cambria Math" panose="02040503050406030204" pitchFamily="18" charset="0"/>
                                  </a:rPr>
                                  <m:t>2</m:t>
                                </m:r>
                              </m:den>
                            </m:f>
                          </m:e>
                        </m:d>
                        <m:r>
                          <a:rPr lang="en-US" altLang="zh-CN" b="0" i="1" smtClean="0">
                            <a:latin typeface="Cambria Math" panose="02040503050406030204" pitchFamily="18" charset="0"/>
                          </a:rPr>
                          <m:t>+</m:t>
                        </m:r>
                        <m:r>
                          <a:rPr lang="en-US" altLang="zh-CN" b="0" i="1" smtClean="0">
                            <a:latin typeface="Cambria Math" panose="02040503050406030204" pitchFamily="18" charset="0"/>
                          </a:rPr>
                          <m:t>𝑦𝑠</m:t>
                        </m:r>
                      </m:e>
                    </m:d>
                    <m:r>
                      <a:rPr lang="zh-CN" altLang="en-US" i="1">
                        <a:latin typeface="Cambria Math" panose="02040503050406030204" pitchFamily="18" charset="0"/>
                      </a:rPr>
                      <m:t>，</m:t>
                    </m:r>
                    <m:r>
                      <a:rPr lang="zh-CN" altLang="en-US" i="1" smtClean="0">
                        <a:latin typeface="Cambria Math" panose="02040503050406030204" pitchFamily="18" charset="0"/>
                      </a:rPr>
                      <m:t>记为</m:t>
                    </m:r>
                    <m:d>
                      <m:dPr>
                        <m:ctrlPr>
                          <a:rPr lang="en-US" altLang="zh-CN" i="1" smtClean="0">
                            <a:latin typeface="Cambria Math" panose="02040503050406030204" pitchFamily="18" charset="0"/>
                          </a:rPr>
                        </m:ctrlPr>
                      </m:dPr>
                      <m:e>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𝑝</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𝑝</m:t>
                            </m:r>
                          </m:sub>
                        </m:sSub>
                      </m:e>
                    </m:d>
                  </m:oMath>
                </a14:m>
                <a:endParaRPr lang="en-US" altLang="zh-CN" dirty="0" smtClean="0"/>
              </a:p>
              <a:p>
                <a:pPr lvl="1"/>
                <a:r>
                  <a:rPr lang="zh-CN" altLang="en-US" dirty="0"/>
                  <a:t>回归</a:t>
                </a:r>
                <a14:m>
                  <m:oMath xmlns:m="http://schemas.openxmlformats.org/officeDocument/2006/math">
                    <m:d>
                      <m:dPr>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𝑝</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𝑦</m:t>
                            </m:r>
                          </m:e>
                          <m:sub>
                            <m:r>
                              <a:rPr lang="en-US" altLang="zh-CN" i="1">
                                <a:latin typeface="Cambria Math" panose="02040503050406030204" pitchFamily="18" charset="0"/>
                              </a:rPr>
                              <m:t>𝑝</m:t>
                            </m:r>
                          </m:sub>
                        </m:sSub>
                      </m:e>
                    </m:d>
                  </m:oMath>
                </a14:m>
                <a:r>
                  <a:rPr lang="zh-CN" altLang="en-US" dirty="0" smtClean="0"/>
                  <a:t>到真值框</a:t>
                </a:r>
                <a:r>
                  <a:rPr lang="en-US" altLang="zh-CN" dirty="0" smtClean="0"/>
                  <a:t>4</a:t>
                </a:r>
                <a:r>
                  <a:rPr lang="zh-CN" altLang="en-US" dirty="0" smtClean="0"/>
                  <a:t>个边缘的距离</a:t>
                </a:r>
                <a14:m>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𝑇</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𝑙</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𝑟</m:t>
                            </m:r>
                          </m:e>
                          <m:sup>
                            <m:r>
                              <a:rPr lang="en-US" altLang="zh-CN" i="1">
                                <a:latin typeface="Cambria Math" panose="02040503050406030204" pitchFamily="18" charset="0"/>
                              </a:rPr>
                              <m:t>∗</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𝑡</m:t>
                            </m:r>
                          </m:e>
                          <m:sup>
                            <m:r>
                              <a:rPr lang="en-US" altLang="zh-CN" i="1">
                                <a:latin typeface="Cambria Math" panose="02040503050406030204" pitchFamily="18" charset="0"/>
                              </a:rPr>
                              <m:t>∗</m:t>
                            </m:r>
                          </m:sup>
                        </m:sSup>
                        <m:r>
                          <a:rPr lang="en-US" altLang="zh-CN" i="1">
                            <a:latin typeface="Cambria Math" panose="02040503050406030204" pitchFamily="18" charset="0"/>
                          </a:rPr>
                          <m:t>,</m:t>
                        </m:r>
                        <m:sSup>
                          <m:sSupPr>
                            <m:ctrlPr>
                              <a:rPr lang="en-US" altLang="zh-CN" i="1">
                                <a:latin typeface="Cambria Math" panose="02040503050406030204" pitchFamily="18" charset="0"/>
                              </a:rPr>
                            </m:ctrlPr>
                          </m:sSupPr>
                          <m:e>
                            <m:r>
                              <a:rPr lang="en-US" altLang="zh-CN" b="0" i="1" smtClean="0">
                                <a:latin typeface="Cambria Math" panose="02040503050406030204" pitchFamily="18" charset="0"/>
                              </a:rPr>
                              <m:t>𝑏</m:t>
                            </m:r>
                          </m:e>
                          <m:sup>
                            <m:r>
                              <a:rPr lang="en-US" altLang="zh-CN" i="1">
                                <a:latin typeface="Cambria Math" panose="02040503050406030204" pitchFamily="18" charset="0"/>
                              </a:rPr>
                              <m:t>∗</m:t>
                            </m:r>
                          </m:sup>
                        </m:sSup>
                      </m:e>
                    </m:d>
                  </m:oMath>
                </a14:m>
                <a:endParaRPr lang="en-US" altLang="zh-CN" dirty="0" smtClean="0"/>
              </a:p>
              <a:p>
                <a:pPr lvl="2"/>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𝑙</m:t>
                        </m:r>
                      </m:e>
                      <m:sup>
                        <m:r>
                          <a:rPr lang="en-US" altLang="zh-CN" i="1">
                            <a:latin typeface="Cambria Math" panose="02040503050406030204" pitchFamily="18" charset="0"/>
                          </a:rPr>
                          <m:t>∗</m:t>
                        </m:r>
                      </m:sup>
                    </m:sSup>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𝑝</m:t>
                        </m:r>
                      </m:sub>
                    </m:sSub>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0</m:t>
                        </m:r>
                      </m:sub>
                      <m:sup>
                        <m:r>
                          <a:rPr lang="en-US" altLang="zh-CN" b="0" i="1" smtClean="0">
                            <a:latin typeface="Cambria Math" panose="02040503050406030204" pitchFamily="18" charset="0"/>
                          </a:rPr>
                          <m:t>𝑖</m:t>
                        </m:r>
                      </m:sup>
                    </m:sSubSup>
                  </m:oMath>
                </a14:m>
                <a:r>
                  <a:rPr lang="en-US" altLang="zh-CN" dirty="0" smtClean="0">
                    <a:latin typeface="Cambria Math" panose="02040503050406030204" pitchFamily="18" charset="0"/>
                  </a:rPr>
                  <a:t>(</a:t>
                </a:r>
                <a:r>
                  <a:rPr lang="zh-CN" altLang="en-US" dirty="0" smtClean="0">
                    <a:latin typeface="Cambria Math" panose="02040503050406030204" pitchFamily="18" charset="0"/>
                  </a:rPr>
                  <a:t>左边距</a:t>
                </a:r>
                <a:r>
                  <a:rPr lang="en-US" altLang="zh-CN" dirty="0" smtClean="0">
                    <a:latin typeface="Cambria Math" panose="02040503050406030204" pitchFamily="18" charset="0"/>
                  </a:rPr>
                  <a:t>)</a:t>
                </a:r>
              </a:p>
              <a:p>
                <a:pPr lvl="2"/>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𝑟</m:t>
                        </m:r>
                      </m:e>
                      <m:sup>
                        <m:r>
                          <a:rPr lang="en-US" altLang="zh-CN" i="1">
                            <a:latin typeface="Cambria Math" panose="02040503050406030204" pitchFamily="18" charset="0"/>
                          </a:rPr>
                          <m:t>∗</m:t>
                        </m:r>
                      </m:sup>
                    </m:s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𝑖</m:t>
                        </m:r>
                      </m:sup>
                    </m:sSubSup>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𝑝</m:t>
                        </m:r>
                      </m:sub>
                    </m:sSub>
                  </m:oMath>
                </a14:m>
                <a:r>
                  <a:rPr lang="en-US" altLang="zh-CN" dirty="0" smtClean="0">
                    <a:latin typeface="Cambria Math" panose="02040503050406030204" pitchFamily="18" charset="0"/>
                  </a:rPr>
                  <a:t>(</a:t>
                </a:r>
                <a:r>
                  <a:rPr lang="zh-CN" altLang="en-US" dirty="0" smtClean="0">
                    <a:latin typeface="Cambria Math" panose="02040503050406030204" pitchFamily="18" charset="0"/>
                  </a:rPr>
                  <a:t>右边</a:t>
                </a:r>
                <a:r>
                  <a:rPr lang="zh-CN" altLang="en-US" dirty="0">
                    <a:latin typeface="Cambria Math" panose="02040503050406030204" pitchFamily="18" charset="0"/>
                  </a:rPr>
                  <a:t>距</a:t>
                </a:r>
                <a:r>
                  <a:rPr lang="en-US" altLang="zh-CN" dirty="0">
                    <a:latin typeface="Cambria Math" panose="02040503050406030204" pitchFamily="18" charset="0"/>
                  </a:rPr>
                  <a:t>)</a:t>
                </a:r>
              </a:p>
              <a:p>
                <a:pPr lvl="2"/>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𝑡</m:t>
                        </m:r>
                      </m:e>
                      <m:sup>
                        <m:r>
                          <a:rPr lang="en-US" altLang="zh-CN" i="1">
                            <a:latin typeface="Cambria Math" panose="02040503050406030204" pitchFamily="18" charset="0"/>
                          </a:rPr>
                          <m:t>∗</m:t>
                        </m:r>
                      </m:sup>
                    </m:sSup>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𝑝</m:t>
                        </m:r>
                      </m:sub>
                    </m:sSub>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0</m:t>
                        </m:r>
                      </m:sub>
                      <m:sup>
                        <m:r>
                          <a:rPr lang="en-US" altLang="zh-CN" b="0" i="1" smtClean="0">
                            <a:latin typeface="Cambria Math" panose="02040503050406030204" pitchFamily="18" charset="0"/>
                          </a:rPr>
                          <m:t>𝑖</m:t>
                        </m:r>
                      </m:sup>
                    </m:sSubSup>
                  </m:oMath>
                </a14:m>
                <a:r>
                  <a:rPr lang="en-US" altLang="zh-CN" dirty="0">
                    <a:latin typeface="Cambria Math" panose="02040503050406030204" pitchFamily="18" charset="0"/>
                  </a:rPr>
                  <a:t> </a:t>
                </a:r>
                <a:r>
                  <a:rPr lang="en-US" altLang="zh-CN" dirty="0" smtClean="0">
                    <a:latin typeface="Cambria Math" panose="02040503050406030204" pitchFamily="18" charset="0"/>
                  </a:rPr>
                  <a:t>(</a:t>
                </a:r>
                <a:r>
                  <a:rPr lang="zh-CN" altLang="en-US" dirty="0" smtClean="0">
                    <a:latin typeface="Cambria Math" panose="02040503050406030204" pitchFamily="18" charset="0"/>
                  </a:rPr>
                  <a:t>上边</a:t>
                </a:r>
                <a:r>
                  <a:rPr lang="zh-CN" altLang="en-US" dirty="0">
                    <a:latin typeface="Cambria Math" panose="02040503050406030204" pitchFamily="18" charset="0"/>
                  </a:rPr>
                  <a:t>距</a:t>
                </a:r>
                <a:r>
                  <a:rPr lang="en-US" altLang="zh-CN" dirty="0">
                    <a:latin typeface="Cambria Math" panose="02040503050406030204" pitchFamily="18" charset="0"/>
                  </a:rPr>
                  <a:t>)</a:t>
                </a:r>
                <a:endParaRPr lang="en-US" altLang="zh-CN" i="1" dirty="0" smtClean="0">
                  <a:latin typeface="Cambria Math" panose="02040503050406030204" pitchFamily="18" charset="0"/>
                </a:endParaRPr>
              </a:p>
              <a:p>
                <a:pPr lvl="2"/>
                <a14:m>
                  <m:oMath xmlns:m="http://schemas.openxmlformats.org/officeDocument/2006/math">
                    <m:sSup>
                      <m:sSupPr>
                        <m:ctrlPr>
                          <a:rPr lang="en-US" altLang="zh-CN" i="1">
                            <a:latin typeface="Cambria Math" panose="02040503050406030204" pitchFamily="18" charset="0"/>
                          </a:rPr>
                        </m:ctrlPr>
                      </m:sSupPr>
                      <m:e>
                        <m:r>
                          <a:rPr lang="en-US" altLang="zh-CN" i="1">
                            <a:latin typeface="Cambria Math" panose="02040503050406030204" pitchFamily="18" charset="0"/>
                          </a:rPr>
                          <m:t>𝑏</m:t>
                        </m:r>
                      </m:e>
                      <m:sup>
                        <m:r>
                          <a:rPr lang="en-US" altLang="zh-CN" i="1">
                            <a:latin typeface="Cambria Math" panose="02040503050406030204" pitchFamily="18" charset="0"/>
                          </a:rPr>
                          <m:t>∗</m:t>
                        </m:r>
                      </m:sup>
                    </m:sSup>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𝑖</m:t>
                        </m:r>
                      </m:sup>
                    </m:sSubSup>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𝑝</m:t>
                        </m:r>
                      </m:sub>
                    </m:sSub>
                  </m:oMath>
                </a14:m>
                <a:r>
                  <a:rPr lang="en-US" altLang="zh-CN" dirty="0">
                    <a:latin typeface="Cambria Math" panose="02040503050406030204" pitchFamily="18" charset="0"/>
                  </a:rPr>
                  <a:t> </a:t>
                </a:r>
                <a:r>
                  <a:rPr lang="en-US" altLang="zh-CN" dirty="0" smtClean="0">
                    <a:latin typeface="Cambria Math" panose="02040503050406030204" pitchFamily="18" charset="0"/>
                  </a:rPr>
                  <a:t>(</a:t>
                </a:r>
                <a:r>
                  <a:rPr lang="zh-CN" altLang="en-US" dirty="0" smtClean="0">
                    <a:latin typeface="Cambria Math" panose="02040503050406030204" pitchFamily="18" charset="0"/>
                  </a:rPr>
                  <a:t>下边</a:t>
                </a:r>
                <a:r>
                  <a:rPr lang="zh-CN" altLang="en-US" dirty="0">
                    <a:latin typeface="Cambria Math" panose="02040503050406030204" pitchFamily="18" charset="0"/>
                  </a:rPr>
                  <a:t>距</a:t>
                </a:r>
                <a:r>
                  <a:rPr lang="en-US" altLang="zh-CN" dirty="0">
                    <a:latin typeface="Cambria Math" panose="02040503050406030204" pitchFamily="18" charset="0"/>
                  </a:rPr>
                  <a:t>)</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b="-608"/>
                </a:stretch>
              </a:blipFill>
            </p:spPr>
            <p:txBody>
              <a:bodyPr/>
              <a:lstStyle/>
              <a:p>
                <a:r>
                  <a:rPr lang="zh-CN" altLang="en-US">
                    <a:noFill/>
                  </a:rPr>
                  <a:t> </a:t>
                </a:r>
              </a:p>
            </p:txBody>
          </p:sp>
        </mc:Fallback>
      </mc:AlternateContent>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84861" y="1130299"/>
            <a:ext cx="3035627" cy="5011947"/>
          </a:xfrm>
          <a:prstGeom prst="rect">
            <a:avLst/>
          </a:prstGeom>
        </p:spPr>
      </p:pic>
    </p:spTree>
    <p:extLst>
      <p:ext uri="{BB962C8B-B14F-4D97-AF65-F5344CB8AC3E}">
        <p14:creationId xmlns:p14="http://schemas.microsoft.com/office/powerpoint/2010/main" val="309627835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FCOS</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pPr marL="342900" indent="-342900">
                  <a:buFont typeface="+mj-lt"/>
                  <a:buAutoNum type="arabicPeriod"/>
                </a:pPr>
                <a:r>
                  <a:rPr lang="zh-CN" altLang="en-US" dirty="0" smtClean="0"/>
                  <a:t>基于全卷积网络的一阶段检测算法</a:t>
                </a:r>
                <a:endParaRPr lang="en-US" altLang="zh-CN" dirty="0" smtClean="0"/>
              </a:p>
              <a:p>
                <a:pPr lvl="1"/>
                <a:r>
                  <a:rPr lang="zh-CN" altLang="en-US" dirty="0" smtClean="0"/>
                  <a:t>网络的输出至少包含两个分支：</a:t>
                </a:r>
                <a:endParaRPr lang="en-US" altLang="zh-CN" dirty="0" smtClean="0"/>
              </a:p>
              <a:p>
                <a:pPr lvl="2"/>
                <a:r>
                  <a:rPr lang="zh-CN" altLang="en-US" dirty="0" smtClean="0"/>
                  <a:t>用于分类的概率向量</a:t>
                </a:r>
                <a:r>
                  <a:rPr lang="en-US" altLang="zh-CN" dirty="0" smtClean="0"/>
                  <a:t>p</a:t>
                </a:r>
                <a:r>
                  <a:rPr lang="zh-CN" altLang="en-US" dirty="0" smtClean="0"/>
                  <a:t>，维度等于待检测类别数</a:t>
                </a:r>
                <a:r>
                  <a:rPr lang="en-US" altLang="zh-CN" dirty="0" smtClean="0"/>
                  <a:t>C</a:t>
                </a:r>
              </a:p>
              <a:p>
                <a:pPr lvl="2"/>
                <a:r>
                  <a:rPr lang="zh-CN" altLang="en-US" dirty="0" smtClean="0"/>
                  <a:t>用于表示位置的</a:t>
                </a:r>
                <a:r>
                  <a:rPr lang="en-US" altLang="zh-CN" dirty="0" smtClean="0"/>
                  <a:t>4</a:t>
                </a:r>
                <a:r>
                  <a:rPr lang="zh-CN" altLang="en-US" dirty="0" smtClean="0"/>
                  <a:t>维向量</a:t>
                </a:r>
                <a:r>
                  <a:rPr lang="en-US" altLang="zh-CN" dirty="0" smtClean="0"/>
                  <a:t>T</a:t>
                </a:r>
                <a:endParaRPr lang="en-US" altLang="zh-CN" dirty="0"/>
              </a:p>
              <a:p>
                <a:pPr lvl="1"/>
                <a:r>
                  <a:rPr lang="zh-CN" altLang="en-US" dirty="0" smtClean="0"/>
                  <a:t>损失函数：</a:t>
                </a:r>
                <a:endParaRPr lang="en-US" altLang="zh-CN" dirty="0" smtClean="0"/>
              </a:p>
              <a:p>
                <a:pPr lvl="2"/>
                <a14:m>
                  <m:oMath xmlns:m="http://schemas.openxmlformats.org/officeDocument/2006/math">
                    <m:r>
                      <a:rPr lang="en-US" altLang="zh-CN" sz="1800" b="0" i="1" smtClean="0">
                        <a:latin typeface="Cambria Math" panose="02040503050406030204" pitchFamily="18" charset="0"/>
                      </a:rPr>
                      <m:t>𝐿</m:t>
                    </m:r>
                    <m:d>
                      <m:dPr>
                        <m:ctrlPr>
                          <a:rPr lang="en-US" altLang="zh-CN" sz="1800" b="0" i="1" smtClean="0">
                            <a:latin typeface="Cambria Math" panose="02040503050406030204" pitchFamily="18" charset="0"/>
                          </a:rPr>
                        </m:ctrlPr>
                      </m:dPr>
                      <m:e>
                        <m:d>
                          <m:dPr>
                            <m:begChr m:val="{"/>
                            <m:endChr m:val="}"/>
                            <m:ctrlPr>
                              <a:rPr lang="en-US" altLang="zh-CN" sz="1800" b="0" i="1" smtClean="0">
                                <a:latin typeface="Cambria Math" panose="02040503050406030204" pitchFamily="18" charset="0"/>
                              </a:rPr>
                            </m:ctrlPr>
                          </m:dPr>
                          <m:e>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𝑝</m:t>
                                </m:r>
                              </m:e>
                              <m:sub>
                                <m:r>
                                  <a:rPr lang="en-US" altLang="zh-CN" sz="1800" b="0" i="1" smtClean="0">
                                    <a:latin typeface="Cambria Math" panose="02040503050406030204" pitchFamily="18" charset="0"/>
                                  </a:rPr>
                                  <m:t>𝑥</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𝑦</m:t>
                                </m:r>
                              </m:sub>
                            </m:sSub>
                          </m:e>
                        </m:d>
                        <m:r>
                          <a:rPr lang="en-US" altLang="zh-CN" sz="1800" b="0" i="1" smtClean="0">
                            <a:latin typeface="Cambria Math" panose="02040503050406030204" pitchFamily="18" charset="0"/>
                          </a:rPr>
                          <m:t>,</m:t>
                        </m:r>
                        <m:d>
                          <m:dPr>
                            <m:begChr m:val="{"/>
                            <m:endChr m:val="}"/>
                            <m:ctrlPr>
                              <a:rPr lang="en-US" altLang="zh-CN" sz="1800" b="0" i="1" smtClean="0">
                                <a:latin typeface="Cambria Math" panose="02040503050406030204" pitchFamily="18" charset="0"/>
                              </a:rPr>
                            </m:ctrlPr>
                          </m:dPr>
                          <m:e>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𝑡</m:t>
                                </m:r>
                              </m:e>
                              <m:sub>
                                <m:r>
                                  <a:rPr lang="en-US" altLang="zh-CN" sz="1800" b="0" i="1" smtClean="0">
                                    <a:latin typeface="Cambria Math" panose="02040503050406030204" pitchFamily="18" charset="0"/>
                                  </a:rPr>
                                  <m:t>𝑥</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𝑦</m:t>
                                </m:r>
                              </m:sub>
                            </m:sSub>
                          </m:e>
                        </m:d>
                        <m:r>
                          <a:rPr lang="en-US" altLang="zh-CN" sz="1800" b="0" i="1" smtClean="0">
                            <a:latin typeface="Cambria Math" panose="02040503050406030204" pitchFamily="18" charset="0"/>
                          </a:rPr>
                          <m:t>,</m:t>
                        </m:r>
                      </m:e>
                    </m:d>
                    <m:r>
                      <a:rPr lang="en-US" altLang="zh-CN" sz="1800" b="0" i="1" smtClean="0">
                        <a:latin typeface="Cambria Math" panose="02040503050406030204" pitchFamily="18" charset="0"/>
                      </a:rPr>
                      <m:t>=</m:t>
                    </m:r>
                    <m:f>
                      <m:fPr>
                        <m:ctrlPr>
                          <a:rPr lang="en-US" altLang="zh-CN" sz="1800" b="0" i="1" smtClean="0">
                            <a:latin typeface="Cambria Math" panose="02040503050406030204" pitchFamily="18" charset="0"/>
                          </a:rPr>
                        </m:ctrlPr>
                      </m:fPr>
                      <m:num>
                        <m:r>
                          <a:rPr lang="en-US" altLang="zh-CN" sz="1800" b="0" i="1" smtClean="0">
                            <a:latin typeface="Cambria Math" panose="02040503050406030204" pitchFamily="18" charset="0"/>
                          </a:rPr>
                          <m:t>1</m:t>
                        </m:r>
                      </m:num>
                      <m:den>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𝑁</m:t>
                            </m:r>
                          </m:e>
                          <m:sub>
                            <m:r>
                              <a:rPr lang="en-US" altLang="zh-CN" sz="1800" b="0" i="1" smtClean="0">
                                <a:latin typeface="Cambria Math" panose="02040503050406030204" pitchFamily="18" charset="0"/>
                              </a:rPr>
                              <m:t>𝑝𝑜𝑠</m:t>
                            </m:r>
                          </m:sub>
                        </m:sSub>
                      </m:den>
                    </m:f>
                    <m:nary>
                      <m:naryPr>
                        <m:chr m:val="∑"/>
                        <m:supHide m:val="on"/>
                        <m:ctrlPr>
                          <a:rPr lang="en-US" altLang="zh-CN" sz="1800" b="0" i="1" smtClean="0">
                            <a:latin typeface="Cambria Math" panose="02040503050406030204" pitchFamily="18" charset="0"/>
                          </a:rPr>
                        </m:ctrlPr>
                      </m:naryPr>
                      <m:sub>
                        <m:r>
                          <m:rPr>
                            <m:brk m:alnAt="7"/>
                          </m:rPr>
                          <a:rPr lang="en-US" altLang="zh-CN" sz="1800" b="0" i="1" smtClean="0">
                            <a:latin typeface="Cambria Math" panose="02040503050406030204" pitchFamily="18" charset="0"/>
                          </a:rPr>
                          <m:t>𝑥</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𝑦</m:t>
                        </m:r>
                      </m:sub>
                      <m:sup/>
                      <m:e>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𝐿</m:t>
                            </m:r>
                          </m:e>
                          <m:sub>
                            <m:r>
                              <a:rPr lang="en-US" altLang="zh-CN" sz="1800" b="0" i="1" smtClean="0">
                                <a:latin typeface="Cambria Math" panose="02040503050406030204" pitchFamily="18" charset="0"/>
                              </a:rPr>
                              <m:t>𝑐𝑙𝑠</m:t>
                            </m:r>
                          </m:sub>
                        </m:sSub>
                        <m:d>
                          <m:dPr>
                            <m:ctrlPr>
                              <a:rPr lang="en-US" altLang="zh-CN" sz="1800" b="0" i="1" smtClean="0">
                                <a:latin typeface="Cambria Math" panose="02040503050406030204" pitchFamily="18" charset="0"/>
                              </a:rPr>
                            </m:ctrlPr>
                          </m:dPr>
                          <m:e>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𝑝</m:t>
                                </m:r>
                              </m:e>
                              <m:sub>
                                <m:r>
                                  <a:rPr lang="en-US" altLang="zh-CN" sz="1800" b="0" i="1" smtClean="0">
                                    <a:latin typeface="Cambria Math" panose="02040503050406030204" pitchFamily="18" charset="0"/>
                                  </a:rPr>
                                  <m:t>𝑥</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𝑦</m:t>
                                </m:r>
                              </m:sub>
                            </m:sSub>
                            <m:r>
                              <a:rPr lang="en-US" altLang="zh-CN" sz="1800" b="0" i="1" smtClean="0">
                                <a:latin typeface="Cambria Math" panose="02040503050406030204" pitchFamily="18" charset="0"/>
                              </a:rPr>
                              <m:t>,</m:t>
                            </m:r>
                            <m:sSubSup>
                              <m:sSubSupPr>
                                <m:ctrlPr>
                                  <a:rPr lang="en-US" altLang="zh-CN" sz="1800" b="0" i="1" smtClean="0">
                                    <a:latin typeface="Cambria Math" panose="02040503050406030204" pitchFamily="18" charset="0"/>
                                  </a:rPr>
                                </m:ctrlPr>
                              </m:sSubSupPr>
                              <m:e>
                                <m:r>
                                  <a:rPr lang="en-US" altLang="zh-CN" sz="1800" b="0" i="1" smtClean="0">
                                    <a:latin typeface="Cambria Math" panose="02040503050406030204" pitchFamily="18" charset="0"/>
                                  </a:rPr>
                                  <m:t>𝑐</m:t>
                                </m:r>
                              </m:e>
                              <m:sub>
                                <m:r>
                                  <a:rPr lang="en-US" altLang="zh-CN" sz="1800" b="0" i="1" smtClean="0">
                                    <a:latin typeface="Cambria Math" panose="02040503050406030204" pitchFamily="18" charset="0"/>
                                  </a:rPr>
                                  <m:t>𝑥</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𝑦</m:t>
                                </m:r>
                              </m:sub>
                              <m:sup>
                                <m:r>
                                  <a:rPr lang="en-US" altLang="zh-CN" sz="1800" b="0" i="1" smtClean="0">
                                    <a:latin typeface="Cambria Math" panose="02040503050406030204" pitchFamily="18" charset="0"/>
                                  </a:rPr>
                                  <m:t>∗</m:t>
                                </m:r>
                              </m:sup>
                            </m:sSubSup>
                          </m:e>
                        </m:d>
                      </m:e>
                    </m:nary>
                    <m:r>
                      <a:rPr lang="en-US" altLang="zh-CN" sz="1800" b="0" i="1" smtClean="0">
                        <a:latin typeface="Cambria Math" panose="02040503050406030204" pitchFamily="18" charset="0"/>
                      </a:rPr>
                      <m:t>+</m:t>
                    </m:r>
                    <m:f>
                      <m:fPr>
                        <m:ctrlPr>
                          <a:rPr lang="en-US" altLang="zh-CN" sz="1800" i="1">
                            <a:latin typeface="Cambria Math" panose="02040503050406030204" pitchFamily="18" charset="0"/>
                          </a:rPr>
                        </m:ctrlPr>
                      </m:fPr>
                      <m:num>
                        <m:r>
                          <m:rPr>
                            <m:nor/>
                          </m:rPr>
                          <a:rPr lang="el-GR" altLang="zh-CN" sz="1800"/>
                          <m:t>λ</m:t>
                        </m:r>
                      </m:num>
                      <m:den>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𝑁</m:t>
                            </m:r>
                          </m:e>
                          <m:sub>
                            <m:r>
                              <a:rPr lang="en-US" altLang="zh-CN" sz="1800" b="0" i="1" smtClean="0">
                                <a:latin typeface="Cambria Math" panose="02040503050406030204" pitchFamily="18" charset="0"/>
                              </a:rPr>
                              <m:t>𝑝𝑜𝑠</m:t>
                            </m:r>
                          </m:sub>
                        </m:sSub>
                      </m:den>
                    </m:f>
                    <m:nary>
                      <m:naryPr>
                        <m:chr m:val="∑"/>
                        <m:supHide m:val="on"/>
                        <m:ctrlPr>
                          <a:rPr lang="en-US" altLang="zh-CN" sz="1800" i="1" smtClean="0">
                            <a:latin typeface="Cambria Math" panose="02040503050406030204" pitchFamily="18" charset="0"/>
                          </a:rPr>
                        </m:ctrlPr>
                      </m:naryPr>
                      <m:sub>
                        <m:r>
                          <m:rPr>
                            <m:brk m:alnAt="7"/>
                          </m:rPr>
                          <a:rPr lang="en-US" altLang="zh-CN" sz="1800" b="0" i="1" smtClean="0">
                            <a:latin typeface="Cambria Math" panose="02040503050406030204" pitchFamily="18" charset="0"/>
                          </a:rPr>
                          <m:t>𝑥</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𝑦</m:t>
                        </m:r>
                      </m:sub>
                      <m:sup/>
                      <m:e>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𝐼</m:t>
                            </m:r>
                          </m:e>
                          <m:sub>
                            <m:d>
                              <m:dPr>
                                <m:begChr m:val="{"/>
                                <m:endChr m:val="}"/>
                                <m:ctrlPr>
                                  <a:rPr lang="en-US" altLang="zh-CN" sz="1800" i="1" smtClean="0">
                                    <a:latin typeface="Cambria Math" panose="02040503050406030204" pitchFamily="18" charset="0"/>
                                  </a:rPr>
                                </m:ctrlPr>
                              </m:dPr>
                              <m:e>
                                <m:sSubSup>
                                  <m:sSubSupPr>
                                    <m:ctrlPr>
                                      <a:rPr lang="en-US" altLang="zh-CN" sz="1800" i="1" smtClean="0">
                                        <a:latin typeface="Cambria Math" panose="02040503050406030204" pitchFamily="18" charset="0"/>
                                      </a:rPr>
                                    </m:ctrlPr>
                                  </m:sSubSupPr>
                                  <m:e>
                                    <m:r>
                                      <a:rPr lang="en-US" altLang="zh-CN" sz="1800" b="0" i="1" smtClean="0">
                                        <a:latin typeface="Cambria Math" panose="02040503050406030204" pitchFamily="18" charset="0"/>
                                      </a:rPr>
                                      <m:t>𝑐</m:t>
                                    </m:r>
                                  </m:e>
                                  <m:sub>
                                    <m:r>
                                      <a:rPr lang="en-US" altLang="zh-CN" sz="1800" b="0" i="1" smtClean="0">
                                        <a:latin typeface="Cambria Math" panose="02040503050406030204" pitchFamily="18" charset="0"/>
                                      </a:rPr>
                                      <m:t>𝑥</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𝑦</m:t>
                                    </m:r>
                                  </m:sub>
                                  <m:sup>
                                    <m:r>
                                      <a:rPr lang="en-US" altLang="zh-CN" sz="1800" b="0" i="1" smtClean="0">
                                        <a:latin typeface="Cambria Math" panose="02040503050406030204" pitchFamily="18" charset="0"/>
                                      </a:rPr>
                                      <m:t>∗</m:t>
                                    </m:r>
                                  </m:sup>
                                </m:sSubSup>
                                <m:r>
                                  <a:rPr lang="en-US" altLang="zh-CN" sz="1800" i="1" smtClean="0">
                                    <a:latin typeface="Cambria Math" panose="02040503050406030204" pitchFamily="18" charset="0"/>
                                    <a:ea typeface="Cambria Math" panose="02040503050406030204" pitchFamily="18" charset="0"/>
                                  </a:rPr>
                                  <m:t>&gt;</m:t>
                                </m:r>
                                <m:r>
                                  <a:rPr lang="en-US" altLang="zh-CN" sz="1800" b="0" i="1" smtClean="0">
                                    <a:latin typeface="Cambria Math" panose="02040503050406030204" pitchFamily="18" charset="0"/>
                                    <a:ea typeface="Cambria Math" panose="02040503050406030204" pitchFamily="18" charset="0"/>
                                  </a:rPr>
                                  <m:t>0</m:t>
                                </m:r>
                              </m:e>
                            </m:d>
                          </m:sub>
                        </m:sSub>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𝐿</m:t>
                            </m:r>
                          </m:e>
                          <m:sub>
                            <m:r>
                              <a:rPr lang="en-US" altLang="zh-CN" sz="1800" b="0" i="1" smtClean="0">
                                <a:latin typeface="Cambria Math" panose="02040503050406030204" pitchFamily="18" charset="0"/>
                              </a:rPr>
                              <m:t>𝑟𝑒𝑔</m:t>
                            </m:r>
                          </m:sub>
                        </m:sSub>
                        <m:d>
                          <m:dPr>
                            <m:ctrlPr>
                              <a:rPr lang="en-US" altLang="zh-CN" sz="1800" i="1" smtClean="0">
                                <a:latin typeface="Cambria Math" panose="02040503050406030204" pitchFamily="18" charset="0"/>
                              </a:rPr>
                            </m:ctrlPr>
                          </m:dPr>
                          <m:e>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𝑡</m:t>
                                </m:r>
                              </m:e>
                              <m:sub>
                                <m:r>
                                  <a:rPr lang="en-US" altLang="zh-CN" sz="1800" b="0" i="1" smtClean="0">
                                    <a:latin typeface="Cambria Math" panose="02040503050406030204" pitchFamily="18" charset="0"/>
                                  </a:rPr>
                                  <m:t>𝑥</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𝑦</m:t>
                                </m:r>
                              </m:sub>
                            </m:sSub>
                            <m:r>
                              <a:rPr lang="en-US" altLang="zh-CN" sz="1800" b="0" i="1" smtClean="0">
                                <a:latin typeface="Cambria Math" panose="02040503050406030204" pitchFamily="18" charset="0"/>
                              </a:rPr>
                              <m:t>,</m:t>
                            </m:r>
                            <m:sSubSup>
                              <m:sSubSupPr>
                                <m:ctrlPr>
                                  <a:rPr lang="en-US" altLang="zh-CN" sz="1800" b="0" i="1" smtClean="0">
                                    <a:latin typeface="Cambria Math" panose="02040503050406030204" pitchFamily="18" charset="0"/>
                                  </a:rPr>
                                </m:ctrlPr>
                              </m:sSubSupPr>
                              <m:e>
                                <m:r>
                                  <a:rPr lang="en-US" altLang="zh-CN" sz="1800" b="0" i="1" smtClean="0">
                                    <a:latin typeface="Cambria Math" panose="02040503050406030204" pitchFamily="18" charset="0"/>
                                  </a:rPr>
                                  <m:t>𝑡</m:t>
                                </m:r>
                              </m:e>
                              <m:sub>
                                <m:r>
                                  <a:rPr lang="en-US" altLang="zh-CN" sz="1800" b="0" i="1" smtClean="0">
                                    <a:latin typeface="Cambria Math" panose="02040503050406030204" pitchFamily="18" charset="0"/>
                                  </a:rPr>
                                  <m:t>𝑥</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𝑦</m:t>
                                </m:r>
                              </m:sub>
                              <m:sup>
                                <m:r>
                                  <a:rPr lang="en-US" altLang="zh-CN" sz="1800" b="0" i="1" smtClean="0">
                                    <a:latin typeface="Cambria Math" panose="02040503050406030204" pitchFamily="18" charset="0"/>
                                  </a:rPr>
                                  <m:t>∗</m:t>
                                </m:r>
                              </m:sup>
                            </m:sSubSup>
                          </m:e>
                        </m:d>
                      </m:e>
                    </m:nary>
                  </m:oMath>
                </a14:m>
                <a:endParaRPr lang="en-US" altLang="zh-CN" sz="1800" dirty="0" smtClean="0"/>
              </a:p>
              <a:p>
                <a:pPr lvl="2"/>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𝑐𝑙𝑠</m:t>
                        </m:r>
                      </m:sub>
                    </m:sSub>
                  </m:oMath>
                </a14:m>
                <a:r>
                  <a:rPr lang="zh-CN" altLang="en-US" dirty="0" smtClean="0"/>
                  <a:t>为焦点损失函数，</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𝐿</m:t>
                        </m:r>
                      </m:e>
                      <m:sub>
                        <m:r>
                          <a:rPr lang="en-US" altLang="zh-CN" i="1">
                            <a:latin typeface="Cambria Math" panose="02040503050406030204" pitchFamily="18" charset="0"/>
                          </a:rPr>
                          <m:t>𝑟𝑒𝑔</m:t>
                        </m:r>
                      </m:sub>
                    </m:sSub>
                  </m:oMath>
                </a14:m>
                <a:r>
                  <a:rPr lang="zh-CN" altLang="en-US" dirty="0" smtClean="0"/>
                  <a:t>为交并比损失函数</a:t>
                </a:r>
                <a:r>
                  <a:rPr lang="en-US" altLang="zh-CN" dirty="0" smtClean="0"/>
                  <a:t>(</a:t>
                </a:r>
                <a:r>
                  <a:rPr lang="en-US" altLang="zh-CN" dirty="0" err="1" smtClean="0"/>
                  <a:t>IoU</a:t>
                </a:r>
                <a:r>
                  <a:rPr lang="en-US" altLang="zh-CN" dirty="0" smtClean="0"/>
                  <a:t> loss)</a:t>
                </a:r>
              </a:p>
              <a:p>
                <a:pPr lvl="2"/>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𝐿</m:t>
                        </m:r>
                      </m:e>
                      <m:sub>
                        <m:r>
                          <a:rPr lang="en-US" altLang="zh-CN" sz="1800" b="0" i="1" smtClean="0">
                            <a:latin typeface="Cambria Math" panose="02040503050406030204" pitchFamily="18" charset="0"/>
                          </a:rPr>
                          <m:t>𝑟𝑒𝑔</m:t>
                        </m:r>
                      </m:sub>
                    </m:sSub>
                    <m:r>
                      <a:rPr lang="en-US" altLang="zh-CN" sz="1800" b="0" i="1" smtClean="0">
                        <a:latin typeface="Cambria Math" panose="02040503050406030204" pitchFamily="18" charset="0"/>
                      </a:rPr>
                      <m:t>=−</m:t>
                    </m:r>
                    <m:func>
                      <m:funcPr>
                        <m:ctrlPr>
                          <a:rPr lang="en-US" altLang="zh-CN" sz="1800" b="0" i="1" smtClean="0">
                            <a:latin typeface="Cambria Math" panose="02040503050406030204" pitchFamily="18" charset="0"/>
                          </a:rPr>
                        </m:ctrlPr>
                      </m:funcPr>
                      <m:fName>
                        <m:r>
                          <m:rPr>
                            <m:sty m:val="p"/>
                          </m:rPr>
                          <a:rPr lang="en-US" altLang="zh-CN" sz="1800" b="0" i="0" smtClean="0">
                            <a:latin typeface="Cambria Math" panose="02040503050406030204" pitchFamily="18" charset="0"/>
                          </a:rPr>
                          <m:t>ln</m:t>
                        </m:r>
                      </m:fName>
                      <m:e>
                        <m:d>
                          <m:dPr>
                            <m:ctrlPr>
                              <a:rPr lang="en-US" altLang="zh-CN" sz="1800" b="0" i="1" smtClean="0">
                                <a:latin typeface="Cambria Math" panose="02040503050406030204" pitchFamily="18" charset="0"/>
                              </a:rPr>
                            </m:ctrlPr>
                          </m:dPr>
                          <m:e>
                            <m:f>
                              <m:fPr>
                                <m:ctrlPr>
                                  <a:rPr lang="en-US" altLang="zh-CN" sz="1800" b="0" i="1" smtClean="0">
                                    <a:latin typeface="Cambria Math" panose="02040503050406030204" pitchFamily="18" charset="0"/>
                                  </a:rPr>
                                </m:ctrlPr>
                              </m:fPr>
                              <m:num>
                                <m:d>
                                  <m:dPr>
                                    <m:begChr m:val="{"/>
                                    <m:endChr m:val="}"/>
                                    <m:ctrlPr>
                                      <a:rPr lang="en-US" altLang="zh-CN" sz="1800" b="0" i="1" smtClean="0">
                                        <a:latin typeface="Cambria Math" panose="02040503050406030204" pitchFamily="18" charset="0"/>
                                      </a:rPr>
                                    </m:ctrlPr>
                                  </m:dPr>
                                  <m:e>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𝑡</m:t>
                                        </m:r>
                                      </m:e>
                                      <m:sub>
                                        <m:r>
                                          <a:rPr lang="en-US" altLang="zh-CN" sz="1800" b="0" i="1" smtClean="0">
                                            <a:latin typeface="Cambria Math" panose="02040503050406030204" pitchFamily="18" charset="0"/>
                                          </a:rPr>
                                          <m:t>𝑥</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𝑦</m:t>
                                        </m:r>
                                      </m:sub>
                                    </m:sSub>
                                  </m:e>
                                </m:d>
                                <m:r>
                                  <a:rPr lang="en-US" altLang="zh-CN" sz="1800" b="0" i="1" smtClean="0">
                                    <a:latin typeface="Cambria Math" panose="02040503050406030204" pitchFamily="18" charset="0"/>
                                    <a:ea typeface="Cambria Math" panose="02040503050406030204" pitchFamily="18" charset="0"/>
                                  </a:rPr>
                                  <m:t>∩</m:t>
                                </m:r>
                                <m:d>
                                  <m:dPr>
                                    <m:begChr m:val="{"/>
                                    <m:endChr m:val="}"/>
                                    <m:ctrlPr>
                                      <a:rPr lang="en-US" altLang="zh-CN" sz="1800" b="0" i="1" smtClean="0">
                                        <a:latin typeface="Cambria Math" panose="02040503050406030204" pitchFamily="18" charset="0"/>
                                        <a:ea typeface="Cambria Math" panose="02040503050406030204" pitchFamily="18" charset="0"/>
                                      </a:rPr>
                                    </m:ctrlPr>
                                  </m:dPr>
                                  <m:e>
                                    <m:sSubSup>
                                      <m:sSubSupPr>
                                        <m:ctrlPr>
                                          <a:rPr lang="en-US" altLang="zh-CN" sz="1800" b="0" i="1" smtClean="0">
                                            <a:latin typeface="Cambria Math" panose="02040503050406030204" pitchFamily="18" charset="0"/>
                                            <a:ea typeface="Cambria Math" panose="02040503050406030204" pitchFamily="18" charset="0"/>
                                          </a:rPr>
                                        </m:ctrlPr>
                                      </m:sSubSupPr>
                                      <m:e>
                                        <m:r>
                                          <a:rPr lang="en-US" altLang="zh-CN" sz="1800" b="0" i="1" smtClean="0">
                                            <a:latin typeface="Cambria Math" panose="02040503050406030204" pitchFamily="18" charset="0"/>
                                            <a:ea typeface="Cambria Math" panose="02040503050406030204" pitchFamily="18" charset="0"/>
                                          </a:rPr>
                                          <m:t>𝑡</m:t>
                                        </m:r>
                                      </m:e>
                                      <m:sub>
                                        <m:r>
                                          <a:rPr lang="en-US" altLang="zh-CN" sz="1800" b="0" i="1" smtClean="0">
                                            <a:latin typeface="Cambria Math" panose="02040503050406030204" pitchFamily="18" charset="0"/>
                                            <a:ea typeface="Cambria Math" panose="02040503050406030204" pitchFamily="18" charset="0"/>
                                          </a:rPr>
                                          <m:t>𝑥</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𝑦</m:t>
                                        </m:r>
                                      </m:sub>
                                      <m:sup>
                                        <m:r>
                                          <a:rPr lang="en-US" altLang="zh-CN" sz="1800" b="0" i="1" smtClean="0">
                                            <a:latin typeface="Cambria Math" panose="02040503050406030204" pitchFamily="18" charset="0"/>
                                            <a:ea typeface="Cambria Math" panose="02040503050406030204" pitchFamily="18" charset="0"/>
                                          </a:rPr>
                                          <m:t>∗</m:t>
                                        </m:r>
                                      </m:sup>
                                    </m:sSubSup>
                                  </m:e>
                                </m:d>
                              </m:num>
                              <m:den>
                                <m:d>
                                  <m:dPr>
                                    <m:begChr m:val="{"/>
                                    <m:endChr m:val="}"/>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𝑡</m:t>
                                        </m:r>
                                      </m:e>
                                      <m:sub>
                                        <m:r>
                                          <a:rPr lang="en-US" altLang="zh-CN" sz="1800" i="1">
                                            <a:latin typeface="Cambria Math" panose="02040503050406030204" pitchFamily="18" charset="0"/>
                                          </a:rPr>
                                          <m:t>𝑥</m:t>
                                        </m:r>
                                        <m:r>
                                          <a:rPr lang="en-US" altLang="zh-CN" sz="1800" i="1">
                                            <a:latin typeface="Cambria Math" panose="02040503050406030204" pitchFamily="18" charset="0"/>
                                          </a:rPr>
                                          <m:t>,</m:t>
                                        </m:r>
                                        <m:r>
                                          <a:rPr lang="en-US" altLang="zh-CN" sz="1800" i="1">
                                            <a:latin typeface="Cambria Math" panose="02040503050406030204" pitchFamily="18" charset="0"/>
                                          </a:rPr>
                                          <m:t>𝑦</m:t>
                                        </m:r>
                                      </m:sub>
                                    </m:sSub>
                                  </m:e>
                                </m:d>
                                <m:r>
                                  <a:rPr lang="en-US" altLang="zh-CN" sz="1800" i="1" smtClean="0">
                                    <a:latin typeface="Cambria Math" panose="02040503050406030204" pitchFamily="18" charset="0"/>
                                    <a:ea typeface="Cambria Math" panose="02040503050406030204" pitchFamily="18" charset="0"/>
                                  </a:rPr>
                                  <m:t>∪</m:t>
                                </m:r>
                                <m:d>
                                  <m:dPr>
                                    <m:begChr m:val="{"/>
                                    <m:endChr m:val="}"/>
                                    <m:ctrlPr>
                                      <a:rPr lang="en-US" altLang="zh-CN" sz="1800" i="1">
                                        <a:latin typeface="Cambria Math" panose="02040503050406030204" pitchFamily="18" charset="0"/>
                                        <a:ea typeface="Cambria Math" panose="02040503050406030204" pitchFamily="18" charset="0"/>
                                      </a:rPr>
                                    </m:ctrlPr>
                                  </m:dPr>
                                  <m:e>
                                    <m:sSubSup>
                                      <m:sSubSupPr>
                                        <m:ctrlPr>
                                          <a:rPr lang="en-US" altLang="zh-CN" sz="1800" i="1">
                                            <a:latin typeface="Cambria Math" panose="02040503050406030204" pitchFamily="18" charset="0"/>
                                            <a:ea typeface="Cambria Math" panose="02040503050406030204" pitchFamily="18" charset="0"/>
                                          </a:rPr>
                                        </m:ctrlPr>
                                      </m:sSubSupPr>
                                      <m:e>
                                        <m:r>
                                          <a:rPr lang="en-US" altLang="zh-CN" sz="1800" i="1">
                                            <a:latin typeface="Cambria Math" panose="02040503050406030204" pitchFamily="18" charset="0"/>
                                            <a:ea typeface="Cambria Math" panose="02040503050406030204" pitchFamily="18" charset="0"/>
                                          </a:rPr>
                                          <m:t>𝑡</m:t>
                                        </m:r>
                                      </m:e>
                                      <m:sub>
                                        <m:r>
                                          <a:rPr lang="en-US" altLang="zh-CN" sz="1800" i="1">
                                            <a:latin typeface="Cambria Math" panose="02040503050406030204" pitchFamily="18" charset="0"/>
                                            <a:ea typeface="Cambria Math" panose="02040503050406030204" pitchFamily="18" charset="0"/>
                                          </a:rPr>
                                          <m:t>𝑥</m:t>
                                        </m:r>
                                        <m:r>
                                          <a:rPr lang="en-US" altLang="zh-CN" sz="1800" i="1">
                                            <a:latin typeface="Cambria Math" panose="02040503050406030204" pitchFamily="18" charset="0"/>
                                            <a:ea typeface="Cambria Math" panose="02040503050406030204" pitchFamily="18" charset="0"/>
                                          </a:rPr>
                                          <m:t>,</m:t>
                                        </m:r>
                                        <m:r>
                                          <a:rPr lang="en-US" altLang="zh-CN" sz="1800" i="1">
                                            <a:latin typeface="Cambria Math" panose="02040503050406030204" pitchFamily="18" charset="0"/>
                                            <a:ea typeface="Cambria Math" panose="02040503050406030204" pitchFamily="18" charset="0"/>
                                          </a:rPr>
                                          <m:t>𝑦</m:t>
                                        </m:r>
                                      </m:sub>
                                      <m:sup>
                                        <m:r>
                                          <a:rPr lang="en-US" altLang="zh-CN" sz="1800" i="1">
                                            <a:latin typeface="Cambria Math" panose="02040503050406030204" pitchFamily="18" charset="0"/>
                                            <a:ea typeface="Cambria Math" panose="02040503050406030204" pitchFamily="18" charset="0"/>
                                          </a:rPr>
                                          <m:t>∗</m:t>
                                        </m:r>
                                      </m:sup>
                                    </m:sSubSup>
                                  </m:e>
                                </m:d>
                              </m:den>
                            </m:f>
                          </m:e>
                        </m:d>
                      </m:e>
                    </m:func>
                  </m:oMath>
                </a14:m>
                <a:endParaRPr lang="en-US" altLang="zh-CN" sz="1800" dirty="0" smtClean="0"/>
              </a:p>
              <a:p>
                <a:pPr lvl="2"/>
                <a14:m>
                  <m:oMath xmlns:m="http://schemas.openxmlformats.org/officeDocument/2006/math">
                    <m:d>
                      <m:dPr>
                        <m:begChr m:val="{"/>
                        <m:endChr m:val="}"/>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sub>
                        </m:sSub>
                      </m:e>
                    </m:d>
                    <m:r>
                      <a:rPr lang="zh-CN" altLang="en-US" i="1" smtClean="0">
                        <a:latin typeface="Cambria Math" panose="02040503050406030204" pitchFamily="18" charset="0"/>
                      </a:rPr>
                      <m:t>和</m:t>
                    </m:r>
                    <m:d>
                      <m:dPr>
                        <m:begChr m:val="{"/>
                        <m:endChr m:val="}"/>
                        <m:ctrlPr>
                          <a:rPr lang="en-US" altLang="zh-CN" i="1">
                            <a:latin typeface="Cambria Math" panose="02040503050406030204" pitchFamily="18" charset="0"/>
                            <a:ea typeface="Cambria Math" panose="02040503050406030204" pitchFamily="18" charset="0"/>
                          </a:rPr>
                        </m:ctrlPr>
                      </m:dPr>
                      <m:e>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𝑥</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𝑦</m:t>
                            </m:r>
                          </m:sub>
                          <m:sup>
                            <m:r>
                              <a:rPr lang="en-US" altLang="zh-CN" i="1">
                                <a:latin typeface="Cambria Math" panose="02040503050406030204" pitchFamily="18" charset="0"/>
                                <a:ea typeface="Cambria Math" panose="02040503050406030204" pitchFamily="18" charset="0"/>
                              </a:rPr>
                              <m:t>∗</m:t>
                            </m:r>
                          </m:sup>
                        </m:sSubSup>
                      </m:e>
                    </m:d>
                  </m:oMath>
                </a14:m>
                <a:r>
                  <a:rPr lang="zh-CN" altLang="en-US" dirty="0" smtClean="0"/>
                  <a:t>分别表示</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𝑡</m:t>
                        </m:r>
                      </m:e>
                      <m:sub>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sub>
                    </m:sSub>
                    <m:r>
                      <a:rPr lang="en-US" altLang="zh-CN" b="0" i="1" smtClean="0">
                        <a:latin typeface="Cambria Math" panose="02040503050406030204" pitchFamily="18" charset="0"/>
                      </a:rPr>
                      <m:t>,</m:t>
                    </m:r>
                    <m:sSubSup>
                      <m:sSubSupPr>
                        <m:ctrlPr>
                          <a:rPr lang="en-US" altLang="zh-CN" i="1">
                            <a:latin typeface="Cambria Math" panose="02040503050406030204" pitchFamily="18" charset="0"/>
                            <a:ea typeface="Cambria Math" panose="02040503050406030204" pitchFamily="18" charset="0"/>
                          </a:rPr>
                        </m:ctrlPr>
                      </m:sSubSupPr>
                      <m:e>
                        <m:r>
                          <a:rPr lang="en-US" altLang="zh-CN" i="1">
                            <a:latin typeface="Cambria Math" panose="02040503050406030204" pitchFamily="18" charset="0"/>
                            <a:ea typeface="Cambria Math" panose="02040503050406030204" pitchFamily="18" charset="0"/>
                          </a:rPr>
                          <m:t>𝑡</m:t>
                        </m:r>
                      </m:e>
                      <m:sub>
                        <m:r>
                          <a:rPr lang="en-US" altLang="zh-CN" i="1">
                            <a:latin typeface="Cambria Math" panose="02040503050406030204" pitchFamily="18" charset="0"/>
                            <a:ea typeface="Cambria Math" panose="02040503050406030204" pitchFamily="18" charset="0"/>
                          </a:rPr>
                          <m:t>𝑥</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𝑦</m:t>
                        </m:r>
                      </m:sub>
                      <m:sup>
                        <m:r>
                          <a:rPr lang="en-US" altLang="zh-CN" i="1">
                            <a:latin typeface="Cambria Math" panose="02040503050406030204" pitchFamily="18" charset="0"/>
                            <a:ea typeface="Cambria Math" panose="02040503050406030204" pitchFamily="18" charset="0"/>
                          </a:rPr>
                          <m:t>∗</m:t>
                        </m:r>
                      </m:sup>
                    </m:sSubSup>
                  </m:oMath>
                </a14:m>
                <a:r>
                  <a:rPr lang="zh-CN" altLang="en-US" dirty="0" smtClean="0"/>
                  <a:t>对应的矩形框</a:t>
                </a:r>
                <a:endParaRPr lang="en-US" altLang="zh-CN" dirty="0" smtClean="0"/>
              </a:p>
              <a:p>
                <a:pPr lvl="2"/>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𝑁</m:t>
                        </m:r>
                      </m:e>
                      <m:sub>
                        <m:r>
                          <a:rPr lang="en-US" altLang="zh-CN" i="1">
                            <a:latin typeface="Cambria Math" panose="02040503050406030204" pitchFamily="18" charset="0"/>
                          </a:rPr>
                          <m:t>𝑝𝑜𝑠</m:t>
                        </m:r>
                      </m:sub>
                    </m:sSub>
                  </m:oMath>
                </a14:m>
                <a:r>
                  <a:rPr lang="zh-CN" altLang="en-US" dirty="0" smtClean="0"/>
                  <a:t>表示正样本个数，</a:t>
                </a:r>
                <a:r>
                  <a:rPr lang="el-GR" altLang="zh-CN" dirty="0"/>
                  <a:t> </a:t>
                </a:r>
                <a14:m>
                  <m:oMath xmlns:m="http://schemas.openxmlformats.org/officeDocument/2006/math">
                    <m:r>
                      <m:rPr>
                        <m:nor/>
                      </m:rPr>
                      <a:rPr lang="el-GR" altLang="zh-CN"/>
                      <m:t>λ</m:t>
                    </m:r>
                  </m:oMath>
                </a14:m>
                <a:r>
                  <a:rPr lang="zh-CN" altLang="en-US" dirty="0" smtClean="0"/>
                  <a:t>表示两个损失的权重因子（通常取</a:t>
                </a:r>
                <a:r>
                  <a:rPr lang="en-US" altLang="zh-CN" dirty="0" smtClean="0"/>
                  <a:t>1</a:t>
                </a:r>
                <a:r>
                  <a:rPr lang="zh-CN" altLang="en-US" dirty="0" smtClean="0"/>
                  <a:t>）</a:t>
                </a:r>
                <a:endParaRPr lang="en-US" altLang="zh-CN" dirty="0" smtClean="0"/>
              </a:p>
              <a:p>
                <a:pPr lvl="2"/>
                <a14:m>
                  <m:oMath xmlns:m="http://schemas.openxmlformats.org/officeDocument/2006/math">
                    <m:nary>
                      <m:naryPr>
                        <m:chr m:val="∑"/>
                        <m:subHide m:val="on"/>
                        <m:supHide m:val="on"/>
                        <m:ctrlPr>
                          <a:rPr lang="en-US" altLang="zh-CN" i="1" smtClean="0">
                            <a:latin typeface="Cambria Math" panose="02040503050406030204" pitchFamily="18" charset="0"/>
                          </a:rPr>
                        </m:ctrlPr>
                      </m:naryPr>
                      <m:sub/>
                      <m:sup/>
                      <m:e/>
                    </m:nary>
                  </m:oMath>
                </a14:m>
                <a:r>
                  <a:rPr lang="zh-CN" altLang="en-US" dirty="0" smtClean="0"/>
                  <a:t>表示对特征图</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𝐹</m:t>
                        </m:r>
                      </m:e>
                      <m:sub>
                        <m:r>
                          <a:rPr lang="en-US" altLang="zh-CN" i="1">
                            <a:latin typeface="Cambria Math" panose="02040503050406030204" pitchFamily="18" charset="0"/>
                          </a:rPr>
                          <m:t>𝑖</m:t>
                        </m:r>
                      </m:sub>
                    </m:sSub>
                  </m:oMath>
                </a14:m>
                <a:r>
                  <a:rPr lang="zh-CN" altLang="en-US" dirty="0" smtClean="0"/>
                  <a:t>上所有位置</a:t>
                </a:r>
                <a14:m>
                  <m:oMath xmlns:m="http://schemas.openxmlformats.org/officeDocument/2006/math">
                    <m:d>
                      <m:dPr>
                        <m:ctrlPr>
                          <a:rPr lang="en-US" altLang="zh-CN" i="1">
                            <a:latin typeface="Cambria Math" panose="02040503050406030204" pitchFamily="18" charset="0"/>
                          </a:rPr>
                        </m:ctrlPr>
                      </m:dPr>
                      <m:e>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e>
                    </m:d>
                  </m:oMath>
                </a14:m>
                <a:r>
                  <a:rPr lang="zh-CN" altLang="en-US" dirty="0" smtClean="0"/>
                  <a:t>求和</a:t>
                </a:r>
                <a:endParaRPr lang="en-US" altLang="zh-CN" dirty="0" smtClean="0"/>
              </a:p>
              <a:p>
                <a:pPr lvl="2"/>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d>
                          <m:dPr>
                            <m:begChr m:val="{"/>
                            <m:endChr m:val="}"/>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𝑐</m:t>
                                </m:r>
                              </m:e>
                              <m:sub>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sub>
                              <m:sup>
                                <m:r>
                                  <a:rPr lang="en-US" altLang="zh-CN" i="1">
                                    <a:latin typeface="Cambria Math" panose="02040503050406030204" pitchFamily="18" charset="0"/>
                                  </a:rPr>
                                  <m:t>∗</m:t>
                                </m:r>
                              </m:sup>
                            </m:sSubSup>
                            <m:r>
                              <a:rPr lang="en-US" altLang="zh-CN" i="1">
                                <a:latin typeface="Cambria Math" panose="02040503050406030204" pitchFamily="18" charset="0"/>
                                <a:ea typeface="Cambria Math" panose="02040503050406030204" pitchFamily="18" charset="0"/>
                              </a:rPr>
                              <m:t>&gt;0</m:t>
                            </m:r>
                          </m:e>
                        </m:d>
                      </m:sub>
                    </m:sSub>
                  </m:oMath>
                </a14:m>
                <a:r>
                  <a:rPr lang="zh-CN" altLang="en-US" dirty="0" smtClean="0"/>
                  <a:t>为示性函数，</a:t>
                </a:r>
                <a14:m>
                  <m:oMath xmlns:m="http://schemas.openxmlformats.org/officeDocument/2006/math">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𝑐</m:t>
                        </m:r>
                      </m:e>
                      <m:sub>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sub>
                      <m:sup>
                        <m:r>
                          <a:rPr lang="en-US" altLang="zh-CN" i="1">
                            <a:latin typeface="Cambria Math" panose="02040503050406030204" pitchFamily="18" charset="0"/>
                          </a:rPr>
                          <m:t>∗</m:t>
                        </m:r>
                      </m:sup>
                    </m:sSubSup>
                    <m:r>
                      <a:rPr lang="en-US" altLang="zh-CN" i="1">
                        <a:latin typeface="Cambria Math" panose="02040503050406030204" pitchFamily="18" charset="0"/>
                        <a:ea typeface="Cambria Math" panose="02040503050406030204" pitchFamily="18" charset="0"/>
                      </a:rPr>
                      <m:t>&gt;0</m:t>
                    </m:r>
                  </m:oMath>
                </a14:m>
                <a:r>
                  <a:rPr lang="zh-CN" altLang="en-US" dirty="0" smtClean="0"/>
                  <a:t>时</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d>
                          <m:dPr>
                            <m:begChr m:val="{"/>
                            <m:endChr m:val="}"/>
                            <m:ctrlPr>
                              <a:rPr lang="en-US" altLang="zh-CN" i="1">
                                <a:latin typeface="Cambria Math" panose="02040503050406030204" pitchFamily="18" charset="0"/>
                              </a:rPr>
                            </m:ctrlPr>
                          </m:dPr>
                          <m:e>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𝑐</m:t>
                                </m:r>
                              </m:e>
                              <m:sub>
                                <m:r>
                                  <a:rPr lang="en-US" altLang="zh-CN" i="1">
                                    <a:latin typeface="Cambria Math" panose="02040503050406030204" pitchFamily="18" charset="0"/>
                                  </a:rPr>
                                  <m:t>𝑥</m:t>
                                </m:r>
                                <m:r>
                                  <a:rPr lang="en-US" altLang="zh-CN" i="1">
                                    <a:latin typeface="Cambria Math" panose="02040503050406030204" pitchFamily="18" charset="0"/>
                                  </a:rPr>
                                  <m:t>,</m:t>
                                </m:r>
                                <m:r>
                                  <a:rPr lang="en-US" altLang="zh-CN" i="1">
                                    <a:latin typeface="Cambria Math" panose="02040503050406030204" pitchFamily="18" charset="0"/>
                                  </a:rPr>
                                  <m:t>𝑦</m:t>
                                </m:r>
                              </m:sub>
                              <m:sup>
                                <m:r>
                                  <a:rPr lang="en-US" altLang="zh-CN" i="1">
                                    <a:latin typeface="Cambria Math" panose="02040503050406030204" pitchFamily="18" charset="0"/>
                                  </a:rPr>
                                  <m:t>∗</m:t>
                                </m:r>
                              </m:sup>
                            </m:sSubSup>
                            <m:r>
                              <a:rPr lang="en-US" altLang="zh-CN" i="1">
                                <a:latin typeface="Cambria Math" panose="02040503050406030204" pitchFamily="18" charset="0"/>
                                <a:ea typeface="Cambria Math" panose="02040503050406030204" pitchFamily="18" charset="0"/>
                              </a:rPr>
                              <m:t>&gt;0</m:t>
                            </m:r>
                          </m:e>
                        </m:d>
                      </m:sub>
                    </m:sSub>
                  </m:oMath>
                </a14:m>
                <a:r>
                  <a:rPr lang="zh-CN" altLang="en-US" dirty="0" smtClean="0"/>
                  <a:t>取</a:t>
                </a:r>
                <a:r>
                  <a:rPr lang="en-US" altLang="zh-CN" dirty="0" smtClean="0"/>
                  <a:t>1</a:t>
                </a:r>
                <a:r>
                  <a:rPr lang="zh-CN" altLang="en-US" dirty="0" smtClean="0"/>
                  <a:t>，否则取</a:t>
                </a:r>
                <a:r>
                  <a:rPr lang="en-US" altLang="zh-CN" dirty="0" smtClean="0"/>
                  <a:t>0</a:t>
                </a:r>
              </a:p>
              <a:p>
                <a:pPr lvl="2"/>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b="-206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9492806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FCOS</a:t>
            </a:r>
            <a:endParaRPr lang="zh-CN" altLang="en-US" dirty="0"/>
          </a:p>
        </p:txBody>
      </p:sp>
      <p:sp>
        <p:nvSpPr>
          <p:cNvPr id="3" name="内容占位符 2"/>
          <p:cNvSpPr>
            <a:spLocks noGrp="1"/>
          </p:cNvSpPr>
          <p:nvPr>
            <p:ph sz="quarter" idx="13"/>
          </p:nvPr>
        </p:nvSpPr>
        <p:spPr/>
        <p:txBody>
          <a:bodyPr/>
          <a:lstStyle/>
          <a:p>
            <a:pPr marL="342900" indent="-342900">
              <a:buFont typeface="+mj-lt"/>
              <a:buAutoNum type="arabicPeriod" startAt="2"/>
            </a:pPr>
            <a:r>
              <a:rPr lang="zh-CN" altLang="en-US" dirty="0" smtClean="0"/>
              <a:t>使用特征金字塔进行多尺度预测</a:t>
            </a:r>
            <a:endParaRPr lang="zh-CN" altLang="en-US" dirty="0"/>
          </a:p>
        </p:txBody>
      </p:sp>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006" y="1722786"/>
            <a:ext cx="10058400" cy="4414488"/>
          </a:xfrm>
          <a:prstGeom prst="rect">
            <a:avLst/>
          </a:prstGeom>
        </p:spPr>
      </p:pic>
    </p:spTree>
    <p:extLst>
      <p:ext uri="{BB962C8B-B14F-4D97-AF65-F5344CB8AC3E}">
        <p14:creationId xmlns:p14="http://schemas.microsoft.com/office/powerpoint/2010/main" val="44302789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FCOS</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sz="quarter" idx="13"/>
              </p:nvPr>
            </p:nvSpPr>
            <p:spPr/>
            <p:txBody>
              <a:bodyPr/>
              <a:lstStyle/>
              <a:p>
                <a:pPr marL="342900" indent="-342900">
                  <a:buFont typeface="+mj-lt"/>
                  <a:buAutoNum type="arabicPeriod" startAt="3"/>
                </a:pPr>
                <a:r>
                  <a:rPr lang="en-US" altLang="zh-CN" dirty="0" smtClean="0"/>
                  <a:t>FCOS</a:t>
                </a:r>
                <a:r>
                  <a:rPr lang="zh-CN" altLang="en-US" dirty="0" smtClean="0"/>
                  <a:t>的中心指标</a:t>
                </a:r>
                <a:r>
                  <a:rPr lang="en-US" altLang="zh-CN" dirty="0" smtClean="0"/>
                  <a:t>(center-ness)</a:t>
                </a:r>
              </a:p>
              <a:p>
                <a:pPr lvl="1"/>
                <a:r>
                  <a:rPr lang="zh-CN" altLang="en-US" dirty="0"/>
                  <a:t>衡量</a:t>
                </a:r>
                <a:r>
                  <a:rPr lang="zh-CN" altLang="en-US" dirty="0" smtClean="0"/>
                  <a:t>预测框相对于投影点的对称性</a:t>
                </a:r>
                <a:endParaRPr lang="en-US" altLang="zh-CN" dirty="0" smtClean="0"/>
              </a:p>
              <a:p>
                <a:pPr lvl="1"/>
                <a14:m>
                  <m:oMath xmlns:m="http://schemas.openxmlformats.org/officeDocument/2006/math">
                    <m:r>
                      <m:rPr>
                        <m:nor/>
                      </m:rPr>
                      <a:rPr lang="en-US" altLang="zh-CN" sz="2000" dirty="0"/>
                      <m:t>center</m:t>
                    </m:r>
                    <m:r>
                      <m:rPr>
                        <m:nor/>
                      </m:rPr>
                      <a:rPr lang="en-US" altLang="zh-CN" sz="2000" dirty="0"/>
                      <m:t>−</m:t>
                    </m:r>
                    <m:r>
                      <m:rPr>
                        <m:nor/>
                      </m:rPr>
                      <a:rPr lang="en-US" altLang="zh-CN" sz="2000" dirty="0"/>
                      <m:t>ness</m:t>
                    </m:r>
                    <m:r>
                      <m:rPr>
                        <m:nor/>
                      </m:rPr>
                      <a:rPr lang="en-US" altLang="zh-CN" sz="2000" b="0" i="0" dirty="0" smtClean="0"/>
                      <m:t>∗=</m:t>
                    </m:r>
                    <m:rad>
                      <m:radPr>
                        <m:degHide m:val="on"/>
                        <m:ctrlPr>
                          <a:rPr lang="en-US" altLang="zh-CN" sz="2000" b="0" i="1" dirty="0" smtClean="0">
                            <a:latin typeface="Cambria Math" panose="02040503050406030204" pitchFamily="18" charset="0"/>
                          </a:rPr>
                        </m:ctrlPr>
                      </m:radPr>
                      <m:deg/>
                      <m:e>
                        <m:f>
                          <m:fPr>
                            <m:ctrlPr>
                              <a:rPr lang="en-US" altLang="zh-CN" sz="2000" b="0" i="1" dirty="0" smtClean="0">
                                <a:latin typeface="Cambria Math" panose="02040503050406030204" pitchFamily="18" charset="0"/>
                              </a:rPr>
                            </m:ctrlPr>
                          </m:fPr>
                          <m:num>
                            <m:r>
                              <m:rPr>
                                <m:sty m:val="p"/>
                              </m:rPr>
                              <a:rPr lang="en-US" altLang="zh-CN" sz="2000" b="0" i="0" dirty="0" smtClean="0">
                                <a:latin typeface="Cambria Math" panose="02040503050406030204" pitchFamily="18" charset="0"/>
                              </a:rPr>
                              <m:t>min</m:t>
                            </m:r>
                            <m:r>
                              <a:rPr lang="en-US" altLang="zh-CN" sz="2000" b="0" i="1" dirty="0" smtClean="0">
                                <a:latin typeface="Cambria Math" panose="02040503050406030204" pitchFamily="18" charset="0"/>
                              </a:rPr>
                              <m:t>⁡(</m:t>
                            </m:r>
                            <m:sSup>
                              <m:sSupPr>
                                <m:ctrlPr>
                                  <a:rPr lang="en-US" altLang="zh-CN" sz="2000" i="1" dirty="0">
                                    <a:latin typeface="Cambria Math" panose="02040503050406030204" pitchFamily="18" charset="0"/>
                                  </a:rPr>
                                </m:ctrlPr>
                              </m:sSupPr>
                              <m:e>
                                <m:r>
                                  <a:rPr lang="en-US" altLang="zh-CN" sz="2000" i="1" dirty="0">
                                    <a:latin typeface="Cambria Math" panose="02040503050406030204" pitchFamily="18" charset="0"/>
                                  </a:rPr>
                                  <m:t>𝑙</m:t>
                                </m:r>
                              </m:e>
                              <m:sup>
                                <m:r>
                                  <a:rPr lang="en-US" altLang="zh-CN" sz="2000" i="1" dirty="0">
                                    <a:latin typeface="Cambria Math" panose="02040503050406030204" pitchFamily="18" charset="0"/>
                                  </a:rPr>
                                  <m:t>∗</m:t>
                                </m:r>
                              </m:sup>
                            </m:sSup>
                            <m:r>
                              <a:rPr lang="en-US" altLang="zh-CN" sz="2000" i="1" dirty="0">
                                <a:latin typeface="Cambria Math" panose="02040503050406030204" pitchFamily="18" charset="0"/>
                              </a:rPr>
                              <m:t>,</m:t>
                            </m:r>
                            <m:sSup>
                              <m:sSupPr>
                                <m:ctrlPr>
                                  <a:rPr lang="en-US" altLang="zh-CN" sz="2000" i="1" dirty="0">
                                    <a:latin typeface="Cambria Math" panose="02040503050406030204" pitchFamily="18" charset="0"/>
                                  </a:rPr>
                                </m:ctrlPr>
                              </m:sSupPr>
                              <m:e>
                                <m:r>
                                  <a:rPr lang="en-US" altLang="zh-CN" sz="2000" i="1" dirty="0">
                                    <a:latin typeface="Cambria Math" panose="02040503050406030204" pitchFamily="18" charset="0"/>
                                  </a:rPr>
                                  <m:t>𝑟</m:t>
                                </m:r>
                              </m:e>
                              <m:sup>
                                <m:r>
                                  <a:rPr lang="en-US" altLang="zh-CN" sz="2000" i="1" dirty="0">
                                    <a:latin typeface="Cambria Math" panose="02040503050406030204" pitchFamily="18" charset="0"/>
                                  </a:rPr>
                                  <m:t>∗</m:t>
                                </m:r>
                              </m:sup>
                            </m:sSup>
                            <m:r>
                              <a:rPr lang="en-US" altLang="zh-CN" sz="2000" b="0" i="1" dirty="0" smtClean="0">
                                <a:latin typeface="Cambria Math" panose="02040503050406030204" pitchFamily="18" charset="0"/>
                              </a:rPr>
                              <m:t>)</m:t>
                            </m:r>
                          </m:num>
                          <m:den>
                            <m:r>
                              <m:rPr>
                                <m:sty m:val="p"/>
                              </m:rPr>
                              <a:rPr lang="en-US" altLang="zh-CN" sz="2000" b="0" i="0" dirty="0" smtClean="0">
                                <a:latin typeface="Cambria Math" panose="02040503050406030204" pitchFamily="18" charset="0"/>
                              </a:rPr>
                              <m:t>max</m:t>
                            </m:r>
                            <m:r>
                              <a:rPr lang="en-US" altLang="zh-CN" sz="2000" b="0" i="1" dirty="0" smtClean="0">
                                <a:latin typeface="Cambria Math" panose="02040503050406030204" pitchFamily="18" charset="0"/>
                              </a:rPr>
                              <m:t>⁡(</m:t>
                            </m:r>
                            <m:sSup>
                              <m:sSupPr>
                                <m:ctrlPr>
                                  <a:rPr lang="en-US" altLang="zh-CN" sz="2000" b="0" i="1" dirty="0" smtClean="0">
                                    <a:latin typeface="Cambria Math" panose="02040503050406030204" pitchFamily="18" charset="0"/>
                                  </a:rPr>
                                </m:ctrlPr>
                              </m:sSupPr>
                              <m:e>
                                <m:r>
                                  <a:rPr lang="en-US" altLang="zh-CN" sz="2000" b="0" i="1" dirty="0" smtClean="0">
                                    <a:latin typeface="Cambria Math" panose="02040503050406030204" pitchFamily="18" charset="0"/>
                                  </a:rPr>
                                  <m:t>𝑙</m:t>
                                </m:r>
                              </m:e>
                              <m:sup>
                                <m:r>
                                  <a:rPr lang="en-US" altLang="zh-CN" sz="2000" b="0" i="1" dirty="0" smtClean="0">
                                    <a:latin typeface="Cambria Math" panose="02040503050406030204" pitchFamily="18" charset="0"/>
                                  </a:rPr>
                                  <m:t>∗</m:t>
                                </m:r>
                              </m:sup>
                            </m:sSup>
                            <m:r>
                              <a:rPr lang="en-US" altLang="zh-CN" sz="2000" b="0" i="1" dirty="0" smtClean="0">
                                <a:latin typeface="Cambria Math" panose="02040503050406030204" pitchFamily="18" charset="0"/>
                              </a:rPr>
                              <m:t>,</m:t>
                            </m:r>
                            <m:sSup>
                              <m:sSupPr>
                                <m:ctrlPr>
                                  <a:rPr lang="en-US" altLang="zh-CN" sz="2000" b="0" i="1" dirty="0" smtClean="0">
                                    <a:latin typeface="Cambria Math" panose="02040503050406030204" pitchFamily="18" charset="0"/>
                                  </a:rPr>
                                </m:ctrlPr>
                              </m:sSupPr>
                              <m:e>
                                <m:r>
                                  <a:rPr lang="en-US" altLang="zh-CN" sz="2000" b="0" i="1" dirty="0" smtClean="0">
                                    <a:latin typeface="Cambria Math" panose="02040503050406030204" pitchFamily="18" charset="0"/>
                                  </a:rPr>
                                  <m:t>𝑟</m:t>
                                </m:r>
                              </m:e>
                              <m:sup>
                                <m:r>
                                  <a:rPr lang="en-US" altLang="zh-CN" sz="2000" b="0" i="1" dirty="0" smtClean="0">
                                    <a:latin typeface="Cambria Math" panose="02040503050406030204" pitchFamily="18" charset="0"/>
                                  </a:rPr>
                                  <m:t>∗</m:t>
                                </m:r>
                              </m:sup>
                            </m:sSup>
                            <m:r>
                              <a:rPr lang="en-US" altLang="zh-CN" sz="2000" b="0" i="1" dirty="0" smtClean="0">
                                <a:latin typeface="Cambria Math" panose="02040503050406030204" pitchFamily="18" charset="0"/>
                              </a:rPr>
                              <m:t>)</m:t>
                            </m:r>
                          </m:den>
                        </m:f>
                        <m:r>
                          <a:rPr lang="en-US" altLang="zh-CN" sz="2000" b="0" i="1" dirty="0" smtClean="0">
                            <a:latin typeface="Cambria Math" panose="02040503050406030204" pitchFamily="18" charset="0"/>
                            <a:ea typeface="Cambria Math" panose="02040503050406030204" pitchFamily="18" charset="0"/>
                          </a:rPr>
                          <m:t>×</m:t>
                        </m:r>
                        <m:f>
                          <m:fPr>
                            <m:ctrlPr>
                              <a:rPr lang="en-US" altLang="zh-CN" sz="2000" b="0" i="1" dirty="0" smtClean="0">
                                <a:latin typeface="Cambria Math" panose="02040503050406030204" pitchFamily="18" charset="0"/>
                                <a:ea typeface="Cambria Math" panose="02040503050406030204" pitchFamily="18" charset="0"/>
                              </a:rPr>
                            </m:ctrlPr>
                          </m:fPr>
                          <m:num>
                            <m:r>
                              <m:rPr>
                                <m:sty m:val="p"/>
                              </m:rPr>
                              <a:rPr lang="en-US" altLang="zh-CN" sz="2000" b="0" i="0" dirty="0" smtClean="0">
                                <a:latin typeface="Cambria Math" panose="02040503050406030204" pitchFamily="18" charset="0"/>
                                <a:ea typeface="Cambria Math" panose="02040503050406030204" pitchFamily="18" charset="0"/>
                              </a:rPr>
                              <m:t>min</m:t>
                            </m:r>
                            <m:r>
                              <a:rPr lang="en-US" altLang="zh-CN" sz="2000" b="0" i="1" dirty="0" smtClean="0">
                                <a:latin typeface="Cambria Math" panose="02040503050406030204" pitchFamily="18" charset="0"/>
                                <a:ea typeface="Cambria Math" panose="02040503050406030204" pitchFamily="18" charset="0"/>
                              </a:rPr>
                              <m:t>⁡(</m:t>
                            </m:r>
                            <m:sSup>
                              <m:sSupPr>
                                <m:ctrlPr>
                                  <a:rPr lang="en-US" altLang="zh-CN" sz="2000" b="0" i="1" dirty="0" smtClean="0">
                                    <a:latin typeface="Cambria Math" panose="02040503050406030204" pitchFamily="18" charset="0"/>
                                    <a:ea typeface="Cambria Math" panose="02040503050406030204" pitchFamily="18" charset="0"/>
                                  </a:rPr>
                                </m:ctrlPr>
                              </m:sSupPr>
                              <m:e>
                                <m:r>
                                  <a:rPr lang="en-US" altLang="zh-CN" sz="2000" b="0" i="1" dirty="0" smtClean="0">
                                    <a:latin typeface="Cambria Math" panose="02040503050406030204" pitchFamily="18" charset="0"/>
                                    <a:ea typeface="Cambria Math" panose="02040503050406030204" pitchFamily="18" charset="0"/>
                                  </a:rPr>
                                  <m:t>𝑡</m:t>
                                </m:r>
                              </m:e>
                              <m:sup>
                                <m:r>
                                  <a:rPr lang="en-US" altLang="zh-CN" sz="2000" b="0" i="1" dirty="0" smtClean="0">
                                    <a:latin typeface="Cambria Math" panose="02040503050406030204" pitchFamily="18" charset="0"/>
                                    <a:ea typeface="Cambria Math" panose="02040503050406030204" pitchFamily="18" charset="0"/>
                                  </a:rPr>
                                  <m:t>∗</m:t>
                                </m:r>
                              </m:sup>
                            </m:sSup>
                            <m:r>
                              <a:rPr lang="en-US" altLang="zh-CN" sz="2000" b="0" i="1" dirty="0" smtClean="0">
                                <a:latin typeface="Cambria Math" panose="02040503050406030204" pitchFamily="18" charset="0"/>
                                <a:ea typeface="Cambria Math" panose="02040503050406030204" pitchFamily="18" charset="0"/>
                              </a:rPr>
                              <m:t>,</m:t>
                            </m:r>
                            <m:sSup>
                              <m:sSupPr>
                                <m:ctrlPr>
                                  <a:rPr lang="en-US" altLang="zh-CN" sz="2000" b="0" i="1" dirty="0" smtClean="0">
                                    <a:latin typeface="Cambria Math" panose="02040503050406030204" pitchFamily="18" charset="0"/>
                                    <a:ea typeface="Cambria Math" panose="02040503050406030204" pitchFamily="18" charset="0"/>
                                  </a:rPr>
                                </m:ctrlPr>
                              </m:sSupPr>
                              <m:e>
                                <m:r>
                                  <a:rPr lang="en-US" altLang="zh-CN" sz="2000" b="0" i="1" dirty="0" smtClean="0">
                                    <a:latin typeface="Cambria Math" panose="02040503050406030204" pitchFamily="18" charset="0"/>
                                    <a:ea typeface="Cambria Math" panose="02040503050406030204" pitchFamily="18" charset="0"/>
                                  </a:rPr>
                                  <m:t>𝑏</m:t>
                                </m:r>
                              </m:e>
                              <m:sup>
                                <m:r>
                                  <a:rPr lang="en-US" altLang="zh-CN" sz="2000" b="0" i="1" dirty="0" smtClean="0">
                                    <a:latin typeface="Cambria Math" panose="02040503050406030204" pitchFamily="18" charset="0"/>
                                    <a:ea typeface="Cambria Math" panose="02040503050406030204" pitchFamily="18" charset="0"/>
                                  </a:rPr>
                                  <m:t>∗</m:t>
                                </m:r>
                              </m:sup>
                            </m:sSup>
                            <m:r>
                              <a:rPr lang="en-US" altLang="zh-CN" sz="2000" b="0" i="1" dirty="0" smtClean="0">
                                <a:latin typeface="Cambria Math" panose="02040503050406030204" pitchFamily="18" charset="0"/>
                                <a:ea typeface="Cambria Math" panose="02040503050406030204" pitchFamily="18" charset="0"/>
                              </a:rPr>
                              <m:t>)</m:t>
                            </m:r>
                          </m:num>
                          <m:den>
                            <m:r>
                              <m:rPr>
                                <m:sty m:val="p"/>
                              </m:rPr>
                              <a:rPr lang="en-US" altLang="zh-CN" sz="2000" b="0" i="0" dirty="0" smtClean="0">
                                <a:latin typeface="Cambria Math" panose="02040503050406030204" pitchFamily="18" charset="0"/>
                                <a:ea typeface="Cambria Math" panose="02040503050406030204" pitchFamily="18" charset="0"/>
                              </a:rPr>
                              <m:t>max</m:t>
                            </m:r>
                            <m:r>
                              <a:rPr lang="en-US" altLang="zh-CN" sz="2000" b="0" i="1" dirty="0" smtClean="0">
                                <a:latin typeface="Cambria Math" panose="02040503050406030204" pitchFamily="18" charset="0"/>
                                <a:ea typeface="Cambria Math" panose="02040503050406030204" pitchFamily="18" charset="0"/>
                              </a:rPr>
                              <m:t>⁡(</m:t>
                            </m:r>
                            <m:sSup>
                              <m:sSupPr>
                                <m:ctrlPr>
                                  <a:rPr lang="en-US" altLang="zh-CN" sz="2000" i="1" dirty="0">
                                    <a:latin typeface="Cambria Math" panose="02040503050406030204" pitchFamily="18" charset="0"/>
                                    <a:ea typeface="Cambria Math" panose="02040503050406030204" pitchFamily="18" charset="0"/>
                                  </a:rPr>
                                </m:ctrlPr>
                              </m:sSupPr>
                              <m:e>
                                <m:r>
                                  <a:rPr lang="en-US" altLang="zh-CN" sz="2000" i="1" dirty="0">
                                    <a:latin typeface="Cambria Math" panose="02040503050406030204" pitchFamily="18" charset="0"/>
                                    <a:ea typeface="Cambria Math" panose="02040503050406030204" pitchFamily="18" charset="0"/>
                                  </a:rPr>
                                  <m:t>𝑡</m:t>
                                </m:r>
                              </m:e>
                              <m:sup>
                                <m:r>
                                  <a:rPr lang="en-US" altLang="zh-CN" sz="2000" i="1" dirty="0">
                                    <a:latin typeface="Cambria Math" panose="02040503050406030204" pitchFamily="18" charset="0"/>
                                    <a:ea typeface="Cambria Math" panose="02040503050406030204" pitchFamily="18" charset="0"/>
                                  </a:rPr>
                                  <m:t>∗</m:t>
                                </m:r>
                              </m:sup>
                            </m:sSup>
                            <m:r>
                              <a:rPr lang="en-US" altLang="zh-CN" sz="2000" i="1" dirty="0">
                                <a:latin typeface="Cambria Math" panose="02040503050406030204" pitchFamily="18" charset="0"/>
                                <a:ea typeface="Cambria Math" panose="02040503050406030204" pitchFamily="18" charset="0"/>
                              </a:rPr>
                              <m:t>,</m:t>
                            </m:r>
                            <m:sSup>
                              <m:sSupPr>
                                <m:ctrlPr>
                                  <a:rPr lang="en-US" altLang="zh-CN" sz="2000" i="1" dirty="0">
                                    <a:latin typeface="Cambria Math" panose="02040503050406030204" pitchFamily="18" charset="0"/>
                                    <a:ea typeface="Cambria Math" panose="02040503050406030204" pitchFamily="18" charset="0"/>
                                  </a:rPr>
                                </m:ctrlPr>
                              </m:sSupPr>
                              <m:e>
                                <m:r>
                                  <a:rPr lang="en-US" altLang="zh-CN" sz="2000" i="1" dirty="0">
                                    <a:latin typeface="Cambria Math" panose="02040503050406030204" pitchFamily="18" charset="0"/>
                                    <a:ea typeface="Cambria Math" panose="02040503050406030204" pitchFamily="18" charset="0"/>
                                  </a:rPr>
                                  <m:t>𝑏</m:t>
                                </m:r>
                              </m:e>
                              <m:sup>
                                <m:r>
                                  <a:rPr lang="en-US" altLang="zh-CN" sz="2000" i="1" dirty="0">
                                    <a:latin typeface="Cambria Math" panose="02040503050406030204" pitchFamily="18" charset="0"/>
                                    <a:ea typeface="Cambria Math" panose="02040503050406030204" pitchFamily="18" charset="0"/>
                                  </a:rPr>
                                  <m:t>∗</m:t>
                                </m:r>
                              </m:sup>
                            </m:sSup>
                            <m:r>
                              <a:rPr lang="en-US" altLang="zh-CN" sz="2000" b="0" i="1" dirty="0" smtClean="0">
                                <a:latin typeface="Cambria Math" panose="02040503050406030204" pitchFamily="18" charset="0"/>
                                <a:ea typeface="Cambria Math" panose="02040503050406030204" pitchFamily="18" charset="0"/>
                              </a:rPr>
                              <m:t>)</m:t>
                            </m:r>
                          </m:den>
                        </m:f>
                      </m:e>
                    </m:rad>
                  </m:oMath>
                </a14:m>
                <a:endParaRPr lang="en-US" altLang="zh-CN" sz="2000" dirty="0" smtClean="0"/>
              </a:p>
              <a:p>
                <a:pPr lvl="1"/>
                <a:r>
                  <a:rPr lang="zh-CN" altLang="en-US" dirty="0" smtClean="0"/>
                  <a:t>取值为</a:t>
                </a:r>
                <a:r>
                  <a:rPr lang="en-US" altLang="zh-CN" dirty="0" smtClean="0"/>
                  <a:t>0~1</a:t>
                </a:r>
                <a:r>
                  <a:rPr lang="zh-CN" altLang="en-US" dirty="0" smtClean="0"/>
                  <a:t>，取值越大意味着重合度越高</a:t>
                </a:r>
                <a:endParaRPr lang="en-US" altLang="zh-CN" dirty="0" smtClean="0"/>
              </a:p>
              <a:p>
                <a:pPr lvl="1"/>
                <a:r>
                  <a:rPr lang="zh-CN" altLang="en-US" dirty="0" smtClean="0"/>
                  <a:t>测试时作为权重因子与分类的置信度进行相乘</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3"/>
              </p:nvPr>
            </p:nvSpPr>
            <p:spPr>
              <a:blipFill rotWithShape="0">
                <a:blip r:embed="rId3"/>
                <a:stretch>
                  <a:fillRect l="-393"/>
                </a:stretch>
              </a:blipFill>
            </p:spPr>
            <p:txBody>
              <a:bodyPr/>
              <a:lstStyle/>
              <a:p>
                <a:r>
                  <a:rPr lang="zh-CN" altLang="en-US">
                    <a:noFill/>
                  </a:rPr>
                  <a:t> </a:t>
                </a:r>
              </a:p>
            </p:txBody>
          </p:sp>
        </mc:Fallback>
      </mc:AlternateContent>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00546" y="3494848"/>
            <a:ext cx="3797366" cy="2737019"/>
          </a:xfrm>
          <a:prstGeom prst="rect">
            <a:avLst/>
          </a:prstGeom>
        </p:spPr>
      </p:pic>
      <p:pic>
        <p:nvPicPr>
          <p:cNvPr id="7" name="图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17931" y="1406565"/>
            <a:ext cx="6002557" cy="4518055"/>
          </a:xfrm>
          <a:prstGeom prst="rect">
            <a:avLst/>
          </a:prstGeom>
        </p:spPr>
      </p:pic>
    </p:spTree>
    <p:extLst>
      <p:ext uri="{BB962C8B-B14F-4D97-AF65-F5344CB8AC3E}">
        <p14:creationId xmlns:p14="http://schemas.microsoft.com/office/powerpoint/2010/main" val="414048266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课程小结</a:t>
            </a:r>
            <a:endParaRPr lang="zh-CN" altLang="en-US" dirty="0"/>
          </a:p>
        </p:txBody>
      </p:sp>
      <p:sp>
        <p:nvSpPr>
          <p:cNvPr id="3" name="内容占位符 2"/>
          <p:cNvSpPr>
            <a:spLocks noGrp="1"/>
          </p:cNvSpPr>
          <p:nvPr>
            <p:ph sz="quarter" idx="13"/>
          </p:nvPr>
        </p:nvSpPr>
        <p:spPr/>
        <p:txBody>
          <a:bodyPr/>
          <a:lstStyle/>
          <a:p>
            <a:r>
              <a:rPr lang="zh-CN" altLang="en-US" dirty="0" smtClean="0"/>
              <a:t>在</a:t>
            </a:r>
            <a:r>
              <a:rPr lang="zh-CN" altLang="zh-CN" dirty="0" smtClean="0"/>
              <a:t>本</a:t>
            </a:r>
            <a:r>
              <a:rPr lang="zh-CN" altLang="en-US" dirty="0" smtClean="0"/>
              <a:t>节课</a:t>
            </a:r>
            <a:r>
              <a:rPr lang="zh-CN" altLang="zh-CN" dirty="0" smtClean="0"/>
              <a:t>中</a:t>
            </a:r>
            <a:r>
              <a:rPr lang="zh-CN" altLang="zh-CN" dirty="0"/>
              <a:t>，</a:t>
            </a:r>
            <a:r>
              <a:rPr lang="zh-CN" altLang="zh-CN" dirty="0" smtClean="0"/>
              <a:t>我们</a:t>
            </a:r>
            <a:r>
              <a:rPr lang="zh-CN" altLang="en-US" dirty="0"/>
              <a:t>学习</a:t>
            </a:r>
            <a:r>
              <a:rPr lang="zh-CN" altLang="en-US" dirty="0" smtClean="0"/>
              <a:t>了：</a:t>
            </a:r>
            <a:endParaRPr lang="en-US" altLang="zh-CN" dirty="0" smtClean="0"/>
          </a:p>
          <a:p>
            <a:r>
              <a:rPr lang="zh-CN" altLang="en-US" dirty="0" smtClean="0"/>
              <a:t>重要的一阶段检测算法</a:t>
            </a:r>
            <a:r>
              <a:rPr lang="en-US" altLang="zh-CN" dirty="0" smtClean="0"/>
              <a:t>——YOLO</a:t>
            </a:r>
            <a:r>
              <a:rPr lang="zh-CN" altLang="en-US" dirty="0" smtClean="0"/>
              <a:t>的各个版本及原理</a:t>
            </a:r>
            <a:endParaRPr lang="en-US" altLang="zh-CN" dirty="0" smtClean="0"/>
          </a:p>
          <a:p>
            <a:r>
              <a:rPr lang="zh-CN" altLang="en-US" dirty="0" smtClean="0"/>
              <a:t>其他的一阶段检测算法原理</a:t>
            </a:r>
            <a:endParaRPr lang="zh-CN" altLang="en-US" dirty="0"/>
          </a:p>
        </p:txBody>
      </p:sp>
    </p:spTree>
    <p:extLst>
      <p:ext uri="{BB962C8B-B14F-4D97-AF65-F5344CB8AC3E}">
        <p14:creationId xmlns:p14="http://schemas.microsoft.com/office/powerpoint/2010/main" val="31378939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 id="{F00044BE-8457-4074-8823-61E1394FBFA4}"/>
              </a:ext>
            </a:extLst>
          </p:cNvPr>
          <p:cNvSpPr>
            <a:spLocks noGrp="1"/>
          </p:cNvSpPr>
          <p:nvPr>
            <p:ph type="ctrTitle"/>
          </p:nvPr>
        </p:nvSpPr>
        <p:spPr/>
        <p:txBody>
          <a:bodyPr/>
          <a:lstStyle/>
          <a:p>
            <a:endParaRPr lang="zh-CN" altLang="en-US"/>
          </a:p>
        </p:txBody>
      </p:sp>
      <p:sp>
        <p:nvSpPr>
          <p:cNvPr id="3" name="文本占位符 2">
            <a:extLst>
              <a:ext uri="{FF2B5EF4-FFF2-40B4-BE49-F238E27FC236}">
                <a16:creationId xmlns:a16="http://schemas.microsoft.com/office/drawing/2014/main" xmlns="" id="{6CDD7759-BA71-41DE-BB7F-473ED21A855A}"/>
              </a:ext>
            </a:extLst>
          </p:cNvPr>
          <p:cNvSpPr>
            <a:spLocks noGrp="1"/>
          </p:cNvSpPr>
          <p:nvPr>
            <p:ph type="body" sz="quarter" idx="18"/>
          </p:nvPr>
        </p:nvSpPr>
        <p:spPr/>
        <p:txBody>
          <a:bodyPr/>
          <a:lstStyle/>
          <a:p>
            <a:endParaRPr lang="zh-CN" altLang="en-US"/>
          </a:p>
        </p:txBody>
      </p:sp>
      <p:sp>
        <p:nvSpPr>
          <p:cNvPr id="4" name="文本占位符 3">
            <a:extLst>
              <a:ext uri="{FF2B5EF4-FFF2-40B4-BE49-F238E27FC236}">
                <a16:creationId xmlns:a16="http://schemas.microsoft.com/office/drawing/2014/main" xmlns="" id="{B39E9368-67B8-448F-BCF0-D2F5A267509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6404832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THEME" val="#218130"/>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111D84"/>
      </a:accent1>
      <a:accent2>
        <a:srgbClr val="28528B"/>
      </a:accent2>
      <a:accent3>
        <a:srgbClr val="39AEC0"/>
      </a:accent3>
      <a:accent4>
        <a:srgbClr val="FBCB6A"/>
      </a:accent4>
      <a:accent5>
        <a:srgbClr val="757579"/>
      </a:accent5>
      <a:accent6>
        <a:srgbClr val="5C5E60"/>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课件：模板.potx" id="{75A736F1-A9F4-4558-8520-289A7C5FD6F8}" vid="{6F499C35-6EEA-4591-8D01-5F89C10EE7D2}"/>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课件：模板</Template>
  <TotalTime>28</TotalTime>
  <Words>8751</Words>
  <Application>Microsoft Office PowerPoint</Application>
  <PresentationFormat>宽屏</PresentationFormat>
  <Paragraphs>449</Paragraphs>
  <Slides>47</Slides>
  <Notes>40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47</vt:i4>
      </vt:variant>
    </vt:vector>
  </HeadingPairs>
  <TitlesOfParts>
    <vt:vector size="55" baseType="lpstr">
      <vt:lpstr>等线</vt:lpstr>
      <vt:lpstr>宋体</vt:lpstr>
      <vt:lpstr>微软雅黑</vt:lpstr>
      <vt:lpstr>Arial</vt:lpstr>
      <vt:lpstr>Calibri</vt:lpstr>
      <vt:lpstr>Cambria Math</vt:lpstr>
      <vt:lpstr>Ebrima</vt:lpstr>
      <vt:lpstr>主题5</vt:lpstr>
      <vt:lpstr>目标检测的实现</vt:lpstr>
      <vt:lpstr>课程目标</vt:lpstr>
      <vt:lpstr>PowerPoint 演示文稿</vt:lpstr>
      <vt:lpstr>/01</vt:lpstr>
      <vt:lpstr>一阶段检测算法</vt:lpstr>
      <vt:lpstr>YOLO</vt:lpstr>
      <vt:lpstr>YOLOv1</vt:lpstr>
      <vt:lpstr>YOLOv1</vt:lpstr>
      <vt:lpstr>YOLOv1</vt:lpstr>
      <vt:lpstr>YOLOv1</vt:lpstr>
      <vt:lpstr>YOLOv1</vt:lpstr>
      <vt:lpstr>YOLOv1</vt:lpstr>
      <vt:lpstr>YOLOv1</vt:lpstr>
      <vt:lpstr>YOLOv2</vt:lpstr>
      <vt:lpstr>YOLOv2</vt:lpstr>
      <vt:lpstr>YOLOv2</vt:lpstr>
      <vt:lpstr>YOLOv2</vt:lpstr>
      <vt:lpstr>YOLOv2</vt:lpstr>
      <vt:lpstr>YOLOv2</vt:lpstr>
      <vt:lpstr>YOLOv2</vt:lpstr>
      <vt:lpstr>YOLOv3</vt:lpstr>
      <vt:lpstr>YOLOv3</vt:lpstr>
      <vt:lpstr>YOLOv3</vt:lpstr>
      <vt:lpstr>YOLOv3</vt:lpstr>
      <vt:lpstr>YOLOv3</vt:lpstr>
      <vt:lpstr>YOLOv3</vt:lpstr>
      <vt:lpstr>YOLOv4</vt:lpstr>
      <vt:lpstr>YOLOv4</vt:lpstr>
      <vt:lpstr>YOLOv4</vt:lpstr>
      <vt:lpstr>YOLOv4</vt:lpstr>
      <vt:lpstr>YOLOv5</vt:lpstr>
      <vt:lpstr>YOLOv5</vt:lpstr>
      <vt:lpstr>/02</vt:lpstr>
      <vt:lpstr>SSD</vt:lpstr>
      <vt:lpstr>SSD</vt:lpstr>
      <vt:lpstr>SSD</vt:lpstr>
      <vt:lpstr>SSD</vt:lpstr>
      <vt:lpstr>SSD</vt:lpstr>
      <vt:lpstr>SSD</vt:lpstr>
      <vt:lpstr>FCOS</vt:lpstr>
      <vt:lpstr>FCOS</vt:lpstr>
      <vt:lpstr>FCOS</vt:lpstr>
      <vt:lpstr>FCOS</vt:lpstr>
      <vt:lpstr>FCOS</vt:lpstr>
      <vt:lpstr>FCOS</vt:lpstr>
      <vt:lpstr>课程小结</vt:lpstr>
      <vt:lpstr>PowerPoint 演示文稿</vt:lpstr>
    </vt:vector>
  </TitlesOfParts>
  <Manager>iSlide</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13</cp:revision>
  <cp:lastPrinted>2018-09-20T16:00:00Z</cp:lastPrinted>
  <dcterms:created xsi:type="dcterms:W3CDTF">2022-06-27T01:42:48Z</dcterms:created>
  <dcterms:modified xsi:type="dcterms:W3CDTF">2022-12-27T09:23:43Z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73014DBFC45146CA96EB1D40049F1576</vt:lpwstr>
  </property>
  <property fmtid="{D5CDD505-2E9C-101B-9397-08002B2CF9AE}" pid="4" name="KSOProductBuildVer">
    <vt:lpwstr>2052-11.1.0.10667</vt:lpwstr>
  </property>
</Properties>
</file>