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258" r:id="rId2"/>
    <p:sldId id="265" r:id="rId3"/>
    <p:sldId id="262" r:id="rId4"/>
    <p:sldId id="257"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9" r:id="rId40"/>
    <p:sldId id="300" r:id="rId41"/>
    <p:sldId id="301" r:id="rId42"/>
    <p:sldId id="302" r:id="rId43"/>
    <p:sldId id="303" r:id="rId44"/>
    <p:sldId id="304" r:id="rId45"/>
    <p:sldId id="305" r:id="rId46"/>
    <p:sldId id="306" r:id="rId47"/>
    <p:sldId id="307" r:id="rId48"/>
    <p:sldId id="308" r:id="rId49"/>
    <p:sldId id="264" r:id="rId50"/>
    <p:sldId id="261" r:id="rId51"/>
  </p:sldIdLst>
  <p:sldSz cx="12192000" cy="6858000"/>
  <p:notesSz cx="6858000" cy="9144000"/>
  <p:custDataLst>
    <p:tags r:id="rId54"/>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6701" autoAdjust="0"/>
  </p:normalViewPr>
  <p:slideViewPr>
    <p:cSldViewPr snapToGrid="0" showGuides="1">
      <p:cViewPr varScale="1">
        <p:scale>
          <a:sx n="89" d="100"/>
          <a:sy n="89" d="100"/>
        </p:scale>
        <p:origin x="1374" y="90"/>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F3224A-1E60-4240-A878-1E4D229A22E8}" type="doc">
      <dgm:prSet loTypeId="urn:microsoft.com/office/officeart/2005/8/layout/process1" loCatId="process" qsTypeId="urn:microsoft.com/office/officeart/2005/8/quickstyle/simple1" qsCatId="simple" csTypeId="urn:microsoft.com/office/officeart/2005/8/colors/accent1_2" csCatId="accent1" phldr="1"/>
      <dgm:spPr/>
    </dgm:pt>
    <dgm:pt modelId="{BEE35944-E4FB-4815-88E3-D607498436C5}">
      <dgm:prSet phldrT="[文本]">
        <dgm:style>
          <a:lnRef idx="2">
            <a:schemeClr val="dk1"/>
          </a:lnRef>
          <a:fillRef idx="1">
            <a:schemeClr val="lt1"/>
          </a:fillRef>
          <a:effectRef idx="0">
            <a:schemeClr val="dk1"/>
          </a:effectRef>
          <a:fontRef idx="minor">
            <a:schemeClr val="dk1"/>
          </a:fontRef>
        </dgm:style>
      </dgm:prSet>
      <dgm:spPr/>
      <dgm:t>
        <a:bodyPr/>
        <a:lstStyle/>
        <a:p>
          <a:r>
            <a:rPr lang="zh-CN" altLang="en-US" dirty="0" smtClean="0"/>
            <a:t>图像</a:t>
          </a:r>
          <a:endParaRPr lang="zh-CN" altLang="en-US" dirty="0"/>
        </a:p>
      </dgm:t>
    </dgm:pt>
    <dgm:pt modelId="{1ECF5CA8-27ED-4191-B37A-FCD3C8A44636}" type="parTrans" cxnId="{A29C1D81-37B5-4C02-9526-5FFC4E132A1F}">
      <dgm:prSet/>
      <dgm:spPr/>
      <dgm:t>
        <a:bodyPr/>
        <a:lstStyle/>
        <a:p>
          <a:endParaRPr lang="zh-CN" altLang="en-US"/>
        </a:p>
      </dgm:t>
    </dgm:pt>
    <dgm:pt modelId="{A285EA4B-AAFA-4515-8AA9-4187E7864FDA}" type="sibTrans" cxnId="{A29C1D81-37B5-4C02-9526-5FFC4E132A1F}">
      <dgm:prSet/>
      <dgm:spPr/>
      <dgm:t>
        <a:bodyPr/>
        <a:lstStyle/>
        <a:p>
          <a:endParaRPr lang="zh-CN" altLang="en-US"/>
        </a:p>
      </dgm:t>
    </dgm:pt>
    <dgm:pt modelId="{AF3AE2EF-6E86-46AD-A788-DCBD9AE6BC89}">
      <dgm:prSet phldrT="[文本]">
        <dgm:style>
          <a:lnRef idx="2">
            <a:schemeClr val="dk1"/>
          </a:lnRef>
          <a:fillRef idx="1">
            <a:schemeClr val="lt1"/>
          </a:fillRef>
          <a:effectRef idx="0">
            <a:schemeClr val="dk1"/>
          </a:effectRef>
          <a:fontRef idx="minor">
            <a:schemeClr val="dk1"/>
          </a:fontRef>
        </dgm:style>
      </dgm:prSet>
      <dgm:spPr>
        <a:ln w="50800"/>
      </dgm:spPr>
      <dgm:t>
        <a:bodyPr/>
        <a:lstStyle/>
        <a:p>
          <a:r>
            <a:rPr lang="zh-CN" altLang="en-US" dirty="0" smtClean="0"/>
            <a:t>截取</a:t>
          </a:r>
          <a:r>
            <a:rPr lang="en-US" altLang="zh-CN" dirty="0" smtClean="0"/>
            <a:t>/</a:t>
          </a:r>
          <a:r>
            <a:rPr lang="zh-CN" altLang="en-US" dirty="0" smtClean="0"/>
            <a:t>拉伸</a:t>
          </a:r>
          <a:endParaRPr lang="zh-CN" altLang="en-US" dirty="0"/>
        </a:p>
      </dgm:t>
    </dgm:pt>
    <dgm:pt modelId="{97F2398E-47D4-41B2-97AA-023C0AA7E988}" type="parTrans" cxnId="{AFCB6B3B-A570-48DF-881B-D46480215435}">
      <dgm:prSet/>
      <dgm:spPr/>
      <dgm:t>
        <a:bodyPr/>
        <a:lstStyle/>
        <a:p>
          <a:endParaRPr lang="zh-CN" altLang="en-US"/>
        </a:p>
      </dgm:t>
    </dgm:pt>
    <dgm:pt modelId="{A1813B30-0DEC-473E-8B64-77ED266D4CA6}" type="sibTrans" cxnId="{AFCB6B3B-A570-48DF-881B-D46480215435}">
      <dgm:prSet/>
      <dgm:spPr/>
      <dgm:t>
        <a:bodyPr/>
        <a:lstStyle/>
        <a:p>
          <a:endParaRPr lang="zh-CN" altLang="en-US"/>
        </a:p>
      </dgm:t>
    </dgm:pt>
    <dgm:pt modelId="{C45D0D93-0410-4C5F-A7E1-DEA30B7AD688}">
      <dgm:prSet phldrT="[文本]">
        <dgm:style>
          <a:lnRef idx="2">
            <a:schemeClr val="dk1"/>
          </a:lnRef>
          <a:fillRef idx="1">
            <a:schemeClr val="lt1"/>
          </a:fillRef>
          <a:effectRef idx="0">
            <a:schemeClr val="dk1"/>
          </a:effectRef>
          <a:fontRef idx="minor">
            <a:schemeClr val="dk1"/>
          </a:fontRef>
        </dgm:style>
      </dgm:prSet>
      <dgm:spPr/>
      <dgm:t>
        <a:bodyPr/>
        <a:lstStyle/>
        <a:p>
          <a:r>
            <a:rPr lang="zh-CN" altLang="en-US" dirty="0" smtClean="0"/>
            <a:t>卷积层</a:t>
          </a:r>
          <a:endParaRPr lang="zh-CN" altLang="en-US" dirty="0"/>
        </a:p>
      </dgm:t>
    </dgm:pt>
    <dgm:pt modelId="{6AA8C5E2-6D26-411F-9318-6B47A098DC2C}" type="parTrans" cxnId="{6F99B6F7-071E-435A-BE7D-9DA41C91AF6F}">
      <dgm:prSet/>
      <dgm:spPr/>
      <dgm:t>
        <a:bodyPr/>
        <a:lstStyle/>
        <a:p>
          <a:endParaRPr lang="zh-CN" altLang="en-US"/>
        </a:p>
      </dgm:t>
    </dgm:pt>
    <dgm:pt modelId="{E663B59C-CCE8-41CF-A6EA-52C2B91FFA5C}" type="sibTrans" cxnId="{6F99B6F7-071E-435A-BE7D-9DA41C91AF6F}">
      <dgm:prSet/>
      <dgm:spPr/>
      <dgm:t>
        <a:bodyPr/>
        <a:lstStyle/>
        <a:p>
          <a:endParaRPr lang="zh-CN" altLang="en-US"/>
        </a:p>
      </dgm:t>
    </dgm:pt>
    <dgm:pt modelId="{CDC5BA09-0380-4E9E-BA17-9C5B45893CBF}">
      <dgm:prSet>
        <dgm:style>
          <a:lnRef idx="2">
            <a:schemeClr val="dk1"/>
          </a:lnRef>
          <a:fillRef idx="1">
            <a:schemeClr val="lt1"/>
          </a:fillRef>
          <a:effectRef idx="0">
            <a:schemeClr val="dk1"/>
          </a:effectRef>
          <a:fontRef idx="minor">
            <a:schemeClr val="dk1"/>
          </a:fontRef>
        </dgm:style>
      </dgm:prSet>
      <dgm:spPr/>
      <dgm:t>
        <a:bodyPr/>
        <a:lstStyle/>
        <a:p>
          <a:r>
            <a:rPr lang="zh-CN" altLang="en-US" dirty="0" smtClean="0"/>
            <a:t>全连接层</a:t>
          </a:r>
          <a:endParaRPr lang="zh-CN" altLang="en-US" dirty="0"/>
        </a:p>
      </dgm:t>
    </dgm:pt>
    <dgm:pt modelId="{90A8F451-7B81-45CD-A3D8-3C92DD9BC1F3}" type="parTrans" cxnId="{6231E035-62BB-483A-8C22-8FCDFB198340}">
      <dgm:prSet/>
      <dgm:spPr/>
      <dgm:t>
        <a:bodyPr/>
        <a:lstStyle/>
        <a:p>
          <a:endParaRPr lang="zh-CN" altLang="en-US"/>
        </a:p>
      </dgm:t>
    </dgm:pt>
    <dgm:pt modelId="{B24AFA16-653C-46EC-ADB5-A62DDB5F5E2E}" type="sibTrans" cxnId="{6231E035-62BB-483A-8C22-8FCDFB198340}">
      <dgm:prSet/>
      <dgm:spPr/>
      <dgm:t>
        <a:bodyPr/>
        <a:lstStyle/>
        <a:p>
          <a:endParaRPr lang="zh-CN" altLang="en-US"/>
        </a:p>
      </dgm:t>
    </dgm:pt>
    <dgm:pt modelId="{722C7C36-D12B-476C-B2B3-14B6E015FAC6}">
      <dgm:prSet>
        <dgm:style>
          <a:lnRef idx="2">
            <a:schemeClr val="dk1"/>
          </a:lnRef>
          <a:fillRef idx="1">
            <a:schemeClr val="lt1"/>
          </a:fillRef>
          <a:effectRef idx="0">
            <a:schemeClr val="dk1"/>
          </a:effectRef>
          <a:fontRef idx="minor">
            <a:schemeClr val="dk1"/>
          </a:fontRef>
        </dgm:style>
      </dgm:prSet>
      <dgm:spPr/>
      <dgm:t>
        <a:bodyPr/>
        <a:lstStyle/>
        <a:p>
          <a:r>
            <a:rPr lang="zh-CN" altLang="en-US" dirty="0" smtClean="0"/>
            <a:t>输出</a:t>
          </a:r>
          <a:endParaRPr lang="zh-CN" altLang="en-US" dirty="0"/>
        </a:p>
      </dgm:t>
    </dgm:pt>
    <dgm:pt modelId="{CA65A101-1D5B-4510-9E13-6D85C5F3ACBB}" type="parTrans" cxnId="{5B74125D-33FD-4B73-AD52-7622A9B4C55C}">
      <dgm:prSet/>
      <dgm:spPr/>
      <dgm:t>
        <a:bodyPr/>
        <a:lstStyle/>
        <a:p>
          <a:endParaRPr lang="zh-CN" altLang="en-US"/>
        </a:p>
      </dgm:t>
    </dgm:pt>
    <dgm:pt modelId="{18C3F774-07A6-414A-A5CB-EB39873639E6}" type="sibTrans" cxnId="{5B74125D-33FD-4B73-AD52-7622A9B4C55C}">
      <dgm:prSet/>
      <dgm:spPr/>
      <dgm:t>
        <a:bodyPr/>
        <a:lstStyle/>
        <a:p>
          <a:endParaRPr lang="zh-CN" altLang="en-US"/>
        </a:p>
      </dgm:t>
    </dgm:pt>
    <dgm:pt modelId="{0B984E64-AAD9-449B-AB84-3B989F9B4030}" type="pres">
      <dgm:prSet presAssocID="{03F3224A-1E60-4240-A878-1E4D229A22E8}" presName="Name0" presStyleCnt="0">
        <dgm:presLayoutVars>
          <dgm:dir/>
          <dgm:resizeHandles val="exact"/>
        </dgm:presLayoutVars>
      </dgm:prSet>
      <dgm:spPr/>
    </dgm:pt>
    <dgm:pt modelId="{BEDCD3B8-41DD-4AC1-868E-ED39D9C72BC5}" type="pres">
      <dgm:prSet presAssocID="{BEE35944-E4FB-4815-88E3-D607498436C5}" presName="node" presStyleLbl="node1" presStyleIdx="0" presStyleCnt="5" custScaleX="66698">
        <dgm:presLayoutVars>
          <dgm:bulletEnabled val="1"/>
        </dgm:presLayoutVars>
      </dgm:prSet>
      <dgm:spPr/>
      <dgm:t>
        <a:bodyPr/>
        <a:lstStyle/>
        <a:p>
          <a:endParaRPr lang="zh-CN" altLang="en-US"/>
        </a:p>
      </dgm:t>
    </dgm:pt>
    <dgm:pt modelId="{0EBD8429-B927-4744-AC05-84138AE80C7B}" type="pres">
      <dgm:prSet presAssocID="{A285EA4B-AAFA-4515-8AA9-4187E7864FDA}" presName="sibTrans" presStyleLbl="sibTrans2D1" presStyleIdx="0" presStyleCnt="4"/>
      <dgm:spPr/>
      <dgm:t>
        <a:bodyPr/>
        <a:lstStyle/>
        <a:p>
          <a:endParaRPr lang="zh-CN" altLang="en-US"/>
        </a:p>
      </dgm:t>
    </dgm:pt>
    <dgm:pt modelId="{798239EB-DEB4-482C-AC7F-7F7C7866CDC8}" type="pres">
      <dgm:prSet presAssocID="{A285EA4B-AAFA-4515-8AA9-4187E7864FDA}" presName="connectorText" presStyleLbl="sibTrans2D1" presStyleIdx="0" presStyleCnt="4"/>
      <dgm:spPr/>
      <dgm:t>
        <a:bodyPr/>
        <a:lstStyle/>
        <a:p>
          <a:endParaRPr lang="zh-CN" altLang="en-US"/>
        </a:p>
      </dgm:t>
    </dgm:pt>
    <dgm:pt modelId="{29D1DDF2-8B9C-4BBE-8642-8F27A385FB2C}" type="pres">
      <dgm:prSet presAssocID="{AF3AE2EF-6E86-46AD-A788-DCBD9AE6BC89}" presName="node" presStyleLbl="node1" presStyleIdx="1" presStyleCnt="5" custScaleX="132011">
        <dgm:presLayoutVars>
          <dgm:bulletEnabled val="1"/>
        </dgm:presLayoutVars>
      </dgm:prSet>
      <dgm:spPr/>
      <dgm:t>
        <a:bodyPr/>
        <a:lstStyle/>
        <a:p>
          <a:endParaRPr lang="zh-CN" altLang="en-US"/>
        </a:p>
      </dgm:t>
    </dgm:pt>
    <dgm:pt modelId="{D69B6F62-C50B-413B-A86F-5323E1ADFB7B}" type="pres">
      <dgm:prSet presAssocID="{A1813B30-0DEC-473E-8B64-77ED266D4CA6}" presName="sibTrans" presStyleLbl="sibTrans2D1" presStyleIdx="1" presStyleCnt="4"/>
      <dgm:spPr/>
      <dgm:t>
        <a:bodyPr/>
        <a:lstStyle/>
        <a:p>
          <a:endParaRPr lang="zh-CN" altLang="en-US"/>
        </a:p>
      </dgm:t>
    </dgm:pt>
    <dgm:pt modelId="{AC596D00-ABA0-4479-9E95-362D7A4E38B8}" type="pres">
      <dgm:prSet presAssocID="{A1813B30-0DEC-473E-8B64-77ED266D4CA6}" presName="connectorText" presStyleLbl="sibTrans2D1" presStyleIdx="1" presStyleCnt="4"/>
      <dgm:spPr/>
      <dgm:t>
        <a:bodyPr/>
        <a:lstStyle/>
        <a:p>
          <a:endParaRPr lang="zh-CN" altLang="en-US"/>
        </a:p>
      </dgm:t>
    </dgm:pt>
    <dgm:pt modelId="{D5596E7A-9EA9-4768-916F-A6D89EFAAC68}" type="pres">
      <dgm:prSet presAssocID="{C45D0D93-0410-4C5F-A7E1-DEA30B7AD688}" presName="node" presStyleLbl="node1" presStyleIdx="2" presStyleCnt="5" custScaleX="84513">
        <dgm:presLayoutVars>
          <dgm:bulletEnabled val="1"/>
        </dgm:presLayoutVars>
      </dgm:prSet>
      <dgm:spPr/>
      <dgm:t>
        <a:bodyPr/>
        <a:lstStyle/>
        <a:p>
          <a:endParaRPr lang="zh-CN" altLang="en-US"/>
        </a:p>
      </dgm:t>
    </dgm:pt>
    <dgm:pt modelId="{CFC4AD45-CF57-44BC-8282-B0F46447385E}" type="pres">
      <dgm:prSet presAssocID="{E663B59C-CCE8-41CF-A6EA-52C2B91FFA5C}" presName="sibTrans" presStyleLbl="sibTrans2D1" presStyleIdx="2" presStyleCnt="4"/>
      <dgm:spPr/>
      <dgm:t>
        <a:bodyPr/>
        <a:lstStyle/>
        <a:p>
          <a:endParaRPr lang="zh-CN" altLang="en-US"/>
        </a:p>
      </dgm:t>
    </dgm:pt>
    <dgm:pt modelId="{D34F3011-024C-4329-A5F1-8544886EE315}" type="pres">
      <dgm:prSet presAssocID="{E663B59C-CCE8-41CF-A6EA-52C2B91FFA5C}" presName="connectorText" presStyleLbl="sibTrans2D1" presStyleIdx="2" presStyleCnt="4"/>
      <dgm:spPr/>
      <dgm:t>
        <a:bodyPr/>
        <a:lstStyle/>
        <a:p>
          <a:endParaRPr lang="zh-CN" altLang="en-US"/>
        </a:p>
      </dgm:t>
    </dgm:pt>
    <dgm:pt modelId="{19A1B0FF-5DDA-45A8-9C74-C0A2B9D1BECF}" type="pres">
      <dgm:prSet presAssocID="{CDC5BA09-0380-4E9E-BA17-9C5B45893CBF}" presName="node" presStyleLbl="node1" presStyleIdx="3" presStyleCnt="5" custScaleX="99748">
        <dgm:presLayoutVars>
          <dgm:bulletEnabled val="1"/>
        </dgm:presLayoutVars>
      </dgm:prSet>
      <dgm:spPr/>
      <dgm:t>
        <a:bodyPr/>
        <a:lstStyle/>
        <a:p>
          <a:endParaRPr lang="zh-CN" altLang="en-US"/>
        </a:p>
      </dgm:t>
    </dgm:pt>
    <dgm:pt modelId="{B89FFAE3-BF2B-4D49-BD5B-6CE78678F0FE}" type="pres">
      <dgm:prSet presAssocID="{B24AFA16-653C-46EC-ADB5-A62DDB5F5E2E}" presName="sibTrans" presStyleLbl="sibTrans2D1" presStyleIdx="3" presStyleCnt="4"/>
      <dgm:spPr/>
      <dgm:t>
        <a:bodyPr/>
        <a:lstStyle/>
        <a:p>
          <a:endParaRPr lang="zh-CN" altLang="en-US"/>
        </a:p>
      </dgm:t>
    </dgm:pt>
    <dgm:pt modelId="{B281A351-D254-4597-919F-FB98CE71F9BB}" type="pres">
      <dgm:prSet presAssocID="{B24AFA16-653C-46EC-ADB5-A62DDB5F5E2E}" presName="connectorText" presStyleLbl="sibTrans2D1" presStyleIdx="3" presStyleCnt="4"/>
      <dgm:spPr/>
      <dgm:t>
        <a:bodyPr/>
        <a:lstStyle/>
        <a:p>
          <a:endParaRPr lang="zh-CN" altLang="en-US"/>
        </a:p>
      </dgm:t>
    </dgm:pt>
    <dgm:pt modelId="{EF0EDBA1-6F17-4AF4-8F80-CB7177CE559D}" type="pres">
      <dgm:prSet presAssocID="{722C7C36-D12B-476C-B2B3-14B6E015FAC6}" presName="node" presStyleLbl="node1" presStyleIdx="4" presStyleCnt="5" custScaleX="66202">
        <dgm:presLayoutVars>
          <dgm:bulletEnabled val="1"/>
        </dgm:presLayoutVars>
      </dgm:prSet>
      <dgm:spPr/>
      <dgm:t>
        <a:bodyPr/>
        <a:lstStyle/>
        <a:p>
          <a:endParaRPr lang="zh-CN" altLang="en-US"/>
        </a:p>
      </dgm:t>
    </dgm:pt>
  </dgm:ptLst>
  <dgm:cxnLst>
    <dgm:cxn modelId="{3B30A46C-7E0F-4839-9FDF-33B9552C9B86}" type="presOf" srcId="{AF3AE2EF-6E86-46AD-A788-DCBD9AE6BC89}" destId="{29D1DDF2-8B9C-4BBE-8642-8F27A385FB2C}" srcOrd="0" destOrd="0" presId="urn:microsoft.com/office/officeart/2005/8/layout/process1"/>
    <dgm:cxn modelId="{962235E5-F0F2-4571-93B0-5E2C67C89A82}" type="presOf" srcId="{CDC5BA09-0380-4E9E-BA17-9C5B45893CBF}" destId="{19A1B0FF-5DDA-45A8-9C74-C0A2B9D1BECF}" srcOrd="0" destOrd="0" presId="urn:microsoft.com/office/officeart/2005/8/layout/process1"/>
    <dgm:cxn modelId="{5A868846-B4FD-496C-A6D7-4C231FED67BF}" type="presOf" srcId="{A1813B30-0DEC-473E-8B64-77ED266D4CA6}" destId="{D69B6F62-C50B-413B-A86F-5323E1ADFB7B}" srcOrd="0" destOrd="0" presId="urn:microsoft.com/office/officeart/2005/8/layout/process1"/>
    <dgm:cxn modelId="{5E9A5BA6-96B7-46BB-B5FB-D8C16CA205F6}" type="presOf" srcId="{C45D0D93-0410-4C5F-A7E1-DEA30B7AD688}" destId="{D5596E7A-9EA9-4768-916F-A6D89EFAAC68}" srcOrd="0" destOrd="0" presId="urn:microsoft.com/office/officeart/2005/8/layout/process1"/>
    <dgm:cxn modelId="{AFCB6B3B-A570-48DF-881B-D46480215435}" srcId="{03F3224A-1E60-4240-A878-1E4D229A22E8}" destId="{AF3AE2EF-6E86-46AD-A788-DCBD9AE6BC89}" srcOrd="1" destOrd="0" parTransId="{97F2398E-47D4-41B2-97AA-023C0AA7E988}" sibTransId="{A1813B30-0DEC-473E-8B64-77ED266D4CA6}"/>
    <dgm:cxn modelId="{659FFC0C-1C0D-4E29-B8FE-EA0D46411962}" type="presOf" srcId="{BEE35944-E4FB-4815-88E3-D607498436C5}" destId="{BEDCD3B8-41DD-4AC1-868E-ED39D9C72BC5}" srcOrd="0" destOrd="0" presId="urn:microsoft.com/office/officeart/2005/8/layout/process1"/>
    <dgm:cxn modelId="{133B711E-6493-4DFD-985C-DAC6603C44A8}" type="presOf" srcId="{E663B59C-CCE8-41CF-A6EA-52C2B91FFA5C}" destId="{CFC4AD45-CF57-44BC-8282-B0F46447385E}" srcOrd="0" destOrd="0" presId="urn:microsoft.com/office/officeart/2005/8/layout/process1"/>
    <dgm:cxn modelId="{5B74125D-33FD-4B73-AD52-7622A9B4C55C}" srcId="{03F3224A-1E60-4240-A878-1E4D229A22E8}" destId="{722C7C36-D12B-476C-B2B3-14B6E015FAC6}" srcOrd="4" destOrd="0" parTransId="{CA65A101-1D5B-4510-9E13-6D85C5F3ACBB}" sibTransId="{18C3F774-07A6-414A-A5CB-EB39873639E6}"/>
    <dgm:cxn modelId="{603C9477-E74E-4554-A1CC-8E9635828AFE}" type="presOf" srcId="{B24AFA16-653C-46EC-ADB5-A62DDB5F5E2E}" destId="{B281A351-D254-4597-919F-FB98CE71F9BB}" srcOrd="1" destOrd="0" presId="urn:microsoft.com/office/officeart/2005/8/layout/process1"/>
    <dgm:cxn modelId="{4BD7F8BD-453F-4FB4-AEA9-6D193ADFD869}" type="presOf" srcId="{A285EA4B-AAFA-4515-8AA9-4187E7864FDA}" destId="{0EBD8429-B927-4744-AC05-84138AE80C7B}" srcOrd="0" destOrd="0" presId="urn:microsoft.com/office/officeart/2005/8/layout/process1"/>
    <dgm:cxn modelId="{774BAB5F-E6AB-4E42-80AB-708D3A4D90D7}" type="presOf" srcId="{B24AFA16-653C-46EC-ADB5-A62DDB5F5E2E}" destId="{B89FFAE3-BF2B-4D49-BD5B-6CE78678F0FE}" srcOrd="0" destOrd="0" presId="urn:microsoft.com/office/officeart/2005/8/layout/process1"/>
    <dgm:cxn modelId="{DAA7AE17-067B-437A-9E5F-63ABCD0E464F}" type="presOf" srcId="{A285EA4B-AAFA-4515-8AA9-4187E7864FDA}" destId="{798239EB-DEB4-482C-AC7F-7F7C7866CDC8}" srcOrd="1" destOrd="0" presId="urn:microsoft.com/office/officeart/2005/8/layout/process1"/>
    <dgm:cxn modelId="{A29C1D81-37B5-4C02-9526-5FFC4E132A1F}" srcId="{03F3224A-1E60-4240-A878-1E4D229A22E8}" destId="{BEE35944-E4FB-4815-88E3-D607498436C5}" srcOrd="0" destOrd="0" parTransId="{1ECF5CA8-27ED-4191-B37A-FCD3C8A44636}" sibTransId="{A285EA4B-AAFA-4515-8AA9-4187E7864FDA}"/>
    <dgm:cxn modelId="{1567F2AA-1E78-41E1-B1D1-219CE6C04ED7}" type="presOf" srcId="{03F3224A-1E60-4240-A878-1E4D229A22E8}" destId="{0B984E64-AAD9-449B-AB84-3B989F9B4030}" srcOrd="0" destOrd="0" presId="urn:microsoft.com/office/officeart/2005/8/layout/process1"/>
    <dgm:cxn modelId="{6C3A2AC5-E70B-4CD0-8D1C-4D9E9ADFB819}" type="presOf" srcId="{E663B59C-CCE8-41CF-A6EA-52C2B91FFA5C}" destId="{D34F3011-024C-4329-A5F1-8544886EE315}" srcOrd="1" destOrd="0" presId="urn:microsoft.com/office/officeart/2005/8/layout/process1"/>
    <dgm:cxn modelId="{6F99B6F7-071E-435A-BE7D-9DA41C91AF6F}" srcId="{03F3224A-1E60-4240-A878-1E4D229A22E8}" destId="{C45D0D93-0410-4C5F-A7E1-DEA30B7AD688}" srcOrd="2" destOrd="0" parTransId="{6AA8C5E2-6D26-411F-9318-6B47A098DC2C}" sibTransId="{E663B59C-CCE8-41CF-A6EA-52C2B91FFA5C}"/>
    <dgm:cxn modelId="{E9FB29D7-2EF1-4778-BC56-EDD4FBCB1401}" type="presOf" srcId="{722C7C36-D12B-476C-B2B3-14B6E015FAC6}" destId="{EF0EDBA1-6F17-4AF4-8F80-CB7177CE559D}" srcOrd="0" destOrd="0" presId="urn:microsoft.com/office/officeart/2005/8/layout/process1"/>
    <dgm:cxn modelId="{6231E035-62BB-483A-8C22-8FCDFB198340}" srcId="{03F3224A-1E60-4240-A878-1E4D229A22E8}" destId="{CDC5BA09-0380-4E9E-BA17-9C5B45893CBF}" srcOrd="3" destOrd="0" parTransId="{90A8F451-7B81-45CD-A3D8-3C92DD9BC1F3}" sibTransId="{B24AFA16-653C-46EC-ADB5-A62DDB5F5E2E}"/>
    <dgm:cxn modelId="{5E90C4DA-A769-4781-8D62-84A7FC5ABD2A}" type="presOf" srcId="{A1813B30-0DEC-473E-8B64-77ED266D4CA6}" destId="{AC596D00-ABA0-4479-9E95-362D7A4E38B8}" srcOrd="1" destOrd="0" presId="urn:microsoft.com/office/officeart/2005/8/layout/process1"/>
    <dgm:cxn modelId="{724FA8D6-0C6E-41FB-A327-7C3F6C4E4420}" type="presParOf" srcId="{0B984E64-AAD9-449B-AB84-3B989F9B4030}" destId="{BEDCD3B8-41DD-4AC1-868E-ED39D9C72BC5}" srcOrd="0" destOrd="0" presId="urn:microsoft.com/office/officeart/2005/8/layout/process1"/>
    <dgm:cxn modelId="{165EADEC-3E36-40C7-8D8D-6625D8DDF62E}" type="presParOf" srcId="{0B984E64-AAD9-449B-AB84-3B989F9B4030}" destId="{0EBD8429-B927-4744-AC05-84138AE80C7B}" srcOrd="1" destOrd="0" presId="urn:microsoft.com/office/officeart/2005/8/layout/process1"/>
    <dgm:cxn modelId="{ED9B4E91-C275-4DE0-965D-25584D9F1C40}" type="presParOf" srcId="{0EBD8429-B927-4744-AC05-84138AE80C7B}" destId="{798239EB-DEB4-482C-AC7F-7F7C7866CDC8}" srcOrd="0" destOrd="0" presId="urn:microsoft.com/office/officeart/2005/8/layout/process1"/>
    <dgm:cxn modelId="{217280D5-D044-40D9-B4E7-6CF91A9D9196}" type="presParOf" srcId="{0B984E64-AAD9-449B-AB84-3B989F9B4030}" destId="{29D1DDF2-8B9C-4BBE-8642-8F27A385FB2C}" srcOrd="2" destOrd="0" presId="urn:microsoft.com/office/officeart/2005/8/layout/process1"/>
    <dgm:cxn modelId="{A1425B2A-175E-4768-B5E9-2BA10357E02B}" type="presParOf" srcId="{0B984E64-AAD9-449B-AB84-3B989F9B4030}" destId="{D69B6F62-C50B-413B-A86F-5323E1ADFB7B}" srcOrd="3" destOrd="0" presId="urn:microsoft.com/office/officeart/2005/8/layout/process1"/>
    <dgm:cxn modelId="{EE76849F-6FAB-4DA4-9A4B-11B7B0E5BB6A}" type="presParOf" srcId="{D69B6F62-C50B-413B-A86F-5323E1ADFB7B}" destId="{AC596D00-ABA0-4479-9E95-362D7A4E38B8}" srcOrd="0" destOrd="0" presId="urn:microsoft.com/office/officeart/2005/8/layout/process1"/>
    <dgm:cxn modelId="{CEAE7CD4-335F-4D70-B2FD-0E06D7FFFD10}" type="presParOf" srcId="{0B984E64-AAD9-449B-AB84-3B989F9B4030}" destId="{D5596E7A-9EA9-4768-916F-A6D89EFAAC68}" srcOrd="4" destOrd="0" presId="urn:microsoft.com/office/officeart/2005/8/layout/process1"/>
    <dgm:cxn modelId="{A1445C90-1238-463F-B2A9-96C8C6A85B28}" type="presParOf" srcId="{0B984E64-AAD9-449B-AB84-3B989F9B4030}" destId="{CFC4AD45-CF57-44BC-8282-B0F46447385E}" srcOrd="5" destOrd="0" presId="urn:microsoft.com/office/officeart/2005/8/layout/process1"/>
    <dgm:cxn modelId="{7E9AC301-93CF-4609-9D34-74DB9EDDACA3}" type="presParOf" srcId="{CFC4AD45-CF57-44BC-8282-B0F46447385E}" destId="{D34F3011-024C-4329-A5F1-8544886EE315}" srcOrd="0" destOrd="0" presId="urn:microsoft.com/office/officeart/2005/8/layout/process1"/>
    <dgm:cxn modelId="{6410265F-04C6-40D3-AD45-EC144AC40373}" type="presParOf" srcId="{0B984E64-AAD9-449B-AB84-3B989F9B4030}" destId="{19A1B0FF-5DDA-45A8-9C74-C0A2B9D1BECF}" srcOrd="6" destOrd="0" presId="urn:microsoft.com/office/officeart/2005/8/layout/process1"/>
    <dgm:cxn modelId="{935BE69A-6D13-4917-80DC-85F53F253F9A}" type="presParOf" srcId="{0B984E64-AAD9-449B-AB84-3B989F9B4030}" destId="{B89FFAE3-BF2B-4D49-BD5B-6CE78678F0FE}" srcOrd="7" destOrd="0" presId="urn:microsoft.com/office/officeart/2005/8/layout/process1"/>
    <dgm:cxn modelId="{AC65E1CC-C67E-4918-8E76-A86475D4633C}" type="presParOf" srcId="{B89FFAE3-BF2B-4D49-BD5B-6CE78678F0FE}" destId="{B281A351-D254-4597-919F-FB98CE71F9BB}" srcOrd="0" destOrd="0" presId="urn:microsoft.com/office/officeart/2005/8/layout/process1"/>
    <dgm:cxn modelId="{905240C2-DAB1-43E5-98FB-9BB3C8D8FD7A}" type="presParOf" srcId="{0B984E64-AAD9-449B-AB84-3B989F9B4030}" destId="{EF0EDBA1-6F17-4AF4-8F80-CB7177CE559D}"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F3224A-1E60-4240-A878-1E4D229A22E8}" type="doc">
      <dgm:prSet loTypeId="urn:microsoft.com/office/officeart/2005/8/layout/process1" loCatId="process" qsTypeId="urn:microsoft.com/office/officeart/2005/8/quickstyle/simple1" qsCatId="simple" csTypeId="urn:microsoft.com/office/officeart/2005/8/colors/accent1_2" csCatId="accent1" phldr="1"/>
      <dgm:spPr/>
    </dgm:pt>
    <dgm:pt modelId="{BEE35944-E4FB-4815-88E3-D607498436C5}">
      <dgm:prSet phldrT="[文本]" custT="1">
        <dgm:style>
          <a:lnRef idx="2">
            <a:schemeClr val="dk1"/>
          </a:lnRef>
          <a:fillRef idx="1">
            <a:schemeClr val="lt1"/>
          </a:fillRef>
          <a:effectRef idx="0">
            <a:schemeClr val="dk1"/>
          </a:effectRef>
          <a:fontRef idx="minor">
            <a:schemeClr val="dk1"/>
          </a:fontRef>
        </dgm:style>
      </dgm:prSet>
      <dgm:spPr/>
      <dgm:t>
        <a:bodyPr/>
        <a:lstStyle/>
        <a:p>
          <a:r>
            <a:rPr lang="zh-CN" altLang="en-US" sz="1800" dirty="0" smtClean="0"/>
            <a:t>图像</a:t>
          </a:r>
          <a:endParaRPr lang="zh-CN" altLang="en-US" sz="1800" dirty="0"/>
        </a:p>
      </dgm:t>
    </dgm:pt>
    <dgm:pt modelId="{1ECF5CA8-27ED-4191-B37A-FCD3C8A44636}" type="parTrans" cxnId="{A29C1D81-37B5-4C02-9526-5FFC4E132A1F}">
      <dgm:prSet/>
      <dgm:spPr/>
      <dgm:t>
        <a:bodyPr/>
        <a:lstStyle/>
        <a:p>
          <a:endParaRPr lang="zh-CN" altLang="en-US" sz="1800"/>
        </a:p>
      </dgm:t>
    </dgm:pt>
    <dgm:pt modelId="{A285EA4B-AAFA-4515-8AA9-4187E7864FDA}" type="sibTrans" cxnId="{A29C1D81-37B5-4C02-9526-5FFC4E132A1F}">
      <dgm:prSet custT="1"/>
      <dgm:spPr/>
      <dgm:t>
        <a:bodyPr/>
        <a:lstStyle/>
        <a:p>
          <a:endParaRPr lang="zh-CN" altLang="en-US" sz="1800"/>
        </a:p>
      </dgm:t>
    </dgm:pt>
    <dgm:pt modelId="{AF3AE2EF-6E86-46AD-A788-DCBD9AE6BC89}">
      <dgm:prSet phldrT="[文本]" custT="1">
        <dgm:style>
          <a:lnRef idx="2">
            <a:schemeClr val="dk1"/>
          </a:lnRef>
          <a:fillRef idx="1">
            <a:schemeClr val="lt1"/>
          </a:fillRef>
          <a:effectRef idx="0">
            <a:schemeClr val="dk1"/>
          </a:effectRef>
          <a:fontRef idx="minor">
            <a:schemeClr val="dk1"/>
          </a:fontRef>
        </dgm:style>
      </dgm:prSet>
      <dgm:spPr>
        <a:ln w="12700"/>
      </dgm:spPr>
      <dgm:t>
        <a:bodyPr/>
        <a:lstStyle/>
        <a:p>
          <a:r>
            <a:rPr lang="zh-CN" altLang="en-US" sz="1800" dirty="0" smtClean="0"/>
            <a:t>卷积层</a:t>
          </a:r>
          <a:endParaRPr lang="zh-CN" altLang="en-US" sz="1800" dirty="0"/>
        </a:p>
      </dgm:t>
    </dgm:pt>
    <dgm:pt modelId="{97F2398E-47D4-41B2-97AA-023C0AA7E988}" type="parTrans" cxnId="{AFCB6B3B-A570-48DF-881B-D46480215435}">
      <dgm:prSet/>
      <dgm:spPr/>
      <dgm:t>
        <a:bodyPr/>
        <a:lstStyle/>
        <a:p>
          <a:endParaRPr lang="zh-CN" altLang="en-US" sz="1800"/>
        </a:p>
      </dgm:t>
    </dgm:pt>
    <dgm:pt modelId="{A1813B30-0DEC-473E-8B64-77ED266D4CA6}" type="sibTrans" cxnId="{AFCB6B3B-A570-48DF-881B-D46480215435}">
      <dgm:prSet custT="1"/>
      <dgm:spPr/>
      <dgm:t>
        <a:bodyPr/>
        <a:lstStyle/>
        <a:p>
          <a:endParaRPr lang="zh-CN" altLang="en-US" sz="1800"/>
        </a:p>
      </dgm:t>
    </dgm:pt>
    <dgm:pt modelId="{C45D0D93-0410-4C5F-A7E1-DEA30B7AD688}">
      <dgm:prSet phldrT="[文本]" custT="1">
        <dgm:style>
          <a:lnRef idx="2">
            <a:schemeClr val="dk1"/>
          </a:lnRef>
          <a:fillRef idx="1">
            <a:schemeClr val="lt1"/>
          </a:fillRef>
          <a:effectRef idx="0">
            <a:schemeClr val="dk1"/>
          </a:effectRef>
          <a:fontRef idx="minor">
            <a:schemeClr val="dk1"/>
          </a:fontRef>
        </dgm:style>
      </dgm:prSet>
      <dgm:spPr>
        <a:ln w="50800"/>
      </dgm:spPr>
      <dgm:t>
        <a:bodyPr/>
        <a:lstStyle/>
        <a:p>
          <a:r>
            <a:rPr lang="zh-CN" altLang="en-US" sz="1800" dirty="0" smtClean="0"/>
            <a:t>空间金字塔池化</a:t>
          </a:r>
          <a:endParaRPr lang="zh-CN" altLang="en-US" sz="1800" dirty="0"/>
        </a:p>
      </dgm:t>
    </dgm:pt>
    <dgm:pt modelId="{6AA8C5E2-6D26-411F-9318-6B47A098DC2C}" type="parTrans" cxnId="{6F99B6F7-071E-435A-BE7D-9DA41C91AF6F}">
      <dgm:prSet/>
      <dgm:spPr/>
      <dgm:t>
        <a:bodyPr/>
        <a:lstStyle/>
        <a:p>
          <a:endParaRPr lang="zh-CN" altLang="en-US" sz="1800"/>
        </a:p>
      </dgm:t>
    </dgm:pt>
    <dgm:pt modelId="{E663B59C-CCE8-41CF-A6EA-52C2B91FFA5C}" type="sibTrans" cxnId="{6F99B6F7-071E-435A-BE7D-9DA41C91AF6F}">
      <dgm:prSet custT="1"/>
      <dgm:spPr/>
      <dgm:t>
        <a:bodyPr/>
        <a:lstStyle/>
        <a:p>
          <a:endParaRPr lang="zh-CN" altLang="en-US" sz="1800"/>
        </a:p>
      </dgm:t>
    </dgm:pt>
    <dgm:pt modelId="{CDC5BA09-0380-4E9E-BA17-9C5B45893CBF}">
      <dgm:prSet custT="1">
        <dgm:style>
          <a:lnRef idx="2">
            <a:schemeClr val="dk1"/>
          </a:lnRef>
          <a:fillRef idx="1">
            <a:schemeClr val="lt1"/>
          </a:fillRef>
          <a:effectRef idx="0">
            <a:schemeClr val="dk1"/>
          </a:effectRef>
          <a:fontRef idx="minor">
            <a:schemeClr val="dk1"/>
          </a:fontRef>
        </dgm:style>
      </dgm:prSet>
      <dgm:spPr/>
      <dgm:t>
        <a:bodyPr/>
        <a:lstStyle/>
        <a:p>
          <a:r>
            <a:rPr lang="zh-CN" altLang="en-US" sz="1800" dirty="0" smtClean="0"/>
            <a:t>全连接层</a:t>
          </a:r>
          <a:endParaRPr lang="zh-CN" altLang="en-US" sz="1800" dirty="0"/>
        </a:p>
      </dgm:t>
    </dgm:pt>
    <dgm:pt modelId="{90A8F451-7B81-45CD-A3D8-3C92DD9BC1F3}" type="parTrans" cxnId="{6231E035-62BB-483A-8C22-8FCDFB198340}">
      <dgm:prSet/>
      <dgm:spPr/>
      <dgm:t>
        <a:bodyPr/>
        <a:lstStyle/>
        <a:p>
          <a:endParaRPr lang="zh-CN" altLang="en-US" sz="1800"/>
        </a:p>
      </dgm:t>
    </dgm:pt>
    <dgm:pt modelId="{B24AFA16-653C-46EC-ADB5-A62DDB5F5E2E}" type="sibTrans" cxnId="{6231E035-62BB-483A-8C22-8FCDFB198340}">
      <dgm:prSet custT="1"/>
      <dgm:spPr/>
      <dgm:t>
        <a:bodyPr/>
        <a:lstStyle/>
        <a:p>
          <a:endParaRPr lang="zh-CN" altLang="en-US" sz="1800"/>
        </a:p>
      </dgm:t>
    </dgm:pt>
    <dgm:pt modelId="{722C7C36-D12B-476C-B2B3-14B6E015FAC6}">
      <dgm:prSet custT="1">
        <dgm:style>
          <a:lnRef idx="2">
            <a:schemeClr val="dk1"/>
          </a:lnRef>
          <a:fillRef idx="1">
            <a:schemeClr val="lt1"/>
          </a:fillRef>
          <a:effectRef idx="0">
            <a:schemeClr val="dk1"/>
          </a:effectRef>
          <a:fontRef idx="minor">
            <a:schemeClr val="dk1"/>
          </a:fontRef>
        </dgm:style>
      </dgm:prSet>
      <dgm:spPr/>
      <dgm:t>
        <a:bodyPr/>
        <a:lstStyle/>
        <a:p>
          <a:r>
            <a:rPr lang="zh-CN" altLang="en-US" sz="1800" dirty="0" smtClean="0"/>
            <a:t>输出</a:t>
          </a:r>
          <a:endParaRPr lang="zh-CN" altLang="en-US" sz="1800" dirty="0"/>
        </a:p>
      </dgm:t>
    </dgm:pt>
    <dgm:pt modelId="{CA65A101-1D5B-4510-9E13-6D85C5F3ACBB}" type="parTrans" cxnId="{5B74125D-33FD-4B73-AD52-7622A9B4C55C}">
      <dgm:prSet/>
      <dgm:spPr/>
      <dgm:t>
        <a:bodyPr/>
        <a:lstStyle/>
        <a:p>
          <a:endParaRPr lang="zh-CN" altLang="en-US" sz="1800"/>
        </a:p>
      </dgm:t>
    </dgm:pt>
    <dgm:pt modelId="{18C3F774-07A6-414A-A5CB-EB39873639E6}" type="sibTrans" cxnId="{5B74125D-33FD-4B73-AD52-7622A9B4C55C}">
      <dgm:prSet/>
      <dgm:spPr/>
      <dgm:t>
        <a:bodyPr/>
        <a:lstStyle/>
        <a:p>
          <a:endParaRPr lang="zh-CN" altLang="en-US" sz="1800"/>
        </a:p>
      </dgm:t>
    </dgm:pt>
    <dgm:pt modelId="{0B984E64-AAD9-449B-AB84-3B989F9B4030}" type="pres">
      <dgm:prSet presAssocID="{03F3224A-1E60-4240-A878-1E4D229A22E8}" presName="Name0" presStyleCnt="0">
        <dgm:presLayoutVars>
          <dgm:dir/>
          <dgm:resizeHandles val="exact"/>
        </dgm:presLayoutVars>
      </dgm:prSet>
      <dgm:spPr/>
    </dgm:pt>
    <dgm:pt modelId="{BEDCD3B8-41DD-4AC1-868E-ED39D9C72BC5}" type="pres">
      <dgm:prSet presAssocID="{BEE35944-E4FB-4815-88E3-D607498436C5}" presName="node" presStyleLbl="node1" presStyleIdx="0" presStyleCnt="5" custScaleX="65487">
        <dgm:presLayoutVars>
          <dgm:bulletEnabled val="1"/>
        </dgm:presLayoutVars>
      </dgm:prSet>
      <dgm:spPr/>
      <dgm:t>
        <a:bodyPr/>
        <a:lstStyle/>
        <a:p>
          <a:endParaRPr lang="zh-CN" altLang="en-US"/>
        </a:p>
      </dgm:t>
    </dgm:pt>
    <dgm:pt modelId="{0EBD8429-B927-4744-AC05-84138AE80C7B}" type="pres">
      <dgm:prSet presAssocID="{A285EA4B-AAFA-4515-8AA9-4187E7864FDA}" presName="sibTrans" presStyleLbl="sibTrans2D1" presStyleIdx="0" presStyleCnt="4"/>
      <dgm:spPr/>
      <dgm:t>
        <a:bodyPr/>
        <a:lstStyle/>
        <a:p>
          <a:endParaRPr lang="zh-CN" altLang="en-US"/>
        </a:p>
      </dgm:t>
    </dgm:pt>
    <dgm:pt modelId="{798239EB-DEB4-482C-AC7F-7F7C7866CDC8}" type="pres">
      <dgm:prSet presAssocID="{A285EA4B-AAFA-4515-8AA9-4187E7864FDA}" presName="connectorText" presStyleLbl="sibTrans2D1" presStyleIdx="0" presStyleCnt="4"/>
      <dgm:spPr/>
      <dgm:t>
        <a:bodyPr/>
        <a:lstStyle/>
        <a:p>
          <a:endParaRPr lang="zh-CN" altLang="en-US"/>
        </a:p>
      </dgm:t>
    </dgm:pt>
    <dgm:pt modelId="{29D1DDF2-8B9C-4BBE-8642-8F27A385FB2C}" type="pres">
      <dgm:prSet presAssocID="{AF3AE2EF-6E86-46AD-A788-DCBD9AE6BC89}" presName="node" presStyleLbl="node1" presStyleIdx="1" presStyleCnt="5" custScaleX="82999">
        <dgm:presLayoutVars>
          <dgm:bulletEnabled val="1"/>
        </dgm:presLayoutVars>
      </dgm:prSet>
      <dgm:spPr/>
      <dgm:t>
        <a:bodyPr/>
        <a:lstStyle/>
        <a:p>
          <a:endParaRPr lang="zh-CN" altLang="en-US"/>
        </a:p>
      </dgm:t>
    </dgm:pt>
    <dgm:pt modelId="{D69B6F62-C50B-413B-A86F-5323E1ADFB7B}" type="pres">
      <dgm:prSet presAssocID="{A1813B30-0DEC-473E-8B64-77ED266D4CA6}" presName="sibTrans" presStyleLbl="sibTrans2D1" presStyleIdx="1" presStyleCnt="4"/>
      <dgm:spPr/>
      <dgm:t>
        <a:bodyPr/>
        <a:lstStyle/>
        <a:p>
          <a:endParaRPr lang="zh-CN" altLang="en-US"/>
        </a:p>
      </dgm:t>
    </dgm:pt>
    <dgm:pt modelId="{AC596D00-ABA0-4479-9E95-362D7A4E38B8}" type="pres">
      <dgm:prSet presAssocID="{A1813B30-0DEC-473E-8B64-77ED266D4CA6}" presName="connectorText" presStyleLbl="sibTrans2D1" presStyleIdx="1" presStyleCnt="4"/>
      <dgm:spPr/>
      <dgm:t>
        <a:bodyPr/>
        <a:lstStyle/>
        <a:p>
          <a:endParaRPr lang="zh-CN" altLang="en-US"/>
        </a:p>
      </dgm:t>
    </dgm:pt>
    <dgm:pt modelId="{D5596E7A-9EA9-4768-916F-A6D89EFAAC68}" type="pres">
      <dgm:prSet presAssocID="{C45D0D93-0410-4C5F-A7E1-DEA30B7AD688}" presName="node" presStyleLbl="node1" presStyleIdx="2" presStyleCnt="5" custScaleX="131426">
        <dgm:presLayoutVars>
          <dgm:bulletEnabled val="1"/>
        </dgm:presLayoutVars>
      </dgm:prSet>
      <dgm:spPr/>
      <dgm:t>
        <a:bodyPr/>
        <a:lstStyle/>
        <a:p>
          <a:endParaRPr lang="zh-CN" altLang="en-US"/>
        </a:p>
      </dgm:t>
    </dgm:pt>
    <dgm:pt modelId="{CFC4AD45-CF57-44BC-8282-B0F46447385E}" type="pres">
      <dgm:prSet presAssocID="{E663B59C-CCE8-41CF-A6EA-52C2B91FFA5C}" presName="sibTrans" presStyleLbl="sibTrans2D1" presStyleIdx="2" presStyleCnt="4"/>
      <dgm:spPr/>
      <dgm:t>
        <a:bodyPr/>
        <a:lstStyle/>
        <a:p>
          <a:endParaRPr lang="zh-CN" altLang="en-US"/>
        </a:p>
      </dgm:t>
    </dgm:pt>
    <dgm:pt modelId="{D34F3011-024C-4329-A5F1-8544886EE315}" type="pres">
      <dgm:prSet presAssocID="{E663B59C-CCE8-41CF-A6EA-52C2B91FFA5C}" presName="connectorText" presStyleLbl="sibTrans2D1" presStyleIdx="2" presStyleCnt="4"/>
      <dgm:spPr/>
      <dgm:t>
        <a:bodyPr/>
        <a:lstStyle/>
        <a:p>
          <a:endParaRPr lang="zh-CN" altLang="en-US"/>
        </a:p>
      </dgm:t>
    </dgm:pt>
    <dgm:pt modelId="{19A1B0FF-5DDA-45A8-9C74-C0A2B9D1BECF}" type="pres">
      <dgm:prSet presAssocID="{CDC5BA09-0380-4E9E-BA17-9C5B45893CBF}" presName="node" presStyleLbl="node1" presStyleIdx="3" presStyleCnt="5" custScaleX="97943">
        <dgm:presLayoutVars>
          <dgm:bulletEnabled val="1"/>
        </dgm:presLayoutVars>
      </dgm:prSet>
      <dgm:spPr/>
      <dgm:t>
        <a:bodyPr/>
        <a:lstStyle/>
        <a:p>
          <a:endParaRPr lang="zh-CN" altLang="en-US"/>
        </a:p>
      </dgm:t>
    </dgm:pt>
    <dgm:pt modelId="{B89FFAE3-BF2B-4D49-BD5B-6CE78678F0FE}" type="pres">
      <dgm:prSet presAssocID="{B24AFA16-653C-46EC-ADB5-A62DDB5F5E2E}" presName="sibTrans" presStyleLbl="sibTrans2D1" presStyleIdx="3" presStyleCnt="4"/>
      <dgm:spPr/>
      <dgm:t>
        <a:bodyPr/>
        <a:lstStyle/>
        <a:p>
          <a:endParaRPr lang="zh-CN" altLang="en-US"/>
        </a:p>
      </dgm:t>
    </dgm:pt>
    <dgm:pt modelId="{B281A351-D254-4597-919F-FB98CE71F9BB}" type="pres">
      <dgm:prSet presAssocID="{B24AFA16-653C-46EC-ADB5-A62DDB5F5E2E}" presName="connectorText" presStyleLbl="sibTrans2D1" presStyleIdx="3" presStyleCnt="4"/>
      <dgm:spPr/>
      <dgm:t>
        <a:bodyPr/>
        <a:lstStyle/>
        <a:p>
          <a:endParaRPr lang="zh-CN" altLang="en-US"/>
        </a:p>
      </dgm:t>
    </dgm:pt>
    <dgm:pt modelId="{EF0EDBA1-6F17-4AF4-8F80-CB7177CE559D}" type="pres">
      <dgm:prSet presAssocID="{722C7C36-D12B-476C-B2B3-14B6E015FAC6}" presName="node" presStyleLbl="node1" presStyleIdx="4" presStyleCnt="5" custScaleX="65680">
        <dgm:presLayoutVars>
          <dgm:bulletEnabled val="1"/>
        </dgm:presLayoutVars>
      </dgm:prSet>
      <dgm:spPr/>
      <dgm:t>
        <a:bodyPr/>
        <a:lstStyle/>
        <a:p>
          <a:endParaRPr lang="zh-CN" altLang="en-US"/>
        </a:p>
      </dgm:t>
    </dgm:pt>
  </dgm:ptLst>
  <dgm:cxnLst>
    <dgm:cxn modelId="{73E22789-7305-41BE-938C-1617723B2BC8}" type="presOf" srcId="{722C7C36-D12B-476C-B2B3-14B6E015FAC6}" destId="{EF0EDBA1-6F17-4AF4-8F80-CB7177CE559D}" srcOrd="0" destOrd="0" presId="urn:microsoft.com/office/officeart/2005/8/layout/process1"/>
    <dgm:cxn modelId="{DB641F7D-DAE2-43B5-BD79-9774275CFDD6}" type="presOf" srcId="{B24AFA16-653C-46EC-ADB5-A62DDB5F5E2E}" destId="{B89FFAE3-BF2B-4D49-BD5B-6CE78678F0FE}" srcOrd="0" destOrd="0" presId="urn:microsoft.com/office/officeart/2005/8/layout/process1"/>
    <dgm:cxn modelId="{A29C1D81-37B5-4C02-9526-5FFC4E132A1F}" srcId="{03F3224A-1E60-4240-A878-1E4D229A22E8}" destId="{BEE35944-E4FB-4815-88E3-D607498436C5}" srcOrd="0" destOrd="0" parTransId="{1ECF5CA8-27ED-4191-B37A-FCD3C8A44636}" sibTransId="{A285EA4B-AAFA-4515-8AA9-4187E7864FDA}"/>
    <dgm:cxn modelId="{DB196386-290E-4590-9AC1-10F36A7C3F45}" type="presOf" srcId="{E663B59C-CCE8-41CF-A6EA-52C2B91FFA5C}" destId="{CFC4AD45-CF57-44BC-8282-B0F46447385E}" srcOrd="0" destOrd="0" presId="urn:microsoft.com/office/officeart/2005/8/layout/process1"/>
    <dgm:cxn modelId="{6231E035-62BB-483A-8C22-8FCDFB198340}" srcId="{03F3224A-1E60-4240-A878-1E4D229A22E8}" destId="{CDC5BA09-0380-4E9E-BA17-9C5B45893CBF}" srcOrd="3" destOrd="0" parTransId="{90A8F451-7B81-45CD-A3D8-3C92DD9BC1F3}" sibTransId="{B24AFA16-653C-46EC-ADB5-A62DDB5F5E2E}"/>
    <dgm:cxn modelId="{E177E84B-D63A-409E-B044-B887C2020BD1}" type="presOf" srcId="{A1813B30-0DEC-473E-8B64-77ED266D4CA6}" destId="{D69B6F62-C50B-413B-A86F-5323E1ADFB7B}" srcOrd="0" destOrd="0" presId="urn:microsoft.com/office/officeart/2005/8/layout/process1"/>
    <dgm:cxn modelId="{829536AC-93E5-4A02-980B-F05626C155C5}" type="presOf" srcId="{B24AFA16-653C-46EC-ADB5-A62DDB5F5E2E}" destId="{B281A351-D254-4597-919F-FB98CE71F9BB}" srcOrd="1" destOrd="0" presId="urn:microsoft.com/office/officeart/2005/8/layout/process1"/>
    <dgm:cxn modelId="{E1AF2B21-8133-473F-AED1-5AD6DCF7A197}" type="presOf" srcId="{A285EA4B-AAFA-4515-8AA9-4187E7864FDA}" destId="{798239EB-DEB4-482C-AC7F-7F7C7866CDC8}" srcOrd="1" destOrd="0" presId="urn:microsoft.com/office/officeart/2005/8/layout/process1"/>
    <dgm:cxn modelId="{5B74125D-33FD-4B73-AD52-7622A9B4C55C}" srcId="{03F3224A-1E60-4240-A878-1E4D229A22E8}" destId="{722C7C36-D12B-476C-B2B3-14B6E015FAC6}" srcOrd="4" destOrd="0" parTransId="{CA65A101-1D5B-4510-9E13-6D85C5F3ACBB}" sibTransId="{18C3F774-07A6-414A-A5CB-EB39873639E6}"/>
    <dgm:cxn modelId="{968D0C1A-AB1C-4A16-8C04-DFFBEEFFA1A7}" type="presOf" srcId="{AF3AE2EF-6E86-46AD-A788-DCBD9AE6BC89}" destId="{29D1DDF2-8B9C-4BBE-8642-8F27A385FB2C}" srcOrd="0" destOrd="0" presId="urn:microsoft.com/office/officeart/2005/8/layout/process1"/>
    <dgm:cxn modelId="{F1F2628E-3A71-42A5-B82C-6D31A57478A7}" type="presOf" srcId="{A1813B30-0DEC-473E-8B64-77ED266D4CA6}" destId="{AC596D00-ABA0-4479-9E95-362D7A4E38B8}" srcOrd="1" destOrd="0" presId="urn:microsoft.com/office/officeart/2005/8/layout/process1"/>
    <dgm:cxn modelId="{EFFDCACE-2972-434B-92B7-0F55E64AD926}" type="presOf" srcId="{C45D0D93-0410-4C5F-A7E1-DEA30B7AD688}" destId="{D5596E7A-9EA9-4768-916F-A6D89EFAAC68}" srcOrd="0" destOrd="0" presId="urn:microsoft.com/office/officeart/2005/8/layout/process1"/>
    <dgm:cxn modelId="{C7435F24-1D6A-4A37-95AC-5C92F037FD7B}" type="presOf" srcId="{A285EA4B-AAFA-4515-8AA9-4187E7864FDA}" destId="{0EBD8429-B927-4744-AC05-84138AE80C7B}" srcOrd="0" destOrd="0" presId="urn:microsoft.com/office/officeart/2005/8/layout/process1"/>
    <dgm:cxn modelId="{D3E42034-755C-4732-9D2C-038374583574}" type="presOf" srcId="{CDC5BA09-0380-4E9E-BA17-9C5B45893CBF}" destId="{19A1B0FF-5DDA-45A8-9C74-C0A2B9D1BECF}" srcOrd="0" destOrd="0" presId="urn:microsoft.com/office/officeart/2005/8/layout/process1"/>
    <dgm:cxn modelId="{AFCB6B3B-A570-48DF-881B-D46480215435}" srcId="{03F3224A-1E60-4240-A878-1E4D229A22E8}" destId="{AF3AE2EF-6E86-46AD-A788-DCBD9AE6BC89}" srcOrd="1" destOrd="0" parTransId="{97F2398E-47D4-41B2-97AA-023C0AA7E988}" sibTransId="{A1813B30-0DEC-473E-8B64-77ED266D4CA6}"/>
    <dgm:cxn modelId="{561F21BF-BB87-4B3A-AF43-E3DDFF9CBE9C}" type="presOf" srcId="{E663B59C-CCE8-41CF-A6EA-52C2B91FFA5C}" destId="{D34F3011-024C-4329-A5F1-8544886EE315}" srcOrd="1" destOrd="0" presId="urn:microsoft.com/office/officeart/2005/8/layout/process1"/>
    <dgm:cxn modelId="{6615DA80-6E8A-4CB0-9E4B-80ACCE1BE458}" type="presOf" srcId="{BEE35944-E4FB-4815-88E3-D607498436C5}" destId="{BEDCD3B8-41DD-4AC1-868E-ED39D9C72BC5}" srcOrd="0" destOrd="0" presId="urn:microsoft.com/office/officeart/2005/8/layout/process1"/>
    <dgm:cxn modelId="{6F99B6F7-071E-435A-BE7D-9DA41C91AF6F}" srcId="{03F3224A-1E60-4240-A878-1E4D229A22E8}" destId="{C45D0D93-0410-4C5F-A7E1-DEA30B7AD688}" srcOrd="2" destOrd="0" parTransId="{6AA8C5E2-6D26-411F-9318-6B47A098DC2C}" sibTransId="{E663B59C-CCE8-41CF-A6EA-52C2B91FFA5C}"/>
    <dgm:cxn modelId="{FB44420D-1A3E-4708-831D-7C06C4FFFDFE}" type="presOf" srcId="{03F3224A-1E60-4240-A878-1E4D229A22E8}" destId="{0B984E64-AAD9-449B-AB84-3B989F9B4030}" srcOrd="0" destOrd="0" presId="urn:microsoft.com/office/officeart/2005/8/layout/process1"/>
    <dgm:cxn modelId="{C8B9F5C1-5A1C-446A-AFCF-B995982C67A6}" type="presParOf" srcId="{0B984E64-AAD9-449B-AB84-3B989F9B4030}" destId="{BEDCD3B8-41DD-4AC1-868E-ED39D9C72BC5}" srcOrd="0" destOrd="0" presId="urn:microsoft.com/office/officeart/2005/8/layout/process1"/>
    <dgm:cxn modelId="{2FF8BD14-5C5F-4D81-9F65-B0551ACFD44E}" type="presParOf" srcId="{0B984E64-AAD9-449B-AB84-3B989F9B4030}" destId="{0EBD8429-B927-4744-AC05-84138AE80C7B}" srcOrd="1" destOrd="0" presId="urn:microsoft.com/office/officeart/2005/8/layout/process1"/>
    <dgm:cxn modelId="{58A699D4-D214-432D-B492-65D86D7E03EF}" type="presParOf" srcId="{0EBD8429-B927-4744-AC05-84138AE80C7B}" destId="{798239EB-DEB4-482C-AC7F-7F7C7866CDC8}" srcOrd="0" destOrd="0" presId="urn:microsoft.com/office/officeart/2005/8/layout/process1"/>
    <dgm:cxn modelId="{2E437A14-56EA-49FC-8F36-143E824EEE4C}" type="presParOf" srcId="{0B984E64-AAD9-449B-AB84-3B989F9B4030}" destId="{29D1DDF2-8B9C-4BBE-8642-8F27A385FB2C}" srcOrd="2" destOrd="0" presId="urn:microsoft.com/office/officeart/2005/8/layout/process1"/>
    <dgm:cxn modelId="{FCF99735-6E65-4C50-A2AE-341E977C7F9F}" type="presParOf" srcId="{0B984E64-AAD9-449B-AB84-3B989F9B4030}" destId="{D69B6F62-C50B-413B-A86F-5323E1ADFB7B}" srcOrd="3" destOrd="0" presId="urn:microsoft.com/office/officeart/2005/8/layout/process1"/>
    <dgm:cxn modelId="{E569B45E-AD9D-4707-B27C-D6BFBA683639}" type="presParOf" srcId="{D69B6F62-C50B-413B-A86F-5323E1ADFB7B}" destId="{AC596D00-ABA0-4479-9E95-362D7A4E38B8}" srcOrd="0" destOrd="0" presId="urn:microsoft.com/office/officeart/2005/8/layout/process1"/>
    <dgm:cxn modelId="{92C385DE-1259-48A6-832D-3C11E25DBB5C}" type="presParOf" srcId="{0B984E64-AAD9-449B-AB84-3B989F9B4030}" destId="{D5596E7A-9EA9-4768-916F-A6D89EFAAC68}" srcOrd="4" destOrd="0" presId="urn:microsoft.com/office/officeart/2005/8/layout/process1"/>
    <dgm:cxn modelId="{F099F62E-B075-475A-A3A9-5F959BF24E94}" type="presParOf" srcId="{0B984E64-AAD9-449B-AB84-3B989F9B4030}" destId="{CFC4AD45-CF57-44BC-8282-B0F46447385E}" srcOrd="5" destOrd="0" presId="urn:microsoft.com/office/officeart/2005/8/layout/process1"/>
    <dgm:cxn modelId="{3C84C306-3ACA-486A-88DA-8ECF5B158D38}" type="presParOf" srcId="{CFC4AD45-CF57-44BC-8282-B0F46447385E}" destId="{D34F3011-024C-4329-A5F1-8544886EE315}" srcOrd="0" destOrd="0" presId="urn:microsoft.com/office/officeart/2005/8/layout/process1"/>
    <dgm:cxn modelId="{D4767476-496C-45FC-8692-8E8934E160D5}" type="presParOf" srcId="{0B984E64-AAD9-449B-AB84-3B989F9B4030}" destId="{19A1B0FF-5DDA-45A8-9C74-C0A2B9D1BECF}" srcOrd="6" destOrd="0" presId="urn:microsoft.com/office/officeart/2005/8/layout/process1"/>
    <dgm:cxn modelId="{E5E1012E-3DB7-4393-B3C3-D79547A0C9C4}" type="presParOf" srcId="{0B984E64-AAD9-449B-AB84-3B989F9B4030}" destId="{B89FFAE3-BF2B-4D49-BD5B-6CE78678F0FE}" srcOrd="7" destOrd="0" presId="urn:microsoft.com/office/officeart/2005/8/layout/process1"/>
    <dgm:cxn modelId="{9975E38F-3FC2-48DE-A313-5809A551806A}" type="presParOf" srcId="{B89FFAE3-BF2B-4D49-BD5B-6CE78678F0FE}" destId="{B281A351-D254-4597-919F-FB98CE71F9BB}" srcOrd="0" destOrd="0" presId="urn:microsoft.com/office/officeart/2005/8/layout/process1"/>
    <dgm:cxn modelId="{92C7E9D7-9161-4233-BA6F-6D2F83E8E0EE}" type="presParOf" srcId="{0B984E64-AAD9-449B-AB84-3B989F9B4030}" destId="{EF0EDBA1-6F17-4AF4-8F80-CB7177CE559D}" srcOrd="8" destOrd="0" presId="urn:microsoft.com/office/officeart/2005/8/layout/process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之前的概述中，我们通过介绍目标检测发展的近代史，粗略了解到几种目标检测的常用算法，也了解到目标检测算法能够根据算法处理的流程划分为两阶段算法和一阶段算法。两阶段算法的思路是先确定候选区域，然后再确定候选区域的类别。一阶段算法直接回归预测框和预测概率。两阶段算法相比一阶段算法，精度高但速度慢。本课时我们着重了解两阶段检测算法。</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287610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介绍两阶段算法</a:t>
            </a:r>
            <a:r>
              <a:rPr lang="zh-CN" altLang="en-US" baseline="0" dirty="0" smtClean="0"/>
              <a:t>的原理之前，先掌握两阶段算法的基本思路。</a:t>
            </a:r>
            <a:r>
              <a:rPr lang="zh-CN" altLang="en-US" dirty="0" smtClean="0"/>
              <a:t>两阶段算法思路大致为：</a:t>
            </a:r>
            <a:r>
              <a:rPr lang="en-US" altLang="zh-CN" dirty="0" smtClean="0"/>
              <a:t>—</a:t>
            </a:r>
            <a:r>
              <a:rPr lang="zh-CN" altLang="en-US" dirty="0" smtClean="0"/>
              <a:t>是如何找到候选区域</a:t>
            </a:r>
            <a:r>
              <a:rPr lang="en-US" altLang="zh-CN" dirty="0" smtClean="0"/>
              <a:t>(</a:t>
            </a:r>
            <a:r>
              <a:rPr lang="zh-CN" altLang="en-US" dirty="0" smtClean="0"/>
              <a:t>检测区域均为矩形，后面也将候选区域称为候选框</a:t>
            </a:r>
            <a:r>
              <a:rPr lang="en-US" altLang="zh-CN" dirty="0" smtClean="0"/>
              <a:t>):</a:t>
            </a:r>
            <a:r>
              <a:rPr lang="zh-CN" altLang="en-US" dirty="0" smtClean="0"/>
              <a:t>二是如何对候选框中的图像区域进行分类判断。下面针对这两个问题进行详细介绍。</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两阶段算法的前身即为传统算法。对于生成候选区域而言，传统方法使用滑动窗口法，先定义窗口大小，然后滑动遍历图像每一个区域。缺点十分明显：候选区域过多，相邻窗口重复信息大，检测速度慢；而到了深度学习算法中，大多采用选择性搜索算法，基于图的分割算法（</a:t>
            </a:r>
            <a:r>
              <a:rPr lang="en-US" altLang="zh-CN" dirty="0" smtClean="0"/>
              <a:t>Graph-Based Segmentation</a:t>
            </a:r>
            <a:r>
              <a:rPr lang="zh-CN" altLang="en-US" dirty="0" smtClean="0"/>
              <a:t>）生成初始区域，随后使用一系列的相似度判别规则决定哪些区域应该被合并到一起，再次合并后最终实现区域建议生成。这些算法都基于</a:t>
            </a:r>
            <a:r>
              <a:rPr lang="en-US" altLang="zh-CN" dirty="0" smtClean="0"/>
              <a:t>CPU</a:t>
            </a:r>
            <a:r>
              <a:rPr lang="zh-CN" altLang="en-US" dirty="0" smtClean="0"/>
              <a:t>进行计算，无法利用</a:t>
            </a:r>
            <a:r>
              <a:rPr lang="en-US" altLang="zh-CN" dirty="0" smtClean="0"/>
              <a:t>GPU</a:t>
            </a:r>
            <a:r>
              <a:rPr lang="zh-CN" altLang="en-US" dirty="0" smtClean="0"/>
              <a:t>的高并行性进行加速，而基于神经网络的方法则可以充分利用</a:t>
            </a:r>
            <a:r>
              <a:rPr lang="en-US" altLang="zh-CN" dirty="0" smtClean="0"/>
              <a:t>GPU</a:t>
            </a:r>
            <a:r>
              <a:rPr lang="zh-CN" altLang="en-US" dirty="0" smtClean="0"/>
              <a:t>并行计算的优势提升算法速度。</a:t>
            </a:r>
            <a:r>
              <a:rPr lang="en-US" altLang="zh-CN" dirty="0" smtClean="0"/>
              <a:t>Faster R-CNN</a:t>
            </a:r>
            <a:r>
              <a:rPr lang="zh-CN" altLang="en-US" dirty="0" smtClean="0"/>
              <a:t>基于这个思路，将一个全卷积网络作为候选框提取网络，使算法整体速度得到了显著提升。</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对于类别判定而言，传统方法通过手工设计特征后对典型特征加权组合，这种方法速度慢，准确度差；而深度学习方法均是由卷积神经网络提取特征后送入分类器进行分类，只是使用的特征提取网络与分类器有所不同。（所以才被命名为</a:t>
            </a:r>
            <a:r>
              <a:rPr lang="en-US" altLang="zh-CN" dirty="0" smtClean="0"/>
              <a:t>xxx CNN</a:t>
            </a:r>
            <a:r>
              <a:rPr lang="zh-CN" altLang="en-US" dirty="0" smtClean="0"/>
              <a:t>）此外，在两阶段算法中，通常在类别判定时，还会对候选区域进行位置修正以获得更精确的结果。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85490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R-CNN</a:t>
            </a:r>
            <a:r>
              <a:rPr lang="zh-CN" altLang="en-US" dirty="0" smtClean="0"/>
              <a:t>的大致流程为：使用选择性搜索算法生成候选区域，候选区域进入</a:t>
            </a:r>
            <a:r>
              <a:rPr lang="en-US" altLang="zh-CN" dirty="0" smtClean="0"/>
              <a:t>CNN</a:t>
            </a:r>
            <a:r>
              <a:rPr lang="zh-CN" altLang="en-US" dirty="0" smtClean="0"/>
              <a:t>网络提取特征，这里使用的网络是</a:t>
            </a:r>
            <a:r>
              <a:rPr lang="en-US" altLang="zh-CN" dirty="0" err="1" smtClean="0"/>
              <a:t>AlexNet</a:t>
            </a:r>
            <a:r>
              <a:rPr lang="zh-CN" altLang="en-US" dirty="0" smtClean="0"/>
              <a:t>，然后分别进入</a:t>
            </a:r>
            <a:r>
              <a:rPr lang="en-US" altLang="zh-CN" dirty="0" smtClean="0"/>
              <a:t>SVM</a:t>
            </a:r>
            <a:r>
              <a:rPr lang="zh-CN" altLang="en-US" dirty="0" smtClean="0"/>
              <a:t>分类器对目标进行分类；进入回归器进行候选框的位置修正。</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97446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R-CNN</a:t>
            </a:r>
            <a:r>
              <a:rPr lang="zh-CN" altLang="en-US" dirty="0" smtClean="0"/>
              <a:t>使用了选择性搜索算法生成候选框。选择性搜索算法的相关内容超出了课程的讨论范围，感兴趣的同学可以自行阅读相关论文进行深入了解。</a:t>
            </a:r>
            <a:r>
              <a:rPr lang="en-US" altLang="zh-CN" dirty="0" smtClean="0"/>
              <a:t>R-CNN</a:t>
            </a:r>
            <a:r>
              <a:rPr lang="zh-CN" altLang="en-US" dirty="0" smtClean="0"/>
              <a:t>采用</a:t>
            </a:r>
            <a:r>
              <a:rPr lang="en-US" altLang="zh-CN" dirty="0" err="1" smtClean="0"/>
              <a:t>AlexNet</a:t>
            </a:r>
            <a:r>
              <a:rPr lang="zh-CN" altLang="en-US" dirty="0" smtClean="0"/>
              <a:t>作为特征提取网络，结构如下图所示。</a:t>
            </a:r>
            <a:r>
              <a:rPr lang="en-US" altLang="zh-CN" dirty="0" err="1" smtClean="0"/>
              <a:t>AlexNet</a:t>
            </a:r>
            <a:r>
              <a:rPr lang="zh-CN" altLang="en-US" dirty="0" smtClean="0"/>
              <a:t>包含全连接层，要求输入图像的尺寸固定（原始的</a:t>
            </a:r>
            <a:r>
              <a:rPr lang="en-US" altLang="zh-CN" dirty="0" err="1" smtClean="0"/>
              <a:t>AlexNet</a:t>
            </a:r>
            <a:r>
              <a:rPr lang="zh-CN" altLang="en-US" dirty="0" smtClean="0"/>
              <a:t>要求输入图像的固定尺寸是</a:t>
            </a:r>
            <a:r>
              <a:rPr lang="en-US" altLang="zh-CN" dirty="0" smtClean="0"/>
              <a:t>224</a:t>
            </a:r>
            <a:r>
              <a:rPr lang="zh-CN" altLang="en-US" dirty="0" smtClean="0"/>
              <a:t>像素</a:t>
            </a:r>
            <a:r>
              <a:rPr lang="en-US" altLang="zh-CN" dirty="0" smtClean="0"/>
              <a:t>×224</a:t>
            </a:r>
            <a:r>
              <a:rPr lang="zh-CN" altLang="en-US" dirty="0" smtClean="0"/>
              <a:t>像素</a:t>
            </a:r>
            <a:r>
              <a:rPr lang="en-US" altLang="zh-CN" dirty="0" smtClean="0"/>
              <a:t>×3</a:t>
            </a:r>
            <a:r>
              <a:rPr lang="zh-CN" altLang="en-US" dirty="0" smtClean="0"/>
              <a:t>， </a:t>
            </a:r>
            <a:r>
              <a:rPr lang="en-US" altLang="zh-CN" dirty="0" smtClean="0"/>
              <a:t>R-CNN</a:t>
            </a:r>
            <a:r>
              <a:rPr lang="zh-CN" altLang="en-US" dirty="0" smtClean="0"/>
              <a:t>作者对</a:t>
            </a:r>
            <a:r>
              <a:rPr lang="en-US" altLang="zh-CN" dirty="0" err="1" smtClean="0"/>
              <a:t>AlexNet</a:t>
            </a:r>
            <a:r>
              <a:rPr lang="zh-CN" altLang="en-US" dirty="0" smtClean="0"/>
              <a:t>讲行了略微改动</a:t>
            </a:r>
            <a:r>
              <a:rPr lang="en-US" altLang="zh-CN" dirty="0" smtClean="0"/>
              <a:t>,</a:t>
            </a:r>
            <a:r>
              <a:rPr lang="zh-CN" altLang="en-US" dirty="0" smtClean="0"/>
              <a:t>要求输入图像的固定尺寸是</a:t>
            </a:r>
            <a:r>
              <a:rPr lang="en-US" altLang="zh-CN" dirty="0" smtClean="0"/>
              <a:t>227</a:t>
            </a:r>
            <a:r>
              <a:rPr lang="zh-CN" altLang="en-US" dirty="0" smtClean="0"/>
              <a:t>像素</a:t>
            </a:r>
            <a:r>
              <a:rPr lang="en-US" altLang="zh-CN" dirty="0" smtClean="0"/>
              <a:t>×227</a:t>
            </a:r>
            <a:r>
              <a:rPr lang="zh-CN" altLang="en-US" dirty="0" smtClean="0"/>
              <a:t>像素</a:t>
            </a:r>
            <a:r>
              <a:rPr lang="en-US" altLang="zh-CN" dirty="0" smtClean="0"/>
              <a:t>×3</a:t>
            </a:r>
            <a:r>
              <a:rPr lang="zh-CN" altLang="en-US" dirty="0" smtClean="0"/>
              <a:t>，算法本质上没有区别</a:t>
            </a:r>
            <a:r>
              <a:rPr lang="en-US" altLang="zh-CN" dirty="0" smtClean="0"/>
              <a:t>)</a:t>
            </a:r>
            <a:r>
              <a:rPr lang="zh-CN" altLang="en-US" dirty="0" smtClean="0"/>
              <a:t>。对于每个候选框，在特征提取之前，需要对图像的尺寸进行形变，以满足网络对输入图像尺寸的需求。具体形变的方式是，可以保持候选框比例直接截取后拉伸，也可以直接对候选框区域进行拉伸，两者本质上没有区别，只是性能上略有差异。</a:t>
            </a:r>
          </a:p>
          <a:p>
            <a:r>
              <a:rPr lang="zh-CN" altLang="en-US" dirty="0" smtClean="0"/>
              <a:t>基于 </a:t>
            </a:r>
            <a:r>
              <a:rPr lang="en-US" altLang="zh-CN" dirty="0" smtClean="0"/>
              <a:t>CNN</a:t>
            </a:r>
            <a:r>
              <a:rPr lang="zh-CN" altLang="en-US" dirty="0" smtClean="0"/>
              <a:t>的特征提取和手工设计特征不同</a:t>
            </a:r>
            <a:r>
              <a:rPr lang="en-US" altLang="zh-CN" dirty="0" smtClean="0"/>
              <a:t>,</a:t>
            </a:r>
            <a:r>
              <a:rPr lang="zh-CN" altLang="en-US" dirty="0" smtClean="0"/>
              <a:t>需要大量的样本数据训练网络的模型参数，数据的规模在相当大的程度上决定了特征的表达能力。目前，在公开的数据集上，用于分类的带标注的数据，如 </a:t>
            </a:r>
            <a:r>
              <a:rPr lang="en-US" altLang="zh-CN" dirty="0" err="1" smtClean="0"/>
              <a:t>ImageNet</a:t>
            </a:r>
            <a:r>
              <a:rPr lang="zh-CN" altLang="en-US" dirty="0" smtClean="0"/>
              <a:t>，要远远多于用于检测的带标注数据，如 </a:t>
            </a:r>
            <a:r>
              <a:rPr lang="en-US" altLang="zh-CN" dirty="0" smtClean="0"/>
              <a:t>VOC</a:t>
            </a:r>
            <a:r>
              <a:rPr lang="zh-CN" altLang="en-US" dirty="0" smtClean="0"/>
              <a:t>。因此，</a:t>
            </a:r>
            <a:r>
              <a:rPr lang="en-US" altLang="zh-CN" dirty="0" smtClean="0"/>
              <a:t>R-CNN</a:t>
            </a:r>
            <a:r>
              <a:rPr lang="zh-CN" altLang="en-US" dirty="0" smtClean="0"/>
              <a:t>在训练用于特征提取的</a:t>
            </a:r>
            <a:r>
              <a:rPr lang="en-US" altLang="zh-CN" dirty="0" smtClean="0"/>
              <a:t>CNN</a:t>
            </a:r>
            <a:r>
              <a:rPr lang="zh-CN" altLang="en-US" dirty="0" smtClean="0"/>
              <a:t>网络模型的时候，采用了先用分类数据集</a:t>
            </a:r>
            <a:r>
              <a:rPr lang="en-US" altLang="zh-CN" dirty="0" smtClean="0"/>
              <a:t>ILSVRC 2012</a:t>
            </a:r>
            <a:r>
              <a:rPr lang="zh-CN" altLang="en-US" dirty="0" smtClean="0"/>
              <a:t>进行预训练</a:t>
            </a:r>
            <a:r>
              <a:rPr lang="en-US" altLang="zh-CN" dirty="0" smtClean="0"/>
              <a:t>,</a:t>
            </a:r>
            <a:r>
              <a:rPr lang="zh-CN" altLang="en-US" dirty="0" smtClean="0"/>
              <a:t>然后用检测数据集</a:t>
            </a:r>
            <a:r>
              <a:rPr lang="en-US" altLang="zh-CN" dirty="0" smtClean="0"/>
              <a:t>VOC</a:t>
            </a:r>
            <a:r>
              <a:rPr lang="zh-CN" altLang="en-US" dirty="0" smtClean="0"/>
              <a:t>进行微调（</a:t>
            </a:r>
            <a:r>
              <a:rPr lang="en-US" altLang="zh-CN" dirty="0" smtClean="0"/>
              <a:t>fine-</a:t>
            </a:r>
          </a:p>
          <a:p>
            <a:r>
              <a:rPr lang="en-US" altLang="zh-CN" dirty="0" smtClean="0"/>
              <a:t>tuning)</a:t>
            </a:r>
            <a:r>
              <a:rPr lang="zh-CN" altLang="en-US" dirty="0" smtClean="0"/>
              <a:t>的方式</a:t>
            </a:r>
            <a:r>
              <a:rPr lang="en-US" altLang="zh-CN" dirty="0" smtClean="0"/>
              <a:t>,</a:t>
            </a:r>
            <a:r>
              <a:rPr lang="zh-CN" altLang="en-US" dirty="0" smtClean="0"/>
              <a:t>很好地解决了训练数据不足的问题。</a:t>
            </a:r>
          </a:p>
          <a:p>
            <a:r>
              <a:rPr lang="en-US" altLang="zh-CN" dirty="0" smtClean="0"/>
              <a:t>ILSVRC 2012</a:t>
            </a:r>
            <a:r>
              <a:rPr lang="zh-CN" altLang="en-US" dirty="0" smtClean="0"/>
              <a:t>有</a:t>
            </a:r>
            <a:r>
              <a:rPr lang="en-US" altLang="zh-CN" dirty="0" smtClean="0"/>
              <a:t>1000</a:t>
            </a:r>
            <a:r>
              <a:rPr lang="zh-CN" altLang="en-US" dirty="0" smtClean="0"/>
              <a:t>个类别，</a:t>
            </a:r>
            <a:r>
              <a:rPr lang="en-US" altLang="zh-CN" dirty="0" smtClean="0"/>
              <a:t>VOC</a:t>
            </a:r>
            <a:r>
              <a:rPr lang="zh-CN" altLang="en-US" dirty="0" smtClean="0"/>
              <a:t>有</a:t>
            </a:r>
            <a:r>
              <a:rPr lang="en-US" altLang="zh-CN" dirty="0" smtClean="0"/>
              <a:t>21</a:t>
            </a:r>
            <a:r>
              <a:rPr lang="zh-CN" altLang="en-US" dirty="0" smtClean="0"/>
              <a:t>个类别（</a:t>
            </a:r>
            <a:r>
              <a:rPr lang="en-US" altLang="zh-CN" dirty="0" smtClean="0"/>
              <a:t>20</a:t>
            </a:r>
            <a:r>
              <a:rPr lang="zh-CN" altLang="en-US" dirty="0" smtClean="0"/>
              <a:t>类目标</a:t>
            </a:r>
            <a:r>
              <a:rPr lang="en-US" altLang="zh-CN" dirty="0" smtClean="0"/>
              <a:t>+1</a:t>
            </a:r>
            <a:r>
              <a:rPr lang="zh-CN" altLang="en-US" dirty="0" smtClean="0"/>
              <a:t>类背景</a:t>
            </a:r>
            <a:r>
              <a:rPr lang="en-US" altLang="zh-CN" dirty="0" smtClean="0"/>
              <a:t>)</a:t>
            </a:r>
            <a:r>
              <a:rPr lang="zh-CN" altLang="en-US" dirty="0" smtClean="0"/>
              <a:t>，因此在使用</a:t>
            </a:r>
            <a:r>
              <a:rPr lang="en-US" altLang="zh-CN" dirty="0" smtClean="0"/>
              <a:t>VOC</a:t>
            </a:r>
            <a:r>
              <a:rPr lang="zh-CN" altLang="en-US" dirty="0" smtClean="0"/>
              <a:t>数据集进行微调训练时，需要把 </a:t>
            </a:r>
            <a:r>
              <a:rPr lang="en-US" altLang="zh-CN" dirty="0" err="1" smtClean="0"/>
              <a:t>AlexNet</a:t>
            </a:r>
            <a:r>
              <a:rPr lang="zh-CN" altLang="en-US" dirty="0" smtClean="0"/>
              <a:t>最后用于分类的全连接层的输出</a:t>
            </a:r>
            <a:r>
              <a:rPr lang="en-US" altLang="zh-CN" dirty="0" smtClean="0"/>
              <a:t>,</a:t>
            </a:r>
            <a:r>
              <a:rPr lang="zh-CN" altLang="en-US" dirty="0" smtClean="0"/>
              <a:t>从</a:t>
            </a:r>
            <a:r>
              <a:rPr lang="en-US" altLang="zh-CN" dirty="0" smtClean="0"/>
              <a:t>1000</a:t>
            </a:r>
            <a:r>
              <a:rPr lang="zh-CN" altLang="en-US" dirty="0" smtClean="0"/>
              <a:t>变成</a:t>
            </a:r>
            <a:r>
              <a:rPr lang="en-US" altLang="zh-CN" dirty="0" smtClean="0"/>
              <a:t>21</a:t>
            </a:r>
            <a:r>
              <a:rPr lang="zh-CN" altLang="en-US" dirty="0" smtClean="0"/>
              <a:t>。全连接层的参数可以采用随机生成的方式进行初始化。</a:t>
            </a:r>
            <a:endParaRPr lang="en-US" altLang="zh-CN" dirty="0" smtClean="0"/>
          </a:p>
          <a:p>
            <a:r>
              <a:rPr lang="zh-CN" altLang="en-US" dirty="0" smtClean="0"/>
              <a:t>通过候选框生成算法，一幅图像上可以生成上千个候选框，每个候选框与图像中需要检测的目标的包围盒（我们称之为真值</a:t>
            </a:r>
            <a:r>
              <a:rPr lang="en-US" altLang="zh-CN" dirty="0" smtClean="0"/>
              <a:t>,</a:t>
            </a:r>
          </a:p>
          <a:p>
            <a:r>
              <a:rPr lang="zh-CN" altLang="en-US" dirty="0" smtClean="0"/>
              <a:t>即 </a:t>
            </a:r>
            <a:r>
              <a:rPr lang="en-US" altLang="zh-CN" dirty="0" smtClean="0"/>
              <a:t>ground truth)</a:t>
            </a:r>
            <a:r>
              <a:rPr lang="zh-CN" altLang="en-US" dirty="0" smtClean="0"/>
              <a:t>有着不同的相交状态。在训练特征提取网络模型时</a:t>
            </a:r>
            <a:r>
              <a:rPr lang="en-US" altLang="zh-CN" dirty="0" smtClean="0"/>
              <a:t>,</a:t>
            </a:r>
            <a:r>
              <a:rPr lang="zh-CN" altLang="en-US" dirty="0" smtClean="0"/>
              <a:t>我们把那些与真值的交并比</a:t>
            </a:r>
            <a:r>
              <a:rPr lang="en-US" altLang="zh-CN" dirty="0" smtClean="0"/>
              <a:t>(</a:t>
            </a:r>
            <a:r>
              <a:rPr lang="en-US" altLang="zh-CN" dirty="0" err="1" smtClean="0"/>
              <a:t>IoU</a:t>
            </a:r>
            <a:r>
              <a:rPr lang="en-US" altLang="zh-CN" dirty="0" smtClean="0"/>
              <a:t>)</a:t>
            </a:r>
            <a:r>
              <a:rPr lang="zh-CN" altLang="en-US" dirty="0" smtClean="0"/>
              <a:t>大于等于</a:t>
            </a:r>
            <a:r>
              <a:rPr lang="en-US" altLang="zh-CN" dirty="0" smtClean="0"/>
              <a:t>0.5</a:t>
            </a:r>
            <a:r>
              <a:rPr lang="zh-CN" altLang="en-US" dirty="0" smtClean="0"/>
              <a:t>的候选框当作正样本</a:t>
            </a:r>
            <a:r>
              <a:rPr lang="en-US" altLang="zh-CN" dirty="0" smtClean="0"/>
              <a:t>,</a:t>
            </a:r>
            <a:r>
              <a:rPr lang="zh-CN" altLang="en-US" dirty="0" smtClean="0"/>
              <a:t>把</a:t>
            </a:r>
            <a:r>
              <a:rPr lang="en-US" altLang="zh-CN" dirty="0" err="1" smtClean="0"/>
              <a:t>IoU</a:t>
            </a:r>
            <a:r>
              <a:rPr lang="zh-CN" altLang="en-US" dirty="0" smtClean="0"/>
              <a:t>小于</a:t>
            </a:r>
            <a:r>
              <a:rPr lang="en-US" altLang="zh-CN" dirty="0" smtClean="0"/>
              <a:t>0.5</a:t>
            </a:r>
            <a:r>
              <a:rPr lang="zh-CN" altLang="en-US" dirty="0" smtClean="0"/>
              <a:t>的候选框当作负样本（即背景</a:t>
            </a:r>
            <a:r>
              <a:rPr lang="en-US" altLang="zh-CN" dirty="0" smtClean="0"/>
              <a:t>)</a:t>
            </a:r>
            <a:r>
              <a:rPr lang="zh-CN" altLang="en-US" dirty="0" smtClean="0"/>
              <a:t>。至于为什么选取</a:t>
            </a:r>
            <a:r>
              <a:rPr lang="en-US" altLang="zh-CN" dirty="0" smtClean="0"/>
              <a:t>0.5</a:t>
            </a:r>
            <a:r>
              <a:rPr lang="zh-CN" altLang="en-US" dirty="0" smtClean="0"/>
              <a:t>作为阈值，其实没有好的理论支持，只是在尝试了多个阈值之后</a:t>
            </a:r>
            <a:r>
              <a:rPr lang="en-US" altLang="zh-CN" dirty="0" smtClean="0"/>
              <a:t>,</a:t>
            </a:r>
            <a:r>
              <a:rPr lang="zh-CN" altLang="en-US" dirty="0" smtClean="0"/>
              <a:t>发现取值为</a:t>
            </a:r>
            <a:r>
              <a:rPr lang="en-US" altLang="zh-CN" dirty="0" smtClean="0"/>
              <a:t>0.5</a:t>
            </a:r>
            <a:r>
              <a:rPr lang="zh-CN" altLang="en-US" dirty="0" smtClean="0"/>
              <a:t>时</a:t>
            </a:r>
            <a:r>
              <a:rPr lang="en-US" altLang="zh-CN" dirty="0" smtClean="0"/>
              <a:t>,</a:t>
            </a:r>
            <a:r>
              <a:rPr lang="zh-CN" altLang="en-US" dirty="0" smtClean="0"/>
              <a:t>算法具有最好的性能。</a:t>
            </a:r>
            <a:endParaRPr lang="en-US" altLang="zh-CN" dirty="0" smtClean="0"/>
          </a:p>
          <a:p>
            <a:r>
              <a:rPr lang="zh-CN" altLang="en-US" dirty="0" smtClean="0"/>
              <a:t>在训练过程中</a:t>
            </a:r>
            <a:r>
              <a:rPr lang="en-US" altLang="zh-CN" dirty="0" smtClean="0"/>
              <a:t>,</a:t>
            </a:r>
            <a:r>
              <a:rPr lang="zh-CN" altLang="en-US" dirty="0" smtClean="0"/>
              <a:t>我们采用批次随机梯度下降</a:t>
            </a:r>
            <a:r>
              <a:rPr lang="en-US" altLang="zh-CN" dirty="0" smtClean="0"/>
              <a:t>(batch SGD)</a:t>
            </a:r>
            <a:r>
              <a:rPr lang="zh-CN" altLang="en-US" dirty="0" smtClean="0"/>
              <a:t>算法。因为候选框中</a:t>
            </a:r>
            <a:r>
              <a:rPr lang="en-US" altLang="zh-CN" dirty="0" smtClean="0"/>
              <a:t>,</a:t>
            </a:r>
            <a:r>
              <a:rPr lang="zh-CN" altLang="en-US" dirty="0" smtClean="0"/>
              <a:t>负样本的比例要远大于正样本的比例，所以在训练时倾向于选择更多的负样本</a:t>
            </a:r>
            <a:r>
              <a:rPr lang="en-US" altLang="zh-CN" dirty="0" smtClean="0"/>
              <a:t>(</a:t>
            </a:r>
            <a:r>
              <a:rPr lang="zh-CN" altLang="en-US" dirty="0" smtClean="0"/>
              <a:t>即背景样本</a:t>
            </a:r>
            <a:r>
              <a:rPr lang="en-US" altLang="zh-CN" dirty="0" smtClean="0"/>
              <a:t>)</a:t>
            </a:r>
            <a:r>
              <a:rPr lang="zh-CN" altLang="en-US" dirty="0" smtClean="0"/>
              <a:t>。在具体训练过程中</a:t>
            </a:r>
            <a:r>
              <a:rPr lang="en-US" altLang="zh-CN" dirty="0" smtClean="0"/>
              <a:t>,</a:t>
            </a:r>
            <a:r>
              <a:rPr lang="zh-CN" altLang="en-US" dirty="0" smtClean="0"/>
              <a:t>每一个批次选取</a:t>
            </a:r>
            <a:r>
              <a:rPr lang="en-US" altLang="zh-CN" dirty="0" smtClean="0"/>
              <a:t>128</a:t>
            </a:r>
            <a:r>
              <a:rPr lang="zh-CN" altLang="en-US" dirty="0" smtClean="0"/>
              <a:t>个样本进行</a:t>
            </a:r>
            <a:r>
              <a:rPr lang="en-US" altLang="zh-CN" dirty="0" smtClean="0"/>
              <a:t>SGD</a:t>
            </a:r>
            <a:r>
              <a:rPr lang="zh-CN" altLang="en-US" dirty="0" smtClean="0"/>
              <a:t>优化</a:t>
            </a:r>
            <a:r>
              <a:rPr lang="en-US" altLang="zh-CN" dirty="0" smtClean="0"/>
              <a:t>,</a:t>
            </a:r>
            <a:r>
              <a:rPr lang="zh-CN" altLang="en-US" dirty="0" smtClean="0"/>
              <a:t>在</a:t>
            </a:r>
            <a:r>
              <a:rPr lang="en-US" altLang="zh-CN" dirty="0" smtClean="0"/>
              <a:t>128</a:t>
            </a:r>
            <a:r>
              <a:rPr lang="zh-CN" altLang="en-US" dirty="0" smtClean="0"/>
              <a:t>个样本中，有</a:t>
            </a:r>
            <a:r>
              <a:rPr lang="en-US" altLang="zh-CN" dirty="0" smtClean="0"/>
              <a:t>32</a:t>
            </a:r>
            <a:r>
              <a:rPr lang="zh-CN" altLang="en-US" dirty="0" smtClean="0"/>
              <a:t>个为正样本，另外</a:t>
            </a:r>
            <a:r>
              <a:rPr lang="en-US" altLang="zh-CN" dirty="0" smtClean="0"/>
              <a:t>96</a:t>
            </a:r>
            <a:r>
              <a:rPr lang="zh-CN" altLang="en-US" dirty="0" smtClean="0"/>
              <a:t>个为负样本（背景</a:t>
            </a:r>
            <a:r>
              <a:rPr lang="en-US" altLang="zh-CN" dirty="0" smtClean="0"/>
              <a:t>)</a:t>
            </a:r>
            <a:r>
              <a:rPr lang="zh-CN" altLang="en-US" dirty="0" smtClean="0"/>
              <a:t>。因为是调优训练</a:t>
            </a:r>
            <a:r>
              <a:rPr lang="en-US" altLang="zh-CN" dirty="0" smtClean="0"/>
              <a:t>,</a:t>
            </a:r>
            <a:r>
              <a:rPr lang="zh-CN" altLang="en-US" dirty="0" smtClean="0"/>
              <a:t>所以将模型的学习率调整为</a:t>
            </a:r>
            <a:r>
              <a:rPr lang="en-US" altLang="zh-CN" dirty="0" smtClean="0"/>
              <a:t>0.001</a:t>
            </a:r>
            <a:r>
              <a:rPr lang="zh-CN" altLang="en-US" dirty="0" smtClean="0"/>
              <a:t>（之前分类数据集上训练学习率的</a:t>
            </a:r>
            <a:r>
              <a:rPr lang="en-US" altLang="zh-CN" dirty="0" smtClean="0"/>
              <a:t>1/10),</a:t>
            </a:r>
            <a:r>
              <a:rPr lang="zh-CN" altLang="en-US" dirty="0" smtClean="0"/>
              <a:t>以进行更为细致的迭代优化。模型训练完成后，去掉最后用于分类的全连接层（</a:t>
            </a:r>
            <a:r>
              <a:rPr lang="en-US" altLang="zh-CN" dirty="0" smtClean="0"/>
              <a:t>4096×21)</a:t>
            </a:r>
            <a:r>
              <a:rPr lang="zh-CN" altLang="en-US" dirty="0" smtClean="0"/>
              <a:t>，就得到了一个特征提取网络模型。对于每个</a:t>
            </a:r>
            <a:r>
              <a:rPr lang="en-US" altLang="zh-CN" dirty="0" smtClean="0"/>
              <a:t>227</a:t>
            </a:r>
            <a:r>
              <a:rPr lang="zh-CN" altLang="en-US" dirty="0" smtClean="0"/>
              <a:t>像素</a:t>
            </a:r>
            <a:r>
              <a:rPr lang="en-US" altLang="zh-CN" dirty="0" smtClean="0"/>
              <a:t>x227</a:t>
            </a:r>
            <a:r>
              <a:rPr lang="zh-CN" altLang="en-US" dirty="0" smtClean="0"/>
              <a:t>像系的输入图像，网络会提取一个</a:t>
            </a:r>
            <a:r>
              <a:rPr lang="en-US" altLang="zh-CN" dirty="0" smtClean="0"/>
              <a:t>4096</a:t>
            </a:r>
            <a:r>
              <a:rPr lang="zh-CN" altLang="en-US" dirty="0" smtClean="0"/>
              <a:t>维的特征向量</a:t>
            </a:r>
            <a:r>
              <a:rPr lang="en-US" altLang="zh-CN" dirty="0" smtClean="0"/>
              <a:t>,</a:t>
            </a:r>
            <a:r>
              <a:rPr lang="zh-CN" altLang="en-US" dirty="0" smtClean="0"/>
              <a:t>作为原始图像的类别特征表达。</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992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有了特征之后</a:t>
            </a:r>
            <a:r>
              <a:rPr lang="en-US" altLang="zh-CN" dirty="0" smtClean="0"/>
              <a:t>,</a:t>
            </a:r>
            <a:r>
              <a:rPr lang="zh-CN" altLang="en-US" dirty="0" smtClean="0"/>
              <a:t>还需要构造合适的分类器。常规的分类器有两大类</a:t>
            </a:r>
            <a:r>
              <a:rPr lang="en-US" altLang="zh-CN" dirty="0" smtClean="0"/>
              <a:t>:</a:t>
            </a:r>
            <a:r>
              <a:rPr lang="zh-CN" altLang="en-US" dirty="0" smtClean="0"/>
              <a:t>一种是直接分类，比如支持向量机（</a:t>
            </a:r>
            <a:r>
              <a:rPr lang="en-US" altLang="zh-CN" dirty="0" smtClean="0"/>
              <a:t>SVM</a:t>
            </a:r>
            <a:r>
              <a:rPr lang="zh-CN" altLang="en-US" dirty="0" smtClean="0"/>
              <a:t>）</a:t>
            </a:r>
            <a:r>
              <a:rPr lang="en-US" altLang="zh-CN" dirty="0" smtClean="0"/>
              <a:t>,</a:t>
            </a:r>
            <a:r>
              <a:rPr lang="zh-CN" altLang="en-US" dirty="0" smtClean="0"/>
              <a:t>或者直接使用神经网络进行分类</a:t>
            </a:r>
            <a:r>
              <a:rPr lang="en-US" altLang="zh-CN" dirty="0" smtClean="0"/>
              <a:t>;</a:t>
            </a:r>
            <a:r>
              <a:rPr lang="zh-CN" altLang="en-US" dirty="0" smtClean="0"/>
              <a:t>另一种是基于弱分类器级联的方式构造强分类器，比如</a:t>
            </a:r>
            <a:r>
              <a:rPr lang="en-US" altLang="zh-CN" dirty="0" smtClean="0"/>
              <a:t>Boosting</a:t>
            </a:r>
            <a:r>
              <a:rPr lang="zh-CN" altLang="en-US" dirty="0" smtClean="0"/>
              <a:t>算法。</a:t>
            </a:r>
            <a:r>
              <a:rPr lang="en-US" altLang="zh-CN" dirty="0" smtClean="0"/>
              <a:t>R-CNN</a:t>
            </a:r>
            <a:r>
              <a:rPr lang="zh-CN" altLang="en-US" dirty="0" smtClean="0"/>
              <a:t>的作者使用了一系列</a:t>
            </a:r>
            <a:r>
              <a:rPr lang="en-US" altLang="zh-CN" dirty="0" smtClean="0"/>
              <a:t>2</a:t>
            </a:r>
            <a:r>
              <a:rPr lang="zh-CN" altLang="en-US" dirty="0" smtClean="0"/>
              <a:t>分类的线性</a:t>
            </a:r>
            <a:r>
              <a:rPr lang="en-US" altLang="zh-CN" dirty="0" smtClean="0"/>
              <a:t>SVM</a:t>
            </a:r>
            <a:r>
              <a:rPr lang="zh-CN" altLang="en-US" dirty="0" smtClean="0"/>
              <a:t>作为分类器，选取的特征向量就是之前训练的神经网络提取的</a:t>
            </a:r>
            <a:r>
              <a:rPr lang="en-US" altLang="zh-CN" dirty="0" smtClean="0"/>
              <a:t>4096</a:t>
            </a:r>
            <a:r>
              <a:rPr lang="zh-CN" altLang="en-US" dirty="0" smtClean="0"/>
              <a:t>维特征向量。</a:t>
            </a:r>
            <a:endParaRPr lang="en-US" altLang="zh-CN" dirty="0" smtClean="0"/>
          </a:p>
          <a:p>
            <a:r>
              <a:rPr lang="zh-CN" altLang="en-US" sz="1200" b="0" i="0" kern="1200" dirty="0" smtClean="0">
                <a:solidFill>
                  <a:schemeClr val="tx1"/>
                </a:solidFill>
                <a:effectLst/>
                <a:latin typeface="+mn-lt"/>
                <a:ea typeface="+mn-ea"/>
                <a:cs typeface="+mn-cs"/>
              </a:rPr>
              <a:t>假设一张图片有</a:t>
            </a:r>
            <a:r>
              <a:rPr lang="en-US" altLang="zh-CN" sz="1200" b="0" i="0" kern="1200" dirty="0" smtClean="0">
                <a:solidFill>
                  <a:schemeClr val="tx1"/>
                </a:solidFill>
                <a:effectLst/>
                <a:latin typeface="+mn-lt"/>
                <a:ea typeface="+mn-ea"/>
                <a:cs typeface="+mn-cs"/>
              </a:rPr>
              <a:t>2000</a:t>
            </a:r>
            <a:r>
              <a:rPr lang="zh-CN" altLang="en-US" sz="1200" b="0" i="0" kern="1200" dirty="0" smtClean="0">
                <a:solidFill>
                  <a:schemeClr val="tx1"/>
                </a:solidFill>
                <a:effectLst/>
                <a:latin typeface="+mn-lt"/>
                <a:ea typeface="+mn-ea"/>
                <a:cs typeface="+mn-cs"/>
              </a:rPr>
              <a:t>个候选区域，那么提取出来的就是</a:t>
            </a:r>
            <a:r>
              <a:rPr lang="en-US" altLang="zh-CN" sz="1200" b="0" i="0" kern="1200" dirty="0" smtClean="0">
                <a:solidFill>
                  <a:schemeClr val="tx1"/>
                </a:solidFill>
                <a:effectLst/>
                <a:latin typeface="+mn-lt"/>
                <a:ea typeface="+mn-ea"/>
                <a:cs typeface="+mn-cs"/>
              </a:rPr>
              <a:t>2000 x 4096</a:t>
            </a:r>
            <a:r>
              <a:rPr lang="zh-CN" altLang="en-US" sz="1200" b="0" i="0" kern="1200" dirty="0" smtClean="0">
                <a:solidFill>
                  <a:schemeClr val="tx1"/>
                </a:solidFill>
                <a:effectLst/>
                <a:latin typeface="+mn-lt"/>
                <a:ea typeface="+mn-ea"/>
                <a:cs typeface="+mn-cs"/>
              </a:rPr>
              <a:t>这样的特征向量。</a:t>
            </a:r>
            <a:r>
              <a:rPr lang="zh-CN" altLang="en-US" dirty="0" smtClean="0"/>
              <a:t>检测</a:t>
            </a:r>
            <a:r>
              <a:rPr lang="en-US" altLang="zh-CN" dirty="0" smtClean="0"/>
              <a:t>20</a:t>
            </a:r>
            <a:r>
              <a:rPr lang="zh-CN" altLang="en-US" dirty="0" smtClean="0"/>
              <a:t>个类别，那么会提供</a:t>
            </a:r>
            <a:r>
              <a:rPr lang="en-US" altLang="zh-CN" dirty="0" smtClean="0"/>
              <a:t>20</a:t>
            </a:r>
            <a:r>
              <a:rPr lang="zh-CN" altLang="en-US" dirty="0" smtClean="0"/>
              <a:t>个不同类别的</a:t>
            </a:r>
            <a:r>
              <a:rPr lang="en-US" altLang="zh-CN" dirty="0" smtClean="0"/>
              <a:t>SVM</a:t>
            </a:r>
            <a:r>
              <a:rPr lang="zh-CN" altLang="en-US" dirty="0" smtClean="0"/>
              <a:t>分类器，每个分类器都会对</a:t>
            </a:r>
            <a:r>
              <a:rPr lang="en-US" altLang="zh-CN" dirty="0" smtClean="0"/>
              <a:t>2000</a:t>
            </a:r>
            <a:r>
              <a:rPr lang="zh-CN" altLang="en-US" dirty="0" smtClean="0"/>
              <a:t>个候选区域的特征向量分别判断一次，这样得出</a:t>
            </a:r>
            <a:r>
              <a:rPr lang="en-US" altLang="zh-CN" dirty="0" smtClean="0"/>
              <a:t>[2000, 20]</a:t>
            </a:r>
            <a:r>
              <a:rPr lang="zh-CN" altLang="en-US" dirty="0" smtClean="0"/>
              <a:t>的得分矩阵，如下图所示，每个</a:t>
            </a:r>
            <a:r>
              <a:rPr lang="en-US" altLang="zh-CN" dirty="0" smtClean="0"/>
              <a:t>SVM</a:t>
            </a:r>
            <a:r>
              <a:rPr lang="zh-CN" altLang="en-US" dirty="0" smtClean="0"/>
              <a:t>分类器做的事情就是判断候选区域是否为某具体类别。</a:t>
            </a:r>
            <a:endParaRPr lang="en-US" altLang="zh-CN" dirty="0" smtClean="0"/>
          </a:p>
          <a:p>
            <a:r>
              <a:rPr lang="zh-CN" altLang="en-US" dirty="0" smtClean="0"/>
              <a:t>因为要做分类判定</a:t>
            </a:r>
            <a:r>
              <a:rPr lang="en-US" altLang="zh-CN" dirty="0" smtClean="0"/>
              <a:t>,</a:t>
            </a:r>
            <a:r>
              <a:rPr lang="zh-CN" altLang="en-US" dirty="0" smtClean="0"/>
              <a:t>候选框和真值框有较多的重合度，才会认为候选框框中了目标，所以我们在选取样本的时候，把候选框和真值框的</a:t>
            </a:r>
            <a:r>
              <a:rPr lang="en-US" altLang="zh-CN" dirty="0" err="1" smtClean="0"/>
              <a:t>IoU</a:t>
            </a:r>
            <a:r>
              <a:rPr lang="zh-CN" altLang="en-US" dirty="0" smtClean="0"/>
              <a:t>阈值设为</a:t>
            </a:r>
            <a:r>
              <a:rPr lang="en-US" altLang="zh-CN" dirty="0" smtClean="0"/>
              <a:t>0.7</a:t>
            </a:r>
            <a:r>
              <a:rPr lang="zh-CN" altLang="en-US" dirty="0" smtClean="0"/>
              <a:t>，将</a:t>
            </a:r>
            <a:r>
              <a:rPr lang="en-US" altLang="zh-CN" dirty="0" err="1" smtClean="0"/>
              <a:t>IoU</a:t>
            </a:r>
            <a:r>
              <a:rPr lang="zh-CN" altLang="en-US" dirty="0" smtClean="0"/>
              <a:t>大于等于</a:t>
            </a:r>
            <a:r>
              <a:rPr lang="en-US" altLang="zh-CN" dirty="0" smtClean="0"/>
              <a:t>0.7</a:t>
            </a:r>
            <a:r>
              <a:rPr lang="zh-CN" altLang="en-US" dirty="0" smtClean="0"/>
              <a:t>的候选框提取的特征作为正样本特征向量</a:t>
            </a:r>
            <a:r>
              <a:rPr lang="en-US" altLang="zh-CN" dirty="0" smtClean="0"/>
              <a:t>,</a:t>
            </a:r>
            <a:r>
              <a:rPr lang="zh-CN" altLang="en-US" dirty="0" smtClean="0"/>
              <a:t>将</a:t>
            </a:r>
            <a:r>
              <a:rPr lang="en-US" altLang="zh-CN" dirty="0" err="1" smtClean="0"/>
              <a:t>IoU</a:t>
            </a:r>
            <a:r>
              <a:rPr lang="zh-CN" altLang="en-US" dirty="0" smtClean="0"/>
              <a:t>小于</a:t>
            </a:r>
            <a:r>
              <a:rPr lang="en-US" altLang="zh-CN" dirty="0" smtClean="0"/>
              <a:t>0.7</a:t>
            </a:r>
            <a:r>
              <a:rPr lang="zh-CN" altLang="en-US" dirty="0" smtClean="0"/>
              <a:t>的候选框提取的特征作为负样本特征向量</a:t>
            </a:r>
            <a:r>
              <a:rPr lang="en-US" altLang="zh-CN" dirty="0" smtClean="0"/>
              <a:t>,</a:t>
            </a:r>
            <a:r>
              <a:rPr lang="zh-CN" altLang="en-US" dirty="0" smtClean="0"/>
              <a:t>通过提取的各个特征向量，来训练各个</a:t>
            </a:r>
            <a:r>
              <a:rPr lang="en-US" altLang="zh-CN" dirty="0" smtClean="0"/>
              <a:t>2</a:t>
            </a:r>
            <a:r>
              <a:rPr lang="zh-CN" altLang="en-US" dirty="0" smtClean="0"/>
              <a:t>分类</a:t>
            </a:r>
            <a:r>
              <a:rPr lang="en-US" altLang="zh-CN" dirty="0" smtClean="0"/>
              <a:t>SVM(</a:t>
            </a:r>
            <a:r>
              <a:rPr lang="zh-CN" altLang="en-US" dirty="0" smtClean="0"/>
              <a:t>关于</a:t>
            </a:r>
            <a:r>
              <a:rPr lang="en-US" altLang="zh-CN" dirty="0" smtClean="0"/>
              <a:t>SVM</a:t>
            </a:r>
            <a:r>
              <a:rPr lang="zh-CN" altLang="en-US" dirty="0" smtClean="0"/>
              <a:t>的原理和训练方法</a:t>
            </a:r>
            <a:r>
              <a:rPr lang="en-US" altLang="zh-CN" dirty="0" smtClean="0"/>
              <a:t>,</a:t>
            </a:r>
            <a:r>
              <a:rPr lang="zh-CN" altLang="en-US" dirty="0" smtClean="0"/>
              <a:t> 可以在很多机器学习相关的资料中进行了解</a:t>
            </a:r>
            <a:r>
              <a:rPr lang="en-US" altLang="zh-CN" dirty="0" smtClean="0"/>
              <a:t>,</a:t>
            </a:r>
            <a:r>
              <a:rPr lang="zh-CN" altLang="en-US" dirty="0" smtClean="0"/>
              <a:t>这里不再赘述</a:t>
            </a:r>
            <a:r>
              <a:rPr lang="en-US" altLang="zh-CN" dirty="0" smtClean="0"/>
              <a:t>)</a:t>
            </a:r>
            <a:r>
              <a:rPr lang="zh-CN" altLang="en-US" dirty="0" smtClean="0"/>
              <a:t>。</a:t>
            </a:r>
            <a:endParaRPr lang="en-US" altLang="zh-CN" dirty="0" smtClean="0"/>
          </a:p>
          <a:p>
            <a:r>
              <a:rPr lang="zh-CN" altLang="en-US" dirty="0" smtClean="0"/>
              <a:t>有些同学可能会提出疑问</a:t>
            </a:r>
            <a:r>
              <a:rPr lang="en-US" altLang="zh-CN" dirty="0" smtClean="0"/>
              <a:t>:</a:t>
            </a:r>
            <a:r>
              <a:rPr lang="zh-CN" altLang="en-US" dirty="0" smtClean="0"/>
              <a:t>既然前面训练的神经网络已经可以进行分类判定，为什么还需要单独训练</a:t>
            </a:r>
            <a:r>
              <a:rPr lang="en-US" altLang="zh-CN" dirty="0" smtClean="0"/>
              <a:t>SVM</a:t>
            </a:r>
            <a:r>
              <a:rPr lang="zh-CN" altLang="en-US" dirty="0" smtClean="0"/>
              <a:t>分类器呢</a:t>
            </a:r>
            <a:r>
              <a:rPr lang="en-US" altLang="zh-CN" dirty="0" smtClean="0"/>
              <a:t>?</a:t>
            </a:r>
            <a:r>
              <a:rPr lang="zh-CN" altLang="en-US" dirty="0" smtClean="0"/>
              <a:t>其实针对这个问题，</a:t>
            </a:r>
            <a:r>
              <a:rPr lang="en-US" altLang="zh-CN" dirty="0" smtClean="0"/>
              <a:t>R-CNN</a:t>
            </a:r>
            <a:r>
              <a:rPr lang="zh-CN" altLang="en-US" dirty="0" smtClean="0"/>
              <a:t>的作者也没有给出非常有说服力的解释，基个上可以认为这是基于实验结果给出的一个优选方案。大家没有必要纠结于此</a:t>
            </a:r>
            <a:r>
              <a:rPr lang="en-US" altLang="zh-CN" dirty="0" smtClean="0"/>
              <a:t>,</a:t>
            </a:r>
            <a:r>
              <a:rPr lang="zh-CN" altLang="en-US" dirty="0" smtClean="0"/>
              <a:t>很多算法的优化</a:t>
            </a:r>
            <a:r>
              <a:rPr lang="en-US" altLang="zh-CN" dirty="0" smtClean="0"/>
              <a:t>,</a:t>
            </a:r>
            <a:r>
              <a:rPr lang="zh-CN" altLang="en-US" dirty="0" smtClean="0"/>
              <a:t>坦率地说，都是在实际场景中调试出来的。</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16095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实际上，通过</a:t>
                </a:r>
                <a:r>
                  <a:rPr lang="en-US" altLang="zh-CN" dirty="0" smtClean="0"/>
                  <a:t>Selective Search</a:t>
                </a:r>
                <a:r>
                  <a:rPr lang="zh-CN" altLang="en-US" dirty="0" smtClean="0"/>
                  <a:t>等方法生成的候选框很难做到非常准确地框住目标，总会有一些偏差。为了得到准确的目标位置，需要基于当前候选框的位置进行修正，计算候选框的中心点坐标在水平方向和垂直方向需要的偏移量，以及水平方向和垂直方向需要的缩放尺度。一个直观的想法是，直接对上述</a:t>
                </a:r>
                <a:r>
                  <a:rPr lang="en-US" altLang="zh-CN" dirty="0" smtClean="0"/>
                  <a:t>4</a:t>
                </a:r>
                <a:r>
                  <a:rPr lang="zh-CN" altLang="en-US" dirty="0" smtClean="0"/>
                  <a:t>个数值</a:t>
                </a:r>
                <a:r>
                  <a:rPr lang="en-US" altLang="zh-CN" dirty="0" smtClean="0"/>
                  <a:t>(</a:t>
                </a:r>
                <a:r>
                  <a:rPr lang="zh-CN" altLang="en-US" dirty="0" smtClean="0"/>
                  <a:t>两个偏移量＋两个缩放尺度</a:t>
                </a:r>
                <a:r>
                  <a:rPr lang="en-US" altLang="zh-CN" dirty="0" smtClean="0"/>
                  <a:t>)</a:t>
                </a:r>
                <a:r>
                  <a:rPr lang="zh-CN" altLang="en-US" dirty="0" smtClean="0"/>
                  <a:t>进行回归，但是因为实际输入的候选框具有较大范围的位置差异和尺度差异，所以直接回归上述参数在训练过程中模型很难收敛。我们可以变通一下，对数据进行归一化处理，以候选框的宽和高为基准，来回归平移、缩放相对于候选框尺度的比例。</a:t>
                </a:r>
                <a:endParaRPr lang="en-US" altLang="zh-CN" dirty="0" smtClean="0"/>
              </a:p>
              <a:p>
                <a:r>
                  <a:rPr lang="zh-CN" altLang="en-US" dirty="0" smtClean="0"/>
                  <a:t>用</a:t>
                </a:r>
                <a:r>
                  <a:rPr lang="en-US" altLang="zh-CN" dirty="0" smtClean="0"/>
                  <a:t>G(</a:t>
                </a:r>
                <a:r>
                  <a:rPr lang="en-US" altLang="zh-CN" dirty="0" err="1" smtClean="0"/>
                  <a:t>Gx,Gy,Gw,Gh</a:t>
                </a:r>
                <a:r>
                  <a:rPr lang="en-US" altLang="zh-CN" dirty="0" smtClean="0"/>
                  <a:t>,)</a:t>
                </a:r>
                <a:r>
                  <a:rPr lang="zh-CN" altLang="en-US" dirty="0" smtClean="0"/>
                  <a:t>、</a:t>
                </a:r>
                <a:r>
                  <a:rPr lang="en-US" altLang="zh-CN" dirty="0" smtClean="0"/>
                  <a:t>Ĝ (</a:t>
                </a:r>
                <a:r>
                  <a:rPr lang="en-US" altLang="zh-CN" dirty="0" err="1" smtClean="0"/>
                  <a:t>Ĝx</a:t>
                </a:r>
                <a:r>
                  <a:rPr lang="en-US" altLang="zh-CN" dirty="0" smtClean="0"/>
                  <a:t>, </a:t>
                </a:r>
                <a:r>
                  <a:rPr lang="en-US" altLang="zh-CN" dirty="0" err="1" smtClean="0"/>
                  <a:t>Ĝy</a:t>
                </a:r>
                <a:r>
                  <a:rPr lang="en-US" altLang="zh-CN" dirty="0" smtClean="0"/>
                  <a:t>, </a:t>
                </a:r>
                <a:r>
                  <a:rPr lang="en-US" altLang="zh-CN" dirty="0" err="1" smtClean="0"/>
                  <a:t>Ĝw</a:t>
                </a:r>
                <a:r>
                  <a:rPr lang="en-US" altLang="zh-CN" dirty="0" smtClean="0"/>
                  <a:t>, </a:t>
                </a:r>
                <a:r>
                  <a:rPr lang="en-US" altLang="zh-CN" dirty="0" err="1" smtClean="0"/>
                  <a:t>Ĝh</a:t>
                </a:r>
                <a:r>
                  <a:rPr lang="en-US" altLang="zh-CN" dirty="0" smtClean="0"/>
                  <a:t>)</a:t>
                </a:r>
                <a:r>
                  <a:rPr lang="zh-CN" altLang="en-US" dirty="0" smtClean="0"/>
                  <a:t>、</a:t>
                </a:r>
                <a:r>
                  <a:rPr lang="en-US" altLang="zh-CN" dirty="0" smtClean="0"/>
                  <a:t>P(</a:t>
                </a:r>
                <a:r>
                  <a:rPr lang="en-US" altLang="zh-CN" dirty="0" err="1" smtClean="0"/>
                  <a:t>Px,Py,Pw,Ph</a:t>
                </a:r>
                <a:r>
                  <a:rPr lang="en-US" altLang="zh-CN" dirty="0" smtClean="0"/>
                  <a:t>)</a:t>
                </a:r>
                <a:r>
                  <a:rPr lang="zh-CN" altLang="en-US" dirty="0" smtClean="0"/>
                  <a:t>分别表示目标框的准确位置</a:t>
                </a:r>
                <a:r>
                  <a:rPr lang="en-US" altLang="zh-CN" dirty="0" smtClean="0"/>
                  <a:t>(ground truth)</a:t>
                </a:r>
                <a:r>
                  <a:rPr lang="zh-CN" altLang="en-US" dirty="0" smtClean="0"/>
                  <a:t>，回归得到的预测框位置以及原始候选框位置，上述角标</a:t>
                </a:r>
                <a:r>
                  <a:rPr lang="en-US" altLang="zh-CN" dirty="0" smtClean="0"/>
                  <a:t>x</a:t>
                </a:r>
                <a:r>
                  <a:rPr lang="zh-CN" altLang="en-US" dirty="0" smtClean="0"/>
                  <a:t>、</a:t>
                </a:r>
                <a:r>
                  <a:rPr lang="en-US" altLang="zh-CN" dirty="0" smtClean="0"/>
                  <a:t>y</a:t>
                </a:r>
                <a:r>
                  <a:rPr lang="zh-CN" altLang="en-US" dirty="0" smtClean="0"/>
                  <a:t>、</a:t>
                </a:r>
                <a:r>
                  <a:rPr lang="en-US" altLang="zh-CN" dirty="0" smtClean="0"/>
                  <a:t>w</a:t>
                </a:r>
                <a:r>
                  <a:rPr lang="zh-CN" altLang="en-US" dirty="0" smtClean="0"/>
                  <a:t>、</a:t>
                </a:r>
                <a:r>
                  <a:rPr lang="en-US" altLang="zh-CN" dirty="0" smtClean="0"/>
                  <a:t>h</a:t>
                </a:r>
                <a:r>
                  <a:rPr lang="zh-CN" altLang="en-US" dirty="0" smtClean="0"/>
                  <a:t>分别表示框的中心点横、纵坐标以及宽、高。通过如下公式，可以对坐标偏移和尺度缩放进行归一化处理。公式中的</a:t>
                </a:r>
                <a:r>
                  <a:rPr lang="en-US" altLang="zh-CN" dirty="0" err="1" smtClean="0"/>
                  <a:t>gx</a:t>
                </a:r>
                <a:r>
                  <a:rPr lang="zh-CN" altLang="en-US" dirty="0" smtClean="0"/>
                  <a:t>、</a:t>
                </a:r>
                <a:r>
                  <a:rPr lang="en-US" altLang="zh-CN" dirty="0" err="1" smtClean="0"/>
                  <a:t>gy</a:t>
                </a:r>
                <a:r>
                  <a:rPr lang="zh-CN" altLang="en-US" dirty="0" smtClean="0"/>
                  <a:t>、</a:t>
                </a:r>
                <a:r>
                  <a:rPr lang="en-US" altLang="zh-CN" dirty="0" err="1" smtClean="0"/>
                  <a:t>gw</a:t>
                </a:r>
                <a:r>
                  <a:rPr lang="zh-CN" altLang="en-US" dirty="0" smtClean="0"/>
                  <a:t>、</a:t>
                </a:r>
                <a:r>
                  <a:rPr lang="en-US" altLang="zh-CN" dirty="0" err="1" smtClean="0"/>
                  <a:t>gh</a:t>
                </a:r>
                <a:r>
                  <a:rPr lang="zh-CN" altLang="en-US" dirty="0" smtClean="0"/>
                  <a:t>就是归一化处理之后中间</a:t>
                </a:r>
                <a:r>
                  <a:rPr lang="zh-CN" altLang="en-US" baseline="0" dirty="0" smtClean="0"/>
                  <a:t>变</a:t>
                </a:r>
                <a:r>
                  <a:rPr lang="zh-CN" altLang="en-US" dirty="0" smtClean="0"/>
                  <a:t>量的准确值。因此，只要将网络在候选框上提取的特征向量作为输入向</a:t>
                </a:r>
              </a:p>
              <a:p>
                <a:r>
                  <a:rPr lang="zh-CN" altLang="en-US" dirty="0" smtClean="0"/>
                  <a:t>量，训练一个输出向量维数为</a:t>
                </a:r>
                <a:r>
                  <a:rPr lang="en-US" altLang="zh-CN" dirty="0" smtClean="0"/>
                  <a:t>4</a:t>
                </a:r>
                <a:r>
                  <a:rPr lang="zh-CN" altLang="en-US" dirty="0" smtClean="0"/>
                  <a:t>的全连接层，就可以得到一个回归器。训练的损失函数一般使用准确值</a:t>
                </a:r>
                <a:r>
                  <a:rPr lang="en-US" altLang="zh-CN" dirty="0" smtClean="0"/>
                  <a:t>(</a:t>
                </a:r>
                <a:r>
                  <a:rPr lang="en-US" altLang="zh-CN" dirty="0" err="1" smtClean="0"/>
                  <a:t>gx,gy,gw,gh</a:t>
                </a:r>
                <a:r>
                  <a:rPr lang="en-US" altLang="zh-CN" dirty="0" smtClean="0"/>
                  <a:t>)</a:t>
                </a:r>
                <a:r>
                  <a:rPr lang="zh-CN" altLang="en-US" dirty="0" smtClean="0"/>
                  <a:t>和预测值</a:t>
                </a:r>
                <a:r>
                  <a:rPr lang="en-US" altLang="zh-CN" dirty="0" smtClean="0"/>
                  <a:t>(</a:t>
                </a:r>
                <a14:m>
                  <m:oMath xmlns:m="http://schemas.openxmlformats.org/officeDocument/2006/math">
                    <m:r>
                      <a:rPr lang="en-US" altLang="zh-CN" i="1" dirty="0" smtClean="0">
                        <a:latin typeface="Cambria Math" panose="02040503050406030204" pitchFamily="18" charset="0"/>
                      </a:rPr>
                      <m:t>ĝ</m:t>
                    </m:r>
                    <m:r>
                      <a:rPr lang="en-US" altLang="zh-CN" i="1" baseline="-25000" dirty="0">
                        <a:latin typeface="Cambria Math" panose="02040503050406030204" pitchFamily="18" charset="0"/>
                      </a:rPr>
                      <m:t>𝑥</m:t>
                    </m:r>
                    <m:r>
                      <a:rPr lang="en-US" altLang="zh-CN" b="0" i="0" baseline="-25000" dirty="0" smtClean="0">
                        <a:latin typeface="Cambria Math" panose="02040503050406030204" pitchFamily="18" charset="0"/>
                      </a:rPr>
                      <m:t>,</m:t>
                    </m:r>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𝑦</m:t>
                    </m:r>
                  </m:oMath>
                </a14:m>
                <a:r>
                  <a:rPr lang="en-US" altLang="zh-CN" b="0" baseline="-25000" dirty="0" smtClean="0"/>
                  <a:t>,</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𝑤</m:t>
                    </m:r>
                  </m:oMath>
                </a14:m>
                <a:r>
                  <a:rPr lang="en-US" altLang="zh-CN" baseline="-25000" dirty="0" smtClean="0"/>
                  <a:t>,</a:t>
                </a:r>
                <a14:m>
                  <m:oMath xmlns:m="http://schemas.openxmlformats.org/officeDocument/2006/math">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h</m:t>
                    </m:r>
                  </m:oMath>
                </a14:m>
                <a:r>
                  <a:rPr lang="en-US" altLang="zh-CN" dirty="0" smtClean="0"/>
                  <a:t>)</a:t>
                </a:r>
                <a:r>
                  <a:rPr lang="zh-CN" altLang="en-US" dirty="0" smtClean="0"/>
                  <a:t>之间的欧氏距离。测试过程中</a:t>
                </a:r>
                <a:r>
                  <a:rPr lang="en-US" altLang="zh-CN" dirty="0" smtClean="0"/>
                  <a:t>,</a:t>
                </a:r>
                <a:r>
                  <a:rPr lang="zh-CN" altLang="en-US" dirty="0" smtClean="0"/>
                  <a:t>在候选框上提取特征后</a:t>
                </a:r>
                <a:r>
                  <a:rPr lang="en-US" altLang="zh-CN" dirty="0" smtClean="0"/>
                  <a:t>,</a:t>
                </a:r>
                <a:r>
                  <a:rPr lang="zh-CN" altLang="en-US" dirty="0" smtClean="0"/>
                  <a:t>通过回归器可以计算出</a:t>
                </a:r>
                <a:r>
                  <a:rPr lang="en-US" altLang="zh-CN" dirty="0" smtClean="0"/>
                  <a:t>(</a:t>
                </a:r>
                <a14:m>
                  <m:oMath xmlns:m="http://schemas.openxmlformats.org/officeDocument/2006/math">
                    <m:r>
                      <a:rPr lang="en-US" altLang="zh-CN" i="1" dirty="0" smtClean="0">
                        <a:latin typeface="Cambria Math" panose="02040503050406030204" pitchFamily="18" charset="0"/>
                      </a:rPr>
                      <m:t>ĝ</m:t>
                    </m:r>
                    <m:r>
                      <a:rPr lang="en-US" altLang="zh-CN" i="1" baseline="-25000" dirty="0">
                        <a:latin typeface="Cambria Math" panose="02040503050406030204" pitchFamily="18" charset="0"/>
                      </a:rPr>
                      <m:t>𝑥</m:t>
                    </m:r>
                    <m:r>
                      <a:rPr lang="en-US" altLang="zh-CN" b="0" i="0" baseline="-25000" dirty="0" smtClean="0">
                        <a:latin typeface="Cambria Math" panose="02040503050406030204" pitchFamily="18" charset="0"/>
                      </a:rPr>
                      <m:t>,</m:t>
                    </m:r>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𝑦</m:t>
                    </m:r>
                  </m:oMath>
                </a14:m>
                <a:r>
                  <a:rPr lang="en-US" altLang="zh-CN" b="0" baseline="-25000" dirty="0" smtClean="0"/>
                  <a:t>,</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𝑤</m:t>
                    </m:r>
                  </m:oMath>
                </a14:m>
                <a:r>
                  <a:rPr lang="en-US" altLang="zh-CN" baseline="-25000" dirty="0" smtClean="0"/>
                  <a:t>,</a:t>
                </a:r>
                <a14:m>
                  <m:oMath xmlns:m="http://schemas.openxmlformats.org/officeDocument/2006/math">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h</m:t>
                    </m:r>
                  </m:oMath>
                </a14:m>
                <a:r>
                  <a:rPr lang="en-US" altLang="zh-CN" dirty="0" smtClean="0"/>
                  <a:t>)</a:t>
                </a:r>
                <a:r>
                  <a:rPr lang="zh-CN" altLang="en-US" dirty="0" smtClean="0"/>
                  <a:t>的值</a:t>
                </a:r>
                <a:r>
                  <a:rPr lang="en-US" altLang="zh-CN" dirty="0" smtClean="0"/>
                  <a:t>,</a:t>
                </a:r>
                <a:r>
                  <a:rPr lang="zh-CN" altLang="en-US" dirty="0" smtClean="0"/>
                  <a:t>进而计算出预测框</a:t>
                </a:r>
                <a:r>
                  <a:rPr lang="en-US" altLang="zh-CN" dirty="0" smtClean="0"/>
                  <a:t>Ĝ (</a:t>
                </a:r>
                <a:r>
                  <a:rPr lang="en-US" altLang="zh-CN" dirty="0" err="1" smtClean="0"/>
                  <a:t>Ĝ</a:t>
                </a:r>
                <a:r>
                  <a:rPr lang="en-US" altLang="zh-CN" baseline="-25000" dirty="0" err="1" smtClean="0"/>
                  <a:t>x</a:t>
                </a:r>
                <a:r>
                  <a:rPr lang="en-US" altLang="zh-CN" dirty="0" smtClean="0"/>
                  <a:t>, </a:t>
                </a:r>
                <a:r>
                  <a:rPr lang="en-US" altLang="zh-CN" dirty="0" err="1" smtClean="0"/>
                  <a:t>Ĝ</a:t>
                </a:r>
                <a:r>
                  <a:rPr lang="en-US" altLang="zh-CN" baseline="-25000" dirty="0" err="1" smtClean="0"/>
                  <a:t>y</a:t>
                </a:r>
                <a:r>
                  <a:rPr lang="en-US" altLang="zh-CN" dirty="0" smtClean="0"/>
                  <a:t>, </a:t>
                </a:r>
                <a:r>
                  <a:rPr lang="en-US" altLang="zh-CN" dirty="0" err="1" smtClean="0"/>
                  <a:t>Ĝ</a:t>
                </a:r>
                <a:r>
                  <a:rPr lang="en-US" altLang="zh-CN" baseline="-25000" dirty="0" err="1" smtClean="0"/>
                  <a:t>w</a:t>
                </a:r>
                <a:r>
                  <a:rPr lang="en-US" altLang="zh-CN" dirty="0" smtClean="0"/>
                  <a:t>, </a:t>
                </a:r>
                <a:r>
                  <a:rPr lang="en-US" altLang="zh-CN" dirty="0" err="1" smtClean="0"/>
                  <a:t>Ĝ</a:t>
                </a:r>
                <a:r>
                  <a:rPr lang="en-US" altLang="zh-CN" baseline="-25000" dirty="0" err="1" smtClean="0"/>
                  <a:t>h</a:t>
                </a:r>
                <a:r>
                  <a:rPr lang="en-US" altLang="zh-CN" dirty="0" smtClean="0"/>
                  <a:t>)</a:t>
                </a:r>
                <a:r>
                  <a:rPr lang="zh-CN" altLang="en-US" dirty="0" smtClean="0"/>
                  <a:t>的值。</a:t>
                </a:r>
                <a:endParaRPr lang="en-US" altLang="zh-CN" dirty="0" smtClean="0"/>
              </a:p>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实际上，通过</a:t>
                </a:r>
                <a:r>
                  <a:rPr lang="en-US" altLang="zh-CN" dirty="0" smtClean="0"/>
                  <a:t>Selective Search</a:t>
                </a:r>
                <a:r>
                  <a:rPr lang="zh-CN" altLang="en-US" dirty="0" smtClean="0"/>
                  <a:t>等方法生成的候选框很难做到非常准确地框住目标，总会有一些偏差。为了得到准确的目标位置，需要基于当前候选框的位置进行修正，计算候选框的中心点坐标在水平方向和垂直方向需要的偏移量，以及水平方向和垂直方向需要的缩放尺度。一个直观的想法是，直接对上述</a:t>
                </a:r>
                <a:r>
                  <a:rPr lang="en-US" altLang="zh-CN" dirty="0" smtClean="0"/>
                  <a:t>4</a:t>
                </a:r>
                <a:r>
                  <a:rPr lang="zh-CN" altLang="en-US" dirty="0" smtClean="0"/>
                  <a:t>个数值</a:t>
                </a:r>
                <a:r>
                  <a:rPr lang="en-US" altLang="zh-CN" dirty="0" smtClean="0"/>
                  <a:t>(</a:t>
                </a:r>
                <a:r>
                  <a:rPr lang="zh-CN" altLang="en-US" dirty="0" smtClean="0"/>
                  <a:t>两个偏移量＋两个缩放尺度</a:t>
                </a:r>
                <a:r>
                  <a:rPr lang="en-US" altLang="zh-CN" dirty="0" smtClean="0"/>
                  <a:t>)</a:t>
                </a:r>
                <a:r>
                  <a:rPr lang="zh-CN" altLang="en-US" dirty="0" smtClean="0"/>
                  <a:t>进行回归，但是因为实际输入的候选框具有较大范围的位置差异和尺度差异，所以直接回归上述参数在训练过程中模型很难收敛。我们可以变通一下，对数据进行归一化处理，以候选框的宽和高为基准，来回归平移、缩放相对于候选框尺度的比例。</a:t>
                </a:r>
                <a:endParaRPr lang="en-US" altLang="zh-CN" dirty="0" smtClean="0"/>
              </a:p>
              <a:p>
                <a:r>
                  <a:rPr lang="zh-CN" altLang="en-US" dirty="0" smtClean="0"/>
                  <a:t>用</a:t>
                </a:r>
                <a:r>
                  <a:rPr lang="en-US" altLang="zh-CN" dirty="0" smtClean="0"/>
                  <a:t>G(</a:t>
                </a:r>
                <a:r>
                  <a:rPr lang="en-US" altLang="zh-CN" dirty="0" err="1" smtClean="0"/>
                  <a:t>Gx,Gy,Gw,Gh</a:t>
                </a:r>
                <a:r>
                  <a:rPr lang="en-US" altLang="zh-CN" dirty="0" smtClean="0"/>
                  <a:t>,)</a:t>
                </a:r>
                <a:r>
                  <a:rPr lang="zh-CN" altLang="en-US" dirty="0" smtClean="0"/>
                  <a:t>、</a:t>
                </a:r>
                <a:r>
                  <a:rPr lang="en-US" altLang="zh-CN" dirty="0" smtClean="0"/>
                  <a:t>Ĝ (</a:t>
                </a:r>
                <a:r>
                  <a:rPr lang="en-US" altLang="zh-CN" dirty="0" err="1" smtClean="0"/>
                  <a:t>Ĝx</a:t>
                </a:r>
                <a:r>
                  <a:rPr lang="en-US" altLang="zh-CN" dirty="0" smtClean="0"/>
                  <a:t>, </a:t>
                </a:r>
                <a:r>
                  <a:rPr lang="en-US" altLang="zh-CN" dirty="0" err="1" smtClean="0"/>
                  <a:t>Ĝy</a:t>
                </a:r>
                <a:r>
                  <a:rPr lang="en-US" altLang="zh-CN" dirty="0" smtClean="0"/>
                  <a:t>, </a:t>
                </a:r>
                <a:r>
                  <a:rPr lang="en-US" altLang="zh-CN" dirty="0" err="1" smtClean="0"/>
                  <a:t>Ĝw</a:t>
                </a:r>
                <a:r>
                  <a:rPr lang="en-US" altLang="zh-CN" dirty="0" smtClean="0"/>
                  <a:t>, </a:t>
                </a:r>
                <a:r>
                  <a:rPr lang="en-US" altLang="zh-CN" dirty="0" err="1" smtClean="0"/>
                  <a:t>Ĝh</a:t>
                </a:r>
                <a:r>
                  <a:rPr lang="en-US" altLang="zh-CN" dirty="0" smtClean="0"/>
                  <a:t>)</a:t>
                </a:r>
                <a:r>
                  <a:rPr lang="zh-CN" altLang="en-US" dirty="0" smtClean="0"/>
                  <a:t>、</a:t>
                </a:r>
                <a:r>
                  <a:rPr lang="en-US" altLang="zh-CN" dirty="0" smtClean="0"/>
                  <a:t>P(</a:t>
                </a:r>
                <a:r>
                  <a:rPr lang="en-US" altLang="zh-CN" dirty="0" err="1" smtClean="0"/>
                  <a:t>Px,Py,Pw,Ph</a:t>
                </a:r>
                <a:r>
                  <a:rPr lang="en-US" altLang="zh-CN" dirty="0" smtClean="0"/>
                  <a:t>)</a:t>
                </a:r>
                <a:r>
                  <a:rPr lang="zh-CN" altLang="en-US" dirty="0" smtClean="0"/>
                  <a:t>分别表示目标框的准确位置</a:t>
                </a:r>
                <a:r>
                  <a:rPr lang="en-US" altLang="zh-CN" dirty="0" smtClean="0"/>
                  <a:t>(ground truth)</a:t>
                </a:r>
                <a:r>
                  <a:rPr lang="zh-CN" altLang="en-US" dirty="0" smtClean="0"/>
                  <a:t>，回归得到的预测框位置以及原始候选框位置，上述角标</a:t>
                </a:r>
                <a:r>
                  <a:rPr lang="en-US" altLang="zh-CN" dirty="0" smtClean="0"/>
                  <a:t>x</a:t>
                </a:r>
                <a:r>
                  <a:rPr lang="zh-CN" altLang="en-US" dirty="0" smtClean="0"/>
                  <a:t>、</a:t>
                </a:r>
                <a:r>
                  <a:rPr lang="en-US" altLang="zh-CN" dirty="0" smtClean="0"/>
                  <a:t>y</a:t>
                </a:r>
                <a:r>
                  <a:rPr lang="zh-CN" altLang="en-US" dirty="0" smtClean="0"/>
                  <a:t>、</a:t>
                </a:r>
                <a:r>
                  <a:rPr lang="en-US" altLang="zh-CN" dirty="0" smtClean="0"/>
                  <a:t>w</a:t>
                </a:r>
                <a:r>
                  <a:rPr lang="zh-CN" altLang="en-US" dirty="0" smtClean="0"/>
                  <a:t>、</a:t>
                </a:r>
                <a:r>
                  <a:rPr lang="en-US" altLang="zh-CN" dirty="0" smtClean="0"/>
                  <a:t>h</a:t>
                </a:r>
                <a:r>
                  <a:rPr lang="zh-CN" altLang="en-US" dirty="0" smtClean="0"/>
                  <a:t>分别表示框的中心点横、纵坐标以及宽、高。通过如下公式，可以对坐标偏移和尺度缩放进行归一化处理。公式中的</a:t>
                </a:r>
                <a:r>
                  <a:rPr lang="en-US" altLang="zh-CN" dirty="0" err="1" smtClean="0"/>
                  <a:t>gx</a:t>
                </a:r>
                <a:r>
                  <a:rPr lang="zh-CN" altLang="en-US" dirty="0" smtClean="0"/>
                  <a:t>、</a:t>
                </a:r>
                <a:r>
                  <a:rPr lang="en-US" altLang="zh-CN" dirty="0" err="1" smtClean="0"/>
                  <a:t>gy</a:t>
                </a:r>
                <a:r>
                  <a:rPr lang="zh-CN" altLang="en-US" dirty="0" smtClean="0"/>
                  <a:t>、</a:t>
                </a:r>
                <a:r>
                  <a:rPr lang="en-US" altLang="zh-CN" dirty="0" err="1" smtClean="0"/>
                  <a:t>gw</a:t>
                </a:r>
                <a:r>
                  <a:rPr lang="zh-CN" altLang="en-US" dirty="0" smtClean="0"/>
                  <a:t>、</a:t>
                </a:r>
                <a:r>
                  <a:rPr lang="en-US" altLang="zh-CN" dirty="0" err="1" smtClean="0"/>
                  <a:t>gh</a:t>
                </a:r>
                <a:r>
                  <a:rPr lang="zh-CN" altLang="en-US" dirty="0" smtClean="0"/>
                  <a:t>就是归一化处理之后中间</a:t>
                </a:r>
                <a:r>
                  <a:rPr lang="zh-CN" altLang="en-US" baseline="0" dirty="0" smtClean="0"/>
                  <a:t>变</a:t>
                </a:r>
                <a:r>
                  <a:rPr lang="zh-CN" altLang="en-US" dirty="0" smtClean="0"/>
                  <a:t>量的准确值。因此，只要将网络在候选框上提取的特征向量作为输入向</a:t>
                </a:r>
              </a:p>
              <a:p>
                <a:r>
                  <a:rPr lang="zh-CN" altLang="en-US" dirty="0" smtClean="0"/>
                  <a:t>量，训练一个输出向量维数为</a:t>
                </a:r>
                <a:r>
                  <a:rPr lang="en-US" altLang="zh-CN" dirty="0" smtClean="0"/>
                  <a:t>4</a:t>
                </a:r>
                <a:r>
                  <a:rPr lang="zh-CN" altLang="en-US" dirty="0" smtClean="0"/>
                  <a:t>的全连接层，就可以得到一个回归器。训练的损失函数一般使用准确值</a:t>
                </a:r>
                <a:r>
                  <a:rPr lang="en-US" altLang="zh-CN" dirty="0" smtClean="0"/>
                  <a:t>(</a:t>
                </a:r>
                <a:r>
                  <a:rPr lang="en-US" altLang="zh-CN" dirty="0" err="1" smtClean="0"/>
                  <a:t>gx,gy,gw,gh</a:t>
                </a:r>
                <a:r>
                  <a:rPr lang="en-US" altLang="zh-CN" dirty="0" smtClean="0"/>
                  <a:t>)</a:t>
                </a:r>
                <a:r>
                  <a:rPr lang="zh-CN" altLang="en-US" dirty="0" smtClean="0"/>
                  <a:t>和预测值</a:t>
                </a:r>
                <a:r>
                  <a:rPr lang="en-US" altLang="zh-CN" dirty="0" smtClean="0"/>
                  <a:t>(</a:t>
                </a:r>
                <a:r>
                  <a:rPr lang="en-US" altLang="zh-CN" i="0" dirty="0" smtClean="0">
                    <a:latin typeface="Cambria Math" panose="02040503050406030204" pitchFamily="18" charset="0"/>
                  </a:rPr>
                  <a:t>ĝ</a:t>
                </a:r>
                <a:r>
                  <a:rPr lang="en-US" altLang="zh-CN" i="0" baseline="-25000" dirty="0">
                    <a:latin typeface="Cambria Math" panose="02040503050406030204" pitchFamily="18" charset="0"/>
                  </a:rPr>
                  <a:t>𝑥</a:t>
                </a:r>
                <a:r>
                  <a:rPr lang="en-US" altLang="zh-CN" b="0" i="0" baseline="-25000" dirty="0" smtClean="0">
                    <a:latin typeface="Cambria Math" panose="02040503050406030204" pitchFamily="18" charset="0"/>
                  </a:rPr>
                  <a:t>,</a:t>
                </a:r>
                <a:r>
                  <a:rPr lang="en-US" altLang="zh-CN" i="0" dirty="0">
                    <a:latin typeface="Cambria Math" panose="02040503050406030204" pitchFamily="18" charset="0"/>
                  </a:rPr>
                  <a:t>ĝ</a:t>
                </a:r>
                <a:r>
                  <a:rPr lang="en-US" altLang="zh-CN" b="0" i="0" baseline="-25000" dirty="0" smtClean="0">
                    <a:latin typeface="Cambria Math" panose="02040503050406030204" pitchFamily="18" charset="0"/>
                  </a:rPr>
                  <a:t>𝑦</a:t>
                </a:r>
                <a:r>
                  <a:rPr lang="en-US" altLang="zh-CN" b="0" baseline="-25000" dirty="0" smtClean="0"/>
                  <a:t>,</a:t>
                </a:r>
                <a:r>
                  <a:rPr lang="en-US" altLang="zh-CN" i="0" dirty="0">
                    <a:latin typeface="Cambria Math" panose="02040503050406030204" pitchFamily="18" charset="0"/>
                  </a:rPr>
                  <a:t>ĝ</a:t>
                </a:r>
                <a:r>
                  <a:rPr lang="en-US" altLang="zh-CN" i="0" baseline="-25000" dirty="0">
                    <a:latin typeface="Cambria Math" panose="02040503050406030204" pitchFamily="18" charset="0"/>
                  </a:rPr>
                  <a:t>𝑤</a:t>
                </a:r>
                <a:r>
                  <a:rPr lang="en-US" altLang="zh-CN" baseline="-25000" dirty="0" smtClean="0"/>
                  <a:t>,</a:t>
                </a:r>
                <a:r>
                  <a:rPr lang="en-US" altLang="zh-CN" i="0" dirty="0">
                    <a:latin typeface="Cambria Math" panose="02040503050406030204" pitchFamily="18" charset="0"/>
                  </a:rPr>
                  <a:t>ĝ</a:t>
                </a:r>
                <a:r>
                  <a:rPr lang="en-US" altLang="zh-CN" b="0" i="0" baseline="-25000" dirty="0" smtClean="0">
                    <a:latin typeface="Cambria Math" panose="02040503050406030204" pitchFamily="18" charset="0"/>
                  </a:rPr>
                  <a:t>ℎ</a:t>
                </a:r>
                <a:r>
                  <a:rPr lang="en-US" altLang="zh-CN" dirty="0" smtClean="0"/>
                  <a:t>)</a:t>
                </a:r>
                <a:r>
                  <a:rPr lang="zh-CN" altLang="en-US" dirty="0" smtClean="0"/>
                  <a:t>之间的欧氏距离。测试过程中</a:t>
                </a:r>
                <a:r>
                  <a:rPr lang="en-US" altLang="zh-CN" dirty="0" smtClean="0"/>
                  <a:t>,</a:t>
                </a:r>
                <a:r>
                  <a:rPr lang="zh-CN" altLang="en-US" dirty="0" smtClean="0"/>
                  <a:t>在候选框上提取特征后</a:t>
                </a:r>
                <a:r>
                  <a:rPr lang="en-US" altLang="zh-CN" dirty="0" smtClean="0"/>
                  <a:t>,</a:t>
                </a:r>
                <a:r>
                  <a:rPr lang="zh-CN" altLang="en-US" dirty="0" smtClean="0"/>
                  <a:t>通过回归器可以计算出</a:t>
                </a:r>
                <a:r>
                  <a:rPr lang="en-US" altLang="zh-CN" dirty="0" smtClean="0"/>
                  <a:t>(</a:t>
                </a:r>
                <a:r>
                  <a:rPr lang="en-US" altLang="zh-CN" i="0" dirty="0" smtClean="0">
                    <a:latin typeface="Cambria Math" panose="02040503050406030204" pitchFamily="18" charset="0"/>
                  </a:rPr>
                  <a:t>ĝ</a:t>
                </a:r>
                <a:r>
                  <a:rPr lang="en-US" altLang="zh-CN" i="0" baseline="-25000" dirty="0">
                    <a:latin typeface="Cambria Math" panose="02040503050406030204" pitchFamily="18" charset="0"/>
                  </a:rPr>
                  <a:t>𝑥</a:t>
                </a:r>
                <a:r>
                  <a:rPr lang="en-US" altLang="zh-CN" b="0" i="0" baseline="-25000" dirty="0" smtClean="0">
                    <a:latin typeface="Cambria Math" panose="02040503050406030204" pitchFamily="18" charset="0"/>
                  </a:rPr>
                  <a:t>,</a:t>
                </a:r>
                <a:r>
                  <a:rPr lang="en-US" altLang="zh-CN" i="0" dirty="0">
                    <a:latin typeface="Cambria Math" panose="02040503050406030204" pitchFamily="18" charset="0"/>
                  </a:rPr>
                  <a:t>ĝ</a:t>
                </a:r>
                <a:r>
                  <a:rPr lang="en-US" altLang="zh-CN" b="0" i="0" baseline="-25000" dirty="0" smtClean="0">
                    <a:latin typeface="Cambria Math" panose="02040503050406030204" pitchFamily="18" charset="0"/>
                  </a:rPr>
                  <a:t>𝑦</a:t>
                </a:r>
                <a:r>
                  <a:rPr lang="en-US" altLang="zh-CN" b="0" baseline="-25000" dirty="0" smtClean="0"/>
                  <a:t>,</a:t>
                </a:r>
                <a:r>
                  <a:rPr lang="en-US" altLang="zh-CN" i="0" dirty="0">
                    <a:latin typeface="Cambria Math" panose="02040503050406030204" pitchFamily="18" charset="0"/>
                  </a:rPr>
                  <a:t>ĝ</a:t>
                </a:r>
                <a:r>
                  <a:rPr lang="en-US" altLang="zh-CN" i="0" baseline="-25000" dirty="0">
                    <a:latin typeface="Cambria Math" panose="02040503050406030204" pitchFamily="18" charset="0"/>
                  </a:rPr>
                  <a:t>𝑤</a:t>
                </a:r>
                <a:r>
                  <a:rPr lang="en-US" altLang="zh-CN" baseline="-25000" dirty="0" smtClean="0"/>
                  <a:t>,</a:t>
                </a:r>
                <a:r>
                  <a:rPr lang="en-US" altLang="zh-CN" i="0" dirty="0">
                    <a:latin typeface="Cambria Math" panose="02040503050406030204" pitchFamily="18" charset="0"/>
                  </a:rPr>
                  <a:t>ĝ</a:t>
                </a:r>
                <a:r>
                  <a:rPr lang="en-US" altLang="zh-CN" b="0" i="0" baseline="-25000" dirty="0" smtClean="0">
                    <a:latin typeface="Cambria Math" panose="02040503050406030204" pitchFamily="18" charset="0"/>
                  </a:rPr>
                  <a:t>ℎ</a:t>
                </a:r>
                <a:r>
                  <a:rPr lang="en-US" altLang="zh-CN" dirty="0" smtClean="0"/>
                  <a:t>)</a:t>
                </a:r>
                <a:r>
                  <a:rPr lang="zh-CN" altLang="en-US" dirty="0" smtClean="0"/>
                  <a:t>的值</a:t>
                </a:r>
                <a:r>
                  <a:rPr lang="en-US" altLang="zh-CN" dirty="0" smtClean="0"/>
                  <a:t>,</a:t>
                </a:r>
                <a:r>
                  <a:rPr lang="zh-CN" altLang="en-US" dirty="0" smtClean="0"/>
                  <a:t>进而计算出预测框</a:t>
                </a:r>
                <a:r>
                  <a:rPr lang="en-US" altLang="zh-CN" dirty="0" smtClean="0"/>
                  <a:t>Ĝ (</a:t>
                </a:r>
                <a:r>
                  <a:rPr lang="en-US" altLang="zh-CN" dirty="0" err="1" smtClean="0"/>
                  <a:t>Ĝ</a:t>
                </a:r>
                <a:r>
                  <a:rPr lang="en-US" altLang="zh-CN" baseline="-25000" dirty="0" err="1" smtClean="0"/>
                  <a:t>x</a:t>
                </a:r>
                <a:r>
                  <a:rPr lang="en-US" altLang="zh-CN" dirty="0" smtClean="0"/>
                  <a:t>, </a:t>
                </a:r>
                <a:r>
                  <a:rPr lang="en-US" altLang="zh-CN" dirty="0" err="1" smtClean="0"/>
                  <a:t>Ĝ</a:t>
                </a:r>
                <a:r>
                  <a:rPr lang="en-US" altLang="zh-CN" baseline="-25000" dirty="0" err="1" smtClean="0"/>
                  <a:t>y</a:t>
                </a:r>
                <a:r>
                  <a:rPr lang="en-US" altLang="zh-CN" dirty="0" smtClean="0"/>
                  <a:t>, </a:t>
                </a:r>
                <a:r>
                  <a:rPr lang="en-US" altLang="zh-CN" dirty="0" err="1" smtClean="0"/>
                  <a:t>Ĝ</a:t>
                </a:r>
                <a:r>
                  <a:rPr lang="en-US" altLang="zh-CN" baseline="-25000" dirty="0" err="1" smtClean="0"/>
                  <a:t>w</a:t>
                </a:r>
                <a:r>
                  <a:rPr lang="en-US" altLang="zh-CN" dirty="0" smtClean="0"/>
                  <a:t>, </a:t>
                </a:r>
                <a:r>
                  <a:rPr lang="en-US" altLang="zh-CN" dirty="0" err="1" smtClean="0"/>
                  <a:t>Ĝ</a:t>
                </a:r>
                <a:r>
                  <a:rPr lang="en-US" altLang="zh-CN" baseline="-25000" dirty="0" err="1" smtClean="0"/>
                  <a:t>h</a:t>
                </a:r>
                <a:r>
                  <a:rPr lang="en-US" altLang="zh-CN" dirty="0" smtClean="0"/>
                  <a:t>)</a:t>
                </a:r>
                <a:r>
                  <a:rPr lang="zh-CN" altLang="en-US" dirty="0" smtClean="0"/>
                  <a:t>的值。</a:t>
                </a:r>
                <a:endParaRPr lang="en-US" altLang="zh-CN"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10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57218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简单来说，就是给定原始候选框的位置和目标框的准确位置，分别用中心点的</a:t>
            </a:r>
            <a:r>
              <a:rPr lang="en-US" altLang="zh-CN" dirty="0" smtClean="0"/>
              <a:t>(</a:t>
            </a:r>
            <a:r>
              <a:rPr lang="en-US" altLang="zh-CN" dirty="0" err="1" smtClean="0"/>
              <a:t>x,y</a:t>
            </a:r>
            <a:r>
              <a:rPr lang="en-US" altLang="zh-CN" dirty="0" smtClean="0"/>
              <a:t>)</a:t>
            </a:r>
            <a:r>
              <a:rPr lang="zh-CN" altLang="en-US" dirty="0" smtClean="0"/>
              <a:t>坐标和框的宽高（</a:t>
            </a:r>
            <a:r>
              <a:rPr lang="en-US" altLang="zh-CN" dirty="0" err="1" smtClean="0"/>
              <a:t>w,h</a:t>
            </a:r>
            <a:r>
              <a:rPr lang="zh-CN" altLang="en-US" dirty="0" smtClean="0"/>
              <a:t>）四个参数表示。找到一种变换</a:t>
            </a:r>
            <a:r>
              <a:rPr lang="en-US" altLang="zh-CN" dirty="0" smtClean="0"/>
              <a:t>F</a:t>
            </a:r>
            <a:r>
              <a:rPr lang="zh-CN" altLang="en-US" dirty="0" smtClean="0"/>
              <a:t>，即回归器，使得原始候选框转化为与目标框准确位置的估计值，大致等于准确位置。</a:t>
            </a:r>
            <a:endParaRPr lang="en-US" altLang="zh-CN" dirty="0" smtClean="0"/>
          </a:p>
          <a:p>
            <a:r>
              <a:rPr lang="zh-CN" altLang="en-US" dirty="0" smtClean="0"/>
              <a:t>为了简化计算，我们可以直接使用分类网络的中间特征图作为回归器的输入</a:t>
            </a:r>
            <a:r>
              <a:rPr lang="en-US" altLang="zh-CN" dirty="0" smtClean="0"/>
              <a:t>,R-CNN</a:t>
            </a:r>
            <a:r>
              <a:rPr lang="zh-CN" altLang="en-US" dirty="0" smtClean="0"/>
              <a:t>的作者经过多次训练和测试的实验比对</a:t>
            </a:r>
            <a:r>
              <a:rPr lang="en-US" altLang="zh-CN" dirty="0" smtClean="0"/>
              <a:t>,</a:t>
            </a:r>
            <a:r>
              <a:rPr lang="zh-CN" altLang="en-US" dirty="0" smtClean="0"/>
              <a:t>选择</a:t>
            </a:r>
          </a:p>
          <a:p>
            <a:r>
              <a:rPr lang="zh-CN" altLang="en-US" dirty="0" smtClean="0"/>
              <a:t>了在最后一个池化层（</a:t>
            </a:r>
            <a:r>
              <a:rPr lang="en-US" altLang="zh-CN" dirty="0" smtClean="0"/>
              <a:t>pool5)</a:t>
            </a:r>
            <a:r>
              <a:rPr lang="zh-CN" altLang="en-US" dirty="0" smtClean="0"/>
              <a:t>之后</a:t>
            </a:r>
            <a:r>
              <a:rPr lang="en-US" altLang="zh-CN" dirty="0" smtClean="0"/>
              <a:t>,</a:t>
            </a:r>
            <a:r>
              <a:rPr lang="zh-CN" altLang="en-US" dirty="0" smtClean="0"/>
              <a:t>接一个输出维数为</a:t>
            </a:r>
            <a:r>
              <a:rPr lang="en-US" altLang="zh-CN" dirty="0" smtClean="0"/>
              <a:t>4</a:t>
            </a:r>
            <a:r>
              <a:rPr lang="zh-CN" altLang="en-US" dirty="0" smtClean="0"/>
              <a:t>的全连接层</a:t>
            </a:r>
            <a:r>
              <a:rPr lang="en-US" altLang="zh-CN" dirty="0" smtClean="0"/>
              <a:t>,</a:t>
            </a:r>
            <a:r>
              <a:rPr lang="zh-CN" altLang="en-US" dirty="0" smtClean="0"/>
              <a:t>来回归偏移量和缩放尺度，进而得到更准确的目标位置。</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82647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在特征提取网络、</a:t>
            </a:r>
            <a:r>
              <a:rPr lang="en-US" altLang="zh-CN" dirty="0" smtClean="0"/>
              <a:t>SVM</a:t>
            </a:r>
            <a:r>
              <a:rPr lang="zh-CN" altLang="en-US" dirty="0" smtClean="0"/>
              <a:t>分类器以及回归器网络都训练完成之后</a:t>
            </a:r>
            <a:r>
              <a:rPr lang="en-US" altLang="zh-CN" dirty="0" smtClean="0"/>
              <a:t>,</a:t>
            </a:r>
            <a:r>
              <a:rPr lang="zh-CN" altLang="en-US" dirty="0" smtClean="0"/>
              <a:t>就可以进行目标检测了。在执行检测任务的时候</a:t>
            </a:r>
            <a:r>
              <a:rPr lang="en-US" altLang="zh-CN" dirty="0" smtClean="0"/>
              <a:t>,</a:t>
            </a:r>
            <a:r>
              <a:rPr lang="zh-CN" altLang="en-US" dirty="0" smtClean="0"/>
              <a:t>首先对一张输入图像使用 </a:t>
            </a:r>
            <a:r>
              <a:rPr lang="en-US" altLang="zh-CN" dirty="0" smtClean="0"/>
              <a:t>Selective Search</a:t>
            </a:r>
            <a:r>
              <a:rPr lang="zh-CN" altLang="en-US" dirty="0" smtClean="0"/>
              <a:t>提取</a:t>
            </a:r>
            <a:r>
              <a:rPr lang="en-US" altLang="zh-CN" dirty="0" smtClean="0"/>
              <a:t>2000</a:t>
            </a:r>
            <a:r>
              <a:rPr lang="zh-CN" altLang="en-US" dirty="0" smtClean="0"/>
              <a:t>个左右的候选框，然后把每个候选框中的图像缩放到</a:t>
            </a:r>
            <a:r>
              <a:rPr lang="en-US" altLang="zh-CN" dirty="0" smtClean="0"/>
              <a:t>227</a:t>
            </a:r>
            <a:r>
              <a:rPr lang="zh-CN" altLang="en-US" dirty="0" smtClean="0"/>
              <a:t>像素</a:t>
            </a:r>
            <a:r>
              <a:rPr lang="en-US" altLang="zh-CN" dirty="0" smtClean="0"/>
              <a:t>×227</a:t>
            </a:r>
            <a:r>
              <a:rPr lang="zh-CN" altLang="en-US" dirty="0" smtClean="0"/>
              <a:t>像素的标准尺寸，再使用特征提取网络对标准尺寸的图像讲行特征提取，使得每一个候选框都提取到一个</a:t>
            </a:r>
            <a:r>
              <a:rPr lang="en-US" altLang="zh-CN" dirty="0" smtClean="0"/>
              <a:t>4096</a:t>
            </a:r>
            <a:r>
              <a:rPr lang="zh-CN" altLang="en-US" dirty="0" smtClean="0"/>
              <a:t>维的特征向量</a:t>
            </a:r>
            <a:r>
              <a:rPr lang="en-US" altLang="zh-CN" dirty="0" smtClean="0"/>
              <a:t>,</a:t>
            </a:r>
            <a:r>
              <a:rPr lang="zh-CN" altLang="en-US" dirty="0" smtClean="0"/>
              <a:t>最后把这个特征向量送到各个</a:t>
            </a:r>
            <a:r>
              <a:rPr lang="en-US" altLang="zh-CN" dirty="0" smtClean="0"/>
              <a:t>SVM</a:t>
            </a:r>
            <a:r>
              <a:rPr lang="zh-CN" altLang="en-US" dirty="0" smtClean="0"/>
              <a:t>分类器中进</a:t>
            </a:r>
          </a:p>
          <a:p>
            <a:r>
              <a:rPr lang="zh-CN" altLang="en-US" dirty="0" smtClean="0"/>
              <a:t>行分类</a:t>
            </a:r>
            <a:r>
              <a:rPr lang="en-US" altLang="zh-CN" dirty="0" smtClean="0"/>
              <a:t>,</a:t>
            </a:r>
            <a:r>
              <a:rPr lang="zh-CN" altLang="en-US" dirty="0" smtClean="0"/>
              <a:t>得分最高的类别就是预测目标的类别。</a:t>
            </a:r>
            <a:endParaRPr lang="en-US" altLang="zh-CN" dirty="0" smtClean="0"/>
          </a:p>
          <a:p>
            <a:r>
              <a:rPr lang="zh-CN" altLang="en-US" dirty="0" smtClean="0"/>
              <a:t>将</a:t>
            </a:r>
            <a:r>
              <a:rPr lang="en-US" altLang="zh-CN" dirty="0" smtClean="0"/>
              <a:t>pool5</a:t>
            </a:r>
            <a:r>
              <a:rPr lang="zh-CN" altLang="en-US" dirty="0" smtClean="0"/>
              <a:t>输出的特征图输入回归器</a:t>
            </a:r>
            <a:r>
              <a:rPr lang="en-US" altLang="zh-CN" dirty="0" smtClean="0"/>
              <a:t>(</a:t>
            </a:r>
            <a:r>
              <a:rPr lang="zh-CN" altLang="en-US" dirty="0" smtClean="0"/>
              <a:t>全连接层</a:t>
            </a:r>
            <a:r>
              <a:rPr lang="en-US" altLang="zh-CN" dirty="0" smtClean="0"/>
              <a:t>),</a:t>
            </a:r>
            <a:r>
              <a:rPr lang="zh-CN" altLang="en-US" dirty="0" smtClean="0"/>
              <a:t>计算候选框需要的偏移量和缩放尺度，从而得到目标位置，即包围盒。到这一步，在图像上每个目标的附近，都会检测到非常多大面积重叠的检测框。使用前面介绍的非极大值抑制（</a:t>
            </a:r>
            <a:r>
              <a:rPr lang="en-US" altLang="zh-CN" dirty="0" smtClean="0"/>
              <a:t>NMS)</a:t>
            </a:r>
            <a:r>
              <a:rPr lang="zh-CN" altLang="en-US" dirty="0" smtClean="0"/>
              <a:t>算法，对所有检测框的阈值进行降序排列，并按照阈值从大到小的顺序，对检测框进行遍历，去掉和当前框类别相同、</a:t>
            </a:r>
            <a:r>
              <a:rPr lang="en-US" altLang="zh-CN" dirty="0" err="1" smtClean="0"/>
              <a:t>IoU</a:t>
            </a:r>
            <a:r>
              <a:rPr lang="zh-CN" altLang="en-US" dirty="0" smtClean="0"/>
              <a:t>大于指定阈值的重复框，直到完成对所有检测框的遍历。至此</a:t>
            </a:r>
            <a:r>
              <a:rPr lang="en-US" altLang="zh-CN" dirty="0" smtClean="0"/>
              <a:t>,</a:t>
            </a:r>
            <a:r>
              <a:rPr lang="zh-CN" altLang="en-US" dirty="0" smtClean="0"/>
              <a:t>我们就完成了一张图像的检测过程（</a:t>
            </a:r>
            <a:r>
              <a:rPr lang="en-US" altLang="zh-CN" dirty="0" smtClean="0"/>
              <a:t>R-CNN</a:t>
            </a:r>
            <a:r>
              <a:rPr lang="zh-CN" altLang="en-US" dirty="0" smtClean="0"/>
              <a:t>检测流程如图所示</a:t>
            </a:r>
            <a:r>
              <a:rPr lang="en-US" altLang="zh-CN" dirty="0" smtClean="0"/>
              <a:t>)</a:t>
            </a:r>
            <a:r>
              <a:rPr lang="zh-CN" altLang="en-US" dirty="0" smtClean="0"/>
              <a:t>。此时</a:t>
            </a:r>
            <a:r>
              <a:rPr lang="en-US" altLang="zh-CN" dirty="0" smtClean="0"/>
              <a:t>,</a:t>
            </a:r>
            <a:r>
              <a:rPr lang="zh-CN" altLang="en-US" dirty="0" smtClean="0"/>
              <a:t>往往会有误报的情况发生，例如此时检测出的框中，可能存在算法判定该框为某个待检目标类别，但实际上框选的图像是背景区域的情况。为了尽量减少误报，可以对每个目标类别分别设定检测阈值</a:t>
            </a:r>
            <a:r>
              <a:rPr lang="en-US" altLang="zh-CN" dirty="0" smtClean="0"/>
              <a:t>,</a:t>
            </a:r>
            <a:r>
              <a:rPr lang="zh-CN" altLang="en-US" dirty="0" smtClean="0"/>
              <a:t>只有大于这个阈值的时候，才认为检测结果有效。其实</a:t>
            </a:r>
            <a:r>
              <a:rPr lang="en-US" altLang="zh-CN" dirty="0" smtClean="0"/>
              <a:t>,</a:t>
            </a:r>
            <a:r>
              <a:rPr lang="zh-CN" altLang="en-US" dirty="0" smtClean="0"/>
              <a:t>误报和漏报是相互矛盾的，当模型训练完成后，其性能也就固定了，调节阈值是在误报和漏报之间找到一个可以接受的平衡点，真正要提升算法的性能，还是要从数据和算法层面进行改进。</a:t>
            </a:r>
            <a:endParaRPr lang="en-US" altLang="zh-CN" dirty="0" smtClean="0"/>
          </a:p>
          <a:p>
            <a:r>
              <a:rPr lang="zh-CN" altLang="en-US" dirty="0" smtClean="0"/>
              <a:t>尽管经过若干年的发展，人们已经探索出很多性能远好于</a:t>
            </a:r>
            <a:r>
              <a:rPr lang="en-US" altLang="zh-CN" dirty="0" smtClean="0"/>
              <a:t>R-CNN</a:t>
            </a:r>
            <a:r>
              <a:rPr lang="zh-CN" altLang="en-US" dirty="0" smtClean="0"/>
              <a:t>的算法，但</a:t>
            </a:r>
            <a:r>
              <a:rPr lang="en-US" altLang="zh-CN" dirty="0" smtClean="0"/>
              <a:t>R-CNN</a:t>
            </a:r>
            <a:r>
              <a:rPr lang="zh-CN" altLang="en-US" dirty="0" smtClean="0"/>
              <a:t>算法在目标检测领域的贡献是无可替代的。</a:t>
            </a:r>
            <a:endParaRPr lang="en-US" altLang="zh-CN" dirty="0" smtClean="0"/>
          </a:p>
          <a:p>
            <a:r>
              <a:rPr lang="en-US" altLang="zh-CN" dirty="0" smtClean="0"/>
              <a:t>R-CNN</a:t>
            </a:r>
            <a:r>
              <a:rPr lang="zh-CN" altLang="en-US" dirty="0" smtClean="0"/>
              <a:t>算法的出现，从根本上改变了目标检测的技术路线。</a:t>
            </a:r>
            <a:r>
              <a:rPr lang="en-US" altLang="zh-CN" dirty="0" smtClean="0"/>
              <a:t>R-CNN</a:t>
            </a:r>
            <a:r>
              <a:rPr lang="zh-CN" altLang="en-US" dirty="0" smtClean="0"/>
              <a:t>通过学习的方法，用卷积神经网络提取到更有分类能力的特征，在</a:t>
            </a:r>
            <a:r>
              <a:rPr lang="en-US" altLang="zh-CN" dirty="0" smtClean="0"/>
              <a:t>VOC2012</a:t>
            </a:r>
            <a:r>
              <a:rPr lang="zh-CN" altLang="en-US" dirty="0" smtClean="0"/>
              <a:t>测试集上，实现了</a:t>
            </a:r>
            <a:r>
              <a:rPr lang="en-US" altLang="zh-CN" dirty="0" smtClean="0"/>
              <a:t>30%</a:t>
            </a:r>
            <a:r>
              <a:rPr lang="zh-CN" altLang="en-US" dirty="0" smtClean="0"/>
              <a:t>的巨大性能提升。另外，在训练特征提取网络的过程中，</a:t>
            </a:r>
            <a:r>
              <a:rPr lang="en-US" altLang="zh-CN" dirty="0" smtClean="0"/>
              <a:t>R-CNN</a:t>
            </a:r>
            <a:r>
              <a:rPr lang="zh-CN" altLang="en-US" dirty="0" smtClean="0"/>
              <a:t>还采用了一个非常值得借鉴的策略</a:t>
            </a:r>
            <a:r>
              <a:rPr lang="en-US" altLang="zh-CN" dirty="0" smtClean="0"/>
              <a:t>,</a:t>
            </a:r>
            <a:r>
              <a:rPr lang="zh-CN" altLang="en-US" dirty="0" smtClean="0"/>
              <a:t>在实际场景训练数据较少的情况下</a:t>
            </a:r>
            <a:r>
              <a:rPr lang="en-US" altLang="zh-CN" dirty="0" smtClean="0"/>
              <a:t>,</a:t>
            </a:r>
            <a:r>
              <a:rPr lang="zh-CN" altLang="en-US" dirty="0" smtClean="0"/>
              <a:t>先通过有大量标注数据的分类数据集进行预训练</a:t>
            </a:r>
            <a:r>
              <a:rPr lang="en-US" altLang="zh-CN" dirty="0" smtClean="0"/>
              <a:t>,</a:t>
            </a:r>
            <a:r>
              <a:rPr lang="zh-CN" altLang="en-US" dirty="0" smtClean="0"/>
              <a:t>然后在标注数据较少的实际使用的数据集上进行训练调优，显著提升了网络模型训练的效率，使得最终的模型训练更容易收敛。这一策略现在已经被广泛应用于大量实际场景的模型训练中。</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26658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R-CNN </a:t>
            </a:r>
            <a:r>
              <a:rPr lang="zh-CN" altLang="en-US" dirty="0" smtClean="0"/>
              <a:t>的特征提取网络要求输入图像为固定尺寸，和人的视觉系统相比，这一约束其实非常不自然。</a:t>
            </a:r>
            <a:r>
              <a:rPr lang="en-US" altLang="zh-CN" dirty="0" smtClean="0"/>
              <a:t>R-CNN </a:t>
            </a:r>
            <a:r>
              <a:rPr lang="zh-CN" altLang="en-US" dirty="0" smtClean="0"/>
              <a:t>对输入图像尺寸的这一约束</a:t>
            </a:r>
            <a:r>
              <a:rPr lang="en-US" altLang="zh-CN" dirty="0" smtClean="0"/>
              <a:t>,</a:t>
            </a:r>
            <a:r>
              <a:rPr lang="zh-CN" altLang="en-US" dirty="0" smtClean="0"/>
              <a:t>使得图像在进入网络之前，必须进行截取或拉伸</a:t>
            </a:r>
            <a:r>
              <a:rPr lang="en-US" altLang="zh-CN" dirty="0" smtClean="0"/>
              <a:t>,</a:t>
            </a:r>
            <a:r>
              <a:rPr lang="zh-CN" altLang="en-US" dirty="0" smtClean="0"/>
              <a:t>改变了图像原本的形态直接影响了算法的性能。另外</a:t>
            </a:r>
            <a:r>
              <a:rPr lang="en-US" altLang="zh-CN" dirty="0" smtClean="0"/>
              <a:t>,R-CNN</a:t>
            </a:r>
            <a:r>
              <a:rPr lang="zh-CN" altLang="en-US" dirty="0" smtClean="0"/>
              <a:t>在对各个候选框进行特征提取的过程中，也进行了非常多重复的卷积计算</a:t>
            </a:r>
            <a:r>
              <a:rPr lang="en-US" altLang="zh-CN" dirty="0" smtClean="0"/>
              <a:t>,</a:t>
            </a:r>
            <a:r>
              <a:rPr lang="zh-CN" altLang="en-US" dirty="0" smtClean="0"/>
              <a:t>导致算法耗时很长</a:t>
            </a:r>
            <a:r>
              <a:rPr lang="en-US" altLang="zh-CN" dirty="0" smtClean="0"/>
              <a:t>,</a:t>
            </a:r>
            <a:r>
              <a:rPr lang="zh-CN" altLang="en-US" dirty="0" smtClean="0"/>
              <a:t>很难在实时系统中使用。针对上述两个问题，何恺明等人提出了一种新的池化方法，即空间金字塔采样，而基于这种方法构建的卷积神经网络，称为</a:t>
            </a:r>
            <a:r>
              <a:rPr lang="en-US" altLang="zh-CN" dirty="0" smtClean="0"/>
              <a:t>SPP-Net</a:t>
            </a:r>
            <a:r>
              <a:rPr lang="zh-CN" altLang="en-US" dirty="0" smtClean="0"/>
              <a:t>。下面将对空间金字塔采样和</a:t>
            </a:r>
            <a:r>
              <a:rPr lang="en-US" altLang="zh-CN" dirty="0" smtClean="0"/>
              <a:t>SPP-Net</a:t>
            </a:r>
            <a:r>
              <a:rPr lang="zh-CN" altLang="en-US" dirty="0" smtClean="0"/>
              <a:t>进行详细介绍。</a:t>
            </a:r>
            <a:endParaRPr lang="en-US" altLang="zh-CN" dirty="0" smtClean="0"/>
          </a:p>
          <a:p>
            <a:r>
              <a:rPr lang="en-US" altLang="zh-CN" dirty="0" smtClean="0"/>
              <a:t>R-CNN</a:t>
            </a:r>
            <a:r>
              <a:rPr lang="zh-CN" altLang="en-US" dirty="0" smtClean="0"/>
              <a:t>的出现</a:t>
            </a:r>
            <a:r>
              <a:rPr lang="en-US" altLang="zh-CN" dirty="0" smtClean="0"/>
              <a:t>,</a:t>
            </a:r>
            <a:r>
              <a:rPr lang="zh-CN" altLang="en-US" dirty="0" smtClean="0"/>
              <a:t>使得检测算法的性能有了显著提升，其中一个最为核心的思想是通过卷积神经网络进行特征提取。常规的卷积神经网络包含卷积层、池化层以及全连接层，虽然卷积层和池化层对输入尺寸</a:t>
            </a:r>
            <a:r>
              <a:rPr lang="en-US" altLang="zh-CN" dirty="0" smtClean="0"/>
              <a:t>(</a:t>
            </a:r>
            <a:r>
              <a:rPr lang="zh-CN" altLang="en-US" dirty="0" smtClean="0"/>
              <a:t>特征图的宽和高</a:t>
            </a:r>
            <a:r>
              <a:rPr lang="en-US" altLang="zh-CN" dirty="0" smtClean="0"/>
              <a:t>)</a:t>
            </a:r>
            <a:r>
              <a:rPr lang="zh-CN" altLang="en-US" dirty="0" smtClean="0"/>
              <a:t>没有限制，但是全连接层的输入和输出都是固定维度的特征，这就要求整个神经网络的输入图像需要具有固定的尺寸（例如</a:t>
            </a:r>
            <a:r>
              <a:rPr lang="en-US" altLang="zh-CN" dirty="0" err="1" smtClean="0"/>
              <a:t>AlexNet</a:t>
            </a:r>
            <a:r>
              <a:rPr lang="zh-CN" altLang="en-US" dirty="0" smtClean="0"/>
              <a:t>就要求输入图像的尺寸为</a:t>
            </a:r>
            <a:r>
              <a:rPr lang="en-US" altLang="zh-CN" dirty="0" smtClean="0"/>
              <a:t>224</a:t>
            </a:r>
            <a:r>
              <a:rPr lang="zh-CN" altLang="en-US" dirty="0" smtClean="0"/>
              <a:t>像素</a:t>
            </a:r>
            <a:r>
              <a:rPr lang="en-US" altLang="zh-CN" dirty="0" smtClean="0"/>
              <a:t>×224</a:t>
            </a:r>
            <a:r>
              <a:rPr lang="zh-CN" altLang="en-US" dirty="0" smtClean="0"/>
              <a:t>像素</a:t>
            </a:r>
            <a:r>
              <a:rPr lang="en-US" altLang="zh-CN" dirty="0" smtClean="0"/>
              <a:t>)</a:t>
            </a:r>
            <a:r>
              <a:rPr lang="zh-CN" altLang="en-US" dirty="0" smtClean="0"/>
              <a:t>。把任意尺寸的图像变为固定尺寸，如图所示，要么需要对原图进行截取（</a:t>
            </a:r>
            <a:r>
              <a:rPr lang="en-US" altLang="zh-CN" dirty="0" smtClean="0"/>
              <a:t>crop)</a:t>
            </a:r>
            <a:r>
              <a:rPr lang="zh-CN" altLang="en-US" dirty="0" smtClean="0"/>
              <a:t>，要么需要对原图进行拉伸（</a:t>
            </a:r>
            <a:r>
              <a:rPr lang="en-US" altLang="zh-CN" dirty="0" smtClean="0"/>
              <a:t>warp)</a:t>
            </a:r>
            <a:r>
              <a:rPr lang="zh-CN" altLang="en-US" dirty="0" smtClean="0"/>
              <a:t>，实际上都改变了图像原来的形态，会对识别效果产生影响。</a:t>
            </a:r>
            <a:endParaRPr lang="en-US" altLang="zh-CN" dirty="0" smtClean="0"/>
          </a:p>
          <a:p>
            <a:r>
              <a:rPr lang="zh-CN" altLang="en-US" dirty="0" smtClean="0"/>
              <a:t>基于上述原因，为了进一步提升算法的性能、一个直接的方法就是去掉对输入图像尺寸的限制。因为全连接层严格要求输入的特征维数</a:t>
            </a:r>
            <a:r>
              <a:rPr lang="en-US" altLang="zh-CN" dirty="0" smtClean="0"/>
              <a:t>,</a:t>
            </a:r>
            <a:r>
              <a:rPr lang="zh-CN" altLang="en-US" dirty="0" smtClean="0"/>
              <a:t>所以我们可以在全连接层之前</a:t>
            </a:r>
            <a:r>
              <a:rPr lang="en-US" altLang="zh-CN" dirty="0" smtClean="0"/>
              <a:t>,</a:t>
            </a:r>
            <a:r>
              <a:rPr lang="zh-CN" altLang="en-US" dirty="0" smtClean="0"/>
              <a:t>插入一个采样层，把之前经过一系列卷积层生成的特征图采样成规定尺寸</a:t>
            </a:r>
            <a:r>
              <a:rPr lang="en-US" altLang="zh-CN" dirty="0" smtClean="0"/>
              <a:t>,</a:t>
            </a:r>
            <a:r>
              <a:rPr lang="zh-CN" altLang="en-US" dirty="0" smtClean="0"/>
              <a:t>这个采样层称为空间金字塔采样层</a:t>
            </a:r>
            <a:r>
              <a:rPr lang="en-US" altLang="zh-CN" dirty="0" smtClean="0"/>
              <a:t>(Spatial Pyramid Pooling layer, SPP layer)</a:t>
            </a:r>
            <a:r>
              <a:rPr lang="zh-CN" altLang="en-US" dirty="0" smtClean="0"/>
              <a:t>。下图显示了基于常规图像变换和基于</a:t>
            </a:r>
            <a:r>
              <a:rPr lang="en-US" altLang="zh-CN" dirty="0" smtClean="0"/>
              <a:t>SPP</a:t>
            </a:r>
            <a:r>
              <a:rPr lang="zh-CN" altLang="en-US" dirty="0" smtClean="0"/>
              <a:t>变换方法在网络计算过程中的区别</a:t>
            </a:r>
            <a:r>
              <a:rPr lang="en-US" altLang="zh-CN" dirty="0" smtClean="0"/>
              <a:t>,</a:t>
            </a:r>
            <a:r>
              <a:rPr lang="zh-CN" altLang="en-US" dirty="0" smtClean="0"/>
              <a:t>可以看出</a:t>
            </a:r>
            <a:r>
              <a:rPr lang="en-US" altLang="zh-CN" dirty="0" smtClean="0"/>
              <a:t>,SPP</a:t>
            </a:r>
            <a:r>
              <a:rPr lang="zh-CN" altLang="en-US" dirty="0" smtClean="0"/>
              <a:t>的本质是将图像的特征，在更深的网络层次中进行汇聚。</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56616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具体网络结构如图所示。</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897495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SPP</a:t>
            </a:r>
            <a:r>
              <a:rPr lang="zh-CN" altLang="en-US" dirty="0" smtClean="0"/>
              <a:t>的具体实现方法可以参考图</a:t>
            </a:r>
            <a:r>
              <a:rPr lang="en-US" altLang="zh-CN" dirty="0" smtClean="0"/>
              <a:t>8-5</a:t>
            </a:r>
            <a:r>
              <a:rPr lang="zh-CN" altLang="en-US" dirty="0" smtClean="0"/>
              <a:t>．在最后一个卷积层之后插入一个 </a:t>
            </a:r>
            <a:r>
              <a:rPr lang="en-US" altLang="zh-CN" dirty="0" smtClean="0"/>
              <a:t>SPP</a:t>
            </a:r>
            <a:r>
              <a:rPr lang="zh-CN" altLang="en-US" dirty="0" smtClean="0"/>
              <a:t>层</a:t>
            </a:r>
            <a:r>
              <a:rPr lang="en-US" altLang="zh-CN" dirty="0" smtClean="0"/>
              <a:t>(</a:t>
            </a:r>
            <a:r>
              <a:rPr lang="zh-CN" altLang="en-US" dirty="0" smtClean="0"/>
              <a:t>或替换原卷积层之后的池化层</a:t>
            </a:r>
            <a:r>
              <a:rPr lang="en-US" altLang="zh-CN" dirty="0" smtClean="0"/>
              <a:t>),</a:t>
            </a:r>
            <a:r>
              <a:rPr lang="zh-CN" altLang="en-US" dirty="0" smtClean="0"/>
              <a:t>在最后一个卷积层之后的特征图上，划分粗细尺度不同的几级均匀网格（特征图的各通道切片上</a:t>
            </a:r>
            <a:r>
              <a:rPr lang="en-US" altLang="zh-CN" dirty="0" smtClean="0"/>
              <a:t>,</a:t>
            </a:r>
            <a:r>
              <a:rPr lang="zh-CN" altLang="en-US" dirty="0" smtClean="0"/>
              <a:t>网格划分的方式一致</a:t>
            </a:r>
            <a:r>
              <a:rPr lang="en-US" altLang="zh-CN" dirty="0" smtClean="0"/>
              <a:t>)</a:t>
            </a:r>
            <a:r>
              <a:rPr lang="zh-CN" altLang="en-US" dirty="0" smtClean="0"/>
              <a:t>。各级网格对特征图进行了不同尺度的划分，构成了特征图的金字塔结构。对每级网格中的每个单元，使用最大值池化或平均值池化，池化之后的结果融合在一起，构成长度固定的特征向量。在</a:t>
            </a:r>
            <a:r>
              <a:rPr lang="en-US" altLang="zh-CN" dirty="0" smtClean="0"/>
              <a:t>SPP </a:t>
            </a:r>
            <a:r>
              <a:rPr lang="zh-CN" altLang="en-US" dirty="0" smtClean="0"/>
              <a:t>的过程中，对于不同大小的图像，同一层级网格单元格的数量是相同的，每个单元格的尺寸和整个图像的尺寸成正比，这样就保证了无论输入图像的尺寸如何，经过</a:t>
            </a:r>
            <a:r>
              <a:rPr lang="en-US" altLang="zh-CN" dirty="0" smtClean="0"/>
              <a:t>SPP</a:t>
            </a:r>
            <a:r>
              <a:rPr lang="zh-CN" altLang="en-US" dirty="0" smtClean="0"/>
              <a:t>层之后</a:t>
            </a:r>
            <a:r>
              <a:rPr lang="en-US" altLang="zh-CN" dirty="0" smtClean="0"/>
              <a:t>,</a:t>
            </a:r>
            <a:r>
              <a:rPr lang="zh-CN" altLang="en-US" dirty="0" smtClean="0"/>
              <a:t>都能变成同样维度的特征向量。向量的总维数为</a:t>
            </a:r>
            <a:r>
              <a:rPr lang="en-US" altLang="zh-CN" dirty="0" err="1" smtClean="0"/>
              <a:t>k×M</a:t>
            </a:r>
            <a:r>
              <a:rPr lang="en-US" altLang="zh-CN" dirty="0" smtClean="0"/>
              <a:t>,</a:t>
            </a:r>
            <a:r>
              <a:rPr lang="zh-CN" altLang="en-US" dirty="0" smtClean="0"/>
              <a:t>其中</a:t>
            </a:r>
            <a:r>
              <a:rPr lang="en-US" altLang="zh-CN" dirty="0" smtClean="0"/>
              <a:t>k</a:t>
            </a:r>
            <a:r>
              <a:rPr lang="zh-CN" altLang="en-US" dirty="0" smtClean="0"/>
              <a:t>表示</a:t>
            </a:r>
            <a:r>
              <a:rPr lang="en-US" altLang="zh-CN" dirty="0" smtClean="0"/>
              <a:t>SPP</a:t>
            </a:r>
            <a:r>
              <a:rPr lang="zh-CN" altLang="en-US" dirty="0" smtClean="0"/>
              <a:t>输入特征图的通道数</a:t>
            </a:r>
            <a:r>
              <a:rPr lang="en-US" altLang="zh-CN" dirty="0" smtClean="0"/>
              <a:t>(</a:t>
            </a:r>
            <a:r>
              <a:rPr lang="zh-CN" altLang="en-US" dirty="0" smtClean="0"/>
              <a:t>即最后一个卷积层卷积核的个数</a:t>
            </a:r>
            <a:r>
              <a:rPr lang="en-US" altLang="zh-CN" dirty="0" smtClean="0"/>
              <a:t>)</a:t>
            </a:r>
            <a:r>
              <a:rPr lang="zh-CN" altLang="en-US" dirty="0" smtClean="0"/>
              <a:t>，</a:t>
            </a:r>
            <a:r>
              <a:rPr lang="en-US" altLang="zh-CN" dirty="0" smtClean="0"/>
              <a:t>M</a:t>
            </a:r>
            <a:r>
              <a:rPr lang="zh-CN" altLang="en-US" dirty="0" smtClean="0"/>
              <a:t>表示在每个切片上，各级网格单元格数量之和。图中使用了</a:t>
            </a:r>
            <a:r>
              <a:rPr lang="en-US" altLang="zh-CN" dirty="0" smtClean="0"/>
              <a:t>3</a:t>
            </a:r>
            <a:r>
              <a:rPr lang="zh-CN" altLang="en-US" dirty="0" smtClean="0"/>
              <a:t>个均匀网格，网格的尺寸分别是</a:t>
            </a:r>
            <a:r>
              <a:rPr lang="en-US" altLang="zh-CN" dirty="0" smtClean="0"/>
              <a:t>4×4</a:t>
            </a:r>
            <a:r>
              <a:rPr lang="zh-CN" altLang="en-US" dirty="0" smtClean="0"/>
              <a:t>、</a:t>
            </a:r>
            <a:r>
              <a:rPr lang="en-US" altLang="zh-CN" dirty="0" smtClean="0"/>
              <a:t>2×2</a:t>
            </a:r>
            <a:r>
              <a:rPr lang="zh-CN" altLang="en-US" dirty="0" smtClean="0"/>
              <a:t>和</a:t>
            </a:r>
            <a:r>
              <a:rPr lang="en-US" altLang="zh-CN" dirty="0" smtClean="0"/>
              <a:t>1×1,</a:t>
            </a:r>
            <a:r>
              <a:rPr lang="zh-CN" altLang="en-US" dirty="0" smtClean="0"/>
              <a:t>图中特征图的通道数为</a:t>
            </a:r>
            <a:r>
              <a:rPr lang="en-US" altLang="zh-CN" dirty="0" smtClean="0"/>
              <a:t>256,</a:t>
            </a:r>
            <a:r>
              <a:rPr lang="zh-CN" altLang="en-US" dirty="0" smtClean="0"/>
              <a:t>经过</a:t>
            </a:r>
            <a:r>
              <a:rPr lang="en-US" altLang="zh-CN" dirty="0" smtClean="0"/>
              <a:t>SPP</a:t>
            </a:r>
            <a:r>
              <a:rPr lang="zh-CN" altLang="en-US" dirty="0" smtClean="0"/>
              <a:t>层之后</a:t>
            </a:r>
            <a:r>
              <a:rPr lang="en-US" altLang="zh-CN" dirty="0" smtClean="0"/>
              <a:t>,</a:t>
            </a:r>
            <a:r>
              <a:rPr lang="zh-CN" altLang="en-US" dirty="0" smtClean="0"/>
              <a:t>图像的特征向量变换成</a:t>
            </a:r>
            <a:r>
              <a:rPr lang="en-US" altLang="zh-CN" dirty="0" smtClean="0"/>
              <a:t>(4x4+2×2+1x1) x256</a:t>
            </a:r>
            <a:r>
              <a:rPr lang="zh-CN" altLang="en-US" dirty="0" smtClean="0"/>
              <a:t>维，维度和输入图像的分辨率及宽高比都无关，从而消除了之前</a:t>
            </a:r>
            <a:r>
              <a:rPr lang="en-US" altLang="zh-CN" dirty="0" smtClean="0"/>
              <a:t>R-CNN</a:t>
            </a:r>
            <a:r>
              <a:rPr lang="zh-CN" altLang="en-US" dirty="0" smtClean="0"/>
              <a:t>算法中对输入图像尺寸的约束。</a:t>
            </a:r>
          </a:p>
          <a:p>
            <a:r>
              <a:rPr lang="zh-CN" altLang="en-US" dirty="0" smtClean="0"/>
              <a:t>多尺度方法在图像分类和目标检测算法中有着非常重要的作用，在不同尺寸的图像（图像金字塔</a:t>
            </a:r>
            <a:r>
              <a:rPr lang="en-US" altLang="zh-CN" dirty="0" smtClean="0"/>
              <a:t>)</a:t>
            </a:r>
            <a:r>
              <a:rPr lang="zh-CN" altLang="en-US" dirty="0" smtClean="0"/>
              <a:t>上提取</a:t>
            </a:r>
            <a:r>
              <a:rPr lang="en-US" altLang="zh-CN" dirty="0" smtClean="0"/>
              <a:t>SIFT</a:t>
            </a:r>
            <a:r>
              <a:rPr lang="zh-CN" altLang="en-US" dirty="0" smtClean="0"/>
              <a:t>、 </a:t>
            </a:r>
            <a:r>
              <a:rPr lang="en-US" altLang="zh-CN" dirty="0" smtClean="0"/>
              <a:t>HOG</a:t>
            </a:r>
            <a:r>
              <a:rPr lang="zh-CN" altLang="en-US" dirty="0" smtClean="0"/>
              <a:t>等特征进行融合使用，能够明显提升算法的尺度鲁棒性。其实，对于神经网络提取的特征也一样，因为使用了</a:t>
            </a:r>
            <a:r>
              <a:rPr lang="en-US" altLang="zh-CN" dirty="0" smtClean="0"/>
              <a:t>SPP</a:t>
            </a:r>
            <a:r>
              <a:rPr lang="zh-CN" altLang="en-US" dirty="0" smtClean="0"/>
              <a:t>层，特征向量的维数和输入图像的尺寸无关，所以保证了我们在模型训练的时候能够对原图进行多尺寸缩放</a:t>
            </a:r>
            <a:r>
              <a:rPr lang="en-US" altLang="zh-CN" dirty="0" smtClean="0"/>
              <a:t>,</a:t>
            </a:r>
            <a:r>
              <a:rPr lang="zh-CN" altLang="en-US" dirty="0" smtClean="0"/>
              <a:t>大大增强了网络模型的尺寸鲁棒性。</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97573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原则上来说，</a:t>
            </a:r>
            <a:r>
              <a:rPr lang="en-US" altLang="zh-CN" dirty="0" smtClean="0"/>
              <a:t>SPP</a:t>
            </a:r>
            <a:r>
              <a:rPr lang="zh-CN" altLang="en-US" dirty="0" smtClean="0"/>
              <a:t>对输入图像的尺寸没有要求，但在实现训练算法的时候，为了保证训练流水线计算的高效性，类似</a:t>
            </a:r>
            <a:r>
              <a:rPr lang="en-US" altLang="zh-CN" dirty="0" err="1" smtClean="0"/>
              <a:t>caffe</a:t>
            </a:r>
            <a:r>
              <a:rPr lang="zh-CN" altLang="en-US" dirty="0" smtClean="0"/>
              <a:t>这样的训练框架都约束了输入图像的尺寸。</a:t>
            </a:r>
            <a:r>
              <a:rPr lang="en-US" altLang="zh-CN" dirty="0" smtClean="0"/>
              <a:t>SPP-Net</a:t>
            </a:r>
            <a:r>
              <a:rPr lang="zh-CN" altLang="en-US" dirty="0" smtClean="0"/>
              <a:t>的训练方法分为单尺度训练和多尺度训练两种训练模式，下面我们逐一介绍。</a:t>
            </a:r>
            <a:endParaRPr lang="en-US" altLang="zh-CN" dirty="0" smtClean="0"/>
          </a:p>
          <a:p>
            <a:r>
              <a:rPr lang="zh-CN" altLang="en-US" dirty="0" smtClean="0"/>
              <a:t>单尺度训练：假设固定输入图像尺寸，比如</a:t>
            </a:r>
            <a:r>
              <a:rPr lang="en-US" altLang="zh-CN" dirty="0" smtClean="0"/>
              <a:t>224×224</a:t>
            </a:r>
            <a:r>
              <a:rPr lang="zh-CN" altLang="en-US" dirty="0" smtClean="0"/>
              <a:t>像素，对于其他尺寸的输入图像，常规的做法是先缩放到比</a:t>
            </a:r>
            <a:r>
              <a:rPr lang="en-US" altLang="zh-CN" dirty="0" smtClean="0"/>
              <a:t>224×224</a:t>
            </a:r>
            <a:r>
              <a:rPr lang="zh-CN" altLang="en-US" dirty="0" smtClean="0"/>
              <a:t>像素略大一些的尺寸，然后通过</a:t>
            </a:r>
            <a:r>
              <a:rPr lang="en-US" altLang="zh-CN" dirty="0" smtClean="0"/>
              <a:t>224×224</a:t>
            </a:r>
            <a:r>
              <a:rPr lang="zh-CN" altLang="en-US" dirty="0" smtClean="0"/>
              <a:t>的窗口进行滑窗截取，生成一系列</a:t>
            </a:r>
            <a:r>
              <a:rPr lang="en-US" altLang="zh-CN" dirty="0" smtClean="0"/>
              <a:t>224×224</a:t>
            </a:r>
            <a:r>
              <a:rPr lang="zh-CN" altLang="en-US" dirty="0" smtClean="0"/>
              <a:t>像素的训练图像样本，这些固定尺寸的样本经过一系列卷积计算后到达</a:t>
            </a:r>
            <a:r>
              <a:rPr lang="en-US" altLang="zh-CN" dirty="0" smtClean="0"/>
              <a:t>SPP</a:t>
            </a:r>
            <a:r>
              <a:rPr lang="zh-CN" altLang="en-US" dirty="0" smtClean="0"/>
              <a:t>层，通过</a:t>
            </a:r>
            <a:r>
              <a:rPr lang="en-US" altLang="zh-CN" dirty="0" smtClean="0"/>
              <a:t>SPP</a:t>
            </a:r>
            <a:r>
              <a:rPr lang="zh-CN" altLang="en-US" dirty="0" smtClean="0"/>
              <a:t>层的池化计算，生成固定尺寸的特征向量并传到网络后段。整个过程中网络的各级特征图的尺寸再每次计算的时候不发生变化，因而无须动态分配存储空间，提升了整个计算流水线的效率。</a:t>
            </a:r>
            <a:endParaRPr lang="en-US" altLang="zh-CN" dirty="0" smtClean="0"/>
          </a:p>
          <a:p>
            <a:r>
              <a:rPr lang="zh-CN" altLang="en-US" dirty="0" smtClean="0"/>
              <a:t>多尺度训练和单尺度训练的区别是多尺度训练指定了输入图像的多个尺度，比如</a:t>
            </a:r>
            <a:r>
              <a:rPr lang="en-US" altLang="zh-CN" dirty="0" smtClean="0"/>
              <a:t>224×224</a:t>
            </a:r>
            <a:r>
              <a:rPr lang="zh-CN" altLang="en-US" dirty="0" smtClean="0"/>
              <a:t>像素和</a:t>
            </a:r>
            <a:r>
              <a:rPr lang="en-US" altLang="zh-CN" dirty="0" smtClean="0"/>
              <a:t>180×180</a:t>
            </a:r>
            <a:r>
              <a:rPr lang="zh-CN" altLang="en-US" dirty="0" smtClean="0"/>
              <a:t>像素，先通过截取获得的一系列</a:t>
            </a:r>
            <a:r>
              <a:rPr lang="en-US" altLang="zh-CN" dirty="0" smtClean="0"/>
              <a:t>224×224</a:t>
            </a:r>
            <a:r>
              <a:rPr lang="zh-CN" altLang="en-US" dirty="0" smtClean="0"/>
              <a:t>像素的样本，再通过缩放生成对应的一系列</a:t>
            </a:r>
            <a:r>
              <a:rPr lang="en-US" altLang="zh-CN" dirty="0" smtClean="0"/>
              <a:t>180×180</a:t>
            </a:r>
            <a:r>
              <a:rPr lang="zh-CN" altLang="en-US" dirty="0" smtClean="0"/>
              <a:t>像素的样本。在训练迭代过程中，先对</a:t>
            </a:r>
            <a:r>
              <a:rPr lang="en-US" altLang="zh-CN" dirty="0" smtClean="0"/>
              <a:t>224×224</a:t>
            </a:r>
            <a:r>
              <a:rPr lang="zh-CN" altLang="en-US" dirty="0" smtClean="0"/>
              <a:t>像素的样本进行一次完整迭代，然后对所有</a:t>
            </a:r>
            <a:r>
              <a:rPr lang="en-US" altLang="zh-CN" dirty="0" smtClean="0"/>
              <a:t>180×180</a:t>
            </a:r>
            <a:r>
              <a:rPr lang="zh-CN" altLang="en-US" dirty="0" smtClean="0"/>
              <a:t>像素的样本进行下一次完整迭代，再使用</a:t>
            </a:r>
            <a:r>
              <a:rPr lang="en-US" altLang="zh-CN" dirty="0" smtClean="0"/>
              <a:t>224×224</a:t>
            </a:r>
            <a:r>
              <a:rPr lang="zh-CN" altLang="en-US" dirty="0" smtClean="0"/>
              <a:t>像素的样本进行完整迭代。如此往复交替进行训练过程。在整个过程中，模型权重参数的维度是一致的，每一次迭代的模型参数都是下一次迭代模型参数的初值。对于不同的输入图像尺寸，特征图的维度是变化的，需要分配不同大小的存储空间，但在同一尺寸的完整迭代过程中，特征图的维度是不变的，可以共享相同的存储空间。存储空间的切换，仅仅发生在不同尺寸迭代之间切换的时候，因此也可以保证整个训练过程的高效进行。指定多个输入图像尺寸的目的和图像金字塔的思想一致，就是使得算法模型具有更好的尺寸鲁棒性。</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249278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与</a:t>
            </a:r>
            <a:r>
              <a:rPr lang="en-US" altLang="zh-CN" dirty="0" smtClean="0"/>
              <a:t>R-CNN</a:t>
            </a:r>
            <a:r>
              <a:rPr lang="zh-CN" altLang="en-US" dirty="0" smtClean="0"/>
              <a:t>算法类似，对于检测问题</a:t>
            </a:r>
            <a:r>
              <a:rPr lang="en-US" altLang="zh-CN" dirty="0" smtClean="0"/>
              <a:t>,</a:t>
            </a:r>
            <a:r>
              <a:rPr lang="zh-CN" altLang="en-US" dirty="0" smtClean="0"/>
              <a:t>在</a:t>
            </a:r>
            <a:r>
              <a:rPr lang="en-US" altLang="zh-CN" dirty="0" smtClean="0"/>
              <a:t>SPP-Net</a:t>
            </a:r>
            <a:r>
              <a:rPr lang="zh-CN" altLang="en-US" dirty="0" smtClean="0"/>
              <a:t>算法中首先需要通过类似</a:t>
            </a:r>
            <a:r>
              <a:rPr lang="en-US" altLang="zh-CN" dirty="0" smtClean="0"/>
              <a:t>Selective Search</a:t>
            </a:r>
            <a:r>
              <a:rPr lang="zh-CN" altLang="en-US" dirty="0" smtClean="0"/>
              <a:t>方法生成一系列候选框。但在提取特征的过程中</a:t>
            </a:r>
            <a:r>
              <a:rPr lang="en-US" altLang="zh-CN" dirty="0" smtClean="0"/>
              <a:t>SPP-Net</a:t>
            </a:r>
            <a:r>
              <a:rPr lang="zh-CN" altLang="en-US" dirty="0" smtClean="0"/>
              <a:t>与 </a:t>
            </a:r>
            <a:r>
              <a:rPr lang="en-US" altLang="zh-CN" dirty="0" smtClean="0"/>
              <a:t>R-CNN</a:t>
            </a:r>
            <a:r>
              <a:rPr lang="zh-CN" altLang="en-US" dirty="0" smtClean="0"/>
              <a:t>不同，其仅需要对全图进行一次卷积计算。对于每个候选框，根据候选框角点坐标和特征图上对应点坐标的映射关系，可以在特征图上找到对应的区域</a:t>
            </a:r>
            <a:r>
              <a:rPr lang="en-US" altLang="zh-CN" dirty="0" smtClean="0"/>
              <a:t>,</a:t>
            </a:r>
            <a:r>
              <a:rPr lang="zh-CN" altLang="en-US" dirty="0" smtClean="0"/>
              <a:t>无论特征图上的这个区域尺度如何</a:t>
            </a:r>
            <a:r>
              <a:rPr lang="en-US" altLang="zh-CN" dirty="0" smtClean="0"/>
              <a:t>,SPP</a:t>
            </a:r>
            <a:r>
              <a:rPr lang="zh-CN" altLang="en-US" dirty="0" smtClean="0"/>
              <a:t>层都会将其变换成固定维度的特征向量传递到后段进行计算，最终得到对应候选框的特征。这之后的处理过程与</a:t>
            </a:r>
            <a:r>
              <a:rPr lang="en-US" altLang="zh-CN" dirty="0" smtClean="0"/>
              <a:t>R-CNN </a:t>
            </a:r>
            <a:r>
              <a:rPr lang="zh-CN" altLang="en-US" dirty="0" smtClean="0"/>
              <a:t>的流程相同</a:t>
            </a:r>
            <a:r>
              <a:rPr lang="en-US" altLang="zh-CN" dirty="0" smtClean="0"/>
              <a:t>,</a:t>
            </a:r>
            <a:r>
              <a:rPr lang="zh-CN" altLang="en-US" dirty="0" smtClean="0"/>
              <a:t>都是使用特征进行分类和位置修正，然后通过非极大值抑制</a:t>
            </a:r>
            <a:r>
              <a:rPr lang="en-US" altLang="zh-CN" dirty="0" smtClean="0"/>
              <a:t>(NMS)</a:t>
            </a:r>
            <a:r>
              <a:rPr lang="zh-CN" altLang="en-US" dirty="0" smtClean="0"/>
              <a:t>算法合并重复的结果，最后根据每个类的检出阙值输出最终的结果。整个测试过程的一个最大的改进</a:t>
            </a:r>
            <a:r>
              <a:rPr lang="en-US" altLang="zh-CN" dirty="0" smtClean="0"/>
              <a:t>,</a:t>
            </a:r>
            <a:r>
              <a:rPr lang="zh-CN" altLang="en-US" dirty="0" smtClean="0"/>
              <a:t>就是不再需要使用神经网络单独对每个候选框提取特征，只需进行一次卷积计算</a:t>
            </a:r>
            <a:r>
              <a:rPr lang="en-US" altLang="zh-CN" dirty="0" smtClean="0"/>
              <a:t>,</a:t>
            </a:r>
            <a:r>
              <a:rPr lang="zh-CN" altLang="en-US" dirty="0" smtClean="0"/>
              <a:t>仅仅在最后一个卷积层之后的特征图上使用</a:t>
            </a:r>
            <a:r>
              <a:rPr lang="en-US" altLang="zh-CN" dirty="0" smtClean="0"/>
              <a:t>SPP</a:t>
            </a:r>
            <a:r>
              <a:rPr lang="zh-CN" altLang="en-US" dirty="0" smtClean="0"/>
              <a:t>即可。这一改进，使得测试时的速度有了几十乃至上百倍的显著提升。</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042191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尽管</a:t>
            </a:r>
            <a:r>
              <a:rPr lang="en-US" altLang="zh-CN" dirty="0" smtClean="0"/>
              <a:t>R-CNN</a:t>
            </a:r>
            <a:r>
              <a:rPr lang="zh-CN" altLang="en-US" dirty="0" smtClean="0"/>
              <a:t>显著提升了目标检测算法的性能，但因为计算过于复杂，耗时很长，所以在实际的应用系统中，大多无法使用。经过分析可知其复杂性主要来自两个方面：一是需要针对大量的候选框分别进行计算；二是特征提取之后的分类器训练和位置回归，是几个独立步骤分别进行的。在训练过程中，提取的特征要先存储在硬盘上，然后训练</a:t>
            </a:r>
            <a:r>
              <a:rPr lang="en-US" altLang="zh-CN" dirty="0" smtClean="0"/>
              <a:t>SVM</a:t>
            </a:r>
            <a:r>
              <a:rPr lang="zh-CN" altLang="en-US" dirty="0" smtClean="0"/>
              <a:t>分类模型，最后训练位置回归模型</a:t>
            </a:r>
            <a:r>
              <a:rPr lang="en-US" altLang="zh-CN" dirty="0" smtClean="0"/>
              <a:t>,</a:t>
            </a:r>
            <a:r>
              <a:rPr lang="zh-CN" altLang="en-US" dirty="0" smtClean="0"/>
              <a:t>而测试过程也是类似的，特征提取之后</a:t>
            </a:r>
            <a:r>
              <a:rPr lang="en-US" altLang="zh-CN" dirty="0" smtClean="0"/>
              <a:t>,</a:t>
            </a:r>
            <a:r>
              <a:rPr lang="zh-CN" altLang="en-US" dirty="0" smtClean="0"/>
              <a:t>需要先进行</a:t>
            </a:r>
            <a:r>
              <a:rPr lang="en-US" altLang="zh-CN" dirty="0" smtClean="0"/>
              <a:t>SVM</a:t>
            </a:r>
            <a:r>
              <a:rPr lang="zh-CN" altLang="en-US" dirty="0" smtClean="0"/>
              <a:t>分类</a:t>
            </a:r>
            <a:r>
              <a:rPr lang="en-US" altLang="zh-CN" dirty="0" smtClean="0"/>
              <a:t>,</a:t>
            </a:r>
            <a:r>
              <a:rPr lang="zh-CN" altLang="en-US" dirty="0" smtClean="0"/>
              <a:t>再回归目标的准确位置</a:t>
            </a:r>
            <a:r>
              <a:rPr lang="en-US" altLang="zh-CN" dirty="0" smtClean="0"/>
              <a:t>,</a:t>
            </a:r>
            <a:r>
              <a:rPr lang="zh-CN" altLang="en-US" dirty="0" smtClean="0"/>
              <a:t>整个过程在计算时间和存储空间上</a:t>
            </a:r>
            <a:r>
              <a:rPr lang="en-US" altLang="zh-CN" dirty="0" smtClean="0"/>
              <a:t>,</a:t>
            </a:r>
            <a:r>
              <a:rPr lang="zh-CN" altLang="en-US" dirty="0" smtClean="0"/>
              <a:t>都需要很大的开销。</a:t>
            </a:r>
            <a:endParaRPr lang="en-US" altLang="zh-CN" dirty="0" smtClean="0"/>
          </a:p>
          <a:p>
            <a:r>
              <a:rPr lang="en-US" altLang="zh-CN" dirty="0" smtClean="0"/>
              <a:t>SPP-Net</a:t>
            </a:r>
            <a:r>
              <a:rPr lang="zh-CN" altLang="en-US" dirty="0" smtClean="0"/>
              <a:t>算法解决了前一个问题，通过共享特征图</a:t>
            </a:r>
            <a:r>
              <a:rPr lang="en-US" altLang="zh-CN" dirty="0" smtClean="0"/>
              <a:t>,</a:t>
            </a:r>
            <a:r>
              <a:rPr lang="zh-CN" altLang="en-US" dirty="0" smtClean="0"/>
              <a:t>整幅图像仅须进行一次卷积计算，但特征提取之后的处理仍然是分步骤独立进行的。下面介绍的</a:t>
            </a:r>
            <a:r>
              <a:rPr lang="en-US" altLang="zh-CN" dirty="0" smtClean="0"/>
              <a:t>Fast R-CNN</a:t>
            </a:r>
            <a:r>
              <a:rPr lang="zh-CN" altLang="en-US" dirty="0" smtClean="0"/>
              <a:t>算法，针对上述两个问题进行了改进，使得算法速度有了非常显著的提升。以一个较深的网络</a:t>
            </a:r>
            <a:r>
              <a:rPr lang="en-US" altLang="zh-CN" dirty="0" smtClean="0"/>
              <a:t>VGG16</a:t>
            </a:r>
            <a:r>
              <a:rPr lang="zh-CN" altLang="en-US" dirty="0" smtClean="0"/>
              <a:t>为例</a:t>
            </a:r>
            <a:r>
              <a:rPr lang="en-US" altLang="zh-CN" dirty="0" smtClean="0"/>
              <a:t>,Fast R-CNN </a:t>
            </a:r>
            <a:r>
              <a:rPr lang="zh-CN" altLang="en-US" dirty="0" smtClean="0"/>
              <a:t>的训练速度是</a:t>
            </a:r>
            <a:r>
              <a:rPr lang="en-US" altLang="zh-CN" dirty="0" smtClean="0"/>
              <a:t>R-CNN </a:t>
            </a:r>
            <a:r>
              <a:rPr lang="zh-CN" altLang="en-US" dirty="0" smtClean="0"/>
              <a:t>的</a:t>
            </a:r>
            <a:r>
              <a:rPr lang="en-US" altLang="zh-CN" dirty="0" smtClean="0"/>
              <a:t>9</a:t>
            </a:r>
            <a:r>
              <a:rPr lang="zh-CN" altLang="en-US" dirty="0" smtClean="0"/>
              <a:t>倍，测试速度是</a:t>
            </a:r>
            <a:r>
              <a:rPr lang="en-US" altLang="zh-CN" dirty="0" smtClean="0"/>
              <a:t>R-CNN </a:t>
            </a:r>
            <a:r>
              <a:rPr lang="zh-CN" altLang="en-US" dirty="0" smtClean="0"/>
              <a:t>的</a:t>
            </a:r>
            <a:r>
              <a:rPr lang="en-US" altLang="zh-CN" dirty="0" smtClean="0"/>
              <a:t>213</a:t>
            </a:r>
            <a:r>
              <a:rPr lang="zh-CN" altLang="en-US" dirty="0" smtClean="0"/>
              <a:t>倍</a:t>
            </a:r>
            <a:r>
              <a:rPr lang="en-US" altLang="zh-CN" dirty="0" smtClean="0"/>
              <a:t>;</a:t>
            </a:r>
            <a:r>
              <a:rPr lang="zh-CN" altLang="en-US" dirty="0" smtClean="0"/>
              <a:t>即使和</a:t>
            </a:r>
            <a:r>
              <a:rPr lang="en-US" altLang="zh-CN" dirty="0" smtClean="0"/>
              <a:t>SPP-Net</a:t>
            </a:r>
            <a:r>
              <a:rPr lang="zh-CN" altLang="en-US" dirty="0" smtClean="0"/>
              <a:t>相比</a:t>
            </a:r>
            <a:r>
              <a:rPr lang="en-US" altLang="zh-CN" dirty="0" smtClean="0"/>
              <a:t>,Fast R-CNN</a:t>
            </a:r>
            <a:r>
              <a:rPr lang="zh-CN" altLang="en-US" dirty="0" smtClean="0"/>
              <a:t>的训练速度和测试速度，也分别有了</a:t>
            </a:r>
            <a:r>
              <a:rPr lang="en-US" altLang="zh-CN" dirty="0" smtClean="0"/>
              <a:t>3</a:t>
            </a:r>
            <a:r>
              <a:rPr lang="zh-CN" altLang="en-US" dirty="0" smtClean="0"/>
              <a:t>倍和</a:t>
            </a:r>
            <a:r>
              <a:rPr lang="en-US" altLang="zh-CN" dirty="0" smtClean="0"/>
              <a:t>10</a:t>
            </a:r>
            <a:r>
              <a:rPr lang="zh-CN" altLang="en-US" dirty="0" smtClean="0"/>
              <a:t>倍的提升。</a:t>
            </a:r>
            <a:endParaRPr lang="en-US" altLang="zh-CN" dirty="0" smtClean="0"/>
          </a:p>
          <a:p>
            <a:r>
              <a:rPr lang="zh-CN" altLang="en-US" dirty="0" smtClean="0"/>
              <a:t>要使得网络能够适应各种尺寸图像的输人</a:t>
            </a:r>
            <a:r>
              <a:rPr lang="en-US" altLang="zh-CN" dirty="0" smtClean="0"/>
              <a:t>,</a:t>
            </a:r>
            <a:r>
              <a:rPr lang="zh-CN" altLang="en-US" dirty="0" smtClean="0"/>
              <a:t>和</a:t>
            </a:r>
            <a:r>
              <a:rPr lang="en-US" altLang="zh-CN" dirty="0" smtClean="0"/>
              <a:t>SPP-Net</a:t>
            </a:r>
            <a:r>
              <a:rPr lang="zh-CN" altLang="en-US" dirty="0" smtClean="0"/>
              <a:t>类似，在最后一个卷积层之后，也需要加入一步操作，以保证输出的特征图具有固定的尺寸。为了提高算法效率，</a:t>
            </a:r>
            <a:r>
              <a:rPr lang="en-US" altLang="zh-CN" dirty="0" smtClean="0"/>
              <a:t>Fast R-CNN</a:t>
            </a:r>
            <a:r>
              <a:rPr lang="zh-CN" altLang="en-US" dirty="0" smtClean="0"/>
              <a:t>对整幅图像也只做一次卷积运算，所有的候选框共享各个卷积层输出的特征图。对于每个候选框，都可以通过映射关系在最后一个卷积层输出的特征图上找到其对应的感兴趣区域</a:t>
            </a:r>
            <a:r>
              <a:rPr lang="en-US" altLang="zh-CN" dirty="0" smtClean="0"/>
              <a:t>(Region Of Interest,</a:t>
            </a:r>
            <a:r>
              <a:rPr lang="zh-CN" altLang="en-US" dirty="0" smtClean="0"/>
              <a:t>即</a:t>
            </a:r>
            <a:r>
              <a:rPr lang="en-US" altLang="zh-CN" dirty="0" smtClean="0"/>
              <a:t>ROI)</a:t>
            </a:r>
            <a:r>
              <a:rPr lang="zh-CN" altLang="en-US" dirty="0" smtClean="0"/>
              <a:t>。我们在每个</a:t>
            </a:r>
            <a:r>
              <a:rPr lang="en-US" altLang="zh-CN" dirty="0" smtClean="0"/>
              <a:t>ROI</a:t>
            </a:r>
            <a:r>
              <a:rPr lang="zh-CN" altLang="en-US" dirty="0" smtClean="0"/>
              <a:t>区域上划分固定尺寸的均匀网格（比如</a:t>
            </a:r>
            <a:r>
              <a:rPr lang="en-US" altLang="zh-CN" dirty="0" smtClean="0"/>
              <a:t>,</a:t>
            </a:r>
            <a:r>
              <a:rPr lang="zh-CN" altLang="en-US" dirty="0" smtClean="0"/>
              <a:t>划分成</a:t>
            </a:r>
            <a:r>
              <a:rPr lang="en-US" altLang="zh-CN" dirty="0" smtClean="0"/>
              <a:t>7×7</a:t>
            </a:r>
            <a:r>
              <a:rPr lang="zh-CN" altLang="en-US" dirty="0" smtClean="0"/>
              <a:t>的网格</a:t>
            </a:r>
            <a:r>
              <a:rPr lang="en-US" altLang="zh-CN" dirty="0" smtClean="0"/>
              <a:t>),</a:t>
            </a:r>
            <a:r>
              <a:rPr lang="zh-CN" altLang="en-US" dirty="0" smtClean="0"/>
              <a:t>因为网格中每个单元格的宽高和特征图的宽高成正比</a:t>
            </a:r>
            <a:r>
              <a:rPr lang="en-US" altLang="zh-CN" dirty="0" smtClean="0"/>
              <a:t>,</a:t>
            </a:r>
            <a:r>
              <a:rPr lang="zh-CN" altLang="en-US" dirty="0" smtClean="0"/>
              <a:t>所以经过</a:t>
            </a:r>
            <a:r>
              <a:rPr lang="en-US" altLang="zh-CN" dirty="0" smtClean="0"/>
              <a:t>ROI</a:t>
            </a:r>
            <a:r>
              <a:rPr lang="zh-CN" altLang="en-US" dirty="0" smtClean="0"/>
              <a:t>池化层之后输出的特征图就具有了相同的尺寸。在每个单元格内使用最大值池化之后，原来的特征图就被映射成一个较小的固定尺寸的新特征图。</a:t>
            </a:r>
            <a:endParaRPr lang="en-US" altLang="zh-CN" dirty="0" smtClean="0"/>
          </a:p>
          <a:p>
            <a:r>
              <a:rPr lang="zh-CN" altLang="en-US" dirty="0" smtClean="0"/>
              <a:t>很容易看出，这里介绍的</a:t>
            </a:r>
            <a:r>
              <a:rPr lang="en-US" altLang="zh-CN" dirty="0" smtClean="0"/>
              <a:t>ROI</a:t>
            </a:r>
            <a:r>
              <a:rPr lang="zh-CN" altLang="en-US" dirty="0" smtClean="0"/>
              <a:t>池化层，本质上就是</a:t>
            </a:r>
            <a:r>
              <a:rPr lang="en-US" altLang="zh-CN" dirty="0" smtClean="0"/>
              <a:t>SPP</a:t>
            </a:r>
            <a:r>
              <a:rPr lang="zh-CN" altLang="en-US" dirty="0" smtClean="0"/>
              <a:t>层的一个特例。</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66929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我们用一个</a:t>
            </a:r>
            <a:r>
              <a:rPr lang="en-US" altLang="zh-CN" dirty="0" smtClean="0"/>
              <a:t>gif</a:t>
            </a:r>
            <a:r>
              <a:rPr lang="zh-CN" altLang="en-US" dirty="0" smtClean="0"/>
              <a:t>演示一个简单的例子。</a:t>
            </a:r>
            <a:endParaRPr lang="en-US" altLang="zh-CN" dirty="0" smtClean="0"/>
          </a:p>
          <a:p>
            <a:r>
              <a:rPr lang="zh-CN" altLang="en-US" dirty="0" smtClean="0"/>
              <a:t>假设我们最终一个特征图为</a:t>
            </a:r>
            <a:r>
              <a:rPr lang="en-US" altLang="zh-CN" dirty="0" smtClean="0"/>
              <a:t>8×8</a:t>
            </a:r>
            <a:r>
              <a:rPr lang="zh-CN" altLang="en-US" dirty="0" smtClean="0"/>
              <a:t>，感兴趣区域是（</a:t>
            </a:r>
            <a:r>
              <a:rPr lang="en-US" altLang="zh-CN" dirty="0" smtClean="0"/>
              <a:t>0</a:t>
            </a:r>
            <a:r>
              <a:rPr lang="zh-CN" altLang="en-US" dirty="0" smtClean="0"/>
              <a:t>，</a:t>
            </a:r>
            <a:r>
              <a:rPr lang="en-US" altLang="zh-CN" dirty="0" smtClean="0"/>
              <a:t>3</a:t>
            </a:r>
            <a:r>
              <a:rPr lang="zh-CN" altLang="en-US" dirty="0" smtClean="0"/>
              <a:t>）到（</a:t>
            </a:r>
            <a:r>
              <a:rPr lang="en-US" altLang="zh-CN" dirty="0" smtClean="0"/>
              <a:t>7</a:t>
            </a:r>
            <a:r>
              <a:rPr lang="zh-CN" altLang="en-US" dirty="0" smtClean="0"/>
              <a:t>，</a:t>
            </a:r>
            <a:r>
              <a:rPr lang="en-US" altLang="zh-CN" dirty="0" smtClean="0"/>
              <a:t>8</a:t>
            </a:r>
            <a:r>
              <a:rPr lang="zh-CN" altLang="en-US" dirty="0" smtClean="0"/>
              <a:t>）这一区域。将其划分为</a:t>
            </a:r>
            <a:r>
              <a:rPr lang="en-US" altLang="zh-CN" dirty="0" smtClean="0"/>
              <a:t>2×2</a:t>
            </a:r>
            <a:r>
              <a:rPr lang="zh-CN" altLang="en-US" dirty="0" smtClean="0"/>
              <a:t>个部分（这里注意一下，感兴趣区域的大小不必完全被池化部分的数量整除，比如这里的</a:t>
            </a:r>
            <a:r>
              <a:rPr lang="en-US" altLang="zh-CN" dirty="0" smtClean="0"/>
              <a:t>ROI</a:t>
            </a:r>
            <a:r>
              <a:rPr lang="zh-CN" altLang="en-US" dirty="0" smtClean="0"/>
              <a:t>为</a:t>
            </a:r>
            <a:r>
              <a:rPr lang="en-US" altLang="zh-CN" dirty="0" smtClean="0"/>
              <a:t>7×5</a:t>
            </a:r>
            <a:r>
              <a:rPr lang="zh-CN" altLang="en-US" dirty="0" smtClean="0"/>
              <a:t>，最后输出是</a:t>
            </a:r>
            <a:r>
              <a:rPr lang="en-US" altLang="zh-CN" dirty="0" smtClean="0"/>
              <a:t>2×2</a:t>
            </a:r>
            <a:r>
              <a:rPr lang="zh-CN" altLang="en-US" dirty="0" smtClean="0"/>
              <a:t>），对每个部分最大池化即为我们的输出结果。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86010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和 </a:t>
            </a:r>
            <a:r>
              <a:rPr lang="en-US" altLang="zh-CN" dirty="0" smtClean="0"/>
              <a:t>R-CNN </a:t>
            </a:r>
            <a:r>
              <a:rPr lang="zh-CN" altLang="en-US" dirty="0" smtClean="0"/>
              <a:t>的训练过程类似，</a:t>
            </a:r>
            <a:r>
              <a:rPr lang="en-US" altLang="zh-CN" dirty="0" smtClean="0"/>
              <a:t>Fast R-CNN</a:t>
            </a:r>
            <a:r>
              <a:rPr lang="zh-CN" altLang="en-US" dirty="0" smtClean="0"/>
              <a:t>的网络模型也使用</a:t>
            </a:r>
            <a:r>
              <a:rPr lang="en-US" altLang="zh-CN" dirty="0" err="1" smtClean="0"/>
              <a:t>lmageNet</a:t>
            </a:r>
            <a:r>
              <a:rPr lang="zh-CN" altLang="en-US" dirty="0" smtClean="0"/>
              <a:t>分类数据集进行预训练、除此之外，为了能够实现检测任务，</a:t>
            </a:r>
            <a:r>
              <a:rPr lang="en-US" altLang="zh-CN" dirty="0" smtClean="0"/>
              <a:t>Fast R-CNN</a:t>
            </a:r>
            <a:r>
              <a:rPr lang="zh-CN" altLang="en-US" dirty="0" smtClean="0"/>
              <a:t>需要对原始的分类网络进行结构调整。</a:t>
            </a:r>
            <a:endParaRPr lang="en-US" altLang="zh-CN" dirty="0" smtClean="0"/>
          </a:p>
          <a:p>
            <a:r>
              <a:rPr lang="zh-CN" altLang="en-US" dirty="0" smtClean="0"/>
              <a:t>第一步，把最后一个池化层替换成上文所述的</a:t>
            </a:r>
            <a:r>
              <a:rPr lang="en-US" altLang="zh-CN" dirty="0" smtClean="0"/>
              <a:t>ROI</a:t>
            </a:r>
            <a:r>
              <a:rPr lang="zh-CN" altLang="en-US" dirty="0" smtClean="0"/>
              <a:t>池化层，网格的行数</a:t>
            </a:r>
            <a:r>
              <a:rPr lang="en-US" altLang="zh-CN" dirty="0" smtClean="0"/>
              <a:t>H</a:t>
            </a:r>
            <a:r>
              <a:rPr lang="zh-CN" altLang="en-US" dirty="0" smtClean="0"/>
              <a:t>和列数</a:t>
            </a:r>
            <a:r>
              <a:rPr lang="en-US" altLang="zh-CN" dirty="0" smtClean="0"/>
              <a:t>W</a:t>
            </a:r>
            <a:r>
              <a:rPr lang="zh-CN" altLang="en-US" dirty="0" smtClean="0"/>
              <a:t>需要与其后第一个全连接层的输入尺度相匹配（例如，对于</a:t>
            </a:r>
            <a:r>
              <a:rPr lang="en-US" altLang="zh-CN" dirty="0" smtClean="0"/>
              <a:t>VGG16,W=H=7)</a:t>
            </a:r>
            <a:r>
              <a:rPr lang="zh-CN" altLang="en-US" dirty="0" smtClean="0"/>
              <a:t>。</a:t>
            </a:r>
          </a:p>
          <a:p>
            <a:r>
              <a:rPr lang="zh-CN" altLang="en-US" dirty="0" smtClean="0"/>
              <a:t>第二步，将最后一个全连接层（用于 </a:t>
            </a:r>
            <a:r>
              <a:rPr lang="en-US" altLang="zh-CN" dirty="0" err="1" smtClean="0"/>
              <a:t>ImageNet</a:t>
            </a:r>
            <a:r>
              <a:rPr lang="zh-CN" altLang="en-US" dirty="0" smtClean="0"/>
              <a:t>的</a:t>
            </a:r>
            <a:r>
              <a:rPr lang="en-US" altLang="zh-CN" dirty="0" smtClean="0"/>
              <a:t>1000</a:t>
            </a:r>
            <a:r>
              <a:rPr lang="zh-CN" altLang="en-US" dirty="0" smtClean="0"/>
              <a:t>个分类</a:t>
            </a:r>
            <a:r>
              <a:rPr lang="en-US" altLang="zh-CN" dirty="0" smtClean="0"/>
              <a:t>),</a:t>
            </a:r>
            <a:r>
              <a:rPr lang="zh-CN" altLang="en-US" dirty="0" smtClean="0"/>
              <a:t>替换成</a:t>
            </a:r>
            <a:r>
              <a:rPr lang="en-US" altLang="zh-CN" dirty="0" smtClean="0"/>
              <a:t>2</a:t>
            </a:r>
            <a:r>
              <a:rPr lang="zh-CN" altLang="en-US" dirty="0" smtClean="0"/>
              <a:t>个并行的全连接层</a:t>
            </a:r>
            <a:r>
              <a:rPr lang="en-US" altLang="zh-CN" dirty="0" smtClean="0"/>
              <a:t>,</a:t>
            </a:r>
            <a:r>
              <a:rPr lang="zh-CN" altLang="en-US" dirty="0" smtClean="0"/>
              <a:t>其中一个全连接层用于分类</a:t>
            </a:r>
            <a:r>
              <a:rPr lang="en-US" altLang="zh-CN" dirty="0" smtClean="0"/>
              <a:t>(k+1</a:t>
            </a:r>
            <a:r>
              <a:rPr lang="zh-CN" altLang="en-US" dirty="0" smtClean="0"/>
              <a:t>个类别</a:t>
            </a:r>
            <a:r>
              <a:rPr lang="en-US" altLang="zh-CN" dirty="0" smtClean="0"/>
              <a:t>,k</a:t>
            </a:r>
            <a:r>
              <a:rPr lang="zh-CN" altLang="en-US" dirty="0" smtClean="0"/>
              <a:t>表示目标类别数</a:t>
            </a:r>
            <a:r>
              <a:rPr lang="en-US" altLang="zh-CN" dirty="0" smtClean="0"/>
              <a:t>,1</a:t>
            </a:r>
            <a:r>
              <a:rPr lang="zh-CN" altLang="en-US" dirty="0" smtClean="0"/>
              <a:t>表示背景</a:t>
            </a:r>
            <a:r>
              <a:rPr lang="en-US" altLang="zh-CN" dirty="0" smtClean="0"/>
              <a:t>),</a:t>
            </a:r>
            <a:r>
              <a:rPr lang="zh-CN" altLang="en-US" dirty="0" smtClean="0"/>
              <a:t>另一个全连接层用于回归目标框的位置。第三步，网络的输入变更为两部分</a:t>
            </a:r>
            <a:r>
              <a:rPr lang="en-US" altLang="zh-CN" dirty="0" smtClean="0"/>
              <a:t>,</a:t>
            </a:r>
            <a:r>
              <a:rPr lang="zh-CN" altLang="en-US" dirty="0" smtClean="0"/>
              <a:t>一部分是图像列表，另一部分是这些图像上的感兴趣区域，即 </a:t>
            </a:r>
            <a:r>
              <a:rPr lang="en-US" altLang="zh-CN" dirty="0" smtClean="0"/>
              <a:t>ROI.</a:t>
            </a:r>
          </a:p>
          <a:p>
            <a:r>
              <a:rPr lang="zh-CN" altLang="en-US" dirty="0" smtClean="0"/>
              <a:t>回顾之前介绍的</a:t>
            </a:r>
            <a:r>
              <a:rPr lang="en-US" altLang="zh-CN" dirty="0" smtClean="0"/>
              <a:t>SPP-Net</a:t>
            </a:r>
            <a:r>
              <a:rPr lang="zh-CN" altLang="en-US" dirty="0" smtClean="0"/>
              <a:t>算法，在训练调优阶段，</a:t>
            </a:r>
            <a:r>
              <a:rPr lang="en-US" altLang="zh-CN" dirty="0" smtClean="0"/>
              <a:t>SPP</a:t>
            </a:r>
            <a:r>
              <a:rPr lang="zh-CN" altLang="en-US" dirty="0" smtClean="0"/>
              <a:t>层之前的网络参数在实际训练的过程中是不进行更新的。其中一个根本原因是，如果更新全部参数，计算的代价会非常高。根据</a:t>
            </a:r>
            <a:r>
              <a:rPr lang="en-US" altLang="zh-CN" dirty="0" smtClean="0"/>
              <a:t>SPP-Net</a:t>
            </a:r>
            <a:r>
              <a:rPr lang="zh-CN" altLang="en-US" dirty="0" smtClean="0"/>
              <a:t>算法，一个批次的</a:t>
            </a:r>
            <a:r>
              <a:rPr lang="en-US" altLang="zh-CN" dirty="0" smtClean="0"/>
              <a:t>ROI</a:t>
            </a:r>
            <a:r>
              <a:rPr lang="zh-CN" altLang="en-US" dirty="0" smtClean="0"/>
              <a:t>图像可能来自不同的原始图像，这些图像卷积计算的特征图是无法共享的（但同一张图像卷积计算的特征图可以共享）。另外，在</a:t>
            </a:r>
            <a:r>
              <a:rPr lang="en-US" altLang="zh-CN" dirty="0" smtClean="0"/>
              <a:t>SPP</a:t>
            </a:r>
            <a:r>
              <a:rPr lang="zh-CN" altLang="en-US" dirty="0" smtClean="0"/>
              <a:t>层的特征图上，每个点对应原图的感受野都非常大，对于较深的卷积结构，几乎覆盖了整个原图，使得每次迭代进行前向推理时都需要分别在多个图像上进行卷积计算，效率十分的低。而</a:t>
            </a:r>
            <a:r>
              <a:rPr lang="en-US" altLang="zh-CN" dirty="0" smtClean="0"/>
              <a:t>R-CNN</a:t>
            </a:r>
            <a:r>
              <a:rPr lang="zh-CN" altLang="en-US" dirty="0" smtClean="0"/>
              <a:t>的作者设计了一套独特的训练方法。</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322360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R-CNN</a:t>
            </a:r>
            <a:r>
              <a:rPr lang="zh-CN" altLang="en-US" dirty="0" smtClean="0"/>
              <a:t>在训练过程中，假设每次迭代输入</a:t>
            </a:r>
            <a:r>
              <a:rPr lang="en-US" altLang="zh-CN" dirty="0" smtClean="0"/>
              <a:t>ROI</a:t>
            </a:r>
            <a:r>
              <a:rPr lang="zh-CN" altLang="en-US" dirty="0" smtClean="0"/>
              <a:t>图像的个数是</a:t>
            </a:r>
            <a:r>
              <a:rPr lang="en-US" altLang="zh-CN" dirty="0" smtClean="0"/>
              <a:t>R(batch size=R)</a:t>
            </a:r>
            <a:r>
              <a:rPr lang="zh-CN" altLang="en-US" dirty="0" smtClean="0"/>
              <a:t>，这</a:t>
            </a:r>
            <a:r>
              <a:rPr lang="en-US" altLang="zh-CN" dirty="0" smtClean="0"/>
              <a:t>R</a:t>
            </a:r>
            <a:r>
              <a:rPr lang="zh-CN" altLang="en-US" dirty="0" smtClean="0"/>
              <a:t>个</a:t>
            </a:r>
            <a:r>
              <a:rPr lang="en-US" altLang="zh-CN" dirty="0" smtClean="0"/>
              <a:t>ROI</a:t>
            </a:r>
            <a:r>
              <a:rPr lang="zh-CN" altLang="en-US" dirty="0" smtClean="0"/>
              <a:t>来自固定数量的</a:t>
            </a:r>
            <a:r>
              <a:rPr lang="en-US" altLang="zh-CN" dirty="0" smtClean="0"/>
              <a:t>N</a:t>
            </a:r>
            <a:r>
              <a:rPr lang="zh-CN" altLang="en-US" dirty="0" smtClean="0"/>
              <a:t>张图像，每张图像包含</a:t>
            </a:r>
            <a:r>
              <a:rPr lang="en-US" altLang="zh-CN" dirty="0" smtClean="0"/>
              <a:t>R/N</a:t>
            </a:r>
            <a:r>
              <a:rPr lang="zh-CN" altLang="en-US" dirty="0" smtClean="0"/>
              <a:t>个</a:t>
            </a:r>
            <a:r>
              <a:rPr lang="en-US" altLang="zh-CN" dirty="0" smtClean="0"/>
              <a:t>ROI</a:t>
            </a:r>
            <a:r>
              <a:rPr lang="zh-CN" altLang="en-US" dirty="0" smtClean="0"/>
              <a:t>，因为同一张图像各个</a:t>
            </a:r>
            <a:r>
              <a:rPr lang="en-US" altLang="zh-CN" dirty="0" smtClean="0"/>
              <a:t>ROI</a:t>
            </a:r>
            <a:r>
              <a:rPr lang="zh-CN" altLang="en-US" dirty="0" smtClean="0"/>
              <a:t>能共享卷积计算结果，所以可以通过减少</a:t>
            </a:r>
            <a:r>
              <a:rPr lang="en-US" altLang="zh-CN" dirty="0" smtClean="0"/>
              <a:t>N</a:t>
            </a:r>
            <a:r>
              <a:rPr lang="zh-CN" altLang="en-US" dirty="0" smtClean="0"/>
              <a:t>的数量来提升计算效率。不过，如果所有</a:t>
            </a:r>
            <a:r>
              <a:rPr lang="en-US" altLang="zh-CN" dirty="0" smtClean="0"/>
              <a:t>ROI</a:t>
            </a:r>
            <a:r>
              <a:rPr lang="zh-CN" altLang="en-US" dirty="0" smtClean="0"/>
              <a:t>均来自同一张原始图像，各个</a:t>
            </a:r>
            <a:r>
              <a:rPr lang="en-US" altLang="zh-CN" dirty="0" smtClean="0"/>
              <a:t>ROI</a:t>
            </a:r>
            <a:r>
              <a:rPr lang="zh-CN" altLang="en-US" dirty="0" smtClean="0"/>
              <a:t>的相关度会过高，不利于模型收敛，在计算效率和模型收敛效率之间需要找到一个平衡点。在实际训练过程中，通常选取</a:t>
            </a:r>
            <a:r>
              <a:rPr lang="en-US" altLang="zh-CN" dirty="0" smtClean="0"/>
              <a:t>N=2</a:t>
            </a:r>
            <a:r>
              <a:rPr lang="zh-CN" altLang="en-US" dirty="0" smtClean="0"/>
              <a:t>，</a:t>
            </a:r>
            <a:r>
              <a:rPr lang="en-US" altLang="zh-CN" dirty="0" smtClean="0"/>
              <a:t>R=128</a:t>
            </a:r>
            <a:r>
              <a:rPr lang="zh-CN" altLang="en-US" dirty="0" smtClean="0"/>
              <a:t>。这意味着在训练时，每个批次选取</a:t>
            </a:r>
            <a:r>
              <a:rPr lang="en-US" altLang="zh-CN" dirty="0" smtClean="0"/>
              <a:t>2</a:t>
            </a:r>
            <a:r>
              <a:rPr lang="zh-CN" altLang="en-US" dirty="0" smtClean="0"/>
              <a:t>张图像，每张图像上再分别选取</a:t>
            </a:r>
            <a:r>
              <a:rPr lang="en-US" altLang="zh-CN" dirty="0" smtClean="0"/>
              <a:t>64</a:t>
            </a:r>
            <a:r>
              <a:rPr lang="zh-CN" altLang="en-US" dirty="0" smtClean="0"/>
              <a:t>个</a:t>
            </a:r>
            <a:r>
              <a:rPr lang="en-US" altLang="zh-CN" dirty="0" smtClean="0"/>
              <a:t>ROI</a:t>
            </a:r>
            <a:r>
              <a:rPr lang="zh-CN" altLang="en-US" dirty="0" smtClean="0"/>
              <a:t>作为输入进行计算。通过这样的方式，每次迭代的计算速度大致是分别从</a:t>
            </a:r>
            <a:r>
              <a:rPr lang="en-US" altLang="zh-CN" dirty="0" smtClean="0"/>
              <a:t>128</a:t>
            </a:r>
            <a:r>
              <a:rPr lang="zh-CN" altLang="en-US" dirty="0" smtClean="0"/>
              <a:t>张不同图像上选取</a:t>
            </a:r>
            <a:r>
              <a:rPr lang="en-US" altLang="zh-CN" dirty="0" smtClean="0"/>
              <a:t>ROI</a:t>
            </a:r>
            <a:r>
              <a:rPr lang="zh-CN" altLang="en-US" dirty="0" smtClean="0"/>
              <a:t>计算速度的</a:t>
            </a:r>
            <a:r>
              <a:rPr lang="en-US" altLang="zh-CN" dirty="0" smtClean="0"/>
              <a:t>64</a:t>
            </a:r>
            <a:r>
              <a:rPr lang="zh-CN" altLang="en-US" dirty="0" smtClean="0"/>
              <a:t>倍。</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42805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smtClean="0"/>
                  <a:t>Fast R-CNN</a:t>
                </a:r>
                <a:r>
                  <a:rPr lang="zh-CN" altLang="en-US" dirty="0" smtClean="0"/>
                  <a:t>另一个明显的改进是采用了多任务策略。</a:t>
                </a:r>
                <a:r>
                  <a:rPr lang="en-US" altLang="zh-CN" dirty="0" smtClean="0"/>
                  <a:t>Fast</a:t>
                </a:r>
                <a:r>
                  <a:rPr lang="en-US" altLang="zh-CN" baseline="0" dirty="0" smtClean="0"/>
                  <a:t> R-CNN</a:t>
                </a:r>
                <a:r>
                  <a:rPr lang="zh-CN" altLang="en-US" baseline="0" dirty="0" smtClean="0"/>
                  <a:t>网络有两个并行的输出分支，对于每个</a:t>
                </a:r>
                <a:r>
                  <a:rPr lang="en-US" altLang="zh-CN" baseline="0" dirty="0" smtClean="0"/>
                  <a:t>ROI</a:t>
                </a:r>
                <a:r>
                  <a:rPr lang="zh-CN" altLang="en-US" baseline="0" dirty="0" smtClean="0"/>
                  <a:t>，第一个分支计算</a:t>
                </a:r>
                <a:r>
                  <a:rPr lang="en-US" altLang="zh-CN" baseline="0" dirty="0" smtClean="0"/>
                  <a:t>k</a:t>
                </a:r>
                <a:r>
                  <a:rPr lang="zh-CN" altLang="en-US" baseline="0" dirty="0" smtClean="0"/>
                  <a:t>个目标类别</a:t>
                </a:r>
                <a:r>
                  <a:rPr lang="en-US" altLang="zh-CN" baseline="0" dirty="0" smtClean="0"/>
                  <a:t>+1</a:t>
                </a:r>
                <a:r>
                  <a:rPr lang="zh-CN" altLang="en-US" baseline="0" dirty="0" smtClean="0"/>
                  <a:t>个背景类别的分类概率</a:t>
                </a:r>
                <a:r>
                  <a:rPr lang="en-US" altLang="zh-CN" baseline="0" dirty="0" smtClean="0"/>
                  <a:t>P=(p</a:t>
                </a:r>
                <a:r>
                  <a:rPr lang="en-US" altLang="zh-CN" baseline="-25000" dirty="0" smtClean="0"/>
                  <a:t>0</a:t>
                </a:r>
                <a:r>
                  <a:rPr lang="en-US" altLang="zh-CN" baseline="0" dirty="0" smtClean="0"/>
                  <a:t>,p</a:t>
                </a:r>
                <a:r>
                  <a:rPr lang="en-US" altLang="zh-CN" baseline="-25000" dirty="0" smtClean="0"/>
                  <a:t>1</a:t>
                </a:r>
                <a:r>
                  <a:rPr lang="en-US" altLang="zh-CN" baseline="0" dirty="0" smtClean="0"/>
                  <a:t>,···,</a:t>
                </a:r>
                <a:r>
                  <a:rPr lang="en-US" altLang="zh-CN" baseline="0" dirty="0" err="1" smtClean="0"/>
                  <a:t>p</a:t>
                </a:r>
                <a:r>
                  <a:rPr lang="en-US" altLang="zh-CN" baseline="-25000" dirty="0" err="1" smtClean="0"/>
                  <a:t>k</a:t>
                </a:r>
                <a:r>
                  <a:rPr lang="en-US" altLang="zh-CN" baseline="0" dirty="0" smtClean="0"/>
                  <a:t>)</a:t>
                </a:r>
                <a:r>
                  <a:rPr lang="zh-CN" altLang="en-US" baseline="0" dirty="0" smtClean="0"/>
                  <a:t>，这</a:t>
                </a:r>
                <a:r>
                  <a:rPr lang="en-US" altLang="zh-CN" baseline="0" dirty="0" smtClean="0"/>
                  <a:t>k+1</a:t>
                </a:r>
                <a:r>
                  <a:rPr lang="zh-CN" altLang="en-US" baseline="0" dirty="0" smtClean="0"/>
                  <a:t>个分类概率一般是通过在全连接层之后计算</a:t>
                </a:r>
                <a:r>
                  <a:rPr lang="en-US" altLang="zh-CN" baseline="0" dirty="0" err="1" smtClean="0"/>
                  <a:t>softmax</a:t>
                </a:r>
                <a:r>
                  <a:rPr lang="zh-CN" altLang="en-US" baseline="0" dirty="0" smtClean="0"/>
                  <a:t>得到的。第二个输出分支计算候选框归一化的偏移量和缩放尺度（参考</a:t>
                </a:r>
                <a:r>
                  <a:rPr lang="en-US" altLang="zh-CN" baseline="0" dirty="0" smtClean="0"/>
                  <a:t>R-CNN</a:t>
                </a:r>
                <a:r>
                  <a:rPr lang="zh-CN" altLang="en-US" baseline="0" dirty="0" smtClean="0"/>
                  <a:t>介绍）。我们把第</a:t>
                </a:r>
                <a:r>
                  <a:rPr lang="en-US" altLang="zh-CN" baseline="0" dirty="0" smtClean="0"/>
                  <a:t>k</a:t>
                </a:r>
                <a:r>
                  <a:rPr lang="zh-CN" altLang="en-US" baseline="0" dirty="0" smtClean="0"/>
                  <a:t>个类别对应的归一化的偏移量和缩放尺度记为</a:t>
                </a:r>
                <a14:m>
                  <m:oMath xmlns:m="http://schemas.openxmlformats.org/officeDocument/2006/math">
                    <m:sSup>
                      <m:sSupPr>
                        <m:ctrlPr>
                          <a:rPr lang="en-US" altLang="zh-CN" i="1" baseline="0" smtClean="0">
                            <a:latin typeface="Cambria Math" panose="02040503050406030204" pitchFamily="18" charset="0"/>
                          </a:rPr>
                        </m:ctrlPr>
                      </m:sSupPr>
                      <m:e>
                        <m:r>
                          <a:rPr lang="en-US" altLang="zh-CN" b="0" i="1" baseline="0" smtClean="0">
                            <a:latin typeface="Cambria Math" panose="02040503050406030204" pitchFamily="18" charset="0"/>
                          </a:rPr>
                          <m:t>𝑡</m:t>
                        </m:r>
                      </m:e>
                      <m:sup>
                        <m:r>
                          <a:rPr lang="en-US" altLang="zh-CN" b="0" i="1" baseline="0" smtClean="0">
                            <a:latin typeface="Cambria Math" panose="02040503050406030204" pitchFamily="18" charset="0"/>
                          </a:rPr>
                          <m:t>𝑘</m:t>
                        </m:r>
                      </m:sup>
                    </m:sSup>
                    <m:r>
                      <a:rPr lang="en-US" altLang="zh-CN" i="1" baseline="0" smtClean="0">
                        <a:latin typeface="Cambria Math" panose="02040503050406030204" pitchFamily="18" charset="0"/>
                        <a:ea typeface="Cambria Math" panose="02040503050406030204" pitchFamily="18" charset="0"/>
                      </a:rPr>
                      <m:t>=</m:t>
                    </m:r>
                    <m:d>
                      <m:dPr>
                        <m:ctrlPr>
                          <a:rPr lang="en-US" altLang="zh-CN" i="1" baseline="0" smtClean="0">
                            <a:latin typeface="Cambria Math" panose="02040503050406030204" pitchFamily="18" charset="0"/>
                            <a:ea typeface="Cambria Math" panose="02040503050406030204" pitchFamily="18" charset="0"/>
                          </a:rPr>
                        </m:ctrlPr>
                      </m:dPr>
                      <m:e>
                        <m:sSubSup>
                          <m:sSubSupPr>
                            <m:ctrlPr>
                              <a:rPr lang="en-US" altLang="zh-CN" i="1" baseline="0" smtClean="0">
                                <a:latin typeface="Cambria Math" panose="02040503050406030204" pitchFamily="18" charset="0"/>
                                <a:ea typeface="Cambria Math" panose="02040503050406030204" pitchFamily="18" charset="0"/>
                              </a:rPr>
                            </m:ctrlPr>
                          </m:sSubSupPr>
                          <m:e>
                            <m:r>
                              <a:rPr lang="en-US" altLang="zh-CN" b="0" i="1" baseline="0" smtClean="0">
                                <a:latin typeface="Cambria Math" panose="02040503050406030204" pitchFamily="18" charset="0"/>
                                <a:ea typeface="Cambria Math" panose="02040503050406030204" pitchFamily="18" charset="0"/>
                              </a:rPr>
                              <m:t>𝑡</m:t>
                            </m:r>
                          </m:e>
                          <m:sub>
                            <m:r>
                              <a:rPr lang="en-US" altLang="zh-CN" b="0" i="1" baseline="0" smtClean="0">
                                <a:latin typeface="Cambria Math" panose="02040503050406030204" pitchFamily="18" charset="0"/>
                                <a:ea typeface="Cambria Math" panose="02040503050406030204" pitchFamily="18" charset="0"/>
                              </a:rPr>
                              <m:t>𝑥</m:t>
                            </m:r>
                          </m:sub>
                          <m:sup>
                            <m:r>
                              <a:rPr lang="en-US" altLang="zh-CN" b="0" i="1" baseline="0" smtClean="0">
                                <a:latin typeface="Cambria Math" panose="02040503050406030204" pitchFamily="18" charset="0"/>
                                <a:ea typeface="Cambria Math" panose="02040503050406030204" pitchFamily="18" charset="0"/>
                              </a:rPr>
                              <m:t>𝑘</m:t>
                            </m:r>
                          </m:sup>
                        </m:sSubSup>
                        <m:r>
                          <a:rPr lang="en-US" altLang="zh-CN" b="0" i="1" baseline="0" smtClean="0">
                            <a:latin typeface="Cambria Math" panose="02040503050406030204" pitchFamily="18" charset="0"/>
                            <a:ea typeface="Cambria Math" panose="02040503050406030204" pitchFamily="18" charset="0"/>
                          </a:rPr>
                          <m:t>,</m:t>
                        </m:r>
                        <m:sSubSup>
                          <m:sSubSupPr>
                            <m:ctrlPr>
                              <a:rPr lang="en-US" altLang="zh-CN" b="0" i="1" baseline="0" smtClean="0">
                                <a:latin typeface="Cambria Math" panose="02040503050406030204" pitchFamily="18" charset="0"/>
                                <a:ea typeface="Cambria Math" panose="02040503050406030204" pitchFamily="18" charset="0"/>
                              </a:rPr>
                            </m:ctrlPr>
                          </m:sSubSupPr>
                          <m:e>
                            <m:r>
                              <a:rPr lang="en-US" altLang="zh-CN" b="0" i="1" baseline="0" smtClean="0">
                                <a:latin typeface="Cambria Math" panose="02040503050406030204" pitchFamily="18" charset="0"/>
                                <a:ea typeface="Cambria Math" panose="02040503050406030204" pitchFamily="18" charset="0"/>
                              </a:rPr>
                              <m:t>𝑡</m:t>
                            </m:r>
                          </m:e>
                          <m:sub>
                            <m:r>
                              <a:rPr lang="en-US" altLang="zh-CN" b="0" i="1" baseline="0" smtClean="0">
                                <a:latin typeface="Cambria Math" panose="02040503050406030204" pitchFamily="18" charset="0"/>
                                <a:ea typeface="Cambria Math" panose="02040503050406030204" pitchFamily="18" charset="0"/>
                              </a:rPr>
                              <m:t>𝑦</m:t>
                            </m:r>
                          </m:sub>
                          <m:sup>
                            <m:r>
                              <a:rPr lang="en-US" altLang="zh-CN" b="0" i="1" baseline="0" smtClean="0">
                                <a:latin typeface="Cambria Math" panose="02040503050406030204" pitchFamily="18" charset="0"/>
                                <a:ea typeface="Cambria Math" panose="02040503050406030204" pitchFamily="18" charset="0"/>
                              </a:rPr>
                              <m:t>𝑘</m:t>
                            </m:r>
                          </m:sup>
                        </m:sSubSup>
                        <m:r>
                          <a:rPr lang="en-US" altLang="zh-CN" b="0" i="1" baseline="0" smtClean="0">
                            <a:latin typeface="Cambria Math" panose="02040503050406030204" pitchFamily="18" charset="0"/>
                            <a:ea typeface="Cambria Math" panose="02040503050406030204" pitchFamily="18" charset="0"/>
                          </a:rPr>
                          <m:t>,</m:t>
                        </m:r>
                        <m:sSubSup>
                          <m:sSubSupPr>
                            <m:ctrlPr>
                              <a:rPr lang="en-US" altLang="zh-CN" b="0" i="1" baseline="0" smtClean="0">
                                <a:latin typeface="Cambria Math" panose="02040503050406030204" pitchFamily="18" charset="0"/>
                                <a:ea typeface="Cambria Math" panose="02040503050406030204" pitchFamily="18" charset="0"/>
                              </a:rPr>
                            </m:ctrlPr>
                          </m:sSubSupPr>
                          <m:e>
                            <m:r>
                              <a:rPr lang="en-US" altLang="zh-CN" b="0" i="1" baseline="0" smtClean="0">
                                <a:latin typeface="Cambria Math" panose="02040503050406030204" pitchFamily="18" charset="0"/>
                                <a:ea typeface="Cambria Math" panose="02040503050406030204" pitchFamily="18" charset="0"/>
                              </a:rPr>
                              <m:t>𝑡</m:t>
                            </m:r>
                          </m:e>
                          <m:sub>
                            <m:r>
                              <a:rPr lang="en-US" altLang="zh-CN" b="0" i="1" baseline="0" smtClean="0">
                                <a:latin typeface="Cambria Math" panose="02040503050406030204" pitchFamily="18" charset="0"/>
                                <a:ea typeface="Cambria Math" panose="02040503050406030204" pitchFamily="18" charset="0"/>
                              </a:rPr>
                              <m:t>𝑤</m:t>
                            </m:r>
                          </m:sub>
                          <m:sup>
                            <m:r>
                              <a:rPr lang="en-US" altLang="zh-CN" b="0" i="1" baseline="0" smtClean="0">
                                <a:latin typeface="Cambria Math" panose="02040503050406030204" pitchFamily="18" charset="0"/>
                                <a:ea typeface="Cambria Math" panose="02040503050406030204" pitchFamily="18" charset="0"/>
                              </a:rPr>
                              <m:t>𝑘</m:t>
                            </m:r>
                          </m:sup>
                        </m:sSubSup>
                        <m:r>
                          <a:rPr lang="en-US" altLang="zh-CN" b="0" i="1" baseline="0" smtClean="0">
                            <a:latin typeface="Cambria Math" panose="02040503050406030204" pitchFamily="18" charset="0"/>
                            <a:ea typeface="Cambria Math" panose="02040503050406030204" pitchFamily="18" charset="0"/>
                          </a:rPr>
                          <m:t>,</m:t>
                        </m:r>
                        <m:sSubSup>
                          <m:sSubSupPr>
                            <m:ctrlPr>
                              <a:rPr lang="en-US" altLang="zh-CN" b="0" i="1" baseline="0" smtClean="0">
                                <a:latin typeface="Cambria Math" panose="02040503050406030204" pitchFamily="18" charset="0"/>
                                <a:ea typeface="Cambria Math" panose="02040503050406030204" pitchFamily="18" charset="0"/>
                              </a:rPr>
                            </m:ctrlPr>
                          </m:sSubSupPr>
                          <m:e>
                            <m:r>
                              <a:rPr lang="en-US" altLang="zh-CN" b="0" i="1" baseline="0" smtClean="0">
                                <a:latin typeface="Cambria Math" panose="02040503050406030204" pitchFamily="18" charset="0"/>
                                <a:ea typeface="Cambria Math" panose="02040503050406030204" pitchFamily="18" charset="0"/>
                              </a:rPr>
                              <m:t>𝑡</m:t>
                            </m:r>
                          </m:e>
                          <m:sub>
                            <m:r>
                              <a:rPr lang="en-US" altLang="zh-CN" b="0" i="1" baseline="0" smtClean="0">
                                <a:latin typeface="Cambria Math" panose="02040503050406030204" pitchFamily="18" charset="0"/>
                                <a:ea typeface="Cambria Math" panose="02040503050406030204" pitchFamily="18" charset="0"/>
                              </a:rPr>
                              <m:t>h</m:t>
                            </m:r>
                          </m:sub>
                          <m:sup>
                            <m:r>
                              <a:rPr lang="en-US" altLang="zh-CN" b="0" i="1" baseline="0" smtClean="0">
                                <a:latin typeface="Cambria Math" panose="02040503050406030204" pitchFamily="18" charset="0"/>
                                <a:ea typeface="Cambria Math" panose="02040503050406030204" pitchFamily="18" charset="0"/>
                              </a:rPr>
                              <m:t>𝑘</m:t>
                            </m:r>
                          </m:sup>
                        </m:sSubSup>
                      </m:e>
                    </m:d>
                  </m:oMath>
                </a14:m>
                <a:r>
                  <a:rPr lang="en-US" altLang="zh-CN" dirty="0" smtClean="0"/>
                  <a:t>,</a:t>
                </a:r>
                <a:r>
                  <a:rPr lang="zh-CN" altLang="en-US" dirty="0" smtClean="0"/>
                  <a:t>对于每个</a:t>
                </a:r>
                <a:r>
                  <a:rPr lang="en-US" altLang="zh-CN" dirty="0" smtClean="0"/>
                  <a:t>ROI</a:t>
                </a:r>
                <a:r>
                  <a:rPr lang="zh-CN" altLang="en-US" dirty="0" smtClean="0"/>
                  <a:t>，通过下面的公式计算分类和位置回归的联合损失。</a:t>
                </a:r>
                <a14:m>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b="0" i="1" smtClean="0">
                                <a:latin typeface="Cambria Math" panose="02040503050406030204" pitchFamily="18" charset="0"/>
                              </a:rPr>
                              <m:t>𝑢</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d>
                    <m:r>
                      <a:rPr lang="en-US" altLang="zh-CN" i="1">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𝑐𝑙𝑠</m:t>
                        </m:r>
                      </m:sub>
                    </m:sSub>
                    <m:d>
                      <m:dPr>
                        <m:ctrlPr>
                          <a:rPr lang="en-US"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e>
                    </m:d>
                    <m:r>
                      <a:rPr lang="en-US" altLang="zh-CN" i="1" smtClean="0">
                        <a:latin typeface="Cambria Math" panose="02040503050406030204" pitchFamily="18" charset="0"/>
                        <a:ea typeface="Cambria Math" panose="02040503050406030204" pitchFamily="18" charset="0"/>
                      </a:rPr>
                      <m:t>+</m:t>
                    </m:r>
                    <m:r>
                      <a:rPr lang="el-GR" altLang="zh-CN" i="1">
                        <a:latin typeface="Cambria Math" panose="02040503050406030204" pitchFamily="18" charset="0"/>
                        <a:ea typeface="Cambria Math" panose="02040503050406030204" pitchFamily="18" charset="0"/>
                      </a:rPr>
                      <m:t>𝜆</m:t>
                    </m:r>
                    <m:d>
                      <m:dPr>
                        <m:begChr m:val="["/>
                        <m:endChr m:val="]"/>
                        <m:ctrlPr>
                          <a:rPr lang="el-GR"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𝑢</m:t>
                        </m:r>
                        <m:r>
                          <a:rPr lang="en-US" altLang="zh-CN" b="0" i="1" smtClean="0">
                            <a:latin typeface="Cambria Math" panose="02040503050406030204" pitchFamily="18" charset="0"/>
                            <a:ea typeface="Cambria Math" panose="02040503050406030204" pitchFamily="18" charset="0"/>
                          </a:rPr>
                          <m:t>≥1</m:t>
                        </m:r>
                      </m:e>
                    </m:d>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m:rPr>
                            <m:sty m:val="p"/>
                          </m:rPr>
                          <a:rPr lang="en-US" altLang="zh-CN" i="1">
                            <a:latin typeface="Cambria Math" panose="02040503050406030204" pitchFamily="18" charset="0"/>
                            <a:ea typeface="Cambria Math" panose="02040503050406030204" pitchFamily="18" charset="0"/>
                          </a:rPr>
                          <m:t>loc</m:t>
                        </m:r>
                      </m:sub>
                    </m:sSub>
                    <m:d>
                      <m:dPr>
                        <m:ctrlPr>
                          <a:rPr lang="el-GR" altLang="zh-CN" i="1" smtClean="0">
                            <a:latin typeface="Cambria Math" panose="02040503050406030204" pitchFamily="18" charset="0"/>
                            <a:ea typeface="Cambria Math" panose="02040503050406030204" pitchFamily="18" charset="0"/>
                          </a:rPr>
                        </m:ctrlPr>
                      </m:dPr>
                      <m:e>
                        <m:sSup>
                          <m:sSupPr>
                            <m:ctrlPr>
                              <a:rPr lang="el-GR"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𝑡</m:t>
                            </m:r>
                          </m:e>
                          <m:sup>
                            <m:r>
                              <a:rPr lang="en-US" altLang="zh-CN" b="0" i="1" smtClean="0">
                                <a:latin typeface="Cambria Math" panose="02040503050406030204" pitchFamily="18" charset="0"/>
                                <a:ea typeface="Cambria Math" panose="02040503050406030204" pitchFamily="18" charset="0"/>
                              </a:rPr>
                              <m:t>𝑢</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𝑣</m:t>
                        </m:r>
                      </m:e>
                    </m:d>
                  </m:oMath>
                </a14:m>
                <a:endParaRPr lang="en-US" altLang="zh-CN" dirty="0" smtClean="0"/>
              </a:p>
              <a:p>
                <a:r>
                  <a:rPr lang="zh-CN" altLang="en-US" dirty="0" smtClean="0"/>
                  <a:t>其中分类损失</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𝑐𝑙𝑠</m:t>
                        </m:r>
                      </m:sub>
                    </m:sSub>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𝑢</m:t>
                            </m:r>
                          </m:sub>
                        </m:sSub>
                      </m:e>
                    </m:func>
                  </m:oMath>
                </a14:m>
                <a:r>
                  <a:rPr lang="zh-CN" altLang="en-US" dirty="0" smtClean="0"/>
                  <a:t>。</a:t>
                </a:r>
                <a:endParaRPr lang="en-US" altLang="zh-CN" dirty="0" smtClean="0"/>
              </a:p>
              <a:p>
                <a:r>
                  <a:rPr lang="zh-CN" altLang="en-US" dirty="0" smtClean="0"/>
                  <a:t>这里</a:t>
                </a:r>
                <a:r>
                  <a:rPr lang="en-US" altLang="zh-CN" dirty="0" smtClean="0"/>
                  <a:t>u</a:t>
                </a:r>
                <a:r>
                  <a:rPr lang="zh-CN" altLang="en-US" dirty="0" smtClean="0"/>
                  <a:t>表示真实的类别，位置损失</a:t>
                </a:r>
                <a14:m>
                  <m:oMath xmlns:m="http://schemas.openxmlformats.org/officeDocument/2006/math">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m:rPr>
                            <m:sty m:val="p"/>
                          </m:rPr>
                          <a:rPr lang="en-US" altLang="zh-CN" i="1">
                            <a:latin typeface="Cambria Math" panose="02040503050406030204" pitchFamily="18" charset="0"/>
                            <a:ea typeface="Cambria Math" panose="02040503050406030204" pitchFamily="18" charset="0"/>
                          </a:rPr>
                          <m:t>loc</m:t>
                        </m:r>
                      </m:sub>
                    </m:sSub>
                    <m:d>
                      <m:dPr>
                        <m:ctrlPr>
                          <a:rPr lang="el-GR" altLang="zh-CN" i="1" smtClean="0">
                            <a:latin typeface="Cambria Math" panose="02040503050406030204" pitchFamily="18" charset="0"/>
                            <a:ea typeface="Cambria Math" panose="02040503050406030204" pitchFamily="18" charset="0"/>
                          </a:rPr>
                        </m:ctrlPr>
                      </m:dPr>
                      <m:e>
                        <m:sSup>
                          <m:sSupPr>
                            <m:ctrlPr>
                              <a:rPr lang="el-GR"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𝑡</m:t>
                            </m:r>
                          </m:e>
                          <m:sup>
                            <m:r>
                              <a:rPr lang="en-US" altLang="zh-CN" b="0" i="1" smtClean="0">
                                <a:latin typeface="Cambria Math" panose="02040503050406030204" pitchFamily="18" charset="0"/>
                                <a:ea typeface="Cambria Math" panose="02040503050406030204" pitchFamily="18" charset="0"/>
                              </a:rPr>
                              <m:t>𝑢</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𝑣</m:t>
                        </m:r>
                      </m:e>
                    </m:d>
                  </m:oMath>
                </a14:m>
                <a:r>
                  <a:rPr lang="zh-CN" altLang="en-US" dirty="0" smtClean="0"/>
                  <a:t>表示对于类别</a:t>
                </a:r>
                <a:r>
                  <a:rPr lang="en-US" altLang="zh-CN" dirty="0" smtClean="0"/>
                  <a:t>u,</a:t>
                </a:r>
                <a:r>
                  <a:rPr lang="zh-CN" altLang="en-US" dirty="0" smtClean="0"/>
                  <a:t>真实的归一化偏移量及缩放尺度元组</a:t>
                </a:r>
                <a:r>
                  <a:rPr lang="en-US" altLang="zh-CN" dirty="0" smtClean="0"/>
                  <a:t>(</a:t>
                </a:r>
                <a:r>
                  <a:rPr lang="en-US" altLang="zh-CN" dirty="0" err="1" smtClean="0"/>
                  <a:t>v</a:t>
                </a:r>
                <a:r>
                  <a:rPr lang="en-US" altLang="zh-CN" baseline="-25000" dirty="0" err="1" smtClean="0"/>
                  <a:t>x</a:t>
                </a:r>
                <a:r>
                  <a:rPr lang="en-US" altLang="zh-CN" dirty="0" err="1" smtClean="0"/>
                  <a:t>,v</a:t>
                </a:r>
                <a:r>
                  <a:rPr lang="en-US" altLang="zh-CN" baseline="-25000" dirty="0" err="1" smtClean="0"/>
                  <a:t>y</a:t>
                </a:r>
                <a:r>
                  <a:rPr lang="en-US" altLang="zh-CN" dirty="0" err="1" smtClean="0"/>
                  <a:t>,v</a:t>
                </a:r>
                <a:r>
                  <a:rPr lang="en-US" altLang="zh-CN" baseline="-25000" dirty="0" err="1" smtClean="0"/>
                  <a:t>w</a:t>
                </a:r>
                <a:r>
                  <a:rPr lang="en-US" altLang="zh-CN" dirty="0" err="1" smtClean="0"/>
                  <a:t>,v</a:t>
                </a:r>
                <a:r>
                  <a:rPr lang="en-US" altLang="zh-CN" baseline="-25000" dirty="0" err="1" smtClean="0"/>
                  <a:t>h</a:t>
                </a:r>
                <a:r>
                  <a:rPr lang="en-US" altLang="zh-CN" dirty="0" smtClean="0"/>
                  <a:t>)</a:t>
                </a:r>
                <a:r>
                  <a:rPr lang="zh-CN" altLang="en-US" dirty="0" smtClean="0"/>
                  <a:t>与实际预测的归一化偏移量和缩放尺度元组</a:t>
                </a:r>
                <a14:m>
                  <m:oMath xmlns:m="http://schemas.openxmlformats.org/officeDocument/2006/math">
                    <m:d>
                      <m:dPr>
                        <m:ctrlPr>
                          <a:rPr lang="en-US" altLang="zh-CN" i="1" smtClean="0">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𝑥</m:t>
                            </m:r>
                          </m:sub>
                          <m:sup>
                            <m:r>
                              <a:rPr lang="en-US" altLang="zh-CN" b="0" i="1" smtClean="0">
                                <a:latin typeface="Cambria Math" panose="02040503050406030204" pitchFamily="18" charset="0"/>
                                <a:ea typeface="Cambria Math" panose="02040503050406030204" pitchFamily="18" charset="0"/>
                              </a:rPr>
                              <m:t>𝑢</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𝑦</m:t>
                            </m:r>
                          </m:sub>
                          <m:sup>
                            <m:r>
                              <a:rPr lang="en-US" altLang="zh-CN" b="0" i="1" smtClean="0">
                                <a:latin typeface="Cambria Math" panose="02040503050406030204" pitchFamily="18" charset="0"/>
                                <a:ea typeface="Cambria Math" panose="02040503050406030204" pitchFamily="18" charset="0"/>
                              </a:rPr>
                              <m:t>𝑢</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𝑤</m:t>
                            </m:r>
                          </m:sub>
                          <m:sup>
                            <m:r>
                              <a:rPr lang="en-US" altLang="zh-CN" b="0" i="1" smtClean="0">
                                <a:latin typeface="Cambria Math" panose="02040503050406030204" pitchFamily="18" charset="0"/>
                                <a:ea typeface="Cambria Math" panose="02040503050406030204" pitchFamily="18" charset="0"/>
                              </a:rPr>
                              <m:t>𝑢</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h</m:t>
                            </m:r>
                          </m:sub>
                          <m:sup>
                            <m:r>
                              <a:rPr lang="en-US" altLang="zh-CN" b="0" i="1" smtClean="0">
                                <a:latin typeface="Cambria Math" panose="02040503050406030204" pitchFamily="18" charset="0"/>
                                <a:ea typeface="Cambria Math" panose="02040503050406030204" pitchFamily="18" charset="0"/>
                              </a:rPr>
                              <m:t>𝑢</m:t>
                            </m:r>
                          </m:sup>
                        </m:sSubSup>
                      </m:e>
                    </m:d>
                  </m:oMath>
                </a14:m>
                <a:r>
                  <a:rPr lang="zh-CN" altLang="en-US" dirty="0" smtClean="0"/>
                  <a:t>之间的差异，通常可以用两个元组之间的</a:t>
                </a:r>
                <a:r>
                  <a:rPr lang="en-US" altLang="zh-CN" dirty="0" smtClean="0"/>
                  <a:t>L1</a:t>
                </a:r>
                <a:r>
                  <a:rPr lang="zh-CN" altLang="en-US" dirty="0" smtClean="0"/>
                  <a:t>距离或</a:t>
                </a:r>
                <a:r>
                  <a:rPr lang="en-US" altLang="zh-CN" dirty="0" smtClean="0"/>
                  <a:t>L2</a:t>
                </a:r>
                <a:r>
                  <a:rPr lang="zh-CN" altLang="en-US" dirty="0" smtClean="0"/>
                  <a:t>距离（曼哈顿距离或欧式距离）来度量。</a:t>
                </a:r>
                <a:r>
                  <a:rPr lang="en-US" altLang="zh-CN" dirty="0" smtClean="0"/>
                  <a:t>Fast R-CNN</a:t>
                </a:r>
                <a:r>
                  <a:rPr lang="zh-CN" altLang="en-US" dirty="0" smtClean="0"/>
                  <a:t>作者使用了一种介于</a:t>
                </a:r>
                <a:r>
                  <a:rPr lang="en-US" altLang="zh-CN" dirty="0" smtClean="0"/>
                  <a:t>L1</a:t>
                </a:r>
                <a:r>
                  <a:rPr lang="zh-CN" altLang="en-US" dirty="0" smtClean="0"/>
                  <a:t>距离和</a:t>
                </a:r>
                <a:r>
                  <a:rPr lang="en-US" altLang="zh-CN" dirty="0" smtClean="0"/>
                  <a:t>L2</a:t>
                </a:r>
                <a:r>
                  <a:rPr lang="zh-CN" altLang="en-US" dirty="0" smtClean="0"/>
                  <a:t>距离之间的度量方法。</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联合损失函数计算公式中的</a:t>
                </a:r>
                <a14:m>
                  <m:oMath xmlns:m="http://schemas.openxmlformats.org/officeDocument/2006/math">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e>
                    </m:d>
                    <m:r>
                      <a:rPr lang="zh-CN" altLang="en-US" i="1">
                        <a:latin typeface="Cambria Math" panose="02040503050406030204" pitchFamily="18" charset="0"/>
                      </a:rPr>
                      <m:t>是</m:t>
                    </m:r>
                  </m:oMath>
                </a14:m>
                <a:r>
                  <a:rPr lang="zh-CN" altLang="en-US" dirty="0" smtClean="0"/>
                  <a:t>示性函数，</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𝑡𝑟𝑢𝑒</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=1;</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𝑓𝑎𝑙𝑠𝑒</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=0</m:t>
                    </m:r>
                    <m:r>
                      <a:rPr lang="zh-CN" altLang="en-US" b="0" i="1" smtClean="0">
                        <a:latin typeface="Cambria Math" panose="02040503050406030204" pitchFamily="18" charset="0"/>
                      </a:rPr>
                      <m:t>。因此</m:t>
                    </m:r>
                  </m:oMath>
                </a14:m>
                <a:r>
                  <a:rPr lang="zh-CN" altLang="en-US" dirty="0" smtClean="0"/>
                  <a:t>，当</a:t>
                </a:r>
                <a:r>
                  <a:rPr lang="en-US" altLang="zh-CN" dirty="0" smtClean="0"/>
                  <a:t>u</a:t>
                </a:r>
                <a:r>
                  <a:rPr lang="zh-CN" altLang="en-US" dirty="0" smtClean="0"/>
                  <a:t>是目标类别时，</a:t>
                </a:r>
                <a:r>
                  <a:rPr lang="en-US" altLang="zh-CN" dirty="0" smtClean="0"/>
                  <a:t>u</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m:t>
                    </m:r>
                  </m:oMath>
                </a14:m>
                <a:r>
                  <a:rPr lang="en-US" altLang="zh-CN" dirty="0" smtClean="0"/>
                  <a:t>1</a:t>
                </a:r>
                <a:r>
                  <a:rPr lang="zh-CN" altLang="en-US" dirty="0" smtClean="0"/>
                  <a:t>取值为</a:t>
                </a:r>
                <a:r>
                  <a:rPr lang="en-US" altLang="zh-CN" dirty="0" smtClean="0"/>
                  <a:t>true</a:t>
                </a:r>
                <a:r>
                  <a:rPr lang="zh-CN" altLang="en-US" dirty="0" smtClean="0"/>
                  <a:t>，</a:t>
                </a:r>
                <a:r>
                  <a:rPr lang="en-US" altLang="zh-CN" dirty="0" smtClean="0"/>
                  <a:t>[*]=1,</a:t>
                </a:r>
                <a:r>
                  <a:rPr lang="zh-CN" altLang="en-US" dirty="0" smtClean="0"/>
                  <a:t>损失函数由分类损失和位置损失两者构成，当</a:t>
                </a:r>
                <a:r>
                  <a:rPr lang="en-US" altLang="zh-CN" dirty="0" smtClean="0"/>
                  <a:t>u</a:t>
                </a:r>
                <a:r>
                  <a:rPr lang="zh-CN" altLang="en-US" dirty="0" smtClean="0"/>
                  <a:t>是背景时，</a:t>
                </a:r>
                <a:r>
                  <a:rPr lang="en-US" altLang="zh-CN" dirty="0" smtClean="0"/>
                  <a:t>u</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m:t>
                    </m:r>
                  </m:oMath>
                </a14:m>
                <a:r>
                  <a:rPr lang="en-US" altLang="zh-CN" dirty="0" smtClean="0"/>
                  <a:t>1</a:t>
                </a:r>
                <a:r>
                  <a:rPr lang="zh-CN" altLang="en-US" dirty="0" smtClean="0"/>
                  <a:t>取值为</a:t>
                </a:r>
                <a:r>
                  <a:rPr lang="en-US" altLang="zh-CN" dirty="0" smtClean="0"/>
                  <a:t>false</a:t>
                </a:r>
                <a:r>
                  <a:rPr lang="zh-CN" altLang="en-US" dirty="0" smtClean="0"/>
                  <a:t>，</a:t>
                </a:r>
                <a:r>
                  <a:rPr lang="en-US" altLang="zh-CN" dirty="0" smtClean="0"/>
                  <a:t>[*]=0</a:t>
                </a:r>
                <a:r>
                  <a:rPr lang="zh-CN" altLang="en-US" dirty="0" smtClean="0"/>
                  <a:t>，损失函数仅由分类损失构成。计算公式中的</a:t>
                </a:r>
                <a14:m>
                  <m:oMath xmlns:m="http://schemas.openxmlformats.org/officeDocument/2006/math">
                    <m:r>
                      <a:rPr lang="el-GR" altLang="zh-CN" i="1" smtClean="0">
                        <a:latin typeface="Cambria Math" panose="02040503050406030204" pitchFamily="18" charset="0"/>
                        <a:ea typeface="Cambria Math" panose="02040503050406030204" pitchFamily="18" charset="0"/>
                      </a:rPr>
                      <m:t>𝜆</m:t>
                    </m:r>
                  </m:oMath>
                </a14:m>
                <a:r>
                  <a:rPr lang="zh-CN" altLang="en-US" dirty="0" smtClean="0"/>
                  <a:t>是一个权重因子，用于调节分类损失和位置损失的比例，通常情况下取</a:t>
                </a:r>
                <a14:m>
                  <m:oMath xmlns:m="http://schemas.openxmlformats.org/officeDocument/2006/math">
                    <m:r>
                      <a:rPr lang="el-GR" altLang="zh-CN" i="1" smtClean="0">
                        <a:latin typeface="Cambria Math" panose="02040503050406030204" pitchFamily="18" charset="0"/>
                        <a:ea typeface="Cambria Math" panose="02040503050406030204" pitchFamily="18" charset="0"/>
                      </a:rPr>
                      <m:t>𝜆</m:t>
                    </m:r>
                  </m:oMath>
                </a14:m>
                <a:r>
                  <a:rPr lang="en-US" altLang="zh-CN" dirty="0" smtClean="0"/>
                  <a:t>=1</a:t>
                </a:r>
                <a:r>
                  <a:rPr lang="zh-CN" altLang="en-US" dirty="0" smtClean="0"/>
                  <a:t>，即二者等比例相加。</a:t>
                </a:r>
                <a:endParaRPr lang="zh-CN" altLang="en-US" dirty="0"/>
              </a:p>
              <a:p>
                <a:endParaRPr lang="zh-CN" altLang="en-US" dirty="0"/>
              </a:p>
            </p:txBody>
          </p:sp>
        </mc:Choice>
        <mc:Fallback xmlns="">
          <p:sp>
            <p:nvSpPr>
              <p:cNvPr id="3" name="备注占位符 2"/>
              <p:cNvSpPr>
                <a:spLocks noGrp="1"/>
              </p:cNvSpPr>
              <p:nvPr>
                <p:ph type="body" idx="1"/>
              </p:nvPr>
            </p:nvSpPr>
            <p:spPr/>
            <p:txBody>
              <a:bodyPr/>
              <a:lstStyle/>
              <a:p>
                <a:r>
                  <a:rPr lang="en-US" altLang="zh-CN" dirty="0" smtClean="0"/>
                  <a:t>Fast R-CNN</a:t>
                </a:r>
                <a:r>
                  <a:rPr lang="zh-CN" altLang="en-US" dirty="0" smtClean="0"/>
                  <a:t>另一个明显的改进是采用了多任务策略。</a:t>
                </a:r>
                <a:r>
                  <a:rPr lang="en-US" altLang="zh-CN" dirty="0" smtClean="0"/>
                  <a:t>Fast</a:t>
                </a:r>
                <a:r>
                  <a:rPr lang="en-US" altLang="zh-CN" baseline="0" dirty="0" smtClean="0"/>
                  <a:t> R-CNN</a:t>
                </a:r>
                <a:r>
                  <a:rPr lang="zh-CN" altLang="en-US" baseline="0" dirty="0" smtClean="0"/>
                  <a:t>网络有两个并行的输出分支，对于每个</a:t>
                </a:r>
                <a:r>
                  <a:rPr lang="en-US" altLang="zh-CN" baseline="0" dirty="0" smtClean="0"/>
                  <a:t>ROI</a:t>
                </a:r>
                <a:r>
                  <a:rPr lang="zh-CN" altLang="en-US" baseline="0" dirty="0" smtClean="0"/>
                  <a:t>，第一个分支计算</a:t>
                </a:r>
                <a:r>
                  <a:rPr lang="en-US" altLang="zh-CN" baseline="0" dirty="0" smtClean="0"/>
                  <a:t>k</a:t>
                </a:r>
                <a:r>
                  <a:rPr lang="zh-CN" altLang="en-US" baseline="0" dirty="0" smtClean="0"/>
                  <a:t>个目标类别</a:t>
                </a:r>
                <a:r>
                  <a:rPr lang="en-US" altLang="zh-CN" baseline="0" dirty="0" smtClean="0"/>
                  <a:t>+1</a:t>
                </a:r>
                <a:r>
                  <a:rPr lang="zh-CN" altLang="en-US" baseline="0" dirty="0" smtClean="0"/>
                  <a:t>个背景类别的分类概率</a:t>
                </a:r>
                <a:r>
                  <a:rPr lang="en-US" altLang="zh-CN" baseline="0" dirty="0" smtClean="0"/>
                  <a:t>P=(p</a:t>
                </a:r>
                <a:r>
                  <a:rPr lang="en-US" altLang="zh-CN" baseline="-25000" dirty="0" smtClean="0"/>
                  <a:t>0</a:t>
                </a:r>
                <a:r>
                  <a:rPr lang="en-US" altLang="zh-CN" baseline="0" dirty="0" smtClean="0"/>
                  <a:t>,p</a:t>
                </a:r>
                <a:r>
                  <a:rPr lang="en-US" altLang="zh-CN" baseline="-25000" dirty="0" smtClean="0"/>
                  <a:t>1</a:t>
                </a:r>
                <a:r>
                  <a:rPr lang="en-US" altLang="zh-CN" baseline="0" dirty="0" smtClean="0"/>
                  <a:t>,···,</a:t>
                </a:r>
                <a:r>
                  <a:rPr lang="en-US" altLang="zh-CN" baseline="0" dirty="0" err="1" smtClean="0"/>
                  <a:t>p</a:t>
                </a:r>
                <a:r>
                  <a:rPr lang="en-US" altLang="zh-CN" baseline="-25000" dirty="0" err="1" smtClean="0"/>
                  <a:t>k</a:t>
                </a:r>
                <a:r>
                  <a:rPr lang="en-US" altLang="zh-CN" baseline="0" dirty="0" smtClean="0"/>
                  <a:t>)</a:t>
                </a:r>
                <a:r>
                  <a:rPr lang="zh-CN" altLang="en-US" baseline="0" dirty="0" smtClean="0"/>
                  <a:t>，这</a:t>
                </a:r>
                <a:r>
                  <a:rPr lang="en-US" altLang="zh-CN" baseline="0" dirty="0" smtClean="0"/>
                  <a:t>k+1</a:t>
                </a:r>
                <a:r>
                  <a:rPr lang="zh-CN" altLang="en-US" baseline="0" dirty="0" smtClean="0"/>
                  <a:t>个分类概率一般是通过在全连接层之后计算</a:t>
                </a:r>
                <a:r>
                  <a:rPr lang="en-US" altLang="zh-CN" baseline="0" dirty="0" err="1" smtClean="0"/>
                  <a:t>softmax</a:t>
                </a:r>
                <a:r>
                  <a:rPr lang="zh-CN" altLang="en-US" baseline="0" dirty="0" smtClean="0"/>
                  <a:t>得到的。第二个输出分支计算候选框归一化的偏移量和缩放尺度（参考</a:t>
                </a:r>
                <a:r>
                  <a:rPr lang="en-US" altLang="zh-CN" baseline="0" dirty="0" smtClean="0"/>
                  <a:t>R-CNN</a:t>
                </a:r>
                <a:r>
                  <a:rPr lang="zh-CN" altLang="en-US" baseline="0" dirty="0" smtClean="0"/>
                  <a:t>介绍）。我们把第</a:t>
                </a:r>
                <a:r>
                  <a:rPr lang="en-US" altLang="zh-CN" baseline="0" dirty="0" smtClean="0"/>
                  <a:t>k</a:t>
                </a:r>
                <a:r>
                  <a:rPr lang="zh-CN" altLang="en-US" baseline="0" dirty="0" smtClean="0"/>
                  <a:t>个类别对应的归一化的偏移量和缩放尺度记为</a:t>
                </a:r>
                <a:r>
                  <a:rPr lang="en-US" altLang="zh-CN" b="0" i="0" baseline="0" smtClean="0">
                    <a:latin typeface="Cambria Math" panose="02040503050406030204" pitchFamily="18" charset="0"/>
                  </a:rPr>
                  <a:t>𝑡^𝑘</a:t>
                </a:r>
                <a:r>
                  <a:rPr lang="en-US" altLang="zh-CN" i="0" baseline="0" smtClean="0">
                    <a:latin typeface="Cambria Math" panose="02040503050406030204" pitchFamily="18" charset="0"/>
                    <a:ea typeface="Cambria Math" panose="02040503050406030204" pitchFamily="18" charset="0"/>
                  </a:rPr>
                  <a:t>=(</a:t>
                </a:r>
                <a:r>
                  <a:rPr lang="en-US" altLang="zh-CN" b="0" i="0" baseline="0" smtClean="0">
                    <a:latin typeface="Cambria Math" panose="02040503050406030204" pitchFamily="18" charset="0"/>
                    <a:ea typeface="Cambria Math" panose="02040503050406030204" pitchFamily="18" charset="0"/>
                  </a:rPr>
                  <a:t>𝑡_𝑥^𝑘,𝑡_𝑦^𝑘,𝑡_𝑤^𝑘,𝑡_ℎ^𝑘 )</a:t>
                </a:r>
                <a:r>
                  <a:rPr lang="en-US" altLang="zh-CN" dirty="0" smtClean="0"/>
                  <a:t>,</a:t>
                </a:r>
                <a:r>
                  <a:rPr lang="zh-CN" altLang="en-US" dirty="0" smtClean="0"/>
                  <a:t>对于每个</a:t>
                </a:r>
                <a:r>
                  <a:rPr lang="en-US" altLang="zh-CN" dirty="0" smtClean="0"/>
                  <a:t>ROI</a:t>
                </a:r>
                <a:r>
                  <a:rPr lang="zh-CN" altLang="en-US" dirty="0" smtClean="0"/>
                  <a:t>，通过下面的公式计算分类和位置回归的联合损失。</a:t>
                </a:r>
                <a:r>
                  <a:rPr lang="en-US" altLang="zh-CN" b="0" i="0" smtClean="0">
                    <a:latin typeface="Cambria Math" panose="02040503050406030204" pitchFamily="18" charset="0"/>
                  </a:rPr>
                  <a:t>𝐿(𝑝,𝑢,𝑡^𝑢,𝑣)</a:t>
                </a:r>
                <a:r>
                  <a:rPr lang="en-US" altLang="zh-CN" i="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𝐿_𝑐𝑙𝑠 </a:t>
                </a:r>
                <a:r>
                  <a:rPr lang="en-US"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𝑝,𝑢)</a:t>
                </a:r>
                <a:r>
                  <a:rPr lang="en-US" altLang="zh-CN" i="0" smtClean="0">
                    <a:latin typeface="Cambria Math" panose="02040503050406030204" pitchFamily="18" charset="0"/>
                    <a:ea typeface="Cambria Math" panose="02040503050406030204" pitchFamily="18" charset="0"/>
                  </a:rPr>
                  <a:t>+</a:t>
                </a:r>
                <a:r>
                  <a:rPr lang="el-GR" altLang="zh-CN" i="0">
                    <a:latin typeface="Cambria Math" panose="02040503050406030204" pitchFamily="18" charset="0"/>
                    <a:ea typeface="Cambria Math" panose="02040503050406030204" pitchFamily="18" charset="0"/>
                  </a:rPr>
                  <a:t>𝜆</a:t>
                </a:r>
                <a:r>
                  <a:rPr lang="el-GR"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𝑢≥1]</a:t>
                </a:r>
                <a:r>
                  <a:rPr lang="el-GR" altLang="zh-CN" b="0" i="0" smtClean="0">
                    <a:latin typeface="Cambria Math" panose="02040503050406030204" pitchFamily="18" charset="0"/>
                    <a:ea typeface="Cambria Math" panose="02040503050406030204" pitchFamily="18" charset="0"/>
                  </a:rPr>
                  <a:t> </a:t>
                </a:r>
                <a:r>
                  <a:rPr lang="en-US" altLang="zh-CN" b="0" i="0" smtClean="0">
                    <a:latin typeface="Cambria Math" panose="02040503050406030204" pitchFamily="18" charset="0"/>
                    <a:ea typeface="Cambria Math" panose="02040503050406030204" pitchFamily="18" charset="0"/>
                  </a:rPr>
                  <a:t>𝐿</a:t>
                </a:r>
                <a:r>
                  <a:rPr lang="el-GR" altLang="zh-CN" b="0"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loc</a:t>
                </a:r>
                <a:r>
                  <a:rPr lang="el-GR" altLang="zh-CN" i="0" smtClean="0">
                    <a:latin typeface="Cambria Math" panose="02040503050406030204" pitchFamily="18" charset="0"/>
                    <a:ea typeface="Cambria Math" panose="02040503050406030204" pitchFamily="18" charset="0"/>
                  </a:rPr>
                  <a:t> (</a:t>
                </a:r>
                <a:r>
                  <a:rPr lang="en-US" altLang="zh-CN" b="0" i="0" smtClean="0">
                    <a:latin typeface="Cambria Math" panose="02040503050406030204" pitchFamily="18" charset="0"/>
                    <a:ea typeface="Cambria Math" panose="02040503050406030204" pitchFamily="18" charset="0"/>
                  </a:rPr>
                  <a:t>𝑡</a:t>
                </a:r>
                <a:r>
                  <a:rPr lang="el-GR" altLang="zh-CN" b="0"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𝑢,𝑣)</a:t>
                </a:r>
                <a:endParaRPr lang="en-US" altLang="zh-CN" dirty="0" smtClean="0"/>
              </a:p>
              <a:p>
                <a:r>
                  <a:rPr lang="zh-CN" altLang="en-US" dirty="0" smtClean="0"/>
                  <a:t>其中分类损失</a:t>
                </a:r>
                <a:r>
                  <a:rPr lang="en-US" altLang="zh-CN" b="0" i="0" smtClean="0">
                    <a:latin typeface="Cambria Math" panose="02040503050406030204" pitchFamily="18" charset="0"/>
                  </a:rPr>
                  <a:t>𝐿_𝑐𝑙𝑠 </a:t>
                </a:r>
                <a:r>
                  <a:rPr lang="en-US" altLang="zh-CN" i="0" smtClean="0">
                    <a:latin typeface="Cambria Math" panose="02040503050406030204" pitchFamily="18" charset="0"/>
                  </a:rPr>
                  <a:t>(</a:t>
                </a:r>
                <a:r>
                  <a:rPr lang="en-US" altLang="zh-CN" b="0" i="0" smtClean="0">
                    <a:latin typeface="Cambria Math" panose="02040503050406030204" pitchFamily="18" charset="0"/>
                  </a:rPr>
                  <a:t>𝑝,𝑢)=−log⁡〖𝑃_𝑢 〗</a:t>
                </a:r>
                <a:r>
                  <a:rPr lang="zh-CN" altLang="en-US" dirty="0" smtClean="0"/>
                  <a:t>。</a:t>
                </a:r>
                <a:endParaRPr lang="en-US" altLang="zh-CN" dirty="0" smtClean="0"/>
              </a:p>
              <a:p>
                <a:r>
                  <a:rPr lang="zh-CN" altLang="en-US" dirty="0" smtClean="0"/>
                  <a:t>这里</a:t>
                </a:r>
                <a:r>
                  <a:rPr lang="en-US" altLang="zh-CN" dirty="0" smtClean="0"/>
                  <a:t>u</a:t>
                </a:r>
                <a:r>
                  <a:rPr lang="zh-CN" altLang="en-US" dirty="0" smtClean="0"/>
                  <a:t>表示真实的类别，位置损失</a:t>
                </a:r>
                <a:r>
                  <a:rPr lang="en-US" altLang="zh-CN" b="0" i="0" smtClean="0">
                    <a:latin typeface="Cambria Math" panose="02040503050406030204" pitchFamily="18" charset="0"/>
                    <a:ea typeface="Cambria Math" panose="02040503050406030204" pitchFamily="18" charset="0"/>
                  </a:rPr>
                  <a:t>𝐿</a:t>
                </a:r>
                <a:r>
                  <a:rPr lang="el-GR" altLang="zh-CN" b="0"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loc</a:t>
                </a:r>
                <a:r>
                  <a:rPr lang="el-GR" altLang="zh-CN" i="0" smtClean="0">
                    <a:latin typeface="Cambria Math" panose="02040503050406030204" pitchFamily="18" charset="0"/>
                    <a:ea typeface="Cambria Math" panose="02040503050406030204" pitchFamily="18" charset="0"/>
                  </a:rPr>
                  <a:t> (</a:t>
                </a:r>
                <a:r>
                  <a:rPr lang="en-US" altLang="zh-CN" b="0" i="0" smtClean="0">
                    <a:latin typeface="Cambria Math" panose="02040503050406030204" pitchFamily="18" charset="0"/>
                    <a:ea typeface="Cambria Math" panose="02040503050406030204" pitchFamily="18" charset="0"/>
                  </a:rPr>
                  <a:t>𝑡</a:t>
                </a:r>
                <a:r>
                  <a:rPr lang="el-GR" altLang="zh-CN" b="0"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𝑢,𝑣)</a:t>
                </a:r>
                <a:r>
                  <a:rPr lang="zh-CN" altLang="en-US" dirty="0" smtClean="0"/>
                  <a:t>表示对于类别</a:t>
                </a:r>
                <a:r>
                  <a:rPr lang="en-US" altLang="zh-CN" dirty="0" smtClean="0"/>
                  <a:t>u,</a:t>
                </a:r>
                <a:r>
                  <a:rPr lang="zh-CN" altLang="en-US" dirty="0" smtClean="0"/>
                  <a:t>真实的归一化偏移量及缩放尺度元组</a:t>
                </a:r>
                <a:r>
                  <a:rPr lang="en-US" altLang="zh-CN" dirty="0" smtClean="0"/>
                  <a:t>(</a:t>
                </a:r>
                <a:r>
                  <a:rPr lang="en-US" altLang="zh-CN" dirty="0" err="1" smtClean="0"/>
                  <a:t>v</a:t>
                </a:r>
                <a:r>
                  <a:rPr lang="en-US" altLang="zh-CN" baseline="-25000" dirty="0" err="1" smtClean="0"/>
                  <a:t>x</a:t>
                </a:r>
                <a:r>
                  <a:rPr lang="en-US" altLang="zh-CN" dirty="0" err="1" smtClean="0"/>
                  <a:t>,v</a:t>
                </a:r>
                <a:r>
                  <a:rPr lang="en-US" altLang="zh-CN" baseline="-25000" dirty="0" err="1" smtClean="0"/>
                  <a:t>y</a:t>
                </a:r>
                <a:r>
                  <a:rPr lang="en-US" altLang="zh-CN" dirty="0" err="1" smtClean="0"/>
                  <a:t>,v</a:t>
                </a:r>
                <a:r>
                  <a:rPr lang="en-US" altLang="zh-CN" baseline="-25000" dirty="0" err="1" smtClean="0"/>
                  <a:t>w</a:t>
                </a:r>
                <a:r>
                  <a:rPr lang="en-US" altLang="zh-CN" dirty="0" err="1" smtClean="0"/>
                  <a:t>,v</a:t>
                </a:r>
                <a:r>
                  <a:rPr lang="en-US" altLang="zh-CN" baseline="-25000" dirty="0" err="1" smtClean="0"/>
                  <a:t>h</a:t>
                </a:r>
                <a:r>
                  <a:rPr lang="en-US" altLang="zh-CN" dirty="0" smtClean="0"/>
                  <a:t>)</a:t>
                </a:r>
                <a:r>
                  <a:rPr lang="zh-CN" altLang="en-US" dirty="0" smtClean="0"/>
                  <a:t>与实际预测的归一化偏移量和缩放尺度元组</a:t>
                </a:r>
                <a:r>
                  <a:rPr lang="en-US" altLang="zh-CN" i="0" smtClean="0">
                    <a:latin typeface="Cambria Math" panose="02040503050406030204" pitchFamily="18" charset="0"/>
                    <a:ea typeface="Cambria Math" panose="02040503050406030204" pitchFamily="18" charset="0"/>
                  </a:rPr>
                  <a:t>(</a:t>
                </a:r>
                <a:r>
                  <a:rPr lang="en-US" altLang="zh-CN" i="0">
                    <a:latin typeface="Cambria Math" panose="02040503050406030204" pitchFamily="18" charset="0"/>
                    <a:ea typeface="Cambria Math" panose="02040503050406030204" pitchFamily="18" charset="0"/>
                  </a:rPr>
                  <a:t>𝑡_𝑥^</a:t>
                </a:r>
                <a:r>
                  <a:rPr lang="en-US" altLang="zh-CN" b="0" i="0" smtClean="0">
                    <a:latin typeface="Cambria Math" panose="02040503050406030204" pitchFamily="18" charset="0"/>
                    <a:ea typeface="Cambria Math" panose="02040503050406030204" pitchFamily="18" charset="0"/>
                  </a:rPr>
                  <a:t>𝑢</a:t>
                </a:r>
                <a:r>
                  <a:rPr lang="en-US" altLang="zh-CN" i="0">
                    <a:latin typeface="Cambria Math" panose="02040503050406030204" pitchFamily="18" charset="0"/>
                    <a:ea typeface="Cambria Math" panose="02040503050406030204" pitchFamily="18" charset="0"/>
                  </a:rPr>
                  <a:t>,𝑡_𝑦^</a:t>
                </a:r>
                <a:r>
                  <a:rPr lang="en-US" altLang="zh-CN" b="0" i="0" smtClean="0">
                    <a:latin typeface="Cambria Math" panose="02040503050406030204" pitchFamily="18" charset="0"/>
                    <a:ea typeface="Cambria Math" panose="02040503050406030204" pitchFamily="18" charset="0"/>
                  </a:rPr>
                  <a:t>𝑢</a:t>
                </a:r>
                <a:r>
                  <a:rPr lang="en-US" altLang="zh-CN" i="0">
                    <a:latin typeface="Cambria Math" panose="02040503050406030204" pitchFamily="18" charset="0"/>
                    <a:ea typeface="Cambria Math" panose="02040503050406030204" pitchFamily="18" charset="0"/>
                  </a:rPr>
                  <a:t>,𝑡_𝑤^</a:t>
                </a:r>
                <a:r>
                  <a:rPr lang="en-US" altLang="zh-CN" b="0" i="0" smtClean="0">
                    <a:latin typeface="Cambria Math" panose="02040503050406030204" pitchFamily="18" charset="0"/>
                    <a:ea typeface="Cambria Math" panose="02040503050406030204" pitchFamily="18" charset="0"/>
                  </a:rPr>
                  <a:t>𝑢</a:t>
                </a:r>
                <a:r>
                  <a:rPr lang="en-US" altLang="zh-CN" i="0">
                    <a:latin typeface="Cambria Math" panose="02040503050406030204" pitchFamily="18" charset="0"/>
                    <a:ea typeface="Cambria Math" panose="02040503050406030204" pitchFamily="18" charset="0"/>
                  </a:rPr>
                  <a:t>,𝑡_ℎ^</a:t>
                </a:r>
                <a:r>
                  <a:rPr lang="en-US" altLang="zh-CN" b="0" i="0" smtClean="0">
                    <a:latin typeface="Cambria Math" panose="02040503050406030204" pitchFamily="18" charset="0"/>
                    <a:ea typeface="Cambria Math" panose="02040503050406030204" pitchFamily="18" charset="0"/>
                  </a:rPr>
                  <a:t>𝑢 )</a:t>
                </a:r>
                <a:r>
                  <a:rPr lang="zh-CN" altLang="en-US" dirty="0" smtClean="0"/>
                  <a:t>之间的差异，通常可以用两个元组之间的</a:t>
                </a:r>
                <a:r>
                  <a:rPr lang="en-US" altLang="zh-CN" dirty="0" smtClean="0"/>
                  <a:t>L1</a:t>
                </a:r>
                <a:r>
                  <a:rPr lang="zh-CN" altLang="en-US" dirty="0" smtClean="0"/>
                  <a:t>距离或</a:t>
                </a:r>
                <a:r>
                  <a:rPr lang="en-US" altLang="zh-CN" dirty="0" smtClean="0"/>
                  <a:t>L2</a:t>
                </a:r>
                <a:r>
                  <a:rPr lang="zh-CN" altLang="en-US" dirty="0" smtClean="0"/>
                  <a:t>距离（曼哈顿距离或欧式距离）来度量。</a:t>
                </a:r>
                <a:r>
                  <a:rPr lang="en-US" altLang="zh-CN" dirty="0" smtClean="0"/>
                  <a:t>Fast R-CNN</a:t>
                </a:r>
                <a:r>
                  <a:rPr lang="zh-CN" altLang="en-US" dirty="0" smtClean="0"/>
                  <a:t>作者使用了一种介于</a:t>
                </a:r>
                <a:r>
                  <a:rPr lang="en-US" altLang="zh-CN" dirty="0" smtClean="0"/>
                  <a:t>L1</a:t>
                </a:r>
                <a:r>
                  <a:rPr lang="zh-CN" altLang="en-US" dirty="0" smtClean="0"/>
                  <a:t>距离和</a:t>
                </a:r>
                <a:r>
                  <a:rPr lang="en-US" altLang="zh-CN" dirty="0" smtClean="0"/>
                  <a:t>L2</a:t>
                </a:r>
                <a:r>
                  <a:rPr lang="zh-CN" altLang="en-US" dirty="0" smtClean="0"/>
                  <a:t>距离之间的度量方法。</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联合损失函数计算公式中的</a:t>
                </a:r>
                <a:r>
                  <a:rPr lang="en-US" altLang="zh-CN" i="0" smtClean="0">
                    <a:latin typeface="Cambria Math" panose="02040503050406030204" pitchFamily="18" charset="0"/>
                  </a:rPr>
                  <a:t>[</a:t>
                </a:r>
                <a:r>
                  <a:rPr lang="en-US" altLang="zh-CN" b="0" i="0" smtClean="0">
                    <a:latin typeface="Cambria Math" panose="02040503050406030204" pitchFamily="18" charset="0"/>
                  </a:rPr>
                  <a:t>𝑥]</a:t>
                </a:r>
                <a:r>
                  <a:rPr lang="zh-CN" altLang="en-US" i="0">
                    <a:latin typeface="Cambria Math" panose="02040503050406030204" pitchFamily="18" charset="0"/>
                  </a:rPr>
                  <a:t>是</a:t>
                </a:r>
                <a:r>
                  <a:rPr lang="zh-CN" altLang="en-US" dirty="0" smtClean="0"/>
                  <a:t>示性函数，</a:t>
                </a:r>
                <a:r>
                  <a:rPr lang="en-US" altLang="zh-CN" b="0" i="0" smtClean="0">
                    <a:latin typeface="Cambria Math" panose="02040503050406030204" pitchFamily="18" charset="0"/>
                  </a:rPr>
                  <a:t>𝑥=𝑡𝑟𝑢𝑒,[𝑥]=1;𝑥=𝑓𝑎𝑙𝑠𝑒,[𝑥]=0</a:t>
                </a:r>
                <a:r>
                  <a:rPr lang="zh-CN" altLang="en-US" b="0" i="0" smtClean="0">
                    <a:latin typeface="Cambria Math" panose="02040503050406030204" pitchFamily="18" charset="0"/>
                  </a:rPr>
                  <a:t>。因此</a:t>
                </a:r>
                <a:r>
                  <a:rPr lang="zh-CN" altLang="en-US" dirty="0" smtClean="0"/>
                  <a:t>，当</a:t>
                </a:r>
                <a:r>
                  <a:rPr lang="en-US" altLang="zh-CN" dirty="0" smtClean="0"/>
                  <a:t>u</a:t>
                </a:r>
                <a:r>
                  <a:rPr lang="zh-CN" altLang="en-US" dirty="0" smtClean="0"/>
                  <a:t>是目标类别时，</a:t>
                </a:r>
                <a:r>
                  <a:rPr lang="en-US" altLang="zh-CN" dirty="0" smtClean="0"/>
                  <a:t>u</a:t>
                </a:r>
                <a:r>
                  <a:rPr lang="en-US" altLang="zh-CN" b="0" i="0" smtClean="0">
                    <a:latin typeface="Cambria Math" panose="02040503050406030204" pitchFamily="18" charset="0"/>
                    <a:ea typeface="Cambria Math" panose="02040503050406030204" pitchFamily="18" charset="0"/>
                  </a:rPr>
                  <a:t>≥</a:t>
                </a:r>
                <a:r>
                  <a:rPr lang="en-US" altLang="zh-CN" dirty="0" smtClean="0"/>
                  <a:t>1</a:t>
                </a:r>
                <a:r>
                  <a:rPr lang="zh-CN" altLang="en-US" dirty="0" smtClean="0"/>
                  <a:t>取值为</a:t>
                </a:r>
                <a:r>
                  <a:rPr lang="en-US" altLang="zh-CN" dirty="0" smtClean="0"/>
                  <a:t>true</a:t>
                </a:r>
                <a:r>
                  <a:rPr lang="zh-CN" altLang="en-US" dirty="0" smtClean="0"/>
                  <a:t>，</a:t>
                </a:r>
                <a:r>
                  <a:rPr lang="en-US" altLang="zh-CN" dirty="0" smtClean="0"/>
                  <a:t>[*]=1,</a:t>
                </a:r>
                <a:r>
                  <a:rPr lang="zh-CN" altLang="en-US" dirty="0" smtClean="0"/>
                  <a:t>损失函数由分类损失和位置损失两者构成，当</a:t>
                </a:r>
                <a:r>
                  <a:rPr lang="en-US" altLang="zh-CN" dirty="0" smtClean="0"/>
                  <a:t>u</a:t>
                </a:r>
                <a:r>
                  <a:rPr lang="zh-CN" altLang="en-US" dirty="0" smtClean="0"/>
                  <a:t>是背景时，</a:t>
                </a:r>
                <a:r>
                  <a:rPr lang="en-US" altLang="zh-CN" dirty="0" smtClean="0"/>
                  <a:t>u</a:t>
                </a:r>
                <a:r>
                  <a:rPr lang="en-US" altLang="zh-CN" b="0" i="0" smtClean="0">
                    <a:latin typeface="Cambria Math" panose="02040503050406030204" pitchFamily="18" charset="0"/>
                    <a:ea typeface="Cambria Math" panose="02040503050406030204" pitchFamily="18" charset="0"/>
                  </a:rPr>
                  <a:t>≥</a:t>
                </a:r>
                <a:r>
                  <a:rPr lang="en-US" altLang="zh-CN" dirty="0" smtClean="0"/>
                  <a:t>1</a:t>
                </a:r>
                <a:r>
                  <a:rPr lang="zh-CN" altLang="en-US" dirty="0" smtClean="0"/>
                  <a:t>取值为</a:t>
                </a:r>
                <a:r>
                  <a:rPr lang="en-US" altLang="zh-CN" dirty="0" smtClean="0"/>
                  <a:t>false</a:t>
                </a:r>
                <a:r>
                  <a:rPr lang="zh-CN" altLang="en-US" dirty="0" smtClean="0"/>
                  <a:t>，</a:t>
                </a:r>
                <a:r>
                  <a:rPr lang="en-US" altLang="zh-CN" dirty="0" smtClean="0"/>
                  <a:t>[*]=0</a:t>
                </a:r>
                <a:r>
                  <a:rPr lang="zh-CN" altLang="en-US" dirty="0" smtClean="0"/>
                  <a:t>，损失函数仅由分类损失构成。计算公式中的</a:t>
                </a:r>
                <a:r>
                  <a:rPr lang="el-GR" altLang="zh-CN" i="0" smtClean="0">
                    <a:latin typeface="Cambria Math" panose="02040503050406030204" pitchFamily="18" charset="0"/>
                    <a:ea typeface="Cambria Math" panose="02040503050406030204" pitchFamily="18" charset="0"/>
                  </a:rPr>
                  <a:t>𝜆</a:t>
                </a:r>
                <a:r>
                  <a:rPr lang="zh-CN" altLang="en-US" dirty="0" smtClean="0"/>
                  <a:t>是一个权重因子，用于调节分类损失和位置损失的比例，通常情况下取</a:t>
                </a:r>
                <a:r>
                  <a:rPr lang="el-GR" altLang="zh-CN" i="0" smtClean="0">
                    <a:latin typeface="Cambria Math" panose="02040503050406030204" pitchFamily="18" charset="0"/>
                    <a:ea typeface="Cambria Math" panose="02040503050406030204" pitchFamily="18" charset="0"/>
                  </a:rPr>
                  <a:t>𝜆</a:t>
                </a:r>
                <a:r>
                  <a:rPr lang="en-US" altLang="zh-CN" dirty="0" smtClean="0"/>
                  <a:t>=1</a:t>
                </a:r>
                <a:r>
                  <a:rPr lang="zh-CN" altLang="en-US" dirty="0" smtClean="0"/>
                  <a:t>，即二者等比例相加。</a:t>
                </a:r>
                <a:endParaRPr lang="zh-CN" altLang="en-US" dirty="0"/>
              </a:p>
              <a:p>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276117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在调优训练的过程中</a:t>
            </a:r>
            <a:r>
              <a:rPr lang="en-US" altLang="zh-CN" dirty="0" smtClean="0"/>
              <a:t>,</a:t>
            </a:r>
            <a:r>
              <a:rPr lang="zh-CN" altLang="en-US" dirty="0" smtClean="0"/>
              <a:t>假设进行</a:t>
            </a:r>
            <a:r>
              <a:rPr lang="en-US" altLang="zh-CN" dirty="0" smtClean="0"/>
              <a:t>SGD</a:t>
            </a:r>
            <a:r>
              <a:rPr lang="zh-CN" altLang="en-US" dirty="0" smtClean="0"/>
              <a:t>优化的每个小批次都会使用</a:t>
            </a:r>
            <a:r>
              <a:rPr lang="en-US" altLang="zh-CN" dirty="0" smtClean="0"/>
              <a:t>128</a:t>
            </a:r>
            <a:r>
              <a:rPr lang="zh-CN" altLang="en-US" dirty="0" smtClean="0"/>
              <a:t>个</a:t>
            </a:r>
            <a:r>
              <a:rPr lang="en-US" altLang="zh-CN" dirty="0" smtClean="0"/>
              <a:t>ROI,</a:t>
            </a:r>
            <a:r>
              <a:rPr lang="zh-CN" altLang="en-US" dirty="0" smtClean="0"/>
              <a:t>这些</a:t>
            </a:r>
            <a:r>
              <a:rPr lang="en-US" altLang="zh-CN" dirty="0" smtClean="0"/>
              <a:t>ROI</a:t>
            </a:r>
            <a:r>
              <a:rPr lang="zh-CN" altLang="en-US" dirty="0" smtClean="0"/>
              <a:t>分别来自样本数据集中随机选取的</a:t>
            </a:r>
            <a:r>
              <a:rPr lang="en-US" altLang="zh-CN" dirty="0" smtClean="0"/>
              <a:t>2</a:t>
            </a:r>
            <a:r>
              <a:rPr lang="zh-CN" altLang="en-US" dirty="0" smtClean="0"/>
              <a:t>张图俊（实际操作的时候会遍历整个样本集</a:t>
            </a:r>
            <a:r>
              <a:rPr lang="en-US" altLang="zh-CN" dirty="0" smtClean="0"/>
              <a:t>),</a:t>
            </a:r>
            <a:r>
              <a:rPr lang="zh-CN" altLang="en-US" dirty="0" smtClean="0"/>
              <a:t>每张图像上各自选择</a:t>
            </a:r>
            <a:r>
              <a:rPr lang="en-US" altLang="zh-CN" dirty="0" smtClean="0"/>
              <a:t>64</a:t>
            </a:r>
            <a:r>
              <a:rPr lang="zh-CN" altLang="en-US" dirty="0" smtClean="0"/>
              <a:t>个</a:t>
            </a:r>
            <a:r>
              <a:rPr lang="en-US" altLang="zh-CN" dirty="0" smtClean="0"/>
              <a:t>ROI</a:t>
            </a:r>
            <a:r>
              <a:rPr lang="zh-CN" altLang="en-US" dirty="0" smtClean="0"/>
              <a:t>。这</a:t>
            </a:r>
            <a:r>
              <a:rPr lang="en-US" altLang="zh-CN" dirty="0" smtClean="0"/>
              <a:t>64</a:t>
            </a:r>
            <a:r>
              <a:rPr lang="zh-CN" altLang="en-US" dirty="0" smtClean="0"/>
              <a:t>个</a:t>
            </a:r>
            <a:r>
              <a:rPr lang="en-US" altLang="zh-CN" dirty="0" smtClean="0"/>
              <a:t>ROI</a:t>
            </a:r>
            <a:r>
              <a:rPr lang="zh-CN" altLang="en-US" dirty="0" smtClean="0"/>
              <a:t>中</a:t>
            </a:r>
            <a:r>
              <a:rPr lang="en-US" altLang="zh-CN" dirty="0" smtClean="0"/>
              <a:t>,25%</a:t>
            </a:r>
            <a:r>
              <a:rPr lang="zh-CN" altLang="en-US" dirty="0" smtClean="0"/>
              <a:t>是前景目标</a:t>
            </a:r>
            <a:r>
              <a:rPr lang="en-US" altLang="zh-CN" dirty="0" smtClean="0"/>
              <a:t>,75%</a:t>
            </a:r>
            <a:r>
              <a:rPr lang="zh-CN" altLang="en-US" dirty="0" smtClean="0"/>
              <a:t>是背景。划分前景、背景的依据是</a:t>
            </a:r>
            <a:r>
              <a:rPr lang="en-US" altLang="zh-CN" dirty="0" smtClean="0"/>
              <a:t>ROI</a:t>
            </a:r>
            <a:r>
              <a:rPr lang="zh-CN" altLang="en-US" dirty="0" smtClean="0"/>
              <a:t>和真值的交并比</a:t>
            </a:r>
            <a:r>
              <a:rPr lang="en-US" altLang="zh-CN" dirty="0" smtClean="0"/>
              <a:t>(IOU).</a:t>
            </a:r>
            <a:r>
              <a:rPr lang="zh-CN" altLang="en-US" dirty="0" smtClean="0"/>
              <a:t>当</a:t>
            </a:r>
            <a:r>
              <a:rPr lang="en-US" altLang="zh-CN" dirty="0" err="1" smtClean="0"/>
              <a:t>IoU</a:t>
            </a:r>
            <a:r>
              <a:rPr lang="en-US" altLang="zh-CN" dirty="0" smtClean="0"/>
              <a:t> </a:t>
            </a:r>
            <a:r>
              <a:rPr lang="zh-CN" altLang="en-US" dirty="0" smtClean="0"/>
              <a:t>属于</a:t>
            </a:r>
            <a:r>
              <a:rPr lang="en-US" altLang="zh-CN" dirty="0" smtClean="0"/>
              <a:t> [0.5,1]</a:t>
            </a:r>
            <a:r>
              <a:rPr lang="zh-CN" altLang="en-US" dirty="0" smtClean="0"/>
              <a:t>时，</a:t>
            </a:r>
            <a:r>
              <a:rPr lang="en-US" altLang="zh-CN" dirty="0" smtClean="0"/>
              <a:t>ROI</a:t>
            </a:r>
            <a:r>
              <a:rPr lang="zh-CN" altLang="en-US" dirty="0" smtClean="0"/>
              <a:t>作为前景目标</a:t>
            </a:r>
            <a:r>
              <a:rPr lang="en-US" altLang="zh-CN" dirty="0" smtClean="0"/>
              <a:t>,</a:t>
            </a:r>
            <a:r>
              <a:rPr lang="zh-CN" altLang="en-US" dirty="0" smtClean="0"/>
              <a:t>当</a:t>
            </a:r>
            <a:r>
              <a:rPr lang="en-US" altLang="zh-CN" dirty="0" err="1" smtClean="0"/>
              <a:t>IoU</a:t>
            </a:r>
            <a:r>
              <a:rPr lang="en-US" altLang="zh-CN" dirty="0" smtClean="0"/>
              <a:t> </a:t>
            </a:r>
            <a:r>
              <a:rPr lang="zh-CN" altLang="en-US" dirty="0" smtClean="0"/>
              <a:t>属于</a:t>
            </a:r>
            <a:r>
              <a:rPr lang="en-US" altLang="zh-CN" dirty="0" smtClean="0"/>
              <a:t> [0.1,0.5)</a:t>
            </a:r>
            <a:r>
              <a:rPr lang="zh-CN" altLang="en-US" dirty="0" smtClean="0"/>
              <a:t>时</a:t>
            </a:r>
            <a:r>
              <a:rPr lang="en-US" altLang="zh-CN" dirty="0" smtClean="0"/>
              <a:t>,ROI</a:t>
            </a:r>
            <a:r>
              <a:rPr lang="zh-CN" altLang="en-US" dirty="0" smtClean="0"/>
              <a:t>作为背景</a:t>
            </a:r>
            <a:r>
              <a:rPr lang="en-US" altLang="zh-CN" dirty="0" smtClean="0"/>
              <a:t>,</a:t>
            </a:r>
            <a:r>
              <a:rPr lang="zh-CN" altLang="en-US" dirty="0" smtClean="0"/>
              <a:t>当</a:t>
            </a:r>
            <a:r>
              <a:rPr lang="en-US" altLang="zh-CN" dirty="0" err="1" smtClean="0"/>
              <a:t>IoU</a:t>
            </a:r>
            <a:r>
              <a:rPr lang="en-US" altLang="zh-CN" dirty="0" smtClean="0"/>
              <a:t>&lt;0.1</a:t>
            </a:r>
            <a:r>
              <a:rPr lang="zh-CN" altLang="en-US" dirty="0" smtClean="0"/>
              <a:t>时，</a:t>
            </a:r>
            <a:r>
              <a:rPr lang="en-US" altLang="zh-CN" dirty="0" smtClean="0"/>
              <a:t>ROI</a:t>
            </a:r>
            <a:r>
              <a:rPr lang="zh-CN" altLang="en-US" dirty="0" smtClean="0"/>
              <a:t>不参与最开始的训练。训练好一个模型后，使用这些</a:t>
            </a:r>
            <a:r>
              <a:rPr lang="en-US" altLang="zh-CN" dirty="0" err="1" smtClean="0"/>
              <a:t>IoU</a:t>
            </a:r>
            <a:r>
              <a:rPr lang="en-US" altLang="zh-CN" dirty="0" smtClean="0"/>
              <a:t>&lt;0.1</a:t>
            </a:r>
            <a:r>
              <a:rPr lang="zh-CN" altLang="en-US" dirty="0" smtClean="0"/>
              <a:t>的</a:t>
            </a:r>
            <a:r>
              <a:rPr lang="en-US" altLang="zh-CN" dirty="0" smtClean="0"/>
              <a:t>ROI</a:t>
            </a:r>
            <a:r>
              <a:rPr lang="zh-CN" altLang="en-US" dirty="0" smtClean="0"/>
              <a:t>进行难例挖掘</a:t>
            </a:r>
            <a:r>
              <a:rPr lang="en-US" altLang="zh-CN" dirty="0" smtClean="0"/>
              <a:t>(hard example mining)</a:t>
            </a:r>
            <a:r>
              <a:rPr lang="zh-CN" altLang="en-US" dirty="0" smtClean="0"/>
              <a:t>以进一步调优训练。在训练的过程中</a:t>
            </a:r>
            <a:r>
              <a:rPr lang="en-US" altLang="zh-CN" dirty="0" smtClean="0"/>
              <a:t>,</a:t>
            </a:r>
            <a:r>
              <a:rPr lang="zh-CN" altLang="en-US" dirty="0" smtClean="0"/>
              <a:t>为了增加样本的多样性</a:t>
            </a:r>
            <a:r>
              <a:rPr lang="en-US" altLang="zh-CN" dirty="0" smtClean="0"/>
              <a:t>,</a:t>
            </a:r>
            <a:r>
              <a:rPr lang="zh-CN" altLang="en-US" dirty="0" smtClean="0"/>
              <a:t>一般会使用</a:t>
            </a:r>
            <a:r>
              <a:rPr lang="en-US" altLang="zh-CN" dirty="0" smtClean="0"/>
              <a:t>50%</a:t>
            </a:r>
            <a:r>
              <a:rPr lang="zh-CN" altLang="en-US" dirty="0" smtClean="0"/>
              <a:t>的概率随机水平翻转图像</a:t>
            </a:r>
            <a:r>
              <a:rPr lang="en-US" altLang="zh-CN" dirty="0" smtClean="0"/>
              <a:t>,</a:t>
            </a:r>
            <a:r>
              <a:rPr lang="zh-CN" altLang="en-US" dirty="0" smtClean="0"/>
              <a:t>以此进行样本扩充。</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599416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训练过程中，需要计算</a:t>
                </a:r>
                <a:r>
                  <a:rPr lang="en-US" altLang="zh-CN" dirty="0" smtClean="0"/>
                  <a:t>ROI</a:t>
                </a:r>
                <a:r>
                  <a:rPr lang="zh-CN" altLang="en-US" dirty="0" smtClean="0"/>
                  <a:t>池化层的前向传播和反向传播。这里假设一个小批次的所有</a:t>
                </a:r>
                <a:r>
                  <a:rPr lang="en-US" altLang="zh-CN" dirty="0" smtClean="0"/>
                  <a:t>ROI</a:t>
                </a:r>
                <a:r>
                  <a:rPr lang="zh-CN" altLang="en-US" dirty="0" smtClean="0"/>
                  <a:t>都来自</a:t>
                </a:r>
                <a:r>
                  <a:rPr lang="en-US" altLang="zh-CN" dirty="0" smtClean="0"/>
                  <a:t>1</a:t>
                </a:r>
                <a:r>
                  <a:rPr lang="zh-CN" altLang="en-US" dirty="0" smtClean="0"/>
                  <a:t>张图像（前向传播的过程</a:t>
                </a:r>
                <a:r>
                  <a:rPr lang="en-US" altLang="zh-CN" dirty="0" smtClean="0"/>
                  <a:t>,</a:t>
                </a:r>
                <a:r>
                  <a:rPr lang="zh-CN" altLang="en-US" dirty="0" smtClean="0"/>
                  <a:t>对每张图像都是独立处理的</a:t>
                </a:r>
                <a:r>
                  <a:rPr lang="en-US" altLang="zh-CN" dirty="0" smtClean="0"/>
                  <a:t>,</a:t>
                </a:r>
                <a:r>
                  <a:rPr lang="zh-CN" altLang="en-US" dirty="0" smtClean="0"/>
                  <a:t>因此</a:t>
                </a:r>
                <a:r>
                  <a:rPr lang="en-US" altLang="zh-CN" dirty="0" smtClean="0"/>
                  <a:t>N&gt;1</a:t>
                </a:r>
                <a:r>
                  <a:rPr lang="zh-CN" altLang="en-US" dirty="0" smtClean="0"/>
                  <a:t>的情况类似，可以直接推广过去</a:t>
                </a:r>
                <a:r>
                  <a:rPr lang="en-US" altLang="zh-CN" dirty="0" smtClean="0"/>
                  <a:t>)</a:t>
                </a:r>
                <a:r>
                  <a:rPr lang="zh-CN" altLang="en-US" dirty="0" smtClean="0"/>
                  <a:t>。假设</a:t>
                </a:r>
                <a:r>
                  <a:rPr lang="en-US" altLang="zh-CN" dirty="0" smtClean="0"/>
                  <a:t>x</a:t>
                </a:r>
                <a:r>
                  <a:rPr lang="en-US" altLang="zh-CN" baseline="-25000" dirty="0" smtClean="0"/>
                  <a:t>i</a:t>
                </a:r>
                <a:r>
                  <a:rPr lang="zh-CN" altLang="en-US" dirty="0" smtClean="0"/>
                  <a:t>是</a:t>
                </a:r>
                <a:r>
                  <a:rPr lang="en-US" altLang="zh-CN" dirty="0" smtClean="0"/>
                  <a:t>ROI</a:t>
                </a:r>
                <a:r>
                  <a:rPr lang="zh-CN" altLang="en-US" dirty="0" smtClean="0"/>
                  <a:t>池化层的第</a:t>
                </a:r>
                <a:r>
                  <a:rPr lang="en-US" altLang="zh-CN" dirty="0" err="1" smtClean="0"/>
                  <a:t>i</a:t>
                </a:r>
                <a:r>
                  <a:rPr lang="zh-CN" altLang="en-US" dirty="0" smtClean="0"/>
                  <a:t>个输入，</a:t>
                </a:r>
                <a:r>
                  <a:rPr lang="en-US" altLang="zh-CN" dirty="0" err="1" smtClean="0"/>
                  <a:t>y</a:t>
                </a:r>
                <a:r>
                  <a:rPr lang="en-US" altLang="zh-CN" baseline="-25000" dirty="0" err="1" smtClean="0"/>
                  <a:t>rj</a:t>
                </a:r>
                <a:r>
                  <a:rPr lang="zh-CN" altLang="en-US" dirty="0" smtClean="0"/>
                  <a:t>是</a:t>
                </a:r>
                <a:r>
                  <a:rPr lang="en-US" altLang="zh-CN" dirty="0" smtClean="0"/>
                  <a:t>ROI</a:t>
                </a:r>
                <a:r>
                  <a:rPr lang="zh-CN" altLang="en-US" dirty="0" smtClean="0"/>
                  <a:t>池化层对</a:t>
                </a:r>
                <a:r>
                  <a:rPr lang="en-US" altLang="zh-CN" dirty="0" smtClean="0"/>
                  <a:t>r</a:t>
                </a:r>
                <a:r>
                  <a:rPr lang="zh-CN" altLang="en-US" dirty="0" smtClean="0"/>
                  <a:t>个</a:t>
                </a:r>
                <a:r>
                  <a:rPr lang="en-US" altLang="zh-CN" dirty="0" smtClean="0"/>
                  <a:t>ROI</a:t>
                </a:r>
                <a:r>
                  <a:rPr lang="zh-CN" altLang="en-US" dirty="0" smtClean="0"/>
                  <a:t>进行最大池化后的第</a:t>
                </a:r>
                <a:r>
                  <a:rPr lang="en-US" altLang="zh-CN" dirty="0" smtClean="0"/>
                  <a:t>j</a:t>
                </a:r>
                <a:r>
                  <a:rPr lang="zh-CN" altLang="en-US" dirty="0" smtClean="0"/>
                  <a:t>个输出</a:t>
                </a:r>
                <a:r>
                  <a:rPr lang="en-US" altLang="zh-CN" dirty="0" smtClean="0"/>
                  <a:t>,</a:t>
                </a:r>
                <a:r>
                  <a:rPr lang="zh-CN" altLang="en-US" dirty="0" smtClean="0"/>
                  <a:t>经过</a:t>
                </a:r>
                <a:r>
                  <a:rPr lang="en-US" altLang="zh-CN" dirty="0" smtClean="0"/>
                  <a:t>ROI</a:t>
                </a:r>
                <a:r>
                  <a:rPr lang="zh-CN" altLang="en-US" dirty="0" smtClean="0"/>
                  <a:t>池化层的前向传播</a:t>
                </a:r>
                <a:r>
                  <a:rPr lang="en-US" altLang="zh-CN" dirty="0" smtClean="0"/>
                  <a:t>,</a:t>
                </a:r>
                <a:r>
                  <a:rPr lang="en-US" altLang="zh-CN" baseline="0" dirty="0" smtClean="0"/>
                  <a:t>   </a:t>
                </a:r>
                <a:r>
                  <a:rPr lang="en-US" altLang="zh-CN" dirty="0" smtClean="0"/>
                  <a:t> </a:t>
                </a:r>
                <a:r>
                  <a:rPr lang="zh-CN" altLang="en-US" dirty="0" smtClean="0"/>
                  <a:t>其中</a:t>
                </a:r>
                <a:r>
                  <a:rPr lang="zh-CN" altLang="en-US" baseline="0" dirty="0" smtClean="0"/>
                  <a:t>   </a:t>
                </a:r>
                <a:r>
                  <a:rPr lang="en-US" altLang="zh-CN" dirty="0" smtClean="0"/>
                  <a:t>R(</a:t>
                </a:r>
                <a:r>
                  <a:rPr lang="en-US" altLang="zh-CN" dirty="0" err="1" smtClean="0"/>
                  <a:t>r,j</a:t>
                </a:r>
                <a:r>
                  <a:rPr lang="en-US" altLang="zh-CN" dirty="0" smtClean="0"/>
                  <a:t>)</a:t>
                </a:r>
                <a:r>
                  <a:rPr lang="zh-CN" altLang="en-US" dirty="0" smtClean="0"/>
                  <a:t>表示所有以</a:t>
                </a:r>
                <a:r>
                  <a:rPr lang="en-US" altLang="zh-CN" dirty="0" err="1" smtClean="0"/>
                  <a:t>y</a:t>
                </a:r>
                <a:r>
                  <a:rPr lang="en-US" altLang="zh-CN" baseline="-25000" dirty="0" err="1" smtClean="0"/>
                  <a:t>rj</a:t>
                </a:r>
                <a:r>
                  <a:rPr lang="zh-CN" altLang="en-US" dirty="0" smtClean="0"/>
                  <a:t>为最大池化输出的所有</a:t>
                </a:r>
                <a:r>
                  <a:rPr lang="en-US" altLang="zh-CN" dirty="0" smtClean="0"/>
                  <a:t>x</a:t>
                </a:r>
                <a:r>
                  <a:rPr lang="en-US" altLang="zh-CN" baseline="-25000" dirty="0" smtClean="0"/>
                  <a:t>i</a:t>
                </a:r>
                <a:r>
                  <a:rPr lang="zh-CN" altLang="en-US" dirty="0" smtClean="0"/>
                  <a:t>对应的指标</a:t>
                </a:r>
                <a:r>
                  <a:rPr lang="en-US" altLang="zh-CN" dirty="0" err="1" smtClean="0"/>
                  <a:t>i</a:t>
                </a:r>
                <a:r>
                  <a:rPr lang="zh-CN" altLang="en-US" dirty="0" smtClean="0"/>
                  <a:t>的集合。对于反向传播，损失函数相对于</a:t>
                </a:r>
                <a:r>
                  <a:rPr lang="en-US" altLang="zh-CN" dirty="0" smtClean="0"/>
                  <a:t>ROI</a:t>
                </a:r>
                <a:r>
                  <a:rPr lang="zh-CN" altLang="en-US" dirty="0" smtClean="0"/>
                  <a:t>层的输入</a:t>
                </a:r>
                <a:r>
                  <a:rPr lang="en-US" altLang="zh-CN" dirty="0" smtClean="0"/>
                  <a:t>x</a:t>
                </a:r>
                <a:r>
                  <a:rPr lang="en-US" altLang="zh-CN" baseline="-25000" dirty="0" smtClean="0"/>
                  <a:t>i</a:t>
                </a:r>
                <a:r>
                  <a:rPr lang="zh-CN" altLang="en-US" dirty="0" smtClean="0"/>
                  <a:t>，偏导数为</a:t>
                </a:r>
                <a14:m>
                  <m:oMath xmlns:m="http://schemas.openxmlformats.org/officeDocument/2006/math">
                    <m:f>
                      <m:fPr>
                        <m:ctrlPr>
                          <a:rPr lang="en-US" altLang="zh-CN" i="1" smtClean="0">
                            <a:latin typeface="Cambria Math" panose="02040503050406030204" pitchFamily="18" charset="0"/>
                          </a:rPr>
                        </m:ctrlPr>
                      </m:fPr>
                      <m:num>
                        <m:r>
                          <a:rPr lang="zh-CN" altLang="en-US" i="1" smtClean="0">
                            <a:latin typeface="Cambria Math" panose="02040503050406030204" pitchFamily="18" charset="0"/>
                          </a:rPr>
                          <m:t>𝜕</m:t>
                        </m:r>
                        <m:r>
                          <a:rPr lang="en-US" altLang="zh-CN" b="0" i="1" smtClean="0">
                            <a:latin typeface="Cambria Math" panose="02040503050406030204" pitchFamily="18" charset="0"/>
                          </a:rPr>
                          <m:t>𝐿</m:t>
                        </m:r>
                      </m:num>
                      <m:den>
                        <m:r>
                          <a:rPr lang="zh-CN" altLang="en-US"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den>
                    </m:f>
                    <m:r>
                      <a:rPr lang="en-US" altLang="zh-CN" i="1" smtClean="0">
                        <a:latin typeface="Cambria Math" panose="02040503050406030204" pitchFamily="18" charset="0"/>
                        <a:ea typeface="Cambria Math" panose="02040503050406030204" pitchFamily="18" charset="0"/>
                      </a:rPr>
                      <m:t>=</m:t>
                    </m:r>
                    <m:nary>
                      <m:naryPr>
                        <m:chr m:val="∑"/>
                        <m:supHide m:val="on"/>
                        <m:ctrlPr>
                          <a:rPr lang="en-US"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𝑟</m:t>
                        </m:r>
                      </m:sub>
                      <m:sup/>
                      <m:e>
                        <m:nary>
                          <m:naryPr>
                            <m:chr m:val="∑"/>
                            <m:supHide m:val="on"/>
                            <m:ctrlPr>
                              <a:rPr lang="en-US"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𝑗</m:t>
                            </m:r>
                          </m:sub>
                          <m:sup/>
                          <m:e>
                            <m:d>
                              <m:dPr>
                                <m:begChr m:val="["/>
                                <m:endChr m:val="]"/>
                                <m:ctrlPr>
                                  <a:rPr lang="en-US"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𝑟</m:t>
                                    </m:r>
                                    <m:r>
                                      <a:rPr lang="en-US" altLang="zh-CN" i="1">
                                        <a:latin typeface="Cambria Math" panose="02040503050406030204" pitchFamily="18" charset="0"/>
                                      </a:rPr>
                                      <m:t>,</m:t>
                                    </m:r>
                                    <m:r>
                                      <a:rPr lang="en-US" altLang="zh-CN" i="1">
                                        <a:latin typeface="Cambria Math" panose="02040503050406030204" pitchFamily="18" charset="0"/>
                                      </a:rPr>
                                      <m:t>𝑗</m:t>
                                    </m:r>
                                  </m:e>
                                </m:d>
                              </m:e>
                            </m:d>
                          </m:e>
                        </m:nary>
                      </m:e>
                    </m:nary>
                    <m:f>
                      <m:fPr>
                        <m:ctrlPr>
                          <a:rPr lang="en-US" altLang="zh-CN" i="1" smtClean="0">
                            <a:latin typeface="Cambria Math" panose="02040503050406030204" pitchFamily="18" charset="0"/>
                            <a:ea typeface="Cambria Math" panose="02040503050406030204" pitchFamily="18" charset="0"/>
                          </a:rPr>
                        </m:ctrlPr>
                      </m:fPr>
                      <m:num>
                        <m:r>
                          <a:rPr lang="zh-CN" altLang="en-US"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𝐿</m:t>
                        </m:r>
                      </m:num>
                      <m:den>
                        <m:r>
                          <a:rPr lang="zh-CN" altLang="en-US"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𝑟𝑗</m:t>
                            </m:r>
                          </m:sub>
                        </m:sSub>
                      </m:den>
                    </m:f>
                  </m:oMath>
                </a14:m>
                <a:r>
                  <a:rPr lang="zh-CN" altLang="en-US" dirty="0" smtClean="0"/>
                  <a:t>，这个公式的意思是，</a:t>
                </a:r>
                <a:r>
                  <a:rPr lang="en-US" altLang="zh-CN" dirty="0" smtClean="0"/>
                  <a:t>ROI</a:t>
                </a:r>
                <a:r>
                  <a:rPr lang="zh-CN" altLang="en-US" dirty="0" smtClean="0"/>
                  <a:t>池化层输入变量的导数等于各个</a:t>
                </a:r>
                <a:r>
                  <a:rPr lang="en-US" altLang="zh-CN" dirty="0" smtClean="0"/>
                  <a:t>ROI</a:t>
                </a:r>
                <a:r>
                  <a:rPr lang="zh-CN" altLang="en-US" dirty="0" smtClean="0"/>
                  <a:t>经过最大池化后输出变量的导数之和。因为最终的损失等于每个</a:t>
                </a:r>
                <a:r>
                  <a:rPr lang="en-US" altLang="zh-CN" dirty="0" smtClean="0"/>
                  <a:t>ROI</a:t>
                </a:r>
                <a:r>
                  <a:rPr lang="zh-CN" altLang="en-US" dirty="0" smtClean="0"/>
                  <a:t>带来的损失之和</a:t>
                </a:r>
                <a:r>
                  <a:rPr lang="en-US" altLang="zh-CN" dirty="0" smtClean="0"/>
                  <a:t>,</a:t>
                </a:r>
                <a:r>
                  <a:rPr lang="zh-CN" altLang="en-US" dirty="0" smtClean="0"/>
                  <a:t>所以利用求导公式以及最大池化的反向传播公式</a:t>
                </a:r>
                <a:r>
                  <a:rPr lang="en-US" altLang="zh-CN" dirty="0" smtClean="0"/>
                  <a:t>,</a:t>
                </a:r>
                <a:r>
                  <a:rPr lang="zh-CN" altLang="en-US" dirty="0" smtClean="0"/>
                  <a:t>很容易推导出上述结论。</a:t>
                </a:r>
              </a:p>
              <a:p>
                <a:r>
                  <a:rPr lang="zh-CN" altLang="en-US" dirty="0" smtClean="0"/>
                  <a:t>为了适应不同的尺度目标，可以直接基于多尺度样本训练具有多尺度检测能力的模型</a:t>
                </a:r>
                <a:r>
                  <a:rPr lang="en-US" altLang="zh-CN" dirty="0" smtClean="0"/>
                  <a:t>,</a:t>
                </a:r>
                <a:r>
                  <a:rPr lang="zh-CN" altLang="en-US" dirty="0" smtClean="0"/>
                  <a:t>也可以在测试的时候</a:t>
                </a:r>
                <a:r>
                  <a:rPr lang="en-US" altLang="zh-CN" dirty="0" smtClean="0"/>
                  <a:t>,</a:t>
                </a:r>
                <a:r>
                  <a:rPr lang="zh-CN" altLang="en-US" dirty="0" smtClean="0"/>
                  <a:t>把待测试图像缩放为几个不同尺度，构造图像金字塔，使用模型在金字塔的每一层进行测试</a:t>
                </a:r>
                <a:r>
                  <a:rPr lang="en-US" altLang="zh-CN" dirty="0" smtClean="0"/>
                  <a:t>,</a:t>
                </a:r>
                <a:r>
                  <a:rPr lang="zh-CN" altLang="en-US" dirty="0" smtClean="0"/>
                  <a:t>以此提高模型对多尺度目标的检测能力。后面将介绍的</a:t>
                </a:r>
                <a:r>
                  <a:rPr lang="en-US" altLang="zh-CN" dirty="0" smtClean="0"/>
                  <a:t>FPN</a:t>
                </a:r>
                <a:r>
                  <a:rPr lang="zh-CN" altLang="en-US" dirty="0" smtClean="0"/>
                  <a:t>方法就是以另一种更为高效的手段解决多尺度目标检测的问题。</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训练过程中，需要计算</a:t>
                </a:r>
                <a:r>
                  <a:rPr lang="en-US" altLang="zh-CN" dirty="0" smtClean="0"/>
                  <a:t>ROI</a:t>
                </a:r>
                <a:r>
                  <a:rPr lang="zh-CN" altLang="en-US" dirty="0" smtClean="0"/>
                  <a:t>池化层的前向传播和反向传播。这里假设一个小批次的所有</a:t>
                </a:r>
                <a:r>
                  <a:rPr lang="en-US" altLang="zh-CN" dirty="0" smtClean="0"/>
                  <a:t>ROI</a:t>
                </a:r>
                <a:r>
                  <a:rPr lang="zh-CN" altLang="en-US" dirty="0" smtClean="0"/>
                  <a:t>都来自</a:t>
                </a:r>
                <a:r>
                  <a:rPr lang="en-US" altLang="zh-CN" dirty="0" smtClean="0"/>
                  <a:t>1</a:t>
                </a:r>
                <a:r>
                  <a:rPr lang="zh-CN" altLang="en-US" dirty="0" smtClean="0"/>
                  <a:t>张图像（前向传播的过程</a:t>
                </a:r>
                <a:r>
                  <a:rPr lang="en-US" altLang="zh-CN" dirty="0" smtClean="0"/>
                  <a:t>,</a:t>
                </a:r>
                <a:r>
                  <a:rPr lang="zh-CN" altLang="en-US" dirty="0" smtClean="0"/>
                  <a:t>对每张图像都是独立处理的</a:t>
                </a:r>
                <a:r>
                  <a:rPr lang="en-US" altLang="zh-CN" dirty="0" smtClean="0"/>
                  <a:t>,</a:t>
                </a:r>
                <a:r>
                  <a:rPr lang="zh-CN" altLang="en-US" dirty="0" smtClean="0"/>
                  <a:t>因此</a:t>
                </a:r>
                <a:r>
                  <a:rPr lang="en-US" altLang="zh-CN" dirty="0" smtClean="0"/>
                  <a:t>N&gt;1</a:t>
                </a:r>
                <a:r>
                  <a:rPr lang="zh-CN" altLang="en-US" dirty="0" smtClean="0"/>
                  <a:t>的情况类似，可以直接推广过去</a:t>
                </a:r>
                <a:r>
                  <a:rPr lang="en-US" altLang="zh-CN" dirty="0" smtClean="0"/>
                  <a:t>)</a:t>
                </a:r>
                <a:r>
                  <a:rPr lang="zh-CN" altLang="en-US" dirty="0" smtClean="0"/>
                  <a:t>。假设</a:t>
                </a:r>
                <a:r>
                  <a:rPr lang="en-US" altLang="zh-CN" dirty="0" smtClean="0"/>
                  <a:t>x</a:t>
                </a:r>
                <a:r>
                  <a:rPr lang="en-US" altLang="zh-CN" baseline="-25000" dirty="0" smtClean="0"/>
                  <a:t>i</a:t>
                </a:r>
                <a:r>
                  <a:rPr lang="zh-CN" altLang="en-US" dirty="0" smtClean="0"/>
                  <a:t>是</a:t>
                </a:r>
                <a:r>
                  <a:rPr lang="en-US" altLang="zh-CN" dirty="0" smtClean="0"/>
                  <a:t>ROI</a:t>
                </a:r>
                <a:r>
                  <a:rPr lang="zh-CN" altLang="en-US" dirty="0" smtClean="0"/>
                  <a:t>池化层的第</a:t>
                </a:r>
                <a:r>
                  <a:rPr lang="en-US" altLang="zh-CN" dirty="0" err="1" smtClean="0"/>
                  <a:t>i</a:t>
                </a:r>
                <a:r>
                  <a:rPr lang="zh-CN" altLang="en-US" dirty="0" smtClean="0"/>
                  <a:t>个输入，</a:t>
                </a:r>
                <a:r>
                  <a:rPr lang="en-US" altLang="zh-CN" dirty="0" err="1" smtClean="0"/>
                  <a:t>y</a:t>
                </a:r>
                <a:r>
                  <a:rPr lang="en-US" altLang="zh-CN" baseline="-25000" dirty="0" err="1" smtClean="0"/>
                  <a:t>rj</a:t>
                </a:r>
                <a:r>
                  <a:rPr lang="zh-CN" altLang="en-US" dirty="0" smtClean="0"/>
                  <a:t>是</a:t>
                </a:r>
                <a:r>
                  <a:rPr lang="en-US" altLang="zh-CN" dirty="0" smtClean="0"/>
                  <a:t>ROI</a:t>
                </a:r>
                <a:r>
                  <a:rPr lang="zh-CN" altLang="en-US" dirty="0" smtClean="0"/>
                  <a:t>池化层对</a:t>
                </a:r>
                <a:r>
                  <a:rPr lang="en-US" altLang="zh-CN" dirty="0" smtClean="0"/>
                  <a:t>r</a:t>
                </a:r>
                <a:r>
                  <a:rPr lang="zh-CN" altLang="en-US" dirty="0" smtClean="0"/>
                  <a:t>个</a:t>
                </a:r>
                <a:r>
                  <a:rPr lang="en-US" altLang="zh-CN" dirty="0" smtClean="0"/>
                  <a:t>ROI</a:t>
                </a:r>
                <a:r>
                  <a:rPr lang="zh-CN" altLang="en-US" dirty="0" smtClean="0"/>
                  <a:t>进行最大池化后的第</a:t>
                </a:r>
                <a:r>
                  <a:rPr lang="en-US" altLang="zh-CN" dirty="0" smtClean="0"/>
                  <a:t>j</a:t>
                </a:r>
                <a:r>
                  <a:rPr lang="zh-CN" altLang="en-US" dirty="0" smtClean="0"/>
                  <a:t>个输出</a:t>
                </a:r>
                <a:r>
                  <a:rPr lang="en-US" altLang="zh-CN" dirty="0" smtClean="0"/>
                  <a:t>,</a:t>
                </a:r>
                <a:r>
                  <a:rPr lang="zh-CN" altLang="en-US" dirty="0" smtClean="0"/>
                  <a:t>经过</a:t>
                </a:r>
                <a:r>
                  <a:rPr lang="en-US" altLang="zh-CN" dirty="0" smtClean="0"/>
                  <a:t>ROI</a:t>
                </a:r>
                <a:r>
                  <a:rPr lang="zh-CN" altLang="en-US" dirty="0" smtClean="0"/>
                  <a:t>池化层的前向传播</a:t>
                </a:r>
                <a:r>
                  <a:rPr lang="en-US" altLang="zh-CN" dirty="0" smtClean="0"/>
                  <a:t>,</a:t>
                </a:r>
                <a:r>
                  <a:rPr lang="en-US" altLang="zh-CN" baseline="0" dirty="0" smtClean="0"/>
                  <a:t>   </a:t>
                </a:r>
                <a:r>
                  <a:rPr lang="en-US" altLang="zh-CN" dirty="0" smtClean="0"/>
                  <a:t> </a:t>
                </a:r>
                <a:r>
                  <a:rPr lang="zh-CN" altLang="en-US" dirty="0" smtClean="0"/>
                  <a:t>其中</a:t>
                </a:r>
                <a:r>
                  <a:rPr lang="zh-CN" altLang="en-US" baseline="0" dirty="0" smtClean="0"/>
                  <a:t>   </a:t>
                </a:r>
                <a:r>
                  <a:rPr lang="en-US" altLang="zh-CN" dirty="0" smtClean="0"/>
                  <a:t>R(</a:t>
                </a:r>
                <a:r>
                  <a:rPr lang="en-US" altLang="zh-CN" dirty="0" err="1" smtClean="0"/>
                  <a:t>r,j</a:t>
                </a:r>
                <a:r>
                  <a:rPr lang="en-US" altLang="zh-CN" dirty="0" smtClean="0"/>
                  <a:t>)</a:t>
                </a:r>
                <a:r>
                  <a:rPr lang="zh-CN" altLang="en-US" dirty="0" smtClean="0"/>
                  <a:t>表示所有以</a:t>
                </a:r>
                <a:r>
                  <a:rPr lang="en-US" altLang="zh-CN" dirty="0" err="1" smtClean="0"/>
                  <a:t>y</a:t>
                </a:r>
                <a:r>
                  <a:rPr lang="en-US" altLang="zh-CN" baseline="-25000" dirty="0" err="1" smtClean="0"/>
                  <a:t>rj</a:t>
                </a:r>
                <a:r>
                  <a:rPr lang="zh-CN" altLang="en-US" dirty="0" smtClean="0"/>
                  <a:t>为最大池化输出的所有</a:t>
                </a:r>
                <a:r>
                  <a:rPr lang="en-US" altLang="zh-CN" dirty="0" smtClean="0"/>
                  <a:t>x</a:t>
                </a:r>
                <a:r>
                  <a:rPr lang="en-US" altLang="zh-CN" baseline="-25000" dirty="0" smtClean="0"/>
                  <a:t>i</a:t>
                </a:r>
                <a:r>
                  <a:rPr lang="zh-CN" altLang="en-US" dirty="0" smtClean="0"/>
                  <a:t>对应的指标</a:t>
                </a:r>
                <a:r>
                  <a:rPr lang="en-US" altLang="zh-CN" dirty="0" err="1" smtClean="0"/>
                  <a:t>i</a:t>
                </a:r>
                <a:r>
                  <a:rPr lang="zh-CN" altLang="en-US" dirty="0" smtClean="0"/>
                  <a:t>的集合。对于反向传播，损失函数相对于</a:t>
                </a:r>
                <a:r>
                  <a:rPr lang="en-US" altLang="zh-CN" dirty="0" smtClean="0"/>
                  <a:t>ROI</a:t>
                </a:r>
                <a:r>
                  <a:rPr lang="zh-CN" altLang="en-US" dirty="0" smtClean="0"/>
                  <a:t>层的输入</a:t>
                </a:r>
                <a:r>
                  <a:rPr lang="en-US" altLang="zh-CN" dirty="0" smtClean="0"/>
                  <a:t>x</a:t>
                </a:r>
                <a:r>
                  <a:rPr lang="en-US" altLang="zh-CN" baseline="-25000" dirty="0" smtClean="0"/>
                  <a:t>i</a:t>
                </a:r>
                <a:r>
                  <a:rPr lang="zh-CN" altLang="en-US" dirty="0" smtClean="0"/>
                  <a:t>，偏导数为</a:t>
                </a:r>
                <a:r>
                  <a:rPr lang="zh-CN" altLang="en-US" i="0" smtClean="0">
                    <a:latin typeface="Cambria Math" panose="02040503050406030204" pitchFamily="18" charset="0"/>
                  </a:rPr>
                  <a:t>𝜕</a:t>
                </a:r>
                <a:r>
                  <a:rPr lang="en-US" altLang="zh-CN" b="0" i="0" smtClean="0">
                    <a:latin typeface="Cambria Math" panose="02040503050406030204" pitchFamily="18" charset="0"/>
                  </a:rPr>
                  <a:t>𝐿/(</a:t>
                </a:r>
                <a:r>
                  <a:rPr lang="zh-CN" altLang="en-US" i="0" smtClean="0">
                    <a:latin typeface="Cambria Math" panose="02040503050406030204" pitchFamily="18" charset="0"/>
                  </a:rPr>
                  <a:t>𝜕</a:t>
                </a:r>
                <a:r>
                  <a:rPr lang="en-US" altLang="zh-CN" b="0" i="0" smtClean="0">
                    <a:latin typeface="Cambria Math" panose="02040503050406030204" pitchFamily="18" charset="0"/>
                  </a:rPr>
                  <a:t>𝑥_𝑖 )</a:t>
                </a:r>
                <a:r>
                  <a:rPr lang="en-US"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_𝑟</a:t>
                </a:r>
                <a:r>
                  <a:rPr lang="en-US" altLang="zh-CN" b="0" i="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∑_𝑗</a:t>
                </a:r>
                <a:r>
                  <a:rPr lang="en-US" altLang="zh-CN" b="0" i="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[𝑖=𝑖∗</a:t>
                </a:r>
                <a:r>
                  <a:rPr lang="en-US" altLang="zh-CN" b="0" i="0">
                    <a:latin typeface="Cambria Math" panose="02040503050406030204" pitchFamily="18" charset="0"/>
                    <a:ea typeface="Cambria Math" panose="02040503050406030204" pitchFamily="18" charset="0"/>
                  </a:rPr>
                  <a:t>(</a:t>
                </a:r>
                <a:r>
                  <a:rPr lang="en-US" altLang="zh-CN" i="0">
                    <a:latin typeface="Cambria Math" panose="02040503050406030204" pitchFamily="18" charset="0"/>
                  </a:rPr>
                  <a:t>𝑟,𝑗)] </a:t>
                </a:r>
                <a:r>
                  <a:rPr lang="en-US" altLang="zh-CN" i="0" smtClean="0">
                    <a:latin typeface="Cambria Math" panose="02040503050406030204" pitchFamily="18" charset="0"/>
                    <a:ea typeface="Cambria Math" panose="02040503050406030204" pitchFamily="18" charset="0"/>
                  </a:rPr>
                  <a:t> </a:t>
                </a:r>
                <a:r>
                  <a:rPr lang="zh-CN" altLang="en-US" i="0" smtClean="0">
                    <a:latin typeface="Cambria Math" panose="02040503050406030204" pitchFamily="18" charset="0"/>
                  </a:rPr>
                  <a:t> </a:t>
                </a:r>
                <a:r>
                  <a:rPr lang="zh-CN" altLang="en-US"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𝐿/(</a:t>
                </a:r>
                <a:r>
                  <a:rPr lang="zh-CN" altLang="en-US"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𝑦_𝑟𝑗 )</a:t>
                </a:r>
                <a:r>
                  <a:rPr lang="zh-CN" altLang="en-US" dirty="0" smtClean="0"/>
                  <a:t>，这个公式的意思是，</a:t>
                </a:r>
                <a:r>
                  <a:rPr lang="en-US" altLang="zh-CN" dirty="0" smtClean="0"/>
                  <a:t>ROI</a:t>
                </a:r>
                <a:r>
                  <a:rPr lang="zh-CN" altLang="en-US" dirty="0" smtClean="0"/>
                  <a:t>池化层输入变量的导数等于各个</a:t>
                </a:r>
                <a:r>
                  <a:rPr lang="en-US" altLang="zh-CN" dirty="0" smtClean="0"/>
                  <a:t>ROI</a:t>
                </a:r>
                <a:r>
                  <a:rPr lang="zh-CN" altLang="en-US" dirty="0" smtClean="0"/>
                  <a:t>经过最大池化后输出变量的导数之和。因为最终的损失等于每个</a:t>
                </a:r>
                <a:r>
                  <a:rPr lang="en-US" altLang="zh-CN" dirty="0" smtClean="0"/>
                  <a:t>ROI</a:t>
                </a:r>
                <a:r>
                  <a:rPr lang="zh-CN" altLang="en-US" dirty="0" smtClean="0"/>
                  <a:t>带来的损失之和</a:t>
                </a:r>
                <a:r>
                  <a:rPr lang="en-US" altLang="zh-CN" dirty="0" smtClean="0"/>
                  <a:t>,</a:t>
                </a:r>
                <a:r>
                  <a:rPr lang="zh-CN" altLang="en-US" dirty="0" smtClean="0"/>
                  <a:t>所以利用求导公式以及最大池化的反向传播公式</a:t>
                </a:r>
                <a:r>
                  <a:rPr lang="en-US" altLang="zh-CN" dirty="0" smtClean="0"/>
                  <a:t>,</a:t>
                </a:r>
                <a:r>
                  <a:rPr lang="zh-CN" altLang="en-US" dirty="0" smtClean="0"/>
                  <a:t>很容易推导出上述结论。</a:t>
                </a:r>
              </a:p>
              <a:p>
                <a:r>
                  <a:rPr lang="zh-CN" altLang="en-US" dirty="0" smtClean="0"/>
                  <a:t>为了适应不同的尺度目标，可以直接基于多尺度样本训练具有多尺度检测能力的模型</a:t>
                </a:r>
                <a:r>
                  <a:rPr lang="en-US" altLang="zh-CN" dirty="0" smtClean="0"/>
                  <a:t>,</a:t>
                </a:r>
                <a:r>
                  <a:rPr lang="zh-CN" altLang="en-US" dirty="0" smtClean="0"/>
                  <a:t>也可以在测试的时候</a:t>
                </a:r>
                <a:r>
                  <a:rPr lang="en-US" altLang="zh-CN" dirty="0" smtClean="0"/>
                  <a:t>,</a:t>
                </a:r>
                <a:r>
                  <a:rPr lang="zh-CN" altLang="en-US" dirty="0" smtClean="0"/>
                  <a:t>把待测试图像缩放为几个不同尺度，构造图像金字塔，使用模型在金字塔的每一层进行测试</a:t>
                </a:r>
                <a:r>
                  <a:rPr lang="en-US" altLang="zh-CN" dirty="0" smtClean="0"/>
                  <a:t>,</a:t>
                </a:r>
                <a:r>
                  <a:rPr lang="zh-CN" altLang="en-US" dirty="0" smtClean="0"/>
                  <a:t>以此提高模型对多尺度目标的检测能力。后面将介绍的</a:t>
                </a:r>
                <a:r>
                  <a:rPr lang="en-US" altLang="zh-CN" dirty="0" smtClean="0"/>
                  <a:t>FPN</a:t>
                </a:r>
                <a:r>
                  <a:rPr lang="zh-CN" altLang="en-US" dirty="0" smtClean="0"/>
                  <a:t>方法就是以另一种更为高效的手段解决多尺度目标检测的问题。</a:t>
                </a: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571878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在基于</a:t>
            </a:r>
            <a:r>
              <a:rPr lang="en-US" altLang="zh-CN" dirty="0" smtClean="0"/>
              <a:t>Fast R-CNN</a:t>
            </a:r>
            <a:r>
              <a:rPr lang="zh-CN" altLang="en-US" dirty="0" smtClean="0"/>
              <a:t>进行测试的时候，首先通过</a:t>
            </a:r>
            <a:r>
              <a:rPr lang="en-US" altLang="zh-CN" dirty="0" smtClean="0"/>
              <a:t>Selective Search</a:t>
            </a:r>
            <a:r>
              <a:rPr lang="zh-CN" altLang="en-US" dirty="0" smtClean="0"/>
              <a:t>等方法，在原始图像上生成</a:t>
            </a:r>
            <a:r>
              <a:rPr lang="en-US" altLang="zh-CN" dirty="0" smtClean="0"/>
              <a:t>2000</a:t>
            </a:r>
            <a:r>
              <a:rPr lang="zh-CN" altLang="en-US" dirty="0" smtClean="0"/>
              <a:t>个左右的候选框，对于每个候选框，使用训练好的模型进行预测</a:t>
            </a:r>
            <a:r>
              <a:rPr lang="en-US" altLang="zh-CN" dirty="0" smtClean="0"/>
              <a:t>,</a:t>
            </a:r>
            <a:r>
              <a:rPr lang="zh-CN" altLang="en-US" dirty="0" smtClean="0"/>
              <a:t>预测结果为各个类别的分类概率，以及每个分类所对应的包围盒相对于原始候选框位置的偏移量和缩放尺度。待所有的候选框都预测完毕，会得到大量的包围盒</a:t>
            </a:r>
            <a:r>
              <a:rPr lang="en-US" altLang="zh-CN" dirty="0" smtClean="0"/>
              <a:t>,</a:t>
            </a:r>
            <a:r>
              <a:rPr lang="zh-CN" altLang="en-US" dirty="0" smtClean="0"/>
              <a:t>使用前面介绍的非极大值抑制方法对包围盒进行合并，就得到了最终的预测结果。为</a:t>
            </a:r>
          </a:p>
          <a:p>
            <a:r>
              <a:rPr lang="zh-CN" altLang="en-US" dirty="0" smtClean="0"/>
              <a:t>了使预测更具有尺度鲁棒性，可以基于原始图像构造不同尺度的图像金字塔，把金字塔的每一层图像分别送入 </a:t>
            </a:r>
            <a:r>
              <a:rPr lang="en-US" altLang="zh-CN" dirty="0" smtClean="0"/>
              <a:t>Fast R-CNN</a:t>
            </a:r>
            <a:r>
              <a:rPr lang="zh-CN" altLang="en-US" dirty="0" smtClean="0"/>
              <a:t>进行检测，从而得到对尺度变化更加鲁棒的结果。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619439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smtClean="0"/>
              <a:t>Fast R-CNN</a:t>
            </a:r>
            <a:r>
              <a:rPr lang="zh-CN" altLang="en-US" dirty="0" smtClean="0"/>
              <a:t>算法相对于</a:t>
            </a:r>
            <a:r>
              <a:rPr lang="en-US" altLang="zh-CN" dirty="0" smtClean="0"/>
              <a:t>R-CNN</a:t>
            </a:r>
            <a:r>
              <a:rPr lang="zh-CN" altLang="en-US" dirty="0" smtClean="0"/>
              <a:t>有了很大的改进</a:t>
            </a:r>
            <a:r>
              <a:rPr lang="en-US" altLang="zh-CN" dirty="0" smtClean="0"/>
              <a:t>:</a:t>
            </a:r>
            <a:r>
              <a:rPr lang="zh-CN" altLang="en-US" dirty="0" smtClean="0"/>
              <a:t>一方面，一张图像上的多个候选框共享特征</a:t>
            </a:r>
            <a:r>
              <a:rPr lang="en-US" altLang="zh-CN" dirty="0" smtClean="0"/>
              <a:t>:</a:t>
            </a:r>
            <a:r>
              <a:rPr lang="zh-CN" altLang="en-US" dirty="0" smtClean="0"/>
              <a:t>另一方面，类别预测和位置回归在一个前向推理阶段完成。这两点使得检测算法的速度有了显著提升。但是，候选框的生成和后面的前向推理还是两个独立的处理过程，两个过程的衔接成了制约检测流程的瓶颈。下面将要介绍的</a:t>
            </a:r>
            <a:r>
              <a:rPr lang="en-US" altLang="zh-CN" dirty="0" smtClean="0"/>
              <a:t>Faster R-CNN</a:t>
            </a:r>
            <a:r>
              <a:rPr lang="zh-CN" altLang="en-US" dirty="0" smtClean="0"/>
              <a:t>方法正是针对这一瓶颈进行了改进，使得整个目标检测过程构成一个端到端的完整流程。</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726126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基于候选框的算法，比如 </a:t>
            </a:r>
            <a:r>
              <a:rPr lang="en-US" altLang="zh-CN" dirty="0" smtClean="0"/>
              <a:t>Selective Search</a:t>
            </a:r>
            <a:r>
              <a:rPr lang="zh-CN" altLang="en-US" dirty="0" smtClean="0"/>
              <a:t>等，都基于</a:t>
            </a:r>
            <a:r>
              <a:rPr lang="en-US" altLang="zh-CN" dirty="0" smtClean="0"/>
              <a:t>CPU</a:t>
            </a:r>
            <a:r>
              <a:rPr lang="zh-CN" altLang="en-US" dirty="0" smtClean="0"/>
              <a:t>进行计算，无法利用</a:t>
            </a:r>
            <a:r>
              <a:rPr lang="en-US" altLang="zh-CN" dirty="0" smtClean="0"/>
              <a:t>GPU</a:t>
            </a:r>
            <a:r>
              <a:rPr lang="zh-CN" altLang="en-US" dirty="0" smtClean="0"/>
              <a:t>的高并行性进行加速，而基于神经网络的方法</a:t>
            </a:r>
            <a:r>
              <a:rPr lang="en-US" altLang="zh-CN" dirty="0" smtClean="0"/>
              <a:t>,</a:t>
            </a:r>
            <a:r>
              <a:rPr lang="zh-CN" altLang="en-US" dirty="0" smtClean="0"/>
              <a:t>则可以充分利用</a:t>
            </a:r>
            <a:r>
              <a:rPr lang="en-US" altLang="zh-CN" dirty="0" smtClean="0"/>
              <a:t>GPU</a:t>
            </a:r>
            <a:r>
              <a:rPr lang="zh-CN" altLang="en-US" dirty="0" smtClean="0"/>
              <a:t>并行计算的优势，极大地提升了算法速度。如果能够通过神经网络的方法提取候选框</a:t>
            </a:r>
            <a:r>
              <a:rPr lang="en-US" altLang="zh-CN" dirty="0" smtClean="0"/>
              <a:t>,</a:t>
            </a:r>
            <a:r>
              <a:rPr lang="zh-CN" altLang="en-US" dirty="0" smtClean="0"/>
              <a:t>就可以更进一步地提升整个算法的执行速度。</a:t>
            </a:r>
            <a:r>
              <a:rPr lang="en-US" altLang="zh-CN" dirty="0" smtClean="0"/>
              <a:t>Faster R-CNN</a:t>
            </a:r>
            <a:r>
              <a:rPr lang="zh-CN" altLang="en-US" dirty="0" smtClean="0"/>
              <a:t>就是基于这个思路</a:t>
            </a:r>
            <a:r>
              <a:rPr lang="en-US" altLang="zh-CN" dirty="0" smtClean="0"/>
              <a:t>,</a:t>
            </a:r>
            <a:r>
              <a:rPr lang="zh-CN" altLang="en-US" dirty="0" smtClean="0"/>
              <a:t>将一个全卷积网络作为候选框提取网络（</a:t>
            </a:r>
            <a:r>
              <a:rPr lang="en-US" altLang="zh-CN" dirty="0" smtClean="0"/>
              <a:t>Region </a:t>
            </a:r>
            <a:r>
              <a:rPr lang="en-US" altLang="zh-CN" dirty="0" err="1" smtClean="0"/>
              <a:t>Prososal</a:t>
            </a:r>
            <a:r>
              <a:rPr lang="en-US" altLang="zh-CN" dirty="0" smtClean="0"/>
              <a:t> </a:t>
            </a:r>
            <a:r>
              <a:rPr lang="en-US" altLang="zh-CN" dirty="0" err="1" smtClean="0"/>
              <a:t>Network,RPN</a:t>
            </a:r>
            <a:r>
              <a:rPr lang="en-US" altLang="zh-CN" dirty="0" smtClean="0"/>
              <a:t>),</a:t>
            </a:r>
            <a:r>
              <a:rPr lang="zh-CN" altLang="en-US" dirty="0" smtClean="0"/>
              <a:t>来提取各种尺度和宽高比的候选框。为了更进一步地提升效率，后续的目标检测算法和</a:t>
            </a:r>
            <a:r>
              <a:rPr lang="en-US" altLang="zh-CN" dirty="0" smtClean="0"/>
              <a:t>RPN</a:t>
            </a:r>
            <a:r>
              <a:rPr lang="zh-CN" altLang="en-US" dirty="0" smtClean="0"/>
              <a:t>网络共享卷积特征</a:t>
            </a:r>
            <a:r>
              <a:rPr lang="en-US" altLang="zh-CN" dirty="0" smtClean="0"/>
              <a:t>,</a:t>
            </a:r>
            <a:r>
              <a:rPr lang="zh-CN" altLang="en-US" dirty="0" smtClean="0"/>
              <a:t>使得整个检测过程更加流畅</a:t>
            </a:r>
            <a:r>
              <a:rPr lang="en-US" altLang="zh-CN" dirty="0" smtClean="0"/>
              <a:t>,</a:t>
            </a:r>
            <a:r>
              <a:rPr lang="zh-CN" altLang="en-US" dirty="0" smtClean="0"/>
              <a:t>整体速度得到了显著提升。</a:t>
            </a:r>
          </a:p>
          <a:p>
            <a:r>
              <a:rPr lang="en-US" altLang="zh-CN" dirty="0" smtClean="0"/>
              <a:t>Faster R-CNN</a:t>
            </a:r>
            <a:r>
              <a:rPr lang="zh-CN" altLang="en-US" dirty="0" smtClean="0"/>
              <a:t>算法由两个主要的模块组成，如图所示</a:t>
            </a:r>
            <a:r>
              <a:rPr lang="en-US" altLang="zh-CN" dirty="0" smtClean="0"/>
              <a:t>,</a:t>
            </a:r>
            <a:r>
              <a:rPr lang="zh-CN" altLang="en-US" dirty="0" smtClean="0"/>
              <a:t>第一个模块是用于提取候选框的全卷积网络（</a:t>
            </a:r>
            <a:r>
              <a:rPr lang="en-US" altLang="zh-CN" dirty="0" smtClean="0"/>
              <a:t>RPN),</a:t>
            </a:r>
            <a:r>
              <a:rPr lang="zh-CN" altLang="en-US" dirty="0" smtClean="0"/>
              <a:t>第二个模块是基于候选框的</a:t>
            </a:r>
            <a:r>
              <a:rPr lang="en-US" altLang="zh-CN" dirty="0" smtClean="0"/>
              <a:t>Fast R-CNN</a:t>
            </a:r>
            <a:r>
              <a:rPr lang="zh-CN" altLang="en-US" dirty="0" smtClean="0"/>
              <a:t>目标检测器。整个检测过程通过一个网络完成。</a:t>
            </a:r>
            <a:r>
              <a:rPr lang="en-US" altLang="zh-CN" dirty="0" smtClean="0"/>
              <a:t>Faster</a:t>
            </a:r>
            <a:r>
              <a:rPr lang="en-US" altLang="zh-CN" baseline="0" dirty="0" smtClean="0"/>
              <a:t> </a:t>
            </a:r>
            <a:r>
              <a:rPr lang="en-US" altLang="zh-CN" dirty="0" smtClean="0"/>
              <a:t>R-CNN </a:t>
            </a:r>
            <a:r>
              <a:rPr lang="zh-CN" altLang="en-US" dirty="0" smtClean="0"/>
              <a:t>使用了所谓的注意力（</a:t>
            </a:r>
            <a:r>
              <a:rPr lang="en-US" altLang="zh-CN" dirty="0" smtClean="0"/>
              <a:t>attention)</a:t>
            </a:r>
            <a:r>
              <a:rPr lang="zh-CN" altLang="en-US" dirty="0" smtClean="0"/>
              <a:t>机制，</a:t>
            </a:r>
            <a:r>
              <a:rPr lang="en-US" altLang="zh-CN" dirty="0" smtClean="0"/>
              <a:t>RPN</a:t>
            </a:r>
            <a:r>
              <a:rPr lang="zh-CN" altLang="en-US" dirty="0" smtClean="0"/>
              <a:t>模块会告诉</a:t>
            </a:r>
            <a:r>
              <a:rPr lang="en-US" altLang="zh-CN" dirty="0" smtClean="0"/>
              <a:t>Faster R-CNN</a:t>
            </a:r>
            <a:r>
              <a:rPr lang="zh-CN" altLang="en-US" dirty="0" smtClean="0"/>
              <a:t>需要关注哪里。</a:t>
            </a:r>
            <a:endParaRPr lang="en-US" altLang="zh-CN" dirty="0" smtClean="0"/>
          </a:p>
          <a:p>
            <a:r>
              <a:rPr lang="zh-CN" altLang="en-US" dirty="0" smtClean="0"/>
              <a:t>候选框提取网络（</a:t>
            </a:r>
            <a:r>
              <a:rPr lang="en-US" altLang="zh-CN" dirty="0" smtClean="0"/>
              <a:t>RPN)</a:t>
            </a:r>
            <a:r>
              <a:rPr lang="zh-CN" altLang="en-US" dirty="0" smtClean="0"/>
              <a:t>其实是一个全卷积网络</a:t>
            </a:r>
            <a:r>
              <a:rPr lang="en-US" altLang="zh-CN" dirty="0" smtClean="0"/>
              <a:t>,</a:t>
            </a:r>
            <a:r>
              <a:rPr lang="zh-CN" altLang="en-US" dirty="0" smtClean="0"/>
              <a:t>以任意大小的图像作为输入</a:t>
            </a:r>
            <a:r>
              <a:rPr lang="en-US" altLang="zh-CN" dirty="0" smtClean="0"/>
              <a:t>,</a:t>
            </a:r>
            <a:r>
              <a:rPr lang="zh-CN" altLang="en-US" dirty="0" smtClean="0"/>
              <a:t>输出一系列候选框以及每个候选框对应的分数值，这个分数值用于衡量候选框框中目标的概率。为了提升算法的整体速度</a:t>
            </a:r>
            <a:r>
              <a:rPr lang="en-US" altLang="zh-CN" dirty="0" smtClean="0"/>
              <a:t>,Faster R-CNN</a:t>
            </a:r>
            <a:r>
              <a:rPr lang="zh-CN" altLang="en-US" dirty="0" smtClean="0"/>
              <a:t>在设计上采用了 </a:t>
            </a:r>
            <a:r>
              <a:rPr lang="en-US" altLang="zh-CN" dirty="0" smtClean="0"/>
              <a:t>RPN </a:t>
            </a:r>
            <a:r>
              <a:rPr lang="zh-CN" altLang="en-US" dirty="0" smtClean="0"/>
              <a:t>和</a:t>
            </a:r>
            <a:r>
              <a:rPr lang="en-US" altLang="zh-CN" dirty="0" smtClean="0"/>
              <a:t>Fast</a:t>
            </a:r>
            <a:r>
              <a:rPr lang="en-US" altLang="zh-CN" baseline="0" dirty="0" smtClean="0"/>
              <a:t> </a:t>
            </a:r>
            <a:r>
              <a:rPr lang="en-US" altLang="zh-CN" dirty="0" smtClean="0"/>
              <a:t>R-CNN</a:t>
            </a:r>
            <a:r>
              <a:rPr lang="zh-CN" altLang="en-US" dirty="0" smtClean="0"/>
              <a:t>共享部分卷积特征的方式。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838269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为了生成候选框，</a:t>
            </a:r>
            <a:r>
              <a:rPr lang="en-US" altLang="zh-CN" dirty="0" smtClean="0"/>
              <a:t>Faster R-CNN</a:t>
            </a:r>
            <a:r>
              <a:rPr lang="zh-CN" altLang="en-US" dirty="0" smtClean="0"/>
              <a:t>使用一个卷积网络在共享特征的最后一层特征图上进行滑窗操作，每次滑窗</a:t>
            </a:r>
            <a:r>
              <a:rPr lang="en-US" altLang="zh-CN" dirty="0" smtClean="0"/>
              <a:t>,</a:t>
            </a:r>
            <a:r>
              <a:rPr lang="zh-CN" altLang="en-US" dirty="0" smtClean="0"/>
              <a:t>在特征图上截取</a:t>
            </a:r>
            <a:r>
              <a:rPr lang="en-US" altLang="zh-CN" dirty="0" err="1" smtClean="0"/>
              <a:t>n×n×d</a:t>
            </a:r>
            <a:r>
              <a:rPr lang="zh-CN" altLang="en-US" dirty="0" smtClean="0"/>
              <a:t>大小的特征块</a:t>
            </a:r>
            <a:r>
              <a:rPr lang="en-US" altLang="zh-CN" dirty="0" smtClean="0"/>
              <a:t>(</a:t>
            </a:r>
            <a:r>
              <a:rPr lang="zh-CN" altLang="en-US" dirty="0" smtClean="0"/>
              <a:t>其中</a:t>
            </a:r>
            <a:r>
              <a:rPr lang="en-US" altLang="zh-CN" dirty="0" smtClean="0"/>
              <a:t>n</a:t>
            </a:r>
            <a:r>
              <a:rPr lang="zh-CN" altLang="en-US" dirty="0" smtClean="0"/>
              <a:t>表示滑窗卷积网络输入窗口的宽和高</a:t>
            </a:r>
            <a:r>
              <a:rPr lang="en-US" altLang="zh-CN" dirty="0" smtClean="0"/>
              <a:t>,d</a:t>
            </a:r>
            <a:r>
              <a:rPr lang="zh-CN" altLang="en-US" dirty="0" smtClean="0"/>
              <a:t>表示共享卷积特征最后一层特征图的通道数</a:t>
            </a:r>
            <a:r>
              <a:rPr lang="en-US" altLang="zh-CN" dirty="0" smtClean="0"/>
              <a:t>), </a:t>
            </a:r>
            <a:r>
              <a:rPr lang="zh-CN" altLang="en-US" dirty="0" smtClean="0"/>
              <a:t>经过滑窗卷积网络后输出一个低维特征，并分别送入两个并列的全连接层</a:t>
            </a:r>
            <a:r>
              <a:rPr lang="en-US" altLang="zh-CN" dirty="0" smtClean="0"/>
              <a:t>,</a:t>
            </a:r>
            <a:r>
              <a:rPr lang="zh-CN" altLang="en-US" dirty="0" smtClean="0"/>
              <a:t>其中一个全连接层用于分类，判断当前滑窗对应的图像区域是否包含目标，另一个全连接层用于回归候选框的位置，判断当前候选框相对于当前滑窗所对应图像区域的位置偏移量及缩放尺度。很显然，这一计算过程可以通过先在原先的卷积层之后加入新的与滑动窗口大小相匹配的卷积层，再并联两个全连接层的网络结构来实现。滑窗卷积网络选取</a:t>
            </a:r>
            <a:r>
              <a:rPr lang="en-US" altLang="zh-CN" dirty="0" smtClean="0"/>
              <a:t>n=3</a:t>
            </a:r>
            <a:r>
              <a:rPr lang="zh-CN" altLang="en-US" dirty="0" smtClean="0"/>
              <a:t>，共享卷积网络为</a:t>
            </a:r>
            <a:r>
              <a:rPr lang="en-US" altLang="zh-CN" dirty="0" smtClean="0"/>
              <a:t>ZF</a:t>
            </a:r>
            <a:r>
              <a:rPr lang="zh-CN" altLang="en-US" dirty="0" smtClean="0"/>
              <a:t>网络时，滑窗卷积网络对应的输出为</a:t>
            </a:r>
            <a:r>
              <a:rPr lang="en-US" altLang="zh-CN" dirty="0" smtClean="0"/>
              <a:t>256</a:t>
            </a:r>
            <a:r>
              <a:rPr lang="zh-CN" altLang="en-US" dirty="0" smtClean="0"/>
              <a:t>维，共享卷积网络为</a:t>
            </a:r>
            <a:r>
              <a:rPr lang="en-US" altLang="zh-CN" dirty="0" smtClean="0"/>
              <a:t>VGG16</a:t>
            </a:r>
            <a:r>
              <a:rPr lang="zh-CN" altLang="en-US" dirty="0" smtClean="0"/>
              <a:t>时，滑窗卷积网络对应的输出为</a:t>
            </a:r>
            <a:r>
              <a:rPr lang="en-US" altLang="zh-CN" dirty="0" smtClean="0"/>
              <a:t>512</a:t>
            </a:r>
            <a:r>
              <a:rPr lang="zh-CN" altLang="en-US" dirty="0" smtClean="0"/>
              <a:t>维</a:t>
            </a:r>
            <a:r>
              <a:rPr lang="en-US" altLang="zh-CN" dirty="0" smtClean="0"/>
              <a:t>,</a:t>
            </a:r>
            <a:r>
              <a:rPr lang="zh-CN" altLang="en-US" dirty="0" smtClean="0"/>
              <a:t>并以</a:t>
            </a:r>
            <a:r>
              <a:rPr lang="en-US" altLang="zh-CN" dirty="0" err="1" smtClean="0"/>
              <a:t>ReLU</a:t>
            </a:r>
            <a:r>
              <a:rPr lang="zh-CN" altLang="en-US" dirty="0" smtClean="0"/>
              <a:t>作为卷积网络最终输出的激活函数。在共享卷积特征的最后一层特征图上，每个特征都有很大的感受野，共享卷积网络为</a:t>
            </a:r>
            <a:r>
              <a:rPr lang="en-US" altLang="zh-CN" dirty="0" smtClean="0"/>
              <a:t>ZF</a:t>
            </a:r>
            <a:r>
              <a:rPr lang="zh-CN" altLang="en-US" dirty="0" smtClean="0"/>
              <a:t>网络时，对应的感受野为</a:t>
            </a:r>
            <a:r>
              <a:rPr lang="en-US" altLang="zh-CN" dirty="0" smtClean="0"/>
              <a:t>171</a:t>
            </a:r>
            <a:r>
              <a:rPr lang="zh-CN" altLang="en-US" dirty="0" smtClean="0"/>
              <a:t>像素</a:t>
            </a:r>
            <a:r>
              <a:rPr lang="en-US" altLang="zh-CN" dirty="0" smtClean="0"/>
              <a:t>×171</a:t>
            </a:r>
            <a:r>
              <a:rPr lang="zh-CN" altLang="en-US" dirty="0" smtClean="0"/>
              <a:t>像素</a:t>
            </a:r>
            <a:r>
              <a:rPr lang="en-US" altLang="zh-CN" dirty="0" smtClean="0"/>
              <a:t>,</a:t>
            </a:r>
            <a:r>
              <a:rPr lang="zh-CN" altLang="en-US" dirty="0" smtClean="0"/>
              <a:t>共享卷积网络为</a:t>
            </a:r>
            <a:r>
              <a:rPr lang="en-US" altLang="zh-CN" dirty="0" smtClean="0"/>
              <a:t>VGG16</a:t>
            </a:r>
            <a:r>
              <a:rPr lang="zh-CN" altLang="en-US" dirty="0" smtClean="0"/>
              <a:t>时</a:t>
            </a:r>
            <a:r>
              <a:rPr lang="en-US" altLang="zh-CN" dirty="0" smtClean="0"/>
              <a:t>,</a:t>
            </a:r>
            <a:r>
              <a:rPr lang="zh-CN" altLang="en-US" dirty="0" smtClean="0"/>
              <a:t>对应的感受野为</a:t>
            </a:r>
            <a:r>
              <a:rPr lang="en-US" altLang="zh-CN" dirty="0" smtClean="0"/>
              <a:t>228</a:t>
            </a:r>
            <a:r>
              <a:rPr lang="zh-CN" altLang="en-US" dirty="0" smtClean="0"/>
              <a:t>像素</a:t>
            </a:r>
            <a:r>
              <a:rPr lang="en-US" altLang="zh-CN" dirty="0" smtClean="0"/>
              <a:t>×228</a:t>
            </a:r>
            <a:r>
              <a:rPr lang="zh-CN" altLang="en-US" dirty="0" smtClean="0"/>
              <a:t>像素。</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2526526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参考下图，在每个滑窗位置，我们会同时预测多个候选框。假设需要预测的候选框的个数为</a:t>
            </a:r>
            <a:r>
              <a:rPr lang="en-US" altLang="zh-CN" dirty="0" smtClean="0"/>
              <a:t>k</a:t>
            </a:r>
            <a:r>
              <a:rPr lang="zh-CN" altLang="en-US" dirty="0" smtClean="0"/>
              <a:t>，则用于回归候选框位置的全连接层（回归层</a:t>
            </a:r>
            <a:r>
              <a:rPr lang="en-US" altLang="zh-CN" dirty="0" smtClean="0"/>
              <a:t>)</a:t>
            </a:r>
            <a:r>
              <a:rPr lang="zh-CN" altLang="en-US" dirty="0" smtClean="0"/>
              <a:t>有</a:t>
            </a:r>
            <a:r>
              <a:rPr lang="en-US" altLang="zh-CN" dirty="0" smtClean="0"/>
              <a:t>4k</a:t>
            </a:r>
            <a:r>
              <a:rPr lang="zh-CN" altLang="en-US" dirty="0" smtClean="0"/>
              <a:t>个输出，分别是规范化的水平方向及垂直方向的位置偏移量和缩放尺度</a:t>
            </a:r>
            <a:r>
              <a:rPr lang="en-US" altLang="zh-CN" dirty="0" smtClean="0"/>
              <a:t>:</a:t>
            </a:r>
            <a:r>
              <a:rPr lang="zh-CN" altLang="en-US" dirty="0" smtClean="0"/>
              <a:t>用于类别判别的全连接层</a:t>
            </a:r>
            <a:r>
              <a:rPr lang="en-US" altLang="zh-CN" dirty="0" smtClean="0"/>
              <a:t>(</a:t>
            </a:r>
            <a:r>
              <a:rPr lang="zh-CN" altLang="en-US" dirty="0" smtClean="0"/>
              <a:t>分类层</a:t>
            </a:r>
            <a:r>
              <a:rPr lang="en-US" altLang="zh-CN" dirty="0" smtClean="0"/>
              <a:t>)</a:t>
            </a:r>
            <a:r>
              <a:rPr lang="zh-CN" altLang="en-US" dirty="0" smtClean="0"/>
              <a:t>有</a:t>
            </a:r>
            <a:r>
              <a:rPr lang="en-US" altLang="zh-CN" dirty="0" smtClean="0"/>
              <a:t>2k</a:t>
            </a:r>
            <a:r>
              <a:rPr lang="zh-CN" altLang="en-US" dirty="0" smtClean="0"/>
              <a:t>个输出，分别是当前预测框框中目标或未框中目标的概率。这</a:t>
            </a:r>
            <a:r>
              <a:rPr lang="en-US" altLang="zh-CN" dirty="0" smtClean="0"/>
              <a:t>k</a:t>
            </a:r>
            <a:r>
              <a:rPr lang="zh-CN" altLang="en-US" dirty="0" smtClean="0"/>
              <a:t>个待预测的候选框中每一个框的偏移和缩放都基于一个固定的参考框。</a:t>
            </a:r>
            <a:r>
              <a:rPr lang="en-US" altLang="zh-CN" dirty="0" smtClean="0"/>
              <a:t>k</a:t>
            </a:r>
            <a:r>
              <a:rPr lang="zh-CN" altLang="en-US" dirty="0" smtClean="0"/>
              <a:t>个待预测框对应</a:t>
            </a:r>
            <a:r>
              <a:rPr lang="en-US" altLang="zh-CN" dirty="0" smtClean="0"/>
              <a:t>k</a:t>
            </a:r>
            <a:r>
              <a:rPr lang="zh-CN" altLang="en-US" dirty="0" smtClean="0"/>
              <a:t>个参考框、每个参考框相对于滑窗的感受野的位置都是固定的</a:t>
            </a:r>
            <a:r>
              <a:rPr lang="en-US" altLang="zh-CN" dirty="0" smtClean="0"/>
              <a:t>,</a:t>
            </a:r>
            <a:r>
              <a:rPr lang="zh-CN" altLang="en-US" dirty="0" smtClean="0"/>
              <a:t>即都有固定的大小和宽高比。这样的参考框</a:t>
            </a:r>
            <a:r>
              <a:rPr lang="en-US" altLang="zh-CN" dirty="0" smtClean="0"/>
              <a:t>,</a:t>
            </a:r>
            <a:r>
              <a:rPr lang="zh-CN" altLang="en-US" dirty="0" smtClean="0"/>
              <a:t>我们称之为锚</a:t>
            </a:r>
            <a:r>
              <a:rPr lang="en-US" altLang="zh-CN" dirty="0" smtClean="0"/>
              <a:t>(anchor)</a:t>
            </a:r>
            <a:r>
              <a:rPr lang="zh-CN" altLang="en-US" dirty="0" smtClean="0"/>
              <a:t>。对于任意一个滑窗位置</a:t>
            </a:r>
            <a:r>
              <a:rPr lang="en-US" altLang="zh-CN" dirty="0" smtClean="0"/>
              <a:t>,</a:t>
            </a:r>
            <a:r>
              <a:rPr lang="zh-CN" altLang="en-US" dirty="0" smtClean="0"/>
              <a:t>各个锚的中心点和滑动窗口在原图上感受野的中心点重合，设定若干锚需要取到的面积尺度和宽高比，则对于每个滑窗位置，锚的个数都是固定的</a:t>
            </a:r>
            <a:r>
              <a:rPr lang="en-US" altLang="zh-CN" dirty="0" smtClean="0"/>
              <a:t>(</a:t>
            </a:r>
            <a:r>
              <a:rPr lang="zh-CN" altLang="en-US" dirty="0" smtClean="0"/>
              <a:t>比如</a:t>
            </a:r>
            <a:r>
              <a:rPr lang="en-US" altLang="zh-CN" dirty="0" smtClean="0"/>
              <a:t>,</a:t>
            </a:r>
            <a:r>
              <a:rPr lang="zh-CN" altLang="en-US" dirty="0" smtClean="0"/>
              <a:t>面积设定为</a:t>
            </a:r>
            <a:r>
              <a:rPr lang="en-US" altLang="zh-CN" dirty="0" smtClean="0"/>
              <a:t>128</a:t>
            </a:r>
            <a:r>
              <a:rPr lang="en-US" altLang="zh-CN" baseline="30000" dirty="0" smtClean="0"/>
              <a:t>2</a:t>
            </a:r>
            <a:r>
              <a:rPr lang="zh-CN" altLang="en-US" dirty="0" smtClean="0"/>
              <a:t>、</a:t>
            </a:r>
            <a:r>
              <a:rPr lang="en-US" altLang="zh-CN" dirty="0" smtClean="0"/>
              <a:t>256</a:t>
            </a:r>
            <a:r>
              <a:rPr lang="en-US" altLang="zh-CN" baseline="30000" dirty="0" smtClean="0"/>
              <a:t>2</a:t>
            </a:r>
            <a:r>
              <a:rPr lang="zh-CN" altLang="en-US" dirty="0" smtClean="0"/>
              <a:t>和</a:t>
            </a:r>
            <a:r>
              <a:rPr lang="en-US" altLang="zh-CN" dirty="0" smtClean="0"/>
              <a:t>512</a:t>
            </a:r>
            <a:r>
              <a:rPr lang="en-US" altLang="zh-CN" baseline="30000" dirty="0" smtClean="0"/>
              <a:t>2</a:t>
            </a:r>
            <a:r>
              <a:rPr lang="en-US" altLang="zh-CN" dirty="0" smtClean="0"/>
              <a:t>3</a:t>
            </a:r>
            <a:r>
              <a:rPr lang="zh-CN" altLang="en-US" dirty="0" smtClean="0"/>
              <a:t>个尺度</a:t>
            </a:r>
            <a:r>
              <a:rPr lang="en-US" altLang="zh-CN" dirty="0" smtClean="0"/>
              <a:t>,</a:t>
            </a:r>
            <a:r>
              <a:rPr lang="zh-CN" altLang="en-US" dirty="0" smtClean="0"/>
              <a:t>宽高比设定为</a:t>
            </a:r>
            <a:r>
              <a:rPr lang="en-US" altLang="zh-CN" dirty="0" smtClean="0"/>
              <a:t>1:1</a:t>
            </a:r>
            <a:r>
              <a:rPr lang="zh-CN" altLang="en-US" dirty="0" smtClean="0"/>
              <a:t>、</a:t>
            </a:r>
            <a:r>
              <a:rPr lang="en-US" altLang="zh-CN" dirty="0" smtClean="0"/>
              <a:t>1:2</a:t>
            </a:r>
            <a:r>
              <a:rPr lang="zh-CN" altLang="en-US" dirty="0" smtClean="0"/>
              <a:t>和</a:t>
            </a:r>
            <a:r>
              <a:rPr lang="en-US" altLang="zh-CN" dirty="0" smtClean="0"/>
              <a:t>2:1</a:t>
            </a:r>
            <a:r>
              <a:rPr lang="zh-CN" altLang="en-US" dirty="0" smtClean="0"/>
              <a:t>，则每个滑窗位置对应</a:t>
            </a:r>
            <a:r>
              <a:rPr lang="en-US" altLang="zh-CN" dirty="0" smtClean="0"/>
              <a:t>3×3=9</a:t>
            </a:r>
            <a:r>
              <a:rPr lang="zh-CN" altLang="en-US" dirty="0" smtClean="0"/>
              <a:t>个锚</a:t>
            </a:r>
            <a:r>
              <a:rPr lang="en-US" altLang="zh-CN" dirty="0" smtClean="0"/>
              <a:t>)</a:t>
            </a:r>
            <a:r>
              <a:rPr lang="zh-CN" altLang="en-US" dirty="0" smtClean="0"/>
              <a:t>。通常情况下</a:t>
            </a:r>
            <a:r>
              <a:rPr lang="en-US" altLang="zh-CN" dirty="0" smtClean="0"/>
              <a:t>,</a:t>
            </a:r>
            <a:r>
              <a:rPr lang="zh-CN" altLang="en-US" dirty="0" smtClean="0"/>
              <a:t>每个滑窗位置会设置</a:t>
            </a:r>
            <a:r>
              <a:rPr lang="en-US" altLang="zh-CN" dirty="0" smtClean="0"/>
              <a:t>3</a:t>
            </a:r>
            <a:r>
              <a:rPr lang="zh-CN" altLang="en-US" dirty="0" smtClean="0"/>
              <a:t>个面积尺度和</a:t>
            </a:r>
            <a:r>
              <a:rPr lang="en-US" altLang="zh-CN" dirty="0" smtClean="0"/>
              <a:t>3</a:t>
            </a:r>
            <a:r>
              <a:rPr lang="zh-CN" altLang="en-US" dirty="0" smtClean="0"/>
              <a:t>个宽高比</a:t>
            </a:r>
            <a:r>
              <a:rPr lang="en-US" altLang="zh-CN" dirty="0" smtClean="0"/>
              <a:t>,</a:t>
            </a:r>
            <a:r>
              <a:rPr lang="zh-CN" altLang="en-US" dirty="0" smtClean="0"/>
              <a:t>如图所示</a:t>
            </a:r>
            <a:r>
              <a:rPr lang="en-US" altLang="zh-CN" dirty="0" smtClean="0"/>
              <a:t>,</a:t>
            </a:r>
            <a:r>
              <a:rPr lang="zh-CN" altLang="en-US" dirty="0" smtClean="0"/>
              <a:t>每个滑窗位置包含</a:t>
            </a:r>
            <a:r>
              <a:rPr lang="en-US" altLang="zh-CN" dirty="0" smtClean="0"/>
              <a:t>k=3x3=9</a:t>
            </a:r>
            <a:r>
              <a:rPr lang="zh-CN" altLang="en-US" dirty="0" smtClean="0"/>
              <a:t>个锚</a:t>
            </a:r>
            <a:r>
              <a:rPr lang="en-US" altLang="zh-CN" dirty="0" smtClean="0"/>
              <a:t>,</a:t>
            </a:r>
            <a:r>
              <a:rPr lang="zh-CN" altLang="en-US" dirty="0" smtClean="0"/>
              <a:t>如果一个特征图的宽和高分别为</a:t>
            </a:r>
            <a:r>
              <a:rPr lang="en-US" altLang="zh-CN" dirty="0" smtClean="0"/>
              <a:t>W</a:t>
            </a:r>
            <a:r>
              <a:rPr lang="zh-CN" altLang="en-US" dirty="0" smtClean="0"/>
              <a:t>和</a:t>
            </a:r>
            <a:r>
              <a:rPr lang="en-US" altLang="zh-CN" dirty="0" smtClean="0"/>
              <a:t>H,</a:t>
            </a:r>
            <a:r>
              <a:rPr lang="zh-CN" altLang="en-US" dirty="0" smtClean="0"/>
              <a:t>则总的锚个数为</a:t>
            </a:r>
            <a:r>
              <a:rPr lang="en-US" altLang="zh-CN" dirty="0" err="1" smtClean="0"/>
              <a:t>W×H×k</a:t>
            </a:r>
            <a:r>
              <a:rPr lang="zh-CN" altLang="en-US" dirty="0" smtClean="0"/>
              <a:t>。</a:t>
            </a:r>
          </a:p>
          <a:p>
            <a:r>
              <a:rPr lang="zh-CN" altLang="en-US" dirty="0" smtClean="0"/>
              <a:t>这种定义锚的方法有一个显著特征</a:t>
            </a:r>
            <a:r>
              <a:rPr lang="en-US" altLang="zh-CN" dirty="0" smtClean="0"/>
              <a:t>:</a:t>
            </a:r>
            <a:r>
              <a:rPr lang="zh-CN" altLang="en-US" dirty="0" smtClean="0"/>
              <a:t>检测结果相对于目标在图像中的位置具有平移不变性。道理很简单，在原始图像上，如果一个目标可以被某个滑窗位置对应的一个锚框中，把该目标平移到图像中的另一个位置后，也能够被另一个滑窗位置对应的锚框中。</a:t>
            </a:r>
            <a:endParaRPr lang="en-US" altLang="zh-CN" dirty="0" smtClean="0"/>
          </a:p>
          <a:p>
            <a:r>
              <a:rPr lang="zh-CN" altLang="en-US" dirty="0" smtClean="0"/>
              <a:t>为了提升检测算法的尺度鲁棒性，前文介绍了两种思路</a:t>
            </a:r>
            <a:r>
              <a:rPr lang="en-US" altLang="zh-CN" dirty="0" smtClean="0"/>
              <a:t>:</a:t>
            </a:r>
            <a:r>
              <a:rPr lang="zh-CN" altLang="en-US" dirty="0" smtClean="0"/>
              <a:t>一种是使用原始图像金字塔</a:t>
            </a:r>
            <a:r>
              <a:rPr lang="en-US" altLang="zh-CN" dirty="0" smtClean="0"/>
              <a:t>/</a:t>
            </a:r>
            <a:r>
              <a:rPr lang="zh-CN" altLang="en-US" dirty="0" smtClean="0"/>
              <a:t>特征图像金字塔，算法在金字塔的每一层进行检测</a:t>
            </a:r>
            <a:r>
              <a:rPr lang="en-US" altLang="zh-CN" dirty="0" smtClean="0"/>
              <a:t>:</a:t>
            </a:r>
            <a:r>
              <a:rPr lang="zh-CN" altLang="en-US" dirty="0" smtClean="0"/>
              <a:t>另一种是使用多尺度滑动窗口，分别在原始图像</a:t>
            </a:r>
            <a:r>
              <a:rPr lang="en-US" altLang="zh-CN" dirty="0" smtClean="0"/>
              <a:t>/</a:t>
            </a:r>
            <a:r>
              <a:rPr lang="zh-CN" altLang="en-US" dirty="0" smtClean="0"/>
              <a:t>特征图像上进行滑窗计算。本节介绍的基于锚的方法是第三种用于提升算法尺度鲁棒性的思路，其本质就是使用不同尺度的锚覆盖图像区域</a:t>
            </a:r>
            <a:r>
              <a:rPr lang="en-US" altLang="zh-CN" dirty="0" smtClean="0"/>
              <a:t>,</a:t>
            </a:r>
            <a:r>
              <a:rPr lang="zh-CN" altLang="en-US" dirty="0" smtClean="0"/>
              <a:t>使得不同尺度的目标有更多被框中的机会。这种方法仅仅基于原始的图像</a:t>
            </a:r>
            <a:r>
              <a:rPr lang="en-US" altLang="zh-CN" dirty="0" smtClean="0"/>
              <a:t>/</a:t>
            </a:r>
            <a:r>
              <a:rPr lang="zh-CN" altLang="en-US" dirty="0" smtClean="0"/>
              <a:t>特征图</a:t>
            </a:r>
          </a:p>
          <a:p>
            <a:r>
              <a:rPr lang="zh-CN" altLang="en-US" dirty="0" smtClean="0"/>
              <a:t>像</a:t>
            </a:r>
            <a:r>
              <a:rPr lang="en-US" altLang="zh-CN" dirty="0" smtClean="0"/>
              <a:t>,</a:t>
            </a:r>
            <a:r>
              <a:rPr lang="zh-CN" altLang="en-US" dirty="0" smtClean="0"/>
              <a:t>相比前两种方法</a:t>
            </a:r>
            <a:r>
              <a:rPr lang="en-US" altLang="zh-CN" dirty="0" smtClean="0"/>
              <a:t>,</a:t>
            </a:r>
            <a:r>
              <a:rPr lang="zh-CN" altLang="en-US" dirty="0" smtClean="0"/>
              <a:t>计算开销更少。</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309114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在训练候选框提取网络的时候，锚被分成两类，框中目标的锚被标记为正样本</a:t>
                </a:r>
                <a:r>
                  <a:rPr lang="en-US" altLang="zh-CN" dirty="0" smtClean="0"/>
                  <a:t>( positive),</a:t>
                </a:r>
                <a:r>
                  <a:rPr lang="zh-CN" altLang="en-US" dirty="0" smtClean="0"/>
                  <a:t>未框中目标的锚被标记为负样本</a:t>
                </a:r>
                <a:r>
                  <a:rPr lang="en-US" altLang="zh-CN" dirty="0" smtClean="0"/>
                  <a:t>(negative)</a:t>
                </a:r>
                <a:r>
                  <a:rPr lang="zh-CN" altLang="en-US" dirty="0" smtClean="0"/>
                  <a:t>。所谓正样本</a:t>
                </a:r>
                <a:r>
                  <a:rPr lang="en-US" altLang="zh-CN" dirty="0" smtClean="0"/>
                  <a:t>,</a:t>
                </a:r>
                <a:r>
                  <a:rPr lang="zh-CN" altLang="en-US" dirty="0" smtClean="0"/>
                  <a:t>是通过锚与真值相交的情况来定义的</a:t>
                </a:r>
                <a:r>
                  <a:rPr lang="en-US" altLang="zh-CN" dirty="0" smtClean="0"/>
                  <a:t>,</a:t>
                </a:r>
                <a:r>
                  <a:rPr lang="zh-CN" altLang="en-US" dirty="0" smtClean="0"/>
                  <a:t>具体而言，基于两种方式实现。对于每一个真值，所有锚与这个真值要么相交</a:t>
                </a:r>
                <a:r>
                  <a:rPr lang="en-US" altLang="zh-CN" dirty="0" smtClean="0"/>
                  <a:t>,</a:t>
                </a:r>
                <a:r>
                  <a:rPr lang="zh-CN" altLang="en-US" dirty="0" smtClean="0"/>
                  <a:t>要么不相交</a:t>
                </a:r>
                <a:r>
                  <a:rPr lang="en-US" altLang="zh-CN" dirty="0" smtClean="0"/>
                  <a:t>,</a:t>
                </a:r>
                <a:r>
                  <a:rPr lang="zh-CN" altLang="en-US" dirty="0" smtClean="0"/>
                  <a:t>在相交的情形中</a:t>
                </a:r>
                <a:r>
                  <a:rPr lang="en-US" altLang="zh-CN" dirty="0" smtClean="0"/>
                  <a:t>:</a:t>
                </a:r>
                <a:r>
                  <a:rPr lang="zh-CN" altLang="en-US" dirty="0" smtClean="0"/>
                  <a:t>与这个真值有最大交并比的那个锚标记为正样本</a:t>
                </a:r>
                <a:r>
                  <a:rPr lang="en-US" altLang="zh-CN" dirty="0" smtClean="0"/>
                  <a:t>;</a:t>
                </a:r>
                <a:r>
                  <a:rPr lang="zh-CN" altLang="en-US" dirty="0" smtClean="0"/>
                  <a:t>与这个真值的交并比</a:t>
                </a:r>
                <a:r>
                  <a:rPr lang="en-US" altLang="zh-CN" dirty="0" smtClean="0"/>
                  <a:t>&gt;0.7</a:t>
                </a:r>
                <a:r>
                  <a:rPr lang="zh-CN" altLang="en-US" dirty="0" smtClean="0"/>
                  <a:t>的那些锚也标记为正样本。所谓负样本</a:t>
                </a:r>
                <a:r>
                  <a:rPr lang="en-US" altLang="zh-CN" dirty="0" smtClean="0"/>
                  <a:t>,</a:t>
                </a:r>
                <a:r>
                  <a:rPr lang="zh-CN" altLang="en-US" dirty="0" smtClean="0"/>
                  <a:t>指的是与所有真值的交并比</a:t>
                </a:r>
                <a:r>
                  <a:rPr lang="en-US" altLang="zh-CN" dirty="0" smtClean="0"/>
                  <a:t>&lt;0.3</a:t>
                </a:r>
                <a:r>
                  <a:rPr lang="zh-CN" altLang="en-US" dirty="0" smtClean="0"/>
                  <a:t>的锚。除此之外的其他情况的锚不需要标记</a:t>
                </a:r>
                <a:r>
                  <a:rPr lang="en-US" altLang="zh-CN" dirty="0" smtClean="0"/>
                  <a:t>,</a:t>
                </a:r>
                <a:r>
                  <a:rPr lang="zh-CN" altLang="en-US" dirty="0" smtClean="0"/>
                  <a:t>在模型训练的过程中不会被使用。</a:t>
                </a:r>
              </a:p>
              <a:p>
                <a:r>
                  <a:rPr lang="zh-CN" altLang="en-US" dirty="0" smtClean="0"/>
                  <a:t>基于这样的定义</a:t>
                </a:r>
                <a:r>
                  <a:rPr lang="en-US" altLang="zh-CN" dirty="0" smtClean="0"/>
                  <a:t>,</a:t>
                </a:r>
                <a:r>
                  <a:rPr lang="zh-CN" altLang="en-US" dirty="0" smtClean="0"/>
                  <a:t>可以给出</a:t>
                </a:r>
                <a:r>
                  <a:rPr lang="en-US" altLang="zh-CN" dirty="0" smtClean="0"/>
                  <a:t>RPN</a:t>
                </a:r>
                <a:r>
                  <a:rPr lang="zh-CN" altLang="en-US" dirty="0" smtClean="0"/>
                  <a:t>损失函数的公式</a:t>
                </a:r>
                <a:r>
                  <a:rPr lang="en-US" altLang="zh-CN" dirty="0" smtClean="0"/>
                  <a:t>:</a:t>
                </a: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𝑖</m:t>
                                  </m:r>
                                </m:sub>
                              </m:sSub>
                            </m:e>
                          </m:d>
                        </m:e>
                      </m:d>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m:rPr>
                                  <m:sty m:val="p"/>
                                </m:rPr>
                                <a:rPr lang="en-US" altLang="zh-CN" i="1">
                                  <a:latin typeface="Cambria Math" panose="02040503050406030204" pitchFamily="18" charset="0"/>
                                  <a:ea typeface="Cambria Math" panose="02040503050406030204" pitchFamily="18" charset="0"/>
                                </a:rPr>
                                <m:t>cls</m:t>
                              </m:r>
                            </m:sub>
                          </m:sSub>
                        </m:den>
                      </m:f>
                      <m:nary>
                        <m:naryPr>
                          <m:chr m:val="∑"/>
                          <m:supHide m:val="on"/>
                          <m:ctrlPr>
                            <a:rPr lang="en-US" altLang="zh-CN" b="0"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𝑖</m:t>
                          </m:r>
                        </m:sub>
                        <m:sup/>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𝑐𝑙𝑠</m:t>
                              </m:r>
                            </m:sub>
                          </m:sSub>
                          <m:d>
                            <m:dPr>
                              <m:end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d>
                            <m:dPr>
                              <m:begChr m:val=""/>
                              <m:ctrlPr>
                                <a:rPr lang="en-US" altLang="zh-CN" b="0" i="1" smtClean="0">
                                  <a:latin typeface="Cambria Math" panose="02040503050406030204" pitchFamily="18" charset="0"/>
                                  <a:ea typeface="Cambria Math" panose="02040503050406030204" pitchFamily="18" charset="0"/>
                                </a:rPr>
                              </m:ctrlPr>
                            </m:dPr>
                            <m:e>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e>
                          </m:d>
                        </m:e>
                      </m:nary>
                      <m:r>
                        <a:rPr lang="en-US" altLang="zh-CN" b="0" i="1" smtClean="0">
                          <a:latin typeface="Cambria Math" panose="02040503050406030204" pitchFamily="18" charset="0"/>
                          <a:ea typeface="Cambria Math" panose="02040503050406030204" pitchFamily="18" charset="0"/>
                        </a:rPr>
                        <m:t>+</m:t>
                      </m:r>
                      <m:r>
                        <a:rPr lang="el-GR" altLang="zh-CN" i="1">
                          <a:latin typeface="Cambria Math" panose="02040503050406030204" pitchFamily="18" charset="0"/>
                          <a:ea typeface="Cambria Math" panose="02040503050406030204" pitchFamily="18" charset="0"/>
                        </a:rPr>
                        <m:t>𝜆</m:t>
                      </m:r>
                      <m:f>
                        <m:fPr>
                          <m:ctrlPr>
                            <a:rPr lang="el-GR"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𝑟𝑒𝑔</m:t>
                              </m:r>
                            </m:sub>
                          </m:sSub>
                        </m:den>
                      </m:f>
                      <m:nary>
                        <m:naryPr>
                          <m:chr m:val="∑"/>
                          <m:supHide m:val="on"/>
                          <m:ctrlPr>
                            <a:rPr lang="el-GR"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𝑖</m:t>
                          </m:r>
                        </m:sub>
                        <m:sup/>
                        <m:e>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e>
                      </m:nary>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𝑟𝑒𝑔</m:t>
                          </m:r>
                        </m:sub>
                      </m:sSub>
                      <m:d>
                        <m:dPr>
                          <m:endChr m:val=""/>
                          <m:ctrlPr>
                            <a:rPr lang="el-GR" altLang="zh-CN" i="1" smtClean="0">
                              <a:latin typeface="Cambria Math" panose="02040503050406030204" pitchFamily="18" charset="0"/>
                              <a:ea typeface="Cambria Math" panose="02040503050406030204" pitchFamily="18" charset="0"/>
                            </a:rPr>
                          </m:ctrlPr>
                        </m:dPr>
                        <m:e>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𝑡</m:t>
                              </m:r>
                            </m:e>
                            <m:sub>
                              <m:r>
                                <a:rPr lang="en-US" altLang="zh-CN" b="0" i="1" smtClean="0">
                                  <a:latin typeface="Cambria Math" panose="02040503050406030204" pitchFamily="18" charset="0"/>
                                  <a:ea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d>
                        <m:dPr>
                          <m:begChr m:val=""/>
                          <m:ctrlPr>
                            <a:rPr lang="el-GR" altLang="zh-CN" i="1" smtClean="0">
                              <a:latin typeface="Cambria Math" panose="02040503050406030204" pitchFamily="18" charset="0"/>
                              <a:ea typeface="Cambria Math" panose="02040503050406030204" pitchFamily="18" charset="0"/>
                            </a:rPr>
                          </m:ctrlPr>
                        </m:dPr>
                        <m:e>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𝑡</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e>
                      </m:d>
                    </m:oMath>
                  </m:oMathPara>
                </a14:m>
                <a:endParaRPr lang="en-US" altLang="zh-CN" dirty="0" smtClean="0"/>
              </a:p>
              <a:p>
                <a:r>
                  <a:rPr lang="zh-CN" altLang="en-US" dirty="0" smtClean="0"/>
                  <a:t>其中</a:t>
                </a:r>
                <a:r>
                  <a:rPr lang="en-US" altLang="zh-CN" dirty="0" err="1" smtClean="0"/>
                  <a:t>i</a:t>
                </a:r>
                <a:r>
                  <a:rPr lang="zh-CN" altLang="en-US" dirty="0" smtClean="0"/>
                  <a:t>表示一个训练批次中的一个锚</a:t>
                </a:r>
                <a:r>
                  <a:rPr lang="en-US" altLang="zh-CN" dirty="0" smtClean="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oMath>
                </a14:m>
                <a:r>
                  <a:rPr lang="zh-CN" altLang="en-US" dirty="0" smtClean="0"/>
                  <a:t>表示第</a:t>
                </a:r>
                <a:r>
                  <a:rPr lang="en-US" altLang="zh-CN" dirty="0" err="1" smtClean="0"/>
                  <a:t>i</a:t>
                </a:r>
                <a:r>
                  <a:rPr lang="zh-CN" altLang="en-US" dirty="0" smtClean="0"/>
                  <a:t>个锚框中目标的概率，</a:t>
                </a:r>
                <a14:m>
                  <m:oMath xmlns:m="http://schemas.openxmlformats.org/officeDocument/2006/math">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oMath>
                </a14:m>
                <a:r>
                  <a:rPr lang="zh-CN" altLang="en-US" dirty="0" smtClean="0"/>
                  <a:t>表示第</a:t>
                </a:r>
                <a:r>
                  <a:rPr lang="en-US" altLang="zh-CN" dirty="0" err="1" smtClean="0"/>
                  <a:t>i</a:t>
                </a:r>
                <a:r>
                  <a:rPr lang="zh-CN" altLang="en-US" dirty="0" smtClean="0"/>
                  <a:t>个锚框中目标的概率的真值</a:t>
                </a:r>
                <a:r>
                  <a:rPr lang="en-US" altLang="zh-CN" dirty="0" smtClean="0"/>
                  <a:t>,</a:t>
                </a:r>
                <a:r>
                  <a:rPr lang="zh-CN" altLang="en-US" dirty="0" smtClean="0"/>
                  <a:t>当锚框中目标时</a:t>
                </a:r>
                <a:r>
                  <a:rPr lang="en-US" altLang="zh-CN" dirty="0" smtClean="0"/>
                  <a:t>,pi=1;</a:t>
                </a:r>
                <a:r>
                  <a:rPr lang="zh-CN" altLang="en-US" dirty="0" smtClean="0"/>
                  <a:t>当锚未框中目标时</a:t>
                </a:r>
                <a:r>
                  <a:rPr lang="en-US" altLang="zh-CN" dirty="0" smtClean="0"/>
                  <a:t>,pi =0</a:t>
                </a:r>
                <a:r>
                  <a:rPr lang="zh-CN" altLang="en-US" dirty="0" smtClean="0"/>
                  <a:t>。</a:t>
                </a:r>
                <a14:m>
                  <m:oMath xmlns:m="http://schemas.openxmlformats.org/officeDocument/2006/math">
                    <m:sSub>
                      <m:sSubPr>
                        <m:ctrlPr>
                          <a:rPr lang="el-GR"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oMath>
                </a14:m>
                <a:r>
                  <a:rPr lang="zh-CN" altLang="en-US" dirty="0" smtClean="0"/>
                  <a:t>，</a:t>
                </a:r>
                <a14:m>
                  <m:oMath xmlns:m="http://schemas.openxmlformats.org/officeDocument/2006/math">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分别表示包含</a:t>
                </a:r>
                <a:r>
                  <a:rPr lang="en-US" altLang="zh-CN" dirty="0" smtClean="0"/>
                  <a:t>4</a:t>
                </a:r>
                <a:r>
                  <a:rPr lang="zh-CN" altLang="en-US" dirty="0" smtClean="0"/>
                  <a:t>个元素的向量，当第</a:t>
                </a:r>
                <a:r>
                  <a:rPr lang="en-US" altLang="zh-CN" dirty="0" err="1" smtClean="0"/>
                  <a:t>i</a:t>
                </a:r>
                <a:r>
                  <a:rPr lang="zh-CN" altLang="en-US" dirty="0" smtClean="0"/>
                  <a:t>个锚框中目标时，这两个向量才有定义，</a:t>
                </a:r>
                <a14:m>
                  <m:oMath xmlns:m="http://schemas.openxmlformats.org/officeDocument/2006/math">
                    <m:sSub>
                      <m:sSubPr>
                        <m:ctrlPr>
                          <a:rPr lang="el-GR"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oMath>
                </a14:m>
                <a:r>
                  <a:rPr lang="zh-CN" altLang="en-US" dirty="0" smtClean="0"/>
                  <a:t>表示锚与预测框之间规范化的偏移量和缩放尺度，</a:t>
                </a:r>
                <a14:m>
                  <m:oMath xmlns:m="http://schemas.openxmlformats.org/officeDocument/2006/math">
                    <m:sSubSup>
                      <m:sSubSupPr>
                        <m:ctrlPr>
                          <a:rPr lang="el-GR" altLang="zh-CN" i="1" smtClean="0">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表示锚与真值之间规范化的偏移量和缩放尺度。分类损失</a:t>
                </a:r>
                <a:r>
                  <a:rPr lang="en-US" altLang="zh-CN" dirty="0" smtClean="0"/>
                  <a:t>L</a:t>
                </a:r>
                <a:r>
                  <a:rPr lang="zh-CN" altLang="en-US" dirty="0" smtClean="0"/>
                  <a:t>是二类问题</a:t>
                </a:r>
                <a:r>
                  <a:rPr lang="en-US" altLang="zh-CN" dirty="0" smtClean="0"/>
                  <a:t>(</a:t>
                </a:r>
                <a:r>
                  <a:rPr lang="zh-CN" altLang="en-US" dirty="0" smtClean="0"/>
                  <a:t>框中目标、未框中目标</a:t>
                </a:r>
                <a:r>
                  <a:rPr lang="en-US" altLang="zh-CN" dirty="0" smtClean="0"/>
                  <a:t>)</a:t>
                </a:r>
                <a:r>
                  <a:rPr lang="zh-CN" altLang="en-US" dirty="0" smtClean="0"/>
                  <a:t>的对数损失</a:t>
                </a:r>
                <a:r>
                  <a:rPr lang="en-US" altLang="zh-CN" dirty="0" smtClean="0"/>
                  <a:t>,</a:t>
                </a:r>
                <a:r>
                  <a:rPr lang="zh-CN" altLang="en-US" dirty="0" smtClean="0"/>
                  <a:t>其定义同式</a:t>
                </a:r>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𝑐𝑙𝑠</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𝑢</m:t>
                        </m:r>
                      </m:e>
                    </m:d>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𝑢</m:t>
                            </m:r>
                          </m:sub>
                        </m:sSub>
                      </m:e>
                    </m:func>
                  </m:oMath>
                </a14:m>
                <a:r>
                  <a:rPr lang="en-US" altLang="zh-CN" dirty="0" smtClean="0"/>
                  <a:t>;</a:t>
                </a:r>
                <a:r>
                  <a:rPr lang="zh-CN" altLang="en-US" dirty="0" smtClean="0"/>
                  <a:t>位置回归损失</a:t>
                </a:r>
                <a:r>
                  <a:rPr lang="en-US" altLang="zh-CN" dirty="0" smtClean="0"/>
                  <a:t>Leg</a:t>
                </a:r>
                <a:r>
                  <a:rPr lang="zh-CN" altLang="en-US" dirty="0" smtClean="0"/>
                  <a:t>是一个经过平滑改造的</a:t>
                </a:r>
                <a:r>
                  <a:rPr lang="en-US" altLang="zh-CN" dirty="0" smtClean="0"/>
                  <a:t>L</a:t>
                </a:r>
                <a:r>
                  <a:rPr lang="en-US" altLang="zh-CN" baseline="-25000" dirty="0" smtClean="0"/>
                  <a:t>1</a:t>
                </a:r>
                <a:r>
                  <a:rPr lang="zh-CN" altLang="en-US" dirty="0" smtClean="0"/>
                  <a:t>损失</a:t>
                </a:r>
                <a:r>
                  <a:rPr lang="en-US" altLang="zh-CN" dirty="0" smtClean="0"/>
                  <a:t>,</a:t>
                </a:r>
                <a:r>
                  <a:rPr lang="zh-CN" altLang="en-US" dirty="0" smtClean="0"/>
                  <a:t>其定义同式</a:t>
                </a:r>
                <a14:m>
                  <m:oMath xmlns:m="http://schemas.openxmlformats.org/officeDocument/2006/math">
                    <m:sSub>
                      <m:sSubPr>
                        <m:ctrlPr>
                          <a:rPr lang="el-GR"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m:rPr>
                            <m:sty m:val="p"/>
                          </m:rPr>
                          <a:rPr lang="en-US" altLang="zh-CN" i="1">
                            <a:latin typeface="Cambria Math" panose="02040503050406030204" pitchFamily="18" charset="0"/>
                            <a:ea typeface="Cambria Math" panose="02040503050406030204" pitchFamily="18" charset="0"/>
                          </a:rPr>
                          <m:t>loc</m:t>
                        </m:r>
                      </m:sub>
                    </m:sSub>
                    <m:d>
                      <m:dPr>
                        <m:ctrlPr>
                          <a:rPr lang="el-GR" altLang="zh-CN" i="1">
                            <a:latin typeface="Cambria Math" panose="02040503050406030204" pitchFamily="18" charset="0"/>
                            <a:ea typeface="Cambria Math" panose="02040503050406030204" pitchFamily="18" charset="0"/>
                          </a:rPr>
                        </m:ctrlPr>
                      </m:dPr>
                      <m:e>
                        <m:sSup>
                          <m:sSupPr>
                            <m:ctrlPr>
                              <a:rPr lang="el-GR"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𝑡</m:t>
                            </m:r>
                          </m:e>
                          <m:sup>
                            <m:r>
                              <a:rPr lang="en-US" altLang="zh-CN" i="1">
                                <a:latin typeface="Cambria Math" panose="02040503050406030204" pitchFamily="18" charset="0"/>
                                <a:ea typeface="Cambria Math" panose="02040503050406030204" pitchFamily="18" charset="0"/>
                              </a:rPr>
                              <m:t>𝑢</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𝑣</m:t>
                        </m:r>
                      </m:e>
                    </m:d>
                    <m:r>
                      <a:rPr lang="en-US" altLang="zh-CN" i="1">
                        <a:latin typeface="Cambria Math" panose="02040503050406030204" pitchFamily="18" charset="0"/>
                        <a:ea typeface="Cambria Math" panose="02040503050406030204" pitchFamily="18" charset="0"/>
                      </a:rPr>
                      <m:t>=</m:t>
                    </m:r>
                    <m:nary>
                      <m:naryPr>
                        <m:chr m:val="∑"/>
                        <m:supHide m:val="on"/>
                        <m:ctrlPr>
                          <a:rPr lang="en-US" altLang="zh-CN" i="1">
                            <a:latin typeface="Cambria Math" panose="02040503050406030204" pitchFamily="18" charset="0"/>
                            <a:ea typeface="Cambria Math" panose="02040503050406030204" pitchFamily="18" charset="0"/>
                          </a:rPr>
                        </m:ctrlPr>
                      </m:naryPr>
                      <m:sub>
                        <m:r>
                          <m:rPr>
                            <m:brk m:alnAt="7"/>
                          </m:rP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𝑤</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h</m:t>
                            </m:r>
                          </m:e>
                        </m:d>
                      </m:sub>
                      <m:sup/>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𝑠𝑚𝑜𝑜𝑡h</m:t>
                            </m:r>
                          </m:e>
                          <m:sub>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1</m:t>
                                </m:r>
                              </m:sub>
                            </m:sSub>
                          </m:sub>
                        </m:sSub>
                        <m:d>
                          <m:dPr>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𝑢</m:t>
                                </m:r>
                              </m:sup>
                            </m:sSubSup>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𝑣</m:t>
                                </m:r>
                              </m:e>
                              <m:sub>
                                <m:r>
                                  <a:rPr lang="en-US" altLang="zh-CN" i="1">
                                    <a:latin typeface="Cambria Math" panose="02040503050406030204" pitchFamily="18" charset="0"/>
                                    <a:ea typeface="Cambria Math" panose="02040503050406030204" pitchFamily="18" charset="0"/>
                                  </a:rPr>
                                  <m:t>𝑖</m:t>
                                </m:r>
                              </m:sub>
                            </m:sSub>
                          </m:e>
                        </m:d>
                      </m:e>
                    </m:nary>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𝑠𝑚𝑜𝑜𝑡h</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1</m:t>
                            </m:r>
                          </m:sub>
                        </m:sSub>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0.5</m:t>
                            </m:r>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&lt;1</m:t>
                                </m:r>
                              </m:e>
                            </m:d>
                          </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−0.5</m:t>
                            </m:r>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≥1</m:t>
                                </m:r>
                              </m:e>
                            </m:d>
                          </m:e>
                        </m:eqArr>
                      </m:e>
                    </m:d>
                  </m:oMath>
                </a14:m>
                <a:r>
                  <a:rPr lang="zh-CN" altLang="en-US" dirty="0" smtClean="0"/>
                  <a:t>。</a:t>
                </a:r>
                <a14:m>
                  <m:oMath xmlns:m="http://schemas.openxmlformats.org/officeDocument/2006/math">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𝑟𝑒𝑔</m:t>
                        </m:r>
                      </m:sub>
                    </m:sSub>
                  </m:oMath>
                </a14:m>
                <a:r>
                  <a:rPr lang="zh-CN" altLang="en-US" dirty="0" smtClean="0"/>
                  <a:t>的含义是，当锚框中目标，即</a:t>
                </a:r>
                <a:r>
                  <a:rPr lang="en-US" altLang="zh-CN" dirty="0" smtClean="0"/>
                  <a:t>p=1</a:t>
                </a:r>
                <a:r>
                  <a:rPr lang="zh-CN" altLang="en-US" dirty="0" smtClean="0"/>
                  <a:t>时</a:t>
                </a:r>
                <a:r>
                  <a:rPr lang="en-US" altLang="zh-CN" dirty="0" smtClean="0"/>
                  <a:t>,</a:t>
                </a:r>
                <a:r>
                  <a:rPr lang="zh-CN" altLang="en-US" dirty="0" smtClean="0"/>
                  <a:t>才会计算回归损失</a:t>
                </a:r>
                <a14:m>
                  <m:oMath xmlns:m="http://schemas.openxmlformats.org/officeDocument/2006/math">
                    <m:sSub>
                      <m:sSubPr>
                        <m:ctrlPr>
                          <a:rPr lang="el-GR"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𝑟𝑒𝑔</m:t>
                        </m:r>
                      </m:sub>
                    </m:sSub>
                  </m:oMath>
                </a14:m>
                <a:r>
                  <a:rPr lang="zh-CN" altLang="en-US" dirty="0" smtClean="0"/>
                  <a:t>，当锚未框中目标</a:t>
                </a:r>
                <a:r>
                  <a:rPr lang="en-US" altLang="zh-CN" dirty="0" smtClean="0"/>
                  <a:t>,</a:t>
                </a:r>
                <a:r>
                  <a:rPr lang="zh-CN" altLang="en-US" dirty="0" smtClean="0"/>
                  <a:t>即</a:t>
                </a:r>
                <a14:m>
                  <m:oMath xmlns:m="http://schemas.openxmlformats.org/officeDocument/2006/math">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oMath>
                </a14:m>
                <a:r>
                  <a:rPr lang="en-US" altLang="zh-CN" dirty="0" smtClean="0"/>
                  <a:t>=0</a:t>
                </a:r>
                <a:r>
                  <a:rPr lang="zh-CN" altLang="en-US" dirty="0" smtClean="0"/>
                  <a:t>时，回归损失不参与计算。</a:t>
                </a:r>
                <a:endParaRPr lang="en-US" altLang="zh-CN" dirty="0" smtClean="0"/>
              </a:p>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在训练候选框提取网络的时候，锚被分成两类，框中目标的锚被标记为正样本</a:t>
                </a:r>
                <a:r>
                  <a:rPr lang="en-US" altLang="zh-CN" dirty="0" smtClean="0"/>
                  <a:t>( positive),</a:t>
                </a:r>
                <a:r>
                  <a:rPr lang="zh-CN" altLang="en-US" dirty="0" smtClean="0"/>
                  <a:t>未框中目标的锚被标记为负样本</a:t>
                </a:r>
                <a:r>
                  <a:rPr lang="en-US" altLang="zh-CN" dirty="0" smtClean="0"/>
                  <a:t>(negative)</a:t>
                </a:r>
                <a:r>
                  <a:rPr lang="zh-CN" altLang="en-US" dirty="0" smtClean="0"/>
                  <a:t>。所谓正样本</a:t>
                </a:r>
                <a:r>
                  <a:rPr lang="en-US" altLang="zh-CN" dirty="0" smtClean="0"/>
                  <a:t>,</a:t>
                </a:r>
                <a:r>
                  <a:rPr lang="zh-CN" altLang="en-US" dirty="0" smtClean="0"/>
                  <a:t>是通过锚与真值相交的情况来定义的</a:t>
                </a:r>
                <a:r>
                  <a:rPr lang="en-US" altLang="zh-CN" dirty="0" smtClean="0"/>
                  <a:t>,</a:t>
                </a:r>
                <a:r>
                  <a:rPr lang="zh-CN" altLang="en-US" dirty="0" smtClean="0"/>
                  <a:t>具体而言，基于两种方式实现。对于每一个真值，所有锚与这个真值要么相交</a:t>
                </a:r>
                <a:r>
                  <a:rPr lang="en-US" altLang="zh-CN" dirty="0" smtClean="0"/>
                  <a:t>,</a:t>
                </a:r>
                <a:r>
                  <a:rPr lang="zh-CN" altLang="en-US" dirty="0" smtClean="0"/>
                  <a:t>要么不相交</a:t>
                </a:r>
                <a:r>
                  <a:rPr lang="en-US" altLang="zh-CN" dirty="0" smtClean="0"/>
                  <a:t>,</a:t>
                </a:r>
                <a:r>
                  <a:rPr lang="zh-CN" altLang="en-US" dirty="0" smtClean="0"/>
                  <a:t>在相交的情形中</a:t>
                </a:r>
                <a:r>
                  <a:rPr lang="en-US" altLang="zh-CN" dirty="0" smtClean="0"/>
                  <a:t>:</a:t>
                </a:r>
                <a:r>
                  <a:rPr lang="zh-CN" altLang="en-US" dirty="0" smtClean="0"/>
                  <a:t>与这个真值有最大交并比的那个锚标记为正样本</a:t>
                </a:r>
                <a:r>
                  <a:rPr lang="en-US" altLang="zh-CN" dirty="0" smtClean="0"/>
                  <a:t>;</a:t>
                </a:r>
                <a:r>
                  <a:rPr lang="zh-CN" altLang="en-US" dirty="0" smtClean="0"/>
                  <a:t>与这个真值的交并比</a:t>
                </a:r>
                <a:r>
                  <a:rPr lang="en-US" altLang="zh-CN" dirty="0" smtClean="0"/>
                  <a:t>&gt;0.7</a:t>
                </a:r>
                <a:r>
                  <a:rPr lang="zh-CN" altLang="en-US" dirty="0" smtClean="0"/>
                  <a:t>的那些锚也标记为正样本。所谓负样本</a:t>
                </a:r>
                <a:r>
                  <a:rPr lang="en-US" altLang="zh-CN" dirty="0" smtClean="0"/>
                  <a:t>,</a:t>
                </a:r>
                <a:r>
                  <a:rPr lang="zh-CN" altLang="en-US" dirty="0" smtClean="0"/>
                  <a:t>指的是与所有真值的交并比</a:t>
                </a:r>
                <a:r>
                  <a:rPr lang="en-US" altLang="zh-CN" dirty="0" smtClean="0"/>
                  <a:t>&lt;0.3</a:t>
                </a:r>
                <a:r>
                  <a:rPr lang="zh-CN" altLang="en-US" dirty="0" smtClean="0"/>
                  <a:t>的锚。除此之外的其他情况的锚不需要标记</a:t>
                </a:r>
                <a:r>
                  <a:rPr lang="en-US" altLang="zh-CN" dirty="0" smtClean="0"/>
                  <a:t>,</a:t>
                </a:r>
                <a:r>
                  <a:rPr lang="zh-CN" altLang="en-US" dirty="0" smtClean="0"/>
                  <a:t>在模型训练的过程中不会被使用。</a:t>
                </a:r>
              </a:p>
              <a:p>
                <a:r>
                  <a:rPr lang="zh-CN" altLang="en-US" dirty="0" smtClean="0"/>
                  <a:t>基于这样的定义</a:t>
                </a:r>
                <a:r>
                  <a:rPr lang="en-US" altLang="zh-CN" dirty="0" smtClean="0"/>
                  <a:t>,</a:t>
                </a:r>
                <a:r>
                  <a:rPr lang="zh-CN" altLang="en-US" dirty="0" smtClean="0"/>
                  <a:t>可以给出</a:t>
                </a:r>
                <a:r>
                  <a:rPr lang="en-US" altLang="zh-CN" dirty="0" smtClean="0"/>
                  <a:t>RPN</a:t>
                </a:r>
                <a:r>
                  <a:rPr lang="zh-CN" altLang="en-US" dirty="0" smtClean="0"/>
                  <a:t>损失函数的公式</a:t>
                </a:r>
                <a:r>
                  <a:rPr lang="en-US" altLang="zh-CN" dirty="0" smtClean="0"/>
                  <a:t>:</a:t>
                </a:r>
              </a:p>
              <a:p>
                <a:pPr/>
                <a:r>
                  <a:rPr lang="en-US" altLang="zh-CN" b="0" i="0" smtClean="0">
                    <a:latin typeface="Cambria Math" panose="02040503050406030204" pitchFamily="18" charset="0"/>
                  </a:rPr>
                  <a:t>𝐿({𝑝_𝑖 },{𝑡_𝑖 })</a:t>
                </a:r>
                <a:r>
                  <a:rPr lang="en-US" altLang="zh-CN" b="0" i="0" smtClean="0">
                    <a:latin typeface="Cambria Math" panose="02040503050406030204" pitchFamily="18" charset="0"/>
                    <a:ea typeface="Cambria Math" panose="02040503050406030204" pitchFamily="18" charset="0"/>
                  </a:rPr>
                  <a:t>=1/𝑁_</a:t>
                </a:r>
                <a:r>
                  <a:rPr lang="en-US" altLang="zh-CN" i="0">
                    <a:latin typeface="Cambria Math" panose="02040503050406030204" pitchFamily="18" charset="0"/>
                    <a:ea typeface="Cambria Math" panose="02040503050406030204" pitchFamily="18" charset="0"/>
                  </a:rPr>
                  <a:t>cls </a:t>
                </a:r>
                <a:r>
                  <a:rPr lang="en-US" altLang="zh-CN" b="0" i="0" smtClean="0">
                    <a:latin typeface="Cambria Math" panose="02040503050406030204" pitchFamily="18" charset="0"/>
                    <a:ea typeface="Cambria Math" panose="02040503050406030204" pitchFamily="18" charset="0"/>
                  </a:rPr>
                  <a:t> ∑_𝑖▒〖𝐿_𝑐𝑙𝑠 (𝑝_𝑖 ┤,├ 𝑝_𝑖^∗ ) 〗+</a:t>
                </a:r>
                <a:r>
                  <a:rPr lang="el-GR" altLang="zh-CN" i="0">
                    <a:latin typeface="Cambria Math" panose="02040503050406030204" pitchFamily="18" charset="0"/>
                    <a:ea typeface="Cambria Math" panose="02040503050406030204" pitchFamily="18" charset="0"/>
                  </a:rPr>
                  <a:t>𝜆</a:t>
                </a:r>
                <a:r>
                  <a:rPr lang="en-US" altLang="zh-CN" b="0" i="0" smtClean="0">
                    <a:latin typeface="Cambria Math" panose="02040503050406030204" pitchFamily="18" charset="0"/>
                    <a:ea typeface="Cambria Math" panose="02040503050406030204" pitchFamily="18" charset="0"/>
                  </a:rPr>
                  <a:t> 1</a:t>
                </a:r>
                <a:r>
                  <a:rPr lang="el-GR" altLang="zh-CN" b="0"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𝑁</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𝑟𝑒𝑔 </a:t>
                </a:r>
                <a:r>
                  <a:rPr lang="el-GR" altLang="zh-CN" b="0" i="0" smtClean="0">
                    <a:latin typeface="Cambria Math" panose="02040503050406030204" pitchFamily="18" charset="0"/>
                    <a:ea typeface="Cambria Math" panose="02040503050406030204" pitchFamily="18" charset="0"/>
                  </a:rPr>
                  <a:t> </a:t>
                </a:r>
                <a:r>
                  <a:rPr lang="el-GR"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_𝑖▒𝑝</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𝑖^∗ </a:t>
                </a:r>
                <a:r>
                  <a:rPr lang="el-GR" altLang="zh-CN" b="0" i="0" smtClean="0">
                    <a:latin typeface="Cambria Math" panose="02040503050406030204" pitchFamily="18" charset="0"/>
                    <a:ea typeface="Cambria Math" panose="02040503050406030204" pitchFamily="18" charset="0"/>
                  </a:rPr>
                  <a:t> </a:t>
                </a:r>
                <a:r>
                  <a:rPr lang="en-US" altLang="zh-CN" b="0" i="0" smtClean="0">
                    <a:latin typeface="Cambria Math" panose="02040503050406030204" pitchFamily="18" charset="0"/>
                    <a:ea typeface="Cambria Math" panose="02040503050406030204" pitchFamily="18" charset="0"/>
                  </a:rPr>
                  <a:t>𝐿</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𝑟𝑒𝑔</a:t>
                </a:r>
                <a:r>
                  <a:rPr lang="el-GR" altLang="zh-CN" b="0" i="0" smtClean="0">
                    <a:latin typeface="Cambria Math" panose="02040503050406030204" pitchFamily="18" charset="0"/>
                    <a:ea typeface="Cambria Math" panose="02040503050406030204" pitchFamily="18" charset="0"/>
                  </a:rPr>
                  <a:t> </a:t>
                </a:r>
                <a:r>
                  <a:rPr lang="el-GR"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𝑡</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𝑖 ┤,</a:t>
                </a:r>
                <a:r>
                  <a:rPr lang="el-GR" altLang="zh-CN" i="0" smtClean="0">
                    <a:latin typeface="Cambria Math" panose="02040503050406030204" pitchFamily="18" charset="0"/>
                    <a:ea typeface="Cambria Math" panose="02040503050406030204" pitchFamily="18" charset="0"/>
                  </a:rPr>
                  <a:t>├ </a:t>
                </a:r>
                <a:r>
                  <a:rPr lang="en-US" altLang="zh-CN" b="0" i="0" smtClean="0">
                    <a:latin typeface="Cambria Math" panose="02040503050406030204" pitchFamily="18" charset="0"/>
                    <a:ea typeface="Cambria Math" panose="02040503050406030204" pitchFamily="18" charset="0"/>
                  </a:rPr>
                  <a:t>𝑡</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𝑖^∗ )</a:t>
                </a:r>
                <a:endParaRPr lang="en-US" altLang="zh-CN" dirty="0" smtClean="0"/>
              </a:p>
              <a:p>
                <a:r>
                  <a:rPr lang="zh-CN" altLang="en-US" dirty="0" smtClean="0"/>
                  <a:t>其中</a:t>
                </a:r>
                <a:r>
                  <a:rPr lang="en-US" altLang="zh-CN" dirty="0" err="1" smtClean="0"/>
                  <a:t>i</a:t>
                </a:r>
                <a:r>
                  <a:rPr lang="zh-CN" altLang="en-US" dirty="0" smtClean="0"/>
                  <a:t>表示一个训练批次中的一个锚</a:t>
                </a:r>
                <a:r>
                  <a:rPr lang="en-US" altLang="zh-CN" dirty="0" smtClean="0"/>
                  <a:t>, </a:t>
                </a:r>
                <a:r>
                  <a:rPr lang="en-US" altLang="zh-CN" b="0" i="0" smtClean="0">
                    <a:latin typeface="Cambria Math" panose="02040503050406030204" pitchFamily="18" charset="0"/>
                  </a:rPr>
                  <a:t>𝑝_𝑖</a:t>
                </a:r>
                <a:r>
                  <a:rPr lang="zh-CN" altLang="en-US" dirty="0" smtClean="0"/>
                  <a:t>表示第</a:t>
                </a:r>
                <a:r>
                  <a:rPr lang="en-US" altLang="zh-CN" dirty="0" err="1" smtClean="0"/>
                  <a:t>i</a:t>
                </a:r>
                <a:r>
                  <a:rPr lang="zh-CN" altLang="en-US" dirty="0" smtClean="0"/>
                  <a:t>个锚框中目标的概率，</a:t>
                </a:r>
                <a:r>
                  <a:rPr lang="en-US" altLang="zh-CN" b="0" i="0" smtClean="0">
                    <a:latin typeface="Cambria Math" panose="02040503050406030204" pitchFamily="18" charset="0"/>
                    <a:ea typeface="Cambria Math" panose="02040503050406030204" pitchFamily="18" charset="0"/>
                  </a:rPr>
                  <a:t>𝑝</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𝑖^∗</a:t>
                </a:r>
                <a:r>
                  <a:rPr lang="zh-CN" altLang="en-US" dirty="0" smtClean="0"/>
                  <a:t>表示第</a:t>
                </a:r>
                <a:r>
                  <a:rPr lang="en-US" altLang="zh-CN" dirty="0" err="1" smtClean="0"/>
                  <a:t>i</a:t>
                </a:r>
                <a:r>
                  <a:rPr lang="zh-CN" altLang="en-US" dirty="0" smtClean="0"/>
                  <a:t>个锚框中目标的概率的真值</a:t>
                </a:r>
                <a:r>
                  <a:rPr lang="en-US" altLang="zh-CN" dirty="0" smtClean="0"/>
                  <a:t>,</a:t>
                </a:r>
                <a:r>
                  <a:rPr lang="zh-CN" altLang="en-US" dirty="0" smtClean="0"/>
                  <a:t>当锚框中目标时</a:t>
                </a:r>
                <a:r>
                  <a:rPr lang="en-US" altLang="zh-CN" dirty="0" smtClean="0"/>
                  <a:t>,pi=1;</a:t>
                </a:r>
                <a:r>
                  <a:rPr lang="zh-CN" altLang="en-US" dirty="0" smtClean="0"/>
                  <a:t>当锚未框中目标时</a:t>
                </a:r>
                <a:r>
                  <a:rPr lang="en-US" altLang="zh-CN" dirty="0" smtClean="0"/>
                  <a:t>,pi =0</a:t>
                </a:r>
                <a:r>
                  <a:rPr lang="zh-CN" altLang="en-US" dirty="0" smtClean="0"/>
                  <a:t>。</a:t>
                </a:r>
                <a:r>
                  <a:rPr lang="en-US" altLang="zh-CN" i="0">
                    <a:latin typeface="Cambria Math" panose="02040503050406030204" pitchFamily="18" charset="0"/>
                    <a:ea typeface="Cambria Math" panose="02040503050406030204" pitchFamily="18" charset="0"/>
                  </a:rPr>
                  <a:t>𝑡</a:t>
                </a:r>
                <a:r>
                  <a:rPr lang="el-GR" altLang="zh-CN"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𝑖</a:t>
                </a:r>
                <a:r>
                  <a:rPr lang="zh-CN" altLang="en-US" dirty="0" smtClean="0"/>
                  <a:t>，</a:t>
                </a:r>
                <a:r>
                  <a:rPr lang="en-US" altLang="zh-CN" i="0">
                    <a:latin typeface="Cambria Math" panose="02040503050406030204" pitchFamily="18" charset="0"/>
                    <a:ea typeface="Cambria Math" panose="02040503050406030204" pitchFamily="18" charset="0"/>
                  </a:rPr>
                  <a:t>𝑡</a:t>
                </a:r>
                <a:r>
                  <a:rPr lang="el-GR" altLang="zh-CN" i="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𝑖^∗</a:t>
                </a:r>
                <a:r>
                  <a:rPr lang="zh-CN" altLang="en-US" dirty="0" smtClean="0"/>
                  <a:t>分别表示包含</a:t>
                </a:r>
                <a:r>
                  <a:rPr lang="en-US" altLang="zh-CN" dirty="0" smtClean="0"/>
                  <a:t>4</a:t>
                </a:r>
                <a:r>
                  <a:rPr lang="zh-CN" altLang="en-US" dirty="0" smtClean="0"/>
                  <a:t>个元素的向量，当第</a:t>
                </a:r>
                <a:r>
                  <a:rPr lang="en-US" altLang="zh-CN" dirty="0" err="1" smtClean="0"/>
                  <a:t>i</a:t>
                </a:r>
                <a:r>
                  <a:rPr lang="zh-CN" altLang="en-US" dirty="0" smtClean="0"/>
                  <a:t>个锚框中目标时，这两个向量才有定义，</a:t>
                </a:r>
                <a:r>
                  <a:rPr lang="en-US" altLang="zh-CN" i="0">
                    <a:latin typeface="Cambria Math" panose="02040503050406030204" pitchFamily="18" charset="0"/>
                    <a:ea typeface="Cambria Math" panose="02040503050406030204" pitchFamily="18" charset="0"/>
                  </a:rPr>
                  <a:t>𝑡</a:t>
                </a:r>
                <a:r>
                  <a:rPr lang="el-GR" altLang="zh-CN"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𝑖</a:t>
                </a:r>
                <a:r>
                  <a:rPr lang="zh-CN" altLang="en-US" dirty="0" smtClean="0"/>
                  <a:t>表示锚与预测框之间规范化的偏移量和缩放尺度，</a:t>
                </a:r>
                <a:r>
                  <a:rPr lang="en-US" altLang="zh-CN" i="0">
                    <a:latin typeface="Cambria Math" panose="02040503050406030204" pitchFamily="18" charset="0"/>
                    <a:ea typeface="Cambria Math" panose="02040503050406030204" pitchFamily="18" charset="0"/>
                  </a:rPr>
                  <a:t>𝑡</a:t>
                </a:r>
                <a:r>
                  <a:rPr lang="el-GR" altLang="zh-CN"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𝑖^∗</a:t>
                </a:r>
                <a:r>
                  <a:rPr lang="zh-CN" altLang="en-US" dirty="0" smtClean="0"/>
                  <a:t>表示锚与真值之间规范化的偏移量和缩放尺度。分类损失</a:t>
                </a:r>
                <a:r>
                  <a:rPr lang="en-US" altLang="zh-CN" dirty="0" smtClean="0"/>
                  <a:t>L</a:t>
                </a:r>
                <a:r>
                  <a:rPr lang="zh-CN" altLang="en-US" dirty="0" smtClean="0"/>
                  <a:t>是二类问题</a:t>
                </a:r>
                <a:r>
                  <a:rPr lang="en-US" altLang="zh-CN" dirty="0" smtClean="0"/>
                  <a:t>(</a:t>
                </a:r>
                <a:r>
                  <a:rPr lang="zh-CN" altLang="en-US" dirty="0" smtClean="0"/>
                  <a:t>框中目标、未框中目标</a:t>
                </a:r>
                <a:r>
                  <a:rPr lang="en-US" altLang="zh-CN" dirty="0" smtClean="0"/>
                  <a:t>)</a:t>
                </a:r>
                <a:r>
                  <a:rPr lang="zh-CN" altLang="en-US" dirty="0" smtClean="0"/>
                  <a:t>的对数损失</a:t>
                </a:r>
                <a:r>
                  <a:rPr lang="en-US" altLang="zh-CN" dirty="0" smtClean="0"/>
                  <a:t>,</a:t>
                </a:r>
                <a:r>
                  <a:rPr lang="zh-CN" altLang="en-US" dirty="0" smtClean="0"/>
                  <a:t>其定义同式</a:t>
                </a:r>
                <a:r>
                  <a:rPr lang="en-US" altLang="zh-CN" i="0">
                    <a:latin typeface="Cambria Math" panose="02040503050406030204" pitchFamily="18" charset="0"/>
                  </a:rPr>
                  <a:t>𝐿</a:t>
                </a:r>
                <a:r>
                  <a:rPr lang="en-US" altLang="zh-CN" i="0" smtClean="0">
                    <a:latin typeface="Cambria Math" panose="02040503050406030204" pitchFamily="18" charset="0"/>
                  </a:rPr>
                  <a:t>_</a:t>
                </a:r>
                <a:r>
                  <a:rPr lang="en-US" altLang="zh-CN" i="0">
                    <a:latin typeface="Cambria Math" panose="02040503050406030204" pitchFamily="18" charset="0"/>
                  </a:rPr>
                  <a:t>𝑐𝑙𝑠 (𝑝,𝑢)=−log⁡〖𝑃_𝑢 〗</a:t>
                </a:r>
                <a:r>
                  <a:rPr lang="en-US" altLang="zh-CN" dirty="0" smtClean="0"/>
                  <a:t>;</a:t>
                </a:r>
                <a:r>
                  <a:rPr lang="zh-CN" altLang="en-US" dirty="0" smtClean="0"/>
                  <a:t>位置回归损失</a:t>
                </a:r>
                <a:r>
                  <a:rPr lang="en-US" altLang="zh-CN" dirty="0" smtClean="0"/>
                  <a:t>Leg</a:t>
                </a:r>
                <a:r>
                  <a:rPr lang="zh-CN" altLang="en-US" dirty="0" smtClean="0"/>
                  <a:t>是一个经过平滑改造的</a:t>
                </a:r>
                <a:r>
                  <a:rPr lang="en-US" altLang="zh-CN" dirty="0" smtClean="0"/>
                  <a:t>L</a:t>
                </a:r>
                <a:r>
                  <a:rPr lang="en-US" altLang="zh-CN" baseline="-25000" dirty="0" smtClean="0"/>
                  <a:t>1</a:t>
                </a:r>
                <a:r>
                  <a:rPr lang="zh-CN" altLang="en-US" dirty="0" smtClean="0"/>
                  <a:t>损失</a:t>
                </a:r>
                <a:r>
                  <a:rPr lang="en-US" altLang="zh-CN" dirty="0" smtClean="0"/>
                  <a:t>,</a:t>
                </a:r>
                <a:r>
                  <a:rPr lang="zh-CN" altLang="en-US" dirty="0" smtClean="0"/>
                  <a:t>其定义同式</a:t>
                </a:r>
                <a:r>
                  <a:rPr lang="en-US" altLang="zh-CN" i="0">
                    <a:latin typeface="Cambria Math" panose="02040503050406030204" pitchFamily="18" charset="0"/>
                    <a:ea typeface="Cambria Math" panose="02040503050406030204" pitchFamily="18" charset="0"/>
                  </a:rPr>
                  <a:t>𝐿</a:t>
                </a:r>
                <a:r>
                  <a:rPr lang="el-GR" altLang="zh-CN"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loc</a:t>
                </a:r>
                <a:r>
                  <a:rPr lang="el-GR" altLang="zh-CN" i="0">
                    <a:latin typeface="Cambria Math" panose="02040503050406030204" pitchFamily="18" charset="0"/>
                    <a:ea typeface="Cambria Math" panose="02040503050406030204" pitchFamily="18" charset="0"/>
                  </a:rPr>
                  <a:t> (</a:t>
                </a:r>
                <a:r>
                  <a:rPr lang="en-US" altLang="zh-CN" i="0">
                    <a:latin typeface="Cambria Math" panose="02040503050406030204" pitchFamily="18" charset="0"/>
                    <a:ea typeface="Cambria Math" panose="02040503050406030204" pitchFamily="18" charset="0"/>
                  </a:rPr>
                  <a:t>𝑡</a:t>
                </a:r>
                <a:r>
                  <a:rPr lang="el-GR" altLang="zh-CN" i="0">
                    <a:latin typeface="Cambria Math" panose="02040503050406030204" pitchFamily="18" charset="0"/>
                    <a:ea typeface="Cambria Math" panose="02040503050406030204" pitchFamily="18" charset="0"/>
                  </a:rPr>
                  <a:t>^</a:t>
                </a:r>
                <a:r>
                  <a:rPr lang="en-US" altLang="zh-CN" i="0">
                    <a:latin typeface="Cambria Math" panose="02040503050406030204" pitchFamily="18" charset="0"/>
                    <a:ea typeface="Cambria Math" panose="02040503050406030204" pitchFamily="18" charset="0"/>
                  </a:rPr>
                  <a:t>𝑢,𝑣)=∑_(𝑖∈⟨𝑥,𝑦,𝑤,ℎ⟩)▒〖〖𝑠𝑚𝑜𝑜𝑡ℎ〗_(𝐿_1 ) (𝑡_𝑖^𝑢−𝑣_𝑖 ) 〗</a:t>
                </a:r>
                <a:r>
                  <a:rPr lang="zh-CN" altLang="en-US" dirty="0" smtClean="0"/>
                  <a:t>和</a:t>
                </a:r>
                <a:r>
                  <a:rPr lang="en-US" altLang="zh-CN" i="0">
                    <a:latin typeface="Cambria Math" panose="02040503050406030204" pitchFamily="18" charset="0"/>
                  </a:rPr>
                  <a:t>〖𝑠𝑚𝑜𝑜𝑡ℎ〗_(𝐿_1 ) (𝑥)={█(0.5𝑥^2 (|𝑥|</a:t>
                </a:r>
                <a:r>
                  <a:rPr lang="en-US" altLang="zh-CN" i="0">
                    <a:latin typeface="Cambria Math" panose="02040503050406030204" pitchFamily="18" charset="0"/>
                    <a:ea typeface="Cambria Math" panose="02040503050406030204" pitchFamily="18" charset="0"/>
                  </a:rPr>
                  <a:t>&lt;1)@|</a:t>
                </a:r>
                <a:r>
                  <a:rPr lang="en-US" altLang="zh-CN" i="0">
                    <a:latin typeface="Cambria Math" panose="02040503050406030204" pitchFamily="18" charset="0"/>
                  </a:rPr>
                  <a:t>𝑥|−0.5(|𝑥|</a:t>
                </a:r>
                <a:r>
                  <a:rPr lang="en-US" altLang="zh-CN" i="0">
                    <a:latin typeface="Cambria Math" panose="02040503050406030204" pitchFamily="18" charset="0"/>
                    <a:ea typeface="Cambria Math" panose="02040503050406030204" pitchFamily="18" charset="0"/>
                  </a:rPr>
                  <a:t>≥1) )┤</a:t>
                </a:r>
                <a:r>
                  <a:rPr lang="zh-CN" altLang="en-US" dirty="0" smtClean="0"/>
                  <a:t>。</a:t>
                </a:r>
                <a:r>
                  <a:rPr lang="en-US" altLang="zh-CN" b="0" i="0" smtClean="0">
                    <a:latin typeface="Cambria Math" panose="02040503050406030204" pitchFamily="18" charset="0"/>
                    <a:ea typeface="Cambria Math" panose="02040503050406030204" pitchFamily="18" charset="0"/>
                  </a:rPr>
                  <a:t>𝑝</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𝑖^∗</a:t>
                </a:r>
                <a:r>
                  <a:rPr lang="el-GR" altLang="zh-CN" b="0" i="0" smtClean="0">
                    <a:latin typeface="Cambria Math" panose="02040503050406030204" pitchFamily="18" charset="0"/>
                    <a:ea typeface="Cambria Math" panose="02040503050406030204" pitchFamily="18" charset="0"/>
                  </a:rPr>
                  <a:t> </a:t>
                </a:r>
                <a:r>
                  <a:rPr lang="en-US" altLang="zh-CN" b="0" i="0" smtClean="0">
                    <a:latin typeface="Cambria Math" panose="02040503050406030204" pitchFamily="18" charset="0"/>
                    <a:ea typeface="Cambria Math" panose="02040503050406030204" pitchFamily="18" charset="0"/>
                  </a:rPr>
                  <a:t>𝐿</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𝑟𝑒𝑔</a:t>
                </a:r>
                <a:r>
                  <a:rPr lang="zh-CN" altLang="en-US" dirty="0" smtClean="0"/>
                  <a:t>的含义是，当锚框中目标，即</a:t>
                </a:r>
                <a:r>
                  <a:rPr lang="en-US" altLang="zh-CN" dirty="0" smtClean="0"/>
                  <a:t>p=1</a:t>
                </a:r>
                <a:r>
                  <a:rPr lang="zh-CN" altLang="en-US" dirty="0" smtClean="0"/>
                  <a:t>时</a:t>
                </a:r>
                <a:r>
                  <a:rPr lang="en-US" altLang="zh-CN" dirty="0" smtClean="0"/>
                  <a:t>,</a:t>
                </a:r>
                <a:r>
                  <a:rPr lang="zh-CN" altLang="en-US" dirty="0" smtClean="0"/>
                  <a:t>才会计算回归损失</a:t>
                </a:r>
                <a:r>
                  <a:rPr lang="en-US" altLang="zh-CN" i="0">
                    <a:latin typeface="Cambria Math" panose="02040503050406030204" pitchFamily="18" charset="0"/>
                    <a:ea typeface="Cambria Math" panose="02040503050406030204" pitchFamily="18" charset="0"/>
                  </a:rPr>
                  <a:t>𝐿</a:t>
                </a:r>
                <a:r>
                  <a:rPr lang="el-GR" altLang="zh-CN"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𝑟𝑒𝑔</a:t>
                </a:r>
                <a:r>
                  <a:rPr lang="zh-CN" altLang="en-US" dirty="0" smtClean="0"/>
                  <a:t>，当锚未框中目标</a:t>
                </a:r>
                <a:r>
                  <a:rPr lang="en-US" altLang="zh-CN" dirty="0" smtClean="0"/>
                  <a:t>,</a:t>
                </a:r>
                <a:r>
                  <a:rPr lang="zh-CN" altLang="en-US" dirty="0" smtClean="0"/>
                  <a:t>即</a:t>
                </a:r>
                <a:r>
                  <a:rPr lang="en-US" altLang="zh-CN" b="0" i="0" smtClean="0">
                    <a:latin typeface="Cambria Math" panose="02040503050406030204" pitchFamily="18" charset="0"/>
                    <a:ea typeface="Cambria Math" panose="02040503050406030204" pitchFamily="18" charset="0"/>
                  </a:rPr>
                  <a:t>𝑝</a:t>
                </a:r>
                <a:r>
                  <a:rPr lang="el-GR" altLang="zh-CN" b="0" i="0" smtClean="0">
                    <a:latin typeface="Cambria Math" panose="02040503050406030204" pitchFamily="18" charset="0"/>
                    <a:ea typeface="Cambria Math" panose="02040503050406030204" pitchFamily="18" charset="0"/>
                  </a:rPr>
                  <a:t>_</a:t>
                </a:r>
                <a:r>
                  <a:rPr lang="en-US" altLang="zh-CN" b="0" i="0" smtClean="0">
                    <a:latin typeface="Cambria Math" panose="02040503050406030204" pitchFamily="18" charset="0"/>
                    <a:ea typeface="Cambria Math" panose="02040503050406030204" pitchFamily="18" charset="0"/>
                  </a:rPr>
                  <a:t>𝑖^∗</a:t>
                </a:r>
                <a:r>
                  <a:rPr lang="en-US" altLang="zh-CN" dirty="0" smtClean="0"/>
                  <a:t>=0</a:t>
                </a:r>
                <a:r>
                  <a:rPr lang="zh-CN" altLang="en-US" dirty="0" smtClean="0"/>
                  <a:t>时，回归损失不参与计算。</a:t>
                </a:r>
                <a:endParaRPr lang="en-US" altLang="zh-CN"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201966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公式中</a:t>
                </a:r>
                <a:r>
                  <a:rPr lang="en-US" altLang="zh-CN" dirty="0" err="1" smtClean="0"/>
                  <a:t>N</a:t>
                </a:r>
                <a:r>
                  <a:rPr lang="en-US" altLang="zh-CN" baseline="-25000" dirty="0" err="1" smtClean="0"/>
                  <a:t>cls</a:t>
                </a:r>
                <a:r>
                  <a:rPr lang="zh-CN" altLang="en-US" dirty="0" smtClean="0"/>
                  <a:t>的作用是归一化类别损失</a:t>
                </a:r>
                <a:r>
                  <a:rPr lang="en-US" altLang="zh-CN" dirty="0" smtClean="0"/>
                  <a:t>,</a:t>
                </a:r>
                <a:r>
                  <a:rPr lang="zh-CN" altLang="en-US" dirty="0" smtClean="0"/>
                  <a:t>其在数值上等于一个训练批次中的样本数量</a:t>
                </a:r>
                <a:r>
                  <a:rPr lang="en-US" altLang="zh-CN" dirty="0" smtClean="0"/>
                  <a:t>(</a:t>
                </a:r>
                <a:r>
                  <a:rPr lang="zh-CN" altLang="en-US" dirty="0" smtClean="0"/>
                  <a:t>比如，</a:t>
                </a:r>
                <a:r>
                  <a:rPr lang="en-US" altLang="zh-CN" dirty="0" smtClean="0"/>
                  <a:t>N. =256 );N</a:t>
                </a:r>
                <a:r>
                  <a:rPr lang="zh-CN" altLang="en-US" dirty="0" smtClean="0"/>
                  <a:t>的作用是归一化回归损失，其在数值上等于锚的位置数量</a:t>
                </a:r>
                <a:r>
                  <a:rPr lang="en-US" altLang="zh-CN" dirty="0" smtClean="0"/>
                  <a:t>(</a:t>
                </a:r>
                <a:r>
                  <a:rPr lang="zh-CN" altLang="en-US" dirty="0" smtClean="0"/>
                  <a:t>比如，</a:t>
                </a:r>
                <a:r>
                  <a:rPr lang="en-US" altLang="zh-CN" dirty="0" smtClean="0"/>
                  <a:t>N_ =W×H =2400);</a:t>
                </a:r>
                <a:r>
                  <a:rPr lang="el-GR" altLang="zh-CN" dirty="0" smtClean="0">
                    <a:ea typeface="Cambria Math" panose="02040503050406030204" pitchFamily="18" charset="0"/>
                  </a:rPr>
                  <a:t> </a:t>
                </a:r>
                <a14:m>
                  <m:oMath xmlns:m="http://schemas.openxmlformats.org/officeDocument/2006/math">
                    <m:r>
                      <a:rPr lang="el-GR" altLang="zh-CN" i="1">
                        <a:latin typeface="Cambria Math" panose="02040503050406030204" pitchFamily="18" charset="0"/>
                        <a:ea typeface="Cambria Math" panose="02040503050406030204" pitchFamily="18" charset="0"/>
                      </a:rPr>
                      <m:t>𝜆</m:t>
                    </m:r>
                  </m:oMath>
                </a14:m>
                <a:r>
                  <a:rPr lang="zh-CN" altLang="en-US" dirty="0" smtClean="0"/>
                  <a:t>是一个比例因子，用于平衡类别损失和回归损失的比例</a:t>
                </a:r>
                <a:r>
                  <a:rPr lang="en-US" altLang="zh-CN" dirty="0" smtClean="0"/>
                  <a:t>(</a:t>
                </a:r>
                <a:r>
                  <a:rPr lang="zh-CN" altLang="en-US" dirty="0" smtClean="0"/>
                  <a:t>比如，当</a:t>
                </a:r>
                <a:r>
                  <a:rPr lang="en-US" altLang="zh-CN" dirty="0" err="1" smtClean="0"/>
                  <a:t>N</a:t>
                </a:r>
                <a:r>
                  <a:rPr lang="en-US" altLang="zh-CN" baseline="-25000" dirty="0" err="1" smtClean="0"/>
                  <a:t>cls</a:t>
                </a:r>
                <a:r>
                  <a:rPr lang="en-US" altLang="zh-CN" dirty="0" smtClean="0"/>
                  <a:t>=256,N</a:t>
                </a:r>
                <a:r>
                  <a:rPr lang="en-US" altLang="zh-CN" baseline="-25000" dirty="0" smtClean="0"/>
                  <a:t>reg</a:t>
                </a:r>
                <a:r>
                  <a:rPr lang="en-US" altLang="zh-CN" dirty="0" smtClean="0"/>
                  <a:t> =2400</a:t>
                </a:r>
                <a:r>
                  <a:rPr lang="zh-CN" altLang="en-US" dirty="0" smtClean="0"/>
                  <a:t>时，取</a:t>
                </a:r>
                <a14:m>
                  <m:oMath xmlns:m="http://schemas.openxmlformats.org/officeDocument/2006/math">
                    <m:r>
                      <a:rPr lang="el-GR" altLang="zh-CN" i="1" smtClean="0">
                        <a:latin typeface="Cambria Math" panose="02040503050406030204" pitchFamily="18" charset="0"/>
                        <a:ea typeface="Cambria Math" panose="02040503050406030204" pitchFamily="18" charset="0"/>
                      </a:rPr>
                      <m:t>𝜆</m:t>
                    </m:r>
                  </m:oMath>
                </a14:m>
                <a:r>
                  <a:rPr lang="en-US" altLang="zh-CN" dirty="0" smtClean="0"/>
                  <a:t>=10</a:t>
                </a:r>
                <a:r>
                  <a:rPr lang="zh-CN" altLang="en-US" dirty="0" smtClean="0"/>
                  <a:t>，以保证对于一个锚来说</a:t>
                </a:r>
                <a:r>
                  <a:rPr lang="en-US" altLang="zh-CN" dirty="0" smtClean="0"/>
                  <a:t>,</a:t>
                </a:r>
                <a:r>
                  <a:rPr lang="zh-CN" altLang="en-US" dirty="0" smtClean="0"/>
                  <a:t>分类损失和回归损失具有近似相等的权重</a:t>
                </a:r>
                <a:r>
                  <a:rPr lang="en-US" altLang="zh-CN" dirty="0" smtClean="0"/>
                  <a:t>)</a:t>
                </a:r>
                <a:r>
                  <a:rPr lang="zh-CN" altLang="en-US" dirty="0" smtClean="0"/>
                  <a:t>。</a:t>
                </a:r>
                <a:endParaRPr lang="en-US" altLang="zh-CN" dirty="0" smtClean="0"/>
              </a:p>
              <a:p>
                <a14:m>
                  <m:oMath xmlns:m="http://schemas.openxmlformats.org/officeDocument/2006/math">
                    <m:sSub>
                      <m:sSubPr>
                        <m:ctrlPr>
                          <a:rPr lang="el-GR"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𝑟𝑒𝑔</m:t>
                        </m:r>
                      </m:sub>
                    </m:sSub>
                    <m:d>
                      <m:dPr>
                        <m:endChr m:val=""/>
                        <m:ctrlPr>
                          <a:rPr lang="el-GR" altLang="zh-CN" i="1">
                            <a:latin typeface="Cambria Math" panose="02040503050406030204" pitchFamily="18" charset="0"/>
                            <a:ea typeface="Cambria Math" panose="02040503050406030204" pitchFamily="18" charset="0"/>
                          </a:rPr>
                        </m:ctrlPr>
                      </m:dPr>
                      <m:e>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e>
                    </m:d>
                    <m:r>
                      <a:rPr lang="en-US" altLang="zh-CN" i="1">
                        <a:latin typeface="Cambria Math" panose="02040503050406030204" pitchFamily="18" charset="0"/>
                        <a:ea typeface="Cambria Math" panose="02040503050406030204" pitchFamily="18" charset="0"/>
                      </a:rPr>
                      <m:t>,</m:t>
                    </m:r>
                    <m:d>
                      <m:dPr>
                        <m:begChr m:val=""/>
                        <m:ctrlPr>
                          <a:rPr lang="el-GR" altLang="zh-CN" i="1">
                            <a:latin typeface="Cambria Math" panose="02040503050406030204" pitchFamily="18" charset="0"/>
                            <a:ea typeface="Cambria Math" panose="02040503050406030204" pitchFamily="18" charset="0"/>
                          </a:rPr>
                        </m:ctrlPr>
                      </m:dPr>
                      <m:e>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e>
                    </m:d>
                  </m:oMath>
                </a14:m>
                <a:r>
                  <a:rPr lang="zh-CN" altLang="en-US" dirty="0" smtClean="0"/>
                  <a:t>的具体计算过程中使用了规范化的偏移量和缩放尺度，具体规范化的方式同式（</a:t>
                </a:r>
                <a:r>
                  <a:rPr lang="en-US" altLang="zh-CN" dirty="0" smtClean="0"/>
                  <a:t>8-1</a:t>
                </a:r>
                <a:r>
                  <a:rPr lang="zh-CN" altLang="en-US" dirty="0" smtClean="0"/>
                  <a:t>）～式（</a:t>
                </a:r>
                <a:r>
                  <a:rPr lang="en-US" altLang="zh-CN" dirty="0" smtClean="0"/>
                  <a:t>8-4</a:t>
                </a:r>
                <a:r>
                  <a:rPr lang="zh-CN" altLang="en-US" dirty="0" smtClean="0"/>
                  <a:t>）。从公式上可以看出</a:t>
                </a:r>
                <a:r>
                  <a:rPr lang="en-US" altLang="zh-CN" dirty="0" smtClean="0"/>
                  <a:t>,</a:t>
                </a:r>
                <a:r>
                  <a:rPr lang="zh-CN" altLang="en-US" dirty="0" smtClean="0"/>
                  <a:t>整个回归过程本质上就是以锚为初始位置</a:t>
                </a:r>
                <a:r>
                  <a:rPr lang="en-US" altLang="zh-CN" dirty="0" smtClean="0"/>
                  <a:t>,</a:t>
                </a:r>
                <a:r>
                  <a:rPr lang="zh-CN" altLang="en-US" dirty="0" smtClean="0"/>
                  <a:t>回归其附近一个真值的过程。回归所使用的特征，就是当前滑动窗口所截取的特征图块</a:t>
                </a:r>
                <a:r>
                  <a:rPr lang="en-US" altLang="zh-CN" dirty="0" smtClean="0"/>
                  <a:t>(</a:t>
                </a:r>
                <a:r>
                  <a:rPr lang="zh-CN" altLang="en-US" dirty="0" smtClean="0"/>
                  <a:t>比如，一个</a:t>
                </a:r>
                <a:r>
                  <a:rPr lang="en-US" altLang="zh-CN" dirty="0" smtClean="0"/>
                  <a:t>3×3×d</a:t>
                </a:r>
                <a:r>
                  <a:rPr lang="zh-CN" altLang="en-US" dirty="0" smtClean="0"/>
                  <a:t>的特征图块，</a:t>
                </a:r>
                <a:r>
                  <a:rPr lang="en-US" altLang="zh-CN" dirty="0" smtClean="0"/>
                  <a:t>3×3</a:t>
                </a:r>
                <a:r>
                  <a:rPr lang="zh-CN" altLang="en-US" dirty="0" smtClean="0"/>
                  <a:t>为滑动窗口的尺寸，</a:t>
                </a:r>
                <a:r>
                  <a:rPr lang="en-US" altLang="zh-CN" dirty="0" smtClean="0"/>
                  <a:t>d</a:t>
                </a:r>
                <a:r>
                  <a:rPr lang="zh-CN" altLang="en-US" dirty="0" smtClean="0"/>
                  <a:t>为特征图的通道数</a:t>
                </a:r>
                <a:r>
                  <a:rPr lang="en-US" altLang="zh-CN" dirty="0" smtClean="0"/>
                  <a:t>)</a:t>
                </a:r>
                <a:r>
                  <a:rPr lang="zh-CN" altLang="en-US" dirty="0" smtClean="0"/>
                  <a:t>。因为每个滑窗位置对应</a:t>
                </a:r>
                <a:r>
                  <a:rPr lang="en-US" altLang="zh-CN" dirty="0" smtClean="0"/>
                  <a:t>k</a:t>
                </a:r>
                <a:r>
                  <a:rPr lang="zh-CN" altLang="en-US" dirty="0" smtClean="0"/>
                  <a:t>个不同尺寸和宽高比的锚</a:t>
                </a:r>
                <a:r>
                  <a:rPr lang="en-US" altLang="zh-CN" dirty="0" smtClean="0"/>
                  <a:t>,</a:t>
                </a:r>
                <a:r>
                  <a:rPr lang="zh-CN" altLang="en-US" dirty="0" smtClean="0"/>
                  <a:t>训练过程实际上就是分别学习每个锚的变换参数的过程。</a:t>
                </a:r>
                <a:endParaRPr lang="en-US" altLang="zh-CN" dirty="0" smtClean="0"/>
              </a:p>
              <a:p>
                <a:r>
                  <a:rPr lang="zh-CN" altLang="en-US" dirty="0" smtClean="0"/>
                  <a:t>训练候选框提取网络仍然采用随机梯度下降法（</a:t>
                </a:r>
                <a:r>
                  <a:rPr lang="en-US" altLang="zh-CN" dirty="0" smtClean="0"/>
                  <a:t>SGD),</a:t>
                </a:r>
                <a:r>
                  <a:rPr lang="zh-CN" altLang="en-US" dirty="0" smtClean="0"/>
                  <a:t>为了提升训练速度，每个训练批次的锚都来自同一图像上的随机采样。一般情况下</a:t>
                </a:r>
                <a:r>
                  <a:rPr lang="en-US" altLang="zh-CN" dirty="0" smtClean="0"/>
                  <a:t>,</a:t>
                </a:r>
                <a:r>
                  <a:rPr lang="zh-CN" altLang="en-US" dirty="0" smtClean="0"/>
                  <a:t>随机选取锚在概率上会比较偏向未框中目标，为了保证训练样本的均衡</a:t>
                </a:r>
                <a:r>
                  <a:rPr lang="en-US" altLang="zh-CN" dirty="0" smtClean="0"/>
                  <a:t>,</a:t>
                </a:r>
                <a:r>
                  <a:rPr lang="zh-CN" altLang="en-US" dirty="0" smtClean="0"/>
                  <a:t>需要人为地尽量保持框中目标的锚</a:t>
                </a:r>
                <a:r>
                  <a:rPr lang="en-US" altLang="zh-CN" dirty="0" smtClean="0"/>
                  <a:t>(</a:t>
                </a:r>
                <a:r>
                  <a:rPr lang="zh-CN" altLang="en-US" dirty="0" smtClean="0"/>
                  <a:t>正样本</a:t>
                </a:r>
                <a:r>
                  <a:rPr lang="en-US" altLang="zh-CN" dirty="0" smtClean="0"/>
                  <a:t>)</a:t>
                </a:r>
                <a:r>
                  <a:rPr lang="zh-CN" altLang="en-US" dirty="0" smtClean="0"/>
                  <a:t>与未框中目标的锚</a:t>
                </a:r>
                <a:r>
                  <a:rPr lang="en-US" altLang="zh-CN" dirty="0" smtClean="0"/>
                  <a:t>(</a:t>
                </a:r>
                <a:r>
                  <a:rPr lang="zh-CN" altLang="en-US" dirty="0" smtClean="0"/>
                  <a:t>负样本</a:t>
                </a:r>
                <a:r>
                  <a:rPr lang="en-US" altLang="zh-CN" dirty="0" smtClean="0"/>
                  <a:t>)</a:t>
                </a:r>
                <a:r>
                  <a:rPr lang="zh-CN" altLang="en-US" dirty="0" smtClean="0"/>
                  <a:t>在数量上保持</a:t>
                </a:r>
                <a:r>
                  <a:rPr lang="en-US" altLang="zh-CN" dirty="0" smtClean="0"/>
                  <a:t>1:1</a:t>
                </a:r>
                <a:r>
                  <a:rPr lang="zh-CN" altLang="en-US" dirty="0" smtClean="0"/>
                  <a:t>的比例。比如一个小批次如果包含</a:t>
                </a:r>
                <a:r>
                  <a:rPr lang="en-US" altLang="zh-CN" dirty="0" smtClean="0"/>
                  <a:t>256</a:t>
                </a:r>
                <a:r>
                  <a:rPr lang="zh-CN" altLang="en-US" dirty="0" smtClean="0"/>
                  <a:t>个锚，就要求这</a:t>
                </a:r>
                <a:r>
                  <a:rPr lang="en-US" altLang="zh-CN" dirty="0" smtClean="0"/>
                  <a:t>256</a:t>
                </a:r>
                <a:r>
                  <a:rPr lang="zh-CN" altLang="en-US" dirty="0" smtClean="0"/>
                  <a:t>个锚中</a:t>
                </a:r>
                <a:r>
                  <a:rPr lang="en-US" altLang="zh-CN" dirty="0" smtClean="0"/>
                  <a:t>,</a:t>
                </a:r>
                <a:r>
                  <a:rPr lang="zh-CN" altLang="en-US" dirty="0" smtClean="0"/>
                  <a:t>有</a:t>
                </a:r>
                <a:r>
                  <a:rPr lang="en-US" altLang="zh-CN" dirty="0" smtClean="0"/>
                  <a:t>128</a:t>
                </a:r>
                <a:r>
                  <a:rPr lang="zh-CN" altLang="en-US" dirty="0" smtClean="0"/>
                  <a:t>个为正样本，另外</a:t>
                </a:r>
                <a:r>
                  <a:rPr lang="en-US" altLang="zh-CN" dirty="0" smtClean="0"/>
                  <a:t>128</a:t>
                </a:r>
                <a:r>
                  <a:rPr lang="zh-CN" altLang="en-US" dirty="0" smtClean="0"/>
                  <a:t>个</a:t>
                </a:r>
              </a:p>
              <a:p>
                <a:r>
                  <a:rPr lang="zh-CN" altLang="en-US" dirty="0" smtClean="0"/>
                  <a:t>为负样本，当实际情况下确实无法选到</a:t>
                </a:r>
                <a:r>
                  <a:rPr lang="en-US" altLang="zh-CN" dirty="0" smtClean="0"/>
                  <a:t>128</a:t>
                </a:r>
                <a:r>
                  <a:rPr lang="zh-CN" altLang="en-US" dirty="0" smtClean="0"/>
                  <a:t>个正样本时，再使用负样本补齐差额。</a:t>
                </a:r>
              </a:p>
              <a:p>
                <a:r>
                  <a:rPr lang="zh-CN" altLang="en-US" dirty="0" smtClean="0"/>
                  <a:t>实际训练时，一个常用的做法是基于 </a:t>
                </a:r>
                <a:r>
                  <a:rPr lang="en-US" altLang="zh-CN" dirty="0" err="1" smtClean="0"/>
                  <a:t>ImageNet</a:t>
                </a:r>
                <a:r>
                  <a:rPr lang="zh-CN" altLang="en-US" dirty="0" smtClean="0"/>
                  <a:t>进行预训练。对于新增的网络层，一般使用均值为</a:t>
                </a:r>
                <a:r>
                  <a:rPr lang="en-US" altLang="zh-CN" dirty="0" smtClean="0"/>
                  <a:t>0</a:t>
                </a:r>
                <a:r>
                  <a:rPr lang="zh-CN" altLang="en-US" dirty="0" smtClean="0"/>
                  <a:t>，标准差为</a:t>
                </a:r>
                <a:r>
                  <a:rPr lang="en-US" altLang="zh-CN" dirty="0" smtClean="0"/>
                  <a:t>0.01</a:t>
                </a:r>
                <a:r>
                  <a:rPr lang="zh-CN" altLang="en-US" dirty="0" smtClean="0"/>
                  <a:t>的高斯分布进行初始化，然后对整个网络基于新的样本数据进行调优训练。</a:t>
                </a:r>
                <a:endParaRPr lang="en-US" altLang="zh-CN" dirty="0" smtClean="0"/>
              </a:p>
            </p:txBody>
          </p:sp>
        </mc:Choice>
        <mc:Fallback xmlns="">
          <p:sp>
            <p:nvSpPr>
              <p:cNvPr id="3" name="备注占位符 2"/>
              <p:cNvSpPr>
                <a:spLocks noGrp="1"/>
              </p:cNvSpPr>
              <p:nvPr>
                <p:ph type="body" idx="1"/>
              </p:nvPr>
            </p:nvSpPr>
            <p:spPr/>
            <p:txBody>
              <a:bodyPr/>
              <a:lstStyle/>
              <a:p>
                <a:r>
                  <a:rPr lang="zh-CN" altLang="en-US" dirty="0" smtClean="0"/>
                  <a:t>公式中</a:t>
                </a:r>
                <a:r>
                  <a:rPr lang="en-US" altLang="zh-CN" dirty="0" err="1" smtClean="0"/>
                  <a:t>N</a:t>
                </a:r>
                <a:r>
                  <a:rPr lang="en-US" altLang="zh-CN" baseline="-25000" dirty="0" err="1" smtClean="0"/>
                  <a:t>cls</a:t>
                </a:r>
                <a:r>
                  <a:rPr lang="zh-CN" altLang="en-US" dirty="0" smtClean="0"/>
                  <a:t>的作用是归一化类别损失</a:t>
                </a:r>
                <a:r>
                  <a:rPr lang="en-US" altLang="zh-CN" dirty="0" smtClean="0"/>
                  <a:t>,</a:t>
                </a:r>
                <a:r>
                  <a:rPr lang="zh-CN" altLang="en-US" dirty="0" smtClean="0"/>
                  <a:t>其在数值上等于一个训练批次中的样本数量</a:t>
                </a:r>
                <a:r>
                  <a:rPr lang="en-US" altLang="zh-CN" dirty="0" smtClean="0"/>
                  <a:t>(</a:t>
                </a:r>
                <a:r>
                  <a:rPr lang="zh-CN" altLang="en-US" dirty="0" smtClean="0"/>
                  <a:t>比如，</a:t>
                </a:r>
                <a:r>
                  <a:rPr lang="en-US" altLang="zh-CN" dirty="0" smtClean="0"/>
                  <a:t>N. =256 );N</a:t>
                </a:r>
                <a:r>
                  <a:rPr lang="zh-CN" altLang="en-US" dirty="0" smtClean="0"/>
                  <a:t>的作用是归一化回归损失，其在数值上等于锚的位置数量</a:t>
                </a:r>
                <a:r>
                  <a:rPr lang="en-US" altLang="zh-CN" dirty="0" smtClean="0"/>
                  <a:t>(</a:t>
                </a:r>
                <a:r>
                  <a:rPr lang="zh-CN" altLang="en-US" dirty="0" smtClean="0"/>
                  <a:t>比如，</a:t>
                </a:r>
                <a:r>
                  <a:rPr lang="en-US" altLang="zh-CN" dirty="0" smtClean="0"/>
                  <a:t>N_ =W×H =2400);</a:t>
                </a:r>
                <a:r>
                  <a:rPr lang="el-GR" altLang="zh-CN" dirty="0" smtClean="0">
                    <a:ea typeface="Cambria Math" panose="02040503050406030204" pitchFamily="18" charset="0"/>
                  </a:rPr>
                  <a:t> </a:t>
                </a:r>
                <a:r>
                  <a:rPr lang="el-GR" altLang="zh-CN" i="0">
                    <a:latin typeface="Cambria Math" panose="02040503050406030204" pitchFamily="18" charset="0"/>
                    <a:ea typeface="Cambria Math" panose="02040503050406030204" pitchFamily="18" charset="0"/>
                  </a:rPr>
                  <a:t>𝜆</a:t>
                </a:r>
                <a:r>
                  <a:rPr lang="zh-CN" altLang="en-US" dirty="0" smtClean="0"/>
                  <a:t>是一个比例因子，用于平衡类别损失和回归损失的比例</a:t>
                </a:r>
                <a:r>
                  <a:rPr lang="en-US" altLang="zh-CN" dirty="0" smtClean="0"/>
                  <a:t>(</a:t>
                </a:r>
                <a:r>
                  <a:rPr lang="zh-CN" altLang="en-US" dirty="0" smtClean="0"/>
                  <a:t>比如，当</a:t>
                </a:r>
                <a:r>
                  <a:rPr lang="en-US" altLang="zh-CN" dirty="0" err="1" smtClean="0"/>
                  <a:t>N</a:t>
                </a:r>
                <a:r>
                  <a:rPr lang="en-US" altLang="zh-CN" baseline="-25000" dirty="0" err="1" smtClean="0"/>
                  <a:t>cls</a:t>
                </a:r>
                <a:r>
                  <a:rPr lang="en-US" altLang="zh-CN" dirty="0" smtClean="0"/>
                  <a:t>=256,N</a:t>
                </a:r>
                <a:r>
                  <a:rPr lang="en-US" altLang="zh-CN" baseline="-25000" dirty="0" smtClean="0"/>
                  <a:t>reg</a:t>
                </a:r>
                <a:r>
                  <a:rPr lang="en-US" altLang="zh-CN" dirty="0" smtClean="0"/>
                  <a:t> =2400</a:t>
                </a:r>
                <a:r>
                  <a:rPr lang="zh-CN" altLang="en-US" dirty="0" smtClean="0"/>
                  <a:t>时，取</a:t>
                </a:r>
                <a:r>
                  <a:rPr lang="el-GR" altLang="zh-CN" i="0" smtClean="0">
                    <a:latin typeface="Cambria Math" panose="02040503050406030204" pitchFamily="18" charset="0"/>
                    <a:ea typeface="Cambria Math" panose="02040503050406030204" pitchFamily="18" charset="0"/>
                  </a:rPr>
                  <a:t>𝜆</a:t>
                </a:r>
                <a:r>
                  <a:rPr lang="en-US" altLang="zh-CN" dirty="0" smtClean="0"/>
                  <a:t>=10</a:t>
                </a:r>
                <a:r>
                  <a:rPr lang="zh-CN" altLang="en-US" dirty="0" smtClean="0"/>
                  <a:t>，以保证对于一个锚来说</a:t>
                </a:r>
                <a:r>
                  <a:rPr lang="en-US" altLang="zh-CN" dirty="0" smtClean="0"/>
                  <a:t>,</a:t>
                </a:r>
                <a:r>
                  <a:rPr lang="zh-CN" altLang="en-US" dirty="0" smtClean="0"/>
                  <a:t>分类损失和回归损失具有近似相等的权重</a:t>
                </a:r>
                <a:r>
                  <a:rPr lang="en-US" altLang="zh-CN" dirty="0" smtClean="0"/>
                  <a:t>)</a:t>
                </a:r>
                <a:r>
                  <a:rPr lang="zh-CN" altLang="en-US" dirty="0" smtClean="0"/>
                  <a:t>。</a:t>
                </a:r>
                <a:endParaRPr lang="en-US" altLang="zh-CN" dirty="0" smtClean="0"/>
              </a:p>
              <a:p>
                <a:r>
                  <a:rPr lang="en-US" altLang="zh-CN" i="0">
                    <a:latin typeface="Cambria Math" panose="02040503050406030204" pitchFamily="18" charset="0"/>
                    <a:ea typeface="Cambria Math" panose="02040503050406030204" pitchFamily="18" charset="0"/>
                  </a:rPr>
                  <a:t>𝐿</a:t>
                </a:r>
                <a:r>
                  <a:rPr lang="el-GR" altLang="zh-CN" i="0" smtClean="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𝑟𝑒𝑔</a:t>
                </a:r>
                <a:r>
                  <a:rPr lang="el-GR" altLang="zh-CN" i="0">
                    <a:latin typeface="Cambria Math" panose="02040503050406030204" pitchFamily="18" charset="0"/>
                    <a:ea typeface="Cambria Math" panose="02040503050406030204" pitchFamily="18" charset="0"/>
                  </a:rPr>
                  <a:t> (</a:t>
                </a:r>
                <a:r>
                  <a:rPr lang="en-US" altLang="zh-CN" i="0">
                    <a:latin typeface="Cambria Math" panose="02040503050406030204" pitchFamily="18" charset="0"/>
                    <a:ea typeface="Cambria Math" panose="02040503050406030204" pitchFamily="18" charset="0"/>
                  </a:rPr>
                  <a:t>𝑡</a:t>
                </a:r>
                <a:r>
                  <a:rPr lang="el-GR" altLang="zh-CN" i="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𝑖 ┤,</a:t>
                </a:r>
                <a:r>
                  <a:rPr lang="el-GR" altLang="zh-CN" i="0">
                    <a:latin typeface="Cambria Math" panose="02040503050406030204" pitchFamily="18" charset="0"/>
                    <a:ea typeface="Cambria Math" panose="02040503050406030204" pitchFamily="18" charset="0"/>
                  </a:rPr>
                  <a:t>├ </a:t>
                </a:r>
                <a:r>
                  <a:rPr lang="en-US" altLang="zh-CN" i="0">
                    <a:latin typeface="Cambria Math" panose="02040503050406030204" pitchFamily="18" charset="0"/>
                    <a:ea typeface="Cambria Math" panose="02040503050406030204" pitchFamily="18" charset="0"/>
                  </a:rPr>
                  <a:t>𝑡</a:t>
                </a:r>
                <a:r>
                  <a:rPr lang="el-GR" altLang="zh-CN" i="0">
                    <a:latin typeface="Cambria Math" panose="02040503050406030204" pitchFamily="18" charset="0"/>
                    <a:ea typeface="Cambria Math" panose="02040503050406030204" pitchFamily="18" charset="0"/>
                  </a:rPr>
                  <a:t>_</a:t>
                </a:r>
                <a:r>
                  <a:rPr lang="en-US" altLang="zh-CN" i="0">
                    <a:latin typeface="Cambria Math" panose="02040503050406030204" pitchFamily="18" charset="0"/>
                    <a:ea typeface="Cambria Math" panose="02040503050406030204" pitchFamily="18" charset="0"/>
                  </a:rPr>
                  <a:t>𝑖^∗ )</a:t>
                </a:r>
                <a:r>
                  <a:rPr lang="zh-CN" altLang="en-US" dirty="0" smtClean="0"/>
                  <a:t>的具体计算过程中使用了规范化的偏移量和缩放尺度，具体规范化的方式同式（</a:t>
                </a:r>
                <a:r>
                  <a:rPr lang="en-US" altLang="zh-CN" dirty="0" smtClean="0"/>
                  <a:t>8-1</a:t>
                </a:r>
                <a:r>
                  <a:rPr lang="zh-CN" altLang="en-US" dirty="0" smtClean="0"/>
                  <a:t>）～式（</a:t>
                </a:r>
                <a:r>
                  <a:rPr lang="en-US" altLang="zh-CN" dirty="0" smtClean="0"/>
                  <a:t>8-4</a:t>
                </a:r>
                <a:r>
                  <a:rPr lang="zh-CN" altLang="en-US" dirty="0" smtClean="0"/>
                  <a:t>）。从公式上可以看出</a:t>
                </a:r>
                <a:r>
                  <a:rPr lang="en-US" altLang="zh-CN" dirty="0" smtClean="0"/>
                  <a:t>,</a:t>
                </a:r>
                <a:r>
                  <a:rPr lang="zh-CN" altLang="en-US" dirty="0" smtClean="0"/>
                  <a:t>整个回归过程本质上就是以锚为初始位置</a:t>
                </a:r>
                <a:r>
                  <a:rPr lang="en-US" altLang="zh-CN" dirty="0" smtClean="0"/>
                  <a:t>,</a:t>
                </a:r>
                <a:r>
                  <a:rPr lang="zh-CN" altLang="en-US" dirty="0" smtClean="0"/>
                  <a:t>回归其附近一个真值的过程。回归所使用的特征，就是当前滑动窗口所截取的特征图块</a:t>
                </a:r>
                <a:r>
                  <a:rPr lang="en-US" altLang="zh-CN" dirty="0" smtClean="0"/>
                  <a:t>(</a:t>
                </a:r>
                <a:r>
                  <a:rPr lang="zh-CN" altLang="en-US" dirty="0" smtClean="0"/>
                  <a:t>比如，一个</a:t>
                </a:r>
                <a:r>
                  <a:rPr lang="en-US" altLang="zh-CN" dirty="0" smtClean="0"/>
                  <a:t>3×3×d</a:t>
                </a:r>
                <a:r>
                  <a:rPr lang="zh-CN" altLang="en-US" dirty="0" smtClean="0"/>
                  <a:t>的特征图块，</a:t>
                </a:r>
                <a:r>
                  <a:rPr lang="en-US" altLang="zh-CN" dirty="0" smtClean="0"/>
                  <a:t>3×3</a:t>
                </a:r>
                <a:r>
                  <a:rPr lang="zh-CN" altLang="en-US" dirty="0" smtClean="0"/>
                  <a:t>为滑动窗口的尺寸，</a:t>
                </a:r>
                <a:r>
                  <a:rPr lang="en-US" altLang="zh-CN" dirty="0" smtClean="0"/>
                  <a:t>d</a:t>
                </a:r>
                <a:r>
                  <a:rPr lang="zh-CN" altLang="en-US" dirty="0" smtClean="0"/>
                  <a:t>为特征图的通道数</a:t>
                </a:r>
                <a:r>
                  <a:rPr lang="en-US" altLang="zh-CN" dirty="0" smtClean="0"/>
                  <a:t>)</a:t>
                </a:r>
                <a:r>
                  <a:rPr lang="zh-CN" altLang="en-US" dirty="0" smtClean="0"/>
                  <a:t>。因为每个滑窗位置对应</a:t>
                </a:r>
                <a:r>
                  <a:rPr lang="en-US" altLang="zh-CN" dirty="0" smtClean="0"/>
                  <a:t>k</a:t>
                </a:r>
                <a:r>
                  <a:rPr lang="zh-CN" altLang="en-US" dirty="0" smtClean="0"/>
                  <a:t>个不同尺寸和宽高比的锚</a:t>
                </a:r>
                <a:r>
                  <a:rPr lang="en-US" altLang="zh-CN" dirty="0" smtClean="0"/>
                  <a:t>,</a:t>
                </a:r>
                <a:r>
                  <a:rPr lang="zh-CN" altLang="en-US" dirty="0" smtClean="0"/>
                  <a:t>训练过程实际上就是分别学习每个锚的变换参数的过程。</a:t>
                </a:r>
                <a:endParaRPr lang="en-US" altLang="zh-CN" dirty="0" smtClean="0"/>
              </a:p>
              <a:p>
                <a:r>
                  <a:rPr lang="zh-CN" altLang="en-US" dirty="0" smtClean="0"/>
                  <a:t>训练候选框提取网络仍然采用随机梯度下降法（</a:t>
                </a:r>
                <a:r>
                  <a:rPr lang="en-US" altLang="zh-CN" dirty="0" smtClean="0"/>
                  <a:t>SGD),</a:t>
                </a:r>
                <a:r>
                  <a:rPr lang="zh-CN" altLang="en-US" dirty="0" smtClean="0"/>
                  <a:t>为了提升训练速度，每个训练批次的锚都来自同一图像上的随机采样。一般情况下</a:t>
                </a:r>
                <a:r>
                  <a:rPr lang="en-US" altLang="zh-CN" dirty="0" smtClean="0"/>
                  <a:t>,</a:t>
                </a:r>
                <a:r>
                  <a:rPr lang="zh-CN" altLang="en-US" dirty="0" smtClean="0"/>
                  <a:t>随机选取锚在概率上会比较偏向未框中目标，为了保证训练样本的均衡</a:t>
                </a:r>
                <a:r>
                  <a:rPr lang="en-US" altLang="zh-CN" dirty="0" smtClean="0"/>
                  <a:t>,</a:t>
                </a:r>
                <a:r>
                  <a:rPr lang="zh-CN" altLang="en-US" dirty="0" smtClean="0"/>
                  <a:t>需要人为地尽量保持框中目标的锚</a:t>
                </a:r>
                <a:r>
                  <a:rPr lang="en-US" altLang="zh-CN" dirty="0" smtClean="0"/>
                  <a:t>(</a:t>
                </a:r>
                <a:r>
                  <a:rPr lang="zh-CN" altLang="en-US" dirty="0" smtClean="0"/>
                  <a:t>正样本</a:t>
                </a:r>
                <a:r>
                  <a:rPr lang="en-US" altLang="zh-CN" dirty="0" smtClean="0"/>
                  <a:t>)</a:t>
                </a:r>
                <a:r>
                  <a:rPr lang="zh-CN" altLang="en-US" dirty="0" smtClean="0"/>
                  <a:t>与未框中目标的锚</a:t>
                </a:r>
                <a:r>
                  <a:rPr lang="en-US" altLang="zh-CN" dirty="0" smtClean="0"/>
                  <a:t>(</a:t>
                </a:r>
                <a:r>
                  <a:rPr lang="zh-CN" altLang="en-US" dirty="0" smtClean="0"/>
                  <a:t>负样本</a:t>
                </a:r>
                <a:r>
                  <a:rPr lang="en-US" altLang="zh-CN" dirty="0" smtClean="0"/>
                  <a:t>)</a:t>
                </a:r>
                <a:r>
                  <a:rPr lang="zh-CN" altLang="en-US" dirty="0" smtClean="0"/>
                  <a:t>在数量上保持</a:t>
                </a:r>
                <a:r>
                  <a:rPr lang="en-US" altLang="zh-CN" dirty="0" smtClean="0"/>
                  <a:t>1:1</a:t>
                </a:r>
                <a:r>
                  <a:rPr lang="zh-CN" altLang="en-US" dirty="0" smtClean="0"/>
                  <a:t>的比例。比如一个小批次如果包含</a:t>
                </a:r>
                <a:r>
                  <a:rPr lang="en-US" altLang="zh-CN" dirty="0" smtClean="0"/>
                  <a:t>256</a:t>
                </a:r>
                <a:r>
                  <a:rPr lang="zh-CN" altLang="en-US" dirty="0" smtClean="0"/>
                  <a:t>个锚，就要求这</a:t>
                </a:r>
                <a:r>
                  <a:rPr lang="en-US" altLang="zh-CN" dirty="0" smtClean="0"/>
                  <a:t>256</a:t>
                </a:r>
                <a:r>
                  <a:rPr lang="zh-CN" altLang="en-US" dirty="0" smtClean="0"/>
                  <a:t>个锚中</a:t>
                </a:r>
                <a:r>
                  <a:rPr lang="en-US" altLang="zh-CN" dirty="0" smtClean="0"/>
                  <a:t>,</a:t>
                </a:r>
                <a:r>
                  <a:rPr lang="zh-CN" altLang="en-US" dirty="0" smtClean="0"/>
                  <a:t>有</a:t>
                </a:r>
                <a:r>
                  <a:rPr lang="en-US" altLang="zh-CN" dirty="0" smtClean="0"/>
                  <a:t>128</a:t>
                </a:r>
                <a:r>
                  <a:rPr lang="zh-CN" altLang="en-US" dirty="0" smtClean="0"/>
                  <a:t>个为正样本，另外</a:t>
                </a:r>
                <a:r>
                  <a:rPr lang="en-US" altLang="zh-CN" dirty="0" smtClean="0"/>
                  <a:t>128</a:t>
                </a:r>
                <a:r>
                  <a:rPr lang="zh-CN" altLang="en-US" dirty="0" smtClean="0"/>
                  <a:t>个</a:t>
                </a:r>
              </a:p>
              <a:p>
                <a:r>
                  <a:rPr lang="zh-CN" altLang="en-US" dirty="0" smtClean="0"/>
                  <a:t>为负样本，当实际情况下确实无法选到</a:t>
                </a:r>
                <a:r>
                  <a:rPr lang="en-US" altLang="zh-CN" dirty="0" smtClean="0"/>
                  <a:t>128</a:t>
                </a:r>
                <a:r>
                  <a:rPr lang="zh-CN" altLang="en-US" dirty="0" smtClean="0"/>
                  <a:t>个正样本时，再使用负样本补齐差额。</a:t>
                </a:r>
              </a:p>
              <a:p>
                <a:r>
                  <a:rPr lang="zh-CN" altLang="en-US" dirty="0" smtClean="0"/>
                  <a:t>实际训练时，一个常用的做法是基于 </a:t>
                </a:r>
                <a:r>
                  <a:rPr lang="en-US" altLang="zh-CN" dirty="0" err="1" smtClean="0"/>
                  <a:t>ImageNet</a:t>
                </a:r>
                <a:r>
                  <a:rPr lang="zh-CN" altLang="en-US" dirty="0" smtClean="0"/>
                  <a:t>进行预训练。对于新增的网络层，一般使用均值为</a:t>
                </a:r>
                <a:r>
                  <a:rPr lang="en-US" altLang="zh-CN" dirty="0" smtClean="0"/>
                  <a:t>0</a:t>
                </a:r>
                <a:r>
                  <a:rPr lang="zh-CN" altLang="en-US" dirty="0" smtClean="0"/>
                  <a:t>，标准差为</a:t>
                </a:r>
                <a:r>
                  <a:rPr lang="en-US" altLang="zh-CN" dirty="0" smtClean="0"/>
                  <a:t>0.01</a:t>
                </a:r>
                <a:r>
                  <a:rPr lang="zh-CN" altLang="en-US" dirty="0" smtClean="0"/>
                  <a:t>的高斯分布进行初始化，然后对整个网络基于新的样本数据进行调优训练。</a:t>
                </a:r>
                <a:endParaRPr lang="en-US" altLang="zh-CN" dirty="0" smtClean="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723187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在检测过程中，</a:t>
            </a:r>
            <a:r>
              <a:rPr lang="en-US" altLang="zh-CN" dirty="0" smtClean="0"/>
              <a:t>RPN</a:t>
            </a:r>
            <a:r>
              <a:rPr lang="zh-CN" altLang="en-US" dirty="0" smtClean="0"/>
              <a:t>的作用是输出候选框</a:t>
            </a:r>
            <a:r>
              <a:rPr lang="en-US" altLang="zh-CN" dirty="0" smtClean="0"/>
              <a:t>,Fast R-CNN</a:t>
            </a:r>
            <a:r>
              <a:rPr lang="zh-CN" altLang="en-US" dirty="0" smtClean="0"/>
              <a:t>的作用是基于候选框进行目标检测，两个网络的训练和预测过程目前彼业独立。为了更进一步地提升算法的整体效率，可以让这两个网络共享基础的卷积特征，然后设计另一个一致网络来处理候选框提取和目标检测这两个过程。为了实现这个目标，可以采取如下</a:t>
            </a:r>
            <a:r>
              <a:rPr lang="en-US" altLang="zh-CN" dirty="0" smtClean="0"/>
              <a:t>3</a:t>
            </a:r>
            <a:r>
              <a:rPr lang="zh-CN" altLang="en-US" dirty="0" smtClean="0"/>
              <a:t>种方法。</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86489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zh-CN" altLang="en-US" dirty="0" smtClean="0"/>
              <a:t>交替训练法</a:t>
            </a:r>
          </a:p>
          <a:p>
            <a:r>
              <a:rPr lang="zh-CN" altLang="en-US" dirty="0" smtClean="0"/>
              <a:t>先训练</a:t>
            </a:r>
            <a:r>
              <a:rPr lang="en-US" altLang="zh-CN" dirty="0" smtClean="0"/>
              <a:t>RPN</a:t>
            </a:r>
            <a:r>
              <a:rPr lang="zh-CN" altLang="en-US" dirty="0" smtClean="0"/>
              <a:t>，然后基于</a:t>
            </a:r>
            <a:r>
              <a:rPr lang="en-US" altLang="zh-CN" dirty="0" smtClean="0"/>
              <a:t>RPN</a:t>
            </a:r>
            <a:r>
              <a:rPr lang="zh-CN" altLang="en-US" dirty="0" smtClean="0"/>
              <a:t>输出的候选框，以</a:t>
            </a:r>
            <a:r>
              <a:rPr lang="en-US" altLang="zh-CN" dirty="0" smtClean="0"/>
              <a:t>RPN</a:t>
            </a:r>
            <a:r>
              <a:rPr lang="zh-CN" altLang="en-US" dirty="0" smtClean="0"/>
              <a:t>的卷积层参数作为初值训练</a:t>
            </a:r>
            <a:r>
              <a:rPr lang="en-US" altLang="zh-CN" dirty="0" smtClean="0"/>
              <a:t>Fast R-CNN</a:t>
            </a:r>
            <a:r>
              <a:rPr lang="zh-CN" altLang="en-US" dirty="0" smtClean="0"/>
              <a:t>，再用</a:t>
            </a:r>
            <a:r>
              <a:rPr lang="en-US" altLang="zh-CN" dirty="0" smtClean="0"/>
              <a:t>Fast R-CNN </a:t>
            </a:r>
            <a:r>
              <a:rPr lang="zh-CN" altLang="en-US" dirty="0" smtClean="0"/>
              <a:t>的卷积层参数作为初值训练</a:t>
            </a:r>
            <a:r>
              <a:rPr lang="en-US" altLang="zh-CN" dirty="0" smtClean="0"/>
              <a:t>RPN</a:t>
            </a:r>
            <a:r>
              <a:rPr lang="zh-CN" altLang="en-US" dirty="0" smtClean="0"/>
              <a:t>。如此反复迭代</a:t>
            </a:r>
            <a:r>
              <a:rPr lang="en-US" altLang="zh-CN" dirty="0" smtClean="0"/>
              <a:t>,</a:t>
            </a:r>
            <a:r>
              <a:rPr lang="zh-CN" altLang="en-US" dirty="0" smtClean="0"/>
              <a:t>得到共享基础卷积层的</a:t>
            </a:r>
            <a:r>
              <a:rPr lang="en-US" altLang="zh-CN" dirty="0" smtClean="0"/>
              <a:t>RPN</a:t>
            </a:r>
            <a:r>
              <a:rPr lang="zh-CN" altLang="en-US" dirty="0" smtClean="0"/>
              <a:t>和 </a:t>
            </a:r>
            <a:r>
              <a:rPr lang="en-US" altLang="zh-CN" dirty="0" smtClean="0"/>
              <a:t>Fast R-CNN</a:t>
            </a:r>
            <a:r>
              <a:rPr lang="zh-CN" altLang="en-US" dirty="0" smtClean="0"/>
              <a:t>。交替训练法在实际应用过程中，大致分为</a:t>
            </a:r>
            <a:r>
              <a:rPr lang="en-US" altLang="zh-CN" dirty="0" smtClean="0"/>
              <a:t>4</a:t>
            </a:r>
            <a:r>
              <a:rPr lang="zh-CN" altLang="en-US" dirty="0" smtClean="0"/>
              <a:t>个步骤</a:t>
            </a:r>
            <a:r>
              <a:rPr lang="en-US" altLang="zh-CN" dirty="0" smtClean="0"/>
              <a:t>:</a:t>
            </a:r>
            <a:r>
              <a:rPr lang="zh-CN" altLang="en-US" dirty="0" smtClean="0"/>
              <a:t>第一步，基于</a:t>
            </a:r>
            <a:r>
              <a:rPr lang="en-US" altLang="zh-CN" dirty="0" err="1" smtClean="0"/>
              <a:t>ImageNet</a:t>
            </a:r>
            <a:r>
              <a:rPr lang="zh-CN" altLang="en-US" dirty="0" smtClean="0"/>
              <a:t>的预训练模型，端到端地训练用于提取候选框的</a:t>
            </a:r>
            <a:r>
              <a:rPr lang="en-US" altLang="zh-CN" dirty="0" smtClean="0"/>
              <a:t>RPN;</a:t>
            </a:r>
            <a:r>
              <a:rPr lang="zh-CN" altLang="en-US" dirty="0" smtClean="0"/>
              <a:t>第二步，同样基于 </a:t>
            </a:r>
            <a:r>
              <a:rPr lang="en-US" altLang="zh-CN" dirty="0" err="1" smtClean="0"/>
              <a:t>ImageNet</a:t>
            </a:r>
            <a:r>
              <a:rPr lang="en-US" altLang="zh-CN" dirty="0" smtClean="0"/>
              <a:t> </a:t>
            </a:r>
            <a:r>
              <a:rPr lang="zh-CN" altLang="en-US" dirty="0" smtClean="0"/>
              <a:t>的预训练模型，使用第一步</a:t>
            </a:r>
            <a:r>
              <a:rPr lang="en-US" altLang="zh-CN" dirty="0" smtClean="0"/>
              <a:t>RPN</a:t>
            </a:r>
            <a:r>
              <a:rPr lang="zh-CN" altLang="en-US" dirty="0" smtClean="0"/>
              <a:t>输出的候选框</a:t>
            </a:r>
            <a:r>
              <a:rPr lang="en-US" altLang="zh-CN" dirty="0" smtClean="0"/>
              <a:t>,</a:t>
            </a:r>
            <a:r>
              <a:rPr lang="zh-CN" altLang="en-US" dirty="0" smtClean="0"/>
              <a:t>训练</a:t>
            </a:r>
            <a:r>
              <a:rPr lang="en-US" altLang="zh-CN" dirty="0" smtClean="0"/>
              <a:t>Fast R-CNN,</a:t>
            </a:r>
            <a:r>
              <a:rPr lang="zh-CN" altLang="en-US" dirty="0" smtClean="0"/>
              <a:t>此时</a:t>
            </a:r>
            <a:r>
              <a:rPr lang="en-US" altLang="zh-CN" dirty="0" smtClean="0"/>
              <a:t>RPN</a:t>
            </a:r>
            <a:r>
              <a:rPr lang="zh-CN" altLang="en-US" dirty="0" smtClean="0"/>
              <a:t>和 </a:t>
            </a:r>
            <a:r>
              <a:rPr lang="en-US" altLang="zh-CN" dirty="0" smtClean="0"/>
              <a:t>Fast R-CNN</a:t>
            </a:r>
            <a:r>
              <a:rPr lang="zh-CN" altLang="en-US" dirty="0" smtClean="0"/>
              <a:t>两个网络尚无共享的卷积层</a:t>
            </a:r>
            <a:r>
              <a:rPr lang="en-US" altLang="zh-CN" dirty="0" smtClean="0"/>
              <a:t>;</a:t>
            </a:r>
            <a:r>
              <a:rPr lang="zh-CN" altLang="en-US" dirty="0" smtClean="0"/>
              <a:t>第三步，使用</a:t>
            </a:r>
            <a:r>
              <a:rPr lang="en-US" altLang="zh-CN" dirty="0" smtClean="0"/>
              <a:t>Fast R-CNN</a:t>
            </a:r>
            <a:r>
              <a:rPr lang="zh-CN" altLang="en-US" dirty="0" smtClean="0"/>
              <a:t>初始化</a:t>
            </a:r>
            <a:r>
              <a:rPr lang="en-US" altLang="zh-CN" dirty="0" smtClean="0"/>
              <a:t>RPN,</a:t>
            </a:r>
            <a:r>
              <a:rPr lang="zh-CN" altLang="en-US" dirty="0" smtClean="0"/>
              <a:t>在训练</a:t>
            </a:r>
            <a:r>
              <a:rPr lang="en-US" altLang="zh-CN" dirty="0" smtClean="0"/>
              <a:t>RPN</a:t>
            </a:r>
            <a:r>
              <a:rPr lang="zh-CN" altLang="en-US" dirty="0" smtClean="0"/>
              <a:t>的时候，固定底层共享的卷积层网络参数</a:t>
            </a:r>
            <a:r>
              <a:rPr lang="en-US" altLang="zh-CN" dirty="0" smtClean="0"/>
              <a:t>,</a:t>
            </a:r>
            <a:r>
              <a:rPr lang="zh-CN" altLang="en-US" dirty="0" smtClean="0"/>
              <a:t>仅迭代调优</a:t>
            </a:r>
            <a:r>
              <a:rPr lang="en-US" altLang="zh-CN" dirty="0" smtClean="0"/>
              <a:t>RPN</a:t>
            </a:r>
            <a:r>
              <a:rPr lang="zh-CN" altLang="en-US" dirty="0" smtClean="0"/>
              <a:t>中共享卷积层以外的网络参数</a:t>
            </a:r>
            <a:r>
              <a:rPr lang="en-US" altLang="zh-CN" dirty="0" smtClean="0"/>
              <a:t>;</a:t>
            </a:r>
            <a:r>
              <a:rPr lang="zh-CN" altLang="en-US" dirty="0" smtClean="0"/>
              <a:t>第四步，训练</a:t>
            </a:r>
            <a:r>
              <a:rPr lang="en-US" altLang="zh-CN" dirty="0" err="1" smtClean="0"/>
              <a:t>FastR</a:t>
            </a:r>
            <a:r>
              <a:rPr lang="en-US" altLang="zh-CN" dirty="0" smtClean="0"/>
              <a:t>-CNN,</a:t>
            </a:r>
            <a:r>
              <a:rPr lang="zh-CN" altLang="en-US" dirty="0" smtClean="0"/>
              <a:t>同样固定底层共享的卷积层网络参数仅迭代调优</a:t>
            </a:r>
            <a:r>
              <a:rPr lang="en-US" altLang="zh-CN" dirty="0" smtClean="0"/>
              <a:t>Fast R-CNN </a:t>
            </a:r>
            <a:r>
              <a:rPr lang="zh-CN" altLang="en-US" dirty="0" smtClean="0"/>
              <a:t>中共享卷积层以外的网络参数。通过上述</a:t>
            </a:r>
            <a:r>
              <a:rPr lang="en-US" altLang="zh-CN" dirty="0" smtClean="0"/>
              <a:t>4</a:t>
            </a:r>
            <a:r>
              <a:rPr lang="zh-CN" altLang="en-US" dirty="0" smtClean="0"/>
              <a:t>个步骤，就得到了一个统一的共享底层卷积特征的用于目标检测的整体网络。上述交替训练的过程可以重复多次，但实验表明，多次迭代对最终的算法性能并没有明显的提升。</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035203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2.</a:t>
            </a:r>
            <a:r>
              <a:rPr lang="zh-CN" altLang="en-US" dirty="0" smtClean="0"/>
              <a:t>近似联合训练法</a:t>
            </a:r>
            <a:endParaRPr lang="en-US" altLang="zh-CN" dirty="0" smtClean="0"/>
          </a:p>
          <a:p>
            <a:r>
              <a:rPr lang="zh-CN" altLang="en-US" dirty="0" smtClean="0"/>
              <a:t>如图所示，训练网络的时候，将</a:t>
            </a:r>
            <a:r>
              <a:rPr lang="en-US" altLang="zh-CN" dirty="0" smtClean="0"/>
              <a:t>RPN</a:t>
            </a:r>
            <a:r>
              <a:rPr lang="zh-CN" altLang="en-US" dirty="0" smtClean="0"/>
              <a:t>和</a:t>
            </a:r>
            <a:r>
              <a:rPr lang="en-US" altLang="zh-CN" dirty="0" smtClean="0"/>
              <a:t>Fast R-CNN</a:t>
            </a:r>
            <a:r>
              <a:rPr lang="zh-CN" altLang="en-US" dirty="0" smtClean="0"/>
              <a:t>合并在一起</a:t>
            </a:r>
            <a:r>
              <a:rPr lang="en-US" altLang="zh-CN" dirty="0" smtClean="0"/>
              <a:t>,</a:t>
            </a:r>
            <a:r>
              <a:rPr lang="zh-CN" altLang="en-US" dirty="0" smtClean="0"/>
              <a:t>共用底层的卷积层。每次</a:t>
            </a:r>
            <a:r>
              <a:rPr lang="en-US" altLang="zh-CN" dirty="0" smtClean="0"/>
              <a:t>SGD</a:t>
            </a:r>
            <a:r>
              <a:rPr lang="zh-CN" altLang="en-US" dirty="0" smtClean="0"/>
              <a:t>（随机梯度下降）迭代，网络前向传播预测的候选框被视为固定的，用作训练</a:t>
            </a:r>
            <a:r>
              <a:rPr lang="en-US" altLang="zh-CN" dirty="0" smtClean="0"/>
              <a:t>Fast R-CNN </a:t>
            </a:r>
            <a:r>
              <a:rPr lang="zh-CN" altLang="en-US" dirty="0" smtClean="0"/>
              <a:t>的候选框。反向传播时，共享的卷积层将</a:t>
            </a:r>
            <a:r>
              <a:rPr lang="en-US" altLang="zh-CN" dirty="0" smtClean="0"/>
              <a:t>RPN</a:t>
            </a:r>
            <a:r>
              <a:rPr lang="zh-CN" altLang="en-US" dirty="0" smtClean="0"/>
              <a:t>和</a:t>
            </a:r>
            <a:r>
              <a:rPr lang="en-US" altLang="zh-CN" dirty="0" smtClean="0"/>
              <a:t>Fast R-CNN </a:t>
            </a:r>
            <a:r>
              <a:rPr lang="zh-CN" altLang="en-US" dirty="0" smtClean="0"/>
              <a:t>回传的梯度相融合</a:t>
            </a:r>
            <a:r>
              <a:rPr lang="en-US" altLang="zh-CN" dirty="0" smtClean="0"/>
              <a:t>,</a:t>
            </a:r>
            <a:r>
              <a:rPr lang="zh-CN" altLang="en-US" dirty="0" smtClean="0"/>
              <a:t>使用融合后的梯度进行网络参数更新。</a:t>
            </a:r>
            <a:r>
              <a:rPr lang="zh-CN" altLang="en-US" sz="1200" b="0" i="0" kern="1200" dirty="0" smtClean="0">
                <a:solidFill>
                  <a:schemeClr val="tx1"/>
                </a:solidFill>
                <a:effectLst/>
                <a:latin typeface="+mn-lt"/>
                <a:ea typeface="+mn-ea"/>
                <a:cs typeface="+mn-cs"/>
              </a:rPr>
              <a:t>也就是把</a:t>
            </a:r>
            <a:r>
              <a:rPr lang="en-US" altLang="zh-CN" sz="1200" b="0" i="0" kern="1200" dirty="0" smtClean="0">
                <a:solidFill>
                  <a:schemeClr val="tx1"/>
                </a:solidFill>
                <a:effectLst/>
                <a:latin typeface="+mn-lt"/>
                <a:ea typeface="+mn-ea"/>
                <a:cs typeface="+mn-cs"/>
              </a:rPr>
              <a:t>RPN</a:t>
            </a:r>
            <a:r>
              <a:rPr lang="zh-CN" altLang="en-US" sz="1200" b="0" i="0" kern="1200" dirty="0" smtClean="0">
                <a:solidFill>
                  <a:schemeClr val="tx1"/>
                </a:solidFill>
                <a:effectLst/>
                <a:latin typeface="+mn-lt"/>
                <a:ea typeface="+mn-ea"/>
                <a:cs typeface="+mn-cs"/>
              </a:rPr>
              <a:t>的损失函数和 </a:t>
            </a:r>
            <a:r>
              <a:rPr lang="en-US" altLang="zh-CN" sz="1200" b="0" i="0" kern="1200" dirty="0" smtClean="0">
                <a:solidFill>
                  <a:schemeClr val="tx1"/>
                </a:solidFill>
                <a:effectLst/>
                <a:latin typeface="+mn-lt"/>
                <a:ea typeface="+mn-ea"/>
                <a:cs typeface="+mn-cs"/>
              </a:rPr>
              <a:t>Fast RCNN </a:t>
            </a:r>
            <a:r>
              <a:rPr lang="zh-CN" altLang="en-US" sz="1200" b="0" i="0" kern="1200" dirty="0" smtClean="0">
                <a:solidFill>
                  <a:schemeClr val="tx1"/>
                </a:solidFill>
                <a:effectLst/>
                <a:latin typeface="+mn-lt"/>
                <a:ea typeface="+mn-ea"/>
                <a:cs typeface="+mn-cs"/>
              </a:rPr>
              <a:t>的损失函数，根据一定的比例相加在一起，然后进行整体的 </a:t>
            </a:r>
            <a:r>
              <a:rPr lang="en-US" altLang="zh-CN" sz="1200" b="0" i="0" kern="1200" dirty="0" smtClean="0">
                <a:solidFill>
                  <a:schemeClr val="tx1"/>
                </a:solidFill>
                <a:effectLst/>
                <a:latin typeface="+mn-lt"/>
                <a:ea typeface="+mn-ea"/>
                <a:cs typeface="+mn-cs"/>
              </a:rPr>
              <a:t>SGD</a:t>
            </a:r>
            <a:r>
              <a:rPr lang="zh-CN" altLang="en-US" sz="1200" b="0" i="0" kern="1200" dirty="0" smtClean="0">
                <a:solidFill>
                  <a:schemeClr val="tx1"/>
                </a:solidFill>
                <a:effectLst/>
                <a:latin typeface="+mn-lt"/>
                <a:ea typeface="+mn-ea"/>
                <a:cs typeface="+mn-cs"/>
              </a:rPr>
              <a:t>训练。</a:t>
            </a:r>
            <a:r>
              <a:rPr lang="zh-CN" altLang="en-US" dirty="0" smtClean="0"/>
              <a:t>虽然这种方法实现起来比较容易</a:t>
            </a:r>
            <a:r>
              <a:rPr lang="en-US" altLang="zh-CN" dirty="0" smtClean="0"/>
              <a:t>,</a:t>
            </a:r>
            <a:r>
              <a:rPr lang="zh-CN" altLang="en-US" dirty="0" smtClean="0"/>
              <a:t>但只是一种近似的处理，各个候选框的坐标其实也是变量，也需要参与反向传播的求导过程。在实际实验中，通过近似联合训练法可以得到与交替训练法近似的结果，但耗费的时间只有交替训练法的</a:t>
            </a:r>
            <a:r>
              <a:rPr lang="en-US" altLang="zh-CN" dirty="0" smtClean="0"/>
              <a:t>25%~50%,</a:t>
            </a:r>
            <a:r>
              <a:rPr lang="zh-CN" altLang="en-US" dirty="0" smtClean="0"/>
              <a:t>因此也是一种经常被采用的方法。</a:t>
            </a:r>
            <a:endParaRPr lang="en-US" altLang="zh-CN" dirty="0" smtClean="0"/>
          </a:p>
          <a:p>
            <a:r>
              <a:rPr lang="en-US" altLang="zh-CN" dirty="0" smtClean="0"/>
              <a:t>3.</a:t>
            </a:r>
            <a:r>
              <a:rPr lang="zh-CN" altLang="en-US" dirty="0" smtClean="0"/>
              <a:t>严格意义上的联合训练法</a:t>
            </a:r>
            <a:endParaRPr lang="en-US" altLang="zh-CN" dirty="0" smtClean="0"/>
          </a:p>
          <a:p>
            <a:r>
              <a:rPr lang="zh-CN" altLang="en-US" dirty="0" smtClean="0"/>
              <a:t>和近似联合训练法不同，严格意义上的联合训练法将候选框的坐标也作为变量</a:t>
            </a:r>
            <a:r>
              <a:rPr lang="en-US" altLang="zh-CN" dirty="0" smtClean="0"/>
              <a:t>,</a:t>
            </a:r>
            <a:r>
              <a:rPr lang="zh-CN" altLang="en-US" dirty="0" smtClean="0"/>
              <a:t>在反向传播过程中进行求导。整个过程比较复杂，超出了本课程讨论的范围，而且这种方法在实际场景中很少使用，这里不再赘述。</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538913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下面总结</a:t>
            </a:r>
            <a:r>
              <a:rPr lang="en-US" altLang="zh-CN" dirty="0" smtClean="0"/>
              <a:t>R-CNN</a:t>
            </a:r>
            <a:r>
              <a:rPr lang="zh-CN" altLang="en-US" dirty="0" smtClean="0"/>
              <a:t>、</a:t>
            </a:r>
            <a:r>
              <a:rPr lang="en-US" altLang="zh-CN" dirty="0" smtClean="0"/>
              <a:t>Fast R-CNN</a:t>
            </a:r>
            <a:r>
              <a:rPr lang="zh-CN" altLang="en-US" dirty="0" smtClean="0"/>
              <a:t>和</a:t>
            </a:r>
            <a:r>
              <a:rPr lang="en-US" altLang="zh-CN" dirty="0" smtClean="0"/>
              <a:t>Faster R-CNN</a:t>
            </a:r>
            <a:r>
              <a:rPr lang="zh-CN" altLang="en-US" dirty="0" smtClean="0"/>
              <a:t>的结构，用图和表进行简单对比。</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838606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457025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a:t>
            </a:r>
            <a:r>
              <a:rPr lang="en-US" altLang="zh-CN" dirty="0" smtClean="0"/>
              <a:t>Faster R-CNN</a:t>
            </a:r>
            <a:r>
              <a:rPr lang="zh-CN" altLang="en-US" dirty="0" smtClean="0"/>
              <a:t>之后，人们提出了很多方法进一步提升算法性能。从以下两个方面进行改进，可以进一步提升检测算法的性能</a:t>
            </a:r>
            <a:r>
              <a:rPr lang="en-US" altLang="zh-CN" dirty="0" smtClean="0"/>
              <a:t>:</a:t>
            </a:r>
            <a:r>
              <a:rPr lang="zh-CN" altLang="en-US" dirty="0" smtClean="0"/>
              <a:t>一是构造表达能力更强的特征</a:t>
            </a:r>
            <a:r>
              <a:rPr lang="en-US" altLang="zh-CN" dirty="0" smtClean="0"/>
              <a:t>;</a:t>
            </a:r>
            <a:r>
              <a:rPr lang="zh-CN" altLang="en-US" dirty="0" smtClean="0"/>
              <a:t>二是采用更好的损失函数。本章将介绍特征金字塔和焦点损失函数两种方法</a:t>
            </a:r>
            <a:r>
              <a:rPr lang="en-US" altLang="zh-CN" dirty="0" smtClean="0"/>
              <a:t>,</a:t>
            </a:r>
            <a:r>
              <a:rPr lang="zh-CN" altLang="en-US" dirty="0" smtClean="0"/>
              <a:t>分别从特征构造和损失函数构造两个角度，给出提升检测算法性能的途径。图为特征金字塔示意图。</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536290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特征金字塔（</a:t>
            </a:r>
            <a:r>
              <a:rPr lang="en-US" altLang="zh-CN" dirty="0" smtClean="0"/>
              <a:t>Feature Pyramid </a:t>
            </a:r>
            <a:r>
              <a:rPr lang="en-US" altLang="zh-CN" dirty="0" err="1" smtClean="0"/>
              <a:t>Networks,FPN</a:t>
            </a:r>
            <a:r>
              <a:rPr lang="en-US" altLang="zh-CN" dirty="0" smtClean="0"/>
              <a:t>)</a:t>
            </a:r>
            <a:r>
              <a:rPr lang="zh-CN" altLang="en-US" dirty="0" smtClean="0"/>
              <a:t>的基本思想是通过构造一系列不同尺度的图像或特征图进行模型训练和测试，目的是提升检测算法对于不同尺寸检测目标的鲁棒性。但如果直接根据原始的定义进行</a:t>
            </a:r>
            <a:r>
              <a:rPr lang="en-US" altLang="zh-CN" dirty="0" smtClean="0"/>
              <a:t>FPN</a:t>
            </a:r>
            <a:r>
              <a:rPr lang="zh-CN" altLang="en-US" dirty="0" smtClean="0"/>
              <a:t>计算，会带来大额的计算开销。为了降低计算量，</a:t>
            </a:r>
            <a:r>
              <a:rPr lang="en-US" altLang="zh-CN" dirty="0" smtClean="0"/>
              <a:t>FPN</a:t>
            </a:r>
            <a:r>
              <a:rPr lang="zh-CN" altLang="en-US" dirty="0" smtClean="0"/>
              <a:t>采用一种多尺度特征融合的方法</a:t>
            </a:r>
            <a:r>
              <a:rPr lang="en-US" altLang="zh-CN" dirty="0" smtClean="0"/>
              <a:t>,</a:t>
            </a:r>
            <a:r>
              <a:rPr lang="zh-CN" altLang="en-US" dirty="0" smtClean="0"/>
              <a:t>能够在不大幅度增加计算量的前提下</a:t>
            </a:r>
            <a:r>
              <a:rPr lang="en-US" altLang="zh-CN" dirty="0" smtClean="0"/>
              <a:t>,</a:t>
            </a:r>
            <a:r>
              <a:rPr lang="zh-CN" altLang="en-US" dirty="0" smtClean="0"/>
              <a:t>显著提升特征表达的尺度鲁棒性。</a:t>
            </a:r>
            <a:endParaRPr lang="en-US" altLang="zh-CN" dirty="0" smtClean="0"/>
          </a:p>
          <a:p>
            <a:r>
              <a:rPr lang="zh-CN" altLang="en-US" dirty="0" smtClean="0"/>
              <a:t>在实际场景中</a:t>
            </a:r>
            <a:r>
              <a:rPr lang="en-US" altLang="zh-CN" dirty="0" smtClean="0"/>
              <a:t>,</a:t>
            </a:r>
            <a:r>
              <a:rPr lang="zh-CN" altLang="en-US" dirty="0" smtClean="0"/>
              <a:t>同一个目标物体，会因为拍摄距离不同</a:t>
            </a:r>
            <a:r>
              <a:rPr lang="en-US" altLang="zh-CN" dirty="0" smtClean="0"/>
              <a:t>,</a:t>
            </a:r>
            <a:r>
              <a:rPr lang="zh-CN" altLang="en-US" dirty="0" smtClean="0"/>
              <a:t>呈现出不同的尺度。</a:t>
            </a:r>
          </a:p>
          <a:p>
            <a:r>
              <a:rPr lang="zh-CN" altLang="en-US" dirty="0" smtClean="0"/>
              <a:t>识别不同尺度的目标，是计算机视觉中一个重要问题。一个常规的解决策略是用原图生成一系列缩放比例不等的图像，将这些图像按照面积从小到大的顺序排列起来</a:t>
            </a:r>
            <a:r>
              <a:rPr lang="en-US" altLang="zh-CN" dirty="0" smtClean="0"/>
              <a:t>,</a:t>
            </a:r>
            <a:r>
              <a:rPr lang="zh-CN" altLang="en-US" dirty="0" smtClean="0"/>
              <a:t>就构成了一个图像金字塔。如图</a:t>
            </a:r>
            <a:r>
              <a:rPr lang="en-US" altLang="zh-CN" dirty="0" smtClean="0"/>
              <a:t>a</a:t>
            </a:r>
            <a:r>
              <a:rPr lang="zh-CN" altLang="en-US" dirty="0" smtClean="0"/>
              <a:t>所示，对图像金字塔的每一层提取特征，应用检测算法只要在任意层检测到了目标，都算检测成功。但是，在实际应用中，基于神经网络的方法本身就非常耗时</a:t>
            </a:r>
            <a:r>
              <a:rPr lang="en-US" altLang="zh-CN" dirty="0" smtClean="0"/>
              <a:t>.</a:t>
            </a:r>
            <a:r>
              <a:rPr lang="zh-CN" altLang="en-US" dirty="0" smtClean="0"/>
              <a:t>如果再使用多个尺度的图像特征进行训练和测试</a:t>
            </a:r>
            <a:r>
              <a:rPr lang="en-US" altLang="zh-CN" dirty="0" smtClean="0"/>
              <a:t>,</a:t>
            </a:r>
            <a:r>
              <a:rPr lang="zh-CN" altLang="en-US" dirty="0" smtClean="0"/>
              <a:t>时间和内存的开销就更大了，因此这种方法很少被真正使用。</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276136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如图</a:t>
            </a:r>
            <a:r>
              <a:rPr lang="en-US" altLang="zh-CN" dirty="0" smtClean="0"/>
              <a:t>b</a:t>
            </a:r>
            <a:r>
              <a:rPr lang="zh-CN" altLang="en-US" dirty="0" smtClean="0"/>
              <a:t>所示，卷积神经网络本身也具有金字塔结构，在特征图的不同层上，同样大小的检测窗口在原图的感受野的尺度是不同的。如图</a:t>
            </a:r>
            <a:r>
              <a:rPr lang="en-US" altLang="zh-CN" dirty="0" smtClean="0"/>
              <a:t>c</a:t>
            </a:r>
            <a:r>
              <a:rPr lang="zh-CN" altLang="en-US" dirty="0" smtClean="0"/>
              <a:t>所示，可以同时使用不同层特征图检测不同尺度的目标，后面将要介绍的</a:t>
            </a:r>
            <a:r>
              <a:rPr lang="en-US" altLang="zh-CN" dirty="0" smtClean="0"/>
              <a:t>SSD</a:t>
            </a:r>
            <a:r>
              <a:rPr lang="zh-CN" altLang="en-US" dirty="0" smtClean="0"/>
              <a:t>方法采用的就是这个思路。但这也存在一个问题，特征图不同层次特征的表达能力不同，浅层特征主要反映明暗、边缘等细节，深层特征则反映更丰富的整体结构。单独使用浅层特征是无法包含整体结构信息的</a:t>
            </a:r>
            <a:r>
              <a:rPr lang="en-US" altLang="zh-CN" dirty="0" smtClean="0"/>
              <a:t>,</a:t>
            </a:r>
            <a:r>
              <a:rPr lang="zh-CN" altLang="en-US" dirty="0" smtClean="0"/>
              <a:t>会减弱特征的表达能力。</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909092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因为深层特征本身就是由浅层特征构建的，所以天然包含了浅层特征的信息</a:t>
            </a:r>
            <a:r>
              <a:rPr lang="en-US" altLang="zh-CN" dirty="0" smtClean="0"/>
              <a:t>,</a:t>
            </a:r>
            <a:r>
              <a:rPr lang="zh-CN" altLang="en-US" dirty="0" smtClean="0"/>
              <a:t>一个很自然的想法是</a:t>
            </a:r>
            <a:r>
              <a:rPr lang="en-US" altLang="zh-CN" dirty="0" smtClean="0"/>
              <a:t>,</a:t>
            </a:r>
            <a:r>
              <a:rPr lang="zh-CN" altLang="en-US" dirty="0" smtClean="0"/>
              <a:t>如果再把深层特征融合到浅层特征中，就兼顾了细节和整体</a:t>
            </a:r>
            <a:r>
              <a:rPr lang="en-US" altLang="zh-CN" dirty="0" smtClean="0"/>
              <a:t>,</a:t>
            </a:r>
            <a:r>
              <a:rPr lang="zh-CN" altLang="en-US" dirty="0" smtClean="0"/>
              <a:t>融合后的特征会具有更为丰富的表达能力。图</a:t>
            </a:r>
            <a:r>
              <a:rPr lang="en-US" altLang="zh-CN" dirty="0" smtClean="0"/>
              <a:t>d</a:t>
            </a:r>
            <a:r>
              <a:rPr lang="zh-CN" altLang="en-US" dirty="0" smtClean="0"/>
              <a:t>显示了这一策略的实现方式</a:t>
            </a:r>
            <a:r>
              <a:rPr lang="en-US" altLang="zh-CN" dirty="0" smtClean="0"/>
              <a:t>,</a:t>
            </a:r>
            <a:r>
              <a:rPr lang="zh-CN" altLang="en-US" dirty="0" smtClean="0"/>
              <a:t>在特征金字塔上选取若干层</a:t>
            </a:r>
            <a:r>
              <a:rPr lang="en-US" altLang="zh-CN" dirty="0" smtClean="0"/>
              <a:t>,</a:t>
            </a:r>
            <a:r>
              <a:rPr lang="zh-CN" altLang="en-US" dirty="0" smtClean="0"/>
              <a:t>这些层本身构成了一个由浅到深的层次关系</a:t>
            </a:r>
            <a:r>
              <a:rPr lang="en-US" altLang="zh-CN" dirty="0" smtClean="0"/>
              <a:t>,</a:t>
            </a:r>
            <a:r>
              <a:rPr lang="zh-CN" altLang="en-US" dirty="0" smtClean="0"/>
              <a:t>再把深层特征逐级向浅层合并</a:t>
            </a:r>
            <a:r>
              <a:rPr lang="en-US" altLang="zh-CN" dirty="0" smtClean="0"/>
              <a:t>,</a:t>
            </a:r>
            <a:r>
              <a:rPr lang="zh-CN" altLang="en-US" dirty="0" smtClean="0"/>
              <a:t>就构成了一个新的特征金字塔，这个新金字塔的每一层都融合了浅层和深层的信息，分别应用每一层的特征进行检测，就达到了检测不同尺度目标的目的。我们将这种构造特征的方法称为特征金字塔方法，这种方法利用了网络本身的层次结构，提供了基于原图的端到端的训练方法，能够在不显著增加计算开销和内存开销的情况下</a:t>
            </a:r>
            <a:r>
              <a:rPr lang="en-US" altLang="zh-CN" dirty="0" smtClean="0"/>
              <a:t>,</a:t>
            </a:r>
            <a:r>
              <a:rPr lang="zh-CN" altLang="en-US" dirty="0" smtClean="0"/>
              <a:t>实现多尺度目标检测。</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832218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FPN</a:t>
            </a:r>
            <a:r>
              <a:rPr lang="zh-CN" altLang="en-US" dirty="0" smtClean="0"/>
              <a:t>的网络结构本质上也是一种全卷积网络，以任意尺度的图像作为输入</a:t>
            </a:r>
            <a:r>
              <a:rPr lang="en-US" altLang="zh-CN" dirty="0" smtClean="0"/>
              <a:t>,</a:t>
            </a:r>
            <a:r>
              <a:rPr lang="zh-CN" altLang="en-US" dirty="0" smtClean="0"/>
              <a:t>对于每一个卷积主干，所输出的各层特征图的尺度分别与原始图像的尺度保持固定的比例。</a:t>
            </a:r>
            <a:r>
              <a:rPr lang="en-US" altLang="zh-CN" dirty="0" smtClean="0"/>
              <a:t>FPN</a:t>
            </a:r>
            <a:r>
              <a:rPr lang="zh-CN" altLang="en-US" dirty="0" smtClean="0"/>
              <a:t>构造特征包括自下而上</a:t>
            </a:r>
            <a:r>
              <a:rPr lang="en-US" altLang="zh-CN" dirty="0" smtClean="0"/>
              <a:t>(bottom-up)</a:t>
            </a:r>
            <a:r>
              <a:rPr lang="zh-CN" altLang="en-US" dirty="0" smtClean="0"/>
              <a:t>、自上而下（ </a:t>
            </a:r>
            <a:r>
              <a:rPr lang="en-US" altLang="zh-CN" dirty="0" smtClean="0"/>
              <a:t>top-down</a:t>
            </a:r>
            <a:r>
              <a:rPr lang="zh-CN" altLang="en-US" dirty="0" smtClean="0"/>
              <a:t>）以及同层连接</a:t>
            </a:r>
            <a:r>
              <a:rPr lang="en-US" altLang="zh-CN" dirty="0" smtClean="0"/>
              <a:t>3</a:t>
            </a:r>
            <a:r>
              <a:rPr lang="zh-CN" altLang="en-US" dirty="0" smtClean="0"/>
              <a:t>个过程</a:t>
            </a:r>
            <a:r>
              <a:rPr lang="en-US" altLang="zh-CN" dirty="0" smtClean="0"/>
              <a:t>,</a:t>
            </a:r>
            <a:r>
              <a:rPr lang="zh-CN" altLang="en-US" dirty="0" smtClean="0"/>
              <a:t>下面将对其进行详细说明。</a:t>
            </a:r>
          </a:p>
          <a:p>
            <a:r>
              <a:rPr lang="zh-CN" altLang="en-US" dirty="0" smtClean="0"/>
              <a:t>自下而上的过程实质上是卷积网络前向传播的过程。比如 </a:t>
            </a:r>
            <a:r>
              <a:rPr lang="en-US" altLang="zh-CN" dirty="0" err="1" smtClean="0"/>
              <a:t>ResNet</a:t>
            </a:r>
            <a:r>
              <a:rPr lang="zh-CN" altLang="en-US" dirty="0" smtClean="0"/>
              <a:t>网络在前向传播的过程中，包含若干个</a:t>
            </a:r>
            <a:r>
              <a:rPr lang="en-US" altLang="zh-CN" dirty="0" smtClean="0"/>
              <a:t>stride=1</a:t>
            </a:r>
            <a:r>
              <a:rPr lang="zh-CN" altLang="en-US" dirty="0" smtClean="0"/>
              <a:t>和</a:t>
            </a:r>
            <a:r>
              <a:rPr lang="en-US" altLang="zh-CN" dirty="0" smtClean="0"/>
              <a:t>stride=2</a:t>
            </a:r>
            <a:r>
              <a:rPr lang="zh-CN" altLang="en-US" dirty="0" smtClean="0"/>
              <a:t>的卷积，经过</a:t>
            </a:r>
            <a:r>
              <a:rPr lang="en-US" altLang="zh-CN" dirty="0" smtClean="0"/>
              <a:t>stride=1</a:t>
            </a:r>
            <a:r>
              <a:rPr lang="zh-CN" altLang="en-US" dirty="0" smtClean="0"/>
              <a:t>的卷积后，特征图的尺度保持不变，经过</a:t>
            </a:r>
            <a:r>
              <a:rPr lang="en-US" altLang="zh-CN" dirty="0" smtClean="0"/>
              <a:t>stride=2</a:t>
            </a:r>
            <a:r>
              <a:rPr lang="zh-CN" altLang="en-US" dirty="0" smtClean="0"/>
              <a:t>的卷积后，特征图的尺度缩小为原来的</a:t>
            </a:r>
            <a:r>
              <a:rPr lang="en-US" altLang="zh-CN" dirty="0" smtClean="0"/>
              <a:t>1/2</a:t>
            </a:r>
            <a:r>
              <a:rPr lang="zh-CN" altLang="en-US" dirty="0" smtClean="0"/>
              <a:t>。我们称连续的尺度不变的各个特征图处于一个网络阶段，对于每个阶段</a:t>
            </a:r>
            <a:r>
              <a:rPr lang="en-US" altLang="zh-CN" dirty="0" smtClean="0"/>
              <a:t>,</a:t>
            </a:r>
            <a:r>
              <a:rPr lang="zh-CN" altLang="en-US" dirty="0" smtClean="0"/>
              <a:t>最后一层特征图包含了这个阶段中最具表达能力的特征。</a:t>
            </a:r>
          </a:p>
          <a:p>
            <a:r>
              <a:rPr lang="en-US" altLang="zh-CN" dirty="0" smtClean="0"/>
              <a:t>FPN</a:t>
            </a:r>
            <a:r>
              <a:rPr lang="zh-CN" altLang="en-US" dirty="0" smtClean="0"/>
              <a:t>构造特征金字塔时，选取每个阶段的最后一层特征图构建层级结构。对于</a:t>
            </a:r>
            <a:r>
              <a:rPr lang="en-US" altLang="zh-CN" dirty="0" err="1" smtClean="0"/>
              <a:t>ResNet</a:t>
            </a:r>
            <a:r>
              <a:rPr lang="zh-CN" altLang="en-US" dirty="0" smtClean="0"/>
              <a:t>网络而言，用来构造特征金字塔的特征图，就是每个阶段的最后一个残差块（</a:t>
            </a:r>
            <a:r>
              <a:rPr lang="en-US" altLang="zh-CN" dirty="0" smtClean="0"/>
              <a:t>residual block</a:t>
            </a:r>
            <a:r>
              <a:rPr lang="zh-CN" altLang="en-US" dirty="0" smtClean="0"/>
              <a:t>）。直接选取各个特征图的通道数是不同的，这是因为负责后续处理的网络需要在不同层的特征图上滑窗截取特征，这就要求所有层的特征图具有相同的深度（通道数），为了使得各个特征图具有相同的深度，</a:t>
            </a:r>
            <a:r>
              <a:rPr lang="en-US" altLang="zh-CN" dirty="0" smtClean="0"/>
              <a:t>FPN</a:t>
            </a:r>
            <a:r>
              <a:rPr lang="zh-CN" altLang="en-US" dirty="0" smtClean="0"/>
              <a:t>对选取的每个特征图增加了一次</a:t>
            </a:r>
            <a:r>
              <a:rPr lang="en-US" altLang="zh-CN" dirty="0" smtClean="0"/>
              <a:t>1×1</a:t>
            </a:r>
            <a:r>
              <a:rPr lang="zh-CN" altLang="en-US" dirty="0" smtClean="0"/>
              <a:t>的卷积操作，以此转化成统一的通道数。</a:t>
            </a:r>
          </a:p>
          <a:p>
            <a:r>
              <a:rPr lang="zh-CN" altLang="en-US" dirty="0" smtClean="0"/>
              <a:t>自上而下的过程实质上是通过把上层的特征图进行尺度变换，来构造新的特征图</a:t>
            </a:r>
            <a:r>
              <a:rPr lang="en-US" altLang="zh-CN" dirty="0" smtClean="0"/>
              <a:t>,</a:t>
            </a:r>
            <a:r>
              <a:rPr lang="zh-CN" altLang="en-US" dirty="0" smtClean="0"/>
              <a:t>新的特征图需要和下层的特征图保持一致的尺度，从而保证特征图可以融合在一起。在长、宽方向上，采用向上采样（</a:t>
            </a:r>
            <a:r>
              <a:rPr lang="en-US" altLang="zh-CN" dirty="0" err="1" smtClean="0"/>
              <a:t>upsample</a:t>
            </a:r>
            <a:r>
              <a:rPr lang="en-US" altLang="zh-CN" dirty="0" smtClean="0"/>
              <a:t>)</a:t>
            </a:r>
            <a:r>
              <a:rPr lang="zh-CN" altLang="en-US" dirty="0" smtClean="0"/>
              <a:t>的方法，把上层特征图的宽、高和下层特征图的宽、高拉成一样大小；在深度方向上，通过一个</a:t>
            </a:r>
            <a:r>
              <a:rPr lang="en-US" altLang="zh-CN" dirty="0" smtClean="0"/>
              <a:t>1×1</a:t>
            </a:r>
            <a:r>
              <a:rPr lang="zh-CN" altLang="en-US" dirty="0" smtClean="0"/>
              <a:t>的卷积，把上层特征图的深度压缩到和下层特征图的深度相同。综合使用上采样操作和</a:t>
            </a:r>
            <a:r>
              <a:rPr lang="en-US" altLang="zh-CN" dirty="0" smtClean="0"/>
              <a:t>1×1</a:t>
            </a:r>
            <a:r>
              <a:rPr lang="zh-CN" altLang="en-US" dirty="0" smtClean="0"/>
              <a:t>的卷积操作，就从上层特征图构造出了一个和下层特征图尺度完全一致的新的特征图。</a:t>
            </a:r>
            <a:endParaRPr lang="en-US" altLang="zh-CN" dirty="0" smtClean="0"/>
          </a:p>
          <a:p>
            <a:r>
              <a:rPr lang="zh-CN" altLang="en-US" dirty="0" smtClean="0"/>
              <a:t>经过自上而下的过程，基于上层特征图构建的新特征图和原始的下层特征图具有了同样的尺度。先把新的特征图和原始的下层特征图中每个对应元素相加（</a:t>
            </a:r>
            <a:r>
              <a:rPr lang="en-US" altLang="zh-CN" dirty="0" smtClean="0"/>
              <a:t>element-wise add)</a:t>
            </a:r>
            <a:r>
              <a:rPr lang="zh-CN" altLang="en-US" dirty="0" smtClean="0"/>
              <a:t>，就实现了上层特征和下层特征的融合，再把融合后的每层特征图都输出为一个深度为</a:t>
            </a:r>
            <a:r>
              <a:rPr lang="en-US" altLang="zh-CN" dirty="0" smtClean="0"/>
              <a:t>d(</a:t>
            </a:r>
            <a:r>
              <a:rPr lang="zh-CN" altLang="en-US" dirty="0" smtClean="0"/>
              <a:t>比如</a:t>
            </a:r>
            <a:r>
              <a:rPr lang="en-US" altLang="zh-CN" dirty="0" smtClean="0"/>
              <a:t>d=256</a:t>
            </a:r>
            <a:r>
              <a:rPr lang="zh-CN" altLang="en-US" dirty="0" smtClean="0"/>
              <a:t>的新特征图。</a:t>
            </a:r>
            <a:endParaRPr lang="en-US" altLang="zh-CN" dirty="0" smtClean="0"/>
          </a:p>
          <a:p>
            <a:r>
              <a:rPr lang="zh-CN" altLang="en-US" dirty="0" smtClean="0"/>
              <a:t>为了消除两个特征图对应元素直接相加可能带来的融合不充分的问题，</a:t>
            </a:r>
            <a:r>
              <a:rPr lang="en-US" altLang="zh-CN" dirty="0" smtClean="0"/>
              <a:t>FPN</a:t>
            </a:r>
            <a:r>
              <a:rPr lang="zh-CN" altLang="en-US" dirty="0" smtClean="0"/>
              <a:t>在融合之后的特征图上使用一个</a:t>
            </a:r>
            <a:r>
              <a:rPr lang="en-US" altLang="zh-CN" dirty="0" smtClean="0"/>
              <a:t>3×3</a:t>
            </a:r>
            <a:r>
              <a:rPr lang="zh-CN" altLang="en-US" dirty="0" smtClean="0"/>
              <a:t>卷积进行平滑处理，从而得到一个融合得更加充分的特征图。至此</a:t>
            </a:r>
            <a:r>
              <a:rPr lang="en-US" altLang="zh-CN" dirty="0" smtClean="0"/>
              <a:t>,</a:t>
            </a:r>
            <a:r>
              <a:rPr lang="zh-CN" altLang="en-US" dirty="0" smtClean="0"/>
              <a:t>完成了特征金字塔的构建，特征金字塔的每一层特征图都融合了低维和高维的特征，各层的长、宽尺度不同，但通道数相同。后续任务的网络分别在特征金字塔的各个特征图上进行特征截取</a:t>
            </a:r>
            <a:r>
              <a:rPr lang="en-US" altLang="zh-CN" dirty="0" smtClean="0"/>
              <a:t>,</a:t>
            </a:r>
            <a:r>
              <a:rPr lang="zh-CN" altLang="en-US" dirty="0" smtClean="0"/>
              <a:t>就能得到多个尺度的特征。</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226319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FPN </a:t>
            </a:r>
            <a:r>
              <a:rPr lang="zh-CN" altLang="en-US" dirty="0" smtClean="0"/>
              <a:t>是使用卷积神经网络构建特征金字塔</a:t>
            </a:r>
            <a:r>
              <a:rPr lang="en-US" altLang="zh-CN" dirty="0" smtClean="0"/>
              <a:t>,</a:t>
            </a:r>
            <a:r>
              <a:rPr lang="zh-CN" altLang="en-US" dirty="0" smtClean="0"/>
              <a:t>用于多尺度目标检测的通用方法</a:t>
            </a:r>
            <a:r>
              <a:rPr lang="en-US" altLang="zh-CN" dirty="0" smtClean="0"/>
              <a:t>,</a:t>
            </a:r>
            <a:r>
              <a:rPr lang="zh-CN" altLang="en-US" dirty="0" smtClean="0"/>
              <a:t>可以广泛地应用于候选框的筛选</a:t>
            </a:r>
            <a:r>
              <a:rPr lang="en-US" altLang="zh-CN" dirty="0" smtClean="0"/>
              <a:t>(RPN)</a:t>
            </a:r>
            <a:r>
              <a:rPr lang="zh-CN" altLang="en-US" dirty="0" smtClean="0"/>
              <a:t>、 </a:t>
            </a:r>
            <a:r>
              <a:rPr lang="en-US" altLang="zh-CN" dirty="0" smtClean="0"/>
              <a:t>Fast R-CNN</a:t>
            </a:r>
            <a:r>
              <a:rPr lang="zh-CN" altLang="en-US" dirty="0" smtClean="0"/>
              <a:t>检测等场景中</a:t>
            </a:r>
            <a:r>
              <a:rPr lang="en-US" altLang="zh-CN" dirty="0" smtClean="0"/>
              <a:t>,</a:t>
            </a:r>
            <a:r>
              <a:rPr lang="zh-CN" altLang="en-US" dirty="0" smtClean="0"/>
              <a:t>如图所示。多组实验结果表明</a:t>
            </a:r>
            <a:r>
              <a:rPr lang="en-US" altLang="zh-CN" dirty="0" smtClean="0"/>
              <a:t>,</a:t>
            </a:r>
            <a:r>
              <a:rPr lang="zh-CN" altLang="en-US" dirty="0" smtClean="0"/>
              <a:t>在不明显增加计算开销和内存开销的情况下</a:t>
            </a:r>
            <a:r>
              <a:rPr lang="en-US" altLang="zh-CN" dirty="0" smtClean="0"/>
              <a:t>,FPN </a:t>
            </a:r>
            <a:r>
              <a:rPr lang="zh-CN" altLang="en-US" dirty="0" smtClean="0"/>
              <a:t>能够明显提升多尺度目标检测算法的性能。</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428843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在一个图像中，存在大量目标位置的候选区域，其中框中目标的候选区域</a:t>
            </a:r>
            <a:r>
              <a:rPr lang="en-US" altLang="zh-CN" dirty="0" smtClean="0"/>
              <a:t>(</a:t>
            </a:r>
            <a:r>
              <a:rPr lang="zh-CN" altLang="en-US" dirty="0" smtClean="0"/>
              <a:t>正样本）的数量一般远远少于未框中目标的候选框（负样本）的数量。尤其是在后面将要介绍的一阶段算法中，正样本、负样本的数量会极度不均衡，大量的背景样本会加入训练过程。通常情况下，绝大多数背景样本和前景目标有着明显不同的图像特征</a:t>
            </a:r>
            <a:r>
              <a:rPr lang="en-US" altLang="zh-CN" dirty="0" smtClean="0"/>
              <a:t>,</a:t>
            </a:r>
            <a:r>
              <a:rPr lang="zh-CN" altLang="en-US" dirty="0" smtClean="0"/>
              <a:t>属于分类器比较容易区分的样本。使用大量的易分样本</a:t>
            </a:r>
            <a:r>
              <a:rPr lang="en-US" altLang="zh-CN" dirty="0" smtClean="0"/>
              <a:t>,</a:t>
            </a:r>
            <a:r>
              <a:rPr lang="zh-CN" altLang="en-US" dirty="0" smtClean="0"/>
              <a:t>不利于分类器的训练</a:t>
            </a:r>
            <a:r>
              <a:rPr lang="en-US" altLang="zh-CN" dirty="0" smtClean="0"/>
              <a:t>,</a:t>
            </a:r>
            <a:r>
              <a:rPr lang="zh-CN" altLang="en-US" dirty="0" smtClean="0"/>
              <a:t>解决这个问题有两种思路</a:t>
            </a:r>
            <a:r>
              <a:rPr lang="en-US" altLang="zh-CN" dirty="0" smtClean="0"/>
              <a:t>:</a:t>
            </a:r>
            <a:r>
              <a:rPr lang="zh-CN" altLang="en-US" dirty="0" smtClean="0"/>
              <a:t>一种思路是有针对性地去除易分样本</a:t>
            </a:r>
            <a:r>
              <a:rPr lang="en-US" altLang="zh-CN" dirty="0" smtClean="0"/>
              <a:t>,</a:t>
            </a:r>
            <a:r>
              <a:rPr lang="zh-CN" altLang="en-US" dirty="0" smtClean="0"/>
              <a:t>尤其是易分的背景样本</a:t>
            </a:r>
            <a:r>
              <a:rPr lang="en-US" altLang="zh-CN" dirty="0" smtClean="0"/>
              <a:t>;</a:t>
            </a:r>
            <a:r>
              <a:rPr lang="zh-CN" altLang="en-US" dirty="0" smtClean="0"/>
              <a:t>另一种思路是降低易分样本在最终损失的贡献</a:t>
            </a:r>
            <a:r>
              <a:rPr lang="en-US" altLang="zh-CN" dirty="0" smtClean="0"/>
              <a:t>,</a:t>
            </a:r>
            <a:r>
              <a:rPr lang="zh-CN" altLang="en-US" dirty="0" smtClean="0"/>
              <a:t>使得参数更新的时候更倾向于拟合困难样本。</a:t>
            </a:r>
            <a:r>
              <a:rPr lang="en-US" altLang="zh-CN" dirty="0" smtClean="0"/>
              <a:t>Faster R-CNN</a:t>
            </a:r>
            <a:r>
              <a:rPr lang="zh-CN" altLang="en-US" dirty="0" smtClean="0"/>
              <a:t>在训练的过程中采用了第一种方法，通过</a:t>
            </a:r>
            <a:r>
              <a:rPr lang="en-US" altLang="zh-CN" dirty="0" smtClean="0"/>
              <a:t>RPN </a:t>
            </a:r>
            <a:r>
              <a:rPr lang="zh-CN" altLang="en-US" dirty="0" smtClean="0"/>
              <a:t>网络滤除大量无效的背景样本。这里重点讲解第二种方法，通过设计损失函数</a:t>
            </a:r>
            <a:r>
              <a:rPr lang="en-US" altLang="zh-CN" dirty="0" smtClean="0"/>
              <a:t>,</a:t>
            </a:r>
            <a:r>
              <a:rPr lang="zh-CN" altLang="en-US" dirty="0" smtClean="0"/>
              <a:t>降低易分样本的影响。</a:t>
            </a:r>
            <a:endParaRPr lang="en-US" altLang="zh-CN" dirty="0" smtClean="0"/>
          </a:p>
          <a:p>
            <a:r>
              <a:rPr lang="zh-CN" altLang="en-US" dirty="0" smtClean="0"/>
              <a:t>焦点损失函数（</a:t>
            </a:r>
            <a:r>
              <a:rPr lang="en-US" altLang="zh-CN" dirty="0" smtClean="0"/>
              <a:t>Focal Loss</a:t>
            </a:r>
            <a:r>
              <a:rPr lang="zh-CN" altLang="en-US" dirty="0" smtClean="0"/>
              <a:t>）的作用是解决样本极不平衡的问题，比如难分样本</a:t>
            </a:r>
            <a:r>
              <a:rPr lang="en-US" altLang="zh-CN" dirty="0" smtClean="0"/>
              <a:t>:</a:t>
            </a:r>
            <a:r>
              <a:rPr lang="zh-CN" altLang="en-US" dirty="0" smtClean="0"/>
              <a:t>易分样本</a:t>
            </a:r>
            <a:r>
              <a:rPr lang="en-US" altLang="zh-CN" dirty="0" smtClean="0"/>
              <a:t>&lt;1:1000</a:t>
            </a:r>
            <a:r>
              <a:rPr lang="zh-CN" altLang="en-US" dirty="0" smtClean="0"/>
              <a:t>这样的情况。其设计思想就是在常规的损失函数上乘以一个惩罚因子，难分样本惩罚的少，易分样本惩罚的多</a:t>
            </a:r>
            <a:r>
              <a:rPr lang="en-US" altLang="zh-CN" dirty="0" smtClean="0"/>
              <a:t>,</a:t>
            </a:r>
            <a:r>
              <a:rPr lang="zh-CN" altLang="en-US" dirty="0" smtClean="0"/>
              <a:t>在最终的损失突出难分样本的影响</a:t>
            </a:r>
            <a:r>
              <a:rPr lang="en-US" altLang="zh-CN" dirty="0" smtClean="0"/>
              <a:t>,</a:t>
            </a:r>
            <a:r>
              <a:rPr lang="zh-CN" altLang="en-US" dirty="0" smtClean="0"/>
              <a:t>使得模型参数更新更有利于对难分样本的预测。</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203127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这里以二分类问题中的交叉熵损失</a:t>
                </a:r>
                <a:r>
                  <a:rPr lang="en-US" altLang="zh-CN" dirty="0" smtClean="0"/>
                  <a:t>(Cross Entropy Loss</a:t>
                </a:r>
                <a:r>
                  <a:rPr lang="zh-CN" altLang="en-US" dirty="0" smtClean="0"/>
                  <a:t>）为基础</a:t>
                </a:r>
                <a:r>
                  <a:rPr lang="en-US" altLang="zh-CN" dirty="0" smtClean="0"/>
                  <a:t>,</a:t>
                </a:r>
                <a:r>
                  <a:rPr lang="zh-CN" altLang="en-US" dirty="0" smtClean="0"/>
                  <a:t>通过对原来损失函数的修改</a:t>
                </a:r>
                <a:r>
                  <a:rPr lang="en-US" altLang="zh-CN" dirty="0" smtClean="0"/>
                  <a:t>,</a:t>
                </a:r>
                <a:r>
                  <a:rPr lang="zh-CN" altLang="en-US" dirty="0" smtClean="0"/>
                  <a:t>构造焦点损失函数。</a:t>
                </a:r>
                <a:endParaRPr lang="en-US" altLang="zh-CN" dirty="0" smtClean="0"/>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𝐶𝐸</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=1</m:t>
                                  </m:r>
                                </m:e>
                              </m:func>
                            </m:e>
                            <m:e>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𝑝</m:t>
                                      </m:r>
                                    </m:e>
                                  </m:d>
                                  <m:r>
                                    <a:rPr lang="en-US" altLang="zh-CN" b="0" i="1" smtClean="0">
                                      <a:latin typeface="Cambria Math" panose="02040503050406030204" pitchFamily="18" charset="0"/>
                                    </a:rPr>
                                    <m:t>,   </m:t>
                                  </m:r>
                                  <m:r>
                                    <a:rPr lang="zh-CN" altLang="en-US" i="1">
                                      <a:latin typeface="Cambria Math" panose="02040503050406030204" pitchFamily="18" charset="0"/>
                                    </a:rPr>
                                    <m:t>其他</m:t>
                                  </m:r>
                                </m:e>
                              </m:func>
                            </m:e>
                          </m:eqArr>
                        </m:e>
                      </m:d>
                    </m:oMath>
                  </m:oMathPara>
                </a14:m>
                <a:endParaRPr lang="en-US" altLang="zh-CN" dirty="0" smtClean="0"/>
              </a:p>
              <a:p>
                <a:r>
                  <a:rPr lang="zh-CN" altLang="en-US" dirty="0" smtClean="0"/>
                  <a:t>该公式中，</a:t>
                </a:r>
                <a:r>
                  <a:rPr lang="en-US" altLang="zh-CN" dirty="0" smtClean="0"/>
                  <a:t>y</a:t>
                </a:r>
                <a:r>
                  <a:rPr lang="zh-CN" altLang="en-US" dirty="0" smtClean="0"/>
                  <a:t>为正</a:t>
                </a:r>
                <a:r>
                  <a:rPr lang="en-US" altLang="zh-CN" dirty="0" smtClean="0"/>
                  <a:t>1</a:t>
                </a:r>
                <a:r>
                  <a:rPr lang="zh-CN" altLang="en-US" dirty="0" smtClean="0"/>
                  <a:t>或负</a:t>
                </a:r>
                <a:r>
                  <a:rPr lang="en-US" altLang="zh-CN" dirty="0" smtClean="0"/>
                  <a:t>1</a:t>
                </a:r>
                <a:r>
                  <a:rPr lang="zh-CN" altLang="en-US" dirty="0" smtClean="0"/>
                  <a:t>，表示样本的实际类型为正样本或负样本，</a:t>
                </a:r>
                <a:r>
                  <a:rPr lang="en-US" altLang="zh-CN" dirty="0" smtClean="0"/>
                  <a:t>p</a:t>
                </a:r>
                <a:r>
                  <a:rPr lang="zh-CN" altLang="en-US" dirty="0" smtClean="0"/>
                  <a:t>属于</a:t>
                </a:r>
                <a:r>
                  <a:rPr lang="en-US" altLang="zh-CN" dirty="0" smtClean="0"/>
                  <a:t>0~1</a:t>
                </a:r>
                <a:r>
                  <a:rPr lang="zh-CN" altLang="en-US" dirty="0" smtClean="0"/>
                  <a:t>，代表预测结果为正样本（</a:t>
                </a:r>
                <a:r>
                  <a:rPr lang="en-US" altLang="zh-CN" dirty="0" smtClean="0"/>
                  <a:t>y=1)</a:t>
                </a:r>
                <a:r>
                  <a:rPr lang="zh-CN" altLang="en-US" dirty="0" smtClean="0"/>
                  <a:t>的概率。</a:t>
                </a:r>
                <a:endParaRPr lang="en-US" altLang="zh-CN" dirty="0" smtClean="0"/>
              </a:p>
              <a:p>
                <a:r>
                  <a:rPr lang="zh-CN" altLang="en-US" dirty="0" smtClean="0"/>
                  <a:t>如果再约定</a:t>
                </a:r>
                <a:endParaRPr lang="en-US" altLang="zh-CN" dirty="0" smtClean="0"/>
              </a:p>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eqArr>
                            <m:eqArrPr>
                              <m:ctrlPr>
                                <a:rPr lang="en-US" altLang="zh-CN" b="0" i="1" smtClean="0">
                                  <a:latin typeface="Cambria Math" panose="02040503050406030204" pitchFamily="18" charset="0"/>
                                  <a:ea typeface="Cambria Math" panose="02040503050406030204" pitchFamily="18" charset="0"/>
                                </a:rPr>
                              </m:ctrlPr>
                            </m:eqArrPr>
                            <m:e>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,其他</m:t>
                              </m:r>
                            </m:e>
                          </m:eqArr>
                        </m:e>
                      </m:d>
                    </m:oMath>
                  </m:oMathPara>
                </a14:m>
                <a:endParaRPr lang="en-US" altLang="zh-CN" dirty="0" smtClean="0"/>
              </a:p>
              <a:p>
                <a:r>
                  <a:rPr lang="zh-CN" altLang="en-US" dirty="0" smtClean="0"/>
                  <a:t>则有</a:t>
                </a:r>
                <a14:m>
                  <m:oMath xmlns:m="http://schemas.openxmlformats.org/officeDocument/2006/math">
                    <m:r>
                      <a:rPr lang="en-US" altLang="zh-CN" b="0" i="1" smtClean="0">
                        <a:latin typeface="Cambria Math" panose="02040503050406030204" pitchFamily="18" charset="0"/>
                      </a:rPr>
                      <m:t>𝐶𝐸</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𝐶𝐸</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e>
                    </m:func>
                    <m:r>
                      <a:rPr lang="zh-CN" altLang="en-US" b="0" i="1" smtClean="0">
                        <a:latin typeface="Cambria Math" panose="02040503050406030204" pitchFamily="18" charset="0"/>
                      </a:rPr>
                      <m:t>。可见</m:t>
                    </m:r>
                  </m:oMath>
                </a14:m>
                <a:r>
                  <a:rPr lang="zh-CN" altLang="en-US" dirty="0" smtClean="0"/>
                  <a:t>交叉熵损失</a:t>
                </a:r>
                <a:r>
                  <a:rPr lang="en-US" altLang="zh-CN" dirty="0" smtClean="0"/>
                  <a:t>CE</a:t>
                </a:r>
                <a:r>
                  <a:rPr lang="zh-CN" altLang="en-US" dirty="0" smtClean="0"/>
                  <a:t>是置信度</a:t>
                </a:r>
                <a:r>
                  <a:rPr lang="en-US" altLang="zh-CN" dirty="0" err="1" smtClean="0"/>
                  <a:t>p</a:t>
                </a:r>
                <a:r>
                  <a:rPr lang="en-US" altLang="zh-CN" baseline="-25000" dirty="0" err="1" smtClean="0"/>
                  <a:t>t</a:t>
                </a:r>
                <a:r>
                  <a:rPr lang="zh-CN" altLang="en-US" dirty="0" smtClean="0"/>
                  <a:t>的单调递减函数，</a:t>
                </a:r>
                <a:r>
                  <a:rPr lang="en-US" altLang="zh-CN" dirty="0" err="1" smtClean="0"/>
                  <a:t>p</a:t>
                </a:r>
                <a:r>
                  <a:rPr lang="en-US" altLang="zh-CN" baseline="-25000" dirty="0" err="1" smtClean="0"/>
                  <a:t>t</a:t>
                </a:r>
                <a:r>
                  <a:rPr lang="zh-CN" altLang="en-US" dirty="0" smtClean="0"/>
                  <a:t>的值越大相应的损失越小，样本越容易通过分类器分开。为了降低易分样本在总体权重的占比，可以引入一个同样以置信度</a:t>
                </a:r>
                <a:r>
                  <a:rPr lang="en-US" altLang="zh-CN" dirty="0" err="1" smtClean="0"/>
                  <a:t>p</a:t>
                </a:r>
                <a:r>
                  <a:rPr lang="en-US" altLang="zh-CN" baseline="-25000" dirty="0" err="1" smtClean="0"/>
                  <a:t>t</a:t>
                </a:r>
                <a:r>
                  <a:rPr lang="zh-CN" altLang="en-US" dirty="0" smtClean="0"/>
                  <a:t>为变量的单调递减函数</a:t>
                </a:r>
                <a14:m>
                  <m:oMath xmlns:m="http://schemas.openxmlformats.org/officeDocument/2006/math">
                    <m:r>
                      <a:rPr lang="zh-CN" altLang="en-US" i="1" smtClean="0">
                        <a:latin typeface="Cambria Math" panose="02040503050406030204" pitchFamily="18" charset="0"/>
                      </a:rPr>
                      <m:t>𝛼</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oMath>
                </a14:m>
                <a:r>
                  <a:rPr lang="zh-CN" altLang="en-US" dirty="0" smtClean="0"/>
                  <a:t>作为权重因子，则焦点损失函数可表示为</a:t>
                </a:r>
                <a14:m>
                  <m:oMath xmlns:m="http://schemas.openxmlformats.org/officeDocument/2006/math">
                    <m:r>
                      <a:rPr lang="en-US" altLang="zh-CN" i="1" smtClean="0">
                        <a:latin typeface="Cambria Math" panose="02040503050406030204" pitchFamily="18" charset="0"/>
                      </a:rPr>
                      <m:t>𝐶𝐹</m:t>
                    </m:r>
                    <m:d>
                      <m:dPr>
                        <m:ctrlPr>
                          <a:rPr lang="en-US"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r>
                      <a:rPr lang="zh-CN" altLang="en-US" i="1">
                        <a:latin typeface="Cambria Math" panose="02040503050406030204" pitchFamily="18" charset="0"/>
                      </a:rPr>
                      <m:t>𝛼</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e>
                    </m:func>
                  </m:oMath>
                </a14:m>
                <a:r>
                  <a:rPr lang="zh-CN" altLang="en-US" dirty="0" smtClean="0"/>
                  <a:t>，不妨令权重因子</a:t>
                </a:r>
                <a14:m>
                  <m:oMath xmlns:m="http://schemas.openxmlformats.org/officeDocument/2006/math">
                    <m:r>
                      <a:rPr lang="zh-CN" altLang="en-US" i="1" smtClean="0">
                        <a:latin typeface="Cambria Math" panose="02040503050406030204" pitchFamily="18" charset="0"/>
                      </a:rPr>
                      <m:t>𝛼</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1−</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e>
                      <m:sup>
                        <m:r>
                          <a:rPr lang="zh-CN" altLang="en-US" i="1">
                            <a:latin typeface="Cambria Math" panose="02040503050406030204" pitchFamily="18" charset="0"/>
                          </a:rPr>
                          <m:t>𝛾</m:t>
                        </m:r>
                      </m:sup>
                    </m:sSup>
                  </m:oMath>
                </a14:m>
                <a:r>
                  <a:rPr lang="zh-CN" altLang="en-US" dirty="0" smtClean="0"/>
                  <a:t>，则焦点损失函数</a:t>
                </a:r>
                <a14:m>
                  <m:oMath xmlns:m="http://schemas.openxmlformats.org/officeDocument/2006/math">
                    <m:r>
                      <a:rPr lang="en-US" altLang="zh-CN" b="0" i="1" smtClean="0">
                        <a:latin typeface="Cambria Math" panose="02040503050406030204" pitchFamily="18" charset="0"/>
                      </a:rPr>
                      <m:t>𝐶𝐹</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e>
                      <m:sup>
                        <m:r>
                          <a:rPr lang="zh-CN" altLang="en-US" b="0" i="1" smtClean="0">
                            <a:latin typeface="Cambria Math" panose="02040503050406030204" pitchFamily="18" charset="0"/>
                          </a:rPr>
                          <m:t>𝛾</m:t>
                        </m:r>
                      </m:sup>
                    </m:sSup>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e>
                    </m:func>
                  </m:oMath>
                </a14:m>
                <a:r>
                  <a:rPr lang="zh-CN" altLang="en-US" dirty="0" smtClean="0"/>
                  <a:t>。</a:t>
                </a:r>
                <a:endParaRPr lang="en-US" altLang="zh-CN" dirty="0" smtClean="0"/>
              </a:p>
              <a:p>
                <a:endParaRPr lang="en-US" altLang="zh-CN" baseline="-25000" dirty="0" smtClean="0"/>
              </a:p>
              <a:p>
                <a:endParaRPr lang="en-US" altLang="zh-CN" baseline="-25000" dirty="0" smtClean="0"/>
              </a:p>
              <a:p>
                <a:endParaRPr lang="en-US" altLang="zh-CN" baseline="-25000" dirty="0" smtClean="0"/>
              </a:p>
              <a:p>
                <a:endParaRPr lang="en-US" altLang="zh-CN" baseline="-25000" dirty="0" smtClean="0"/>
              </a:p>
              <a:p>
                <a:endParaRPr lang="en-US" altLang="zh-CN" baseline="-25000" dirty="0" smtClean="0"/>
              </a:p>
              <a:p>
                <a:endParaRPr lang="zh-CN" altLang="en-US" baseline="-25000" dirty="0"/>
              </a:p>
            </p:txBody>
          </p:sp>
        </mc:Choice>
        <mc:Fallback xmlns="">
          <p:sp>
            <p:nvSpPr>
              <p:cNvPr id="3" name="备注占位符 2"/>
              <p:cNvSpPr>
                <a:spLocks noGrp="1"/>
              </p:cNvSpPr>
              <p:nvPr>
                <p:ph type="body" idx="1"/>
              </p:nvPr>
            </p:nvSpPr>
            <p:spPr/>
            <p:txBody>
              <a:bodyPr/>
              <a:lstStyle/>
              <a:p>
                <a:r>
                  <a:rPr lang="zh-CN" altLang="en-US" dirty="0" smtClean="0"/>
                  <a:t>这里以二分类问题中的交叉熵损失</a:t>
                </a:r>
                <a:r>
                  <a:rPr lang="en-US" altLang="zh-CN" dirty="0" smtClean="0"/>
                  <a:t>(Cross Entropy Loss</a:t>
                </a:r>
                <a:r>
                  <a:rPr lang="zh-CN" altLang="en-US" dirty="0" smtClean="0"/>
                  <a:t>）为基础</a:t>
                </a:r>
                <a:r>
                  <a:rPr lang="en-US" altLang="zh-CN" dirty="0" smtClean="0"/>
                  <a:t>,</a:t>
                </a:r>
                <a:r>
                  <a:rPr lang="zh-CN" altLang="en-US" dirty="0" smtClean="0"/>
                  <a:t>通过对原来损失函数的修改</a:t>
                </a:r>
                <a:r>
                  <a:rPr lang="en-US" altLang="zh-CN" dirty="0" smtClean="0"/>
                  <a:t>,</a:t>
                </a:r>
                <a:r>
                  <a:rPr lang="zh-CN" altLang="en-US" dirty="0" smtClean="0"/>
                  <a:t>构造焦点损失函数。</a:t>
                </a:r>
                <a:endParaRPr lang="en-US" altLang="zh-CN" dirty="0" smtClean="0"/>
              </a:p>
              <a:p>
                <a:pPr/>
                <a:r>
                  <a:rPr lang="en-US" altLang="zh-CN" b="0" i="0" smtClean="0">
                    <a:latin typeface="Cambria Math" panose="02040503050406030204" pitchFamily="18" charset="0"/>
                  </a:rPr>
                  <a:t>𝐶𝐸(𝑝,𝑦)={█(−log⁡〖(𝑝), 𝑦=1〗@−log⁡〖(1−𝑝),   </a:t>
                </a:r>
                <a:r>
                  <a:rPr lang="zh-CN" altLang="en-US" i="0">
                    <a:latin typeface="Cambria Math" panose="02040503050406030204" pitchFamily="18" charset="0"/>
                  </a:rPr>
                  <a:t>其他</a:t>
                </a:r>
                <a:r>
                  <a:rPr lang="en-US" altLang="zh-CN" b="0" i="0" smtClean="0">
                    <a:latin typeface="Cambria Math" panose="02040503050406030204" pitchFamily="18" charset="0"/>
                  </a:rPr>
                  <a:t>〗</a:t>
                </a:r>
                <a:r>
                  <a:rPr lang="zh-CN" altLang="en-US" b="0" i="0">
                    <a:latin typeface="Cambria Math" panose="02040503050406030204" pitchFamily="18" charset="0"/>
                  </a:rPr>
                  <a:t> )┤</a:t>
                </a:r>
                <a:endParaRPr lang="en-US" altLang="zh-CN" dirty="0" smtClean="0"/>
              </a:p>
              <a:p>
                <a:r>
                  <a:rPr lang="zh-CN" altLang="en-US" dirty="0" smtClean="0"/>
                  <a:t>该公式中，</a:t>
                </a:r>
                <a:r>
                  <a:rPr lang="en-US" altLang="zh-CN" dirty="0" smtClean="0"/>
                  <a:t>y</a:t>
                </a:r>
                <a:r>
                  <a:rPr lang="zh-CN" altLang="en-US" dirty="0" smtClean="0"/>
                  <a:t>为正</a:t>
                </a:r>
                <a:r>
                  <a:rPr lang="en-US" altLang="zh-CN" dirty="0" smtClean="0"/>
                  <a:t>1</a:t>
                </a:r>
                <a:r>
                  <a:rPr lang="zh-CN" altLang="en-US" dirty="0" smtClean="0"/>
                  <a:t>或负</a:t>
                </a:r>
                <a:r>
                  <a:rPr lang="en-US" altLang="zh-CN" dirty="0" smtClean="0"/>
                  <a:t>1</a:t>
                </a:r>
                <a:r>
                  <a:rPr lang="zh-CN" altLang="en-US" dirty="0" smtClean="0"/>
                  <a:t>，表示样本的实际类型为正样本或负样本，</a:t>
                </a:r>
                <a:r>
                  <a:rPr lang="en-US" altLang="zh-CN" dirty="0" smtClean="0"/>
                  <a:t>p</a:t>
                </a:r>
                <a:r>
                  <a:rPr lang="zh-CN" altLang="en-US" dirty="0" smtClean="0"/>
                  <a:t>属于</a:t>
                </a:r>
                <a:r>
                  <a:rPr lang="en-US" altLang="zh-CN" dirty="0" smtClean="0"/>
                  <a:t>0~1</a:t>
                </a:r>
                <a:r>
                  <a:rPr lang="zh-CN" altLang="en-US" dirty="0" smtClean="0"/>
                  <a:t>，代表预测结果为正样本（</a:t>
                </a:r>
                <a:r>
                  <a:rPr lang="en-US" altLang="zh-CN" dirty="0" smtClean="0"/>
                  <a:t>y=1)</a:t>
                </a:r>
                <a:r>
                  <a:rPr lang="zh-CN" altLang="en-US" dirty="0" smtClean="0"/>
                  <a:t>的概率。</a:t>
                </a:r>
                <a:endParaRPr lang="en-US" altLang="zh-CN" dirty="0" smtClean="0"/>
              </a:p>
              <a:p>
                <a:r>
                  <a:rPr lang="zh-CN" altLang="en-US" dirty="0" smtClean="0"/>
                  <a:t>如果再约定</a:t>
                </a:r>
                <a:endParaRPr lang="en-US" altLang="zh-CN" dirty="0" smtClean="0"/>
              </a:p>
              <a:p>
                <a:pPr/>
                <a:r>
                  <a:rPr lang="en-US" altLang="zh-CN" b="0" i="0" smtClean="0">
                    <a:latin typeface="Cambria Math" panose="02040503050406030204" pitchFamily="18" charset="0"/>
                  </a:rPr>
                  <a:t>𝑝_𝑡</a:t>
                </a:r>
                <a:r>
                  <a:rPr lang="en-US" altLang="zh-CN" b="0" i="0" smtClean="0">
                    <a:latin typeface="Cambria Math" panose="02040503050406030204" pitchFamily="18" charset="0"/>
                    <a:ea typeface="Cambria Math" panose="02040503050406030204" pitchFamily="18" charset="0"/>
                  </a:rPr>
                  <a:t>={█(𝑝,𝑦=1@1−𝑝,其他)┤</a:t>
                </a:r>
                <a:endParaRPr lang="en-US" altLang="zh-CN" dirty="0" smtClean="0"/>
              </a:p>
              <a:p>
                <a:r>
                  <a:rPr lang="zh-CN" altLang="en-US" dirty="0" smtClean="0"/>
                  <a:t>则有</a:t>
                </a:r>
                <a:r>
                  <a:rPr lang="en-US" altLang="zh-CN" b="0" i="0" smtClean="0">
                    <a:latin typeface="Cambria Math" panose="02040503050406030204" pitchFamily="18" charset="0"/>
                  </a:rPr>
                  <a:t>𝐶𝐸(𝑝,𝑦)=𝐶𝐸(𝑝_𝑡 )=−log⁡(𝑝_𝑡 )</a:t>
                </a:r>
                <a:r>
                  <a:rPr lang="zh-CN" altLang="en-US" b="0" i="0" smtClean="0">
                    <a:latin typeface="Cambria Math" panose="02040503050406030204" pitchFamily="18" charset="0"/>
                  </a:rPr>
                  <a:t>。可见</a:t>
                </a:r>
                <a:r>
                  <a:rPr lang="zh-CN" altLang="en-US" dirty="0" smtClean="0"/>
                  <a:t>交叉熵损失</a:t>
                </a:r>
                <a:r>
                  <a:rPr lang="en-US" altLang="zh-CN" dirty="0" smtClean="0"/>
                  <a:t>CE</a:t>
                </a:r>
                <a:r>
                  <a:rPr lang="zh-CN" altLang="en-US" dirty="0" smtClean="0"/>
                  <a:t>是置信度</a:t>
                </a:r>
                <a:r>
                  <a:rPr lang="en-US" altLang="zh-CN" dirty="0" err="1" smtClean="0"/>
                  <a:t>p</a:t>
                </a:r>
                <a:r>
                  <a:rPr lang="en-US" altLang="zh-CN" baseline="-25000" dirty="0" err="1" smtClean="0"/>
                  <a:t>t</a:t>
                </a:r>
                <a:r>
                  <a:rPr lang="zh-CN" altLang="en-US" dirty="0" smtClean="0"/>
                  <a:t>的单调递减函数，</a:t>
                </a:r>
                <a:r>
                  <a:rPr lang="en-US" altLang="zh-CN" dirty="0" err="1" smtClean="0"/>
                  <a:t>p</a:t>
                </a:r>
                <a:r>
                  <a:rPr lang="en-US" altLang="zh-CN" baseline="-25000" dirty="0" err="1" smtClean="0"/>
                  <a:t>t</a:t>
                </a:r>
                <a:r>
                  <a:rPr lang="zh-CN" altLang="en-US" dirty="0" smtClean="0"/>
                  <a:t>的值越大相应的损失越小，样本越容易通过分类器分开。为了降低易分样本在总体权重的占比，可以引入一个同样以置信度</a:t>
                </a:r>
                <a:r>
                  <a:rPr lang="en-US" altLang="zh-CN" dirty="0" err="1" smtClean="0"/>
                  <a:t>p</a:t>
                </a:r>
                <a:r>
                  <a:rPr lang="en-US" altLang="zh-CN" baseline="-25000" dirty="0" err="1" smtClean="0"/>
                  <a:t>t</a:t>
                </a:r>
                <a:r>
                  <a:rPr lang="zh-CN" altLang="en-US" dirty="0" smtClean="0"/>
                  <a:t>为变量的单调递减函数</a:t>
                </a:r>
                <a:r>
                  <a:rPr lang="zh-CN" altLang="en-US" i="0" smtClean="0">
                    <a:latin typeface="Cambria Math" panose="02040503050406030204" pitchFamily="18" charset="0"/>
                  </a:rPr>
                  <a:t>𝛼</a:t>
                </a:r>
                <a:r>
                  <a:rPr lang="en-US" altLang="zh-CN" i="0" smtClean="0">
                    <a:latin typeface="Cambria Math" panose="02040503050406030204" pitchFamily="18" charset="0"/>
                  </a:rPr>
                  <a:t>(</a:t>
                </a:r>
                <a:r>
                  <a:rPr lang="en-US" altLang="zh-CN" b="0" i="0" smtClean="0">
                    <a:latin typeface="Cambria Math" panose="02040503050406030204" pitchFamily="18" charset="0"/>
                  </a:rPr>
                  <a:t>𝑝_𝑡 )</a:t>
                </a:r>
                <a:r>
                  <a:rPr lang="zh-CN" altLang="en-US" dirty="0" smtClean="0"/>
                  <a:t>作为权重因子，则焦点损失函数可表示为</a:t>
                </a:r>
                <a:r>
                  <a:rPr lang="en-US" altLang="zh-CN" i="0" smtClean="0">
                    <a:latin typeface="Cambria Math" panose="02040503050406030204" pitchFamily="18" charset="0"/>
                  </a:rPr>
                  <a:t>𝐶𝐹</a:t>
                </a:r>
                <a:r>
                  <a:rPr lang="en-US" altLang="zh-CN" i="0">
                    <a:latin typeface="Cambria Math" panose="02040503050406030204" pitchFamily="18" charset="0"/>
                  </a:rPr>
                  <a:t>(𝑝,𝑦)=−</a:t>
                </a:r>
                <a:r>
                  <a:rPr lang="zh-CN" altLang="en-US" i="0">
                    <a:latin typeface="Cambria Math" panose="02040503050406030204" pitchFamily="18" charset="0"/>
                  </a:rPr>
                  <a:t>𝛼</a:t>
                </a:r>
                <a:r>
                  <a:rPr lang="en-US" altLang="zh-CN" i="0">
                    <a:latin typeface="Cambria Math" panose="02040503050406030204" pitchFamily="18" charset="0"/>
                  </a:rPr>
                  <a:t>(𝑝_𝑡 )  log⁡(𝑝_𝑡 )</a:t>
                </a:r>
                <a:r>
                  <a:rPr lang="zh-CN" altLang="en-US" dirty="0" smtClean="0"/>
                  <a:t>，不妨令权重因子</a:t>
                </a:r>
                <a:r>
                  <a:rPr lang="zh-CN" altLang="en-US" i="0" smtClean="0">
                    <a:latin typeface="Cambria Math" panose="02040503050406030204" pitchFamily="18" charset="0"/>
                  </a:rPr>
                  <a:t>𝛼</a:t>
                </a:r>
                <a:r>
                  <a:rPr lang="en-US" altLang="zh-CN" i="0">
                    <a:latin typeface="Cambria Math" panose="02040503050406030204" pitchFamily="18" charset="0"/>
                  </a:rPr>
                  <a:t>(𝑝_𝑡 )</a:t>
                </a:r>
                <a:r>
                  <a:rPr lang="en-US" altLang="zh-CN" b="0" i="0" smtClean="0">
                    <a:latin typeface="Cambria Math" panose="02040503050406030204" pitchFamily="18" charset="0"/>
                  </a:rPr>
                  <a:t>=</a:t>
                </a:r>
                <a:r>
                  <a:rPr lang="en-US" altLang="zh-CN" i="0">
                    <a:latin typeface="Cambria Math" panose="02040503050406030204" pitchFamily="18" charset="0"/>
                  </a:rPr>
                  <a:t>(1−𝑝_𝑡 )^</a:t>
                </a:r>
                <a:r>
                  <a:rPr lang="zh-CN" altLang="en-US" i="0">
                    <a:latin typeface="Cambria Math" panose="02040503050406030204" pitchFamily="18" charset="0"/>
                  </a:rPr>
                  <a:t>𝛾</a:t>
                </a:r>
                <a:r>
                  <a:rPr lang="zh-CN" altLang="en-US" dirty="0" smtClean="0"/>
                  <a:t>，则焦点损失函数</a:t>
                </a:r>
                <a:r>
                  <a:rPr lang="en-US" altLang="zh-CN" b="0" i="0" smtClean="0">
                    <a:latin typeface="Cambria Math" panose="02040503050406030204" pitchFamily="18" charset="0"/>
                  </a:rPr>
                  <a:t>𝐶𝐹(𝑝,𝑦)=−(1−𝑝_𝑡 )^</a:t>
                </a:r>
                <a:r>
                  <a:rPr lang="zh-CN" altLang="en-US" b="0" i="0" smtClean="0">
                    <a:latin typeface="Cambria Math" panose="02040503050406030204" pitchFamily="18" charset="0"/>
                  </a:rPr>
                  <a:t>𝛾</a:t>
                </a:r>
                <a:r>
                  <a:rPr lang="en-US" altLang="zh-CN" b="0" i="0" smtClean="0">
                    <a:latin typeface="Cambria Math" panose="02040503050406030204" pitchFamily="18" charset="0"/>
                  </a:rPr>
                  <a:t>  log⁡(𝑝_𝑡 )</a:t>
                </a:r>
                <a:r>
                  <a:rPr lang="zh-CN" altLang="en-US" dirty="0" smtClean="0"/>
                  <a:t>。</a:t>
                </a:r>
                <a:endParaRPr lang="en-US" altLang="zh-CN" dirty="0" smtClean="0"/>
              </a:p>
              <a:p>
                <a:endParaRPr lang="en-US" altLang="zh-CN" baseline="-25000" dirty="0" smtClean="0"/>
              </a:p>
              <a:p>
                <a:endParaRPr lang="en-US" altLang="zh-CN" baseline="-25000" dirty="0" smtClean="0"/>
              </a:p>
              <a:p>
                <a:endParaRPr lang="en-US" altLang="zh-CN" baseline="-25000" dirty="0" smtClean="0"/>
              </a:p>
              <a:p>
                <a:endParaRPr lang="en-US" altLang="zh-CN" baseline="-25000" dirty="0" smtClean="0"/>
              </a:p>
              <a:p>
                <a:endParaRPr lang="en-US" altLang="zh-CN" baseline="-25000" dirty="0" smtClean="0"/>
              </a:p>
              <a:p>
                <a:endParaRPr lang="zh-CN" altLang="en-US" baseline="-25000"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579572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其中</a:t>
                </a:r>
                <a14:m>
                  <m:oMath xmlns:m="http://schemas.openxmlformats.org/officeDocument/2006/math">
                    <m:r>
                      <a:rPr lang="zh-CN" altLang="en-US" i="1" smtClean="0">
                        <a:latin typeface="Cambria Math" panose="02040503050406030204" pitchFamily="18" charset="0"/>
                      </a:rPr>
                      <m:t>𝛾</m:t>
                    </m:r>
                    <m:r>
                      <a:rPr lang="zh-CN" altLang="en-US" dirty="0">
                        <a:latin typeface="Cambria Math" panose="02040503050406030204" pitchFamily="18" charset="0"/>
                      </a:rPr>
                      <m:t>≥</m:t>
                    </m:r>
                    <m:r>
                      <a:rPr lang="en-US" altLang="zh-CN" b="0" i="0" dirty="0" smtClean="0">
                        <a:latin typeface="Cambria Math" panose="02040503050406030204" pitchFamily="18" charset="0"/>
                      </a:rPr>
                      <m:t>0</m:t>
                    </m:r>
                  </m:oMath>
                </a14:m>
                <a:r>
                  <a:rPr lang="zh-CN" altLang="en-US" dirty="0" smtClean="0"/>
                  <a:t>为超参数，</a:t>
                </a:r>
                <a14:m>
                  <m:oMath xmlns:m="http://schemas.openxmlformats.org/officeDocument/2006/math">
                    <m:r>
                      <a:rPr lang="zh-CN" altLang="en-US" i="1">
                        <a:latin typeface="Cambria Math" panose="02040503050406030204" pitchFamily="18" charset="0"/>
                      </a:rPr>
                      <m:t>𝛾</m:t>
                    </m:r>
                  </m:oMath>
                </a14:m>
                <a:r>
                  <a:rPr lang="zh-CN" altLang="en-US" dirty="0" smtClean="0"/>
                  <a:t>越大，对易分样本损失的削减越明显。图中显示了几个不同</a:t>
                </a:r>
                <a14:m>
                  <m:oMath xmlns:m="http://schemas.openxmlformats.org/officeDocument/2006/math">
                    <m:r>
                      <a:rPr lang="zh-CN" altLang="en-US" i="1" smtClean="0">
                        <a:latin typeface="Cambria Math" panose="02040503050406030204" pitchFamily="18" charset="0"/>
                      </a:rPr>
                      <m:t>𝛾</m:t>
                    </m:r>
                  </m:oMath>
                </a14:m>
                <a:r>
                  <a:rPr lang="zh-CN" altLang="en-US" dirty="0" smtClean="0"/>
                  <a:t>取值对应的焦点损失曲线。特别地，当</a:t>
                </a:r>
                <a14:m>
                  <m:oMath xmlns:m="http://schemas.openxmlformats.org/officeDocument/2006/math">
                    <m:r>
                      <a:rPr lang="zh-CN" altLang="en-US" i="1" smtClean="0">
                        <a:latin typeface="Cambria Math" panose="02040503050406030204" pitchFamily="18" charset="0"/>
                      </a:rPr>
                      <m:t>𝛾</m:t>
                    </m:r>
                    <m:r>
                      <a:rPr lang="en-US" altLang="zh-CN" dirty="0">
                        <a:latin typeface="Cambria Math" panose="02040503050406030204" pitchFamily="18" charset="0"/>
                        <a:ea typeface="Cambria Math" panose="02040503050406030204" pitchFamily="18" charset="0"/>
                      </a:rPr>
                      <m:t>=</m:t>
                    </m:r>
                    <m:r>
                      <a:rPr lang="en-US" altLang="zh-CN" b="0" i="0" dirty="0" smtClean="0">
                        <a:latin typeface="Cambria Math" panose="02040503050406030204" pitchFamily="18" charset="0"/>
                        <a:ea typeface="Cambria Math" panose="02040503050406030204" pitchFamily="18" charset="0"/>
                      </a:rPr>
                      <m:t>0</m:t>
                    </m:r>
                  </m:oMath>
                </a14:m>
                <a:r>
                  <a:rPr lang="zh-CN" altLang="en-US" dirty="0" smtClean="0"/>
                  <a:t>时焦点损失函数曲线退化成原来的交叉熵损失曲线。</a:t>
                </a:r>
                <a:endParaRPr lang="zh-CN" altLang="en-US" dirty="0"/>
              </a:p>
            </p:txBody>
          </p:sp>
        </mc:Choice>
        <mc:Fallback xmlns="">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其中</a:t>
                </a:r>
                <a:r>
                  <a:rPr lang="zh-CN" altLang="en-US" i="0" smtClean="0">
                    <a:latin typeface="Cambria Math" panose="02040503050406030204" pitchFamily="18" charset="0"/>
                  </a:rPr>
                  <a:t>𝛾</a:t>
                </a:r>
                <a:r>
                  <a:rPr lang="zh-CN" altLang="en-US" i="0" dirty="0">
                    <a:latin typeface="Cambria Math" panose="02040503050406030204" pitchFamily="18" charset="0"/>
                  </a:rPr>
                  <a:t>≥</a:t>
                </a:r>
                <a:r>
                  <a:rPr lang="en-US" altLang="zh-CN" b="0" i="0" dirty="0" smtClean="0">
                    <a:latin typeface="Cambria Math" panose="02040503050406030204" pitchFamily="18" charset="0"/>
                  </a:rPr>
                  <a:t>0</a:t>
                </a:r>
                <a:r>
                  <a:rPr lang="zh-CN" altLang="en-US" dirty="0" smtClean="0"/>
                  <a:t>为超参数，</a:t>
                </a:r>
                <a:r>
                  <a:rPr lang="zh-CN" altLang="en-US" i="0">
                    <a:latin typeface="Cambria Math" panose="02040503050406030204" pitchFamily="18" charset="0"/>
                  </a:rPr>
                  <a:t>𝛾</a:t>
                </a:r>
                <a:r>
                  <a:rPr lang="zh-CN" altLang="en-US" dirty="0" smtClean="0"/>
                  <a:t>越大，对易分样本损失的削减越明显。图中显示了几个不同</a:t>
                </a:r>
                <a:r>
                  <a:rPr lang="zh-CN" altLang="en-US" i="0" smtClean="0">
                    <a:latin typeface="Cambria Math" panose="02040503050406030204" pitchFamily="18" charset="0"/>
                  </a:rPr>
                  <a:t>𝛾</a:t>
                </a:r>
                <a:r>
                  <a:rPr lang="zh-CN" altLang="en-US" dirty="0" smtClean="0"/>
                  <a:t>取值对应的焦点损失曲线。特别地，当</a:t>
                </a:r>
                <a:r>
                  <a:rPr lang="zh-CN" altLang="en-US" i="0" smtClean="0">
                    <a:latin typeface="Cambria Math" panose="02040503050406030204" pitchFamily="18" charset="0"/>
                  </a:rPr>
                  <a:t>𝛾</a:t>
                </a:r>
                <a:r>
                  <a:rPr lang="en-US" altLang="zh-CN" i="0" dirty="0">
                    <a:latin typeface="Cambria Math" panose="02040503050406030204" pitchFamily="18" charset="0"/>
                    <a:ea typeface="Cambria Math" panose="02040503050406030204" pitchFamily="18" charset="0"/>
                  </a:rPr>
                  <a:t>=</a:t>
                </a:r>
                <a:r>
                  <a:rPr lang="en-US" altLang="zh-CN" b="0" i="0" dirty="0" smtClean="0">
                    <a:latin typeface="Cambria Math" panose="02040503050406030204" pitchFamily="18" charset="0"/>
                    <a:ea typeface="Cambria Math" panose="02040503050406030204" pitchFamily="18" charset="0"/>
                  </a:rPr>
                  <a:t>0</a:t>
                </a:r>
                <a:r>
                  <a:rPr lang="zh-CN" altLang="en-US" dirty="0" smtClean="0"/>
                  <a:t>时焦点损失函数曲线退化成原来的交叉熵损失曲线。</a:t>
                </a: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64593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9.jp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8.jpg"/></Relationships>
</file>

<file path=ppt/slides/_rels/slide2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22.jp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32.jpg"/></Relationships>
</file>

<file path=ppt/slides/_rels/slide4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34.jpg"/></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课件：两</a:t>
            </a:r>
            <a:r>
              <a:rPr lang="zh-CN" altLang="en-US" dirty="0" smtClean="0"/>
              <a:t>阶段检测算法</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了解几种两阶段检测算法的原理</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了解检测算法的改进方法</a:t>
            </a: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两阶段检测算法</a:t>
            </a:r>
          </a:p>
          <a:p>
            <a:pPr lvl="1">
              <a:buFont typeface="+mj-lt"/>
              <a:buAutoNum type="arabicPeriod"/>
            </a:pPr>
            <a:r>
              <a:rPr lang="en-US" altLang="zh-CN" dirty="0" smtClean="0"/>
              <a:t>R-CNN</a:t>
            </a:r>
          </a:p>
          <a:p>
            <a:pPr lvl="1">
              <a:buFont typeface="+mj-lt"/>
              <a:buAutoNum type="arabicPeriod"/>
            </a:pPr>
            <a:r>
              <a:rPr lang="en-US" altLang="zh-CN" dirty="0" smtClean="0"/>
              <a:t>SPP-Net</a:t>
            </a:r>
          </a:p>
          <a:p>
            <a:pPr lvl="1">
              <a:buFont typeface="+mj-lt"/>
              <a:buAutoNum type="arabicPeriod"/>
            </a:pPr>
            <a:r>
              <a:rPr lang="en-US" altLang="zh-CN" dirty="0" smtClean="0"/>
              <a:t>Fast R-CNN</a:t>
            </a:r>
          </a:p>
          <a:p>
            <a:pPr lvl="1">
              <a:buFont typeface="+mj-lt"/>
              <a:buAutoNum type="arabicPeriod"/>
            </a:pPr>
            <a:r>
              <a:rPr lang="en-US" altLang="zh-CN" dirty="0" smtClean="0"/>
              <a:t>Faster R-CNN</a:t>
            </a:r>
          </a:p>
          <a:p>
            <a:pPr>
              <a:lnSpc>
                <a:spcPct val="125000"/>
              </a:lnSpc>
              <a:buFont typeface="+mj-lt"/>
              <a:buAutoNum type="arabicPeriod"/>
            </a:pPr>
            <a:r>
              <a:rPr lang="zh-CN" altLang="en-US" dirty="0" smtClean="0"/>
              <a:t>检测算法的进一步改进</a:t>
            </a:r>
            <a:endParaRPr lang="en-US" altLang="zh-CN" dirty="0" smtClean="0"/>
          </a:p>
          <a:p>
            <a:pPr lvl="1">
              <a:buFont typeface="+mj-lt"/>
              <a:buAutoNum type="arabicPeriod"/>
            </a:pPr>
            <a:r>
              <a:rPr lang="zh-CN" altLang="en-US" dirty="0" smtClean="0"/>
              <a:t>特征金字塔</a:t>
            </a:r>
            <a:endParaRPr lang="en-US" altLang="zh-CN" dirty="0" smtClean="0"/>
          </a:p>
          <a:p>
            <a:pPr lvl="1">
              <a:buFont typeface="+mj-lt"/>
              <a:buAutoNum type="arabicPeriod"/>
            </a:pPr>
            <a:r>
              <a:rPr lang="zh-CN" altLang="en-US" dirty="0" smtClean="0"/>
              <a:t>焦点损失函数</a:t>
            </a: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a:t>两</a:t>
            </a:r>
            <a:r>
              <a:rPr lang="zh-CN" altLang="en-US" dirty="0" smtClean="0"/>
              <a:t>阶段检测算法</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目标检测算法</a:t>
            </a:r>
            <a:endParaRPr lang="zh-CN" altLang="en-US" dirty="0"/>
          </a:p>
        </p:txBody>
      </p:sp>
      <p:sp>
        <p:nvSpPr>
          <p:cNvPr id="3" name="内容占位符 2"/>
          <p:cNvSpPr>
            <a:spLocks noGrp="1"/>
          </p:cNvSpPr>
          <p:nvPr>
            <p:ph sz="quarter" idx="13"/>
          </p:nvPr>
        </p:nvSpPr>
        <p:spPr/>
        <p:txBody>
          <a:bodyPr/>
          <a:lstStyle/>
          <a:p>
            <a:r>
              <a:rPr lang="zh-CN" altLang="en-US" dirty="0" smtClean="0"/>
              <a:t>目标检测算法根据算法处理的流程划分为两阶段算法和一阶段算法：</a:t>
            </a:r>
            <a:endParaRPr lang="en-US" altLang="zh-CN" dirty="0" smtClean="0"/>
          </a:p>
          <a:p>
            <a:r>
              <a:rPr lang="zh-CN" altLang="en-US" dirty="0" smtClean="0"/>
              <a:t>两阶段检测算法（候选框筛选</a:t>
            </a:r>
            <a:r>
              <a:rPr lang="en-US" altLang="zh-CN" dirty="0" smtClean="0"/>
              <a:t>+</a:t>
            </a:r>
            <a:r>
              <a:rPr lang="zh-CN" altLang="en-US" dirty="0" smtClean="0"/>
              <a:t>判断候选框内容）</a:t>
            </a:r>
            <a:endParaRPr lang="en-US" altLang="zh-CN" dirty="0" smtClean="0"/>
          </a:p>
          <a:p>
            <a:pPr lvl="1"/>
            <a:r>
              <a:rPr lang="en-US" altLang="zh-CN" dirty="0" smtClean="0"/>
              <a:t>R-CNN</a:t>
            </a:r>
          </a:p>
          <a:p>
            <a:pPr lvl="1"/>
            <a:r>
              <a:rPr lang="en-US" altLang="zh-CN" dirty="0" smtClean="0"/>
              <a:t>SPP-Net</a:t>
            </a:r>
          </a:p>
          <a:p>
            <a:pPr lvl="1"/>
            <a:r>
              <a:rPr lang="en-US" altLang="zh-CN" dirty="0" smtClean="0"/>
              <a:t>Fast R-CNN</a:t>
            </a:r>
          </a:p>
          <a:p>
            <a:pPr lvl="1"/>
            <a:r>
              <a:rPr lang="en-US" altLang="zh-CN" dirty="0" smtClean="0"/>
              <a:t>Faster R-CNN</a:t>
            </a:r>
          </a:p>
          <a:p>
            <a:r>
              <a:rPr lang="zh-CN" altLang="en-US" dirty="0"/>
              <a:t>一</a:t>
            </a:r>
            <a:r>
              <a:rPr lang="zh-CN" altLang="en-US" dirty="0" smtClean="0"/>
              <a:t>阶段检测算法（直接回归目标框位置与分类概率）</a:t>
            </a:r>
            <a:endParaRPr lang="en-US" altLang="zh-CN" dirty="0" smtClean="0"/>
          </a:p>
          <a:p>
            <a:pPr lvl="1"/>
            <a:r>
              <a:rPr lang="en-US" altLang="zh-CN" dirty="0" smtClean="0"/>
              <a:t>YOLO</a:t>
            </a:r>
          </a:p>
          <a:p>
            <a:pPr lvl="1"/>
            <a:r>
              <a:rPr lang="en-US" altLang="zh-CN" dirty="0" smtClean="0"/>
              <a:t>SSD</a:t>
            </a:r>
          </a:p>
          <a:p>
            <a:pPr lvl="1"/>
            <a:r>
              <a:rPr lang="en-US" altLang="zh-CN" dirty="0"/>
              <a:t>FCOS</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5777" y="1562986"/>
            <a:ext cx="5074711" cy="4574288"/>
          </a:xfrm>
          <a:prstGeom prst="rect">
            <a:avLst/>
          </a:prstGeom>
        </p:spPr>
      </p:pic>
    </p:spTree>
    <p:extLst>
      <p:ext uri="{BB962C8B-B14F-4D97-AF65-F5344CB8AC3E}">
        <p14:creationId xmlns:p14="http://schemas.microsoft.com/office/powerpoint/2010/main" val="4138961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两阶段检测算法</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生成候选区域：</a:t>
            </a:r>
            <a:endParaRPr lang="en-US" altLang="zh-CN" dirty="0" smtClean="0"/>
          </a:p>
          <a:p>
            <a:pPr lvl="1"/>
            <a:r>
              <a:rPr lang="zh-CN" altLang="en-US" dirty="0" smtClean="0"/>
              <a:t>滑动窗口法（传统方法）</a:t>
            </a:r>
            <a:endParaRPr lang="en-US" altLang="zh-CN" dirty="0" smtClean="0"/>
          </a:p>
          <a:p>
            <a:pPr lvl="1"/>
            <a:r>
              <a:rPr lang="zh-CN" altLang="en-US" dirty="0" smtClean="0"/>
              <a:t>选择性搜索算法（</a:t>
            </a:r>
            <a:r>
              <a:rPr lang="en-US" altLang="zh-CN" dirty="0" smtClean="0"/>
              <a:t>R-CNN</a:t>
            </a:r>
            <a:r>
              <a:rPr lang="zh-CN" altLang="en-US" dirty="0" smtClean="0"/>
              <a:t>、</a:t>
            </a:r>
            <a:r>
              <a:rPr lang="en-US" altLang="zh-CN" dirty="0" smtClean="0"/>
              <a:t>SPP-Net</a:t>
            </a:r>
            <a:r>
              <a:rPr lang="zh-CN" altLang="en-US" dirty="0" smtClean="0"/>
              <a:t>、</a:t>
            </a:r>
            <a:r>
              <a:rPr lang="en-US" altLang="zh-CN" dirty="0" smtClean="0"/>
              <a:t>Fast R-CNN</a:t>
            </a:r>
            <a:r>
              <a:rPr lang="zh-CN" altLang="en-US" dirty="0" smtClean="0"/>
              <a:t>）</a:t>
            </a:r>
            <a:endParaRPr lang="en-US" altLang="zh-CN" dirty="0" smtClean="0"/>
          </a:p>
          <a:p>
            <a:pPr lvl="1"/>
            <a:r>
              <a:rPr lang="zh-CN" altLang="en-US" dirty="0" smtClean="0"/>
              <a:t>候选框提取网络（</a:t>
            </a:r>
            <a:r>
              <a:rPr lang="en-US" altLang="zh-CN" dirty="0" smtClean="0"/>
              <a:t>Faster R-CNN</a:t>
            </a:r>
            <a:r>
              <a:rPr lang="zh-CN" altLang="en-US" dirty="0" smtClean="0"/>
              <a:t>）</a:t>
            </a:r>
            <a:endParaRPr lang="en-US" altLang="zh-CN" dirty="0" smtClean="0"/>
          </a:p>
          <a:p>
            <a:pPr marL="342900" indent="-342900">
              <a:buFont typeface="+mj-lt"/>
              <a:buAutoNum type="arabicPeriod"/>
            </a:pPr>
            <a:r>
              <a:rPr lang="zh-CN" altLang="en-US" dirty="0" smtClean="0"/>
              <a:t>类别判定</a:t>
            </a:r>
            <a:endParaRPr lang="en-US" altLang="zh-CN" dirty="0" smtClean="0"/>
          </a:p>
          <a:p>
            <a:pPr lvl="1"/>
            <a:r>
              <a:rPr lang="zh-CN" altLang="en-US" dirty="0" smtClean="0"/>
              <a:t>手工提取特征</a:t>
            </a:r>
            <a:r>
              <a:rPr lang="en-US" altLang="zh-CN" dirty="0" smtClean="0"/>
              <a:t>+</a:t>
            </a:r>
            <a:r>
              <a:rPr lang="zh-CN" altLang="en-US" dirty="0" smtClean="0"/>
              <a:t>分类器（传统方法）</a:t>
            </a:r>
            <a:endParaRPr lang="en-US" altLang="zh-CN" dirty="0" smtClean="0"/>
          </a:p>
          <a:p>
            <a:pPr lvl="1"/>
            <a:r>
              <a:rPr lang="zh-CN" altLang="en-US" dirty="0" smtClean="0"/>
              <a:t>卷积神经网络提取特征</a:t>
            </a:r>
            <a:r>
              <a:rPr lang="en-US" altLang="zh-CN" dirty="0" smtClean="0"/>
              <a:t>+</a:t>
            </a:r>
            <a:r>
              <a:rPr lang="zh-CN" altLang="en-US" dirty="0" smtClean="0"/>
              <a:t>分类器（深度学习方法）</a:t>
            </a:r>
            <a:endParaRPr lang="en-US" altLang="zh-CN" dirty="0" smtClean="0"/>
          </a:p>
          <a:p>
            <a:pPr lvl="1"/>
            <a:r>
              <a:rPr lang="zh-CN" altLang="en-US" dirty="0" smtClean="0"/>
              <a:t>位置修正（深度学习方法）</a:t>
            </a:r>
            <a:endParaRPr lang="en-US" altLang="zh-CN" dirty="0" smtClean="0"/>
          </a:p>
        </p:txBody>
      </p:sp>
    </p:spTree>
    <p:extLst>
      <p:ext uri="{BB962C8B-B14F-4D97-AF65-F5344CB8AC3E}">
        <p14:creationId xmlns:p14="http://schemas.microsoft.com/office/powerpoint/2010/main" val="2982591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endParaRPr lang="zh-CN" altLang="en-US" dirty="0"/>
          </a:p>
        </p:txBody>
      </p:sp>
      <p:sp>
        <p:nvSpPr>
          <p:cNvPr id="3" name="内容占位符 2"/>
          <p:cNvSpPr>
            <a:spLocks noGrp="1"/>
          </p:cNvSpPr>
          <p:nvPr>
            <p:ph sz="quarter" idx="13"/>
          </p:nvPr>
        </p:nvSpPr>
        <p:spPr/>
        <p:txBody>
          <a:bodyPr/>
          <a:lstStyle/>
          <a:p>
            <a:r>
              <a:rPr lang="en-US" altLang="zh-CN" dirty="0" smtClean="0"/>
              <a:t>R-CNN</a:t>
            </a:r>
            <a:r>
              <a:rPr lang="zh-CN" altLang="en-US" dirty="0" smtClean="0"/>
              <a:t>步骤：</a:t>
            </a:r>
            <a:endParaRPr lang="en-US" altLang="zh-CN" dirty="0"/>
          </a:p>
          <a:p>
            <a:pPr lvl="1"/>
            <a:r>
              <a:rPr lang="zh-CN" altLang="en-US" dirty="0" smtClean="0"/>
              <a:t>生成候选区域：选择性搜索算法</a:t>
            </a:r>
            <a:endParaRPr lang="en-US" altLang="zh-CN" dirty="0" smtClean="0"/>
          </a:p>
          <a:p>
            <a:pPr lvl="1"/>
            <a:r>
              <a:rPr lang="zh-CN" altLang="en-US" dirty="0" smtClean="0"/>
              <a:t>类别判定：</a:t>
            </a:r>
            <a:endParaRPr lang="en-US" altLang="zh-CN" dirty="0" smtClean="0"/>
          </a:p>
          <a:p>
            <a:pPr lvl="2"/>
            <a:r>
              <a:rPr lang="zh-CN" altLang="en-US" dirty="0" smtClean="0"/>
              <a:t>特征提取器：</a:t>
            </a:r>
            <a:r>
              <a:rPr lang="en-US" altLang="zh-CN" dirty="0" smtClean="0"/>
              <a:t>CNN</a:t>
            </a:r>
            <a:r>
              <a:rPr lang="zh-CN" altLang="en-US" dirty="0" smtClean="0"/>
              <a:t>提取特征（</a:t>
            </a:r>
            <a:r>
              <a:rPr lang="en-US" altLang="zh-CN" dirty="0" err="1" smtClean="0"/>
              <a:t>AlexNet</a:t>
            </a:r>
            <a:r>
              <a:rPr lang="zh-CN" altLang="en-US" dirty="0" smtClean="0"/>
              <a:t>）</a:t>
            </a:r>
            <a:endParaRPr lang="en-US" altLang="zh-CN" dirty="0" smtClean="0"/>
          </a:p>
          <a:p>
            <a:pPr lvl="2"/>
            <a:r>
              <a:rPr lang="zh-CN" altLang="en-US" dirty="0" smtClean="0"/>
              <a:t>分类器设计：</a:t>
            </a:r>
            <a:r>
              <a:rPr lang="en-US" altLang="zh-CN" dirty="0" smtClean="0"/>
              <a:t>SVM</a:t>
            </a:r>
            <a:r>
              <a:rPr lang="zh-CN" altLang="en-US" dirty="0" smtClean="0"/>
              <a:t>分类器</a:t>
            </a:r>
            <a:endParaRPr lang="en-US" altLang="zh-CN" dirty="0" smtClean="0"/>
          </a:p>
          <a:p>
            <a:pPr lvl="1"/>
            <a:r>
              <a:rPr lang="zh-CN" altLang="en-US" dirty="0" smtClean="0"/>
              <a:t>位置修正</a:t>
            </a:r>
            <a:endParaRPr lang="en-US" altLang="zh-CN" dirty="0" smtClean="0"/>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1660" y="3481977"/>
            <a:ext cx="8567092" cy="2655297"/>
          </a:xfrm>
          <a:prstGeom prst="rect">
            <a:avLst/>
          </a:prstGeom>
        </p:spPr>
      </p:pic>
    </p:spTree>
    <p:extLst>
      <p:ext uri="{BB962C8B-B14F-4D97-AF65-F5344CB8AC3E}">
        <p14:creationId xmlns:p14="http://schemas.microsoft.com/office/powerpoint/2010/main" val="3971613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endParaRPr lang="zh-CN" altLang="en-US" dirty="0"/>
          </a:p>
        </p:txBody>
      </p:sp>
      <p:sp>
        <p:nvSpPr>
          <p:cNvPr id="3" name="内容占位符 2"/>
          <p:cNvSpPr>
            <a:spLocks noGrp="1"/>
          </p:cNvSpPr>
          <p:nvPr>
            <p:ph sz="quarter" idx="13"/>
          </p:nvPr>
        </p:nvSpPr>
        <p:spPr/>
        <p:txBody>
          <a:bodyPr/>
          <a:lstStyle/>
          <a:p>
            <a:r>
              <a:rPr lang="zh-CN" altLang="en-US" dirty="0" smtClean="0"/>
              <a:t>特征提取器：</a:t>
            </a:r>
            <a:r>
              <a:rPr lang="en-US" altLang="zh-CN" dirty="0" err="1" smtClean="0"/>
              <a:t>AlexNet</a:t>
            </a:r>
            <a:endParaRPr lang="en-US" altLang="zh-CN" dirty="0" smtClean="0"/>
          </a:p>
          <a:p>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8450" y="1785072"/>
            <a:ext cx="9053512" cy="4352202"/>
          </a:xfrm>
          <a:prstGeom prst="rect">
            <a:avLst/>
          </a:prstGeom>
        </p:spPr>
      </p:pic>
    </p:spTree>
    <p:extLst>
      <p:ext uri="{BB962C8B-B14F-4D97-AF65-F5344CB8AC3E}">
        <p14:creationId xmlns:p14="http://schemas.microsoft.com/office/powerpoint/2010/main" val="1210818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endParaRPr lang="zh-CN" altLang="en-US" dirty="0"/>
          </a:p>
        </p:txBody>
      </p:sp>
      <p:sp>
        <p:nvSpPr>
          <p:cNvPr id="3" name="内容占位符 2"/>
          <p:cNvSpPr>
            <a:spLocks noGrp="1"/>
          </p:cNvSpPr>
          <p:nvPr>
            <p:ph sz="quarter" idx="13"/>
          </p:nvPr>
        </p:nvSpPr>
        <p:spPr/>
        <p:txBody>
          <a:bodyPr/>
          <a:lstStyle/>
          <a:p>
            <a:r>
              <a:rPr lang="zh-CN" altLang="en-US" dirty="0" smtClean="0"/>
              <a:t>分类器：</a:t>
            </a:r>
            <a:r>
              <a:rPr lang="en-US" altLang="zh-CN" dirty="0" smtClean="0"/>
              <a:t>SVM</a:t>
            </a:r>
            <a:r>
              <a:rPr lang="zh-CN" altLang="en-US" dirty="0" smtClean="0"/>
              <a:t>分类器</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587" y="1794417"/>
            <a:ext cx="6095238" cy="4342857"/>
          </a:xfrm>
          <a:prstGeom prst="rect">
            <a:avLst/>
          </a:prstGeom>
        </p:spPr>
      </p:pic>
    </p:spTree>
    <p:extLst>
      <p:ext uri="{BB962C8B-B14F-4D97-AF65-F5344CB8AC3E}">
        <p14:creationId xmlns:p14="http://schemas.microsoft.com/office/powerpoint/2010/main" val="27788737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位置修正</a:t>
                </a:r>
                <a:endParaRPr lang="en-US" altLang="zh-CN" dirty="0" smtClean="0"/>
              </a:p>
              <a:p>
                <a:r>
                  <a:rPr lang="zh-CN" altLang="en-US" dirty="0" smtClean="0"/>
                  <a:t>目标框准确位置：</a:t>
                </a:r>
                <a:r>
                  <a:rPr lang="en-US" altLang="zh-CN" dirty="0" smtClean="0"/>
                  <a:t>G(</a:t>
                </a:r>
                <a:r>
                  <a:rPr lang="en-US" altLang="zh-CN" dirty="0" err="1" smtClean="0"/>
                  <a:t>G</a:t>
                </a:r>
                <a:r>
                  <a:rPr lang="en-US" altLang="zh-CN" baseline="-25000" dirty="0" err="1" smtClean="0"/>
                  <a:t>x</a:t>
                </a:r>
                <a:r>
                  <a:rPr lang="en-US" altLang="zh-CN" dirty="0" err="1" smtClean="0"/>
                  <a:t>,G</a:t>
                </a:r>
                <a:r>
                  <a:rPr lang="en-US" altLang="zh-CN" baseline="-25000" dirty="0" err="1" smtClean="0"/>
                  <a:t>y</a:t>
                </a:r>
                <a:r>
                  <a:rPr lang="en-US" altLang="zh-CN" dirty="0" err="1" smtClean="0"/>
                  <a:t>,G</a:t>
                </a:r>
                <a:r>
                  <a:rPr lang="en-US" altLang="zh-CN" baseline="-25000" dirty="0" err="1" smtClean="0"/>
                  <a:t>w</a:t>
                </a:r>
                <a:r>
                  <a:rPr lang="en-US" altLang="zh-CN" dirty="0" err="1" smtClean="0"/>
                  <a:t>,G</a:t>
                </a:r>
                <a:r>
                  <a:rPr lang="en-US" altLang="zh-CN" baseline="-25000" dirty="0" err="1" smtClean="0"/>
                  <a:t>h</a:t>
                </a:r>
                <a:r>
                  <a:rPr lang="en-US" altLang="zh-CN" dirty="0" smtClean="0"/>
                  <a:t>)</a:t>
                </a:r>
              </a:p>
              <a:p>
                <a:r>
                  <a:rPr lang="zh-CN" altLang="en-US" dirty="0" smtClean="0"/>
                  <a:t>回归得到预测框位置：</a:t>
                </a:r>
                <a:r>
                  <a:rPr lang="en-US" altLang="zh-CN" dirty="0"/>
                  <a:t>Ĝ (</a:t>
                </a:r>
                <a:r>
                  <a:rPr lang="en-US" altLang="zh-CN" dirty="0" err="1"/>
                  <a:t>Ĝ</a:t>
                </a:r>
                <a:r>
                  <a:rPr lang="en-US" altLang="zh-CN" baseline="-25000" dirty="0" err="1"/>
                  <a:t>x</a:t>
                </a:r>
                <a:r>
                  <a:rPr lang="en-US" altLang="zh-CN" dirty="0"/>
                  <a:t>, </a:t>
                </a:r>
                <a:r>
                  <a:rPr lang="en-US" altLang="zh-CN" dirty="0" err="1"/>
                  <a:t>Ĝ</a:t>
                </a:r>
                <a:r>
                  <a:rPr lang="en-US" altLang="zh-CN" baseline="-25000" dirty="0" err="1"/>
                  <a:t>y</a:t>
                </a:r>
                <a:r>
                  <a:rPr lang="en-US" altLang="zh-CN" dirty="0"/>
                  <a:t>, </a:t>
                </a:r>
                <a:r>
                  <a:rPr lang="en-US" altLang="zh-CN" dirty="0" err="1"/>
                  <a:t>Ĝ</a:t>
                </a:r>
                <a:r>
                  <a:rPr lang="en-US" altLang="zh-CN" baseline="-25000" dirty="0" err="1"/>
                  <a:t>w</a:t>
                </a:r>
                <a:r>
                  <a:rPr lang="en-US" altLang="zh-CN" dirty="0"/>
                  <a:t>, </a:t>
                </a:r>
                <a:r>
                  <a:rPr lang="en-US" altLang="zh-CN" dirty="0" err="1"/>
                  <a:t>Ĝ</a:t>
                </a:r>
                <a:r>
                  <a:rPr lang="en-US" altLang="zh-CN" baseline="-25000" dirty="0" err="1"/>
                  <a:t>h</a:t>
                </a:r>
                <a:r>
                  <a:rPr lang="en-US" altLang="zh-CN" dirty="0" smtClean="0"/>
                  <a:t>)</a:t>
                </a:r>
              </a:p>
              <a:p>
                <a:r>
                  <a:rPr lang="zh-CN" altLang="en-US" dirty="0" smtClean="0"/>
                  <a:t>原始候选框位置：</a:t>
                </a:r>
                <a:r>
                  <a:rPr lang="en-US" altLang="zh-CN" dirty="0" smtClean="0"/>
                  <a:t>P(</a:t>
                </a:r>
                <a:r>
                  <a:rPr lang="en-US" altLang="zh-CN" dirty="0" err="1"/>
                  <a:t>P</a:t>
                </a:r>
                <a:r>
                  <a:rPr lang="en-US" altLang="zh-CN" baseline="-25000" dirty="0" err="1"/>
                  <a:t>x</a:t>
                </a:r>
                <a:r>
                  <a:rPr lang="en-US" altLang="zh-CN" dirty="0" err="1"/>
                  <a:t>,P</a:t>
                </a:r>
                <a:r>
                  <a:rPr lang="en-US" altLang="zh-CN" baseline="-25000" dirty="0" err="1"/>
                  <a:t>y</a:t>
                </a:r>
                <a:r>
                  <a:rPr lang="en-US" altLang="zh-CN" dirty="0" err="1"/>
                  <a:t>,P</a:t>
                </a:r>
                <a:r>
                  <a:rPr lang="en-US" altLang="zh-CN" baseline="-25000" dirty="0" err="1"/>
                  <a:t>w</a:t>
                </a:r>
                <a:r>
                  <a:rPr lang="en-US" altLang="zh-CN" dirty="0" err="1"/>
                  <a:t>,P</a:t>
                </a:r>
                <a:r>
                  <a:rPr lang="en-US" altLang="zh-CN" baseline="-25000" dirty="0" err="1"/>
                  <a:t>h</a:t>
                </a:r>
                <a:r>
                  <a:rPr lang="en-US" altLang="zh-CN" dirty="0" smtClean="0"/>
                  <a:t>)</a:t>
                </a:r>
              </a:p>
              <a:p>
                <a14:m>
                  <m:oMath xmlns:m="http://schemas.openxmlformats.org/officeDocument/2006/math">
                    <m:r>
                      <m:rPr>
                        <m:sty m:val="p"/>
                      </m:rPr>
                      <a:rPr lang="en-US" altLang="zh-CN" i="1" dirty="0">
                        <a:latin typeface="Cambria Math" panose="02040503050406030204" pitchFamily="18" charset="0"/>
                      </a:rPr>
                      <m:t>g</m:t>
                    </m:r>
                    <m:r>
                      <a:rPr lang="en-US" altLang="zh-CN" b="0" i="1" baseline="-25000" dirty="0" smtClean="0">
                        <a:latin typeface="Cambria Math" panose="02040503050406030204" pitchFamily="18" charset="0"/>
                      </a:rPr>
                      <m:t>𝑥</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𝐺</m:t>
                        </m:r>
                        <m:r>
                          <a:rPr lang="en-US" altLang="zh-CN" i="1" baseline="-25000" dirty="0">
                            <a:latin typeface="Cambria Math" panose="02040503050406030204" pitchFamily="18" charset="0"/>
                          </a:rPr>
                          <m:t>𝑥</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𝑃𝑥</m:t>
                        </m:r>
                      </m:num>
                      <m:den>
                        <m:r>
                          <a:rPr lang="en-US" altLang="zh-CN" b="0" i="1" dirty="0" smtClean="0">
                            <a:latin typeface="Cambria Math" panose="02040503050406030204" pitchFamily="18" charset="0"/>
                          </a:rPr>
                          <m:t>𝑃</m:t>
                        </m:r>
                        <m:r>
                          <a:rPr lang="en-US" altLang="zh-CN" b="0" i="1" baseline="-25000" dirty="0" smtClean="0">
                            <a:latin typeface="Cambria Math" panose="02040503050406030204" pitchFamily="18" charset="0"/>
                          </a:rPr>
                          <m:t>𝑤</m:t>
                        </m:r>
                      </m:den>
                    </m:f>
                  </m:oMath>
                </a14:m>
                <a:r>
                  <a:rPr lang="en-US" altLang="zh-CN" baseline="-25000" dirty="0" smtClean="0"/>
                  <a:t> </a:t>
                </a:r>
                <a:r>
                  <a:rPr lang="en-US" altLang="zh-CN" dirty="0" smtClean="0"/>
                  <a:t> , </a:t>
                </a:r>
                <a14:m>
                  <m:oMath xmlns:m="http://schemas.openxmlformats.org/officeDocument/2006/math">
                    <m:r>
                      <a:rPr lang="en-US" altLang="zh-CN" i="1" dirty="0" smtClean="0">
                        <a:latin typeface="Cambria Math" panose="02040503050406030204" pitchFamily="18" charset="0"/>
                      </a:rPr>
                      <m:t>ĝ</m:t>
                    </m:r>
                    <m:r>
                      <a:rPr lang="en-US" altLang="zh-CN" i="1" baseline="-25000" dirty="0">
                        <a:latin typeface="Cambria Math" panose="02040503050406030204" pitchFamily="18" charset="0"/>
                      </a:rPr>
                      <m:t>𝑥</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i="1" baseline="-25000" dirty="0">
                            <a:latin typeface="Cambria Math" panose="02040503050406030204" pitchFamily="18" charset="0"/>
                          </a:rPr>
                          <m:t>𝑥</m:t>
                        </m:r>
                        <m:r>
                          <a:rPr lang="en-US" altLang="zh-CN" i="1" dirty="0">
                            <a:latin typeface="Cambria Math" panose="02040503050406030204" pitchFamily="18" charset="0"/>
                          </a:rPr>
                          <m:t>−</m:t>
                        </m:r>
                        <m:r>
                          <a:rPr lang="en-US" altLang="zh-CN" i="1" dirty="0">
                            <a:latin typeface="Cambria Math" panose="02040503050406030204" pitchFamily="18" charset="0"/>
                          </a:rPr>
                          <m:t>𝑃𝑥</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den>
                    </m:f>
                    <m:r>
                      <a:rPr lang="zh-CN" altLang="en-US" i="1" baseline="-25000" dirty="0" smtClean="0">
                        <a:latin typeface="Cambria Math" panose="02040503050406030204" pitchFamily="18" charset="0"/>
                      </a:rPr>
                      <m:t>，</m:t>
                    </m:r>
                  </m:oMath>
                </a14:m>
                <a:r>
                  <a:rPr lang="en-US" altLang="zh-CN" dirty="0" smtClean="0"/>
                  <a:t>                                       Ĝ</a:t>
                </a:r>
                <a:r>
                  <a:rPr lang="en-US" altLang="zh-CN" baseline="-25000" dirty="0" smtClean="0"/>
                  <a:t>x </a:t>
                </a:r>
                <a14:m>
                  <m:oMath xmlns:m="http://schemas.openxmlformats.org/officeDocument/2006/math">
                    <m:r>
                      <a:rPr lang="en-US" altLang="zh-CN" i="1" dirty="0">
                        <a:latin typeface="Cambria Math" panose="02040503050406030204" pitchFamily="18" charset="0"/>
                      </a:rPr>
                      <m:t>=</m:t>
                    </m:r>
                  </m:oMath>
                </a14:m>
                <a:r>
                  <a:rPr lang="en-US" altLang="zh-CN" baseline="-25000" dirty="0" smtClean="0"/>
                  <a:t> </a:t>
                </a:r>
                <a14:m>
                  <m:oMath xmlns:m="http://schemas.openxmlformats.org/officeDocument/2006/math">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r>
                      <a:rPr lang="en-US" altLang="zh-CN" i="1" dirty="0">
                        <a:latin typeface="Cambria Math" panose="02040503050406030204" pitchFamily="18" charset="0"/>
                      </a:rPr>
                      <m:t>ĝ</m:t>
                    </m:r>
                    <m:r>
                      <a:rPr lang="en-US" altLang="zh-CN" i="1" baseline="-25000" dirty="0">
                        <a:latin typeface="Cambria Math" panose="02040503050406030204" pitchFamily="18" charset="0"/>
                      </a:rPr>
                      <m:t>𝑥</m:t>
                    </m:r>
                  </m:oMath>
                </a14:m>
                <a:r>
                  <a:rPr lang="en-US" altLang="zh-CN" dirty="0" smtClean="0"/>
                  <a:t>+</a:t>
                </a:r>
                <a14:m>
                  <m:oMath xmlns:m="http://schemas.openxmlformats.org/officeDocument/2006/math">
                    <m:r>
                      <a:rPr lang="en-US" altLang="zh-CN" i="1" dirty="0">
                        <a:latin typeface="Cambria Math" panose="02040503050406030204" pitchFamily="18" charset="0"/>
                      </a:rPr>
                      <m:t>𝑃</m:t>
                    </m:r>
                    <m:r>
                      <a:rPr lang="en-US" altLang="zh-CN" i="1" baseline="-25000" dirty="0">
                        <a:latin typeface="Cambria Math" panose="02040503050406030204" pitchFamily="18" charset="0"/>
                      </a:rPr>
                      <m:t>𝑥</m:t>
                    </m:r>
                  </m:oMath>
                </a14:m>
                <a:endParaRPr lang="en-US" altLang="zh-CN" dirty="0" smtClean="0"/>
              </a:p>
              <a:p>
                <a14:m>
                  <m:oMath xmlns:m="http://schemas.openxmlformats.org/officeDocument/2006/math">
                    <m:r>
                      <m:rPr>
                        <m:sty m:val="p"/>
                      </m:rPr>
                      <a:rPr lang="en-US" altLang="zh-CN" i="1" dirty="0" smtClean="0">
                        <a:latin typeface="Cambria Math" panose="02040503050406030204" pitchFamily="18" charset="0"/>
                      </a:rPr>
                      <m:t>g</m:t>
                    </m:r>
                    <m:r>
                      <a:rPr lang="en-US" altLang="zh-CN" b="0" i="1" baseline="-25000" dirty="0" smtClean="0">
                        <a:latin typeface="Cambria Math" panose="02040503050406030204" pitchFamily="18" charset="0"/>
                      </a:rPr>
                      <m:t>𝑦</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𝐺</m:t>
                        </m:r>
                        <m:r>
                          <a:rPr lang="en-US" altLang="zh-CN" b="0" i="1" baseline="-25000" dirty="0" smtClean="0">
                            <a:latin typeface="Cambria Math" panose="02040503050406030204" pitchFamily="18" charset="0"/>
                          </a:rPr>
                          <m:t>𝑦</m:t>
                        </m:r>
                        <m:r>
                          <a:rPr lang="en-US" altLang="zh-CN" i="1" dirty="0">
                            <a:latin typeface="Cambria Math" panose="02040503050406030204" pitchFamily="18" charset="0"/>
                          </a:rPr>
                          <m:t>−</m:t>
                        </m:r>
                        <m:r>
                          <a:rPr lang="en-US" altLang="zh-CN" i="1" dirty="0">
                            <a:latin typeface="Cambria Math" panose="02040503050406030204" pitchFamily="18" charset="0"/>
                          </a:rPr>
                          <m:t>𝑃𝑦</m:t>
                        </m:r>
                      </m:num>
                      <m:den>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h</m:t>
                        </m:r>
                      </m:den>
                    </m:f>
                  </m:oMath>
                </a14:m>
                <a:r>
                  <a:rPr lang="en-US" altLang="zh-CN" baseline="-25000" dirty="0"/>
                  <a:t> </a:t>
                </a:r>
                <a:r>
                  <a:rPr lang="en-US" altLang="zh-CN" dirty="0"/>
                  <a:t> , </a:t>
                </a:r>
                <a14:m>
                  <m:oMath xmlns:m="http://schemas.openxmlformats.org/officeDocument/2006/math">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𝑦</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𝑦</m:t>
                        </m:r>
                        <m:r>
                          <a:rPr lang="en-US" altLang="zh-CN" i="1" dirty="0">
                            <a:latin typeface="Cambria Math" panose="02040503050406030204" pitchFamily="18" charset="0"/>
                          </a:rPr>
                          <m:t>−</m:t>
                        </m:r>
                        <m:r>
                          <a:rPr lang="en-US" altLang="zh-CN" i="1" dirty="0">
                            <a:latin typeface="Cambria Math" panose="02040503050406030204" pitchFamily="18" charset="0"/>
                          </a:rPr>
                          <m:t>𝑃𝑦</m:t>
                        </m:r>
                      </m:num>
                      <m:den>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h</m:t>
                        </m:r>
                      </m:den>
                    </m:f>
                    <m:r>
                      <a:rPr lang="zh-CN" altLang="en-US" i="1" baseline="-25000" dirty="0">
                        <a:latin typeface="Cambria Math" panose="02040503050406030204" pitchFamily="18" charset="0"/>
                      </a:rPr>
                      <m:t>，</m:t>
                    </m:r>
                    <m:r>
                      <a:rPr lang="en-US" altLang="zh-CN" b="0" i="1" baseline="-25000" dirty="0" smtClean="0">
                        <a:latin typeface="Cambria Math" panose="02040503050406030204" pitchFamily="18" charset="0"/>
                      </a:rPr>
                      <m:t>                                                                          </m:t>
                    </m:r>
                  </m:oMath>
                </a14:m>
                <a:r>
                  <a:rPr lang="en-US" altLang="zh-CN" dirty="0" smtClean="0"/>
                  <a:t>Ĝ</a:t>
                </a:r>
                <a:r>
                  <a:rPr lang="en-US" altLang="zh-CN" baseline="-25000" dirty="0" smtClean="0"/>
                  <a:t>y </a:t>
                </a:r>
                <a14:m>
                  <m:oMath xmlns:m="http://schemas.openxmlformats.org/officeDocument/2006/math">
                    <m:r>
                      <a:rPr lang="en-US" altLang="zh-CN" i="1" dirty="0">
                        <a:latin typeface="Cambria Math" panose="02040503050406030204" pitchFamily="18" charset="0"/>
                      </a:rPr>
                      <m:t>=</m:t>
                    </m:r>
                  </m:oMath>
                </a14:m>
                <a:r>
                  <a:rPr lang="en-US" altLang="zh-CN" baseline="-25000" dirty="0"/>
                  <a:t> </a:t>
                </a:r>
                <a14:m>
                  <m:oMath xmlns:m="http://schemas.openxmlformats.org/officeDocument/2006/math">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h</m:t>
                    </m:r>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𝑦</m:t>
                    </m:r>
                  </m:oMath>
                </a14:m>
                <a:r>
                  <a:rPr lang="en-US" altLang="zh-CN" dirty="0"/>
                  <a:t>+</a:t>
                </a:r>
                <a14:m>
                  <m:oMath xmlns:m="http://schemas.openxmlformats.org/officeDocument/2006/math">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𝑦</m:t>
                    </m:r>
                  </m:oMath>
                </a14:m>
                <a:endParaRPr lang="en-US" altLang="zh-CN" baseline="-25000" dirty="0" smtClean="0"/>
              </a:p>
              <a:p>
                <a14:m>
                  <m:oMath xmlns:m="http://schemas.openxmlformats.org/officeDocument/2006/math">
                    <m:r>
                      <m:rPr>
                        <m:sty m:val="p"/>
                      </m:rPr>
                      <a:rPr lang="en-US" altLang="zh-CN" i="1" dirty="0" smtClean="0">
                        <a:latin typeface="Cambria Math" panose="02040503050406030204" pitchFamily="18" charset="0"/>
                      </a:rPr>
                      <m:t>g</m:t>
                    </m:r>
                    <m:r>
                      <a:rPr lang="en-US" altLang="zh-CN" b="0" i="1" baseline="-25000" dirty="0" smtClean="0">
                        <a:latin typeface="Cambria Math" panose="02040503050406030204" pitchFamily="18" charset="0"/>
                      </a:rPr>
                      <m:t>𝑤</m:t>
                    </m:r>
                  </m:oMath>
                </a14:m>
                <a:r>
                  <a:rPr lang="en-US" altLang="zh-CN" dirty="0"/>
                  <a:t> </a:t>
                </a:r>
                <a14:m>
                  <m:oMath xmlns:m="http://schemas.openxmlformats.org/officeDocument/2006/math">
                    <m:r>
                      <a:rPr lang="en-US" altLang="zh-CN" i="1" dirty="0">
                        <a:latin typeface="Cambria Math" panose="02040503050406030204" pitchFamily="18" charset="0"/>
                      </a:rPr>
                      <m:t>=</m:t>
                    </m:r>
                    <m:r>
                      <m:rPr>
                        <m:sty m:val="p"/>
                      </m:rPr>
                      <a:rPr lang="en-US" altLang="zh-CN" b="0" i="0" dirty="0" smtClean="0">
                        <a:latin typeface="Cambria Math" panose="02040503050406030204" pitchFamily="18" charset="0"/>
                      </a:rPr>
                      <m:t>log</m:t>
                    </m:r>
                    <m:d>
                      <m:dPr>
                        <m:ctrlPr>
                          <a:rPr lang="en-US" altLang="zh-CN" b="0" i="1" dirty="0" smtClean="0">
                            <a:latin typeface="Cambria Math" panose="02040503050406030204" pitchFamily="18" charset="0"/>
                          </a:rPr>
                        </m:ctrlPr>
                      </m:dPr>
                      <m:e>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𝐺</m:t>
                            </m:r>
                            <m:r>
                              <a:rPr lang="en-US" altLang="zh-CN" b="0" i="1" baseline="-25000" dirty="0" smtClean="0">
                                <a:latin typeface="Cambria Math" panose="02040503050406030204" pitchFamily="18" charset="0"/>
                              </a:rPr>
                              <m:t>𝑤</m:t>
                            </m:r>
                          </m:num>
                          <m:den>
                            <m:r>
                              <a:rPr lang="en-US" altLang="zh-CN" b="0" i="1" dirty="0" smtClean="0">
                                <a:latin typeface="Cambria Math" panose="02040503050406030204" pitchFamily="18" charset="0"/>
                              </a:rPr>
                              <m:t>𝑃</m:t>
                            </m:r>
                            <m:r>
                              <a:rPr lang="en-US" altLang="zh-CN" b="0" i="1" baseline="-25000" dirty="0" smtClean="0">
                                <a:latin typeface="Cambria Math" panose="02040503050406030204" pitchFamily="18" charset="0"/>
                              </a:rPr>
                              <m:t>𝑤</m:t>
                            </m:r>
                          </m:den>
                        </m:f>
                      </m:e>
                    </m:d>
                  </m:oMath>
                </a14:m>
                <a:r>
                  <a:rPr lang="en-US" altLang="zh-CN" dirty="0" smtClean="0"/>
                  <a:t>, </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𝑤</m:t>
                    </m:r>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i="1" baseline="-25000" dirty="0">
                                <a:latin typeface="Cambria Math" panose="02040503050406030204" pitchFamily="18" charset="0"/>
                              </a:rPr>
                              <m:t>𝑤</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den>
                        </m:f>
                      </m:e>
                    </m:d>
                  </m:oMath>
                </a14:m>
                <a:r>
                  <a:rPr lang="zh-CN" altLang="en-US" baseline="-25000" dirty="0"/>
                  <a:t> </a:t>
                </a:r>
                <a14:m>
                  <m:oMath xmlns:m="http://schemas.openxmlformats.org/officeDocument/2006/math">
                    <m:r>
                      <a:rPr lang="zh-CN" altLang="en-US" i="1" baseline="-25000" dirty="0">
                        <a:latin typeface="Cambria Math" panose="02040503050406030204" pitchFamily="18" charset="0"/>
                      </a:rPr>
                      <m:t>，</m:t>
                    </m:r>
                    <m:r>
                      <a:rPr lang="en-US" altLang="zh-CN" b="0" i="1" baseline="-25000" dirty="0" smtClean="0">
                        <a:latin typeface="Cambria Math" panose="02040503050406030204" pitchFamily="18" charset="0"/>
                      </a:rPr>
                      <m:t>                                                          </m:t>
                    </m:r>
                  </m:oMath>
                </a14:m>
                <a:r>
                  <a:rPr lang="en-US" altLang="zh-CN" dirty="0" smtClean="0"/>
                  <a:t>Ĝ</a:t>
                </a:r>
                <a:r>
                  <a:rPr lang="en-US" altLang="zh-CN" baseline="-25000" dirty="0" smtClean="0"/>
                  <a:t>w </a:t>
                </a:r>
                <a14:m>
                  <m:oMath xmlns:m="http://schemas.openxmlformats.org/officeDocument/2006/math">
                    <m:r>
                      <a:rPr lang="en-US" altLang="zh-CN" i="1" dirty="0">
                        <a:latin typeface="Cambria Math" panose="02040503050406030204" pitchFamily="18" charset="0"/>
                      </a:rPr>
                      <m:t>=</m:t>
                    </m:r>
                  </m:oMath>
                </a14:m>
                <a:r>
                  <a:rPr lang="en-US" altLang="zh-CN" baseline="-25000" dirty="0"/>
                  <a:t> </a:t>
                </a:r>
                <a14:m>
                  <m:oMath xmlns:m="http://schemas.openxmlformats.org/officeDocument/2006/math">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𝑤</m:t>
                    </m:r>
                    <m:r>
                      <a:rPr lang="en-US" altLang="zh-CN" b="0" i="1" dirty="0" smtClean="0">
                        <a:latin typeface="Cambria Math" panose="02040503050406030204" pitchFamily="18" charset="0"/>
                      </a:rPr>
                      <m:t>𝑒𝑥𝑝</m:t>
                    </m:r>
                    <m:r>
                      <a:rPr lang="en-US" altLang="zh-CN" b="0" i="1" dirty="0" smtClean="0">
                        <a:latin typeface="Cambria Math" panose="02040503050406030204" pitchFamily="18" charset="0"/>
                      </a:rPr>
                      <m:t>(ĝ</m:t>
                    </m:r>
                    <m:r>
                      <a:rPr lang="en-US" altLang="zh-CN" i="1" baseline="-25000" dirty="0">
                        <a:latin typeface="Cambria Math" panose="02040503050406030204" pitchFamily="18" charset="0"/>
                      </a:rPr>
                      <m:t>𝑤</m:t>
                    </m:r>
                    <m:r>
                      <a:rPr lang="en-US" altLang="zh-CN" b="0" i="1" dirty="0" smtClean="0">
                        <a:latin typeface="Cambria Math" panose="02040503050406030204" pitchFamily="18" charset="0"/>
                      </a:rPr>
                      <m:t>)</m:t>
                    </m:r>
                  </m:oMath>
                </a14:m>
                <a:r>
                  <a:rPr lang="en-US" altLang="zh-CN" baseline="-25000" dirty="0" smtClean="0"/>
                  <a:t> </a:t>
                </a:r>
              </a:p>
              <a:p>
                <a14:m>
                  <m:oMath xmlns:m="http://schemas.openxmlformats.org/officeDocument/2006/math">
                    <m:r>
                      <m:rPr>
                        <m:sty m:val="p"/>
                      </m:rPr>
                      <a:rPr lang="en-US" altLang="zh-CN" i="1" dirty="0" smtClean="0">
                        <a:latin typeface="Cambria Math" panose="02040503050406030204" pitchFamily="18" charset="0"/>
                      </a:rPr>
                      <m:t>g</m:t>
                    </m:r>
                    <m:r>
                      <a:rPr lang="en-US" altLang="zh-CN" b="0" i="1" baseline="-25000" dirty="0" smtClean="0">
                        <a:latin typeface="Cambria Math" panose="02040503050406030204" pitchFamily="18" charset="0"/>
                      </a:rPr>
                      <m:t>h</m:t>
                    </m:r>
                  </m:oMath>
                </a14:m>
                <a:r>
                  <a:rPr lang="en-US" altLang="zh-CN" dirty="0"/>
                  <a:t> </a:t>
                </a:r>
                <a14:m>
                  <m:oMath xmlns:m="http://schemas.openxmlformats.org/officeDocument/2006/math">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𝐺</m:t>
                            </m:r>
                            <m:r>
                              <a:rPr lang="en-US" altLang="zh-CN" b="0" i="1" baseline="-25000" dirty="0" smtClean="0">
                                <a:latin typeface="Cambria Math" panose="02040503050406030204" pitchFamily="18" charset="0"/>
                              </a:rPr>
                              <m:t>h</m:t>
                            </m:r>
                          </m:num>
                          <m:den>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h</m:t>
                            </m:r>
                          </m:den>
                        </m:f>
                      </m:e>
                    </m:d>
                  </m:oMath>
                </a14:m>
                <a:r>
                  <a:rPr lang="en-US" altLang="zh-CN" dirty="0"/>
                  <a:t>, </a:t>
                </a:r>
                <a14:m>
                  <m:oMath xmlns:m="http://schemas.openxmlformats.org/officeDocument/2006/math">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h</m:t>
                    </m:r>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h</m:t>
                            </m:r>
                          </m:num>
                          <m:den>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h</m:t>
                            </m:r>
                          </m:den>
                        </m:f>
                      </m:e>
                    </m:d>
                  </m:oMath>
                </a14:m>
                <a:r>
                  <a:rPr lang="zh-CN" altLang="en-US" baseline="-25000" dirty="0"/>
                  <a:t> </a:t>
                </a:r>
                <a14:m>
                  <m:oMath xmlns:m="http://schemas.openxmlformats.org/officeDocument/2006/math">
                    <m:r>
                      <a:rPr lang="zh-CN" altLang="en-US" i="1" baseline="-25000" dirty="0">
                        <a:latin typeface="Cambria Math" panose="02040503050406030204" pitchFamily="18" charset="0"/>
                      </a:rPr>
                      <m:t>，</m:t>
                    </m:r>
                  </m:oMath>
                </a14:m>
                <a:r>
                  <a:rPr lang="en-US" altLang="zh-CN" dirty="0" smtClean="0"/>
                  <a:t>                                Ĝ</a:t>
                </a:r>
                <a:r>
                  <a:rPr lang="en-US" altLang="zh-CN" baseline="-25000" dirty="0" smtClean="0"/>
                  <a:t>h </a:t>
                </a:r>
                <a14:m>
                  <m:oMath xmlns:m="http://schemas.openxmlformats.org/officeDocument/2006/math">
                    <m:r>
                      <a:rPr lang="en-US" altLang="zh-CN" i="1" dirty="0">
                        <a:latin typeface="Cambria Math" panose="02040503050406030204" pitchFamily="18" charset="0"/>
                      </a:rPr>
                      <m:t>=</m:t>
                    </m:r>
                  </m:oMath>
                </a14:m>
                <a:r>
                  <a:rPr lang="en-US" altLang="zh-CN" baseline="-25000" dirty="0"/>
                  <a:t> </a:t>
                </a:r>
                <a14:m>
                  <m:oMath xmlns:m="http://schemas.openxmlformats.org/officeDocument/2006/math">
                    <m:r>
                      <a:rPr lang="en-US" altLang="zh-CN" i="1" dirty="0">
                        <a:latin typeface="Cambria Math" panose="02040503050406030204" pitchFamily="18" charset="0"/>
                      </a:rPr>
                      <m:t>𝑃</m:t>
                    </m:r>
                    <m:r>
                      <a:rPr lang="en-US" altLang="zh-CN" b="0" i="1" baseline="-25000" dirty="0" smtClean="0">
                        <a:latin typeface="Cambria Math" panose="02040503050406030204" pitchFamily="18" charset="0"/>
                      </a:rPr>
                      <m:t>h</m:t>
                    </m:r>
                    <m:r>
                      <a:rPr lang="en-US" altLang="zh-CN" i="1" dirty="0">
                        <a:latin typeface="Cambria Math" panose="02040503050406030204" pitchFamily="18" charset="0"/>
                      </a:rPr>
                      <m:t>𝑒𝑥𝑝</m:t>
                    </m:r>
                    <m:r>
                      <a:rPr lang="en-US" altLang="zh-CN" i="1" dirty="0">
                        <a:latin typeface="Cambria Math" panose="02040503050406030204" pitchFamily="18" charset="0"/>
                      </a:rPr>
                      <m:t>(ĝ</m:t>
                    </m:r>
                    <m:r>
                      <a:rPr lang="en-US" altLang="zh-CN" b="0" i="1" baseline="-25000" dirty="0" smtClean="0">
                        <a:latin typeface="Cambria Math" panose="02040503050406030204" pitchFamily="18" charset="0"/>
                      </a:rPr>
                      <m:t>h</m:t>
                    </m:r>
                    <m:r>
                      <a:rPr lang="en-US" altLang="zh-CN" i="1" dirty="0">
                        <a:latin typeface="Cambria Math" panose="02040503050406030204" pitchFamily="18" charset="0"/>
                      </a:rPr>
                      <m:t>)</m:t>
                    </m:r>
                  </m:oMath>
                </a14:m>
                <a:r>
                  <a:rPr lang="en-US" altLang="zh-CN" baseline="-25000" dirty="0"/>
                  <a:t> </a:t>
                </a:r>
                <a:endParaRPr lang="en-US" altLang="zh-CN" baseline="-25000"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175038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endParaRPr lang="zh-CN" altLang="en-US" dirty="0"/>
          </a:p>
        </p:txBody>
      </p:sp>
      <p:sp>
        <p:nvSpPr>
          <p:cNvPr id="3" name="内容占位符 2"/>
          <p:cNvSpPr>
            <a:spLocks noGrp="1"/>
          </p:cNvSpPr>
          <p:nvPr>
            <p:ph sz="quarter" idx="13"/>
          </p:nvPr>
        </p:nvSpPr>
        <p:spPr/>
        <p:txBody>
          <a:bodyPr/>
          <a:lstStyle/>
          <a:p>
            <a:r>
              <a:rPr lang="zh-CN" altLang="en-US" dirty="0" smtClean="0"/>
              <a:t>位置修正</a:t>
            </a:r>
            <a:endParaRPr lang="en-US" altLang="zh-CN" dirty="0" smtClean="0"/>
          </a:p>
          <a:p>
            <a:r>
              <a:rPr lang="zh-CN" altLang="en-US" dirty="0" smtClean="0"/>
              <a:t>即给定原始候选框 </a:t>
            </a:r>
            <a:r>
              <a:rPr lang="en-US" altLang="zh-CN" dirty="0" smtClean="0"/>
              <a:t>P=(</a:t>
            </a:r>
            <a:r>
              <a:rPr lang="en-US" altLang="zh-CN" dirty="0" err="1" smtClean="0"/>
              <a:t>P</a:t>
            </a:r>
            <a:r>
              <a:rPr lang="en-US" altLang="zh-CN" baseline="-25000" dirty="0" err="1" smtClean="0"/>
              <a:t>x</a:t>
            </a:r>
            <a:r>
              <a:rPr lang="en-US" altLang="zh-CN" dirty="0" err="1" smtClean="0"/>
              <a:t>,P</a:t>
            </a:r>
            <a:r>
              <a:rPr lang="en-US" altLang="zh-CN" baseline="-25000" dirty="0" err="1" smtClean="0"/>
              <a:t>y</a:t>
            </a:r>
            <a:r>
              <a:rPr lang="en-US" altLang="zh-CN" dirty="0" err="1" smtClean="0"/>
              <a:t>,P</a:t>
            </a:r>
            <a:r>
              <a:rPr lang="en-US" altLang="zh-CN" baseline="-25000" dirty="0" err="1" smtClean="0"/>
              <a:t>w</a:t>
            </a:r>
            <a:r>
              <a:rPr lang="en-US" altLang="zh-CN" dirty="0" err="1" smtClean="0"/>
              <a:t>,P</a:t>
            </a:r>
            <a:r>
              <a:rPr lang="en-US" altLang="zh-CN" baseline="-25000" dirty="0" err="1" smtClean="0"/>
              <a:t>h</a:t>
            </a:r>
            <a:r>
              <a:rPr lang="en-US" altLang="zh-CN" dirty="0" smtClean="0"/>
              <a:t>)</a:t>
            </a:r>
            <a:r>
              <a:rPr lang="zh-CN" altLang="en-US" dirty="0" smtClean="0"/>
              <a:t>和目标准确位置 </a:t>
            </a:r>
            <a:r>
              <a:rPr lang="en-US" altLang="zh-CN" dirty="0" smtClean="0"/>
              <a:t>G=(</a:t>
            </a:r>
            <a:r>
              <a:rPr lang="en-US" altLang="zh-CN" dirty="0" err="1" smtClean="0"/>
              <a:t>G</a:t>
            </a:r>
            <a:r>
              <a:rPr lang="en-US" altLang="zh-CN" baseline="-25000" dirty="0" err="1" smtClean="0"/>
              <a:t>x</a:t>
            </a:r>
            <a:r>
              <a:rPr lang="en-US" altLang="zh-CN" dirty="0" err="1" smtClean="0"/>
              <a:t>,G</a:t>
            </a:r>
            <a:r>
              <a:rPr lang="en-US" altLang="zh-CN" baseline="-25000" dirty="0" err="1" smtClean="0"/>
              <a:t>y</a:t>
            </a:r>
            <a:r>
              <a:rPr lang="en-US" altLang="zh-CN" dirty="0" err="1" smtClean="0"/>
              <a:t>,G</a:t>
            </a:r>
            <a:r>
              <a:rPr lang="en-US" altLang="zh-CN" baseline="-25000" dirty="0" err="1" smtClean="0"/>
              <a:t>w</a:t>
            </a:r>
            <a:r>
              <a:rPr lang="en-US" altLang="zh-CN" dirty="0" err="1" smtClean="0"/>
              <a:t>,G</a:t>
            </a:r>
            <a:r>
              <a:rPr lang="en-US" altLang="zh-CN" baseline="-25000" dirty="0" err="1" smtClean="0"/>
              <a:t>h</a:t>
            </a:r>
            <a:r>
              <a:rPr lang="en-US" altLang="zh-CN" dirty="0" smtClean="0"/>
              <a:t>)</a:t>
            </a:r>
          </a:p>
          <a:p>
            <a:r>
              <a:rPr lang="zh-CN" altLang="en-US" dirty="0" smtClean="0"/>
              <a:t>寻找一种变换（回归）</a:t>
            </a:r>
            <a:r>
              <a:rPr lang="en-US" altLang="zh-CN" b="1" i="1" dirty="0" smtClean="0"/>
              <a:t>F</a:t>
            </a:r>
            <a:r>
              <a:rPr lang="zh-CN" altLang="en-US" dirty="0" smtClean="0"/>
              <a:t>，使得</a:t>
            </a:r>
            <a:r>
              <a:rPr lang="en-US" altLang="zh-CN" b="1" i="1" dirty="0" smtClean="0"/>
              <a:t>F</a:t>
            </a:r>
            <a:r>
              <a:rPr lang="en-US" altLang="zh-CN" dirty="0" smtClean="0"/>
              <a:t>(</a:t>
            </a:r>
            <a:r>
              <a:rPr lang="en-US" altLang="zh-CN" dirty="0" err="1"/>
              <a:t>P</a:t>
            </a:r>
            <a:r>
              <a:rPr lang="en-US" altLang="zh-CN" baseline="-25000" dirty="0" err="1"/>
              <a:t>x</a:t>
            </a:r>
            <a:r>
              <a:rPr lang="en-US" altLang="zh-CN" dirty="0" err="1"/>
              <a:t>,P</a:t>
            </a:r>
            <a:r>
              <a:rPr lang="en-US" altLang="zh-CN" baseline="-25000" dirty="0" err="1"/>
              <a:t>y</a:t>
            </a:r>
            <a:r>
              <a:rPr lang="en-US" altLang="zh-CN" dirty="0" err="1"/>
              <a:t>,P</a:t>
            </a:r>
            <a:r>
              <a:rPr lang="en-US" altLang="zh-CN" baseline="-25000" dirty="0" err="1"/>
              <a:t>w</a:t>
            </a:r>
            <a:r>
              <a:rPr lang="en-US" altLang="zh-CN" dirty="0" err="1"/>
              <a:t>,P</a:t>
            </a:r>
            <a:r>
              <a:rPr lang="en-US" altLang="zh-CN" baseline="-25000" dirty="0" err="1"/>
              <a:t>h</a:t>
            </a:r>
            <a:r>
              <a:rPr lang="en-US" altLang="zh-CN" dirty="0" smtClean="0"/>
              <a:t>)= (</a:t>
            </a:r>
            <a:r>
              <a:rPr lang="en-US" altLang="zh-CN" dirty="0" err="1"/>
              <a:t>Ĝ</a:t>
            </a:r>
            <a:r>
              <a:rPr lang="en-US" altLang="zh-CN" baseline="-25000" dirty="0" err="1"/>
              <a:t>x</a:t>
            </a:r>
            <a:r>
              <a:rPr lang="en-US" altLang="zh-CN" dirty="0"/>
              <a:t>, </a:t>
            </a:r>
            <a:r>
              <a:rPr lang="en-US" altLang="zh-CN" dirty="0" err="1"/>
              <a:t>Ĝ</a:t>
            </a:r>
            <a:r>
              <a:rPr lang="en-US" altLang="zh-CN" baseline="-25000" dirty="0" err="1"/>
              <a:t>y</a:t>
            </a:r>
            <a:r>
              <a:rPr lang="en-US" altLang="zh-CN" dirty="0"/>
              <a:t>, </a:t>
            </a:r>
            <a:r>
              <a:rPr lang="en-US" altLang="zh-CN" dirty="0" err="1"/>
              <a:t>Ĝ</a:t>
            </a:r>
            <a:r>
              <a:rPr lang="en-US" altLang="zh-CN" baseline="-25000" dirty="0" err="1"/>
              <a:t>w</a:t>
            </a:r>
            <a:r>
              <a:rPr lang="en-US" altLang="zh-CN" dirty="0"/>
              <a:t>, </a:t>
            </a:r>
            <a:r>
              <a:rPr lang="en-US" altLang="zh-CN" dirty="0" err="1"/>
              <a:t>Ĝ</a:t>
            </a:r>
            <a:r>
              <a:rPr lang="en-US" altLang="zh-CN" baseline="-25000" dirty="0" err="1"/>
              <a:t>h</a:t>
            </a:r>
            <a:r>
              <a:rPr lang="en-US" altLang="zh-CN" dirty="0" smtClean="0"/>
              <a:t>)</a:t>
            </a:r>
          </a:p>
          <a:p>
            <a:r>
              <a:rPr lang="en-US" altLang="zh-CN" dirty="0"/>
              <a:t>(</a:t>
            </a:r>
            <a:r>
              <a:rPr lang="en-US" altLang="zh-CN" dirty="0" err="1"/>
              <a:t>Ĝ</a:t>
            </a:r>
            <a:r>
              <a:rPr lang="en-US" altLang="zh-CN" baseline="-25000" dirty="0" err="1"/>
              <a:t>x</a:t>
            </a:r>
            <a:r>
              <a:rPr lang="en-US" altLang="zh-CN" dirty="0"/>
              <a:t>, </a:t>
            </a:r>
            <a:r>
              <a:rPr lang="en-US" altLang="zh-CN" dirty="0" err="1"/>
              <a:t>Ĝ</a:t>
            </a:r>
            <a:r>
              <a:rPr lang="en-US" altLang="zh-CN" baseline="-25000" dirty="0" err="1"/>
              <a:t>y</a:t>
            </a:r>
            <a:r>
              <a:rPr lang="en-US" altLang="zh-CN" dirty="0"/>
              <a:t>, </a:t>
            </a:r>
            <a:r>
              <a:rPr lang="en-US" altLang="zh-CN" dirty="0" err="1"/>
              <a:t>Ĝ</a:t>
            </a:r>
            <a:r>
              <a:rPr lang="en-US" altLang="zh-CN" baseline="-25000" dirty="0" err="1"/>
              <a:t>w</a:t>
            </a:r>
            <a:r>
              <a:rPr lang="en-US" altLang="zh-CN" dirty="0"/>
              <a:t>, </a:t>
            </a:r>
            <a:r>
              <a:rPr lang="en-US" altLang="zh-CN" dirty="0" err="1"/>
              <a:t>Ĝ</a:t>
            </a:r>
            <a:r>
              <a:rPr lang="en-US" altLang="zh-CN" baseline="-25000" dirty="0" err="1"/>
              <a:t>h</a:t>
            </a:r>
            <a:r>
              <a:rPr lang="en-US" altLang="zh-CN" dirty="0" smtClean="0"/>
              <a:t>) </a:t>
            </a:r>
            <a:r>
              <a:rPr lang="zh-CN" altLang="en-US" dirty="0" smtClean="0"/>
              <a:t>≈</a:t>
            </a:r>
            <a:r>
              <a:rPr lang="en-US" altLang="zh-CN" dirty="0" smtClean="0"/>
              <a:t> (</a:t>
            </a:r>
            <a:r>
              <a:rPr lang="en-US" altLang="zh-CN" dirty="0" err="1"/>
              <a:t>G</a:t>
            </a:r>
            <a:r>
              <a:rPr lang="en-US" altLang="zh-CN" baseline="-25000" dirty="0" err="1"/>
              <a:t>x</a:t>
            </a:r>
            <a:r>
              <a:rPr lang="en-US" altLang="zh-CN" dirty="0" err="1"/>
              <a:t>,G</a:t>
            </a:r>
            <a:r>
              <a:rPr lang="en-US" altLang="zh-CN" baseline="-25000" dirty="0" err="1"/>
              <a:t>y</a:t>
            </a:r>
            <a:r>
              <a:rPr lang="en-US" altLang="zh-CN" dirty="0" err="1"/>
              <a:t>,G</a:t>
            </a:r>
            <a:r>
              <a:rPr lang="en-US" altLang="zh-CN" baseline="-25000" dirty="0" err="1"/>
              <a:t>w</a:t>
            </a:r>
            <a:r>
              <a:rPr lang="en-US" altLang="zh-CN" dirty="0" err="1"/>
              <a:t>,G</a:t>
            </a:r>
            <a:r>
              <a:rPr lang="en-US" altLang="zh-CN" baseline="-25000" dirty="0" err="1"/>
              <a:t>h</a:t>
            </a:r>
            <a:r>
              <a:rPr lang="en-US" altLang="zh-CN" dirty="0"/>
              <a:t>)</a:t>
            </a:r>
          </a:p>
          <a:p>
            <a:endParaRPr lang="en-US" altLang="zh-CN" dirty="0"/>
          </a:p>
          <a:p>
            <a:endParaRPr lang="en-US" altLang="zh-CN" dirty="0"/>
          </a:p>
          <a:p>
            <a:endParaRPr lang="zh-CN" altLang="en-US" dirty="0"/>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2589" y="2564900"/>
            <a:ext cx="2857899" cy="3572374"/>
          </a:xfrm>
          <a:prstGeom prst="rect">
            <a:avLst/>
          </a:prstGeom>
        </p:spPr>
      </p:pic>
    </p:spTree>
    <p:extLst>
      <p:ext uri="{BB962C8B-B14F-4D97-AF65-F5344CB8AC3E}">
        <p14:creationId xmlns:p14="http://schemas.microsoft.com/office/powerpoint/2010/main" val="33561803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endParaRPr lang="zh-CN" altLang="en-US" dirty="0"/>
          </a:p>
        </p:txBody>
      </p:sp>
      <p:sp>
        <p:nvSpPr>
          <p:cNvPr id="3" name="内容占位符 2"/>
          <p:cNvSpPr>
            <a:spLocks noGrp="1"/>
          </p:cNvSpPr>
          <p:nvPr>
            <p:ph sz="quarter" idx="13"/>
          </p:nvPr>
        </p:nvSpPr>
        <p:spPr/>
        <p:txBody>
          <a:bodyPr/>
          <a:lstStyle/>
          <a:p>
            <a:r>
              <a:rPr lang="zh-CN" altLang="en-US" dirty="0" smtClean="0"/>
              <a:t>检测过程</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smtClean="0"/>
          </a:p>
          <a:p>
            <a:r>
              <a:rPr lang="zh-CN" altLang="en-US" dirty="0" smtClean="0"/>
              <a:t>重要意义</a:t>
            </a:r>
            <a:endParaRPr lang="en-US" altLang="zh-CN" dirty="0" smtClean="0"/>
          </a:p>
          <a:p>
            <a:pPr lvl="1"/>
            <a:r>
              <a:rPr lang="zh-CN" altLang="en-US" dirty="0" smtClean="0"/>
              <a:t>从根本上改变了技术路线，引入卷积神经网络</a:t>
            </a:r>
            <a:endParaRPr lang="en-US" altLang="zh-CN" dirty="0" smtClean="0"/>
          </a:p>
          <a:p>
            <a:pPr lvl="1"/>
            <a:r>
              <a:rPr lang="zh-CN" altLang="en-US" dirty="0" smtClean="0"/>
              <a:t>先通过大量已标注的分类数据集预训练，再应用到实际数据集调优</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2825" y="1755979"/>
            <a:ext cx="7104762" cy="1638095"/>
          </a:xfrm>
          <a:prstGeom prst="rect">
            <a:avLst/>
          </a:prstGeom>
        </p:spPr>
      </p:pic>
    </p:spTree>
    <p:extLst>
      <p:ext uri="{BB962C8B-B14F-4D97-AF65-F5344CB8AC3E}">
        <p14:creationId xmlns:p14="http://schemas.microsoft.com/office/powerpoint/2010/main" val="17248836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SPP-Net</a:t>
            </a:r>
            <a:endParaRPr lang="zh-CN" altLang="en-US" dirty="0"/>
          </a:p>
        </p:txBody>
      </p:sp>
      <p:sp>
        <p:nvSpPr>
          <p:cNvPr id="3" name="内容占位符 2"/>
          <p:cNvSpPr>
            <a:spLocks noGrp="1"/>
          </p:cNvSpPr>
          <p:nvPr>
            <p:ph sz="quarter" idx="13"/>
          </p:nvPr>
        </p:nvSpPr>
        <p:spPr/>
        <p:txBody>
          <a:bodyPr/>
          <a:lstStyle/>
          <a:p>
            <a:r>
              <a:rPr lang="zh-CN" altLang="en-US" dirty="0" smtClean="0"/>
              <a:t>空间金字塔采样（</a:t>
            </a:r>
            <a:r>
              <a:rPr lang="en-US" altLang="zh-CN" dirty="0" smtClean="0"/>
              <a:t>Spatial Pyramid Pooling</a:t>
            </a:r>
            <a:r>
              <a:rPr lang="zh-CN" altLang="en-US" dirty="0" smtClean="0"/>
              <a:t>）</a:t>
            </a:r>
            <a:endParaRPr lang="en-US" altLang="zh-CN" dirty="0" smtClean="0"/>
          </a:p>
          <a:p>
            <a:endParaRPr lang="en-US" altLang="zh-CN" dirty="0" smtClean="0"/>
          </a:p>
          <a:p>
            <a:endParaRPr lang="en-US" altLang="zh-CN" dirty="0"/>
          </a:p>
          <a:p>
            <a:endParaRPr lang="en-US" altLang="zh-CN" dirty="0" smtClean="0"/>
          </a:p>
          <a:p>
            <a:endParaRPr lang="en-US" altLang="zh-CN" dirty="0"/>
          </a:p>
          <a:p>
            <a:r>
              <a:rPr lang="zh-CN" altLang="en-US" dirty="0" smtClean="0"/>
              <a:t>图像变换与</a:t>
            </a:r>
            <a:r>
              <a:rPr lang="en-US" altLang="zh-CN" dirty="0" smtClean="0"/>
              <a:t>SPP</a:t>
            </a:r>
            <a:r>
              <a:rPr lang="zh-CN" altLang="en-US" dirty="0" smtClean="0"/>
              <a:t>变换对比</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8043" y="1559108"/>
            <a:ext cx="7934325" cy="2000250"/>
          </a:xfrm>
          <a:prstGeom prst="rect">
            <a:avLst/>
          </a:prstGeom>
        </p:spPr>
      </p:pic>
      <p:graphicFrame>
        <p:nvGraphicFramePr>
          <p:cNvPr id="7" name="图示 6"/>
          <p:cNvGraphicFramePr/>
          <p:nvPr>
            <p:extLst/>
          </p:nvPr>
        </p:nvGraphicFramePr>
        <p:xfrm>
          <a:off x="1123405" y="4114799"/>
          <a:ext cx="9943599" cy="5527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8" name="图示 7"/>
          <p:cNvGraphicFramePr/>
          <p:nvPr>
            <p:extLst/>
          </p:nvPr>
        </p:nvGraphicFramePr>
        <p:xfrm>
          <a:off x="1123405" y="4905152"/>
          <a:ext cx="9943599" cy="55276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8946566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SPP-Net</a:t>
            </a:r>
            <a:endParaRPr lang="zh-CN" altLang="en-US" dirty="0"/>
          </a:p>
        </p:txBody>
      </p:sp>
      <p:pic>
        <p:nvPicPr>
          <p:cNvPr id="4" name="内容占位符 3"/>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278783" y="1130300"/>
            <a:ext cx="5632846" cy="5006975"/>
          </a:xfrm>
        </p:spPr>
      </p:pic>
    </p:spTree>
    <p:extLst>
      <p:ext uri="{BB962C8B-B14F-4D97-AF65-F5344CB8AC3E}">
        <p14:creationId xmlns:p14="http://schemas.microsoft.com/office/powerpoint/2010/main" val="42698321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SPP-Net</a:t>
            </a:r>
            <a:endParaRPr lang="zh-CN" altLang="en-US" dirty="0"/>
          </a:p>
        </p:txBody>
      </p:sp>
      <p:sp>
        <p:nvSpPr>
          <p:cNvPr id="3" name="内容占位符 2"/>
          <p:cNvSpPr>
            <a:spLocks noGrp="1"/>
          </p:cNvSpPr>
          <p:nvPr>
            <p:ph sz="quarter" idx="13"/>
          </p:nvPr>
        </p:nvSpPr>
        <p:spPr/>
        <p:txBody>
          <a:bodyPr/>
          <a:lstStyle/>
          <a:p>
            <a:r>
              <a:rPr lang="zh-CN" altLang="en-US" dirty="0"/>
              <a:t>空间金字塔池化层</a:t>
            </a: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3800" y="1638351"/>
            <a:ext cx="8082812" cy="4498923"/>
          </a:xfrm>
          <a:prstGeom prst="rect">
            <a:avLst/>
          </a:prstGeom>
        </p:spPr>
      </p:pic>
    </p:spTree>
    <p:extLst>
      <p:ext uri="{BB962C8B-B14F-4D97-AF65-F5344CB8AC3E}">
        <p14:creationId xmlns:p14="http://schemas.microsoft.com/office/powerpoint/2010/main" val="18191162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SPP-Net</a:t>
            </a:r>
            <a:endParaRPr lang="zh-CN" altLang="en-US" dirty="0"/>
          </a:p>
        </p:txBody>
      </p:sp>
      <p:sp>
        <p:nvSpPr>
          <p:cNvPr id="3" name="内容占位符 2"/>
          <p:cNvSpPr>
            <a:spLocks noGrp="1"/>
          </p:cNvSpPr>
          <p:nvPr>
            <p:ph sz="quarter" idx="13"/>
          </p:nvPr>
        </p:nvSpPr>
        <p:spPr/>
        <p:txBody>
          <a:bodyPr/>
          <a:lstStyle/>
          <a:p>
            <a:r>
              <a:rPr lang="zh-CN" altLang="en-US" dirty="0" smtClean="0"/>
              <a:t>网络训练</a:t>
            </a:r>
            <a:endParaRPr lang="en-US" altLang="zh-CN" dirty="0" smtClean="0"/>
          </a:p>
          <a:p>
            <a:pPr lvl="1"/>
            <a:r>
              <a:rPr lang="zh-CN" altLang="en-US" dirty="0" smtClean="0"/>
              <a:t>单尺度训练</a:t>
            </a:r>
            <a:endParaRPr lang="en-US" altLang="zh-CN" dirty="0" smtClean="0"/>
          </a:p>
          <a:p>
            <a:pPr lvl="1"/>
            <a:r>
              <a:rPr lang="zh-CN" altLang="en-US" dirty="0"/>
              <a:t>多</a:t>
            </a:r>
            <a:r>
              <a:rPr lang="zh-CN" altLang="en-US" dirty="0" smtClean="0"/>
              <a:t>尺度训练</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7956" y="2690811"/>
            <a:ext cx="9334500" cy="1885950"/>
          </a:xfrm>
          <a:prstGeom prst="rect">
            <a:avLst/>
          </a:prstGeom>
        </p:spPr>
      </p:pic>
    </p:spTree>
    <p:extLst>
      <p:ext uri="{BB962C8B-B14F-4D97-AF65-F5344CB8AC3E}">
        <p14:creationId xmlns:p14="http://schemas.microsoft.com/office/powerpoint/2010/main" val="15799698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SPP-Net</a:t>
            </a:r>
            <a:endParaRPr lang="zh-CN" altLang="en-US" dirty="0"/>
          </a:p>
        </p:txBody>
      </p:sp>
      <p:sp>
        <p:nvSpPr>
          <p:cNvPr id="3" name="内容占位符 2"/>
          <p:cNvSpPr>
            <a:spLocks noGrp="1"/>
          </p:cNvSpPr>
          <p:nvPr>
            <p:ph sz="quarter" idx="13"/>
          </p:nvPr>
        </p:nvSpPr>
        <p:spPr/>
        <p:txBody>
          <a:bodyPr/>
          <a:lstStyle/>
          <a:p>
            <a:r>
              <a:rPr lang="zh-CN" altLang="en-US" dirty="0" smtClean="0"/>
              <a:t>测试过程</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870499"/>
            <a:ext cx="10058400" cy="4266775"/>
          </a:xfrm>
          <a:prstGeom prst="rect">
            <a:avLst/>
          </a:prstGeom>
        </p:spPr>
      </p:pic>
    </p:spTree>
    <p:extLst>
      <p:ext uri="{BB962C8B-B14F-4D97-AF65-F5344CB8AC3E}">
        <p14:creationId xmlns:p14="http://schemas.microsoft.com/office/powerpoint/2010/main" val="26945556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p:sp>
        <p:nvSpPr>
          <p:cNvPr id="3" name="内容占位符 2"/>
          <p:cNvSpPr>
            <a:spLocks noGrp="1"/>
          </p:cNvSpPr>
          <p:nvPr>
            <p:ph sz="quarter" idx="13"/>
          </p:nvPr>
        </p:nvSpPr>
        <p:spPr/>
        <p:txBody>
          <a:bodyPr/>
          <a:lstStyle/>
          <a:p>
            <a:r>
              <a:rPr lang="en-US" altLang="zh-CN" dirty="0" smtClean="0"/>
              <a:t>ROI</a:t>
            </a:r>
            <a:r>
              <a:rPr lang="zh-CN" altLang="en-US" dirty="0" smtClean="0"/>
              <a:t>（</a:t>
            </a:r>
            <a:r>
              <a:rPr lang="en-US" altLang="zh-CN" dirty="0" smtClean="0"/>
              <a:t>Region Of Interest</a:t>
            </a:r>
            <a:r>
              <a:rPr lang="zh-CN" altLang="en-US" dirty="0" smtClean="0"/>
              <a:t>）池化层</a:t>
            </a:r>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870499"/>
            <a:ext cx="10058400" cy="4266775"/>
          </a:xfrm>
          <a:prstGeom prst="rect">
            <a:avLst/>
          </a:prstGeom>
        </p:spPr>
      </p:pic>
    </p:spTree>
    <p:extLst>
      <p:ext uri="{BB962C8B-B14F-4D97-AF65-F5344CB8AC3E}">
        <p14:creationId xmlns:p14="http://schemas.microsoft.com/office/powerpoint/2010/main" val="40380501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p:sp>
        <p:nvSpPr>
          <p:cNvPr id="3" name="内容占位符 2"/>
          <p:cNvSpPr>
            <a:spLocks noGrp="1"/>
          </p:cNvSpPr>
          <p:nvPr>
            <p:ph sz="quarter" idx="13"/>
          </p:nvPr>
        </p:nvSpPr>
        <p:spPr/>
        <p:txBody>
          <a:bodyPr/>
          <a:lstStyle/>
          <a:p>
            <a:r>
              <a:rPr lang="en-US" altLang="zh-CN" dirty="0" smtClean="0"/>
              <a:t>ROI</a:t>
            </a:r>
            <a:r>
              <a:rPr lang="zh-CN" altLang="en-US" dirty="0" smtClean="0"/>
              <a:t>（</a:t>
            </a:r>
            <a:r>
              <a:rPr lang="en-US" altLang="zh-CN" dirty="0" smtClean="0"/>
              <a:t>Region Of Interest</a:t>
            </a:r>
            <a:r>
              <a:rPr lang="zh-CN" altLang="en-US" dirty="0" smtClean="0"/>
              <a:t>）池化层</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2389" y="1648048"/>
            <a:ext cx="5985634" cy="4489226"/>
          </a:xfrm>
          <a:prstGeom prst="rect">
            <a:avLst/>
          </a:prstGeom>
        </p:spPr>
      </p:pic>
    </p:spTree>
    <p:extLst>
      <p:ext uri="{BB962C8B-B14F-4D97-AF65-F5344CB8AC3E}">
        <p14:creationId xmlns:p14="http://schemas.microsoft.com/office/powerpoint/2010/main" val="269233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p:sp>
        <p:nvSpPr>
          <p:cNvPr id="3" name="内容占位符 2"/>
          <p:cNvSpPr>
            <a:spLocks noGrp="1"/>
          </p:cNvSpPr>
          <p:nvPr>
            <p:ph sz="quarter" idx="13"/>
          </p:nvPr>
        </p:nvSpPr>
        <p:spPr/>
        <p:txBody>
          <a:bodyPr/>
          <a:lstStyle/>
          <a:p>
            <a:r>
              <a:rPr lang="zh-CN" altLang="en-US" dirty="0" smtClean="0"/>
              <a:t>网络结构的优化：</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1457" y="1666434"/>
            <a:ext cx="8567498" cy="3934703"/>
          </a:xfrm>
          <a:prstGeom prst="rect">
            <a:avLst/>
          </a:prstGeom>
        </p:spPr>
      </p:pic>
    </p:spTree>
    <p:extLst>
      <p:ext uri="{BB962C8B-B14F-4D97-AF65-F5344CB8AC3E}">
        <p14:creationId xmlns:p14="http://schemas.microsoft.com/office/powerpoint/2010/main" val="27081992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p:sp>
        <p:nvSpPr>
          <p:cNvPr id="3" name="内容占位符 2"/>
          <p:cNvSpPr>
            <a:spLocks noGrp="1"/>
          </p:cNvSpPr>
          <p:nvPr>
            <p:ph sz="quarter" idx="13"/>
          </p:nvPr>
        </p:nvSpPr>
        <p:spPr/>
        <p:txBody>
          <a:bodyPr/>
          <a:lstStyle/>
          <a:p>
            <a:r>
              <a:rPr lang="zh-CN" altLang="en-US" dirty="0" smtClean="0"/>
              <a:t>批次处理：</a:t>
            </a:r>
            <a:endParaRPr lang="zh-CN" altLang="en-US" dirty="0"/>
          </a:p>
        </p:txBody>
      </p:sp>
      <p:sp>
        <p:nvSpPr>
          <p:cNvPr id="5" name="矩形 4"/>
          <p:cNvSpPr/>
          <p:nvPr/>
        </p:nvSpPr>
        <p:spPr>
          <a:xfrm>
            <a:off x="1414130" y="2190307"/>
            <a:ext cx="1105786" cy="595423"/>
          </a:xfrm>
          <a:prstGeom prst="rect">
            <a:avLst/>
          </a:prstGeom>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图像</a:t>
            </a:r>
            <a:r>
              <a:rPr lang="en-US" altLang="zh-CN" dirty="0" smtClean="0"/>
              <a:t>1</a:t>
            </a:r>
            <a:endParaRPr lang="zh-CN" altLang="en-US" dirty="0"/>
          </a:p>
        </p:txBody>
      </p:sp>
      <p:sp>
        <p:nvSpPr>
          <p:cNvPr id="6" name="矩形 5"/>
          <p:cNvSpPr/>
          <p:nvPr/>
        </p:nvSpPr>
        <p:spPr>
          <a:xfrm>
            <a:off x="1414130" y="2990523"/>
            <a:ext cx="1105786" cy="595423"/>
          </a:xfrm>
          <a:prstGeom prst="rect">
            <a:avLst/>
          </a:prstGeom>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图像</a:t>
            </a:r>
            <a:r>
              <a:rPr lang="en-US" altLang="zh-CN" dirty="0"/>
              <a:t>2</a:t>
            </a:r>
            <a:endParaRPr lang="zh-CN" altLang="en-US" dirty="0"/>
          </a:p>
        </p:txBody>
      </p:sp>
      <p:sp>
        <p:nvSpPr>
          <p:cNvPr id="9" name="矩形 8"/>
          <p:cNvSpPr/>
          <p:nvPr/>
        </p:nvSpPr>
        <p:spPr>
          <a:xfrm>
            <a:off x="1414130" y="4590955"/>
            <a:ext cx="1105786" cy="595423"/>
          </a:xfrm>
          <a:prstGeom prst="rect">
            <a:avLst/>
          </a:prstGeom>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图像</a:t>
            </a:r>
            <a:r>
              <a:rPr lang="en-US" altLang="zh-CN" dirty="0"/>
              <a:t>N</a:t>
            </a:r>
            <a:endParaRPr lang="zh-CN" altLang="en-US" dirty="0"/>
          </a:p>
        </p:txBody>
      </p:sp>
      <p:sp>
        <p:nvSpPr>
          <p:cNvPr id="12" name="矩形 11"/>
          <p:cNvSpPr/>
          <p:nvPr/>
        </p:nvSpPr>
        <p:spPr>
          <a:xfrm>
            <a:off x="1414130" y="3790739"/>
            <a:ext cx="1105786" cy="595423"/>
          </a:xfrm>
          <a:prstGeom prst="rect">
            <a:avLst/>
          </a:prstGeom>
          <a:solidFill>
            <a:schemeClr val="lt1"/>
          </a:solidFill>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a:t>
            </a:r>
          </a:p>
          <a:p>
            <a:pPr algn="ctr"/>
            <a:r>
              <a:rPr lang="en-US" altLang="zh-CN" dirty="0" smtClean="0"/>
              <a:t>·</a:t>
            </a:r>
          </a:p>
          <a:p>
            <a:pPr algn="ctr"/>
            <a:r>
              <a:rPr lang="en-US" altLang="zh-CN" dirty="0"/>
              <a:t>·</a:t>
            </a:r>
            <a:endParaRPr lang="zh-CN" altLang="en-US" dirty="0"/>
          </a:p>
        </p:txBody>
      </p:sp>
      <p:sp>
        <p:nvSpPr>
          <p:cNvPr id="13" name="矩形 12"/>
          <p:cNvSpPr/>
          <p:nvPr/>
        </p:nvSpPr>
        <p:spPr>
          <a:xfrm>
            <a:off x="1414130" y="1594884"/>
            <a:ext cx="1105786" cy="595423"/>
          </a:xfrm>
          <a:prstGeom prst="rect">
            <a:avLst/>
          </a:prstGeom>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特征图</a:t>
            </a:r>
          </a:p>
        </p:txBody>
      </p:sp>
      <p:sp>
        <p:nvSpPr>
          <p:cNvPr id="14" name="矩形 13"/>
          <p:cNvSpPr/>
          <p:nvPr/>
        </p:nvSpPr>
        <p:spPr>
          <a:xfrm>
            <a:off x="3161413" y="1598813"/>
            <a:ext cx="1105786" cy="595423"/>
          </a:xfrm>
          <a:prstGeom prst="rect">
            <a:avLst/>
          </a:prstGeom>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ROI</a:t>
            </a:r>
            <a:endParaRPr lang="zh-CN" altLang="en-US" dirty="0"/>
          </a:p>
        </p:txBody>
      </p:sp>
      <p:sp>
        <p:nvSpPr>
          <p:cNvPr id="15" name="矩形 14"/>
          <p:cNvSpPr/>
          <p:nvPr/>
        </p:nvSpPr>
        <p:spPr>
          <a:xfrm>
            <a:off x="3161413" y="2159391"/>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ROI1.1</a:t>
            </a:r>
            <a:endParaRPr lang="zh-CN" altLang="en-US" dirty="0"/>
          </a:p>
        </p:txBody>
      </p:sp>
      <p:sp>
        <p:nvSpPr>
          <p:cNvPr id="16" name="矩形 15"/>
          <p:cNvSpPr/>
          <p:nvPr/>
        </p:nvSpPr>
        <p:spPr>
          <a:xfrm>
            <a:off x="3161413" y="2368113"/>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ROI1.2</a:t>
            </a:r>
            <a:endParaRPr lang="zh-CN" altLang="en-US" dirty="0"/>
          </a:p>
        </p:txBody>
      </p:sp>
      <p:sp>
        <p:nvSpPr>
          <p:cNvPr id="17" name="矩形 16"/>
          <p:cNvSpPr/>
          <p:nvPr/>
        </p:nvSpPr>
        <p:spPr>
          <a:xfrm>
            <a:off x="3161413" y="2574061"/>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ROI1.3</a:t>
            </a:r>
            <a:endParaRPr lang="zh-CN" altLang="en-US" dirty="0"/>
          </a:p>
        </p:txBody>
      </p:sp>
      <p:sp>
        <p:nvSpPr>
          <p:cNvPr id="18" name="矩形 17"/>
          <p:cNvSpPr/>
          <p:nvPr/>
        </p:nvSpPr>
        <p:spPr>
          <a:xfrm>
            <a:off x="3161413" y="2956661"/>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ROI2.1</a:t>
            </a:r>
            <a:endParaRPr lang="zh-CN" altLang="en-US" dirty="0"/>
          </a:p>
        </p:txBody>
      </p:sp>
      <p:sp>
        <p:nvSpPr>
          <p:cNvPr id="19" name="矩形 18"/>
          <p:cNvSpPr/>
          <p:nvPr/>
        </p:nvSpPr>
        <p:spPr>
          <a:xfrm>
            <a:off x="3161413" y="3165383"/>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ROI2.2</a:t>
            </a:r>
            <a:endParaRPr lang="zh-CN" altLang="en-US" dirty="0"/>
          </a:p>
        </p:txBody>
      </p:sp>
      <p:sp>
        <p:nvSpPr>
          <p:cNvPr id="20" name="矩形 19"/>
          <p:cNvSpPr/>
          <p:nvPr/>
        </p:nvSpPr>
        <p:spPr>
          <a:xfrm>
            <a:off x="3161413" y="3371331"/>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ROI2.3</a:t>
            </a:r>
            <a:endParaRPr lang="zh-CN" altLang="en-US" dirty="0"/>
          </a:p>
        </p:txBody>
      </p:sp>
      <p:sp>
        <p:nvSpPr>
          <p:cNvPr id="21" name="矩形 20"/>
          <p:cNvSpPr/>
          <p:nvPr/>
        </p:nvSpPr>
        <p:spPr>
          <a:xfrm>
            <a:off x="3161413" y="3790739"/>
            <a:ext cx="1105786" cy="595423"/>
          </a:xfrm>
          <a:prstGeom prst="rect">
            <a:avLst/>
          </a:prstGeom>
          <a:solidFill>
            <a:schemeClr val="lt1"/>
          </a:solidFill>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a:t>
            </a:r>
          </a:p>
          <a:p>
            <a:pPr algn="ctr"/>
            <a:r>
              <a:rPr lang="en-US" altLang="zh-CN" dirty="0" smtClean="0"/>
              <a:t>·</a:t>
            </a:r>
          </a:p>
          <a:p>
            <a:pPr algn="ctr"/>
            <a:r>
              <a:rPr lang="en-US" altLang="zh-CN" dirty="0"/>
              <a:t>·</a:t>
            </a:r>
            <a:endParaRPr lang="zh-CN" altLang="en-US" dirty="0"/>
          </a:p>
        </p:txBody>
      </p:sp>
      <p:sp>
        <p:nvSpPr>
          <p:cNvPr id="22" name="矩形 21"/>
          <p:cNvSpPr/>
          <p:nvPr/>
        </p:nvSpPr>
        <p:spPr>
          <a:xfrm>
            <a:off x="3161413" y="4568535"/>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ROIN.1</a:t>
            </a:r>
            <a:endParaRPr lang="zh-CN" altLang="en-US" dirty="0"/>
          </a:p>
        </p:txBody>
      </p:sp>
      <p:sp>
        <p:nvSpPr>
          <p:cNvPr id="23" name="矩形 22"/>
          <p:cNvSpPr/>
          <p:nvPr/>
        </p:nvSpPr>
        <p:spPr>
          <a:xfrm>
            <a:off x="3161413" y="4777257"/>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ROIN.2</a:t>
            </a:r>
            <a:endParaRPr lang="zh-CN" altLang="en-US" dirty="0"/>
          </a:p>
        </p:txBody>
      </p:sp>
      <p:sp>
        <p:nvSpPr>
          <p:cNvPr id="24" name="矩形 23"/>
          <p:cNvSpPr/>
          <p:nvPr/>
        </p:nvSpPr>
        <p:spPr>
          <a:xfrm>
            <a:off x="3161413" y="4983205"/>
            <a:ext cx="1105786" cy="2087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ROIN.3</a:t>
            </a:r>
            <a:endParaRPr lang="zh-CN" altLang="en-US" dirty="0"/>
          </a:p>
        </p:txBody>
      </p:sp>
      <p:sp>
        <p:nvSpPr>
          <p:cNvPr id="25" name="矩形 24"/>
          <p:cNvSpPr/>
          <p:nvPr/>
        </p:nvSpPr>
        <p:spPr>
          <a:xfrm>
            <a:off x="1084521" y="2052083"/>
            <a:ext cx="3678865" cy="162678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6" name="矩形 25"/>
          <p:cNvSpPr/>
          <p:nvPr/>
        </p:nvSpPr>
        <p:spPr>
          <a:xfrm>
            <a:off x="4908696" y="3506074"/>
            <a:ext cx="1105786" cy="595423"/>
          </a:xfrm>
          <a:prstGeom prst="rect">
            <a:avLst/>
          </a:prstGeom>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批次</a:t>
            </a:r>
            <a:r>
              <a:rPr lang="en-US" altLang="zh-CN" dirty="0" smtClean="0"/>
              <a:t>…</a:t>
            </a:r>
            <a:endParaRPr lang="zh-CN" altLang="en-US" dirty="0"/>
          </a:p>
        </p:txBody>
      </p:sp>
      <p:sp>
        <p:nvSpPr>
          <p:cNvPr id="28" name="矩形 27"/>
          <p:cNvSpPr/>
          <p:nvPr/>
        </p:nvSpPr>
        <p:spPr>
          <a:xfrm>
            <a:off x="1084520" y="3723916"/>
            <a:ext cx="3678866" cy="15974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2" name="矩形 31"/>
          <p:cNvSpPr/>
          <p:nvPr/>
        </p:nvSpPr>
        <p:spPr>
          <a:xfrm>
            <a:off x="1084520" y="3992356"/>
            <a:ext cx="3678866" cy="15974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3" name="矩形 32"/>
          <p:cNvSpPr/>
          <p:nvPr/>
        </p:nvSpPr>
        <p:spPr>
          <a:xfrm>
            <a:off x="1084520" y="4293244"/>
            <a:ext cx="3678866" cy="1083156"/>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4" name="矩形 33"/>
          <p:cNvSpPr/>
          <p:nvPr/>
        </p:nvSpPr>
        <p:spPr>
          <a:xfrm>
            <a:off x="4924644" y="2574477"/>
            <a:ext cx="6595843" cy="595423"/>
          </a:xfrm>
          <a:prstGeom prst="rect">
            <a:avLst/>
          </a:prstGeom>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批次</a:t>
            </a:r>
            <a:r>
              <a:rPr lang="en-US" altLang="zh-CN" dirty="0" smtClean="0"/>
              <a:t>1</a:t>
            </a:r>
            <a:r>
              <a:rPr lang="zh-CN" altLang="en-US" dirty="0" smtClean="0"/>
              <a:t>➡只需加载批次</a:t>
            </a:r>
            <a:r>
              <a:rPr lang="en-US" altLang="zh-CN" dirty="0" smtClean="0"/>
              <a:t>1</a:t>
            </a:r>
            <a:r>
              <a:rPr lang="zh-CN" altLang="en-US" dirty="0" smtClean="0"/>
              <a:t>中少量图像的特征图，每张图像多个</a:t>
            </a:r>
            <a:r>
              <a:rPr lang="en-US" altLang="zh-CN" dirty="0" smtClean="0"/>
              <a:t>ROI</a:t>
            </a:r>
            <a:endParaRPr lang="zh-CN" altLang="en-US" dirty="0"/>
          </a:p>
        </p:txBody>
      </p:sp>
      <p:sp>
        <p:nvSpPr>
          <p:cNvPr id="35" name="矩形 34"/>
          <p:cNvSpPr/>
          <p:nvPr/>
        </p:nvSpPr>
        <p:spPr>
          <a:xfrm>
            <a:off x="4908696" y="4581304"/>
            <a:ext cx="1105786" cy="595423"/>
          </a:xfrm>
          <a:prstGeom prst="rect">
            <a:avLst/>
          </a:prstGeom>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批次</a:t>
            </a:r>
            <a:r>
              <a:rPr lang="en-US" altLang="zh-CN" dirty="0" smtClean="0"/>
              <a:t>n</a:t>
            </a:r>
            <a:endParaRPr lang="zh-CN" altLang="en-US" dirty="0"/>
          </a:p>
        </p:txBody>
      </p:sp>
    </p:spTree>
    <p:extLst>
      <p:ext uri="{BB962C8B-B14F-4D97-AF65-F5344CB8AC3E}">
        <p14:creationId xmlns:p14="http://schemas.microsoft.com/office/powerpoint/2010/main" val="1303341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多任务策略（</a:t>
                </a:r>
                <a:r>
                  <a:rPr lang="en-US" altLang="zh-CN" dirty="0" smtClean="0"/>
                  <a:t>multi-task</a:t>
                </a:r>
                <a:r>
                  <a:rPr lang="zh-CN" altLang="en-US" dirty="0" smtClean="0"/>
                  <a:t>）：</a:t>
                </a:r>
                <a:endParaRPr lang="en-US" altLang="zh-CN" dirty="0" smtClean="0"/>
              </a:p>
              <a:p>
                <a:r>
                  <a:rPr lang="en-US" altLang="zh-CN" dirty="0"/>
                  <a:t>k</a:t>
                </a:r>
                <a:r>
                  <a:rPr lang="zh-CN" altLang="en-US" dirty="0" smtClean="0"/>
                  <a:t>个目标类别的分类概率</a:t>
                </a: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0</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𝑘</m:t>
                            </m:r>
                          </m:sub>
                        </m:sSub>
                      </m:e>
                    </m:d>
                  </m:oMath>
                </a14:m>
                <a:endParaRPr lang="en-US" altLang="zh-CN" b="0" dirty="0" smtClean="0">
                  <a:ea typeface="Cambria Math" panose="02040503050406030204" pitchFamily="18" charset="0"/>
                </a:endParaRPr>
              </a:p>
              <a:p>
                <a:r>
                  <a:rPr lang="zh-CN" altLang="en-US" dirty="0" smtClean="0"/>
                  <a:t>第</a:t>
                </a:r>
                <a:r>
                  <a:rPr lang="en-US" altLang="zh-CN" dirty="0" smtClean="0"/>
                  <a:t>k</a:t>
                </a:r>
                <a:r>
                  <a:rPr lang="zh-CN" altLang="en-US" dirty="0" smtClean="0"/>
                  <a:t>个类别对应的归一化偏移量和缩放尺度</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𝑡</m:t>
                        </m:r>
                      </m:e>
                      <m:sup>
                        <m:r>
                          <a:rPr lang="en-US" altLang="zh-CN" i="1">
                            <a:latin typeface="Cambria Math" panose="02040503050406030204" pitchFamily="18" charset="0"/>
                          </a:rPr>
                          <m:t>𝑘</m:t>
                        </m:r>
                      </m:sup>
                    </m:sSup>
                    <m:r>
                      <a:rPr lang="en-US" altLang="zh-CN" i="1">
                        <a:latin typeface="Cambria Math" panose="02040503050406030204" pitchFamily="18" charset="0"/>
                        <a:ea typeface="Cambria Math" panose="02040503050406030204" pitchFamily="18" charset="0"/>
                      </a:rPr>
                      <m:t>=</m:t>
                    </m:r>
                    <m:d>
                      <m:dPr>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𝑥</m:t>
                            </m:r>
                          </m:sub>
                          <m:sup>
                            <m:r>
                              <a:rPr lang="en-US" altLang="zh-CN" i="1">
                                <a:latin typeface="Cambria Math" panose="02040503050406030204" pitchFamily="18" charset="0"/>
                                <a:ea typeface="Cambria Math" panose="02040503050406030204" pitchFamily="18" charset="0"/>
                              </a:rPr>
                              <m:t>𝑘</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𝑦</m:t>
                            </m:r>
                          </m:sub>
                          <m:sup>
                            <m:r>
                              <a:rPr lang="en-US" altLang="zh-CN" i="1">
                                <a:latin typeface="Cambria Math" panose="02040503050406030204" pitchFamily="18" charset="0"/>
                                <a:ea typeface="Cambria Math" panose="02040503050406030204" pitchFamily="18" charset="0"/>
                              </a:rPr>
                              <m:t>𝑘</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𝑤</m:t>
                            </m:r>
                          </m:sub>
                          <m:sup>
                            <m:r>
                              <a:rPr lang="en-US" altLang="zh-CN" i="1">
                                <a:latin typeface="Cambria Math" panose="02040503050406030204" pitchFamily="18" charset="0"/>
                                <a:ea typeface="Cambria Math" panose="02040503050406030204" pitchFamily="18" charset="0"/>
                              </a:rPr>
                              <m:t>𝑘</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h</m:t>
                            </m:r>
                          </m:sub>
                          <m:sup>
                            <m:r>
                              <a:rPr lang="en-US" altLang="zh-CN" i="1">
                                <a:latin typeface="Cambria Math" panose="02040503050406030204" pitchFamily="18" charset="0"/>
                                <a:ea typeface="Cambria Math" panose="02040503050406030204" pitchFamily="18" charset="0"/>
                              </a:rPr>
                              <m:t>𝑘</m:t>
                            </m:r>
                          </m:sup>
                        </m:sSubSup>
                      </m:e>
                    </m:d>
                  </m:oMath>
                </a14:m>
                <a:endParaRPr lang="en-US" altLang="zh-CN" dirty="0" smtClean="0">
                  <a:ea typeface="Cambria Math" panose="02040503050406030204" pitchFamily="18" charset="0"/>
                </a:endParaRPr>
              </a:p>
              <a:p>
                <a:r>
                  <a:rPr lang="zh-CN" altLang="en-US" dirty="0" smtClean="0"/>
                  <a:t>联合损失函数</a:t>
                </a:r>
                <a14:m>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b="0" i="1" smtClean="0">
                                <a:latin typeface="Cambria Math" panose="02040503050406030204" pitchFamily="18" charset="0"/>
                              </a:rPr>
                              <m:t>𝑢</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d>
                    <m:r>
                      <a:rPr lang="en-US" altLang="zh-CN" i="1">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𝑐𝑙𝑠</m:t>
                        </m:r>
                      </m:sub>
                    </m:sSub>
                    <m:d>
                      <m:dPr>
                        <m:ctrlPr>
                          <a:rPr lang="en-US"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e>
                    </m:d>
                    <m:r>
                      <a:rPr lang="en-US" altLang="zh-CN" i="1" smtClean="0">
                        <a:latin typeface="Cambria Math" panose="02040503050406030204" pitchFamily="18" charset="0"/>
                        <a:ea typeface="Cambria Math" panose="02040503050406030204" pitchFamily="18" charset="0"/>
                      </a:rPr>
                      <m:t>+</m:t>
                    </m:r>
                    <m:r>
                      <a:rPr lang="el-GR" altLang="zh-CN" i="1">
                        <a:latin typeface="Cambria Math" panose="02040503050406030204" pitchFamily="18" charset="0"/>
                        <a:ea typeface="Cambria Math" panose="02040503050406030204" pitchFamily="18" charset="0"/>
                      </a:rPr>
                      <m:t>𝜆</m:t>
                    </m:r>
                    <m:d>
                      <m:dPr>
                        <m:begChr m:val="["/>
                        <m:endChr m:val="]"/>
                        <m:ctrlPr>
                          <a:rPr lang="el-GR"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𝑢</m:t>
                        </m:r>
                        <m:r>
                          <a:rPr lang="en-US" altLang="zh-CN" b="0" i="1" smtClean="0">
                            <a:latin typeface="Cambria Math" panose="02040503050406030204" pitchFamily="18" charset="0"/>
                            <a:ea typeface="Cambria Math" panose="02040503050406030204" pitchFamily="18" charset="0"/>
                          </a:rPr>
                          <m:t>≥1</m:t>
                        </m:r>
                      </m:e>
                    </m:d>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m:rPr>
                            <m:sty m:val="p"/>
                          </m:rPr>
                          <a:rPr lang="en-US" altLang="zh-CN" i="1">
                            <a:latin typeface="Cambria Math" panose="02040503050406030204" pitchFamily="18" charset="0"/>
                            <a:ea typeface="Cambria Math" panose="02040503050406030204" pitchFamily="18" charset="0"/>
                          </a:rPr>
                          <m:t>loc</m:t>
                        </m:r>
                      </m:sub>
                    </m:sSub>
                    <m:d>
                      <m:dPr>
                        <m:ctrlPr>
                          <a:rPr lang="el-GR" altLang="zh-CN" i="1" smtClean="0">
                            <a:latin typeface="Cambria Math" panose="02040503050406030204" pitchFamily="18" charset="0"/>
                            <a:ea typeface="Cambria Math" panose="02040503050406030204" pitchFamily="18" charset="0"/>
                          </a:rPr>
                        </m:ctrlPr>
                      </m:dPr>
                      <m:e>
                        <m:sSup>
                          <m:sSupPr>
                            <m:ctrlPr>
                              <a:rPr lang="el-GR"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𝑡</m:t>
                            </m:r>
                          </m:e>
                          <m:sup>
                            <m:r>
                              <a:rPr lang="en-US" altLang="zh-CN" b="0" i="1" smtClean="0">
                                <a:latin typeface="Cambria Math" panose="02040503050406030204" pitchFamily="18" charset="0"/>
                                <a:ea typeface="Cambria Math" panose="02040503050406030204" pitchFamily="18" charset="0"/>
                              </a:rPr>
                              <m:t>𝑢</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𝑣</m:t>
                        </m:r>
                      </m:e>
                    </m:d>
                  </m:oMath>
                </a14:m>
                <a:endParaRPr lang="en-US" altLang="zh-CN" dirty="0" smtClean="0">
                  <a:ea typeface="Cambria Math" panose="02040503050406030204" pitchFamily="18" charset="0"/>
                </a:endParaRPr>
              </a:p>
              <a:p>
                <a:r>
                  <a:rPr lang="zh-CN" altLang="en-US" dirty="0" smtClean="0"/>
                  <a:t>分类损失</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𝑐𝑙𝑠</m:t>
                        </m:r>
                      </m:sub>
                    </m:sSub>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𝑢</m:t>
                            </m:r>
                          </m:sub>
                        </m:sSub>
                      </m:e>
                    </m:func>
                  </m:oMath>
                </a14:m>
                <a:endParaRPr lang="en-US" altLang="zh-CN" dirty="0" smtClean="0"/>
              </a:p>
              <a:p>
                <a:r>
                  <a:rPr lang="zh-CN" altLang="en-US" dirty="0" smtClean="0"/>
                  <a:t>位置损失</a:t>
                </a:r>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m:rPr>
                            <m:sty m:val="p"/>
                          </m:rPr>
                          <a:rPr lang="en-US" altLang="zh-CN" i="1">
                            <a:latin typeface="Cambria Math" panose="02040503050406030204" pitchFamily="18" charset="0"/>
                            <a:ea typeface="Cambria Math" panose="02040503050406030204" pitchFamily="18" charset="0"/>
                          </a:rPr>
                          <m:t>loc</m:t>
                        </m:r>
                      </m:sub>
                    </m:sSub>
                    <m:d>
                      <m:dPr>
                        <m:ctrlPr>
                          <a:rPr lang="el-GR" altLang="zh-CN" i="1">
                            <a:latin typeface="Cambria Math" panose="02040503050406030204" pitchFamily="18" charset="0"/>
                            <a:ea typeface="Cambria Math" panose="02040503050406030204" pitchFamily="18" charset="0"/>
                          </a:rPr>
                        </m:ctrlPr>
                      </m:dPr>
                      <m:e>
                        <m:sSup>
                          <m:sSupPr>
                            <m:ctrlPr>
                              <a:rPr lang="el-GR"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𝑡</m:t>
                            </m:r>
                          </m:e>
                          <m:sup>
                            <m:r>
                              <a:rPr lang="en-US" altLang="zh-CN" i="1">
                                <a:latin typeface="Cambria Math" panose="02040503050406030204" pitchFamily="18" charset="0"/>
                                <a:ea typeface="Cambria Math" panose="02040503050406030204" pitchFamily="18" charset="0"/>
                              </a:rPr>
                              <m:t>𝑢</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𝑣</m:t>
                        </m:r>
                      </m:e>
                    </m:d>
                    <m:r>
                      <a:rPr lang="en-US" altLang="zh-CN" b="0" i="1" smtClean="0">
                        <a:latin typeface="Cambria Math" panose="02040503050406030204" pitchFamily="18" charset="0"/>
                        <a:ea typeface="Cambria Math" panose="02040503050406030204" pitchFamily="18" charset="0"/>
                      </a:rPr>
                      <m:t>=</m:t>
                    </m:r>
                    <m:nary>
                      <m:naryPr>
                        <m:chr m:val="∑"/>
                        <m:supHide m:val="on"/>
                        <m:ctrlPr>
                          <a:rPr lang="en-US" altLang="zh-CN" b="0"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𝑤</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h</m:t>
                            </m:r>
                          </m:e>
                        </m:d>
                      </m:sub>
                      <m:sup/>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𝑠𝑚𝑜𝑜𝑡h</m:t>
                            </m:r>
                          </m:e>
                          <m: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1</m:t>
                                </m:r>
                              </m:sub>
                            </m:sSub>
                          </m:sub>
                        </m:sSub>
                        <m:d>
                          <m:dPr>
                            <m:ctrlPr>
                              <a:rPr lang="en-US" altLang="zh-CN" b="0" i="1" smtClean="0">
                                <a:latin typeface="Cambria Math" panose="02040503050406030204" pitchFamily="18" charset="0"/>
                                <a:ea typeface="Cambria Math" panose="02040503050406030204" pitchFamily="18" charset="0"/>
                              </a:rPr>
                            </m:ctrlPr>
                          </m:dPr>
                          <m:e>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𝑡</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𝑢</m:t>
                                </m:r>
                              </m:sup>
                            </m:sSubSup>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𝑣</m:t>
                                </m:r>
                              </m:e>
                              <m:sub>
                                <m:r>
                                  <a:rPr lang="en-US" altLang="zh-CN" b="0" i="1" smtClean="0">
                                    <a:latin typeface="Cambria Math" panose="02040503050406030204" pitchFamily="18" charset="0"/>
                                    <a:ea typeface="Cambria Math" panose="02040503050406030204" pitchFamily="18" charset="0"/>
                                  </a:rPr>
                                  <m:t>𝑖</m:t>
                                </m:r>
                              </m:sub>
                            </m:sSub>
                          </m:e>
                        </m:d>
                      </m:e>
                    </m:nary>
                  </m:oMath>
                </a14:m>
                <a:endParaRPr lang="en-US" altLang="zh-CN" b="0" dirty="0" smtClean="0">
                  <a:ea typeface="Cambria Math" panose="02040503050406030204" pitchFamily="18" charset="0"/>
                </a:endParaRPr>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𝑠𝑚𝑜𝑜𝑡h</m:t>
                        </m:r>
                      </m:e>
                      <m:sub>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1</m:t>
                            </m:r>
                          </m:sub>
                        </m:sSub>
                      </m:sub>
                    </m:sSub>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0.5</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2</m:t>
                                </m:r>
                              </m:sup>
                            </m:sSup>
                            <m:d>
                              <m:dPr>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ea typeface="Cambria Math" panose="02040503050406030204" pitchFamily="18" charset="0"/>
                                  </a:rPr>
                                  <m:t>&lt;1</m:t>
                                </m:r>
                              </m:e>
                            </m:d>
                          </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−0.5</m:t>
                            </m:r>
                            <m:d>
                              <m:dPr>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ea typeface="Cambria Math" panose="02040503050406030204" pitchFamily="18" charset="0"/>
                                  </a:rPr>
                                  <m:t>≥1</m:t>
                                </m:r>
                              </m:e>
                            </m:d>
                          </m:e>
                        </m:eqArr>
                      </m:e>
                    </m:d>
                  </m:oMath>
                </a14:m>
                <a:endParaRPr lang="en-US" altLang="zh-CN" dirty="0" smtClean="0"/>
              </a:p>
              <a:p>
                <a14:m>
                  <m:oMath xmlns:m="http://schemas.openxmlformats.org/officeDocument/2006/math">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e>
                    </m:d>
                    <m:r>
                      <a:rPr lang="zh-CN" altLang="en-US" i="1">
                        <a:latin typeface="Cambria Math" panose="02040503050406030204" pitchFamily="18" charset="0"/>
                      </a:rPr>
                      <m:t>是</m:t>
                    </m:r>
                  </m:oMath>
                </a14:m>
                <a:r>
                  <a:rPr lang="zh-CN" altLang="en-US" dirty="0" smtClean="0"/>
                  <a:t>示性函数，</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𝑡𝑟𝑢𝑒</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=1;</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𝑓𝑎𝑙𝑠𝑒</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=0</m:t>
                    </m:r>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690473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调优训练：</a:t>
                </a:r>
                <a:endParaRPr lang="en-US" altLang="zh-CN" dirty="0" smtClean="0"/>
              </a:p>
              <a:p>
                <a:pPr lvl="1"/>
                <a:r>
                  <a:rPr lang="zh-CN" altLang="en-US" dirty="0" smtClean="0"/>
                  <a:t>假设每批次</a:t>
                </a:r>
                <a:r>
                  <a:rPr lang="en-US" altLang="zh-CN" dirty="0" smtClean="0"/>
                  <a:t>128</a:t>
                </a:r>
                <a:r>
                  <a:rPr lang="zh-CN" altLang="en-US" dirty="0" smtClean="0"/>
                  <a:t>个</a:t>
                </a:r>
                <a:r>
                  <a:rPr lang="en-US" altLang="zh-CN" dirty="0" smtClean="0"/>
                  <a:t>ROI</a:t>
                </a:r>
                <a:r>
                  <a:rPr lang="zh-CN" altLang="en-US" dirty="0" smtClean="0"/>
                  <a:t>，来自两张图像：</a:t>
                </a:r>
                <a:endParaRPr lang="en-US" altLang="zh-CN" dirty="0" smtClean="0"/>
              </a:p>
              <a:p>
                <a:pPr lvl="1"/>
                <a:r>
                  <a:rPr lang="zh-CN" altLang="en-US" dirty="0" smtClean="0"/>
                  <a:t>每张图像</a:t>
                </a:r>
                <a:r>
                  <a:rPr lang="en-US" altLang="zh-CN" dirty="0" smtClean="0"/>
                  <a:t>64</a:t>
                </a:r>
                <a:r>
                  <a:rPr lang="zh-CN" altLang="en-US" dirty="0" smtClean="0"/>
                  <a:t>个</a:t>
                </a:r>
                <a:r>
                  <a:rPr lang="en-US" altLang="zh-CN" dirty="0" smtClean="0"/>
                  <a:t>ROI</a:t>
                </a:r>
                <a:r>
                  <a:rPr lang="zh-CN" altLang="en-US" dirty="0" smtClean="0"/>
                  <a:t>中</a:t>
                </a:r>
                <a:r>
                  <a:rPr lang="en-US" altLang="zh-CN" dirty="0" smtClean="0"/>
                  <a:t>25%</a:t>
                </a:r>
                <a:r>
                  <a:rPr lang="zh-CN" altLang="en-US" dirty="0" smtClean="0"/>
                  <a:t>是前景目标，</a:t>
                </a:r>
                <a:r>
                  <a:rPr lang="en-US" altLang="zh-CN" dirty="0" smtClean="0"/>
                  <a:t>75%</a:t>
                </a:r>
                <a:r>
                  <a:rPr lang="zh-CN" altLang="en-US" dirty="0" smtClean="0"/>
                  <a:t>是背景</a:t>
                </a:r>
                <a:endParaRPr lang="en-US" altLang="zh-CN" dirty="0" smtClean="0"/>
              </a:p>
              <a:p>
                <a:pPr lvl="1"/>
                <a:r>
                  <a:rPr lang="zh-CN" altLang="en-US" dirty="0" smtClean="0"/>
                  <a:t>划分依据是</a:t>
                </a:r>
                <a:r>
                  <a:rPr lang="en-US" altLang="zh-CN" dirty="0" smtClean="0"/>
                  <a:t>ROI</a:t>
                </a:r>
                <a:r>
                  <a:rPr lang="zh-CN" altLang="en-US" dirty="0" smtClean="0"/>
                  <a:t>和真值的交并比（</a:t>
                </a:r>
                <a:r>
                  <a:rPr lang="en-US" altLang="zh-CN" dirty="0" smtClean="0"/>
                  <a:t>IOU</a:t>
                </a:r>
                <a:r>
                  <a:rPr lang="zh-CN" altLang="en-US" dirty="0" smtClean="0"/>
                  <a:t>）</a:t>
                </a:r>
                <a:endParaRPr lang="en-US" altLang="zh-CN" dirty="0" smtClean="0"/>
              </a:p>
              <a:p>
                <a:pPr lvl="1"/>
                <a14:m>
                  <m:oMath xmlns:m="http://schemas.openxmlformats.org/officeDocument/2006/math">
                    <m:r>
                      <a:rPr lang="en-US" altLang="zh-CN" b="0" i="1" smtClean="0">
                        <a:latin typeface="Cambria Math" panose="02040503050406030204" pitchFamily="18" charset="0"/>
                      </a:rPr>
                      <m:t>𝐼𝑂𝑈</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0.5</m:t>
                        </m:r>
                      </m:e>
                    </m:d>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m:t>
                        </m:r>
                      </m:e>
                    </m:d>
                    <m:r>
                      <a:rPr lang="zh-CN" altLang="en-US" i="1">
                        <a:latin typeface="Cambria Math" panose="02040503050406030204" pitchFamily="18" charset="0"/>
                        <a:ea typeface="Cambria Math" panose="02040503050406030204" pitchFamily="18" charset="0"/>
                      </a:rPr>
                      <m:t>，</m:t>
                    </m:r>
                  </m:oMath>
                </a14:m>
                <a:r>
                  <a:rPr lang="en-US" altLang="zh-CN" dirty="0" smtClean="0"/>
                  <a:t>ROI</a:t>
                </a:r>
                <a:r>
                  <a:rPr lang="zh-CN" altLang="en-US" dirty="0" smtClean="0"/>
                  <a:t>作为目标</a:t>
                </a:r>
                <a:endParaRPr lang="en-US" altLang="zh-CN" dirty="0" smtClean="0"/>
              </a:p>
              <a:p>
                <a:pPr lvl="1"/>
                <a14:m>
                  <m:oMath xmlns:m="http://schemas.openxmlformats.org/officeDocument/2006/math">
                    <m:r>
                      <a:rPr lang="en-US" altLang="zh-CN" i="1">
                        <a:latin typeface="Cambria Math" panose="02040503050406030204" pitchFamily="18" charset="0"/>
                      </a:rPr>
                      <m:t>𝐼𝑂𝑈</m:t>
                    </m:r>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1</m:t>
                        </m:r>
                      </m:e>
                    </m:d>
                    <m:r>
                      <a:rPr lang="en-US" altLang="zh-CN" i="1">
                        <a:latin typeface="Cambria Math" panose="02040503050406030204" pitchFamily="18" charset="0"/>
                        <a:ea typeface="Cambria Math" panose="02040503050406030204" pitchFamily="18" charset="0"/>
                      </a:rPr>
                      <m:t>,</m:t>
                    </m:r>
                    <m:d>
                      <m:dPr>
                        <m:begChr m:val=""/>
                        <m:ctrlPr>
                          <a:rPr lang="en-US"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0.5</m:t>
                        </m:r>
                      </m:e>
                    </m:d>
                    <m:r>
                      <a:rPr lang="en-US" altLang="zh-CN" i="1" smtClean="0">
                        <a:latin typeface="Cambria Math" panose="02040503050406030204" pitchFamily="18" charset="0"/>
                        <a:ea typeface="Cambria Math" panose="02040503050406030204" pitchFamily="18" charset="0"/>
                      </a:rPr>
                      <m:t> </m:t>
                    </m:r>
                    <m:r>
                      <a:rPr lang="zh-CN" altLang="en-US" i="1">
                        <a:latin typeface="Cambria Math" panose="02040503050406030204" pitchFamily="18" charset="0"/>
                        <a:ea typeface="Cambria Math" panose="02040503050406030204" pitchFamily="18" charset="0"/>
                      </a:rPr>
                      <m:t>，</m:t>
                    </m:r>
                  </m:oMath>
                </a14:m>
                <a:r>
                  <a:rPr lang="en-US" altLang="zh-CN" dirty="0"/>
                  <a:t>ROI</a:t>
                </a:r>
                <a:r>
                  <a:rPr lang="zh-CN" altLang="en-US" dirty="0" smtClean="0"/>
                  <a:t>作背景</a:t>
                </a:r>
                <a:endParaRPr lang="en-US" altLang="zh-CN" dirty="0"/>
              </a:p>
              <a:p>
                <a:pPr lvl="1"/>
                <a14:m>
                  <m:oMath xmlns:m="http://schemas.openxmlformats.org/officeDocument/2006/math">
                    <m:r>
                      <a:rPr lang="en-US" altLang="zh-CN" i="1">
                        <a:latin typeface="Cambria Math" panose="02040503050406030204" pitchFamily="18" charset="0"/>
                      </a:rPr>
                      <m:t>𝐼𝑂𝑈</m:t>
                    </m:r>
                    <m:r>
                      <a:rPr lang="en-US" altLang="zh-CN" i="1" smtClean="0">
                        <a:latin typeface="Cambria Math" panose="02040503050406030204" pitchFamily="18" charset="0"/>
                        <a:ea typeface="Cambria Math" panose="02040503050406030204" pitchFamily="18" charset="0"/>
                      </a:rPr>
                      <m:t>&lt;</m:t>
                    </m:r>
                    <m:r>
                      <a:rPr lang="en-US" altLang="zh-CN" b="0" i="1" smtClean="0">
                        <a:latin typeface="Cambria Math" panose="02040503050406030204" pitchFamily="18" charset="0"/>
                        <a:ea typeface="Cambria Math" panose="02040503050406030204" pitchFamily="18" charset="0"/>
                      </a:rPr>
                      <m:t>0.</m:t>
                    </m:r>
                    <m:r>
                      <a:rPr lang="en-US" altLang="zh-CN"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1</m:t>
                    </m:r>
                    <m:r>
                      <a:rPr lang="zh-CN" altLang="en-US" i="1">
                        <a:latin typeface="Cambria Math" panose="02040503050406030204" pitchFamily="18" charset="0"/>
                        <a:ea typeface="Cambria Math" panose="02040503050406030204" pitchFamily="18" charset="0"/>
                      </a:rPr>
                      <m:t>，</m:t>
                    </m:r>
                  </m:oMath>
                </a14:m>
                <a:r>
                  <a:rPr lang="en-US" altLang="zh-CN" dirty="0" smtClean="0"/>
                  <a:t>ROI</a:t>
                </a:r>
                <a:r>
                  <a:rPr lang="zh-CN" altLang="en-US" dirty="0" smtClean="0"/>
                  <a:t>不</a:t>
                </a:r>
                <a:r>
                  <a:rPr lang="zh-CN" altLang="en-US" dirty="0"/>
                  <a:t>参与</a:t>
                </a:r>
                <a:r>
                  <a:rPr lang="zh-CN" altLang="en-US" dirty="0" smtClean="0"/>
                  <a:t>训练</a:t>
                </a:r>
                <a:endParaRPr lang="en-US" altLang="zh-CN" dirty="0" smtClean="0"/>
              </a:p>
              <a:p>
                <a:pPr lvl="1"/>
                <a:r>
                  <a:rPr lang="zh-CN" altLang="en-US" dirty="0" smtClean="0"/>
                  <a:t>训练完成后使用</a:t>
                </a:r>
                <a14:m>
                  <m:oMath xmlns:m="http://schemas.openxmlformats.org/officeDocument/2006/math">
                    <m:r>
                      <a:rPr lang="en-US" altLang="zh-CN" i="1">
                        <a:latin typeface="Cambria Math" panose="02040503050406030204" pitchFamily="18" charset="0"/>
                      </a:rPr>
                      <m:t>𝐼𝑂𝑈</m:t>
                    </m:r>
                    <m:r>
                      <a:rPr lang="en-US" altLang="zh-CN" i="1">
                        <a:latin typeface="Cambria Math" panose="02040503050406030204" pitchFamily="18" charset="0"/>
                        <a:ea typeface="Cambria Math" panose="02040503050406030204" pitchFamily="18" charset="0"/>
                      </a:rPr>
                      <m:t>&lt;0. 1</m:t>
                    </m:r>
                  </m:oMath>
                </a14:m>
                <a:r>
                  <a:rPr lang="zh-CN" altLang="en-US" dirty="0" smtClean="0"/>
                  <a:t>的</a:t>
                </a:r>
                <a:r>
                  <a:rPr lang="en-US" altLang="zh-CN" dirty="0" smtClean="0"/>
                  <a:t>ROI</a:t>
                </a:r>
                <a:r>
                  <a:rPr lang="zh-CN" altLang="en-US" dirty="0" smtClean="0"/>
                  <a:t>进行难例挖掘进一步调优</a:t>
                </a:r>
                <a:endParaRPr lang="en-US" altLang="zh-CN" dirty="0" smtClean="0"/>
              </a:p>
              <a:p>
                <a:pPr lvl="1"/>
                <a:r>
                  <a:rPr lang="zh-CN" altLang="en-US" dirty="0" smtClean="0"/>
                  <a:t>通常使用</a:t>
                </a:r>
                <a:r>
                  <a:rPr lang="en-US" altLang="zh-CN" dirty="0" smtClean="0"/>
                  <a:t>50%</a:t>
                </a:r>
                <a:r>
                  <a:rPr lang="zh-CN" altLang="en-US" dirty="0" smtClean="0"/>
                  <a:t>概率随机水平翻转图像</a:t>
                </a:r>
                <a:endParaRPr lang="en-US" altLang="zh-CN" dirty="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629798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前向传播和反向传播：</a:t>
                </a:r>
                <a:endParaRPr lang="en-US" altLang="zh-CN" dirty="0" smtClean="0"/>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oMath>
                </a14:m>
                <a:r>
                  <a:rPr lang="zh-CN" altLang="en-US" dirty="0" smtClean="0"/>
                  <a:t>是</a:t>
                </a:r>
                <a:r>
                  <a:rPr lang="en-US" altLang="zh-CN" dirty="0" smtClean="0"/>
                  <a:t>ROI</a:t>
                </a:r>
                <a:r>
                  <a:rPr lang="zh-CN" altLang="en-US" dirty="0" smtClean="0"/>
                  <a:t>池化层的第</a:t>
                </a:r>
                <a14:m>
                  <m:oMath xmlns:m="http://schemas.openxmlformats.org/officeDocument/2006/math">
                    <m:r>
                      <a:rPr lang="en-US" altLang="zh-CN" b="0" i="1" smtClean="0">
                        <a:latin typeface="Cambria Math" panose="02040503050406030204" pitchFamily="18" charset="0"/>
                      </a:rPr>
                      <m:t>𝑖</m:t>
                    </m:r>
                  </m:oMath>
                </a14:m>
                <a:r>
                  <a:rPr lang="zh-CN" altLang="en-US" dirty="0" smtClean="0"/>
                  <a:t>个输入</a:t>
                </a:r>
                <a:endParaRPr lang="en-US" altLang="zh-CN" dirty="0" smtClean="0"/>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𝑟𝑗</m:t>
                        </m:r>
                      </m:sub>
                    </m:sSub>
                  </m:oMath>
                </a14:m>
                <a:r>
                  <a:rPr lang="zh-CN" altLang="en-US" dirty="0" smtClean="0"/>
                  <a:t>是</a:t>
                </a:r>
                <a:r>
                  <a:rPr lang="en-US" altLang="zh-CN" dirty="0" smtClean="0"/>
                  <a:t>ROI</a:t>
                </a:r>
                <a:r>
                  <a:rPr lang="zh-CN" altLang="en-US" dirty="0" smtClean="0"/>
                  <a:t>池化层对</a:t>
                </a:r>
                <a14:m>
                  <m:oMath xmlns:m="http://schemas.openxmlformats.org/officeDocument/2006/math">
                    <m:r>
                      <m:rPr>
                        <m:sty m:val="p"/>
                      </m:rPr>
                      <a:rPr lang="en-US" altLang="zh-CN" i="1" dirty="0">
                        <a:latin typeface="Cambria Math" panose="02040503050406030204" pitchFamily="18" charset="0"/>
                      </a:rPr>
                      <m:t>r</m:t>
                    </m:r>
                  </m:oMath>
                </a14:m>
                <a:r>
                  <a:rPr lang="zh-CN" altLang="en-US" dirty="0" smtClean="0"/>
                  <a:t>个</a:t>
                </a:r>
                <a:r>
                  <a:rPr lang="en-US" altLang="zh-CN" dirty="0" smtClean="0"/>
                  <a:t>ROI</a:t>
                </a:r>
                <a:r>
                  <a:rPr lang="zh-CN" altLang="en-US" dirty="0" smtClean="0"/>
                  <a:t>进行最大池化后的第</a:t>
                </a:r>
                <a14:m>
                  <m:oMath xmlns:m="http://schemas.openxmlformats.org/officeDocument/2006/math">
                    <m:r>
                      <a:rPr lang="en-US" altLang="zh-CN" b="0" i="1" smtClean="0">
                        <a:latin typeface="Cambria Math" panose="02040503050406030204" pitchFamily="18" charset="0"/>
                      </a:rPr>
                      <m:t>𝑗</m:t>
                    </m:r>
                  </m:oMath>
                </a14:m>
                <a:r>
                  <a:rPr lang="zh-CN" altLang="en-US" dirty="0" smtClean="0"/>
                  <a:t>个输出</a:t>
                </a:r>
                <a:endParaRPr lang="en-US" altLang="zh-CN" dirty="0" smtClean="0"/>
              </a:p>
              <a:p>
                <a:r>
                  <a:rPr lang="en-US" altLang="zh-CN" dirty="0" smtClean="0"/>
                  <a:t>ROI</a:t>
                </a:r>
                <a:r>
                  <a:rPr lang="zh-CN" altLang="en-US" dirty="0" smtClean="0"/>
                  <a:t>池化层前向传播后，</a:t>
                </a:r>
                <a:endParaRPr lang="en-US" altLang="zh-CN" dirty="0" smtClean="0"/>
              </a:p>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𝑟𝑗</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sub>
                    </m:sSub>
                  </m:oMath>
                </a14:m>
                <a:r>
                  <a:rPr lang="zh-CN" altLang="en-US" dirty="0" smtClean="0"/>
                  <a:t> </a:t>
                </a:r>
                <a:r>
                  <a:rPr lang="en-US" altLang="zh-CN" dirty="0" smtClean="0"/>
                  <a:t>,</a:t>
                </a:r>
                <a:r>
                  <a:rPr lang="zh-CN" altLang="en-US" dirty="0" smtClean="0"/>
                  <a:t>其中</a:t>
                </a:r>
                <a14:m>
                  <m:oMath xmlns:m="http://schemas.openxmlformats.org/officeDocument/2006/math">
                    <m:r>
                      <a:rPr lang="en-US" altLang="zh-CN" i="1">
                        <a:latin typeface="Cambria Math" panose="02040503050406030204" pitchFamily="18" charset="0"/>
                      </a:rPr>
                      <m:t>𝑖</m:t>
                    </m:r>
                    <m:r>
                      <a:rPr lang="en-US" altLang="zh-CN" i="1">
                        <a:latin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𝑟</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𝑎𝑟𝑔𝑚𝑎𝑥</m:t>
                        </m:r>
                      </m:e>
                      <m: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𝑖</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𝑟</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e>
                        </m:d>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𝑖</m:t>
                            </m:r>
                          </m:e>
                          <m:sup>
                            <m:r>
                              <a:rPr lang="en-US" altLang="zh-CN" b="0" i="1" smtClean="0">
                                <a:latin typeface="Cambria Math" panose="02040503050406030204" pitchFamily="18" charset="0"/>
                              </a:rPr>
                              <m:t>′</m:t>
                            </m:r>
                          </m:sup>
                        </m:sSup>
                      </m:sub>
                    </m:sSub>
                    <m:r>
                      <a:rPr lang="en-US" altLang="zh-CN" b="0" i="1" smtClean="0">
                        <a:latin typeface="Cambria Math" panose="02040503050406030204" pitchFamily="18" charset="0"/>
                      </a:rPr>
                      <m:t> </m:t>
                    </m:r>
                  </m:oMath>
                </a14:m>
                <a:endParaRPr lang="en-US" altLang="zh-CN" b="0" dirty="0" smtClean="0"/>
              </a:p>
              <a:p>
                <a14:m>
                  <m:oMath xmlns:m="http://schemas.openxmlformats.org/officeDocument/2006/math">
                    <m:r>
                      <a:rPr lang="en-US" altLang="zh-CN" i="1">
                        <a:latin typeface="Cambria Math" panose="02040503050406030204" pitchFamily="18" charset="0"/>
                        <a:ea typeface="Cambria Math" panose="02040503050406030204" pitchFamily="18" charset="0"/>
                      </a:rPr>
                      <m:t>𝑅</m:t>
                    </m:r>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𝑟</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𝑗</m:t>
                        </m:r>
                      </m:e>
                    </m:d>
                  </m:oMath>
                </a14:m>
                <a:r>
                  <a:rPr lang="zh-CN" altLang="en-US" dirty="0" smtClean="0"/>
                  <a:t>表示所有以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𝑟𝑗</m:t>
                        </m:r>
                      </m:sub>
                    </m:sSub>
                  </m:oMath>
                </a14:m>
                <a:r>
                  <a:rPr lang="zh-CN" altLang="en-US" dirty="0" smtClean="0"/>
                  <a:t>为最大池化输出的所有</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oMath>
                </a14:m>
                <a:r>
                  <a:rPr lang="zh-CN" altLang="en-US" dirty="0" smtClean="0"/>
                  <a:t>对应的指标</a:t>
                </a:r>
                <a14:m>
                  <m:oMath xmlns:m="http://schemas.openxmlformats.org/officeDocument/2006/math">
                    <m:r>
                      <a:rPr lang="en-US" altLang="zh-CN" b="0" i="1" smtClean="0">
                        <a:latin typeface="Cambria Math" panose="02040503050406030204" pitchFamily="18" charset="0"/>
                      </a:rPr>
                      <m:t>𝑖</m:t>
                    </m:r>
                  </m:oMath>
                </a14:m>
                <a:r>
                  <a:rPr lang="zh-CN" altLang="en-US" dirty="0" smtClean="0"/>
                  <a:t>的集合。</a:t>
                </a:r>
                <a:endParaRPr lang="en-US" altLang="zh-CN" baseline="-25000" dirty="0" smtClean="0"/>
              </a:p>
              <a:p>
                <a:r>
                  <a:rPr lang="zh-CN" altLang="en-US" dirty="0" smtClean="0"/>
                  <a:t>损失函数</a:t>
                </a:r>
                <a:r>
                  <a:rPr lang="zh-CN" altLang="en-US" dirty="0"/>
                  <a:t>相对</a:t>
                </a:r>
                <a:r>
                  <a:rPr lang="zh-CN" altLang="en-US" dirty="0" smtClean="0"/>
                  <a:t>于</a:t>
                </a:r>
                <a:r>
                  <a:rPr lang="en-US" altLang="zh-CN" dirty="0" smtClean="0"/>
                  <a:t>ROI</a:t>
                </a:r>
                <a:r>
                  <a:rPr lang="zh-CN" altLang="en-US" dirty="0" smtClean="0"/>
                  <a:t>层输入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oMath>
                </a14:m>
                <a:r>
                  <a:rPr lang="en-US" altLang="zh-CN" dirty="0" smtClean="0"/>
                  <a:t>,</a:t>
                </a:r>
                <a:r>
                  <a:rPr lang="zh-CN" altLang="en-US" dirty="0" smtClean="0"/>
                  <a:t>偏导数为</a:t>
                </a:r>
                <a14:m>
                  <m:oMath xmlns:m="http://schemas.openxmlformats.org/officeDocument/2006/math">
                    <m:f>
                      <m:fPr>
                        <m:ctrlPr>
                          <a:rPr lang="en-US" altLang="zh-CN" i="1" smtClean="0">
                            <a:latin typeface="Cambria Math" panose="02040503050406030204" pitchFamily="18" charset="0"/>
                          </a:rPr>
                        </m:ctrlPr>
                      </m:fPr>
                      <m:num>
                        <m:r>
                          <a:rPr lang="zh-CN" altLang="en-US" i="1" smtClean="0">
                            <a:latin typeface="Cambria Math" panose="02040503050406030204" pitchFamily="18" charset="0"/>
                          </a:rPr>
                          <m:t>𝜕</m:t>
                        </m:r>
                        <m:r>
                          <a:rPr lang="en-US" altLang="zh-CN" b="0" i="1" smtClean="0">
                            <a:latin typeface="Cambria Math" panose="02040503050406030204" pitchFamily="18" charset="0"/>
                          </a:rPr>
                          <m:t>𝐿</m:t>
                        </m:r>
                      </m:num>
                      <m:den>
                        <m:r>
                          <a:rPr lang="zh-CN" altLang="en-US"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den>
                    </m:f>
                    <m:r>
                      <a:rPr lang="en-US" altLang="zh-CN" i="1" smtClean="0">
                        <a:latin typeface="Cambria Math" panose="02040503050406030204" pitchFamily="18" charset="0"/>
                        <a:ea typeface="Cambria Math" panose="02040503050406030204" pitchFamily="18" charset="0"/>
                      </a:rPr>
                      <m:t>=</m:t>
                    </m:r>
                    <m:nary>
                      <m:naryPr>
                        <m:chr m:val="∑"/>
                        <m:supHide m:val="on"/>
                        <m:ctrlPr>
                          <a:rPr lang="en-US"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𝑟</m:t>
                        </m:r>
                      </m:sub>
                      <m:sup/>
                      <m:e>
                        <m:nary>
                          <m:naryPr>
                            <m:chr m:val="∑"/>
                            <m:supHide m:val="on"/>
                            <m:ctrlPr>
                              <a:rPr lang="en-US"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𝑗</m:t>
                            </m:r>
                          </m:sub>
                          <m:sup/>
                          <m:e>
                            <m:d>
                              <m:dPr>
                                <m:begChr m:val="["/>
                                <m:endChr m:val="]"/>
                                <m:ctrlPr>
                                  <a:rPr lang="en-US"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𝑟</m:t>
                                    </m:r>
                                    <m:r>
                                      <a:rPr lang="en-US" altLang="zh-CN" i="1">
                                        <a:latin typeface="Cambria Math" panose="02040503050406030204" pitchFamily="18" charset="0"/>
                                      </a:rPr>
                                      <m:t>,</m:t>
                                    </m:r>
                                    <m:r>
                                      <a:rPr lang="en-US" altLang="zh-CN" i="1">
                                        <a:latin typeface="Cambria Math" panose="02040503050406030204" pitchFamily="18" charset="0"/>
                                      </a:rPr>
                                      <m:t>𝑗</m:t>
                                    </m:r>
                                  </m:e>
                                </m:d>
                              </m:e>
                            </m:d>
                          </m:e>
                        </m:nary>
                      </m:e>
                    </m:nary>
                    <m:f>
                      <m:fPr>
                        <m:ctrlPr>
                          <a:rPr lang="en-US" altLang="zh-CN" i="1" smtClean="0">
                            <a:latin typeface="Cambria Math" panose="02040503050406030204" pitchFamily="18" charset="0"/>
                            <a:ea typeface="Cambria Math" panose="02040503050406030204" pitchFamily="18" charset="0"/>
                          </a:rPr>
                        </m:ctrlPr>
                      </m:fPr>
                      <m:num>
                        <m:r>
                          <a:rPr lang="zh-CN" altLang="en-US"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𝐿</m:t>
                        </m:r>
                      </m:num>
                      <m:den>
                        <m:r>
                          <a:rPr lang="zh-CN" altLang="en-US"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𝑟𝑗</m:t>
                            </m:r>
                          </m:sub>
                        </m:sSub>
                      </m:den>
                    </m:f>
                  </m:oMath>
                </a14:m>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756661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p:sp>
        <p:nvSpPr>
          <p:cNvPr id="3" name="内容占位符 2"/>
          <p:cNvSpPr>
            <a:spLocks noGrp="1"/>
          </p:cNvSpPr>
          <p:nvPr>
            <p:ph sz="quarter" idx="13"/>
          </p:nvPr>
        </p:nvSpPr>
        <p:spPr/>
        <p:txBody>
          <a:bodyPr/>
          <a:lstStyle/>
          <a:p>
            <a:r>
              <a:rPr lang="zh-CN" altLang="en-US" dirty="0" smtClean="0"/>
              <a:t>测试过程：</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6530" y="1622191"/>
            <a:ext cx="9157352" cy="4515083"/>
          </a:xfrm>
          <a:prstGeom prst="rect">
            <a:avLst/>
          </a:prstGeom>
        </p:spPr>
      </p:pic>
    </p:spTree>
    <p:extLst>
      <p:ext uri="{BB962C8B-B14F-4D97-AF65-F5344CB8AC3E}">
        <p14:creationId xmlns:p14="http://schemas.microsoft.com/office/powerpoint/2010/main" val="19745371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 R-CNN</a:t>
            </a:r>
            <a:endParaRPr lang="zh-CN" altLang="en-US" dirty="0"/>
          </a:p>
        </p:txBody>
      </p:sp>
      <p:sp>
        <p:nvSpPr>
          <p:cNvPr id="3" name="内容占位符 2"/>
          <p:cNvSpPr>
            <a:spLocks noGrp="1"/>
          </p:cNvSpPr>
          <p:nvPr>
            <p:ph sz="quarter" idx="13"/>
          </p:nvPr>
        </p:nvSpPr>
        <p:spPr/>
        <p:txBody>
          <a:bodyPr/>
          <a:lstStyle/>
          <a:p>
            <a:r>
              <a:rPr lang="zh-CN" altLang="en-US" dirty="0" smtClean="0"/>
              <a:t>训练和预测结构：</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4" y="1884170"/>
            <a:ext cx="4915306" cy="4253105"/>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39563" y="1884170"/>
            <a:ext cx="5980926" cy="4253103"/>
          </a:xfrm>
          <a:prstGeom prst="rect">
            <a:avLst/>
          </a:prstGeom>
        </p:spPr>
      </p:pic>
      <p:cxnSp>
        <p:nvCxnSpPr>
          <p:cNvPr id="7" name="直接连接符 6"/>
          <p:cNvCxnSpPr/>
          <p:nvPr/>
        </p:nvCxnSpPr>
        <p:spPr>
          <a:xfrm>
            <a:off x="5539563" y="1884170"/>
            <a:ext cx="0" cy="425310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41399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p:sp>
        <p:nvSpPr>
          <p:cNvPr id="3" name="内容占位符 2"/>
          <p:cNvSpPr>
            <a:spLocks noGrp="1"/>
          </p:cNvSpPr>
          <p:nvPr>
            <p:ph sz="quarter" idx="13"/>
          </p:nvPr>
        </p:nvSpPr>
        <p:spPr/>
        <p:txBody>
          <a:bodyPr/>
          <a:lstStyle/>
          <a:p>
            <a:r>
              <a:rPr lang="en-US" altLang="zh-CN" dirty="0" smtClean="0"/>
              <a:t>Faster R-CNN</a:t>
            </a:r>
            <a:r>
              <a:rPr lang="zh-CN" altLang="en-US" dirty="0" smtClean="0"/>
              <a:t>结构：</a:t>
            </a:r>
            <a:endParaRPr lang="en-US" altLang="zh-CN" dirty="0" smtClean="0"/>
          </a:p>
          <a:p>
            <a:pPr lvl="1"/>
            <a:r>
              <a:rPr lang="en-US" altLang="zh-CN" dirty="0" smtClean="0"/>
              <a:t>RPN</a:t>
            </a:r>
            <a:r>
              <a:rPr lang="zh-CN" altLang="en-US" dirty="0" smtClean="0"/>
              <a:t>（</a:t>
            </a:r>
            <a:r>
              <a:rPr lang="en-US" altLang="zh-CN" dirty="0" smtClean="0"/>
              <a:t>Region Proposal Network</a:t>
            </a:r>
            <a:r>
              <a:rPr lang="zh-CN" altLang="en-US" dirty="0" smtClean="0"/>
              <a:t>）</a:t>
            </a:r>
            <a:endParaRPr lang="en-US" altLang="zh-CN" dirty="0" smtClean="0"/>
          </a:p>
          <a:p>
            <a:pPr lvl="1"/>
            <a:r>
              <a:rPr lang="en-US" altLang="zh-CN" dirty="0" smtClean="0"/>
              <a:t>Fast R-CNN</a:t>
            </a:r>
            <a:r>
              <a:rPr lang="zh-CN" altLang="en-US" dirty="0" smtClean="0"/>
              <a:t>目标检测器</a:t>
            </a:r>
            <a:endParaRPr lang="en-US" altLang="zh-CN" dirty="0" smtClean="0"/>
          </a:p>
          <a:p>
            <a:pPr marL="800100" lvl="1" indent="-342900">
              <a:buFont typeface="+mj-lt"/>
              <a:buAutoNum type="arabicPeriod"/>
            </a:pP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3613" y="1538286"/>
            <a:ext cx="5133975" cy="4191000"/>
          </a:xfrm>
          <a:prstGeom prst="rect">
            <a:avLst/>
          </a:prstGeom>
        </p:spPr>
      </p:pic>
    </p:spTree>
    <p:extLst>
      <p:ext uri="{BB962C8B-B14F-4D97-AF65-F5344CB8AC3E}">
        <p14:creationId xmlns:p14="http://schemas.microsoft.com/office/powerpoint/2010/main" val="38146936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p:sp>
        <p:nvSpPr>
          <p:cNvPr id="3" name="内容占位符 2"/>
          <p:cNvSpPr>
            <a:spLocks noGrp="1"/>
          </p:cNvSpPr>
          <p:nvPr>
            <p:ph sz="quarter" idx="13"/>
          </p:nvPr>
        </p:nvSpPr>
        <p:spPr/>
        <p:txBody>
          <a:bodyPr/>
          <a:lstStyle/>
          <a:p>
            <a:r>
              <a:rPr lang="en-US" altLang="zh-CN" dirty="0" smtClean="0"/>
              <a:t>Faster R-CNN</a:t>
            </a:r>
            <a:r>
              <a:rPr lang="zh-CN" altLang="en-US" dirty="0" smtClean="0"/>
              <a:t>网络</a:t>
            </a:r>
            <a:endParaRPr lang="zh-CN" altLang="en-US" dirty="0"/>
          </a:p>
        </p:txBody>
      </p:sp>
      <p:sp>
        <p:nvSpPr>
          <p:cNvPr id="4" name="矩形 3"/>
          <p:cNvSpPr/>
          <p:nvPr/>
        </p:nvSpPr>
        <p:spPr>
          <a:xfrm>
            <a:off x="847211" y="298010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任意</a:t>
            </a:r>
            <a:r>
              <a:rPr lang="en-US" altLang="zh-CN" dirty="0" smtClean="0"/>
              <a:t>size</a:t>
            </a:r>
            <a:r>
              <a:rPr lang="zh-CN" altLang="en-US" dirty="0" smtClean="0"/>
              <a:t>图片</a:t>
            </a:r>
            <a:endParaRPr lang="zh-CN" altLang="en-US" dirty="0"/>
          </a:p>
        </p:txBody>
      </p:sp>
      <p:sp>
        <p:nvSpPr>
          <p:cNvPr id="5" name="矩形 4"/>
          <p:cNvSpPr/>
          <p:nvPr/>
        </p:nvSpPr>
        <p:spPr>
          <a:xfrm>
            <a:off x="2361718" y="298010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共享卷积层</a:t>
            </a:r>
            <a:endParaRPr lang="zh-CN" altLang="en-US" dirty="0"/>
          </a:p>
        </p:txBody>
      </p:sp>
      <p:cxnSp>
        <p:nvCxnSpPr>
          <p:cNvPr id="7" name="直接箭头连接符 6"/>
          <p:cNvCxnSpPr>
            <a:stCxn id="4" idx="3"/>
            <a:endCxn id="5" idx="1"/>
          </p:cNvCxnSpPr>
          <p:nvPr/>
        </p:nvCxnSpPr>
        <p:spPr>
          <a:xfrm>
            <a:off x="2107211" y="3304396"/>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3876225" y="298010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特有卷积层</a:t>
            </a:r>
            <a:endParaRPr lang="zh-CN" altLang="en-US" dirty="0"/>
          </a:p>
        </p:txBody>
      </p:sp>
      <p:sp>
        <p:nvSpPr>
          <p:cNvPr id="9" name="矩形 8"/>
          <p:cNvSpPr/>
          <p:nvPr/>
        </p:nvSpPr>
        <p:spPr>
          <a:xfrm>
            <a:off x="5394049" y="298010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特征图</a:t>
            </a:r>
            <a:endParaRPr lang="zh-CN" altLang="en-US" dirty="0"/>
          </a:p>
        </p:txBody>
      </p:sp>
      <p:sp>
        <p:nvSpPr>
          <p:cNvPr id="10" name="矩形 9"/>
          <p:cNvSpPr/>
          <p:nvPr/>
        </p:nvSpPr>
        <p:spPr>
          <a:xfrm>
            <a:off x="6905239" y="298010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a:t>
            </a:r>
            <a:r>
              <a:rPr lang="zh-CN" altLang="en-US" dirty="0" smtClean="0"/>
              <a:t>池化层</a:t>
            </a:r>
            <a:endParaRPr lang="zh-CN" altLang="en-US" dirty="0"/>
          </a:p>
        </p:txBody>
      </p:sp>
      <p:sp>
        <p:nvSpPr>
          <p:cNvPr id="11" name="矩形 10"/>
          <p:cNvSpPr/>
          <p:nvPr/>
        </p:nvSpPr>
        <p:spPr>
          <a:xfrm>
            <a:off x="8419746" y="298010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全连接层</a:t>
            </a:r>
            <a:endParaRPr lang="zh-CN" altLang="en-US" dirty="0"/>
          </a:p>
        </p:txBody>
      </p:sp>
      <p:sp>
        <p:nvSpPr>
          <p:cNvPr id="14" name="矩形 13"/>
          <p:cNvSpPr/>
          <p:nvPr/>
        </p:nvSpPr>
        <p:spPr>
          <a:xfrm>
            <a:off x="9934253" y="2565214"/>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分类得分</a:t>
            </a:r>
            <a:endParaRPr lang="zh-CN" altLang="en-US" dirty="0"/>
          </a:p>
        </p:txBody>
      </p:sp>
      <p:sp>
        <p:nvSpPr>
          <p:cNvPr id="15" name="矩形 14"/>
          <p:cNvSpPr/>
          <p:nvPr/>
        </p:nvSpPr>
        <p:spPr>
          <a:xfrm>
            <a:off x="9934253" y="341859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smtClean="0"/>
              <a:t>bbox</a:t>
            </a:r>
            <a:r>
              <a:rPr lang="zh-CN" altLang="en-US" dirty="0" smtClean="0"/>
              <a:t>回归</a:t>
            </a:r>
            <a:endParaRPr lang="zh-CN" altLang="en-US" dirty="0"/>
          </a:p>
        </p:txBody>
      </p:sp>
      <p:sp>
        <p:nvSpPr>
          <p:cNvPr id="16" name="矩形 15"/>
          <p:cNvSpPr/>
          <p:nvPr/>
        </p:nvSpPr>
        <p:spPr>
          <a:xfrm>
            <a:off x="2361718" y="4162871"/>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特征图</a:t>
            </a:r>
            <a:endParaRPr lang="zh-CN" altLang="en-US" dirty="0"/>
          </a:p>
        </p:txBody>
      </p:sp>
      <p:sp>
        <p:nvSpPr>
          <p:cNvPr id="17" name="矩形 16"/>
          <p:cNvSpPr/>
          <p:nvPr/>
        </p:nvSpPr>
        <p:spPr>
          <a:xfrm>
            <a:off x="2361718" y="5016250"/>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solidFill>
                  <a:srgbClr val="FF0000"/>
                </a:solidFill>
              </a:rPr>
              <a:t>滑动窗口</a:t>
            </a:r>
          </a:p>
        </p:txBody>
      </p:sp>
      <p:sp>
        <p:nvSpPr>
          <p:cNvPr id="18" name="矩形 17"/>
          <p:cNvSpPr/>
          <p:nvPr/>
        </p:nvSpPr>
        <p:spPr>
          <a:xfrm>
            <a:off x="3876225" y="5016250"/>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卷积层</a:t>
            </a:r>
            <a:r>
              <a:rPr lang="en-US" altLang="zh-CN" dirty="0" smtClean="0"/>
              <a:t>/</a:t>
            </a:r>
            <a:r>
              <a:rPr lang="zh-CN" altLang="en-US" dirty="0" smtClean="0"/>
              <a:t>全连接层</a:t>
            </a:r>
            <a:r>
              <a:rPr lang="en-US" altLang="zh-CN" dirty="0" smtClean="0"/>
              <a:t>1</a:t>
            </a:r>
            <a:endParaRPr lang="zh-CN" altLang="en-US" dirty="0"/>
          </a:p>
        </p:txBody>
      </p:sp>
      <p:sp>
        <p:nvSpPr>
          <p:cNvPr id="26" name="矩形 25"/>
          <p:cNvSpPr/>
          <p:nvPr/>
        </p:nvSpPr>
        <p:spPr>
          <a:xfrm>
            <a:off x="5390732" y="5016250"/>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卷积层</a:t>
            </a:r>
            <a:r>
              <a:rPr lang="en-US" altLang="zh-CN" dirty="0" smtClean="0"/>
              <a:t>/</a:t>
            </a:r>
            <a:r>
              <a:rPr lang="zh-CN" altLang="en-US" dirty="0" smtClean="0"/>
              <a:t>全连接层</a:t>
            </a:r>
            <a:r>
              <a:rPr lang="en-US" altLang="zh-CN" dirty="0"/>
              <a:t>2</a:t>
            </a:r>
            <a:endParaRPr lang="zh-CN" altLang="en-US" dirty="0"/>
          </a:p>
        </p:txBody>
      </p:sp>
      <p:sp>
        <p:nvSpPr>
          <p:cNvPr id="31" name="矩形 30"/>
          <p:cNvSpPr/>
          <p:nvPr/>
        </p:nvSpPr>
        <p:spPr>
          <a:xfrm>
            <a:off x="6905239" y="4487164"/>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区域建议</a:t>
            </a:r>
          </a:p>
        </p:txBody>
      </p:sp>
      <p:sp>
        <p:nvSpPr>
          <p:cNvPr id="32" name="矩形 31"/>
          <p:cNvSpPr/>
          <p:nvPr/>
        </p:nvSpPr>
        <p:spPr>
          <a:xfrm>
            <a:off x="6905239" y="534054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区域</a:t>
            </a:r>
            <a:r>
              <a:rPr lang="zh-CN" altLang="en-US" dirty="0"/>
              <a:t>得分</a:t>
            </a:r>
          </a:p>
        </p:txBody>
      </p:sp>
      <p:sp>
        <p:nvSpPr>
          <p:cNvPr id="33" name="矩形 32"/>
          <p:cNvSpPr/>
          <p:nvPr/>
        </p:nvSpPr>
        <p:spPr>
          <a:xfrm>
            <a:off x="6905239" y="1916628"/>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区域建议</a:t>
            </a:r>
          </a:p>
        </p:txBody>
      </p:sp>
      <p:cxnSp>
        <p:nvCxnSpPr>
          <p:cNvPr id="36" name="直接箭头连接符 35"/>
          <p:cNvCxnSpPr>
            <a:stCxn id="5" idx="3"/>
          </p:cNvCxnSpPr>
          <p:nvPr/>
        </p:nvCxnSpPr>
        <p:spPr>
          <a:xfrm>
            <a:off x="3621718" y="3304396"/>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8" idx="3"/>
            <a:endCxn id="9" idx="1"/>
          </p:cNvCxnSpPr>
          <p:nvPr/>
        </p:nvCxnSpPr>
        <p:spPr>
          <a:xfrm>
            <a:off x="5136225" y="3304396"/>
            <a:ext cx="2578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9" idx="3"/>
            <a:endCxn id="10" idx="1"/>
          </p:cNvCxnSpPr>
          <p:nvPr/>
        </p:nvCxnSpPr>
        <p:spPr>
          <a:xfrm>
            <a:off x="6654049" y="3304396"/>
            <a:ext cx="2511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10" idx="3"/>
            <a:endCxn id="11" idx="1"/>
          </p:cNvCxnSpPr>
          <p:nvPr/>
        </p:nvCxnSpPr>
        <p:spPr>
          <a:xfrm>
            <a:off x="8165239" y="3304396"/>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5" idx="2"/>
            <a:endCxn id="16" idx="0"/>
          </p:cNvCxnSpPr>
          <p:nvPr/>
        </p:nvCxnSpPr>
        <p:spPr>
          <a:xfrm>
            <a:off x="2991718" y="3628689"/>
            <a:ext cx="0" cy="5341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16" idx="2"/>
            <a:endCxn id="17" idx="0"/>
          </p:cNvCxnSpPr>
          <p:nvPr/>
        </p:nvCxnSpPr>
        <p:spPr>
          <a:xfrm>
            <a:off x="2991718" y="4811457"/>
            <a:ext cx="0" cy="2047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17" idx="3"/>
            <a:endCxn id="18" idx="1"/>
          </p:cNvCxnSpPr>
          <p:nvPr/>
        </p:nvCxnSpPr>
        <p:spPr>
          <a:xfrm>
            <a:off x="3621718" y="5340543"/>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18" idx="3"/>
            <a:endCxn id="26" idx="1"/>
          </p:cNvCxnSpPr>
          <p:nvPr/>
        </p:nvCxnSpPr>
        <p:spPr>
          <a:xfrm>
            <a:off x="5136225" y="5340543"/>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肘形连接符 55"/>
          <p:cNvCxnSpPr>
            <a:stCxn id="11" idx="3"/>
            <a:endCxn id="14" idx="1"/>
          </p:cNvCxnSpPr>
          <p:nvPr/>
        </p:nvCxnSpPr>
        <p:spPr>
          <a:xfrm flipV="1">
            <a:off x="9679746" y="2889507"/>
            <a:ext cx="254507" cy="414889"/>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肘形连接符 57"/>
          <p:cNvCxnSpPr>
            <a:stCxn id="11" idx="3"/>
            <a:endCxn id="15" idx="1"/>
          </p:cNvCxnSpPr>
          <p:nvPr/>
        </p:nvCxnSpPr>
        <p:spPr>
          <a:xfrm>
            <a:off x="9679746" y="3304396"/>
            <a:ext cx="254507" cy="43849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肘形连接符 59"/>
          <p:cNvCxnSpPr>
            <a:stCxn id="26" idx="3"/>
            <a:endCxn id="31" idx="1"/>
          </p:cNvCxnSpPr>
          <p:nvPr/>
        </p:nvCxnSpPr>
        <p:spPr>
          <a:xfrm flipV="1">
            <a:off x="6650732" y="4811457"/>
            <a:ext cx="254507" cy="529086"/>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肘形连接符 61"/>
          <p:cNvCxnSpPr>
            <a:stCxn id="26" idx="3"/>
            <a:endCxn id="32" idx="1"/>
          </p:cNvCxnSpPr>
          <p:nvPr/>
        </p:nvCxnSpPr>
        <p:spPr>
          <a:xfrm>
            <a:off x="6650732" y="5340543"/>
            <a:ext cx="254507" cy="32429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stCxn id="31" idx="0"/>
            <a:endCxn id="10" idx="2"/>
          </p:cNvCxnSpPr>
          <p:nvPr/>
        </p:nvCxnSpPr>
        <p:spPr>
          <a:xfrm flipV="1">
            <a:off x="7535239" y="3628689"/>
            <a:ext cx="0" cy="8584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33" idx="2"/>
            <a:endCxn id="10" idx="0"/>
          </p:cNvCxnSpPr>
          <p:nvPr/>
        </p:nvCxnSpPr>
        <p:spPr>
          <a:xfrm>
            <a:off x="7535239" y="2565214"/>
            <a:ext cx="0" cy="414889"/>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1839433" y="3969402"/>
            <a:ext cx="7623543" cy="2093696"/>
          </a:xfrm>
          <a:prstGeom prst="rect">
            <a:avLst/>
          </a:prstGeom>
          <a:noFill/>
          <a:ln w="19050">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8" name="文本框 67"/>
          <p:cNvSpPr txBox="1"/>
          <p:nvPr/>
        </p:nvSpPr>
        <p:spPr>
          <a:xfrm>
            <a:off x="8384894" y="3949647"/>
            <a:ext cx="1133644" cy="369332"/>
          </a:xfrm>
          <a:prstGeom prst="rect">
            <a:avLst/>
          </a:prstGeom>
          <a:noFill/>
        </p:spPr>
        <p:txBody>
          <a:bodyPr wrap="none" rtlCol="0">
            <a:spAutoFit/>
          </a:bodyPr>
          <a:lstStyle/>
          <a:p>
            <a:r>
              <a:rPr lang="en-US" altLang="zh-CN" dirty="0" smtClean="0"/>
              <a:t>RPN</a:t>
            </a:r>
            <a:r>
              <a:rPr lang="zh-CN" altLang="en-US" dirty="0" smtClean="0"/>
              <a:t>网络</a:t>
            </a:r>
            <a:endParaRPr lang="zh-CN" altLang="en-US" dirty="0"/>
          </a:p>
        </p:txBody>
      </p:sp>
    </p:spTree>
    <p:extLst>
      <p:ext uri="{BB962C8B-B14F-4D97-AF65-F5344CB8AC3E}">
        <p14:creationId xmlns:p14="http://schemas.microsoft.com/office/powerpoint/2010/main" val="27613636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p:sp>
        <p:nvSpPr>
          <p:cNvPr id="3" name="内容占位符 2"/>
          <p:cNvSpPr>
            <a:spLocks noGrp="1"/>
          </p:cNvSpPr>
          <p:nvPr>
            <p:ph sz="quarter" idx="13"/>
          </p:nvPr>
        </p:nvSpPr>
        <p:spPr/>
        <p:txBody>
          <a:bodyPr/>
          <a:lstStyle/>
          <a:p>
            <a:r>
              <a:rPr lang="en-US" altLang="zh-CN" dirty="0" smtClean="0"/>
              <a:t>RPN——</a:t>
            </a:r>
            <a:r>
              <a:rPr lang="zh-CN" altLang="en-US" dirty="0" smtClean="0"/>
              <a:t>锚（</a:t>
            </a:r>
            <a:r>
              <a:rPr lang="en-US" altLang="zh-CN" dirty="0" smtClean="0"/>
              <a:t>anchor</a:t>
            </a:r>
            <a:r>
              <a:rPr lang="zh-CN" altLang="en-US" dirty="0" smtClean="0"/>
              <a:t>）</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1267" y="2935252"/>
            <a:ext cx="6687878" cy="3202022"/>
          </a:xfrm>
          <a:prstGeom prst="rect">
            <a:avLst/>
          </a:prstGeom>
        </p:spPr>
      </p:pic>
      <p:sp>
        <p:nvSpPr>
          <p:cNvPr id="5" name="矩形 4"/>
          <p:cNvSpPr/>
          <p:nvPr/>
        </p:nvSpPr>
        <p:spPr>
          <a:xfrm>
            <a:off x="3068816" y="181338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特征图</a:t>
            </a:r>
            <a:endParaRPr lang="zh-CN" altLang="en-US" dirty="0"/>
          </a:p>
        </p:txBody>
      </p:sp>
      <p:sp>
        <p:nvSpPr>
          <p:cNvPr id="6" name="矩形 5"/>
          <p:cNvSpPr/>
          <p:nvPr/>
        </p:nvSpPr>
        <p:spPr>
          <a:xfrm>
            <a:off x="4583323" y="181338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solidFill>
                  <a:srgbClr val="FF0000"/>
                </a:solidFill>
              </a:rPr>
              <a:t>滑动窗口</a:t>
            </a:r>
          </a:p>
        </p:txBody>
      </p:sp>
      <p:sp>
        <p:nvSpPr>
          <p:cNvPr id="7" name="矩形 6"/>
          <p:cNvSpPr/>
          <p:nvPr/>
        </p:nvSpPr>
        <p:spPr>
          <a:xfrm>
            <a:off x="6097830" y="181338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卷积层</a:t>
            </a:r>
            <a:r>
              <a:rPr lang="en-US" altLang="zh-CN" dirty="0" smtClean="0"/>
              <a:t>/</a:t>
            </a:r>
            <a:r>
              <a:rPr lang="zh-CN" altLang="en-US" dirty="0" smtClean="0"/>
              <a:t>全连接层</a:t>
            </a:r>
            <a:r>
              <a:rPr lang="en-US" altLang="zh-CN" dirty="0" smtClean="0"/>
              <a:t>1</a:t>
            </a:r>
            <a:endParaRPr lang="zh-CN" altLang="en-US" dirty="0"/>
          </a:p>
        </p:txBody>
      </p:sp>
      <p:sp>
        <p:nvSpPr>
          <p:cNvPr id="8" name="矩形 7"/>
          <p:cNvSpPr/>
          <p:nvPr/>
        </p:nvSpPr>
        <p:spPr>
          <a:xfrm>
            <a:off x="7612337" y="1813383"/>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卷积层</a:t>
            </a:r>
            <a:r>
              <a:rPr lang="en-US" altLang="zh-CN" dirty="0" smtClean="0"/>
              <a:t>/</a:t>
            </a:r>
            <a:r>
              <a:rPr lang="zh-CN" altLang="en-US" dirty="0" smtClean="0"/>
              <a:t>全连接层</a:t>
            </a:r>
            <a:r>
              <a:rPr lang="en-US" altLang="zh-CN" dirty="0"/>
              <a:t>2</a:t>
            </a:r>
            <a:endParaRPr lang="zh-CN" altLang="en-US" dirty="0"/>
          </a:p>
        </p:txBody>
      </p:sp>
      <p:sp>
        <p:nvSpPr>
          <p:cNvPr id="9" name="矩形 8"/>
          <p:cNvSpPr/>
          <p:nvPr/>
        </p:nvSpPr>
        <p:spPr>
          <a:xfrm>
            <a:off x="9126844" y="1284297"/>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区域建议</a:t>
            </a:r>
          </a:p>
        </p:txBody>
      </p:sp>
      <p:sp>
        <p:nvSpPr>
          <p:cNvPr id="10" name="矩形 9"/>
          <p:cNvSpPr/>
          <p:nvPr/>
        </p:nvSpPr>
        <p:spPr>
          <a:xfrm>
            <a:off x="9126844" y="2137676"/>
            <a:ext cx="126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区域</a:t>
            </a:r>
            <a:r>
              <a:rPr lang="zh-CN" altLang="en-US" dirty="0"/>
              <a:t>得分</a:t>
            </a:r>
          </a:p>
        </p:txBody>
      </p:sp>
      <p:cxnSp>
        <p:nvCxnSpPr>
          <p:cNvPr id="11" name="直接箭头连接符 10"/>
          <p:cNvCxnSpPr>
            <a:stCxn id="5" idx="3"/>
            <a:endCxn id="6" idx="1"/>
          </p:cNvCxnSpPr>
          <p:nvPr/>
        </p:nvCxnSpPr>
        <p:spPr>
          <a:xfrm>
            <a:off x="4328816" y="2137676"/>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6" idx="3"/>
            <a:endCxn id="7" idx="1"/>
          </p:cNvCxnSpPr>
          <p:nvPr/>
        </p:nvCxnSpPr>
        <p:spPr>
          <a:xfrm>
            <a:off x="5843323" y="2137676"/>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7" idx="3"/>
            <a:endCxn id="8" idx="1"/>
          </p:cNvCxnSpPr>
          <p:nvPr/>
        </p:nvCxnSpPr>
        <p:spPr>
          <a:xfrm>
            <a:off x="7357830" y="2137676"/>
            <a:ext cx="254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肘形连接符 13"/>
          <p:cNvCxnSpPr>
            <a:stCxn id="8" idx="3"/>
            <a:endCxn id="9" idx="1"/>
          </p:cNvCxnSpPr>
          <p:nvPr/>
        </p:nvCxnSpPr>
        <p:spPr>
          <a:xfrm flipV="1">
            <a:off x="8872337" y="1608590"/>
            <a:ext cx="254507" cy="529086"/>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肘形连接符 14"/>
          <p:cNvCxnSpPr>
            <a:stCxn id="8" idx="3"/>
            <a:endCxn id="10" idx="1"/>
          </p:cNvCxnSpPr>
          <p:nvPr/>
        </p:nvCxnSpPr>
        <p:spPr>
          <a:xfrm>
            <a:off x="8872337" y="2137676"/>
            <a:ext cx="254507" cy="32429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73498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dirty="0" smtClean="0"/>
                  <a:t>RPN</a:t>
                </a:r>
                <a:r>
                  <a:rPr lang="zh-CN" altLang="en-US" dirty="0" smtClean="0"/>
                  <a:t>损失函数公式：</a:t>
                </a:r>
                <a:endParaRPr lang="en-US" altLang="zh-CN" dirty="0" smtClean="0"/>
              </a:p>
              <a:p>
                <a14:m>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𝑖</m:t>
                                </m:r>
                              </m:sub>
                            </m:sSub>
                          </m:e>
                        </m:d>
                      </m:e>
                    </m:d>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m:rPr>
                                <m:sty m:val="p"/>
                              </m:rPr>
                              <a:rPr lang="en-US" altLang="zh-CN" i="1">
                                <a:latin typeface="Cambria Math" panose="02040503050406030204" pitchFamily="18" charset="0"/>
                                <a:ea typeface="Cambria Math" panose="02040503050406030204" pitchFamily="18" charset="0"/>
                              </a:rPr>
                              <m:t>cls</m:t>
                            </m:r>
                          </m:sub>
                        </m:sSub>
                      </m:den>
                    </m:f>
                    <m:nary>
                      <m:naryPr>
                        <m:chr m:val="∑"/>
                        <m:supHide m:val="on"/>
                        <m:ctrlPr>
                          <a:rPr lang="en-US" altLang="zh-CN" b="0"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𝑖</m:t>
                        </m:r>
                      </m:sub>
                      <m:sup/>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𝑐𝑙𝑠</m:t>
                            </m:r>
                          </m:sub>
                        </m:sSub>
                        <m:d>
                          <m:dPr>
                            <m:end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d>
                          <m:dPr>
                            <m:begChr m:val=""/>
                            <m:ctrlPr>
                              <a:rPr lang="en-US" altLang="zh-CN" b="0" i="1" smtClean="0">
                                <a:latin typeface="Cambria Math" panose="02040503050406030204" pitchFamily="18" charset="0"/>
                                <a:ea typeface="Cambria Math" panose="02040503050406030204" pitchFamily="18" charset="0"/>
                              </a:rPr>
                            </m:ctrlPr>
                          </m:dPr>
                          <m:e>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e>
                        </m:d>
                      </m:e>
                    </m:nary>
                    <m:r>
                      <a:rPr lang="en-US" altLang="zh-CN" b="0" i="1" smtClean="0">
                        <a:latin typeface="Cambria Math" panose="02040503050406030204" pitchFamily="18" charset="0"/>
                        <a:ea typeface="Cambria Math" panose="02040503050406030204" pitchFamily="18" charset="0"/>
                      </a:rPr>
                      <m:t>+</m:t>
                    </m:r>
                    <m:r>
                      <a:rPr lang="el-GR" altLang="zh-CN" i="1">
                        <a:latin typeface="Cambria Math" panose="02040503050406030204" pitchFamily="18" charset="0"/>
                        <a:ea typeface="Cambria Math" panose="02040503050406030204" pitchFamily="18" charset="0"/>
                      </a:rPr>
                      <m:t>𝜆</m:t>
                    </m:r>
                    <m:f>
                      <m:fPr>
                        <m:ctrlPr>
                          <a:rPr lang="el-GR"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𝑟𝑒𝑔</m:t>
                            </m:r>
                          </m:sub>
                        </m:sSub>
                      </m:den>
                    </m:f>
                    <m:nary>
                      <m:naryPr>
                        <m:chr m:val="∑"/>
                        <m:supHide m:val="on"/>
                        <m:ctrlPr>
                          <a:rPr lang="el-GR"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𝑖</m:t>
                        </m:r>
                      </m:sub>
                      <m:sup/>
                      <m:e>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e>
                    </m:nary>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𝑟𝑒𝑔</m:t>
                        </m:r>
                      </m:sub>
                    </m:sSub>
                    <m:d>
                      <m:dPr>
                        <m:endChr m:val=""/>
                        <m:ctrlPr>
                          <a:rPr lang="el-GR" altLang="zh-CN" i="1" smtClean="0">
                            <a:latin typeface="Cambria Math" panose="02040503050406030204" pitchFamily="18" charset="0"/>
                            <a:ea typeface="Cambria Math" panose="02040503050406030204" pitchFamily="18" charset="0"/>
                          </a:rPr>
                        </m:ctrlPr>
                      </m:dPr>
                      <m:e>
                        <m:sSub>
                          <m:sSubPr>
                            <m:ctrlPr>
                              <a:rPr lang="el-GR"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𝑡</m:t>
                            </m:r>
                          </m:e>
                          <m:sub>
                            <m:r>
                              <a:rPr lang="en-US" altLang="zh-CN" b="0" i="1" smtClean="0">
                                <a:latin typeface="Cambria Math" panose="02040503050406030204" pitchFamily="18" charset="0"/>
                                <a:ea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d>
                      <m:dPr>
                        <m:begChr m:val=""/>
                        <m:ctrlPr>
                          <a:rPr lang="el-GR" altLang="zh-CN" i="1" smtClean="0">
                            <a:latin typeface="Cambria Math" panose="02040503050406030204" pitchFamily="18" charset="0"/>
                            <a:ea typeface="Cambria Math" panose="02040503050406030204" pitchFamily="18" charset="0"/>
                          </a:rPr>
                        </m:ctrlPr>
                      </m:dPr>
                      <m:e>
                        <m:sSubSup>
                          <m:sSubSupPr>
                            <m:ctrlPr>
                              <a:rPr lang="el-GR"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𝑡</m:t>
                            </m:r>
                          </m:e>
                          <m:sub>
                            <m:r>
                              <a:rPr lang="en-US" altLang="zh-CN" b="0" i="1" smtClean="0">
                                <a:latin typeface="Cambria Math" panose="02040503050406030204" pitchFamily="18" charset="0"/>
                                <a:ea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sSubSup>
                      </m:e>
                    </m:d>
                  </m:oMath>
                </a14:m>
                <a:endParaRPr lang="en-US" altLang="zh-CN" dirty="0" smtClean="0"/>
              </a:p>
              <a:p>
                <a:pPr lvl="1"/>
                <a:r>
                  <a:rPr lang="zh-CN" altLang="en-US" b="0" dirty="0" smtClean="0"/>
                  <a:t>其中</a:t>
                </a:r>
                <a14:m>
                  <m:oMath xmlns:m="http://schemas.openxmlformats.org/officeDocument/2006/math">
                    <m:r>
                      <a:rPr lang="en-US" altLang="zh-CN" b="0" i="1" smtClean="0">
                        <a:latin typeface="Cambria Math" panose="02040503050406030204" pitchFamily="18" charset="0"/>
                      </a:rPr>
                      <m:t>𝑖</m:t>
                    </m:r>
                  </m:oMath>
                </a14:m>
                <a:r>
                  <a:rPr lang="zh-CN" altLang="en-US" dirty="0" smtClean="0"/>
                  <a:t>表示一个训练批次中的一个锚</a:t>
                </a:r>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oMath>
                </a14:m>
                <a:r>
                  <a:rPr lang="zh-CN" altLang="en-US" dirty="0" smtClean="0"/>
                  <a:t>表示第</a:t>
                </a:r>
                <a14:m>
                  <m:oMath xmlns:m="http://schemas.openxmlformats.org/officeDocument/2006/math">
                    <m:r>
                      <a:rPr lang="en-US" altLang="zh-CN" i="1">
                        <a:latin typeface="Cambria Math" panose="02040503050406030204" pitchFamily="18" charset="0"/>
                      </a:rPr>
                      <m:t>𝑖</m:t>
                    </m:r>
                    <m:r>
                      <a:rPr lang="zh-CN" altLang="en-US" i="1" smtClean="0">
                        <a:latin typeface="Cambria Math" panose="02040503050406030204" pitchFamily="18" charset="0"/>
                      </a:rPr>
                      <m:t>个</m:t>
                    </m:r>
                  </m:oMath>
                </a14:m>
                <a:r>
                  <a:rPr lang="zh-CN" altLang="en-US" dirty="0" smtClean="0"/>
                  <a:t>锚框中目标的概率</a:t>
                </a:r>
                <a:endParaRPr lang="en-US" altLang="zh-CN" dirty="0" smtClean="0"/>
              </a:p>
              <a:p>
                <a:pPr lvl="1"/>
                <a14:m>
                  <m:oMath xmlns:m="http://schemas.openxmlformats.org/officeDocument/2006/math">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𝑝</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表示第</a:t>
                </a:r>
                <a14:m>
                  <m:oMath xmlns:m="http://schemas.openxmlformats.org/officeDocument/2006/math">
                    <m:r>
                      <a:rPr lang="en-US" altLang="zh-CN" i="1">
                        <a:latin typeface="Cambria Math" panose="02040503050406030204" pitchFamily="18" charset="0"/>
                      </a:rPr>
                      <m:t>𝑖</m:t>
                    </m:r>
                  </m:oMath>
                </a14:m>
                <a:r>
                  <a:rPr lang="zh-CN" altLang="en-US" dirty="0" smtClean="0"/>
                  <a:t>个锚框中目标的概率的真值（锚框中目标时该值为</a:t>
                </a:r>
                <a:r>
                  <a:rPr lang="en-US" altLang="zh-CN" dirty="0" smtClean="0"/>
                  <a:t>1</a:t>
                </a:r>
                <a:r>
                  <a:rPr lang="zh-CN" altLang="en-US" dirty="0" smtClean="0"/>
                  <a:t>，未框中目标时该值为</a:t>
                </a:r>
                <a:r>
                  <a:rPr lang="en-US" altLang="zh-CN" dirty="0" smtClean="0"/>
                  <a:t>0</a:t>
                </a:r>
                <a:r>
                  <a:rPr lang="zh-CN" altLang="en-US" dirty="0" smtClean="0"/>
                  <a:t>）</a:t>
                </a:r>
                <a:endParaRPr lang="en-US" altLang="zh-CN" dirty="0" smtClean="0"/>
              </a:p>
              <a:p>
                <a:pPr lvl="1"/>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oMath>
                </a14:m>
                <a:r>
                  <a:rPr lang="zh-CN" altLang="en-US" dirty="0" smtClean="0"/>
                  <a:t>，</a:t>
                </a:r>
                <a14:m>
                  <m:oMath xmlns:m="http://schemas.openxmlformats.org/officeDocument/2006/math">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分别表示包含</a:t>
                </a:r>
                <a:r>
                  <a:rPr lang="en-US" altLang="zh-CN" dirty="0" smtClean="0"/>
                  <a:t>4</a:t>
                </a:r>
                <a:r>
                  <a:rPr lang="zh-CN" altLang="en-US" dirty="0" smtClean="0"/>
                  <a:t>个元素的向量</a:t>
                </a:r>
                <a:endParaRPr lang="en-US" altLang="zh-CN" dirty="0" smtClean="0"/>
              </a:p>
              <a:p>
                <a:pPr lvl="1"/>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oMath>
                </a14:m>
                <a:r>
                  <a:rPr lang="zh-CN" altLang="en-US" dirty="0" smtClean="0"/>
                  <a:t>表示锚与预测框之间规范化的偏移量和缩放尺度</a:t>
                </a:r>
                <a:endParaRPr lang="en-US" altLang="zh-CN" dirty="0" smtClean="0"/>
              </a:p>
              <a:p>
                <a:pPr lvl="1"/>
                <a14:m>
                  <m:oMath xmlns:m="http://schemas.openxmlformats.org/officeDocument/2006/math">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表示锚与真值之间规范化的偏移量和缩放尺度</a:t>
                </a:r>
                <a:endParaRPr lang="en-US" altLang="zh-CN" dirty="0" smtClean="0"/>
              </a:p>
              <a:p>
                <a:pPr lvl="1"/>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𝑐𝑙𝑠</m:t>
                        </m:r>
                      </m:sub>
                    </m:sSub>
                  </m:oMath>
                </a14:m>
                <a:r>
                  <a:rPr lang="zh-CN" altLang="en-US" dirty="0" smtClean="0"/>
                  <a:t>为分类损失，定义同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𝑐𝑙𝑠</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𝑢</m:t>
                        </m:r>
                      </m:e>
                    </m:d>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𝑢</m:t>
                            </m:r>
                          </m:sub>
                        </m:sSub>
                      </m:e>
                    </m:func>
                  </m:oMath>
                </a14:m>
                <a:endParaRPr lang="en-US" altLang="zh-CN" dirty="0" smtClean="0"/>
              </a:p>
              <a:p>
                <a:pPr lvl="1"/>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𝑟𝑒𝑔</m:t>
                        </m:r>
                      </m:sub>
                    </m:sSub>
                  </m:oMath>
                </a14:m>
                <a:r>
                  <a:rPr lang="zh-CN" altLang="en-US" dirty="0" smtClean="0"/>
                  <a:t>为位置损失，定义同</a:t>
                </a:r>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m:rPr>
                            <m:sty m:val="p"/>
                          </m:rPr>
                          <a:rPr lang="en-US" altLang="zh-CN" i="1">
                            <a:latin typeface="Cambria Math" panose="02040503050406030204" pitchFamily="18" charset="0"/>
                            <a:ea typeface="Cambria Math" panose="02040503050406030204" pitchFamily="18" charset="0"/>
                          </a:rPr>
                          <m:t>loc</m:t>
                        </m:r>
                      </m:sub>
                    </m:sSub>
                    <m:d>
                      <m:dPr>
                        <m:ctrlPr>
                          <a:rPr lang="el-GR" altLang="zh-CN" i="1">
                            <a:latin typeface="Cambria Math" panose="02040503050406030204" pitchFamily="18" charset="0"/>
                            <a:ea typeface="Cambria Math" panose="02040503050406030204" pitchFamily="18" charset="0"/>
                          </a:rPr>
                        </m:ctrlPr>
                      </m:dPr>
                      <m:e>
                        <m:sSup>
                          <m:sSupPr>
                            <m:ctrlPr>
                              <a:rPr lang="el-GR"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𝑡</m:t>
                            </m:r>
                          </m:e>
                          <m:sup>
                            <m:r>
                              <a:rPr lang="en-US" altLang="zh-CN" i="1">
                                <a:latin typeface="Cambria Math" panose="02040503050406030204" pitchFamily="18" charset="0"/>
                                <a:ea typeface="Cambria Math" panose="02040503050406030204" pitchFamily="18" charset="0"/>
                              </a:rPr>
                              <m:t>𝑢</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𝑣</m:t>
                        </m:r>
                      </m:e>
                    </m:d>
                    <m:r>
                      <a:rPr lang="en-US" altLang="zh-CN" i="1">
                        <a:latin typeface="Cambria Math" panose="02040503050406030204" pitchFamily="18" charset="0"/>
                        <a:ea typeface="Cambria Math" panose="02040503050406030204" pitchFamily="18" charset="0"/>
                      </a:rPr>
                      <m:t>=</m:t>
                    </m:r>
                    <m:nary>
                      <m:naryPr>
                        <m:chr m:val="∑"/>
                        <m:supHide m:val="on"/>
                        <m:ctrlPr>
                          <a:rPr lang="en-US" altLang="zh-CN" i="1">
                            <a:latin typeface="Cambria Math" panose="02040503050406030204" pitchFamily="18" charset="0"/>
                            <a:ea typeface="Cambria Math" panose="02040503050406030204" pitchFamily="18" charset="0"/>
                          </a:rPr>
                        </m:ctrlPr>
                      </m:naryPr>
                      <m:sub>
                        <m:r>
                          <m:rPr>
                            <m:brk m:alnAt="7"/>
                          </m:rP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𝑤</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h</m:t>
                            </m:r>
                          </m:e>
                        </m:d>
                      </m:sub>
                      <m:sup/>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𝑠𝑚𝑜𝑜𝑡h</m:t>
                            </m:r>
                          </m:e>
                          <m:sub>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1</m:t>
                                </m:r>
                              </m:sub>
                            </m:sSub>
                          </m:sub>
                        </m:sSub>
                        <m:d>
                          <m:dPr>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𝑢</m:t>
                                </m:r>
                              </m:sup>
                            </m:sSubSup>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𝑣</m:t>
                                </m:r>
                              </m:e>
                              <m:sub>
                                <m:r>
                                  <a:rPr lang="en-US" altLang="zh-CN" i="1">
                                    <a:latin typeface="Cambria Math" panose="02040503050406030204" pitchFamily="18" charset="0"/>
                                    <a:ea typeface="Cambria Math" panose="02040503050406030204" pitchFamily="18" charset="0"/>
                                  </a:rPr>
                                  <m:t>𝑖</m:t>
                                </m:r>
                              </m:sub>
                            </m:sSub>
                          </m:e>
                        </m:d>
                      </m:e>
                    </m:nary>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𝑠𝑚𝑜𝑜𝑡h</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1</m:t>
                            </m:r>
                          </m:sub>
                        </m:sSub>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0.5</m:t>
                            </m:r>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&lt;1</m:t>
                                </m:r>
                              </m:e>
                            </m:d>
                          </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−0.5</m:t>
                            </m:r>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≥1</m:t>
                                </m:r>
                              </m:e>
                            </m:d>
                          </m:e>
                        </m:eqArr>
                      </m:e>
                    </m:d>
                  </m:oMath>
                </a14:m>
                <a:endParaRPr lang="en-US" altLang="zh-CN" dirty="0" smtClean="0"/>
              </a:p>
              <a:p>
                <a:pPr lvl="1"/>
                <a:endParaRPr lang="en-US" altLang="zh-CN" dirty="0" smtClean="0"/>
              </a:p>
              <a:p>
                <a:pPr lvl="1"/>
                <a:endParaRPr lang="en-US" altLang="zh-CN" dirty="0" smtClean="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t="-2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126911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dirty="0" smtClean="0"/>
                  <a:t>RPN</a:t>
                </a:r>
                <a:r>
                  <a:rPr lang="zh-CN" altLang="en-US" dirty="0"/>
                  <a:t>损失函数公式：</a:t>
                </a:r>
                <a:endParaRPr lang="en-US" altLang="zh-CN" dirty="0"/>
              </a:p>
              <a:p>
                <a14:m>
                  <m:oMath xmlns:m="http://schemas.openxmlformats.org/officeDocument/2006/math">
                    <m:r>
                      <a:rPr lang="en-US" altLang="zh-CN" i="1">
                        <a:latin typeface="Cambria Math" panose="02040503050406030204" pitchFamily="18" charset="0"/>
                      </a:rPr>
                      <m:t>𝐿</m:t>
                    </m:r>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𝑖</m:t>
                                </m:r>
                              </m:sub>
                            </m:sSub>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𝑖</m:t>
                                </m:r>
                              </m:sub>
                            </m:sSub>
                          </m:e>
                        </m:d>
                      </m:e>
                    </m:d>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1</m:t>
                        </m:r>
                      </m:num>
                      <m:den>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𝑁</m:t>
                            </m:r>
                          </m:e>
                          <m:sub>
                            <m:r>
                              <m:rPr>
                                <m:sty m:val="p"/>
                              </m:rPr>
                              <a:rPr lang="en-US" altLang="zh-CN" i="1">
                                <a:latin typeface="Cambria Math" panose="02040503050406030204" pitchFamily="18" charset="0"/>
                                <a:ea typeface="Cambria Math" panose="02040503050406030204" pitchFamily="18" charset="0"/>
                              </a:rPr>
                              <m:t>cls</m:t>
                            </m:r>
                          </m:sub>
                        </m:sSub>
                      </m:den>
                    </m:f>
                    <m:nary>
                      <m:naryPr>
                        <m:chr m:val="∑"/>
                        <m:supHide m:val="on"/>
                        <m:ctrlPr>
                          <a:rPr lang="en-US" altLang="zh-CN" i="1">
                            <a:latin typeface="Cambria Math" panose="02040503050406030204" pitchFamily="18" charset="0"/>
                            <a:ea typeface="Cambria Math" panose="02040503050406030204" pitchFamily="18" charset="0"/>
                          </a:rPr>
                        </m:ctrlPr>
                      </m:naryPr>
                      <m:sub>
                        <m:r>
                          <m:rPr>
                            <m:brk m:alnAt="7"/>
                          </m:rPr>
                          <a:rPr lang="en-US" altLang="zh-CN" i="1">
                            <a:latin typeface="Cambria Math" panose="02040503050406030204" pitchFamily="18" charset="0"/>
                            <a:ea typeface="Cambria Math" panose="02040503050406030204" pitchFamily="18" charset="0"/>
                          </a:rPr>
                          <m:t>𝑖</m:t>
                        </m:r>
                      </m:sub>
                      <m:sup/>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𝑐𝑙𝑠</m:t>
                            </m:r>
                          </m:sub>
                        </m:sSub>
                        <m:d>
                          <m:dPr>
                            <m:endChr m:val=""/>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𝑝</m:t>
                                </m:r>
                              </m:e>
                              <m:sub>
                                <m:r>
                                  <a:rPr lang="en-US" altLang="zh-CN" i="1">
                                    <a:latin typeface="Cambria Math" panose="02040503050406030204" pitchFamily="18" charset="0"/>
                                    <a:ea typeface="Cambria Math" panose="02040503050406030204" pitchFamily="18" charset="0"/>
                                  </a:rPr>
                                  <m:t>𝑖</m:t>
                                </m:r>
                              </m:sub>
                            </m:sSub>
                          </m:e>
                        </m:d>
                        <m:r>
                          <a:rPr lang="en-US" altLang="zh-CN" i="1">
                            <a:latin typeface="Cambria Math" panose="02040503050406030204" pitchFamily="18" charset="0"/>
                            <a:ea typeface="Cambria Math" panose="02040503050406030204" pitchFamily="18" charset="0"/>
                          </a:rPr>
                          <m:t>,</m:t>
                        </m:r>
                        <m:d>
                          <m:dPr>
                            <m:begChr m:val=""/>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𝑝</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e>
                        </m:d>
                      </m:e>
                    </m:nary>
                    <m:r>
                      <a:rPr lang="en-US" altLang="zh-CN" i="1">
                        <a:latin typeface="Cambria Math" panose="02040503050406030204" pitchFamily="18" charset="0"/>
                        <a:ea typeface="Cambria Math" panose="02040503050406030204" pitchFamily="18" charset="0"/>
                      </a:rPr>
                      <m:t>+</m:t>
                    </m:r>
                    <m:r>
                      <a:rPr lang="el-GR" altLang="zh-CN" i="1">
                        <a:latin typeface="Cambria Math" panose="02040503050406030204" pitchFamily="18" charset="0"/>
                        <a:ea typeface="Cambria Math" panose="02040503050406030204" pitchFamily="18" charset="0"/>
                      </a:rPr>
                      <m:t>𝜆</m:t>
                    </m:r>
                    <m:f>
                      <m:fPr>
                        <m:ctrlPr>
                          <a:rPr lang="el-GR"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1</m:t>
                        </m:r>
                      </m:num>
                      <m:den>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𝑁</m:t>
                            </m:r>
                          </m:e>
                          <m:sub>
                            <m:r>
                              <a:rPr lang="en-US" altLang="zh-CN" i="1">
                                <a:latin typeface="Cambria Math" panose="02040503050406030204" pitchFamily="18" charset="0"/>
                                <a:ea typeface="Cambria Math" panose="02040503050406030204" pitchFamily="18" charset="0"/>
                              </a:rPr>
                              <m:t>𝑟𝑒𝑔</m:t>
                            </m:r>
                          </m:sub>
                        </m:sSub>
                      </m:den>
                    </m:f>
                    <m:nary>
                      <m:naryPr>
                        <m:chr m:val="∑"/>
                        <m:supHide m:val="on"/>
                        <m:ctrlPr>
                          <a:rPr lang="el-GR" altLang="zh-CN" i="1">
                            <a:latin typeface="Cambria Math" panose="02040503050406030204" pitchFamily="18" charset="0"/>
                            <a:ea typeface="Cambria Math" panose="02040503050406030204" pitchFamily="18" charset="0"/>
                          </a:rPr>
                        </m:ctrlPr>
                      </m:naryPr>
                      <m:sub>
                        <m:r>
                          <m:rPr>
                            <m:brk m:alnAt="7"/>
                          </m:rPr>
                          <a:rPr lang="en-US" altLang="zh-CN" i="1">
                            <a:latin typeface="Cambria Math" panose="02040503050406030204" pitchFamily="18" charset="0"/>
                            <a:ea typeface="Cambria Math" panose="02040503050406030204" pitchFamily="18" charset="0"/>
                          </a:rPr>
                          <m:t>𝑖</m:t>
                        </m:r>
                      </m:sub>
                      <m:sup/>
                      <m:e>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𝑝</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e>
                    </m:nary>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𝑟𝑒𝑔</m:t>
                        </m:r>
                      </m:sub>
                    </m:sSub>
                    <m:d>
                      <m:dPr>
                        <m:endChr m:val=""/>
                        <m:ctrlPr>
                          <a:rPr lang="el-GR" altLang="zh-CN" i="1">
                            <a:latin typeface="Cambria Math" panose="02040503050406030204" pitchFamily="18" charset="0"/>
                            <a:ea typeface="Cambria Math" panose="02040503050406030204" pitchFamily="18" charset="0"/>
                          </a:rPr>
                        </m:ctrlPr>
                      </m:dPr>
                      <m:e>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e>
                    </m:d>
                    <m:r>
                      <a:rPr lang="en-US" altLang="zh-CN" i="1">
                        <a:latin typeface="Cambria Math" panose="02040503050406030204" pitchFamily="18" charset="0"/>
                        <a:ea typeface="Cambria Math" panose="02040503050406030204" pitchFamily="18" charset="0"/>
                      </a:rPr>
                      <m:t>,</m:t>
                    </m:r>
                    <m:d>
                      <m:dPr>
                        <m:begChr m:val=""/>
                        <m:ctrlPr>
                          <a:rPr lang="el-GR" altLang="zh-CN" i="1">
                            <a:latin typeface="Cambria Math" panose="02040503050406030204" pitchFamily="18" charset="0"/>
                            <a:ea typeface="Cambria Math" panose="02040503050406030204" pitchFamily="18" charset="0"/>
                          </a:rPr>
                        </m:ctrlPr>
                      </m:dPr>
                      <m:e>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e>
                    </m:d>
                  </m:oMath>
                </a14:m>
                <a:endParaRPr lang="en-US" altLang="zh-CN" dirty="0"/>
              </a:p>
              <a:p>
                <a:pPr lvl="1"/>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𝑁</m:t>
                        </m:r>
                      </m:e>
                      <m:sub>
                        <m:r>
                          <m:rPr>
                            <m:sty m:val="p"/>
                          </m:rPr>
                          <a:rPr lang="en-US" altLang="zh-CN" i="1">
                            <a:latin typeface="Cambria Math" panose="02040503050406030204" pitchFamily="18" charset="0"/>
                            <a:ea typeface="Cambria Math" panose="02040503050406030204" pitchFamily="18" charset="0"/>
                          </a:rPr>
                          <m:t>cls</m:t>
                        </m:r>
                      </m:sub>
                    </m:sSub>
                  </m:oMath>
                </a14:m>
                <a:r>
                  <a:rPr lang="zh-CN" altLang="en-US" dirty="0" smtClean="0"/>
                  <a:t>归一化类别损失</a:t>
                </a:r>
                <a:endParaRPr lang="en-US" altLang="zh-CN" dirty="0" smtClean="0"/>
              </a:p>
              <a:p>
                <a:pPr lvl="1"/>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𝑁</m:t>
                        </m:r>
                      </m:e>
                      <m:sub>
                        <m:r>
                          <a:rPr lang="en-US" altLang="zh-CN" i="1">
                            <a:latin typeface="Cambria Math" panose="02040503050406030204" pitchFamily="18" charset="0"/>
                            <a:ea typeface="Cambria Math" panose="02040503050406030204" pitchFamily="18" charset="0"/>
                          </a:rPr>
                          <m:t>𝑟𝑒𝑔</m:t>
                        </m:r>
                      </m:sub>
                    </m:sSub>
                  </m:oMath>
                </a14:m>
                <a:r>
                  <a:rPr lang="zh-CN" altLang="en-US" dirty="0" smtClean="0"/>
                  <a:t>归一化回归损失</a:t>
                </a:r>
                <a:endParaRPr lang="en-US" altLang="zh-CN" dirty="0" smtClean="0"/>
              </a:p>
              <a:p>
                <a:pPr lvl="1"/>
                <a14:m>
                  <m:oMath xmlns:m="http://schemas.openxmlformats.org/officeDocument/2006/math">
                    <m:r>
                      <a:rPr lang="el-GR" altLang="zh-CN" i="1">
                        <a:latin typeface="Cambria Math" panose="02040503050406030204" pitchFamily="18" charset="0"/>
                        <a:ea typeface="Cambria Math" panose="02040503050406030204" pitchFamily="18" charset="0"/>
                      </a:rPr>
                      <m:t>𝜆</m:t>
                    </m:r>
                  </m:oMath>
                </a14:m>
                <a:r>
                  <a:rPr lang="zh-CN" altLang="en-US" dirty="0" smtClean="0"/>
                  <a:t>是一个比例因子，用于平衡类别损失和回归损失</a:t>
                </a:r>
                <a:endParaRPr lang="en-US" altLang="zh-CN" dirty="0" smtClean="0"/>
              </a:p>
              <a:p>
                <a:pPr lvl="1"/>
                <a14:m>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𝑟𝑒𝑔</m:t>
                        </m:r>
                      </m:sub>
                    </m:sSub>
                    <m:d>
                      <m:dPr>
                        <m:endChr m:val=""/>
                        <m:ctrlPr>
                          <a:rPr lang="el-GR" altLang="zh-CN" i="1">
                            <a:latin typeface="Cambria Math" panose="02040503050406030204" pitchFamily="18" charset="0"/>
                            <a:ea typeface="Cambria Math" panose="02040503050406030204" pitchFamily="18" charset="0"/>
                          </a:rPr>
                        </m:ctrlPr>
                      </m:dPr>
                      <m:e>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Sub>
                      </m:e>
                    </m:d>
                    <m:r>
                      <a:rPr lang="en-US" altLang="zh-CN" i="1">
                        <a:latin typeface="Cambria Math" panose="02040503050406030204" pitchFamily="18" charset="0"/>
                        <a:ea typeface="Cambria Math" panose="02040503050406030204" pitchFamily="18" charset="0"/>
                      </a:rPr>
                      <m:t>,</m:t>
                    </m:r>
                    <m:d>
                      <m:dPr>
                        <m:begChr m:val=""/>
                        <m:ctrlPr>
                          <a:rPr lang="el-GR" altLang="zh-CN" i="1">
                            <a:latin typeface="Cambria Math" panose="02040503050406030204" pitchFamily="18" charset="0"/>
                            <a:ea typeface="Cambria Math" panose="02040503050406030204" pitchFamily="18" charset="0"/>
                          </a:rPr>
                        </m:ctrlPr>
                      </m:dPr>
                      <m:e>
                        <m:sSubSup>
                          <m:sSubSupPr>
                            <m:ctrlPr>
                              <a:rPr lang="el-GR"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𝑖</m:t>
                            </m:r>
                          </m:sub>
                          <m:sup>
                            <m:r>
                              <a:rPr lang="en-US" altLang="zh-CN" i="1">
                                <a:latin typeface="Cambria Math" panose="02040503050406030204" pitchFamily="18" charset="0"/>
                                <a:ea typeface="Cambria Math" panose="02040503050406030204" pitchFamily="18" charset="0"/>
                              </a:rPr>
                              <m:t>∗</m:t>
                            </m:r>
                          </m:sup>
                        </m:sSubSup>
                      </m:e>
                    </m:d>
                  </m:oMath>
                </a14:m>
                <a:r>
                  <a:rPr lang="zh-CN" altLang="en-US" dirty="0" smtClean="0"/>
                  <a:t>使用了规范化的偏移量和缩放尺度</a:t>
                </a:r>
                <a:r>
                  <a:rPr lang="en-US" altLang="zh-CN" dirty="0" smtClean="0"/>
                  <a:t>,</a:t>
                </a:r>
                <a:r>
                  <a:rPr lang="zh-CN" altLang="en-US" dirty="0" smtClean="0"/>
                  <a:t>具体规范化同</a:t>
                </a:r>
                <a:r>
                  <a:rPr lang="en-US" altLang="zh-CN" dirty="0" smtClean="0"/>
                  <a:t>R-CNN</a:t>
                </a:r>
                <a:r>
                  <a:rPr lang="zh-CN" altLang="en-US" dirty="0" smtClean="0"/>
                  <a:t>：</a:t>
                </a:r>
                <a:endParaRPr lang="en-US" altLang="zh-CN" dirty="0"/>
              </a:p>
              <a:p>
                <a:pPr lvl="2"/>
                <a14:m>
                  <m:oMath xmlns:m="http://schemas.openxmlformats.org/officeDocument/2006/math">
                    <m:r>
                      <m:rPr>
                        <m:sty m:val="p"/>
                      </m:rPr>
                      <a:rPr lang="en-US" altLang="zh-CN" i="1" dirty="0">
                        <a:latin typeface="Cambria Math" panose="02040503050406030204" pitchFamily="18" charset="0"/>
                      </a:rPr>
                      <m:t>g</m:t>
                    </m:r>
                    <m:r>
                      <a:rPr lang="en-US" altLang="zh-CN" i="1" baseline="-25000" dirty="0">
                        <a:latin typeface="Cambria Math" panose="02040503050406030204" pitchFamily="18" charset="0"/>
                      </a:rPr>
                      <m:t>𝑥</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𝐺</m:t>
                        </m:r>
                        <m:r>
                          <a:rPr lang="en-US" altLang="zh-CN" i="1" baseline="-25000" dirty="0">
                            <a:latin typeface="Cambria Math" panose="02040503050406030204" pitchFamily="18" charset="0"/>
                          </a:rPr>
                          <m:t>𝑥</m:t>
                        </m:r>
                        <m:r>
                          <a:rPr lang="en-US" altLang="zh-CN" i="1" dirty="0">
                            <a:latin typeface="Cambria Math" panose="02040503050406030204" pitchFamily="18" charset="0"/>
                          </a:rPr>
                          <m:t>−</m:t>
                        </m:r>
                        <m:r>
                          <a:rPr lang="en-US" altLang="zh-CN" i="1" dirty="0">
                            <a:latin typeface="Cambria Math" panose="02040503050406030204" pitchFamily="18" charset="0"/>
                          </a:rPr>
                          <m:t>𝑃𝑥</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den>
                    </m:f>
                  </m:oMath>
                </a14:m>
                <a:r>
                  <a:rPr lang="en-US" altLang="zh-CN" baseline="-25000" dirty="0"/>
                  <a:t> </a:t>
                </a:r>
                <a:r>
                  <a:rPr lang="en-US" altLang="zh-CN" dirty="0"/>
                  <a:t> , </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𝑥</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i="1" baseline="-25000" dirty="0">
                            <a:latin typeface="Cambria Math" panose="02040503050406030204" pitchFamily="18" charset="0"/>
                          </a:rPr>
                          <m:t>𝑥</m:t>
                        </m:r>
                        <m:r>
                          <a:rPr lang="en-US" altLang="zh-CN" i="1" dirty="0">
                            <a:latin typeface="Cambria Math" panose="02040503050406030204" pitchFamily="18" charset="0"/>
                          </a:rPr>
                          <m:t>−</m:t>
                        </m:r>
                        <m:r>
                          <a:rPr lang="en-US" altLang="zh-CN" i="1" dirty="0">
                            <a:latin typeface="Cambria Math" panose="02040503050406030204" pitchFamily="18" charset="0"/>
                          </a:rPr>
                          <m:t>𝑃𝑥</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den>
                    </m:f>
                  </m:oMath>
                </a14:m>
                <a:endParaRPr lang="en-US" altLang="zh-CN" baseline="-25000" dirty="0" smtClean="0"/>
              </a:p>
              <a:p>
                <a:pPr lvl="2"/>
                <a14:m>
                  <m:oMath xmlns:m="http://schemas.openxmlformats.org/officeDocument/2006/math">
                    <m:r>
                      <m:rPr>
                        <m:sty m:val="p"/>
                      </m:rPr>
                      <a:rPr lang="en-US" altLang="zh-CN" i="1" dirty="0">
                        <a:latin typeface="Cambria Math" panose="02040503050406030204" pitchFamily="18" charset="0"/>
                      </a:rPr>
                      <m:t>g</m:t>
                    </m:r>
                    <m:r>
                      <a:rPr lang="en-US" altLang="zh-CN" i="1" baseline="-25000" dirty="0">
                        <a:latin typeface="Cambria Math" panose="02040503050406030204" pitchFamily="18" charset="0"/>
                      </a:rPr>
                      <m:t>𝑦</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𝐺</m:t>
                        </m:r>
                        <m:r>
                          <a:rPr lang="en-US" altLang="zh-CN" i="1" baseline="-25000" dirty="0">
                            <a:latin typeface="Cambria Math" panose="02040503050406030204" pitchFamily="18" charset="0"/>
                          </a:rPr>
                          <m:t>𝑦</m:t>
                        </m:r>
                        <m:r>
                          <a:rPr lang="en-US" altLang="zh-CN" i="1" dirty="0">
                            <a:latin typeface="Cambria Math" panose="02040503050406030204" pitchFamily="18" charset="0"/>
                          </a:rPr>
                          <m:t>−</m:t>
                        </m:r>
                        <m:r>
                          <a:rPr lang="en-US" altLang="zh-CN" i="1" dirty="0">
                            <a:latin typeface="Cambria Math" panose="02040503050406030204" pitchFamily="18" charset="0"/>
                          </a:rPr>
                          <m:t>𝑃𝑦</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h</m:t>
                        </m:r>
                      </m:den>
                    </m:f>
                  </m:oMath>
                </a14:m>
                <a:r>
                  <a:rPr lang="en-US" altLang="zh-CN" baseline="-25000" dirty="0"/>
                  <a:t> </a:t>
                </a:r>
                <a:r>
                  <a:rPr lang="en-US" altLang="zh-CN" dirty="0"/>
                  <a:t> , </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𝑦</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i="1" baseline="-25000" dirty="0">
                            <a:latin typeface="Cambria Math" panose="02040503050406030204" pitchFamily="18" charset="0"/>
                          </a:rPr>
                          <m:t>𝑦</m:t>
                        </m:r>
                        <m:r>
                          <a:rPr lang="en-US" altLang="zh-CN" i="1" dirty="0">
                            <a:latin typeface="Cambria Math" panose="02040503050406030204" pitchFamily="18" charset="0"/>
                          </a:rPr>
                          <m:t>−</m:t>
                        </m:r>
                        <m:r>
                          <a:rPr lang="en-US" altLang="zh-CN" i="1" dirty="0">
                            <a:latin typeface="Cambria Math" panose="02040503050406030204" pitchFamily="18" charset="0"/>
                          </a:rPr>
                          <m:t>𝑃𝑦</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h</m:t>
                        </m:r>
                      </m:den>
                    </m:f>
                  </m:oMath>
                </a14:m>
                <a:endParaRPr lang="en-US" altLang="zh-CN" dirty="0" smtClean="0"/>
              </a:p>
              <a:p>
                <a:pPr lvl="2"/>
                <a14:m>
                  <m:oMath xmlns:m="http://schemas.openxmlformats.org/officeDocument/2006/math">
                    <m:r>
                      <m:rPr>
                        <m:sty m:val="p"/>
                      </m:rPr>
                      <a:rPr lang="en-US" altLang="zh-CN" i="1" dirty="0">
                        <a:latin typeface="Cambria Math" panose="02040503050406030204" pitchFamily="18" charset="0"/>
                      </a:rPr>
                      <m:t>g</m:t>
                    </m:r>
                    <m:r>
                      <a:rPr lang="en-US" altLang="zh-CN" i="1" baseline="-25000" dirty="0">
                        <a:latin typeface="Cambria Math" panose="02040503050406030204" pitchFamily="18" charset="0"/>
                      </a:rPr>
                      <m:t>𝑤</m:t>
                    </m:r>
                  </m:oMath>
                </a14:m>
                <a:r>
                  <a:rPr lang="en-US" altLang="zh-CN" dirty="0"/>
                  <a:t> </a:t>
                </a:r>
                <a14:m>
                  <m:oMath xmlns:m="http://schemas.openxmlformats.org/officeDocument/2006/math">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𝐺</m:t>
                            </m:r>
                            <m:r>
                              <a:rPr lang="en-US" altLang="zh-CN" i="1" baseline="-25000" dirty="0">
                                <a:latin typeface="Cambria Math" panose="02040503050406030204" pitchFamily="18" charset="0"/>
                              </a:rPr>
                              <m:t>𝑤</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den>
                        </m:f>
                      </m:e>
                    </m:d>
                  </m:oMath>
                </a14:m>
                <a:r>
                  <a:rPr lang="en-US" altLang="zh-CN" dirty="0"/>
                  <a:t>, </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𝑤</m:t>
                    </m:r>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i="1" baseline="-25000" dirty="0">
                                <a:latin typeface="Cambria Math" panose="02040503050406030204" pitchFamily="18" charset="0"/>
                              </a:rPr>
                              <m:t>𝑤</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𝑤</m:t>
                            </m:r>
                          </m:den>
                        </m:f>
                      </m:e>
                    </m:d>
                  </m:oMath>
                </a14:m>
                <a:endParaRPr lang="en-US" altLang="zh-CN" dirty="0" smtClean="0"/>
              </a:p>
              <a:p>
                <a:pPr lvl="2"/>
                <a14:m>
                  <m:oMath xmlns:m="http://schemas.openxmlformats.org/officeDocument/2006/math">
                    <m:r>
                      <m:rPr>
                        <m:sty m:val="p"/>
                      </m:rPr>
                      <a:rPr lang="en-US" altLang="zh-CN" i="1" dirty="0">
                        <a:latin typeface="Cambria Math" panose="02040503050406030204" pitchFamily="18" charset="0"/>
                      </a:rPr>
                      <m:t>g</m:t>
                    </m:r>
                    <m:r>
                      <a:rPr lang="en-US" altLang="zh-CN" i="1" baseline="-25000" dirty="0">
                        <a:latin typeface="Cambria Math" panose="02040503050406030204" pitchFamily="18" charset="0"/>
                      </a:rPr>
                      <m:t>h</m:t>
                    </m:r>
                  </m:oMath>
                </a14:m>
                <a:r>
                  <a:rPr lang="en-US" altLang="zh-CN" dirty="0"/>
                  <a:t> </a:t>
                </a:r>
                <a14:m>
                  <m:oMath xmlns:m="http://schemas.openxmlformats.org/officeDocument/2006/math">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𝐺</m:t>
                            </m:r>
                            <m:r>
                              <a:rPr lang="en-US" altLang="zh-CN" i="1" baseline="-25000" dirty="0">
                                <a:latin typeface="Cambria Math" panose="02040503050406030204" pitchFamily="18" charset="0"/>
                              </a:rPr>
                              <m:t>h</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h</m:t>
                            </m:r>
                          </m:den>
                        </m:f>
                      </m:e>
                    </m:d>
                  </m:oMath>
                </a14:m>
                <a:r>
                  <a:rPr lang="en-US" altLang="zh-CN" dirty="0"/>
                  <a:t>, </a:t>
                </a:r>
                <a14:m>
                  <m:oMath xmlns:m="http://schemas.openxmlformats.org/officeDocument/2006/math">
                    <m:r>
                      <a:rPr lang="en-US" altLang="zh-CN" i="1" dirty="0">
                        <a:latin typeface="Cambria Math" panose="02040503050406030204" pitchFamily="18" charset="0"/>
                      </a:rPr>
                      <m:t>ĝ</m:t>
                    </m:r>
                    <m:r>
                      <a:rPr lang="en-US" altLang="zh-CN" i="1" baseline="-25000" dirty="0">
                        <a:latin typeface="Cambria Math" panose="02040503050406030204" pitchFamily="18" charset="0"/>
                      </a:rPr>
                      <m:t>h</m:t>
                    </m:r>
                    <m:r>
                      <a:rPr lang="en-US" altLang="zh-CN" i="1" dirty="0">
                        <a:latin typeface="Cambria Math" panose="02040503050406030204" pitchFamily="18" charset="0"/>
                      </a:rPr>
                      <m:t>=</m:t>
                    </m:r>
                    <m:r>
                      <m:rPr>
                        <m:sty m:val="p"/>
                      </m:rPr>
                      <a:rPr lang="en-US" altLang="zh-CN" dirty="0">
                        <a:latin typeface="Cambria Math" panose="02040503050406030204" pitchFamily="18" charset="0"/>
                      </a:rPr>
                      <m:t>log</m:t>
                    </m:r>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Ĝ</m:t>
                            </m:r>
                            <m:r>
                              <a:rPr lang="en-US" altLang="zh-CN" i="1" baseline="-25000" dirty="0">
                                <a:latin typeface="Cambria Math" panose="02040503050406030204" pitchFamily="18" charset="0"/>
                              </a:rPr>
                              <m:t>h</m:t>
                            </m:r>
                          </m:num>
                          <m:den>
                            <m:r>
                              <a:rPr lang="en-US" altLang="zh-CN" i="1" dirty="0">
                                <a:latin typeface="Cambria Math" panose="02040503050406030204" pitchFamily="18" charset="0"/>
                              </a:rPr>
                              <m:t>𝑃</m:t>
                            </m:r>
                            <m:r>
                              <a:rPr lang="en-US" altLang="zh-CN" i="1" baseline="-25000" dirty="0">
                                <a:latin typeface="Cambria Math" panose="02040503050406030204" pitchFamily="18" charset="0"/>
                              </a:rPr>
                              <m:t>h</m:t>
                            </m:r>
                          </m:den>
                        </m:f>
                      </m:e>
                    </m:d>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t="-2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12677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p:sp>
        <p:nvSpPr>
          <p:cNvPr id="3" name="内容占位符 2"/>
          <p:cNvSpPr>
            <a:spLocks noGrp="1"/>
          </p:cNvSpPr>
          <p:nvPr>
            <p:ph sz="quarter" idx="13"/>
          </p:nvPr>
        </p:nvSpPr>
        <p:spPr/>
        <p:txBody>
          <a:bodyPr/>
          <a:lstStyle/>
          <a:p>
            <a:r>
              <a:rPr lang="zh-CN" altLang="en-US" dirty="0" smtClean="0"/>
              <a:t>共享特征：</a:t>
            </a:r>
            <a:endParaRPr lang="zh-CN" altLang="en-US" dirty="0"/>
          </a:p>
        </p:txBody>
      </p:sp>
      <p:sp>
        <p:nvSpPr>
          <p:cNvPr id="4" name="矩形 3"/>
          <p:cNvSpPr/>
          <p:nvPr/>
        </p:nvSpPr>
        <p:spPr>
          <a:xfrm>
            <a:off x="843894" y="1919399"/>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任意</a:t>
            </a:r>
            <a:r>
              <a:rPr lang="en-US" altLang="zh-CN" dirty="0" smtClean="0"/>
              <a:t>size</a:t>
            </a:r>
            <a:r>
              <a:rPr lang="zh-CN" altLang="en-US" dirty="0" smtClean="0"/>
              <a:t>图片</a:t>
            </a:r>
            <a:endParaRPr lang="zh-CN" altLang="en-US" dirty="0"/>
          </a:p>
        </p:txBody>
      </p:sp>
      <p:sp>
        <p:nvSpPr>
          <p:cNvPr id="5" name="矩形 4"/>
          <p:cNvSpPr/>
          <p:nvPr/>
        </p:nvSpPr>
        <p:spPr>
          <a:xfrm>
            <a:off x="2165923" y="1924497"/>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solidFill>
                  <a:srgbClr val="FF0000"/>
                </a:solidFill>
              </a:rPr>
              <a:t>卷积层</a:t>
            </a:r>
            <a:r>
              <a:rPr lang="en-US" altLang="zh-CN" dirty="0" smtClean="0">
                <a:solidFill>
                  <a:srgbClr val="FF0000"/>
                </a:solidFill>
              </a:rPr>
              <a:t>1</a:t>
            </a:r>
            <a:endParaRPr lang="zh-CN" altLang="en-US" dirty="0">
              <a:solidFill>
                <a:srgbClr val="FF0000"/>
              </a:solidFill>
            </a:endParaRPr>
          </a:p>
        </p:txBody>
      </p:sp>
      <p:cxnSp>
        <p:nvCxnSpPr>
          <p:cNvPr id="6" name="直接箭头连接符 5"/>
          <p:cNvCxnSpPr>
            <a:stCxn id="4" idx="3"/>
            <a:endCxn id="5" idx="1"/>
          </p:cNvCxnSpPr>
          <p:nvPr/>
        </p:nvCxnSpPr>
        <p:spPr>
          <a:xfrm>
            <a:off x="1923894" y="2243692"/>
            <a:ext cx="242029" cy="50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487952" y="1924939"/>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特征</a:t>
            </a:r>
            <a:r>
              <a:rPr lang="zh-CN" altLang="en-US" dirty="0" smtClean="0"/>
              <a:t>图</a:t>
            </a:r>
            <a:r>
              <a:rPr lang="en-US" altLang="zh-CN" dirty="0" smtClean="0"/>
              <a:t>1</a:t>
            </a:r>
            <a:endParaRPr lang="zh-CN" altLang="en-US" dirty="0"/>
          </a:p>
        </p:txBody>
      </p:sp>
      <p:sp>
        <p:nvSpPr>
          <p:cNvPr id="8" name="矩形 7"/>
          <p:cNvSpPr/>
          <p:nvPr/>
        </p:nvSpPr>
        <p:spPr>
          <a:xfrm>
            <a:off x="6132010" y="1924497"/>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特征图</a:t>
            </a:r>
            <a:endParaRPr lang="zh-CN" altLang="en-US" dirty="0"/>
          </a:p>
        </p:txBody>
      </p:sp>
      <p:sp>
        <p:nvSpPr>
          <p:cNvPr id="9" name="矩形 8"/>
          <p:cNvSpPr/>
          <p:nvPr/>
        </p:nvSpPr>
        <p:spPr>
          <a:xfrm>
            <a:off x="7454039" y="1924497"/>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ROI</a:t>
            </a:r>
            <a:r>
              <a:rPr lang="zh-CN" altLang="en-US" dirty="0" smtClean="0"/>
              <a:t>池化层</a:t>
            </a:r>
            <a:endParaRPr lang="zh-CN" altLang="en-US" dirty="0"/>
          </a:p>
        </p:txBody>
      </p:sp>
      <p:sp>
        <p:nvSpPr>
          <p:cNvPr id="10" name="矩形 9"/>
          <p:cNvSpPr/>
          <p:nvPr/>
        </p:nvSpPr>
        <p:spPr>
          <a:xfrm>
            <a:off x="8776068" y="1924497"/>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全连接层</a:t>
            </a:r>
            <a:endParaRPr lang="zh-CN" altLang="en-US" dirty="0"/>
          </a:p>
        </p:txBody>
      </p:sp>
      <p:sp>
        <p:nvSpPr>
          <p:cNvPr id="11" name="矩形 10"/>
          <p:cNvSpPr/>
          <p:nvPr/>
        </p:nvSpPr>
        <p:spPr>
          <a:xfrm>
            <a:off x="10098097" y="1268042"/>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分类得分</a:t>
            </a:r>
            <a:endParaRPr lang="zh-CN" altLang="en-US" dirty="0"/>
          </a:p>
        </p:txBody>
      </p:sp>
      <p:sp>
        <p:nvSpPr>
          <p:cNvPr id="12" name="矩形 11"/>
          <p:cNvSpPr/>
          <p:nvPr/>
        </p:nvSpPr>
        <p:spPr>
          <a:xfrm>
            <a:off x="10098097" y="2573083"/>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smtClean="0"/>
              <a:t>bbox</a:t>
            </a:r>
            <a:r>
              <a:rPr lang="zh-CN" altLang="en-US" dirty="0" smtClean="0"/>
              <a:t>回归</a:t>
            </a:r>
            <a:endParaRPr lang="zh-CN" altLang="en-US" dirty="0"/>
          </a:p>
        </p:txBody>
      </p:sp>
      <p:cxnSp>
        <p:nvCxnSpPr>
          <p:cNvPr id="20" name="直接箭头连接符 19"/>
          <p:cNvCxnSpPr>
            <a:stCxn id="5" idx="3"/>
            <a:endCxn id="7" idx="1"/>
          </p:cNvCxnSpPr>
          <p:nvPr/>
        </p:nvCxnSpPr>
        <p:spPr>
          <a:xfrm>
            <a:off x="3245923" y="2248790"/>
            <a:ext cx="242029" cy="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8" idx="3"/>
            <a:endCxn id="9" idx="1"/>
          </p:cNvCxnSpPr>
          <p:nvPr/>
        </p:nvCxnSpPr>
        <p:spPr>
          <a:xfrm>
            <a:off x="7212010" y="2248790"/>
            <a:ext cx="24202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9" idx="3"/>
            <a:endCxn id="10" idx="1"/>
          </p:cNvCxnSpPr>
          <p:nvPr/>
        </p:nvCxnSpPr>
        <p:spPr>
          <a:xfrm>
            <a:off x="8534039" y="2248790"/>
            <a:ext cx="24202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肘形连接符 27"/>
          <p:cNvCxnSpPr>
            <a:stCxn id="10" idx="3"/>
            <a:endCxn id="11" idx="1"/>
          </p:cNvCxnSpPr>
          <p:nvPr/>
        </p:nvCxnSpPr>
        <p:spPr>
          <a:xfrm flipV="1">
            <a:off x="9856068" y="1592335"/>
            <a:ext cx="242029" cy="65645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肘形连接符 28"/>
          <p:cNvCxnSpPr>
            <a:stCxn id="10" idx="3"/>
            <a:endCxn id="12" idx="1"/>
          </p:cNvCxnSpPr>
          <p:nvPr/>
        </p:nvCxnSpPr>
        <p:spPr>
          <a:xfrm>
            <a:off x="9856068" y="2248790"/>
            <a:ext cx="242029" cy="648586"/>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843894" y="3221669"/>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任意</a:t>
            </a:r>
            <a:r>
              <a:rPr lang="en-US" altLang="zh-CN" dirty="0" smtClean="0"/>
              <a:t>size</a:t>
            </a:r>
            <a:r>
              <a:rPr lang="zh-CN" altLang="en-US" dirty="0" smtClean="0"/>
              <a:t>图片</a:t>
            </a:r>
            <a:endParaRPr lang="zh-CN" altLang="en-US" dirty="0"/>
          </a:p>
        </p:txBody>
      </p:sp>
      <p:sp>
        <p:nvSpPr>
          <p:cNvPr id="51" name="矩形 50"/>
          <p:cNvSpPr/>
          <p:nvPr/>
        </p:nvSpPr>
        <p:spPr>
          <a:xfrm>
            <a:off x="2185863" y="3221669"/>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solidFill>
                  <a:srgbClr val="FF0000"/>
                </a:solidFill>
              </a:rPr>
              <a:t>卷积层</a:t>
            </a:r>
            <a:r>
              <a:rPr lang="en-US" altLang="zh-CN" dirty="0">
                <a:solidFill>
                  <a:srgbClr val="FF0000"/>
                </a:solidFill>
              </a:rPr>
              <a:t>2</a:t>
            </a:r>
            <a:endParaRPr lang="zh-CN" altLang="en-US" dirty="0">
              <a:solidFill>
                <a:srgbClr val="FF0000"/>
              </a:solidFill>
            </a:endParaRPr>
          </a:p>
        </p:txBody>
      </p:sp>
      <p:cxnSp>
        <p:nvCxnSpPr>
          <p:cNvPr id="52" name="直接箭头连接符 51"/>
          <p:cNvCxnSpPr>
            <a:stCxn id="50" idx="3"/>
            <a:endCxn id="51" idx="1"/>
          </p:cNvCxnSpPr>
          <p:nvPr/>
        </p:nvCxnSpPr>
        <p:spPr>
          <a:xfrm>
            <a:off x="1923894" y="3545962"/>
            <a:ext cx="26196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矩形 52"/>
          <p:cNvSpPr/>
          <p:nvPr/>
        </p:nvSpPr>
        <p:spPr>
          <a:xfrm>
            <a:off x="3487952" y="3221669"/>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特征</a:t>
            </a:r>
            <a:r>
              <a:rPr lang="zh-CN" altLang="en-US" dirty="0" smtClean="0"/>
              <a:t>图</a:t>
            </a:r>
            <a:r>
              <a:rPr lang="en-US" altLang="zh-CN" dirty="0"/>
              <a:t>2</a:t>
            </a:r>
            <a:endParaRPr lang="zh-CN" altLang="en-US" dirty="0"/>
          </a:p>
        </p:txBody>
      </p:sp>
      <p:cxnSp>
        <p:nvCxnSpPr>
          <p:cNvPr id="54" name="直接箭头连接符 53"/>
          <p:cNvCxnSpPr>
            <a:stCxn id="51" idx="3"/>
            <a:endCxn id="53" idx="1"/>
          </p:cNvCxnSpPr>
          <p:nvPr/>
        </p:nvCxnSpPr>
        <p:spPr>
          <a:xfrm>
            <a:off x="3265863" y="3545962"/>
            <a:ext cx="22208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843894" y="5141940"/>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任意</a:t>
            </a:r>
            <a:r>
              <a:rPr lang="en-US" altLang="zh-CN" dirty="0" smtClean="0"/>
              <a:t>size</a:t>
            </a:r>
            <a:r>
              <a:rPr lang="zh-CN" altLang="en-US" dirty="0" smtClean="0"/>
              <a:t>图片</a:t>
            </a:r>
            <a:endParaRPr lang="zh-CN" altLang="en-US" dirty="0"/>
          </a:p>
        </p:txBody>
      </p:sp>
      <p:sp>
        <p:nvSpPr>
          <p:cNvPr id="58" name="矩形 57"/>
          <p:cNvSpPr/>
          <p:nvPr/>
        </p:nvSpPr>
        <p:spPr>
          <a:xfrm>
            <a:off x="2165923" y="5141940"/>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solidFill>
                  <a:srgbClr val="FF0000"/>
                </a:solidFill>
              </a:rPr>
              <a:t>共享卷积层</a:t>
            </a:r>
            <a:endParaRPr lang="zh-CN" altLang="en-US" dirty="0">
              <a:solidFill>
                <a:srgbClr val="FF0000"/>
              </a:solidFill>
            </a:endParaRPr>
          </a:p>
        </p:txBody>
      </p:sp>
      <p:cxnSp>
        <p:nvCxnSpPr>
          <p:cNvPr id="59" name="直接箭头连接符 58"/>
          <p:cNvCxnSpPr>
            <a:stCxn id="57" idx="3"/>
          </p:cNvCxnSpPr>
          <p:nvPr/>
        </p:nvCxnSpPr>
        <p:spPr>
          <a:xfrm>
            <a:off x="1923894" y="5466233"/>
            <a:ext cx="24202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3487951" y="5141940"/>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特征</a:t>
            </a:r>
            <a:r>
              <a:rPr lang="zh-CN" altLang="en-US" dirty="0" smtClean="0"/>
              <a:t>图</a:t>
            </a:r>
            <a:endParaRPr lang="zh-CN" altLang="en-US" dirty="0"/>
          </a:p>
        </p:txBody>
      </p:sp>
      <p:cxnSp>
        <p:nvCxnSpPr>
          <p:cNvPr id="61" name="直接箭头连接符 60"/>
          <p:cNvCxnSpPr>
            <a:stCxn id="58" idx="3"/>
            <a:endCxn id="60" idx="1"/>
          </p:cNvCxnSpPr>
          <p:nvPr/>
        </p:nvCxnSpPr>
        <p:spPr>
          <a:xfrm>
            <a:off x="3245923" y="5466233"/>
            <a:ext cx="24202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4809981" y="1924497"/>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特有卷积层</a:t>
            </a:r>
            <a:endParaRPr lang="zh-CN" altLang="en-US" dirty="0"/>
          </a:p>
        </p:txBody>
      </p:sp>
      <p:cxnSp>
        <p:nvCxnSpPr>
          <p:cNvPr id="75" name="直接箭头连接符 74"/>
          <p:cNvCxnSpPr/>
          <p:nvPr/>
        </p:nvCxnSpPr>
        <p:spPr>
          <a:xfrm>
            <a:off x="4567952" y="2243692"/>
            <a:ext cx="242029" cy="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a:off x="5889981" y="2243692"/>
            <a:ext cx="242029" cy="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endCxn id="51" idx="0"/>
          </p:cNvCxnSpPr>
          <p:nvPr/>
        </p:nvCxnSpPr>
        <p:spPr>
          <a:xfrm>
            <a:off x="2725863" y="2575854"/>
            <a:ext cx="0" cy="64581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矩形 90"/>
          <p:cNvSpPr/>
          <p:nvPr/>
        </p:nvSpPr>
        <p:spPr>
          <a:xfrm>
            <a:off x="4809981" y="3221673"/>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RPN</a:t>
            </a:r>
            <a:r>
              <a:rPr lang="zh-CN" altLang="en-US" dirty="0" smtClean="0"/>
              <a:t>网络</a:t>
            </a:r>
            <a:endParaRPr lang="zh-CN" altLang="en-US" dirty="0"/>
          </a:p>
        </p:txBody>
      </p:sp>
      <p:sp>
        <p:nvSpPr>
          <p:cNvPr id="92" name="矩形 91"/>
          <p:cNvSpPr/>
          <p:nvPr/>
        </p:nvSpPr>
        <p:spPr>
          <a:xfrm>
            <a:off x="6132009" y="3220910"/>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区域建议</a:t>
            </a:r>
          </a:p>
        </p:txBody>
      </p:sp>
      <p:sp>
        <p:nvSpPr>
          <p:cNvPr id="93" name="矩形 92"/>
          <p:cNvSpPr/>
          <p:nvPr/>
        </p:nvSpPr>
        <p:spPr>
          <a:xfrm>
            <a:off x="6132009" y="4193031"/>
            <a:ext cx="1080000" cy="6485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区域得分</a:t>
            </a:r>
            <a:endParaRPr lang="zh-CN" altLang="en-US" dirty="0"/>
          </a:p>
        </p:txBody>
      </p:sp>
      <p:cxnSp>
        <p:nvCxnSpPr>
          <p:cNvPr id="94" name="直接箭头连接符 93"/>
          <p:cNvCxnSpPr/>
          <p:nvPr/>
        </p:nvCxnSpPr>
        <p:spPr>
          <a:xfrm>
            <a:off x="4567951" y="3541194"/>
            <a:ext cx="242029" cy="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a:off x="5889980" y="3551937"/>
            <a:ext cx="242029" cy="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肘形连接符 113"/>
          <p:cNvCxnSpPr>
            <a:endCxn id="93" idx="1"/>
          </p:cNvCxnSpPr>
          <p:nvPr/>
        </p:nvCxnSpPr>
        <p:spPr>
          <a:xfrm>
            <a:off x="5349981" y="3869496"/>
            <a:ext cx="782028" cy="64782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肘形连接符 115"/>
          <p:cNvCxnSpPr>
            <a:stCxn id="92" idx="3"/>
            <a:endCxn id="9" idx="2"/>
          </p:cNvCxnSpPr>
          <p:nvPr/>
        </p:nvCxnSpPr>
        <p:spPr>
          <a:xfrm flipV="1">
            <a:off x="7212009" y="2573083"/>
            <a:ext cx="782030" cy="972120"/>
          </a:xfrm>
          <a:prstGeom prst="bentConnector2">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7" name="文本框 116"/>
          <p:cNvSpPr txBox="1"/>
          <p:nvPr/>
        </p:nvSpPr>
        <p:spPr>
          <a:xfrm>
            <a:off x="2806273" y="2714095"/>
            <a:ext cx="3002745" cy="369332"/>
          </a:xfrm>
          <a:prstGeom prst="rect">
            <a:avLst/>
          </a:prstGeom>
          <a:noFill/>
        </p:spPr>
        <p:txBody>
          <a:bodyPr wrap="none" rtlCol="0">
            <a:spAutoFit/>
          </a:bodyPr>
          <a:lstStyle/>
          <a:p>
            <a:r>
              <a:rPr lang="zh-CN" altLang="en-US" dirty="0" smtClean="0">
                <a:solidFill>
                  <a:schemeClr val="accent1">
                    <a:lumMod val="40000"/>
                    <a:lumOff val="60000"/>
                  </a:schemeClr>
                </a:solidFill>
              </a:rPr>
              <a:t>若共享卷积层会降低计算量</a:t>
            </a:r>
            <a:endParaRPr lang="zh-CN" altLang="en-US" dirty="0">
              <a:solidFill>
                <a:schemeClr val="accent1">
                  <a:lumMod val="40000"/>
                  <a:lumOff val="60000"/>
                </a:schemeClr>
              </a:solidFill>
            </a:endParaRPr>
          </a:p>
        </p:txBody>
      </p:sp>
      <p:sp>
        <p:nvSpPr>
          <p:cNvPr id="118" name="矩形 117"/>
          <p:cNvSpPr/>
          <p:nvPr/>
        </p:nvSpPr>
        <p:spPr>
          <a:xfrm>
            <a:off x="754912" y="1807535"/>
            <a:ext cx="3934053" cy="2222205"/>
          </a:xfrm>
          <a:prstGeom prst="rect">
            <a:avLst/>
          </a:prstGeom>
          <a:noFill/>
          <a:ln w="25400">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9" name="矩形 118"/>
          <p:cNvSpPr/>
          <p:nvPr/>
        </p:nvSpPr>
        <p:spPr>
          <a:xfrm>
            <a:off x="754912" y="5028463"/>
            <a:ext cx="3934053" cy="883240"/>
          </a:xfrm>
          <a:prstGeom prst="rect">
            <a:avLst/>
          </a:prstGeom>
          <a:noFill/>
          <a:ln w="25400">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24" name="直接箭头连接符 123"/>
          <p:cNvCxnSpPr>
            <a:stCxn id="118" idx="2"/>
            <a:endCxn id="119" idx="0"/>
          </p:cNvCxnSpPr>
          <p:nvPr/>
        </p:nvCxnSpPr>
        <p:spPr>
          <a:xfrm>
            <a:off x="2721939" y="4029740"/>
            <a:ext cx="0" cy="99872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71388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p:sp>
        <p:nvSpPr>
          <p:cNvPr id="3" name="内容占位符 2"/>
          <p:cNvSpPr>
            <a:spLocks noGrp="1"/>
          </p:cNvSpPr>
          <p:nvPr>
            <p:ph sz="quarter" idx="13"/>
          </p:nvPr>
        </p:nvSpPr>
        <p:spPr/>
        <p:txBody>
          <a:bodyPr/>
          <a:lstStyle/>
          <a:p>
            <a:r>
              <a:rPr lang="zh-CN" altLang="en-US" dirty="0" smtClean="0"/>
              <a:t>共享特征：交替训练法</a:t>
            </a:r>
            <a:endParaRPr lang="en-US" altLang="zh-CN" dirty="0" smtClean="0"/>
          </a:p>
          <a:p>
            <a:pPr marL="800100" lvl="1" indent="-342900">
              <a:buFont typeface="+mj-lt"/>
              <a:buAutoNum type="arabicPeriod"/>
            </a:pPr>
            <a:r>
              <a:rPr lang="zh-CN" altLang="en-US" dirty="0" smtClean="0"/>
              <a:t>基于预训练模型，训练</a:t>
            </a:r>
            <a:r>
              <a:rPr lang="en-US" altLang="zh-CN" dirty="0" smtClean="0"/>
              <a:t>RPN</a:t>
            </a:r>
          </a:p>
          <a:p>
            <a:pPr marL="800100" lvl="1" indent="-342900">
              <a:buFont typeface="+mj-lt"/>
              <a:buAutoNum type="arabicPeriod"/>
            </a:pPr>
            <a:r>
              <a:rPr lang="zh-CN" altLang="en-US" dirty="0" smtClean="0"/>
              <a:t>基于预训练模型和</a:t>
            </a:r>
            <a:r>
              <a:rPr lang="en-US" altLang="zh-CN" dirty="0" smtClean="0"/>
              <a:t>RPN</a:t>
            </a:r>
            <a:r>
              <a:rPr lang="zh-CN" altLang="en-US" dirty="0" smtClean="0"/>
              <a:t>输出候选框，训练</a:t>
            </a:r>
            <a:r>
              <a:rPr lang="en-US" altLang="zh-CN" dirty="0" smtClean="0"/>
              <a:t>Fast R-CNN</a:t>
            </a:r>
          </a:p>
          <a:p>
            <a:pPr marL="800100" lvl="1" indent="-342900">
              <a:buFont typeface="+mj-lt"/>
              <a:buAutoNum type="arabicPeriod"/>
            </a:pPr>
            <a:r>
              <a:rPr lang="en-US" altLang="zh-CN" dirty="0" smtClean="0"/>
              <a:t>Fast R-CNN</a:t>
            </a:r>
            <a:r>
              <a:rPr lang="zh-CN" altLang="en-US" dirty="0" smtClean="0"/>
              <a:t>初始化</a:t>
            </a:r>
            <a:r>
              <a:rPr lang="en-US" altLang="zh-CN" dirty="0" smtClean="0"/>
              <a:t>RPN</a:t>
            </a:r>
            <a:r>
              <a:rPr lang="zh-CN" altLang="en-US" dirty="0" smtClean="0"/>
              <a:t>，固定底层共享的卷积层参数</a:t>
            </a:r>
            <a:endParaRPr lang="en-US" altLang="zh-CN" dirty="0" smtClean="0"/>
          </a:p>
          <a:p>
            <a:pPr marL="800100" lvl="1" indent="-342900">
              <a:buFont typeface="+mj-lt"/>
              <a:buAutoNum type="arabicPeriod"/>
            </a:pPr>
            <a:r>
              <a:rPr lang="zh-CN" altLang="en-US" dirty="0" smtClean="0"/>
              <a:t>训练</a:t>
            </a:r>
            <a:r>
              <a:rPr lang="en-US" altLang="zh-CN" dirty="0" smtClean="0"/>
              <a:t>Fast R-CNN</a:t>
            </a:r>
            <a:r>
              <a:rPr lang="zh-CN" altLang="en-US" dirty="0" smtClean="0"/>
              <a:t>，固定底层共享的卷积层参数</a:t>
            </a:r>
            <a:endParaRPr lang="zh-CN" altLang="en-US" dirty="0"/>
          </a:p>
        </p:txBody>
      </p:sp>
      <p:pic>
        <p:nvPicPr>
          <p:cNvPr id="41" name="图片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3326713"/>
            <a:ext cx="2524125" cy="2590800"/>
          </a:xfrm>
          <a:prstGeom prst="rect">
            <a:avLst/>
          </a:prstGeom>
        </p:spPr>
      </p:pic>
      <p:pic>
        <p:nvPicPr>
          <p:cNvPr id="64" name="图片 6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9954" y="3007654"/>
            <a:ext cx="7690534" cy="3129620"/>
          </a:xfrm>
          <a:prstGeom prst="rect">
            <a:avLst/>
          </a:prstGeom>
        </p:spPr>
      </p:pic>
    </p:spTree>
    <p:extLst>
      <p:ext uri="{BB962C8B-B14F-4D97-AF65-F5344CB8AC3E}">
        <p14:creationId xmlns:p14="http://schemas.microsoft.com/office/powerpoint/2010/main" val="205283855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Faster R-CNN</a:t>
            </a:r>
            <a:endParaRPr lang="zh-CN" altLang="en-US" dirty="0"/>
          </a:p>
        </p:txBody>
      </p:sp>
      <p:sp>
        <p:nvSpPr>
          <p:cNvPr id="3" name="内容占位符 2"/>
          <p:cNvSpPr>
            <a:spLocks noGrp="1"/>
          </p:cNvSpPr>
          <p:nvPr>
            <p:ph sz="quarter" idx="13"/>
          </p:nvPr>
        </p:nvSpPr>
        <p:spPr/>
        <p:txBody>
          <a:bodyPr/>
          <a:lstStyle/>
          <a:p>
            <a:r>
              <a:rPr lang="zh-CN" altLang="en-US" dirty="0" smtClean="0"/>
              <a:t>共享特征：近似联合训练法</a:t>
            </a:r>
            <a:endParaRPr lang="en-US" altLang="zh-CN" dirty="0" smtClean="0"/>
          </a:p>
          <a:p>
            <a:pPr lvl="1"/>
            <a:r>
              <a:rPr lang="en-US" altLang="zh-CN" dirty="0" smtClean="0"/>
              <a:t>RPN</a:t>
            </a:r>
            <a:r>
              <a:rPr lang="zh-CN" altLang="en-US" dirty="0" smtClean="0"/>
              <a:t>和</a:t>
            </a:r>
            <a:r>
              <a:rPr lang="en-US" altLang="zh-CN" dirty="0" smtClean="0"/>
              <a:t>Fast R-CNN</a:t>
            </a:r>
            <a:r>
              <a:rPr lang="zh-CN" altLang="en-US" dirty="0" smtClean="0"/>
              <a:t>回传梯度相融合</a:t>
            </a:r>
            <a:endParaRPr lang="en-US" altLang="zh-CN" dirty="0" smtClean="0"/>
          </a:p>
          <a:p>
            <a:pPr lvl="1"/>
            <a:r>
              <a:rPr lang="zh-CN" altLang="en-US" dirty="0" smtClean="0"/>
              <a:t>将两者损失函数根据一定比例相加</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8155" y="1538286"/>
            <a:ext cx="5133975" cy="4191000"/>
          </a:xfrm>
          <a:prstGeom prst="rect">
            <a:avLst/>
          </a:prstGeom>
        </p:spPr>
      </p:pic>
    </p:spTree>
    <p:extLst>
      <p:ext uri="{BB962C8B-B14F-4D97-AF65-F5344CB8AC3E}">
        <p14:creationId xmlns:p14="http://schemas.microsoft.com/office/powerpoint/2010/main" val="364658870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r>
              <a:rPr lang="zh-CN" altLang="en-US" dirty="0" smtClean="0"/>
              <a:t>总结</a:t>
            </a:r>
            <a:endParaRPr lang="zh-CN" altLang="en-US" dirty="0"/>
          </a:p>
        </p:txBody>
      </p:sp>
      <p:sp>
        <p:nvSpPr>
          <p:cNvPr id="5" name="内容占位符 4"/>
          <p:cNvSpPr>
            <a:spLocks noGrp="1"/>
          </p:cNvSpPr>
          <p:nvPr>
            <p:ph sz="quarter" idx="13"/>
          </p:nvPr>
        </p:nvSpPr>
        <p:spPr/>
        <p:txBody>
          <a:bodyPr/>
          <a:lstStyle/>
          <a:p>
            <a:r>
              <a:rPr lang="en-US" altLang="zh-CN" dirty="0" smtClean="0"/>
              <a:t>R-CNN</a:t>
            </a:r>
            <a:r>
              <a:rPr lang="zh-CN" altLang="en-US" dirty="0" smtClean="0"/>
              <a:t>：</a:t>
            </a:r>
            <a:endParaRPr lang="zh-CN" altLang="en-US" dirty="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1872" y="1509976"/>
            <a:ext cx="7066667" cy="4247619"/>
          </a:xfrm>
          <a:prstGeom prst="rect">
            <a:avLst/>
          </a:prstGeom>
        </p:spPr>
      </p:pic>
    </p:spTree>
    <p:extLst>
      <p:ext uri="{BB962C8B-B14F-4D97-AF65-F5344CB8AC3E}">
        <p14:creationId xmlns:p14="http://schemas.microsoft.com/office/powerpoint/2010/main" val="6467507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r>
              <a:rPr lang="zh-CN" altLang="en-US" dirty="0" smtClean="0"/>
              <a:t>总结</a:t>
            </a:r>
            <a:endParaRPr lang="zh-CN" altLang="en-US" dirty="0"/>
          </a:p>
        </p:txBody>
      </p:sp>
      <p:sp>
        <p:nvSpPr>
          <p:cNvPr id="5" name="内容占位符 4"/>
          <p:cNvSpPr>
            <a:spLocks noGrp="1"/>
          </p:cNvSpPr>
          <p:nvPr>
            <p:ph sz="quarter" idx="13"/>
          </p:nvPr>
        </p:nvSpPr>
        <p:spPr/>
        <p:txBody>
          <a:bodyPr/>
          <a:lstStyle/>
          <a:p>
            <a:r>
              <a:rPr lang="en-US" altLang="zh-CN" dirty="0" smtClean="0"/>
              <a:t>Fast R-CNN</a:t>
            </a:r>
            <a:r>
              <a:rPr lang="zh-CN" altLang="en-US" dirty="0" smtClean="0"/>
              <a:t>：</a:t>
            </a: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2499" y="1113786"/>
            <a:ext cx="6685413" cy="5040000"/>
          </a:xfrm>
          <a:prstGeom prst="rect">
            <a:avLst/>
          </a:prstGeom>
        </p:spPr>
      </p:pic>
    </p:spTree>
    <p:extLst>
      <p:ext uri="{BB962C8B-B14F-4D97-AF65-F5344CB8AC3E}">
        <p14:creationId xmlns:p14="http://schemas.microsoft.com/office/powerpoint/2010/main" val="5771524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r>
              <a:rPr lang="zh-CN" altLang="en-US" dirty="0" smtClean="0"/>
              <a:t>总结</a:t>
            </a:r>
            <a:endParaRPr lang="zh-CN" altLang="en-US" dirty="0"/>
          </a:p>
        </p:txBody>
      </p:sp>
      <p:sp>
        <p:nvSpPr>
          <p:cNvPr id="5" name="内容占位符 4"/>
          <p:cNvSpPr>
            <a:spLocks noGrp="1"/>
          </p:cNvSpPr>
          <p:nvPr>
            <p:ph sz="quarter" idx="13"/>
          </p:nvPr>
        </p:nvSpPr>
        <p:spPr/>
        <p:txBody>
          <a:bodyPr/>
          <a:lstStyle/>
          <a:p>
            <a:r>
              <a:rPr lang="en-US" altLang="zh-CN" dirty="0" smtClean="0"/>
              <a:t>Faster R-CNN</a:t>
            </a:r>
            <a:r>
              <a:rPr lang="zh-CN" altLang="en-US" dirty="0" smtClean="0"/>
              <a:t>：</a:t>
            </a:r>
            <a:endParaRPr lang="zh-CN" altLang="en-US" dirty="0"/>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8684" y="1113786"/>
            <a:ext cx="6793043" cy="5040000"/>
          </a:xfrm>
          <a:prstGeom prst="rect">
            <a:avLst/>
          </a:prstGeom>
        </p:spPr>
      </p:pic>
    </p:spTree>
    <p:extLst>
      <p:ext uri="{BB962C8B-B14F-4D97-AF65-F5344CB8AC3E}">
        <p14:creationId xmlns:p14="http://schemas.microsoft.com/office/powerpoint/2010/main" val="155212725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R-CNN</a:t>
            </a:r>
            <a:r>
              <a:rPr lang="zh-CN" altLang="en-US" dirty="0" smtClean="0"/>
              <a:t>总结</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8" name="表格 7"/>
          <p:cNvGraphicFramePr>
            <a:graphicFrameLocks noGrp="1"/>
          </p:cNvGraphicFramePr>
          <p:nvPr>
            <p:extLst/>
          </p:nvPr>
        </p:nvGraphicFramePr>
        <p:xfrm>
          <a:off x="669925" y="1130299"/>
          <a:ext cx="10850562" cy="5399607"/>
        </p:xfrm>
        <a:graphic>
          <a:graphicData uri="http://schemas.openxmlformats.org/drawingml/2006/table">
            <a:tbl>
              <a:tblPr firstRow="1" bandRow="1">
                <a:tableStyleId>{5940675A-B579-460E-94D1-54222C63F5DA}</a:tableStyleId>
              </a:tblPr>
              <a:tblGrid>
                <a:gridCol w="2409788"/>
                <a:gridCol w="2409788"/>
                <a:gridCol w="3621198"/>
                <a:gridCol w="2409788"/>
              </a:tblGrid>
              <a:tr h="461847">
                <a:tc>
                  <a:txBody>
                    <a:bodyPr/>
                    <a:lstStyle/>
                    <a:p>
                      <a:endParaRPr lang="zh-CN" altLang="en-US" dirty="0"/>
                    </a:p>
                  </a:txBody>
                  <a:tcPr/>
                </a:tc>
                <a:tc>
                  <a:txBody>
                    <a:bodyPr/>
                    <a:lstStyle/>
                    <a:p>
                      <a:r>
                        <a:rPr lang="zh-CN" altLang="en-US" dirty="0" smtClean="0"/>
                        <a:t>步骤</a:t>
                      </a:r>
                      <a:endParaRPr lang="zh-CN" altLang="en-US" dirty="0"/>
                    </a:p>
                  </a:txBody>
                  <a:tcPr/>
                </a:tc>
                <a:tc>
                  <a:txBody>
                    <a:bodyPr/>
                    <a:lstStyle/>
                    <a:p>
                      <a:r>
                        <a:rPr lang="zh-CN" altLang="en-US" dirty="0" smtClean="0"/>
                        <a:t>不足</a:t>
                      </a:r>
                      <a:endParaRPr lang="zh-CN" altLang="en-US" dirty="0"/>
                    </a:p>
                  </a:txBody>
                  <a:tcPr/>
                </a:tc>
                <a:tc>
                  <a:txBody>
                    <a:bodyPr/>
                    <a:lstStyle/>
                    <a:p>
                      <a:r>
                        <a:rPr lang="zh-CN" altLang="en-US" dirty="0" smtClean="0"/>
                        <a:t>改进</a:t>
                      </a:r>
                      <a:endParaRPr lang="zh-CN" altLang="en-US" dirty="0"/>
                    </a:p>
                  </a:txBody>
                  <a:tcPr/>
                </a:tc>
              </a:tr>
              <a:tr h="1395603">
                <a:tc>
                  <a:txBody>
                    <a:bodyPr/>
                    <a:lstStyle/>
                    <a:p>
                      <a:r>
                        <a:rPr lang="en-US" altLang="zh-CN" dirty="0" smtClean="0"/>
                        <a:t>R-CNN</a:t>
                      </a:r>
                      <a:endParaRPr lang="zh-CN" altLang="en-US" dirty="0"/>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Selective Search</a:t>
                      </a:r>
                      <a:r>
                        <a:rPr lang="zh-CN" altLang="en-US" sz="1800" b="0" i="0" kern="1200" dirty="0" smtClean="0">
                          <a:solidFill>
                            <a:schemeClr val="tx1"/>
                          </a:solidFill>
                          <a:effectLst/>
                          <a:latin typeface="+mn-lt"/>
                          <a:ea typeface="+mn-ea"/>
                          <a:cs typeface="+mn-cs"/>
                        </a:rPr>
                        <a:t>提取</a:t>
                      </a:r>
                      <a:r>
                        <a:rPr lang="en-US" altLang="zh-CN" sz="1800" b="0" i="0" kern="1200" dirty="0" smtClean="0">
                          <a:solidFill>
                            <a:schemeClr val="tx1"/>
                          </a:solidFill>
                          <a:effectLst/>
                          <a:latin typeface="+mn-lt"/>
                          <a:ea typeface="+mn-ea"/>
                          <a:cs typeface="+mn-cs"/>
                        </a:rPr>
                        <a:t>RP</a:t>
                      </a:r>
                      <a:r>
                        <a:rPr lang="zh-CN" altLang="en-US" sz="1800" b="0" i="0" kern="1200" dirty="0" smtClean="0">
                          <a:solidFill>
                            <a:schemeClr val="tx1"/>
                          </a:solidFill>
                          <a:effectLst/>
                          <a:latin typeface="+mn-lt"/>
                          <a:ea typeface="+mn-ea"/>
                          <a:cs typeface="+mn-cs"/>
                        </a:rPr>
                        <a:t>（候选框）；</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CNN</a:t>
                      </a:r>
                      <a:r>
                        <a:rPr lang="zh-CN" altLang="en-US" sz="1800" b="0" i="0" kern="1200" dirty="0" smtClean="0">
                          <a:solidFill>
                            <a:schemeClr val="tx1"/>
                          </a:solidFill>
                          <a:effectLst/>
                          <a:latin typeface="+mn-lt"/>
                          <a:ea typeface="+mn-ea"/>
                          <a:cs typeface="+mn-cs"/>
                        </a:rPr>
                        <a:t>提取特征；</a:t>
                      </a:r>
                    </a:p>
                    <a:p>
                      <a:r>
                        <a:rPr lang="en-US" altLang="zh-CN" sz="1800" b="0" i="0" kern="1200" dirty="0" smtClean="0">
                          <a:solidFill>
                            <a:schemeClr val="tx1"/>
                          </a:solidFill>
                          <a:effectLst/>
                          <a:latin typeface="+mn-lt"/>
                          <a:ea typeface="+mn-ea"/>
                          <a:cs typeface="+mn-cs"/>
                        </a:rPr>
                        <a:t>3</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SVM</a:t>
                      </a:r>
                      <a:r>
                        <a:rPr lang="zh-CN" altLang="en-US" sz="1800" b="0" i="0" kern="1200" dirty="0" smtClean="0">
                          <a:solidFill>
                            <a:schemeClr val="tx1"/>
                          </a:solidFill>
                          <a:effectLst/>
                          <a:latin typeface="+mn-lt"/>
                          <a:ea typeface="+mn-ea"/>
                          <a:cs typeface="+mn-cs"/>
                        </a:rPr>
                        <a:t>分类；</a:t>
                      </a:r>
                    </a:p>
                    <a:p>
                      <a:r>
                        <a:rPr lang="en-US" altLang="zh-CN" sz="1800" b="0" i="0" kern="1200" dirty="0" smtClean="0">
                          <a:solidFill>
                            <a:schemeClr val="tx1"/>
                          </a:solidFill>
                          <a:effectLst/>
                          <a:latin typeface="+mn-lt"/>
                          <a:ea typeface="+mn-ea"/>
                          <a:cs typeface="+mn-cs"/>
                        </a:rPr>
                        <a:t>4</a:t>
                      </a:r>
                      <a:r>
                        <a:rPr lang="zh-CN" altLang="en-US" sz="1800" b="0" i="0" kern="1200" dirty="0" smtClean="0">
                          <a:solidFill>
                            <a:schemeClr val="tx1"/>
                          </a:solidFill>
                          <a:effectLst/>
                          <a:latin typeface="+mn-lt"/>
                          <a:ea typeface="+mn-ea"/>
                          <a:cs typeface="+mn-cs"/>
                        </a:rPr>
                        <a:t>、</a:t>
                      </a:r>
                      <a:r>
                        <a:rPr lang="en-US" altLang="zh-CN" sz="1800" b="0" i="0" kern="1200" dirty="0" err="1" smtClean="0">
                          <a:solidFill>
                            <a:schemeClr val="tx1"/>
                          </a:solidFill>
                          <a:effectLst/>
                          <a:latin typeface="+mn-lt"/>
                          <a:ea typeface="+mn-ea"/>
                          <a:cs typeface="+mn-cs"/>
                        </a:rPr>
                        <a:t>bbox</a:t>
                      </a:r>
                      <a:r>
                        <a:rPr lang="zh-CN" altLang="en-US" sz="1800" b="0" i="0" kern="1200" dirty="0" smtClean="0">
                          <a:solidFill>
                            <a:schemeClr val="tx1"/>
                          </a:solidFill>
                          <a:effectLst/>
                          <a:latin typeface="+mn-lt"/>
                          <a:ea typeface="+mn-ea"/>
                          <a:cs typeface="+mn-cs"/>
                        </a:rPr>
                        <a:t>回归。</a:t>
                      </a:r>
                    </a:p>
                  </a:txBody>
                  <a:tcPr/>
                </a:tc>
                <a:tc>
                  <a:txBody>
                    <a:bodyPr/>
                    <a:lstStyle/>
                    <a:p>
                      <a:r>
                        <a:rPr lang="en-US" altLang="zh-CN" dirty="0" smtClean="0"/>
                        <a:t>1</a:t>
                      </a:r>
                      <a:r>
                        <a:rPr lang="zh-CN" altLang="en-US" dirty="0" smtClean="0"/>
                        <a:t>、 训练步骤繁琐（微调网络</a:t>
                      </a:r>
                      <a:r>
                        <a:rPr lang="en-US" altLang="zh-CN" dirty="0" smtClean="0"/>
                        <a:t>+</a:t>
                      </a:r>
                      <a:r>
                        <a:rPr lang="zh-CN" altLang="en-US" dirty="0" smtClean="0"/>
                        <a:t>训练</a:t>
                      </a:r>
                      <a:r>
                        <a:rPr lang="en-US" altLang="zh-CN" dirty="0" smtClean="0"/>
                        <a:t>SVM+</a:t>
                      </a:r>
                      <a:r>
                        <a:rPr lang="zh-CN" altLang="en-US" dirty="0" smtClean="0"/>
                        <a:t>训练</a:t>
                      </a:r>
                      <a:r>
                        <a:rPr lang="en-US" altLang="zh-CN" dirty="0" err="1" smtClean="0"/>
                        <a:t>bbox</a:t>
                      </a:r>
                      <a:r>
                        <a:rPr lang="zh-CN" altLang="en-US" dirty="0" smtClean="0"/>
                        <a:t>）；</a:t>
                      </a:r>
                    </a:p>
                    <a:p>
                      <a:r>
                        <a:rPr lang="en-US" altLang="zh-CN" dirty="0" smtClean="0"/>
                        <a:t>2</a:t>
                      </a:r>
                      <a:r>
                        <a:rPr lang="zh-CN" altLang="en-US" dirty="0" smtClean="0"/>
                        <a:t>、 训练、测试均速度慢 ；</a:t>
                      </a:r>
                    </a:p>
                    <a:p>
                      <a:r>
                        <a:rPr lang="en-US" altLang="zh-CN" dirty="0" smtClean="0"/>
                        <a:t>3</a:t>
                      </a:r>
                      <a:r>
                        <a:rPr lang="zh-CN" altLang="en-US" dirty="0" smtClean="0"/>
                        <a:t>、 训练占空间</a:t>
                      </a:r>
                      <a:endParaRPr lang="zh-CN" altLang="en-US" dirty="0"/>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a:t>
                      </a:r>
                      <a:r>
                        <a:rPr lang="en-US" altLang="zh-CN" sz="1800" b="0" i="0" kern="1200" dirty="0" err="1" smtClean="0">
                          <a:solidFill>
                            <a:schemeClr val="tx1"/>
                          </a:solidFill>
                          <a:effectLst/>
                          <a:latin typeface="+mn-lt"/>
                          <a:ea typeface="+mn-ea"/>
                          <a:cs typeface="+mn-cs"/>
                        </a:rPr>
                        <a:t>mAP</a:t>
                      </a:r>
                      <a:r>
                        <a:rPr lang="zh-CN" altLang="en-US" sz="1800" b="0" i="0" kern="1200" dirty="0" smtClean="0">
                          <a:solidFill>
                            <a:schemeClr val="tx1"/>
                          </a:solidFill>
                          <a:effectLst/>
                          <a:latin typeface="+mn-lt"/>
                          <a:ea typeface="+mn-ea"/>
                          <a:cs typeface="+mn-cs"/>
                        </a:rPr>
                        <a:t>从传统算法的</a:t>
                      </a:r>
                      <a:r>
                        <a:rPr lang="en-US" altLang="zh-CN" sz="1800" b="0" i="0" kern="1200" dirty="0" smtClean="0">
                          <a:solidFill>
                            <a:schemeClr val="tx1"/>
                          </a:solidFill>
                          <a:effectLst/>
                          <a:latin typeface="+mn-lt"/>
                          <a:ea typeface="+mn-ea"/>
                          <a:cs typeface="+mn-cs"/>
                        </a:rPr>
                        <a:t>34.3%</a:t>
                      </a:r>
                      <a:r>
                        <a:rPr lang="zh-CN" altLang="en-US" sz="1800" b="0" i="0" kern="1200" dirty="0" smtClean="0">
                          <a:solidFill>
                            <a:schemeClr val="tx1"/>
                          </a:solidFill>
                          <a:effectLst/>
                          <a:latin typeface="+mn-lt"/>
                          <a:ea typeface="+mn-ea"/>
                          <a:cs typeface="+mn-cs"/>
                        </a:rPr>
                        <a:t>直接提升到了</a:t>
                      </a:r>
                      <a:r>
                        <a:rPr lang="en-US" altLang="zh-CN" sz="1800" b="0" i="0" kern="1200" dirty="0" smtClean="0">
                          <a:solidFill>
                            <a:schemeClr val="tx1"/>
                          </a:solidFill>
                          <a:effectLst/>
                          <a:latin typeface="+mn-lt"/>
                          <a:ea typeface="+mn-ea"/>
                          <a:cs typeface="+mn-cs"/>
                        </a:rPr>
                        <a:t>66%</a:t>
                      </a:r>
                      <a:r>
                        <a:rPr lang="zh-CN" altLang="en-US" sz="1800" b="0" i="0" kern="1200" dirty="0" smtClean="0">
                          <a:solidFill>
                            <a:schemeClr val="tx1"/>
                          </a:solidFill>
                          <a:effectLst/>
                          <a:latin typeface="+mn-lt"/>
                          <a:ea typeface="+mn-ea"/>
                          <a:cs typeface="+mn-cs"/>
                        </a:rPr>
                        <a:t>；</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 引入</a:t>
                      </a:r>
                      <a:r>
                        <a:rPr lang="en-US" altLang="zh-CN" sz="1800" b="0" i="0" kern="1200" dirty="0" smtClean="0">
                          <a:solidFill>
                            <a:schemeClr val="tx1"/>
                          </a:solidFill>
                          <a:effectLst/>
                          <a:latin typeface="+mn-lt"/>
                          <a:ea typeface="+mn-ea"/>
                          <a:cs typeface="+mn-cs"/>
                        </a:rPr>
                        <a:t>RP+CNN</a:t>
                      </a:r>
                    </a:p>
                    <a:p>
                      <a:endParaRPr lang="zh-CN" altLang="en-US" dirty="0"/>
                    </a:p>
                  </a:txBody>
                  <a:tcPr/>
                </a:tc>
              </a:tr>
              <a:tr h="1548712">
                <a:tc>
                  <a:txBody>
                    <a:bodyPr/>
                    <a:lstStyle/>
                    <a:p>
                      <a:r>
                        <a:rPr lang="en-US" altLang="zh-CN" dirty="0" smtClean="0"/>
                        <a:t>Fast R-CNN</a:t>
                      </a:r>
                      <a:endParaRPr lang="zh-CN" altLang="en-US" dirty="0"/>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Selective Search</a:t>
                      </a:r>
                      <a:r>
                        <a:rPr lang="zh-CN" altLang="en-US" sz="1800" b="0" i="0" kern="1200" dirty="0" smtClean="0">
                          <a:solidFill>
                            <a:schemeClr val="tx1"/>
                          </a:solidFill>
                          <a:effectLst/>
                          <a:latin typeface="+mn-lt"/>
                          <a:ea typeface="+mn-ea"/>
                          <a:cs typeface="+mn-cs"/>
                        </a:rPr>
                        <a:t>提取</a:t>
                      </a:r>
                      <a:r>
                        <a:rPr lang="en-US" altLang="zh-CN" sz="1800" b="0" i="0" kern="1200" dirty="0" smtClean="0">
                          <a:solidFill>
                            <a:schemeClr val="tx1"/>
                          </a:solidFill>
                          <a:effectLst/>
                          <a:latin typeface="+mn-lt"/>
                          <a:ea typeface="+mn-ea"/>
                          <a:cs typeface="+mn-cs"/>
                        </a:rPr>
                        <a:t>RP</a:t>
                      </a:r>
                      <a:r>
                        <a:rPr lang="zh-CN" altLang="en-US" sz="1800" b="0" i="0" kern="1200" dirty="0" smtClean="0">
                          <a:solidFill>
                            <a:schemeClr val="tx1"/>
                          </a:solidFill>
                          <a:effectLst/>
                          <a:latin typeface="+mn-lt"/>
                          <a:ea typeface="+mn-ea"/>
                          <a:cs typeface="+mn-cs"/>
                        </a:rPr>
                        <a:t>；</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CNN</a:t>
                      </a:r>
                      <a:r>
                        <a:rPr lang="zh-CN" altLang="en-US" sz="1800" b="0" i="0" kern="1200" dirty="0" smtClean="0">
                          <a:solidFill>
                            <a:schemeClr val="tx1"/>
                          </a:solidFill>
                          <a:effectLst/>
                          <a:latin typeface="+mn-lt"/>
                          <a:ea typeface="+mn-ea"/>
                          <a:cs typeface="+mn-cs"/>
                        </a:rPr>
                        <a:t>提取特征；</a:t>
                      </a:r>
                    </a:p>
                    <a:p>
                      <a:r>
                        <a:rPr lang="en-US" altLang="zh-CN" sz="1800" b="0" i="0" kern="1200" dirty="0" smtClean="0">
                          <a:solidFill>
                            <a:schemeClr val="tx1"/>
                          </a:solidFill>
                          <a:effectLst/>
                          <a:latin typeface="+mn-lt"/>
                          <a:ea typeface="+mn-ea"/>
                          <a:cs typeface="+mn-cs"/>
                        </a:rPr>
                        <a:t>3</a:t>
                      </a:r>
                      <a:r>
                        <a:rPr lang="zh-CN" altLang="en-US" sz="1800" b="0" i="0" kern="1200" dirty="0" smtClean="0">
                          <a:solidFill>
                            <a:schemeClr val="tx1"/>
                          </a:solidFill>
                          <a:effectLst/>
                          <a:latin typeface="+mn-lt"/>
                          <a:ea typeface="+mn-ea"/>
                          <a:cs typeface="+mn-cs"/>
                        </a:rPr>
                        <a:t>、</a:t>
                      </a:r>
                      <a:r>
                        <a:rPr lang="en-US" altLang="zh-CN" sz="1800" b="0" i="0" kern="1200" dirty="0" err="1" smtClean="0">
                          <a:solidFill>
                            <a:schemeClr val="tx1"/>
                          </a:solidFill>
                          <a:effectLst/>
                          <a:latin typeface="+mn-lt"/>
                          <a:ea typeface="+mn-ea"/>
                          <a:cs typeface="+mn-cs"/>
                        </a:rPr>
                        <a:t>softmax</a:t>
                      </a:r>
                      <a:r>
                        <a:rPr lang="zh-CN" altLang="en-US" sz="1800" b="0" i="0" kern="1200" dirty="0" smtClean="0">
                          <a:solidFill>
                            <a:schemeClr val="tx1"/>
                          </a:solidFill>
                          <a:effectLst/>
                          <a:latin typeface="+mn-lt"/>
                          <a:ea typeface="+mn-ea"/>
                          <a:cs typeface="+mn-cs"/>
                        </a:rPr>
                        <a:t>分类；</a:t>
                      </a:r>
                    </a:p>
                    <a:p>
                      <a:r>
                        <a:rPr lang="en-US" altLang="zh-CN" sz="1800" b="0" i="0" kern="1200" dirty="0" smtClean="0">
                          <a:solidFill>
                            <a:schemeClr val="tx1"/>
                          </a:solidFill>
                          <a:effectLst/>
                          <a:latin typeface="+mn-lt"/>
                          <a:ea typeface="+mn-ea"/>
                          <a:cs typeface="+mn-cs"/>
                        </a:rPr>
                        <a:t>4</a:t>
                      </a:r>
                      <a:r>
                        <a:rPr lang="zh-CN" altLang="en-US" sz="1800" b="0" i="0" kern="1200" dirty="0" smtClean="0">
                          <a:solidFill>
                            <a:schemeClr val="tx1"/>
                          </a:solidFill>
                          <a:effectLst/>
                          <a:latin typeface="+mn-lt"/>
                          <a:ea typeface="+mn-ea"/>
                          <a:cs typeface="+mn-cs"/>
                        </a:rPr>
                        <a:t>、多任务损失函数边框回归。</a:t>
                      </a:r>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 依旧用</a:t>
                      </a:r>
                      <a:r>
                        <a:rPr lang="en-US" altLang="zh-CN" sz="1800" b="0" i="0" kern="1200" dirty="0" smtClean="0">
                          <a:solidFill>
                            <a:schemeClr val="tx1"/>
                          </a:solidFill>
                          <a:effectLst/>
                          <a:latin typeface="+mn-lt"/>
                          <a:ea typeface="+mn-ea"/>
                          <a:cs typeface="+mn-cs"/>
                        </a:rPr>
                        <a:t>SS</a:t>
                      </a:r>
                      <a:r>
                        <a:rPr lang="zh-CN" altLang="en-US" sz="1800" b="0" i="0" kern="1200" dirty="0" smtClean="0">
                          <a:solidFill>
                            <a:schemeClr val="tx1"/>
                          </a:solidFill>
                          <a:effectLst/>
                          <a:latin typeface="+mn-lt"/>
                          <a:ea typeface="+mn-ea"/>
                          <a:cs typeface="+mn-cs"/>
                        </a:rPr>
                        <a:t>提取</a:t>
                      </a:r>
                      <a:r>
                        <a:rPr lang="en-US" altLang="zh-CN" sz="1800" b="0" i="0" kern="1200" dirty="0" smtClean="0">
                          <a:solidFill>
                            <a:schemeClr val="tx1"/>
                          </a:solidFill>
                          <a:effectLst/>
                          <a:latin typeface="+mn-lt"/>
                          <a:ea typeface="+mn-ea"/>
                          <a:cs typeface="+mn-cs"/>
                        </a:rPr>
                        <a:t>RP(</a:t>
                      </a:r>
                      <a:r>
                        <a:rPr lang="zh-CN" altLang="en-US" sz="1800" b="0" i="0" kern="1200" dirty="0" smtClean="0">
                          <a:solidFill>
                            <a:schemeClr val="tx1"/>
                          </a:solidFill>
                          <a:effectLst/>
                          <a:latin typeface="+mn-lt"/>
                          <a:ea typeface="+mn-ea"/>
                          <a:cs typeface="+mn-cs"/>
                        </a:rPr>
                        <a:t>耗时</a:t>
                      </a:r>
                      <a:r>
                        <a:rPr lang="en-US" altLang="zh-CN" sz="1800" b="0" i="0" kern="1200" dirty="0" smtClean="0">
                          <a:solidFill>
                            <a:schemeClr val="tx1"/>
                          </a:solidFill>
                          <a:effectLst/>
                          <a:latin typeface="+mn-lt"/>
                          <a:ea typeface="+mn-ea"/>
                          <a:cs typeface="+mn-cs"/>
                        </a:rPr>
                        <a:t>2-3s</a:t>
                      </a:r>
                      <a:r>
                        <a:rPr lang="zh-CN" altLang="en-US" sz="1800" b="0" i="0" kern="1200" dirty="0" smtClean="0">
                          <a:solidFill>
                            <a:schemeClr val="tx1"/>
                          </a:solidFill>
                          <a:effectLst/>
                          <a:latin typeface="+mn-lt"/>
                          <a:ea typeface="+mn-ea"/>
                          <a:cs typeface="+mn-cs"/>
                        </a:rPr>
                        <a:t>，特征提取耗时</a:t>
                      </a:r>
                      <a:r>
                        <a:rPr lang="en-US" altLang="zh-CN" sz="1800" b="0" i="0" kern="1200" dirty="0" smtClean="0">
                          <a:solidFill>
                            <a:schemeClr val="tx1"/>
                          </a:solidFill>
                          <a:effectLst/>
                          <a:latin typeface="+mn-lt"/>
                          <a:ea typeface="+mn-ea"/>
                          <a:cs typeface="+mn-cs"/>
                        </a:rPr>
                        <a:t>0.32s)</a:t>
                      </a:r>
                      <a:r>
                        <a:rPr lang="zh-CN" altLang="en-US" sz="1800" b="0" i="0" kern="1200" dirty="0" smtClean="0">
                          <a:solidFill>
                            <a:schemeClr val="tx1"/>
                          </a:solidFill>
                          <a:effectLst/>
                          <a:latin typeface="+mn-lt"/>
                          <a:ea typeface="+mn-ea"/>
                          <a:cs typeface="+mn-cs"/>
                        </a:rPr>
                        <a:t>；</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 无法满足实时应用，没有真正实现端到端训练测试；</a:t>
                      </a:r>
                    </a:p>
                    <a:p>
                      <a:r>
                        <a:rPr lang="en-US" altLang="zh-CN" sz="1800" b="0" i="0" kern="1200" dirty="0" smtClean="0">
                          <a:solidFill>
                            <a:schemeClr val="tx1"/>
                          </a:solidFill>
                          <a:effectLst/>
                          <a:latin typeface="+mn-lt"/>
                          <a:ea typeface="+mn-ea"/>
                          <a:cs typeface="+mn-cs"/>
                        </a:rPr>
                        <a:t>3</a:t>
                      </a:r>
                      <a:r>
                        <a:rPr lang="zh-CN" altLang="en-US" sz="1800" b="0" i="0" kern="1200" dirty="0" smtClean="0">
                          <a:solidFill>
                            <a:schemeClr val="tx1"/>
                          </a:solidFill>
                          <a:effectLst/>
                          <a:latin typeface="+mn-lt"/>
                          <a:ea typeface="+mn-ea"/>
                          <a:cs typeface="+mn-cs"/>
                        </a:rPr>
                        <a:t>、 利用了</a:t>
                      </a:r>
                      <a:r>
                        <a:rPr lang="en-US" altLang="zh-CN" sz="1800" b="0" i="0" kern="1200" dirty="0" smtClean="0">
                          <a:solidFill>
                            <a:schemeClr val="tx1"/>
                          </a:solidFill>
                          <a:effectLst/>
                          <a:latin typeface="+mn-lt"/>
                          <a:ea typeface="+mn-ea"/>
                          <a:cs typeface="+mn-cs"/>
                        </a:rPr>
                        <a:t>GPU</a:t>
                      </a:r>
                      <a:r>
                        <a:rPr lang="zh-CN" altLang="en-US" sz="1800" b="0" i="0" kern="1200" dirty="0" smtClean="0">
                          <a:solidFill>
                            <a:schemeClr val="tx1"/>
                          </a:solidFill>
                          <a:effectLst/>
                          <a:latin typeface="+mn-lt"/>
                          <a:ea typeface="+mn-ea"/>
                          <a:cs typeface="+mn-cs"/>
                        </a:rPr>
                        <a:t>，但是区域建议方法是在</a:t>
                      </a:r>
                      <a:r>
                        <a:rPr lang="en-US" altLang="zh-CN" sz="1800" b="0" i="0" kern="1200" dirty="0" smtClean="0">
                          <a:solidFill>
                            <a:schemeClr val="tx1"/>
                          </a:solidFill>
                          <a:effectLst/>
                          <a:latin typeface="+mn-lt"/>
                          <a:ea typeface="+mn-ea"/>
                          <a:cs typeface="+mn-cs"/>
                        </a:rPr>
                        <a:t>CPU</a:t>
                      </a:r>
                      <a:r>
                        <a:rPr lang="zh-CN" altLang="en-US" sz="1800" b="0" i="0" kern="1200" dirty="0" smtClean="0">
                          <a:solidFill>
                            <a:schemeClr val="tx1"/>
                          </a:solidFill>
                          <a:effectLst/>
                          <a:latin typeface="+mn-lt"/>
                          <a:ea typeface="+mn-ea"/>
                          <a:cs typeface="+mn-cs"/>
                        </a:rPr>
                        <a:t>上实现的。</a:t>
                      </a:r>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 </a:t>
                      </a:r>
                      <a:r>
                        <a:rPr lang="en-US" altLang="zh-CN" sz="1800" b="0" i="0" kern="1200" dirty="0" err="1" smtClean="0">
                          <a:solidFill>
                            <a:schemeClr val="tx1"/>
                          </a:solidFill>
                          <a:effectLst/>
                          <a:latin typeface="+mn-lt"/>
                          <a:ea typeface="+mn-ea"/>
                          <a:cs typeface="+mn-cs"/>
                        </a:rPr>
                        <a:t>mAP</a:t>
                      </a:r>
                      <a:r>
                        <a:rPr lang="zh-CN" altLang="en-US" sz="1800" b="0" i="0" kern="1200" dirty="0" smtClean="0">
                          <a:solidFill>
                            <a:schemeClr val="tx1"/>
                          </a:solidFill>
                          <a:effectLst/>
                          <a:latin typeface="+mn-lt"/>
                          <a:ea typeface="+mn-ea"/>
                          <a:cs typeface="+mn-cs"/>
                        </a:rPr>
                        <a:t>由</a:t>
                      </a:r>
                      <a:r>
                        <a:rPr lang="en-US" altLang="zh-CN" sz="1800" b="0" i="0" kern="1200" dirty="0" smtClean="0">
                          <a:solidFill>
                            <a:schemeClr val="tx1"/>
                          </a:solidFill>
                          <a:effectLst/>
                          <a:latin typeface="+mn-lt"/>
                          <a:ea typeface="+mn-ea"/>
                          <a:cs typeface="+mn-cs"/>
                        </a:rPr>
                        <a:t>66.9%</a:t>
                      </a:r>
                      <a:r>
                        <a:rPr lang="zh-CN" altLang="en-US" sz="1800" b="0" i="0" kern="1200" dirty="0" smtClean="0">
                          <a:solidFill>
                            <a:schemeClr val="tx1"/>
                          </a:solidFill>
                          <a:effectLst/>
                          <a:latin typeface="+mn-lt"/>
                          <a:ea typeface="+mn-ea"/>
                          <a:cs typeface="+mn-cs"/>
                        </a:rPr>
                        <a:t>提升到</a:t>
                      </a:r>
                      <a:r>
                        <a:rPr lang="en-US" altLang="zh-CN" sz="1800" b="0" i="0" kern="1200" dirty="0" smtClean="0">
                          <a:solidFill>
                            <a:schemeClr val="tx1"/>
                          </a:solidFill>
                          <a:effectLst/>
                          <a:latin typeface="+mn-lt"/>
                          <a:ea typeface="+mn-ea"/>
                          <a:cs typeface="+mn-cs"/>
                        </a:rPr>
                        <a:t>70%</a:t>
                      </a:r>
                      <a:r>
                        <a:rPr lang="zh-CN" altLang="en-US" sz="1800" b="0" i="0" kern="1200" dirty="0" smtClean="0">
                          <a:solidFill>
                            <a:schemeClr val="tx1"/>
                          </a:solidFill>
                          <a:effectLst/>
                          <a:latin typeface="+mn-lt"/>
                          <a:ea typeface="+mn-ea"/>
                          <a:cs typeface="+mn-cs"/>
                        </a:rPr>
                        <a:t>；</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 每张图像耗时约为</a:t>
                      </a:r>
                      <a:r>
                        <a:rPr lang="en-US" altLang="zh-CN" sz="1800" b="0" i="0" kern="1200" dirty="0" smtClean="0">
                          <a:solidFill>
                            <a:schemeClr val="tx1"/>
                          </a:solidFill>
                          <a:effectLst/>
                          <a:latin typeface="+mn-lt"/>
                          <a:ea typeface="+mn-ea"/>
                          <a:cs typeface="+mn-cs"/>
                        </a:rPr>
                        <a:t>3s</a:t>
                      </a:r>
                      <a:r>
                        <a:rPr lang="zh-CN" altLang="en-US" sz="1800" b="0" i="0" kern="1200" dirty="0" smtClean="0">
                          <a:solidFill>
                            <a:schemeClr val="tx1"/>
                          </a:solidFill>
                          <a:effectLst/>
                          <a:latin typeface="+mn-lt"/>
                          <a:ea typeface="+mn-ea"/>
                          <a:cs typeface="+mn-cs"/>
                        </a:rPr>
                        <a:t>。</a:t>
                      </a:r>
                    </a:p>
                    <a:p>
                      <a:endParaRPr lang="zh-CN" altLang="en-US" dirty="0"/>
                    </a:p>
                  </a:txBody>
                  <a:tcPr/>
                </a:tc>
              </a:tr>
              <a:tr h="468262">
                <a:tc>
                  <a:txBody>
                    <a:bodyPr/>
                    <a:lstStyle/>
                    <a:p>
                      <a:r>
                        <a:rPr lang="en-US" altLang="zh-CN" dirty="0" smtClean="0"/>
                        <a:t>Faster R-CNN</a:t>
                      </a:r>
                      <a:endParaRPr lang="zh-CN" altLang="en-US" dirty="0"/>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RPN</a:t>
                      </a:r>
                      <a:r>
                        <a:rPr lang="zh-CN" altLang="en-US" sz="1800" b="0" i="0" kern="1200" dirty="0" smtClean="0">
                          <a:solidFill>
                            <a:schemeClr val="tx1"/>
                          </a:solidFill>
                          <a:effectLst/>
                          <a:latin typeface="+mn-lt"/>
                          <a:ea typeface="+mn-ea"/>
                          <a:cs typeface="+mn-cs"/>
                        </a:rPr>
                        <a:t>提取</a:t>
                      </a:r>
                      <a:r>
                        <a:rPr lang="en-US" altLang="zh-CN" sz="1800" b="0" i="0" kern="1200" dirty="0" smtClean="0">
                          <a:solidFill>
                            <a:schemeClr val="tx1"/>
                          </a:solidFill>
                          <a:effectLst/>
                          <a:latin typeface="+mn-lt"/>
                          <a:ea typeface="+mn-ea"/>
                          <a:cs typeface="+mn-cs"/>
                        </a:rPr>
                        <a:t>RP</a:t>
                      </a:r>
                      <a:r>
                        <a:rPr lang="zh-CN" altLang="en-US" sz="1800" b="0" i="0" kern="1200" dirty="0" smtClean="0">
                          <a:solidFill>
                            <a:schemeClr val="tx1"/>
                          </a:solidFill>
                          <a:effectLst/>
                          <a:latin typeface="+mn-lt"/>
                          <a:ea typeface="+mn-ea"/>
                          <a:cs typeface="+mn-cs"/>
                        </a:rPr>
                        <a:t>；</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a:t>
                      </a:r>
                      <a:r>
                        <a:rPr lang="en-US" altLang="zh-CN" sz="1800" b="0" i="0" kern="1200" dirty="0" smtClean="0">
                          <a:solidFill>
                            <a:schemeClr val="tx1"/>
                          </a:solidFill>
                          <a:effectLst/>
                          <a:latin typeface="+mn-lt"/>
                          <a:ea typeface="+mn-ea"/>
                          <a:cs typeface="+mn-cs"/>
                        </a:rPr>
                        <a:t>CNN</a:t>
                      </a:r>
                      <a:r>
                        <a:rPr lang="zh-CN" altLang="en-US" sz="1800" b="0" i="0" kern="1200" dirty="0" smtClean="0">
                          <a:solidFill>
                            <a:schemeClr val="tx1"/>
                          </a:solidFill>
                          <a:effectLst/>
                          <a:latin typeface="+mn-lt"/>
                          <a:ea typeface="+mn-ea"/>
                          <a:cs typeface="+mn-cs"/>
                        </a:rPr>
                        <a:t>提取特征；</a:t>
                      </a:r>
                    </a:p>
                    <a:p>
                      <a:r>
                        <a:rPr lang="en-US" altLang="zh-CN" sz="1800" b="0" i="0" kern="1200" dirty="0" smtClean="0">
                          <a:solidFill>
                            <a:schemeClr val="tx1"/>
                          </a:solidFill>
                          <a:effectLst/>
                          <a:latin typeface="+mn-lt"/>
                          <a:ea typeface="+mn-ea"/>
                          <a:cs typeface="+mn-cs"/>
                        </a:rPr>
                        <a:t>3</a:t>
                      </a:r>
                      <a:r>
                        <a:rPr lang="zh-CN" altLang="en-US" sz="1800" b="0" i="0" kern="1200" dirty="0" smtClean="0">
                          <a:solidFill>
                            <a:schemeClr val="tx1"/>
                          </a:solidFill>
                          <a:effectLst/>
                          <a:latin typeface="+mn-lt"/>
                          <a:ea typeface="+mn-ea"/>
                          <a:cs typeface="+mn-cs"/>
                        </a:rPr>
                        <a:t>、</a:t>
                      </a:r>
                      <a:r>
                        <a:rPr lang="en-US" altLang="zh-CN" sz="1800" b="0" i="0" kern="1200" dirty="0" err="1" smtClean="0">
                          <a:solidFill>
                            <a:schemeClr val="tx1"/>
                          </a:solidFill>
                          <a:effectLst/>
                          <a:latin typeface="+mn-lt"/>
                          <a:ea typeface="+mn-ea"/>
                          <a:cs typeface="+mn-cs"/>
                        </a:rPr>
                        <a:t>softmax</a:t>
                      </a:r>
                      <a:r>
                        <a:rPr lang="zh-CN" altLang="en-US" sz="1800" b="0" i="0" kern="1200" dirty="0" smtClean="0">
                          <a:solidFill>
                            <a:schemeClr val="tx1"/>
                          </a:solidFill>
                          <a:effectLst/>
                          <a:latin typeface="+mn-lt"/>
                          <a:ea typeface="+mn-ea"/>
                          <a:cs typeface="+mn-cs"/>
                        </a:rPr>
                        <a:t>分类；</a:t>
                      </a:r>
                    </a:p>
                    <a:p>
                      <a:r>
                        <a:rPr lang="en-US" altLang="zh-CN" sz="1800" b="0" i="0" kern="1200" dirty="0" smtClean="0">
                          <a:solidFill>
                            <a:schemeClr val="tx1"/>
                          </a:solidFill>
                          <a:effectLst/>
                          <a:latin typeface="+mn-lt"/>
                          <a:ea typeface="+mn-ea"/>
                          <a:cs typeface="+mn-cs"/>
                        </a:rPr>
                        <a:t>4</a:t>
                      </a:r>
                      <a:r>
                        <a:rPr lang="zh-CN" altLang="en-US" sz="1800" b="0" i="0" kern="1200" dirty="0" smtClean="0">
                          <a:solidFill>
                            <a:schemeClr val="tx1"/>
                          </a:solidFill>
                          <a:effectLst/>
                          <a:latin typeface="+mn-lt"/>
                          <a:ea typeface="+mn-ea"/>
                          <a:cs typeface="+mn-cs"/>
                        </a:rPr>
                        <a:t>、多任务损失函数边框回归。</a:t>
                      </a:r>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 还是无法达到实时检测目标；</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 获取</a:t>
                      </a:r>
                      <a:r>
                        <a:rPr lang="en-US" altLang="zh-CN" sz="1800" b="0" i="0" kern="1200" dirty="0" smtClean="0">
                          <a:solidFill>
                            <a:schemeClr val="tx1"/>
                          </a:solidFill>
                          <a:effectLst/>
                          <a:latin typeface="+mn-lt"/>
                          <a:ea typeface="+mn-ea"/>
                          <a:cs typeface="+mn-cs"/>
                        </a:rPr>
                        <a:t>region proposal</a:t>
                      </a:r>
                      <a:r>
                        <a:rPr lang="zh-CN" altLang="en-US" sz="1800" b="0" i="0" kern="1200" dirty="0" smtClean="0">
                          <a:solidFill>
                            <a:schemeClr val="tx1"/>
                          </a:solidFill>
                          <a:effectLst/>
                          <a:latin typeface="+mn-lt"/>
                          <a:ea typeface="+mn-ea"/>
                          <a:cs typeface="+mn-cs"/>
                        </a:rPr>
                        <a:t>，再对每个</a:t>
                      </a:r>
                      <a:r>
                        <a:rPr lang="en-US" altLang="zh-CN" sz="1800" b="0" i="0" kern="1200" dirty="0" smtClean="0">
                          <a:solidFill>
                            <a:schemeClr val="tx1"/>
                          </a:solidFill>
                          <a:effectLst/>
                          <a:latin typeface="+mn-lt"/>
                          <a:ea typeface="+mn-ea"/>
                          <a:cs typeface="+mn-cs"/>
                        </a:rPr>
                        <a:t>proposal</a:t>
                      </a:r>
                      <a:r>
                        <a:rPr lang="zh-CN" altLang="en-US" sz="1800" b="0" i="0" kern="1200" dirty="0" smtClean="0">
                          <a:solidFill>
                            <a:schemeClr val="tx1"/>
                          </a:solidFill>
                          <a:effectLst/>
                          <a:latin typeface="+mn-lt"/>
                          <a:ea typeface="+mn-ea"/>
                          <a:cs typeface="+mn-cs"/>
                        </a:rPr>
                        <a:t>分类计算量还是比较大。</a:t>
                      </a:r>
                    </a:p>
                  </a:txBody>
                  <a:tcPr/>
                </a:tc>
                <a:tc>
                  <a:txBody>
                    <a:bodyPr/>
                    <a:lstStyle/>
                    <a:p>
                      <a:r>
                        <a:rPr lang="en-US" altLang="zh-CN" sz="1800" b="0" i="0" kern="1200" dirty="0" smtClean="0">
                          <a:solidFill>
                            <a:schemeClr val="tx1"/>
                          </a:solidFill>
                          <a:effectLst/>
                          <a:latin typeface="+mn-lt"/>
                          <a:ea typeface="+mn-ea"/>
                          <a:cs typeface="+mn-cs"/>
                        </a:rPr>
                        <a:t>1</a:t>
                      </a:r>
                      <a:r>
                        <a:rPr lang="zh-CN" altLang="en-US" sz="1800" b="0" i="0" kern="1200" dirty="0" smtClean="0">
                          <a:solidFill>
                            <a:schemeClr val="tx1"/>
                          </a:solidFill>
                          <a:effectLst/>
                          <a:latin typeface="+mn-lt"/>
                          <a:ea typeface="+mn-ea"/>
                          <a:cs typeface="+mn-cs"/>
                        </a:rPr>
                        <a:t>、 提高了检测精度和速度；</a:t>
                      </a:r>
                    </a:p>
                    <a:p>
                      <a:r>
                        <a:rPr lang="en-US" altLang="zh-CN" sz="1800" b="0" i="0" kern="1200" dirty="0" smtClean="0">
                          <a:solidFill>
                            <a:schemeClr val="tx1"/>
                          </a:solidFill>
                          <a:effectLst/>
                          <a:latin typeface="+mn-lt"/>
                          <a:ea typeface="+mn-ea"/>
                          <a:cs typeface="+mn-cs"/>
                        </a:rPr>
                        <a:t>2</a:t>
                      </a:r>
                      <a:r>
                        <a:rPr lang="zh-CN" altLang="en-US" sz="1800" b="0" i="0" kern="1200" dirty="0" smtClean="0">
                          <a:solidFill>
                            <a:schemeClr val="tx1"/>
                          </a:solidFill>
                          <a:effectLst/>
                          <a:latin typeface="+mn-lt"/>
                          <a:ea typeface="+mn-ea"/>
                          <a:cs typeface="+mn-cs"/>
                        </a:rPr>
                        <a:t>、  真正实现端到端的目标检测框架；</a:t>
                      </a:r>
                    </a:p>
                    <a:p>
                      <a:r>
                        <a:rPr lang="en-US" altLang="zh-CN" sz="1800" b="0" i="0" kern="1200" dirty="0" smtClean="0">
                          <a:solidFill>
                            <a:schemeClr val="tx1"/>
                          </a:solidFill>
                          <a:effectLst/>
                          <a:latin typeface="+mn-lt"/>
                          <a:ea typeface="+mn-ea"/>
                          <a:cs typeface="+mn-cs"/>
                        </a:rPr>
                        <a:t>3</a:t>
                      </a:r>
                      <a:r>
                        <a:rPr lang="zh-CN" altLang="en-US" sz="1800" b="0" i="0" kern="1200" dirty="0" smtClean="0">
                          <a:solidFill>
                            <a:schemeClr val="tx1"/>
                          </a:solidFill>
                          <a:effectLst/>
                          <a:latin typeface="+mn-lt"/>
                          <a:ea typeface="+mn-ea"/>
                          <a:cs typeface="+mn-cs"/>
                        </a:rPr>
                        <a:t>、  生成建议框仅需约</a:t>
                      </a:r>
                      <a:r>
                        <a:rPr lang="en-US" altLang="zh-CN" sz="1800" b="0" i="0" kern="1200" dirty="0" smtClean="0">
                          <a:solidFill>
                            <a:schemeClr val="tx1"/>
                          </a:solidFill>
                          <a:effectLst/>
                          <a:latin typeface="+mn-lt"/>
                          <a:ea typeface="+mn-ea"/>
                          <a:cs typeface="+mn-cs"/>
                        </a:rPr>
                        <a:t>10ms</a:t>
                      </a:r>
                      <a:r>
                        <a:rPr lang="zh-CN" altLang="en-US" sz="1800" b="0" i="0" kern="1200" dirty="0" smtClean="0">
                          <a:solidFill>
                            <a:schemeClr val="tx1"/>
                          </a:solidFill>
                          <a:effectLst/>
                          <a:latin typeface="+mn-lt"/>
                          <a:ea typeface="+mn-ea"/>
                          <a:cs typeface="+mn-cs"/>
                        </a:rPr>
                        <a:t>。</a:t>
                      </a:r>
                    </a:p>
                  </a:txBody>
                  <a:tcPr/>
                </a:tc>
              </a:tr>
            </a:tbl>
          </a:graphicData>
        </a:graphic>
      </p:graphicFrame>
    </p:spTree>
    <p:extLst>
      <p:ext uri="{BB962C8B-B14F-4D97-AF65-F5344CB8AC3E}">
        <p14:creationId xmlns:p14="http://schemas.microsoft.com/office/powerpoint/2010/main" val="382519382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检测算法的进一步改进</a:t>
            </a:r>
            <a:endParaRPr lang="zh-CN" altLang="en-US" dirty="0"/>
          </a:p>
        </p:txBody>
      </p:sp>
    </p:spTree>
    <p:extLst>
      <p:ext uri="{BB962C8B-B14F-4D97-AF65-F5344CB8AC3E}">
        <p14:creationId xmlns:p14="http://schemas.microsoft.com/office/powerpoint/2010/main" val="666723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检测</a:t>
            </a:r>
            <a:r>
              <a:rPr lang="zh-CN" altLang="en-US" dirty="0" smtClean="0"/>
              <a:t>算法的进一步改进</a:t>
            </a:r>
            <a:endParaRPr lang="zh-CN" altLang="en-US" dirty="0"/>
          </a:p>
        </p:txBody>
      </p:sp>
      <p:sp>
        <p:nvSpPr>
          <p:cNvPr id="3" name="内容占位符 2"/>
          <p:cNvSpPr>
            <a:spLocks noGrp="1"/>
          </p:cNvSpPr>
          <p:nvPr>
            <p:ph sz="quarter" idx="13"/>
          </p:nvPr>
        </p:nvSpPr>
        <p:spPr/>
        <p:txBody>
          <a:bodyPr/>
          <a:lstStyle/>
          <a:p>
            <a:r>
              <a:rPr lang="zh-CN" altLang="en-US" dirty="0" smtClean="0"/>
              <a:t>提升算法性能的方法：</a:t>
            </a:r>
            <a:endParaRPr lang="en-US" altLang="zh-CN" dirty="0" smtClean="0"/>
          </a:p>
          <a:p>
            <a:pPr lvl="1"/>
            <a:r>
              <a:rPr lang="zh-CN" altLang="en-US" dirty="0" smtClean="0"/>
              <a:t>构造表达能力更强的特征</a:t>
            </a:r>
            <a:endParaRPr lang="en-US" altLang="zh-CN" dirty="0" smtClean="0"/>
          </a:p>
          <a:p>
            <a:pPr lvl="2"/>
            <a:r>
              <a:rPr lang="zh-CN" altLang="en-US" dirty="0" smtClean="0"/>
              <a:t>特征</a:t>
            </a:r>
            <a:r>
              <a:rPr lang="zh-CN" altLang="en-US" dirty="0"/>
              <a:t>构造角度</a:t>
            </a:r>
            <a:r>
              <a:rPr lang="en-US" altLang="zh-CN" dirty="0"/>
              <a:t>——</a:t>
            </a:r>
            <a:r>
              <a:rPr lang="zh-CN" altLang="en-US" dirty="0"/>
              <a:t>特征金字塔</a:t>
            </a:r>
            <a:r>
              <a:rPr lang="zh-CN" altLang="en-US" dirty="0" smtClean="0"/>
              <a:t>方法</a:t>
            </a:r>
            <a:endParaRPr lang="en-US" altLang="zh-CN" dirty="0" smtClean="0"/>
          </a:p>
          <a:p>
            <a:pPr lvl="1"/>
            <a:r>
              <a:rPr lang="zh-CN" altLang="en-US" dirty="0" smtClean="0"/>
              <a:t>采用更好的损失函数</a:t>
            </a:r>
            <a:endParaRPr lang="en-US" altLang="zh-CN" dirty="0" smtClean="0"/>
          </a:p>
          <a:p>
            <a:pPr lvl="2"/>
            <a:r>
              <a:rPr lang="zh-CN" altLang="en-US" dirty="0" smtClean="0"/>
              <a:t>损失函数构造角度</a:t>
            </a:r>
            <a:r>
              <a:rPr lang="en-US" altLang="zh-CN" dirty="0" smtClean="0"/>
              <a:t>——</a:t>
            </a:r>
            <a:r>
              <a:rPr lang="zh-CN" altLang="en-US" dirty="0" smtClean="0"/>
              <a:t>焦点损失函数方法</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3063" y="3784417"/>
            <a:ext cx="6904285" cy="2352857"/>
          </a:xfrm>
          <a:prstGeom prst="rect">
            <a:avLst/>
          </a:prstGeom>
        </p:spPr>
      </p:pic>
    </p:spTree>
    <p:extLst>
      <p:ext uri="{BB962C8B-B14F-4D97-AF65-F5344CB8AC3E}">
        <p14:creationId xmlns:p14="http://schemas.microsoft.com/office/powerpoint/2010/main" val="162855073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特征金字塔</a:t>
            </a:r>
            <a:endParaRPr lang="zh-CN" altLang="en-US" dirty="0"/>
          </a:p>
        </p:txBody>
      </p:sp>
      <p:sp>
        <p:nvSpPr>
          <p:cNvPr id="3" name="内容占位符 2"/>
          <p:cNvSpPr>
            <a:spLocks noGrp="1"/>
          </p:cNvSpPr>
          <p:nvPr>
            <p:ph sz="quarter" idx="13"/>
          </p:nvPr>
        </p:nvSpPr>
        <p:spPr/>
        <p:txBody>
          <a:bodyPr/>
          <a:lstStyle/>
          <a:p>
            <a:r>
              <a:rPr lang="zh-CN" altLang="en-US" dirty="0" smtClean="0"/>
              <a:t>特征金字塔（</a:t>
            </a:r>
            <a:r>
              <a:rPr lang="en-US" altLang="zh-CN" dirty="0" smtClean="0"/>
              <a:t>Feature Pyramid Networks</a:t>
            </a:r>
            <a:r>
              <a:rPr lang="zh-CN" altLang="en-US" dirty="0" smtClean="0"/>
              <a:t>，</a:t>
            </a:r>
            <a:r>
              <a:rPr lang="en-US" altLang="zh-CN" dirty="0" smtClean="0"/>
              <a:t>FPN</a:t>
            </a:r>
            <a:r>
              <a:rPr lang="zh-CN" altLang="en-US" dirty="0" smtClean="0"/>
              <a:t>）</a:t>
            </a:r>
            <a:endParaRPr lang="en-US" altLang="zh-CN" dirty="0" smtClean="0"/>
          </a:p>
          <a:p>
            <a:pPr lvl="1"/>
            <a:r>
              <a:rPr lang="zh-CN" altLang="en-US" dirty="0" smtClean="0"/>
              <a:t>构造一系列不同尺度的图像与特征图</a:t>
            </a:r>
            <a:endParaRPr lang="en-US" altLang="zh-CN" dirty="0" smtClean="0"/>
          </a:p>
          <a:p>
            <a:pPr lvl="1"/>
            <a:r>
              <a:rPr lang="zh-CN" altLang="en-US" dirty="0"/>
              <a:t>多</a:t>
            </a:r>
            <a:r>
              <a:rPr lang="zh-CN" altLang="en-US" dirty="0" smtClean="0"/>
              <a:t>尺度特征融合方法</a:t>
            </a:r>
            <a:endParaRPr lang="en-US" altLang="zh-CN" dirty="0" smtClean="0"/>
          </a:p>
          <a:p>
            <a:r>
              <a:rPr lang="zh-CN" altLang="en-US" dirty="0" smtClean="0"/>
              <a:t>方法</a:t>
            </a:r>
            <a:r>
              <a:rPr lang="en-US" altLang="zh-CN" dirty="0"/>
              <a:t>1</a:t>
            </a:r>
            <a:r>
              <a:rPr lang="zh-CN" altLang="en-US" dirty="0" smtClean="0"/>
              <a:t>：原图生成一系列缩放比例不等的图像，对每一次提取特征并预测</a:t>
            </a:r>
            <a:endParaRPr lang="en-US" altLang="zh-CN" dirty="0" smtClean="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4893" y="3432174"/>
            <a:ext cx="5000625" cy="2705100"/>
          </a:xfrm>
          <a:prstGeom prst="rect">
            <a:avLst/>
          </a:prstGeom>
        </p:spPr>
      </p:pic>
    </p:spTree>
    <p:extLst>
      <p:ext uri="{BB962C8B-B14F-4D97-AF65-F5344CB8AC3E}">
        <p14:creationId xmlns:p14="http://schemas.microsoft.com/office/powerpoint/2010/main" val="216244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特征金字塔</a:t>
            </a:r>
            <a:endParaRPr lang="zh-CN" altLang="en-US" dirty="0"/>
          </a:p>
        </p:txBody>
      </p:sp>
      <p:sp>
        <p:nvSpPr>
          <p:cNvPr id="3" name="内容占位符 2"/>
          <p:cNvSpPr>
            <a:spLocks noGrp="1"/>
          </p:cNvSpPr>
          <p:nvPr>
            <p:ph sz="quarter" idx="13"/>
          </p:nvPr>
        </p:nvSpPr>
        <p:spPr/>
        <p:txBody>
          <a:bodyPr/>
          <a:lstStyle/>
          <a:p>
            <a:r>
              <a:rPr lang="zh-CN" altLang="en-US" dirty="0" smtClean="0"/>
              <a:t>方法</a:t>
            </a:r>
            <a:r>
              <a:rPr lang="en-US" altLang="zh-CN" dirty="0"/>
              <a:t>2</a:t>
            </a:r>
            <a:r>
              <a:rPr lang="zh-CN" altLang="en-US" dirty="0" smtClean="0"/>
              <a:t>：同时使用不同层特征图检测不同尺度的目标</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2194" y="2300286"/>
            <a:ext cx="3324225" cy="2667000"/>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0153" y="2428873"/>
            <a:ext cx="3276600" cy="2409825"/>
          </a:xfrm>
          <a:prstGeom prst="rect">
            <a:avLst/>
          </a:prstGeom>
        </p:spPr>
      </p:pic>
    </p:spTree>
    <p:extLst>
      <p:ext uri="{BB962C8B-B14F-4D97-AF65-F5344CB8AC3E}">
        <p14:creationId xmlns:p14="http://schemas.microsoft.com/office/powerpoint/2010/main" val="18833599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特征金字塔</a:t>
            </a:r>
            <a:endParaRPr lang="zh-CN" altLang="en-US" dirty="0"/>
          </a:p>
        </p:txBody>
      </p:sp>
      <p:sp>
        <p:nvSpPr>
          <p:cNvPr id="3" name="内容占位符 2"/>
          <p:cNvSpPr>
            <a:spLocks noGrp="1"/>
          </p:cNvSpPr>
          <p:nvPr>
            <p:ph sz="quarter" idx="13"/>
          </p:nvPr>
        </p:nvSpPr>
        <p:spPr/>
        <p:txBody>
          <a:bodyPr/>
          <a:lstStyle/>
          <a:p>
            <a:r>
              <a:rPr lang="zh-CN" altLang="en-US" dirty="0" smtClean="0"/>
              <a:t>方法</a:t>
            </a:r>
            <a:r>
              <a:rPr lang="en-US" altLang="zh-CN" dirty="0" smtClean="0"/>
              <a:t>3</a:t>
            </a:r>
            <a:r>
              <a:rPr lang="zh-CN" altLang="en-US" dirty="0" smtClean="0"/>
              <a:t>：深层特征融合到浅层特征中</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206" y="2476498"/>
            <a:ext cx="4572000" cy="2314575"/>
          </a:xfrm>
          <a:prstGeom prst="rect">
            <a:avLst/>
          </a:prstGeom>
        </p:spPr>
      </p:pic>
    </p:spTree>
    <p:extLst>
      <p:ext uri="{BB962C8B-B14F-4D97-AF65-F5344CB8AC3E}">
        <p14:creationId xmlns:p14="http://schemas.microsoft.com/office/powerpoint/2010/main" val="13391013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特征金字塔</a:t>
            </a:r>
            <a:endParaRPr lang="zh-CN" altLang="en-US" dirty="0"/>
          </a:p>
        </p:txBody>
      </p:sp>
      <p:sp>
        <p:nvSpPr>
          <p:cNvPr id="3" name="内容占位符 2"/>
          <p:cNvSpPr>
            <a:spLocks noGrp="1"/>
          </p:cNvSpPr>
          <p:nvPr>
            <p:ph sz="quarter" idx="13"/>
          </p:nvPr>
        </p:nvSpPr>
        <p:spPr/>
        <p:txBody>
          <a:bodyPr/>
          <a:lstStyle/>
          <a:p>
            <a:r>
              <a:rPr lang="en-US" altLang="zh-CN" dirty="0" smtClean="0"/>
              <a:t>FPN</a:t>
            </a:r>
            <a:r>
              <a:rPr lang="zh-CN" altLang="en-US" dirty="0" smtClean="0"/>
              <a:t>的网络结构本质上也是一种全卷积网络，构造特征包括</a:t>
            </a:r>
            <a:r>
              <a:rPr lang="en-US" altLang="zh-CN" dirty="0" smtClean="0"/>
              <a:t>3</a:t>
            </a:r>
            <a:r>
              <a:rPr lang="zh-CN" altLang="en-US" dirty="0" smtClean="0"/>
              <a:t>个过程：</a:t>
            </a:r>
            <a:endParaRPr lang="en-US" altLang="zh-CN" dirty="0" smtClean="0"/>
          </a:p>
          <a:p>
            <a:pPr lvl="1"/>
            <a:r>
              <a:rPr lang="zh-CN" altLang="en-US" dirty="0" smtClean="0"/>
              <a:t>自下而上（</a:t>
            </a:r>
            <a:r>
              <a:rPr lang="en-US" altLang="zh-CN" dirty="0" smtClean="0"/>
              <a:t>bottom-up</a:t>
            </a:r>
            <a:r>
              <a:rPr lang="zh-CN" altLang="en-US" dirty="0" smtClean="0"/>
              <a:t>）</a:t>
            </a:r>
            <a:endParaRPr lang="en-US" altLang="zh-CN" dirty="0" smtClean="0"/>
          </a:p>
          <a:p>
            <a:pPr lvl="1"/>
            <a:r>
              <a:rPr lang="zh-CN" altLang="en-US" dirty="0" smtClean="0"/>
              <a:t>自上而下（</a:t>
            </a:r>
            <a:r>
              <a:rPr lang="en-US" altLang="zh-CN" dirty="0" smtClean="0"/>
              <a:t>top-down</a:t>
            </a:r>
            <a:r>
              <a:rPr lang="zh-CN" altLang="en-US" dirty="0" smtClean="0"/>
              <a:t>）</a:t>
            </a:r>
            <a:endParaRPr lang="en-US" altLang="zh-CN" dirty="0" smtClean="0"/>
          </a:p>
          <a:p>
            <a:pPr lvl="1"/>
            <a:r>
              <a:rPr lang="zh-CN" altLang="en-US" dirty="0" smtClean="0"/>
              <a:t>同层连接</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5579" y="1675344"/>
            <a:ext cx="6237392" cy="4461930"/>
          </a:xfrm>
          <a:prstGeom prst="rect">
            <a:avLst/>
          </a:prstGeom>
        </p:spPr>
      </p:pic>
    </p:spTree>
    <p:extLst>
      <p:ext uri="{BB962C8B-B14F-4D97-AF65-F5344CB8AC3E}">
        <p14:creationId xmlns:p14="http://schemas.microsoft.com/office/powerpoint/2010/main" val="19009076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特征金字塔</a:t>
            </a:r>
            <a:endParaRPr lang="zh-CN" altLang="en-US" dirty="0"/>
          </a:p>
        </p:txBody>
      </p:sp>
      <p:sp>
        <p:nvSpPr>
          <p:cNvPr id="3" name="内容占位符 2"/>
          <p:cNvSpPr>
            <a:spLocks noGrp="1"/>
          </p:cNvSpPr>
          <p:nvPr>
            <p:ph sz="quarter" idx="13"/>
          </p:nvPr>
        </p:nvSpPr>
        <p:spPr/>
        <p:txBody>
          <a:bodyPr/>
          <a:lstStyle/>
          <a:p>
            <a:r>
              <a:rPr lang="en-US" altLang="zh-CN" dirty="0" smtClean="0"/>
              <a:t>FPN</a:t>
            </a:r>
            <a:r>
              <a:rPr lang="zh-CN" altLang="en-US" dirty="0" smtClean="0"/>
              <a:t>是多尺度目标检测的通用方法，广泛用于：</a:t>
            </a:r>
            <a:endParaRPr lang="en-US" altLang="zh-CN" dirty="0" smtClean="0"/>
          </a:p>
          <a:p>
            <a:pPr lvl="1"/>
            <a:r>
              <a:rPr lang="zh-CN" altLang="en-US" dirty="0" smtClean="0"/>
              <a:t>候选框筛选（</a:t>
            </a:r>
            <a:r>
              <a:rPr lang="en-US" altLang="zh-CN" dirty="0" smtClean="0"/>
              <a:t>RPN</a:t>
            </a:r>
            <a:r>
              <a:rPr lang="zh-CN" altLang="en-US" dirty="0" smtClean="0"/>
              <a:t>）</a:t>
            </a:r>
            <a:endParaRPr lang="en-US" altLang="zh-CN" dirty="0" smtClean="0"/>
          </a:p>
          <a:p>
            <a:pPr lvl="1"/>
            <a:r>
              <a:rPr lang="en-US" altLang="zh-CN" dirty="0" smtClean="0"/>
              <a:t>Fast R-CNN</a:t>
            </a:r>
            <a:r>
              <a:rPr lang="zh-CN" altLang="en-US" dirty="0" smtClean="0"/>
              <a:t>检测</a:t>
            </a:r>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2337483"/>
            <a:ext cx="4008475" cy="3799791"/>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5977" y="1897432"/>
            <a:ext cx="5926933" cy="4239842"/>
          </a:xfrm>
          <a:prstGeom prst="rect">
            <a:avLst/>
          </a:prstGeom>
        </p:spPr>
      </p:pic>
    </p:spTree>
    <p:extLst>
      <p:ext uri="{BB962C8B-B14F-4D97-AF65-F5344CB8AC3E}">
        <p14:creationId xmlns:p14="http://schemas.microsoft.com/office/powerpoint/2010/main" val="21832875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焦点损失函数</a:t>
            </a:r>
            <a:endParaRPr lang="zh-CN" altLang="en-US" dirty="0"/>
          </a:p>
        </p:txBody>
      </p:sp>
      <p:sp>
        <p:nvSpPr>
          <p:cNvPr id="3" name="内容占位符 2"/>
          <p:cNvSpPr>
            <a:spLocks noGrp="1"/>
          </p:cNvSpPr>
          <p:nvPr>
            <p:ph sz="quarter" idx="13"/>
          </p:nvPr>
        </p:nvSpPr>
        <p:spPr/>
        <p:txBody>
          <a:bodyPr/>
          <a:lstStyle/>
          <a:p>
            <a:r>
              <a:rPr lang="zh-CN" altLang="en-US" dirty="0" smtClean="0"/>
              <a:t>候选框正负样本极度不均衡问题：</a:t>
            </a:r>
            <a:endParaRPr lang="en-US" altLang="zh-CN" dirty="0" smtClean="0"/>
          </a:p>
          <a:p>
            <a:pPr lvl="1"/>
            <a:r>
              <a:rPr lang="zh-CN" altLang="en-US" dirty="0" smtClean="0"/>
              <a:t>有针对性地去除易分样本</a:t>
            </a:r>
            <a:r>
              <a:rPr lang="en-US" altLang="zh-CN" dirty="0" smtClean="0"/>
              <a:t>——Fast R-CNN</a:t>
            </a:r>
          </a:p>
          <a:p>
            <a:pPr lvl="1"/>
            <a:r>
              <a:rPr lang="zh-CN" altLang="en-US" dirty="0" smtClean="0"/>
              <a:t>设计损失函数降低易分样本影响</a:t>
            </a:r>
            <a:r>
              <a:rPr lang="en-US" altLang="zh-CN" dirty="0" smtClean="0"/>
              <a:t>——</a:t>
            </a:r>
            <a:r>
              <a:rPr lang="zh-CN" altLang="en-US" dirty="0" smtClean="0"/>
              <a:t>焦点损失函数</a:t>
            </a:r>
            <a:endParaRPr lang="en-US" altLang="zh-CN" dirty="0" smtClean="0"/>
          </a:p>
          <a:p>
            <a:pPr lvl="2"/>
            <a:r>
              <a:rPr lang="zh-CN" altLang="en-US" dirty="0" smtClean="0"/>
              <a:t>通过惩罚因子突出难分样本的影响</a:t>
            </a:r>
            <a:endParaRPr lang="en-US" altLang="zh-CN" dirty="0" smtClean="0"/>
          </a:p>
          <a:p>
            <a:endParaRPr lang="en-US"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3390" y="2551814"/>
            <a:ext cx="5417098" cy="3585460"/>
          </a:xfrm>
          <a:prstGeom prst="rect">
            <a:avLst/>
          </a:prstGeom>
        </p:spPr>
      </p:pic>
    </p:spTree>
    <p:extLst>
      <p:ext uri="{BB962C8B-B14F-4D97-AF65-F5344CB8AC3E}">
        <p14:creationId xmlns:p14="http://schemas.microsoft.com/office/powerpoint/2010/main" val="25938003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焦点损失函数</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以二分类中的交叉熵损失函数为例：</a:t>
                </a:r>
                <a:endParaRPr lang="en-US" altLang="zh-CN" dirty="0"/>
              </a:p>
              <a:p>
                <a:pPr lvl="1"/>
                <a14:m>
                  <m:oMath xmlns:m="http://schemas.openxmlformats.org/officeDocument/2006/math">
                    <m:r>
                      <a:rPr lang="en-US" altLang="zh-CN" i="1">
                        <a:latin typeface="Cambria Math" panose="02040503050406030204" pitchFamily="18" charset="0"/>
                      </a:rPr>
                      <m:t>𝐶𝐸</m:t>
                    </m:r>
                    <m:d>
                      <m:dPr>
                        <m:ctrlPr>
                          <a:rPr lang="en-US"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r>
                                      <a:rPr lang="en-US" altLang="zh-CN" i="1">
                                        <a:latin typeface="Cambria Math" panose="02040503050406030204" pitchFamily="18" charset="0"/>
                                      </a:rPr>
                                      <m:t>𝑝</m:t>
                                    </m:r>
                                  </m:e>
                                </m:d>
                                <m:r>
                                  <a:rPr lang="en-US" altLang="zh-CN" i="1">
                                    <a:latin typeface="Cambria Math" panose="02040503050406030204" pitchFamily="18" charset="0"/>
                                  </a:rPr>
                                  <m:t>, </m:t>
                                </m:r>
                                <m:r>
                                  <a:rPr lang="en-US" altLang="zh-CN" i="1">
                                    <a:latin typeface="Cambria Math" panose="02040503050406030204" pitchFamily="18" charset="0"/>
                                  </a:rPr>
                                  <m:t>𝑦</m:t>
                                </m:r>
                                <m:r>
                                  <a:rPr lang="en-US" altLang="zh-CN" i="1">
                                    <a:latin typeface="Cambria Math" panose="02040503050406030204" pitchFamily="18" charset="0"/>
                                  </a:rPr>
                                  <m:t>=1</m:t>
                                </m:r>
                              </m:e>
                            </m:func>
                          </m:e>
                          <m:e>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𝑝</m:t>
                                    </m:r>
                                  </m:e>
                                </m:d>
                                <m:r>
                                  <a:rPr lang="en-US" altLang="zh-CN" i="1">
                                    <a:latin typeface="Cambria Math" panose="02040503050406030204" pitchFamily="18" charset="0"/>
                                  </a:rPr>
                                  <m:t>,</m:t>
                                </m:r>
                                <m:r>
                                  <a:rPr lang="zh-CN" altLang="en-US" i="1">
                                    <a:latin typeface="Cambria Math" panose="02040503050406030204" pitchFamily="18" charset="0"/>
                                    <a:ea typeface="Cambria Math" panose="02040503050406030204" pitchFamily="18" charset="0"/>
                                  </a:rPr>
                                  <m:t>其他</m:t>
                                </m:r>
                              </m:e>
                            </m:func>
                          </m:e>
                        </m:eqArr>
                      </m:e>
                    </m:d>
                  </m:oMath>
                </a14:m>
                <a:endParaRPr lang="en-US" altLang="zh-CN" dirty="0" smtClean="0"/>
              </a:p>
              <a:p>
                <a:pPr lvl="1"/>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m:t>
                        </m:r>
                      </m:e>
                    </m:d>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r>
                          <a:rPr lang="zh-CN" altLang="en-US" i="1">
                            <a:latin typeface="Cambria Math" panose="02040503050406030204" pitchFamily="18" charset="0"/>
                            <a:ea typeface="Cambria Math" panose="02040503050406030204" pitchFamily="18" charset="0"/>
                          </a:rPr>
                          <m:t>样本</m:t>
                        </m:r>
                        <m:r>
                          <a:rPr lang="zh-CN" altLang="en-US" i="1" smtClean="0">
                            <a:latin typeface="Cambria Math" panose="02040503050406030204" pitchFamily="18" charset="0"/>
                            <a:ea typeface="Cambria Math" panose="02040503050406030204" pitchFamily="18" charset="0"/>
                          </a:rPr>
                          <m:t>实际</m:t>
                        </m:r>
                        <m:r>
                          <a:rPr lang="zh-CN" altLang="en-US" i="1">
                            <a:latin typeface="Cambria Math" panose="02040503050406030204" pitchFamily="18" charset="0"/>
                            <a:ea typeface="Cambria Math" panose="02040503050406030204" pitchFamily="18" charset="0"/>
                          </a:rPr>
                          <m:t>类型</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0,1</m:t>
                        </m:r>
                      </m:e>
                    </m:d>
                    <m:r>
                      <a:rPr lang="en-US" altLang="zh-CN" b="0" i="1" smtClean="0">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Cambria Math" panose="02040503050406030204" pitchFamily="18" charset="0"/>
                      </a:rPr>
                      <m:t>预测</m:t>
                    </m:r>
                    <m:r>
                      <a:rPr lang="zh-CN" altLang="en-US" i="1" smtClean="0">
                        <a:latin typeface="Cambria Math" panose="02040503050406030204" pitchFamily="18" charset="0"/>
                        <a:ea typeface="Cambria Math" panose="02040503050406030204" pitchFamily="18" charset="0"/>
                      </a:rPr>
                      <m:t>结构</m:t>
                    </m:r>
                    <m:r>
                      <a:rPr lang="zh-CN" altLang="en-US" i="1">
                        <a:latin typeface="Cambria Math" panose="02040503050406030204" pitchFamily="18" charset="0"/>
                        <a:ea typeface="Cambria Math" panose="02040503050406030204" pitchFamily="18" charset="0"/>
                      </a:rPr>
                      <m:t>为</m:t>
                    </m:r>
                    <m:r>
                      <a:rPr lang="zh-CN" altLang="en-US" i="1" smtClean="0">
                        <a:latin typeface="Cambria Math" panose="02040503050406030204" pitchFamily="18" charset="0"/>
                        <a:ea typeface="Cambria Math" panose="02040503050406030204" pitchFamily="18" charset="0"/>
                      </a:rPr>
                      <m:t>正</m:t>
                    </m:r>
                    <m:r>
                      <a:rPr lang="zh-CN" altLang="en-US" i="1">
                        <a:latin typeface="Cambria Math" panose="02040503050406030204" pitchFamily="18" charset="0"/>
                        <a:ea typeface="Cambria Math" panose="02040503050406030204" pitchFamily="18" charset="0"/>
                      </a:rPr>
                      <m:t>的</m:t>
                    </m:r>
                    <m:r>
                      <a:rPr lang="zh-CN" altLang="en-US" i="1" smtClean="0">
                        <a:latin typeface="Cambria Math" panose="02040503050406030204" pitchFamily="18" charset="0"/>
                        <a:ea typeface="Cambria Math" panose="02040503050406030204" pitchFamily="18" charset="0"/>
                      </a:rPr>
                      <m:t>概率</m:t>
                    </m:r>
                    <m:r>
                      <a:rPr lang="en-US" altLang="zh-CN" b="0" i="1" smtClean="0">
                        <a:latin typeface="Cambria Math" panose="02040503050406030204" pitchFamily="18" charset="0"/>
                        <a:ea typeface="Cambria Math" panose="02040503050406030204" pitchFamily="18" charset="0"/>
                      </a:rPr>
                      <m:t>)</m:t>
                    </m:r>
                  </m:oMath>
                </a14:m>
                <a:endParaRPr lang="en-US" altLang="zh-CN" dirty="0" smtClean="0"/>
              </a:p>
              <a:p>
                <a:pPr lvl="1"/>
                <a:r>
                  <a:rPr lang="zh-CN" altLang="en-US" dirty="0" smtClean="0"/>
                  <a:t>若约定</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eqArr>
                          <m:eqArrPr>
                            <m:ctrlPr>
                              <a:rPr lang="en-US" altLang="zh-CN" b="0" i="1" smtClean="0">
                                <a:latin typeface="Cambria Math" panose="02040503050406030204" pitchFamily="18" charset="0"/>
                                <a:ea typeface="Cambria Math" panose="02040503050406030204" pitchFamily="18" charset="0"/>
                              </a:rPr>
                            </m:ctrlPr>
                          </m:eqArrPr>
                          <m:e>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,其他</m:t>
                            </m:r>
                          </m:e>
                        </m:eqArr>
                      </m:e>
                    </m:d>
                  </m:oMath>
                </a14:m>
                <a:endParaRPr lang="en-US" altLang="zh-CN" dirty="0" smtClean="0"/>
              </a:p>
              <a:p>
                <a:pPr lvl="1"/>
                <a:r>
                  <a:rPr lang="zh-CN" altLang="en-US" dirty="0" smtClean="0"/>
                  <a:t>则有</a:t>
                </a:r>
                <a14:m>
                  <m:oMath xmlns:m="http://schemas.openxmlformats.org/officeDocument/2006/math">
                    <m:r>
                      <a:rPr lang="en-US" altLang="zh-CN" b="0" i="1" smtClean="0">
                        <a:latin typeface="Cambria Math" panose="02040503050406030204" pitchFamily="18" charset="0"/>
                      </a:rPr>
                      <m:t>𝐶𝐸</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𝐶𝐸</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e>
                    </m:func>
                  </m:oMath>
                </a14:m>
                <a:endParaRPr lang="en-US" altLang="zh-CN" dirty="0" smtClean="0"/>
              </a:p>
              <a:p>
                <a:pPr lvl="1"/>
                <a:r>
                  <a:rPr lang="zh-CN" altLang="en-US" dirty="0" smtClean="0"/>
                  <a:t>引入另一个以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r>
                      <a:rPr lang="zh-CN" altLang="en-US" i="1" smtClean="0">
                        <a:latin typeface="Cambria Math" panose="02040503050406030204" pitchFamily="18" charset="0"/>
                      </a:rPr>
                      <m:t>为</m:t>
                    </m:r>
                  </m:oMath>
                </a14:m>
                <a:r>
                  <a:rPr lang="zh-CN" altLang="en-US" dirty="0" smtClean="0"/>
                  <a:t>变量的单调递减函数</a:t>
                </a:r>
                <a14:m>
                  <m:oMath xmlns:m="http://schemas.openxmlformats.org/officeDocument/2006/math">
                    <m:r>
                      <a:rPr lang="zh-CN" altLang="en-US" i="1" smtClean="0">
                        <a:latin typeface="Cambria Math" panose="02040503050406030204" pitchFamily="18" charset="0"/>
                      </a:rPr>
                      <m:t>𝛼</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oMath>
                </a14:m>
                <a:r>
                  <a:rPr lang="zh-CN" altLang="en-US" dirty="0" smtClean="0"/>
                  <a:t>作为权重因子</a:t>
                </a:r>
                <a:endParaRPr lang="en-US" altLang="zh-CN" dirty="0" smtClean="0"/>
              </a:p>
              <a:p>
                <a:pPr lvl="1"/>
                <a:r>
                  <a:rPr lang="zh-CN" altLang="en-US" dirty="0"/>
                  <a:t>焦点损失函数</a:t>
                </a:r>
                <a14:m>
                  <m:oMath xmlns:m="http://schemas.openxmlformats.org/officeDocument/2006/math">
                    <m:r>
                      <a:rPr lang="en-US" altLang="zh-CN" i="1">
                        <a:latin typeface="Cambria Math" panose="02040503050406030204" pitchFamily="18" charset="0"/>
                      </a:rPr>
                      <m:t>𝐶𝐹</m:t>
                    </m:r>
                    <m:d>
                      <m:dPr>
                        <m:ctrlPr>
                          <a:rPr lang="en-US"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r>
                      <a:rPr lang="zh-CN" altLang="en-US" i="1">
                        <a:latin typeface="Cambria Math" panose="02040503050406030204" pitchFamily="18" charset="0"/>
                      </a:rPr>
                      <m:t>𝛼</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e>
                    </m:func>
                  </m:oMath>
                </a14:m>
                <a:endParaRPr lang="en-US" altLang="zh-CN" dirty="0" smtClean="0"/>
              </a:p>
              <a:p>
                <a:pPr lvl="1"/>
                <a:r>
                  <a:rPr lang="zh-CN" altLang="en-US" dirty="0" smtClean="0"/>
                  <a:t>令权重因子</a:t>
                </a:r>
                <a14:m>
                  <m:oMath xmlns:m="http://schemas.openxmlformats.org/officeDocument/2006/math">
                    <m:r>
                      <a:rPr lang="zh-CN" altLang="en-US" i="1">
                        <a:latin typeface="Cambria Math" panose="02040503050406030204" pitchFamily="18" charset="0"/>
                      </a:rPr>
                      <m:t>𝛼</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1−</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e>
                      <m:sup>
                        <m:r>
                          <a:rPr lang="zh-CN" altLang="en-US" i="1">
                            <a:latin typeface="Cambria Math" panose="02040503050406030204" pitchFamily="18" charset="0"/>
                          </a:rPr>
                          <m:t>𝛾</m:t>
                        </m:r>
                      </m:sup>
                    </m:sSup>
                  </m:oMath>
                </a14:m>
                <a:endParaRPr lang="en-US" altLang="zh-CN" dirty="0" smtClean="0"/>
              </a:p>
              <a:p>
                <a:pPr lvl="1"/>
                <a:r>
                  <a:rPr lang="zh-CN" altLang="en-US" dirty="0"/>
                  <a:t>焦点</a:t>
                </a:r>
                <a:r>
                  <a:rPr lang="zh-CN" altLang="en-US" dirty="0" smtClean="0"/>
                  <a:t>损失函数</a:t>
                </a:r>
                <a14:m>
                  <m:oMath xmlns:m="http://schemas.openxmlformats.org/officeDocument/2006/math">
                    <m:r>
                      <a:rPr lang="en-US" altLang="zh-CN" b="0" i="1" smtClean="0">
                        <a:latin typeface="Cambria Math" panose="02040503050406030204" pitchFamily="18" charset="0"/>
                      </a:rPr>
                      <m:t>𝐶𝐹</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e>
                      <m:sup>
                        <m:r>
                          <a:rPr lang="zh-CN" altLang="en-US" b="0" i="1" smtClean="0">
                            <a:latin typeface="Cambria Math" panose="02040503050406030204" pitchFamily="18" charset="0"/>
                          </a:rPr>
                          <m:t>𝛾</m:t>
                        </m:r>
                      </m:sup>
                    </m:sSup>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𝑡</m:t>
                                </m:r>
                              </m:sub>
                            </m:sSub>
                          </m:e>
                        </m:d>
                      </m:e>
                    </m:func>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394509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焦点损失函数</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以二分类中的交叉熵损失函数为例：</a:t>
                </a:r>
                <a:endParaRPr lang="en-US" altLang="zh-CN" dirty="0"/>
              </a:p>
              <a:p>
                <a:pPr lvl="1"/>
                <a:r>
                  <a:rPr lang="zh-CN" altLang="en-US" dirty="0"/>
                  <a:t>焦点损失函数</a:t>
                </a:r>
                <a14:m>
                  <m:oMath xmlns:m="http://schemas.openxmlformats.org/officeDocument/2006/math">
                    <m:r>
                      <a:rPr lang="en-US" altLang="zh-CN" i="1">
                        <a:latin typeface="Cambria Math" panose="02040503050406030204" pitchFamily="18" charset="0"/>
                      </a:rPr>
                      <m:t>𝐶𝐹</m:t>
                    </m:r>
                    <m:d>
                      <m:dPr>
                        <m:ctrlPr>
                          <a:rPr lang="en-US"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1−</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e>
                      <m:sup>
                        <m:r>
                          <a:rPr lang="zh-CN" altLang="en-US" i="1">
                            <a:latin typeface="Cambria Math" panose="02040503050406030204" pitchFamily="18" charset="0"/>
                          </a:rPr>
                          <m:t>𝛾</m:t>
                        </m:r>
                      </m:sup>
                    </m:sSup>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𝑡</m:t>
                                </m:r>
                              </m:sub>
                            </m:sSub>
                          </m:e>
                        </m:d>
                      </m:e>
                    </m:func>
                  </m:oMath>
                </a14:m>
                <a:endParaRPr lang="en-US" altLang="zh-CN" dirty="0" smtClean="0"/>
              </a:p>
              <a:p>
                <a:pPr lvl="1"/>
                <a14:m>
                  <m:oMath xmlns:m="http://schemas.openxmlformats.org/officeDocument/2006/math">
                    <m:r>
                      <a:rPr lang="zh-CN" altLang="en-US" i="1">
                        <a:latin typeface="Cambria Math" panose="02040503050406030204" pitchFamily="18" charset="0"/>
                      </a:rPr>
                      <m:t>𝛾</m:t>
                    </m:r>
                    <m:r>
                      <a:rPr lang="zh-CN" altLang="en-US" dirty="0">
                        <a:latin typeface="Cambria Math" panose="02040503050406030204" pitchFamily="18" charset="0"/>
                      </a:rPr>
                      <m:t>≥</m:t>
                    </m:r>
                    <m:r>
                      <a:rPr lang="en-US" altLang="zh-CN" b="0" i="0" dirty="0" smtClean="0">
                        <a:latin typeface="Cambria Math" panose="02040503050406030204" pitchFamily="18" charset="0"/>
                      </a:rPr>
                      <m:t>0</m:t>
                    </m:r>
                  </m:oMath>
                </a14:m>
                <a:r>
                  <a:rPr lang="zh-CN" altLang="en-US" dirty="0" smtClean="0"/>
                  <a:t>为超参数，</a:t>
                </a:r>
                <a14:m>
                  <m:oMath xmlns:m="http://schemas.openxmlformats.org/officeDocument/2006/math">
                    <m:r>
                      <a:rPr lang="zh-CN" altLang="en-US" i="1">
                        <a:latin typeface="Cambria Math" panose="02040503050406030204" pitchFamily="18" charset="0"/>
                      </a:rPr>
                      <m:t>𝛾</m:t>
                    </m:r>
                  </m:oMath>
                </a14:m>
                <a:r>
                  <a:rPr lang="zh-CN" altLang="en-US" dirty="0" smtClean="0"/>
                  <a:t>越大，对易分样本损失的削减越明显</a:t>
                </a:r>
                <a:endParaRPr lang="en-US" altLang="zh-CN" dirty="0" smtClean="0"/>
              </a:p>
              <a:p>
                <a:pPr lvl="1"/>
                <a14:m>
                  <m:oMath xmlns:m="http://schemas.openxmlformats.org/officeDocument/2006/math">
                    <m:r>
                      <a:rPr lang="zh-CN" altLang="en-US" i="1">
                        <a:latin typeface="Cambria Math" panose="02040503050406030204" pitchFamily="18" charset="0"/>
                      </a:rPr>
                      <m:t>𝛾</m:t>
                    </m:r>
                    <m:r>
                      <a:rPr lang="en-US" altLang="zh-CN" dirty="0">
                        <a:latin typeface="Cambria Math" panose="02040503050406030204" pitchFamily="18" charset="0"/>
                        <a:ea typeface="Cambria Math" panose="02040503050406030204" pitchFamily="18" charset="0"/>
                      </a:rPr>
                      <m:t>=</m:t>
                    </m:r>
                    <m:r>
                      <a:rPr lang="en-US" altLang="zh-CN" b="0" i="0" dirty="0" smtClean="0">
                        <a:latin typeface="Cambria Math" panose="02040503050406030204" pitchFamily="18" charset="0"/>
                        <a:ea typeface="Cambria Math" panose="02040503050406030204" pitchFamily="18" charset="0"/>
                      </a:rPr>
                      <m:t>0</m:t>
                    </m:r>
                  </m:oMath>
                </a14:m>
                <a:r>
                  <a:rPr lang="zh-CN" altLang="en-US" dirty="0" smtClean="0"/>
                  <a:t>时焦点损失函数曲线退化成原来的交叉熵损失曲线</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1872" y="3042036"/>
            <a:ext cx="5066667" cy="3095238"/>
          </a:xfrm>
          <a:prstGeom prst="rect">
            <a:avLst/>
          </a:prstGeom>
        </p:spPr>
      </p:pic>
    </p:spTree>
    <p:extLst>
      <p:ext uri="{BB962C8B-B14F-4D97-AF65-F5344CB8AC3E}">
        <p14:creationId xmlns:p14="http://schemas.microsoft.com/office/powerpoint/2010/main" val="9952266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以</a:t>
            </a:r>
            <a:r>
              <a:rPr lang="en-US" altLang="zh-CN" dirty="0" smtClean="0"/>
              <a:t>R-CNN</a:t>
            </a:r>
            <a:r>
              <a:rPr lang="zh-CN" altLang="en-US" dirty="0" smtClean="0"/>
              <a:t>为代表的几种两阶段检测算法的原理</a:t>
            </a:r>
            <a:endParaRPr lang="en-US" altLang="zh-CN" dirty="0" smtClean="0"/>
          </a:p>
          <a:p>
            <a:r>
              <a:rPr lang="zh-CN" altLang="en-US" dirty="0" smtClean="0"/>
              <a:t>进一步改进检测算法的两种方法</a:t>
            </a:r>
            <a:endParaRPr lang="en-US" altLang="zh-CN" dirty="0" smtClean="0"/>
          </a:p>
          <a:p>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16</TotalTime>
  <Words>10980</Words>
  <Application>Microsoft Office PowerPoint</Application>
  <PresentationFormat>宽屏</PresentationFormat>
  <Paragraphs>489</Paragraphs>
  <Slides>50</Slides>
  <Notes>41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50</vt:i4>
      </vt:variant>
    </vt:vector>
  </HeadingPairs>
  <TitlesOfParts>
    <vt:vector size="58" baseType="lpstr">
      <vt:lpstr>等线</vt:lpstr>
      <vt:lpstr>宋体</vt:lpstr>
      <vt:lpstr>微软雅黑</vt:lpstr>
      <vt:lpstr>Arial</vt:lpstr>
      <vt:lpstr>Calibri</vt:lpstr>
      <vt:lpstr>Cambria Math</vt:lpstr>
      <vt:lpstr>Ebrima</vt:lpstr>
      <vt:lpstr>主题5</vt:lpstr>
      <vt:lpstr>目标检测的实现</vt:lpstr>
      <vt:lpstr>课程目标</vt:lpstr>
      <vt:lpstr>PowerPoint 演示文稿</vt:lpstr>
      <vt:lpstr>/01</vt:lpstr>
      <vt:lpstr>目标检测算法</vt:lpstr>
      <vt:lpstr>两阶段检测算法</vt:lpstr>
      <vt:lpstr>R-CNN</vt:lpstr>
      <vt:lpstr>R-CNN</vt:lpstr>
      <vt:lpstr>R-CNN</vt:lpstr>
      <vt:lpstr>R-CNN</vt:lpstr>
      <vt:lpstr>R-CNN</vt:lpstr>
      <vt:lpstr>R-CNN</vt:lpstr>
      <vt:lpstr>SPP-Net</vt:lpstr>
      <vt:lpstr>SPP-Net</vt:lpstr>
      <vt:lpstr>SPP-Net</vt:lpstr>
      <vt:lpstr>SPP-Net</vt:lpstr>
      <vt:lpstr>SPP-Net</vt:lpstr>
      <vt:lpstr>Fast R-CNN</vt:lpstr>
      <vt:lpstr>Fast R-CNN</vt:lpstr>
      <vt:lpstr>Fast R-CNN</vt:lpstr>
      <vt:lpstr>Fast R-CNN</vt:lpstr>
      <vt:lpstr>Fast R-CNN</vt:lpstr>
      <vt:lpstr>Fast R-CNN</vt:lpstr>
      <vt:lpstr>Fast R-CNN</vt:lpstr>
      <vt:lpstr>Fast R-CNN</vt:lpstr>
      <vt:lpstr>Fast R-CNN</vt:lpstr>
      <vt:lpstr>Faster R-CNN</vt:lpstr>
      <vt:lpstr>Faster R-CNN</vt:lpstr>
      <vt:lpstr>Faster R-CNN</vt:lpstr>
      <vt:lpstr>Faster R-CNN</vt:lpstr>
      <vt:lpstr>Faster R-CNN</vt:lpstr>
      <vt:lpstr>Faster R-CNN</vt:lpstr>
      <vt:lpstr>Faster R-CNN</vt:lpstr>
      <vt:lpstr>Faster R-CNN</vt:lpstr>
      <vt:lpstr>R-CNN总结</vt:lpstr>
      <vt:lpstr>R-CNN总结</vt:lpstr>
      <vt:lpstr>R-CNN总结</vt:lpstr>
      <vt:lpstr>R-CNN总结</vt:lpstr>
      <vt:lpstr>/02</vt:lpstr>
      <vt:lpstr>检测算法的进一步改进</vt:lpstr>
      <vt:lpstr>特征金字塔</vt:lpstr>
      <vt:lpstr>特征金字塔</vt:lpstr>
      <vt:lpstr>特征金字塔</vt:lpstr>
      <vt:lpstr>特征金字塔</vt:lpstr>
      <vt:lpstr>特征金字塔</vt:lpstr>
      <vt:lpstr>焦点损失函数</vt:lpstr>
      <vt:lpstr>焦点损失函数</vt:lpstr>
      <vt:lpstr>焦点损失函数</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13</cp:revision>
  <cp:lastPrinted>2018-09-20T16:00:00Z</cp:lastPrinted>
  <dcterms:created xsi:type="dcterms:W3CDTF">2022-06-27T01:42:48Z</dcterms:created>
  <dcterms:modified xsi:type="dcterms:W3CDTF">2022-12-27T09:24:20Z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