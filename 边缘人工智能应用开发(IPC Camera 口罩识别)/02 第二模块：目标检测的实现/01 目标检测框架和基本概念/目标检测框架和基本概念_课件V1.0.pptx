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258" r:id="rId2"/>
    <p:sldId id="265" r:id="rId3"/>
    <p:sldId id="262" r:id="rId4"/>
    <p:sldId id="299" r:id="rId5"/>
    <p:sldId id="300" r:id="rId6"/>
    <p:sldId id="301" r:id="rId7"/>
    <p:sldId id="302" r:id="rId8"/>
    <p:sldId id="303" r:id="rId9"/>
    <p:sldId id="304" r:id="rId10"/>
    <p:sldId id="305" r:id="rId11"/>
    <p:sldId id="306"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5" r:id="rId31"/>
    <p:sldId id="286" r:id="rId32"/>
    <p:sldId id="287" r:id="rId33"/>
    <p:sldId id="288" r:id="rId34"/>
    <p:sldId id="289" r:id="rId35"/>
    <p:sldId id="290" r:id="rId36"/>
    <p:sldId id="292" r:id="rId37"/>
    <p:sldId id="284" r:id="rId38"/>
    <p:sldId id="291" r:id="rId39"/>
    <p:sldId id="293" r:id="rId40"/>
    <p:sldId id="294" r:id="rId41"/>
    <p:sldId id="295" r:id="rId42"/>
    <p:sldId id="296" r:id="rId43"/>
    <p:sldId id="297" r:id="rId44"/>
    <p:sldId id="298" r:id="rId45"/>
    <p:sldId id="264" r:id="rId46"/>
    <p:sldId id="261" r:id="rId47"/>
  </p:sldIdLst>
  <p:sldSz cx="12192000" cy="6858000"/>
  <p:notesSz cx="6858000" cy="9144000"/>
  <p:custDataLst>
    <p:tags r:id="rId5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1857" autoAdjust="0"/>
  </p:normalViewPr>
  <p:slideViewPr>
    <p:cSldViewPr snapToGrid="0" showGuides="1">
      <p:cViewPr varScale="1">
        <p:scale>
          <a:sx n="83" d="100"/>
          <a:sy n="83" d="100"/>
        </p:scale>
        <p:origin x="1572" y="72"/>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近几年，随着深度学习的爆炸式发展，相关理论和基础架构得到很大突破，它们奠定了深度学习繁荣发展的基础。</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这其中涌现了几个著名的深度学习框架，下面将分别简单介绍这几个框架。</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74072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Theano</a:t>
            </a:r>
            <a:r>
              <a:rPr lang="zh-CN" altLang="en-US" dirty="0" smtClean="0"/>
              <a:t>由 </a:t>
            </a:r>
            <a:r>
              <a:rPr lang="en-US" altLang="zh-CN" dirty="0" smtClean="0"/>
              <a:t>LISA</a:t>
            </a:r>
            <a:r>
              <a:rPr lang="zh-CN" altLang="en-US" dirty="0" smtClean="0"/>
              <a:t>集团</a:t>
            </a:r>
            <a:r>
              <a:rPr lang="en-US" altLang="zh-CN" dirty="0" smtClean="0"/>
              <a:t>(</a:t>
            </a:r>
            <a:r>
              <a:rPr lang="zh-CN" altLang="en-US" dirty="0" smtClean="0"/>
              <a:t>现 </a:t>
            </a:r>
            <a:r>
              <a:rPr lang="en-US" altLang="zh-CN" dirty="0" smtClean="0"/>
              <a:t>MILA</a:t>
            </a:r>
            <a:r>
              <a:rPr lang="zh-CN" altLang="en-US" dirty="0" smtClean="0"/>
              <a:t>）在加拿大魁北克的蒙特利尔大学开发</a:t>
            </a:r>
            <a:r>
              <a:rPr lang="en-US" altLang="zh-CN" dirty="0" smtClean="0"/>
              <a:t>,</a:t>
            </a:r>
            <a:r>
              <a:rPr lang="zh-CN" altLang="en-US" dirty="0" smtClean="0"/>
              <a:t>是在</a:t>
            </a:r>
            <a:r>
              <a:rPr lang="en-US" altLang="zh-CN" dirty="0" smtClean="0"/>
              <a:t>BSD</a:t>
            </a:r>
            <a:r>
              <a:rPr lang="zh-CN" altLang="en-US" dirty="0" smtClean="0"/>
              <a:t>许可证下发布的开源项目</a:t>
            </a:r>
            <a:r>
              <a:rPr lang="en-US" altLang="zh-CN" dirty="0" smtClean="0"/>
              <a:t>,</a:t>
            </a:r>
            <a:r>
              <a:rPr lang="zh-CN" altLang="en-US" dirty="0" smtClean="0"/>
              <a:t>它是用一位希腊数学家的名字命名的。</a:t>
            </a:r>
          </a:p>
          <a:p>
            <a:r>
              <a:rPr lang="en-US" altLang="zh-CN" dirty="0" err="1" smtClean="0"/>
              <a:t>Theano</a:t>
            </a:r>
            <a:r>
              <a:rPr lang="zh-CN" altLang="en-US" dirty="0" smtClean="0"/>
              <a:t>是一个 </a:t>
            </a:r>
            <a:r>
              <a:rPr lang="en-US" altLang="zh-CN" dirty="0" smtClean="0"/>
              <a:t>Python</a:t>
            </a:r>
            <a:r>
              <a:rPr lang="zh-CN" altLang="en-US" dirty="0" smtClean="0"/>
              <a:t>库，可用于定义、优化和计算数学表达式，特别是多维数组</a:t>
            </a:r>
            <a:r>
              <a:rPr lang="en-US" altLang="zh-CN" dirty="0" smtClean="0"/>
              <a:t>(</a:t>
            </a:r>
            <a:r>
              <a:rPr lang="en-US" altLang="zh-CN" dirty="0" err="1" smtClean="0"/>
              <a:t>numpy.ndarray</a:t>
            </a:r>
            <a:r>
              <a:rPr lang="en-US" altLang="zh-CN" dirty="0" smtClean="0"/>
              <a:t>)</a:t>
            </a:r>
            <a:r>
              <a:rPr lang="zh-CN" altLang="en-US" dirty="0" smtClean="0"/>
              <a:t>。在解决包含大量数据问题的时候，使用</a:t>
            </a:r>
            <a:r>
              <a:rPr lang="en-US" altLang="zh-CN" dirty="0" err="1" smtClean="0"/>
              <a:t>Theano</a:t>
            </a:r>
            <a:r>
              <a:rPr lang="zh-CN" altLang="en-US" dirty="0" smtClean="0"/>
              <a:t>编程可实现比</a:t>
            </a:r>
            <a:r>
              <a:rPr lang="en-US" altLang="zh-CN" dirty="0" smtClean="0"/>
              <a:t>C</a:t>
            </a:r>
            <a:r>
              <a:rPr lang="zh-CN" altLang="en-US" dirty="0" smtClean="0"/>
              <a:t>语言编程更快的运行速度。通过</a:t>
            </a:r>
            <a:r>
              <a:rPr lang="en-US" altLang="zh-CN" dirty="0" smtClean="0"/>
              <a:t>GPU</a:t>
            </a:r>
            <a:r>
              <a:rPr lang="zh-CN" altLang="en-US" dirty="0" smtClean="0"/>
              <a:t>加速</a:t>
            </a:r>
            <a:r>
              <a:rPr lang="en-US" altLang="zh-CN" dirty="0" smtClean="0"/>
              <a:t>,</a:t>
            </a:r>
            <a:r>
              <a:rPr lang="en-US" altLang="zh-CN" dirty="0" err="1" smtClean="0"/>
              <a:t>Theano</a:t>
            </a:r>
            <a:r>
              <a:rPr lang="zh-CN" altLang="en-US" dirty="0" smtClean="0"/>
              <a:t>甚至可以比基于</a:t>
            </a:r>
            <a:r>
              <a:rPr lang="en-US" altLang="zh-CN" dirty="0" smtClean="0"/>
              <a:t>CPU</a:t>
            </a:r>
            <a:r>
              <a:rPr lang="zh-CN" altLang="en-US" dirty="0" smtClean="0"/>
              <a:t>计算的</a:t>
            </a:r>
            <a:r>
              <a:rPr lang="en-US" altLang="zh-CN" dirty="0" smtClean="0"/>
              <a:t>C</a:t>
            </a:r>
            <a:r>
              <a:rPr lang="zh-CN" altLang="en-US" dirty="0" smtClean="0"/>
              <a:t>语言快好几个数量级。</a:t>
            </a:r>
            <a:r>
              <a:rPr lang="en-US" altLang="zh-CN" dirty="0" err="1" smtClean="0"/>
              <a:t>Theano</a:t>
            </a:r>
            <a:r>
              <a:rPr lang="zh-CN" altLang="en-US" dirty="0" smtClean="0"/>
              <a:t>结合</a:t>
            </a:r>
            <a:r>
              <a:rPr lang="en-US" altLang="zh-CN" dirty="0" smtClean="0"/>
              <a:t>CAS (</a:t>
            </a:r>
            <a:r>
              <a:rPr lang="en-US" altLang="zh-CN" dirty="0" err="1" smtClean="0"/>
              <a:t>Compuer</a:t>
            </a:r>
            <a:r>
              <a:rPr lang="en-US" altLang="zh-CN" dirty="0" smtClean="0"/>
              <a:t> Algebra System</a:t>
            </a:r>
            <a:r>
              <a:rPr lang="zh-CN" altLang="en-US" dirty="0" smtClean="0"/>
              <a:t>，计算机代数系统）和优化编译器，还可以为多种数学运算生成定制的</a:t>
            </a:r>
            <a:r>
              <a:rPr lang="en-US" altLang="zh-CN" dirty="0" smtClean="0"/>
              <a:t>C</a:t>
            </a:r>
            <a:r>
              <a:rPr lang="zh-CN" altLang="en-US" dirty="0" smtClean="0"/>
              <a:t>语言代码。对于处理包含重复计算的复杂数学表达式任务</a:t>
            </a:r>
            <a:r>
              <a:rPr lang="en-US" altLang="zh-CN" dirty="0" smtClean="0"/>
              <a:t>,</a:t>
            </a:r>
            <a:r>
              <a:rPr lang="zh-CN" altLang="en-US" dirty="0" smtClean="0"/>
              <a:t>计算速度很重要，因此这种</a:t>
            </a:r>
            <a:r>
              <a:rPr lang="en-US" altLang="zh-CN" dirty="0" smtClean="0"/>
              <a:t>CAS</a:t>
            </a:r>
            <a:r>
              <a:rPr lang="zh-CN" altLang="en-US" dirty="0" smtClean="0"/>
              <a:t>和优化编译器的组合非常有用。对于需要将每种不同的数学表达式都计算一遍的情况，</a:t>
            </a:r>
            <a:r>
              <a:rPr lang="en-US" altLang="zh-CN" dirty="0" err="1" smtClean="0"/>
              <a:t>Theano</a:t>
            </a:r>
            <a:r>
              <a:rPr lang="zh-CN" altLang="en-US" dirty="0" smtClean="0"/>
              <a:t>可以最小化编译</a:t>
            </a:r>
            <a:r>
              <a:rPr lang="en-US" altLang="zh-CN" dirty="0" smtClean="0"/>
              <a:t>/</a:t>
            </a:r>
            <a:r>
              <a:rPr lang="zh-CN" altLang="en-US" dirty="0" smtClean="0"/>
              <a:t>解析计算量</a:t>
            </a:r>
            <a:r>
              <a:rPr lang="en-US" altLang="zh-CN" dirty="0" smtClean="0"/>
              <a:t>,</a:t>
            </a:r>
            <a:r>
              <a:rPr lang="zh-CN" altLang="en-US" dirty="0" smtClean="0"/>
              <a:t>但仍会给出如自动微分那样的符号特征。</a:t>
            </a:r>
          </a:p>
          <a:p>
            <a:r>
              <a:rPr lang="zh-CN" altLang="en-US" dirty="0" smtClean="0"/>
              <a:t>在过去很长一段时间里，</a:t>
            </a:r>
            <a:r>
              <a:rPr lang="en-US" altLang="zh-CN" dirty="0" err="1" smtClean="0"/>
              <a:t>Theano</a:t>
            </a:r>
            <a:r>
              <a:rPr lang="zh-CN" altLang="en-US" dirty="0" smtClean="0"/>
              <a:t>是深度学习开发与研究的行业标准。出身学界的</a:t>
            </a:r>
            <a:r>
              <a:rPr lang="en-US" altLang="zh-CN" dirty="0" err="1" smtClean="0"/>
              <a:t>Theano</a:t>
            </a:r>
            <a:r>
              <a:rPr lang="zh-CN" altLang="en-US" dirty="0" smtClean="0"/>
              <a:t>最初是为学术研究而设计的，这使得深度学习领域的许多学者至今仍在使用</a:t>
            </a:r>
            <a:r>
              <a:rPr lang="en-US" altLang="zh-CN" dirty="0" err="1" smtClean="0"/>
              <a:t>Theano</a:t>
            </a:r>
            <a:r>
              <a:rPr lang="zh-CN" altLang="en-US" dirty="0" smtClean="0"/>
              <a:t>。但随着</a:t>
            </a:r>
            <a:r>
              <a:rPr lang="en-US" altLang="zh-CN" dirty="0" err="1" smtClean="0"/>
              <a:t>TensorFlow</a:t>
            </a:r>
            <a:r>
              <a:rPr lang="zh-CN" altLang="en-US" dirty="0" smtClean="0"/>
              <a:t>在谷歌的支持下强势崛起</a:t>
            </a:r>
            <a:r>
              <a:rPr lang="en-US" altLang="zh-CN" dirty="0" smtClean="0"/>
              <a:t>,</a:t>
            </a:r>
            <a:r>
              <a:rPr lang="en-US" altLang="zh-CN" dirty="0" err="1" smtClean="0"/>
              <a:t>Theano</a:t>
            </a:r>
            <a:r>
              <a:rPr lang="zh-CN" altLang="en-US" dirty="0" smtClean="0"/>
              <a:t>日渐式微，使用的人越来越少。其中标志性事件是</a:t>
            </a:r>
            <a:r>
              <a:rPr lang="en-US" altLang="zh-CN" dirty="0" err="1" smtClean="0"/>
              <a:t>Theano</a:t>
            </a:r>
            <a:r>
              <a:rPr lang="zh-CN" altLang="en-US" dirty="0" smtClean="0"/>
              <a:t>的创始者之一</a:t>
            </a:r>
            <a:r>
              <a:rPr lang="en-US" altLang="zh-CN" dirty="0" smtClean="0"/>
              <a:t>Ian </a:t>
            </a:r>
            <a:r>
              <a:rPr lang="en-US" altLang="zh-CN" dirty="0" err="1" smtClean="0"/>
              <a:t>GoodFellow</a:t>
            </a:r>
            <a:r>
              <a:rPr lang="zh-CN" altLang="en-US" dirty="0" smtClean="0"/>
              <a:t>放弃</a:t>
            </a:r>
            <a:r>
              <a:rPr lang="en-US" altLang="zh-CN" dirty="0" err="1" smtClean="0"/>
              <a:t>Theano</a:t>
            </a:r>
            <a:r>
              <a:rPr lang="zh-CN" altLang="en-US" dirty="0" smtClean="0"/>
              <a:t>转去谷歌开发</a:t>
            </a:r>
            <a:r>
              <a:rPr lang="en-US" altLang="zh-CN" dirty="0" err="1" smtClean="0"/>
              <a:t>TensorFlow</a:t>
            </a:r>
            <a:r>
              <a:rPr lang="en-US" altLang="zh-CN" dirty="0" smtClean="0"/>
              <a:t> </a:t>
            </a:r>
            <a:r>
              <a:rPr lang="zh-CN" altLang="en-US" dirty="0" smtClean="0"/>
              <a:t>了。</a:t>
            </a:r>
          </a:p>
          <a:p>
            <a:r>
              <a:rPr lang="en-US" altLang="zh-CN" dirty="0" smtClean="0"/>
              <a:t>2017</a:t>
            </a:r>
            <a:r>
              <a:rPr lang="zh-CN" altLang="en-US" dirty="0" smtClean="0"/>
              <a:t>年</a:t>
            </a:r>
            <a:r>
              <a:rPr lang="en-US" altLang="zh-CN" dirty="0" smtClean="0"/>
              <a:t>9</a:t>
            </a:r>
            <a:r>
              <a:rPr lang="zh-CN" altLang="en-US" dirty="0" smtClean="0"/>
              <a:t>月</a:t>
            </a:r>
            <a:r>
              <a:rPr lang="en-US" altLang="zh-CN" dirty="0" smtClean="0"/>
              <a:t>28</a:t>
            </a:r>
            <a:r>
              <a:rPr lang="zh-CN" altLang="en-US" dirty="0" smtClean="0"/>
              <a:t>日</a:t>
            </a:r>
            <a:r>
              <a:rPr lang="en-US" altLang="zh-CN" dirty="0" smtClean="0"/>
              <a:t>,</a:t>
            </a:r>
            <a:r>
              <a:rPr lang="zh-CN" altLang="en-US" dirty="0" smtClean="0"/>
              <a:t>在 </a:t>
            </a:r>
            <a:r>
              <a:rPr lang="en-US" altLang="zh-CN" dirty="0" err="1" smtClean="0"/>
              <a:t>Theano</a:t>
            </a:r>
            <a:r>
              <a:rPr lang="en-US" altLang="zh-CN" dirty="0" smtClean="0"/>
              <a:t> 1.0</a:t>
            </a:r>
            <a:r>
              <a:rPr lang="zh-CN" altLang="en-US" dirty="0" smtClean="0"/>
              <a:t>正式版发布前夕，</a:t>
            </a:r>
            <a:r>
              <a:rPr lang="en-US" altLang="zh-CN" dirty="0" smtClean="0"/>
              <a:t>LISA </a:t>
            </a:r>
            <a:r>
              <a:rPr lang="zh-CN" altLang="en-US" dirty="0" smtClean="0"/>
              <a:t>实验室负责人、深度学习三巨头之一的</a:t>
            </a:r>
            <a:r>
              <a:rPr lang="en-US" altLang="zh-CN" dirty="0" err="1" smtClean="0"/>
              <a:t>Yoshua</a:t>
            </a:r>
            <a:r>
              <a:rPr lang="en-US" altLang="zh-CN" dirty="0" smtClean="0"/>
              <a:t> </a:t>
            </a:r>
            <a:r>
              <a:rPr lang="en-US" altLang="zh-CN" dirty="0" err="1" smtClean="0"/>
              <a:t>Bengio</a:t>
            </a:r>
            <a:r>
              <a:rPr lang="zh-CN" altLang="en-US" dirty="0" smtClean="0"/>
              <a:t>宣布 </a:t>
            </a:r>
            <a:r>
              <a:rPr lang="en-US" altLang="zh-CN" dirty="0" err="1" smtClean="0"/>
              <a:t>Theano</a:t>
            </a:r>
            <a:r>
              <a:rPr lang="zh-CN" altLang="en-US" dirty="0" smtClean="0"/>
              <a:t>将停止开发</a:t>
            </a:r>
            <a:r>
              <a:rPr lang="en-US" altLang="zh-CN" dirty="0" smtClean="0"/>
              <a:t>:“</a:t>
            </a:r>
            <a:r>
              <a:rPr lang="en-US" altLang="zh-CN" dirty="0" err="1" smtClean="0"/>
              <a:t>Theano</a:t>
            </a:r>
            <a:r>
              <a:rPr lang="en-US" altLang="zh-CN" dirty="0" smtClean="0"/>
              <a:t> is Dead.”</a:t>
            </a:r>
            <a:r>
              <a:rPr lang="zh-CN" altLang="en-US" dirty="0" smtClean="0"/>
              <a:t>尽管</a:t>
            </a:r>
          </a:p>
          <a:p>
            <a:r>
              <a:rPr lang="en-US" altLang="zh-CN" dirty="0" err="1" smtClean="0"/>
              <a:t>Theano</a:t>
            </a:r>
            <a:r>
              <a:rPr lang="zh-CN" altLang="en-US" dirty="0" smtClean="0"/>
              <a:t>将退出历史舞台</a:t>
            </a:r>
            <a:r>
              <a:rPr lang="en-US" altLang="zh-CN" dirty="0" smtClean="0"/>
              <a:t>,</a:t>
            </a:r>
            <a:r>
              <a:rPr lang="zh-CN" altLang="en-US" dirty="0" smtClean="0"/>
              <a:t>但作为第一个</a:t>
            </a:r>
            <a:r>
              <a:rPr lang="en-US" altLang="zh-CN" dirty="0" smtClean="0"/>
              <a:t>Python</a:t>
            </a:r>
            <a:r>
              <a:rPr lang="zh-CN" altLang="en-US" dirty="0" smtClean="0"/>
              <a:t>深度学习框架，它很好地完成了自己的使命</a:t>
            </a:r>
            <a:r>
              <a:rPr lang="en-US" altLang="zh-CN" dirty="0" smtClean="0"/>
              <a:t>——</a:t>
            </a:r>
            <a:r>
              <a:rPr lang="zh-CN" altLang="en-US" dirty="0" smtClean="0"/>
              <a:t>为深度学习研究人员早期拓荒提供了极大的帮助</a:t>
            </a:r>
            <a:r>
              <a:rPr lang="en-US" altLang="zh-CN" dirty="0" smtClean="0"/>
              <a:t>,</a:t>
            </a:r>
            <a:r>
              <a:rPr lang="zh-CN" altLang="en-US" dirty="0" smtClean="0"/>
              <a:t>同时也为之后深度学习框架的开发奠定了基本设计方向</a:t>
            </a:r>
            <a:r>
              <a:rPr lang="en-US" altLang="zh-CN" dirty="0" smtClean="0"/>
              <a:t>:</a:t>
            </a:r>
            <a:r>
              <a:rPr lang="zh-CN" altLang="en-US" dirty="0" smtClean="0"/>
              <a:t>以计算图为框架的核心，采用</a:t>
            </a:r>
            <a:r>
              <a:rPr lang="en-US" altLang="zh-CN" dirty="0" smtClean="0"/>
              <a:t>GPU</a:t>
            </a:r>
            <a:r>
              <a:rPr lang="zh-CN" altLang="en-US" dirty="0" smtClean="0"/>
              <a:t>加速计算。</a:t>
            </a:r>
          </a:p>
          <a:p>
            <a:r>
              <a:rPr lang="zh-CN" altLang="en-US" dirty="0" smtClean="0"/>
              <a:t>对于深度学习新手可以使用</a:t>
            </a:r>
            <a:r>
              <a:rPr lang="en-US" altLang="zh-CN" dirty="0" err="1" smtClean="0"/>
              <a:t>Theano</a:t>
            </a:r>
            <a:r>
              <a:rPr lang="zh-CN" altLang="en-US" dirty="0" smtClean="0"/>
              <a:t>做入门练习，但对于职业开发者，建议使用</a:t>
            </a:r>
            <a:r>
              <a:rPr lang="en-US" altLang="zh-CN" dirty="0" err="1" smtClean="0"/>
              <a:t>TensorFlow</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9074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TensorFlow</a:t>
            </a:r>
            <a:r>
              <a:rPr lang="zh-CN" altLang="en-US" dirty="0" smtClean="0"/>
              <a:t>是</a:t>
            </a:r>
            <a:r>
              <a:rPr lang="en-US" altLang="zh-CN" dirty="0" smtClean="0"/>
              <a:t>Google Brain</a:t>
            </a:r>
            <a:r>
              <a:rPr lang="zh-CN" altLang="en-US" dirty="0" smtClean="0"/>
              <a:t>团队基于</a:t>
            </a:r>
            <a:r>
              <a:rPr lang="en-US" altLang="zh-CN" dirty="0" smtClean="0"/>
              <a:t>Google</a:t>
            </a:r>
            <a:r>
              <a:rPr lang="zh-CN" altLang="en-US" dirty="0" smtClean="0"/>
              <a:t>在</a:t>
            </a:r>
            <a:r>
              <a:rPr lang="en-US" altLang="zh-CN" dirty="0" smtClean="0"/>
              <a:t>2011</a:t>
            </a:r>
            <a:r>
              <a:rPr lang="zh-CN" altLang="en-US" dirty="0" smtClean="0"/>
              <a:t>年开发的深度学习基础架构</a:t>
            </a:r>
            <a:r>
              <a:rPr lang="en-US" altLang="zh-CN" dirty="0" err="1" smtClean="0"/>
              <a:t>DistBelief</a:t>
            </a:r>
            <a:r>
              <a:rPr lang="zh-CN" altLang="en-US" dirty="0" smtClean="0"/>
              <a:t>构建的。</a:t>
            </a:r>
            <a:r>
              <a:rPr lang="en-US" altLang="zh-CN" dirty="0" smtClean="0"/>
              <a:t>Google</a:t>
            </a:r>
            <a:r>
              <a:rPr lang="zh-CN" altLang="en-US" dirty="0" smtClean="0"/>
              <a:t>在其所有的应用程序中都使用</a:t>
            </a:r>
            <a:r>
              <a:rPr lang="en-US" altLang="zh-CN" dirty="0" err="1" smtClean="0"/>
              <a:t>TensorFlow</a:t>
            </a:r>
            <a:r>
              <a:rPr lang="zh-CN" altLang="en-US" dirty="0" smtClean="0"/>
              <a:t>实现机器学习，例如使用</a:t>
            </a:r>
            <a:r>
              <a:rPr lang="en-US" altLang="zh-CN" dirty="0" smtClean="0"/>
              <a:t>Google</a:t>
            </a:r>
            <a:r>
              <a:rPr lang="zh-CN" altLang="en-US" dirty="0" smtClean="0"/>
              <a:t>照相机和</a:t>
            </a:r>
            <a:r>
              <a:rPr lang="en-US" altLang="zh-CN" dirty="0" smtClean="0"/>
              <a:t>Google</a:t>
            </a:r>
            <a:r>
              <a:rPr lang="zh-CN" altLang="en-US" dirty="0" smtClean="0"/>
              <a:t>语音搜索功能，就间接使用了 </a:t>
            </a:r>
            <a:r>
              <a:rPr lang="en-US" altLang="zh-CN" dirty="0" err="1" smtClean="0"/>
              <a:t>TensorFlow</a:t>
            </a:r>
            <a:r>
              <a:rPr lang="zh-CN" altLang="en-US" dirty="0" smtClean="0"/>
              <a:t>模型。</a:t>
            </a:r>
          </a:p>
          <a:p>
            <a:r>
              <a:rPr lang="en-US" altLang="zh-CN" dirty="0" err="1" smtClean="0"/>
              <a:t>TensorFlow</a:t>
            </a:r>
            <a:r>
              <a:rPr lang="zh-CN" altLang="en-US" dirty="0" smtClean="0"/>
              <a:t>在很大程度上可以看作 </a:t>
            </a:r>
            <a:r>
              <a:rPr lang="en-US" altLang="zh-CN" dirty="0" err="1" smtClean="0"/>
              <a:t>Theano</a:t>
            </a:r>
            <a:r>
              <a:rPr lang="zh-CN" altLang="en-US" dirty="0" smtClean="0"/>
              <a:t>的后继者，这不仅因为它们有很大一批共同的开发者，还因为它们拥有相近的设计理念，都基于计算图实现自动微分系统。</a:t>
            </a:r>
            <a:r>
              <a:rPr lang="en-US" altLang="zh-CN" dirty="0" err="1" smtClean="0"/>
              <a:t>TensorFlow</a:t>
            </a:r>
            <a:r>
              <a:rPr lang="zh-CN" altLang="en-US" dirty="0" smtClean="0"/>
              <a:t>使用数据流图进行数值计算，图中的节点代表数学运算，图中的边代表在这些节点之间传递的多维数组。</a:t>
            </a:r>
          </a:p>
          <a:p>
            <a:r>
              <a:rPr lang="en-US" altLang="zh-CN" dirty="0" err="1" smtClean="0"/>
              <a:t>TensorFlow</a:t>
            </a:r>
            <a:r>
              <a:rPr lang="zh-CN" altLang="en-US" dirty="0" smtClean="0"/>
              <a:t>编程接口支持</a:t>
            </a:r>
            <a:r>
              <a:rPr lang="en-US" altLang="zh-CN" dirty="0" smtClean="0"/>
              <a:t>Python</a:t>
            </a:r>
            <a:r>
              <a:rPr lang="zh-CN" altLang="en-US" dirty="0" smtClean="0"/>
              <a:t>和 </a:t>
            </a:r>
            <a:r>
              <a:rPr lang="en-US" altLang="zh-CN" dirty="0" smtClean="0"/>
              <a:t>C++</a:t>
            </a:r>
            <a:r>
              <a:rPr lang="zh-CN" altLang="en-US" dirty="0" smtClean="0"/>
              <a:t>，</a:t>
            </a:r>
            <a:r>
              <a:rPr lang="en-US" altLang="zh-CN" dirty="0" err="1" smtClean="0"/>
              <a:t>TensorFlow</a:t>
            </a:r>
            <a:r>
              <a:rPr lang="en-US" altLang="zh-CN" dirty="0" smtClean="0"/>
              <a:t> 1.0</a:t>
            </a:r>
            <a:r>
              <a:rPr lang="zh-CN" altLang="en-US" dirty="0" smtClean="0"/>
              <a:t>版本开始支持</a:t>
            </a:r>
            <a:r>
              <a:rPr lang="en-US" altLang="zh-CN" dirty="0" smtClean="0"/>
              <a:t>Java</a:t>
            </a:r>
            <a:r>
              <a:rPr lang="zh-CN" altLang="en-US" dirty="0" smtClean="0"/>
              <a:t>、</a:t>
            </a:r>
            <a:r>
              <a:rPr lang="en-US" altLang="zh-CN" dirty="0" smtClean="0"/>
              <a:t>Go</a:t>
            </a:r>
            <a:r>
              <a:rPr lang="zh-CN" altLang="en-US" dirty="0" smtClean="0"/>
              <a:t>、</a:t>
            </a:r>
            <a:r>
              <a:rPr lang="en-US" altLang="zh-CN" dirty="0" smtClean="0"/>
              <a:t>R</a:t>
            </a:r>
            <a:r>
              <a:rPr lang="zh-CN" altLang="en-US" dirty="0" smtClean="0"/>
              <a:t>和 </a:t>
            </a:r>
            <a:r>
              <a:rPr lang="en-US" altLang="zh-CN" dirty="0" smtClean="0"/>
              <a:t>Haskell API</a:t>
            </a:r>
            <a:r>
              <a:rPr lang="zh-CN" altLang="en-US" dirty="0" smtClean="0"/>
              <a:t>的 </a:t>
            </a:r>
            <a:r>
              <a:rPr lang="en-US" altLang="zh-CN" dirty="0" smtClean="0"/>
              <a:t>Alpha</a:t>
            </a:r>
            <a:r>
              <a:rPr lang="zh-CN" altLang="en-US" dirty="0" smtClean="0"/>
              <a:t>版本。此外</a:t>
            </a:r>
            <a:r>
              <a:rPr lang="en-US" altLang="zh-CN" dirty="0" smtClean="0"/>
              <a:t>,</a:t>
            </a:r>
            <a:r>
              <a:rPr lang="en-US" altLang="zh-CN" dirty="0" err="1" smtClean="0"/>
              <a:t>TensorFlow</a:t>
            </a:r>
            <a:r>
              <a:rPr lang="zh-CN" altLang="en-US" dirty="0" smtClean="0"/>
              <a:t>还可以在</a:t>
            </a:r>
            <a:r>
              <a:rPr lang="en-US" altLang="zh-CN" dirty="0" smtClean="0"/>
              <a:t>Google Cloud</a:t>
            </a:r>
            <a:r>
              <a:rPr lang="zh-CN" altLang="en-US" dirty="0" smtClean="0"/>
              <a:t>和</a:t>
            </a:r>
            <a:r>
              <a:rPr lang="en-US" altLang="zh-CN" dirty="0" smtClean="0"/>
              <a:t>AWS</a:t>
            </a:r>
            <a:r>
              <a:rPr lang="zh-CN" altLang="en-US" dirty="0" smtClean="0"/>
              <a:t>中运行。</a:t>
            </a:r>
            <a:r>
              <a:rPr lang="en-US" altLang="zh-CN" dirty="0" err="1" smtClean="0"/>
              <a:t>TensorFlow</a:t>
            </a:r>
            <a:r>
              <a:rPr lang="zh-CN" altLang="en-US" dirty="0" smtClean="0"/>
              <a:t>支持 </a:t>
            </a:r>
            <a:r>
              <a:rPr lang="en-US" altLang="zh-CN" dirty="0" smtClean="0"/>
              <a:t>Windows 7</a:t>
            </a:r>
            <a:r>
              <a:rPr lang="zh-CN" altLang="en-US" dirty="0" smtClean="0"/>
              <a:t>、 </a:t>
            </a:r>
            <a:r>
              <a:rPr lang="en-US" altLang="zh-CN" dirty="0" smtClean="0"/>
              <a:t>Windows 10</a:t>
            </a:r>
            <a:r>
              <a:rPr lang="zh-CN" altLang="en-US" dirty="0" smtClean="0"/>
              <a:t>和 </a:t>
            </a:r>
            <a:r>
              <a:rPr lang="en-US" altLang="zh-CN" dirty="0" smtClean="0"/>
              <a:t>Windows Server 2016</a:t>
            </a:r>
            <a:r>
              <a:rPr lang="zh-CN" altLang="en-US" dirty="0" smtClean="0"/>
              <a:t>系统。因为</a:t>
            </a:r>
            <a:r>
              <a:rPr lang="en-US" altLang="zh-CN" dirty="0" err="1" smtClean="0"/>
              <a:t>TensorFlow</a:t>
            </a:r>
            <a:r>
              <a:rPr lang="zh-CN" altLang="en-US" dirty="0" smtClean="0"/>
              <a:t>使用</a:t>
            </a:r>
            <a:r>
              <a:rPr lang="en-US" altLang="zh-CN" dirty="0" smtClean="0"/>
              <a:t>C++ Eigen</a:t>
            </a:r>
            <a:r>
              <a:rPr lang="zh-CN" altLang="en-US" dirty="0" smtClean="0"/>
              <a:t>库，所以可以在</a:t>
            </a:r>
            <a:r>
              <a:rPr lang="en-US" altLang="zh-CN" dirty="0" smtClean="0"/>
              <a:t>ARM</a:t>
            </a:r>
            <a:r>
              <a:rPr lang="zh-CN" altLang="en-US" dirty="0" smtClean="0"/>
              <a:t>架构上编译和优化。这也就意味着用户可以在各种服务器和移动设备上部署自己的训练模型，无须执行单独的模型解码器或者加载</a:t>
            </a:r>
            <a:r>
              <a:rPr lang="en-US" altLang="zh-CN" dirty="0" smtClean="0"/>
              <a:t>Python</a:t>
            </a:r>
            <a:r>
              <a:rPr lang="zh-CN" altLang="en-US" dirty="0" smtClean="0"/>
              <a:t>解释器。</a:t>
            </a:r>
            <a:endParaRPr lang="en-US" altLang="zh-CN" dirty="0" smtClean="0"/>
          </a:p>
          <a:p>
            <a:r>
              <a:rPr lang="zh-CN" altLang="en-US" dirty="0" smtClean="0"/>
              <a:t>作为当前最流行的深度学习框架，</a:t>
            </a:r>
            <a:r>
              <a:rPr lang="en-US" altLang="zh-CN" dirty="0" err="1" smtClean="0"/>
              <a:t>TensorFlow</a:t>
            </a:r>
            <a:r>
              <a:rPr lang="zh-CN" altLang="en-US" dirty="0" smtClean="0"/>
              <a:t>获得了极大的成功，但在学习过程中读者也需要注意下面一些问题。</a:t>
            </a:r>
          </a:p>
          <a:p>
            <a:r>
              <a:rPr lang="en-US" altLang="zh-CN" dirty="0" smtClean="0"/>
              <a:t>1</a:t>
            </a:r>
            <a:r>
              <a:rPr lang="zh-CN" altLang="en-US" dirty="0" smtClean="0"/>
              <a:t>）因为</a:t>
            </a:r>
            <a:r>
              <a:rPr lang="en-US" altLang="zh-CN" dirty="0" err="1" smtClean="0"/>
              <a:t>TensorFlow</a:t>
            </a:r>
            <a:r>
              <a:rPr lang="zh-CN" altLang="en-US" dirty="0" smtClean="0"/>
              <a:t>的接口在不断地快速迭代，并且版本之间不兼容，所以在开发和调试过程中可能会出现问题，例如开源代码无法在新版的</a:t>
            </a:r>
            <a:r>
              <a:rPr lang="en-US" altLang="zh-CN" dirty="0" err="1" smtClean="0"/>
              <a:t>TensorFlow</a:t>
            </a:r>
            <a:r>
              <a:rPr lang="zh-CN" altLang="en-US" dirty="0" smtClean="0"/>
              <a:t>上运行。</a:t>
            </a:r>
          </a:p>
          <a:p>
            <a:r>
              <a:rPr lang="en-US" altLang="zh-CN" dirty="0" smtClean="0"/>
              <a:t>2</a:t>
            </a:r>
            <a:r>
              <a:rPr lang="zh-CN" altLang="en-US" dirty="0" smtClean="0"/>
              <a:t>）想学习 </a:t>
            </a:r>
            <a:r>
              <a:rPr lang="en-US" altLang="zh-CN" dirty="0" err="1" smtClean="0"/>
              <a:t>TensorFlow</a:t>
            </a:r>
            <a:r>
              <a:rPr lang="zh-CN" altLang="en-US" dirty="0" smtClean="0"/>
              <a:t>底层运行机制的读者需要做好心理准备，</a:t>
            </a:r>
            <a:r>
              <a:rPr lang="en-US" altLang="zh-CN" dirty="0" err="1" smtClean="0"/>
              <a:t>TensorFlow</a:t>
            </a:r>
            <a:r>
              <a:rPr lang="zh-CN" altLang="en-US" dirty="0" smtClean="0"/>
              <a:t>在</a:t>
            </a:r>
            <a:r>
              <a:rPr lang="en-US" altLang="zh-CN" dirty="0" err="1" smtClean="0"/>
              <a:t>GitHub</a:t>
            </a:r>
            <a:r>
              <a:rPr lang="zh-CN" altLang="en-US" dirty="0" smtClean="0"/>
              <a:t>代码仓库的总代码量超过</a:t>
            </a:r>
            <a:r>
              <a:rPr lang="en-US" altLang="zh-CN" dirty="0" smtClean="0"/>
              <a:t>100</a:t>
            </a:r>
            <a:r>
              <a:rPr lang="zh-CN" altLang="en-US" dirty="0" smtClean="0"/>
              <a:t>万行，系统设计比较复杂，这将是一个漫长的学习过程。</a:t>
            </a:r>
          </a:p>
          <a:p>
            <a:r>
              <a:rPr lang="en-US" altLang="zh-CN" dirty="0" smtClean="0"/>
              <a:t>3</a:t>
            </a:r>
            <a:r>
              <a:rPr lang="zh-CN" altLang="en-US" dirty="0" smtClean="0"/>
              <a:t>）在代码层面，对于同一个功能，</a:t>
            </a:r>
            <a:r>
              <a:rPr lang="en-US" altLang="zh-CN" dirty="0" err="1" smtClean="0"/>
              <a:t>TensorFlow</a:t>
            </a:r>
            <a:r>
              <a:rPr lang="zh-CN" altLang="en-US" dirty="0" smtClean="0"/>
              <a:t>提供了多种实现</a:t>
            </a:r>
            <a:r>
              <a:rPr lang="en-US" altLang="zh-CN" dirty="0" smtClean="0"/>
              <a:t>,</a:t>
            </a:r>
            <a:r>
              <a:rPr lang="zh-CN" altLang="en-US" dirty="0" smtClean="0"/>
              <a:t>这些实现良莠不齐</a:t>
            </a:r>
            <a:r>
              <a:rPr lang="en-US" altLang="zh-CN" dirty="0" smtClean="0"/>
              <a:t>,</a:t>
            </a:r>
            <a:r>
              <a:rPr lang="zh-CN" altLang="en-US" dirty="0" smtClean="0"/>
              <a:t>使用中还有细微的区别</a:t>
            </a:r>
            <a:r>
              <a:rPr lang="en-US" altLang="zh-CN" dirty="0" smtClean="0"/>
              <a:t>,</a:t>
            </a:r>
            <a:r>
              <a:rPr lang="zh-CN" altLang="en-US" dirty="0" smtClean="0"/>
              <a:t>请读者注意选择。另外，</a:t>
            </a:r>
            <a:r>
              <a:rPr lang="en-US" altLang="zh-CN" dirty="0" err="1" smtClean="0"/>
              <a:t>TensorFlow</a:t>
            </a:r>
            <a:r>
              <a:rPr lang="zh-CN" altLang="en-US" dirty="0" smtClean="0"/>
              <a:t>创造了图、会话、命名空间、</a:t>
            </a:r>
            <a:r>
              <a:rPr lang="en-US" altLang="zh-CN" dirty="0" err="1" smtClean="0"/>
              <a:t>PlaceHolder</a:t>
            </a:r>
            <a:r>
              <a:rPr lang="zh-CN" altLang="en-US" dirty="0" smtClean="0"/>
              <a:t>等诸多抽象概念</a:t>
            </a:r>
            <a:r>
              <a:rPr lang="en-US" altLang="zh-CN" dirty="0" smtClean="0"/>
              <a:t>,</a:t>
            </a:r>
            <a:r>
              <a:rPr lang="zh-CN" altLang="en-US" dirty="0" smtClean="0"/>
              <a:t>对普通用户来说较难理解。凭借 </a:t>
            </a:r>
            <a:r>
              <a:rPr lang="en-US" altLang="zh-CN" dirty="0" smtClean="0"/>
              <a:t>Google</a:t>
            </a:r>
            <a:r>
              <a:rPr lang="zh-CN" altLang="en-US" dirty="0" smtClean="0"/>
              <a:t>强大的推广能力，</a:t>
            </a:r>
            <a:r>
              <a:rPr lang="en-US" altLang="zh-CN" dirty="0" err="1" smtClean="0"/>
              <a:t>TensorFlow</a:t>
            </a:r>
            <a:r>
              <a:rPr lang="zh-CN" altLang="en-US" dirty="0" smtClean="0"/>
              <a:t>已经成为当今最火的深度学习框架</a:t>
            </a:r>
            <a:r>
              <a:rPr lang="en-US" altLang="zh-CN" dirty="0" smtClean="0"/>
              <a:t>,</a:t>
            </a:r>
            <a:r>
              <a:rPr lang="zh-CN" altLang="en-US" dirty="0" smtClean="0"/>
              <a:t>不完美但是最流行。因为各公司使用的框架不统一，所以我们有必要多学习几个流行框架作为知识储备，</a:t>
            </a:r>
            <a:r>
              <a:rPr lang="en-US" altLang="zh-CN" dirty="0" err="1" smtClean="0"/>
              <a:t>TensorFlow</a:t>
            </a:r>
            <a:r>
              <a:rPr lang="zh-CN" altLang="en-US" dirty="0" smtClean="0"/>
              <a:t>无疑是一个不错的选择。</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58014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MXNet</a:t>
            </a:r>
            <a:r>
              <a:rPr lang="zh-CN" altLang="en-US" dirty="0" smtClean="0"/>
              <a:t>是亚马逊首席科学家李沐带领团队开发的深度学习框架，拥有类似</a:t>
            </a:r>
            <a:r>
              <a:rPr lang="en-US" altLang="zh-CN" dirty="0" err="1" smtClean="0"/>
              <a:t>Theano</a:t>
            </a:r>
            <a:r>
              <a:rPr lang="zh-CN" altLang="en-US" dirty="0" smtClean="0"/>
              <a:t>和 </a:t>
            </a:r>
            <a:r>
              <a:rPr lang="en-US" altLang="zh-CN" dirty="0" err="1" smtClean="0"/>
              <a:t>TensorFlow</a:t>
            </a:r>
            <a:r>
              <a:rPr lang="zh-CN" altLang="en-US" dirty="0" smtClean="0"/>
              <a:t>的数据流图</a:t>
            </a:r>
            <a:r>
              <a:rPr lang="en-US" altLang="zh-CN" dirty="0" smtClean="0"/>
              <a:t>,</a:t>
            </a:r>
            <a:r>
              <a:rPr lang="zh-CN" altLang="en-US" dirty="0" smtClean="0"/>
              <a:t>为多</a:t>
            </a:r>
            <a:r>
              <a:rPr lang="en-US" altLang="zh-CN" dirty="0" smtClean="0"/>
              <a:t>GPU</a:t>
            </a:r>
            <a:r>
              <a:rPr lang="zh-CN" altLang="en-US" dirty="0" smtClean="0"/>
              <a:t>架构提供了良好的配置，拥有类似</a:t>
            </a:r>
            <a:r>
              <a:rPr lang="en-US" altLang="zh-CN" dirty="0" err="1" smtClean="0"/>
              <a:t>Lasagne</a:t>
            </a:r>
            <a:r>
              <a:rPr lang="zh-CN" altLang="en-US" dirty="0" smtClean="0"/>
              <a:t>和</a:t>
            </a:r>
            <a:r>
              <a:rPr lang="en-US" altLang="zh-CN" dirty="0" smtClean="0"/>
              <a:t>Blocks</a:t>
            </a:r>
            <a:r>
              <a:rPr lang="zh-CN" altLang="en-US" dirty="0" smtClean="0"/>
              <a:t>的高级别模型构建块</a:t>
            </a:r>
            <a:r>
              <a:rPr lang="en-US" altLang="zh-CN" dirty="0" smtClean="0"/>
              <a:t>,</a:t>
            </a:r>
            <a:r>
              <a:rPr lang="zh-CN" altLang="en-US" dirty="0" smtClean="0"/>
              <a:t>可以在我们需要的任何硬件上运行</a:t>
            </a:r>
            <a:r>
              <a:rPr lang="en-US" altLang="zh-CN" dirty="0" smtClean="0"/>
              <a:t>(</a:t>
            </a:r>
            <a:r>
              <a:rPr lang="zh-CN" altLang="en-US" dirty="0" smtClean="0"/>
              <a:t>包括手机</a:t>
            </a:r>
            <a:r>
              <a:rPr lang="en-US" altLang="zh-CN" dirty="0" smtClean="0"/>
              <a:t>)</a:t>
            </a:r>
            <a:r>
              <a:rPr lang="zh-CN" altLang="en-US" dirty="0" smtClean="0"/>
              <a:t>。除了支持</a:t>
            </a:r>
            <a:r>
              <a:rPr lang="en-US" altLang="zh-CN" dirty="0" smtClean="0"/>
              <a:t>Python, </a:t>
            </a:r>
            <a:r>
              <a:rPr lang="en-US" altLang="zh-CN" dirty="0" err="1" smtClean="0"/>
              <a:t>MXNet</a:t>
            </a:r>
            <a:r>
              <a:rPr lang="zh-CN" altLang="en-US" dirty="0" smtClean="0"/>
              <a:t>同样提供了对</a:t>
            </a:r>
            <a:r>
              <a:rPr lang="en-US" altLang="zh-CN" dirty="0" smtClean="0"/>
              <a:t>R</a:t>
            </a:r>
            <a:r>
              <a:rPr lang="zh-CN" altLang="en-US" dirty="0" smtClean="0"/>
              <a:t>、</a:t>
            </a:r>
            <a:r>
              <a:rPr lang="en-US" altLang="zh-CN" dirty="0" smtClean="0"/>
              <a:t>Julia</a:t>
            </a:r>
            <a:r>
              <a:rPr lang="zh-CN" altLang="en-US" dirty="0" smtClean="0"/>
              <a:t>、</a:t>
            </a:r>
            <a:r>
              <a:rPr lang="en-US" altLang="zh-CN" dirty="0" smtClean="0"/>
              <a:t>C++</a:t>
            </a:r>
            <a:r>
              <a:rPr lang="zh-CN" altLang="en-US" dirty="0" smtClean="0"/>
              <a:t>、</a:t>
            </a:r>
            <a:r>
              <a:rPr lang="en-US" altLang="zh-CN" dirty="0" err="1" smtClean="0"/>
              <a:t>Scala</a:t>
            </a:r>
            <a:r>
              <a:rPr lang="zh-CN" altLang="en-US" dirty="0" smtClean="0"/>
              <a:t>、</a:t>
            </a:r>
            <a:r>
              <a:rPr lang="en-US" altLang="zh-CN" dirty="0" err="1" smtClean="0"/>
              <a:t>Matlab</a:t>
            </a:r>
            <a:r>
              <a:rPr lang="zh-CN" altLang="en-US" dirty="0" smtClean="0"/>
              <a:t>、</a:t>
            </a:r>
            <a:r>
              <a:rPr lang="en-US" altLang="zh-CN" dirty="0" smtClean="0"/>
              <a:t>Go</a:t>
            </a:r>
            <a:r>
              <a:rPr lang="zh-CN" altLang="en-US" dirty="0" smtClean="0"/>
              <a:t>和 </a:t>
            </a:r>
            <a:r>
              <a:rPr lang="en-US" altLang="zh-CN" dirty="0" smtClean="0"/>
              <a:t>Java</a:t>
            </a:r>
            <a:r>
              <a:rPr lang="zh-CN" altLang="en-US" dirty="0" smtClean="0"/>
              <a:t>的接口。</a:t>
            </a:r>
            <a:r>
              <a:rPr lang="en-US" altLang="zh-CN" dirty="0" err="1" smtClean="0"/>
              <a:t>MXNet</a:t>
            </a:r>
            <a:r>
              <a:rPr lang="en-US" altLang="zh-CN" dirty="0" smtClean="0"/>
              <a:t> </a:t>
            </a:r>
            <a:r>
              <a:rPr lang="zh-CN" altLang="en-US" dirty="0" smtClean="0"/>
              <a:t>因其超强的分布式、内存</a:t>
            </a:r>
            <a:r>
              <a:rPr lang="en-US" altLang="zh-CN" dirty="0" smtClean="0"/>
              <a:t>/</a:t>
            </a:r>
            <a:r>
              <a:rPr lang="zh-CN" altLang="en-US" dirty="0" smtClean="0"/>
              <a:t>显存优化能力受到开发者的欢迎。同样的模型，</a:t>
            </a:r>
            <a:r>
              <a:rPr lang="en-US" altLang="zh-CN" dirty="0" err="1" smtClean="0"/>
              <a:t>MXNet</a:t>
            </a:r>
            <a:r>
              <a:rPr lang="en-US" altLang="zh-CN" dirty="0" smtClean="0"/>
              <a:t> </a:t>
            </a:r>
            <a:r>
              <a:rPr lang="zh-CN" altLang="en-US" dirty="0" smtClean="0"/>
              <a:t>往往占用的内存和显存更小，在分布式环境下，</a:t>
            </a:r>
            <a:r>
              <a:rPr lang="en-US" altLang="zh-CN" dirty="0" err="1" smtClean="0"/>
              <a:t>MXNet</a:t>
            </a:r>
            <a:r>
              <a:rPr lang="zh-CN" altLang="en-US" dirty="0" smtClean="0"/>
              <a:t>展现出了明显优于其他框架的扩展性能。</a:t>
            </a:r>
          </a:p>
          <a:p>
            <a:r>
              <a:rPr lang="en-US" altLang="zh-CN" dirty="0" err="1" smtClean="0"/>
              <a:t>MXNet</a:t>
            </a:r>
            <a:r>
              <a:rPr lang="zh-CN" altLang="en-US" dirty="0" smtClean="0"/>
              <a:t>的缺点是推广力度不够、接口文档不完善。虽然</a:t>
            </a:r>
            <a:r>
              <a:rPr lang="en-US" altLang="zh-CN" dirty="0" err="1" smtClean="0"/>
              <a:t>MXNet</a:t>
            </a:r>
            <a:r>
              <a:rPr lang="zh-CN" altLang="en-US" dirty="0" smtClean="0"/>
              <a:t>版本快速迭代</a:t>
            </a:r>
            <a:r>
              <a:rPr lang="en-US" altLang="zh-CN" dirty="0" smtClean="0"/>
              <a:t>,</a:t>
            </a:r>
            <a:r>
              <a:rPr lang="zh-CN" altLang="en-US" dirty="0" smtClean="0"/>
              <a:t>但官方</a:t>
            </a:r>
            <a:r>
              <a:rPr lang="en-US" altLang="zh-CN" dirty="0" smtClean="0"/>
              <a:t>API</a:t>
            </a:r>
            <a:r>
              <a:rPr lang="zh-CN" altLang="en-US" dirty="0" smtClean="0"/>
              <a:t>文档却长时间未更新，导致新用户难以掌握新版本的</a:t>
            </a:r>
            <a:r>
              <a:rPr lang="en-US" altLang="zh-CN" dirty="0" err="1" smtClean="0"/>
              <a:t>MXNet</a:t>
            </a:r>
            <a:r>
              <a:rPr lang="zh-CN" altLang="en-US" dirty="0" smtClean="0"/>
              <a:t>，而老用户又需要查阅源码才能真正理解 </a:t>
            </a:r>
            <a:r>
              <a:rPr lang="en-US" altLang="zh-CN" dirty="0" err="1" smtClean="0"/>
              <a:t>MXNet</a:t>
            </a:r>
            <a:r>
              <a:rPr lang="en-US" altLang="zh-CN" dirty="0" smtClean="0"/>
              <a:t> </a:t>
            </a:r>
            <a:r>
              <a:rPr lang="zh-CN" altLang="en-US" dirty="0" smtClean="0"/>
              <a:t>接口的用法。</a:t>
            </a:r>
            <a:r>
              <a:rPr lang="en-US" altLang="zh-CN" dirty="0" err="1" smtClean="0"/>
              <a:t>MXNet</a:t>
            </a:r>
            <a:r>
              <a:rPr lang="zh-CN" altLang="en-US" dirty="0" smtClean="0"/>
              <a:t>文档比较混乱</a:t>
            </a:r>
            <a:r>
              <a:rPr lang="en-US" altLang="zh-CN" dirty="0" smtClean="0"/>
              <a:t>,</a:t>
            </a:r>
            <a:r>
              <a:rPr lang="zh-CN" altLang="en-US" dirty="0" smtClean="0"/>
              <a:t>不太适合新手入门</a:t>
            </a:r>
            <a:r>
              <a:rPr lang="en-US" altLang="zh-CN" dirty="0" smtClean="0"/>
              <a:t>,</a:t>
            </a:r>
            <a:r>
              <a:rPr lang="zh-CN" altLang="en-US" dirty="0" smtClean="0"/>
              <a:t>但其分布性能强大</a:t>
            </a:r>
            <a:r>
              <a:rPr lang="en-US" altLang="zh-CN" dirty="0" smtClean="0"/>
              <a:t>,</a:t>
            </a:r>
            <a:r>
              <a:rPr lang="zh-CN" altLang="en-US" dirty="0" smtClean="0"/>
              <a:t>语言支持比较多</a:t>
            </a:r>
            <a:r>
              <a:rPr lang="en-US" altLang="zh-CN" dirty="0" smtClean="0"/>
              <a:t>,</a:t>
            </a:r>
            <a:r>
              <a:rPr lang="zh-CN" altLang="en-US" dirty="0" smtClean="0"/>
              <a:t>比较适合在云平台使用。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25451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Keras</a:t>
            </a:r>
            <a:r>
              <a:rPr lang="zh-CN" altLang="en-US" dirty="0" smtClean="0"/>
              <a:t>是一个高层神经网络</a:t>
            </a:r>
            <a:r>
              <a:rPr lang="en-US" altLang="zh-CN" dirty="0" smtClean="0"/>
              <a:t>API,</a:t>
            </a:r>
            <a:r>
              <a:rPr lang="zh-CN" altLang="en-US" dirty="0" smtClean="0"/>
              <a:t>使用</a:t>
            </a:r>
            <a:r>
              <a:rPr lang="en-US" altLang="zh-CN" dirty="0" smtClean="0"/>
              <a:t>Python</a:t>
            </a:r>
            <a:r>
              <a:rPr lang="zh-CN" altLang="en-US" dirty="0" smtClean="0"/>
              <a:t>编写，并将</a:t>
            </a:r>
            <a:r>
              <a:rPr lang="en-US" altLang="zh-CN" dirty="0" err="1" smtClean="0"/>
              <a:t>TensorFlow</a:t>
            </a:r>
            <a:r>
              <a:rPr lang="zh-CN" altLang="en-US" dirty="0" smtClean="0"/>
              <a:t>、</a:t>
            </a:r>
            <a:r>
              <a:rPr lang="en-US" altLang="zh-CN" dirty="0" err="1" smtClean="0"/>
              <a:t>Theano</a:t>
            </a:r>
            <a:r>
              <a:rPr lang="zh-CN" altLang="en-US" dirty="0" smtClean="0"/>
              <a:t>及</a:t>
            </a:r>
            <a:r>
              <a:rPr lang="en-US" altLang="zh-CN" dirty="0" smtClean="0"/>
              <a:t>CNTK</a:t>
            </a:r>
            <a:r>
              <a:rPr lang="zh-CN" altLang="en-US" dirty="0" smtClean="0"/>
              <a:t>作为后端。</a:t>
            </a:r>
            <a:r>
              <a:rPr lang="en-US" altLang="zh-CN" dirty="0" err="1" smtClean="0"/>
              <a:t>Keras</a:t>
            </a:r>
            <a:r>
              <a:rPr lang="zh-CN" altLang="en-US" dirty="0" smtClean="0"/>
              <a:t>为支持快速实验而生</a:t>
            </a:r>
            <a:r>
              <a:rPr lang="en-US" altLang="zh-CN" dirty="0" smtClean="0"/>
              <a:t>,</a:t>
            </a:r>
            <a:r>
              <a:rPr lang="zh-CN" altLang="en-US" dirty="0" smtClean="0"/>
              <a:t>能够快速实现开发者的想法。</a:t>
            </a:r>
            <a:r>
              <a:rPr lang="en-US" altLang="zh-CN" dirty="0" err="1" smtClean="0"/>
              <a:t>Keras</a:t>
            </a:r>
            <a:r>
              <a:rPr lang="zh-CN" altLang="en-US" dirty="0" smtClean="0"/>
              <a:t>目前是最容易上手的深度学习框架</a:t>
            </a:r>
            <a:r>
              <a:rPr lang="en-US" altLang="zh-CN" dirty="0" smtClean="0"/>
              <a:t>,</a:t>
            </a:r>
            <a:r>
              <a:rPr lang="zh-CN" altLang="en-US" dirty="0" smtClean="0"/>
              <a:t>它提供了一致且简洁的</a:t>
            </a:r>
            <a:r>
              <a:rPr lang="en-US" altLang="zh-CN" dirty="0" smtClean="0"/>
              <a:t>API,</a:t>
            </a:r>
            <a:r>
              <a:rPr lang="zh-CN" altLang="en-US" dirty="0" smtClean="0"/>
              <a:t>能够极大减少一般应用下用户的工作量。</a:t>
            </a:r>
          </a:p>
          <a:p>
            <a:r>
              <a:rPr lang="zh-CN" altLang="en-US" dirty="0" smtClean="0"/>
              <a:t>相比于深度学习框架，</a:t>
            </a:r>
            <a:r>
              <a:rPr lang="en-US" altLang="zh-CN" dirty="0" err="1" smtClean="0"/>
              <a:t>Keras</a:t>
            </a:r>
            <a:r>
              <a:rPr lang="zh-CN" altLang="en-US" dirty="0" smtClean="0"/>
              <a:t>更像是一个深度学习接口</a:t>
            </a:r>
            <a:r>
              <a:rPr lang="en-US" altLang="zh-CN" dirty="0" smtClean="0"/>
              <a:t>,</a:t>
            </a:r>
            <a:r>
              <a:rPr lang="zh-CN" altLang="en-US" dirty="0" smtClean="0"/>
              <a:t>它构建于第三方框架之上。</a:t>
            </a:r>
            <a:r>
              <a:rPr lang="en-US" altLang="zh-CN" dirty="0" err="1" smtClean="0"/>
              <a:t>Keras</a:t>
            </a:r>
            <a:r>
              <a:rPr lang="zh-CN" altLang="en-US" dirty="0" smtClean="0"/>
              <a:t>的缺点很明显</a:t>
            </a:r>
            <a:r>
              <a:rPr lang="en-US" altLang="zh-CN" dirty="0" smtClean="0"/>
              <a:t>:</a:t>
            </a:r>
            <a:r>
              <a:rPr lang="zh-CN" altLang="en-US" dirty="0" smtClean="0"/>
              <a:t>过度封装导致丧失了灵活性。</a:t>
            </a:r>
            <a:r>
              <a:rPr lang="en-US" altLang="zh-CN" dirty="0" err="1" smtClean="0"/>
              <a:t>Keras</a:t>
            </a:r>
            <a:r>
              <a:rPr lang="zh-CN" altLang="en-US" dirty="0" smtClean="0"/>
              <a:t>最初作为</a:t>
            </a:r>
            <a:r>
              <a:rPr lang="en-US" altLang="zh-CN" dirty="0" err="1" smtClean="0"/>
              <a:t>Theano</a:t>
            </a:r>
            <a:r>
              <a:rPr lang="zh-CN" altLang="en-US" dirty="0" smtClean="0"/>
              <a:t>的高级</a:t>
            </a:r>
            <a:r>
              <a:rPr lang="en-US" altLang="zh-CN" dirty="0" smtClean="0"/>
              <a:t>API,</a:t>
            </a:r>
            <a:r>
              <a:rPr lang="zh-CN" altLang="en-US" dirty="0" smtClean="0"/>
              <a:t>后来增加了</a:t>
            </a:r>
            <a:r>
              <a:rPr lang="en-US" altLang="zh-CN" dirty="0" err="1" smtClean="0"/>
              <a:t>TensorFlow</a:t>
            </a:r>
            <a:r>
              <a:rPr lang="zh-CN" altLang="en-US" dirty="0" smtClean="0"/>
              <a:t>和 </a:t>
            </a:r>
            <a:r>
              <a:rPr lang="en-US" altLang="zh-CN" dirty="0" smtClean="0"/>
              <a:t>CNTK</a:t>
            </a:r>
            <a:r>
              <a:rPr lang="zh-CN" altLang="en-US" dirty="0" smtClean="0"/>
              <a:t>作为后端。为了屏蔽后端的差异性，</a:t>
            </a:r>
            <a:r>
              <a:rPr lang="en-US" altLang="zh-CN" dirty="0" err="1" smtClean="0"/>
              <a:t>Keras</a:t>
            </a:r>
            <a:r>
              <a:rPr lang="zh-CN" altLang="en-US" dirty="0" smtClean="0"/>
              <a:t>提供了一致的用户接口并做了层层封装，导致用户在新增操作或是获取底层的数据信息时过于困难。同时，过度封装也使得</a:t>
            </a:r>
            <a:r>
              <a:rPr lang="en-US" altLang="zh-CN" dirty="0" err="1" smtClean="0"/>
              <a:t>Keras</a:t>
            </a:r>
            <a:r>
              <a:rPr lang="en-US" altLang="zh-CN" dirty="0" smtClean="0"/>
              <a:t> </a:t>
            </a:r>
            <a:r>
              <a:rPr lang="zh-CN" altLang="en-US" dirty="0" smtClean="0"/>
              <a:t>的程序运行十分缓慢</a:t>
            </a:r>
            <a:r>
              <a:rPr lang="en-US" altLang="zh-CN" dirty="0" smtClean="0"/>
              <a:t>,</a:t>
            </a:r>
            <a:r>
              <a:rPr lang="zh-CN" altLang="en-US" dirty="0" smtClean="0"/>
              <a:t>许多 </a:t>
            </a:r>
            <a:r>
              <a:rPr lang="en-US" altLang="zh-CN" dirty="0" smtClean="0"/>
              <a:t>Bug</a:t>
            </a:r>
            <a:r>
              <a:rPr lang="zh-CN" altLang="en-US" dirty="0" smtClean="0"/>
              <a:t>都隐藏于封装之中。在绝大多数场景下，</a:t>
            </a:r>
            <a:r>
              <a:rPr lang="en-US" altLang="zh-CN" dirty="0" err="1" smtClean="0"/>
              <a:t>Keras</a:t>
            </a:r>
            <a:r>
              <a:rPr lang="zh-CN" altLang="en-US" dirty="0" smtClean="0"/>
              <a:t>是本文介绍的所有框架中运行最慢的。</a:t>
            </a:r>
            <a:endParaRPr lang="en-US" altLang="zh-CN" dirty="0" smtClean="0"/>
          </a:p>
          <a:p>
            <a:r>
              <a:rPr lang="zh-CN" altLang="en-US" dirty="0" smtClean="0"/>
              <a:t>学习</a:t>
            </a:r>
            <a:r>
              <a:rPr lang="en-US" altLang="zh-CN" dirty="0" err="1" smtClean="0"/>
              <a:t>Keras</a:t>
            </a:r>
            <a:r>
              <a:rPr lang="zh-CN" altLang="en-US" dirty="0" smtClean="0"/>
              <a:t>十分容易，但是很快就会遇到瓶颈，因为它不够灵活。另外</a:t>
            </a:r>
            <a:r>
              <a:rPr lang="en-US" altLang="zh-CN" dirty="0" smtClean="0"/>
              <a:t>,</a:t>
            </a:r>
            <a:r>
              <a:rPr lang="zh-CN" altLang="en-US" dirty="0" smtClean="0"/>
              <a:t>在使用</a:t>
            </a:r>
            <a:r>
              <a:rPr lang="en-US" altLang="zh-CN" dirty="0" err="1" smtClean="0"/>
              <a:t>Keras</a:t>
            </a:r>
            <a:r>
              <a:rPr lang="zh-CN" altLang="en-US" dirty="0" smtClean="0"/>
              <a:t>的大多数时间里，用户主要是在调用接口，很难真正学习到深度学习的内容。</a:t>
            </a:r>
          </a:p>
          <a:p>
            <a:r>
              <a:rPr lang="en-US" altLang="zh-CN" dirty="0" err="1" smtClean="0"/>
              <a:t>Keras</a:t>
            </a:r>
            <a:r>
              <a:rPr lang="zh-CN" altLang="en-US" dirty="0" smtClean="0"/>
              <a:t>的过度封装使其并不适合新手学习</a:t>
            </a:r>
            <a:r>
              <a:rPr lang="en-US" altLang="zh-CN" dirty="0" smtClean="0"/>
              <a:t>(</a:t>
            </a:r>
            <a:r>
              <a:rPr lang="zh-CN" altLang="en-US" dirty="0" smtClean="0"/>
              <a:t>无法理解深度学习的真正内涵</a:t>
            </a:r>
            <a:r>
              <a:rPr lang="en-US" altLang="zh-CN" dirty="0" smtClean="0"/>
              <a:t>)</a:t>
            </a:r>
            <a:r>
              <a:rPr lang="zh-CN" altLang="en-US" dirty="0" smtClean="0"/>
              <a:t>，故不推荐。</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71613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err="1" smtClean="0"/>
              <a:t>PyTorch</a:t>
            </a:r>
            <a:r>
              <a:rPr lang="zh-CN" altLang="en-US" dirty="0" smtClean="0"/>
              <a:t>是一个</a:t>
            </a:r>
            <a:r>
              <a:rPr lang="en-US" altLang="zh-CN" dirty="0" smtClean="0"/>
              <a:t>Python</a:t>
            </a:r>
            <a:r>
              <a:rPr lang="zh-CN" altLang="en-US" dirty="0" smtClean="0"/>
              <a:t>优先的深度学习框架，设计追求最少的封装，能够在强大的 </a:t>
            </a:r>
            <a:r>
              <a:rPr lang="en-US" altLang="zh-CN" dirty="0" smtClean="0"/>
              <a:t>GPU </a:t>
            </a:r>
            <a:r>
              <a:rPr lang="zh-CN" altLang="en-US" dirty="0" smtClean="0"/>
              <a:t>加速基础上实现张量和动态神经网络。</a:t>
            </a:r>
          </a:p>
          <a:p>
            <a:r>
              <a:rPr lang="en-US" altLang="zh-CN" dirty="0" err="1" smtClean="0"/>
              <a:t>PyTorch</a:t>
            </a:r>
            <a:r>
              <a:rPr lang="zh-CN" altLang="en-US" dirty="0" smtClean="0"/>
              <a:t>提供了完整的使用文档、循序渐进的用户指南，作者亲自维护</a:t>
            </a:r>
            <a:r>
              <a:rPr lang="en-US" altLang="zh-CN" dirty="0" err="1" smtClean="0"/>
              <a:t>PyTorch</a:t>
            </a:r>
            <a:r>
              <a:rPr lang="zh-CN" altLang="en-US" dirty="0" smtClean="0"/>
              <a:t>论坛</a:t>
            </a:r>
            <a:r>
              <a:rPr lang="en-US" altLang="zh-CN" dirty="0" smtClean="0"/>
              <a:t>,</a:t>
            </a:r>
            <a:r>
              <a:rPr lang="zh-CN" altLang="en-US" dirty="0" smtClean="0"/>
              <a:t>方便用户交流和解决问题。</a:t>
            </a:r>
            <a:r>
              <a:rPr lang="en-US" altLang="zh-CN" dirty="0" smtClean="0"/>
              <a:t>Facebook</a:t>
            </a:r>
            <a:r>
              <a:rPr lang="zh-CN" altLang="en-US" dirty="0" smtClean="0"/>
              <a:t>人工智能研究院</a:t>
            </a:r>
            <a:r>
              <a:rPr lang="en-US" altLang="zh-CN" dirty="0" smtClean="0"/>
              <a:t>FAIR</a:t>
            </a:r>
            <a:r>
              <a:rPr lang="zh-CN" altLang="en-US" dirty="0" smtClean="0"/>
              <a:t>对 </a:t>
            </a:r>
            <a:r>
              <a:rPr lang="en-US" altLang="zh-CN" dirty="0" err="1" smtClean="0"/>
              <a:t>PyTorch</a:t>
            </a:r>
            <a:r>
              <a:rPr lang="zh-CN" altLang="en-US" dirty="0" smtClean="0"/>
              <a:t>的推广提供了大力支持。作为当今排名前三的深度学习研究机构</a:t>
            </a:r>
            <a:r>
              <a:rPr lang="en-US" altLang="zh-CN" dirty="0" smtClean="0"/>
              <a:t>,FAIR</a:t>
            </a:r>
            <a:r>
              <a:rPr lang="zh-CN" altLang="en-US" dirty="0" smtClean="0"/>
              <a:t>的支持足以确保</a:t>
            </a:r>
            <a:r>
              <a:rPr lang="en-US" altLang="zh-CN" dirty="0" err="1" smtClean="0"/>
              <a:t>PyTorch</a:t>
            </a:r>
            <a:r>
              <a:rPr lang="zh-CN" altLang="en-US" dirty="0" smtClean="0"/>
              <a:t>获得持续开发、更新的保障</a:t>
            </a:r>
            <a:r>
              <a:rPr lang="en-US" altLang="zh-CN" dirty="0" smtClean="0"/>
              <a:t>,</a:t>
            </a:r>
            <a:r>
              <a:rPr lang="zh-CN" altLang="en-US" dirty="0" smtClean="0"/>
              <a:t>不至于像一些个人开发的框架那样昙花一现。如有需要</a:t>
            </a:r>
            <a:r>
              <a:rPr lang="en-US" altLang="zh-CN" dirty="0" smtClean="0"/>
              <a:t>,</a:t>
            </a:r>
            <a:r>
              <a:rPr lang="zh-CN" altLang="en-US" dirty="0" smtClean="0"/>
              <a:t>我们也可以使用</a:t>
            </a:r>
            <a:r>
              <a:rPr lang="en-US" altLang="zh-CN" dirty="0" smtClean="0"/>
              <a:t>Python</a:t>
            </a:r>
            <a:r>
              <a:rPr lang="zh-CN" altLang="en-US" dirty="0" smtClean="0"/>
              <a:t>软件包</a:t>
            </a:r>
            <a:r>
              <a:rPr lang="en-US" altLang="zh-CN" dirty="0" smtClean="0"/>
              <a:t>(</a:t>
            </a:r>
            <a:r>
              <a:rPr lang="zh-CN" altLang="en-US" dirty="0" smtClean="0"/>
              <a:t>如</a:t>
            </a:r>
            <a:r>
              <a:rPr lang="en-US" altLang="zh-CN" dirty="0" err="1" smtClean="0"/>
              <a:t>NumPy</a:t>
            </a:r>
            <a:r>
              <a:rPr lang="zh-CN" altLang="en-US" dirty="0" smtClean="0"/>
              <a:t>、</a:t>
            </a:r>
            <a:r>
              <a:rPr lang="en-US" altLang="zh-CN" dirty="0" err="1" smtClean="0"/>
              <a:t>SciPy</a:t>
            </a:r>
            <a:r>
              <a:rPr lang="en-US" altLang="zh-CN" dirty="0" smtClean="0"/>
              <a:t> </a:t>
            </a:r>
            <a:r>
              <a:rPr lang="zh-CN" altLang="en-US" dirty="0" smtClean="0"/>
              <a:t>和 </a:t>
            </a:r>
            <a:r>
              <a:rPr lang="en-US" altLang="zh-CN" dirty="0" err="1" smtClean="0"/>
              <a:t>Cython</a:t>
            </a:r>
            <a:r>
              <a:rPr lang="zh-CN" altLang="en-US" dirty="0" smtClean="0"/>
              <a:t>）来扩展</a:t>
            </a:r>
            <a:r>
              <a:rPr lang="en-US" altLang="zh-CN" dirty="0" err="1" smtClean="0"/>
              <a:t>PyTorch</a:t>
            </a:r>
            <a:r>
              <a:rPr lang="zh-CN" altLang="en-US" dirty="0" smtClean="0"/>
              <a:t>。相对于</a:t>
            </a:r>
            <a:r>
              <a:rPr lang="en-US" altLang="zh-CN" dirty="0" err="1" smtClean="0"/>
              <a:t>TensorFlow</a:t>
            </a:r>
            <a:r>
              <a:rPr lang="zh-CN" altLang="en-US" dirty="0" smtClean="0"/>
              <a:t>，</a:t>
            </a:r>
            <a:r>
              <a:rPr lang="en-US" altLang="zh-CN" dirty="0" err="1" smtClean="0"/>
              <a:t>PyTorch</a:t>
            </a:r>
            <a:r>
              <a:rPr lang="en-US" altLang="zh-CN" dirty="0" smtClean="0"/>
              <a:t> </a:t>
            </a:r>
            <a:r>
              <a:rPr lang="zh-CN" altLang="en-US" dirty="0" smtClean="0"/>
              <a:t>的一大优点是它的图是动态的</a:t>
            </a:r>
            <a:r>
              <a:rPr lang="en-US" altLang="zh-CN" dirty="0" smtClean="0"/>
              <a:t>,</a:t>
            </a:r>
            <a:r>
              <a:rPr lang="zh-CN" altLang="en-US" dirty="0" smtClean="0"/>
              <a:t>而</a:t>
            </a:r>
            <a:r>
              <a:rPr lang="en-US" altLang="zh-CN" dirty="0" err="1" smtClean="0"/>
              <a:t>TensorFlow</a:t>
            </a:r>
            <a:r>
              <a:rPr lang="zh-CN" altLang="en-US" dirty="0" smtClean="0"/>
              <a:t>框架是静态图</a:t>
            </a:r>
            <a:r>
              <a:rPr lang="en-US" altLang="zh-CN" dirty="0" smtClean="0"/>
              <a:t>,</a:t>
            </a:r>
            <a:r>
              <a:rPr lang="zh-CN" altLang="en-US" dirty="0" smtClean="0"/>
              <a:t>不利于扩展。同时</a:t>
            </a:r>
            <a:r>
              <a:rPr lang="en-US" altLang="zh-CN" dirty="0" smtClean="0"/>
              <a:t>,</a:t>
            </a:r>
            <a:r>
              <a:rPr lang="en-US" altLang="zh-CN" dirty="0" err="1" smtClean="0"/>
              <a:t>Pytorch</a:t>
            </a:r>
            <a:r>
              <a:rPr lang="zh-CN" altLang="en-US" dirty="0" smtClean="0"/>
              <a:t>非常简洁，方便使用。后续的实验中，我们选取</a:t>
            </a:r>
            <a:r>
              <a:rPr lang="en-US" altLang="zh-CN" dirty="0" err="1" smtClean="0"/>
              <a:t>PyTorch</a:t>
            </a:r>
            <a:r>
              <a:rPr lang="zh-CN" altLang="en-US" dirty="0" smtClean="0"/>
              <a:t>为主要的实现框架。</a:t>
            </a:r>
            <a:endParaRPr lang="en-US" altLang="zh-CN" dirty="0" smtClean="0"/>
          </a:p>
          <a:p>
            <a:r>
              <a:rPr lang="zh-CN" altLang="en-US" dirty="0" smtClean="0"/>
              <a:t>如果说</a:t>
            </a:r>
            <a:r>
              <a:rPr lang="en-US" altLang="zh-CN" dirty="0" err="1" smtClean="0"/>
              <a:t>TensorFlow</a:t>
            </a:r>
            <a:r>
              <a:rPr lang="zh-CN" altLang="en-US" dirty="0" smtClean="0"/>
              <a:t>的设计是“ </a:t>
            </a:r>
            <a:r>
              <a:rPr lang="en-US" altLang="zh-CN" dirty="0" smtClean="0"/>
              <a:t>Make it complicated”, </a:t>
            </a:r>
            <a:r>
              <a:rPr lang="en-US" altLang="zh-CN" dirty="0" err="1" smtClean="0"/>
              <a:t>Keras</a:t>
            </a:r>
            <a:r>
              <a:rPr lang="zh-CN" altLang="en-US" dirty="0" smtClean="0"/>
              <a:t>的设计是“</a:t>
            </a:r>
            <a:r>
              <a:rPr lang="en-US" altLang="zh-CN" dirty="0" smtClean="0"/>
              <a:t>Make it complicated and hide it”</a:t>
            </a:r>
            <a:r>
              <a:rPr lang="zh-CN" altLang="en-US" dirty="0" smtClean="0"/>
              <a:t>，那么</a:t>
            </a:r>
            <a:r>
              <a:rPr lang="en-US" altLang="zh-CN" dirty="0" err="1" smtClean="0"/>
              <a:t>PyTorch</a:t>
            </a:r>
            <a:r>
              <a:rPr lang="zh-CN" altLang="en-US" dirty="0" smtClean="0"/>
              <a:t>的设计则真正做到了“</a:t>
            </a:r>
            <a:r>
              <a:rPr lang="en-US" altLang="zh-CN" dirty="0" smtClean="0"/>
              <a:t>Keep it </a:t>
            </a:r>
            <a:r>
              <a:rPr lang="en-US" altLang="zh-CN" dirty="0" err="1" smtClean="0"/>
              <a:t>simple,stupid</a:t>
            </a:r>
            <a:r>
              <a:rPr lang="en-US" altLang="zh-CN" dirty="0" smtClean="0"/>
              <a:t>”</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81567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Caffe</a:t>
            </a:r>
            <a:r>
              <a:rPr lang="zh-CN" altLang="en-US" dirty="0" smtClean="0"/>
              <a:t>是基于</a:t>
            </a:r>
            <a:r>
              <a:rPr lang="en-US" altLang="zh-CN" dirty="0" smtClean="0"/>
              <a:t>C++</a:t>
            </a:r>
            <a:r>
              <a:rPr lang="zh-CN" altLang="en-US" dirty="0" smtClean="0"/>
              <a:t>编写的深度学习框架</a:t>
            </a:r>
            <a:r>
              <a:rPr lang="en-US" altLang="zh-CN" dirty="0" smtClean="0"/>
              <a:t>,</a:t>
            </a:r>
            <a:r>
              <a:rPr lang="zh-CN" altLang="en-US" dirty="0" smtClean="0"/>
              <a:t>作者是伯克利大学的贾杨清</a:t>
            </a:r>
            <a:r>
              <a:rPr lang="en-US" altLang="zh-CN" dirty="0" smtClean="0"/>
              <a:t>,</a:t>
            </a:r>
            <a:r>
              <a:rPr lang="zh-CN" altLang="en-US" dirty="0" smtClean="0"/>
              <a:t>源码开放</a:t>
            </a:r>
            <a:r>
              <a:rPr lang="en-US" altLang="zh-CN" dirty="0" smtClean="0"/>
              <a:t>(</a:t>
            </a:r>
            <a:r>
              <a:rPr lang="zh-CN" altLang="en-US" dirty="0" smtClean="0"/>
              <a:t>具有</a:t>
            </a:r>
            <a:r>
              <a:rPr lang="en-US" altLang="zh-CN" dirty="0" smtClean="0"/>
              <a:t>Licensed BSD)</a:t>
            </a:r>
            <a:r>
              <a:rPr lang="zh-CN" altLang="en-US" dirty="0" smtClean="0"/>
              <a:t>并提供了命令行工具以及 </a:t>
            </a:r>
            <a:r>
              <a:rPr lang="en-US" altLang="zh-CN" dirty="0" err="1" smtClean="0"/>
              <a:t>Matlab</a:t>
            </a:r>
            <a:r>
              <a:rPr lang="zh-CN" altLang="en-US" dirty="0" smtClean="0"/>
              <a:t>和 </a:t>
            </a:r>
            <a:r>
              <a:rPr lang="en-US" altLang="zh-CN" dirty="0" smtClean="0"/>
              <a:t>Python </a:t>
            </a:r>
            <a:r>
              <a:rPr lang="zh-CN" altLang="en-US" dirty="0" smtClean="0"/>
              <a:t>接口。</a:t>
            </a:r>
          </a:p>
          <a:p>
            <a:r>
              <a:rPr lang="en-US" altLang="zh-CN" dirty="0" err="1" smtClean="0"/>
              <a:t>Caffe</a:t>
            </a:r>
            <a:r>
              <a:rPr lang="en-US" altLang="zh-CN" dirty="0" smtClean="0"/>
              <a:t> </a:t>
            </a:r>
            <a:r>
              <a:rPr lang="zh-CN" altLang="en-US" dirty="0" smtClean="0"/>
              <a:t>一直是深度学习研究者使用的框架，很多研究人员在上面进行开发和优化</a:t>
            </a:r>
            <a:r>
              <a:rPr lang="en-US" altLang="zh-CN" dirty="0" smtClean="0"/>
              <a:t>,</a:t>
            </a:r>
            <a:r>
              <a:rPr lang="zh-CN" altLang="en-US" dirty="0" smtClean="0"/>
              <a:t>因而有了不少沉淀</a:t>
            </a:r>
            <a:r>
              <a:rPr lang="en-US" altLang="zh-CN" dirty="0" smtClean="0"/>
              <a:t>,</a:t>
            </a:r>
            <a:r>
              <a:rPr lang="zh-CN" altLang="en-US" dirty="0" smtClean="0"/>
              <a:t>因此</a:t>
            </a:r>
            <a:r>
              <a:rPr lang="en-US" altLang="zh-CN" dirty="0" err="1" smtClean="0"/>
              <a:t>Caffe</a:t>
            </a:r>
            <a:r>
              <a:rPr lang="zh-CN" altLang="en-US" dirty="0" smtClean="0"/>
              <a:t>也是流行的深度学习框架之一。尽管如此</a:t>
            </a:r>
            <a:r>
              <a:rPr lang="en-US" altLang="zh-CN" dirty="0" smtClean="0"/>
              <a:t>,</a:t>
            </a:r>
            <a:r>
              <a:rPr lang="en-US" altLang="zh-CN" dirty="0" err="1" smtClean="0"/>
              <a:t>Caffe</a:t>
            </a:r>
            <a:r>
              <a:rPr lang="zh-CN" altLang="en-US" dirty="0" smtClean="0"/>
              <a:t>也存在不支持多机、跨平台、可扩展性差等问题。初学使用</a:t>
            </a:r>
            <a:r>
              <a:rPr lang="en-US" altLang="zh-CN" dirty="0" err="1" smtClean="0"/>
              <a:t>Caffe</a:t>
            </a:r>
            <a:r>
              <a:rPr lang="zh-CN" altLang="en-US" dirty="0" smtClean="0"/>
              <a:t>还需要注意下面两个问题。</a:t>
            </a:r>
          </a:p>
          <a:p>
            <a:r>
              <a:rPr lang="en-US" altLang="zh-CN" dirty="0" smtClean="0"/>
              <a:t>1)</a:t>
            </a:r>
            <a:r>
              <a:rPr lang="en-US" altLang="zh-CN" dirty="0" err="1" smtClean="0"/>
              <a:t>Caffe</a:t>
            </a:r>
            <a:r>
              <a:rPr lang="zh-CN" altLang="en-US" dirty="0" smtClean="0"/>
              <a:t>的安装过程需要大量的依赖库</a:t>
            </a:r>
            <a:r>
              <a:rPr lang="en-US" altLang="zh-CN" dirty="0" smtClean="0"/>
              <a:t>,</a:t>
            </a:r>
            <a:r>
              <a:rPr lang="zh-CN" altLang="en-US" dirty="0" smtClean="0"/>
              <a:t>因此涉及很多安装版本问题</a:t>
            </a:r>
            <a:r>
              <a:rPr lang="en-US" altLang="zh-CN" dirty="0" smtClean="0"/>
              <a:t>,</a:t>
            </a:r>
            <a:r>
              <a:rPr lang="zh-CN" altLang="en-US" dirty="0" smtClean="0"/>
              <a:t>初学者须多加注意。</a:t>
            </a:r>
          </a:p>
          <a:p>
            <a:r>
              <a:rPr lang="en-US" altLang="zh-CN" dirty="0" smtClean="0"/>
              <a:t>2</a:t>
            </a:r>
            <a:r>
              <a:rPr lang="zh-CN" altLang="en-US" dirty="0" smtClean="0"/>
              <a:t>）当用户要实现一个新的层，就需要用</a:t>
            </a:r>
            <a:r>
              <a:rPr lang="en-US" altLang="zh-CN" dirty="0" smtClean="0"/>
              <a:t>C++</a:t>
            </a:r>
            <a:r>
              <a:rPr lang="zh-CN" altLang="en-US" dirty="0" smtClean="0"/>
              <a:t>实现它的前向传播和反向传播代码，而如果想要新层运行在</a:t>
            </a:r>
            <a:r>
              <a:rPr lang="en-US" altLang="zh-CN" dirty="0" smtClean="0"/>
              <a:t>GPU</a:t>
            </a:r>
            <a:r>
              <a:rPr lang="zh-CN" altLang="en-US" dirty="0" smtClean="0"/>
              <a:t>上，则需要同时使用</a:t>
            </a:r>
            <a:r>
              <a:rPr lang="en-US" altLang="zh-CN" dirty="0" smtClean="0"/>
              <a:t>CUDA</a:t>
            </a:r>
            <a:r>
              <a:rPr lang="zh-CN" altLang="en-US" dirty="0" smtClean="0"/>
              <a:t>实现这一层的前向传播和反向传播。</a:t>
            </a:r>
          </a:p>
          <a:p>
            <a:r>
              <a:rPr lang="en-US" altLang="zh-CN" dirty="0" smtClean="0"/>
              <a:t>Caffe2</a:t>
            </a:r>
            <a:r>
              <a:rPr lang="zh-CN" altLang="en-US" dirty="0" smtClean="0"/>
              <a:t>出自</a:t>
            </a:r>
            <a:r>
              <a:rPr lang="en-US" altLang="zh-CN" dirty="0" smtClean="0"/>
              <a:t>Facebook</a:t>
            </a:r>
            <a:r>
              <a:rPr lang="zh-CN" altLang="en-US" dirty="0" smtClean="0"/>
              <a:t>人工智能实验室与应用机器学习团队</a:t>
            </a:r>
            <a:r>
              <a:rPr lang="en-US" altLang="zh-CN" dirty="0" smtClean="0"/>
              <a:t>,</a:t>
            </a:r>
            <a:r>
              <a:rPr lang="zh-CN" altLang="en-US" dirty="0" smtClean="0"/>
              <a:t>贾杨清仍是主要贡献者之一。</a:t>
            </a:r>
            <a:r>
              <a:rPr lang="en-US" altLang="zh-CN" dirty="0" smtClean="0"/>
              <a:t>Caffe2</a:t>
            </a:r>
            <a:r>
              <a:rPr lang="zh-CN" altLang="en-US" dirty="0" smtClean="0"/>
              <a:t>在工程上做了很多优化</a:t>
            </a:r>
            <a:r>
              <a:rPr lang="en-US" altLang="zh-CN" dirty="0" smtClean="0"/>
              <a:t>,</a:t>
            </a:r>
            <a:r>
              <a:rPr lang="zh-CN" altLang="en-US" dirty="0" smtClean="0"/>
              <a:t>比如运行速度、跨平台、可扩展性等</a:t>
            </a:r>
            <a:r>
              <a:rPr lang="en-US" altLang="zh-CN" dirty="0" smtClean="0"/>
              <a:t>,</a:t>
            </a:r>
            <a:r>
              <a:rPr lang="zh-CN" altLang="en-US" dirty="0" smtClean="0"/>
              <a:t>它可以看作 </a:t>
            </a:r>
            <a:r>
              <a:rPr lang="en-US" altLang="zh-CN" dirty="0" err="1" smtClean="0"/>
              <a:t>Caffe</a:t>
            </a:r>
            <a:r>
              <a:rPr lang="en-US" altLang="zh-CN" dirty="0" smtClean="0"/>
              <a:t> </a:t>
            </a:r>
            <a:r>
              <a:rPr lang="zh-CN" altLang="en-US" dirty="0" smtClean="0"/>
              <a:t>更细粒度的重构</a:t>
            </a:r>
            <a:r>
              <a:rPr lang="en-US" altLang="zh-CN" dirty="0" smtClean="0"/>
              <a:t>,</a:t>
            </a:r>
            <a:r>
              <a:rPr lang="zh-CN" altLang="en-US" dirty="0" smtClean="0"/>
              <a:t>但在设计上，</a:t>
            </a:r>
            <a:r>
              <a:rPr lang="en-US" altLang="zh-CN" dirty="0" smtClean="0"/>
              <a:t>Caffe2</a:t>
            </a:r>
            <a:r>
              <a:rPr lang="zh-CN" altLang="en-US" dirty="0" smtClean="0"/>
              <a:t>其实和</a:t>
            </a:r>
            <a:r>
              <a:rPr lang="en-US" altLang="zh-CN" dirty="0" err="1" smtClean="0"/>
              <a:t>TensorFlow</a:t>
            </a:r>
            <a:r>
              <a:rPr lang="zh-CN" altLang="en-US" dirty="0" smtClean="0"/>
              <a:t>更像。目前 </a:t>
            </a:r>
            <a:r>
              <a:rPr lang="en-US" altLang="zh-CN" dirty="0" smtClean="0"/>
              <a:t>Caffe2</a:t>
            </a:r>
            <a:r>
              <a:rPr lang="zh-CN" altLang="en-US" dirty="0" smtClean="0"/>
              <a:t>代码已开源并入了</a:t>
            </a:r>
            <a:r>
              <a:rPr lang="en-US" altLang="zh-CN" dirty="0" err="1" smtClean="0"/>
              <a:t>PyTorch</a:t>
            </a:r>
            <a:r>
              <a:rPr lang="zh-CN" altLang="en-US" dirty="0" smtClean="0"/>
              <a:t>。</a:t>
            </a:r>
          </a:p>
          <a:p>
            <a:r>
              <a:rPr lang="zh-CN" altLang="en-US" dirty="0" smtClean="0"/>
              <a:t>在工业界和学术界仍有很多人使用</a:t>
            </a:r>
            <a:r>
              <a:rPr lang="en-US" altLang="zh-CN" dirty="0" err="1" smtClean="0"/>
              <a:t>Caffe</a:t>
            </a:r>
            <a:r>
              <a:rPr lang="zh-CN" altLang="en-US" dirty="0" smtClean="0"/>
              <a:t>，而 </a:t>
            </a:r>
            <a:r>
              <a:rPr lang="en-US" altLang="zh-CN" dirty="0" smtClean="0"/>
              <a:t>Caffe2</a:t>
            </a:r>
            <a:r>
              <a:rPr lang="zh-CN" altLang="en-US" dirty="0" smtClean="0"/>
              <a:t>的出现给我们提供了更多的选择。</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65129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一节我们将目光集中在目标检测的核心概念上，为之后剖析主流目标检测算法做铺垫。首先回顾一下图像分类与目标检测的区别，如图所示，我们不仅要通过算法判断图中是不是猫（分类问题），还要再图像中标记它的位置，用方框把猫圈起来，这就是目标检测问题。</a:t>
            </a:r>
            <a:endParaRPr lang="en-US" altLang="zh-CN" dirty="0" smtClean="0"/>
          </a:p>
          <a:p>
            <a:r>
              <a:rPr lang="zh-CN" altLang="en-US" dirty="0" smtClean="0"/>
              <a:t>目标检测算法实际上是多任务算法：一个任务是确定目标的分类；另一个任务是确定目标位置。而图像分类算法则是单任务算法，只需要进行分类。</a:t>
            </a:r>
            <a:endParaRPr lang="en-US" altLang="zh-CN" dirty="0" smtClean="0"/>
          </a:p>
          <a:p>
            <a:r>
              <a:rPr lang="zh-CN" altLang="en-US" dirty="0" smtClean="0"/>
              <a:t>目前，目标检测算法的发展比较成熟，近几年更是涌现了许多非常优秀的算法。目标检测算法主要有两类代表类型：一阶段的代表算法是</a:t>
            </a:r>
            <a:r>
              <a:rPr lang="en-US" altLang="zh-CN" dirty="0" smtClean="0"/>
              <a:t>SSD</a:t>
            </a:r>
            <a:r>
              <a:rPr lang="zh-CN" altLang="en-US" dirty="0" smtClean="0"/>
              <a:t>和</a:t>
            </a:r>
            <a:r>
              <a:rPr lang="en-US" altLang="zh-CN" dirty="0" smtClean="0"/>
              <a:t>YOLO</a:t>
            </a:r>
            <a:r>
              <a:rPr lang="zh-CN" altLang="en-US" dirty="0" smtClean="0"/>
              <a:t>系列；两阶段的代表算法是</a:t>
            </a:r>
            <a:r>
              <a:rPr lang="en-US" altLang="zh-CN" dirty="0" smtClean="0"/>
              <a:t>Faster R-CNN</a:t>
            </a:r>
            <a:r>
              <a:rPr lang="zh-CN" altLang="en-US" dirty="0" smtClean="0"/>
              <a:t>。这两类算法的主要区别在于，一阶段直接基于网络提取的特征和预定义的锚进行目标检测，而两阶段则是先通过网络提取的特征和预定义的锚学习得到候选框，然后基于候选框的特征进行目标检测。</a:t>
            </a:r>
            <a:endParaRPr lang="en-US" altLang="zh-CN" dirty="0" smtClean="0"/>
          </a:p>
          <a:p>
            <a:r>
              <a:rPr lang="zh-CN" altLang="en-US" dirty="0" smtClean="0"/>
              <a:t>下面介绍目标检测算法中的几个重要的概念。</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01260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如何判断目标检测算法的性能？</a:t>
            </a:r>
            <a:endParaRPr lang="en-US" altLang="zh-CN" dirty="0" smtClean="0"/>
          </a:p>
          <a:p>
            <a:r>
              <a:rPr lang="zh-CN" altLang="en-US" dirty="0" smtClean="0"/>
              <a:t>比较容易想到的一种方式是通过比较真值框</a:t>
            </a:r>
            <a:r>
              <a:rPr lang="en-US" altLang="zh-CN" dirty="0" smtClean="0"/>
              <a:t>(ground-truth bounding</a:t>
            </a:r>
            <a:r>
              <a:rPr lang="en-US" altLang="zh-CN" baseline="0" dirty="0" smtClean="0"/>
              <a:t> box)</a:t>
            </a:r>
            <a:r>
              <a:rPr lang="zh-CN" altLang="en-US" baseline="0" dirty="0" smtClean="0"/>
              <a:t>和预测框</a:t>
            </a:r>
            <a:r>
              <a:rPr lang="en-US" altLang="zh-CN" baseline="0" dirty="0" smtClean="0"/>
              <a:t>(predicted bounding box)</a:t>
            </a:r>
            <a:r>
              <a:rPr lang="zh-CN" altLang="en-US" baseline="0" dirty="0" smtClean="0"/>
              <a:t>的距离、重叠面积等来判断。</a:t>
            </a:r>
            <a:r>
              <a:rPr lang="en-US" altLang="zh-CN" baseline="0" dirty="0" err="1" smtClean="0"/>
              <a:t>IoU</a:t>
            </a:r>
            <a:r>
              <a:rPr lang="en-US" altLang="zh-CN" baseline="0" dirty="0" smtClean="0"/>
              <a:t>(Intersection over Union</a:t>
            </a:r>
            <a:r>
              <a:rPr lang="zh-CN" altLang="en-US" baseline="0" dirty="0" smtClean="0"/>
              <a:t>，交并比</a:t>
            </a:r>
            <a:r>
              <a:rPr lang="en-US" altLang="zh-CN" baseline="0" dirty="0" smtClean="0"/>
              <a:t>)</a:t>
            </a:r>
            <a:r>
              <a:rPr lang="zh-CN" altLang="en-US" baseline="0" dirty="0" smtClean="0"/>
              <a:t>是一种在特定数据就中检测相应物体准确度的标准，恰好可以实现上述目的，可以很好地反映检测效果。</a:t>
            </a:r>
            <a:r>
              <a:rPr lang="en-US" altLang="zh-CN" baseline="0" dirty="0" err="1" smtClean="0"/>
              <a:t>IoU</a:t>
            </a:r>
            <a:r>
              <a:rPr lang="zh-CN" altLang="en-US" baseline="0" dirty="0" smtClean="0"/>
              <a:t>的计算逻辑非常简单，就是两个框相交的面积除以两个框相并的面积，如图所示。此外，</a:t>
            </a:r>
            <a:r>
              <a:rPr lang="en-US" altLang="zh-CN" baseline="0" dirty="0" err="1" smtClean="0"/>
              <a:t>IoU</a:t>
            </a:r>
            <a:r>
              <a:rPr lang="zh-CN" altLang="en-US" baseline="0" dirty="0" smtClean="0"/>
              <a:t>还有一个很好的特性就是尺度不变性，</a:t>
            </a:r>
            <a:r>
              <a:rPr lang="zh-CN" altLang="en-US" sz="1200" b="0" i="0" kern="1200" dirty="0" smtClean="0">
                <a:solidFill>
                  <a:schemeClr val="tx1"/>
                </a:solidFill>
                <a:effectLst/>
                <a:latin typeface="+mn-lt"/>
                <a:ea typeface="+mn-ea"/>
                <a:cs typeface="+mn-cs"/>
              </a:rPr>
              <a:t>也就是对尺度不敏感（</a:t>
            </a:r>
            <a:r>
              <a:rPr lang="en-US" altLang="zh-CN" sz="1200" b="0" i="0" kern="1200" dirty="0" smtClean="0">
                <a:solidFill>
                  <a:schemeClr val="tx1"/>
                </a:solidFill>
                <a:effectLst/>
                <a:latin typeface="+mn-lt"/>
                <a:ea typeface="+mn-ea"/>
                <a:cs typeface="+mn-cs"/>
              </a:rPr>
              <a:t>scale invariant</a:t>
            </a:r>
            <a:r>
              <a:rPr lang="zh-CN" altLang="en-US" sz="1200" b="0" i="0" kern="1200" dirty="0" smtClean="0">
                <a:solidFill>
                  <a:schemeClr val="tx1"/>
                </a:solidFill>
                <a:effectLst/>
                <a:latin typeface="+mn-lt"/>
                <a:ea typeface="+mn-ea"/>
                <a:cs typeface="+mn-cs"/>
              </a:rPr>
              <a:t>）。（检测目标大小不会影响交并比计算）</a:t>
            </a:r>
            <a:endParaRPr lang="en-US" altLang="zh-CN" baseline="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16866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说到这里，有一些读者可能会有疑惑，那所谓的真值框是从哪里来的呢？对于任何一个训练数据集或测试数据集来说，至少包含两大类数据：一类是图像本身；另一类包含待检测对象的坐标（即标签）。我们的目标是构建一个目标检测算法，在测试集上进行测试，如果</a:t>
            </a:r>
            <a:r>
              <a:rPr lang="en-US" altLang="zh-CN" dirty="0" err="1" smtClean="0"/>
              <a:t>IoU</a:t>
            </a:r>
            <a:r>
              <a:rPr lang="zh-CN" altLang="en-US" dirty="0" smtClean="0"/>
              <a:t>的值大于</a:t>
            </a:r>
            <a:r>
              <a:rPr lang="en-US" altLang="zh-CN" dirty="0" smtClean="0"/>
              <a:t>0.5</a:t>
            </a:r>
            <a:r>
              <a:rPr lang="zh-CN" altLang="en-US" dirty="0" smtClean="0"/>
              <a:t>，通常来说这个测试的效果是不错的；如果</a:t>
            </a:r>
            <a:r>
              <a:rPr lang="en-US" altLang="zh-CN" dirty="0" err="1" smtClean="0"/>
              <a:t>IoU</a:t>
            </a:r>
            <a:r>
              <a:rPr lang="zh-CN" altLang="en-US" dirty="0" smtClean="0"/>
              <a:t>的值小于</a:t>
            </a:r>
            <a:r>
              <a:rPr lang="en-US" altLang="zh-CN" dirty="0" smtClean="0"/>
              <a:t>0.5</a:t>
            </a:r>
            <a:r>
              <a:rPr lang="zh-CN" altLang="en-US" dirty="0" smtClean="0"/>
              <a:t>，那么很明显目标检测的效果不太理想。如果</a:t>
            </a:r>
            <a:r>
              <a:rPr lang="en-US" altLang="zh-CN" dirty="0" err="1" smtClean="0"/>
              <a:t>IoU</a:t>
            </a:r>
            <a:r>
              <a:rPr lang="zh-CN" altLang="en-US" dirty="0" smtClean="0"/>
              <a:t>的值在</a:t>
            </a:r>
            <a:r>
              <a:rPr lang="en-US" altLang="zh-CN" dirty="0" smtClean="0"/>
              <a:t>0.7</a:t>
            </a:r>
            <a:r>
              <a:rPr lang="zh-CN" altLang="en-US" dirty="0" smtClean="0"/>
              <a:t>左右，则说明真值框和预测框的位置已经很接近了；如果</a:t>
            </a:r>
            <a:r>
              <a:rPr lang="en-US" altLang="zh-CN" dirty="0" err="1" smtClean="0"/>
              <a:t>IoU</a:t>
            </a:r>
            <a:r>
              <a:rPr lang="zh-CN" altLang="en-US" dirty="0" smtClean="0"/>
              <a:t>的值在</a:t>
            </a:r>
            <a:r>
              <a:rPr lang="en-US" altLang="zh-CN" dirty="0" smtClean="0"/>
              <a:t>0.9</a:t>
            </a:r>
            <a:r>
              <a:rPr lang="zh-CN" altLang="en-US" dirty="0" smtClean="0"/>
              <a:t>左右，则说明目标检测算法在测试集上的效果非常优秀。</a:t>
            </a:r>
            <a:r>
              <a:rPr lang="en-US" altLang="zh-CN" dirty="0" err="1" smtClean="0"/>
              <a:t>IoU</a:t>
            </a:r>
            <a:r>
              <a:rPr lang="zh-CN" altLang="en-US" dirty="0" smtClean="0"/>
              <a:t>是目前目标检测领域使用最广泛的检测框损失函数。</a:t>
            </a:r>
            <a:endParaRPr lang="en-US" altLang="zh-CN" dirty="0" smtClean="0"/>
          </a:p>
          <a:p>
            <a:r>
              <a:rPr lang="zh-CN" altLang="en-US" dirty="0" smtClean="0"/>
              <a:t>在</a:t>
            </a:r>
            <a:r>
              <a:rPr lang="en-US" altLang="zh-CN" dirty="0" err="1" smtClean="0"/>
              <a:t>IoU</a:t>
            </a:r>
            <a:r>
              <a:rPr lang="zh-CN" altLang="en-US" dirty="0" smtClean="0"/>
              <a:t>基础上进行优化，衍生了</a:t>
            </a:r>
            <a:r>
              <a:rPr lang="en-US" altLang="zh-CN" dirty="0" err="1" smtClean="0"/>
              <a:t>GIoU</a:t>
            </a:r>
            <a:r>
              <a:rPr lang="zh-CN" altLang="en-US" dirty="0" smtClean="0"/>
              <a:t>、</a:t>
            </a:r>
            <a:r>
              <a:rPr lang="en-US" altLang="zh-CN" dirty="0" err="1" smtClean="0"/>
              <a:t>DIoU</a:t>
            </a:r>
            <a:r>
              <a:rPr lang="zh-CN" altLang="en-US" dirty="0" smtClean="0"/>
              <a:t>、</a:t>
            </a:r>
            <a:r>
              <a:rPr lang="en-US" altLang="zh-CN" dirty="0" err="1" smtClean="0"/>
              <a:t>CIoU</a:t>
            </a:r>
            <a:r>
              <a:rPr lang="zh-CN" altLang="en-US" dirty="0" smtClean="0"/>
              <a:t>等计算方式。我们在后续实验，训练模型的过程中一般设</a:t>
            </a:r>
            <a:r>
              <a:rPr lang="en-US" altLang="zh-CN" dirty="0" err="1" smtClean="0"/>
              <a:t>IoU</a:t>
            </a:r>
            <a:r>
              <a:rPr lang="zh-CN" altLang="en-US" dirty="0" smtClean="0"/>
              <a:t>阈值为</a:t>
            </a:r>
            <a:r>
              <a:rPr lang="en-US" altLang="zh-CN" dirty="0" smtClean="0"/>
              <a:t>0.5</a:t>
            </a:r>
            <a:r>
              <a:rPr lang="zh-CN" altLang="en-US" dirty="0" smtClean="0"/>
              <a:t>，即</a:t>
            </a:r>
            <a:r>
              <a:rPr lang="en-US" altLang="zh-CN" dirty="0" err="1" smtClean="0"/>
              <a:t>IoU</a:t>
            </a:r>
            <a:r>
              <a:rPr lang="zh-CN" altLang="en-US" dirty="0" smtClean="0"/>
              <a:t>大于</a:t>
            </a:r>
            <a:r>
              <a:rPr lang="en-US" altLang="zh-CN" dirty="0" smtClean="0"/>
              <a:t>0.5</a:t>
            </a:r>
            <a:r>
              <a:rPr lang="zh-CN" altLang="en-US" dirty="0" smtClean="0"/>
              <a:t>归为成功检测，</a:t>
            </a:r>
            <a:r>
              <a:rPr lang="en-US" altLang="zh-CN" dirty="0" err="1" smtClean="0"/>
              <a:t>IoU</a:t>
            </a:r>
            <a:r>
              <a:rPr lang="zh-CN" altLang="en-US" dirty="0" smtClean="0"/>
              <a:t>小于</a:t>
            </a:r>
            <a:r>
              <a:rPr lang="en-US" altLang="zh-CN" dirty="0" smtClean="0"/>
              <a:t>0.5</a:t>
            </a:r>
            <a:r>
              <a:rPr lang="zh-CN" altLang="en-US" dirty="0" smtClean="0"/>
              <a:t>的归为失败检测，当然也可以根据不同需要调整</a:t>
            </a:r>
            <a:r>
              <a:rPr lang="en-US" altLang="zh-CN" dirty="0" err="1" smtClean="0"/>
              <a:t>IoU</a:t>
            </a:r>
            <a:r>
              <a:rPr lang="zh-CN" altLang="en-US" dirty="0" smtClean="0"/>
              <a:t>的值。</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05218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NMS(Non Maximum Suppression,</a:t>
            </a:r>
            <a:r>
              <a:rPr lang="zh-CN" altLang="en-US" dirty="0" smtClean="0"/>
              <a:t>非极大值抑制）是目前检测算法常用的后处理操作，在目标检测算法中，我们希望每个目标都有一个预测框可以准确地圈出目标的位置并给出预测类别。检测模型的输出预测框之间可能存在重叠，比如图中针对某一个目标可能存在多个“车辆”的矩形框，此时我们需要判断哪些框有用，哪些框无用，如图所示。</a:t>
            </a:r>
            <a:endParaRPr lang="en-US" altLang="zh-CN" dirty="0" smtClean="0"/>
          </a:p>
          <a:p>
            <a:r>
              <a:rPr lang="zh-CN" altLang="en-US" dirty="0" smtClean="0"/>
              <a:t>想定位一辆车，算法找出了一堆方框，我们需要筛出哪些矩形框是没用的。非极大值抑制的方法是先假设有</a:t>
            </a:r>
            <a:r>
              <a:rPr lang="en-US" altLang="zh-CN" dirty="0" smtClean="0"/>
              <a:t>6</a:t>
            </a:r>
            <a:r>
              <a:rPr lang="zh-CN" altLang="en-US" dirty="0" smtClean="0"/>
              <a:t>个矩形框，根据分类器的分类概率排序，从小到大属于车辆的概率分别为</a:t>
            </a:r>
            <a:r>
              <a:rPr lang="en-US" altLang="zh-CN" dirty="0" smtClean="0"/>
              <a:t>A</a:t>
            </a:r>
            <a:r>
              <a:rPr lang="zh-CN" altLang="en-US" dirty="0" smtClean="0"/>
              <a:t>、</a:t>
            </a:r>
            <a:r>
              <a:rPr lang="en-US" altLang="zh-CN" dirty="0" smtClean="0"/>
              <a:t>B</a:t>
            </a:r>
            <a:r>
              <a:rPr lang="zh-CN" altLang="en-US" dirty="0" smtClean="0"/>
              <a:t>、</a:t>
            </a:r>
            <a:r>
              <a:rPr lang="en-US" altLang="zh-CN" dirty="0" smtClean="0"/>
              <a:t>C</a:t>
            </a:r>
            <a:r>
              <a:rPr lang="zh-CN" altLang="en-US" dirty="0" smtClean="0"/>
              <a:t>、</a:t>
            </a:r>
            <a:r>
              <a:rPr lang="en-US" altLang="zh-CN" dirty="0" smtClean="0"/>
              <a:t>D</a:t>
            </a:r>
            <a:r>
              <a:rPr lang="zh-CN" altLang="en-US" dirty="0" smtClean="0"/>
              <a:t>、</a:t>
            </a:r>
            <a:r>
              <a:rPr lang="en-US" altLang="zh-CN" dirty="0" smtClean="0"/>
              <a:t>E</a:t>
            </a:r>
            <a:r>
              <a:rPr lang="zh-CN" altLang="en-US" dirty="0" smtClean="0"/>
              <a:t>、</a:t>
            </a:r>
            <a:r>
              <a:rPr lang="en-US" altLang="zh-CN" dirty="0" smtClean="0"/>
              <a:t>F</a:t>
            </a:r>
            <a:r>
              <a:rPr lang="zh-CN" altLang="en-US" dirty="0" smtClean="0"/>
              <a:t>。</a:t>
            </a:r>
            <a:endParaRPr lang="en-US" altLang="zh-CN" dirty="0" smtClean="0"/>
          </a:p>
          <a:p>
            <a:r>
              <a:rPr lang="zh-CN" altLang="en-US" dirty="0" smtClean="0"/>
              <a:t>从最大概率矩形框</a:t>
            </a:r>
            <a:r>
              <a:rPr lang="en-US" altLang="zh-CN" dirty="0" smtClean="0"/>
              <a:t>F</a:t>
            </a:r>
            <a:r>
              <a:rPr lang="zh-CN" altLang="en-US" dirty="0" smtClean="0"/>
              <a:t>开始，依次判断</a:t>
            </a:r>
            <a:r>
              <a:rPr lang="en-US" altLang="zh-CN" dirty="0" smtClean="0"/>
              <a:t>A</a:t>
            </a:r>
            <a:r>
              <a:rPr lang="zh-CN" altLang="en-US" dirty="0" smtClean="0"/>
              <a:t>～</a:t>
            </a:r>
            <a:r>
              <a:rPr lang="en-US" altLang="zh-CN" dirty="0" smtClean="0"/>
              <a:t>E</a:t>
            </a:r>
            <a:r>
              <a:rPr lang="zh-CN" altLang="en-US" dirty="0" smtClean="0"/>
              <a:t>与</a:t>
            </a:r>
            <a:r>
              <a:rPr lang="en-US" altLang="zh-CN" dirty="0" smtClean="0"/>
              <a:t>F</a:t>
            </a:r>
            <a:r>
              <a:rPr lang="zh-CN" altLang="en-US" dirty="0" smtClean="0"/>
              <a:t>的重叠度</a:t>
            </a:r>
            <a:r>
              <a:rPr lang="en-US" altLang="zh-CN" dirty="0" err="1" smtClean="0"/>
              <a:t>IoU</a:t>
            </a:r>
            <a:r>
              <a:rPr lang="zh-CN" altLang="en-US" dirty="0" smtClean="0"/>
              <a:t>是否大于某个设定的阈值。假设</a:t>
            </a:r>
            <a:r>
              <a:rPr lang="en-US" altLang="zh-CN" dirty="0" smtClean="0"/>
              <a:t>B</a:t>
            </a:r>
            <a:r>
              <a:rPr lang="zh-CN" altLang="en-US" dirty="0" smtClean="0"/>
              <a:t>、</a:t>
            </a:r>
            <a:r>
              <a:rPr lang="en-US" altLang="zh-CN" dirty="0" smtClean="0"/>
              <a:t>D</a:t>
            </a:r>
            <a:r>
              <a:rPr lang="zh-CN" altLang="en-US" dirty="0" smtClean="0"/>
              <a:t>与</a:t>
            </a:r>
            <a:r>
              <a:rPr lang="en-US" altLang="zh-CN" dirty="0" smtClean="0"/>
              <a:t>F</a:t>
            </a:r>
            <a:r>
              <a:rPr lang="zh-CN" altLang="en-US" dirty="0" smtClean="0"/>
              <a:t>的重叠度超过阈值，则抛弃</a:t>
            </a:r>
            <a:r>
              <a:rPr lang="en-US" altLang="zh-CN" dirty="0" smtClean="0"/>
              <a:t>B</a:t>
            </a:r>
            <a:r>
              <a:rPr lang="zh-CN" altLang="en-US" dirty="0" smtClean="0"/>
              <a:t>、</a:t>
            </a:r>
            <a:r>
              <a:rPr lang="en-US" altLang="zh-CN" dirty="0" smtClean="0"/>
              <a:t>D</a:t>
            </a:r>
            <a:r>
              <a:rPr lang="zh-CN" altLang="en-US" dirty="0" smtClean="0"/>
              <a:t>，保留第一个矩形框</a:t>
            </a:r>
            <a:r>
              <a:rPr lang="en-US" altLang="zh-CN" dirty="0" smtClean="0"/>
              <a:t>F</a:t>
            </a:r>
            <a:r>
              <a:rPr lang="zh-CN" altLang="en-US" dirty="0" smtClean="0"/>
              <a:t>。</a:t>
            </a:r>
            <a:endParaRPr lang="en-US" altLang="zh-CN" dirty="0" smtClean="0"/>
          </a:p>
          <a:p>
            <a:r>
              <a:rPr lang="zh-CN" altLang="en-US" dirty="0" smtClean="0"/>
              <a:t>从剩下的矩形框</a:t>
            </a:r>
            <a:r>
              <a:rPr lang="en-US" altLang="zh-CN" dirty="0" smtClean="0"/>
              <a:t>A</a:t>
            </a:r>
            <a:r>
              <a:rPr lang="zh-CN" altLang="en-US" dirty="0" smtClean="0"/>
              <a:t>、</a:t>
            </a:r>
            <a:r>
              <a:rPr lang="en-US" altLang="zh-CN" dirty="0" smtClean="0"/>
              <a:t>C</a:t>
            </a:r>
            <a:r>
              <a:rPr lang="zh-CN" altLang="en-US" dirty="0" smtClean="0"/>
              <a:t>、</a:t>
            </a:r>
            <a:r>
              <a:rPr lang="en-US" altLang="zh-CN" dirty="0" smtClean="0"/>
              <a:t>E</a:t>
            </a:r>
            <a:r>
              <a:rPr lang="zh-CN" altLang="en-US" dirty="0" smtClean="0"/>
              <a:t>中，选择概率最大的</a:t>
            </a:r>
            <a:r>
              <a:rPr lang="en-US" altLang="zh-CN" dirty="0" smtClean="0"/>
              <a:t>E</a:t>
            </a:r>
            <a:r>
              <a:rPr lang="zh-CN" altLang="en-US" dirty="0" smtClean="0"/>
              <a:t>，然后判断</a:t>
            </a:r>
            <a:r>
              <a:rPr lang="en-US" altLang="zh-CN" dirty="0" smtClean="0"/>
              <a:t>E</a:t>
            </a:r>
            <a:r>
              <a:rPr lang="zh-CN" altLang="en-US" dirty="0" smtClean="0"/>
              <a:t>与</a:t>
            </a:r>
            <a:r>
              <a:rPr lang="en-US" altLang="zh-CN" dirty="0" smtClean="0"/>
              <a:t>A</a:t>
            </a:r>
            <a:r>
              <a:rPr lang="zh-CN" altLang="en-US" dirty="0" smtClean="0"/>
              <a:t>、</a:t>
            </a:r>
            <a:r>
              <a:rPr lang="en-US" altLang="zh-CN" dirty="0" smtClean="0"/>
              <a:t>C</a:t>
            </a:r>
            <a:r>
              <a:rPr lang="zh-CN" altLang="en-US" dirty="0" smtClean="0"/>
              <a:t>的重叠度，重叠度大于一定的阈值，则抛弃</a:t>
            </a:r>
            <a:r>
              <a:rPr lang="en-US" altLang="zh-CN" dirty="0" smtClean="0"/>
              <a:t>A</a:t>
            </a:r>
            <a:r>
              <a:rPr lang="zh-CN" altLang="en-US" dirty="0" smtClean="0"/>
              <a:t>、</a:t>
            </a:r>
            <a:r>
              <a:rPr lang="en-US" altLang="zh-CN" dirty="0" smtClean="0"/>
              <a:t>C</a:t>
            </a:r>
            <a:r>
              <a:rPr lang="zh-CN" altLang="en-US" dirty="0" smtClean="0"/>
              <a:t>，并标记</a:t>
            </a:r>
            <a:r>
              <a:rPr lang="en-US" altLang="zh-CN" dirty="0" smtClean="0"/>
              <a:t>E</a:t>
            </a:r>
            <a:r>
              <a:rPr lang="zh-CN" altLang="en-US" dirty="0" smtClean="0"/>
              <a:t>是我们保留下来的第二个矩形框。就这样一直重复上述过程，直到找到所有被保留下来的矩形框。</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67827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我们通过一个例子进行说明。上表中</a:t>
            </a:r>
            <a:r>
              <a:rPr lang="en-US" altLang="zh-CN" dirty="0" smtClean="0"/>
              <a:t>5</a:t>
            </a:r>
            <a:r>
              <a:rPr lang="zh-CN" altLang="en-US" dirty="0" smtClean="0"/>
              <a:t>个预测框已经按照类别置信度从大到小进行排序，首先选置信度最高的</a:t>
            </a:r>
            <a:r>
              <a:rPr lang="en-US" altLang="zh-CN" dirty="0" smtClean="0"/>
              <a:t>bbox1</a:t>
            </a:r>
            <a:r>
              <a:rPr lang="zh-CN" altLang="en-US" dirty="0" smtClean="0"/>
              <a:t>，与剩下非</a:t>
            </a:r>
            <a:r>
              <a:rPr lang="en-US" altLang="zh-CN" dirty="0" smtClean="0"/>
              <a:t>0</a:t>
            </a:r>
            <a:r>
              <a:rPr lang="zh-CN" altLang="en-US" dirty="0" smtClean="0"/>
              <a:t>置信度的预测框进行</a:t>
            </a:r>
            <a:r>
              <a:rPr lang="en-US" altLang="zh-CN" dirty="0" err="1" smtClean="0"/>
              <a:t>IoU</a:t>
            </a:r>
            <a:r>
              <a:rPr lang="zh-CN" altLang="en-US" dirty="0" smtClean="0"/>
              <a:t>计算，将</a:t>
            </a:r>
            <a:r>
              <a:rPr lang="en-US" altLang="zh-CN" dirty="0" err="1" smtClean="0"/>
              <a:t>IoU</a:t>
            </a:r>
            <a:r>
              <a:rPr lang="zh-CN" altLang="en-US" dirty="0" smtClean="0"/>
              <a:t>大于设定阈值（假设阈值为</a:t>
            </a:r>
            <a:r>
              <a:rPr lang="en-US" altLang="zh-CN" dirty="0" smtClean="0"/>
              <a:t>0.5</a:t>
            </a:r>
            <a:r>
              <a:rPr lang="zh-CN" altLang="en-US" dirty="0" smtClean="0"/>
              <a:t>）的预测框置信度设置为</a:t>
            </a:r>
            <a:r>
              <a:rPr lang="en-US" altLang="zh-CN" dirty="0" smtClean="0"/>
              <a:t>0</a:t>
            </a:r>
            <a:r>
              <a:rPr lang="zh-CN" altLang="en-US" dirty="0" smtClean="0"/>
              <a:t>，比如</a:t>
            </a:r>
            <a:r>
              <a:rPr lang="en-US" altLang="zh-CN" dirty="0" smtClean="0"/>
              <a:t>bbox1</a:t>
            </a:r>
            <a:r>
              <a:rPr lang="zh-CN" altLang="en-US" dirty="0" smtClean="0"/>
              <a:t>和</a:t>
            </a:r>
            <a:r>
              <a:rPr lang="en-US" altLang="zh-CN" dirty="0" smtClean="0"/>
              <a:t>bbox2</a:t>
            </a:r>
            <a:r>
              <a:rPr lang="zh-CN" altLang="en-US" dirty="0" smtClean="0"/>
              <a:t>的</a:t>
            </a:r>
            <a:r>
              <a:rPr lang="en-US" altLang="zh-CN" dirty="0" err="1" smtClean="0"/>
              <a:t>IoU</a:t>
            </a:r>
            <a:r>
              <a:rPr lang="zh-CN" altLang="en-US" dirty="0" smtClean="0"/>
              <a:t>大于</a:t>
            </a:r>
            <a:r>
              <a:rPr lang="en-US" altLang="zh-CN" dirty="0" smtClean="0"/>
              <a:t>0.5</a:t>
            </a:r>
            <a:r>
              <a:rPr lang="zh-CN" altLang="en-US" dirty="0" smtClean="0"/>
              <a:t>，则将</a:t>
            </a:r>
            <a:r>
              <a:rPr lang="en-US" altLang="zh-CN" dirty="0" smtClean="0"/>
              <a:t>bbox2</a:t>
            </a:r>
            <a:r>
              <a:rPr lang="zh-CN" altLang="en-US" dirty="0" smtClean="0"/>
              <a:t>的类别置信度置为</a:t>
            </a:r>
            <a:r>
              <a:rPr lang="en-US" altLang="zh-CN" dirty="0" smtClean="0"/>
              <a:t>0</a:t>
            </a:r>
            <a:r>
              <a:rPr lang="zh-CN" altLang="en-US" dirty="0" smtClean="0"/>
              <a:t>；</a:t>
            </a:r>
            <a:r>
              <a:rPr lang="en-US" altLang="zh-CN" dirty="0" smtClean="0"/>
              <a:t>bbox1</a:t>
            </a:r>
            <a:r>
              <a:rPr lang="zh-CN" altLang="en-US" dirty="0" smtClean="0"/>
              <a:t>和</a:t>
            </a:r>
            <a:r>
              <a:rPr lang="en-US" altLang="zh-CN" dirty="0" smtClean="0"/>
              <a:t>bbox3</a:t>
            </a:r>
            <a:r>
              <a:rPr lang="zh-CN" altLang="en-US" dirty="0" smtClean="0"/>
              <a:t>的</a:t>
            </a:r>
            <a:r>
              <a:rPr lang="en-US" altLang="zh-CN" dirty="0" err="1" smtClean="0"/>
              <a:t>IoU</a:t>
            </a:r>
            <a:r>
              <a:rPr lang="zh-CN" altLang="en-US" dirty="0" smtClean="0"/>
              <a:t>小于</a:t>
            </a:r>
            <a:r>
              <a:rPr lang="en-US" altLang="zh-CN" dirty="0" smtClean="0"/>
              <a:t>0.5</a:t>
            </a:r>
            <a:r>
              <a:rPr lang="zh-CN" altLang="en-US" dirty="0" smtClean="0"/>
              <a:t>，则不对</a:t>
            </a:r>
            <a:r>
              <a:rPr lang="en-US" altLang="zh-CN" dirty="0" smtClean="0"/>
              <a:t>bbox3</a:t>
            </a:r>
            <a:r>
              <a:rPr lang="zh-CN" altLang="en-US" dirty="0" smtClean="0"/>
              <a:t>进行操作；</a:t>
            </a:r>
            <a:r>
              <a:rPr lang="en-US" altLang="zh-CN" dirty="0" smtClean="0"/>
              <a:t>bbox1</a:t>
            </a:r>
            <a:r>
              <a:rPr lang="zh-CN" altLang="en-US" dirty="0" smtClean="0"/>
              <a:t>和</a:t>
            </a:r>
            <a:r>
              <a:rPr lang="en-US" altLang="zh-CN" dirty="0" smtClean="0"/>
              <a:t>bbox4</a:t>
            </a:r>
            <a:r>
              <a:rPr lang="zh-CN" altLang="en-US" dirty="0" smtClean="0"/>
              <a:t>的</a:t>
            </a:r>
            <a:r>
              <a:rPr lang="en-US" altLang="zh-CN" dirty="0" err="1" smtClean="0"/>
              <a:t>IoU</a:t>
            </a:r>
            <a:r>
              <a:rPr lang="zh-CN" altLang="en-US" dirty="0" smtClean="0"/>
              <a:t>大于</a:t>
            </a:r>
            <a:r>
              <a:rPr lang="en-US" altLang="zh-CN" dirty="0" smtClean="0"/>
              <a:t>0.5</a:t>
            </a:r>
            <a:r>
              <a:rPr lang="zh-CN" altLang="en-US" dirty="0" smtClean="0"/>
              <a:t>，则将</a:t>
            </a:r>
            <a:r>
              <a:rPr lang="en-US" altLang="zh-CN" dirty="0" smtClean="0"/>
              <a:t>bbox4</a:t>
            </a:r>
            <a:r>
              <a:rPr lang="zh-CN" altLang="en-US" dirty="0" smtClean="0"/>
              <a:t>的类别置信度置为</a:t>
            </a:r>
            <a:r>
              <a:rPr lang="en-US" altLang="zh-CN" dirty="0" smtClean="0"/>
              <a:t>0</a:t>
            </a:r>
            <a:r>
              <a:rPr lang="zh-CN" altLang="en-US" dirty="0" smtClean="0"/>
              <a:t>；</a:t>
            </a:r>
            <a:r>
              <a:rPr lang="en-US" altLang="zh-CN" dirty="0" smtClean="0"/>
              <a:t>bbox1</a:t>
            </a:r>
            <a:r>
              <a:rPr lang="zh-CN" altLang="en-US" dirty="0" smtClean="0"/>
              <a:t>和</a:t>
            </a:r>
            <a:r>
              <a:rPr lang="en-US" altLang="zh-CN" dirty="0" smtClean="0"/>
              <a:t>bbox5</a:t>
            </a:r>
            <a:r>
              <a:rPr lang="zh-CN" altLang="en-US" dirty="0" smtClean="0"/>
              <a:t>的</a:t>
            </a:r>
            <a:r>
              <a:rPr lang="en-US" altLang="zh-CN" dirty="0" err="1" smtClean="0"/>
              <a:t>IoU</a:t>
            </a:r>
            <a:r>
              <a:rPr lang="zh-CN" altLang="en-US" dirty="0" smtClean="0"/>
              <a:t>小于</a:t>
            </a:r>
            <a:r>
              <a:rPr lang="en-US" altLang="zh-CN" dirty="0" smtClean="0"/>
              <a:t>0.5</a:t>
            </a:r>
            <a:r>
              <a:rPr lang="zh-CN" altLang="en-US" dirty="0" smtClean="0"/>
              <a:t>，则不对</a:t>
            </a:r>
            <a:r>
              <a:rPr lang="en-US" altLang="zh-CN" dirty="0" smtClean="0"/>
              <a:t>bbox5</a:t>
            </a:r>
            <a:r>
              <a:rPr lang="zh-CN" altLang="en-US" dirty="0" smtClean="0"/>
              <a:t>进行操作。第一轮过滤后可得以下这个表，标记</a:t>
            </a:r>
            <a:r>
              <a:rPr lang="en-US" altLang="zh-CN" dirty="0" smtClean="0"/>
              <a:t>bbox1</a:t>
            </a:r>
            <a:r>
              <a:rPr lang="zh-CN" altLang="en-US" dirty="0" smtClean="0"/>
              <a:t>不再参与后续的</a:t>
            </a:r>
            <a:r>
              <a:rPr lang="en-US" altLang="zh-CN" dirty="0" smtClean="0"/>
              <a:t>NMS</a:t>
            </a:r>
            <a:r>
              <a:rPr lang="zh-CN" altLang="en-US" dirty="0" smtClean="0"/>
              <a:t>计算了。</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54819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接下来选择</a:t>
            </a:r>
            <a:r>
              <a:rPr lang="en-US" altLang="zh-CN" sz="1200" b="0" i="0" kern="1200" dirty="0" smtClean="0">
                <a:solidFill>
                  <a:schemeClr val="tx1"/>
                </a:solidFill>
                <a:effectLst/>
                <a:latin typeface="+mn-lt"/>
                <a:ea typeface="+mn-ea"/>
                <a:cs typeface="+mn-cs"/>
              </a:rPr>
              <a:t>bbox1</a:t>
            </a:r>
            <a:r>
              <a:rPr lang="zh-CN" altLang="en-US" sz="1200" b="0" i="0" kern="1200" dirty="0" smtClean="0">
                <a:solidFill>
                  <a:schemeClr val="tx1"/>
                </a:solidFill>
                <a:effectLst/>
                <a:latin typeface="+mn-lt"/>
                <a:ea typeface="+mn-ea"/>
                <a:cs typeface="+mn-cs"/>
              </a:rPr>
              <a:t>之外类别置信度最高的预测框，也就是</a:t>
            </a:r>
            <a:r>
              <a:rPr lang="en-US" altLang="zh-CN" sz="1200" b="0" i="0" kern="1200" dirty="0" smtClean="0">
                <a:solidFill>
                  <a:schemeClr val="tx1"/>
                </a:solidFill>
                <a:effectLst/>
                <a:latin typeface="+mn-lt"/>
                <a:ea typeface="+mn-ea"/>
                <a:cs typeface="+mn-cs"/>
              </a:rPr>
              <a:t>bbox3</a:t>
            </a:r>
            <a:r>
              <a:rPr lang="zh-CN" altLang="en-US" sz="1200" b="0" i="0" kern="1200" dirty="0" smtClean="0">
                <a:solidFill>
                  <a:schemeClr val="tx1"/>
                </a:solidFill>
                <a:effectLst/>
                <a:latin typeface="+mn-lt"/>
                <a:ea typeface="+mn-ea"/>
                <a:cs typeface="+mn-cs"/>
              </a:rPr>
              <a:t>，计算</a:t>
            </a:r>
            <a:r>
              <a:rPr lang="en-US" altLang="zh-CN" sz="1200" b="0" i="0" kern="1200" dirty="0" smtClean="0">
                <a:solidFill>
                  <a:schemeClr val="tx1"/>
                </a:solidFill>
                <a:effectLst/>
                <a:latin typeface="+mn-lt"/>
                <a:ea typeface="+mn-ea"/>
                <a:cs typeface="+mn-cs"/>
              </a:rPr>
              <a:t>bbox3</a:t>
            </a:r>
            <a:r>
              <a:rPr lang="zh-CN" altLang="en-US" sz="1200" b="0" i="0" kern="1200" dirty="0" smtClean="0">
                <a:solidFill>
                  <a:schemeClr val="tx1"/>
                </a:solidFill>
                <a:effectLst/>
                <a:latin typeface="+mn-lt"/>
                <a:ea typeface="+mn-ea"/>
                <a:cs typeface="+mn-cs"/>
              </a:rPr>
              <a:t>与其他剩余的类别置信度非</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的预测框的</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（不包括</a:t>
            </a:r>
            <a:r>
              <a:rPr lang="en-US" altLang="zh-CN" sz="1200" b="0" i="0" kern="1200" dirty="0" smtClean="0">
                <a:solidFill>
                  <a:schemeClr val="tx1"/>
                </a:solidFill>
                <a:effectLst/>
                <a:latin typeface="+mn-lt"/>
                <a:ea typeface="+mn-ea"/>
                <a:cs typeface="+mn-cs"/>
              </a:rPr>
              <a:t>bbox1</a:t>
            </a:r>
            <a:r>
              <a:rPr lang="zh-CN" altLang="en-US" sz="1200" b="0" i="0" kern="1200" dirty="0" smtClean="0">
                <a:solidFill>
                  <a:schemeClr val="tx1"/>
                </a:solidFill>
                <a:effectLst/>
                <a:latin typeface="+mn-lt"/>
                <a:ea typeface="+mn-ea"/>
                <a:cs typeface="+mn-cs"/>
              </a:rPr>
              <a:t>）。假设</a:t>
            </a:r>
            <a:r>
              <a:rPr lang="en-US" altLang="zh-CN" sz="1200" b="0" i="0" kern="1200" dirty="0" smtClean="0">
                <a:solidFill>
                  <a:schemeClr val="tx1"/>
                </a:solidFill>
                <a:effectLst/>
                <a:latin typeface="+mn-lt"/>
                <a:ea typeface="+mn-ea"/>
                <a:cs typeface="+mn-cs"/>
              </a:rPr>
              <a:t>bbox3</a:t>
            </a:r>
            <a:r>
              <a:rPr lang="zh-CN" altLang="en-US" sz="1200" b="0" i="0" kern="1200" dirty="0" smtClean="0">
                <a:solidFill>
                  <a:schemeClr val="tx1"/>
                </a:solidFill>
                <a:effectLst/>
                <a:latin typeface="+mn-lt"/>
                <a:ea typeface="+mn-ea"/>
                <a:cs typeface="+mn-cs"/>
              </a:rPr>
              <a:t>与</a:t>
            </a:r>
            <a:r>
              <a:rPr lang="en-US" altLang="zh-CN" sz="1200" b="0" i="0" kern="1200" dirty="0" smtClean="0">
                <a:solidFill>
                  <a:schemeClr val="tx1"/>
                </a:solidFill>
                <a:effectLst/>
                <a:latin typeface="+mn-lt"/>
                <a:ea typeface="+mn-ea"/>
                <a:cs typeface="+mn-cs"/>
              </a:rPr>
              <a:t>bbox5</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大于</a:t>
            </a:r>
            <a:r>
              <a:rPr lang="en-US" altLang="zh-CN" sz="1200" b="0" i="0" kern="1200" dirty="0" smtClean="0">
                <a:solidFill>
                  <a:schemeClr val="tx1"/>
                </a:solidFill>
                <a:effectLst/>
                <a:latin typeface="+mn-lt"/>
                <a:ea typeface="+mn-ea"/>
                <a:cs typeface="+mn-cs"/>
              </a:rPr>
              <a:t>0.5</a:t>
            </a:r>
            <a:r>
              <a:rPr lang="zh-CN" altLang="en-US" sz="1200" b="0" i="0" kern="1200" dirty="0" smtClean="0">
                <a:solidFill>
                  <a:schemeClr val="tx1"/>
                </a:solidFill>
                <a:effectLst/>
                <a:latin typeface="+mn-lt"/>
                <a:ea typeface="+mn-ea"/>
                <a:cs typeface="+mn-cs"/>
              </a:rPr>
              <a:t>，则将</a:t>
            </a:r>
            <a:r>
              <a:rPr lang="en-US" altLang="zh-CN" sz="1200" b="0" i="0" kern="1200" dirty="0" smtClean="0">
                <a:solidFill>
                  <a:schemeClr val="tx1"/>
                </a:solidFill>
                <a:effectLst/>
                <a:latin typeface="+mn-lt"/>
                <a:ea typeface="+mn-ea"/>
                <a:cs typeface="+mn-cs"/>
              </a:rPr>
              <a:t>bbox5</a:t>
            </a:r>
            <a:r>
              <a:rPr lang="zh-CN" altLang="en-US" sz="1200" b="0" i="0" kern="1200" dirty="0" smtClean="0">
                <a:solidFill>
                  <a:schemeClr val="tx1"/>
                </a:solidFill>
                <a:effectLst/>
                <a:latin typeface="+mn-lt"/>
                <a:ea typeface="+mn-ea"/>
                <a:cs typeface="+mn-cs"/>
              </a:rPr>
              <a:t>的类别置信度置为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，这样就得到了最终过滤后的预测框</a:t>
            </a:r>
            <a:r>
              <a:rPr lang="en-US" altLang="zh-CN" sz="1200" b="0" i="0" kern="1200" dirty="0" smtClean="0">
                <a:solidFill>
                  <a:schemeClr val="tx1"/>
                </a:solidFill>
                <a:effectLst/>
                <a:latin typeface="+mn-lt"/>
                <a:ea typeface="+mn-ea"/>
                <a:cs typeface="+mn-cs"/>
              </a:rPr>
              <a:t>bbox1</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bbox3</a:t>
            </a:r>
            <a:r>
              <a:rPr lang="zh-CN" altLang="en-US" sz="1200" b="0" i="0" kern="1200" dirty="0" smtClean="0">
                <a:solidFill>
                  <a:schemeClr val="tx1"/>
                </a:solidFill>
                <a:effectLst/>
                <a:latin typeface="+mn-lt"/>
                <a:ea typeface="+mn-ea"/>
                <a:cs typeface="+mn-cs"/>
              </a:rPr>
              <a:t>了。</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47232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NMS</a:t>
            </a:r>
            <a:r>
              <a:rPr lang="zh-CN" altLang="en-US" dirty="0" smtClean="0"/>
              <a:t>操作效果如图。同样地，在传统</a:t>
            </a:r>
            <a:r>
              <a:rPr lang="en-US" altLang="zh-CN" dirty="0" smtClean="0"/>
              <a:t>NMS</a:t>
            </a:r>
            <a:r>
              <a:rPr lang="zh-CN" altLang="en-US" dirty="0" smtClean="0"/>
              <a:t>基础上还衍生出其他</a:t>
            </a:r>
            <a:r>
              <a:rPr lang="en-US" altLang="zh-CN" dirty="0" smtClean="0"/>
              <a:t>NMS</a:t>
            </a:r>
            <a:r>
              <a:rPr lang="zh-CN" altLang="en-US" dirty="0" smtClean="0"/>
              <a:t>操作，如带权重的</a:t>
            </a:r>
            <a:r>
              <a:rPr lang="en-US" altLang="zh-CN" dirty="0" smtClean="0"/>
              <a:t>NMS</a:t>
            </a:r>
            <a:r>
              <a:rPr lang="zh-CN" altLang="en-US" dirty="0" smtClean="0"/>
              <a:t>、考虑定位的</a:t>
            </a:r>
            <a:r>
              <a:rPr lang="en-US" altLang="zh-CN" dirty="0" smtClean="0"/>
              <a:t>NMS</a:t>
            </a:r>
            <a:r>
              <a:rPr lang="zh-CN" altLang="en-US" dirty="0" smtClean="0"/>
              <a:t>、自适应</a:t>
            </a:r>
            <a:r>
              <a:rPr lang="en-US" altLang="zh-CN" dirty="0" smtClean="0"/>
              <a:t>NMS</a:t>
            </a:r>
            <a:r>
              <a:rPr lang="zh-CN" altLang="en-US" dirty="0" smtClean="0"/>
              <a:t>等。</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70501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感受野（</a:t>
            </a:r>
            <a:r>
              <a:rPr lang="en-US" altLang="zh-CN" dirty="0" smtClean="0"/>
              <a:t>receptive field</a:t>
            </a:r>
            <a:r>
              <a:rPr lang="zh-CN" altLang="en-US" dirty="0" smtClean="0"/>
              <a:t>）是卷积神经网络（</a:t>
            </a:r>
            <a:r>
              <a:rPr lang="en-US" altLang="zh-CN" dirty="0" smtClean="0"/>
              <a:t>CNN</a:t>
            </a:r>
            <a:r>
              <a:rPr lang="zh-CN" altLang="en-US" dirty="0" smtClean="0"/>
              <a:t>）中一个非常核心的概念。从直观上讲，感受野就是视觉感受区域的大小。在卷积神经网络中，感受野的定义是决定某一层输出结果中一个元素对应的输入层的区域大小。</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13030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为了更好地说明整个卷积神经网络的工作过程，下面用一个示例加以说明。假设输入层大小为</a:t>
            </a:r>
            <a:r>
              <a:rPr lang="en-US" altLang="zh-CN" dirty="0" smtClean="0"/>
              <a:t>10×10</a:t>
            </a:r>
            <a:r>
              <a:rPr lang="zh-CN" altLang="en-US" dirty="0" smtClean="0"/>
              <a:t>，一共设计了</a:t>
            </a:r>
            <a:r>
              <a:rPr lang="en-US" altLang="zh-CN" dirty="0" smtClean="0"/>
              <a:t>5</a:t>
            </a:r>
            <a:r>
              <a:rPr lang="zh-CN" altLang="en-US" dirty="0" smtClean="0"/>
              <a:t>个网络层，前面</a:t>
            </a:r>
            <a:r>
              <a:rPr lang="en-US" altLang="zh-CN" dirty="0" smtClean="0"/>
              <a:t>4</a:t>
            </a:r>
            <a:r>
              <a:rPr lang="zh-CN" altLang="en-US" dirty="0" smtClean="0"/>
              <a:t>个是卷积层，卷积核的大小为</a:t>
            </a:r>
            <a:r>
              <a:rPr lang="en-US" altLang="zh-CN" dirty="0" smtClean="0"/>
              <a:t>3×3</a:t>
            </a:r>
            <a:r>
              <a:rPr lang="zh-CN" altLang="en-US" dirty="0" smtClean="0"/>
              <a:t>，最后一个是池化层，大小为</a:t>
            </a:r>
            <a:r>
              <a:rPr lang="en-US" altLang="zh-CN" dirty="0" smtClean="0"/>
              <a:t>2×2</a:t>
            </a:r>
            <a:r>
              <a:rPr lang="zh-CN" altLang="en-US" dirty="0" smtClean="0"/>
              <a:t>，本次所有步长（</a:t>
            </a:r>
            <a:r>
              <a:rPr lang="en-US" altLang="zh-CN" dirty="0" smtClean="0"/>
              <a:t>stride</a:t>
            </a:r>
            <a:r>
              <a:rPr lang="zh-CN" altLang="en-US" dirty="0" smtClean="0"/>
              <a:t>）均为</a:t>
            </a:r>
            <a:r>
              <a:rPr lang="en-US" altLang="zh-CN" dirty="0" smtClean="0"/>
              <a:t>1</a:t>
            </a:r>
            <a:r>
              <a:rPr lang="zh-CN" altLang="en-US" dirty="0" smtClean="0"/>
              <a:t>。</a:t>
            </a:r>
            <a:endParaRPr lang="en-US" altLang="zh-CN" dirty="0" smtClean="0"/>
          </a:p>
          <a:p>
            <a:r>
              <a:rPr lang="zh-CN" altLang="en-US" dirty="0" smtClean="0"/>
              <a:t>注意：感受野在计算的时候不考虑“边界填充”，这是因为填充的边界已经不是输入层本身的内容了，感受野描述的是输出特征到输入层的映射关系，故不考虑</a:t>
            </a:r>
            <a:r>
              <a:rPr lang="en-US" altLang="zh-CN" dirty="0" smtClean="0"/>
              <a:t>padding</a:t>
            </a:r>
            <a:r>
              <a:rPr lang="zh-CN" altLang="en-US" dirty="0" smtClean="0"/>
              <a:t>操作。实际在建模过程中可能需要填充边界，原理一样，只是计算过程稍微复杂一些。</a:t>
            </a:r>
            <a:endParaRPr lang="en-US" altLang="zh-CN" dirty="0" smtClean="0"/>
          </a:p>
          <a:p>
            <a:r>
              <a:rPr lang="zh-CN" altLang="en-US" dirty="0" smtClean="0"/>
              <a:t>第一次卷积运算如图所示。</a:t>
            </a:r>
            <a:endParaRPr lang="en-US" altLang="zh-CN" dirty="0" smtClean="0"/>
          </a:p>
          <a:p>
            <a:r>
              <a:rPr lang="zh-CN" altLang="en-US" dirty="0" smtClean="0"/>
              <a:t>从图中可以看出，第一层网络输出的图像中，输出结果为</a:t>
            </a:r>
            <a:r>
              <a:rPr lang="en-US" altLang="zh-CN" dirty="0" smtClean="0"/>
              <a:t>8×8</a:t>
            </a:r>
            <a:r>
              <a:rPr lang="zh-CN" altLang="en-US" dirty="0" smtClean="0"/>
              <a:t>，输出</a:t>
            </a:r>
            <a:r>
              <a:rPr lang="en-US" altLang="zh-CN" dirty="0" smtClean="0"/>
              <a:t>1</a:t>
            </a:r>
            <a:r>
              <a:rPr lang="zh-CN" altLang="en-US" dirty="0" smtClean="0"/>
              <a:t>输出的每一个特征（即每一个像素）都受到输入层</a:t>
            </a:r>
            <a:r>
              <a:rPr lang="en-US" altLang="zh-CN" dirty="0" smtClean="0"/>
              <a:t>3×3</a:t>
            </a:r>
            <a:r>
              <a:rPr lang="zh-CN" altLang="en-US" dirty="0" smtClean="0"/>
              <a:t>区域内的影响，故第一层的感受野为</a:t>
            </a:r>
            <a:r>
              <a:rPr lang="en-US" altLang="zh-CN" dirty="0" smtClean="0"/>
              <a:t>3</a:t>
            </a:r>
            <a:r>
              <a:rPr lang="zh-CN" altLang="en-US" dirty="0" smtClean="0"/>
              <a:t>，即</a:t>
            </a:r>
            <a:r>
              <a:rPr lang="en-US" altLang="zh-CN" dirty="0" smtClean="0"/>
              <a:t>RF1=3</a:t>
            </a:r>
            <a:r>
              <a:rPr lang="zh-CN" altLang="en-US" dirty="0" smtClean="0"/>
              <a:t>（每一个像素值的输入层的</a:t>
            </a:r>
            <a:r>
              <a:rPr lang="en-US" altLang="zh-CN" dirty="0" smtClean="0"/>
              <a:t>3×3</a:t>
            </a:r>
            <a:r>
              <a:rPr lang="zh-CN" altLang="en-US" dirty="0" smtClean="0"/>
              <a:t>区域有关）</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683035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第二次卷积运算如下图所示。</a:t>
            </a:r>
            <a:endParaRPr lang="en-US" altLang="zh-CN" dirty="0" smtClean="0"/>
          </a:p>
          <a:p>
            <a:r>
              <a:rPr lang="zh-CN" altLang="en-US" dirty="0" smtClean="0"/>
              <a:t>从图中可以看出，经历两次卷积运算之后，输出图像为</a:t>
            </a:r>
            <a:r>
              <a:rPr lang="en-US" altLang="zh-CN" dirty="0" smtClean="0"/>
              <a:t>6×6</a:t>
            </a:r>
            <a:r>
              <a:rPr lang="zh-CN" altLang="en-US" dirty="0" smtClean="0"/>
              <a:t>，输出</a:t>
            </a:r>
            <a:r>
              <a:rPr lang="en-US" altLang="zh-CN" dirty="0" smtClean="0"/>
              <a:t>2</a:t>
            </a:r>
            <a:r>
              <a:rPr lang="zh-CN" altLang="en-US" dirty="0" smtClean="0"/>
              <a:t>输出的每一个特征（即每一个像素）都受到输出</a:t>
            </a:r>
            <a:r>
              <a:rPr lang="en-US" altLang="zh-CN" dirty="0" smtClean="0"/>
              <a:t>1</a:t>
            </a:r>
            <a:r>
              <a:rPr lang="en-US" altLang="zh-CN" baseline="0" dirty="0" smtClean="0"/>
              <a:t> 3×3</a:t>
            </a:r>
            <a:r>
              <a:rPr lang="zh-CN" altLang="en-US" baseline="0" dirty="0" smtClean="0"/>
              <a:t>范围的影响，而输出</a:t>
            </a:r>
            <a:r>
              <a:rPr lang="en-US" altLang="zh-CN" baseline="0" dirty="0" smtClean="0"/>
              <a:t>1</a:t>
            </a:r>
            <a:r>
              <a:rPr lang="zh-CN" altLang="en-US" baseline="0" dirty="0" smtClean="0"/>
              <a:t>中的这个</a:t>
            </a:r>
            <a:r>
              <a:rPr lang="en-US" altLang="zh-CN" baseline="0" dirty="0" smtClean="0"/>
              <a:t>3×3</a:t>
            </a:r>
            <a:r>
              <a:rPr lang="zh-CN" altLang="en-US" baseline="0" dirty="0" smtClean="0"/>
              <a:t>区域又受到输入层</a:t>
            </a:r>
            <a:r>
              <a:rPr lang="en-US" altLang="zh-CN" baseline="0" dirty="0" smtClean="0"/>
              <a:t>5×5</a:t>
            </a:r>
            <a:r>
              <a:rPr lang="zh-CN" altLang="en-US" baseline="0" dirty="0" smtClean="0"/>
              <a:t>范围的影响，故第二层的感受野为</a:t>
            </a:r>
            <a:r>
              <a:rPr lang="en-US" altLang="zh-CN" baseline="0" dirty="0" smtClean="0"/>
              <a:t>5</a:t>
            </a:r>
            <a:r>
              <a:rPr lang="zh-CN" altLang="en-US" baseline="0" dirty="0" smtClean="0"/>
              <a:t>，即</a:t>
            </a:r>
            <a:r>
              <a:rPr lang="en-US" altLang="zh-CN" baseline="0" dirty="0" smtClean="0"/>
              <a:t>RF2=5</a:t>
            </a:r>
            <a:r>
              <a:rPr lang="zh-CN" altLang="en-US" baseline="0" dirty="0" smtClean="0"/>
              <a:t>（每一个像素值与输入层的</a:t>
            </a:r>
            <a:r>
              <a:rPr lang="en-US" altLang="zh-CN" baseline="0" dirty="0" smtClean="0"/>
              <a:t>5×5</a:t>
            </a:r>
            <a:r>
              <a:rPr lang="zh-CN" altLang="en-US" baseline="0" dirty="0" smtClean="0"/>
              <a:t>的区域有关）。</a:t>
            </a:r>
            <a:endParaRPr lang="en-US" altLang="zh-CN" baseline="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64253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第三次卷积运算如下图所示。</a:t>
            </a:r>
            <a:endParaRPr lang="en-US" altLang="zh-CN" dirty="0" smtClean="0"/>
          </a:p>
          <a:p>
            <a:r>
              <a:rPr lang="zh-CN" altLang="en-US" dirty="0" smtClean="0"/>
              <a:t>从图中可以看出，经历三次卷积运算之后，最终的输出图像为</a:t>
            </a:r>
            <a:r>
              <a:rPr lang="en-US" altLang="zh-CN" dirty="0" smtClean="0"/>
              <a:t>4×4</a:t>
            </a:r>
            <a:r>
              <a:rPr lang="zh-CN" altLang="en-US" dirty="0" smtClean="0"/>
              <a:t>，输出</a:t>
            </a:r>
            <a:r>
              <a:rPr lang="en-US" altLang="zh-CN" dirty="0" smtClean="0"/>
              <a:t>3</a:t>
            </a:r>
            <a:r>
              <a:rPr lang="zh-CN" altLang="en-US" dirty="0" smtClean="0"/>
              <a:t>输出的每一个特征（即每一个像素）都受到输出</a:t>
            </a:r>
            <a:r>
              <a:rPr lang="en-US" altLang="zh-CN" dirty="0" smtClean="0"/>
              <a:t>2 3×3</a:t>
            </a:r>
            <a:r>
              <a:rPr lang="zh-CN" altLang="en-US" dirty="0" smtClean="0"/>
              <a:t>范围的影响，而输出</a:t>
            </a:r>
            <a:r>
              <a:rPr lang="en-US" altLang="zh-CN" dirty="0" smtClean="0"/>
              <a:t>2</a:t>
            </a:r>
            <a:r>
              <a:rPr lang="zh-CN" altLang="en-US" dirty="0" smtClean="0"/>
              <a:t>中的</a:t>
            </a:r>
            <a:r>
              <a:rPr lang="en-US" altLang="zh-CN" dirty="0" smtClean="0"/>
              <a:t>3×3</a:t>
            </a:r>
            <a:r>
              <a:rPr lang="zh-CN" altLang="en-US" dirty="0" smtClean="0"/>
              <a:t>区域又受到输出</a:t>
            </a:r>
            <a:r>
              <a:rPr lang="en-US" altLang="zh-CN" dirty="0" smtClean="0"/>
              <a:t>1 5×5</a:t>
            </a:r>
            <a:r>
              <a:rPr lang="zh-CN" altLang="en-US" dirty="0" smtClean="0"/>
              <a:t>范围的影响，而输出</a:t>
            </a:r>
            <a:r>
              <a:rPr lang="en-US" altLang="zh-CN" dirty="0" smtClean="0"/>
              <a:t>1</a:t>
            </a:r>
            <a:r>
              <a:rPr lang="zh-CN" altLang="en-US" dirty="0" smtClean="0"/>
              <a:t>中</a:t>
            </a:r>
            <a:r>
              <a:rPr lang="en-US" altLang="zh-CN" dirty="0" smtClean="0"/>
              <a:t>5×5</a:t>
            </a:r>
            <a:r>
              <a:rPr lang="zh-CN" altLang="en-US" dirty="0" smtClean="0"/>
              <a:t>区域又受到输入层</a:t>
            </a:r>
            <a:r>
              <a:rPr lang="en-US" altLang="zh-CN" dirty="0" smtClean="0"/>
              <a:t>7×7</a:t>
            </a:r>
            <a:r>
              <a:rPr lang="zh-CN" altLang="en-US" dirty="0" smtClean="0"/>
              <a:t>范围的影响，故第三层的感受野为</a:t>
            </a:r>
            <a:r>
              <a:rPr lang="en-US" altLang="zh-CN" dirty="0" smtClean="0"/>
              <a:t>7</a:t>
            </a:r>
            <a:r>
              <a:rPr lang="zh-CN" altLang="en-US" dirty="0" smtClean="0"/>
              <a:t>，即</a:t>
            </a:r>
            <a:r>
              <a:rPr lang="en-US" altLang="zh-CN" dirty="0" smtClean="0"/>
              <a:t>RF3=7(</a:t>
            </a:r>
            <a:r>
              <a:rPr lang="zh-CN" altLang="en-US" dirty="0" smtClean="0"/>
              <a:t>每一个像素值与输入层的</a:t>
            </a:r>
            <a:r>
              <a:rPr lang="en-US" altLang="zh-CN" dirty="0" smtClean="0"/>
              <a:t>7×7</a:t>
            </a:r>
            <a:r>
              <a:rPr lang="zh-CN" altLang="en-US" dirty="0" smtClean="0"/>
              <a:t>区域有关</a:t>
            </a:r>
            <a:r>
              <a:rPr lang="en-US" altLang="zh-CN" dirty="0" smtClean="0"/>
              <a:t>)</a:t>
            </a:r>
            <a:r>
              <a:rPr lang="zh-CN" altLang="en-US" dirty="0" smtClean="0"/>
              <a:t>。</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89956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第四次卷积运算如下图所示。</a:t>
            </a:r>
            <a:endParaRPr lang="en-US" altLang="zh-CN" dirty="0" smtClean="0"/>
          </a:p>
          <a:p>
            <a:r>
              <a:rPr lang="zh-CN" altLang="en-US" dirty="0" smtClean="0"/>
              <a:t>从图中可以看出，经历四次卷积运算之后，最终的输出图像为</a:t>
            </a:r>
            <a:r>
              <a:rPr lang="en-US" altLang="zh-CN" dirty="0" smtClean="0"/>
              <a:t>2×2</a:t>
            </a:r>
            <a:r>
              <a:rPr lang="zh-CN" altLang="en-US" dirty="0" smtClean="0"/>
              <a:t>，输出</a:t>
            </a:r>
            <a:r>
              <a:rPr lang="en-US" altLang="zh-CN" dirty="0" smtClean="0"/>
              <a:t>4</a:t>
            </a:r>
            <a:r>
              <a:rPr lang="zh-CN" altLang="en-US" dirty="0" smtClean="0"/>
              <a:t>输出的每一个特征（即每一个像素）都受到输出</a:t>
            </a:r>
            <a:r>
              <a:rPr lang="en-US" altLang="zh-CN" dirty="0" smtClean="0"/>
              <a:t>3 3×3</a:t>
            </a:r>
            <a:r>
              <a:rPr lang="zh-CN" altLang="en-US" dirty="0" smtClean="0"/>
              <a:t>范围的影响，而输出</a:t>
            </a:r>
            <a:r>
              <a:rPr lang="en-US" altLang="zh-CN" dirty="0" smtClean="0"/>
              <a:t>3</a:t>
            </a:r>
            <a:r>
              <a:rPr lang="zh-CN" altLang="en-US" dirty="0" smtClean="0"/>
              <a:t>中的</a:t>
            </a:r>
            <a:r>
              <a:rPr lang="en-US" altLang="zh-CN" dirty="0" smtClean="0"/>
              <a:t>3×3</a:t>
            </a:r>
            <a:r>
              <a:rPr lang="zh-CN" altLang="en-US" dirty="0" smtClean="0"/>
              <a:t>区域又受到输出</a:t>
            </a:r>
            <a:r>
              <a:rPr lang="en-US" altLang="zh-CN" dirty="0" smtClean="0"/>
              <a:t>2 5×5</a:t>
            </a:r>
            <a:r>
              <a:rPr lang="zh-CN" altLang="en-US" dirty="0" smtClean="0"/>
              <a:t>范围的影响， 输出</a:t>
            </a:r>
            <a:r>
              <a:rPr lang="en-US" altLang="zh-CN" dirty="0" smtClean="0"/>
              <a:t>2</a:t>
            </a:r>
            <a:r>
              <a:rPr lang="zh-CN" altLang="en-US" dirty="0" smtClean="0"/>
              <a:t>中的</a:t>
            </a:r>
            <a:r>
              <a:rPr lang="en-US" altLang="zh-CN" dirty="0" smtClean="0"/>
              <a:t>5×5</a:t>
            </a:r>
            <a:r>
              <a:rPr lang="zh-CN" altLang="en-US" dirty="0" smtClean="0"/>
              <a:t>区域又受到输出</a:t>
            </a:r>
            <a:r>
              <a:rPr lang="en-US" altLang="zh-CN" dirty="0" smtClean="0"/>
              <a:t>1 7×7</a:t>
            </a:r>
            <a:r>
              <a:rPr lang="zh-CN" altLang="en-US" dirty="0" smtClean="0"/>
              <a:t>范围的影响，输出</a:t>
            </a:r>
            <a:r>
              <a:rPr lang="en-US" altLang="zh-CN" dirty="0" smtClean="0"/>
              <a:t>1</a:t>
            </a:r>
            <a:r>
              <a:rPr lang="zh-CN" altLang="en-US" dirty="0" smtClean="0"/>
              <a:t>中</a:t>
            </a:r>
            <a:r>
              <a:rPr lang="en-US" altLang="zh-CN" dirty="0" smtClean="0"/>
              <a:t>7×7</a:t>
            </a:r>
            <a:r>
              <a:rPr lang="zh-CN" altLang="en-US" dirty="0" smtClean="0"/>
              <a:t>区域又受到原始图像</a:t>
            </a:r>
            <a:r>
              <a:rPr lang="en-US" altLang="zh-CN" dirty="0" smtClean="0"/>
              <a:t>9×9</a:t>
            </a:r>
            <a:r>
              <a:rPr lang="zh-CN" altLang="en-US" dirty="0" smtClean="0"/>
              <a:t>范围的影响，故第四层的感受野为</a:t>
            </a:r>
            <a:r>
              <a:rPr lang="en-US" altLang="zh-CN" dirty="0" smtClean="0"/>
              <a:t>9</a:t>
            </a:r>
            <a:r>
              <a:rPr lang="zh-CN" altLang="en-US" dirty="0" smtClean="0"/>
              <a:t>，即</a:t>
            </a:r>
            <a:r>
              <a:rPr lang="en-US" altLang="zh-CN" dirty="0" smtClean="0"/>
              <a:t>RF4=9</a:t>
            </a:r>
            <a:r>
              <a:rPr lang="zh-CN" altLang="en-US" dirty="0" smtClean="0"/>
              <a:t>（每一个像素值与输入层的</a:t>
            </a:r>
            <a:r>
              <a:rPr lang="en-US" altLang="zh-CN" dirty="0" smtClean="0"/>
              <a:t>9×9</a:t>
            </a:r>
            <a:r>
              <a:rPr lang="zh-CN" altLang="en-US" dirty="0" smtClean="0"/>
              <a:t>区域有关）</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60751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第五次池化运算如图所示。</a:t>
            </a:r>
            <a:endParaRPr lang="en-US" altLang="zh-CN" dirty="0" smtClean="0"/>
          </a:p>
          <a:p>
            <a:r>
              <a:rPr lang="zh-CN" altLang="en-US" dirty="0" smtClean="0"/>
              <a:t>从图中可以看出，经历四次卷积运算和一次池化运算之后，最终的输出图像为</a:t>
            </a:r>
            <a:r>
              <a:rPr lang="en-US" altLang="zh-CN" dirty="0" smtClean="0"/>
              <a:t>1×1</a:t>
            </a:r>
            <a:r>
              <a:rPr lang="zh-CN" altLang="en-US" dirty="0" smtClean="0"/>
              <a:t>，输出</a:t>
            </a:r>
            <a:r>
              <a:rPr lang="en-US" altLang="zh-CN" dirty="0" smtClean="0"/>
              <a:t>5</a:t>
            </a:r>
            <a:r>
              <a:rPr lang="zh-CN" altLang="en-US" dirty="0" smtClean="0"/>
              <a:t>输出的每一个特征（仅一个像素）都受到输出</a:t>
            </a:r>
            <a:r>
              <a:rPr lang="en-US" altLang="zh-CN" dirty="0" smtClean="0"/>
              <a:t>4 2×2</a:t>
            </a:r>
            <a:r>
              <a:rPr lang="zh-CN" altLang="en-US" dirty="0" smtClean="0"/>
              <a:t>范围的影响，而输出</a:t>
            </a:r>
            <a:r>
              <a:rPr lang="en-US" altLang="zh-CN" dirty="0" smtClean="0"/>
              <a:t>4</a:t>
            </a:r>
            <a:r>
              <a:rPr lang="zh-CN" altLang="en-US" dirty="0" smtClean="0"/>
              <a:t>中的</a:t>
            </a:r>
            <a:r>
              <a:rPr lang="en-US" altLang="zh-CN" dirty="0" smtClean="0"/>
              <a:t>2×2</a:t>
            </a:r>
            <a:r>
              <a:rPr lang="zh-CN" altLang="en-US" dirty="0" smtClean="0"/>
              <a:t>区域受到输出</a:t>
            </a:r>
            <a:r>
              <a:rPr lang="en-US" altLang="zh-CN" dirty="0" smtClean="0"/>
              <a:t>3 4×4</a:t>
            </a:r>
            <a:r>
              <a:rPr lang="zh-CN" altLang="en-US" dirty="0" smtClean="0"/>
              <a:t>范围的影响，输出</a:t>
            </a:r>
            <a:r>
              <a:rPr lang="en-US" altLang="zh-CN" dirty="0" smtClean="0"/>
              <a:t>3</a:t>
            </a:r>
            <a:r>
              <a:rPr lang="zh-CN" altLang="en-US" dirty="0" smtClean="0"/>
              <a:t>中的</a:t>
            </a:r>
            <a:r>
              <a:rPr lang="en-US" altLang="zh-CN" dirty="0" smtClean="0"/>
              <a:t>4×4</a:t>
            </a:r>
            <a:r>
              <a:rPr lang="zh-CN" altLang="en-US" dirty="0" smtClean="0"/>
              <a:t>区域受到输出</a:t>
            </a:r>
            <a:r>
              <a:rPr lang="en-US" altLang="zh-CN" dirty="0" smtClean="0"/>
              <a:t>2 6×6</a:t>
            </a:r>
            <a:r>
              <a:rPr lang="zh-CN" altLang="en-US" dirty="0" smtClean="0"/>
              <a:t>范围的影响，输出</a:t>
            </a:r>
            <a:r>
              <a:rPr lang="en-US" altLang="zh-CN" dirty="0" smtClean="0"/>
              <a:t>2</a:t>
            </a:r>
            <a:r>
              <a:rPr lang="zh-CN" altLang="en-US" dirty="0" smtClean="0"/>
              <a:t>中的</a:t>
            </a:r>
            <a:r>
              <a:rPr lang="en-US" altLang="zh-CN" dirty="0" smtClean="0"/>
              <a:t>6×6</a:t>
            </a:r>
            <a:r>
              <a:rPr lang="zh-CN" altLang="en-US" dirty="0" smtClean="0"/>
              <a:t>区域受到输出</a:t>
            </a:r>
            <a:r>
              <a:rPr lang="en-US" altLang="zh-CN" dirty="0" smtClean="0"/>
              <a:t>1</a:t>
            </a:r>
            <a:r>
              <a:rPr lang="zh-CN" altLang="en-US" baseline="0" dirty="0" smtClean="0"/>
              <a:t> </a:t>
            </a:r>
            <a:r>
              <a:rPr lang="en-US" altLang="zh-CN" baseline="0" dirty="0" smtClean="0"/>
              <a:t>8×8</a:t>
            </a:r>
            <a:r>
              <a:rPr lang="zh-CN" altLang="en-US" baseline="0" dirty="0" smtClean="0"/>
              <a:t>范围的影响，输出</a:t>
            </a:r>
            <a:r>
              <a:rPr lang="en-US" altLang="zh-CN" baseline="0" dirty="0" smtClean="0"/>
              <a:t>1</a:t>
            </a:r>
            <a:r>
              <a:rPr lang="zh-CN" altLang="en-US" baseline="0" dirty="0" smtClean="0"/>
              <a:t>中的</a:t>
            </a:r>
            <a:r>
              <a:rPr lang="en-US" altLang="zh-CN" baseline="0" dirty="0" smtClean="0"/>
              <a:t>8×8</a:t>
            </a:r>
            <a:r>
              <a:rPr lang="zh-CN" altLang="en-US" baseline="0" dirty="0" smtClean="0"/>
              <a:t>区域受到输入层</a:t>
            </a:r>
            <a:r>
              <a:rPr lang="en-US" altLang="zh-CN" baseline="0" dirty="0" smtClean="0"/>
              <a:t>10×10</a:t>
            </a:r>
            <a:r>
              <a:rPr lang="zh-CN" altLang="en-US" baseline="0" dirty="0" smtClean="0"/>
              <a:t>范围的影响，故第五层的感受野为</a:t>
            </a:r>
            <a:r>
              <a:rPr lang="en-US" altLang="zh-CN" baseline="0" dirty="0" smtClean="0"/>
              <a:t>10</a:t>
            </a:r>
            <a:r>
              <a:rPr lang="zh-CN" altLang="en-US" baseline="0" dirty="0" smtClean="0"/>
              <a:t>，即</a:t>
            </a:r>
            <a:r>
              <a:rPr lang="en-US" altLang="zh-CN" baseline="0" dirty="0" smtClean="0"/>
              <a:t>RF5=10(</a:t>
            </a:r>
            <a:r>
              <a:rPr lang="zh-CN" altLang="en-US" baseline="0" dirty="0" smtClean="0"/>
              <a:t>每一个像素值与输入层的</a:t>
            </a:r>
            <a:r>
              <a:rPr lang="en-US" altLang="zh-CN" baseline="0" dirty="0" smtClean="0"/>
              <a:t>10×10</a:t>
            </a:r>
            <a:r>
              <a:rPr lang="zh-CN" altLang="en-US" baseline="0" dirty="0" smtClean="0"/>
              <a:t>区域有关</a:t>
            </a:r>
            <a:r>
              <a:rPr lang="en-US" altLang="zh-CN" baseline="0" dirty="0" smtClean="0"/>
              <a:t>)</a:t>
            </a:r>
          </a:p>
          <a:p>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56630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感受野的推导是一个递推的过程，下面展示这一过程。</a:t>
            </a:r>
            <a:endParaRPr lang="en-US" altLang="zh-CN" dirty="0" smtClean="0"/>
          </a:p>
          <a:p>
            <a:r>
              <a:rPr lang="zh-CN" altLang="en-US" dirty="0" smtClean="0"/>
              <a:t>总结：感受野的求解是一个不断迭代的过程，因为第一层每一个像素的感受野始终是第一个卷积核的大小，所以</a:t>
            </a:r>
            <a:r>
              <a:rPr lang="en-US" altLang="zh-CN" dirty="0" smtClean="0"/>
              <a:t>RF1</a:t>
            </a:r>
            <a:r>
              <a:rPr lang="zh-CN" altLang="en-US" dirty="0" smtClean="0"/>
              <a:t>总是最先确定的。以此类推，逐步求出</a:t>
            </a:r>
            <a:r>
              <a:rPr lang="en-US" altLang="zh-CN" dirty="0" smtClean="0"/>
              <a:t>RF2</a:t>
            </a:r>
            <a:r>
              <a:rPr lang="zh-CN" altLang="en-US" dirty="0" smtClean="0"/>
              <a:t>、</a:t>
            </a:r>
            <a:r>
              <a:rPr lang="en-US" altLang="zh-CN" dirty="0" smtClean="0"/>
              <a:t>RF3</a:t>
            </a:r>
            <a:r>
              <a:rPr lang="zh-CN" altLang="en-US" dirty="0" smtClean="0"/>
              <a:t>、</a:t>
            </a:r>
            <a:r>
              <a:rPr lang="en-US" altLang="zh-CN" dirty="0" smtClean="0"/>
              <a:t>RF4</a:t>
            </a:r>
            <a:r>
              <a:rPr lang="zh-CN" altLang="en-US" dirty="0" smtClean="0"/>
              <a:t>、</a:t>
            </a:r>
            <a:r>
              <a:rPr lang="en-US" altLang="zh-CN" dirty="0" smtClean="0"/>
              <a:t>RF5</a:t>
            </a:r>
            <a:r>
              <a:rPr lang="zh-CN" altLang="en-US" dirty="0" smtClean="0"/>
              <a:t>。</a:t>
            </a:r>
            <a:endParaRPr lang="en-US" altLang="zh-CN" dirty="0" smtClean="0"/>
          </a:p>
          <a:p>
            <a:r>
              <a:rPr lang="zh-CN" altLang="en-US" dirty="0" smtClean="0"/>
              <a:t>上面的例子中所有的步长均为</a:t>
            </a:r>
            <a:r>
              <a:rPr lang="en-US" altLang="zh-CN" dirty="0" smtClean="0"/>
              <a:t>1</a:t>
            </a:r>
            <a:r>
              <a:rPr lang="zh-CN" altLang="en-US" dirty="0" smtClean="0"/>
              <a:t>，如果每一次卷积运算的步长不为</a:t>
            </a:r>
            <a:r>
              <a:rPr lang="en-US" altLang="zh-CN" dirty="0" smtClean="0"/>
              <a:t>1</a:t>
            </a:r>
            <a:r>
              <a:rPr lang="zh-CN" altLang="en-US" dirty="0" smtClean="0"/>
              <a:t>呢？同理，这里直接给出递推公式。</a:t>
            </a:r>
            <a:endParaRPr lang="en-US" altLang="zh-CN" dirty="0" smtClean="0"/>
          </a:p>
          <a:p>
            <a:r>
              <a:rPr lang="en-US" altLang="zh-CN" dirty="0" err="1" smtClean="0"/>
              <a:t>RF</a:t>
            </a:r>
            <a:r>
              <a:rPr lang="en-US" altLang="zh-CN" baseline="-25000" dirty="0" err="1" smtClean="0"/>
              <a:t>n</a:t>
            </a:r>
            <a:r>
              <a:rPr lang="en-US" altLang="zh-CN" dirty="0" smtClean="0"/>
              <a:t> = RF</a:t>
            </a:r>
            <a:r>
              <a:rPr lang="en-US" altLang="zh-CN" baseline="-25000" dirty="0" smtClean="0"/>
              <a:t>n-1</a:t>
            </a:r>
            <a:r>
              <a:rPr lang="en-US" altLang="zh-CN" dirty="0" smtClean="0"/>
              <a:t> + (k</a:t>
            </a:r>
            <a:r>
              <a:rPr lang="en-US" altLang="zh-CN" baseline="-25000" dirty="0" smtClean="0"/>
              <a:t>n</a:t>
            </a:r>
            <a:r>
              <a:rPr lang="en-US" altLang="zh-CN" dirty="0" smtClean="0"/>
              <a:t>-1) × </a:t>
            </a:r>
            <a:r>
              <a:rPr lang="en-US" altLang="zh-CN" dirty="0" err="1" smtClean="0"/>
              <a:t>stride</a:t>
            </a:r>
            <a:r>
              <a:rPr lang="en-US" altLang="zh-CN" baseline="-25000" dirty="0" err="1" smtClean="0"/>
              <a:t>n</a:t>
            </a:r>
            <a:endParaRPr lang="en-US" altLang="zh-CN" baseline="-25000"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baseline="0" dirty="0" smtClean="0"/>
              <a:t>其中</a:t>
            </a:r>
            <a:r>
              <a:rPr lang="en-US" altLang="zh-CN" dirty="0" err="1" smtClean="0"/>
              <a:t>stride</a:t>
            </a:r>
            <a:r>
              <a:rPr lang="en-US" altLang="zh-CN" baseline="-25000" dirty="0" err="1" smtClean="0"/>
              <a:t>n</a:t>
            </a:r>
            <a:r>
              <a:rPr lang="zh-CN" altLang="en-US" baseline="0" dirty="0" smtClean="0"/>
              <a:t>表示第</a:t>
            </a:r>
            <a:r>
              <a:rPr lang="en-US" altLang="zh-CN" baseline="0" dirty="0" smtClean="0"/>
              <a:t>n</a:t>
            </a:r>
            <a:r>
              <a:rPr lang="zh-CN" altLang="en-US" baseline="0" dirty="0" smtClean="0"/>
              <a:t>次卷积的移动步长。求解过程也是从</a:t>
            </a:r>
            <a:r>
              <a:rPr lang="en-US" altLang="zh-CN" baseline="0" dirty="0" smtClean="0"/>
              <a:t>RF1</a:t>
            </a:r>
            <a:r>
              <a:rPr lang="zh-CN" altLang="en-US" baseline="0" dirty="0" smtClean="0"/>
              <a:t>开始的。</a:t>
            </a:r>
            <a:endParaRPr lang="en-US" altLang="zh-CN" baseline="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49708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baseline="0" dirty="0" smtClean="0"/>
              <a:t>此外，之前提到的</a:t>
            </a:r>
            <a:r>
              <a:rPr lang="en-US" altLang="zh-CN" baseline="0" dirty="0" smtClean="0"/>
              <a:t>padding</a:t>
            </a:r>
            <a:r>
              <a:rPr lang="zh-CN" altLang="en-US" baseline="0" dirty="0" smtClean="0"/>
              <a:t>（填充）也会对感受野产生影响，但由于</a:t>
            </a:r>
            <a:r>
              <a:rPr lang="en-US" altLang="zh-CN" baseline="0" dirty="0" smtClean="0"/>
              <a:t>padding</a:t>
            </a:r>
            <a:r>
              <a:rPr lang="zh-CN" altLang="en-US" baseline="0" dirty="0" smtClean="0"/>
              <a:t>仅进行边缘填充，因此仅对边缘像素产生影响。这里给出一个详细讲述感受野计算的网站，通过在线调整参数模拟计算更加直观地了解感受野的情况。</a:t>
            </a:r>
            <a:endParaRPr lang="en-US" altLang="zh-CN" baseline="0"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baseline="0" dirty="0" smtClean="0"/>
              <a:t>通过刚才的例子，不难发现深层的网络特征图尺寸较小，但对应在原始输入图像上的感受野就较大；而浅层网络特征图尺寸较大，对应的感受野较小。在目标检测任务中，常常结合浅层特征与深层特征，根据不同的感受野检测不同大小的目标。</a:t>
            </a:r>
            <a:endParaRPr lang="en-US" altLang="zh-CN" baseline="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84692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常见的图像分割算法通常使用池化层和卷积层增加感受野，同时也缩小了特征图尺寸，再利用上采样还原图像尺寸。因为特征图缩小再放大的过程造成了精度上的损失，所以需要在增加感受野的同时保持特征图的尺寸不变，从而代替下采样和上采样操作，在这种需求下，空洞卷积就诞生了。</a:t>
            </a:r>
            <a:endParaRPr lang="en-US" altLang="zh-CN" dirty="0" smtClean="0"/>
          </a:p>
          <a:p>
            <a:r>
              <a:rPr lang="en-US" altLang="zh-CN" dirty="0" smtClean="0"/>
              <a:t>Dilated/</a:t>
            </a:r>
            <a:r>
              <a:rPr lang="en-US" altLang="zh-CN" dirty="0" err="1" smtClean="0"/>
              <a:t>Atrous</a:t>
            </a:r>
            <a:r>
              <a:rPr lang="en-US" altLang="zh-CN" baseline="0" dirty="0" smtClean="0"/>
              <a:t> Convolution</a:t>
            </a:r>
            <a:r>
              <a:rPr lang="zh-CN" altLang="en-US" baseline="0" dirty="0" smtClean="0"/>
              <a:t>（中文可称作空洞卷积或膨胀卷积）是在标准的卷积映射里注入空洞，以此来增加感受野，相比原来的正常卷积，空洞卷积额外增加了一个超参数：扩张率（</a:t>
            </a:r>
            <a:r>
              <a:rPr lang="en-US" altLang="zh-CN" baseline="0" dirty="0" smtClean="0"/>
              <a:t>dilation rate</a:t>
            </a:r>
            <a:r>
              <a:rPr lang="zh-CN" altLang="en-US" baseline="0" dirty="0" smtClean="0"/>
              <a:t>），该参数定义了卷积核处理数据时各值的间距（比如标准的卷积扩张率为</a:t>
            </a:r>
            <a:r>
              <a:rPr lang="en-US" altLang="zh-CN" baseline="0" dirty="0" smtClean="0"/>
              <a:t>1</a:t>
            </a:r>
            <a:r>
              <a:rPr lang="zh-CN" altLang="en-US" baseline="0" dirty="0" smtClean="0"/>
              <a:t>），如图所示。</a:t>
            </a:r>
            <a:endParaRPr lang="en-US" altLang="zh-CN" baseline="0"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86158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空洞卷积有如下两个作用：</a:t>
            </a:r>
            <a:endParaRPr lang="en-US" altLang="zh-CN" dirty="0" smtClean="0"/>
          </a:p>
          <a:p>
            <a:r>
              <a:rPr lang="en-US" altLang="zh-CN" dirty="0" smtClean="0"/>
              <a:t>1.</a:t>
            </a:r>
            <a:r>
              <a:rPr lang="zh-CN" altLang="en-US" dirty="0" smtClean="0"/>
              <a:t>扩大感受野：在深层网络中为了在增加感受野的同时降低计算量，总要进行下采样（比如使用池化层），这样虽然可以增加感受野，但也降低了空间分辨率。使用空洞卷积可以在尽量不丢失分辨率的情况下扩大感受野，在检测或者分割任务中尤为重要。一方面感受野大了可以检测大目标，另一方面分辨率高了可以精确定位目标。</a:t>
            </a:r>
            <a:endParaRPr lang="en-US" altLang="zh-CN" dirty="0" smtClean="0"/>
          </a:p>
          <a:p>
            <a:r>
              <a:rPr lang="en-US" altLang="zh-CN" dirty="0" smtClean="0"/>
              <a:t>2.</a:t>
            </a:r>
            <a:r>
              <a:rPr lang="zh-CN" altLang="en-US" dirty="0" smtClean="0"/>
              <a:t>捕获多尺度上下文信息：当设置不同的扩张率时，感受野就会不一样，便可以获取多尺度信息。多尺度信息在视觉任务中是非常重要的。</a:t>
            </a:r>
            <a:endParaRPr lang="en-US" altLang="zh-CN" dirty="0" smtClean="0"/>
          </a:p>
          <a:p>
            <a:r>
              <a:rPr lang="zh-CN" altLang="en-US" dirty="0" smtClean="0"/>
              <a:t>右边动图中卷积核仍为</a:t>
            </a:r>
            <a:r>
              <a:rPr lang="en-US" altLang="zh-CN" dirty="0" smtClean="0"/>
              <a:t>3×3</a:t>
            </a:r>
            <a:r>
              <a:rPr lang="zh-CN" altLang="en-US" dirty="0" smtClean="0"/>
              <a:t>（</a:t>
            </a:r>
            <a:r>
              <a:rPr lang="en-US" altLang="zh-CN" dirty="0" smtClean="0"/>
              <a:t>9</a:t>
            </a:r>
            <a:r>
              <a:rPr lang="zh-CN" altLang="en-US" dirty="0" smtClean="0"/>
              <a:t>个元素）但感受野是</a:t>
            </a:r>
            <a:r>
              <a:rPr lang="en-US" altLang="zh-CN" dirty="0" smtClean="0"/>
              <a:t>5×5</a:t>
            </a:r>
            <a:r>
              <a:rPr lang="zh-CN" altLang="en-US" dirty="0" smtClean="0"/>
              <a:t>。</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9392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介绍</a:t>
                </a:r>
                <a:r>
                  <a:rPr lang="en-US" altLang="zh-CN" dirty="0" err="1" smtClean="0"/>
                  <a:t>mAP</a:t>
                </a:r>
                <a:r>
                  <a:rPr lang="zh-CN" altLang="en-US" dirty="0" smtClean="0"/>
                  <a:t>之前，我们先来听一个故事。</a:t>
                </a:r>
                <a:endParaRPr lang="en-US" altLang="zh-CN" dirty="0" smtClean="0"/>
              </a:p>
              <a:p>
                <a:r>
                  <a:rPr lang="zh-CN" altLang="en-US" dirty="0" smtClean="0"/>
                  <a:t>在日常生活中，我们经常用准确率来评价一个结果，例如</a:t>
                </a:r>
                <a:r>
                  <a:rPr lang="en-US" altLang="zh-CN" dirty="0" smtClean="0"/>
                  <a:t>100</a:t>
                </a:r>
                <a:r>
                  <a:rPr lang="zh-CN" altLang="en-US" dirty="0" smtClean="0"/>
                  <a:t>道题的考试做对</a:t>
                </a:r>
                <a:r>
                  <a:rPr lang="en-US" altLang="zh-CN" dirty="0" smtClean="0"/>
                  <a:t>98</a:t>
                </a:r>
                <a:r>
                  <a:rPr lang="zh-CN" altLang="en-US" dirty="0" smtClean="0"/>
                  <a:t>道，准确率为</a:t>
                </a:r>
                <a:r>
                  <a:rPr lang="en-US" altLang="zh-CN" dirty="0" smtClean="0"/>
                  <a:t>98%</a:t>
                </a:r>
                <a:r>
                  <a:rPr lang="zh-CN" altLang="en-US" dirty="0" smtClean="0"/>
                  <a:t>，意味着</a:t>
                </a:r>
                <a:r>
                  <a:rPr lang="en-US" altLang="zh-CN" dirty="0" smtClean="0"/>
                  <a:t>98</a:t>
                </a:r>
                <a:r>
                  <a:rPr lang="zh-CN" altLang="en-US" dirty="0" smtClean="0"/>
                  <a:t>道题的结果与正确答案相同，是一个相当不错的成绩。又比如彩票上的</a:t>
                </a:r>
                <a:r>
                  <a:rPr lang="en-US" altLang="zh-CN" dirty="0" smtClean="0"/>
                  <a:t>7</a:t>
                </a:r>
                <a:r>
                  <a:rPr lang="zh-CN" altLang="en-US" dirty="0" smtClean="0"/>
                  <a:t>位数字中对上了</a:t>
                </a:r>
                <a:r>
                  <a:rPr lang="en-US" altLang="zh-CN" dirty="0" smtClean="0"/>
                  <a:t>6</a:t>
                </a:r>
                <a:r>
                  <a:rPr lang="zh-CN" altLang="en-US" dirty="0" smtClean="0"/>
                  <a:t>位，准确率为</a:t>
                </a:r>
                <a:r>
                  <a:rPr lang="en-US" altLang="zh-CN" dirty="0" smtClean="0"/>
                  <a:t>6/7</a:t>
                </a:r>
                <a:r>
                  <a:rPr lang="zh-CN" altLang="en-US" dirty="0" smtClean="0"/>
                  <a:t>，可以去兑换一个大奖。</a:t>
                </a:r>
                <a:endParaRPr lang="en-US" altLang="zh-CN" dirty="0" smtClean="0"/>
              </a:p>
              <a:p>
                <a:r>
                  <a:rPr lang="zh-CN" altLang="en-US" dirty="0" smtClean="0"/>
                  <a:t>在机器学习与深度学习领域，同样地，准确率（</a:t>
                </a:r>
                <a:r>
                  <a:rPr lang="en-US" altLang="zh-CN" dirty="0" err="1" smtClean="0"/>
                  <a:t>accurancy</a:t>
                </a:r>
                <a:r>
                  <a:rPr lang="zh-CN" altLang="en-US" dirty="0" smtClean="0"/>
                  <a:t>）用于衡量验证集或测试集预测的标签与真实标签是否相等，数学公式为：</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𝑎𝑐𝑐𝑢𝑟𝑎𝑐𝑦</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zh-CN" altLang="en-US" i="1" dirty="0">
                              <a:latin typeface="Cambria Math" panose="02040503050406030204" pitchFamily="18" charset="0"/>
                            </a:rPr>
                            <m:t>预测</m:t>
                          </m:r>
                          <m:r>
                            <a:rPr lang="zh-CN" altLang="en-US" i="1" dirty="0" smtClean="0">
                              <a:latin typeface="Cambria Math" panose="02040503050406030204" pitchFamily="18" charset="0"/>
                            </a:rPr>
                            <m:t>标签</m:t>
                          </m:r>
                          <m:r>
                            <a:rPr lang="zh-CN" altLang="en-US" i="1" dirty="0">
                              <a:latin typeface="Cambria Math" panose="02040503050406030204" pitchFamily="18" charset="0"/>
                            </a:rPr>
                            <m:t>与</m:t>
                          </m:r>
                          <m:r>
                            <a:rPr lang="zh-CN" altLang="en-US" i="1" dirty="0" smtClean="0">
                              <a:latin typeface="Cambria Math" panose="02040503050406030204" pitchFamily="18" charset="0"/>
                            </a:rPr>
                            <m:t>真实</m:t>
                          </m:r>
                          <m:r>
                            <a:rPr lang="zh-CN" altLang="en-US" i="1" dirty="0">
                              <a:latin typeface="Cambria Math" panose="02040503050406030204" pitchFamily="18" charset="0"/>
                            </a:rPr>
                            <m:t>标签</m:t>
                          </m:r>
                          <m:r>
                            <a:rPr lang="zh-CN" altLang="en-US" i="1" dirty="0" smtClean="0">
                              <a:latin typeface="Cambria Math" panose="02040503050406030204" pitchFamily="18" charset="0"/>
                            </a:rPr>
                            <m:t>相同</m:t>
                          </m:r>
                          <m:r>
                            <a:rPr lang="zh-CN" altLang="en-US" i="1" dirty="0">
                              <a:latin typeface="Cambria Math" panose="02040503050406030204" pitchFamily="18" charset="0"/>
                            </a:rPr>
                            <m:t>的</m:t>
                          </m:r>
                          <m:r>
                            <a:rPr lang="zh-CN" altLang="en-US" i="1" dirty="0" smtClean="0">
                              <a:latin typeface="Cambria Math" panose="02040503050406030204" pitchFamily="18" charset="0"/>
                            </a:rPr>
                            <m:t>数量</m:t>
                          </m:r>
                        </m:num>
                        <m:den>
                          <m:r>
                            <a:rPr lang="zh-CN" altLang="en-US" i="1" dirty="0">
                              <a:latin typeface="Cambria Math" panose="02040503050406030204" pitchFamily="18" charset="0"/>
                            </a:rPr>
                            <m:t>总的</m:t>
                          </m:r>
                          <m:r>
                            <a:rPr lang="zh-CN" altLang="en-US" i="1" dirty="0" smtClean="0">
                              <a:latin typeface="Cambria Math" panose="02040503050406030204" pitchFamily="18" charset="0"/>
                            </a:rPr>
                            <m:t>预测</m:t>
                          </m:r>
                          <m:r>
                            <a:rPr lang="zh-CN" altLang="en-US" i="1" dirty="0">
                              <a:latin typeface="Cambria Math" panose="02040503050406030204" pitchFamily="18" charset="0"/>
                            </a:rPr>
                            <m:t>数据集</m:t>
                          </m:r>
                          <m:r>
                            <a:rPr lang="zh-CN" altLang="en-US" i="1" dirty="0" smtClean="0">
                              <a:latin typeface="Cambria Math" panose="02040503050406030204" pitchFamily="18" charset="0"/>
                            </a:rPr>
                            <m:t>数量</m:t>
                          </m:r>
                        </m:den>
                      </m:f>
                    </m:oMath>
                  </m:oMathPara>
                </a14:m>
                <a:endParaRPr lang="en-US" altLang="zh-CN" dirty="0" smtClean="0"/>
              </a:p>
              <a:p>
                <a:r>
                  <a:rPr lang="zh-CN" altLang="en-US" dirty="0" smtClean="0"/>
                  <a:t>思考一下，这个指标是否可以真正衡量模型的准确性呢？我们来看一个示例。</a:t>
                </a:r>
                <a:endParaRPr lang="en-US" altLang="zh-CN" dirty="0" smtClean="0"/>
              </a:p>
              <a:p>
                <a:r>
                  <a:rPr lang="zh-CN" altLang="en-US" dirty="0" smtClean="0"/>
                  <a:t>假设有一个模型，可以预测某地当天是否会发生地震。根据我们的常识，</a:t>
                </a:r>
                <a:r>
                  <a:rPr lang="zh-CN" altLang="en-US" sz="1200" b="0" i="0" kern="1200" dirty="0" smtClean="0">
                    <a:solidFill>
                      <a:schemeClr val="tx1"/>
                    </a:solidFill>
                    <a:effectLst/>
                    <a:latin typeface="+mn-lt"/>
                    <a:ea typeface="+mn-ea"/>
                    <a:cs typeface="+mn-cs"/>
                  </a:rPr>
                  <a:t>由于在某一天内不会发生地震的概率可能性接近</a:t>
                </a:r>
                <a:r>
                  <a:rPr lang="en-US" altLang="zh-CN" sz="1200" b="0" i="0" kern="1200" dirty="0" smtClean="0">
                    <a:solidFill>
                      <a:schemeClr val="tx1"/>
                    </a:solidFill>
                    <a:effectLst/>
                    <a:latin typeface="+mn-lt"/>
                    <a:ea typeface="+mn-ea"/>
                    <a:cs typeface="+mn-cs"/>
                  </a:rPr>
                  <a:t>99.99%</a:t>
                </a:r>
                <a:r>
                  <a:rPr lang="zh-CN" altLang="en-US" sz="1200" b="0" i="0" kern="1200" dirty="0" smtClean="0">
                    <a:solidFill>
                      <a:schemeClr val="tx1"/>
                    </a:solidFill>
                    <a:effectLst/>
                    <a:latin typeface="+mn-lt"/>
                    <a:ea typeface="+mn-ea"/>
                    <a:cs typeface="+mn-cs"/>
                  </a:rPr>
                  <a:t>，模型会倾向于无脑地把所有的日子全部预测为不会发生地震，这样它的</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将会高达</a:t>
                </a:r>
                <a:r>
                  <a:rPr lang="en-US" altLang="zh-CN" sz="1200" b="0" i="0" kern="1200" dirty="0" smtClean="0">
                    <a:solidFill>
                      <a:schemeClr val="tx1"/>
                    </a:solidFill>
                    <a:effectLst/>
                    <a:latin typeface="+mn-lt"/>
                    <a:ea typeface="+mn-ea"/>
                    <a:cs typeface="+mn-cs"/>
                  </a:rPr>
                  <a:t>99.99%</a:t>
                </a:r>
                <a:r>
                  <a:rPr lang="zh-CN" altLang="en-US" sz="1200" b="0" i="0" kern="1200" dirty="0" smtClean="0">
                    <a:solidFill>
                      <a:schemeClr val="tx1"/>
                    </a:solidFill>
                    <a:effectLst/>
                    <a:latin typeface="+mn-lt"/>
                    <a:ea typeface="+mn-ea"/>
                    <a:cs typeface="+mn-cs"/>
                  </a:rPr>
                  <a:t>，只有在那</a:t>
                </a:r>
                <a:r>
                  <a:rPr lang="en-US" altLang="zh-CN" sz="1200" b="0" i="0" kern="1200" dirty="0" smtClean="0">
                    <a:solidFill>
                      <a:schemeClr val="tx1"/>
                    </a:solidFill>
                    <a:effectLst/>
                    <a:latin typeface="+mn-lt"/>
                    <a:ea typeface="+mn-ea"/>
                    <a:cs typeface="+mn-cs"/>
                  </a:rPr>
                  <a:t>0.01%</a:t>
                </a:r>
                <a:r>
                  <a:rPr lang="zh-CN" altLang="en-US" sz="1200" b="0" i="0" kern="1200" dirty="0" smtClean="0">
                    <a:solidFill>
                      <a:schemeClr val="tx1"/>
                    </a:solidFill>
                    <a:effectLst/>
                    <a:latin typeface="+mn-lt"/>
                    <a:ea typeface="+mn-ea"/>
                    <a:cs typeface="+mn-cs"/>
                  </a:rPr>
                  <a:t>的、会发生地震的日子是预测错的。这样的模型虽然</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非常高，但是没有任何意义。毕竟我们要的就是在这</a:t>
                </a:r>
                <a:r>
                  <a:rPr lang="en-US" altLang="zh-CN" sz="1200" b="0" i="0" kern="1200" dirty="0" smtClean="0">
                    <a:solidFill>
                      <a:schemeClr val="tx1"/>
                    </a:solidFill>
                    <a:effectLst/>
                    <a:latin typeface="+mn-lt"/>
                    <a:ea typeface="+mn-ea"/>
                    <a:cs typeface="+mn-cs"/>
                  </a:rPr>
                  <a:t>0.01%</a:t>
                </a:r>
                <a:r>
                  <a:rPr lang="zh-CN" altLang="en-US" sz="1200" b="0" i="0" kern="1200" dirty="0" smtClean="0">
                    <a:solidFill>
                      <a:schemeClr val="tx1"/>
                    </a:solidFill>
                    <a:effectLst/>
                    <a:latin typeface="+mn-lt"/>
                    <a:ea typeface="+mn-ea"/>
                    <a:cs typeface="+mn-cs"/>
                  </a:rPr>
                  <a:t>的日子把地震预测出来。</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在这种情况下，</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显然是一个非常差的指标，它无法衡量一个模型的真实预测能力。对于不平衡的数据而言，我们需要一个更加科学的评价指标。</a:t>
                </a:r>
                <a:endParaRPr lang="en-US" altLang="zh-CN" dirty="0" smtClean="0"/>
              </a:p>
              <a:p>
                <a:endParaRPr lang="en-US" altLang="zh-CN" dirty="0" smtClean="0"/>
              </a:p>
            </p:txBody>
          </p:sp>
        </mc:Choice>
        <mc:Fallback xmlns="">
          <p:sp>
            <p:nvSpPr>
              <p:cNvPr id="3" name="备注占位符 2"/>
              <p:cNvSpPr>
                <a:spLocks noGrp="1"/>
              </p:cNvSpPr>
              <p:nvPr>
                <p:ph type="body" idx="1"/>
              </p:nvPr>
            </p:nvSpPr>
            <p:spPr/>
            <p:txBody>
              <a:bodyPr/>
              <a:lstStyle/>
              <a:p>
                <a:r>
                  <a:rPr lang="zh-CN" altLang="en-US" dirty="0" smtClean="0"/>
                  <a:t>介绍</a:t>
                </a:r>
                <a:r>
                  <a:rPr lang="en-US" altLang="zh-CN" dirty="0" err="1" smtClean="0"/>
                  <a:t>mAP</a:t>
                </a:r>
                <a:r>
                  <a:rPr lang="zh-CN" altLang="en-US" dirty="0" smtClean="0"/>
                  <a:t>之前，我们先来听一个故事。</a:t>
                </a:r>
                <a:endParaRPr lang="en-US" altLang="zh-CN" dirty="0" smtClean="0"/>
              </a:p>
              <a:p>
                <a:r>
                  <a:rPr lang="zh-CN" altLang="en-US" dirty="0" smtClean="0"/>
                  <a:t>在日常生活中，我们经常用准确率来评价一个结果，例如</a:t>
                </a:r>
                <a:r>
                  <a:rPr lang="en-US" altLang="zh-CN" dirty="0" smtClean="0"/>
                  <a:t>100</a:t>
                </a:r>
                <a:r>
                  <a:rPr lang="zh-CN" altLang="en-US" dirty="0" smtClean="0"/>
                  <a:t>道题的考试做对</a:t>
                </a:r>
                <a:r>
                  <a:rPr lang="en-US" altLang="zh-CN" dirty="0" smtClean="0"/>
                  <a:t>98</a:t>
                </a:r>
                <a:r>
                  <a:rPr lang="zh-CN" altLang="en-US" dirty="0" smtClean="0"/>
                  <a:t>道，准确率为</a:t>
                </a:r>
                <a:r>
                  <a:rPr lang="en-US" altLang="zh-CN" dirty="0" smtClean="0"/>
                  <a:t>98%</a:t>
                </a:r>
                <a:r>
                  <a:rPr lang="zh-CN" altLang="en-US" dirty="0" smtClean="0"/>
                  <a:t>，意味着</a:t>
                </a:r>
                <a:r>
                  <a:rPr lang="en-US" altLang="zh-CN" dirty="0" smtClean="0"/>
                  <a:t>98</a:t>
                </a:r>
                <a:r>
                  <a:rPr lang="zh-CN" altLang="en-US" dirty="0" smtClean="0"/>
                  <a:t>道题的结果与正确答案相同，是一个相当不错的成绩。又比如彩票上的</a:t>
                </a:r>
                <a:r>
                  <a:rPr lang="en-US" altLang="zh-CN" dirty="0" smtClean="0"/>
                  <a:t>7</a:t>
                </a:r>
                <a:r>
                  <a:rPr lang="zh-CN" altLang="en-US" dirty="0" smtClean="0"/>
                  <a:t>位数字中对上了</a:t>
                </a:r>
                <a:r>
                  <a:rPr lang="en-US" altLang="zh-CN" dirty="0" smtClean="0"/>
                  <a:t>6</a:t>
                </a:r>
                <a:r>
                  <a:rPr lang="zh-CN" altLang="en-US" dirty="0" smtClean="0"/>
                  <a:t>位，准确率为</a:t>
                </a:r>
                <a:r>
                  <a:rPr lang="en-US" altLang="zh-CN" dirty="0" smtClean="0"/>
                  <a:t>6/7</a:t>
                </a:r>
                <a:r>
                  <a:rPr lang="zh-CN" altLang="en-US" dirty="0" smtClean="0"/>
                  <a:t>，可以去兑换一个大奖。</a:t>
                </a:r>
                <a:endParaRPr lang="en-US" altLang="zh-CN" dirty="0" smtClean="0"/>
              </a:p>
              <a:p>
                <a:r>
                  <a:rPr lang="zh-CN" altLang="en-US" dirty="0" smtClean="0"/>
                  <a:t>在机器学习与深度学习领域，同样地，准确率（</a:t>
                </a:r>
                <a:r>
                  <a:rPr lang="en-US" altLang="zh-CN" dirty="0" err="1" smtClean="0"/>
                  <a:t>accurancy</a:t>
                </a:r>
                <a:r>
                  <a:rPr lang="zh-CN" altLang="en-US" dirty="0" smtClean="0"/>
                  <a:t>）用于衡量验证集或测试集预测的标签与真实标签是否相等，数学公式为：</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i="0" dirty="0" smtClean="0">
                    <a:latin typeface="Cambria Math" panose="02040503050406030204" pitchFamily="18" charset="0"/>
                  </a:rPr>
                  <a:t>𝑎𝑐𝑐𝑢𝑟𝑎𝑐𝑦=</a:t>
                </a:r>
                <a:r>
                  <a:rPr lang="zh-CN" altLang="en-US" i="0" dirty="0">
                    <a:latin typeface="Cambria Math" panose="02040503050406030204" pitchFamily="18" charset="0"/>
                  </a:rPr>
                  <a:t>预测</a:t>
                </a:r>
                <a:r>
                  <a:rPr lang="zh-CN" altLang="en-US" i="0" dirty="0" smtClean="0">
                    <a:latin typeface="Cambria Math" panose="02040503050406030204" pitchFamily="18" charset="0"/>
                  </a:rPr>
                  <a:t>标签</a:t>
                </a:r>
                <a:r>
                  <a:rPr lang="zh-CN" altLang="en-US" i="0" dirty="0">
                    <a:latin typeface="Cambria Math" panose="02040503050406030204" pitchFamily="18" charset="0"/>
                  </a:rPr>
                  <a:t>与</a:t>
                </a:r>
                <a:r>
                  <a:rPr lang="zh-CN" altLang="en-US" i="0" dirty="0" smtClean="0">
                    <a:latin typeface="Cambria Math" panose="02040503050406030204" pitchFamily="18" charset="0"/>
                  </a:rPr>
                  <a:t>真实</a:t>
                </a:r>
                <a:r>
                  <a:rPr lang="zh-CN" altLang="en-US" i="0" dirty="0">
                    <a:latin typeface="Cambria Math" panose="02040503050406030204" pitchFamily="18" charset="0"/>
                  </a:rPr>
                  <a:t>标签</a:t>
                </a:r>
                <a:r>
                  <a:rPr lang="zh-CN" altLang="en-US" i="0" dirty="0" smtClean="0">
                    <a:latin typeface="Cambria Math" panose="02040503050406030204" pitchFamily="18" charset="0"/>
                  </a:rPr>
                  <a:t>相同</a:t>
                </a:r>
                <a:r>
                  <a:rPr lang="zh-CN" altLang="en-US" i="0" dirty="0">
                    <a:latin typeface="Cambria Math" panose="02040503050406030204" pitchFamily="18" charset="0"/>
                  </a:rPr>
                  <a:t>的</a:t>
                </a:r>
                <a:r>
                  <a:rPr lang="zh-CN" altLang="en-US" i="0" dirty="0" smtClean="0">
                    <a:latin typeface="Cambria Math" panose="02040503050406030204" pitchFamily="18" charset="0"/>
                  </a:rPr>
                  <a:t>数量</a:t>
                </a:r>
                <a:r>
                  <a:rPr lang="en-US" altLang="zh-CN" i="0" dirty="0" smtClean="0">
                    <a:latin typeface="Cambria Math" panose="02040503050406030204" pitchFamily="18" charset="0"/>
                  </a:rPr>
                  <a:t>/</a:t>
                </a:r>
                <a:r>
                  <a:rPr lang="zh-CN" altLang="en-US" i="0" dirty="0">
                    <a:latin typeface="Cambria Math" panose="02040503050406030204" pitchFamily="18" charset="0"/>
                  </a:rPr>
                  <a:t>总的</a:t>
                </a:r>
                <a:r>
                  <a:rPr lang="zh-CN" altLang="en-US" i="0" dirty="0" smtClean="0">
                    <a:latin typeface="Cambria Math" panose="02040503050406030204" pitchFamily="18" charset="0"/>
                  </a:rPr>
                  <a:t>预测</a:t>
                </a:r>
                <a:r>
                  <a:rPr lang="zh-CN" altLang="en-US" i="0" dirty="0">
                    <a:latin typeface="Cambria Math" panose="02040503050406030204" pitchFamily="18" charset="0"/>
                  </a:rPr>
                  <a:t>数据集</a:t>
                </a:r>
                <a:r>
                  <a:rPr lang="zh-CN" altLang="en-US" i="0" dirty="0" smtClean="0">
                    <a:latin typeface="Cambria Math" panose="02040503050406030204" pitchFamily="18" charset="0"/>
                  </a:rPr>
                  <a:t>数量</a:t>
                </a:r>
                <a:endParaRPr lang="en-US" altLang="zh-CN" dirty="0" smtClean="0"/>
              </a:p>
              <a:p>
                <a:r>
                  <a:rPr lang="zh-CN" altLang="en-US" dirty="0" smtClean="0"/>
                  <a:t>思考一下，这个指标是否可以真正衡量模型的准确性呢？我们来看一个示例。</a:t>
                </a:r>
                <a:endParaRPr lang="en-US" altLang="zh-CN" dirty="0" smtClean="0"/>
              </a:p>
              <a:p>
                <a:r>
                  <a:rPr lang="zh-CN" altLang="en-US" dirty="0" smtClean="0"/>
                  <a:t>假设有一个模型</a:t>
                </a:r>
                <a:r>
                  <a:rPr lang="zh-CN" altLang="en-US" smtClean="0"/>
                  <a:t>，可以预测</a:t>
                </a:r>
                <a:r>
                  <a:rPr lang="zh-CN" altLang="en-US" dirty="0" smtClean="0"/>
                  <a:t>某地当天是否会发生地震。根据我们的常识，</a:t>
                </a:r>
                <a:r>
                  <a:rPr lang="zh-CN" altLang="en-US" sz="1200" b="0" i="0" kern="1200" dirty="0" smtClean="0">
                    <a:solidFill>
                      <a:schemeClr val="tx1"/>
                    </a:solidFill>
                    <a:effectLst/>
                    <a:latin typeface="+mn-lt"/>
                    <a:ea typeface="+mn-ea"/>
                    <a:cs typeface="+mn-cs"/>
                  </a:rPr>
                  <a:t>由于在某一天内不会发生地震的概率可能性接近</a:t>
                </a:r>
                <a:r>
                  <a:rPr lang="en-US" altLang="zh-CN" sz="1200" b="0" i="0" kern="1200" dirty="0" smtClean="0">
                    <a:solidFill>
                      <a:schemeClr val="tx1"/>
                    </a:solidFill>
                    <a:effectLst/>
                    <a:latin typeface="+mn-lt"/>
                    <a:ea typeface="+mn-ea"/>
                    <a:cs typeface="+mn-cs"/>
                  </a:rPr>
                  <a:t>99.99%</a:t>
                </a:r>
                <a:r>
                  <a:rPr lang="zh-CN" altLang="en-US" sz="1200" b="0" i="0" kern="1200" dirty="0" smtClean="0">
                    <a:solidFill>
                      <a:schemeClr val="tx1"/>
                    </a:solidFill>
                    <a:effectLst/>
                    <a:latin typeface="+mn-lt"/>
                    <a:ea typeface="+mn-ea"/>
                    <a:cs typeface="+mn-cs"/>
                  </a:rPr>
                  <a:t>，模型会倾向于无脑地把所有的日子全部预测为不会发生地震，这样它的</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将会高达</a:t>
                </a:r>
                <a:r>
                  <a:rPr lang="en-US" altLang="zh-CN" sz="1200" b="0" i="0" kern="1200" dirty="0" smtClean="0">
                    <a:solidFill>
                      <a:schemeClr val="tx1"/>
                    </a:solidFill>
                    <a:effectLst/>
                    <a:latin typeface="+mn-lt"/>
                    <a:ea typeface="+mn-ea"/>
                    <a:cs typeface="+mn-cs"/>
                  </a:rPr>
                  <a:t>99.99%</a:t>
                </a:r>
                <a:r>
                  <a:rPr lang="zh-CN" altLang="en-US" sz="1200" b="0" i="0" kern="1200" dirty="0" smtClean="0">
                    <a:solidFill>
                      <a:schemeClr val="tx1"/>
                    </a:solidFill>
                    <a:effectLst/>
                    <a:latin typeface="+mn-lt"/>
                    <a:ea typeface="+mn-ea"/>
                    <a:cs typeface="+mn-cs"/>
                  </a:rPr>
                  <a:t>，只有在那</a:t>
                </a:r>
                <a:r>
                  <a:rPr lang="en-US" altLang="zh-CN" sz="1200" b="0" i="0" kern="1200" dirty="0" smtClean="0">
                    <a:solidFill>
                      <a:schemeClr val="tx1"/>
                    </a:solidFill>
                    <a:effectLst/>
                    <a:latin typeface="+mn-lt"/>
                    <a:ea typeface="+mn-ea"/>
                    <a:cs typeface="+mn-cs"/>
                  </a:rPr>
                  <a:t>0.01%</a:t>
                </a:r>
                <a:r>
                  <a:rPr lang="zh-CN" altLang="en-US" sz="1200" b="0" i="0" kern="1200" dirty="0" smtClean="0">
                    <a:solidFill>
                      <a:schemeClr val="tx1"/>
                    </a:solidFill>
                    <a:effectLst/>
                    <a:latin typeface="+mn-lt"/>
                    <a:ea typeface="+mn-ea"/>
                    <a:cs typeface="+mn-cs"/>
                  </a:rPr>
                  <a:t>的、会发生地震的日子是预测错的。这样的模型虽然</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非常高，但是没有任何意义。毕竟我们要的就是在这</a:t>
                </a:r>
                <a:r>
                  <a:rPr lang="en-US" altLang="zh-CN" sz="1200" b="0" i="0" kern="1200" dirty="0" smtClean="0">
                    <a:solidFill>
                      <a:schemeClr val="tx1"/>
                    </a:solidFill>
                    <a:effectLst/>
                    <a:latin typeface="+mn-lt"/>
                    <a:ea typeface="+mn-ea"/>
                    <a:cs typeface="+mn-cs"/>
                  </a:rPr>
                  <a:t>0.01%</a:t>
                </a:r>
                <a:r>
                  <a:rPr lang="zh-CN" altLang="en-US" sz="1200" b="0" i="0" kern="1200" dirty="0" smtClean="0">
                    <a:solidFill>
                      <a:schemeClr val="tx1"/>
                    </a:solidFill>
                    <a:effectLst/>
                    <a:latin typeface="+mn-lt"/>
                    <a:ea typeface="+mn-ea"/>
                    <a:cs typeface="+mn-cs"/>
                  </a:rPr>
                  <a:t>的日子把地震预测出来。</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在这种情况下，</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显然是一个非常差的指标，它无法衡量一个模型的真实预测能力。</a:t>
                </a:r>
                <a:endParaRPr lang="en-US" altLang="zh-CN" dirty="0" smtClean="0"/>
              </a:p>
              <a:p>
                <a:endParaRPr lang="en-US" altLang="zh-CN"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04407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对于上述的二分类问题（地震发生</a:t>
            </a:r>
            <a:r>
              <a:rPr lang="en-US" altLang="zh-CN" dirty="0" smtClean="0"/>
              <a:t>or</a:t>
            </a:r>
            <a:r>
              <a:rPr lang="zh-CN" altLang="en-US" dirty="0" smtClean="0"/>
              <a:t>不发生），我们可以引入混淆矩阵的概念，将样例根据其真实类别与分类器预测类别的组合划分为以下四种情况：</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TP FN</a:t>
            </a:r>
            <a:r>
              <a:rPr lang="zh-CN" altLang="en-US" baseline="0" dirty="0" smtClean="0"/>
              <a:t> </a:t>
            </a:r>
            <a:r>
              <a:rPr lang="en-US" altLang="zh-CN" baseline="0" dirty="0" smtClean="0"/>
              <a:t>FP TN</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baseline="0" dirty="0" smtClean="0"/>
              <a:t>将这四种情况对应的样本数填入，构成混淆矩阵。</a:t>
            </a:r>
            <a:endParaRPr lang="en-US" altLang="zh-CN" baseline="0"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注意，虽然我们可以把</a:t>
            </a:r>
            <a:r>
              <a:rPr lang="en-US" altLang="zh-CN" dirty="0" smtClean="0"/>
              <a:t>positive</a:t>
            </a:r>
            <a:r>
              <a:rPr lang="zh-CN" altLang="en-US" dirty="0" smtClean="0"/>
              <a:t>指定为二分类中的任意一者，但我们一般把更关心的情况指定为</a:t>
            </a:r>
            <a:r>
              <a:rPr lang="en-US" altLang="zh-CN" dirty="0" smtClean="0"/>
              <a:t>positive</a:t>
            </a:r>
            <a:r>
              <a:rPr lang="zh-CN" altLang="en-US" dirty="0" smtClean="0"/>
              <a:t>，比如“用户会流失”、“是垃圾邮件”、“是阳性肿瘤”、“将要发生地震”。</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混淆矩阵是非常重要的概念，它被广泛应用于机器学习和深度学习领域中。</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11642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根据混淆矩阵，我们可以很直观地比对原始数据和预测结果。</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509466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显然，混淆矩阵中的四个值还不能直接反映模型的真实预测能力，我们引入混淆矩阵的二级指标：</a:t>
            </a:r>
            <a:endParaRPr lang="en-US" altLang="zh-CN" dirty="0" smtClean="0"/>
          </a:p>
          <a:p>
            <a:r>
              <a:rPr lang="en-US" altLang="zh-CN" dirty="0" smtClean="0"/>
              <a:t>Accuracy</a:t>
            </a:r>
            <a:r>
              <a:rPr lang="zh-CN" altLang="en-US" dirty="0" smtClean="0"/>
              <a:t>，准确率，指的是“</a:t>
            </a:r>
            <a:r>
              <a:rPr lang="zh-CN" altLang="en-US" sz="1200" b="0" i="0" kern="1200" dirty="0" smtClean="0">
                <a:solidFill>
                  <a:schemeClr val="tx1"/>
                </a:solidFill>
                <a:effectLst/>
                <a:latin typeface="+mn-lt"/>
                <a:ea typeface="+mn-ea"/>
                <a:cs typeface="+mn-cs"/>
              </a:rPr>
              <a:t>预测正确的样本数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样本数总数</a:t>
            </a:r>
            <a:r>
              <a:rPr lang="zh-CN" altLang="en-US" dirty="0" smtClean="0"/>
              <a:t>”，和日常认为的准确率概念一样。</a:t>
            </a:r>
            <a:r>
              <a:rPr lang="zh-CN" altLang="en-US" sz="1200" b="0" i="0" kern="1200" dirty="0" smtClean="0">
                <a:solidFill>
                  <a:schemeClr val="tx1"/>
                </a:solidFill>
                <a:effectLst/>
                <a:latin typeface="+mn-lt"/>
                <a:ea typeface="+mn-ea"/>
                <a:cs typeface="+mn-cs"/>
              </a:rPr>
              <a:t>准确率的优点是比较简单直观。通常我们在如下情况的时候使用准确率：</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数据集是平衡的；</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我们要向对于机器学习与数据科学不熟悉的人解释我们的模型；</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每一类</a:t>
            </a:r>
            <a:r>
              <a:rPr lang="en-US" altLang="zh-CN" sz="1200" b="0" i="0" kern="1200" dirty="0" smtClean="0">
                <a:solidFill>
                  <a:schemeClr val="tx1"/>
                </a:solidFill>
                <a:effectLst/>
                <a:latin typeface="+mn-lt"/>
                <a:ea typeface="+mn-ea"/>
                <a:cs typeface="+mn-cs"/>
              </a:rPr>
              <a:t>label</a:t>
            </a:r>
            <a:r>
              <a:rPr lang="zh-CN" altLang="en-US" sz="1200" b="0" i="0" kern="1200" dirty="0" smtClean="0">
                <a:solidFill>
                  <a:schemeClr val="tx1"/>
                </a:solidFill>
                <a:effectLst/>
                <a:latin typeface="+mn-lt"/>
                <a:ea typeface="+mn-ea"/>
                <a:cs typeface="+mn-cs"/>
              </a:rPr>
              <a:t>对我们来说是一样重要的。因为准确率同时考虑了</a:t>
            </a:r>
            <a:r>
              <a:rPr lang="en-US" altLang="zh-CN" sz="1200" b="0" i="0" kern="1200" dirty="0" smtClean="0">
                <a:solidFill>
                  <a:schemeClr val="tx1"/>
                </a:solidFill>
                <a:effectLst/>
                <a:latin typeface="+mn-lt"/>
                <a:ea typeface="+mn-ea"/>
                <a:cs typeface="+mn-cs"/>
              </a:rPr>
              <a:t>Positive samples</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Negative samples</a:t>
            </a:r>
            <a:r>
              <a:rPr lang="zh-CN" altLang="en-US" sz="1200" b="0" i="0" kern="1200" dirty="0" smtClean="0">
                <a:solidFill>
                  <a:schemeClr val="tx1"/>
                </a:solidFill>
                <a:effectLst/>
                <a:latin typeface="+mn-lt"/>
                <a:ea typeface="+mn-ea"/>
                <a:cs typeface="+mn-cs"/>
              </a:rPr>
              <a:t>。缺点也很明显，之前提到过的预测地震的例子就已经表明，它不适用于不平衡数据。</a:t>
            </a:r>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dirty="0" smtClean="0"/>
              <a:t>Precision</a:t>
            </a:r>
            <a:r>
              <a:rPr lang="zh-CN" altLang="en-US" dirty="0" smtClean="0"/>
              <a:t>，精确率或者精度，在信息检索领域，</a:t>
            </a:r>
            <a:r>
              <a:rPr lang="en-US" altLang="zh-CN" dirty="0" smtClean="0"/>
              <a:t>precision</a:t>
            </a:r>
            <a:r>
              <a:rPr lang="zh-CN" altLang="en-US" dirty="0" smtClean="0"/>
              <a:t>也被称为“查准率”。它指的是在我们预测为</a:t>
            </a:r>
            <a:r>
              <a:rPr lang="en-US" altLang="zh-CN" dirty="0" smtClean="0"/>
              <a:t>Positive</a:t>
            </a:r>
            <a:r>
              <a:rPr lang="zh-CN" altLang="en-US" dirty="0" smtClean="0"/>
              <a:t>的样本里面，有多少确实为</a:t>
            </a:r>
            <a:r>
              <a:rPr lang="en-US" altLang="zh-CN" dirty="0" smtClean="0"/>
              <a:t>Positive</a:t>
            </a:r>
            <a:r>
              <a:rPr lang="zh-CN" altLang="en-US" dirty="0" smtClean="0"/>
              <a:t>的。</a:t>
            </a:r>
            <a:r>
              <a:rPr lang="zh-CN" altLang="en-US" sz="1200" b="0" i="0" kern="1200" dirty="0" smtClean="0">
                <a:solidFill>
                  <a:schemeClr val="tx1"/>
                </a:solidFill>
                <a:effectLst/>
                <a:latin typeface="+mn-lt"/>
                <a:ea typeface="+mn-ea"/>
                <a:cs typeface="+mn-cs"/>
              </a:rPr>
              <a:t>如果我们要求</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高，那么我们是在“求精”，也就是我们不指望着把所有的</a:t>
            </a:r>
            <a:r>
              <a:rPr lang="en-US" altLang="zh-CN" sz="1200" b="0" i="0" kern="1200" dirty="0" smtClean="0">
                <a:solidFill>
                  <a:schemeClr val="tx1"/>
                </a:solidFill>
                <a:effectLst/>
                <a:latin typeface="+mn-lt"/>
                <a:ea typeface="+mn-ea"/>
                <a:cs typeface="+mn-cs"/>
              </a:rPr>
              <a:t>positive samples</a:t>
            </a:r>
            <a:r>
              <a:rPr lang="zh-CN" altLang="en-US" sz="1200" b="0" i="0" kern="1200" dirty="0" smtClean="0">
                <a:solidFill>
                  <a:schemeClr val="tx1"/>
                </a:solidFill>
                <a:effectLst/>
                <a:latin typeface="+mn-lt"/>
                <a:ea typeface="+mn-ea"/>
                <a:cs typeface="+mn-cs"/>
              </a:rPr>
              <a:t>都找出来，但是我们希望在我们挑出来的样本一定要干净、纯粹，那些“鱼目混珠”的</a:t>
            </a:r>
            <a:r>
              <a:rPr lang="en-US" altLang="zh-CN" sz="1200" b="0" i="0" kern="1200" dirty="0" smtClean="0">
                <a:solidFill>
                  <a:schemeClr val="tx1"/>
                </a:solidFill>
                <a:effectLst/>
                <a:latin typeface="+mn-lt"/>
                <a:ea typeface="+mn-ea"/>
                <a:cs typeface="+mn-cs"/>
              </a:rPr>
              <a:t>negative sample</a:t>
            </a:r>
            <a:r>
              <a:rPr lang="zh-CN" altLang="en-US" sz="1200" b="0" i="0" kern="1200" dirty="0" smtClean="0">
                <a:solidFill>
                  <a:schemeClr val="tx1"/>
                </a:solidFill>
                <a:effectLst/>
                <a:latin typeface="+mn-lt"/>
                <a:ea typeface="+mn-ea"/>
                <a:cs typeface="+mn-cs"/>
              </a:rPr>
              <a:t>越少越好，哪怕放走了一部分</a:t>
            </a:r>
            <a:r>
              <a:rPr lang="en-US" altLang="zh-CN" sz="1200" b="0" i="0" kern="1200" dirty="0" smtClean="0">
                <a:solidFill>
                  <a:schemeClr val="tx1"/>
                </a:solidFill>
                <a:effectLst/>
                <a:latin typeface="+mn-lt"/>
                <a:ea typeface="+mn-ea"/>
                <a:cs typeface="+mn-cs"/>
              </a:rPr>
              <a:t>positive samples</a:t>
            </a:r>
            <a:r>
              <a:rPr lang="zh-CN" altLang="en-US" sz="1200" b="0" i="0" kern="1200" dirty="0" smtClean="0">
                <a:solidFill>
                  <a:schemeClr val="tx1"/>
                </a:solidFill>
                <a:effectLst/>
                <a:latin typeface="+mn-lt"/>
                <a:ea typeface="+mn-ea"/>
                <a:cs typeface="+mn-cs"/>
              </a:rPr>
              <a:t>也在所不惜。我们可以把高</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的模型看做是一个谨小慎微、小心翼翼的“检察官”，他对“质”的要求很高，哪怕我抓到的人很少也没关系，但只要是我抓出来的人，就一定是犯过事的。他绝不冤枉一个好人。</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dirty="0" smtClean="0"/>
              <a:t>Recall</a:t>
            </a:r>
            <a:r>
              <a:rPr lang="zh-CN" altLang="en-US" dirty="0" smtClean="0"/>
              <a:t>，召回率或者灵敏度，</a:t>
            </a:r>
            <a:r>
              <a:rPr lang="zh-CN" altLang="en-US" sz="1200" b="0" i="0" kern="1200" dirty="0" smtClean="0">
                <a:solidFill>
                  <a:schemeClr val="tx1"/>
                </a:solidFill>
                <a:effectLst/>
                <a:latin typeface="+mn-lt"/>
                <a:ea typeface="+mn-ea"/>
                <a:cs typeface="+mn-cs"/>
              </a:rPr>
              <a:t>在信息检索领域，</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也被称为“查全率”。它</a:t>
            </a:r>
            <a:r>
              <a:rPr lang="zh-CN" altLang="en-US" dirty="0" smtClean="0"/>
              <a:t>指的是实际上为</a:t>
            </a:r>
            <a:r>
              <a:rPr lang="en-US" altLang="zh-CN" dirty="0" smtClean="0"/>
              <a:t>Positive</a:t>
            </a:r>
            <a:r>
              <a:rPr lang="zh-CN" altLang="en-US" dirty="0" smtClean="0"/>
              <a:t>的样本，有多少被我们挑出来了。</a:t>
            </a:r>
            <a:r>
              <a:rPr lang="zh-CN" altLang="en-US" sz="1200" b="0" i="0" kern="1200" dirty="0" smtClean="0">
                <a:solidFill>
                  <a:schemeClr val="tx1"/>
                </a:solidFill>
                <a:effectLst/>
                <a:latin typeface="+mn-lt"/>
                <a:ea typeface="+mn-ea"/>
                <a:cs typeface="+mn-cs"/>
              </a:rPr>
              <a:t>如果我们要求</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高，我们实际上是在求“大而全”，也就是我们希望一定要把所有的</a:t>
            </a:r>
            <a:r>
              <a:rPr lang="en-US" altLang="zh-CN" sz="1200" b="0" i="0" kern="1200" dirty="0" smtClean="0">
                <a:solidFill>
                  <a:schemeClr val="tx1"/>
                </a:solidFill>
                <a:effectLst/>
                <a:latin typeface="+mn-lt"/>
                <a:ea typeface="+mn-ea"/>
                <a:cs typeface="+mn-cs"/>
              </a:rPr>
              <a:t>positive samples</a:t>
            </a:r>
            <a:r>
              <a:rPr lang="zh-CN" altLang="en-US" sz="1200" b="0" i="0" kern="1200" dirty="0" smtClean="0">
                <a:solidFill>
                  <a:schemeClr val="tx1"/>
                </a:solidFill>
                <a:effectLst/>
                <a:latin typeface="+mn-lt"/>
                <a:ea typeface="+mn-ea"/>
                <a:cs typeface="+mn-cs"/>
              </a:rPr>
              <a:t>全部找出来，哪怕我们找出来的样本里面有很多“滥竽充数”的</a:t>
            </a:r>
            <a:r>
              <a:rPr lang="en-US" altLang="zh-CN" sz="1200" b="0" i="0" kern="1200" dirty="0" smtClean="0">
                <a:solidFill>
                  <a:schemeClr val="tx1"/>
                </a:solidFill>
                <a:effectLst/>
                <a:latin typeface="+mn-lt"/>
                <a:ea typeface="+mn-ea"/>
                <a:cs typeface="+mn-cs"/>
              </a:rPr>
              <a:t>negative</a:t>
            </a:r>
            <a:r>
              <a:rPr lang="zh-CN" altLang="en-US" sz="1200" b="0" i="0" kern="1200" dirty="0" smtClean="0">
                <a:solidFill>
                  <a:schemeClr val="tx1"/>
                </a:solidFill>
                <a:effectLst/>
                <a:latin typeface="+mn-lt"/>
                <a:ea typeface="+mn-ea"/>
                <a:cs typeface="+mn-cs"/>
              </a:rPr>
              <a:t>样本在里面。追求</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高，实际上的原则是，不管你是否真的是</a:t>
            </a:r>
            <a:r>
              <a:rPr lang="en-US" altLang="zh-CN" sz="1200" b="0" i="0" kern="1200" dirty="0" smtClean="0">
                <a:solidFill>
                  <a:schemeClr val="tx1"/>
                </a:solidFill>
                <a:effectLst/>
                <a:latin typeface="+mn-lt"/>
                <a:ea typeface="+mn-ea"/>
                <a:cs typeface="+mn-cs"/>
              </a:rPr>
              <a:t>positive</a:t>
            </a:r>
            <a:r>
              <a:rPr lang="zh-CN" altLang="en-US" sz="1200" b="0" i="0" kern="1200" dirty="0" smtClean="0">
                <a:solidFill>
                  <a:schemeClr val="tx1"/>
                </a:solidFill>
                <a:effectLst/>
                <a:latin typeface="+mn-lt"/>
                <a:ea typeface="+mn-ea"/>
                <a:cs typeface="+mn-cs"/>
              </a:rPr>
              <a:t>，只要我看着你“很可疑”，我就管他三七二十一先把你抓出来，哪怕有冤假错案也在所不惜。我们可以把高</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的模型看做是一个很贪婪的“检察官”，他对“量”要求很高，虽然可能经常抓错人，但是几乎没有犯人能够成功的流窜在外。</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074521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下面我们讲两个故事，深刻理解</a:t>
            </a:r>
            <a:r>
              <a:rPr lang="en-US" altLang="zh-CN" dirty="0" smtClean="0"/>
              <a:t>Precision</a:t>
            </a:r>
            <a:r>
              <a:rPr lang="zh-CN" altLang="en-US" dirty="0" smtClean="0"/>
              <a:t>和</a:t>
            </a:r>
            <a:r>
              <a:rPr lang="en-US" altLang="zh-CN" dirty="0" smtClean="0"/>
              <a:t>Recall</a:t>
            </a:r>
            <a:r>
              <a:rPr lang="zh-CN" altLang="en-US" dirty="0" smtClean="0"/>
              <a:t>适用的场景。</a:t>
            </a:r>
            <a:endParaRPr lang="en-US" altLang="zh-CN" dirty="0" smtClean="0"/>
          </a:p>
          <a:p>
            <a:r>
              <a:rPr lang="zh-CN" altLang="en-US" dirty="0" smtClean="0"/>
              <a:t>第一个例子是垃圾短信检测模型。日常生活中手机会接收到各种短信，其中也包含部分垃圾短信，目前很多手机都已经拥有自动屏蔽垃圾短信的功能。根据之前的定义，我们把“是垃圾短信”定义为</a:t>
            </a:r>
            <a:r>
              <a:rPr lang="en-US" altLang="zh-CN" dirty="0" smtClean="0"/>
              <a:t>Positive</a:t>
            </a:r>
            <a:r>
              <a:rPr lang="zh-CN" altLang="en-US" dirty="0" smtClean="0"/>
              <a:t>，把“正常短信”定义为</a:t>
            </a:r>
            <a:r>
              <a:rPr lang="en-US" altLang="zh-CN" dirty="0" smtClean="0"/>
              <a:t>Negative</a:t>
            </a:r>
            <a:r>
              <a:rPr lang="zh-CN" altLang="en-US" dirty="0" smtClean="0"/>
              <a:t>。假设我们有</a:t>
            </a:r>
            <a:r>
              <a:rPr lang="en-US" altLang="zh-CN" dirty="0" smtClean="0"/>
              <a:t>100</a:t>
            </a:r>
            <a:r>
              <a:rPr lang="zh-CN" altLang="en-US" dirty="0" smtClean="0"/>
              <a:t>条短信，正常短信</a:t>
            </a:r>
            <a:r>
              <a:rPr lang="en-US" altLang="zh-CN" dirty="0" smtClean="0"/>
              <a:t>90</a:t>
            </a:r>
            <a:r>
              <a:rPr lang="zh-CN" altLang="en-US" dirty="0" smtClean="0"/>
              <a:t>条，垃圾短信</a:t>
            </a:r>
            <a:r>
              <a:rPr lang="en-US" altLang="zh-CN" dirty="0" smtClean="0"/>
              <a:t>10</a:t>
            </a:r>
            <a:r>
              <a:rPr lang="zh-CN" altLang="en-US" dirty="0" smtClean="0"/>
              <a:t>条，该模型的结果如右表：在</a:t>
            </a:r>
            <a:r>
              <a:rPr lang="en-US" altLang="zh-CN" dirty="0" smtClean="0"/>
              <a:t>10</a:t>
            </a:r>
            <a:r>
              <a:rPr lang="zh-CN" altLang="en-US" dirty="0" smtClean="0"/>
              <a:t>条垃圾短信中正确检测</a:t>
            </a:r>
            <a:r>
              <a:rPr lang="en-US" altLang="zh-CN" dirty="0" smtClean="0"/>
              <a:t>3</a:t>
            </a:r>
            <a:r>
              <a:rPr lang="zh-CN" altLang="en-US" dirty="0" smtClean="0"/>
              <a:t>条，漏判</a:t>
            </a:r>
            <a:r>
              <a:rPr lang="en-US" altLang="zh-CN" dirty="0" smtClean="0"/>
              <a:t>7</a:t>
            </a:r>
            <a:r>
              <a:rPr lang="zh-CN" altLang="en-US" dirty="0" smtClean="0"/>
              <a:t>条；在</a:t>
            </a:r>
            <a:r>
              <a:rPr lang="en-US" altLang="zh-CN" dirty="0" smtClean="0"/>
              <a:t>90</a:t>
            </a:r>
            <a:r>
              <a:rPr lang="zh-CN" altLang="en-US" dirty="0" smtClean="0"/>
              <a:t>条正常短信中正确检测</a:t>
            </a:r>
            <a:r>
              <a:rPr lang="en-US" altLang="zh-CN" dirty="0" smtClean="0"/>
              <a:t>89</a:t>
            </a:r>
            <a:r>
              <a:rPr lang="zh-CN" altLang="en-US" dirty="0" smtClean="0"/>
              <a:t>条，误判</a:t>
            </a:r>
            <a:r>
              <a:rPr lang="en-US" altLang="zh-CN" dirty="0" smtClean="0"/>
              <a:t>1</a:t>
            </a:r>
            <a:r>
              <a:rPr lang="zh-CN" altLang="en-US" dirty="0" smtClean="0"/>
              <a:t>条。在该案例中，误判的</a:t>
            </a:r>
            <a:r>
              <a:rPr lang="en-US" altLang="zh-CN" dirty="0" smtClean="0"/>
              <a:t>1</a:t>
            </a:r>
            <a:r>
              <a:rPr lang="zh-CN" altLang="en-US" dirty="0" smtClean="0"/>
              <a:t>条正常短信所产生的影响远远大于漏判的</a:t>
            </a:r>
            <a:r>
              <a:rPr lang="en-US" altLang="zh-CN" dirty="0" smtClean="0"/>
              <a:t>7</a:t>
            </a:r>
            <a:r>
              <a:rPr lang="zh-CN" altLang="en-US" dirty="0" smtClean="0"/>
              <a:t>条垃圾短信，被屏蔽的正常短信可能包含非常重要的信息，而漏判的垃圾短信仅需几秒就可以手动删除。计算模型的准确率、精确率以及召回率，发现精确率达</a:t>
            </a:r>
            <a:r>
              <a:rPr lang="en-US" altLang="zh-CN" dirty="0" smtClean="0"/>
              <a:t>0.75</a:t>
            </a:r>
            <a:r>
              <a:rPr lang="zh-CN" altLang="en-US" dirty="0" smtClean="0"/>
              <a:t>，召回率为</a:t>
            </a:r>
            <a:r>
              <a:rPr lang="en-US" altLang="zh-CN" dirty="0" smtClean="0"/>
              <a:t>0.5</a:t>
            </a:r>
            <a:r>
              <a:rPr lang="zh-CN" altLang="en-US" dirty="0" smtClean="0"/>
              <a:t>。这意味着高精确率模型适用于“冤假错案”成本高，“漏网之鱼”成本低的情况，即</a:t>
            </a:r>
            <a:r>
              <a:rPr lang="zh-CN" altLang="en-US" sz="1200" b="0" i="0" kern="1200" dirty="0" smtClean="0">
                <a:solidFill>
                  <a:schemeClr val="tx1"/>
                </a:solidFill>
                <a:effectLst/>
                <a:latin typeface="+mn-lt"/>
                <a:ea typeface="+mn-ea"/>
                <a:cs typeface="+mn-cs"/>
              </a:rPr>
              <a:t>必须一定是“垃圾短信”才能被我们标记为</a:t>
            </a:r>
            <a:r>
              <a:rPr lang="en-US" altLang="zh-CN" sz="1200" b="0" i="0" kern="1200" dirty="0" smtClean="0">
                <a:solidFill>
                  <a:schemeClr val="tx1"/>
                </a:solidFill>
                <a:effectLst/>
                <a:latin typeface="+mn-lt"/>
                <a:ea typeface="+mn-ea"/>
                <a:cs typeface="+mn-cs"/>
              </a:rPr>
              <a:t>Positive</a:t>
            </a:r>
            <a:r>
              <a:rPr lang="zh-CN" altLang="en-US" sz="1200" b="0" i="0" kern="1200" dirty="0" smtClean="0">
                <a:solidFill>
                  <a:schemeClr val="tx1"/>
                </a:solidFill>
                <a:effectLst/>
                <a:latin typeface="+mn-lt"/>
                <a:ea typeface="+mn-ea"/>
                <a:cs typeface="+mn-cs"/>
              </a:rPr>
              <a:t>，哪怕代价是放过几只漏网之鱼也没关系。</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第二个例子是新冠患者检测模型。对于疑似新冠患者或密切接触者通常需要进一步检测。根据之前的定义，我们把“阳性”定义为</a:t>
            </a:r>
            <a:r>
              <a:rPr lang="en-US" altLang="zh-CN" dirty="0" smtClean="0"/>
              <a:t>Positive</a:t>
            </a:r>
            <a:r>
              <a:rPr lang="zh-CN" altLang="en-US" dirty="0" smtClean="0"/>
              <a:t>，把“阴性”定义为</a:t>
            </a:r>
            <a:r>
              <a:rPr lang="en-US" altLang="zh-CN" dirty="0" smtClean="0"/>
              <a:t>Negative</a:t>
            </a:r>
            <a:r>
              <a:rPr lang="zh-CN" altLang="en-US" dirty="0" smtClean="0"/>
              <a:t>。假设我们有</a:t>
            </a:r>
            <a:r>
              <a:rPr lang="en-US" altLang="zh-CN" dirty="0" smtClean="0"/>
              <a:t>100</a:t>
            </a:r>
            <a:r>
              <a:rPr lang="zh-CN" altLang="en-US" dirty="0" smtClean="0"/>
              <a:t>名密切接触者，实际患病人数为</a:t>
            </a:r>
            <a:r>
              <a:rPr lang="en-US" altLang="zh-CN" dirty="0" smtClean="0"/>
              <a:t>10</a:t>
            </a:r>
            <a:r>
              <a:rPr lang="zh-CN" altLang="en-US" dirty="0" smtClean="0"/>
              <a:t>人。该模型的结果如右表：在</a:t>
            </a:r>
            <a:r>
              <a:rPr lang="en-US" altLang="zh-CN" dirty="0" smtClean="0"/>
              <a:t>10</a:t>
            </a:r>
            <a:r>
              <a:rPr lang="zh-CN" altLang="en-US" dirty="0" smtClean="0"/>
              <a:t>名阳性患者中正确检测</a:t>
            </a:r>
            <a:r>
              <a:rPr lang="en-US" altLang="zh-CN" dirty="0" smtClean="0"/>
              <a:t>9</a:t>
            </a:r>
            <a:r>
              <a:rPr lang="zh-CN" altLang="en-US" dirty="0" smtClean="0"/>
              <a:t>名，漏判</a:t>
            </a:r>
            <a:r>
              <a:rPr lang="en-US" altLang="zh-CN" dirty="0" smtClean="0"/>
              <a:t>1</a:t>
            </a:r>
            <a:r>
              <a:rPr lang="zh-CN" altLang="en-US" dirty="0" smtClean="0"/>
              <a:t>名，在</a:t>
            </a:r>
            <a:r>
              <a:rPr lang="en-US" altLang="zh-CN" dirty="0" smtClean="0"/>
              <a:t>90</a:t>
            </a:r>
            <a:r>
              <a:rPr lang="zh-CN" altLang="en-US" dirty="0" smtClean="0"/>
              <a:t>名健康人群中正确检测</a:t>
            </a:r>
            <a:r>
              <a:rPr lang="en-US" altLang="zh-CN" dirty="0" smtClean="0"/>
              <a:t>81</a:t>
            </a:r>
            <a:r>
              <a:rPr lang="zh-CN" altLang="en-US" dirty="0" smtClean="0"/>
              <a:t>名，误判</a:t>
            </a:r>
            <a:r>
              <a:rPr lang="en-US" altLang="zh-CN" dirty="0" smtClean="0"/>
              <a:t>9</a:t>
            </a:r>
            <a:r>
              <a:rPr lang="zh-CN" altLang="en-US" dirty="0" smtClean="0"/>
              <a:t>名。在这个案例中，漏判的</a:t>
            </a:r>
            <a:r>
              <a:rPr lang="en-US" altLang="zh-CN" dirty="0" smtClean="0"/>
              <a:t>1</a:t>
            </a:r>
            <a:r>
              <a:rPr lang="zh-CN" altLang="en-US" dirty="0" smtClean="0"/>
              <a:t>名阳性患者所产生的影响远大于误判的</a:t>
            </a:r>
            <a:r>
              <a:rPr lang="en-US" altLang="zh-CN" dirty="0" smtClean="0"/>
              <a:t>9</a:t>
            </a:r>
            <a:r>
              <a:rPr lang="zh-CN" altLang="en-US" dirty="0" smtClean="0"/>
              <a:t>名健康人群，漏判的阳性患者可能会带来大规模的传染，而误判的人群仅需进一步隔离检查便可正常生活。计算模型的准确率、精确率以及召回率，发现精确率达</a:t>
            </a:r>
            <a:r>
              <a:rPr lang="en-US" altLang="zh-CN" dirty="0" smtClean="0"/>
              <a:t>0.5</a:t>
            </a:r>
            <a:r>
              <a:rPr lang="zh-CN" altLang="en-US" dirty="0" smtClean="0"/>
              <a:t>，召回率为</a:t>
            </a:r>
            <a:r>
              <a:rPr lang="en-US" altLang="zh-CN" dirty="0" smtClean="0"/>
              <a:t>0.9</a:t>
            </a:r>
            <a:r>
              <a:rPr lang="zh-CN" altLang="en-US" dirty="0" smtClean="0"/>
              <a:t>。这意味着高召回率适用于</a:t>
            </a:r>
            <a:r>
              <a:rPr lang="zh-CN" altLang="en-US" sz="1200" b="0" i="0" kern="1200" dirty="0" smtClean="0">
                <a:solidFill>
                  <a:schemeClr val="tx1"/>
                </a:solidFill>
                <a:effectLst/>
                <a:latin typeface="+mn-lt"/>
                <a:ea typeface="+mn-ea"/>
                <a:cs typeface="+mn-cs"/>
              </a:rPr>
              <a:t>“冤假错案”成本低，“漏网之鱼”成本高的情况，即必须把所有的阳性患者都检测出来不可遗漏，哪怕误判了几名健康人群也没关系。</a:t>
            </a:r>
            <a:endParaRPr lang="en-US" altLang="zh-CN" b="0"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609892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听了之前的介绍，我们当然是希望</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都要高，但这两者很多时候是不可兼得的。</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例如，我们有</a:t>
                </a:r>
                <a:r>
                  <a:rPr lang="en-US" altLang="zh-CN" sz="1200" b="0" i="0" kern="1200" dirty="0" smtClean="0">
                    <a:solidFill>
                      <a:schemeClr val="tx1"/>
                    </a:solidFill>
                    <a:effectLst/>
                    <a:latin typeface="+mn-lt"/>
                    <a:ea typeface="+mn-ea"/>
                    <a:cs typeface="+mn-cs"/>
                  </a:rPr>
                  <a:t>1000</a:t>
                </a:r>
                <a:r>
                  <a:rPr lang="zh-CN" altLang="en-US" sz="1200" b="0" i="0" kern="1200" dirty="0" smtClean="0">
                    <a:solidFill>
                      <a:schemeClr val="tx1"/>
                    </a:solidFill>
                    <a:effectLst/>
                    <a:latin typeface="+mn-lt"/>
                    <a:ea typeface="+mn-ea"/>
                    <a:cs typeface="+mn-cs"/>
                  </a:rPr>
                  <a:t>封邮件，其中垃圾邮件有</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封，仍然是希望预测出其中的垃圾邮件。</a:t>
                </a:r>
              </a:p>
              <a:p>
                <a:r>
                  <a:rPr lang="zh-CN" altLang="en-US" sz="1200" b="0" i="0" kern="1200" dirty="0" smtClean="0">
                    <a:solidFill>
                      <a:schemeClr val="tx1"/>
                    </a:solidFill>
                    <a:effectLst/>
                    <a:latin typeface="+mn-lt"/>
                    <a:ea typeface="+mn-ea"/>
                    <a:cs typeface="+mn-cs"/>
                  </a:rPr>
                  <a:t>如果我们希望</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高，那么在极端情况下，我们只把最最可能是垃圾邮件的那一封邮件，也就是</a:t>
                </a:r>
                <a:r>
                  <a:rPr lang="en-US" altLang="zh-CN" sz="1200" b="0" i="0" kern="1200" dirty="0" smtClean="0">
                    <a:solidFill>
                      <a:schemeClr val="tx1"/>
                    </a:solidFill>
                    <a:effectLst/>
                    <a:latin typeface="+mn-lt"/>
                    <a:ea typeface="+mn-ea"/>
                    <a:cs typeface="+mn-cs"/>
                  </a:rPr>
                  <a:t>No.1</a:t>
                </a:r>
                <a:r>
                  <a:rPr lang="zh-CN" altLang="en-US" sz="1200" b="0" i="0" kern="1200" dirty="0" smtClean="0">
                    <a:solidFill>
                      <a:schemeClr val="tx1"/>
                    </a:solidFill>
                    <a:effectLst/>
                    <a:latin typeface="+mn-lt"/>
                    <a:ea typeface="+mn-ea"/>
                    <a:cs typeface="+mn-cs"/>
                  </a:rPr>
                  <a:t>的那一封挑出来。在这种“千里选一”的情况下，这一封肯定是垃圾邮件，这时候</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高达</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。但是，</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相应的就会非常低就只有</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如果我们希望</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高，那么极端情况下，我们只要无脑把所有的样本都预测为垃圾邮件，那么此时我们的</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就可以高达</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，但是此时</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相应的只有</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。我们发现，如果仅仅看</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或者</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中的一个，有可能会在不知情的情况下走向极端；而</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又会受到不平衡样本的影响。那有没有一个万能指标，既能兼顾</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两个方面，又不会受到不平衡样本的影响呢？答案是有的。</a:t>
                </a:r>
              </a:p>
              <a:p>
                <a:r>
                  <a:rPr lang="zh-CN" altLang="en-US" sz="1200" b="0" i="0" kern="1200" dirty="0" smtClean="0">
                    <a:solidFill>
                      <a:schemeClr val="tx1"/>
                    </a:solidFill>
                    <a:effectLst/>
                    <a:latin typeface="+mn-lt"/>
                    <a:ea typeface="+mn-ea"/>
                    <a:cs typeface="+mn-cs"/>
                  </a:rPr>
                  <a:t>此时就要用到我们的</a:t>
                </a:r>
                <a:r>
                  <a:rPr lang="en-US" altLang="zh-CN" sz="1200" b="0" i="0" kern="1200" dirty="0" smtClean="0">
                    <a:solidFill>
                      <a:schemeClr val="tx1"/>
                    </a:solidFill>
                    <a:effectLst/>
                    <a:latin typeface="+mn-lt"/>
                    <a:ea typeface="+mn-ea"/>
                    <a:cs typeface="+mn-cs"/>
                  </a:rPr>
                  <a:t>F-Measure</a:t>
                </a:r>
                <a:r>
                  <a:rPr lang="zh-CN" altLang="en-US" sz="1200" b="1"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F-Measure</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的加权调和平均：</a:t>
                </a:r>
                <a:endParaRPr lang="en-US" altLang="zh-CN" sz="1200" b="0" i="0" kern="1200" dirty="0" smtClean="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𝐹</m:t>
                          </m:r>
                        </m:e>
                        <m:sub>
                          <m:r>
                            <a:rPr lang="zh-CN" altLang="en-US" sz="1200" b="0" i="1" smtClean="0">
                              <a:latin typeface="Cambria Math" panose="02040503050406030204" pitchFamily="18" charset="0"/>
                            </a:rPr>
                            <m:t>𝛼</m:t>
                          </m:r>
                        </m:sub>
                      </m:sSub>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d>
                            <m:dPr>
                              <m:ctrlPr>
                                <a:rPr lang="en-US" altLang="zh-CN" sz="1200" b="0" i="1" smtClean="0">
                                  <a:latin typeface="Cambria Math" panose="02040503050406030204" pitchFamily="18" charset="0"/>
                                </a:rPr>
                              </m:ctrlPr>
                            </m:dPr>
                            <m:e>
                              <m:sSup>
                                <m:sSupPr>
                                  <m:ctrlPr>
                                    <a:rPr lang="en-US" altLang="zh-CN" sz="1200" b="0" i="1" smtClean="0">
                                      <a:latin typeface="Cambria Math" panose="02040503050406030204" pitchFamily="18" charset="0"/>
                                    </a:rPr>
                                  </m:ctrlPr>
                                </m:sSupPr>
                                <m:e>
                                  <m:r>
                                    <a:rPr lang="zh-CN" altLang="en-US" sz="1200" b="0" i="1" smtClean="0">
                                      <a:latin typeface="Cambria Math" panose="02040503050406030204" pitchFamily="18" charset="0"/>
                                    </a:rPr>
                                    <m:t>𝛼</m:t>
                                  </m:r>
                                </m:e>
                                <m:sup>
                                  <m:r>
                                    <a:rPr lang="en-US" altLang="zh-CN" sz="1200" b="0" i="1" smtClean="0">
                                      <a:latin typeface="Cambria Math" panose="02040503050406030204" pitchFamily="18" charset="0"/>
                                    </a:rPr>
                                    <m:t>2</m:t>
                                  </m:r>
                                </m:sup>
                              </m:sSup>
                              <m:r>
                                <a:rPr lang="en-US" altLang="zh-CN" sz="1200" b="0" i="1" smtClean="0">
                                  <a:latin typeface="Cambria Math" panose="02040503050406030204" pitchFamily="18" charset="0"/>
                                </a:rPr>
                                <m:t>+1</m:t>
                              </m:r>
                            </m:e>
                          </m:d>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𝑝𝑟𝑒𝑐𝑖𝑠𝑖𝑜𝑛</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𝑟𝑒𝑐𝑎𝑙𝑙</m:t>
                          </m:r>
                        </m:num>
                        <m:den>
                          <m:sSup>
                            <m:sSupPr>
                              <m:ctrlPr>
                                <a:rPr lang="en-US" altLang="zh-CN" sz="1200" b="0" i="1" smtClean="0">
                                  <a:latin typeface="Cambria Math" panose="02040503050406030204" pitchFamily="18" charset="0"/>
                                </a:rPr>
                              </m:ctrlPr>
                            </m:sSupPr>
                            <m:e>
                              <m:r>
                                <a:rPr lang="zh-CN" altLang="en-US" sz="1200" b="0" i="1" smtClean="0">
                                  <a:latin typeface="Cambria Math" panose="02040503050406030204" pitchFamily="18" charset="0"/>
                                </a:rPr>
                                <m:t>𝛼</m:t>
                              </m:r>
                            </m:e>
                            <m:sup>
                              <m:r>
                                <a:rPr lang="en-US" altLang="zh-CN" sz="1200" b="0" i="1" smtClean="0">
                                  <a:latin typeface="Cambria Math" panose="02040503050406030204" pitchFamily="18" charset="0"/>
                                </a:rPr>
                                <m:t>2</m:t>
                              </m:r>
                            </m:sup>
                          </m:sSup>
                          <m:r>
                            <a:rPr lang="en-US" altLang="zh-CN" sz="1200" b="0" i="1" smtClean="0">
                              <a:latin typeface="Cambria Math" panose="02040503050406030204" pitchFamily="18" charset="0"/>
                              <a:ea typeface="Cambria Math" panose="02040503050406030204" pitchFamily="18" charset="0"/>
                            </a:rPr>
                            <m:t>×</m:t>
                          </m:r>
                          <m:d>
                            <m:dPr>
                              <m:ctrlPr>
                                <a:rPr lang="en-US" altLang="zh-CN" sz="1200" b="0" i="1" smtClean="0">
                                  <a:latin typeface="Cambria Math" panose="02040503050406030204" pitchFamily="18" charset="0"/>
                                  <a:ea typeface="Cambria Math" panose="02040503050406030204" pitchFamily="18" charset="0"/>
                                </a:rPr>
                              </m:ctrlPr>
                            </m:dPr>
                            <m:e>
                              <m:r>
                                <a:rPr lang="en-US" altLang="zh-CN" sz="1200" b="0" i="1" smtClean="0">
                                  <a:latin typeface="Cambria Math" panose="02040503050406030204" pitchFamily="18" charset="0"/>
                                  <a:ea typeface="Cambria Math" panose="02040503050406030204" pitchFamily="18" charset="0"/>
                                </a:rPr>
                                <m:t>𝑝𝑟𝑒𝑐𝑖𝑠𝑖𝑜𝑛</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𝑟𝑒𝑐𝑎𝑙𝑙</m:t>
                              </m:r>
                            </m:e>
                          </m:d>
                        </m:den>
                      </m:f>
                    </m:oMath>
                  </m:oMathPara>
                </a14:m>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它用于衡量二分类模型的精确度，最大值是</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，最小值是</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。该值越接近</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，模型的精确度越高，反之越差。</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在确定参数</a:t>
                </a:r>
                <a14:m>
                  <m:oMath xmlns:m="http://schemas.openxmlformats.org/officeDocument/2006/math">
                    <m:r>
                      <a:rPr lang="zh-CN" altLang="en-US" i="1" dirty="0" smtClean="0">
                        <a:latin typeface="Cambria Math" panose="02040503050406030204" pitchFamily="18" charset="0"/>
                      </a:rPr>
                      <m:t>𝛼</m:t>
                    </m:r>
                  </m:oMath>
                </a14:m>
                <a:r>
                  <a:rPr lang="zh-CN" altLang="en-US" sz="1200" b="0" i="0" kern="1200" dirty="0">
                    <a:solidFill>
                      <a:schemeClr val="tx1"/>
                    </a:solidFill>
                    <a:effectLst/>
                    <a:latin typeface="+mn-lt"/>
                    <a:ea typeface="+mn-ea"/>
                    <a:cs typeface="+mn-cs"/>
                  </a:rPr>
                  <a:t>的值的时候，如果我们越关注</a:t>
                </a:r>
                <a:r>
                  <a:rPr lang="en-US" altLang="zh-CN" sz="1200" b="0" i="0" kern="1200" dirty="0">
                    <a:solidFill>
                      <a:schemeClr val="tx1"/>
                    </a:solidFill>
                    <a:effectLst/>
                    <a:latin typeface="+mn-lt"/>
                    <a:ea typeface="+mn-ea"/>
                    <a:cs typeface="+mn-cs"/>
                  </a:rPr>
                  <a:t>recall</a:t>
                </a:r>
                <a:r>
                  <a:rPr lang="zh-CN" altLang="en-US" sz="1200" b="0" i="0" kern="1200" dirty="0">
                    <a:solidFill>
                      <a:schemeClr val="tx1"/>
                    </a:solidFill>
                    <a:effectLst/>
                    <a:latin typeface="+mn-lt"/>
                    <a:ea typeface="+mn-ea"/>
                    <a:cs typeface="+mn-cs"/>
                  </a:rPr>
                  <a:t>（相比于</a:t>
                </a:r>
                <a:r>
                  <a:rPr lang="en-US" altLang="zh-CN" sz="1200" b="0" i="0" kern="1200" dirty="0">
                    <a:solidFill>
                      <a:schemeClr val="tx1"/>
                    </a:solidFill>
                    <a:effectLst/>
                    <a:latin typeface="+mn-lt"/>
                    <a:ea typeface="+mn-ea"/>
                    <a:cs typeface="+mn-cs"/>
                  </a:rPr>
                  <a:t>precision</a:t>
                </a:r>
                <a:r>
                  <a:rPr lang="zh-CN" altLang="en-US" sz="1200" b="0" i="0" kern="1200" dirty="0">
                    <a:solidFill>
                      <a:schemeClr val="tx1"/>
                    </a:solidFill>
                    <a:effectLst/>
                    <a:latin typeface="+mn-lt"/>
                    <a:ea typeface="+mn-ea"/>
                    <a:cs typeface="+mn-cs"/>
                  </a:rPr>
                  <a:t>），我们要选择越大的</a:t>
                </a:r>
                <a14:m>
                  <m:oMath xmlns:m="http://schemas.openxmlformats.org/officeDocument/2006/math">
                    <m:r>
                      <a:rPr lang="zh-CN" altLang="en-US" i="1" dirty="0" smtClean="0">
                        <a:latin typeface="Cambria Math" panose="02040503050406030204" pitchFamily="18" charset="0"/>
                      </a:rPr>
                      <m:t>𝛼</m:t>
                    </m:r>
                  </m:oMath>
                </a14:m>
                <a:r>
                  <a:rPr lang="zh-CN" altLang="el-GR"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例如，</a:t>
                </a:r>
                <a:r>
                  <a:rPr lang="en-US" altLang="zh-CN" sz="1200" b="0" i="0" kern="1200" dirty="0">
                    <a:solidFill>
                      <a:schemeClr val="tx1"/>
                    </a:solidFill>
                    <a:effectLst/>
                    <a:latin typeface="+mn-lt"/>
                    <a:ea typeface="+mn-ea"/>
                    <a:cs typeface="+mn-cs"/>
                  </a:rPr>
                  <a:t>F2 score</a:t>
                </a:r>
                <a:r>
                  <a:rPr lang="zh-CN" altLang="en-US" sz="1200" b="0" i="0" kern="1200" dirty="0">
                    <a:solidFill>
                      <a:schemeClr val="tx1"/>
                    </a:solidFill>
                    <a:effectLst/>
                    <a:latin typeface="+mn-lt"/>
                    <a:ea typeface="+mn-ea"/>
                    <a:cs typeface="+mn-cs"/>
                  </a:rPr>
                  <a:t>相比于</a:t>
                </a:r>
                <a:r>
                  <a:rPr lang="en-US" altLang="zh-CN" sz="1200" b="0" i="0" kern="1200" dirty="0">
                    <a:solidFill>
                      <a:schemeClr val="tx1"/>
                    </a:solidFill>
                    <a:effectLst/>
                    <a:latin typeface="+mn-lt"/>
                    <a:ea typeface="+mn-ea"/>
                    <a:cs typeface="+mn-cs"/>
                  </a:rPr>
                  <a:t>F1 score</a:t>
                </a:r>
                <a:r>
                  <a:rPr lang="zh-CN" altLang="en-US" sz="1200" b="0" i="0" kern="1200" dirty="0">
                    <a:solidFill>
                      <a:schemeClr val="tx1"/>
                    </a:solidFill>
                    <a:effectLst/>
                    <a:latin typeface="+mn-lt"/>
                    <a:ea typeface="+mn-ea"/>
                    <a:cs typeface="+mn-cs"/>
                  </a:rPr>
                  <a:t>，赋予了</a:t>
                </a:r>
                <a:r>
                  <a:rPr lang="en-US" altLang="zh-CN" sz="1200" b="0" i="0" kern="1200" dirty="0">
                    <a:solidFill>
                      <a:schemeClr val="tx1"/>
                    </a:solidFill>
                    <a:effectLst/>
                    <a:latin typeface="+mn-lt"/>
                    <a:ea typeface="+mn-ea"/>
                    <a:cs typeface="+mn-cs"/>
                  </a:rPr>
                  <a:t>recall</a:t>
                </a:r>
                <a:r>
                  <a:rPr lang="zh-CN" altLang="en-US" sz="1200" b="0" i="0" kern="1200" dirty="0">
                    <a:solidFill>
                      <a:schemeClr val="tx1"/>
                    </a:solidFill>
                    <a:effectLst/>
                    <a:latin typeface="+mn-lt"/>
                    <a:ea typeface="+mn-ea"/>
                    <a:cs typeface="+mn-cs"/>
                  </a:rPr>
                  <a:t>两倍的重要性</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当参数</a:t>
                </a:r>
                <a:r>
                  <a:rPr lang="en-US" altLang="zh-CN" sz="1200" b="0" i="0" kern="1200" dirty="0" smtClean="0">
                    <a:solidFill>
                      <a:schemeClr val="tx1"/>
                    </a:solidFill>
                    <a:effectLst/>
                    <a:latin typeface="+mn-lt"/>
                    <a:ea typeface="+mn-ea"/>
                    <a:cs typeface="+mn-cs"/>
                  </a:rPr>
                  <a:t>α=1</a:t>
                </a:r>
                <a:r>
                  <a:rPr lang="zh-CN" altLang="en-US" sz="1200" b="0" i="0" kern="1200" dirty="0" smtClean="0">
                    <a:solidFill>
                      <a:schemeClr val="tx1"/>
                    </a:solidFill>
                    <a:effectLst/>
                    <a:latin typeface="+mn-lt"/>
                    <a:ea typeface="+mn-ea"/>
                    <a:cs typeface="+mn-cs"/>
                  </a:rPr>
                  <a:t>时，就是最常见的</a:t>
                </a:r>
                <a:r>
                  <a:rPr lang="en-US" altLang="zh-CN" sz="1200" b="0" i="0" kern="1200" dirty="0" smtClean="0">
                    <a:solidFill>
                      <a:schemeClr val="tx1"/>
                    </a:solidFill>
                    <a:effectLst/>
                    <a:latin typeface="+mn-lt"/>
                    <a:ea typeface="+mn-ea"/>
                    <a:cs typeface="+mn-cs"/>
                  </a:rPr>
                  <a:t>F1</a:t>
                </a:r>
                <a:r>
                  <a:rPr lang="zh-CN" altLang="en-US" sz="1200" b="0" i="0" kern="1200" dirty="0" smtClean="0">
                    <a:solidFill>
                      <a:schemeClr val="tx1"/>
                    </a:solidFill>
                    <a:effectLst/>
                    <a:latin typeface="+mn-lt"/>
                    <a:ea typeface="+mn-ea"/>
                    <a:cs typeface="+mn-cs"/>
                  </a:rPr>
                  <a:t>，也即</a:t>
                </a:r>
                <a14:m>
                  <m:oMath xmlns:m="http://schemas.openxmlformats.org/officeDocument/2006/math">
                    <m:sSub>
                      <m:sSubPr>
                        <m:ctrlPr>
                          <a:rPr lang="en-US" altLang="zh-CN" sz="1200" i="1" smtClean="0">
                            <a:latin typeface="Cambria Math" panose="02040503050406030204" pitchFamily="18" charset="0"/>
                          </a:rPr>
                        </m:ctrlPr>
                      </m:sSubPr>
                      <m:e>
                        <m:r>
                          <a:rPr lang="en-US" altLang="zh-CN" sz="1200" i="1">
                            <a:latin typeface="Cambria Math" panose="02040503050406030204" pitchFamily="18" charset="0"/>
                          </a:rPr>
                          <m:t>𝐹</m:t>
                        </m:r>
                      </m:e>
                      <m:sub>
                        <m:r>
                          <a:rPr lang="en-US" altLang="zh-CN" sz="1200" b="0" i="1" smtClean="0">
                            <a:latin typeface="Cambria Math" panose="02040503050406030204" pitchFamily="18" charset="0"/>
                          </a:rPr>
                          <m:t>1</m:t>
                        </m:r>
                      </m:sub>
                    </m:sSub>
                    <m:r>
                      <a:rPr lang="en-US" altLang="zh-CN" sz="1200" i="1">
                        <a:latin typeface="Cambria Math" panose="02040503050406030204" pitchFamily="18" charset="0"/>
                      </a:rPr>
                      <m:t>=</m:t>
                    </m:r>
                    <m:r>
                      <a:rPr lang="en-US" altLang="zh-CN" sz="1200" b="0" i="1" smtClean="0">
                        <a:latin typeface="Cambria Math" panose="02040503050406030204" pitchFamily="18" charset="0"/>
                      </a:rPr>
                      <m:t>2</m:t>
                    </m:r>
                    <m:r>
                      <a:rPr lang="en-US" altLang="zh-CN" sz="1200" b="0" i="1" smtClean="0">
                        <a:latin typeface="Cambria Math" panose="02040503050406030204" pitchFamily="18" charset="0"/>
                        <a:ea typeface="Cambria Math" panose="02040503050406030204" pitchFamily="18" charset="0"/>
                      </a:rPr>
                      <m:t>×</m:t>
                    </m:r>
                    <m:f>
                      <m:fPr>
                        <m:ctrlPr>
                          <a:rPr lang="en-US" altLang="zh-CN" sz="1200" i="1">
                            <a:latin typeface="Cambria Math" panose="02040503050406030204" pitchFamily="18" charset="0"/>
                          </a:rPr>
                        </m:ctrlPr>
                      </m:fPr>
                      <m:num>
                        <m:r>
                          <a:rPr lang="en-US" altLang="zh-CN" sz="1200" i="1">
                            <a:latin typeface="Cambria Math" panose="02040503050406030204" pitchFamily="18" charset="0"/>
                            <a:ea typeface="Cambria Math" panose="02040503050406030204" pitchFamily="18" charset="0"/>
                          </a:rPr>
                          <m:t>𝑝𝑟𝑒𝑐𝑖𝑠𝑖𝑜𝑛</m:t>
                        </m:r>
                        <m:r>
                          <a:rPr lang="en-US" altLang="zh-CN" sz="1200" i="1">
                            <a:latin typeface="Cambria Math" panose="02040503050406030204" pitchFamily="18" charset="0"/>
                            <a:ea typeface="Cambria Math" panose="02040503050406030204" pitchFamily="18" charset="0"/>
                          </a:rPr>
                          <m:t>×</m:t>
                        </m:r>
                        <m:r>
                          <a:rPr lang="en-US" altLang="zh-CN" sz="1200" i="1">
                            <a:latin typeface="Cambria Math" panose="02040503050406030204" pitchFamily="18" charset="0"/>
                            <a:ea typeface="Cambria Math" panose="02040503050406030204" pitchFamily="18" charset="0"/>
                          </a:rPr>
                          <m:t>𝑟𝑒𝑐𝑎𝑙𝑙</m:t>
                        </m:r>
                      </m:num>
                      <m:den>
                        <m:r>
                          <a:rPr lang="en-US" altLang="zh-CN" sz="1200" i="1">
                            <a:latin typeface="Cambria Math" panose="02040503050406030204" pitchFamily="18" charset="0"/>
                            <a:ea typeface="Cambria Math" panose="02040503050406030204" pitchFamily="18" charset="0"/>
                          </a:rPr>
                          <m:t>𝑝𝑟𝑒𝑐𝑖𝑠𝑖𝑜𝑛</m:t>
                        </m:r>
                        <m:r>
                          <a:rPr lang="en-US" altLang="zh-CN" sz="1200" i="1">
                            <a:latin typeface="Cambria Math" panose="02040503050406030204" pitchFamily="18" charset="0"/>
                            <a:ea typeface="Cambria Math" panose="02040503050406030204" pitchFamily="18" charset="0"/>
                          </a:rPr>
                          <m:t>+</m:t>
                        </m:r>
                        <m:r>
                          <a:rPr lang="en-US" altLang="zh-CN" sz="1200" i="1">
                            <a:latin typeface="Cambria Math" panose="02040503050406030204" pitchFamily="18" charset="0"/>
                            <a:ea typeface="Cambria Math" panose="02040503050406030204" pitchFamily="18" charset="0"/>
                          </a:rPr>
                          <m:t>𝑟𝑒𝑐𝑎𝑙𝑙</m:t>
                        </m:r>
                      </m:den>
                    </m:f>
                    <m:r>
                      <a:rPr lang="zh-CN" altLang="en-US" sz="1200" i="1" smtClean="0">
                        <a:latin typeface="Cambria Math" panose="02040503050406030204" pitchFamily="18" charset="0"/>
                        <a:ea typeface="Cambria Math" panose="02040503050406030204" pitchFamily="18" charset="0"/>
                      </a:rPr>
                      <m:t>。</m:t>
                    </m:r>
                  </m:oMath>
                </a14:m>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综合考虑了</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两方面的因素，做到了对于两者的调和，即：既要“求精”也要“求全”，做到不偏科。使用</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作为评价指标，可以避免上述例子中的极端情况出现。绝大多数情况下，我们可以直接用</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来评价和选择模型。但如果在上面提到的“两类错误的成本”差距比较大的时候，也可以结合</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的其中一个做参考。注意，</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衡量的是模型寻找正样本的能力，因为</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都是衡量寻找正样本的指标。</a:t>
                </a:r>
              </a:p>
              <a:p>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听了之前的介绍，我们当然是希望</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都要高，但这两者很多时候是不可兼得的。</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例如，我们有</a:t>
                </a:r>
                <a:r>
                  <a:rPr lang="en-US" altLang="zh-CN" sz="1200" b="0" i="0" kern="1200" dirty="0" smtClean="0">
                    <a:solidFill>
                      <a:schemeClr val="tx1"/>
                    </a:solidFill>
                    <a:effectLst/>
                    <a:latin typeface="+mn-lt"/>
                    <a:ea typeface="+mn-ea"/>
                    <a:cs typeface="+mn-cs"/>
                  </a:rPr>
                  <a:t>1000</a:t>
                </a:r>
                <a:r>
                  <a:rPr lang="zh-CN" altLang="en-US" sz="1200" b="0" i="0" kern="1200" dirty="0" smtClean="0">
                    <a:solidFill>
                      <a:schemeClr val="tx1"/>
                    </a:solidFill>
                    <a:effectLst/>
                    <a:latin typeface="+mn-lt"/>
                    <a:ea typeface="+mn-ea"/>
                    <a:cs typeface="+mn-cs"/>
                  </a:rPr>
                  <a:t>封邮件，其中垃圾邮件有</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封，仍然是希望预测出其中的垃圾邮件。</a:t>
                </a:r>
              </a:p>
              <a:p>
                <a:r>
                  <a:rPr lang="zh-CN" altLang="en-US" sz="1200" b="0" i="0" kern="1200" dirty="0" smtClean="0">
                    <a:solidFill>
                      <a:schemeClr val="tx1"/>
                    </a:solidFill>
                    <a:effectLst/>
                    <a:latin typeface="+mn-lt"/>
                    <a:ea typeface="+mn-ea"/>
                    <a:cs typeface="+mn-cs"/>
                  </a:rPr>
                  <a:t>如果我们希望</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高，那么在极端情况下，我们只把最最可能是垃圾邮件的那一封邮件，也就是</a:t>
                </a:r>
                <a:r>
                  <a:rPr lang="en-US" altLang="zh-CN" sz="1200" b="0" i="0" kern="1200" dirty="0" smtClean="0">
                    <a:solidFill>
                      <a:schemeClr val="tx1"/>
                    </a:solidFill>
                    <a:effectLst/>
                    <a:latin typeface="+mn-lt"/>
                    <a:ea typeface="+mn-ea"/>
                    <a:cs typeface="+mn-cs"/>
                  </a:rPr>
                  <a:t>No.1</a:t>
                </a:r>
                <a:r>
                  <a:rPr lang="zh-CN" altLang="en-US" sz="1200" b="0" i="0" kern="1200" dirty="0" smtClean="0">
                    <a:solidFill>
                      <a:schemeClr val="tx1"/>
                    </a:solidFill>
                    <a:effectLst/>
                    <a:latin typeface="+mn-lt"/>
                    <a:ea typeface="+mn-ea"/>
                    <a:cs typeface="+mn-cs"/>
                  </a:rPr>
                  <a:t>的那一封挑出来。在这种“千里选一”的情况下，这一封肯定是垃圾邮件，这时候</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高达</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。但是，</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相应的就会非常低就只有</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如果我们希望</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高，那么极端情况下，我们只要无脑把所有的样本都预测为垃圾邮件，那么此时我们的</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就可以高达</a:t>
                </a:r>
                <a:r>
                  <a:rPr lang="en-US" altLang="zh-CN" sz="1200" b="0" i="0" kern="1200" dirty="0" smtClean="0">
                    <a:solidFill>
                      <a:schemeClr val="tx1"/>
                    </a:solidFill>
                    <a:effectLst/>
                    <a:latin typeface="+mn-lt"/>
                    <a:ea typeface="+mn-ea"/>
                    <a:cs typeface="+mn-cs"/>
                  </a:rPr>
                  <a:t>100%</a:t>
                </a:r>
                <a:r>
                  <a:rPr lang="zh-CN" altLang="en-US" sz="1200" b="0" i="0" kern="1200" dirty="0" smtClean="0">
                    <a:solidFill>
                      <a:schemeClr val="tx1"/>
                    </a:solidFill>
                    <a:effectLst/>
                    <a:latin typeface="+mn-lt"/>
                    <a:ea typeface="+mn-ea"/>
                    <a:cs typeface="+mn-cs"/>
                  </a:rPr>
                  <a:t>，但是此时</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相应的只有</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。我们发现，如果仅仅看</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或者</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中的一个，有可能会在不知情的情况下走向极端；而</a:t>
                </a:r>
                <a:r>
                  <a:rPr lang="en-US" altLang="zh-CN" sz="1200" b="0" i="0" kern="1200" dirty="0" smtClean="0">
                    <a:solidFill>
                      <a:schemeClr val="tx1"/>
                    </a:solidFill>
                    <a:effectLst/>
                    <a:latin typeface="+mn-lt"/>
                    <a:ea typeface="+mn-ea"/>
                    <a:cs typeface="+mn-cs"/>
                  </a:rPr>
                  <a:t>Accuracy</a:t>
                </a:r>
                <a:r>
                  <a:rPr lang="zh-CN" altLang="en-US" sz="1200" b="0" i="0" kern="1200" dirty="0" smtClean="0">
                    <a:solidFill>
                      <a:schemeClr val="tx1"/>
                    </a:solidFill>
                    <a:effectLst/>
                    <a:latin typeface="+mn-lt"/>
                    <a:ea typeface="+mn-ea"/>
                    <a:cs typeface="+mn-cs"/>
                  </a:rPr>
                  <a:t>又会受到不平衡样本的影响。那有没有一个万能指标，既能兼顾</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两个方面，又不会受到不平衡样本的影响呢？答案是有的。</a:t>
                </a:r>
              </a:p>
              <a:p>
                <a:r>
                  <a:rPr lang="zh-CN" altLang="en-US" sz="1200" b="0" i="0" kern="1200" dirty="0" smtClean="0">
                    <a:solidFill>
                      <a:schemeClr val="tx1"/>
                    </a:solidFill>
                    <a:effectLst/>
                    <a:latin typeface="+mn-lt"/>
                    <a:ea typeface="+mn-ea"/>
                    <a:cs typeface="+mn-cs"/>
                  </a:rPr>
                  <a:t>此时就要用到我们的</a:t>
                </a:r>
                <a:r>
                  <a:rPr lang="en-US" altLang="zh-CN" sz="1200" b="0" i="0" kern="1200" dirty="0" smtClean="0">
                    <a:solidFill>
                      <a:schemeClr val="tx1"/>
                    </a:solidFill>
                    <a:effectLst/>
                    <a:latin typeface="+mn-lt"/>
                    <a:ea typeface="+mn-ea"/>
                    <a:cs typeface="+mn-cs"/>
                  </a:rPr>
                  <a:t>F-Measure</a:t>
                </a:r>
                <a:r>
                  <a:rPr lang="zh-CN" altLang="en-US" sz="1200" b="1"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F-Measure</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的加权调和平均：</a:t>
                </a:r>
                <a:endParaRPr lang="en-US" altLang="zh-CN" sz="1200" b="0" i="0" kern="1200" dirty="0" smtClean="0">
                  <a:solidFill>
                    <a:schemeClr val="tx1"/>
                  </a:solidFill>
                  <a:effectLst/>
                  <a:latin typeface="+mn-lt"/>
                  <a:ea typeface="+mn-ea"/>
                  <a:cs typeface="+mn-cs"/>
                </a:endParaRPr>
              </a:p>
              <a:p>
                <a:r>
                  <a:rPr lang="en-US" altLang="zh-CN" sz="1200" b="0" i="0" smtClean="0">
                    <a:latin typeface="Cambria Math" panose="02040503050406030204" pitchFamily="18" charset="0"/>
                  </a:rPr>
                  <a:t>𝐹</a:t>
                </a:r>
                <a:r>
                  <a:rPr lang="en-US" altLang="zh-CN" sz="1200" b="0" i="0" smtClean="0">
                    <a:latin typeface="Cambria Math" panose="02040503050406030204" pitchFamily="18" charset="0"/>
                  </a:rPr>
                  <a:t>_</a:t>
                </a:r>
                <a:r>
                  <a:rPr lang="zh-CN" altLang="en-US" sz="1200" b="0" i="0" smtClean="0">
                    <a:latin typeface="Cambria Math" panose="02040503050406030204" pitchFamily="18" charset="0"/>
                  </a:rPr>
                  <a:t>𝛼</a:t>
                </a:r>
                <a:r>
                  <a:rPr lang="en-US" altLang="zh-CN" sz="1200" b="0" i="0" smtClean="0">
                    <a:latin typeface="Cambria Math" panose="02040503050406030204" pitchFamily="18" charset="0"/>
                  </a:rPr>
                  <a:t>=((</a:t>
                </a:r>
                <a:r>
                  <a:rPr lang="zh-CN" altLang="en-US" sz="1200" b="0" i="0" smtClean="0">
                    <a:latin typeface="Cambria Math" panose="02040503050406030204" pitchFamily="18" charset="0"/>
                  </a:rPr>
                  <a:t>𝛼</a:t>
                </a:r>
                <a:r>
                  <a:rPr lang="en-US" altLang="zh-CN" sz="1200" b="0" i="0" smtClean="0">
                    <a:latin typeface="Cambria Math" panose="02040503050406030204" pitchFamily="18" charset="0"/>
                  </a:rPr>
                  <a:t>^2+1)</a:t>
                </a:r>
                <a:r>
                  <a:rPr lang="en-US" altLang="zh-CN" sz="1200" b="0" i="0" smtClean="0">
                    <a:latin typeface="Cambria Math" panose="02040503050406030204" pitchFamily="18" charset="0"/>
                    <a:ea typeface="Cambria Math" panose="02040503050406030204" pitchFamily="18" charset="0"/>
                  </a:rPr>
                  <a:t>×𝑝𝑟𝑒𝑐𝑖𝑠𝑖𝑜𝑛×𝑟𝑒𝑐𝑎𝑙𝑙)/(</a:t>
                </a:r>
                <a:r>
                  <a:rPr lang="zh-CN" altLang="en-US" sz="1200" b="0" i="0" smtClean="0">
                    <a:latin typeface="Cambria Math" panose="02040503050406030204" pitchFamily="18" charset="0"/>
                  </a:rPr>
                  <a:t>𝛼</a:t>
                </a:r>
                <a:r>
                  <a:rPr lang="en-US" altLang="zh-CN" sz="1200" b="0" i="0" smtClean="0">
                    <a:latin typeface="Cambria Math" panose="02040503050406030204" pitchFamily="18" charset="0"/>
                  </a:rPr>
                  <a:t>^2</a:t>
                </a:r>
                <a:r>
                  <a:rPr lang="en-US" altLang="zh-CN" sz="1200" b="0" i="0" smtClean="0">
                    <a:latin typeface="Cambria Math" panose="02040503050406030204" pitchFamily="18" charset="0"/>
                    <a:ea typeface="Cambria Math" panose="02040503050406030204" pitchFamily="18" charset="0"/>
                  </a:rPr>
                  <a:t>×(𝑝𝑟𝑒𝑐𝑖𝑠𝑖𝑜𝑛+𝑟𝑒𝑐𝑎𝑙𝑙) )</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它用于衡量二分类模型的精确度，最大值是</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，最小值是</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。该值越接近</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，模型的精确度越高，反之越差。</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在确定参数</a:t>
                </a:r>
                <a:r>
                  <a:rPr lang="zh-CN" altLang="en-US" i="0" dirty="0" smtClean="0">
                    <a:latin typeface="Cambria Math" panose="02040503050406030204" pitchFamily="18" charset="0"/>
                  </a:rPr>
                  <a:t>𝛼</a:t>
                </a:r>
                <a:r>
                  <a:rPr lang="zh-CN" altLang="en-US" sz="1200" b="0" i="0" kern="1200" dirty="0">
                    <a:solidFill>
                      <a:schemeClr val="tx1"/>
                    </a:solidFill>
                    <a:effectLst/>
                    <a:latin typeface="+mn-lt"/>
                    <a:ea typeface="+mn-ea"/>
                    <a:cs typeface="+mn-cs"/>
                  </a:rPr>
                  <a:t>的值的时候，如果我们越关注</a:t>
                </a:r>
                <a:r>
                  <a:rPr lang="en-US" altLang="zh-CN" sz="1200" b="0" i="0" kern="1200" dirty="0">
                    <a:solidFill>
                      <a:schemeClr val="tx1"/>
                    </a:solidFill>
                    <a:effectLst/>
                    <a:latin typeface="+mn-lt"/>
                    <a:ea typeface="+mn-ea"/>
                    <a:cs typeface="+mn-cs"/>
                  </a:rPr>
                  <a:t>recall</a:t>
                </a:r>
                <a:r>
                  <a:rPr lang="zh-CN" altLang="en-US" sz="1200" b="0" i="0" kern="1200" dirty="0">
                    <a:solidFill>
                      <a:schemeClr val="tx1"/>
                    </a:solidFill>
                    <a:effectLst/>
                    <a:latin typeface="+mn-lt"/>
                    <a:ea typeface="+mn-ea"/>
                    <a:cs typeface="+mn-cs"/>
                  </a:rPr>
                  <a:t>（相比于</a:t>
                </a:r>
                <a:r>
                  <a:rPr lang="en-US" altLang="zh-CN" sz="1200" b="0" i="0" kern="1200" dirty="0">
                    <a:solidFill>
                      <a:schemeClr val="tx1"/>
                    </a:solidFill>
                    <a:effectLst/>
                    <a:latin typeface="+mn-lt"/>
                    <a:ea typeface="+mn-ea"/>
                    <a:cs typeface="+mn-cs"/>
                  </a:rPr>
                  <a:t>precision</a:t>
                </a:r>
                <a:r>
                  <a:rPr lang="zh-CN" altLang="en-US" sz="1200" b="0" i="0" kern="1200" dirty="0">
                    <a:solidFill>
                      <a:schemeClr val="tx1"/>
                    </a:solidFill>
                    <a:effectLst/>
                    <a:latin typeface="+mn-lt"/>
                    <a:ea typeface="+mn-ea"/>
                    <a:cs typeface="+mn-cs"/>
                  </a:rPr>
                  <a:t>），我们要选择越大的</a:t>
                </a:r>
                <a:r>
                  <a:rPr lang="zh-CN" altLang="en-US" i="0" dirty="0" smtClean="0">
                    <a:latin typeface="Cambria Math" panose="02040503050406030204" pitchFamily="18" charset="0"/>
                  </a:rPr>
                  <a:t>𝛼</a:t>
                </a:r>
                <a:r>
                  <a:rPr lang="zh-CN" altLang="el-GR"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例如，</a:t>
                </a:r>
                <a:r>
                  <a:rPr lang="en-US" altLang="zh-CN" sz="1200" b="0" i="0" kern="1200" dirty="0">
                    <a:solidFill>
                      <a:schemeClr val="tx1"/>
                    </a:solidFill>
                    <a:effectLst/>
                    <a:latin typeface="+mn-lt"/>
                    <a:ea typeface="+mn-ea"/>
                    <a:cs typeface="+mn-cs"/>
                  </a:rPr>
                  <a:t>F2 score</a:t>
                </a:r>
                <a:r>
                  <a:rPr lang="zh-CN" altLang="en-US" sz="1200" b="0" i="0" kern="1200" dirty="0">
                    <a:solidFill>
                      <a:schemeClr val="tx1"/>
                    </a:solidFill>
                    <a:effectLst/>
                    <a:latin typeface="+mn-lt"/>
                    <a:ea typeface="+mn-ea"/>
                    <a:cs typeface="+mn-cs"/>
                  </a:rPr>
                  <a:t>相比于</a:t>
                </a:r>
                <a:r>
                  <a:rPr lang="en-US" altLang="zh-CN" sz="1200" b="0" i="0" kern="1200" dirty="0">
                    <a:solidFill>
                      <a:schemeClr val="tx1"/>
                    </a:solidFill>
                    <a:effectLst/>
                    <a:latin typeface="+mn-lt"/>
                    <a:ea typeface="+mn-ea"/>
                    <a:cs typeface="+mn-cs"/>
                  </a:rPr>
                  <a:t>F1 score</a:t>
                </a:r>
                <a:r>
                  <a:rPr lang="zh-CN" altLang="en-US" sz="1200" b="0" i="0" kern="1200" dirty="0">
                    <a:solidFill>
                      <a:schemeClr val="tx1"/>
                    </a:solidFill>
                    <a:effectLst/>
                    <a:latin typeface="+mn-lt"/>
                    <a:ea typeface="+mn-ea"/>
                    <a:cs typeface="+mn-cs"/>
                  </a:rPr>
                  <a:t>，赋予了</a:t>
                </a:r>
                <a:r>
                  <a:rPr lang="en-US" altLang="zh-CN" sz="1200" b="0" i="0" kern="1200" dirty="0">
                    <a:solidFill>
                      <a:schemeClr val="tx1"/>
                    </a:solidFill>
                    <a:effectLst/>
                    <a:latin typeface="+mn-lt"/>
                    <a:ea typeface="+mn-ea"/>
                    <a:cs typeface="+mn-cs"/>
                  </a:rPr>
                  <a:t>recall</a:t>
                </a:r>
                <a:r>
                  <a:rPr lang="zh-CN" altLang="en-US" sz="1200" b="0" i="0" kern="1200" dirty="0">
                    <a:solidFill>
                      <a:schemeClr val="tx1"/>
                    </a:solidFill>
                    <a:effectLst/>
                    <a:latin typeface="+mn-lt"/>
                    <a:ea typeface="+mn-ea"/>
                    <a:cs typeface="+mn-cs"/>
                  </a:rPr>
                  <a:t>两倍的重要性</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当参数</a:t>
                </a:r>
                <a:r>
                  <a:rPr lang="en-US" altLang="zh-CN" sz="1200" b="0" i="0" kern="1200" dirty="0" smtClean="0">
                    <a:solidFill>
                      <a:schemeClr val="tx1"/>
                    </a:solidFill>
                    <a:effectLst/>
                    <a:latin typeface="+mn-lt"/>
                    <a:ea typeface="+mn-ea"/>
                    <a:cs typeface="+mn-cs"/>
                  </a:rPr>
                  <a:t>α=1</a:t>
                </a:r>
                <a:r>
                  <a:rPr lang="zh-CN" altLang="en-US" sz="1200" b="0" i="0" kern="1200" dirty="0" smtClean="0">
                    <a:solidFill>
                      <a:schemeClr val="tx1"/>
                    </a:solidFill>
                    <a:effectLst/>
                    <a:latin typeface="+mn-lt"/>
                    <a:ea typeface="+mn-ea"/>
                    <a:cs typeface="+mn-cs"/>
                  </a:rPr>
                  <a:t>时，就是最常见的</a:t>
                </a:r>
                <a:r>
                  <a:rPr lang="en-US" altLang="zh-CN" sz="1200" b="0" i="0" kern="1200" dirty="0" smtClean="0">
                    <a:solidFill>
                      <a:schemeClr val="tx1"/>
                    </a:solidFill>
                    <a:effectLst/>
                    <a:latin typeface="+mn-lt"/>
                    <a:ea typeface="+mn-ea"/>
                    <a:cs typeface="+mn-cs"/>
                  </a:rPr>
                  <a:t>F1</a:t>
                </a:r>
                <a:r>
                  <a:rPr lang="zh-CN" altLang="en-US" sz="1200" b="0" i="0" kern="1200" dirty="0" smtClean="0">
                    <a:solidFill>
                      <a:schemeClr val="tx1"/>
                    </a:solidFill>
                    <a:effectLst/>
                    <a:latin typeface="+mn-lt"/>
                    <a:ea typeface="+mn-ea"/>
                    <a:cs typeface="+mn-cs"/>
                  </a:rPr>
                  <a:t>，也即</a:t>
                </a:r>
                <a:r>
                  <a:rPr lang="en-US" altLang="zh-CN" sz="1200" i="0">
                    <a:latin typeface="Cambria Math" panose="02040503050406030204" pitchFamily="18" charset="0"/>
                  </a:rPr>
                  <a:t>𝐹</a:t>
                </a:r>
                <a:r>
                  <a:rPr lang="en-US" altLang="zh-CN" sz="1200" i="0" smtClean="0">
                    <a:latin typeface="Cambria Math" panose="02040503050406030204" pitchFamily="18" charset="0"/>
                  </a:rPr>
                  <a:t>_</a:t>
                </a:r>
                <a:r>
                  <a:rPr lang="en-US" altLang="zh-CN" sz="1200" b="0" i="0" smtClean="0">
                    <a:latin typeface="Cambria Math" panose="02040503050406030204" pitchFamily="18" charset="0"/>
                  </a:rPr>
                  <a:t>1</a:t>
                </a:r>
                <a:r>
                  <a:rPr lang="en-US" altLang="zh-CN" sz="1200" i="0">
                    <a:latin typeface="Cambria Math" panose="02040503050406030204" pitchFamily="18" charset="0"/>
                  </a:rPr>
                  <a:t>=</a:t>
                </a:r>
                <a:r>
                  <a:rPr lang="en-US" altLang="zh-CN" sz="1200" b="0" i="0" smtClean="0">
                    <a:latin typeface="Cambria Math" panose="02040503050406030204" pitchFamily="18" charset="0"/>
                  </a:rPr>
                  <a:t>2</a:t>
                </a:r>
                <a:r>
                  <a:rPr lang="en-US" altLang="zh-CN" sz="1200" b="0" i="0" smtClean="0">
                    <a:latin typeface="Cambria Math" panose="02040503050406030204" pitchFamily="18" charset="0"/>
                    <a:ea typeface="Cambria Math" panose="02040503050406030204" pitchFamily="18" charset="0"/>
                  </a:rPr>
                  <a:t>×</a:t>
                </a:r>
                <a:r>
                  <a:rPr lang="en-US" altLang="zh-CN" sz="1200" i="0">
                    <a:latin typeface="Cambria Math" panose="02040503050406030204" pitchFamily="18" charset="0"/>
                  </a:rPr>
                  <a:t>(</a:t>
                </a:r>
                <a:r>
                  <a:rPr lang="en-US" altLang="zh-CN" sz="1200" i="0">
                    <a:latin typeface="Cambria Math" panose="02040503050406030204" pitchFamily="18" charset="0"/>
                    <a:ea typeface="Cambria Math" panose="02040503050406030204" pitchFamily="18" charset="0"/>
                  </a:rPr>
                  <a:t>𝑝𝑟𝑒𝑐𝑖𝑠𝑖𝑜𝑛×𝑟𝑒𝑐𝑎𝑙𝑙)/(𝑝𝑟𝑒𝑐𝑖𝑠𝑖𝑜𝑛+𝑟𝑒𝑐𝑎𝑙𝑙)</a:t>
                </a:r>
                <a:r>
                  <a:rPr lang="zh-CN" altLang="en-US" sz="1200" i="0" smtClean="0">
                    <a:latin typeface="Cambria Math" panose="02040503050406030204" pitchFamily="18" charset="0"/>
                    <a:ea typeface="Cambria Math" panose="02040503050406030204" pitchFamily="18" charset="0"/>
                  </a:rPr>
                  <a:t> 。</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综合考虑了</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两方面的因素，做到了对于两者的调和，即：既要“求精”也要“求全”，做到不偏科。使用</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作为评价指标，可以避免上述例子中的极端情况出现。绝大多数情况下，我们可以直接用</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来评价和选择模型。但如果在上面提到的“两类错误的成本”差距比较大的时候，也可以结合</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的其中一个做参考。注意，</a:t>
                </a:r>
                <a:r>
                  <a:rPr lang="en-US" altLang="zh-CN" sz="1200" b="0" i="0" kern="1200" dirty="0" smtClean="0">
                    <a:solidFill>
                      <a:schemeClr val="tx1"/>
                    </a:solidFill>
                    <a:effectLst/>
                    <a:latin typeface="+mn-lt"/>
                    <a:ea typeface="+mn-ea"/>
                    <a:cs typeface="+mn-cs"/>
                  </a:rPr>
                  <a:t>F1 score</a:t>
                </a:r>
                <a:r>
                  <a:rPr lang="zh-CN" altLang="en-US" sz="1200" b="0" i="0" kern="1200" dirty="0" smtClean="0">
                    <a:solidFill>
                      <a:schemeClr val="tx1"/>
                    </a:solidFill>
                    <a:effectLst/>
                    <a:latin typeface="+mn-lt"/>
                    <a:ea typeface="+mn-ea"/>
                    <a:cs typeface="+mn-cs"/>
                  </a:rPr>
                  <a:t>衡量的是模型寻找正样本的能力，因为</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都是衡量寻找正样本的指标。</a:t>
                </a:r>
              </a:p>
              <a:p>
                <a:endParaRPr lang="zh-CN" altLang="en-US"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19060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然而，无论是</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还是</a:t>
            </a:r>
            <a:r>
              <a:rPr lang="en-US" altLang="zh-CN" dirty="0" smtClean="0"/>
              <a:t>F-Measure</a:t>
            </a:r>
            <a:r>
              <a:rPr lang="zh-CN" altLang="en-US" dirty="0" smtClean="0"/>
              <a:t>，都会受到单点值的局限，无法反映模型的性能。为了能够得到一个能反映全局性能的指标，</a:t>
            </a:r>
            <a:r>
              <a:rPr lang="zh-CN" altLang="en-US" sz="1200" b="0" i="0" kern="1200" dirty="0" smtClean="0">
                <a:solidFill>
                  <a:schemeClr val="tx1"/>
                </a:solidFill>
                <a:effectLst/>
                <a:latin typeface="+mn-lt"/>
                <a:ea typeface="+mn-ea"/>
                <a:cs typeface="+mn-cs"/>
              </a:rPr>
              <a:t>另一种评价方法是根据</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值，绘制模型的</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a:t>
            </a:r>
            <a:r>
              <a:rPr lang="en-US" altLang="zh-CN" dirty="0" smtClean="0"/>
              <a:t>Precision-Recall</a:t>
            </a:r>
            <a:r>
              <a:rPr lang="zh-CN" altLang="en-US" dirty="0" smtClean="0"/>
              <a:t>曲线</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曲线是描述精确率和召回率变化的曲线，如图所示，但实际上</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曲线是非单调的，不平滑的，在局部有很多波动。我们知道，尽管真实样本的值都是非</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即</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，但模型在预测的过程中仅能给出一个</a:t>
            </a:r>
            <a:r>
              <a:rPr lang="en-US" altLang="zh-CN" sz="1200" b="0" i="0" kern="1200" dirty="0" smtClean="0">
                <a:solidFill>
                  <a:schemeClr val="tx1"/>
                </a:solidFill>
                <a:effectLst/>
                <a:latin typeface="+mn-lt"/>
                <a:ea typeface="+mn-ea"/>
                <a:cs typeface="+mn-cs"/>
              </a:rPr>
              <a:t>0~1</a:t>
            </a:r>
            <a:r>
              <a:rPr lang="zh-CN" altLang="en-US" sz="1200" b="0" i="0" kern="1200" dirty="0" smtClean="0">
                <a:solidFill>
                  <a:schemeClr val="tx1"/>
                </a:solidFill>
                <a:effectLst/>
                <a:latin typeface="+mn-lt"/>
                <a:ea typeface="+mn-ea"/>
                <a:cs typeface="+mn-cs"/>
              </a:rPr>
              <a:t>之间的预测估计值。通常会设定一个模型的阈值，大于该阈值归为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，小于该阈值归为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。对于所有的正样本，设置不同的阈值，模型预测所有的正样本，计算对应的精准率和召回率。</a:t>
            </a:r>
            <a:endParaRPr lang="en-US" altLang="zh-CN" sz="1200" b="0" i="0" kern="1200" dirty="0" smtClean="0">
              <a:solidFill>
                <a:schemeClr val="tx1"/>
              </a:solidFill>
              <a:effectLst/>
              <a:latin typeface="+mn-lt"/>
              <a:ea typeface="+mn-ea"/>
              <a:cs typeface="+mn-cs"/>
            </a:endParaRPr>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在模型进行比较时，若一个</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曲线完全”包住“另一个</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曲线，则第一个模型效果更好，比如图中的模型</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的性能优于模型</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。如果两个模型的</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曲线发生了交叉，比如图中</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，这时一个合理的判据是比较</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曲线下面积的大小。模型与坐标轴围成的面积越大，则模型的性能越好，我们把</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曲线下的这部分面积称为</a:t>
            </a:r>
            <a:r>
              <a:rPr lang="en-US" altLang="zh-CN" sz="1200" b="0" i="0" kern="1200" dirty="0" smtClean="0">
                <a:solidFill>
                  <a:schemeClr val="tx1"/>
                </a:solidFill>
                <a:effectLst/>
                <a:latin typeface="+mn-lt"/>
                <a:ea typeface="+mn-ea"/>
                <a:cs typeface="+mn-cs"/>
              </a:rPr>
              <a:t>AP</a:t>
            </a:r>
            <a:r>
              <a:rPr lang="zh-CN" altLang="en-US" sz="1200" b="0" i="0" kern="1200" dirty="0" smtClean="0">
                <a:solidFill>
                  <a:schemeClr val="tx1"/>
                </a:solidFill>
                <a:effectLst/>
                <a:latin typeface="+mn-lt"/>
                <a:ea typeface="+mn-ea"/>
                <a:cs typeface="+mn-cs"/>
              </a:rPr>
              <a:t>。</a:t>
            </a:r>
            <a:endParaRPr lang="zh-CN" altLang="en-US"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但一般来说，曲线下的面积是很难进行估算的，所以衍生出了“平衡点”（</a:t>
            </a:r>
            <a:r>
              <a:rPr lang="en-US" altLang="zh-CN" sz="1200" b="0" i="0" kern="1200" dirty="0" smtClean="0">
                <a:solidFill>
                  <a:schemeClr val="tx1"/>
                </a:solidFill>
                <a:effectLst/>
                <a:latin typeface="+mn-lt"/>
                <a:ea typeface="+mn-ea"/>
                <a:cs typeface="+mn-cs"/>
              </a:rPr>
              <a:t>Break-Event Point</a:t>
            </a:r>
            <a:r>
              <a:rPr lang="zh-CN" altLang="en-US" sz="1200" b="0" i="0" kern="1200" dirty="0" smtClean="0">
                <a:solidFill>
                  <a:schemeClr val="tx1"/>
                </a:solidFill>
                <a:effectLst/>
                <a:latin typeface="+mn-lt"/>
                <a:ea typeface="+mn-ea"/>
                <a:cs typeface="+mn-cs"/>
              </a:rPr>
              <a:t>，简称</a:t>
            </a:r>
            <a:r>
              <a:rPr lang="en-US" altLang="zh-CN" sz="1200" b="0" i="0" kern="1200" dirty="0" smtClean="0">
                <a:solidFill>
                  <a:schemeClr val="tx1"/>
                </a:solidFill>
                <a:effectLst/>
                <a:latin typeface="+mn-lt"/>
                <a:ea typeface="+mn-ea"/>
                <a:cs typeface="+mn-cs"/>
              </a:rPr>
              <a:t>BEP</a:t>
            </a:r>
            <a:r>
              <a:rPr lang="zh-CN" altLang="en-US" sz="1200" b="0" i="0" kern="1200" dirty="0" smtClean="0">
                <a:solidFill>
                  <a:schemeClr val="tx1"/>
                </a:solidFill>
                <a:effectLst/>
                <a:latin typeface="+mn-lt"/>
                <a:ea typeface="+mn-ea"/>
                <a:cs typeface="+mn-cs"/>
              </a:rPr>
              <a:t>），即当</a:t>
            </a:r>
            <a:r>
              <a:rPr lang="en-US" altLang="zh-CN" sz="1200" b="0" i="0" kern="1200" dirty="0" smtClean="0">
                <a:solidFill>
                  <a:schemeClr val="tx1"/>
                </a:solidFill>
                <a:effectLst/>
                <a:latin typeface="+mn-lt"/>
                <a:ea typeface="+mn-ea"/>
                <a:cs typeface="+mn-cs"/>
              </a:rPr>
              <a:t>P=R</a:t>
            </a:r>
            <a:r>
              <a:rPr lang="zh-CN" altLang="en-US" sz="1200" b="0" i="0" kern="1200" dirty="0" smtClean="0">
                <a:solidFill>
                  <a:schemeClr val="tx1"/>
                </a:solidFill>
                <a:effectLst/>
                <a:latin typeface="+mn-lt"/>
                <a:ea typeface="+mn-ea"/>
                <a:cs typeface="+mn-cs"/>
              </a:rPr>
              <a:t>时的取值，平衡点的取值越高，性能更优。</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374009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在目标检测算法中，常用的评价指标是</a:t>
            </a:r>
            <a:r>
              <a:rPr lang="en-US" altLang="zh-CN" dirty="0" err="1" smtClean="0"/>
              <a:t>mAP</a:t>
            </a:r>
            <a:r>
              <a:rPr lang="en-US" altLang="zh-CN" dirty="0" smtClean="0"/>
              <a:t>(mean Average</a:t>
            </a:r>
            <a:r>
              <a:rPr lang="en-US" altLang="zh-CN" baseline="0" dirty="0" smtClean="0"/>
              <a:t> Precision</a:t>
            </a:r>
            <a:r>
              <a:rPr lang="en-US" altLang="zh-CN" dirty="0" smtClean="0"/>
              <a:t>)</a:t>
            </a:r>
            <a:r>
              <a:rPr lang="zh-CN" altLang="en-US" dirty="0" smtClean="0"/>
              <a:t>，用于度量模型预测框类别和位置是否准确。常见的计算</a:t>
            </a:r>
            <a:r>
              <a:rPr lang="en-US" altLang="zh-CN" dirty="0" err="1" smtClean="0"/>
              <a:t>mAP</a:t>
            </a:r>
            <a:r>
              <a:rPr lang="zh-CN" altLang="en-US" dirty="0" smtClean="0"/>
              <a:t>的方式有两种，一种基于</a:t>
            </a:r>
            <a:r>
              <a:rPr lang="en-US" altLang="zh-CN" dirty="0" smtClean="0"/>
              <a:t>PASCAL VOC 2012</a:t>
            </a:r>
            <a:r>
              <a:rPr lang="zh-CN" altLang="en-US" dirty="0" smtClean="0"/>
              <a:t>数据集，另一种基于</a:t>
            </a:r>
            <a:r>
              <a:rPr lang="en-US" altLang="zh-CN" dirty="0" smtClean="0"/>
              <a:t>PASCAL VOC 2007</a:t>
            </a:r>
            <a:r>
              <a:rPr lang="zh-CN" altLang="en-US" dirty="0" smtClean="0"/>
              <a:t>数据集。</a:t>
            </a:r>
            <a:endParaRPr lang="en-US" altLang="zh-CN" dirty="0" smtClean="0"/>
          </a:p>
          <a:p>
            <a:r>
              <a:rPr lang="zh-CN" altLang="en-US" dirty="0" smtClean="0"/>
              <a:t>下面简单介绍</a:t>
            </a:r>
            <a:r>
              <a:rPr lang="en-US" altLang="zh-CN" dirty="0" err="1" smtClean="0"/>
              <a:t>mAP</a:t>
            </a:r>
            <a:r>
              <a:rPr lang="zh-CN" altLang="en-US" dirty="0" smtClean="0"/>
              <a:t>的一些相关概念，部分概念与之前介绍的定义相同。由于</a:t>
            </a:r>
            <a:r>
              <a:rPr lang="en-US" altLang="zh-CN" dirty="0" smtClean="0"/>
              <a:t>P-R</a:t>
            </a:r>
            <a:r>
              <a:rPr lang="zh-CN" altLang="en-US" dirty="0" smtClean="0"/>
              <a:t>曲线仅针对二分类问题“是”或“否”，而目标检测任务中通常会针对多类目标进行判定，因此引入各类别</a:t>
            </a:r>
            <a:r>
              <a:rPr lang="en-US" altLang="zh-CN" dirty="0" smtClean="0"/>
              <a:t>AP</a:t>
            </a:r>
            <a:r>
              <a:rPr lang="zh-CN" altLang="en-US" dirty="0" smtClean="0"/>
              <a:t>的平均值</a:t>
            </a:r>
            <a:r>
              <a:rPr lang="en-US" altLang="zh-CN" dirty="0" err="1" smtClean="0"/>
              <a:t>mAP</a:t>
            </a:r>
            <a:r>
              <a:rPr lang="zh-CN" altLang="en-US" dirty="0" smtClean="0"/>
              <a:t>作为目标检测算法的评价指标。</a:t>
            </a:r>
            <a:endParaRPr lang="en-US" altLang="zh-CN" dirty="0" smtClean="0"/>
          </a:p>
          <a:p>
            <a:r>
              <a:rPr lang="en-US" altLang="zh-CN" dirty="0" smtClean="0"/>
              <a:t>TP+FP=</a:t>
            </a:r>
            <a:r>
              <a:rPr lang="zh-CN" altLang="en-US" dirty="0" smtClean="0"/>
              <a:t>所有检测框的数量</a:t>
            </a:r>
            <a:endParaRPr lang="en-US" altLang="zh-CN" dirty="0" smtClean="0"/>
          </a:p>
          <a:p>
            <a:r>
              <a:rPr lang="en-US" altLang="zh-CN" dirty="0" smtClean="0"/>
              <a:t>TP+FN=</a:t>
            </a:r>
            <a:r>
              <a:rPr lang="zh-CN" altLang="en-US" dirty="0" smtClean="0"/>
              <a:t>所有真值框的数量</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471487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下面通过一个示例演示</a:t>
            </a:r>
            <a:r>
              <a:rPr lang="en-US" altLang="zh-CN" dirty="0" err="1" smtClean="0"/>
              <a:t>mAP</a:t>
            </a:r>
            <a:r>
              <a:rPr lang="zh-CN" altLang="en-US" dirty="0" smtClean="0"/>
              <a:t>的计算过程。在目标检测场景中，因为我们既要对图像中的待检测物体进行分类，又要对其进行定位，所以在计算</a:t>
            </a:r>
            <a:r>
              <a:rPr lang="en-US" altLang="zh-CN" dirty="0" err="1" smtClean="0"/>
              <a:t>mAP</a:t>
            </a:r>
            <a:r>
              <a:rPr lang="zh-CN" altLang="en-US" dirty="0" smtClean="0"/>
              <a:t>的时候，需要从两方面入手</a:t>
            </a:r>
            <a:r>
              <a:rPr lang="zh-CN" altLang="en-US" dirty="0" smtClean="0">
                <a:sym typeface="Wingdings" panose="05000000000000000000" pitchFamily="2" charset="2"/>
              </a:rPr>
              <a:t>：</a:t>
            </a:r>
            <a:r>
              <a:rPr lang="en-US" altLang="zh-CN" dirty="0" smtClean="0">
                <a:sym typeface="Wingdings" panose="05000000000000000000" pitchFamily="2" charset="2"/>
              </a:rPr>
              <a:t>1.</a:t>
            </a:r>
            <a:r>
              <a:rPr lang="zh-CN" altLang="en-US" dirty="0" smtClean="0">
                <a:sym typeface="Wingdings" panose="05000000000000000000" pitchFamily="2" charset="2"/>
              </a:rPr>
              <a:t>物体的分类效果</a:t>
            </a:r>
            <a:r>
              <a:rPr lang="zh-CN" altLang="en-US" baseline="0" dirty="0" smtClean="0">
                <a:sym typeface="Wingdings" panose="05000000000000000000" pitchFamily="2" charset="2"/>
              </a:rPr>
              <a:t>  </a:t>
            </a:r>
            <a:r>
              <a:rPr lang="en-US" altLang="zh-CN" dirty="0" smtClean="0">
                <a:sym typeface="Wingdings" panose="05000000000000000000" pitchFamily="2" charset="2"/>
              </a:rPr>
              <a:t>2.</a:t>
            </a:r>
            <a:r>
              <a:rPr lang="zh-CN" altLang="en-US" dirty="0" smtClean="0">
                <a:sym typeface="Wingdings" panose="05000000000000000000" pitchFamily="2" charset="2"/>
              </a:rPr>
              <a:t>定位效果，即真值框和预测框的</a:t>
            </a:r>
            <a:r>
              <a:rPr lang="en-US" altLang="zh-CN" dirty="0" err="1" smtClean="0">
                <a:sym typeface="Wingdings" panose="05000000000000000000" pitchFamily="2" charset="2"/>
              </a:rPr>
              <a:t>IoU</a:t>
            </a:r>
            <a:r>
              <a:rPr lang="zh-CN" altLang="en-US" dirty="0" smtClean="0">
                <a:sym typeface="Wingdings" panose="05000000000000000000" pitchFamily="2" charset="2"/>
              </a:rPr>
              <a:t>。假设模型输出结果格式为</a:t>
            </a:r>
            <a:r>
              <a:rPr lang="en-US" altLang="zh-CN" dirty="0" smtClean="0">
                <a:sym typeface="Wingdings" panose="05000000000000000000" pitchFamily="2" charset="2"/>
              </a:rPr>
              <a:t>[cat_id,x1,y1,w,h,score],</a:t>
            </a:r>
            <a:r>
              <a:rPr lang="zh-CN" altLang="en-US" dirty="0" smtClean="0">
                <a:sym typeface="Wingdings" panose="05000000000000000000" pitchFamily="2" charset="2"/>
              </a:rPr>
              <a:t>即</a:t>
            </a:r>
            <a:r>
              <a:rPr lang="en-US" altLang="zh-CN" dirty="0" smtClean="0">
                <a:sym typeface="Wingdings" panose="05000000000000000000" pitchFamily="2" charset="2"/>
              </a:rPr>
              <a:t>[</a:t>
            </a:r>
            <a:r>
              <a:rPr lang="zh-CN" altLang="en-US" dirty="0" smtClean="0">
                <a:sym typeface="Wingdings" panose="05000000000000000000" pitchFamily="2" charset="2"/>
              </a:rPr>
              <a:t>猫</a:t>
            </a:r>
            <a:r>
              <a:rPr lang="en-US" altLang="zh-CN" dirty="0" smtClean="0">
                <a:sym typeface="Wingdings" panose="05000000000000000000" pitchFamily="2" charset="2"/>
              </a:rPr>
              <a:t>id</a:t>
            </a:r>
            <a:r>
              <a:rPr lang="zh-CN" altLang="en-US" dirty="0" smtClean="0">
                <a:sym typeface="Wingdings" panose="05000000000000000000" pitchFamily="2" charset="2"/>
              </a:rPr>
              <a:t>，左上横坐标，左上纵坐标，目标宽，目标高，分类得分（置信度）</a:t>
            </a:r>
            <a:r>
              <a:rPr lang="en-US" altLang="zh-CN" dirty="0" smtClean="0">
                <a:sym typeface="Wingdings" panose="05000000000000000000" pitchFamily="2" charset="2"/>
              </a:rPr>
              <a:t>]</a:t>
            </a:r>
            <a:r>
              <a:rPr lang="zh-CN" altLang="en-US" dirty="0" smtClean="0">
                <a:sym typeface="Wingdings" panose="05000000000000000000" pitchFamily="2" charset="2"/>
              </a:rPr>
              <a:t>，而真值格式为</a:t>
            </a:r>
            <a:r>
              <a:rPr lang="en-US" altLang="zh-CN" dirty="0" smtClean="0">
                <a:sym typeface="Wingdings" panose="05000000000000000000" pitchFamily="2" charset="2"/>
              </a:rPr>
              <a:t>[cat_id,x1,y1,w,h],</a:t>
            </a:r>
          </a:p>
          <a:p>
            <a:r>
              <a:rPr lang="zh-CN" altLang="en-US" dirty="0" smtClean="0">
                <a:sym typeface="Wingdings" panose="05000000000000000000" pitchFamily="2" charset="2"/>
              </a:rPr>
              <a:t>首先针对某一图像识别结果的得分进行降序排序，然后依次遍历每个排序好的预测结果，并分别与真值框中的真实类别进行比较，如果是相同的类别，再分别比较该预测结果和真值框的</a:t>
            </a:r>
            <a:r>
              <a:rPr lang="en-US" altLang="zh-CN" dirty="0" err="1" smtClean="0">
                <a:sym typeface="Wingdings" panose="05000000000000000000" pitchFamily="2" charset="2"/>
              </a:rPr>
              <a:t>IoU</a:t>
            </a:r>
            <a:r>
              <a:rPr lang="zh-CN" altLang="en-US" dirty="0" smtClean="0">
                <a:sym typeface="Wingdings" panose="05000000000000000000" pitchFamily="2" charset="2"/>
              </a:rPr>
              <a:t>是否大于某一阈值（一般该阈值为</a:t>
            </a:r>
            <a:r>
              <a:rPr lang="en-US" altLang="zh-CN" dirty="0" smtClean="0">
                <a:sym typeface="Wingdings" panose="05000000000000000000" pitchFamily="2" charset="2"/>
              </a:rPr>
              <a:t>0.5</a:t>
            </a:r>
            <a:r>
              <a:rPr lang="zh-CN" altLang="en-US" dirty="0" smtClean="0">
                <a:sym typeface="Wingdings" panose="05000000000000000000" pitchFamily="2" charset="2"/>
              </a:rPr>
              <a:t>），如果类别预测是正确的（与实际类别相同），</a:t>
            </a:r>
            <a:r>
              <a:rPr lang="en-US" altLang="zh-CN" dirty="0" err="1" smtClean="0">
                <a:sym typeface="Wingdings" panose="05000000000000000000" pitchFamily="2" charset="2"/>
              </a:rPr>
              <a:t>IoU</a:t>
            </a:r>
            <a:r>
              <a:rPr lang="zh-CN" altLang="en-US" dirty="0" smtClean="0">
                <a:sym typeface="Wingdings" panose="05000000000000000000" pitchFamily="2" charset="2"/>
              </a:rPr>
              <a:t>检验也通过了，则记为预测正确的对象。如果不满足上述条件，则跳过该真值框，继续下一个真值框与预测框的检测，一直到真值框遍历结束，统计</a:t>
            </a:r>
            <a:r>
              <a:rPr lang="en-US" altLang="zh-CN" dirty="0" err="1" smtClean="0">
                <a:sym typeface="Wingdings" panose="05000000000000000000" pitchFamily="2" charset="2"/>
              </a:rPr>
              <a:t>percision</a:t>
            </a:r>
            <a:r>
              <a:rPr lang="zh-CN" altLang="en-US" dirty="0" smtClean="0">
                <a:sym typeface="Wingdings" panose="05000000000000000000" pitchFamily="2" charset="2"/>
              </a:rPr>
              <a:t>和</a:t>
            </a:r>
            <a:r>
              <a:rPr lang="en-US" altLang="zh-CN" dirty="0" smtClean="0">
                <a:sym typeface="Wingdings" panose="05000000000000000000" pitchFamily="2" charset="2"/>
              </a:rPr>
              <a:t>recall</a:t>
            </a:r>
            <a:r>
              <a:rPr lang="zh-CN" altLang="en-US" dirty="0" smtClean="0">
                <a:sym typeface="Wingdings" panose="05000000000000000000" pitchFamily="2" charset="2"/>
              </a:rPr>
              <a:t>的值，继续遍历下一个预测框。某个图像的预测结果遍历结束后，就可以计算该图像中物体对应类的精度值了，主要是根据记录的</a:t>
            </a:r>
            <a:r>
              <a:rPr lang="en-US" altLang="zh-CN" dirty="0" smtClean="0">
                <a:sym typeface="Wingdings" panose="05000000000000000000" pitchFamily="2" charset="2"/>
              </a:rPr>
              <a:t>precision</a:t>
            </a:r>
            <a:r>
              <a:rPr lang="zh-CN" altLang="en-US" dirty="0" smtClean="0">
                <a:sym typeface="Wingdings" panose="05000000000000000000" pitchFamily="2" charset="2"/>
              </a:rPr>
              <a:t>和</a:t>
            </a:r>
            <a:r>
              <a:rPr lang="en-US" altLang="zh-CN" dirty="0" smtClean="0">
                <a:sym typeface="Wingdings" panose="05000000000000000000" pitchFamily="2" charset="2"/>
              </a:rPr>
              <a:t>recall</a:t>
            </a:r>
            <a:r>
              <a:rPr lang="zh-CN" altLang="en-US" dirty="0" smtClean="0">
                <a:sym typeface="Wingdings" panose="05000000000000000000" pitchFamily="2" charset="2"/>
              </a:rPr>
              <a:t>的值进行推演。</a:t>
            </a:r>
            <a:endParaRPr lang="en-US" altLang="zh-CN" dirty="0" smtClean="0">
              <a:sym typeface="Wingdings" panose="05000000000000000000" pitchFamily="2" charset="2"/>
            </a:endParaRPr>
          </a:p>
          <a:p>
            <a:r>
              <a:rPr lang="zh-CN" altLang="en-US" dirty="0" smtClean="0">
                <a:sym typeface="Wingdings" panose="05000000000000000000" pitchFamily="2" charset="2"/>
              </a:rPr>
              <a:t>按照</a:t>
            </a:r>
            <a:r>
              <a:rPr lang="en-US" altLang="zh-CN" dirty="0" smtClean="0">
                <a:sym typeface="Wingdings" panose="05000000000000000000" pitchFamily="2" charset="2"/>
              </a:rPr>
              <a:t>PASCAL</a:t>
            </a:r>
            <a:r>
              <a:rPr lang="en-US" altLang="zh-CN" baseline="0" dirty="0" smtClean="0">
                <a:sym typeface="Wingdings" panose="05000000000000000000" pitchFamily="2" charset="2"/>
              </a:rPr>
              <a:t> VOC 2007</a:t>
            </a:r>
            <a:r>
              <a:rPr lang="zh-CN" altLang="en-US" baseline="0" dirty="0" smtClean="0">
                <a:sym typeface="Wingdings" panose="05000000000000000000" pitchFamily="2" charset="2"/>
              </a:rPr>
              <a:t>的</a:t>
            </a:r>
            <a:r>
              <a:rPr lang="en-US" altLang="zh-CN" baseline="0" dirty="0" err="1" smtClean="0">
                <a:sym typeface="Wingdings" panose="05000000000000000000" pitchFamily="2" charset="2"/>
              </a:rPr>
              <a:t>mAP</a:t>
            </a:r>
            <a:r>
              <a:rPr lang="zh-CN" altLang="en-US" baseline="0" dirty="0" smtClean="0">
                <a:sym typeface="Wingdings" panose="05000000000000000000" pitchFamily="2" charset="2"/>
              </a:rPr>
              <a:t>计算逻辑，我们在召回率坐标轴上均匀选取</a:t>
            </a:r>
            <a:r>
              <a:rPr lang="en-US" altLang="zh-CN" baseline="0" dirty="0" smtClean="0">
                <a:sym typeface="Wingdings" panose="05000000000000000000" pitchFamily="2" charset="2"/>
              </a:rPr>
              <a:t>11</a:t>
            </a:r>
            <a:r>
              <a:rPr lang="zh-CN" altLang="en-US" baseline="0" dirty="0" smtClean="0">
                <a:sym typeface="Wingdings" panose="05000000000000000000" pitchFamily="2" charset="2"/>
              </a:rPr>
              <a:t>个点，然后计算在召回率大于</a:t>
            </a:r>
            <a:r>
              <a:rPr lang="en-US" altLang="zh-CN" baseline="0" dirty="0" smtClean="0">
                <a:sym typeface="Wingdings" panose="05000000000000000000" pitchFamily="2" charset="2"/>
              </a:rPr>
              <a:t>0</a:t>
            </a:r>
            <a:r>
              <a:rPr lang="zh-CN" altLang="en-US" baseline="0" dirty="0" smtClean="0">
                <a:sym typeface="Wingdings" panose="05000000000000000000" pitchFamily="2" charset="2"/>
              </a:rPr>
              <a:t>的所有点中，精确度的最大值；接着计算在召回率大于</a:t>
            </a:r>
            <a:r>
              <a:rPr lang="en-US" altLang="zh-CN" baseline="0" dirty="0" smtClean="0">
                <a:sym typeface="Wingdings" panose="05000000000000000000" pitchFamily="2" charset="2"/>
              </a:rPr>
              <a:t>0.1</a:t>
            </a:r>
            <a:r>
              <a:rPr lang="zh-CN" altLang="en-US" baseline="0" dirty="0" smtClean="0">
                <a:sym typeface="Wingdings" panose="05000000000000000000" pitchFamily="2" charset="2"/>
              </a:rPr>
              <a:t>的所有点中，精确度的最大值。以此类推，最终得到</a:t>
            </a:r>
            <a:r>
              <a:rPr lang="en-US" altLang="zh-CN" baseline="0" dirty="0" smtClean="0">
                <a:sym typeface="Wingdings" panose="05000000000000000000" pitchFamily="2" charset="2"/>
              </a:rPr>
              <a:t>11</a:t>
            </a:r>
            <a:r>
              <a:rPr lang="zh-CN" altLang="en-US" baseline="0" dirty="0" smtClean="0">
                <a:sym typeface="Wingdings" panose="05000000000000000000" pitchFamily="2" charset="2"/>
              </a:rPr>
              <a:t>个精确度值，对这</a:t>
            </a:r>
            <a:r>
              <a:rPr lang="en-US" altLang="zh-CN" baseline="0" dirty="0" smtClean="0">
                <a:sym typeface="Wingdings" panose="05000000000000000000" pitchFamily="2" charset="2"/>
              </a:rPr>
              <a:t>11</a:t>
            </a:r>
            <a:r>
              <a:rPr lang="zh-CN" altLang="en-US" baseline="0" dirty="0" smtClean="0">
                <a:sym typeface="Wingdings" panose="05000000000000000000" pitchFamily="2" charset="2"/>
              </a:rPr>
              <a:t>个精确度求均值后便可以得到</a:t>
            </a:r>
            <a:r>
              <a:rPr lang="en-US" altLang="zh-CN" baseline="0" dirty="0" smtClean="0">
                <a:sym typeface="Wingdings" panose="05000000000000000000" pitchFamily="2" charset="2"/>
              </a:rPr>
              <a:t>AP</a:t>
            </a:r>
            <a:r>
              <a:rPr lang="zh-CN" altLang="en-US" baseline="0" dirty="0" smtClean="0">
                <a:sym typeface="Wingdings" panose="05000000000000000000" pitchFamily="2" charset="2"/>
              </a:rPr>
              <a:t>值。</a:t>
            </a:r>
            <a:r>
              <a:rPr lang="en-US" altLang="zh-CN" baseline="0" dirty="0" err="1" smtClean="0">
                <a:sym typeface="Wingdings" panose="05000000000000000000" pitchFamily="2" charset="2"/>
              </a:rPr>
              <a:t>mAP</a:t>
            </a:r>
            <a:r>
              <a:rPr lang="zh-CN" altLang="en-US" baseline="0" dirty="0" smtClean="0">
                <a:sym typeface="Wingdings" panose="05000000000000000000" pitchFamily="2" charset="2"/>
              </a:rPr>
              <a:t>其实就是对每个真实目标类别分别计算</a:t>
            </a:r>
            <a:r>
              <a:rPr lang="en-US" altLang="zh-CN" baseline="0" dirty="0" smtClean="0">
                <a:sym typeface="Wingdings" panose="05000000000000000000" pitchFamily="2" charset="2"/>
              </a:rPr>
              <a:t>AP</a:t>
            </a:r>
            <a:r>
              <a:rPr lang="zh-CN" altLang="en-US" baseline="0" dirty="0" smtClean="0">
                <a:sym typeface="Wingdings" panose="05000000000000000000" pitchFamily="2" charset="2"/>
              </a:rPr>
              <a:t>值后再求均值的结果。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483556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下面用几张图演示</a:t>
            </a:r>
            <a:r>
              <a:rPr lang="en-US" altLang="zh-CN" sz="1200" b="0" i="0" kern="1200" dirty="0" smtClean="0">
                <a:solidFill>
                  <a:schemeClr val="tx1"/>
                </a:solidFill>
                <a:effectLst/>
                <a:latin typeface="+mn-lt"/>
                <a:ea typeface="+mn-ea"/>
                <a:cs typeface="+mn-cs"/>
              </a:rPr>
              <a:t>AP</a:t>
            </a:r>
            <a:r>
              <a:rPr lang="zh-CN" altLang="en-US" sz="1200" b="0" i="0" kern="1200" dirty="0" smtClean="0">
                <a:solidFill>
                  <a:schemeClr val="tx1"/>
                </a:solidFill>
                <a:effectLst/>
                <a:latin typeface="+mn-lt"/>
                <a:ea typeface="+mn-ea"/>
                <a:cs typeface="+mn-cs"/>
              </a:rPr>
              <a:t>计算过程。</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假设我们有 </a:t>
            </a:r>
            <a:r>
              <a:rPr lang="en-US" altLang="zh-CN" sz="1200" b="0" i="0" kern="1200" dirty="0" smtClean="0">
                <a:solidFill>
                  <a:schemeClr val="tx1"/>
                </a:solidFill>
                <a:effectLst/>
                <a:latin typeface="+mn-lt"/>
                <a:ea typeface="+mn-ea"/>
                <a:cs typeface="+mn-cs"/>
              </a:rPr>
              <a:t>7 </a:t>
            </a:r>
            <a:r>
              <a:rPr lang="zh-CN" altLang="en-US" sz="1200" b="0" i="0" kern="1200" dirty="0" smtClean="0">
                <a:solidFill>
                  <a:schemeClr val="tx1"/>
                </a:solidFill>
                <a:effectLst/>
                <a:latin typeface="+mn-lt"/>
                <a:ea typeface="+mn-ea"/>
                <a:cs typeface="+mn-cs"/>
              </a:rPr>
              <a:t>张图片（</a:t>
            </a:r>
            <a:r>
              <a:rPr lang="en-US" altLang="zh-CN" sz="1200" b="0" i="0" kern="1200" dirty="0" smtClean="0">
                <a:solidFill>
                  <a:schemeClr val="tx1"/>
                </a:solidFill>
                <a:effectLst/>
                <a:latin typeface="+mn-lt"/>
                <a:ea typeface="+mn-ea"/>
                <a:cs typeface="+mn-cs"/>
              </a:rPr>
              <a:t>Images1-Image7</a:t>
            </a:r>
            <a:r>
              <a:rPr lang="zh-CN" altLang="en-US" sz="1200" b="0" i="0" kern="1200" dirty="0" smtClean="0">
                <a:solidFill>
                  <a:schemeClr val="tx1"/>
                </a:solidFill>
                <a:effectLst/>
                <a:latin typeface="+mn-lt"/>
                <a:ea typeface="+mn-ea"/>
                <a:cs typeface="+mn-cs"/>
              </a:rPr>
              <a:t>），这些图片有 </a:t>
            </a:r>
            <a:r>
              <a:rPr lang="en-US" altLang="zh-CN" sz="1200" b="0" i="0" kern="1200" dirty="0" smtClean="0">
                <a:solidFill>
                  <a:schemeClr val="tx1"/>
                </a:solidFill>
                <a:effectLst/>
                <a:latin typeface="+mn-lt"/>
                <a:ea typeface="+mn-ea"/>
                <a:cs typeface="+mn-cs"/>
              </a:rPr>
              <a:t>15 </a:t>
            </a:r>
            <a:r>
              <a:rPr lang="zh-CN" altLang="en-US" sz="1200" b="0" i="0" kern="1200" dirty="0" smtClean="0">
                <a:solidFill>
                  <a:schemeClr val="tx1"/>
                </a:solidFill>
                <a:effectLst/>
                <a:latin typeface="+mn-lt"/>
                <a:ea typeface="+mn-ea"/>
                <a:cs typeface="+mn-cs"/>
              </a:rPr>
              <a:t>个目标（绿色的框，</a:t>
            </a:r>
            <a:r>
              <a:rPr lang="zh-CN" altLang="en-US" dirty="0" smtClean="0"/>
              <a:t>所有真值框的数量</a:t>
            </a:r>
            <a:r>
              <a:rPr lang="zh-CN" altLang="en-US" sz="1200" b="0" i="0" kern="1200" dirty="0" smtClean="0">
                <a:solidFill>
                  <a:schemeClr val="tx1"/>
                </a:solidFill>
                <a:effectLst/>
                <a:latin typeface="+mn-lt"/>
                <a:ea typeface="+mn-ea"/>
                <a:cs typeface="+mn-cs"/>
              </a:rPr>
              <a:t>）以及 </a:t>
            </a:r>
            <a:r>
              <a:rPr lang="en-US" altLang="zh-CN" sz="1200" b="0" i="0" kern="1200" dirty="0" smtClean="0">
                <a:solidFill>
                  <a:schemeClr val="tx1"/>
                </a:solidFill>
                <a:effectLst/>
                <a:latin typeface="+mn-lt"/>
                <a:ea typeface="+mn-ea"/>
                <a:cs typeface="+mn-cs"/>
              </a:rPr>
              <a:t>24 </a:t>
            </a:r>
            <a:r>
              <a:rPr lang="zh-CN" altLang="en-US" sz="1200" b="0" i="0" kern="1200" dirty="0" smtClean="0">
                <a:solidFill>
                  <a:schemeClr val="tx1"/>
                </a:solidFill>
                <a:effectLst/>
                <a:latin typeface="+mn-lt"/>
                <a:ea typeface="+mn-ea"/>
                <a:cs typeface="+mn-cs"/>
              </a:rPr>
              <a:t>个预测边框（红色的框，</a:t>
            </a:r>
            <a:r>
              <a:rPr lang="en-US" altLang="zh-CN" sz="1200" b="0" i="0" kern="1200" dirty="0" smtClean="0">
                <a:solidFill>
                  <a:schemeClr val="tx1"/>
                </a:solidFill>
                <a:effectLst/>
                <a:latin typeface="+mn-lt"/>
                <a:ea typeface="+mn-ea"/>
                <a:cs typeface="+mn-cs"/>
              </a:rPr>
              <a:t>A-Y </a:t>
            </a:r>
            <a:r>
              <a:rPr lang="zh-CN" altLang="en-US" sz="1200" b="0" i="0" kern="1200" dirty="0" smtClean="0">
                <a:solidFill>
                  <a:schemeClr val="tx1"/>
                </a:solidFill>
                <a:effectLst/>
                <a:latin typeface="+mn-lt"/>
                <a:ea typeface="+mn-ea"/>
                <a:cs typeface="+mn-cs"/>
              </a:rPr>
              <a:t>编号表示，并且有一个置信度值），很显然这个模型的检测效果不怎么样（预测框与真值框显而易见重叠度低）</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107400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根据上图以及说明，我们可以列出以下表格，其中 </a:t>
            </a:r>
            <a:r>
              <a:rPr lang="en-US" altLang="zh-CN" sz="1200" b="0" i="0" kern="1200" dirty="0" smtClean="0">
                <a:solidFill>
                  <a:schemeClr val="tx1"/>
                </a:solidFill>
                <a:effectLst/>
                <a:latin typeface="+mn-lt"/>
                <a:ea typeface="+mn-ea"/>
                <a:cs typeface="+mn-cs"/>
              </a:rPr>
              <a:t>Images </a:t>
            </a:r>
            <a:r>
              <a:rPr lang="zh-CN" altLang="en-US" sz="1200" b="0" i="0" kern="1200" dirty="0" smtClean="0">
                <a:solidFill>
                  <a:schemeClr val="tx1"/>
                </a:solidFill>
                <a:effectLst/>
                <a:latin typeface="+mn-lt"/>
                <a:ea typeface="+mn-ea"/>
                <a:cs typeface="+mn-cs"/>
              </a:rPr>
              <a:t>代表图片的编号，</a:t>
            </a:r>
            <a:r>
              <a:rPr lang="en-US" altLang="zh-CN" sz="1200" b="0" i="0" kern="1200" dirty="0" smtClean="0">
                <a:solidFill>
                  <a:schemeClr val="tx1"/>
                </a:solidFill>
                <a:effectLst/>
                <a:latin typeface="+mn-lt"/>
                <a:ea typeface="+mn-ea"/>
                <a:cs typeface="+mn-cs"/>
              </a:rPr>
              <a:t>Detections </a:t>
            </a:r>
            <a:r>
              <a:rPr lang="zh-CN" altLang="en-US" sz="1200" b="0" i="0" kern="1200" dirty="0" smtClean="0">
                <a:solidFill>
                  <a:schemeClr val="tx1"/>
                </a:solidFill>
                <a:effectLst/>
                <a:latin typeface="+mn-lt"/>
                <a:ea typeface="+mn-ea"/>
                <a:cs typeface="+mn-cs"/>
              </a:rPr>
              <a:t>代表预测边框的编号，</a:t>
            </a:r>
            <a:r>
              <a:rPr lang="en-US" altLang="zh-CN" sz="1200" b="0" i="0" kern="1200" dirty="0" smtClean="0">
                <a:solidFill>
                  <a:schemeClr val="tx1"/>
                </a:solidFill>
                <a:effectLst/>
                <a:latin typeface="+mn-lt"/>
                <a:ea typeface="+mn-ea"/>
                <a:cs typeface="+mn-cs"/>
              </a:rPr>
              <a:t>Confidences </a:t>
            </a:r>
            <a:r>
              <a:rPr lang="zh-CN" altLang="en-US" sz="1200" b="0" i="0" kern="1200" dirty="0" smtClean="0">
                <a:solidFill>
                  <a:schemeClr val="tx1"/>
                </a:solidFill>
                <a:effectLst/>
                <a:latin typeface="+mn-lt"/>
                <a:ea typeface="+mn-ea"/>
                <a:cs typeface="+mn-cs"/>
              </a:rPr>
              <a:t>代表预测边框的置信度，</a:t>
            </a:r>
            <a:r>
              <a:rPr lang="en-US" altLang="zh-CN" sz="1200" b="0" i="0" kern="1200" dirty="0" smtClean="0">
                <a:solidFill>
                  <a:schemeClr val="tx1"/>
                </a:solidFill>
                <a:effectLst/>
                <a:latin typeface="+mn-lt"/>
                <a:ea typeface="+mn-ea"/>
                <a:cs typeface="+mn-cs"/>
              </a:rPr>
              <a:t>TP or FP </a:t>
            </a:r>
            <a:r>
              <a:rPr lang="zh-CN" altLang="en-US" sz="1200" b="0" i="0" kern="1200" dirty="0" smtClean="0">
                <a:solidFill>
                  <a:schemeClr val="tx1"/>
                </a:solidFill>
                <a:effectLst/>
                <a:latin typeface="+mn-lt"/>
                <a:ea typeface="+mn-ea"/>
                <a:cs typeface="+mn-cs"/>
              </a:rPr>
              <a:t>代表预测的边框是标记为 </a:t>
            </a:r>
            <a:r>
              <a:rPr lang="en-US" altLang="zh-CN" sz="1200" b="0" i="0" kern="1200" dirty="0" smtClean="0">
                <a:solidFill>
                  <a:schemeClr val="tx1"/>
                </a:solidFill>
                <a:effectLst/>
                <a:latin typeface="+mn-lt"/>
                <a:ea typeface="+mn-ea"/>
                <a:cs typeface="+mn-cs"/>
              </a:rPr>
              <a:t>TP </a:t>
            </a:r>
            <a:r>
              <a:rPr lang="zh-CN" altLang="en-US" sz="1200" b="0" i="0" kern="1200" dirty="0" smtClean="0">
                <a:solidFill>
                  <a:schemeClr val="tx1"/>
                </a:solidFill>
                <a:effectLst/>
                <a:latin typeface="+mn-lt"/>
                <a:ea typeface="+mn-ea"/>
                <a:cs typeface="+mn-cs"/>
              </a:rPr>
              <a:t>还是 </a:t>
            </a:r>
            <a:r>
              <a:rPr lang="en-US" altLang="zh-CN" sz="1200" b="0" i="0" kern="1200" dirty="0" smtClean="0">
                <a:solidFill>
                  <a:schemeClr val="tx1"/>
                </a:solidFill>
                <a:effectLst/>
                <a:latin typeface="+mn-lt"/>
                <a:ea typeface="+mn-ea"/>
                <a:cs typeface="+mn-cs"/>
              </a:rPr>
              <a:t>FP</a:t>
            </a:r>
            <a:r>
              <a:rPr lang="zh-CN" altLang="en-US" sz="1200" b="0" i="0" kern="1200" dirty="0" smtClean="0">
                <a:solidFill>
                  <a:schemeClr val="tx1"/>
                </a:solidFill>
                <a:effectLst/>
                <a:latin typeface="+mn-lt"/>
                <a:ea typeface="+mn-ea"/>
                <a:cs typeface="+mn-cs"/>
              </a:rPr>
              <a:t>（认为预测边框与 </a:t>
            </a:r>
            <a:r>
              <a:rPr lang="en-US" altLang="zh-CN" sz="1200" b="0" i="0" kern="1200" dirty="0" smtClean="0">
                <a:solidFill>
                  <a:schemeClr val="tx1"/>
                </a:solidFill>
                <a:effectLst/>
                <a:latin typeface="+mn-lt"/>
                <a:ea typeface="+mn-ea"/>
                <a:cs typeface="+mn-cs"/>
              </a:rPr>
              <a:t>GT </a:t>
            </a:r>
            <a:r>
              <a:rPr lang="zh-CN" altLang="en-US" sz="1200" b="0" i="0" kern="1200" dirty="0" smtClean="0">
                <a:solidFill>
                  <a:schemeClr val="tx1"/>
                </a:solidFill>
                <a:effectLst/>
                <a:latin typeface="+mn-lt"/>
                <a:ea typeface="+mn-ea"/>
                <a:cs typeface="+mn-cs"/>
              </a:rPr>
              <a:t>的 </a:t>
            </a:r>
            <a:r>
              <a:rPr lang="en-US" altLang="zh-CN" sz="1200" b="0" i="0" kern="1200" dirty="0" smtClean="0">
                <a:solidFill>
                  <a:schemeClr val="tx1"/>
                </a:solidFill>
                <a:effectLst/>
                <a:latin typeface="+mn-lt"/>
                <a:ea typeface="+mn-ea"/>
                <a:cs typeface="+mn-cs"/>
              </a:rPr>
              <a:t>IOU </a:t>
            </a:r>
            <a:r>
              <a:rPr lang="zh-CN" altLang="en-US" sz="1200" b="0" i="0" kern="1200" dirty="0" smtClean="0">
                <a:solidFill>
                  <a:schemeClr val="tx1"/>
                </a:solidFill>
                <a:effectLst/>
                <a:latin typeface="+mn-lt"/>
                <a:ea typeface="+mn-ea"/>
                <a:cs typeface="+mn-cs"/>
              </a:rPr>
              <a:t>值大于等于 </a:t>
            </a:r>
            <a:r>
              <a:rPr lang="en-US" altLang="zh-CN" sz="1200" b="0" i="0" kern="1200" dirty="0" smtClean="0">
                <a:solidFill>
                  <a:schemeClr val="tx1"/>
                </a:solidFill>
                <a:effectLst/>
                <a:latin typeface="+mn-lt"/>
                <a:ea typeface="+mn-ea"/>
                <a:cs typeface="+mn-cs"/>
              </a:rPr>
              <a:t>0.3 </a:t>
            </a:r>
            <a:r>
              <a:rPr lang="zh-CN" altLang="en-US" sz="1200" b="0" i="0" kern="1200" dirty="0" smtClean="0">
                <a:solidFill>
                  <a:schemeClr val="tx1"/>
                </a:solidFill>
                <a:effectLst/>
                <a:latin typeface="+mn-lt"/>
                <a:ea typeface="+mn-ea"/>
                <a:cs typeface="+mn-cs"/>
              </a:rPr>
              <a:t>就标记为 </a:t>
            </a:r>
            <a:r>
              <a:rPr lang="en-US" altLang="zh-CN" sz="1200" b="0" i="0" kern="1200" dirty="0" smtClean="0">
                <a:solidFill>
                  <a:schemeClr val="tx1"/>
                </a:solidFill>
                <a:effectLst/>
                <a:latin typeface="+mn-lt"/>
                <a:ea typeface="+mn-ea"/>
                <a:cs typeface="+mn-cs"/>
              </a:rPr>
              <a:t>TP</a:t>
            </a:r>
            <a:r>
              <a:rPr lang="zh-CN" altLang="en-US" sz="1200" b="0" i="0" kern="1200" dirty="0" smtClean="0">
                <a:solidFill>
                  <a:schemeClr val="tx1"/>
                </a:solidFill>
                <a:effectLst/>
                <a:latin typeface="+mn-lt"/>
                <a:ea typeface="+mn-ea"/>
                <a:cs typeface="+mn-cs"/>
              </a:rPr>
              <a:t>；若一个 </a:t>
            </a:r>
            <a:r>
              <a:rPr lang="en-US" altLang="zh-CN" sz="1200" b="0" i="0" kern="1200" dirty="0" smtClean="0">
                <a:solidFill>
                  <a:schemeClr val="tx1"/>
                </a:solidFill>
                <a:effectLst/>
                <a:latin typeface="+mn-lt"/>
                <a:ea typeface="+mn-ea"/>
                <a:cs typeface="+mn-cs"/>
              </a:rPr>
              <a:t>GT </a:t>
            </a:r>
            <a:r>
              <a:rPr lang="zh-CN" altLang="en-US" sz="1200" b="0" i="0" kern="1200" dirty="0" smtClean="0">
                <a:solidFill>
                  <a:schemeClr val="tx1"/>
                </a:solidFill>
                <a:effectLst/>
                <a:latin typeface="+mn-lt"/>
                <a:ea typeface="+mn-ea"/>
                <a:cs typeface="+mn-cs"/>
              </a:rPr>
              <a:t>有多个预测边框，则认为 </a:t>
            </a:r>
            <a:r>
              <a:rPr lang="en-US" altLang="zh-CN" sz="1200" b="0" i="0" kern="1200" dirty="0" smtClean="0">
                <a:solidFill>
                  <a:schemeClr val="tx1"/>
                </a:solidFill>
                <a:effectLst/>
                <a:latin typeface="+mn-lt"/>
                <a:ea typeface="+mn-ea"/>
                <a:cs typeface="+mn-cs"/>
              </a:rPr>
              <a:t>IOU </a:t>
            </a:r>
            <a:r>
              <a:rPr lang="zh-CN" altLang="en-US" sz="1200" b="0" i="0" kern="1200" dirty="0" smtClean="0">
                <a:solidFill>
                  <a:schemeClr val="tx1"/>
                </a:solidFill>
                <a:effectLst/>
                <a:latin typeface="+mn-lt"/>
                <a:ea typeface="+mn-ea"/>
                <a:cs typeface="+mn-cs"/>
              </a:rPr>
              <a:t>最大且大于等于 </a:t>
            </a:r>
            <a:r>
              <a:rPr lang="en-US" altLang="zh-CN" sz="1200" b="0" i="0" kern="1200" dirty="0" smtClean="0">
                <a:solidFill>
                  <a:schemeClr val="tx1"/>
                </a:solidFill>
                <a:effectLst/>
                <a:latin typeface="+mn-lt"/>
                <a:ea typeface="+mn-ea"/>
                <a:cs typeface="+mn-cs"/>
              </a:rPr>
              <a:t>0.3 </a:t>
            </a:r>
            <a:r>
              <a:rPr lang="zh-CN" altLang="en-US" sz="1200" b="0" i="0" kern="1200" dirty="0" smtClean="0">
                <a:solidFill>
                  <a:schemeClr val="tx1"/>
                </a:solidFill>
                <a:effectLst/>
                <a:latin typeface="+mn-lt"/>
                <a:ea typeface="+mn-ea"/>
                <a:cs typeface="+mn-cs"/>
              </a:rPr>
              <a:t>的预测框标记为 </a:t>
            </a:r>
            <a:r>
              <a:rPr lang="en-US" altLang="zh-CN" sz="1200" b="0" i="0" kern="1200" dirty="0" smtClean="0">
                <a:solidFill>
                  <a:schemeClr val="tx1"/>
                </a:solidFill>
                <a:effectLst/>
                <a:latin typeface="+mn-lt"/>
                <a:ea typeface="+mn-ea"/>
                <a:cs typeface="+mn-cs"/>
              </a:rPr>
              <a:t>TP</a:t>
            </a:r>
            <a:r>
              <a:rPr lang="zh-CN" altLang="en-US" sz="1200" b="0" i="0" kern="1200" dirty="0" smtClean="0">
                <a:solidFill>
                  <a:schemeClr val="tx1"/>
                </a:solidFill>
                <a:effectLst/>
                <a:latin typeface="+mn-lt"/>
                <a:ea typeface="+mn-ea"/>
                <a:cs typeface="+mn-cs"/>
              </a:rPr>
              <a:t>，其他的标记为 </a:t>
            </a:r>
            <a:r>
              <a:rPr lang="en-US" altLang="zh-CN" sz="1200" b="0" i="0" kern="1200" dirty="0" smtClean="0">
                <a:solidFill>
                  <a:schemeClr val="tx1"/>
                </a:solidFill>
                <a:effectLst/>
                <a:latin typeface="+mn-lt"/>
                <a:ea typeface="+mn-ea"/>
                <a:cs typeface="+mn-cs"/>
              </a:rPr>
              <a:t>FP</a:t>
            </a:r>
            <a:r>
              <a:rPr lang="zh-CN" altLang="en-US" sz="1200" b="0" i="0" kern="1200" dirty="0" smtClean="0">
                <a:solidFill>
                  <a:schemeClr val="tx1"/>
                </a:solidFill>
                <a:effectLst/>
                <a:latin typeface="+mn-lt"/>
                <a:ea typeface="+mn-ea"/>
                <a:cs typeface="+mn-cs"/>
              </a:rPr>
              <a:t>，即一个 </a:t>
            </a:r>
            <a:r>
              <a:rPr lang="en-US" altLang="zh-CN" sz="1200" b="0" i="0" kern="1200" dirty="0" smtClean="0">
                <a:solidFill>
                  <a:schemeClr val="tx1"/>
                </a:solidFill>
                <a:effectLst/>
                <a:latin typeface="+mn-lt"/>
                <a:ea typeface="+mn-ea"/>
                <a:cs typeface="+mn-cs"/>
              </a:rPr>
              <a:t>GT </a:t>
            </a:r>
            <a:r>
              <a:rPr lang="zh-CN" altLang="en-US" sz="1200" b="0" i="0" kern="1200" dirty="0" smtClean="0">
                <a:solidFill>
                  <a:schemeClr val="tx1"/>
                </a:solidFill>
                <a:effectLst/>
                <a:latin typeface="+mn-lt"/>
                <a:ea typeface="+mn-ea"/>
                <a:cs typeface="+mn-cs"/>
              </a:rPr>
              <a:t>只能有一个预测框标记为 </a:t>
            </a:r>
            <a:r>
              <a:rPr lang="en-US" altLang="zh-CN" sz="1200" b="0" i="0" kern="1200" dirty="0" smtClean="0">
                <a:solidFill>
                  <a:schemeClr val="tx1"/>
                </a:solidFill>
                <a:effectLst/>
                <a:latin typeface="+mn-lt"/>
                <a:ea typeface="+mn-ea"/>
                <a:cs typeface="+mn-cs"/>
              </a:rPr>
              <a:t>TP</a:t>
            </a:r>
            <a:r>
              <a:rPr lang="zh-CN" altLang="en-US" sz="1200" b="0" i="0" kern="1200" dirty="0" smtClean="0">
                <a:solidFill>
                  <a:schemeClr val="tx1"/>
                </a:solidFill>
                <a:effectLst/>
                <a:latin typeface="+mn-lt"/>
                <a:ea typeface="+mn-ea"/>
                <a:cs typeface="+mn-cs"/>
              </a:rPr>
              <a:t>，该演示案例中</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阈值为</a:t>
            </a:r>
            <a:r>
              <a:rPr lang="en-US" altLang="zh-CN" sz="1200" b="0" i="0" kern="1200" dirty="0" smtClean="0">
                <a:solidFill>
                  <a:schemeClr val="tx1"/>
                </a:solidFill>
                <a:effectLst/>
                <a:latin typeface="+mn-lt"/>
                <a:ea typeface="+mn-ea"/>
                <a:cs typeface="+mn-cs"/>
              </a:rPr>
              <a:t>0.3</a:t>
            </a:r>
            <a:r>
              <a:rPr lang="zh-CN" altLang="en-US" sz="1200" b="0" i="0" kern="1200" dirty="0" smtClean="0">
                <a:solidFill>
                  <a:schemeClr val="tx1"/>
                </a:solidFill>
                <a:effectLst/>
                <a:latin typeface="+mn-lt"/>
                <a:ea typeface="+mn-ea"/>
                <a:cs typeface="+mn-cs"/>
              </a:rPr>
              <a:t>，但一般实际任务中</a:t>
            </a:r>
            <a:r>
              <a:rPr lang="en-US" altLang="zh-CN" sz="1200" b="0" i="0" kern="1200" dirty="0" err="1" smtClean="0">
                <a:solidFill>
                  <a:schemeClr val="tx1"/>
                </a:solidFill>
                <a:effectLst/>
                <a:latin typeface="+mn-lt"/>
                <a:ea typeface="+mn-ea"/>
                <a:cs typeface="+mn-cs"/>
              </a:rPr>
              <a:t>IoU</a:t>
            </a:r>
            <a:r>
              <a:rPr lang="zh-CN" altLang="en-US" sz="1200" b="0" i="0" kern="1200" dirty="0" smtClean="0">
                <a:solidFill>
                  <a:schemeClr val="tx1"/>
                </a:solidFill>
                <a:effectLst/>
                <a:latin typeface="+mn-lt"/>
                <a:ea typeface="+mn-ea"/>
                <a:cs typeface="+mn-cs"/>
              </a:rPr>
              <a:t>还是取</a:t>
            </a:r>
            <a:r>
              <a:rPr lang="en-US" altLang="zh-CN" sz="1200" b="0" i="0" kern="1200" dirty="0" smtClean="0">
                <a:solidFill>
                  <a:schemeClr val="tx1"/>
                </a:solidFill>
                <a:effectLst/>
                <a:latin typeface="+mn-lt"/>
                <a:ea typeface="+mn-ea"/>
                <a:cs typeface="+mn-cs"/>
              </a:rPr>
              <a:t>0.5</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5546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通过上表，我们可以绘制出 </a:t>
            </a:r>
            <a:r>
              <a:rPr lang="en-US" altLang="zh-CN" sz="1200" b="0" i="0" kern="1200" dirty="0" smtClean="0">
                <a:solidFill>
                  <a:schemeClr val="tx1"/>
                </a:solidFill>
                <a:effectLst/>
                <a:latin typeface="+mn-lt"/>
                <a:ea typeface="+mn-ea"/>
                <a:cs typeface="+mn-cs"/>
              </a:rPr>
              <a:t>P-R </a:t>
            </a:r>
            <a:r>
              <a:rPr lang="zh-CN" altLang="en-US" sz="1200" b="0" i="0" kern="1200" dirty="0" smtClean="0">
                <a:solidFill>
                  <a:schemeClr val="tx1"/>
                </a:solidFill>
                <a:effectLst/>
                <a:latin typeface="+mn-lt"/>
                <a:ea typeface="+mn-ea"/>
                <a:cs typeface="+mn-cs"/>
              </a:rPr>
              <a:t>曲线（因为 </a:t>
            </a:r>
            <a:r>
              <a:rPr lang="en-US" altLang="zh-CN" sz="1200" b="0" i="0" kern="1200" dirty="0" smtClean="0">
                <a:solidFill>
                  <a:schemeClr val="tx1"/>
                </a:solidFill>
                <a:effectLst/>
                <a:latin typeface="+mn-lt"/>
                <a:ea typeface="+mn-ea"/>
                <a:cs typeface="+mn-cs"/>
              </a:rPr>
              <a:t>AP </a:t>
            </a:r>
            <a:r>
              <a:rPr lang="zh-CN" altLang="en-US" sz="1200" b="0" i="0" kern="1200" dirty="0" smtClean="0">
                <a:solidFill>
                  <a:schemeClr val="tx1"/>
                </a:solidFill>
                <a:effectLst/>
                <a:latin typeface="+mn-lt"/>
                <a:ea typeface="+mn-ea"/>
                <a:cs typeface="+mn-cs"/>
              </a:rPr>
              <a:t>就是 </a:t>
            </a:r>
            <a:r>
              <a:rPr lang="en-US" altLang="zh-CN" sz="1200" b="0" i="0" kern="1200" dirty="0" smtClean="0">
                <a:solidFill>
                  <a:schemeClr val="tx1"/>
                </a:solidFill>
                <a:effectLst/>
                <a:latin typeface="+mn-lt"/>
                <a:ea typeface="+mn-ea"/>
                <a:cs typeface="+mn-cs"/>
              </a:rPr>
              <a:t>P-R </a:t>
            </a:r>
            <a:r>
              <a:rPr lang="zh-CN" altLang="en-US" sz="1200" b="0" i="0" kern="1200" dirty="0" smtClean="0">
                <a:solidFill>
                  <a:schemeClr val="tx1"/>
                </a:solidFill>
                <a:effectLst/>
                <a:latin typeface="+mn-lt"/>
                <a:ea typeface="+mn-ea"/>
                <a:cs typeface="+mn-cs"/>
              </a:rPr>
              <a:t>曲线下面的面积），但是在此之前我们需要计算出 </a:t>
            </a:r>
            <a:r>
              <a:rPr lang="en-US" altLang="zh-CN" sz="1200" b="0" i="0" kern="1200" dirty="0" smtClean="0">
                <a:solidFill>
                  <a:schemeClr val="tx1"/>
                </a:solidFill>
                <a:effectLst/>
                <a:latin typeface="+mn-lt"/>
                <a:ea typeface="+mn-ea"/>
                <a:cs typeface="+mn-cs"/>
              </a:rPr>
              <a:t>P-R </a:t>
            </a:r>
            <a:r>
              <a:rPr lang="zh-CN" altLang="en-US" sz="1200" b="0" i="0" kern="1200" dirty="0" smtClean="0">
                <a:solidFill>
                  <a:schemeClr val="tx1"/>
                </a:solidFill>
                <a:effectLst/>
                <a:latin typeface="+mn-lt"/>
                <a:ea typeface="+mn-ea"/>
                <a:cs typeface="+mn-cs"/>
              </a:rPr>
              <a:t>曲线上各个点的坐标，根据置信度从大到小排序所有的预测框，然后就可以计算 </a:t>
            </a:r>
            <a:r>
              <a:rPr lang="en-US" altLang="zh-CN" sz="1200" b="0" i="0" kern="1200" dirty="0" smtClean="0">
                <a:solidFill>
                  <a:schemeClr val="tx1"/>
                </a:solidFill>
                <a:effectLst/>
                <a:latin typeface="+mn-lt"/>
                <a:ea typeface="+mn-ea"/>
                <a:cs typeface="+mn-cs"/>
              </a:rPr>
              <a:t>Precision </a:t>
            </a:r>
            <a:r>
              <a:rPr lang="zh-CN" altLang="en-US" sz="1200" b="0" i="0" kern="1200" dirty="0" smtClean="0">
                <a:solidFill>
                  <a:schemeClr val="tx1"/>
                </a:solidFill>
                <a:effectLst/>
                <a:latin typeface="+mn-lt"/>
                <a:ea typeface="+mn-ea"/>
                <a:cs typeface="+mn-cs"/>
              </a:rPr>
              <a:t>和 </a:t>
            </a:r>
            <a:r>
              <a:rPr lang="en-US" altLang="zh-CN" sz="1200" b="0" i="0" kern="1200" dirty="0" smtClean="0">
                <a:solidFill>
                  <a:schemeClr val="tx1"/>
                </a:solidFill>
                <a:effectLst/>
                <a:latin typeface="+mn-lt"/>
                <a:ea typeface="+mn-ea"/>
                <a:cs typeface="+mn-cs"/>
              </a:rPr>
              <a:t>Recall </a:t>
            </a:r>
            <a:r>
              <a:rPr lang="zh-CN" altLang="en-US" sz="1200" b="0" i="0" kern="1200" dirty="0" smtClean="0">
                <a:solidFill>
                  <a:schemeClr val="tx1"/>
                </a:solidFill>
                <a:effectLst/>
                <a:latin typeface="+mn-lt"/>
                <a:ea typeface="+mn-ea"/>
                <a:cs typeface="+mn-cs"/>
              </a:rPr>
              <a:t>的值，见下表。（需要记住一个叫累加的概念，就是下图的 </a:t>
            </a:r>
            <a:r>
              <a:rPr lang="en-US" altLang="zh-CN" sz="1200" b="0" i="0" kern="1200" dirty="0" smtClean="0">
                <a:solidFill>
                  <a:schemeClr val="tx1"/>
                </a:solidFill>
                <a:effectLst/>
                <a:latin typeface="+mn-lt"/>
                <a:ea typeface="+mn-ea"/>
                <a:cs typeface="+mn-cs"/>
              </a:rPr>
              <a:t>ACC TP </a:t>
            </a:r>
            <a:r>
              <a:rPr lang="zh-CN" altLang="en-US" sz="1200" b="0" i="0" kern="1200" dirty="0" smtClean="0">
                <a:solidFill>
                  <a:schemeClr val="tx1"/>
                </a:solidFill>
                <a:effectLst/>
                <a:latin typeface="+mn-lt"/>
                <a:ea typeface="+mn-ea"/>
                <a:cs typeface="+mn-cs"/>
              </a:rPr>
              <a:t>和 </a:t>
            </a:r>
            <a:r>
              <a:rPr lang="en-US" altLang="zh-CN" sz="1200" b="0" i="0" kern="1200" dirty="0" smtClean="0">
                <a:solidFill>
                  <a:schemeClr val="tx1"/>
                </a:solidFill>
                <a:effectLst/>
                <a:latin typeface="+mn-lt"/>
                <a:ea typeface="+mn-ea"/>
                <a:cs typeface="+mn-cs"/>
              </a:rPr>
              <a:t>ACC FP</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标号为 </a:t>
            </a:r>
            <a:r>
              <a:rPr lang="en-US" altLang="zh-CN" sz="1200" b="0" i="0" kern="1200" dirty="0" smtClean="0">
                <a:solidFill>
                  <a:schemeClr val="tx1"/>
                </a:solidFill>
                <a:effectLst/>
                <a:latin typeface="+mn-lt"/>
                <a:ea typeface="+mn-ea"/>
                <a:cs typeface="+mn-cs"/>
              </a:rPr>
              <a:t>1 </a:t>
            </a:r>
            <a:r>
              <a:rPr lang="zh-CN" altLang="en-US" sz="1200" b="0" i="0" kern="1200" dirty="0" smtClean="0">
                <a:solidFill>
                  <a:schemeClr val="tx1"/>
                </a:solidFill>
                <a:effectLst/>
                <a:latin typeface="+mn-lt"/>
                <a:ea typeface="+mn-ea"/>
                <a:cs typeface="+mn-cs"/>
              </a:rPr>
              <a:t>的 </a:t>
            </a:r>
            <a:r>
              <a:rPr lang="en-US" altLang="zh-CN" sz="1200" b="0" i="0" kern="1200" dirty="0" smtClean="0">
                <a:solidFill>
                  <a:schemeClr val="tx1"/>
                </a:solidFill>
                <a:effectLst/>
                <a:latin typeface="+mn-lt"/>
                <a:ea typeface="+mn-ea"/>
                <a:cs typeface="+mn-cs"/>
              </a:rPr>
              <a:t>Precision </a:t>
            </a:r>
            <a:r>
              <a:rPr lang="zh-CN" altLang="en-US" sz="1200" b="0" i="0" kern="1200" dirty="0" smtClean="0">
                <a:solidFill>
                  <a:schemeClr val="tx1"/>
                </a:solidFill>
                <a:effectLst/>
                <a:latin typeface="+mn-lt"/>
                <a:ea typeface="+mn-ea"/>
                <a:cs typeface="+mn-cs"/>
              </a:rPr>
              <a:t>和 </a:t>
            </a:r>
            <a:r>
              <a:rPr lang="en-US" altLang="zh-CN" sz="1200" b="0" i="0" kern="1200" dirty="0" smtClean="0">
                <a:solidFill>
                  <a:schemeClr val="tx1"/>
                </a:solidFill>
                <a:effectLst/>
                <a:latin typeface="+mn-lt"/>
                <a:ea typeface="+mn-ea"/>
                <a:cs typeface="+mn-cs"/>
              </a:rPr>
              <a:t>Recall </a:t>
            </a:r>
            <a:r>
              <a:rPr lang="zh-CN" altLang="en-US" sz="1200" b="0" i="0" kern="1200" dirty="0" smtClean="0">
                <a:solidFill>
                  <a:schemeClr val="tx1"/>
                </a:solidFill>
                <a:effectLst/>
                <a:latin typeface="+mn-lt"/>
                <a:ea typeface="+mn-ea"/>
                <a:cs typeface="+mn-cs"/>
              </a:rPr>
              <a:t>的计算方式：</a:t>
            </a:r>
            <a:r>
              <a:rPr lang="en-US" altLang="zh-CN" sz="1200" b="0" i="0" kern="1200" dirty="0" smtClean="0">
                <a:solidFill>
                  <a:schemeClr val="tx1"/>
                </a:solidFill>
                <a:effectLst/>
                <a:latin typeface="+mn-lt"/>
                <a:ea typeface="+mn-ea"/>
                <a:cs typeface="+mn-cs"/>
              </a:rPr>
              <a:t>Precision=TP/(TP+FP)=1/(1+0)=1</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Recall=TP/(TP+FN)=TP/(</a:t>
            </a:r>
            <a:r>
              <a:rPr lang="zh-CN" altLang="en-US" dirty="0" smtClean="0"/>
              <a:t>所有真值框</a:t>
            </a:r>
            <a:r>
              <a:rPr lang="en-US" altLang="zh-CN" sz="1200" b="0" i="0" kern="1200" dirty="0" smtClean="0">
                <a:solidFill>
                  <a:schemeClr val="tx1"/>
                </a:solidFill>
                <a:effectLst/>
                <a:latin typeface="+mn-lt"/>
                <a:ea typeface="+mn-ea"/>
                <a:cs typeface="+mn-cs"/>
              </a:rPr>
              <a:t>)=1/15=0.0666 </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标号 </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Precision=TP/(TP+FP)=1/(1+1)=0.5</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Recall=TP/(TP+FN)=TP/(</a:t>
            </a:r>
            <a:r>
              <a:rPr lang="zh-CN" altLang="en-US" sz="1200" b="0" i="0" kern="1200" dirty="0" smtClean="0">
                <a:solidFill>
                  <a:schemeClr val="tx1"/>
                </a:solidFill>
                <a:effectLst/>
                <a:latin typeface="+mn-lt"/>
                <a:ea typeface="+mn-ea"/>
                <a:cs typeface="+mn-cs"/>
              </a:rPr>
              <a:t>所有真值框</a:t>
            </a:r>
            <a:r>
              <a:rPr lang="en-US" altLang="zh-CN" sz="1200" b="0" i="0" kern="1200" dirty="0" smtClean="0">
                <a:solidFill>
                  <a:schemeClr val="tx1"/>
                </a:solidFill>
                <a:effectLst/>
                <a:latin typeface="+mn-lt"/>
                <a:ea typeface="+mn-ea"/>
                <a:cs typeface="+mn-cs"/>
              </a:rPr>
              <a:t>)=1/15=0.0666</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标号 </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Precision=TP/(TP+FP)=2/(2+1)=0.6666</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Recall=TP/(TP+FN)=TP/(</a:t>
            </a:r>
            <a:r>
              <a:rPr lang="zh-CN" altLang="en-US" sz="1200" b="0" i="0" kern="1200" dirty="0" smtClean="0">
                <a:solidFill>
                  <a:schemeClr val="tx1"/>
                </a:solidFill>
                <a:effectLst/>
                <a:latin typeface="+mn-lt"/>
                <a:ea typeface="+mn-ea"/>
                <a:cs typeface="+mn-cs"/>
              </a:rPr>
              <a:t>所有真值框</a:t>
            </a:r>
            <a:r>
              <a:rPr lang="en-US" altLang="zh-CN" sz="1200" b="0" i="0" kern="1200" dirty="0" smtClean="0">
                <a:solidFill>
                  <a:schemeClr val="tx1"/>
                </a:solidFill>
                <a:effectLst/>
                <a:latin typeface="+mn-lt"/>
                <a:ea typeface="+mn-ea"/>
                <a:cs typeface="+mn-cs"/>
              </a:rPr>
              <a:t>)=2/15=0.1333</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其他的依次类推</a:t>
            </a:r>
            <a:endParaRPr lang="en-US" altLang="zh-CN" sz="1200" b="0" i="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endParaRPr lang="en-US" altLang="zh-CN"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723650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得到所有预测框的</a:t>
            </a:r>
            <a:r>
              <a:rPr lang="en-US" altLang="zh-CN" sz="1200" b="0" i="0" kern="1200" dirty="0" smtClean="0">
                <a:solidFill>
                  <a:schemeClr val="tx1"/>
                </a:solidFill>
                <a:effectLst/>
                <a:latin typeface="+mn-lt"/>
                <a:ea typeface="+mn-ea"/>
                <a:cs typeface="+mn-cs"/>
              </a:rPr>
              <a:t>Precision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Recall</a:t>
            </a:r>
            <a:r>
              <a:rPr lang="zh-CN" altLang="en-US" sz="1200" b="0" i="0" kern="1200" dirty="0" smtClean="0">
                <a:solidFill>
                  <a:schemeClr val="tx1"/>
                </a:solidFill>
                <a:effectLst/>
                <a:latin typeface="+mn-lt"/>
                <a:ea typeface="+mn-ea"/>
                <a:cs typeface="+mn-cs"/>
              </a:rPr>
              <a:t>之后，就可以绘制出 </a:t>
            </a:r>
            <a:r>
              <a:rPr lang="en-US" altLang="zh-CN" sz="1200" b="0" i="0" kern="1200" dirty="0" smtClean="0">
                <a:solidFill>
                  <a:schemeClr val="tx1"/>
                </a:solidFill>
                <a:effectLst/>
                <a:latin typeface="+mn-lt"/>
                <a:ea typeface="+mn-ea"/>
                <a:cs typeface="+mn-cs"/>
              </a:rPr>
              <a:t>P-R </a:t>
            </a:r>
            <a:r>
              <a:rPr lang="zh-CN" altLang="en-US" sz="1200" b="0" i="0" kern="1200" dirty="0" smtClean="0">
                <a:solidFill>
                  <a:schemeClr val="tx1"/>
                </a:solidFill>
                <a:effectLst/>
                <a:latin typeface="+mn-lt"/>
                <a:ea typeface="+mn-ea"/>
                <a:cs typeface="+mn-cs"/>
              </a:rPr>
              <a:t>曲线。</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051734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按照上述方法获得的</a:t>
            </a:r>
            <a:r>
              <a:rPr lang="en-US" altLang="zh-CN" dirty="0" smtClean="0"/>
              <a:t>P-R</a:t>
            </a:r>
            <a:r>
              <a:rPr lang="zh-CN" altLang="en-US" dirty="0" smtClean="0"/>
              <a:t>曲线会存在抖动，对</a:t>
            </a:r>
            <a:r>
              <a:rPr lang="en-US" altLang="zh-CN" dirty="0" smtClean="0"/>
              <a:t>P-R</a:t>
            </a:r>
            <a:r>
              <a:rPr lang="zh-CN" altLang="en-US" dirty="0" smtClean="0"/>
              <a:t>曲线进行平滑处理后，就可以计算 </a:t>
            </a:r>
            <a:r>
              <a:rPr lang="en-US" altLang="zh-CN" dirty="0" smtClean="0"/>
              <a:t>AP</a:t>
            </a:r>
            <a:r>
              <a:rPr lang="zh-CN" altLang="en-US" dirty="0" smtClean="0"/>
              <a:t>（</a:t>
            </a:r>
            <a:r>
              <a:rPr lang="en-US" altLang="zh-CN" dirty="0" smtClean="0"/>
              <a:t>P-R </a:t>
            </a:r>
            <a:r>
              <a:rPr lang="zh-CN" altLang="en-US" dirty="0" smtClean="0"/>
              <a:t>曲线下的面积），要计算 </a:t>
            </a:r>
            <a:r>
              <a:rPr lang="en-US" altLang="zh-CN" dirty="0" smtClean="0"/>
              <a:t>P-R </a:t>
            </a:r>
            <a:r>
              <a:rPr lang="zh-CN" altLang="en-US" dirty="0" smtClean="0"/>
              <a:t>下方的面积，</a:t>
            </a:r>
            <a:r>
              <a:rPr lang="en-US" altLang="zh-CN" dirty="0" smtClean="0"/>
              <a:t>PASCAL</a:t>
            </a:r>
            <a:r>
              <a:rPr lang="en-US" altLang="zh-CN" baseline="0" dirty="0" smtClean="0"/>
              <a:t> VOC 2007</a:t>
            </a:r>
            <a:r>
              <a:rPr lang="zh-CN" altLang="en-US" dirty="0" smtClean="0"/>
              <a:t>使用的是插值的方法，取 </a:t>
            </a:r>
            <a:r>
              <a:rPr lang="en-US" altLang="zh-CN" dirty="0" smtClean="0"/>
              <a:t>11 </a:t>
            </a:r>
            <a:r>
              <a:rPr lang="zh-CN" altLang="en-US" dirty="0" smtClean="0"/>
              <a:t>个点 </a:t>
            </a:r>
            <a:r>
              <a:rPr lang="en-US" altLang="zh-CN" dirty="0" smtClean="0"/>
              <a:t>[0, 0.1, 0.2, 0.3, 0.4, 0.5, 0.6, 0.7, 0.8, 0.9, 1] </a:t>
            </a:r>
            <a:r>
              <a:rPr lang="zh-CN" altLang="en-US" dirty="0" smtClean="0"/>
              <a:t>的插值所得。</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604355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得到一个类别的 </a:t>
                </a:r>
                <a:r>
                  <a:rPr lang="en-US" altLang="zh-CN" dirty="0" smtClean="0"/>
                  <a:t>AP </a:t>
                </a:r>
                <a:r>
                  <a:rPr lang="zh-CN" altLang="en-US" dirty="0" smtClean="0"/>
                  <a:t>结果如下：</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14:m>
                  <m:oMath xmlns:m="http://schemas.openxmlformats.org/officeDocument/2006/math">
                    <m:r>
                      <a:rPr lang="zh-CN" altLang="en-US" i="1" smtClean="0">
                        <a:latin typeface="Cambria Math" panose="02040503050406030204" pitchFamily="18" charset="0"/>
                      </a:rPr>
                      <m:t>𝜌</m:t>
                    </m:r>
                    <m:r>
                      <a:rPr lang="en-US" altLang="zh-CN" i="1">
                        <a:latin typeface="Cambria Math" panose="02040503050406030204" pitchFamily="18" charset="0"/>
                      </a:rPr>
                      <m:t>𝑖𝑛𝑡𝑒𝑟𝑝</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oMath>
                </a14:m>
                <a:r>
                  <a:rPr lang="zh-CN" altLang="en-US" dirty="0"/>
                  <a:t>是经过平滑处理后的值</a:t>
                </a:r>
                <a:endParaRPr lang="en-US" altLang="zh-CN" dirty="0"/>
              </a:p>
              <a:p>
                <a:r>
                  <a:rPr lang="zh-CN" altLang="en-US" dirty="0" smtClean="0"/>
                  <a:t>把所有类别的 </a:t>
                </a:r>
                <a:r>
                  <a:rPr lang="en-US" altLang="zh-CN" dirty="0" smtClean="0"/>
                  <a:t>AP </a:t>
                </a:r>
                <a:r>
                  <a:rPr lang="zh-CN" altLang="en-US" dirty="0" smtClean="0"/>
                  <a:t>计算出来，然后求取平均即为</a:t>
                </a:r>
                <a:r>
                  <a:rPr lang="en-US" altLang="zh-CN" dirty="0" err="1" smtClean="0"/>
                  <a:t>mAP</a:t>
                </a:r>
                <a:r>
                  <a:rPr lang="zh-CN" altLang="en-US" dirty="0" smtClean="0"/>
                  <a:t>的值。</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得到一个类别的 </a:t>
                </a:r>
                <a:r>
                  <a:rPr lang="en-US" altLang="zh-CN" dirty="0" smtClean="0"/>
                  <a:t>AP </a:t>
                </a:r>
                <a:r>
                  <a:rPr lang="zh-CN" altLang="en-US" dirty="0" smtClean="0"/>
                  <a:t>结果如下：</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r>
                  <a:rPr lang="zh-CN" altLang="en-US" i="0" smtClean="0">
                    <a:latin typeface="Cambria Math" panose="02040503050406030204" pitchFamily="18" charset="0"/>
                  </a:rPr>
                  <a:t>𝜌</a:t>
                </a:r>
                <a:r>
                  <a:rPr lang="en-US" altLang="zh-CN" i="0">
                    <a:latin typeface="Cambria Math" panose="02040503050406030204" pitchFamily="18" charset="0"/>
                  </a:rPr>
                  <a:t>𝑖𝑛𝑡𝑒𝑟𝑝(𝑟)</a:t>
                </a:r>
                <a:r>
                  <a:rPr lang="zh-CN" altLang="en-US" dirty="0"/>
                  <a:t>是经过平滑处理后的值</a:t>
                </a:r>
                <a:endParaRPr lang="en-US" altLang="zh-CN" dirty="0"/>
              </a:p>
              <a:p>
                <a:r>
                  <a:rPr lang="zh-CN" altLang="en-US" dirty="0" smtClean="0"/>
                  <a:t>把所有类别的 </a:t>
                </a:r>
                <a:r>
                  <a:rPr lang="en-US" altLang="zh-CN" dirty="0" smtClean="0"/>
                  <a:t>AP </a:t>
                </a:r>
                <a:r>
                  <a:rPr lang="zh-CN" altLang="en-US" dirty="0" smtClean="0"/>
                  <a:t>计算出来，然后求取平均即为</a:t>
                </a:r>
                <a:r>
                  <a:rPr lang="en-US" altLang="zh-CN" dirty="0" err="1" smtClean="0"/>
                  <a:t>mAP</a:t>
                </a:r>
                <a:r>
                  <a:rPr lang="zh-CN" altLang="en-US" dirty="0" smtClean="0"/>
                  <a:t>的值。</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48918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theano-pymc.readthedocs.io/"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tensorflow.google.cn/"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hyperlink" Target="https://mxnet.apache.org/"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s://keras.io/"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hyperlink" Target="https://pytorch.org/"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hyperlink" Target="http://caffe.berkeleyvision.org/"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distill.pub/2019/computing-receptive-fields/"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hyperlink" Target="https://distill.pub/2019/computing-receptive-field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27.jp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31.jpg"/></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课件：目标</a:t>
            </a:r>
            <a:r>
              <a:rPr lang="zh-CN" altLang="en-US" dirty="0" smtClean="0"/>
              <a:t>检测框架和基本概念</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了解主流的深度学习框架</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了解目标检测特有的基本概念</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深度学习框架</a:t>
            </a:r>
            <a:endParaRPr lang="en-US" altLang="zh-CN" dirty="0" smtClean="0"/>
          </a:p>
          <a:p>
            <a:pPr lvl="1">
              <a:buFont typeface="+mj-lt"/>
              <a:buAutoNum type="arabicPeriod"/>
            </a:pPr>
            <a:r>
              <a:rPr lang="en-US" altLang="zh-CN" dirty="0" err="1" smtClean="0"/>
              <a:t>Theano</a:t>
            </a:r>
            <a:endParaRPr lang="en-US" altLang="zh-CN" dirty="0" smtClean="0"/>
          </a:p>
          <a:p>
            <a:pPr lvl="1">
              <a:buFont typeface="+mj-lt"/>
              <a:buAutoNum type="arabicPeriod"/>
            </a:pPr>
            <a:r>
              <a:rPr lang="en-US" altLang="zh-CN" dirty="0" err="1" smtClean="0"/>
              <a:t>TensorFlow</a:t>
            </a:r>
            <a:endParaRPr lang="en-US" altLang="zh-CN" dirty="0" smtClean="0"/>
          </a:p>
          <a:p>
            <a:pPr lvl="1">
              <a:buFont typeface="+mj-lt"/>
              <a:buAutoNum type="arabicPeriod"/>
            </a:pPr>
            <a:r>
              <a:rPr lang="en-US" altLang="zh-CN" dirty="0" err="1" smtClean="0"/>
              <a:t>MXNet</a:t>
            </a:r>
            <a:endParaRPr lang="en-US" altLang="zh-CN" dirty="0" smtClean="0"/>
          </a:p>
          <a:p>
            <a:pPr lvl="1">
              <a:buFont typeface="+mj-lt"/>
              <a:buAutoNum type="arabicPeriod"/>
            </a:pPr>
            <a:r>
              <a:rPr lang="en-US" altLang="zh-CN" dirty="0" err="1" smtClean="0"/>
              <a:t>Keras</a:t>
            </a:r>
            <a:endParaRPr lang="en-US" altLang="zh-CN" dirty="0" smtClean="0"/>
          </a:p>
          <a:p>
            <a:pPr lvl="1">
              <a:buFont typeface="+mj-lt"/>
              <a:buAutoNum type="arabicPeriod"/>
            </a:pPr>
            <a:r>
              <a:rPr lang="en-US" altLang="zh-CN" dirty="0" err="1" smtClean="0"/>
              <a:t>Pytorch</a:t>
            </a:r>
            <a:endParaRPr lang="en-US" altLang="zh-CN" dirty="0" smtClean="0"/>
          </a:p>
          <a:p>
            <a:pPr lvl="1">
              <a:buFont typeface="+mj-lt"/>
              <a:buAutoNum type="arabicPeriod"/>
            </a:pPr>
            <a:r>
              <a:rPr lang="en-US" altLang="zh-CN" dirty="0" err="1" smtClean="0"/>
              <a:t>Caffe</a:t>
            </a:r>
            <a:endParaRPr lang="en-US" altLang="zh-CN" dirty="0" smtClean="0"/>
          </a:p>
          <a:p>
            <a:pPr>
              <a:lnSpc>
                <a:spcPct val="125000"/>
              </a:lnSpc>
              <a:buFont typeface="+mj-lt"/>
              <a:buAutoNum type="arabicPeriod"/>
            </a:pPr>
            <a:r>
              <a:rPr lang="zh-CN" altLang="en-US" dirty="0" smtClean="0"/>
              <a:t>目标检测基本概念</a:t>
            </a:r>
            <a:endParaRPr lang="en-US" altLang="zh-CN" dirty="0"/>
          </a:p>
          <a:p>
            <a:pPr lvl="1">
              <a:buFont typeface="+mj-lt"/>
              <a:buAutoNum type="arabicPeriod"/>
            </a:pPr>
            <a:r>
              <a:rPr lang="en-US" altLang="zh-CN" dirty="0" err="1" smtClean="0"/>
              <a:t>IoU</a:t>
            </a:r>
            <a:r>
              <a:rPr lang="zh-CN" altLang="en-US" dirty="0" smtClean="0"/>
              <a:t>计算</a:t>
            </a:r>
            <a:endParaRPr lang="en-US" altLang="zh-CN" dirty="0" smtClean="0"/>
          </a:p>
          <a:p>
            <a:pPr lvl="1">
              <a:buFont typeface="+mj-lt"/>
              <a:buAutoNum type="arabicPeriod"/>
            </a:pPr>
            <a:r>
              <a:rPr lang="en-US" altLang="zh-CN" dirty="0" smtClean="0"/>
              <a:t>NMS</a:t>
            </a:r>
            <a:r>
              <a:rPr lang="zh-CN" altLang="en-US" dirty="0" smtClean="0"/>
              <a:t>操作</a:t>
            </a:r>
            <a:endParaRPr lang="en-US" altLang="zh-CN" dirty="0" smtClean="0"/>
          </a:p>
          <a:p>
            <a:pPr lvl="1">
              <a:buFont typeface="+mj-lt"/>
              <a:buAutoNum type="arabicPeriod"/>
            </a:pPr>
            <a:r>
              <a:rPr lang="zh-CN" altLang="en-US" dirty="0" smtClean="0"/>
              <a:t>感受野</a:t>
            </a:r>
            <a:endParaRPr lang="en-US" altLang="zh-CN" dirty="0" smtClean="0"/>
          </a:p>
          <a:p>
            <a:pPr lvl="1">
              <a:buFont typeface="+mj-lt"/>
              <a:buAutoNum type="arabicPeriod"/>
            </a:pPr>
            <a:r>
              <a:rPr lang="zh-CN" altLang="en-US" dirty="0"/>
              <a:t>空洞</a:t>
            </a:r>
            <a:r>
              <a:rPr lang="zh-CN" altLang="en-US" dirty="0" smtClean="0"/>
              <a:t>卷积</a:t>
            </a:r>
            <a:endParaRPr lang="en-US" altLang="zh-CN" dirty="0" smtClean="0"/>
          </a:p>
          <a:p>
            <a:pPr lvl="1">
              <a:buFont typeface="+mj-lt"/>
              <a:buAutoNum type="arabicPeriod"/>
            </a:pPr>
            <a:r>
              <a:rPr lang="zh-CN" altLang="en-US" dirty="0" smtClean="0"/>
              <a:t>评价指标</a:t>
            </a:r>
            <a:r>
              <a:rPr lang="en-US" altLang="zh-CN" dirty="0" err="1" smtClean="0"/>
              <a:t>mAP</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深度学习框架</a:t>
            </a:r>
            <a:endParaRPr lang="zh-CN" altLang="en-US" dirty="0"/>
          </a:p>
        </p:txBody>
      </p:sp>
    </p:spTree>
    <p:extLst>
      <p:ext uri="{BB962C8B-B14F-4D97-AF65-F5344CB8AC3E}">
        <p14:creationId xmlns:p14="http://schemas.microsoft.com/office/powerpoint/2010/main" val="2043306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深度学习框架</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近几年，随着深度学习的爆炸式发展，相关理论和基础架构得到很大突破。</a:t>
            </a:r>
            <a:endParaRPr lang="en-US" altLang="zh-CN" dirty="0" smtClean="0"/>
          </a:p>
          <a:p>
            <a:pPr>
              <a:lnSpc>
                <a:spcPct val="125000"/>
              </a:lnSpc>
            </a:pPr>
            <a:r>
              <a:rPr lang="zh-CN" altLang="en-US" dirty="0" smtClean="0"/>
              <a:t>介绍几个著名的深度学习框架：</a:t>
            </a:r>
            <a:endParaRPr lang="en-US" altLang="zh-CN" dirty="0" smtClean="0"/>
          </a:p>
          <a:p>
            <a:pPr lvl="1"/>
            <a:r>
              <a:rPr lang="en-US" altLang="zh-CN" dirty="0" err="1" smtClean="0"/>
              <a:t>Theano</a:t>
            </a:r>
            <a:endParaRPr lang="en-US" altLang="zh-CN" dirty="0" smtClean="0"/>
          </a:p>
          <a:p>
            <a:pPr lvl="1"/>
            <a:r>
              <a:rPr lang="en-US" altLang="zh-CN" dirty="0" err="1" smtClean="0"/>
              <a:t>Tensorflow</a:t>
            </a:r>
            <a:endParaRPr lang="en-US" altLang="zh-CN" dirty="0" smtClean="0"/>
          </a:p>
          <a:p>
            <a:pPr lvl="1"/>
            <a:r>
              <a:rPr lang="en-US" altLang="zh-CN" dirty="0" err="1" smtClean="0"/>
              <a:t>MXNet</a:t>
            </a:r>
            <a:endParaRPr lang="en-US" altLang="zh-CN" dirty="0" smtClean="0"/>
          </a:p>
          <a:p>
            <a:pPr lvl="1"/>
            <a:r>
              <a:rPr lang="en-US" altLang="zh-CN" dirty="0" err="1" smtClean="0"/>
              <a:t>Keras</a:t>
            </a:r>
            <a:endParaRPr lang="en-US" altLang="zh-CN" dirty="0" smtClean="0"/>
          </a:p>
          <a:p>
            <a:pPr lvl="1"/>
            <a:r>
              <a:rPr lang="en-US" altLang="zh-CN" dirty="0" err="1" smtClean="0"/>
              <a:t>PyTorch</a:t>
            </a:r>
            <a:endParaRPr lang="en-US" altLang="zh-CN" dirty="0" smtClean="0"/>
          </a:p>
          <a:p>
            <a:pPr lvl="1"/>
            <a:r>
              <a:rPr lang="en-US" altLang="zh-CN" dirty="0" err="1" smtClean="0"/>
              <a:t>Caffe</a:t>
            </a:r>
            <a:endParaRPr lang="zh-CN" altLang="en-US" dirty="0"/>
          </a:p>
        </p:txBody>
      </p:sp>
    </p:spTree>
    <p:extLst>
      <p:ext uri="{BB962C8B-B14F-4D97-AF65-F5344CB8AC3E}">
        <p14:creationId xmlns:p14="http://schemas.microsoft.com/office/powerpoint/2010/main" val="1826830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Theano</a:t>
            </a:r>
            <a:endParaRPr lang="zh-CN" altLang="en-US" dirty="0"/>
          </a:p>
        </p:txBody>
      </p:sp>
      <p:sp>
        <p:nvSpPr>
          <p:cNvPr id="3" name="内容占位符 2"/>
          <p:cNvSpPr>
            <a:spLocks noGrp="1"/>
          </p:cNvSpPr>
          <p:nvPr>
            <p:ph sz="quarter" idx="13"/>
          </p:nvPr>
        </p:nvSpPr>
        <p:spPr/>
        <p:txBody>
          <a:bodyPr/>
          <a:lstStyle/>
          <a:p>
            <a:r>
              <a:rPr lang="en-US" altLang="zh-CN" dirty="0" err="1" smtClean="0"/>
              <a:t>Theano</a:t>
            </a:r>
            <a:r>
              <a:rPr lang="zh-CN" altLang="en-US" dirty="0"/>
              <a:t>库</a:t>
            </a:r>
            <a:r>
              <a:rPr lang="zh-CN" altLang="en-US" dirty="0" smtClean="0"/>
              <a:t>：</a:t>
            </a:r>
            <a:endParaRPr lang="en-US" altLang="zh-CN" dirty="0" smtClean="0"/>
          </a:p>
          <a:p>
            <a:pPr lvl="1"/>
            <a:r>
              <a:rPr lang="zh-CN" altLang="en-US" dirty="0" smtClean="0"/>
              <a:t>由</a:t>
            </a:r>
            <a:r>
              <a:rPr lang="en-US" altLang="zh-CN" dirty="0" smtClean="0"/>
              <a:t>LISA</a:t>
            </a:r>
            <a:r>
              <a:rPr lang="zh-CN" altLang="en-US" dirty="0" smtClean="0"/>
              <a:t>集团（现</a:t>
            </a:r>
            <a:r>
              <a:rPr lang="en-US" altLang="zh-CN" dirty="0" smtClean="0"/>
              <a:t>MILA</a:t>
            </a:r>
            <a:r>
              <a:rPr lang="zh-CN" altLang="en-US" dirty="0" smtClean="0"/>
              <a:t>）在加拿大蒙特利尔大学开发</a:t>
            </a:r>
            <a:endParaRPr lang="en-US" altLang="zh-CN" dirty="0" smtClean="0"/>
          </a:p>
          <a:p>
            <a:pPr lvl="1"/>
            <a:r>
              <a:rPr lang="en-US" altLang="zh-CN" dirty="0" smtClean="0"/>
              <a:t>BSD</a:t>
            </a:r>
            <a:r>
              <a:rPr lang="zh-CN" altLang="en-US" dirty="0" smtClean="0"/>
              <a:t>许可证下的开源项目，是一个</a:t>
            </a:r>
            <a:r>
              <a:rPr lang="en-US" altLang="zh-CN" dirty="0" smtClean="0"/>
              <a:t>Python</a:t>
            </a:r>
            <a:r>
              <a:rPr lang="zh-CN" altLang="en-US" dirty="0" smtClean="0"/>
              <a:t>库</a:t>
            </a:r>
            <a:endParaRPr lang="en-US" altLang="zh-CN" dirty="0" smtClean="0"/>
          </a:p>
          <a:p>
            <a:pPr lvl="1"/>
            <a:r>
              <a:rPr lang="zh-CN" altLang="en-US" dirty="0" smtClean="0"/>
              <a:t>用于定义、优化和计算数学表达式</a:t>
            </a:r>
            <a:endParaRPr lang="en-US" altLang="zh-CN" dirty="0" smtClean="0"/>
          </a:p>
          <a:p>
            <a:pPr lvl="1"/>
            <a:r>
              <a:rPr lang="zh-CN" altLang="en-US" dirty="0"/>
              <a:t>采用</a:t>
            </a:r>
            <a:r>
              <a:rPr lang="en-US" altLang="zh-CN" dirty="0" smtClean="0"/>
              <a:t>GPU</a:t>
            </a:r>
            <a:r>
              <a:rPr lang="zh-CN" altLang="en-US" dirty="0" smtClean="0"/>
              <a:t>加速，计算速度大幅提升</a:t>
            </a:r>
            <a:endParaRPr lang="en-US" altLang="zh-CN" dirty="0" smtClean="0"/>
          </a:p>
          <a:p>
            <a:pPr lvl="1"/>
            <a:r>
              <a:rPr lang="zh-CN" altLang="en-US" dirty="0"/>
              <a:t>第一</a:t>
            </a:r>
            <a:r>
              <a:rPr lang="zh-CN" altLang="en-US" dirty="0" smtClean="0"/>
              <a:t>个</a:t>
            </a:r>
            <a:r>
              <a:rPr lang="en-US" altLang="zh-CN" dirty="0" smtClean="0"/>
              <a:t>Python</a:t>
            </a:r>
            <a:r>
              <a:rPr lang="zh-CN" altLang="en-US" dirty="0" smtClean="0"/>
              <a:t>深度学习框架</a:t>
            </a:r>
            <a:endParaRPr lang="en-US" altLang="zh-CN" dirty="0" smtClean="0"/>
          </a:p>
          <a:p>
            <a:pPr lvl="1"/>
            <a:r>
              <a:rPr lang="zh-CN" altLang="en-US" dirty="0" smtClean="0"/>
              <a:t>逐渐被</a:t>
            </a:r>
            <a:r>
              <a:rPr lang="en-US" altLang="zh-CN" dirty="0" err="1" smtClean="0"/>
              <a:t>TensorFlow</a:t>
            </a:r>
            <a:r>
              <a:rPr lang="zh-CN" altLang="en-US" dirty="0" smtClean="0"/>
              <a:t>取代</a:t>
            </a:r>
            <a:endParaRPr lang="en-US" altLang="zh-CN" dirty="0" smtClean="0"/>
          </a:p>
          <a:p>
            <a:pPr lvl="1"/>
            <a:r>
              <a:rPr lang="en-US" altLang="zh-CN" dirty="0" smtClean="0"/>
              <a:t>2018</a:t>
            </a:r>
            <a:r>
              <a:rPr lang="zh-CN" altLang="en-US" dirty="0" smtClean="0"/>
              <a:t>年后不再更新维护</a:t>
            </a:r>
            <a:endParaRPr lang="en-US" altLang="zh-CN" dirty="0" smtClean="0"/>
          </a:p>
          <a:p>
            <a:r>
              <a:rPr lang="en-US" altLang="zh-CN" dirty="0" err="1" smtClean="0"/>
              <a:t>Theano</a:t>
            </a:r>
            <a:r>
              <a:rPr lang="zh-CN" altLang="en-US" dirty="0" smtClean="0"/>
              <a:t>官方网站：</a:t>
            </a:r>
            <a:r>
              <a:rPr lang="en-US" altLang="zh-CN" dirty="0">
                <a:hlinkClick r:id="rId3"/>
              </a:rPr>
              <a:t>https://theano-pymc.readthedocs.io/</a:t>
            </a:r>
            <a:endParaRPr lang="en-US" altLang="zh-CN" dirty="0" smtClean="0"/>
          </a:p>
          <a:p>
            <a:pPr lvl="1"/>
            <a:endParaRPr lang="en-US" altLang="zh-CN" dirty="0" smtClean="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7477" y="4966270"/>
            <a:ext cx="3513011" cy="1171004"/>
          </a:xfrm>
          <a:prstGeom prst="rect">
            <a:avLst/>
          </a:prstGeom>
          <a:solidFill>
            <a:schemeClr val="accent2">
              <a:lumMod val="60000"/>
              <a:lumOff val="40000"/>
            </a:schemeClr>
          </a:solidFill>
        </p:spPr>
      </p:pic>
    </p:spTree>
    <p:extLst>
      <p:ext uri="{BB962C8B-B14F-4D97-AF65-F5344CB8AC3E}">
        <p14:creationId xmlns:p14="http://schemas.microsoft.com/office/powerpoint/2010/main" val="2077590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TensorFlow</a:t>
            </a:r>
            <a:endParaRPr lang="zh-CN" altLang="en-US" dirty="0"/>
          </a:p>
        </p:txBody>
      </p:sp>
      <p:sp>
        <p:nvSpPr>
          <p:cNvPr id="3" name="内容占位符 2"/>
          <p:cNvSpPr>
            <a:spLocks noGrp="1"/>
          </p:cNvSpPr>
          <p:nvPr>
            <p:ph sz="quarter" idx="13"/>
          </p:nvPr>
        </p:nvSpPr>
        <p:spPr/>
        <p:txBody>
          <a:bodyPr/>
          <a:lstStyle/>
          <a:p>
            <a:r>
              <a:rPr lang="en-US" altLang="zh-CN" dirty="0" err="1" smtClean="0"/>
              <a:t>TensorFlow</a:t>
            </a:r>
            <a:r>
              <a:rPr lang="zh-CN" altLang="en-US" dirty="0" smtClean="0"/>
              <a:t>框架：</a:t>
            </a:r>
            <a:endParaRPr lang="en-US" altLang="zh-CN" dirty="0" smtClean="0"/>
          </a:p>
          <a:p>
            <a:pPr lvl="1"/>
            <a:r>
              <a:rPr lang="zh-CN" altLang="en-US" dirty="0" smtClean="0"/>
              <a:t>基于</a:t>
            </a:r>
            <a:r>
              <a:rPr lang="en-US" altLang="zh-CN" dirty="0" smtClean="0"/>
              <a:t>Google</a:t>
            </a:r>
            <a:r>
              <a:rPr lang="zh-CN" altLang="en-US" dirty="0" smtClean="0"/>
              <a:t>在</a:t>
            </a:r>
            <a:r>
              <a:rPr lang="en-US" altLang="zh-CN" dirty="0" smtClean="0"/>
              <a:t>2011</a:t>
            </a:r>
            <a:r>
              <a:rPr lang="zh-CN" altLang="en-US" dirty="0" smtClean="0"/>
              <a:t>年开发的基础架构</a:t>
            </a:r>
            <a:r>
              <a:rPr lang="en-US" altLang="zh-CN" dirty="0" err="1" smtClean="0"/>
              <a:t>DistBelief</a:t>
            </a:r>
            <a:r>
              <a:rPr lang="zh-CN" altLang="en-US" dirty="0" smtClean="0"/>
              <a:t>构建</a:t>
            </a:r>
            <a:endParaRPr lang="en-US" altLang="zh-CN" dirty="0" smtClean="0"/>
          </a:p>
          <a:p>
            <a:pPr lvl="1"/>
            <a:r>
              <a:rPr lang="zh-CN" altLang="en-US" dirty="0"/>
              <a:t>应用</a:t>
            </a:r>
            <a:r>
              <a:rPr lang="zh-CN" altLang="en-US" dirty="0" smtClean="0"/>
              <a:t>于所有实现机器学习的</a:t>
            </a:r>
            <a:r>
              <a:rPr lang="en-US" altLang="zh-CN" dirty="0" smtClean="0"/>
              <a:t>Google</a:t>
            </a:r>
            <a:r>
              <a:rPr lang="zh-CN" altLang="en-US" dirty="0" smtClean="0"/>
              <a:t>应用程序</a:t>
            </a:r>
            <a:endParaRPr lang="en-US" altLang="zh-CN" dirty="0" smtClean="0"/>
          </a:p>
          <a:p>
            <a:pPr lvl="1"/>
            <a:r>
              <a:rPr lang="zh-CN" altLang="en-US" dirty="0" smtClean="0"/>
              <a:t>继承了</a:t>
            </a:r>
            <a:r>
              <a:rPr lang="en-US" altLang="zh-CN" dirty="0" err="1" smtClean="0"/>
              <a:t>Theano</a:t>
            </a:r>
            <a:r>
              <a:rPr lang="zh-CN" altLang="en-US" dirty="0" smtClean="0"/>
              <a:t>的开发者与设计理念</a:t>
            </a:r>
            <a:endParaRPr lang="en-US" altLang="zh-CN" dirty="0" smtClean="0"/>
          </a:p>
          <a:p>
            <a:pPr lvl="1"/>
            <a:r>
              <a:rPr lang="zh-CN" altLang="en-US" dirty="0" smtClean="0"/>
              <a:t>支持多种编程语言，如</a:t>
            </a:r>
            <a:r>
              <a:rPr lang="en-US" altLang="zh-CN" dirty="0" smtClean="0"/>
              <a:t>C++</a:t>
            </a:r>
            <a:r>
              <a:rPr lang="zh-CN" altLang="en-US" dirty="0" smtClean="0"/>
              <a:t>，</a:t>
            </a:r>
            <a:r>
              <a:rPr lang="en-US" altLang="zh-CN" dirty="0" smtClean="0"/>
              <a:t>Java</a:t>
            </a:r>
            <a:r>
              <a:rPr lang="zh-CN" altLang="en-US" dirty="0" smtClean="0"/>
              <a:t>，</a:t>
            </a:r>
            <a:r>
              <a:rPr lang="en-US" altLang="zh-CN" dirty="0" smtClean="0"/>
              <a:t>Go</a:t>
            </a:r>
            <a:r>
              <a:rPr lang="zh-CN" altLang="en-US" dirty="0" smtClean="0"/>
              <a:t>，</a:t>
            </a:r>
            <a:r>
              <a:rPr lang="en-US" altLang="zh-CN" dirty="0" smtClean="0"/>
              <a:t>R</a:t>
            </a:r>
            <a:r>
              <a:rPr lang="zh-CN" altLang="en-US" dirty="0" smtClean="0"/>
              <a:t>等</a:t>
            </a:r>
            <a:endParaRPr lang="en-US" altLang="zh-CN" dirty="0" smtClean="0"/>
          </a:p>
          <a:p>
            <a:pPr lvl="1"/>
            <a:r>
              <a:rPr lang="zh-CN" altLang="en-US" dirty="0" smtClean="0"/>
              <a:t>支持多</a:t>
            </a:r>
            <a:r>
              <a:rPr lang="zh-CN" altLang="en-US" dirty="0"/>
              <a:t>种</a:t>
            </a:r>
            <a:r>
              <a:rPr lang="zh-CN" altLang="en-US" dirty="0" smtClean="0"/>
              <a:t>运行平台和多版本</a:t>
            </a:r>
            <a:r>
              <a:rPr lang="en-US" altLang="zh-CN" dirty="0" smtClean="0"/>
              <a:t>Windows</a:t>
            </a:r>
            <a:r>
              <a:rPr lang="zh-CN" altLang="en-US" dirty="0" smtClean="0"/>
              <a:t>操作系统</a:t>
            </a:r>
            <a:endParaRPr lang="en-US" altLang="zh-CN" dirty="0" smtClean="0"/>
          </a:p>
          <a:p>
            <a:pPr lvl="1"/>
            <a:r>
              <a:rPr lang="zh-CN" altLang="en-US" dirty="0" smtClean="0"/>
              <a:t>当前最流行的深度学习框架</a:t>
            </a:r>
            <a:endParaRPr lang="en-US" altLang="zh-CN" dirty="0" smtClean="0"/>
          </a:p>
          <a:p>
            <a:r>
              <a:rPr lang="en-US" altLang="zh-CN" dirty="0" err="1" smtClean="0"/>
              <a:t>TensorFlow</a:t>
            </a:r>
            <a:r>
              <a:rPr lang="zh-CN" altLang="en-US" dirty="0" smtClean="0"/>
              <a:t>注意事项：</a:t>
            </a:r>
            <a:endParaRPr lang="en-US" altLang="zh-CN" dirty="0" smtClean="0"/>
          </a:p>
          <a:p>
            <a:pPr lvl="1"/>
            <a:r>
              <a:rPr lang="zh-CN" altLang="en-US" dirty="0" smtClean="0"/>
              <a:t>接口不断迭代，版本不兼容问题</a:t>
            </a:r>
            <a:endParaRPr lang="en-US" altLang="zh-CN" dirty="0" smtClean="0"/>
          </a:p>
          <a:p>
            <a:pPr lvl="1"/>
            <a:r>
              <a:rPr lang="zh-CN" altLang="en-US" dirty="0" smtClean="0"/>
              <a:t>底层运行机制复杂</a:t>
            </a:r>
            <a:endParaRPr lang="en-US" altLang="zh-CN" dirty="0" smtClean="0"/>
          </a:p>
          <a:p>
            <a:pPr lvl="1"/>
            <a:r>
              <a:rPr lang="zh-CN" altLang="en-US" dirty="0"/>
              <a:t>同</a:t>
            </a:r>
            <a:r>
              <a:rPr lang="zh-CN" altLang="en-US" dirty="0" smtClean="0"/>
              <a:t>一功能实现方法良莠不齐</a:t>
            </a:r>
            <a:endParaRPr lang="en-US" altLang="zh-CN" dirty="0" smtClean="0"/>
          </a:p>
          <a:p>
            <a:pPr lvl="1"/>
            <a:r>
              <a:rPr lang="zh-CN" altLang="en-US" dirty="0" smtClean="0"/>
              <a:t>较多难以理解的抽象概念</a:t>
            </a:r>
            <a:endParaRPr lang="en-US" altLang="zh-CN" dirty="0" smtClean="0"/>
          </a:p>
          <a:p>
            <a:r>
              <a:rPr lang="en-US" altLang="zh-CN" dirty="0" err="1" smtClean="0"/>
              <a:t>TensorFlow</a:t>
            </a:r>
            <a:r>
              <a:rPr lang="zh-CN" altLang="en-US" dirty="0" smtClean="0"/>
              <a:t>官方网站：</a:t>
            </a:r>
            <a:r>
              <a:rPr lang="en-US" altLang="zh-CN" dirty="0">
                <a:hlinkClick r:id="rId3"/>
              </a:rPr>
              <a:t>https://tensorflow.google.cn/</a:t>
            </a:r>
            <a:endParaRPr lang="en-US" altLang="zh-CN" dirty="0" smtClean="0"/>
          </a:p>
          <a:p>
            <a:pPr lvl="1"/>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549" y="2117502"/>
            <a:ext cx="4738939" cy="3032567"/>
          </a:xfrm>
          <a:prstGeom prst="rect">
            <a:avLst/>
          </a:prstGeom>
        </p:spPr>
      </p:pic>
    </p:spTree>
    <p:extLst>
      <p:ext uri="{BB962C8B-B14F-4D97-AF65-F5344CB8AC3E}">
        <p14:creationId xmlns:p14="http://schemas.microsoft.com/office/powerpoint/2010/main" val="3312485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MXNet</a:t>
            </a:r>
            <a:endParaRPr lang="zh-CN" altLang="en-US" dirty="0"/>
          </a:p>
        </p:txBody>
      </p:sp>
      <p:sp>
        <p:nvSpPr>
          <p:cNvPr id="3" name="内容占位符 2"/>
          <p:cNvSpPr>
            <a:spLocks noGrp="1"/>
          </p:cNvSpPr>
          <p:nvPr>
            <p:ph sz="quarter" idx="13"/>
          </p:nvPr>
        </p:nvSpPr>
        <p:spPr/>
        <p:txBody>
          <a:bodyPr/>
          <a:lstStyle/>
          <a:p>
            <a:r>
              <a:rPr lang="en-US" altLang="zh-CN" dirty="0" err="1" smtClean="0"/>
              <a:t>MXNet</a:t>
            </a:r>
            <a:r>
              <a:rPr lang="zh-CN" altLang="en-US" dirty="0" smtClean="0"/>
              <a:t>框架：</a:t>
            </a:r>
            <a:endParaRPr lang="en-US" altLang="zh-CN" dirty="0" smtClean="0"/>
          </a:p>
          <a:p>
            <a:pPr lvl="1"/>
            <a:r>
              <a:rPr lang="zh-CN" altLang="en-US" dirty="0" smtClean="0"/>
              <a:t>由亚马逊科学家李沐及团队开发</a:t>
            </a:r>
            <a:endParaRPr lang="en-US" altLang="zh-CN" dirty="0" smtClean="0"/>
          </a:p>
          <a:p>
            <a:pPr lvl="1"/>
            <a:r>
              <a:rPr lang="zh-CN" altLang="en-US" dirty="0" smtClean="0"/>
              <a:t>类似</a:t>
            </a:r>
            <a:r>
              <a:rPr lang="en-US" altLang="zh-CN" dirty="0" err="1" smtClean="0"/>
              <a:t>Theano</a:t>
            </a:r>
            <a:r>
              <a:rPr lang="zh-CN" altLang="en-US" dirty="0" smtClean="0"/>
              <a:t>和</a:t>
            </a:r>
            <a:r>
              <a:rPr lang="en-US" altLang="zh-CN" dirty="0" err="1" smtClean="0"/>
              <a:t>TensorFlow</a:t>
            </a:r>
            <a:r>
              <a:rPr lang="zh-CN" altLang="en-US" dirty="0" smtClean="0"/>
              <a:t>的数据流图</a:t>
            </a:r>
            <a:endParaRPr lang="en-US" altLang="zh-CN" dirty="0" smtClean="0"/>
          </a:p>
          <a:p>
            <a:pPr lvl="1"/>
            <a:r>
              <a:rPr lang="zh-CN" altLang="en-US" dirty="0" smtClean="0"/>
              <a:t>支持多</a:t>
            </a:r>
            <a:r>
              <a:rPr lang="en-US" altLang="zh-CN" dirty="0" smtClean="0"/>
              <a:t>GPU</a:t>
            </a:r>
            <a:r>
              <a:rPr lang="zh-CN" altLang="en-US" dirty="0" smtClean="0"/>
              <a:t>架构</a:t>
            </a:r>
            <a:endParaRPr lang="en-US" altLang="zh-CN" dirty="0" smtClean="0"/>
          </a:p>
          <a:p>
            <a:pPr lvl="1"/>
            <a:r>
              <a:rPr lang="zh-CN" altLang="en-US" dirty="0" smtClean="0"/>
              <a:t>类似</a:t>
            </a:r>
            <a:r>
              <a:rPr lang="en-US" altLang="zh-CN" dirty="0" err="1" smtClean="0"/>
              <a:t>Lasagne</a:t>
            </a:r>
            <a:r>
              <a:rPr lang="zh-CN" altLang="en-US" dirty="0" smtClean="0"/>
              <a:t>和</a:t>
            </a:r>
            <a:r>
              <a:rPr lang="en-US" altLang="zh-CN" dirty="0" smtClean="0"/>
              <a:t>Blocks</a:t>
            </a:r>
            <a:r>
              <a:rPr lang="zh-CN" altLang="en-US" dirty="0" smtClean="0"/>
              <a:t>的高级别模型构建块</a:t>
            </a:r>
            <a:endParaRPr lang="en-US" altLang="zh-CN" dirty="0" smtClean="0"/>
          </a:p>
          <a:p>
            <a:pPr lvl="1"/>
            <a:r>
              <a:rPr lang="zh-CN" altLang="en-US" dirty="0" smtClean="0"/>
              <a:t>提供多种编程语言接口</a:t>
            </a:r>
            <a:endParaRPr lang="en-US" altLang="zh-CN" dirty="0" smtClean="0"/>
          </a:p>
          <a:p>
            <a:pPr lvl="1"/>
            <a:r>
              <a:rPr lang="zh-CN" altLang="en-US" dirty="0"/>
              <a:t>超强分布式、</a:t>
            </a:r>
            <a:r>
              <a:rPr lang="zh-CN" altLang="en-US" dirty="0" smtClean="0"/>
              <a:t>内存</a:t>
            </a:r>
            <a:r>
              <a:rPr lang="en-US" altLang="zh-CN" dirty="0" smtClean="0"/>
              <a:t>/</a:t>
            </a:r>
            <a:r>
              <a:rPr lang="zh-CN" altLang="en-US" dirty="0"/>
              <a:t>显存</a:t>
            </a:r>
            <a:r>
              <a:rPr lang="zh-CN" altLang="en-US" dirty="0" smtClean="0"/>
              <a:t>优化能力</a:t>
            </a:r>
            <a:endParaRPr lang="en-US" altLang="zh-CN" dirty="0" smtClean="0"/>
          </a:p>
          <a:p>
            <a:pPr lvl="1"/>
            <a:r>
              <a:rPr lang="zh-CN" altLang="en-US" dirty="0" smtClean="0"/>
              <a:t>分布式环境下明显由于其他框架</a:t>
            </a:r>
            <a:endParaRPr lang="en-US" altLang="zh-CN" dirty="0" smtClean="0"/>
          </a:p>
          <a:p>
            <a:pPr lvl="1"/>
            <a:r>
              <a:rPr lang="zh-CN" altLang="en-US" dirty="0" smtClean="0"/>
              <a:t>适合云平台使用</a:t>
            </a:r>
            <a:endParaRPr lang="en-US" altLang="zh-CN" dirty="0" smtClean="0"/>
          </a:p>
          <a:p>
            <a:r>
              <a:rPr lang="en-US" altLang="zh-CN" dirty="0" err="1" smtClean="0"/>
              <a:t>MXNet</a:t>
            </a:r>
            <a:r>
              <a:rPr lang="zh-CN" altLang="en-US" dirty="0" smtClean="0"/>
              <a:t>缺点：</a:t>
            </a:r>
            <a:endParaRPr lang="en-US" altLang="zh-CN" dirty="0" smtClean="0"/>
          </a:p>
          <a:p>
            <a:pPr lvl="1"/>
            <a:r>
              <a:rPr lang="zh-CN" altLang="en-US" dirty="0"/>
              <a:t>推广</a:t>
            </a:r>
            <a:r>
              <a:rPr lang="zh-CN" altLang="en-US" dirty="0" smtClean="0"/>
              <a:t>力度不够，接口文档不完善</a:t>
            </a:r>
            <a:endParaRPr lang="en-US" altLang="zh-CN" dirty="0" smtClean="0"/>
          </a:p>
          <a:p>
            <a:pPr lvl="1"/>
            <a:r>
              <a:rPr lang="zh-CN" altLang="en-US" dirty="0" smtClean="0"/>
              <a:t>文档比较混乱</a:t>
            </a:r>
            <a:endParaRPr lang="en-US" altLang="zh-CN" dirty="0" smtClean="0"/>
          </a:p>
          <a:p>
            <a:r>
              <a:rPr lang="en-US" altLang="zh-CN" dirty="0" err="1" smtClean="0"/>
              <a:t>MXNet</a:t>
            </a:r>
            <a:r>
              <a:rPr lang="zh-CN" altLang="en-US" dirty="0" smtClean="0"/>
              <a:t>官方网站：</a:t>
            </a:r>
            <a:r>
              <a:rPr lang="en-US" altLang="zh-CN" dirty="0">
                <a:hlinkClick r:id="rId3"/>
              </a:rPr>
              <a:t> https://mxnet.apache.org/</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0184" y="4774019"/>
            <a:ext cx="3980304" cy="1363255"/>
          </a:xfrm>
          <a:prstGeom prst="rect">
            <a:avLst/>
          </a:prstGeom>
          <a:solidFill>
            <a:srgbClr val="038CCB"/>
          </a:solidFill>
        </p:spPr>
      </p:pic>
    </p:spTree>
    <p:extLst>
      <p:ext uri="{BB962C8B-B14F-4D97-AF65-F5344CB8AC3E}">
        <p14:creationId xmlns:p14="http://schemas.microsoft.com/office/powerpoint/2010/main" val="172363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Keras</a:t>
            </a:r>
            <a:endParaRPr lang="zh-CN" altLang="en-US" dirty="0"/>
          </a:p>
        </p:txBody>
      </p:sp>
      <p:sp>
        <p:nvSpPr>
          <p:cNvPr id="3" name="内容占位符 2"/>
          <p:cNvSpPr>
            <a:spLocks noGrp="1"/>
          </p:cNvSpPr>
          <p:nvPr>
            <p:ph sz="quarter" idx="13"/>
          </p:nvPr>
        </p:nvSpPr>
        <p:spPr/>
        <p:txBody>
          <a:bodyPr/>
          <a:lstStyle/>
          <a:p>
            <a:r>
              <a:rPr lang="en-US" altLang="zh-CN" dirty="0" err="1" smtClean="0"/>
              <a:t>Keras</a:t>
            </a:r>
            <a:r>
              <a:rPr lang="zh-CN" altLang="en-US" dirty="0"/>
              <a:t> </a:t>
            </a:r>
            <a:r>
              <a:rPr lang="en-US" altLang="zh-CN" dirty="0" smtClean="0"/>
              <a:t>API</a:t>
            </a:r>
            <a:r>
              <a:rPr lang="zh-CN" altLang="en-US" dirty="0" smtClean="0"/>
              <a:t>：</a:t>
            </a:r>
            <a:endParaRPr lang="en-US" altLang="zh-CN" dirty="0" smtClean="0"/>
          </a:p>
          <a:p>
            <a:pPr lvl="1"/>
            <a:r>
              <a:rPr lang="zh-CN" altLang="en-US" dirty="0" smtClean="0"/>
              <a:t>高层神经网络</a:t>
            </a:r>
            <a:r>
              <a:rPr lang="en-US" altLang="zh-CN" dirty="0" smtClean="0"/>
              <a:t>API</a:t>
            </a:r>
            <a:r>
              <a:rPr lang="zh-CN" altLang="en-US" dirty="0" smtClean="0"/>
              <a:t>，由</a:t>
            </a:r>
            <a:r>
              <a:rPr lang="en-US" altLang="zh-CN" dirty="0" smtClean="0"/>
              <a:t>Python</a:t>
            </a:r>
            <a:r>
              <a:rPr lang="zh-CN" altLang="en-US" dirty="0" smtClean="0"/>
              <a:t>编写，</a:t>
            </a:r>
            <a:r>
              <a:rPr lang="en-US" altLang="zh-CN" dirty="0" err="1" smtClean="0"/>
              <a:t>TensorFlow</a:t>
            </a:r>
            <a:r>
              <a:rPr lang="zh-CN" altLang="en-US" dirty="0" smtClean="0"/>
              <a:t>、</a:t>
            </a:r>
            <a:r>
              <a:rPr lang="en-US" altLang="zh-CN" dirty="0" err="1" smtClean="0"/>
              <a:t>Theano</a:t>
            </a:r>
            <a:r>
              <a:rPr lang="zh-CN" altLang="en-US" dirty="0" smtClean="0"/>
              <a:t>及</a:t>
            </a:r>
            <a:r>
              <a:rPr lang="en-US" altLang="zh-CN" dirty="0" smtClean="0"/>
              <a:t>CNTK</a:t>
            </a:r>
            <a:r>
              <a:rPr lang="zh-CN" altLang="en-US" dirty="0" smtClean="0"/>
              <a:t>作为后端</a:t>
            </a:r>
            <a:endParaRPr lang="en-US" altLang="zh-CN" dirty="0" smtClean="0"/>
          </a:p>
          <a:p>
            <a:pPr lvl="1"/>
            <a:r>
              <a:rPr lang="zh-CN" altLang="en-US" dirty="0"/>
              <a:t>最</a:t>
            </a:r>
            <a:r>
              <a:rPr lang="zh-CN" altLang="en-US" dirty="0" smtClean="0"/>
              <a:t>容易上手的深度学习框架，提供一致且简洁的</a:t>
            </a:r>
            <a:r>
              <a:rPr lang="en-US" altLang="zh-CN" dirty="0" smtClean="0"/>
              <a:t>API</a:t>
            </a:r>
          </a:p>
          <a:p>
            <a:pPr lvl="1"/>
            <a:r>
              <a:rPr lang="zh-CN" altLang="en-US" dirty="0" smtClean="0"/>
              <a:t>构建于第三方框架上，封装为各种接口减少工作量</a:t>
            </a:r>
            <a:endParaRPr lang="en-US" altLang="zh-CN" dirty="0" smtClean="0"/>
          </a:p>
          <a:p>
            <a:r>
              <a:rPr lang="en-US" altLang="zh-CN" dirty="0" err="1" smtClean="0"/>
              <a:t>Keras</a:t>
            </a:r>
            <a:r>
              <a:rPr lang="zh-CN" altLang="en-US" dirty="0" smtClean="0"/>
              <a:t>缺点：</a:t>
            </a:r>
            <a:endParaRPr lang="en-US" altLang="zh-CN" dirty="0" smtClean="0"/>
          </a:p>
          <a:p>
            <a:pPr lvl="1"/>
            <a:r>
              <a:rPr lang="zh-CN" altLang="en-US" dirty="0" smtClean="0"/>
              <a:t>为了屏蔽后端差异性进行层层封装，丧失灵活性</a:t>
            </a:r>
            <a:endParaRPr lang="en-US" altLang="zh-CN" dirty="0" smtClean="0"/>
          </a:p>
          <a:p>
            <a:pPr lvl="1"/>
            <a:r>
              <a:rPr lang="zh-CN" altLang="en-US" dirty="0" smtClean="0"/>
              <a:t>过度封装使程序运行缓慢</a:t>
            </a:r>
            <a:endParaRPr lang="en-US" altLang="zh-CN" dirty="0" smtClean="0"/>
          </a:p>
          <a:p>
            <a:r>
              <a:rPr lang="en-US" altLang="zh-CN" dirty="0" err="1" smtClean="0"/>
              <a:t>Keras</a:t>
            </a:r>
            <a:r>
              <a:rPr lang="zh-CN" altLang="en-US" dirty="0" smtClean="0"/>
              <a:t>官方网站：</a:t>
            </a:r>
            <a:r>
              <a:rPr lang="en-US" altLang="zh-CN" dirty="0">
                <a:hlinkClick r:id="rId3"/>
              </a:rPr>
              <a:t>https://keras.io/</a:t>
            </a:r>
            <a:endParaRPr lang="en-US" altLang="zh-CN" dirty="0" smtClean="0"/>
          </a:p>
          <a:p>
            <a:pPr lvl="1"/>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111" y="4453715"/>
            <a:ext cx="5805377" cy="1683559"/>
          </a:xfrm>
          <a:prstGeom prst="rect">
            <a:avLst/>
          </a:prstGeom>
        </p:spPr>
      </p:pic>
    </p:spTree>
    <p:extLst>
      <p:ext uri="{BB962C8B-B14F-4D97-AF65-F5344CB8AC3E}">
        <p14:creationId xmlns:p14="http://schemas.microsoft.com/office/powerpoint/2010/main" val="3955309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endParaRPr lang="zh-CN" altLang="en-US" dirty="0"/>
          </a:p>
        </p:txBody>
      </p:sp>
      <p:sp>
        <p:nvSpPr>
          <p:cNvPr id="3" name="内容占位符 2"/>
          <p:cNvSpPr>
            <a:spLocks noGrp="1"/>
          </p:cNvSpPr>
          <p:nvPr>
            <p:ph sz="quarter" idx="13"/>
          </p:nvPr>
        </p:nvSpPr>
        <p:spPr/>
        <p:txBody>
          <a:bodyPr/>
          <a:lstStyle/>
          <a:p>
            <a:r>
              <a:rPr lang="en-US" altLang="zh-CN" dirty="0" err="1" smtClean="0"/>
              <a:t>PyTorch</a:t>
            </a:r>
            <a:r>
              <a:rPr lang="zh-CN" altLang="en-US" dirty="0" smtClean="0"/>
              <a:t>框架：</a:t>
            </a:r>
            <a:endParaRPr lang="en-US" altLang="zh-CN" dirty="0" smtClean="0"/>
          </a:p>
          <a:p>
            <a:pPr lvl="1"/>
            <a:r>
              <a:rPr lang="zh-CN" altLang="en-US" dirty="0" smtClean="0"/>
              <a:t>由</a:t>
            </a:r>
            <a:r>
              <a:rPr lang="en-US" altLang="zh-CN" dirty="0" smtClean="0"/>
              <a:t>Facebook </a:t>
            </a:r>
            <a:r>
              <a:rPr lang="en-US" altLang="zh-CN" dirty="0"/>
              <a:t>AI</a:t>
            </a:r>
            <a:r>
              <a:rPr lang="zh-CN" altLang="en-US" dirty="0" smtClean="0"/>
              <a:t>研究院基于</a:t>
            </a:r>
            <a:r>
              <a:rPr lang="en-US" altLang="zh-CN" dirty="0" smtClean="0"/>
              <a:t>Torch</a:t>
            </a:r>
            <a:r>
              <a:rPr lang="zh-CN" altLang="en-US" dirty="0" smtClean="0"/>
              <a:t>推出</a:t>
            </a:r>
            <a:endParaRPr lang="en-US" altLang="zh-CN" dirty="0" smtClean="0"/>
          </a:p>
          <a:p>
            <a:pPr lvl="1"/>
            <a:r>
              <a:rPr lang="en-US" altLang="zh-CN" dirty="0" smtClean="0"/>
              <a:t>Python</a:t>
            </a:r>
            <a:r>
              <a:rPr lang="zh-CN" altLang="en-US" dirty="0" smtClean="0"/>
              <a:t>优先的深度学习框架</a:t>
            </a:r>
            <a:endParaRPr lang="en-US" altLang="zh-CN" dirty="0" smtClean="0"/>
          </a:p>
          <a:p>
            <a:pPr lvl="1"/>
            <a:r>
              <a:rPr lang="zh-CN" altLang="en-US" dirty="0"/>
              <a:t>设计追求最少的封装</a:t>
            </a:r>
            <a:endParaRPr lang="en-US" altLang="zh-CN" dirty="0"/>
          </a:p>
          <a:p>
            <a:pPr lvl="1"/>
            <a:r>
              <a:rPr lang="en-US" altLang="zh-CN" dirty="0" smtClean="0"/>
              <a:t>GPU</a:t>
            </a:r>
            <a:r>
              <a:rPr lang="zh-CN" altLang="en-US" dirty="0" smtClean="0"/>
              <a:t>加速基础上实现张量和动态神经网络</a:t>
            </a:r>
            <a:endParaRPr lang="en-US" altLang="zh-CN" dirty="0" smtClean="0"/>
          </a:p>
          <a:p>
            <a:pPr lvl="1"/>
            <a:r>
              <a:rPr lang="en-US" altLang="zh-CN" dirty="0"/>
              <a:t>Facebook AI</a:t>
            </a:r>
            <a:r>
              <a:rPr lang="zh-CN" altLang="en-US" dirty="0" smtClean="0"/>
              <a:t>研究院推广支持，持续开发更新</a:t>
            </a:r>
            <a:endParaRPr lang="en-US" altLang="zh-CN" dirty="0" smtClean="0"/>
          </a:p>
          <a:p>
            <a:pPr lvl="1"/>
            <a:r>
              <a:rPr lang="zh-CN" altLang="en-US" dirty="0" smtClean="0"/>
              <a:t>动态图</a:t>
            </a:r>
            <a:r>
              <a:rPr lang="zh-CN" altLang="en-US" dirty="0"/>
              <a:t>，</a:t>
            </a:r>
            <a:r>
              <a:rPr lang="zh-CN" altLang="en-US" dirty="0" smtClean="0"/>
              <a:t>可扩展性强，相当简洁方便</a:t>
            </a:r>
            <a:endParaRPr lang="en-US" altLang="zh-CN" dirty="0" smtClean="0"/>
          </a:p>
          <a:p>
            <a:r>
              <a:rPr lang="en-US" altLang="zh-CN" dirty="0" err="1" smtClean="0"/>
              <a:t>PyTorch</a:t>
            </a:r>
            <a:r>
              <a:rPr lang="zh-CN" altLang="en-US" dirty="0" smtClean="0"/>
              <a:t>官方网站：</a:t>
            </a:r>
            <a:r>
              <a:rPr lang="en-US" altLang="zh-CN" dirty="0">
                <a:hlinkClick r:id="rId3"/>
              </a:rPr>
              <a:t>https://pytorch.org</a:t>
            </a:r>
            <a:r>
              <a:rPr lang="en-US" altLang="zh-CN" dirty="0" smtClean="0">
                <a:hlinkClick r:id="rId3"/>
              </a:rPr>
              <a:t>/</a:t>
            </a:r>
            <a:endParaRPr lang="en-US" altLang="zh-CN" dirty="0" smtClean="0"/>
          </a:p>
          <a:p>
            <a:endParaRPr lang="en-US" altLang="zh-CN" dirty="0" smtClean="0"/>
          </a:p>
          <a:p>
            <a:pPr lvl="2"/>
            <a:r>
              <a:rPr lang="en-US" altLang="zh-CN" dirty="0" err="1"/>
              <a:t>TensorFlow</a:t>
            </a:r>
            <a:r>
              <a:rPr lang="zh-CN" altLang="en-US" dirty="0" smtClean="0"/>
              <a:t>“</a:t>
            </a:r>
            <a:r>
              <a:rPr lang="en-US" altLang="zh-CN" dirty="0" smtClean="0"/>
              <a:t>Make </a:t>
            </a:r>
            <a:r>
              <a:rPr lang="en-US" altLang="zh-CN" dirty="0"/>
              <a:t>it complicated</a:t>
            </a:r>
            <a:r>
              <a:rPr lang="zh-CN" altLang="en-US" dirty="0"/>
              <a:t>”</a:t>
            </a:r>
            <a:endParaRPr lang="en-US" altLang="zh-CN" dirty="0"/>
          </a:p>
          <a:p>
            <a:pPr lvl="2"/>
            <a:r>
              <a:rPr lang="en-US" altLang="zh-CN" dirty="0" err="1" smtClean="0"/>
              <a:t>Keras</a:t>
            </a:r>
            <a:r>
              <a:rPr lang="zh-CN" altLang="en-US" dirty="0"/>
              <a:t>“</a:t>
            </a:r>
            <a:r>
              <a:rPr lang="en-US" altLang="zh-CN" dirty="0"/>
              <a:t>Make it </a:t>
            </a:r>
            <a:r>
              <a:rPr lang="en-US" altLang="zh-CN" dirty="0" smtClean="0"/>
              <a:t>complicated and hide it</a:t>
            </a:r>
            <a:r>
              <a:rPr lang="zh-CN" altLang="en-US" dirty="0" smtClean="0"/>
              <a:t>”</a:t>
            </a:r>
            <a:endParaRPr lang="en-US" altLang="zh-CN" dirty="0"/>
          </a:p>
          <a:p>
            <a:pPr lvl="2"/>
            <a:r>
              <a:rPr lang="en-US" altLang="zh-CN" dirty="0" err="1" smtClean="0"/>
              <a:t>PyTorch</a:t>
            </a:r>
            <a:r>
              <a:rPr lang="en-US" altLang="zh-CN" dirty="0" smtClean="0"/>
              <a:t> </a:t>
            </a:r>
            <a:r>
              <a:rPr lang="zh-CN" altLang="en-US" dirty="0" smtClean="0"/>
              <a:t>“</a:t>
            </a:r>
            <a:r>
              <a:rPr lang="en-US" altLang="zh-CN" dirty="0" smtClean="0"/>
              <a:t>Keep it simple and stupid</a:t>
            </a:r>
            <a:r>
              <a:rPr lang="zh-CN" altLang="en-US" dirty="0" smtClean="0"/>
              <a:t>”</a:t>
            </a:r>
            <a:endParaRPr lang="en-US" altLang="zh-CN" dirty="0" smtClean="0"/>
          </a:p>
          <a:p>
            <a:pPr lvl="1"/>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5088" y="2508249"/>
            <a:ext cx="5105400" cy="3629025"/>
          </a:xfrm>
          <a:prstGeom prst="rect">
            <a:avLst/>
          </a:prstGeom>
        </p:spPr>
      </p:pic>
    </p:spTree>
    <p:extLst>
      <p:ext uri="{BB962C8B-B14F-4D97-AF65-F5344CB8AC3E}">
        <p14:creationId xmlns:p14="http://schemas.microsoft.com/office/powerpoint/2010/main" val="7928449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Caffe</a:t>
            </a:r>
            <a:endParaRPr lang="zh-CN" altLang="en-US" dirty="0"/>
          </a:p>
        </p:txBody>
      </p:sp>
      <p:sp>
        <p:nvSpPr>
          <p:cNvPr id="3" name="内容占位符 2"/>
          <p:cNvSpPr>
            <a:spLocks noGrp="1"/>
          </p:cNvSpPr>
          <p:nvPr>
            <p:ph sz="quarter" idx="13"/>
          </p:nvPr>
        </p:nvSpPr>
        <p:spPr/>
        <p:txBody>
          <a:bodyPr/>
          <a:lstStyle/>
          <a:p>
            <a:r>
              <a:rPr lang="en-US" altLang="zh-CN" dirty="0" err="1" smtClean="0"/>
              <a:t>Caffe</a:t>
            </a:r>
            <a:r>
              <a:rPr lang="zh-CN" altLang="en-US" dirty="0" smtClean="0"/>
              <a:t>框架：</a:t>
            </a:r>
            <a:endParaRPr lang="en-US" altLang="zh-CN" dirty="0" smtClean="0"/>
          </a:p>
          <a:p>
            <a:pPr lvl="1"/>
            <a:r>
              <a:rPr lang="zh-CN" altLang="en-US" dirty="0" smtClean="0"/>
              <a:t>由</a:t>
            </a:r>
            <a:r>
              <a:rPr lang="zh-CN" altLang="en-US" dirty="0"/>
              <a:t>伯克利大学</a:t>
            </a:r>
            <a:r>
              <a:rPr lang="zh-CN" altLang="en-US" dirty="0" smtClean="0"/>
              <a:t>贾</a:t>
            </a:r>
            <a:r>
              <a:rPr lang="zh-CN" altLang="en-US" dirty="0"/>
              <a:t>杨清</a:t>
            </a:r>
            <a:r>
              <a:rPr lang="zh-CN" altLang="en-US" dirty="0" smtClean="0"/>
              <a:t>基于</a:t>
            </a:r>
            <a:r>
              <a:rPr lang="en-US" altLang="zh-CN" dirty="0" smtClean="0"/>
              <a:t>C++</a:t>
            </a:r>
            <a:r>
              <a:rPr lang="zh-CN" altLang="en-US" dirty="0" smtClean="0"/>
              <a:t>编写，提供命令行工具及</a:t>
            </a:r>
            <a:r>
              <a:rPr lang="en-US" altLang="zh-CN" dirty="0" err="1" smtClean="0"/>
              <a:t>Matlab</a:t>
            </a:r>
            <a:r>
              <a:rPr lang="zh-CN" altLang="en-US" dirty="0" smtClean="0"/>
              <a:t>和</a:t>
            </a:r>
            <a:r>
              <a:rPr lang="en-US" altLang="zh-CN" dirty="0" smtClean="0"/>
              <a:t>Python</a:t>
            </a:r>
            <a:r>
              <a:rPr lang="zh-CN" altLang="en-US" dirty="0" smtClean="0"/>
              <a:t>接口</a:t>
            </a:r>
            <a:endParaRPr lang="en-US" altLang="zh-CN" dirty="0" smtClean="0"/>
          </a:p>
          <a:p>
            <a:pPr lvl="1"/>
            <a:r>
              <a:rPr lang="zh-CN" altLang="en-US" dirty="0" smtClean="0"/>
              <a:t>流行的深度学习框架之一</a:t>
            </a:r>
            <a:endParaRPr lang="en-US" altLang="zh-CN" dirty="0" smtClean="0"/>
          </a:p>
          <a:p>
            <a:pPr lvl="1"/>
            <a:r>
              <a:rPr lang="zh-CN" altLang="en-US" dirty="0" smtClean="0"/>
              <a:t>不支持多机、跨平台、可扩展性差</a:t>
            </a:r>
            <a:endParaRPr lang="en-US" altLang="zh-CN" dirty="0" smtClean="0"/>
          </a:p>
          <a:p>
            <a:r>
              <a:rPr lang="en-US" altLang="zh-CN" dirty="0" err="1"/>
              <a:t>Caffe</a:t>
            </a:r>
            <a:r>
              <a:rPr lang="zh-CN" altLang="en-US" dirty="0"/>
              <a:t>注意事项</a:t>
            </a:r>
            <a:r>
              <a:rPr lang="zh-CN" altLang="en-US" dirty="0" smtClean="0"/>
              <a:t>：</a:t>
            </a:r>
            <a:endParaRPr lang="en-US" altLang="zh-CN" dirty="0" smtClean="0"/>
          </a:p>
          <a:p>
            <a:pPr lvl="1"/>
            <a:r>
              <a:rPr lang="zh-CN" altLang="en-US" dirty="0" smtClean="0"/>
              <a:t>大量依赖库的版本问题</a:t>
            </a:r>
            <a:endParaRPr lang="en-US" altLang="zh-CN" dirty="0" smtClean="0"/>
          </a:p>
          <a:p>
            <a:pPr lvl="1"/>
            <a:r>
              <a:rPr lang="zh-CN" altLang="en-US" dirty="0" smtClean="0"/>
              <a:t>实现新的层用</a:t>
            </a:r>
            <a:r>
              <a:rPr lang="en-US" altLang="zh-CN" dirty="0" smtClean="0"/>
              <a:t>C</a:t>
            </a:r>
            <a:r>
              <a:rPr lang="en-US" altLang="zh-CN" dirty="0"/>
              <a:t>++</a:t>
            </a:r>
            <a:r>
              <a:rPr lang="zh-CN" altLang="en-US" dirty="0" smtClean="0"/>
              <a:t>代码，运行在</a:t>
            </a:r>
            <a:r>
              <a:rPr lang="en-US" altLang="zh-CN" dirty="0" smtClean="0"/>
              <a:t>GPU</a:t>
            </a:r>
            <a:r>
              <a:rPr lang="zh-CN" altLang="en-US" dirty="0" smtClean="0"/>
              <a:t>上需要同时使用</a:t>
            </a:r>
            <a:r>
              <a:rPr lang="en-US" altLang="zh-CN" dirty="0" smtClean="0"/>
              <a:t>CUDA</a:t>
            </a:r>
            <a:endParaRPr lang="en-US" altLang="zh-CN" dirty="0"/>
          </a:p>
          <a:p>
            <a:r>
              <a:rPr lang="en-US" altLang="zh-CN" dirty="0" smtClean="0"/>
              <a:t>Caffe2</a:t>
            </a:r>
          </a:p>
          <a:p>
            <a:pPr lvl="1"/>
            <a:r>
              <a:rPr lang="zh-CN" altLang="en-US" dirty="0" smtClean="0"/>
              <a:t>出自</a:t>
            </a:r>
            <a:r>
              <a:rPr lang="en-US" altLang="zh-CN" dirty="0" smtClean="0"/>
              <a:t>Facebook AI</a:t>
            </a:r>
            <a:r>
              <a:rPr lang="zh-CN" altLang="en-US" dirty="0" smtClean="0"/>
              <a:t>研究院，</a:t>
            </a:r>
            <a:r>
              <a:rPr lang="zh-CN" altLang="en-US" dirty="0"/>
              <a:t>贾杨清仍是主要贡献</a:t>
            </a:r>
            <a:r>
              <a:rPr lang="zh-CN" altLang="en-US" dirty="0" smtClean="0"/>
              <a:t>者</a:t>
            </a:r>
            <a:endParaRPr lang="en-US" altLang="zh-CN" dirty="0" smtClean="0"/>
          </a:p>
          <a:p>
            <a:pPr lvl="1"/>
            <a:r>
              <a:rPr lang="zh-CN" altLang="en-US" dirty="0" smtClean="0"/>
              <a:t>优化运行速度、跨平台、可扩展性等</a:t>
            </a:r>
            <a:endParaRPr lang="en-US" altLang="zh-CN" dirty="0" smtClean="0"/>
          </a:p>
          <a:p>
            <a:pPr lvl="1"/>
            <a:r>
              <a:rPr lang="zh-CN" altLang="en-US" dirty="0" smtClean="0"/>
              <a:t>设计上与</a:t>
            </a:r>
            <a:r>
              <a:rPr lang="en-US" altLang="zh-CN" dirty="0" err="1" smtClean="0"/>
              <a:t>TensorFlow</a:t>
            </a:r>
            <a:r>
              <a:rPr lang="zh-CN" altLang="en-US" dirty="0" smtClean="0"/>
              <a:t>相似，目前已并入</a:t>
            </a:r>
            <a:r>
              <a:rPr lang="en-US" altLang="zh-CN" dirty="0" err="1" smtClean="0"/>
              <a:t>PyTorch</a:t>
            </a:r>
            <a:endParaRPr lang="en-US" altLang="zh-CN" dirty="0" smtClean="0"/>
          </a:p>
          <a:p>
            <a:r>
              <a:rPr lang="en-US" altLang="zh-CN" dirty="0" err="1" smtClean="0"/>
              <a:t>Caffe</a:t>
            </a:r>
            <a:r>
              <a:rPr lang="zh-CN" altLang="en-US" dirty="0" smtClean="0"/>
              <a:t>官方网站：</a:t>
            </a:r>
            <a:r>
              <a:rPr lang="en-US" altLang="zh-CN" dirty="0">
                <a:hlinkClick r:id="rId3"/>
              </a:rPr>
              <a:t>http://caffe.berkeleyvision.org/</a:t>
            </a:r>
            <a:endParaRPr lang="en-US" altLang="zh-CN" dirty="0" smtClean="0"/>
          </a:p>
        </p:txBody>
      </p:sp>
      <p:pic>
        <p:nvPicPr>
          <p:cNvPr id="4" name="图片 3"/>
          <p:cNvPicPr>
            <a:picLocks noChangeAspect="1"/>
          </p:cNvPicPr>
          <p:nvPr/>
        </p:nvPicPr>
        <p:blipFill>
          <a:blip r:embed="rId4"/>
          <a:stretch>
            <a:fillRect/>
          </a:stretch>
        </p:blipFill>
        <p:spPr>
          <a:xfrm>
            <a:off x="8697433" y="5354646"/>
            <a:ext cx="2823055" cy="782628"/>
          </a:xfrm>
          <a:prstGeom prst="rect">
            <a:avLst/>
          </a:prstGeom>
        </p:spPr>
      </p:pic>
    </p:spTree>
    <p:extLst>
      <p:ext uri="{BB962C8B-B14F-4D97-AF65-F5344CB8AC3E}">
        <p14:creationId xmlns:p14="http://schemas.microsoft.com/office/powerpoint/2010/main" val="16344554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目标检测基本概念</a:t>
            </a:r>
            <a:endParaRPr lang="zh-CN" altLang="en-US" dirty="0"/>
          </a:p>
        </p:txBody>
      </p:sp>
    </p:spTree>
    <p:extLst>
      <p:ext uri="{BB962C8B-B14F-4D97-AF65-F5344CB8AC3E}">
        <p14:creationId xmlns:p14="http://schemas.microsoft.com/office/powerpoint/2010/main" val="2225332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目标检测基本概念</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目标检测是多任务算法：</a:t>
            </a:r>
            <a:endParaRPr lang="en-US" altLang="zh-CN" dirty="0" smtClean="0"/>
          </a:p>
          <a:p>
            <a:pPr lvl="1"/>
            <a:r>
              <a:rPr lang="zh-CN" altLang="en-US" dirty="0"/>
              <a:t>确定</a:t>
            </a:r>
            <a:r>
              <a:rPr lang="zh-CN" altLang="en-US" dirty="0" smtClean="0"/>
              <a:t>目标分类</a:t>
            </a:r>
            <a:endParaRPr lang="en-US" altLang="zh-CN" dirty="0" smtClean="0"/>
          </a:p>
          <a:p>
            <a:pPr lvl="1"/>
            <a:r>
              <a:rPr lang="zh-CN" altLang="en-US" dirty="0" smtClean="0"/>
              <a:t>确定目标位置</a:t>
            </a:r>
            <a:endParaRPr lang="en-US" altLang="zh-CN" dirty="0" smtClean="0"/>
          </a:p>
          <a:p>
            <a:pPr>
              <a:lnSpc>
                <a:spcPct val="125000"/>
              </a:lnSpc>
            </a:pPr>
            <a:r>
              <a:rPr lang="zh-CN" altLang="en-US" dirty="0" smtClean="0"/>
              <a:t>核心概念词：</a:t>
            </a:r>
            <a:endParaRPr lang="en-US" altLang="zh-CN" dirty="0" smtClean="0"/>
          </a:p>
          <a:p>
            <a:pPr lvl="1"/>
            <a:r>
              <a:rPr lang="en-US" altLang="zh-CN" dirty="0" err="1" smtClean="0"/>
              <a:t>IoU</a:t>
            </a:r>
            <a:r>
              <a:rPr lang="zh-CN" altLang="en-US" dirty="0" smtClean="0"/>
              <a:t>计算</a:t>
            </a:r>
            <a:endParaRPr lang="en-US" altLang="zh-CN" dirty="0" smtClean="0"/>
          </a:p>
          <a:p>
            <a:pPr lvl="1"/>
            <a:r>
              <a:rPr lang="en-US" altLang="zh-CN" dirty="0" smtClean="0"/>
              <a:t>NMS</a:t>
            </a:r>
            <a:r>
              <a:rPr lang="zh-CN" altLang="en-US" dirty="0" smtClean="0"/>
              <a:t>操作</a:t>
            </a:r>
            <a:endParaRPr lang="en-US" altLang="zh-CN" dirty="0" smtClean="0"/>
          </a:p>
          <a:p>
            <a:pPr lvl="1"/>
            <a:r>
              <a:rPr lang="zh-CN" altLang="en-US" dirty="0" smtClean="0"/>
              <a:t>感受野</a:t>
            </a:r>
            <a:endParaRPr lang="en-US" altLang="zh-CN" dirty="0" smtClean="0"/>
          </a:p>
          <a:p>
            <a:pPr lvl="1"/>
            <a:r>
              <a:rPr lang="zh-CN" altLang="en-US" dirty="0" smtClean="0"/>
              <a:t>空洞卷积</a:t>
            </a:r>
            <a:endParaRPr lang="en-US" altLang="zh-CN" dirty="0" smtClean="0"/>
          </a:p>
          <a:p>
            <a:pPr lvl="1"/>
            <a:r>
              <a:rPr lang="zh-CN" altLang="en-US" dirty="0" smtClean="0"/>
              <a:t>评价指标</a:t>
            </a:r>
            <a:r>
              <a:rPr lang="en-US" altLang="zh-CN" dirty="0" err="1" smtClean="0"/>
              <a:t>mAP</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3260" y="3041162"/>
            <a:ext cx="8297228" cy="3096112"/>
          </a:xfrm>
          <a:prstGeom prst="rect">
            <a:avLst/>
          </a:prstGeom>
        </p:spPr>
      </p:pic>
    </p:spTree>
    <p:extLst>
      <p:ext uri="{BB962C8B-B14F-4D97-AF65-F5344CB8AC3E}">
        <p14:creationId xmlns:p14="http://schemas.microsoft.com/office/powerpoint/2010/main" val="3269125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IoU</a:t>
            </a:r>
            <a:r>
              <a:rPr lang="zh-CN" altLang="en-US" dirty="0" smtClean="0"/>
              <a:t>计算</a:t>
            </a:r>
            <a:endParaRPr lang="zh-CN" altLang="en-US" dirty="0"/>
          </a:p>
        </p:txBody>
      </p:sp>
      <p:sp>
        <p:nvSpPr>
          <p:cNvPr id="3" name="内容占位符 2"/>
          <p:cNvSpPr>
            <a:spLocks noGrp="1"/>
          </p:cNvSpPr>
          <p:nvPr>
            <p:ph sz="quarter" idx="13"/>
          </p:nvPr>
        </p:nvSpPr>
        <p:spPr/>
        <p:txBody>
          <a:bodyPr/>
          <a:lstStyle/>
          <a:p>
            <a:r>
              <a:rPr lang="en-US" altLang="zh-CN" dirty="0" err="1" smtClean="0"/>
              <a:t>IoU</a:t>
            </a:r>
            <a:r>
              <a:rPr lang="en-US" altLang="zh-CN" dirty="0" smtClean="0"/>
              <a:t>(Intersection over Union</a:t>
            </a:r>
            <a:r>
              <a:rPr lang="zh-CN" altLang="en-US" dirty="0" smtClean="0"/>
              <a:t>，交并比</a:t>
            </a:r>
            <a:r>
              <a:rPr lang="en-US" altLang="zh-CN" dirty="0" smtClean="0"/>
              <a:t>)</a:t>
            </a:r>
            <a:r>
              <a:rPr lang="zh-CN" altLang="en-US" dirty="0" smtClean="0"/>
              <a:t>计算：</a:t>
            </a:r>
            <a:endParaRPr lang="en-US" altLang="zh-CN" dirty="0" smtClean="0"/>
          </a:p>
          <a:p>
            <a:pPr lvl="1"/>
            <a:r>
              <a:rPr lang="zh-CN" altLang="en-US" dirty="0" smtClean="0"/>
              <a:t>比较真值框</a:t>
            </a:r>
            <a:r>
              <a:rPr lang="en-US" altLang="zh-CN" dirty="0"/>
              <a:t>(ground-truth bounding </a:t>
            </a:r>
            <a:r>
              <a:rPr lang="en-US" altLang="zh-CN" dirty="0" smtClean="0"/>
              <a:t>box)</a:t>
            </a:r>
            <a:r>
              <a:rPr lang="zh-CN" altLang="en-US" dirty="0" smtClean="0"/>
              <a:t>和预测框</a:t>
            </a:r>
            <a:r>
              <a:rPr lang="en-US" altLang="zh-CN" dirty="0"/>
              <a:t>(predicted bounding </a:t>
            </a:r>
            <a:r>
              <a:rPr lang="en-US" altLang="zh-CN" dirty="0" smtClean="0"/>
              <a:t>box)</a:t>
            </a:r>
            <a:r>
              <a:rPr lang="zh-CN" altLang="en-US" dirty="0" smtClean="0"/>
              <a:t>的距离、重叠面积等</a:t>
            </a:r>
            <a:endParaRPr lang="en-US" altLang="zh-CN" dirty="0" smtClean="0"/>
          </a:p>
          <a:p>
            <a:pPr lvl="1"/>
            <a:r>
              <a:rPr lang="zh-CN" altLang="en-US" dirty="0"/>
              <a:t>真值</a:t>
            </a:r>
            <a:r>
              <a:rPr lang="zh-CN" altLang="en-US" dirty="0" smtClean="0"/>
              <a:t>框与预测框相交面积除以相并面积</a:t>
            </a:r>
            <a:endParaRPr lang="en-US" altLang="zh-CN" dirty="0" smtClean="0"/>
          </a:p>
          <a:p>
            <a:pPr lvl="1"/>
            <a:r>
              <a:rPr lang="zh-CN" altLang="en-US" dirty="0" smtClean="0"/>
              <a:t>反映检测效果</a:t>
            </a:r>
            <a:endParaRPr lang="en-US" altLang="zh-CN" dirty="0" smtClean="0"/>
          </a:p>
          <a:p>
            <a:pPr lvl="1"/>
            <a:r>
              <a:rPr lang="zh-CN" altLang="en-US" dirty="0" smtClean="0"/>
              <a:t>尺度不变性</a:t>
            </a:r>
            <a:endParaRPr lang="en-US" altLang="zh-CN" dirty="0" smtClean="0"/>
          </a:p>
          <a:p>
            <a:pPr lvl="1"/>
            <a:endParaRPr lang="en-US" altLang="zh-CN" dirty="0" smtClean="0"/>
          </a:p>
          <a:p>
            <a:pPr lvl="1"/>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2061" y="2025374"/>
            <a:ext cx="6468428" cy="4111900"/>
          </a:xfrm>
          <a:prstGeom prst="rect">
            <a:avLst/>
          </a:prstGeom>
        </p:spPr>
      </p:pic>
    </p:spTree>
    <p:extLst>
      <p:ext uri="{BB962C8B-B14F-4D97-AF65-F5344CB8AC3E}">
        <p14:creationId xmlns:p14="http://schemas.microsoft.com/office/powerpoint/2010/main" val="1563820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IoU</a:t>
            </a:r>
            <a:r>
              <a:rPr lang="zh-CN" altLang="en-US" dirty="0" smtClean="0"/>
              <a:t>计算</a:t>
            </a:r>
            <a:endParaRPr lang="zh-CN" altLang="en-US" dirty="0"/>
          </a:p>
        </p:txBody>
      </p:sp>
      <p:sp>
        <p:nvSpPr>
          <p:cNvPr id="3" name="内容占位符 2"/>
          <p:cNvSpPr>
            <a:spLocks noGrp="1"/>
          </p:cNvSpPr>
          <p:nvPr>
            <p:ph sz="quarter" idx="13"/>
          </p:nvPr>
        </p:nvSpPr>
        <p:spPr/>
        <p:txBody>
          <a:bodyPr/>
          <a:lstStyle/>
          <a:p>
            <a:r>
              <a:rPr lang="en-US" altLang="zh-CN" dirty="0" err="1" smtClean="0"/>
              <a:t>IoU</a:t>
            </a:r>
            <a:r>
              <a:rPr lang="zh-CN" altLang="en-US" dirty="0" smtClean="0"/>
              <a:t>计算：</a:t>
            </a:r>
            <a:endParaRPr lang="en-US" altLang="zh-CN" dirty="0" smtClean="0"/>
          </a:p>
          <a:p>
            <a:pPr lvl="1"/>
            <a:r>
              <a:rPr lang="zh-CN" altLang="en-US" dirty="0" smtClean="0"/>
              <a:t>目前使用最广泛的检测框损失函数</a:t>
            </a:r>
            <a:endParaRPr lang="en-US" altLang="zh-CN" dirty="0" smtClean="0"/>
          </a:p>
          <a:p>
            <a:pPr lvl="1"/>
            <a:r>
              <a:rPr lang="zh-CN" altLang="en-US" dirty="0" smtClean="0"/>
              <a:t>一般阈值设为</a:t>
            </a:r>
            <a:r>
              <a:rPr lang="en-US" altLang="zh-CN" dirty="0" smtClean="0"/>
              <a:t>0.5</a:t>
            </a:r>
          </a:p>
          <a:p>
            <a:pPr lvl="1"/>
            <a:r>
              <a:rPr lang="en-US" altLang="zh-CN" dirty="0" err="1" smtClean="0"/>
              <a:t>GIoU</a:t>
            </a:r>
            <a:r>
              <a:rPr lang="zh-CN" altLang="en-US" dirty="0"/>
              <a:t>、</a:t>
            </a:r>
            <a:r>
              <a:rPr lang="en-US" altLang="zh-CN" dirty="0" err="1"/>
              <a:t>DIoU</a:t>
            </a:r>
            <a:r>
              <a:rPr lang="zh-CN" altLang="en-US" dirty="0"/>
              <a:t>、</a:t>
            </a:r>
            <a:r>
              <a:rPr lang="en-US" altLang="zh-CN" dirty="0" err="1"/>
              <a:t>CIoU</a:t>
            </a:r>
            <a:r>
              <a:rPr lang="zh-CN" altLang="en-US" dirty="0"/>
              <a:t>等</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7706" y="3123564"/>
            <a:ext cx="5715000" cy="2362200"/>
          </a:xfrm>
          <a:prstGeom prst="rect">
            <a:avLst/>
          </a:prstGeom>
        </p:spPr>
      </p:pic>
    </p:spTree>
    <p:extLst>
      <p:ext uri="{BB962C8B-B14F-4D97-AF65-F5344CB8AC3E}">
        <p14:creationId xmlns:p14="http://schemas.microsoft.com/office/powerpoint/2010/main" val="2243699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NMS</a:t>
            </a:r>
            <a:r>
              <a:rPr lang="zh-CN" altLang="en-US" dirty="0" smtClean="0"/>
              <a:t>操作</a:t>
            </a:r>
            <a:endParaRPr lang="zh-CN" altLang="en-US" dirty="0"/>
          </a:p>
        </p:txBody>
      </p:sp>
      <p:sp>
        <p:nvSpPr>
          <p:cNvPr id="3" name="内容占位符 2"/>
          <p:cNvSpPr>
            <a:spLocks noGrp="1"/>
          </p:cNvSpPr>
          <p:nvPr>
            <p:ph sz="quarter" idx="13"/>
          </p:nvPr>
        </p:nvSpPr>
        <p:spPr/>
        <p:txBody>
          <a:bodyPr/>
          <a:lstStyle/>
          <a:p>
            <a:r>
              <a:rPr lang="en-US" altLang="zh-CN" dirty="0" smtClean="0"/>
              <a:t>NMS(Non </a:t>
            </a:r>
            <a:r>
              <a:rPr lang="en-US" altLang="zh-CN" dirty="0"/>
              <a:t>Maximum Suppression,</a:t>
            </a:r>
            <a:r>
              <a:rPr lang="zh-CN" altLang="en-US" dirty="0"/>
              <a:t>非极大值</a:t>
            </a:r>
            <a:r>
              <a:rPr lang="zh-CN" altLang="en-US" dirty="0" smtClean="0"/>
              <a:t>抑制</a:t>
            </a:r>
            <a:r>
              <a:rPr lang="en-US" altLang="zh-CN" dirty="0" smtClean="0"/>
              <a:t>)</a:t>
            </a:r>
            <a:r>
              <a:rPr lang="zh-CN" altLang="en-US" dirty="0" smtClean="0"/>
              <a:t>操作</a:t>
            </a:r>
            <a:r>
              <a:rPr lang="en-US" altLang="zh-CN" dirty="0" smtClean="0"/>
              <a:t>:</a:t>
            </a:r>
          </a:p>
          <a:p>
            <a:pPr lvl="1"/>
            <a:r>
              <a:rPr lang="zh-CN" altLang="en-US" dirty="0" smtClean="0"/>
              <a:t>常用的后处理操作</a:t>
            </a:r>
            <a:endParaRPr lang="en-US" altLang="zh-CN" dirty="0" smtClean="0"/>
          </a:p>
          <a:p>
            <a:pPr lvl="1"/>
            <a:r>
              <a:rPr lang="zh-CN" altLang="en-US" dirty="0" smtClean="0"/>
              <a:t>针对某一个目标判断检测框有效性</a:t>
            </a:r>
            <a:endParaRPr lang="en-US" altLang="zh-CN" dirty="0" smtClean="0"/>
          </a:p>
          <a:p>
            <a:pPr lvl="1"/>
            <a:endParaRPr lang="zh-CN" altLang="en-US"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7922" y="2288824"/>
            <a:ext cx="7572566" cy="3848450"/>
          </a:xfrm>
          <a:prstGeom prst="rect">
            <a:avLst/>
          </a:prstGeom>
        </p:spPr>
      </p:pic>
    </p:spTree>
    <p:extLst>
      <p:ext uri="{BB962C8B-B14F-4D97-AF65-F5344CB8AC3E}">
        <p14:creationId xmlns:p14="http://schemas.microsoft.com/office/powerpoint/2010/main" val="1476065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NMS</a:t>
            </a:r>
            <a:r>
              <a:rPr lang="zh-CN" altLang="en-US" dirty="0" smtClean="0"/>
              <a:t>操作</a:t>
            </a:r>
            <a:endParaRPr lang="zh-CN" altLang="en-US" dirty="0"/>
          </a:p>
        </p:txBody>
      </p:sp>
      <p:sp>
        <p:nvSpPr>
          <p:cNvPr id="3" name="内容占位符 2"/>
          <p:cNvSpPr>
            <a:spLocks noGrp="1"/>
          </p:cNvSpPr>
          <p:nvPr>
            <p:ph sz="quarter" idx="13"/>
          </p:nvPr>
        </p:nvSpPr>
        <p:spPr/>
        <p:txBody>
          <a:bodyPr/>
          <a:lstStyle/>
          <a:p>
            <a:r>
              <a:rPr lang="en-US" altLang="zh-CN" dirty="0" smtClean="0"/>
              <a:t>NMS</a:t>
            </a:r>
            <a:r>
              <a:rPr lang="zh-CN" altLang="en-US" dirty="0" smtClean="0"/>
              <a:t>计算</a:t>
            </a:r>
            <a:r>
              <a:rPr lang="en-US" altLang="zh-CN" dirty="0" smtClean="0"/>
              <a:t>:</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480185"/>
            <a:ext cx="10058400" cy="2310288"/>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006" y="3795553"/>
            <a:ext cx="10058400" cy="2341721"/>
          </a:xfrm>
          <a:prstGeom prst="rect">
            <a:avLst/>
          </a:prstGeom>
        </p:spPr>
      </p:pic>
      <p:cxnSp>
        <p:nvCxnSpPr>
          <p:cNvPr id="7" name="直接箭头连接符 6"/>
          <p:cNvCxnSpPr/>
          <p:nvPr/>
        </p:nvCxnSpPr>
        <p:spPr>
          <a:xfrm>
            <a:off x="6095206" y="3633786"/>
            <a:ext cx="0" cy="30956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427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NMS</a:t>
            </a:r>
            <a:r>
              <a:rPr lang="zh-CN" altLang="en-US" dirty="0" smtClean="0"/>
              <a:t>操作</a:t>
            </a:r>
            <a:endParaRPr lang="zh-CN" altLang="en-US" dirty="0"/>
          </a:p>
        </p:txBody>
      </p:sp>
      <p:sp>
        <p:nvSpPr>
          <p:cNvPr id="3" name="内容占位符 2"/>
          <p:cNvSpPr>
            <a:spLocks noGrp="1"/>
          </p:cNvSpPr>
          <p:nvPr>
            <p:ph sz="quarter" idx="13"/>
          </p:nvPr>
        </p:nvSpPr>
        <p:spPr/>
        <p:txBody>
          <a:bodyPr/>
          <a:lstStyle/>
          <a:p>
            <a:r>
              <a:rPr lang="en-US" altLang="zh-CN" dirty="0" smtClean="0"/>
              <a:t>NMS</a:t>
            </a:r>
            <a:r>
              <a:rPr lang="zh-CN" altLang="en-US" dirty="0" smtClean="0"/>
              <a:t>计算</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495425"/>
            <a:ext cx="10058400" cy="2341721"/>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006" y="3868896"/>
            <a:ext cx="10058400" cy="2268378"/>
          </a:xfrm>
          <a:prstGeom prst="rect">
            <a:avLst/>
          </a:prstGeom>
        </p:spPr>
      </p:pic>
      <p:cxnSp>
        <p:nvCxnSpPr>
          <p:cNvPr id="6" name="直接箭头连接符 5"/>
          <p:cNvCxnSpPr/>
          <p:nvPr/>
        </p:nvCxnSpPr>
        <p:spPr>
          <a:xfrm>
            <a:off x="6095206" y="3682364"/>
            <a:ext cx="0" cy="309564"/>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1004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NMS</a:t>
            </a:r>
            <a:r>
              <a:rPr lang="zh-CN" altLang="en-US" dirty="0" smtClean="0"/>
              <a:t>操作</a:t>
            </a:r>
            <a:endParaRPr lang="zh-CN" altLang="en-US" dirty="0"/>
          </a:p>
        </p:txBody>
      </p:sp>
      <p:sp>
        <p:nvSpPr>
          <p:cNvPr id="3" name="内容占位符 2"/>
          <p:cNvSpPr>
            <a:spLocks noGrp="1"/>
          </p:cNvSpPr>
          <p:nvPr>
            <p:ph sz="quarter" idx="13"/>
          </p:nvPr>
        </p:nvSpPr>
        <p:spPr/>
        <p:txBody>
          <a:bodyPr/>
          <a:lstStyle/>
          <a:p>
            <a:r>
              <a:rPr lang="en-US" altLang="zh-CN" dirty="0" smtClean="0"/>
              <a:t>NMS</a:t>
            </a:r>
            <a:r>
              <a:rPr lang="zh-CN" altLang="en-US" dirty="0" smtClean="0"/>
              <a:t>操作效果如图：</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329" y="1785936"/>
            <a:ext cx="10429753" cy="4351338"/>
          </a:xfrm>
          <a:prstGeom prst="rect">
            <a:avLst/>
          </a:prstGeom>
        </p:spPr>
      </p:pic>
    </p:spTree>
    <p:extLst>
      <p:ext uri="{BB962C8B-B14F-4D97-AF65-F5344CB8AC3E}">
        <p14:creationId xmlns:p14="http://schemas.microsoft.com/office/powerpoint/2010/main" val="2226157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感受野（</a:t>
            </a:r>
            <a:r>
              <a:rPr lang="en-US" altLang="zh-CN" dirty="0"/>
              <a:t>receptive field</a:t>
            </a:r>
            <a:r>
              <a:rPr lang="zh-CN" altLang="en-US" dirty="0" smtClean="0"/>
              <a:t>）：</a:t>
            </a:r>
            <a:endParaRPr lang="en-US" altLang="zh-CN" dirty="0" smtClean="0"/>
          </a:p>
          <a:p>
            <a:pPr lvl="1"/>
            <a:r>
              <a:rPr lang="zh-CN" altLang="en-US" dirty="0" smtClean="0"/>
              <a:t>直观理解：视觉感受区域的大小</a:t>
            </a:r>
            <a:endParaRPr lang="en-US" altLang="zh-CN" dirty="0" smtClean="0"/>
          </a:p>
          <a:p>
            <a:pPr lvl="1"/>
            <a:r>
              <a:rPr lang="en-US" altLang="zh-CN" dirty="0" smtClean="0"/>
              <a:t>CNN</a:t>
            </a:r>
            <a:r>
              <a:rPr lang="zh-CN" altLang="en-US" dirty="0" smtClean="0"/>
              <a:t>理解：决定某一层输出结果中一个元素对应输入层的区域大小</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8144" y="2474912"/>
            <a:ext cx="4874123" cy="3662362"/>
          </a:xfrm>
          <a:prstGeom prst="rect">
            <a:avLst/>
          </a:prstGeom>
        </p:spPr>
      </p:pic>
    </p:spTree>
    <p:extLst>
      <p:ext uri="{BB962C8B-B14F-4D97-AF65-F5344CB8AC3E}">
        <p14:creationId xmlns:p14="http://schemas.microsoft.com/office/powerpoint/2010/main" val="304396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smtClean="0"/>
              <a:t>卷积神经网络感受野示例</a:t>
            </a:r>
            <a:r>
              <a:rPr lang="en-US" altLang="zh-CN" dirty="0" smtClean="0"/>
              <a:t>:</a:t>
            </a:r>
          </a:p>
          <a:p>
            <a:pPr lvl="1"/>
            <a:r>
              <a:rPr lang="zh-CN" altLang="en-US" dirty="0" smtClean="0"/>
              <a:t>输入层大小为</a:t>
            </a:r>
            <a:r>
              <a:rPr lang="en-US" altLang="zh-CN" dirty="0" smtClean="0"/>
              <a:t>10×10</a:t>
            </a:r>
          </a:p>
          <a:p>
            <a:pPr lvl="1"/>
            <a:r>
              <a:rPr lang="zh-CN" altLang="en-US" dirty="0" smtClean="0"/>
              <a:t>共设计</a:t>
            </a:r>
            <a:r>
              <a:rPr lang="en-US" altLang="zh-CN" dirty="0" smtClean="0"/>
              <a:t>5</a:t>
            </a:r>
            <a:r>
              <a:rPr lang="zh-CN" altLang="en-US" dirty="0" smtClean="0"/>
              <a:t>个网络层</a:t>
            </a:r>
            <a:endParaRPr lang="en-US" altLang="zh-CN" dirty="0" smtClean="0"/>
          </a:p>
          <a:p>
            <a:pPr lvl="2"/>
            <a:r>
              <a:rPr lang="zh-CN" altLang="en-US" dirty="0" smtClean="0"/>
              <a:t>前面</a:t>
            </a:r>
            <a:r>
              <a:rPr lang="en-US" altLang="zh-CN" dirty="0" smtClean="0"/>
              <a:t>4</a:t>
            </a:r>
            <a:r>
              <a:rPr lang="zh-CN" altLang="en-US" dirty="0" smtClean="0"/>
              <a:t>个是卷积层，卷积核大小</a:t>
            </a:r>
            <a:r>
              <a:rPr lang="en-US" altLang="zh-CN" dirty="0" smtClean="0"/>
              <a:t>3×3</a:t>
            </a:r>
          </a:p>
          <a:p>
            <a:pPr lvl="2"/>
            <a:r>
              <a:rPr lang="zh-CN" altLang="en-US" dirty="0" smtClean="0"/>
              <a:t>最后一个是池化层，大小为</a:t>
            </a:r>
            <a:r>
              <a:rPr lang="en-US" altLang="zh-CN" dirty="0" smtClean="0"/>
              <a:t>2×2</a:t>
            </a:r>
          </a:p>
          <a:p>
            <a:pPr lvl="2"/>
            <a:r>
              <a:rPr lang="zh-CN" altLang="en-US" dirty="0" smtClean="0"/>
              <a:t>所有步长（</a:t>
            </a:r>
            <a:r>
              <a:rPr lang="en-US" altLang="zh-CN" dirty="0" smtClean="0"/>
              <a:t>stride</a:t>
            </a:r>
            <a:r>
              <a:rPr lang="zh-CN" altLang="en-US" dirty="0" smtClean="0"/>
              <a:t>）均为</a:t>
            </a:r>
            <a:r>
              <a:rPr lang="en-US" altLang="zh-CN" dirty="0" smtClean="0"/>
              <a:t>1</a:t>
            </a:r>
          </a:p>
          <a:p>
            <a:pPr lvl="1"/>
            <a:r>
              <a:rPr lang="zh-CN" altLang="en-US" dirty="0" smtClean="0"/>
              <a:t>第一次卷积运算：</a:t>
            </a:r>
            <a:endParaRPr lang="en-US" altLang="zh-CN" dirty="0" smtClean="0"/>
          </a:p>
          <a:p>
            <a:pPr lvl="2"/>
            <a:r>
              <a:rPr lang="zh-CN" altLang="en-US" dirty="0" smtClean="0"/>
              <a:t>输出</a:t>
            </a:r>
            <a:r>
              <a:rPr lang="en-US" altLang="zh-CN" dirty="0" smtClean="0"/>
              <a:t>1</a:t>
            </a:r>
            <a:r>
              <a:rPr lang="zh-CN" altLang="en-US" dirty="0" smtClean="0"/>
              <a:t>：</a:t>
            </a:r>
            <a:r>
              <a:rPr lang="en-US" altLang="zh-CN" dirty="0" smtClean="0"/>
              <a:t>8×8</a:t>
            </a:r>
          </a:p>
          <a:p>
            <a:pPr lvl="2"/>
            <a:r>
              <a:rPr lang="en-US" altLang="zh-CN" dirty="0" smtClean="0"/>
              <a:t>RF1=3</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4123366623"/>
              </p:ext>
            </p:extLst>
          </p:nvPr>
        </p:nvGraphicFramePr>
        <p:xfrm>
          <a:off x="3495040" y="3394074"/>
          <a:ext cx="2520000" cy="2520000"/>
        </p:xfrm>
        <a:graphic>
          <a:graphicData uri="http://schemas.openxmlformats.org/drawingml/2006/table">
            <a:tbl>
              <a:tblPr firstRow="1" bandRow="1">
                <a:tableStyleId>{5940675A-B579-460E-94D1-54222C63F5DA}</a:tableStyleId>
              </a:tblPr>
              <a:tblGrid>
                <a:gridCol w="252000"/>
                <a:gridCol w="252000"/>
                <a:gridCol w="252000"/>
                <a:gridCol w="252000"/>
                <a:gridCol w="252000"/>
                <a:gridCol w="252000"/>
                <a:gridCol w="252000"/>
                <a:gridCol w="252000"/>
                <a:gridCol w="252000"/>
                <a:gridCol w="252000"/>
              </a:tblGrid>
              <a:tr h="252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252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697015285"/>
              </p:ext>
            </p:extLst>
          </p:nvPr>
        </p:nvGraphicFramePr>
        <p:xfrm>
          <a:off x="7116445" y="4267200"/>
          <a:ext cx="756000" cy="756000"/>
        </p:xfrm>
        <a:graphic>
          <a:graphicData uri="http://schemas.openxmlformats.org/drawingml/2006/table">
            <a:tbl>
              <a:tblPr firstRow="1" bandRow="1">
                <a:tableStyleId>{5940675A-B579-460E-94D1-54222C63F5DA}</a:tableStyleId>
              </a:tblPr>
              <a:tblGrid>
                <a:gridCol w="252000"/>
                <a:gridCol w="252000"/>
                <a:gridCol w="252000"/>
              </a:tblGrid>
              <a:tr h="252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252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252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6" name="文本框 5"/>
          <p:cNvSpPr txBox="1"/>
          <p:nvPr/>
        </p:nvSpPr>
        <p:spPr>
          <a:xfrm>
            <a:off x="7063740" y="509778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1468077651"/>
              </p:ext>
            </p:extLst>
          </p:nvPr>
        </p:nvGraphicFramePr>
        <p:xfrm>
          <a:off x="8899525" y="3478530"/>
          <a:ext cx="2016000" cy="2016000"/>
        </p:xfrm>
        <a:graphic>
          <a:graphicData uri="http://schemas.openxmlformats.org/drawingml/2006/table">
            <a:tbl>
              <a:tblPr firstRow="1" bandRow="1">
                <a:tableStyleId>{5940675A-B579-460E-94D1-54222C63F5DA}</a:tableStyleId>
              </a:tblPr>
              <a:tblGrid>
                <a:gridCol w="252000"/>
                <a:gridCol w="252000"/>
                <a:gridCol w="252000"/>
                <a:gridCol w="252000"/>
                <a:gridCol w="252000"/>
                <a:gridCol w="252000"/>
                <a:gridCol w="252000"/>
                <a:gridCol w="252000"/>
              </a:tblGrid>
              <a:tr h="252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252000">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252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8" name="文本框 7"/>
          <p:cNvSpPr txBox="1"/>
          <p:nvPr/>
        </p:nvSpPr>
        <p:spPr>
          <a:xfrm>
            <a:off x="9582150" y="5767942"/>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9" name="矩形 8"/>
          <p:cNvSpPr/>
          <p:nvPr/>
        </p:nvSpPr>
        <p:spPr>
          <a:xfrm>
            <a:off x="7063740" y="3394710"/>
            <a:ext cx="4057650" cy="274256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p:nvPr/>
        </p:nvCxnSpPr>
        <p:spPr>
          <a:xfrm>
            <a:off x="4343400" y="4147583"/>
            <a:ext cx="2720340" cy="56007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7977484" y="3633786"/>
            <a:ext cx="869336" cy="753192"/>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640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卷积神经网络感受野示例</a:t>
            </a:r>
            <a:r>
              <a:rPr lang="en-US" altLang="zh-CN" dirty="0"/>
              <a:t>:</a:t>
            </a:r>
          </a:p>
          <a:p>
            <a:pPr lvl="1"/>
            <a:r>
              <a:rPr lang="zh-CN" altLang="en-US" dirty="0" smtClean="0"/>
              <a:t>第二次卷积运算：</a:t>
            </a:r>
            <a:endParaRPr lang="en-US" altLang="zh-CN" dirty="0" smtClean="0"/>
          </a:p>
          <a:p>
            <a:pPr lvl="2"/>
            <a:r>
              <a:rPr lang="zh-CN" altLang="en-US" dirty="0" smtClean="0"/>
              <a:t>输出</a:t>
            </a:r>
            <a:r>
              <a:rPr lang="en-US" altLang="zh-CN" dirty="0" smtClean="0"/>
              <a:t>2</a:t>
            </a:r>
            <a:r>
              <a:rPr lang="zh-CN" altLang="en-US" dirty="0" smtClean="0"/>
              <a:t>：</a:t>
            </a:r>
            <a:r>
              <a:rPr lang="en-US" altLang="zh-CN" dirty="0" smtClean="0"/>
              <a:t>6×6</a:t>
            </a:r>
          </a:p>
          <a:p>
            <a:pPr lvl="2"/>
            <a:r>
              <a:rPr lang="en-US" altLang="zh-CN" dirty="0" smtClean="0"/>
              <a:t>RF2=5</a:t>
            </a:r>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713469894"/>
              </p:ext>
            </p:extLst>
          </p:nvPr>
        </p:nvGraphicFramePr>
        <p:xfrm>
          <a:off x="2203450" y="3382644"/>
          <a:ext cx="1800000" cy="180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634838701"/>
              </p:ext>
            </p:extLst>
          </p:nvPr>
        </p:nvGraphicFramePr>
        <p:xfrm>
          <a:off x="4286270" y="3357518"/>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8" name="文本框 7"/>
          <p:cNvSpPr txBox="1"/>
          <p:nvPr/>
        </p:nvSpPr>
        <p:spPr>
          <a:xfrm>
            <a:off x="4177337" y="469773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9" name="表格 8"/>
          <p:cNvGraphicFramePr>
            <a:graphicFrameLocks noGrp="1"/>
          </p:cNvGraphicFramePr>
          <p:nvPr>
            <p:extLst>
              <p:ext uri="{D42A27DB-BD31-4B8C-83A1-F6EECF244321}">
                <p14:modId xmlns:p14="http://schemas.microsoft.com/office/powerpoint/2010/main" val="403271588"/>
              </p:ext>
            </p:extLst>
          </p:nvPr>
        </p:nvGraphicFramePr>
        <p:xfrm>
          <a:off x="5722255" y="3159254"/>
          <a:ext cx="1440000" cy="144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10" name="文本框 9"/>
          <p:cNvSpPr txBox="1"/>
          <p:nvPr/>
        </p:nvSpPr>
        <p:spPr>
          <a:xfrm>
            <a:off x="6000475" y="4697730"/>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11" name="矩形 10"/>
          <p:cNvSpPr/>
          <p:nvPr/>
        </p:nvSpPr>
        <p:spPr>
          <a:xfrm>
            <a:off x="4177337" y="2994660"/>
            <a:ext cx="3108069" cy="20724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a:xfrm flipV="1">
            <a:off x="3114853" y="3594459"/>
            <a:ext cx="1182847"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4889528" y="3337560"/>
            <a:ext cx="841843" cy="16450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表格 16"/>
          <p:cNvGraphicFramePr>
            <a:graphicFrameLocks noGrp="1"/>
          </p:cNvGraphicFramePr>
          <p:nvPr>
            <p:extLst>
              <p:ext uri="{D42A27DB-BD31-4B8C-83A1-F6EECF244321}">
                <p14:modId xmlns:p14="http://schemas.microsoft.com/office/powerpoint/2010/main" val="1179430776"/>
              </p:ext>
            </p:extLst>
          </p:nvPr>
        </p:nvGraphicFramePr>
        <p:xfrm>
          <a:off x="7536200" y="3713381"/>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906159818"/>
              </p:ext>
            </p:extLst>
          </p:nvPr>
        </p:nvGraphicFramePr>
        <p:xfrm>
          <a:off x="8625900" y="3502064"/>
          <a:ext cx="1080000" cy="108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cxnSp>
        <p:nvCxnSpPr>
          <p:cNvPr id="20" name="直接箭头连接符 19"/>
          <p:cNvCxnSpPr/>
          <p:nvPr/>
        </p:nvCxnSpPr>
        <p:spPr>
          <a:xfrm flipV="1">
            <a:off x="8100467" y="3594459"/>
            <a:ext cx="533023"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6307783" y="3463428"/>
            <a:ext cx="1136163" cy="567433"/>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7443946" y="3337560"/>
            <a:ext cx="2397284" cy="17295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7403875" y="4697730"/>
            <a:ext cx="1005403" cy="369332"/>
          </a:xfrm>
          <a:prstGeom prst="rect">
            <a:avLst/>
          </a:prstGeom>
          <a:noFill/>
        </p:spPr>
        <p:txBody>
          <a:bodyPr wrap="none" rtlCol="0">
            <a:spAutoFit/>
          </a:bodyPr>
          <a:lstStyle/>
          <a:p>
            <a:r>
              <a:rPr lang="zh-CN" altLang="en-US" dirty="0" smtClean="0"/>
              <a:t>卷积核</a:t>
            </a:r>
            <a:r>
              <a:rPr lang="en-US" altLang="zh-CN" dirty="0"/>
              <a:t>2</a:t>
            </a:r>
            <a:endParaRPr lang="zh-CN" altLang="en-US" dirty="0"/>
          </a:p>
        </p:txBody>
      </p:sp>
      <p:sp>
        <p:nvSpPr>
          <p:cNvPr id="28" name="文本框 27"/>
          <p:cNvSpPr txBox="1"/>
          <p:nvPr/>
        </p:nvSpPr>
        <p:spPr>
          <a:xfrm>
            <a:off x="8746789" y="4697730"/>
            <a:ext cx="774571" cy="369332"/>
          </a:xfrm>
          <a:prstGeom prst="rect">
            <a:avLst/>
          </a:prstGeom>
          <a:noFill/>
        </p:spPr>
        <p:txBody>
          <a:bodyPr wrap="none" rtlCol="0">
            <a:spAutoFit/>
          </a:bodyPr>
          <a:lstStyle/>
          <a:p>
            <a:r>
              <a:rPr lang="zh-CN" altLang="en-US" dirty="0" smtClean="0"/>
              <a:t>输出</a:t>
            </a:r>
            <a:r>
              <a:rPr lang="en-US" altLang="zh-CN" dirty="0" smtClean="0"/>
              <a:t>2</a:t>
            </a:r>
            <a:endParaRPr lang="zh-CN" altLang="en-US" dirty="0"/>
          </a:p>
        </p:txBody>
      </p:sp>
    </p:spTree>
    <p:extLst>
      <p:ext uri="{BB962C8B-B14F-4D97-AF65-F5344CB8AC3E}">
        <p14:creationId xmlns:p14="http://schemas.microsoft.com/office/powerpoint/2010/main" val="268048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卷积神经网络感受野示例</a:t>
            </a:r>
            <a:r>
              <a:rPr lang="en-US" altLang="zh-CN" dirty="0"/>
              <a:t>:</a:t>
            </a:r>
          </a:p>
          <a:p>
            <a:pPr lvl="1"/>
            <a:r>
              <a:rPr lang="zh-CN" altLang="en-US" dirty="0" smtClean="0"/>
              <a:t>第三次</a:t>
            </a:r>
            <a:r>
              <a:rPr lang="zh-CN" altLang="en-US" dirty="0"/>
              <a:t>卷积运算：</a:t>
            </a:r>
            <a:endParaRPr lang="en-US" altLang="zh-CN" dirty="0"/>
          </a:p>
          <a:p>
            <a:pPr lvl="2"/>
            <a:r>
              <a:rPr lang="zh-CN" altLang="en-US" dirty="0" smtClean="0"/>
              <a:t>输出</a:t>
            </a:r>
            <a:r>
              <a:rPr lang="en-US" altLang="zh-CN" dirty="0" smtClean="0"/>
              <a:t>3</a:t>
            </a:r>
            <a:r>
              <a:rPr lang="zh-CN" altLang="en-US" dirty="0" smtClean="0"/>
              <a:t>：</a:t>
            </a:r>
            <a:r>
              <a:rPr lang="en-US" altLang="zh-CN" dirty="0" smtClean="0"/>
              <a:t>4×4</a:t>
            </a:r>
            <a:endParaRPr lang="en-US" altLang="zh-CN" dirty="0"/>
          </a:p>
          <a:p>
            <a:pPr lvl="2"/>
            <a:r>
              <a:rPr lang="en-US" altLang="zh-CN" dirty="0" smtClean="0"/>
              <a:t>RF3=7</a:t>
            </a:r>
            <a:endParaRPr lang="zh-CN" altLang="en-US"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286775221"/>
              </p:ext>
            </p:extLst>
          </p:nvPr>
        </p:nvGraphicFramePr>
        <p:xfrm>
          <a:off x="889000" y="3588384"/>
          <a:ext cx="1800000" cy="180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872332705"/>
              </p:ext>
            </p:extLst>
          </p:nvPr>
        </p:nvGraphicFramePr>
        <p:xfrm>
          <a:off x="2971820" y="3563258"/>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6" name="文本框 5"/>
          <p:cNvSpPr txBox="1"/>
          <p:nvPr/>
        </p:nvSpPr>
        <p:spPr>
          <a:xfrm>
            <a:off x="2862887" y="490347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3203716815"/>
              </p:ext>
            </p:extLst>
          </p:nvPr>
        </p:nvGraphicFramePr>
        <p:xfrm>
          <a:off x="3966025" y="3396767"/>
          <a:ext cx="1440000" cy="144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8" name="文本框 7"/>
          <p:cNvSpPr txBox="1"/>
          <p:nvPr/>
        </p:nvSpPr>
        <p:spPr>
          <a:xfrm>
            <a:off x="4306991" y="4903470"/>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9" name="矩形 8"/>
          <p:cNvSpPr/>
          <p:nvPr/>
        </p:nvSpPr>
        <p:spPr>
          <a:xfrm>
            <a:off x="2862888" y="3200400"/>
            <a:ext cx="2715390" cy="20724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flipV="1">
            <a:off x="2251710" y="3800199"/>
            <a:ext cx="731540" cy="54320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3575078" y="3707804"/>
            <a:ext cx="302830" cy="9239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2620438665"/>
              </p:ext>
            </p:extLst>
          </p:nvPr>
        </p:nvGraphicFramePr>
        <p:xfrm>
          <a:off x="5958860" y="3919121"/>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1938217212"/>
              </p:ext>
            </p:extLst>
          </p:nvPr>
        </p:nvGraphicFramePr>
        <p:xfrm>
          <a:off x="7048560" y="3707804"/>
          <a:ext cx="1080000" cy="108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cxnSp>
        <p:nvCxnSpPr>
          <p:cNvPr id="14" name="直接箭头连接符 13"/>
          <p:cNvCxnSpPr/>
          <p:nvPr/>
        </p:nvCxnSpPr>
        <p:spPr>
          <a:xfrm flipV="1">
            <a:off x="6523127" y="3800199"/>
            <a:ext cx="533023"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4892514" y="3738413"/>
            <a:ext cx="997161" cy="37835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866606" y="3543300"/>
            <a:ext cx="2397284" cy="17295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826535" y="4903470"/>
            <a:ext cx="1005403" cy="369332"/>
          </a:xfrm>
          <a:prstGeom prst="rect">
            <a:avLst/>
          </a:prstGeom>
          <a:noFill/>
        </p:spPr>
        <p:txBody>
          <a:bodyPr wrap="none" rtlCol="0">
            <a:spAutoFit/>
          </a:bodyPr>
          <a:lstStyle/>
          <a:p>
            <a:r>
              <a:rPr lang="zh-CN" altLang="en-US" dirty="0" smtClean="0"/>
              <a:t>卷积核</a:t>
            </a:r>
            <a:r>
              <a:rPr lang="en-US" altLang="zh-CN" dirty="0"/>
              <a:t>2</a:t>
            </a:r>
            <a:endParaRPr lang="zh-CN" altLang="en-US" dirty="0"/>
          </a:p>
        </p:txBody>
      </p:sp>
      <p:sp>
        <p:nvSpPr>
          <p:cNvPr id="18" name="文本框 17"/>
          <p:cNvSpPr txBox="1"/>
          <p:nvPr/>
        </p:nvSpPr>
        <p:spPr>
          <a:xfrm>
            <a:off x="7169449" y="4903470"/>
            <a:ext cx="774571" cy="369332"/>
          </a:xfrm>
          <a:prstGeom prst="rect">
            <a:avLst/>
          </a:prstGeom>
          <a:noFill/>
        </p:spPr>
        <p:txBody>
          <a:bodyPr wrap="none" rtlCol="0">
            <a:spAutoFit/>
          </a:bodyPr>
          <a:lstStyle/>
          <a:p>
            <a:r>
              <a:rPr lang="zh-CN" altLang="en-US" dirty="0" smtClean="0"/>
              <a:t>输出</a:t>
            </a:r>
            <a:r>
              <a:rPr lang="en-US" altLang="zh-CN" dirty="0" smtClean="0"/>
              <a:t>2</a:t>
            </a:r>
            <a:endParaRPr lang="zh-CN" altLang="en-US" dirty="0"/>
          </a:p>
        </p:txBody>
      </p:sp>
      <p:graphicFrame>
        <p:nvGraphicFramePr>
          <p:cNvPr id="23" name="表格 22"/>
          <p:cNvGraphicFramePr>
            <a:graphicFrameLocks noGrp="1"/>
          </p:cNvGraphicFramePr>
          <p:nvPr>
            <p:extLst>
              <p:ext uri="{D42A27DB-BD31-4B8C-83A1-F6EECF244321}">
                <p14:modId xmlns:p14="http://schemas.microsoft.com/office/powerpoint/2010/main" val="2223732989"/>
              </p:ext>
            </p:extLst>
          </p:nvPr>
        </p:nvGraphicFramePr>
        <p:xfrm>
          <a:off x="8522990" y="4390849"/>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cxnSp>
        <p:nvCxnSpPr>
          <p:cNvPr id="25" name="直接箭头连接符 24"/>
          <p:cNvCxnSpPr/>
          <p:nvPr/>
        </p:nvCxnSpPr>
        <p:spPr>
          <a:xfrm flipV="1">
            <a:off x="9087257" y="4271927"/>
            <a:ext cx="233814"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8430736" y="4015028"/>
            <a:ext cx="1964115" cy="125777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8373202" y="4903470"/>
            <a:ext cx="1005403" cy="369332"/>
          </a:xfrm>
          <a:prstGeom prst="rect">
            <a:avLst/>
          </a:prstGeom>
          <a:noFill/>
        </p:spPr>
        <p:txBody>
          <a:bodyPr wrap="none" rtlCol="0">
            <a:spAutoFit/>
          </a:bodyPr>
          <a:lstStyle/>
          <a:p>
            <a:r>
              <a:rPr lang="zh-CN" altLang="en-US" dirty="0" smtClean="0"/>
              <a:t>卷积核</a:t>
            </a:r>
            <a:r>
              <a:rPr lang="en-US" altLang="zh-CN" dirty="0" smtClean="0"/>
              <a:t>3</a:t>
            </a:r>
            <a:endParaRPr lang="zh-CN" altLang="en-US" dirty="0"/>
          </a:p>
        </p:txBody>
      </p:sp>
      <p:sp>
        <p:nvSpPr>
          <p:cNvPr id="28" name="文本框 27"/>
          <p:cNvSpPr txBox="1"/>
          <p:nvPr/>
        </p:nvSpPr>
        <p:spPr>
          <a:xfrm>
            <a:off x="9321071" y="4903470"/>
            <a:ext cx="774571" cy="369332"/>
          </a:xfrm>
          <a:prstGeom prst="rect">
            <a:avLst/>
          </a:prstGeom>
          <a:noFill/>
        </p:spPr>
        <p:txBody>
          <a:bodyPr wrap="none" rtlCol="0">
            <a:spAutoFit/>
          </a:bodyPr>
          <a:lstStyle/>
          <a:p>
            <a:r>
              <a:rPr lang="zh-CN" altLang="en-US" dirty="0" smtClean="0"/>
              <a:t>输出</a:t>
            </a:r>
            <a:r>
              <a:rPr lang="en-US" altLang="zh-CN" dirty="0" smtClean="0"/>
              <a:t>3</a:t>
            </a:r>
            <a:endParaRPr lang="zh-CN" altLang="en-US" dirty="0"/>
          </a:p>
        </p:txBody>
      </p:sp>
      <p:cxnSp>
        <p:nvCxnSpPr>
          <p:cNvPr id="29" name="直接箭头连接符 28"/>
          <p:cNvCxnSpPr/>
          <p:nvPr/>
        </p:nvCxnSpPr>
        <p:spPr>
          <a:xfrm>
            <a:off x="8159051" y="3952018"/>
            <a:ext cx="271685" cy="551402"/>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表格 30"/>
          <p:cNvGraphicFramePr>
            <a:graphicFrameLocks noGrp="1"/>
          </p:cNvGraphicFramePr>
          <p:nvPr>
            <p:extLst>
              <p:ext uri="{D42A27DB-BD31-4B8C-83A1-F6EECF244321}">
                <p14:modId xmlns:p14="http://schemas.microsoft.com/office/powerpoint/2010/main" val="3744074690"/>
              </p:ext>
            </p:extLst>
          </p:nvPr>
        </p:nvGraphicFramePr>
        <p:xfrm>
          <a:off x="9361142" y="4210141"/>
          <a:ext cx="720000" cy="720000"/>
        </p:xfrm>
        <a:graphic>
          <a:graphicData uri="http://schemas.openxmlformats.org/drawingml/2006/table">
            <a:tbl>
              <a:tblPr firstRow="1" bandRow="1">
                <a:tableStyleId>{5940675A-B579-460E-94D1-54222C63F5DA}</a:tableStyleId>
              </a:tblPr>
              <a:tblGrid>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r>
              <a:tr h="180000">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Tree>
    <p:extLst>
      <p:ext uri="{BB962C8B-B14F-4D97-AF65-F5344CB8AC3E}">
        <p14:creationId xmlns:p14="http://schemas.microsoft.com/office/powerpoint/2010/main" val="157835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卷积神经网络感受野示例</a:t>
            </a:r>
            <a:r>
              <a:rPr lang="en-US" altLang="zh-CN" dirty="0"/>
              <a:t>:</a:t>
            </a:r>
          </a:p>
          <a:p>
            <a:pPr lvl="1"/>
            <a:r>
              <a:rPr lang="zh-CN" altLang="en-US" dirty="0" smtClean="0"/>
              <a:t>第四次</a:t>
            </a:r>
            <a:r>
              <a:rPr lang="zh-CN" altLang="en-US" dirty="0"/>
              <a:t>卷积运算：</a:t>
            </a:r>
            <a:endParaRPr lang="en-US" altLang="zh-CN" dirty="0"/>
          </a:p>
          <a:p>
            <a:pPr lvl="2"/>
            <a:r>
              <a:rPr lang="zh-CN" altLang="en-US" dirty="0" smtClean="0"/>
              <a:t>输出</a:t>
            </a:r>
            <a:r>
              <a:rPr lang="en-US" altLang="zh-CN" dirty="0" smtClean="0"/>
              <a:t>4</a:t>
            </a:r>
            <a:r>
              <a:rPr lang="zh-CN" altLang="en-US" dirty="0" smtClean="0"/>
              <a:t>：</a:t>
            </a:r>
            <a:r>
              <a:rPr lang="en-US" altLang="zh-CN" dirty="0" smtClean="0"/>
              <a:t>2×2</a:t>
            </a:r>
            <a:endParaRPr lang="en-US" altLang="zh-CN" dirty="0"/>
          </a:p>
          <a:p>
            <a:pPr lvl="2"/>
            <a:r>
              <a:rPr lang="en-US" altLang="zh-CN" dirty="0" smtClean="0"/>
              <a:t>RF4=9</a:t>
            </a:r>
            <a:endParaRPr lang="zh-CN" altLang="en-US"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143357844"/>
              </p:ext>
            </p:extLst>
          </p:nvPr>
        </p:nvGraphicFramePr>
        <p:xfrm>
          <a:off x="889000" y="3588384"/>
          <a:ext cx="1800000" cy="180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455148560"/>
              </p:ext>
            </p:extLst>
          </p:nvPr>
        </p:nvGraphicFramePr>
        <p:xfrm>
          <a:off x="2971820" y="3563258"/>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6" name="文本框 5"/>
          <p:cNvSpPr txBox="1"/>
          <p:nvPr/>
        </p:nvSpPr>
        <p:spPr>
          <a:xfrm>
            <a:off x="2862887" y="490347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1535943518"/>
              </p:ext>
            </p:extLst>
          </p:nvPr>
        </p:nvGraphicFramePr>
        <p:xfrm>
          <a:off x="3966025" y="3396767"/>
          <a:ext cx="1440000" cy="144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8" name="文本框 7"/>
          <p:cNvSpPr txBox="1"/>
          <p:nvPr/>
        </p:nvSpPr>
        <p:spPr>
          <a:xfrm>
            <a:off x="4306991" y="4903470"/>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9" name="矩形 8"/>
          <p:cNvSpPr/>
          <p:nvPr/>
        </p:nvSpPr>
        <p:spPr>
          <a:xfrm>
            <a:off x="2862888" y="3200400"/>
            <a:ext cx="2669561" cy="20724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flipV="1">
            <a:off x="2548890" y="3800200"/>
            <a:ext cx="434360" cy="31656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3575078" y="3707804"/>
            <a:ext cx="302830" cy="9239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1706188746"/>
              </p:ext>
            </p:extLst>
          </p:nvPr>
        </p:nvGraphicFramePr>
        <p:xfrm>
          <a:off x="5792669" y="3919121"/>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402324849"/>
              </p:ext>
            </p:extLst>
          </p:nvPr>
        </p:nvGraphicFramePr>
        <p:xfrm>
          <a:off x="6697829" y="3707804"/>
          <a:ext cx="1080000" cy="108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cxnSp>
        <p:nvCxnSpPr>
          <p:cNvPr id="14" name="直接箭头连接符 13"/>
          <p:cNvCxnSpPr/>
          <p:nvPr/>
        </p:nvCxnSpPr>
        <p:spPr>
          <a:xfrm flipV="1">
            <a:off x="6356936" y="3952018"/>
            <a:ext cx="308811" cy="16474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5292090" y="3800199"/>
            <a:ext cx="437876" cy="234193"/>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700415" y="3543300"/>
            <a:ext cx="2140874" cy="17295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660344" y="4903470"/>
            <a:ext cx="1005403" cy="369332"/>
          </a:xfrm>
          <a:prstGeom prst="rect">
            <a:avLst/>
          </a:prstGeom>
          <a:noFill/>
        </p:spPr>
        <p:txBody>
          <a:bodyPr wrap="none" rtlCol="0">
            <a:spAutoFit/>
          </a:bodyPr>
          <a:lstStyle/>
          <a:p>
            <a:r>
              <a:rPr lang="zh-CN" altLang="en-US" dirty="0" smtClean="0"/>
              <a:t>卷积核</a:t>
            </a:r>
            <a:r>
              <a:rPr lang="en-US" altLang="zh-CN" dirty="0"/>
              <a:t>2</a:t>
            </a:r>
            <a:endParaRPr lang="zh-CN" altLang="en-US" dirty="0"/>
          </a:p>
        </p:txBody>
      </p:sp>
      <p:sp>
        <p:nvSpPr>
          <p:cNvPr id="18" name="文本框 17"/>
          <p:cNvSpPr txBox="1"/>
          <p:nvPr/>
        </p:nvSpPr>
        <p:spPr>
          <a:xfrm>
            <a:off x="6781511" y="4892040"/>
            <a:ext cx="774571" cy="369332"/>
          </a:xfrm>
          <a:prstGeom prst="rect">
            <a:avLst/>
          </a:prstGeom>
          <a:noFill/>
        </p:spPr>
        <p:txBody>
          <a:bodyPr wrap="none" rtlCol="0">
            <a:spAutoFit/>
          </a:bodyPr>
          <a:lstStyle/>
          <a:p>
            <a:r>
              <a:rPr lang="zh-CN" altLang="en-US" dirty="0" smtClean="0"/>
              <a:t>输出</a:t>
            </a:r>
            <a:r>
              <a:rPr lang="en-US" altLang="zh-CN" dirty="0" smtClean="0"/>
              <a:t>2</a:t>
            </a:r>
            <a:endParaRPr lang="zh-CN" altLang="en-US" dirty="0"/>
          </a:p>
        </p:txBody>
      </p:sp>
      <p:graphicFrame>
        <p:nvGraphicFramePr>
          <p:cNvPr id="19" name="表格 18"/>
          <p:cNvGraphicFramePr>
            <a:graphicFrameLocks noGrp="1"/>
          </p:cNvGraphicFramePr>
          <p:nvPr>
            <p:extLst>
              <p:ext uri="{D42A27DB-BD31-4B8C-83A1-F6EECF244321}">
                <p14:modId xmlns:p14="http://schemas.microsoft.com/office/powerpoint/2010/main" val="4128433282"/>
              </p:ext>
            </p:extLst>
          </p:nvPr>
        </p:nvGraphicFramePr>
        <p:xfrm>
          <a:off x="8085230" y="4410213"/>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cxnSp>
        <p:nvCxnSpPr>
          <p:cNvPr id="20" name="直接箭头连接符 19"/>
          <p:cNvCxnSpPr/>
          <p:nvPr/>
        </p:nvCxnSpPr>
        <p:spPr>
          <a:xfrm flipV="1">
            <a:off x="8649497" y="4291291"/>
            <a:ext cx="233814"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992977" y="4034392"/>
            <a:ext cx="1781254" cy="125777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7935442" y="4922834"/>
            <a:ext cx="1005403" cy="369332"/>
          </a:xfrm>
          <a:prstGeom prst="rect">
            <a:avLst/>
          </a:prstGeom>
          <a:noFill/>
        </p:spPr>
        <p:txBody>
          <a:bodyPr wrap="none" rtlCol="0">
            <a:spAutoFit/>
          </a:bodyPr>
          <a:lstStyle/>
          <a:p>
            <a:r>
              <a:rPr lang="zh-CN" altLang="en-US" dirty="0" smtClean="0"/>
              <a:t>卷积核</a:t>
            </a:r>
            <a:r>
              <a:rPr lang="en-US" altLang="zh-CN" dirty="0" smtClean="0"/>
              <a:t>3</a:t>
            </a:r>
            <a:endParaRPr lang="zh-CN" altLang="en-US" dirty="0"/>
          </a:p>
        </p:txBody>
      </p:sp>
      <p:sp>
        <p:nvSpPr>
          <p:cNvPr id="23" name="文本框 22"/>
          <p:cNvSpPr txBox="1"/>
          <p:nvPr/>
        </p:nvSpPr>
        <p:spPr>
          <a:xfrm>
            <a:off x="8883311" y="4922834"/>
            <a:ext cx="774571" cy="369332"/>
          </a:xfrm>
          <a:prstGeom prst="rect">
            <a:avLst/>
          </a:prstGeom>
          <a:noFill/>
        </p:spPr>
        <p:txBody>
          <a:bodyPr wrap="none" rtlCol="0">
            <a:spAutoFit/>
          </a:bodyPr>
          <a:lstStyle/>
          <a:p>
            <a:r>
              <a:rPr lang="zh-CN" altLang="en-US" dirty="0" smtClean="0"/>
              <a:t>输出</a:t>
            </a:r>
            <a:r>
              <a:rPr lang="en-US" altLang="zh-CN" dirty="0" smtClean="0"/>
              <a:t>3</a:t>
            </a:r>
            <a:endParaRPr lang="zh-CN" altLang="en-US" dirty="0"/>
          </a:p>
        </p:txBody>
      </p:sp>
      <p:cxnSp>
        <p:nvCxnSpPr>
          <p:cNvPr id="24" name="直接箭头连接符 23"/>
          <p:cNvCxnSpPr/>
          <p:nvPr/>
        </p:nvCxnSpPr>
        <p:spPr>
          <a:xfrm>
            <a:off x="7656425" y="4116767"/>
            <a:ext cx="367725" cy="49576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表格 24"/>
          <p:cNvGraphicFramePr>
            <a:graphicFrameLocks noGrp="1"/>
          </p:cNvGraphicFramePr>
          <p:nvPr>
            <p:extLst>
              <p:ext uri="{D42A27DB-BD31-4B8C-83A1-F6EECF244321}">
                <p14:modId xmlns:p14="http://schemas.microsoft.com/office/powerpoint/2010/main" val="3864831402"/>
              </p:ext>
            </p:extLst>
          </p:nvPr>
        </p:nvGraphicFramePr>
        <p:xfrm>
          <a:off x="8923382" y="4229505"/>
          <a:ext cx="720000" cy="720000"/>
        </p:xfrm>
        <a:graphic>
          <a:graphicData uri="http://schemas.openxmlformats.org/drawingml/2006/table">
            <a:tbl>
              <a:tblPr firstRow="1" bandRow="1">
                <a:tableStyleId>{5940675A-B579-460E-94D1-54222C63F5DA}</a:tableStyleId>
              </a:tblPr>
              <a:tblGrid>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tc>
              </a:tr>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graphicFrame>
        <p:nvGraphicFramePr>
          <p:cNvPr id="54" name="表格 53"/>
          <p:cNvGraphicFramePr>
            <a:graphicFrameLocks noGrp="1"/>
          </p:cNvGraphicFramePr>
          <p:nvPr>
            <p:extLst>
              <p:ext uri="{D42A27DB-BD31-4B8C-83A1-F6EECF244321}">
                <p14:modId xmlns:p14="http://schemas.microsoft.com/office/powerpoint/2010/main" val="2694962899"/>
              </p:ext>
            </p:extLst>
          </p:nvPr>
        </p:nvGraphicFramePr>
        <p:xfrm>
          <a:off x="9974282" y="4407263"/>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55" name="文本框 54"/>
          <p:cNvSpPr txBox="1"/>
          <p:nvPr/>
        </p:nvSpPr>
        <p:spPr>
          <a:xfrm>
            <a:off x="9787862" y="4922834"/>
            <a:ext cx="1005403" cy="369332"/>
          </a:xfrm>
          <a:prstGeom prst="rect">
            <a:avLst/>
          </a:prstGeom>
          <a:noFill/>
        </p:spPr>
        <p:txBody>
          <a:bodyPr wrap="none" rtlCol="0">
            <a:spAutoFit/>
          </a:bodyPr>
          <a:lstStyle/>
          <a:p>
            <a:r>
              <a:rPr lang="zh-CN" altLang="en-US" dirty="0" smtClean="0"/>
              <a:t>卷积核</a:t>
            </a:r>
            <a:r>
              <a:rPr lang="en-US" altLang="zh-CN" dirty="0"/>
              <a:t>4</a:t>
            </a:r>
            <a:endParaRPr lang="zh-CN" altLang="en-US" dirty="0"/>
          </a:p>
        </p:txBody>
      </p:sp>
      <p:graphicFrame>
        <p:nvGraphicFramePr>
          <p:cNvPr id="56" name="表格 55"/>
          <p:cNvGraphicFramePr>
            <a:graphicFrameLocks noGrp="1"/>
          </p:cNvGraphicFramePr>
          <p:nvPr>
            <p:extLst>
              <p:ext uri="{D42A27DB-BD31-4B8C-83A1-F6EECF244321}">
                <p14:modId xmlns:p14="http://schemas.microsoft.com/office/powerpoint/2010/main" val="3866822708"/>
              </p:ext>
            </p:extLst>
          </p:nvPr>
        </p:nvGraphicFramePr>
        <p:xfrm>
          <a:off x="10822909" y="4532040"/>
          <a:ext cx="360000" cy="360000"/>
        </p:xfrm>
        <a:graphic>
          <a:graphicData uri="http://schemas.openxmlformats.org/drawingml/2006/table">
            <a:tbl>
              <a:tblPr firstRow="1" bandRow="1">
                <a:tableStyleId>{5940675A-B579-460E-94D1-54222C63F5DA}</a:tableStyleId>
              </a:tblPr>
              <a:tblGrid>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tc>
              </a:tr>
              <a:tr h="180000">
                <a:tc>
                  <a:txBody>
                    <a:bodyPr/>
                    <a:lstStyle/>
                    <a:p>
                      <a:endParaRPr lang="zh-CN" altLang="en-US" sz="100" dirty="0"/>
                    </a:p>
                  </a:txBody>
                  <a:tcPr marL="0" marR="0" marT="0" marB="0"/>
                </a:tc>
                <a:tc>
                  <a:txBody>
                    <a:bodyPr/>
                    <a:lstStyle/>
                    <a:p>
                      <a:endParaRPr lang="zh-CN" altLang="en-US" sz="100" dirty="0"/>
                    </a:p>
                  </a:txBody>
                  <a:tcPr marL="0" marR="0" marT="0" marB="0"/>
                </a:tc>
              </a:tr>
            </a:tbl>
          </a:graphicData>
        </a:graphic>
      </p:graphicFrame>
      <p:sp>
        <p:nvSpPr>
          <p:cNvPr id="57" name="文本框 56"/>
          <p:cNvSpPr txBox="1"/>
          <p:nvPr/>
        </p:nvSpPr>
        <p:spPr>
          <a:xfrm>
            <a:off x="10695169" y="4922834"/>
            <a:ext cx="774571" cy="369332"/>
          </a:xfrm>
          <a:prstGeom prst="rect">
            <a:avLst/>
          </a:prstGeom>
          <a:noFill/>
        </p:spPr>
        <p:txBody>
          <a:bodyPr wrap="none" rtlCol="0">
            <a:spAutoFit/>
          </a:bodyPr>
          <a:lstStyle/>
          <a:p>
            <a:r>
              <a:rPr lang="zh-CN" altLang="en-US" dirty="0" smtClean="0"/>
              <a:t>输出</a:t>
            </a:r>
            <a:r>
              <a:rPr lang="en-US" altLang="zh-CN" dirty="0"/>
              <a:t>4</a:t>
            </a:r>
            <a:endParaRPr lang="zh-CN" altLang="en-US" dirty="0"/>
          </a:p>
        </p:txBody>
      </p:sp>
      <p:sp>
        <p:nvSpPr>
          <p:cNvPr id="58" name="矩形 57"/>
          <p:cNvSpPr/>
          <p:nvPr/>
        </p:nvSpPr>
        <p:spPr>
          <a:xfrm>
            <a:off x="9854998" y="4291290"/>
            <a:ext cx="1614742" cy="100087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58"/>
          <p:cNvCxnSpPr>
            <a:endCxn id="54" idx="1"/>
          </p:cNvCxnSpPr>
          <p:nvPr/>
        </p:nvCxnSpPr>
        <p:spPr>
          <a:xfrm>
            <a:off x="9510506" y="4368207"/>
            <a:ext cx="463776" cy="30905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10543255" y="4607859"/>
            <a:ext cx="250010" cy="13998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848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a:t>卷积神经网络感受野示例</a:t>
            </a:r>
            <a:r>
              <a:rPr lang="en-US" altLang="zh-CN" dirty="0"/>
              <a:t>:</a:t>
            </a:r>
          </a:p>
          <a:p>
            <a:pPr lvl="1"/>
            <a:r>
              <a:rPr lang="zh-CN" altLang="en-US" dirty="0" smtClean="0"/>
              <a:t>第五次池化运算</a:t>
            </a:r>
            <a:r>
              <a:rPr lang="zh-CN" altLang="en-US" dirty="0"/>
              <a:t>：</a:t>
            </a:r>
            <a:endParaRPr lang="en-US" altLang="zh-CN" dirty="0"/>
          </a:p>
          <a:p>
            <a:pPr lvl="2"/>
            <a:r>
              <a:rPr lang="zh-CN" altLang="en-US" dirty="0" smtClean="0"/>
              <a:t>输出</a:t>
            </a:r>
            <a:r>
              <a:rPr lang="en-US" altLang="zh-CN" dirty="0" smtClean="0"/>
              <a:t>5</a:t>
            </a:r>
            <a:r>
              <a:rPr lang="zh-CN" altLang="en-US" dirty="0" smtClean="0"/>
              <a:t>：</a:t>
            </a:r>
            <a:r>
              <a:rPr lang="en-US" altLang="zh-CN" dirty="0" smtClean="0"/>
              <a:t>1×1</a:t>
            </a:r>
            <a:endParaRPr lang="en-US" altLang="zh-CN" dirty="0"/>
          </a:p>
          <a:p>
            <a:pPr lvl="2"/>
            <a:r>
              <a:rPr lang="en-US" altLang="zh-CN" dirty="0" smtClean="0"/>
              <a:t>RF5=10</a:t>
            </a:r>
            <a:endParaRPr lang="zh-CN" altLang="en-US"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894156725"/>
              </p:ext>
            </p:extLst>
          </p:nvPr>
        </p:nvGraphicFramePr>
        <p:xfrm>
          <a:off x="889000" y="3588384"/>
          <a:ext cx="1800000" cy="180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022888871"/>
              </p:ext>
            </p:extLst>
          </p:nvPr>
        </p:nvGraphicFramePr>
        <p:xfrm>
          <a:off x="2971820" y="3563258"/>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6" name="文本框 5"/>
          <p:cNvSpPr txBox="1"/>
          <p:nvPr/>
        </p:nvSpPr>
        <p:spPr>
          <a:xfrm>
            <a:off x="2862887" y="4903470"/>
            <a:ext cx="1015021" cy="369332"/>
          </a:xfrm>
          <a:prstGeom prst="rect">
            <a:avLst/>
          </a:prstGeom>
          <a:noFill/>
        </p:spPr>
        <p:txBody>
          <a:bodyPr wrap="none" rtlCol="0">
            <a:spAutoFit/>
          </a:bodyPr>
          <a:lstStyle/>
          <a:p>
            <a:r>
              <a:rPr lang="zh-CN" altLang="en-US" dirty="0" smtClean="0"/>
              <a:t>卷积核</a:t>
            </a:r>
            <a:r>
              <a:rPr lang="en-US" altLang="zh-CN" dirty="0" smtClean="0"/>
              <a:t>1</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2587832693"/>
              </p:ext>
            </p:extLst>
          </p:nvPr>
        </p:nvGraphicFramePr>
        <p:xfrm>
          <a:off x="3966025" y="3396767"/>
          <a:ext cx="1440000" cy="144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gridCol w="180000"/>
                <a:gridCol w="180000"/>
              </a:tblGrid>
              <a:tr h="180000">
                <a:tc>
                  <a:txBody>
                    <a:bodyPr/>
                    <a:lstStyle/>
                    <a:p>
                      <a:endParaRPr lang="zh-CN" altLang="en-US" sz="100" dirty="0">
                        <a:solidFill>
                          <a:schemeClr val="tx1"/>
                        </a:solidFill>
                      </a:endParaRPr>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sp>
        <p:nvSpPr>
          <p:cNvPr id="8" name="文本框 7"/>
          <p:cNvSpPr txBox="1"/>
          <p:nvPr/>
        </p:nvSpPr>
        <p:spPr>
          <a:xfrm>
            <a:off x="4306991" y="4903470"/>
            <a:ext cx="774571" cy="369332"/>
          </a:xfrm>
          <a:prstGeom prst="rect">
            <a:avLst/>
          </a:prstGeom>
          <a:noFill/>
        </p:spPr>
        <p:txBody>
          <a:bodyPr wrap="none" rtlCol="0">
            <a:spAutoFit/>
          </a:bodyPr>
          <a:lstStyle/>
          <a:p>
            <a:r>
              <a:rPr lang="zh-CN" altLang="en-US" dirty="0" smtClean="0"/>
              <a:t>输出</a:t>
            </a:r>
            <a:r>
              <a:rPr lang="en-US" altLang="zh-CN" dirty="0" smtClean="0"/>
              <a:t>1</a:t>
            </a:r>
            <a:endParaRPr lang="zh-CN" altLang="en-US" dirty="0"/>
          </a:p>
        </p:txBody>
      </p:sp>
      <p:sp>
        <p:nvSpPr>
          <p:cNvPr id="9" name="矩形 8"/>
          <p:cNvSpPr/>
          <p:nvPr/>
        </p:nvSpPr>
        <p:spPr>
          <a:xfrm>
            <a:off x="2862888" y="3200400"/>
            <a:ext cx="2669561" cy="20724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flipV="1">
            <a:off x="2548890" y="3800200"/>
            <a:ext cx="434360" cy="316567"/>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3575078" y="3707804"/>
            <a:ext cx="302830" cy="92395"/>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表格 11"/>
          <p:cNvGraphicFramePr>
            <a:graphicFrameLocks noGrp="1"/>
          </p:cNvGraphicFramePr>
          <p:nvPr>
            <p:extLst>
              <p:ext uri="{D42A27DB-BD31-4B8C-83A1-F6EECF244321}">
                <p14:modId xmlns:p14="http://schemas.microsoft.com/office/powerpoint/2010/main" val="1278830037"/>
              </p:ext>
            </p:extLst>
          </p:nvPr>
        </p:nvGraphicFramePr>
        <p:xfrm>
          <a:off x="5792669" y="3919121"/>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793467250"/>
              </p:ext>
            </p:extLst>
          </p:nvPr>
        </p:nvGraphicFramePr>
        <p:xfrm>
          <a:off x="6697829" y="3707804"/>
          <a:ext cx="1080000" cy="1080000"/>
        </p:xfrm>
        <a:graphic>
          <a:graphicData uri="http://schemas.openxmlformats.org/drawingml/2006/table">
            <a:tbl>
              <a:tblPr firstRow="1" bandRow="1">
                <a:tableStyleId>{5940675A-B579-460E-94D1-54222C63F5DA}</a:tableStyleId>
              </a:tblPr>
              <a:tblGrid>
                <a:gridCol w="180000"/>
                <a:gridCol w="180000"/>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cxnSp>
        <p:nvCxnSpPr>
          <p:cNvPr id="14" name="直接箭头连接符 13"/>
          <p:cNvCxnSpPr/>
          <p:nvPr/>
        </p:nvCxnSpPr>
        <p:spPr>
          <a:xfrm flipV="1">
            <a:off x="6356936" y="3952018"/>
            <a:ext cx="308811" cy="16474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5292090" y="3800199"/>
            <a:ext cx="437876" cy="234193"/>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700415" y="3543300"/>
            <a:ext cx="2140874" cy="1729502"/>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660344" y="4903470"/>
            <a:ext cx="1005403" cy="369332"/>
          </a:xfrm>
          <a:prstGeom prst="rect">
            <a:avLst/>
          </a:prstGeom>
          <a:noFill/>
        </p:spPr>
        <p:txBody>
          <a:bodyPr wrap="none" rtlCol="0">
            <a:spAutoFit/>
          </a:bodyPr>
          <a:lstStyle/>
          <a:p>
            <a:r>
              <a:rPr lang="zh-CN" altLang="en-US" dirty="0" smtClean="0"/>
              <a:t>卷积核</a:t>
            </a:r>
            <a:r>
              <a:rPr lang="en-US" altLang="zh-CN" dirty="0"/>
              <a:t>2</a:t>
            </a:r>
            <a:endParaRPr lang="zh-CN" altLang="en-US" dirty="0"/>
          </a:p>
        </p:txBody>
      </p:sp>
      <p:sp>
        <p:nvSpPr>
          <p:cNvPr id="18" name="文本框 17"/>
          <p:cNvSpPr txBox="1"/>
          <p:nvPr/>
        </p:nvSpPr>
        <p:spPr>
          <a:xfrm>
            <a:off x="6781511" y="4892040"/>
            <a:ext cx="774571" cy="369332"/>
          </a:xfrm>
          <a:prstGeom prst="rect">
            <a:avLst/>
          </a:prstGeom>
          <a:noFill/>
        </p:spPr>
        <p:txBody>
          <a:bodyPr wrap="none" rtlCol="0">
            <a:spAutoFit/>
          </a:bodyPr>
          <a:lstStyle/>
          <a:p>
            <a:r>
              <a:rPr lang="zh-CN" altLang="en-US" dirty="0" smtClean="0"/>
              <a:t>输出</a:t>
            </a:r>
            <a:r>
              <a:rPr lang="en-US" altLang="zh-CN" dirty="0" smtClean="0"/>
              <a:t>2</a:t>
            </a:r>
            <a:endParaRPr lang="zh-CN" altLang="en-US" dirty="0"/>
          </a:p>
        </p:txBody>
      </p:sp>
      <p:graphicFrame>
        <p:nvGraphicFramePr>
          <p:cNvPr id="19" name="表格 18"/>
          <p:cNvGraphicFramePr>
            <a:graphicFrameLocks noGrp="1"/>
          </p:cNvGraphicFramePr>
          <p:nvPr>
            <p:extLst>
              <p:ext uri="{D42A27DB-BD31-4B8C-83A1-F6EECF244321}">
                <p14:modId xmlns:p14="http://schemas.microsoft.com/office/powerpoint/2010/main" val="2703367139"/>
              </p:ext>
            </p:extLst>
          </p:nvPr>
        </p:nvGraphicFramePr>
        <p:xfrm>
          <a:off x="8085230" y="4410213"/>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cxnSp>
        <p:nvCxnSpPr>
          <p:cNvPr id="20" name="直接箭头连接符 19"/>
          <p:cNvCxnSpPr/>
          <p:nvPr/>
        </p:nvCxnSpPr>
        <p:spPr>
          <a:xfrm flipV="1">
            <a:off x="8649497" y="4291291"/>
            <a:ext cx="233814" cy="31656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992977" y="4034392"/>
            <a:ext cx="1781254" cy="125777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7935442" y="4922834"/>
            <a:ext cx="1005403" cy="369332"/>
          </a:xfrm>
          <a:prstGeom prst="rect">
            <a:avLst/>
          </a:prstGeom>
          <a:noFill/>
        </p:spPr>
        <p:txBody>
          <a:bodyPr wrap="none" rtlCol="0">
            <a:spAutoFit/>
          </a:bodyPr>
          <a:lstStyle/>
          <a:p>
            <a:r>
              <a:rPr lang="zh-CN" altLang="en-US" dirty="0" smtClean="0"/>
              <a:t>卷积核</a:t>
            </a:r>
            <a:r>
              <a:rPr lang="en-US" altLang="zh-CN" dirty="0" smtClean="0"/>
              <a:t>3</a:t>
            </a:r>
            <a:endParaRPr lang="zh-CN" altLang="en-US" dirty="0"/>
          </a:p>
        </p:txBody>
      </p:sp>
      <p:sp>
        <p:nvSpPr>
          <p:cNvPr id="23" name="文本框 22"/>
          <p:cNvSpPr txBox="1"/>
          <p:nvPr/>
        </p:nvSpPr>
        <p:spPr>
          <a:xfrm>
            <a:off x="8883311" y="4922834"/>
            <a:ext cx="774571" cy="369332"/>
          </a:xfrm>
          <a:prstGeom prst="rect">
            <a:avLst/>
          </a:prstGeom>
          <a:noFill/>
        </p:spPr>
        <p:txBody>
          <a:bodyPr wrap="none" rtlCol="0">
            <a:spAutoFit/>
          </a:bodyPr>
          <a:lstStyle/>
          <a:p>
            <a:r>
              <a:rPr lang="zh-CN" altLang="en-US" dirty="0" smtClean="0"/>
              <a:t>输出</a:t>
            </a:r>
            <a:r>
              <a:rPr lang="en-US" altLang="zh-CN" dirty="0" smtClean="0"/>
              <a:t>3</a:t>
            </a:r>
            <a:endParaRPr lang="zh-CN" altLang="en-US" dirty="0"/>
          </a:p>
        </p:txBody>
      </p:sp>
      <p:cxnSp>
        <p:nvCxnSpPr>
          <p:cNvPr id="24" name="直接箭头连接符 23"/>
          <p:cNvCxnSpPr/>
          <p:nvPr/>
        </p:nvCxnSpPr>
        <p:spPr>
          <a:xfrm>
            <a:off x="7656425" y="4116767"/>
            <a:ext cx="367725" cy="49576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表格 24"/>
          <p:cNvGraphicFramePr>
            <a:graphicFrameLocks noGrp="1"/>
          </p:cNvGraphicFramePr>
          <p:nvPr>
            <p:extLst>
              <p:ext uri="{D42A27DB-BD31-4B8C-83A1-F6EECF244321}">
                <p14:modId xmlns:p14="http://schemas.microsoft.com/office/powerpoint/2010/main" val="1577418857"/>
              </p:ext>
            </p:extLst>
          </p:nvPr>
        </p:nvGraphicFramePr>
        <p:xfrm>
          <a:off x="8923382" y="4229505"/>
          <a:ext cx="720000" cy="720000"/>
        </p:xfrm>
        <a:graphic>
          <a:graphicData uri="http://schemas.openxmlformats.org/drawingml/2006/table">
            <a:tbl>
              <a:tblPr firstRow="1" bandRow="1">
                <a:tableStyleId>{5940675A-B579-460E-94D1-54222C63F5DA}</a:tableStyleId>
              </a:tblPr>
              <a:tblGrid>
                <a:gridCol w="180000"/>
                <a:gridCol w="180000"/>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r>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2223648138"/>
              </p:ext>
            </p:extLst>
          </p:nvPr>
        </p:nvGraphicFramePr>
        <p:xfrm>
          <a:off x="9974282" y="4407263"/>
          <a:ext cx="540000" cy="540000"/>
        </p:xfrm>
        <a:graphic>
          <a:graphicData uri="http://schemas.openxmlformats.org/drawingml/2006/table">
            <a:tbl>
              <a:tblPr firstRow="1" bandRow="1">
                <a:tableStyleId>{5940675A-B579-460E-94D1-54222C63F5DA}</a:tableStyleId>
              </a:tblPr>
              <a:tblGrid>
                <a:gridCol w="180000"/>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sp>
        <p:nvSpPr>
          <p:cNvPr id="27" name="文本框 26"/>
          <p:cNvSpPr txBox="1"/>
          <p:nvPr/>
        </p:nvSpPr>
        <p:spPr>
          <a:xfrm>
            <a:off x="9787862" y="4922834"/>
            <a:ext cx="1005403" cy="369332"/>
          </a:xfrm>
          <a:prstGeom prst="rect">
            <a:avLst/>
          </a:prstGeom>
          <a:noFill/>
        </p:spPr>
        <p:txBody>
          <a:bodyPr wrap="none" rtlCol="0">
            <a:spAutoFit/>
          </a:bodyPr>
          <a:lstStyle/>
          <a:p>
            <a:r>
              <a:rPr lang="zh-CN" altLang="en-US" dirty="0" smtClean="0"/>
              <a:t>卷积核</a:t>
            </a:r>
            <a:r>
              <a:rPr lang="en-US" altLang="zh-CN" dirty="0"/>
              <a:t>4</a:t>
            </a:r>
            <a:endParaRPr lang="zh-CN" altLang="en-US" dirty="0"/>
          </a:p>
        </p:txBody>
      </p:sp>
      <p:graphicFrame>
        <p:nvGraphicFramePr>
          <p:cNvPr id="28" name="表格 27"/>
          <p:cNvGraphicFramePr>
            <a:graphicFrameLocks noGrp="1"/>
          </p:cNvGraphicFramePr>
          <p:nvPr>
            <p:extLst>
              <p:ext uri="{D42A27DB-BD31-4B8C-83A1-F6EECF244321}">
                <p14:modId xmlns:p14="http://schemas.microsoft.com/office/powerpoint/2010/main" val="1443254961"/>
              </p:ext>
            </p:extLst>
          </p:nvPr>
        </p:nvGraphicFramePr>
        <p:xfrm>
          <a:off x="10822909" y="4532040"/>
          <a:ext cx="360000" cy="360000"/>
        </p:xfrm>
        <a:graphic>
          <a:graphicData uri="http://schemas.openxmlformats.org/drawingml/2006/table">
            <a:tbl>
              <a:tblPr firstRow="1" bandRow="1">
                <a:tableStyleId>{5940675A-B579-460E-94D1-54222C63F5DA}</a:tableStyleId>
              </a:tblPr>
              <a:tblGrid>
                <a:gridCol w="180000"/>
                <a:gridCol w="180000"/>
              </a:tblGrid>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r h="180000">
                <a:tc>
                  <a:txBody>
                    <a:bodyPr/>
                    <a:lstStyle/>
                    <a:p>
                      <a:endParaRPr lang="zh-CN" altLang="en-US" sz="100" dirty="0"/>
                    </a:p>
                  </a:txBody>
                  <a:tcPr marL="0" marR="0" marT="0" marB="0">
                    <a:solidFill>
                      <a:schemeClr val="tx1">
                        <a:lumMod val="50000"/>
                        <a:lumOff val="50000"/>
                      </a:schemeClr>
                    </a:solidFill>
                  </a:tcPr>
                </a:tc>
                <a:tc>
                  <a:txBody>
                    <a:bodyPr/>
                    <a:lstStyle/>
                    <a:p>
                      <a:endParaRPr lang="zh-CN" altLang="en-US" sz="100" dirty="0"/>
                    </a:p>
                  </a:txBody>
                  <a:tcPr marL="0" marR="0" marT="0" marB="0">
                    <a:solidFill>
                      <a:schemeClr val="tx1">
                        <a:lumMod val="50000"/>
                        <a:lumOff val="50000"/>
                      </a:schemeClr>
                    </a:solidFill>
                  </a:tcPr>
                </a:tc>
              </a:tr>
            </a:tbl>
          </a:graphicData>
        </a:graphic>
      </p:graphicFrame>
      <p:sp>
        <p:nvSpPr>
          <p:cNvPr id="29" name="文本框 28"/>
          <p:cNvSpPr txBox="1"/>
          <p:nvPr/>
        </p:nvSpPr>
        <p:spPr>
          <a:xfrm>
            <a:off x="10695169" y="4922834"/>
            <a:ext cx="774571" cy="369332"/>
          </a:xfrm>
          <a:prstGeom prst="rect">
            <a:avLst/>
          </a:prstGeom>
          <a:noFill/>
        </p:spPr>
        <p:txBody>
          <a:bodyPr wrap="none" rtlCol="0">
            <a:spAutoFit/>
          </a:bodyPr>
          <a:lstStyle/>
          <a:p>
            <a:r>
              <a:rPr lang="zh-CN" altLang="en-US" dirty="0" smtClean="0"/>
              <a:t>输出</a:t>
            </a:r>
            <a:r>
              <a:rPr lang="en-US" altLang="zh-CN" dirty="0"/>
              <a:t>4</a:t>
            </a:r>
            <a:endParaRPr lang="zh-CN" altLang="en-US" dirty="0"/>
          </a:p>
        </p:txBody>
      </p:sp>
      <p:sp>
        <p:nvSpPr>
          <p:cNvPr id="30" name="矩形 29"/>
          <p:cNvSpPr/>
          <p:nvPr/>
        </p:nvSpPr>
        <p:spPr>
          <a:xfrm>
            <a:off x="9854998" y="4291290"/>
            <a:ext cx="1614742" cy="100087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箭头连接符 30"/>
          <p:cNvCxnSpPr>
            <a:endCxn id="26" idx="1"/>
          </p:cNvCxnSpPr>
          <p:nvPr/>
        </p:nvCxnSpPr>
        <p:spPr>
          <a:xfrm>
            <a:off x="9510506" y="4368207"/>
            <a:ext cx="463776" cy="309056"/>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V="1">
            <a:off x="10543255" y="4607859"/>
            <a:ext cx="250010" cy="13998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表格 32"/>
          <p:cNvGraphicFramePr>
            <a:graphicFrameLocks noGrp="1"/>
          </p:cNvGraphicFramePr>
          <p:nvPr>
            <p:extLst>
              <p:ext uri="{D42A27DB-BD31-4B8C-83A1-F6EECF244321}">
                <p14:modId xmlns:p14="http://schemas.microsoft.com/office/powerpoint/2010/main" val="894898227"/>
              </p:ext>
            </p:extLst>
          </p:nvPr>
        </p:nvGraphicFramePr>
        <p:xfrm>
          <a:off x="10110563" y="3648894"/>
          <a:ext cx="360000" cy="360000"/>
        </p:xfrm>
        <a:graphic>
          <a:graphicData uri="http://schemas.openxmlformats.org/drawingml/2006/table">
            <a:tbl>
              <a:tblPr firstRow="1" bandRow="1">
                <a:tableStyleId>{5940675A-B579-460E-94D1-54222C63F5DA}</a:tableStyleId>
              </a:tblPr>
              <a:tblGrid>
                <a:gridCol w="180000"/>
                <a:gridCol w="180000"/>
              </a:tblGrid>
              <a:tr h="180000">
                <a:tc>
                  <a:txBody>
                    <a:bodyPr/>
                    <a:lstStyle/>
                    <a:p>
                      <a:endParaRPr lang="zh-CN" altLang="en-US" sz="100" dirty="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r h="180000">
                <a:tc>
                  <a:txBody>
                    <a:bodyPr/>
                    <a:lstStyle/>
                    <a:p>
                      <a:endParaRPr lang="zh-CN" altLang="en-US" sz="100"/>
                    </a:p>
                  </a:txBody>
                  <a:tcPr marL="0" marR="0" marT="0" marB="0">
                    <a:solidFill>
                      <a:schemeClr val="bg1">
                        <a:lumMod val="85000"/>
                      </a:schemeClr>
                    </a:solidFill>
                  </a:tcPr>
                </a:tc>
                <a:tc>
                  <a:txBody>
                    <a:bodyPr/>
                    <a:lstStyle/>
                    <a:p>
                      <a:endParaRPr lang="zh-CN" altLang="en-US" sz="100" dirty="0"/>
                    </a:p>
                  </a:txBody>
                  <a:tcPr marL="0" marR="0" marT="0" marB="0">
                    <a:solidFill>
                      <a:schemeClr val="bg1">
                        <a:lumMod val="85000"/>
                      </a:schemeClr>
                    </a:solidFill>
                  </a:tcPr>
                </a:tc>
              </a:tr>
            </a:tbl>
          </a:graphicData>
        </a:graphic>
      </p:graphicFrame>
      <p:graphicFrame>
        <p:nvGraphicFramePr>
          <p:cNvPr id="36" name="表格 35"/>
          <p:cNvGraphicFramePr>
            <a:graphicFrameLocks noGrp="1"/>
          </p:cNvGraphicFramePr>
          <p:nvPr>
            <p:extLst>
              <p:ext uri="{D42A27DB-BD31-4B8C-83A1-F6EECF244321}">
                <p14:modId xmlns:p14="http://schemas.microsoft.com/office/powerpoint/2010/main" val="2447164856"/>
              </p:ext>
            </p:extLst>
          </p:nvPr>
        </p:nvGraphicFramePr>
        <p:xfrm>
          <a:off x="10976145" y="3733544"/>
          <a:ext cx="180000" cy="180000"/>
        </p:xfrm>
        <a:graphic>
          <a:graphicData uri="http://schemas.openxmlformats.org/drawingml/2006/table">
            <a:tbl>
              <a:tblPr firstRow="1" bandRow="1">
                <a:tableStyleId>{5940675A-B579-460E-94D1-54222C63F5DA}</a:tableStyleId>
              </a:tblPr>
              <a:tblGrid>
                <a:gridCol w="180000"/>
              </a:tblGrid>
              <a:tr h="180000">
                <a:tc>
                  <a:txBody>
                    <a:bodyPr/>
                    <a:lstStyle/>
                    <a:p>
                      <a:endParaRPr lang="zh-CN" altLang="en-US" sz="100" dirty="0"/>
                    </a:p>
                  </a:txBody>
                  <a:tcPr marL="0" marR="0" marT="0" marB="0">
                    <a:solidFill>
                      <a:schemeClr val="tx1">
                        <a:lumMod val="50000"/>
                        <a:lumOff val="50000"/>
                      </a:schemeClr>
                    </a:solidFill>
                  </a:tcPr>
                </a:tc>
              </a:tr>
            </a:tbl>
          </a:graphicData>
        </a:graphic>
      </p:graphicFrame>
      <p:sp>
        <p:nvSpPr>
          <p:cNvPr id="37" name="文本框 36"/>
          <p:cNvSpPr txBox="1"/>
          <p:nvPr/>
        </p:nvSpPr>
        <p:spPr>
          <a:xfrm>
            <a:off x="9844988" y="3171914"/>
            <a:ext cx="1005403" cy="369332"/>
          </a:xfrm>
          <a:prstGeom prst="rect">
            <a:avLst/>
          </a:prstGeom>
          <a:noFill/>
        </p:spPr>
        <p:txBody>
          <a:bodyPr wrap="none" rtlCol="0">
            <a:spAutoFit/>
          </a:bodyPr>
          <a:lstStyle/>
          <a:p>
            <a:r>
              <a:rPr lang="zh-CN" altLang="en-US" dirty="0" smtClean="0"/>
              <a:t>池化核</a:t>
            </a:r>
            <a:r>
              <a:rPr lang="en-US" altLang="zh-CN" dirty="0" smtClean="0"/>
              <a:t>5</a:t>
            </a:r>
            <a:endParaRPr lang="zh-CN" altLang="en-US" dirty="0"/>
          </a:p>
        </p:txBody>
      </p:sp>
      <p:sp>
        <p:nvSpPr>
          <p:cNvPr id="38" name="文本框 37"/>
          <p:cNvSpPr txBox="1"/>
          <p:nvPr/>
        </p:nvSpPr>
        <p:spPr>
          <a:xfrm>
            <a:off x="10745917" y="3171913"/>
            <a:ext cx="774571" cy="369332"/>
          </a:xfrm>
          <a:prstGeom prst="rect">
            <a:avLst/>
          </a:prstGeom>
          <a:noFill/>
        </p:spPr>
        <p:txBody>
          <a:bodyPr wrap="none" rtlCol="0">
            <a:spAutoFit/>
          </a:bodyPr>
          <a:lstStyle/>
          <a:p>
            <a:r>
              <a:rPr lang="zh-CN" altLang="en-US" dirty="0" smtClean="0"/>
              <a:t>输出</a:t>
            </a:r>
            <a:r>
              <a:rPr lang="en-US" altLang="zh-CN" dirty="0" smtClean="0"/>
              <a:t>5</a:t>
            </a:r>
            <a:endParaRPr lang="zh-CN" altLang="en-US" dirty="0"/>
          </a:p>
        </p:txBody>
      </p:sp>
      <p:sp>
        <p:nvSpPr>
          <p:cNvPr id="39" name="矩形 38"/>
          <p:cNvSpPr/>
          <p:nvPr/>
        </p:nvSpPr>
        <p:spPr>
          <a:xfrm>
            <a:off x="9844988" y="3207366"/>
            <a:ext cx="1614742" cy="100087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p:cNvCxnSpPr/>
          <p:nvPr/>
        </p:nvCxnSpPr>
        <p:spPr>
          <a:xfrm flipH="1" flipV="1">
            <a:off x="10543255" y="3952018"/>
            <a:ext cx="305385" cy="537339"/>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10525534" y="3799737"/>
            <a:ext cx="339269" cy="49014"/>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5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smtClean="0"/>
              <a:t>感受野的推导是一个递推的过程：</a:t>
            </a:r>
            <a:endParaRPr lang="en-US" altLang="zh-CN" dirty="0" smtClean="0"/>
          </a:p>
          <a:p>
            <a:pPr lvl="1"/>
            <a:r>
              <a:rPr lang="en-US" altLang="zh-CN" dirty="0" smtClean="0"/>
              <a:t>RF1 = 3   = k1</a:t>
            </a:r>
            <a:r>
              <a:rPr lang="zh-CN" altLang="en-US" dirty="0" smtClean="0"/>
              <a:t>（第一层的感受野，永远等于第一个卷积核的尺寸大小） </a:t>
            </a:r>
            <a:r>
              <a:rPr lang="en-US" altLang="zh-CN" dirty="0" err="1" smtClean="0"/>
              <a:t>kn</a:t>
            </a:r>
            <a:r>
              <a:rPr lang="zh-CN" altLang="en-US" dirty="0" smtClean="0"/>
              <a:t>表示第</a:t>
            </a:r>
            <a:r>
              <a:rPr lang="en-US" altLang="zh-CN" dirty="0"/>
              <a:t>n</a:t>
            </a:r>
            <a:r>
              <a:rPr lang="zh-CN" altLang="en-US" dirty="0" smtClean="0"/>
              <a:t>层（卷积</a:t>
            </a:r>
            <a:r>
              <a:rPr lang="en-US" altLang="zh-CN" dirty="0" smtClean="0"/>
              <a:t>/</a:t>
            </a:r>
            <a:r>
              <a:rPr lang="zh-CN" altLang="en-US" dirty="0" smtClean="0"/>
              <a:t>池化层）的核大小</a:t>
            </a:r>
            <a:endParaRPr lang="en-US" altLang="zh-CN" dirty="0" smtClean="0"/>
          </a:p>
          <a:p>
            <a:pPr lvl="1"/>
            <a:r>
              <a:rPr lang="en-US" altLang="zh-CN" dirty="0" smtClean="0"/>
              <a:t>RF2 = 5   = k1 + (k2 - 1)                                                    = RF1 + (k2 - 1)</a:t>
            </a:r>
          </a:p>
          <a:p>
            <a:pPr lvl="1"/>
            <a:r>
              <a:rPr lang="en-US" altLang="zh-CN" dirty="0" smtClean="0"/>
              <a:t>RF3 = 7   = </a:t>
            </a:r>
            <a:r>
              <a:rPr lang="en-US" altLang="zh-CN" dirty="0"/>
              <a:t>k1 + (k2 - 1) </a:t>
            </a:r>
            <a:r>
              <a:rPr lang="en-US" altLang="zh-CN" dirty="0" smtClean="0"/>
              <a:t>+ (k3 - 1)                                     = RF2 + (k3 - 1)</a:t>
            </a:r>
          </a:p>
          <a:p>
            <a:pPr lvl="1"/>
            <a:r>
              <a:rPr lang="en-US" altLang="zh-CN" dirty="0" smtClean="0"/>
              <a:t>RF4 = 9   = k1 + (k2 - 1) + (k3 - 1) + (k4 - 1)                      = RF3 + (k4 - 1)</a:t>
            </a:r>
          </a:p>
          <a:p>
            <a:pPr lvl="1"/>
            <a:r>
              <a:rPr lang="en-US" altLang="zh-CN" dirty="0" smtClean="0"/>
              <a:t>RF5 = 10 = </a:t>
            </a:r>
            <a:r>
              <a:rPr lang="en-US" altLang="zh-CN" dirty="0"/>
              <a:t>k1 + (k2 - 1) + (k3 - 1) + (k4 - 1) </a:t>
            </a:r>
            <a:r>
              <a:rPr lang="en-US" altLang="zh-CN" dirty="0" smtClean="0"/>
              <a:t>+ (k5 - 1)       = RF4 + (k5 - 1)</a:t>
            </a:r>
          </a:p>
          <a:p>
            <a:r>
              <a:rPr lang="zh-CN" altLang="en-US" dirty="0" smtClean="0"/>
              <a:t>当每一次卷积运算步长不为</a:t>
            </a:r>
            <a:r>
              <a:rPr lang="en-US" altLang="zh-CN" dirty="0" smtClean="0"/>
              <a:t>1</a:t>
            </a:r>
            <a:r>
              <a:rPr lang="zh-CN" altLang="en-US" dirty="0" smtClean="0"/>
              <a:t>时，感受野递推公式：</a:t>
            </a:r>
            <a:endParaRPr lang="en-US" altLang="zh-CN" dirty="0" smtClean="0"/>
          </a:p>
          <a:p>
            <a:pPr lvl="1"/>
            <a:r>
              <a:rPr lang="en-US" altLang="zh-CN" dirty="0" err="1"/>
              <a:t>RF</a:t>
            </a:r>
            <a:r>
              <a:rPr lang="en-US" altLang="zh-CN" baseline="-25000" dirty="0" err="1"/>
              <a:t>n</a:t>
            </a:r>
            <a:r>
              <a:rPr lang="en-US" altLang="zh-CN" dirty="0"/>
              <a:t> = RF</a:t>
            </a:r>
            <a:r>
              <a:rPr lang="en-US" altLang="zh-CN" baseline="-25000" dirty="0"/>
              <a:t>n-1</a:t>
            </a:r>
            <a:r>
              <a:rPr lang="en-US" altLang="zh-CN" dirty="0"/>
              <a:t> + (k</a:t>
            </a:r>
            <a:r>
              <a:rPr lang="en-US" altLang="zh-CN" baseline="-25000" dirty="0"/>
              <a:t>n</a:t>
            </a:r>
            <a:r>
              <a:rPr lang="en-US" altLang="zh-CN" dirty="0"/>
              <a:t>-1) × </a:t>
            </a:r>
            <a:r>
              <a:rPr lang="en-US" altLang="zh-CN" dirty="0" err="1"/>
              <a:t>stride</a:t>
            </a:r>
            <a:r>
              <a:rPr lang="en-US" altLang="zh-CN" baseline="-25000" dirty="0" err="1"/>
              <a:t>n</a:t>
            </a:r>
            <a:endParaRPr lang="en-US" altLang="zh-CN" baseline="-25000" dirty="0"/>
          </a:p>
          <a:p>
            <a:pPr lvl="1"/>
            <a:r>
              <a:rPr lang="en-US" altLang="zh-CN" dirty="0" err="1"/>
              <a:t>s</a:t>
            </a:r>
            <a:r>
              <a:rPr lang="en-US" altLang="zh-CN" dirty="0" err="1" smtClean="0"/>
              <a:t>tride</a:t>
            </a:r>
            <a:r>
              <a:rPr lang="en-US" altLang="zh-CN" baseline="-25000" dirty="0" err="1" smtClean="0"/>
              <a:t>n</a:t>
            </a:r>
            <a:r>
              <a:rPr lang="zh-CN" altLang="en-US" dirty="0" smtClean="0"/>
              <a:t>表示第</a:t>
            </a:r>
            <a:r>
              <a:rPr lang="en-US" altLang="zh-CN" dirty="0"/>
              <a:t>n</a:t>
            </a:r>
            <a:r>
              <a:rPr lang="zh-CN" altLang="en-US" dirty="0"/>
              <a:t>次卷积的移动</a:t>
            </a:r>
            <a:r>
              <a:rPr lang="zh-CN" altLang="en-US" dirty="0" smtClean="0"/>
              <a:t>步长</a:t>
            </a:r>
            <a:endParaRPr lang="en-US" altLang="zh-CN" dirty="0" smtClean="0"/>
          </a:p>
          <a:p>
            <a:pPr lvl="1"/>
            <a:r>
              <a:rPr lang="zh-CN" altLang="en-US" dirty="0" smtClean="0"/>
              <a:t>求解过程同样从</a:t>
            </a:r>
            <a:r>
              <a:rPr lang="en-US" altLang="zh-CN" dirty="0" smtClean="0"/>
              <a:t>RF1</a:t>
            </a:r>
            <a:r>
              <a:rPr lang="zh-CN" altLang="en-US" dirty="0" smtClean="0"/>
              <a:t>开始</a:t>
            </a:r>
            <a:endParaRPr lang="en-US" altLang="zh-CN" dirty="0" smtClean="0"/>
          </a:p>
          <a:p>
            <a:r>
              <a:rPr lang="zh-CN" altLang="en-US" dirty="0" smtClean="0"/>
              <a:t>有填充（</a:t>
            </a:r>
            <a:r>
              <a:rPr lang="en-US" altLang="zh-CN" dirty="0" smtClean="0"/>
              <a:t>padding</a:t>
            </a:r>
            <a:r>
              <a:rPr lang="zh-CN" altLang="en-US" dirty="0" smtClean="0"/>
              <a:t>）的情况：</a:t>
            </a:r>
            <a:endParaRPr lang="en-US" altLang="zh-CN" dirty="0" smtClean="0"/>
          </a:p>
          <a:p>
            <a:pPr lvl="1"/>
            <a:r>
              <a:rPr lang="en-US" altLang="zh-CN" dirty="0">
                <a:hlinkClick r:id="rId3"/>
              </a:rPr>
              <a:t>https://distill.pub/2019/computing-receptive-fields/</a:t>
            </a:r>
            <a:endParaRPr lang="en-US" altLang="zh-CN" dirty="0"/>
          </a:p>
          <a:p>
            <a:pPr lvl="1"/>
            <a:endParaRPr lang="zh-CN" altLang="en-US" dirty="0"/>
          </a:p>
        </p:txBody>
      </p:sp>
    </p:spTree>
    <p:extLst>
      <p:ext uri="{BB962C8B-B14F-4D97-AF65-F5344CB8AC3E}">
        <p14:creationId xmlns:p14="http://schemas.microsoft.com/office/powerpoint/2010/main" val="2824520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5784144" y="1440180"/>
            <a:ext cx="5736345" cy="4697094"/>
          </a:xfrm>
          <a:prstGeom prst="rect">
            <a:avLst/>
          </a:prstGeom>
        </p:spPr>
      </p:pic>
      <p:sp>
        <p:nvSpPr>
          <p:cNvPr id="2" name="标题 1"/>
          <p:cNvSpPr>
            <a:spLocks noGrp="1"/>
          </p:cNvSpPr>
          <p:nvPr>
            <p:ph type="title"/>
          </p:nvPr>
        </p:nvSpPr>
        <p:spPr/>
        <p:txBody>
          <a:bodyPr/>
          <a:lstStyle/>
          <a:p>
            <a:r>
              <a:rPr lang="zh-CN" altLang="en-US" dirty="0" smtClean="0"/>
              <a:t>感受野</a:t>
            </a:r>
            <a:endParaRPr lang="zh-CN" altLang="en-US" dirty="0"/>
          </a:p>
        </p:txBody>
      </p:sp>
      <p:sp>
        <p:nvSpPr>
          <p:cNvPr id="3" name="内容占位符 2"/>
          <p:cNvSpPr>
            <a:spLocks noGrp="1"/>
          </p:cNvSpPr>
          <p:nvPr>
            <p:ph sz="quarter" idx="13"/>
          </p:nvPr>
        </p:nvSpPr>
        <p:spPr/>
        <p:txBody>
          <a:bodyPr/>
          <a:lstStyle/>
          <a:p>
            <a:r>
              <a:rPr lang="zh-CN" altLang="en-US" dirty="0" smtClean="0"/>
              <a:t>在线模拟计算感受野：</a:t>
            </a:r>
            <a:endParaRPr lang="en-US" altLang="zh-CN" dirty="0"/>
          </a:p>
          <a:p>
            <a:pPr lvl="1"/>
            <a:r>
              <a:rPr lang="en-US" altLang="zh-CN" dirty="0">
                <a:hlinkClick r:id="rId4"/>
              </a:rPr>
              <a:t>https://distill.pub/2019/computing-receptive-fields</a:t>
            </a:r>
            <a:r>
              <a:rPr lang="en-US" altLang="zh-CN" dirty="0" smtClean="0">
                <a:hlinkClick r:id="rId4"/>
              </a:rPr>
              <a:t>/</a:t>
            </a:r>
            <a:endParaRPr lang="en-US" altLang="zh-CN" dirty="0" smtClean="0"/>
          </a:p>
          <a:p>
            <a:r>
              <a:rPr lang="zh-CN" altLang="en-US" dirty="0" smtClean="0"/>
              <a:t>感受野与特征图：</a:t>
            </a:r>
            <a:endParaRPr lang="en-US" altLang="zh-CN" dirty="0" smtClean="0"/>
          </a:p>
          <a:p>
            <a:pPr lvl="1"/>
            <a:r>
              <a:rPr lang="zh-CN" altLang="en-US" dirty="0" smtClean="0"/>
              <a:t>深层网络特征图尺寸较小，感受野较大</a:t>
            </a:r>
            <a:endParaRPr lang="en-US" altLang="zh-CN" dirty="0" smtClean="0"/>
          </a:p>
          <a:p>
            <a:pPr lvl="1"/>
            <a:r>
              <a:rPr lang="zh-CN" altLang="en-US" dirty="0" smtClean="0"/>
              <a:t>浅层网络特征图尺寸较大，感受野较小</a:t>
            </a:r>
            <a:endParaRPr lang="en-US" altLang="zh-CN" dirty="0"/>
          </a:p>
          <a:p>
            <a:pPr lvl="1"/>
            <a:r>
              <a:rPr lang="zh-CN" altLang="en-US" dirty="0" smtClean="0"/>
              <a:t>结合浅层特征与深层特征检测不同大小的目标</a:t>
            </a:r>
            <a:endParaRPr lang="zh-CN" altLang="en-US" dirty="0"/>
          </a:p>
        </p:txBody>
      </p:sp>
    </p:spTree>
    <p:extLst>
      <p:ext uri="{BB962C8B-B14F-4D97-AF65-F5344CB8AC3E}">
        <p14:creationId xmlns:p14="http://schemas.microsoft.com/office/powerpoint/2010/main" val="2048953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空洞卷积</a:t>
            </a:r>
            <a:endParaRPr lang="zh-CN" altLang="en-US" dirty="0"/>
          </a:p>
        </p:txBody>
      </p:sp>
      <p:sp>
        <p:nvSpPr>
          <p:cNvPr id="3" name="内容占位符 2"/>
          <p:cNvSpPr>
            <a:spLocks noGrp="1"/>
          </p:cNvSpPr>
          <p:nvPr>
            <p:ph sz="quarter" idx="13"/>
          </p:nvPr>
        </p:nvSpPr>
        <p:spPr/>
        <p:txBody>
          <a:bodyPr/>
          <a:lstStyle/>
          <a:p>
            <a:r>
              <a:rPr lang="zh-CN" altLang="en-US" dirty="0" smtClean="0"/>
              <a:t>空洞卷积（</a:t>
            </a:r>
            <a:r>
              <a:rPr lang="en-US" altLang="zh-CN" dirty="0" smtClean="0"/>
              <a:t>Dilated/</a:t>
            </a:r>
            <a:r>
              <a:rPr lang="en-US" altLang="zh-CN" dirty="0" err="1" smtClean="0"/>
              <a:t>Atrous</a:t>
            </a:r>
            <a:r>
              <a:rPr lang="en-US" altLang="zh-CN" dirty="0" smtClean="0"/>
              <a:t> Convolution,</a:t>
            </a:r>
            <a:r>
              <a:rPr lang="zh-CN" altLang="en-US" dirty="0" smtClean="0"/>
              <a:t>也称膨胀卷积）</a:t>
            </a:r>
            <a:r>
              <a:rPr lang="en-US" altLang="zh-CN" dirty="0" smtClean="0"/>
              <a:t>:</a:t>
            </a:r>
          </a:p>
          <a:p>
            <a:pPr lvl="1"/>
            <a:r>
              <a:rPr lang="zh-CN" altLang="en-US" dirty="0" smtClean="0"/>
              <a:t>增加感受野的同时保持特征图不变</a:t>
            </a:r>
            <a:endParaRPr lang="en-US" altLang="zh-CN" dirty="0" smtClean="0"/>
          </a:p>
          <a:p>
            <a:pPr lvl="1"/>
            <a:r>
              <a:rPr lang="zh-CN" altLang="en-US" dirty="0" smtClean="0"/>
              <a:t>增加超参数扩张率（</a:t>
            </a:r>
            <a:r>
              <a:rPr lang="en-US" altLang="zh-CN" dirty="0" smtClean="0"/>
              <a:t>dilation rate</a:t>
            </a:r>
            <a:r>
              <a:rPr lang="zh-CN" altLang="en-US" dirty="0" smtClean="0"/>
              <a:t>），定义卷积核处理数据时各值的间距</a:t>
            </a:r>
            <a:endParaRPr lang="en-US" altLang="zh-CN" dirty="0" smtClean="0"/>
          </a:p>
          <a:p>
            <a:pPr lvl="1"/>
            <a:r>
              <a:rPr lang="zh-CN" altLang="en-US" dirty="0" smtClean="0"/>
              <a:t>普通卷积操作扩张率为</a:t>
            </a:r>
            <a:r>
              <a:rPr lang="en-US" altLang="zh-CN" dirty="0" smtClean="0"/>
              <a:t>1</a:t>
            </a:r>
            <a:r>
              <a:rPr lang="zh-CN" altLang="en-US" dirty="0" smtClean="0"/>
              <a:t>，如下左图</a:t>
            </a:r>
            <a:endParaRPr lang="en-US" altLang="zh-CN" dirty="0" smtClean="0"/>
          </a:p>
          <a:p>
            <a:pPr lvl="1"/>
            <a:r>
              <a:rPr lang="zh-CN" altLang="en-US" dirty="0" smtClean="0"/>
              <a:t>扩张率为</a:t>
            </a:r>
            <a:r>
              <a:rPr lang="en-US" altLang="zh-CN" dirty="0" smtClean="0"/>
              <a:t>2</a:t>
            </a:r>
            <a:r>
              <a:rPr lang="zh-CN" altLang="en-US" dirty="0" smtClean="0"/>
              <a:t>（下中图）与扩张率为</a:t>
            </a:r>
            <a:r>
              <a:rPr lang="en-US" altLang="zh-CN" dirty="0" smtClean="0"/>
              <a:t>4</a:t>
            </a:r>
            <a:r>
              <a:rPr lang="zh-CN" altLang="en-US" dirty="0" smtClean="0"/>
              <a:t>（下右图）</a:t>
            </a:r>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8623" y="3052784"/>
            <a:ext cx="9073166" cy="3084490"/>
          </a:xfrm>
          <a:prstGeom prst="rect">
            <a:avLst/>
          </a:prstGeom>
        </p:spPr>
      </p:pic>
    </p:spTree>
    <p:extLst>
      <p:ext uri="{BB962C8B-B14F-4D97-AF65-F5344CB8AC3E}">
        <p14:creationId xmlns:p14="http://schemas.microsoft.com/office/powerpoint/2010/main" val="2586273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空洞卷积</a:t>
            </a:r>
            <a:endParaRPr lang="zh-CN" altLang="en-US" dirty="0"/>
          </a:p>
        </p:txBody>
      </p:sp>
      <p:sp>
        <p:nvSpPr>
          <p:cNvPr id="3" name="内容占位符 2"/>
          <p:cNvSpPr>
            <a:spLocks noGrp="1"/>
          </p:cNvSpPr>
          <p:nvPr>
            <p:ph sz="quarter" idx="13"/>
          </p:nvPr>
        </p:nvSpPr>
        <p:spPr/>
        <p:txBody>
          <a:bodyPr/>
          <a:lstStyle/>
          <a:p>
            <a:r>
              <a:rPr lang="zh-CN" altLang="en-US" dirty="0" smtClean="0"/>
              <a:t>空洞卷积有如下两个作用：</a:t>
            </a:r>
            <a:endParaRPr lang="en-US" altLang="zh-CN" dirty="0" smtClean="0"/>
          </a:p>
          <a:p>
            <a:pPr lvl="1"/>
            <a:r>
              <a:rPr lang="zh-CN" altLang="en-US" dirty="0" smtClean="0"/>
              <a:t>扩大感受野</a:t>
            </a:r>
            <a:endParaRPr lang="en-US" altLang="zh-CN" dirty="0" smtClean="0"/>
          </a:p>
          <a:p>
            <a:pPr lvl="2"/>
            <a:r>
              <a:rPr lang="zh-CN" altLang="en-US" dirty="0"/>
              <a:t>不</a:t>
            </a:r>
            <a:r>
              <a:rPr lang="zh-CN" altLang="en-US" dirty="0" smtClean="0"/>
              <a:t>丢失分辨率情况下扩大感受野</a:t>
            </a:r>
            <a:endParaRPr lang="en-US" altLang="zh-CN" dirty="0" smtClean="0"/>
          </a:p>
          <a:p>
            <a:pPr lvl="2"/>
            <a:r>
              <a:rPr lang="zh-CN" altLang="en-US" dirty="0" smtClean="0"/>
              <a:t>检测大目标</a:t>
            </a:r>
            <a:endParaRPr lang="en-US" altLang="zh-CN" dirty="0" smtClean="0"/>
          </a:p>
          <a:p>
            <a:pPr lvl="2"/>
            <a:r>
              <a:rPr lang="zh-CN" altLang="en-US" dirty="0" smtClean="0"/>
              <a:t>精确定位目标</a:t>
            </a:r>
            <a:endParaRPr lang="en-US" altLang="zh-CN" dirty="0" smtClean="0"/>
          </a:p>
          <a:p>
            <a:pPr lvl="1"/>
            <a:r>
              <a:rPr lang="zh-CN" altLang="en-US" dirty="0" smtClean="0"/>
              <a:t>捕获多尺度上下文信息</a:t>
            </a:r>
            <a:endParaRPr lang="en-US" altLang="zh-CN" dirty="0" smtClean="0"/>
          </a:p>
          <a:p>
            <a:pPr lvl="2"/>
            <a:r>
              <a:rPr lang="zh-CN" altLang="en-US" dirty="0" smtClean="0"/>
              <a:t>设置不同扩张率获得多尺度信息</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9403" y="1819273"/>
            <a:ext cx="3762375" cy="3629025"/>
          </a:xfrm>
          <a:prstGeom prst="rect">
            <a:avLst/>
          </a:prstGeom>
        </p:spPr>
      </p:pic>
    </p:spTree>
    <p:extLst>
      <p:ext uri="{BB962C8B-B14F-4D97-AF65-F5344CB8AC3E}">
        <p14:creationId xmlns:p14="http://schemas.microsoft.com/office/powerpoint/2010/main" val="32129544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准确率</a:t>
                </a:r>
                <a:r>
                  <a:rPr lang="en-US" altLang="zh-CN" dirty="0" smtClean="0"/>
                  <a:t>accuracy</a:t>
                </a:r>
                <a:r>
                  <a:rPr lang="zh-CN" altLang="en-US" dirty="0" smtClean="0"/>
                  <a:t>：</a:t>
                </a:r>
                <a14:m>
                  <m:oMath xmlns:m="http://schemas.openxmlformats.org/officeDocument/2006/math">
                    <m:r>
                      <a:rPr lang="en-US" altLang="zh-CN" i="1" dirty="0" smtClean="0">
                        <a:latin typeface="Cambria Math" panose="02040503050406030204" pitchFamily="18" charset="0"/>
                      </a:rPr>
                      <m:t>𝑎𝑐𝑐𝑢𝑟𝑎𝑐𝑦</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zh-CN" altLang="en-US" i="1" dirty="0">
                            <a:latin typeface="Cambria Math" panose="02040503050406030204" pitchFamily="18" charset="0"/>
                          </a:rPr>
                          <m:t>预测</m:t>
                        </m:r>
                        <m:r>
                          <a:rPr lang="zh-CN" altLang="en-US" i="1" dirty="0" smtClean="0">
                            <a:latin typeface="Cambria Math" panose="02040503050406030204" pitchFamily="18" charset="0"/>
                          </a:rPr>
                          <m:t>标签</m:t>
                        </m:r>
                        <m:r>
                          <a:rPr lang="zh-CN" altLang="en-US" i="1" dirty="0">
                            <a:latin typeface="Cambria Math" panose="02040503050406030204" pitchFamily="18" charset="0"/>
                          </a:rPr>
                          <m:t>与</m:t>
                        </m:r>
                        <m:r>
                          <a:rPr lang="zh-CN" altLang="en-US" i="1" dirty="0" smtClean="0">
                            <a:latin typeface="Cambria Math" panose="02040503050406030204" pitchFamily="18" charset="0"/>
                          </a:rPr>
                          <m:t>真实</m:t>
                        </m:r>
                        <m:r>
                          <a:rPr lang="zh-CN" altLang="en-US" i="1" dirty="0">
                            <a:latin typeface="Cambria Math" panose="02040503050406030204" pitchFamily="18" charset="0"/>
                          </a:rPr>
                          <m:t>标签</m:t>
                        </m:r>
                        <m:r>
                          <a:rPr lang="zh-CN" altLang="en-US" i="1" dirty="0" smtClean="0">
                            <a:latin typeface="Cambria Math" panose="02040503050406030204" pitchFamily="18" charset="0"/>
                          </a:rPr>
                          <m:t>相同</m:t>
                        </m:r>
                        <m:r>
                          <a:rPr lang="zh-CN" altLang="en-US" i="1" dirty="0">
                            <a:latin typeface="Cambria Math" panose="02040503050406030204" pitchFamily="18" charset="0"/>
                          </a:rPr>
                          <m:t>的</m:t>
                        </m:r>
                        <m:r>
                          <a:rPr lang="zh-CN" altLang="en-US" i="1" dirty="0" smtClean="0">
                            <a:latin typeface="Cambria Math" panose="02040503050406030204" pitchFamily="18" charset="0"/>
                          </a:rPr>
                          <m:t>数量</m:t>
                        </m:r>
                      </m:num>
                      <m:den>
                        <m:r>
                          <a:rPr lang="zh-CN" altLang="en-US" i="1" dirty="0">
                            <a:latin typeface="Cambria Math" panose="02040503050406030204" pitchFamily="18" charset="0"/>
                          </a:rPr>
                          <m:t>总的</m:t>
                        </m:r>
                        <m:r>
                          <a:rPr lang="zh-CN" altLang="en-US" i="1" dirty="0" smtClean="0">
                            <a:latin typeface="Cambria Math" panose="02040503050406030204" pitchFamily="18" charset="0"/>
                          </a:rPr>
                          <m:t>预测</m:t>
                        </m:r>
                        <m:r>
                          <a:rPr lang="zh-CN" altLang="en-US" i="1" dirty="0">
                            <a:latin typeface="Cambria Math" panose="02040503050406030204" pitchFamily="18" charset="0"/>
                          </a:rPr>
                          <m:t>数据集</m:t>
                        </m:r>
                        <m:r>
                          <a:rPr lang="zh-CN" altLang="en-US" i="1" dirty="0" smtClean="0">
                            <a:latin typeface="Cambria Math" panose="02040503050406030204" pitchFamily="18" charset="0"/>
                          </a:rPr>
                          <m:t>数量</m:t>
                        </m:r>
                      </m:den>
                    </m:f>
                  </m:oMath>
                </a14:m>
                <a:endParaRPr lang="en-US" altLang="zh-CN" dirty="0" smtClean="0"/>
              </a:p>
              <a:p>
                <a:pPr lvl="1"/>
                <a:r>
                  <a:rPr lang="zh-CN" altLang="en-US" dirty="0" smtClean="0"/>
                  <a:t>简单直观</a:t>
                </a:r>
                <a:endParaRPr lang="en-US" altLang="zh-CN" dirty="0" smtClean="0"/>
              </a:p>
              <a:p>
                <a:pPr lvl="1"/>
                <a:r>
                  <a:rPr lang="zh-CN" altLang="en-US" dirty="0" smtClean="0"/>
                  <a:t>不适用于不平衡数据</a:t>
                </a:r>
                <a:endParaRPr lang="en-US" altLang="zh-CN" dirty="0" smtClean="0"/>
              </a:p>
              <a:p>
                <a:r>
                  <a:rPr lang="zh-CN" altLang="en-US" dirty="0"/>
                  <a:t>示例（预测某地发生</a:t>
                </a:r>
                <a:r>
                  <a:rPr lang="zh-CN" altLang="en-US" dirty="0" smtClean="0"/>
                  <a:t>地震模型）：</a:t>
                </a:r>
                <a:endParaRPr lang="en-US" altLang="zh-CN" dirty="0" smtClean="0"/>
              </a:p>
              <a:p>
                <a:pPr lvl="1"/>
                <a:r>
                  <a:rPr lang="zh-CN" altLang="en-US" dirty="0" smtClean="0"/>
                  <a:t>倾向于预测不发生地震</a:t>
                </a:r>
                <a:endParaRPr lang="en-US" altLang="zh-CN" dirty="0" smtClean="0"/>
              </a:p>
              <a:p>
                <a:pPr lvl="1"/>
                <a:r>
                  <a:rPr lang="zh-CN" altLang="en-US" dirty="0" smtClean="0"/>
                  <a:t>准确率</a:t>
                </a:r>
                <a:r>
                  <a:rPr lang="zh-CN" altLang="en-US" dirty="0"/>
                  <a:t>高达</a:t>
                </a:r>
                <a:r>
                  <a:rPr lang="en-US" altLang="zh-CN" dirty="0" smtClean="0"/>
                  <a:t>99.99%</a:t>
                </a:r>
              </a:p>
              <a:p>
                <a:pPr lvl="1"/>
                <a:r>
                  <a:rPr lang="zh-CN" altLang="en-US" dirty="0" smtClean="0"/>
                  <a:t>但这毫无意义</a:t>
                </a:r>
                <a:endParaRPr lang="en-US" altLang="zh-CN" dirty="0" smtClean="0"/>
              </a:p>
              <a:p>
                <a:pPr lvl="1"/>
                <a:endParaRPr lang="en-US" altLang="zh-CN" dirty="0" smtClean="0"/>
              </a:p>
              <a:p>
                <a:endParaRPr lang="en-US" altLang="zh-CN"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53501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zh-CN" altLang="en-US" dirty="0" smtClean="0"/>
              <a:t>混淆矩阵（</a:t>
            </a:r>
            <a:r>
              <a:rPr lang="en-US" altLang="zh-CN" dirty="0" smtClean="0"/>
              <a:t>confusion matrix</a:t>
            </a:r>
            <a:r>
              <a:rPr lang="zh-CN" altLang="en-US" dirty="0" smtClean="0"/>
              <a:t>）：</a:t>
            </a:r>
            <a:endParaRPr lang="en-US" altLang="zh-CN" dirty="0" smtClean="0"/>
          </a:p>
          <a:p>
            <a:pPr lvl="1"/>
            <a:r>
              <a:rPr lang="zh-CN" altLang="en-US" dirty="0"/>
              <a:t>真实</a:t>
            </a:r>
            <a:r>
              <a:rPr lang="zh-CN" altLang="en-US" dirty="0" smtClean="0"/>
              <a:t>值是</a:t>
            </a:r>
            <a:r>
              <a:rPr lang="en-US" altLang="zh-CN" dirty="0" smtClean="0"/>
              <a:t>positive</a:t>
            </a:r>
            <a:r>
              <a:rPr lang="zh-CN" altLang="en-US" dirty="0" smtClean="0"/>
              <a:t>，模型任务是</a:t>
            </a:r>
            <a:r>
              <a:rPr lang="en-US" altLang="zh-CN" dirty="0" smtClean="0"/>
              <a:t>positive</a:t>
            </a:r>
            <a:r>
              <a:rPr lang="zh-CN" altLang="en-US" dirty="0" smtClean="0"/>
              <a:t>的数量（</a:t>
            </a:r>
            <a:r>
              <a:rPr lang="en-US" altLang="zh-CN" dirty="0" smtClean="0"/>
              <a:t>True Positive = TP</a:t>
            </a:r>
            <a:r>
              <a:rPr lang="zh-CN" altLang="en-US" dirty="0" smtClean="0"/>
              <a:t>）</a:t>
            </a:r>
            <a:endParaRPr lang="en-US" altLang="zh-CN" dirty="0" smtClean="0"/>
          </a:p>
          <a:p>
            <a:pPr lvl="1"/>
            <a:r>
              <a:rPr lang="zh-CN" altLang="en-US" dirty="0"/>
              <a:t>真实值是</a:t>
            </a:r>
            <a:r>
              <a:rPr lang="en-US" altLang="zh-CN" dirty="0"/>
              <a:t>positive</a:t>
            </a:r>
            <a:r>
              <a:rPr lang="zh-CN" altLang="en-US" dirty="0"/>
              <a:t>，模型任务</a:t>
            </a:r>
            <a:r>
              <a:rPr lang="zh-CN" altLang="en-US" dirty="0" smtClean="0"/>
              <a:t>是</a:t>
            </a:r>
            <a:r>
              <a:rPr lang="en-US" altLang="zh-CN" dirty="0" smtClean="0"/>
              <a:t>negative</a:t>
            </a:r>
            <a:r>
              <a:rPr lang="zh-CN" altLang="en-US" dirty="0" smtClean="0"/>
              <a:t>的</a:t>
            </a:r>
            <a:r>
              <a:rPr lang="zh-CN" altLang="en-US" dirty="0"/>
              <a:t>数量</a:t>
            </a:r>
            <a:r>
              <a:rPr lang="zh-CN" altLang="en-US" dirty="0" smtClean="0"/>
              <a:t>（</a:t>
            </a:r>
            <a:r>
              <a:rPr lang="en-US" altLang="zh-CN" dirty="0" smtClean="0"/>
              <a:t>False Negative = FN</a:t>
            </a:r>
            <a:r>
              <a:rPr lang="zh-CN" altLang="en-US" dirty="0" smtClean="0"/>
              <a:t>）</a:t>
            </a:r>
            <a:endParaRPr lang="zh-CN" altLang="en-US" dirty="0"/>
          </a:p>
          <a:p>
            <a:pPr lvl="1"/>
            <a:r>
              <a:rPr lang="zh-CN" altLang="en-US" dirty="0"/>
              <a:t>真实值</a:t>
            </a:r>
            <a:r>
              <a:rPr lang="zh-CN" altLang="en-US" dirty="0" smtClean="0"/>
              <a:t>是</a:t>
            </a:r>
            <a:r>
              <a:rPr lang="en-US" altLang="zh-CN" dirty="0"/>
              <a:t>negative</a:t>
            </a:r>
            <a:r>
              <a:rPr lang="zh-CN" altLang="en-US" dirty="0" smtClean="0"/>
              <a:t>，</a:t>
            </a:r>
            <a:r>
              <a:rPr lang="zh-CN" altLang="en-US" dirty="0"/>
              <a:t>模型任务是</a:t>
            </a:r>
            <a:r>
              <a:rPr lang="en-US" altLang="zh-CN" dirty="0"/>
              <a:t>positive</a:t>
            </a:r>
            <a:r>
              <a:rPr lang="zh-CN" altLang="en-US" dirty="0"/>
              <a:t>的数量</a:t>
            </a:r>
            <a:r>
              <a:rPr lang="zh-CN" altLang="en-US" dirty="0" smtClean="0"/>
              <a:t>（</a:t>
            </a:r>
            <a:r>
              <a:rPr lang="en-US" altLang="zh-CN" dirty="0"/>
              <a:t>False</a:t>
            </a:r>
            <a:r>
              <a:rPr lang="en-US" altLang="zh-CN" dirty="0" smtClean="0"/>
              <a:t> </a:t>
            </a:r>
            <a:r>
              <a:rPr lang="en-US" altLang="zh-CN" dirty="0"/>
              <a:t>Positive = </a:t>
            </a:r>
            <a:r>
              <a:rPr lang="en-US" altLang="zh-CN" dirty="0" smtClean="0"/>
              <a:t>FP</a:t>
            </a:r>
            <a:r>
              <a:rPr lang="zh-CN" altLang="en-US" dirty="0"/>
              <a:t>）</a:t>
            </a:r>
          </a:p>
          <a:p>
            <a:pPr lvl="1"/>
            <a:r>
              <a:rPr lang="zh-CN" altLang="en-US" dirty="0"/>
              <a:t>真实值</a:t>
            </a:r>
            <a:r>
              <a:rPr lang="zh-CN" altLang="en-US" dirty="0" smtClean="0"/>
              <a:t>是</a:t>
            </a:r>
            <a:r>
              <a:rPr lang="en-US" altLang="zh-CN" dirty="0"/>
              <a:t>negative</a:t>
            </a:r>
            <a:r>
              <a:rPr lang="zh-CN" altLang="en-US" dirty="0" smtClean="0"/>
              <a:t>，</a:t>
            </a:r>
            <a:r>
              <a:rPr lang="zh-CN" altLang="en-US" dirty="0"/>
              <a:t>模型任务是</a:t>
            </a:r>
            <a:r>
              <a:rPr lang="en-US" altLang="zh-CN" dirty="0"/>
              <a:t>positive</a:t>
            </a:r>
            <a:r>
              <a:rPr lang="zh-CN" altLang="en-US" dirty="0"/>
              <a:t>的数量（</a:t>
            </a:r>
            <a:r>
              <a:rPr lang="en-US" altLang="zh-CN" dirty="0"/>
              <a:t>True Negative</a:t>
            </a:r>
            <a:r>
              <a:rPr lang="en-US" altLang="zh-CN" dirty="0" smtClean="0"/>
              <a:t> </a:t>
            </a:r>
            <a:r>
              <a:rPr lang="en-US" altLang="zh-CN" dirty="0"/>
              <a:t>= </a:t>
            </a:r>
            <a:r>
              <a:rPr lang="en-US" altLang="zh-CN" dirty="0" smtClean="0"/>
              <a:t>TN</a:t>
            </a:r>
            <a:r>
              <a:rPr lang="zh-CN" altLang="en-US" dirty="0" smtClean="0"/>
              <a:t>）</a:t>
            </a:r>
            <a:endParaRPr lang="en-US" altLang="zh-CN" dirty="0" smtClean="0"/>
          </a:p>
          <a:p>
            <a:r>
              <a:rPr lang="zh-CN" altLang="en-US" dirty="0" smtClean="0"/>
              <a:t>根据以上</a:t>
            </a:r>
            <a:r>
              <a:rPr lang="en-US" altLang="zh-CN" dirty="0" smtClean="0"/>
              <a:t>4</a:t>
            </a:r>
            <a:r>
              <a:rPr lang="zh-CN" altLang="en-US" dirty="0" smtClean="0"/>
              <a:t>种情况对应的样本数构成混淆矩阵：</a:t>
            </a:r>
            <a:endParaRPr lang="en-US" altLang="zh-CN" dirty="0" smtClean="0"/>
          </a:p>
          <a:p>
            <a:pPr lvl="1"/>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541430205"/>
              </p:ext>
            </p:extLst>
          </p:nvPr>
        </p:nvGraphicFramePr>
        <p:xfrm>
          <a:off x="1769110" y="3908636"/>
          <a:ext cx="8128000" cy="1483360"/>
        </p:xfrm>
        <a:graphic>
          <a:graphicData uri="http://schemas.openxmlformats.org/drawingml/2006/table">
            <a:tbl>
              <a:tblPr firstRow="1" bandRow="1">
                <a:tableStyleId>{5940675A-B579-460E-94D1-54222C63F5DA}</a:tableStyleId>
              </a:tblPr>
              <a:tblGrid>
                <a:gridCol w="2032000"/>
                <a:gridCol w="2032000"/>
                <a:gridCol w="2032000"/>
                <a:gridCol w="2032000"/>
              </a:tblGrid>
              <a:tr h="370840">
                <a:tc rowSpan="2" gridSpan="2">
                  <a:txBody>
                    <a:bodyPr/>
                    <a:lstStyle/>
                    <a:p>
                      <a:pPr algn="ctr"/>
                      <a:endParaRPr lang="zh-CN" altLang="en-US" dirty="0"/>
                    </a:p>
                  </a:txBody>
                  <a:tcPr anchor="ctr"/>
                </a:tc>
                <a:tc rowSpan="2" hMerge="1">
                  <a:txBody>
                    <a:bodyPr/>
                    <a:lstStyle/>
                    <a:p>
                      <a:endParaRPr lang="zh-CN" altLang="en-US"/>
                    </a:p>
                  </a:txBody>
                  <a:tcPr/>
                </a:tc>
                <a:tc gridSpan="2">
                  <a:txBody>
                    <a:bodyPr/>
                    <a:lstStyle/>
                    <a:p>
                      <a:pPr algn="ctr"/>
                      <a:r>
                        <a:rPr lang="zh-CN" altLang="en-US" dirty="0" smtClean="0"/>
                        <a:t>真实值</a:t>
                      </a:r>
                      <a:endParaRPr lang="zh-CN" altLang="en-US" dirty="0"/>
                    </a:p>
                  </a:txBody>
                  <a:tcPr anchor="ctr"/>
                </a:tc>
                <a:tc hMerge="1">
                  <a:txBody>
                    <a:bodyPr/>
                    <a:lstStyle/>
                    <a:p>
                      <a:endParaRPr lang="zh-CN" altLang="en-US" dirty="0"/>
                    </a:p>
                  </a:txBody>
                  <a:tcPr/>
                </a:tc>
              </a:tr>
              <a:tr h="370840">
                <a:tc gridSpan="2" vMerge="1">
                  <a:txBody>
                    <a:bodyPr/>
                    <a:lstStyle/>
                    <a:p>
                      <a:endParaRPr lang="zh-CN" altLang="en-US" dirty="0"/>
                    </a:p>
                  </a:txBody>
                  <a:tcPr/>
                </a:tc>
                <a:tc hMerge="1"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Positive</a:t>
                      </a:r>
                      <a:endParaRPr lang="zh-CN" altLang="en-US" dirty="0" smtClean="0"/>
                    </a:p>
                  </a:txBody>
                  <a:tcPr anchor="ctr"/>
                </a:tc>
                <a:tc>
                  <a:txBody>
                    <a:bodyPr/>
                    <a:lstStyle/>
                    <a:p>
                      <a:pPr algn="ctr"/>
                      <a:r>
                        <a:rPr lang="en-US" altLang="zh-CN" dirty="0" smtClean="0"/>
                        <a:t>Negative</a:t>
                      </a:r>
                      <a:endParaRPr lang="zh-CN" altLang="en-US" dirty="0"/>
                    </a:p>
                  </a:txBody>
                  <a:tcPr anchor="ctr"/>
                </a:tc>
              </a:tr>
              <a:tr h="370840">
                <a:tc rowSpan="2">
                  <a:txBody>
                    <a:bodyPr/>
                    <a:lstStyle/>
                    <a:p>
                      <a:pPr algn="ctr"/>
                      <a:r>
                        <a:rPr lang="zh-CN" altLang="en-US" dirty="0" smtClean="0"/>
                        <a:t>预测值</a:t>
                      </a:r>
                      <a:endParaRPr lang="zh-CN" altLang="en-US" dirty="0"/>
                    </a:p>
                  </a:txBody>
                  <a:tcPr anchor="ctr"/>
                </a:tc>
                <a:tc>
                  <a:txBody>
                    <a:bodyPr/>
                    <a:lstStyle/>
                    <a:p>
                      <a:pPr algn="ctr"/>
                      <a:r>
                        <a:rPr lang="en-US" altLang="zh-CN" dirty="0" smtClean="0"/>
                        <a:t>Positive</a:t>
                      </a:r>
                      <a:endParaRPr lang="zh-CN" altLang="en-US" dirty="0"/>
                    </a:p>
                  </a:txBody>
                  <a:tcPr anchor="ctr"/>
                </a:tc>
                <a:tc>
                  <a:txBody>
                    <a:bodyPr/>
                    <a:lstStyle/>
                    <a:p>
                      <a:pPr algn="ctr"/>
                      <a:r>
                        <a:rPr lang="en-US" altLang="zh-CN" dirty="0" smtClean="0"/>
                        <a:t>True Positive </a:t>
                      </a:r>
                      <a:endParaRPr lang="zh-CN" altLang="en-US" dirty="0"/>
                    </a:p>
                  </a:txBody>
                  <a:tcPr anchor="ctr"/>
                </a:tc>
                <a:tc>
                  <a:txBody>
                    <a:bodyPr/>
                    <a:lstStyle/>
                    <a:p>
                      <a:pPr algn="ctr"/>
                      <a:r>
                        <a:rPr lang="en-US" altLang="zh-CN" dirty="0" smtClean="0"/>
                        <a:t>False Positive </a:t>
                      </a:r>
                      <a:endParaRPr lang="zh-CN" altLang="en-US" dirty="0"/>
                    </a:p>
                  </a:txBody>
                  <a:tcPr anchor="ctr"/>
                </a:tc>
              </a:tr>
              <a:tr h="370840">
                <a:tc vMerge="1">
                  <a:txBody>
                    <a:bodyPr/>
                    <a:lstStyle/>
                    <a:p>
                      <a:endParaRPr lang="zh-CN" altLang="en-US" dirty="0"/>
                    </a:p>
                  </a:txBody>
                  <a:tcPr/>
                </a:tc>
                <a:tc>
                  <a:txBody>
                    <a:bodyPr/>
                    <a:lstStyle/>
                    <a:p>
                      <a:pPr algn="ctr"/>
                      <a:r>
                        <a:rPr lang="en-US" altLang="zh-CN" dirty="0" smtClean="0"/>
                        <a:t>Negative</a:t>
                      </a:r>
                      <a:endParaRPr lang="zh-CN" altLang="en-US" dirty="0"/>
                    </a:p>
                  </a:txBody>
                  <a:tcPr anchor="ctr"/>
                </a:tc>
                <a:tc>
                  <a:txBody>
                    <a:bodyPr/>
                    <a:lstStyle/>
                    <a:p>
                      <a:pPr algn="ctr"/>
                      <a:r>
                        <a:rPr lang="en-US" altLang="zh-CN" dirty="0" smtClean="0"/>
                        <a:t>False Negative </a:t>
                      </a:r>
                      <a:endParaRPr lang="zh-CN" altLang="en-US" dirty="0"/>
                    </a:p>
                  </a:txBody>
                  <a:tcPr anchor="ctr"/>
                </a:tc>
                <a:tc>
                  <a:txBody>
                    <a:bodyPr/>
                    <a:lstStyle/>
                    <a:p>
                      <a:pPr algn="ctr"/>
                      <a:r>
                        <a:rPr lang="en-US" altLang="zh-CN" dirty="0" smtClean="0"/>
                        <a:t>True Negative </a:t>
                      </a:r>
                      <a:endParaRPr lang="zh-CN" altLang="en-US" dirty="0"/>
                    </a:p>
                  </a:txBody>
                  <a:tcPr anchor="ctr"/>
                </a:tc>
              </a:tr>
            </a:tbl>
          </a:graphicData>
        </a:graphic>
      </p:graphicFrame>
    </p:spTree>
    <p:extLst>
      <p:ext uri="{BB962C8B-B14F-4D97-AF65-F5344CB8AC3E}">
        <p14:creationId xmlns:p14="http://schemas.microsoft.com/office/powerpoint/2010/main" val="3336693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smtClean="0"/>
              <a:t>TP</a:t>
            </a:r>
            <a:r>
              <a:rPr lang="zh-CN" altLang="en-US" dirty="0" smtClean="0"/>
              <a:t>、</a:t>
            </a:r>
            <a:r>
              <a:rPr lang="en-US" altLang="zh-CN" dirty="0" smtClean="0"/>
              <a:t>TN</a:t>
            </a:r>
            <a:r>
              <a:rPr lang="zh-CN" altLang="en-US" dirty="0" smtClean="0"/>
              <a:t>、</a:t>
            </a:r>
            <a:r>
              <a:rPr lang="en-US" altLang="zh-CN" dirty="0" smtClean="0"/>
              <a:t>FP</a:t>
            </a:r>
            <a:r>
              <a:rPr lang="zh-CN" altLang="en-US" dirty="0" smtClean="0"/>
              <a:t>、</a:t>
            </a:r>
            <a:r>
              <a:rPr lang="en-US" altLang="zh-CN" dirty="0" smtClean="0"/>
              <a:t>FN</a:t>
            </a:r>
            <a:r>
              <a:rPr lang="zh-CN" altLang="en-US" dirty="0" smtClean="0"/>
              <a:t>分别表示其对应的样本数</a:t>
            </a:r>
            <a:endParaRPr lang="en-US" altLang="zh-CN" dirty="0" smtClean="0"/>
          </a:p>
          <a:p>
            <a:r>
              <a:rPr lang="zh-CN" altLang="en-US" dirty="0" smtClean="0"/>
              <a:t>根据混淆矩阵，我们可以很直观地比对原始数据和预测结果：</a:t>
            </a:r>
            <a:endParaRPr lang="en-US" altLang="zh-CN" dirty="0" smtClean="0"/>
          </a:p>
          <a:p>
            <a:pPr marL="800100" lvl="1" indent="-342900">
              <a:buFont typeface="+mj-lt"/>
              <a:buAutoNum type="arabicPeriod"/>
            </a:pPr>
            <a:r>
              <a:rPr lang="zh-CN" altLang="en-US" dirty="0" smtClean="0"/>
              <a:t>总共</a:t>
            </a:r>
            <a:r>
              <a:rPr lang="zh-CN" altLang="en-US" dirty="0"/>
              <a:t>有多少数据（四个格子的数字求和）；</a:t>
            </a:r>
          </a:p>
          <a:p>
            <a:pPr marL="800100" lvl="1" indent="-342900">
              <a:buFont typeface="+mj-lt"/>
              <a:buAutoNum type="arabicPeriod"/>
            </a:pPr>
            <a:r>
              <a:rPr lang="zh-CN" altLang="en-US" dirty="0"/>
              <a:t>预测对的有多少（主对角线求和）；</a:t>
            </a:r>
          </a:p>
          <a:p>
            <a:pPr marL="800100" lvl="1" indent="-342900">
              <a:buFont typeface="+mj-lt"/>
              <a:buAutoNum type="arabicPeriod"/>
            </a:pPr>
            <a:r>
              <a:rPr lang="zh-CN" altLang="en-US" dirty="0"/>
              <a:t>预测错的有多少（副对角线求和）；</a:t>
            </a:r>
          </a:p>
          <a:p>
            <a:pPr marL="800100" lvl="1" indent="-342900">
              <a:buFont typeface="+mj-lt"/>
              <a:buAutoNum type="arabicPeriod"/>
            </a:pPr>
            <a:r>
              <a:rPr lang="zh-CN" altLang="en-US" dirty="0"/>
              <a:t>有多少实际上是</a:t>
            </a:r>
            <a:r>
              <a:rPr lang="en-US" altLang="zh-CN" dirty="0"/>
              <a:t>positive</a:t>
            </a:r>
            <a:r>
              <a:rPr lang="zh-CN" altLang="en-US" dirty="0"/>
              <a:t>（第一列求和）；</a:t>
            </a:r>
          </a:p>
          <a:p>
            <a:pPr marL="800100" lvl="1" indent="-342900">
              <a:buFont typeface="+mj-lt"/>
              <a:buAutoNum type="arabicPeriod"/>
            </a:pPr>
            <a:r>
              <a:rPr lang="zh-CN" altLang="en-US" dirty="0"/>
              <a:t>有多少实际上是</a:t>
            </a:r>
            <a:r>
              <a:rPr lang="en-US" altLang="zh-CN" dirty="0"/>
              <a:t>negative</a:t>
            </a:r>
            <a:r>
              <a:rPr lang="zh-CN" altLang="en-US" dirty="0"/>
              <a:t>（第二列求和）；</a:t>
            </a:r>
          </a:p>
          <a:p>
            <a:pPr marL="800100" lvl="1" indent="-342900">
              <a:buFont typeface="+mj-lt"/>
              <a:buAutoNum type="arabicPeriod"/>
            </a:pPr>
            <a:r>
              <a:rPr lang="zh-CN" altLang="en-US" dirty="0"/>
              <a:t>有多少被预测为</a:t>
            </a:r>
            <a:r>
              <a:rPr lang="en-US" altLang="zh-CN" dirty="0"/>
              <a:t>positive</a:t>
            </a:r>
            <a:r>
              <a:rPr lang="zh-CN" altLang="en-US" dirty="0"/>
              <a:t>（第一行求和）；</a:t>
            </a:r>
          </a:p>
          <a:p>
            <a:pPr marL="800100" lvl="1" indent="-342900">
              <a:buFont typeface="+mj-lt"/>
              <a:buAutoNum type="arabicPeriod"/>
            </a:pPr>
            <a:r>
              <a:rPr lang="zh-CN" altLang="en-US" dirty="0"/>
              <a:t>有多少被预测为</a:t>
            </a:r>
            <a:r>
              <a:rPr lang="en-US" altLang="zh-CN" dirty="0"/>
              <a:t>negative</a:t>
            </a:r>
            <a:r>
              <a:rPr lang="zh-CN" altLang="en-US" dirty="0"/>
              <a:t>（第二行求和）</a:t>
            </a:r>
            <a:r>
              <a:rPr lang="zh-CN" altLang="en-US" dirty="0" smtClean="0"/>
              <a:t>。</a:t>
            </a:r>
            <a:endParaRPr lang="en-US" altLang="zh-CN" dirty="0" smtClean="0"/>
          </a:p>
          <a:p>
            <a:pPr lvl="1"/>
            <a:r>
              <a:rPr lang="zh-CN" altLang="en-US" dirty="0"/>
              <a:t>通过</a:t>
            </a:r>
            <a:r>
              <a:rPr lang="en-US" altLang="zh-CN" dirty="0"/>
              <a:t>4</a:t>
            </a:r>
            <a:r>
              <a:rPr lang="zh-CN" altLang="en-US" dirty="0"/>
              <a:t>和</a:t>
            </a:r>
            <a:r>
              <a:rPr lang="en-US" altLang="zh-CN" dirty="0"/>
              <a:t>5</a:t>
            </a:r>
            <a:r>
              <a:rPr lang="zh-CN" altLang="en-US" dirty="0"/>
              <a:t>的比例关系，我们可以知道这个数据集是否为非平衡的数据</a:t>
            </a:r>
            <a:r>
              <a:rPr lang="zh-CN" altLang="en-US" dirty="0" smtClean="0"/>
              <a:t>集</a:t>
            </a:r>
            <a:endParaRPr lang="en-US" altLang="zh-CN" dirty="0" smtClean="0"/>
          </a:p>
          <a:p>
            <a:pPr lvl="1"/>
            <a:r>
              <a:rPr lang="zh-CN" altLang="en-US" dirty="0"/>
              <a:t>通过</a:t>
            </a:r>
            <a:r>
              <a:rPr lang="en-US" altLang="zh-CN" dirty="0"/>
              <a:t>6</a:t>
            </a:r>
            <a:r>
              <a:rPr lang="zh-CN" altLang="en-US" dirty="0"/>
              <a:t>和</a:t>
            </a:r>
            <a:r>
              <a:rPr lang="en-US" altLang="zh-CN" dirty="0"/>
              <a:t>7</a:t>
            </a:r>
            <a:r>
              <a:rPr lang="zh-CN" altLang="en-US" dirty="0"/>
              <a:t>的比例关系，我们可以知道模型预测是否受到了非平衡样本的影响</a:t>
            </a: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001643388"/>
              </p:ext>
            </p:extLst>
          </p:nvPr>
        </p:nvGraphicFramePr>
        <p:xfrm>
          <a:off x="6435088" y="2526028"/>
          <a:ext cx="4433572" cy="1494368"/>
        </p:xfrm>
        <a:graphic>
          <a:graphicData uri="http://schemas.openxmlformats.org/drawingml/2006/table">
            <a:tbl>
              <a:tblPr firstRow="1" bandRow="1">
                <a:tableStyleId>{5940675A-B579-460E-94D1-54222C63F5DA}</a:tableStyleId>
              </a:tblPr>
              <a:tblGrid>
                <a:gridCol w="1108393"/>
                <a:gridCol w="1108393"/>
                <a:gridCol w="1108393"/>
                <a:gridCol w="1108393"/>
              </a:tblGrid>
              <a:tr h="373592">
                <a:tc rowSpan="2" gridSpan="2">
                  <a:txBody>
                    <a:bodyPr/>
                    <a:lstStyle/>
                    <a:p>
                      <a:pPr algn="ctr"/>
                      <a:endParaRPr lang="zh-CN" altLang="en-US" dirty="0"/>
                    </a:p>
                  </a:txBody>
                  <a:tcPr anchor="ctr"/>
                </a:tc>
                <a:tc rowSpan="2" hMerge="1">
                  <a:txBody>
                    <a:bodyPr/>
                    <a:lstStyle/>
                    <a:p>
                      <a:endParaRPr lang="zh-CN" altLang="en-US"/>
                    </a:p>
                  </a:txBody>
                  <a:tcPr/>
                </a:tc>
                <a:tc gridSpan="2">
                  <a:txBody>
                    <a:bodyPr/>
                    <a:lstStyle/>
                    <a:p>
                      <a:pPr algn="ctr"/>
                      <a:r>
                        <a:rPr lang="zh-CN" altLang="en-US" dirty="0" smtClean="0"/>
                        <a:t>真实值</a:t>
                      </a:r>
                      <a:endParaRPr lang="zh-CN" altLang="en-US" dirty="0"/>
                    </a:p>
                  </a:txBody>
                  <a:tcPr anchor="ctr"/>
                </a:tc>
                <a:tc hMerge="1">
                  <a:txBody>
                    <a:bodyPr/>
                    <a:lstStyle/>
                    <a:p>
                      <a:endParaRPr lang="zh-CN" altLang="en-US" dirty="0"/>
                    </a:p>
                  </a:txBody>
                  <a:tcPr/>
                </a:tc>
              </a:tr>
              <a:tr h="373592">
                <a:tc gridSpan="2" vMerge="1">
                  <a:txBody>
                    <a:bodyPr/>
                    <a:lstStyle/>
                    <a:p>
                      <a:endParaRPr lang="zh-CN" altLang="en-US" dirty="0"/>
                    </a:p>
                  </a:txBody>
                  <a:tcPr/>
                </a:tc>
                <a:tc hMerge="1"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Positive</a:t>
                      </a:r>
                      <a:endParaRPr lang="zh-CN" altLang="en-US" dirty="0" smtClean="0"/>
                    </a:p>
                  </a:txBody>
                  <a:tcPr anchor="ctr"/>
                </a:tc>
                <a:tc>
                  <a:txBody>
                    <a:bodyPr/>
                    <a:lstStyle/>
                    <a:p>
                      <a:pPr algn="ctr"/>
                      <a:r>
                        <a:rPr lang="en-US" altLang="zh-CN" dirty="0" smtClean="0"/>
                        <a:t>Negative</a:t>
                      </a:r>
                      <a:endParaRPr lang="zh-CN" altLang="en-US" dirty="0"/>
                    </a:p>
                  </a:txBody>
                  <a:tcPr anchor="ctr"/>
                </a:tc>
              </a:tr>
              <a:tr h="373592">
                <a:tc rowSpan="2">
                  <a:txBody>
                    <a:bodyPr/>
                    <a:lstStyle/>
                    <a:p>
                      <a:pPr algn="ctr"/>
                      <a:r>
                        <a:rPr lang="zh-CN" altLang="en-US" dirty="0" smtClean="0"/>
                        <a:t>预测值</a:t>
                      </a:r>
                      <a:endParaRPr lang="zh-CN" altLang="en-US" dirty="0"/>
                    </a:p>
                  </a:txBody>
                  <a:tcPr anchor="ctr"/>
                </a:tc>
                <a:tc>
                  <a:txBody>
                    <a:bodyPr/>
                    <a:lstStyle/>
                    <a:p>
                      <a:pPr algn="ctr"/>
                      <a:r>
                        <a:rPr lang="en-US" altLang="zh-CN" dirty="0" smtClean="0"/>
                        <a:t>Positive</a:t>
                      </a:r>
                      <a:endParaRPr lang="zh-CN" altLang="en-US" dirty="0"/>
                    </a:p>
                  </a:txBody>
                  <a:tcPr anchor="ctr"/>
                </a:tc>
                <a:tc>
                  <a:txBody>
                    <a:bodyPr/>
                    <a:lstStyle/>
                    <a:p>
                      <a:pPr algn="ctr"/>
                      <a:r>
                        <a:rPr lang="en-US" altLang="zh-CN" dirty="0" smtClean="0"/>
                        <a:t>TP</a:t>
                      </a:r>
                      <a:endParaRPr lang="zh-CN" altLang="en-US" dirty="0"/>
                    </a:p>
                  </a:txBody>
                  <a:tcPr anchor="ctr"/>
                </a:tc>
                <a:tc>
                  <a:txBody>
                    <a:bodyPr/>
                    <a:lstStyle/>
                    <a:p>
                      <a:pPr algn="ctr"/>
                      <a:r>
                        <a:rPr lang="en-US" altLang="zh-CN" dirty="0" smtClean="0"/>
                        <a:t>FP</a:t>
                      </a:r>
                      <a:endParaRPr lang="zh-CN" altLang="en-US" dirty="0"/>
                    </a:p>
                  </a:txBody>
                  <a:tcPr anchor="ctr"/>
                </a:tc>
              </a:tr>
              <a:tr h="373592">
                <a:tc vMerge="1">
                  <a:txBody>
                    <a:bodyPr/>
                    <a:lstStyle/>
                    <a:p>
                      <a:endParaRPr lang="zh-CN" altLang="en-US" dirty="0"/>
                    </a:p>
                  </a:txBody>
                  <a:tcPr/>
                </a:tc>
                <a:tc>
                  <a:txBody>
                    <a:bodyPr/>
                    <a:lstStyle/>
                    <a:p>
                      <a:pPr algn="ctr"/>
                      <a:r>
                        <a:rPr lang="en-US" altLang="zh-CN" dirty="0" smtClean="0"/>
                        <a:t>Negative</a:t>
                      </a:r>
                      <a:endParaRPr lang="zh-CN" altLang="en-US" dirty="0"/>
                    </a:p>
                  </a:txBody>
                  <a:tcPr anchor="ctr"/>
                </a:tc>
                <a:tc>
                  <a:txBody>
                    <a:bodyPr/>
                    <a:lstStyle/>
                    <a:p>
                      <a:pPr algn="ctr"/>
                      <a:r>
                        <a:rPr lang="en-US" altLang="zh-CN" dirty="0" smtClean="0"/>
                        <a:t>FN</a:t>
                      </a:r>
                      <a:endParaRPr lang="zh-CN" altLang="en-US" dirty="0"/>
                    </a:p>
                  </a:txBody>
                  <a:tcPr anchor="ctr"/>
                </a:tc>
                <a:tc>
                  <a:txBody>
                    <a:bodyPr/>
                    <a:lstStyle/>
                    <a:p>
                      <a:pPr algn="ctr"/>
                      <a:r>
                        <a:rPr lang="en-US" altLang="zh-CN" dirty="0" smtClean="0"/>
                        <a:t>TN</a:t>
                      </a:r>
                      <a:endParaRPr lang="zh-CN" altLang="en-US" dirty="0"/>
                    </a:p>
                  </a:txBody>
                  <a:tcPr anchor="ctr"/>
                </a:tc>
              </a:tr>
            </a:tbl>
          </a:graphicData>
        </a:graphic>
      </p:graphicFrame>
    </p:spTree>
    <p:extLst>
      <p:ext uri="{BB962C8B-B14F-4D97-AF65-F5344CB8AC3E}">
        <p14:creationId xmlns:p14="http://schemas.microsoft.com/office/powerpoint/2010/main" val="1707653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zh-CN" altLang="en-US" dirty="0" smtClean="0"/>
              <a:t>混淆矩阵二级指标：</a:t>
            </a:r>
            <a:endParaRPr lang="en-US" altLang="zh-CN" dirty="0" smtClean="0"/>
          </a:p>
          <a:p>
            <a:pPr lvl="1"/>
            <a:r>
              <a:rPr lang="en-US" altLang="zh-CN" dirty="0" smtClean="0"/>
              <a:t>Accuracy</a:t>
            </a:r>
            <a:r>
              <a:rPr lang="zh-CN" altLang="en-US" dirty="0" smtClean="0"/>
              <a:t>，准确率，</a:t>
            </a:r>
            <a:endParaRPr lang="en-US" altLang="zh-CN" dirty="0" smtClean="0"/>
          </a:p>
          <a:p>
            <a:pPr lvl="1"/>
            <a:r>
              <a:rPr lang="en-US" altLang="zh-CN" dirty="0" smtClean="0"/>
              <a:t>Precision</a:t>
            </a:r>
            <a:r>
              <a:rPr lang="zh-CN" altLang="en-US" dirty="0" smtClean="0"/>
              <a:t>，精确率，也称为精度，查准率</a:t>
            </a:r>
            <a:endParaRPr lang="en-US" altLang="zh-CN" dirty="0" smtClean="0"/>
          </a:p>
          <a:p>
            <a:pPr lvl="1"/>
            <a:r>
              <a:rPr lang="en-US" altLang="zh-CN" dirty="0" smtClean="0"/>
              <a:t>Recall</a:t>
            </a:r>
            <a:r>
              <a:rPr lang="zh-CN" altLang="en-US" dirty="0" smtClean="0"/>
              <a:t>，召回率，也称为灵敏度</a:t>
            </a:r>
            <a:r>
              <a:rPr lang="en-US" altLang="zh-CN" dirty="0" smtClean="0"/>
              <a:t>(Sensitivity)</a:t>
            </a:r>
            <a:r>
              <a:rPr lang="zh-CN" altLang="en-US" dirty="0" smtClean="0"/>
              <a:t>，查全率</a:t>
            </a:r>
            <a:endParaRPr lang="en-US" altLang="zh-CN" dirty="0" smtClean="0"/>
          </a:p>
          <a:p>
            <a:r>
              <a:rPr lang="zh-CN" altLang="en-US" dirty="0"/>
              <a:t>二</a:t>
            </a:r>
            <a:r>
              <a:rPr lang="zh-CN" altLang="en-US" dirty="0" smtClean="0"/>
              <a:t>级指标的计算公式如下：</a:t>
            </a:r>
            <a:endParaRPr lang="en-US" altLang="zh-CN" dirty="0" smtClean="0"/>
          </a:p>
          <a:p>
            <a:pPr lvl="1"/>
            <a:endParaRPr lang="zh-CN" altLang="en-US" dirty="0"/>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extLst>
                  <p:ext uri="{D42A27DB-BD31-4B8C-83A1-F6EECF244321}">
                    <p14:modId xmlns:p14="http://schemas.microsoft.com/office/powerpoint/2010/main" val="2653159195"/>
                  </p:ext>
                </p:extLst>
              </p:nvPr>
            </p:nvGraphicFramePr>
            <p:xfrm>
              <a:off x="1943100" y="3462654"/>
              <a:ext cx="8285798" cy="1920240"/>
            </p:xfrm>
            <a:graphic>
              <a:graphicData uri="http://schemas.openxmlformats.org/drawingml/2006/table">
                <a:tbl>
                  <a:tblPr firstRow="1" bandRow="1">
                    <a:tableStyleId>{5940675A-B579-460E-94D1-54222C63F5DA}</a:tableStyleId>
                  </a:tblPr>
                  <a:tblGrid>
                    <a:gridCol w="1360169"/>
                    <a:gridCol w="3646170"/>
                    <a:gridCol w="3279459"/>
                  </a:tblGrid>
                  <a:tr h="370840">
                    <a:tc>
                      <a:txBody>
                        <a:bodyPr/>
                        <a:lstStyle/>
                        <a:p>
                          <a:pPr algn="ctr"/>
                          <a:r>
                            <a:rPr lang="zh-CN" altLang="en-US" dirty="0" smtClean="0"/>
                            <a:t>准确率</a:t>
                          </a:r>
                          <a:r>
                            <a:rPr lang="en-US" altLang="zh-CN" dirty="0" smtClean="0"/>
                            <a:t>ACC</a:t>
                          </a:r>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𝐴𝑐𝑐𝑢𝑟𝑎𝑐𝑦</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𝑇𝑁</m:t>
                                    </m:r>
                                    <m:r>
                                      <m:rPr>
                                        <m:nor/>
                                      </m:rPr>
                                      <a:rPr lang="zh-CN" altLang="en-US" dirty="0"/>
                                      <m:t> </m:t>
                                    </m:r>
                                  </m:num>
                                  <m:den>
                                    <m:r>
                                      <a:rPr lang="en-US" altLang="zh-CN" b="0" i="1" dirty="0" smtClean="0">
                                        <a:latin typeface="Cambria Math" panose="02040503050406030204" pitchFamily="18" charset="0"/>
                                      </a:rPr>
                                      <m:t>𝑇𝑃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𝑇𝑁</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𝐹𝑁</m:t>
                                    </m:r>
                                  </m:den>
                                </m:f>
                              </m:oMath>
                            </m:oMathPara>
                          </a14:m>
                          <a:endParaRPr lang="zh-CN" altLang="en-US" dirty="0"/>
                        </a:p>
                      </a:txBody>
                      <a:tcPr anchor="ctr"/>
                    </a:tc>
                    <a:tc>
                      <a:txBody>
                        <a:bodyPr/>
                        <a:lstStyle/>
                        <a:p>
                          <a:pPr algn="ctr"/>
                          <a:r>
                            <a:rPr lang="zh-CN" altLang="en-US" dirty="0" smtClean="0"/>
                            <a:t>分类模型所有判断正确的结果占总观测值的比重</a:t>
                          </a:r>
                          <a:endParaRPr lang="zh-CN" altLang="en-US" dirty="0"/>
                        </a:p>
                      </a:txBody>
                      <a:tcPr anchor="ctr"/>
                    </a:tc>
                  </a:tr>
                  <a:tr h="370840">
                    <a:tc>
                      <a:txBody>
                        <a:bodyPr/>
                        <a:lstStyle/>
                        <a:p>
                          <a:pPr algn="ctr"/>
                          <a:r>
                            <a:rPr lang="zh-CN" altLang="en-US" dirty="0" smtClean="0"/>
                            <a:t>精确率</a:t>
                          </a:r>
                          <a:r>
                            <a:rPr lang="en-US" altLang="zh-CN" dirty="0" smtClean="0"/>
                            <a:t>PPV</a:t>
                          </a:r>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𝑃𝑟𝑒𝑐𝑖𝑠𝑖𝑜𝑛</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𝑇𝑃</m:t>
                                    </m:r>
                                  </m:num>
                                  <m:den>
                                    <m:r>
                                      <a:rPr lang="en-US" altLang="zh-CN" b="0" i="1" dirty="0" smtClean="0">
                                        <a:latin typeface="Cambria Math" panose="02040503050406030204" pitchFamily="18" charset="0"/>
                                      </a:rPr>
                                      <m:t>𝑇𝑃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𝐹𝑃</m:t>
                                    </m:r>
                                  </m:den>
                                </m:f>
                              </m:oMath>
                            </m:oMathPara>
                          </a14:m>
                          <a:endParaRPr lang="zh-CN" altLang="en-US" dirty="0"/>
                        </a:p>
                      </a:txBody>
                      <a:tcPr anchor="ctr"/>
                    </a:tc>
                    <a:tc>
                      <a:txBody>
                        <a:bodyPr/>
                        <a:lstStyle/>
                        <a:p>
                          <a:pPr algn="ctr"/>
                          <a:r>
                            <a:rPr lang="zh-CN" altLang="en-US" dirty="0" smtClean="0"/>
                            <a:t>在模型预测是</a:t>
                          </a:r>
                          <a:r>
                            <a:rPr lang="en-US" altLang="zh-CN" dirty="0" smtClean="0"/>
                            <a:t>Positive</a:t>
                          </a:r>
                          <a:r>
                            <a:rPr lang="zh-CN" altLang="en-US" dirty="0" smtClean="0"/>
                            <a:t>的所有结果中，模型预测正确的比重</a:t>
                          </a:r>
                          <a:endParaRPr lang="zh-CN" altLang="en-US" dirty="0"/>
                        </a:p>
                      </a:txBody>
                      <a:tcPr anchor="ctr"/>
                    </a:tc>
                  </a:tr>
                  <a:tr h="370840">
                    <a:tc>
                      <a:txBody>
                        <a:bodyPr/>
                        <a:lstStyle/>
                        <a:p>
                          <a:pPr algn="ctr"/>
                          <a:r>
                            <a:rPr lang="zh-CN" altLang="en-US" dirty="0" smtClean="0"/>
                            <a:t>召回率</a:t>
                          </a:r>
                          <a:r>
                            <a:rPr lang="en-US" altLang="zh-CN" dirty="0" smtClean="0"/>
                            <a:t>TPR</a:t>
                          </a:r>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𝑆𝑒𝑛𝑠𝑖𝑡𝑖𝑣𝑖𝑡𝑦</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𝑅𝑒𝑐𝑎𝑙𝑙</m:t>
                                </m:r>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b="0" i="1" dirty="0" smtClean="0">
                                        <a:latin typeface="Cambria Math" panose="02040503050406030204" pitchFamily="18" charset="0"/>
                                      </a:rPr>
                                      <m:t>𝑇𝑃</m:t>
                                    </m:r>
                                  </m:num>
                                  <m:den>
                                    <m:r>
                                      <a:rPr lang="en-US" altLang="zh-CN" b="0" i="1" dirty="0" smtClean="0">
                                        <a:latin typeface="Cambria Math" panose="02040503050406030204" pitchFamily="18" charset="0"/>
                                      </a:rPr>
                                      <m:t>𝑇𝑃</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𝐹𝑁</m:t>
                                    </m:r>
                                  </m:den>
                                </m:f>
                              </m:oMath>
                            </m:oMathPara>
                          </a14:m>
                          <a:endParaRPr lang="zh-CN" altLang="en-US" dirty="0"/>
                        </a:p>
                      </a:txBody>
                      <a:tcPr anchor="ctr"/>
                    </a:tc>
                    <a:tc>
                      <a:txBody>
                        <a:bodyPr/>
                        <a:lstStyle/>
                        <a:p>
                          <a:pPr algn="ctr"/>
                          <a:r>
                            <a:rPr lang="zh-CN" altLang="en-US" dirty="0" smtClean="0"/>
                            <a:t>在真实值是</a:t>
                          </a:r>
                          <a:r>
                            <a:rPr lang="en-US" altLang="zh-CN" dirty="0" smtClean="0"/>
                            <a:t>Positive</a:t>
                          </a:r>
                          <a:r>
                            <a:rPr lang="zh-CN" altLang="en-US" dirty="0" smtClean="0"/>
                            <a:t>的所有结果种，模型预测正确的比重</a:t>
                          </a:r>
                          <a:endParaRPr lang="zh-CN" altLang="en-US" dirty="0"/>
                        </a:p>
                      </a:txBody>
                      <a:tcPr anchor="ctr"/>
                    </a:tc>
                  </a:tr>
                </a:tbl>
              </a:graphicData>
            </a:graphic>
          </p:graphicFrame>
        </mc:Choice>
        <mc:Fallback xmlns="">
          <p:graphicFrame>
            <p:nvGraphicFramePr>
              <p:cNvPr id="4" name="表格 3"/>
              <p:cNvGraphicFramePr>
                <a:graphicFrameLocks noGrp="1"/>
              </p:cNvGraphicFramePr>
              <p:nvPr>
                <p:extLst>
                  <p:ext uri="{D42A27DB-BD31-4B8C-83A1-F6EECF244321}">
                    <p14:modId xmlns:p14="http://schemas.microsoft.com/office/powerpoint/2010/main" val="2653159195"/>
                  </p:ext>
                </p:extLst>
              </p:nvPr>
            </p:nvGraphicFramePr>
            <p:xfrm>
              <a:off x="1943100" y="3462654"/>
              <a:ext cx="8285798" cy="1920240"/>
            </p:xfrm>
            <a:graphic>
              <a:graphicData uri="http://schemas.openxmlformats.org/drawingml/2006/table">
                <a:tbl>
                  <a:tblPr firstRow="1" bandRow="1">
                    <a:tableStyleId>{5940675A-B579-460E-94D1-54222C63F5DA}</a:tableStyleId>
                  </a:tblPr>
                  <a:tblGrid>
                    <a:gridCol w="1360169"/>
                    <a:gridCol w="3646170"/>
                    <a:gridCol w="3279459"/>
                  </a:tblGrid>
                  <a:tr h="640080">
                    <a:tc>
                      <a:txBody>
                        <a:bodyPr/>
                        <a:lstStyle/>
                        <a:p>
                          <a:pPr algn="ctr"/>
                          <a:r>
                            <a:rPr lang="zh-CN" altLang="en-US" dirty="0" smtClean="0"/>
                            <a:t>准确率</a:t>
                          </a:r>
                          <a:r>
                            <a:rPr lang="en-US" altLang="zh-CN" dirty="0" smtClean="0"/>
                            <a:t>ACC</a:t>
                          </a:r>
                          <a:endParaRPr lang="zh-CN" altLang="en-US" dirty="0"/>
                        </a:p>
                      </a:txBody>
                      <a:tcPr anchor="ctr"/>
                    </a:tc>
                    <a:tc>
                      <a:txBody>
                        <a:bodyPr/>
                        <a:lstStyle/>
                        <a:p>
                          <a:endParaRPr lang="zh-CN"/>
                        </a:p>
                      </a:txBody>
                      <a:tcPr anchor="ctr">
                        <a:blipFill rotWithShape="0">
                          <a:blip r:embed="rId3"/>
                          <a:stretch>
                            <a:fillRect l="-37396" t="-4762" r="-90317" b="-215238"/>
                          </a:stretch>
                        </a:blipFill>
                      </a:tcPr>
                    </a:tc>
                    <a:tc>
                      <a:txBody>
                        <a:bodyPr/>
                        <a:lstStyle/>
                        <a:p>
                          <a:pPr algn="ctr"/>
                          <a:r>
                            <a:rPr lang="zh-CN" altLang="en-US" dirty="0" smtClean="0"/>
                            <a:t>分类模型所有判断正确的结果占总观测值的比重</a:t>
                          </a:r>
                          <a:endParaRPr lang="zh-CN" altLang="en-US" dirty="0"/>
                        </a:p>
                      </a:txBody>
                      <a:tcPr anchor="ctr"/>
                    </a:tc>
                  </a:tr>
                  <a:tr h="640080">
                    <a:tc>
                      <a:txBody>
                        <a:bodyPr/>
                        <a:lstStyle/>
                        <a:p>
                          <a:pPr algn="ctr"/>
                          <a:r>
                            <a:rPr lang="zh-CN" altLang="en-US" dirty="0" smtClean="0"/>
                            <a:t>精确率</a:t>
                          </a:r>
                          <a:r>
                            <a:rPr lang="en-US" altLang="zh-CN" dirty="0" smtClean="0"/>
                            <a:t>PPV</a:t>
                          </a:r>
                          <a:endParaRPr lang="zh-CN" altLang="en-US" dirty="0"/>
                        </a:p>
                      </a:txBody>
                      <a:tcPr anchor="ctr"/>
                    </a:tc>
                    <a:tc>
                      <a:txBody>
                        <a:bodyPr/>
                        <a:lstStyle/>
                        <a:p>
                          <a:endParaRPr lang="zh-CN"/>
                        </a:p>
                      </a:txBody>
                      <a:tcPr anchor="ctr">
                        <a:blipFill rotWithShape="0">
                          <a:blip r:embed="rId3"/>
                          <a:stretch>
                            <a:fillRect l="-37396" t="-103774" r="-90317" b="-113208"/>
                          </a:stretch>
                        </a:blipFill>
                      </a:tcPr>
                    </a:tc>
                    <a:tc>
                      <a:txBody>
                        <a:bodyPr/>
                        <a:lstStyle/>
                        <a:p>
                          <a:pPr algn="ctr"/>
                          <a:r>
                            <a:rPr lang="zh-CN" altLang="en-US" dirty="0" smtClean="0"/>
                            <a:t>在模型预测是</a:t>
                          </a:r>
                          <a:r>
                            <a:rPr lang="en-US" altLang="zh-CN" dirty="0" smtClean="0"/>
                            <a:t>Positive</a:t>
                          </a:r>
                          <a:r>
                            <a:rPr lang="zh-CN" altLang="en-US" dirty="0" smtClean="0"/>
                            <a:t>的所有结果中，模型预测正确的比重</a:t>
                          </a:r>
                          <a:endParaRPr lang="zh-CN" altLang="en-US" dirty="0"/>
                        </a:p>
                      </a:txBody>
                      <a:tcPr anchor="ctr"/>
                    </a:tc>
                  </a:tr>
                  <a:tr h="640080">
                    <a:tc>
                      <a:txBody>
                        <a:bodyPr/>
                        <a:lstStyle/>
                        <a:p>
                          <a:pPr algn="ctr"/>
                          <a:r>
                            <a:rPr lang="zh-CN" altLang="en-US" dirty="0" smtClean="0"/>
                            <a:t>召回率</a:t>
                          </a:r>
                          <a:r>
                            <a:rPr lang="en-US" altLang="zh-CN" dirty="0" smtClean="0"/>
                            <a:t>TPR</a:t>
                          </a:r>
                          <a:endParaRPr lang="zh-CN" altLang="en-US" dirty="0"/>
                        </a:p>
                      </a:txBody>
                      <a:tcPr anchor="ctr"/>
                    </a:tc>
                    <a:tc>
                      <a:txBody>
                        <a:bodyPr/>
                        <a:lstStyle/>
                        <a:p>
                          <a:endParaRPr lang="zh-CN"/>
                        </a:p>
                      </a:txBody>
                      <a:tcPr anchor="ctr">
                        <a:blipFill rotWithShape="0">
                          <a:blip r:embed="rId3"/>
                          <a:stretch>
                            <a:fillRect l="-37396" t="-205714" r="-90317" b="-14286"/>
                          </a:stretch>
                        </a:blipFill>
                      </a:tcPr>
                    </a:tc>
                    <a:tc>
                      <a:txBody>
                        <a:bodyPr/>
                        <a:lstStyle/>
                        <a:p>
                          <a:pPr algn="ctr"/>
                          <a:r>
                            <a:rPr lang="zh-CN" altLang="en-US" dirty="0" smtClean="0"/>
                            <a:t>在真实值是</a:t>
                          </a:r>
                          <a:r>
                            <a:rPr lang="en-US" altLang="zh-CN" dirty="0" smtClean="0"/>
                            <a:t>Positive</a:t>
                          </a:r>
                          <a:r>
                            <a:rPr lang="zh-CN" altLang="en-US" dirty="0" smtClean="0"/>
                            <a:t>的所有结果种，模型预测正确的比重</a:t>
                          </a:r>
                          <a:endParaRPr lang="zh-CN" altLang="en-US" dirty="0"/>
                        </a:p>
                      </a:txBody>
                      <a:tcPr anchor="ctr"/>
                    </a:tc>
                  </a:tr>
                </a:tbl>
              </a:graphicData>
            </a:graphic>
          </p:graphicFrame>
        </mc:Fallback>
      </mc:AlternateContent>
    </p:spTree>
    <p:extLst>
      <p:ext uri="{BB962C8B-B14F-4D97-AF65-F5344CB8AC3E}">
        <p14:creationId xmlns:p14="http://schemas.microsoft.com/office/powerpoint/2010/main" val="583580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第一个例子：垃圾短信检测模型（高精确率）</a:t>
                </a:r>
                <a:endParaRPr lang="en-US" altLang="zh-CN" dirty="0" smtClean="0"/>
              </a:p>
              <a:p>
                <a:pPr lvl="1"/>
                <a14:m>
                  <m:oMath xmlns:m="http://schemas.openxmlformats.org/officeDocument/2006/math">
                    <m:r>
                      <a:rPr lang="en-US" altLang="zh-CN" sz="2000" i="1" dirty="0">
                        <a:latin typeface="Cambria Math" panose="02040503050406030204" pitchFamily="18" charset="0"/>
                      </a:rPr>
                      <m:t>𝐴𝑐𝑐𝑢𝑟𝑎𝑐𝑦</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𝑇𝑁</m:t>
                        </m:r>
                        <m:r>
                          <m:rPr>
                            <m:nor/>
                          </m:rPr>
                          <a:rPr lang="zh-CN" altLang="en-US" sz="2000" dirty="0"/>
                          <m:t> </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𝑇𝑁</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r>
                      <a:rPr lang="en-US" altLang="zh-CN" sz="2000" b="0" i="0"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3+89</m:t>
                        </m:r>
                      </m:num>
                      <m:den>
                        <m:r>
                          <a:rPr lang="en-US" altLang="zh-CN" sz="2000" b="0" i="1" dirty="0" smtClean="0">
                            <a:latin typeface="Cambria Math" panose="02040503050406030204" pitchFamily="18" charset="0"/>
                          </a:rPr>
                          <m:t>3+89+1+7</m:t>
                        </m:r>
                      </m:den>
                    </m:f>
                    <m:r>
                      <a:rPr lang="en-US" altLang="zh-CN" sz="2000" b="0" i="1" dirty="0" smtClean="0">
                        <a:latin typeface="Cambria Math" panose="02040503050406030204" pitchFamily="18" charset="0"/>
                      </a:rPr>
                      <m:t>=0.92</m:t>
                    </m:r>
                  </m:oMath>
                </a14:m>
                <a:endParaRPr lang="en-US" altLang="zh-CN" sz="2000" b="0" dirty="0" smtClean="0"/>
              </a:p>
              <a:p>
                <a:pPr lvl="1"/>
                <a14:m>
                  <m:oMath xmlns:m="http://schemas.openxmlformats.org/officeDocument/2006/math">
                    <m:r>
                      <a:rPr lang="en-US" altLang="zh-CN" sz="2000" i="1" dirty="0">
                        <a:latin typeface="Cambria Math" panose="02040503050406030204" pitchFamily="18" charset="0"/>
                      </a:rPr>
                      <m:t>𝑃𝑟𝑒𝑐𝑖𝑠𝑖𝑜𝑛</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den>
                    </m:f>
                    <m:r>
                      <a:rPr lang="en-US" altLang="zh-CN" sz="2000" b="0" i="1"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3</m:t>
                        </m:r>
                      </m:num>
                      <m:den>
                        <m:r>
                          <a:rPr lang="en-US" altLang="zh-CN" sz="2000" b="0" i="1" dirty="0" smtClean="0">
                            <a:latin typeface="Cambria Math" panose="02040503050406030204" pitchFamily="18" charset="0"/>
                          </a:rPr>
                          <m:t>3+1</m:t>
                        </m:r>
                      </m:den>
                    </m:f>
                    <m:r>
                      <a:rPr lang="en-US" altLang="zh-CN" sz="2000" b="0" i="1" dirty="0" smtClean="0">
                        <a:latin typeface="Cambria Math" panose="02040503050406030204" pitchFamily="18" charset="0"/>
                      </a:rPr>
                      <m:t>=0.75</m:t>
                    </m:r>
                  </m:oMath>
                </a14:m>
                <a:endParaRPr lang="en-US" altLang="zh-CN" sz="2000" b="0" dirty="0" smtClean="0"/>
              </a:p>
              <a:p>
                <a:pPr lvl="1"/>
                <a14:m>
                  <m:oMath xmlns:m="http://schemas.openxmlformats.org/officeDocument/2006/math">
                    <m:r>
                      <a:rPr lang="en-US" altLang="zh-CN" sz="2000" i="1" dirty="0">
                        <a:latin typeface="Cambria Math" panose="02040503050406030204" pitchFamily="18" charset="0"/>
                      </a:rPr>
                      <m:t>𝑅𝑒𝑐𝑎𝑙𝑙</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r>
                      <a:rPr lang="en-US" altLang="zh-CN" sz="2000" b="0" i="1"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3</m:t>
                        </m:r>
                      </m:num>
                      <m:den>
                        <m:r>
                          <a:rPr lang="en-US" altLang="zh-CN" sz="2000" b="0" i="1" dirty="0" smtClean="0">
                            <a:latin typeface="Cambria Math" panose="02040503050406030204" pitchFamily="18" charset="0"/>
                          </a:rPr>
                          <m:t>3+7</m:t>
                        </m:r>
                      </m:den>
                    </m:f>
                    <m:r>
                      <a:rPr lang="en-US" altLang="zh-CN" sz="2000" b="0" i="1" dirty="0" smtClean="0">
                        <a:latin typeface="Cambria Math" panose="02040503050406030204" pitchFamily="18" charset="0"/>
                      </a:rPr>
                      <m:t>=0.3</m:t>
                    </m:r>
                  </m:oMath>
                </a14:m>
                <a:endParaRPr lang="en-US" altLang="zh-CN" sz="2000" dirty="0" smtClean="0"/>
              </a:p>
              <a:p>
                <a:r>
                  <a:rPr lang="zh-CN" altLang="en-US" dirty="0"/>
                  <a:t>第二</a:t>
                </a:r>
                <a:r>
                  <a:rPr lang="zh-CN" altLang="en-US" dirty="0" smtClean="0"/>
                  <a:t>个例子：新冠患者检测模型（高召回率）</a:t>
                </a:r>
                <a:endParaRPr lang="en-US" altLang="zh-CN" dirty="0" smtClean="0"/>
              </a:p>
              <a:p>
                <a:pPr lvl="1"/>
                <a14:m>
                  <m:oMath xmlns:m="http://schemas.openxmlformats.org/officeDocument/2006/math">
                    <m:r>
                      <a:rPr lang="en-US" altLang="zh-CN" sz="2000" i="1" dirty="0">
                        <a:latin typeface="Cambria Math" panose="02040503050406030204" pitchFamily="18" charset="0"/>
                      </a:rPr>
                      <m:t>𝐴𝑐𝑐𝑢𝑟𝑎𝑐𝑦</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𝑇𝑁</m:t>
                        </m:r>
                        <m:r>
                          <m:rPr>
                            <m:nor/>
                          </m:rPr>
                          <a:rPr lang="zh-CN" altLang="en-US" sz="2000" dirty="0"/>
                          <m:t> </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𝑇𝑁</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r>
                      <a:rPr lang="en-US" altLang="zh-CN" sz="2000"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9+81</m:t>
                        </m:r>
                      </m:num>
                      <m:den>
                        <m:r>
                          <a:rPr lang="en-US" altLang="zh-CN" sz="2000" i="1" dirty="0">
                            <a:latin typeface="Cambria Math" panose="02040503050406030204" pitchFamily="18" charset="0"/>
                          </a:rPr>
                          <m:t>9+81+</m:t>
                        </m:r>
                        <m:r>
                          <a:rPr lang="en-US" altLang="zh-CN" sz="2000" b="0" i="1" dirty="0" smtClean="0">
                            <a:latin typeface="Cambria Math" panose="02040503050406030204" pitchFamily="18" charset="0"/>
                          </a:rPr>
                          <m:t>9</m:t>
                        </m:r>
                        <m:r>
                          <a:rPr lang="en-US" altLang="zh-CN" sz="2000" i="1" dirty="0">
                            <a:latin typeface="Cambria Math" panose="02040503050406030204" pitchFamily="18" charset="0"/>
                          </a:rPr>
                          <m:t>+</m:t>
                        </m:r>
                        <m:r>
                          <a:rPr lang="en-US" altLang="zh-CN" sz="2000" b="0" i="1" dirty="0" smtClean="0">
                            <a:latin typeface="Cambria Math" panose="02040503050406030204" pitchFamily="18" charset="0"/>
                          </a:rPr>
                          <m:t>1</m:t>
                        </m:r>
                      </m:den>
                    </m:f>
                    <m:r>
                      <a:rPr lang="en-US" altLang="zh-CN" sz="2000" i="1" dirty="0">
                        <a:latin typeface="Cambria Math" panose="02040503050406030204" pitchFamily="18" charset="0"/>
                      </a:rPr>
                      <m:t>=0.9</m:t>
                    </m:r>
                  </m:oMath>
                </a14:m>
                <a:endParaRPr lang="en-US" altLang="zh-CN" sz="2000" dirty="0"/>
              </a:p>
              <a:p>
                <a:pPr lvl="1"/>
                <a14:m>
                  <m:oMath xmlns:m="http://schemas.openxmlformats.org/officeDocument/2006/math">
                    <m:r>
                      <a:rPr lang="en-US" altLang="zh-CN" sz="2000" i="1" dirty="0">
                        <a:latin typeface="Cambria Math" panose="02040503050406030204" pitchFamily="18" charset="0"/>
                      </a:rPr>
                      <m:t>𝑃𝑟𝑒𝑐𝑖𝑠𝑖𝑜𝑛</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𝐹𝑃</m:t>
                        </m:r>
                      </m:den>
                    </m:f>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9</m:t>
                        </m:r>
                      </m:num>
                      <m:den>
                        <m:r>
                          <a:rPr lang="en-US" altLang="zh-CN" sz="2000" i="1" dirty="0">
                            <a:latin typeface="Cambria Math" panose="02040503050406030204" pitchFamily="18" charset="0"/>
                          </a:rPr>
                          <m:t>9+</m:t>
                        </m:r>
                        <m:r>
                          <a:rPr lang="en-US" altLang="zh-CN" sz="2000" b="0" i="1" dirty="0" smtClean="0">
                            <a:latin typeface="Cambria Math" panose="02040503050406030204" pitchFamily="18" charset="0"/>
                          </a:rPr>
                          <m:t>9</m:t>
                        </m:r>
                      </m:den>
                    </m:f>
                    <m:r>
                      <a:rPr lang="en-US" altLang="zh-CN" sz="2000" i="1" dirty="0">
                        <a:latin typeface="Cambria Math" panose="02040503050406030204" pitchFamily="18" charset="0"/>
                      </a:rPr>
                      <m:t>=0.</m:t>
                    </m:r>
                    <m:r>
                      <a:rPr lang="en-US" altLang="zh-CN" sz="2000" b="0" i="1" dirty="0" smtClean="0">
                        <a:latin typeface="Cambria Math" panose="02040503050406030204" pitchFamily="18" charset="0"/>
                      </a:rPr>
                      <m:t>5</m:t>
                    </m:r>
                  </m:oMath>
                </a14:m>
                <a:endParaRPr lang="en-US" altLang="zh-CN" sz="2000" dirty="0"/>
              </a:p>
              <a:p>
                <a:pPr lvl="1"/>
                <a14:m>
                  <m:oMath xmlns:m="http://schemas.openxmlformats.org/officeDocument/2006/math">
                    <m:r>
                      <a:rPr lang="en-US" altLang="zh-CN" sz="2000" i="1" dirty="0">
                        <a:latin typeface="Cambria Math" panose="02040503050406030204" pitchFamily="18" charset="0"/>
                      </a:rPr>
                      <m:t>𝑅𝑒𝑐𝑎𝑙𝑙</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𝑇𝑃</m:t>
                        </m:r>
                      </m:num>
                      <m:den>
                        <m:r>
                          <a:rPr lang="en-US" altLang="zh-CN" sz="2000" i="1" dirty="0">
                            <a:latin typeface="Cambria Math" panose="02040503050406030204" pitchFamily="18" charset="0"/>
                          </a:rPr>
                          <m:t>𝑇𝑃</m:t>
                        </m:r>
                        <m:r>
                          <a:rPr lang="en-US" altLang="zh-CN" sz="2000" i="1" dirty="0">
                            <a:latin typeface="Cambria Math" panose="02040503050406030204" pitchFamily="18" charset="0"/>
                          </a:rPr>
                          <m:t>+</m:t>
                        </m:r>
                        <m:r>
                          <a:rPr lang="en-US" altLang="zh-CN" sz="2000" i="1" dirty="0">
                            <a:latin typeface="Cambria Math" panose="02040503050406030204" pitchFamily="18" charset="0"/>
                          </a:rPr>
                          <m:t>𝐹𝑁</m:t>
                        </m:r>
                      </m:den>
                    </m:f>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9</m:t>
                        </m:r>
                      </m:num>
                      <m:den>
                        <m:r>
                          <a:rPr lang="en-US" altLang="zh-CN" sz="2000" i="1" dirty="0">
                            <a:latin typeface="Cambria Math" panose="02040503050406030204" pitchFamily="18" charset="0"/>
                          </a:rPr>
                          <m:t>9+1</m:t>
                        </m:r>
                      </m:den>
                    </m:f>
                    <m:r>
                      <a:rPr lang="en-US" altLang="zh-CN" sz="2000" i="1" dirty="0">
                        <a:latin typeface="Cambria Math" panose="02040503050406030204" pitchFamily="18" charset="0"/>
                      </a:rPr>
                      <m:t>=0.</m:t>
                    </m:r>
                    <m:r>
                      <a:rPr lang="en-US" altLang="zh-CN" sz="2000" b="0" i="1" dirty="0" smtClean="0">
                        <a:latin typeface="Cambria Math" panose="02040503050406030204" pitchFamily="18" charset="0"/>
                      </a:rPr>
                      <m:t>9</m:t>
                    </m:r>
                  </m:oMath>
                </a14:m>
                <a:endParaRPr lang="en-US" altLang="zh-CN" sz="2000"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2109602258"/>
              </p:ext>
            </p:extLst>
          </p:nvPr>
        </p:nvGraphicFramePr>
        <p:xfrm>
          <a:off x="7086916" y="1678939"/>
          <a:ext cx="4433572" cy="1494368"/>
        </p:xfrm>
        <a:graphic>
          <a:graphicData uri="http://schemas.openxmlformats.org/drawingml/2006/table">
            <a:tbl>
              <a:tblPr firstRow="1" bandRow="1">
                <a:tableStyleId>{5940675A-B579-460E-94D1-54222C63F5DA}</a:tableStyleId>
              </a:tblPr>
              <a:tblGrid>
                <a:gridCol w="1108393"/>
                <a:gridCol w="1108393"/>
                <a:gridCol w="1108393"/>
                <a:gridCol w="1108393"/>
              </a:tblGrid>
              <a:tr h="373592">
                <a:tc rowSpan="2" gridSpan="2">
                  <a:txBody>
                    <a:bodyPr/>
                    <a:lstStyle/>
                    <a:p>
                      <a:pPr algn="ctr"/>
                      <a:endParaRPr lang="zh-CN" altLang="en-US" dirty="0"/>
                    </a:p>
                  </a:txBody>
                  <a:tcPr anchor="ctr"/>
                </a:tc>
                <a:tc rowSpan="2" hMerge="1">
                  <a:txBody>
                    <a:bodyPr/>
                    <a:lstStyle/>
                    <a:p>
                      <a:endParaRPr lang="zh-CN" altLang="en-US"/>
                    </a:p>
                  </a:txBody>
                  <a:tcPr/>
                </a:tc>
                <a:tc gridSpan="2">
                  <a:txBody>
                    <a:bodyPr/>
                    <a:lstStyle/>
                    <a:p>
                      <a:pPr algn="ctr"/>
                      <a:r>
                        <a:rPr lang="zh-CN" altLang="en-US" dirty="0" smtClean="0"/>
                        <a:t>真实值</a:t>
                      </a:r>
                      <a:endParaRPr lang="zh-CN" altLang="en-US" dirty="0"/>
                    </a:p>
                  </a:txBody>
                  <a:tcPr anchor="ctr"/>
                </a:tc>
                <a:tc hMerge="1">
                  <a:txBody>
                    <a:bodyPr/>
                    <a:lstStyle/>
                    <a:p>
                      <a:endParaRPr lang="zh-CN" altLang="en-US" dirty="0"/>
                    </a:p>
                  </a:txBody>
                  <a:tcPr/>
                </a:tc>
              </a:tr>
              <a:tr h="373592">
                <a:tc gridSpan="2" vMerge="1">
                  <a:txBody>
                    <a:bodyPr/>
                    <a:lstStyle/>
                    <a:p>
                      <a:endParaRPr lang="zh-CN" altLang="en-US" dirty="0"/>
                    </a:p>
                  </a:txBody>
                  <a:tcPr/>
                </a:tc>
                <a:tc hMerge="1"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Positive</a:t>
                      </a:r>
                      <a:endParaRPr lang="zh-CN" altLang="en-US" dirty="0" smtClean="0"/>
                    </a:p>
                  </a:txBody>
                  <a:tcPr anchor="ctr"/>
                </a:tc>
                <a:tc>
                  <a:txBody>
                    <a:bodyPr/>
                    <a:lstStyle/>
                    <a:p>
                      <a:pPr algn="ctr"/>
                      <a:r>
                        <a:rPr lang="en-US" altLang="zh-CN" dirty="0" smtClean="0"/>
                        <a:t>Negative</a:t>
                      </a:r>
                      <a:endParaRPr lang="zh-CN" altLang="en-US" dirty="0"/>
                    </a:p>
                  </a:txBody>
                  <a:tcPr anchor="ctr"/>
                </a:tc>
              </a:tr>
              <a:tr h="373592">
                <a:tc rowSpan="2">
                  <a:txBody>
                    <a:bodyPr/>
                    <a:lstStyle/>
                    <a:p>
                      <a:pPr algn="ctr"/>
                      <a:r>
                        <a:rPr lang="zh-CN" altLang="en-US" dirty="0" smtClean="0"/>
                        <a:t>预测值</a:t>
                      </a:r>
                      <a:endParaRPr lang="zh-CN" altLang="en-US" dirty="0"/>
                    </a:p>
                  </a:txBody>
                  <a:tcPr anchor="ctr"/>
                </a:tc>
                <a:tc>
                  <a:txBody>
                    <a:bodyPr/>
                    <a:lstStyle/>
                    <a:p>
                      <a:pPr algn="ctr"/>
                      <a:r>
                        <a:rPr lang="en-US" altLang="zh-CN" dirty="0" smtClean="0"/>
                        <a:t>Positive</a:t>
                      </a:r>
                      <a:endParaRPr lang="zh-CN" altLang="en-US" dirty="0"/>
                    </a:p>
                  </a:txBody>
                  <a:tcPr anchor="ctr"/>
                </a:tc>
                <a:tc>
                  <a:txBody>
                    <a:bodyPr/>
                    <a:lstStyle/>
                    <a:p>
                      <a:pPr algn="ctr"/>
                      <a:r>
                        <a:rPr lang="en-US" altLang="zh-CN" dirty="0" smtClean="0"/>
                        <a:t>TP=3</a:t>
                      </a:r>
                      <a:endParaRPr lang="zh-CN" altLang="en-US" dirty="0"/>
                    </a:p>
                  </a:txBody>
                  <a:tcPr anchor="ctr"/>
                </a:tc>
                <a:tc>
                  <a:txBody>
                    <a:bodyPr/>
                    <a:lstStyle/>
                    <a:p>
                      <a:pPr algn="ctr"/>
                      <a:r>
                        <a:rPr lang="en-US" altLang="zh-CN" dirty="0" smtClean="0"/>
                        <a:t>FP=1</a:t>
                      </a:r>
                      <a:endParaRPr lang="zh-CN" altLang="en-US" dirty="0"/>
                    </a:p>
                  </a:txBody>
                  <a:tcPr anchor="ctr"/>
                </a:tc>
              </a:tr>
              <a:tr h="373592">
                <a:tc vMerge="1">
                  <a:txBody>
                    <a:bodyPr/>
                    <a:lstStyle/>
                    <a:p>
                      <a:endParaRPr lang="zh-CN" altLang="en-US" dirty="0"/>
                    </a:p>
                  </a:txBody>
                  <a:tcPr/>
                </a:tc>
                <a:tc>
                  <a:txBody>
                    <a:bodyPr/>
                    <a:lstStyle/>
                    <a:p>
                      <a:pPr algn="ctr"/>
                      <a:r>
                        <a:rPr lang="en-US" altLang="zh-CN" dirty="0" smtClean="0"/>
                        <a:t>Negative</a:t>
                      </a:r>
                      <a:endParaRPr lang="zh-CN" altLang="en-US" dirty="0"/>
                    </a:p>
                  </a:txBody>
                  <a:tcPr anchor="ctr"/>
                </a:tc>
                <a:tc>
                  <a:txBody>
                    <a:bodyPr/>
                    <a:lstStyle/>
                    <a:p>
                      <a:pPr algn="ctr"/>
                      <a:r>
                        <a:rPr lang="en-US" altLang="zh-CN" dirty="0" smtClean="0"/>
                        <a:t>FN=7</a:t>
                      </a:r>
                      <a:endParaRPr lang="zh-CN" altLang="en-US" dirty="0"/>
                    </a:p>
                  </a:txBody>
                  <a:tcPr anchor="ctr"/>
                </a:tc>
                <a:tc>
                  <a:txBody>
                    <a:bodyPr/>
                    <a:lstStyle/>
                    <a:p>
                      <a:pPr algn="ctr"/>
                      <a:r>
                        <a:rPr lang="en-US" altLang="zh-CN" dirty="0" smtClean="0"/>
                        <a:t>TN=89</a:t>
                      </a:r>
                      <a:endParaRPr lang="zh-CN" altLang="en-US" dirty="0"/>
                    </a:p>
                  </a:txBody>
                  <a:tcPr anchor="ct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924101430"/>
              </p:ext>
            </p:extLst>
          </p:nvPr>
        </p:nvGraphicFramePr>
        <p:xfrm>
          <a:off x="7086916" y="4037116"/>
          <a:ext cx="4433572" cy="1494368"/>
        </p:xfrm>
        <a:graphic>
          <a:graphicData uri="http://schemas.openxmlformats.org/drawingml/2006/table">
            <a:tbl>
              <a:tblPr firstRow="1" bandRow="1">
                <a:tableStyleId>{5940675A-B579-460E-94D1-54222C63F5DA}</a:tableStyleId>
              </a:tblPr>
              <a:tblGrid>
                <a:gridCol w="1108393"/>
                <a:gridCol w="1108393"/>
                <a:gridCol w="1108393"/>
                <a:gridCol w="1108393"/>
              </a:tblGrid>
              <a:tr h="373592">
                <a:tc rowSpan="2" gridSpan="2">
                  <a:txBody>
                    <a:bodyPr/>
                    <a:lstStyle/>
                    <a:p>
                      <a:pPr algn="ctr"/>
                      <a:endParaRPr lang="zh-CN" altLang="en-US" dirty="0"/>
                    </a:p>
                  </a:txBody>
                  <a:tcPr anchor="ctr"/>
                </a:tc>
                <a:tc rowSpan="2" hMerge="1">
                  <a:txBody>
                    <a:bodyPr/>
                    <a:lstStyle/>
                    <a:p>
                      <a:endParaRPr lang="zh-CN" altLang="en-US"/>
                    </a:p>
                  </a:txBody>
                  <a:tcPr/>
                </a:tc>
                <a:tc gridSpan="2">
                  <a:txBody>
                    <a:bodyPr/>
                    <a:lstStyle/>
                    <a:p>
                      <a:pPr algn="ctr"/>
                      <a:r>
                        <a:rPr lang="zh-CN" altLang="en-US" dirty="0" smtClean="0"/>
                        <a:t>真实值</a:t>
                      </a:r>
                      <a:endParaRPr lang="zh-CN" altLang="en-US" dirty="0"/>
                    </a:p>
                  </a:txBody>
                  <a:tcPr anchor="ctr"/>
                </a:tc>
                <a:tc hMerge="1">
                  <a:txBody>
                    <a:bodyPr/>
                    <a:lstStyle/>
                    <a:p>
                      <a:endParaRPr lang="zh-CN" altLang="en-US" dirty="0"/>
                    </a:p>
                  </a:txBody>
                  <a:tcPr/>
                </a:tc>
              </a:tr>
              <a:tr h="373592">
                <a:tc gridSpan="2" vMerge="1">
                  <a:txBody>
                    <a:bodyPr/>
                    <a:lstStyle/>
                    <a:p>
                      <a:endParaRPr lang="zh-CN" altLang="en-US" dirty="0"/>
                    </a:p>
                  </a:txBody>
                  <a:tcPr/>
                </a:tc>
                <a:tc hMerge="1"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smtClean="0"/>
                        <a:t>Positive</a:t>
                      </a:r>
                      <a:endParaRPr lang="zh-CN" altLang="en-US" dirty="0" smtClean="0"/>
                    </a:p>
                  </a:txBody>
                  <a:tcPr anchor="ctr"/>
                </a:tc>
                <a:tc>
                  <a:txBody>
                    <a:bodyPr/>
                    <a:lstStyle/>
                    <a:p>
                      <a:pPr algn="ctr"/>
                      <a:r>
                        <a:rPr lang="en-US" altLang="zh-CN" dirty="0" smtClean="0"/>
                        <a:t>Negative</a:t>
                      </a:r>
                      <a:endParaRPr lang="zh-CN" altLang="en-US" dirty="0"/>
                    </a:p>
                  </a:txBody>
                  <a:tcPr anchor="ctr"/>
                </a:tc>
              </a:tr>
              <a:tr h="373592">
                <a:tc rowSpan="2">
                  <a:txBody>
                    <a:bodyPr/>
                    <a:lstStyle/>
                    <a:p>
                      <a:pPr algn="ctr"/>
                      <a:r>
                        <a:rPr lang="zh-CN" altLang="en-US" dirty="0" smtClean="0"/>
                        <a:t>预测值</a:t>
                      </a:r>
                      <a:endParaRPr lang="zh-CN" altLang="en-US" dirty="0"/>
                    </a:p>
                  </a:txBody>
                  <a:tcPr anchor="ctr"/>
                </a:tc>
                <a:tc>
                  <a:txBody>
                    <a:bodyPr/>
                    <a:lstStyle/>
                    <a:p>
                      <a:pPr algn="ctr"/>
                      <a:r>
                        <a:rPr lang="en-US" altLang="zh-CN" dirty="0" smtClean="0"/>
                        <a:t>Positive</a:t>
                      </a:r>
                      <a:endParaRPr lang="zh-CN" altLang="en-US" dirty="0"/>
                    </a:p>
                  </a:txBody>
                  <a:tcPr anchor="ctr"/>
                </a:tc>
                <a:tc>
                  <a:txBody>
                    <a:bodyPr/>
                    <a:lstStyle/>
                    <a:p>
                      <a:pPr algn="ctr"/>
                      <a:r>
                        <a:rPr lang="en-US" altLang="zh-CN" dirty="0" smtClean="0"/>
                        <a:t>TP=9</a:t>
                      </a:r>
                      <a:endParaRPr lang="zh-CN" altLang="en-US" dirty="0"/>
                    </a:p>
                  </a:txBody>
                  <a:tcPr anchor="ctr"/>
                </a:tc>
                <a:tc>
                  <a:txBody>
                    <a:bodyPr/>
                    <a:lstStyle/>
                    <a:p>
                      <a:pPr algn="ctr"/>
                      <a:r>
                        <a:rPr lang="en-US" altLang="zh-CN" dirty="0" smtClean="0"/>
                        <a:t>FP=9</a:t>
                      </a:r>
                      <a:endParaRPr lang="zh-CN" altLang="en-US" dirty="0"/>
                    </a:p>
                  </a:txBody>
                  <a:tcPr anchor="ctr"/>
                </a:tc>
              </a:tr>
              <a:tr h="373592">
                <a:tc vMerge="1">
                  <a:txBody>
                    <a:bodyPr/>
                    <a:lstStyle/>
                    <a:p>
                      <a:endParaRPr lang="zh-CN" altLang="en-US" dirty="0"/>
                    </a:p>
                  </a:txBody>
                  <a:tcPr/>
                </a:tc>
                <a:tc>
                  <a:txBody>
                    <a:bodyPr/>
                    <a:lstStyle/>
                    <a:p>
                      <a:pPr algn="ctr"/>
                      <a:r>
                        <a:rPr lang="en-US" altLang="zh-CN" dirty="0" smtClean="0"/>
                        <a:t>Negative</a:t>
                      </a:r>
                      <a:endParaRPr lang="zh-CN" altLang="en-US" dirty="0"/>
                    </a:p>
                  </a:txBody>
                  <a:tcPr anchor="ctr"/>
                </a:tc>
                <a:tc>
                  <a:txBody>
                    <a:bodyPr/>
                    <a:lstStyle/>
                    <a:p>
                      <a:pPr algn="ctr"/>
                      <a:r>
                        <a:rPr lang="en-US" altLang="zh-CN" dirty="0" smtClean="0"/>
                        <a:t>FN=1</a:t>
                      </a:r>
                      <a:endParaRPr lang="zh-CN" altLang="en-US" dirty="0"/>
                    </a:p>
                  </a:txBody>
                  <a:tcPr anchor="ctr"/>
                </a:tc>
                <a:tc>
                  <a:txBody>
                    <a:bodyPr/>
                    <a:lstStyle/>
                    <a:p>
                      <a:pPr algn="ctr"/>
                      <a:r>
                        <a:rPr lang="en-US" altLang="zh-CN" dirty="0" smtClean="0"/>
                        <a:t>TN=81</a:t>
                      </a:r>
                      <a:endParaRPr lang="zh-CN" altLang="en-US" dirty="0"/>
                    </a:p>
                  </a:txBody>
                  <a:tcPr anchor="ctr"/>
                </a:tc>
              </a:tr>
            </a:tbl>
          </a:graphicData>
        </a:graphic>
      </p:graphicFrame>
    </p:spTree>
    <p:extLst>
      <p:ext uri="{BB962C8B-B14F-4D97-AF65-F5344CB8AC3E}">
        <p14:creationId xmlns:p14="http://schemas.microsoft.com/office/powerpoint/2010/main" val="1904470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混淆矩阵</a:t>
                </a:r>
                <a:r>
                  <a:rPr lang="en-US" altLang="zh-CN" dirty="0" smtClean="0"/>
                  <a:t>F-Measure</a:t>
                </a:r>
                <a:r>
                  <a:rPr lang="zh-CN" altLang="en-US" dirty="0" smtClean="0"/>
                  <a:t>：</a:t>
                </a:r>
                <a:endParaRPr lang="en-US" altLang="zh-CN" dirty="0" smtClean="0"/>
              </a:p>
              <a:p>
                <a:pPr lvl="1"/>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𝐹</m:t>
                        </m:r>
                      </m:e>
                      <m:sub>
                        <m:r>
                          <a:rPr lang="zh-CN" altLang="en-US" sz="2000" b="0" i="1" smtClean="0">
                            <a:latin typeface="Cambria Math" panose="02040503050406030204" pitchFamily="18" charset="0"/>
                          </a:rPr>
                          <m:t>𝛼</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d>
                          <m:dPr>
                            <m:ctrlPr>
                              <a:rPr lang="en-US" altLang="zh-CN" sz="2000" b="0" i="1" smtClean="0">
                                <a:latin typeface="Cambria Math" panose="02040503050406030204" pitchFamily="18" charset="0"/>
                              </a:rPr>
                            </m:ctrlPr>
                          </m:dPr>
                          <m:e>
                            <m:sSup>
                              <m:sSupPr>
                                <m:ctrlPr>
                                  <a:rPr lang="en-US" altLang="zh-CN" sz="2000" b="0" i="1" smtClean="0">
                                    <a:latin typeface="Cambria Math" panose="02040503050406030204" pitchFamily="18" charset="0"/>
                                  </a:rPr>
                                </m:ctrlPr>
                              </m:sSupPr>
                              <m:e>
                                <m:r>
                                  <a:rPr lang="zh-CN" altLang="en-US" sz="2000" b="0" i="1" smtClean="0">
                                    <a:latin typeface="Cambria Math" panose="02040503050406030204" pitchFamily="18" charset="0"/>
                                  </a:rPr>
                                  <m:t>𝛼</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+1</m:t>
                            </m:r>
                          </m:e>
                        </m:d>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𝑝𝑟𝑒𝑐𝑖𝑠𝑖𝑜𝑛</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𝑟𝑒𝑐𝑎𝑙𝑙</m:t>
                        </m:r>
                      </m:num>
                      <m:den>
                        <m:sSup>
                          <m:sSupPr>
                            <m:ctrlPr>
                              <a:rPr lang="en-US" altLang="zh-CN" sz="2000" b="0" i="1" smtClean="0">
                                <a:latin typeface="Cambria Math" panose="02040503050406030204" pitchFamily="18" charset="0"/>
                              </a:rPr>
                            </m:ctrlPr>
                          </m:sSupPr>
                          <m:e>
                            <m:r>
                              <a:rPr lang="zh-CN" altLang="en-US" sz="2000" b="0" i="1" smtClean="0">
                                <a:latin typeface="Cambria Math" panose="02040503050406030204" pitchFamily="18" charset="0"/>
                              </a:rPr>
                              <m:t>𝛼</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ea typeface="Cambria Math" panose="02040503050406030204" pitchFamily="18" charset="0"/>
                          </a:rPr>
                          <m:t>×</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𝑝𝑟𝑒𝑐𝑖𝑠𝑖𝑜𝑛</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𝑟𝑒𝑐𝑎𝑙𝑙</m:t>
                            </m:r>
                          </m:e>
                        </m:d>
                      </m:den>
                    </m:f>
                    <m:r>
                      <a:rPr lang="en-US" altLang="zh-CN" sz="2000" b="0" i="1" smtClean="0">
                        <a:latin typeface="Cambria Math" panose="02040503050406030204" pitchFamily="18" charset="0"/>
                        <a:ea typeface="Cambria Math" panose="02040503050406030204" pitchFamily="18" charset="0"/>
                      </a:rPr>
                      <m:t>∈</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0,1</m:t>
                        </m:r>
                      </m:e>
                    </m:d>
                  </m:oMath>
                </a14:m>
                <a:r>
                  <a:rPr lang="en-US" altLang="zh-CN" sz="2000" dirty="0" smtClean="0"/>
                  <a:t>,</a:t>
                </a:r>
              </a:p>
              <a:p>
                <a:pPr lvl="1"/>
                <a:r>
                  <a:rPr lang="zh-CN" altLang="en-US" dirty="0" smtClean="0">
                    <a:latin typeface="Cambria Math" panose="02040503050406030204" pitchFamily="18" charset="0"/>
                  </a:rPr>
                  <a:t>越接近</a:t>
                </a:r>
                <a:r>
                  <a:rPr lang="en-US" altLang="zh-CN" dirty="0" smtClean="0">
                    <a:latin typeface="Cambria Math" panose="02040503050406030204" pitchFamily="18" charset="0"/>
                  </a:rPr>
                  <a:t>1</a:t>
                </a:r>
                <a:r>
                  <a:rPr lang="zh-CN" altLang="en-US" dirty="0" smtClean="0">
                    <a:latin typeface="Cambria Math" panose="02040503050406030204" pitchFamily="18" charset="0"/>
                  </a:rPr>
                  <a:t>，模型的精确度越高</a:t>
                </a:r>
                <a:endParaRPr lang="en-US" altLang="zh-CN" dirty="0" smtClean="0">
                  <a:latin typeface="Cambria Math" panose="02040503050406030204" pitchFamily="18" charset="0"/>
                </a:endParaRPr>
              </a:p>
              <a:p>
                <a:pPr lvl="1"/>
                <a14:m>
                  <m:oMath xmlns:m="http://schemas.openxmlformats.org/officeDocument/2006/math">
                    <m:r>
                      <a:rPr lang="zh-CN" altLang="en-US" i="1" dirty="0" smtClean="0">
                        <a:latin typeface="Cambria Math" panose="02040503050406030204" pitchFamily="18" charset="0"/>
                      </a:rPr>
                      <m:t>𝛼</m:t>
                    </m:r>
                  </m:oMath>
                </a14:m>
                <a:r>
                  <a:rPr lang="zh-CN" altLang="en-US" dirty="0" smtClean="0"/>
                  <a:t>为权重参数</a:t>
                </a:r>
                <a:r>
                  <a:rPr lang="zh-CN" altLang="en-US" dirty="0"/>
                  <a:t>，</a:t>
                </a:r>
                <a14:m>
                  <m:oMath xmlns:m="http://schemas.openxmlformats.org/officeDocument/2006/math">
                    <m:r>
                      <a:rPr lang="zh-CN" altLang="en-US" i="1" dirty="0">
                        <a:latin typeface="Cambria Math" panose="02040503050406030204" pitchFamily="18" charset="0"/>
                      </a:rPr>
                      <m:t>𝛼</m:t>
                    </m:r>
                  </m:oMath>
                </a14:m>
                <a:r>
                  <a:rPr lang="zh-CN" altLang="en-US" dirty="0" smtClean="0"/>
                  <a:t>越大表明越关注</a:t>
                </a:r>
                <a14:m>
                  <m:oMath xmlns:m="http://schemas.openxmlformats.org/officeDocument/2006/math">
                    <m:r>
                      <a:rPr lang="en-US" altLang="zh-CN" i="1">
                        <a:latin typeface="Cambria Math" panose="02040503050406030204" pitchFamily="18" charset="0"/>
                        <a:ea typeface="Cambria Math" panose="02040503050406030204" pitchFamily="18" charset="0"/>
                      </a:rPr>
                      <m:t>𝑟𝑒𝑐𝑎𝑙𝑙</m:t>
                    </m:r>
                  </m:oMath>
                </a14:m>
                <a:r>
                  <a:rPr lang="zh-CN" altLang="en-US" dirty="0" smtClean="0"/>
                  <a:t>值</a:t>
                </a:r>
                <a:endParaRPr lang="en-US" altLang="zh-CN" dirty="0" smtClean="0"/>
              </a:p>
              <a:p>
                <a:pPr lvl="1"/>
                <a:r>
                  <a:rPr lang="zh-CN" altLang="en-US" dirty="0" smtClean="0"/>
                  <a:t>最常见的是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b="0" i="1" smtClean="0">
                            <a:latin typeface="Cambria Math" panose="02040503050406030204" pitchFamily="18" charset="0"/>
                          </a:rPr>
                          <m:t>1</m:t>
                        </m:r>
                      </m:sub>
                    </m:sSub>
                  </m:oMath>
                </a14:m>
                <a:r>
                  <a:rPr lang="zh-CN" altLang="en-US" dirty="0" smtClean="0"/>
                  <a:t>值，此时参数</a:t>
                </a:r>
                <a14:m>
                  <m:oMath xmlns:m="http://schemas.openxmlformats.org/officeDocument/2006/math">
                    <m:r>
                      <a:rPr lang="zh-CN" altLang="en-US" i="1" dirty="0">
                        <a:latin typeface="Cambria Math" panose="02040503050406030204" pitchFamily="18" charset="0"/>
                      </a:rPr>
                      <m:t>𝛼</m:t>
                    </m:r>
                    <m:r>
                      <a:rPr lang="en-US" altLang="zh-CN" b="0" i="1" dirty="0" smtClean="0">
                        <a:latin typeface="Cambria Math" panose="02040503050406030204" pitchFamily="18" charset="0"/>
                      </a:rPr>
                      <m:t>=1</m:t>
                    </m:r>
                  </m:oMath>
                </a14:m>
                <a:endParaRPr lang="en-US" altLang="zh-CN" dirty="0" smtClean="0"/>
              </a:p>
              <a:p>
                <a:pPr lvl="1"/>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b="0" i="1" smtClean="0">
                            <a:latin typeface="Cambria Math" panose="02040503050406030204" pitchFamily="18" charset="0"/>
                          </a:rPr>
                          <m:t>1</m:t>
                        </m:r>
                      </m:sub>
                    </m:sSub>
                    <m:r>
                      <a:rPr lang="en-US" altLang="zh-CN" sz="2000" i="1">
                        <a:latin typeface="Cambria Math" panose="02040503050406030204" pitchFamily="18" charset="0"/>
                      </a:rPr>
                      <m:t>=</m:t>
                    </m:r>
                    <m:r>
                      <a:rPr lang="en-US" altLang="zh-CN" sz="2000" b="0" i="1" smtClean="0">
                        <a:latin typeface="Cambria Math" panose="02040503050406030204" pitchFamily="18" charset="0"/>
                      </a:rPr>
                      <m:t>2</m:t>
                    </m:r>
                    <m:r>
                      <a:rPr lang="en-US" altLang="zh-CN" sz="2000" b="0" i="1"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𝑝𝑟𝑒𝑐𝑖𝑠𝑖𝑜𝑛</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𝑟𝑒𝑐𝑎𝑙𝑙</m:t>
                        </m:r>
                      </m:num>
                      <m:den>
                        <m:r>
                          <a:rPr lang="en-US" altLang="zh-CN" sz="2000" i="1">
                            <a:latin typeface="Cambria Math" panose="02040503050406030204" pitchFamily="18" charset="0"/>
                            <a:ea typeface="Cambria Math" panose="02040503050406030204" pitchFamily="18" charset="0"/>
                          </a:rPr>
                          <m:t>𝑝𝑟𝑒𝑐𝑖𝑠𝑖𝑜𝑛</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𝑟𝑒𝑐𝑎𝑙𝑙</m:t>
                        </m:r>
                      </m:den>
                    </m:f>
                  </m:oMath>
                </a14:m>
                <a:endParaRPr lang="en-US" altLang="zh-CN" sz="2000" dirty="0" smtClean="0"/>
              </a:p>
              <a:p>
                <a:pPr lvl="1"/>
                <a:r>
                  <a:rPr lang="zh-CN" altLang="en-US" dirty="0" smtClean="0"/>
                  <a:t>综合考虑了</a:t>
                </a:r>
                <a:r>
                  <a:rPr lang="en-US" altLang="zh-CN" dirty="0"/>
                  <a:t>precision</a:t>
                </a:r>
                <a:r>
                  <a:rPr lang="zh-CN" altLang="en-US" dirty="0"/>
                  <a:t>和</a:t>
                </a:r>
                <a:r>
                  <a:rPr lang="en-US" altLang="zh-CN" dirty="0"/>
                  <a:t>recall</a:t>
                </a:r>
                <a:r>
                  <a:rPr lang="zh-CN" altLang="en-US" dirty="0"/>
                  <a:t>两方面的</a:t>
                </a:r>
                <a:r>
                  <a:rPr lang="zh-CN" altLang="en-US" dirty="0" smtClean="0"/>
                  <a:t>因素</a:t>
                </a:r>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402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smtClean="0"/>
              <a:t>P-R</a:t>
            </a:r>
            <a:r>
              <a:rPr lang="zh-CN" altLang="en-US" dirty="0" smtClean="0"/>
              <a:t>曲线和</a:t>
            </a:r>
            <a:r>
              <a:rPr lang="en-US" altLang="zh-CN" dirty="0" smtClean="0"/>
              <a:t>AP</a:t>
            </a:r>
          </a:p>
          <a:p>
            <a:pPr lvl="1"/>
            <a:r>
              <a:rPr lang="zh-CN" altLang="en-US" dirty="0" smtClean="0"/>
              <a:t>描述精确率和召回率变化的曲线</a:t>
            </a:r>
            <a:endParaRPr lang="en-US" altLang="zh-CN" dirty="0" smtClean="0"/>
          </a:p>
          <a:p>
            <a:pPr lvl="1"/>
            <a:r>
              <a:rPr lang="zh-CN" altLang="en-US" dirty="0" smtClean="0"/>
              <a:t>综合考虑了</a:t>
            </a:r>
            <a:r>
              <a:rPr lang="en-US" altLang="zh-CN" dirty="0" smtClean="0"/>
              <a:t>precision</a:t>
            </a:r>
            <a:r>
              <a:rPr lang="zh-CN" altLang="en-US" dirty="0"/>
              <a:t>和</a:t>
            </a:r>
            <a:r>
              <a:rPr lang="en-US" altLang="zh-CN" dirty="0"/>
              <a:t>recall</a:t>
            </a:r>
            <a:r>
              <a:rPr lang="zh-CN" altLang="en-US" dirty="0"/>
              <a:t>两方面的因素</a:t>
            </a:r>
            <a:endParaRPr lang="en-US" altLang="zh-CN" dirty="0"/>
          </a:p>
          <a:p>
            <a:pPr lvl="1"/>
            <a:r>
              <a:rPr lang="zh-CN" altLang="en-US" dirty="0" smtClean="0"/>
              <a:t>曲线与坐标轴围成的面积大小称为</a:t>
            </a:r>
            <a:r>
              <a:rPr lang="en-US" altLang="zh-CN" dirty="0" smtClean="0"/>
              <a:t>AP</a:t>
            </a:r>
          </a:p>
          <a:p>
            <a:pPr lvl="1"/>
            <a:r>
              <a:rPr lang="en-US" altLang="zh-CN" dirty="0" smtClean="0"/>
              <a:t>AP</a:t>
            </a:r>
            <a:r>
              <a:rPr lang="zh-CN" altLang="en-US" dirty="0" smtClean="0"/>
              <a:t>反映模型的性能</a:t>
            </a:r>
            <a:endParaRPr lang="en-US" altLang="zh-CN" dirty="0" smtClean="0"/>
          </a:p>
          <a:p>
            <a:pPr lvl="1"/>
            <a:r>
              <a:rPr lang="zh-CN" altLang="en-US" dirty="0" smtClean="0"/>
              <a:t>平衡点</a:t>
            </a:r>
            <a:r>
              <a:rPr lang="zh-CN" altLang="en-US" dirty="0"/>
              <a:t>（</a:t>
            </a:r>
            <a:r>
              <a:rPr lang="en-US" altLang="zh-CN" dirty="0"/>
              <a:t>Break-Event Point</a:t>
            </a:r>
            <a:r>
              <a:rPr lang="zh-CN" altLang="en-US" dirty="0" smtClean="0"/>
              <a:t>）反映模型的性能</a:t>
            </a:r>
            <a:endParaRPr lang="en-US" altLang="zh-CN" dirty="0"/>
          </a:p>
          <a:p>
            <a:pPr lvl="1"/>
            <a:endParaRPr lang="en-US" altLang="zh-CN" dirty="0" smtClean="0"/>
          </a:p>
          <a:p>
            <a:pPr lvl="1"/>
            <a:endParaRPr lang="en-US" altLang="zh-CN" dirty="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5638" y="1476373"/>
            <a:ext cx="4514850" cy="4314825"/>
          </a:xfrm>
          <a:prstGeom prst="rect">
            <a:avLst/>
          </a:prstGeom>
        </p:spPr>
      </p:pic>
    </p:spTree>
    <p:extLst>
      <p:ext uri="{BB962C8B-B14F-4D97-AF65-F5344CB8AC3E}">
        <p14:creationId xmlns:p14="http://schemas.microsoft.com/office/powerpoint/2010/main" val="38439075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评价指标</a:t>
                </a:r>
                <a:r>
                  <a:rPr lang="en-US" altLang="zh-CN" dirty="0" err="1" smtClean="0"/>
                  <a:t>mAP</a:t>
                </a:r>
                <a:r>
                  <a:rPr lang="en-US" altLang="zh-CN" dirty="0" smtClean="0"/>
                  <a:t>(mean Average Precision):</a:t>
                </a:r>
              </a:p>
              <a:p>
                <a:pPr lvl="1"/>
                <a:r>
                  <a:rPr lang="en-US" altLang="zh-CN" dirty="0" err="1" smtClean="0"/>
                  <a:t>mAP</a:t>
                </a:r>
                <a:r>
                  <a:rPr lang="zh-CN" altLang="en-US" dirty="0" smtClean="0"/>
                  <a:t>（</a:t>
                </a:r>
                <a:r>
                  <a:rPr lang="en-US" altLang="zh-CN" dirty="0" smtClean="0"/>
                  <a:t>mean Average Precision</a:t>
                </a:r>
                <a:r>
                  <a:rPr lang="zh-CN" altLang="en-US" dirty="0" smtClean="0"/>
                  <a:t>），即各类别</a:t>
                </a:r>
                <a:r>
                  <a:rPr lang="en-US" altLang="zh-CN" dirty="0" smtClean="0"/>
                  <a:t>AP</a:t>
                </a:r>
                <a:r>
                  <a:rPr lang="zh-CN" altLang="en-US" dirty="0" smtClean="0"/>
                  <a:t>的平均值</a:t>
                </a:r>
                <a:endParaRPr lang="en-US" altLang="zh-CN" dirty="0" smtClean="0"/>
              </a:p>
              <a:p>
                <a:pPr lvl="1"/>
                <a:r>
                  <a:rPr lang="en-US" altLang="zh-CN" dirty="0" smtClean="0"/>
                  <a:t>AP</a:t>
                </a:r>
                <a:r>
                  <a:rPr lang="zh-CN" altLang="en-US" dirty="0" smtClean="0"/>
                  <a:t>：</a:t>
                </a:r>
                <a:r>
                  <a:rPr lang="en-US" altLang="zh-CN" dirty="0" smtClean="0"/>
                  <a:t>P-R</a:t>
                </a:r>
                <a:r>
                  <a:rPr lang="zh-CN" altLang="en-US" dirty="0" smtClean="0"/>
                  <a:t>曲线下的面积</a:t>
                </a:r>
                <a:endParaRPr lang="en-US" altLang="zh-CN" dirty="0" smtClean="0"/>
              </a:p>
              <a:p>
                <a:pPr lvl="1"/>
                <a:r>
                  <a:rPr lang="en-US" altLang="zh-CN" dirty="0" smtClean="0"/>
                  <a:t>P-R</a:t>
                </a:r>
                <a:r>
                  <a:rPr lang="zh-CN" altLang="en-US" dirty="0" smtClean="0"/>
                  <a:t>曲线：</a:t>
                </a:r>
                <a:r>
                  <a:rPr lang="en-US" altLang="zh-CN" dirty="0" smtClean="0"/>
                  <a:t>Precision-Recall</a:t>
                </a:r>
                <a:r>
                  <a:rPr lang="zh-CN" altLang="en-US" dirty="0" smtClean="0"/>
                  <a:t>曲线</a:t>
                </a:r>
                <a:endParaRPr lang="en-US" altLang="zh-CN" dirty="0" smtClean="0"/>
              </a:p>
              <a:p>
                <a:pPr lvl="1"/>
                <a:r>
                  <a:rPr lang="en-US" altLang="zh-CN" dirty="0" smtClean="0"/>
                  <a:t>Precision</a:t>
                </a:r>
                <a:r>
                  <a:rPr lang="zh-CN" altLang="en-US" dirty="0" smtClean="0"/>
                  <a:t>：</a:t>
                </a:r>
                <a14:m>
                  <m:oMath xmlns:m="http://schemas.openxmlformats.org/officeDocument/2006/math">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𝐹𝑃</m:t>
                    </m:r>
                    <m:r>
                      <a:rPr lang="en-US" altLang="zh-CN" i="1" dirty="0" smtClean="0">
                        <a:latin typeface="Cambria Math" panose="02040503050406030204" pitchFamily="18" charset="0"/>
                      </a:rPr>
                      <m:t>)</m:t>
                    </m:r>
                  </m:oMath>
                </a14:m>
                <a:endParaRPr lang="en-US" altLang="zh-CN" dirty="0" smtClean="0"/>
              </a:p>
              <a:p>
                <a:pPr lvl="1"/>
                <a:r>
                  <a:rPr lang="en-US" altLang="zh-CN" dirty="0" smtClean="0"/>
                  <a:t>Recall</a:t>
                </a:r>
                <a:r>
                  <a:rPr lang="zh-CN" altLang="en-US" dirty="0" smtClean="0"/>
                  <a:t>：</a:t>
                </a:r>
                <a14:m>
                  <m:oMath xmlns:m="http://schemas.openxmlformats.org/officeDocument/2006/math">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𝑇𝑃</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𝐹𝑁</m:t>
                    </m:r>
                    <m:r>
                      <a:rPr lang="en-US" altLang="zh-CN" i="1" dirty="0" smtClean="0">
                        <a:latin typeface="Cambria Math" panose="02040503050406030204" pitchFamily="18" charset="0"/>
                      </a:rPr>
                      <m:t>)</m:t>
                    </m:r>
                  </m:oMath>
                </a14:m>
                <a:endParaRPr lang="en-US" altLang="zh-CN" dirty="0" smtClean="0"/>
              </a:p>
              <a:p>
                <a:pPr lvl="1"/>
                <a:r>
                  <a:rPr lang="en-US" altLang="zh-CN" dirty="0" smtClean="0"/>
                  <a:t>TP</a:t>
                </a:r>
                <a:r>
                  <a:rPr lang="zh-CN" altLang="en-US" dirty="0" smtClean="0"/>
                  <a:t>：</a:t>
                </a:r>
                <a14:m>
                  <m:oMath xmlns:m="http://schemas.openxmlformats.org/officeDocument/2006/math">
                    <m:r>
                      <a:rPr lang="en-US" altLang="zh-CN" i="1" dirty="0" smtClean="0">
                        <a:latin typeface="Cambria Math" panose="02040503050406030204" pitchFamily="18" charset="0"/>
                      </a:rPr>
                      <m:t>𝐼𝑜𝑈</m:t>
                    </m:r>
                    <m:r>
                      <a:rPr lang="en-US" altLang="zh-CN" i="1" dirty="0" smtClean="0">
                        <a:latin typeface="Cambria Math" panose="02040503050406030204" pitchFamily="18" charset="0"/>
                        <a:ea typeface="Cambria Math" panose="02040503050406030204" pitchFamily="18" charset="0"/>
                      </a:rPr>
                      <m:t>&gt;</m:t>
                    </m:r>
                    <m:r>
                      <a:rPr lang="en-US" altLang="zh-CN" b="0" i="1" dirty="0" smtClean="0">
                        <a:latin typeface="Cambria Math" panose="02040503050406030204" pitchFamily="18" charset="0"/>
                        <a:ea typeface="Cambria Math" panose="02040503050406030204" pitchFamily="18" charset="0"/>
                      </a:rPr>
                      <m:t>0.5</m:t>
                    </m:r>
                  </m:oMath>
                </a14:m>
                <a:r>
                  <a:rPr lang="zh-CN" altLang="en-US" dirty="0" smtClean="0"/>
                  <a:t>的检测框数量（同一真值框只计算一次）</a:t>
                </a:r>
                <a:endParaRPr lang="en-US" altLang="zh-CN" dirty="0" smtClean="0"/>
              </a:p>
              <a:p>
                <a:pPr lvl="1"/>
                <a:r>
                  <a:rPr lang="en-US" altLang="zh-CN" dirty="0" smtClean="0"/>
                  <a:t>FP</a:t>
                </a:r>
                <a:r>
                  <a:rPr lang="zh-CN" altLang="en-US" dirty="0" smtClean="0"/>
                  <a:t>：</a:t>
                </a:r>
                <a14:m>
                  <m:oMath xmlns:m="http://schemas.openxmlformats.org/officeDocument/2006/math">
                    <m:r>
                      <a:rPr lang="en-US" altLang="zh-CN" i="1" dirty="0">
                        <a:latin typeface="Cambria Math" panose="02040503050406030204" pitchFamily="18" charset="0"/>
                      </a:rPr>
                      <m:t>𝐼𝑜𝑈</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0.5</m:t>
                    </m:r>
                  </m:oMath>
                </a14:m>
                <a:r>
                  <a:rPr lang="zh-CN" altLang="en-US" dirty="0" smtClean="0"/>
                  <a:t>的检测框数量，或者是检测到同一个真值框的多余检测框的数量</a:t>
                </a:r>
                <a:endParaRPr lang="en-US" altLang="zh-CN" dirty="0" smtClean="0"/>
              </a:p>
              <a:p>
                <a:pPr lvl="1"/>
                <a:r>
                  <a:rPr lang="en-US" altLang="zh-CN" dirty="0" smtClean="0"/>
                  <a:t>FN</a:t>
                </a:r>
                <a:r>
                  <a:rPr lang="zh-CN" altLang="en-US" dirty="0" smtClean="0"/>
                  <a:t>：没有检测到的真值框数量</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01878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err="1"/>
              <a:t>m</a:t>
            </a:r>
            <a:r>
              <a:rPr lang="en-US" altLang="zh-CN" dirty="0" err="1" smtClean="0"/>
              <a:t>AP</a:t>
            </a:r>
            <a:r>
              <a:rPr lang="zh-CN" altLang="en-US" dirty="0" smtClean="0"/>
              <a:t>计算示例：</a:t>
            </a:r>
            <a:endParaRPr lang="en-US" altLang="zh-CN" dirty="0" smtClean="0"/>
          </a:p>
          <a:p>
            <a:pPr lvl="1"/>
            <a:r>
              <a:rPr lang="zh-CN" altLang="en-US" dirty="0" smtClean="0"/>
              <a:t>模型输出结果格式为</a:t>
            </a:r>
            <a:r>
              <a:rPr lang="en-US" altLang="zh-CN" dirty="0">
                <a:sym typeface="Wingdings" panose="05000000000000000000" pitchFamily="2" charset="2"/>
              </a:rPr>
              <a:t>[cat_id,x1,y1,w,h,score</a:t>
            </a:r>
            <a:r>
              <a:rPr lang="en-US" altLang="zh-CN" dirty="0" smtClean="0">
                <a:sym typeface="Wingdings" panose="05000000000000000000" pitchFamily="2" charset="2"/>
              </a:rPr>
              <a:t>]</a:t>
            </a:r>
          </a:p>
          <a:p>
            <a:pPr lvl="1"/>
            <a:r>
              <a:rPr lang="zh-CN" altLang="en-US" dirty="0" smtClean="0"/>
              <a:t>真值格式为</a:t>
            </a:r>
            <a:r>
              <a:rPr lang="en-US" altLang="zh-CN" dirty="0">
                <a:sym typeface="Wingdings" panose="05000000000000000000" pitchFamily="2" charset="2"/>
              </a:rPr>
              <a:t>[</a:t>
            </a:r>
            <a:r>
              <a:rPr lang="en-US" altLang="zh-CN" dirty="0" smtClean="0">
                <a:sym typeface="Wingdings" panose="05000000000000000000" pitchFamily="2" charset="2"/>
              </a:rPr>
              <a:t>cat_id,x1,y1,w,h]</a:t>
            </a:r>
          </a:p>
          <a:p>
            <a:pPr lvl="1"/>
            <a:r>
              <a:rPr lang="zh-CN" altLang="en-US" dirty="0" smtClean="0"/>
              <a:t>针对某一图像识别结果得分进行降序排序</a:t>
            </a:r>
            <a:endParaRPr lang="en-US" altLang="zh-CN" dirty="0" smtClean="0"/>
          </a:p>
          <a:p>
            <a:pPr lvl="1"/>
            <a:r>
              <a:rPr lang="zh-CN" altLang="en-US" dirty="0" smtClean="0"/>
              <a:t>遍历预测框，分别与真值框比较类别和</a:t>
            </a:r>
            <a:r>
              <a:rPr lang="en-US" altLang="zh-CN" dirty="0" err="1" smtClean="0"/>
              <a:t>IoU</a:t>
            </a:r>
            <a:endParaRPr lang="en-US" altLang="zh-CN" dirty="0" smtClean="0"/>
          </a:p>
          <a:p>
            <a:pPr lvl="1"/>
            <a:r>
              <a:rPr lang="zh-CN" altLang="en-US" dirty="0" smtClean="0"/>
              <a:t>根据记录的</a:t>
            </a:r>
            <a:r>
              <a:rPr lang="en-US" altLang="zh-CN" dirty="0" smtClean="0"/>
              <a:t>precision</a:t>
            </a:r>
            <a:r>
              <a:rPr lang="zh-CN" altLang="en-US" dirty="0" smtClean="0"/>
              <a:t>和</a:t>
            </a:r>
            <a:r>
              <a:rPr lang="en-US" altLang="zh-CN" dirty="0" smtClean="0"/>
              <a:t>recall</a:t>
            </a:r>
            <a:r>
              <a:rPr lang="zh-CN" altLang="en-US" dirty="0" smtClean="0"/>
              <a:t>推演计算</a:t>
            </a:r>
            <a:r>
              <a:rPr lang="en-US" altLang="zh-CN" dirty="0" smtClean="0"/>
              <a:t>AP</a:t>
            </a:r>
          </a:p>
          <a:p>
            <a:pPr lvl="1"/>
            <a:r>
              <a:rPr lang="zh-CN" altLang="en-US" dirty="0" smtClean="0"/>
              <a:t>所有类别</a:t>
            </a:r>
            <a:r>
              <a:rPr lang="en-US" altLang="zh-CN" dirty="0" smtClean="0"/>
              <a:t>AP</a:t>
            </a:r>
            <a:r>
              <a:rPr lang="zh-CN" altLang="en-US" dirty="0" smtClean="0"/>
              <a:t>值求均值得到</a:t>
            </a:r>
            <a:r>
              <a:rPr lang="en-US" altLang="zh-CN" dirty="0" err="1" smtClean="0"/>
              <a:t>mAP</a:t>
            </a:r>
            <a:endParaRPr lang="en-US" altLang="zh-CN" dirty="0" smtClean="0"/>
          </a:p>
          <a:p>
            <a:pPr lvl="1"/>
            <a:r>
              <a:rPr lang="en-US" altLang="zh-CN" dirty="0" smtClean="0"/>
              <a:t>PASCAL VOC 2007 </a:t>
            </a:r>
            <a:r>
              <a:rPr lang="en-US" altLang="zh-CN" dirty="0" err="1" smtClean="0"/>
              <a:t>mAP</a:t>
            </a:r>
            <a:r>
              <a:rPr lang="zh-CN" altLang="en-US" dirty="0" smtClean="0"/>
              <a:t>计算逻辑</a:t>
            </a:r>
            <a:endParaRPr lang="en-US" altLang="zh-CN" dirty="0" smtClean="0"/>
          </a:p>
          <a:p>
            <a:pPr lvl="2"/>
            <a:r>
              <a:rPr lang="zh-CN" altLang="en-US" dirty="0">
                <a:sym typeface="Wingdings" panose="05000000000000000000" pitchFamily="2" charset="2"/>
              </a:rPr>
              <a:t>召回率坐标轴上均匀选取</a:t>
            </a:r>
            <a:r>
              <a:rPr lang="en-US" altLang="zh-CN" dirty="0">
                <a:sym typeface="Wingdings" panose="05000000000000000000" pitchFamily="2" charset="2"/>
              </a:rPr>
              <a:t>11</a:t>
            </a:r>
            <a:r>
              <a:rPr lang="zh-CN" altLang="en-US" dirty="0">
                <a:sym typeface="Wingdings" panose="05000000000000000000" pitchFamily="2" charset="2"/>
              </a:rPr>
              <a:t>个</a:t>
            </a:r>
            <a:r>
              <a:rPr lang="zh-CN" altLang="en-US" dirty="0" smtClean="0">
                <a:sym typeface="Wingdings" panose="05000000000000000000" pitchFamily="2" charset="2"/>
              </a:rPr>
              <a:t>点</a:t>
            </a:r>
            <a:endParaRPr lang="en-US" altLang="zh-CN" dirty="0" smtClean="0">
              <a:sym typeface="Wingdings" panose="05000000000000000000" pitchFamily="2" charset="2"/>
            </a:endParaRPr>
          </a:p>
          <a:p>
            <a:pPr lvl="2"/>
            <a:r>
              <a:rPr lang="zh-CN" altLang="en-US" dirty="0">
                <a:sym typeface="Wingdings" panose="05000000000000000000" pitchFamily="2" charset="2"/>
              </a:rPr>
              <a:t>计算在召回率大于</a:t>
            </a:r>
            <a:r>
              <a:rPr lang="en-US" altLang="zh-CN" dirty="0">
                <a:sym typeface="Wingdings" panose="05000000000000000000" pitchFamily="2" charset="2"/>
              </a:rPr>
              <a:t>0</a:t>
            </a:r>
            <a:r>
              <a:rPr lang="zh-CN" altLang="en-US" dirty="0">
                <a:sym typeface="Wingdings" panose="05000000000000000000" pitchFamily="2" charset="2"/>
              </a:rPr>
              <a:t>的所有点中，精确度的最大</a:t>
            </a:r>
            <a:r>
              <a:rPr lang="zh-CN" altLang="en-US" dirty="0" smtClean="0">
                <a:sym typeface="Wingdings" panose="05000000000000000000" pitchFamily="2" charset="2"/>
              </a:rPr>
              <a:t>值</a:t>
            </a:r>
            <a:endParaRPr lang="en-US" altLang="zh-CN" dirty="0" smtClean="0">
              <a:sym typeface="Wingdings" panose="05000000000000000000" pitchFamily="2" charset="2"/>
            </a:endParaRPr>
          </a:p>
          <a:p>
            <a:pPr lvl="2"/>
            <a:r>
              <a:rPr lang="zh-CN" altLang="en-US" dirty="0">
                <a:sym typeface="Wingdings" panose="05000000000000000000" pitchFamily="2" charset="2"/>
              </a:rPr>
              <a:t>计算在召回率大于</a:t>
            </a:r>
            <a:r>
              <a:rPr lang="en-US" altLang="zh-CN" dirty="0">
                <a:sym typeface="Wingdings" panose="05000000000000000000" pitchFamily="2" charset="2"/>
              </a:rPr>
              <a:t>0.1</a:t>
            </a:r>
            <a:r>
              <a:rPr lang="zh-CN" altLang="en-US" dirty="0">
                <a:sym typeface="Wingdings" panose="05000000000000000000" pitchFamily="2" charset="2"/>
              </a:rPr>
              <a:t>的所有点中，精确度的最大</a:t>
            </a:r>
            <a:r>
              <a:rPr lang="zh-CN" altLang="en-US" dirty="0" smtClean="0">
                <a:sym typeface="Wingdings" panose="05000000000000000000" pitchFamily="2" charset="2"/>
              </a:rPr>
              <a:t>值</a:t>
            </a:r>
            <a:endParaRPr lang="en-US" altLang="zh-CN" dirty="0" smtClean="0">
              <a:sym typeface="Wingdings" panose="05000000000000000000" pitchFamily="2" charset="2"/>
            </a:endParaRPr>
          </a:p>
          <a:p>
            <a:pPr lvl="2"/>
            <a:r>
              <a:rPr lang="en-US" altLang="zh-CN" dirty="0" smtClean="0">
                <a:sym typeface="Wingdings" panose="05000000000000000000" pitchFamily="2" charset="2"/>
              </a:rPr>
              <a:t>……</a:t>
            </a:r>
            <a:r>
              <a:rPr lang="zh-CN" altLang="en-US" dirty="0" smtClean="0">
                <a:sym typeface="Wingdings" panose="05000000000000000000" pitchFamily="2" charset="2"/>
              </a:rPr>
              <a:t>以此类推</a:t>
            </a:r>
            <a:endParaRPr lang="en-US" altLang="zh-CN" dirty="0" smtClean="0">
              <a:sym typeface="Wingdings" panose="05000000000000000000" pitchFamily="2" charset="2"/>
            </a:endParaRPr>
          </a:p>
          <a:p>
            <a:pPr lvl="2"/>
            <a:r>
              <a:rPr lang="en-US" altLang="zh-CN" dirty="0">
                <a:sym typeface="Wingdings" panose="05000000000000000000" pitchFamily="2" charset="2"/>
              </a:rPr>
              <a:t>11</a:t>
            </a:r>
            <a:r>
              <a:rPr lang="zh-CN" altLang="en-US" dirty="0">
                <a:sym typeface="Wingdings" panose="05000000000000000000" pitchFamily="2" charset="2"/>
              </a:rPr>
              <a:t>个精确度求均值后便可以得到</a:t>
            </a:r>
            <a:r>
              <a:rPr lang="en-US" altLang="zh-CN" dirty="0">
                <a:sym typeface="Wingdings" panose="05000000000000000000" pitchFamily="2" charset="2"/>
              </a:rPr>
              <a:t>AP</a:t>
            </a:r>
            <a:r>
              <a:rPr lang="zh-CN" altLang="en-US" dirty="0" smtClean="0">
                <a:sym typeface="Wingdings" panose="05000000000000000000" pitchFamily="2" charset="2"/>
              </a:rPr>
              <a:t>值</a:t>
            </a:r>
            <a:endParaRPr lang="en-US" altLang="zh-CN" dirty="0" smtClean="0">
              <a:sym typeface="Wingdings" panose="05000000000000000000" pitchFamily="2" charset="2"/>
            </a:endParaRPr>
          </a:p>
          <a:p>
            <a:pPr lvl="2"/>
            <a:r>
              <a:rPr lang="en-US" altLang="zh-CN" dirty="0" err="1" smtClean="0"/>
              <a:t>mAP</a:t>
            </a:r>
            <a:r>
              <a:rPr lang="zh-CN" altLang="en-US" dirty="0" smtClean="0"/>
              <a:t>：对每个目标类别得到的</a:t>
            </a:r>
            <a:r>
              <a:rPr lang="en-US" altLang="zh-CN" dirty="0" smtClean="0"/>
              <a:t>AP</a:t>
            </a:r>
            <a:r>
              <a:rPr lang="zh-CN" altLang="en-US" dirty="0" smtClean="0"/>
              <a:t>值再求均值</a:t>
            </a:r>
            <a:endParaRPr lang="en-US" altLang="zh-CN" dirty="0" smtClean="0"/>
          </a:p>
        </p:txBody>
      </p:sp>
    </p:spTree>
    <p:extLst>
      <p:ext uri="{BB962C8B-B14F-4D97-AF65-F5344CB8AC3E}">
        <p14:creationId xmlns:p14="http://schemas.microsoft.com/office/powerpoint/2010/main" val="12966216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smtClean="0"/>
              <a:t>AP</a:t>
            </a:r>
            <a:r>
              <a:rPr lang="zh-CN" altLang="en-US" dirty="0" smtClean="0"/>
              <a:t>计算：</a:t>
            </a:r>
            <a:endParaRPr lang="en-US" altLang="zh-CN" dirty="0" smtClean="0"/>
          </a:p>
          <a:p>
            <a:pPr lvl="1"/>
            <a:r>
              <a:rPr lang="zh-CN" altLang="en-US" dirty="0" smtClean="0"/>
              <a:t>针对某一类别目标</a:t>
            </a:r>
            <a:endParaRPr lang="en-US" altLang="zh-CN" dirty="0" smtClean="0"/>
          </a:p>
          <a:p>
            <a:pPr lvl="1"/>
            <a:r>
              <a:rPr lang="en-US" altLang="zh-CN" dirty="0" smtClean="0"/>
              <a:t>7</a:t>
            </a:r>
            <a:r>
              <a:rPr lang="zh-CN" altLang="en-US" dirty="0" smtClean="0"/>
              <a:t>张图片（</a:t>
            </a:r>
            <a:r>
              <a:rPr lang="en-US" altLang="zh-CN" dirty="0" smtClean="0"/>
              <a:t>image1-7</a:t>
            </a:r>
            <a:r>
              <a:rPr lang="zh-CN" altLang="en-US" dirty="0" smtClean="0"/>
              <a:t>）</a:t>
            </a:r>
            <a:endParaRPr lang="en-US" altLang="zh-CN" dirty="0" smtClean="0"/>
          </a:p>
          <a:p>
            <a:pPr lvl="1"/>
            <a:r>
              <a:rPr lang="en-US" altLang="zh-CN" dirty="0" smtClean="0"/>
              <a:t>15</a:t>
            </a:r>
            <a:r>
              <a:rPr lang="zh-CN" altLang="en-US" dirty="0" smtClean="0"/>
              <a:t>个真实目标（绿）</a:t>
            </a:r>
            <a:endParaRPr lang="en-US" altLang="zh-CN" dirty="0" smtClean="0"/>
          </a:p>
          <a:p>
            <a:pPr lvl="1"/>
            <a:r>
              <a:rPr lang="en-US" altLang="zh-CN" dirty="0" smtClean="0"/>
              <a:t>24</a:t>
            </a:r>
            <a:r>
              <a:rPr lang="zh-CN" altLang="en-US" dirty="0" smtClean="0"/>
              <a:t>个预测边框（红，</a:t>
            </a:r>
            <a:r>
              <a:rPr lang="en-US" altLang="zh-CN" dirty="0" smtClean="0"/>
              <a:t>A-Y</a:t>
            </a:r>
            <a:r>
              <a:rPr lang="zh-CN" altLang="en-US" dirty="0" smtClean="0"/>
              <a:t>）</a:t>
            </a:r>
            <a:endParaRPr lang="en-US" altLang="zh-CN" dirty="0" smtClean="0"/>
          </a:p>
          <a:p>
            <a:pPr lvl="1"/>
            <a:r>
              <a:rPr lang="zh-CN" altLang="en-US" dirty="0" smtClean="0"/>
              <a:t>每个预测边框有置信度值</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4763" y="1889124"/>
            <a:ext cx="7705725" cy="4248150"/>
          </a:xfrm>
          <a:prstGeom prst="rect">
            <a:avLst/>
          </a:prstGeom>
        </p:spPr>
      </p:pic>
    </p:spTree>
    <p:extLst>
      <p:ext uri="{BB962C8B-B14F-4D97-AF65-F5344CB8AC3E}">
        <p14:creationId xmlns:p14="http://schemas.microsoft.com/office/powerpoint/2010/main" val="3559822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zh-CN" altLang="en-US" dirty="0" smtClean="0"/>
              <a:t>所有预测框结果表格：</a:t>
            </a:r>
            <a:endParaRPr lang="en-US" altLang="zh-CN" dirty="0" smtClean="0"/>
          </a:p>
          <a:p>
            <a:pPr lvl="1"/>
            <a:r>
              <a:rPr lang="en-US" altLang="zh-CN" dirty="0" smtClean="0"/>
              <a:t>Images</a:t>
            </a:r>
            <a:r>
              <a:rPr lang="zh-CN" altLang="en-US" dirty="0" smtClean="0"/>
              <a:t>：图片编号</a:t>
            </a:r>
            <a:endParaRPr lang="en-US" altLang="zh-CN" dirty="0" smtClean="0"/>
          </a:p>
          <a:p>
            <a:pPr lvl="1"/>
            <a:r>
              <a:rPr lang="en-US" altLang="zh-CN" dirty="0" smtClean="0"/>
              <a:t>Detections</a:t>
            </a:r>
            <a:r>
              <a:rPr lang="zh-CN" altLang="en-US" dirty="0" smtClean="0"/>
              <a:t>：预测边框的编号</a:t>
            </a:r>
            <a:endParaRPr lang="en-US" altLang="zh-CN" dirty="0" smtClean="0"/>
          </a:p>
          <a:p>
            <a:pPr lvl="1"/>
            <a:r>
              <a:rPr lang="en-US" altLang="zh-CN" dirty="0" smtClean="0"/>
              <a:t>Confidences</a:t>
            </a:r>
            <a:r>
              <a:rPr lang="zh-CN" altLang="en-US" dirty="0" smtClean="0"/>
              <a:t>：预测边框置信度</a:t>
            </a:r>
            <a:endParaRPr lang="en-US" altLang="zh-CN" dirty="0" smtClean="0"/>
          </a:p>
          <a:p>
            <a:pPr lvl="1"/>
            <a:r>
              <a:rPr lang="en-US" altLang="zh-CN" dirty="0" smtClean="0"/>
              <a:t>TP or FP</a:t>
            </a:r>
            <a:r>
              <a:rPr lang="zh-CN" altLang="en-US" dirty="0" smtClean="0"/>
              <a:t>：是否匹配真值框</a:t>
            </a:r>
            <a:endParaRPr lang="en-US" altLang="zh-CN" dirty="0" smtClean="0"/>
          </a:p>
          <a:p>
            <a:pPr lvl="2"/>
            <a:r>
              <a:rPr lang="zh-CN" altLang="en-US" dirty="0"/>
              <a:t>预测</a:t>
            </a:r>
            <a:r>
              <a:rPr lang="zh-CN" altLang="en-US" dirty="0" smtClean="0"/>
              <a:t>框与真值框</a:t>
            </a:r>
            <a:r>
              <a:rPr lang="en-US" altLang="zh-CN" dirty="0" err="1" smtClean="0"/>
              <a:t>IoU</a:t>
            </a:r>
            <a:r>
              <a:rPr lang="zh-CN" altLang="en-US" dirty="0" smtClean="0"/>
              <a:t>大于阈值（该例中为</a:t>
            </a:r>
            <a:r>
              <a:rPr lang="en-US" altLang="zh-CN" dirty="0" smtClean="0"/>
              <a:t>0.3</a:t>
            </a:r>
            <a:r>
              <a:rPr lang="zh-CN" altLang="en-US" dirty="0" smtClean="0"/>
              <a:t>）</a:t>
            </a:r>
            <a:endParaRPr lang="en-US" altLang="zh-CN" dirty="0" smtClean="0"/>
          </a:p>
          <a:p>
            <a:pPr lvl="2"/>
            <a:r>
              <a:rPr lang="zh-CN" altLang="en-US" dirty="0"/>
              <a:t>一</a:t>
            </a:r>
            <a:r>
              <a:rPr lang="zh-CN" altLang="en-US" dirty="0" smtClean="0"/>
              <a:t>个真值框最多只能匹配一个预测框（</a:t>
            </a:r>
            <a:r>
              <a:rPr lang="en-US" altLang="zh-CN" dirty="0" smtClean="0"/>
              <a:t>NMS</a:t>
            </a:r>
            <a:r>
              <a:rPr lang="zh-CN" altLang="en-US" dirty="0" smtClean="0"/>
              <a:t>抑制）</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4516" y="1130299"/>
            <a:ext cx="4535971" cy="5006975"/>
          </a:xfrm>
          <a:prstGeom prst="rect">
            <a:avLst/>
          </a:prstGeom>
        </p:spPr>
      </p:pic>
    </p:spTree>
    <p:extLst>
      <p:ext uri="{BB962C8B-B14F-4D97-AF65-F5344CB8AC3E}">
        <p14:creationId xmlns:p14="http://schemas.microsoft.com/office/powerpoint/2010/main" val="19678122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遍历</a:t>
                </a:r>
                <a:r>
                  <a:rPr lang="zh-CN" altLang="en-US" dirty="0" smtClean="0">
                    <a:solidFill>
                      <a:srgbClr val="FF0000"/>
                    </a:solidFill>
                  </a:rPr>
                  <a:t>预测框</a:t>
                </a:r>
                <a:r>
                  <a:rPr lang="zh-CN" altLang="en-US" dirty="0" smtClean="0"/>
                  <a:t>，根据</a:t>
                </a:r>
                <a:r>
                  <a:rPr lang="zh-CN" altLang="en-US" dirty="0"/>
                  <a:t>得分（置信度）降序</a:t>
                </a:r>
                <a:r>
                  <a:rPr lang="zh-CN" altLang="en-US" dirty="0" smtClean="0"/>
                  <a:t>排序：</a:t>
                </a:r>
                <a:endParaRPr lang="en-US" altLang="zh-CN" dirty="0" smtClean="0"/>
              </a:p>
              <a:p>
                <a:pPr lvl="1"/>
                <a:r>
                  <a:rPr lang="en-US" altLang="zh-CN" dirty="0" smtClean="0"/>
                  <a:t>ACC TP</a:t>
                </a:r>
                <a:r>
                  <a:rPr lang="zh-CN" altLang="en-US" dirty="0" smtClean="0"/>
                  <a:t>：</a:t>
                </a:r>
                <a:r>
                  <a:rPr lang="en-US" altLang="zh-CN" dirty="0" smtClean="0"/>
                  <a:t>TP</a:t>
                </a:r>
                <a:r>
                  <a:rPr lang="zh-CN" altLang="en-US" dirty="0" smtClean="0"/>
                  <a:t>累加值</a:t>
                </a:r>
                <a:endParaRPr lang="en-US" altLang="zh-CN" dirty="0" smtClean="0"/>
              </a:p>
              <a:p>
                <a:pPr lvl="1"/>
                <a:r>
                  <a:rPr lang="en-US" altLang="zh-CN" dirty="0" smtClean="0"/>
                  <a:t>ACC FP</a:t>
                </a:r>
                <a:r>
                  <a:rPr lang="zh-CN" altLang="en-US" dirty="0" smtClean="0"/>
                  <a:t>：</a:t>
                </a:r>
                <a:r>
                  <a:rPr lang="en-US" altLang="zh-CN" dirty="0" smtClean="0"/>
                  <a:t>FP</a:t>
                </a:r>
                <a:r>
                  <a:rPr lang="zh-CN" altLang="en-US" dirty="0" smtClean="0"/>
                  <a:t>累加值</a:t>
                </a:r>
                <a:endParaRPr lang="en-US" altLang="zh-CN" dirty="0" smtClean="0"/>
              </a:p>
              <a:p>
                <a:pPr lvl="1"/>
                <a:r>
                  <a:rPr lang="zh-CN" altLang="en-US" dirty="0" smtClean="0"/>
                  <a:t>标号</a:t>
                </a:r>
                <a:r>
                  <a:rPr lang="en-US" altLang="zh-CN" dirty="0" smtClean="0"/>
                  <a:t>1</a:t>
                </a:r>
                <a:r>
                  <a:rPr lang="zh-CN" altLang="en-US" dirty="0" smtClean="0"/>
                  <a:t>：</a:t>
                </a:r>
                <a:endParaRPr lang="en-US" altLang="zh-CN" dirty="0"/>
              </a:p>
              <a:p>
                <a:pPr lvl="2"/>
                <a:r>
                  <a:rPr lang="en-US" altLang="zh-CN" dirty="0" smtClean="0"/>
                  <a:t>Precision=</a:t>
                </a:r>
                <a14:m>
                  <m:oMath xmlns:m="http://schemas.openxmlformats.org/officeDocument/2006/math">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1</m:t>
                        </m:r>
                      </m:num>
                      <m:den>
                        <m:r>
                          <a:rPr lang="en-US" altLang="zh-CN" i="1" dirty="0" smtClean="0">
                            <a:latin typeface="Cambria Math" panose="02040503050406030204" pitchFamily="18" charset="0"/>
                          </a:rPr>
                          <m:t>1+0</m:t>
                        </m:r>
                      </m:den>
                    </m:f>
                    <m:r>
                      <a:rPr lang="en-US" altLang="zh-CN" b="0" i="1" dirty="0" smtClean="0">
                        <a:latin typeface="Cambria Math" panose="02040503050406030204" pitchFamily="18" charset="0"/>
                      </a:rPr>
                      <m:t>=</m:t>
                    </m:r>
                  </m:oMath>
                </a14:m>
                <a:r>
                  <a:rPr lang="en-US" altLang="zh-CN" dirty="0" smtClean="0"/>
                  <a:t>1</a:t>
                </a:r>
              </a:p>
              <a:p>
                <a:pPr lvl="2"/>
                <a:r>
                  <a:rPr lang="en-US" altLang="zh-CN" dirty="0" smtClean="0"/>
                  <a:t>Recall=1/15=0.0666</a:t>
                </a:r>
              </a:p>
              <a:p>
                <a:pPr lvl="1"/>
                <a:r>
                  <a:rPr lang="zh-CN" altLang="en-US" dirty="0" smtClean="0"/>
                  <a:t>标号</a:t>
                </a:r>
                <a:r>
                  <a:rPr lang="en-US" altLang="zh-CN" dirty="0" smtClean="0"/>
                  <a:t>2</a:t>
                </a:r>
                <a:r>
                  <a:rPr lang="zh-CN" altLang="en-US" dirty="0" smtClean="0"/>
                  <a:t>：</a:t>
                </a:r>
                <a:endParaRPr lang="en-US" altLang="zh-CN" dirty="0" smtClean="0"/>
              </a:p>
              <a:p>
                <a:pPr lvl="2"/>
                <a:r>
                  <a:rPr lang="en-US" altLang="zh-CN" dirty="0" smtClean="0"/>
                  <a:t>Precision=</a:t>
                </a:r>
                <a14:m>
                  <m:oMath xmlns:m="http://schemas.openxmlformats.org/officeDocument/2006/math">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1</m:t>
                        </m:r>
                      </m:num>
                      <m:den>
                        <m:r>
                          <a:rPr lang="en-US" altLang="zh-CN" i="1" dirty="0" smtClean="0">
                            <a:latin typeface="Cambria Math" panose="02040503050406030204" pitchFamily="18" charset="0"/>
                          </a:rPr>
                          <m:t>1+1</m:t>
                        </m:r>
                      </m:den>
                    </m:f>
                    <m:r>
                      <a:rPr lang="en-US" altLang="zh-CN" b="0" i="1" dirty="0" smtClean="0">
                        <a:latin typeface="Cambria Math" panose="02040503050406030204" pitchFamily="18" charset="0"/>
                      </a:rPr>
                      <m:t>=</m:t>
                    </m:r>
                  </m:oMath>
                </a14:m>
                <a:r>
                  <a:rPr lang="en-US" altLang="zh-CN" dirty="0" smtClean="0"/>
                  <a:t>0.5</a:t>
                </a:r>
              </a:p>
              <a:p>
                <a:pPr lvl="2"/>
                <a:r>
                  <a:rPr lang="en-US" altLang="zh-CN" dirty="0" smtClean="0"/>
                  <a:t>Recall=1/15=0.0666</a:t>
                </a:r>
              </a:p>
              <a:p>
                <a:pPr lvl="1"/>
                <a:r>
                  <a:rPr lang="zh-CN" altLang="en-US" dirty="0" smtClean="0"/>
                  <a:t>标号</a:t>
                </a:r>
                <a:r>
                  <a:rPr lang="en-US" altLang="zh-CN" dirty="0" smtClean="0"/>
                  <a:t>3</a:t>
                </a:r>
                <a:r>
                  <a:rPr lang="zh-CN" altLang="en-US" dirty="0" smtClean="0"/>
                  <a:t>：</a:t>
                </a:r>
                <a:endParaRPr lang="en-US" altLang="zh-CN" dirty="0" smtClean="0"/>
              </a:p>
              <a:p>
                <a:pPr lvl="2"/>
                <a:r>
                  <a:rPr lang="en-US" altLang="zh-CN" dirty="0" smtClean="0"/>
                  <a:t>Precision=</a:t>
                </a:r>
                <a14:m>
                  <m:oMath xmlns:m="http://schemas.openxmlformats.org/officeDocument/2006/math">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2</m:t>
                        </m:r>
                      </m:num>
                      <m:den>
                        <m:r>
                          <a:rPr lang="en-US" altLang="zh-CN" i="1" dirty="0" smtClean="0">
                            <a:latin typeface="Cambria Math" panose="02040503050406030204" pitchFamily="18" charset="0"/>
                          </a:rPr>
                          <m:t>2+1</m:t>
                        </m:r>
                      </m:den>
                    </m:f>
                    <m:r>
                      <a:rPr lang="en-US" altLang="zh-CN" b="0" i="1" dirty="0" smtClean="0">
                        <a:latin typeface="Cambria Math" panose="02040503050406030204" pitchFamily="18" charset="0"/>
                      </a:rPr>
                      <m:t>=</m:t>
                    </m:r>
                  </m:oMath>
                </a14:m>
                <a:r>
                  <a:rPr lang="en-US" altLang="zh-CN" dirty="0" smtClean="0"/>
                  <a:t>0.</a:t>
                </a:r>
                <a14:m>
                  <m:oMath xmlns:m="http://schemas.openxmlformats.org/officeDocument/2006/math">
                    <m:acc>
                      <m:accPr>
                        <m:chr m:val="̇"/>
                        <m:ctrlPr>
                          <a:rPr lang="en-US" altLang="zh-CN" sz="1600" i="1" smtClean="0">
                            <a:latin typeface="Cambria Math" panose="02040503050406030204" pitchFamily="18" charset="0"/>
                          </a:rPr>
                        </m:ctrlPr>
                      </m:accPr>
                      <m:e>
                        <m:r>
                          <a:rPr lang="en-US" altLang="zh-CN" sz="1600" b="0" i="1" smtClean="0">
                            <a:latin typeface="Cambria Math" panose="02040503050406030204" pitchFamily="18" charset="0"/>
                          </a:rPr>
                          <m:t>6</m:t>
                        </m:r>
                      </m:e>
                    </m:acc>
                  </m:oMath>
                </a14:m>
                <a:endParaRPr lang="en-US" altLang="zh-CN" sz="1600" dirty="0" smtClean="0"/>
              </a:p>
              <a:p>
                <a:pPr lvl="2"/>
                <a:r>
                  <a:rPr lang="en-US" altLang="zh-CN" dirty="0" smtClean="0"/>
                  <a:t>Recall=2/15=0.1333</a:t>
                </a:r>
              </a:p>
              <a:p>
                <a:pPr lvl="1"/>
                <a:r>
                  <a:rPr lang="en-US" altLang="zh-CN"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3947" y="1645919"/>
            <a:ext cx="7906542" cy="4491355"/>
          </a:xfrm>
          <a:prstGeom prst="rect">
            <a:avLst/>
          </a:prstGeom>
        </p:spPr>
      </p:pic>
    </p:spTree>
    <p:extLst>
      <p:ext uri="{BB962C8B-B14F-4D97-AF65-F5344CB8AC3E}">
        <p14:creationId xmlns:p14="http://schemas.microsoft.com/office/powerpoint/2010/main" val="36964407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zh-CN" altLang="en-US" dirty="0" smtClean="0"/>
              <a:t>绘制</a:t>
            </a:r>
            <a:r>
              <a:rPr lang="en-US" altLang="zh-CN" dirty="0" smtClean="0"/>
              <a:t>P-R</a:t>
            </a:r>
            <a:r>
              <a:rPr lang="zh-CN" altLang="en-US" dirty="0" smtClean="0"/>
              <a:t>曲线：</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1811" y="1270573"/>
            <a:ext cx="6080760" cy="4866701"/>
          </a:xfrm>
          <a:prstGeom prst="rect">
            <a:avLst/>
          </a:prstGeom>
        </p:spPr>
      </p:pic>
    </p:spTree>
    <p:extLst>
      <p:ext uri="{BB962C8B-B14F-4D97-AF65-F5344CB8AC3E}">
        <p14:creationId xmlns:p14="http://schemas.microsoft.com/office/powerpoint/2010/main" val="1012390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p:sp>
        <p:nvSpPr>
          <p:cNvPr id="3" name="内容占位符 2"/>
          <p:cNvSpPr>
            <a:spLocks noGrp="1"/>
          </p:cNvSpPr>
          <p:nvPr>
            <p:ph sz="quarter" idx="13"/>
          </p:nvPr>
        </p:nvSpPr>
        <p:spPr/>
        <p:txBody>
          <a:bodyPr/>
          <a:lstStyle/>
          <a:p>
            <a:r>
              <a:rPr lang="en-US" altLang="zh-CN" dirty="0" smtClean="0"/>
              <a:t>AP</a:t>
            </a:r>
            <a:r>
              <a:rPr lang="zh-CN" altLang="en-US" dirty="0" smtClean="0"/>
              <a:t>计算：</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8188" y="1262356"/>
            <a:ext cx="6323812" cy="4742859"/>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925" y="1634487"/>
            <a:ext cx="5400675" cy="4181475"/>
          </a:xfrm>
          <a:prstGeom prst="rect">
            <a:avLst/>
          </a:prstGeom>
        </p:spPr>
      </p:pic>
    </p:spTree>
    <p:extLst>
      <p:ext uri="{BB962C8B-B14F-4D97-AF65-F5344CB8AC3E}">
        <p14:creationId xmlns:p14="http://schemas.microsoft.com/office/powerpoint/2010/main" val="2307090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评价指标</a:t>
            </a:r>
            <a:r>
              <a:rPr lang="en-US" altLang="zh-CN" dirty="0" err="1" smtClean="0"/>
              <a:t>mAP</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得到一个类别的 </a:t>
                </a:r>
                <a:r>
                  <a:rPr lang="en-US" altLang="zh-CN" dirty="0"/>
                  <a:t>AP </a:t>
                </a:r>
                <a:r>
                  <a:rPr lang="zh-CN" altLang="en-US" dirty="0"/>
                  <a:t>结果如下</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14:m>
                  <m:oMath xmlns:m="http://schemas.openxmlformats.org/officeDocument/2006/math">
                    <m:r>
                      <a:rPr lang="zh-CN" altLang="en-US" i="1">
                        <a:latin typeface="Cambria Math" panose="02040503050406030204" pitchFamily="18" charset="0"/>
                      </a:rPr>
                      <m:t>𝜌</m:t>
                    </m:r>
                    <m:r>
                      <a:rPr lang="en-US" altLang="zh-CN" i="1">
                        <a:latin typeface="Cambria Math" panose="02040503050406030204" pitchFamily="18" charset="0"/>
                      </a:rPr>
                      <m:t>𝑖𝑛𝑡𝑒𝑟𝑝</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oMath>
                </a14:m>
                <a:r>
                  <a:rPr lang="zh-CN" altLang="en-US" dirty="0"/>
                  <a:t>是经过平滑处理后的</a:t>
                </a:r>
                <a:r>
                  <a:rPr lang="zh-CN" altLang="en-US" dirty="0" smtClean="0"/>
                  <a:t>值</a:t>
                </a:r>
                <a:endParaRPr lang="en-US" altLang="zh-CN" dirty="0" smtClean="0"/>
              </a:p>
              <a:p>
                <a:r>
                  <a:rPr lang="en-US" altLang="zh-CN" dirty="0" err="1" smtClean="0"/>
                  <a:t>mAP</a:t>
                </a:r>
                <a:r>
                  <a:rPr lang="en-US" altLang="zh-CN" dirty="0" smtClean="0"/>
                  <a:t>=</a:t>
                </a:r>
                <a:r>
                  <a:rPr lang="zh-CN" altLang="en-US" dirty="0" smtClean="0"/>
                  <a:t>所有类别</a:t>
                </a:r>
                <a:r>
                  <a:rPr lang="en-US" altLang="zh-CN" dirty="0" smtClean="0"/>
                  <a:t>AP</a:t>
                </a:r>
                <a:r>
                  <a:rPr lang="zh-CN" altLang="en-US" dirty="0" smtClean="0"/>
                  <a:t>平均值</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006" y="1658464"/>
            <a:ext cx="10058400" cy="2313944"/>
          </a:xfrm>
          <a:prstGeom prst="rect">
            <a:avLst/>
          </a:prstGeom>
        </p:spPr>
      </p:pic>
    </p:spTree>
    <p:extLst>
      <p:ext uri="{BB962C8B-B14F-4D97-AF65-F5344CB8AC3E}">
        <p14:creationId xmlns:p14="http://schemas.microsoft.com/office/powerpoint/2010/main" val="2007075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主流的</a:t>
            </a:r>
            <a:r>
              <a:rPr lang="en-US" altLang="zh-CN" dirty="0" smtClean="0"/>
              <a:t>6</a:t>
            </a:r>
            <a:r>
              <a:rPr lang="zh-CN" altLang="en-US" dirty="0" smtClean="0"/>
              <a:t>种深度学习框架</a:t>
            </a:r>
            <a:endParaRPr lang="en-US" altLang="zh-CN" dirty="0" smtClean="0"/>
          </a:p>
          <a:p>
            <a:r>
              <a:rPr lang="zh-CN" altLang="en-US" dirty="0" smtClean="0"/>
              <a:t>目标检测特有的基本概念及计算</a:t>
            </a:r>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1707</TotalTime>
  <Words>9588</Words>
  <Application>Microsoft Office PowerPoint</Application>
  <PresentationFormat>宽屏</PresentationFormat>
  <Paragraphs>578</Paragraphs>
  <Slides>46</Slides>
  <Notes>39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46</vt:i4>
      </vt:variant>
    </vt:vector>
  </HeadingPairs>
  <TitlesOfParts>
    <vt:vector size="55" baseType="lpstr">
      <vt:lpstr>等线</vt:lpstr>
      <vt:lpstr>宋体</vt:lpstr>
      <vt:lpstr>微软雅黑</vt:lpstr>
      <vt:lpstr>Arial</vt:lpstr>
      <vt:lpstr>Calibri</vt:lpstr>
      <vt:lpstr>Cambria Math</vt:lpstr>
      <vt:lpstr>Ebrima</vt:lpstr>
      <vt:lpstr>Wingdings</vt:lpstr>
      <vt:lpstr>主题5</vt:lpstr>
      <vt:lpstr>目标检测的实现</vt:lpstr>
      <vt:lpstr>课程目标</vt:lpstr>
      <vt:lpstr>PowerPoint 演示文稿</vt:lpstr>
      <vt:lpstr>/01</vt:lpstr>
      <vt:lpstr>深度学习框架</vt:lpstr>
      <vt:lpstr>Theano</vt:lpstr>
      <vt:lpstr>TensorFlow</vt:lpstr>
      <vt:lpstr>MXNet</vt:lpstr>
      <vt:lpstr>Keras</vt:lpstr>
      <vt:lpstr>PyTorch</vt:lpstr>
      <vt:lpstr>Caffe</vt:lpstr>
      <vt:lpstr>/02</vt:lpstr>
      <vt:lpstr>目标检测基本概念</vt:lpstr>
      <vt:lpstr>IoU计算</vt:lpstr>
      <vt:lpstr>IoU计算</vt:lpstr>
      <vt:lpstr>NMS操作</vt:lpstr>
      <vt:lpstr>NMS操作</vt:lpstr>
      <vt:lpstr>NMS操作</vt:lpstr>
      <vt:lpstr>NMS操作</vt:lpstr>
      <vt:lpstr>感受野</vt:lpstr>
      <vt:lpstr>感受野</vt:lpstr>
      <vt:lpstr>感受野</vt:lpstr>
      <vt:lpstr>感受野</vt:lpstr>
      <vt:lpstr>感受野</vt:lpstr>
      <vt:lpstr>感受野</vt:lpstr>
      <vt:lpstr>感受野</vt:lpstr>
      <vt:lpstr>感受野</vt:lpstr>
      <vt:lpstr>空洞卷积</vt:lpstr>
      <vt:lpstr>空洞卷积</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评价指标mAP</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72</cp:revision>
  <cp:lastPrinted>2018-09-20T16:00:00Z</cp:lastPrinted>
  <dcterms:created xsi:type="dcterms:W3CDTF">2022-06-27T01:42:48Z</dcterms:created>
  <dcterms:modified xsi:type="dcterms:W3CDTF">2022-12-27T09:23:02Z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