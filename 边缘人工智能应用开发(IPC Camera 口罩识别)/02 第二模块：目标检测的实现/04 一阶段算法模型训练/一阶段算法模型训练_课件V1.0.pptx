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258" r:id="rId2"/>
    <p:sldId id="265" r:id="rId3"/>
    <p:sldId id="262" r:id="rId4"/>
    <p:sldId id="257" r:id="rId5"/>
    <p:sldId id="260" r:id="rId6"/>
    <p:sldId id="266" r:id="rId7"/>
    <p:sldId id="270" r:id="rId8"/>
    <p:sldId id="267" r:id="rId9"/>
    <p:sldId id="276" r:id="rId10"/>
    <p:sldId id="277" r:id="rId11"/>
    <p:sldId id="351" r:id="rId12"/>
    <p:sldId id="352" r:id="rId13"/>
    <p:sldId id="353" r:id="rId14"/>
    <p:sldId id="354" r:id="rId15"/>
    <p:sldId id="359" r:id="rId16"/>
    <p:sldId id="355" r:id="rId17"/>
    <p:sldId id="357" r:id="rId18"/>
    <p:sldId id="358" r:id="rId19"/>
    <p:sldId id="350" r:id="rId20"/>
    <p:sldId id="308" r:id="rId21"/>
    <p:sldId id="309" r:id="rId22"/>
    <p:sldId id="310" r:id="rId23"/>
    <p:sldId id="311" r:id="rId24"/>
    <p:sldId id="312" r:id="rId25"/>
    <p:sldId id="313" r:id="rId26"/>
    <p:sldId id="367" r:id="rId27"/>
    <p:sldId id="314" r:id="rId28"/>
    <p:sldId id="368" r:id="rId29"/>
    <p:sldId id="315" r:id="rId30"/>
    <p:sldId id="369" r:id="rId31"/>
    <p:sldId id="356" r:id="rId32"/>
    <p:sldId id="363" r:id="rId33"/>
    <p:sldId id="364" r:id="rId34"/>
    <p:sldId id="365" r:id="rId35"/>
    <p:sldId id="366" r:id="rId36"/>
    <p:sldId id="282" r:id="rId37"/>
    <p:sldId id="290" r:id="rId38"/>
    <p:sldId id="316" r:id="rId39"/>
    <p:sldId id="317" r:id="rId40"/>
    <p:sldId id="318" r:id="rId41"/>
    <p:sldId id="370" r:id="rId42"/>
    <p:sldId id="319" r:id="rId43"/>
    <p:sldId id="320" r:id="rId44"/>
    <p:sldId id="371" r:id="rId45"/>
    <p:sldId id="372" r:id="rId46"/>
    <p:sldId id="360" r:id="rId47"/>
    <p:sldId id="268" r:id="rId48"/>
    <p:sldId id="361" r:id="rId49"/>
    <p:sldId id="362" r:id="rId50"/>
    <p:sldId id="349" r:id="rId51"/>
    <p:sldId id="264" r:id="rId52"/>
    <p:sldId id="261" r:id="rId53"/>
  </p:sldIdLst>
  <p:sldSz cx="12192000" cy="6858000"/>
  <p:notesSz cx="6858000" cy="9144000"/>
  <p:custDataLst>
    <p:tags r:id="rId5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196" autoAdjust="0"/>
  </p:normalViewPr>
  <p:slideViewPr>
    <p:cSldViewPr snapToGrid="0" showGuides="1">
      <p:cViewPr varScale="1">
        <p:scale>
          <a:sx n="105" d="100"/>
          <a:sy n="105" d="100"/>
        </p:scale>
        <p:origin x="732"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代码工程分析</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数据集的准备</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18148AE1-19BF-42E4-A611-096059E32FB7}" type="presOf" srcId="{BEAB6AAF-246B-444D-90D9-FB867EA43595}" destId="{FC4CA3E0-7A9C-47CB-88C9-7F81B89FD5AA}" srcOrd="0" destOrd="0" presId="urn:microsoft.com/office/officeart/2005/8/layout/chevron1"/>
    <dgm:cxn modelId="{7ACFB0E2-0D3E-418A-BD4E-BA25CC5CC9E3}"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C2785AB0-9731-4DAB-9F6F-AA3F0A0A411A}" type="presOf" srcId="{3F9AE8EF-E0BD-4A86-A1DC-73AF72B43E8D}" destId="{2147596E-7442-41E7-9852-40E25C424996}"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336ADBB0-686E-483D-BA10-80BD02CF3721}" type="presOf" srcId="{211D359A-E621-4AEC-B365-EBCECA4D5608}" destId="{50739AC9-FC4E-42C3-B62E-1016634A724A}" srcOrd="0" destOrd="0" presId="urn:microsoft.com/office/officeart/2005/8/layout/chevron1"/>
    <dgm:cxn modelId="{7C548A56-4A1A-45AD-AB5A-7E7F8B7D845A}" type="presParOf" srcId="{5653E5CF-63C1-4886-9DFE-DC4B36C44A33}" destId="{FC4CA3E0-7A9C-47CB-88C9-7F81B89FD5AA}" srcOrd="0" destOrd="0" presId="urn:microsoft.com/office/officeart/2005/8/layout/chevron1"/>
    <dgm:cxn modelId="{CE2ECD58-452E-42D5-8107-9655B4EA7D32}" type="presParOf" srcId="{5653E5CF-63C1-4886-9DFE-DC4B36C44A33}" destId="{ED8D2DC7-F6B9-49A1-A3FB-6645AA0B27C9}" srcOrd="1" destOrd="0" presId="urn:microsoft.com/office/officeart/2005/8/layout/chevron1"/>
    <dgm:cxn modelId="{D956DAB8-14D8-491D-9658-A5FE73C3B0A0}" type="presParOf" srcId="{5653E5CF-63C1-4886-9DFE-DC4B36C44A33}" destId="{2147596E-7442-41E7-9852-40E25C424996}" srcOrd="2" destOrd="0" presId="urn:microsoft.com/office/officeart/2005/8/layout/chevron1"/>
    <dgm:cxn modelId="{F64C7D20-1243-40D5-A8A8-36376D94AE62}" type="presParOf" srcId="{5653E5CF-63C1-4886-9DFE-DC4B36C44A33}" destId="{78A125B0-FC96-47C5-ADBC-5773E5EBD695}" srcOrd="3" destOrd="0" presId="urn:microsoft.com/office/officeart/2005/8/layout/chevron1"/>
    <dgm:cxn modelId="{9C3E0689-5731-4311-8C58-1C32B4A5AFEF}"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数据集的准备</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D9A1054B-BA87-48AA-B18E-81D4561A5B6C}" type="presOf" srcId="{BEAB6AAF-246B-444D-90D9-FB867EA43595}" destId="{FC4CA3E0-7A9C-47CB-88C9-7F81B89FD5AA}" srcOrd="0" destOrd="0" presId="urn:microsoft.com/office/officeart/2005/8/layout/chevron1"/>
    <dgm:cxn modelId="{7CE0085C-7073-4131-9382-48F4B377993E}"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9551BDA1-E144-4E82-9AD2-D5411AA34FFF}" type="presOf" srcId="{211D359A-E621-4AEC-B365-EBCECA4D5608}" destId="{50739AC9-FC4E-42C3-B62E-1016634A724A}" srcOrd="0" destOrd="0" presId="urn:microsoft.com/office/officeart/2005/8/layout/chevron1"/>
    <dgm:cxn modelId="{DC362FA0-F117-4F15-BFFA-DEB2997A1CE7}"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CCBE81E8-525E-45E6-A189-E7724FA0B374}" type="presParOf" srcId="{5653E5CF-63C1-4886-9DFE-DC4B36C44A33}" destId="{FC4CA3E0-7A9C-47CB-88C9-7F81B89FD5AA}" srcOrd="0" destOrd="0" presId="urn:microsoft.com/office/officeart/2005/8/layout/chevron1"/>
    <dgm:cxn modelId="{01906A64-580A-4DA8-88C8-CA25A2FCB4A2}" type="presParOf" srcId="{5653E5CF-63C1-4886-9DFE-DC4B36C44A33}" destId="{ED8D2DC7-F6B9-49A1-A3FB-6645AA0B27C9}" srcOrd="1" destOrd="0" presId="urn:microsoft.com/office/officeart/2005/8/layout/chevron1"/>
    <dgm:cxn modelId="{55162CC2-5150-41EC-941F-12D84DAD375A}" type="presParOf" srcId="{5653E5CF-63C1-4886-9DFE-DC4B36C44A33}" destId="{2147596E-7442-41E7-9852-40E25C424996}" srcOrd="2" destOrd="0" presId="urn:microsoft.com/office/officeart/2005/8/layout/chevron1"/>
    <dgm:cxn modelId="{010740E4-BCE7-4111-ACB0-A7FCF72C99C4}" type="presParOf" srcId="{5653E5CF-63C1-4886-9DFE-DC4B36C44A33}" destId="{78A125B0-FC96-47C5-ADBC-5773E5EBD695}" srcOrd="3" destOrd="0" presId="urn:microsoft.com/office/officeart/2005/8/layout/chevron1"/>
    <dgm:cxn modelId="{6DA171A3-4CF7-4749-90B3-E3D3DFFFD032}"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训练模型</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18A62056-4C1F-428A-A396-40894EC4216C}" type="presOf" srcId="{BEAB6AAF-246B-444D-90D9-FB867EA43595}" destId="{FC4CA3E0-7A9C-47CB-88C9-7F81B89FD5AA}" srcOrd="0" destOrd="0" presId="urn:microsoft.com/office/officeart/2005/8/layout/chevron1"/>
    <dgm:cxn modelId="{58A8A062-FAC5-4A47-8556-097F41680D3D}" type="presOf" srcId="{3F9AE8EF-E0BD-4A86-A1DC-73AF72B43E8D}" destId="{2147596E-7442-41E7-9852-40E25C424996}"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3A68471-F6D4-4121-81F7-7A7E7D490633}" type="presOf" srcId="{211D359A-E621-4AEC-B365-EBCECA4D5608}" destId="{50739AC9-FC4E-42C3-B62E-1016634A724A}" srcOrd="0" destOrd="0" presId="urn:microsoft.com/office/officeart/2005/8/layout/chevron1"/>
    <dgm:cxn modelId="{EAA22A19-5D97-4C84-9CBF-53AA9FEE58BC}" type="presOf" srcId="{314AE731-DFBF-4A5B-8171-86B7AA2F2858}" destId="{5653E5CF-63C1-4886-9DFE-DC4B36C44A33}"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82E22A41-A907-487F-8A19-83C655E5610C}" type="presParOf" srcId="{5653E5CF-63C1-4886-9DFE-DC4B36C44A33}" destId="{FC4CA3E0-7A9C-47CB-88C9-7F81B89FD5AA}" srcOrd="0" destOrd="0" presId="urn:microsoft.com/office/officeart/2005/8/layout/chevron1"/>
    <dgm:cxn modelId="{BBB8D1AA-7292-4208-9EE2-CF739A0FAC56}" type="presParOf" srcId="{5653E5CF-63C1-4886-9DFE-DC4B36C44A33}" destId="{ED8D2DC7-F6B9-49A1-A3FB-6645AA0B27C9}" srcOrd="1" destOrd="0" presId="urn:microsoft.com/office/officeart/2005/8/layout/chevron1"/>
    <dgm:cxn modelId="{47AF3885-37D6-45C4-9221-C320A2B60925}" type="presParOf" srcId="{5653E5CF-63C1-4886-9DFE-DC4B36C44A33}" destId="{2147596E-7442-41E7-9852-40E25C424996}" srcOrd="2" destOrd="0" presId="urn:microsoft.com/office/officeart/2005/8/layout/chevron1"/>
    <dgm:cxn modelId="{6CA99B3A-6732-4580-A7FB-54199F400B81}" type="presParOf" srcId="{5653E5CF-63C1-4886-9DFE-DC4B36C44A33}" destId="{78A125B0-FC96-47C5-ADBC-5773E5EBD695}" srcOrd="3" destOrd="0" presId="urn:microsoft.com/office/officeart/2005/8/layout/chevron1"/>
    <dgm:cxn modelId="{449420AD-B312-4A58-81CB-20FC317E5460}"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在机器学习</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深度学习领域，通常采用表现比较好的监督学习方法，即先给定一部分“答案”，模型训练完成后便能够举一反三，正确“回答”其他的提问。这种方法往往需要大量的标注数据，标注数据是一项枯燥无味且花费巨大的任务，而随着越来越多的应用场景的出现，如果针对每一个应用场景都去标注大量的数据，所产生的花费是无法承受的。而迁移学习的主要思想是从相关领域中迁移标注数据或者知识结构、完成或改进目标领域或任务的学习效果，达到“从一个环境</a:t>
            </a:r>
            <a:r>
              <a:rPr lang="zh-CN" altLang="en-US" dirty="0" smtClean="0"/>
              <a:t>中学到的知识用来帮助新环境的学习任务</a:t>
            </a:r>
            <a:r>
              <a:rPr lang="zh-CN" altLang="en-US" sz="1200" b="0" i="0" kern="1200" dirty="0" smtClean="0">
                <a:solidFill>
                  <a:schemeClr val="tx1"/>
                </a:solidFill>
                <a:effectLst/>
                <a:latin typeface="+mn-lt"/>
                <a:ea typeface="+mn-ea"/>
                <a:cs typeface="+mn-cs"/>
              </a:rPr>
              <a:t>”的目的。在目标检测领域中，通过迁移学习的方法，不仅能加快训练的速度，还能确保模型的精度。即使只有少量的标注数据，也可以完成一个模型的训练。</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45630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为什么目标检测领域可以使用迁移学习？这和目标检测的原理</a:t>
            </a:r>
            <a:r>
              <a:rPr lang="en-US" altLang="zh-CN" dirty="0" smtClean="0"/>
              <a:t>——</a:t>
            </a:r>
            <a:r>
              <a:rPr lang="zh-CN" altLang="en-US" dirty="0" smtClean="0"/>
              <a:t>卷积神经网络有关。</a:t>
            </a:r>
            <a:endParaRPr lang="en-US" altLang="zh-CN" dirty="0" smtClean="0"/>
          </a:p>
          <a:p>
            <a:r>
              <a:rPr lang="zh-CN" altLang="en-US" sz="1200" b="0" i="0" kern="1200" dirty="0" smtClean="0">
                <a:solidFill>
                  <a:schemeClr val="tx1"/>
                </a:solidFill>
                <a:effectLst/>
                <a:latin typeface="+mn-lt"/>
                <a:ea typeface="+mn-ea"/>
                <a:cs typeface="+mn-cs"/>
              </a:rPr>
              <a:t>由之前的学习我们知道，卷积神经网络具备良好的层次结构，通常而言，普通的卷积神经网络都具备卷积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全连接这样的层次结构，在深度可观时，卷积神经网络可以提取图像各个 </a:t>
            </a:r>
            <a:r>
              <a:rPr lang="en-US" altLang="zh-CN" sz="1200" b="0" i="0" kern="1200" dirty="0" smtClean="0">
                <a:solidFill>
                  <a:schemeClr val="tx1"/>
                </a:solidFill>
                <a:effectLst/>
                <a:latin typeface="+mn-lt"/>
                <a:ea typeface="+mn-ea"/>
                <a:cs typeface="+mn-cs"/>
              </a:rPr>
              <a:t>level </a:t>
            </a:r>
            <a:r>
              <a:rPr lang="zh-CN" altLang="en-US" sz="1200" b="0" i="0" kern="1200" dirty="0" smtClean="0">
                <a:solidFill>
                  <a:schemeClr val="tx1"/>
                </a:solidFill>
                <a:effectLst/>
                <a:latin typeface="+mn-lt"/>
                <a:ea typeface="+mn-ea"/>
                <a:cs typeface="+mn-cs"/>
              </a:rPr>
              <a:t>的特征。当我们要从图像中识别一张人脸的时候，通常在一开始我们会检测到图像的横的、竖的等边缘特征，然后会检测到脸部的一些曲线特征，再进一步会检测到脸部的鼻子、眼睛和嘴巴等具备明显识别要素的特征等等。</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这便揭示了深度卷积网络可迁移性的基本原理和卷积网络训练过程的基本事实。具备良好层次的深度卷积网络通常都是在最初的前几层学习到图像的通用特征（</a:t>
            </a:r>
            <a:r>
              <a:rPr lang="en-US" altLang="zh-CN" sz="1200" b="0" i="0" kern="1200" dirty="0" smtClean="0">
                <a:solidFill>
                  <a:schemeClr val="tx1"/>
                </a:solidFill>
                <a:effectLst/>
                <a:latin typeface="+mn-lt"/>
                <a:ea typeface="+mn-ea"/>
                <a:cs typeface="+mn-cs"/>
              </a:rPr>
              <a:t>general feature</a:t>
            </a:r>
            <a:r>
              <a:rPr lang="zh-CN" altLang="en-US" sz="1200" b="0" i="0" kern="1200" dirty="0" smtClean="0">
                <a:solidFill>
                  <a:schemeClr val="tx1"/>
                </a:solidFill>
                <a:effectLst/>
                <a:latin typeface="+mn-lt"/>
                <a:ea typeface="+mn-ea"/>
                <a:cs typeface="+mn-cs"/>
              </a:rPr>
              <a:t>），但随着网络层次的加深，卷积网络便逐渐开始检测到图像的特定的特征，两个任务系统的输入越相近，深度卷积网络检测到的通用特征越多，迁移学习的效果越好。也就是说，网络前几层与具体的图像数据集关系不是特别大，但通用特征可以应用到其他场景的检测任务中，而网络的最后一层则是与选定的数据集及其任务目标紧密相关的，这也是为什么负责分类的全连接层都在最后的原因。</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6541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基于这种特性，我们可以将目标检测网络分为三个部分：</a:t>
            </a:r>
            <a:endParaRPr lang="en-US" altLang="zh-CN" dirty="0" smtClean="0"/>
          </a:p>
          <a:p>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部分的网络就是负责从图像中提取特征。常用的</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主要有</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Darknet</a:t>
            </a:r>
            <a:r>
              <a:rPr lang="zh-CN" altLang="en-US" sz="1200" b="0" i="0" kern="1200" dirty="0" smtClean="0">
                <a:solidFill>
                  <a:schemeClr val="tx1"/>
                </a:solidFill>
                <a:effectLst/>
                <a:latin typeface="+mn-lt"/>
                <a:ea typeface="+mn-ea"/>
                <a:cs typeface="+mn-cs"/>
              </a:rPr>
              <a:t>等。</a:t>
            </a:r>
            <a:br>
              <a:rPr lang="zh-CN" alt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neck</a:t>
            </a:r>
            <a:r>
              <a:rPr lang="zh-CN" altLang="en-US" sz="1200" b="0" i="0" kern="1200" dirty="0" smtClean="0">
                <a:solidFill>
                  <a:schemeClr val="tx1"/>
                </a:solidFill>
                <a:effectLst/>
                <a:latin typeface="+mn-lt"/>
                <a:ea typeface="+mn-ea"/>
                <a:cs typeface="+mn-cs"/>
              </a:rPr>
              <a:t>是放在</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之间的，是为了更好的利用</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提取的特征。常用的</a:t>
            </a:r>
            <a:r>
              <a:rPr lang="en-US" altLang="zh-CN" sz="1200" b="0" i="0" kern="1200" dirty="0" smtClean="0">
                <a:solidFill>
                  <a:schemeClr val="tx1"/>
                </a:solidFill>
                <a:effectLst/>
                <a:latin typeface="+mn-lt"/>
                <a:ea typeface="+mn-ea"/>
                <a:cs typeface="+mn-cs"/>
              </a:rPr>
              <a:t>Neck</a:t>
            </a:r>
            <a:r>
              <a:rPr lang="zh-CN" altLang="en-US" sz="1200" b="0" i="0" kern="1200" dirty="0" smtClean="0">
                <a:solidFill>
                  <a:schemeClr val="tx1"/>
                </a:solidFill>
                <a:effectLst/>
                <a:latin typeface="+mn-lt"/>
                <a:ea typeface="+mn-ea"/>
                <a:cs typeface="+mn-cs"/>
              </a:rPr>
              <a:t>有</a:t>
            </a:r>
            <a:r>
              <a:rPr lang="en-US" altLang="zh-CN" sz="1200" b="0" i="0" kern="1200" dirty="0" smtClean="0">
                <a:solidFill>
                  <a:schemeClr val="tx1"/>
                </a:solidFill>
                <a:effectLst/>
                <a:latin typeface="+mn-lt"/>
                <a:ea typeface="+mn-ea"/>
                <a:cs typeface="+mn-cs"/>
              </a:rPr>
              <a:t>SPP</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FPN</a:t>
            </a:r>
            <a:r>
              <a:rPr lang="zh-CN" altLang="en-US" sz="1200" b="0" i="0" kern="1200" dirty="0" smtClean="0">
                <a:solidFill>
                  <a:schemeClr val="tx1"/>
                </a:solidFill>
                <a:effectLst/>
                <a:latin typeface="+mn-lt"/>
                <a:ea typeface="+mn-ea"/>
                <a:cs typeface="+mn-cs"/>
              </a:rPr>
              <a:t>等。</a:t>
            </a:r>
            <a:br>
              <a:rPr lang="zh-CN" alt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这一部分的作用就是用于分类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定位。常用的</a:t>
            </a: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主要有</a:t>
            </a:r>
            <a:r>
              <a:rPr lang="en-US" altLang="zh-CN" sz="1200" b="0" i="0" kern="1200" dirty="0" smtClean="0">
                <a:solidFill>
                  <a:schemeClr val="tx1"/>
                </a:solidFill>
                <a:effectLst/>
                <a:latin typeface="+mn-lt"/>
                <a:ea typeface="+mn-ea"/>
                <a:cs typeface="+mn-cs"/>
              </a:rPr>
              <a:t>SSD</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YOLO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Faster R-CNN</a:t>
            </a:r>
            <a:r>
              <a:rPr lang="zh-CN" altLang="en-US" sz="1200" b="0" i="0" kern="1200" dirty="0" smtClean="0">
                <a:solidFill>
                  <a:schemeClr val="tx1"/>
                </a:solidFill>
                <a:effectLst/>
                <a:latin typeface="+mn-lt"/>
                <a:ea typeface="+mn-ea"/>
                <a:cs typeface="+mn-cs"/>
              </a:rPr>
              <a:t>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顺带一提，</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网络大多通过在著名公开数据集的图像分类任务中得到，尽管</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只做分类而不会去定位，但我们仍可以将它作为特征提取器使用。</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8121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通常而言，迁移学习有两种使用套路。第一种便是常说的 </a:t>
            </a:r>
            <a:r>
              <a:rPr lang="en-US" altLang="zh-CN" sz="1200" b="0" i="0" kern="1200" dirty="0" err="1" smtClean="0">
                <a:solidFill>
                  <a:schemeClr val="tx1"/>
                </a:solidFill>
                <a:effectLst/>
                <a:latin typeface="+mn-lt"/>
                <a:ea typeface="+mn-ea"/>
                <a:cs typeface="+mn-cs"/>
              </a:rPr>
              <a:t>finetune</a:t>
            </a:r>
            <a:r>
              <a:rPr lang="zh-CN" altLang="en-US" sz="1200" b="0" i="0" kern="1200" dirty="0" smtClean="0">
                <a:solidFill>
                  <a:schemeClr val="tx1"/>
                </a:solidFill>
                <a:effectLst/>
                <a:latin typeface="+mn-lt"/>
                <a:ea typeface="+mn-ea"/>
                <a:cs typeface="+mn-cs"/>
              </a:rPr>
              <a:t>，即微调，简单而言就是将别人训练好的网络拿来进行简单修改用于自己的学习任务。在实际操作中，通常用预训练的网络权值对自己网络的权值进行初始化，以代替原先的随机初始化。第二种称为 </a:t>
            </a:r>
            <a:r>
              <a:rPr lang="en-US" altLang="zh-CN" sz="1200" b="0" i="0" kern="1200" dirty="0" smtClean="0">
                <a:solidFill>
                  <a:schemeClr val="tx1"/>
                </a:solidFill>
                <a:effectLst/>
                <a:latin typeface="+mn-lt"/>
                <a:ea typeface="+mn-ea"/>
                <a:cs typeface="+mn-cs"/>
              </a:rPr>
              <a:t>fixed feature extractor</a:t>
            </a:r>
            <a:r>
              <a:rPr lang="zh-CN" altLang="en-US" sz="1200" b="0" i="0" kern="1200" dirty="0" smtClean="0">
                <a:solidFill>
                  <a:schemeClr val="tx1"/>
                </a:solidFill>
                <a:effectLst/>
                <a:latin typeface="+mn-lt"/>
                <a:ea typeface="+mn-ea"/>
                <a:cs typeface="+mn-cs"/>
              </a:rPr>
              <a:t>，即将预训练的网络作为新任务的特征提取器，在实际操作中通常将网络的前几层进行冻结，只训练最后的全连接层，这时候预训练网络便是一个特征提取器。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46772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通常使用第二种训练方式的结果会略优于第一种训练方式。第一种方式在检测</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公开数据集上有较好的效果，因为整个网络的权重就是在</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数据集上训练而得。而使用主干网络的预训练方法，在自己的数据集上检测效果更好。本实验手册结果截图使用第一种训练方式而得，推荐使用第二种训练方式，</a:t>
            </a:r>
            <a:r>
              <a:rPr lang="zh-CN" altLang="en-US" sz="1200" kern="1200" dirty="0" smtClean="0">
                <a:solidFill>
                  <a:schemeClr val="tx1"/>
                </a:solidFill>
                <a:effectLst/>
                <a:latin typeface="+mn-lt"/>
                <a:ea typeface="+mn-ea"/>
                <a:cs typeface="+mn-cs"/>
              </a:rPr>
              <a:t>可</a:t>
            </a:r>
            <a:r>
              <a:rPr lang="zh-CN" altLang="zh-CN" sz="1200" kern="1200" dirty="0" smtClean="0">
                <a:solidFill>
                  <a:schemeClr val="tx1"/>
                </a:solidFill>
                <a:effectLst/>
                <a:latin typeface="+mn-lt"/>
                <a:ea typeface="+mn-ea"/>
                <a:cs typeface="+mn-cs"/>
              </a:rPr>
              <a:t>与实验手册结果进行对比。</a:t>
            </a:r>
            <a:endParaRPr lang="en-US" altLang="zh-CN" sz="120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关于其他可选参数的修改，代码中有极为详细的注释，这里不做赘述。</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4264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73510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649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2384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mirrors.aliyun.com/pypi/simple/" TargetMode="External"/><Relationship Id="rId7" Type="http://schemas.openxmlformats.org/officeDocument/2006/relationships/hyperlink" Target="https://************&#65288;&#22269;&#20869;&#38236;&#20687;&#28304;"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pypi.tuna.tsinghua.edu.cn/simple/" TargetMode="External"/><Relationship Id="rId5" Type="http://schemas.openxmlformats.org/officeDocument/2006/relationships/hyperlink" Target="http://pypi.douban.com/simple/" TargetMode="External"/><Relationship Id="rId4" Type="http://schemas.openxmlformats.org/officeDocument/2006/relationships/hyperlink" Target="https://pypi.mirrors.ustc.edu.cn/simpl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实验：一</a:t>
            </a:r>
            <a:r>
              <a:rPr lang="zh-CN" altLang="en-US" dirty="0" smtClean="0"/>
              <a:t>阶段</a:t>
            </a:r>
            <a:r>
              <a:rPr lang="zh-CN" altLang="en-US" smtClean="0"/>
              <a:t>算法模型训练</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修改训练模型的各个参数</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训练一阶段</a:t>
            </a:r>
            <a:r>
              <a:rPr kumimoji="1" lang="zh-CN" altLang="en-US" dirty="0">
                <a:latin typeface="微软雅黑" panose="020B0503020204020204" pitchFamily="34" charset="-122"/>
                <a:ea typeface="微软雅黑" panose="020B0503020204020204" pitchFamily="34" charset="-122"/>
              </a:rPr>
              <a:t>算法</a:t>
            </a:r>
            <a:r>
              <a:rPr kumimoji="1" lang="zh-CN" altLang="en-US" dirty="0" smtClean="0">
                <a:latin typeface="微软雅黑" panose="020B0503020204020204" pitchFamily="34" charset="-122"/>
                <a:ea typeface="微软雅黑" panose="020B0503020204020204" pitchFamily="34" charset="-122"/>
              </a:rPr>
              <a:t>（</a:t>
            </a:r>
            <a:r>
              <a:rPr kumimoji="1" lang="en-US" altLang="zh-CN" dirty="0" smtClean="0">
                <a:latin typeface="微软雅黑" panose="020B0503020204020204" pitchFamily="34" charset="-122"/>
                <a:ea typeface="微软雅黑" panose="020B0503020204020204" pitchFamily="34" charset="-122"/>
              </a:rPr>
              <a:t>Yolov4-tiny</a:t>
            </a:r>
            <a:r>
              <a:rPr kumimoji="1" lang="zh-CN" altLang="en-US" dirty="0" smtClean="0">
                <a:latin typeface="微软雅黑" panose="020B0503020204020204" pitchFamily="34" charset="-122"/>
                <a:ea typeface="微软雅黑" panose="020B0503020204020204" pitchFamily="34" charset="-122"/>
              </a:rPr>
              <a:t>）模型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a:t>使用准备好的数据集在搭建好的环境中</a:t>
            </a:r>
            <a:r>
              <a:rPr lang="zh-CN" altLang="en-US" dirty="0" smtClean="0"/>
              <a:t>训练</a:t>
            </a:r>
            <a:r>
              <a:rPr lang="en-US" altLang="zh-CN" dirty="0" smtClean="0"/>
              <a:t>Yolov4-Tiny</a:t>
            </a:r>
            <a:r>
              <a:rPr lang="zh-CN" altLang="en-US" dirty="0" smtClean="0"/>
              <a:t>模型</a:t>
            </a:r>
            <a:endParaRPr lang="en-US" altLang="zh-CN" dirty="0"/>
          </a:p>
          <a:p>
            <a:pPr marL="342900" indent="-342900">
              <a:buFont typeface="+mj-lt"/>
              <a:buAutoNum type="arabicPeriod"/>
            </a:pPr>
            <a:endParaRPr lang="zh-CN" altLang="en-US"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a:xfrm>
            <a:off x="669926" y="1130299"/>
            <a:ext cx="5269148" cy="5006975"/>
          </a:xfrm>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a:t>
            </a:r>
          </a:p>
          <a:p>
            <a:pPr lvl="1"/>
            <a:r>
              <a:rPr lang="en-US" altLang="zh-CN" dirty="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pPr lvl="0"/>
            <a:endParaRPr lang="zh-CN" altLang="zh-CN" dirty="0"/>
          </a:p>
          <a:p>
            <a:pPr>
              <a:lnSpc>
                <a:spcPct val="125000"/>
              </a:lnSpc>
            </a:pPr>
            <a:endParaRPr lang="zh-CN" altLang="en-US" dirty="0"/>
          </a:p>
        </p:txBody>
      </p:sp>
      <p:sp>
        <p:nvSpPr>
          <p:cNvPr id="4" name="内容占位符 2">
            <a:extLst>
              <a:ext uri="{FF2B5EF4-FFF2-40B4-BE49-F238E27FC236}">
                <a16:creationId xmlns:a16="http://schemas.microsoft.com/office/drawing/2014/main" xmlns=""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dirty="0" smtClean="0"/>
          </a:p>
          <a:p>
            <a:pPr lvl="1"/>
            <a:r>
              <a:rPr lang="en-US" altLang="zh-CN" dirty="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6" name="文本框 5"/>
          <p:cNvSpPr txBox="1"/>
          <p:nvPr/>
        </p:nvSpPr>
        <p:spPr>
          <a:xfrm>
            <a:off x="5477347" y="3530851"/>
            <a:ext cx="415498" cy="369332"/>
          </a:xfrm>
          <a:prstGeom prst="rect">
            <a:avLst/>
          </a:prstGeom>
          <a:noFill/>
        </p:spPr>
        <p:txBody>
          <a:bodyPr wrap="none" rtlCol="0">
            <a:spAutoFit/>
          </a:bodyPr>
          <a:lstStyle/>
          <a:p>
            <a:r>
              <a:rPr lang="zh-CN" altLang="en-US" dirty="0" smtClean="0"/>
              <a:t>或</a:t>
            </a:r>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smtClean="0"/>
              <a:t>数据集的准备</a:t>
            </a:r>
            <a:endParaRPr lang="en-US" altLang="zh-CN" dirty="0" smtClean="0"/>
          </a:p>
          <a:p>
            <a:pPr>
              <a:lnSpc>
                <a:spcPct val="125000"/>
              </a:lnSpc>
            </a:pPr>
            <a:r>
              <a:rPr lang="zh-CN" altLang="en-US" dirty="0" smtClean="0"/>
              <a:t>训练模型</a:t>
            </a:r>
            <a:endParaRPr lang="en-US" altLang="zh-CN" dirty="0"/>
          </a:p>
          <a:p>
            <a:pPr>
              <a:lnSpc>
                <a:spcPct val="125000"/>
              </a:lnSpc>
            </a:pPr>
            <a:endParaRPr lang="en-US" altLang="zh-CN" dirty="0" smtClean="0"/>
          </a:p>
        </p:txBody>
      </p:sp>
    </p:spTree>
    <p:extLst>
      <p:ext uri="{BB962C8B-B14F-4D97-AF65-F5344CB8AC3E}">
        <p14:creationId xmlns:p14="http://schemas.microsoft.com/office/powerpoint/2010/main" val="30770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60483296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507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smtClean="0"/>
              <a:t>cputorch</a:t>
            </a:r>
            <a:r>
              <a:rPr lang="en-US" altLang="zh-CN" dirty="0" smtClean="0"/>
              <a:t>/</a:t>
            </a:r>
            <a:r>
              <a:rPr lang="en-US" altLang="zh-CN" dirty="0" err="1" smtClean="0"/>
              <a:t>gputorch</a:t>
            </a:r>
            <a:r>
              <a:rPr lang="zh-CN" altLang="zh-CN" dirty="0" smtClean="0"/>
              <a:t>）</a:t>
            </a:r>
            <a:r>
              <a:rPr lang="zh-CN" altLang="en-US" dirty="0" smtClean="0"/>
              <a:t>，</a:t>
            </a:r>
            <a:r>
              <a:rPr lang="zh-CN" altLang="zh-CN" dirty="0" smtClean="0"/>
              <a:t>使用</a:t>
            </a:r>
            <a:r>
              <a:rPr lang="en-US" altLang="zh-CN" dirty="0" err="1"/>
              <a:t>Pytorch</a:t>
            </a:r>
            <a:r>
              <a:rPr lang="zh-CN" altLang="zh-CN" dirty="0"/>
              <a:t>打开项目并选择虚拟环境。</a:t>
            </a:r>
            <a:r>
              <a:rPr lang="zh-CN" altLang="zh-CN" dirty="0" smtClean="0"/>
              <a:t>（</a:t>
            </a:r>
            <a:r>
              <a:rPr lang="en-US" altLang="zh-CN" dirty="0" err="1" smtClean="0"/>
              <a:t>Pytorch</a:t>
            </a:r>
            <a:r>
              <a:rPr lang="zh-CN" altLang="en-US" dirty="0" smtClean="0"/>
              <a:t>选择环境</a:t>
            </a:r>
            <a:r>
              <a:rPr lang="zh-CN" altLang="zh-CN" dirty="0" smtClean="0"/>
              <a:t>步骤</a:t>
            </a:r>
            <a:r>
              <a:rPr lang="zh-CN" altLang="zh-CN" dirty="0"/>
              <a:t>请参考之前的</a:t>
            </a:r>
            <a:r>
              <a:rPr lang="en-US" altLang="zh-CN" dirty="0"/>
              <a:t>“</a:t>
            </a:r>
            <a:r>
              <a:rPr lang="zh-CN" altLang="zh-CN" dirty="0"/>
              <a:t>实验：开发环境配置</a:t>
            </a:r>
            <a:r>
              <a:rPr lang="en-US" altLang="zh-CN" dirty="0"/>
              <a:t>”</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4031" y="2064190"/>
            <a:ext cx="3642350" cy="4073084"/>
          </a:xfrm>
          <a:prstGeom prst="rect">
            <a:avLst/>
          </a:prstGeom>
        </p:spPr>
      </p:pic>
    </p:spTree>
    <p:extLst>
      <p:ext uri="{BB962C8B-B14F-4D97-AF65-F5344CB8AC3E}">
        <p14:creationId xmlns:p14="http://schemas.microsoft.com/office/powerpoint/2010/main" val="1392473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nets</a:t>
            </a:r>
            <a:r>
              <a:rPr lang="zh-CN" altLang="zh-CN" dirty="0"/>
              <a:t>文件夹存放有关模型网络结构的代码文件，一般不做修改</a:t>
            </a:r>
            <a:r>
              <a:rPr lang="zh-CN" altLang="zh-CN" dirty="0" smtClean="0"/>
              <a:t>。</a:t>
            </a:r>
            <a:endParaRPr lang="en-US" altLang="zh-CN" dirty="0" smtClean="0"/>
          </a:p>
          <a:p>
            <a:r>
              <a:rPr lang="en-US" altLang="zh-CN" dirty="0" err="1"/>
              <a:t>utils</a:t>
            </a:r>
            <a:r>
              <a:rPr lang="zh-CN" altLang="zh-CN" dirty="0"/>
              <a:t>文件夹存放所有训练、评估、测试所需的配置代码文件，一般不做修改</a:t>
            </a:r>
            <a:r>
              <a:rPr lang="zh-CN" altLang="zh-CN" dirty="0" smtClean="0"/>
              <a:t>。</a:t>
            </a:r>
            <a:endParaRPr lang="en-US" altLang="zh-CN" dirty="0" smtClean="0"/>
          </a:p>
          <a:p>
            <a:r>
              <a:rPr lang="en-US" altLang="zh-CN" dirty="0"/>
              <a:t>summary.py</a:t>
            </a:r>
            <a:r>
              <a:rPr lang="zh-CN" altLang="zh-CN" dirty="0"/>
              <a:t>文件用于查看网络结构。</a:t>
            </a:r>
          </a:p>
          <a:p>
            <a:endParaRPr lang="zh-CN" altLang="zh-CN" dirty="0" smtClean="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3089" y="2852832"/>
            <a:ext cx="2780952" cy="1561905"/>
          </a:xfrm>
          <a:prstGeom prst="rect">
            <a:avLst/>
          </a:prstGeom>
        </p:spPr>
      </p:pic>
      <p:pic>
        <p:nvPicPr>
          <p:cNvPr id="6" name="图片 5"/>
          <p:cNvPicPr>
            <a:picLocks noChangeAspect="1"/>
          </p:cNvPicPr>
          <p:nvPr/>
        </p:nvPicPr>
        <p:blipFill>
          <a:blip r:embed="rId3"/>
          <a:stretch>
            <a:fillRect/>
          </a:stretch>
        </p:blipFill>
        <p:spPr>
          <a:xfrm>
            <a:off x="1675317" y="3081403"/>
            <a:ext cx="2076190" cy="1104762"/>
          </a:xfrm>
          <a:prstGeom prst="rect">
            <a:avLst/>
          </a:prstGeom>
        </p:spPr>
      </p:pic>
    </p:spTree>
    <p:extLst>
      <p:ext uri="{BB962C8B-B14F-4D97-AF65-F5344CB8AC3E}">
        <p14:creationId xmlns:p14="http://schemas.microsoft.com/office/powerpoint/2010/main" val="1034697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本实验中需要使用的代码文件</a:t>
            </a:r>
            <a:r>
              <a:rPr lang="en-US" altLang="zh-CN" dirty="0"/>
              <a:t>voc_annotation.py</a:t>
            </a:r>
            <a:r>
              <a:rPr lang="zh-CN" altLang="zh-CN" dirty="0"/>
              <a:t>、</a:t>
            </a:r>
            <a:r>
              <a:rPr lang="en-US" altLang="zh-CN" dirty="0"/>
              <a:t>train.py</a:t>
            </a:r>
            <a:r>
              <a:rPr lang="zh-CN" altLang="zh-CN" dirty="0"/>
              <a:t>，以及可选择使用的</a:t>
            </a:r>
            <a:r>
              <a:rPr lang="en-US" altLang="zh-CN" dirty="0"/>
              <a:t>kmeans_for_anchors.py</a:t>
            </a:r>
            <a:r>
              <a:rPr lang="zh-CN" altLang="zh-CN" dirty="0"/>
              <a:t>。</a:t>
            </a:r>
          </a:p>
          <a:p>
            <a:r>
              <a:rPr lang="en-US" altLang="zh-CN" dirty="0"/>
              <a:t>voc_annotation.py</a:t>
            </a:r>
            <a:r>
              <a:rPr lang="zh-CN" altLang="zh-CN" dirty="0"/>
              <a:t>主要是将准备好的数据集按</a:t>
            </a:r>
            <a:r>
              <a:rPr lang="en-US" altLang="zh-CN" dirty="0"/>
              <a:t>VOC</a:t>
            </a:r>
            <a:r>
              <a:rPr lang="zh-CN" altLang="zh-CN" dirty="0"/>
              <a:t>数据集的格式划分训练集、验证集和测试集，调用了</a:t>
            </a:r>
            <a:r>
              <a:rPr lang="en-US" altLang="zh-CN" dirty="0" err="1"/>
              <a:t>utils</a:t>
            </a:r>
            <a:r>
              <a:rPr lang="zh-CN" altLang="zh-CN" dirty="0"/>
              <a:t>文件夹下</a:t>
            </a:r>
            <a:r>
              <a:rPr lang="en-US" altLang="zh-CN" dirty="0"/>
              <a:t>utils.py</a:t>
            </a:r>
            <a:r>
              <a:rPr lang="zh-CN" altLang="zh-CN" dirty="0"/>
              <a:t>的</a:t>
            </a:r>
            <a:r>
              <a:rPr lang="en-US" altLang="zh-CN" dirty="0" err="1"/>
              <a:t>get_classes</a:t>
            </a:r>
            <a:r>
              <a:rPr lang="en-US" altLang="zh-CN" dirty="0"/>
              <a:t>(</a:t>
            </a:r>
            <a:r>
              <a:rPr lang="en-US" altLang="zh-CN" dirty="0" err="1"/>
              <a:t>classes_path</a:t>
            </a:r>
            <a:r>
              <a:rPr lang="en-US" altLang="zh-CN" dirty="0"/>
              <a:t>)</a:t>
            </a:r>
            <a:r>
              <a:rPr lang="zh-CN" altLang="zh-CN" dirty="0"/>
              <a:t>函数：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20" y="2757595"/>
            <a:ext cx="4228571" cy="1752381"/>
          </a:xfrm>
          <a:prstGeom prst="rect">
            <a:avLst/>
          </a:prstGeom>
        </p:spPr>
      </p:pic>
    </p:spTree>
    <p:extLst>
      <p:ext uri="{BB962C8B-B14F-4D97-AF65-F5344CB8AC3E}">
        <p14:creationId xmlns:p14="http://schemas.microsoft.com/office/powerpoint/2010/main" val="1339900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convert_annotation</a:t>
            </a:r>
            <a:r>
              <a:rPr lang="en-US" altLang="zh-CN" dirty="0"/>
              <a:t>(year, </a:t>
            </a:r>
            <a:r>
              <a:rPr lang="en-US" altLang="zh-CN" dirty="0" err="1"/>
              <a:t>image_id</a:t>
            </a:r>
            <a:r>
              <a:rPr lang="en-US" altLang="zh-CN" dirty="0"/>
              <a:t>, </a:t>
            </a:r>
            <a:r>
              <a:rPr lang="en-US" altLang="zh-CN" dirty="0" err="1"/>
              <a:t>list_file</a:t>
            </a:r>
            <a:r>
              <a:rPr lang="en-US" altLang="zh-CN" dirty="0"/>
              <a:t>)</a:t>
            </a:r>
            <a:r>
              <a:rPr lang="zh-CN" altLang="zh-CN" dirty="0"/>
              <a:t>函数将数据集中的</a:t>
            </a:r>
            <a:r>
              <a:rPr lang="en-US" altLang="zh-CN" dirty="0"/>
              <a:t>xml</a:t>
            </a:r>
            <a:r>
              <a:rPr lang="zh-CN" altLang="zh-CN" dirty="0"/>
              <a:t>文件转化为可直接调用的</a:t>
            </a:r>
            <a:r>
              <a:rPr lang="en-US" altLang="zh-CN" dirty="0"/>
              <a:t>.txt</a:t>
            </a:r>
            <a:r>
              <a:rPr lang="zh-CN" altLang="zh-CN" dirty="0"/>
              <a:t>格式，每行文本为一张图像数据，用图像路径</a:t>
            </a:r>
            <a:r>
              <a:rPr lang="en-US" altLang="zh-CN" dirty="0"/>
              <a:t>+</a:t>
            </a:r>
            <a:r>
              <a:rPr lang="zh-CN" altLang="zh-CN" dirty="0"/>
              <a:t>五位数字（前四位确定目标框，第五位表示目标种类）表示。</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442" y="3957871"/>
            <a:ext cx="6809524" cy="153333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9014" y="2235612"/>
            <a:ext cx="8552381" cy="1076190"/>
          </a:xfrm>
          <a:prstGeom prst="rect">
            <a:avLst/>
          </a:prstGeom>
        </p:spPr>
      </p:pic>
    </p:spTree>
    <p:extLst>
      <p:ext uri="{BB962C8B-B14F-4D97-AF65-F5344CB8AC3E}">
        <p14:creationId xmlns:p14="http://schemas.microsoft.com/office/powerpoint/2010/main" val="3667412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主函数运行数据集格式的转化，生成</a:t>
            </a:r>
            <a:r>
              <a:rPr lang="en-US" altLang="zh-CN" dirty="0"/>
              <a:t>.txt</a:t>
            </a:r>
            <a:r>
              <a:rPr lang="zh-CN" altLang="zh-CN" dirty="0"/>
              <a:t>文件。</a:t>
            </a:r>
          </a:p>
          <a:p>
            <a:r>
              <a:rPr lang="en-US" altLang="zh-CN" dirty="0" err="1"/>
              <a:t>ImageSets</a:t>
            </a:r>
            <a:r>
              <a:rPr lang="en-US" altLang="zh-CN" dirty="0"/>
              <a:t>/Main</a:t>
            </a:r>
            <a:r>
              <a:rPr lang="zh-CN" altLang="zh-CN" dirty="0"/>
              <a:t>下生成四个文件，每行只显示图像名称：</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063" y="2657221"/>
            <a:ext cx="5714286" cy="45714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0444" y="3801361"/>
            <a:ext cx="5209524" cy="942857"/>
          </a:xfrm>
          <a:prstGeom prst="rect">
            <a:avLst/>
          </a:prstGeom>
        </p:spPr>
      </p:pic>
    </p:spTree>
    <p:extLst>
      <p:ext uri="{BB962C8B-B14F-4D97-AF65-F5344CB8AC3E}">
        <p14:creationId xmlns:p14="http://schemas.microsoft.com/office/powerpoint/2010/main" val="3132594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en-US" dirty="0" smtClean="0"/>
              <a:t>根</a:t>
            </a:r>
            <a:r>
              <a:rPr lang="zh-CN" altLang="zh-CN" dirty="0" smtClean="0"/>
              <a:t>目录</a:t>
            </a:r>
            <a:r>
              <a:rPr lang="zh-CN" altLang="zh-CN" dirty="0"/>
              <a:t>下生成两个文件，每行按完整图像绝对路径</a:t>
            </a:r>
            <a:r>
              <a:rPr lang="en-US" altLang="zh-CN" dirty="0"/>
              <a:t>+</a:t>
            </a:r>
            <a:r>
              <a:rPr lang="zh-CN" altLang="zh-CN" dirty="0"/>
              <a:t>五位数字组成。</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158" y="2281405"/>
            <a:ext cx="8038095" cy="2704762"/>
          </a:xfrm>
          <a:prstGeom prst="rect">
            <a:avLst/>
          </a:prstGeom>
        </p:spPr>
      </p:pic>
    </p:spTree>
    <p:extLst>
      <p:ext uri="{BB962C8B-B14F-4D97-AF65-F5344CB8AC3E}">
        <p14:creationId xmlns:p14="http://schemas.microsoft.com/office/powerpoint/2010/main" val="137673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train.py</a:t>
            </a:r>
            <a:r>
              <a:rPr lang="zh-CN" altLang="zh-CN" dirty="0"/>
              <a:t>仅有一个主函数，主要功能为训练模型，修改参数即可运行，主要调用了以下函数或类：</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0444" y="2819500"/>
            <a:ext cx="6009524" cy="1628571"/>
          </a:xfrm>
          <a:prstGeom prst="rect">
            <a:avLst/>
          </a:prstGeom>
        </p:spPr>
      </p:pic>
    </p:spTree>
    <p:extLst>
      <p:ext uri="{BB962C8B-B14F-4D97-AF65-F5344CB8AC3E}">
        <p14:creationId xmlns:p14="http://schemas.microsoft.com/office/powerpoint/2010/main" val="79757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kmeans_for_anchors.py</a:t>
            </a:r>
            <a:r>
              <a:rPr lang="zh-CN" altLang="zh-CN" dirty="0"/>
              <a:t>主要通过</a:t>
            </a:r>
            <a:r>
              <a:rPr lang="en-US" altLang="zh-CN" dirty="0"/>
              <a:t>k-means</a:t>
            </a:r>
            <a:r>
              <a:rPr lang="zh-CN" altLang="zh-CN" dirty="0"/>
              <a:t>聚类算法对数据集中的框进行聚类，有关于交并比计算的函数</a:t>
            </a:r>
            <a:r>
              <a:rPr lang="en-US" altLang="zh-CN" dirty="0" err="1"/>
              <a:t>cas_iou</a:t>
            </a:r>
            <a:r>
              <a:rPr lang="en-US" altLang="zh-CN" dirty="0"/>
              <a:t>(box, cluster)</a:t>
            </a:r>
            <a:r>
              <a:rPr lang="zh-CN" altLang="zh-CN" dirty="0"/>
              <a:t>和</a:t>
            </a:r>
            <a:r>
              <a:rPr lang="en-US" altLang="zh-CN" dirty="0" err="1"/>
              <a:t>avg_iou</a:t>
            </a:r>
            <a:r>
              <a:rPr lang="en-US" altLang="zh-CN" dirty="0"/>
              <a:t>(box, cluster)</a:t>
            </a:r>
            <a:r>
              <a:rPr lang="zh-CN" altLang="zh-CN" dirty="0"/>
              <a:t>，负责聚类算法的函数</a:t>
            </a:r>
            <a:r>
              <a:rPr lang="en-US" altLang="zh-CN" dirty="0" err="1"/>
              <a:t>kmeans</a:t>
            </a:r>
            <a:r>
              <a:rPr lang="en-US" altLang="zh-CN" dirty="0"/>
              <a:t>(</a:t>
            </a:r>
            <a:r>
              <a:rPr lang="en-US" altLang="zh-CN" dirty="0" err="1"/>
              <a:t>box,k</a:t>
            </a:r>
            <a:r>
              <a:rPr lang="en-US" altLang="zh-CN" dirty="0"/>
              <a:t>)</a:t>
            </a:r>
            <a:r>
              <a:rPr lang="zh-CN" altLang="zh-CN" dirty="0"/>
              <a:t>，读取图像数据的函数</a:t>
            </a:r>
            <a:r>
              <a:rPr lang="en-US" altLang="zh-CN" dirty="0" err="1"/>
              <a:t>load_data</a:t>
            </a:r>
            <a:r>
              <a:rPr lang="en-US" altLang="zh-CN" dirty="0"/>
              <a:t>(path)</a:t>
            </a:r>
            <a:r>
              <a:rPr lang="zh-CN" altLang="zh-CN" dirty="0"/>
              <a:t>，以及完成计算的主函数</a:t>
            </a:r>
            <a:r>
              <a:rPr lang="zh-CN" altLang="zh-CN" dirty="0" smtClean="0"/>
              <a:t>。</a:t>
            </a:r>
            <a:endParaRPr lang="en-US" altLang="zh-CN"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r>
              <a:rPr lang="en-US" altLang="zh-CN" b="1" dirty="0" err="1" smtClean="0"/>
              <a:t>kmeans</a:t>
            </a:r>
            <a:r>
              <a:rPr lang="zh-CN" altLang="zh-CN" b="1" dirty="0"/>
              <a:t>聚类仅适用于检测目标框的大小分布极为不均的情况，本实验中没有进行聚类操作。</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8539" y="2581405"/>
            <a:ext cx="3533333" cy="2104762"/>
          </a:xfrm>
          <a:prstGeom prst="rect">
            <a:avLst/>
          </a:prstGeom>
        </p:spPr>
      </p:pic>
    </p:spTree>
    <p:extLst>
      <p:ext uri="{BB962C8B-B14F-4D97-AF65-F5344CB8AC3E}">
        <p14:creationId xmlns:p14="http://schemas.microsoft.com/office/powerpoint/2010/main" val="2391225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18101766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4195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使用之前准备好的数据集文件夹</a:t>
            </a:r>
            <a:r>
              <a:rPr lang="en-US" altLang="zh-CN" dirty="0"/>
              <a:t>“VOC2007”</a:t>
            </a:r>
            <a:r>
              <a:rPr lang="zh-CN" altLang="zh-CN" dirty="0"/>
              <a:t>，将其拷贝至模型根目录下空文件夹</a:t>
            </a:r>
            <a:r>
              <a:rPr lang="en-US" altLang="zh-CN" dirty="0"/>
              <a:t>“</a:t>
            </a:r>
            <a:r>
              <a:rPr lang="en-US" altLang="zh-CN" dirty="0" err="1"/>
              <a:t>VOCdevkit</a:t>
            </a:r>
            <a:r>
              <a:rPr lang="en-US" altLang="zh-CN" dirty="0"/>
              <a:t>”</a:t>
            </a:r>
            <a:r>
              <a:rPr lang="zh-CN" altLang="zh-CN" dirty="0"/>
              <a:t>中。</a:t>
            </a:r>
            <a:r>
              <a:rPr lang="en-US" altLang="zh-CN" dirty="0" err="1"/>
              <a:t>VOCdevkit</a:t>
            </a:r>
            <a:r>
              <a:rPr lang="zh-CN" altLang="zh-CN" dirty="0"/>
              <a:t>文件夹结构为：</a:t>
            </a:r>
          </a:p>
          <a:p>
            <a:pPr lvl="0"/>
            <a:r>
              <a:rPr lang="en-US" altLang="zh-CN" dirty="0" err="1"/>
              <a:t>VOCdevkit</a:t>
            </a:r>
            <a:endParaRPr lang="zh-CN" altLang="zh-CN" dirty="0"/>
          </a:p>
          <a:p>
            <a:pPr lvl="1"/>
            <a:r>
              <a:rPr lang="en-US" altLang="zh-CN" dirty="0"/>
              <a:t>VOC2007</a:t>
            </a:r>
            <a:endParaRPr lang="zh-CN" altLang="zh-CN" dirty="0"/>
          </a:p>
          <a:p>
            <a:pPr lvl="2"/>
            <a:r>
              <a:rPr lang="en-US" altLang="zh-CN" dirty="0"/>
              <a:t>Annotations </a:t>
            </a:r>
            <a:r>
              <a:rPr lang="zh-CN" altLang="zh-CN" dirty="0"/>
              <a:t>（所有的</a:t>
            </a:r>
            <a:r>
              <a:rPr lang="en-US" altLang="zh-CN" dirty="0"/>
              <a:t>.xml</a:t>
            </a:r>
            <a:r>
              <a:rPr lang="zh-CN" altLang="zh-CN" dirty="0"/>
              <a:t>标签文件）</a:t>
            </a:r>
          </a:p>
          <a:p>
            <a:pPr lvl="2"/>
            <a:r>
              <a:rPr lang="en-US" altLang="zh-CN" dirty="0" err="1"/>
              <a:t>ImageSets</a:t>
            </a:r>
            <a:endParaRPr lang="zh-CN" altLang="zh-CN" dirty="0"/>
          </a:p>
          <a:p>
            <a:pPr lvl="3"/>
            <a:r>
              <a:rPr lang="en-US" altLang="zh-CN" dirty="0"/>
              <a:t>Main </a:t>
            </a:r>
            <a:r>
              <a:rPr lang="zh-CN" altLang="zh-CN" dirty="0"/>
              <a:t>（目前为空文件）</a:t>
            </a:r>
          </a:p>
          <a:p>
            <a:pPr lvl="2"/>
            <a:r>
              <a:rPr lang="en-US" altLang="zh-CN" dirty="0" err="1"/>
              <a:t>JPEGImages</a:t>
            </a:r>
            <a:r>
              <a:rPr lang="en-US" altLang="zh-CN" dirty="0"/>
              <a:t> </a:t>
            </a:r>
            <a:r>
              <a:rPr lang="zh-CN" altLang="zh-CN" dirty="0"/>
              <a:t>（所有的</a:t>
            </a:r>
            <a:r>
              <a:rPr lang="en-US" altLang="zh-CN" dirty="0"/>
              <a:t>.jpg</a:t>
            </a:r>
            <a:r>
              <a:rPr lang="zh-CN" altLang="zh-CN" dirty="0"/>
              <a:t>图像文件）</a:t>
            </a:r>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r="29423" b="63366"/>
          <a:stretch/>
        </p:blipFill>
        <p:spPr>
          <a:xfrm>
            <a:off x="5450885" y="3761286"/>
            <a:ext cx="6069603" cy="2375988"/>
          </a:xfrm>
          <a:prstGeom prst="rect">
            <a:avLst/>
          </a:prstGeom>
        </p:spPr>
      </p:pic>
    </p:spTree>
    <p:extLst>
      <p:ext uri="{BB962C8B-B14F-4D97-AF65-F5344CB8AC3E}">
        <p14:creationId xmlns:p14="http://schemas.microsoft.com/office/powerpoint/2010/main" val="2614082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完成数据集的存放之后，回到模型根目录下，打开</a:t>
            </a:r>
            <a:r>
              <a:rPr lang="en-US" altLang="zh-CN" dirty="0" err="1"/>
              <a:t>model_data</a:t>
            </a:r>
            <a:r>
              <a:rPr lang="zh-CN" altLang="zh-CN" dirty="0"/>
              <a:t>文件夹，该文件夹用于存放字体与检测类别文本文件：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015" y="2403941"/>
            <a:ext cx="8552381" cy="3733333"/>
          </a:xfrm>
          <a:prstGeom prst="rect">
            <a:avLst/>
          </a:prstGeom>
        </p:spPr>
      </p:pic>
    </p:spTree>
    <p:extLst>
      <p:ext uri="{BB962C8B-B14F-4D97-AF65-F5344CB8AC3E}">
        <p14:creationId xmlns:p14="http://schemas.microsoft.com/office/powerpoint/2010/main" val="1121983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已有的</a:t>
            </a:r>
            <a:r>
              <a:rPr lang="en-US" altLang="zh-CN" dirty="0"/>
              <a:t>voc_classes.txt</a:t>
            </a:r>
            <a:r>
              <a:rPr lang="zh-CN" altLang="zh-CN" dirty="0"/>
              <a:t>适用于</a:t>
            </a:r>
            <a:r>
              <a:rPr lang="en-US" altLang="zh-CN" dirty="0"/>
              <a:t>VOC</a:t>
            </a:r>
            <a:r>
              <a:rPr lang="zh-CN" altLang="zh-CN" dirty="0"/>
              <a:t>数据集的特定的</a:t>
            </a:r>
            <a:r>
              <a:rPr lang="en-US" altLang="zh-CN" dirty="0"/>
              <a:t>20</a:t>
            </a:r>
            <a:r>
              <a:rPr lang="zh-CN" altLang="zh-CN" dirty="0"/>
              <a:t>类检测目标，而</a:t>
            </a:r>
            <a:r>
              <a:rPr lang="en-US" altLang="zh-CN" dirty="0"/>
              <a:t>coco_classes.txt</a:t>
            </a:r>
            <a:r>
              <a:rPr lang="zh-CN" altLang="zh-CN" dirty="0"/>
              <a:t>适用于</a:t>
            </a:r>
            <a:r>
              <a:rPr lang="en-US" altLang="zh-CN" dirty="0"/>
              <a:t>COCO</a:t>
            </a:r>
            <a:r>
              <a:rPr lang="zh-CN" altLang="zh-CN" dirty="0"/>
              <a:t>数据集的</a:t>
            </a:r>
            <a:r>
              <a:rPr lang="en-US" altLang="zh-CN" dirty="0"/>
              <a:t>80</a:t>
            </a:r>
            <a:r>
              <a:rPr lang="zh-CN" altLang="zh-CN" dirty="0"/>
              <a:t>类目标。</a:t>
            </a:r>
            <a:r>
              <a:rPr lang="en-US" altLang="zh-CN" dirty="0"/>
              <a:t>yolo_anchors.txt</a:t>
            </a:r>
            <a:r>
              <a:rPr lang="zh-CN" altLang="zh-CN" dirty="0"/>
              <a:t>中存放着</a:t>
            </a:r>
            <a:r>
              <a:rPr lang="en-US" altLang="zh-CN" dirty="0"/>
              <a:t>yolov4-tiny</a:t>
            </a:r>
            <a:r>
              <a:rPr lang="zh-CN" altLang="zh-CN" dirty="0"/>
              <a:t>预设的六个先验框的值。</a:t>
            </a:r>
          </a:p>
          <a:p>
            <a:r>
              <a:rPr lang="zh-CN" altLang="zh-CN" dirty="0"/>
              <a:t>我们需要根据自己的需求修改文件或新建文件，在文件中每行输入对应的检测目标类别。最简便的方式是将之前使用</a:t>
            </a:r>
            <a:r>
              <a:rPr lang="en-US" altLang="zh-CN" dirty="0" err="1"/>
              <a:t>labelimg</a:t>
            </a:r>
            <a:r>
              <a:rPr lang="zh-CN" altLang="zh-CN" dirty="0"/>
              <a:t>标注文件的</a:t>
            </a:r>
            <a:r>
              <a:rPr lang="en-US" altLang="zh-CN" dirty="0"/>
              <a:t>predefined_classes.txt</a:t>
            </a:r>
            <a:r>
              <a:rPr lang="zh-CN" altLang="zh-CN" dirty="0"/>
              <a:t>复制到该目录中：</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8539" y="3288021"/>
            <a:ext cx="7733333" cy="2708029"/>
          </a:xfrm>
          <a:prstGeom prst="rect">
            <a:avLst/>
          </a:prstGeom>
        </p:spPr>
      </p:pic>
    </p:spTree>
    <p:extLst>
      <p:ext uri="{BB962C8B-B14F-4D97-AF65-F5344CB8AC3E}">
        <p14:creationId xmlns:p14="http://schemas.microsoft.com/office/powerpoint/2010/main" val="1761215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之后回到模型根目录，在</a:t>
            </a:r>
            <a:r>
              <a:rPr lang="en-US" altLang="zh-CN" dirty="0" err="1"/>
              <a:t>Pycharm</a:t>
            </a:r>
            <a:r>
              <a:rPr lang="zh-CN" altLang="zh-CN" dirty="0"/>
              <a:t>中打开</a:t>
            </a:r>
            <a:r>
              <a:rPr lang="en-US" altLang="zh-CN" dirty="0"/>
              <a:t>voc_annotation.py</a:t>
            </a:r>
            <a:r>
              <a:rPr lang="zh-CN" altLang="zh-CN" dirty="0"/>
              <a:t>文件，修改</a:t>
            </a:r>
            <a:r>
              <a:rPr lang="en-US" altLang="zh-CN" dirty="0" err="1" smtClean="0"/>
              <a:t>classes_path</a:t>
            </a:r>
            <a:r>
              <a:rPr lang="zh-CN" altLang="en-US" dirty="0"/>
              <a: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8699" y="1683945"/>
            <a:ext cx="6173013" cy="4453329"/>
          </a:xfrm>
          <a:prstGeom prst="rect">
            <a:avLst/>
          </a:prstGeom>
        </p:spPr>
      </p:pic>
    </p:spTree>
    <p:extLst>
      <p:ext uri="{BB962C8B-B14F-4D97-AF65-F5344CB8AC3E}">
        <p14:creationId xmlns:p14="http://schemas.microsoft.com/office/powerpoint/2010/main" val="2152729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如果想要改变训练集与验证集、训练集验证集与测试集的比例也可在</a:t>
            </a:r>
            <a:r>
              <a:rPr lang="en-US" altLang="zh-CN" dirty="0"/>
              <a:t>voc_annotation.py</a:t>
            </a:r>
            <a:r>
              <a:rPr lang="zh-CN" altLang="zh-CN" dirty="0"/>
              <a:t>中修改，默认值均为</a:t>
            </a:r>
            <a:r>
              <a:rPr lang="en-US" altLang="zh-CN" dirty="0"/>
              <a:t>9</a:t>
            </a:r>
            <a:r>
              <a:rPr lang="zh-CN" altLang="zh-CN" dirty="0"/>
              <a:t>：</a:t>
            </a:r>
            <a:r>
              <a:rPr lang="en-US" altLang="zh-CN" dirty="0"/>
              <a:t>1</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920" y="2605214"/>
            <a:ext cx="7828571" cy="2057143"/>
          </a:xfrm>
          <a:prstGeom prst="rect">
            <a:avLst/>
          </a:prstGeom>
        </p:spPr>
      </p:pic>
    </p:spTree>
    <p:extLst>
      <p:ext uri="{BB962C8B-B14F-4D97-AF65-F5344CB8AC3E}">
        <p14:creationId xmlns:p14="http://schemas.microsoft.com/office/powerpoint/2010/main" val="1152058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修改完毕后保存并退出</a:t>
            </a:r>
            <a:r>
              <a:rPr lang="zh-CN" altLang="zh-CN" dirty="0" smtClean="0"/>
              <a:t>。</a:t>
            </a:r>
            <a:endParaRPr lang="en-US" altLang="zh-CN" dirty="0" smtClean="0"/>
          </a:p>
          <a:p>
            <a:r>
              <a:rPr lang="zh-CN" altLang="zh-CN" dirty="0" smtClean="0">
                <a:solidFill>
                  <a:srgbClr val="FF0000"/>
                </a:solidFill>
              </a:rPr>
              <a:t>如果</a:t>
            </a:r>
            <a:r>
              <a:rPr lang="zh-CN" altLang="zh-CN" dirty="0">
                <a:solidFill>
                  <a:srgbClr val="FF0000"/>
                </a:solidFill>
              </a:rPr>
              <a:t>之前已经配置好</a:t>
            </a:r>
            <a:r>
              <a:rPr lang="en-US" altLang="zh-CN" dirty="0" err="1">
                <a:solidFill>
                  <a:srgbClr val="FF0000"/>
                </a:solidFill>
              </a:rPr>
              <a:t>Pytorch</a:t>
            </a:r>
            <a:r>
              <a:rPr lang="zh-CN" altLang="zh-CN" dirty="0">
                <a:solidFill>
                  <a:srgbClr val="FF0000"/>
                </a:solidFill>
              </a:rPr>
              <a:t>环境的，请删除主文件夹下</a:t>
            </a:r>
            <a:r>
              <a:rPr lang="en-US" altLang="zh-CN" dirty="0">
                <a:solidFill>
                  <a:srgbClr val="FF0000"/>
                </a:solidFill>
              </a:rPr>
              <a:t>requirements.txt</a:t>
            </a:r>
            <a:r>
              <a:rPr lang="zh-CN" altLang="zh-CN" dirty="0">
                <a:solidFill>
                  <a:srgbClr val="FF0000"/>
                </a:solidFill>
              </a:rPr>
              <a:t>中</a:t>
            </a:r>
            <a:r>
              <a:rPr lang="en-US" altLang="zh-CN" dirty="0">
                <a:solidFill>
                  <a:srgbClr val="FF0000"/>
                </a:solidFill>
              </a:rPr>
              <a:t>torch</a:t>
            </a:r>
            <a:r>
              <a:rPr lang="zh-CN" altLang="zh-CN" dirty="0">
                <a:solidFill>
                  <a:srgbClr val="FF0000"/>
                </a:solidFill>
              </a:rPr>
              <a:t>与</a:t>
            </a:r>
            <a:r>
              <a:rPr lang="en-US" altLang="zh-CN" dirty="0" err="1">
                <a:solidFill>
                  <a:srgbClr val="FF0000"/>
                </a:solidFill>
              </a:rPr>
              <a:t>torchvision</a:t>
            </a:r>
            <a:r>
              <a:rPr lang="zh-CN" altLang="zh-CN" dirty="0">
                <a:solidFill>
                  <a:srgbClr val="FF0000"/>
                </a:solidFill>
              </a:rPr>
              <a:t>两</a:t>
            </a:r>
            <a:r>
              <a:rPr lang="zh-CN" altLang="zh-CN" dirty="0" smtClean="0">
                <a:solidFill>
                  <a:srgbClr val="FF0000"/>
                </a:solidFill>
              </a:rPr>
              <a:t>行</a:t>
            </a:r>
            <a:r>
              <a:rPr lang="zh-CN" altLang="en-US" dirty="0" smtClean="0">
                <a:solidFill>
                  <a:srgbClr val="FF0000"/>
                </a:solidFill>
              </a:rPr>
              <a:t>。</a:t>
            </a:r>
            <a:endParaRPr lang="zh-CN" altLang="zh-CN" dirty="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325" y="2940515"/>
            <a:ext cx="8267761" cy="3196759"/>
          </a:xfrm>
          <a:prstGeom prst="rect">
            <a:avLst/>
          </a:prstGeom>
        </p:spPr>
      </p:pic>
    </p:spTree>
    <p:extLst>
      <p:ext uri="{BB962C8B-B14F-4D97-AF65-F5344CB8AC3E}">
        <p14:creationId xmlns:p14="http://schemas.microsoft.com/office/powerpoint/2010/main" val="4194711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a:t>“</a:t>
            </a:r>
            <a:r>
              <a:rPr lang="en-US" altLang="zh-CN" dirty="0" err="1"/>
              <a:t>cmd</a:t>
            </a:r>
            <a:r>
              <a:rPr lang="en-US" altLang="zh-CN" dirty="0"/>
              <a:t>”</a:t>
            </a:r>
            <a:r>
              <a:rPr lang="zh-CN" altLang="zh-CN" dirty="0"/>
              <a:t>后回车打开命令提示符。在命令提示符中，输入指令：（这里以</a:t>
            </a:r>
            <a:r>
              <a:rPr lang="en-US" altLang="zh-CN" dirty="0"/>
              <a:t>GPU</a:t>
            </a:r>
            <a:r>
              <a:rPr lang="zh-CN" altLang="zh-CN" dirty="0"/>
              <a:t>版本为例）</a:t>
            </a:r>
          </a:p>
          <a:p>
            <a:pPr lvl="1"/>
            <a:r>
              <a:rPr lang="en-US" altLang="zh-CN" dirty="0" err="1"/>
              <a:t>conda</a:t>
            </a:r>
            <a:r>
              <a:rPr lang="en-US" altLang="zh-CN" dirty="0"/>
              <a:t> activate </a:t>
            </a:r>
            <a:r>
              <a:rPr lang="en-US" altLang="zh-CN" b="1" dirty="0" err="1" smtClean="0"/>
              <a:t>cputorch</a:t>
            </a:r>
            <a:r>
              <a:rPr lang="en-US" altLang="zh-CN" b="1" dirty="0" smtClean="0"/>
              <a:t>/</a:t>
            </a:r>
            <a:r>
              <a:rPr lang="en-US" altLang="zh-CN" b="1" dirty="0" err="1" smtClean="0"/>
              <a:t>gputorch</a:t>
            </a:r>
            <a:r>
              <a:rPr lang="en-US" altLang="zh-CN" b="1" dirty="0" smtClean="0"/>
              <a:t>                                                                           </a:t>
            </a:r>
            <a:r>
              <a:rPr lang="zh-CN" altLang="zh-CN" dirty="0" smtClean="0"/>
              <a:t>（</a:t>
            </a:r>
            <a:r>
              <a:rPr lang="zh-CN" altLang="zh-CN" dirty="0"/>
              <a:t>根据实际情况选择）</a:t>
            </a:r>
          </a:p>
          <a:p>
            <a:pPr lvl="1"/>
            <a:r>
              <a:rPr lang="en-US" altLang="zh-CN" dirty="0"/>
              <a:t>cd /d </a:t>
            </a:r>
            <a:r>
              <a:rPr lang="en-US" altLang="zh-CN" b="1" dirty="0" smtClean="0"/>
              <a:t>G:yolov4-tiny-pytorch-master                                        </a:t>
            </a:r>
            <a:r>
              <a:rPr lang="zh-CN" altLang="zh-CN" dirty="0" smtClean="0"/>
              <a:t>（</a:t>
            </a:r>
            <a:r>
              <a:rPr lang="zh-CN" altLang="zh-CN" dirty="0"/>
              <a:t>根据你自己的项目文件夹实际路径修改）</a:t>
            </a:r>
          </a:p>
          <a:p>
            <a:pPr lvl="1"/>
            <a:r>
              <a:rPr lang="en-US" altLang="zh-CN" dirty="0"/>
              <a:t>pip install –user –r </a:t>
            </a:r>
            <a:r>
              <a:rPr lang="en-US" altLang="zh-CN" dirty="0" smtClean="0"/>
              <a:t>requirements.txt                                                                                      </a:t>
            </a:r>
            <a:r>
              <a:rPr lang="zh-CN" altLang="zh-CN" dirty="0" smtClean="0"/>
              <a:t>（</a:t>
            </a:r>
            <a:r>
              <a:rPr lang="zh-CN" altLang="zh-CN" dirty="0"/>
              <a:t>批量安装库）</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8155"/>
          <a:stretch/>
        </p:blipFill>
        <p:spPr>
          <a:xfrm>
            <a:off x="1438063" y="4104791"/>
            <a:ext cx="9314286" cy="2032483"/>
          </a:xfrm>
          <a:prstGeom prst="rect">
            <a:avLst/>
          </a:prstGeom>
        </p:spPr>
      </p:pic>
    </p:spTree>
    <p:extLst>
      <p:ext uri="{BB962C8B-B14F-4D97-AF65-F5344CB8AC3E}">
        <p14:creationId xmlns:p14="http://schemas.microsoft.com/office/powerpoint/2010/main" val="648249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该指令会在虚拟环境下安装所有所需的库。安装的库比较多，请耐心等待。如果出现黄色的</a:t>
            </a:r>
            <a:r>
              <a:rPr lang="en-US" altLang="zh-CN" dirty="0"/>
              <a:t>WARNING</a:t>
            </a:r>
            <a:r>
              <a:rPr lang="zh-CN" altLang="zh-CN" dirty="0"/>
              <a:t>属于正常现象，出现红色</a:t>
            </a:r>
            <a:r>
              <a:rPr lang="en-US" altLang="zh-CN" dirty="0"/>
              <a:t>ERROR</a:t>
            </a:r>
            <a:r>
              <a:rPr lang="zh-CN" altLang="zh-CN" dirty="0"/>
              <a:t>表示安装失败，具体参考</a:t>
            </a:r>
            <a:r>
              <a:rPr lang="en-US" altLang="zh-CN" u="sng" dirty="0"/>
              <a:t>“4 </a:t>
            </a:r>
            <a:r>
              <a:rPr lang="en-US" altLang="zh-CN" u="sng" dirty="0" err="1"/>
              <a:t>注意事项”第一条</a:t>
            </a:r>
            <a:r>
              <a:rPr lang="zh-CN" altLang="zh-CN" dirty="0" smtClean="0"/>
              <a:t>。</a:t>
            </a:r>
            <a:endParaRPr lang="en-US" altLang="zh-CN" dirty="0" smtClean="0"/>
          </a:p>
          <a:p>
            <a:r>
              <a:rPr lang="zh-CN" altLang="zh-CN" dirty="0"/>
              <a:t>本实验中所有命令提示符指令均在同一个虚拟环境中输入（本实验以</a:t>
            </a:r>
            <a:r>
              <a:rPr lang="en-US" altLang="zh-CN" dirty="0" err="1"/>
              <a:t>gputorch</a:t>
            </a:r>
            <a:r>
              <a:rPr lang="zh-CN" altLang="zh-CN" dirty="0"/>
              <a:t>为示例，</a:t>
            </a:r>
            <a:r>
              <a:rPr lang="en-US" altLang="zh-CN" dirty="0" err="1"/>
              <a:t>cputorch</a:t>
            </a:r>
            <a:r>
              <a:rPr lang="zh-CN" altLang="zh-CN" dirty="0"/>
              <a:t>同理），后续不再切换环境。打开新的命令提示符时务必先执行指令：</a:t>
            </a:r>
          </a:p>
          <a:p>
            <a:pPr lvl="1"/>
            <a:r>
              <a:rPr lang="en-US" altLang="zh-CN" dirty="0" err="1"/>
              <a:t>conda</a:t>
            </a:r>
            <a:r>
              <a:rPr lang="en-US" altLang="zh-CN" dirty="0"/>
              <a:t> activate </a:t>
            </a:r>
            <a:r>
              <a:rPr lang="en-US" altLang="zh-CN" dirty="0" err="1"/>
              <a:t>cputorch</a:t>
            </a:r>
            <a:r>
              <a:rPr lang="en-US" altLang="zh-CN" dirty="0"/>
              <a:t>/</a:t>
            </a:r>
            <a:r>
              <a:rPr lang="en-US" altLang="zh-CN" dirty="0" err="1"/>
              <a:t>gputorch</a:t>
            </a:r>
            <a:endParaRPr lang="zh-CN" altLang="zh-CN" dirty="0"/>
          </a:p>
          <a:p>
            <a:r>
              <a:rPr lang="zh-CN" altLang="zh-CN" dirty="0"/>
              <a:t>并请留意路径前括号内环境是否正确，</a:t>
            </a:r>
            <a:r>
              <a:rPr lang="zh-CN" altLang="zh-CN" dirty="0" smtClean="0"/>
              <a:t>如</a:t>
            </a:r>
            <a:r>
              <a:rPr lang="zh-CN" altLang="en-US" dirty="0"/>
              <a:t>下</a:t>
            </a:r>
            <a:r>
              <a:rPr lang="zh-CN" altLang="en-US" dirty="0" smtClean="0"/>
              <a:t>图中</a:t>
            </a:r>
            <a:r>
              <a:rPr lang="zh-CN" altLang="zh-CN" dirty="0" smtClean="0"/>
              <a:t>，</a:t>
            </a:r>
            <a:r>
              <a:rPr lang="zh-CN" altLang="zh-CN" dirty="0"/>
              <a:t>在路径前会显示</a:t>
            </a:r>
            <a:r>
              <a:rPr lang="en-US" altLang="zh-CN" dirty="0"/>
              <a:t>“(</a:t>
            </a:r>
            <a:r>
              <a:rPr lang="en-US" altLang="zh-CN" dirty="0" err="1"/>
              <a:t>gputorch</a:t>
            </a:r>
            <a:r>
              <a:rPr lang="en-US" altLang="zh-CN" dirty="0"/>
              <a:t>)”</a:t>
            </a:r>
            <a:r>
              <a:rPr lang="zh-CN" altLang="zh-CN" dirty="0"/>
              <a:t>，表示在该环境下操作。</a:t>
            </a:r>
          </a:p>
          <a:p>
            <a:endParaRPr lang="zh-CN" altLang="zh-CN" dirty="0"/>
          </a:p>
          <a:p>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8155"/>
          <a:stretch/>
        </p:blipFill>
        <p:spPr>
          <a:xfrm>
            <a:off x="1438063" y="4104791"/>
            <a:ext cx="9314286" cy="2032483"/>
          </a:xfrm>
          <a:prstGeom prst="rect">
            <a:avLst/>
          </a:prstGeom>
        </p:spPr>
      </p:pic>
    </p:spTree>
    <p:extLst>
      <p:ext uri="{BB962C8B-B14F-4D97-AF65-F5344CB8AC3E}">
        <p14:creationId xmlns:p14="http://schemas.microsoft.com/office/powerpoint/2010/main" val="1321807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版本下，检验</a:t>
            </a:r>
            <a:r>
              <a:rPr lang="en-US" altLang="zh-CN" dirty="0" err="1"/>
              <a:t>pytorch</a:t>
            </a:r>
            <a:r>
              <a:rPr lang="zh-CN" altLang="zh-CN" dirty="0"/>
              <a:t>是否可用步骤依旧是进入</a:t>
            </a:r>
            <a:r>
              <a:rPr lang="en-US" altLang="zh-CN" dirty="0"/>
              <a:t>python</a:t>
            </a:r>
            <a:r>
              <a:rPr lang="zh-CN" altLang="zh-CN" dirty="0"/>
              <a:t>编辑环境，在该环境下输入：</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torch.cuda.is_available</a:t>
            </a:r>
            <a:r>
              <a:rPr lang="en-US" altLang="zh-CN" dirty="0" smtClean="0"/>
              <a:t>()</a:t>
            </a:r>
          </a:p>
          <a:p>
            <a:r>
              <a:rPr lang="zh-CN" altLang="zh-CN" dirty="0"/>
              <a:t>若返回</a:t>
            </a:r>
            <a:r>
              <a:rPr lang="en-US" altLang="zh-CN" dirty="0"/>
              <a:t>True</a:t>
            </a:r>
            <a:r>
              <a:rPr lang="zh-CN" altLang="zh-CN" dirty="0"/>
              <a:t>则可用。输入</a:t>
            </a:r>
            <a:r>
              <a:rPr lang="en-US" altLang="zh-CN" dirty="0"/>
              <a:t>“exit()”</a:t>
            </a:r>
            <a:r>
              <a:rPr lang="zh-CN" altLang="zh-CN" dirty="0"/>
              <a:t>退出</a:t>
            </a:r>
            <a:r>
              <a:rPr lang="en-US" altLang="zh-CN" dirty="0"/>
              <a:t>python</a:t>
            </a:r>
            <a:r>
              <a:rPr lang="zh-CN" altLang="zh-CN" dirty="0"/>
              <a:t>编辑环境</a:t>
            </a:r>
            <a:r>
              <a:rPr lang="zh-CN" altLang="zh-CN" dirty="0" smtClean="0"/>
              <a:t>。</a:t>
            </a:r>
            <a:endParaRPr lang="en-US" altLang="zh-CN" dirty="0" smtClean="0"/>
          </a:p>
          <a:p>
            <a:endParaRPr lang="en-US" altLang="zh-CN" dirty="0" smtClean="0"/>
          </a:p>
          <a:p>
            <a:endParaRPr lang="en-US" altLang="zh-CN" dirty="0"/>
          </a:p>
          <a:p>
            <a:r>
              <a:rPr lang="en-US" altLang="zh-CN" dirty="0"/>
              <a:t>CPU</a:t>
            </a:r>
            <a:r>
              <a:rPr lang="zh-CN" altLang="zh-CN" dirty="0"/>
              <a:t>版本下，同样是进入</a:t>
            </a:r>
            <a:r>
              <a:rPr lang="en-US" altLang="zh-CN" dirty="0"/>
              <a:t>python</a:t>
            </a:r>
            <a:r>
              <a:rPr lang="zh-CN" altLang="zh-CN" dirty="0"/>
              <a:t>编辑环境，在该环境下输入：</a:t>
            </a:r>
          </a:p>
          <a:p>
            <a:pPr lvl="1"/>
            <a:r>
              <a:rPr lang="en-US" altLang="zh-CN" dirty="0"/>
              <a:t>python</a:t>
            </a:r>
            <a:endParaRPr lang="zh-CN" altLang="zh-CN" dirty="0"/>
          </a:p>
          <a:p>
            <a:pPr lvl="2"/>
            <a:r>
              <a:rPr lang="en-US" altLang="zh-CN" dirty="0"/>
              <a:t>&gt;&gt;&gt;import </a:t>
            </a:r>
            <a:r>
              <a:rPr lang="en-US" altLang="zh-CN" dirty="0" smtClean="0"/>
              <a:t>torch</a:t>
            </a:r>
          </a:p>
          <a:p>
            <a:r>
              <a:rPr lang="zh-CN" altLang="zh-CN" dirty="0"/>
              <a:t>如果没有任何反应则可用。输入</a:t>
            </a:r>
            <a:r>
              <a:rPr lang="en-US" altLang="zh-CN" dirty="0"/>
              <a:t>“exit()”</a:t>
            </a:r>
            <a:r>
              <a:rPr lang="zh-CN" altLang="zh-CN" dirty="0"/>
              <a:t>退出</a:t>
            </a:r>
            <a:r>
              <a:rPr lang="en-US" altLang="zh-CN" dirty="0"/>
              <a:t>python</a:t>
            </a:r>
            <a:r>
              <a:rPr lang="zh-CN" altLang="zh-CN" dirty="0"/>
              <a:t>编辑环境。</a:t>
            </a:r>
          </a:p>
          <a:p>
            <a:endParaRPr lang="zh-CN" altLang="zh-CN" dirty="0"/>
          </a:p>
          <a:p>
            <a:endParaRPr lang="zh-CN" altLang="en-US" dirty="0"/>
          </a:p>
        </p:txBody>
      </p:sp>
    </p:spTree>
    <p:extLst>
      <p:ext uri="{BB962C8B-B14F-4D97-AF65-F5344CB8AC3E}">
        <p14:creationId xmlns:p14="http://schemas.microsoft.com/office/powerpoint/2010/main" val="26134050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a:xfrm>
            <a:off x="669926" y="1130299"/>
            <a:ext cx="10850562" cy="5006975"/>
          </a:xfrm>
        </p:spPr>
        <p:txBody>
          <a:bodyPr/>
          <a:lstStyle/>
          <a:p>
            <a:r>
              <a:rPr lang="zh-CN" altLang="zh-CN" dirty="0"/>
              <a:t>在项目主文件夹目录下，在虚拟环境下输入指令：</a:t>
            </a:r>
          </a:p>
          <a:p>
            <a:pPr lvl="1"/>
            <a:r>
              <a:rPr lang="en-US" altLang="zh-CN" dirty="0" smtClean="0"/>
              <a:t>python voc_annotation.py</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r>
              <a:rPr lang="zh-CN" altLang="zh-CN" dirty="0"/>
              <a:t>运行完毕后，会自动根据之前设置的比例划分整个数据集，在</a:t>
            </a:r>
            <a:r>
              <a:rPr lang="en-US" altLang="zh-CN" dirty="0" err="1"/>
              <a:t>ImageSets</a:t>
            </a:r>
            <a:r>
              <a:rPr lang="en-US" altLang="zh-CN" dirty="0"/>
              <a:t>/Main</a:t>
            </a:r>
            <a:r>
              <a:rPr lang="zh-CN" altLang="zh-CN" dirty="0"/>
              <a:t>中生成</a:t>
            </a:r>
            <a:r>
              <a:rPr lang="en-US" altLang="zh-CN" dirty="0"/>
              <a:t>4</a:t>
            </a:r>
            <a:r>
              <a:rPr lang="zh-CN" altLang="zh-CN" dirty="0"/>
              <a:t>个</a:t>
            </a:r>
            <a:r>
              <a:rPr lang="en-US" altLang="zh-CN" dirty="0"/>
              <a:t>.txt</a:t>
            </a:r>
            <a:r>
              <a:rPr lang="zh-CN" altLang="zh-CN" dirty="0"/>
              <a:t>文件，在模型根目录下生成</a:t>
            </a:r>
            <a:r>
              <a:rPr lang="en-US" altLang="zh-CN" dirty="0"/>
              <a:t>2007_train.txt</a:t>
            </a:r>
            <a:r>
              <a:rPr lang="zh-CN" altLang="zh-CN" dirty="0"/>
              <a:t>和</a:t>
            </a:r>
            <a:r>
              <a:rPr lang="en-US" altLang="zh-CN" dirty="0"/>
              <a:t>2007_val.txt</a:t>
            </a:r>
            <a:r>
              <a:rPr lang="zh-CN" altLang="zh-CN" dirty="0"/>
              <a:t>文件，并显示整个数据集中各个种类目标的数量</a:t>
            </a:r>
            <a:r>
              <a:rPr lang="zh-CN" altLang="zh-CN" dirty="0" smtClean="0"/>
              <a:t>。</a:t>
            </a:r>
            <a:r>
              <a:rPr lang="zh-CN" altLang="zh-CN" dirty="0"/>
              <a:t>本实验所有图像中共有已</a:t>
            </a:r>
            <a:r>
              <a:rPr lang="zh-CN" altLang="zh-CN" dirty="0" smtClean="0"/>
              <a:t>标记</a:t>
            </a:r>
            <a:r>
              <a:rPr lang="zh-CN" altLang="en-US" dirty="0" smtClean="0"/>
              <a:t>戴口罩目标</a:t>
            </a:r>
            <a:r>
              <a:rPr lang="en-US" altLang="zh-CN" dirty="0" smtClean="0"/>
              <a:t>1917</a:t>
            </a:r>
            <a:r>
              <a:rPr lang="zh-CN" altLang="en-US" dirty="0" smtClean="0"/>
              <a:t>个、不戴口罩目标</a:t>
            </a:r>
            <a:r>
              <a:rPr lang="en-US" altLang="zh-CN" dirty="0" smtClean="0"/>
              <a:t>2406</a:t>
            </a:r>
            <a:r>
              <a:rPr lang="zh-CN" altLang="en-US" dirty="0" smtClean="0"/>
              <a:t>个</a:t>
            </a:r>
            <a:r>
              <a:rPr lang="zh-CN" altLang="zh-CN" dirty="0" smtClean="0"/>
              <a:t>。</a:t>
            </a:r>
            <a:endParaRPr lang="zh-CN" altLang="zh-CN" dirty="0"/>
          </a:p>
          <a:p>
            <a:endParaRPr lang="en-US" altLang="zh-CN" dirty="0" smtClean="0"/>
          </a:p>
          <a:p>
            <a:endParaRPr lang="zh-CN" altLang="zh-CN" dirty="0"/>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063" y="2248883"/>
            <a:ext cx="9314286" cy="2243032"/>
          </a:xfrm>
          <a:prstGeom prst="rect">
            <a:avLst/>
          </a:prstGeom>
        </p:spPr>
      </p:pic>
    </p:spTree>
    <p:extLst>
      <p:ext uri="{BB962C8B-B14F-4D97-AF65-F5344CB8AC3E}">
        <p14:creationId xmlns:p14="http://schemas.microsoft.com/office/powerpoint/2010/main" val="2744472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为了方便，我们也可以直接在</a:t>
            </a:r>
            <a:r>
              <a:rPr lang="en-US" altLang="zh-CN" dirty="0" err="1"/>
              <a:t>Pycharm</a:t>
            </a:r>
            <a:r>
              <a:rPr lang="zh-CN" altLang="zh-CN" dirty="0"/>
              <a:t>中运行</a:t>
            </a:r>
            <a:r>
              <a:rPr lang="en-US" altLang="zh-CN" dirty="0"/>
              <a:t>voc_annotation.py</a:t>
            </a:r>
            <a:r>
              <a:rPr lang="zh-CN" altLang="zh-CN" dirty="0"/>
              <a:t>，最终的结果与命令提示符运行的结果</a:t>
            </a:r>
            <a:r>
              <a:rPr lang="zh-CN" altLang="zh-CN" dirty="0" smtClean="0"/>
              <a:t>相同。</a:t>
            </a:r>
            <a:r>
              <a:rPr lang="zh-CN" altLang="zh-CN" dirty="0"/>
              <a:t>这里需要注意，</a:t>
            </a:r>
            <a:r>
              <a:rPr lang="en-US" altLang="zh-CN" dirty="0" err="1"/>
              <a:t>Pycharm</a:t>
            </a:r>
            <a:r>
              <a:rPr lang="zh-CN" altLang="zh-CN" dirty="0"/>
              <a:t>中需要选择</a:t>
            </a:r>
            <a:r>
              <a:rPr lang="en-US" altLang="zh-CN" dirty="0" err="1"/>
              <a:t>Conda</a:t>
            </a:r>
            <a:r>
              <a:rPr lang="zh-CN" altLang="zh-CN" dirty="0"/>
              <a:t>虚拟环境，具体步骤参考之前的</a:t>
            </a:r>
            <a:r>
              <a:rPr lang="en-US" altLang="zh-CN" dirty="0"/>
              <a:t>“</a:t>
            </a:r>
            <a:r>
              <a:rPr lang="zh-CN" altLang="zh-CN" dirty="0"/>
              <a:t>实验：开发环境配置</a:t>
            </a:r>
            <a:r>
              <a:rPr lang="en-US" altLang="zh-CN" dirty="0"/>
              <a:t>”</a:t>
            </a:r>
            <a:r>
              <a:rPr lang="zh-CN" altLang="zh-CN" dirty="0"/>
              <a:t>。后续运行程序都使用</a:t>
            </a:r>
            <a:r>
              <a:rPr lang="en-US" altLang="zh-CN" dirty="0" err="1"/>
              <a:t>Pycharm</a:t>
            </a:r>
            <a:r>
              <a:rPr lang="zh-CN" altLang="zh-CN" dirty="0"/>
              <a:t>运行。</a:t>
            </a: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018" y="2612260"/>
            <a:ext cx="4940375" cy="2043051"/>
          </a:xfrm>
          <a:prstGeom prst="rect">
            <a:avLst/>
          </a:prstGeom>
        </p:spPr>
      </p:pic>
    </p:spTree>
    <p:extLst>
      <p:ext uri="{BB962C8B-B14F-4D97-AF65-F5344CB8AC3E}">
        <p14:creationId xmlns:p14="http://schemas.microsoft.com/office/powerpoint/2010/main" val="3980918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989843293"/>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1988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一般情况下不会采用从</a:t>
            </a:r>
            <a:r>
              <a:rPr lang="en-US" altLang="zh-CN" dirty="0"/>
              <a:t>0</a:t>
            </a:r>
            <a:r>
              <a:rPr lang="zh-CN" altLang="zh-CN" dirty="0"/>
              <a:t>开始的训练方式，而是使用预训练模型加快训练速度。</a:t>
            </a:r>
          </a:p>
          <a:p>
            <a:r>
              <a:rPr lang="zh-CN" altLang="en-US" dirty="0" smtClean="0"/>
              <a:t>这种采用预训练的方法思想称为迁移学习（</a:t>
            </a:r>
            <a:r>
              <a:rPr lang="en-US" altLang="zh-CN" dirty="0" smtClean="0"/>
              <a:t>Transfer Learning</a:t>
            </a:r>
            <a:r>
              <a:rPr lang="zh-CN" altLang="en-US" dirty="0" smtClean="0"/>
              <a:t>）：</a:t>
            </a:r>
            <a:endParaRPr lang="en-US" altLang="zh-CN" dirty="0" smtClean="0"/>
          </a:p>
          <a:p>
            <a:pPr lvl="1"/>
            <a:r>
              <a:rPr lang="zh-CN" altLang="en-US" dirty="0"/>
              <a:t>从相关领域中迁移标注数据或者知识结构、完成或改进目标领域或任务的学习效果</a:t>
            </a:r>
            <a:endParaRPr lang="en-US" altLang="zh-CN" dirty="0" smtClean="0"/>
          </a:p>
          <a:p>
            <a:pPr lvl="1"/>
            <a:r>
              <a:rPr lang="zh-CN" altLang="en-US" dirty="0" smtClean="0"/>
              <a:t>从一个环境中学到的知识用来帮助新环境的学习任务</a:t>
            </a:r>
            <a:endParaRPr lang="en-US" altLang="zh-CN" dirty="0" smtClean="0"/>
          </a:p>
          <a:p>
            <a:pPr lvl="1"/>
            <a:r>
              <a:rPr lang="zh-CN" altLang="en-US" dirty="0" smtClean="0"/>
              <a:t>允许利用少量的标注数据完成模型训练</a:t>
            </a:r>
            <a:endParaRPr lang="en-US" altLang="zh-CN" dirty="0" smtClean="0"/>
          </a:p>
          <a:p>
            <a:pPr lvl="1"/>
            <a:endParaRPr lang="en-US" altLang="zh-CN" dirty="0" smtClean="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766" y="2547863"/>
            <a:ext cx="5141722" cy="3589412"/>
          </a:xfrm>
          <a:prstGeom prst="rect">
            <a:avLst/>
          </a:prstGeom>
        </p:spPr>
      </p:pic>
    </p:spTree>
    <p:extLst>
      <p:ext uri="{BB962C8B-B14F-4D97-AF65-F5344CB8AC3E}">
        <p14:creationId xmlns:p14="http://schemas.microsoft.com/office/powerpoint/2010/main" val="3069472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深度</a:t>
            </a:r>
            <a:r>
              <a:rPr lang="zh-CN" altLang="en-US" dirty="0"/>
              <a:t>卷积网络可</a:t>
            </a:r>
            <a:r>
              <a:rPr lang="zh-CN" altLang="en-US" dirty="0" smtClean="0"/>
              <a:t>迁移性：</a:t>
            </a:r>
            <a:endParaRPr lang="en-US" altLang="zh-CN" dirty="0" smtClean="0"/>
          </a:p>
          <a:p>
            <a:pPr lvl="1"/>
            <a:r>
              <a:rPr lang="zh-CN" altLang="en-US" dirty="0" smtClean="0"/>
              <a:t>良好的层次结构</a:t>
            </a:r>
            <a:endParaRPr lang="en-US" altLang="zh-CN" dirty="0" smtClean="0"/>
          </a:p>
          <a:p>
            <a:pPr lvl="1"/>
            <a:r>
              <a:rPr lang="zh-CN" altLang="en-US" dirty="0" smtClean="0"/>
              <a:t>浅层特征（通用特征）</a:t>
            </a:r>
            <a:endParaRPr lang="en-US" altLang="zh-CN" dirty="0" smtClean="0"/>
          </a:p>
          <a:p>
            <a:pPr lvl="1"/>
            <a:r>
              <a:rPr lang="zh-CN" altLang="en-US" dirty="0" smtClean="0"/>
              <a:t>深层特征（特定特征）</a:t>
            </a:r>
            <a:endParaRPr lang="en-US" altLang="zh-CN" dirty="0" smtClean="0"/>
          </a:p>
          <a:p>
            <a:pPr lvl="1"/>
            <a:endParaRPr lang="zh-CN" altLang="en-US"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65122" y="1718631"/>
            <a:ext cx="7855366" cy="4418643"/>
          </a:xfrm>
          <a:prstGeom prst="rect">
            <a:avLst/>
          </a:prstGeom>
        </p:spPr>
      </p:pic>
    </p:spTree>
    <p:extLst>
      <p:ext uri="{BB962C8B-B14F-4D97-AF65-F5344CB8AC3E}">
        <p14:creationId xmlns:p14="http://schemas.microsoft.com/office/powerpoint/2010/main" val="170802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目标检测网络：</a:t>
            </a:r>
            <a:endParaRPr lang="en-US" altLang="zh-CN" dirty="0" smtClean="0"/>
          </a:p>
          <a:p>
            <a:pPr lvl="1"/>
            <a:r>
              <a:rPr lang="en-US" altLang="zh-CN" dirty="0"/>
              <a:t>b</a:t>
            </a:r>
            <a:r>
              <a:rPr lang="en-US" altLang="zh-CN" dirty="0" smtClean="0"/>
              <a:t>ackbone</a:t>
            </a:r>
            <a:r>
              <a:rPr lang="zh-CN" altLang="en-US" dirty="0" smtClean="0"/>
              <a:t>（主干网络）</a:t>
            </a:r>
            <a:endParaRPr lang="en-US" altLang="zh-CN" dirty="0" smtClean="0"/>
          </a:p>
          <a:p>
            <a:pPr lvl="2"/>
            <a:r>
              <a:rPr lang="zh-CN" altLang="en-US" dirty="0" smtClean="0"/>
              <a:t>提取特征</a:t>
            </a:r>
            <a:endParaRPr lang="en-US" altLang="zh-CN" dirty="0" smtClean="0"/>
          </a:p>
          <a:p>
            <a:pPr lvl="1"/>
            <a:r>
              <a:rPr lang="en-US" altLang="zh-CN" dirty="0" smtClean="0"/>
              <a:t>neck</a:t>
            </a:r>
          </a:p>
          <a:p>
            <a:pPr lvl="2"/>
            <a:r>
              <a:rPr lang="zh-CN" altLang="en-US" dirty="0" smtClean="0"/>
              <a:t>更好地利用特征</a:t>
            </a:r>
            <a:endParaRPr lang="en-US" altLang="zh-CN" dirty="0" smtClean="0"/>
          </a:p>
          <a:p>
            <a:pPr lvl="1"/>
            <a:r>
              <a:rPr lang="en-US" altLang="zh-CN" dirty="0" smtClean="0"/>
              <a:t>head</a:t>
            </a:r>
          </a:p>
          <a:p>
            <a:pPr lvl="2"/>
            <a:r>
              <a:rPr lang="zh-CN" altLang="en-US" dirty="0" smtClean="0"/>
              <a:t>分类与定位</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4043" y="3346806"/>
            <a:ext cx="8226445" cy="2790468"/>
          </a:xfrm>
          <a:prstGeom prst="rect">
            <a:avLst/>
          </a:prstGeom>
        </p:spPr>
      </p:pic>
    </p:spTree>
    <p:extLst>
      <p:ext uri="{BB962C8B-B14F-4D97-AF65-F5344CB8AC3E}">
        <p14:creationId xmlns:p14="http://schemas.microsoft.com/office/powerpoint/2010/main" val="3164058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迁移学习：</a:t>
            </a:r>
            <a:endParaRPr lang="en-US" altLang="zh-CN" dirty="0" smtClean="0"/>
          </a:p>
          <a:p>
            <a:pPr lvl="1"/>
            <a:r>
              <a:rPr lang="zh-CN" altLang="en-US" dirty="0" smtClean="0"/>
              <a:t>微调（</a:t>
            </a:r>
            <a:r>
              <a:rPr lang="en-US" altLang="zh-CN" dirty="0" smtClean="0"/>
              <a:t>fine-tune</a:t>
            </a:r>
            <a:r>
              <a:rPr lang="zh-CN" altLang="en-US" dirty="0" smtClean="0"/>
              <a:t>）</a:t>
            </a:r>
            <a:r>
              <a:rPr lang="en-US" altLang="zh-CN" dirty="0" smtClean="0"/>
              <a:t>:</a:t>
            </a:r>
          </a:p>
          <a:p>
            <a:pPr lvl="2"/>
            <a:r>
              <a:rPr lang="zh-CN" altLang="en-US" dirty="0" smtClean="0"/>
              <a:t>预训练网络权重对自己网络权重进行初始化</a:t>
            </a:r>
            <a:endParaRPr lang="en-US" altLang="zh-CN" dirty="0" smtClean="0"/>
          </a:p>
          <a:p>
            <a:pPr lvl="2"/>
            <a:r>
              <a:rPr lang="zh-CN" altLang="en-US" dirty="0" smtClean="0"/>
              <a:t>通过反向传播微调整个网络其余部分的权重</a:t>
            </a:r>
            <a:endParaRPr lang="en-US" altLang="zh-CN" dirty="0" smtClean="0"/>
          </a:p>
          <a:p>
            <a:pPr lvl="1"/>
            <a:r>
              <a:rPr lang="zh-CN" altLang="en-US" dirty="0" smtClean="0"/>
              <a:t>固定特征提取器（</a:t>
            </a:r>
            <a:r>
              <a:rPr lang="en-US" altLang="zh-CN" dirty="0" smtClean="0"/>
              <a:t>fixed feature extractor</a:t>
            </a:r>
            <a:r>
              <a:rPr lang="zh-CN" altLang="en-US" dirty="0" smtClean="0"/>
              <a:t>）</a:t>
            </a:r>
            <a:r>
              <a:rPr lang="en-US" altLang="zh-CN" dirty="0" smtClean="0"/>
              <a:t>:</a:t>
            </a:r>
          </a:p>
          <a:p>
            <a:pPr lvl="2"/>
            <a:r>
              <a:rPr lang="zh-CN" altLang="en-US" dirty="0" smtClean="0"/>
              <a:t>预训练网络作为特征提取器</a:t>
            </a:r>
            <a:endParaRPr lang="en-US" altLang="zh-CN" dirty="0" smtClean="0"/>
          </a:p>
          <a:p>
            <a:pPr lvl="2"/>
            <a:r>
              <a:rPr lang="zh-CN" altLang="en-US" dirty="0" smtClean="0"/>
              <a:t>冻结主干网络（特征提取部分）</a:t>
            </a:r>
            <a:endParaRPr lang="en-US" altLang="zh-CN" dirty="0" smtClean="0"/>
          </a:p>
          <a:p>
            <a:pPr lvl="2"/>
            <a:r>
              <a:rPr lang="zh-CN" altLang="en-US" dirty="0" smtClean="0"/>
              <a:t>仅训练最后的全连接层（分类部分）</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3751" y="1857221"/>
            <a:ext cx="5706737" cy="4280053"/>
          </a:xfrm>
          <a:prstGeom prst="rect">
            <a:avLst/>
          </a:prstGeom>
        </p:spPr>
      </p:pic>
    </p:spTree>
    <p:extLst>
      <p:ext uri="{BB962C8B-B14F-4D97-AF65-F5344CB8AC3E}">
        <p14:creationId xmlns:p14="http://schemas.microsoft.com/office/powerpoint/2010/main" val="1850547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一般情况下不会采用从</a:t>
            </a:r>
            <a:r>
              <a:rPr lang="en-US" altLang="zh-CN" dirty="0"/>
              <a:t>0</a:t>
            </a:r>
            <a:r>
              <a:rPr lang="zh-CN" altLang="zh-CN" dirty="0"/>
              <a:t>开始的训练方式，而是使用预训练模型加快训练速度。</a:t>
            </a:r>
          </a:p>
          <a:p>
            <a:r>
              <a:rPr lang="zh-CN" altLang="zh-CN" dirty="0" smtClean="0"/>
              <a:t>将</a:t>
            </a:r>
            <a:r>
              <a:rPr lang="zh-CN" altLang="zh-CN" dirty="0"/>
              <a:t>预训练权重文件移至</a:t>
            </a:r>
            <a:r>
              <a:rPr lang="en-US" altLang="zh-CN" dirty="0" err="1"/>
              <a:t>model_data</a:t>
            </a:r>
            <a:r>
              <a:rPr lang="zh-CN" altLang="zh-CN" dirty="0"/>
              <a:t>文件夹下：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3825" y="2335794"/>
            <a:ext cx="7782761" cy="3801480"/>
          </a:xfrm>
          <a:prstGeom prst="rect">
            <a:avLst/>
          </a:prstGeom>
        </p:spPr>
      </p:pic>
    </p:spTree>
    <p:extLst>
      <p:ext uri="{BB962C8B-B14F-4D97-AF65-F5344CB8AC3E}">
        <p14:creationId xmlns:p14="http://schemas.microsoft.com/office/powerpoint/2010/main" val="2624952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yolov4_tiny_weights</a:t>
            </a:r>
            <a:r>
              <a:rPr lang="en-US" altLang="zh-CN" dirty="0"/>
              <a:t>_*****.</a:t>
            </a:r>
            <a:r>
              <a:rPr lang="en-US" altLang="zh-CN" dirty="0" err="1"/>
              <a:t>pth</a:t>
            </a:r>
            <a:r>
              <a:rPr lang="zh-CN" altLang="zh-CN" dirty="0"/>
              <a:t>的权重文件指已经在公开数据集上训练得到的整个网络的所有权重，</a:t>
            </a:r>
            <a:r>
              <a:rPr lang="en-US" altLang="zh-CN" dirty="0" err="1"/>
              <a:t>voc</a:t>
            </a:r>
            <a:r>
              <a:rPr lang="zh-CN" altLang="zh-CN" dirty="0"/>
              <a:t>表示</a:t>
            </a:r>
            <a:r>
              <a:rPr lang="en-US" altLang="zh-CN" dirty="0" err="1"/>
              <a:t>voc</a:t>
            </a:r>
            <a:r>
              <a:rPr lang="zh-CN" altLang="zh-CN" dirty="0"/>
              <a:t>数据集，</a:t>
            </a:r>
            <a:r>
              <a:rPr lang="en-US" altLang="zh-CN" dirty="0"/>
              <a:t>coco</a:t>
            </a:r>
            <a:r>
              <a:rPr lang="zh-CN" altLang="zh-CN" dirty="0"/>
              <a:t>表示</a:t>
            </a:r>
            <a:r>
              <a:rPr lang="en-US" altLang="zh-CN" dirty="0"/>
              <a:t>coco</a:t>
            </a:r>
            <a:r>
              <a:rPr lang="zh-CN" altLang="zh-CN" dirty="0"/>
              <a:t>数据集，</a:t>
            </a:r>
            <a:r>
              <a:rPr lang="en-US" altLang="zh-CN" dirty="0" err="1"/>
              <a:t>voc</a:t>
            </a:r>
            <a:r>
              <a:rPr lang="zh-CN" altLang="zh-CN" dirty="0"/>
              <a:t>的后缀表示使用了注意力机制得出的模型。</a:t>
            </a:r>
          </a:p>
          <a:p>
            <a:r>
              <a:rPr lang="en-US" altLang="zh-CN" dirty="0"/>
              <a:t>CSPdarknet53_*****.</a:t>
            </a:r>
            <a:r>
              <a:rPr lang="en-US" altLang="zh-CN" dirty="0" err="1"/>
              <a:t>pth</a:t>
            </a:r>
            <a:r>
              <a:rPr lang="zh-CN" altLang="zh-CN" dirty="0"/>
              <a:t>指仅保留主干网络的权重文件，</a:t>
            </a:r>
            <a:r>
              <a:rPr lang="en-US" altLang="zh-CN" dirty="0"/>
              <a:t>yolov4</a:t>
            </a:r>
            <a:r>
              <a:rPr lang="zh-CN" altLang="zh-CN" dirty="0"/>
              <a:t>算法使用的网络只有官方给出的</a:t>
            </a:r>
            <a:r>
              <a:rPr lang="en-US" altLang="zh-CN" dirty="0"/>
              <a:t>darknet53</a:t>
            </a:r>
            <a:r>
              <a:rPr lang="zh-CN" altLang="zh-CN" dirty="0"/>
              <a:t>网络。</a:t>
            </a:r>
          </a:p>
          <a:p>
            <a:r>
              <a:rPr lang="zh-CN" altLang="zh-CN" dirty="0"/>
              <a:t>包含整个网络所有权重的文件大小会大于仅保留主干网络权重的文件。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923" y="1130299"/>
            <a:ext cx="5548566" cy="2710190"/>
          </a:xfrm>
          <a:prstGeom prst="rect">
            <a:avLst/>
          </a:prstGeom>
        </p:spPr>
      </p:pic>
    </p:spTree>
    <p:extLst>
      <p:ext uri="{BB962C8B-B14F-4D97-AF65-F5344CB8AC3E}">
        <p14:creationId xmlns:p14="http://schemas.microsoft.com/office/powerpoint/2010/main" val="2738395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a:t>classes_path</a:t>
            </a:r>
            <a:r>
              <a:rPr lang="zh-CN" altLang="zh-CN" dirty="0"/>
              <a:t>，改为</a:t>
            </a:r>
            <a:r>
              <a:rPr lang="en-US" altLang="zh-CN" dirty="0"/>
              <a:t>‘</a:t>
            </a:r>
            <a:r>
              <a:rPr lang="en-US" altLang="zh-CN" dirty="0" err="1"/>
              <a:t>model_data</a:t>
            </a:r>
            <a:r>
              <a:rPr lang="en-US" altLang="zh-CN" dirty="0"/>
              <a:t>/predefined_classes.txt’</a:t>
            </a:r>
            <a:r>
              <a:rPr lang="zh-CN" altLang="zh-CN" dirty="0"/>
              <a:t>（与上一步骤操作相同但文件不同</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4730" y="2890929"/>
            <a:ext cx="6980952" cy="1485714"/>
          </a:xfrm>
          <a:prstGeom prst="rect">
            <a:avLst/>
          </a:prstGeom>
        </p:spPr>
      </p:pic>
    </p:spTree>
    <p:extLst>
      <p:ext uri="{BB962C8B-B14F-4D97-AF65-F5344CB8AC3E}">
        <p14:creationId xmlns:p14="http://schemas.microsoft.com/office/powerpoint/2010/main" val="3084076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smtClean="0"/>
              <a:t>model_path</a:t>
            </a:r>
            <a:r>
              <a:rPr lang="zh-CN" altLang="zh-CN" dirty="0"/>
              <a:t>，已有的模型文件，填预训练权重文件的路径。必须要使用预训练权重，因为我们的数据量级远不及训练整个网络的标准。</a:t>
            </a:r>
          </a:p>
          <a:p>
            <a:r>
              <a:rPr lang="zh-CN" altLang="zh-CN" dirty="0" smtClean="0"/>
              <a:t>这里</a:t>
            </a:r>
            <a:r>
              <a:rPr lang="zh-CN" altLang="zh-CN" dirty="0"/>
              <a:t>有两种训练方式，第一种方式是将</a:t>
            </a:r>
            <a:r>
              <a:rPr lang="en-US" altLang="zh-CN" dirty="0" err="1"/>
              <a:t>model_path</a:t>
            </a:r>
            <a:r>
              <a:rPr lang="zh-CN" altLang="zh-CN" dirty="0"/>
              <a:t>改为已经在</a:t>
            </a:r>
            <a:r>
              <a:rPr lang="en-US" altLang="zh-CN" dirty="0" err="1"/>
              <a:t>voc</a:t>
            </a:r>
            <a:r>
              <a:rPr lang="zh-CN" altLang="zh-CN" dirty="0"/>
              <a:t>数据集上训练得到模型的全部权重，即直接使用</a:t>
            </a:r>
            <a:r>
              <a:rPr lang="en-US" altLang="zh-CN" dirty="0" err="1"/>
              <a:t>voc</a:t>
            </a:r>
            <a:r>
              <a:rPr lang="zh-CN" altLang="zh-CN" dirty="0"/>
              <a:t>上训练得到的模型，采用微调的方法进行训练。</a:t>
            </a:r>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上</a:t>
            </a:r>
            <a:r>
              <a:rPr lang="zh-CN" altLang="zh-CN" dirty="0"/>
              <a:t>图使用</a:t>
            </a:r>
            <a:r>
              <a:rPr lang="en-US" altLang="zh-CN" dirty="0"/>
              <a:t>yolov4_tiny_weights_voc.pth</a:t>
            </a:r>
            <a:r>
              <a:rPr lang="zh-CN" altLang="zh-CN" dirty="0"/>
              <a:t>为例，也可以使用其他的权重（模型）。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890" y="3155847"/>
            <a:ext cx="6792631" cy="2359805"/>
          </a:xfrm>
          <a:prstGeom prst="rect">
            <a:avLst/>
          </a:prstGeom>
        </p:spPr>
      </p:pic>
    </p:spTree>
    <p:extLst>
      <p:ext uri="{BB962C8B-B14F-4D97-AF65-F5344CB8AC3E}">
        <p14:creationId xmlns:p14="http://schemas.microsoft.com/office/powerpoint/2010/main" val="1242154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第二种方式是不填</a:t>
            </a:r>
            <a:r>
              <a:rPr lang="en-US" altLang="zh-CN" dirty="0" err="1"/>
              <a:t>model_path</a:t>
            </a:r>
            <a:r>
              <a:rPr lang="zh-CN" altLang="zh-CN" dirty="0" smtClean="0"/>
              <a:t>，选择</a:t>
            </a:r>
            <a:r>
              <a:rPr lang="en-US" altLang="zh-CN" dirty="0"/>
              <a:t>phi</a:t>
            </a:r>
            <a:r>
              <a:rPr lang="zh-CN" altLang="zh-CN" dirty="0"/>
              <a:t>的值，将下面的</a:t>
            </a:r>
            <a:r>
              <a:rPr lang="en-US" altLang="zh-CN" dirty="0" err="1"/>
              <a:t>pretrained</a:t>
            </a:r>
            <a:r>
              <a:rPr lang="zh-CN" altLang="zh-CN" dirty="0"/>
              <a:t>参数改为</a:t>
            </a:r>
            <a:r>
              <a:rPr lang="en-US" altLang="zh-CN" dirty="0"/>
              <a:t>True</a:t>
            </a:r>
            <a:r>
              <a:rPr lang="zh-CN" altLang="zh-CN" dirty="0"/>
              <a:t>：</a:t>
            </a:r>
          </a:p>
          <a:p>
            <a:endParaRPr lang="en-US" altLang="zh-CN" dirty="0" smtClean="0"/>
          </a:p>
          <a:p>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smtClean="0"/>
              <a:t>默认</a:t>
            </a:r>
            <a:r>
              <a:rPr lang="zh-CN" altLang="zh-CN" dirty="0"/>
              <a:t>选择</a:t>
            </a:r>
            <a:r>
              <a:rPr lang="en-US" altLang="zh-CN" dirty="0"/>
              <a:t>yolov4</a:t>
            </a:r>
            <a:r>
              <a:rPr lang="zh-CN" altLang="zh-CN" dirty="0"/>
              <a:t>的</a:t>
            </a:r>
            <a:r>
              <a:rPr lang="en-US" altLang="zh-CN" dirty="0"/>
              <a:t>CSPdaeknet53</a:t>
            </a:r>
            <a:r>
              <a:rPr lang="zh-CN" altLang="zh-CN" dirty="0"/>
              <a:t>网络，加载主干开始训练。此外还可以通过修改</a:t>
            </a:r>
            <a:r>
              <a:rPr lang="en-US" altLang="zh-CN" dirty="0"/>
              <a:t>phi</a:t>
            </a:r>
            <a:r>
              <a:rPr lang="zh-CN" altLang="zh-CN" dirty="0"/>
              <a:t>的值选择注意力机制（对小型数据集几乎没有优化）。</a:t>
            </a:r>
          </a:p>
          <a:p>
            <a:endParaRPr lang="zh-CN" altLang="zh-CN" dirty="0" smtClean="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4723" y="1638676"/>
            <a:ext cx="5220966" cy="3498380"/>
          </a:xfrm>
          <a:prstGeom prst="rect">
            <a:avLst/>
          </a:prstGeom>
        </p:spPr>
      </p:pic>
    </p:spTree>
    <p:extLst>
      <p:ext uri="{BB962C8B-B14F-4D97-AF65-F5344CB8AC3E}">
        <p14:creationId xmlns:p14="http://schemas.microsoft.com/office/powerpoint/2010/main" val="3065384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b="1" dirty="0"/>
              <a:t>如果是采用</a:t>
            </a:r>
            <a:r>
              <a:rPr lang="en-US" altLang="zh-CN" b="1" dirty="0"/>
              <a:t>CPU</a:t>
            </a:r>
            <a:r>
              <a:rPr lang="zh-CN" altLang="zh-CN" b="1" dirty="0"/>
              <a:t>训练的方式，还需要将</a:t>
            </a:r>
            <a:r>
              <a:rPr lang="en-US" altLang="zh-CN" b="1" dirty="0"/>
              <a:t>CUDA</a:t>
            </a:r>
            <a:r>
              <a:rPr lang="zh-CN" altLang="zh-CN" b="1" dirty="0"/>
              <a:t>改为</a:t>
            </a:r>
            <a:r>
              <a:rPr lang="en-US" altLang="zh-CN" b="1" dirty="0" smtClean="0"/>
              <a:t>False</a:t>
            </a:r>
            <a:r>
              <a:rPr lang="zh-CN" altLang="zh-CN" b="1" dirty="0" smtClean="0"/>
              <a:t>。</a:t>
            </a:r>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r>
              <a:rPr lang="zh-CN" altLang="zh-CN" dirty="0"/>
              <a:t>关于其他可选参数的修改，代码中有极为详细的注释，这里不做赘述。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9491" y="2529024"/>
            <a:ext cx="4371429" cy="2209524"/>
          </a:xfrm>
          <a:prstGeom prst="rect">
            <a:avLst/>
          </a:prstGeom>
        </p:spPr>
      </p:pic>
    </p:spTree>
    <p:extLst>
      <p:ext uri="{BB962C8B-B14F-4D97-AF65-F5344CB8AC3E}">
        <p14:creationId xmlns:p14="http://schemas.microsoft.com/office/powerpoint/2010/main" val="612252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Pycharm</a:t>
            </a:r>
            <a:r>
              <a:rPr lang="zh-CN" altLang="zh-CN" dirty="0"/>
              <a:t>中运行</a:t>
            </a:r>
            <a:r>
              <a:rPr lang="en-US" altLang="zh-CN" dirty="0"/>
              <a:t>train.py</a:t>
            </a:r>
            <a:r>
              <a:rPr lang="zh-CN" altLang="zh-CN" dirty="0"/>
              <a:t>，将会自动加载模型参数开始</a:t>
            </a:r>
            <a:r>
              <a:rPr lang="zh-CN" altLang="zh-CN" dirty="0" smtClean="0"/>
              <a:t>训练</a:t>
            </a:r>
            <a:r>
              <a:rPr lang="zh-CN" altLang="en-US" dirty="0"/>
              <a:t>。</a:t>
            </a:r>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endParaRPr lang="zh-CN" altLang="zh-CN" dirty="0"/>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3921" y="1987708"/>
            <a:ext cx="4102568" cy="3860331"/>
          </a:xfrm>
          <a:prstGeom prst="rect">
            <a:avLst/>
          </a:prstGeom>
        </p:spPr>
      </p:pic>
    </p:spTree>
    <p:extLst>
      <p:ext uri="{BB962C8B-B14F-4D97-AF65-F5344CB8AC3E}">
        <p14:creationId xmlns:p14="http://schemas.microsoft.com/office/powerpoint/2010/main" val="879066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模型已开始根据设置的参数训练，训练时间主要与</a:t>
            </a:r>
            <a:r>
              <a:rPr lang="en-US" altLang="zh-CN" dirty="0"/>
              <a:t>CPU/GPU</a:t>
            </a:r>
            <a:r>
              <a:rPr lang="zh-CN" altLang="zh-CN" dirty="0"/>
              <a:t>性能、数据集大小、训练的世代（</a:t>
            </a:r>
            <a:r>
              <a:rPr lang="en-US" altLang="zh-CN" dirty="0"/>
              <a:t>epoch</a:t>
            </a:r>
            <a:r>
              <a:rPr lang="zh-CN" altLang="zh-CN" dirty="0"/>
              <a:t>）有关。如果是</a:t>
            </a:r>
            <a:r>
              <a:rPr lang="en-US" altLang="zh-CN" dirty="0"/>
              <a:t>CPU</a:t>
            </a:r>
            <a:r>
              <a:rPr lang="zh-CN" altLang="zh-CN" dirty="0"/>
              <a:t>训练会比</a:t>
            </a:r>
            <a:r>
              <a:rPr lang="en-US" altLang="zh-CN" dirty="0"/>
              <a:t>GPU</a:t>
            </a:r>
            <a:r>
              <a:rPr lang="zh-CN" altLang="zh-CN" dirty="0"/>
              <a:t>训练花费更多的时间。</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7611" y="2756531"/>
            <a:ext cx="8115189" cy="2809104"/>
          </a:xfrm>
          <a:prstGeom prst="rect">
            <a:avLst/>
          </a:prstGeom>
        </p:spPr>
      </p:pic>
    </p:spTree>
    <p:extLst>
      <p:ext uri="{BB962C8B-B14F-4D97-AF65-F5344CB8AC3E}">
        <p14:creationId xmlns:p14="http://schemas.microsoft.com/office/powerpoint/2010/main" val="3525045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在性能与数据集大小确定的情况下，通过改小训练的世代能够缩短训练的时间，但可能会错过最佳的模型，因此不推荐。本实验中的示例图采用世代值为</a:t>
            </a:r>
            <a:r>
              <a:rPr lang="en-US" altLang="zh-CN" dirty="0"/>
              <a:t>300</a:t>
            </a:r>
            <a:r>
              <a:rPr lang="zh-CN" altLang="zh-CN" dirty="0" smtClean="0"/>
              <a:t>，</a:t>
            </a:r>
            <a:r>
              <a:rPr lang="zh-CN" altLang="zh-CN" dirty="0"/>
              <a:t>检测目标</a:t>
            </a:r>
            <a:r>
              <a:rPr lang="zh-CN" altLang="zh-CN" dirty="0" smtClean="0"/>
              <a:t>为</a:t>
            </a:r>
            <a:r>
              <a:rPr lang="en-US" altLang="zh-CN" dirty="0"/>
              <a:t>2</a:t>
            </a:r>
            <a:r>
              <a:rPr lang="zh-CN" altLang="zh-CN" dirty="0" smtClean="0"/>
              <a:t>种</a:t>
            </a:r>
            <a:r>
              <a:rPr lang="zh-CN" altLang="zh-CN" dirty="0"/>
              <a:t>，</a:t>
            </a:r>
            <a:r>
              <a:rPr lang="zh-CN" altLang="zh-CN" dirty="0" smtClean="0"/>
              <a:t>可以</a:t>
            </a:r>
            <a:r>
              <a:rPr lang="zh-CN" altLang="zh-CN" dirty="0"/>
              <a:t>适当地降低</a:t>
            </a:r>
            <a:r>
              <a:rPr lang="en-US" altLang="zh-CN" dirty="0"/>
              <a:t>epoch</a:t>
            </a:r>
            <a:r>
              <a:rPr lang="zh-CN" altLang="zh-CN" dirty="0"/>
              <a:t>值，</a:t>
            </a:r>
            <a:r>
              <a:rPr lang="zh-CN" altLang="zh-CN" dirty="0" smtClean="0"/>
              <a:t>比如改为</a:t>
            </a:r>
            <a:r>
              <a:rPr lang="en-US" altLang="zh-CN" dirty="0" smtClean="0"/>
              <a:t>200</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539" y="3403941"/>
            <a:ext cx="6933333" cy="2733333"/>
          </a:xfrm>
          <a:prstGeom prst="rect">
            <a:avLst/>
          </a:prstGeom>
        </p:spPr>
      </p:pic>
    </p:spTree>
    <p:extLst>
      <p:ext uri="{BB962C8B-B14F-4D97-AF65-F5344CB8AC3E}">
        <p14:creationId xmlns:p14="http://schemas.microsoft.com/office/powerpoint/2010/main" val="2806643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最终训练完成</a:t>
            </a:r>
            <a:r>
              <a:rPr lang="zh-CN" altLang="zh-CN" dirty="0" smtClean="0"/>
              <a:t>界面</a:t>
            </a:r>
            <a:r>
              <a:rPr lang="zh-CN" altLang="en-US" dirty="0" smtClean="0"/>
              <a:t>：</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2057" y="1771881"/>
            <a:ext cx="7186297" cy="3723809"/>
          </a:xfrm>
          <a:prstGeom prst="rect">
            <a:avLst/>
          </a:prstGeom>
        </p:spPr>
      </p:pic>
    </p:spTree>
    <p:extLst>
      <p:ext uri="{BB962C8B-B14F-4D97-AF65-F5344CB8AC3E}">
        <p14:creationId xmlns:p14="http://schemas.microsoft.com/office/powerpoint/2010/main" val="2378387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模型训练的结果会保存在</a:t>
            </a:r>
            <a:r>
              <a:rPr lang="en-US" altLang="zh-CN" dirty="0"/>
              <a:t>logs</a:t>
            </a:r>
            <a:r>
              <a:rPr lang="zh-CN" altLang="zh-CN" dirty="0"/>
              <a:t>文件夹下，一般会有一个文件夹和很多个以</a:t>
            </a:r>
            <a:r>
              <a:rPr lang="en-US" altLang="zh-CN" dirty="0"/>
              <a:t>.</a:t>
            </a:r>
            <a:r>
              <a:rPr lang="en-US" altLang="zh-CN" dirty="0" err="1"/>
              <a:t>pth</a:t>
            </a:r>
            <a:r>
              <a:rPr lang="zh-CN" altLang="zh-CN" dirty="0"/>
              <a:t>结尾的权重文件，权重文件即为我们最终的模型</a:t>
            </a:r>
            <a:r>
              <a:rPr lang="zh-CN" altLang="zh-CN" dirty="0" smtClean="0"/>
              <a:t>文件。</a:t>
            </a:r>
            <a:endParaRPr lang="zh-CN" altLang="zh-CN"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4467" y="1817274"/>
            <a:ext cx="5101477" cy="4320000"/>
          </a:xfrm>
          <a:prstGeom prst="rect">
            <a:avLst/>
          </a:prstGeom>
        </p:spPr>
      </p:pic>
    </p:spTree>
    <p:extLst>
      <p:ext uri="{BB962C8B-B14F-4D97-AF65-F5344CB8AC3E}">
        <p14:creationId xmlns:p14="http://schemas.microsoft.com/office/powerpoint/2010/main" val="2361963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r>
              <a:rPr lang="zh-CN" altLang="zh-CN" dirty="0"/>
              <a:t>阿里云：</a:t>
            </a:r>
            <a:r>
              <a:rPr lang="en-US" altLang="zh-CN" u="sng" dirty="0">
                <a:hlinkClick r:id="rId3"/>
              </a:rPr>
              <a:t>http://mirrors.aliyun.com/pypi/simple/</a:t>
            </a:r>
            <a:endParaRPr lang="zh-CN" altLang="zh-CN" dirty="0"/>
          </a:p>
          <a:p>
            <a:r>
              <a:rPr lang="zh-CN" altLang="zh-CN" dirty="0"/>
              <a:t>中科大：</a:t>
            </a:r>
            <a:r>
              <a:rPr lang="en-US" altLang="zh-CN" u="sng" dirty="0">
                <a:hlinkClick r:id="rId4"/>
              </a:rPr>
              <a:t>https://pypi.mirrors.ustc.edu.cn/simple/</a:t>
            </a:r>
            <a:endParaRPr lang="zh-CN" altLang="zh-CN" dirty="0"/>
          </a:p>
          <a:p>
            <a:r>
              <a:rPr lang="zh-CN" altLang="zh-CN" dirty="0"/>
              <a:t>豆瓣：</a:t>
            </a:r>
            <a:r>
              <a:rPr lang="en-US" altLang="zh-CN" u="sng" dirty="0">
                <a:hlinkClick r:id="rId5"/>
              </a:rPr>
              <a:t>http://pypi.douban.com/simple/</a:t>
            </a:r>
            <a:endParaRPr lang="zh-CN" altLang="zh-CN" dirty="0"/>
          </a:p>
          <a:p>
            <a:r>
              <a:rPr lang="zh-CN" altLang="zh-CN" dirty="0"/>
              <a:t>清华大学：</a:t>
            </a:r>
            <a:r>
              <a:rPr lang="en-US" altLang="zh-CN" u="sng" dirty="0">
                <a:hlinkClick r:id="rId6"/>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a:t>
            </a:r>
            <a:r>
              <a:rPr lang="en-US" altLang="zh-CN" dirty="0">
                <a:hlinkClick r:id="rId7"/>
              </a:rPr>
              <a:t>https://************（</a:t>
            </a:r>
            <a:r>
              <a:rPr lang="en-US" altLang="zh-CN" dirty="0" err="1">
                <a:hlinkClick r:id="rId7"/>
              </a:rPr>
              <a:t>国内镜像源</a:t>
            </a:r>
            <a:r>
              <a:rPr lang="zh-CN" altLang="zh-CN" dirty="0" smtClean="0"/>
              <a:t>）</a:t>
            </a:r>
            <a:endParaRPr lang="en-US" altLang="zh-CN" dirty="0" smtClean="0"/>
          </a:p>
          <a:p>
            <a:r>
              <a:rPr lang="zh-CN" altLang="zh-CN" dirty="0"/>
              <a:t>例如在某环境下单独安装</a:t>
            </a:r>
            <a:r>
              <a:rPr lang="en-US" altLang="zh-CN" dirty="0"/>
              <a:t>1.16.4</a:t>
            </a:r>
            <a:r>
              <a:rPr lang="zh-CN" altLang="zh-CN" dirty="0"/>
              <a:t>版本的</a:t>
            </a:r>
            <a:r>
              <a:rPr lang="en-US" altLang="zh-CN" dirty="0" err="1"/>
              <a:t>numpy</a:t>
            </a:r>
            <a:r>
              <a:rPr lang="zh-CN" altLang="zh-CN" dirty="0"/>
              <a:t>，使用阿里云镜像源：</a:t>
            </a:r>
          </a:p>
          <a:p>
            <a:pPr lvl="1"/>
            <a:r>
              <a:rPr lang="en-US" altLang="zh-CN" dirty="0"/>
              <a:t>pip install </a:t>
            </a:r>
            <a:r>
              <a:rPr lang="en-US" altLang="zh-CN" dirty="0" err="1"/>
              <a:t>numpy</a:t>
            </a:r>
            <a:r>
              <a:rPr lang="en-US" altLang="zh-CN" dirty="0"/>
              <a:t> == 1.16.4 --user -</a:t>
            </a:r>
            <a:r>
              <a:rPr lang="en-US" altLang="zh-CN" dirty="0" err="1"/>
              <a:t>i</a:t>
            </a:r>
            <a:r>
              <a:rPr lang="en-US" altLang="zh-CN" dirty="0"/>
              <a:t> http://mirrors.aliyun.com/pypi/simple/</a:t>
            </a:r>
            <a:endParaRPr lang="zh-CN" altLang="zh-CN" dirty="0"/>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14259515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直接通过</a:t>
            </a:r>
            <a:r>
              <a:rPr lang="en-US" altLang="zh-CN" dirty="0"/>
              <a:t>pip install torch==&lt;</a:t>
            </a:r>
            <a:r>
              <a:rPr lang="zh-CN" altLang="zh-CN" dirty="0"/>
              <a:t>版本</a:t>
            </a:r>
            <a:r>
              <a:rPr lang="en-US" altLang="zh-CN" dirty="0"/>
              <a:t>&gt;</a:t>
            </a:r>
            <a:r>
              <a:rPr lang="zh-CN" altLang="zh-CN" dirty="0"/>
              <a:t>指令安装的</a:t>
            </a:r>
            <a:r>
              <a:rPr lang="en-US" altLang="zh-CN" dirty="0" err="1"/>
              <a:t>Pytorch</a:t>
            </a:r>
            <a:r>
              <a:rPr lang="zh-CN" altLang="zh-CN" dirty="0"/>
              <a:t>会默认安装</a:t>
            </a:r>
            <a:r>
              <a:rPr lang="en-US" altLang="zh-CN" dirty="0" err="1"/>
              <a:t>cpu</a:t>
            </a:r>
            <a:r>
              <a:rPr lang="zh-CN" altLang="zh-CN" dirty="0"/>
              <a:t>版本，正确安装</a:t>
            </a:r>
            <a:r>
              <a:rPr lang="en-US" altLang="zh-CN" dirty="0" err="1"/>
              <a:t>gpu</a:t>
            </a:r>
            <a:r>
              <a:rPr lang="zh-CN" altLang="zh-CN" dirty="0"/>
              <a:t>版本的指令为</a:t>
            </a:r>
            <a:r>
              <a:rPr lang="en-US" altLang="zh-CN" dirty="0"/>
              <a:t>pip install torch==&lt;</a:t>
            </a:r>
            <a:r>
              <a:rPr lang="zh-CN" altLang="zh-CN" dirty="0"/>
              <a:t>版本</a:t>
            </a:r>
            <a:r>
              <a:rPr lang="en-US" altLang="zh-CN" dirty="0"/>
              <a:t>&gt; -c </a:t>
            </a:r>
            <a:r>
              <a:rPr lang="en-US" altLang="zh-CN" dirty="0" err="1"/>
              <a:t>pytorch</a:t>
            </a:r>
            <a:r>
              <a:rPr lang="en-US" altLang="zh-CN" dirty="0"/>
              <a:t> </a:t>
            </a:r>
            <a:r>
              <a:rPr lang="zh-CN" altLang="zh-CN" dirty="0"/>
              <a:t>，但仍可能报错。建议采用之前实验介绍的官方安装方式</a:t>
            </a:r>
            <a:r>
              <a:rPr lang="zh-CN" altLang="zh-CN" dirty="0" smtClean="0"/>
              <a:t>。</a:t>
            </a:r>
            <a:endParaRPr lang="en-US" altLang="zh-CN" dirty="0" smtClean="0"/>
          </a:p>
          <a:p>
            <a:pPr marL="342900" indent="-342900">
              <a:buFont typeface="+mj-lt"/>
              <a:buAutoNum type="arabicPeriod" startAt="2"/>
            </a:pPr>
            <a:r>
              <a:rPr lang="zh-CN" altLang="zh-CN" dirty="0"/>
              <a:t>运行</a:t>
            </a:r>
            <a:r>
              <a:rPr lang="en-US" altLang="zh-CN" dirty="0" err="1"/>
              <a:t>voc_annotation</a:t>
            </a:r>
            <a:r>
              <a:rPr lang="zh-CN" altLang="zh-CN" dirty="0"/>
              <a:t>后，生成的训练集、验证集与测试集对应文件路径已经固定，如果想要移动项目路径重新训练（比如换设备）需要再次运行该文件。</a:t>
            </a:r>
          </a:p>
          <a:p>
            <a:pPr marL="342900" indent="-342900">
              <a:buFont typeface="+mj-lt"/>
              <a:buAutoNum type="arabicPeriod" startAt="2"/>
            </a:pPr>
            <a:r>
              <a:rPr lang="zh-CN" altLang="zh-CN" dirty="0"/>
              <a:t>修改文件时涉及到许多路径的修改，务必确保路径的准确性。</a:t>
            </a:r>
          </a:p>
          <a:p>
            <a:pPr marL="342900" lvl="0" indent="-342900">
              <a:buFont typeface="+mj-lt"/>
              <a:buAutoNum type="arabicPeriod" startAt="2"/>
            </a:pPr>
            <a:endParaRPr lang="zh-CN" altLang="zh-CN" dirty="0" smtClean="0"/>
          </a:p>
          <a:p>
            <a:endParaRPr lang="zh-CN" altLang="en-US" dirty="0"/>
          </a:p>
        </p:txBody>
      </p:sp>
    </p:spTree>
    <p:extLst>
      <p:ext uri="{BB962C8B-B14F-4D97-AF65-F5344CB8AC3E}">
        <p14:creationId xmlns:p14="http://schemas.microsoft.com/office/powerpoint/2010/main" val="4997383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5"/>
            </a:pPr>
            <a:r>
              <a:rPr lang="zh-CN" altLang="zh-CN" dirty="0"/>
              <a:t>训练模型过程中出现</a:t>
            </a:r>
            <a:r>
              <a:rPr lang="en-US" altLang="zh-CN" dirty="0"/>
              <a:t>CUDA out of memory</a:t>
            </a:r>
            <a:r>
              <a:rPr lang="zh-CN" altLang="zh-CN" dirty="0"/>
              <a:t>问题</a:t>
            </a:r>
            <a:r>
              <a:rPr lang="zh-CN" altLang="zh-CN" dirty="0" smtClean="0"/>
              <a:t>：</a:t>
            </a:r>
            <a:endParaRPr lang="en-US" altLang="zh-CN" dirty="0" smtClean="0"/>
          </a:p>
          <a:p>
            <a:pPr marL="342900" lvl="0" indent="-342900">
              <a:buFont typeface="+mj-lt"/>
              <a:buAutoNum type="arabicPeriod" startAt="5"/>
            </a:pPr>
            <a:endParaRPr lang="en-US" altLang="zh-CN" dirty="0"/>
          </a:p>
          <a:p>
            <a:r>
              <a:rPr lang="zh-CN" altLang="zh-CN" dirty="0"/>
              <a:t>原因：显卡显存不够，更换更高性能显卡或改小</a:t>
            </a:r>
            <a:r>
              <a:rPr lang="en-US" altLang="zh-CN" dirty="0"/>
              <a:t>train.py</a:t>
            </a:r>
            <a:r>
              <a:rPr lang="zh-CN" altLang="zh-CN" dirty="0"/>
              <a:t>中的</a:t>
            </a:r>
            <a:r>
              <a:rPr lang="en-US" altLang="zh-CN" dirty="0" err="1"/>
              <a:t>batch_size</a:t>
            </a:r>
            <a:r>
              <a:rPr lang="zh-CN" altLang="zh-CN" dirty="0" smtClean="0"/>
              <a:t>值</a:t>
            </a:r>
            <a:r>
              <a:rPr lang="zh-CN" altLang="en-US" dirty="0" smtClean="0"/>
              <a:t>，</a:t>
            </a:r>
            <a:r>
              <a:rPr lang="zh-CN" altLang="zh-CN" dirty="0"/>
              <a:t>这里推荐</a:t>
            </a:r>
            <a:r>
              <a:rPr lang="zh-CN" altLang="zh-CN" dirty="0" smtClean="0"/>
              <a:t>将</a:t>
            </a:r>
            <a:r>
              <a:rPr lang="en-US" altLang="zh-CN" dirty="0" err="1" smtClean="0"/>
              <a:t>Freeze_batch_size</a:t>
            </a:r>
            <a:r>
              <a:rPr lang="zh-CN" altLang="zh-CN" dirty="0"/>
              <a:t>和</a:t>
            </a:r>
            <a:r>
              <a:rPr lang="en-US" altLang="zh-CN" dirty="0" err="1"/>
              <a:t>Unfreeze_batch_size</a:t>
            </a:r>
            <a:r>
              <a:rPr lang="zh-CN" altLang="zh-CN" dirty="0"/>
              <a:t>同时除以</a:t>
            </a:r>
            <a:r>
              <a:rPr lang="en-US" altLang="zh-CN" dirty="0"/>
              <a:t>2</a:t>
            </a:r>
            <a:r>
              <a:rPr lang="zh-CN" altLang="zh-CN" dirty="0"/>
              <a:t>或除以</a:t>
            </a:r>
            <a:r>
              <a:rPr lang="en-US" altLang="zh-CN" dirty="0" smtClean="0"/>
              <a:t>4</a:t>
            </a:r>
            <a:r>
              <a:rPr lang="zh-CN" altLang="zh-CN" dirty="0" smtClean="0"/>
              <a:t>：</a:t>
            </a:r>
            <a:endParaRPr lang="zh-CN" altLang="zh-CN" dirty="0"/>
          </a:p>
          <a:p>
            <a:endParaRPr lang="en-US" altLang="zh-CN" dirty="0" smtClean="0"/>
          </a:p>
          <a:p>
            <a:pPr marL="0" lvl="0" indent="0">
              <a:buNone/>
            </a:pPr>
            <a:endParaRPr lang="zh-CN" altLang="zh-CN" dirty="0"/>
          </a:p>
          <a:p>
            <a:pPr marL="342900" indent="-342900">
              <a:buFont typeface="+mj-lt"/>
              <a:buAutoNum type="arabicPeriod" startAt="5"/>
            </a:pP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1471" y="2833735"/>
            <a:ext cx="5667470" cy="3303539"/>
          </a:xfrm>
          <a:prstGeom prst="rect">
            <a:avLst/>
          </a:prstGeom>
        </p:spPr>
      </p:pic>
      <p:pic>
        <p:nvPicPr>
          <p:cNvPr id="5" name="图片 4"/>
          <p:cNvPicPr>
            <a:picLocks noChangeAspect="1"/>
          </p:cNvPicPr>
          <p:nvPr/>
        </p:nvPicPr>
        <p:blipFill>
          <a:blip r:embed="rId3"/>
          <a:stretch>
            <a:fillRect/>
          </a:stretch>
        </p:blipFill>
        <p:spPr>
          <a:xfrm>
            <a:off x="2404730" y="1504138"/>
            <a:ext cx="7380952" cy="590476"/>
          </a:xfrm>
          <a:prstGeom prst="rect">
            <a:avLst/>
          </a:prstGeom>
        </p:spPr>
      </p:pic>
    </p:spTree>
    <p:extLst>
      <p:ext uri="{BB962C8B-B14F-4D97-AF65-F5344CB8AC3E}">
        <p14:creationId xmlns:p14="http://schemas.microsoft.com/office/powerpoint/2010/main" val="78586342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一阶段</a:t>
            </a:r>
            <a:r>
              <a:rPr lang="zh-CN" altLang="en-US" dirty="0"/>
              <a:t>算法模型的训练</a:t>
            </a:r>
            <a:endParaRPr lang="en-US" altLang="zh-CN" dirty="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2228</TotalTime>
  <Words>3209</Words>
  <Application>Microsoft Office PowerPoint</Application>
  <PresentationFormat>宽屏</PresentationFormat>
  <Paragraphs>306</Paragraphs>
  <Slides>52</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52</vt:i4>
      </vt:variant>
    </vt:vector>
  </HeadingPairs>
  <TitlesOfParts>
    <vt:vector size="59"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代码工程分析</vt:lpstr>
      <vt:lpstr>代码工程分析</vt:lpstr>
      <vt:lpstr>代码工程分析</vt:lpstr>
      <vt:lpstr>代码工程分析</vt:lpstr>
      <vt:lpstr>代码工程分析</vt:lpstr>
      <vt:lpstr>实验流程</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实验流程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实验结果</vt:lpstr>
      <vt:lpstr>实验结果</vt:lpstr>
      <vt:lpstr>/04</vt:lpstr>
      <vt:lpstr>注意事项</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72</cp:revision>
  <cp:lastPrinted>2018-09-20T16:00:00Z</cp:lastPrinted>
  <dcterms:created xsi:type="dcterms:W3CDTF">2022-06-27T01:42:48Z</dcterms:created>
  <dcterms:modified xsi:type="dcterms:W3CDTF">2022-12-27T09:23:53Z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