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handoutMasterIdLst>
    <p:handoutMasterId r:id="rId55"/>
  </p:handoutMasterIdLst>
  <p:sldIdLst>
    <p:sldId id="258" r:id="rId2"/>
    <p:sldId id="265" r:id="rId3"/>
    <p:sldId id="262" r:id="rId4"/>
    <p:sldId id="257" r:id="rId5"/>
    <p:sldId id="260" r:id="rId6"/>
    <p:sldId id="266" r:id="rId7"/>
    <p:sldId id="270" r:id="rId8"/>
    <p:sldId id="267" r:id="rId9"/>
    <p:sldId id="276" r:id="rId10"/>
    <p:sldId id="277" r:id="rId11"/>
    <p:sldId id="351" r:id="rId12"/>
    <p:sldId id="352" r:id="rId13"/>
    <p:sldId id="353" r:id="rId14"/>
    <p:sldId id="354" r:id="rId15"/>
    <p:sldId id="359" r:id="rId16"/>
    <p:sldId id="355" r:id="rId17"/>
    <p:sldId id="357" r:id="rId18"/>
    <p:sldId id="358" r:id="rId19"/>
    <p:sldId id="350" r:id="rId20"/>
    <p:sldId id="308" r:id="rId21"/>
    <p:sldId id="309" r:id="rId22"/>
    <p:sldId id="310" r:id="rId23"/>
    <p:sldId id="311" r:id="rId24"/>
    <p:sldId id="312" r:id="rId25"/>
    <p:sldId id="313" r:id="rId26"/>
    <p:sldId id="367" r:id="rId27"/>
    <p:sldId id="314" r:id="rId28"/>
    <p:sldId id="368" r:id="rId29"/>
    <p:sldId id="315" r:id="rId30"/>
    <p:sldId id="369" r:id="rId31"/>
    <p:sldId id="356" r:id="rId32"/>
    <p:sldId id="363" r:id="rId33"/>
    <p:sldId id="364" r:id="rId34"/>
    <p:sldId id="365" r:id="rId35"/>
    <p:sldId id="366" r:id="rId36"/>
    <p:sldId id="282" r:id="rId37"/>
    <p:sldId id="290" r:id="rId38"/>
    <p:sldId id="316" r:id="rId39"/>
    <p:sldId id="317" r:id="rId40"/>
    <p:sldId id="318" r:id="rId41"/>
    <p:sldId id="370" r:id="rId42"/>
    <p:sldId id="319" r:id="rId43"/>
    <p:sldId id="320" r:id="rId44"/>
    <p:sldId id="371" r:id="rId45"/>
    <p:sldId id="372" r:id="rId46"/>
    <p:sldId id="360" r:id="rId47"/>
    <p:sldId id="268" r:id="rId48"/>
    <p:sldId id="361" r:id="rId49"/>
    <p:sldId id="362" r:id="rId50"/>
    <p:sldId id="349" r:id="rId51"/>
    <p:sldId id="264" r:id="rId52"/>
    <p:sldId id="261" r:id="rId53"/>
  </p:sldIdLst>
  <p:sldSz cx="12192000" cy="6858000"/>
  <p:notesSz cx="6858000" cy="9144000"/>
  <p:custDataLst>
    <p:tags r:id="rId5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196" autoAdjust="0"/>
  </p:normalViewPr>
  <p:slideViewPr>
    <p:cSldViewPr snapToGrid="0" showGuides="1">
      <p:cViewPr varScale="1">
        <p:scale>
          <a:sx n="105" d="100"/>
          <a:sy n="105" d="100"/>
        </p:scale>
        <p:origin x="732" y="78"/>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代码工程分析</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数据集的准备</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训练模型</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3">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3">
        <dgm:presLayoutVars>
          <dgm:chMax val="0"/>
          <dgm:chPref val="0"/>
          <dgm:bulletEnabled val="1"/>
        </dgm:presLayoutVars>
      </dgm:prSet>
      <dgm:spPr/>
      <dgm:t>
        <a:bodyPr/>
        <a:lstStyle/>
        <a:p>
          <a:endParaRPr lang="zh-CN" altLang="en-US"/>
        </a:p>
      </dgm:t>
    </dgm:pt>
  </dgm:ptLst>
  <dgm:cxnLst>
    <dgm:cxn modelId="{18148AE1-19BF-42E4-A611-096059E32FB7}" type="presOf" srcId="{BEAB6AAF-246B-444D-90D9-FB867EA43595}" destId="{FC4CA3E0-7A9C-47CB-88C9-7F81B89FD5AA}" srcOrd="0" destOrd="0" presId="urn:microsoft.com/office/officeart/2005/8/layout/chevron1"/>
    <dgm:cxn modelId="{7ACFB0E2-0D3E-418A-BD4E-BA25CC5CC9E3}" type="presOf" srcId="{314AE731-DFBF-4A5B-8171-86B7AA2F2858}" destId="{5653E5CF-63C1-4886-9DFE-DC4B36C44A33}"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BF6558B0-650E-4BA1-A1B1-1CA458E6EC49}" srcId="{314AE731-DFBF-4A5B-8171-86B7AA2F2858}" destId="{211D359A-E621-4AEC-B365-EBCECA4D5608}" srcOrd="2" destOrd="0" parTransId="{95B58C96-0D87-4CC9-A2F6-B9DFCA67DC5F}" sibTransId="{56BE99E8-BF29-4F85-BEC4-A54AC3654A13}"/>
    <dgm:cxn modelId="{C2785AB0-9731-4DAB-9F6F-AA3F0A0A411A}" type="presOf" srcId="{3F9AE8EF-E0BD-4A86-A1DC-73AF72B43E8D}" destId="{2147596E-7442-41E7-9852-40E25C424996}"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336ADBB0-686E-483D-BA10-80BD02CF3721}" type="presOf" srcId="{211D359A-E621-4AEC-B365-EBCECA4D5608}" destId="{50739AC9-FC4E-42C3-B62E-1016634A724A}" srcOrd="0" destOrd="0" presId="urn:microsoft.com/office/officeart/2005/8/layout/chevron1"/>
    <dgm:cxn modelId="{7C548A56-4A1A-45AD-AB5A-7E7F8B7D845A}" type="presParOf" srcId="{5653E5CF-63C1-4886-9DFE-DC4B36C44A33}" destId="{FC4CA3E0-7A9C-47CB-88C9-7F81B89FD5AA}" srcOrd="0" destOrd="0" presId="urn:microsoft.com/office/officeart/2005/8/layout/chevron1"/>
    <dgm:cxn modelId="{CE2ECD58-452E-42D5-8107-9655B4EA7D32}" type="presParOf" srcId="{5653E5CF-63C1-4886-9DFE-DC4B36C44A33}" destId="{ED8D2DC7-F6B9-49A1-A3FB-6645AA0B27C9}" srcOrd="1" destOrd="0" presId="urn:microsoft.com/office/officeart/2005/8/layout/chevron1"/>
    <dgm:cxn modelId="{D956DAB8-14D8-491D-9658-A5FE73C3B0A0}" type="presParOf" srcId="{5653E5CF-63C1-4886-9DFE-DC4B36C44A33}" destId="{2147596E-7442-41E7-9852-40E25C424996}" srcOrd="2" destOrd="0" presId="urn:microsoft.com/office/officeart/2005/8/layout/chevron1"/>
    <dgm:cxn modelId="{F64C7D20-1243-40D5-A8A8-36376D94AE62}" type="presParOf" srcId="{5653E5CF-63C1-4886-9DFE-DC4B36C44A33}" destId="{78A125B0-FC96-47C5-ADBC-5773E5EBD695}" srcOrd="3" destOrd="0" presId="urn:microsoft.com/office/officeart/2005/8/layout/chevron1"/>
    <dgm:cxn modelId="{9C3E0689-5731-4311-8C58-1C32B4A5AFEF}" type="presParOf" srcId="{5653E5CF-63C1-4886-9DFE-DC4B36C44A33}" destId="{50739AC9-FC4E-42C3-B62E-1016634A724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tx1"/>
              </a:solidFill>
            </a:rPr>
            <a:t>数据集的准备</a:t>
          </a:r>
          <a:endParaRPr lang="zh-CN" altLang="en-US" dirty="0">
            <a:solidFill>
              <a:schemeClr val="tx1"/>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训练模型</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3">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D9A1054B-BA87-48AA-B18E-81D4561A5B6C}" type="presOf" srcId="{BEAB6AAF-246B-444D-90D9-FB867EA43595}" destId="{FC4CA3E0-7A9C-47CB-88C9-7F81B89FD5AA}" srcOrd="0" destOrd="0" presId="urn:microsoft.com/office/officeart/2005/8/layout/chevron1"/>
    <dgm:cxn modelId="{7CE0085C-7073-4131-9382-48F4B377993E}" type="presOf" srcId="{314AE731-DFBF-4A5B-8171-86B7AA2F2858}" destId="{5653E5CF-63C1-4886-9DFE-DC4B36C44A33}"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9551BDA1-E144-4E82-9AD2-D5411AA34FFF}" type="presOf" srcId="{211D359A-E621-4AEC-B365-EBCECA4D5608}" destId="{50739AC9-FC4E-42C3-B62E-1016634A724A}" srcOrd="0" destOrd="0" presId="urn:microsoft.com/office/officeart/2005/8/layout/chevron1"/>
    <dgm:cxn modelId="{DC362FA0-F117-4F15-BFFA-DEB2997A1CE7}"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CCBE81E8-525E-45E6-A189-E7724FA0B374}" type="presParOf" srcId="{5653E5CF-63C1-4886-9DFE-DC4B36C44A33}" destId="{FC4CA3E0-7A9C-47CB-88C9-7F81B89FD5AA}" srcOrd="0" destOrd="0" presId="urn:microsoft.com/office/officeart/2005/8/layout/chevron1"/>
    <dgm:cxn modelId="{01906A64-580A-4DA8-88C8-CA25A2FCB4A2}" type="presParOf" srcId="{5653E5CF-63C1-4886-9DFE-DC4B36C44A33}" destId="{ED8D2DC7-F6B9-49A1-A3FB-6645AA0B27C9}" srcOrd="1" destOrd="0" presId="urn:microsoft.com/office/officeart/2005/8/layout/chevron1"/>
    <dgm:cxn modelId="{55162CC2-5150-41EC-941F-12D84DAD375A}" type="presParOf" srcId="{5653E5CF-63C1-4886-9DFE-DC4B36C44A33}" destId="{2147596E-7442-41E7-9852-40E25C424996}" srcOrd="2" destOrd="0" presId="urn:microsoft.com/office/officeart/2005/8/layout/chevron1"/>
    <dgm:cxn modelId="{010740E4-BCE7-4111-ACB0-A7FCF72C99C4}" type="presParOf" srcId="{5653E5CF-63C1-4886-9DFE-DC4B36C44A33}" destId="{78A125B0-FC96-47C5-ADBC-5773E5EBD695}" srcOrd="3" destOrd="0" presId="urn:microsoft.com/office/officeart/2005/8/layout/chevron1"/>
    <dgm:cxn modelId="{6DA171A3-4CF7-4749-90B3-E3D3DFFFD032}" type="presParOf" srcId="{5653E5CF-63C1-4886-9DFE-DC4B36C44A33}" destId="{50739AC9-FC4E-42C3-B62E-1016634A724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数据集的准备</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tx1"/>
              </a:solidFill>
            </a:rPr>
            <a:t>训练模型</a:t>
          </a:r>
          <a:endParaRPr lang="zh-CN" altLang="en-US" dirty="0">
            <a:solidFill>
              <a:schemeClr val="tx1"/>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3">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18A62056-4C1F-428A-A396-40894EC4216C}" type="presOf" srcId="{BEAB6AAF-246B-444D-90D9-FB867EA43595}" destId="{FC4CA3E0-7A9C-47CB-88C9-7F81B89FD5AA}" srcOrd="0" destOrd="0" presId="urn:microsoft.com/office/officeart/2005/8/layout/chevron1"/>
    <dgm:cxn modelId="{58A8A062-FAC5-4A47-8556-097F41680D3D}" type="presOf" srcId="{3F9AE8EF-E0BD-4A86-A1DC-73AF72B43E8D}" destId="{2147596E-7442-41E7-9852-40E25C424996}"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63A68471-F6D4-4121-81F7-7A7E7D490633}" type="presOf" srcId="{211D359A-E621-4AEC-B365-EBCECA4D5608}" destId="{50739AC9-FC4E-42C3-B62E-1016634A724A}" srcOrd="0" destOrd="0" presId="urn:microsoft.com/office/officeart/2005/8/layout/chevron1"/>
    <dgm:cxn modelId="{EAA22A19-5D97-4C84-9CBF-53AA9FEE58BC}" type="presOf" srcId="{314AE731-DFBF-4A5B-8171-86B7AA2F2858}" destId="{5653E5CF-63C1-4886-9DFE-DC4B36C44A33}"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82E22A41-A907-487F-8A19-83C655E5610C}" type="presParOf" srcId="{5653E5CF-63C1-4886-9DFE-DC4B36C44A33}" destId="{FC4CA3E0-7A9C-47CB-88C9-7F81B89FD5AA}" srcOrd="0" destOrd="0" presId="urn:microsoft.com/office/officeart/2005/8/layout/chevron1"/>
    <dgm:cxn modelId="{BBB8D1AA-7292-4208-9EE2-CF739A0FAC56}" type="presParOf" srcId="{5653E5CF-63C1-4886-9DFE-DC4B36C44A33}" destId="{ED8D2DC7-F6B9-49A1-A3FB-6645AA0B27C9}" srcOrd="1" destOrd="0" presId="urn:microsoft.com/office/officeart/2005/8/layout/chevron1"/>
    <dgm:cxn modelId="{47AF3885-37D6-45C4-9221-C320A2B60925}" type="presParOf" srcId="{5653E5CF-63C1-4886-9DFE-DC4B36C44A33}" destId="{2147596E-7442-41E7-9852-40E25C424996}" srcOrd="2" destOrd="0" presId="urn:microsoft.com/office/officeart/2005/8/layout/chevron1"/>
    <dgm:cxn modelId="{6CA99B3A-6732-4580-A7FB-54199F400B81}" type="presParOf" srcId="{5653E5CF-63C1-4886-9DFE-DC4B36C44A33}" destId="{78A125B0-FC96-47C5-ADBC-5773E5EBD695}" srcOrd="3" destOrd="0" presId="urn:microsoft.com/office/officeart/2005/8/layout/chevron1"/>
    <dgm:cxn modelId="{449420AD-B312-4A58-81CB-20FC317E5460}" type="presParOf" srcId="{5653E5CF-63C1-4886-9DFE-DC4B36C44A33}" destId="{50739AC9-FC4E-42C3-B62E-1016634A724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 xmlns:a16="http://schemas.microsoft.com/office/drawing/2014/main"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 xmlns:a16="http://schemas.microsoft.com/office/drawing/2014/main"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 xmlns:a16="http://schemas.microsoft.com/office/drawing/2014/main"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 xmlns:a16="http://schemas.microsoft.com/office/drawing/2014/main"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 xmlns:a16="http://schemas.microsoft.com/office/drawing/2014/main"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 xmlns:a16="http://schemas.microsoft.com/office/drawing/2014/main"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 xmlns:a16="http://schemas.microsoft.com/office/drawing/2014/main"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 xmlns:a16="http://schemas.microsoft.com/office/drawing/2014/main"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 xmlns:a16="http://schemas.microsoft.com/office/drawing/2014/main"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在机器学习</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深度学习领域，通常采用表现比较好的监督学习方法，即先给定一部分“答案”，模型训练完成后便能够举一反三，正确“回答”其他的提问。这种方法往往需要大量的标注数据，标注数据是一项枯燥无味且花费巨大的任务，而随着越来越多的应用场景的出现，如果针对每一个应用场景都去标注大量的数据，所产生的花费是无法承受的。而迁移学习的主要思想是从相关领域中迁移标注数据或者知识结构、完成或改进目标领域或任务的学习效果，达到“从一个环境</a:t>
            </a:r>
            <a:r>
              <a:rPr lang="zh-CN" altLang="en-US" dirty="0" smtClean="0"/>
              <a:t>中学到的知识用来帮助新环境的学习任务</a:t>
            </a:r>
            <a:r>
              <a:rPr lang="zh-CN" altLang="en-US" sz="1200" b="0" i="0" kern="1200" dirty="0" smtClean="0">
                <a:solidFill>
                  <a:schemeClr val="tx1"/>
                </a:solidFill>
                <a:effectLst/>
                <a:latin typeface="+mn-lt"/>
                <a:ea typeface="+mn-ea"/>
                <a:cs typeface="+mn-cs"/>
              </a:rPr>
              <a:t>”的目的。在目标检测领域中，通过迁移学习的方法，不仅能加快训练的速度，还能确保模型的精度。即使只有少量的标注数据，也可以完成一个模型的训练。</a:t>
            </a: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45630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为什么目标检测领域可以使用迁移学习？这和目标检测的原理</a:t>
            </a:r>
            <a:r>
              <a:rPr lang="en-US" altLang="zh-CN" dirty="0" smtClean="0"/>
              <a:t>——</a:t>
            </a:r>
            <a:r>
              <a:rPr lang="zh-CN" altLang="en-US" dirty="0" smtClean="0"/>
              <a:t>卷积神经网络有关。</a:t>
            </a:r>
            <a:endParaRPr lang="en-US" altLang="zh-CN" dirty="0" smtClean="0"/>
          </a:p>
          <a:p>
            <a:r>
              <a:rPr lang="zh-CN" altLang="en-US" sz="1200" b="0" i="0" kern="1200" dirty="0" smtClean="0">
                <a:solidFill>
                  <a:schemeClr val="tx1"/>
                </a:solidFill>
                <a:effectLst/>
                <a:latin typeface="+mn-lt"/>
                <a:ea typeface="+mn-ea"/>
                <a:cs typeface="+mn-cs"/>
              </a:rPr>
              <a:t>由之前的学习我们知道，卷积神经网络具备良好的层次结构，通常而言，普通的卷积神经网络都具备卷积</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池化</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卷积</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池化</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全连接这样的层次结构，在深度可观时，卷积神经网络可以提取图像各个 </a:t>
            </a:r>
            <a:r>
              <a:rPr lang="en-US" altLang="zh-CN" sz="1200" b="0" i="0" kern="1200" dirty="0" smtClean="0">
                <a:solidFill>
                  <a:schemeClr val="tx1"/>
                </a:solidFill>
                <a:effectLst/>
                <a:latin typeface="+mn-lt"/>
                <a:ea typeface="+mn-ea"/>
                <a:cs typeface="+mn-cs"/>
              </a:rPr>
              <a:t>level </a:t>
            </a:r>
            <a:r>
              <a:rPr lang="zh-CN" altLang="en-US" sz="1200" b="0" i="0" kern="1200" dirty="0" smtClean="0">
                <a:solidFill>
                  <a:schemeClr val="tx1"/>
                </a:solidFill>
                <a:effectLst/>
                <a:latin typeface="+mn-lt"/>
                <a:ea typeface="+mn-ea"/>
                <a:cs typeface="+mn-cs"/>
              </a:rPr>
              <a:t>的特征。当我们要从图像中识别一张人脸的时候，通常在一开始我们会检测到图像的横的、竖的等边缘特征，然后会检测到脸部的一些曲线特征，再进一步会检测到脸部的鼻子、眼睛和嘴巴等具备明显识别要素的特征等等。</a:t>
            </a:r>
            <a:endParaRPr lang="en-US" altLang="zh-CN" sz="1200" b="0" i="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这便揭示了深度卷积网络可迁移性的基本原理和卷积网络训练过程的基本事实。具备良好层次的深度卷积网络通常都是在最初的前几层学习到图像的通用特征（</a:t>
            </a:r>
            <a:r>
              <a:rPr lang="en-US" altLang="zh-CN" sz="1200" b="0" i="0" kern="1200" dirty="0" smtClean="0">
                <a:solidFill>
                  <a:schemeClr val="tx1"/>
                </a:solidFill>
                <a:effectLst/>
                <a:latin typeface="+mn-lt"/>
                <a:ea typeface="+mn-ea"/>
                <a:cs typeface="+mn-cs"/>
              </a:rPr>
              <a:t>general feature</a:t>
            </a:r>
            <a:r>
              <a:rPr lang="zh-CN" altLang="en-US" sz="1200" b="0" i="0" kern="1200" dirty="0" smtClean="0">
                <a:solidFill>
                  <a:schemeClr val="tx1"/>
                </a:solidFill>
                <a:effectLst/>
                <a:latin typeface="+mn-lt"/>
                <a:ea typeface="+mn-ea"/>
                <a:cs typeface="+mn-cs"/>
              </a:rPr>
              <a:t>），但随着网络层次的加深，卷积网络便逐渐开始检测到图像的特定的特征，两个任务系统的输入越相近，深度卷积网络检测到的通用特征越多，迁移学习的效果越好。也就是说，网络前几层与具体的图像数据集关系不是特别大，但通用特征可以应用到其他场景的检测任务中，而网络的最后一层则是与选定的数据集及其任务目标紧密相关的，这也是为什么负责分类的全连接层都在最后的原因。</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65412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基于这种特性，我们可以将目标检测网络分为三个部分：</a:t>
            </a:r>
            <a:endParaRPr lang="en-US" altLang="zh-CN" dirty="0" smtClean="0"/>
          </a:p>
          <a:p>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部分的网络就是负责从图像中提取特征。常用的</a:t>
            </a:r>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主要有</a:t>
            </a:r>
            <a:r>
              <a:rPr lang="en-US" altLang="zh-CN" sz="1200" b="0" i="0" kern="1200" dirty="0" smtClean="0">
                <a:solidFill>
                  <a:schemeClr val="tx1"/>
                </a:solidFill>
                <a:effectLst/>
                <a:latin typeface="+mn-lt"/>
                <a:ea typeface="+mn-ea"/>
                <a:cs typeface="+mn-cs"/>
              </a:rPr>
              <a:t>VGG</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ResNet</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Darknet</a:t>
            </a:r>
            <a:r>
              <a:rPr lang="zh-CN" altLang="en-US" sz="1200" b="0" i="0" kern="1200" dirty="0" smtClean="0">
                <a:solidFill>
                  <a:schemeClr val="tx1"/>
                </a:solidFill>
                <a:effectLst/>
                <a:latin typeface="+mn-lt"/>
                <a:ea typeface="+mn-ea"/>
                <a:cs typeface="+mn-cs"/>
              </a:rPr>
              <a:t>等。</a:t>
            </a:r>
            <a:br>
              <a:rPr lang="zh-CN" altLang="en-US"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neck</a:t>
            </a:r>
            <a:r>
              <a:rPr lang="zh-CN" altLang="en-US" sz="1200" b="0" i="0" kern="1200" dirty="0" smtClean="0">
                <a:solidFill>
                  <a:schemeClr val="tx1"/>
                </a:solidFill>
                <a:effectLst/>
                <a:latin typeface="+mn-lt"/>
                <a:ea typeface="+mn-ea"/>
                <a:cs typeface="+mn-cs"/>
              </a:rPr>
              <a:t>是放在</a:t>
            </a:r>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head</a:t>
            </a:r>
            <a:r>
              <a:rPr lang="zh-CN" altLang="en-US" sz="1200" b="0" i="0" kern="1200" dirty="0" smtClean="0">
                <a:solidFill>
                  <a:schemeClr val="tx1"/>
                </a:solidFill>
                <a:effectLst/>
                <a:latin typeface="+mn-lt"/>
                <a:ea typeface="+mn-ea"/>
                <a:cs typeface="+mn-cs"/>
              </a:rPr>
              <a:t>之间的，是为了更好的利用</a:t>
            </a:r>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提取的特征。常用的</a:t>
            </a:r>
            <a:r>
              <a:rPr lang="en-US" altLang="zh-CN" sz="1200" b="0" i="0" kern="1200" dirty="0" smtClean="0">
                <a:solidFill>
                  <a:schemeClr val="tx1"/>
                </a:solidFill>
                <a:effectLst/>
                <a:latin typeface="+mn-lt"/>
                <a:ea typeface="+mn-ea"/>
                <a:cs typeface="+mn-cs"/>
              </a:rPr>
              <a:t>Neck</a:t>
            </a:r>
            <a:r>
              <a:rPr lang="zh-CN" altLang="en-US" sz="1200" b="0" i="0" kern="1200" dirty="0" smtClean="0">
                <a:solidFill>
                  <a:schemeClr val="tx1"/>
                </a:solidFill>
                <a:effectLst/>
                <a:latin typeface="+mn-lt"/>
                <a:ea typeface="+mn-ea"/>
                <a:cs typeface="+mn-cs"/>
              </a:rPr>
              <a:t>有</a:t>
            </a:r>
            <a:r>
              <a:rPr lang="en-US" altLang="zh-CN" sz="1200" b="0" i="0" kern="1200" dirty="0" smtClean="0">
                <a:solidFill>
                  <a:schemeClr val="tx1"/>
                </a:solidFill>
                <a:effectLst/>
                <a:latin typeface="+mn-lt"/>
                <a:ea typeface="+mn-ea"/>
                <a:cs typeface="+mn-cs"/>
              </a:rPr>
              <a:t>SPP</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FPN</a:t>
            </a:r>
            <a:r>
              <a:rPr lang="zh-CN" altLang="en-US" sz="1200" b="0" i="0" kern="1200" dirty="0" smtClean="0">
                <a:solidFill>
                  <a:schemeClr val="tx1"/>
                </a:solidFill>
                <a:effectLst/>
                <a:latin typeface="+mn-lt"/>
                <a:ea typeface="+mn-ea"/>
                <a:cs typeface="+mn-cs"/>
              </a:rPr>
              <a:t>等。</a:t>
            </a:r>
            <a:br>
              <a:rPr lang="zh-CN" altLang="en-US" sz="1200" b="0" i="0" kern="1200" dirty="0" smtClean="0">
                <a:solidFill>
                  <a:schemeClr val="tx1"/>
                </a:solidFill>
                <a:effectLst/>
                <a:latin typeface="+mn-lt"/>
                <a:ea typeface="+mn-ea"/>
                <a:cs typeface="+mn-cs"/>
              </a:rPr>
            </a:br>
            <a:r>
              <a:rPr lang="en-US" altLang="zh-CN" sz="1200" b="0" i="0" kern="1200" dirty="0" smtClean="0">
                <a:solidFill>
                  <a:schemeClr val="tx1"/>
                </a:solidFill>
                <a:effectLst/>
                <a:latin typeface="+mn-lt"/>
                <a:ea typeface="+mn-ea"/>
                <a:cs typeface="+mn-cs"/>
              </a:rPr>
              <a:t>head</a:t>
            </a:r>
            <a:r>
              <a:rPr lang="zh-CN" altLang="en-US" sz="1200" b="0" i="0" kern="1200" dirty="0" smtClean="0">
                <a:solidFill>
                  <a:schemeClr val="tx1"/>
                </a:solidFill>
                <a:effectLst/>
                <a:latin typeface="+mn-lt"/>
                <a:ea typeface="+mn-ea"/>
                <a:cs typeface="+mn-cs"/>
              </a:rPr>
              <a:t>这一部分的作用就是用于分类</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定位。常用的</a:t>
            </a:r>
            <a:r>
              <a:rPr lang="en-US" altLang="zh-CN" sz="1200" b="0" i="0" kern="1200" dirty="0" smtClean="0">
                <a:solidFill>
                  <a:schemeClr val="tx1"/>
                </a:solidFill>
                <a:effectLst/>
                <a:latin typeface="+mn-lt"/>
                <a:ea typeface="+mn-ea"/>
                <a:cs typeface="+mn-cs"/>
              </a:rPr>
              <a:t>Head</a:t>
            </a:r>
            <a:r>
              <a:rPr lang="zh-CN" altLang="en-US" sz="1200" b="0" i="0" kern="1200" dirty="0" smtClean="0">
                <a:solidFill>
                  <a:schemeClr val="tx1"/>
                </a:solidFill>
                <a:effectLst/>
                <a:latin typeface="+mn-lt"/>
                <a:ea typeface="+mn-ea"/>
                <a:cs typeface="+mn-cs"/>
              </a:rPr>
              <a:t>主要有</a:t>
            </a:r>
            <a:r>
              <a:rPr lang="en-US" altLang="zh-CN" sz="1200" b="0" i="0" kern="1200" dirty="0" smtClean="0">
                <a:solidFill>
                  <a:schemeClr val="tx1"/>
                </a:solidFill>
                <a:effectLst/>
                <a:latin typeface="+mn-lt"/>
                <a:ea typeface="+mn-ea"/>
                <a:cs typeface="+mn-cs"/>
              </a:rPr>
              <a:t>SSD</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YOLO</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FCOS</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Faster R-CNN</a:t>
            </a:r>
            <a:r>
              <a:rPr lang="zh-CN" altLang="en-US" sz="1200" b="0" i="0" kern="1200" dirty="0" smtClean="0">
                <a:solidFill>
                  <a:schemeClr val="tx1"/>
                </a:solidFill>
                <a:effectLst/>
                <a:latin typeface="+mn-lt"/>
                <a:ea typeface="+mn-ea"/>
                <a:cs typeface="+mn-cs"/>
              </a:rPr>
              <a:t>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顺带一提，</a:t>
            </a:r>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网络大多通过在著名公开数据集的图像分类任务中得到，尽管</a:t>
            </a:r>
            <a:r>
              <a:rPr lang="en-US" altLang="zh-CN" sz="1200" b="0" i="0" kern="1200" dirty="0" smtClean="0">
                <a:solidFill>
                  <a:schemeClr val="tx1"/>
                </a:solidFill>
                <a:effectLst/>
                <a:latin typeface="+mn-lt"/>
                <a:ea typeface="+mn-ea"/>
                <a:cs typeface="+mn-cs"/>
              </a:rPr>
              <a:t>backbone</a:t>
            </a:r>
            <a:r>
              <a:rPr lang="zh-CN" altLang="en-US" sz="1200" b="0" i="0" kern="1200" dirty="0" smtClean="0">
                <a:solidFill>
                  <a:schemeClr val="tx1"/>
                </a:solidFill>
                <a:effectLst/>
                <a:latin typeface="+mn-lt"/>
                <a:ea typeface="+mn-ea"/>
                <a:cs typeface="+mn-cs"/>
              </a:rPr>
              <a:t>只做分类而不会去定位，但我们仍可以将它作为特征提取器使用。</a:t>
            </a:r>
            <a:endParaRPr lang="en-US" altLang="zh-CN"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98121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通常而言，迁移学习有两种使用套路。第一种便是常说的 </a:t>
            </a:r>
            <a:r>
              <a:rPr lang="en-US" altLang="zh-CN" sz="1200" b="0" i="0" kern="1200" dirty="0" err="1" smtClean="0">
                <a:solidFill>
                  <a:schemeClr val="tx1"/>
                </a:solidFill>
                <a:effectLst/>
                <a:latin typeface="+mn-lt"/>
                <a:ea typeface="+mn-ea"/>
                <a:cs typeface="+mn-cs"/>
              </a:rPr>
              <a:t>finetune</a:t>
            </a:r>
            <a:r>
              <a:rPr lang="zh-CN" altLang="en-US" sz="1200" b="0" i="0" kern="1200" dirty="0" smtClean="0">
                <a:solidFill>
                  <a:schemeClr val="tx1"/>
                </a:solidFill>
                <a:effectLst/>
                <a:latin typeface="+mn-lt"/>
                <a:ea typeface="+mn-ea"/>
                <a:cs typeface="+mn-cs"/>
              </a:rPr>
              <a:t>，即微调，简单而言就是将别人训练好的网络拿来进行简单修改用于自己的学习任务。在实际操作中，通常用预训练的网络权值对自己网络的权值进行初始化，以代替原先的随机初始化。第二种称为 </a:t>
            </a:r>
            <a:r>
              <a:rPr lang="en-US" altLang="zh-CN" sz="1200" b="0" i="0" kern="1200" dirty="0" smtClean="0">
                <a:solidFill>
                  <a:schemeClr val="tx1"/>
                </a:solidFill>
                <a:effectLst/>
                <a:latin typeface="+mn-lt"/>
                <a:ea typeface="+mn-ea"/>
                <a:cs typeface="+mn-cs"/>
              </a:rPr>
              <a:t>fixed feature extractor</a:t>
            </a:r>
            <a:r>
              <a:rPr lang="zh-CN" altLang="en-US" sz="1200" b="0" i="0" kern="1200" dirty="0" smtClean="0">
                <a:solidFill>
                  <a:schemeClr val="tx1"/>
                </a:solidFill>
                <a:effectLst/>
                <a:latin typeface="+mn-lt"/>
                <a:ea typeface="+mn-ea"/>
                <a:cs typeface="+mn-cs"/>
              </a:rPr>
              <a:t>，即将预训练的网络作为新任务的特征提取器，在实际操作中通常将网络的前几层进行冻结，只训练最后的全连接层，这时候预训练网络便是一个特征提取器。</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46772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通常使用第二种训练方式的结果会略优于第一种训练方式。第一种方式在检测</a:t>
            </a:r>
            <a:r>
              <a:rPr lang="en-US" altLang="zh-CN" sz="1200" kern="1200" dirty="0" err="1" smtClean="0">
                <a:solidFill>
                  <a:schemeClr val="tx1"/>
                </a:solidFill>
                <a:effectLst/>
                <a:latin typeface="+mn-lt"/>
                <a:ea typeface="+mn-ea"/>
                <a:cs typeface="+mn-cs"/>
              </a:rPr>
              <a:t>voc</a:t>
            </a:r>
            <a:r>
              <a:rPr lang="zh-CN" altLang="zh-CN" sz="1200" kern="1200" dirty="0" smtClean="0">
                <a:solidFill>
                  <a:schemeClr val="tx1"/>
                </a:solidFill>
                <a:effectLst/>
                <a:latin typeface="+mn-lt"/>
                <a:ea typeface="+mn-ea"/>
                <a:cs typeface="+mn-cs"/>
              </a:rPr>
              <a:t>公开数据集上有较好的效果，因为整个网络的权重就是在</a:t>
            </a:r>
            <a:r>
              <a:rPr lang="en-US" altLang="zh-CN" sz="1200" kern="1200" dirty="0" err="1" smtClean="0">
                <a:solidFill>
                  <a:schemeClr val="tx1"/>
                </a:solidFill>
                <a:effectLst/>
                <a:latin typeface="+mn-lt"/>
                <a:ea typeface="+mn-ea"/>
                <a:cs typeface="+mn-cs"/>
              </a:rPr>
              <a:t>voc</a:t>
            </a:r>
            <a:r>
              <a:rPr lang="zh-CN" altLang="zh-CN" sz="1200" kern="1200" dirty="0" smtClean="0">
                <a:solidFill>
                  <a:schemeClr val="tx1"/>
                </a:solidFill>
                <a:effectLst/>
                <a:latin typeface="+mn-lt"/>
                <a:ea typeface="+mn-ea"/>
                <a:cs typeface="+mn-cs"/>
              </a:rPr>
              <a:t>数据集上训练而得。而使用主干网络的预训练方法，在自己的数据集上检测效果更好。本实验手册结果截图使用第一种训练方式而得，推荐使用第二种训练方式，</a:t>
            </a:r>
            <a:r>
              <a:rPr lang="zh-CN" altLang="en-US" sz="1200" kern="1200" dirty="0" smtClean="0">
                <a:solidFill>
                  <a:schemeClr val="tx1"/>
                </a:solidFill>
                <a:effectLst/>
                <a:latin typeface="+mn-lt"/>
                <a:ea typeface="+mn-ea"/>
                <a:cs typeface="+mn-cs"/>
              </a:rPr>
              <a:t>可</a:t>
            </a:r>
            <a:r>
              <a:rPr lang="zh-CN" altLang="zh-CN" sz="1200" kern="1200" dirty="0" smtClean="0">
                <a:solidFill>
                  <a:schemeClr val="tx1"/>
                </a:solidFill>
                <a:effectLst/>
                <a:latin typeface="+mn-lt"/>
                <a:ea typeface="+mn-ea"/>
                <a:cs typeface="+mn-cs"/>
              </a:rPr>
              <a:t>与实验手册结果进行对比。</a:t>
            </a:r>
            <a:endParaRPr lang="en-US" altLang="zh-CN" sz="120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关于其他可选参数的修改，代码中有极为详细的注释，这里不做赘述。</a:t>
            </a:r>
          </a:p>
          <a:p>
            <a:pPr marL="0" marR="0" indent="0" algn="l" defTabSz="914400" rtl="0" eaLnBrk="1" fontAlgn="base" latinLnBrk="0" hangingPunct="1">
              <a:lnSpc>
                <a:spcPct val="100000"/>
              </a:lnSpc>
              <a:spcBef>
                <a:spcPct val="0"/>
              </a:spcBef>
              <a:spcAft>
                <a:spcPct val="0"/>
              </a:spcAft>
              <a:buClrTx/>
              <a:buSzTx/>
              <a:buFontTx/>
              <a:buNone/>
              <a:tabLst/>
              <a:defRPr/>
            </a:pP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4264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73510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96497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23842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 xmlns:a16="http://schemas.microsoft.com/office/drawing/2014/main"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 xmlns:a16="http://schemas.microsoft.com/office/drawing/2014/main"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 xmlns:a16="http://schemas.microsoft.com/office/drawing/2014/main"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 xmlns:a16="http://schemas.microsoft.com/office/drawing/2014/main"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 xmlns:a16="http://schemas.microsoft.com/office/drawing/2014/main"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 xmlns:a16="http://schemas.microsoft.com/office/drawing/2014/main"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 xmlns:a16="http://schemas.microsoft.com/office/drawing/2014/main"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 xmlns:a16="http://schemas.microsoft.com/office/drawing/2014/main"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 xmlns:a16="http://schemas.microsoft.com/office/drawing/2014/main"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 xmlns:a16="http://schemas.microsoft.com/office/drawing/2014/main"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 xmlns:a16="http://schemas.microsoft.com/office/drawing/2014/main"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 xmlns:a16="http://schemas.microsoft.com/office/drawing/2014/main"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 xmlns:a16="http://schemas.microsoft.com/office/drawing/2014/main"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 xmlns:a16="http://schemas.microsoft.com/office/drawing/2014/main"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 xmlns:a16="http://schemas.microsoft.com/office/drawing/2014/main"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 xmlns:a16="http://schemas.microsoft.com/office/drawing/2014/main"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 xmlns:a16="http://schemas.microsoft.com/office/drawing/2014/main"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 xmlns:a16="http://schemas.microsoft.com/office/drawing/2014/main"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 xmlns:a16="http://schemas.microsoft.com/office/drawing/2014/main"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 xmlns:a16="http://schemas.microsoft.com/office/drawing/2014/main"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 xmlns:a16="http://schemas.microsoft.com/office/drawing/2014/main"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 xmlns:a16="http://schemas.microsoft.com/office/drawing/2014/main"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 xmlns:a16="http://schemas.microsoft.com/office/drawing/2014/main"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 xmlns:a16="http://schemas.microsoft.com/office/drawing/2014/main"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 xmlns:a16="http://schemas.microsoft.com/office/drawing/2014/main"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 xmlns:a16="http://schemas.microsoft.com/office/drawing/2014/main"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 xmlns:a16="http://schemas.microsoft.com/office/drawing/2014/main"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 xmlns:a16="http://schemas.microsoft.com/office/drawing/2014/main"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 xmlns:a16="http://schemas.microsoft.com/office/drawing/2014/main"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 xmlns:a16="http://schemas.microsoft.com/office/drawing/2014/main"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 xmlns:a16="http://schemas.microsoft.com/office/drawing/2014/main"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 xmlns:a16="http://schemas.microsoft.com/office/drawing/2014/main"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 xmlns:a16="http://schemas.microsoft.com/office/drawing/2014/main"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 xmlns:a16="http://schemas.microsoft.com/office/drawing/2014/main"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 xmlns:a16="http://schemas.microsoft.com/office/drawing/2014/main"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 xmlns:a16="http://schemas.microsoft.com/office/drawing/2014/main"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 xmlns:a16="http://schemas.microsoft.com/office/drawing/2014/main"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 xmlns:a16="http://schemas.microsoft.com/office/drawing/2014/main"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 xmlns:a16="http://schemas.microsoft.com/office/drawing/2014/main"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 xmlns:a16="http://schemas.microsoft.com/office/drawing/2014/main"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 xmlns:a16="http://schemas.microsoft.com/office/drawing/2014/main"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 xmlns:a16="http://schemas.microsoft.com/office/drawing/2014/main"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 xmlns:a16="http://schemas.microsoft.com/office/drawing/2014/main"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 xmlns:a16="http://schemas.microsoft.com/office/drawing/2014/main"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 xmlns:a16="http://schemas.microsoft.com/office/drawing/2014/main"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 xmlns:a16="http://schemas.microsoft.com/office/drawing/2014/main"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 xmlns:a16="http://schemas.microsoft.com/office/drawing/2014/main"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 xmlns:a16="http://schemas.microsoft.com/office/drawing/2014/main"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 xmlns:a16="http://schemas.microsoft.com/office/drawing/2014/main"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 xmlns:a16="http://schemas.microsoft.com/office/drawing/2014/main"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 xmlns:a16="http://schemas.microsoft.com/office/drawing/2014/main"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 xmlns:a16="http://schemas.microsoft.com/office/drawing/2014/main"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 xmlns:a16="http://schemas.microsoft.com/office/drawing/2014/main"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 xmlns:a16="http://schemas.microsoft.com/office/drawing/2014/main"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 xmlns:a16="http://schemas.microsoft.com/office/drawing/2014/main"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 xmlns:a16="http://schemas.microsoft.com/office/drawing/2014/main"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 xmlns:a16="http://schemas.microsoft.com/office/drawing/2014/main"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 xmlns:a16="http://schemas.microsoft.com/office/drawing/2014/main"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 xmlns:a16="http://schemas.microsoft.com/office/drawing/2014/main"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 xmlns:a16="http://schemas.microsoft.com/office/drawing/2014/main"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 xmlns:a16="http://schemas.microsoft.com/office/drawing/2014/main"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 xmlns:a16="http://schemas.microsoft.com/office/drawing/2014/main"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 xmlns:a16="http://schemas.microsoft.com/office/drawing/2014/main"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 xmlns:a16="http://schemas.microsoft.com/office/drawing/2014/main"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 xmlns:a16="http://schemas.microsoft.com/office/drawing/2014/main"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 xmlns:a16="http://schemas.microsoft.com/office/drawing/2014/main"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 xmlns:a16="http://schemas.microsoft.com/office/drawing/2014/main"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 xmlns:a16="http://schemas.microsoft.com/office/drawing/2014/main"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 xmlns:a16="http://schemas.microsoft.com/office/drawing/2014/main"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 xmlns:a16="http://schemas.microsoft.com/office/drawing/2014/main"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 xmlns:a16="http://schemas.microsoft.com/office/drawing/2014/main"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 xmlns:a16="http://schemas.microsoft.com/office/drawing/2014/main"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 xmlns:a16="http://schemas.microsoft.com/office/drawing/2014/main"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 xmlns:a16="http://schemas.microsoft.com/office/drawing/2014/main"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 xmlns:a16="http://schemas.microsoft.com/office/drawing/2014/main"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 xmlns:a16="http://schemas.microsoft.com/office/drawing/2014/main"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 xmlns:a16="http://schemas.microsoft.com/office/drawing/2014/main"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 xmlns:a16="http://schemas.microsoft.com/office/drawing/2014/main"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 xmlns:a16="http://schemas.microsoft.com/office/drawing/2014/main"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 xmlns:a16="http://schemas.microsoft.com/office/drawing/2014/main"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 xmlns:a16="http://schemas.microsoft.com/office/drawing/2014/main"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 xmlns:a16="http://schemas.microsoft.com/office/drawing/2014/main"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 xmlns:a16="http://schemas.microsoft.com/office/drawing/2014/main"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 xmlns:a16="http://schemas.microsoft.com/office/drawing/2014/main"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 xmlns:a16="http://schemas.microsoft.com/office/drawing/2014/main"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 xmlns:a16="http://schemas.microsoft.com/office/drawing/2014/main"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 xmlns:a16="http://schemas.microsoft.com/office/drawing/2014/main"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 xmlns:a16="http://schemas.microsoft.com/office/drawing/2014/main"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 xmlns:a16="http://schemas.microsoft.com/office/drawing/2014/main"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 xmlns:a16="http://schemas.microsoft.com/office/drawing/2014/main"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 xmlns:a16="http://schemas.microsoft.com/office/drawing/2014/main"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 xmlns:a16="http://schemas.microsoft.com/office/drawing/2014/main"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 xmlns:a16="http://schemas.microsoft.com/office/drawing/2014/main"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 xmlns:a16="http://schemas.microsoft.com/office/drawing/2014/main"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 xmlns:a16="http://schemas.microsoft.com/office/drawing/2014/main"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 xmlns:a16="http://schemas.microsoft.com/office/drawing/2014/main"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 xmlns:a16="http://schemas.microsoft.com/office/drawing/2014/main"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 xmlns:a16="http://schemas.microsoft.com/office/drawing/2014/main"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 xmlns:a16="http://schemas.microsoft.com/office/drawing/2014/main"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 xmlns:a16="http://schemas.microsoft.com/office/drawing/2014/main"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 xmlns:a16="http://schemas.microsoft.com/office/drawing/2014/main"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 xmlns:a16="http://schemas.microsoft.com/office/drawing/2014/main"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 xmlns:a16="http://schemas.microsoft.com/office/drawing/2014/main"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 xmlns:a16="http://schemas.microsoft.com/office/drawing/2014/main"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 xmlns:a16="http://schemas.microsoft.com/office/drawing/2014/main"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 xmlns:a16="http://schemas.microsoft.com/office/drawing/2014/main"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 xmlns:a16="http://schemas.microsoft.com/office/drawing/2014/main"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 xmlns:a16="http://schemas.microsoft.com/office/drawing/2014/main"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 xmlns:a16="http://schemas.microsoft.com/office/drawing/2014/main"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 xmlns:a16="http://schemas.microsoft.com/office/drawing/2014/main"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 xmlns:a16="http://schemas.microsoft.com/office/drawing/2014/main"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 xmlns:a16="http://schemas.microsoft.com/office/drawing/2014/main"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 xmlns:a16="http://schemas.microsoft.com/office/drawing/2014/main"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 xmlns:a16="http://schemas.microsoft.com/office/drawing/2014/main"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 xmlns:a16="http://schemas.microsoft.com/office/drawing/2014/main"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 xmlns:a16="http://schemas.microsoft.com/office/drawing/2014/main"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 xmlns:a16="http://schemas.microsoft.com/office/drawing/2014/main"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 xmlns:a16="http://schemas.microsoft.com/office/drawing/2014/main"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 xmlns:a16="http://schemas.microsoft.com/office/drawing/2014/main"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 xmlns:a16="http://schemas.microsoft.com/office/drawing/2014/main"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 xmlns:a16="http://schemas.microsoft.com/office/drawing/2014/main"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 xmlns:a16="http://schemas.microsoft.com/office/drawing/2014/main"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 xmlns:a16="http://schemas.microsoft.com/office/drawing/2014/main"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 xmlns:a16="http://schemas.microsoft.com/office/drawing/2014/main"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 xmlns:a16="http://schemas.microsoft.com/office/drawing/2014/main"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 xmlns:a16="http://schemas.microsoft.com/office/drawing/2014/main"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 xmlns:a16="http://schemas.microsoft.com/office/drawing/2014/main"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 xmlns:a16="http://schemas.microsoft.com/office/drawing/2014/main"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 xmlns:a16="http://schemas.microsoft.com/office/drawing/2014/main"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 xmlns:a16="http://schemas.microsoft.com/office/drawing/2014/main"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 xmlns:a16="http://schemas.microsoft.com/office/drawing/2014/main"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 xmlns:a16="http://schemas.microsoft.com/office/drawing/2014/main"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 xmlns:a16="http://schemas.microsoft.com/office/drawing/2014/main"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 xmlns:a16="http://schemas.microsoft.com/office/drawing/2014/main"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 xmlns:a16="http://schemas.microsoft.com/office/drawing/2014/main"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 xmlns:a16="http://schemas.microsoft.com/office/drawing/2014/main"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 xmlns:a16="http://schemas.microsoft.com/office/drawing/2014/main"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 xmlns:a16="http://schemas.microsoft.com/office/drawing/2014/main"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 xmlns:a16="http://schemas.microsoft.com/office/drawing/2014/main"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 xmlns:a16="http://schemas.microsoft.com/office/drawing/2014/main"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 xmlns:a16="http://schemas.microsoft.com/office/drawing/2014/main"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 xmlns:a16="http://schemas.microsoft.com/office/drawing/2014/main"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 xmlns:a16="http://schemas.microsoft.com/office/drawing/2014/main"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 xmlns:a16="http://schemas.microsoft.com/office/drawing/2014/main"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 xmlns:a16="http://schemas.microsoft.com/office/drawing/2014/main"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 xmlns:a16="http://schemas.microsoft.com/office/drawing/2014/main"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 xmlns:a16="http://schemas.microsoft.com/office/drawing/2014/main"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 xmlns:a16="http://schemas.microsoft.com/office/drawing/2014/main"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 xmlns:a16="http://schemas.microsoft.com/office/drawing/2014/main"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 xmlns:a16="http://schemas.microsoft.com/office/drawing/2014/main"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 xmlns:a16="http://schemas.microsoft.com/office/drawing/2014/main"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 xmlns:a16="http://schemas.microsoft.com/office/drawing/2014/main"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 xmlns:a16="http://schemas.microsoft.com/office/drawing/2014/main"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 xmlns:a16="http://schemas.microsoft.com/office/drawing/2014/main"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 xmlns:a16="http://schemas.microsoft.com/office/drawing/2014/main"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 xmlns:a16="http://schemas.microsoft.com/office/drawing/2014/main"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 xmlns:a16="http://schemas.microsoft.com/office/drawing/2014/main"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 xmlns:a16="http://schemas.microsoft.com/office/drawing/2014/main"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 xmlns:a16="http://schemas.microsoft.com/office/drawing/2014/main"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 xmlns:a16="http://schemas.microsoft.com/office/drawing/2014/main"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 xmlns:a16="http://schemas.microsoft.com/office/drawing/2014/main"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 xmlns:a16="http://schemas.microsoft.com/office/drawing/2014/main"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 xmlns:a16="http://schemas.microsoft.com/office/drawing/2014/main"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 xmlns:a16="http://schemas.microsoft.com/office/drawing/2014/main"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 xmlns:a16="http://schemas.microsoft.com/office/drawing/2014/main"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 xmlns:a16="http://schemas.microsoft.com/office/drawing/2014/main"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 xmlns:a16="http://schemas.microsoft.com/office/drawing/2014/main"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 xmlns:a16="http://schemas.microsoft.com/office/drawing/2014/main"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 xmlns:a16="http://schemas.microsoft.com/office/drawing/2014/main"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 xmlns:a16="http://schemas.microsoft.com/office/drawing/2014/main"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 xmlns:a16="http://schemas.microsoft.com/office/drawing/2014/main"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 xmlns:a16="http://schemas.microsoft.com/office/drawing/2014/main"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 xmlns:a16="http://schemas.microsoft.com/office/drawing/2014/main"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 xmlns:a16="http://schemas.microsoft.com/office/drawing/2014/main"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 xmlns:a16="http://schemas.microsoft.com/office/drawing/2014/main"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 xmlns:a16="http://schemas.microsoft.com/office/drawing/2014/main"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 xmlns:a16="http://schemas.microsoft.com/office/drawing/2014/main"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 xmlns:a16="http://schemas.microsoft.com/office/drawing/2014/main"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 xmlns:a16="http://schemas.microsoft.com/office/drawing/2014/main"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 xmlns:a16="http://schemas.microsoft.com/office/drawing/2014/main"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 xmlns:a16="http://schemas.microsoft.com/office/drawing/2014/main"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 xmlns:a16="http://schemas.microsoft.com/office/drawing/2014/main"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 xmlns:a16="http://schemas.microsoft.com/office/drawing/2014/main"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 xmlns:a16="http://schemas.microsoft.com/office/drawing/2014/main"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 xmlns:a16="http://schemas.microsoft.com/office/drawing/2014/main"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 xmlns:a16="http://schemas.microsoft.com/office/drawing/2014/main"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 xmlns:a16="http://schemas.microsoft.com/office/drawing/2014/main"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 xmlns:a16="http://schemas.microsoft.com/office/drawing/2014/main"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 xmlns:a16="http://schemas.microsoft.com/office/drawing/2014/main"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 xmlns:a16="http://schemas.microsoft.com/office/drawing/2014/main"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 xmlns:a16="http://schemas.microsoft.com/office/drawing/2014/main"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 xmlns:a16="http://schemas.microsoft.com/office/drawing/2014/main"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 xmlns:a16="http://schemas.microsoft.com/office/drawing/2014/main"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 xmlns:a16="http://schemas.microsoft.com/office/drawing/2014/main"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 xmlns:a16="http://schemas.microsoft.com/office/drawing/2014/main"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 xmlns:a16="http://schemas.microsoft.com/office/drawing/2014/main"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 xmlns:a16="http://schemas.microsoft.com/office/drawing/2014/main"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 xmlns:a16="http://schemas.microsoft.com/office/drawing/2014/main"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 xmlns:a16="http://schemas.microsoft.com/office/drawing/2014/main"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 xmlns:a16="http://schemas.microsoft.com/office/drawing/2014/main"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 xmlns:a16="http://schemas.microsoft.com/office/drawing/2014/main"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 xmlns:a16="http://schemas.microsoft.com/office/drawing/2014/main"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 xmlns:a16="http://schemas.microsoft.com/office/drawing/2014/main"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 xmlns:a16="http://schemas.microsoft.com/office/drawing/2014/main"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 xmlns:a16="http://schemas.microsoft.com/office/drawing/2014/main"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 xmlns:a16="http://schemas.microsoft.com/office/drawing/2014/main"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 xmlns:a16="http://schemas.microsoft.com/office/drawing/2014/main"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 xmlns:a16="http://schemas.microsoft.com/office/drawing/2014/main"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 xmlns:a16="http://schemas.microsoft.com/office/drawing/2014/main"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 xmlns:a16="http://schemas.microsoft.com/office/drawing/2014/main"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 xmlns:a16="http://schemas.microsoft.com/office/drawing/2014/main"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 xmlns:a16="http://schemas.microsoft.com/office/drawing/2014/main"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 xmlns:a16="http://schemas.microsoft.com/office/drawing/2014/main"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 xmlns:a16="http://schemas.microsoft.com/office/drawing/2014/main"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 xmlns:a16="http://schemas.microsoft.com/office/drawing/2014/main"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 xmlns:a16="http://schemas.microsoft.com/office/drawing/2014/main"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 xmlns:a16="http://schemas.microsoft.com/office/drawing/2014/main"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 xmlns:a16="http://schemas.microsoft.com/office/drawing/2014/main"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 xmlns:a16="http://schemas.microsoft.com/office/drawing/2014/main"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 xmlns:a16="http://schemas.microsoft.com/office/drawing/2014/main"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 xmlns:a16="http://schemas.microsoft.com/office/drawing/2014/main"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 xmlns:a16="http://schemas.microsoft.com/office/drawing/2014/main"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 xmlns:a16="http://schemas.microsoft.com/office/drawing/2014/main"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 xmlns:a16="http://schemas.microsoft.com/office/drawing/2014/main"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 xmlns:a16="http://schemas.microsoft.com/office/drawing/2014/main"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 xmlns:a16="http://schemas.microsoft.com/office/drawing/2014/main"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 xmlns:a16="http://schemas.microsoft.com/office/drawing/2014/main"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 xmlns:a16="http://schemas.microsoft.com/office/drawing/2014/main"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 xmlns:a16="http://schemas.microsoft.com/office/drawing/2014/main"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 xmlns:a16="http://schemas.microsoft.com/office/drawing/2014/main"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 xmlns:a16="http://schemas.microsoft.com/office/drawing/2014/main"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 xmlns:a16="http://schemas.microsoft.com/office/drawing/2014/main"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 xmlns:a16="http://schemas.microsoft.com/office/drawing/2014/main"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 xmlns:a16="http://schemas.microsoft.com/office/drawing/2014/main"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 xmlns:a16="http://schemas.microsoft.com/office/drawing/2014/main"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 xmlns:a16="http://schemas.microsoft.com/office/drawing/2014/main"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 xmlns:a16="http://schemas.microsoft.com/office/drawing/2014/main"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 xmlns:a16="http://schemas.microsoft.com/office/drawing/2014/main"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 xmlns:a16="http://schemas.microsoft.com/office/drawing/2014/main"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 xmlns:a16="http://schemas.microsoft.com/office/drawing/2014/main"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 xmlns:a16="http://schemas.microsoft.com/office/drawing/2014/main"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 xmlns:a16="http://schemas.microsoft.com/office/drawing/2014/main"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 xmlns:a16="http://schemas.microsoft.com/office/drawing/2014/main"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 xmlns:a16="http://schemas.microsoft.com/office/drawing/2014/main"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 xmlns:a16="http://schemas.microsoft.com/office/drawing/2014/main"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 xmlns:a16="http://schemas.microsoft.com/office/drawing/2014/main"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 xmlns:a16="http://schemas.microsoft.com/office/drawing/2014/main"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 xmlns:a16="http://schemas.microsoft.com/office/drawing/2014/main"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 xmlns:a16="http://schemas.microsoft.com/office/drawing/2014/main"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 xmlns:a16="http://schemas.microsoft.com/office/drawing/2014/main"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 xmlns:a16="http://schemas.microsoft.com/office/drawing/2014/main"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 xmlns:a16="http://schemas.microsoft.com/office/drawing/2014/main"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 xmlns:a16="http://schemas.microsoft.com/office/drawing/2014/main"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 xmlns:a16="http://schemas.microsoft.com/office/drawing/2014/main"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 xmlns:a16="http://schemas.microsoft.com/office/drawing/2014/main"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 xmlns:a16="http://schemas.microsoft.com/office/drawing/2014/main"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 xmlns:a16="http://schemas.microsoft.com/office/drawing/2014/main"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 xmlns:a16="http://schemas.microsoft.com/office/drawing/2014/main"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 xmlns:a16="http://schemas.microsoft.com/office/drawing/2014/main"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 xmlns:a16="http://schemas.microsoft.com/office/drawing/2014/main"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 xmlns:a16="http://schemas.microsoft.com/office/drawing/2014/main"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 xmlns:a16="http://schemas.microsoft.com/office/drawing/2014/main"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 xmlns:a16="http://schemas.microsoft.com/office/drawing/2014/main"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 xmlns:a16="http://schemas.microsoft.com/office/drawing/2014/main"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 xmlns:a16="http://schemas.microsoft.com/office/drawing/2014/main"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 xmlns:a16="http://schemas.microsoft.com/office/drawing/2014/main"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 xmlns:a16="http://schemas.microsoft.com/office/drawing/2014/main"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 xmlns:a16="http://schemas.microsoft.com/office/drawing/2014/main"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 xmlns:a16="http://schemas.microsoft.com/office/drawing/2014/main"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 xmlns:a16="http://schemas.microsoft.com/office/drawing/2014/main"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 xmlns:a16="http://schemas.microsoft.com/office/drawing/2014/main"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 xmlns:a16="http://schemas.microsoft.com/office/drawing/2014/main"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 xmlns:a16="http://schemas.microsoft.com/office/drawing/2014/main"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 xmlns:a16="http://schemas.microsoft.com/office/drawing/2014/main"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 xmlns:a16="http://schemas.microsoft.com/office/drawing/2014/main"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 xmlns:a16="http://schemas.microsoft.com/office/drawing/2014/main"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 xmlns:a16="http://schemas.microsoft.com/office/drawing/2014/main"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 xmlns:a16="http://schemas.microsoft.com/office/drawing/2014/main"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 xmlns:a16="http://schemas.microsoft.com/office/drawing/2014/main"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 xmlns:a16="http://schemas.microsoft.com/office/drawing/2014/main"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 xmlns:a16="http://schemas.microsoft.com/office/drawing/2014/main"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 xmlns:a16="http://schemas.microsoft.com/office/drawing/2014/main"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 xmlns:a16="http://schemas.microsoft.com/office/drawing/2014/main"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 xmlns:a16="http://schemas.microsoft.com/office/drawing/2014/main"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 xmlns:a16="http://schemas.microsoft.com/office/drawing/2014/main"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 xmlns:a16="http://schemas.microsoft.com/office/drawing/2014/main"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 xmlns:a16="http://schemas.microsoft.com/office/drawing/2014/main"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 xmlns:a16="http://schemas.microsoft.com/office/drawing/2014/main"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 xmlns:a16="http://schemas.microsoft.com/office/drawing/2014/main"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 xmlns:a16="http://schemas.microsoft.com/office/drawing/2014/main"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 xmlns:a16="http://schemas.microsoft.com/office/drawing/2014/main"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 xmlns:a16="http://schemas.microsoft.com/office/drawing/2014/main"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 xmlns:a16="http://schemas.microsoft.com/office/drawing/2014/main"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 xmlns:a16="http://schemas.microsoft.com/office/drawing/2014/main"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 xmlns:a16="http://schemas.microsoft.com/office/drawing/2014/main"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 xmlns:a16="http://schemas.microsoft.com/office/drawing/2014/main"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 xmlns:a16="http://schemas.microsoft.com/office/drawing/2014/main"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 xmlns:a16="http://schemas.microsoft.com/office/drawing/2014/main"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 xmlns:a16="http://schemas.microsoft.com/office/drawing/2014/main"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 xmlns:a16="http://schemas.microsoft.com/office/drawing/2014/main"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 xmlns:a16="http://schemas.microsoft.com/office/drawing/2014/main"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 xmlns:a16="http://schemas.microsoft.com/office/drawing/2014/main"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 xmlns:a16="http://schemas.microsoft.com/office/drawing/2014/main"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 xmlns:a16="http://schemas.microsoft.com/office/drawing/2014/main"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 xmlns:a16="http://schemas.microsoft.com/office/drawing/2014/main"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 xmlns:a16="http://schemas.microsoft.com/office/drawing/2014/main"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 xmlns:a16="http://schemas.microsoft.com/office/drawing/2014/main"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 xmlns:a16="http://schemas.microsoft.com/office/drawing/2014/main"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 xmlns:a16="http://schemas.microsoft.com/office/drawing/2014/main"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 xmlns:a16="http://schemas.microsoft.com/office/drawing/2014/main"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 xmlns:a16="http://schemas.microsoft.com/office/drawing/2014/main"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 xmlns:a16="http://schemas.microsoft.com/office/drawing/2014/main"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 xmlns:a16="http://schemas.microsoft.com/office/drawing/2014/main"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 xmlns:a16="http://schemas.microsoft.com/office/drawing/2014/main"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 xmlns:a16="http://schemas.microsoft.com/office/drawing/2014/main"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 xmlns:a16="http://schemas.microsoft.com/office/drawing/2014/main"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 xmlns:a16="http://schemas.microsoft.com/office/drawing/2014/main"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 xmlns:a16="http://schemas.microsoft.com/office/drawing/2014/main"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 xmlns:a16="http://schemas.microsoft.com/office/drawing/2014/main"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 xmlns:a16="http://schemas.microsoft.com/office/drawing/2014/main"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 xmlns:a16="http://schemas.microsoft.com/office/drawing/2014/main"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 xmlns:a16="http://schemas.microsoft.com/office/drawing/2014/main"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 xmlns:a16="http://schemas.microsoft.com/office/drawing/2014/main"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 xmlns:a16="http://schemas.microsoft.com/office/drawing/2014/main"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 xmlns:a16="http://schemas.microsoft.com/office/drawing/2014/main"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 xmlns:a16="http://schemas.microsoft.com/office/drawing/2014/main"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 xmlns:a16="http://schemas.microsoft.com/office/drawing/2014/main"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 xmlns:a16="http://schemas.microsoft.com/office/drawing/2014/main"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 xmlns:a16="http://schemas.microsoft.com/office/drawing/2014/main"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 xmlns:a16="http://schemas.microsoft.com/office/drawing/2014/main"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 xmlns:a16="http://schemas.microsoft.com/office/drawing/2014/main"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 xmlns:a16="http://schemas.microsoft.com/office/drawing/2014/main"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 xmlns:a16="http://schemas.microsoft.com/office/drawing/2014/main"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 xmlns:a16="http://schemas.microsoft.com/office/drawing/2014/main"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 xmlns:a16="http://schemas.microsoft.com/office/drawing/2014/main"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 xmlns:a16="http://schemas.microsoft.com/office/drawing/2014/main"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 xmlns:a16="http://schemas.microsoft.com/office/drawing/2014/main"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 xmlns:a16="http://schemas.microsoft.com/office/drawing/2014/main"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 xmlns:a16="http://schemas.microsoft.com/office/drawing/2014/main"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 xmlns:a16="http://schemas.microsoft.com/office/drawing/2014/main"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 xmlns:a16="http://schemas.microsoft.com/office/drawing/2014/main"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 xmlns:a16="http://schemas.microsoft.com/office/drawing/2014/main"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 xmlns:a16="http://schemas.microsoft.com/office/drawing/2014/main"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 xmlns:a16="http://schemas.microsoft.com/office/drawing/2014/main"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 xmlns:a16="http://schemas.microsoft.com/office/drawing/2014/main"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 xmlns:a16="http://schemas.microsoft.com/office/drawing/2014/main"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 xmlns:a16="http://schemas.microsoft.com/office/drawing/2014/main"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 xmlns:a16="http://schemas.microsoft.com/office/drawing/2014/main"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 xmlns:a16="http://schemas.microsoft.com/office/drawing/2014/main"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 xmlns:a16="http://schemas.microsoft.com/office/drawing/2014/main"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 xmlns:a16="http://schemas.microsoft.com/office/drawing/2014/main"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 xmlns:a16="http://schemas.microsoft.com/office/drawing/2014/main"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 xmlns:a16="http://schemas.microsoft.com/office/drawing/2014/main"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 xmlns:a16="http://schemas.microsoft.com/office/drawing/2014/main"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 xmlns:a16="http://schemas.microsoft.com/office/drawing/2014/main"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 xmlns:a16="http://schemas.microsoft.com/office/drawing/2014/main"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 xmlns:a16="http://schemas.microsoft.com/office/drawing/2014/main"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 xmlns:a16="http://schemas.microsoft.com/office/drawing/2014/main"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 xmlns:a16="http://schemas.microsoft.com/office/drawing/2014/main"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 xmlns:a16="http://schemas.microsoft.com/office/drawing/2014/main"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 xmlns:a16="http://schemas.microsoft.com/office/drawing/2014/main"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 xmlns:a16="http://schemas.microsoft.com/office/drawing/2014/main"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 xmlns:a16="http://schemas.microsoft.com/office/drawing/2014/main"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 xmlns:a16="http://schemas.microsoft.com/office/drawing/2014/main"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 xmlns:a16="http://schemas.microsoft.com/office/drawing/2014/main"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 xmlns:a16="http://schemas.microsoft.com/office/drawing/2014/main"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 xmlns:a16="http://schemas.microsoft.com/office/drawing/2014/main"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 xmlns:a16="http://schemas.microsoft.com/office/drawing/2014/main"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 xmlns:a16="http://schemas.microsoft.com/office/drawing/2014/main"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 xmlns:a16="http://schemas.microsoft.com/office/drawing/2014/main"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 xmlns:a16="http://schemas.microsoft.com/office/drawing/2014/main"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 xmlns:a16="http://schemas.microsoft.com/office/drawing/2014/main"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 xmlns:a16="http://schemas.microsoft.com/office/drawing/2014/main"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 xmlns:a16="http://schemas.microsoft.com/office/drawing/2014/main"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 xmlns:a16="http://schemas.microsoft.com/office/drawing/2014/main"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 xmlns:a16="http://schemas.microsoft.com/office/drawing/2014/main"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 xmlns:a16="http://schemas.microsoft.com/office/drawing/2014/main"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mirrors.aliyun.com/pypi/simple/" TargetMode="External"/><Relationship Id="rId7" Type="http://schemas.openxmlformats.org/officeDocument/2006/relationships/hyperlink" Target="https://************&#65288;&#22269;&#20869;&#38236;&#20687;&#28304;"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hyperlink" Target="https://pypi.tuna.tsinghua.edu.cn/simple/" TargetMode="External"/><Relationship Id="rId5" Type="http://schemas.openxmlformats.org/officeDocument/2006/relationships/hyperlink" Target="http://pypi.douban.com/simple/" TargetMode="External"/><Relationship Id="rId4" Type="http://schemas.openxmlformats.org/officeDocument/2006/relationships/hyperlink" Target="https://pypi.mirrors.ustc.edu.cn/simple/"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 xmlns:a16="http://schemas.microsoft.com/office/drawing/2014/main" id="{5C674A10-3091-4452-A509-500FDC13F4FE}"/>
              </a:ext>
            </a:extLst>
          </p:cNvPr>
          <p:cNvSpPr>
            <a:spLocks noGrp="1"/>
          </p:cNvSpPr>
          <p:nvPr>
            <p:ph type="subTitle" idx="1"/>
          </p:nvPr>
        </p:nvSpPr>
        <p:spPr/>
        <p:txBody>
          <a:bodyPr/>
          <a:lstStyle/>
          <a:p>
            <a:r>
              <a:rPr lang="zh-CN" altLang="en-US" smtClean="0"/>
              <a:t>实验：一</a:t>
            </a:r>
            <a:r>
              <a:rPr lang="zh-CN" altLang="en-US" dirty="0" smtClean="0"/>
              <a:t>阶段</a:t>
            </a:r>
            <a:r>
              <a:rPr lang="zh-CN" altLang="en-US" smtClean="0"/>
              <a:t>算法模型训练</a:t>
            </a:r>
            <a:endParaRPr lang="zh-CN" altLang="en-US" dirty="0"/>
          </a:p>
        </p:txBody>
      </p:sp>
      <p:sp>
        <p:nvSpPr>
          <p:cNvPr id="3" name="标题 2">
            <a:extLst>
              <a:ext uri="{FF2B5EF4-FFF2-40B4-BE49-F238E27FC236}">
                <a16:creationId xmlns="" xmlns:a16="http://schemas.microsoft.com/office/drawing/2014/main"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 xmlns:a16="http://schemas.microsoft.com/office/drawing/2014/main"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 xmlns:a16="http://schemas.microsoft.com/office/drawing/2014/main"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修改训练模型的各个参数</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训练一阶段</a:t>
            </a:r>
            <a:r>
              <a:rPr kumimoji="1" lang="zh-CN" altLang="en-US" dirty="0">
                <a:latin typeface="微软雅黑" panose="020B0503020204020204" pitchFamily="34" charset="-122"/>
                <a:ea typeface="微软雅黑" panose="020B0503020204020204" pitchFamily="34" charset="-122"/>
              </a:rPr>
              <a:t>算法</a:t>
            </a:r>
            <a:r>
              <a:rPr kumimoji="1" lang="zh-CN" altLang="en-US" dirty="0" smtClean="0">
                <a:latin typeface="微软雅黑" panose="020B0503020204020204" pitchFamily="34" charset="-122"/>
                <a:ea typeface="微软雅黑" panose="020B0503020204020204" pitchFamily="34" charset="-122"/>
              </a:rPr>
              <a:t>（</a:t>
            </a:r>
            <a:r>
              <a:rPr kumimoji="1" lang="en-US" altLang="zh-CN" dirty="0" smtClean="0">
                <a:latin typeface="微软雅黑" panose="020B0503020204020204" pitchFamily="34" charset="-122"/>
                <a:ea typeface="微软雅黑" panose="020B0503020204020204" pitchFamily="34" charset="-122"/>
              </a:rPr>
              <a:t>Yolov4-tiny</a:t>
            </a:r>
            <a:r>
              <a:rPr kumimoji="1" lang="zh-CN" altLang="en-US" dirty="0" smtClean="0">
                <a:latin typeface="微软雅黑" panose="020B0503020204020204" pitchFamily="34" charset="-122"/>
                <a:ea typeface="微软雅黑" panose="020B0503020204020204" pitchFamily="34" charset="-122"/>
              </a:rPr>
              <a:t>）模型</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 xmlns:a16="http://schemas.microsoft.com/office/drawing/2014/main"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indent="-342900">
              <a:buFont typeface="+mj-lt"/>
              <a:buAutoNum type="arabicPeriod"/>
            </a:pPr>
            <a:r>
              <a:rPr lang="zh-CN" altLang="en-US" dirty="0"/>
              <a:t>使用准备好的数据集在搭建好的环境中</a:t>
            </a:r>
            <a:r>
              <a:rPr lang="zh-CN" altLang="en-US" dirty="0" smtClean="0"/>
              <a:t>训练</a:t>
            </a:r>
            <a:r>
              <a:rPr lang="en-US" altLang="zh-CN" dirty="0" smtClean="0"/>
              <a:t>Yolov4-Tiny</a:t>
            </a:r>
            <a:r>
              <a:rPr lang="zh-CN" altLang="en-US" dirty="0" smtClean="0"/>
              <a:t>模型</a:t>
            </a:r>
            <a:endParaRPr lang="en-US" altLang="zh-CN" dirty="0"/>
          </a:p>
          <a:p>
            <a:pPr marL="342900" indent="-342900">
              <a:buFont typeface="+mj-lt"/>
              <a:buAutoNum type="arabicPeriod"/>
            </a:pPr>
            <a:endParaRPr lang="zh-CN" altLang="en-US" dirty="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a:xfrm>
            <a:off x="669926" y="1130299"/>
            <a:ext cx="5269148" cy="5006975"/>
          </a:xfrm>
        </p:spPr>
        <p:txBody>
          <a:bodyPr/>
          <a:lstStyle/>
          <a:p>
            <a:pPr lvl="0"/>
            <a:r>
              <a:rPr lang="zh-CN" altLang="zh-CN" dirty="0"/>
              <a:t>运行</a:t>
            </a:r>
            <a:r>
              <a:rPr lang="en-US" altLang="zh-CN" dirty="0"/>
              <a:t>Windows</a:t>
            </a:r>
            <a:r>
              <a:rPr lang="zh-CN" altLang="zh-CN" dirty="0"/>
              <a:t>系统的</a:t>
            </a:r>
            <a:r>
              <a:rPr lang="en-US" altLang="zh-CN" dirty="0"/>
              <a:t>PC</a:t>
            </a:r>
            <a:r>
              <a:rPr lang="zh-CN" altLang="zh-CN" dirty="0"/>
              <a:t>机一台，其中包含：</a:t>
            </a:r>
          </a:p>
          <a:p>
            <a:pPr lvl="1"/>
            <a:r>
              <a:rPr lang="en-US" altLang="zh-CN" dirty="0"/>
              <a:t>CPU</a:t>
            </a:r>
            <a:r>
              <a:rPr lang="zh-CN" altLang="zh-CN" dirty="0"/>
              <a:t>版本：</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CPU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pPr lvl="0"/>
            <a:endParaRPr lang="zh-CN" altLang="zh-CN" dirty="0"/>
          </a:p>
          <a:p>
            <a:pPr>
              <a:lnSpc>
                <a:spcPct val="125000"/>
              </a:lnSpc>
            </a:pPr>
            <a:endParaRPr lang="zh-CN" altLang="en-US" dirty="0"/>
          </a:p>
        </p:txBody>
      </p:sp>
      <p:sp>
        <p:nvSpPr>
          <p:cNvPr id="4" name="内容占位符 2">
            <a:extLst>
              <a:ext uri="{FF2B5EF4-FFF2-40B4-BE49-F238E27FC236}">
                <a16:creationId xmlns="" xmlns:a16="http://schemas.microsoft.com/office/drawing/2014/main" id="{563A06F3-7CD2-4EAF-8250-D2FE6CCEE61E}"/>
              </a:ext>
            </a:extLst>
          </p:cNvPr>
          <p:cNvSpPr txBox="1">
            <a:spLocks/>
          </p:cNvSpPr>
          <p:nvPr/>
        </p:nvSpPr>
        <p:spPr bwMode="auto">
          <a:xfrm>
            <a:off x="5477347" y="1130299"/>
            <a:ext cx="6043141"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125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125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125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zh-CN" dirty="0" smtClean="0"/>
          </a:p>
          <a:p>
            <a:pPr lvl="1"/>
            <a:r>
              <a:rPr lang="en-US" altLang="zh-CN" dirty="0"/>
              <a:t>GPU</a:t>
            </a:r>
            <a:r>
              <a:rPr lang="zh-CN" altLang="zh-CN" dirty="0"/>
              <a:t>版本（需配置</a:t>
            </a:r>
            <a:r>
              <a:rPr lang="en-US" altLang="zh-CN" dirty="0"/>
              <a:t>CUDA</a:t>
            </a:r>
            <a:r>
              <a:rPr lang="zh-CN" altLang="zh-CN" dirty="0"/>
              <a:t>与</a:t>
            </a:r>
            <a:r>
              <a:rPr lang="en-US" altLang="zh-CN" dirty="0" err="1"/>
              <a:t>cuDNN</a:t>
            </a:r>
            <a:r>
              <a:rPr lang="zh-CN" altLang="zh-CN" dirty="0"/>
              <a:t>环境）：</a:t>
            </a:r>
          </a:p>
          <a:p>
            <a:pPr lvl="2"/>
            <a:r>
              <a:rPr lang="zh-CN" altLang="zh-CN" dirty="0"/>
              <a:t>高性能的</a:t>
            </a:r>
            <a:r>
              <a:rPr lang="en-US" altLang="zh-CN" dirty="0" err="1"/>
              <a:t>Nvidia</a:t>
            </a:r>
            <a:r>
              <a:rPr lang="zh-CN" altLang="zh-CN" dirty="0"/>
              <a:t>显卡（至少一块）</a:t>
            </a:r>
          </a:p>
          <a:p>
            <a:pPr lvl="2"/>
            <a:r>
              <a:rPr lang="en-US" altLang="zh-CN" dirty="0"/>
              <a:t>CUDA toolkit</a:t>
            </a:r>
            <a:r>
              <a:rPr lang="zh-CN" altLang="zh-CN" dirty="0"/>
              <a:t>，版本</a:t>
            </a:r>
            <a:r>
              <a:rPr lang="en-US" altLang="zh-CN" dirty="0"/>
              <a:t>10.1</a:t>
            </a:r>
            <a:r>
              <a:rPr lang="zh-CN" altLang="zh-CN" dirty="0"/>
              <a:t>，以及对应的</a:t>
            </a:r>
            <a:r>
              <a:rPr lang="en-US" altLang="zh-CN" dirty="0" err="1"/>
              <a:t>cuDNN</a:t>
            </a:r>
            <a:r>
              <a:rPr lang="zh-CN" altLang="zh-CN" dirty="0"/>
              <a:t>（</a:t>
            </a:r>
            <a:r>
              <a:rPr lang="en-US" altLang="zh-CN" dirty="0"/>
              <a:t>v8.0.5</a:t>
            </a:r>
            <a:r>
              <a:rPr lang="zh-CN" altLang="zh-CN" dirty="0"/>
              <a:t>）</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GPU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endParaRPr lang="zh-CN" altLang="zh-CN" dirty="0" smtClean="0"/>
          </a:p>
          <a:p>
            <a:endParaRPr lang="zh-CN" altLang="en-US" dirty="0"/>
          </a:p>
        </p:txBody>
      </p:sp>
      <p:sp>
        <p:nvSpPr>
          <p:cNvPr id="6" name="文本框 5"/>
          <p:cNvSpPr txBox="1"/>
          <p:nvPr/>
        </p:nvSpPr>
        <p:spPr>
          <a:xfrm>
            <a:off x="5477347" y="3530851"/>
            <a:ext cx="415498" cy="369332"/>
          </a:xfrm>
          <a:prstGeom prst="rect">
            <a:avLst/>
          </a:prstGeom>
          <a:noFill/>
        </p:spPr>
        <p:txBody>
          <a:bodyPr wrap="none" rtlCol="0">
            <a:spAutoFit/>
          </a:bodyPr>
          <a:lstStyle/>
          <a:p>
            <a:r>
              <a:rPr lang="zh-CN" altLang="en-US" dirty="0" smtClean="0"/>
              <a:t>或</a:t>
            </a:r>
            <a:endParaRPr lang="zh-CN" altLang="en-US" dirty="0"/>
          </a:p>
        </p:txBody>
      </p:sp>
    </p:spTree>
    <p:extLst>
      <p:ext uri="{BB962C8B-B14F-4D97-AF65-F5344CB8AC3E}">
        <p14:creationId xmlns:p14="http://schemas.microsoft.com/office/powerpoint/2010/main" val="335341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代码工程分析</a:t>
            </a:r>
            <a:endParaRPr lang="en-US" altLang="zh-CN" dirty="0" smtClean="0"/>
          </a:p>
          <a:p>
            <a:pPr>
              <a:lnSpc>
                <a:spcPct val="125000"/>
              </a:lnSpc>
            </a:pPr>
            <a:r>
              <a:rPr lang="zh-CN" altLang="en-US" dirty="0" smtClean="0"/>
              <a:t>数据集的准备</a:t>
            </a:r>
            <a:endParaRPr lang="en-US" altLang="zh-CN" dirty="0" smtClean="0"/>
          </a:p>
          <a:p>
            <a:pPr>
              <a:lnSpc>
                <a:spcPct val="125000"/>
              </a:lnSpc>
            </a:pPr>
            <a:r>
              <a:rPr lang="zh-CN" altLang="en-US" dirty="0" smtClean="0"/>
              <a:t>训练模型</a:t>
            </a:r>
            <a:endParaRPr lang="en-US" altLang="zh-CN" dirty="0"/>
          </a:p>
          <a:p>
            <a:pPr>
              <a:lnSpc>
                <a:spcPct val="125000"/>
              </a:lnSpc>
            </a:pPr>
            <a:endParaRPr lang="en-US" altLang="zh-CN" dirty="0" smtClean="0"/>
          </a:p>
        </p:txBody>
      </p:sp>
    </p:spTree>
    <p:extLst>
      <p:ext uri="{BB962C8B-B14F-4D97-AF65-F5344CB8AC3E}">
        <p14:creationId xmlns:p14="http://schemas.microsoft.com/office/powerpoint/2010/main" val="307706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604832968"/>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95079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根据使用的版本（</a:t>
            </a:r>
            <a:r>
              <a:rPr lang="en-US" altLang="zh-CN" dirty="0"/>
              <a:t>CPU/GPU</a:t>
            </a:r>
            <a:r>
              <a:rPr lang="zh-CN" altLang="zh-CN" dirty="0"/>
              <a:t>），选择之前创建好的虚拟环境（</a:t>
            </a:r>
            <a:r>
              <a:rPr lang="en-US" altLang="zh-CN" dirty="0" err="1" smtClean="0"/>
              <a:t>cputorch</a:t>
            </a:r>
            <a:r>
              <a:rPr lang="en-US" altLang="zh-CN" dirty="0" smtClean="0"/>
              <a:t>/</a:t>
            </a:r>
            <a:r>
              <a:rPr lang="en-US" altLang="zh-CN" dirty="0" err="1" smtClean="0"/>
              <a:t>gputorch</a:t>
            </a:r>
            <a:r>
              <a:rPr lang="zh-CN" altLang="zh-CN" dirty="0" smtClean="0"/>
              <a:t>）</a:t>
            </a:r>
            <a:r>
              <a:rPr lang="zh-CN" altLang="en-US" dirty="0" smtClean="0"/>
              <a:t>，</a:t>
            </a:r>
            <a:r>
              <a:rPr lang="zh-CN" altLang="zh-CN" dirty="0" smtClean="0"/>
              <a:t>使用</a:t>
            </a:r>
            <a:r>
              <a:rPr lang="en-US" altLang="zh-CN" dirty="0" err="1"/>
              <a:t>Pytorch</a:t>
            </a:r>
            <a:r>
              <a:rPr lang="zh-CN" altLang="zh-CN" dirty="0"/>
              <a:t>打开项目并选择虚拟环境。</a:t>
            </a:r>
            <a:r>
              <a:rPr lang="zh-CN" altLang="zh-CN" dirty="0" smtClean="0"/>
              <a:t>（</a:t>
            </a:r>
            <a:r>
              <a:rPr lang="en-US" altLang="zh-CN" dirty="0" err="1" smtClean="0"/>
              <a:t>Pytorch</a:t>
            </a:r>
            <a:r>
              <a:rPr lang="zh-CN" altLang="en-US" dirty="0" smtClean="0"/>
              <a:t>选择环境</a:t>
            </a:r>
            <a:r>
              <a:rPr lang="zh-CN" altLang="zh-CN" dirty="0" smtClean="0"/>
              <a:t>步骤</a:t>
            </a:r>
            <a:r>
              <a:rPr lang="zh-CN" altLang="zh-CN" dirty="0"/>
              <a:t>请参考之前的</a:t>
            </a:r>
            <a:r>
              <a:rPr lang="en-US" altLang="zh-CN" dirty="0"/>
              <a:t>“</a:t>
            </a:r>
            <a:r>
              <a:rPr lang="zh-CN" altLang="zh-CN" dirty="0"/>
              <a:t>实验：开发环境配置</a:t>
            </a:r>
            <a:r>
              <a:rPr lang="en-US" altLang="zh-CN" dirty="0"/>
              <a:t>”</a:t>
            </a:r>
            <a:r>
              <a:rPr lang="zh-CN" altLang="zh-CN" dirty="0"/>
              <a:t>。）</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4031" y="2064190"/>
            <a:ext cx="3642350" cy="4073084"/>
          </a:xfrm>
          <a:prstGeom prst="rect">
            <a:avLst/>
          </a:prstGeom>
        </p:spPr>
      </p:pic>
    </p:spTree>
    <p:extLst>
      <p:ext uri="{BB962C8B-B14F-4D97-AF65-F5344CB8AC3E}">
        <p14:creationId xmlns:p14="http://schemas.microsoft.com/office/powerpoint/2010/main" val="1392473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a:t>nets</a:t>
            </a:r>
            <a:r>
              <a:rPr lang="zh-CN" altLang="zh-CN" dirty="0"/>
              <a:t>文件夹存放有关模型网络结构的代码文件，一般不做修改</a:t>
            </a:r>
            <a:r>
              <a:rPr lang="zh-CN" altLang="zh-CN" dirty="0" smtClean="0"/>
              <a:t>。</a:t>
            </a:r>
            <a:endParaRPr lang="en-US" altLang="zh-CN" dirty="0" smtClean="0"/>
          </a:p>
          <a:p>
            <a:r>
              <a:rPr lang="en-US" altLang="zh-CN" dirty="0" err="1"/>
              <a:t>utils</a:t>
            </a:r>
            <a:r>
              <a:rPr lang="zh-CN" altLang="zh-CN" dirty="0"/>
              <a:t>文件夹存放所有训练、评估、测试所需的配置代码文件，一般不做修改</a:t>
            </a:r>
            <a:r>
              <a:rPr lang="zh-CN" altLang="zh-CN" dirty="0" smtClean="0"/>
              <a:t>。</a:t>
            </a:r>
            <a:endParaRPr lang="en-US" altLang="zh-CN" dirty="0" smtClean="0"/>
          </a:p>
          <a:p>
            <a:r>
              <a:rPr lang="en-US" altLang="zh-CN" dirty="0"/>
              <a:t>summary.py</a:t>
            </a:r>
            <a:r>
              <a:rPr lang="zh-CN" altLang="zh-CN" dirty="0"/>
              <a:t>文件用于查看网络结构。</a:t>
            </a:r>
          </a:p>
          <a:p>
            <a:endParaRPr lang="zh-CN" altLang="zh-CN" dirty="0" smtClean="0"/>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3089" y="2852832"/>
            <a:ext cx="2780952" cy="1561905"/>
          </a:xfrm>
          <a:prstGeom prst="rect">
            <a:avLst/>
          </a:prstGeom>
        </p:spPr>
      </p:pic>
      <p:pic>
        <p:nvPicPr>
          <p:cNvPr id="6" name="图片 5"/>
          <p:cNvPicPr>
            <a:picLocks noChangeAspect="1"/>
          </p:cNvPicPr>
          <p:nvPr/>
        </p:nvPicPr>
        <p:blipFill>
          <a:blip r:embed="rId3"/>
          <a:stretch>
            <a:fillRect/>
          </a:stretch>
        </p:blipFill>
        <p:spPr>
          <a:xfrm>
            <a:off x="1675317" y="3081403"/>
            <a:ext cx="2076190" cy="1104762"/>
          </a:xfrm>
          <a:prstGeom prst="rect">
            <a:avLst/>
          </a:prstGeom>
        </p:spPr>
      </p:pic>
    </p:spTree>
    <p:extLst>
      <p:ext uri="{BB962C8B-B14F-4D97-AF65-F5344CB8AC3E}">
        <p14:creationId xmlns:p14="http://schemas.microsoft.com/office/powerpoint/2010/main" val="1034697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本实验中需要使用的代码文件</a:t>
            </a:r>
            <a:r>
              <a:rPr lang="en-US" altLang="zh-CN" dirty="0"/>
              <a:t>voc_annotation.py</a:t>
            </a:r>
            <a:r>
              <a:rPr lang="zh-CN" altLang="zh-CN" dirty="0"/>
              <a:t>、</a:t>
            </a:r>
            <a:r>
              <a:rPr lang="en-US" altLang="zh-CN" dirty="0"/>
              <a:t>train.py</a:t>
            </a:r>
            <a:r>
              <a:rPr lang="zh-CN" altLang="zh-CN" dirty="0"/>
              <a:t>，以及可选择使用的</a:t>
            </a:r>
            <a:r>
              <a:rPr lang="en-US" altLang="zh-CN" dirty="0"/>
              <a:t>kmeans_for_anchors.py</a:t>
            </a:r>
            <a:r>
              <a:rPr lang="zh-CN" altLang="zh-CN" dirty="0"/>
              <a:t>。</a:t>
            </a:r>
          </a:p>
          <a:p>
            <a:r>
              <a:rPr lang="en-US" altLang="zh-CN" dirty="0"/>
              <a:t>voc_annotation.py</a:t>
            </a:r>
            <a:r>
              <a:rPr lang="zh-CN" altLang="zh-CN" dirty="0"/>
              <a:t>主要是将准备好的数据集按</a:t>
            </a:r>
            <a:r>
              <a:rPr lang="en-US" altLang="zh-CN" dirty="0"/>
              <a:t>VOC</a:t>
            </a:r>
            <a:r>
              <a:rPr lang="zh-CN" altLang="zh-CN" dirty="0"/>
              <a:t>数据集的格式划分训练集、验证集和测试集，调用了</a:t>
            </a:r>
            <a:r>
              <a:rPr lang="en-US" altLang="zh-CN" dirty="0" err="1"/>
              <a:t>utils</a:t>
            </a:r>
            <a:r>
              <a:rPr lang="zh-CN" altLang="zh-CN" dirty="0"/>
              <a:t>文件夹下</a:t>
            </a:r>
            <a:r>
              <a:rPr lang="en-US" altLang="zh-CN" dirty="0"/>
              <a:t>utils.py</a:t>
            </a:r>
            <a:r>
              <a:rPr lang="zh-CN" altLang="zh-CN" dirty="0"/>
              <a:t>的</a:t>
            </a:r>
            <a:r>
              <a:rPr lang="en-US" altLang="zh-CN" dirty="0" err="1"/>
              <a:t>get_classes</a:t>
            </a:r>
            <a:r>
              <a:rPr lang="en-US" altLang="zh-CN" dirty="0"/>
              <a:t>(</a:t>
            </a:r>
            <a:r>
              <a:rPr lang="en-US" altLang="zh-CN" dirty="0" err="1"/>
              <a:t>classes_path</a:t>
            </a:r>
            <a:r>
              <a:rPr lang="en-US" altLang="zh-CN" dirty="0"/>
              <a:t>)</a:t>
            </a:r>
            <a:r>
              <a:rPr lang="zh-CN" altLang="zh-CN" dirty="0"/>
              <a:t>函数：</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0920" y="2757595"/>
            <a:ext cx="4228571" cy="1752381"/>
          </a:xfrm>
          <a:prstGeom prst="rect">
            <a:avLst/>
          </a:prstGeom>
        </p:spPr>
      </p:pic>
    </p:spTree>
    <p:extLst>
      <p:ext uri="{BB962C8B-B14F-4D97-AF65-F5344CB8AC3E}">
        <p14:creationId xmlns:p14="http://schemas.microsoft.com/office/powerpoint/2010/main" val="1339900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err="1"/>
              <a:t>convert_annotation</a:t>
            </a:r>
            <a:r>
              <a:rPr lang="en-US" altLang="zh-CN" dirty="0"/>
              <a:t>(year, </a:t>
            </a:r>
            <a:r>
              <a:rPr lang="en-US" altLang="zh-CN" dirty="0" err="1"/>
              <a:t>image_id</a:t>
            </a:r>
            <a:r>
              <a:rPr lang="en-US" altLang="zh-CN" dirty="0"/>
              <a:t>, </a:t>
            </a:r>
            <a:r>
              <a:rPr lang="en-US" altLang="zh-CN" dirty="0" err="1"/>
              <a:t>list_file</a:t>
            </a:r>
            <a:r>
              <a:rPr lang="en-US" altLang="zh-CN" dirty="0"/>
              <a:t>)</a:t>
            </a:r>
            <a:r>
              <a:rPr lang="zh-CN" altLang="zh-CN" dirty="0"/>
              <a:t>函数将数据集中的</a:t>
            </a:r>
            <a:r>
              <a:rPr lang="en-US" altLang="zh-CN" dirty="0"/>
              <a:t>xml</a:t>
            </a:r>
            <a:r>
              <a:rPr lang="zh-CN" altLang="zh-CN" dirty="0"/>
              <a:t>文件转化为可直接调用的</a:t>
            </a:r>
            <a:r>
              <a:rPr lang="en-US" altLang="zh-CN" dirty="0"/>
              <a:t>.txt</a:t>
            </a:r>
            <a:r>
              <a:rPr lang="zh-CN" altLang="zh-CN" dirty="0"/>
              <a:t>格式，每行文本为一张图像数据，用图像路径</a:t>
            </a:r>
            <a:r>
              <a:rPr lang="en-US" altLang="zh-CN" dirty="0"/>
              <a:t>+</a:t>
            </a:r>
            <a:r>
              <a:rPr lang="zh-CN" altLang="zh-CN" dirty="0"/>
              <a:t>五位数字（前四位确定目标框，第五位表示目标种类）表示。</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0442" y="3957871"/>
            <a:ext cx="6809524" cy="1533333"/>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9014" y="2235612"/>
            <a:ext cx="8552381" cy="1076190"/>
          </a:xfrm>
          <a:prstGeom prst="rect">
            <a:avLst/>
          </a:prstGeom>
        </p:spPr>
      </p:pic>
    </p:spTree>
    <p:extLst>
      <p:ext uri="{BB962C8B-B14F-4D97-AF65-F5344CB8AC3E}">
        <p14:creationId xmlns:p14="http://schemas.microsoft.com/office/powerpoint/2010/main" val="3667412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主函数运行数据集格式的转化，生成</a:t>
            </a:r>
            <a:r>
              <a:rPr lang="en-US" altLang="zh-CN" dirty="0"/>
              <a:t>.txt</a:t>
            </a:r>
            <a:r>
              <a:rPr lang="zh-CN" altLang="zh-CN" dirty="0"/>
              <a:t>文件。</a:t>
            </a:r>
          </a:p>
          <a:p>
            <a:r>
              <a:rPr lang="en-US" altLang="zh-CN" dirty="0" err="1"/>
              <a:t>ImageSets</a:t>
            </a:r>
            <a:r>
              <a:rPr lang="en-US" altLang="zh-CN" dirty="0"/>
              <a:t>/Main</a:t>
            </a:r>
            <a:r>
              <a:rPr lang="zh-CN" altLang="zh-CN" dirty="0"/>
              <a:t>下生成四个文件，每行只显示图像名称：</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8063" y="2657221"/>
            <a:ext cx="5714286" cy="457143"/>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0444" y="3801361"/>
            <a:ext cx="5209524" cy="942857"/>
          </a:xfrm>
          <a:prstGeom prst="rect">
            <a:avLst/>
          </a:prstGeom>
        </p:spPr>
      </p:pic>
    </p:spTree>
    <p:extLst>
      <p:ext uri="{BB962C8B-B14F-4D97-AF65-F5344CB8AC3E}">
        <p14:creationId xmlns:p14="http://schemas.microsoft.com/office/powerpoint/2010/main" val="3132594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en-US" dirty="0" smtClean="0"/>
              <a:t>根</a:t>
            </a:r>
            <a:r>
              <a:rPr lang="zh-CN" altLang="zh-CN" dirty="0" smtClean="0"/>
              <a:t>目录</a:t>
            </a:r>
            <a:r>
              <a:rPr lang="zh-CN" altLang="zh-CN" dirty="0"/>
              <a:t>下生成两个文件，每行按完整图像绝对路径</a:t>
            </a:r>
            <a:r>
              <a:rPr lang="en-US" altLang="zh-CN" dirty="0"/>
              <a:t>+</a:t>
            </a:r>
            <a:r>
              <a:rPr lang="zh-CN" altLang="zh-CN" dirty="0"/>
              <a:t>五位数字组成。</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6158" y="2281405"/>
            <a:ext cx="8038095" cy="2704762"/>
          </a:xfrm>
          <a:prstGeom prst="rect">
            <a:avLst/>
          </a:prstGeom>
        </p:spPr>
      </p:pic>
    </p:spTree>
    <p:extLst>
      <p:ext uri="{BB962C8B-B14F-4D97-AF65-F5344CB8AC3E}">
        <p14:creationId xmlns:p14="http://schemas.microsoft.com/office/powerpoint/2010/main" val="1376739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a:t>train.py</a:t>
            </a:r>
            <a:r>
              <a:rPr lang="zh-CN" altLang="zh-CN" dirty="0"/>
              <a:t>仅有一个主函数，主要功能为训练模型，修改参数即可运行，主要调用了以下函数或类：</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0444" y="2819500"/>
            <a:ext cx="6009524" cy="1628571"/>
          </a:xfrm>
          <a:prstGeom prst="rect">
            <a:avLst/>
          </a:prstGeom>
        </p:spPr>
      </p:pic>
    </p:spTree>
    <p:extLst>
      <p:ext uri="{BB962C8B-B14F-4D97-AF65-F5344CB8AC3E}">
        <p14:creationId xmlns:p14="http://schemas.microsoft.com/office/powerpoint/2010/main" val="79757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a:t>kmeans_for_anchors.py</a:t>
            </a:r>
            <a:r>
              <a:rPr lang="zh-CN" altLang="zh-CN" dirty="0"/>
              <a:t>主要通过</a:t>
            </a:r>
            <a:r>
              <a:rPr lang="en-US" altLang="zh-CN" dirty="0"/>
              <a:t>k-means</a:t>
            </a:r>
            <a:r>
              <a:rPr lang="zh-CN" altLang="zh-CN" dirty="0"/>
              <a:t>聚类算法对数据集中的框进行聚类，有关于交并比计算的函数</a:t>
            </a:r>
            <a:r>
              <a:rPr lang="en-US" altLang="zh-CN" dirty="0" err="1"/>
              <a:t>cas_iou</a:t>
            </a:r>
            <a:r>
              <a:rPr lang="en-US" altLang="zh-CN" dirty="0"/>
              <a:t>(box, cluster)</a:t>
            </a:r>
            <a:r>
              <a:rPr lang="zh-CN" altLang="zh-CN" dirty="0"/>
              <a:t>和</a:t>
            </a:r>
            <a:r>
              <a:rPr lang="en-US" altLang="zh-CN" dirty="0" err="1"/>
              <a:t>avg_iou</a:t>
            </a:r>
            <a:r>
              <a:rPr lang="en-US" altLang="zh-CN" dirty="0"/>
              <a:t>(box, cluster)</a:t>
            </a:r>
            <a:r>
              <a:rPr lang="zh-CN" altLang="zh-CN" dirty="0"/>
              <a:t>，负责聚类算法的函数</a:t>
            </a:r>
            <a:r>
              <a:rPr lang="en-US" altLang="zh-CN" dirty="0" err="1"/>
              <a:t>kmeans</a:t>
            </a:r>
            <a:r>
              <a:rPr lang="en-US" altLang="zh-CN" dirty="0"/>
              <a:t>(</a:t>
            </a:r>
            <a:r>
              <a:rPr lang="en-US" altLang="zh-CN" dirty="0" err="1"/>
              <a:t>box,k</a:t>
            </a:r>
            <a:r>
              <a:rPr lang="en-US" altLang="zh-CN" dirty="0"/>
              <a:t>)</a:t>
            </a:r>
            <a:r>
              <a:rPr lang="zh-CN" altLang="zh-CN" dirty="0"/>
              <a:t>，读取图像数据的函数</a:t>
            </a:r>
            <a:r>
              <a:rPr lang="en-US" altLang="zh-CN" dirty="0" err="1"/>
              <a:t>load_data</a:t>
            </a:r>
            <a:r>
              <a:rPr lang="en-US" altLang="zh-CN" dirty="0"/>
              <a:t>(path)</a:t>
            </a:r>
            <a:r>
              <a:rPr lang="zh-CN" altLang="zh-CN" dirty="0"/>
              <a:t>，以及完成计算的主函数</a:t>
            </a:r>
            <a:r>
              <a:rPr lang="zh-CN" altLang="zh-CN" dirty="0" smtClean="0"/>
              <a:t>。</a:t>
            </a:r>
            <a:endParaRPr lang="en-US" altLang="zh-CN"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r>
              <a:rPr lang="en-US" altLang="zh-CN" b="1" dirty="0" err="1" smtClean="0"/>
              <a:t>kmeans</a:t>
            </a:r>
            <a:r>
              <a:rPr lang="zh-CN" altLang="zh-CN" b="1" dirty="0"/>
              <a:t>聚类仅适用于检测目标框的大小分布极为不均的情况，本实验中没有进行聚类操作。</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8539" y="2581405"/>
            <a:ext cx="3533333" cy="2104762"/>
          </a:xfrm>
          <a:prstGeom prst="rect">
            <a:avLst/>
          </a:prstGeom>
        </p:spPr>
      </p:pic>
    </p:spTree>
    <p:extLst>
      <p:ext uri="{BB962C8B-B14F-4D97-AF65-F5344CB8AC3E}">
        <p14:creationId xmlns:p14="http://schemas.microsoft.com/office/powerpoint/2010/main" val="2391225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181017668"/>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41954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使用之前准备好的数据集文件夹</a:t>
            </a:r>
            <a:r>
              <a:rPr lang="en-US" altLang="zh-CN" dirty="0"/>
              <a:t>“VOC2007”</a:t>
            </a:r>
            <a:r>
              <a:rPr lang="zh-CN" altLang="zh-CN" dirty="0"/>
              <a:t>，将其拷贝至模型根目录下空文件夹</a:t>
            </a:r>
            <a:r>
              <a:rPr lang="en-US" altLang="zh-CN" dirty="0"/>
              <a:t>“</a:t>
            </a:r>
            <a:r>
              <a:rPr lang="en-US" altLang="zh-CN" dirty="0" err="1"/>
              <a:t>VOCdevkit</a:t>
            </a:r>
            <a:r>
              <a:rPr lang="en-US" altLang="zh-CN" dirty="0"/>
              <a:t>”</a:t>
            </a:r>
            <a:r>
              <a:rPr lang="zh-CN" altLang="zh-CN" dirty="0"/>
              <a:t>中。</a:t>
            </a:r>
            <a:r>
              <a:rPr lang="en-US" altLang="zh-CN" dirty="0" err="1"/>
              <a:t>VOCdevkit</a:t>
            </a:r>
            <a:r>
              <a:rPr lang="zh-CN" altLang="zh-CN" dirty="0"/>
              <a:t>文件夹结构为：</a:t>
            </a:r>
          </a:p>
          <a:p>
            <a:pPr lvl="0"/>
            <a:r>
              <a:rPr lang="en-US" altLang="zh-CN" dirty="0" err="1"/>
              <a:t>VOCdevkit</a:t>
            </a:r>
            <a:endParaRPr lang="zh-CN" altLang="zh-CN" dirty="0"/>
          </a:p>
          <a:p>
            <a:pPr lvl="1"/>
            <a:r>
              <a:rPr lang="en-US" altLang="zh-CN" dirty="0"/>
              <a:t>VOC2007</a:t>
            </a:r>
            <a:endParaRPr lang="zh-CN" altLang="zh-CN" dirty="0"/>
          </a:p>
          <a:p>
            <a:pPr lvl="2"/>
            <a:r>
              <a:rPr lang="en-US" altLang="zh-CN" dirty="0"/>
              <a:t>Annotations </a:t>
            </a:r>
            <a:r>
              <a:rPr lang="zh-CN" altLang="zh-CN" dirty="0"/>
              <a:t>（所有的</a:t>
            </a:r>
            <a:r>
              <a:rPr lang="en-US" altLang="zh-CN" dirty="0"/>
              <a:t>.xml</a:t>
            </a:r>
            <a:r>
              <a:rPr lang="zh-CN" altLang="zh-CN" dirty="0"/>
              <a:t>标签文件）</a:t>
            </a:r>
          </a:p>
          <a:p>
            <a:pPr lvl="2"/>
            <a:r>
              <a:rPr lang="en-US" altLang="zh-CN" dirty="0" err="1"/>
              <a:t>ImageSets</a:t>
            </a:r>
            <a:endParaRPr lang="zh-CN" altLang="zh-CN" dirty="0"/>
          </a:p>
          <a:p>
            <a:pPr lvl="3"/>
            <a:r>
              <a:rPr lang="en-US" altLang="zh-CN" dirty="0"/>
              <a:t>Main </a:t>
            </a:r>
            <a:r>
              <a:rPr lang="zh-CN" altLang="zh-CN" dirty="0"/>
              <a:t>（目前为空文件）</a:t>
            </a:r>
          </a:p>
          <a:p>
            <a:pPr lvl="2"/>
            <a:r>
              <a:rPr lang="en-US" altLang="zh-CN" dirty="0" err="1"/>
              <a:t>JPEGImages</a:t>
            </a:r>
            <a:r>
              <a:rPr lang="en-US" altLang="zh-CN" dirty="0"/>
              <a:t> </a:t>
            </a:r>
            <a:r>
              <a:rPr lang="zh-CN" altLang="zh-CN" dirty="0"/>
              <a:t>（所有的</a:t>
            </a:r>
            <a:r>
              <a:rPr lang="en-US" altLang="zh-CN" dirty="0"/>
              <a:t>.jpg</a:t>
            </a:r>
            <a:r>
              <a:rPr lang="zh-CN" altLang="zh-CN" dirty="0"/>
              <a:t>图像文件）</a:t>
            </a:r>
          </a:p>
          <a:p>
            <a:endParaRPr lang="zh-CN" altLang="en-US" dirty="0"/>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r="29423" b="63366"/>
          <a:stretch/>
        </p:blipFill>
        <p:spPr>
          <a:xfrm>
            <a:off x="5450885" y="3761286"/>
            <a:ext cx="6069603" cy="2375988"/>
          </a:xfrm>
          <a:prstGeom prst="rect">
            <a:avLst/>
          </a:prstGeom>
        </p:spPr>
      </p:pic>
    </p:spTree>
    <p:extLst>
      <p:ext uri="{BB962C8B-B14F-4D97-AF65-F5344CB8AC3E}">
        <p14:creationId xmlns:p14="http://schemas.microsoft.com/office/powerpoint/2010/main" val="2614082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完成数据集的存放之后，回到模型根目录下，打开</a:t>
            </a:r>
            <a:r>
              <a:rPr lang="en-US" altLang="zh-CN" dirty="0" err="1"/>
              <a:t>model_data</a:t>
            </a:r>
            <a:r>
              <a:rPr lang="zh-CN" altLang="zh-CN" dirty="0"/>
              <a:t>文件夹，该文件夹用于存放字体与检测类别文本文件：</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9015" y="2403941"/>
            <a:ext cx="8552381" cy="3733333"/>
          </a:xfrm>
          <a:prstGeom prst="rect">
            <a:avLst/>
          </a:prstGeom>
        </p:spPr>
      </p:pic>
    </p:spTree>
    <p:extLst>
      <p:ext uri="{BB962C8B-B14F-4D97-AF65-F5344CB8AC3E}">
        <p14:creationId xmlns:p14="http://schemas.microsoft.com/office/powerpoint/2010/main" val="1121983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已有的</a:t>
            </a:r>
            <a:r>
              <a:rPr lang="en-US" altLang="zh-CN" dirty="0"/>
              <a:t>voc_classes.txt</a:t>
            </a:r>
            <a:r>
              <a:rPr lang="zh-CN" altLang="zh-CN" dirty="0"/>
              <a:t>适用于</a:t>
            </a:r>
            <a:r>
              <a:rPr lang="en-US" altLang="zh-CN" dirty="0"/>
              <a:t>VOC</a:t>
            </a:r>
            <a:r>
              <a:rPr lang="zh-CN" altLang="zh-CN" dirty="0"/>
              <a:t>数据集的特定的</a:t>
            </a:r>
            <a:r>
              <a:rPr lang="en-US" altLang="zh-CN" dirty="0"/>
              <a:t>20</a:t>
            </a:r>
            <a:r>
              <a:rPr lang="zh-CN" altLang="zh-CN" dirty="0"/>
              <a:t>类检测目标，而</a:t>
            </a:r>
            <a:r>
              <a:rPr lang="en-US" altLang="zh-CN" dirty="0"/>
              <a:t>coco_classes.txt</a:t>
            </a:r>
            <a:r>
              <a:rPr lang="zh-CN" altLang="zh-CN" dirty="0"/>
              <a:t>适用于</a:t>
            </a:r>
            <a:r>
              <a:rPr lang="en-US" altLang="zh-CN" dirty="0"/>
              <a:t>COCO</a:t>
            </a:r>
            <a:r>
              <a:rPr lang="zh-CN" altLang="zh-CN" dirty="0"/>
              <a:t>数据集的</a:t>
            </a:r>
            <a:r>
              <a:rPr lang="en-US" altLang="zh-CN" dirty="0"/>
              <a:t>80</a:t>
            </a:r>
            <a:r>
              <a:rPr lang="zh-CN" altLang="zh-CN" dirty="0"/>
              <a:t>类目标。</a:t>
            </a:r>
            <a:r>
              <a:rPr lang="en-US" altLang="zh-CN" dirty="0"/>
              <a:t>yolo_anchors.txt</a:t>
            </a:r>
            <a:r>
              <a:rPr lang="zh-CN" altLang="zh-CN" dirty="0"/>
              <a:t>中存放着</a:t>
            </a:r>
            <a:r>
              <a:rPr lang="en-US" altLang="zh-CN" dirty="0"/>
              <a:t>yolov4-tiny</a:t>
            </a:r>
            <a:r>
              <a:rPr lang="zh-CN" altLang="zh-CN" dirty="0"/>
              <a:t>预设的六个先验框的值。</a:t>
            </a:r>
          </a:p>
          <a:p>
            <a:r>
              <a:rPr lang="zh-CN" altLang="zh-CN" dirty="0"/>
              <a:t>我们需要根据自己的需求修改文件或新建文件，在文件中每行输入对应的检测目标类别。最简便的方式是将之前使用</a:t>
            </a:r>
            <a:r>
              <a:rPr lang="en-US" altLang="zh-CN" dirty="0" err="1"/>
              <a:t>labelimg</a:t>
            </a:r>
            <a:r>
              <a:rPr lang="zh-CN" altLang="zh-CN" dirty="0"/>
              <a:t>标注文件的</a:t>
            </a:r>
            <a:r>
              <a:rPr lang="en-US" altLang="zh-CN" dirty="0"/>
              <a:t>predefined_classes.txt</a:t>
            </a:r>
            <a:r>
              <a:rPr lang="zh-CN" altLang="zh-CN" dirty="0"/>
              <a:t>复制到该目录中：</a:t>
            </a:r>
            <a:endParaRPr lang="zh-CN" altLang="en-US" dirty="0"/>
          </a:p>
        </p:txBody>
      </p:sp>
      <p:pic>
        <p:nvPicPr>
          <p:cNvPr id="4" name="图片 3"/>
          <p:cNvPicPr>
            <a:picLocks noChangeAspect="1"/>
          </p:cNvPicPr>
          <p:nvPr/>
        </p:nvPicPr>
        <p:blipFill>
          <a:blip r:embed="rId2"/>
          <a:stretch>
            <a:fillRect/>
          </a:stretch>
        </p:blipFill>
        <p:spPr>
          <a:xfrm>
            <a:off x="2228539" y="3146798"/>
            <a:ext cx="7733333" cy="2990476"/>
          </a:xfrm>
          <a:prstGeom prst="rect">
            <a:avLst/>
          </a:prstGeom>
        </p:spPr>
      </p:pic>
    </p:spTree>
    <p:extLst>
      <p:ext uri="{BB962C8B-B14F-4D97-AF65-F5344CB8AC3E}">
        <p14:creationId xmlns:p14="http://schemas.microsoft.com/office/powerpoint/2010/main" val="1761215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之后回到模型根目录，在</a:t>
            </a:r>
            <a:r>
              <a:rPr lang="en-US" altLang="zh-CN" dirty="0" err="1"/>
              <a:t>Pycharm</a:t>
            </a:r>
            <a:r>
              <a:rPr lang="zh-CN" altLang="zh-CN" dirty="0"/>
              <a:t>中打开</a:t>
            </a:r>
            <a:r>
              <a:rPr lang="en-US" altLang="zh-CN" dirty="0"/>
              <a:t>voc_annotation.py</a:t>
            </a:r>
            <a:r>
              <a:rPr lang="zh-CN" altLang="zh-CN" dirty="0"/>
              <a:t>文件，修改</a:t>
            </a:r>
            <a:r>
              <a:rPr lang="en-US" altLang="zh-CN" dirty="0" err="1" smtClean="0"/>
              <a:t>classes_path</a:t>
            </a:r>
            <a:r>
              <a:rPr lang="zh-CN" altLang="en-US" dirty="0"/>
              <a:t>。</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8699" y="1683945"/>
            <a:ext cx="6173013" cy="4453329"/>
          </a:xfrm>
          <a:prstGeom prst="rect">
            <a:avLst/>
          </a:prstGeom>
        </p:spPr>
      </p:pic>
    </p:spTree>
    <p:extLst>
      <p:ext uri="{BB962C8B-B14F-4D97-AF65-F5344CB8AC3E}">
        <p14:creationId xmlns:p14="http://schemas.microsoft.com/office/powerpoint/2010/main" val="2152729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如果想要改变训练集与验证集、训练集验证集与测试集的比例也可在</a:t>
            </a:r>
            <a:r>
              <a:rPr lang="en-US" altLang="zh-CN" dirty="0"/>
              <a:t>voc_annotation.py</a:t>
            </a:r>
            <a:r>
              <a:rPr lang="zh-CN" altLang="zh-CN" dirty="0"/>
              <a:t>中修改，默认值均为</a:t>
            </a:r>
            <a:r>
              <a:rPr lang="en-US" altLang="zh-CN" dirty="0"/>
              <a:t>9</a:t>
            </a:r>
            <a:r>
              <a:rPr lang="zh-CN" altLang="zh-CN" dirty="0"/>
              <a:t>：</a:t>
            </a:r>
            <a:r>
              <a:rPr lang="en-US" altLang="zh-CN" dirty="0"/>
              <a:t>1</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920" y="2605214"/>
            <a:ext cx="7828571" cy="2057143"/>
          </a:xfrm>
          <a:prstGeom prst="rect">
            <a:avLst/>
          </a:prstGeom>
        </p:spPr>
      </p:pic>
    </p:spTree>
    <p:extLst>
      <p:ext uri="{BB962C8B-B14F-4D97-AF65-F5344CB8AC3E}">
        <p14:creationId xmlns:p14="http://schemas.microsoft.com/office/powerpoint/2010/main" val="1152058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修改完毕后保存并退出</a:t>
            </a:r>
            <a:r>
              <a:rPr lang="zh-CN" altLang="zh-CN" dirty="0" smtClean="0"/>
              <a:t>。</a:t>
            </a:r>
            <a:endParaRPr lang="en-US" altLang="zh-CN" dirty="0" smtClean="0"/>
          </a:p>
          <a:p>
            <a:r>
              <a:rPr lang="zh-CN" altLang="zh-CN" dirty="0" smtClean="0">
                <a:solidFill>
                  <a:srgbClr val="FF0000"/>
                </a:solidFill>
              </a:rPr>
              <a:t>如果</a:t>
            </a:r>
            <a:r>
              <a:rPr lang="zh-CN" altLang="zh-CN" dirty="0">
                <a:solidFill>
                  <a:srgbClr val="FF0000"/>
                </a:solidFill>
              </a:rPr>
              <a:t>之前已经配置好</a:t>
            </a:r>
            <a:r>
              <a:rPr lang="en-US" altLang="zh-CN" dirty="0" err="1">
                <a:solidFill>
                  <a:srgbClr val="FF0000"/>
                </a:solidFill>
              </a:rPr>
              <a:t>Pytorch</a:t>
            </a:r>
            <a:r>
              <a:rPr lang="zh-CN" altLang="zh-CN" dirty="0">
                <a:solidFill>
                  <a:srgbClr val="FF0000"/>
                </a:solidFill>
              </a:rPr>
              <a:t>环境的，请删除主文件夹下</a:t>
            </a:r>
            <a:r>
              <a:rPr lang="en-US" altLang="zh-CN" dirty="0">
                <a:solidFill>
                  <a:srgbClr val="FF0000"/>
                </a:solidFill>
              </a:rPr>
              <a:t>requirements.txt</a:t>
            </a:r>
            <a:r>
              <a:rPr lang="zh-CN" altLang="zh-CN" dirty="0">
                <a:solidFill>
                  <a:srgbClr val="FF0000"/>
                </a:solidFill>
              </a:rPr>
              <a:t>中</a:t>
            </a:r>
            <a:r>
              <a:rPr lang="en-US" altLang="zh-CN" dirty="0">
                <a:solidFill>
                  <a:srgbClr val="FF0000"/>
                </a:solidFill>
              </a:rPr>
              <a:t>torch</a:t>
            </a:r>
            <a:r>
              <a:rPr lang="zh-CN" altLang="zh-CN" dirty="0">
                <a:solidFill>
                  <a:srgbClr val="FF0000"/>
                </a:solidFill>
              </a:rPr>
              <a:t>与</a:t>
            </a:r>
            <a:r>
              <a:rPr lang="en-US" altLang="zh-CN" dirty="0" err="1">
                <a:solidFill>
                  <a:srgbClr val="FF0000"/>
                </a:solidFill>
              </a:rPr>
              <a:t>torchvision</a:t>
            </a:r>
            <a:r>
              <a:rPr lang="zh-CN" altLang="zh-CN" dirty="0">
                <a:solidFill>
                  <a:srgbClr val="FF0000"/>
                </a:solidFill>
              </a:rPr>
              <a:t>两</a:t>
            </a:r>
            <a:r>
              <a:rPr lang="zh-CN" altLang="zh-CN" dirty="0" smtClean="0">
                <a:solidFill>
                  <a:srgbClr val="FF0000"/>
                </a:solidFill>
              </a:rPr>
              <a:t>行</a:t>
            </a:r>
            <a:r>
              <a:rPr lang="zh-CN" altLang="en-US" dirty="0" smtClean="0">
                <a:solidFill>
                  <a:srgbClr val="FF0000"/>
                </a:solidFill>
              </a:rPr>
              <a:t>。</a:t>
            </a:r>
            <a:endParaRPr lang="zh-CN" altLang="zh-CN" dirty="0"/>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1325" y="2940515"/>
            <a:ext cx="8267761" cy="3196759"/>
          </a:xfrm>
          <a:prstGeom prst="rect">
            <a:avLst/>
          </a:prstGeom>
        </p:spPr>
      </p:pic>
    </p:spTree>
    <p:extLst>
      <p:ext uri="{BB962C8B-B14F-4D97-AF65-F5344CB8AC3E}">
        <p14:creationId xmlns:p14="http://schemas.microsoft.com/office/powerpoint/2010/main" val="4194711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en-US" altLang="zh-CN" dirty="0" err="1"/>
              <a:t>Win+R</a:t>
            </a:r>
            <a:r>
              <a:rPr lang="zh-CN" altLang="zh-CN" dirty="0"/>
              <a:t>组合键打开运行界面，输入</a:t>
            </a:r>
            <a:r>
              <a:rPr lang="en-US" altLang="zh-CN" dirty="0"/>
              <a:t>“</a:t>
            </a:r>
            <a:r>
              <a:rPr lang="en-US" altLang="zh-CN" dirty="0" err="1"/>
              <a:t>cmd</a:t>
            </a:r>
            <a:r>
              <a:rPr lang="en-US" altLang="zh-CN" dirty="0"/>
              <a:t>”</a:t>
            </a:r>
            <a:r>
              <a:rPr lang="zh-CN" altLang="zh-CN" dirty="0"/>
              <a:t>后回车打开命令提示符。在命令提示符中，输入指令：（这里以</a:t>
            </a:r>
            <a:r>
              <a:rPr lang="en-US" altLang="zh-CN" dirty="0"/>
              <a:t>GPU</a:t>
            </a:r>
            <a:r>
              <a:rPr lang="zh-CN" altLang="zh-CN" dirty="0"/>
              <a:t>版本为例）</a:t>
            </a:r>
          </a:p>
          <a:p>
            <a:pPr lvl="1"/>
            <a:r>
              <a:rPr lang="en-US" altLang="zh-CN" dirty="0" err="1"/>
              <a:t>conda</a:t>
            </a:r>
            <a:r>
              <a:rPr lang="en-US" altLang="zh-CN" dirty="0"/>
              <a:t> activate </a:t>
            </a:r>
            <a:r>
              <a:rPr lang="en-US" altLang="zh-CN" b="1" dirty="0" err="1" smtClean="0"/>
              <a:t>cputorch</a:t>
            </a:r>
            <a:r>
              <a:rPr lang="en-US" altLang="zh-CN" b="1" dirty="0" smtClean="0"/>
              <a:t>/</a:t>
            </a:r>
            <a:r>
              <a:rPr lang="en-US" altLang="zh-CN" b="1" dirty="0" err="1" smtClean="0"/>
              <a:t>gputorch</a:t>
            </a:r>
            <a:r>
              <a:rPr lang="en-US" altLang="zh-CN" b="1" dirty="0" smtClean="0"/>
              <a:t>                                                                           </a:t>
            </a:r>
            <a:r>
              <a:rPr lang="zh-CN" altLang="zh-CN" dirty="0" smtClean="0"/>
              <a:t>（</a:t>
            </a:r>
            <a:r>
              <a:rPr lang="zh-CN" altLang="zh-CN" dirty="0"/>
              <a:t>根据实际情况选择）</a:t>
            </a:r>
          </a:p>
          <a:p>
            <a:pPr lvl="1"/>
            <a:r>
              <a:rPr lang="en-US" altLang="zh-CN" dirty="0"/>
              <a:t>cd /d </a:t>
            </a:r>
            <a:r>
              <a:rPr lang="en-US" altLang="zh-CN" b="1" dirty="0" smtClean="0"/>
              <a:t>G:yolov4-tiny-pytorch-master                                        </a:t>
            </a:r>
            <a:r>
              <a:rPr lang="zh-CN" altLang="zh-CN" dirty="0" smtClean="0"/>
              <a:t>（</a:t>
            </a:r>
            <a:r>
              <a:rPr lang="zh-CN" altLang="zh-CN" dirty="0"/>
              <a:t>根据你自己的项目文件夹实际路径修改）</a:t>
            </a:r>
          </a:p>
          <a:p>
            <a:pPr lvl="1"/>
            <a:r>
              <a:rPr lang="en-US" altLang="zh-CN" dirty="0"/>
              <a:t>pip install –user –r </a:t>
            </a:r>
            <a:r>
              <a:rPr lang="en-US" altLang="zh-CN" dirty="0" smtClean="0"/>
              <a:t>requirements.txt                                                                                      </a:t>
            </a:r>
            <a:r>
              <a:rPr lang="zh-CN" altLang="zh-CN" dirty="0" smtClean="0"/>
              <a:t>（</a:t>
            </a:r>
            <a:r>
              <a:rPr lang="zh-CN" altLang="zh-CN" dirty="0"/>
              <a:t>批量安装库）</a:t>
            </a:r>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58155"/>
          <a:stretch/>
        </p:blipFill>
        <p:spPr>
          <a:xfrm>
            <a:off x="1438063" y="4104791"/>
            <a:ext cx="9314286" cy="2032483"/>
          </a:xfrm>
          <a:prstGeom prst="rect">
            <a:avLst/>
          </a:prstGeom>
        </p:spPr>
      </p:pic>
    </p:spTree>
    <p:extLst>
      <p:ext uri="{BB962C8B-B14F-4D97-AF65-F5344CB8AC3E}">
        <p14:creationId xmlns:p14="http://schemas.microsoft.com/office/powerpoint/2010/main" val="648249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该指令会在虚拟环境下安装所有所需的库。安装的库比较多，请耐心等待。如果出现黄色的</a:t>
            </a:r>
            <a:r>
              <a:rPr lang="en-US" altLang="zh-CN" dirty="0"/>
              <a:t>WARNING</a:t>
            </a:r>
            <a:r>
              <a:rPr lang="zh-CN" altLang="zh-CN" dirty="0"/>
              <a:t>属于正常现象，出现红色</a:t>
            </a:r>
            <a:r>
              <a:rPr lang="en-US" altLang="zh-CN" dirty="0"/>
              <a:t>ERROR</a:t>
            </a:r>
            <a:r>
              <a:rPr lang="zh-CN" altLang="zh-CN" dirty="0"/>
              <a:t>表示安装失败，具体参考</a:t>
            </a:r>
            <a:r>
              <a:rPr lang="en-US" altLang="zh-CN" u="sng" dirty="0"/>
              <a:t>“4 </a:t>
            </a:r>
            <a:r>
              <a:rPr lang="en-US" altLang="zh-CN" u="sng" dirty="0" err="1"/>
              <a:t>注意事项”第一条</a:t>
            </a:r>
            <a:r>
              <a:rPr lang="zh-CN" altLang="zh-CN" dirty="0" smtClean="0"/>
              <a:t>。</a:t>
            </a:r>
            <a:endParaRPr lang="en-US" altLang="zh-CN" dirty="0" smtClean="0"/>
          </a:p>
          <a:p>
            <a:r>
              <a:rPr lang="zh-CN" altLang="zh-CN" dirty="0"/>
              <a:t>本实验中所有命令提示符指令均在同一个虚拟环境中输入（本实验以</a:t>
            </a:r>
            <a:r>
              <a:rPr lang="en-US" altLang="zh-CN" dirty="0" err="1"/>
              <a:t>gputorch</a:t>
            </a:r>
            <a:r>
              <a:rPr lang="zh-CN" altLang="zh-CN" dirty="0"/>
              <a:t>为示例，</a:t>
            </a:r>
            <a:r>
              <a:rPr lang="en-US" altLang="zh-CN" dirty="0" err="1"/>
              <a:t>cputorch</a:t>
            </a:r>
            <a:r>
              <a:rPr lang="zh-CN" altLang="zh-CN" dirty="0"/>
              <a:t>同理），后续不再切换环境。打开新的命令提示符时务必先执行指令：</a:t>
            </a:r>
          </a:p>
          <a:p>
            <a:pPr lvl="1"/>
            <a:r>
              <a:rPr lang="en-US" altLang="zh-CN" dirty="0" err="1"/>
              <a:t>conda</a:t>
            </a:r>
            <a:r>
              <a:rPr lang="en-US" altLang="zh-CN" dirty="0"/>
              <a:t> activate </a:t>
            </a:r>
            <a:r>
              <a:rPr lang="en-US" altLang="zh-CN" dirty="0" err="1"/>
              <a:t>cputorch</a:t>
            </a:r>
            <a:r>
              <a:rPr lang="en-US" altLang="zh-CN" dirty="0"/>
              <a:t>/</a:t>
            </a:r>
            <a:r>
              <a:rPr lang="en-US" altLang="zh-CN" dirty="0" err="1"/>
              <a:t>gputorch</a:t>
            </a:r>
            <a:endParaRPr lang="zh-CN" altLang="zh-CN" dirty="0"/>
          </a:p>
          <a:p>
            <a:r>
              <a:rPr lang="zh-CN" altLang="zh-CN" dirty="0"/>
              <a:t>并请留意路径前括号内环境是否正确，</a:t>
            </a:r>
            <a:r>
              <a:rPr lang="zh-CN" altLang="zh-CN" dirty="0" smtClean="0"/>
              <a:t>如</a:t>
            </a:r>
            <a:r>
              <a:rPr lang="zh-CN" altLang="en-US" dirty="0"/>
              <a:t>下</a:t>
            </a:r>
            <a:r>
              <a:rPr lang="zh-CN" altLang="en-US" dirty="0" smtClean="0"/>
              <a:t>图中</a:t>
            </a:r>
            <a:r>
              <a:rPr lang="zh-CN" altLang="zh-CN" dirty="0" smtClean="0"/>
              <a:t>，</a:t>
            </a:r>
            <a:r>
              <a:rPr lang="zh-CN" altLang="zh-CN" dirty="0"/>
              <a:t>在路径前会显示</a:t>
            </a:r>
            <a:r>
              <a:rPr lang="en-US" altLang="zh-CN" dirty="0"/>
              <a:t>“(</a:t>
            </a:r>
            <a:r>
              <a:rPr lang="en-US" altLang="zh-CN" dirty="0" err="1"/>
              <a:t>gputorch</a:t>
            </a:r>
            <a:r>
              <a:rPr lang="en-US" altLang="zh-CN" dirty="0"/>
              <a:t>)”</a:t>
            </a:r>
            <a:r>
              <a:rPr lang="zh-CN" altLang="zh-CN" dirty="0"/>
              <a:t>，表示在该环境下操作。</a:t>
            </a:r>
          </a:p>
          <a:p>
            <a:endParaRPr lang="zh-CN" altLang="zh-CN" dirty="0"/>
          </a:p>
          <a:p>
            <a:endParaRPr lang="zh-CN" altLang="zh-CN" dirty="0"/>
          </a:p>
          <a:p>
            <a:endParaRPr lang="zh-CN" altLang="en-US" dirty="0"/>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b="58155"/>
          <a:stretch/>
        </p:blipFill>
        <p:spPr>
          <a:xfrm>
            <a:off x="1438063" y="4104791"/>
            <a:ext cx="9314286" cy="2032483"/>
          </a:xfrm>
          <a:prstGeom prst="rect">
            <a:avLst/>
          </a:prstGeom>
        </p:spPr>
      </p:pic>
    </p:spTree>
    <p:extLst>
      <p:ext uri="{BB962C8B-B14F-4D97-AF65-F5344CB8AC3E}">
        <p14:creationId xmlns:p14="http://schemas.microsoft.com/office/powerpoint/2010/main" val="13218076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en-US" altLang="zh-CN" dirty="0"/>
              <a:t>GPU</a:t>
            </a:r>
            <a:r>
              <a:rPr lang="zh-CN" altLang="zh-CN" dirty="0"/>
              <a:t>版本下，检验</a:t>
            </a:r>
            <a:r>
              <a:rPr lang="en-US" altLang="zh-CN" dirty="0" err="1"/>
              <a:t>pytorch</a:t>
            </a:r>
            <a:r>
              <a:rPr lang="zh-CN" altLang="zh-CN" dirty="0"/>
              <a:t>是否可用步骤依旧是进入</a:t>
            </a:r>
            <a:r>
              <a:rPr lang="en-US" altLang="zh-CN" dirty="0"/>
              <a:t>python</a:t>
            </a:r>
            <a:r>
              <a:rPr lang="zh-CN" altLang="zh-CN" dirty="0"/>
              <a:t>编辑环境，在该环境下输入：</a:t>
            </a:r>
          </a:p>
          <a:p>
            <a:pPr lvl="1"/>
            <a:r>
              <a:rPr lang="en-US" altLang="zh-CN" dirty="0"/>
              <a:t>python</a:t>
            </a:r>
            <a:endParaRPr lang="zh-CN" altLang="zh-CN" dirty="0"/>
          </a:p>
          <a:p>
            <a:pPr lvl="2"/>
            <a:r>
              <a:rPr lang="en-US" altLang="zh-CN" dirty="0"/>
              <a:t>&gt;&gt;&gt;import torch</a:t>
            </a:r>
            <a:endParaRPr lang="zh-CN" altLang="zh-CN" dirty="0"/>
          </a:p>
          <a:p>
            <a:pPr lvl="2"/>
            <a:r>
              <a:rPr lang="en-US" altLang="zh-CN" dirty="0"/>
              <a:t>&gt;&gt;&gt;</a:t>
            </a:r>
            <a:r>
              <a:rPr lang="en-US" altLang="zh-CN" dirty="0" err="1"/>
              <a:t>torch.cuda.is_available</a:t>
            </a:r>
            <a:r>
              <a:rPr lang="en-US" altLang="zh-CN" dirty="0" smtClean="0"/>
              <a:t>()</a:t>
            </a:r>
          </a:p>
          <a:p>
            <a:r>
              <a:rPr lang="zh-CN" altLang="zh-CN" dirty="0"/>
              <a:t>若返回</a:t>
            </a:r>
            <a:r>
              <a:rPr lang="en-US" altLang="zh-CN" dirty="0"/>
              <a:t>True</a:t>
            </a:r>
            <a:r>
              <a:rPr lang="zh-CN" altLang="zh-CN" dirty="0"/>
              <a:t>则可用。输入</a:t>
            </a:r>
            <a:r>
              <a:rPr lang="en-US" altLang="zh-CN" dirty="0"/>
              <a:t>“exit()”</a:t>
            </a:r>
            <a:r>
              <a:rPr lang="zh-CN" altLang="zh-CN" dirty="0"/>
              <a:t>退出</a:t>
            </a:r>
            <a:r>
              <a:rPr lang="en-US" altLang="zh-CN" dirty="0"/>
              <a:t>python</a:t>
            </a:r>
            <a:r>
              <a:rPr lang="zh-CN" altLang="zh-CN" dirty="0"/>
              <a:t>编辑环境</a:t>
            </a:r>
            <a:r>
              <a:rPr lang="zh-CN" altLang="zh-CN" dirty="0" smtClean="0"/>
              <a:t>。</a:t>
            </a:r>
            <a:endParaRPr lang="en-US" altLang="zh-CN" dirty="0" smtClean="0"/>
          </a:p>
          <a:p>
            <a:endParaRPr lang="en-US" altLang="zh-CN" dirty="0" smtClean="0"/>
          </a:p>
          <a:p>
            <a:endParaRPr lang="en-US" altLang="zh-CN" dirty="0"/>
          </a:p>
          <a:p>
            <a:r>
              <a:rPr lang="en-US" altLang="zh-CN" dirty="0"/>
              <a:t>CPU</a:t>
            </a:r>
            <a:r>
              <a:rPr lang="zh-CN" altLang="zh-CN" dirty="0"/>
              <a:t>版本下，同样是进入</a:t>
            </a:r>
            <a:r>
              <a:rPr lang="en-US" altLang="zh-CN" dirty="0"/>
              <a:t>python</a:t>
            </a:r>
            <a:r>
              <a:rPr lang="zh-CN" altLang="zh-CN" dirty="0"/>
              <a:t>编辑环境，在该环境下输入：</a:t>
            </a:r>
          </a:p>
          <a:p>
            <a:pPr lvl="1"/>
            <a:r>
              <a:rPr lang="en-US" altLang="zh-CN" dirty="0"/>
              <a:t>python</a:t>
            </a:r>
            <a:endParaRPr lang="zh-CN" altLang="zh-CN" dirty="0"/>
          </a:p>
          <a:p>
            <a:pPr lvl="2"/>
            <a:r>
              <a:rPr lang="en-US" altLang="zh-CN" dirty="0"/>
              <a:t>&gt;&gt;&gt;import </a:t>
            </a:r>
            <a:r>
              <a:rPr lang="en-US" altLang="zh-CN" dirty="0" smtClean="0"/>
              <a:t>torch</a:t>
            </a:r>
          </a:p>
          <a:p>
            <a:r>
              <a:rPr lang="zh-CN" altLang="zh-CN" dirty="0"/>
              <a:t>如果没有任何反应则可用。输入</a:t>
            </a:r>
            <a:r>
              <a:rPr lang="en-US" altLang="zh-CN" dirty="0"/>
              <a:t>“exit()”</a:t>
            </a:r>
            <a:r>
              <a:rPr lang="zh-CN" altLang="zh-CN" dirty="0"/>
              <a:t>退出</a:t>
            </a:r>
            <a:r>
              <a:rPr lang="en-US" altLang="zh-CN" dirty="0"/>
              <a:t>python</a:t>
            </a:r>
            <a:r>
              <a:rPr lang="zh-CN" altLang="zh-CN" dirty="0"/>
              <a:t>编辑环境。</a:t>
            </a:r>
          </a:p>
          <a:p>
            <a:endParaRPr lang="zh-CN" altLang="zh-CN" dirty="0"/>
          </a:p>
          <a:p>
            <a:endParaRPr lang="zh-CN" altLang="en-US" dirty="0"/>
          </a:p>
        </p:txBody>
      </p:sp>
    </p:spTree>
    <p:extLst>
      <p:ext uri="{BB962C8B-B14F-4D97-AF65-F5344CB8AC3E}">
        <p14:creationId xmlns:p14="http://schemas.microsoft.com/office/powerpoint/2010/main" val="26134050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a:xfrm>
            <a:off x="669926" y="1130299"/>
            <a:ext cx="10850562" cy="5006975"/>
          </a:xfrm>
        </p:spPr>
        <p:txBody>
          <a:bodyPr/>
          <a:lstStyle/>
          <a:p>
            <a:r>
              <a:rPr lang="zh-CN" altLang="zh-CN" dirty="0"/>
              <a:t>在项目主文件夹目录下，在虚拟环境下输入指令：</a:t>
            </a:r>
          </a:p>
          <a:p>
            <a:pPr lvl="1"/>
            <a:r>
              <a:rPr lang="en-US" altLang="zh-CN" smtClean="0"/>
              <a:t>python </a:t>
            </a:r>
            <a:r>
              <a:rPr lang="en-US" altLang="zh-CN" dirty="0" smtClean="0"/>
              <a:t>voc_annotation.py</a:t>
            </a:r>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r>
              <a:rPr lang="zh-CN" altLang="zh-CN" dirty="0"/>
              <a:t>运行完毕后，会自动根据之前设置的比例划分整个数据集，在</a:t>
            </a:r>
            <a:r>
              <a:rPr lang="en-US" altLang="zh-CN" dirty="0" err="1"/>
              <a:t>ImageSets</a:t>
            </a:r>
            <a:r>
              <a:rPr lang="en-US" altLang="zh-CN" dirty="0"/>
              <a:t>/Main</a:t>
            </a:r>
            <a:r>
              <a:rPr lang="zh-CN" altLang="zh-CN" dirty="0"/>
              <a:t>中生成</a:t>
            </a:r>
            <a:r>
              <a:rPr lang="en-US" altLang="zh-CN" dirty="0"/>
              <a:t>4</a:t>
            </a:r>
            <a:r>
              <a:rPr lang="zh-CN" altLang="zh-CN" dirty="0"/>
              <a:t>个</a:t>
            </a:r>
            <a:r>
              <a:rPr lang="en-US" altLang="zh-CN" dirty="0"/>
              <a:t>.txt</a:t>
            </a:r>
            <a:r>
              <a:rPr lang="zh-CN" altLang="zh-CN" dirty="0"/>
              <a:t>文件，在模型根目录下生成</a:t>
            </a:r>
            <a:r>
              <a:rPr lang="en-US" altLang="zh-CN" dirty="0"/>
              <a:t>2007_train.txt</a:t>
            </a:r>
            <a:r>
              <a:rPr lang="zh-CN" altLang="zh-CN" dirty="0"/>
              <a:t>和</a:t>
            </a:r>
            <a:r>
              <a:rPr lang="en-US" altLang="zh-CN" dirty="0"/>
              <a:t>2007_val.txt</a:t>
            </a:r>
            <a:r>
              <a:rPr lang="zh-CN" altLang="zh-CN" dirty="0"/>
              <a:t>文件，并显示整个数据集中各个种类目标的数量</a:t>
            </a:r>
            <a:r>
              <a:rPr lang="zh-CN" altLang="zh-CN" dirty="0" smtClean="0"/>
              <a:t>。</a:t>
            </a:r>
            <a:r>
              <a:rPr lang="zh-CN" altLang="zh-CN" dirty="0"/>
              <a:t>本实验所有图像中共有已标记目标苹果</a:t>
            </a:r>
            <a:r>
              <a:rPr lang="en-US" altLang="zh-CN" dirty="0"/>
              <a:t>232</a:t>
            </a:r>
            <a:r>
              <a:rPr lang="zh-CN" altLang="zh-CN" dirty="0"/>
              <a:t>个、橙子</a:t>
            </a:r>
            <a:r>
              <a:rPr lang="en-US" altLang="zh-CN" dirty="0"/>
              <a:t>257</a:t>
            </a:r>
            <a:r>
              <a:rPr lang="zh-CN" altLang="zh-CN" dirty="0"/>
              <a:t>个、香蕉</a:t>
            </a:r>
            <a:r>
              <a:rPr lang="en-US" altLang="zh-CN" dirty="0"/>
              <a:t>168</a:t>
            </a:r>
            <a:r>
              <a:rPr lang="zh-CN" altLang="zh-CN" dirty="0"/>
              <a:t>个、猕猴桃</a:t>
            </a:r>
            <a:r>
              <a:rPr lang="en-US" altLang="zh-CN" dirty="0"/>
              <a:t>849</a:t>
            </a:r>
            <a:r>
              <a:rPr lang="zh-CN" altLang="zh-CN" dirty="0"/>
              <a:t>个、草莓</a:t>
            </a:r>
            <a:r>
              <a:rPr lang="en-US" altLang="zh-CN" dirty="0"/>
              <a:t>382</a:t>
            </a:r>
            <a:r>
              <a:rPr lang="zh-CN" altLang="zh-CN" dirty="0"/>
              <a:t>个。</a:t>
            </a:r>
          </a:p>
          <a:p>
            <a:endParaRPr lang="en-US" altLang="zh-CN" dirty="0" smtClean="0"/>
          </a:p>
          <a:p>
            <a:endParaRPr lang="zh-CN" altLang="zh-CN" dirty="0"/>
          </a:p>
          <a:p>
            <a:endParaRPr lang="zh-CN" altLang="en-US" dirty="0"/>
          </a:p>
        </p:txBody>
      </p:sp>
      <p:pic>
        <p:nvPicPr>
          <p:cNvPr id="6" name="图片 5"/>
          <p:cNvPicPr>
            <a:picLocks noChangeAspect="1"/>
          </p:cNvPicPr>
          <p:nvPr/>
        </p:nvPicPr>
        <p:blipFill rotWithShape="1">
          <a:blip r:embed="rId2"/>
          <a:srcRect b="45836"/>
          <a:stretch/>
        </p:blipFill>
        <p:spPr>
          <a:xfrm>
            <a:off x="1438063" y="2060155"/>
            <a:ext cx="9314286" cy="2620488"/>
          </a:xfrm>
          <a:prstGeom prst="rect">
            <a:avLst/>
          </a:prstGeom>
        </p:spPr>
      </p:pic>
    </p:spTree>
    <p:extLst>
      <p:ext uri="{BB962C8B-B14F-4D97-AF65-F5344CB8AC3E}">
        <p14:creationId xmlns:p14="http://schemas.microsoft.com/office/powerpoint/2010/main" val="27444726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为了方便，我们也可以直接在</a:t>
            </a:r>
            <a:r>
              <a:rPr lang="en-US" altLang="zh-CN" dirty="0" err="1"/>
              <a:t>Pycharm</a:t>
            </a:r>
            <a:r>
              <a:rPr lang="zh-CN" altLang="zh-CN" dirty="0"/>
              <a:t>中运行</a:t>
            </a:r>
            <a:r>
              <a:rPr lang="en-US" altLang="zh-CN" dirty="0"/>
              <a:t>voc_annotation.py</a:t>
            </a:r>
            <a:r>
              <a:rPr lang="zh-CN" altLang="zh-CN" dirty="0"/>
              <a:t>，最终的结果与命令提示符运行的结果</a:t>
            </a:r>
            <a:r>
              <a:rPr lang="zh-CN" altLang="zh-CN" dirty="0" smtClean="0"/>
              <a:t>相同。</a:t>
            </a:r>
            <a:r>
              <a:rPr lang="zh-CN" altLang="zh-CN" dirty="0"/>
              <a:t>这里需要注意，</a:t>
            </a:r>
            <a:r>
              <a:rPr lang="en-US" altLang="zh-CN" dirty="0" err="1"/>
              <a:t>Pycharm</a:t>
            </a:r>
            <a:r>
              <a:rPr lang="zh-CN" altLang="zh-CN" dirty="0"/>
              <a:t>中需要选择</a:t>
            </a:r>
            <a:r>
              <a:rPr lang="en-US" altLang="zh-CN" dirty="0" err="1"/>
              <a:t>Conda</a:t>
            </a:r>
            <a:r>
              <a:rPr lang="zh-CN" altLang="zh-CN" dirty="0"/>
              <a:t>虚拟环境，具体步骤参考之前的</a:t>
            </a:r>
            <a:r>
              <a:rPr lang="en-US" altLang="zh-CN" dirty="0"/>
              <a:t>“</a:t>
            </a:r>
            <a:r>
              <a:rPr lang="zh-CN" altLang="zh-CN" dirty="0"/>
              <a:t>实验：开发环境配置</a:t>
            </a:r>
            <a:r>
              <a:rPr lang="en-US" altLang="zh-CN" dirty="0"/>
              <a:t>”</a:t>
            </a:r>
            <a:r>
              <a:rPr lang="zh-CN" altLang="zh-CN" dirty="0"/>
              <a:t>。后续运行程序都使用</a:t>
            </a:r>
            <a:r>
              <a:rPr lang="en-US" altLang="zh-CN" dirty="0" err="1"/>
              <a:t>Pycharm</a:t>
            </a:r>
            <a:r>
              <a:rPr lang="zh-CN" altLang="zh-CN" dirty="0"/>
              <a:t>运行。</a:t>
            </a:r>
          </a:p>
          <a:p>
            <a:endParaRPr lang="zh-CN" altLang="en-US" dirty="0"/>
          </a:p>
        </p:txBody>
      </p:sp>
      <p:pic>
        <p:nvPicPr>
          <p:cNvPr id="6" name="图片 5"/>
          <p:cNvPicPr>
            <a:picLocks noChangeAspect="1"/>
          </p:cNvPicPr>
          <p:nvPr/>
        </p:nvPicPr>
        <p:blipFill>
          <a:blip r:embed="rId2"/>
          <a:stretch>
            <a:fillRect/>
          </a:stretch>
        </p:blipFill>
        <p:spPr>
          <a:xfrm>
            <a:off x="1108374" y="2605986"/>
            <a:ext cx="9973663" cy="2055600"/>
          </a:xfrm>
          <a:prstGeom prst="rect">
            <a:avLst/>
          </a:prstGeom>
        </p:spPr>
      </p:pic>
    </p:spTree>
    <p:extLst>
      <p:ext uri="{BB962C8B-B14F-4D97-AF65-F5344CB8AC3E}">
        <p14:creationId xmlns:p14="http://schemas.microsoft.com/office/powerpoint/2010/main" val="3980918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989843293"/>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1988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一般情况下不会采用从</a:t>
            </a:r>
            <a:r>
              <a:rPr lang="en-US" altLang="zh-CN" dirty="0"/>
              <a:t>0</a:t>
            </a:r>
            <a:r>
              <a:rPr lang="zh-CN" altLang="zh-CN" dirty="0"/>
              <a:t>开始的训练方式，而是使用预训练模型加快训练速度。</a:t>
            </a:r>
          </a:p>
          <a:p>
            <a:r>
              <a:rPr lang="zh-CN" altLang="en-US" dirty="0" smtClean="0"/>
              <a:t>这种采用预训练的方法思想称为迁移学习（</a:t>
            </a:r>
            <a:r>
              <a:rPr lang="en-US" altLang="zh-CN" dirty="0" smtClean="0"/>
              <a:t>Transfer Learning</a:t>
            </a:r>
            <a:r>
              <a:rPr lang="zh-CN" altLang="en-US" dirty="0" smtClean="0"/>
              <a:t>）：</a:t>
            </a:r>
            <a:endParaRPr lang="en-US" altLang="zh-CN" dirty="0" smtClean="0"/>
          </a:p>
          <a:p>
            <a:pPr lvl="1"/>
            <a:r>
              <a:rPr lang="zh-CN" altLang="en-US" dirty="0"/>
              <a:t>从相关领域中迁移标注数据或者知识结构、完成或改进目标领域或任务的学习效果</a:t>
            </a:r>
            <a:endParaRPr lang="en-US" altLang="zh-CN" dirty="0" smtClean="0"/>
          </a:p>
          <a:p>
            <a:pPr lvl="1"/>
            <a:r>
              <a:rPr lang="zh-CN" altLang="en-US" dirty="0" smtClean="0"/>
              <a:t>从一个环境中学到的知识用来帮助新环境的学习任务</a:t>
            </a:r>
            <a:endParaRPr lang="en-US" altLang="zh-CN" dirty="0" smtClean="0"/>
          </a:p>
          <a:p>
            <a:pPr lvl="1"/>
            <a:r>
              <a:rPr lang="zh-CN" altLang="en-US" dirty="0" smtClean="0"/>
              <a:t>允许利用少量的标注数据完成模型训练</a:t>
            </a:r>
            <a:endParaRPr lang="en-US" altLang="zh-CN" dirty="0" smtClean="0"/>
          </a:p>
          <a:p>
            <a:pPr lvl="1"/>
            <a:endParaRPr lang="en-US" altLang="zh-CN" dirty="0" smtClean="0"/>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8766" y="2547863"/>
            <a:ext cx="5141722" cy="3589412"/>
          </a:xfrm>
          <a:prstGeom prst="rect">
            <a:avLst/>
          </a:prstGeom>
        </p:spPr>
      </p:pic>
    </p:spTree>
    <p:extLst>
      <p:ext uri="{BB962C8B-B14F-4D97-AF65-F5344CB8AC3E}">
        <p14:creationId xmlns:p14="http://schemas.microsoft.com/office/powerpoint/2010/main" val="3069472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en-US" dirty="0" smtClean="0"/>
              <a:t>深度</a:t>
            </a:r>
            <a:r>
              <a:rPr lang="zh-CN" altLang="en-US" dirty="0"/>
              <a:t>卷积网络可</a:t>
            </a:r>
            <a:r>
              <a:rPr lang="zh-CN" altLang="en-US" dirty="0" smtClean="0"/>
              <a:t>迁移性：</a:t>
            </a:r>
            <a:endParaRPr lang="en-US" altLang="zh-CN" dirty="0" smtClean="0"/>
          </a:p>
          <a:p>
            <a:pPr lvl="1"/>
            <a:r>
              <a:rPr lang="zh-CN" altLang="en-US" dirty="0" smtClean="0"/>
              <a:t>良好的层次结构</a:t>
            </a:r>
            <a:endParaRPr lang="en-US" altLang="zh-CN" dirty="0" smtClean="0"/>
          </a:p>
          <a:p>
            <a:pPr lvl="1"/>
            <a:r>
              <a:rPr lang="zh-CN" altLang="en-US" dirty="0" smtClean="0"/>
              <a:t>浅层特征（通用特征）</a:t>
            </a:r>
            <a:endParaRPr lang="en-US" altLang="zh-CN" dirty="0" smtClean="0"/>
          </a:p>
          <a:p>
            <a:pPr lvl="1"/>
            <a:r>
              <a:rPr lang="zh-CN" altLang="en-US" dirty="0" smtClean="0"/>
              <a:t>深层特征（特定特征）</a:t>
            </a:r>
            <a:endParaRPr lang="en-US" altLang="zh-CN" dirty="0" smtClean="0"/>
          </a:p>
          <a:p>
            <a:pPr lvl="1"/>
            <a:endParaRPr lang="zh-CN" altLang="en-US"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65122" y="1718631"/>
            <a:ext cx="7855366" cy="4418643"/>
          </a:xfrm>
          <a:prstGeom prst="rect">
            <a:avLst/>
          </a:prstGeom>
        </p:spPr>
      </p:pic>
    </p:spTree>
    <p:extLst>
      <p:ext uri="{BB962C8B-B14F-4D97-AF65-F5344CB8AC3E}">
        <p14:creationId xmlns:p14="http://schemas.microsoft.com/office/powerpoint/2010/main" val="1708025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en-US" dirty="0" smtClean="0"/>
              <a:t>目标检测网络：</a:t>
            </a:r>
            <a:endParaRPr lang="en-US" altLang="zh-CN" dirty="0" smtClean="0"/>
          </a:p>
          <a:p>
            <a:pPr lvl="1"/>
            <a:r>
              <a:rPr lang="en-US" altLang="zh-CN" dirty="0"/>
              <a:t>b</a:t>
            </a:r>
            <a:r>
              <a:rPr lang="en-US" altLang="zh-CN" dirty="0" smtClean="0"/>
              <a:t>ackbone</a:t>
            </a:r>
            <a:r>
              <a:rPr lang="zh-CN" altLang="en-US" dirty="0" smtClean="0"/>
              <a:t>（主干网络）</a:t>
            </a:r>
            <a:endParaRPr lang="en-US" altLang="zh-CN" dirty="0" smtClean="0"/>
          </a:p>
          <a:p>
            <a:pPr lvl="2"/>
            <a:r>
              <a:rPr lang="zh-CN" altLang="en-US" dirty="0" smtClean="0"/>
              <a:t>提取特征</a:t>
            </a:r>
            <a:endParaRPr lang="en-US" altLang="zh-CN" dirty="0" smtClean="0"/>
          </a:p>
          <a:p>
            <a:pPr lvl="1"/>
            <a:r>
              <a:rPr lang="en-US" altLang="zh-CN" dirty="0" smtClean="0"/>
              <a:t>neck</a:t>
            </a:r>
          </a:p>
          <a:p>
            <a:pPr lvl="2"/>
            <a:r>
              <a:rPr lang="zh-CN" altLang="en-US" dirty="0" smtClean="0"/>
              <a:t>更好地利用特征</a:t>
            </a:r>
            <a:endParaRPr lang="en-US" altLang="zh-CN" dirty="0" smtClean="0"/>
          </a:p>
          <a:p>
            <a:pPr lvl="1"/>
            <a:r>
              <a:rPr lang="en-US" altLang="zh-CN" dirty="0" smtClean="0"/>
              <a:t>head</a:t>
            </a:r>
          </a:p>
          <a:p>
            <a:pPr lvl="2"/>
            <a:r>
              <a:rPr lang="zh-CN" altLang="en-US" dirty="0" smtClean="0"/>
              <a:t>分类与定位</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4043" y="3346806"/>
            <a:ext cx="8226445" cy="2790468"/>
          </a:xfrm>
          <a:prstGeom prst="rect">
            <a:avLst/>
          </a:prstGeom>
        </p:spPr>
      </p:pic>
    </p:spTree>
    <p:extLst>
      <p:ext uri="{BB962C8B-B14F-4D97-AF65-F5344CB8AC3E}">
        <p14:creationId xmlns:p14="http://schemas.microsoft.com/office/powerpoint/2010/main" val="31640588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en-US" dirty="0" smtClean="0"/>
              <a:t>迁移学习：</a:t>
            </a:r>
            <a:endParaRPr lang="en-US" altLang="zh-CN" dirty="0" smtClean="0"/>
          </a:p>
          <a:p>
            <a:pPr lvl="1"/>
            <a:r>
              <a:rPr lang="zh-CN" altLang="en-US" dirty="0" smtClean="0"/>
              <a:t>微调（</a:t>
            </a:r>
            <a:r>
              <a:rPr lang="en-US" altLang="zh-CN" dirty="0" smtClean="0"/>
              <a:t>fine-tune</a:t>
            </a:r>
            <a:r>
              <a:rPr lang="zh-CN" altLang="en-US" dirty="0" smtClean="0"/>
              <a:t>）</a:t>
            </a:r>
            <a:r>
              <a:rPr lang="en-US" altLang="zh-CN" dirty="0" smtClean="0"/>
              <a:t>:</a:t>
            </a:r>
          </a:p>
          <a:p>
            <a:pPr lvl="2"/>
            <a:r>
              <a:rPr lang="zh-CN" altLang="en-US" dirty="0" smtClean="0"/>
              <a:t>预训练网络权重对自己网络权重进行初始化</a:t>
            </a:r>
            <a:endParaRPr lang="en-US" altLang="zh-CN" dirty="0" smtClean="0"/>
          </a:p>
          <a:p>
            <a:pPr lvl="2"/>
            <a:r>
              <a:rPr lang="zh-CN" altLang="en-US" dirty="0" smtClean="0"/>
              <a:t>通过反向传播微调整个网络其余部分的权重</a:t>
            </a:r>
            <a:endParaRPr lang="en-US" altLang="zh-CN" dirty="0" smtClean="0"/>
          </a:p>
          <a:p>
            <a:pPr lvl="1"/>
            <a:r>
              <a:rPr lang="zh-CN" altLang="en-US" dirty="0" smtClean="0"/>
              <a:t>固定特征提取器（</a:t>
            </a:r>
            <a:r>
              <a:rPr lang="en-US" altLang="zh-CN" dirty="0" smtClean="0"/>
              <a:t>fixed feature extractor</a:t>
            </a:r>
            <a:r>
              <a:rPr lang="zh-CN" altLang="en-US" dirty="0" smtClean="0"/>
              <a:t>）</a:t>
            </a:r>
            <a:r>
              <a:rPr lang="en-US" altLang="zh-CN" dirty="0" smtClean="0"/>
              <a:t>:</a:t>
            </a:r>
          </a:p>
          <a:p>
            <a:pPr lvl="2"/>
            <a:r>
              <a:rPr lang="zh-CN" altLang="en-US" dirty="0" smtClean="0"/>
              <a:t>预训练网络作为特征提取器</a:t>
            </a:r>
            <a:endParaRPr lang="en-US" altLang="zh-CN" dirty="0" smtClean="0"/>
          </a:p>
          <a:p>
            <a:pPr lvl="2"/>
            <a:r>
              <a:rPr lang="zh-CN" altLang="en-US" dirty="0" smtClean="0"/>
              <a:t>冻结主干网络（特征提取部分）</a:t>
            </a:r>
            <a:endParaRPr lang="en-US" altLang="zh-CN" dirty="0" smtClean="0"/>
          </a:p>
          <a:p>
            <a:pPr lvl="2"/>
            <a:r>
              <a:rPr lang="zh-CN" altLang="en-US" dirty="0" smtClean="0"/>
              <a:t>仅训练最后的全连接层（分类部分）</a:t>
            </a: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3751" y="1857221"/>
            <a:ext cx="5706737" cy="4280053"/>
          </a:xfrm>
          <a:prstGeom prst="rect">
            <a:avLst/>
          </a:prstGeom>
        </p:spPr>
      </p:pic>
    </p:spTree>
    <p:extLst>
      <p:ext uri="{BB962C8B-B14F-4D97-AF65-F5344CB8AC3E}">
        <p14:creationId xmlns:p14="http://schemas.microsoft.com/office/powerpoint/2010/main" val="18505477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一般情况下不会采用从</a:t>
            </a:r>
            <a:r>
              <a:rPr lang="en-US" altLang="zh-CN" dirty="0"/>
              <a:t>0</a:t>
            </a:r>
            <a:r>
              <a:rPr lang="zh-CN" altLang="zh-CN" dirty="0"/>
              <a:t>开始的训练方式，而是使用预训练模型加快训练速度。</a:t>
            </a:r>
          </a:p>
          <a:p>
            <a:r>
              <a:rPr lang="zh-CN" altLang="zh-CN" dirty="0" smtClean="0"/>
              <a:t>将</a:t>
            </a:r>
            <a:r>
              <a:rPr lang="zh-CN" altLang="zh-CN" dirty="0"/>
              <a:t>预训练权重文件移至</a:t>
            </a:r>
            <a:r>
              <a:rPr lang="en-US" altLang="zh-CN" dirty="0" err="1"/>
              <a:t>model_data</a:t>
            </a:r>
            <a:r>
              <a:rPr lang="zh-CN" altLang="zh-CN" dirty="0"/>
              <a:t>文件夹下：</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3825" y="2335794"/>
            <a:ext cx="7782761" cy="3801480"/>
          </a:xfrm>
          <a:prstGeom prst="rect">
            <a:avLst/>
          </a:prstGeom>
        </p:spPr>
      </p:pic>
    </p:spTree>
    <p:extLst>
      <p:ext uri="{BB962C8B-B14F-4D97-AF65-F5344CB8AC3E}">
        <p14:creationId xmlns:p14="http://schemas.microsoft.com/office/powerpoint/2010/main" val="2624952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yolov4_tiny_weights</a:t>
            </a:r>
            <a:r>
              <a:rPr lang="en-US" altLang="zh-CN" dirty="0"/>
              <a:t>_*****.</a:t>
            </a:r>
            <a:r>
              <a:rPr lang="en-US" altLang="zh-CN" dirty="0" err="1"/>
              <a:t>pth</a:t>
            </a:r>
            <a:r>
              <a:rPr lang="zh-CN" altLang="zh-CN" dirty="0"/>
              <a:t>的权重文件指已经在公开数据集上训练得到的整个网络的所有权重，</a:t>
            </a:r>
            <a:r>
              <a:rPr lang="en-US" altLang="zh-CN" dirty="0" err="1"/>
              <a:t>voc</a:t>
            </a:r>
            <a:r>
              <a:rPr lang="zh-CN" altLang="zh-CN" dirty="0"/>
              <a:t>表示</a:t>
            </a:r>
            <a:r>
              <a:rPr lang="en-US" altLang="zh-CN" dirty="0" err="1"/>
              <a:t>voc</a:t>
            </a:r>
            <a:r>
              <a:rPr lang="zh-CN" altLang="zh-CN" dirty="0"/>
              <a:t>数据集，</a:t>
            </a:r>
            <a:r>
              <a:rPr lang="en-US" altLang="zh-CN" dirty="0"/>
              <a:t>coco</a:t>
            </a:r>
            <a:r>
              <a:rPr lang="zh-CN" altLang="zh-CN" dirty="0"/>
              <a:t>表示</a:t>
            </a:r>
            <a:r>
              <a:rPr lang="en-US" altLang="zh-CN" dirty="0"/>
              <a:t>coco</a:t>
            </a:r>
            <a:r>
              <a:rPr lang="zh-CN" altLang="zh-CN" dirty="0"/>
              <a:t>数据集，</a:t>
            </a:r>
            <a:r>
              <a:rPr lang="en-US" altLang="zh-CN" dirty="0" err="1"/>
              <a:t>voc</a:t>
            </a:r>
            <a:r>
              <a:rPr lang="zh-CN" altLang="zh-CN" dirty="0"/>
              <a:t>的后缀表示使用了注意力机制得出的模型。</a:t>
            </a:r>
          </a:p>
          <a:p>
            <a:r>
              <a:rPr lang="en-US" altLang="zh-CN" dirty="0"/>
              <a:t>CSPdarknet53_*****.</a:t>
            </a:r>
            <a:r>
              <a:rPr lang="en-US" altLang="zh-CN" dirty="0" err="1"/>
              <a:t>pth</a:t>
            </a:r>
            <a:r>
              <a:rPr lang="zh-CN" altLang="zh-CN" dirty="0"/>
              <a:t>指仅保留主干网络的权重文件，</a:t>
            </a:r>
            <a:r>
              <a:rPr lang="en-US" altLang="zh-CN" dirty="0"/>
              <a:t>yolov4</a:t>
            </a:r>
            <a:r>
              <a:rPr lang="zh-CN" altLang="zh-CN" dirty="0"/>
              <a:t>算法使用的网络只有官方给出的</a:t>
            </a:r>
            <a:r>
              <a:rPr lang="en-US" altLang="zh-CN" dirty="0"/>
              <a:t>darknet53</a:t>
            </a:r>
            <a:r>
              <a:rPr lang="zh-CN" altLang="zh-CN" dirty="0"/>
              <a:t>网络。</a:t>
            </a:r>
          </a:p>
          <a:p>
            <a:r>
              <a:rPr lang="zh-CN" altLang="zh-CN" dirty="0"/>
              <a:t>包含整个网络所有权重的文件大小会大于仅保留主干网络权重的文件。</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923" y="1130299"/>
            <a:ext cx="5548566" cy="2710190"/>
          </a:xfrm>
          <a:prstGeom prst="rect">
            <a:avLst/>
          </a:prstGeom>
        </p:spPr>
      </p:pic>
    </p:spTree>
    <p:extLst>
      <p:ext uri="{BB962C8B-B14F-4D97-AF65-F5344CB8AC3E}">
        <p14:creationId xmlns:p14="http://schemas.microsoft.com/office/powerpoint/2010/main" val="2738395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训练模型的主要代码及参数均在</a:t>
            </a:r>
            <a:r>
              <a:rPr lang="en-US" altLang="zh-CN" dirty="0"/>
              <a:t>train.py</a:t>
            </a:r>
            <a:r>
              <a:rPr lang="zh-CN" altLang="zh-CN" dirty="0"/>
              <a:t>中，涉及到的参数很多，部分参数</a:t>
            </a:r>
            <a:r>
              <a:rPr lang="zh-CN" altLang="zh-CN" b="1" dirty="0">
                <a:solidFill>
                  <a:srgbClr val="FF0000"/>
                </a:solidFill>
              </a:rPr>
              <a:t>必须</a:t>
            </a:r>
            <a:r>
              <a:rPr lang="zh-CN" altLang="zh-CN" dirty="0"/>
              <a:t>修改：</a:t>
            </a:r>
          </a:p>
          <a:p>
            <a:r>
              <a:rPr lang="en-US" altLang="zh-CN" dirty="0" err="1"/>
              <a:t>classes_path</a:t>
            </a:r>
            <a:r>
              <a:rPr lang="zh-CN" altLang="zh-CN" dirty="0"/>
              <a:t>，改为</a:t>
            </a:r>
            <a:r>
              <a:rPr lang="en-US" altLang="zh-CN" dirty="0"/>
              <a:t>‘</a:t>
            </a:r>
            <a:r>
              <a:rPr lang="en-US" altLang="zh-CN" dirty="0" err="1"/>
              <a:t>model_data</a:t>
            </a:r>
            <a:r>
              <a:rPr lang="en-US" altLang="zh-CN" dirty="0"/>
              <a:t>/predefined_classes.txt’</a:t>
            </a:r>
            <a:r>
              <a:rPr lang="zh-CN" altLang="zh-CN" dirty="0"/>
              <a:t>（与上一步骤操作相同但文件不同</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4730" y="2890929"/>
            <a:ext cx="6980952" cy="1485714"/>
          </a:xfrm>
          <a:prstGeom prst="rect">
            <a:avLst/>
          </a:prstGeom>
        </p:spPr>
      </p:pic>
    </p:spTree>
    <p:extLst>
      <p:ext uri="{BB962C8B-B14F-4D97-AF65-F5344CB8AC3E}">
        <p14:creationId xmlns:p14="http://schemas.microsoft.com/office/powerpoint/2010/main" val="3084076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训练模型的主要代码及参数均在</a:t>
            </a:r>
            <a:r>
              <a:rPr lang="en-US" altLang="zh-CN" dirty="0"/>
              <a:t>train.py</a:t>
            </a:r>
            <a:r>
              <a:rPr lang="zh-CN" altLang="zh-CN" dirty="0"/>
              <a:t>中，涉及到的参数很多，部分参数</a:t>
            </a:r>
            <a:r>
              <a:rPr lang="zh-CN" altLang="zh-CN" b="1" dirty="0">
                <a:solidFill>
                  <a:srgbClr val="FF0000"/>
                </a:solidFill>
              </a:rPr>
              <a:t>必须</a:t>
            </a:r>
            <a:r>
              <a:rPr lang="zh-CN" altLang="zh-CN" dirty="0"/>
              <a:t>修改：</a:t>
            </a:r>
          </a:p>
          <a:p>
            <a:r>
              <a:rPr lang="en-US" altLang="zh-CN" dirty="0" err="1" smtClean="0"/>
              <a:t>model_path</a:t>
            </a:r>
            <a:r>
              <a:rPr lang="zh-CN" altLang="zh-CN" dirty="0"/>
              <a:t>，已有的模型文件，填预训练权重文件的路径。必须要使用预训练权重，因为我们的数据量级远不及训练整个网络的标准。</a:t>
            </a:r>
          </a:p>
          <a:p>
            <a:r>
              <a:rPr lang="zh-CN" altLang="zh-CN" dirty="0" smtClean="0"/>
              <a:t>这里</a:t>
            </a:r>
            <a:r>
              <a:rPr lang="zh-CN" altLang="zh-CN" dirty="0"/>
              <a:t>有两种训练方式，第一种方式是将</a:t>
            </a:r>
            <a:r>
              <a:rPr lang="en-US" altLang="zh-CN" dirty="0" err="1"/>
              <a:t>model_path</a:t>
            </a:r>
            <a:r>
              <a:rPr lang="zh-CN" altLang="zh-CN" dirty="0"/>
              <a:t>改为已经在</a:t>
            </a:r>
            <a:r>
              <a:rPr lang="en-US" altLang="zh-CN" dirty="0" err="1"/>
              <a:t>voc</a:t>
            </a:r>
            <a:r>
              <a:rPr lang="zh-CN" altLang="zh-CN" dirty="0"/>
              <a:t>数据集上训练得到模型的全部权重，即直接使用</a:t>
            </a:r>
            <a:r>
              <a:rPr lang="en-US" altLang="zh-CN" dirty="0" err="1"/>
              <a:t>voc</a:t>
            </a:r>
            <a:r>
              <a:rPr lang="zh-CN" altLang="zh-CN" dirty="0"/>
              <a:t>上训练得到的模型，采用微调的方法进行训练。</a:t>
            </a:r>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smtClean="0"/>
              <a:t>上</a:t>
            </a:r>
            <a:r>
              <a:rPr lang="zh-CN" altLang="zh-CN" dirty="0"/>
              <a:t>图使用</a:t>
            </a:r>
            <a:r>
              <a:rPr lang="en-US" altLang="zh-CN" dirty="0"/>
              <a:t>yolov4_tiny_weights_voc.pth</a:t>
            </a:r>
            <a:r>
              <a:rPr lang="zh-CN" altLang="zh-CN" dirty="0"/>
              <a:t>为例，也可以使用其他的权重（模型）。</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8890" y="3155847"/>
            <a:ext cx="6792631" cy="2359805"/>
          </a:xfrm>
          <a:prstGeom prst="rect">
            <a:avLst/>
          </a:prstGeom>
        </p:spPr>
      </p:pic>
    </p:spTree>
    <p:extLst>
      <p:ext uri="{BB962C8B-B14F-4D97-AF65-F5344CB8AC3E}">
        <p14:creationId xmlns:p14="http://schemas.microsoft.com/office/powerpoint/2010/main" val="12421546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第二种方式是不填</a:t>
            </a:r>
            <a:r>
              <a:rPr lang="en-US" altLang="zh-CN" dirty="0" err="1"/>
              <a:t>model_path</a:t>
            </a:r>
            <a:r>
              <a:rPr lang="zh-CN" altLang="zh-CN" dirty="0" smtClean="0"/>
              <a:t>，选择</a:t>
            </a:r>
            <a:r>
              <a:rPr lang="en-US" altLang="zh-CN" dirty="0"/>
              <a:t>phi</a:t>
            </a:r>
            <a:r>
              <a:rPr lang="zh-CN" altLang="zh-CN" dirty="0"/>
              <a:t>的值，将下面的</a:t>
            </a:r>
            <a:r>
              <a:rPr lang="en-US" altLang="zh-CN" dirty="0" err="1"/>
              <a:t>pretrained</a:t>
            </a:r>
            <a:r>
              <a:rPr lang="zh-CN" altLang="zh-CN" dirty="0"/>
              <a:t>参数改为</a:t>
            </a:r>
            <a:r>
              <a:rPr lang="en-US" altLang="zh-CN" dirty="0"/>
              <a:t>True</a:t>
            </a:r>
            <a:r>
              <a:rPr lang="zh-CN" altLang="zh-CN" dirty="0"/>
              <a:t>：</a:t>
            </a:r>
          </a:p>
          <a:p>
            <a:endParaRPr lang="en-US" altLang="zh-CN" dirty="0" smtClean="0"/>
          </a:p>
          <a:p>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smtClean="0"/>
              <a:t>默认</a:t>
            </a:r>
            <a:r>
              <a:rPr lang="zh-CN" altLang="zh-CN" dirty="0"/>
              <a:t>选择</a:t>
            </a:r>
            <a:r>
              <a:rPr lang="en-US" altLang="zh-CN" dirty="0"/>
              <a:t>yolov4</a:t>
            </a:r>
            <a:r>
              <a:rPr lang="zh-CN" altLang="zh-CN" dirty="0"/>
              <a:t>的</a:t>
            </a:r>
            <a:r>
              <a:rPr lang="en-US" altLang="zh-CN" dirty="0"/>
              <a:t>CSPdaeknet53</a:t>
            </a:r>
            <a:r>
              <a:rPr lang="zh-CN" altLang="zh-CN" dirty="0"/>
              <a:t>网络，加载主干开始训练。此外还可以通过修改</a:t>
            </a:r>
            <a:r>
              <a:rPr lang="en-US" altLang="zh-CN" dirty="0"/>
              <a:t>phi</a:t>
            </a:r>
            <a:r>
              <a:rPr lang="zh-CN" altLang="zh-CN" dirty="0"/>
              <a:t>的值选择注意力机制（对小型数据集几乎没有优化）。</a:t>
            </a:r>
          </a:p>
          <a:p>
            <a:endParaRPr lang="zh-CN" altLang="zh-CN" dirty="0" smtClean="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4723" y="1638676"/>
            <a:ext cx="5220966" cy="3498380"/>
          </a:xfrm>
          <a:prstGeom prst="rect">
            <a:avLst/>
          </a:prstGeom>
        </p:spPr>
      </p:pic>
    </p:spTree>
    <p:extLst>
      <p:ext uri="{BB962C8B-B14F-4D97-AF65-F5344CB8AC3E}">
        <p14:creationId xmlns:p14="http://schemas.microsoft.com/office/powerpoint/2010/main" val="30653844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b="1" dirty="0"/>
              <a:t>如果是采用</a:t>
            </a:r>
            <a:r>
              <a:rPr lang="en-US" altLang="zh-CN" b="1" dirty="0"/>
              <a:t>CPU</a:t>
            </a:r>
            <a:r>
              <a:rPr lang="zh-CN" altLang="zh-CN" b="1" dirty="0"/>
              <a:t>训练的方式，还需要将</a:t>
            </a:r>
            <a:r>
              <a:rPr lang="en-US" altLang="zh-CN" b="1" dirty="0"/>
              <a:t>CUDA</a:t>
            </a:r>
            <a:r>
              <a:rPr lang="zh-CN" altLang="zh-CN" b="1" dirty="0"/>
              <a:t>改为</a:t>
            </a:r>
            <a:r>
              <a:rPr lang="en-US" altLang="zh-CN" b="1" dirty="0" smtClean="0"/>
              <a:t>False</a:t>
            </a:r>
            <a:r>
              <a:rPr lang="zh-CN" altLang="zh-CN" b="1" dirty="0" smtClean="0"/>
              <a:t>。</a:t>
            </a:r>
            <a:endParaRPr lang="en-US" altLang="zh-CN" b="1"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endParaRPr lang="en-US" altLang="zh-CN" b="1" dirty="0" smtClean="0"/>
          </a:p>
          <a:p>
            <a:r>
              <a:rPr lang="zh-CN" altLang="zh-CN" dirty="0"/>
              <a:t>关于其他可选参数的修改，代码中有极为详细的注释，这里不做赘述。</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9491" y="2529024"/>
            <a:ext cx="4371429" cy="2209524"/>
          </a:xfrm>
          <a:prstGeom prst="rect">
            <a:avLst/>
          </a:prstGeom>
        </p:spPr>
      </p:pic>
    </p:spTree>
    <p:extLst>
      <p:ext uri="{BB962C8B-B14F-4D97-AF65-F5344CB8AC3E}">
        <p14:creationId xmlns:p14="http://schemas.microsoft.com/office/powerpoint/2010/main" val="612252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在</a:t>
            </a:r>
            <a:r>
              <a:rPr lang="en-US" altLang="zh-CN" dirty="0" err="1"/>
              <a:t>Pycharm</a:t>
            </a:r>
            <a:r>
              <a:rPr lang="zh-CN" altLang="zh-CN" dirty="0"/>
              <a:t>中运行</a:t>
            </a:r>
            <a:r>
              <a:rPr lang="en-US" altLang="zh-CN" dirty="0"/>
              <a:t>train.py</a:t>
            </a:r>
            <a:r>
              <a:rPr lang="zh-CN" altLang="zh-CN" dirty="0"/>
              <a:t>，将会自动加载模型参数开始</a:t>
            </a:r>
            <a:r>
              <a:rPr lang="zh-CN" altLang="zh-CN" dirty="0" smtClean="0"/>
              <a:t>训练</a:t>
            </a:r>
            <a:r>
              <a:rPr lang="zh-CN" altLang="en-US" dirty="0"/>
              <a:t>。</a:t>
            </a:r>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endParaRPr lang="zh-CN" altLang="zh-CN" dirty="0"/>
          </a:p>
          <a:p>
            <a:endParaRPr lang="zh-CN" altLang="en-US" dirty="0"/>
          </a:p>
        </p:txBody>
      </p:sp>
      <p:pic>
        <p:nvPicPr>
          <p:cNvPr id="6" name="图片 5"/>
          <p:cNvPicPr>
            <a:picLocks noChangeAspect="1"/>
          </p:cNvPicPr>
          <p:nvPr/>
        </p:nvPicPr>
        <p:blipFill>
          <a:blip r:embed="rId3"/>
          <a:stretch>
            <a:fillRect/>
          </a:stretch>
        </p:blipFill>
        <p:spPr>
          <a:xfrm>
            <a:off x="3816272" y="1698474"/>
            <a:ext cx="4557867" cy="4438800"/>
          </a:xfrm>
          <a:prstGeom prst="rect">
            <a:avLst/>
          </a:prstGeom>
        </p:spPr>
      </p:pic>
    </p:spTree>
    <p:extLst>
      <p:ext uri="{BB962C8B-B14F-4D97-AF65-F5344CB8AC3E}">
        <p14:creationId xmlns:p14="http://schemas.microsoft.com/office/powerpoint/2010/main" val="8790667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模型已开始根据设置的参数训练，训练时间主要与</a:t>
            </a:r>
            <a:r>
              <a:rPr lang="en-US" altLang="zh-CN" dirty="0"/>
              <a:t>CPU/GPU</a:t>
            </a:r>
            <a:r>
              <a:rPr lang="zh-CN" altLang="zh-CN" dirty="0"/>
              <a:t>性能、数据集大小、训练的世代（</a:t>
            </a:r>
            <a:r>
              <a:rPr lang="en-US" altLang="zh-CN" dirty="0"/>
              <a:t>epoch</a:t>
            </a:r>
            <a:r>
              <a:rPr lang="zh-CN" altLang="zh-CN" dirty="0"/>
              <a:t>）有关。如果是</a:t>
            </a:r>
            <a:r>
              <a:rPr lang="en-US" altLang="zh-CN" dirty="0"/>
              <a:t>CPU</a:t>
            </a:r>
            <a:r>
              <a:rPr lang="zh-CN" altLang="zh-CN" dirty="0"/>
              <a:t>训练会比</a:t>
            </a:r>
            <a:r>
              <a:rPr lang="en-US" altLang="zh-CN" dirty="0"/>
              <a:t>GPU</a:t>
            </a:r>
            <a:r>
              <a:rPr lang="zh-CN" altLang="zh-CN" dirty="0"/>
              <a:t>训练花费更多的时间。</a:t>
            </a:r>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zh-CN" dirty="0"/>
          </a:p>
          <a:p>
            <a:endParaRPr lang="zh-CN" altLang="zh-CN" dirty="0"/>
          </a:p>
          <a:p>
            <a:endParaRPr lang="zh-CN" altLang="en-US" dirty="0"/>
          </a:p>
        </p:txBody>
      </p:sp>
      <p:pic>
        <p:nvPicPr>
          <p:cNvPr id="4" name="图片 3"/>
          <p:cNvPicPr>
            <a:picLocks noChangeAspect="1"/>
          </p:cNvPicPr>
          <p:nvPr/>
        </p:nvPicPr>
        <p:blipFill>
          <a:blip r:embed="rId3"/>
          <a:stretch>
            <a:fillRect/>
          </a:stretch>
        </p:blipFill>
        <p:spPr>
          <a:xfrm>
            <a:off x="1933301" y="2184893"/>
            <a:ext cx="8323809" cy="3952381"/>
          </a:xfrm>
          <a:prstGeom prst="rect">
            <a:avLst/>
          </a:prstGeom>
        </p:spPr>
      </p:pic>
    </p:spTree>
    <p:extLst>
      <p:ext uri="{BB962C8B-B14F-4D97-AF65-F5344CB8AC3E}">
        <p14:creationId xmlns:p14="http://schemas.microsoft.com/office/powerpoint/2010/main" val="35250457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en-US" altLang="zh-CN" dirty="0"/>
              <a:t>*</a:t>
            </a:r>
            <a:r>
              <a:rPr lang="zh-CN" altLang="zh-CN" dirty="0"/>
              <a:t>在性能与数据集大小确定的情况下，通过改小训练的世代能够缩短训练的时间，但可能会错过最佳的模型，因此不推荐。本实验中的示例图采用世代值为</a:t>
            </a:r>
            <a:r>
              <a:rPr lang="en-US" altLang="zh-CN" dirty="0"/>
              <a:t>300</a:t>
            </a:r>
            <a:r>
              <a:rPr lang="zh-CN" altLang="zh-CN" dirty="0" smtClean="0"/>
              <a:t>，</a:t>
            </a:r>
            <a:r>
              <a:rPr lang="zh-CN" altLang="zh-CN" dirty="0"/>
              <a:t>检测目标为</a:t>
            </a:r>
            <a:r>
              <a:rPr lang="en-US" altLang="zh-CN" dirty="0"/>
              <a:t>5</a:t>
            </a:r>
            <a:r>
              <a:rPr lang="zh-CN" altLang="zh-CN" dirty="0"/>
              <a:t>种，</a:t>
            </a:r>
            <a:r>
              <a:rPr lang="zh-CN" altLang="zh-CN" dirty="0" smtClean="0"/>
              <a:t>可以</a:t>
            </a:r>
            <a:r>
              <a:rPr lang="zh-CN" altLang="zh-CN" dirty="0"/>
              <a:t>适当地降低</a:t>
            </a:r>
            <a:r>
              <a:rPr lang="en-US" altLang="zh-CN" dirty="0"/>
              <a:t>epoch</a:t>
            </a:r>
            <a:r>
              <a:rPr lang="zh-CN" altLang="zh-CN" dirty="0"/>
              <a:t>值，</a:t>
            </a:r>
            <a:r>
              <a:rPr lang="zh-CN" altLang="zh-CN" dirty="0" smtClean="0"/>
              <a:t>比如改为</a:t>
            </a:r>
            <a:r>
              <a:rPr lang="en-US" altLang="zh-CN" dirty="0" smtClean="0"/>
              <a:t>200</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8539" y="3403941"/>
            <a:ext cx="6933333" cy="2733333"/>
          </a:xfrm>
          <a:prstGeom prst="rect">
            <a:avLst/>
          </a:prstGeom>
        </p:spPr>
      </p:pic>
    </p:spTree>
    <p:extLst>
      <p:ext uri="{BB962C8B-B14F-4D97-AF65-F5344CB8AC3E}">
        <p14:creationId xmlns:p14="http://schemas.microsoft.com/office/powerpoint/2010/main" val="28066436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最终训练完成</a:t>
            </a:r>
            <a:r>
              <a:rPr lang="zh-CN" altLang="zh-CN" dirty="0" smtClean="0"/>
              <a:t>界面</a:t>
            </a:r>
            <a:r>
              <a:rPr lang="zh-CN" altLang="en-US" dirty="0" smtClean="0"/>
              <a:t>：</a:t>
            </a:r>
            <a:endParaRPr lang="zh-CN" altLang="zh-CN" dirty="0"/>
          </a:p>
          <a:p>
            <a:endParaRPr lang="zh-CN" altLang="en-US" dirty="0"/>
          </a:p>
        </p:txBody>
      </p:sp>
      <p:pic>
        <p:nvPicPr>
          <p:cNvPr id="5" name="图片 4"/>
          <p:cNvPicPr>
            <a:picLocks noChangeAspect="1"/>
          </p:cNvPicPr>
          <p:nvPr/>
        </p:nvPicPr>
        <p:blipFill>
          <a:blip r:embed="rId2"/>
          <a:stretch>
            <a:fillRect/>
          </a:stretch>
        </p:blipFill>
        <p:spPr>
          <a:xfrm>
            <a:off x="2095206" y="2413465"/>
            <a:ext cx="8000000" cy="3723809"/>
          </a:xfrm>
          <a:prstGeom prst="rect">
            <a:avLst/>
          </a:prstGeom>
        </p:spPr>
      </p:pic>
    </p:spTree>
    <p:extLst>
      <p:ext uri="{BB962C8B-B14F-4D97-AF65-F5344CB8AC3E}">
        <p14:creationId xmlns:p14="http://schemas.microsoft.com/office/powerpoint/2010/main" val="23783873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模型训练的结果会保存在</a:t>
            </a:r>
            <a:r>
              <a:rPr lang="en-US" altLang="zh-CN" dirty="0"/>
              <a:t>logs</a:t>
            </a:r>
            <a:r>
              <a:rPr lang="zh-CN" altLang="zh-CN" dirty="0"/>
              <a:t>文件夹下，一般会有一个文件夹和很多个以</a:t>
            </a:r>
            <a:r>
              <a:rPr lang="en-US" altLang="zh-CN" dirty="0"/>
              <a:t>.</a:t>
            </a:r>
            <a:r>
              <a:rPr lang="en-US" altLang="zh-CN" dirty="0" err="1"/>
              <a:t>pth</a:t>
            </a:r>
            <a:r>
              <a:rPr lang="zh-CN" altLang="zh-CN" dirty="0"/>
              <a:t>结尾的权重文件，权重文件即为我们最终的模型</a:t>
            </a:r>
            <a:r>
              <a:rPr lang="zh-CN" altLang="zh-CN" dirty="0" smtClean="0"/>
              <a:t>文件。</a:t>
            </a:r>
            <a:endParaRPr lang="zh-CN" altLang="zh-CN" dirty="0"/>
          </a:p>
        </p:txBody>
      </p:sp>
      <p:pic>
        <p:nvPicPr>
          <p:cNvPr id="4" name="图片 3"/>
          <p:cNvPicPr>
            <a:picLocks noChangeAspect="1"/>
          </p:cNvPicPr>
          <p:nvPr/>
        </p:nvPicPr>
        <p:blipFill>
          <a:blip r:embed="rId2"/>
          <a:stretch>
            <a:fillRect/>
          </a:stretch>
        </p:blipFill>
        <p:spPr>
          <a:xfrm>
            <a:off x="4391257" y="1593410"/>
            <a:ext cx="3407898" cy="4543864"/>
          </a:xfrm>
          <a:prstGeom prst="rect">
            <a:avLst/>
          </a:prstGeom>
        </p:spPr>
      </p:pic>
    </p:spTree>
    <p:extLst>
      <p:ext uri="{BB962C8B-B14F-4D97-AF65-F5344CB8AC3E}">
        <p14:creationId xmlns:p14="http://schemas.microsoft.com/office/powerpoint/2010/main" val="2361963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smtClean="0"/>
              <a:t>按照</a:t>
            </a:r>
            <a:r>
              <a:rPr lang="en-US" altLang="zh-CN" dirty="0"/>
              <a:t>requirements.txt</a:t>
            </a:r>
            <a:r>
              <a:rPr lang="zh-CN" altLang="zh-CN" dirty="0"/>
              <a:t>下载必需库时，可以使用国内镜像源加快下载速度，也可以避免因超时产生的报错。指令为</a:t>
            </a:r>
            <a:r>
              <a:rPr lang="zh-CN" altLang="zh-CN" dirty="0" smtClean="0"/>
              <a:t>：</a:t>
            </a:r>
            <a:endParaRPr lang="en-US" altLang="zh-CN" dirty="0" smtClean="0"/>
          </a:p>
          <a:p>
            <a:pPr lvl="1"/>
            <a:r>
              <a:rPr lang="en-US" altLang="zh-CN" dirty="0"/>
              <a:t>pip install -r requirements.txt –</a:t>
            </a:r>
            <a:r>
              <a:rPr lang="en-US" altLang="zh-CN" dirty="0" err="1"/>
              <a:t>i</a:t>
            </a:r>
            <a:r>
              <a:rPr lang="en-US" altLang="zh-CN" dirty="0"/>
              <a:t> https://************</a:t>
            </a:r>
            <a:r>
              <a:rPr lang="zh-CN" altLang="zh-CN" dirty="0"/>
              <a:t>（国内镜像源）</a:t>
            </a:r>
          </a:p>
          <a:p>
            <a:r>
              <a:rPr lang="zh-CN" altLang="zh-CN" dirty="0"/>
              <a:t>常用国内镜像源地址：</a:t>
            </a:r>
          </a:p>
          <a:p>
            <a:r>
              <a:rPr lang="zh-CN" altLang="zh-CN" dirty="0"/>
              <a:t>阿里云：</a:t>
            </a:r>
            <a:r>
              <a:rPr lang="en-US" altLang="zh-CN" u="sng" dirty="0">
                <a:hlinkClick r:id="rId3"/>
              </a:rPr>
              <a:t>http://mirrors.aliyun.com/pypi/simple/</a:t>
            </a:r>
            <a:endParaRPr lang="zh-CN" altLang="zh-CN" dirty="0"/>
          </a:p>
          <a:p>
            <a:r>
              <a:rPr lang="zh-CN" altLang="zh-CN" dirty="0"/>
              <a:t>中科大：</a:t>
            </a:r>
            <a:r>
              <a:rPr lang="en-US" altLang="zh-CN" u="sng" dirty="0">
                <a:hlinkClick r:id="rId4"/>
              </a:rPr>
              <a:t>https://pypi.mirrors.ustc.edu.cn/simple/</a:t>
            </a:r>
            <a:endParaRPr lang="zh-CN" altLang="zh-CN" dirty="0"/>
          </a:p>
          <a:p>
            <a:r>
              <a:rPr lang="zh-CN" altLang="zh-CN" dirty="0"/>
              <a:t>豆瓣：</a:t>
            </a:r>
            <a:r>
              <a:rPr lang="en-US" altLang="zh-CN" u="sng" dirty="0">
                <a:hlinkClick r:id="rId5"/>
              </a:rPr>
              <a:t>http://pypi.douban.com/simple/</a:t>
            </a:r>
            <a:endParaRPr lang="zh-CN" altLang="zh-CN" dirty="0"/>
          </a:p>
          <a:p>
            <a:r>
              <a:rPr lang="zh-CN" altLang="zh-CN" dirty="0"/>
              <a:t>清华大学：</a:t>
            </a:r>
            <a:r>
              <a:rPr lang="en-US" altLang="zh-CN" u="sng" dirty="0">
                <a:hlinkClick r:id="rId6"/>
              </a:rPr>
              <a:t>https://pypi.tuna.tsinghua.edu.cn/simple/</a:t>
            </a:r>
            <a:endParaRPr lang="zh-CN" altLang="zh-CN" dirty="0"/>
          </a:p>
          <a:p>
            <a:r>
              <a:rPr lang="zh-CN" altLang="zh-CN" dirty="0"/>
              <a:t>部分库的安装会出现下载超时等情况，换源多尝试几次或单独输入一条指令安装：</a:t>
            </a:r>
          </a:p>
          <a:p>
            <a:pPr lvl="1"/>
            <a:r>
              <a:rPr lang="en-US" altLang="zh-CN" dirty="0"/>
              <a:t>pip install &lt;</a:t>
            </a:r>
            <a:r>
              <a:rPr lang="zh-CN" altLang="zh-CN" dirty="0"/>
              <a:t>库的名称</a:t>
            </a:r>
            <a:r>
              <a:rPr lang="en-US" altLang="zh-CN" dirty="0"/>
              <a:t>&gt; == &lt;</a:t>
            </a:r>
            <a:r>
              <a:rPr lang="zh-CN" altLang="zh-CN" dirty="0"/>
              <a:t>库的版本</a:t>
            </a:r>
            <a:r>
              <a:rPr lang="en-US" altLang="zh-CN" dirty="0"/>
              <a:t>&gt; -</a:t>
            </a:r>
            <a:r>
              <a:rPr lang="en-US" altLang="zh-CN" dirty="0" err="1"/>
              <a:t>i</a:t>
            </a:r>
            <a:r>
              <a:rPr lang="en-US" altLang="zh-CN" dirty="0"/>
              <a:t> </a:t>
            </a:r>
            <a:r>
              <a:rPr lang="en-US" altLang="zh-CN" dirty="0">
                <a:hlinkClick r:id="rId7"/>
              </a:rPr>
              <a:t>https://************（</a:t>
            </a:r>
            <a:r>
              <a:rPr lang="en-US" altLang="zh-CN" dirty="0" err="1">
                <a:hlinkClick r:id="rId7"/>
              </a:rPr>
              <a:t>国内镜像源</a:t>
            </a:r>
            <a:r>
              <a:rPr lang="zh-CN" altLang="zh-CN" dirty="0" smtClean="0"/>
              <a:t>）</a:t>
            </a:r>
            <a:endParaRPr lang="en-US" altLang="zh-CN" dirty="0" smtClean="0"/>
          </a:p>
          <a:p>
            <a:r>
              <a:rPr lang="zh-CN" altLang="zh-CN" dirty="0"/>
              <a:t>例如在某环境下单独安装</a:t>
            </a:r>
            <a:r>
              <a:rPr lang="en-US" altLang="zh-CN" dirty="0"/>
              <a:t>1.16.4</a:t>
            </a:r>
            <a:r>
              <a:rPr lang="zh-CN" altLang="zh-CN" dirty="0"/>
              <a:t>版本的</a:t>
            </a:r>
            <a:r>
              <a:rPr lang="en-US" altLang="zh-CN" dirty="0" err="1"/>
              <a:t>numpy</a:t>
            </a:r>
            <a:r>
              <a:rPr lang="zh-CN" altLang="zh-CN" dirty="0"/>
              <a:t>，使用阿里云镜像源：</a:t>
            </a:r>
          </a:p>
          <a:p>
            <a:pPr lvl="1"/>
            <a:r>
              <a:rPr lang="en-US" altLang="zh-CN" dirty="0"/>
              <a:t>pip install </a:t>
            </a:r>
            <a:r>
              <a:rPr lang="en-US" altLang="zh-CN" dirty="0" err="1"/>
              <a:t>numpy</a:t>
            </a:r>
            <a:r>
              <a:rPr lang="en-US" altLang="zh-CN" dirty="0"/>
              <a:t> == 1.16.4 --user -</a:t>
            </a:r>
            <a:r>
              <a:rPr lang="en-US" altLang="zh-CN" dirty="0" err="1"/>
              <a:t>i</a:t>
            </a:r>
            <a:r>
              <a:rPr lang="en-US" altLang="zh-CN" dirty="0"/>
              <a:t> http://mirrors.aliyun.com/pypi/simple/</a:t>
            </a:r>
            <a:endParaRPr lang="zh-CN" altLang="zh-CN" dirty="0"/>
          </a:p>
          <a:p>
            <a:endParaRPr lang="zh-CN" altLang="zh-CN" dirty="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142595151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lvl="0" indent="-342900">
              <a:buFont typeface="+mj-lt"/>
              <a:buAutoNum type="arabicPeriod" startAt="2"/>
            </a:pPr>
            <a:r>
              <a:rPr lang="zh-CN" altLang="zh-CN" dirty="0"/>
              <a:t>直接通过</a:t>
            </a:r>
            <a:r>
              <a:rPr lang="en-US" altLang="zh-CN" dirty="0"/>
              <a:t>pip install torch==&lt;</a:t>
            </a:r>
            <a:r>
              <a:rPr lang="zh-CN" altLang="zh-CN" dirty="0"/>
              <a:t>版本</a:t>
            </a:r>
            <a:r>
              <a:rPr lang="en-US" altLang="zh-CN" dirty="0"/>
              <a:t>&gt;</a:t>
            </a:r>
            <a:r>
              <a:rPr lang="zh-CN" altLang="zh-CN" dirty="0"/>
              <a:t>指令安装的</a:t>
            </a:r>
            <a:r>
              <a:rPr lang="en-US" altLang="zh-CN" dirty="0" err="1"/>
              <a:t>Pytorch</a:t>
            </a:r>
            <a:r>
              <a:rPr lang="zh-CN" altLang="zh-CN" dirty="0"/>
              <a:t>会默认安装</a:t>
            </a:r>
            <a:r>
              <a:rPr lang="en-US" altLang="zh-CN" dirty="0" err="1"/>
              <a:t>cpu</a:t>
            </a:r>
            <a:r>
              <a:rPr lang="zh-CN" altLang="zh-CN" dirty="0"/>
              <a:t>版本，正确安装</a:t>
            </a:r>
            <a:r>
              <a:rPr lang="en-US" altLang="zh-CN" dirty="0" err="1"/>
              <a:t>gpu</a:t>
            </a:r>
            <a:r>
              <a:rPr lang="zh-CN" altLang="zh-CN" dirty="0"/>
              <a:t>版本的指令为</a:t>
            </a:r>
            <a:r>
              <a:rPr lang="en-US" altLang="zh-CN" dirty="0"/>
              <a:t>pip install torch==&lt;</a:t>
            </a:r>
            <a:r>
              <a:rPr lang="zh-CN" altLang="zh-CN" dirty="0"/>
              <a:t>版本</a:t>
            </a:r>
            <a:r>
              <a:rPr lang="en-US" altLang="zh-CN" dirty="0"/>
              <a:t>&gt; -c </a:t>
            </a:r>
            <a:r>
              <a:rPr lang="en-US" altLang="zh-CN" dirty="0" err="1"/>
              <a:t>pytorch</a:t>
            </a:r>
            <a:r>
              <a:rPr lang="en-US" altLang="zh-CN" dirty="0"/>
              <a:t> </a:t>
            </a:r>
            <a:r>
              <a:rPr lang="zh-CN" altLang="zh-CN" dirty="0"/>
              <a:t>，但仍可能报错。建议采用之前实验介绍的官方安装方式</a:t>
            </a:r>
            <a:r>
              <a:rPr lang="zh-CN" altLang="zh-CN" dirty="0" smtClean="0"/>
              <a:t>。</a:t>
            </a:r>
            <a:endParaRPr lang="en-US" altLang="zh-CN" dirty="0" smtClean="0"/>
          </a:p>
          <a:p>
            <a:pPr marL="342900" indent="-342900">
              <a:buFont typeface="+mj-lt"/>
              <a:buAutoNum type="arabicPeriod" startAt="2"/>
            </a:pPr>
            <a:r>
              <a:rPr lang="zh-CN" altLang="zh-CN" dirty="0"/>
              <a:t>运行</a:t>
            </a:r>
            <a:r>
              <a:rPr lang="en-US" altLang="zh-CN" dirty="0" err="1"/>
              <a:t>voc_annotation</a:t>
            </a:r>
            <a:r>
              <a:rPr lang="zh-CN" altLang="zh-CN" dirty="0"/>
              <a:t>后，生成的训练集、验证集与测试集对应文件路径已经固定，如果想要移动项目路径重新训练（比如换设备）需要再次运行该文件。</a:t>
            </a:r>
          </a:p>
          <a:p>
            <a:pPr marL="342900" indent="-342900">
              <a:buFont typeface="+mj-lt"/>
              <a:buAutoNum type="arabicPeriod" startAt="2"/>
            </a:pPr>
            <a:r>
              <a:rPr lang="zh-CN" altLang="zh-CN" dirty="0"/>
              <a:t>修改文件时涉及到许多路径的修改，务必确保路径的准确性。</a:t>
            </a:r>
          </a:p>
          <a:p>
            <a:pPr marL="342900" lvl="0" indent="-342900">
              <a:buFont typeface="+mj-lt"/>
              <a:buAutoNum type="arabicPeriod" startAt="2"/>
            </a:pPr>
            <a:endParaRPr lang="zh-CN" altLang="zh-CN" dirty="0" smtClean="0"/>
          </a:p>
          <a:p>
            <a:endParaRPr lang="zh-CN" altLang="en-US" dirty="0"/>
          </a:p>
        </p:txBody>
      </p:sp>
    </p:spTree>
    <p:extLst>
      <p:ext uri="{BB962C8B-B14F-4D97-AF65-F5344CB8AC3E}">
        <p14:creationId xmlns:p14="http://schemas.microsoft.com/office/powerpoint/2010/main" val="49973830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lvl="0" indent="-342900">
              <a:buFont typeface="+mj-lt"/>
              <a:buAutoNum type="arabicPeriod" startAt="5"/>
            </a:pPr>
            <a:r>
              <a:rPr lang="zh-CN" altLang="zh-CN" dirty="0"/>
              <a:t>训练模型过程中出现</a:t>
            </a:r>
            <a:r>
              <a:rPr lang="en-US" altLang="zh-CN" dirty="0"/>
              <a:t>CUDA out of memory</a:t>
            </a:r>
            <a:r>
              <a:rPr lang="zh-CN" altLang="zh-CN" dirty="0"/>
              <a:t>问题</a:t>
            </a:r>
            <a:r>
              <a:rPr lang="zh-CN" altLang="zh-CN" dirty="0" smtClean="0"/>
              <a:t>：</a:t>
            </a:r>
            <a:endParaRPr lang="en-US" altLang="zh-CN" dirty="0" smtClean="0"/>
          </a:p>
          <a:p>
            <a:pPr marL="342900" lvl="0" indent="-342900">
              <a:buFont typeface="+mj-lt"/>
              <a:buAutoNum type="arabicPeriod" startAt="5"/>
            </a:pPr>
            <a:endParaRPr lang="en-US" altLang="zh-CN" dirty="0"/>
          </a:p>
          <a:p>
            <a:r>
              <a:rPr lang="zh-CN" altLang="zh-CN" dirty="0"/>
              <a:t>原因：显卡显存不够，更换更高性能显卡或改小</a:t>
            </a:r>
            <a:r>
              <a:rPr lang="en-US" altLang="zh-CN" dirty="0"/>
              <a:t>train.py</a:t>
            </a:r>
            <a:r>
              <a:rPr lang="zh-CN" altLang="zh-CN" dirty="0"/>
              <a:t>中的</a:t>
            </a:r>
            <a:r>
              <a:rPr lang="en-US" altLang="zh-CN" dirty="0" err="1"/>
              <a:t>batch_size</a:t>
            </a:r>
            <a:r>
              <a:rPr lang="zh-CN" altLang="zh-CN" dirty="0" smtClean="0"/>
              <a:t>值</a:t>
            </a:r>
            <a:r>
              <a:rPr lang="zh-CN" altLang="en-US" dirty="0" smtClean="0"/>
              <a:t>，</a:t>
            </a:r>
            <a:r>
              <a:rPr lang="zh-CN" altLang="zh-CN" dirty="0"/>
              <a:t>这里推荐</a:t>
            </a:r>
            <a:r>
              <a:rPr lang="zh-CN" altLang="zh-CN" dirty="0" smtClean="0"/>
              <a:t>将</a:t>
            </a:r>
            <a:r>
              <a:rPr lang="en-US" altLang="zh-CN" dirty="0" err="1" smtClean="0"/>
              <a:t>Freeze_batch_size</a:t>
            </a:r>
            <a:r>
              <a:rPr lang="zh-CN" altLang="zh-CN" dirty="0"/>
              <a:t>和</a:t>
            </a:r>
            <a:r>
              <a:rPr lang="en-US" altLang="zh-CN" dirty="0" err="1"/>
              <a:t>Unfreeze_batch_size</a:t>
            </a:r>
            <a:r>
              <a:rPr lang="zh-CN" altLang="zh-CN" dirty="0"/>
              <a:t>同时除以</a:t>
            </a:r>
            <a:r>
              <a:rPr lang="en-US" altLang="zh-CN" dirty="0"/>
              <a:t>2</a:t>
            </a:r>
            <a:r>
              <a:rPr lang="zh-CN" altLang="zh-CN" dirty="0"/>
              <a:t>或除以</a:t>
            </a:r>
            <a:r>
              <a:rPr lang="en-US" altLang="zh-CN" dirty="0" smtClean="0"/>
              <a:t>4</a:t>
            </a:r>
            <a:r>
              <a:rPr lang="zh-CN" altLang="zh-CN" dirty="0" smtClean="0"/>
              <a:t>：</a:t>
            </a:r>
            <a:endParaRPr lang="zh-CN" altLang="zh-CN" dirty="0"/>
          </a:p>
          <a:p>
            <a:endParaRPr lang="en-US" altLang="zh-CN" dirty="0" smtClean="0"/>
          </a:p>
          <a:p>
            <a:pPr marL="0" lvl="0" indent="0">
              <a:buNone/>
            </a:pPr>
            <a:endParaRPr lang="zh-CN" altLang="zh-CN" dirty="0"/>
          </a:p>
          <a:p>
            <a:pPr marL="342900" indent="-342900">
              <a:buFont typeface="+mj-lt"/>
              <a:buAutoNum type="arabicPeriod" startAt="5"/>
            </a:pP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1471" y="2833735"/>
            <a:ext cx="5667470" cy="3303539"/>
          </a:xfrm>
          <a:prstGeom prst="rect">
            <a:avLst/>
          </a:prstGeom>
        </p:spPr>
      </p:pic>
      <p:pic>
        <p:nvPicPr>
          <p:cNvPr id="5" name="图片 4"/>
          <p:cNvPicPr>
            <a:picLocks noChangeAspect="1"/>
          </p:cNvPicPr>
          <p:nvPr/>
        </p:nvPicPr>
        <p:blipFill>
          <a:blip r:embed="rId3"/>
          <a:stretch>
            <a:fillRect/>
          </a:stretch>
        </p:blipFill>
        <p:spPr>
          <a:xfrm>
            <a:off x="2404730" y="1504138"/>
            <a:ext cx="7380952" cy="590476"/>
          </a:xfrm>
          <a:prstGeom prst="rect">
            <a:avLst/>
          </a:prstGeom>
        </p:spPr>
      </p:pic>
    </p:spTree>
    <p:extLst>
      <p:ext uri="{BB962C8B-B14F-4D97-AF65-F5344CB8AC3E}">
        <p14:creationId xmlns:p14="http://schemas.microsoft.com/office/powerpoint/2010/main" val="78586342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一阶段</a:t>
            </a:r>
            <a:r>
              <a:rPr lang="zh-CN" altLang="en-US" dirty="0"/>
              <a:t>算法模型的训练</a:t>
            </a:r>
            <a:endParaRPr lang="en-US" altLang="zh-CN" dirty="0"/>
          </a:p>
          <a:p>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 xmlns:a16="http://schemas.microsoft.com/office/drawing/2014/main"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 xmlns:a16="http://schemas.microsoft.com/office/drawing/2014/main"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778</TotalTime>
  <Words>3217</Words>
  <Application>Microsoft Office PowerPoint</Application>
  <PresentationFormat>宽屏</PresentationFormat>
  <Paragraphs>306</Paragraphs>
  <Slides>52</Slides>
  <Notes>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52</vt:i4>
      </vt:variant>
    </vt:vector>
  </HeadingPairs>
  <TitlesOfParts>
    <vt:vector size="59" baseType="lpstr">
      <vt:lpstr>等线</vt:lpstr>
      <vt:lpstr>宋体</vt:lpstr>
      <vt:lpstr>微软雅黑</vt:lpstr>
      <vt:lpstr>Arial</vt:lpstr>
      <vt:lpstr>Calibri</vt:lpstr>
      <vt:lpstr>Ebrima</vt:lpstr>
      <vt:lpstr>主题5</vt:lpstr>
      <vt:lpstr>目标检测的实现</vt:lpstr>
      <vt:lpstr>课程目标</vt:lpstr>
      <vt:lpstr>PowerPoint 演示文稿</vt:lpstr>
      <vt:lpstr>/01</vt:lpstr>
      <vt:lpstr>实验介绍</vt:lpstr>
      <vt:lpstr>/02</vt:lpstr>
      <vt:lpstr>实验环境</vt:lpstr>
      <vt:lpstr>/03</vt:lpstr>
      <vt:lpstr>实验步骤</vt:lpstr>
      <vt:lpstr>实验流程</vt:lpstr>
      <vt:lpstr>代码工程分析</vt:lpstr>
      <vt:lpstr>代码工程分析</vt:lpstr>
      <vt:lpstr>代码工程分析</vt:lpstr>
      <vt:lpstr>代码工程分析</vt:lpstr>
      <vt:lpstr>代码工程分析</vt:lpstr>
      <vt:lpstr>代码工程分析</vt:lpstr>
      <vt:lpstr>代码工程分析</vt:lpstr>
      <vt:lpstr>代码工程分析</vt:lpstr>
      <vt:lpstr>实验流程</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实验流程</vt:lpstr>
      <vt:lpstr>训练模型</vt:lpstr>
      <vt:lpstr>训练模型</vt:lpstr>
      <vt:lpstr>训练模型</vt:lpstr>
      <vt:lpstr>训练模型</vt:lpstr>
      <vt:lpstr>训练模型</vt:lpstr>
      <vt:lpstr>训练模型</vt:lpstr>
      <vt:lpstr>训练模型</vt:lpstr>
      <vt:lpstr>训练模型</vt:lpstr>
      <vt:lpstr>训练模型</vt:lpstr>
      <vt:lpstr>训练模型</vt:lpstr>
      <vt:lpstr>训练模型</vt:lpstr>
      <vt:lpstr>训练模型</vt:lpstr>
      <vt:lpstr>训练模型</vt:lpstr>
      <vt:lpstr>实验结果</vt:lpstr>
      <vt:lpstr>实验结果</vt:lpstr>
      <vt:lpstr>/04</vt:lpstr>
      <vt:lpstr>注意事项</vt:lpstr>
      <vt:lpstr>注意事项</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61</cp:revision>
  <cp:lastPrinted>2018-09-20T16:00:00Z</cp:lastPrinted>
  <dcterms:created xsi:type="dcterms:W3CDTF">2022-06-27T01:42:48Z</dcterms:created>
  <dcterms:modified xsi:type="dcterms:W3CDTF">2022-12-27T09:34:20Z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