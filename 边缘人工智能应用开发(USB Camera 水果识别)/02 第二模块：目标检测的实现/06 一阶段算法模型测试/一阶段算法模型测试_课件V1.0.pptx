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58" r:id="rId2"/>
    <p:sldId id="265" r:id="rId3"/>
    <p:sldId id="262" r:id="rId4"/>
    <p:sldId id="257" r:id="rId5"/>
    <p:sldId id="260" r:id="rId6"/>
    <p:sldId id="266" r:id="rId7"/>
    <p:sldId id="359" r:id="rId8"/>
    <p:sldId id="267" r:id="rId9"/>
    <p:sldId id="276" r:id="rId10"/>
    <p:sldId id="277" r:id="rId11"/>
    <p:sldId id="357" r:id="rId12"/>
    <p:sldId id="350" r:id="rId13"/>
    <p:sldId id="351" r:id="rId14"/>
    <p:sldId id="352" r:id="rId15"/>
    <p:sldId id="353" r:id="rId16"/>
    <p:sldId id="354" r:id="rId17"/>
    <p:sldId id="280" r:id="rId18"/>
    <p:sldId id="329" r:id="rId19"/>
    <p:sldId id="331" r:id="rId20"/>
    <p:sldId id="332" r:id="rId21"/>
    <p:sldId id="334" r:id="rId22"/>
    <p:sldId id="361" r:id="rId23"/>
    <p:sldId id="339" r:id="rId24"/>
    <p:sldId id="360" r:id="rId25"/>
    <p:sldId id="340" r:id="rId26"/>
    <p:sldId id="341" r:id="rId27"/>
    <p:sldId id="342" r:id="rId28"/>
    <p:sldId id="344" r:id="rId29"/>
    <p:sldId id="345" r:id="rId30"/>
    <p:sldId id="335" r:id="rId31"/>
    <p:sldId id="336" r:id="rId32"/>
    <p:sldId id="268" r:id="rId33"/>
    <p:sldId id="358" r:id="rId34"/>
    <p:sldId id="264" r:id="rId35"/>
    <p:sldId id="261" r:id="rId36"/>
  </p:sldIdLst>
  <p:sldSz cx="12192000" cy="6858000"/>
  <p:notesSz cx="6858000" cy="9144000"/>
  <p:custDataLst>
    <p:tags r:id="rId3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196" autoAdjust="0"/>
  </p:normalViewPr>
  <p:slideViewPr>
    <p:cSldViewPr snapToGrid="0" showGuides="1">
      <p:cViewPr varScale="1">
        <p:scale>
          <a:sx n="105" d="100"/>
          <a:sy n="105" d="100"/>
        </p:scale>
        <p:origin x="732"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代码工程分析</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2">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2">
        <dgm:presLayoutVars>
          <dgm:chMax val="0"/>
          <dgm:chPref val="0"/>
          <dgm:bulletEnabled val="1"/>
        </dgm:presLayoutVars>
      </dgm:prSet>
      <dgm:spPr/>
      <dgm:t>
        <a:bodyPr/>
        <a:lstStyle/>
        <a:p>
          <a:endParaRPr lang="zh-CN" altLang="en-US"/>
        </a:p>
      </dgm:t>
    </dgm:pt>
  </dgm:ptLst>
  <dgm:cxnLst>
    <dgm:cxn modelId="{80F8930D-5816-4EC5-A90F-461BE15645B6}" srcId="{314AE731-DFBF-4A5B-8171-86B7AA2F2858}" destId="{C6C44482-D821-4FAE-BB52-29931F8BCBDE}" srcOrd="1" destOrd="0" parTransId="{DE3ECBCB-59A7-4B29-8005-72F8BCC1C41D}" sibTransId="{FA81CD99-4C17-4421-BECF-3D861154DBDD}"/>
    <dgm:cxn modelId="{18148AE1-19BF-42E4-A611-096059E32FB7}" type="presOf" srcId="{BEAB6AAF-246B-444D-90D9-FB867EA43595}" destId="{FC4CA3E0-7A9C-47CB-88C9-7F81B89FD5AA}" srcOrd="0" destOrd="0" presId="urn:microsoft.com/office/officeart/2005/8/layout/chevron1"/>
    <dgm:cxn modelId="{7ACFB0E2-0D3E-418A-BD4E-BA25CC5CC9E3}" type="presOf" srcId="{314AE731-DFBF-4A5B-8171-86B7AA2F2858}" destId="{5653E5CF-63C1-4886-9DFE-DC4B36C44A33}" srcOrd="0" destOrd="0" presId="urn:microsoft.com/office/officeart/2005/8/layout/chevron1"/>
    <dgm:cxn modelId="{C8A75089-DA2B-489B-AA8A-47AFAFC879BD}" type="presOf" srcId="{C6C44482-D821-4FAE-BB52-29931F8BCBDE}" destId="{E2DC7CE9-31B9-4959-914F-451EA2F3687E}"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7C548A56-4A1A-45AD-AB5A-7E7F8B7D845A}" type="presParOf" srcId="{5653E5CF-63C1-4886-9DFE-DC4B36C44A33}" destId="{FC4CA3E0-7A9C-47CB-88C9-7F81B89FD5AA}" srcOrd="0" destOrd="0" presId="urn:microsoft.com/office/officeart/2005/8/layout/chevron1"/>
    <dgm:cxn modelId="{CE2ECD58-452E-42D5-8107-9655B4EA7D32}" type="presParOf" srcId="{5653E5CF-63C1-4886-9DFE-DC4B36C44A33}" destId="{ED8D2DC7-F6B9-49A1-A3FB-6645AA0B27C9}" srcOrd="1" destOrd="0" presId="urn:microsoft.com/office/officeart/2005/8/layout/chevron1"/>
    <dgm:cxn modelId="{60727C06-6D64-4570-A4E8-A815C2C6E51F}" type="presParOf" srcId="{5653E5CF-63C1-4886-9DFE-DC4B36C44A33}" destId="{E2DC7CE9-31B9-4959-914F-451EA2F3687E}" srcOrd="2"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测试模型</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2">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E2DC7CE9-31B9-4959-914F-451EA2F3687E}" type="pres">
      <dgm:prSet presAssocID="{C6C44482-D821-4FAE-BB52-29931F8BCBDE}" presName="parTxOnly" presStyleLbl="node1" presStyleIdx="1" presStyleCnt="2">
        <dgm:presLayoutVars>
          <dgm:chMax val="0"/>
          <dgm:chPref val="0"/>
          <dgm:bulletEnabled val="1"/>
        </dgm:presLayoutVars>
      </dgm:prSet>
      <dgm:spPr/>
      <dgm:t>
        <a:bodyPr/>
        <a:lstStyle/>
        <a:p>
          <a:endParaRPr lang="zh-CN" altLang="en-US"/>
        </a:p>
      </dgm:t>
    </dgm:pt>
  </dgm:ptLst>
  <dgm:cxnLst>
    <dgm:cxn modelId="{80F8930D-5816-4EC5-A90F-461BE15645B6}" srcId="{314AE731-DFBF-4A5B-8171-86B7AA2F2858}" destId="{C6C44482-D821-4FAE-BB52-29931F8BCBDE}" srcOrd="1" destOrd="0" parTransId="{DE3ECBCB-59A7-4B29-8005-72F8BCC1C41D}" sibTransId="{FA81CD99-4C17-4421-BECF-3D861154DBDD}"/>
    <dgm:cxn modelId="{AECEA7B1-972A-4EFF-8DA5-24F6CB23F607}"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A04E711C-62E1-4339-B00D-E8D784801A8C}" type="presOf" srcId="{314AE731-DFBF-4A5B-8171-86B7AA2F2858}" destId="{5653E5CF-63C1-4886-9DFE-DC4B36C44A33}" srcOrd="0" destOrd="0" presId="urn:microsoft.com/office/officeart/2005/8/layout/chevron1"/>
    <dgm:cxn modelId="{DC8D8085-081C-4B6E-AF28-2069D24B6222}" type="presOf" srcId="{C6C44482-D821-4FAE-BB52-29931F8BCBDE}" destId="{E2DC7CE9-31B9-4959-914F-451EA2F3687E}" srcOrd="0" destOrd="0" presId="urn:microsoft.com/office/officeart/2005/8/layout/chevron1"/>
    <dgm:cxn modelId="{DF986CCD-EBFA-41E5-B9D2-A07963BBCAE8}" type="presParOf" srcId="{5653E5CF-63C1-4886-9DFE-DC4B36C44A33}" destId="{FC4CA3E0-7A9C-47CB-88C9-7F81B89FD5AA}" srcOrd="0" destOrd="0" presId="urn:microsoft.com/office/officeart/2005/8/layout/chevron1"/>
    <dgm:cxn modelId="{1CF9BF65-7624-4499-B7A4-1D8693F7B60B}" type="presParOf" srcId="{5653E5CF-63C1-4886-9DFE-DC4B36C44A33}" destId="{ED8D2DC7-F6B9-49A1-A3FB-6645AA0B27C9}" srcOrd="1" destOrd="0" presId="urn:microsoft.com/office/officeart/2005/8/layout/chevron1"/>
    <dgm:cxn modelId="{DD22BE73-42E1-404E-897C-4E3BADF41E9E}" type="presParOf" srcId="{5653E5CF-63C1-4886-9DFE-DC4B36C44A33}" destId="{E2DC7CE9-31B9-4959-914F-451EA2F3687E}" srcOrd="2"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4893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本实验中不使用模型的转化。</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5028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通常结果为无检测目标或出现极少个置信度低的检测目标，因为原始图像</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中根本没有待检测的目标。输入其他含有检测目标图片的路径获得更直观的结果。注：点击左侧红色方块以中止程序。</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8582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如果只想截取检测结果的某一帧，在弹出的</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界面中按</a:t>
            </a:r>
            <a:r>
              <a:rPr lang="en-US" altLang="zh-CN" sz="1200" kern="1200" dirty="0" smtClean="0">
                <a:solidFill>
                  <a:schemeClr val="tx1"/>
                </a:solidFill>
                <a:effectLst/>
                <a:latin typeface="+mn-lt"/>
                <a:ea typeface="+mn-ea"/>
                <a:cs typeface="+mn-cs"/>
              </a:rPr>
              <a:t>“s”</a:t>
            </a:r>
            <a:r>
              <a:rPr lang="zh-CN" altLang="zh-CN" sz="1200" kern="1200" dirty="0" smtClean="0">
                <a:solidFill>
                  <a:schemeClr val="tx1"/>
                </a:solidFill>
                <a:effectLst/>
                <a:latin typeface="+mn-lt"/>
                <a:ea typeface="+mn-ea"/>
                <a:cs typeface="+mn-cs"/>
              </a:rPr>
              <a:t>或空格键，该帧画面便保存在根目录下新建的文件夹</a:t>
            </a:r>
            <a:r>
              <a:rPr lang="en-US" altLang="zh-CN" sz="1200" kern="1200" dirty="0" err="1" smtClean="0">
                <a:solidFill>
                  <a:schemeClr val="tx1"/>
                </a:solidFill>
                <a:effectLst/>
                <a:latin typeface="+mn-lt"/>
                <a:ea typeface="+mn-ea"/>
                <a:cs typeface="+mn-cs"/>
              </a:rPr>
              <a:t>video_img</a:t>
            </a:r>
            <a:r>
              <a:rPr lang="zh-CN" altLang="zh-CN" sz="1200" kern="1200" dirty="0" smtClean="0">
                <a:solidFill>
                  <a:schemeClr val="tx1"/>
                </a:solidFill>
                <a:effectLst/>
                <a:latin typeface="+mn-lt"/>
                <a:ea typeface="+mn-ea"/>
                <a:cs typeface="+mn-cs"/>
              </a:rPr>
              <a:t>中。按</a:t>
            </a:r>
            <a:r>
              <a:rPr lang="en-US" altLang="zh-CN" sz="1200" kern="1200" dirty="0" smtClean="0">
                <a:solidFill>
                  <a:schemeClr val="tx1"/>
                </a:solidFill>
                <a:effectLst/>
                <a:latin typeface="+mn-lt"/>
                <a:ea typeface="+mn-ea"/>
                <a:cs typeface="+mn-cs"/>
              </a:rPr>
              <a:t>“q”</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“esc”</a:t>
            </a:r>
            <a:r>
              <a:rPr lang="zh-CN" altLang="zh-CN" sz="1200" kern="1200" dirty="0" smtClean="0">
                <a:solidFill>
                  <a:schemeClr val="tx1"/>
                </a:solidFill>
                <a:effectLst/>
                <a:latin typeface="+mn-lt"/>
                <a:ea typeface="+mn-ea"/>
                <a:cs typeface="+mn-cs"/>
              </a:rPr>
              <a:t>键关闭</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界面，程序停止运行。</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8855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84015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检测没有任何检测</a:t>
            </a:r>
            <a:r>
              <a:rPr lang="zh-CN" altLang="zh-CN" sz="1200" kern="1200" smtClean="0">
                <a:solidFill>
                  <a:schemeClr val="tx1"/>
                </a:solidFill>
                <a:effectLst/>
                <a:latin typeface="+mn-lt"/>
                <a:ea typeface="+mn-ea"/>
                <a:cs typeface="+mn-cs"/>
              </a:rPr>
              <a:t>目标出现</a:t>
            </a:r>
            <a:r>
              <a:rPr lang="zh-CN" altLang="en-US" sz="1200" kern="1200" dirty="0" smtClean="0">
                <a:solidFill>
                  <a:schemeClr val="tx1"/>
                </a:solidFill>
                <a:effectLst/>
                <a:latin typeface="+mn-lt"/>
                <a:ea typeface="+mn-ea"/>
                <a:cs typeface="+mn-cs"/>
              </a:rPr>
              <a:t>，</a:t>
            </a:r>
            <a:r>
              <a:rPr lang="zh-CN" altLang="zh-CN" sz="1200" kern="1200" smtClean="0">
                <a:solidFill>
                  <a:schemeClr val="tx1"/>
                </a:solidFill>
                <a:effectLst/>
                <a:latin typeface="+mn-lt"/>
                <a:ea typeface="+mn-ea"/>
                <a:cs typeface="+mn-cs"/>
              </a:rPr>
              <a:t>因为该图没有待检测的目标。</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1237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通过按</a:t>
            </a:r>
            <a:r>
              <a:rPr lang="en-US" altLang="zh-CN" dirty="0" smtClean="0"/>
              <a:t>“s”</a:t>
            </a:r>
            <a:r>
              <a:rPr lang="zh-CN" altLang="zh-CN" dirty="0" smtClean="0"/>
              <a:t>键或空格键，将某一帧检测结果保存在</a:t>
            </a:r>
            <a:r>
              <a:rPr lang="en-US" altLang="zh-CN" dirty="0" err="1" smtClean="0"/>
              <a:t>video_img</a:t>
            </a:r>
            <a:r>
              <a:rPr lang="zh-CN" altLang="zh-CN" dirty="0" smtClean="0"/>
              <a:t>文件夹下。</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40424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660025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由此可见，对于没有任何待检测目标的图像，模型也进行了检测并根据</a:t>
            </a:r>
            <a:r>
              <a:rPr lang="en-US" altLang="zh-CN" sz="1200" kern="1200" dirty="0" err="1" smtClean="0">
                <a:solidFill>
                  <a:schemeClr val="tx1"/>
                </a:solidFill>
                <a:effectLst/>
                <a:latin typeface="+mn-lt"/>
                <a:ea typeface="+mn-ea"/>
                <a:cs typeface="+mn-cs"/>
              </a:rPr>
              <a:t>yolo</a:t>
            </a:r>
            <a:r>
              <a:rPr lang="zh-CN" altLang="zh-CN" sz="1200" kern="1200" dirty="0" smtClean="0">
                <a:solidFill>
                  <a:schemeClr val="tx1"/>
                </a:solidFill>
                <a:effectLst/>
                <a:latin typeface="+mn-lt"/>
                <a:ea typeface="+mn-ea"/>
                <a:cs typeface="+mn-cs"/>
              </a:rPr>
              <a:t>原理选择了锚框的中心点形成了热力图，最终没有检测框显示的原因是通过交并比运算以及非极大值抑制后，检测框的置信度未达到阈值</a:t>
            </a:r>
            <a:r>
              <a:rPr lang="en-US" altLang="zh-CN" sz="1200" kern="1200" dirty="0" smtClean="0">
                <a:solidFill>
                  <a:schemeClr val="tx1"/>
                </a:solidFill>
                <a:effectLst/>
                <a:latin typeface="+mn-lt"/>
                <a:ea typeface="+mn-ea"/>
                <a:cs typeface="+mn-cs"/>
              </a:rPr>
              <a:t>0.7</a:t>
            </a:r>
            <a:r>
              <a:rPr lang="zh-CN" altLang="zh-CN" sz="1200" kern="1200" dirty="0" smtClean="0">
                <a:solidFill>
                  <a:schemeClr val="tx1"/>
                </a:solidFill>
                <a:effectLst/>
                <a:latin typeface="+mn-lt"/>
                <a:ea typeface="+mn-ea"/>
                <a:cs typeface="+mn-cs"/>
              </a:rPr>
              <a:t>，模型认为检测框应当舍去。如果在</a:t>
            </a:r>
            <a:r>
              <a:rPr lang="en-US" altLang="zh-CN" sz="1200" kern="1200" dirty="0" smtClean="0">
                <a:solidFill>
                  <a:schemeClr val="tx1"/>
                </a:solidFill>
                <a:effectLst/>
                <a:latin typeface="+mn-lt"/>
                <a:ea typeface="+mn-ea"/>
                <a:cs typeface="+mn-cs"/>
              </a:rPr>
              <a:t>yolo.py</a:t>
            </a:r>
            <a:r>
              <a:rPr lang="zh-CN" altLang="zh-CN" sz="1200" kern="1200" dirty="0" smtClean="0">
                <a:solidFill>
                  <a:schemeClr val="tx1"/>
                </a:solidFill>
                <a:effectLst/>
                <a:latin typeface="+mn-lt"/>
                <a:ea typeface="+mn-ea"/>
                <a:cs typeface="+mn-cs"/>
              </a:rPr>
              <a:t>中调小</a:t>
            </a:r>
            <a:r>
              <a:rPr lang="en-US" altLang="zh-CN" sz="1200" kern="1200" dirty="0" smtClean="0">
                <a:solidFill>
                  <a:schemeClr val="tx1"/>
                </a:solidFill>
                <a:effectLst/>
                <a:latin typeface="+mn-lt"/>
                <a:ea typeface="+mn-ea"/>
                <a:cs typeface="+mn-cs"/>
              </a:rPr>
              <a:t>confidence</a:t>
            </a:r>
            <a:r>
              <a:rPr lang="zh-CN" altLang="zh-CN" sz="1200" kern="1200" dirty="0" smtClean="0">
                <a:solidFill>
                  <a:schemeClr val="tx1"/>
                </a:solidFill>
                <a:effectLst/>
                <a:latin typeface="+mn-lt"/>
                <a:ea typeface="+mn-ea"/>
                <a:cs typeface="+mn-cs"/>
              </a:rPr>
              <a:t>值进行该图像的检测，可能会看到置信度较低的检测框出现。</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4810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94806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实验：一</a:t>
            </a:r>
            <a:r>
              <a:rPr lang="zh-CN" altLang="en-US" dirty="0" smtClean="0"/>
              <a:t>阶段算法模型的测试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使用图像测试</a:t>
            </a:r>
            <a:r>
              <a:rPr kumimoji="1" lang="zh-CN" altLang="en-US" dirty="0">
                <a:latin typeface="微软雅黑" panose="020B0503020204020204" pitchFamily="34" charset="-122"/>
                <a:ea typeface="微软雅黑" panose="020B0503020204020204" pitchFamily="34" charset="-122"/>
              </a:rPr>
              <a:t>模型检测效果</a:t>
            </a:r>
            <a:endParaRPr kumimoji="1" lang="en-US" altLang="zh-CN"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外接</a:t>
            </a:r>
            <a:r>
              <a:rPr lang="en-US" altLang="zh-CN" dirty="0"/>
              <a:t>USB</a:t>
            </a:r>
            <a:r>
              <a:rPr lang="zh-CN" altLang="zh-CN" dirty="0" smtClean="0"/>
              <a:t>摄像头</a:t>
            </a:r>
            <a:r>
              <a:rPr kumimoji="1" lang="zh-CN" altLang="en-US" dirty="0" smtClean="0">
                <a:latin typeface="微软雅黑" panose="020B0503020204020204" pitchFamily="34" charset="-122"/>
                <a:ea typeface="微软雅黑" panose="020B0503020204020204" pitchFamily="34" charset="-122"/>
              </a:rPr>
              <a:t>实时捕获画面</a:t>
            </a:r>
            <a:r>
              <a:rPr kumimoji="1" lang="zh-CN" altLang="en-US" smtClean="0">
                <a:latin typeface="微软雅黑" panose="020B0503020204020204" pitchFamily="34" charset="-122"/>
                <a:ea typeface="微软雅黑" panose="020B0503020204020204" pitchFamily="34" charset="-122"/>
              </a:rPr>
              <a:t>测试</a:t>
            </a:r>
            <a:r>
              <a:rPr kumimoji="1" lang="zh-CN" altLang="en-US">
                <a:latin typeface="微软雅黑" panose="020B0503020204020204" pitchFamily="34" charset="-122"/>
                <a:ea typeface="微软雅黑" panose="020B0503020204020204" pitchFamily="34" charset="-122"/>
              </a:rPr>
              <a:t>模型检测效果</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smtClean="0"/>
              <a:t>使用训练评估好的模型实现目标检测</a:t>
            </a:r>
            <a:endParaRPr lang="en-US" altLang="zh-CN" dirty="0"/>
          </a:p>
          <a:p>
            <a:pPr marL="342900" indent="-342900">
              <a:buFont typeface="+mj-lt"/>
              <a:buAutoNum type="arabicPeriod"/>
            </a:pPr>
            <a:r>
              <a:rPr lang="zh-CN" altLang="en-US" dirty="0" smtClean="0"/>
              <a:t>通过图像文件、外接摄像头实时捕捉画面测试模型</a:t>
            </a:r>
            <a:endParaRPr lang="zh-CN" altLang="en-US"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a:xfrm>
            <a:off x="669926" y="1130299"/>
            <a:ext cx="6572846" cy="5006975"/>
          </a:xfrm>
        </p:spPr>
        <p:txBody>
          <a:bodyPr/>
          <a:lstStyle/>
          <a:p>
            <a:pPr lvl="0"/>
            <a:r>
              <a:rPr lang="en-US" altLang="zh-CN" dirty="0"/>
              <a:t>USB</a:t>
            </a:r>
            <a:r>
              <a:rPr lang="zh-CN" altLang="zh-CN" dirty="0"/>
              <a:t>免驱动摄像头一个，检测水果模型若干</a:t>
            </a:r>
          </a:p>
          <a:p>
            <a:pPr lvl="0"/>
            <a:r>
              <a:rPr lang="zh-CN" altLang="zh-CN" dirty="0" smtClean="0"/>
              <a:t>运行</a:t>
            </a:r>
            <a:r>
              <a:rPr lang="en-US" altLang="zh-CN" dirty="0"/>
              <a:t>Windows</a:t>
            </a:r>
            <a:r>
              <a:rPr lang="zh-CN" altLang="zh-CN"/>
              <a:t>系统</a:t>
            </a:r>
            <a:r>
              <a:rPr lang="zh-CN" altLang="zh-CN" smtClean="0"/>
              <a:t>的</a:t>
            </a:r>
            <a:r>
              <a:rPr lang="en-US" altLang="zh-CN" smtClean="0"/>
              <a:t>PC</a:t>
            </a:r>
            <a:r>
              <a:rPr lang="zh-CN" altLang="zh-CN" dirty="0"/>
              <a:t>机一台，其中包含：</a:t>
            </a:r>
          </a:p>
          <a:p>
            <a:pPr lvl="1"/>
            <a:r>
              <a:rPr lang="en-US" altLang="zh-CN" dirty="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pPr lvl="0"/>
            <a:endParaRPr lang="zh-CN" altLang="zh-CN" dirty="0"/>
          </a:p>
          <a:p>
            <a:pPr>
              <a:lnSpc>
                <a:spcPct val="125000"/>
              </a:lnSpc>
            </a:pPr>
            <a:endParaRPr lang="zh-CN" altLang="en-US" dirty="0"/>
          </a:p>
        </p:txBody>
      </p:sp>
      <p:sp>
        <p:nvSpPr>
          <p:cNvPr id="4" name="内容占位符 2">
            <a:extLst>
              <a:ext uri="{FF2B5EF4-FFF2-40B4-BE49-F238E27FC236}">
                <a16:creationId xmlns="" xmlns:a16="http://schemas.microsoft.com/office/drawing/2014/main"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p>
          <a:p>
            <a:endParaRPr lang="zh-CN" altLang="zh-CN" dirty="0" smtClean="0"/>
          </a:p>
          <a:p>
            <a:pPr lvl="1"/>
            <a:r>
              <a:rPr lang="en-US" altLang="zh-CN" dirty="0" smtClean="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5" name="文本框 5"/>
          <p:cNvSpPr txBox="1"/>
          <p:nvPr/>
        </p:nvSpPr>
        <p:spPr>
          <a:xfrm>
            <a:off x="5888251" y="3244334"/>
            <a:ext cx="415498" cy="369332"/>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r>
              <a:rPr lang="zh-CN" altLang="en-US" dirty="0" smtClean="0"/>
              <a:t>或</a:t>
            </a:r>
            <a:endParaRPr lang="zh-CN" altLang="en-US" dirty="0"/>
          </a:p>
        </p:txBody>
      </p:sp>
    </p:spTree>
    <p:extLst>
      <p:ext uri="{BB962C8B-B14F-4D97-AF65-F5344CB8AC3E}">
        <p14:creationId xmlns:p14="http://schemas.microsoft.com/office/powerpoint/2010/main" val="307882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a:t>测试</a:t>
            </a:r>
            <a:r>
              <a:rPr lang="zh-CN" altLang="en-US" dirty="0" smtClean="0"/>
              <a:t>模型</a:t>
            </a:r>
            <a:endParaRPr lang="en-US" altLang="zh-CN" dirty="0"/>
          </a:p>
          <a:p>
            <a:pPr>
              <a:lnSpc>
                <a:spcPct val="125000"/>
              </a:lnSpc>
            </a:pPr>
            <a:endParaRPr lang="en-US" altLang="zh-CN" dirty="0" smtClean="0"/>
          </a:p>
        </p:txBody>
      </p:sp>
    </p:spTree>
    <p:extLst>
      <p:ext uri="{BB962C8B-B14F-4D97-AF65-F5344CB8AC3E}">
        <p14:creationId xmlns:p14="http://schemas.microsoft.com/office/powerpoint/2010/main" val="30770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798978776"/>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507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a:t>cputorch</a:t>
            </a:r>
            <a:r>
              <a:rPr lang="en-US" altLang="zh-CN" dirty="0"/>
              <a:t>/</a:t>
            </a:r>
            <a:r>
              <a:rPr lang="en-US" altLang="zh-CN" dirty="0" err="1"/>
              <a:t>gputorch</a:t>
            </a:r>
            <a:r>
              <a:rPr lang="zh-CN" altLang="zh-CN" dirty="0"/>
              <a:t>），使用</a:t>
            </a:r>
            <a:r>
              <a:rPr lang="en-US" altLang="zh-CN" dirty="0" err="1"/>
              <a:t>Pytorch</a:t>
            </a:r>
            <a:r>
              <a:rPr lang="zh-CN" altLang="zh-CN" dirty="0"/>
              <a:t>打开项目并选择虚拟环境。（步骤请参考之前的</a:t>
            </a:r>
            <a:r>
              <a:rPr lang="en-US" altLang="zh-CN" dirty="0"/>
              <a:t>“</a:t>
            </a:r>
            <a:r>
              <a:rPr lang="zh-CN" altLang="zh-CN" dirty="0"/>
              <a:t>实验：开发环境配置</a:t>
            </a:r>
            <a:r>
              <a:rPr lang="en-US" altLang="zh-CN" dirty="0"/>
              <a:t>”</a:t>
            </a:r>
            <a:r>
              <a:rPr lang="zh-CN" altLang="zh-CN" dirty="0"/>
              <a:t>。</a:t>
            </a:r>
            <a:r>
              <a:rPr lang="zh-CN" altLang="zh-CN" dirty="0" smtClean="0"/>
              <a:t>）打开</a:t>
            </a:r>
            <a:r>
              <a:rPr lang="zh-CN" altLang="zh-CN" dirty="0"/>
              <a:t>项目文件后文件夹</a:t>
            </a:r>
            <a:r>
              <a:rPr lang="zh-CN" altLang="zh-CN" dirty="0" smtClean="0"/>
              <a:t>内容</a:t>
            </a:r>
            <a:r>
              <a:rPr lang="zh-CN" altLang="en-US" dirty="0" smtClean="0"/>
              <a:t>如下：</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3328" y="2308634"/>
            <a:ext cx="3423756" cy="3828640"/>
          </a:xfrm>
          <a:prstGeom prst="rect">
            <a:avLst/>
          </a:prstGeom>
        </p:spPr>
      </p:pic>
    </p:spTree>
    <p:extLst>
      <p:ext uri="{BB962C8B-B14F-4D97-AF65-F5344CB8AC3E}">
        <p14:creationId xmlns:p14="http://schemas.microsoft.com/office/powerpoint/2010/main" val="21084820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本实验中主要使用</a:t>
            </a:r>
            <a:r>
              <a:rPr lang="en-US" altLang="zh-CN" dirty="0"/>
              <a:t>predict.py</a:t>
            </a:r>
            <a:r>
              <a:rPr lang="zh-CN" altLang="zh-CN" dirty="0"/>
              <a:t>和</a:t>
            </a:r>
            <a:r>
              <a:rPr lang="en-US" altLang="zh-CN" dirty="0"/>
              <a:t>yolo.py</a:t>
            </a:r>
            <a:r>
              <a:rPr lang="zh-CN" altLang="zh-CN" dirty="0"/>
              <a:t>文件。</a:t>
            </a:r>
          </a:p>
          <a:p>
            <a:r>
              <a:rPr lang="en-US" altLang="zh-CN" dirty="0"/>
              <a:t>predict.py</a:t>
            </a:r>
            <a:r>
              <a:rPr lang="zh-CN" altLang="zh-CN" dirty="0"/>
              <a:t>中仅有一个主函数，修改参数可直接运行，主要功能为单张、多张图片的检测，视频的检测、测试</a:t>
            </a:r>
            <a:r>
              <a:rPr lang="en-US" altLang="zh-CN" dirty="0"/>
              <a:t>fps</a:t>
            </a:r>
            <a:r>
              <a:rPr lang="zh-CN" altLang="zh-CN" dirty="0"/>
              <a:t>、热力图可视化、导出</a:t>
            </a:r>
            <a:r>
              <a:rPr lang="en-US" altLang="zh-CN" dirty="0" err="1"/>
              <a:t>onnx</a:t>
            </a:r>
            <a:r>
              <a:rPr lang="zh-CN" altLang="zh-CN" dirty="0"/>
              <a:t>模型。所有功能的实现均调用根目录下</a:t>
            </a:r>
            <a:r>
              <a:rPr lang="en-US" altLang="zh-CN" dirty="0"/>
              <a:t>yolo.py</a:t>
            </a:r>
            <a:r>
              <a:rPr lang="zh-CN" altLang="zh-CN" dirty="0"/>
              <a:t>文件的</a:t>
            </a:r>
            <a:r>
              <a:rPr lang="en-US" altLang="zh-CN" dirty="0"/>
              <a:t>YOLO</a:t>
            </a:r>
            <a:r>
              <a:rPr lang="zh-CN" altLang="zh-CN" dirty="0"/>
              <a:t>类。</a:t>
            </a:r>
          </a:p>
          <a:p>
            <a:r>
              <a:rPr lang="en-US" altLang="zh-CN" dirty="0" err="1"/>
              <a:t>detect_image</a:t>
            </a:r>
            <a:r>
              <a:rPr lang="en-US" altLang="zh-CN" dirty="0"/>
              <a:t>(self, image, crop = False, count = False)</a:t>
            </a:r>
            <a:r>
              <a:rPr lang="zh-CN" altLang="zh-CN" dirty="0"/>
              <a:t>函数主要实现图像的检测，包括单张图像的检测以及文件夹遍历检测：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206" y="3575369"/>
            <a:ext cx="8600000" cy="2561905"/>
          </a:xfrm>
          <a:prstGeom prst="rect">
            <a:avLst/>
          </a:prstGeom>
        </p:spPr>
      </p:pic>
    </p:spTree>
    <p:extLst>
      <p:ext uri="{BB962C8B-B14F-4D97-AF65-F5344CB8AC3E}">
        <p14:creationId xmlns:p14="http://schemas.microsoft.com/office/powerpoint/2010/main" val="2029181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检测框的选取，包括阈值以及非极大值处理：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1857595"/>
            <a:ext cx="9323809" cy="3552381"/>
          </a:xfrm>
          <a:prstGeom prst="rect">
            <a:avLst/>
          </a:prstGeom>
        </p:spPr>
      </p:pic>
    </p:spTree>
    <p:extLst>
      <p:ext uri="{BB962C8B-B14F-4D97-AF65-F5344CB8AC3E}">
        <p14:creationId xmlns:p14="http://schemas.microsoft.com/office/powerpoint/2010/main" val="305014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绘制检测框：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8539" y="1809976"/>
            <a:ext cx="5933333" cy="3647619"/>
          </a:xfrm>
          <a:prstGeom prst="rect">
            <a:avLst/>
          </a:prstGeom>
        </p:spPr>
      </p:pic>
    </p:spTree>
    <p:extLst>
      <p:ext uri="{BB962C8B-B14F-4D97-AF65-F5344CB8AC3E}">
        <p14:creationId xmlns:p14="http://schemas.microsoft.com/office/powerpoint/2010/main" val="2908641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get_FPS</a:t>
            </a:r>
            <a:r>
              <a:rPr lang="en-US" altLang="zh-CN" dirty="0"/>
              <a:t>(self, image, </a:t>
            </a:r>
            <a:r>
              <a:rPr lang="en-US" altLang="zh-CN" dirty="0" err="1"/>
              <a:t>test_interval</a:t>
            </a:r>
            <a:r>
              <a:rPr lang="en-US" altLang="zh-CN" dirty="0"/>
              <a:t>)</a:t>
            </a:r>
            <a:r>
              <a:rPr lang="zh-CN" altLang="zh-CN" dirty="0"/>
              <a:t>函数的主要检测代码与之前的</a:t>
            </a:r>
            <a:r>
              <a:rPr lang="en-US" altLang="zh-CN" dirty="0" err="1"/>
              <a:t>detect_image</a:t>
            </a:r>
            <a:r>
              <a:rPr lang="en-US" altLang="zh-CN" dirty="0"/>
              <a:t>(self, image, crop = False, count = False)</a:t>
            </a:r>
            <a:r>
              <a:rPr lang="zh-CN" altLang="zh-CN" dirty="0"/>
              <a:t>函数相同，但最后的输出代码块有所不同，输出结果不是图像</a:t>
            </a:r>
            <a:r>
              <a:rPr lang="en-US" altLang="zh-CN" dirty="0"/>
              <a:t>+</a:t>
            </a:r>
            <a:r>
              <a:rPr lang="zh-CN" altLang="zh-CN" dirty="0"/>
              <a:t>目标框，而是</a:t>
            </a:r>
            <a:r>
              <a:rPr lang="en-US" altLang="zh-CN" dirty="0"/>
              <a:t>FPS</a:t>
            </a:r>
            <a:r>
              <a:rPr lang="zh-CN" altLang="zh-CN" dirty="0"/>
              <a:t>（每秒检测图像的数量）。</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301" y="2609420"/>
            <a:ext cx="9323809" cy="2942857"/>
          </a:xfrm>
          <a:prstGeom prst="rect">
            <a:avLst/>
          </a:prstGeom>
        </p:spPr>
      </p:pic>
    </p:spTree>
    <p:extLst>
      <p:ext uri="{BB962C8B-B14F-4D97-AF65-F5344CB8AC3E}">
        <p14:creationId xmlns:p14="http://schemas.microsoft.com/office/powerpoint/2010/main" val="3759829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en-US" altLang="zh-CN" dirty="0" err="1"/>
              <a:t>detect_heatmap</a:t>
            </a:r>
            <a:r>
              <a:rPr lang="en-US" altLang="zh-CN" dirty="0"/>
              <a:t>(self, image, </a:t>
            </a:r>
            <a:r>
              <a:rPr lang="en-US" altLang="zh-CN" dirty="0" err="1"/>
              <a:t>heatmap_save_path</a:t>
            </a:r>
            <a:r>
              <a:rPr lang="en-US" altLang="zh-CN" dirty="0"/>
              <a:t>)</a:t>
            </a:r>
            <a:r>
              <a:rPr lang="zh-CN" altLang="zh-CN" dirty="0"/>
              <a:t>函数的主要功能是将检测过程中待选框的中心点以热力图的形式表现出来，得益于</a:t>
            </a:r>
            <a:r>
              <a:rPr lang="en-US" altLang="zh-CN" dirty="0" err="1"/>
              <a:t>yolo</a:t>
            </a:r>
            <a:r>
              <a:rPr lang="zh-CN" altLang="zh-CN" dirty="0"/>
              <a:t>是一个基于锚框中心点的检测算法。主要实现代码如下：</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88" y="2190939"/>
            <a:ext cx="7313636" cy="3946335"/>
          </a:xfrm>
          <a:prstGeom prst="rect">
            <a:avLst/>
          </a:prstGeom>
        </p:spPr>
      </p:pic>
    </p:spTree>
    <p:extLst>
      <p:ext uri="{BB962C8B-B14F-4D97-AF65-F5344CB8AC3E}">
        <p14:creationId xmlns:p14="http://schemas.microsoft.com/office/powerpoint/2010/main" val="100681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765603834"/>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37124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接下来我们利用训练的模型进行图像</a:t>
            </a:r>
            <a:r>
              <a:rPr lang="en-US" altLang="zh-CN" dirty="0"/>
              <a:t>/</a:t>
            </a:r>
            <a:r>
              <a:rPr lang="zh-CN" altLang="zh-CN" dirty="0"/>
              <a:t>视频检测，打开</a:t>
            </a:r>
            <a:r>
              <a:rPr lang="en-US" altLang="zh-CN" dirty="0"/>
              <a:t>predict.py</a:t>
            </a:r>
            <a:r>
              <a:rPr lang="zh-CN" altLang="zh-CN" dirty="0"/>
              <a:t>，修改检测模式</a:t>
            </a:r>
            <a:r>
              <a:rPr lang="en-US" altLang="zh-CN" dirty="0"/>
              <a:t>mode</a:t>
            </a:r>
            <a:r>
              <a:rPr lang="zh-CN" altLang="zh-CN" dirty="0" smtClean="0"/>
              <a:t>：</a:t>
            </a:r>
            <a:endParaRPr lang="en-US" altLang="zh-CN" dirty="0" smtClean="0"/>
          </a:p>
          <a:p>
            <a:pPr lvl="1"/>
            <a:r>
              <a:rPr lang="en-US" altLang="zh-CN" dirty="0"/>
              <a:t>mode = “predict”</a:t>
            </a:r>
            <a:r>
              <a:rPr lang="zh-CN" altLang="zh-CN" dirty="0"/>
              <a:t>：检测单张图片。</a:t>
            </a:r>
          </a:p>
          <a:p>
            <a:pPr lvl="1"/>
            <a:r>
              <a:rPr lang="en-US" altLang="zh-CN" dirty="0"/>
              <a:t>mode = “video”</a:t>
            </a:r>
            <a:r>
              <a:rPr lang="zh-CN" altLang="zh-CN" dirty="0"/>
              <a:t>：检测已有视频或连接摄像头进行实时检测。</a:t>
            </a:r>
          </a:p>
          <a:p>
            <a:pPr lvl="1"/>
            <a:r>
              <a:rPr lang="en-US" altLang="zh-CN" dirty="0"/>
              <a:t>mode = “fps”</a:t>
            </a:r>
            <a:r>
              <a:rPr lang="zh-CN" altLang="zh-CN" dirty="0"/>
              <a:t>：使用单张图片测试模型的</a:t>
            </a:r>
            <a:r>
              <a:rPr lang="en-US" altLang="zh-CN" dirty="0"/>
              <a:t>fps</a:t>
            </a:r>
            <a:r>
              <a:rPr lang="zh-CN" altLang="zh-CN" dirty="0"/>
              <a:t>，即测试模型检测一张图片所需的时间。</a:t>
            </a:r>
          </a:p>
          <a:p>
            <a:pPr lvl="1"/>
            <a:r>
              <a:rPr lang="en-US" altLang="zh-CN" dirty="0"/>
              <a:t>mode = “</a:t>
            </a:r>
            <a:r>
              <a:rPr lang="en-US" altLang="zh-CN" dirty="0" err="1"/>
              <a:t>dir_predict</a:t>
            </a:r>
            <a:r>
              <a:rPr lang="en-US" altLang="zh-CN" dirty="0"/>
              <a:t>”</a:t>
            </a:r>
            <a:r>
              <a:rPr lang="zh-CN" altLang="zh-CN" dirty="0"/>
              <a:t>：遍历</a:t>
            </a:r>
            <a:r>
              <a:rPr lang="en-US" altLang="zh-CN" dirty="0" err="1"/>
              <a:t>img</a:t>
            </a:r>
            <a:r>
              <a:rPr lang="zh-CN" altLang="zh-CN" dirty="0"/>
              <a:t>文件夹下所有图片进行检测，结果保存在</a:t>
            </a:r>
            <a:r>
              <a:rPr lang="en-US" altLang="zh-CN" dirty="0" err="1"/>
              <a:t>img_out</a:t>
            </a:r>
            <a:r>
              <a:rPr lang="zh-CN" altLang="zh-CN" dirty="0"/>
              <a:t>文件夹下。</a:t>
            </a:r>
          </a:p>
          <a:p>
            <a:pPr lvl="1"/>
            <a:r>
              <a:rPr lang="en-US" altLang="zh-CN" dirty="0"/>
              <a:t>mode = “</a:t>
            </a:r>
            <a:r>
              <a:rPr lang="en-US" altLang="zh-CN" dirty="0" err="1"/>
              <a:t>heatmap</a:t>
            </a:r>
            <a:r>
              <a:rPr lang="en-US" altLang="zh-CN" dirty="0"/>
              <a:t>”</a:t>
            </a:r>
            <a:r>
              <a:rPr lang="zh-CN" altLang="zh-CN" dirty="0"/>
              <a:t>：利用</a:t>
            </a:r>
            <a:r>
              <a:rPr lang="en-US" altLang="zh-CN" dirty="0" err="1"/>
              <a:t>yolo</a:t>
            </a:r>
            <a:r>
              <a:rPr lang="zh-CN" altLang="zh-CN" dirty="0"/>
              <a:t>原理对预测结果热力图可视化。</a:t>
            </a:r>
          </a:p>
          <a:p>
            <a:pPr lvl="1"/>
            <a:r>
              <a:rPr lang="en-US" altLang="zh-CN" dirty="0"/>
              <a:t>mode = “</a:t>
            </a:r>
            <a:r>
              <a:rPr lang="en-US" altLang="zh-CN" dirty="0" err="1"/>
              <a:t>export_onnx</a:t>
            </a:r>
            <a:r>
              <a:rPr lang="en-US" altLang="zh-CN" dirty="0"/>
              <a:t>”</a:t>
            </a:r>
            <a:r>
              <a:rPr lang="zh-CN" altLang="zh-CN" dirty="0"/>
              <a:t>：将</a:t>
            </a:r>
            <a:r>
              <a:rPr lang="en-US" altLang="zh-CN" dirty="0" err="1"/>
              <a:t>Pytorch</a:t>
            </a:r>
            <a:r>
              <a:rPr lang="zh-CN" altLang="zh-CN" dirty="0"/>
              <a:t>框架的</a:t>
            </a:r>
            <a:r>
              <a:rPr lang="en-US" altLang="zh-CN" dirty="0"/>
              <a:t>.</a:t>
            </a:r>
            <a:r>
              <a:rPr lang="en-US" altLang="zh-CN" dirty="0" err="1"/>
              <a:t>pth</a:t>
            </a:r>
            <a:r>
              <a:rPr lang="zh-CN" altLang="zh-CN" dirty="0"/>
              <a:t>模型转化为通用开放格式</a:t>
            </a:r>
            <a:r>
              <a:rPr lang="en-US" altLang="zh-CN" dirty="0"/>
              <a:t>.</a:t>
            </a:r>
            <a:r>
              <a:rPr lang="en-US" altLang="zh-CN" dirty="0" err="1"/>
              <a:t>onnx</a:t>
            </a:r>
            <a:r>
              <a:rPr lang="zh-CN" altLang="zh-CN" dirty="0"/>
              <a:t>模型。</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880" y="3757188"/>
            <a:ext cx="7460651" cy="2380086"/>
          </a:xfrm>
          <a:prstGeom prst="rect">
            <a:avLst/>
          </a:prstGeom>
        </p:spPr>
      </p:pic>
    </p:spTree>
    <p:extLst>
      <p:ext uri="{BB962C8B-B14F-4D97-AF65-F5344CB8AC3E}">
        <p14:creationId xmlns:p14="http://schemas.microsoft.com/office/powerpoint/2010/main" val="33377845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smtClean="0"/>
              <a:t>原始</a:t>
            </a:r>
            <a:r>
              <a:rPr lang="zh-CN" altLang="zh-CN" dirty="0"/>
              <a:t>模型文件夹中</a:t>
            </a:r>
            <a:r>
              <a:rPr lang="en-US" altLang="zh-CN" dirty="0" err="1"/>
              <a:t>img</a:t>
            </a:r>
            <a:r>
              <a:rPr lang="zh-CN" altLang="zh-CN" dirty="0"/>
              <a:t>文件夹仅自带一张街道图片</a:t>
            </a:r>
            <a:r>
              <a:rPr lang="en-US" altLang="zh-CN" dirty="0"/>
              <a:t>street.jpg</a:t>
            </a:r>
            <a:r>
              <a:rPr lang="zh-CN" altLang="zh-CN" dirty="0"/>
              <a:t>用于测试，我们需要自行导入其他待检测图片，为了方便观察结果，已经拍摄了几张含检测目标的</a:t>
            </a:r>
            <a:r>
              <a:rPr lang="en-US" altLang="zh-CN" dirty="0"/>
              <a:t>“test*”</a:t>
            </a:r>
            <a:r>
              <a:rPr lang="zh-CN" altLang="zh-CN" dirty="0"/>
              <a:t>命名的图片放在</a:t>
            </a:r>
            <a:r>
              <a:rPr lang="en-US" altLang="zh-CN" dirty="0" err="1"/>
              <a:t>img</a:t>
            </a:r>
            <a:r>
              <a:rPr lang="zh-CN" altLang="zh-CN" dirty="0"/>
              <a:t>文件夹下，也可根据实际情况自行拍摄。</a:t>
            </a:r>
          </a:p>
          <a:p>
            <a:r>
              <a:rPr lang="zh-CN" altLang="zh-CN" dirty="0"/>
              <a:t>部分参数可在</a:t>
            </a:r>
            <a:r>
              <a:rPr lang="en-US" altLang="zh-CN" dirty="0"/>
              <a:t>yolo.py</a:t>
            </a:r>
            <a:r>
              <a:rPr lang="zh-CN" altLang="zh-CN" dirty="0"/>
              <a:t>文件中修改，具体说明参考上一个实验</a:t>
            </a:r>
            <a:r>
              <a:rPr lang="en-US" altLang="zh-CN" dirty="0"/>
              <a:t>“</a:t>
            </a:r>
            <a:r>
              <a:rPr lang="zh-CN" altLang="zh-CN" dirty="0"/>
              <a:t>实验：一阶段算法模型的评估</a:t>
            </a:r>
            <a:r>
              <a:rPr lang="en-US" altLang="zh-CN" dirty="0"/>
              <a:t>”</a:t>
            </a:r>
            <a:r>
              <a:rPr lang="zh-CN" altLang="zh-CN" dirty="0"/>
              <a:t>。</a:t>
            </a:r>
          </a:p>
          <a:p>
            <a:r>
              <a:rPr lang="zh-CN" altLang="zh-CN" b="1" dirty="0"/>
              <a:t>修改</a:t>
            </a:r>
            <a:r>
              <a:rPr lang="en-US" altLang="zh-CN" b="1" dirty="0"/>
              <a:t>mode = “predict”</a:t>
            </a:r>
            <a:r>
              <a:rPr lang="zh-CN" altLang="zh-CN" dirty="0"/>
              <a:t>；运行</a:t>
            </a:r>
            <a:r>
              <a:rPr lang="en-US" altLang="zh-CN" dirty="0"/>
              <a:t>predict.py</a:t>
            </a:r>
            <a:r>
              <a:rPr lang="zh-CN" altLang="zh-CN" dirty="0" smtClean="0"/>
              <a:t>：</a:t>
            </a:r>
            <a:endParaRPr lang="en-US" altLang="zh-CN" dirty="0" smtClean="0"/>
          </a:p>
          <a:p>
            <a:r>
              <a:rPr lang="zh-CN" altLang="zh-CN" dirty="0"/>
              <a:t>在</a:t>
            </a:r>
            <a:r>
              <a:rPr lang="en-US" altLang="zh-CN" dirty="0"/>
              <a:t>“Input image filename</a:t>
            </a:r>
            <a:r>
              <a:rPr lang="zh-CN" altLang="zh-CN" dirty="0"/>
              <a:t>：</a:t>
            </a:r>
            <a:r>
              <a:rPr lang="en-US" altLang="zh-CN" dirty="0"/>
              <a:t>”</a:t>
            </a:r>
            <a:r>
              <a:rPr lang="zh-CN" altLang="zh-CN" dirty="0"/>
              <a:t>后输入待检测图片路径并回车，这里就以</a:t>
            </a:r>
            <a:r>
              <a:rPr lang="en-US" altLang="zh-CN" dirty="0" err="1"/>
              <a:t>img</a:t>
            </a:r>
            <a:r>
              <a:rPr lang="en-US" altLang="zh-CN" dirty="0"/>
              <a:t>/street.jpg</a:t>
            </a:r>
            <a:r>
              <a:rPr lang="zh-CN" altLang="zh-CN" dirty="0"/>
              <a:t>为例：</a:t>
            </a:r>
          </a:p>
          <a:p>
            <a:endParaRPr lang="zh-CN" altLang="zh-CN" dirty="0"/>
          </a:p>
          <a:p>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4060" y="3655808"/>
            <a:ext cx="4226248" cy="2481466"/>
          </a:xfrm>
          <a:prstGeom prst="rect">
            <a:avLst/>
          </a:prstGeom>
        </p:spPr>
      </p:pic>
    </p:spTree>
    <p:extLst>
      <p:ext uri="{BB962C8B-B14F-4D97-AF65-F5344CB8AC3E}">
        <p14:creationId xmlns:p14="http://schemas.microsoft.com/office/powerpoint/2010/main" val="10354129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zh-CN" altLang="zh-CN" dirty="0"/>
              <a:t>； 电脑</a:t>
            </a:r>
            <a:r>
              <a:rPr lang="zh-CN" altLang="zh-CN" dirty="0" smtClean="0"/>
              <a:t>连接</a:t>
            </a:r>
            <a:r>
              <a:rPr lang="en-US" altLang="zh-CN" dirty="0"/>
              <a:t>USB</a:t>
            </a:r>
            <a:r>
              <a:rPr lang="zh-CN" altLang="zh-CN" dirty="0"/>
              <a:t>免驱动摄像头</a:t>
            </a:r>
            <a:r>
              <a:rPr lang="zh-CN" altLang="zh-CN" dirty="0" smtClean="0"/>
              <a:t>，</a:t>
            </a:r>
            <a:r>
              <a:rPr lang="zh-CN" altLang="zh-CN" dirty="0"/>
              <a:t>运行</a:t>
            </a:r>
            <a:r>
              <a:rPr lang="en-US" altLang="zh-CN" dirty="0"/>
              <a:t>predict.py</a:t>
            </a:r>
            <a:r>
              <a:rPr lang="zh-CN" altLang="zh-CN" dirty="0"/>
              <a:t>。</a:t>
            </a:r>
          </a:p>
          <a:p>
            <a:r>
              <a:rPr lang="zh-CN" altLang="zh-CN" dirty="0"/>
              <a:t>手动调整</a:t>
            </a:r>
            <a:r>
              <a:rPr lang="zh-CN" altLang="zh-CN" dirty="0" smtClean="0"/>
              <a:t>摄像头</a:t>
            </a:r>
            <a:r>
              <a:rPr lang="zh-CN" altLang="en-US" dirty="0" smtClean="0"/>
              <a:t>确保</a:t>
            </a:r>
            <a:r>
              <a:rPr lang="zh-CN" altLang="zh-CN" dirty="0" smtClean="0"/>
              <a:t>画面</a:t>
            </a:r>
            <a:r>
              <a:rPr lang="zh-CN" altLang="zh-CN" dirty="0"/>
              <a:t>捕捉检测</a:t>
            </a:r>
            <a:r>
              <a:rPr lang="zh-CN" altLang="zh-CN" dirty="0" smtClean="0"/>
              <a:t>目标</a:t>
            </a:r>
            <a:r>
              <a:rPr lang="zh-CN" altLang="en-US" dirty="0"/>
              <a:t>。</a:t>
            </a:r>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95637" y="2073244"/>
            <a:ext cx="7199138" cy="4064030"/>
          </a:xfrm>
          <a:prstGeom prst="rect">
            <a:avLst/>
          </a:prstGeom>
        </p:spPr>
      </p:pic>
    </p:spTree>
    <p:extLst>
      <p:ext uri="{BB962C8B-B14F-4D97-AF65-F5344CB8AC3E}">
        <p14:creationId xmlns:p14="http://schemas.microsoft.com/office/powerpoint/2010/main" val="29742497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a:t>
            </a:r>
            <a:r>
              <a:rPr lang="en-US" altLang="zh-CN" b="1" dirty="0" err="1"/>
              <a:t>heatmap</a:t>
            </a:r>
            <a:r>
              <a:rPr lang="en-US" altLang="zh-CN" b="1" dirty="0"/>
              <a:t>”</a:t>
            </a:r>
            <a:r>
              <a:rPr lang="zh-CN" altLang="zh-CN" dirty="0"/>
              <a:t>，运行</a:t>
            </a:r>
            <a:r>
              <a:rPr lang="en-US" altLang="zh-CN" dirty="0"/>
              <a:t>predict.py</a:t>
            </a:r>
            <a:r>
              <a:rPr lang="zh-CN" altLang="zh-CN" dirty="0"/>
              <a:t>。</a:t>
            </a:r>
          </a:p>
          <a:p>
            <a:r>
              <a:rPr lang="zh-CN" altLang="zh-CN" dirty="0"/>
              <a:t>在</a:t>
            </a:r>
            <a:r>
              <a:rPr lang="en-US" altLang="zh-CN" dirty="0"/>
              <a:t>“Input image filename</a:t>
            </a:r>
            <a:r>
              <a:rPr lang="zh-CN" altLang="zh-CN" dirty="0"/>
              <a:t>：</a:t>
            </a:r>
            <a:r>
              <a:rPr lang="en-US" altLang="zh-CN" dirty="0"/>
              <a:t>” </a:t>
            </a:r>
            <a:r>
              <a:rPr lang="zh-CN" altLang="zh-CN" dirty="0"/>
              <a:t>后输入待检测图片路径，这里就以</a:t>
            </a:r>
            <a:r>
              <a:rPr lang="en-US" altLang="zh-CN" dirty="0" err="1"/>
              <a:t>img</a:t>
            </a:r>
            <a:r>
              <a:rPr lang="en-US" altLang="zh-CN" dirty="0"/>
              <a:t>/street.jpg</a:t>
            </a:r>
            <a:r>
              <a:rPr lang="zh-CN" altLang="zh-CN" dirty="0" smtClean="0"/>
              <a:t>为例</a:t>
            </a:r>
            <a:r>
              <a:rPr lang="zh-CN" altLang="en-US" dirty="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热力图结果将会保存在</a:t>
            </a:r>
            <a:r>
              <a:rPr lang="en-US" altLang="zh-CN" dirty="0" err="1"/>
              <a:t>model_data</a:t>
            </a:r>
            <a:r>
              <a:rPr lang="zh-CN" altLang="zh-CN" dirty="0"/>
              <a:t>文件夹下。同样，对含待检测目标的图像进行热力图显示。</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385" y="2172831"/>
            <a:ext cx="5429401" cy="3136238"/>
          </a:xfrm>
          <a:prstGeom prst="rect">
            <a:avLst/>
          </a:prstGeom>
        </p:spPr>
      </p:pic>
    </p:spTree>
    <p:extLst>
      <p:ext uri="{BB962C8B-B14F-4D97-AF65-F5344CB8AC3E}">
        <p14:creationId xmlns:p14="http://schemas.microsoft.com/office/powerpoint/2010/main" val="2042763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smtClean="0"/>
              <a:t>修改</a:t>
            </a:r>
            <a:r>
              <a:rPr lang="en-US" altLang="zh-CN" b="1" dirty="0"/>
              <a:t>mode = “fps”</a:t>
            </a:r>
            <a:r>
              <a:rPr lang="zh-CN" altLang="zh-CN" dirty="0" smtClean="0"/>
              <a:t>，</a:t>
            </a:r>
            <a:r>
              <a:rPr lang="zh-CN" altLang="zh-CN" dirty="0"/>
              <a:t>修改使用的图片路径，默认为</a:t>
            </a:r>
            <a:r>
              <a:rPr lang="en-US" altLang="zh-CN" dirty="0" err="1" smtClean="0"/>
              <a:t>img</a:t>
            </a:r>
            <a:r>
              <a:rPr lang="en-US" altLang="zh-CN" dirty="0" smtClean="0"/>
              <a:t>/street.jpg</a:t>
            </a:r>
            <a:r>
              <a:rPr lang="zh-CN" altLang="en-US" dirty="0"/>
              <a:t>，</a:t>
            </a:r>
            <a:r>
              <a:rPr lang="zh-CN" altLang="zh-CN" dirty="0" smtClean="0"/>
              <a:t>运行</a:t>
            </a:r>
            <a:r>
              <a:rPr lang="en-US" altLang="zh-CN" dirty="0"/>
              <a:t>predict.py</a:t>
            </a:r>
            <a:r>
              <a:rPr lang="zh-CN" altLang="zh-CN" dirty="0" smtClean="0"/>
              <a:t>。</a:t>
            </a:r>
            <a:endParaRPr lang="en-US" altLang="zh-CN" dirty="0" smtClean="0"/>
          </a:p>
          <a:p>
            <a:endParaRPr lang="en-US" altLang="zh-CN" dirty="0"/>
          </a:p>
          <a:p>
            <a:endParaRPr lang="en-US" altLang="zh-CN" dirty="0" smtClean="0"/>
          </a:p>
          <a:p>
            <a:endParaRPr lang="zh-CN" altLang="zh-CN" dirty="0"/>
          </a:p>
          <a:p>
            <a:endParaRPr lang="en-US" altLang="zh-CN" dirty="0" smtClean="0"/>
          </a:p>
          <a:p>
            <a:r>
              <a:rPr lang="zh-CN" altLang="zh-CN" dirty="0" smtClean="0"/>
              <a:t>结果</a:t>
            </a:r>
            <a:r>
              <a:rPr lang="zh-CN" altLang="zh-CN" dirty="0"/>
              <a:t>将直接在终端出现。</a:t>
            </a:r>
          </a:p>
          <a:p>
            <a:r>
              <a:rPr lang="zh-CN" altLang="zh-CN" b="1" dirty="0" smtClean="0"/>
              <a:t>修改</a:t>
            </a:r>
            <a:r>
              <a:rPr lang="en-US" altLang="zh-CN" b="1" dirty="0"/>
              <a:t>mode = “</a:t>
            </a:r>
            <a:r>
              <a:rPr lang="en-US" altLang="zh-CN" b="1" dirty="0" err="1"/>
              <a:t>dir_predict</a:t>
            </a:r>
            <a:r>
              <a:rPr lang="en-US" altLang="zh-CN" b="1" dirty="0"/>
              <a:t>”</a:t>
            </a:r>
            <a:r>
              <a:rPr lang="zh-CN" altLang="zh-CN" dirty="0"/>
              <a:t>，运行</a:t>
            </a:r>
            <a:r>
              <a:rPr lang="en-US" altLang="zh-CN" dirty="0"/>
              <a:t>predict.py</a:t>
            </a:r>
            <a:r>
              <a:rPr lang="zh-CN" altLang="zh-CN" dirty="0"/>
              <a:t>。</a:t>
            </a:r>
          </a:p>
          <a:p>
            <a:r>
              <a:rPr lang="zh-CN" altLang="zh-CN" dirty="0"/>
              <a:t>结果将在一个新的文件夹</a:t>
            </a:r>
            <a:r>
              <a:rPr lang="en-US" altLang="zh-CN" dirty="0" err="1"/>
              <a:t>img_out</a:t>
            </a:r>
            <a:r>
              <a:rPr lang="zh-CN" altLang="zh-CN" dirty="0"/>
              <a:t>下出现</a:t>
            </a:r>
            <a:r>
              <a:rPr lang="zh-CN" altLang="zh-CN" dirty="0" smtClean="0"/>
              <a:t>。</a:t>
            </a:r>
            <a:endParaRPr lang="en-US" altLang="zh-CN" dirty="0" smtClean="0"/>
          </a:p>
          <a:p>
            <a:r>
              <a:rPr lang="en-US" altLang="zh-CN" b="1" dirty="0" smtClean="0"/>
              <a:t>mode </a:t>
            </a:r>
            <a:r>
              <a:rPr lang="en-US" altLang="zh-CN" b="1" dirty="0"/>
              <a:t>= “</a:t>
            </a:r>
            <a:r>
              <a:rPr lang="en-US" altLang="zh-CN" b="1" dirty="0" err="1"/>
              <a:t>export_onnx</a:t>
            </a:r>
            <a:r>
              <a:rPr lang="en-US" altLang="zh-CN" b="1" dirty="0"/>
              <a:t>”</a:t>
            </a:r>
            <a:r>
              <a:rPr lang="zh-CN" altLang="zh-CN" dirty="0"/>
              <a:t>涉及到新的环境及用法，本实验不使用。</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11" y="1596493"/>
            <a:ext cx="7476190" cy="1800000"/>
          </a:xfrm>
          <a:prstGeom prst="rect">
            <a:avLst/>
          </a:prstGeom>
        </p:spPr>
      </p:pic>
    </p:spTree>
    <p:extLst>
      <p:ext uri="{BB962C8B-B14F-4D97-AF65-F5344CB8AC3E}">
        <p14:creationId xmlns:p14="http://schemas.microsoft.com/office/powerpoint/2010/main" val="5593988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最终采用的模型文件为</a:t>
            </a:r>
            <a:r>
              <a:rPr lang="en-US" altLang="zh-CN" dirty="0" err="1"/>
              <a:t>best_epoch_weights.pth</a:t>
            </a:r>
            <a:r>
              <a:rPr lang="zh-CN" altLang="zh-CN" dirty="0"/>
              <a:t>。</a:t>
            </a:r>
          </a:p>
          <a:p>
            <a:r>
              <a:rPr lang="zh-CN" altLang="zh-CN" dirty="0"/>
              <a:t>使用单张图片进行检测（</a:t>
            </a:r>
            <a:r>
              <a:rPr lang="en-US" altLang="zh-CN" dirty="0"/>
              <a:t>mode = “predict”</a:t>
            </a:r>
            <a:r>
              <a:rPr lang="zh-CN" altLang="zh-CN" dirty="0"/>
              <a:t>），这里以自带的</a:t>
            </a:r>
            <a:r>
              <a:rPr lang="en-US" altLang="zh-CN" dirty="0" err="1"/>
              <a:t>img</a:t>
            </a:r>
            <a:r>
              <a:rPr lang="en-US" altLang="zh-CN" dirty="0"/>
              <a:t>/street.jpg</a:t>
            </a:r>
            <a:r>
              <a:rPr lang="zh-CN" altLang="zh-CN" dirty="0"/>
              <a:t>为例，检测结果如下图：</a:t>
            </a:r>
          </a:p>
          <a:p>
            <a:endParaRPr lang="zh-CN" altLang="en-US" dirty="0"/>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9017" y="2248812"/>
            <a:ext cx="3892377" cy="3888462"/>
          </a:xfrm>
          <a:prstGeom prst="rect">
            <a:avLst/>
          </a:prstGeom>
        </p:spPr>
      </p:pic>
    </p:spTree>
    <p:extLst>
      <p:ext uri="{BB962C8B-B14F-4D97-AF65-F5344CB8AC3E}">
        <p14:creationId xmlns:p14="http://schemas.microsoft.com/office/powerpoint/2010/main" val="23083443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换成含检测目标的图像</a:t>
            </a:r>
            <a:r>
              <a:rPr lang="en-US" altLang="zh-CN" dirty="0" err="1"/>
              <a:t>img</a:t>
            </a:r>
            <a:r>
              <a:rPr lang="en-US" altLang="zh-CN" dirty="0"/>
              <a:t>/test1.jpg</a:t>
            </a:r>
            <a:r>
              <a:rPr lang="zh-CN" altLang="zh-CN" dirty="0"/>
              <a:t>进行</a:t>
            </a:r>
            <a:r>
              <a:rPr lang="zh-CN" altLang="zh-CN" dirty="0" smtClean="0"/>
              <a:t>检测</a:t>
            </a:r>
            <a:r>
              <a:rPr lang="zh-CN" altLang="en-US" dirty="0" smtClean="0"/>
              <a:t>，结果如图：</a:t>
            </a:r>
            <a:endParaRPr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632" y="1624122"/>
            <a:ext cx="6073632" cy="4513152"/>
          </a:xfrm>
          <a:prstGeom prst="rect">
            <a:avLst/>
          </a:prstGeom>
        </p:spPr>
      </p:pic>
    </p:spTree>
    <p:extLst>
      <p:ext uri="{BB962C8B-B14F-4D97-AF65-F5344CB8AC3E}">
        <p14:creationId xmlns:p14="http://schemas.microsoft.com/office/powerpoint/2010/main" val="2155586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使用摄像头进行实时检测（</a:t>
            </a:r>
            <a:r>
              <a:rPr lang="en-US" altLang="zh-CN" dirty="0"/>
              <a:t>mode = “video”</a:t>
            </a:r>
            <a:r>
              <a:rPr lang="zh-CN" altLang="zh-CN" dirty="0"/>
              <a:t>），检测结果如下图（某一时刻的截图）</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smtClean="0"/>
              <a:t>该</a:t>
            </a:r>
            <a:r>
              <a:rPr lang="zh-CN" altLang="zh-CN" dirty="0"/>
              <a:t>结果不仅会显示摄像头画面的实时检测结果，还会显示检测的</a:t>
            </a:r>
            <a:r>
              <a:rPr lang="en-US" altLang="zh-CN" dirty="0"/>
              <a:t>fps</a:t>
            </a:r>
            <a:r>
              <a:rPr lang="zh-CN" altLang="zh-CN" dirty="0"/>
              <a:t>（帧数）。可以看到</a:t>
            </a:r>
            <a:r>
              <a:rPr lang="en-US" altLang="zh-CN" dirty="0"/>
              <a:t>fps&gt;10</a:t>
            </a:r>
            <a:r>
              <a:rPr lang="zh-CN" altLang="zh-CN" dirty="0"/>
              <a:t>，这表示模型实时检测时每秒可以返回</a:t>
            </a:r>
            <a:r>
              <a:rPr lang="en-US" altLang="zh-CN" dirty="0"/>
              <a:t>10</a:t>
            </a:r>
            <a:r>
              <a:rPr lang="zh-CN" altLang="zh-CN" dirty="0"/>
              <a:t>张以上的检测图片，检测过程非常流畅</a:t>
            </a:r>
            <a:r>
              <a:rPr lang="zh-CN" altLang="zh-CN" dirty="0" smtClean="0"/>
              <a:t>。</a:t>
            </a:r>
            <a:endParaRPr lang="zh-CN" altLang="zh-CN" dirty="0"/>
          </a:p>
          <a:p>
            <a:r>
              <a:rPr lang="zh-CN" altLang="zh-CN" dirty="0"/>
              <a:t>通过按</a:t>
            </a:r>
            <a:r>
              <a:rPr lang="en-US" altLang="zh-CN" dirty="0"/>
              <a:t>“s”</a:t>
            </a:r>
            <a:r>
              <a:rPr lang="zh-CN" altLang="zh-CN" dirty="0"/>
              <a:t>键或空格键，将某一帧检测结果保存在</a:t>
            </a:r>
            <a:r>
              <a:rPr lang="en-US" altLang="zh-CN" dirty="0" err="1"/>
              <a:t>video_img</a:t>
            </a:r>
            <a:r>
              <a:rPr lang="zh-CN" altLang="zh-CN" dirty="0"/>
              <a:t>文件夹下</a:t>
            </a:r>
            <a:r>
              <a:rPr lang="zh-CN" altLang="zh-CN" dirty="0" smtClean="0"/>
              <a:t>。</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2964" y="1557195"/>
            <a:ext cx="5824484" cy="3288015"/>
          </a:xfrm>
          <a:prstGeom prst="rect">
            <a:avLst/>
          </a:prstGeom>
        </p:spPr>
      </p:pic>
    </p:spTree>
    <p:extLst>
      <p:ext uri="{BB962C8B-B14F-4D97-AF65-F5344CB8AC3E}">
        <p14:creationId xmlns:p14="http://schemas.microsoft.com/office/powerpoint/2010/main" val="36465459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使用单张图片测试模型的</a:t>
            </a:r>
            <a:r>
              <a:rPr lang="en-US" altLang="zh-CN" dirty="0"/>
              <a:t>fps</a:t>
            </a:r>
            <a:r>
              <a:rPr lang="zh-CN" altLang="zh-CN" dirty="0"/>
              <a:t>（</a:t>
            </a:r>
            <a:r>
              <a:rPr lang="en-US" altLang="zh-CN" dirty="0"/>
              <a:t>mode = “fps”</a:t>
            </a:r>
            <a:r>
              <a:rPr lang="zh-CN" altLang="zh-CN" dirty="0"/>
              <a:t>），检测结果如下图</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smtClean="0"/>
              <a:t>该</a:t>
            </a:r>
            <a:r>
              <a:rPr lang="zh-CN" altLang="zh-CN" dirty="0"/>
              <a:t>模型检测一张图像约使用</a:t>
            </a:r>
            <a:r>
              <a:rPr lang="en-US" altLang="zh-CN" dirty="0"/>
              <a:t>0.039</a:t>
            </a:r>
            <a:r>
              <a:rPr lang="zh-CN" altLang="zh-CN" dirty="0"/>
              <a:t>秒，意味着</a:t>
            </a:r>
            <a:r>
              <a:rPr lang="en-US" altLang="zh-CN" dirty="0"/>
              <a:t>FPS</a:t>
            </a:r>
            <a:r>
              <a:rPr lang="zh-CN" altLang="zh-CN" dirty="0"/>
              <a:t>达到了</a:t>
            </a:r>
            <a:r>
              <a:rPr lang="en-US" altLang="zh-CN" dirty="0"/>
              <a:t>25</a:t>
            </a:r>
            <a:r>
              <a:rPr lang="zh-CN" altLang="zh-CN" dirty="0"/>
              <a:t>（即每秒可以检测</a:t>
            </a:r>
            <a:r>
              <a:rPr lang="en-US" altLang="zh-CN" dirty="0"/>
              <a:t>25</a:t>
            </a:r>
            <a:r>
              <a:rPr lang="zh-CN" altLang="zh-CN" dirty="0"/>
              <a:t>张图像）。通常该方法显示的</a:t>
            </a:r>
            <a:r>
              <a:rPr lang="en-US" altLang="zh-CN" dirty="0"/>
              <a:t>FPS</a:t>
            </a:r>
            <a:r>
              <a:rPr lang="zh-CN" altLang="zh-CN" dirty="0"/>
              <a:t>会高于实时检测的</a:t>
            </a:r>
            <a:r>
              <a:rPr lang="en-US" altLang="zh-CN" dirty="0"/>
              <a:t>FPS</a:t>
            </a:r>
            <a:r>
              <a:rPr lang="zh-CN" altLang="zh-CN" dirty="0"/>
              <a:t>，因为实时检测还需要读取画面的时间。检测的速度会受到模型及</a:t>
            </a:r>
            <a:r>
              <a:rPr lang="en-US" altLang="zh-CN" dirty="0"/>
              <a:t>PC</a:t>
            </a:r>
            <a:r>
              <a:rPr lang="zh-CN" altLang="zh-CN" dirty="0"/>
              <a:t>机性能的影响，使用</a:t>
            </a:r>
            <a:r>
              <a:rPr lang="en-US" altLang="zh-CN" dirty="0"/>
              <a:t>GPU</a:t>
            </a:r>
            <a:r>
              <a:rPr lang="zh-CN" altLang="zh-CN" dirty="0"/>
              <a:t>的检测速度比</a:t>
            </a:r>
            <a:r>
              <a:rPr lang="en-US" altLang="zh-CN" dirty="0"/>
              <a:t>CPU</a:t>
            </a:r>
            <a:r>
              <a:rPr lang="zh-CN" altLang="zh-CN" smtClean="0"/>
              <a:t>要</a:t>
            </a:r>
            <a:r>
              <a:rPr lang="zh-CN" altLang="en-US" smtClean="0"/>
              <a:t>稍</a:t>
            </a:r>
            <a:r>
              <a:rPr lang="zh-CN" altLang="zh-CN" smtClean="0"/>
              <a:t>快</a:t>
            </a:r>
            <a:r>
              <a:rPr lang="zh-CN" altLang="en-US" smtClean="0"/>
              <a:t>些</a:t>
            </a:r>
            <a:r>
              <a:rPr lang="zh-CN" altLang="zh-CN" smtClean="0"/>
              <a:t>。</a:t>
            </a:r>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919" y="1638678"/>
            <a:ext cx="5672574" cy="3151430"/>
          </a:xfrm>
          <a:prstGeom prst="rect">
            <a:avLst/>
          </a:prstGeom>
        </p:spPr>
      </p:pic>
    </p:spTree>
    <p:extLst>
      <p:ext uri="{BB962C8B-B14F-4D97-AF65-F5344CB8AC3E}">
        <p14:creationId xmlns:p14="http://schemas.microsoft.com/office/powerpoint/2010/main" val="32180732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遍历</a:t>
            </a:r>
            <a:r>
              <a:rPr lang="en-US" altLang="zh-CN" dirty="0" err="1"/>
              <a:t>img</a:t>
            </a:r>
            <a:r>
              <a:rPr lang="zh-CN" altLang="zh-CN" dirty="0"/>
              <a:t>文件夹下所有图片进行检测（</a:t>
            </a:r>
            <a:r>
              <a:rPr lang="en-US" altLang="zh-CN" dirty="0"/>
              <a:t>mode = “</a:t>
            </a:r>
            <a:r>
              <a:rPr lang="en-US" altLang="zh-CN" dirty="0" err="1"/>
              <a:t>dir_predict</a:t>
            </a:r>
            <a:r>
              <a:rPr lang="en-US" altLang="zh-CN" dirty="0"/>
              <a:t>”</a:t>
            </a:r>
            <a:r>
              <a:rPr lang="zh-CN" altLang="zh-CN" dirty="0"/>
              <a:t>），使用该方式检测时需要提前将所有待检测图像放入</a:t>
            </a:r>
            <a:r>
              <a:rPr lang="en-US" altLang="zh-CN" dirty="0" err="1"/>
              <a:t>img</a:t>
            </a:r>
            <a:r>
              <a:rPr lang="zh-CN" altLang="zh-CN" dirty="0"/>
              <a:t>文件夹下，目前已经添加</a:t>
            </a:r>
            <a:r>
              <a:rPr lang="zh-CN" altLang="zh-CN" dirty="0" smtClean="0"/>
              <a:t>了</a:t>
            </a:r>
            <a:r>
              <a:rPr lang="zh-CN" altLang="en-US" dirty="0"/>
              <a:t>两</a:t>
            </a:r>
            <a:r>
              <a:rPr lang="zh-CN" altLang="zh-CN" dirty="0" smtClean="0"/>
              <a:t>张</a:t>
            </a:r>
            <a:r>
              <a:rPr lang="zh-CN" altLang="zh-CN" dirty="0"/>
              <a:t>，可根据需要自行添加。</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777" y="2505214"/>
            <a:ext cx="4342857" cy="2257143"/>
          </a:xfrm>
          <a:prstGeom prst="rect">
            <a:avLst/>
          </a:prstGeom>
        </p:spPr>
      </p:pic>
    </p:spTree>
    <p:extLst>
      <p:ext uri="{BB962C8B-B14F-4D97-AF65-F5344CB8AC3E}">
        <p14:creationId xmlns:p14="http://schemas.microsoft.com/office/powerpoint/2010/main" val="24675157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 </a:t>
            </a:r>
            <a:r>
              <a:rPr lang="zh-CN" altLang="zh-CN" dirty="0"/>
              <a:t>检测过程：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528" y="1298382"/>
            <a:ext cx="5521356" cy="4670808"/>
          </a:xfrm>
          <a:prstGeom prst="rect">
            <a:avLst/>
          </a:prstGeom>
        </p:spPr>
      </p:pic>
    </p:spTree>
    <p:extLst>
      <p:ext uri="{BB962C8B-B14F-4D97-AF65-F5344CB8AC3E}">
        <p14:creationId xmlns:p14="http://schemas.microsoft.com/office/powerpoint/2010/main" val="886166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img_out</a:t>
            </a:r>
            <a:r>
              <a:rPr lang="zh-CN" altLang="zh-CN" dirty="0"/>
              <a:t>文件夹下可以看到保存的检测结果</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r>
              <a:rPr lang="zh-CN" altLang="zh-CN" dirty="0"/>
              <a:t>注：单张图片的检测结果与之前使用</a:t>
            </a:r>
            <a:r>
              <a:rPr lang="en-US" altLang="zh-CN" dirty="0"/>
              <a:t>mode = “predict”</a:t>
            </a:r>
            <a:r>
              <a:rPr lang="zh-CN" altLang="zh-CN" dirty="0"/>
              <a:t>的检测结果相同。</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3301" y="2476643"/>
            <a:ext cx="4323809" cy="2314286"/>
          </a:xfrm>
          <a:prstGeom prst="rect">
            <a:avLst/>
          </a:prstGeom>
        </p:spPr>
      </p:pic>
    </p:spTree>
    <p:extLst>
      <p:ext uri="{BB962C8B-B14F-4D97-AF65-F5344CB8AC3E}">
        <p14:creationId xmlns:p14="http://schemas.microsoft.com/office/powerpoint/2010/main" val="1524808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使用单张图片进行热力图检测（</a:t>
            </a:r>
            <a:r>
              <a:rPr lang="en-US" altLang="zh-CN" dirty="0"/>
              <a:t>mode = “</a:t>
            </a:r>
            <a:r>
              <a:rPr lang="en-US" altLang="zh-CN" dirty="0" err="1"/>
              <a:t>heatmap</a:t>
            </a:r>
            <a:r>
              <a:rPr lang="en-US" altLang="zh-CN" dirty="0"/>
              <a:t>”</a:t>
            </a:r>
            <a:r>
              <a:rPr lang="zh-CN" altLang="zh-CN" dirty="0"/>
              <a:t>），使用自带的</a:t>
            </a:r>
            <a:r>
              <a:rPr lang="en-US" altLang="zh-CN" dirty="0"/>
              <a:t>street.jpg</a:t>
            </a:r>
            <a:r>
              <a:rPr lang="zh-CN" altLang="zh-CN" dirty="0"/>
              <a:t>输出结果</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由此可见</a:t>
            </a:r>
            <a:r>
              <a:rPr lang="zh-CN" altLang="zh-CN" dirty="0"/>
              <a:t>，对于没有任何待检测目标的图像，模型也进行了检测并根据</a:t>
            </a:r>
            <a:r>
              <a:rPr lang="en-US" altLang="zh-CN" dirty="0" err="1"/>
              <a:t>yolo</a:t>
            </a:r>
            <a:r>
              <a:rPr lang="zh-CN" altLang="zh-CN" dirty="0"/>
              <a:t>原理选择了锚框的中心点形成了热力图，最终没有检测框显示的原因是通过交并比运算以及非极大值抑制后，检测框的置信度未达到阈值</a:t>
            </a:r>
            <a:r>
              <a:rPr lang="en-US" altLang="zh-CN" dirty="0"/>
              <a:t>0.7</a:t>
            </a:r>
            <a:r>
              <a:rPr lang="zh-CN" altLang="zh-CN" dirty="0"/>
              <a:t>，模型认为检测框应当舍去</a:t>
            </a:r>
            <a:r>
              <a:rPr lang="zh-CN" altLang="zh-CN" dirty="0" smtClean="0"/>
              <a:t>。</a:t>
            </a:r>
            <a:endParaRPr lang="en-US" altLang="zh-CN" dirty="0" smtClean="0"/>
          </a:p>
          <a:p>
            <a:r>
              <a:rPr lang="zh-CN" altLang="zh-CN" dirty="0" smtClean="0"/>
              <a:t>如果</a:t>
            </a:r>
            <a:r>
              <a:rPr lang="zh-CN" altLang="zh-CN" dirty="0"/>
              <a:t>在</a:t>
            </a:r>
            <a:r>
              <a:rPr lang="en-US" altLang="zh-CN" dirty="0"/>
              <a:t>yolo.py</a:t>
            </a:r>
            <a:r>
              <a:rPr lang="zh-CN" altLang="zh-CN" dirty="0"/>
              <a:t>中调小</a:t>
            </a:r>
            <a:r>
              <a:rPr lang="en-US" altLang="zh-CN" dirty="0"/>
              <a:t>confidence</a:t>
            </a:r>
            <a:r>
              <a:rPr lang="zh-CN" altLang="zh-CN" dirty="0"/>
              <a:t>值进行该图像的检测，可能会看到置信度较低的检测框出现。</a:t>
            </a:r>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2943" y="1584357"/>
            <a:ext cx="3384525" cy="2880000"/>
          </a:xfrm>
          <a:prstGeom prst="rect">
            <a:avLst/>
          </a:prstGeom>
        </p:spPr>
      </p:pic>
    </p:spTree>
    <p:extLst>
      <p:ext uri="{BB962C8B-B14F-4D97-AF65-F5344CB8AC3E}">
        <p14:creationId xmlns:p14="http://schemas.microsoft.com/office/powerpoint/2010/main" val="3060385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更换一张含有多个待检测目标的图像</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对于含有待检测目标的图像，热力图的效果十分明显。</a:t>
            </a:r>
          </a:p>
          <a:p>
            <a:endParaRPr lang="zh-CN" altLang="zh-CN" dirty="0"/>
          </a:p>
          <a:p>
            <a:endParaRPr lang="zh-CN" altLang="en-US" dirty="0"/>
          </a:p>
        </p:txBody>
      </p:sp>
      <p:pic>
        <p:nvPicPr>
          <p:cNvPr id="4" name="图片 3"/>
          <p:cNvPicPr>
            <a:picLocks noChangeAspect="1"/>
          </p:cNvPicPr>
          <p:nvPr/>
        </p:nvPicPr>
        <p:blipFill>
          <a:blip r:embed="rId3"/>
          <a:stretch>
            <a:fillRect/>
          </a:stretch>
        </p:blipFill>
        <p:spPr>
          <a:xfrm>
            <a:off x="3881824" y="1755869"/>
            <a:ext cx="4426764" cy="3755833"/>
          </a:xfrm>
          <a:prstGeom prst="rect">
            <a:avLst/>
          </a:prstGeom>
        </p:spPr>
      </p:pic>
    </p:spTree>
    <p:extLst>
      <p:ext uri="{BB962C8B-B14F-4D97-AF65-F5344CB8AC3E}">
        <p14:creationId xmlns:p14="http://schemas.microsoft.com/office/powerpoint/2010/main" val="3787142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修改</a:t>
            </a:r>
            <a:r>
              <a:rPr lang="zh-CN" altLang="zh-CN" dirty="0"/>
              <a:t>文件时涉及到许多路径的修改，务必确保路径的准确性。</a:t>
            </a:r>
          </a:p>
          <a:p>
            <a:pPr marL="342900" lvl="0" indent="-342900">
              <a:buFont typeface="+mj-lt"/>
              <a:buAutoNum type="arabicPeriod"/>
            </a:pPr>
            <a:endParaRPr lang="zh-CN" altLang="zh-CN" dirty="0" smtClean="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1288355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a:t>一</a:t>
            </a:r>
            <a:r>
              <a:rPr lang="zh-CN" altLang="en-US" dirty="0" smtClean="0"/>
              <a:t>阶段算法模型的测试</a:t>
            </a:r>
            <a:endParaRPr lang="en-US" altLang="zh-CN" dirty="0" smtClean="0"/>
          </a:p>
          <a:p>
            <a:r>
              <a:rPr lang="zh-CN" altLang="en-US" dirty="0" smtClean="0"/>
              <a:t>使用图像文件或外接摄像头捕获画面实现目标检测</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1839</TotalTime>
  <Words>1784</Words>
  <Application>Microsoft Office PowerPoint</Application>
  <PresentationFormat>宽屏</PresentationFormat>
  <Paragraphs>220</Paragraphs>
  <Slides>35</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35</vt:i4>
      </vt:variant>
    </vt:vector>
  </HeadingPairs>
  <TitlesOfParts>
    <vt:vector size="42"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代码工程分析</vt:lpstr>
      <vt:lpstr>代码工程分析</vt:lpstr>
      <vt:lpstr>代码工程分析</vt:lpstr>
      <vt:lpstr>实验流程</vt:lpstr>
      <vt:lpstr>测试模型</vt:lpstr>
      <vt:lpstr>测试模型</vt:lpstr>
      <vt:lpstr>测试模型</vt:lpstr>
      <vt:lpstr>测试模型</vt:lpstr>
      <vt:lpstr>测试模型</vt:lpstr>
      <vt:lpstr>实验结果</vt:lpstr>
      <vt:lpstr>实验结果</vt:lpstr>
      <vt:lpstr>实验结果</vt:lpstr>
      <vt:lpstr>实验结果</vt:lpstr>
      <vt:lpstr>实验结果</vt:lpstr>
      <vt:lpstr>实验结果</vt:lpstr>
      <vt:lpstr>实验结果</vt:lpstr>
      <vt:lpstr>实验结果</vt:lpstr>
      <vt:lpstr>实验结果</vt:lpstr>
      <vt:lpstr>/04</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65</cp:revision>
  <cp:lastPrinted>2018-09-20T16:00:00Z</cp:lastPrinted>
  <dcterms:created xsi:type="dcterms:W3CDTF">2022-06-27T01:42:48Z</dcterms:created>
  <dcterms:modified xsi:type="dcterms:W3CDTF">2022-12-27T09:34:36Z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