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handoutMasterIdLst>
    <p:handoutMasterId r:id="rId69"/>
  </p:handoutMasterIdLst>
  <p:sldIdLst>
    <p:sldId id="258" r:id="rId2"/>
    <p:sldId id="265" r:id="rId3"/>
    <p:sldId id="262" r:id="rId4"/>
    <p:sldId id="257" r:id="rId5"/>
    <p:sldId id="260" r:id="rId6"/>
    <p:sldId id="266" r:id="rId7"/>
    <p:sldId id="270" r:id="rId8"/>
    <p:sldId id="267" r:id="rId9"/>
    <p:sldId id="271" r:id="rId10"/>
    <p:sldId id="325" r:id="rId11"/>
    <p:sldId id="324" r:id="rId12"/>
    <p:sldId id="330" r:id="rId13"/>
    <p:sldId id="331" r:id="rId14"/>
    <p:sldId id="332" r:id="rId15"/>
    <p:sldId id="333" r:id="rId16"/>
    <p:sldId id="326" r:id="rId17"/>
    <p:sldId id="311" r:id="rId18"/>
    <p:sldId id="276" r:id="rId19"/>
    <p:sldId id="281" r:id="rId20"/>
    <p:sldId id="282" r:id="rId21"/>
    <p:sldId id="278" r:id="rId22"/>
    <p:sldId id="334" r:id="rId23"/>
    <p:sldId id="335" r:id="rId24"/>
    <p:sldId id="336" r:id="rId25"/>
    <p:sldId id="337" r:id="rId26"/>
    <p:sldId id="338" r:id="rId27"/>
    <p:sldId id="327" r:id="rId28"/>
    <p:sldId id="318" r:id="rId29"/>
    <p:sldId id="291" r:id="rId30"/>
    <p:sldId id="293" r:id="rId31"/>
    <p:sldId id="294" r:id="rId32"/>
    <p:sldId id="295" r:id="rId33"/>
    <p:sldId id="339" r:id="rId34"/>
    <p:sldId id="340" r:id="rId35"/>
    <p:sldId id="341" r:id="rId36"/>
    <p:sldId id="342" r:id="rId37"/>
    <p:sldId id="343" r:id="rId38"/>
    <p:sldId id="344" r:id="rId39"/>
    <p:sldId id="345" r:id="rId40"/>
    <p:sldId id="346" r:id="rId41"/>
    <p:sldId id="347" r:id="rId42"/>
    <p:sldId id="348" r:id="rId43"/>
    <p:sldId id="349" r:id="rId44"/>
    <p:sldId id="328" r:id="rId45"/>
    <p:sldId id="305" r:id="rId46"/>
    <p:sldId id="292" r:id="rId47"/>
    <p:sldId id="299" r:id="rId48"/>
    <p:sldId id="350" r:id="rId49"/>
    <p:sldId id="351" r:id="rId50"/>
    <p:sldId id="352" r:id="rId51"/>
    <p:sldId id="329" r:id="rId52"/>
    <p:sldId id="280" r:id="rId53"/>
    <p:sldId id="353" r:id="rId54"/>
    <p:sldId id="354" r:id="rId55"/>
    <p:sldId id="355" r:id="rId56"/>
    <p:sldId id="356" r:id="rId57"/>
    <p:sldId id="357" r:id="rId58"/>
    <p:sldId id="358" r:id="rId59"/>
    <p:sldId id="359" r:id="rId60"/>
    <p:sldId id="360" r:id="rId61"/>
    <p:sldId id="361" r:id="rId62"/>
    <p:sldId id="268" r:id="rId63"/>
    <p:sldId id="272" r:id="rId64"/>
    <p:sldId id="319" r:id="rId65"/>
    <p:sldId id="264" r:id="rId66"/>
    <p:sldId id="261" r:id="rId67"/>
  </p:sldIdLst>
  <p:sldSz cx="12192000" cy="6858000"/>
  <p:notesSz cx="6858000" cy="9144000"/>
  <p:custDataLst>
    <p:tags r:id="rId70"/>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0427" autoAdjust="0"/>
  </p:normalViewPr>
  <p:slideViewPr>
    <p:cSldViewPr snapToGrid="0" showGuides="1">
      <p:cViewPr varScale="1">
        <p:scale>
          <a:sx n="105" d="100"/>
          <a:sy n="105" d="100"/>
        </p:scale>
        <p:origin x="732" y="84"/>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85000"/>
                </a:schemeClr>
              </a:solidFill>
            </a:rPr>
            <a:t>检查显卡驱动</a:t>
          </a:r>
          <a:endParaRPr lang="zh-CN" altLang="en-US" dirty="0">
            <a:solidFill>
              <a:schemeClr val="bg1">
                <a:lumMod val="8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85000"/>
                </a:schemeClr>
              </a:solidFill>
            </a:rPr>
            <a:t>安装</a:t>
          </a:r>
          <a:r>
            <a:rPr lang="en-US" altLang="zh-CN" dirty="0" smtClean="0">
              <a:solidFill>
                <a:schemeClr val="bg1">
                  <a:lumMod val="85000"/>
                </a:schemeClr>
              </a:solidFill>
            </a:rPr>
            <a:t>CUDA</a:t>
          </a:r>
          <a:endParaRPr lang="zh-CN" altLang="en-US" dirty="0">
            <a:solidFill>
              <a:schemeClr val="bg1">
                <a:lumMod val="8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安装</a:t>
          </a:r>
          <a:r>
            <a:rPr lang="en-US" altLang="zh-CN" dirty="0" err="1" smtClean="0">
              <a:solidFill>
                <a:schemeClr val="bg1">
                  <a:lumMod val="85000"/>
                </a:schemeClr>
              </a:solidFill>
            </a:rPr>
            <a:t>cuDNN</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A5C50244-4E46-4445-BEE5-469D95B131E8}">
      <dgm:prSet/>
      <dgm:spPr/>
      <dgm:t>
        <a:bodyPr/>
        <a:lstStyle/>
        <a:p>
          <a:r>
            <a:rPr lang="zh-CN" altLang="en-US" dirty="0" smtClean="0">
              <a:solidFill>
                <a:schemeClr val="bg1">
                  <a:lumMod val="85000"/>
                </a:schemeClr>
              </a:solidFill>
            </a:rPr>
            <a:t>安装</a:t>
          </a:r>
          <a:r>
            <a:rPr lang="en-US" altLang="zh-CN" dirty="0" err="1" smtClean="0">
              <a:solidFill>
                <a:schemeClr val="bg1">
                  <a:lumMod val="85000"/>
                </a:schemeClr>
              </a:solidFill>
            </a:rPr>
            <a:t>Pytorch</a:t>
          </a:r>
          <a:r>
            <a:rPr lang="en-US" altLang="zh-CN" dirty="0" smtClean="0">
              <a:solidFill>
                <a:schemeClr val="bg1">
                  <a:lumMod val="85000"/>
                </a:schemeClr>
              </a:solidFill>
            </a:rPr>
            <a:t>(GPU</a:t>
          </a:r>
          <a:r>
            <a:rPr lang="zh-CN" altLang="en-US" dirty="0" smtClean="0">
              <a:solidFill>
                <a:schemeClr val="bg1">
                  <a:lumMod val="85000"/>
                </a:schemeClr>
              </a:solidFill>
            </a:rPr>
            <a:t>版本</a:t>
          </a:r>
          <a:r>
            <a:rPr lang="en-US" altLang="zh-CN" dirty="0" smtClean="0">
              <a:solidFill>
                <a:schemeClr val="bg1">
                  <a:lumMod val="85000"/>
                </a:schemeClr>
              </a:solidFill>
            </a:rPr>
            <a:t>)</a:t>
          </a:r>
          <a:endParaRPr lang="zh-CN" altLang="en-US" dirty="0">
            <a:solidFill>
              <a:schemeClr val="bg1">
                <a:lumMod val="85000"/>
              </a:schemeClr>
            </a:solidFill>
          </a:endParaRPr>
        </a:p>
      </dgm:t>
    </dgm:pt>
    <dgm:pt modelId="{E54AE37D-0CD1-45C2-B313-C3F638479E07}" type="parTrans" cxnId="{562A0DA9-E276-4518-8A40-F86746D024CA}">
      <dgm:prSet/>
      <dgm:spPr/>
      <dgm:t>
        <a:bodyPr/>
        <a:lstStyle/>
        <a:p>
          <a:endParaRPr lang="zh-CN" altLang="en-US"/>
        </a:p>
      </dgm:t>
    </dgm:pt>
    <dgm:pt modelId="{84D9B2BA-FBC7-4819-85F7-9A51F7DF63A8}" type="sibTrans" cxnId="{562A0DA9-E276-4518-8A40-F86746D024CA}">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4">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4">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4">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65DB2C17-F0CA-489B-8953-18E7667638D7}" type="pres">
      <dgm:prSet presAssocID="{A5C50244-4E46-4445-BEE5-469D95B131E8}" presName="parTxOnly" presStyleLbl="node1" presStyleIdx="3" presStyleCnt="4">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562A0DA9-E276-4518-8A40-F86746D024CA}" srcId="{314AE731-DFBF-4A5B-8171-86B7AA2F2858}" destId="{A5C50244-4E46-4445-BEE5-469D95B131E8}" srcOrd="3" destOrd="0" parTransId="{E54AE37D-0CD1-45C2-B313-C3F638479E07}" sibTransId="{84D9B2BA-FBC7-4819-85F7-9A51F7DF63A8}"/>
    <dgm:cxn modelId="{1A8178FE-404F-4C32-BBC7-0CE76CDDF433}" type="presOf" srcId="{211D359A-E621-4AEC-B365-EBCECA4D5608}" destId="{50739AC9-FC4E-42C3-B62E-1016634A724A}" srcOrd="0" destOrd="0" presId="urn:microsoft.com/office/officeart/2005/8/layout/chevron1"/>
    <dgm:cxn modelId="{53C7A8BD-B0D9-4A0A-88B1-017EF20757B2}" type="presOf" srcId="{314AE731-DFBF-4A5B-8171-86B7AA2F2858}" destId="{5653E5CF-63C1-4886-9DFE-DC4B36C44A33}" srcOrd="0" destOrd="0" presId="urn:microsoft.com/office/officeart/2005/8/layout/chevron1"/>
    <dgm:cxn modelId="{93AB27B9-6CC2-4C97-A3C4-92F879B1C41E}" type="presOf" srcId="{A5C50244-4E46-4445-BEE5-469D95B131E8}" destId="{65DB2C17-F0CA-489B-8953-18E7667638D7}"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B69752EC-199D-4510-BC2F-5EDCD3F4F28A}" type="presOf" srcId="{BEAB6AAF-246B-444D-90D9-FB867EA43595}" destId="{FC4CA3E0-7A9C-47CB-88C9-7F81B89FD5AA}"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5A9EDB61-2C30-414B-B282-6AA1CE47B6B2}" type="presOf" srcId="{3F9AE8EF-E0BD-4A86-A1DC-73AF72B43E8D}" destId="{2147596E-7442-41E7-9852-40E25C424996}" srcOrd="0" destOrd="0" presId="urn:microsoft.com/office/officeart/2005/8/layout/chevron1"/>
    <dgm:cxn modelId="{29D83C5B-F1C3-4D25-8E3E-1F0CE1E880D1}" type="presParOf" srcId="{5653E5CF-63C1-4886-9DFE-DC4B36C44A33}" destId="{FC4CA3E0-7A9C-47CB-88C9-7F81B89FD5AA}" srcOrd="0" destOrd="0" presId="urn:microsoft.com/office/officeart/2005/8/layout/chevron1"/>
    <dgm:cxn modelId="{89EB0BDA-BD59-478E-A0CF-82EABCBF6DEE}" type="presParOf" srcId="{5653E5CF-63C1-4886-9DFE-DC4B36C44A33}" destId="{ED8D2DC7-F6B9-49A1-A3FB-6645AA0B27C9}" srcOrd="1" destOrd="0" presId="urn:microsoft.com/office/officeart/2005/8/layout/chevron1"/>
    <dgm:cxn modelId="{FCDD5877-CA1D-49D5-9B8A-A6B67B9C6A65}" type="presParOf" srcId="{5653E5CF-63C1-4886-9DFE-DC4B36C44A33}" destId="{2147596E-7442-41E7-9852-40E25C424996}" srcOrd="2" destOrd="0" presId="urn:microsoft.com/office/officeart/2005/8/layout/chevron1"/>
    <dgm:cxn modelId="{063CCCD5-6493-403A-9097-711CE21155DF}" type="presParOf" srcId="{5653E5CF-63C1-4886-9DFE-DC4B36C44A33}" destId="{78A125B0-FC96-47C5-ADBC-5773E5EBD695}" srcOrd="3" destOrd="0" presId="urn:microsoft.com/office/officeart/2005/8/layout/chevron1"/>
    <dgm:cxn modelId="{125BA7CC-9D05-4FD0-BF00-DBFB6A55577C}" type="presParOf" srcId="{5653E5CF-63C1-4886-9DFE-DC4B36C44A33}" destId="{50739AC9-FC4E-42C3-B62E-1016634A724A}" srcOrd="4" destOrd="0" presId="urn:microsoft.com/office/officeart/2005/8/layout/chevron1"/>
    <dgm:cxn modelId="{BD0F0F97-0A4D-4FB6-8CED-A04B2CEE9025}" type="presParOf" srcId="{5653E5CF-63C1-4886-9DFE-DC4B36C44A33}" destId="{BA7DB2C5-C694-4861-95D5-BF30690EE501}" srcOrd="5" destOrd="0" presId="urn:microsoft.com/office/officeart/2005/8/layout/chevron1"/>
    <dgm:cxn modelId="{5DEC6323-9C66-4F40-80E3-3959C49FDA40}" type="presParOf" srcId="{5653E5CF-63C1-4886-9DFE-DC4B36C44A33}" destId="{65DB2C17-F0CA-489B-8953-18E7667638D7}" srcOrd="6"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t>安装</a:t>
          </a:r>
          <a:r>
            <a:rPr lang="en-US" altLang="zh-CN" dirty="0" err="1" smtClean="0"/>
            <a:t>Pytorch</a:t>
          </a:r>
          <a:r>
            <a:rPr lang="en-US" altLang="zh-CN" dirty="0" smtClean="0"/>
            <a:t>(CPU</a:t>
          </a:r>
          <a:r>
            <a:rPr lang="zh-CN" altLang="en-US" dirty="0" smtClean="0"/>
            <a:t>版本</a:t>
          </a:r>
          <a:r>
            <a:rPr lang="en-US" altLang="zh-CN" dirty="0" smtClean="0"/>
            <a:t>)</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1" custLinFactNeighborX="49" custLinFactNeighborY="-1677">
        <dgm:presLayoutVars>
          <dgm:chMax val="0"/>
          <dgm:chPref val="0"/>
          <dgm:bulletEnabled val="1"/>
        </dgm:presLayoutVars>
      </dgm:prSet>
      <dgm:spPr/>
      <dgm:t>
        <a:bodyPr/>
        <a:lstStyle/>
        <a:p>
          <a:endParaRPr lang="zh-CN" altLang="en-US"/>
        </a:p>
      </dgm:t>
    </dgm:pt>
  </dgm:ptLst>
  <dgm:cxnLst>
    <dgm:cxn modelId="{A16D23A1-DB39-4A27-A0A6-5FD0AF1AC9F0}" type="presOf" srcId="{BEAB6AAF-246B-444D-90D9-FB867EA43595}" destId="{FC4CA3E0-7A9C-47CB-88C9-7F81B89FD5AA}" srcOrd="0" destOrd="0" presId="urn:microsoft.com/office/officeart/2005/8/layout/chevron1"/>
    <dgm:cxn modelId="{57635AE8-A4FB-4076-B9C9-FA27B729E27D}" type="presOf" srcId="{314AE731-DFBF-4A5B-8171-86B7AA2F2858}" destId="{5653E5CF-63C1-4886-9DFE-DC4B36C44A33}"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ED13CFC9-288A-4917-B963-F502B3EDAFB4}" type="presParOf" srcId="{5653E5CF-63C1-4886-9DFE-DC4B36C44A33}" destId="{FC4CA3E0-7A9C-47CB-88C9-7F81B89FD5AA}" srcOrd="0"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tx1"/>
              </a:solidFill>
            </a:rPr>
            <a:t>检查显卡驱动</a:t>
          </a:r>
          <a:endParaRPr lang="zh-CN" altLang="en-US" dirty="0">
            <a:solidFill>
              <a:schemeClr val="tx1"/>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85000"/>
                </a:schemeClr>
              </a:solidFill>
            </a:rPr>
            <a:t>安装</a:t>
          </a:r>
          <a:r>
            <a:rPr lang="en-US" altLang="zh-CN" dirty="0" smtClean="0">
              <a:solidFill>
                <a:schemeClr val="bg1">
                  <a:lumMod val="85000"/>
                </a:schemeClr>
              </a:solidFill>
            </a:rPr>
            <a:t>CUDA</a:t>
          </a:r>
          <a:endParaRPr lang="zh-CN" altLang="en-US" dirty="0">
            <a:solidFill>
              <a:schemeClr val="bg1">
                <a:lumMod val="8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安装</a:t>
          </a:r>
          <a:r>
            <a:rPr lang="en-US" altLang="zh-CN" dirty="0" err="1" smtClean="0">
              <a:solidFill>
                <a:schemeClr val="bg1">
                  <a:lumMod val="85000"/>
                </a:schemeClr>
              </a:solidFill>
            </a:rPr>
            <a:t>cuDNN</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A5C50244-4E46-4445-BEE5-469D95B131E8}">
      <dgm:prSet/>
      <dgm:spPr/>
      <dgm:t>
        <a:bodyPr/>
        <a:lstStyle/>
        <a:p>
          <a:r>
            <a:rPr lang="zh-CN" altLang="en-US" dirty="0" smtClean="0">
              <a:solidFill>
                <a:schemeClr val="bg1">
                  <a:lumMod val="85000"/>
                </a:schemeClr>
              </a:solidFill>
            </a:rPr>
            <a:t>安装</a:t>
          </a:r>
          <a:r>
            <a:rPr lang="en-US" altLang="zh-CN" dirty="0" err="1" smtClean="0">
              <a:solidFill>
                <a:schemeClr val="bg1">
                  <a:lumMod val="85000"/>
                </a:schemeClr>
              </a:solidFill>
            </a:rPr>
            <a:t>Pytorch</a:t>
          </a:r>
          <a:r>
            <a:rPr lang="en-US" altLang="zh-CN" dirty="0" smtClean="0">
              <a:solidFill>
                <a:schemeClr val="bg1">
                  <a:lumMod val="85000"/>
                </a:schemeClr>
              </a:solidFill>
            </a:rPr>
            <a:t>(GPU</a:t>
          </a:r>
          <a:r>
            <a:rPr lang="zh-CN" altLang="en-US" dirty="0" smtClean="0">
              <a:solidFill>
                <a:schemeClr val="bg1">
                  <a:lumMod val="85000"/>
                </a:schemeClr>
              </a:solidFill>
            </a:rPr>
            <a:t>版本</a:t>
          </a:r>
          <a:r>
            <a:rPr lang="en-US" altLang="zh-CN" dirty="0" smtClean="0">
              <a:solidFill>
                <a:schemeClr val="bg1">
                  <a:lumMod val="85000"/>
                </a:schemeClr>
              </a:solidFill>
            </a:rPr>
            <a:t>)</a:t>
          </a:r>
          <a:endParaRPr lang="zh-CN" altLang="en-US" dirty="0">
            <a:solidFill>
              <a:schemeClr val="bg1">
                <a:lumMod val="85000"/>
              </a:schemeClr>
            </a:solidFill>
          </a:endParaRPr>
        </a:p>
      </dgm:t>
    </dgm:pt>
    <dgm:pt modelId="{E54AE37D-0CD1-45C2-B313-C3F638479E07}" type="parTrans" cxnId="{562A0DA9-E276-4518-8A40-F86746D024CA}">
      <dgm:prSet/>
      <dgm:spPr/>
      <dgm:t>
        <a:bodyPr/>
        <a:lstStyle/>
        <a:p>
          <a:endParaRPr lang="zh-CN" altLang="en-US"/>
        </a:p>
      </dgm:t>
    </dgm:pt>
    <dgm:pt modelId="{84D9B2BA-FBC7-4819-85F7-9A51F7DF63A8}" type="sibTrans" cxnId="{562A0DA9-E276-4518-8A40-F86746D024CA}">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4">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4">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4">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65DB2C17-F0CA-489B-8953-18E7667638D7}" type="pres">
      <dgm:prSet presAssocID="{A5C50244-4E46-4445-BEE5-469D95B131E8}" presName="parTxOnly" presStyleLbl="node1" presStyleIdx="3" presStyleCnt="4">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CF81620C-1B80-4FCD-B13B-DE70C0205180}" type="presOf" srcId="{211D359A-E621-4AEC-B365-EBCECA4D5608}" destId="{50739AC9-FC4E-42C3-B62E-1016634A724A}" srcOrd="0" destOrd="0" presId="urn:microsoft.com/office/officeart/2005/8/layout/chevron1"/>
    <dgm:cxn modelId="{562A0DA9-E276-4518-8A40-F86746D024CA}" srcId="{314AE731-DFBF-4A5B-8171-86B7AA2F2858}" destId="{A5C50244-4E46-4445-BEE5-469D95B131E8}" srcOrd="3" destOrd="0" parTransId="{E54AE37D-0CD1-45C2-B313-C3F638479E07}" sibTransId="{84D9B2BA-FBC7-4819-85F7-9A51F7DF63A8}"/>
    <dgm:cxn modelId="{C84F652F-C0A5-41D0-80DE-E14B6DBB8028}" type="presOf" srcId="{BEAB6AAF-246B-444D-90D9-FB867EA43595}" destId="{FC4CA3E0-7A9C-47CB-88C9-7F81B89FD5AA}"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64D3EA49-4D17-4B7E-AFA9-3F9A58208FF1}" type="presOf" srcId="{314AE731-DFBF-4A5B-8171-86B7AA2F2858}" destId="{5653E5CF-63C1-4886-9DFE-DC4B36C44A33}"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0F6B97F9-1D79-4AB2-8F2A-4271077B5B2E}" type="presOf" srcId="{A5C50244-4E46-4445-BEE5-469D95B131E8}" destId="{65DB2C17-F0CA-489B-8953-18E7667638D7}" srcOrd="0" destOrd="0" presId="urn:microsoft.com/office/officeart/2005/8/layout/chevron1"/>
    <dgm:cxn modelId="{9FB533DB-FECC-43AA-B1EF-11D3AFCD407F}" type="presOf" srcId="{3F9AE8EF-E0BD-4A86-A1DC-73AF72B43E8D}" destId="{2147596E-7442-41E7-9852-40E25C424996}" srcOrd="0" destOrd="0" presId="urn:microsoft.com/office/officeart/2005/8/layout/chevron1"/>
    <dgm:cxn modelId="{ABB60031-F41F-4A02-8B53-A5C8399CA383}" type="presParOf" srcId="{5653E5CF-63C1-4886-9DFE-DC4B36C44A33}" destId="{FC4CA3E0-7A9C-47CB-88C9-7F81B89FD5AA}" srcOrd="0" destOrd="0" presId="urn:microsoft.com/office/officeart/2005/8/layout/chevron1"/>
    <dgm:cxn modelId="{A7DEFA61-0FA0-48FE-9AB3-2F59842D621D}" type="presParOf" srcId="{5653E5CF-63C1-4886-9DFE-DC4B36C44A33}" destId="{ED8D2DC7-F6B9-49A1-A3FB-6645AA0B27C9}" srcOrd="1" destOrd="0" presId="urn:microsoft.com/office/officeart/2005/8/layout/chevron1"/>
    <dgm:cxn modelId="{DD2D45ED-68DD-4E6F-8EB4-9083E79E11D4}" type="presParOf" srcId="{5653E5CF-63C1-4886-9DFE-DC4B36C44A33}" destId="{2147596E-7442-41E7-9852-40E25C424996}" srcOrd="2" destOrd="0" presId="urn:microsoft.com/office/officeart/2005/8/layout/chevron1"/>
    <dgm:cxn modelId="{76BBFA0D-109F-4CBB-A484-D16BC890CE11}" type="presParOf" srcId="{5653E5CF-63C1-4886-9DFE-DC4B36C44A33}" destId="{78A125B0-FC96-47C5-ADBC-5773E5EBD695}" srcOrd="3" destOrd="0" presId="urn:microsoft.com/office/officeart/2005/8/layout/chevron1"/>
    <dgm:cxn modelId="{A37D7E92-B51A-4472-B110-287305A514D9}" type="presParOf" srcId="{5653E5CF-63C1-4886-9DFE-DC4B36C44A33}" destId="{50739AC9-FC4E-42C3-B62E-1016634A724A}" srcOrd="4" destOrd="0" presId="urn:microsoft.com/office/officeart/2005/8/layout/chevron1"/>
    <dgm:cxn modelId="{ED695C0C-BCB7-45FB-A61D-572BEB190EB0}" type="presParOf" srcId="{5653E5CF-63C1-4886-9DFE-DC4B36C44A33}" destId="{BA7DB2C5-C694-4861-95D5-BF30690EE501}" srcOrd="5" destOrd="0" presId="urn:microsoft.com/office/officeart/2005/8/layout/chevron1"/>
    <dgm:cxn modelId="{6F4B7D4A-4FA5-4083-A998-7148242877FB}" type="presParOf" srcId="{5653E5CF-63C1-4886-9DFE-DC4B36C44A33}" destId="{65DB2C17-F0CA-489B-8953-18E7667638D7}" srcOrd="6"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a:t>
          </a:r>
          <a:r>
            <a:rPr lang="en-US" altLang="zh-CN" dirty="0" err="1" smtClean="0">
              <a:solidFill>
                <a:schemeClr val="bg1">
                  <a:lumMod val="65000"/>
                </a:schemeClr>
              </a:solidFill>
            </a:rPr>
            <a:t>Pytorch</a:t>
          </a:r>
          <a:r>
            <a:rPr lang="en-US" altLang="zh-CN" dirty="0" smtClean="0">
              <a:solidFill>
                <a:schemeClr val="bg1">
                  <a:lumMod val="65000"/>
                </a:schemeClr>
              </a:solidFill>
            </a:rPr>
            <a:t>(CPU</a:t>
          </a:r>
          <a:r>
            <a:rPr lang="zh-CN" altLang="en-US" dirty="0" smtClean="0">
              <a:solidFill>
                <a:schemeClr val="bg1">
                  <a:lumMod val="65000"/>
                </a:schemeClr>
              </a:solidFill>
            </a:rPr>
            <a:t>版本</a:t>
          </a:r>
          <a:r>
            <a:rPr lang="en-US" altLang="zh-CN" dirty="0" smtClean="0">
              <a:solidFill>
                <a:schemeClr val="bg1">
                  <a:lumMod val="65000"/>
                </a:schemeClr>
              </a:solidFill>
            </a:rPr>
            <a:t>)</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1" custLinFactNeighborX="49" custLinFactNeighborY="-1677">
        <dgm:presLayoutVars>
          <dgm:chMax val="0"/>
          <dgm:chPref val="0"/>
          <dgm:bulletEnabled val="1"/>
        </dgm:presLayoutVars>
      </dgm:prSet>
      <dgm:spPr/>
      <dgm:t>
        <a:bodyPr/>
        <a:lstStyle/>
        <a:p>
          <a:endParaRPr lang="zh-CN" altLang="en-US"/>
        </a:p>
      </dgm:t>
    </dgm:pt>
  </dgm:ptLst>
  <dgm:cxnLst>
    <dgm:cxn modelId="{DD0ADA3C-0DBE-4EE6-BA68-716051C50E7B}" type="presOf" srcId="{BEAB6AAF-246B-444D-90D9-FB867EA43595}" destId="{FC4CA3E0-7A9C-47CB-88C9-7F81B89FD5AA}"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6D4C220F-0BEE-4F8B-A3FE-83E407B5BF33}" type="presOf" srcId="{314AE731-DFBF-4A5B-8171-86B7AA2F2858}" destId="{5653E5CF-63C1-4886-9DFE-DC4B36C44A33}" srcOrd="0" destOrd="0" presId="urn:microsoft.com/office/officeart/2005/8/layout/chevron1"/>
    <dgm:cxn modelId="{98303FBA-2F4F-4AC7-86B5-3F76095D3AB6}" type="presParOf" srcId="{5653E5CF-63C1-4886-9DFE-DC4B36C44A33}" destId="{FC4CA3E0-7A9C-47CB-88C9-7F81B89FD5AA}" srcOrd="0"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检查显卡驱动</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tx1"/>
              </a:solidFill>
            </a:rPr>
            <a:t>安装</a:t>
          </a:r>
          <a:r>
            <a:rPr lang="en-US" altLang="zh-CN" dirty="0" smtClean="0">
              <a:solidFill>
                <a:schemeClr val="tx1"/>
              </a:solidFill>
            </a:rPr>
            <a:t>CUDA</a:t>
          </a:r>
          <a:endParaRPr lang="zh-CN" altLang="en-US" dirty="0">
            <a:solidFill>
              <a:schemeClr val="tx1"/>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安装</a:t>
          </a:r>
          <a:r>
            <a:rPr lang="en-US" altLang="zh-CN" dirty="0" err="1" smtClean="0">
              <a:solidFill>
                <a:schemeClr val="bg1">
                  <a:lumMod val="85000"/>
                </a:schemeClr>
              </a:solidFill>
            </a:rPr>
            <a:t>cuDNN</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A5C50244-4E46-4445-BEE5-469D95B131E8}">
      <dgm:prSet/>
      <dgm:spPr/>
      <dgm:t>
        <a:bodyPr/>
        <a:lstStyle/>
        <a:p>
          <a:r>
            <a:rPr lang="zh-CN" altLang="en-US" dirty="0" smtClean="0">
              <a:solidFill>
                <a:schemeClr val="bg1">
                  <a:lumMod val="85000"/>
                </a:schemeClr>
              </a:solidFill>
            </a:rPr>
            <a:t>安装</a:t>
          </a:r>
          <a:r>
            <a:rPr lang="en-US" altLang="zh-CN" dirty="0" err="1" smtClean="0">
              <a:solidFill>
                <a:schemeClr val="bg1">
                  <a:lumMod val="85000"/>
                </a:schemeClr>
              </a:solidFill>
            </a:rPr>
            <a:t>Pytorch</a:t>
          </a:r>
          <a:r>
            <a:rPr lang="en-US" altLang="zh-CN" dirty="0" smtClean="0">
              <a:solidFill>
                <a:schemeClr val="bg1">
                  <a:lumMod val="85000"/>
                </a:schemeClr>
              </a:solidFill>
            </a:rPr>
            <a:t>(GPU</a:t>
          </a:r>
          <a:r>
            <a:rPr lang="zh-CN" altLang="en-US" dirty="0" smtClean="0">
              <a:solidFill>
                <a:schemeClr val="bg1">
                  <a:lumMod val="85000"/>
                </a:schemeClr>
              </a:solidFill>
            </a:rPr>
            <a:t>版本</a:t>
          </a:r>
          <a:r>
            <a:rPr lang="en-US" altLang="zh-CN" dirty="0" smtClean="0">
              <a:solidFill>
                <a:schemeClr val="bg1">
                  <a:lumMod val="85000"/>
                </a:schemeClr>
              </a:solidFill>
            </a:rPr>
            <a:t>)</a:t>
          </a:r>
          <a:endParaRPr lang="zh-CN" altLang="en-US" dirty="0">
            <a:solidFill>
              <a:schemeClr val="bg1">
                <a:lumMod val="85000"/>
              </a:schemeClr>
            </a:solidFill>
          </a:endParaRPr>
        </a:p>
      </dgm:t>
    </dgm:pt>
    <dgm:pt modelId="{E54AE37D-0CD1-45C2-B313-C3F638479E07}" type="parTrans" cxnId="{562A0DA9-E276-4518-8A40-F86746D024CA}">
      <dgm:prSet/>
      <dgm:spPr/>
      <dgm:t>
        <a:bodyPr/>
        <a:lstStyle/>
        <a:p>
          <a:endParaRPr lang="zh-CN" altLang="en-US"/>
        </a:p>
      </dgm:t>
    </dgm:pt>
    <dgm:pt modelId="{84D9B2BA-FBC7-4819-85F7-9A51F7DF63A8}" type="sibTrans" cxnId="{562A0DA9-E276-4518-8A40-F86746D024CA}">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4">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4">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4">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65DB2C17-F0CA-489B-8953-18E7667638D7}" type="pres">
      <dgm:prSet presAssocID="{A5C50244-4E46-4445-BEE5-469D95B131E8}" presName="parTxOnly" presStyleLbl="node1" presStyleIdx="3" presStyleCnt="4">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562A0DA9-E276-4518-8A40-F86746D024CA}" srcId="{314AE731-DFBF-4A5B-8171-86B7AA2F2858}" destId="{A5C50244-4E46-4445-BEE5-469D95B131E8}" srcOrd="3" destOrd="0" parTransId="{E54AE37D-0CD1-45C2-B313-C3F638479E07}" sibTransId="{84D9B2BA-FBC7-4819-85F7-9A51F7DF63A8}"/>
    <dgm:cxn modelId="{366E14DB-2226-4C35-85C6-2F9A2D150468}" type="presOf" srcId="{3F9AE8EF-E0BD-4A86-A1DC-73AF72B43E8D}" destId="{2147596E-7442-41E7-9852-40E25C424996}" srcOrd="0" destOrd="0" presId="urn:microsoft.com/office/officeart/2005/8/layout/chevron1"/>
    <dgm:cxn modelId="{7C8EE708-F6F9-4BDE-85D2-9D63BC7087F8}" type="presOf" srcId="{314AE731-DFBF-4A5B-8171-86B7AA2F2858}" destId="{5653E5CF-63C1-4886-9DFE-DC4B36C44A33}"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6670D683-1550-4957-BAA0-15FCD6A57BB6}" type="presOf" srcId="{A5C50244-4E46-4445-BEE5-469D95B131E8}" destId="{65DB2C17-F0CA-489B-8953-18E7667638D7}" srcOrd="0" destOrd="0" presId="urn:microsoft.com/office/officeart/2005/8/layout/chevron1"/>
    <dgm:cxn modelId="{E95D9479-AC44-4961-A740-4DE61D27CBC9}" type="presOf" srcId="{BEAB6AAF-246B-444D-90D9-FB867EA43595}" destId="{FC4CA3E0-7A9C-47CB-88C9-7F81B89FD5AA}"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4BB2686A-D91E-4D25-A78E-59EAB989DEA8}" type="presOf" srcId="{211D359A-E621-4AEC-B365-EBCECA4D5608}" destId="{50739AC9-FC4E-42C3-B62E-1016634A724A}" srcOrd="0" destOrd="0" presId="urn:microsoft.com/office/officeart/2005/8/layout/chevron1"/>
    <dgm:cxn modelId="{81751730-9286-447B-A8B3-8DAA2FE6EF63}" type="presParOf" srcId="{5653E5CF-63C1-4886-9DFE-DC4B36C44A33}" destId="{FC4CA3E0-7A9C-47CB-88C9-7F81B89FD5AA}" srcOrd="0" destOrd="0" presId="urn:microsoft.com/office/officeart/2005/8/layout/chevron1"/>
    <dgm:cxn modelId="{4703FD59-1365-4DBD-B97A-396685BD0DC2}" type="presParOf" srcId="{5653E5CF-63C1-4886-9DFE-DC4B36C44A33}" destId="{ED8D2DC7-F6B9-49A1-A3FB-6645AA0B27C9}" srcOrd="1" destOrd="0" presId="urn:microsoft.com/office/officeart/2005/8/layout/chevron1"/>
    <dgm:cxn modelId="{6983FEC7-3B1F-4D64-AD8C-0C67213378EF}" type="presParOf" srcId="{5653E5CF-63C1-4886-9DFE-DC4B36C44A33}" destId="{2147596E-7442-41E7-9852-40E25C424996}" srcOrd="2" destOrd="0" presId="urn:microsoft.com/office/officeart/2005/8/layout/chevron1"/>
    <dgm:cxn modelId="{F540A550-1706-44F5-AB0A-D43771A49B1A}" type="presParOf" srcId="{5653E5CF-63C1-4886-9DFE-DC4B36C44A33}" destId="{78A125B0-FC96-47C5-ADBC-5773E5EBD695}" srcOrd="3" destOrd="0" presId="urn:microsoft.com/office/officeart/2005/8/layout/chevron1"/>
    <dgm:cxn modelId="{436B08B2-35C0-4F31-ACD3-A2D1ECBAD359}" type="presParOf" srcId="{5653E5CF-63C1-4886-9DFE-DC4B36C44A33}" destId="{50739AC9-FC4E-42C3-B62E-1016634A724A}" srcOrd="4" destOrd="0" presId="urn:microsoft.com/office/officeart/2005/8/layout/chevron1"/>
    <dgm:cxn modelId="{E75E00F0-3437-4A08-83E3-9612D1998894}" type="presParOf" srcId="{5653E5CF-63C1-4886-9DFE-DC4B36C44A33}" destId="{BA7DB2C5-C694-4861-95D5-BF30690EE501}" srcOrd="5" destOrd="0" presId="urn:microsoft.com/office/officeart/2005/8/layout/chevron1"/>
    <dgm:cxn modelId="{BF4235C7-EACC-44F2-8781-E96B56CDBE77}" type="presParOf" srcId="{5653E5CF-63C1-4886-9DFE-DC4B36C44A33}" destId="{65DB2C17-F0CA-489B-8953-18E7667638D7}" srcOrd="6"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a:t>
          </a:r>
          <a:r>
            <a:rPr lang="en-US" altLang="zh-CN" dirty="0" err="1" smtClean="0">
              <a:solidFill>
                <a:schemeClr val="bg1">
                  <a:lumMod val="65000"/>
                </a:schemeClr>
              </a:solidFill>
            </a:rPr>
            <a:t>Pytorch</a:t>
          </a:r>
          <a:r>
            <a:rPr lang="en-US" altLang="zh-CN" dirty="0" smtClean="0">
              <a:solidFill>
                <a:schemeClr val="bg1">
                  <a:lumMod val="65000"/>
                </a:schemeClr>
              </a:solidFill>
            </a:rPr>
            <a:t>(CPU</a:t>
          </a:r>
          <a:r>
            <a:rPr lang="zh-CN" altLang="en-US" dirty="0" smtClean="0">
              <a:solidFill>
                <a:schemeClr val="bg1">
                  <a:lumMod val="65000"/>
                </a:schemeClr>
              </a:solidFill>
            </a:rPr>
            <a:t>版本</a:t>
          </a:r>
          <a:r>
            <a:rPr lang="en-US" altLang="zh-CN" dirty="0" smtClean="0">
              <a:solidFill>
                <a:schemeClr val="bg1">
                  <a:lumMod val="65000"/>
                </a:schemeClr>
              </a:solidFill>
            </a:rPr>
            <a:t>)</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1" custLinFactNeighborX="49" custLinFactNeighborY="-1677">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D7A25D9E-E404-4832-9B0E-679A6355F5D7}" type="presOf" srcId="{BEAB6AAF-246B-444D-90D9-FB867EA43595}" destId="{FC4CA3E0-7A9C-47CB-88C9-7F81B89FD5AA}" srcOrd="0" destOrd="0" presId="urn:microsoft.com/office/officeart/2005/8/layout/chevron1"/>
    <dgm:cxn modelId="{5BE0DA9C-44A3-4F2D-9613-B778B98AAD4C}" type="presOf" srcId="{314AE731-DFBF-4A5B-8171-86B7AA2F2858}" destId="{5653E5CF-63C1-4886-9DFE-DC4B36C44A33}" srcOrd="0" destOrd="0" presId="urn:microsoft.com/office/officeart/2005/8/layout/chevron1"/>
    <dgm:cxn modelId="{E28A9607-818F-40E4-A0DB-CB9E52D55BC1}" type="presParOf" srcId="{5653E5CF-63C1-4886-9DFE-DC4B36C44A33}" destId="{FC4CA3E0-7A9C-47CB-88C9-7F81B89FD5AA}" srcOrd="0"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检查显卡驱动</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安装</a:t>
          </a:r>
          <a:r>
            <a:rPr lang="en-US" altLang="zh-CN" dirty="0" smtClean="0">
              <a:solidFill>
                <a:schemeClr val="bg1">
                  <a:lumMod val="65000"/>
                </a:schemeClr>
              </a:solidFill>
            </a:rPr>
            <a:t>CUDA</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tx1"/>
              </a:solidFill>
            </a:rPr>
            <a:t>安装</a:t>
          </a:r>
          <a:r>
            <a:rPr lang="en-US" altLang="zh-CN" dirty="0" err="1" smtClean="0">
              <a:solidFill>
                <a:schemeClr val="tx1"/>
              </a:solidFill>
            </a:rPr>
            <a:t>cuDNN</a:t>
          </a:r>
          <a:endParaRPr lang="zh-CN" altLang="en-US" dirty="0">
            <a:solidFill>
              <a:schemeClr val="tx1"/>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A5C50244-4E46-4445-BEE5-469D95B131E8}">
      <dgm:prSet/>
      <dgm:spPr/>
      <dgm:t>
        <a:bodyPr/>
        <a:lstStyle/>
        <a:p>
          <a:r>
            <a:rPr lang="zh-CN" altLang="en-US" dirty="0" smtClean="0">
              <a:solidFill>
                <a:schemeClr val="bg1">
                  <a:lumMod val="85000"/>
                </a:schemeClr>
              </a:solidFill>
            </a:rPr>
            <a:t>安装</a:t>
          </a:r>
          <a:r>
            <a:rPr lang="en-US" altLang="zh-CN" dirty="0" err="1" smtClean="0">
              <a:solidFill>
                <a:schemeClr val="bg1">
                  <a:lumMod val="85000"/>
                </a:schemeClr>
              </a:solidFill>
            </a:rPr>
            <a:t>Pytorch</a:t>
          </a:r>
          <a:r>
            <a:rPr lang="en-US" altLang="zh-CN" dirty="0" smtClean="0">
              <a:solidFill>
                <a:schemeClr val="bg1">
                  <a:lumMod val="85000"/>
                </a:schemeClr>
              </a:solidFill>
            </a:rPr>
            <a:t>(GPU</a:t>
          </a:r>
          <a:r>
            <a:rPr lang="zh-CN" altLang="en-US" dirty="0" smtClean="0">
              <a:solidFill>
                <a:schemeClr val="bg1">
                  <a:lumMod val="85000"/>
                </a:schemeClr>
              </a:solidFill>
            </a:rPr>
            <a:t>版本</a:t>
          </a:r>
          <a:r>
            <a:rPr lang="en-US" altLang="zh-CN" dirty="0" smtClean="0">
              <a:solidFill>
                <a:schemeClr val="bg1">
                  <a:lumMod val="85000"/>
                </a:schemeClr>
              </a:solidFill>
            </a:rPr>
            <a:t>)</a:t>
          </a:r>
          <a:endParaRPr lang="zh-CN" altLang="en-US" dirty="0">
            <a:solidFill>
              <a:schemeClr val="bg1">
                <a:lumMod val="85000"/>
              </a:schemeClr>
            </a:solidFill>
          </a:endParaRPr>
        </a:p>
      </dgm:t>
    </dgm:pt>
    <dgm:pt modelId="{E54AE37D-0CD1-45C2-B313-C3F638479E07}" type="parTrans" cxnId="{562A0DA9-E276-4518-8A40-F86746D024CA}">
      <dgm:prSet/>
      <dgm:spPr/>
      <dgm:t>
        <a:bodyPr/>
        <a:lstStyle/>
        <a:p>
          <a:endParaRPr lang="zh-CN" altLang="en-US"/>
        </a:p>
      </dgm:t>
    </dgm:pt>
    <dgm:pt modelId="{84D9B2BA-FBC7-4819-85F7-9A51F7DF63A8}" type="sibTrans" cxnId="{562A0DA9-E276-4518-8A40-F86746D024CA}">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4">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4">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4">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65DB2C17-F0CA-489B-8953-18E7667638D7}" type="pres">
      <dgm:prSet presAssocID="{A5C50244-4E46-4445-BEE5-469D95B131E8}" presName="parTxOnly" presStyleLbl="node1" presStyleIdx="3" presStyleCnt="4">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85140839-4D20-48F2-BAD7-42364EA81D4B}" type="presOf" srcId="{A5C50244-4E46-4445-BEE5-469D95B131E8}" destId="{65DB2C17-F0CA-489B-8953-18E7667638D7}" srcOrd="0" destOrd="0" presId="urn:microsoft.com/office/officeart/2005/8/layout/chevron1"/>
    <dgm:cxn modelId="{D491664D-318F-4471-8ECF-2BA28835E045}" type="presOf" srcId="{3F9AE8EF-E0BD-4A86-A1DC-73AF72B43E8D}" destId="{2147596E-7442-41E7-9852-40E25C424996}" srcOrd="0" destOrd="0" presId="urn:microsoft.com/office/officeart/2005/8/layout/chevron1"/>
    <dgm:cxn modelId="{562A0DA9-E276-4518-8A40-F86746D024CA}" srcId="{314AE731-DFBF-4A5B-8171-86B7AA2F2858}" destId="{A5C50244-4E46-4445-BEE5-469D95B131E8}" srcOrd="3" destOrd="0" parTransId="{E54AE37D-0CD1-45C2-B313-C3F638479E07}" sibTransId="{84D9B2BA-FBC7-4819-85F7-9A51F7DF63A8}"/>
    <dgm:cxn modelId="{F6766F89-29DB-4401-B50E-3EAC4BD7EBD5}" type="presOf" srcId="{BEAB6AAF-246B-444D-90D9-FB867EA43595}" destId="{FC4CA3E0-7A9C-47CB-88C9-7F81B89FD5AA}" srcOrd="0" destOrd="0" presId="urn:microsoft.com/office/officeart/2005/8/layout/chevron1"/>
    <dgm:cxn modelId="{81CE4B9E-1874-46DB-A854-77CBA04DE9AF}" type="presOf" srcId="{314AE731-DFBF-4A5B-8171-86B7AA2F2858}" destId="{5653E5CF-63C1-4886-9DFE-DC4B36C44A33}" srcOrd="0" destOrd="0" presId="urn:microsoft.com/office/officeart/2005/8/layout/chevron1"/>
    <dgm:cxn modelId="{8A0D7BC9-25B7-4607-833C-92CF4E518EFA}" type="presOf" srcId="{211D359A-E621-4AEC-B365-EBCECA4D5608}" destId="{50739AC9-FC4E-42C3-B62E-1016634A724A}"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BF6558B0-650E-4BA1-A1B1-1CA458E6EC49}" srcId="{314AE731-DFBF-4A5B-8171-86B7AA2F2858}" destId="{211D359A-E621-4AEC-B365-EBCECA4D5608}" srcOrd="2" destOrd="0" parTransId="{95B58C96-0D87-4CC9-A2F6-B9DFCA67DC5F}" sibTransId="{56BE99E8-BF29-4F85-BEC4-A54AC3654A13}"/>
    <dgm:cxn modelId="{2D42B124-9381-425B-B951-52E4317AA4CC}" type="presParOf" srcId="{5653E5CF-63C1-4886-9DFE-DC4B36C44A33}" destId="{FC4CA3E0-7A9C-47CB-88C9-7F81B89FD5AA}" srcOrd="0" destOrd="0" presId="urn:microsoft.com/office/officeart/2005/8/layout/chevron1"/>
    <dgm:cxn modelId="{2AC9AFB3-F581-4B5E-B6C8-4F92FE3E25CA}" type="presParOf" srcId="{5653E5CF-63C1-4886-9DFE-DC4B36C44A33}" destId="{ED8D2DC7-F6B9-49A1-A3FB-6645AA0B27C9}" srcOrd="1" destOrd="0" presId="urn:microsoft.com/office/officeart/2005/8/layout/chevron1"/>
    <dgm:cxn modelId="{4A3618CB-D5C9-46A8-A3E9-E78277295053}" type="presParOf" srcId="{5653E5CF-63C1-4886-9DFE-DC4B36C44A33}" destId="{2147596E-7442-41E7-9852-40E25C424996}" srcOrd="2" destOrd="0" presId="urn:microsoft.com/office/officeart/2005/8/layout/chevron1"/>
    <dgm:cxn modelId="{E81BEBA6-68A4-4D19-BC10-C04E3BA0C32E}" type="presParOf" srcId="{5653E5CF-63C1-4886-9DFE-DC4B36C44A33}" destId="{78A125B0-FC96-47C5-ADBC-5773E5EBD695}" srcOrd="3" destOrd="0" presId="urn:microsoft.com/office/officeart/2005/8/layout/chevron1"/>
    <dgm:cxn modelId="{E37CB856-94DC-42E2-A541-CECEAB296E2A}" type="presParOf" srcId="{5653E5CF-63C1-4886-9DFE-DC4B36C44A33}" destId="{50739AC9-FC4E-42C3-B62E-1016634A724A}" srcOrd="4" destOrd="0" presId="urn:microsoft.com/office/officeart/2005/8/layout/chevron1"/>
    <dgm:cxn modelId="{21F9CFB2-84C6-4708-B8BA-85A321F0234C}" type="presParOf" srcId="{5653E5CF-63C1-4886-9DFE-DC4B36C44A33}" destId="{BA7DB2C5-C694-4861-95D5-BF30690EE501}" srcOrd="5" destOrd="0" presId="urn:microsoft.com/office/officeart/2005/8/layout/chevron1"/>
    <dgm:cxn modelId="{91D1C852-51F1-43D1-9E65-4ACA79231CCD}" type="presParOf" srcId="{5653E5CF-63C1-4886-9DFE-DC4B36C44A33}" destId="{65DB2C17-F0CA-489B-8953-18E7667638D7}" srcOrd="6"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a:t>
          </a:r>
          <a:r>
            <a:rPr lang="en-US" altLang="zh-CN" dirty="0" err="1" smtClean="0">
              <a:solidFill>
                <a:schemeClr val="bg1">
                  <a:lumMod val="65000"/>
                </a:schemeClr>
              </a:solidFill>
            </a:rPr>
            <a:t>Pytorch</a:t>
          </a:r>
          <a:r>
            <a:rPr lang="en-US" altLang="zh-CN" dirty="0" smtClean="0">
              <a:solidFill>
                <a:schemeClr val="bg1">
                  <a:lumMod val="65000"/>
                </a:schemeClr>
              </a:solidFill>
            </a:rPr>
            <a:t>(CPU</a:t>
          </a:r>
          <a:r>
            <a:rPr lang="zh-CN" altLang="en-US" dirty="0" smtClean="0">
              <a:solidFill>
                <a:schemeClr val="bg1">
                  <a:lumMod val="65000"/>
                </a:schemeClr>
              </a:solidFill>
            </a:rPr>
            <a:t>版本</a:t>
          </a:r>
          <a:r>
            <a:rPr lang="en-US" altLang="zh-CN" dirty="0" smtClean="0">
              <a:solidFill>
                <a:schemeClr val="bg1">
                  <a:lumMod val="65000"/>
                </a:schemeClr>
              </a:solidFill>
            </a:rPr>
            <a:t>)</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1" custLinFactNeighborX="49" custLinFactNeighborY="-1677">
        <dgm:presLayoutVars>
          <dgm:chMax val="0"/>
          <dgm:chPref val="0"/>
          <dgm:bulletEnabled val="1"/>
        </dgm:presLayoutVars>
      </dgm:prSet>
      <dgm:spPr/>
      <dgm:t>
        <a:bodyPr/>
        <a:lstStyle/>
        <a:p>
          <a:endParaRPr lang="zh-CN" altLang="en-US"/>
        </a:p>
      </dgm:t>
    </dgm:pt>
  </dgm:ptLst>
  <dgm:cxnLst>
    <dgm:cxn modelId="{D48F1587-E33C-4B31-ABA5-72FD0F895A8E}" type="presOf" srcId="{314AE731-DFBF-4A5B-8171-86B7AA2F2858}" destId="{5653E5CF-63C1-4886-9DFE-DC4B36C44A33}"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068454E8-C0E6-47B3-8E28-4835E309FAAF}" type="presOf" srcId="{BEAB6AAF-246B-444D-90D9-FB867EA43595}" destId="{FC4CA3E0-7A9C-47CB-88C9-7F81B89FD5AA}" srcOrd="0" destOrd="0" presId="urn:microsoft.com/office/officeart/2005/8/layout/chevron1"/>
    <dgm:cxn modelId="{02ACD6A2-29AA-4890-ABF2-2F076E7B7404}" type="presParOf" srcId="{5653E5CF-63C1-4886-9DFE-DC4B36C44A33}" destId="{FC4CA3E0-7A9C-47CB-88C9-7F81B89FD5AA}" srcOrd="0"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检查显卡驱动</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安装</a:t>
          </a:r>
          <a:r>
            <a:rPr lang="en-US" altLang="zh-CN" dirty="0" smtClean="0">
              <a:solidFill>
                <a:schemeClr val="bg1">
                  <a:lumMod val="65000"/>
                </a:schemeClr>
              </a:solidFill>
            </a:rPr>
            <a:t>CUDA</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65000"/>
                </a:schemeClr>
              </a:solidFill>
            </a:rPr>
            <a:t>安装</a:t>
          </a:r>
          <a:r>
            <a:rPr lang="en-US" altLang="zh-CN" dirty="0" err="1" smtClean="0">
              <a:solidFill>
                <a:schemeClr val="bg1">
                  <a:lumMod val="65000"/>
                </a:schemeClr>
              </a:solidFill>
            </a:rPr>
            <a:t>cuDNN</a:t>
          </a:r>
          <a:endParaRPr lang="zh-CN" altLang="en-US" dirty="0">
            <a:solidFill>
              <a:schemeClr val="bg1">
                <a:lumMod val="6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A5C50244-4E46-4445-BEE5-469D95B131E8}">
      <dgm:prSet/>
      <dgm:spPr/>
      <dgm:t>
        <a:bodyPr/>
        <a:lstStyle/>
        <a:p>
          <a:r>
            <a:rPr lang="zh-CN" altLang="en-US" dirty="0" smtClean="0">
              <a:solidFill>
                <a:schemeClr val="tx1"/>
              </a:solidFill>
            </a:rPr>
            <a:t>安装</a:t>
          </a:r>
          <a:r>
            <a:rPr lang="en-US" altLang="zh-CN" dirty="0" err="1" smtClean="0">
              <a:solidFill>
                <a:schemeClr val="tx1"/>
              </a:solidFill>
            </a:rPr>
            <a:t>Pytorch</a:t>
          </a:r>
          <a:r>
            <a:rPr lang="en-US" altLang="zh-CN" dirty="0" smtClean="0">
              <a:solidFill>
                <a:schemeClr val="tx1"/>
              </a:solidFill>
            </a:rPr>
            <a:t>(GPU</a:t>
          </a:r>
          <a:r>
            <a:rPr lang="zh-CN" altLang="en-US" dirty="0" smtClean="0">
              <a:solidFill>
                <a:schemeClr val="tx1"/>
              </a:solidFill>
            </a:rPr>
            <a:t>版本</a:t>
          </a:r>
          <a:r>
            <a:rPr lang="en-US" altLang="zh-CN" dirty="0" smtClean="0">
              <a:solidFill>
                <a:schemeClr val="tx1"/>
              </a:solidFill>
            </a:rPr>
            <a:t>)</a:t>
          </a:r>
          <a:endParaRPr lang="zh-CN" altLang="en-US" dirty="0">
            <a:solidFill>
              <a:schemeClr val="tx1"/>
            </a:solidFill>
          </a:endParaRPr>
        </a:p>
      </dgm:t>
    </dgm:pt>
    <dgm:pt modelId="{E54AE37D-0CD1-45C2-B313-C3F638479E07}" type="parTrans" cxnId="{562A0DA9-E276-4518-8A40-F86746D024CA}">
      <dgm:prSet/>
      <dgm:spPr/>
      <dgm:t>
        <a:bodyPr/>
        <a:lstStyle/>
        <a:p>
          <a:endParaRPr lang="zh-CN" altLang="en-US"/>
        </a:p>
      </dgm:t>
    </dgm:pt>
    <dgm:pt modelId="{84D9B2BA-FBC7-4819-85F7-9A51F7DF63A8}" type="sibTrans" cxnId="{562A0DA9-E276-4518-8A40-F86746D024CA}">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4">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4">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4">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65DB2C17-F0CA-489B-8953-18E7667638D7}" type="pres">
      <dgm:prSet presAssocID="{A5C50244-4E46-4445-BEE5-469D95B131E8}" presName="parTxOnly" presStyleLbl="node1" presStyleIdx="3" presStyleCnt="4">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A33797E7-63B0-4232-B5AE-C9F5F0BE7F01}" type="presOf" srcId="{314AE731-DFBF-4A5B-8171-86B7AA2F2858}" destId="{5653E5CF-63C1-4886-9DFE-DC4B36C44A33}" srcOrd="0" destOrd="0" presId="urn:microsoft.com/office/officeart/2005/8/layout/chevron1"/>
    <dgm:cxn modelId="{562A0DA9-E276-4518-8A40-F86746D024CA}" srcId="{314AE731-DFBF-4A5B-8171-86B7AA2F2858}" destId="{A5C50244-4E46-4445-BEE5-469D95B131E8}" srcOrd="3" destOrd="0" parTransId="{E54AE37D-0CD1-45C2-B313-C3F638479E07}" sibTransId="{84D9B2BA-FBC7-4819-85F7-9A51F7DF63A8}"/>
    <dgm:cxn modelId="{418F6375-7CB7-4E95-A869-1929FAA3471B}" type="presOf" srcId="{A5C50244-4E46-4445-BEE5-469D95B131E8}" destId="{65DB2C17-F0CA-489B-8953-18E7667638D7}" srcOrd="0" destOrd="0" presId="urn:microsoft.com/office/officeart/2005/8/layout/chevron1"/>
    <dgm:cxn modelId="{156098CB-15B0-4F51-90B9-14D8725A7CFE}" type="presOf" srcId="{BEAB6AAF-246B-444D-90D9-FB867EA43595}" destId="{FC4CA3E0-7A9C-47CB-88C9-7F81B89FD5AA}"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7A149CAA-9660-4684-8654-DEE41C53B22C}" type="presOf" srcId="{3F9AE8EF-E0BD-4A86-A1DC-73AF72B43E8D}" destId="{2147596E-7442-41E7-9852-40E25C424996}"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9016477F-72CE-4E8E-BD18-392657844D3E}" type="presOf" srcId="{211D359A-E621-4AEC-B365-EBCECA4D5608}" destId="{50739AC9-FC4E-42C3-B62E-1016634A724A}" srcOrd="0" destOrd="0" presId="urn:microsoft.com/office/officeart/2005/8/layout/chevron1"/>
    <dgm:cxn modelId="{37DE8F54-E6F5-4695-A5C2-AF7F36FC9BA2}" type="presParOf" srcId="{5653E5CF-63C1-4886-9DFE-DC4B36C44A33}" destId="{FC4CA3E0-7A9C-47CB-88C9-7F81B89FD5AA}" srcOrd="0" destOrd="0" presId="urn:microsoft.com/office/officeart/2005/8/layout/chevron1"/>
    <dgm:cxn modelId="{EB5DAE6F-C9BE-4892-8284-766BE3DA24D5}" type="presParOf" srcId="{5653E5CF-63C1-4886-9DFE-DC4B36C44A33}" destId="{ED8D2DC7-F6B9-49A1-A3FB-6645AA0B27C9}" srcOrd="1" destOrd="0" presId="urn:microsoft.com/office/officeart/2005/8/layout/chevron1"/>
    <dgm:cxn modelId="{9366EF46-0799-4497-8FB4-E5CBD6A8B018}" type="presParOf" srcId="{5653E5CF-63C1-4886-9DFE-DC4B36C44A33}" destId="{2147596E-7442-41E7-9852-40E25C424996}" srcOrd="2" destOrd="0" presId="urn:microsoft.com/office/officeart/2005/8/layout/chevron1"/>
    <dgm:cxn modelId="{8D19F3C9-D7F7-40CF-858B-E6F86DDDD954}" type="presParOf" srcId="{5653E5CF-63C1-4886-9DFE-DC4B36C44A33}" destId="{78A125B0-FC96-47C5-ADBC-5773E5EBD695}" srcOrd="3" destOrd="0" presId="urn:microsoft.com/office/officeart/2005/8/layout/chevron1"/>
    <dgm:cxn modelId="{40CAC4D3-3DD4-401E-A624-34B39B1EA100}" type="presParOf" srcId="{5653E5CF-63C1-4886-9DFE-DC4B36C44A33}" destId="{50739AC9-FC4E-42C3-B62E-1016634A724A}" srcOrd="4" destOrd="0" presId="urn:microsoft.com/office/officeart/2005/8/layout/chevron1"/>
    <dgm:cxn modelId="{5481A48F-3E3C-4686-A192-D1EC74A0D297}" type="presParOf" srcId="{5653E5CF-63C1-4886-9DFE-DC4B36C44A33}" destId="{BA7DB2C5-C694-4861-95D5-BF30690EE501}" srcOrd="5" destOrd="0" presId="urn:microsoft.com/office/officeart/2005/8/layout/chevron1"/>
    <dgm:cxn modelId="{D5FFE32A-3AE0-4158-8205-8B5AE14E8157}" type="presParOf" srcId="{5653E5CF-63C1-4886-9DFE-DC4B36C44A33}" destId="{65DB2C17-F0CA-489B-8953-18E7667638D7}" srcOrd="6"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a:t>
          </a:r>
          <a:r>
            <a:rPr lang="en-US" altLang="zh-CN" dirty="0" err="1" smtClean="0">
              <a:solidFill>
                <a:schemeClr val="bg1">
                  <a:lumMod val="65000"/>
                </a:schemeClr>
              </a:solidFill>
            </a:rPr>
            <a:t>Pytorch</a:t>
          </a:r>
          <a:r>
            <a:rPr lang="en-US" altLang="zh-CN" dirty="0" smtClean="0">
              <a:solidFill>
                <a:schemeClr val="bg1">
                  <a:lumMod val="65000"/>
                </a:schemeClr>
              </a:solidFill>
            </a:rPr>
            <a:t>(CPU</a:t>
          </a:r>
          <a:r>
            <a:rPr lang="zh-CN" altLang="en-US" dirty="0" smtClean="0">
              <a:solidFill>
                <a:schemeClr val="bg1">
                  <a:lumMod val="65000"/>
                </a:schemeClr>
              </a:solidFill>
            </a:rPr>
            <a:t>版本</a:t>
          </a:r>
          <a:r>
            <a:rPr lang="en-US" altLang="zh-CN" dirty="0" smtClean="0">
              <a:solidFill>
                <a:schemeClr val="bg1">
                  <a:lumMod val="65000"/>
                </a:schemeClr>
              </a:solidFill>
            </a:rPr>
            <a:t>)</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1" custLinFactNeighborX="49" custLinFactNeighborY="-1677">
        <dgm:presLayoutVars>
          <dgm:chMax val="0"/>
          <dgm:chPref val="0"/>
          <dgm:bulletEnabled val="1"/>
        </dgm:presLayoutVars>
      </dgm:prSet>
      <dgm:spPr/>
      <dgm:t>
        <a:bodyPr/>
        <a:lstStyle/>
        <a:p>
          <a:endParaRPr lang="zh-CN" altLang="en-US"/>
        </a:p>
      </dgm:t>
    </dgm:pt>
  </dgm:ptLst>
  <dgm:cxnLst>
    <dgm:cxn modelId="{DF5AE22E-6AFE-4954-950F-F09CC9652884}" type="presOf" srcId="{314AE731-DFBF-4A5B-8171-86B7AA2F2858}" destId="{5653E5CF-63C1-4886-9DFE-DC4B36C44A33}" srcOrd="0" destOrd="0" presId="urn:microsoft.com/office/officeart/2005/8/layout/chevron1"/>
    <dgm:cxn modelId="{BD8FD5CA-3FE8-4732-B9EB-04DD5E6C1FCF}" type="presOf" srcId="{BEAB6AAF-246B-444D-90D9-FB867EA43595}" destId="{FC4CA3E0-7A9C-47CB-88C9-7F81B89FD5AA}" srcOrd="0" destOrd="0" presId="urn:microsoft.com/office/officeart/2005/8/layout/chevron1"/>
    <dgm:cxn modelId="{62D19679-9152-4CA8-9676-592927ED4E56}" srcId="{314AE731-DFBF-4A5B-8171-86B7AA2F2858}" destId="{BEAB6AAF-246B-444D-90D9-FB867EA43595}" srcOrd="0" destOrd="0" parTransId="{7B320CD8-B4D8-4FF3-9549-4626CCF5C355}" sibTransId="{9D8C5213-1CA7-47CA-A58A-0ECD696509D5}"/>
    <dgm:cxn modelId="{F300FAA3-9A84-4505-AFA2-757929B7B7C4}" type="presParOf" srcId="{5653E5CF-63C1-4886-9DFE-DC4B36C44A33}" destId="{FC4CA3E0-7A9C-47CB-88C9-7F81B89FD5AA}" srcOrd="0"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ytorch.org/get-started/previous-versions/"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本实验中，我们将在</a:t>
            </a:r>
            <a:r>
              <a:rPr lang="en-US" altLang="zh-CN" sz="1200" kern="1200" dirty="0" smtClean="0">
                <a:solidFill>
                  <a:schemeClr val="tx1"/>
                </a:solidFill>
                <a:effectLst/>
                <a:latin typeface="+mn-lt"/>
                <a:ea typeface="+mn-ea"/>
                <a:cs typeface="+mn-cs"/>
              </a:rPr>
              <a:t>Windows</a:t>
            </a:r>
            <a:r>
              <a:rPr lang="zh-CN" altLang="zh-CN" sz="1200" kern="1200" dirty="0" smtClean="0">
                <a:solidFill>
                  <a:schemeClr val="tx1"/>
                </a:solidFill>
                <a:effectLst/>
                <a:latin typeface="+mn-lt"/>
                <a:ea typeface="+mn-ea"/>
                <a:cs typeface="+mn-cs"/>
              </a:rPr>
              <a:t>系统上配置环境，根据选择安装深度学习</a:t>
            </a:r>
            <a:r>
              <a:rPr lang="en-US" altLang="zh-CN" sz="1200" kern="1200" dirty="0" err="1" smtClean="0">
                <a:solidFill>
                  <a:schemeClr val="tx1"/>
                </a:solidFill>
                <a:effectLst/>
                <a:latin typeface="+mn-lt"/>
                <a:ea typeface="+mn-ea"/>
                <a:cs typeface="+mn-cs"/>
              </a:rPr>
              <a:t>Pytorch</a:t>
            </a:r>
            <a:r>
              <a:rPr lang="zh-CN" altLang="zh-CN" sz="1200" kern="1200" dirty="0" smtClean="0">
                <a:solidFill>
                  <a:schemeClr val="tx1"/>
                </a:solidFill>
                <a:effectLst/>
                <a:latin typeface="+mn-lt"/>
                <a:ea typeface="+mn-ea"/>
                <a:cs typeface="+mn-cs"/>
              </a:rPr>
              <a:t>框架，为后续训练目标检测模型做准备。如果电脑有</a:t>
            </a:r>
            <a:r>
              <a:rPr lang="en-US" altLang="zh-CN" sz="1200" kern="1200" dirty="0" err="1" smtClean="0">
                <a:solidFill>
                  <a:schemeClr val="tx1"/>
                </a:solidFill>
                <a:effectLst/>
                <a:latin typeface="+mn-lt"/>
                <a:ea typeface="+mn-ea"/>
                <a:cs typeface="+mn-cs"/>
              </a:rPr>
              <a:t>Nvidia</a:t>
            </a:r>
            <a:r>
              <a:rPr lang="zh-CN" altLang="zh-CN" sz="1200" kern="1200" dirty="0" smtClean="0">
                <a:solidFill>
                  <a:schemeClr val="tx1"/>
                </a:solidFill>
                <a:effectLst/>
                <a:latin typeface="+mn-lt"/>
                <a:ea typeface="+mn-ea"/>
                <a:cs typeface="+mn-cs"/>
              </a:rPr>
              <a:t>显卡，还可以配置</a:t>
            </a:r>
            <a:r>
              <a:rPr lang="en-US" altLang="zh-CN" sz="1200" kern="1200" dirty="0" smtClean="0">
                <a:solidFill>
                  <a:schemeClr val="tx1"/>
                </a:solidFill>
                <a:effectLst/>
                <a:latin typeface="+mn-lt"/>
                <a:ea typeface="+mn-ea"/>
                <a:cs typeface="+mn-cs"/>
              </a:rPr>
              <a:t>CUDA</a:t>
            </a: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cuDNN</a:t>
            </a:r>
            <a:r>
              <a:rPr lang="zh-CN" altLang="zh-CN" sz="1200" kern="1200" dirty="0" smtClean="0">
                <a:solidFill>
                  <a:schemeClr val="tx1"/>
                </a:solidFill>
                <a:effectLst/>
                <a:latin typeface="+mn-lt"/>
                <a:ea typeface="+mn-ea"/>
                <a:cs typeface="+mn-cs"/>
              </a:rPr>
              <a:t>环境，通过</a:t>
            </a:r>
            <a:r>
              <a:rPr lang="en-US" altLang="zh-CN" sz="1200" kern="1200" dirty="0" smtClean="0">
                <a:solidFill>
                  <a:schemeClr val="tx1"/>
                </a:solidFill>
                <a:effectLst/>
                <a:latin typeface="+mn-lt"/>
                <a:ea typeface="+mn-ea"/>
                <a:cs typeface="+mn-cs"/>
              </a:rPr>
              <a:t>GPU</a:t>
            </a:r>
            <a:r>
              <a:rPr lang="zh-CN" altLang="zh-CN" sz="1200" kern="1200" dirty="0" smtClean="0">
                <a:solidFill>
                  <a:schemeClr val="tx1"/>
                </a:solidFill>
                <a:effectLst/>
                <a:latin typeface="+mn-lt"/>
                <a:ea typeface="+mn-ea"/>
                <a:cs typeface="+mn-cs"/>
              </a:rPr>
              <a:t>的性能加速计算。</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89579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如果电脑没有</a:t>
            </a:r>
            <a:r>
              <a:rPr lang="en-US" altLang="zh-CN" sz="1200" kern="1200" dirty="0" err="1" smtClean="0">
                <a:solidFill>
                  <a:schemeClr val="tx1"/>
                </a:solidFill>
                <a:effectLst/>
                <a:latin typeface="+mn-lt"/>
                <a:ea typeface="+mn-ea"/>
                <a:cs typeface="+mn-cs"/>
              </a:rPr>
              <a:t>Nvidia</a:t>
            </a:r>
            <a:r>
              <a:rPr lang="zh-CN" altLang="zh-CN" sz="1200" kern="1200" dirty="0" smtClean="0">
                <a:solidFill>
                  <a:schemeClr val="tx1"/>
                </a:solidFill>
                <a:effectLst/>
                <a:latin typeface="+mn-lt"/>
                <a:ea typeface="+mn-ea"/>
                <a:cs typeface="+mn-cs"/>
              </a:rPr>
              <a:t>显卡，可以通过</a:t>
            </a:r>
            <a:r>
              <a:rPr lang="en-US" altLang="zh-CN" sz="1200" kern="1200" dirty="0"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版本的</a:t>
            </a:r>
            <a:r>
              <a:rPr lang="en-US" altLang="zh-CN" sz="1200" kern="1200" dirty="0" err="1" smtClean="0">
                <a:solidFill>
                  <a:schemeClr val="tx1"/>
                </a:solidFill>
                <a:effectLst/>
                <a:latin typeface="+mn-lt"/>
                <a:ea typeface="+mn-ea"/>
                <a:cs typeface="+mn-cs"/>
              </a:rPr>
              <a:t>Pytorch</a:t>
            </a:r>
            <a:r>
              <a:rPr lang="zh-CN" altLang="zh-CN" sz="1200" kern="1200" dirty="0" smtClean="0">
                <a:solidFill>
                  <a:schemeClr val="tx1"/>
                </a:solidFill>
                <a:effectLst/>
                <a:latin typeface="+mn-lt"/>
                <a:ea typeface="+mn-ea"/>
                <a:cs typeface="+mn-cs"/>
              </a:rPr>
              <a:t>框架进行深度学习计算。进入</a:t>
            </a:r>
            <a:r>
              <a:rPr lang="en-US" altLang="zh-CN" sz="1200" kern="1200" dirty="0" err="1" smtClean="0">
                <a:solidFill>
                  <a:schemeClr val="tx1"/>
                </a:solidFill>
                <a:effectLst/>
                <a:latin typeface="+mn-lt"/>
                <a:ea typeface="+mn-ea"/>
                <a:cs typeface="+mn-cs"/>
              </a:rPr>
              <a:t>Pytorch</a:t>
            </a:r>
            <a:r>
              <a:rPr lang="zh-CN" altLang="zh-CN" sz="1200" kern="1200" dirty="0" smtClean="0">
                <a:solidFill>
                  <a:schemeClr val="tx1"/>
                </a:solidFill>
                <a:effectLst/>
                <a:latin typeface="+mn-lt"/>
                <a:ea typeface="+mn-ea"/>
                <a:cs typeface="+mn-cs"/>
              </a:rPr>
              <a:t>的官方下载网站：</a:t>
            </a:r>
            <a:r>
              <a:rPr lang="en-US" altLang="zh-CN" sz="1200" u="sng" kern="1200" dirty="0" smtClean="0">
                <a:solidFill>
                  <a:schemeClr val="tx1"/>
                </a:solidFill>
                <a:effectLst/>
                <a:latin typeface="+mn-lt"/>
                <a:ea typeface="+mn-ea"/>
                <a:cs typeface="+mn-cs"/>
                <a:hlinkClick r:id="rId3"/>
              </a:rPr>
              <a:t>https://pytorch.org/get-started/previous-versions/</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92953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在可以并行完成的计算方面速度比</a:t>
            </a:r>
            <a:r>
              <a:rPr lang="en-US" altLang="zh-CN" sz="1200" b="0" i="0" kern="1200" dirty="0" smtClean="0">
                <a:solidFill>
                  <a:schemeClr val="tx1"/>
                </a:solidFill>
                <a:effectLst/>
                <a:latin typeface="+mn-lt"/>
                <a:ea typeface="+mn-ea"/>
                <a:cs typeface="+mn-cs"/>
              </a:rPr>
              <a:t>CPU</a:t>
            </a:r>
            <a:r>
              <a:rPr lang="zh-CN" altLang="en-US" sz="1200" b="0" i="0" kern="1200" dirty="0" smtClean="0">
                <a:solidFill>
                  <a:schemeClr val="tx1"/>
                </a:solidFill>
                <a:effectLst/>
                <a:latin typeface="+mn-lt"/>
                <a:ea typeface="+mn-ea"/>
                <a:cs typeface="+mn-cs"/>
              </a:rPr>
              <a:t>快得多。并行计算是一种将特定计算分解成可以同时进行的独立的较小计算的计算方式。然后重新组合或同步计算结果，形成原来较大计算的结果。如果计算可以并行完成，我们可以使用并行编程方法和</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加速计算。而</a:t>
            </a:r>
            <a:r>
              <a:rPr lang="zh-CN" altLang="en-US" dirty="0" smtClean="0"/>
              <a:t>神经网络是高度并行的，因为神经网络中每个计算都是独立于其他计算的，这意味着任何计算都不依赖于任何其他计算的结果。</a:t>
            </a:r>
            <a:r>
              <a:rPr lang="zh-CN" altLang="en-US" sz="1200" b="0" i="0" kern="1200" dirty="0" smtClean="0">
                <a:solidFill>
                  <a:schemeClr val="tx1"/>
                </a:solidFill>
                <a:effectLst/>
                <a:latin typeface="+mn-lt"/>
                <a:ea typeface="+mn-ea"/>
                <a:cs typeface="+mn-cs"/>
              </a:rPr>
              <a:t>这让我们看到，神经网络可以通过使用并行编程方法和</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来加速。</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sz="1200" b="0" i="0" kern="1200" dirty="0" err="1" smtClean="0">
                <a:solidFill>
                  <a:schemeClr val="tx1"/>
                </a:solidFill>
                <a:effectLst/>
                <a:latin typeface="+mn-lt"/>
                <a:ea typeface="+mn-ea"/>
                <a:cs typeface="+mn-cs"/>
              </a:rPr>
              <a:t>Nvidia</a:t>
            </a:r>
            <a:r>
              <a:rPr lang="zh-CN" altLang="en-US" sz="1200" b="0" i="0" kern="1200" dirty="0" smtClean="0">
                <a:solidFill>
                  <a:schemeClr val="tx1"/>
                </a:solidFill>
                <a:effectLst/>
                <a:latin typeface="+mn-lt"/>
                <a:ea typeface="+mn-ea"/>
                <a:cs typeface="+mn-cs"/>
              </a:rPr>
              <a:t>是一家设计</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的技术公司，他们把</a:t>
            </a:r>
            <a:r>
              <a:rPr lang="en-US" altLang="zh-CN" sz="1200" b="0" i="0" kern="1200" dirty="0" smtClean="0">
                <a:solidFill>
                  <a:schemeClr val="tx1"/>
                </a:solidFill>
                <a:effectLst/>
                <a:latin typeface="+mn-lt"/>
                <a:ea typeface="+mn-ea"/>
                <a:cs typeface="+mn-cs"/>
              </a:rPr>
              <a:t>CUDA</a:t>
            </a:r>
            <a:r>
              <a:rPr lang="zh-CN" altLang="en-US" sz="1200" b="0" i="0" kern="1200" dirty="0" smtClean="0">
                <a:solidFill>
                  <a:schemeClr val="tx1"/>
                </a:solidFill>
                <a:effectLst/>
                <a:latin typeface="+mn-lt"/>
                <a:ea typeface="+mn-ea"/>
                <a:cs typeface="+mn-cs"/>
              </a:rPr>
              <a:t>作为一个软件平台，与他们的</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硬件配对，让开发者更容易构建软件，利用</a:t>
            </a:r>
            <a:r>
              <a:rPr lang="en-US" altLang="zh-CN" sz="1200" b="0" i="0" kern="1200" dirty="0" err="1" smtClean="0">
                <a:solidFill>
                  <a:schemeClr val="tx1"/>
                </a:solidFill>
                <a:effectLst/>
                <a:latin typeface="+mn-lt"/>
                <a:ea typeface="+mn-ea"/>
                <a:cs typeface="+mn-cs"/>
              </a:rPr>
              <a:t>Nvidia</a:t>
            </a:r>
            <a:r>
              <a:rPr lang="en-US" altLang="zh-CN" sz="1200" b="0" i="0" kern="1200" dirty="0" smtClean="0">
                <a:solidFill>
                  <a:schemeClr val="tx1"/>
                </a:solidFill>
                <a:effectLst/>
                <a:latin typeface="+mn-lt"/>
                <a:ea typeface="+mn-ea"/>
                <a:cs typeface="+mn-cs"/>
              </a:rPr>
              <a:t> GPU</a:t>
            </a:r>
            <a:r>
              <a:rPr lang="zh-CN" altLang="en-US" sz="1200" b="0" i="0" kern="1200" dirty="0" smtClean="0">
                <a:solidFill>
                  <a:schemeClr val="tx1"/>
                </a:solidFill>
                <a:effectLst/>
                <a:latin typeface="+mn-lt"/>
                <a:ea typeface="+mn-ea"/>
                <a:cs typeface="+mn-cs"/>
              </a:rPr>
              <a:t>的并行处理能力加速神经网络的计算。</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15832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不推荐使用虚拟机，之后配置多个环境安装的库会占用大量存储空间。</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734289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20938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smtClean="0"/>
              <a:t>CUDA</a:t>
            </a:r>
            <a:r>
              <a:rPr lang="zh-CN" altLang="en-US" dirty="0" smtClean="0"/>
              <a:t>是</a:t>
            </a:r>
            <a:r>
              <a:rPr lang="en-US" altLang="zh-CN" dirty="0" err="1" smtClean="0"/>
              <a:t>Nvidia</a:t>
            </a:r>
            <a:r>
              <a:rPr lang="zh-CN" altLang="en-US" dirty="0" smtClean="0"/>
              <a:t>为“</a:t>
            </a:r>
            <a:r>
              <a:rPr lang="en-US" altLang="zh-CN" dirty="0" smtClean="0"/>
              <a:t>GPU</a:t>
            </a:r>
            <a:r>
              <a:rPr lang="zh-CN" altLang="en-US" dirty="0" smtClean="0"/>
              <a:t>通用计算”构建的运算平台。官方提供的</a:t>
            </a:r>
            <a:r>
              <a:rPr lang="en-US" altLang="zh-CN" dirty="0" smtClean="0"/>
              <a:t>CUDA Toolkit (</a:t>
            </a:r>
            <a:r>
              <a:rPr lang="en-US" altLang="zh-CN" dirty="0" err="1" smtClean="0"/>
              <a:t>nvidia</a:t>
            </a:r>
            <a:r>
              <a:rPr lang="en-US" altLang="zh-CN" dirty="0" smtClean="0"/>
              <a:t>)</a:t>
            </a:r>
            <a:r>
              <a:rPr lang="zh-CN" altLang="en-US" dirty="0" smtClean="0"/>
              <a:t>是</a:t>
            </a:r>
            <a:r>
              <a:rPr lang="en-US" altLang="zh-CN" dirty="0" smtClean="0"/>
              <a:t>CUDA</a:t>
            </a:r>
            <a:r>
              <a:rPr lang="zh-CN" altLang="en-US" dirty="0" smtClean="0"/>
              <a:t>完整的工具安装包，其中提供了 </a:t>
            </a:r>
            <a:r>
              <a:rPr lang="en-US" altLang="zh-CN" dirty="0" err="1" smtClean="0"/>
              <a:t>Nvidia</a:t>
            </a:r>
            <a:r>
              <a:rPr lang="en-US" altLang="zh-CN" dirty="0" smtClean="0"/>
              <a:t> </a:t>
            </a:r>
            <a:r>
              <a:rPr lang="zh-CN" altLang="en-US" dirty="0" smtClean="0"/>
              <a:t>驱动程序、开发 </a:t>
            </a:r>
            <a:r>
              <a:rPr lang="en-US" altLang="zh-CN" dirty="0" smtClean="0"/>
              <a:t>CUDA </a:t>
            </a:r>
            <a:r>
              <a:rPr lang="zh-CN" altLang="en-US" dirty="0" smtClean="0"/>
              <a:t>程序相关的开发工具包等可供安装的选项。它包括 </a:t>
            </a:r>
            <a:r>
              <a:rPr lang="en-US" altLang="zh-CN" dirty="0" smtClean="0"/>
              <a:t>CUDA </a:t>
            </a:r>
            <a:r>
              <a:rPr lang="zh-CN" altLang="en-US" dirty="0" smtClean="0"/>
              <a:t>程序的编译器、</a:t>
            </a:r>
            <a:r>
              <a:rPr lang="en-US" altLang="zh-CN" dirty="0" smtClean="0"/>
              <a:t>IDE</a:t>
            </a:r>
            <a:r>
              <a:rPr lang="zh-CN" altLang="en-US" dirty="0" smtClean="0"/>
              <a:t>、调试器等，以及</a:t>
            </a:r>
            <a:r>
              <a:rPr lang="en-US" altLang="zh-CN" dirty="0" smtClean="0"/>
              <a:t>CUDA </a:t>
            </a:r>
            <a:r>
              <a:rPr lang="zh-CN" altLang="en-US" dirty="0" smtClean="0"/>
              <a:t>程序所对应的各式库文件以及它们的头文件。</a:t>
            </a:r>
            <a:r>
              <a:rPr lang="en-US" altLang="zh-CN" sz="1200" b="0" i="0" kern="1200" dirty="0" smtClean="0">
                <a:solidFill>
                  <a:schemeClr val="tx1"/>
                </a:solidFill>
                <a:effectLst/>
                <a:latin typeface="+mn-lt"/>
                <a:ea typeface="+mn-ea"/>
                <a:cs typeface="+mn-cs"/>
              </a:rPr>
              <a:t>NVCC </a:t>
            </a:r>
            <a:r>
              <a:rPr lang="zh-CN" altLang="en-US" sz="1200" b="0" i="0" kern="1200" dirty="0" smtClean="0">
                <a:solidFill>
                  <a:schemeClr val="tx1"/>
                </a:solidFill>
                <a:effectLst/>
                <a:latin typeface="+mn-lt"/>
                <a:ea typeface="+mn-ea"/>
                <a:cs typeface="+mn-cs"/>
              </a:rPr>
              <a:t>是</a:t>
            </a:r>
            <a:r>
              <a:rPr lang="en-US" altLang="zh-CN" sz="1200" b="0" i="0" kern="1200" dirty="0" smtClean="0">
                <a:solidFill>
                  <a:schemeClr val="tx1"/>
                </a:solidFill>
                <a:effectLst/>
                <a:latin typeface="+mn-lt"/>
                <a:ea typeface="+mn-ea"/>
                <a:cs typeface="+mn-cs"/>
              </a:rPr>
              <a:t>CUDA</a:t>
            </a:r>
            <a:r>
              <a:rPr lang="zh-CN" altLang="en-US" sz="1200" b="0" i="0" kern="1200" dirty="0" smtClean="0">
                <a:solidFill>
                  <a:schemeClr val="tx1"/>
                </a:solidFill>
                <a:effectLst/>
                <a:latin typeface="+mn-lt"/>
                <a:ea typeface="+mn-ea"/>
                <a:cs typeface="+mn-cs"/>
              </a:rPr>
              <a:t>的编译器，只是 </a:t>
            </a:r>
            <a:r>
              <a:rPr lang="en-US" altLang="zh-CN" sz="1200" b="0" i="0" kern="1200" dirty="0" smtClean="0">
                <a:solidFill>
                  <a:schemeClr val="tx1"/>
                </a:solidFill>
                <a:effectLst/>
                <a:latin typeface="+mn-lt"/>
                <a:ea typeface="+mn-ea"/>
                <a:cs typeface="+mn-cs"/>
              </a:rPr>
              <a:t>CUDA Toolkit </a:t>
            </a:r>
            <a:r>
              <a:rPr lang="zh-CN" altLang="en-US" sz="1200" b="0" i="0" kern="1200" dirty="0" smtClean="0">
                <a:solidFill>
                  <a:schemeClr val="tx1"/>
                </a:solidFill>
                <a:effectLst/>
                <a:latin typeface="+mn-lt"/>
                <a:ea typeface="+mn-ea"/>
                <a:cs typeface="+mn-cs"/>
              </a:rPr>
              <a:t>中的一部分。</a:t>
            </a:r>
            <a:endParaRPr lang="en-US" altLang="zh-CN" sz="1200" b="0" i="0" kern="1200" dirty="0" smtClean="0">
              <a:solidFill>
                <a:schemeClr val="tx1"/>
              </a:solidFill>
              <a:effectLst/>
              <a:latin typeface="+mn-lt"/>
              <a:ea typeface="+mn-ea"/>
              <a:cs typeface="+mn-cs"/>
            </a:endParaRPr>
          </a:p>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dirty="0" smtClean="0"/>
              <a:t>CUDA</a:t>
            </a:r>
            <a:r>
              <a:rPr lang="zh-CN" altLang="en-US" dirty="0" smtClean="0"/>
              <a:t>主要有两个</a:t>
            </a:r>
            <a:r>
              <a:rPr lang="en-US" altLang="zh-CN" dirty="0" smtClean="0"/>
              <a:t>API</a:t>
            </a:r>
            <a:r>
              <a:rPr lang="zh-CN" altLang="en-US" dirty="0" smtClean="0"/>
              <a:t>：</a:t>
            </a:r>
            <a:r>
              <a:rPr lang="en-US" altLang="zh-CN" dirty="0" smtClean="0"/>
              <a:t>runtime API</a:t>
            </a:r>
            <a:r>
              <a:rPr lang="zh-CN" altLang="en-US" dirty="0" smtClean="0"/>
              <a:t>、</a:t>
            </a:r>
            <a:r>
              <a:rPr lang="en-US" altLang="zh-CN" dirty="0" smtClean="0"/>
              <a:t>driver API</a:t>
            </a:r>
            <a:r>
              <a:rPr lang="zh-CN" altLang="en-US" dirty="0" smtClean="0"/>
              <a:t>用于支持</a:t>
            </a:r>
            <a:r>
              <a:rPr lang="en-US" altLang="zh-CN" dirty="0" smtClean="0"/>
              <a:t>driver API</a:t>
            </a:r>
            <a:r>
              <a:rPr lang="zh-CN" altLang="en-US" dirty="0" smtClean="0"/>
              <a:t>的必要文件</a:t>
            </a:r>
            <a:r>
              <a:rPr lang="en-US" altLang="zh-CN" dirty="0" smtClean="0"/>
              <a:t>(</a:t>
            </a:r>
            <a:r>
              <a:rPr lang="zh-CN" altLang="en-US" dirty="0" smtClean="0"/>
              <a:t>如</a:t>
            </a:r>
            <a:r>
              <a:rPr lang="en-US" altLang="zh-CN" dirty="0" smtClean="0"/>
              <a:t>libcuda.so)</a:t>
            </a:r>
            <a:r>
              <a:rPr lang="zh-CN" altLang="en-US" dirty="0" smtClean="0"/>
              <a:t>是由</a:t>
            </a:r>
            <a:r>
              <a:rPr lang="en-US" altLang="zh-CN" dirty="0" smtClean="0"/>
              <a:t>GPU driver installer</a:t>
            </a:r>
            <a:r>
              <a:rPr lang="zh-CN" altLang="en-US" dirty="0" smtClean="0"/>
              <a:t>安装的。用于支持</a:t>
            </a:r>
            <a:r>
              <a:rPr lang="en-US" altLang="zh-CN" dirty="0" smtClean="0"/>
              <a:t>runtime API</a:t>
            </a:r>
            <a:r>
              <a:rPr lang="zh-CN" altLang="en-US" dirty="0" smtClean="0"/>
              <a:t>的必要文件</a:t>
            </a:r>
            <a:r>
              <a:rPr lang="en-US" altLang="zh-CN" dirty="0" smtClean="0"/>
              <a:t>(</a:t>
            </a:r>
            <a:r>
              <a:rPr lang="zh-CN" altLang="en-US" dirty="0" smtClean="0"/>
              <a:t>如</a:t>
            </a:r>
            <a:r>
              <a:rPr lang="en-US" altLang="zh-CN" dirty="0" smtClean="0"/>
              <a:t>libcudart.so</a:t>
            </a:r>
            <a:r>
              <a:rPr lang="zh-CN" altLang="en-US" dirty="0" smtClean="0"/>
              <a:t>以及</a:t>
            </a:r>
            <a:r>
              <a:rPr lang="en-US" altLang="zh-CN" dirty="0" err="1" smtClean="0"/>
              <a:t>nvcc</a:t>
            </a:r>
            <a:r>
              <a:rPr lang="en-US" altLang="zh-CN" dirty="0" smtClean="0"/>
              <a:t>)</a:t>
            </a:r>
            <a:r>
              <a:rPr lang="zh-CN" altLang="en-US" dirty="0" smtClean="0"/>
              <a:t>是由</a:t>
            </a:r>
            <a:r>
              <a:rPr lang="en-US" altLang="zh-CN" dirty="0" smtClean="0"/>
              <a:t>CUDA Toolkit installer</a:t>
            </a:r>
            <a:r>
              <a:rPr lang="zh-CN" altLang="en-US" dirty="0" smtClean="0"/>
              <a:t>安装的。</a:t>
            </a:r>
            <a:r>
              <a:rPr lang="en-US" altLang="zh-CN" dirty="0" err="1" smtClean="0"/>
              <a:t>nvidia-smi</a:t>
            </a:r>
            <a:r>
              <a:rPr lang="zh-CN" altLang="en-US" dirty="0" smtClean="0"/>
              <a:t>属于</a:t>
            </a:r>
            <a:r>
              <a:rPr lang="en-US" altLang="zh-CN" dirty="0" smtClean="0"/>
              <a:t>driver API</a:t>
            </a:r>
            <a:r>
              <a:rPr lang="zh-CN" altLang="en-US" dirty="0" smtClean="0"/>
              <a:t>、</a:t>
            </a:r>
            <a:r>
              <a:rPr lang="en-US" altLang="zh-CN" dirty="0" err="1" smtClean="0"/>
              <a:t>nvcc</a:t>
            </a:r>
            <a:r>
              <a:rPr lang="zh-CN" altLang="en-US" dirty="0" smtClean="0"/>
              <a:t>属于</a:t>
            </a:r>
            <a:r>
              <a:rPr lang="en-US" altLang="zh-CN" dirty="0" smtClean="0"/>
              <a:t>runtime API</a:t>
            </a:r>
            <a:r>
              <a:rPr lang="zh-CN" altLang="en-US" dirty="0" smtClean="0"/>
              <a:t>。</a:t>
            </a:r>
            <a:r>
              <a:rPr lang="en-US" altLang="zh-CN" dirty="0" err="1" smtClean="0"/>
              <a:t>nvcc</a:t>
            </a:r>
            <a:r>
              <a:rPr lang="zh-CN" altLang="en-US" dirty="0" smtClean="0"/>
              <a:t>属于</a:t>
            </a:r>
            <a:r>
              <a:rPr lang="en-US" altLang="zh-CN" dirty="0" smtClean="0"/>
              <a:t>CUDA compiler-driver tool</a:t>
            </a:r>
            <a:r>
              <a:rPr lang="zh-CN" altLang="en-US" dirty="0" smtClean="0"/>
              <a:t>，只知道</a:t>
            </a:r>
            <a:r>
              <a:rPr lang="en-US" altLang="zh-CN" dirty="0" smtClean="0"/>
              <a:t>runtime API</a:t>
            </a:r>
            <a:r>
              <a:rPr lang="zh-CN" altLang="en-US" dirty="0" smtClean="0"/>
              <a:t>版本，甚至不知道是否安装了</a:t>
            </a:r>
            <a:r>
              <a:rPr lang="en-US" altLang="zh-CN" dirty="0" smtClean="0"/>
              <a:t>GPU driver</a:t>
            </a:r>
            <a:r>
              <a:rPr lang="zh-CN" altLang="en-US" dirty="0" smtClean="0"/>
              <a:t>。</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在之前检查显卡驱动的步骤中，我们以及安装了</a:t>
            </a:r>
            <a:r>
              <a:rPr lang="en-US" altLang="zh-CN" dirty="0" smtClean="0"/>
              <a:t>driver CUDA</a:t>
            </a:r>
            <a:r>
              <a:rPr lang="zh-CN" altLang="en-US" dirty="0" smtClean="0"/>
              <a:t>并使用指令</a:t>
            </a:r>
            <a:r>
              <a:rPr lang="en-US" altLang="zh-CN" dirty="0" err="1" smtClean="0"/>
              <a:t>nvidia-smi</a:t>
            </a:r>
            <a:r>
              <a:rPr lang="zh-CN" altLang="en-US" dirty="0" smtClean="0"/>
              <a:t>检查，下一步我们需要安装深度学习计算所需的</a:t>
            </a:r>
            <a:r>
              <a:rPr lang="en-US" altLang="zh-CN" dirty="0" smtClean="0"/>
              <a:t>runtime API</a:t>
            </a:r>
            <a:r>
              <a:rPr lang="zh-CN" altLang="en-US" dirty="0" smtClean="0"/>
              <a:t>。</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24738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smtClean="0">
                <a:solidFill>
                  <a:schemeClr val="tx1"/>
                </a:solidFill>
                <a:effectLst/>
                <a:latin typeface="+mn-lt"/>
                <a:ea typeface="+mn-ea"/>
                <a:cs typeface="+mn-cs"/>
              </a:rPr>
              <a:t>cuDNN</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CUDA Deep Neural Network library</a:t>
            </a:r>
            <a:r>
              <a:rPr lang="zh-CN" altLang="en-US" sz="1200" b="0" i="0" kern="1200" dirty="0" smtClean="0">
                <a:solidFill>
                  <a:schemeClr val="tx1"/>
                </a:solidFill>
                <a:effectLst/>
                <a:latin typeface="+mn-lt"/>
                <a:ea typeface="+mn-ea"/>
                <a:cs typeface="+mn-cs"/>
              </a:rPr>
              <a:t>）是</a:t>
            </a:r>
            <a:r>
              <a:rPr lang="en-US" altLang="zh-CN" sz="1200" b="0" i="0" kern="1200" dirty="0" smtClean="0">
                <a:solidFill>
                  <a:schemeClr val="tx1"/>
                </a:solidFill>
                <a:effectLst/>
                <a:latin typeface="+mn-lt"/>
                <a:ea typeface="+mn-ea"/>
                <a:cs typeface="+mn-cs"/>
              </a:rPr>
              <a:t>NVIDIA</a:t>
            </a:r>
            <a:r>
              <a:rPr lang="zh-CN" altLang="en-US" sz="1200" b="0" i="0" kern="1200" dirty="0" smtClean="0">
                <a:solidFill>
                  <a:schemeClr val="tx1"/>
                </a:solidFill>
                <a:effectLst/>
                <a:latin typeface="+mn-lt"/>
                <a:ea typeface="+mn-ea"/>
                <a:cs typeface="+mn-cs"/>
              </a:rPr>
              <a:t>打造的基于</a:t>
            </a:r>
            <a:r>
              <a:rPr lang="en-US" altLang="zh-CN" sz="1200" b="0" i="0" kern="1200" dirty="0" smtClean="0">
                <a:solidFill>
                  <a:schemeClr val="tx1"/>
                </a:solidFill>
                <a:effectLst/>
                <a:latin typeface="+mn-lt"/>
                <a:ea typeface="+mn-ea"/>
                <a:cs typeface="+mn-cs"/>
              </a:rPr>
              <a:t>CUDA</a:t>
            </a:r>
            <a:r>
              <a:rPr lang="zh-CN" altLang="en-US" sz="1200" b="0" i="0" kern="1200" dirty="0" smtClean="0">
                <a:solidFill>
                  <a:schemeClr val="tx1"/>
                </a:solidFill>
                <a:effectLst/>
                <a:latin typeface="+mn-lt"/>
                <a:ea typeface="+mn-ea"/>
                <a:cs typeface="+mn-cs"/>
              </a:rPr>
              <a:t>的深度学习</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加速库，用于深层神经网络的</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计算加速。它强调性能、易用性和低内存开销，可以集成到更高级别的机器学习框架中。</a:t>
            </a:r>
            <a:r>
              <a:rPr lang="en-US" altLang="zh-CN" sz="1200" b="0" i="0" kern="1200" dirty="0" err="1" smtClean="0">
                <a:solidFill>
                  <a:schemeClr val="tx1"/>
                </a:solidFill>
                <a:effectLst/>
                <a:latin typeface="+mn-lt"/>
                <a:ea typeface="+mn-ea"/>
                <a:cs typeface="+mn-cs"/>
              </a:rPr>
              <a:t>cuDNN</a:t>
            </a:r>
            <a:r>
              <a:rPr lang="zh-CN" altLang="en-US" sz="1200" b="0" i="0" kern="1200" dirty="0" smtClean="0">
                <a:solidFill>
                  <a:schemeClr val="tx1"/>
                </a:solidFill>
                <a:effectLst/>
                <a:latin typeface="+mn-lt"/>
                <a:ea typeface="+mn-ea"/>
                <a:cs typeface="+mn-cs"/>
              </a:rPr>
              <a:t>不会对</a:t>
            </a:r>
            <a:r>
              <a:rPr lang="en-US" altLang="zh-CN" sz="1200" b="0" i="0" kern="1200" dirty="0" smtClean="0">
                <a:solidFill>
                  <a:schemeClr val="tx1"/>
                </a:solidFill>
                <a:effectLst/>
                <a:latin typeface="+mn-lt"/>
                <a:ea typeface="+mn-ea"/>
                <a:cs typeface="+mn-cs"/>
              </a:rPr>
              <a:t>CUDA</a:t>
            </a:r>
            <a:r>
              <a:rPr lang="zh-CN" altLang="en-US" sz="1200" b="0" i="0" kern="1200" dirty="0" smtClean="0">
                <a:solidFill>
                  <a:schemeClr val="tx1"/>
                </a:solidFill>
                <a:effectLst/>
                <a:latin typeface="+mn-lt"/>
                <a:ea typeface="+mn-ea"/>
                <a:cs typeface="+mn-cs"/>
              </a:rPr>
              <a:t>造成影响，如果你要用</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训练模型，</a:t>
            </a:r>
            <a:r>
              <a:rPr lang="en-US" altLang="zh-CN" sz="1200" b="0" i="0" kern="1200" dirty="0" err="1" smtClean="0">
                <a:solidFill>
                  <a:schemeClr val="tx1"/>
                </a:solidFill>
                <a:effectLst/>
                <a:latin typeface="+mn-lt"/>
                <a:ea typeface="+mn-ea"/>
                <a:cs typeface="+mn-cs"/>
              </a:rPr>
              <a:t>cuDNN</a:t>
            </a:r>
            <a:r>
              <a:rPr lang="zh-CN" altLang="en-US" sz="1200" b="0" i="0" kern="1200" dirty="0" smtClean="0">
                <a:solidFill>
                  <a:schemeClr val="tx1"/>
                </a:solidFill>
                <a:effectLst/>
                <a:latin typeface="+mn-lt"/>
                <a:ea typeface="+mn-ea"/>
                <a:cs typeface="+mn-cs"/>
              </a:rPr>
              <a:t>不是必须的，但是一般会采用这个加速库。</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8024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cuda</a:t>
            </a:r>
            <a:r>
              <a:rPr lang="en-US" altLang="zh-CN" sz="1200" kern="1200" dirty="0" smtClean="0">
                <a:solidFill>
                  <a:schemeClr val="tx1"/>
                </a:solidFill>
                <a:effectLst/>
                <a:latin typeface="+mn-lt"/>
                <a:ea typeface="+mn-ea"/>
                <a:cs typeface="+mn-cs"/>
              </a:rPr>
              <a:t>/bin</a:t>
            </a:r>
            <a:r>
              <a:rPr lang="zh-CN" altLang="zh-CN" sz="1200" kern="1200" dirty="0" smtClean="0">
                <a:solidFill>
                  <a:schemeClr val="tx1"/>
                </a:solidFill>
                <a:effectLst/>
                <a:latin typeface="+mn-lt"/>
                <a:ea typeface="+mn-ea"/>
                <a:cs typeface="+mn-cs"/>
              </a:rPr>
              <a:t>目录下</a:t>
            </a:r>
            <a:r>
              <a:rPr lang="en-US" altLang="zh-CN" sz="1200" kern="1200" dirty="0" smtClean="0">
                <a:solidFill>
                  <a:schemeClr val="tx1"/>
                </a:solidFill>
                <a:effectLst/>
                <a:latin typeface="+mn-lt"/>
                <a:ea typeface="+mn-ea"/>
                <a:cs typeface="+mn-cs"/>
              </a:rPr>
              <a:t>7</a:t>
            </a:r>
            <a:r>
              <a:rPr lang="zh-CN" altLang="zh-CN" sz="1200" kern="1200" dirty="0" smtClean="0">
                <a:solidFill>
                  <a:schemeClr val="tx1"/>
                </a:solidFill>
                <a:effectLst/>
                <a:latin typeface="+mn-lt"/>
                <a:ea typeface="+mn-ea"/>
                <a:cs typeface="+mn-cs"/>
              </a:rPr>
              <a:t>个项目复制到</a:t>
            </a:r>
            <a:r>
              <a:rPr lang="en-US" altLang="zh-CN" sz="1200" kern="1200" dirty="0" smtClean="0">
                <a:solidFill>
                  <a:schemeClr val="tx1"/>
                </a:solidFill>
                <a:effectLst/>
                <a:latin typeface="+mn-lt"/>
                <a:ea typeface="+mn-ea"/>
                <a:cs typeface="+mn-cs"/>
              </a:rPr>
              <a:t>NVIDIA GPU Computing Toolkit/CUDA/v10.1/bin</a:t>
            </a:r>
            <a:r>
              <a:rPr lang="zh-CN" altLang="zh-CN" sz="1200" kern="1200" dirty="0" smtClean="0">
                <a:solidFill>
                  <a:schemeClr val="tx1"/>
                </a:solidFill>
                <a:effectLst/>
                <a:latin typeface="+mn-lt"/>
                <a:ea typeface="+mn-ea"/>
                <a:cs typeface="+mn-cs"/>
              </a:rPr>
              <a:t>目录下；</a:t>
            </a:r>
            <a:r>
              <a:rPr lang="en-US" altLang="zh-CN" sz="1200" kern="1200" dirty="0" err="1" smtClean="0">
                <a:solidFill>
                  <a:schemeClr val="tx1"/>
                </a:solidFill>
                <a:effectLst/>
                <a:latin typeface="+mn-lt"/>
                <a:ea typeface="+mn-ea"/>
                <a:cs typeface="+mn-cs"/>
              </a:rPr>
              <a:t>cuda</a:t>
            </a:r>
            <a:r>
              <a:rPr lang="en-US" altLang="zh-CN" sz="1200" kern="1200" dirty="0" smtClean="0">
                <a:solidFill>
                  <a:schemeClr val="tx1"/>
                </a:solidFill>
                <a:effectLst/>
                <a:latin typeface="+mn-lt"/>
                <a:ea typeface="+mn-ea"/>
                <a:cs typeface="+mn-cs"/>
              </a:rPr>
              <a:t>/include</a:t>
            </a:r>
            <a:r>
              <a:rPr lang="zh-CN" altLang="zh-CN" sz="1200" kern="1200" dirty="0" smtClean="0">
                <a:solidFill>
                  <a:schemeClr val="tx1"/>
                </a:solidFill>
                <a:effectLst/>
                <a:latin typeface="+mn-lt"/>
                <a:ea typeface="+mn-ea"/>
                <a:cs typeface="+mn-cs"/>
              </a:rPr>
              <a:t>目录下</a:t>
            </a:r>
            <a:r>
              <a:rPr lang="en-US" altLang="zh-CN" sz="1200" kern="1200" dirty="0" smtClean="0">
                <a:solidFill>
                  <a:schemeClr val="tx1"/>
                </a:solidFill>
                <a:effectLst/>
                <a:latin typeface="+mn-lt"/>
                <a:ea typeface="+mn-ea"/>
                <a:cs typeface="+mn-cs"/>
              </a:rPr>
              <a:t>9</a:t>
            </a:r>
            <a:r>
              <a:rPr lang="zh-CN" altLang="zh-CN" sz="1200" kern="1200" dirty="0" smtClean="0">
                <a:solidFill>
                  <a:schemeClr val="tx1"/>
                </a:solidFill>
                <a:effectLst/>
                <a:latin typeface="+mn-lt"/>
                <a:ea typeface="+mn-ea"/>
                <a:cs typeface="+mn-cs"/>
              </a:rPr>
              <a:t>个项目复制到</a:t>
            </a:r>
            <a:r>
              <a:rPr lang="en-US" altLang="zh-CN" sz="1200" kern="1200" dirty="0" smtClean="0">
                <a:solidFill>
                  <a:schemeClr val="tx1"/>
                </a:solidFill>
                <a:effectLst/>
                <a:latin typeface="+mn-lt"/>
                <a:ea typeface="+mn-ea"/>
                <a:cs typeface="+mn-cs"/>
              </a:rPr>
              <a:t>NVIDIA GPU Computing Toolkit/CUDA/v10.1/include</a:t>
            </a:r>
            <a:r>
              <a:rPr lang="zh-CN" altLang="zh-CN" sz="1200" kern="1200" dirty="0" smtClean="0">
                <a:solidFill>
                  <a:schemeClr val="tx1"/>
                </a:solidFill>
                <a:effectLst/>
                <a:latin typeface="+mn-lt"/>
                <a:ea typeface="+mn-ea"/>
                <a:cs typeface="+mn-cs"/>
              </a:rPr>
              <a:t>目录下；</a:t>
            </a:r>
            <a:r>
              <a:rPr lang="en-US" altLang="zh-CN" sz="1200" kern="1200" dirty="0" err="1" smtClean="0">
                <a:solidFill>
                  <a:schemeClr val="tx1"/>
                </a:solidFill>
                <a:effectLst/>
                <a:latin typeface="+mn-lt"/>
                <a:ea typeface="+mn-ea"/>
                <a:cs typeface="+mn-cs"/>
              </a:rPr>
              <a:t>cuda</a:t>
            </a:r>
            <a:r>
              <a:rPr lang="en-US" altLang="zh-CN" sz="1200" kern="1200" dirty="0" smtClean="0">
                <a:solidFill>
                  <a:schemeClr val="tx1"/>
                </a:solidFill>
                <a:effectLst/>
                <a:latin typeface="+mn-lt"/>
                <a:ea typeface="+mn-ea"/>
                <a:cs typeface="+mn-cs"/>
              </a:rPr>
              <a:t>/lib/</a:t>
            </a:r>
            <a:r>
              <a:rPr lang="en-US" altLang="zh-CN" sz="1200" b="1" kern="1200" dirty="0" smtClean="0">
                <a:solidFill>
                  <a:schemeClr val="tx1"/>
                </a:solidFill>
                <a:effectLst/>
                <a:latin typeface="+mn-lt"/>
                <a:ea typeface="+mn-ea"/>
                <a:cs typeface="+mn-cs"/>
              </a:rPr>
              <a:t>x64</a:t>
            </a:r>
            <a:r>
              <a:rPr lang="zh-CN" altLang="zh-CN" sz="1200" kern="1200" dirty="0" smtClean="0">
                <a:solidFill>
                  <a:schemeClr val="tx1"/>
                </a:solidFill>
                <a:effectLst/>
                <a:latin typeface="+mn-lt"/>
                <a:ea typeface="+mn-ea"/>
                <a:cs typeface="+mn-cs"/>
              </a:rPr>
              <a:t>目录下</a:t>
            </a:r>
            <a:r>
              <a:rPr lang="en-US" altLang="zh-CN" sz="1200" kern="1200" dirty="0" smtClean="0">
                <a:solidFill>
                  <a:schemeClr val="tx1"/>
                </a:solidFill>
                <a:effectLst/>
                <a:latin typeface="+mn-lt"/>
                <a:ea typeface="+mn-ea"/>
                <a:cs typeface="+mn-cs"/>
              </a:rPr>
              <a:t>14</a:t>
            </a:r>
            <a:r>
              <a:rPr lang="zh-CN" altLang="zh-CN" sz="1200" kern="1200" dirty="0" smtClean="0">
                <a:solidFill>
                  <a:schemeClr val="tx1"/>
                </a:solidFill>
                <a:effectLst/>
                <a:latin typeface="+mn-lt"/>
                <a:ea typeface="+mn-ea"/>
                <a:cs typeface="+mn-cs"/>
              </a:rPr>
              <a:t>个项目复制到</a:t>
            </a:r>
            <a:r>
              <a:rPr lang="en-US" altLang="zh-CN" sz="1200" kern="1200" dirty="0" smtClean="0">
                <a:solidFill>
                  <a:schemeClr val="tx1"/>
                </a:solidFill>
                <a:effectLst/>
                <a:latin typeface="+mn-lt"/>
                <a:ea typeface="+mn-ea"/>
                <a:cs typeface="+mn-cs"/>
              </a:rPr>
              <a:t>NVIDIA GPU Computing Toolkit/CUDA/v10.1/lib/</a:t>
            </a:r>
            <a:r>
              <a:rPr lang="en-US" altLang="zh-CN" sz="1200" b="1" kern="1200" dirty="0" smtClean="0">
                <a:solidFill>
                  <a:schemeClr val="tx1"/>
                </a:solidFill>
                <a:effectLst/>
                <a:latin typeface="+mn-lt"/>
                <a:ea typeface="+mn-ea"/>
                <a:cs typeface="+mn-cs"/>
              </a:rPr>
              <a:t>x64</a:t>
            </a:r>
            <a:r>
              <a:rPr lang="zh-CN" altLang="zh-CN" sz="1200" kern="1200" dirty="0" smtClean="0">
                <a:solidFill>
                  <a:schemeClr val="tx1"/>
                </a:solidFill>
                <a:effectLst/>
                <a:latin typeface="+mn-lt"/>
                <a:ea typeface="+mn-ea"/>
                <a:cs typeface="+mn-cs"/>
              </a:rPr>
              <a:t>目录下）</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41818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Pytorch</a:t>
            </a:r>
            <a:r>
              <a:rPr lang="zh-CN" altLang="en-US" dirty="0" smtClean="0"/>
              <a:t>是一个常用的深度学习框架，具体介绍在之前课件中有所提及，这里不再赘述。</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1141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目前我们已经可以使用</a:t>
            </a:r>
            <a:r>
              <a:rPr lang="en-US" altLang="zh-CN" dirty="0" smtClean="0"/>
              <a:t>CPU</a:t>
            </a:r>
            <a:r>
              <a:rPr lang="zh-CN" altLang="en-US" dirty="0" smtClean="0"/>
              <a:t>的</a:t>
            </a:r>
            <a:r>
              <a:rPr lang="en-US" altLang="zh-CN" dirty="0" err="1" smtClean="0"/>
              <a:t>Pytorch</a:t>
            </a:r>
            <a:r>
              <a:rPr lang="zh-CN" altLang="en-US" dirty="0" smtClean="0"/>
              <a:t>框架或</a:t>
            </a:r>
            <a:r>
              <a:rPr lang="en-US" altLang="zh-CN" dirty="0" smtClean="0"/>
              <a:t>GPU</a:t>
            </a:r>
            <a:r>
              <a:rPr lang="zh-CN" altLang="en-US" dirty="0" smtClean="0"/>
              <a:t>与</a:t>
            </a:r>
            <a:r>
              <a:rPr lang="en-US" altLang="zh-CN" dirty="0" err="1" smtClean="0"/>
              <a:t>Pytorch</a:t>
            </a:r>
            <a:r>
              <a:rPr lang="zh-CN" altLang="en-US" dirty="0" smtClean="0"/>
              <a:t>框架进行深度学习计算了。</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72267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hyperlink" Target="https://pytorch.org/get-started/previous-versions/"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5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nvidia.cn/Download/index.aspx?lang=cn"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developer.nvidia.com/cuda-toolkit-archive" TargetMode="Externa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diagramLayout" Target="../diagrams/layout7.xml"/><Relationship Id="rId7" Type="http://schemas.openxmlformats.org/officeDocument/2006/relationships/diagramData" Target="../diagrams/data8.xml"/><Relationship Id="rId2" Type="http://schemas.openxmlformats.org/officeDocument/2006/relationships/diagramData" Target="../diagrams/data7.xml"/><Relationship Id="rId1" Type="http://schemas.openxmlformats.org/officeDocument/2006/relationships/slideLayout" Target="../slideLayouts/slideLayout3.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developer.nvidia.cn/zh-cn/cudnn" TargetMode="Externa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9.xml"/><Relationship Id="rId7" Type="http://schemas.openxmlformats.org/officeDocument/2006/relationships/diagramData" Target="../diagrams/data10.xml"/><Relationship Id="rId2" Type="http://schemas.openxmlformats.org/officeDocument/2006/relationships/diagramData" Target="../diagrams/data9.xml"/><Relationship Id="rId1" Type="http://schemas.openxmlformats.org/officeDocument/2006/relationships/slideLayout" Target="../slideLayouts/slideLayout3.xml"/><Relationship Id="rId6" Type="http://schemas.microsoft.com/office/2007/relationships/diagramDrawing" Target="../diagrams/drawing9.xml"/><Relationship Id="rId11" Type="http://schemas.microsoft.com/office/2007/relationships/diagramDrawing" Target="../diagrams/drawing10.xml"/><Relationship Id="rId5" Type="http://schemas.openxmlformats.org/officeDocument/2006/relationships/diagramColors" Target="../diagrams/colors9.xml"/><Relationship Id="rId10" Type="http://schemas.openxmlformats.org/officeDocument/2006/relationships/diagramColors" Target="../diagrams/colors10.xml"/><Relationship Id="rId4" Type="http://schemas.openxmlformats.org/officeDocument/2006/relationships/diagramQuickStyle" Target="../diagrams/quickStyle9.xml"/><Relationship Id="rId9" Type="http://schemas.openxmlformats.org/officeDocument/2006/relationships/diagramQuickStyle" Target="../diagrams/quickStyle10.xml"/></Relationships>
</file>

<file path=ppt/slides/_rels/slide52.xml.rels><?xml version="1.0" encoding="UTF-8" standalone="yes"?>
<Relationships xmlns="http://schemas.openxmlformats.org/package/2006/relationships"><Relationship Id="rId3" Type="http://schemas.openxmlformats.org/officeDocument/2006/relationships/hyperlink" Target="https://pytorch.org/get-started/previous-versions/"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developer.nvidia.com/cuda-gpus" TargetMode="Externa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实验：模型</a:t>
            </a:r>
            <a:r>
              <a:rPr lang="zh-CN" altLang="en-US" dirty="0" smtClean="0"/>
              <a:t>编译的准备</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p:txBody>
          <a:bodyPr/>
          <a:lstStyle/>
          <a:p>
            <a:r>
              <a:rPr lang="zh-CN" altLang="en-US" dirty="0" smtClean="0"/>
              <a:t>目标检测的实现</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在</a:t>
            </a:r>
            <a:r>
              <a:rPr kumimoji="1" lang="en-US" altLang="zh-CN" dirty="0" smtClean="0">
                <a:latin typeface="微软雅黑" panose="020B0503020204020204" pitchFamily="34" charset="-122"/>
                <a:ea typeface="微软雅黑" panose="020B0503020204020204" pitchFamily="34" charset="-122"/>
              </a:rPr>
              <a:t>Windows</a:t>
            </a:r>
            <a:r>
              <a:rPr kumimoji="1" lang="zh-CN" altLang="en-US" dirty="0" smtClean="0">
                <a:latin typeface="微软雅黑" panose="020B0503020204020204" pitchFamily="34" charset="-122"/>
                <a:ea typeface="微软雅黑" panose="020B0503020204020204" pitchFamily="34" charset="-122"/>
              </a:rPr>
              <a:t>系统上配置深度学习环境</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使用</a:t>
            </a:r>
            <a:r>
              <a:rPr kumimoji="1" lang="en-US" altLang="zh-CN" dirty="0" err="1" smtClean="0">
                <a:latin typeface="微软雅黑" panose="020B0503020204020204" pitchFamily="34" charset="-122"/>
                <a:ea typeface="微软雅黑" panose="020B0503020204020204" pitchFamily="34" charset="-122"/>
              </a:rPr>
              <a:t>Pytorch</a:t>
            </a:r>
            <a:r>
              <a:rPr kumimoji="1" lang="zh-CN" altLang="en-US" dirty="0" smtClean="0">
                <a:latin typeface="微软雅黑" panose="020B0503020204020204" pitchFamily="34" charset="-122"/>
                <a:ea typeface="微软雅黑" panose="020B0503020204020204" pitchFamily="34" charset="-122"/>
              </a:rPr>
              <a:t>框架</a:t>
            </a:r>
            <a:r>
              <a:rPr kumimoji="1" lang="zh-CN" altLang="en-US" dirty="0">
                <a:latin typeface="微软雅黑" panose="020B0503020204020204" pitchFamily="34" charset="-122"/>
                <a:ea typeface="微软雅黑" panose="020B0503020204020204" pitchFamily="34" charset="-122"/>
              </a:rPr>
              <a:t>和</a:t>
            </a:r>
            <a:r>
              <a:rPr kumimoji="1" lang="en-US" altLang="zh-CN" dirty="0" err="1" smtClean="0">
                <a:latin typeface="微软雅黑" panose="020B0503020204020204" pitchFamily="34" charset="-122"/>
                <a:ea typeface="微软雅黑" panose="020B0503020204020204" pitchFamily="34" charset="-122"/>
              </a:rPr>
              <a:t>Nvidia</a:t>
            </a:r>
            <a:r>
              <a:rPr kumimoji="1" lang="en-US" altLang="zh-CN" dirty="0" smtClean="0">
                <a:latin typeface="微软雅黑" panose="020B0503020204020204" pitchFamily="34" charset="-122"/>
                <a:ea typeface="微软雅黑" panose="020B0503020204020204" pitchFamily="34" charset="-122"/>
              </a:rPr>
              <a:t> GPU</a:t>
            </a:r>
            <a:r>
              <a:rPr kumimoji="1" lang="zh-CN" altLang="en-US" dirty="0" smtClean="0">
                <a:latin typeface="微软雅黑" panose="020B0503020204020204" pitchFamily="34" charset="-122"/>
                <a:ea typeface="微软雅黑" panose="020B0503020204020204" pitchFamily="34" charset="-122"/>
              </a:rPr>
              <a:t>（可选），为后续训练模型做准备</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smtClean="0"/>
              <a:t>实验环境</a:t>
            </a:r>
            <a:endParaRPr lang="en-US" altLang="zh-CN" dirty="0" smtClean="0"/>
          </a:p>
          <a:p>
            <a:pPr>
              <a:lnSpc>
                <a:spcPct val="125000"/>
              </a:lnSpc>
              <a:buFont typeface="+mj-lt"/>
              <a:buAutoNum type="arabicPeriod"/>
            </a:pPr>
            <a:r>
              <a:rPr lang="zh-CN" altLang="en-US" dirty="0" smtClean="0"/>
              <a:t>实验步骤</a:t>
            </a:r>
            <a:endParaRPr lang="en-US" altLang="zh-CN" dirty="0" smtClean="0"/>
          </a:p>
          <a:p>
            <a:pPr>
              <a:lnSpc>
                <a:spcPct val="125000"/>
              </a:lnSpc>
              <a:buFont typeface="+mj-lt"/>
              <a:buAutoNum type="arabicPeriod"/>
            </a:pPr>
            <a:r>
              <a:rPr lang="zh-CN" altLang="en-US" dirty="0"/>
              <a:t>注意</a:t>
            </a:r>
            <a:r>
              <a:rPr lang="zh-CN" altLang="en-US" dirty="0" smtClean="0"/>
              <a:t>事项</a:t>
            </a:r>
            <a:endParaRPr lang="en-US" altLang="zh-CN" dirty="0" smtClean="0"/>
          </a:p>
          <a:p>
            <a:pPr>
              <a:lnSpc>
                <a:spcPct val="125000"/>
              </a:lnSpc>
              <a:buFont typeface="+mj-lt"/>
              <a:buAutoNum type="arabicPeriod"/>
            </a:pP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实验介绍</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indent="-342900">
              <a:lnSpc>
                <a:spcPct val="125000"/>
              </a:lnSpc>
              <a:buFont typeface="+mj-lt"/>
              <a:buAutoNum type="arabicPeriod"/>
            </a:pPr>
            <a:r>
              <a:rPr lang="zh-CN" altLang="en-US" dirty="0" smtClean="0"/>
              <a:t>在</a:t>
            </a:r>
            <a:r>
              <a:rPr lang="en-US" altLang="zh-CN" dirty="0" smtClean="0"/>
              <a:t>Windows</a:t>
            </a:r>
            <a:r>
              <a:rPr lang="zh-CN" altLang="en-US" dirty="0" smtClean="0"/>
              <a:t>系统上安装</a:t>
            </a:r>
            <a:r>
              <a:rPr lang="en-US" altLang="zh-CN" dirty="0" err="1" smtClean="0"/>
              <a:t>Pytorch</a:t>
            </a:r>
            <a:r>
              <a:rPr lang="zh-CN" altLang="en-US" dirty="0" smtClean="0"/>
              <a:t>框架（</a:t>
            </a:r>
            <a:r>
              <a:rPr lang="en-US" altLang="zh-CN" dirty="0" smtClean="0"/>
              <a:t>CPU</a:t>
            </a:r>
            <a:r>
              <a:rPr lang="zh-CN" altLang="en-US" dirty="0" smtClean="0"/>
              <a:t>版本或</a:t>
            </a:r>
            <a:r>
              <a:rPr lang="en-US" altLang="zh-CN" dirty="0" smtClean="0"/>
              <a:t>GPU</a:t>
            </a:r>
            <a:r>
              <a:rPr lang="zh-CN" altLang="en-US" dirty="0" smtClean="0"/>
              <a:t>版本）</a:t>
            </a:r>
            <a:endParaRPr lang="en-US" altLang="zh-CN" dirty="0" smtClean="0"/>
          </a:p>
          <a:p>
            <a:pPr marL="342900" indent="-342900">
              <a:buFont typeface="+mj-lt"/>
              <a:buAutoNum type="arabicPeriod"/>
            </a:pPr>
            <a:r>
              <a:rPr lang="zh-CN" altLang="en-US" dirty="0" smtClean="0"/>
              <a:t>配置</a:t>
            </a:r>
            <a:r>
              <a:rPr lang="en-US" altLang="zh-CN" dirty="0" smtClean="0"/>
              <a:t>CUDA </a:t>
            </a:r>
            <a:r>
              <a:rPr lang="en-US" altLang="zh-CN" dirty="0"/>
              <a:t>toolkit </a:t>
            </a:r>
            <a:r>
              <a:rPr lang="zh-CN" altLang="en-US" dirty="0" smtClean="0"/>
              <a:t>、</a:t>
            </a:r>
            <a:r>
              <a:rPr lang="en-US" altLang="zh-CN" dirty="0" err="1" smtClean="0"/>
              <a:t>cuDNN</a:t>
            </a:r>
            <a:r>
              <a:rPr lang="zh-CN" altLang="en-US" dirty="0" smtClean="0"/>
              <a:t>环境，利用</a:t>
            </a:r>
            <a:r>
              <a:rPr lang="en-US" altLang="zh-CN" dirty="0" smtClean="0"/>
              <a:t>GPU</a:t>
            </a:r>
            <a:r>
              <a:rPr lang="zh-CN" altLang="en-US" dirty="0" smtClean="0"/>
              <a:t>进行深度学习计算（</a:t>
            </a:r>
            <a:r>
              <a:rPr lang="en-US" altLang="zh-CN" dirty="0" smtClean="0"/>
              <a:t>GPU</a:t>
            </a:r>
            <a:r>
              <a:rPr lang="zh-CN" altLang="en-US" dirty="0" smtClean="0"/>
              <a:t>版本）</a:t>
            </a:r>
            <a:endParaRPr lang="zh-CN" altLang="en-US" dirty="0"/>
          </a:p>
        </p:txBody>
      </p:sp>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实验环境</a:t>
            </a:r>
            <a:endParaRPr lang="zh-CN" altLang="en-US" dirty="0"/>
          </a:p>
        </p:txBody>
      </p:sp>
    </p:spTree>
    <p:extLst>
      <p:ext uri="{BB962C8B-B14F-4D97-AF65-F5344CB8AC3E}">
        <p14:creationId xmlns:p14="http://schemas.microsoft.com/office/powerpoint/2010/main" val="3172778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lvl="0"/>
            <a:r>
              <a:rPr lang="zh-CN" altLang="zh-CN" dirty="0"/>
              <a:t>运行</a:t>
            </a:r>
            <a:r>
              <a:rPr lang="en-US" altLang="zh-CN" dirty="0"/>
              <a:t>Windows</a:t>
            </a:r>
            <a:r>
              <a:rPr lang="zh-CN" altLang="zh-CN" dirty="0"/>
              <a:t>系统的</a:t>
            </a:r>
            <a:r>
              <a:rPr lang="en-US" altLang="zh-CN" dirty="0"/>
              <a:t>PC</a:t>
            </a:r>
            <a:r>
              <a:rPr lang="zh-CN" altLang="zh-CN" dirty="0"/>
              <a:t>机一台，其中包含：</a:t>
            </a:r>
          </a:p>
          <a:p>
            <a:pPr lvl="1"/>
            <a:r>
              <a:rPr lang="en-US" altLang="zh-CN" dirty="0"/>
              <a:t>Python</a:t>
            </a:r>
            <a:r>
              <a:rPr lang="zh-CN" altLang="zh-CN" dirty="0"/>
              <a:t>，版本</a:t>
            </a:r>
            <a:r>
              <a:rPr lang="en-US" altLang="zh-CN" dirty="0"/>
              <a:t>3.6.13</a:t>
            </a:r>
            <a:endParaRPr lang="zh-CN" altLang="zh-CN" dirty="0"/>
          </a:p>
          <a:p>
            <a:pPr lvl="1"/>
            <a:endParaRPr lang="zh-CN" altLang="en-US" dirty="0"/>
          </a:p>
        </p:txBody>
      </p:sp>
    </p:spTree>
    <p:extLst>
      <p:ext uri="{BB962C8B-B14F-4D97-AF65-F5344CB8AC3E}">
        <p14:creationId xmlns:p14="http://schemas.microsoft.com/office/powerpoint/2010/main" val="335341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2305384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r>
              <a:rPr lang="en-US" altLang="zh-CN" dirty="0"/>
              <a:t>CPU</a:t>
            </a:r>
            <a:r>
              <a:rPr lang="zh-CN" altLang="zh-CN" dirty="0"/>
              <a:t>版本安装</a:t>
            </a:r>
            <a:r>
              <a:rPr lang="zh-CN" altLang="zh-CN" dirty="0" smtClean="0"/>
              <a:t>步骤</a:t>
            </a:r>
            <a:endParaRPr lang="en-US" altLang="zh-CN" dirty="0" smtClean="0"/>
          </a:p>
          <a:p>
            <a:pPr lvl="1"/>
            <a:r>
              <a:rPr lang="zh-CN" altLang="zh-CN" dirty="0"/>
              <a:t>安装</a:t>
            </a:r>
            <a:r>
              <a:rPr lang="en-US" altLang="zh-CN" dirty="0" err="1"/>
              <a:t>Pytorch</a:t>
            </a:r>
            <a:r>
              <a:rPr lang="zh-CN" altLang="zh-CN" dirty="0"/>
              <a:t>（</a:t>
            </a:r>
            <a:r>
              <a:rPr lang="en-US" altLang="zh-CN" dirty="0"/>
              <a:t>CPU</a:t>
            </a:r>
            <a:r>
              <a:rPr lang="zh-CN" altLang="zh-CN" dirty="0"/>
              <a:t>版本</a:t>
            </a:r>
            <a:r>
              <a:rPr lang="zh-CN" altLang="zh-CN" dirty="0" smtClean="0"/>
              <a:t>）</a:t>
            </a:r>
            <a:endParaRPr lang="en-US" altLang="zh-CN" dirty="0" smtClean="0"/>
          </a:p>
          <a:p>
            <a:r>
              <a:rPr lang="en-US" altLang="zh-CN" dirty="0"/>
              <a:t>GPU</a:t>
            </a:r>
            <a:r>
              <a:rPr lang="zh-CN" altLang="zh-CN" dirty="0"/>
              <a:t>版本安装步骤</a:t>
            </a:r>
          </a:p>
          <a:p>
            <a:pPr lvl="1"/>
            <a:r>
              <a:rPr lang="zh-CN" altLang="en-US" dirty="0" smtClean="0"/>
              <a:t>检查显卡驱动</a:t>
            </a:r>
            <a:endParaRPr lang="en-US" altLang="zh-CN" dirty="0" smtClean="0"/>
          </a:p>
          <a:p>
            <a:pPr lvl="1"/>
            <a:r>
              <a:rPr lang="zh-CN" altLang="en-US" dirty="0" smtClean="0"/>
              <a:t>安装</a:t>
            </a:r>
            <a:r>
              <a:rPr lang="en-US" altLang="zh-CN" dirty="0" smtClean="0"/>
              <a:t>CUDA toolkit</a:t>
            </a:r>
          </a:p>
          <a:p>
            <a:pPr lvl="1"/>
            <a:r>
              <a:rPr lang="zh-CN" altLang="en-US" dirty="0" smtClean="0"/>
              <a:t>安装</a:t>
            </a:r>
            <a:r>
              <a:rPr lang="en-US" altLang="zh-CN" dirty="0" err="1" smtClean="0"/>
              <a:t>cuDNN</a:t>
            </a:r>
            <a:endParaRPr lang="en-US" altLang="zh-CN" dirty="0" smtClean="0"/>
          </a:p>
          <a:p>
            <a:pPr lvl="1"/>
            <a:r>
              <a:rPr lang="zh-CN" altLang="en-US" dirty="0" smtClean="0"/>
              <a:t>安装</a:t>
            </a:r>
            <a:r>
              <a:rPr lang="en-US" altLang="zh-CN" dirty="0" err="1" smtClean="0"/>
              <a:t>Pytorch</a:t>
            </a:r>
            <a:r>
              <a:rPr lang="zh-CN" altLang="en-US" dirty="0" smtClean="0"/>
              <a:t>（</a:t>
            </a:r>
            <a:r>
              <a:rPr lang="en-US" altLang="zh-CN" dirty="0" smtClean="0"/>
              <a:t>GPU</a:t>
            </a:r>
            <a:r>
              <a:rPr lang="zh-CN" altLang="en-US" dirty="0" smtClean="0"/>
              <a:t>版本）</a:t>
            </a:r>
            <a:endParaRPr lang="en-US" altLang="zh-CN" dirty="0" smtClean="0"/>
          </a:p>
          <a:p>
            <a:endParaRPr lang="en-US" altLang="zh-CN" dirty="0"/>
          </a:p>
          <a:p>
            <a:pPr>
              <a:lnSpc>
                <a:spcPct val="125000"/>
              </a:lnSpc>
            </a:pPr>
            <a:endParaRPr lang="zh-CN" altLang="en-US" dirty="0"/>
          </a:p>
        </p:txBody>
      </p:sp>
    </p:spTree>
    <p:extLst>
      <p:ext uri="{BB962C8B-B14F-4D97-AF65-F5344CB8AC3E}">
        <p14:creationId xmlns:p14="http://schemas.microsoft.com/office/powerpoint/2010/main" val="2880115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r>
              <a:rPr lang="en-US" altLang="zh-CN" dirty="0" smtClean="0"/>
              <a:t>CPU</a:t>
            </a:r>
            <a:r>
              <a:rPr lang="zh-CN" altLang="en-US" dirty="0" smtClean="0"/>
              <a:t>版本：</a:t>
            </a:r>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GPU</a:t>
            </a:r>
            <a:r>
              <a:rPr lang="zh-CN" altLang="en-US" dirty="0" smtClean="0"/>
              <a:t>版本：</a:t>
            </a:r>
            <a:endParaRPr lang="zh-CN" altLang="en-US" dirty="0"/>
          </a:p>
        </p:txBody>
      </p:sp>
      <p:graphicFrame>
        <p:nvGraphicFramePr>
          <p:cNvPr id="4" name="图示 3"/>
          <p:cNvGraphicFramePr/>
          <p:nvPr>
            <p:extLst>
              <p:ext uri="{D42A27DB-BD31-4B8C-83A1-F6EECF244321}">
                <p14:modId xmlns:p14="http://schemas.microsoft.com/office/powerpoint/2010/main" val="3724216319"/>
              </p:ext>
            </p:extLst>
          </p:nvPr>
        </p:nvGraphicFramePr>
        <p:xfrm>
          <a:off x="669925" y="4690583"/>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图示 4"/>
          <p:cNvGraphicFramePr/>
          <p:nvPr>
            <p:extLst>
              <p:ext uri="{D42A27DB-BD31-4B8C-83A1-F6EECF244321}">
                <p14:modId xmlns:p14="http://schemas.microsoft.com/office/powerpoint/2010/main" val="4282122860"/>
              </p:ext>
            </p:extLst>
          </p:nvPr>
        </p:nvGraphicFramePr>
        <p:xfrm>
          <a:off x="669925" y="1991141"/>
          <a:ext cx="10850563" cy="5400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5401356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安装</a:t>
            </a:r>
            <a:r>
              <a:rPr lang="en-US" altLang="zh-CN" dirty="0" err="1"/>
              <a:t>Pytorch</a:t>
            </a:r>
            <a:r>
              <a:rPr lang="en-US" altLang="zh-CN" dirty="0"/>
              <a:t>(CPU</a:t>
            </a:r>
            <a:r>
              <a:rPr lang="zh-CN" altLang="en-US" dirty="0"/>
              <a:t>版本</a:t>
            </a:r>
            <a:r>
              <a:rPr lang="en-US" altLang="zh-CN" dirty="0" smtClean="0"/>
              <a:t>)</a:t>
            </a:r>
            <a:endParaRPr lang="zh-CN" altLang="en-US" dirty="0"/>
          </a:p>
        </p:txBody>
      </p:sp>
      <p:sp>
        <p:nvSpPr>
          <p:cNvPr id="3" name="内容占位符 2"/>
          <p:cNvSpPr>
            <a:spLocks noGrp="1"/>
          </p:cNvSpPr>
          <p:nvPr>
            <p:ph sz="quarter" idx="13"/>
          </p:nvPr>
        </p:nvSpPr>
        <p:spPr/>
        <p:txBody>
          <a:bodyPr/>
          <a:lstStyle/>
          <a:p>
            <a:r>
              <a:rPr lang="zh-CN" altLang="en-US" dirty="0"/>
              <a:t>进入</a:t>
            </a:r>
            <a:r>
              <a:rPr lang="en-US" altLang="zh-CN" dirty="0" err="1"/>
              <a:t>Pytorch</a:t>
            </a:r>
            <a:r>
              <a:rPr lang="zh-CN" altLang="en-US" dirty="0"/>
              <a:t>的官方下载网站：</a:t>
            </a:r>
            <a:r>
              <a:rPr lang="en-US" altLang="zh-CN" dirty="0">
                <a:hlinkClick r:id="rId3"/>
              </a:rPr>
              <a:t>https://pytorch.org/get-started/previous-versions</a:t>
            </a:r>
            <a:r>
              <a:rPr lang="en-US" altLang="zh-CN" dirty="0" smtClean="0">
                <a:hlinkClick r:id="rId3"/>
              </a:rPr>
              <a:t>/</a:t>
            </a:r>
            <a:endParaRPr lang="en-US" altLang="zh-CN" dirty="0" smtClean="0"/>
          </a:p>
          <a:p>
            <a:r>
              <a:rPr lang="zh-CN" altLang="zh-CN" dirty="0"/>
              <a:t>选择对应的版本及操作系统，这里选择</a:t>
            </a:r>
            <a:r>
              <a:rPr lang="en-US" altLang="zh-CN" dirty="0"/>
              <a:t>v1.5.1</a:t>
            </a:r>
            <a:r>
              <a:rPr lang="zh-CN" altLang="zh-CN" dirty="0"/>
              <a:t>为例</a:t>
            </a:r>
            <a:r>
              <a:rPr lang="zh-CN" altLang="zh-CN" dirty="0" smtClean="0"/>
              <a:t>。</a:t>
            </a:r>
            <a:endParaRPr lang="en-US" altLang="zh-CN" dirty="0" smtClean="0"/>
          </a:p>
          <a:p>
            <a:pPr lvl="1"/>
            <a:r>
              <a:rPr lang="zh-CN" altLang="zh-CN" dirty="0" smtClean="0"/>
              <a:t>找到</a:t>
            </a:r>
            <a:r>
              <a:rPr lang="en-US" altLang="zh-CN" b="1" dirty="0"/>
              <a:t>“Wheel”</a:t>
            </a:r>
            <a:r>
              <a:rPr lang="zh-CN" altLang="zh-CN" dirty="0"/>
              <a:t>下的</a:t>
            </a:r>
            <a:r>
              <a:rPr lang="en-US" altLang="zh-CN" dirty="0"/>
              <a:t>“Linux and Windows”</a:t>
            </a:r>
            <a:r>
              <a:rPr lang="zh-CN" altLang="zh-CN" dirty="0" smtClean="0"/>
              <a:t>，</a:t>
            </a:r>
            <a:endParaRPr lang="en-US" altLang="zh-CN" dirty="0" smtClean="0"/>
          </a:p>
          <a:p>
            <a:pPr lvl="1"/>
            <a:r>
              <a:rPr lang="zh-CN" altLang="zh-CN" dirty="0" smtClean="0"/>
              <a:t>选择</a:t>
            </a:r>
            <a:r>
              <a:rPr lang="en-US" altLang="zh-CN" dirty="0"/>
              <a:t>“# CPU Only”</a:t>
            </a:r>
            <a:r>
              <a:rPr lang="zh-CN" altLang="zh-CN" dirty="0"/>
              <a:t>，可以得到安装的指令，包含</a:t>
            </a:r>
            <a:r>
              <a:rPr lang="en-US" altLang="zh-CN" dirty="0" err="1"/>
              <a:t>Pytorch</a:t>
            </a:r>
            <a:r>
              <a:rPr lang="en-US" altLang="zh-CN" dirty="0"/>
              <a:t>=1.5.1</a:t>
            </a:r>
            <a:r>
              <a:rPr lang="zh-CN" altLang="zh-CN" dirty="0"/>
              <a:t>，</a:t>
            </a:r>
            <a:r>
              <a:rPr lang="en-US" altLang="zh-CN" dirty="0" err="1"/>
              <a:t>torchvision</a:t>
            </a:r>
            <a:r>
              <a:rPr lang="en-US" altLang="zh-CN" dirty="0"/>
              <a:t>=0.6.1</a:t>
            </a:r>
            <a:r>
              <a:rPr lang="zh-CN" altLang="zh-CN" dirty="0" smtClean="0"/>
              <a:t>版本</a:t>
            </a:r>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85098" y="2858383"/>
            <a:ext cx="5220216" cy="3483684"/>
          </a:xfrm>
          <a:prstGeom prst="rect">
            <a:avLst/>
          </a:prstGeom>
        </p:spPr>
      </p:pic>
    </p:spTree>
    <p:extLst>
      <p:ext uri="{BB962C8B-B14F-4D97-AF65-F5344CB8AC3E}">
        <p14:creationId xmlns:p14="http://schemas.microsoft.com/office/powerpoint/2010/main" val="3974872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(CPU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en-US" altLang="zh-CN" dirty="0" err="1"/>
              <a:t>Win+R</a:t>
            </a:r>
            <a:r>
              <a:rPr lang="zh-CN" altLang="zh-CN" dirty="0"/>
              <a:t>组合键打开运行界面，输入</a:t>
            </a:r>
            <a:r>
              <a:rPr lang="en-US" altLang="zh-CN" dirty="0" err="1"/>
              <a:t>cmd</a:t>
            </a:r>
            <a:r>
              <a:rPr lang="zh-CN" altLang="zh-CN" dirty="0"/>
              <a:t>后确定打开命令提示</a:t>
            </a:r>
            <a:r>
              <a:rPr lang="zh-CN" altLang="zh-CN" dirty="0" smtClean="0"/>
              <a:t>符</a:t>
            </a:r>
            <a:r>
              <a:rPr lang="zh-CN" altLang="en-US" dirty="0" smtClean="0"/>
              <a:t>。</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9968" y="2543310"/>
            <a:ext cx="3790476" cy="2180952"/>
          </a:xfrm>
          <a:prstGeom prst="rect">
            <a:avLst/>
          </a:prstGeom>
        </p:spPr>
      </p:pic>
    </p:spTree>
    <p:extLst>
      <p:ext uri="{BB962C8B-B14F-4D97-AF65-F5344CB8AC3E}">
        <p14:creationId xmlns:p14="http://schemas.microsoft.com/office/powerpoint/2010/main" val="1577055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(CPU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zh-CN" altLang="zh-CN" dirty="0"/>
              <a:t>在打开的命令提示符中，利用</a:t>
            </a:r>
            <a:r>
              <a:rPr lang="en-US" altLang="zh-CN" dirty="0"/>
              <a:t>anaconda</a:t>
            </a:r>
            <a:r>
              <a:rPr lang="zh-CN" altLang="zh-CN" dirty="0"/>
              <a:t>新建一个环境，这里以</a:t>
            </a:r>
            <a:r>
              <a:rPr lang="en-US" altLang="zh-CN" dirty="0"/>
              <a:t>python3.6</a:t>
            </a:r>
            <a:r>
              <a:rPr lang="zh-CN" altLang="zh-CN" dirty="0"/>
              <a:t>版本，</a:t>
            </a:r>
            <a:r>
              <a:rPr lang="en-US" altLang="zh-CN" dirty="0"/>
              <a:t>“</a:t>
            </a:r>
            <a:r>
              <a:rPr lang="en-US" altLang="zh-CN" dirty="0" err="1"/>
              <a:t>cputorch</a:t>
            </a:r>
            <a:r>
              <a:rPr lang="en-US" altLang="zh-CN" dirty="0"/>
              <a:t>”</a:t>
            </a:r>
            <a:r>
              <a:rPr lang="zh-CN" altLang="zh-CN" dirty="0"/>
              <a:t>命名为例，输入指令：</a:t>
            </a:r>
          </a:p>
          <a:p>
            <a:pPr lvl="1"/>
            <a:r>
              <a:rPr lang="en-US" altLang="zh-CN" dirty="0" err="1"/>
              <a:t>conda</a:t>
            </a:r>
            <a:r>
              <a:rPr lang="en-US" altLang="zh-CN" dirty="0"/>
              <a:t> create –n </a:t>
            </a:r>
            <a:r>
              <a:rPr lang="en-US" altLang="zh-CN" dirty="0" err="1"/>
              <a:t>cputorch</a:t>
            </a:r>
            <a:r>
              <a:rPr lang="en-US" altLang="zh-CN" dirty="0"/>
              <a:t> </a:t>
            </a:r>
            <a:r>
              <a:rPr lang="en-US" altLang="zh-CN" dirty="0" smtClean="0"/>
              <a:t>python=3.6</a:t>
            </a:r>
          </a:p>
          <a:p>
            <a:r>
              <a:rPr lang="zh-CN" altLang="zh-CN" dirty="0"/>
              <a:t>在确认行中输入</a:t>
            </a:r>
            <a:r>
              <a:rPr lang="en-US" altLang="zh-CN" dirty="0"/>
              <a:t>y</a:t>
            </a:r>
            <a:r>
              <a:rPr lang="zh-CN" altLang="zh-CN" dirty="0"/>
              <a:t>，</a:t>
            </a:r>
            <a:r>
              <a:rPr lang="zh-CN" altLang="zh-CN" dirty="0" smtClean="0"/>
              <a:t>回车</a:t>
            </a:r>
            <a:r>
              <a:rPr lang="zh-CN" altLang="en-US" dirty="0"/>
              <a:t>。</a:t>
            </a:r>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1383" y="2398940"/>
            <a:ext cx="7189105" cy="3738334"/>
          </a:xfrm>
          <a:prstGeom prst="rect">
            <a:avLst/>
          </a:prstGeom>
        </p:spPr>
      </p:pic>
    </p:spTree>
    <p:extLst>
      <p:ext uri="{BB962C8B-B14F-4D97-AF65-F5344CB8AC3E}">
        <p14:creationId xmlns:p14="http://schemas.microsoft.com/office/powerpoint/2010/main" val="1900318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(CPU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zh-CN" altLang="zh-CN" dirty="0"/>
              <a:t>等待一段时间后环境新建完成。输入指令切换至该环境：</a:t>
            </a:r>
          </a:p>
          <a:p>
            <a:pPr lvl="1"/>
            <a:r>
              <a:rPr lang="en-US" altLang="zh-CN" dirty="0" err="1"/>
              <a:t>conda</a:t>
            </a:r>
            <a:r>
              <a:rPr lang="en-US" altLang="zh-CN" dirty="0"/>
              <a:t> </a:t>
            </a:r>
            <a:r>
              <a:rPr lang="en-US" altLang="zh-CN" dirty="0" smtClean="0"/>
              <a:t>activate </a:t>
            </a:r>
            <a:r>
              <a:rPr lang="en-US" altLang="zh-CN" dirty="0" err="1" smtClean="0"/>
              <a:t>cputorch</a:t>
            </a:r>
            <a:endParaRPr lang="en-US" altLang="zh-CN" dirty="0" smtClean="0"/>
          </a:p>
          <a:p>
            <a:pPr lvl="1"/>
            <a:r>
              <a:rPr lang="en-US" altLang="zh-CN" dirty="0"/>
              <a:t>pip install torch==1.5.1+cpu </a:t>
            </a:r>
            <a:r>
              <a:rPr lang="en-US" altLang="zh-CN" dirty="0" err="1"/>
              <a:t>torchvision</a:t>
            </a:r>
            <a:r>
              <a:rPr lang="en-US" altLang="zh-CN" dirty="0"/>
              <a:t>==0.6.1+cpu -f https://download.pytorch.org/whl/torch_stable.html</a:t>
            </a:r>
            <a:endParaRPr lang="en-US" altLang="zh-CN" dirty="0" smtClean="0"/>
          </a:p>
          <a:p>
            <a:endParaRPr lang="zh-CN" altLang="en-US" dirty="0"/>
          </a:p>
        </p:txBody>
      </p:sp>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b="64334"/>
          <a:stretch/>
        </p:blipFill>
        <p:spPr>
          <a:xfrm>
            <a:off x="1433301" y="3413411"/>
            <a:ext cx="9323809" cy="1728957"/>
          </a:xfrm>
          <a:prstGeom prst="rect">
            <a:avLst/>
          </a:prstGeom>
        </p:spPr>
      </p:pic>
    </p:spTree>
    <p:extLst>
      <p:ext uri="{BB962C8B-B14F-4D97-AF65-F5344CB8AC3E}">
        <p14:creationId xmlns:p14="http://schemas.microsoft.com/office/powerpoint/2010/main" val="3789646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(CPU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zh-CN" altLang="zh-CN" dirty="0"/>
              <a:t>等待一段时间后安装</a:t>
            </a:r>
            <a:r>
              <a:rPr lang="zh-CN" altLang="zh-CN" dirty="0" smtClean="0"/>
              <a:t>完成。</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en-US" dirty="0" smtClean="0"/>
              <a:t>至此</a:t>
            </a:r>
            <a:r>
              <a:rPr lang="en-US" altLang="zh-CN" dirty="0" smtClean="0"/>
              <a:t>CPU</a:t>
            </a:r>
            <a:r>
              <a:rPr lang="zh-CN" altLang="en-US" dirty="0" smtClean="0"/>
              <a:t>版本</a:t>
            </a:r>
            <a:r>
              <a:rPr lang="en-US" altLang="zh-CN" dirty="0" err="1" smtClean="0"/>
              <a:t>Pytorch</a:t>
            </a:r>
            <a:r>
              <a:rPr lang="zh-CN" altLang="en-US" dirty="0" smtClean="0"/>
              <a:t>已安装完成。没有</a:t>
            </a:r>
            <a:r>
              <a:rPr lang="en-US" altLang="zh-CN" dirty="0" err="1" smtClean="0"/>
              <a:t>Nvidia</a:t>
            </a:r>
            <a:r>
              <a:rPr lang="zh-CN" altLang="en-US" dirty="0" smtClean="0"/>
              <a:t>显卡或不打算使用</a:t>
            </a:r>
            <a:r>
              <a:rPr lang="en-US" altLang="zh-CN" dirty="0" smtClean="0"/>
              <a:t>GPU</a:t>
            </a:r>
            <a:r>
              <a:rPr lang="zh-CN" altLang="en-US" dirty="0" smtClean="0"/>
              <a:t>进行实验的可直接</a:t>
            </a:r>
            <a:r>
              <a:rPr lang="zh-CN" altLang="en-US" dirty="0" smtClean="0">
                <a:hlinkClick r:id="rId2" action="ppaction://hlinksldjump"/>
              </a:rPr>
              <a:t>跳至实验结果</a:t>
            </a:r>
            <a:r>
              <a:rPr lang="zh-CN" altLang="en-US" dirty="0" smtClean="0"/>
              <a:t>。</a:t>
            </a:r>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6865" y="1517481"/>
            <a:ext cx="8076681" cy="4232610"/>
          </a:xfrm>
          <a:prstGeom prst="rect">
            <a:avLst/>
          </a:prstGeom>
        </p:spPr>
      </p:pic>
    </p:spTree>
    <p:extLst>
      <p:ext uri="{BB962C8B-B14F-4D97-AF65-F5344CB8AC3E}">
        <p14:creationId xmlns:p14="http://schemas.microsoft.com/office/powerpoint/2010/main" val="335669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r>
              <a:rPr lang="en-US" altLang="zh-CN" dirty="0" smtClean="0"/>
              <a:t>CPU</a:t>
            </a:r>
            <a:r>
              <a:rPr lang="zh-CN" altLang="en-US" dirty="0" smtClean="0"/>
              <a:t>版本：</a:t>
            </a:r>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GPU</a:t>
            </a:r>
            <a:r>
              <a:rPr lang="zh-CN" altLang="en-US" dirty="0" smtClean="0"/>
              <a:t>版本：</a:t>
            </a:r>
            <a:endParaRPr lang="zh-CN" altLang="en-US" dirty="0"/>
          </a:p>
        </p:txBody>
      </p:sp>
      <p:graphicFrame>
        <p:nvGraphicFramePr>
          <p:cNvPr id="4" name="图示 3"/>
          <p:cNvGraphicFramePr/>
          <p:nvPr>
            <p:extLst>
              <p:ext uri="{D42A27DB-BD31-4B8C-83A1-F6EECF244321}">
                <p14:modId xmlns:p14="http://schemas.microsoft.com/office/powerpoint/2010/main" val="4278669596"/>
              </p:ext>
            </p:extLst>
          </p:nvPr>
        </p:nvGraphicFramePr>
        <p:xfrm>
          <a:off x="669925" y="4690583"/>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图示 4"/>
          <p:cNvGraphicFramePr/>
          <p:nvPr>
            <p:extLst>
              <p:ext uri="{D42A27DB-BD31-4B8C-83A1-F6EECF244321}">
                <p14:modId xmlns:p14="http://schemas.microsoft.com/office/powerpoint/2010/main" val="2465576603"/>
              </p:ext>
            </p:extLst>
          </p:nvPr>
        </p:nvGraphicFramePr>
        <p:xfrm>
          <a:off x="669925" y="1991141"/>
          <a:ext cx="10850563" cy="5400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3080492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检查显卡驱动</a:t>
            </a:r>
            <a:endParaRPr lang="zh-CN" altLang="en-US" dirty="0"/>
          </a:p>
        </p:txBody>
      </p:sp>
      <p:sp>
        <p:nvSpPr>
          <p:cNvPr id="3" name="内容占位符 2"/>
          <p:cNvSpPr>
            <a:spLocks noGrp="1"/>
          </p:cNvSpPr>
          <p:nvPr>
            <p:ph sz="quarter" idx="13"/>
          </p:nvPr>
        </p:nvSpPr>
        <p:spPr/>
        <p:txBody>
          <a:bodyPr/>
          <a:lstStyle/>
          <a:p>
            <a:r>
              <a:rPr lang="en-US" altLang="zh-CN" dirty="0" smtClean="0"/>
              <a:t>GPU</a:t>
            </a:r>
            <a:r>
              <a:rPr lang="zh-CN" altLang="en-US" dirty="0" smtClean="0"/>
              <a:t>在并行计算方面速度远快于</a:t>
            </a:r>
            <a:r>
              <a:rPr lang="en-US" altLang="zh-CN" dirty="0" smtClean="0"/>
              <a:t>CPU</a:t>
            </a:r>
          </a:p>
          <a:p>
            <a:r>
              <a:rPr lang="zh-CN" altLang="en-US" dirty="0" smtClean="0"/>
              <a:t>神经网络</a:t>
            </a:r>
            <a:r>
              <a:rPr lang="zh-CN" altLang="en-US" dirty="0"/>
              <a:t>是高度并行</a:t>
            </a:r>
            <a:r>
              <a:rPr lang="zh-CN" altLang="en-US" dirty="0" smtClean="0"/>
              <a:t>的</a:t>
            </a:r>
            <a:endParaRPr lang="en-US" altLang="zh-CN" dirty="0" smtClean="0"/>
          </a:p>
          <a:p>
            <a:pPr lvl="1"/>
            <a:r>
              <a:rPr lang="zh-CN" altLang="en-US" dirty="0"/>
              <a:t>每个计算都是独立于其他计算的，这意味着任何计算都不依赖于任何其他计算的结果</a:t>
            </a:r>
            <a:r>
              <a:rPr lang="zh-CN" altLang="en-US" dirty="0" smtClean="0"/>
              <a:t>。</a:t>
            </a:r>
            <a:endParaRPr lang="en-US" altLang="zh-CN" dirty="0" smtClean="0"/>
          </a:p>
          <a:p>
            <a:r>
              <a:rPr lang="en-US" altLang="zh-CN" dirty="0" err="1"/>
              <a:t>Nvidia</a:t>
            </a:r>
            <a:r>
              <a:rPr lang="zh-CN" altLang="en-US" dirty="0"/>
              <a:t>是一家设计</a:t>
            </a:r>
            <a:r>
              <a:rPr lang="en-US" altLang="zh-CN" dirty="0" smtClean="0"/>
              <a:t>GPU</a:t>
            </a:r>
            <a:r>
              <a:rPr lang="zh-CN" altLang="en-US" dirty="0" smtClean="0"/>
              <a:t>（显卡）的</a:t>
            </a:r>
            <a:r>
              <a:rPr lang="zh-CN" altLang="en-US" dirty="0"/>
              <a:t>技术</a:t>
            </a:r>
            <a:r>
              <a:rPr lang="zh-CN" altLang="en-US" dirty="0" smtClean="0"/>
              <a:t>公司：</a:t>
            </a:r>
            <a:endParaRPr lang="en-US" altLang="zh-CN" dirty="0" smtClean="0"/>
          </a:p>
          <a:p>
            <a:pPr lvl="1"/>
            <a:r>
              <a:rPr lang="en-US" altLang="zh-CN" dirty="0"/>
              <a:t>CUDA</a:t>
            </a:r>
            <a:r>
              <a:rPr lang="zh-CN" altLang="en-US" dirty="0"/>
              <a:t>作为一个软件</a:t>
            </a:r>
            <a:r>
              <a:rPr lang="zh-CN" altLang="en-US" dirty="0" smtClean="0"/>
              <a:t>平台</a:t>
            </a:r>
            <a:endParaRPr lang="en-US" altLang="zh-CN" dirty="0" smtClean="0"/>
          </a:p>
          <a:p>
            <a:pPr lvl="1"/>
            <a:r>
              <a:rPr lang="zh-CN" altLang="en-US" dirty="0" smtClean="0"/>
              <a:t>与</a:t>
            </a:r>
            <a:r>
              <a:rPr lang="zh-CN" altLang="en-US" dirty="0"/>
              <a:t>他们的</a:t>
            </a:r>
            <a:r>
              <a:rPr lang="en-US" altLang="zh-CN" dirty="0"/>
              <a:t>GPU</a:t>
            </a:r>
            <a:r>
              <a:rPr lang="zh-CN" altLang="en-US" dirty="0"/>
              <a:t>硬件</a:t>
            </a:r>
            <a:r>
              <a:rPr lang="zh-CN" altLang="en-US" dirty="0" smtClean="0"/>
              <a:t>配对</a:t>
            </a:r>
            <a:endParaRPr lang="en-US" altLang="zh-CN" dirty="0" smtClean="0"/>
          </a:p>
          <a:p>
            <a:pPr lvl="1"/>
            <a:r>
              <a:rPr lang="zh-CN" altLang="en-US" dirty="0" smtClean="0"/>
              <a:t>让开</a:t>
            </a:r>
            <a:r>
              <a:rPr lang="zh-CN" altLang="en-US" dirty="0"/>
              <a:t>发者更容易构建</a:t>
            </a:r>
            <a:r>
              <a:rPr lang="zh-CN" altLang="en-US" dirty="0" smtClean="0"/>
              <a:t>软件</a:t>
            </a:r>
            <a:endParaRPr lang="en-US" altLang="zh-CN" dirty="0" smtClean="0"/>
          </a:p>
          <a:p>
            <a:pPr lvl="1"/>
            <a:r>
              <a:rPr lang="zh-CN" altLang="en-US" dirty="0" smtClean="0"/>
              <a:t>利用</a:t>
            </a:r>
            <a:r>
              <a:rPr lang="en-US" altLang="zh-CN" dirty="0" err="1"/>
              <a:t>Nvidia</a:t>
            </a:r>
            <a:r>
              <a:rPr lang="en-US" altLang="zh-CN" dirty="0"/>
              <a:t> GPU</a:t>
            </a:r>
            <a:r>
              <a:rPr lang="zh-CN" altLang="en-US" dirty="0"/>
              <a:t>的并行处理能力加速计算</a:t>
            </a:r>
            <a:endParaRPr lang="en-US" altLang="zh-CN" dirty="0" smtClean="0"/>
          </a:p>
          <a:p>
            <a:endParaRPr lang="zh-CN" altLang="en-US" dirty="0"/>
          </a:p>
        </p:txBody>
      </p:sp>
    </p:spTree>
    <p:extLst>
      <p:ext uri="{BB962C8B-B14F-4D97-AF65-F5344CB8AC3E}">
        <p14:creationId xmlns:p14="http://schemas.microsoft.com/office/powerpoint/2010/main" val="1479592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检查显卡</a:t>
            </a:r>
            <a:r>
              <a:rPr lang="zh-CN" altLang="en-US" dirty="0" smtClean="0"/>
              <a:t>驱动</a:t>
            </a:r>
            <a:endParaRPr lang="zh-CN" altLang="en-US" dirty="0"/>
          </a:p>
        </p:txBody>
      </p:sp>
      <p:sp>
        <p:nvSpPr>
          <p:cNvPr id="3" name="内容占位符 2"/>
          <p:cNvSpPr>
            <a:spLocks noGrp="1"/>
          </p:cNvSpPr>
          <p:nvPr>
            <p:ph sz="quarter" idx="13"/>
          </p:nvPr>
        </p:nvSpPr>
        <p:spPr/>
        <p:txBody>
          <a:bodyPr/>
          <a:lstStyle/>
          <a:p>
            <a:r>
              <a:rPr lang="zh-CN" altLang="zh-CN" dirty="0"/>
              <a:t>如果电脑有</a:t>
            </a:r>
            <a:r>
              <a:rPr lang="en-US" altLang="zh-CN" dirty="0" err="1"/>
              <a:t>Nvidia</a:t>
            </a:r>
            <a:r>
              <a:rPr lang="zh-CN" altLang="zh-CN" dirty="0"/>
              <a:t>独立显卡，则可以通过</a:t>
            </a:r>
            <a:r>
              <a:rPr lang="en-US" altLang="zh-CN" dirty="0"/>
              <a:t>GPU</a:t>
            </a:r>
            <a:r>
              <a:rPr lang="zh-CN" altLang="zh-CN" dirty="0"/>
              <a:t>性能加速后续深度学习训练的计算，所需的时间能大幅减少。首先需要确认</a:t>
            </a:r>
            <a:r>
              <a:rPr lang="en-US" altLang="zh-CN" dirty="0" err="1"/>
              <a:t>Nvidia</a:t>
            </a:r>
            <a:r>
              <a:rPr lang="zh-CN" altLang="zh-CN" dirty="0"/>
              <a:t>显卡型号及驱动版本。打开控制面板</a:t>
            </a:r>
            <a:r>
              <a:rPr lang="en-US" altLang="zh-CN" dirty="0"/>
              <a:t>→</a:t>
            </a:r>
            <a:r>
              <a:rPr lang="zh-CN" altLang="zh-CN" dirty="0"/>
              <a:t>设备管理器</a:t>
            </a:r>
            <a:r>
              <a:rPr lang="en-US" altLang="zh-CN" dirty="0"/>
              <a:t>→</a:t>
            </a:r>
            <a:r>
              <a:rPr lang="zh-CN" altLang="zh-CN" dirty="0"/>
              <a:t>显示适配器查看显卡</a:t>
            </a:r>
            <a:r>
              <a:rPr lang="zh-CN" altLang="zh-CN" dirty="0" smtClean="0"/>
              <a:t>型号：</a:t>
            </a:r>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9492" y="1892174"/>
            <a:ext cx="6971427" cy="4245100"/>
          </a:xfrm>
          <a:prstGeom prst="rect">
            <a:avLst/>
          </a:prstGeom>
        </p:spPr>
      </p:pic>
    </p:spTree>
    <p:extLst>
      <p:ext uri="{BB962C8B-B14F-4D97-AF65-F5344CB8AC3E}">
        <p14:creationId xmlns:p14="http://schemas.microsoft.com/office/powerpoint/2010/main" val="3192126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检查显卡</a:t>
            </a:r>
            <a:r>
              <a:rPr lang="zh-CN" altLang="en-US" dirty="0" smtClean="0"/>
              <a:t>驱动</a:t>
            </a:r>
            <a:endParaRPr lang="zh-CN" altLang="en-US" dirty="0"/>
          </a:p>
        </p:txBody>
      </p:sp>
      <p:sp>
        <p:nvSpPr>
          <p:cNvPr id="3" name="内容占位符 2"/>
          <p:cNvSpPr>
            <a:spLocks noGrp="1"/>
          </p:cNvSpPr>
          <p:nvPr>
            <p:ph sz="quarter" idx="13"/>
          </p:nvPr>
        </p:nvSpPr>
        <p:spPr/>
        <p:txBody>
          <a:bodyPr/>
          <a:lstStyle/>
          <a:p>
            <a:r>
              <a:rPr lang="zh-CN" altLang="zh-CN" dirty="0"/>
              <a:t>检查显卡型号后，在命令提示符中输入指令检查显卡驱动：</a:t>
            </a:r>
          </a:p>
          <a:p>
            <a:pPr lvl="1"/>
            <a:r>
              <a:rPr lang="en-US" altLang="zh-CN" dirty="0" err="1" smtClean="0"/>
              <a:t>nvidia-smi</a:t>
            </a:r>
            <a:endParaRPr lang="en-US" altLang="zh-CN" dirty="0" smtClean="0"/>
          </a:p>
          <a:p>
            <a:r>
              <a:rPr lang="zh-CN" altLang="zh-CN" dirty="0"/>
              <a:t>如果出现类似表格的输出则说明已安装显卡驱动，表格中会显示</a:t>
            </a:r>
            <a:r>
              <a:rPr lang="en-US" altLang="zh-CN" dirty="0" err="1"/>
              <a:t>Nvidia-smi</a:t>
            </a:r>
            <a:r>
              <a:rPr lang="zh-CN" altLang="zh-CN" dirty="0"/>
              <a:t>驱动版本、</a:t>
            </a:r>
            <a:r>
              <a:rPr lang="en-US" altLang="zh-CN" dirty="0"/>
              <a:t>GPU</a:t>
            </a:r>
            <a:r>
              <a:rPr lang="zh-CN" altLang="zh-CN" dirty="0"/>
              <a:t>占用情况以及占用</a:t>
            </a:r>
            <a:r>
              <a:rPr lang="en-US" altLang="zh-CN" dirty="0"/>
              <a:t>GPU</a:t>
            </a:r>
            <a:r>
              <a:rPr lang="zh-CN" altLang="zh-CN" dirty="0"/>
              <a:t>进程情况</a:t>
            </a:r>
            <a:r>
              <a:rPr lang="zh-CN" altLang="zh-CN" dirty="0" smtClean="0"/>
              <a:t>等。</a:t>
            </a:r>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2430" y="2528937"/>
            <a:ext cx="7068058" cy="3678275"/>
          </a:xfrm>
          <a:prstGeom prst="rect">
            <a:avLst/>
          </a:prstGeom>
        </p:spPr>
      </p:pic>
    </p:spTree>
    <p:extLst>
      <p:ext uri="{BB962C8B-B14F-4D97-AF65-F5344CB8AC3E}">
        <p14:creationId xmlns:p14="http://schemas.microsoft.com/office/powerpoint/2010/main" val="8127916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检查显卡驱动</a:t>
            </a:r>
          </a:p>
        </p:txBody>
      </p:sp>
      <p:sp>
        <p:nvSpPr>
          <p:cNvPr id="3" name="内容占位符 2"/>
          <p:cNvSpPr>
            <a:spLocks noGrp="1"/>
          </p:cNvSpPr>
          <p:nvPr>
            <p:ph sz="quarter" idx="13"/>
          </p:nvPr>
        </p:nvSpPr>
        <p:spPr/>
        <p:txBody>
          <a:bodyPr/>
          <a:lstStyle/>
          <a:p>
            <a:r>
              <a:rPr lang="zh-CN" altLang="zh-CN" dirty="0"/>
              <a:t>如果没有表格输出，则需要根据显卡型号安装相应的显卡驱动。</a:t>
            </a:r>
            <a:r>
              <a:rPr lang="en-US" altLang="zh-CN" dirty="0" err="1"/>
              <a:t>Nvidia</a:t>
            </a:r>
            <a:r>
              <a:rPr lang="zh-CN" altLang="zh-CN" dirty="0"/>
              <a:t>显卡驱动安装网址：</a:t>
            </a:r>
          </a:p>
          <a:p>
            <a:r>
              <a:rPr lang="en-US" altLang="zh-CN" u="sng" dirty="0" smtClean="0">
                <a:hlinkClick r:id="rId2"/>
              </a:rPr>
              <a:t>https</a:t>
            </a:r>
            <a:r>
              <a:rPr lang="en-US" altLang="zh-CN" u="sng" dirty="0">
                <a:hlinkClick r:id="rId2"/>
              </a:rPr>
              <a:t>://www.nvidia.cn/Download/index.aspx?lang=cn</a:t>
            </a:r>
            <a:endParaRPr lang="zh-CN" altLang="zh-CN" dirty="0"/>
          </a:p>
          <a:p>
            <a:r>
              <a:rPr lang="zh-CN" altLang="zh-CN" dirty="0"/>
              <a:t>在页面中根据显卡型号搜索相应的显卡驱动</a:t>
            </a:r>
            <a:r>
              <a:rPr lang="zh-CN" altLang="zh-CN" dirty="0" smtClean="0"/>
              <a:t>：</a:t>
            </a:r>
            <a:endParaRPr lang="en-US" altLang="zh-CN" dirty="0" smtClean="0"/>
          </a:p>
          <a:p>
            <a:endParaRPr lang="zh-CN"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2349" y="2776616"/>
            <a:ext cx="6885714" cy="2771429"/>
          </a:xfrm>
          <a:prstGeom prst="rect">
            <a:avLst/>
          </a:prstGeom>
        </p:spPr>
      </p:pic>
    </p:spTree>
    <p:extLst>
      <p:ext uri="{BB962C8B-B14F-4D97-AF65-F5344CB8AC3E}">
        <p14:creationId xmlns:p14="http://schemas.microsoft.com/office/powerpoint/2010/main" val="7682949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检查显卡驱动</a:t>
            </a:r>
          </a:p>
        </p:txBody>
      </p:sp>
      <p:sp>
        <p:nvSpPr>
          <p:cNvPr id="3" name="内容占位符 2"/>
          <p:cNvSpPr>
            <a:spLocks noGrp="1"/>
          </p:cNvSpPr>
          <p:nvPr>
            <p:ph sz="quarter" idx="13"/>
          </p:nvPr>
        </p:nvSpPr>
        <p:spPr/>
        <p:txBody>
          <a:bodyPr/>
          <a:lstStyle/>
          <a:p>
            <a:r>
              <a:rPr lang="zh-CN" altLang="zh-CN" dirty="0"/>
              <a:t>点击</a:t>
            </a:r>
            <a:r>
              <a:rPr lang="en-US" altLang="zh-CN" dirty="0"/>
              <a:t>“</a:t>
            </a:r>
            <a:r>
              <a:rPr lang="zh-CN" altLang="zh-CN" dirty="0"/>
              <a:t>搜索</a:t>
            </a:r>
            <a:r>
              <a:rPr lang="en-US" altLang="zh-CN" dirty="0"/>
              <a:t>”</a:t>
            </a:r>
            <a:r>
              <a:rPr lang="zh-CN" altLang="zh-CN" dirty="0"/>
              <a:t>后自动找到对应的显卡驱动，点击</a:t>
            </a:r>
            <a:r>
              <a:rPr lang="en-US" altLang="zh-CN" dirty="0"/>
              <a:t>“</a:t>
            </a:r>
            <a:r>
              <a:rPr lang="zh-CN" altLang="zh-CN" dirty="0"/>
              <a:t>下载</a:t>
            </a:r>
            <a:r>
              <a:rPr lang="en-US" altLang="zh-CN" dirty="0"/>
              <a:t>”</a:t>
            </a:r>
            <a:r>
              <a:rPr lang="zh-CN" altLang="zh-CN" dirty="0"/>
              <a:t>。</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5206" y="5138357"/>
            <a:ext cx="5400000" cy="1084786"/>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5206" y="1522008"/>
            <a:ext cx="5400000" cy="3702217"/>
          </a:xfrm>
          <a:prstGeom prst="rect">
            <a:avLst/>
          </a:prstGeom>
        </p:spPr>
      </p:pic>
    </p:spTree>
    <p:extLst>
      <p:ext uri="{BB962C8B-B14F-4D97-AF65-F5344CB8AC3E}">
        <p14:creationId xmlns:p14="http://schemas.microsoft.com/office/powerpoint/2010/main" val="3682557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检查显卡驱动</a:t>
            </a:r>
            <a:endParaRPr lang="zh-CN" altLang="en-US" dirty="0"/>
          </a:p>
        </p:txBody>
      </p:sp>
      <p:sp>
        <p:nvSpPr>
          <p:cNvPr id="3" name="内容占位符 2"/>
          <p:cNvSpPr>
            <a:spLocks noGrp="1"/>
          </p:cNvSpPr>
          <p:nvPr>
            <p:ph sz="quarter" idx="13"/>
          </p:nvPr>
        </p:nvSpPr>
        <p:spPr/>
        <p:txBody>
          <a:bodyPr/>
          <a:lstStyle/>
          <a:p>
            <a:r>
              <a:rPr lang="zh-CN" altLang="zh-CN" dirty="0"/>
              <a:t>下载完成后打开，单击</a:t>
            </a:r>
            <a:r>
              <a:rPr lang="en-US" altLang="zh-CN" dirty="0"/>
              <a:t>“OK”</a:t>
            </a:r>
            <a:r>
              <a:rPr lang="zh-CN" altLang="zh-CN" dirty="0"/>
              <a:t>进行驱动安装，建议选择默认路径。</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0444" y="2776643"/>
            <a:ext cx="3809524" cy="1714286"/>
          </a:xfrm>
          <a:prstGeom prst="rect">
            <a:avLst/>
          </a:prstGeom>
        </p:spPr>
      </p:pic>
    </p:spTree>
    <p:extLst>
      <p:ext uri="{BB962C8B-B14F-4D97-AF65-F5344CB8AC3E}">
        <p14:creationId xmlns:p14="http://schemas.microsoft.com/office/powerpoint/2010/main" val="973111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检查显卡驱动</a:t>
            </a:r>
            <a:endParaRPr lang="zh-CN" altLang="en-US" dirty="0"/>
          </a:p>
        </p:txBody>
      </p:sp>
      <p:sp>
        <p:nvSpPr>
          <p:cNvPr id="3" name="内容占位符 2"/>
          <p:cNvSpPr>
            <a:spLocks noGrp="1"/>
          </p:cNvSpPr>
          <p:nvPr>
            <p:ph sz="quarter" idx="13"/>
          </p:nvPr>
        </p:nvSpPr>
        <p:spPr/>
        <p:txBody>
          <a:bodyPr/>
          <a:lstStyle/>
          <a:p>
            <a:r>
              <a:rPr lang="zh-CN" altLang="zh-CN" dirty="0"/>
              <a:t>安装软件会自动检查系统兼容性，需要等待一段时间。之后按指示安装驱动，这里选择</a:t>
            </a:r>
            <a:r>
              <a:rPr lang="en-US" altLang="zh-CN" dirty="0"/>
              <a:t>NVIDIA</a:t>
            </a:r>
            <a:r>
              <a:rPr lang="zh-CN" altLang="zh-CN" dirty="0"/>
              <a:t>显卡驱动和</a:t>
            </a:r>
            <a:r>
              <a:rPr lang="en-US" altLang="zh-CN" dirty="0"/>
              <a:t>GeForce </a:t>
            </a:r>
            <a:r>
              <a:rPr lang="en-US" altLang="zh-CN" dirty="0" smtClean="0"/>
              <a:t>Experience</a:t>
            </a:r>
            <a:r>
              <a:rPr lang="zh-CN" altLang="zh-CN" dirty="0" smtClean="0"/>
              <a:t>。</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1396" y="1946798"/>
            <a:ext cx="5647619" cy="4190476"/>
          </a:xfrm>
          <a:prstGeom prst="rect">
            <a:avLst/>
          </a:prstGeom>
        </p:spPr>
      </p:pic>
    </p:spTree>
    <p:extLst>
      <p:ext uri="{BB962C8B-B14F-4D97-AF65-F5344CB8AC3E}">
        <p14:creationId xmlns:p14="http://schemas.microsoft.com/office/powerpoint/2010/main" val="1860171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检查显卡驱动</a:t>
            </a:r>
            <a:endParaRPr lang="zh-CN" altLang="en-US" dirty="0"/>
          </a:p>
        </p:txBody>
      </p:sp>
      <p:sp>
        <p:nvSpPr>
          <p:cNvPr id="3" name="内容占位符 2"/>
          <p:cNvSpPr>
            <a:spLocks noGrp="1"/>
          </p:cNvSpPr>
          <p:nvPr>
            <p:ph sz="quarter" idx="13"/>
          </p:nvPr>
        </p:nvSpPr>
        <p:spPr/>
        <p:txBody>
          <a:bodyPr/>
          <a:lstStyle/>
          <a:p>
            <a:r>
              <a:rPr lang="zh-CN" altLang="zh-CN" dirty="0"/>
              <a:t>选择</a:t>
            </a:r>
            <a:r>
              <a:rPr lang="en-US" altLang="zh-CN" dirty="0"/>
              <a:t>“</a:t>
            </a:r>
            <a:r>
              <a:rPr lang="zh-CN" altLang="zh-CN" dirty="0"/>
              <a:t>精简</a:t>
            </a:r>
            <a:r>
              <a:rPr lang="en-US" altLang="zh-CN" dirty="0"/>
              <a:t>”</a:t>
            </a:r>
            <a:r>
              <a:rPr lang="zh-CN" altLang="zh-CN" dirty="0"/>
              <a:t>，点击下一步。</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5206" y="1927750"/>
            <a:ext cx="5600000" cy="4209524"/>
          </a:xfrm>
          <a:prstGeom prst="rect">
            <a:avLst/>
          </a:prstGeom>
        </p:spPr>
      </p:pic>
    </p:spTree>
    <p:extLst>
      <p:ext uri="{BB962C8B-B14F-4D97-AF65-F5344CB8AC3E}">
        <p14:creationId xmlns:p14="http://schemas.microsoft.com/office/powerpoint/2010/main" val="390717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检查显卡驱动</a:t>
            </a:r>
            <a:endParaRPr lang="zh-CN" altLang="en-US" dirty="0"/>
          </a:p>
        </p:txBody>
      </p:sp>
      <p:sp>
        <p:nvSpPr>
          <p:cNvPr id="3" name="内容占位符 2"/>
          <p:cNvSpPr>
            <a:spLocks noGrp="1"/>
          </p:cNvSpPr>
          <p:nvPr>
            <p:ph sz="quarter" idx="13"/>
          </p:nvPr>
        </p:nvSpPr>
        <p:spPr/>
        <p:txBody>
          <a:bodyPr/>
          <a:lstStyle/>
          <a:p>
            <a:r>
              <a:rPr lang="zh-CN" altLang="zh-CN" dirty="0"/>
              <a:t>等待很长一段时间后，安装完成，这里的两个选项可选可不选，后续实验中无需使用。</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6634" y="1899179"/>
            <a:ext cx="5657143" cy="4238095"/>
          </a:xfrm>
          <a:prstGeom prst="rect">
            <a:avLst/>
          </a:prstGeom>
        </p:spPr>
      </p:pic>
    </p:spTree>
    <p:extLst>
      <p:ext uri="{BB962C8B-B14F-4D97-AF65-F5344CB8AC3E}">
        <p14:creationId xmlns:p14="http://schemas.microsoft.com/office/powerpoint/2010/main" val="22863595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检查显卡驱动</a:t>
            </a:r>
            <a:endParaRPr lang="zh-CN" altLang="en-US" dirty="0"/>
          </a:p>
        </p:txBody>
      </p:sp>
      <p:sp>
        <p:nvSpPr>
          <p:cNvPr id="3" name="内容占位符 2"/>
          <p:cNvSpPr>
            <a:spLocks noGrp="1"/>
          </p:cNvSpPr>
          <p:nvPr>
            <p:ph sz="quarter" idx="13"/>
          </p:nvPr>
        </p:nvSpPr>
        <p:spPr/>
        <p:txBody>
          <a:bodyPr/>
          <a:lstStyle/>
          <a:p>
            <a:r>
              <a:rPr lang="zh-CN" altLang="zh-CN" dirty="0"/>
              <a:t>重</a:t>
            </a:r>
            <a:r>
              <a:rPr lang="zh-CN" altLang="zh-CN" dirty="0" smtClean="0"/>
              <a:t>启</a:t>
            </a:r>
            <a:r>
              <a:rPr lang="zh-CN" altLang="en-US" dirty="0" smtClean="0"/>
              <a:t>电脑</a:t>
            </a:r>
            <a:r>
              <a:rPr lang="zh-CN" altLang="zh-CN" dirty="0" smtClean="0"/>
              <a:t>后</a:t>
            </a:r>
            <a:r>
              <a:rPr lang="zh-CN" altLang="zh-CN" dirty="0"/>
              <a:t>打开命令提示符，输入指令检查驱动版本：</a:t>
            </a:r>
          </a:p>
          <a:p>
            <a:pPr lvl="1"/>
            <a:r>
              <a:rPr lang="en-US" altLang="zh-CN" dirty="0" err="1" smtClean="0"/>
              <a:t>nvidia-smi</a:t>
            </a:r>
            <a:endParaRPr lang="en-US" altLang="zh-CN" dirty="0" smtClean="0"/>
          </a:p>
          <a:p>
            <a:r>
              <a:rPr lang="zh-CN" altLang="zh-CN" dirty="0"/>
              <a:t>出现以下结果则说明驱动安装成功。（版本以下载为准）</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8485" y="2643612"/>
            <a:ext cx="6673441" cy="3493662"/>
          </a:xfrm>
          <a:prstGeom prst="rect">
            <a:avLst/>
          </a:prstGeom>
        </p:spPr>
      </p:pic>
    </p:spTree>
    <p:extLst>
      <p:ext uri="{BB962C8B-B14F-4D97-AF65-F5344CB8AC3E}">
        <p14:creationId xmlns:p14="http://schemas.microsoft.com/office/powerpoint/2010/main" val="1343600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r>
              <a:rPr lang="en-US" altLang="zh-CN" dirty="0" smtClean="0"/>
              <a:t>CPU</a:t>
            </a:r>
            <a:r>
              <a:rPr lang="zh-CN" altLang="en-US" dirty="0" smtClean="0"/>
              <a:t>版本：</a:t>
            </a:r>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GPU</a:t>
            </a:r>
            <a:r>
              <a:rPr lang="zh-CN" altLang="en-US" dirty="0" smtClean="0"/>
              <a:t>版本：</a:t>
            </a:r>
            <a:endParaRPr lang="zh-CN" altLang="en-US" dirty="0"/>
          </a:p>
        </p:txBody>
      </p:sp>
      <p:graphicFrame>
        <p:nvGraphicFramePr>
          <p:cNvPr id="4" name="图示 3"/>
          <p:cNvGraphicFramePr/>
          <p:nvPr>
            <p:extLst>
              <p:ext uri="{D42A27DB-BD31-4B8C-83A1-F6EECF244321}">
                <p14:modId xmlns:p14="http://schemas.microsoft.com/office/powerpoint/2010/main" val="2127563324"/>
              </p:ext>
            </p:extLst>
          </p:nvPr>
        </p:nvGraphicFramePr>
        <p:xfrm>
          <a:off x="669925" y="4690583"/>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图示 4"/>
          <p:cNvGraphicFramePr/>
          <p:nvPr>
            <p:extLst/>
          </p:nvPr>
        </p:nvGraphicFramePr>
        <p:xfrm>
          <a:off x="669925" y="1991141"/>
          <a:ext cx="10850563" cy="5400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633689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toolkit</a:t>
            </a:r>
            <a:endParaRPr lang="zh-CN" altLang="en-US" dirty="0"/>
          </a:p>
        </p:txBody>
      </p:sp>
      <p:sp>
        <p:nvSpPr>
          <p:cNvPr id="3" name="内容占位符 2"/>
          <p:cNvSpPr>
            <a:spLocks noGrp="1"/>
          </p:cNvSpPr>
          <p:nvPr>
            <p:ph sz="quarter" idx="13"/>
          </p:nvPr>
        </p:nvSpPr>
        <p:spPr/>
        <p:txBody>
          <a:bodyPr/>
          <a:lstStyle/>
          <a:p>
            <a:r>
              <a:rPr lang="en-US" altLang="zh-CN" dirty="0"/>
              <a:t>CUDA</a:t>
            </a:r>
            <a:r>
              <a:rPr lang="zh-CN" altLang="en-US" dirty="0"/>
              <a:t>：为“</a:t>
            </a:r>
            <a:r>
              <a:rPr lang="en-US" altLang="zh-CN" dirty="0"/>
              <a:t>GPU</a:t>
            </a:r>
            <a:r>
              <a:rPr lang="zh-CN" altLang="en-US" dirty="0"/>
              <a:t>通用计算”构建的运算平台</a:t>
            </a:r>
            <a:r>
              <a:rPr lang="zh-CN" altLang="en-US" dirty="0" smtClean="0"/>
              <a:t>。</a:t>
            </a:r>
            <a:endParaRPr lang="en-US" altLang="zh-CN" dirty="0" smtClean="0"/>
          </a:p>
          <a:p>
            <a:r>
              <a:rPr lang="en-US" altLang="zh-CN" dirty="0"/>
              <a:t>CUDA Toolkit (</a:t>
            </a:r>
            <a:r>
              <a:rPr lang="en-US" altLang="zh-CN" dirty="0" err="1"/>
              <a:t>nvidia</a:t>
            </a:r>
            <a:r>
              <a:rPr lang="en-US" altLang="zh-CN" dirty="0"/>
              <a:t>)</a:t>
            </a:r>
            <a:r>
              <a:rPr lang="zh-CN" altLang="en-US" dirty="0"/>
              <a:t>： </a:t>
            </a:r>
            <a:r>
              <a:rPr lang="en-US" altLang="zh-CN" dirty="0"/>
              <a:t>CUDA</a:t>
            </a:r>
            <a:r>
              <a:rPr lang="zh-CN" altLang="en-US" dirty="0"/>
              <a:t>完整的工具安装包，其中提供了 </a:t>
            </a:r>
            <a:r>
              <a:rPr lang="en-US" altLang="zh-CN" dirty="0" err="1"/>
              <a:t>Nvidia</a:t>
            </a:r>
            <a:r>
              <a:rPr lang="en-US" altLang="zh-CN" dirty="0"/>
              <a:t> </a:t>
            </a:r>
            <a:r>
              <a:rPr lang="zh-CN" altLang="en-US" dirty="0"/>
              <a:t>驱动程序、开发 </a:t>
            </a:r>
            <a:r>
              <a:rPr lang="en-US" altLang="zh-CN" dirty="0"/>
              <a:t>CUDA </a:t>
            </a:r>
            <a:r>
              <a:rPr lang="zh-CN" altLang="en-US" dirty="0"/>
              <a:t>程序相关的开发工具包等可供安装的选项。包括 </a:t>
            </a:r>
            <a:r>
              <a:rPr lang="en-US" altLang="zh-CN" dirty="0"/>
              <a:t>CUDA </a:t>
            </a:r>
            <a:r>
              <a:rPr lang="zh-CN" altLang="en-US" dirty="0"/>
              <a:t>程序的编译器、</a:t>
            </a:r>
            <a:r>
              <a:rPr lang="en-US" altLang="zh-CN" dirty="0"/>
              <a:t>IDE</a:t>
            </a:r>
            <a:r>
              <a:rPr lang="zh-CN" altLang="en-US" dirty="0"/>
              <a:t>、调试器等</a:t>
            </a:r>
            <a:r>
              <a:rPr lang="zh-CN" altLang="en-US" dirty="0" smtClean="0"/>
              <a:t>，以及</a:t>
            </a:r>
            <a:r>
              <a:rPr lang="en-US" altLang="zh-CN" dirty="0" smtClean="0"/>
              <a:t>CUDA </a:t>
            </a:r>
            <a:r>
              <a:rPr lang="zh-CN" altLang="en-US" dirty="0"/>
              <a:t>程序所对应的各式库文件以及它们的头文件</a:t>
            </a:r>
            <a:r>
              <a:rPr lang="zh-CN" altLang="en-US" dirty="0" smtClean="0"/>
              <a:t>。</a:t>
            </a:r>
            <a:endParaRPr lang="en-US" altLang="zh-CN" dirty="0" smtClean="0"/>
          </a:p>
          <a:p>
            <a:r>
              <a:rPr lang="en-US" altLang="zh-CN" dirty="0" err="1" smtClean="0"/>
              <a:t>Nvcc</a:t>
            </a:r>
            <a:r>
              <a:rPr lang="zh-CN" altLang="en-US" dirty="0" smtClean="0"/>
              <a:t>：</a:t>
            </a:r>
            <a:r>
              <a:rPr lang="en-US" altLang="zh-CN" dirty="0" smtClean="0"/>
              <a:t>CUDA</a:t>
            </a:r>
            <a:r>
              <a:rPr lang="zh-CN" altLang="en-US" dirty="0"/>
              <a:t>的编译器</a:t>
            </a:r>
            <a:r>
              <a:rPr lang="zh-CN" altLang="en-US" dirty="0" smtClean="0"/>
              <a:t>。</a:t>
            </a:r>
            <a:endParaRPr lang="en-US" altLang="zh-CN" dirty="0" smtClean="0"/>
          </a:p>
          <a:p>
            <a:r>
              <a:rPr lang="en-US" altLang="zh-CN" dirty="0"/>
              <a:t>CUDA</a:t>
            </a:r>
            <a:r>
              <a:rPr lang="zh-CN" altLang="en-US" dirty="0"/>
              <a:t>主要有两个</a:t>
            </a:r>
            <a:r>
              <a:rPr lang="en-US" altLang="zh-CN" dirty="0"/>
              <a:t>API</a:t>
            </a:r>
            <a:r>
              <a:rPr lang="zh-CN" altLang="en-US" dirty="0"/>
              <a:t>：</a:t>
            </a:r>
            <a:r>
              <a:rPr lang="en-US" altLang="zh-CN" dirty="0"/>
              <a:t>runtime API</a:t>
            </a:r>
            <a:r>
              <a:rPr lang="zh-CN" altLang="en-US" dirty="0"/>
              <a:t>、</a:t>
            </a:r>
            <a:r>
              <a:rPr lang="en-US" altLang="zh-CN" dirty="0"/>
              <a:t>driver </a:t>
            </a:r>
            <a:r>
              <a:rPr lang="en-US" altLang="zh-CN" dirty="0" smtClean="0"/>
              <a:t>API</a:t>
            </a:r>
          </a:p>
          <a:p>
            <a:pPr lvl="1"/>
            <a:r>
              <a:rPr lang="zh-CN" altLang="en-US" dirty="0"/>
              <a:t>用于支持</a:t>
            </a:r>
            <a:r>
              <a:rPr lang="en-US" altLang="zh-CN" dirty="0"/>
              <a:t>driver API</a:t>
            </a:r>
            <a:r>
              <a:rPr lang="zh-CN" altLang="en-US" dirty="0"/>
              <a:t>的必要文件</a:t>
            </a:r>
            <a:r>
              <a:rPr lang="en-US" altLang="zh-CN" dirty="0"/>
              <a:t>(</a:t>
            </a:r>
            <a:r>
              <a:rPr lang="zh-CN" altLang="en-US" dirty="0"/>
              <a:t>如</a:t>
            </a:r>
            <a:r>
              <a:rPr lang="en-US" altLang="zh-CN" dirty="0"/>
              <a:t>libcuda.so)</a:t>
            </a:r>
            <a:r>
              <a:rPr lang="zh-CN" altLang="en-US" dirty="0"/>
              <a:t>是由</a:t>
            </a:r>
            <a:r>
              <a:rPr lang="en-US" altLang="zh-CN" dirty="0"/>
              <a:t>GPU driver installer</a:t>
            </a:r>
            <a:r>
              <a:rPr lang="zh-CN" altLang="en-US" dirty="0"/>
              <a:t>安装的</a:t>
            </a:r>
            <a:r>
              <a:rPr lang="zh-CN" altLang="en-US" dirty="0" smtClean="0"/>
              <a:t>。</a:t>
            </a:r>
            <a:endParaRPr lang="en-US" altLang="zh-CN" dirty="0" smtClean="0"/>
          </a:p>
          <a:p>
            <a:pPr lvl="1"/>
            <a:r>
              <a:rPr lang="zh-CN" altLang="en-US" dirty="0" smtClean="0"/>
              <a:t>用于</a:t>
            </a:r>
            <a:r>
              <a:rPr lang="zh-CN" altLang="en-US" dirty="0"/>
              <a:t>支持</a:t>
            </a:r>
            <a:r>
              <a:rPr lang="en-US" altLang="zh-CN" dirty="0"/>
              <a:t>runtime API</a:t>
            </a:r>
            <a:r>
              <a:rPr lang="zh-CN" altLang="en-US" dirty="0"/>
              <a:t>的必要文件</a:t>
            </a:r>
            <a:r>
              <a:rPr lang="en-US" altLang="zh-CN" dirty="0"/>
              <a:t>(</a:t>
            </a:r>
            <a:r>
              <a:rPr lang="zh-CN" altLang="en-US" dirty="0"/>
              <a:t>如</a:t>
            </a:r>
            <a:r>
              <a:rPr lang="en-US" altLang="zh-CN" dirty="0"/>
              <a:t>libcudart.so</a:t>
            </a:r>
            <a:r>
              <a:rPr lang="zh-CN" altLang="en-US" dirty="0"/>
              <a:t>以及</a:t>
            </a:r>
            <a:r>
              <a:rPr lang="en-US" altLang="zh-CN" dirty="0" err="1"/>
              <a:t>nvcc</a:t>
            </a:r>
            <a:r>
              <a:rPr lang="en-US" altLang="zh-CN" dirty="0"/>
              <a:t>)</a:t>
            </a:r>
            <a:r>
              <a:rPr lang="zh-CN" altLang="en-US" dirty="0"/>
              <a:t>是由</a:t>
            </a:r>
            <a:r>
              <a:rPr lang="en-US" altLang="zh-CN" dirty="0"/>
              <a:t>CUDA Toolkit installer</a:t>
            </a:r>
            <a:r>
              <a:rPr lang="zh-CN" altLang="en-US" dirty="0"/>
              <a:t>安装的</a:t>
            </a:r>
            <a:r>
              <a:rPr lang="zh-CN" altLang="en-US" dirty="0" smtClean="0"/>
              <a:t>。</a:t>
            </a:r>
            <a:endParaRPr lang="en-US" altLang="zh-CN" dirty="0" smtClean="0"/>
          </a:p>
          <a:p>
            <a:pPr lvl="1"/>
            <a:r>
              <a:rPr lang="en-US" altLang="zh-CN" dirty="0" err="1" smtClean="0"/>
              <a:t>nvidia-smi</a:t>
            </a:r>
            <a:r>
              <a:rPr lang="zh-CN" altLang="en-US" dirty="0"/>
              <a:t>属于</a:t>
            </a:r>
            <a:r>
              <a:rPr lang="en-US" altLang="zh-CN" dirty="0"/>
              <a:t>driver </a:t>
            </a:r>
            <a:r>
              <a:rPr lang="en-US" altLang="zh-CN" dirty="0" smtClean="0"/>
              <a:t>API</a:t>
            </a:r>
          </a:p>
          <a:p>
            <a:pPr lvl="1"/>
            <a:r>
              <a:rPr lang="en-US" altLang="zh-CN" dirty="0" err="1" smtClean="0"/>
              <a:t>nvcc</a:t>
            </a:r>
            <a:r>
              <a:rPr lang="zh-CN" altLang="en-US" dirty="0"/>
              <a:t>属于</a:t>
            </a:r>
            <a:r>
              <a:rPr lang="en-US" altLang="zh-CN" dirty="0"/>
              <a:t>runtime API</a:t>
            </a:r>
            <a:r>
              <a:rPr lang="zh-CN" altLang="en-US" dirty="0" smtClean="0"/>
              <a:t>。</a:t>
            </a:r>
            <a:endParaRPr lang="en-US" altLang="zh-CN" dirty="0" smtClean="0"/>
          </a:p>
          <a:p>
            <a:pPr lvl="1"/>
            <a:r>
              <a:rPr lang="en-US" altLang="zh-CN" dirty="0" err="1" smtClean="0"/>
              <a:t>nvcc</a:t>
            </a:r>
            <a:r>
              <a:rPr lang="zh-CN" altLang="en-US" dirty="0"/>
              <a:t>属于</a:t>
            </a:r>
            <a:r>
              <a:rPr lang="en-US" altLang="zh-CN" dirty="0"/>
              <a:t>CUDA compiler-driver tool</a:t>
            </a:r>
            <a:r>
              <a:rPr lang="zh-CN" altLang="en-US" dirty="0"/>
              <a:t>，只知道</a:t>
            </a:r>
            <a:r>
              <a:rPr lang="en-US" altLang="zh-CN" dirty="0"/>
              <a:t>runtime API</a:t>
            </a:r>
            <a:r>
              <a:rPr lang="zh-CN" altLang="en-US" dirty="0"/>
              <a:t>版本，甚至不知道是否安装了</a:t>
            </a:r>
            <a:r>
              <a:rPr lang="en-US" altLang="zh-CN" dirty="0"/>
              <a:t>GPU driver</a:t>
            </a:r>
            <a:r>
              <a:rPr lang="zh-CN" altLang="en-US" dirty="0" smtClean="0"/>
              <a:t>。</a:t>
            </a:r>
            <a:endParaRPr lang="zh-CN" altLang="en-US" dirty="0"/>
          </a:p>
        </p:txBody>
      </p:sp>
    </p:spTree>
    <p:extLst>
      <p:ext uri="{BB962C8B-B14F-4D97-AF65-F5344CB8AC3E}">
        <p14:creationId xmlns:p14="http://schemas.microsoft.com/office/powerpoint/2010/main" val="2206585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toolkit</a:t>
            </a:r>
            <a:endParaRPr lang="zh-CN" altLang="en-US" dirty="0"/>
          </a:p>
        </p:txBody>
      </p:sp>
      <p:sp>
        <p:nvSpPr>
          <p:cNvPr id="3" name="内容占位符 2"/>
          <p:cNvSpPr>
            <a:spLocks noGrp="1"/>
          </p:cNvSpPr>
          <p:nvPr>
            <p:ph sz="quarter" idx="13"/>
          </p:nvPr>
        </p:nvSpPr>
        <p:spPr/>
        <p:txBody>
          <a:bodyPr/>
          <a:lstStyle/>
          <a:p>
            <a:r>
              <a:rPr lang="zh-CN" altLang="zh-CN" dirty="0"/>
              <a:t>安装</a:t>
            </a:r>
            <a:r>
              <a:rPr lang="en-US" altLang="zh-CN" dirty="0" smtClean="0"/>
              <a:t>CUDA toolkit</a:t>
            </a:r>
            <a:r>
              <a:rPr lang="zh-CN" altLang="zh-CN" dirty="0" smtClean="0"/>
              <a:t>，</a:t>
            </a:r>
            <a:r>
              <a:rPr lang="en-US" altLang="zh-CN" dirty="0" smtClean="0"/>
              <a:t>CUDA </a:t>
            </a:r>
            <a:r>
              <a:rPr lang="en-US" altLang="zh-CN" dirty="0"/>
              <a:t>toolkit</a:t>
            </a:r>
            <a:r>
              <a:rPr lang="zh-CN" altLang="zh-CN" dirty="0" smtClean="0"/>
              <a:t>安装</a:t>
            </a:r>
            <a:r>
              <a:rPr lang="zh-CN" altLang="zh-CN" dirty="0"/>
              <a:t>地址：</a:t>
            </a:r>
            <a:r>
              <a:rPr lang="en-US" altLang="zh-CN" u="sng" dirty="0">
                <a:hlinkClick r:id="rId2"/>
              </a:rPr>
              <a:t>https://</a:t>
            </a:r>
            <a:r>
              <a:rPr lang="en-US" altLang="zh-CN" u="sng" dirty="0" smtClean="0">
                <a:hlinkClick r:id="rId2"/>
              </a:rPr>
              <a:t>developer.nvidia.com/cuda-toolkit-archive</a:t>
            </a:r>
            <a:endParaRPr lang="en-US" altLang="zh-CN" u="sng" dirty="0" smtClean="0"/>
          </a:p>
          <a:p>
            <a:r>
              <a:rPr lang="zh-CN" altLang="zh-CN" dirty="0"/>
              <a:t>建议选择</a:t>
            </a:r>
            <a:r>
              <a:rPr lang="en-US" altLang="zh-CN" dirty="0" smtClean="0"/>
              <a:t>CUDA10.1</a:t>
            </a:r>
            <a:r>
              <a:rPr lang="zh-CN" altLang="zh-CN" dirty="0" smtClean="0"/>
              <a:t>版本</a:t>
            </a:r>
            <a:r>
              <a:rPr lang="zh-CN" altLang="zh-CN" dirty="0"/>
              <a:t>。</a:t>
            </a:r>
          </a:p>
          <a:p>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5066" y="1548142"/>
            <a:ext cx="5315422" cy="4589131"/>
          </a:xfrm>
          <a:prstGeom prst="rect">
            <a:avLst/>
          </a:prstGeom>
        </p:spPr>
      </p:pic>
    </p:spTree>
    <p:extLst>
      <p:ext uri="{BB962C8B-B14F-4D97-AF65-F5344CB8AC3E}">
        <p14:creationId xmlns:p14="http://schemas.microsoft.com/office/powerpoint/2010/main" val="2903006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根据系统需求勾选对应的版本</a:t>
            </a:r>
            <a:r>
              <a:rPr lang="zh-CN" altLang="zh-CN" dirty="0" smtClean="0"/>
              <a:t>：</a:t>
            </a:r>
            <a:endParaRPr lang="en-US" altLang="zh-CN" dirty="0" smtClean="0"/>
          </a:p>
          <a:p>
            <a:pPr lvl="1"/>
            <a:r>
              <a:rPr lang="zh-CN" altLang="zh-CN" dirty="0"/>
              <a:t>这里选择</a:t>
            </a:r>
            <a:r>
              <a:rPr lang="en-US" altLang="zh-CN" dirty="0"/>
              <a:t>Windows</a:t>
            </a:r>
            <a:r>
              <a:rPr lang="zh-CN" altLang="zh-CN" dirty="0"/>
              <a:t>操作系统，版本为</a:t>
            </a:r>
            <a:r>
              <a:rPr lang="en-US" altLang="zh-CN" dirty="0"/>
              <a:t>Windows10</a:t>
            </a:r>
            <a:r>
              <a:rPr lang="zh-CN" altLang="zh-CN" dirty="0"/>
              <a:t>（根据实际情况调整</a:t>
            </a:r>
            <a:r>
              <a:rPr lang="zh-CN" altLang="zh-CN" dirty="0" smtClean="0"/>
              <a:t>）</a:t>
            </a:r>
            <a:endParaRPr lang="en-US" altLang="zh-CN" dirty="0" smtClean="0"/>
          </a:p>
          <a:p>
            <a:pPr lvl="1"/>
            <a:r>
              <a:rPr lang="zh-CN" altLang="zh-CN" dirty="0" smtClean="0"/>
              <a:t>选择</a:t>
            </a:r>
            <a:r>
              <a:rPr lang="en-US" altLang="zh-CN" dirty="0"/>
              <a:t>“exe(local)”</a:t>
            </a:r>
            <a:r>
              <a:rPr lang="zh-CN" altLang="zh-CN" dirty="0"/>
              <a:t>选项，下方会显示具体下载链接，点击</a:t>
            </a:r>
            <a:r>
              <a:rPr lang="en-US" altLang="zh-CN" dirty="0"/>
              <a:t>“Download(2.5GB)”</a:t>
            </a:r>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3735" y="2445567"/>
            <a:ext cx="6512501" cy="3691707"/>
          </a:xfrm>
          <a:prstGeom prst="rect">
            <a:avLst/>
          </a:prstGeom>
        </p:spPr>
      </p:pic>
    </p:spTree>
    <p:extLst>
      <p:ext uri="{BB962C8B-B14F-4D97-AF65-F5344CB8AC3E}">
        <p14:creationId xmlns:p14="http://schemas.microsoft.com/office/powerpoint/2010/main" val="16188687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下载需要一定的时间</a:t>
            </a:r>
            <a:r>
              <a:rPr lang="zh-CN" altLang="zh-CN" dirty="0" smtClean="0"/>
              <a:t>。</a:t>
            </a:r>
            <a:endParaRPr lang="en-US" altLang="zh-CN" dirty="0" smtClean="0"/>
          </a:p>
          <a:p>
            <a:r>
              <a:rPr lang="zh-CN" altLang="zh-CN" dirty="0"/>
              <a:t>下载完成后，打开</a:t>
            </a:r>
            <a:r>
              <a:rPr lang="en-US" altLang="zh-CN" dirty="0"/>
              <a:t>cuda_*****.exe</a:t>
            </a:r>
            <a:r>
              <a:rPr lang="zh-CN" altLang="zh-CN" dirty="0" smtClean="0"/>
              <a:t>文件</a:t>
            </a:r>
            <a:r>
              <a:rPr lang="zh-CN" altLang="en-US" dirty="0" smtClean="0"/>
              <a:t>，界面如下：</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建议选择默认路径进行安装，单击</a:t>
            </a:r>
            <a:r>
              <a:rPr lang="en-US" altLang="zh-CN" dirty="0"/>
              <a:t>“OK”</a:t>
            </a:r>
            <a:r>
              <a:rPr lang="zh-CN" altLang="zh-CN" dirty="0"/>
              <a:t>进行安装，需要等待一段时间</a:t>
            </a:r>
            <a:r>
              <a:rPr lang="zh-CN" altLang="zh-CN" dirty="0" smtClean="0"/>
              <a:t>。</a:t>
            </a:r>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4253" y="2738548"/>
            <a:ext cx="3961905" cy="1790476"/>
          </a:xfrm>
          <a:prstGeom prst="rect">
            <a:avLst/>
          </a:prstGeom>
        </p:spPr>
      </p:pic>
    </p:spTree>
    <p:extLst>
      <p:ext uri="{BB962C8B-B14F-4D97-AF65-F5344CB8AC3E}">
        <p14:creationId xmlns:p14="http://schemas.microsoft.com/office/powerpoint/2010/main" val="42623756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安装完成后</a:t>
            </a:r>
            <a:r>
              <a:rPr lang="zh-CN" altLang="zh-CN" dirty="0" smtClean="0"/>
              <a:t>出现</a:t>
            </a:r>
            <a:r>
              <a:rPr lang="zh-CN" altLang="en-US" dirty="0" smtClean="0"/>
              <a:t>如下</a:t>
            </a:r>
            <a:r>
              <a:rPr lang="zh-CN" altLang="zh-CN" dirty="0" smtClean="0"/>
              <a:t>界面</a:t>
            </a:r>
            <a:r>
              <a:rPr lang="zh-CN" altLang="zh-CN" dirty="0"/>
              <a:t>，表示正在打开安装界面。</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587" y="2109976"/>
            <a:ext cx="6095238" cy="3047619"/>
          </a:xfrm>
          <a:prstGeom prst="rect">
            <a:avLst/>
          </a:prstGeom>
        </p:spPr>
      </p:pic>
    </p:spTree>
    <p:extLst>
      <p:ext uri="{BB962C8B-B14F-4D97-AF65-F5344CB8AC3E}">
        <p14:creationId xmlns:p14="http://schemas.microsoft.com/office/powerpoint/2010/main" val="41440702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许可协议，点击</a:t>
            </a:r>
            <a:r>
              <a:rPr lang="en-US" altLang="zh-CN" dirty="0"/>
              <a:t>“</a:t>
            </a:r>
            <a:r>
              <a:rPr lang="zh-CN" altLang="zh-CN" dirty="0"/>
              <a:t>同意并继续</a:t>
            </a:r>
            <a:r>
              <a:rPr lang="en-US" altLang="zh-CN" dirty="0"/>
              <a:t>”</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1396" y="1918226"/>
            <a:ext cx="5647619" cy="4219048"/>
          </a:xfrm>
          <a:prstGeom prst="rect">
            <a:avLst/>
          </a:prstGeom>
        </p:spPr>
      </p:pic>
    </p:spTree>
    <p:extLst>
      <p:ext uri="{BB962C8B-B14F-4D97-AF65-F5344CB8AC3E}">
        <p14:creationId xmlns:p14="http://schemas.microsoft.com/office/powerpoint/2010/main" val="7366033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安装选项，选择</a:t>
            </a:r>
            <a:r>
              <a:rPr lang="en-US" altLang="zh-CN" dirty="0"/>
              <a:t>“</a:t>
            </a:r>
            <a:r>
              <a:rPr lang="zh-CN" altLang="zh-CN" dirty="0"/>
              <a:t>自定义</a:t>
            </a:r>
            <a:r>
              <a:rPr lang="en-US" altLang="zh-CN" dirty="0"/>
              <a:t>”</a:t>
            </a:r>
            <a:r>
              <a:rPr lang="zh-CN" altLang="zh-CN" dirty="0"/>
              <a:t>并单击</a:t>
            </a:r>
            <a:r>
              <a:rPr lang="en-US" altLang="zh-CN" dirty="0"/>
              <a:t>“</a:t>
            </a:r>
            <a:r>
              <a:rPr lang="zh-CN" altLang="zh-CN" dirty="0"/>
              <a:t>下一步</a:t>
            </a:r>
            <a:r>
              <a:rPr lang="en-US" altLang="zh-CN" dirty="0"/>
              <a:t>”</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1396" y="1918226"/>
            <a:ext cx="5647619" cy="4219048"/>
          </a:xfrm>
          <a:prstGeom prst="rect">
            <a:avLst/>
          </a:prstGeom>
        </p:spPr>
      </p:pic>
    </p:spTree>
    <p:extLst>
      <p:ext uri="{BB962C8B-B14F-4D97-AF65-F5344CB8AC3E}">
        <p14:creationId xmlns:p14="http://schemas.microsoft.com/office/powerpoint/2010/main" val="8403586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之后会确认安装的内容，这里全部勾选，单击</a:t>
            </a:r>
            <a:r>
              <a:rPr lang="zh-CN" altLang="zh-CN" dirty="0" smtClean="0"/>
              <a:t>下一步。</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1396" y="1927750"/>
            <a:ext cx="5647619" cy="4209524"/>
          </a:xfrm>
          <a:prstGeom prst="rect">
            <a:avLst/>
          </a:prstGeom>
        </p:spPr>
      </p:pic>
    </p:spTree>
    <p:extLst>
      <p:ext uri="{BB962C8B-B14F-4D97-AF65-F5344CB8AC3E}">
        <p14:creationId xmlns:p14="http://schemas.microsoft.com/office/powerpoint/2010/main" val="23527652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之后选择安装路径，这里建议选择默认安装路径，便于环境变量的</a:t>
            </a:r>
            <a:r>
              <a:rPr lang="zh-CN" altLang="zh-CN" dirty="0" smtClean="0"/>
              <a:t>配置。</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6634" y="1908703"/>
            <a:ext cx="5657143" cy="4228571"/>
          </a:xfrm>
          <a:prstGeom prst="rect">
            <a:avLst/>
          </a:prstGeom>
        </p:spPr>
      </p:pic>
    </p:spTree>
    <p:extLst>
      <p:ext uri="{BB962C8B-B14F-4D97-AF65-F5344CB8AC3E}">
        <p14:creationId xmlns:p14="http://schemas.microsoft.com/office/powerpoint/2010/main" val="16626088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可能会弹出确认</a:t>
            </a:r>
            <a:r>
              <a:rPr lang="en-US" altLang="zh-CN" dirty="0"/>
              <a:t>Visual Studio</a:t>
            </a:r>
            <a:r>
              <a:rPr lang="zh-CN" altLang="zh-CN" dirty="0"/>
              <a:t>的安装，如果电脑已有</a:t>
            </a:r>
            <a:r>
              <a:rPr lang="en-US" altLang="zh-CN" dirty="0"/>
              <a:t>Visual Studio</a:t>
            </a:r>
            <a:r>
              <a:rPr lang="zh-CN" altLang="zh-CN" dirty="0"/>
              <a:t>则不会弹出这一步，如果没有安装，勾选选项并点击</a:t>
            </a:r>
            <a:r>
              <a:rPr lang="en-US" altLang="zh-CN" dirty="0"/>
              <a:t>“</a:t>
            </a:r>
            <a:r>
              <a:rPr lang="en-US" altLang="zh-CN" u="sng" dirty="0"/>
              <a:t>N</a:t>
            </a:r>
            <a:r>
              <a:rPr lang="en-US" altLang="zh-CN" dirty="0"/>
              <a:t>EXT</a:t>
            </a:r>
            <a:r>
              <a:rPr lang="en-US" altLang="zh-CN" dirty="0" smtClean="0"/>
              <a:t>”</a:t>
            </a:r>
            <a:r>
              <a:rPr lang="zh-CN" altLang="zh-CN" dirty="0" smtClean="0"/>
              <a:t>。</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6634" y="1908703"/>
            <a:ext cx="5657143" cy="4228571"/>
          </a:xfrm>
          <a:prstGeom prst="rect">
            <a:avLst/>
          </a:prstGeom>
        </p:spPr>
      </p:pic>
    </p:spTree>
    <p:extLst>
      <p:ext uri="{BB962C8B-B14F-4D97-AF65-F5344CB8AC3E}">
        <p14:creationId xmlns:p14="http://schemas.microsoft.com/office/powerpoint/2010/main" val="989674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安装需要一段时间，请耐心等待。最终确认界面，单击</a:t>
            </a:r>
            <a:r>
              <a:rPr lang="en-US" altLang="zh-CN" dirty="0"/>
              <a:t>“</a:t>
            </a:r>
            <a:r>
              <a:rPr lang="zh-CN" altLang="zh-CN" dirty="0"/>
              <a:t>下一步</a:t>
            </a:r>
            <a:r>
              <a:rPr lang="en-US" altLang="zh-CN" dirty="0"/>
              <a:t>”</a:t>
            </a:r>
            <a:r>
              <a:rPr lang="zh-CN" altLang="zh-CN" dirty="0"/>
              <a:t>完成安装。</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1396" y="1937274"/>
            <a:ext cx="5647619" cy="4200000"/>
          </a:xfrm>
          <a:prstGeom prst="rect">
            <a:avLst/>
          </a:prstGeom>
        </p:spPr>
      </p:pic>
    </p:spTree>
    <p:extLst>
      <p:ext uri="{BB962C8B-B14F-4D97-AF65-F5344CB8AC3E}">
        <p14:creationId xmlns:p14="http://schemas.microsoft.com/office/powerpoint/2010/main" val="41099957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smtClean="0"/>
              <a:t>显示</a:t>
            </a:r>
            <a:r>
              <a:rPr lang="zh-CN" altLang="en-US" dirty="0" smtClean="0"/>
              <a:t>如下</a:t>
            </a:r>
            <a:r>
              <a:rPr lang="zh-CN" altLang="zh-CN" dirty="0" smtClean="0"/>
              <a:t>界面</a:t>
            </a:r>
            <a:r>
              <a:rPr lang="zh-CN" altLang="zh-CN" dirty="0"/>
              <a:t>，表示安装已经完成，选项建议不勾选，单击</a:t>
            </a:r>
            <a:r>
              <a:rPr lang="en-US" altLang="zh-CN" dirty="0"/>
              <a:t>“</a:t>
            </a:r>
            <a:r>
              <a:rPr lang="zh-CN" altLang="zh-CN" dirty="0"/>
              <a:t>关闭</a:t>
            </a:r>
            <a:r>
              <a:rPr lang="en-US" altLang="zh-CN" dirty="0"/>
              <a:t>”</a:t>
            </a:r>
            <a:r>
              <a:rPr lang="zh-CN" altLang="zh-CN" dirty="0"/>
              <a:t>。</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1872" y="1899179"/>
            <a:ext cx="5666667" cy="4238095"/>
          </a:xfrm>
          <a:prstGeom prst="rect">
            <a:avLst/>
          </a:prstGeom>
        </p:spPr>
      </p:pic>
    </p:spTree>
    <p:extLst>
      <p:ext uri="{BB962C8B-B14F-4D97-AF65-F5344CB8AC3E}">
        <p14:creationId xmlns:p14="http://schemas.microsoft.com/office/powerpoint/2010/main" val="22202670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CUDA </a:t>
            </a:r>
            <a:r>
              <a:rPr lang="en-US" altLang="zh-CN" dirty="0"/>
              <a:t>toolkit</a:t>
            </a:r>
            <a:endParaRPr lang="zh-CN" altLang="en-US" dirty="0"/>
          </a:p>
        </p:txBody>
      </p:sp>
      <p:sp>
        <p:nvSpPr>
          <p:cNvPr id="3" name="内容占位符 2"/>
          <p:cNvSpPr>
            <a:spLocks noGrp="1"/>
          </p:cNvSpPr>
          <p:nvPr>
            <p:ph sz="quarter" idx="13"/>
          </p:nvPr>
        </p:nvSpPr>
        <p:spPr/>
        <p:txBody>
          <a:bodyPr/>
          <a:lstStyle/>
          <a:p>
            <a:r>
              <a:rPr lang="zh-CN" altLang="zh-CN" dirty="0"/>
              <a:t>安装完成后可以在安装路径中找到</a:t>
            </a:r>
            <a:r>
              <a:rPr lang="en-US" altLang="zh-CN" dirty="0"/>
              <a:t>CUDA</a:t>
            </a:r>
            <a:r>
              <a:rPr lang="zh-CN" altLang="zh-CN" dirty="0" smtClean="0"/>
              <a:t>文件夹，</a:t>
            </a:r>
            <a:r>
              <a:rPr lang="zh-CN" altLang="zh-CN" dirty="0"/>
              <a:t>说明安装成功。本实验用默认路径安装，具体根据之前安装选择的路径查找。</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3777" y="1848071"/>
            <a:ext cx="6342857" cy="3571429"/>
          </a:xfrm>
          <a:prstGeom prst="rect">
            <a:avLst/>
          </a:prstGeom>
        </p:spPr>
      </p:pic>
    </p:spTree>
    <p:extLst>
      <p:ext uri="{BB962C8B-B14F-4D97-AF65-F5344CB8AC3E}">
        <p14:creationId xmlns:p14="http://schemas.microsoft.com/office/powerpoint/2010/main" val="22381584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a:t>CUDA toolkit</a:t>
            </a:r>
            <a:endParaRPr lang="zh-CN" altLang="en-US" dirty="0"/>
          </a:p>
        </p:txBody>
      </p:sp>
      <p:sp>
        <p:nvSpPr>
          <p:cNvPr id="3" name="内容占位符 2"/>
          <p:cNvSpPr>
            <a:spLocks noGrp="1"/>
          </p:cNvSpPr>
          <p:nvPr>
            <p:ph sz="quarter" idx="13"/>
          </p:nvPr>
        </p:nvSpPr>
        <p:spPr/>
        <p:txBody>
          <a:bodyPr/>
          <a:lstStyle/>
          <a:p>
            <a:r>
              <a:rPr lang="en-US" altLang="zh-CN" dirty="0"/>
              <a:t>CUDA toolkit</a:t>
            </a:r>
            <a:r>
              <a:rPr lang="zh-CN" altLang="zh-CN" dirty="0"/>
              <a:t>安装成功后并不能直接使用，还需要配置环境变量。</a:t>
            </a:r>
          </a:p>
          <a:p>
            <a:r>
              <a:rPr lang="zh-CN" altLang="zh-CN" dirty="0"/>
              <a:t>右键桌面上</a:t>
            </a:r>
            <a:r>
              <a:rPr lang="en-US" altLang="zh-CN" dirty="0"/>
              <a:t>“</a:t>
            </a:r>
            <a:r>
              <a:rPr lang="zh-CN" altLang="zh-CN" dirty="0"/>
              <a:t>此电脑</a:t>
            </a:r>
            <a:r>
              <a:rPr lang="en-US" altLang="zh-CN" dirty="0"/>
              <a:t>”</a:t>
            </a:r>
            <a:r>
              <a:rPr lang="zh-CN" altLang="zh-CN" dirty="0"/>
              <a:t>（旧版</a:t>
            </a:r>
            <a:r>
              <a:rPr lang="en-US" altLang="zh-CN" dirty="0"/>
              <a:t>windows</a:t>
            </a:r>
            <a:r>
              <a:rPr lang="zh-CN" altLang="zh-CN" dirty="0"/>
              <a:t>系统中为</a:t>
            </a:r>
            <a:r>
              <a:rPr lang="en-US" altLang="zh-CN" dirty="0"/>
              <a:t>“</a:t>
            </a:r>
            <a:r>
              <a:rPr lang="zh-CN" altLang="zh-CN" dirty="0"/>
              <a:t>我的电脑</a:t>
            </a:r>
            <a:r>
              <a:rPr lang="en-US" altLang="zh-CN" dirty="0"/>
              <a:t>”</a:t>
            </a:r>
            <a:r>
              <a:rPr lang="zh-CN" altLang="zh-CN" dirty="0"/>
              <a:t>），单击</a:t>
            </a:r>
            <a:r>
              <a:rPr lang="en-US" altLang="zh-CN" dirty="0"/>
              <a:t>“</a:t>
            </a:r>
            <a:r>
              <a:rPr lang="zh-CN" altLang="zh-CN" dirty="0"/>
              <a:t>属性</a:t>
            </a:r>
            <a:r>
              <a:rPr lang="en-US" altLang="zh-CN" dirty="0"/>
              <a:t>”</a:t>
            </a:r>
            <a:r>
              <a:rPr lang="zh-CN" altLang="zh-CN" dirty="0"/>
              <a:t>，弹出设置界面，找到</a:t>
            </a:r>
            <a:r>
              <a:rPr lang="en-US" altLang="zh-CN" dirty="0"/>
              <a:t>“</a:t>
            </a:r>
            <a:r>
              <a:rPr lang="zh-CN" altLang="zh-CN" dirty="0"/>
              <a:t>高级系统设置</a:t>
            </a:r>
            <a:r>
              <a:rPr lang="en-US" altLang="zh-CN" dirty="0"/>
              <a:t>”</a:t>
            </a:r>
            <a:r>
              <a:rPr lang="zh-CN" altLang="zh-CN" dirty="0"/>
              <a:t>并单击。</a:t>
            </a:r>
          </a:p>
          <a:p>
            <a:endParaRPr lang="zh-CN" altLang="en-US"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6216" y="2353901"/>
            <a:ext cx="6977980" cy="3783373"/>
          </a:xfrm>
          <a:prstGeom prst="rect">
            <a:avLst/>
          </a:prstGeom>
        </p:spPr>
      </p:pic>
    </p:spTree>
    <p:extLst>
      <p:ext uri="{BB962C8B-B14F-4D97-AF65-F5344CB8AC3E}">
        <p14:creationId xmlns:p14="http://schemas.microsoft.com/office/powerpoint/2010/main" val="37085810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a:t>CUDA toolkit</a:t>
            </a:r>
            <a:endParaRPr lang="zh-CN" altLang="en-US" dirty="0"/>
          </a:p>
        </p:txBody>
      </p:sp>
      <p:sp>
        <p:nvSpPr>
          <p:cNvPr id="3" name="内容占位符 2"/>
          <p:cNvSpPr>
            <a:spLocks noGrp="1"/>
          </p:cNvSpPr>
          <p:nvPr>
            <p:ph sz="quarter" idx="13"/>
          </p:nvPr>
        </p:nvSpPr>
        <p:spPr/>
        <p:txBody>
          <a:bodyPr/>
          <a:lstStyle/>
          <a:p>
            <a:r>
              <a:rPr lang="zh-CN" altLang="zh-CN" dirty="0"/>
              <a:t>在高级系统设置界面中，选择上方</a:t>
            </a:r>
            <a:r>
              <a:rPr lang="en-US" altLang="zh-CN" dirty="0"/>
              <a:t>“</a:t>
            </a:r>
            <a:r>
              <a:rPr lang="zh-CN" altLang="zh-CN" dirty="0"/>
              <a:t>高级</a:t>
            </a:r>
            <a:r>
              <a:rPr lang="en-US" altLang="zh-CN" dirty="0"/>
              <a:t>”</a:t>
            </a:r>
            <a:r>
              <a:rPr lang="zh-CN" altLang="zh-CN" dirty="0"/>
              <a:t>，可以发现设置环境变量。单击</a:t>
            </a:r>
            <a:r>
              <a:rPr lang="en-US" altLang="zh-CN" dirty="0"/>
              <a:t>“</a:t>
            </a:r>
            <a:r>
              <a:rPr lang="zh-CN" altLang="zh-CN" dirty="0"/>
              <a:t>环境变量</a:t>
            </a:r>
            <a:r>
              <a:rPr lang="en-US" altLang="zh-CN" dirty="0"/>
              <a:t>”</a:t>
            </a:r>
            <a:r>
              <a:rPr lang="zh-CN" altLang="zh-CN" dirty="0"/>
              <a:t>，可以发现在</a:t>
            </a:r>
            <a:r>
              <a:rPr lang="en-US" altLang="zh-CN" dirty="0"/>
              <a:t>CUDA10.1</a:t>
            </a:r>
            <a:r>
              <a:rPr lang="zh-CN" altLang="zh-CN" dirty="0"/>
              <a:t>版本中，已经自动在系统变量中添加了</a:t>
            </a:r>
            <a:r>
              <a:rPr lang="en-US" altLang="zh-CN" dirty="0"/>
              <a:t>CUDA_PATH</a:t>
            </a:r>
            <a:r>
              <a:rPr lang="zh-CN" altLang="zh-CN" dirty="0"/>
              <a:t>和</a:t>
            </a:r>
            <a:r>
              <a:rPr lang="en-US" altLang="zh-CN" dirty="0"/>
              <a:t>CUDA_PATH_V10_1</a:t>
            </a:r>
            <a:r>
              <a:rPr lang="zh-CN" altLang="zh-CN" dirty="0"/>
              <a:t>（版本号），可以直接</a:t>
            </a:r>
            <a:r>
              <a:rPr lang="zh-CN" altLang="zh-CN" dirty="0" smtClean="0"/>
              <a:t>使用。</a:t>
            </a:r>
            <a:r>
              <a:rPr lang="zh-CN" altLang="zh-CN" dirty="0"/>
              <a:t>（如果没有则需要自行添加）</a:t>
            </a:r>
          </a:p>
          <a:p>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l="1137" t="4437"/>
          <a:stretch/>
        </p:blipFill>
        <p:spPr>
          <a:xfrm>
            <a:off x="2944769" y="2326742"/>
            <a:ext cx="6300874" cy="3810532"/>
          </a:xfrm>
          <a:prstGeom prst="rect">
            <a:avLst/>
          </a:prstGeom>
        </p:spPr>
      </p:pic>
    </p:spTree>
    <p:extLst>
      <p:ext uri="{BB962C8B-B14F-4D97-AF65-F5344CB8AC3E}">
        <p14:creationId xmlns:p14="http://schemas.microsoft.com/office/powerpoint/2010/main" val="18222292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a:t>CUDA toolkit</a:t>
            </a:r>
            <a:endParaRPr lang="zh-CN" altLang="en-US" dirty="0"/>
          </a:p>
        </p:txBody>
      </p:sp>
      <p:sp>
        <p:nvSpPr>
          <p:cNvPr id="3" name="内容占位符 2"/>
          <p:cNvSpPr>
            <a:spLocks noGrp="1"/>
          </p:cNvSpPr>
          <p:nvPr>
            <p:ph sz="quarter" idx="13"/>
          </p:nvPr>
        </p:nvSpPr>
        <p:spPr/>
        <p:txBody>
          <a:bodyPr/>
          <a:lstStyle/>
          <a:p>
            <a:r>
              <a:rPr lang="zh-CN" altLang="zh-CN" dirty="0"/>
              <a:t>检验</a:t>
            </a:r>
            <a:r>
              <a:rPr lang="en-US" altLang="zh-CN" dirty="0"/>
              <a:t>CUDA</a:t>
            </a:r>
            <a:r>
              <a:rPr lang="zh-CN" altLang="zh-CN" dirty="0"/>
              <a:t>是否可用，最简单的方式是打开命令提示符，输入指令：</a:t>
            </a:r>
          </a:p>
          <a:p>
            <a:pPr lvl="1"/>
            <a:r>
              <a:rPr lang="en-US" altLang="zh-CN" dirty="0" err="1"/>
              <a:t>nvcc</a:t>
            </a:r>
            <a:r>
              <a:rPr lang="en-US" altLang="zh-CN" dirty="0"/>
              <a:t> </a:t>
            </a:r>
            <a:r>
              <a:rPr lang="en-US" altLang="zh-CN" dirty="0" smtClean="0"/>
              <a:t>–V</a:t>
            </a:r>
          </a:p>
          <a:p>
            <a:r>
              <a:rPr lang="en-US" altLang="zh-CN" dirty="0"/>
              <a:t>CUDA</a:t>
            </a:r>
            <a:r>
              <a:rPr lang="zh-CN" altLang="zh-CN" dirty="0"/>
              <a:t>配置完成后会显示</a:t>
            </a:r>
            <a:r>
              <a:rPr lang="en-US" altLang="zh-CN" dirty="0"/>
              <a:t>CUDA</a:t>
            </a:r>
            <a:r>
              <a:rPr lang="zh-CN" altLang="zh-CN" dirty="0" smtClean="0"/>
              <a:t>版本。</a:t>
            </a:r>
            <a:endParaRPr lang="zh-CN" altLang="zh-CN" dirty="0"/>
          </a:p>
          <a:p>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54800"/>
          <a:stretch/>
        </p:blipFill>
        <p:spPr>
          <a:xfrm>
            <a:off x="1438063" y="2536063"/>
            <a:ext cx="9314286" cy="2195445"/>
          </a:xfrm>
          <a:prstGeom prst="rect">
            <a:avLst/>
          </a:prstGeom>
        </p:spPr>
      </p:pic>
    </p:spTree>
    <p:extLst>
      <p:ext uri="{BB962C8B-B14F-4D97-AF65-F5344CB8AC3E}">
        <p14:creationId xmlns:p14="http://schemas.microsoft.com/office/powerpoint/2010/main" val="2659150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r>
              <a:rPr lang="en-US" altLang="zh-CN" dirty="0" smtClean="0"/>
              <a:t>CPU</a:t>
            </a:r>
            <a:r>
              <a:rPr lang="zh-CN" altLang="en-US" dirty="0" smtClean="0"/>
              <a:t>版本：</a:t>
            </a:r>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GPU</a:t>
            </a:r>
            <a:r>
              <a:rPr lang="zh-CN" altLang="en-US" dirty="0" smtClean="0"/>
              <a:t>版本：</a:t>
            </a:r>
            <a:endParaRPr lang="zh-CN" altLang="en-US" dirty="0"/>
          </a:p>
        </p:txBody>
      </p:sp>
      <p:graphicFrame>
        <p:nvGraphicFramePr>
          <p:cNvPr id="4" name="图示 3"/>
          <p:cNvGraphicFramePr/>
          <p:nvPr>
            <p:extLst>
              <p:ext uri="{D42A27DB-BD31-4B8C-83A1-F6EECF244321}">
                <p14:modId xmlns:p14="http://schemas.microsoft.com/office/powerpoint/2010/main" val="3863570938"/>
              </p:ext>
            </p:extLst>
          </p:nvPr>
        </p:nvGraphicFramePr>
        <p:xfrm>
          <a:off x="669925" y="4690583"/>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图示 4"/>
          <p:cNvGraphicFramePr/>
          <p:nvPr>
            <p:extLst/>
          </p:nvPr>
        </p:nvGraphicFramePr>
        <p:xfrm>
          <a:off x="669925" y="1991141"/>
          <a:ext cx="10850563" cy="5400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6511218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err="1" smtClean="0"/>
              <a:t>cuDNN</a:t>
            </a:r>
            <a:endParaRPr lang="zh-CN" altLang="en-US" dirty="0"/>
          </a:p>
        </p:txBody>
      </p:sp>
      <p:sp>
        <p:nvSpPr>
          <p:cNvPr id="3" name="内容占位符 2"/>
          <p:cNvSpPr>
            <a:spLocks noGrp="1"/>
          </p:cNvSpPr>
          <p:nvPr>
            <p:ph sz="quarter" idx="13"/>
          </p:nvPr>
        </p:nvSpPr>
        <p:spPr/>
        <p:txBody>
          <a:bodyPr/>
          <a:lstStyle/>
          <a:p>
            <a:r>
              <a:rPr lang="en-US" altLang="zh-CN" dirty="0" err="1" smtClean="0"/>
              <a:t>cuDNN</a:t>
            </a:r>
            <a:r>
              <a:rPr lang="zh-CN" altLang="en-US" dirty="0" smtClean="0"/>
              <a:t>（</a:t>
            </a:r>
            <a:r>
              <a:rPr lang="en-US" altLang="zh-CN" dirty="0"/>
              <a:t>CUDA Deep Neural Network library</a:t>
            </a:r>
            <a:r>
              <a:rPr lang="zh-CN" altLang="en-US" dirty="0" smtClean="0"/>
              <a:t>）：</a:t>
            </a:r>
            <a:endParaRPr lang="en-US" altLang="zh-CN" dirty="0" smtClean="0"/>
          </a:p>
          <a:p>
            <a:pPr lvl="1"/>
            <a:r>
              <a:rPr lang="zh-CN" altLang="en-US" dirty="0" smtClean="0"/>
              <a:t>基于</a:t>
            </a:r>
            <a:r>
              <a:rPr lang="en-US" altLang="zh-CN" dirty="0" smtClean="0"/>
              <a:t>CUDA</a:t>
            </a:r>
            <a:r>
              <a:rPr lang="zh-CN" altLang="en-US" dirty="0" smtClean="0"/>
              <a:t>的深度学习</a:t>
            </a:r>
            <a:r>
              <a:rPr lang="en-US" altLang="zh-CN" dirty="0" smtClean="0"/>
              <a:t>GPU</a:t>
            </a:r>
            <a:r>
              <a:rPr lang="zh-CN" altLang="en-US" dirty="0" smtClean="0"/>
              <a:t>加速库</a:t>
            </a:r>
            <a:endParaRPr lang="en-US" altLang="zh-CN" dirty="0" smtClean="0"/>
          </a:p>
          <a:p>
            <a:pPr lvl="1"/>
            <a:r>
              <a:rPr lang="zh-CN" altLang="en-US" dirty="0"/>
              <a:t>用于深层神经网络的</a:t>
            </a:r>
            <a:r>
              <a:rPr lang="en-US" altLang="zh-CN" dirty="0" smtClean="0"/>
              <a:t>GPU</a:t>
            </a:r>
            <a:r>
              <a:rPr lang="zh-CN" altLang="en-US" dirty="0" smtClean="0"/>
              <a:t>计算加速</a:t>
            </a:r>
            <a:endParaRPr lang="en-US" altLang="zh-CN" dirty="0" smtClean="0"/>
          </a:p>
          <a:p>
            <a:pPr lvl="1"/>
            <a:r>
              <a:rPr lang="zh-CN" altLang="en-US" dirty="0"/>
              <a:t>强调性能、易用性和低内存</a:t>
            </a:r>
            <a:r>
              <a:rPr lang="zh-CN" altLang="en-US" dirty="0" smtClean="0"/>
              <a:t>开销</a:t>
            </a:r>
            <a:endParaRPr lang="en-US" altLang="zh-CN" dirty="0" smtClean="0"/>
          </a:p>
          <a:p>
            <a:pPr lvl="1"/>
            <a:r>
              <a:rPr lang="zh-CN" altLang="en-US" dirty="0" smtClean="0"/>
              <a:t>可集成</a:t>
            </a:r>
            <a:r>
              <a:rPr lang="zh-CN" altLang="en-US" dirty="0"/>
              <a:t>到更高级别的机器学习框架</a:t>
            </a:r>
            <a:r>
              <a:rPr lang="zh-CN" altLang="en-US" dirty="0" smtClean="0"/>
              <a:t>中</a:t>
            </a:r>
            <a:endParaRPr lang="en-US" altLang="zh-CN" dirty="0" smtClean="0"/>
          </a:p>
          <a:p>
            <a:pPr lvl="1"/>
            <a:r>
              <a:rPr lang="zh-CN" altLang="en-US" dirty="0" smtClean="0"/>
              <a:t>非必需，但一般采用以加速计算</a:t>
            </a:r>
            <a:endParaRPr lang="en-US" altLang="zh-CN" dirty="0"/>
          </a:p>
          <a:p>
            <a:pPr lvl="1"/>
            <a:endParaRPr lang="en-US" altLang="zh-CN" dirty="0" smtClean="0"/>
          </a:p>
          <a:p>
            <a:pPr lvl="1"/>
            <a:endParaRPr lang="en-US" altLang="zh-CN" dirty="0" smtClean="0"/>
          </a:p>
          <a:p>
            <a:endParaRPr lang="zh-CN" altLang="en-US" dirty="0"/>
          </a:p>
        </p:txBody>
      </p:sp>
    </p:spTree>
    <p:extLst>
      <p:ext uri="{BB962C8B-B14F-4D97-AF65-F5344CB8AC3E}">
        <p14:creationId xmlns:p14="http://schemas.microsoft.com/office/powerpoint/2010/main" val="17741369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err="1" smtClean="0"/>
              <a:t>cuDNN</a:t>
            </a:r>
            <a:endParaRPr lang="zh-CN" altLang="en-US" dirty="0"/>
          </a:p>
        </p:txBody>
      </p:sp>
      <p:sp>
        <p:nvSpPr>
          <p:cNvPr id="3" name="内容占位符 2"/>
          <p:cNvSpPr>
            <a:spLocks noGrp="1"/>
          </p:cNvSpPr>
          <p:nvPr>
            <p:ph sz="quarter" idx="13"/>
          </p:nvPr>
        </p:nvSpPr>
        <p:spPr/>
        <p:txBody>
          <a:bodyPr/>
          <a:lstStyle/>
          <a:p>
            <a:r>
              <a:rPr lang="en-US" altLang="zh-CN" dirty="0"/>
              <a:t>CUDA</a:t>
            </a:r>
            <a:r>
              <a:rPr lang="zh-CN" altLang="zh-CN" dirty="0"/>
              <a:t>安装完毕后，还需要相对应的</a:t>
            </a:r>
            <a:r>
              <a:rPr lang="en-US" altLang="zh-CN" dirty="0" err="1"/>
              <a:t>cuDNN</a:t>
            </a:r>
            <a:r>
              <a:rPr lang="zh-CN" altLang="zh-CN" dirty="0"/>
              <a:t>才能达到加速深度学习神经网络计算的效果。</a:t>
            </a:r>
          </a:p>
          <a:p>
            <a:r>
              <a:rPr lang="zh-CN" altLang="zh-CN" dirty="0" smtClean="0"/>
              <a:t>下载</a:t>
            </a:r>
            <a:r>
              <a:rPr lang="en-US" altLang="zh-CN" dirty="0" err="1"/>
              <a:t>cuDNN</a:t>
            </a:r>
            <a:r>
              <a:rPr lang="zh-CN" altLang="zh-CN" dirty="0"/>
              <a:t>，下载网址：</a:t>
            </a:r>
            <a:r>
              <a:rPr lang="en-US" altLang="zh-CN" u="sng" dirty="0">
                <a:hlinkClick r:id="rId2"/>
              </a:rPr>
              <a:t>https://developer.nvidia.cn/zh-cn/cudnn</a:t>
            </a:r>
            <a:endParaRPr lang="zh-CN" altLang="zh-CN" dirty="0"/>
          </a:p>
          <a:p>
            <a:r>
              <a:rPr lang="zh-CN" altLang="zh-CN" dirty="0"/>
              <a:t>注：下载</a:t>
            </a:r>
            <a:r>
              <a:rPr lang="en-US" altLang="zh-CN" dirty="0" err="1"/>
              <a:t>cuDNN</a:t>
            </a:r>
            <a:r>
              <a:rPr lang="zh-CN" altLang="zh-CN" dirty="0"/>
              <a:t>需要先注册并登录</a:t>
            </a:r>
            <a:r>
              <a:rPr lang="en-US" altLang="zh-CN" dirty="0" err="1"/>
              <a:t>nvidia</a:t>
            </a:r>
            <a:r>
              <a:rPr lang="zh-CN" altLang="zh-CN" dirty="0"/>
              <a:t>账号</a:t>
            </a:r>
          </a:p>
          <a:p>
            <a:r>
              <a:rPr lang="zh-CN" altLang="zh-CN" dirty="0"/>
              <a:t>登录之后点击“下载</a:t>
            </a:r>
            <a:r>
              <a:rPr lang="en-US" altLang="zh-CN" dirty="0" err="1"/>
              <a:t>cuDNN</a:t>
            </a:r>
            <a:r>
              <a:rPr lang="zh-CN" altLang="zh-CN" dirty="0"/>
              <a:t>”，勾选协议之后选择“</a:t>
            </a:r>
            <a:r>
              <a:rPr lang="en-US" altLang="zh-CN" dirty="0"/>
              <a:t>Archived </a:t>
            </a:r>
            <a:r>
              <a:rPr lang="en-US" altLang="zh-CN" dirty="0" err="1"/>
              <a:t>cuDNN</a:t>
            </a:r>
            <a:r>
              <a:rPr lang="en-US" altLang="zh-CN" dirty="0"/>
              <a:t> Releases</a:t>
            </a:r>
            <a:r>
              <a:rPr lang="zh-CN" altLang="zh-CN" dirty="0"/>
              <a:t>”：</a:t>
            </a: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0133" y="3051018"/>
            <a:ext cx="6222652" cy="3086256"/>
          </a:xfrm>
          <a:prstGeom prst="rect">
            <a:avLst/>
          </a:prstGeom>
        </p:spPr>
      </p:pic>
    </p:spTree>
    <p:extLst>
      <p:ext uri="{BB962C8B-B14F-4D97-AF65-F5344CB8AC3E}">
        <p14:creationId xmlns:p14="http://schemas.microsoft.com/office/powerpoint/2010/main" val="17121270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err="1" smtClean="0"/>
              <a:t>cuDNN</a:t>
            </a:r>
            <a:endParaRPr lang="zh-CN" altLang="en-US" dirty="0"/>
          </a:p>
        </p:txBody>
      </p:sp>
      <p:sp>
        <p:nvSpPr>
          <p:cNvPr id="3" name="内容占位符 2"/>
          <p:cNvSpPr>
            <a:spLocks noGrp="1"/>
          </p:cNvSpPr>
          <p:nvPr>
            <p:ph sz="quarter" idx="13"/>
          </p:nvPr>
        </p:nvSpPr>
        <p:spPr/>
        <p:txBody>
          <a:bodyPr/>
          <a:lstStyle/>
          <a:p>
            <a:r>
              <a:rPr lang="zh-CN" altLang="zh-CN" dirty="0"/>
              <a:t>根据安装的</a:t>
            </a:r>
            <a:r>
              <a:rPr lang="en-US" altLang="zh-CN" dirty="0"/>
              <a:t>CUDA toolkit</a:t>
            </a:r>
            <a:r>
              <a:rPr lang="zh-CN" altLang="zh-CN" dirty="0"/>
              <a:t>版本选择对应的</a:t>
            </a:r>
            <a:r>
              <a:rPr lang="en-US" altLang="zh-CN" dirty="0" err="1"/>
              <a:t>cuDNN</a:t>
            </a:r>
            <a:r>
              <a:rPr lang="zh-CN" altLang="zh-CN" dirty="0"/>
              <a:t>，这里以</a:t>
            </a:r>
            <a:r>
              <a:rPr lang="en-US" altLang="zh-CN" dirty="0"/>
              <a:t>v8.0.5</a:t>
            </a:r>
            <a:r>
              <a:rPr lang="zh-CN" altLang="zh-CN" dirty="0"/>
              <a:t>为例，选择</a:t>
            </a:r>
            <a:r>
              <a:rPr lang="en-US" altLang="zh-CN" dirty="0"/>
              <a:t>“</a:t>
            </a:r>
            <a:r>
              <a:rPr lang="en-US" altLang="zh-CN" dirty="0" err="1"/>
              <a:t>cuDNN</a:t>
            </a:r>
            <a:r>
              <a:rPr lang="en-US" altLang="zh-CN" dirty="0"/>
              <a:t> Library for Windows10(x86)”</a:t>
            </a:r>
            <a:r>
              <a:rPr lang="zh-CN" altLang="zh-CN" dirty="0"/>
              <a:t>，单击</a:t>
            </a:r>
            <a:r>
              <a:rPr lang="zh-CN" altLang="zh-CN" dirty="0" smtClean="0"/>
              <a:t>下载。</a:t>
            </a:r>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0458" y="2136618"/>
            <a:ext cx="7449496" cy="4000656"/>
          </a:xfrm>
          <a:prstGeom prst="rect">
            <a:avLst/>
          </a:prstGeom>
        </p:spPr>
      </p:pic>
    </p:spTree>
    <p:extLst>
      <p:ext uri="{BB962C8B-B14F-4D97-AF65-F5344CB8AC3E}">
        <p14:creationId xmlns:p14="http://schemas.microsoft.com/office/powerpoint/2010/main" val="19427380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err="1" smtClean="0"/>
              <a:t>cuDNN</a:t>
            </a:r>
            <a:endParaRPr lang="zh-CN" altLang="en-US" dirty="0"/>
          </a:p>
        </p:txBody>
      </p:sp>
      <p:sp>
        <p:nvSpPr>
          <p:cNvPr id="3" name="内容占位符 2"/>
          <p:cNvSpPr>
            <a:spLocks noGrp="1"/>
          </p:cNvSpPr>
          <p:nvPr>
            <p:ph sz="quarter" idx="13"/>
          </p:nvPr>
        </p:nvSpPr>
        <p:spPr/>
        <p:txBody>
          <a:bodyPr/>
          <a:lstStyle/>
          <a:p>
            <a:r>
              <a:rPr lang="zh-CN" altLang="zh-CN" dirty="0"/>
              <a:t>下载完成后解压压缩包，得到一个</a:t>
            </a:r>
            <a:r>
              <a:rPr lang="en-US" altLang="zh-CN" dirty="0" err="1"/>
              <a:t>cuda</a:t>
            </a:r>
            <a:r>
              <a:rPr lang="zh-CN" altLang="zh-CN" dirty="0" smtClean="0"/>
              <a:t>文件夹。</a:t>
            </a:r>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0920" y="2795691"/>
            <a:ext cx="6228571" cy="1676190"/>
          </a:xfrm>
          <a:prstGeom prst="rect">
            <a:avLst/>
          </a:prstGeom>
        </p:spPr>
      </p:pic>
    </p:spTree>
    <p:extLst>
      <p:ext uri="{BB962C8B-B14F-4D97-AF65-F5344CB8AC3E}">
        <p14:creationId xmlns:p14="http://schemas.microsoft.com/office/powerpoint/2010/main" val="38796761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err="1" smtClean="0"/>
              <a:t>cuDNN</a:t>
            </a:r>
            <a:endParaRPr lang="zh-CN" altLang="en-US" dirty="0"/>
          </a:p>
        </p:txBody>
      </p:sp>
      <p:sp>
        <p:nvSpPr>
          <p:cNvPr id="3" name="内容占位符 2"/>
          <p:cNvSpPr>
            <a:spLocks noGrp="1"/>
          </p:cNvSpPr>
          <p:nvPr>
            <p:ph sz="quarter" idx="13"/>
          </p:nvPr>
        </p:nvSpPr>
        <p:spPr/>
        <p:txBody>
          <a:bodyPr/>
          <a:lstStyle/>
          <a:p>
            <a:r>
              <a:rPr lang="zh-CN" altLang="zh-CN" dirty="0"/>
              <a:t>打开解压后得到的</a:t>
            </a:r>
            <a:r>
              <a:rPr lang="en-US" altLang="zh-CN" dirty="0" err="1"/>
              <a:t>cuda</a:t>
            </a:r>
            <a:r>
              <a:rPr lang="zh-CN" altLang="zh-CN" dirty="0"/>
              <a:t>文件夹，将三个文件夹下的文件分别复制到</a:t>
            </a:r>
            <a:r>
              <a:rPr lang="en-US" altLang="zh-CN" dirty="0"/>
              <a:t>CUDA</a:t>
            </a:r>
            <a:r>
              <a:rPr lang="zh-CN" altLang="zh-CN" dirty="0"/>
              <a:t>目录下的对应文件夹</a:t>
            </a:r>
            <a:r>
              <a:rPr lang="zh-CN" altLang="zh-CN" dirty="0" smtClean="0"/>
              <a:t>下</a:t>
            </a:r>
            <a:r>
              <a:rPr lang="zh-CN" altLang="en-US" dirty="0"/>
              <a:t>。</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1729443"/>
            <a:ext cx="10058400" cy="4407831"/>
          </a:xfrm>
          <a:prstGeom prst="rect">
            <a:avLst/>
          </a:prstGeom>
        </p:spPr>
      </p:pic>
    </p:spTree>
    <p:extLst>
      <p:ext uri="{BB962C8B-B14F-4D97-AF65-F5344CB8AC3E}">
        <p14:creationId xmlns:p14="http://schemas.microsoft.com/office/powerpoint/2010/main" val="34788186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err="1" smtClean="0"/>
              <a:t>cuDNN</a:t>
            </a:r>
            <a:endParaRPr lang="zh-CN" altLang="en-US" dirty="0"/>
          </a:p>
        </p:txBody>
      </p:sp>
      <p:sp>
        <p:nvSpPr>
          <p:cNvPr id="3" name="内容占位符 2"/>
          <p:cNvSpPr>
            <a:spLocks noGrp="1"/>
          </p:cNvSpPr>
          <p:nvPr>
            <p:ph sz="quarter" idx="13"/>
          </p:nvPr>
        </p:nvSpPr>
        <p:spPr/>
        <p:txBody>
          <a:bodyPr/>
          <a:lstStyle/>
          <a:p>
            <a:r>
              <a:rPr lang="zh-CN" altLang="zh-CN" b="1" dirty="0"/>
              <a:t>注意是复制文件夹下的文件，而不是复制整个文件夹。</a:t>
            </a:r>
            <a:r>
              <a:rPr lang="en-US" altLang="zh-CN" dirty="0"/>
              <a:t>lib</a:t>
            </a:r>
            <a:r>
              <a:rPr lang="zh-CN" altLang="zh-CN" dirty="0"/>
              <a:t>文件夹下还有一个</a:t>
            </a:r>
            <a:r>
              <a:rPr lang="en-US" altLang="zh-CN" dirty="0"/>
              <a:t>x64</a:t>
            </a:r>
            <a:r>
              <a:rPr lang="zh-CN" altLang="zh-CN" dirty="0"/>
              <a:t>文件夹，同理是将</a:t>
            </a:r>
            <a:r>
              <a:rPr lang="en-US" altLang="zh-CN" dirty="0"/>
              <a:t>x64</a:t>
            </a:r>
            <a:r>
              <a:rPr lang="zh-CN" altLang="zh-CN" dirty="0"/>
              <a:t>文件夹下的所有文件复制到</a:t>
            </a:r>
            <a:r>
              <a:rPr lang="en-US" altLang="zh-CN" dirty="0"/>
              <a:t>CUDA</a:t>
            </a:r>
            <a:r>
              <a:rPr lang="zh-CN" altLang="zh-CN" dirty="0"/>
              <a:t>路径对应的</a:t>
            </a:r>
            <a:r>
              <a:rPr lang="en-US" altLang="zh-CN" dirty="0"/>
              <a:t>x64</a:t>
            </a:r>
            <a:r>
              <a:rPr lang="zh-CN" altLang="zh-CN" dirty="0"/>
              <a:t>文件夹下。复制的过程中可能会询问需要管理员权限，一律选择</a:t>
            </a:r>
            <a:r>
              <a:rPr lang="en-US" altLang="zh-CN" dirty="0"/>
              <a:t>“</a:t>
            </a:r>
            <a:r>
              <a:rPr lang="zh-CN" altLang="zh-CN" dirty="0"/>
              <a:t>继续</a:t>
            </a:r>
            <a:r>
              <a:rPr lang="en-US" altLang="zh-CN" dirty="0" smtClean="0"/>
              <a:t>”</a:t>
            </a:r>
            <a:r>
              <a:rPr lang="zh-CN" altLang="en-US" dirty="0"/>
              <a:t>。</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1396" y="2381405"/>
            <a:ext cx="4247619" cy="2504762"/>
          </a:xfrm>
          <a:prstGeom prst="rect">
            <a:avLst/>
          </a:prstGeom>
        </p:spPr>
      </p:pic>
    </p:spTree>
    <p:extLst>
      <p:ext uri="{BB962C8B-B14F-4D97-AF65-F5344CB8AC3E}">
        <p14:creationId xmlns:p14="http://schemas.microsoft.com/office/powerpoint/2010/main" val="22590836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r>
              <a:rPr lang="en-US" altLang="zh-CN" dirty="0" smtClean="0"/>
              <a:t>CPU</a:t>
            </a:r>
            <a:r>
              <a:rPr lang="zh-CN" altLang="en-US" dirty="0" smtClean="0"/>
              <a:t>版本：</a:t>
            </a:r>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GPU</a:t>
            </a:r>
            <a:r>
              <a:rPr lang="zh-CN" altLang="en-US" dirty="0" smtClean="0"/>
              <a:t>版本：</a:t>
            </a:r>
            <a:endParaRPr lang="zh-CN" altLang="en-US" dirty="0"/>
          </a:p>
        </p:txBody>
      </p:sp>
      <p:graphicFrame>
        <p:nvGraphicFramePr>
          <p:cNvPr id="4" name="图示 3"/>
          <p:cNvGraphicFramePr/>
          <p:nvPr>
            <p:extLst>
              <p:ext uri="{D42A27DB-BD31-4B8C-83A1-F6EECF244321}">
                <p14:modId xmlns:p14="http://schemas.microsoft.com/office/powerpoint/2010/main" val="3203231563"/>
              </p:ext>
            </p:extLst>
          </p:nvPr>
        </p:nvGraphicFramePr>
        <p:xfrm>
          <a:off x="669925" y="4690583"/>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图示 4"/>
          <p:cNvGraphicFramePr/>
          <p:nvPr>
            <p:extLst/>
          </p:nvPr>
        </p:nvGraphicFramePr>
        <p:xfrm>
          <a:off x="669925" y="1991141"/>
          <a:ext cx="10850563" cy="5400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61723491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smtClean="0"/>
              <a:t>Pytorch</a:t>
            </a:r>
            <a:r>
              <a:rPr lang="en-US" altLang="zh-CN" dirty="0" smtClean="0"/>
              <a:t>(GPU</a:t>
            </a:r>
            <a:r>
              <a:rPr lang="zh-CN" altLang="en-US" dirty="0" smtClean="0"/>
              <a:t>版本</a:t>
            </a:r>
            <a:r>
              <a:rPr lang="en-US" altLang="zh-CN" dirty="0" smtClean="0"/>
              <a:t>)</a:t>
            </a:r>
            <a:endParaRPr lang="zh-CN" altLang="en-US" dirty="0"/>
          </a:p>
        </p:txBody>
      </p:sp>
      <p:sp>
        <p:nvSpPr>
          <p:cNvPr id="3" name="内容占位符 2"/>
          <p:cNvSpPr>
            <a:spLocks noGrp="1"/>
          </p:cNvSpPr>
          <p:nvPr>
            <p:ph sz="quarter" idx="13"/>
          </p:nvPr>
        </p:nvSpPr>
        <p:spPr/>
        <p:txBody>
          <a:bodyPr/>
          <a:lstStyle/>
          <a:p>
            <a:r>
              <a:rPr lang="zh-CN" altLang="zh-CN" dirty="0"/>
              <a:t>进入</a:t>
            </a:r>
            <a:r>
              <a:rPr lang="en-US" altLang="zh-CN" dirty="0" err="1"/>
              <a:t>Pytorch</a:t>
            </a:r>
            <a:r>
              <a:rPr lang="zh-CN" altLang="zh-CN" dirty="0"/>
              <a:t>的官方下载网站：</a:t>
            </a:r>
            <a:r>
              <a:rPr lang="en-US" altLang="zh-CN" u="sng" dirty="0">
                <a:hlinkClick r:id="rId3"/>
              </a:rPr>
              <a:t>https://pytorch.org/get-started/previous-versions/</a:t>
            </a:r>
            <a:endParaRPr lang="zh-CN" altLang="zh-CN" dirty="0"/>
          </a:p>
          <a:p>
            <a:r>
              <a:rPr lang="zh-CN" altLang="zh-CN" dirty="0"/>
              <a:t>选择对应的版本及操作系统，这里选择</a:t>
            </a:r>
            <a:r>
              <a:rPr lang="en-US" altLang="zh-CN" dirty="0"/>
              <a:t>v1.5.1</a:t>
            </a:r>
            <a:r>
              <a:rPr lang="zh-CN" altLang="zh-CN" dirty="0"/>
              <a:t>为例。找到</a:t>
            </a:r>
            <a:r>
              <a:rPr lang="en-US" altLang="zh-CN" b="1" dirty="0"/>
              <a:t>“Wheel”</a:t>
            </a:r>
            <a:r>
              <a:rPr lang="zh-CN" altLang="zh-CN" dirty="0"/>
              <a:t>下的</a:t>
            </a:r>
            <a:r>
              <a:rPr lang="en-US" altLang="zh-CN" dirty="0"/>
              <a:t>“Linux and Windows”</a:t>
            </a:r>
            <a:r>
              <a:rPr lang="zh-CN" altLang="zh-CN" dirty="0"/>
              <a:t>，选择</a:t>
            </a:r>
            <a:r>
              <a:rPr lang="en-US" altLang="zh-CN" dirty="0"/>
              <a:t>“# CUDA 10.1”</a:t>
            </a:r>
            <a:r>
              <a:rPr lang="zh-CN" altLang="zh-CN" dirty="0"/>
              <a:t>，可以得到安装的指令，包含</a:t>
            </a:r>
            <a:r>
              <a:rPr lang="en-US" altLang="zh-CN" dirty="0" err="1"/>
              <a:t>Pytorch</a:t>
            </a:r>
            <a:r>
              <a:rPr lang="en-US" altLang="zh-CN" dirty="0"/>
              <a:t>=1.5.1</a:t>
            </a:r>
            <a:r>
              <a:rPr lang="zh-CN" altLang="zh-CN" dirty="0"/>
              <a:t>，</a:t>
            </a:r>
            <a:r>
              <a:rPr lang="en-US" altLang="zh-CN" dirty="0" err="1"/>
              <a:t>torchvision</a:t>
            </a:r>
            <a:r>
              <a:rPr lang="en-US" altLang="zh-CN" dirty="0"/>
              <a:t>=0.6.1</a:t>
            </a:r>
            <a:r>
              <a:rPr lang="zh-CN" altLang="zh-CN" dirty="0" smtClean="0"/>
              <a:t>版本</a:t>
            </a:r>
            <a:r>
              <a:rPr lang="zh-CN" altLang="en-US" dirty="0" smtClean="0"/>
              <a:t>。</a:t>
            </a:r>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7599" y="2444436"/>
            <a:ext cx="6575213" cy="3692838"/>
          </a:xfrm>
          <a:prstGeom prst="rect">
            <a:avLst/>
          </a:prstGeom>
        </p:spPr>
      </p:pic>
    </p:spTree>
    <p:extLst>
      <p:ext uri="{BB962C8B-B14F-4D97-AF65-F5344CB8AC3E}">
        <p14:creationId xmlns:p14="http://schemas.microsoft.com/office/powerpoint/2010/main" val="40761981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(GPU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en-US" altLang="zh-CN" dirty="0" err="1"/>
              <a:t>Win+R</a:t>
            </a:r>
            <a:r>
              <a:rPr lang="zh-CN" altLang="zh-CN" dirty="0"/>
              <a:t>组合键打开运行界面，输入</a:t>
            </a:r>
            <a:r>
              <a:rPr lang="en-US" altLang="zh-CN" dirty="0" err="1"/>
              <a:t>cmd</a:t>
            </a:r>
            <a:r>
              <a:rPr lang="zh-CN" altLang="zh-CN" dirty="0"/>
              <a:t>后确定打开命令提示符，如图</a:t>
            </a:r>
            <a:r>
              <a:rPr lang="en-US" altLang="zh-CN" dirty="0"/>
              <a:t>2</a:t>
            </a:r>
            <a:r>
              <a:rPr lang="zh-CN" altLang="zh-CN" dirty="0"/>
              <a:t>所示。</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9968" y="2543310"/>
            <a:ext cx="3790476" cy="2180952"/>
          </a:xfrm>
          <a:prstGeom prst="rect">
            <a:avLst/>
          </a:prstGeom>
        </p:spPr>
      </p:pic>
    </p:spTree>
    <p:extLst>
      <p:ext uri="{BB962C8B-B14F-4D97-AF65-F5344CB8AC3E}">
        <p14:creationId xmlns:p14="http://schemas.microsoft.com/office/powerpoint/2010/main" val="24160921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(GPU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zh-CN" altLang="zh-CN" dirty="0"/>
              <a:t>在打开的命令提示符中，利用</a:t>
            </a:r>
            <a:r>
              <a:rPr lang="en-US" altLang="zh-CN" dirty="0"/>
              <a:t>anaconda</a:t>
            </a:r>
            <a:r>
              <a:rPr lang="zh-CN" altLang="zh-CN" dirty="0"/>
              <a:t>新建一个环境，这里以</a:t>
            </a:r>
            <a:r>
              <a:rPr lang="en-US" altLang="zh-CN" dirty="0"/>
              <a:t>python3.6</a:t>
            </a:r>
            <a:r>
              <a:rPr lang="zh-CN" altLang="zh-CN" dirty="0"/>
              <a:t>版本，</a:t>
            </a:r>
            <a:r>
              <a:rPr lang="en-US" altLang="zh-CN" dirty="0"/>
              <a:t>“</a:t>
            </a:r>
            <a:r>
              <a:rPr lang="en-US" altLang="zh-CN" dirty="0" err="1"/>
              <a:t>gputorch</a:t>
            </a:r>
            <a:r>
              <a:rPr lang="en-US" altLang="zh-CN" dirty="0"/>
              <a:t>”</a:t>
            </a:r>
            <a:r>
              <a:rPr lang="zh-CN" altLang="zh-CN" dirty="0"/>
              <a:t>命名为例，输入指令：</a:t>
            </a:r>
          </a:p>
          <a:p>
            <a:pPr lvl="1"/>
            <a:r>
              <a:rPr lang="en-US" altLang="zh-CN" dirty="0" err="1"/>
              <a:t>conda</a:t>
            </a:r>
            <a:r>
              <a:rPr lang="en-US" altLang="zh-CN" dirty="0"/>
              <a:t> create –n </a:t>
            </a:r>
            <a:r>
              <a:rPr lang="en-US" altLang="zh-CN" dirty="0" err="1"/>
              <a:t>gputorch</a:t>
            </a:r>
            <a:r>
              <a:rPr lang="en-US" altLang="zh-CN" dirty="0"/>
              <a:t> python=3.6</a:t>
            </a: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6652" y="2547460"/>
            <a:ext cx="6857107" cy="3589814"/>
          </a:xfrm>
          <a:prstGeom prst="rect">
            <a:avLst/>
          </a:prstGeom>
        </p:spPr>
      </p:pic>
    </p:spTree>
    <p:extLst>
      <p:ext uri="{BB962C8B-B14F-4D97-AF65-F5344CB8AC3E}">
        <p14:creationId xmlns:p14="http://schemas.microsoft.com/office/powerpoint/2010/main" val="23077587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(GPU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zh-CN" altLang="zh-CN" dirty="0"/>
              <a:t>等待一段时间后环境新建完成。输入指令切换至该环境：</a:t>
            </a:r>
          </a:p>
          <a:p>
            <a:pPr lvl="1"/>
            <a:r>
              <a:rPr lang="en-US" altLang="zh-CN" dirty="0" err="1"/>
              <a:t>conda</a:t>
            </a:r>
            <a:r>
              <a:rPr lang="en-US" altLang="zh-CN" dirty="0"/>
              <a:t> activate </a:t>
            </a:r>
            <a:r>
              <a:rPr lang="en-US" altLang="zh-CN" dirty="0" err="1" smtClean="0"/>
              <a:t>gputorch</a:t>
            </a:r>
            <a:endParaRPr lang="en-US" altLang="zh-CN" dirty="0" smtClean="0"/>
          </a:p>
          <a:p>
            <a:r>
              <a:rPr lang="zh-CN" altLang="zh-CN" dirty="0"/>
              <a:t>进入环境后，输入之前找到的指令</a:t>
            </a:r>
            <a:r>
              <a:rPr lang="zh-CN" altLang="zh-CN" dirty="0" smtClean="0"/>
              <a:t>回车</a:t>
            </a:r>
            <a:r>
              <a:rPr lang="zh-CN" altLang="en-US" dirty="0" smtClean="0"/>
              <a:t>：</a:t>
            </a:r>
            <a:endParaRPr lang="en-US" altLang="zh-CN" dirty="0" smtClean="0"/>
          </a:p>
          <a:p>
            <a:pPr lvl="1"/>
            <a:r>
              <a:rPr lang="en-US" altLang="zh-CN" dirty="0"/>
              <a:t>pip install torch==1.5.1+cu101 </a:t>
            </a:r>
            <a:r>
              <a:rPr lang="en-US" altLang="zh-CN" dirty="0" err="1"/>
              <a:t>torchvision</a:t>
            </a:r>
            <a:r>
              <a:rPr lang="en-US" altLang="zh-CN" dirty="0"/>
              <a:t>==0.6.1+cu101 -f https://download.pytorch.org/whl/torch_stable.html</a:t>
            </a:r>
            <a:endParaRPr lang="zh-CN" altLang="zh-CN" dirty="0"/>
          </a:p>
          <a:p>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44182"/>
          <a:stretch/>
        </p:blipFill>
        <p:spPr>
          <a:xfrm>
            <a:off x="1433301" y="3420805"/>
            <a:ext cx="9323809" cy="2716469"/>
          </a:xfrm>
          <a:prstGeom prst="rect">
            <a:avLst/>
          </a:prstGeom>
        </p:spPr>
      </p:pic>
    </p:spTree>
    <p:extLst>
      <p:ext uri="{BB962C8B-B14F-4D97-AF65-F5344CB8AC3E}">
        <p14:creationId xmlns:p14="http://schemas.microsoft.com/office/powerpoint/2010/main" val="37316411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(GPU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zh-CN" altLang="zh-CN" dirty="0"/>
              <a:t>等待一段时间后安装</a:t>
            </a:r>
            <a:r>
              <a:rPr lang="zh-CN" altLang="zh-CN" dirty="0" smtClean="0"/>
              <a:t>完成</a:t>
            </a:r>
            <a:r>
              <a:rPr lang="zh-CN" altLang="en-US" dirty="0"/>
              <a:t>。</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7675" y="1819747"/>
            <a:ext cx="8215062" cy="4317527"/>
          </a:xfrm>
          <a:prstGeom prst="rect">
            <a:avLst/>
          </a:prstGeom>
        </p:spPr>
      </p:pic>
    </p:spTree>
    <p:extLst>
      <p:ext uri="{BB962C8B-B14F-4D97-AF65-F5344CB8AC3E}">
        <p14:creationId xmlns:p14="http://schemas.microsoft.com/office/powerpoint/2010/main" val="35524026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安装</a:t>
            </a:r>
            <a:r>
              <a:rPr lang="en-US" altLang="zh-CN" dirty="0" err="1"/>
              <a:t>Pytorch</a:t>
            </a:r>
            <a:r>
              <a:rPr lang="en-US" altLang="zh-CN" dirty="0"/>
              <a:t>(GPU</a:t>
            </a:r>
            <a:r>
              <a:rPr lang="zh-CN" altLang="en-US" dirty="0"/>
              <a:t>版本</a:t>
            </a:r>
            <a:r>
              <a:rPr lang="en-US" altLang="zh-CN" dirty="0"/>
              <a:t>)</a:t>
            </a:r>
            <a:endParaRPr lang="zh-CN" altLang="en-US" dirty="0"/>
          </a:p>
        </p:txBody>
      </p:sp>
      <p:sp>
        <p:nvSpPr>
          <p:cNvPr id="3" name="内容占位符 2"/>
          <p:cNvSpPr>
            <a:spLocks noGrp="1"/>
          </p:cNvSpPr>
          <p:nvPr>
            <p:ph sz="quarter" idx="13"/>
          </p:nvPr>
        </p:nvSpPr>
        <p:spPr/>
        <p:txBody>
          <a:bodyPr/>
          <a:lstStyle/>
          <a:p>
            <a:r>
              <a:rPr lang="zh-CN" altLang="zh-CN" dirty="0"/>
              <a:t>安装完成后，我们在该环境下测试</a:t>
            </a:r>
            <a:r>
              <a:rPr lang="en-US" altLang="zh-CN" dirty="0" err="1"/>
              <a:t>gpu</a:t>
            </a:r>
            <a:r>
              <a:rPr lang="zh-CN" altLang="zh-CN" dirty="0"/>
              <a:t>与</a:t>
            </a:r>
            <a:r>
              <a:rPr lang="en-US" altLang="zh-CN" dirty="0" err="1"/>
              <a:t>pytorch</a:t>
            </a:r>
            <a:r>
              <a:rPr lang="zh-CN" altLang="zh-CN" dirty="0"/>
              <a:t>是否可用，输入指令：</a:t>
            </a:r>
          </a:p>
          <a:p>
            <a:pPr lvl="1"/>
            <a:r>
              <a:rPr lang="en-US" altLang="zh-CN" dirty="0" smtClean="0"/>
              <a:t>python</a:t>
            </a:r>
          </a:p>
          <a:p>
            <a:pPr lvl="2"/>
            <a:r>
              <a:rPr lang="zh-CN" altLang="zh-CN" dirty="0"/>
              <a:t>进入</a:t>
            </a:r>
            <a:r>
              <a:rPr lang="en-US" altLang="zh-CN" dirty="0"/>
              <a:t>python</a:t>
            </a:r>
            <a:r>
              <a:rPr lang="zh-CN" altLang="zh-CN" dirty="0"/>
              <a:t>编辑器，依次输入：</a:t>
            </a:r>
          </a:p>
          <a:p>
            <a:pPr lvl="2"/>
            <a:r>
              <a:rPr lang="en-US" altLang="zh-CN" dirty="0"/>
              <a:t>&gt;&gt;&gt;import torch</a:t>
            </a:r>
            <a:endParaRPr lang="zh-CN" altLang="zh-CN" dirty="0"/>
          </a:p>
          <a:p>
            <a:pPr lvl="2"/>
            <a:r>
              <a:rPr lang="en-US" altLang="zh-CN" dirty="0"/>
              <a:t>&gt;&gt;&gt;</a:t>
            </a:r>
            <a:r>
              <a:rPr lang="en-US" altLang="zh-CN" dirty="0" err="1"/>
              <a:t>torch.__version</a:t>
            </a:r>
            <a:r>
              <a:rPr lang="en-US" altLang="zh-CN" dirty="0"/>
              <a:t>__</a:t>
            </a:r>
            <a:endParaRPr lang="zh-CN" altLang="zh-CN" dirty="0"/>
          </a:p>
          <a:p>
            <a:pPr lvl="2"/>
            <a:r>
              <a:rPr lang="zh-CN" altLang="zh-CN" b="1" dirty="0"/>
              <a:t>‘</a:t>
            </a:r>
            <a:r>
              <a:rPr lang="en-US" altLang="zh-CN" b="1" dirty="0"/>
              <a:t>1.5.1+cu101’</a:t>
            </a:r>
            <a:endParaRPr lang="zh-CN" altLang="zh-CN" dirty="0"/>
          </a:p>
          <a:p>
            <a:pPr lvl="2"/>
            <a:r>
              <a:rPr lang="en-US" altLang="zh-CN" dirty="0"/>
              <a:t>&gt;&gt;&gt;</a:t>
            </a:r>
            <a:r>
              <a:rPr lang="en-US" altLang="zh-CN" dirty="0" err="1"/>
              <a:t>torch.cuda.is_available</a:t>
            </a:r>
            <a:r>
              <a:rPr lang="en-US" altLang="zh-CN" dirty="0"/>
              <a:t>()</a:t>
            </a:r>
            <a:endParaRPr lang="zh-CN" altLang="zh-CN" dirty="0"/>
          </a:p>
          <a:p>
            <a:pPr lvl="2"/>
            <a:r>
              <a:rPr lang="en-US" altLang="zh-CN" b="1" dirty="0"/>
              <a:t>True</a:t>
            </a:r>
            <a:endParaRPr lang="zh-CN" altLang="zh-CN" dirty="0"/>
          </a:p>
          <a:p>
            <a:pPr lvl="2"/>
            <a:r>
              <a:rPr lang="en-US" altLang="zh-CN" dirty="0" smtClean="0"/>
              <a:t>&gt;&gt;&gt;exit()</a:t>
            </a:r>
          </a:p>
          <a:p>
            <a:pPr lvl="1"/>
            <a:endParaRPr lang="en-US" altLang="zh-CN" dirty="0"/>
          </a:p>
          <a:p>
            <a:pPr lvl="1"/>
            <a:endParaRPr lang="en-US" altLang="zh-CN" dirty="0" smtClean="0"/>
          </a:p>
          <a:p>
            <a:r>
              <a:rPr lang="zh-CN" altLang="zh-CN" dirty="0"/>
              <a:t>如果出现如上输出，则说明</a:t>
            </a:r>
            <a:r>
              <a:rPr lang="en-US" altLang="zh-CN" dirty="0" err="1"/>
              <a:t>Pytorch</a:t>
            </a:r>
            <a:r>
              <a:rPr lang="zh-CN" altLang="zh-CN" dirty="0"/>
              <a:t>安装成功，现在已经可以用</a:t>
            </a:r>
            <a:r>
              <a:rPr lang="en-US" altLang="zh-CN" dirty="0"/>
              <a:t>GPU</a:t>
            </a:r>
            <a:r>
              <a:rPr lang="zh-CN" altLang="zh-CN" dirty="0"/>
              <a:t>进行深度学习计算了，注意一定要在刚才创建的环境下，即开头必须是</a:t>
            </a:r>
            <a:r>
              <a:rPr lang="en-US" altLang="zh-CN" dirty="0"/>
              <a:t>(</a:t>
            </a:r>
            <a:r>
              <a:rPr lang="en-US" altLang="zh-CN" dirty="0" err="1"/>
              <a:t>gputorch</a:t>
            </a:r>
            <a:r>
              <a:rPr lang="en-US" altLang="zh-CN" dirty="0"/>
              <a:t>)</a:t>
            </a:r>
            <a:r>
              <a:rPr lang="zh-CN" altLang="zh-CN" dirty="0"/>
              <a:t>而不是</a:t>
            </a:r>
            <a:r>
              <a:rPr lang="en-US" altLang="zh-CN" dirty="0"/>
              <a:t>(base</a:t>
            </a:r>
            <a:r>
              <a:rPr lang="en-US" altLang="zh-CN" dirty="0" smtClean="0"/>
              <a:t>)</a:t>
            </a:r>
            <a:r>
              <a:rPr lang="zh-CN" altLang="en-US" dirty="0" smtClean="0"/>
              <a:t>。</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4268" y="2441363"/>
            <a:ext cx="7206220" cy="2384845"/>
          </a:xfrm>
          <a:prstGeom prst="rect">
            <a:avLst/>
          </a:prstGeom>
        </p:spPr>
      </p:pic>
    </p:spTree>
    <p:extLst>
      <p:ext uri="{BB962C8B-B14F-4D97-AF65-F5344CB8AC3E}">
        <p14:creationId xmlns:p14="http://schemas.microsoft.com/office/powerpoint/2010/main" val="36933892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en-US" altLang="zh-CN" dirty="0"/>
              <a:t>CPU</a:t>
            </a:r>
            <a:r>
              <a:rPr lang="zh-CN" altLang="zh-CN" dirty="0"/>
              <a:t>版本下，在</a:t>
            </a:r>
            <a:r>
              <a:rPr lang="en-US" altLang="zh-CN" dirty="0"/>
              <a:t>CPU</a:t>
            </a:r>
            <a:r>
              <a:rPr lang="zh-CN" altLang="zh-CN" dirty="0"/>
              <a:t>环境（</a:t>
            </a:r>
            <a:r>
              <a:rPr lang="en-US" altLang="zh-CN" dirty="0" err="1"/>
              <a:t>cputorch</a:t>
            </a:r>
            <a:r>
              <a:rPr lang="zh-CN" altLang="zh-CN" dirty="0"/>
              <a:t>）下输入指令检验</a:t>
            </a:r>
            <a:r>
              <a:rPr lang="en-US" altLang="zh-CN" dirty="0" err="1"/>
              <a:t>pytorch</a:t>
            </a:r>
            <a:r>
              <a:rPr lang="zh-CN" altLang="zh-CN" dirty="0"/>
              <a:t>版本以及是否可用，如果没有报错则可用：</a:t>
            </a:r>
          </a:p>
          <a:p>
            <a:pPr lvl="1"/>
            <a:r>
              <a:rPr lang="en-US" altLang="zh-CN" dirty="0"/>
              <a:t>python</a:t>
            </a:r>
            <a:endParaRPr lang="zh-CN" altLang="zh-CN" dirty="0"/>
          </a:p>
          <a:p>
            <a:pPr lvl="2"/>
            <a:r>
              <a:rPr lang="en-US" altLang="zh-CN" dirty="0"/>
              <a:t>&gt;&gt;&gt;import torch</a:t>
            </a:r>
            <a:endParaRPr lang="zh-CN" altLang="zh-CN" dirty="0"/>
          </a:p>
          <a:p>
            <a:pPr lvl="2"/>
            <a:r>
              <a:rPr lang="en-US" altLang="zh-CN" dirty="0"/>
              <a:t>&gt;&gt;&gt;</a:t>
            </a:r>
            <a:r>
              <a:rPr lang="en-US" altLang="zh-CN" dirty="0" err="1"/>
              <a:t>torch.__version</a:t>
            </a:r>
            <a:r>
              <a:rPr lang="en-US" altLang="zh-CN" dirty="0"/>
              <a:t>__</a:t>
            </a:r>
            <a:endParaRPr lang="zh-CN" altLang="zh-CN" dirty="0"/>
          </a:p>
          <a:p>
            <a:pPr lvl="2"/>
            <a:r>
              <a:rPr lang="zh-CN" altLang="zh-CN" b="1" dirty="0"/>
              <a:t>‘</a:t>
            </a:r>
            <a:r>
              <a:rPr lang="en-US" altLang="zh-CN" b="1" dirty="0"/>
              <a:t>1.5.1+cpu’</a:t>
            </a:r>
            <a:endParaRPr lang="zh-CN" altLang="zh-CN" dirty="0"/>
          </a:p>
          <a:p>
            <a:pPr lvl="2"/>
            <a:r>
              <a:rPr lang="en-US" altLang="zh-CN" dirty="0"/>
              <a:t>&gt;&gt;&gt;exit()</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8063" y="3710242"/>
            <a:ext cx="9314286" cy="1809524"/>
          </a:xfrm>
          <a:prstGeom prst="rect">
            <a:avLst/>
          </a:prstGeom>
        </p:spPr>
      </p:pic>
    </p:spTree>
    <p:extLst>
      <p:ext uri="{BB962C8B-B14F-4D97-AF65-F5344CB8AC3E}">
        <p14:creationId xmlns:p14="http://schemas.microsoft.com/office/powerpoint/2010/main" val="25376738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en-US" altLang="zh-CN" dirty="0"/>
              <a:t>GPU</a:t>
            </a:r>
            <a:r>
              <a:rPr lang="zh-CN" altLang="zh-CN" dirty="0"/>
              <a:t>版本下，显卡驱动通过以下命令查看：（无需指定环境）</a:t>
            </a:r>
          </a:p>
          <a:p>
            <a:pPr lvl="1"/>
            <a:r>
              <a:rPr lang="en-US" altLang="zh-CN" dirty="0" err="1"/>
              <a:t>nvidia-smi</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5581" y="2265827"/>
            <a:ext cx="7439250" cy="3871447"/>
          </a:xfrm>
          <a:prstGeom prst="rect">
            <a:avLst/>
          </a:prstGeom>
        </p:spPr>
      </p:pic>
    </p:spTree>
    <p:extLst>
      <p:ext uri="{BB962C8B-B14F-4D97-AF65-F5344CB8AC3E}">
        <p14:creationId xmlns:p14="http://schemas.microsoft.com/office/powerpoint/2010/main" val="27574441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en-US" altLang="zh-CN" dirty="0"/>
              <a:t>CUDA</a:t>
            </a:r>
            <a:r>
              <a:rPr lang="zh-CN" altLang="zh-CN" dirty="0"/>
              <a:t>版本是否可用通过以下命令查看：</a:t>
            </a:r>
          </a:p>
          <a:p>
            <a:pPr lvl="1"/>
            <a:r>
              <a:rPr lang="en-US" altLang="zh-CN" dirty="0" err="1"/>
              <a:t>nvcc</a:t>
            </a:r>
            <a:r>
              <a:rPr lang="en-US" altLang="zh-CN" dirty="0"/>
              <a:t> -V</a:t>
            </a:r>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50140"/>
          <a:stretch/>
        </p:blipFill>
        <p:spPr>
          <a:xfrm>
            <a:off x="1438063" y="2422895"/>
            <a:ext cx="9314286" cy="2421782"/>
          </a:xfrm>
          <a:prstGeom prst="rect">
            <a:avLst/>
          </a:prstGeom>
        </p:spPr>
      </p:pic>
    </p:spTree>
    <p:extLst>
      <p:ext uri="{BB962C8B-B14F-4D97-AF65-F5344CB8AC3E}">
        <p14:creationId xmlns:p14="http://schemas.microsoft.com/office/powerpoint/2010/main" val="16773745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en-US" altLang="zh-CN" dirty="0"/>
              <a:t>GPU</a:t>
            </a:r>
            <a:r>
              <a:rPr lang="zh-CN" altLang="zh-CN" dirty="0"/>
              <a:t>版本</a:t>
            </a:r>
            <a:r>
              <a:rPr lang="en-US" altLang="zh-CN" dirty="0" err="1"/>
              <a:t>pytorch</a:t>
            </a:r>
            <a:r>
              <a:rPr lang="zh-CN" altLang="zh-CN" dirty="0"/>
              <a:t>与</a:t>
            </a:r>
            <a:r>
              <a:rPr lang="en-US" altLang="zh-CN" dirty="0"/>
              <a:t>CUDA</a:t>
            </a:r>
            <a:r>
              <a:rPr lang="zh-CN" altLang="zh-CN" dirty="0"/>
              <a:t>、</a:t>
            </a:r>
            <a:r>
              <a:rPr lang="en-US" altLang="zh-CN" dirty="0" err="1"/>
              <a:t>cuDNN</a:t>
            </a:r>
            <a:r>
              <a:rPr lang="zh-CN" altLang="zh-CN" dirty="0"/>
              <a:t>是否可用通过指令查看，如果没有报错则说明可用：</a:t>
            </a:r>
          </a:p>
          <a:p>
            <a:pPr lvl="1"/>
            <a:r>
              <a:rPr lang="en-US" altLang="zh-CN" dirty="0"/>
              <a:t>python</a:t>
            </a:r>
            <a:endParaRPr lang="zh-CN" altLang="zh-CN" dirty="0"/>
          </a:p>
          <a:p>
            <a:pPr lvl="2"/>
            <a:r>
              <a:rPr lang="en-US" altLang="zh-CN" dirty="0"/>
              <a:t>&gt;&gt;&gt;import torch</a:t>
            </a:r>
            <a:endParaRPr lang="zh-CN" altLang="zh-CN" dirty="0"/>
          </a:p>
          <a:p>
            <a:pPr lvl="2"/>
            <a:r>
              <a:rPr lang="en-US" altLang="zh-CN" dirty="0"/>
              <a:t>&gt;&gt;&gt;</a:t>
            </a:r>
            <a:r>
              <a:rPr lang="en-US" altLang="zh-CN" dirty="0" err="1"/>
              <a:t>torch.__version</a:t>
            </a:r>
            <a:r>
              <a:rPr lang="en-US" altLang="zh-CN" dirty="0"/>
              <a:t>__</a:t>
            </a:r>
            <a:endParaRPr lang="zh-CN" altLang="zh-CN" dirty="0"/>
          </a:p>
          <a:p>
            <a:pPr lvl="2"/>
            <a:r>
              <a:rPr lang="zh-CN" altLang="zh-CN" b="1" dirty="0"/>
              <a:t>‘</a:t>
            </a:r>
            <a:r>
              <a:rPr lang="en-US" altLang="zh-CN" b="1" dirty="0"/>
              <a:t>1.5.1+cu101’</a:t>
            </a:r>
            <a:endParaRPr lang="zh-CN" altLang="zh-CN" dirty="0"/>
          </a:p>
          <a:p>
            <a:pPr lvl="2"/>
            <a:r>
              <a:rPr lang="en-US" altLang="zh-CN" dirty="0"/>
              <a:t>&gt;&gt;&gt;</a:t>
            </a:r>
            <a:r>
              <a:rPr lang="en-US" altLang="zh-CN" dirty="0" err="1"/>
              <a:t>torch.cuda.is_available</a:t>
            </a:r>
            <a:r>
              <a:rPr lang="en-US" altLang="zh-CN" dirty="0"/>
              <a:t>()</a:t>
            </a:r>
            <a:endParaRPr lang="zh-CN" altLang="zh-CN" dirty="0"/>
          </a:p>
          <a:p>
            <a:pPr lvl="2"/>
            <a:r>
              <a:rPr lang="en-US" altLang="zh-CN" b="1" dirty="0"/>
              <a:t>True</a:t>
            </a:r>
            <a:endParaRPr lang="zh-CN" altLang="zh-CN" dirty="0"/>
          </a:p>
          <a:p>
            <a:pPr lvl="2"/>
            <a:r>
              <a:rPr lang="en-US" altLang="zh-CN" dirty="0"/>
              <a:t>&gt;&gt;&gt;exit()</a:t>
            </a:r>
            <a:endParaRPr lang="zh-CN" altLang="en-US" dirty="0"/>
          </a:p>
        </p:txBody>
      </p:sp>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b="34097"/>
          <a:stretch/>
        </p:blipFill>
        <p:spPr>
          <a:xfrm>
            <a:off x="2725093" y="4218981"/>
            <a:ext cx="8795395" cy="1918293"/>
          </a:xfrm>
          <a:prstGeom prst="rect">
            <a:avLst/>
          </a:prstGeom>
        </p:spPr>
      </p:pic>
    </p:spTree>
    <p:extLst>
      <p:ext uri="{BB962C8B-B14F-4D97-AF65-F5344CB8AC3E}">
        <p14:creationId xmlns:p14="http://schemas.microsoft.com/office/powerpoint/2010/main" val="33438816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注意事项</a:t>
            </a:r>
            <a:endParaRPr lang="zh-CN" altLang="en-US" dirty="0"/>
          </a:p>
        </p:txBody>
      </p:sp>
    </p:spTree>
    <p:extLst>
      <p:ext uri="{BB962C8B-B14F-4D97-AF65-F5344CB8AC3E}">
        <p14:creationId xmlns:p14="http://schemas.microsoft.com/office/powerpoint/2010/main" val="39231378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a16="http://schemas.microsoft.com/office/drawing/2014/main" xmlns="" id="{563A06F3-7CD2-4EAF-8250-D2FE6CCEE61E}"/>
              </a:ext>
            </a:extLst>
          </p:cNvPr>
          <p:cNvSpPr>
            <a:spLocks noGrp="1"/>
          </p:cNvSpPr>
          <p:nvPr>
            <p:ph sz="quarter" idx="13"/>
          </p:nvPr>
        </p:nvSpPr>
        <p:spPr/>
        <p:txBody>
          <a:bodyPr/>
          <a:lstStyle/>
          <a:p>
            <a:pPr marL="342900" lvl="0" indent="-342900">
              <a:buFont typeface="+mj-lt"/>
              <a:buAutoNum type="arabicPeriod"/>
            </a:pPr>
            <a:r>
              <a:rPr lang="zh-CN" altLang="zh-CN" dirty="0" smtClean="0"/>
              <a:t>查看</a:t>
            </a:r>
            <a:r>
              <a:rPr lang="en-US" altLang="zh-CN" dirty="0" err="1"/>
              <a:t>Nvidia</a:t>
            </a:r>
            <a:r>
              <a:rPr lang="zh-CN" altLang="zh-CN" dirty="0"/>
              <a:t>显卡是否支持</a:t>
            </a:r>
            <a:r>
              <a:rPr lang="en-US" altLang="zh-CN" dirty="0" err="1"/>
              <a:t>gpu</a:t>
            </a:r>
            <a:r>
              <a:rPr lang="zh-CN" altLang="zh-CN" dirty="0"/>
              <a:t>运算：</a:t>
            </a:r>
            <a:r>
              <a:rPr lang="en-US" altLang="zh-CN" u="sng" dirty="0">
                <a:hlinkClick r:id="rId2"/>
              </a:rPr>
              <a:t>https://developer.nvidia.com/cuda-gpus</a:t>
            </a:r>
            <a:endParaRPr lang="zh-CN" altLang="zh-CN" dirty="0"/>
          </a:p>
          <a:p>
            <a:pPr marL="342900" lvl="0" indent="-342900">
              <a:buFont typeface="+mj-lt"/>
              <a:buAutoNum type="arabicPeriod"/>
            </a:pPr>
            <a:r>
              <a:rPr lang="en-US" altLang="zh-CN" dirty="0" smtClean="0"/>
              <a:t>CUDA</a:t>
            </a:r>
            <a:r>
              <a:rPr lang="zh-CN" altLang="zh-CN" dirty="0"/>
              <a:t>版本问题：正常安装</a:t>
            </a:r>
            <a:r>
              <a:rPr lang="en-US" altLang="zh-CN" dirty="0"/>
              <a:t>Ubuntu</a:t>
            </a:r>
            <a:r>
              <a:rPr lang="zh-CN" altLang="zh-CN" dirty="0"/>
              <a:t>系统时会自带显卡驱动与</a:t>
            </a:r>
            <a:r>
              <a:rPr lang="en-US" altLang="zh-CN" dirty="0"/>
              <a:t>CUDA</a:t>
            </a:r>
            <a:r>
              <a:rPr lang="zh-CN" altLang="zh-CN" dirty="0"/>
              <a:t>，通过指令</a:t>
            </a:r>
            <a:r>
              <a:rPr lang="en-US" altLang="zh-CN" dirty="0" err="1"/>
              <a:t>nvidia-smi</a:t>
            </a:r>
            <a:r>
              <a:rPr lang="zh-CN" altLang="zh-CN" dirty="0"/>
              <a:t>表格显示的</a:t>
            </a:r>
            <a:r>
              <a:rPr lang="en-US" altLang="zh-CN" dirty="0"/>
              <a:t>CUDA</a:t>
            </a:r>
            <a:r>
              <a:rPr lang="zh-CN" altLang="zh-CN" dirty="0"/>
              <a:t>版本是</a:t>
            </a:r>
            <a:r>
              <a:rPr lang="en-US" altLang="zh-CN" dirty="0"/>
              <a:t>driver CUDA</a:t>
            </a:r>
            <a:r>
              <a:rPr lang="zh-CN" altLang="zh-CN" dirty="0"/>
              <a:t>（帮助电脑显示屏幕的驱动</a:t>
            </a:r>
            <a:r>
              <a:rPr lang="en-US" altLang="zh-CN" dirty="0"/>
              <a:t>CUDA</a:t>
            </a:r>
            <a:r>
              <a:rPr lang="zh-CN" altLang="zh-CN" dirty="0"/>
              <a:t>），而我们安装的</a:t>
            </a:r>
            <a:r>
              <a:rPr lang="en-US" altLang="zh-CN" dirty="0"/>
              <a:t>CUDA</a:t>
            </a:r>
            <a:r>
              <a:rPr lang="zh-CN" altLang="zh-CN" dirty="0"/>
              <a:t>是</a:t>
            </a:r>
            <a:r>
              <a:rPr lang="en-US" altLang="zh-CN" dirty="0"/>
              <a:t>runtime CUDA</a:t>
            </a:r>
            <a:r>
              <a:rPr lang="zh-CN" altLang="zh-CN" dirty="0"/>
              <a:t>，这个</a:t>
            </a:r>
            <a:r>
              <a:rPr lang="en-US" altLang="zh-CN" dirty="0"/>
              <a:t>CUDA</a:t>
            </a:r>
            <a:r>
              <a:rPr lang="zh-CN" altLang="zh-CN" dirty="0"/>
              <a:t>是用来加速深度学习实验计算用的，通过指令</a:t>
            </a:r>
            <a:r>
              <a:rPr lang="en-US" altLang="zh-CN" dirty="0" err="1"/>
              <a:t>nvcc</a:t>
            </a:r>
            <a:r>
              <a:rPr lang="en-US" altLang="zh-CN" dirty="0"/>
              <a:t> –V</a:t>
            </a:r>
            <a:r>
              <a:rPr lang="zh-CN" altLang="zh-CN" dirty="0"/>
              <a:t>显示。</a:t>
            </a:r>
            <a:r>
              <a:rPr lang="zh-CN" altLang="zh-CN" b="1" dirty="0"/>
              <a:t>以</a:t>
            </a:r>
            <a:r>
              <a:rPr lang="en-US" altLang="zh-CN" b="1" dirty="0" err="1"/>
              <a:t>nvcc</a:t>
            </a:r>
            <a:r>
              <a:rPr lang="en-US" altLang="zh-CN" b="1" dirty="0"/>
              <a:t> –V</a:t>
            </a:r>
            <a:r>
              <a:rPr lang="zh-CN" altLang="zh-CN" b="1" dirty="0"/>
              <a:t>输出版本为准！</a:t>
            </a:r>
          </a:p>
          <a:p>
            <a:pPr marL="342900" indent="-342900">
              <a:buFont typeface="+mj-lt"/>
              <a:buAutoNum type="arabicPeriod"/>
            </a:pPr>
            <a:r>
              <a:rPr lang="en-US" altLang="zh-CN" dirty="0"/>
              <a:t>GPU</a:t>
            </a:r>
            <a:r>
              <a:rPr lang="zh-CN" altLang="zh-CN" dirty="0"/>
              <a:t>版本下，</a:t>
            </a:r>
            <a:r>
              <a:rPr lang="en-US" altLang="zh-CN" dirty="0" err="1" smtClean="0"/>
              <a:t>torch.cuda.is_available</a:t>
            </a:r>
            <a:r>
              <a:rPr lang="en-US" altLang="zh-CN" dirty="0"/>
              <a:t>()</a:t>
            </a:r>
            <a:r>
              <a:rPr lang="zh-CN" altLang="zh-CN" dirty="0"/>
              <a:t>输出</a:t>
            </a:r>
            <a:r>
              <a:rPr lang="en-US" altLang="zh-CN" dirty="0"/>
              <a:t>False: </a:t>
            </a:r>
            <a:r>
              <a:rPr lang="en-US" altLang="zh-CN" dirty="0" err="1"/>
              <a:t>Pytorch</a:t>
            </a:r>
            <a:r>
              <a:rPr lang="zh-CN" altLang="zh-CN" dirty="0"/>
              <a:t>分</a:t>
            </a:r>
            <a:r>
              <a:rPr lang="en-US" altLang="zh-CN" dirty="0" err="1"/>
              <a:t>gpu</a:t>
            </a:r>
            <a:r>
              <a:rPr lang="zh-CN" altLang="zh-CN" dirty="0"/>
              <a:t>和</a:t>
            </a:r>
            <a:r>
              <a:rPr lang="en-US" altLang="zh-CN" dirty="0" err="1"/>
              <a:t>cpu</a:t>
            </a:r>
            <a:r>
              <a:rPr lang="zh-CN" altLang="zh-CN" dirty="0"/>
              <a:t>版本</a:t>
            </a:r>
            <a:r>
              <a:rPr lang="zh-CN" altLang="zh-CN" dirty="0" smtClean="0"/>
              <a:t>，</a:t>
            </a:r>
            <a:r>
              <a:rPr lang="zh-CN" altLang="en-US" dirty="0" smtClean="0"/>
              <a:t>可能下载了</a:t>
            </a:r>
            <a:r>
              <a:rPr lang="en-US" altLang="zh-CN" dirty="0" err="1" smtClean="0"/>
              <a:t>cpu</a:t>
            </a:r>
            <a:r>
              <a:rPr lang="zh-CN" altLang="zh-CN" dirty="0"/>
              <a:t>版本，</a:t>
            </a:r>
            <a:r>
              <a:rPr lang="zh-CN" altLang="zh-CN" dirty="0" smtClean="0"/>
              <a:t>需要</a:t>
            </a:r>
            <a:r>
              <a:rPr lang="zh-CN" altLang="en-US" dirty="0" smtClean="0"/>
              <a:t>按步骤下载</a:t>
            </a:r>
            <a:r>
              <a:rPr lang="en-US" altLang="zh-CN" dirty="0" err="1" smtClean="0"/>
              <a:t>gpu</a:t>
            </a:r>
            <a:r>
              <a:rPr lang="zh-CN" altLang="zh-CN" dirty="0"/>
              <a:t>版本的资源；也可能是</a:t>
            </a:r>
            <a:r>
              <a:rPr lang="en-US" altLang="zh-CN" dirty="0" err="1"/>
              <a:t>Pytorch</a:t>
            </a:r>
            <a:r>
              <a:rPr lang="zh-CN" altLang="zh-CN" dirty="0"/>
              <a:t>与</a:t>
            </a:r>
            <a:r>
              <a:rPr lang="en-US" altLang="zh-CN" dirty="0"/>
              <a:t>CUDA</a:t>
            </a:r>
            <a:r>
              <a:rPr lang="zh-CN" altLang="zh-CN" dirty="0"/>
              <a:t>版本不适配</a:t>
            </a:r>
            <a:r>
              <a:rPr lang="zh-CN" altLang="zh-CN" dirty="0" smtClean="0"/>
              <a:t>问题</a:t>
            </a:r>
            <a:r>
              <a:rPr lang="zh-CN" altLang="en-US" dirty="0" smtClean="0"/>
              <a:t>。</a:t>
            </a:r>
            <a:endParaRPr lang="en-US" altLang="zh-CN" dirty="0" smtClean="0"/>
          </a:p>
          <a:p>
            <a:pPr marL="342900" lvl="0" indent="-342900">
              <a:buFont typeface="+mj-lt"/>
              <a:buAutoNum type="arabicPeriod"/>
            </a:pPr>
            <a:r>
              <a:rPr lang="zh-CN" altLang="zh-CN" dirty="0"/>
              <a:t>版本适配：</a:t>
            </a:r>
            <a:r>
              <a:rPr lang="en-US" altLang="zh-CN" dirty="0" err="1"/>
              <a:t>torchvision</a:t>
            </a:r>
            <a:r>
              <a:rPr lang="zh-CN" altLang="zh-CN" dirty="0"/>
              <a:t>版本必须严格对应</a:t>
            </a:r>
            <a:r>
              <a:rPr lang="en-US" altLang="zh-CN" dirty="0" err="1"/>
              <a:t>Pytorch</a:t>
            </a:r>
            <a:r>
              <a:rPr lang="zh-CN" altLang="zh-CN" dirty="0"/>
              <a:t>版本；</a:t>
            </a:r>
            <a:r>
              <a:rPr lang="en-US" altLang="zh-CN" dirty="0" err="1"/>
              <a:t>Pytorch</a:t>
            </a:r>
            <a:r>
              <a:rPr lang="zh-CN" altLang="zh-CN" dirty="0"/>
              <a:t>的版本必须严格适配</a:t>
            </a:r>
            <a:r>
              <a:rPr lang="en-US" altLang="zh-CN" dirty="0"/>
              <a:t>CUDA</a:t>
            </a:r>
            <a:r>
              <a:rPr lang="zh-CN" altLang="zh-CN" dirty="0"/>
              <a:t>版本；</a:t>
            </a:r>
            <a:r>
              <a:rPr lang="en-US" altLang="zh-CN" dirty="0"/>
              <a:t>CUDA</a:t>
            </a:r>
            <a:r>
              <a:rPr lang="zh-CN" altLang="zh-CN" dirty="0"/>
              <a:t>版本与</a:t>
            </a:r>
            <a:r>
              <a:rPr lang="en-US" altLang="zh-CN" dirty="0" err="1"/>
              <a:t>cuDNN</a:t>
            </a:r>
            <a:r>
              <a:rPr lang="zh-CN" altLang="zh-CN" dirty="0"/>
              <a:t>版本也必须严格对应。一个</a:t>
            </a:r>
            <a:r>
              <a:rPr lang="en-US" altLang="zh-CN" dirty="0" err="1"/>
              <a:t>Pytorch</a:t>
            </a:r>
            <a:r>
              <a:rPr lang="zh-CN" altLang="zh-CN" dirty="0"/>
              <a:t>版本可能与</a:t>
            </a:r>
            <a:r>
              <a:rPr lang="zh-CN" altLang="en-US" dirty="0"/>
              <a:t>多个</a:t>
            </a:r>
            <a:r>
              <a:rPr lang="en-US" altLang="zh-CN" dirty="0"/>
              <a:t>CUDA</a:t>
            </a:r>
            <a:r>
              <a:rPr lang="zh-CN" altLang="zh-CN" dirty="0"/>
              <a:t>相适配。显卡驱动中显示的</a:t>
            </a:r>
            <a:r>
              <a:rPr lang="en-US" altLang="zh-CN" dirty="0"/>
              <a:t>driver CUDA</a:t>
            </a:r>
            <a:r>
              <a:rPr lang="zh-CN" altLang="zh-CN" dirty="0"/>
              <a:t>决定了</a:t>
            </a:r>
            <a:r>
              <a:rPr lang="en-US" altLang="zh-CN" dirty="0"/>
              <a:t>runtime CUDA</a:t>
            </a:r>
            <a:r>
              <a:rPr lang="zh-CN" altLang="zh-CN" dirty="0"/>
              <a:t>的上限，即</a:t>
            </a:r>
            <a:r>
              <a:rPr lang="en-US" altLang="zh-CN" dirty="0"/>
              <a:t>driver CUDA</a:t>
            </a:r>
            <a:r>
              <a:rPr lang="zh-CN" altLang="zh-CN" dirty="0"/>
              <a:t>版本向下兼容，因此当安装的</a:t>
            </a:r>
            <a:r>
              <a:rPr lang="en-US" altLang="zh-CN" dirty="0"/>
              <a:t>runtime CUDA</a:t>
            </a:r>
            <a:r>
              <a:rPr lang="zh-CN" altLang="zh-CN" dirty="0"/>
              <a:t>版本高于显卡驱动可接受的</a:t>
            </a:r>
            <a:r>
              <a:rPr lang="en-US" altLang="zh-CN" dirty="0"/>
              <a:t>driver CUDA</a:t>
            </a:r>
            <a:r>
              <a:rPr lang="zh-CN" altLang="zh-CN" dirty="0"/>
              <a:t>版本时，需要更新显卡驱动提高</a:t>
            </a:r>
            <a:r>
              <a:rPr lang="en-US" altLang="zh-CN" dirty="0"/>
              <a:t>driver CUDA</a:t>
            </a:r>
            <a:r>
              <a:rPr lang="zh-CN" altLang="zh-CN" dirty="0"/>
              <a:t>版本或重新安装低版本的</a:t>
            </a:r>
            <a:r>
              <a:rPr lang="en-US" altLang="zh-CN" dirty="0"/>
              <a:t>runtime CUDA</a:t>
            </a:r>
            <a:r>
              <a:rPr lang="zh-CN" altLang="zh-CN" dirty="0" smtClean="0"/>
              <a:t>。</a:t>
            </a:r>
            <a:endParaRPr lang="zh-CN" altLang="en-US" dirty="0"/>
          </a:p>
        </p:txBody>
      </p:sp>
    </p:spTree>
    <p:extLst>
      <p:ext uri="{BB962C8B-B14F-4D97-AF65-F5344CB8AC3E}">
        <p14:creationId xmlns:p14="http://schemas.microsoft.com/office/powerpoint/2010/main" val="39311953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a:xfrm>
            <a:off x="669926" y="1130299"/>
            <a:ext cx="6382724" cy="5006975"/>
          </a:xfrm>
        </p:spPr>
        <p:txBody>
          <a:bodyPr/>
          <a:lstStyle/>
          <a:p>
            <a:pPr lvl="0"/>
            <a:r>
              <a:rPr lang="zh-CN" altLang="zh-CN" dirty="0"/>
              <a:t>显卡驱动与</a:t>
            </a:r>
            <a:r>
              <a:rPr lang="en-US" altLang="zh-CN" dirty="0"/>
              <a:t>runtime CUDA</a:t>
            </a:r>
            <a:r>
              <a:rPr lang="zh-CN" altLang="zh-CN" dirty="0"/>
              <a:t>版本对应</a:t>
            </a:r>
            <a:r>
              <a:rPr lang="zh-CN" altLang="zh-CN" dirty="0" smtClean="0"/>
              <a:t>表格</a:t>
            </a:r>
            <a:r>
              <a:rPr lang="zh-CN" altLang="en-US" dirty="0" smtClean="0"/>
              <a:t>：</a:t>
            </a:r>
            <a:endParaRPr lang="zh-CN" altLang="zh-CN" dirty="0"/>
          </a:p>
          <a:p>
            <a:endParaRPr lang="zh-CN" altLang="en-US" dirty="0"/>
          </a:p>
        </p:txBody>
      </p:sp>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b="54323"/>
          <a:stretch/>
        </p:blipFill>
        <p:spPr>
          <a:xfrm>
            <a:off x="669925" y="1648956"/>
            <a:ext cx="5169497" cy="2710070"/>
          </a:xfrm>
          <a:prstGeom prst="rect">
            <a:avLst/>
          </a:prstGeom>
        </p:spPr>
      </p:pic>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t="45676"/>
          <a:stretch/>
        </p:blipFill>
        <p:spPr>
          <a:xfrm>
            <a:off x="6341969" y="2908546"/>
            <a:ext cx="5178519" cy="3228728"/>
          </a:xfrm>
          <a:prstGeom prst="rect">
            <a:avLst/>
          </a:prstGeom>
        </p:spPr>
      </p:pic>
    </p:spTree>
    <p:extLst>
      <p:ext uri="{BB962C8B-B14F-4D97-AF65-F5344CB8AC3E}">
        <p14:creationId xmlns:p14="http://schemas.microsoft.com/office/powerpoint/2010/main" val="36092286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深度学习框架</a:t>
            </a:r>
            <a:r>
              <a:rPr lang="en-US" altLang="zh-CN" dirty="0" err="1" smtClean="0"/>
              <a:t>Pytorch</a:t>
            </a:r>
            <a:r>
              <a:rPr lang="zh-CN" altLang="en-US" dirty="0" smtClean="0"/>
              <a:t>安装与环境配置</a:t>
            </a:r>
            <a:endParaRPr lang="en-US" altLang="zh-CN" dirty="0" smtClean="0"/>
          </a:p>
          <a:p>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3361</TotalTime>
  <Words>3030</Words>
  <Application>Microsoft Office PowerPoint</Application>
  <PresentationFormat>宽屏</PresentationFormat>
  <Paragraphs>322</Paragraphs>
  <Slides>66</Slides>
  <Notes>10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66</vt:i4>
      </vt:variant>
    </vt:vector>
  </HeadingPairs>
  <TitlesOfParts>
    <vt:vector size="73" baseType="lpstr">
      <vt:lpstr>等线</vt:lpstr>
      <vt:lpstr>宋体</vt:lpstr>
      <vt:lpstr>微软雅黑</vt:lpstr>
      <vt:lpstr>Arial</vt:lpstr>
      <vt:lpstr>Calibri</vt:lpstr>
      <vt:lpstr>Ebrima</vt:lpstr>
      <vt:lpstr>主题5</vt:lpstr>
      <vt:lpstr>目标检测的实现</vt:lpstr>
      <vt:lpstr>课程目标</vt:lpstr>
      <vt:lpstr>PowerPoint 演示文稿</vt:lpstr>
      <vt:lpstr>/01</vt:lpstr>
      <vt:lpstr>实验介绍</vt:lpstr>
      <vt:lpstr>/02</vt:lpstr>
      <vt:lpstr>实验环境</vt:lpstr>
      <vt:lpstr>/03</vt:lpstr>
      <vt:lpstr>实验步骤</vt:lpstr>
      <vt:lpstr>实验流程</vt:lpstr>
      <vt:lpstr>安装Pytorch(CPU版本)</vt:lpstr>
      <vt:lpstr>安装Pytorch(CPU版本)</vt:lpstr>
      <vt:lpstr>安装Pytorch(CPU版本)</vt:lpstr>
      <vt:lpstr>安装Pytorch(CPU版本)</vt:lpstr>
      <vt:lpstr>安装Pytorch(CPU版本)</vt:lpstr>
      <vt:lpstr>实验流程</vt:lpstr>
      <vt:lpstr>检查显卡驱动</vt:lpstr>
      <vt:lpstr>检查显卡驱动</vt:lpstr>
      <vt:lpstr>检查显卡驱动</vt:lpstr>
      <vt:lpstr>检查显卡驱动</vt:lpstr>
      <vt:lpstr>检查显卡驱动</vt:lpstr>
      <vt:lpstr>检查显卡驱动</vt:lpstr>
      <vt:lpstr>检查显卡驱动</vt:lpstr>
      <vt:lpstr>检查显卡驱动</vt:lpstr>
      <vt:lpstr>检查显卡驱动</vt:lpstr>
      <vt:lpstr>检查显卡驱动</vt:lpstr>
      <vt:lpstr>实验流程</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安装CUDA toolkit</vt:lpstr>
      <vt:lpstr>实验流程</vt:lpstr>
      <vt:lpstr>安装cuDNN</vt:lpstr>
      <vt:lpstr>安装cuDNN</vt:lpstr>
      <vt:lpstr>安装cuDNN</vt:lpstr>
      <vt:lpstr>安装cuDNN</vt:lpstr>
      <vt:lpstr>安装cuDNN</vt:lpstr>
      <vt:lpstr>安装cuDNN</vt:lpstr>
      <vt:lpstr>实验流程</vt:lpstr>
      <vt:lpstr>安装Pytorch(GPU版本)</vt:lpstr>
      <vt:lpstr>安装Pytorch(GPU版本)</vt:lpstr>
      <vt:lpstr>安装Pytorch(GPU版本)</vt:lpstr>
      <vt:lpstr>安装Pytorch(GPU版本)</vt:lpstr>
      <vt:lpstr>安装Pytorch(GPU版本)</vt:lpstr>
      <vt:lpstr>安装Pytorch(GPU版本)</vt:lpstr>
      <vt:lpstr>实验结果</vt:lpstr>
      <vt:lpstr>实验结果</vt:lpstr>
      <vt:lpstr>实验结果</vt:lpstr>
      <vt:lpstr>实验结果</vt:lpstr>
      <vt:lpstr>/04</vt:lpstr>
      <vt:lpstr>注意事项</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42</cp:revision>
  <cp:lastPrinted>2018-09-20T16:00:00Z</cp:lastPrinted>
  <dcterms:created xsi:type="dcterms:W3CDTF">2022-06-27T01:42:48Z</dcterms:created>
  <dcterms:modified xsi:type="dcterms:W3CDTF">2022-12-27T09:31:39Z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