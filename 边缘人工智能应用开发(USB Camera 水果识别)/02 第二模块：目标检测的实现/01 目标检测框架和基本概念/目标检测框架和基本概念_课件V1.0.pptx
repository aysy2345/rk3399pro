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handoutMasterIdLst>
    <p:handoutMasterId r:id="rId49"/>
  </p:handoutMasterIdLst>
  <p:sldIdLst>
    <p:sldId id="258" r:id="rId2"/>
    <p:sldId id="265" r:id="rId3"/>
    <p:sldId id="262" r:id="rId4"/>
    <p:sldId id="299" r:id="rId5"/>
    <p:sldId id="300" r:id="rId6"/>
    <p:sldId id="301" r:id="rId7"/>
    <p:sldId id="302" r:id="rId8"/>
    <p:sldId id="303" r:id="rId9"/>
    <p:sldId id="304" r:id="rId10"/>
    <p:sldId id="305" r:id="rId11"/>
    <p:sldId id="306"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5" r:id="rId31"/>
    <p:sldId id="286" r:id="rId32"/>
    <p:sldId id="287" r:id="rId33"/>
    <p:sldId id="288" r:id="rId34"/>
    <p:sldId id="289" r:id="rId35"/>
    <p:sldId id="290" r:id="rId36"/>
    <p:sldId id="292" r:id="rId37"/>
    <p:sldId id="284" r:id="rId38"/>
    <p:sldId id="291" r:id="rId39"/>
    <p:sldId id="293" r:id="rId40"/>
    <p:sldId id="294" r:id="rId41"/>
    <p:sldId id="295" r:id="rId42"/>
    <p:sldId id="296" r:id="rId43"/>
    <p:sldId id="297" r:id="rId44"/>
    <p:sldId id="298" r:id="rId45"/>
    <p:sldId id="264" r:id="rId46"/>
    <p:sldId id="261" r:id="rId47"/>
  </p:sldIdLst>
  <p:sldSz cx="12192000" cy="6858000"/>
  <p:notesSz cx="6858000" cy="9144000"/>
  <p:custDataLst>
    <p:tags r:id="rId50"/>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pos="3840" userDrawn="1">
          <p15:clr>
            <a:srgbClr val="F26B43"/>
          </p15:clr>
        </p15:guide>
        <p15:guide id="2" pos="7256" userDrawn="1">
          <p15:clr>
            <a:srgbClr val="A4A3A4"/>
          </p15:clr>
        </p15:guide>
        <p15:guide id="5" orient="horz" pos="3929" userDrawn="1">
          <p15:clr>
            <a:srgbClr val="A4A3A4"/>
          </p15:clr>
        </p15:guide>
        <p15:guide id="6" orient="horz" pos="3864" userDrawn="1">
          <p15:clr>
            <a:srgbClr val="A4A3A4"/>
          </p15:clr>
        </p15:guide>
        <p15:guide id="7" orient="horz" pos="2160" userDrawn="1">
          <p15:clr>
            <a:srgbClr val="F26B43"/>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6A4BC"/>
    <a:srgbClr val="FCCC6B"/>
    <a:srgbClr val="0B077F"/>
    <a:srgbClr val="28508A"/>
    <a:srgbClr val="327CA6"/>
    <a:srgbClr val="1FDBE8"/>
    <a:srgbClr val="FBBB3B"/>
    <a:srgbClr val="1A12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1857" autoAdjust="0"/>
  </p:normalViewPr>
  <p:slideViewPr>
    <p:cSldViewPr snapToGrid="0" showGuides="1">
      <p:cViewPr varScale="1">
        <p:scale>
          <a:sx n="83" d="100"/>
          <a:sy n="83" d="100"/>
        </p:scale>
        <p:origin x="1572" y="72"/>
      </p:cViewPr>
      <p:guideLst>
        <p:guide pos="3840"/>
        <p:guide pos="7256"/>
        <p:guide orient="horz" pos="3929"/>
        <p:guide orient="horz" pos="3864"/>
        <p:guide orient="horz" pos="2160"/>
      </p:guideLst>
    </p:cSldViewPr>
  </p:slideViewPr>
  <p:outlineViewPr>
    <p:cViewPr>
      <p:scale>
        <a:sx n="33" d="100"/>
        <a:sy n="33" d="100"/>
      </p:scale>
      <p:origin x="0" y="0"/>
    </p:cViewPr>
  </p:outlineViewPr>
  <p:notesTextViewPr>
    <p:cViewPr>
      <p:scale>
        <a:sx n="3" d="2"/>
        <a:sy n="3" d="2"/>
      </p:scale>
      <p:origin x="0" y="0"/>
    </p:cViewPr>
  </p:notesTextViewPr>
  <p:sorterViewPr showFormatting="0">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ags" Target="tags/tag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 xmlns:a16="http://schemas.microsoft.com/office/drawing/2014/main" id="{83C43651-EA8B-4678-8FD9-6C875DB1361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
        <p:nvSpPr>
          <p:cNvPr id="3" name="日期占位符 2">
            <a:extLst>
              <a:ext uri="{FF2B5EF4-FFF2-40B4-BE49-F238E27FC236}">
                <a16:creationId xmlns="" xmlns:a16="http://schemas.microsoft.com/office/drawing/2014/main" id="{6BD28C34-B0BD-41BE-80A7-C252BFAB08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09C1BF11-5702-475A-BDCC-CA13CC2B291E}"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4" name="页脚占位符 3">
            <a:extLst>
              <a:ext uri="{FF2B5EF4-FFF2-40B4-BE49-F238E27FC236}">
                <a16:creationId xmlns="" xmlns:a16="http://schemas.microsoft.com/office/drawing/2014/main" id="{A77B7009-201B-41DD-A31B-ADB4AD7A41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5" name="灯片编号占位符 4">
            <a:extLst>
              <a:ext uri="{FF2B5EF4-FFF2-40B4-BE49-F238E27FC236}">
                <a16:creationId xmlns="" xmlns:a16="http://schemas.microsoft.com/office/drawing/2014/main" id="{DBB078B8-0584-4580-A4FF-8E471217AEE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381B0EFE-A81B-4FF2-A11B-20F00DF34C36}" type="slidenum">
              <a:rPr lang="zh-CN" altLang="en-US"/>
              <a:pPr/>
              <a:t>‹#›</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403255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日期占位符 2">
            <a:extLst>
              <a:ext uri="{FF2B5EF4-FFF2-40B4-BE49-F238E27FC236}">
                <a16:creationId xmlns="" xmlns:a16="http://schemas.microsoft.com/office/drawing/2014/main" id="{A1E830F0-DDCD-4D0F-B5F3-4FD19C8F867D}"/>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E86D8963-CFCD-4740-AF60-049850373CDF}"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30723" name="幻灯片图像占位符 3">
            <a:extLst>
              <a:ext uri="{FF2B5EF4-FFF2-40B4-BE49-F238E27FC236}">
                <a16:creationId xmlns="" xmlns:a16="http://schemas.microsoft.com/office/drawing/2014/main" id="{0E0776D9-EB5E-4648-A11C-5DC5CDC40389}"/>
              </a:ext>
            </a:extLst>
          </p:cNvPr>
          <p:cNvSpPr>
            <a:spLocks noGrp="1" noRot="1" noChangeAspect="1" noChangeArrowheads="1"/>
          </p:cNvSpPr>
          <p:nvPr>
            <p:ph type="sldImg" idx="4294967295"/>
          </p:nvPr>
        </p:nvSpPr>
        <p:spPr bwMode="auto">
          <a:xfrm>
            <a:off x="685800" y="1143000"/>
            <a:ext cx="5486400" cy="3086100"/>
          </a:xfrm>
          <a:prstGeom prst="rect">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sp>
      <p:sp>
        <p:nvSpPr>
          <p:cNvPr id="30724" name="备注占位符 7">
            <a:extLst>
              <a:ext uri="{FF2B5EF4-FFF2-40B4-BE49-F238E27FC236}">
                <a16:creationId xmlns="" xmlns:a16="http://schemas.microsoft.com/office/drawing/2014/main" id="{283E4D93-BBF5-4A19-BF46-DCA634601C1A}"/>
              </a:ext>
            </a:extLst>
          </p:cNvPr>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9" name="灯片编号占位符 8">
            <a:extLst>
              <a:ext uri="{FF2B5EF4-FFF2-40B4-BE49-F238E27FC236}">
                <a16:creationId xmlns="" xmlns:a16="http://schemas.microsoft.com/office/drawing/2014/main" id="{DF32E9F7-1370-428C-9546-57C937509114}"/>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4C464E13-4384-4E27-B198-CCD5CE71F818}" type="slidenum">
              <a:rPr lang="zh-CN" altLang="en-US"/>
              <a:pPr/>
              <a:t>‹#›</a:t>
            </a:fld>
            <a:endParaRPr lang="zh-CN" altLang="en-US">
              <a:latin typeface="Arial" panose="020B0604020202020204" pitchFamily="34" charset="0"/>
              <a:ea typeface="微软雅黑" panose="020B0503020204020204" pitchFamily="34" charset="-122"/>
            </a:endParaRPr>
          </a:p>
        </p:txBody>
      </p:sp>
      <p:sp>
        <p:nvSpPr>
          <p:cNvPr id="10" name="页脚占位符 9">
            <a:extLst>
              <a:ext uri="{FF2B5EF4-FFF2-40B4-BE49-F238E27FC236}">
                <a16:creationId xmlns="" xmlns:a16="http://schemas.microsoft.com/office/drawing/2014/main" id="{22C67519-F77F-4031-9D1A-E102741AFDF7}"/>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11" name="页眉占位符 10">
            <a:extLst>
              <a:ext uri="{FF2B5EF4-FFF2-40B4-BE49-F238E27FC236}">
                <a16:creationId xmlns="" xmlns:a16="http://schemas.microsoft.com/office/drawing/2014/main" id="{A2FFFFAA-8C8E-43C6-8DDC-20C2BA84D3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Tree>
    <p:extLst>
      <p:ext uri="{BB962C8B-B14F-4D97-AF65-F5344CB8AC3E}">
        <p14:creationId xmlns:p14="http://schemas.microsoft.com/office/powerpoint/2010/main" val="2146978427"/>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近几年，随着深度学习的爆炸式发展，相关理论和基础架构得到很大突破，它们奠定了深度学习繁荣发展的基础。</a:t>
            </a:r>
            <a:endParaRPr lang="en-US" altLang="zh-CN"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这其中涌现了几个著名的深度学习框架，下面将分别简单介绍这几个框架。</a:t>
            </a:r>
            <a:endParaRPr lang="en-US" altLang="zh-CN"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0740720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smtClean="0"/>
              <a:t>Theano</a:t>
            </a:r>
            <a:r>
              <a:rPr lang="zh-CN" altLang="en-US" dirty="0" smtClean="0"/>
              <a:t>由 </a:t>
            </a:r>
            <a:r>
              <a:rPr lang="en-US" altLang="zh-CN" dirty="0" smtClean="0"/>
              <a:t>LISA</a:t>
            </a:r>
            <a:r>
              <a:rPr lang="zh-CN" altLang="en-US" dirty="0" smtClean="0"/>
              <a:t>集团</a:t>
            </a:r>
            <a:r>
              <a:rPr lang="en-US" altLang="zh-CN" dirty="0" smtClean="0"/>
              <a:t>(</a:t>
            </a:r>
            <a:r>
              <a:rPr lang="zh-CN" altLang="en-US" dirty="0" smtClean="0"/>
              <a:t>现 </a:t>
            </a:r>
            <a:r>
              <a:rPr lang="en-US" altLang="zh-CN" dirty="0" smtClean="0"/>
              <a:t>MILA</a:t>
            </a:r>
            <a:r>
              <a:rPr lang="zh-CN" altLang="en-US" dirty="0" smtClean="0"/>
              <a:t>）在加拿大魁北克的蒙特利尔大学开发</a:t>
            </a:r>
            <a:r>
              <a:rPr lang="en-US" altLang="zh-CN" dirty="0" smtClean="0"/>
              <a:t>,</a:t>
            </a:r>
            <a:r>
              <a:rPr lang="zh-CN" altLang="en-US" dirty="0" smtClean="0"/>
              <a:t>是在</a:t>
            </a:r>
            <a:r>
              <a:rPr lang="en-US" altLang="zh-CN" dirty="0" smtClean="0"/>
              <a:t>BSD</a:t>
            </a:r>
            <a:r>
              <a:rPr lang="zh-CN" altLang="en-US" dirty="0" smtClean="0"/>
              <a:t>许可证下发布的开源项目</a:t>
            </a:r>
            <a:r>
              <a:rPr lang="en-US" altLang="zh-CN" dirty="0" smtClean="0"/>
              <a:t>,</a:t>
            </a:r>
            <a:r>
              <a:rPr lang="zh-CN" altLang="en-US" dirty="0" smtClean="0"/>
              <a:t>它是用一位希腊数学家的名字命名的。</a:t>
            </a:r>
          </a:p>
          <a:p>
            <a:r>
              <a:rPr lang="en-US" altLang="zh-CN" dirty="0" err="1" smtClean="0"/>
              <a:t>Theano</a:t>
            </a:r>
            <a:r>
              <a:rPr lang="zh-CN" altLang="en-US" dirty="0" smtClean="0"/>
              <a:t>是一个 </a:t>
            </a:r>
            <a:r>
              <a:rPr lang="en-US" altLang="zh-CN" dirty="0" smtClean="0"/>
              <a:t>Python</a:t>
            </a:r>
            <a:r>
              <a:rPr lang="zh-CN" altLang="en-US" dirty="0" smtClean="0"/>
              <a:t>库，可用于定义、优化和计算数学表达式，特别是多维数组</a:t>
            </a:r>
            <a:r>
              <a:rPr lang="en-US" altLang="zh-CN" dirty="0" smtClean="0"/>
              <a:t>(</a:t>
            </a:r>
            <a:r>
              <a:rPr lang="en-US" altLang="zh-CN" dirty="0" err="1" smtClean="0"/>
              <a:t>numpy.ndarray</a:t>
            </a:r>
            <a:r>
              <a:rPr lang="en-US" altLang="zh-CN" dirty="0" smtClean="0"/>
              <a:t>)</a:t>
            </a:r>
            <a:r>
              <a:rPr lang="zh-CN" altLang="en-US" dirty="0" smtClean="0"/>
              <a:t>。在解决包含大量数据问题的时候，使用</a:t>
            </a:r>
            <a:r>
              <a:rPr lang="en-US" altLang="zh-CN" dirty="0" err="1" smtClean="0"/>
              <a:t>Theano</a:t>
            </a:r>
            <a:r>
              <a:rPr lang="zh-CN" altLang="en-US" dirty="0" smtClean="0"/>
              <a:t>编程可实现比</a:t>
            </a:r>
            <a:r>
              <a:rPr lang="en-US" altLang="zh-CN" dirty="0" smtClean="0"/>
              <a:t>C</a:t>
            </a:r>
            <a:r>
              <a:rPr lang="zh-CN" altLang="en-US" dirty="0" smtClean="0"/>
              <a:t>语言编程更快的运行速度。通过</a:t>
            </a:r>
            <a:r>
              <a:rPr lang="en-US" altLang="zh-CN" dirty="0" smtClean="0"/>
              <a:t>GPU</a:t>
            </a:r>
            <a:r>
              <a:rPr lang="zh-CN" altLang="en-US" dirty="0" smtClean="0"/>
              <a:t>加速</a:t>
            </a:r>
            <a:r>
              <a:rPr lang="en-US" altLang="zh-CN" dirty="0" smtClean="0"/>
              <a:t>,</a:t>
            </a:r>
            <a:r>
              <a:rPr lang="en-US" altLang="zh-CN" dirty="0" err="1" smtClean="0"/>
              <a:t>Theano</a:t>
            </a:r>
            <a:r>
              <a:rPr lang="zh-CN" altLang="en-US" dirty="0" smtClean="0"/>
              <a:t>甚至可以比基于</a:t>
            </a:r>
            <a:r>
              <a:rPr lang="en-US" altLang="zh-CN" dirty="0" smtClean="0"/>
              <a:t>CPU</a:t>
            </a:r>
            <a:r>
              <a:rPr lang="zh-CN" altLang="en-US" dirty="0" smtClean="0"/>
              <a:t>计算的</a:t>
            </a:r>
            <a:r>
              <a:rPr lang="en-US" altLang="zh-CN" dirty="0" smtClean="0"/>
              <a:t>C</a:t>
            </a:r>
            <a:r>
              <a:rPr lang="zh-CN" altLang="en-US" dirty="0" smtClean="0"/>
              <a:t>语言快好几个数量级。</a:t>
            </a:r>
            <a:r>
              <a:rPr lang="en-US" altLang="zh-CN" dirty="0" err="1" smtClean="0"/>
              <a:t>Theano</a:t>
            </a:r>
            <a:r>
              <a:rPr lang="zh-CN" altLang="en-US" dirty="0" smtClean="0"/>
              <a:t>结合</a:t>
            </a:r>
            <a:r>
              <a:rPr lang="en-US" altLang="zh-CN" dirty="0" smtClean="0"/>
              <a:t>CAS (</a:t>
            </a:r>
            <a:r>
              <a:rPr lang="en-US" altLang="zh-CN" dirty="0" err="1" smtClean="0"/>
              <a:t>Compuer</a:t>
            </a:r>
            <a:r>
              <a:rPr lang="en-US" altLang="zh-CN" dirty="0" smtClean="0"/>
              <a:t> Algebra System</a:t>
            </a:r>
            <a:r>
              <a:rPr lang="zh-CN" altLang="en-US" dirty="0" smtClean="0"/>
              <a:t>，计算机代数系统）和优化编译器，还可以为多种数学运算生成定制的</a:t>
            </a:r>
            <a:r>
              <a:rPr lang="en-US" altLang="zh-CN" dirty="0" smtClean="0"/>
              <a:t>C</a:t>
            </a:r>
            <a:r>
              <a:rPr lang="zh-CN" altLang="en-US" dirty="0" smtClean="0"/>
              <a:t>语言代码。对于处理包含重复计算的复杂数学表达式任务</a:t>
            </a:r>
            <a:r>
              <a:rPr lang="en-US" altLang="zh-CN" dirty="0" smtClean="0"/>
              <a:t>,</a:t>
            </a:r>
            <a:r>
              <a:rPr lang="zh-CN" altLang="en-US" dirty="0" smtClean="0"/>
              <a:t>计算速度很重要，因此这种</a:t>
            </a:r>
            <a:r>
              <a:rPr lang="en-US" altLang="zh-CN" dirty="0" smtClean="0"/>
              <a:t>CAS</a:t>
            </a:r>
            <a:r>
              <a:rPr lang="zh-CN" altLang="en-US" dirty="0" smtClean="0"/>
              <a:t>和优化编译器的组合非常有用。对于需要将每种不同的数学表达式都计算一遍的情况，</a:t>
            </a:r>
            <a:r>
              <a:rPr lang="en-US" altLang="zh-CN" dirty="0" err="1" smtClean="0"/>
              <a:t>Theano</a:t>
            </a:r>
            <a:r>
              <a:rPr lang="zh-CN" altLang="en-US" dirty="0" smtClean="0"/>
              <a:t>可以最小化编译</a:t>
            </a:r>
            <a:r>
              <a:rPr lang="en-US" altLang="zh-CN" dirty="0" smtClean="0"/>
              <a:t>/</a:t>
            </a:r>
            <a:r>
              <a:rPr lang="zh-CN" altLang="en-US" dirty="0" smtClean="0"/>
              <a:t>解析计算量</a:t>
            </a:r>
            <a:r>
              <a:rPr lang="en-US" altLang="zh-CN" dirty="0" smtClean="0"/>
              <a:t>,</a:t>
            </a:r>
            <a:r>
              <a:rPr lang="zh-CN" altLang="en-US" dirty="0" smtClean="0"/>
              <a:t>但仍会给出如自动微分那样的符号特征。</a:t>
            </a:r>
          </a:p>
          <a:p>
            <a:r>
              <a:rPr lang="zh-CN" altLang="en-US" dirty="0" smtClean="0"/>
              <a:t>在过去很长一段时间里，</a:t>
            </a:r>
            <a:r>
              <a:rPr lang="en-US" altLang="zh-CN" dirty="0" err="1" smtClean="0"/>
              <a:t>Theano</a:t>
            </a:r>
            <a:r>
              <a:rPr lang="zh-CN" altLang="en-US" dirty="0" smtClean="0"/>
              <a:t>是深度学习开发与研究的行业标准。出身学界的</a:t>
            </a:r>
            <a:r>
              <a:rPr lang="en-US" altLang="zh-CN" dirty="0" err="1" smtClean="0"/>
              <a:t>Theano</a:t>
            </a:r>
            <a:r>
              <a:rPr lang="zh-CN" altLang="en-US" dirty="0" smtClean="0"/>
              <a:t>最初是为学术研究而设计的，这使得深度学习领域的许多学者至今仍在使用</a:t>
            </a:r>
            <a:r>
              <a:rPr lang="en-US" altLang="zh-CN" dirty="0" err="1" smtClean="0"/>
              <a:t>Theano</a:t>
            </a:r>
            <a:r>
              <a:rPr lang="zh-CN" altLang="en-US" dirty="0" smtClean="0"/>
              <a:t>。但随着</a:t>
            </a:r>
            <a:r>
              <a:rPr lang="en-US" altLang="zh-CN" dirty="0" err="1" smtClean="0"/>
              <a:t>TensorFlow</a:t>
            </a:r>
            <a:r>
              <a:rPr lang="zh-CN" altLang="en-US" dirty="0" smtClean="0"/>
              <a:t>在谷歌的支持下强势崛起</a:t>
            </a:r>
            <a:r>
              <a:rPr lang="en-US" altLang="zh-CN" dirty="0" smtClean="0"/>
              <a:t>,</a:t>
            </a:r>
            <a:r>
              <a:rPr lang="en-US" altLang="zh-CN" dirty="0" err="1" smtClean="0"/>
              <a:t>Theano</a:t>
            </a:r>
            <a:r>
              <a:rPr lang="zh-CN" altLang="en-US" dirty="0" smtClean="0"/>
              <a:t>日渐式微，使用的人越来越少。其中标志性事件是</a:t>
            </a:r>
            <a:r>
              <a:rPr lang="en-US" altLang="zh-CN" dirty="0" err="1" smtClean="0"/>
              <a:t>Theano</a:t>
            </a:r>
            <a:r>
              <a:rPr lang="zh-CN" altLang="en-US" dirty="0" smtClean="0"/>
              <a:t>的创始者之一</a:t>
            </a:r>
            <a:r>
              <a:rPr lang="en-US" altLang="zh-CN" dirty="0" smtClean="0"/>
              <a:t>Ian </a:t>
            </a:r>
            <a:r>
              <a:rPr lang="en-US" altLang="zh-CN" dirty="0" err="1" smtClean="0"/>
              <a:t>GoodFellow</a:t>
            </a:r>
            <a:r>
              <a:rPr lang="zh-CN" altLang="en-US" dirty="0" smtClean="0"/>
              <a:t>放弃</a:t>
            </a:r>
            <a:r>
              <a:rPr lang="en-US" altLang="zh-CN" dirty="0" err="1" smtClean="0"/>
              <a:t>Theano</a:t>
            </a:r>
            <a:r>
              <a:rPr lang="zh-CN" altLang="en-US" dirty="0" smtClean="0"/>
              <a:t>转去谷歌开发</a:t>
            </a:r>
            <a:r>
              <a:rPr lang="en-US" altLang="zh-CN" dirty="0" err="1" smtClean="0"/>
              <a:t>TensorFlow</a:t>
            </a:r>
            <a:r>
              <a:rPr lang="en-US" altLang="zh-CN" dirty="0" smtClean="0"/>
              <a:t> </a:t>
            </a:r>
            <a:r>
              <a:rPr lang="zh-CN" altLang="en-US" dirty="0" smtClean="0"/>
              <a:t>了。</a:t>
            </a:r>
          </a:p>
          <a:p>
            <a:r>
              <a:rPr lang="en-US" altLang="zh-CN" dirty="0" smtClean="0"/>
              <a:t>2017</a:t>
            </a:r>
            <a:r>
              <a:rPr lang="zh-CN" altLang="en-US" dirty="0" smtClean="0"/>
              <a:t>年</a:t>
            </a:r>
            <a:r>
              <a:rPr lang="en-US" altLang="zh-CN" dirty="0" smtClean="0"/>
              <a:t>9</a:t>
            </a:r>
            <a:r>
              <a:rPr lang="zh-CN" altLang="en-US" dirty="0" smtClean="0"/>
              <a:t>月</a:t>
            </a:r>
            <a:r>
              <a:rPr lang="en-US" altLang="zh-CN" dirty="0" smtClean="0"/>
              <a:t>28</a:t>
            </a:r>
            <a:r>
              <a:rPr lang="zh-CN" altLang="en-US" dirty="0" smtClean="0"/>
              <a:t>日</a:t>
            </a:r>
            <a:r>
              <a:rPr lang="en-US" altLang="zh-CN" dirty="0" smtClean="0"/>
              <a:t>,</a:t>
            </a:r>
            <a:r>
              <a:rPr lang="zh-CN" altLang="en-US" dirty="0" smtClean="0"/>
              <a:t>在 </a:t>
            </a:r>
            <a:r>
              <a:rPr lang="en-US" altLang="zh-CN" dirty="0" err="1" smtClean="0"/>
              <a:t>Theano</a:t>
            </a:r>
            <a:r>
              <a:rPr lang="en-US" altLang="zh-CN" dirty="0" smtClean="0"/>
              <a:t> 1.0</a:t>
            </a:r>
            <a:r>
              <a:rPr lang="zh-CN" altLang="en-US" dirty="0" smtClean="0"/>
              <a:t>正式版发布前夕，</a:t>
            </a:r>
            <a:r>
              <a:rPr lang="en-US" altLang="zh-CN" dirty="0" smtClean="0"/>
              <a:t>LISA </a:t>
            </a:r>
            <a:r>
              <a:rPr lang="zh-CN" altLang="en-US" dirty="0" smtClean="0"/>
              <a:t>实验室负责人、深度学习三巨头之一的</a:t>
            </a:r>
            <a:r>
              <a:rPr lang="en-US" altLang="zh-CN" dirty="0" err="1" smtClean="0"/>
              <a:t>Yoshua</a:t>
            </a:r>
            <a:r>
              <a:rPr lang="en-US" altLang="zh-CN" dirty="0" smtClean="0"/>
              <a:t> </a:t>
            </a:r>
            <a:r>
              <a:rPr lang="en-US" altLang="zh-CN" dirty="0" err="1" smtClean="0"/>
              <a:t>Bengio</a:t>
            </a:r>
            <a:r>
              <a:rPr lang="zh-CN" altLang="en-US" dirty="0" smtClean="0"/>
              <a:t>宣布 </a:t>
            </a:r>
            <a:r>
              <a:rPr lang="en-US" altLang="zh-CN" dirty="0" err="1" smtClean="0"/>
              <a:t>Theano</a:t>
            </a:r>
            <a:r>
              <a:rPr lang="zh-CN" altLang="en-US" dirty="0" smtClean="0"/>
              <a:t>将停止开发</a:t>
            </a:r>
            <a:r>
              <a:rPr lang="en-US" altLang="zh-CN" dirty="0" smtClean="0"/>
              <a:t>:“</a:t>
            </a:r>
            <a:r>
              <a:rPr lang="en-US" altLang="zh-CN" dirty="0" err="1" smtClean="0"/>
              <a:t>Theano</a:t>
            </a:r>
            <a:r>
              <a:rPr lang="en-US" altLang="zh-CN" dirty="0" smtClean="0"/>
              <a:t> is Dead.”</a:t>
            </a:r>
            <a:r>
              <a:rPr lang="zh-CN" altLang="en-US" dirty="0" smtClean="0"/>
              <a:t>尽管</a:t>
            </a:r>
          </a:p>
          <a:p>
            <a:r>
              <a:rPr lang="en-US" altLang="zh-CN" dirty="0" err="1" smtClean="0"/>
              <a:t>Theano</a:t>
            </a:r>
            <a:r>
              <a:rPr lang="zh-CN" altLang="en-US" dirty="0" smtClean="0"/>
              <a:t>将退出历史舞台</a:t>
            </a:r>
            <a:r>
              <a:rPr lang="en-US" altLang="zh-CN" dirty="0" smtClean="0"/>
              <a:t>,</a:t>
            </a:r>
            <a:r>
              <a:rPr lang="zh-CN" altLang="en-US" dirty="0" smtClean="0"/>
              <a:t>但作为第一个</a:t>
            </a:r>
            <a:r>
              <a:rPr lang="en-US" altLang="zh-CN" dirty="0" smtClean="0"/>
              <a:t>Python</a:t>
            </a:r>
            <a:r>
              <a:rPr lang="zh-CN" altLang="en-US" dirty="0" smtClean="0"/>
              <a:t>深度学习框架，它很好地完成了自己的使命</a:t>
            </a:r>
            <a:r>
              <a:rPr lang="en-US" altLang="zh-CN" dirty="0" smtClean="0"/>
              <a:t>——</a:t>
            </a:r>
            <a:r>
              <a:rPr lang="zh-CN" altLang="en-US" dirty="0" smtClean="0"/>
              <a:t>为深度学习研究人员早期拓荒提供了极大的帮助</a:t>
            </a:r>
            <a:r>
              <a:rPr lang="en-US" altLang="zh-CN" dirty="0" smtClean="0"/>
              <a:t>,</a:t>
            </a:r>
            <a:r>
              <a:rPr lang="zh-CN" altLang="en-US" dirty="0" smtClean="0"/>
              <a:t>同时也为之后深度学习框架的开发奠定了基本设计方向</a:t>
            </a:r>
            <a:r>
              <a:rPr lang="en-US" altLang="zh-CN" dirty="0" smtClean="0"/>
              <a:t>:</a:t>
            </a:r>
            <a:r>
              <a:rPr lang="zh-CN" altLang="en-US" dirty="0" smtClean="0"/>
              <a:t>以计算图为框架的核心，采用</a:t>
            </a:r>
            <a:r>
              <a:rPr lang="en-US" altLang="zh-CN" dirty="0" smtClean="0"/>
              <a:t>GPU</a:t>
            </a:r>
            <a:r>
              <a:rPr lang="zh-CN" altLang="en-US" dirty="0" smtClean="0"/>
              <a:t>加速计算。</a:t>
            </a:r>
          </a:p>
          <a:p>
            <a:r>
              <a:rPr lang="zh-CN" altLang="en-US" dirty="0" smtClean="0"/>
              <a:t>对于深度学习新手可以使用</a:t>
            </a:r>
            <a:r>
              <a:rPr lang="en-US" altLang="zh-CN" dirty="0" err="1" smtClean="0"/>
              <a:t>Theano</a:t>
            </a:r>
            <a:r>
              <a:rPr lang="zh-CN" altLang="en-US" dirty="0" smtClean="0"/>
              <a:t>做入门练习，但对于职业开发者，建议使用</a:t>
            </a:r>
            <a:r>
              <a:rPr lang="en-US" altLang="zh-CN" dirty="0" err="1" smtClean="0"/>
              <a:t>TensorFlow</a:t>
            </a:r>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890740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smtClean="0"/>
              <a:t>TensorFlow</a:t>
            </a:r>
            <a:r>
              <a:rPr lang="zh-CN" altLang="en-US" dirty="0" smtClean="0"/>
              <a:t>是</a:t>
            </a:r>
            <a:r>
              <a:rPr lang="en-US" altLang="zh-CN" dirty="0" smtClean="0"/>
              <a:t>Google Brain</a:t>
            </a:r>
            <a:r>
              <a:rPr lang="zh-CN" altLang="en-US" dirty="0" smtClean="0"/>
              <a:t>团队基于</a:t>
            </a:r>
            <a:r>
              <a:rPr lang="en-US" altLang="zh-CN" dirty="0" smtClean="0"/>
              <a:t>Google</a:t>
            </a:r>
            <a:r>
              <a:rPr lang="zh-CN" altLang="en-US" dirty="0" smtClean="0"/>
              <a:t>在</a:t>
            </a:r>
            <a:r>
              <a:rPr lang="en-US" altLang="zh-CN" dirty="0" smtClean="0"/>
              <a:t>2011</a:t>
            </a:r>
            <a:r>
              <a:rPr lang="zh-CN" altLang="en-US" dirty="0" smtClean="0"/>
              <a:t>年开发的深度学习基础架构</a:t>
            </a:r>
            <a:r>
              <a:rPr lang="en-US" altLang="zh-CN" dirty="0" err="1" smtClean="0"/>
              <a:t>DistBelief</a:t>
            </a:r>
            <a:r>
              <a:rPr lang="zh-CN" altLang="en-US" dirty="0" smtClean="0"/>
              <a:t>构建的。</a:t>
            </a:r>
            <a:r>
              <a:rPr lang="en-US" altLang="zh-CN" dirty="0" smtClean="0"/>
              <a:t>Google</a:t>
            </a:r>
            <a:r>
              <a:rPr lang="zh-CN" altLang="en-US" dirty="0" smtClean="0"/>
              <a:t>在其所有的应用程序中都使用</a:t>
            </a:r>
            <a:r>
              <a:rPr lang="en-US" altLang="zh-CN" dirty="0" err="1" smtClean="0"/>
              <a:t>TensorFlow</a:t>
            </a:r>
            <a:r>
              <a:rPr lang="zh-CN" altLang="en-US" dirty="0" smtClean="0"/>
              <a:t>实现机器学习，例如使用</a:t>
            </a:r>
            <a:r>
              <a:rPr lang="en-US" altLang="zh-CN" dirty="0" smtClean="0"/>
              <a:t>Google</a:t>
            </a:r>
            <a:r>
              <a:rPr lang="zh-CN" altLang="en-US" dirty="0" smtClean="0"/>
              <a:t>照相机和</a:t>
            </a:r>
            <a:r>
              <a:rPr lang="en-US" altLang="zh-CN" dirty="0" smtClean="0"/>
              <a:t>Google</a:t>
            </a:r>
            <a:r>
              <a:rPr lang="zh-CN" altLang="en-US" dirty="0" smtClean="0"/>
              <a:t>语音搜索功能，就间接使用了 </a:t>
            </a:r>
            <a:r>
              <a:rPr lang="en-US" altLang="zh-CN" dirty="0" err="1" smtClean="0"/>
              <a:t>TensorFlow</a:t>
            </a:r>
            <a:r>
              <a:rPr lang="zh-CN" altLang="en-US" dirty="0" smtClean="0"/>
              <a:t>模型。</a:t>
            </a:r>
          </a:p>
          <a:p>
            <a:r>
              <a:rPr lang="en-US" altLang="zh-CN" dirty="0" err="1" smtClean="0"/>
              <a:t>TensorFlow</a:t>
            </a:r>
            <a:r>
              <a:rPr lang="zh-CN" altLang="en-US" dirty="0" smtClean="0"/>
              <a:t>在很大程度上可以看作 </a:t>
            </a:r>
            <a:r>
              <a:rPr lang="en-US" altLang="zh-CN" dirty="0" err="1" smtClean="0"/>
              <a:t>Theano</a:t>
            </a:r>
            <a:r>
              <a:rPr lang="zh-CN" altLang="en-US" dirty="0" smtClean="0"/>
              <a:t>的后继者，这不仅因为它们有很大一批共同的开发者，还因为它们拥有相近的设计理念，都基于计算图实现自动微分系统。</a:t>
            </a:r>
            <a:r>
              <a:rPr lang="en-US" altLang="zh-CN" dirty="0" err="1" smtClean="0"/>
              <a:t>TensorFlow</a:t>
            </a:r>
            <a:r>
              <a:rPr lang="zh-CN" altLang="en-US" dirty="0" smtClean="0"/>
              <a:t>使用数据流图进行数值计算，图中的节点代表数学运算，图中的边代表在这些节点之间传递的多维数组。</a:t>
            </a:r>
          </a:p>
          <a:p>
            <a:r>
              <a:rPr lang="en-US" altLang="zh-CN" dirty="0" err="1" smtClean="0"/>
              <a:t>TensorFlow</a:t>
            </a:r>
            <a:r>
              <a:rPr lang="zh-CN" altLang="en-US" dirty="0" smtClean="0"/>
              <a:t>编程接口支持</a:t>
            </a:r>
            <a:r>
              <a:rPr lang="en-US" altLang="zh-CN" dirty="0" smtClean="0"/>
              <a:t>Python</a:t>
            </a:r>
            <a:r>
              <a:rPr lang="zh-CN" altLang="en-US" dirty="0" smtClean="0"/>
              <a:t>和 </a:t>
            </a:r>
            <a:r>
              <a:rPr lang="en-US" altLang="zh-CN" dirty="0" smtClean="0"/>
              <a:t>C++</a:t>
            </a:r>
            <a:r>
              <a:rPr lang="zh-CN" altLang="en-US" dirty="0" smtClean="0"/>
              <a:t>，</a:t>
            </a:r>
            <a:r>
              <a:rPr lang="en-US" altLang="zh-CN" dirty="0" err="1" smtClean="0"/>
              <a:t>TensorFlow</a:t>
            </a:r>
            <a:r>
              <a:rPr lang="en-US" altLang="zh-CN" dirty="0" smtClean="0"/>
              <a:t> 1.0</a:t>
            </a:r>
            <a:r>
              <a:rPr lang="zh-CN" altLang="en-US" dirty="0" smtClean="0"/>
              <a:t>版本开始支持</a:t>
            </a:r>
            <a:r>
              <a:rPr lang="en-US" altLang="zh-CN" dirty="0" smtClean="0"/>
              <a:t>Java</a:t>
            </a:r>
            <a:r>
              <a:rPr lang="zh-CN" altLang="en-US" dirty="0" smtClean="0"/>
              <a:t>、</a:t>
            </a:r>
            <a:r>
              <a:rPr lang="en-US" altLang="zh-CN" dirty="0" smtClean="0"/>
              <a:t>Go</a:t>
            </a:r>
            <a:r>
              <a:rPr lang="zh-CN" altLang="en-US" dirty="0" smtClean="0"/>
              <a:t>、</a:t>
            </a:r>
            <a:r>
              <a:rPr lang="en-US" altLang="zh-CN" dirty="0" smtClean="0"/>
              <a:t>R</a:t>
            </a:r>
            <a:r>
              <a:rPr lang="zh-CN" altLang="en-US" dirty="0" smtClean="0"/>
              <a:t>和 </a:t>
            </a:r>
            <a:r>
              <a:rPr lang="en-US" altLang="zh-CN" dirty="0" smtClean="0"/>
              <a:t>Haskell API</a:t>
            </a:r>
            <a:r>
              <a:rPr lang="zh-CN" altLang="en-US" dirty="0" smtClean="0"/>
              <a:t>的 </a:t>
            </a:r>
            <a:r>
              <a:rPr lang="en-US" altLang="zh-CN" dirty="0" smtClean="0"/>
              <a:t>Alpha</a:t>
            </a:r>
            <a:r>
              <a:rPr lang="zh-CN" altLang="en-US" dirty="0" smtClean="0"/>
              <a:t>版本。此外</a:t>
            </a:r>
            <a:r>
              <a:rPr lang="en-US" altLang="zh-CN" dirty="0" smtClean="0"/>
              <a:t>,</a:t>
            </a:r>
            <a:r>
              <a:rPr lang="en-US" altLang="zh-CN" dirty="0" err="1" smtClean="0"/>
              <a:t>TensorFlow</a:t>
            </a:r>
            <a:r>
              <a:rPr lang="zh-CN" altLang="en-US" dirty="0" smtClean="0"/>
              <a:t>还可以在</a:t>
            </a:r>
            <a:r>
              <a:rPr lang="en-US" altLang="zh-CN" dirty="0" smtClean="0"/>
              <a:t>Google Cloud</a:t>
            </a:r>
            <a:r>
              <a:rPr lang="zh-CN" altLang="en-US" dirty="0" smtClean="0"/>
              <a:t>和</a:t>
            </a:r>
            <a:r>
              <a:rPr lang="en-US" altLang="zh-CN" dirty="0" smtClean="0"/>
              <a:t>AWS</a:t>
            </a:r>
            <a:r>
              <a:rPr lang="zh-CN" altLang="en-US" dirty="0" smtClean="0"/>
              <a:t>中运行。</a:t>
            </a:r>
            <a:r>
              <a:rPr lang="en-US" altLang="zh-CN" dirty="0" err="1" smtClean="0"/>
              <a:t>TensorFlow</a:t>
            </a:r>
            <a:r>
              <a:rPr lang="zh-CN" altLang="en-US" dirty="0" smtClean="0"/>
              <a:t>支持 </a:t>
            </a:r>
            <a:r>
              <a:rPr lang="en-US" altLang="zh-CN" dirty="0" smtClean="0"/>
              <a:t>Windows 7</a:t>
            </a:r>
            <a:r>
              <a:rPr lang="zh-CN" altLang="en-US" dirty="0" smtClean="0"/>
              <a:t>、 </a:t>
            </a:r>
            <a:r>
              <a:rPr lang="en-US" altLang="zh-CN" dirty="0" smtClean="0"/>
              <a:t>Windows 10</a:t>
            </a:r>
            <a:r>
              <a:rPr lang="zh-CN" altLang="en-US" dirty="0" smtClean="0"/>
              <a:t>和 </a:t>
            </a:r>
            <a:r>
              <a:rPr lang="en-US" altLang="zh-CN" dirty="0" smtClean="0"/>
              <a:t>Windows Server 2016</a:t>
            </a:r>
            <a:r>
              <a:rPr lang="zh-CN" altLang="en-US" dirty="0" smtClean="0"/>
              <a:t>系统。因为</a:t>
            </a:r>
            <a:r>
              <a:rPr lang="en-US" altLang="zh-CN" dirty="0" err="1" smtClean="0"/>
              <a:t>TensorFlow</a:t>
            </a:r>
            <a:r>
              <a:rPr lang="zh-CN" altLang="en-US" dirty="0" smtClean="0"/>
              <a:t>使用</a:t>
            </a:r>
            <a:r>
              <a:rPr lang="en-US" altLang="zh-CN" dirty="0" smtClean="0"/>
              <a:t>C++ Eigen</a:t>
            </a:r>
            <a:r>
              <a:rPr lang="zh-CN" altLang="en-US" dirty="0" smtClean="0"/>
              <a:t>库，所以可以在</a:t>
            </a:r>
            <a:r>
              <a:rPr lang="en-US" altLang="zh-CN" dirty="0" smtClean="0"/>
              <a:t>ARM</a:t>
            </a:r>
            <a:r>
              <a:rPr lang="zh-CN" altLang="en-US" dirty="0" smtClean="0"/>
              <a:t>架构上编译和优化。这也就意味着用户可以在各种服务器和移动设备上部署自己的训练模型，无须执行单独的模型解码器或者加载</a:t>
            </a:r>
            <a:r>
              <a:rPr lang="en-US" altLang="zh-CN" dirty="0" smtClean="0"/>
              <a:t>Python</a:t>
            </a:r>
            <a:r>
              <a:rPr lang="zh-CN" altLang="en-US" dirty="0" smtClean="0"/>
              <a:t>解释器。</a:t>
            </a:r>
            <a:endParaRPr lang="en-US" altLang="zh-CN" dirty="0" smtClean="0"/>
          </a:p>
          <a:p>
            <a:r>
              <a:rPr lang="zh-CN" altLang="en-US" dirty="0" smtClean="0"/>
              <a:t>作为当前最流行的深度学习框架，</a:t>
            </a:r>
            <a:r>
              <a:rPr lang="en-US" altLang="zh-CN" dirty="0" err="1" smtClean="0"/>
              <a:t>TensorFlow</a:t>
            </a:r>
            <a:r>
              <a:rPr lang="zh-CN" altLang="en-US" dirty="0" smtClean="0"/>
              <a:t>获得了极大的成功，但在学习过程中读者也需要注意下面一些问题。</a:t>
            </a:r>
          </a:p>
          <a:p>
            <a:r>
              <a:rPr lang="en-US" altLang="zh-CN" dirty="0" smtClean="0"/>
              <a:t>1</a:t>
            </a:r>
            <a:r>
              <a:rPr lang="zh-CN" altLang="en-US" dirty="0" smtClean="0"/>
              <a:t>）因为</a:t>
            </a:r>
            <a:r>
              <a:rPr lang="en-US" altLang="zh-CN" dirty="0" err="1" smtClean="0"/>
              <a:t>TensorFlow</a:t>
            </a:r>
            <a:r>
              <a:rPr lang="zh-CN" altLang="en-US" dirty="0" smtClean="0"/>
              <a:t>的接口在不断地快速迭代，并且版本之间不兼容，所以在开发和调试过程中可能会出现问题，例如开源代码无法在新版的</a:t>
            </a:r>
            <a:r>
              <a:rPr lang="en-US" altLang="zh-CN" dirty="0" err="1" smtClean="0"/>
              <a:t>TensorFlow</a:t>
            </a:r>
            <a:r>
              <a:rPr lang="zh-CN" altLang="en-US" dirty="0" smtClean="0"/>
              <a:t>上运行。</a:t>
            </a:r>
          </a:p>
          <a:p>
            <a:r>
              <a:rPr lang="en-US" altLang="zh-CN" dirty="0" smtClean="0"/>
              <a:t>2</a:t>
            </a:r>
            <a:r>
              <a:rPr lang="zh-CN" altLang="en-US" dirty="0" smtClean="0"/>
              <a:t>）想学习 </a:t>
            </a:r>
            <a:r>
              <a:rPr lang="en-US" altLang="zh-CN" dirty="0" err="1" smtClean="0"/>
              <a:t>TensorFlow</a:t>
            </a:r>
            <a:r>
              <a:rPr lang="zh-CN" altLang="en-US" dirty="0" smtClean="0"/>
              <a:t>底层运行机制的读者需要做好心理准备，</a:t>
            </a:r>
            <a:r>
              <a:rPr lang="en-US" altLang="zh-CN" dirty="0" err="1" smtClean="0"/>
              <a:t>TensorFlow</a:t>
            </a:r>
            <a:r>
              <a:rPr lang="zh-CN" altLang="en-US" dirty="0" smtClean="0"/>
              <a:t>在</a:t>
            </a:r>
            <a:r>
              <a:rPr lang="en-US" altLang="zh-CN" dirty="0" err="1" smtClean="0"/>
              <a:t>GitHub</a:t>
            </a:r>
            <a:r>
              <a:rPr lang="zh-CN" altLang="en-US" dirty="0" smtClean="0"/>
              <a:t>代码仓库的总代码量超过</a:t>
            </a:r>
            <a:r>
              <a:rPr lang="en-US" altLang="zh-CN" dirty="0" smtClean="0"/>
              <a:t>100</a:t>
            </a:r>
            <a:r>
              <a:rPr lang="zh-CN" altLang="en-US" dirty="0" smtClean="0"/>
              <a:t>万行，系统设计比较复杂，这将是一个漫长的学习过程。</a:t>
            </a:r>
          </a:p>
          <a:p>
            <a:r>
              <a:rPr lang="en-US" altLang="zh-CN" dirty="0" smtClean="0"/>
              <a:t>3</a:t>
            </a:r>
            <a:r>
              <a:rPr lang="zh-CN" altLang="en-US" dirty="0" smtClean="0"/>
              <a:t>）在代码层面，对于同一个功能，</a:t>
            </a:r>
            <a:r>
              <a:rPr lang="en-US" altLang="zh-CN" dirty="0" err="1" smtClean="0"/>
              <a:t>TensorFlow</a:t>
            </a:r>
            <a:r>
              <a:rPr lang="zh-CN" altLang="en-US" dirty="0" smtClean="0"/>
              <a:t>提供了多种实现</a:t>
            </a:r>
            <a:r>
              <a:rPr lang="en-US" altLang="zh-CN" dirty="0" smtClean="0"/>
              <a:t>,</a:t>
            </a:r>
            <a:r>
              <a:rPr lang="zh-CN" altLang="en-US" dirty="0" smtClean="0"/>
              <a:t>这些实现良莠不齐</a:t>
            </a:r>
            <a:r>
              <a:rPr lang="en-US" altLang="zh-CN" dirty="0" smtClean="0"/>
              <a:t>,</a:t>
            </a:r>
            <a:r>
              <a:rPr lang="zh-CN" altLang="en-US" dirty="0" smtClean="0"/>
              <a:t>使用中还有细微的区别</a:t>
            </a:r>
            <a:r>
              <a:rPr lang="en-US" altLang="zh-CN" dirty="0" smtClean="0"/>
              <a:t>,</a:t>
            </a:r>
            <a:r>
              <a:rPr lang="zh-CN" altLang="en-US" dirty="0" smtClean="0"/>
              <a:t>请读者注意选择。另外，</a:t>
            </a:r>
            <a:r>
              <a:rPr lang="en-US" altLang="zh-CN" dirty="0" err="1" smtClean="0"/>
              <a:t>TensorFlow</a:t>
            </a:r>
            <a:r>
              <a:rPr lang="zh-CN" altLang="en-US" dirty="0" smtClean="0"/>
              <a:t>创造了图、会话、命名空间、</a:t>
            </a:r>
            <a:r>
              <a:rPr lang="en-US" altLang="zh-CN" dirty="0" err="1" smtClean="0"/>
              <a:t>PlaceHolder</a:t>
            </a:r>
            <a:r>
              <a:rPr lang="zh-CN" altLang="en-US" dirty="0" smtClean="0"/>
              <a:t>等诸多抽象概念</a:t>
            </a:r>
            <a:r>
              <a:rPr lang="en-US" altLang="zh-CN" dirty="0" smtClean="0"/>
              <a:t>,</a:t>
            </a:r>
            <a:r>
              <a:rPr lang="zh-CN" altLang="en-US" dirty="0" smtClean="0"/>
              <a:t>对普通用户来说较难理解。凭借 </a:t>
            </a:r>
            <a:r>
              <a:rPr lang="en-US" altLang="zh-CN" dirty="0" smtClean="0"/>
              <a:t>Google</a:t>
            </a:r>
            <a:r>
              <a:rPr lang="zh-CN" altLang="en-US" dirty="0" smtClean="0"/>
              <a:t>强大的推广能力，</a:t>
            </a:r>
            <a:r>
              <a:rPr lang="en-US" altLang="zh-CN" dirty="0" err="1" smtClean="0"/>
              <a:t>TensorFlow</a:t>
            </a:r>
            <a:r>
              <a:rPr lang="zh-CN" altLang="en-US" dirty="0" smtClean="0"/>
              <a:t>已经成为当今最火的深度学习框架</a:t>
            </a:r>
            <a:r>
              <a:rPr lang="en-US" altLang="zh-CN" dirty="0" smtClean="0"/>
              <a:t>,</a:t>
            </a:r>
            <a:r>
              <a:rPr lang="zh-CN" altLang="en-US" dirty="0" smtClean="0"/>
              <a:t>不完美但是最流行。因为各公司使用的框架不统一，所以我们有必要多学习几个流行框架作为知识储备，</a:t>
            </a:r>
            <a:r>
              <a:rPr lang="en-US" altLang="zh-CN" dirty="0" err="1" smtClean="0"/>
              <a:t>TensorFlow</a:t>
            </a:r>
            <a:r>
              <a:rPr lang="zh-CN" altLang="en-US" dirty="0" smtClean="0"/>
              <a:t>无疑是一个不错的选择。</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5580141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smtClean="0"/>
              <a:t>MXNet</a:t>
            </a:r>
            <a:r>
              <a:rPr lang="zh-CN" altLang="en-US" dirty="0" smtClean="0"/>
              <a:t>是亚马逊首席科学家李沐带领团队开发的深度学习框架，拥有类似</a:t>
            </a:r>
            <a:r>
              <a:rPr lang="en-US" altLang="zh-CN" dirty="0" err="1" smtClean="0"/>
              <a:t>Theano</a:t>
            </a:r>
            <a:r>
              <a:rPr lang="zh-CN" altLang="en-US" dirty="0" smtClean="0"/>
              <a:t>和 </a:t>
            </a:r>
            <a:r>
              <a:rPr lang="en-US" altLang="zh-CN" dirty="0" err="1" smtClean="0"/>
              <a:t>TensorFlow</a:t>
            </a:r>
            <a:r>
              <a:rPr lang="zh-CN" altLang="en-US" dirty="0" smtClean="0"/>
              <a:t>的数据流图</a:t>
            </a:r>
            <a:r>
              <a:rPr lang="en-US" altLang="zh-CN" dirty="0" smtClean="0"/>
              <a:t>,</a:t>
            </a:r>
            <a:r>
              <a:rPr lang="zh-CN" altLang="en-US" dirty="0" smtClean="0"/>
              <a:t>为多</a:t>
            </a:r>
            <a:r>
              <a:rPr lang="en-US" altLang="zh-CN" dirty="0" smtClean="0"/>
              <a:t>GPU</a:t>
            </a:r>
            <a:r>
              <a:rPr lang="zh-CN" altLang="en-US" dirty="0" smtClean="0"/>
              <a:t>架构提供了良好的配置，拥有类似</a:t>
            </a:r>
            <a:r>
              <a:rPr lang="en-US" altLang="zh-CN" dirty="0" err="1" smtClean="0"/>
              <a:t>Lasagne</a:t>
            </a:r>
            <a:r>
              <a:rPr lang="zh-CN" altLang="en-US" dirty="0" smtClean="0"/>
              <a:t>和</a:t>
            </a:r>
            <a:r>
              <a:rPr lang="en-US" altLang="zh-CN" dirty="0" smtClean="0"/>
              <a:t>Blocks</a:t>
            </a:r>
            <a:r>
              <a:rPr lang="zh-CN" altLang="en-US" dirty="0" smtClean="0"/>
              <a:t>的高级别模型构建块</a:t>
            </a:r>
            <a:r>
              <a:rPr lang="en-US" altLang="zh-CN" dirty="0" smtClean="0"/>
              <a:t>,</a:t>
            </a:r>
            <a:r>
              <a:rPr lang="zh-CN" altLang="en-US" dirty="0" smtClean="0"/>
              <a:t>可以在我们需要的任何硬件上运行</a:t>
            </a:r>
            <a:r>
              <a:rPr lang="en-US" altLang="zh-CN" dirty="0" smtClean="0"/>
              <a:t>(</a:t>
            </a:r>
            <a:r>
              <a:rPr lang="zh-CN" altLang="en-US" dirty="0" smtClean="0"/>
              <a:t>包括手机</a:t>
            </a:r>
            <a:r>
              <a:rPr lang="en-US" altLang="zh-CN" dirty="0" smtClean="0"/>
              <a:t>)</a:t>
            </a:r>
            <a:r>
              <a:rPr lang="zh-CN" altLang="en-US" dirty="0" smtClean="0"/>
              <a:t>。除了支持</a:t>
            </a:r>
            <a:r>
              <a:rPr lang="en-US" altLang="zh-CN" dirty="0" smtClean="0"/>
              <a:t>Python, </a:t>
            </a:r>
            <a:r>
              <a:rPr lang="en-US" altLang="zh-CN" dirty="0" err="1" smtClean="0"/>
              <a:t>MXNet</a:t>
            </a:r>
            <a:r>
              <a:rPr lang="zh-CN" altLang="en-US" dirty="0" smtClean="0"/>
              <a:t>同样提供了对</a:t>
            </a:r>
            <a:r>
              <a:rPr lang="en-US" altLang="zh-CN" dirty="0" smtClean="0"/>
              <a:t>R</a:t>
            </a:r>
            <a:r>
              <a:rPr lang="zh-CN" altLang="en-US" dirty="0" smtClean="0"/>
              <a:t>、</a:t>
            </a:r>
            <a:r>
              <a:rPr lang="en-US" altLang="zh-CN" dirty="0" smtClean="0"/>
              <a:t>Julia</a:t>
            </a:r>
            <a:r>
              <a:rPr lang="zh-CN" altLang="en-US" dirty="0" smtClean="0"/>
              <a:t>、</a:t>
            </a:r>
            <a:r>
              <a:rPr lang="en-US" altLang="zh-CN" dirty="0" smtClean="0"/>
              <a:t>C++</a:t>
            </a:r>
            <a:r>
              <a:rPr lang="zh-CN" altLang="en-US" dirty="0" smtClean="0"/>
              <a:t>、</a:t>
            </a:r>
            <a:r>
              <a:rPr lang="en-US" altLang="zh-CN" dirty="0" err="1" smtClean="0"/>
              <a:t>Scala</a:t>
            </a:r>
            <a:r>
              <a:rPr lang="zh-CN" altLang="en-US" dirty="0" smtClean="0"/>
              <a:t>、</a:t>
            </a:r>
            <a:r>
              <a:rPr lang="en-US" altLang="zh-CN" dirty="0" err="1" smtClean="0"/>
              <a:t>Matlab</a:t>
            </a:r>
            <a:r>
              <a:rPr lang="zh-CN" altLang="en-US" dirty="0" smtClean="0"/>
              <a:t>、</a:t>
            </a:r>
            <a:r>
              <a:rPr lang="en-US" altLang="zh-CN" dirty="0" smtClean="0"/>
              <a:t>Go</a:t>
            </a:r>
            <a:r>
              <a:rPr lang="zh-CN" altLang="en-US" dirty="0" smtClean="0"/>
              <a:t>和 </a:t>
            </a:r>
            <a:r>
              <a:rPr lang="en-US" altLang="zh-CN" dirty="0" smtClean="0"/>
              <a:t>Java</a:t>
            </a:r>
            <a:r>
              <a:rPr lang="zh-CN" altLang="en-US" dirty="0" smtClean="0"/>
              <a:t>的接口。</a:t>
            </a:r>
            <a:r>
              <a:rPr lang="en-US" altLang="zh-CN" dirty="0" err="1" smtClean="0"/>
              <a:t>MXNet</a:t>
            </a:r>
            <a:r>
              <a:rPr lang="en-US" altLang="zh-CN" dirty="0" smtClean="0"/>
              <a:t> </a:t>
            </a:r>
            <a:r>
              <a:rPr lang="zh-CN" altLang="en-US" dirty="0" smtClean="0"/>
              <a:t>因其超强的分布式、内存</a:t>
            </a:r>
            <a:r>
              <a:rPr lang="en-US" altLang="zh-CN" dirty="0" smtClean="0"/>
              <a:t>/</a:t>
            </a:r>
            <a:r>
              <a:rPr lang="zh-CN" altLang="en-US" dirty="0" smtClean="0"/>
              <a:t>显存优化能力受到开发者的欢迎。同样的模型，</a:t>
            </a:r>
            <a:r>
              <a:rPr lang="en-US" altLang="zh-CN" dirty="0" err="1" smtClean="0"/>
              <a:t>MXNet</a:t>
            </a:r>
            <a:r>
              <a:rPr lang="en-US" altLang="zh-CN" dirty="0" smtClean="0"/>
              <a:t> </a:t>
            </a:r>
            <a:r>
              <a:rPr lang="zh-CN" altLang="en-US" dirty="0" smtClean="0"/>
              <a:t>往往占用的内存和显存更小，在分布式环境下，</a:t>
            </a:r>
            <a:r>
              <a:rPr lang="en-US" altLang="zh-CN" dirty="0" err="1" smtClean="0"/>
              <a:t>MXNet</a:t>
            </a:r>
            <a:r>
              <a:rPr lang="zh-CN" altLang="en-US" dirty="0" smtClean="0"/>
              <a:t>展现出了明显优于其他框架的扩展性能。</a:t>
            </a:r>
          </a:p>
          <a:p>
            <a:r>
              <a:rPr lang="en-US" altLang="zh-CN" dirty="0" err="1" smtClean="0"/>
              <a:t>MXNet</a:t>
            </a:r>
            <a:r>
              <a:rPr lang="zh-CN" altLang="en-US" dirty="0" smtClean="0"/>
              <a:t>的缺点是推广力度不够、接口文档不完善。虽然</a:t>
            </a:r>
            <a:r>
              <a:rPr lang="en-US" altLang="zh-CN" dirty="0" err="1" smtClean="0"/>
              <a:t>MXNet</a:t>
            </a:r>
            <a:r>
              <a:rPr lang="zh-CN" altLang="en-US" dirty="0" smtClean="0"/>
              <a:t>版本快速迭代</a:t>
            </a:r>
            <a:r>
              <a:rPr lang="en-US" altLang="zh-CN" dirty="0" smtClean="0"/>
              <a:t>,</a:t>
            </a:r>
            <a:r>
              <a:rPr lang="zh-CN" altLang="en-US" dirty="0" smtClean="0"/>
              <a:t>但官方</a:t>
            </a:r>
            <a:r>
              <a:rPr lang="en-US" altLang="zh-CN" dirty="0" smtClean="0"/>
              <a:t>API</a:t>
            </a:r>
            <a:r>
              <a:rPr lang="zh-CN" altLang="en-US" dirty="0" smtClean="0"/>
              <a:t>文档却长时间未更新，导致新用户难以掌握新版本的</a:t>
            </a:r>
            <a:r>
              <a:rPr lang="en-US" altLang="zh-CN" dirty="0" err="1" smtClean="0"/>
              <a:t>MXNet</a:t>
            </a:r>
            <a:r>
              <a:rPr lang="zh-CN" altLang="en-US" dirty="0" smtClean="0"/>
              <a:t>，而老用户又需要查阅源码才能真正理解 </a:t>
            </a:r>
            <a:r>
              <a:rPr lang="en-US" altLang="zh-CN" dirty="0" err="1" smtClean="0"/>
              <a:t>MXNet</a:t>
            </a:r>
            <a:r>
              <a:rPr lang="en-US" altLang="zh-CN" dirty="0" smtClean="0"/>
              <a:t> </a:t>
            </a:r>
            <a:r>
              <a:rPr lang="zh-CN" altLang="en-US" dirty="0" smtClean="0"/>
              <a:t>接口的用法。</a:t>
            </a:r>
            <a:r>
              <a:rPr lang="en-US" altLang="zh-CN" dirty="0" err="1" smtClean="0"/>
              <a:t>MXNet</a:t>
            </a:r>
            <a:r>
              <a:rPr lang="zh-CN" altLang="en-US" dirty="0" smtClean="0"/>
              <a:t>文档比较混乱</a:t>
            </a:r>
            <a:r>
              <a:rPr lang="en-US" altLang="zh-CN" dirty="0" smtClean="0"/>
              <a:t>,</a:t>
            </a:r>
            <a:r>
              <a:rPr lang="zh-CN" altLang="en-US" dirty="0" smtClean="0"/>
              <a:t>不太适合新手入门</a:t>
            </a:r>
            <a:r>
              <a:rPr lang="en-US" altLang="zh-CN" dirty="0" smtClean="0"/>
              <a:t>,</a:t>
            </a:r>
            <a:r>
              <a:rPr lang="zh-CN" altLang="en-US" dirty="0" smtClean="0"/>
              <a:t>但其分布性能强大</a:t>
            </a:r>
            <a:r>
              <a:rPr lang="en-US" altLang="zh-CN" dirty="0" smtClean="0"/>
              <a:t>,</a:t>
            </a:r>
            <a:r>
              <a:rPr lang="zh-CN" altLang="en-US" dirty="0" smtClean="0"/>
              <a:t>语言支持比较多</a:t>
            </a:r>
            <a:r>
              <a:rPr lang="en-US" altLang="zh-CN" dirty="0" smtClean="0"/>
              <a:t>,</a:t>
            </a:r>
            <a:r>
              <a:rPr lang="zh-CN" altLang="en-US" dirty="0" smtClean="0"/>
              <a:t>比较适合在云平台使用。</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254515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smtClean="0"/>
              <a:t>Keras</a:t>
            </a:r>
            <a:r>
              <a:rPr lang="zh-CN" altLang="en-US" dirty="0" smtClean="0"/>
              <a:t>是一个高层神经网络</a:t>
            </a:r>
            <a:r>
              <a:rPr lang="en-US" altLang="zh-CN" dirty="0" smtClean="0"/>
              <a:t>API,</a:t>
            </a:r>
            <a:r>
              <a:rPr lang="zh-CN" altLang="en-US" dirty="0" smtClean="0"/>
              <a:t>使用</a:t>
            </a:r>
            <a:r>
              <a:rPr lang="en-US" altLang="zh-CN" dirty="0" smtClean="0"/>
              <a:t>Python</a:t>
            </a:r>
            <a:r>
              <a:rPr lang="zh-CN" altLang="en-US" dirty="0" smtClean="0"/>
              <a:t>编写，并将</a:t>
            </a:r>
            <a:r>
              <a:rPr lang="en-US" altLang="zh-CN" dirty="0" err="1" smtClean="0"/>
              <a:t>TensorFlow</a:t>
            </a:r>
            <a:r>
              <a:rPr lang="zh-CN" altLang="en-US" dirty="0" smtClean="0"/>
              <a:t>、</a:t>
            </a:r>
            <a:r>
              <a:rPr lang="en-US" altLang="zh-CN" dirty="0" err="1" smtClean="0"/>
              <a:t>Theano</a:t>
            </a:r>
            <a:r>
              <a:rPr lang="zh-CN" altLang="en-US" dirty="0" smtClean="0"/>
              <a:t>及</a:t>
            </a:r>
            <a:r>
              <a:rPr lang="en-US" altLang="zh-CN" dirty="0" smtClean="0"/>
              <a:t>CNTK</a:t>
            </a:r>
            <a:r>
              <a:rPr lang="zh-CN" altLang="en-US" dirty="0" smtClean="0"/>
              <a:t>作为后端。</a:t>
            </a:r>
            <a:r>
              <a:rPr lang="en-US" altLang="zh-CN" dirty="0" err="1" smtClean="0"/>
              <a:t>Keras</a:t>
            </a:r>
            <a:r>
              <a:rPr lang="zh-CN" altLang="en-US" dirty="0" smtClean="0"/>
              <a:t>为支持快速实验而生</a:t>
            </a:r>
            <a:r>
              <a:rPr lang="en-US" altLang="zh-CN" dirty="0" smtClean="0"/>
              <a:t>,</a:t>
            </a:r>
            <a:r>
              <a:rPr lang="zh-CN" altLang="en-US" dirty="0" smtClean="0"/>
              <a:t>能够快速实现开发者的想法。</a:t>
            </a:r>
            <a:r>
              <a:rPr lang="en-US" altLang="zh-CN" dirty="0" err="1" smtClean="0"/>
              <a:t>Keras</a:t>
            </a:r>
            <a:r>
              <a:rPr lang="zh-CN" altLang="en-US" dirty="0" smtClean="0"/>
              <a:t>目前是最容易上手的深度学习框架</a:t>
            </a:r>
            <a:r>
              <a:rPr lang="en-US" altLang="zh-CN" dirty="0" smtClean="0"/>
              <a:t>,</a:t>
            </a:r>
            <a:r>
              <a:rPr lang="zh-CN" altLang="en-US" dirty="0" smtClean="0"/>
              <a:t>它提供了一致且简洁的</a:t>
            </a:r>
            <a:r>
              <a:rPr lang="en-US" altLang="zh-CN" dirty="0" smtClean="0"/>
              <a:t>API,</a:t>
            </a:r>
            <a:r>
              <a:rPr lang="zh-CN" altLang="en-US" dirty="0" smtClean="0"/>
              <a:t>能够极大减少一般应用下用户的工作量。</a:t>
            </a:r>
          </a:p>
          <a:p>
            <a:r>
              <a:rPr lang="zh-CN" altLang="en-US" dirty="0" smtClean="0"/>
              <a:t>相比于深度学习框架，</a:t>
            </a:r>
            <a:r>
              <a:rPr lang="en-US" altLang="zh-CN" dirty="0" err="1" smtClean="0"/>
              <a:t>Keras</a:t>
            </a:r>
            <a:r>
              <a:rPr lang="zh-CN" altLang="en-US" dirty="0" smtClean="0"/>
              <a:t>更像是一个深度学习接口</a:t>
            </a:r>
            <a:r>
              <a:rPr lang="en-US" altLang="zh-CN" dirty="0" smtClean="0"/>
              <a:t>,</a:t>
            </a:r>
            <a:r>
              <a:rPr lang="zh-CN" altLang="en-US" dirty="0" smtClean="0"/>
              <a:t>它构建于第三方框架之上。</a:t>
            </a:r>
            <a:r>
              <a:rPr lang="en-US" altLang="zh-CN" dirty="0" err="1" smtClean="0"/>
              <a:t>Keras</a:t>
            </a:r>
            <a:r>
              <a:rPr lang="zh-CN" altLang="en-US" dirty="0" smtClean="0"/>
              <a:t>的缺点很明显</a:t>
            </a:r>
            <a:r>
              <a:rPr lang="en-US" altLang="zh-CN" dirty="0" smtClean="0"/>
              <a:t>:</a:t>
            </a:r>
            <a:r>
              <a:rPr lang="zh-CN" altLang="en-US" dirty="0" smtClean="0"/>
              <a:t>过度封装导致丧失了灵活性。</a:t>
            </a:r>
            <a:r>
              <a:rPr lang="en-US" altLang="zh-CN" dirty="0" err="1" smtClean="0"/>
              <a:t>Keras</a:t>
            </a:r>
            <a:r>
              <a:rPr lang="zh-CN" altLang="en-US" dirty="0" smtClean="0"/>
              <a:t>最初作为</a:t>
            </a:r>
            <a:r>
              <a:rPr lang="en-US" altLang="zh-CN" dirty="0" err="1" smtClean="0"/>
              <a:t>Theano</a:t>
            </a:r>
            <a:r>
              <a:rPr lang="zh-CN" altLang="en-US" dirty="0" smtClean="0"/>
              <a:t>的高级</a:t>
            </a:r>
            <a:r>
              <a:rPr lang="en-US" altLang="zh-CN" dirty="0" smtClean="0"/>
              <a:t>API,</a:t>
            </a:r>
            <a:r>
              <a:rPr lang="zh-CN" altLang="en-US" dirty="0" smtClean="0"/>
              <a:t>后来增加了</a:t>
            </a:r>
            <a:r>
              <a:rPr lang="en-US" altLang="zh-CN" dirty="0" err="1" smtClean="0"/>
              <a:t>TensorFlow</a:t>
            </a:r>
            <a:r>
              <a:rPr lang="zh-CN" altLang="en-US" dirty="0" smtClean="0"/>
              <a:t>和 </a:t>
            </a:r>
            <a:r>
              <a:rPr lang="en-US" altLang="zh-CN" dirty="0" smtClean="0"/>
              <a:t>CNTK</a:t>
            </a:r>
            <a:r>
              <a:rPr lang="zh-CN" altLang="en-US" dirty="0" smtClean="0"/>
              <a:t>作为后端。为了屏蔽后端的差异性，</a:t>
            </a:r>
            <a:r>
              <a:rPr lang="en-US" altLang="zh-CN" dirty="0" err="1" smtClean="0"/>
              <a:t>Keras</a:t>
            </a:r>
            <a:r>
              <a:rPr lang="zh-CN" altLang="en-US" dirty="0" smtClean="0"/>
              <a:t>提供了一致的用户接口并做了层层封装，导致用户在新增操作或是获取底层的数据信息时过于困难。同时，过度封装也使得</a:t>
            </a:r>
            <a:r>
              <a:rPr lang="en-US" altLang="zh-CN" dirty="0" err="1" smtClean="0"/>
              <a:t>Keras</a:t>
            </a:r>
            <a:r>
              <a:rPr lang="en-US" altLang="zh-CN" dirty="0" smtClean="0"/>
              <a:t> </a:t>
            </a:r>
            <a:r>
              <a:rPr lang="zh-CN" altLang="en-US" dirty="0" smtClean="0"/>
              <a:t>的程序运行十分缓慢</a:t>
            </a:r>
            <a:r>
              <a:rPr lang="en-US" altLang="zh-CN" dirty="0" smtClean="0"/>
              <a:t>,</a:t>
            </a:r>
            <a:r>
              <a:rPr lang="zh-CN" altLang="en-US" dirty="0" smtClean="0"/>
              <a:t>许多 </a:t>
            </a:r>
            <a:r>
              <a:rPr lang="en-US" altLang="zh-CN" dirty="0" smtClean="0"/>
              <a:t>Bug</a:t>
            </a:r>
            <a:r>
              <a:rPr lang="zh-CN" altLang="en-US" dirty="0" smtClean="0"/>
              <a:t>都隐藏于封装之中。在绝大多数场景下，</a:t>
            </a:r>
            <a:r>
              <a:rPr lang="en-US" altLang="zh-CN" dirty="0" err="1" smtClean="0"/>
              <a:t>Keras</a:t>
            </a:r>
            <a:r>
              <a:rPr lang="zh-CN" altLang="en-US" dirty="0" smtClean="0"/>
              <a:t>是本文介绍的所有框架中运行最慢的。</a:t>
            </a:r>
            <a:endParaRPr lang="en-US" altLang="zh-CN" dirty="0" smtClean="0"/>
          </a:p>
          <a:p>
            <a:r>
              <a:rPr lang="zh-CN" altLang="en-US" dirty="0" smtClean="0"/>
              <a:t>学习</a:t>
            </a:r>
            <a:r>
              <a:rPr lang="en-US" altLang="zh-CN" dirty="0" err="1" smtClean="0"/>
              <a:t>Keras</a:t>
            </a:r>
            <a:r>
              <a:rPr lang="zh-CN" altLang="en-US" dirty="0" smtClean="0"/>
              <a:t>十分容易，但是很快就会遇到瓶颈，因为它不够灵活。另外</a:t>
            </a:r>
            <a:r>
              <a:rPr lang="en-US" altLang="zh-CN" dirty="0" smtClean="0"/>
              <a:t>,</a:t>
            </a:r>
            <a:r>
              <a:rPr lang="zh-CN" altLang="en-US" dirty="0" smtClean="0"/>
              <a:t>在使用</a:t>
            </a:r>
            <a:r>
              <a:rPr lang="en-US" altLang="zh-CN" dirty="0" err="1" smtClean="0"/>
              <a:t>Keras</a:t>
            </a:r>
            <a:r>
              <a:rPr lang="zh-CN" altLang="en-US" dirty="0" smtClean="0"/>
              <a:t>的大多数时间里，用户主要是在调用接口，很难真正学习到深度学习的内容。</a:t>
            </a:r>
          </a:p>
          <a:p>
            <a:r>
              <a:rPr lang="en-US" altLang="zh-CN" dirty="0" err="1" smtClean="0"/>
              <a:t>Keras</a:t>
            </a:r>
            <a:r>
              <a:rPr lang="zh-CN" altLang="en-US" dirty="0" smtClean="0"/>
              <a:t>的过度封装使其并不适合新手学习</a:t>
            </a:r>
            <a:r>
              <a:rPr lang="en-US" altLang="zh-CN" dirty="0" smtClean="0"/>
              <a:t>(</a:t>
            </a:r>
            <a:r>
              <a:rPr lang="zh-CN" altLang="en-US" dirty="0" smtClean="0"/>
              <a:t>无法理解深度学习的真正内涵</a:t>
            </a:r>
            <a:r>
              <a:rPr lang="en-US" altLang="zh-CN" dirty="0" smtClean="0"/>
              <a:t>)</a:t>
            </a:r>
            <a:r>
              <a:rPr lang="zh-CN" altLang="en-US" dirty="0" smtClean="0"/>
              <a:t>，故不推荐。</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5716131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dirty="0" err="1" smtClean="0"/>
              <a:t>PyTorch</a:t>
            </a:r>
            <a:r>
              <a:rPr lang="zh-CN" altLang="en-US" dirty="0" smtClean="0"/>
              <a:t>是一个</a:t>
            </a:r>
            <a:r>
              <a:rPr lang="en-US" altLang="zh-CN" dirty="0" smtClean="0"/>
              <a:t>Python</a:t>
            </a:r>
            <a:r>
              <a:rPr lang="zh-CN" altLang="en-US" dirty="0" smtClean="0"/>
              <a:t>优先的深度学习框架，设计追求最少的封装，能够在强大的 </a:t>
            </a:r>
            <a:r>
              <a:rPr lang="en-US" altLang="zh-CN" dirty="0" smtClean="0"/>
              <a:t>GPU </a:t>
            </a:r>
            <a:r>
              <a:rPr lang="zh-CN" altLang="en-US" dirty="0" smtClean="0"/>
              <a:t>加速基础上实现张量和动态神经网络。</a:t>
            </a:r>
          </a:p>
          <a:p>
            <a:r>
              <a:rPr lang="en-US" altLang="zh-CN" dirty="0" err="1" smtClean="0"/>
              <a:t>PyTorch</a:t>
            </a:r>
            <a:r>
              <a:rPr lang="zh-CN" altLang="en-US" dirty="0" smtClean="0"/>
              <a:t>提供了完整的使用文档、循序渐进的用户指南，作者亲自维护</a:t>
            </a:r>
            <a:r>
              <a:rPr lang="en-US" altLang="zh-CN" dirty="0" err="1" smtClean="0"/>
              <a:t>PyTorch</a:t>
            </a:r>
            <a:r>
              <a:rPr lang="zh-CN" altLang="en-US" dirty="0" smtClean="0"/>
              <a:t>论坛</a:t>
            </a:r>
            <a:r>
              <a:rPr lang="en-US" altLang="zh-CN" dirty="0" smtClean="0"/>
              <a:t>,</a:t>
            </a:r>
            <a:r>
              <a:rPr lang="zh-CN" altLang="en-US" dirty="0" smtClean="0"/>
              <a:t>方便用户交流和解决问题。</a:t>
            </a:r>
            <a:r>
              <a:rPr lang="en-US" altLang="zh-CN" dirty="0" smtClean="0"/>
              <a:t>Facebook</a:t>
            </a:r>
            <a:r>
              <a:rPr lang="zh-CN" altLang="en-US" dirty="0" smtClean="0"/>
              <a:t>人工智能研究院</a:t>
            </a:r>
            <a:r>
              <a:rPr lang="en-US" altLang="zh-CN" dirty="0" smtClean="0"/>
              <a:t>FAIR</a:t>
            </a:r>
            <a:r>
              <a:rPr lang="zh-CN" altLang="en-US" dirty="0" smtClean="0"/>
              <a:t>对 </a:t>
            </a:r>
            <a:r>
              <a:rPr lang="en-US" altLang="zh-CN" dirty="0" err="1" smtClean="0"/>
              <a:t>PyTorch</a:t>
            </a:r>
            <a:r>
              <a:rPr lang="zh-CN" altLang="en-US" dirty="0" smtClean="0"/>
              <a:t>的推广提供了大力支持。作为当今排名前三的深度学习研究机构</a:t>
            </a:r>
            <a:r>
              <a:rPr lang="en-US" altLang="zh-CN" dirty="0" smtClean="0"/>
              <a:t>,FAIR</a:t>
            </a:r>
            <a:r>
              <a:rPr lang="zh-CN" altLang="en-US" dirty="0" smtClean="0"/>
              <a:t>的支持足以确保</a:t>
            </a:r>
            <a:r>
              <a:rPr lang="en-US" altLang="zh-CN" dirty="0" err="1" smtClean="0"/>
              <a:t>PyTorch</a:t>
            </a:r>
            <a:r>
              <a:rPr lang="zh-CN" altLang="en-US" dirty="0" smtClean="0"/>
              <a:t>获得持续开发、更新的保障</a:t>
            </a:r>
            <a:r>
              <a:rPr lang="en-US" altLang="zh-CN" dirty="0" smtClean="0"/>
              <a:t>,</a:t>
            </a:r>
            <a:r>
              <a:rPr lang="zh-CN" altLang="en-US" dirty="0" smtClean="0"/>
              <a:t>不至于像一些个人开发的框架那样昙花一现。如有需要</a:t>
            </a:r>
            <a:r>
              <a:rPr lang="en-US" altLang="zh-CN" dirty="0" smtClean="0"/>
              <a:t>,</a:t>
            </a:r>
            <a:r>
              <a:rPr lang="zh-CN" altLang="en-US" dirty="0" smtClean="0"/>
              <a:t>我们也可以使用</a:t>
            </a:r>
            <a:r>
              <a:rPr lang="en-US" altLang="zh-CN" dirty="0" smtClean="0"/>
              <a:t>Python</a:t>
            </a:r>
            <a:r>
              <a:rPr lang="zh-CN" altLang="en-US" dirty="0" smtClean="0"/>
              <a:t>软件包</a:t>
            </a:r>
            <a:r>
              <a:rPr lang="en-US" altLang="zh-CN" dirty="0" smtClean="0"/>
              <a:t>(</a:t>
            </a:r>
            <a:r>
              <a:rPr lang="zh-CN" altLang="en-US" dirty="0" smtClean="0"/>
              <a:t>如</a:t>
            </a:r>
            <a:r>
              <a:rPr lang="en-US" altLang="zh-CN" dirty="0" err="1" smtClean="0"/>
              <a:t>NumPy</a:t>
            </a:r>
            <a:r>
              <a:rPr lang="zh-CN" altLang="en-US" dirty="0" smtClean="0"/>
              <a:t>、</a:t>
            </a:r>
            <a:r>
              <a:rPr lang="en-US" altLang="zh-CN" dirty="0" err="1" smtClean="0"/>
              <a:t>SciPy</a:t>
            </a:r>
            <a:r>
              <a:rPr lang="en-US" altLang="zh-CN" dirty="0" smtClean="0"/>
              <a:t> </a:t>
            </a:r>
            <a:r>
              <a:rPr lang="zh-CN" altLang="en-US" dirty="0" smtClean="0"/>
              <a:t>和 </a:t>
            </a:r>
            <a:r>
              <a:rPr lang="en-US" altLang="zh-CN" dirty="0" err="1" smtClean="0"/>
              <a:t>Cython</a:t>
            </a:r>
            <a:r>
              <a:rPr lang="zh-CN" altLang="en-US" dirty="0" smtClean="0"/>
              <a:t>）来扩展</a:t>
            </a:r>
            <a:r>
              <a:rPr lang="en-US" altLang="zh-CN" dirty="0" err="1" smtClean="0"/>
              <a:t>PyTorch</a:t>
            </a:r>
            <a:r>
              <a:rPr lang="zh-CN" altLang="en-US" dirty="0" smtClean="0"/>
              <a:t>。相对于</a:t>
            </a:r>
            <a:r>
              <a:rPr lang="en-US" altLang="zh-CN" dirty="0" err="1" smtClean="0"/>
              <a:t>TensorFlow</a:t>
            </a:r>
            <a:r>
              <a:rPr lang="zh-CN" altLang="en-US" dirty="0" smtClean="0"/>
              <a:t>，</a:t>
            </a:r>
            <a:r>
              <a:rPr lang="en-US" altLang="zh-CN" dirty="0" err="1" smtClean="0"/>
              <a:t>PyTorch</a:t>
            </a:r>
            <a:r>
              <a:rPr lang="en-US" altLang="zh-CN" dirty="0" smtClean="0"/>
              <a:t> </a:t>
            </a:r>
            <a:r>
              <a:rPr lang="zh-CN" altLang="en-US" dirty="0" smtClean="0"/>
              <a:t>的一大优点是它的图是动态的</a:t>
            </a:r>
            <a:r>
              <a:rPr lang="en-US" altLang="zh-CN" dirty="0" smtClean="0"/>
              <a:t>,</a:t>
            </a:r>
            <a:r>
              <a:rPr lang="zh-CN" altLang="en-US" dirty="0" smtClean="0"/>
              <a:t>而</a:t>
            </a:r>
            <a:r>
              <a:rPr lang="en-US" altLang="zh-CN" dirty="0" err="1" smtClean="0"/>
              <a:t>TensorFlow</a:t>
            </a:r>
            <a:r>
              <a:rPr lang="zh-CN" altLang="en-US" dirty="0" smtClean="0"/>
              <a:t>框架是静态图</a:t>
            </a:r>
            <a:r>
              <a:rPr lang="en-US" altLang="zh-CN" dirty="0" smtClean="0"/>
              <a:t>,</a:t>
            </a:r>
            <a:r>
              <a:rPr lang="zh-CN" altLang="en-US" dirty="0" smtClean="0"/>
              <a:t>不利于扩展。同时</a:t>
            </a:r>
            <a:r>
              <a:rPr lang="en-US" altLang="zh-CN" dirty="0" smtClean="0"/>
              <a:t>,</a:t>
            </a:r>
            <a:r>
              <a:rPr lang="en-US" altLang="zh-CN" dirty="0" err="1" smtClean="0"/>
              <a:t>Pytorch</a:t>
            </a:r>
            <a:r>
              <a:rPr lang="zh-CN" altLang="en-US" dirty="0" smtClean="0"/>
              <a:t>非常简洁，方便使用。后续的实验中，我们选取</a:t>
            </a:r>
            <a:r>
              <a:rPr lang="en-US" altLang="zh-CN" dirty="0" err="1" smtClean="0"/>
              <a:t>PyTorch</a:t>
            </a:r>
            <a:r>
              <a:rPr lang="zh-CN" altLang="en-US" dirty="0" smtClean="0"/>
              <a:t>为主要的实现框架。</a:t>
            </a:r>
            <a:endParaRPr lang="en-US" altLang="zh-CN" dirty="0" smtClean="0"/>
          </a:p>
          <a:p>
            <a:r>
              <a:rPr lang="zh-CN" altLang="en-US" dirty="0" smtClean="0"/>
              <a:t>如果说</a:t>
            </a:r>
            <a:r>
              <a:rPr lang="en-US" altLang="zh-CN" dirty="0" err="1" smtClean="0"/>
              <a:t>TensorFlow</a:t>
            </a:r>
            <a:r>
              <a:rPr lang="zh-CN" altLang="en-US" dirty="0" smtClean="0"/>
              <a:t>的设计是“ </a:t>
            </a:r>
            <a:r>
              <a:rPr lang="en-US" altLang="zh-CN" dirty="0" smtClean="0"/>
              <a:t>Make it complicated”, </a:t>
            </a:r>
            <a:r>
              <a:rPr lang="en-US" altLang="zh-CN" dirty="0" err="1" smtClean="0"/>
              <a:t>Keras</a:t>
            </a:r>
            <a:r>
              <a:rPr lang="zh-CN" altLang="en-US" dirty="0" smtClean="0"/>
              <a:t>的设计是“</a:t>
            </a:r>
            <a:r>
              <a:rPr lang="en-US" altLang="zh-CN" dirty="0" smtClean="0"/>
              <a:t>Make it complicated and hide it”</a:t>
            </a:r>
            <a:r>
              <a:rPr lang="zh-CN" altLang="en-US" dirty="0" smtClean="0"/>
              <a:t>，那么</a:t>
            </a:r>
            <a:r>
              <a:rPr lang="en-US" altLang="zh-CN" dirty="0" err="1" smtClean="0"/>
              <a:t>PyTorch</a:t>
            </a:r>
            <a:r>
              <a:rPr lang="zh-CN" altLang="en-US" dirty="0" smtClean="0"/>
              <a:t>的设计则真正做到了“</a:t>
            </a:r>
            <a:r>
              <a:rPr lang="en-US" altLang="zh-CN" dirty="0" smtClean="0"/>
              <a:t>Keep it </a:t>
            </a:r>
            <a:r>
              <a:rPr lang="en-US" altLang="zh-CN" dirty="0" err="1" smtClean="0"/>
              <a:t>simple,stupid</a:t>
            </a:r>
            <a:r>
              <a:rPr lang="en-US" altLang="zh-CN" dirty="0" smtClean="0"/>
              <a:t>”</a:t>
            </a:r>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5815677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smtClean="0"/>
              <a:t>Caffe</a:t>
            </a:r>
            <a:r>
              <a:rPr lang="zh-CN" altLang="en-US" dirty="0" smtClean="0"/>
              <a:t>是基于</a:t>
            </a:r>
            <a:r>
              <a:rPr lang="en-US" altLang="zh-CN" dirty="0" smtClean="0"/>
              <a:t>C++</a:t>
            </a:r>
            <a:r>
              <a:rPr lang="zh-CN" altLang="en-US" dirty="0" smtClean="0"/>
              <a:t>编写的深度学习框架</a:t>
            </a:r>
            <a:r>
              <a:rPr lang="en-US" altLang="zh-CN" dirty="0" smtClean="0"/>
              <a:t>,</a:t>
            </a:r>
            <a:r>
              <a:rPr lang="zh-CN" altLang="en-US" dirty="0" smtClean="0"/>
              <a:t>作者是伯克利大学的贾杨清</a:t>
            </a:r>
            <a:r>
              <a:rPr lang="en-US" altLang="zh-CN" dirty="0" smtClean="0"/>
              <a:t>,</a:t>
            </a:r>
            <a:r>
              <a:rPr lang="zh-CN" altLang="en-US" dirty="0" smtClean="0"/>
              <a:t>源码开放</a:t>
            </a:r>
            <a:r>
              <a:rPr lang="en-US" altLang="zh-CN" dirty="0" smtClean="0"/>
              <a:t>(</a:t>
            </a:r>
            <a:r>
              <a:rPr lang="zh-CN" altLang="en-US" dirty="0" smtClean="0"/>
              <a:t>具有</a:t>
            </a:r>
            <a:r>
              <a:rPr lang="en-US" altLang="zh-CN" dirty="0" smtClean="0"/>
              <a:t>Licensed BSD)</a:t>
            </a:r>
            <a:r>
              <a:rPr lang="zh-CN" altLang="en-US" dirty="0" smtClean="0"/>
              <a:t>并提供了命令行工具以及 </a:t>
            </a:r>
            <a:r>
              <a:rPr lang="en-US" altLang="zh-CN" dirty="0" err="1" smtClean="0"/>
              <a:t>Matlab</a:t>
            </a:r>
            <a:r>
              <a:rPr lang="zh-CN" altLang="en-US" dirty="0" smtClean="0"/>
              <a:t>和 </a:t>
            </a:r>
            <a:r>
              <a:rPr lang="en-US" altLang="zh-CN" dirty="0" smtClean="0"/>
              <a:t>Python </a:t>
            </a:r>
            <a:r>
              <a:rPr lang="zh-CN" altLang="en-US" dirty="0" smtClean="0"/>
              <a:t>接口。</a:t>
            </a:r>
          </a:p>
          <a:p>
            <a:r>
              <a:rPr lang="en-US" altLang="zh-CN" dirty="0" err="1" smtClean="0"/>
              <a:t>Caffe</a:t>
            </a:r>
            <a:r>
              <a:rPr lang="en-US" altLang="zh-CN" dirty="0" smtClean="0"/>
              <a:t> </a:t>
            </a:r>
            <a:r>
              <a:rPr lang="zh-CN" altLang="en-US" dirty="0" smtClean="0"/>
              <a:t>一直是深度学习研究者使用的框架，很多研究人员在上面进行开发和优化</a:t>
            </a:r>
            <a:r>
              <a:rPr lang="en-US" altLang="zh-CN" dirty="0" smtClean="0"/>
              <a:t>,</a:t>
            </a:r>
            <a:r>
              <a:rPr lang="zh-CN" altLang="en-US" dirty="0" smtClean="0"/>
              <a:t>因而有了不少沉淀</a:t>
            </a:r>
            <a:r>
              <a:rPr lang="en-US" altLang="zh-CN" dirty="0" smtClean="0"/>
              <a:t>,</a:t>
            </a:r>
            <a:r>
              <a:rPr lang="zh-CN" altLang="en-US" dirty="0" smtClean="0"/>
              <a:t>因此</a:t>
            </a:r>
            <a:r>
              <a:rPr lang="en-US" altLang="zh-CN" dirty="0" err="1" smtClean="0"/>
              <a:t>Caffe</a:t>
            </a:r>
            <a:r>
              <a:rPr lang="zh-CN" altLang="en-US" dirty="0" smtClean="0"/>
              <a:t>也是流行的深度学习框架之一。尽管如此</a:t>
            </a:r>
            <a:r>
              <a:rPr lang="en-US" altLang="zh-CN" dirty="0" smtClean="0"/>
              <a:t>,</a:t>
            </a:r>
            <a:r>
              <a:rPr lang="en-US" altLang="zh-CN" dirty="0" err="1" smtClean="0"/>
              <a:t>Caffe</a:t>
            </a:r>
            <a:r>
              <a:rPr lang="zh-CN" altLang="en-US" dirty="0" smtClean="0"/>
              <a:t>也存在不支持多机、跨平台、可扩展性差等问题。初学使用</a:t>
            </a:r>
            <a:r>
              <a:rPr lang="en-US" altLang="zh-CN" dirty="0" err="1" smtClean="0"/>
              <a:t>Caffe</a:t>
            </a:r>
            <a:r>
              <a:rPr lang="zh-CN" altLang="en-US" dirty="0" smtClean="0"/>
              <a:t>还需要注意下面两个问题。</a:t>
            </a:r>
          </a:p>
          <a:p>
            <a:r>
              <a:rPr lang="en-US" altLang="zh-CN" dirty="0" smtClean="0"/>
              <a:t>1)</a:t>
            </a:r>
            <a:r>
              <a:rPr lang="en-US" altLang="zh-CN" dirty="0" err="1" smtClean="0"/>
              <a:t>Caffe</a:t>
            </a:r>
            <a:r>
              <a:rPr lang="zh-CN" altLang="en-US" dirty="0" smtClean="0"/>
              <a:t>的安装过程需要大量的依赖库</a:t>
            </a:r>
            <a:r>
              <a:rPr lang="en-US" altLang="zh-CN" dirty="0" smtClean="0"/>
              <a:t>,</a:t>
            </a:r>
            <a:r>
              <a:rPr lang="zh-CN" altLang="en-US" dirty="0" smtClean="0"/>
              <a:t>因此涉及很多安装版本问题</a:t>
            </a:r>
            <a:r>
              <a:rPr lang="en-US" altLang="zh-CN" dirty="0" smtClean="0"/>
              <a:t>,</a:t>
            </a:r>
            <a:r>
              <a:rPr lang="zh-CN" altLang="en-US" dirty="0" smtClean="0"/>
              <a:t>初学者须多加注意。</a:t>
            </a:r>
          </a:p>
          <a:p>
            <a:r>
              <a:rPr lang="en-US" altLang="zh-CN" dirty="0" smtClean="0"/>
              <a:t>2</a:t>
            </a:r>
            <a:r>
              <a:rPr lang="zh-CN" altLang="en-US" dirty="0" smtClean="0"/>
              <a:t>）当用户要实现一个新的层，就需要用</a:t>
            </a:r>
            <a:r>
              <a:rPr lang="en-US" altLang="zh-CN" dirty="0" smtClean="0"/>
              <a:t>C++</a:t>
            </a:r>
            <a:r>
              <a:rPr lang="zh-CN" altLang="en-US" dirty="0" smtClean="0"/>
              <a:t>实现它的前向传播和反向传播代码，而如果想要新层运行在</a:t>
            </a:r>
            <a:r>
              <a:rPr lang="en-US" altLang="zh-CN" dirty="0" smtClean="0"/>
              <a:t>GPU</a:t>
            </a:r>
            <a:r>
              <a:rPr lang="zh-CN" altLang="en-US" dirty="0" smtClean="0"/>
              <a:t>上，则需要同时使用</a:t>
            </a:r>
            <a:r>
              <a:rPr lang="en-US" altLang="zh-CN" dirty="0" smtClean="0"/>
              <a:t>CUDA</a:t>
            </a:r>
            <a:r>
              <a:rPr lang="zh-CN" altLang="en-US" dirty="0" smtClean="0"/>
              <a:t>实现这一层的前向传播和反向传播。</a:t>
            </a:r>
          </a:p>
          <a:p>
            <a:r>
              <a:rPr lang="en-US" altLang="zh-CN" dirty="0" smtClean="0"/>
              <a:t>Caffe2</a:t>
            </a:r>
            <a:r>
              <a:rPr lang="zh-CN" altLang="en-US" dirty="0" smtClean="0"/>
              <a:t>出自</a:t>
            </a:r>
            <a:r>
              <a:rPr lang="en-US" altLang="zh-CN" dirty="0" smtClean="0"/>
              <a:t>Facebook</a:t>
            </a:r>
            <a:r>
              <a:rPr lang="zh-CN" altLang="en-US" dirty="0" smtClean="0"/>
              <a:t>人工智能实验室与应用机器学习团队</a:t>
            </a:r>
            <a:r>
              <a:rPr lang="en-US" altLang="zh-CN" dirty="0" smtClean="0"/>
              <a:t>,</a:t>
            </a:r>
            <a:r>
              <a:rPr lang="zh-CN" altLang="en-US" dirty="0" smtClean="0"/>
              <a:t>贾杨清仍是主要贡献者之一。</a:t>
            </a:r>
            <a:r>
              <a:rPr lang="en-US" altLang="zh-CN" dirty="0" smtClean="0"/>
              <a:t>Caffe2</a:t>
            </a:r>
            <a:r>
              <a:rPr lang="zh-CN" altLang="en-US" dirty="0" smtClean="0"/>
              <a:t>在工程上做了很多优化</a:t>
            </a:r>
            <a:r>
              <a:rPr lang="en-US" altLang="zh-CN" dirty="0" smtClean="0"/>
              <a:t>,</a:t>
            </a:r>
            <a:r>
              <a:rPr lang="zh-CN" altLang="en-US" dirty="0" smtClean="0"/>
              <a:t>比如运行速度、跨平台、可扩展性等</a:t>
            </a:r>
            <a:r>
              <a:rPr lang="en-US" altLang="zh-CN" dirty="0" smtClean="0"/>
              <a:t>,</a:t>
            </a:r>
            <a:r>
              <a:rPr lang="zh-CN" altLang="en-US" dirty="0" smtClean="0"/>
              <a:t>它可以看作 </a:t>
            </a:r>
            <a:r>
              <a:rPr lang="en-US" altLang="zh-CN" dirty="0" err="1" smtClean="0"/>
              <a:t>Caffe</a:t>
            </a:r>
            <a:r>
              <a:rPr lang="en-US" altLang="zh-CN" dirty="0" smtClean="0"/>
              <a:t> </a:t>
            </a:r>
            <a:r>
              <a:rPr lang="zh-CN" altLang="en-US" dirty="0" smtClean="0"/>
              <a:t>更细粒度的重构</a:t>
            </a:r>
            <a:r>
              <a:rPr lang="en-US" altLang="zh-CN" dirty="0" smtClean="0"/>
              <a:t>,</a:t>
            </a:r>
            <a:r>
              <a:rPr lang="zh-CN" altLang="en-US" dirty="0" smtClean="0"/>
              <a:t>但在设计上，</a:t>
            </a:r>
            <a:r>
              <a:rPr lang="en-US" altLang="zh-CN" dirty="0" smtClean="0"/>
              <a:t>Caffe2</a:t>
            </a:r>
            <a:r>
              <a:rPr lang="zh-CN" altLang="en-US" dirty="0" smtClean="0"/>
              <a:t>其实和</a:t>
            </a:r>
            <a:r>
              <a:rPr lang="en-US" altLang="zh-CN" dirty="0" err="1" smtClean="0"/>
              <a:t>TensorFlow</a:t>
            </a:r>
            <a:r>
              <a:rPr lang="zh-CN" altLang="en-US" dirty="0" smtClean="0"/>
              <a:t>更像。目前 </a:t>
            </a:r>
            <a:r>
              <a:rPr lang="en-US" altLang="zh-CN" dirty="0" smtClean="0"/>
              <a:t>Caffe2</a:t>
            </a:r>
            <a:r>
              <a:rPr lang="zh-CN" altLang="en-US" dirty="0" smtClean="0"/>
              <a:t>代码已开源并入了</a:t>
            </a:r>
            <a:r>
              <a:rPr lang="en-US" altLang="zh-CN" dirty="0" err="1" smtClean="0"/>
              <a:t>PyTorch</a:t>
            </a:r>
            <a:r>
              <a:rPr lang="zh-CN" altLang="en-US" dirty="0" smtClean="0"/>
              <a:t>。</a:t>
            </a:r>
          </a:p>
          <a:p>
            <a:r>
              <a:rPr lang="zh-CN" altLang="en-US" dirty="0" smtClean="0"/>
              <a:t>在工业界和学术界仍有很多人使用</a:t>
            </a:r>
            <a:r>
              <a:rPr lang="en-US" altLang="zh-CN" dirty="0" err="1" smtClean="0"/>
              <a:t>Caffe</a:t>
            </a:r>
            <a:r>
              <a:rPr lang="zh-CN" altLang="en-US" dirty="0" smtClean="0"/>
              <a:t>，而 </a:t>
            </a:r>
            <a:r>
              <a:rPr lang="en-US" altLang="zh-CN" dirty="0" smtClean="0"/>
              <a:t>Caffe2</a:t>
            </a:r>
            <a:r>
              <a:rPr lang="zh-CN" altLang="en-US" dirty="0" smtClean="0"/>
              <a:t>的出现给我们提供了更多的选择。</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2651294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一节我们将目光集中在目标检测的核心概念上，为之后剖析主流目标检测算法做铺垫。首先回顾一下图像分类与目标检测的区别，如图所示，我们不仅要通过算法判断图中是不是猫（分类问题），还要再图像中标记它的位置，用方框把猫圈起来，这就是目标检测问题。</a:t>
            </a:r>
            <a:endParaRPr lang="en-US" altLang="zh-CN" dirty="0" smtClean="0"/>
          </a:p>
          <a:p>
            <a:r>
              <a:rPr lang="zh-CN" altLang="en-US" dirty="0" smtClean="0"/>
              <a:t>目标检测算法实际上是多任务算法：一个任务是确定目标的分类；另一个任务是确定目标位置。而图像分类算法则是单任务算法，只需要进行分类。</a:t>
            </a:r>
            <a:endParaRPr lang="en-US" altLang="zh-CN" dirty="0" smtClean="0"/>
          </a:p>
          <a:p>
            <a:r>
              <a:rPr lang="zh-CN" altLang="en-US" dirty="0" smtClean="0"/>
              <a:t>目前，目标检测算法的发展比较成熟，近几年更是涌现了许多非常优秀的算法。目标检测算法主要有两类代表类型：一阶段的代表算法是</a:t>
            </a:r>
            <a:r>
              <a:rPr lang="en-US" altLang="zh-CN" dirty="0" smtClean="0"/>
              <a:t>SSD</a:t>
            </a:r>
            <a:r>
              <a:rPr lang="zh-CN" altLang="en-US" dirty="0" smtClean="0"/>
              <a:t>和</a:t>
            </a:r>
            <a:r>
              <a:rPr lang="en-US" altLang="zh-CN" dirty="0" smtClean="0"/>
              <a:t>YOLO</a:t>
            </a:r>
            <a:r>
              <a:rPr lang="zh-CN" altLang="en-US" dirty="0" smtClean="0"/>
              <a:t>系列；两阶段的代表算法是</a:t>
            </a:r>
            <a:r>
              <a:rPr lang="en-US" altLang="zh-CN" dirty="0" smtClean="0"/>
              <a:t>Faster R-CNN</a:t>
            </a:r>
            <a:r>
              <a:rPr lang="zh-CN" altLang="en-US" dirty="0" smtClean="0"/>
              <a:t>。这两类算法的主要区别在于，一阶段直接基于网络提取的特征和预定义的锚进行目标检测，而两阶段则是先通过网络提取的特征和预定义的锚学习得到候选框，然后基于候选框的特征进行目标检测。</a:t>
            </a:r>
            <a:endParaRPr lang="en-US" altLang="zh-CN" dirty="0" smtClean="0"/>
          </a:p>
          <a:p>
            <a:r>
              <a:rPr lang="zh-CN" altLang="en-US" dirty="0" smtClean="0"/>
              <a:t>下面介绍目标检测算法中的几个重要的概念。</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1012600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如何判断目标检测算法的性能？</a:t>
            </a:r>
            <a:endParaRPr lang="en-US" altLang="zh-CN" dirty="0" smtClean="0"/>
          </a:p>
          <a:p>
            <a:r>
              <a:rPr lang="zh-CN" altLang="en-US" dirty="0" smtClean="0"/>
              <a:t>比较容易想到的一种方式是通过比较真值框</a:t>
            </a:r>
            <a:r>
              <a:rPr lang="en-US" altLang="zh-CN" dirty="0" smtClean="0"/>
              <a:t>(ground-truth bounding</a:t>
            </a:r>
            <a:r>
              <a:rPr lang="en-US" altLang="zh-CN" baseline="0" dirty="0" smtClean="0"/>
              <a:t> box)</a:t>
            </a:r>
            <a:r>
              <a:rPr lang="zh-CN" altLang="en-US" baseline="0" dirty="0" smtClean="0"/>
              <a:t>和预测框</a:t>
            </a:r>
            <a:r>
              <a:rPr lang="en-US" altLang="zh-CN" baseline="0" dirty="0" smtClean="0"/>
              <a:t>(predicted bounding box)</a:t>
            </a:r>
            <a:r>
              <a:rPr lang="zh-CN" altLang="en-US" baseline="0" dirty="0" smtClean="0"/>
              <a:t>的距离、重叠面积等来判断。</a:t>
            </a:r>
            <a:r>
              <a:rPr lang="en-US" altLang="zh-CN" baseline="0" dirty="0" err="1" smtClean="0"/>
              <a:t>IoU</a:t>
            </a:r>
            <a:r>
              <a:rPr lang="en-US" altLang="zh-CN" baseline="0" dirty="0" smtClean="0"/>
              <a:t>(Intersection over Union</a:t>
            </a:r>
            <a:r>
              <a:rPr lang="zh-CN" altLang="en-US" baseline="0" dirty="0" smtClean="0"/>
              <a:t>，交并比</a:t>
            </a:r>
            <a:r>
              <a:rPr lang="en-US" altLang="zh-CN" baseline="0" dirty="0" smtClean="0"/>
              <a:t>)</a:t>
            </a:r>
            <a:r>
              <a:rPr lang="zh-CN" altLang="en-US" baseline="0" dirty="0" smtClean="0"/>
              <a:t>是一种在特定数据就中检测相应物体准确度的标准，恰好可以实现上述目的，可以很好地反映检测效果。</a:t>
            </a:r>
            <a:r>
              <a:rPr lang="en-US" altLang="zh-CN" baseline="0" dirty="0" err="1" smtClean="0"/>
              <a:t>IoU</a:t>
            </a:r>
            <a:r>
              <a:rPr lang="zh-CN" altLang="en-US" baseline="0" dirty="0" smtClean="0"/>
              <a:t>的计算逻辑非常简单，就是两个框相交的面积除以两个框相并的面积，如图所示。此外，</a:t>
            </a:r>
            <a:r>
              <a:rPr lang="en-US" altLang="zh-CN" baseline="0" dirty="0" err="1" smtClean="0"/>
              <a:t>IoU</a:t>
            </a:r>
            <a:r>
              <a:rPr lang="zh-CN" altLang="en-US" baseline="0" dirty="0" smtClean="0"/>
              <a:t>还有一个很好的特性就是尺度不变性，</a:t>
            </a:r>
            <a:r>
              <a:rPr lang="zh-CN" altLang="en-US" sz="1200" b="0" i="0" kern="1200" dirty="0" smtClean="0">
                <a:solidFill>
                  <a:schemeClr val="tx1"/>
                </a:solidFill>
                <a:effectLst/>
                <a:latin typeface="+mn-lt"/>
                <a:ea typeface="+mn-ea"/>
                <a:cs typeface="+mn-cs"/>
              </a:rPr>
              <a:t>也就是对尺度不敏感（</a:t>
            </a:r>
            <a:r>
              <a:rPr lang="en-US" altLang="zh-CN" sz="1200" b="0" i="0" kern="1200" dirty="0" smtClean="0">
                <a:solidFill>
                  <a:schemeClr val="tx1"/>
                </a:solidFill>
                <a:effectLst/>
                <a:latin typeface="+mn-lt"/>
                <a:ea typeface="+mn-ea"/>
                <a:cs typeface="+mn-cs"/>
              </a:rPr>
              <a:t>scale invariant</a:t>
            </a:r>
            <a:r>
              <a:rPr lang="zh-CN" altLang="en-US" sz="1200" b="0" i="0" kern="1200" dirty="0" smtClean="0">
                <a:solidFill>
                  <a:schemeClr val="tx1"/>
                </a:solidFill>
                <a:effectLst/>
                <a:latin typeface="+mn-lt"/>
                <a:ea typeface="+mn-ea"/>
                <a:cs typeface="+mn-cs"/>
              </a:rPr>
              <a:t>）。（检测目标大小不会影响交并比计算）</a:t>
            </a:r>
            <a:endParaRPr lang="en-US" altLang="zh-CN" baseline="0"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168664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说到这里，有一些读者可能会有疑惑，那所谓的真值框是从哪里来的呢？对于任何一个训练数据集或测试数据集来说，至少包含两大类数据：一类是图像本身；另一类包含待检测对象的坐标（即标签）。我们的目标是构建一个目标检测算法，在测试集上进行测试，如果</a:t>
            </a:r>
            <a:r>
              <a:rPr lang="en-US" altLang="zh-CN" dirty="0" err="1" smtClean="0"/>
              <a:t>IoU</a:t>
            </a:r>
            <a:r>
              <a:rPr lang="zh-CN" altLang="en-US" dirty="0" smtClean="0"/>
              <a:t>的值大于</a:t>
            </a:r>
            <a:r>
              <a:rPr lang="en-US" altLang="zh-CN" dirty="0" smtClean="0"/>
              <a:t>0.5</a:t>
            </a:r>
            <a:r>
              <a:rPr lang="zh-CN" altLang="en-US" dirty="0" smtClean="0"/>
              <a:t>，通常来说这个测试的效果是不错的；如果</a:t>
            </a:r>
            <a:r>
              <a:rPr lang="en-US" altLang="zh-CN" dirty="0" err="1" smtClean="0"/>
              <a:t>IoU</a:t>
            </a:r>
            <a:r>
              <a:rPr lang="zh-CN" altLang="en-US" dirty="0" smtClean="0"/>
              <a:t>的值小于</a:t>
            </a:r>
            <a:r>
              <a:rPr lang="en-US" altLang="zh-CN" dirty="0" smtClean="0"/>
              <a:t>0.5</a:t>
            </a:r>
            <a:r>
              <a:rPr lang="zh-CN" altLang="en-US" dirty="0" smtClean="0"/>
              <a:t>，那么很明显目标检测的效果不太理想。如果</a:t>
            </a:r>
            <a:r>
              <a:rPr lang="en-US" altLang="zh-CN" dirty="0" err="1" smtClean="0"/>
              <a:t>IoU</a:t>
            </a:r>
            <a:r>
              <a:rPr lang="zh-CN" altLang="en-US" dirty="0" smtClean="0"/>
              <a:t>的值在</a:t>
            </a:r>
            <a:r>
              <a:rPr lang="en-US" altLang="zh-CN" dirty="0" smtClean="0"/>
              <a:t>0.7</a:t>
            </a:r>
            <a:r>
              <a:rPr lang="zh-CN" altLang="en-US" dirty="0" smtClean="0"/>
              <a:t>左右，则说明真值框和预测框的位置已经很接近了；如果</a:t>
            </a:r>
            <a:r>
              <a:rPr lang="en-US" altLang="zh-CN" dirty="0" err="1" smtClean="0"/>
              <a:t>IoU</a:t>
            </a:r>
            <a:r>
              <a:rPr lang="zh-CN" altLang="en-US" dirty="0" smtClean="0"/>
              <a:t>的值在</a:t>
            </a:r>
            <a:r>
              <a:rPr lang="en-US" altLang="zh-CN" dirty="0" smtClean="0"/>
              <a:t>0.9</a:t>
            </a:r>
            <a:r>
              <a:rPr lang="zh-CN" altLang="en-US" dirty="0" smtClean="0"/>
              <a:t>左右，则说明目标检测算法在测试集上的效果非常优秀。</a:t>
            </a:r>
            <a:r>
              <a:rPr lang="en-US" altLang="zh-CN" dirty="0" err="1" smtClean="0"/>
              <a:t>IoU</a:t>
            </a:r>
            <a:r>
              <a:rPr lang="zh-CN" altLang="en-US" dirty="0" smtClean="0"/>
              <a:t>是目前目标检测领域使用最广泛的检测框损失函数。</a:t>
            </a:r>
            <a:endParaRPr lang="en-US" altLang="zh-CN" dirty="0" smtClean="0"/>
          </a:p>
          <a:p>
            <a:r>
              <a:rPr lang="zh-CN" altLang="en-US" dirty="0" smtClean="0"/>
              <a:t>在</a:t>
            </a:r>
            <a:r>
              <a:rPr lang="en-US" altLang="zh-CN" dirty="0" err="1" smtClean="0"/>
              <a:t>IoU</a:t>
            </a:r>
            <a:r>
              <a:rPr lang="zh-CN" altLang="en-US" dirty="0" smtClean="0"/>
              <a:t>基础上进行优化，衍生了</a:t>
            </a:r>
            <a:r>
              <a:rPr lang="en-US" altLang="zh-CN" dirty="0" err="1" smtClean="0"/>
              <a:t>GIoU</a:t>
            </a:r>
            <a:r>
              <a:rPr lang="zh-CN" altLang="en-US" dirty="0" smtClean="0"/>
              <a:t>、</a:t>
            </a:r>
            <a:r>
              <a:rPr lang="en-US" altLang="zh-CN" dirty="0" err="1" smtClean="0"/>
              <a:t>DIoU</a:t>
            </a:r>
            <a:r>
              <a:rPr lang="zh-CN" altLang="en-US" dirty="0" smtClean="0"/>
              <a:t>、</a:t>
            </a:r>
            <a:r>
              <a:rPr lang="en-US" altLang="zh-CN" dirty="0" err="1" smtClean="0"/>
              <a:t>CIoU</a:t>
            </a:r>
            <a:r>
              <a:rPr lang="zh-CN" altLang="en-US" dirty="0" smtClean="0"/>
              <a:t>等计算方式。我们在后续实验，训练模型的过程中一般设</a:t>
            </a:r>
            <a:r>
              <a:rPr lang="en-US" altLang="zh-CN" dirty="0" err="1" smtClean="0"/>
              <a:t>IoU</a:t>
            </a:r>
            <a:r>
              <a:rPr lang="zh-CN" altLang="en-US" dirty="0" smtClean="0"/>
              <a:t>阈值为</a:t>
            </a:r>
            <a:r>
              <a:rPr lang="en-US" altLang="zh-CN" dirty="0" smtClean="0"/>
              <a:t>0.5</a:t>
            </a:r>
            <a:r>
              <a:rPr lang="zh-CN" altLang="en-US" dirty="0" smtClean="0"/>
              <a:t>，即</a:t>
            </a:r>
            <a:r>
              <a:rPr lang="en-US" altLang="zh-CN" dirty="0" err="1" smtClean="0"/>
              <a:t>IoU</a:t>
            </a:r>
            <a:r>
              <a:rPr lang="zh-CN" altLang="en-US" dirty="0" smtClean="0"/>
              <a:t>大于</a:t>
            </a:r>
            <a:r>
              <a:rPr lang="en-US" altLang="zh-CN" dirty="0" smtClean="0"/>
              <a:t>0.5</a:t>
            </a:r>
            <a:r>
              <a:rPr lang="zh-CN" altLang="en-US" dirty="0" smtClean="0"/>
              <a:t>归为成功检测，</a:t>
            </a:r>
            <a:r>
              <a:rPr lang="en-US" altLang="zh-CN" dirty="0" err="1" smtClean="0"/>
              <a:t>IoU</a:t>
            </a:r>
            <a:r>
              <a:rPr lang="zh-CN" altLang="en-US" dirty="0" smtClean="0"/>
              <a:t>小于</a:t>
            </a:r>
            <a:r>
              <a:rPr lang="en-US" altLang="zh-CN" dirty="0" smtClean="0"/>
              <a:t>0.5</a:t>
            </a:r>
            <a:r>
              <a:rPr lang="zh-CN" altLang="en-US" dirty="0" smtClean="0"/>
              <a:t>的归为失败检测，当然也可以根据不同需要调整</a:t>
            </a:r>
            <a:r>
              <a:rPr lang="en-US" altLang="zh-CN" dirty="0" err="1" smtClean="0"/>
              <a:t>IoU</a:t>
            </a:r>
            <a:r>
              <a:rPr lang="zh-CN" altLang="en-US" dirty="0" smtClean="0"/>
              <a:t>的值。</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5052186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NMS(Non Maximum Suppression,</a:t>
            </a:r>
            <a:r>
              <a:rPr lang="zh-CN" altLang="en-US" dirty="0" smtClean="0"/>
              <a:t>非极大值抑制）是目前检测算法常用的后处理操作，在目标检测算法中，我们希望每个目标都有一个预测框可以准确地圈出目标的位置并给出预测类别。检测模型的输出预测框之间可能存在重叠，比如图中针对某一个目标可能存在多个“车辆”的矩形框，此时我们需要判断哪些框有用，哪些框无用，如图所示。</a:t>
            </a:r>
            <a:endParaRPr lang="en-US" altLang="zh-CN" dirty="0" smtClean="0"/>
          </a:p>
          <a:p>
            <a:r>
              <a:rPr lang="zh-CN" altLang="en-US" dirty="0" smtClean="0"/>
              <a:t>想定位一辆车，算法找出了一堆方框，我们需要筛出哪些矩形框是没用的。非极大值抑制的方法是先假设有</a:t>
            </a:r>
            <a:r>
              <a:rPr lang="en-US" altLang="zh-CN" dirty="0" smtClean="0"/>
              <a:t>6</a:t>
            </a:r>
            <a:r>
              <a:rPr lang="zh-CN" altLang="en-US" dirty="0" smtClean="0"/>
              <a:t>个矩形框，根据分类器的分类概率排序，从小到大属于车辆的概率分别为</a:t>
            </a:r>
            <a:r>
              <a:rPr lang="en-US" altLang="zh-CN" dirty="0" smtClean="0"/>
              <a:t>A</a:t>
            </a:r>
            <a:r>
              <a:rPr lang="zh-CN" altLang="en-US" dirty="0" smtClean="0"/>
              <a:t>、</a:t>
            </a:r>
            <a:r>
              <a:rPr lang="en-US" altLang="zh-CN" dirty="0" smtClean="0"/>
              <a:t>B</a:t>
            </a:r>
            <a:r>
              <a:rPr lang="zh-CN" altLang="en-US" dirty="0" smtClean="0"/>
              <a:t>、</a:t>
            </a:r>
            <a:r>
              <a:rPr lang="en-US" altLang="zh-CN" dirty="0" smtClean="0"/>
              <a:t>C</a:t>
            </a:r>
            <a:r>
              <a:rPr lang="zh-CN" altLang="en-US" dirty="0" smtClean="0"/>
              <a:t>、</a:t>
            </a:r>
            <a:r>
              <a:rPr lang="en-US" altLang="zh-CN" dirty="0" smtClean="0"/>
              <a:t>D</a:t>
            </a:r>
            <a:r>
              <a:rPr lang="zh-CN" altLang="en-US" dirty="0" smtClean="0"/>
              <a:t>、</a:t>
            </a:r>
            <a:r>
              <a:rPr lang="en-US" altLang="zh-CN" dirty="0" smtClean="0"/>
              <a:t>E</a:t>
            </a:r>
            <a:r>
              <a:rPr lang="zh-CN" altLang="en-US" dirty="0" smtClean="0"/>
              <a:t>、</a:t>
            </a:r>
            <a:r>
              <a:rPr lang="en-US" altLang="zh-CN" dirty="0" smtClean="0"/>
              <a:t>F</a:t>
            </a:r>
            <a:r>
              <a:rPr lang="zh-CN" altLang="en-US" dirty="0" smtClean="0"/>
              <a:t>。</a:t>
            </a:r>
            <a:endParaRPr lang="en-US" altLang="zh-CN" dirty="0" smtClean="0"/>
          </a:p>
          <a:p>
            <a:r>
              <a:rPr lang="zh-CN" altLang="en-US" dirty="0" smtClean="0"/>
              <a:t>从最大概率矩形框</a:t>
            </a:r>
            <a:r>
              <a:rPr lang="en-US" altLang="zh-CN" dirty="0" smtClean="0"/>
              <a:t>F</a:t>
            </a:r>
            <a:r>
              <a:rPr lang="zh-CN" altLang="en-US" dirty="0" smtClean="0"/>
              <a:t>开始，依次判断</a:t>
            </a:r>
            <a:r>
              <a:rPr lang="en-US" altLang="zh-CN" dirty="0" smtClean="0"/>
              <a:t>A</a:t>
            </a:r>
            <a:r>
              <a:rPr lang="zh-CN" altLang="en-US" dirty="0" smtClean="0"/>
              <a:t>～</a:t>
            </a:r>
            <a:r>
              <a:rPr lang="en-US" altLang="zh-CN" dirty="0" smtClean="0"/>
              <a:t>E</a:t>
            </a:r>
            <a:r>
              <a:rPr lang="zh-CN" altLang="en-US" dirty="0" smtClean="0"/>
              <a:t>与</a:t>
            </a:r>
            <a:r>
              <a:rPr lang="en-US" altLang="zh-CN" dirty="0" smtClean="0"/>
              <a:t>F</a:t>
            </a:r>
            <a:r>
              <a:rPr lang="zh-CN" altLang="en-US" dirty="0" smtClean="0"/>
              <a:t>的重叠度</a:t>
            </a:r>
            <a:r>
              <a:rPr lang="en-US" altLang="zh-CN" dirty="0" err="1" smtClean="0"/>
              <a:t>IoU</a:t>
            </a:r>
            <a:r>
              <a:rPr lang="zh-CN" altLang="en-US" dirty="0" smtClean="0"/>
              <a:t>是否大于某个设定的阈值。假设</a:t>
            </a:r>
            <a:r>
              <a:rPr lang="en-US" altLang="zh-CN" dirty="0" smtClean="0"/>
              <a:t>B</a:t>
            </a:r>
            <a:r>
              <a:rPr lang="zh-CN" altLang="en-US" dirty="0" smtClean="0"/>
              <a:t>、</a:t>
            </a:r>
            <a:r>
              <a:rPr lang="en-US" altLang="zh-CN" dirty="0" smtClean="0"/>
              <a:t>D</a:t>
            </a:r>
            <a:r>
              <a:rPr lang="zh-CN" altLang="en-US" dirty="0" smtClean="0"/>
              <a:t>与</a:t>
            </a:r>
            <a:r>
              <a:rPr lang="en-US" altLang="zh-CN" dirty="0" smtClean="0"/>
              <a:t>F</a:t>
            </a:r>
            <a:r>
              <a:rPr lang="zh-CN" altLang="en-US" dirty="0" smtClean="0"/>
              <a:t>的重叠度超过阈值，则抛弃</a:t>
            </a:r>
            <a:r>
              <a:rPr lang="en-US" altLang="zh-CN" dirty="0" smtClean="0"/>
              <a:t>B</a:t>
            </a:r>
            <a:r>
              <a:rPr lang="zh-CN" altLang="en-US" dirty="0" smtClean="0"/>
              <a:t>、</a:t>
            </a:r>
            <a:r>
              <a:rPr lang="en-US" altLang="zh-CN" dirty="0" smtClean="0"/>
              <a:t>D</a:t>
            </a:r>
            <a:r>
              <a:rPr lang="zh-CN" altLang="en-US" dirty="0" smtClean="0"/>
              <a:t>，保留第一个矩形框</a:t>
            </a:r>
            <a:r>
              <a:rPr lang="en-US" altLang="zh-CN" dirty="0" smtClean="0"/>
              <a:t>F</a:t>
            </a:r>
            <a:r>
              <a:rPr lang="zh-CN" altLang="en-US" dirty="0" smtClean="0"/>
              <a:t>。</a:t>
            </a:r>
            <a:endParaRPr lang="en-US" altLang="zh-CN" dirty="0" smtClean="0"/>
          </a:p>
          <a:p>
            <a:r>
              <a:rPr lang="zh-CN" altLang="en-US" dirty="0" smtClean="0"/>
              <a:t>从剩下的矩形框</a:t>
            </a:r>
            <a:r>
              <a:rPr lang="en-US" altLang="zh-CN" dirty="0" smtClean="0"/>
              <a:t>A</a:t>
            </a:r>
            <a:r>
              <a:rPr lang="zh-CN" altLang="en-US" dirty="0" smtClean="0"/>
              <a:t>、</a:t>
            </a:r>
            <a:r>
              <a:rPr lang="en-US" altLang="zh-CN" dirty="0" smtClean="0"/>
              <a:t>C</a:t>
            </a:r>
            <a:r>
              <a:rPr lang="zh-CN" altLang="en-US" dirty="0" smtClean="0"/>
              <a:t>、</a:t>
            </a:r>
            <a:r>
              <a:rPr lang="en-US" altLang="zh-CN" dirty="0" smtClean="0"/>
              <a:t>E</a:t>
            </a:r>
            <a:r>
              <a:rPr lang="zh-CN" altLang="en-US" dirty="0" smtClean="0"/>
              <a:t>中，选择概率最大的</a:t>
            </a:r>
            <a:r>
              <a:rPr lang="en-US" altLang="zh-CN" dirty="0" smtClean="0"/>
              <a:t>E</a:t>
            </a:r>
            <a:r>
              <a:rPr lang="zh-CN" altLang="en-US" dirty="0" smtClean="0"/>
              <a:t>，然后判断</a:t>
            </a:r>
            <a:r>
              <a:rPr lang="en-US" altLang="zh-CN" dirty="0" smtClean="0"/>
              <a:t>E</a:t>
            </a:r>
            <a:r>
              <a:rPr lang="zh-CN" altLang="en-US" dirty="0" smtClean="0"/>
              <a:t>与</a:t>
            </a:r>
            <a:r>
              <a:rPr lang="en-US" altLang="zh-CN" dirty="0" smtClean="0"/>
              <a:t>A</a:t>
            </a:r>
            <a:r>
              <a:rPr lang="zh-CN" altLang="en-US" dirty="0" smtClean="0"/>
              <a:t>、</a:t>
            </a:r>
            <a:r>
              <a:rPr lang="en-US" altLang="zh-CN" dirty="0" smtClean="0"/>
              <a:t>C</a:t>
            </a:r>
            <a:r>
              <a:rPr lang="zh-CN" altLang="en-US" dirty="0" smtClean="0"/>
              <a:t>的重叠度，重叠度大于一定的阈值，则抛弃</a:t>
            </a:r>
            <a:r>
              <a:rPr lang="en-US" altLang="zh-CN" dirty="0" smtClean="0"/>
              <a:t>A</a:t>
            </a:r>
            <a:r>
              <a:rPr lang="zh-CN" altLang="en-US" dirty="0" smtClean="0"/>
              <a:t>、</a:t>
            </a:r>
            <a:r>
              <a:rPr lang="en-US" altLang="zh-CN" dirty="0" smtClean="0"/>
              <a:t>C</a:t>
            </a:r>
            <a:r>
              <a:rPr lang="zh-CN" altLang="en-US" dirty="0" smtClean="0"/>
              <a:t>，并标记</a:t>
            </a:r>
            <a:r>
              <a:rPr lang="en-US" altLang="zh-CN" dirty="0" smtClean="0"/>
              <a:t>E</a:t>
            </a:r>
            <a:r>
              <a:rPr lang="zh-CN" altLang="en-US" dirty="0" smtClean="0"/>
              <a:t>是我们保留下来的第二个矩形框。就这样一直重复上述过程，直到找到所有被保留下来的矩形框。</a:t>
            </a: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8678273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我们通过一个例子进行说明。上表中</a:t>
            </a:r>
            <a:r>
              <a:rPr lang="en-US" altLang="zh-CN" dirty="0" smtClean="0"/>
              <a:t>5</a:t>
            </a:r>
            <a:r>
              <a:rPr lang="zh-CN" altLang="en-US" dirty="0" smtClean="0"/>
              <a:t>个预测框已经按照类别置信度从大到小进行排序，首先选置信度最高的</a:t>
            </a:r>
            <a:r>
              <a:rPr lang="en-US" altLang="zh-CN" dirty="0" smtClean="0"/>
              <a:t>bbox1</a:t>
            </a:r>
            <a:r>
              <a:rPr lang="zh-CN" altLang="en-US" dirty="0" smtClean="0"/>
              <a:t>，与剩下非</a:t>
            </a:r>
            <a:r>
              <a:rPr lang="en-US" altLang="zh-CN" dirty="0" smtClean="0"/>
              <a:t>0</a:t>
            </a:r>
            <a:r>
              <a:rPr lang="zh-CN" altLang="en-US" dirty="0" smtClean="0"/>
              <a:t>置信度的预测框进行</a:t>
            </a:r>
            <a:r>
              <a:rPr lang="en-US" altLang="zh-CN" dirty="0" err="1" smtClean="0"/>
              <a:t>IoU</a:t>
            </a:r>
            <a:r>
              <a:rPr lang="zh-CN" altLang="en-US" dirty="0" smtClean="0"/>
              <a:t>计算，将</a:t>
            </a:r>
            <a:r>
              <a:rPr lang="en-US" altLang="zh-CN" dirty="0" err="1" smtClean="0"/>
              <a:t>IoU</a:t>
            </a:r>
            <a:r>
              <a:rPr lang="zh-CN" altLang="en-US" dirty="0" smtClean="0"/>
              <a:t>大于设定阈值（假设阈值为</a:t>
            </a:r>
            <a:r>
              <a:rPr lang="en-US" altLang="zh-CN" dirty="0" smtClean="0"/>
              <a:t>0.5</a:t>
            </a:r>
            <a:r>
              <a:rPr lang="zh-CN" altLang="en-US" dirty="0" smtClean="0"/>
              <a:t>）的预测框置信度设置为</a:t>
            </a:r>
            <a:r>
              <a:rPr lang="en-US" altLang="zh-CN" dirty="0" smtClean="0"/>
              <a:t>0</a:t>
            </a:r>
            <a:r>
              <a:rPr lang="zh-CN" altLang="en-US" dirty="0" smtClean="0"/>
              <a:t>，比如</a:t>
            </a:r>
            <a:r>
              <a:rPr lang="en-US" altLang="zh-CN" dirty="0" smtClean="0"/>
              <a:t>bbox1</a:t>
            </a:r>
            <a:r>
              <a:rPr lang="zh-CN" altLang="en-US" dirty="0" smtClean="0"/>
              <a:t>和</a:t>
            </a:r>
            <a:r>
              <a:rPr lang="en-US" altLang="zh-CN" dirty="0" smtClean="0"/>
              <a:t>bbox2</a:t>
            </a:r>
            <a:r>
              <a:rPr lang="zh-CN" altLang="en-US" dirty="0" smtClean="0"/>
              <a:t>的</a:t>
            </a:r>
            <a:r>
              <a:rPr lang="en-US" altLang="zh-CN" dirty="0" err="1" smtClean="0"/>
              <a:t>IoU</a:t>
            </a:r>
            <a:r>
              <a:rPr lang="zh-CN" altLang="en-US" dirty="0" smtClean="0"/>
              <a:t>大于</a:t>
            </a:r>
            <a:r>
              <a:rPr lang="en-US" altLang="zh-CN" dirty="0" smtClean="0"/>
              <a:t>0.5</a:t>
            </a:r>
            <a:r>
              <a:rPr lang="zh-CN" altLang="en-US" dirty="0" smtClean="0"/>
              <a:t>，则将</a:t>
            </a:r>
            <a:r>
              <a:rPr lang="en-US" altLang="zh-CN" dirty="0" smtClean="0"/>
              <a:t>bbox2</a:t>
            </a:r>
            <a:r>
              <a:rPr lang="zh-CN" altLang="en-US" dirty="0" smtClean="0"/>
              <a:t>的类别置信度置为</a:t>
            </a:r>
            <a:r>
              <a:rPr lang="en-US" altLang="zh-CN" dirty="0" smtClean="0"/>
              <a:t>0</a:t>
            </a:r>
            <a:r>
              <a:rPr lang="zh-CN" altLang="en-US" dirty="0" smtClean="0"/>
              <a:t>；</a:t>
            </a:r>
            <a:r>
              <a:rPr lang="en-US" altLang="zh-CN" dirty="0" smtClean="0"/>
              <a:t>bbox1</a:t>
            </a:r>
            <a:r>
              <a:rPr lang="zh-CN" altLang="en-US" dirty="0" smtClean="0"/>
              <a:t>和</a:t>
            </a:r>
            <a:r>
              <a:rPr lang="en-US" altLang="zh-CN" dirty="0" smtClean="0"/>
              <a:t>bbox3</a:t>
            </a:r>
            <a:r>
              <a:rPr lang="zh-CN" altLang="en-US" dirty="0" smtClean="0"/>
              <a:t>的</a:t>
            </a:r>
            <a:r>
              <a:rPr lang="en-US" altLang="zh-CN" dirty="0" err="1" smtClean="0"/>
              <a:t>IoU</a:t>
            </a:r>
            <a:r>
              <a:rPr lang="zh-CN" altLang="en-US" dirty="0" smtClean="0"/>
              <a:t>小于</a:t>
            </a:r>
            <a:r>
              <a:rPr lang="en-US" altLang="zh-CN" dirty="0" smtClean="0"/>
              <a:t>0.5</a:t>
            </a:r>
            <a:r>
              <a:rPr lang="zh-CN" altLang="en-US" dirty="0" smtClean="0"/>
              <a:t>，则不对</a:t>
            </a:r>
            <a:r>
              <a:rPr lang="en-US" altLang="zh-CN" dirty="0" smtClean="0"/>
              <a:t>bbox3</a:t>
            </a:r>
            <a:r>
              <a:rPr lang="zh-CN" altLang="en-US" dirty="0" smtClean="0"/>
              <a:t>进行操作；</a:t>
            </a:r>
            <a:r>
              <a:rPr lang="en-US" altLang="zh-CN" dirty="0" smtClean="0"/>
              <a:t>bbox1</a:t>
            </a:r>
            <a:r>
              <a:rPr lang="zh-CN" altLang="en-US" dirty="0" smtClean="0"/>
              <a:t>和</a:t>
            </a:r>
            <a:r>
              <a:rPr lang="en-US" altLang="zh-CN" dirty="0" smtClean="0"/>
              <a:t>bbox4</a:t>
            </a:r>
            <a:r>
              <a:rPr lang="zh-CN" altLang="en-US" dirty="0" smtClean="0"/>
              <a:t>的</a:t>
            </a:r>
            <a:r>
              <a:rPr lang="en-US" altLang="zh-CN" dirty="0" err="1" smtClean="0"/>
              <a:t>IoU</a:t>
            </a:r>
            <a:r>
              <a:rPr lang="zh-CN" altLang="en-US" dirty="0" smtClean="0"/>
              <a:t>大于</a:t>
            </a:r>
            <a:r>
              <a:rPr lang="en-US" altLang="zh-CN" dirty="0" smtClean="0"/>
              <a:t>0.5</a:t>
            </a:r>
            <a:r>
              <a:rPr lang="zh-CN" altLang="en-US" dirty="0" smtClean="0"/>
              <a:t>，则将</a:t>
            </a:r>
            <a:r>
              <a:rPr lang="en-US" altLang="zh-CN" dirty="0" smtClean="0"/>
              <a:t>bbox4</a:t>
            </a:r>
            <a:r>
              <a:rPr lang="zh-CN" altLang="en-US" dirty="0" smtClean="0"/>
              <a:t>的类别置信度置为</a:t>
            </a:r>
            <a:r>
              <a:rPr lang="en-US" altLang="zh-CN" dirty="0" smtClean="0"/>
              <a:t>0</a:t>
            </a:r>
            <a:r>
              <a:rPr lang="zh-CN" altLang="en-US" dirty="0" smtClean="0"/>
              <a:t>；</a:t>
            </a:r>
            <a:r>
              <a:rPr lang="en-US" altLang="zh-CN" dirty="0" smtClean="0"/>
              <a:t>bbox1</a:t>
            </a:r>
            <a:r>
              <a:rPr lang="zh-CN" altLang="en-US" dirty="0" smtClean="0"/>
              <a:t>和</a:t>
            </a:r>
            <a:r>
              <a:rPr lang="en-US" altLang="zh-CN" dirty="0" smtClean="0"/>
              <a:t>bbox5</a:t>
            </a:r>
            <a:r>
              <a:rPr lang="zh-CN" altLang="en-US" dirty="0" smtClean="0"/>
              <a:t>的</a:t>
            </a:r>
            <a:r>
              <a:rPr lang="en-US" altLang="zh-CN" dirty="0" err="1" smtClean="0"/>
              <a:t>IoU</a:t>
            </a:r>
            <a:r>
              <a:rPr lang="zh-CN" altLang="en-US" dirty="0" smtClean="0"/>
              <a:t>小于</a:t>
            </a:r>
            <a:r>
              <a:rPr lang="en-US" altLang="zh-CN" dirty="0" smtClean="0"/>
              <a:t>0.5</a:t>
            </a:r>
            <a:r>
              <a:rPr lang="zh-CN" altLang="en-US" dirty="0" smtClean="0"/>
              <a:t>，则不对</a:t>
            </a:r>
            <a:r>
              <a:rPr lang="en-US" altLang="zh-CN" dirty="0" smtClean="0"/>
              <a:t>bbox5</a:t>
            </a:r>
            <a:r>
              <a:rPr lang="zh-CN" altLang="en-US" dirty="0" smtClean="0"/>
              <a:t>进行操作。第一轮过滤后可得以下这个表，标记</a:t>
            </a:r>
            <a:r>
              <a:rPr lang="en-US" altLang="zh-CN" dirty="0" smtClean="0"/>
              <a:t>bbox1</a:t>
            </a:r>
            <a:r>
              <a:rPr lang="zh-CN" altLang="en-US" dirty="0" smtClean="0"/>
              <a:t>不再参与后续的</a:t>
            </a:r>
            <a:r>
              <a:rPr lang="en-US" altLang="zh-CN" dirty="0" smtClean="0"/>
              <a:t>NMS</a:t>
            </a:r>
            <a:r>
              <a:rPr lang="zh-CN" altLang="en-US" dirty="0" smtClean="0"/>
              <a:t>计算了。</a:t>
            </a: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8548197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接下来选择</a:t>
            </a:r>
            <a:r>
              <a:rPr lang="en-US" altLang="zh-CN" sz="1200" b="0" i="0" kern="1200" dirty="0" smtClean="0">
                <a:solidFill>
                  <a:schemeClr val="tx1"/>
                </a:solidFill>
                <a:effectLst/>
                <a:latin typeface="+mn-lt"/>
                <a:ea typeface="+mn-ea"/>
                <a:cs typeface="+mn-cs"/>
              </a:rPr>
              <a:t>bbox1</a:t>
            </a:r>
            <a:r>
              <a:rPr lang="zh-CN" altLang="en-US" sz="1200" b="0" i="0" kern="1200" dirty="0" smtClean="0">
                <a:solidFill>
                  <a:schemeClr val="tx1"/>
                </a:solidFill>
                <a:effectLst/>
                <a:latin typeface="+mn-lt"/>
                <a:ea typeface="+mn-ea"/>
                <a:cs typeface="+mn-cs"/>
              </a:rPr>
              <a:t>之外类别置信度最高的预测框，也就是</a:t>
            </a:r>
            <a:r>
              <a:rPr lang="en-US" altLang="zh-CN" sz="1200" b="0" i="0" kern="1200" dirty="0" smtClean="0">
                <a:solidFill>
                  <a:schemeClr val="tx1"/>
                </a:solidFill>
                <a:effectLst/>
                <a:latin typeface="+mn-lt"/>
                <a:ea typeface="+mn-ea"/>
                <a:cs typeface="+mn-cs"/>
              </a:rPr>
              <a:t>bbox3</a:t>
            </a:r>
            <a:r>
              <a:rPr lang="zh-CN" altLang="en-US" sz="1200" b="0" i="0" kern="1200" dirty="0" smtClean="0">
                <a:solidFill>
                  <a:schemeClr val="tx1"/>
                </a:solidFill>
                <a:effectLst/>
                <a:latin typeface="+mn-lt"/>
                <a:ea typeface="+mn-ea"/>
                <a:cs typeface="+mn-cs"/>
              </a:rPr>
              <a:t>，计算</a:t>
            </a:r>
            <a:r>
              <a:rPr lang="en-US" altLang="zh-CN" sz="1200" b="0" i="0" kern="1200" dirty="0" smtClean="0">
                <a:solidFill>
                  <a:schemeClr val="tx1"/>
                </a:solidFill>
                <a:effectLst/>
                <a:latin typeface="+mn-lt"/>
                <a:ea typeface="+mn-ea"/>
                <a:cs typeface="+mn-cs"/>
              </a:rPr>
              <a:t>bbox3</a:t>
            </a:r>
            <a:r>
              <a:rPr lang="zh-CN" altLang="en-US" sz="1200" b="0" i="0" kern="1200" dirty="0" smtClean="0">
                <a:solidFill>
                  <a:schemeClr val="tx1"/>
                </a:solidFill>
                <a:effectLst/>
                <a:latin typeface="+mn-lt"/>
                <a:ea typeface="+mn-ea"/>
                <a:cs typeface="+mn-cs"/>
              </a:rPr>
              <a:t>与其他剩余的类别置信度非</a:t>
            </a:r>
            <a:r>
              <a:rPr lang="en-US" altLang="zh-CN" sz="1200" b="0" i="0" kern="1200" dirty="0" smtClean="0">
                <a:solidFill>
                  <a:schemeClr val="tx1"/>
                </a:solidFill>
                <a:effectLst/>
                <a:latin typeface="+mn-lt"/>
                <a:ea typeface="+mn-ea"/>
                <a:cs typeface="+mn-cs"/>
              </a:rPr>
              <a:t>0</a:t>
            </a:r>
            <a:r>
              <a:rPr lang="zh-CN" altLang="en-US" sz="1200" b="0" i="0" kern="1200" dirty="0" smtClean="0">
                <a:solidFill>
                  <a:schemeClr val="tx1"/>
                </a:solidFill>
                <a:effectLst/>
                <a:latin typeface="+mn-lt"/>
                <a:ea typeface="+mn-ea"/>
                <a:cs typeface="+mn-cs"/>
              </a:rPr>
              <a:t>的预测框的</a:t>
            </a:r>
            <a:r>
              <a:rPr lang="en-US" altLang="zh-CN" sz="1200" b="0" i="0" kern="1200" dirty="0" err="1" smtClean="0">
                <a:solidFill>
                  <a:schemeClr val="tx1"/>
                </a:solidFill>
                <a:effectLst/>
                <a:latin typeface="+mn-lt"/>
                <a:ea typeface="+mn-ea"/>
                <a:cs typeface="+mn-cs"/>
              </a:rPr>
              <a:t>IoU</a:t>
            </a:r>
            <a:r>
              <a:rPr lang="zh-CN" altLang="en-US" sz="1200" b="0" i="0" kern="1200" dirty="0" smtClean="0">
                <a:solidFill>
                  <a:schemeClr val="tx1"/>
                </a:solidFill>
                <a:effectLst/>
                <a:latin typeface="+mn-lt"/>
                <a:ea typeface="+mn-ea"/>
                <a:cs typeface="+mn-cs"/>
              </a:rPr>
              <a:t>（不包括</a:t>
            </a:r>
            <a:r>
              <a:rPr lang="en-US" altLang="zh-CN" sz="1200" b="0" i="0" kern="1200" dirty="0" smtClean="0">
                <a:solidFill>
                  <a:schemeClr val="tx1"/>
                </a:solidFill>
                <a:effectLst/>
                <a:latin typeface="+mn-lt"/>
                <a:ea typeface="+mn-ea"/>
                <a:cs typeface="+mn-cs"/>
              </a:rPr>
              <a:t>bbox1</a:t>
            </a:r>
            <a:r>
              <a:rPr lang="zh-CN" altLang="en-US" sz="1200" b="0" i="0" kern="1200" dirty="0" smtClean="0">
                <a:solidFill>
                  <a:schemeClr val="tx1"/>
                </a:solidFill>
                <a:effectLst/>
                <a:latin typeface="+mn-lt"/>
                <a:ea typeface="+mn-ea"/>
                <a:cs typeface="+mn-cs"/>
              </a:rPr>
              <a:t>）。假设</a:t>
            </a:r>
            <a:r>
              <a:rPr lang="en-US" altLang="zh-CN" sz="1200" b="0" i="0" kern="1200" dirty="0" smtClean="0">
                <a:solidFill>
                  <a:schemeClr val="tx1"/>
                </a:solidFill>
                <a:effectLst/>
                <a:latin typeface="+mn-lt"/>
                <a:ea typeface="+mn-ea"/>
                <a:cs typeface="+mn-cs"/>
              </a:rPr>
              <a:t>bbox3</a:t>
            </a:r>
            <a:r>
              <a:rPr lang="zh-CN" altLang="en-US" sz="1200" b="0" i="0" kern="1200" dirty="0" smtClean="0">
                <a:solidFill>
                  <a:schemeClr val="tx1"/>
                </a:solidFill>
                <a:effectLst/>
                <a:latin typeface="+mn-lt"/>
                <a:ea typeface="+mn-ea"/>
                <a:cs typeface="+mn-cs"/>
              </a:rPr>
              <a:t>与</a:t>
            </a:r>
            <a:r>
              <a:rPr lang="en-US" altLang="zh-CN" sz="1200" b="0" i="0" kern="1200" dirty="0" smtClean="0">
                <a:solidFill>
                  <a:schemeClr val="tx1"/>
                </a:solidFill>
                <a:effectLst/>
                <a:latin typeface="+mn-lt"/>
                <a:ea typeface="+mn-ea"/>
                <a:cs typeface="+mn-cs"/>
              </a:rPr>
              <a:t>bbox5</a:t>
            </a:r>
            <a:r>
              <a:rPr lang="zh-CN" altLang="en-US" sz="1200" b="0" i="0" kern="1200" dirty="0" smtClean="0">
                <a:solidFill>
                  <a:schemeClr val="tx1"/>
                </a:solidFill>
                <a:effectLst/>
                <a:latin typeface="+mn-lt"/>
                <a:ea typeface="+mn-ea"/>
                <a:cs typeface="+mn-cs"/>
              </a:rPr>
              <a:t>的</a:t>
            </a:r>
            <a:r>
              <a:rPr lang="en-US" altLang="zh-CN" sz="1200" b="0" i="0" kern="1200" dirty="0" err="1" smtClean="0">
                <a:solidFill>
                  <a:schemeClr val="tx1"/>
                </a:solidFill>
                <a:effectLst/>
                <a:latin typeface="+mn-lt"/>
                <a:ea typeface="+mn-ea"/>
                <a:cs typeface="+mn-cs"/>
              </a:rPr>
              <a:t>IoU</a:t>
            </a:r>
            <a:r>
              <a:rPr lang="zh-CN" altLang="en-US" sz="1200" b="0" i="0" kern="1200" dirty="0" smtClean="0">
                <a:solidFill>
                  <a:schemeClr val="tx1"/>
                </a:solidFill>
                <a:effectLst/>
                <a:latin typeface="+mn-lt"/>
                <a:ea typeface="+mn-ea"/>
                <a:cs typeface="+mn-cs"/>
              </a:rPr>
              <a:t>大于</a:t>
            </a:r>
            <a:r>
              <a:rPr lang="en-US" altLang="zh-CN" sz="1200" b="0" i="0" kern="1200" dirty="0" smtClean="0">
                <a:solidFill>
                  <a:schemeClr val="tx1"/>
                </a:solidFill>
                <a:effectLst/>
                <a:latin typeface="+mn-lt"/>
                <a:ea typeface="+mn-ea"/>
                <a:cs typeface="+mn-cs"/>
              </a:rPr>
              <a:t>0.5</a:t>
            </a:r>
            <a:r>
              <a:rPr lang="zh-CN" altLang="en-US" sz="1200" b="0" i="0" kern="1200" dirty="0" smtClean="0">
                <a:solidFill>
                  <a:schemeClr val="tx1"/>
                </a:solidFill>
                <a:effectLst/>
                <a:latin typeface="+mn-lt"/>
                <a:ea typeface="+mn-ea"/>
                <a:cs typeface="+mn-cs"/>
              </a:rPr>
              <a:t>，则将</a:t>
            </a:r>
            <a:r>
              <a:rPr lang="en-US" altLang="zh-CN" sz="1200" b="0" i="0" kern="1200" dirty="0" smtClean="0">
                <a:solidFill>
                  <a:schemeClr val="tx1"/>
                </a:solidFill>
                <a:effectLst/>
                <a:latin typeface="+mn-lt"/>
                <a:ea typeface="+mn-ea"/>
                <a:cs typeface="+mn-cs"/>
              </a:rPr>
              <a:t>bbox5</a:t>
            </a:r>
            <a:r>
              <a:rPr lang="zh-CN" altLang="en-US" sz="1200" b="0" i="0" kern="1200" dirty="0" smtClean="0">
                <a:solidFill>
                  <a:schemeClr val="tx1"/>
                </a:solidFill>
                <a:effectLst/>
                <a:latin typeface="+mn-lt"/>
                <a:ea typeface="+mn-ea"/>
                <a:cs typeface="+mn-cs"/>
              </a:rPr>
              <a:t>的类别置信度置为</a:t>
            </a:r>
            <a:r>
              <a:rPr lang="en-US" altLang="zh-CN" sz="1200" b="0" i="0" kern="1200" dirty="0" smtClean="0">
                <a:solidFill>
                  <a:schemeClr val="tx1"/>
                </a:solidFill>
                <a:effectLst/>
                <a:latin typeface="+mn-lt"/>
                <a:ea typeface="+mn-ea"/>
                <a:cs typeface="+mn-cs"/>
              </a:rPr>
              <a:t>0</a:t>
            </a:r>
            <a:r>
              <a:rPr lang="zh-CN" altLang="en-US" sz="1200" b="0" i="0" kern="1200" dirty="0" smtClean="0">
                <a:solidFill>
                  <a:schemeClr val="tx1"/>
                </a:solidFill>
                <a:effectLst/>
                <a:latin typeface="+mn-lt"/>
                <a:ea typeface="+mn-ea"/>
                <a:cs typeface="+mn-cs"/>
              </a:rPr>
              <a:t>，这样就得到了最终过滤后的预测框</a:t>
            </a:r>
            <a:r>
              <a:rPr lang="en-US" altLang="zh-CN" sz="1200" b="0" i="0" kern="1200" dirty="0" smtClean="0">
                <a:solidFill>
                  <a:schemeClr val="tx1"/>
                </a:solidFill>
                <a:effectLst/>
                <a:latin typeface="+mn-lt"/>
                <a:ea typeface="+mn-ea"/>
                <a:cs typeface="+mn-cs"/>
              </a:rPr>
              <a:t>bbox1</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bbox3</a:t>
            </a:r>
            <a:r>
              <a:rPr lang="zh-CN" altLang="en-US" sz="1200" b="0" i="0" kern="1200" dirty="0" smtClean="0">
                <a:solidFill>
                  <a:schemeClr val="tx1"/>
                </a:solidFill>
                <a:effectLst/>
                <a:latin typeface="+mn-lt"/>
                <a:ea typeface="+mn-ea"/>
                <a:cs typeface="+mn-cs"/>
              </a:rPr>
              <a:t>了。</a:t>
            </a:r>
            <a:endParaRPr lang="en-US" altLang="zh-CN" sz="1200" b="0" i="0" kern="1200" dirty="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1472328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NMS</a:t>
            </a:r>
            <a:r>
              <a:rPr lang="zh-CN" altLang="en-US" dirty="0" smtClean="0"/>
              <a:t>操作效果如图。同样地，在传统</a:t>
            </a:r>
            <a:r>
              <a:rPr lang="en-US" altLang="zh-CN" dirty="0" smtClean="0"/>
              <a:t>NMS</a:t>
            </a:r>
            <a:r>
              <a:rPr lang="zh-CN" altLang="en-US" dirty="0" smtClean="0"/>
              <a:t>基础上还衍生出其他</a:t>
            </a:r>
            <a:r>
              <a:rPr lang="en-US" altLang="zh-CN" dirty="0" smtClean="0"/>
              <a:t>NMS</a:t>
            </a:r>
            <a:r>
              <a:rPr lang="zh-CN" altLang="en-US" dirty="0" smtClean="0"/>
              <a:t>操作，如带权重的</a:t>
            </a:r>
            <a:r>
              <a:rPr lang="en-US" altLang="zh-CN" dirty="0" smtClean="0"/>
              <a:t>NMS</a:t>
            </a:r>
            <a:r>
              <a:rPr lang="zh-CN" altLang="en-US" dirty="0" smtClean="0"/>
              <a:t>、考虑定位的</a:t>
            </a:r>
            <a:r>
              <a:rPr lang="en-US" altLang="zh-CN" dirty="0" smtClean="0"/>
              <a:t>NMS</a:t>
            </a:r>
            <a:r>
              <a:rPr lang="zh-CN" altLang="en-US" dirty="0" smtClean="0"/>
              <a:t>、自适应</a:t>
            </a:r>
            <a:r>
              <a:rPr lang="en-US" altLang="zh-CN" dirty="0" smtClean="0"/>
              <a:t>NMS</a:t>
            </a:r>
            <a:r>
              <a:rPr lang="zh-CN" altLang="en-US" dirty="0" smtClean="0"/>
              <a:t>等。</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0705012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感受野（</a:t>
            </a:r>
            <a:r>
              <a:rPr lang="en-US" altLang="zh-CN" dirty="0" smtClean="0"/>
              <a:t>receptive field</a:t>
            </a:r>
            <a:r>
              <a:rPr lang="zh-CN" altLang="en-US" dirty="0" smtClean="0"/>
              <a:t>）是卷积神经网络（</a:t>
            </a:r>
            <a:r>
              <a:rPr lang="en-US" altLang="zh-CN" dirty="0" smtClean="0"/>
              <a:t>CNN</a:t>
            </a:r>
            <a:r>
              <a:rPr lang="zh-CN" altLang="en-US" dirty="0" smtClean="0"/>
              <a:t>）中一个非常核心的概念。从直观上讲，感受野就是视觉感受区域的大小。在卷积神经网络中，感受野的定义是决定某一层输出结果中一个元素对应的输入层的区域大小。</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6130306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为了更好地说明整个卷积神经网络的工作过程，下面用一个示例加以说明。假设输入层大小为</a:t>
            </a:r>
            <a:r>
              <a:rPr lang="en-US" altLang="zh-CN" dirty="0" smtClean="0"/>
              <a:t>10×10</a:t>
            </a:r>
            <a:r>
              <a:rPr lang="zh-CN" altLang="en-US" dirty="0" smtClean="0"/>
              <a:t>，一共设计了</a:t>
            </a:r>
            <a:r>
              <a:rPr lang="en-US" altLang="zh-CN" dirty="0" smtClean="0"/>
              <a:t>5</a:t>
            </a:r>
            <a:r>
              <a:rPr lang="zh-CN" altLang="en-US" dirty="0" smtClean="0"/>
              <a:t>个网络层，前面</a:t>
            </a:r>
            <a:r>
              <a:rPr lang="en-US" altLang="zh-CN" dirty="0" smtClean="0"/>
              <a:t>4</a:t>
            </a:r>
            <a:r>
              <a:rPr lang="zh-CN" altLang="en-US" dirty="0" smtClean="0"/>
              <a:t>个是卷积层，卷积核的大小为</a:t>
            </a:r>
            <a:r>
              <a:rPr lang="en-US" altLang="zh-CN" dirty="0" smtClean="0"/>
              <a:t>3×3</a:t>
            </a:r>
            <a:r>
              <a:rPr lang="zh-CN" altLang="en-US" dirty="0" smtClean="0"/>
              <a:t>，最后一个是池化层，大小为</a:t>
            </a:r>
            <a:r>
              <a:rPr lang="en-US" altLang="zh-CN" dirty="0" smtClean="0"/>
              <a:t>2×2</a:t>
            </a:r>
            <a:r>
              <a:rPr lang="zh-CN" altLang="en-US" dirty="0" smtClean="0"/>
              <a:t>，本次所有步长（</a:t>
            </a:r>
            <a:r>
              <a:rPr lang="en-US" altLang="zh-CN" dirty="0" smtClean="0"/>
              <a:t>stride</a:t>
            </a:r>
            <a:r>
              <a:rPr lang="zh-CN" altLang="en-US" dirty="0" smtClean="0"/>
              <a:t>）均为</a:t>
            </a:r>
            <a:r>
              <a:rPr lang="en-US" altLang="zh-CN" dirty="0" smtClean="0"/>
              <a:t>1</a:t>
            </a:r>
            <a:r>
              <a:rPr lang="zh-CN" altLang="en-US" dirty="0" smtClean="0"/>
              <a:t>。</a:t>
            </a:r>
            <a:endParaRPr lang="en-US" altLang="zh-CN" dirty="0" smtClean="0"/>
          </a:p>
          <a:p>
            <a:r>
              <a:rPr lang="zh-CN" altLang="en-US" dirty="0" smtClean="0"/>
              <a:t>注意：感受野在计算的时候不考虑“边界填充”，这是因为填充的边界已经不是输入层本身的内容了，感受野描述的是输出特征到输入层的映射关系，故不考虑</a:t>
            </a:r>
            <a:r>
              <a:rPr lang="en-US" altLang="zh-CN" dirty="0" smtClean="0"/>
              <a:t>padding</a:t>
            </a:r>
            <a:r>
              <a:rPr lang="zh-CN" altLang="en-US" dirty="0" smtClean="0"/>
              <a:t>操作。实际在建模过程中可能需要填充边界，原理一样，只是计算过程稍微复杂一些。</a:t>
            </a:r>
            <a:endParaRPr lang="en-US" altLang="zh-CN" dirty="0" smtClean="0"/>
          </a:p>
          <a:p>
            <a:r>
              <a:rPr lang="zh-CN" altLang="en-US" dirty="0" smtClean="0"/>
              <a:t>第一次卷积运算如图所示。</a:t>
            </a:r>
            <a:endParaRPr lang="en-US" altLang="zh-CN" dirty="0" smtClean="0"/>
          </a:p>
          <a:p>
            <a:r>
              <a:rPr lang="zh-CN" altLang="en-US" dirty="0" smtClean="0"/>
              <a:t>从图中可以看出，第一层网络输出的图像中，输出结果为</a:t>
            </a:r>
            <a:r>
              <a:rPr lang="en-US" altLang="zh-CN" dirty="0" smtClean="0"/>
              <a:t>8×8</a:t>
            </a:r>
            <a:r>
              <a:rPr lang="zh-CN" altLang="en-US" dirty="0" smtClean="0"/>
              <a:t>，输出</a:t>
            </a:r>
            <a:r>
              <a:rPr lang="en-US" altLang="zh-CN" dirty="0" smtClean="0"/>
              <a:t>1</a:t>
            </a:r>
            <a:r>
              <a:rPr lang="zh-CN" altLang="en-US" dirty="0" smtClean="0"/>
              <a:t>输出的每一个特征（即每一个像素）都受到输入层</a:t>
            </a:r>
            <a:r>
              <a:rPr lang="en-US" altLang="zh-CN" dirty="0" smtClean="0"/>
              <a:t>3×3</a:t>
            </a:r>
            <a:r>
              <a:rPr lang="zh-CN" altLang="en-US" dirty="0" smtClean="0"/>
              <a:t>区域内的影响，故第一层的感受野为</a:t>
            </a:r>
            <a:r>
              <a:rPr lang="en-US" altLang="zh-CN" dirty="0" smtClean="0"/>
              <a:t>3</a:t>
            </a:r>
            <a:r>
              <a:rPr lang="zh-CN" altLang="en-US" dirty="0" smtClean="0"/>
              <a:t>，即</a:t>
            </a:r>
            <a:r>
              <a:rPr lang="en-US" altLang="zh-CN" dirty="0" smtClean="0"/>
              <a:t>RF1=3</a:t>
            </a:r>
            <a:r>
              <a:rPr lang="zh-CN" altLang="en-US" dirty="0" smtClean="0"/>
              <a:t>（每一个像素值的输入层的</a:t>
            </a:r>
            <a:r>
              <a:rPr lang="en-US" altLang="zh-CN" dirty="0" smtClean="0"/>
              <a:t>3×3</a:t>
            </a:r>
            <a:r>
              <a:rPr lang="zh-CN" altLang="en-US" dirty="0" smtClean="0"/>
              <a:t>区域有关）</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9683035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第二次卷积运算如下图所示。</a:t>
            </a:r>
            <a:endParaRPr lang="en-US" altLang="zh-CN" dirty="0" smtClean="0"/>
          </a:p>
          <a:p>
            <a:r>
              <a:rPr lang="zh-CN" altLang="en-US" dirty="0" smtClean="0"/>
              <a:t>从图中可以看出，经历两次卷积运算之后，输出图像为</a:t>
            </a:r>
            <a:r>
              <a:rPr lang="en-US" altLang="zh-CN" dirty="0" smtClean="0"/>
              <a:t>6×6</a:t>
            </a:r>
            <a:r>
              <a:rPr lang="zh-CN" altLang="en-US" dirty="0" smtClean="0"/>
              <a:t>，输出</a:t>
            </a:r>
            <a:r>
              <a:rPr lang="en-US" altLang="zh-CN" dirty="0" smtClean="0"/>
              <a:t>2</a:t>
            </a:r>
            <a:r>
              <a:rPr lang="zh-CN" altLang="en-US" dirty="0" smtClean="0"/>
              <a:t>输出的每一个特征（即每一个像素）都受到输出</a:t>
            </a:r>
            <a:r>
              <a:rPr lang="en-US" altLang="zh-CN" dirty="0" smtClean="0"/>
              <a:t>1</a:t>
            </a:r>
            <a:r>
              <a:rPr lang="en-US" altLang="zh-CN" baseline="0" dirty="0" smtClean="0"/>
              <a:t> 3×3</a:t>
            </a:r>
            <a:r>
              <a:rPr lang="zh-CN" altLang="en-US" baseline="0" dirty="0" smtClean="0"/>
              <a:t>范围的影响，而输出</a:t>
            </a:r>
            <a:r>
              <a:rPr lang="en-US" altLang="zh-CN" baseline="0" dirty="0" smtClean="0"/>
              <a:t>1</a:t>
            </a:r>
            <a:r>
              <a:rPr lang="zh-CN" altLang="en-US" baseline="0" dirty="0" smtClean="0"/>
              <a:t>中的这个</a:t>
            </a:r>
            <a:r>
              <a:rPr lang="en-US" altLang="zh-CN" baseline="0" dirty="0" smtClean="0"/>
              <a:t>3×3</a:t>
            </a:r>
            <a:r>
              <a:rPr lang="zh-CN" altLang="en-US" baseline="0" dirty="0" smtClean="0"/>
              <a:t>区域又受到输入层</a:t>
            </a:r>
            <a:r>
              <a:rPr lang="en-US" altLang="zh-CN" baseline="0" dirty="0" smtClean="0"/>
              <a:t>5×5</a:t>
            </a:r>
            <a:r>
              <a:rPr lang="zh-CN" altLang="en-US" baseline="0" dirty="0" smtClean="0"/>
              <a:t>范围的影响，故第二层的感受野为</a:t>
            </a:r>
            <a:r>
              <a:rPr lang="en-US" altLang="zh-CN" baseline="0" dirty="0" smtClean="0"/>
              <a:t>5</a:t>
            </a:r>
            <a:r>
              <a:rPr lang="zh-CN" altLang="en-US" baseline="0" dirty="0" smtClean="0"/>
              <a:t>，即</a:t>
            </a:r>
            <a:r>
              <a:rPr lang="en-US" altLang="zh-CN" baseline="0" dirty="0" smtClean="0"/>
              <a:t>RF2=5</a:t>
            </a:r>
            <a:r>
              <a:rPr lang="zh-CN" altLang="en-US" baseline="0" dirty="0" smtClean="0"/>
              <a:t>（每一个像素值与输入层的</a:t>
            </a:r>
            <a:r>
              <a:rPr lang="en-US" altLang="zh-CN" baseline="0" dirty="0" smtClean="0"/>
              <a:t>5×5</a:t>
            </a:r>
            <a:r>
              <a:rPr lang="zh-CN" altLang="en-US" baseline="0" dirty="0" smtClean="0"/>
              <a:t>的区域有关）。</a:t>
            </a:r>
            <a:endParaRPr lang="en-US" altLang="zh-CN" baseline="0"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9642532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第三次卷积运算如下图所示。</a:t>
            </a:r>
            <a:endParaRPr lang="en-US" altLang="zh-CN" dirty="0" smtClean="0"/>
          </a:p>
          <a:p>
            <a:r>
              <a:rPr lang="zh-CN" altLang="en-US" dirty="0" smtClean="0"/>
              <a:t>从图中可以看出，经历三次卷积运算之后，最终的输出图像为</a:t>
            </a:r>
            <a:r>
              <a:rPr lang="en-US" altLang="zh-CN" dirty="0" smtClean="0"/>
              <a:t>4×4</a:t>
            </a:r>
            <a:r>
              <a:rPr lang="zh-CN" altLang="en-US" dirty="0" smtClean="0"/>
              <a:t>，输出</a:t>
            </a:r>
            <a:r>
              <a:rPr lang="en-US" altLang="zh-CN" dirty="0" smtClean="0"/>
              <a:t>3</a:t>
            </a:r>
            <a:r>
              <a:rPr lang="zh-CN" altLang="en-US" dirty="0" smtClean="0"/>
              <a:t>输出的每一个特征（即每一个像素）都受到输出</a:t>
            </a:r>
            <a:r>
              <a:rPr lang="en-US" altLang="zh-CN" dirty="0" smtClean="0"/>
              <a:t>2 3×3</a:t>
            </a:r>
            <a:r>
              <a:rPr lang="zh-CN" altLang="en-US" dirty="0" smtClean="0"/>
              <a:t>范围的影响，而输出</a:t>
            </a:r>
            <a:r>
              <a:rPr lang="en-US" altLang="zh-CN" dirty="0" smtClean="0"/>
              <a:t>2</a:t>
            </a:r>
            <a:r>
              <a:rPr lang="zh-CN" altLang="en-US" dirty="0" smtClean="0"/>
              <a:t>中的</a:t>
            </a:r>
            <a:r>
              <a:rPr lang="en-US" altLang="zh-CN" dirty="0" smtClean="0"/>
              <a:t>3×3</a:t>
            </a:r>
            <a:r>
              <a:rPr lang="zh-CN" altLang="en-US" dirty="0" smtClean="0"/>
              <a:t>区域又受到输出</a:t>
            </a:r>
            <a:r>
              <a:rPr lang="en-US" altLang="zh-CN" dirty="0" smtClean="0"/>
              <a:t>1 5×5</a:t>
            </a:r>
            <a:r>
              <a:rPr lang="zh-CN" altLang="en-US" dirty="0" smtClean="0"/>
              <a:t>范围的影响，而输出</a:t>
            </a:r>
            <a:r>
              <a:rPr lang="en-US" altLang="zh-CN" dirty="0" smtClean="0"/>
              <a:t>1</a:t>
            </a:r>
            <a:r>
              <a:rPr lang="zh-CN" altLang="en-US" dirty="0" smtClean="0"/>
              <a:t>中</a:t>
            </a:r>
            <a:r>
              <a:rPr lang="en-US" altLang="zh-CN" dirty="0" smtClean="0"/>
              <a:t>5×5</a:t>
            </a:r>
            <a:r>
              <a:rPr lang="zh-CN" altLang="en-US" dirty="0" smtClean="0"/>
              <a:t>区域又受到输入层</a:t>
            </a:r>
            <a:r>
              <a:rPr lang="en-US" altLang="zh-CN" dirty="0" smtClean="0"/>
              <a:t>7×7</a:t>
            </a:r>
            <a:r>
              <a:rPr lang="zh-CN" altLang="en-US" dirty="0" smtClean="0"/>
              <a:t>范围的影响，故第三层的感受野为</a:t>
            </a:r>
            <a:r>
              <a:rPr lang="en-US" altLang="zh-CN" dirty="0" smtClean="0"/>
              <a:t>7</a:t>
            </a:r>
            <a:r>
              <a:rPr lang="zh-CN" altLang="en-US" dirty="0" smtClean="0"/>
              <a:t>，即</a:t>
            </a:r>
            <a:r>
              <a:rPr lang="en-US" altLang="zh-CN" dirty="0" smtClean="0"/>
              <a:t>RF3=7(</a:t>
            </a:r>
            <a:r>
              <a:rPr lang="zh-CN" altLang="en-US" dirty="0" smtClean="0"/>
              <a:t>每一个像素值与输入层的</a:t>
            </a:r>
            <a:r>
              <a:rPr lang="en-US" altLang="zh-CN" dirty="0" smtClean="0"/>
              <a:t>7×7</a:t>
            </a:r>
            <a:r>
              <a:rPr lang="zh-CN" altLang="en-US" dirty="0" smtClean="0"/>
              <a:t>区域有关</a:t>
            </a:r>
            <a:r>
              <a:rPr lang="en-US" altLang="zh-CN" dirty="0" smtClean="0"/>
              <a:t>)</a:t>
            </a:r>
            <a:r>
              <a:rPr lang="zh-CN" altLang="en-US" dirty="0" smtClean="0"/>
              <a:t>。</a:t>
            </a:r>
            <a:endParaRPr lang="en-US" altLang="zh-CN"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6899568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第四次卷积运算如下图所示。</a:t>
            </a:r>
            <a:endParaRPr lang="en-US" altLang="zh-CN" dirty="0" smtClean="0"/>
          </a:p>
          <a:p>
            <a:r>
              <a:rPr lang="zh-CN" altLang="en-US" dirty="0" smtClean="0"/>
              <a:t>从图中可以看出，经历四次卷积运算之后，最终的输出图像为</a:t>
            </a:r>
            <a:r>
              <a:rPr lang="en-US" altLang="zh-CN" dirty="0" smtClean="0"/>
              <a:t>2×2</a:t>
            </a:r>
            <a:r>
              <a:rPr lang="zh-CN" altLang="en-US" dirty="0" smtClean="0"/>
              <a:t>，输出</a:t>
            </a:r>
            <a:r>
              <a:rPr lang="en-US" altLang="zh-CN" dirty="0" smtClean="0"/>
              <a:t>4</a:t>
            </a:r>
            <a:r>
              <a:rPr lang="zh-CN" altLang="en-US" dirty="0" smtClean="0"/>
              <a:t>输出的每一个特征（即每一个像素）都受到输出</a:t>
            </a:r>
            <a:r>
              <a:rPr lang="en-US" altLang="zh-CN" dirty="0" smtClean="0"/>
              <a:t>3 3×3</a:t>
            </a:r>
            <a:r>
              <a:rPr lang="zh-CN" altLang="en-US" dirty="0" smtClean="0"/>
              <a:t>范围的影响，而输出</a:t>
            </a:r>
            <a:r>
              <a:rPr lang="en-US" altLang="zh-CN" dirty="0" smtClean="0"/>
              <a:t>3</a:t>
            </a:r>
            <a:r>
              <a:rPr lang="zh-CN" altLang="en-US" dirty="0" smtClean="0"/>
              <a:t>中的</a:t>
            </a:r>
            <a:r>
              <a:rPr lang="en-US" altLang="zh-CN" dirty="0" smtClean="0"/>
              <a:t>3×3</a:t>
            </a:r>
            <a:r>
              <a:rPr lang="zh-CN" altLang="en-US" dirty="0" smtClean="0"/>
              <a:t>区域又受到输出</a:t>
            </a:r>
            <a:r>
              <a:rPr lang="en-US" altLang="zh-CN" dirty="0" smtClean="0"/>
              <a:t>2 5×5</a:t>
            </a:r>
            <a:r>
              <a:rPr lang="zh-CN" altLang="en-US" dirty="0" smtClean="0"/>
              <a:t>范围的影响， 输出</a:t>
            </a:r>
            <a:r>
              <a:rPr lang="en-US" altLang="zh-CN" dirty="0" smtClean="0"/>
              <a:t>2</a:t>
            </a:r>
            <a:r>
              <a:rPr lang="zh-CN" altLang="en-US" dirty="0" smtClean="0"/>
              <a:t>中的</a:t>
            </a:r>
            <a:r>
              <a:rPr lang="en-US" altLang="zh-CN" dirty="0" smtClean="0"/>
              <a:t>5×5</a:t>
            </a:r>
            <a:r>
              <a:rPr lang="zh-CN" altLang="en-US" dirty="0" smtClean="0"/>
              <a:t>区域又受到输出</a:t>
            </a:r>
            <a:r>
              <a:rPr lang="en-US" altLang="zh-CN" dirty="0" smtClean="0"/>
              <a:t>1 7×7</a:t>
            </a:r>
            <a:r>
              <a:rPr lang="zh-CN" altLang="en-US" dirty="0" smtClean="0"/>
              <a:t>范围的影响，输出</a:t>
            </a:r>
            <a:r>
              <a:rPr lang="en-US" altLang="zh-CN" dirty="0" smtClean="0"/>
              <a:t>1</a:t>
            </a:r>
            <a:r>
              <a:rPr lang="zh-CN" altLang="en-US" dirty="0" smtClean="0"/>
              <a:t>中</a:t>
            </a:r>
            <a:r>
              <a:rPr lang="en-US" altLang="zh-CN" dirty="0" smtClean="0"/>
              <a:t>7×7</a:t>
            </a:r>
            <a:r>
              <a:rPr lang="zh-CN" altLang="en-US" dirty="0" smtClean="0"/>
              <a:t>区域又受到原始图像</a:t>
            </a:r>
            <a:r>
              <a:rPr lang="en-US" altLang="zh-CN" dirty="0" smtClean="0"/>
              <a:t>9×9</a:t>
            </a:r>
            <a:r>
              <a:rPr lang="zh-CN" altLang="en-US" dirty="0" smtClean="0"/>
              <a:t>范围的影响，故第四层的感受野为</a:t>
            </a:r>
            <a:r>
              <a:rPr lang="en-US" altLang="zh-CN" dirty="0" smtClean="0"/>
              <a:t>9</a:t>
            </a:r>
            <a:r>
              <a:rPr lang="zh-CN" altLang="en-US" dirty="0" smtClean="0"/>
              <a:t>，即</a:t>
            </a:r>
            <a:r>
              <a:rPr lang="en-US" altLang="zh-CN" dirty="0" smtClean="0"/>
              <a:t>RF4=9</a:t>
            </a:r>
            <a:r>
              <a:rPr lang="zh-CN" altLang="en-US" dirty="0" smtClean="0"/>
              <a:t>（每一个像素值与输入层的</a:t>
            </a:r>
            <a:r>
              <a:rPr lang="en-US" altLang="zh-CN" dirty="0" smtClean="0"/>
              <a:t>9×9</a:t>
            </a:r>
            <a:r>
              <a:rPr lang="zh-CN" altLang="en-US" dirty="0" smtClean="0"/>
              <a:t>区域有关）</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1607512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第五次池化运算如图所示。</a:t>
            </a:r>
            <a:endParaRPr lang="en-US" altLang="zh-CN" dirty="0" smtClean="0"/>
          </a:p>
          <a:p>
            <a:r>
              <a:rPr lang="zh-CN" altLang="en-US" dirty="0" smtClean="0"/>
              <a:t>从图中可以看出，经历四次卷积运算和一次池化运算之后，最终的输出图像为</a:t>
            </a:r>
            <a:r>
              <a:rPr lang="en-US" altLang="zh-CN" dirty="0" smtClean="0"/>
              <a:t>1×1</a:t>
            </a:r>
            <a:r>
              <a:rPr lang="zh-CN" altLang="en-US" dirty="0" smtClean="0"/>
              <a:t>，输出</a:t>
            </a:r>
            <a:r>
              <a:rPr lang="en-US" altLang="zh-CN" dirty="0" smtClean="0"/>
              <a:t>5</a:t>
            </a:r>
            <a:r>
              <a:rPr lang="zh-CN" altLang="en-US" dirty="0" smtClean="0"/>
              <a:t>输出的每一个特征（仅一个像素）都受到输出</a:t>
            </a:r>
            <a:r>
              <a:rPr lang="en-US" altLang="zh-CN" dirty="0" smtClean="0"/>
              <a:t>4 2×2</a:t>
            </a:r>
            <a:r>
              <a:rPr lang="zh-CN" altLang="en-US" dirty="0" smtClean="0"/>
              <a:t>范围的影响，而输出</a:t>
            </a:r>
            <a:r>
              <a:rPr lang="en-US" altLang="zh-CN" dirty="0" smtClean="0"/>
              <a:t>4</a:t>
            </a:r>
            <a:r>
              <a:rPr lang="zh-CN" altLang="en-US" dirty="0" smtClean="0"/>
              <a:t>中的</a:t>
            </a:r>
            <a:r>
              <a:rPr lang="en-US" altLang="zh-CN" dirty="0" smtClean="0"/>
              <a:t>2×2</a:t>
            </a:r>
            <a:r>
              <a:rPr lang="zh-CN" altLang="en-US" dirty="0" smtClean="0"/>
              <a:t>区域受到输出</a:t>
            </a:r>
            <a:r>
              <a:rPr lang="en-US" altLang="zh-CN" dirty="0" smtClean="0"/>
              <a:t>3 4×4</a:t>
            </a:r>
            <a:r>
              <a:rPr lang="zh-CN" altLang="en-US" dirty="0" smtClean="0"/>
              <a:t>范围的影响，输出</a:t>
            </a:r>
            <a:r>
              <a:rPr lang="en-US" altLang="zh-CN" dirty="0" smtClean="0"/>
              <a:t>3</a:t>
            </a:r>
            <a:r>
              <a:rPr lang="zh-CN" altLang="en-US" dirty="0" smtClean="0"/>
              <a:t>中的</a:t>
            </a:r>
            <a:r>
              <a:rPr lang="en-US" altLang="zh-CN" dirty="0" smtClean="0"/>
              <a:t>4×4</a:t>
            </a:r>
            <a:r>
              <a:rPr lang="zh-CN" altLang="en-US" dirty="0" smtClean="0"/>
              <a:t>区域受到输出</a:t>
            </a:r>
            <a:r>
              <a:rPr lang="en-US" altLang="zh-CN" dirty="0" smtClean="0"/>
              <a:t>2 6×6</a:t>
            </a:r>
            <a:r>
              <a:rPr lang="zh-CN" altLang="en-US" dirty="0" smtClean="0"/>
              <a:t>范围的影响，输出</a:t>
            </a:r>
            <a:r>
              <a:rPr lang="en-US" altLang="zh-CN" dirty="0" smtClean="0"/>
              <a:t>2</a:t>
            </a:r>
            <a:r>
              <a:rPr lang="zh-CN" altLang="en-US" dirty="0" smtClean="0"/>
              <a:t>中的</a:t>
            </a:r>
            <a:r>
              <a:rPr lang="en-US" altLang="zh-CN" dirty="0" smtClean="0"/>
              <a:t>6×6</a:t>
            </a:r>
            <a:r>
              <a:rPr lang="zh-CN" altLang="en-US" dirty="0" smtClean="0"/>
              <a:t>区域受到输出</a:t>
            </a:r>
            <a:r>
              <a:rPr lang="en-US" altLang="zh-CN" dirty="0" smtClean="0"/>
              <a:t>1</a:t>
            </a:r>
            <a:r>
              <a:rPr lang="zh-CN" altLang="en-US" baseline="0" dirty="0" smtClean="0"/>
              <a:t> </a:t>
            </a:r>
            <a:r>
              <a:rPr lang="en-US" altLang="zh-CN" baseline="0" dirty="0" smtClean="0"/>
              <a:t>8×8</a:t>
            </a:r>
            <a:r>
              <a:rPr lang="zh-CN" altLang="en-US" baseline="0" dirty="0" smtClean="0"/>
              <a:t>范围的影响，输出</a:t>
            </a:r>
            <a:r>
              <a:rPr lang="en-US" altLang="zh-CN" baseline="0" dirty="0" smtClean="0"/>
              <a:t>1</a:t>
            </a:r>
            <a:r>
              <a:rPr lang="zh-CN" altLang="en-US" baseline="0" dirty="0" smtClean="0"/>
              <a:t>中的</a:t>
            </a:r>
            <a:r>
              <a:rPr lang="en-US" altLang="zh-CN" baseline="0" dirty="0" smtClean="0"/>
              <a:t>8×8</a:t>
            </a:r>
            <a:r>
              <a:rPr lang="zh-CN" altLang="en-US" baseline="0" dirty="0" smtClean="0"/>
              <a:t>区域受到输入层</a:t>
            </a:r>
            <a:r>
              <a:rPr lang="en-US" altLang="zh-CN" baseline="0" dirty="0" smtClean="0"/>
              <a:t>10×10</a:t>
            </a:r>
            <a:r>
              <a:rPr lang="zh-CN" altLang="en-US" baseline="0" dirty="0" smtClean="0"/>
              <a:t>范围的影响，故第五层的感受野为</a:t>
            </a:r>
            <a:r>
              <a:rPr lang="en-US" altLang="zh-CN" baseline="0" dirty="0" smtClean="0"/>
              <a:t>10</a:t>
            </a:r>
            <a:r>
              <a:rPr lang="zh-CN" altLang="en-US" baseline="0" dirty="0" smtClean="0"/>
              <a:t>，即</a:t>
            </a:r>
            <a:r>
              <a:rPr lang="en-US" altLang="zh-CN" baseline="0" dirty="0" smtClean="0"/>
              <a:t>RF5=10(</a:t>
            </a:r>
            <a:r>
              <a:rPr lang="zh-CN" altLang="en-US" baseline="0" dirty="0" smtClean="0"/>
              <a:t>每一个像素值与输入层的</a:t>
            </a:r>
            <a:r>
              <a:rPr lang="en-US" altLang="zh-CN" baseline="0" dirty="0" smtClean="0"/>
              <a:t>10×10</a:t>
            </a:r>
            <a:r>
              <a:rPr lang="zh-CN" altLang="en-US" baseline="0" dirty="0" smtClean="0"/>
              <a:t>区域有关</a:t>
            </a:r>
            <a:r>
              <a:rPr lang="en-US" altLang="zh-CN" baseline="0" dirty="0" smtClean="0"/>
              <a:t>)</a:t>
            </a:r>
          </a:p>
          <a:p>
            <a:endParaRPr lang="en-US" altLang="zh-CN"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0566303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感受野的推导是一个递推的过程，下面展示这一过程。</a:t>
            </a:r>
            <a:endParaRPr lang="en-US" altLang="zh-CN" dirty="0" smtClean="0"/>
          </a:p>
          <a:p>
            <a:r>
              <a:rPr lang="zh-CN" altLang="en-US" dirty="0" smtClean="0"/>
              <a:t>总结：感受野的求解是一个不断迭代的过程，因为第一层每一个像素的感受野始终是第一个卷积核的大小，所以</a:t>
            </a:r>
            <a:r>
              <a:rPr lang="en-US" altLang="zh-CN" dirty="0" smtClean="0"/>
              <a:t>RF1</a:t>
            </a:r>
            <a:r>
              <a:rPr lang="zh-CN" altLang="en-US" dirty="0" smtClean="0"/>
              <a:t>总是最先确定的。以此类推，逐步求出</a:t>
            </a:r>
            <a:r>
              <a:rPr lang="en-US" altLang="zh-CN" dirty="0" smtClean="0"/>
              <a:t>RF2</a:t>
            </a:r>
            <a:r>
              <a:rPr lang="zh-CN" altLang="en-US" dirty="0" smtClean="0"/>
              <a:t>、</a:t>
            </a:r>
            <a:r>
              <a:rPr lang="en-US" altLang="zh-CN" dirty="0" smtClean="0"/>
              <a:t>RF3</a:t>
            </a:r>
            <a:r>
              <a:rPr lang="zh-CN" altLang="en-US" dirty="0" smtClean="0"/>
              <a:t>、</a:t>
            </a:r>
            <a:r>
              <a:rPr lang="en-US" altLang="zh-CN" dirty="0" smtClean="0"/>
              <a:t>RF4</a:t>
            </a:r>
            <a:r>
              <a:rPr lang="zh-CN" altLang="en-US" dirty="0" smtClean="0"/>
              <a:t>、</a:t>
            </a:r>
            <a:r>
              <a:rPr lang="en-US" altLang="zh-CN" dirty="0" smtClean="0"/>
              <a:t>RF5</a:t>
            </a:r>
            <a:r>
              <a:rPr lang="zh-CN" altLang="en-US" dirty="0" smtClean="0"/>
              <a:t>。</a:t>
            </a:r>
            <a:endParaRPr lang="en-US" altLang="zh-CN" dirty="0" smtClean="0"/>
          </a:p>
          <a:p>
            <a:r>
              <a:rPr lang="zh-CN" altLang="en-US" dirty="0" smtClean="0"/>
              <a:t>上面的例子中所有的步长均为</a:t>
            </a:r>
            <a:r>
              <a:rPr lang="en-US" altLang="zh-CN" dirty="0" smtClean="0"/>
              <a:t>1</a:t>
            </a:r>
            <a:r>
              <a:rPr lang="zh-CN" altLang="en-US" dirty="0" smtClean="0"/>
              <a:t>，如果每一次卷积运算的步长不为</a:t>
            </a:r>
            <a:r>
              <a:rPr lang="en-US" altLang="zh-CN" dirty="0" smtClean="0"/>
              <a:t>1</a:t>
            </a:r>
            <a:r>
              <a:rPr lang="zh-CN" altLang="en-US" dirty="0" smtClean="0"/>
              <a:t>呢？同理，这里直接给出递推公式。</a:t>
            </a:r>
            <a:endParaRPr lang="en-US" altLang="zh-CN" dirty="0" smtClean="0"/>
          </a:p>
          <a:p>
            <a:r>
              <a:rPr lang="en-US" altLang="zh-CN" dirty="0" err="1" smtClean="0"/>
              <a:t>RF</a:t>
            </a:r>
            <a:r>
              <a:rPr lang="en-US" altLang="zh-CN" baseline="-25000" dirty="0" err="1" smtClean="0"/>
              <a:t>n</a:t>
            </a:r>
            <a:r>
              <a:rPr lang="en-US" altLang="zh-CN" dirty="0" smtClean="0"/>
              <a:t> = RF</a:t>
            </a:r>
            <a:r>
              <a:rPr lang="en-US" altLang="zh-CN" baseline="-25000" dirty="0" smtClean="0"/>
              <a:t>n-1</a:t>
            </a:r>
            <a:r>
              <a:rPr lang="en-US" altLang="zh-CN" dirty="0" smtClean="0"/>
              <a:t> + (k</a:t>
            </a:r>
            <a:r>
              <a:rPr lang="en-US" altLang="zh-CN" baseline="-25000" dirty="0" smtClean="0"/>
              <a:t>n</a:t>
            </a:r>
            <a:r>
              <a:rPr lang="en-US" altLang="zh-CN" dirty="0" smtClean="0"/>
              <a:t>-1) × </a:t>
            </a:r>
            <a:r>
              <a:rPr lang="en-US" altLang="zh-CN" dirty="0" err="1" smtClean="0"/>
              <a:t>stride</a:t>
            </a:r>
            <a:r>
              <a:rPr lang="en-US" altLang="zh-CN" baseline="-25000" dirty="0" err="1" smtClean="0"/>
              <a:t>n</a:t>
            </a:r>
            <a:endParaRPr lang="en-US" altLang="zh-CN" baseline="-25000"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baseline="0" dirty="0" smtClean="0"/>
              <a:t>其中</a:t>
            </a:r>
            <a:r>
              <a:rPr lang="en-US" altLang="zh-CN" dirty="0" err="1" smtClean="0"/>
              <a:t>stride</a:t>
            </a:r>
            <a:r>
              <a:rPr lang="en-US" altLang="zh-CN" baseline="-25000" dirty="0" err="1" smtClean="0"/>
              <a:t>n</a:t>
            </a:r>
            <a:r>
              <a:rPr lang="zh-CN" altLang="en-US" baseline="0" dirty="0" smtClean="0"/>
              <a:t>表示第</a:t>
            </a:r>
            <a:r>
              <a:rPr lang="en-US" altLang="zh-CN" baseline="0" dirty="0" smtClean="0"/>
              <a:t>n</a:t>
            </a:r>
            <a:r>
              <a:rPr lang="zh-CN" altLang="en-US" baseline="0" dirty="0" smtClean="0"/>
              <a:t>次卷积的移动步长。求解过程也是从</a:t>
            </a:r>
            <a:r>
              <a:rPr lang="en-US" altLang="zh-CN" baseline="0" dirty="0" smtClean="0"/>
              <a:t>RF1</a:t>
            </a:r>
            <a:r>
              <a:rPr lang="zh-CN" altLang="en-US" baseline="0" dirty="0" smtClean="0"/>
              <a:t>开始的。</a:t>
            </a:r>
            <a:endParaRPr lang="en-US" altLang="zh-CN" baseline="0"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8497084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baseline="0" dirty="0" smtClean="0"/>
              <a:t>此外，之前提到的</a:t>
            </a:r>
            <a:r>
              <a:rPr lang="en-US" altLang="zh-CN" baseline="0" dirty="0" smtClean="0"/>
              <a:t>padding</a:t>
            </a:r>
            <a:r>
              <a:rPr lang="zh-CN" altLang="en-US" baseline="0" dirty="0" smtClean="0"/>
              <a:t>（填充）也会对感受野产生影响，但由于</a:t>
            </a:r>
            <a:r>
              <a:rPr lang="en-US" altLang="zh-CN" baseline="0" dirty="0" smtClean="0"/>
              <a:t>padding</a:t>
            </a:r>
            <a:r>
              <a:rPr lang="zh-CN" altLang="en-US" baseline="0" dirty="0" smtClean="0"/>
              <a:t>仅进行边缘填充，因此仅对边缘像素产生影响。这里给出一个详细讲述感受野计算的网站，通过在线调整参数模拟计算更加直观地了解感受野的情况。</a:t>
            </a:r>
            <a:endParaRPr lang="en-US" altLang="zh-CN" baseline="0"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baseline="0" dirty="0" smtClean="0"/>
              <a:t>通过刚才的例子，不难发现深层的网络特征图尺寸较小，但对应在原始输入图像上的感受野就较大；而浅层网络特征图尺寸较大，对应的感受野较小。在目标检测任务中，常常结合浅层特征与深层特征，根据不同的感受野检测不同大小的目标。</a:t>
            </a:r>
            <a:endParaRPr lang="en-US" altLang="zh-CN" baseline="0"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8846925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常见的图像分割算法通常使用池化层和卷积层增加感受野，同时也缩小了特征图尺寸，再利用上采样还原图像尺寸。因为特征图缩小再放大的过程造成了精度上的损失，所以需要在增加感受野的同时保持特征图的尺寸不变，从而代替下采样和上采样操作，在这种需求下，空洞卷积就诞生了。</a:t>
            </a:r>
            <a:endParaRPr lang="en-US" altLang="zh-CN" dirty="0" smtClean="0"/>
          </a:p>
          <a:p>
            <a:r>
              <a:rPr lang="en-US" altLang="zh-CN" dirty="0" smtClean="0"/>
              <a:t>Dilated/</a:t>
            </a:r>
            <a:r>
              <a:rPr lang="en-US" altLang="zh-CN" dirty="0" err="1" smtClean="0"/>
              <a:t>Atrous</a:t>
            </a:r>
            <a:r>
              <a:rPr lang="en-US" altLang="zh-CN" baseline="0" dirty="0" smtClean="0"/>
              <a:t> Convolution</a:t>
            </a:r>
            <a:r>
              <a:rPr lang="zh-CN" altLang="en-US" baseline="0" dirty="0" smtClean="0"/>
              <a:t>（中文可称作空洞卷积或膨胀卷积）是在标准的卷积映射里注入空洞，以此来增加感受野，相比原来的正常卷积，空洞卷积额外增加了一个超参数：扩张率（</a:t>
            </a:r>
            <a:r>
              <a:rPr lang="en-US" altLang="zh-CN" baseline="0" dirty="0" smtClean="0"/>
              <a:t>dilation rate</a:t>
            </a:r>
            <a:r>
              <a:rPr lang="zh-CN" altLang="en-US" baseline="0" dirty="0" smtClean="0"/>
              <a:t>），该参数定义了卷积核处理数据时各值的间距（比如标准的卷积扩张率为</a:t>
            </a:r>
            <a:r>
              <a:rPr lang="en-US" altLang="zh-CN" baseline="0" dirty="0" smtClean="0"/>
              <a:t>1</a:t>
            </a:r>
            <a:r>
              <a:rPr lang="zh-CN" altLang="en-US" baseline="0" dirty="0" smtClean="0"/>
              <a:t>），如图所示。</a:t>
            </a:r>
            <a:endParaRPr lang="en-US" altLang="zh-CN" baseline="0"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1861584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空洞卷积有如下两个作用：</a:t>
            </a:r>
            <a:endParaRPr lang="en-US" altLang="zh-CN" dirty="0" smtClean="0"/>
          </a:p>
          <a:p>
            <a:r>
              <a:rPr lang="en-US" altLang="zh-CN" dirty="0" smtClean="0"/>
              <a:t>1.</a:t>
            </a:r>
            <a:r>
              <a:rPr lang="zh-CN" altLang="en-US" dirty="0" smtClean="0"/>
              <a:t>扩大感受野：在深层网络中为了在增加感受野的同时降低计算量，总要进行下采样（比如使用池化层），这样虽然可以增加感受野，但也降低了空间分辨率。使用空洞卷积可以在尽量不丢失分辨率的情况下扩大感受野，在检测或者分割任务中尤为重要。一方面感受野大了可以检测大目标，另一方面分辨率高了可以精确定位目标。</a:t>
            </a:r>
            <a:endParaRPr lang="en-US" altLang="zh-CN" dirty="0" smtClean="0"/>
          </a:p>
          <a:p>
            <a:r>
              <a:rPr lang="en-US" altLang="zh-CN" dirty="0" smtClean="0"/>
              <a:t>2.</a:t>
            </a:r>
            <a:r>
              <a:rPr lang="zh-CN" altLang="en-US" dirty="0" smtClean="0"/>
              <a:t>捕获多尺度上下文信息：当设置不同的扩张率时，感受野就会不一样，便可以获取多尺度信息。多尺度信息在视觉任务中是非常重要的。</a:t>
            </a:r>
            <a:endParaRPr lang="en-US" altLang="zh-CN" dirty="0" smtClean="0"/>
          </a:p>
          <a:p>
            <a:r>
              <a:rPr lang="zh-CN" altLang="en-US" dirty="0" smtClean="0"/>
              <a:t>右边动图中卷积核仍为</a:t>
            </a:r>
            <a:r>
              <a:rPr lang="en-US" altLang="zh-CN" dirty="0" smtClean="0"/>
              <a:t>3×3</a:t>
            </a:r>
            <a:r>
              <a:rPr lang="zh-CN" altLang="en-US" dirty="0" smtClean="0"/>
              <a:t>（</a:t>
            </a:r>
            <a:r>
              <a:rPr lang="en-US" altLang="zh-CN" dirty="0" smtClean="0"/>
              <a:t>9</a:t>
            </a:r>
            <a:r>
              <a:rPr lang="zh-CN" altLang="en-US" dirty="0" smtClean="0"/>
              <a:t>个元素）但感受野是</a:t>
            </a:r>
            <a:r>
              <a:rPr lang="en-US" altLang="zh-CN" dirty="0" smtClean="0"/>
              <a:t>5×5</a:t>
            </a:r>
            <a:r>
              <a:rPr lang="zh-CN" altLang="en-US" dirty="0" smtClean="0"/>
              <a:t>。</a:t>
            </a:r>
            <a:endParaRPr lang="en-US" altLang="zh-CN"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793922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smtClean="0"/>
                  <a:t>介绍</a:t>
                </a:r>
                <a:r>
                  <a:rPr lang="en-US" altLang="zh-CN" dirty="0" err="1" smtClean="0"/>
                  <a:t>mAP</a:t>
                </a:r>
                <a:r>
                  <a:rPr lang="zh-CN" altLang="en-US" dirty="0" smtClean="0"/>
                  <a:t>之前，我们先来听一个故事。</a:t>
                </a:r>
                <a:endParaRPr lang="en-US" altLang="zh-CN" dirty="0" smtClean="0"/>
              </a:p>
              <a:p>
                <a:r>
                  <a:rPr lang="zh-CN" altLang="en-US" dirty="0" smtClean="0"/>
                  <a:t>在日常生活中，我们经常用准确率来评价一个结果，例如</a:t>
                </a:r>
                <a:r>
                  <a:rPr lang="en-US" altLang="zh-CN" dirty="0" smtClean="0"/>
                  <a:t>100</a:t>
                </a:r>
                <a:r>
                  <a:rPr lang="zh-CN" altLang="en-US" dirty="0" smtClean="0"/>
                  <a:t>道题的考试做对</a:t>
                </a:r>
                <a:r>
                  <a:rPr lang="en-US" altLang="zh-CN" dirty="0" smtClean="0"/>
                  <a:t>98</a:t>
                </a:r>
                <a:r>
                  <a:rPr lang="zh-CN" altLang="en-US" dirty="0" smtClean="0"/>
                  <a:t>道，准确率为</a:t>
                </a:r>
                <a:r>
                  <a:rPr lang="en-US" altLang="zh-CN" dirty="0" smtClean="0"/>
                  <a:t>98%</a:t>
                </a:r>
                <a:r>
                  <a:rPr lang="zh-CN" altLang="en-US" dirty="0" smtClean="0"/>
                  <a:t>，意味着</a:t>
                </a:r>
                <a:r>
                  <a:rPr lang="en-US" altLang="zh-CN" dirty="0" smtClean="0"/>
                  <a:t>98</a:t>
                </a:r>
                <a:r>
                  <a:rPr lang="zh-CN" altLang="en-US" dirty="0" smtClean="0"/>
                  <a:t>道题的结果与正确答案相同，是一个相当不错的成绩。又比如彩票上的</a:t>
                </a:r>
                <a:r>
                  <a:rPr lang="en-US" altLang="zh-CN" dirty="0" smtClean="0"/>
                  <a:t>7</a:t>
                </a:r>
                <a:r>
                  <a:rPr lang="zh-CN" altLang="en-US" dirty="0" smtClean="0"/>
                  <a:t>位数字中对上了</a:t>
                </a:r>
                <a:r>
                  <a:rPr lang="en-US" altLang="zh-CN" dirty="0" smtClean="0"/>
                  <a:t>6</a:t>
                </a:r>
                <a:r>
                  <a:rPr lang="zh-CN" altLang="en-US" dirty="0" smtClean="0"/>
                  <a:t>位，准确率为</a:t>
                </a:r>
                <a:r>
                  <a:rPr lang="en-US" altLang="zh-CN" dirty="0" smtClean="0"/>
                  <a:t>6/7</a:t>
                </a:r>
                <a:r>
                  <a:rPr lang="zh-CN" altLang="en-US" dirty="0" smtClean="0"/>
                  <a:t>，可以去兑换一个大奖。</a:t>
                </a:r>
                <a:endParaRPr lang="en-US" altLang="zh-CN" dirty="0" smtClean="0"/>
              </a:p>
              <a:p>
                <a:r>
                  <a:rPr lang="zh-CN" altLang="en-US" dirty="0" smtClean="0"/>
                  <a:t>在机器学习与深度学习领域，同样地，准确率（</a:t>
                </a:r>
                <a:r>
                  <a:rPr lang="en-US" altLang="zh-CN" dirty="0" err="1" smtClean="0"/>
                  <a:t>accurancy</a:t>
                </a:r>
                <a:r>
                  <a:rPr lang="zh-CN" altLang="en-US" dirty="0" smtClean="0"/>
                  <a:t>）用于衡量验证集或测试集预测的标签与真实标签是否相等，数学公式为：</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𝑎𝑐𝑐𝑢𝑟𝑎𝑐𝑦</m:t>
                      </m:r>
                      <m:r>
                        <a:rPr lang="en-US" altLang="zh-CN" i="1" dirty="0" smtClean="0">
                          <a:latin typeface="Cambria Math" panose="02040503050406030204" pitchFamily="18" charset="0"/>
                        </a:rPr>
                        <m:t>=</m:t>
                      </m:r>
                      <m:f>
                        <m:fPr>
                          <m:ctrlPr>
                            <a:rPr lang="en-US" altLang="zh-CN" i="1" dirty="0" smtClean="0">
                              <a:latin typeface="Cambria Math" panose="02040503050406030204" pitchFamily="18" charset="0"/>
                            </a:rPr>
                          </m:ctrlPr>
                        </m:fPr>
                        <m:num>
                          <m:r>
                            <a:rPr lang="zh-CN" altLang="en-US" i="1" dirty="0">
                              <a:latin typeface="Cambria Math" panose="02040503050406030204" pitchFamily="18" charset="0"/>
                            </a:rPr>
                            <m:t>预测</m:t>
                          </m:r>
                          <m:r>
                            <a:rPr lang="zh-CN" altLang="en-US" i="1" dirty="0" smtClean="0">
                              <a:latin typeface="Cambria Math" panose="02040503050406030204" pitchFamily="18" charset="0"/>
                            </a:rPr>
                            <m:t>标签</m:t>
                          </m:r>
                          <m:r>
                            <a:rPr lang="zh-CN" altLang="en-US" i="1" dirty="0">
                              <a:latin typeface="Cambria Math" panose="02040503050406030204" pitchFamily="18" charset="0"/>
                            </a:rPr>
                            <m:t>与</m:t>
                          </m:r>
                          <m:r>
                            <a:rPr lang="zh-CN" altLang="en-US" i="1" dirty="0" smtClean="0">
                              <a:latin typeface="Cambria Math" panose="02040503050406030204" pitchFamily="18" charset="0"/>
                            </a:rPr>
                            <m:t>真实</m:t>
                          </m:r>
                          <m:r>
                            <a:rPr lang="zh-CN" altLang="en-US" i="1" dirty="0">
                              <a:latin typeface="Cambria Math" panose="02040503050406030204" pitchFamily="18" charset="0"/>
                            </a:rPr>
                            <m:t>标签</m:t>
                          </m:r>
                          <m:r>
                            <a:rPr lang="zh-CN" altLang="en-US" i="1" dirty="0" smtClean="0">
                              <a:latin typeface="Cambria Math" panose="02040503050406030204" pitchFamily="18" charset="0"/>
                            </a:rPr>
                            <m:t>相同</m:t>
                          </m:r>
                          <m:r>
                            <a:rPr lang="zh-CN" altLang="en-US" i="1" dirty="0">
                              <a:latin typeface="Cambria Math" panose="02040503050406030204" pitchFamily="18" charset="0"/>
                            </a:rPr>
                            <m:t>的</m:t>
                          </m:r>
                          <m:r>
                            <a:rPr lang="zh-CN" altLang="en-US" i="1" dirty="0" smtClean="0">
                              <a:latin typeface="Cambria Math" panose="02040503050406030204" pitchFamily="18" charset="0"/>
                            </a:rPr>
                            <m:t>数量</m:t>
                          </m:r>
                        </m:num>
                        <m:den>
                          <m:r>
                            <a:rPr lang="zh-CN" altLang="en-US" i="1" dirty="0">
                              <a:latin typeface="Cambria Math" panose="02040503050406030204" pitchFamily="18" charset="0"/>
                            </a:rPr>
                            <m:t>总的</m:t>
                          </m:r>
                          <m:r>
                            <a:rPr lang="zh-CN" altLang="en-US" i="1" dirty="0" smtClean="0">
                              <a:latin typeface="Cambria Math" panose="02040503050406030204" pitchFamily="18" charset="0"/>
                            </a:rPr>
                            <m:t>预测</m:t>
                          </m:r>
                          <m:r>
                            <a:rPr lang="zh-CN" altLang="en-US" i="1" dirty="0">
                              <a:latin typeface="Cambria Math" panose="02040503050406030204" pitchFamily="18" charset="0"/>
                            </a:rPr>
                            <m:t>数据集</m:t>
                          </m:r>
                          <m:r>
                            <a:rPr lang="zh-CN" altLang="en-US" i="1" dirty="0" smtClean="0">
                              <a:latin typeface="Cambria Math" panose="02040503050406030204" pitchFamily="18" charset="0"/>
                            </a:rPr>
                            <m:t>数量</m:t>
                          </m:r>
                        </m:den>
                      </m:f>
                    </m:oMath>
                  </m:oMathPara>
                </a14:m>
                <a:endParaRPr lang="en-US" altLang="zh-CN" dirty="0" smtClean="0"/>
              </a:p>
              <a:p>
                <a:r>
                  <a:rPr lang="zh-CN" altLang="en-US" dirty="0" smtClean="0"/>
                  <a:t>思考一下，这个指标是否可以真正衡量模型的准确性呢？我们来看一个示例。</a:t>
                </a:r>
                <a:endParaRPr lang="en-US" altLang="zh-CN" dirty="0" smtClean="0"/>
              </a:p>
              <a:p>
                <a:r>
                  <a:rPr lang="zh-CN" altLang="en-US" dirty="0" smtClean="0"/>
                  <a:t>假设有一个模型，可以预测某地当天是否会发生地震。根据我们的常识，</a:t>
                </a:r>
                <a:r>
                  <a:rPr lang="zh-CN" altLang="en-US" sz="1200" b="0" i="0" kern="1200" dirty="0" smtClean="0">
                    <a:solidFill>
                      <a:schemeClr val="tx1"/>
                    </a:solidFill>
                    <a:effectLst/>
                    <a:latin typeface="+mn-lt"/>
                    <a:ea typeface="+mn-ea"/>
                    <a:cs typeface="+mn-cs"/>
                  </a:rPr>
                  <a:t>由于在某一天内不会发生地震的概率可能性接近</a:t>
                </a:r>
                <a:r>
                  <a:rPr lang="en-US" altLang="zh-CN" sz="1200" b="0" i="0" kern="1200" dirty="0" smtClean="0">
                    <a:solidFill>
                      <a:schemeClr val="tx1"/>
                    </a:solidFill>
                    <a:effectLst/>
                    <a:latin typeface="+mn-lt"/>
                    <a:ea typeface="+mn-ea"/>
                    <a:cs typeface="+mn-cs"/>
                  </a:rPr>
                  <a:t>99.99%</a:t>
                </a:r>
                <a:r>
                  <a:rPr lang="zh-CN" altLang="en-US" sz="1200" b="0" i="0" kern="1200" dirty="0" smtClean="0">
                    <a:solidFill>
                      <a:schemeClr val="tx1"/>
                    </a:solidFill>
                    <a:effectLst/>
                    <a:latin typeface="+mn-lt"/>
                    <a:ea typeface="+mn-ea"/>
                    <a:cs typeface="+mn-cs"/>
                  </a:rPr>
                  <a:t>，模型会倾向于无脑地把所有的日子全部预测为不会发生地震，这样它的</a:t>
                </a:r>
                <a:r>
                  <a:rPr lang="en-US" altLang="zh-CN" sz="1200" b="0" i="0" kern="1200" dirty="0" smtClean="0">
                    <a:solidFill>
                      <a:schemeClr val="tx1"/>
                    </a:solidFill>
                    <a:effectLst/>
                    <a:latin typeface="+mn-lt"/>
                    <a:ea typeface="+mn-ea"/>
                    <a:cs typeface="+mn-cs"/>
                  </a:rPr>
                  <a:t>accuracy</a:t>
                </a:r>
                <a:r>
                  <a:rPr lang="zh-CN" altLang="en-US" sz="1200" b="0" i="0" kern="1200" dirty="0" smtClean="0">
                    <a:solidFill>
                      <a:schemeClr val="tx1"/>
                    </a:solidFill>
                    <a:effectLst/>
                    <a:latin typeface="+mn-lt"/>
                    <a:ea typeface="+mn-ea"/>
                    <a:cs typeface="+mn-cs"/>
                  </a:rPr>
                  <a:t>将会高达</a:t>
                </a:r>
                <a:r>
                  <a:rPr lang="en-US" altLang="zh-CN" sz="1200" b="0" i="0" kern="1200" dirty="0" smtClean="0">
                    <a:solidFill>
                      <a:schemeClr val="tx1"/>
                    </a:solidFill>
                    <a:effectLst/>
                    <a:latin typeface="+mn-lt"/>
                    <a:ea typeface="+mn-ea"/>
                    <a:cs typeface="+mn-cs"/>
                  </a:rPr>
                  <a:t>99.99%</a:t>
                </a:r>
                <a:r>
                  <a:rPr lang="zh-CN" altLang="en-US" sz="1200" b="0" i="0" kern="1200" dirty="0" smtClean="0">
                    <a:solidFill>
                      <a:schemeClr val="tx1"/>
                    </a:solidFill>
                    <a:effectLst/>
                    <a:latin typeface="+mn-lt"/>
                    <a:ea typeface="+mn-ea"/>
                    <a:cs typeface="+mn-cs"/>
                  </a:rPr>
                  <a:t>，只有在那</a:t>
                </a:r>
                <a:r>
                  <a:rPr lang="en-US" altLang="zh-CN" sz="1200" b="0" i="0" kern="1200" dirty="0" smtClean="0">
                    <a:solidFill>
                      <a:schemeClr val="tx1"/>
                    </a:solidFill>
                    <a:effectLst/>
                    <a:latin typeface="+mn-lt"/>
                    <a:ea typeface="+mn-ea"/>
                    <a:cs typeface="+mn-cs"/>
                  </a:rPr>
                  <a:t>0.01%</a:t>
                </a:r>
                <a:r>
                  <a:rPr lang="zh-CN" altLang="en-US" sz="1200" b="0" i="0" kern="1200" dirty="0" smtClean="0">
                    <a:solidFill>
                      <a:schemeClr val="tx1"/>
                    </a:solidFill>
                    <a:effectLst/>
                    <a:latin typeface="+mn-lt"/>
                    <a:ea typeface="+mn-ea"/>
                    <a:cs typeface="+mn-cs"/>
                  </a:rPr>
                  <a:t>的、会发生地震的日子是预测错的。这样的模型虽然</a:t>
                </a:r>
                <a:r>
                  <a:rPr lang="en-US" altLang="zh-CN" sz="1200" b="0" i="0" kern="1200" dirty="0" smtClean="0">
                    <a:solidFill>
                      <a:schemeClr val="tx1"/>
                    </a:solidFill>
                    <a:effectLst/>
                    <a:latin typeface="+mn-lt"/>
                    <a:ea typeface="+mn-ea"/>
                    <a:cs typeface="+mn-cs"/>
                  </a:rPr>
                  <a:t>accuracy</a:t>
                </a:r>
                <a:r>
                  <a:rPr lang="zh-CN" altLang="en-US" sz="1200" b="0" i="0" kern="1200" dirty="0" smtClean="0">
                    <a:solidFill>
                      <a:schemeClr val="tx1"/>
                    </a:solidFill>
                    <a:effectLst/>
                    <a:latin typeface="+mn-lt"/>
                    <a:ea typeface="+mn-ea"/>
                    <a:cs typeface="+mn-cs"/>
                  </a:rPr>
                  <a:t>非常高，但是没有任何意义。毕竟我们要的就是在这</a:t>
                </a:r>
                <a:r>
                  <a:rPr lang="en-US" altLang="zh-CN" sz="1200" b="0" i="0" kern="1200" dirty="0" smtClean="0">
                    <a:solidFill>
                      <a:schemeClr val="tx1"/>
                    </a:solidFill>
                    <a:effectLst/>
                    <a:latin typeface="+mn-lt"/>
                    <a:ea typeface="+mn-ea"/>
                    <a:cs typeface="+mn-cs"/>
                  </a:rPr>
                  <a:t>0.01%</a:t>
                </a:r>
                <a:r>
                  <a:rPr lang="zh-CN" altLang="en-US" sz="1200" b="0" i="0" kern="1200" dirty="0" smtClean="0">
                    <a:solidFill>
                      <a:schemeClr val="tx1"/>
                    </a:solidFill>
                    <a:effectLst/>
                    <a:latin typeface="+mn-lt"/>
                    <a:ea typeface="+mn-ea"/>
                    <a:cs typeface="+mn-cs"/>
                  </a:rPr>
                  <a:t>的日子把地震预测出来。</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在这种情况下，</a:t>
                </a:r>
                <a:r>
                  <a:rPr lang="en-US" altLang="zh-CN" sz="1200" b="0" i="0" kern="1200" dirty="0" smtClean="0">
                    <a:solidFill>
                      <a:schemeClr val="tx1"/>
                    </a:solidFill>
                    <a:effectLst/>
                    <a:latin typeface="+mn-lt"/>
                    <a:ea typeface="+mn-ea"/>
                    <a:cs typeface="+mn-cs"/>
                  </a:rPr>
                  <a:t>accuracy</a:t>
                </a:r>
                <a:r>
                  <a:rPr lang="zh-CN" altLang="en-US" sz="1200" b="0" i="0" kern="1200" dirty="0" smtClean="0">
                    <a:solidFill>
                      <a:schemeClr val="tx1"/>
                    </a:solidFill>
                    <a:effectLst/>
                    <a:latin typeface="+mn-lt"/>
                    <a:ea typeface="+mn-ea"/>
                    <a:cs typeface="+mn-cs"/>
                  </a:rPr>
                  <a:t>显然是一个非常差的指标，它无法衡量一个模型的真实预测能力。对于不平衡的数据而言，我们需要一个更加科学的评价指标。</a:t>
                </a:r>
                <a:endParaRPr lang="en-US" altLang="zh-CN" dirty="0" smtClean="0"/>
              </a:p>
              <a:p>
                <a:endParaRPr lang="en-US" altLang="zh-CN" dirty="0" smtClean="0"/>
              </a:p>
            </p:txBody>
          </p:sp>
        </mc:Choice>
        <mc:Fallback xmlns="">
          <p:sp>
            <p:nvSpPr>
              <p:cNvPr id="3" name="备注占位符 2"/>
              <p:cNvSpPr>
                <a:spLocks noGrp="1"/>
              </p:cNvSpPr>
              <p:nvPr>
                <p:ph type="body" idx="1"/>
              </p:nvPr>
            </p:nvSpPr>
            <p:spPr/>
            <p:txBody>
              <a:bodyPr/>
              <a:lstStyle/>
              <a:p>
                <a:r>
                  <a:rPr lang="zh-CN" altLang="en-US" dirty="0" smtClean="0"/>
                  <a:t>介绍</a:t>
                </a:r>
                <a:r>
                  <a:rPr lang="en-US" altLang="zh-CN" dirty="0" err="1" smtClean="0"/>
                  <a:t>mAP</a:t>
                </a:r>
                <a:r>
                  <a:rPr lang="zh-CN" altLang="en-US" dirty="0" smtClean="0"/>
                  <a:t>之前，我们先来听一个故事。</a:t>
                </a:r>
                <a:endParaRPr lang="en-US" altLang="zh-CN" dirty="0" smtClean="0"/>
              </a:p>
              <a:p>
                <a:r>
                  <a:rPr lang="zh-CN" altLang="en-US" dirty="0" smtClean="0"/>
                  <a:t>在日常生活中，我们经常用准确率来评价一个结果，例如</a:t>
                </a:r>
                <a:r>
                  <a:rPr lang="en-US" altLang="zh-CN" dirty="0" smtClean="0"/>
                  <a:t>100</a:t>
                </a:r>
                <a:r>
                  <a:rPr lang="zh-CN" altLang="en-US" dirty="0" smtClean="0"/>
                  <a:t>道题的考试做对</a:t>
                </a:r>
                <a:r>
                  <a:rPr lang="en-US" altLang="zh-CN" dirty="0" smtClean="0"/>
                  <a:t>98</a:t>
                </a:r>
                <a:r>
                  <a:rPr lang="zh-CN" altLang="en-US" dirty="0" smtClean="0"/>
                  <a:t>道，准确率为</a:t>
                </a:r>
                <a:r>
                  <a:rPr lang="en-US" altLang="zh-CN" dirty="0" smtClean="0"/>
                  <a:t>98%</a:t>
                </a:r>
                <a:r>
                  <a:rPr lang="zh-CN" altLang="en-US" dirty="0" smtClean="0"/>
                  <a:t>，意味着</a:t>
                </a:r>
                <a:r>
                  <a:rPr lang="en-US" altLang="zh-CN" dirty="0" smtClean="0"/>
                  <a:t>98</a:t>
                </a:r>
                <a:r>
                  <a:rPr lang="zh-CN" altLang="en-US" dirty="0" smtClean="0"/>
                  <a:t>道题的结果与正确答案相同，是一个相当不错的成绩。又比如彩票上的</a:t>
                </a:r>
                <a:r>
                  <a:rPr lang="en-US" altLang="zh-CN" dirty="0" smtClean="0"/>
                  <a:t>7</a:t>
                </a:r>
                <a:r>
                  <a:rPr lang="zh-CN" altLang="en-US" dirty="0" smtClean="0"/>
                  <a:t>位数字中对上了</a:t>
                </a:r>
                <a:r>
                  <a:rPr lang="en-US" altLang="zh-CN" dirty="0" smtClean="0"/>
                  <a:t>6</a:t>
                </a:r>
                <a:r>
                  <a:rPr lang="zh-CN" altLang="en-US" dirty="0" smtClean="0"/>
                  <a:t>位，准确率为</a:t>
                </a:r>
                <a:r>
                  <a:rPr lang="en-US" altLang="zh-CN" dirty="0" smtClean="0"/>
                  <a:t>6/7</a:t>
                </a:r>
                <a:r>
                  <a:rPr lang="zh-CN" altLang="en-US" dirty="0" smtClean="0"/>
                  <a:t>，可以去兑换一个大奖。</a:t>
                </a:r>
                <a:endParaRPr lang="en-US" altLang="zh-CN" dirty="0" smtClean="0"/>
              </a:p>
              <a:p>
                <a:r>
                  <a:rPr lang="zh-CN" altLang="en-US" dirty="0" smtClean="0"/>
                  <a:t>在机器学习与深度学习领域，同样地，准确率（</a:t>
                </a:r>
                <a:r>
                  <a:rPr lang="en-US" altLang="zh-CN" dirty="0" err="1" smtClean="0"/>
                  <a:t>accurancy</a:t>
                </a:r>
                <a:r>
                  <a:rPr lang="zh-CN" altLang="en-US" dirty="0" smtClean="0"/>
                  <a:t>）用于衡量验证集或测试集预测的标签与真实标签是否相等，数学公式为：</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r>
                  <a:rPr lang="en-US" altLang="zh-CN" i="0" dirty="0" smtClean="0">
                    <a:latin typeface="Cambria Math" panose="02040503050406030204" pitchFamily="18" charset="0"/>
                  </a:rPr>
                  <a:t>𝑎𝑐𝑐𝑢𝑟𝑎𝑐𝑦=</a:t>
                </a:r>
                <a:r>
                  <a:rPr lang="zh-CN" altLang="en-US" i="0" dirty="0">
                    <a:latin typeface="Cambria Math" panose="02040503050406030204" pitchFamily="18" charset="0"/>
                  </a:rPr>
                  <a:t>预测</a:t>
                </a:r>
                <a:r>
                  <a:rPr lang="zh-CN" altLang="en-US" i="0" dirty="0" smtClean="0">
                    <a:latin typeface="Cambria Math" panose="02040503050406030204" pitchFamily="18" charset="0"/>
                  </a:rPr>
                  <a:t>标签</a:t>
                </a:r>
                <a:r>
                  <a:rPr lang="zh-CN" altLang="en-US" i="0" dirty="0">
                    <a:latin typeface="Cambria Math" panose="02040503050406030204" pitchFamily="18" charset="0"/>
                  </a:rPr>
                  <a:t>与</a:t>
                </a:r>
                <a:r>
                  <a:rPr lang="zh-CN" altLang="en-US" i="0" dirty="0" smtClean="0">
                    <a:latin typeface="Cambria Math" panose="02040503050406030204" pitchFamily="18" charset="0"/>
                  </a:rPr>
                  <a:t>真实</a:t>
                </a:r>
                <a:r>
                  <a:rPr lang="zh-CN" altLang="en-US" i="0" dirty="0">
                    <a:latin typeface="Cambria Math" panose="02040503050406030204" pitchFamily="18" charset="0"/>
                  </a:rPr>
                  <a:t>标签</a:t>
                </a:r>
                <a:r>
                  <a:rPr lang="zh-CN" altLang="en-US" i="0" dirty="0" smtClean="0">
                    <a:latin typeface="Cambria Math" panose="02040503050406030204" pitchFamily="18" charset="0"/>
                  </a:rPr>
                  <a:t>相同</a:t>
                </a:r>
                <a:r>
                  <a:rPr lang="zh-CN" altLang="en-US" i="0" dirty="0">
                    <a:latin typeface="Cambria Math" panose="02040503050406030204" pitchFamily="18" charset="0"/>
                  </a:rPr>
                  <a:t>的</a:t>
                </a:r>
                <a:r>
                  <a:rPr lang="zh-CN" altLang="en-US" i="0" dirty="0" smtClean="0">
                    <a:latin typeface="Cambria Math" panose="02040503050406030204" pitchFamily="18" charset="0"/>
                  </a:rPr>
                  <a:t>数量</a:t>
                </a:r>
                <a:r>
                  <a:rPr lang="en-US" altLang="zh-CN" i="0" dirty="0" smtClean="0">
                    <a:latin typeface="Cambria Math" panose="02040503050406030204" pitchFamily="18" charset="0"/>
                  </a:rPr>
                  <a:t>/</a:t>
                </a:r>
                <a:r>
                  <a:rPr lang="zh-CN" altLang="en-US" i="0" dirty="0">
                    <a:latin typeface="Cambria Math" panose="02040503050406030204" pitchFamily="18" charset="0"/>
                  </a:rPr>
                  <a:t>总的</a:t>
                </a:r>
                <a:r>
                  <a:rPr lang="zh-CN" altLang="en-US" i="0" dirty="0" smtClean="0">
                    <a:latin typeface="Cambria Math" panose="02040503050406030204" pitchFamily="18" charset="0"/>
                  </a:rPr>
                  <a:t>预测</a:t>
                </a:r>
                <a:r>
                  <a:rPr lang="zh-CN" altLang="en-US" i="0" dirty="0">
                    <a:latin typeface="Cambria Math" panose="02040503050406030204" pitchFamily="18" charset="0"/>
                  </a:rPr>
                  <a:t>数据集</a:t>
                </a:r>
                <a:r>
                  <a:rPr lang="zh-CN" altLang="en-US" i="0" dirty="0" smtClean="0">
                    <a:latin typeface="Cambria Math" panose="02040503050406030204" pitchFamily="18" charset="0"/>
                  </a:rPr>
                  <a:t>数量</a:t>
                </a:r>
                <a:endParaRPr lang="en-US" altLang="zh-CN" dirty="0" smtClean="0"/>
              </a:p>
              <a:p>
                <a:r>
                  <a:rPr lang="zh-CN" altLang="en-US" dirty="0" smtClean="0"/>
                  <a:t>思考一下，这个指标是否可以真正衡量模型的准确性呢？我们来看一个示例。</a:t>
                </a:r>
                <a:endParaRPr lang="en-US" altLang="zh-CN" dirty="0" smtClean="0"/>
              </a:p>
              <a:p>
                <a:r>
                  <a:rPr lang="zh-CN" altLang="en-US" dirty="0" smtClean="0"/>
                  <a:t>假设有一个模型</a:t>
                </a:r>
                <a:r>
                  <a:rPr lang="zh-CN" altLang="en-US" smtClean="0"/>
                  <a:t>，可以预测</a:t>
                </a:r>
                <a:r>
                  <a:rPr lang="zh-CN" altLang="en-US" dirty="0" smtClean="0"/>
                  <a:t>某地当天是否会发生地震。根据我们的常识，</a:t>
                </a:r>
                <a:r>
                  <a:rPr lang="zh-CN" altLang="en-US" sz="1200" b="0" i="0" kern="1200" dirty="0" smtClean="0">
                    <a:solidFill>
                      <a:schemeClr val="tx1"/>
                    </a:solidFill>
                    <a:effectLst/>
                    <a:latin typeface="+mn-lt"/>
                    <a:ea typeface="+mn-ea"/>
                    <a:cs typeface="+mn-cs"/>
                  </a:rPr>
                  <a:t>由于在某一天内不会发生地震的概率可能性接近</a:t>
                </a:r>
                <a:r>
                  <a:rPr lang="en-US" altLang="zh-CN" sz="1200" b="0" i="0" kern="1200" dirty="0" smtClean="0">
                    <a:solidFill>
                      <a:schemeClr val="tx1"/>
                    </a:solidFill>
                    <a:effectLst/>
                    <a:latin typeface="+mn-lt"/>
                    <a:ea typeface="+mn-ea"/>
                    <a:cs typeface="+mn-cs"/>
                  </a:rPr>
                  <a:t>99.99%</a:t>
                </a:r>
                <a:r>
                  <a:rPr lang="zh-CN" altLang="en-US" sz="1200" b="0" i="0" kern="1200" dirty="0" smtClean="0">
                    <a:solidFill>
                      <a:schemeClr val="tx1"/>
                    </a:solidFill>
                    <a:effectLst/>
                    <a:latin typeface="+mn-lt"/>
                    <a:ea typeface="+mn-ea"/>
                    <a:cs typeface="+mn-cs"/>
                  </a:rPr>
                  <a:t>，模型会倾向于无脑地把所有的日子全部预测为不会发生地震，这样它的</a:t>
                </a:r>
                <a:r>
                  <a:rPr lang="en-US" altLang="zh-CN" sz="1200" b="0" i="0" kern="1200" dirty="0" smtClean="0">
                    <a:solidFill>
                      <a:schemeClr val="tx1"/>
                    </a:solidFill>
                    <a:effectLst/>
                    <a:latin typeface="+mn-lt"/>
                    <a:ea typeface="+mn-ea"/>
                    <a:cs typeface="+mn-cs"/>
                  </a:rPr>
                  <a:t>accuracy</a:t>
                </a:r>
                <a:r>
                  <a:rPr lang="zh-CN" altLang="en-US" sz="1200" b="0" i="0" kern="1200" dirty="0" smtClean="0">
                    <a:solidFill>
                      <a:schemeClr val="tx1"/>
                    </a:solidFill>
                    <a:effectLst/>
                    <a:latin typeface="+mn-lt"/>
                    <a:ea typeface="+mn-ea"/>
                    <a:cs typeface="+mn-cs"/>
                  </a:rPr>
                  <a:t>将会高达</a:t>
                </a:r>
                <a:r>
                  <a:rPr lang="en-US" altLang="zh-CN" sz="1200" b="0" i="0" kern="1200" dirty="0" smtClean="0">
                    <a:solidFill>
                      <a:schemeClr val="tx1"/>
                    </a:solidFill>
                    <a:effectLst/>
                    <a:latin typeface="+mn-lt"/>
                    <a:ea typeface="+mn-ea"/>
                    <a:cs typeface="+mn-cs"/>
                  </a:rPr>
                  <a:t>99.99%</a:t>
                </a:r>
                <a:r>
                  <a:rPr lang="zh-CN" altLang="en-US" sz="1200" b="0" i="0" kern="1200" dirty="0" smtClean="0">
                    <a:solidFill>
                      <a:schemeClr val="tx1"/>
                    </a:solidFill>
                    <a:effectLst/>
                    <a:latin typeface="+mn-lt"/>
                    <a:ea typeface="+mn-ea"/>
                    <a:cs typeface="+mn-cs"/>
                  </a:rPr>
                  <a:t>，只有在那</a:t>
                </a:r>
                <a:r>
                  <a:rPr lang="en-US" altLang="zh-CN" sz="1200" b="0" i="0" kern="1200" dirty="0" smtClean="0">
                    <a:solidFill>
                      <a:schemeClr val="tx1"/>
                    </a:solidFill>
                    <a:effectLst/>
                    <a:latin typeface="+mn-lt"/>
                    <a:ea typeface="+mn-ea"/>
                    <a:cs typeface="+mn-cs"/>
                  </a:rPr>
                  <a:t>0.01%</a:t>
                </a:r>
                <a:r>
                  <a:rPr lang="zh-CN" altLang="en-US" sz="1200" b="0" i="0" kern="1200" dirty="0" smtClean="0">
                    <a:solidFill>
                      <a:schemeClr val="tx1"/>
                    </a:solidFill>
                    <a:effectLst/>
                    <a:latin typeface="+mn-lt"/>
                    <a:ea typeface="+mn-ea"/>
                    <a:cs typeface="+mn-cs"/>
                  </a:rPr>
                  <a:t>的、会发生地震的日子是预测错的。这样的模型虽然</a:t>
                </a:r>
                <a:r>
                  <a:rPr lang="en-US" altLang="zh-CN" sz="1200" b="0" i="0" kern="1200" dirty="0" smtClean="0">
                    <a:solidFill>
                      <a:schemeClr val="tx1"/>
                    </a:solidFill>
                    <a:effectLst/>
                    <a:latin typeface="+mn-lt"/>
                    <a:ea typeface="+mn-ea"/>
                    <a:cs typeface="+mn-cs"/>
                  </a:rPr>
                  <a:t>accuracy</a:t>
                </a:r>
                <a:r>
                  <a:rPr lang="zh-CN" altLang="en-US" sz="1200" b="0" i="0" kern="1200" dirty="0" smtClean="0">
                    <a:solidFill>
                      <a:schemeClr val="tx1"/>
                    </a:solidFill>
                    <a:effectLst/>
                    <a:latin typeface="+mn-lt"/>
                    <a:ea typeface="+mn-ea"/>
                    <a:cs typeface="+mn-cs"/>
                  </a:rPr>
                  <a:t>非常高，但是没有任何意义。毕竟我们要的就是在这</a:t>
                </a:r>
                <a:r>
                  <a:rPr lang="en-US" altLang="zh-CN" sz="1200" b="0" i="0" kern="1200" dirty="0" smtClean="0">
                    <a:solidFill>
                      <a:schemeClr val="tx1"/>
                    </a:solidFill>
                    <a:effectLst/>
                    <a:latin typeface="+mn-lt"/>
                    <a:ea typeface="+mn-ea"/>
                    <a:cs typeface="+mn-cs"/>
                  </a:rPr>
                  <a:t>0.01%</a:t>
                </a:r>
                <a:r>
                  <a:rPr lang="zh-CN" altLang="en-US" sz="1200" b="0" i="0" kern="1200" dirty="0" smtClean="0">
                    <a:solidFill>
                      <a:schemeClr val="tx1"/>
                    </a:solidFill>
                    <a:effectLst/>
                    <a:latin typeface="+mn-lt"/>
                    <a:ea typeface="+mn-ea"/>
                    <a:cs typeface="+mn-cs"/>
                  </a:rPr>
                  <a:t>的日子把地震预测出来。</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在这种情况下，</a:t>
                </a:r>
                <a:r>
                  <a:rPr lang="en-US" altLang="zh-CN" sz="1200" b="0" i="0" kern="1200" dirty="0" smtClean="0">
                    <a:solidFill>
                      <a:schemeClr val="tx1"/>
                    </a:solidFill>
                    <a:effectLst/>
                    <a:latin typeface="+mn-lt"/>
                    <a:ea typeface="+mn-ea"/>
                    <a:cs typeface="+mn-cs"/>
                  </a:rPr>
                  <a:t>accuracy</a:t>
                </a:r>
                <a:r>
                  <a:rPr lang="zh-CN" altLang="en-US" sz="1200" b="0" i="0" kern="1200" dirty="0" smtClean="0">
                    <a:solidFill>
                      <a:schemeClr val="tx1"/>
                    </a:solidFill>
                    <a:effectLst/>
                    <a:latin typeface="+mn-lt"/>
                    <a:ea typeface="+mn-ea"/>
                    <a:cs typeface="+mn-cs"/>
                  </a:rPr>
                  <a:t>显然是一个非常差的指标，它无法衡量一个模型的真实预测能力。</a:t>
                </a:r>
                <a:endParaRPr lang="en-US" altLang="zh-CN" dirty="0" smtClean="0"/>
              </a:p>
              <a:p>
                <a:endParaRPr lang="en-US" altLang="zh-CN" dirty="0" smtClean="0"/>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30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1044074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对于上述的二分类问题（地震发生</a:t>
            </a:r>
            <a:r>
              <a:rPr lang="en-US" altLang="zh-CN" dirty="0" smtClean="0"/>
              <a:t>or</a:t>
            </a:r>
            <a:r>
              <a:rPr lang="zh-CN" altLang="en-US" dirty="0" smtClean="0"/>
              <a:t>不发生），我们可以引入混淆矩阵的概念，将样例根据其真实类别与分类器预测类别的组合划分为以下四种情况：</a:t>
            </a:r>
            <a:endParaRPr lang="en-US" altLang="zh-CN"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en-US" altLang="zh-CN" dirty="0" smtClean="0"/>
              <a:t>TP FN</a:t>
            </a:r>
            <a:r>
              <a:rPr lang="zh-CN" altLang="en-US" baseline="0" dirty="0" smtClean="0"/>
              <a:t> </a:t>
            </a:r>
            <a:r>
              <a:rPr lang="en-US" altLang="zh-CN" baseline="0" dirty="0" smtClean="0"/>
              <a:t>FP TN</a:t>
            </a:r>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baseline="0" dirty="0" smtClean="0"/>
              <a:t>将这四种情况对应的样本数填入，构成混淆矩阵。</a:t>
            </a:r>
            <a:endParaRPr lang="en-US" altLang="zh-CN" baseline="0"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注意，虽然我们可以把</a:t>
            </a:r>
            <a:r>
              <a:rPr lang="en-US" altLang="zh-CN" dirty="0" smtClean="0"/>
              <a:t>positive</a:t>
            </a:r>
            <a:r>
              <a:rPr lang="zh-CN" altLang="en-US" dirty="0" smtClean="0"/>
              <a:t>指定为二分类中的任意一者，但我们一般把更关心的情况指定为</a:t>
            </a:r>
            <a:r>
              <a:rPr lang="en-US" altLang="zh-CN" dirty="0" smtClean="0"/>
              <a:t>positive</a:t>
            </a:r>
            <a:r>
              <a:rPr lang="zh-CN" altLang="en-US" dirty="0" smtClean="0"/>
              <a:t>，比如“用户会流失”、“是垃圾邮件”、“是阳性肿瘤”、“将要发生地震”。</a:t>
            </a:r>
            <a:endParaRPr lang="en-US" altLang="zh-CN"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混淆矩阵是非常重要的概念，它被广泛应用于机器学习和深度学习领域中。</a:t>
            </a:r>
            <a:endParaRPr lang="en-US" altLang="zh-CN"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711642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根据混淆矩阵，我们可以很直观地比对原始数据和预测结果。</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4509466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显然，混淆矩阵中的四个值还不能直接反映模型的真实预测能力，我们引入混淆矩阵的二级指标：</a:t>
            </a:r>
            <a:endParaRPr lang="en-US" altLang="zh-CN" dirty="0" smtClean="0"/>
          </a:p>
          <a:p>
            <a:r>
              <a:rPr lang="en-US" altLang="zh-CN" dirty="0" smtClean="0"/>
              <a:t>Accuracy</a:t>
            </a:r>
            <a:r>
              <a:rPr lang="zh-CN" altLang="en-US" dirty="0" smtClean="0"/>
              <a:t>，准确率，指的是“</a:t>
            </a:r>
            <a:r>
              <a:rPr lang="zh-CN" altLang="en-US" sz="1200" b="0" i="0" kern="1200" dirty="0" smtClean="0">
                <a:solidFill>
                  <a:schemeClr val="tx1"/>
                </a:solidFill>
                <a:effectLst/>
                <a:latin typeface="+mn-lt"/>
                <a:ea typeface="+mn-ea"/>
                <a:cs typeface="+mn-cs"/>
              </a:rPr>
              <a:t>预测正确的样本数</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样本数总数</a:t>
            </a:r>
            <a:r>
              <a:rPr lang="zh-CN" altLang="en-US" dirty="0" smtClean="0"/>
              <a:t>”，和日常认为的准确率概念一样。</a:t>
            </a:r>
            <a:r>
              <a:rPr lang="zh-CN" altLang="en-US" sz="1200" b="0" i="0" kern="1200" dirty="0" smtClean="0">
                <a:solidFill>
                  <a:schemeClr val="tx1"/>
                </a:solidFill>
                <a:effectLst/>
                <a:latin typeface="+mn-lt"/>
                <a:ea typeface="+mn-ea"/>
                <a:cs typeface="+mn-cs"/>
              </a:rPr>
              <a:t>准确率的优点是比较简单直观。通常我们在如下情况的时候使用准确率：</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数据集是平衡的；</a:t>
            </a:r>
            <a:r>
              <a:rPr lang="en-US" altLang="zh-CN" sz="1200" b="0" i="0" kern="1200" dirty="0" smtClean="0">
                <a:solidFill>
                  <a:schemeClr val="tx1"/>
                </a:solidFill>
                <a:effectLst/>
                <a:latin typeface="+mn-lt"/>
                <a:ea typeface="+mn-ea"/>
                <a:cs typeface="+mn-cs"/>
              </a:rPr>
              <a:t>2.</a:t>
            </a:r>
            <a:r>
              <a:rPr lang="zh-CN" altLang="en-US" sz="1200" b="0" i="0" kern="1200" dirty="0" smtClean="0">
                <a:solidFill>
                  <a:schemeClr val="tx1"/>
                </a:solidFill>
                <a:effectLst/>
                <a:latin typeface="+mn-lt"/>
                <a:ea typeface="+mn-ea"/>
                <a:cs typeface="+mn-cs"/>
              </a:rPr>
              <a:t>我们要向对于机器学习与数据科学不熟悉的人解释我们的模型；</a:t>
            </a:r>
            <a:r>
              <a:rPr lang="en-US" altLang="zh-CN" sz="1200" b="0" i="0" kern="1200" dirty="0" smtClean="0">
                <a:solidFill>
                  <a:schemeClr val="tx1"/>
                </a:solidFill>
                <a:effectLst/>
                <a:latin typeface="+mn-lt"/>
                <a:ea typeface="+mn-ea"/>
                <a:cs typeface="+mn-cs"/>
              </a:rPr>
              <a:t>3.</a:t>
            </a:r>
            <a:r>
              <a:rPr lang="zh-CN" altLang="en-US" sz="1200" b="0" i="0" kern="1200" dirty="0" smtClean="0">
                <a:solidFill>
                  <a:schemeClr val="tx1"/>
                </a:solidFill>
                <a:effectLst/>
                <a:latin typeface="+mn-lt"/>
                <a:ea typeface="+mn-ea"/>
                <a:cs typeface="+mn-cs"/>
              </a:rPr>
              <a:t>每一类</a:t>
            </a:r>
            <a:r>
              <a:rPr lang="en-US" altLang="zh-CN" sz="1200" b="0" i="0" kern="1200" dirty="0" smtClean="0">
                <a:solidFill>
                  <a:schemeClr val="tx1"/>
                </a:solidFill>
                <a:effectLst/>
                <a:latin typeface="+mn-lt"/>
                <a:ea typeface="+mn-ea"/>
                <a:cs typeface="+mn-cs"/>
              </a:rPr>
              <a:t>label</a:t>
            </a:r>
            <a:r>
              <a:rPr lang="zh-CN" altLang="en-US" sz="1200" b="0" i="0" kern="1200" dirty="0" smtClean="0">
                <a:solidFill>
                  <a:schemeClr val="tx1"/>
                </a:solidFill>
                <a:effectLst/>
                <a:latin typeface="+mn-lt"/>
                <a:ea typeface="+mn-ea"/>
                <a:cs typeface="+mn-cs"/>
              </a:rPr>
              <a:t>对我们来说是一样重要的。因为准确率同时考虑了</a:t>
            </a:r>
            <a:r>
              <a:rPr lang="en-US" altLang="zh-CN" sz="1200" b="0" i="0" kern="1200" dirty="0" smtClean="0">
                <a:solidFill>
                  <a:schemeClr val="tx1"/>
                </a:solidFill>
                <a:effectLst/>
                <a:latin typeface="+mn-lt"/>
                <a:ea typeface="+mn-ea"/>
                <a:cs typeface="+mn-cs"/>
              </a:rPr>
              <a:t>Positive samples</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Negative samples</a:t>
            </a:r>
            <a:r>
              <a:rPr lang="zh-CN" altLang="en-US" sz="1200" b="0" i="0" kern="1200" dirty="0" smtClean="0">
                <a:solidFill>
                  <a:schemeClr val="tx1"/>
                </a:solidFill>
                <a:effectLst/>
                <a:latin typeface="+mn-lt"/>
                <a:ea typeface="+mn-ea"/>
                <a:cs typeface="+mn-cs"/>
              </a:rPr>
              <a:t>。缺点也很明显，之前提到过的预测地震的例子就已经表明，它不适用于不平衡数据。</a:t>
            </a:r>
          </a:p>
          <a:p>
            <a:pPr marL="0" marR="0" lvl="1" indent="0" algn="l" defTabSz="914400" rtl="0" eaLnBrk="1" fontAlgn="base" latinLnBrk="0" hangingPunct="1">
              <a:lnSpc>
                <a:spcPct val="100000"/>
              </a:lnSpc>
              <a:spcBef>
                <a:spcPct val="0"/>
              </a:spcBef>
              <a:spcAft>
                <a:spcPct val="0"/>
              </a:spcAft>
              <a:buClrTx/>
              <a:buSzTx/>
              <a:buFontTx/>
              <a:buNone/>
              <a:tabLst/>
              <a:defRPr/>
            </a:pPr>
            <a:r>
              <a:rPr lang="en-US" altLang="zh-CN" dirty="0" smtClean="0"/>
              <a:t>Precision</a:t>
            </a:r>
            <a:r>
              <a:rPr lang="zh-CN" altLang="en-US" dirty="0" smtClean="0"/>
              <a:t>，精确率或者精度，在信息检索领域，</a:t>
            </a:r>
            <a:r>
              <a:rPr lang="en-US" altLang="zh-CN" dirty="0" smtClean="0"/>
              <a:t>precision</a:t>
            </a:r>
            <a:r>
              <a:rPr lang="zh-CN" altLang="en-US" dirty="0" smtClean="0"/>
              <a:t>也被称为“查准率”。它指的是在我们预测为</a:t>
            </a:r>
            <a:r>
              <a:rPr lang="en-US" altLang="zh-CN" dirty="0" smtClean="0"/>
              <a:t>Positive</a:t>
            </a:r>
            <a:r>
              <a:rPr lang="zh-CN" altLang="en-US" dirty="0" smtClean="0"/>
              <a:t>的样本里面，有多少确实为</a:t>
            </a:r>
            <a:r>
              <a:rPr lang="en-US" altLang="zh-CN" dirty="0" smtClean="0"/>
              <a:t>Positive</a:t>
            </a:r>
            <a:r>
              <a:rPr lang="zh-CN" altLang="en-US" dirty="0" smtClean="0"/>
              <a:t>的。</a:t>
            </a:r>
            <a:r>
              <a:rPr lang="zh-CN" altLang="en-US" sz="1200" b="0" i="0" kern="1200" dirty="0" smtClean="0">
                <a:solidFill>
                  <a:schemeClr val="tx1"/>
                </a:solidFill>
                <a:effectLst/>
                <a:latin typeface="+mn-lt"/>
                <a:ea typeface="+mn-ea"/>
                <a:cs typeface="+mn-cs"/>
              </a:rPr>
              <a:t>如果我们要求</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高，那么我们是在“求精”，也就是我们不指望着把所有的</a:t>
            </a:r>
            <a:r>
              <a:rPr lang="en-US" altLang="zh-CN" sz="1200" b="0" i="0" kern="1200" dirty="0" smtClean="0">
                <a:solidFill>
                  <a:schemeClr val="tx1"/>
                </a:solidFill>
                <a:effectLst/>
                <a:latin typeface="+mn-lt"/>
                <a:ea typeface="+mn-ea"/>
                <a:cs typeface="+mn-cs"/>
              </a:rPr>
              <a:t>positive samples</a:t>
            </a:r>
            <a:r>
              <a:rPr lang="zh-CN" altLang="en-US" sz="1200" b="0" i="0" kern="1200" dirty="0" smtClean="0">
                <a:solidFill>
                  <a:schemeClr val="tx1"/>
                </a:solidFill>
                <a:effectLst/>
                <a:latin typeface="+mn-lt"/>
                <a:ea typeface="+mn-ea"/>
                <a:cs typeface="+mn-cs"/>
              </a:rPr>
              <a:t>都找出来，但是我们希望在我们挑出来的样本一定要干净、纯粹，那些“鱼目混珠”的</a:t>
            </a:r>
            <a:r>
              <a:rPr lang="en-US" altLang="zh-CN" sz="1200" b="0" i="0" kern="1200" dirty="0" smtClean="0">
                <a:solidFill>
                  <a:schemeClr val="tx1"/>
                </a:solidFill>
                <a:effectLst/>
                <a:latin typeface="+mn-lt"/>
                <a:ea typeface="+mn-ea"/>
                <a:cs typeface="+mn-cs"/>
              </a:rPr>
              <a:t>negative sample</a:t>
            </a:r>
            <a:r>
              <a:rPr lang="zh-CN" altLang="en-US" sz="1200" b="0" i="0" kern="1200" dirty="0" smtClean="0">
                <a:solidFill>
                  <a:schemeClr val="tx1"/>
                </a:solidFill>
                <a:effectLst/>
                <a:latin typeface="+mn-lt"/>
                <a:ea typeface="+mn-ea"/>
                <a:cs typeface="+mn-cs"/>
              </a:rPr>
              <a:t>越少越好，哪怕放走了一部分</a:t>
            </a:r>
            <a:r>
              <a:rPr lang="en-US" altLang="zh-CN" sz="1200" b="0" i="0" kern="1200" dirty="0" smtClean="0">
                <a:solidFill>
                  <a:schemeClr val="tx1"/>
                </a:solidFill>
                <a:effectLst/>
                <a:latin typeface="+mn-lt"/>
                <a:ea typeface="+mn-ea"/>
                <a:cs typeface="+mn-cs"/>
              </a:rPr>
              <a:t>positive samples</a:t>
            </a:r>
            <a:r>
              <a:rPr lang="zh-CN" altLang="en-US" sz="1200" b="0" i="0" kern="1200" dirty="0" smtClean="0">
                <a:solidFill>
                  <a:schemeClr val="tx1"/>
                </a:solidFill>
                <a:effectLst/>
                <a:latin typeface="+mn-lt"/>
                <a:ea typeface="+mn-ea"/>
                <a:cs typeface="+mn-cs"/>
              </a:rPr>
              <a:t>也在所不惜。我们可以把高</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的模型看做是一个谨小慎微、小心翼翼的“检察官”，他对“质”的要求很高，哪怕我抓到的人很少也没关系，但只要是我抓出来的人，就一定是犯过事的。他绝不冤枉一个好人。</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r>
              <a:rPr lang="en-US" altLang="zh-CN" dirty="0" smtClean="0"/>
              <a:t>Recall</a:t>
            </a:r>
            <a:r>
              <a:rPr lang="zh-CN" altLang="en-US" dirty="0" smtClean="0"/>
              <a:t>，召回率或者灵敏度，</a:t>
            </a:r>
            <a:r>
              <a:rPr lang="zh-CN" altLang="en-US" sz="1200" b="0" i="0" kern="1200" dirty="0" smtClean="0">
                <a:solidFill>
                  <a:schemeClr val="tx1"/>
                </a:solidFill>
                <a:effectLst/>
                <a:latin typeface="+mn-lt"/>
                <a:ea typeface="+mn-ea"/>
                <a:cs typeface="+mn-cs"/>
              </a:rPr>
              <a:t>在信息检索领域，</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也被称为“查全率”。它</a:t>
            </a:r>
            <a:r>
              <a:rPr lang="zh-CN" altLang="en-US" dirty="0" smtClean="0"/>
              <a:t>指的是实际上为</a:t>
            </a:r>
            <a:r>
              <a:rPr lang="en-US" altLang="zh-CN" dirty="0" smtClean="0"/>
              <a:t>Positive</a:t>
            </a:r>
            <a:r>
              <a:rPr lang="zh-CN" altLang="en-US" dirty="0" smtClean="0"/>
              <a:t>的样本，有多少被我们挑出来了。</a:t>
            </a:r>
            <a:r>
              <a:rPr lang="zh-CN" altLang="en-US" sz="1200" b="0" i="0" kern="1200" dirty="0" smtClean="0">
                <a:solidFill>
                  <a:schemeClr val="tx1"/>
                </a:solidFill>
                <a:effectLst/>
                <a:latin typeface="+mn-lt"/>
                <a:ea typeface="+mn-ea"/>
                <a:cs typeface="+mn-cs"/>
              </a:rPr>
              <a:t>如果我们要求</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高，我们实际上是在求“大而全”，也就是我们希望一定要把所有的</a:t>
            </a:r>
            <a:r>
              <a:rPr lang="en-US" altLang="zh-CN" sz="1200" b="0" i="0" kern="1200" dirty="0" smtClean="0">
                <a:solidFill>
                  <a:schemeClr val="tx1"/>
                </a:solidFill>
                <a:effectLst/>
                <a:latin typeface="+mn-lt"/>
                <a:ea typeface="+mn-ea"/>
                <a:cs typeface="+mn-cs"/>
              </a:rPr>
              <a:t>positive samples</a:t>
            </a:r>
            <a:r>
              <a:rPr lang="zh-CN" altLang="en-US" sz="1200" b="0" i="0" kern="1200" dirty="0" smtClean="0">
                <a:solidFill>
                  <a:schemeClr val="tx1"/>
                </a:solidFill>
                <a:effectLst/>
                <a:latin typeface="+mn-lt"/>
                <a:ea typeface="+mn-ea"/>
                <a:cs typeface="+mn-cs"/>
              </a:rPr>
              <a:t>全部找出来，哪怕我们找出来的样本里面有很多“滥竽充数”的</a:t>
            </a:r>
            <a:r>
              <a:rPr lang="en-US" altLang="zh-CN" sz="1200" b="0" i="0" kern="1200" dirty="0" smtClean="0">
                <a:solidFill>
                  <a:schemeClr val="tx1"/>
                </a:solidFill>
                <a:effectLst/>
                <a:latin typeface="+mn-lt"/>
                <a:ea typeface="+mn-ea"/>
                <a:cs typeface="+mn-cs"/>
              </a:rPr>
              <a:t>negative</a:t>
            </a:r>
            <a:r>
              <a:rPr lang="zh-CN" altLang="en-US" sz="1200" b="0" i="0" kern="1200" dirty="0" smtClean="0">
                <a:solidFill>
                  <a:schemeClr val="tx1"/>
                </a:solidFill>
                <a:effectLst/>
                <a:latin typeface="+mn-lt"/>
                <a:ea typeface="+mn-ea"/>
                <a:cs typeface="+mn-cs"/>
              </a:rPr>
              <a:t>样本在里面。追求</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高，实际上的原则是，不管你是否真的是</a:t>
            </a:r>
            <a:r>
              <a:rPr lang="en-US" altLang="zh-CN" sz="1200" b="0" i="0" kern="1200" dirty="0" smtClean="0">
                <a:solidFill>
                  <a:schemeClr val="tx1"/>
                </a:solidFill>
                <a:effectLst/>
                <a:latin typeface="+mn-lt"/>
                <a:ea typeface="+mn-ea"/>
                <a:cs typeface="+mn-cs"/>
              </a:rPr>
              <a:t>positive</a:t>
            </a:r>
            <a:r>
              <a:rPr lang="zh-CN" altLang="en-US" sz="1200" b="0" i="0" kern="1200" dirty="0" smtClean="0">
                <a:solidFill>
                  <a:schemeClr val="tx1"/>
                </a:solidFill>
                <a:effectLst/>
                <a:latin typeface="+mn-lt"/>
                <a:ea typeface="+mn-ea"/>
                <a:cs typeface="+mn-cs"/>
              </a:rPr>
              <a:t>，只要我看着你“很可疑”，我就管他三七二十一先把你抓出来，哪怕有冤假错案也在所不惜。我们可以把高</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的模型看做是一个很贪婪的“检察官”，他对“量”要求很高，虽然可能经常抓错人，但是几乎没有犯人能够成功的流窜在外。</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9074521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下面我们讲两个故事，深刻理解</a:t>
            </a:r>
            <a:r>
              <a:rPr lang="en-US" altLang="zh-CN" dirty="0" smtClean="0"/>
              <a:t>Precision</a:t>
            </a:r>
            <a:r>
              <a:rPr lang="zh-CN" altLang="en-US" dirty="0" smtClean="0"/>
              <a:t>和</a:t>
            </a:r>
            <a:r>
              <a:rPr lang="en-US" altLang="zh-CN" dirty="0" smtClean="0"/>
              <a:t>Recall</a:t>
            </a:r>
            <a:r>
              <a:rPr lang="zh-CN" altLang="en-US" dirty="0" smtClean="0"/>
              <a:t>适用的场景。</a:t>
            </a:r>
            <a:endParaRPr lang="en-US" altLang="zh-CN" dirty="0" smtClean="0"/>
          </a:p>
          <a:p>
            <a:r>
              <a:rPr lang="zh-CN" altLang="en-US" dirty="0" smtClean="0"/>
              <a:t>第一个例子是垃圾短信检测模型。日常生活中手机会接收到各种短信，其中也包含部分垃圾短信，目前很多手机都已经拥有自动屏蔽垃圾短信的功能。根据之前的定义，我们把“是垃圾短信”定义为</a:t>
            </a:r>
            <a:r>
              <a:rPr lang="en-US" altLang="zh-CN" dirty="0" smtClean="0"/>
              <a:t>Positive</a:t>
            </a:r>
            <a:r>
              <a:rPr lang="zh-CN" altLang="en-US" dirty="0" smtClean="0"/>
              <a:t>，把“正常短信”定义为</a:t>
            </a:r>
            <a:r>
              <a:rPr lang="en-US" altLang="zh-CN" dirty="0" smtClean="0"/>
              <a:t>Negative</a:t>
            </a:r>
            <a:r>
              <a:rPr lang="zh-CN" altLang="en-US" dirty="0" smtClean="0"/>
              <a:t>。假设我们有</a:t>
            </a:r>
            <a:r>
              <a:rPr lang="en-US" altLang="zh-CN" dirty="0" smtClean="0"/>
              <a:t>100</a:t>
            </a:r>
            <a:r>
              <a:rPr lang="zh-CN" altLang="en-US" dirty="0" smtClean="0"/>
              <a:t>条短信，正常短信</a:t>
            </a:r>
            <a:r>
              <a:rPr lang="en-US" altLang="zh-CN" dirty="0" smtClean="0"/>
              <a:t>90</a:t>
            </a:r>
            <a:r>
              <a:rPr lang="zh-CN" altLang="en-US" dirty="0" smtClean="0"/>
              <a:t>条，垃圾短信</a:t>
            </a:r>
            <a:r>
              <a:rPr lang="en-US" altLang="zh-CN" dirty="0" smtClean="0"/>
              <a:t>10</a:t>
            </a:r>
            <a:r>
              <a:rPr lang="zh-CN" altLang="en-US" dirty="0" smtClean="0"/>
              <a:t>条，该模型的结果如右表：在</a:t>
            </a:r>
            <a:r>
              <a:rPr lang="en-US" altLang="zh-CN" dirty="0" smtClean="0"/>
              <a:t>10</a:t>
            </a:r>
            <a:r>
              <a:rPr lang="zh-CN" altLang="en-US" dirty="0" smtClean="0"/>
              <a:t>条垃圾短信中正确检测</a:t>
            </a:r>
            <a:r>
              <a:rPr lang="en-US" altLang="zh-CN" dirty="0" smtClean="0"/>
              <a:t>3</a:t>
            </a:r>
            <a:r>
              <a:rPr lang="zh-CN" altLang="en-US" dirty="0" smtClean="0"/>
              <a:t>条，漏判</a:t>
            </a:r>
            <a:r>
              <a:rPr lang="en-US" altLang="zh-CN" dirty="0" smtClean="0"/>
              <a:t>7</a:t>
            </a:r>
            <a:r>
              <a:rPr lang="zh-CN" altLang="en-US" dirty="0" smtClean="0"/>
              <a:t>条；在</a:t>
            </a:r>
            <a:r>
              <a:rPr lang="en-US" altLang="zh-CN" dirty="0" smtClean="0"/>
              <a:t>90</a:t>
            </a:r>
            <a:r>
              <a:rPr lang="zh-CN" altLang="en-US" dirty="0" smtClean="0"/>
              <a:t>条正常短信中正确检测</a:t>
            </a:r>
            <a:r>
              <a:rPr lang="en-US" altLang="zh-CN" dirty="0" smtClean="0"/>
              <a:t>89</a:t>
            </a:r>
            <a:r>
              <a:rPr lang="zh-CN" altLang="en-US" dirty="0" smtClean="0"/>
              <a:t>条，误判</a:t>
            </a:r>
            <a:r>
              <a:rPr lang="en-US" altLang="zh-CN" dirty="0" smtClean="0"/>
              <a:t>1</a:t>
            </a:r>
            <a:r>
              <a:rPr lang="zh-CN" altLang="en-US" dirty="0" smtClean="0"/>
              <a:t>条。在该案例中，误判的</a:t>
            </a:r>
            <a:r>
              <a:rPr lang="en-US" altLang="zh-CN" dirty="0" smtClean="0"/>
              <a:t>1</a:t>
            </a:r>
            <a:r>
              <a:rPr lang="zh-CN" altLang="en-US" dirty="0" smtClean="0"/>
              <a:t>条正常短信所产生的影响远远大于漏判的</a:t>
            </a:r>
            <a:r>
              <a:rPr lang="en-US" altLang="zh-CN" dirty="0" smtClean="0"/>
              <a:t>7</a:t>
            </a:r>
            <a:r>
              <a:rPr lang="zh-CN" altLang="en-US" dirty="0" smtClean="0"/>
              <a:t>条垃圾短信，被屏蔽的正常短信可能包含非常重要的信息，而漏判的垃圾短信仅需几秒就可以手动删除。计算模型的准确率、精确率以及召回率，发现精确率达</a:t>
            </a:r>
            <a:r>
              <a:rPr lang="en-US" altLang="zh-CN" dirty="0" smtClean="0"/>
              <a:t>0.75</a:t>
            </a:r>
            <a:r>
              <a:rPr lang="zh-CN" altLang="en-US" dirty="0" smtClean="0"/>
              <a:t>，召回率为</a:t>
            </a:r>
            <a:r>
              <a:rPr lang="en-US" altLang="zh-CN" dirty="0" smtClean="0"/>
              <a:t>0.5</a:t>
            </a:r>
            <a:r>
              <a:rPr lang="zh-CN" altLang="en-US" dirty="0" smtClean="0"/>
              <a:t>。这意味着高精确率模型适用于“冤假错案”成本高，“漏网之鱼”成本低的情况，即</a:t>
            </a:r>
            <a:r>
              <a:rPr lang="zh-CN" altLang="en-US" sz="1200" b="0" i="0" kern="1200" dirty="0" smtClean="0">
                <a:solidFill>
                  <a:schemeClr val="tx1"/>
                </a:solidFill>
                <a:effectLst/>
                <a:latin typeface="+mn-lt"/>
                <a:ea typeface="+mn-ea"/>
                <a:cs typeface="+mn-cs"/>
              </a:rPr>
              <a:t>必须一定是“垃圾短信”才能被我们标记为</a:t>
            </a:r>
            <a:r>
              <a:rPr lang="en-US" altLang="zh-CN" sz="1200" b="0" i="0" kern="1200" dirty="0" smtClean="0">
                <a:solidFill>
                  <a:schemeClr val="tx1"/>
                </a:solidFill>
                <a:effectLst/>
                <a:latin typeface="+mn-lt"/>
                <a:ea typeface="+mn-ea"/>
                <a:cs typeface="+mn-cs"/>
              </a:rPr>
              <a:t>Positive</a:t>
            </a:r>
            <a:r>
              <a:rPr lang="zh-CN" altLang="en-US" sz="1200" b="0" i="0" kern="1200" dirty="0" smtClean="0">
                <a:solidFill>
                  <a:schemeClr val="tx1"/>
                </a:solidFill>
                <a:effectLst/>
                <a:latin typeface="+mn-lt"/>
                <a:ea typeface="+mn-ea"/>
                <a:cs typeface="+mn-cs"/>
              </a:rPr>
              <a:t>，哪怕代价是放过几只漏网之鱼也没关系。</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第二个例子是新冠患者检测模型。对于疑似新冠患者或密切接触者通常需要进一步检测。根据之前的定义，我们把“阳性”定义为</a:t>
            </a:r>
            <a:r>
              <a:rPr lang="en-US" altLang="zh-CN" dirty="0" smtClean="0"/>
              <a:t>Positive</a:t>
            </a:r>
            <a:r>
              <a:rPr lang="zh-CN" altLang="en-US" dirty="0" smtClean="0"/>
              <a:t>，把“阴性”定义为</a:t>
            </a:r>
            <a:r>
              <a:rPr lang="en-US" altLang="zh-CN" dirty="0" smtClean="0"/>
              <a:t>Negative</a:t>
            </a:r>
            <a:r>
              <a:rPr lang="zh-CN" altLang="en-US" dirty="0" smtClean="0"/>
              <a:t>。假设我们有</a:t>
            </a:r>
            <a:r>
              <a:rPr lang="en-US" altLang="zh-CN" dirty="0" smtClean="0"/>
              <a:t>100</a:t>
            </a:r>
            <a:r>
              <a:rPr lang="zh-CN" altLang="en-US" dirty="0" smtClean="0"/>
              <a:t>名密切接触者，实际患病人数为</a:t>
            </a:r>
            <a:r>
              <a:rPr lang="en-US" altLang="zh-CN" dirty="0" smtClean="0"/>
              <a:t>10</a:t>
            </a:r>
            <a:r>
              <a:rPr lang="zh-CN" altLang="en-US" dirty="0" smtClean="0"/>
              <a:t>人。该模型的结果如右表：在</a:t>
            </a:r>
            <a:r>
              <a:rPr lang="en-US" altLang="zh-CN" dirty="0" smtClean="0"/>
              <a:t>10</a:t>
            </a:r>
            <a:r>
              <a:rPr lang="zh-CN" altLang="en-US" dirty="0" smtClean="0"/>
              <a:t>名阳性患者中正确检测</a:t>
            </a:r>
            <a:r>
              <a:rPr lang="en-US" altLang="zh-CN" dirty="0" smtClean="0"/>
              <a:t>9</a:t>
            </a:r>
            <a:r>
              <a:rPr lang="zh-CN" altLang="en-US" dirty="0" smtClean="0"/>
              <a:t>名，漏判</a:t>
            </a:r>
            <a:r>
              <a:rPr lang="en-US" altLang="zh-CN" dirty="0" smtClean="0"/>
              <a:t>1</a:t>
            </a:r>
            <a:r>
              <a:rPr lang="zh-CN" altLang="en-US" dirty="0" smtClean="0"/>
              <a:t>名，在</a:t>
            </a:r>
            <a:r>
              <a:rPr lang="en-US" altLang="zh-CN" dirty="0" smtClean="0"/>
              <a:t>90</a:t>
            </a:r>
            <a:r>
              <a:rPr lang="zh-CN" altLang="en-US" dirty="0" smtClean="0"/>
              <a:t>名健康人群中正确检测</a:t>
            </a:r>
            <a:r>
              <a:rPr lang="en-US" altLang="zh-CN" dirty="0" smtClean="0"/>
              <a:t>81</a:t>
            </a:r>
            <a:r>
              <a:rPr lang="zh-CN" altLang="en-US" dirty="0" smtClean="0"/>
              <a:t>名，误判</a:t>
            </a:r>
            <a:r>
              <a:rPr lang="en-US" altLang="zh-CN" dirty="0" smtClean="0"/>
              <a:t>9</a:t>
            </a:r>
            <a:r>
              <a:rPr lang="zh-CN" altLang="en-US" dirty="0" smtClean="0"/>
              <a:t>名。在这个案例中，漏判的</a:t>
            </a:r>
            <a:r>
              <a:rPr lang="en-US" altLang="zh-CN" dirty="0" smtClean="0"/>
              <a:t>1</a:t>
            </a:r>
            <a:r>
              <a:rPr lang="zh-CN" altLang="en-US" dirty="0" smtClean="0"/>
              <a:t>名阳性患者所产生的影响远大于误判的</a:t>
            </a:r>
            <a:r>
              <a:rPr lang="en-US" altLang="zh-CN" dirty="0" smtClean="0"/>
              <a:t>9</a:t>
            </a:r>
            <a:r>
              <a:rPr lang="zh-CN" altLang="en-US" dirty="0" smtClean="0"/>
              <a:t>名健康人群，漏判的阳性患者可能会带来大规模的传染，而误判的人群仅需进一步隔离检查便可正常生活。计算模型的准确率、精确率以及召回率，发现精确率达</a:t>
            </a:r>
            <a:r>
              <a:rPr lang="en-US" altLang="zh-CN" dirty="0" smtClean="0"/>
              <a:t>0.5</a:t>
            </a:r>
            <a:r>
              <a:rPr lang="zh-CN" altLang="en-US" dirty="0" smtClean="0"/>
              <a:t>，召回率为</a:t>
            </a:r>
            <a:r>
              <a:rPr lang="en-US" altLang="zh-CN" dirty="0" smtClean="0"/>
              <a:t>0.9</a:t>
            </a:r>
            <a:r>
              <a:rPr lang="zh-CN" altLang="en-US" dirty="0" smtClean="0"/>
              <a:t>。这意味着高召回率适用于</a:t>
            </a:r>
            <a:r>
              <a:rPr lang="zh-CN" altLang="en-US" sz="1200" b="0" i="0" kern="1200" dirty="0" smtClean="0">
                <a:solidFill>
                  <a:schemeClr val="tx1"/>
                </a:solidFill>
                <a:effectLst/>
                <a:latin typeface="+mn-lt"/>
                <a:ea typeface="+mn-ea"/>
                <a:cs typeface="+mn-cs"/>
              </a:rPr>
              <a:t>“冤假错案”成本低，“漏网之鱼”成本高的情况，即必须把所有的阳性患者都检测出来不可遗漏，哪怕误判了几名健康人群也没关系。</a:t>
            </a:r>
            <a:endParaRPr lang="en-US" altLang="zh-CN" b="0"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6609892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听了之前的介绍，我们当然是希望</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都要高，但这两者很多时候是不可兼得的。</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例如，我们有</a:t>
                </a:r>
                <a:r>
                  <a:rPr lang="en-US" altLang="zh-CN" sz="1200" b="0" i="0" kern="1200" dirty="0" smtClean="0">
                    <a:solidFill>
                      <a:schemeClr val="tx1"/>
                    </a:solidFill>
                    <a:effectLst/>
                    <a:latin typeface="+mn-lt"/>
                    <a:ea typeface="+mn-ea"/>
                    <a:cs typeface="+mn-cs"/>
                  </a:rPr>
                  <a:t>1000</a:t>
                </a:r>
                <a:r>
                  <a:rPr lang="zh-CN" altLang="en-US" sz="1200" b="0" i="0" kern="1200" dirty="0" smtClean="0">
                    <a:solidFill>
                      <a:schemeClr val="tx1"/>
                    </a:solidFill>
                    <a:effectLst/>
                    <a:latin typeface="+mn-lt"/>
                    <a:ea typeface="+mn-ea"/>
                    <a:cs typeface="+mn-cs"/>
                  </a:rPr>
                  <a:t>封邮件，其中垃圾邮件有</a:t>
                </a:r>
                <a:r>
                  <a:rPr lang="en-US" altLang="zh-CN" sz="1200" b="0" i="0" kern="1200" dirty="0" smtClean="0">
                    <a:solidFill>
                      <a:schemeClr val="tx1"/>
                    </a:solidFill>
                    <a:effectLst/>
                    <a:latin typeface="+mn-lt"/>
                    <a:ea typeface="+mn-ea"/>
                    <a:cs typeface="+mn-cs"/>
                  </a:rPr>
                  <a:t>100</a:t>
                </a:r>
                <a:r>
                  <a:rPr lang="zh-CN" altLang="en-US" sz="1200" b="0" i="0" kern="1200" dirty="0" smtClean="0">
                    <a:solidFill>
                      <a:schemeClr val="tx1"/>
                    </a:solidFill>
                    <a:effectLst/>
                    <a:latin typeface="+mn-lt"/>
                    <a:ea typeface="+mn-ea"/>
                    <a:cs typeface="+mn-cs"/>
                  </a:rPr>
                  <a:t>封，仍然是希望预测出其中的垃圾邮件。</a:t>
                </a:r>
              </a:p>
              <a:p>
                <a:r>
                  <a:rPr lang="zh-CN" altLang="en-US" sz="1200" b="0" i="0" kern="1200" dirty="0" smtClean="0">
                    <a:solidFill>
                      <a:schemeClr val="tx1"/>
                    </a:solidFill>
                    <a:effectLst/>
                    <a:latin typeface="+mn-lt"/>
                    <a:ea typeface="+mn-ea"/>
                    <a:cs typeface="+mn-cs"/>
                  </a:rPr>
                  <a:t>如果我们希望</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高，那么在极端情况下，我们只把最最可能是垃圾邮件的那一封邮件，也就是</a:t>
                </a:r>
                <a:r>
                  <a:rPr lang="en-US" altLang="zh-CN" sz="1200" b="0" i="0" kern="1200" dirty="0" smtClean="0">
                    <a:solidFill>
                      <a:schemeClr val="tx1"/>
                    </a:solidFill>
                    <a:effectLst/>
                    <a:latin typeface="+mn-lt"/>
                    <a:ea typeface="+mn-ea"/>
                    <a:cs typeface="+mn-cs"/>
                  </a:rPr>
                  <a:t>No.1</a:t>
                </a:r>
                <a:r>
                  <a:rPr lang="zh-CN" altLang="en-US" sz="1200" b="0" i="0" kern="1200" dirty="0" smtClean="0">
                    <a:solidFill>
                      <a:schemeClr val="tx1"/>
                    </a:solidFill>
                    <a:effectLst/>
                    <a:latin typeface="+mn-lt"/>
                    <a:ea typeface="+mn-ea"/>
                    <a:cs typeface="+mn-cs"/>
                  </a:rPr>
                  <a:t>的那一封挑出来。在这种“千里选一”的情况下，这一封肯定是垃圾邮件，这时候</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高达</a:t>
                </a:r>
                <a:r>
                  <a:rPr lang="en-US" altLang="zh-CN" sz="1200" b="0" i="0" kern="1200" dirty="0" smtClean="0">
                    <a:solidFill>
                      <a:schemeClr val="tx1"/>
                    </a:solidFill>
                    <a:effectLst/>
                    <a:latin typeface="+mn-lt"/>
                    <a:ea typeface="+mn-ea"/>
                    <a:cs typeface="+mn-cs"/>
                  </a:rPr>
                  <a:t>100%</a:t>
                </a:r>
                <a:r>
                  <a:rPr lang="zh-CN" altLang="en-US" sz="1200" b="0" i="0" kern="1200" dirty="0" smtClean="0">
                    <a:solidFill>
                      <a:schemeClr val="tx1"/>
                    </a:solidFill>
                    <a:effectLst/>
                    <a:latin typeface="+mn-lt"/>
                    <a:ea typeface="+mn-ea"/>
                    <a:cs typeface="+mn-cs"/>
                  </a:rPr>
                  <a:t>。但是，</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相应的就会非常低就只有</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a:t>
                </a:r>
              </a:p>
              <a:p>
                <a:r>
                  <a:rPr lang="zh-CN" altLang="en-US" sz="1200" b="0" i="0" kern="1200" dirty="0" smtClean="0">
                    <a:solidFill>
                      <a:schemeClr val="tx1"/>
                    </a:solidFill>
                    <a:effectLst/>
                    <a:latin typeface="+mn-lt"/>
                    <a:ea typeface="+mn-ea"/>
                    <a:cs typeface="+mn-cs"/>
                  </a:rPr>
                  <a:t>如果我们希望</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高，那么极端情况下，我们只要无脑把所有的样本都预测为垃圾邮件，那么此时我们的</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就可以高达</a:t>
                </a:r>
                <a:r>
                  <a:rPr lang="en-US" altLang="zh-CN" sz="1200" b="0" i="0" kern="1200" dirty="0" smtClean="0">
                    <a:solidFill>
                      <a:schemeClr val="tx1"/>
                    </a:solidFill>
                    <a:effectLst/>
                    <a:latin typeface="+mn-lt"/>
                    <a:ea typeface="+mn-ea"/>
                    <a:cs typeface="+mn-cs"/>
                  </a:rPr>
                  <a:t>100%</a:t>
                </a:r>
                <a:r>
                  <a:rPr lang="zh-CN" altLang="en-US" sz="1200" b="0" i="0" kern="1200" dirty="0" smtClean="0">
                    <a:solidFill>
                      <a:schemeClr val="tx1"/>
                    </a:solidFill>
                    <a:effectLst/>
                    <a:latin typeface="+mn-lt"/>
                    <a:ea typeface="+mn-ea"/>
                    <a:cs typeface="+mn-cs"/>
                  </a:rPr>
                  <a:t>，但是此时</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相应的只有</a:t>
                </a:r>
                <a:r>
                  <a:rPr lang="en-US" altLang="zh-CN" sz="1200" b="0" i="0" kern="1200" dirty="0" smtClean="0">
                    <a:solidFill>
                      <a:schemeClr val="tx1"/>
                    </a:solidFill>
                    <a:effectLst/>
                    <a:latin typeface="+mn-lt"/>
                    <a:ea typeface="+mn-ea"/>
                    <a:cs typeface="+mn-cs"/>
                  </a:rPr>
                  <a:t>10%</a:t>
                </a:r>
                <a:r>
                  <a:rPr lang="zh-CN" altLang="en-US" sz="1200" b="0" i="0" kern="1200" dirty="0" smtClean="0">
                    <a:solidFill>
                      <a:schemeClr val="tx1"/>
                    </a:solidFill>
                    <a:effectLst/>
                    <a:latin typeface="+mn-lt"/>
                    <a:ea typeface="+mn-ea"/>
                    <a:cs typeface="+mn-cs"/>
                  </a:rPr>
                  <a:t>。我们发现，如果仅仅看</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或者</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中的一个，有可能会在不知情的情况下走向极端；而</a:t>
                </a:r>
                <a:r>
                  <a:rPr lang="en-US" altLang="zh-CN" sz="1200" b="0" i="0" kern="1200" dirty="0" smtClean="0">
                    <a:solidFill>
                      <a:schemeClr val="tx1"/>
                    </a:solidFill>
                    <a:effectLst/>
                    <a:latin typeface="+mn-lt"/>
                    <a:ea typeface="+mn-ea"/>
                    <a:cs typeface="+mn-cs"/>
                  </a:rPr>
                  <a:t>Accuracy</a:t>
                </a:r>
                <a:r>
                  <a:rPr lang="zh-CN" altLang="en-US" sz="1200" b="0" i="0" kern="1200" dirty="0" smtClean="0">
                    <a:solidFill>
                      <a:schemeClr val="tx1"/>
                    </a:solidFill>
                    <a:effectLst/>
                    <a:latin typeface="+mn-lt"/>
                    <a:ea typeface="+mn-ea"/>
                    <a:cs typeface="+mn-cs"/>
                  </a:rPr>
                  <a:t>又会受到不平衡样本的影响。那有没有一个万能指标，既能兼顾</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两个方面，又不会受到不平衡样本的影响呢？答案是有的。</a:t>
                </a:r>
              </a:p>
              <a:p>
                <a:r>
                  <a:rPr lang="zh-CN" altLang="en-US" sz="1200" b="0" i="0" kern="1200" dirty="0" smtClean="0">
                    <a:solidFill>
                      <a:schemeClr val="tx1"/>
                    </a:solidFill>
                    <a:effectLst/>
                    <a:latin typeface="+mn-lt"/>
                    <a:ea typeface="+mn-ea"/>
                    <a:cs typeface="+mn-cs"/>
                  </a:rPr>
                  <a:t>此时就要用到我们的</a:t>
                </a:r>
                <a:r>
                  <a:rPr lang="en-US" altLang="zh-CN" sz="1200" b="0" i="0" kern="1200" dirty="0" smtClean="0">
                    <a:solidFill>
                      <a:schemeClr val="tx1"/>
                    </a:solidFill>
                    <a:effectLst/>
                    <a:latin typeface="+mn-lt"/>
                    <a:ea typeface="+mn-ea"/>
                    <a:cs typeface="+mn-cs"/>
                  </a:rPr>
                  <a:t>F-Measure</a:t>
                </a:r>
                <a:r>
                  <a:rPr lang="zh-CN" altLang="en-US" sz="1200" b="1"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F-Measure</a:t>
                </a:r>
                <a:r>
                  <a:rPr lang="zh-CN" altLang="en-US" sz="1200" b="0" i="0" kern="1200" dirty="0" smtClean="0">
                    <a:solidFill>
                      <a:schemeClr val="tx1"/>
                    </a:solidFill>
                    <a:effectLst/>
                    <a:latin typeface="+mn-lt"/>
                    <a:ea typeface="+mn-ea"/>
                    <a:cs typeface="+mn-cs"/>
                  </a:rPr>
                  <a:t>是</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的加权调和平均：</a:t>
                </a:r>
                <a:endParaRPr lang="en-US" altLang="zh-CN" sz="1200" b="0" i="0" kern="1200" dirty="0" smtClean="0">
                  <a:solidFill>
                    <a:schemeClr val="tx1"/>
                  </a:solidFill>
                  <a:effectLst/>
                  <a:latin typeface="+mn-lt"/>
                  <a:ea typeface="+mn-ea"/>
                  <a:cs typeface="+mn-cs"/>
                </a:endParaRPr>
              </a:p>
              <a:p>
                <a:pPr/>
                <a14:m>
                  <m:oMathPara xmlns:m="http://schemas.openxmlformats.org/officeDocument/2006/math">
                    <m:oMathParaPr>
                      <m:jc m:val="centerGroup"/>
                    </m:oMathParaPr>
                    <m:oMath xmlns:m="http://schemas.openxmlformats.org/officeDocument/2006/math">
                      <m:sSub>
                        <m:sSubPr>
                          <m:ctrlPr>
                            <a:rPr lang="en-US" altLang="zh-CN" sz="1200" b="0" i="1" smtClean="0">
                              <a:latin typeface="Cambria Math" panose="02040503050406030204" pitchFamily="18" charset="0"/>
                            </a:rPr>
                          </m:ctrlPr>
                        </m:sSubPr>
                        <m:e>
                          <m:r>
                            <a:rPr lang="en-US" altLang="zh-CN" sz="1200" b="0" i="1" smtClean="0">
                              <a:latin typeface="Cambria Math" panose="02040503050406030204" pitchFamily="18" charset="0"/>
                            </a:rPr>
                            <m:t>𝐹</m:t>
                          </m:r>
                        </m:e>
                        <m:sub>
                          <m:r>
                            <a:rPr lang="zh-CN" altLang="en-US" sz="1200" b="0" i="1" smtClean="0">
                              <a:latin typeface="Cambria Math" panose="02040503050406030204" pitchFamily="18" charset="0"/>
                            </a:rPr>
                            <m:t>𝛼</m:t>
                          </m:r>
                        </m:sub>
                      </m:sSub>
                      <m:r>
                        <a:rPr lang="en-US" altLang="zh-CN" sz="1200" b="0" i="1" smtClean="0">
                          <a:latin typeface="Cambria Math" panose="02040503050406030204" pitchFamily="18" charset="0"/>
                        </a:rPr>
                        <m:t>=</m:t>
                      </m:r>
                      <m:f>
                        <m:fPr>
                          <m:ctrlPr>
                            <a:rPr lang="en-US" altLang="zh-CN" sz="1200" b="0" i="1" smtClean="0">
                              <a:latin typeface="Cambria Math" panose="02040503050406030204" pitchFamily="18" charset="0"/>
                            </a:rPr>
                          </m:ctrlPr>
                        </m:fPr>
                        <m:num>
                          <m:d>
                            <m:dPr>
                              <m:ctrlPr>
                                <a:rPr lang="en-US" altLang="zh-CN" sz="1200" b="0" i="1" smtClean="0">
                                  <a:latin typeface="Cambria Math" panose="02040503050406030204" pitchFamily="18" charset="0"/>
                                </a:rPr>
                              </m:ctrlPr>
                            </m:dPr>
                            <m:e>
                              <m:sSup>
                                <m:sSupPr>
                                  <m:ctrlPr>
                                    <a:rPr lang="en-US" altLang="zh-CN" sz="1200" b="0" i="1" smtClean="0">
                                      <a:latin typeface="Cambria Math" panose="02040503050406030204" pitchFamily="18" charset="0"/>
                                    </a:rPr>
                                  </m:ctrlPr>
                                </m:sSupPr>
                                <m:e>
                                  <m:r>
                                    <a:rPr lang="zh-CN" altLang="en-US" sz="1200" b="0" i="1" smtClean="0">
                                      <a:latin typeface="Cambria Math" panose="02040503050406030204" pitchFamily="18" charset="0"/>
                                    </a:rPr>
                                    <m:t>𝛼</m:t>
                                  </m:r>
                                </m:e>
                                <m:sup>
                                  <m:r>
                                    <a:rPr lang="en-US" altLang="zh-CN" sz="1200" b="0" i="1" smtClean="0">
                                      <a:latin typeface="Cambria Math" panose="02040503050406030204" pitchFamily="18" charset="0"/>
                                    </a:rPr>
                                    <m:t>2</m:t>
                                  </m:r>
                                </m:sup>
                              </m:sSup>
                              <m:r>
                                <a:rPr lang="en-US" altLang="zh-CN" sz="1200" b="0" i="1" smtClean="0">
                                  <a:latin typeface="Cambria Math" panose="02040503050406030204" pitchFamily="18" charset="0"/>
                                </a:rPr>
                                <m:t>+1</m:t>
                              </m:r>
                            </m:e>
                          </m:d>
                          <m:r>
                            <a:rPr lang="en-US" altLang="zh-CN" sz="1200" b="0" i="1" smtClean="0">
                              <a:latin typeface="Cambria Math" panose="02040503050406030204" pitchFamily="18" charset="0"/>
                              <a:ea typeface="Cambria Math" panose="02040503050406030204" pitchFamily="18" charset="0"/>
                            </a:rPr>
                            <m:t>×</m:t>
                          </m:r>
                          <m:r>
                            <a:rPr lang="en-US" altLang="zh-CN" sz="1200" b="0" i="1" smtClean="0">
                              <a:latin typeface="Cambria Math" panose="02040503050406030204" pitchFamily="18" charset="0"/>
                              <a:ea typeface="Cambria Math" panose="02040503050406030204" pitchFamily="18" charset="0"/>
                            </a:rPr>
                            <m:t>𝑝𝑟𝑒𝑐𝑖𝑠𝑖𝑜𝑛</m:t>
                          </m:r>
                          <m:r>
                            <a:rPr lang="en-US" altLang="zh-CN" sz="1200" b="0" i="1" smtClean="0">
                              <a:latin typeface="Cambria Math" panose="02040503050406030204" pitchFamily="18" charset="0"/>
                              <a:ea typeface="Cambria Math" panose="02040503050406030204" pitchFamily="18" charset="0"/>
                            </a:rPr>
                            <m:t>×</m:t>
                          </m:r>
                          <m:r>
                            <a:rPr lang="en-US" altLang="zh-CN" sz="1200" b="0" i="1" smtClean="0">
                              <a:latin typeface="Cambria Math" panose="02040503050406030204" pitchFamily="18" charset="0"/>
                              <a:ea typeface="Cambria Math" panose="02040503050406030204" pitchFamily="18" charset="0"/>
                            </a:rPr>
                            <m:t>𝑟𝑒𝑐𝑎𝑙𝑙</m:t>
                          </m:r>
                        </m:num>
                        <m:den>
                          <m:sSup>
                            <m:sSupPr>
                              <m:ctrlPr>
                                <a:rPr lang="en-US" altLang="zh-CN" sz="1200" b="0" i="1" smtClean="0">
                                  <a:latin typeface="Cambria Math" panose="02040503050406030204" pitchFamily="18" charset="0"/>
                                </a:rPr>
                              </m:ctrlPr>
                            </m:sSupPr>
                            <m:e>
                              <m:r>
                                <a:rPr lang="zh-CN" altLang="en-US" sz="1200" b="0" i="1" smtClean="0">
                                  <a:latin typeface="Cambria Math" panose="02040503050406030204" pitchFamily="18" charset="0"/>
                                </a:rPr>
                                <m:t>𝛼</m:t>
                              </m:r>
                            </m:e>
                            <m:sup>
                              <m:r>
                                <a:rPr lang="en-US" altLang="zh-CN" sz="1200" b="0" i="1" smtClean="0">
                                  <a:latin typeface="Cambria Math" panose="02040503050406030204" pitchFamily="18" charset="0"/>
                                </a:rPr>
                                <m:t>2</m:t>
                              </m:r>
                            </m:sup>
                          </m:sSup>
                          <m:r>
                            <a:rPr lang="en-US" altLang="zh-CN" sz="1200" b="0" i="1" smtClean="0">
                              <a:latin typeface="Cambria Math" panose="02040503050406030204" pitchFamily="18" charset="0"/>
                              <a:ea typeface="Cambria Math" panose="02040503050406030204" pitchFamily="18" charset="0"/>
                            </a:rPr>
                            <m:t>×</m:t>
                          </m:r>
                          <m:d>
                            <m:dPr>
                              <m:ctrlPr>
                                <a:rPr lang="en-US" altLang="zh-CN" sz="1200" b="0" i="1" smtClean="0">
                                  <a:latin typeface="Cambria Math" panose="02040503050406030204" pitchFamily="18" charset="0"/>
                                  <a:ea typeface="Cambria Math" panose="02040503050406030204" pitchFamily="18" charset="0"/>
                                </a:rPr>
                              </m:ctrlPr>
                            </m:dPr>
                            <m:e>
                              <m:r>
                                <a:rPr lang="en-US" altLang="zh-CN" sz="1200" b="0" i="1" smtClean="0">
                                  <a:latin typeface="Cambria Math" panose="02040503050406030204" pitchFamily="18" charset="0"/>
                                  <a:ea typeface="Cambria Math" panose="02040503050406030204" pitchFamily="18" charset="0"/>
                                </a:rPr>
                                <m:t>𝑝𝑟𝑒𝑐𝑖𝑠𝑖𝑜𝑛</m:t>
                              </m:r>
                              <m:r>
                                <a:rPr lang="en-US" altLang="zh-CN" sz="1200" b="0" i="1" smtClean="0">
                                  <a:latin typeface="Cambria Math" panose="02040503050406030204" pitchFamily="18" charset="0"/>
                                  <a:ea typeface="Cambria Math" panose="02040503050406030204" pitchFamily="18" charset="0"/>
                                </a:rPr>
                                <m:t>+</m:t>
                              </m:r>
                              <m:r>
                                <a:rPr lang="en-US" altLang="zh-CN" sz="1200" b="0" i="1" smtClean="0">
                                  <a:latin typeface="Cambria Math" panose="02040503050406030204" pitchFamily="18" charset="0"/>
                                  <a:ea typeface="Cambria Math" panose="02040503050406030204" pitchFamily="18" charset="0"/>
                                </a:rPr>
                                <m:t>𝑟𝑒𝑐𝑎𝑙𝑙</m:t>
                              </m:r>
                            </m:e>
                          </m:d>
                        </m:den>
                      </m:f>
                    </m:oMath>
                  </m:oMathPara>
                </a14:m>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它用于衡量二分类模型的精确度，最大值是</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，最小值是</a:t>
                </a:r>
                <a:r>
                  <a:rPr lang="en-US" altLang="zh-CN" sz="1200" b="0" i="0" kern="1200" dirty="0" smtClean="0">
                    <a:solidFill>
                      <a:schemeClr val="tx1"/>
                    </a:solidFill>
                    <a:effectLst/>
                    <a:latin typeface="+mn-lt"/>
                    <a:ea typeface="+mn-ea"/>
                    <a:cs typeface="+mn-cs"/>
                  </a:rPr>
                  <a:t>0</a:t>
                </a:r>
                <a:r>
                  <a:rPr lang="zh-CN" altLang="en-US" sz="1200" b="0" i="0" kern="1200" dirty="0" smtClean="0">
                    <a:solidFill>
                      <a:schemeClr val="tx1"/>
                    </a:solidFill>
                    <a:effectLst/>
                    <a:latin typeface="+mn-lt"/>
                    <a:ea typeface="+mn-ea"/>
                    <a:cs typeface="+mn-cs"/>
                  </a:rPr>
                  <a:t>。该值越接近</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，模型的精确度越高，反之越差。</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在确定参数</a:t>
                </a:r>
                <a14:m>
                  <m:oMath xmlns:m="http://schemas.openxmlformats.org/officeDocument/2006/math">
                    <m:r>
                      <a:rPr lang="zh-CN" altLang="en-US" i="1" dirty="0" smtClean="0">
                        <a:latin typeface="Cambria Math" panose="02040503050406030204" pitchFamily="18" charset="0"/>
                      </a:rPr>
                      <m:t>𝛼</m:t>
                    </m:r>
                  </m:oMath>
                </a14:m>
                <a:r>
                  <a:rPr lang="zh-CN" altLang="en-US" sz="1200" b="0" i="0" kern="1200" dirty="0">
                    <a:solidFill>
                      <a:schemeClr val="tx1"/>
                    </a:solidFill>
                    <a:effectLst/>
                    <a:latin typeface="+mn-lt"/>
                    <a:ea typeface="+mn-ea"/>
                    <a:cs typeface="+mn-cs"/>
                  </a:rPr>
                  <a:t>的值的时候，如果我们越关注</a:t>
                </a:r>
                <a:r>
                  <a:rPr lang="en-US" altLang="zh-CN" sz="1200" b="0" i="0" kern="1200" dirty="0">
                    <a:solidFill>
                      <a:schemeClr val="tx1"/>
                    </a:solidFill>
                    <a:effectLst/>
                    <a:latin typeface="+mn-lt"/>
                    <a:ea typeface="+mn-ea"/>
                    <a:cs typeface="+mn-cs"/>
                  </a:rPr>
                  <a:t>recall</a:t>
                </a:r>
                <a:r>
                  <a:rPr lang="zh-CN" altLang="en-US" sz="1200" b="0" i="0" kern="1200" dirty="0">
                    <a:solidFill>
                      <a:schemeClr val="tx1"/>
                    </a:solidFill>
                    <a:effectLst/>
                    <a:latin typeface="+mn-lt"/>
                    <a:ea typeface="+mn-ea"/>
                    <a:cs typeface="+mn-cs"/>
                  </a:rPr>
                  <a:t>（相比于</a:t>
                </a:r>
                <a:r>
                  <a:rPr lang="en-US" altLang="zh-CN" sz="1200" b="0" i="0" kern="1200" dirty="0">
                    <a:solidFill>
                      <a:schemeClr val="tx1"/>
                    </a:solidFill>
                    <a:effectLst/>
                    <a:latin typeface="+mn-lt"/>
                    <a:ea typeface="+mn-ea"/>
                    <a:cs typeface="+mn-cs"/>
                  </a:rPr>
                  <a:t>precision</a:t>
                </a:r>
                <a:r>
                  <a:rPr lang="zh-CN" altLang="en-US" sz="1200" b="0" i="0" kern="1200" dirty="0">
                    <a:solidFill>
                      <a:schemeClr val="tx1"/>
                    </a:solidFill>
                    <a:effectLst/>
                    <a:latin typeface="+mn-lt"/>
                    <a:ea typeface="+mn-ea"/>
                    <a:cs typeface="+mn-cs"/>
                  </a:rPr>
                  <a:t>），我们要选择越大的</a:t>
                </a:r>
                <a14:m>
                  <m:oMath xmlns:m="http://schemas.openxmlformats.org/officeDocument/2006/math">
                    <m:r>
                      <a:rPr lang="zh-CN" altLang="en-US" i="1" dirty="0" smtClean="0">
                        <a:latin typeface="Cambria Math" panose="02040503050406030204" pitchFamily="18" charset="0"/>
                      </a:rPr>
                      <m:t>𝛼</m:t>
                    </m:r>
                  </m:oMath>
                </a14:m>
                <a:r>
                  <a:rPr lang="zh-CN" altLang="el-GR"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例如，</a:t>
                </a:r>
                <a:r>
                  <a:rPr lang="en-US" altLang="zh-CN" sz="1200" b="0" i="0" kern="1200" dirty="0">
                    <a:solidFill>
                      <a:schemeClr val="tx1"/>
                    </a:solidFill>
                    <a:effectLst/>
                    <a:latin typeface="+mn-lt"/>
                    <a:ea typeface="+mn-ea"/>
                    <a:cs typeface="+mn-cs"/>
                  </a:rPr>
                  <a:t>F2 score</a:t>
                </a:r>
                <a:r>
                  <a:rPr lang="zh-CN" altLang="en-US" sz="1200" b="0" i="0" kern="1200" dirty="0">
                    <a:solidFill>
                      <a:schemeClr val="tx1"/>
                    </a:solidFill>
                    <a:effectLst/>
                    <a:latin typeface="+mn-lt"/>
                    <a:ea typeface="+mn-ea"/>
                    <a:cs typeface="+mn-cs"/>
                  </a:rPr>
                  <a:t>相比于</a:t>
                </a:r>
                <a:r>
                  <a:rPr lang="en-US" altLang="zh-CN" sz="1200" b="0" i="0" kern="1200" dirty="0">
                    <a:solidFill>
                      <a:schemeClr val="tx1"/>
                    </a:solidFill>
                    <a:effectLst/>
                    <a:latin typeface="+mn-lt"/>
                    <a:ea typeface="+mn-ea"/>
                    <a:cs typeface="+mn-cs"/>
                  </a:rPr>
                  <a:t>F1 score</a:t>
                </a:r>
                <a:r>
                  <a:rPr lang="zh-CN" altLang="en-US" sz="1200" b="0" i="0" kern="1200" dirty="0">
                    <a:solidFill>
                      <a:schemeClr val="tx1"/>
                    </a:solidFill>
                    <a:effectLst/>
                    <a:latin typeface="+mn-lt"/>
                    <a:ea typeface="+mn-ea"/>
                    <a:cs typeface="+mn-cs"/>
                  </a:rPr>
                  <a:t>，赋予了</a:t>
                </a:r>
                <a:r>
                  <a:rPr lang="en-US" altLang="zh-CN" sz="1200" b="0" i="0" kern="1200" dirty="0">
                    <a:solidFill>
                      <a:schemeClr val="tx1"/>
                    </a:solidFill>
                    <a:effectLst/>
                    <a:latin typeface="+mn-lt"/>
                    <a:ea typeface="+mn-ea"/>
                    <a:cs typeface="+mn-cs"/>
                  </a:rPr>
                  <a:t>recall</a:t>
                </a:r>
                <a:r>
                  <a:rPr lang="zh-CN" altLang="en-US" sz="1200" b="0" i="0" kern="1200" dirty="0">
                    <a:solidFill>
                      <a:schemeClr val="tx1"/>
                    </a:solidFill>
                    <a:effectLst/>
                    <a:latin typeface="+mn-lt"/>
                    <a:ea typeface="+mn-ea"/>
                    <a:cs typeface="+mn-cs"/>
                  </a:rPr>
                  <a:t>两倍的重要性</a:t>
                </a:r>
                <a:r>
                  <a:rPr lang="zh-CN" altLang="en-US" sz="1200" b="0" i="0" kern="1200" dirty="0" smtClean="0">
                    <a:solidFill>
                      <a:schemeClr val="tx1"/>
                    </a:solidFill>
                    <a:effectLst/>
                    <a:latin typeface="+mn-lt"/>
                    <a:ea typeface="+mn-ea"/>
                    <a:cs typeface="+mn-cs"/>
                  </a:rPr>
                  <a:t>。</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当参数</a:t>
                </a:r>
                <a:r>
                  <a:rPr lang="en-US" altLang="zh-CN" sz="1200" b="0" i="0" kern="1200" dirty="0" smtClean="0">
                    <a:solidFill>
                      <a:schemeClr val="tx1"/>
                    </a:solidFill>
                    <a:effectLst/>
                    <a:latin typeface="+mn-lt"/>
                    <a:ea typeface="+mn-ea"/>
                    <a:cs typeface="+mn-cs"/>
                  </a:rPr>
                  <a:t>α=1</a:t>
                </a:r>
                <a:r>
                  <a:rPr lang="zh-CN" altLang="en-US" sz="1200" b="0" i="0" kern="1200" dirty="0" smtClean="0">
                    <a:solidFill>
                      <a:schemeClr val="tx1"/>
                    </a:solidFill>
                    <a:effectLst/>
                    <a:latin typeface="+mn-lt"/>
                    <a:ea typeface="+mn-ea"/>
                    <a:cs typeface="+mn-cs"/>
                  </a:rPr>
                  <a:t>时，就是最常见的</a:t>
                </a:r>
                <a:r>
                  <a:rPr lang="en-US" altLang="zh-CN" sz="1200" b="0" i="0" kern="1200" dirty="0" smtClean="0">
                    <a:solidFill>
                      <a:schemeClr val="tx1"/>
                    </a:solidFill>
                    <a:effectLst/>
                    <a:latin typeface="+mn-lt"/>
                    <a:ea typeface="+mn-ea"/>
                    <a:cs typeface="+mn-cs"/>
                  </a:rPr>
                  <a:t>F1</a:t>
                </a:r>
                <a:r>
                  <a:rPr lang="zh-CN" altLang="en-US" sz="1200" b="0" i="0" kern="1200" dirty="0" smtClean="0">
                    <a:solidFill>
                      <a:schemeClr val="tx1"/>
                    </a:solidFill>
                    <a:effectLst/>
                    <a:latin typeface="+mn-lt"/>
                    <a:ea typeface="+mn-ea"/>
                    <a:cs typeface="+mn-cs"/>
                  </a:rPr>
                  <a:t>，也即</a:t>
                </a:r>
                <a14:m>
                  <m:oMath xmlns:m="http://schemas.openxmlformats.org/officeDocument/2006/math">
                    <m:sSub>
                      <m:sSubPr>
                        <m:ctrlPr>
                          <a:rPr lang="en-US" altLang="zh-CN" sz="1200" i="1" smtClean="0">
                            <a:latin typeface="Cambria Math" panose="02040503050406030204" pitchFamily="18" charset="0"/>
                          </a:rPr>
                        </m:ctrlPr>
                      </m:sSubPr>
                      <m:e>
                        <m:r>
                          <a:rPr lang="en-US" altLang="zh-CN" sz="1200" i="1">
                            <a:latin typeface="Cambria Math" panose="02040503050406030204" pitchFamily="18" charset="0"/>
                          </a:rPr>
                          <m:t>𝐹</m:t>
                        </m:r>
                      </m:e>
                      <m:sub>
                        <m:r>
                          <a:rPr lang="en-US" altLang="zh-CN" sz="1200" b="0" i="1" smtClean="0">
                            <a:latin typeface="Cambria Math" panose="02040503050406030204" pitchFamily="18" charset="0"/>
                          </a:rPr>
                          <m:t>1</m:t>
                        </m:r>
                      </m:sub>
                    </m:sSub>
                    <m:r>
                      <a:rPr lang="en-US" altLang="zh-CN" sz="1200" i="1">
                        <a:latin typeface="Cambria Math" panose="02040503050406030204" pitchFamily="18" charset="0"/>
                      </a:rPr>
                      <m:t>=</m:t>
                    </m:r>
                    <m:r>
                      <a:rPr lang="en-US" altLang="zh-CN" sz="1200" b="0" i="1" smtClean="0">
                        <a:latin typeface="Cambria Math" panose="02040503050406030204" pitchFamily="18" charset="0"/>
                      </a:rPr>
                      <m:t>2</m:t>
                    </m:r>
                    <m:r>
                      <a:rPr lang="en-US" altLang="zh-CN" sz="1200" b="0" i="1" smtClean="0">
                        <a:latin typeface="Cambria Math" panose="02040503050406030204" pitchFamily="18" charset="0"/>
                        <a:ea typeface="Cambria Math" panose="02040503050406030204" pitchFamily="18" charset="0"/>
                      </a:rPr>
                      <m:t>×</m:t>
                    </m:r>
                    <m:f>
                      <m:fPr>
                        <m:ctrlPr>
                          <a:rPr lang="en-US" altLang="zh-CN" sz="1200" i="1">
                            <a:latin typeface="Cambria Math" panose="02040503050406030204" pitchFamily="18" charset="0"/>
                          </a:rPr>
                        </m:ctrlPr>
                      </m:fPr>
                      <m:num>
                        <m:r>
                          <a:rPr lang="en-US" altLang="zh-CN" sz="1200" i="1">
                            <a:latin typeface="Cambria Math" panose="02040503050406030204" pitchFamily="18" charset="0"/>
                            <a:ea typeface="Cambria Math" panose="02040503050406030204" pitchFamily="18" charset="0"/>
                          </a:rPr>
                          <m:t>𝑝𝑟𝑒𝑐𝑖𝑠𝑖𝑜𝑛</m:t>
                        </m:r>
                        <m:r>
                          <a:rPr lang="en-US" altLang="zh-CN" sz="1200" i="1">
                            <a:latin typeface="Cambria Math" panose="02040503050406030204" pitchFamily="18" charset="0"/>
                            <a:ea typeface="Cambria Math" panose="02040503050406030204" pitchFamily="18" charset="0"/>
                          </a:rPr>
                          <m:t>×</m:t>
                        </m:r>
                        <m:r>
                          <a:rPr lang="en-US" altLang="zh-CN" sz="1200" i="1">
                            <a:latin typeface="Cambria Math" panose="02040503050406030204" pitchFamily="18" charset="0"/>
                            <a:ea typeface="Cambria Math" panose="02040503050406030204" pitchFamily="18" charset="0"/>
                          </a:rPr>
                          <m:t>𝑟𝑒𝑐𝑎𝑙𝑙</m:t>
                        </m:r>
                      </m:num>
                      <m:den>
                        <m:r>
                          <a:rPr lang="en-US" altLang="zh-CN" sz="1200" i="1">
                            <a:latin typeface="Cambria Math" panose="02040503050406030204" pitchFamily="18" charset="0"/>
                            <a:ea typeface="Cambria Math" panose="02040503050406030204" pitchFamily="18" charset="0"/>
                          </a:rPr>
                          <m:t>𝑝𝑟𝑒𝑐𝑖𝑠𝑖𝑜𝑛</m:t>
                        </m:r>
                        <m:r>
                          <a:rPr lang="en-US" altLang="zh-CN" sz="1200" i="1">
                            <a:latin typeface="Cambria Math" panose="02040503050406030204" pitchFamily="18" charset="0"/>
                            <a:ea typeface="Cambria Math" panose="02040503050406030204" pitchFamily="18" charset="0"/>
                          </a:rPr>
                          <m:t>+</m:t>
                        </m:r>
                        <m:r>
                          <a:rPr lang="en-US" altLang="zh-CN" sz="1200" i="1">
                            <a:latin typeface="Cambria Math" panose="02040503050406030204" pitchFamily="18" charset="0"/>
                            <a:ea typeface="Cambria Math" panose="02040503050406030204" pitchFamily="18" charset="0"/>
                          </a:rPr>
                          <m:t>𝑟𝑒𝑐𝑎𝑙𝑙</m:t>
                        </m:r>
                      </m:den>
                    </m:f>
                    <m:r>
                      <a:rPr lang="zh-CN" altLang="en-US" sz="1200" i="1" smtClean="0">
                        <a:latin typeface="Cambria Math" panose="02040503050406030204" pitchFamily="18" charset="0"/>
                        <a:ea typeface="Cambria Math" panose="02040503050406030204" pitchFamily="18" charset="0"/>
                      </a:rPr>
                      <m:t>。</m:t>
                    </m:r>
                  </m:oMath>
                </a14:m>
                <a:r>
                  <a:rPr lang="en-US" altLang="zh-CN" sz="1200" b="0" i="0" kern="1200" dirty="0" smtClean="0">
                    <a:solidFill>
                      <a:schemeClr val="tx1"/>
                    </a:solidFill>
                    <a:effectLst/>
                    <a:latin typeface="+mn-lt"/>
                    <a:ea typeface="+mn-ea"/>
                    <a:cs typeface="+mn-cs"/>
                  </a:rPr>
                  <a:t>F1 score</a:t>
                </a:r>
                <a:r>
                  <a:rPr lang="zh-CN" altLang="en-US" sz="1200" b="0" i="0" kern="1200" dirty="0" smtClean="0">
                    <a:solidFill>
                      <a:schemeClr val="tx1"/>
                    </a:solidFill>
                    <a:effectLst/>
                    <a:latin typeface="+mn-lt"/>
                    <a:ea typeface="+mn-ea"/>
                    <a:cs typeface="+mn-cs"/>
                  </a:rPr>
                  <a:t>综合考虑了</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两方面的因素，做到了对于两者的调和，即：既要“求精”也要“求全”，做到不偏科。使用</a:t>
                </a:r>
                <a:r>
                  <a:rPr lang="en-US" altLang="zh-CN" sz="1200" b="0" i="0" kern="1200" dirty="0" smtClean="0">
                    <a:solidFill>
                      <a:schemeClr val="tx1"/>
                    </a:solidFill>
                    <a:effectLst/>
                    <a:latin typeface="+mn-lt"/>
                    <a:ea typeface="+mn-ea"/>
                    <a:cs typeface="+mn-cs"/>
                  </a:rPr>
                  <a:t>F1 score</a:t>
                </a:r>
                <a:r>
                  <a:rPr lang="zh-CN" altLang="en-US" sz="1200" b="0" i="0" kern="1200" dirty="0" smtClean="0">
                    <a:solidFill>
                      <a:schemeClr val="tx1"/>
                    </a:solidFill>
                    <a:effectLst/>
                    <a:latin typeface="+mn-lt"/>
                    <a:ea typeface="+mn-ea"/>
                    <a:cs typeface="+mn-cs"/>
                  </a:rPr>
                  <a:t>作为评价指标，可以避免上述例子中的极端情况出现。绝大多数情况下，我们可以直接用</a:t>
                </a:r>
                <a:r>
                  <a:rPr lang="en-US" altLang="zh-CN" sz="1200" b="0" i="0" kern="1200" dirty="0" smtClean="0">
                    <a:solidFill>
                      <a:schemeClr val="tx1"/>
                    </a:solidFill>
                    <a:effectLst/>
                    <a:latin typeface="+mn-lt"/>
                    <a:ea typeface="+mn-ea"/>
                    <a:cs typeface="+mn-cs"/>
                  </a:rPr>
                  <a:t>F1 score</a:t>
                </a:r>
                <a:r>
                  <a:rPr lang="zh-CN" altLang="en-US" sz="1200" b="0" i="0" kern="1200" dirty="0" smtClean="0">
                    <a:solidFill>
                      <a:schemeClr val="tx1"/>
                    </a:solidFill>
                    <a:effectLst/>
                    <a:latin typeface="+mn-lt"/>
                    <a:ea typeface="+mn-ea"/>
                    <a:cs typeface="+mn-cs"/>
                  </a:rPr>
                  <a:t>来评价和选择模型。但如果在上面提到的“两类错误的成本”差距比较大的时候，也可以结合</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的其中一个做参考。注意，</a:t>
                </a:r>
                <a:r>
                  <a:rPr lang="en-US" altLang="zh-CN" sz="1200" b="0" i="0" kern="1200" dirty="0" smtClean="0">
                    <a:solidFill>
                      <a:schemeClr val="tx1"/>
                    </a:solidFill>
                    <a:effectLst/>
                    <a:latin typeface="+mn-lt"/>
                    <a:ea typeface="+mn-ea"/>
                    <a:cs typeface="+mn-cs"/>
                  </a:rPr>
                  <a:t>F1 score</a:t>
                </a:r>
                <a:r>
                  <a:rPr lang="zh-CN" altLang="en-US" sz="1200" b="0" i="0" kern="1200" dirty="0" smtClean="0">
                    <a:solidFill>
                      <a:schemeClr val="tx1"/>
                    </a:solidFill>
                    <a:effectLst/>
                    <a:latin typeface="+mn-lt"/>
                    <a:ea typeface="+mn-ea"/>
                    <a:cs typeface="+mn-cs"/>
                  </a:rPr>
                  <a:t>衡量的是模型寻找正样本的能力，因为</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都是衡量寻找正样本的指标。</a:t>
                </a:r>
              </a:p>
              <a:p>
                <a:endParaRPr lang="zh-CN" altLang="en-US" sz="1200" b="0" i="0" kern="1200" dirty="0" smtClean="0">
                  <a:solidFill>
                    <a:schemeClr val="tx1"/>
                  </a:solidFill>
                  <a:effectLst/>
                  <a:latin typeface="+mn-lt"/>
                  <a:ea typeface="+mn-ea"/>
                  <a:cs typeface="+mn-cs"/>
                </a:endParaRPr>
              </a:p>
              <a:p>
                <a:endParaRPr lang="zh-CN" altLang="en-US" sz="1200" b="0" i="0" kern="1200" dirty="0" smtClean="0">
                  <a:solidFill>
                    <a:schemeClr val="tx1"/>
                  </a:solidFill>
                  <a:effectLst/>
                  <a:latin typeface="+mn-lt"/>
                  <a:ea typeface="+mn-ea"/>
                  <a:cs typeface="+mn-cs"/>
                </a:endParaRPr>
              </a:p>
              <a:p>
                <a:endParaRPr lang="zh-CN" altLang="en-US" dirty="0"/>
              </a:p>
            </p:txBody>
          </p:sp>
        </mc:Choice>
        <mc:Fallback xmlns="">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听了之前的介绍，我们当然是希望</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都要高，但这两者很多时候是不可兼得的。</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例如，我们有</a:t>
                </a:r>
                <a:r>
                  <a:rPr lang="en-US" altLang="zh-CN" sz="1200" b="0" i="0" kern="1200" dirty="0" smtClean="0">
                    <a:solidFill>
                      <a:schemeClr val="tx1"/>
                    </a:solidFill>
                    <a:effectLst/>
                    <a:latin typeface="+mn-lt"/>
                    <a:ea typeface="+mn-ea"/>
                    <a:cs typeface="+mn-cs"/>
                  </a:rPr>
                  <a:t>1000</a:t>
                </a:r>
                <a:r>
                  <a:rPr lang="zh-CN" altLang="en-US" sz="1200" b="0" i="0" kern="1200" dirty="0" smtClean="0">
                    <a:solidFill>
                      <a:schemeClr val="tx1"/>
                    </a:solidFill>
                    <a:effectLst/>
                    <a:latin typeface="+mn-lt"/>
                    <a:ea typeface="+mn-ea"/>
                    <a:cs typeface="+mn-cs"/>
                  </a:rPr>
                  <a:t>封邮件，其中垃圾邮件有</a:t>
                </a:r>
                <a:r>
                  <a:rPr lang="en-US" altLang="zh-CN" sz="1200" b="0" i="0" kern="1200" dirty="0" smtClean="0">
                    <a:solidFill>
                      <a:schemeClr val="tx1"/>
                    </a:solidFill>
                    <a:effectLst/>
                    <a:latin typeface="+mn-lt"/>
                    <a:ea typeface="+mn-ea"/>
                    <a:cs typeface="+mn-cs"/>
                  </a:rPr>
                  <a:t>100</a:t>
                </a:r>
                <a:r>
                  <a:rPr lang="zh-CN" altLang="en-US" sz="1200" b="0" i="0" kern="1200" dirty="0" smtClean="0">
                    <a:solidFill>
                      <a:schemeClr val="tx1"/>
                    </a:solidFill>
                    <a:effectLst/>
                    <a:latin typeface="+mn-lt"/>
                    <a:ea typeface="+mn-ea"/>
                    <a:cs typeface="+mn-cs"/>
                  </a:rPr>
                  <a:t>封，仍然是希望预测出其中的垃圾邮件。</a:t>
                </a:r>
              </a:p>
              <a:p>
                <a:r>
                  <a:rPr lang="zh-CN" altLang="en-US" sz="1200" b="0" i="0" kern="1200" dirty="0" smtClean="0">
                    <a:solidFill>
                      <a:schemeClr val="tx1"/>
                    </a:solidFill>
                    <a:effectLst/>
                    <a:latin typeface="+mn-lt"/>
                    <a:ea typeface="+mn-ea"/>
                    <a:cs typeface="+mn-cs"/>
                  </a:rPr>
                  <a:t>如果我们希望</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高，那么在极端情况下，我们只把最最可能是垃圾邮件的那一封邮件，也就是</a:t>
                </a:r>
                <a:r>
                  <a:rPr lang="en-US" altLang="zh-CN" sz="1200" b="0" i="0" kern="1200" dirty="0" smtClean="0">
                    <a:solidFill>
                      <a:schemeClr val="tx1"/>
                    </a:solidFill>
                    <a:effectLst/>
                    <a:latin typeface="+mn-lt"/>
                    <a:ea typeface="+mn-ea"/>
                    <a:cs typeface="+mn-cs"/>
                  </a:rPr>
                  <a:t>No.1</a:t>
                </a:r>
                <a:r>
                  <a:rPr lang="zh-CN" altLang="en-US" sz="1200" b="0" i="0" kern="1200" dirty="0" smtClean="0">
                    <a:solidFill>
                      <a:schemeClr val="tx1"/>
                    </a:solidFill>
                    <a:effectLst/>
                    <a:latin typeface="+mn-lt"/>
                    <a:ea typeface="+mn-ea"/>
                    <a:cs typeface="+mn-cs"/>
                  </a:rPr>
                  <a:t>的那一封挑出来。在这种“千里选一”的情况下，这一封肯定是垃圾邮件，这时候</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高达</a:t>
                </a:r>
                <a:r>
                  <a:rPr lang="en-US" altLang="zh-CN" sz="1200" b="0" i="0" kern="1200" dirty="0" smtClean="0">
                    <a:solidFill>
                      <a:schemeClr val="tx1"/>
                    </a:solidFill>
                    <a:effectLst/>
                    <a:latin typeface="+mn-lt"/>
                    <a:ea typeface="+mn-ea"/>
                    <a:cs typeface="+mn-cs"/>
                  </a:rPr>
                  <a:t>100%</a:t>
                </a:r>
                <a:r>
                  <a:rPr lang="zh-CN" altLang="en-US" sz="1200" b="0" i="0" kern="1200" dirty="0" smtClean="0">
                    <a:solidFill>
                      <a:schemeClr val="tx1"/>
                    </a:solidFill>
                    <a:effectLst/>
                    <a:latin typeface="+mn-lt"/>
                    <a:ea typeface="+mn-ea"/>
                    <a:cs typeface="+mn-cs"/>
                  </a:rPr>
                  <a:t>。但是，</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相应的就会非常低就只有</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a:t>
                </a:r>
              </a:p>
              <a:p>
                <a:r>
                  <a:rPr lang="zh-CN" altLang="en-US" sz="1200" b="0" i="0" kern="1200" dirty="0" smtClean="0">
                    <a:solidFill>
                      <a:schemeClr val="tx1"/>
                    </a:solidFill>
                    <a:effectLst/>
                    <a:latin typeface="+mn-lt"/>
                    <a:ea typeface="+mn-ea"/>
                    <a:cs typeface="+mn-cs"/>
                  </a:rPr>
                  <a:t>如果我们希望</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高，那么极端情况下，我们只要无脑把所有的样本都预测为垃圾邮件，那么此时我们的</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就可以高达</a:t>
                </a:r>
                <a:r>
                  <a:rPr lang="en-US" altLang="zh-CN" sz="1200" b="0" i="0" kern="1200" dirty="0" smtClean="0">
                    <a:solidFill>
                      <a:schemeClr val="tx1"/>
                    </a:solidFill>
                    <a:effectLst/>
                    <a:latin typeface="+mn-lt"/>
                    <a:ea typeface="+mn-ea"/>
                    <a:cs typeface="+mn-cs"/>
                  </a:rPr>
                  <a:t>100%</a:t>
                </a:r>
                <a:r>
                  <a:rPr lang="zh-CN" altLang="en-US" sz="1200" b="0" i="0" kern="1200" dirty="0" smtClean="0">
                    <a:solidFill>
                      <a:schemeClr val="tx1"/>
                    </a:solidFill>
                    <a:effectLst/>
                    <a:latin typeface="+mn-lt"/>
                    <a:ea typeface="+mn-ea"/>
                    <a:cs typeface="+mn-cs"/>
                  </a:rPr>
                  <a:t>，但是此时</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相应的只有</a:t>
                </a:r>
                <a:r>
                  <a:rPr lang="en-US" altLang="zh-CN" sz="1200" b="0" i="0" kern="1200" dirty="0" smtClean="0">
                    <a:solidFill>
                      <a:schemeClr val="tx1"/>
                    </a:solidFill>
                    <a:effectLst/>
                    <a:latin typeface="+mn-lt"/>
                    <a:ea typeface="+mn-ea"/>
                    <a:cs typeface="+mn-cs"/>
                  </a:rPr>
                  <a:t>10%</a:t>
                </a:r>
                <a:r>
                  <a:rPr lang="zh-CN" altLang="en-US" sz="1200" b="0" i="0" kern="1200" dirty="0" smtClean="0">
                    <a:solidFill>
                      <a:schemeClr val="tx1"/>
                    </a:solidFill>
                    <a:effectLst/>
                    <a:latin typeface="+mn-lt"/>
                    <a:ea typeface="+mn-ea"/>
                    <a:cs typeface="+mn-cs"/>
                  </a:rPr>
                  <a:t>。我们发现，如果仅仅看</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或者</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中的一个，有可能会在不知情的情况下走向极端；而</a:t>
                </a:r>
                <a:r>
                  <a:rPr lang="en-US" altLang="zh-CN" sz="1200" b="0" i="0" kern="1200" dirty="0" smtClean="0">
                    <a:solidFill>
                      <a:schemeClr val="tx1"/>
                    </a:solidFill>
                    <a:effectLst/>
                    <a:latin typeface="+mn-lt"/>
                    <a:ea typeface="+mn-ea"/>
                    <a:cs typeface="+mn-cs"/>
                  </a:rPr>
                  <a:t>Accuracy</a:t>
                </a:r>
                <a:r>
                  <a:rPr lang="zh-CN" altLang="en-US" sz="1200" b="0" i="0" kern="1200" dirty="0" smtClean="0">
                    <a:solidFill>
                      <a:schemeClr val="tx1"/>
                    </a:solidFill>
                    <a:effectLst/>
                    <a:latin typeface="+mn-lt"/>
                    <a:ea typeface="+mn-ea"/>
                    <a:cs typeface="+mn-cs"/>
                  </a:rPr>
                  <a:t>又会受到不平衡样本的影响。那有没有一个万能指标，既能兼顾</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两个方面，又不会受到不平衡样本的影响呢？答案是有的。</a:t>
                </a:r>
              </a:p>
              <a:p>
                <a:r>
                  <a:rPr lang="zh-CN" altLang="en-US" sz="1200" b="0" i="0" kern="1200" dirty="0" smtClean="0">
                    <a:solidFill>
                      <a:schemeClr val="tx1"/>
                    </a:solidFill>
                    <a:effectLst/>
                    <a:latin typeface="+mn-lt"/>
                    <a:ea typeface="+mn-ea"/>
                    <a:cs typeface="+mn-cs"/>
                  </a:rPr>
                  <a:t>此时就要用到我们的</a:t>
                </a:r>
                <a:r>
                  <a:rPr lang="en-US" altLang="zh-CN" sz="1200" b="0" i="0" kern="1200" dirty="0" smtClean="0">
                    <a:solidFill>
                      <a:schemeClr val="tx1"/>
                    </a:solidFill>
                    <a:effectLst/>
                    <a:latin typeface="+mn-lt"/>
                    <a:ea typeface="+mn-ea"/>
                    <a:cs typeface="+mn-cs"/>
                  </a:rPr>
                  <a:t>F-Measure</a:t>
                </a:r>
                <a:r>
                  <a:rPr lang="zh-CN" altLang="en-US" sz="1200" b="1"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F-Measure</a:t>
                </a:r>
                <a:r>
                  <a:rPr lang="zh-CN" altLang="en-US" sz="1200" b="0" i="0" kern="1200" dirty="0" smtClean="0">
                    <a:solidFill>
                      <a:schemeClr val="tx1"/>
                    </a:solidFill>
                    <a:effectLst/>
                    <a:latin typeface="+mn-lt"/>
                    <a:ea typeface="+mn-ea"/>
                    <a:cs typeface="+mn-cs"/>
                  </a:rPr>
                  <a:t>是</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的加权调和平均：</a:t>
                </a:r>
                <a:endParaRPr lang="en-US" altLang="zh-CN" sz="1200" b="0" i="0" kern="1200" dirty="0" smtClean="0">
                  <a:solidFill>
                    <a:schemeClr val="tx1"/>
                  </a:solidFill>
                  <a:effectLst/>
                  <a:latin typeface="+mn-lt"/>
                  <a:ea typeface="+mn-ea"/>
                  <a:cs typeface="+mn-cs"/>
                </a:endParaRPr>
              </a:p>
              <a:p>
                <a:r>
                  <a:rPr lang="en-US" altLang="zh-CN" sz="1200" b="0" i="0" smtClean="0">
                    <a:latin typeface="Cambria Math" panose="02040503050406030204" pitchFamily="18" charset="0"/>
                  </a:rPr>
                  <a:t>𝐹</a:t>
                </a:r>
                <a:r>
                  <a:rPr lang="en-US" altLang="zh-CN" sz="1200" b="0" i="0" smtClean="0">
                    <a:latin typeface="Cambria Math" panose="02040503050406030204" pitchFamily="18" charset="0"/>
                  </a:rPr>
                  <a:t>_</a:t>
                </a:r>
                <a:r>
                  <a:rPr lang="zh-CN" altLang="en-US" sz="1200" b="0" i="0" smtClean="0">
                    <a:latin typeface="Cambria Math" panose="02040503050406030204" pitchFamily="18" charset="0"/>
                  </a:rPr>
                  <a:t>𝛼</a:t>
                </a:r>
                <a:r>
                  <a:rPr lang="en-US" altLang="zh-CN" sz="1200" b="0" i="0" smtClean="0">
                    <a:latin typeface="Cambria Math" panose="02040503050406030204" pitchFamily="18" charset="0"/>
                  </a:rPr>
                  <a:t>=((</a:t>
                </a:r>
                <a:r>
                  <a:rPr lang="zh-CN" altLang="en-US" sz="1200" b="0" i="0" smtClean="0">
                    <a:latin typeface="Cambria Math" panose="02040503050406030204" pitchFamily="18" charset="0"/>
                  </a:rPr>
                  <a:t>𝛼</a:t>
                </a:r>
                <a:r>
                  <a:rPr lang="en-US" altLang="zh-CN" sz="1200" b="0" i="0" smtClean="0">
                    <a:latin typeface="Cambria Math" panose="02040503050406030204" pitchFamily="18" charset="0"/>
                  </a:rPr>
                  <a:t>^2+1)</a:t>
                </a:r>
                <a:r>
                  <a:rPr lang="en-US" altLang="zh-CN" sz="1200" b="0" i="0" smtClean="0">
                    <a:latin typeface="Cambria Math" panose="02040503050406030204" pitchFamily="18" charset="0"/>
                    <a:ea typeface="Cambria Math" panose="02040503050406030204" pitchFamily="18" charset="0"/>
                  </a:rPr>
                  <a:t>×𝑝𝑟𝑒𝑐𝑖𝑠𝑖𝑜𝑛×𝑟𝑒𝑐𝑎𝑙𝑙)/(</a:t>
                </a:r>
                <a:r>
                  <a:rPr lang="zh-CN" altLang="en-US" sz="1200" b="0" i="0" smtClean="0">
                    <a:latin typeface="Cambria Math" panose="02040503050406030204" pitchFamily="18" charset="0"/>
                  </a:rPr>
                  <a:t>𝛼</a:t>
                </a:r>
                <a:r>
                  <a:rPr lang="en-US" altLang="zh-CN" sz="1200" b="0" i="0" smtClean="0">
                    <a:latin typeface="Cambria Math" panose="02040503050406030204" pitchFamily="18" charset="0"/>
                  </a:rPr>
                  <a:t>^2</a:t>
                </a:r>
                <a:r>
                  <a:rPr lang="en-US" altLang="zh-CN" sz="1200" b="0" i="0" smtClean="0">
                    <a:latin typeface="Cambria Math" panose="02040503050406030204" pitchFamily="18" charset="0"/>
                    <a:ea typeface="Cambria Math" panose="02040503050406030204" pitchFamily="18" charset="0"/>
                  </a:rPr>
                  <a:t>×(𝑝𝑟𝑒𝑐𝑖𝑠𝑖𝑜𝑛+𝑟𝑒𝑐𝑎𝑙𝑙) )</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它用于衡量二分类模型的精确度，最大值是</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，最小值是</a:t>
                </a:r>
                <a:r>
                  <a:rPr lang="en-US" altLang="zh-CN" sz="1200" b="0" i="0" kern="1200" dirty="0" smtClean="0">
                    <a:solidFill>
                      <a:schemeClr val="tx1"/>
                    </a:solidFill>
                    <a:effectLst/>
                    <a:latin typeface="+mn-lt"/>
                    <a:ea typeface="+mn-ea"/>
                    <a:cs typeface="+mn-cs"/>
                  </a:rPr>
                  <a:t>0</a:t>
                </a:r>
                <a:r>
                  <a:rPr lang="zh-CN" altLang="en-US" sz="1200" b="0" i="0" kern="1200" dirty="0" smtClean="0">
                    <a:solidFill>
                      <a:schemeClr val="tx1"/>
                    </a:solidFill>
                    <a:effectLst/>
                    <a:latin typeface="+mn-lt"/>
                    <a:ea typeface="+mn-ea"/>
                    <a:cs typeface="+mn-cs"/>
                  </a:rPr>
                  <a:t>。该值越接近</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，模型的精确度越高，反之越差。</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在确定参数</a:t>
                </a:r>
                <a:r>
                  <a:rPr lang="zh-CN" altLang="en-US" i="0" dirty="0" smtClean="0">
                    <a:latin typeface="Cambria Math" panose="02040503050406030204" pitchFamily="18" charset="0"/>
                  </a:rPr>
                  <a:t>𝛼</a:t>
                </a:r>
                <a:r>
                  <a:rPr lang="zh-CN" altLang="en-US" sz="1200" b="0" i="0" kern="1200" dirty="0">
                    <a:solidFill>
                      <a:schemeClr val="tx1"/>
                    </a:solidFill>
                    <a:effectLst/>
                    <a:latin typeface="+mn-lt"/>
                    <a:ea typeface="+mn-ea"/>
                    <a:cs typeface="+mn-cs"/>
                  </a:rPr>
                  <a:t>的值的时候，如果我们越关注</a:t>
                </a:r>
                <a:r>
                  <a:rPr lang="en-US" altLang="zh-CN" sz="1200" b="0" i="0" kern="1200" dirty="0">
                    <a:solidFill>
                      <a:schemeClr val="tx1"/>
                    </a:solidFill>
                    <a:effectLst/>
                    <a:latin typeface="+mn-lt"/>
                    <a:ea typeface="+mn-ea"/>
                    <a:cs typeface="+mn-cs"/>
                  </a:rPr>
                  <a:t>recall</a:t>
                </a:r>
                <a:r>
                  <a:rPr lang="zh-CN" altLang="en-US" sz="1200" b="0" i="0" kern="1200" dirty="0">
                    <a:solidFill>
                      <a:schemeClr val="tx1"/>
                    </a:solidFill>
                    <a:effectLst/>
                    <a:latin typeface="+mn-lt"/>
                    <a:ea typeface="+mn-ea"/>
                    <a:cs typeface="+mn-cs"/>
                  </a:rPr>
                  <a:t>（相比于</a:t>
                </a:r>
                <a:r>
                  <a:rPr lang="en-US" altLang="zh-CN" sz="1200" b="0" i="0" kern="1200" dirty="0">
                    <a:solidFill>
                      <a:schemeClr val="tx1"/>
                    </a:solidFill>
                    <a:effectLst/>
                    <a:latin typeface="+mn-lt"/>
                    <a:ea typeface="+mn-ea"/>
                    <a:cs typeface="+mn-cs"/>
                  </a:rPr>
                  <a:t>precision</a:t>
                </a:r>
                <a:r>
                  <a:rPr lang="zh-CN" altLang="en-US" sz="1200" b="0" i="0" kern="1200" dirty="0">
                    <a:solidFill>
                      <a:schemeClr val="tx1"/>
                    </a:solidFill>
                    <a:effectLst/>
                    <a:latin typeface="+mn-lt"/>
                    <a:ea typeface="+mn-ea"/>
                    <a:cs typeface="+mn-cs"/>
                  </a:rPr>
                  <a:t>），我们要选择越大的</a:t>
                </a:r>
                <a:r>
                  <a:rPr lang="zh-CN" altLang="en-US" i="0" dirty="0" smtClean="0">
                    <a:latin typeface="Cambria Math" panose="02040503050406030204" pitchFamily="18" charset="0"/>
                  </a:rPr>
                  <a:t>𝛼</a:t>
                </a:r>
                <a:r>
                  <a:rPr lang="zh-CN" altLang="el-GR"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例如，</a:t>
                </a:r>
                <a:r>
                  <a:rPr lang="en-US" altLang="zh-CN" sz="1200" b="0" i="0" kern="1200" dirty="0">
                    <a:solidFill>
                      <a:schemeClr val="tx1"/>
                    </a:solidFill>
                    <a:effectLst/>
                    <a:latin typeface="+mn-lt"/>
                    <a:ea typeface="+mn-ea"/>
                    <a:cs typeface="+mn-cs"/>
                  </a:rPr>
                  <a:t>F2 score</a:t>
                </a:r>
                <a:r>
                  <a:rPr lang="zh-CN" altLang="en-US" sz="1200" b="0" i="0" kern="1200" dirty="0">
                    <a:solidFill>
                      <a:schemeClr val="tx1"/>
                    </a:solidFill>
                    <a:effectLst/>
                    <a:latin typeface="+mn-lt"/>
                    <a:ea typeface="+mn-ea"/>
                    <a:cs typeface="+mn-cs"/>
                  </a:rPr>
                  <a:t>相比于</a:t>
                </a:r>
                <a:r>
                  <a:rPr lang="en-US" altLang="zh-CN" sz="1200" b="0" i="0" kern="1200" dirty="0">
                    <a:solidFill>
                      <a:schemeClr val="tx1"/>
                    </a:solidFill>
                    <a:effectLst/>
                    <a:latin typeface="+mn-lt"/>
                    <a:ea typeface="+mn-ea"/>
                    <a:cs typeface="+mn-cs"/>
                  </a:rPr>
                  <a:t>F1 score</a:t>
                </a:r>
                <a:r>
                  <a:rPr lang="zh-CN" altLang="en-US" sz="1200" b="0" i="0" kern="1200" dirty="0">
                    <a:solidFill>
                      <a:schemeClr val="tx1"/>
                    </a:solidFill>
                    <a:effectLst/>
                    <a:latin typeface="+mn-lt"/>
                    <a:ea typeface="+mn-ea"/>
                    <a:cs typeface="+mn-cs"/>
                  </a:rPr>
                  <a:t>，赋予了</a:t>
                </a:r>
                <a:r>
                  <a:rPr lang="en-US" altLang="zh-CN" sz="1200" b="0" i="0" kern="1200" dirty="0">
                    <a:solidFill>
                      <a:schemeClr val="tx1"/>
                    </a:solidFill>
                    <a:effectLst/>
                    <a:latin typeface="+mn-lt"/>
                    <a:ea typeface="+mn-ea"/>
                    <a:cs typeface="+mn-cs"/>
                  </a:rPr>
                  <a:t>recall</a:t>
                </a:r>
                <a:r>
                  <a:rPr lang="zh-CN" altLang="en-US" sz="1200" b="0" i="0" kern="1200" dirty="0">
                    <a:solidFill>
                      <a:schemeClr val="tx1"/>
                    </a:solidFill>
                    <a:effectLst/>
                    <a:latin typeface="+mn-lt"/>
                    <a:ea typeface="+mn-ea"/>
                    <a:cs typeface="+mn-cs"/>
                  </a:rPr>
                  <a:t>两倍的重要性</a:t>
                </a:r>
                <a:r>
                  <a:rPr lang="zh-CN" altLang="en-US" sz="1200" b="0" i="0" kern="1200" dirty="0" smtClean="0">
                    <a:solidFill>
                      <a:schemeClr val="tx1"/>
                    </a:solidFill>
                    <a:effectLst/>
                    <a:latin typeface="+mn-lt"/>
                    <a:ea typeface="+mn-ea"/>
                    <a:cs typeface="+mn-cs"/>
                  </a:rPr>
                  <a:t>。</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当参数</a:t>
                </a:r>
                <a:r>
                  <a:rPr lang="en-US" altLang="zh-CN" sz="1200" b="0" i="0" kern="1200" dirty="0" smtClean="0">
                    <a:solidFill>
                      <a:schemeClr val="tx1"/>
                    </a:solidFill>
                    <a:effectLst/>
                    <a:latin typeface="+mn-lt"/>
                    <a:ea typeface="+mn-ea"/>
                    <a:cs typeface="+mn-cs"/>
                  </a:rPr>
                  <a:t>α=1</a:t>
                </a:r>
                <a:r>
                  <a:rPr lang="zh-CN" altLang="en-US" sz="1200" b="0" i="0" kern="1200" dirty="0" smtClean="0">
                    <a:solidFill>
                      <a:schemeClr val="tx1"/>
                    </a:solidFill>
                    <a:effectLst/>
                    <a:latin typeface="+mn-lt"/>
                    <a:ea typeface="+mn-ea"/>
                    <a:cs typeface="+mn-cs"/>
                  </a:rPr>
                  <a:t>时，就是最常见的</a:t>
                </a:r>
                <a:r>
                  <a:rPr lang="en-US" altLang="zh-CN" sz="1200" b="0" i="0" kern="1200" dirty="0" smtClean="0">
                    <a:solidFill>
                      <a:schemeClr val="tx1"/>
                    </a:solidFill>
                    <a:effectLst/>
                    <a:latin typeface="+mn-lt"/>
                    <a:ea typeface="+mn-ea"/>
                    <a:cs typeface="+mn-cs"/>
                  </a:rPr>
                  <a:t>F1</a:t>
                </a:r>
                <a:r>
                  <a:rPr lang="zh-CN" altLang="en-US" sz="1200" b="0" i="0" kern="1200" dirty="0" smtClean="0">
                    <a:solidFill>
                      <a:schemeClr val="tx1"/>
                    </a:solidFill>
                    <a:effectLst/>
                    <a:latin typeface="+mn-lt"/>
                    <a:ea typeface="+mn-ea"/>
                    <a:cs typeface="+mn-cs"/>
                  </a:rPr>
                  <a:t>，也即</a:t>
                </a:r>
                <a:r>
                  <a:rPr lang="en-US" altLang="zh-CN" sz="1200" i="0">
                    <a:latin typeface="Cambria Math" panose="02040503050406030204" pitchFamily="18" charset="0"/>
                  </a:rPr>
                  <a:t>𝐹</a:t>
                </a:r>
                <a:r>
                  <a:rPr lang="en-US" altLang="zh-CN" sz="1200" i="0" smtClean="0">
                    <a:latin typeface="Cambria Math" panose="02040503050406030204" pitchFamily="18" charset="0"/>
                  </a:rPr>
                  <a:t>_</a:t>
                </a:r>
                <a:r>
                  <a:rPr lang="en-US" altLang="zh-CN" sz="1200" b="0" i="0" smtClean="0">
                    <a:latin typeface="Cambria Math" panose="02040503050406030204" pitchFamily="18" charset="0"/>
                  </a:rPr>
                  <a:t>1</a:t>
                </a:r>
                <a:r>
                  <a:rPr lang="en-US" altLang="zh-CN" sz="1200" i="0">
                    <a:latin typeface="Cambria Math" panose="02040503050406030204" pitchFamily="18" charset="0"/>
                  </a:rPr>
                  <a:t>=</a:t>
                </a:r>
                <a:r>
                  <a:rPr lang="en-US" altLang="zh-CN" sz="1200" b="0" i="0" smtClean="0">
                    <a:latin typeface="Cambria Math" panose="02040503050406030204" pitchFamily="18" charset="0"/>
                  </a:rPr>
                  <a:t>2</a:t>
                </a:r>
                <a:r>
                  <a:rPr lang="en-US" altLang="zh-CN" sz="1200" b="0" i="0" smtClean="0">
                    <a:latin typeface="Cambria Math" panose="02040503050406030204" pitchFamily="18" charset="0"/>
                    <a:ea typeface="Cambria Math" panose="02040503050406030204" pitchFamily="18" charset="0"/>
                  </a:rPr>
                  <a:t>×</a:t>
                </a:r>
                <a:r>
                  <a:rPr lang="en-US" altLang="zh-CN" sz="1200" i="0">
                    <a:latin typeface="Cambria Math" panose="02040503050406030204" pitchFamily="18" charset="0"/>
                  </a:rPr>
                  <a:t>(</a:t>
                </a:r>
                <a:r>
                  <a:rPr lang="en-US" altLang="zh-CN" sz="1200" i="0">
                    <a:latin typeface="Cambria Math" panose="02040503050406030204" pitchFamily="18" charset="0"/>
                    <a:ea typeface="Cambria Math" panose="02040503050406030204" pitchFamily="18" charset="0"/>
                  </a:rPr>
                  <a:t>𝑝𝑟𝑒𝑐𝑖𝑠𝑖𝑜𝑛×𝑟𝑒𝑐𝑎𝑙𝑙)/(𝑝𝑟𝑒𝑐𝑖𝑠𝑖𝑜𝑛+𝑟𝑒𝑐𝑎𝑙𝑙)</a:t>
                </a:r>
                <a:r>
                  <a:rPr lang="zh-CN" altLang="en-US" sz="1200" i="0" smtClean="0">
                    <a:latin typeface="Cambria Math" panose="02040503050406030204" pitchFamily="18" charset="0"/>
                    <a:ea typeface="Cambria Math" panose="02040503050406030204" pitchFamily="18" charset="0"/>
                  </a:rPr>
                  <a:t> 。</a:t>
                </a:r>
                <a:r>
                  <a:rPr lang="en-US" altLang="zh-CN" sz="1200" b="0" i="0" kern="1200" dirty="0" smtClean="0">
                    <a:solidFill>
                      <a:schemeClr val="tx1"/>
                    </a:solidFill>
                    <a:effectLst/>
                    <a:latin typeface="+mn-lt"/>
                    <a:ea typeface="+mn-ea"/>
                    <a:cs typeface="+mn-cs"/>
                  </a:rPr>
                  <a:t>F1 score</a:t>
                </a:r>
                <a:r>
                  <a:rPr lang="zh-CN" altLang="en-US" sz="1200" b="0" i="0" kern="1200" dirty="0" smtClean="0">
                    <a:solidFill>
                      <a:schemeClr val="tx1"/>
                    </a:solidFill>
                    <a:effectLst/>
                    <a:latin typeface="+mn-lt"/>
                    <a:ea typeface="+mn-ea"/>
                    <a:cs typeface="+mn-cs"/>
                  </a:rPr>
                  <a:t>综合考虑了</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两方面的因素，做到了对于两者的调和，即：既要“求精”也要“求全”，做到不偏科。使用</a:t>
                </a:r>
                <a:r>
                  <a:rPr lang="en-US" altLang="zh-CN" sz="1200" b="0" i="0" kern="1200" dirty="0" smtClean="0">
                    <a:solidFill>
                      <a:schemeClr val="tx1"/>
                    </a:solidFill>
                    <a:effectLst/>
                    <a:latin typeface="+mn-lt"/>
                    <a:ea typeface="+mn-ea"/>
                    <a:cs typeface="+mn-cs"/>
                  </a:rPr>
                  <a:t>F1 score</a:t>
                </a:r>
                <a:r>
                  <a:rPr lang="zh-CN" altLang="en-US" sz="1200" b="0" i="0" kern="1200" dirty="0" smtClean="0">
                    <a:solidFill>
                      <a:schemeClr val="tx1"/>
                    </a:solidFill>
                    <a:effectLst/>
                    <a:latin typeface="+mn-lt"/>
                    <a:ea typeface="+mn-ea"/>
                    <a:cs typeface="+mn-cs"/>
                  </a:rPr>
                  <a:t>作为评价指标，可以避免上述例子中的极端情况出现。绝大多数情况下，我们可以直接用</a:t>
                </a:r>
                <a:r>
                  <a:rPr lang="en-US" altLang="zh-CN" sz="1200" b="0" i="0" kern="1200" dirty="0" smtClean="0">
                    <a:solidFill>
                      <a:schemeClr val="tx1"/>
                    </a:solidFill>
                    <a:effectLst/>
                    <a:latin typeface="+mn-lt"/>
                    <a:ea typeface="+mn-ea"/>
                    <a:cs typeface="+mn-cs"/>
                  </a:rPr>
                  <a:t>F1 score</a:t>
                </a:r>
                <a:r>
                  <a:rPr lang="zh-CN" altLang="en-US" sz="1200" b="0" i="0" kern="1200" dirty="0" smtClean="0">
                    <a:solidFill>
                      <a:schemeClr val="tx1"/>
                    </a:solidFill>
                    <a:effectLst/>
                    <a:latin typeface="+mn-lt"/>
                    <a:ea typeface="+mn-ea"/>
                    <a:cs typeface="+mn-cs"/>
                  </a:rPr>
                  <a:t>来评价和选择模型。但如果在上面提到的“两类错误的成本”差距比较大的时候，也可以结合</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的其中一个做参考。注意，</a:t>
                </a:r>
                <a:r>
                  <a:rPr lang="en-US" altLang="zh-CN" sz="1200" b="0" i="0" kern="1200" dirty="0" smtClean="0">
                    <a:solidFill>
                      <a:schemeClr val="tx1"/>
                    </a:solidFill>
                    <a:effectLst/>
                    <a:latin typeface="+mn-lt"/>
                    <a:ea typeface="+mn-ea"/>
                    <a:cs typeface="+mn-cs"/>
                  </a:rPr>
                  <a:t>F1 score</a:t>
                </a:r>
                <a:r>
                  <a:rPr lang="zh-CN" altLang="en-US" sz="1200" b="0" i="0" kern="1200" dirty="0" smtClean="0">
                    <a:solidFill>
                      <a:schemeClr val="tx1"/>
                    </a:solidFill>
                    <a:effectLst/>
                    <a:latin typeface="+mn-lt"/>
                    <a:ea typeface="+mn-ea"/>
                    <a:cs typeface="+mn-cs"/>
                  </a:rPr>
                  <a:t>衡量的是模型寻找正样本的能力，因为</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都是衡量寻找正样本的指标。</a:t>
                </a:r>
              </a:p>
              <a:p>
                <a:endParaRPr lang="zh-CN" altLang="en-US" sz="1200" b="0" i="0" kern="1200" dirty="0" smtClean="0">
                  <a:solidFill>
                    <a:schemeClr val="tx1"/>
                  </a:solidFill>
                  <a:effectLst/>
                  <a:latin typeface="+mn-lt"/>
                  <a:ea typeface="+mn-ea"/>
                  <a:cs typeface="+mn-cs"/>
                </a:endParaRPr>
              </a:p>
              <a:p>
                <a:endParaRPr lang="zh-CN" altLang="en-US" sz="1200" b="0" i="0" kern="1200" dirty="0" smtClean="0">
                  <a:solidFill>
                    <a:schemeClr val="tx1"/>
                  </a:solidFill>
                  <a:effectLst/>
                  <a:latin typeface="+mn-lt"/>
                  <a:ea typeface="+mn-ea"/>
                  <a:cs typeface="+mn-cs"/>
                </a:endParaRPr>
              </a:p>
              <a:p>
                <a:endParaRPr lang="zh-CN" altLang="en-US" dirty="0"/>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35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3190606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sz="1200" b="0" i="0" kern="1200" dirty="0" smtClean="0">
                <a:solidFill>
                  <a:schemeClr val="tx1"/>
                </a:solidFill>
                <a:effectLst/>
                <a:latin typeface="+mn-lt"/>
                <a:ea typeface="+mn-ea"/>
                <a:cs typeface="+mn-cs"/>
              </a:rPr>
              <a:t>然而，无论是</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还是</a:t>
            </a:r>
            <a:r>
              <a:rPr lang="en-US" altLang="zh-CN" dirty="0" smtClean="0"/>
              <a:t>F-Measure</a:t>
            </a:r>
            <a:r>
              <a:rPr lang="zh-CN" altLang="en-US" dirty="0" smtClean="0"/>
              <a:t>，都会受到单点值的局限，无法反映模型的性能。为了能够得到一个能反映全局性能的指标，</a:t>
            </a:r>
            <a:r>
              <a:rPr lang="zh-CN" altLang="en-US" sz="1200" b="0" i="0" kern="1200" dirty="0" smtClean="0">
                <a:solidFill>
                  <a:schemeClr val="tx1"/>
                </a:solidFill>
                <a:effectLst/>
                <a:latin typeface="+mn-lt"/>
                <a:ea typeface="+mn-ea"/>
                <a:cs typeface="+mn-cs"/>
              </a:rPr>
              <a:t>另一种评价方法是根据</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值，绘制模型的</a:t>
            </a:r>
            <a:r>
              <a:rPr lang="en-US" altLang="zh-CN" sz="1200" b="0" i="0" kern="1200" dirty="0" smtClean="0">
                <a:solidFill>
                  <a:schemeClr val="tx1"/>
                </a:solidFill>
                <a:effectLst/>
                <a:latin typeface="+mn-lt"/>
                <a:ea typeface="+mn-ea"/>
                <a:cs typeface="+mn-cs"/>
              </a:rPr>
              <a:t>P-R</a:t>
            </a:r>
            <a:r>
              <a:rPr lang="zh-CN" altLang="en-US" sz="1200" b="0" i="0" kern="1200" dirty="0" smtClean="0">
                <a:solidFill>
                  <a:schemeClr val="tx1"/>
                </a:solidFill>
                <a:effectLst/>
                <a:latin typeface="+mn-lt"/>
                <a:ea typeface="+mn-ea"/>
                <a:cs typeface="+mn-cs"/>
              </a:rPr>
              <a:t>曲线（</a:t>
            </a:r>
            <a:r>
              <a:rPr lang="en-US" altLang="zh-CN" dirty="0" smtClean="0"/>
              <a:t>Precision-Recall</a:t>
            </a:r>
            <a:r>
              <a:rPr lang="zh-CN" altLang="en-US" dirty="0" smtClean="0"/>
              <a:t>曲线</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P-R</a:t>
            </a:r>
            <a:r>
              <a:rPr lang="zh-CN" altLang="en-US" sz="1200" b="0" i="0" kern="1200" dirty="0" smtClean="0">
                <a:solidFill>
                  <a:schemeClr val="tx1"/>
                </a:solidFill>
                <a:effectLst/>
                <a:latin typeface="+mn-lt"/>
                <a:ea typeface="+mn-ea"/>
                <a:cs typeface="+mn-cs"/>
              </a:rPr>
              <a:t>曲线是描述精确率和召回率变化的曲线，如图所示，但实际上</a:t>
            </a:r>
            <a:r>
              <a:rPr lang="en-US" altLang="zh-CN" sz="1200" b="0" i="0" kern="1200" dirty="0" smtClean="0">
                <a:solidFill>
                  <a:schemeClr val="tx1"/>
                </a:solidFill>
                <a:effectLst/>
                <a:latin typeface="+mn-lt"/>
                <a:ea typeface="+mn-ea"/>
                <a:cs typeface="+mn-cs"/>
              </a:rPr>
              <a:t>PR</a:t>
            </a:r>
            <a:r>
              <a:rPr lang="zh-CN" altLang="en-US" sz="1200" b="0" i="0" kern="1200" dirty="0" smtClean="0">
                <a:solidFill>
                  <a:schemeClr val="tx1"/>
                </a:solidFill>
                <a:effectLst/>
                <a:latin typeface="+mn-lt"/>
                <a:ea typeface="+mn-ea"/>
                <a:cs typeface="+mn-cs"/>
              </a:rPr>
              <a:t>曲线是非单调的，不平滑的，在局部有很多波动。我们知道，尽管真实样本的值都是非</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即</a:t>
            </a:r>
            <a:r>
              <a:rPr lang="en-US" altLang="zh-CN" sz="1200" b="0" i="0" kern="1200" dirty="0" smtClean="0">
                <a:solidFill>
                  <a:schemeClr val="tx1"/>
                </a:solidFill>
                <a:effectLst/>
                <a:latin typeface="+mn-lt"/>
                <a:ea typeface="+mn-ea"/>
                <a:cs typeface="+mn-cs"/>
              </a:rPr>
              <a:t>0</a:t>
            </a:r>
            <a:r>
              <a:rPr lang="zh-CN" altLang="en-US" sz="1200" b="0" i="0" kern="1200" dirty="0" smtClean="0">
                <a:solidFill>
                  <a:schemeClr val="tx1"/>
                </a:solidFill>
                <a:effectLst/>
                <a:latin typeface="+mn-lt"/>
                <a:ea typeface="+mn-ea"/>
                <a:cs typeface="+mn-cs"/>
              </a:rPr>
              <a:t>，但模型在预测的过程中仅能给出一个</a:t>
            </a:r>
            <a:r>
              <a:rPr lang="en-US" altLang="zh-CN" sz="1200" b="0" i="0" kern="1200" dirty="0" smtClean="0">
                <a:solidFill>
                  <a:schemeClr val="tx1"/>
                </a:solidFill>
                <a:effectLst/>
                <a:latin typeface="+mn-lt"/>
                <a:ea typeface="+mn-ea"/>
                <a:cs typeface="+mn-cs"/>
              </a:rPr>
              <a:t>0~1</a:t>
            </a:r>
            <a:r>
              <a:rPr lang="zh-CN" altLang="en-US" sz="1200" b="0" i="0" kern="1200" dirty="0" smtClean="0">
                <a:solidFill>
                  <a:schemeClr val="tx1"/>
                </a:solidFill>
                <a:effectLst/>
                <a:latin typeface="+mn-lt"/>
                <a:ea typeface="+mn-ea"/>
                <a:cs typeface="+mn-cs"/>
              </a:rPr>
              <a:t>之间的预测估计值。通常会设定一个模型的阈值，大于该阈值归为</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，小于该阈值归为</a:t>
            </a:r>
            <a:r>
              <a:rPr lang="en-US" altLang="zh-CN" sz="1200" b="0" i="0" kern="1200" dirty="0" smtClean="0">
                <a:solidFill>
                  <a:schemeClr val="tx1"/>
                </a:solidFill>
                <a:effectLst/>
                <a:latin typeface="+mn-lt"/>
                <a:ea typeface="+mn-ea"/>
                <a:cs typeface="+mn-cs"/>
              </a:rPr>
              <a:t>0</a:t>
            </a:r>
            <a:r>
              <a:rPr lang="zh-CN" altLang="en-US" sz="1200" b="0" i="0" kern="1200" dirty="0" smtClean="0">
                <a:solidFill>
                  <a:schemeClr val="tx1"/>
                </a:solidFill>
                <a:effectLst/>
                <a:latin typeface="+mn-lt"/>
                <a:ea typeface="+mn-ea"/>
                <a:cs typeface="+mn-cs"/>
              </a:rPr>
              <a:t>。对于所有的正样本，设置不同的阈值，模型预测所有的正样本，计算对应的精准率和召回率。</a:t>
            </a:r>
            <a:endParaRPr lang="en-US" altLang="zh-CN" sz="1200" b="0" i="0" kern="1200" dirty="0" smtClean="0">
              <a:solidFill>
                <a:schemeClr val="tx1"/>
              </a:solidFill>
              <a:effectLst/>
              <a:latin typeface="+mn-lt"/>
              <a:ea typeface="+mn-ea"/>
              <a:cs typeface="+mn-cs"/>
            </a:endParaRPr>
          </a:p>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sz="1200" b="0" i="0" kern="1200" dirty="0" smtClean="0">
                <a:solidFill>
                  <a:schemeClr val="tx1"/>
                </a:solidFill>
                <a:effectLst/>
                <a:latin typeface="+mn-lt"/>
                <a:ea typeface="+mn-ea"/>
                <a:cs typeface="+mn-cs"/>
              </a:rPr>
              <a:t>在模型进行比较时，若一个</a:t>
            </a:r>
            <a:r>
              <a:rPr lang="en-US" altLang="zh-CN" sz="1200" b="0" i="0" kern="1200" dirty="0" smtClean="0">
                <a:solidFill>
                  <a:schemeClr val="tx1"/>
                </a:solidFill>
                <a:effectLst/>
                <a:latin typeface="+mn-lt"/>
                <a:ea typeface="+mn-ea"/>
                <a:cs typeface="+mn-cs"/>
              </a:rPr>
              <a:t>P-R</a:t>
            </a:r>
            <a:r>
              <a:rPr lang="zh-CN" altLang="en-US" sz="1200" b="0" i="0" kern="1200" dirty="0" smtClean="0">
                <a:solidFill>
                  <a:schemeClr val="tx1"/>
                </a:solidFill>
                <a:effectLst/>
                <a:latin typeface="+mn-lt"/>
                <a:ea typeface="+mn-ea"/>
                <a:cs typeface="+mn-cs"/>
              </a:rPr>
              <a:t>曲线完全”包住“另一个</a:t>
            </a:r>
            <a:r>
              <a:rPr lang="en-US" altLang="zh-CN" sz="1200" b="0" i="0" kern="1200" dirty="0" smtClean="0">
                <a:solidFill>
                  <a:schemeClr val="tx1"/>
                </a:solidFill>
                <a:effectLst/>
                <a:latin typeface="+mn-lt"/>
                <a:ea typeface="+mn-ea"/>
                <a:cs typeface="+mn-cs"/>
              </a:rPr>
              <a:t>P-R</a:t>
            </a:r>
            <a:r>
              <a:rPr lang="zh-CN" altLang="en-US" sz="1200" b="0" i="0" kern="1200" dirty="0" smtClean="0">
                <a:solidFill>
                  <a:schemeClr val="tx1"/>
                </a:solidFill>
                <a:effectLst/>
                <a:latin typeface="+mn-lt"/>
                <a:ea typeface="+mn-ea"/>
                <a:cs typeface="+mn-cs"/>
              </a:rPr>
              <a:t>曲线，则第一个模型效果更好，比如图中的模型</a:t>
            </a:r>
            <a:r>
              <a:rPr lang="en-US" altLang="zh-CN" sz="1200" b="0" i="0" kern="1200" dirty="0" smtClean="0">
                <a:solidFill>
                  <a:schemeClr val="tx1"/>
                </a:solidFill>
                <a:effectLst/>
                <a:latin typeface="+mn-lt"/>
                <a:ea typeface="+mn-ea"/>
                <a:cs typeface="+mn-cs"/>
              </a:rPr>
              <a:t>A</a:t>
            </a:r>
            <a:r>
              <a:rPr lang="zh-CN" altLang="en-US" sz="1200" b="0" i="0" kern="1200" dirty="0" smtClean="0">
                <a:solidFill>
                  <a:schemeClr val="tx1"/>
                </a:solidFill>
                <a:effectLst/>
                <a:latin typeface="+mn-lt"/>
                <a:ea typeface="+mn-ea"/>
                <a:cs typeface="+mn-cs"/>
              </a:rPr>
              <a:t>的性能优于模型</a:t>
            </a:r>
            <a:r>
              <a:rPr lang="en-US" altLang="zh-CN" sz="1200" b="0" i="0" kern="1200" dirty="0" smtClean="0">
                <a:solidFill>
                  <a:schemeClr val="tx1"/>
                </a:solidFill>
                <a:effectLst/>
                <a:latin typeface="+mn-lt"/>
                <a:ea typeface="+mn-ea"/>
                <a:cs typeface="+mn-cs"/>
              </a:rPr>
              <a:t>C</a:t>
            </a:r>
            <a:r>
              <a:rPr lang="zh-CN" altLang="en-US" sz="1200" b="0" i="0" kern="1200" dirty="0" smtClean="0">
                <a:solidFill>
                  <a:schemeClr val="tx1"/>
                </a:solidFill>
                <a:effectLst/>
                <a:latin typeface="+mn-lt"/>
                <a:ea typeface="+mn-ea"/>
                <a:cs typeface="+mn-cs"/>
              </a:rPr>
              <a:t>。如果两个模型的</a:t>
            </a:r>
            <a:r>
              <a:rPr lang="en-US" altLang="zh-CN" sz="1200" b="0" i="0" kern="1200" dirty="0" smtClean="0">
                <a:solidFill>
                  <a:schemeClr val="tx1"/>
                </a:solidFill>
                <a:effectLst/>
                <a:latin typeface="+mn-lt"/>
                <a:ea typeface="+mn-ea"/>
                <a:cs typeface="+mn-cs"/>
              </a:rPr>
              <a:t>P-R</a:t>
            </a:r>
            <a:r>
              <a:rPr lang="zh-CN" altLang="en-US" sz="1200" b="0" i="0" kern="1200" dirty="0" smtClean="0">
                <a:solidFill>
                  <a:schemeClr val="tx1"/>
                </a:solidFill>
                <a:effectLst/>
                <a:latin typeface="+mn-lt"/>
                <a:ea typeface="+mn-ea"/>
                <a:cs typeface="+mn-cs"/>
              </a:rPr>
              <a:t>曲线发生了交叉，比如图中</a:t>
            </a:r>
            <a:r>
              <a:rPr lang="en-US" altLang="zh-CN" sz="1200" b="0" i="0" kern="1200" dirty="0" smtClean="0">
                <a:solidFill>
                  <a:schemeClr val="tx1"/>
                </a:solidFill>
                <a:effectLst/>
                <a:latin typeface="+mn-lt"/>
                <a:ea typeface="+mn-ea"/>
                <a:cs typeface="+mn-cs"/>
              </a:rPr>
              <a:t>A</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B</a:t>
            </a:r>
            <a:r>
              <a:rPr lang="zh-CN" altLang="en-US" sz="1200" b="0" i="0" kern="1200" dirty="0" smtClean="0">
                <a:solidFill>
                  <a:schemeClr val="tx1"/>
                </a:solidFill>
                <a:effectLst/>
                <a:latin typeface="+mn-lt"/>
                <a:ea typeface="+mn-ea"/>
                <a:cs typeface="+mn-cs"/>
              </a:rPr>
              <a:t>，这时一个合理的判据是比较</a:t>
            </a:r>
            <a:r>
              <a:rPr lang="en-US" altLang="zh-CN" sz="1200" b="0" i="0" kern="1200" dirty="0" smtClean="0">
                <a:solidFill>
                  <a:schemeClr val="tx1"/>
                </a:solidFill>
                <a:effectLst/>
                <a:latin typeface="+mn-lt"/>
                <a:ea typeface="+mn-ea"/>
                <a:cs typeface="+mn-cs"/>
              </a:rPr>
              <a:t>P-R</a:t>
            </a:r>
            <a:r>
              <a:rPr lang="zh-CN" altLang="en-US" sz="1200" b="0" i="0" kern="1200" dirty="0" smtClean="0">
                <a:solidFill>
                  <a:schemeClr val="tx1"/>
                </a:solidFill>
                <a:effectLst/>
                <a:latin typeface="+mn-lt"/>
                <a:ea typeface="+mn-ea"/>
                <a:cs typeface="+mn-cs"/>
              </a:rPr>
              <a:t>曲线下面积的大小。模型与坐标轴围成的面积越大，则模型的性能越好，我们把</a:t>
            </a:r>
            <a:r>
              <a:rPr lang="en-US" altLang="zh-CN" sz="1200" b="0" i="0" kern="1200" dirty="0" smtClean="0">
                <a:solidFill>
                  <a:schemeClr val="tx1"/>
                </a:solidFill>
                <a:effectLst/>
                <a:latin typeface="+mn-lt"/>
                <a:ea typeface="+mn-ea"/>
                <a:cs typeface="+mn-cs"/>
              </a:rPr>
              <a:t>P-R</a:t>
            </a:r>
            <a:r>
              <a:rPr lang="zh-CN" altLang="en-US" sz="1200" b="0" i="0" kern="1200" dirty="0" smtClean="0">
                <a:solidFill>
                  <a:schemeClr val="tx1"/>
                </a:solidFill>
                <a:effectLst/>
                <a:latin typeface="+mn-lt"/>
                <a:ea typeface="+mn-ea"/>
                <a:cs typeface="+mn-cs"/>
              </a:rPr>
              <a:t>曲线下的这部分面积称为</a:t>
            </a:r>
            <a:r>
              <a:rPr lang="en-US" altLang="zh-CN" sz="1200" b="0" i="0" kern="1200" dirty="0" smtClean="0">
                <a:solidFill>
                  <a:schemeClr val="tx1"/>
                </a:solidFill>
                <a:effectLst/>
                <a:latin typeface="+mn-lt"/>
                <a:ea typeface="+mn-ea"/>
                <a:cs typeface="+mn-cs"/>
              </a:rPr>
              <a:t>AP</a:t>
            </a:r>
            <a:r>
              <a:rPr lang="zh-CN" altLang="en-US" sz="1200" b="0" i="0" kern="1200" dirty="0" smtClean="0">
                <a:solidFill>
                  <a:schemeClr val="tx1"/>
                </a:solidFill>
                <a:effectLst/>
                <a:latin typeface="+mn-lt"/>
                <a:ea typeface="+mn-ea"/>
                <a:cs typeface="+mn-cs"/>
              </a:rPr>
              <a:t>。</a:t>
            </a:r>
            <a:endParaRPr lang="zh-CN" altLang="en-US" dirty="0" smtClean="0"/>
          </a:p>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sz="1200" b="0" i="0" kern="1200" dirty="0" smtClean="0">
                <a:solidFill>
                  <a:schemeClr val="tx1"/>
                </a:solidFill>
                <a:effectLst/>
                <a:latin typeface="+mn-lt"/>
                <a:ea typeface="+mn-ea"/>
                <a:cs typeface="+mn-cs"/>
              </a:rPr>
              <a:t>但一般来说，曲线下的面积是很难进行估算的，所以衍生出了“平衡点”（</a:t>
            </a:r>
            <a:r>
              <a:rPr lang="en-US" altLang="zh-CN" sz="1200" b="0" i="0" kern="1200" dirty="0" smtClean="0">
                <a:solidFill>
                  <a:schemeClr val="tx1"/>
                </a:solidFill>
                <a:effectLst/>
                <a:latin typeface="+mn-lt"/>
                <a:ea typeface="+mn-ea"/>
                <a:cs typeface="+mn-cs"/>
              </a:rPr>
              <a:t>Break-Event Point</a:t>
            </a:r>
            <a:r>
              <a:rPr lang="zh-CN" altLang="en-US" sz="1200" b="0" i="0" kern="1200" dirty="0" smtClean="0">
                <a:solidFill>
                  <a:schemeClr val="tx1"/>
                </a:solidFill>
                <a:effectLst/>
                <a:latin typeface="+mn-lt"/>
                <a:ea typeface="+mn-ea"/>
                <a:cs typeface="+mn-cs"/>
              </a:rPr>
              <a:t>，简称</a:t>
            </a:r>
            <a:r>
              <a:rPr lang="en-US" altLang="zh-CN" sz="1200" b="0" i="0" kern="1200" dirty="0" smtClean="0">
                <a:solidFill>
                  <a:schemeClr val="tx1"/>
                </a:solidFill>
                <a:effectLst/>
                <a:latin typeface="+mn-lt"/>
                <a:ea typeface="+mn-ea"/>
                <a:cs typeface="+mn-cs"/>
              </a:rPr>
              <a:t>BEP</a:t>
            </a:r>
            <a:r>
              <a:rPr lang="zh-CN" altLang="en-US" sz="1200" b="0" i="0" kern="1200" dirty="0" smtClean="0">
                <a:solidFill>
                  <a:schemeClr val="tx1"/>
                </a:solidFill>
                <a:effectLst/>
                <a:latin typeface="+mn-lt"/>
                <a:ea typeface="+mn-ea"/>
                <a:cs typeface="+mn-cs"/>
              </a:rPr>
              <a:t>），即当</a:t>
            </a:r>
            <a:r>
              <a:rPr lang="en-US" altLang="zh-CN" sz="1200" b="0" i="0" kern="1200" dirty="0" smtClean="0">
                <a:solidFill>
                  <a:schemeClr val="tx1"/>
                </a:solidFill>
                <a:effectLst/>
                <a:latin typeface="+mn-lt"/>
                <a:ea typeface="+mn-ea"/>
                <a:cs typeface="+mn-cs"/>
              </a:rPr>
              <a:t>P=R</a:t>
            </a:r>
            <a:r>
              <a:rPr lang="zh-CN" altLang="en-US" sz="1200" b="0" i="0" kern="1200" dirty="0" smtClean="0">
                <a:solidFill>
                  <a:schemeClr val="tx1"/>
                </a:solidFill>
                <a:effectLst/>
                <a:latin typeface="+mn-lt"/>
                <a:ea typeface="+mn-ea"/>
                <a:cs typeface="+mn-cs"/>
              </a:rPr>
              <a:t>时的取值，平衡点的取值越高，性能更优。</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5374009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在目标检测算法中，常用的评价指标是</a:t>
            </a:r>
            <a:r>
              <a:rPr lang="en-US" altLang="zh-CN" dirty="0" err="1" smtClean="0"/>
              <a:t>mAP</a:t>
            </a:r>
            <a:r>
              <a:rPr lang="en-US" altLang="zh-CN" dirty="0" smtClean="0"/>
              <a:t>(mean Average</a:t>
            </a:r>
            <a:r>
              <a:rPr lang="en-US" altLang="zh-CN" baseline="0" dirty="0" smtClean="0"/>
              <a:t> Precision</a:t>
            </a:r>
            <a:r>
              <a:rPr lang="en-US" altLang="zh-CN" dirty="0" smtClean="0"/>
              <a:t>)</a:t>
            </a:r>
            <a:r>
              <a:rPr lang="zh-CN" altLang="en-US" dirty="0" smtClean="0"/>
              <a:t>，用于度量模型预测框类别和位置是否准确。常见的计算</a:t>
            </a:r>
            <a:r>
              <a:rPr lang="en-US" altLang="zh-CN" dirty="0" err="1" smtClean="0"/>
              <a:t>mAP</a:t>
            </a:r>
            <a:r>
              <a:rPr lang="zh-CN" altLang="en-US" dirty="0" smtClean="0"/>
              <a:t>的方式有两种，一种基于</a:t>
            </a:r>
            <a:r>
              <a:rPr lang="en-US" altLang="zh-CN" dirty="0" smtClean="0"/>
              <a:t>PASCAL VOC 2012</a:t>
            </a:r>
            <a:r>
              <a:rPr lang="zh-CN" altLang="en-US" dirty="0" smtClean="0"/>
              <a:t>数据集，另一种基于</a:t>
            </a:r>
            <a:r>
              <a:rPr lang="en-US" altLang="zh-CN" dirty="0" smtClean="0"/>
              <a:t>PASCAL VOC 2007</a:t>
            </a:r>
            <a:r>
              <a:rPr lang="zh-CN" altLang="en-US" dirty="0" smtClean="0"/>
              <a:t>数据集。</a:t>
            </a:r>
            <a:endParaRPr lang="en-US" altLang="zh-CN" dirty="0" smtClean="0"/>
          </a:p>
          <a:p>
            <a:r>
              <a:rPr lang="zh-CN" altLang="en-US" dirty="0" smtClean="0"/>
              <a:t>下面简单介绍</a:t>
            </a:r>
            <a:r>
              <a:rPr lang="en-US" altLang="zh-CN" dirty="0" err="1" smtClean="0"/>
              <a:t>mAP</a:t>
            </a:r>
            <a:r>
              <a:rPr lang="zh-CN" altLang="en-US" dirty="0" smtClean="0"/>
              <a:t>的一些相关概念，部分概念与之前介绍的定义相同。由于</a:t>
            </a:r>
            <a:r>
              <a:rPr lang="en-US" altLang="zh-CN" dirty="0" smtClean="0"/>
              <a:t>P-R</a:t>
            </a:r>
            <a:r>
              <a:rPr lang="zh-CN" altLang="en-US" dirty="0" smtClean="0"/>
              <a:t>曲线仅针对二分类问题“是”或“否”，而目标检测任务中通常会针对多类目标进行判定，因此引入各类别</a:t>
            </a:r>
            <a:r>
              <a:rPr lang="en-US" altLang="zh-CN" dirty="0" smtClean="0"/>
              <a:t>AP</a:t>
            </a:r>
            <a:r>
              <a:rPr lang="zh-CN" altLang="en-US" dirty="0" smtClean="0"/>
              <a:t>的平均值</a:t>
            </a:r>
            <a:r>
              <a:rPr lang="en-US" altLang="zh-CN" dirty="0" err="1" smtClean="0"/>
              <a:t>mAP</a:t>
            </a:r>
            <a:r>
              <a:rPr lang="zh-CN" altLang="en-US" dirty="0" smtClean="0"/>
              <a:t>作为目标检测算法的评价指标。</a:t>
            </a:r>
            <a:endParaRPr lang="en-US" altLang="zh-CN" dirty="0" smtClean="0"/>
          </a:p>
          <a:p>
            <a:r>
              <a:rPr lang="en-US" altLang="zh-CN" dirty="0" smtClean="0"/>
              <a:t>TP+FP=</a:t>
            </a:r>
            <a:r>
              <a:rPr lang="zh-CN" altLang="en-US" dirty="0" smtClean="0"/>
              <a:t>所有检测框的数量</a:t>
            </a:r>
            <a:endParaRPr lang="en-US" altLang="zh-CN" dirty="0" smtClean="0"/>
          </a:p>
          <a:p>
            <a:r>
              <a:rPr lang="en-US" altLang="zh-CN" dirty="0" smtClean="0"/>
              <a:t>TP+FN=</a:t>
            </a:r>
            <a:r>
              <a:rPr lang="zh-CN" altLang="en-US" dirty="0" smtClean="0"/>
              <a:t>所有真值框的数量</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2471487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下面通过一个示例演示</a:t>
            </a:r>
            <a:r>
              <a:rPr lang="en-US" altLang="zh-CN" dirty="0" err="1" smtClean="0"/>
              <a:t>mAP</a:t>
            </a:r>
            <a:r>
              <a:rPr lang="zh-CN" altLang="en-US" dirty="0" smtClean="0"/>
              <a:t>的计算过程。在目标检测场景中，因为我们既要对图像中的待检测物体进行分类，又要对其进行定位，所以在计算</a:t>
            </a:r>
            <a:r>
              <a:rPr lang="en-US" altLang="zh-CN" dirty="0" err="1" smtClean="0"/>
              <a:t>mAP</a:t>
            </a:r>
            <a:r>
              <a:rPr lang="zh-CN" altLang="en-US" dirty="0" smtClean="0"/>
              <a:t>的时候，需要从两方面入手</a:t>
            </a:r>
            <a:r>
              <a:rPr lang="zh-CN" altLang="en-US" dirty="0" smtClean="0">
                <a:sym typeface="Wingdings" panose="05000000000000000000" pitchFamily="2" charset="2"/>
              </a:rPr>
              <a:t>：</a:t>
            </a:r>
            <a:r>
              <a:rPr lang="en-US" altLang="zh-CN" dirty="0" smtClean="0">
                <a:sym typeface="Wingdings" panose="05000000000000000000" pitchFamily="2" charset="2"/>
              </a:rPr>
              <a:t>1.</a:t>
            </a:r>
            <a:r>
              <a:rPr lang="zh-CN" altLang="en-US" dirty="0" smtClean="0">
                <a:sym typeface="Wingdings" panose="05000000000000000000" pitchFamily="2" charset="2"/>
              </a:rPr>
              <a:t>物体的分类效果</a:t>
            </a:r>
            <a:r>
              <a:rPr lang="zh-CN" altLang="en-US" baseline="0" dirty="0" smtClean="0">
                <a:sym typeface="Wingdings" panose="05000000000000000000" pitchFamily="2" charset="2"/>
              </a:rPr>
              <a:t>  </a:t>
            </a:r>
            <a:r>
              <a:rPr lang="en-US" altLang="zh-CN" dirty="0" smtClean="0">
                <a:sym typeface="Wingdings" panose="05000000000000000000" pitchFamily="2" charset="2"/>
              </a:rPr>
              <a:t>2.</a:t>
            </a:r>
            <a:r>
              <a:rPr lang="zh-CN" altLang="en-US" dirty="0" smtClean="0">
                <a:sym typeface="Wingdings" panose="05000000000000000000" pitchFamily="2" charset="2"/>
              </a:rPr>
              <a:t>定位效果，即真值框和预测框的</a:t>
            </a:r>
            <a:r>
              <a:rPr lang="en-US" altLang="zh-CN" dirty="0" err="1" smtClean="0">
                <a:sym typeface="Wingdings" panose="05000000000000000000" pitchFamily="2" charset="2"/>
              </a:rPr>
              <a:t>IoU</a:t>
            </a:r>
            <a:r>
              <a:rPr lang="zh-CN" altLang="en-US" dirty="0" smtClean="0">
                <a:sym typeface="Wingdings" panose="05000000000000000000" pitchFamily="2" charset="2"/>
              </a:rPr>
              <a:t>。假设模型输出结果格式为</a:t>
            </a:r>
            <a:r>
              <a:rPr lang="en-US" altLang="zh-CN" dirty="0" smtClean="0">
                <a:sym typeface="Wingdings" panose="05000000000000000000" pitchFamily="2" charset="2"/>
              </a:rPr>
              <a:t>[cat_id,x1,y1,w,h,score],</a:t>
            </a:r>
            <a:r>
              <a:rPr lang="zh-CN" altLang="en-US" dirty="0" smtClean="0">
                <a:sym typeface="Wingdings" panose="05000000000000000000" pitchFamily="2" charset="2"/>
              </a:rPr>
              <a:t>即</a:t>
            </a:r>
            <a:r>
              <a:rPr lang="en-US" altLang="zh-CN" dirty="0" smtClean="0">
                <a:sym typeface="Wingdings" panose="05000000000000000000" pitchFamily="2" charset="2"/>
              </a:rPr>
              <a:t>[</a:t>
            </a:r>
            <a:r>
              <a:rPr lang="zh-CN" altLang="en-US" dirty="0" smtClean="0">
                <a:sym typeface="Wingdings" panose="05000000000000000000" pitchFamily="2" charset="2"/>
              </a:rPr>
              <a:t>猫</a:t>
            </a:r>
            <a:r>
              <a:rPr lang="en-US" altLang="zh-CN" dirty="0" smtClean="0">
                <a:sym typeface="Wingdings" panose="05000000000000000000" pitchFamily="2" charset="2"/>
              </a:rPr>
              <a:t>id</a:t>
            </a:r>
            <a:r>
              <a:rPr lang="zh-CN" altLang="en-US" dirty="0" smtClean="0">
                <a:sym typeface="Wingdings" panose="05000000000000000000" pitchFamily="2" charset="2"/>
              </a:rPr>
              <a:t>，左上横坐标，左上纵坐标，目标宽，目标高，分类得分（置信度）</a:t>
            </a:r>
            <a:r>
              <a:rPr lang="en-US" altLang="zh-CN" dirty="0" smtClean="0">
                <a:sym typeface="Wingdings" panose="05000000000000000000" pitchFamily="2" charset="2"/>
              </a:rPr>
              <a:t>]</a:t>
            </a:r>
            <a:r>
              <a:rPr lang="zh-CN" altLang="en-US" dirty="0" smtClean="0">
                <a:sym typeface="Wingdings" panose="05000000000000000000" pitchFamily="2" charset="2"/>
              </a:rPr>
              <a:t>，而真值格式为</a:t>
            </a:r>
            <a:r>
              <a:rPr lang="en-US" altLang="zh-CN" dirty="0" smtClean="0">
                <a:sym typeface="Wingdings" panose="05000000000000000000" pitchFamily="2" charset="2"/>
              </a:rPr>
              <a:t>[cat_id,x1,y1,w,h],</a:t>
            </a:r>
          </a:p>
          <a:p>
            <a:r>
              <a:rPr lang="zh-CN" altLang="en-US" dirty="0" smtClean="0">
                <a:sym typeface="Wingdings" panose="05000000000000000000" pitchFamily="2" charset="2"/>
              </a:rPr>
              <a:t>首先针对某一图像识别结果的得分进行降序排序，然后依次遍历每个排序好的预测结果，并分别与真值框中的真实类别进行比较，如果是相同的类别，再分别比较该预测结果和真值框的</a:t>
            </a:r>
            <a:r>
              <a:rPr lang="en-US" altLang="zh-CN" dirty="0" err="1" smtClean="0">
                <a:sym typeface="Wingdings" panose="05000000000000000000" pitchFamily="2" charset="2"/>
              </a:rPr>
              <a:t>IoU</a:t>
            </a:r>
            <a:r>
              <a:rPr lang="zh-CN" altLang="en-US" dirty="0" smtClean="0">
                <a:sym typeface="Wingdings" panose="05000000000000000000" pitchFamily="2" charset="2"/>
              </a:rPr>
              <a:t>是否大于某一阈值（一般该阈值为</a:t>
            </a:r>
            <a:r>
              <a:rPr lang="en-US" altLang="zh-CN" dirty="0" smtClean="0">
                <a:sym typeface="Wingdings" panose="05000000000000000000" pitchFamily="2" charset="2"/>
              </a:rPr>
              <a:t>0.5</a:t>
            </a:r>
            <a:r>
              <a:rPr lang="zh-CN" altLang="en-US" dirty="0" smtClean="0">
                <a:sym typeface="Wingdings" panose="05000000000000000000" pitchFamily="2" charset="2"/>
              </a:rPr>
              <a:t>），如果类别预测是正确的（与实际类别相同），</a:t>
            </a:r>
            <a:r>
              <a:rPr lang="en-US" altLang="zh-CN" dirty="0" err="1" smtClean="0">
                <a:sym typeface="Wingdings" panose="05000000000000000000" pitchFamily="2" charset="2"/>
              </a:rPr>
              <a:t>IoU</a:t>
            </a:r>
            <a:r>
              <a:rPr lang="zh-CN" altLang="en-US" dirty="0" smtClean="0">
                <a:sym typeface="Wingdings" panose="05000000000000000000" pitchFamily="2" charset="2"/>
              </a:rPr>
              <a:t>检验也通过了，则记为预测正确的对象。如果不满足上述条件，则跳过该真值框，继续下一个真值框与预测框的检测，一直到真值框遍历结束，统计</a:t>
            </a:r>
            <a:r>
              <a:rPr lang="en-US" altLang="zh-CN" dirty="0" err="1" smtClean="0">
                <a:sym typeface="Wingdings" panose="05000000000000000000" pitchFamily="2" charset="2"/>
              </a:rPr>
              <a:t>percision</a:t>
            </a:r>
            <a:r>
              <a:rPr lang="zh-CN" altLang="en-US" dirty="0" smtClean="0">
                <a:sym typeface="Wingdings" panose="05000000000000000000" pitchFamily="2" charset="2"/>
              </a:rPr>
              <a:t>和</a:t>
            </a:r>
            <a:r>
              <a:rPr lang="en-US" altLang="zh-CN" dirty="0" smtClean="0">
                <a:sym typeface="Wingdings" panose="05000000000000000000" pitchFamily="2" charset="2"/>
              </a:rPr>
              <a:t>recall</a:t>
            </a:r>
            <a:r>
              <a:rPr lang="zh-CN" altLang="en-US" dirty="0" smtClean="0">
                <a:sym typeface="Wingdings" panose="05000000000000000000" pitchFamily="2" charset="2"/>
              </a:rPr>
              <a:t>的值，继续遍历下一个预测框。某个图像的预测结果遍历结束后，就可以计算该图像中物体对应类的精度值了，主要是根据记录的</a:t>
            </a:r>
            <a:r>
              <a:rPr lang="en-US" altLang="zh-CN" dirty="0" smtClean="0">
                <a:sym typeface="Wingdings" panose="05000000000000000000" pitchFamily="2" charset="2"/>
              </a:rPr>
              <a:t>precision</a:t>
            </a:r>
            <a:r>
              <a:rPr lang="zh-CN" altLang="en-US" dirty="0" smtClean="0">
                <a:sym typeface="Wingdings" panose="05000000000000000000" pitchFamily="2" charset="2"/>
              </a:rPr>
              <a:t>和</a:t>
            </a:r>
            <a:r>
              <a:rPr lang="en-US" altLang="zh-CN" dirty="0" smtClean="0">
                <a:sym typeface="Wingdings" panose="05000000000000000000" pitchFamily="2" charset="2"/>
              </a:rPr>
              <a:t>recall</a:t>
            </a:r>
            <a:r>
              <a:rPr lang="zh-CN" altLang="en-US" dirty="0" smtClean="0">
                <a:sym typeface="Wingdings" panose="05000000000000000000" pitchFamily="2" charset="2"/>
              </a:rPr>
              <a:t>的值进行推演。</a:t>
            </a:r>
            <a:endParaRPr lang="en-US" altLang="zh-CN" dirty="0" smtClean="0">
              <a:sym typeface="Wingdings" panose="05000000000000000000" pitchFamily="2" charset="2"/>
            </a:endParaRPr>
          </a:p>
          <a:p>
            <a:r>
              <a:rPr lang="zh-CN" altLang="en-US" dirty="0" smtClean="0">
                <a:sym typeface="Wingdings" panose="05000000000000000000" pitchFamily="2" charset="2"/>
              </a:rPr>
              <a:t>按照</a:t>
            </a:r>
            <a:r>
              <a:rPr lang="en-US" altLang="zh-CN" dirty="0" smtClean="0">
                <a:sym typeface="Wingdings" panose="05000000000000000000" pitchFamily="2" charset="2"/>
              </a:rPr>
              <a:t>PASCAL</a:t>
            </a:r>
            <a:r>
              <a:rPr lang="en-US" altLang="zh-CN" baseline="0" dirty="0" smtClean="0">
                <a:sym typeface="Wingdings" panose="05000000000000000000" pitchFamily="2" charset="2"/>
              </a:rPr>
              <a:t> VOC 2007</a:t>
            </a:r>
            <a:r>
              <a:rPr lang="zh-CN" altLang="en-US" baseline="0" dirty="0" smtClean="0">
                <a:sym typeface="Wingdings" panose="05000000000000000000" pitchFamily="2" charset="2"/>
              </a:rPr>
              <a:t>的</a:t>
            </a:r>
            <a:r>
              <a:rPr lang="en-US" altLang="zh-CN" baseline="0" dirty="0" err="1" smtClean="0">
                <a:sym typeface="Wingdings" panose="05000000000000000000" pitchFamily="2" charset="2"/>
              </a:rPr>
              <a:t>mAP</a:t>
            </a:r>
            <a:r>
              <a:rPr lang="zh-CN" altLang="en-US" baseline="0" dirty="0" smtClean="0">
                <a:sym typeface="Wingdings" panose="05000000000000000000" pitchFamily="2" charset="2"/>
              </a:rPr>
              <a:t>计算逻辑，我们在召回率坐标轴上均匀选取</a:t>
            </a:r>
            <a:r>
              <a:rPr lang="en-US" altLang="zh-CN" baseline="0" dirty="0" smtClean="0">
                <a:sym typeface="Wingdings" panose="05000000000000000000" pitchFamily="2" charset="2"/>
              </a:rPr>
              <a:t>11</a:t>
            </a:r>
            <a:r>
              <a:rPr lang="zh-CN" altLang="en-US" baseline="0" dirty="0" smtClean="0">
                <a:sym typeface="Wingdings" panose="05000000000000000000" pitchFamily="2" charset="2"/>
              </a:rPr>
              <a:t>个点，然后计算在召回率大于</a:t>
            </a:r>
            <a:r>
              <a:rPr lang="en-US" altLang="zh-CN" baseline="0" dirty="0" smtClean="0">
                <a:sym typeface="Wingdings" panose="05000000000000000000" pitchFamily="2" charset="2"/>
              </a:rPr>
              <a:t>0</a:t>
            </a:r>
            <a:r>
              <a:rPr lang="zh-CN" altLang="en-US" baseline="0" dirty="0" smtClean="0">
                <a:sym typeface="Wingdings" panose="05000000000000000000" pitchFamily="2" charset="2"/>
              </a:rPr>
              <a:t>的所有点中，精确度的最大值；接着计算在召回率大于</a:t>
            </a:r>
            <a:r>
              <a:rPr lang="en-US" altLang="zh-CN" baseline="0" dirty="0" smtClean="0">
                <a:sym typeface="Wingdings" panose="05000000000000000000" pitchFamily="2" charset="2"/>
              </a:rPr>
              <a:t>0.1</a:t>
            </a:r>
            <a:r>
              <a:rPr lang="zh-CN" altLang="en-US" baseline="0" dirty="0" smtClean="0">
                <a:sym typeface="Wingdings" panose="05000000000000000000" pitchFamily="2" charset="2"/>
              </a:rPr>
              <a:t>的所有点中，精确度的最大值。以此类推，最终得到</a:t>
            </a:r>
            <a:r>
              <a:rPr lang="en-US" altLang="zh-CN" baseline="0" dirty="0" smtClean="0">
                <a:sym typeface="Wingdings" panose="05000000000000000000" pitchFamily="2" charset="2"/>
              </a:rPr>
              <a:t>11</a:t>
            </a:r>
            <a:r>
              <a:rPr lang="zh-CN" altLang="en-US" baseline="0" dirty="0" smtClean="0">
                <a:sym typeface="Wingdings" panose="05000000000000000000" pitchFamily="2" charset="2"/>
              </a:rPr>
              <a:t>个精确度值，对这</a:t>
            </a:r>
            <a:r>
              <a:rPr lang="en-US" altLang="zh-CN" baseline="0" dirty="0" smtClean="0">
                <a:sym typeface="Wingdings" panose="05000000000000000000" pitchFamily="2" charset="2"/>
              </a:rPr>
              <a:t>11</a:t>
            </a:r>
            <a:r>
              <a:rPr lang="zh-CN" altLang="en-US" baseline="0" dirty="0" smtClean="0">
                <a:sym typeface="Wingdings" panose="05000000000000000000" pitchFamily="2" charset="2"/>
              </a:rPr>
              <a:t>个精确度求均值后便可以得到</a:t>
            </a:r>
            <a:r>
              <a:rPr lang="en-US" altLang="zh-CN" baseline="0" dirty="0" smtClean="0">
                <a:sym typeface="Wingdings" panose="05000000000000000000" pitchFamily="2" charset="2"/>
              </a:rPr>
              <a:t>AP</a:t>
            </a:r>
            <a:r>
              <a:rPr lang="zh-CN" altLang="en-US" baseline="0" dirty="0" smtClean="0">
                <a:sym typeface="Wingdings" panose="05000000000000000000" pitchFamily="2" charset="2"/>
              </a:rPr>
              <a:t>值。</a:t>
            </a:r>
            <a:r>
              <a:rPr lang="en-US" altLang="zh-CN" baseline="0" dirty="0" err="1" smtClean="0">
                <a:sym typeface="Wingdings" panose="05000000000000000000" pitchFamily="2" charset="2"/>
              </a:rPr>
              <a:t>mAP</a:t>
            </a:r>
            <a:r>
              <a:rPr lang="zh-CN" altLang="en-US" baseline="0" dirty="0" smtClean="0">
                <a:sym typeface="Wingdings" panose="05000000000000000000" pitchFamily="2" charset="2"/>
              </a:rPr>
              <a:t>其实就是对每个真实目标类别分别计算</a:t>
            </a:r>
            <a:r>
              <a:rPr lang="en-US" altLang="zh-CN" baseline="0" dirty="0" smtClean="0">
                <a:sym typeface="Wingdings" panose="05000000000000000000" pitchFamily="2" charset="2"/>
              </a:rPr>
              <a:t>AP</a:t>
            </a:r>
            <a:r>
              <a:rPr lang="zh-CN" altLang="en-US" baseline="0" dirty="0" smtClean="0">
                <a:sym typeface="Wingdings" panose="05000000000000000000" pitchFamily="2" charset="2"/>
              </a:rPr>
              <a:t>值后再求均值的结果。</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8483556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下面用几张图演示</a:t>
            </a:r>
            <a:r>
              <a:rPr lang="en-US" altLang="zh-CN" sz="1200" b="0" i="0" kern="1200" dirty="0" smtClean="0">
                <a:solidFill>
                  <a:schemeClr val="tx1"/>
                </a:solidFill>
                <a:effectLst/>
                <a:latin typeface="+mn-lt"/>
                <a:ea typeface="+mn-ea"/>
                <a:cs typeface="+mn-cs"/>
              </a:rPr>
              <a:t>AP</a:t>
            </a:r>
            <a:r>
              <a:rPr lang="zh-CN" altLang="en-US" sz="1200" b="0" i="0" kern="1200" dirty="0" smtClean="0">
                <a:solidFill>
                  <a:schemeClr val="tx1"/>
                </a:solidFill>
                <a:effectLst/>
                <a:latin typeface="+mn-lt"/>
                <a:ea typeface="+mn-ea"/>
                <a:cs typeface="+mn-cs"/>
              </a:rPr>
              <a:t>计算过程。</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假设我们有 </a:t>
            </a:r>
            <a:r>
              <a:rPr lang="en-US" altLang="zh-CN" sz="1200" b="0" i="0" kern="1200" dirty="0" smtClean="0">
                <a:solidFill>
                  <a:schemeClr val="tx1"/>
                </a:solidFill>
                <a:effectLst/>
                <a:latin typeface="+mn-lt"/>
                <a:ea typeface="+mn-ea"/>
                <a:cs typeface="+mn-cs"/>
              </a:rPr>
              <a:t>7 </a:t>
            </a:r>
            <a:r>
              <a:rPr lang="zh-CN" altLang="en-US" sz="1200" b="0" i="0" kern="1200" dirty="0" smtClean="0">
                <a:solidFill>
                  <a:schemeClr val="tx1"/>
                </a:solidFill>
                <a:effectLst/>
                <a:latin typeface="+mn-lt"/>
                <a:ea typeface="+mn-ea"/>
                <a:cs typeface="+mn-cs"/>
              </a:rPr>
              <a:t>张图片（</a:t>
            </a:r>
            <a:r>
              <a:rPr lang="en-US" altLang="zh-CN" sz="1200" b="0" i="0" kern="1200" dirty="0" smtClean="0">
                <a:solidFill>
                  <a:schemeClr val="tx1"/>
                </a:solidFill>
                <a:effectLst/>
                <a:latin typeface="+mn-lt"/>
                <a:ea typeface="+mn-ea"/>
                <a:cs typeface="+mn-cs"/>
              </a:rPr>
              <a:t>Images1-Image7</a:t>
            </a:r>
            <a:r>
              <a:rPr lang="zh-CN" altLang="en-US" sz="1200" b="0" i="0" kern="1200" dirty="0" smtClean="0">
                <a:solidFill>
                  <a:schemeClr val="tx1"/>
                </a:solidFill>
                <a:effectLst/>
                <a:latin typeface="+mn-lt"/>
                <a:ea typeface="+mn-ea"/>
                <a:cs typeface="+mn-cs"/>
              </a:rPr>
              <a:t>），这些图片有 </a:t>
            </a:r>
            <a:r>
              <a:rPr lang="en-US" altLang="zh-CN" sz="1200" b="0" i="0" kern="1200" dirty="0" smtClean="0">
                <a:solidFill>
                  <a:schemeClr val="tx1"/>
                </a:solidFill>
                <a:effectLst/>
                <a:latin typeface="+mn-lt"/>
                <a:ea typeface="+mn-ea"/>
                <a:cs typeface="+mn-cs"/>
              </a:rPr>
              <a:t>15 </a:t>
            </a:r>
            <a:r>
              <a:rPr lang="zh-CN" altLang="en-US" sz="1200" b="0" i="0" kern="1200" dirty="0" smtClean="0">
                <a:solidFill>
                  <a:schemeClr val="tx1"/>
                </a:solidFill>
                <a:effectLst/>
                <a:latin typeface="+mn-lt"/>
                <a:ea typeface="+mn-ea"/>
                <a:cs typeface="+mn-cs"/>
              </a:rPr>
              <a:t>个目标（绿色的框，</a:t>
            </a:r>
            <a:r>
              <a:rPr lang="zh-CN" altLang="en-US" dirty="0" smtClean="0"/>
              <a:t>所有真值框的数量</a:t>
            </a:r>
            <a:r>
              <a:rPr lang="zh-CN" altLang="en-US" sz="1200" b="0" i="0" kern="1200" dirty="0" smtClean="0">
                <a:solidFill>
                  <a:schemeClr val="tx1"/>
                </a:solidFill>
                <a:effectLst/>
                <a:latin typeface="+mn-lt"/>
                <a:ea typeface="+mn-ea"/>
                <a:cs typeface="+mn-cs"/>
              </a:rPr>
              <a:t>）以及 </a:t>
            </a:r>
            <a:r>
              <a:rPr lang="en-US" altLang="zh-CN" sz="1200" b="0" i="0" kern="1200" dirty="0" smtClean="0">
                <a:solidFill>
                  <a:schemeClr val="tx1"/>
                </a:solidFill>
                <a:effectLst/>
                <a:latin typeface="+mn-lt"/>
                <a:ea typeface="+mn-ea"/>
                <a:cs typeface="+mn-cs"/>
              </a:rPr>
              <a:t>24 </a:t>
            </a:r>
            <a:r>
              <a:rPr lang="zh-CN" altLang="en-US" sz="1200" b="0" i="0" kern="1200" dirty="0" smtClean="0">
                <a:solidFill>
                  <a:schemeClr val="tx1"/>
                </a:solidFill>
                <a:effectLst/>
                <a:latin typeface="+mn-lt"/>
                <a:ea typeface="+mn-ea"/>
                <a:cs typeface="+mn-cs"/>
              </a:rPr>
              <a:t>个预测边框（红色的框，</a:t>
            </a:r>
            <a:r>
              <a:rPr lang="en-US" altLang="zh-CN" sz="1200" b="0" i="0" kern="1200" dirty="0" smtClean="0">
                <a:solidFill>
                  <a:schemeClr val="tx1"/>
                </a:solidFill>
                <a:effectLst/>
                <a:latin typeface="+mn-lt"/>
                <a:ea typeface="+mn-ea"/>
                <a:cs typeface="+mn-cs"/>
              </a:rPr>
              <a:t>A-Y </a:t>
            </a:r>
            <a:r>
              <a:rPr lang="zh-CN" altLang="en-US" sz="1200" b="0" i="0" kern="1200" dirty="0" smtClean="0">
                <a:solidFill>
                  <a:schemeClr val="tx1"/>
                </a:solidFill>
                <a:effectLst/>
                <a:latin typeface="+mn-lt"/>
                <a:ea typeface="+mn-ea"/>
                <a:cs typeface="+mn-cs"/>
              </a:rPr>
              <a:t>编号表示，并且有一个置信度值），很显然这个模型的检测效果不怎么样（预测框与真值框显而易见重叠度低）</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9107400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根据上图以及说明，我们可以列出以下表格，其中 </a:t>
            </a:r>
            <a:r>
              <a:rPr lang="en-US" altLang="zh-CN" sz="1200" b="0" i="0" kern="1200" dirty="0" smtClean="0">
                <a:solidFill>
                  <a:schemeClr val="tx1"/>
                </a:solidFill>
                <a:effectLst/>
                <a:latin typeface="+mn-lt"/>
                <a:ea typeface="+mn-ea"/>
                <a:cs typeface="+mn-cs"/>
              </a:rPr>
              <a:t>Images </a:t>
            </a:r>
            <a:r>
              <a:rPr lang="zh-CN" altLang="en-US" sz="1200" b="0" i="0" kern="1200" dirty="0" smtClean="0">
                <a:solidFill>
                  <a:schemeClr val="tx1"/>
                </a:solidFill>
                <a:effectLst/>
                <a:latin typeface="+mn-lt"/>
                <a:ea typeface="+mn-ea"/>
                <a:cs typeface="+mn-cs"/>
              </a:rPr>
              <a:t>代表图片的编号，</a:t>
            </a:r>
            <a:r>
              <a:rPr lang="en-US" altLang="zh-CN" sz="1200" b="0" i="0" kern="1200" dirty="0" smtClean="0">
                <a:solidFill>
                  <a:schemeClr val="tx1"/>
                </a:solidFill>
                <a:effectLst/>
                <a:latin typeface="+mn-lt"/>
                <a:ea typeface="+mn-ea"/>
                <a:cs typeface="+mn-cs"/>
              </a:rPr>
              <a:t>Detections </a:t>
            </a:r>
            <a:r>
              <a:rPr lang="zh-CN" altLang="en-US" sz="1200" b="0" i="0" kern="1200" dirty="0" smtClean="0">
                <a:solidFill>
                  <a:schemeClr val="tx1"/>
                </a:solidFill>
                <a:effectLst/>
                <a:latin typeface="+mn-lt"/>
                <a:ea typeface="+mn-ea"/>
                <a:cs typeface="+mn-cs"/>
              </a:rPr>
              <a:t>代表预测边框的编号，</a:t>
            </a:r>
            <a:r>
              <a:rPr lang="en-US" altLang="zh-CN" sz="1200" b="0" i="0" kern="1200" dirty="0" smtClean="0">
                <a:solidFill>
                  <a:schemeClr val="tx1"/>
                </a:solidFill>
                <a:effectLst/>
                <a:latin typeface="+mn-lt"/>
                <a:ea typeface="+mn-ea"/>
                <a:cs typeface="+mn-cs"/>
              </a:rPr>
              <a:t>Confidences </a:t>
            </a:r>
            <a:r>
              <a:rPr lang="zh-CN" altLang="en-US" sz="1200" b="0" i="0" kern="1200" dirty="0" smtClean="0">
                <a:solidFill>
                  <a:schemeClr val="tx1"/>
                </a:solidFill>
                <a:effectLst/>
                <a:latin typeface="+mn-lt"/>
                <a:ea typeface="+mn-ea"/>
                <a:cs typeface="+mn-cs"/>
              </a:rPr>
              <a:t>代表预测边框的置信度，</a:t>
            </a:r>
            <a:r>
              <a:rPr lang="en-US" altLang="zh-CN" sz="1200" b="0" i="0" kern="1200" dirty="0" smtClean="0">
                <a:solidFill>
                  <a:schemeClr val="tx1"/>
                </a:solidFill>
                <a:effectLst/>
                <a:latin typeface="+mn-lt"/>
                <a:ea typeface="+mn-ea"/>
                <a:cs typeface="+mn-cs"/>
              </a:rPr>
              <a:t>TP or FP </a:t>
            </a:r>
            <a:r>
              <a:rPr lang="zh-CN" altLang="en-US" sz="1200" b="0" i="0" kern="1200" dirty="0" smtClean="0">
                <a:solidFill>
                  <a:schemeClr val="tx1"/>
                </a:solidFill>
                <a:effectLst/>
                <a:latin typeface="+mn-lt"/>
                <a:ea typeface="+mn-ea"/>
                <a:cs typeface="+mn-cs"/>
              </a:rPr>
              <a:t>代表预测的边框是标记为 </a:t>
            </a:r>
            <a:r>
              <a:rPr lang="en-US" altLang="zh-CN" sz="1200" b="0" i="0" kern="1200" dirty="0" smtClean="0">
                <a:solidFill>
                  <a:schemeClr val="tx1"/>
                </a:solidFill>
                <a:effectLst/>
                <a:latin typeface="+mn-lt"/>
                <a:ea typeface="+mn-ea"/>
                <a:cs typeface="+mn-cs"/>
              </a:rPr>
              <a:t>TP </a:t>
            </a:r>
            <a:r>
              <a:rPr lang="zh-CN" altLang="en-US" sz="1200" b="0" i="0" kern="1200" dirty="0" smtClean="0">
                <a:solidFill>
                  <a:schemeClr val="tx1"/>
                </a:solidFill>
                <a:effectLst/>
                <a:latin typeface="+mn-lt"/>
                <a:ea typeface="+mn-ea"/>
                <a:cs typeface="+mn-cs"/>
              </a:rPr>
              <a:t>还是 </a:t>
            </a:r>
            <a:r>
              <a:rPr lang="en-US" altLang="zh-CN" sz="1200" b="0" i="0" kern="1200" dirty="0" smtClean="0">
                <a:solidFill>
                  <a:schemeClr val="tx1"/>
                </a:solidFill>
                <a:effectLst/>
                <a:latin typeface="+mn-lt"/>
                <a:ea typeface="+mn-ea"/>
                <a:cs typeface="+mn-cs"/>
              </a:rPr>
              <a:t>FP</a:t>
            </a:r>
            <a:r>
              <a:rPr lang="zh-CN" altLang="en-US" sz="1200" b="0" i="0" kern="1200" dirty="0" smtClean="0">
                <a:solidFill>
                  <a:schemeClr val="tx1"/>
                </a:solidFill>
                <a:effectLst/>
                <a:latin typeface="+mn-lt"/>
                <a:ea typeface="+mn-ea"/>
                <a:cs typeface="+mn-cs"/>
              </a:rPr>
              <a:t>（认为预测边框与 </a:t>
            </a:r>
            <a:r>
              <a:rPr lang="en-US" altLang="zh-CN" sz="1200" b="0" i="0" kern="1200" dirty="0" smtClean="0">
                <a:solidFill>
                  <a:schemeClr val="tx1"/>
                </a:solidFill>
                <a:effectLst/>
                <a:latin typeface="+mn-lt"/>
                <a:ea typeface="+mn-ea"/>
                <a:cs typeface="+mn-cs"/>
              </a:rPr>
              <a:t>GT </a:t>
            </a:r>
            <a:r>
              <a:rPr lang="zh-CN" altLang="en-US" sz="1200" b="0" i="0" kern="1200" dirty="0" smtClean="0">
                <a:solidFill>
                  <a:schemeClr val="tx1"/>
                </a:solidFill>
                <a:effectLst/>
                <a:latin typeface="+mn-lt"/>
                <a:ea typeface="+mn-ea"/>
                <a:cs typeface="+mn-cs"/>
              </a:rPr>
              <a:t>的 </a:t>
            </a:r>
            <a:r>
              <a:rPr lang="en-US" altLang="zh-CN" sz="1200" b="0" i="0" kern="1200" dirty="0" smtClean="0">
                <a:solidFill>
                  <a:schemeClr val="tx1"/>
                </a:solidFill>
                <a:effectLst/>
                <a:latin typeface="+mn-lt"/>
                <a:ea typeface="+mn-ea"/>
                <a:cs typeface="+mn-cs"/>
              </a:rPr>
              <a:t>IOU </a:t>
            </a:r>
            <a:r>
              <a:rPr lang="zh-CN" altLang="en-US" sz="1200" b="0" i="0" kern="1200" dirty="0" smtClean="0">
                <a:solidFill>
                  <a:schemeClr val="tx1"/>
                </a:solidFill>
                <a:effectLst/>
                <a:latin typeface="+mn-lt"/>
                <a:ea typeface="+mn-ea"/>
                <a:cs typeface="+mn-cs"/>
              </a:rPr>
              <a:t>值大于等于 </a:t>
            </a:r>
            <a:r>
              <a:rPr lang="en-US" altLang="zh-CN" sz="1200" b="0" i="0" kern="1200" dirty="0" smtClean="0">
                <a:solidFill>
                  <a:schemeClr val="tx1"/>
                </a:solidFill>
                <a:effectLst/>
                <a:latin typeface="+mn-lt"/>
                <a:ea typeface="+mn-ea"/>
                <a:cs typeface="+mn-cs"/>
              </a:rPr>
              <a:t>0.3 </a:t>
            </a:r>
            <a:r>
              <a:rPr lang="zh-CN" altLang="en-US" sz="1200" b="0" i="0" kern="1200" dirty="0" smtClean="0">
                <a:solidFill>
                  <a:schemeClr val="tx1"/>
                </a:solidFill>
                <a:effectLst/>
                <a:latin typeface="+mn-lt"/>
                <a:ea typeface="+mn-ea"/>
                <a:cs typeface="+mn-cs"/>
              </a:rPr>
              <a:t>就标记为 </a:t>
            </a:r>
            <a:r>
              <a:rPr lang="en-US" altLang="zh-CN" sz="1200" b="0" i="0" kern="1200" dirty="0" smtClean="0">
                <a:solidFill>
                  <a:schemeClr val="tx1"/>
                </a:solidFill>
                <a:effectLst/>
                <a:latin typeface="+mn-lt"/>
                <a:ea typeface="+mn-ea"/>
                <a:cs typeface="+mn-cs"/>
              </a:rPr>
              <a:t>TP</a:t>
            </a:r>
            <a:r>
              <a:rPr lang="zh-CN" altLang="en-US" sz="1200" b="0" i="0" kern="1200" dirty="0" smtClean="0">
                <a:solidFill>
                  <a:schemeClr val="tx1"/>
                </a:solidFill>
                <a:effectLst/>
                <a:latin typeface="+mn-lt"/>
                <a:ea typeface="+mn-ea"/>
                <a:cs typeface="+mn-cs"/>
              </a:rPr>
              <a:t>；若一个 </a:t>
            </a:r>
            <a:r>
              <a:rPr lang="en-US" altLang="zh-CN" sz="1200" b="0" i="0" kern="1200" dirty="0" smtClean="0">
                <a:solidFill>
                  <a:schemeClr val="tx1"/>
                </a:solidFill>
                <a:effectLst/>
                <a:latin typeface="+mn-lt"/>
                <a:ea typeface="+mn-ea"/>
                <a:cs typeface="+mn-cs"/>
              </a:rPr>
              <a:t>GT </a:t>
            </a:r>
            <a:r>
              <a:rPr lang="zh-CN" altLang="en-US" sz="1200" b="0" i="0" kern="1200" dirty="0" smtClean="0">
                <a:solidFill>
                  <a:schemeClr val="tx1"/>
                </a:solidFill>
                <a:effectLst/>
                <a:latin typeface="+mn-lt"/>
                <a:ea typeface="+mn-ea"/>
                <a:cs typeface="+mn-cs"/>
              </a:rPr>
              <a:t>有多个预测边框，则认为 </a:t>
            </a:r>
            <a:r>
              <a:rPr lang="en-US" altLang="zh-CN" sz="1200" b="0" i="0" kern="1200" dirty="0" smtClean="0">
                <a:solidFill>
                  <a:schemeClr val="tx1"/>
                </a:solidFill>
                <a:effectLst/>
                <a:latin typeface="+mn-lt"/>
                <a:ea typeface="+mn-ea"/>
                <a:cs typeface="+mn-cs"/>
              </a:rPr>
              <a:t>IOU </a:t>
            </a:r>
            <a:r>
              <a:rPr lang="zh-CN" altLang="en-US" sz="1200" b="0" i="0" kern="1200" dirty="0" smtClean="0">
                <a:solidFill>
                  <a:schemeClr val="tx1"/>
                </a:solidFill>
                <a:effectLst/>
                <a:latin typeface="+mn-lt"/>
                <a:ea typeface="+mn-ea"/>
                <a:cs typeface="+mn-cs"/>
              </a:rPr>
              <a:t>最大且大于等于 </a:t>
            </a:r>
            <a:r>
              <a:rPr lang="en-US" altLang="zh-CN" sz="1200" b="0" i="0" kern="1200" dirty="0" smtClean="0">
                <a:solidFill>
                  <a:schemeClr val="tx1"/>
                </a:solidFill>
                <a:effectLst/>
                <a:latin typeface="+mn-lt"/>
                <a:ea typeface="+mn-ea"/>
                <a:cs typeface="+mn-cs"/>
              </a:rPr>
              <a:t>0.3 </a:t>
            </a:r>
            <a:r>
              <a:rPr lang="zh-CN" altLang="en-US" sz="1200" b="0" i="0" kern="1200" dirty="0" smtClean="0">
                <a:solidFill>
                  <a:schemeClr val="tx1"/>
                </a:solidFill>
                <a:effectLst/>
                <a:latin typeface="+mn-lt"/>
                <a:ea typeface="+mn-ea"/>
                <a:cs typeface="+mn-cs"/>
              </a:rPr>
              <a:t>的预测框标记为 </a:t>
            </a:r>
            <a:r>
              <a:rPr lang="en-US" altLang="zh-CN" sz="1200" b="0" i="0" kern="1200" dirty="0" smtClean="0">
                <a:solidFill>
                  <a:schemeClr val="tx1"/>
                </a:solidFill>
                <a:effectLst/>
                <a:latin typeface="+mn-lt"/>
                <a:ea typeface="+mn-ea"/>
                <a:cs typeface="+mn-cs"/>
              </a:rPr>
              <a:t>TP</a:t>
            </a:r>
            <a:r>
              <a:rPr lang="zh-CN" altLang="en-US" sz="1200" b="0" i="0" kern="1200" dirty="0" smtClean="0">
                <a:solidFill>
                  <a:schemeClr val="tx1"/>
                </a:solidFill>
                <a:effectLst/>
                <a:latin typeface="+mn-lt"/>
                <a:ea typeface="+mn-ea"/>
                <a:cs typeface="+mn-cs"/>
              </a:rPr>
              <a:t>，其他的标记为 </a:t>
            </a:r>
            <a:r>
              <a:rPr lang="en-US" altLang="zh-CN" sz="1200" b="0" i="0" kern="1200" dirty="0" smtClean="0">
                <a:solidFill>
                  <a:schemeClr val="tx1"/>
                </a:solidFill>
                <a:effectLst/>
                <a:latin typeface="+mn-lt"/>
                <a:ea typeface="+mn-ea"/>
                <a:cs typeface="+mn-cs"/>
              </a:rPr>
              <a:t>FP</a:t>
            </a:r>
            <a:r>
              <a:rPr lang="zh-CN" altLang="en-US" sz="1200" b="0" i="0" kern="1200" dirty="0" smtClean="0">
                <a:solidFill>
                  <a:schemeClr val="tx1"/>
                </a:solidFill>
                <a:effectLst/>
                <a:latin typeface="+mn-lt"/>
                <a:ea typeface="+mn-ea"/>
                <a:cs typeface="+mn-cs"/>
              </a:rPr>
              <a:t>，即一个 </a:t>
            </a:r>
            <a:r>
              <a:rPr lang="en-US" altLang="zh-CN" sz="1200" b="0" i="0" kern="1200" dirty="0" smtClean="0">
                <a:solidFill>
                  <a:schemeClr val="tx1"/>
                </a:solidFill>
                <a:effectLst/>
                <a:latin typeface="+mn-lt"/>
                <a:ea typeface="+mn-ea"/>
                <a:cs typeface="+mn-cs"/>
              </a:rPr>
              <a:t>GT </a:t>
            </a:r>
            <a:r>
              <a:rPr lang="zh-CN" altLang="en-US" sz="1200" b="0" i="0" kern="1200" dirty="0" smtClean="0">
                <a:solidFill>
                  <a:schemeClr val="tx1"/>
                </a:solidFill>
                <a:effectLst/>
                <a:latin typeface="+mn-lt"/>
                <a:ea typeface="+mn-ea"/>
                <a:cs typeface="+mn-cs"/>
              </a:rPr>
              <a:t>只能有一个预测框标记为 </a:t>
            </a:r>
            <a:r>
              <a:rPr lang="en-US" altLang="zh-CN" sz="1200" b="0" i="0" kern="1200" dirty="0" smtClean="0">
                <a:solidFill>
                  <a:schemeClr val="tx1"/>
                </a:solidFill>
                <a:effectLst/>
                <a:latin typeface="+mn-lt"/>
                <a:ea typeface="+mn-ea"/>
                <a:cs typeface="+mn-cs"/>
              </a:rPr>
              <a:t>TP</a:t>
            </a:r>
            <a:r>
              <a:rPr lang="zh-CN" altLang="en-US" sz="1200" b="0" i="0" kern="1200" dirty="0" smtClean="0">
                <a:solidFill>
                  <a:schemeClr val="tx1"/>
                </a:solidFill>
                <a:effectLst/>
                <a:latin typeface="+mn-lt"/>
                <a:ea typeface="+mn-ea"/>
                <a:cs typeface="+mn-cs"/>
              </a:rPr>
              <a:t>，该演示案例中</a:t>
            </a:r>
            <a:r>
              <a:rPr lang="en-US" altLang="zh-CN" sz="1200" b="0" i="0" kern="1200" dirty="0" err="1" smtClean="0">
                <a:solidFill>
                  <a:schemeClr val="tx1"/>
                </a:solidFill>
                <a:effectLst/>
                <a:latin typeface="+mn-lt"/>
                <a:ea typeface="+mn-ea"/>
                <a:cs typeface="+mn-cs"/>
              </a:rPr>
              <a:t>IoU</a:t>
            </a:r>
            <a:r>
              <a:rPr lang="zh-CN" altLang="en-US" sz="1200" b="0" i="0" kern="1200" dirty="0" smtClean="0">
                <a:solidFill>
                  <a:schemeClr val="tx1"/>
                </a:solidFill>
                <a:effectLst/>
                <a:latin typeface="+mn-lt"/>
                <a:ea typeface="+mn-ea"/>
                <a:cs typeface="+mn-cs"/>
              </a:rPr>
              <a:t>阈值为</a:t>
            </a:r>
            <a:r>
              <a:rPr lang="en-US" altLang="zh-CN" sz="1200" b="0" i="0" kern="1200" dirty="0" smtClean="0">
                <a:solidFill>
                  <a:schemeClr val="tx1"/>
                </a:solidFill>
                <a:effectLst/>
                <a:latin typeface="+mn-lt"/>
                <a:ea typeface="+mn-ea"/>
                <a:cs typeface="+mn-cs"/>
              </a:rPr>
              <a:t>0.3</a:t>
            </a:r>
            <a:r>
              <a:rPr lang="zh-CN" altLang="en-US" sz="1200" b="0" i="0" kern="1200" dirty="0" smtClean="0">
                <a:solidFill>
                  <a:schemeClr val="tx1"/>
                </a:solidFill>
                <a:effectLst/>
                <a:latin typeface="+mn-lt"/>
                <a:ea typeface="+mn-ea"/>
                <a:cs typeface="+mn-cs"/>
              </a:rPr>
              <a:t>，但一般实际任务中</a:t>
            </a:r>
            <a:r>
              <a:rPr lang="en-US" altLang="zh-CN" sz="1200" b="0" i="0" kern="1200" dirty="0" err="1" smtClean="0">
                <a:solidFill>
                  <a:schemeClr val="tx1"/>
                </a:solidFill>
                <a:effectLst/>
                <a:latin typeface="+mn-lt"/>
                <a:ea typeface="+mn-ea"/>
                <a:cs typeface="+mn-cs"/>
              </a:rPr>
              <a:t>IoU</a:t>
            </a:r>
            <a:r>
              <a:rPr lang="zh-CN" altLang="en-US" sz="1200" b="0" i="0" kern="1200" dirty="0" smtClean="0">
                <a:solidFill>
                  <a:schemeClr val="tx1"/>
                </a:solidFill>
                <a:effectLst/>
                <a:latin typeface="+mn-lt"/>
                <a:ea typeface="+mn-ea"/>
                <a:cs typeface="+mn-cs"/>
              </a:rPr>
              <a:t>还是取</a:t>
            </a:r>
            <a:r>
              <a:rPr lang="en-US" altLang="zh-CN" sz="1200" b="0" i="0" kern="1200" dirty="0" smtClean="0">
                <a:solidFill>
                  <a:schemeClr val="tx1"/>
                </a:solidFill>
                <a:effectLst/>
                <a:latin typeface="+mn-lt"/>
                <a:ea typeface="+mn-ea"/>
                <a:cs typeface="+mn-cs"/>
              </a:rPr>
              <a:t>0.5</a:t>
            </a:r>
            <a:r>
              <a:rPr lang="zh-CN" altLang="en-US" sz="1200" b="0" i="0" kern="1200" dirty="0" smtClean="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5546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通过上表，我们可以绘制出 </a:t>
            </a:r>
            <a:r>
              <a:rPr lang="en-US" altLang="zh-CN" sz="1200" b="0" i="0" kern="1200" dirty="0" smtClean="0">
                <a:solidFill>
                  <a:schemeClr val="tx1"/>
                </a:solidFill>
                <a:effectLst/>
                <a:latin typeface="+mn-lt"/>
                <a:ea typeface="+mn-ea"/>
                <a:cs typeface="+mn-cs"/>
              </a:rPr>
              <a:t>P-R </a:t>
            </a:r>
            <a:r>
              <a:rPr lang="zh-CN" altLang="en-US" sz="1200" b="0" i="0" kern="1200" dirty="0" smtClean="0">
                <a:solidFill>
                  <a:schemeClr val="tx1"/>
                </a:solidFill>
                <a:effectLst/>
                <a:latin typeface="+mn-lt"/>
                <a:ea typeface="+mn-ea"/>
                <a:cs typeface="+mn-cs"/>
              </a:rPr>
              <a:t>曲线（因为 </a:t>
            </a:r>
            <a:r>
              <a:rPr lang="en-US" altLang="zh-CN" sz="1200" b="0" i="0" kern="1200" dirty="0" smtClean="0">
                <a:solidFill>
                  <a:schemeClr val="tx1"/>
                </a:solidFill>
                <a:effectLst/>
                <a:latin typeface="+mn-lt"/>
                <a:ea typeface="+mn-ea"/>
                <a:cs typeface="+mn-cs"/>
              </a:rPr>
              <a:t>AP </a:t>
            </a:r>
            <a:r>
              <a:rPr lang="zh-CN" altLang="en-US" sz="1200" b="0" i="0" kern="1200" dirty="0" smtClean="0">
                <a:solidFill>
                  <a:schemeClr val="tx1"/>
                </a:solidFill>
                <a:effectLst/>
                <a:latin typeface="+mn-lt"/>
                <a:ea typeface="+mn-ea"/>
                <a:cs typeface="+mn-cs"/>
              </a:rPr>
              <a:t>就是 </a:t>
            </a:r>
            <a:r>
              <a:rPr lang="en-US" altLang="zh-CN" sz="1200" b="0" i="0" kern="1200" dirty="0" smtClean="0">
                <a:solidFill>
                  <a:schemeClr val="tx1"/>
                </a:solidFill>
                <a:effectLst/>
                <a:latin typeface="+mn-lt"/>
                <a:ea typeface="+mn-ea"/>
                <a:cs typeface="+mn-cs"/>
              </a:rPr>
              <a:t>P-R </a:t>
            </a:r>
            <a:r>
              <a:rPr lang="zh-CN" altLang="en-US" sz="1200" b="0" i="0" kern="1200" dirty="0" smtClean="0">
                <a:solidFill>
                  <a:schemeClr val="tx1"/>
                </a:solidFill>
                <a:effectLst/>
                <a:latin typeface="+mn-lt"/>
                <a:ea typeface="+mn-ea"/>
                <a:cs typeface="+mn-cs"/>
              </a:rPr>
              <a:t>曲线下面的面积），但是在此之前我们需要计算出 </a:t>
            </a:r>
            <a:r>
              <a:rPr lang="en-US" altLang="zh-CN" sz="1200" b="0" i="0" kern="1200" dirty="0" smtClean="0">
                <a:solidFill>
                  <a:schemeClr val="tx1"/>
                </a:solidFill>
                <a:effectLst/>
                <a:latin typeface="+mn-lt"/>
                <a:ea typeface="+mn-ea"/>
                <a:cs typeface="+mn-cs"/>
              </a:rPr>
              <a:t>P-R </a:t>
            </a:r>
            <a:r>
              <a:rPr lang="zh-CN" altLang="en-US" sz="1200" b="0" i="0" kern="1200" dirty="0" smtClean="0">
                <a:solidFill>
                  <a:schemeClr val="tx1"/>
                </a:solidFill>
                <a:effectLst/>
                <a:latin typeface="+mn-lt"/>
                <a:ea typeface="+mn-ea"/>
                <a:cs typeface="+mn-cs"/>
              </a:rPr>
              <a:t>曲线上各个点的坐标，根据置信度从大到小排序所有的预测框，然后就可以计算 </a:t>
            </a:r>
            <a:r>
              <a:rPr lang="en-US" altLang="zh-CN" sz="1200" b="0" i="0" kern="1200" dirty="0" smtClean="0">
                <a:solidFill>
                  <a:schemeClr val="tx1"/>
                </a:solidFill>
                <a:effectLst/>
                <a:latin typeface="+mn-lt"/>
                <a:ea typeface="+mn-ea"/>
                <a:cs typeface="+mn-cs"/>
              </a:rPr>
              <a:t>Precision </a:t>
            </a:r>
            <a:r>
              <a:rPr lang="zh-CN" altLang="en-US" sz="1200" b="0" i="0" kern="1200" dirty="0" smtClean="0">
                <a:solidFill>
                  <a:schemeClr val="tx1"/>
                </a:solidFill>
                <a:effectLst/>
                <a:latin typeface="+mn-lt"/>
                <a:ea typeface="+mn-ea"/>
                <a:cs typeface="+mn-cs"/>
              </a:rPr>
              <a:t>和 </a:t>
            </a:r>
            <a:r>
              <a:rPr lang="en-US" altLang="zh-CN" sz="1200" b="0" i="0" kern="1200" dirty="0" smtClean="0">
                <a:solidFill>
                  <a:schemeClr val="tx1"/>
                </a:solidFill>
                <a:effectLst/>
                <a:latin typeface="+mn-lt"/>
                <a:ea typeface="+mn-ea"/>
                <a:cs typeface="+mn-cs"/>
              </a:rPr>
              <a:t>Recall </a:t>
            </a:r>
            <a:r>
              <a:rPr lang="zh-CN" altLang="en-US" sz="1200" b="0" i="0" kern="1200" dirty="0" smtClean="0">
                <a:solidFill>
                  <a:schemeClr val="tx1"/>
                </a:solidFill>
                <a:effectLst/>
                <a:latin typeface="+mn-lt"/>
                <a:ea typeface="+mn-ea"/>
                <a:cs typeface="+mn-cs"/>
              </a:rPr>
              <a:t>的值，见下表。（需要记住一个叫累加的概念，就是下图的 </a:t>
            </a:r>
            <a:r>
              <a:rPr lang="en-US" altLang="zh-CN" sz="1200" b="0" i="0" kern="1200" dirty="0" smtClean="0">
                <a:solidFill>
                  <a:schemeClr val="tx1"/>
                </a:solidFill>
                <a:effectLst/>
                <a:latin typeface="+mn-lt"/>
                <a:ea typeface="+mn-ea"/>
                <a:cs typeface="+mn-cs"/>
              </a:rPr>
              <a:t>ACC TP </a:t>
            </a:r>
            <a:r>
              <a:rPr lang="zh-CN" altLang="en-US" sz="1200" b="0" i="0" kern="1200" dirty="0" smtClean="0">
                <a:solidFill>
                  <a:schemeClr val="tx1"/>
                </a:solidFill>
                <a:effectLst/>
                <a:latin typeface="+mn-lt"/>
                <a:ea typeface="+mn-ea"/>
                <a:cs typeface="+mn-cs"/>
              </a:rPr>
              <a:t>和 </a:t>
            </a:r>
            <a:r>
              <a:rPr lang="en-US" altLang="zh-CN" sz="1200" b="0" i="0" kern="1200" dirty="0" smtClean="0">
                <a:solidFill>
                  <a:schemeClr val="tx1"/>
                </a:solidFill>
                <a:effectLst/>
                <a:latin typeface="+mn-lt"/>
                <a:ea typeface="+mn-ea"/>
                <a:cs typeface="+mn-cs"/>
              </a:rPr>
              <a:t>ACC FP</a:t>
            </a:r>
            <a:r>
              <a:rPr lang="zh-CN" altLang="en-US" sz="1200" b="0" i="0" kern="1200" dirty="0" smtClean="0">
                <a:solidFill>
                  <a:schemeClr val="tx1"/>
                </a:solidFill>
                <a:effectLst/>
                <a:latin typeface="+mn-lt"/>
                <a:ea typeface="+mn-ea"/>
                <a:cs typeface="+mn-cs"/>
              </a:rPr>
              <a:t>）</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标号为 </a:t>
            </a:r>
            <a:r>
              <a:rPr lang="en-US" altLang="zh-CN" sz="1200" b="0" i="0" kern="1200" dirty="0" smtClean="0">
                <a:solidFill>
                  <a:schemeClr val="tx1"/>
                </a:solidFill>
                <a:effectLst/>
                <a:latin typeface="+mn-lt"/>
                <a:ea typeface="+mn-ea"/>
                <a:cs typeface="+mn-cs"/>
              </a:rPr>
              <a:t>1 </a:t>
            </a:r>
            <a:r>
              <a:rPr lang="zh-CN" altLang="en-US" sz="1200" b="0" i="0" kern="1200" dirty="0" smtClean="0">
                <a:solidFill>
                  <a:schemeClr val="tx1"/>
                </a:solidFill>
                <a:effectLst/>
                <a:latin typeface="+mn-lt"/>
                <a:ea typeface="+mn-ea"/>
                <a:cs typeface="+mn-cs"/>
              </a:rPr>
              <a:t>的 </a:t>
            </a:r>
            <a:r>
              <a:rPr lang="en-US" altLang="zh-CN" sz="1200" b="0" i="0" kern="1200" dirty="0" smtClean="0">
                <a:solidFill>
                  <a:schemeClr val="tx1"/>
                </a:solidFill>
                <a:effectLst/>
                <a:latin typeface="+mn-lt"/>
                <a:ea typeface="+mn-ea"/>
                <a:cs typeface="+mn-cs"/>
              </a:rPr>
              <a:t>Precision </a:t>
            </a:r>
            <a:r>
              <a:rPr lang="zh-CN" altLang="en-US" sz="1200" b="0" i="0" kern="1200" dirty="0" smtClean="0">
                <a:solidFill>
                  <a:schemeClr val="tx1"/>
                </a:solidFill>
                <a:effectLst/>
                <a:latin typeface="+mn-lt"/>
                <a:ea typeface="+mn-ea"/>
                <a:cs typeface="+mn-cs"/>
              </a:rPr>
              <a:t>和 </a:t>
            </a:r>
            <a:r>
              <a:rPr lang="en-US" altLang="zh-CN" sz="1200" b="0" i="0" kern="1200" dirty="0" smtClean="0">
                <a:solidFill>
                  <a:schemeClr val="tx1"/>
                </a:solidFill>
                <a:effectLst/>
                <a:latin typeface="+mn-lt"/>
                <a:ea typeface="+mn-ea"/>
                <a:cs typeface="+mn-cs"/>
              </a:rPr>
              <a:t>Recall </a:t>
            </a:r>
            <a:r>
              <a:rPr lang="zh-CN" altLang="en-US" sz="1200" b="0" i="0" kern="1200" dirty="0" smtClean="0">
                <a:solidFill>
                  <a:schemeClr val="tx1"/>
                </a:solidFill>
                <a:effectLst/>
                <a:latin typeface="+mn-lt"/>
                <a:ea typeface="+mn-ea"/>
                <a:cs typeface="+mn-cs"/>
              </a:rPr>
              <a:t>的计算方式：</a:t>
            </a:r>
            <a:r>
              <a:rPr lang="en-US" altLang="zh-CN" sz="1200" b="0" i="0" kern="1200" dirty="0" smtClean="0">
                <a:solidFill>
                  <a:schemeClr val="tx1"/>
                </a:solidFill>
                <a:effectLst/>
                <a:latin typeface="+mn-lt"/>
                <a:ea typeface="+mn-ea"/>
                <a:cs typeface="+mn-cs"/>
              </a:rPr>
              <a:t>Precision=TP/(TP+FP)=1/(1+0)=1</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Recall=TP/(TP+FN)=TP/(</a:t>
            </a:r>
            <a:r>
              <a:rPr lang="zh-CN" altLang="en-US" dirty="0" smtClean="0"/>
              <a:t>所有真值框</a:t>
            </a:r>
            <a:r>
              <a:rPr lang="en-US" altLang="zh-CN" sz="1200" b="0" i="0" kern="1200" dirty="0" smtClean="0">
                <a:solidFill>
                  <a:schemeClr val="tx1"/>
                </a:solidFill>
                <a:effectLst/>
                <a:latin typeface="+mn-lt"/>
                <a:ea typeface="+mn-ea"/>
                <a:cs typeface="+mn-cs"/>
              </a:rPr>
              <a:t>)=1/15=0.0666 </a:t>
            </a:r>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sz="1200" b="0" i="0" kern="1200" dirty="0" smtClean="0">
                <a:solidFill>
                  <a:schemeClr val="tx1"/>
                </a:solidFill>
                <a:effectLst/>
                <a:latin typeface="+mn-lt"/>
                <a:ea typeface="+mn-ea"/>
                <a:cs typeface="+mn-cs"/>
              </a:rPr>
              <a:t>标号 </a:t>
            </a:r>
            <a:r>
              <a:rPr lang="en-US" altLang="zh-CN" sz="1200" b="0" i="0" kern="1200" dirty="0" smtClean="0">
                <a:solidFill>
                  <a:schemeClr val="tx1"/>
                </a:solidFill>
                <a:effectLst/>
                <a:latin typeface="+mn-lt"/>
                <a:ea typeface="+mn-ea"/>
                <a:cs typeface="+mn-cs"/>
              </a:rPr>
              <a:t>2</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Precision=TP/(TP+FP)=1/(1+1)=0.5</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Recall=TP/(TP+FN)=TP/(</a:t>
            </a:r>
            <a:r>
              <a:rPr lang="zh-CN" altLang="en-US" sz="1200" b="0" i="0" kern="1200" dirty="0" smtClean="0">
                <a:solidFill>
                  <a:schemeClr val="tx1"/>
                </a:solidFill>
                <a:effectLst/>
                <a:latin typeface="+mn-lt"/>
                <a:ea typeface="+mn-ea"/>
                <a:cs typeface="+mn-cs"/>
              </a:rPr>
              <a:t>所有真值框</a:t>
            </a:r>
            <a:r>
              <a:rPr lang="en-US" altLang="zh-CN" sz="1200" b="0" i="0" kern="1200" dirty="0" smtClean="0">
                <a:solidFill>
                  <a:schemeClr val="tx1"/>
                </a:solidFill>
                <a:effectLst/>
                <a:latin typeface="+mn-lt"/>
                <a:ea typeface="+mn-ea"/>
                <a:cs typeface="+mn-cs"/>
              </a:rPr>
              <a:t>)=1/15=0.0666</a:t>
            </a:r>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sz="1200" b="0" i="0" kern="1200" dirty="0" smtClean="0">
                <a:solidFill>
                  <a:schemeClr val="tx1"/>
                </a:solidFill>
                <a:effectLst/>
                <a:latin typeface="+mn-lt"/>
                <a:ea typeface="+mn-ea"/>
                <a:cs typeface="+mn-cs"/>
              </a:rPr>
              <a:t>标号 </a:t>
            </a:r>
            <a:r>
              <a:rPr lang="en-US" altLang="zh-CN" sz="1200" b="0" i="0" kern="1200" dirty="0" smtClean="0">
                <a:solidFill>
                  <a:schemeClr val="tx1"/>
                </a:solidFill>
                <a:effectLst/>
                <a:latin typeface="+mn-lt"/>
                <a:ea typeface="+mn-ea"/>
                <a:cs typeface="+mn-cs"/>
              </a:rPr>
              <a:t>3</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Precision=TP/(TP+FP)=2/(2+1)=0.6666</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Recall=TP/(TP+FN)=TP/(</a:t>
            </a:r>
            <a:r>
              <a:rPr lang="zh-CN" altLang="en-US" sz="1200" b="0" i="0" kern="1200" dirty="0" smtClean="0">
                <a:solidFill>
                  <a:schemeClr val="tx1"/>
                </a:solidFill>
                <a:effectLst/>
                <a:latin typeface="+mn-lt"/>
                <a:ea typeface="+mn-ea"/>
                <a:cs typeface="+mn-cs"/>
              </a:rPr>
              <a:t>所有真值框</a:t>
            </a:r>
            <a:r>
              <a:rPr lang="en-US" altLang="zh-CN" sz="1200" b="0" i="0" kern="1200" dirty="0" smtClean="0">
                <a:solidFill>
                  <a:schemeClr val="tx1"/>
                </a:solidFill>
                <a:effectLst/>
                <a:latin typeface="+mn-lt"/>
                <a:ea typeface="+mn-ea"/>
                <a:cs typeface="+mn-cs"/>
              </a:rPr>
              <a:t>)=2/15=0.1333</a:t>
            </a:r>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sz="1200" b="0" i="0" kern="1200" dirty="0" smtClean="0">
                <a:solidFill>
                  <a:schemeClr val="tx1"/>
                </a:solidFill>
                <a:effectLst/>
                <a:latin typeface="+mn-lt"/>
                <a:ea typeface="+mn-ea"/>
                <a:cs typeface="+mn-cs"/>
              </a:rPr>
              <a:t>其他的依次类推</a:t>
            </a:r>
            <a:endParaRPr lang="en-US" altLang="zh-CN" sz="1200" b="0" i="0" kern="1200" dirty="0" smtClean="0">
              <a:solidFill>
                <a:schemeClr val="tx1"/>
              </a:solidFill>
              <a:effectLst/>
              <a:latin typeface="+mn-lt"/>
              <a:ea typeface="+mn-ea"/>
              <a:cs typeface="+mn-cs"/>
            </a:endParaRPr>
          </a:p>
          <a:p>
            <a:pPr marL="0" marR="0" indent="0" algn="l" defTabSz="914400" rtl="0" eaLnBrk="1" fontAlgn="base" latinLnBrk="0" hangingPunct="1">
              <a:lnSpc>
                <a:spcPct val="100000"/>
              </a:lnSpc>
              <a:spcBef>
                <a:spcPct val="0"/>
              </a:spcBef>
              <a:spcAft>
                <a:spcPct val="0"/>
              </a:spcAft>
              <a:buClrTx/>
              <a:buSzTx/>
              <a:buFontTx/>
              <a:buNone/>
              <a:tabLst/>
              <a:defRPr/>
            </a:pPr>
            <a:endParaRPr lang="en-US" altLang="zh-CN" sz="1200" b="0" i="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57236507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得到所有预测框的</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之后，就可以绘制出 </a:t>
            </a:r>
            <a:r>
              <a:rPr lang="en-US" altLang="zh-CN" sz="1200" b="0" i="0" kern="1200" dirty="0" smtClean="0">
                <a:solidFill>
                  <a:schemeClr val="tx1"/>
                </a:solidFill>
                <a:effectLst/>
                <a:latin typeface="+mn-lt"/>
                <a:ea typeface="+mn-ea"/>
                <a:cs typeface="+mn-cs"/>
              </a:rPr>
              <a:t>P-R </a:t>
            </a:r>
            <a:r>
              <a:rPr lang="zh-CN" altLang="en-US" sz="1200" b="0" i="0" kern="1200" dirty="0" smtClean="0">
                <a:solidFill>
                  <a:schemeClr val="tx1"/>
                </a:solidFill>
                <a:effectLst/>
                <a:latin typeface="+mn-lt"/>
                <a:ea typeface="+mn-ea"/>
                <a:cs typeface="+mn-cs"/>
              </a:rPr>
              <a:t>曲线。</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80517348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按照上述方法获得的</a:t>
            </a:r>
            <a:r>
              <a:rPr lang="en-US" altLang="zh-CN" dirty="0" smtClean="0"/>
              <a:t>P-R</a:t>
            </a:r>
            <a:r>
              <a:rPr lang="zh-CN" altLang="en-US" dirty="0" smtClean="0"/>
              <a:t>曲线会存在抖动，对</a:t>
            </a:r>
            <a:r>
              <a:rPr lang="en-US" altLang="zh-CN" dirty="0" smtClean="0"/>
              <a:t>P-R</a:t>
            </a:r>
            <a:r>
              <a:rPr lang="zh-CN" altLang="en-US" dirty="0" smtClean="0"/>
              <a:t>曲线进行平滑处理后，就可以计算 </a:t>
            </a:r>
            <a:r>
              <a:rPr lang="en-US" altLang="zh-CN" dirty="0" smtClean="0"/>
              <a:t>AP</a:t>
            </a:r>
            <a:r>
              <a:rPr lang="zh-CN" altLang="en-US" dirty="0" smtClean="0"/>
              <a:t>（</a:t>
            </a:r>
            <a:r>
              <a:rPr lang="en-US" altLang="zh-CN" dirty="0" smtClean="0"/>
              <a:t>P-R </a:t>
            </a:r>
            <a:r>
              <a:rPr lang="zh-CN" altLang="en-US" dirty="0" smtClean="0"/>
              <a:t>曲线下的面积），要计算 </a:t>
            </a:r>
            <a:r>
              <a:rPr lang="en-US" altLang="zh-CN" dirty="0" smtClean="0"/>
              <a:t>P-R </a:t>
            </a:r>
            <a:r>
              <a:rPr lang="zh-CN" altLang="en-US" dirty="0" smtClean="0"/>
              <a:t>下方的面积，</a:t>
            </a:r>
            <a:r>
              <a:rPr lang="en-US" altLang="zh-CN" dirty="0" smtClean="0"/>
              <a:t>PASCAL</a:t>
            </a:r>
            <a:r>
              <a:rPr lang="en-US" altLang="zh-CN" baseline="0" dirty="0" smtClean="0"/>
              <a:t> VOC 2007</a:t>
            </a:r>
            <a:r>
              <a:rPr lang="zh-CN" altLang="en-US" dirty="0" smtClean="0"/>
              <a:t>使用的是插值的方法，取 </a:t>
            </a:r>
            <a:r>
              <a:rPr lang="en-US" altLang="zh-CN" dirty="0" smtClean="0"/>
              <a:t>11 </a:t>
            </a:r>
            <a:r>
              <a:rPr lang="zh-CN" altLang="en-US" dirty="0" smtClean="0"/>
              <a:t>个点 </a:t>
            </a:r>
            <a:r>
              <a:rPr lang="en-US" altLang="zh-CN" dirty="0" smtClean="0"/>
              <a:t>[0, 0.1, 0.2, 0.3, 0.4, 0.5, 0.6, 0.7, 0.8, 0.9, 1] </a:t>
            </a:r>
            <a:r>
              <a:rPr lang="zh-CN" altLang="en-US" dirty="0" smtClean="0"/>
              <a:t>的插值所得。</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66043550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smtClean="0"/>
                  <a:t>得到一个类别的 </a:t>
                </a:r>
                <a:r>
                  <a:rPr lang="en-US" altLang="zh-CN" dirty="0" smtClean="0"/>
                  <a:t>AP </a:t>
                </a:r>
                <a:r>
                  <a:rPr lang="zh-CN" altLang="en-US" dirty="0" smtClean="0"/>
                  <a:t>结果如下：</a:t>
                </a:r>
                <a:endParaRPr lang="en-US" altLang="zh-CN"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其中</a:t>
                </a:r>
                <a14:m>
                  <m:oMath xmlns:m="http://schemas.openxmlformats.org/officeDocument/2006/math">
                    <m:r>
                      <a:rPr lang="zh-CN" altLang="en-US" i="1" smtClean="0">
                        <a:latin typeface="Cambria Math" panose="02040503050406030204" pitchFamily="18" charset="0"/>
                      </a:rPr>
                      <m:t>𝜌</m:t>
                    </m:r>
                    <m:r>
                      <a:rPr lang="en-US" altLang="zh-CN" i="1">
                        <a:latin typeface="Cambria Math" panose="02040503050406030204" pitchFamily="18" charset="0"/>
                      </a:rPr>
                      <m:t>𝑖𝑛𝑡𝑒𝑟𝑝</m:t>
                    </m:r>
                    <m:r>
                      <a:rPr lang="en-US" altLang="zh-CN" i="1">
                        <a:latin typeface="Cambria Math" panose="02040503050406030204" pitchFamily="18" charset="0"/>
                      </a:rPr>
                      <m:t>(</m:t>
                    </m:r>
                    <m:r>
                      <a:rPr lang="en-US" altLang="zh-CN" i="1">
                        <a:latin typeface="Cambria Math" panose="02040503050406030204" pitchFamily="18" charset="0"/>
                      </a:rPr>
                      <m:t>𝑟</m:t>
                    </m:r>
                    <m:r>
                      <a:rPr lang="en-US" altLang="zh-CN" i="1">
                        <a:latin typeface="Cambria Math" panose="02040503050406030204" pitchFamily="18" charset="0"/>
                      </a:rPr>
                      <m:t>)</m:t>
                    </m:r>
                  </m:oMath>
                </a14:m>
                <a:r>
                  <a:rPr lang="zh-CN" altLang="en-US" dirty="0"/>
                  <a:t>是经过平滑处理后的值</a:t>
                </a:r>
                <a:endParaRPr lang="en-US" altLang="zh-CN" dirty="0"/>
              </a:p>
              <a:p>
                <a:r>
                  <a:rPr lang="zh-CN" altLang="en-US" dirty="0" smtClean="0"/>
                  <a:t>把所有类别的 </a:t>
                </a:r>
                <a:r>
                  <a:rPr lang="en-US" altLang="zh-CN" dirty="0" smtClean="0"/>
                  <a:t>AP </a:t>
                </a:r>
                <a:r>
                  <a:rPr lang="zh-CN" altLang="en-US" dirty="0" smtClean="0"/>
                  <a:t>计算出来，然后求取平均即为</a:t>
                </a:r>
                <a:r>
                  <a:rPr lang="en-US" altLang="zh-CN" dirty="0" err="1" smtClean="0"/>
                  <a:t>mAP</a:t>
                </a:r>
                <a:r>
                  <a:rPr lang="zh-CN" altLang="en-US" dirty="0" smtClean="0"/>
                  <a:t>的值。</a:t>
                </a:r>
                <a:endParaRPr lang="zh-CN" altLang="en-US" dirty="0"/>
              </a:p>
            </p:txBody>
          </p:sp>
        </mc:Choice>
        <mc:Fallback xmlns="">
          <p:sp>
            <p:nvSpPr>
              <p:cNvPr id="3" name="备注占位符 2"/>
              <p:cNvSpPr>
                <a:spLocks noGrp="1"/>
              </p:cNvSpPr>
              <p:nvPr>
                <p:ph type="body" idx="1"/>
              </p:nvPr>
            </p:nvSpPr>
            <p:spPr/>
            <p:txBody>
              <a:bodyPr/>
              <a:lstStyle/>
              <a:p>
                <a:r>
                  <a:rPr lang="zh-CN" altLang="en-US" dirty="0" smtClean="0"/>
                  <a:t>得到一个类别的 </a:t>
                </a:r>
                <a:r>
                  <a:rPr lang="en-US" altLang="zh-CN" dirty="0" smtClean="0"/>
                  <a:t>AP </a:t>
                </a:r>
                <a:r>
                  <a:rPr lang="zh-CN" altLang="en-US" dirty="0" smtClean="0"/>
                  <a:t>结果如下：</a:t>
                </a:r>
                <a:endParaRPr lang="en-US" altLang="zh-CN"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其中</a:t>
                </a:r>
                <a:r>
                  <a:rPr lang="zh-CN" altLang="en-US" i="0" smtClean="0">
                    <a:latin typeface="Cambria Math" panose="02040503050406030204" pitchFamily="18" charset="0"/>
                  </a:rPr>
                  <a:t>𝜌</a:t>
                </a:r>
                <a:r>
                  <a:rPr lang="en-US" altLang="zh-CN" i="0">
                    <a:latin typeface="Cambria Math" panose="02040503050406030204" pitchFamily="18" charset="0"/>
                  </a:rPr>
                  <a:t>𝑖𝑛𝑡𝑒𝑟𝑝(𝑟)</a:t>
                </a:r>
                <a:r>
                  <a:rPr lang="zh-CN" altLang="en-US" dirty="0"/>
                  <a:t>是经过平滑处理后的值</a:t>
                </a:r>
                <a:endParaRPr lang="en-US" altLang="zh-CN" dirty="0"/>
              </a:p>
              <a:p>
                <a:r>
                  <a:rPr lang="zh-CN" altLang="en-US" dirty="0" smtClean="0"/>
                  <a:t>把所有类别的 </a:t>
                </a:r>
                <a:r>
                  <a:rPr lang="en-US" altLang="zh-CN" dirty="0" smtClean="0"/>
                  <a:t>AP </a:t>
                </a:r>
                <a:r>
                  <a:rPr lang="zh-CN" altLang="en-US" dirty="0" smtClean="0"/>
                  <a:t>计算出来，然后求取平均即为</a:t>
                </a:r>
                <a:r>
                  <a:rPr lang="en-US" altLang="zh-CN" dirty="0" err="1" smtClean="0"/>
                  <a:t>mAP</a:t>
                </a:r>
                <a:r>
                  <a:rPr lang="zh-CN" altLang="en-US" dirty="0" smtClean="0"/>
                  <a:t>的值。</a:t>
                </a:r>
                <a:endParaRPr lang="zh-CN" altLang="en-US" dirty="0"/>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44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3489188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spTree>
      <p:nvGrpSpPr>
        <p:cNvPr id="1" name=""/>
        <p:cNvGrpSpPr/>
        <p:nvPr/>
      </p:nvGrpSpPr>
      <p:grpSpPr>
        <a:xfrm>
          <a:off x="0" y="0"/>
          <a:ext cx="0" cy="0"/>
          <a:chOff x="0" y="0"/>
          <a:chExt cx="0" cy="0"/>
        </a:xfrm>
      </p:grpSpPr>
      <p:sp>
        <p:nvSpPr>
          <p:cNvPr id="6" name="矩形: 圆角 5">
            <a:extLst>
              <a:ext uri="{FF2B5EF4-FFF2-40B4-BE49-F238E27FC236}">
                <a16:creationId xmlns="" xmlns:a16="http://schemas.microsoft.com/office/drawing/2014/main" id="{6EB3BC85-6B9D-4CAF-90B8-EC7DC38A8093}"/>
              </a:ext>
            </a:extLst>
          </p:cNvPr>
          <p:cNvSpPr/>
          <p:nvPr userDrawn="1"/>
        </p:nvSpPr>
        <p:spPr>
          <a:xfrm>
            <a:off x="0" y="0"/>
            <a:ext cx="12192000" cy="6858000"/>
          </a:xfrm>
          <a:prstGeom prst="roundRect">
            <a:avLst>
              <a:gd name="adj" fmla="val 0"/>
            </a:avLst>
          </a:prstGeom>
          <a:gradFill>
            <a:gsLst>
              <a:gs pos="0">
                <a:schemeClr val="accent2"/>
              </a:gs>
              <a:gs pos="100000">
                <a:schemeClr val="accent3"/>
              </a:gs>
            </a:gsLst>
            <a:lin ang="0" scaled="0"/>
          </a:gra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任意多边形: 形状 6">
            <a:extLst>
              <a:ext uri="{FF2B5EF4-FFF2-40B4-BE49-F238E27FC236}">
                <a16:creationId xmlns="" xmlns:a16="http://schemas.microsoft.com/office/drawing/2014/main" id="{ED0129E5-1051-4340-8E45-BD04A72D1987}"/>
              </a:ext>
            </a:extLst>
          </p:cNvPr>
          <p:cNvSpPr/>
          <p:nvPr userDrawn="1"/>
        </p:nvSpPr>
        <p:spPr>
          <a:xfrm>
            <a:off x="4019550" y="1346200"/>
            <a:ext cx="7832725" cy="5137150"/>
          </a:xfrm>
          <a:custGeom>
            <a:avLst/>
            <a:gdLst>
              <a:gd name="connsiteX0" fmla="*/ 9059374 w 9059374"/>
              <a:gd name="connsiteY0" fmla="*/ 0 h 5940588"/>
              <a:gd name="connsiteX1" fmla="*/ 9059374 w 9059374"/>
              <a:gd name="connsiteY1" fmla="*/ 5940588 h 5940588"/>
              <a:gd name="connsiteX2" fmla="*/ 0 w 9059374"/>
              <a:gd name="connsiteY2" fmla="*/ 5940588 h 5940588"/>
            </a:gdLst>
            <a:ahLst/>
            <a:cxnLst>
              <a:cxn ang="0">
                <a:pos x="connsiteX0" y="connsiteY0"/>
              </a:cxn>
              <a:cxn ang="0">
                <a:pos x="connsiteX1" y="connsiteY1"/>
              </a:cxn>
              <a:cxn ang="0">
                <a:pos x="connsiteX2" y="connsiteY2"/>
              </a:cxn>
            </a:cxnLst>
            <a:rect l="l" t="t" r="r" b="b"/>
            <a:pathLst>
              <a:path w="9059374" h="5940588">
                <a:moveTo>
                  <a:pt x="9059374" y="0"/>
                </a:moveTo>
                <a:lnTo>
                  <a:pt x="9059374" y="5940588"/>
                </a:lnTo>
                <a:lnTo>
                  <a:pt x="0" y="5940588"/>
                </a:lnTo>
                <a:close/>
              </a:path>
            </a:pathLst>
          </a:custGeom>
          <a:solidFill>
            <a:schemeClr val="bg1">
              <a:alpha val="27000"/>
            </a:schemeClr>
          </a:soli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8" name="Freeform 100">
            <a:extLst>
              <a:ext uri="{FF2B5EF4-FFF2-40B4-BE49-F238E27FC236}">
                <a16:creationId xmlns="" xmlns:a16="http://schemas.microsoft.com/office/drawing/2014/main" id="{A36D1798-A1CA-4D7E-B424-254BFF94FD7C}"/>
              </a:ext>
            </a:extLst>
          </p:cNvPr>
          <p:cNvSpPr>
            <a:spLocks noChangeArrowheads="1"/>
          </p:cNvSpPr>
          <p:nvPr/>
        </p:nvSpPr>
        <p:spPr bwMode="auto">
          <a:xfrm>
            <a:off x="6213475" y="1006475"/>
            <a:ext cx="2635250" cy="1997075"/>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1">
            <a:extLst>
              <a:ext uri="{FF2B5EF4-FFF2-40B4-BE49-F238E27FC236}">
                <a16:creationId xmlns="" xmlns:a16="http://schemas.microsoft.com/office/drawing/2014/main" id="{E8C3362A-0A53-4F77-816A-7587B884A5E9}"/>
              </a:ext>
            </a:extLst>
          </p:cNvPr>
          <p:cNvSpPr>
            <a:spLocks noChangeArrowheads="1"/>
          </p:cNvSpPr>
          <p:nvPr/>
        </p:nvSpPr>
        <p:spPr bwMode="auto">
          <a:xfrm>
            <a:off x="7951788" y="830263"/>
            <a:ext cx="1057275" cy="2173287"/>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2">
            <a:extLst>
              <a:ext uri="{FF2B5EF4-FFF2-40B4-BE49-F238E27FC236}">
                <a16:creationId xmlns="" xmlns:a16="http://schemas.microsoft.com/office/drawing/2014/main" id="{B38EB0B3-A79D-4899-B750-F812B5748320}"/>
              </a:ext>
            </a:extLst>
          </p:cNvPr>
          <p:cNvSpPr>
            <a:spLocks noChangeArrowheads="1"/>
          </p:cNvSpPr>
          <p:nvPr/>
        </p:nvSpPr>
        <p:spPr bwMode="auto">
          <a:xfrm>
            <a:off x="7799388" y="639763"/>
            <a:ext cx="1377950" cy="2363787"/>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3">
            <a:extLst>
              <a:ext uri="{FF2B5EF4-FFF2-40B4-BE49-F238E27FC236}">
                <a16:creationId xmlns="" xmlns:a16="http://schemas.microsoft.com/office/drawing/2014/main" id="{70050A56-5891-4390-A47C-74FAD121AB29}"/>
              </a:ext>
            </a:extLst>
          </p:cNvPr>
          <p:cNvSpPr>
            <a:spLocks noEditPoints="1" noChangeArrowheads="1"/>
          </p:cNvSpPr>
          <p:nvPr/>
        </p:nvSpPr>
        <p:spPr bwMode="auto">
          <a:xfrm>
            <a:off x="6129338" y="965200"/>
            <a:ext cx="100012"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4">
            <a:extLst>
              <a:ext uri="{FF2B5EF4-FFF2-40B4-BE49-F238E27FC236}">
                <a16:creationId xmlns="" xmlns:a16="http://schemas.microsoft.com/office/drawing/2014/main" id="{7682B7E0-695F-44B2-875E-095AF6F7046A}"/>
              </a:ext>
            </a:extLst>
          </p:cNvPr>
          <p:cNvSpPr>
            <a:spLocks noEditPoints="1" noChangeArrowheads="1"/>
          </p:cNvSpPr>
          <p:nvPr/>
        </p:nvSpPr>
        <p:spPr bwMode="auto">
          <a:xfrm>
            <a:off x="7867650" y="792163"/>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5">
            <a:extLst>
              <a:ext uri="{FF2B5EF4-FFF2-40B4-BE49-F238E27FC236}">
                <a16:creationId xmlns="" xmlns:a16="http://schemas.microsoft.com/office/drawing/2014/main" id="{CC4A0B06-5CDE-4CBC-B116-907CE683E1CC}"/>
              </a:ext>
            </a:extLst>
          </p:cNvPr>
          <p:cNvSpPr>
            <a:spLocks noEditPoints="1" noChangeArrowheads="1"/>
          </p:cNvSpPr>
          <p:nvPr/>
        </p:nvSpPr>
        <p:spPr bwMode="auto">
          <a:xfrm>
            <a:off x="7715250" y="598488"/>
            <a:ext cx="101600"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6">
            <a:extLst>
              <a:ext uri="{FF2B5EF4-FFF2-40B4-BE49-F238E27FC236}">
                <a16:creationId xmlns="" xmlns:a16="http://schemas.microsoft.com/office/drawing/2014/main" id="{6CB9C93B-43EF-4856-811F-BCF5E95C91D2}"/>
              </a:ext>
            </a:extLst>
          </p:cNvPr>
          <p:cNvSpPr>
            <a:spLocks noChangeArrowheads="1"/>
          </p:cNvSpPr>
          <p:nvPr/>
        </p:nvSpPr>
        <p:spPr bwMode="auto">
          <a:xfrm>
            <a:off x="7313613" y="493713"/>
            <a:ext cx="2027237" cy="2509837"/>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7">
            <a:extLst>
              <a:ext uri="{FF2B5EF4-FFF2-40B4-BE49-F238E27FC236}">
                <a16:creationId xmlns="" xmlns:a16="http://schemas.microsoft.com/office/drawing/2014/main" id="{BCE8B6EB-271B-4795-84B5-C74FC766DFF9}"/>
              </a:ext>
            </a:extLst>
          </p:cNvPr>
          <p:cNvSpPr>
            <a:spLocks noEditPoints="1" noChangeArrowheads="1"/>
          </p:cNvSpPr>
          <p:nvPr/>
        </p:nvSpPr>
        <p:spPr bwMode="auto">
          <a:xfrm>
            <a:off x="7229475" y="452438"/>
            <a:ext cx="100013"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8">
            <a:extLst>
              <a:ext uri="{FF2B5EF4-FFF2-40B4-BE49-F238E27FC236}">
                <a16:creationId xmlns="" xmlns:a16="http://schemas.microsoft.com/office/drawing/2014/main" id="{2C044E33-42F0-47B8-9413-FF36324D4CA0}"/>
              </a:ext>
            </a:extLst>
          </p:cNvPr>
          <p:cNvSpPr>
            <a:spLocks noChangeArrowheads="1"/>
          </p:cNvSpPr>
          <p:nvPr/>
        </p:nvSpPr>
        <p:spPr bwMode="auto">
          <a:xfrm>
            <a:off x="9493250" y="493713"/>
            <a:ext cx="1433513" cy="2509837"/>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09">
            <a:extLst>
              <a:ext uri="{FF2B5EF4-FFF2-40B4-BE49-F238E27FC236}">
                <a16:creationId xmlns="" xmlns:a16="http://schemas.microsoft.com/office/drawing/2014/main" id="{B0B75A94-9E0D-4A3A-831A-ED028A99DB23}"/>
              </a:ext>
            </a:extLst>
          </p:cNvPr>
          <p:cNvSpPr>
            <a:spLocks noEditPoints="1" noChangeArrowheads="1"/>
          </p:cNvSpPr>
          <p:nvPr/>
        </p:nvSpPr>
        <p:spPr bwMode="auto">
          <a:xfrm>
            <a:off x="10904538"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0">
            <a:extLst>
              <a:ext uri="{FF2B5EF4-FFF2-40B4-BE49-F238E27FC236}">
                <a16:creationId xmlns="" xmlns:a16="http://schemas.microsoft.com/office/drawing/2014/main" id="{60903120-90EA-4BD9-989C-DEE80E5D9170}"/>
              </a:ext>
            </a:extLst>
          </p:cNvPr>
          <p:cNvSpPr>
            <a:spLocks noEditPoints="1" noChangeArrowheads="1"/>
          </p:cNvSpPr>
          <p:nvPr/>
        </p:nvSpPr>
        <p:spPr bwMode="auto">
          <a:xfrm>
            <a:off x="11102975"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1">
            <a:extLst>
              <a:ext uri="{FF2B5EF4-FFF2-40B4-BE49-F238E27FC236}">
                <a16:creationId xmlns="" xmlns:a16="http://schemas.microsoft.com/office/drawing/2014/main" id="{5FEBB2C5-1CB2-4CB4-951C-C88673222AA8}"/>
              </a:ext>
            </a:extLst>
          </p:cNvPr>
          <p:cNvSpPr>
            <a:spLocks noEditPoints="1" noChangeArrowheads="1"/>
          </p:cNvSpPr>
          <p:nvPr/>
        </p:nvSpPr>
        <p:spPr bwMode="auto">
          <a:xfrm>
            <a:off x="11307763" y="452438"/>
            <a:ext cx="100012"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2">
            <a:extLst>
              <a:ext uri="{FF2B5EF4-FFF2-40B4-BE49-F238E27FC236}">
                <a16:creationId xmlns="" xmlns:a16="http://schemas.microsoft.com/office/drawing/2014/main" id="{61BBE27F-C126-43A0-ADAC-32F04A7BA344}"/>
              </a:ext>
            </a:extLst>
          </p:cNvPr>
          <p:cNvSpPr>
            <a:spLocks noEditPoints="1" noChangeArrowheads="1"/>
          </p:cNvSpPr>
          <p:nvPr/>
        </p:nvSpPr>
        <p:spPr bwMode="auto">
          <a:xfrm>
            <a:off x="115030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3">
            <a:extLst>
              <a:ext uri="{FF2B5EF4-FFF2-40B4-BE49-F238E27FC236}">
                <a16:creationId xmlns="" xmlns:a16="http://schemas.microsoft.com/office/drawing/2014/main" id="{EAA58AC9-539D-4C09-9AA7-13B04599C160}"/>
              </a:ext>
            </a:extLst>
          </p:cNvPr>
          <p:cNvSpPr>
            <a:spLocks noEditPoints="1" noChangeArrowheads="1"/>
          </p:cNvSpPr>
          <p:nvPr/>
        </p:nvSpPr>
        <p:spPr bwMode="auto">
          <a:xfrm>
            <a:off x="117062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4">
            <a:extLst>
              <a:ext uri="{FF2B5EF4-FFF2-40B4-BE49-F238E27FC236}">
                <a16:creationId xmlns="" xmlns:a16="http://schemas.microsoft.com/office/drawing/2014/main" id="{ACC85A4E-AC3E-44B6-8F1C-395F77E6AE44}"/>
              </a:ext>
            </a:extLst>
          </p:cNvPr>
          <p:cNvSpPr>
            <a:spLocks noEditPoints="1" noChangeArrowheads="1"/>
          </p:cNvSpPr>
          <p:nvPr/>
        </p:nvSpPr>
        <p:spPr bwMode="auto">
          <a:xfrm>
            <a:off x="11904663" y="452438"/>
            <a:ext cx="100012"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7">
            <a:extLst>
              <a:ext uri="{FF2B5EF4-FFF2-40B4-BE49-F238E27FC236}">
                <a16:creationId xmlns="" xmlns:a16="http://schemas.microsoft.com/office/drawing/2014/main" id="{52FC56B6-5653-4FCF-B0E0-5EB6CF7D4CF7}"/>
              </a:ext>
            </a:extLst>
          </p:cNvPr>
          <p:cNvSpPr>
            <a:spLocks noEditPoints="1" noChangeArrowheads="1"/>
          </p:cNvSpPr>
          <p:nvPr/>
        </p:nvSpPr>
        <p:spPr bwMode="auto">
          <a:xfrm>
            <a:off x="4643438" y="2600325"/>
            <a:ext cx="6894512" cy="4008438"/>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8">
            <a:extLst>
              <a:ext uri="{FF2B5EF4-FFF2-40B4-BE49-F238E27FC236}">
                <a16:creationId xmlns="" xmlns:a16="http://schemas.microsoft.com/office/drawing/2014/main" id="{6E93BA8B-AE90-475B-9BCA-7C9DE918B6FE}"/>
              </a:ext>
            </a:extLst>
          </p:cNvPr>
          <p:cNvSpPr>
            <a:spLocks noChangeArrowheads="1"/>
          </p:cNvSpPr>
          <p:nvPr/>
        </p:nvSpPr>
        <p:spPr bwMode="auto">
          <a:xfrm>
            <a:off x="4502150" y="2122488"/>
            <a:ext cx="7172325" cy="4067175"/>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19">
            <a:extLst>
              <a:ext uri="{FF2B5EF4-FFF2-40B4-BE49-F238E27FC236}">
                <a16:creationId xmlns="" xmlns:a16="http://schemas.microsoft.com/office/drawing/2014/main" id="{8272447B-0412-408B-B30E-A3EAA6303F2B}"/>
              </a:ext>
            </a:extLst>
          </p:cNvPr>
          <p:cNvSpPr>
            <a:spLocks noChangeArrowheads="1"/>
          </p:cNvSpPr>
          <p:nvPr/>
        </p:nvSpPr>
        <p:spPr bwMode="auto">
          <a:xfrm>
            <a:off x="4502150" y="3313113"/>
            <a:ext cx="7172325" cy="2860675"/>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0">
            <a:extLst>
              <a:ext uri="{FF2B5EF4-FFF2-40B4-BE49-F238E27FC236}">
                <a16:creationId xmlns="" xmlns:a16="http://schemas.microsoft.com/office/drawing/2014/main" id="{10152BF8-06E3-4D91-BDFF-8B0CB78A2085}"/>
              </a:ext>
            </a:extLst>
          </p:cNvPr>
          <p:cNvSpPr>
            <a:spLocks noChangeArrowheads="1"/>
          </p:cNvSpPr>
          <p:nvPr/>
        </p:nvSpPr>
        <p:spPr bwMode="auto">
          <a:xfrm>
            <a:off x="4502150" y="3375025"/>
            <a:ext cx="7172325" cy="275272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1">
            <a:extLst>
              <a:ext uri="{FF2B5EF4-FFF2-40B4-BE49-F238E27FC236}">
                <a16:creationId xmlns="" xmlns:a16="http://schemas.microsoft.com/office/drawing/2014/main" id="{D116E5C1-D001-4F24-8EAB-DF98F7901648}"/>
              </a:ext>
            </a:extLst>
          </p:cNvPr>
          <p:cNvSpPr>
            <a:spLocks noChangeArrowheads="1"/>
          </p:cNvSpPr>
          <p:nvPr/>
        </p:nvSpPr>
        <p:spPr bwMode="auto">
          <a:xfrm>
            <a:off x="4479925" y="1851025"/>
            <a:ext cx="7221538" cy="4170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2">
            <a:extLst>
              <a:ext uri="{FF2B5EF4-FFF2-40B4-BE49-F238E27FC236}">
                <a16:creationId xmlns="" xmlns:a16="http://schemas.microsoft.com/office/drawing/2014/main" id="{617B4ED8-8EB4-400C-80E8-07B6665657E1}"/>
              </a:ext>
            </a:extLst>
          </p:cNvPr>
          <p:cNvSpPr>
            <a:spLocks noChangeArrowheads="1"/>
          </p:cNvSpPr>
          <p:nvPr/>
        </p:nvSpPr>
        <p:spPr bwMode="auto">
          <a:xfrm>
            <a:off x="6246813" y="5681663"/>
            <a:ext cx="50800" cy="7302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3">
            <a:extLst>
              <a:ext uri="{FF2B5EF4-FFF2-40B4-BE49-F238E27FC236}">
                <a16:creationId xmlns="" xmlns:a16="http://schemas.microsoft.com/office/drawing/2014/main" id="{D73F8684-E5A7-49EE-906B-5C88229AC643}"/>
              </a:ext>
            </a:extLst>
          </p:cNvPr>
          <p:cNvSpPr>
            <a:spLocks noChangeArrowheads="1"/>
          </p:cNvSpPr>
          <p:nvPr/>
        </p:nvSpPr>
        <p:spPr bwMode="auto">
          <a:xfrm>
            <a:off x="6350000" y="5738813"/>
            <a:ext cx="47625" cy="79375"/>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4">
            <a:extLst>
              <a:ext uri="{FF2B5EF4-FFF2-40B4-BE49-F238E27FC236}">
                <a16:creationId xmlns="" xmlns:a16="http://schemas.microsoft.com/office/drawing/2014/main" id="{41621DB1-3C1F-4A87-AAF6-176EE9EE27FB}"/>
              </a:ext>
            </a:extLst>
          </p:cNvPr>
          <p:cNvSpPr>
            <a:spLocks noChangeArrowheads="1"/>
          </p:cNvSpPr>
          <p:nvPr/>
        </p:nvSpPr>
        <p:spPr bwMode="auto">
          <a:xfrm>
            <a:off x="6450013" y="5800725"/>
            <a:ext cx="50800" cy="74613"/>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5">
            <a:extLst>
              <a:ext uri="{FF2B5EF4-FFF2-40B4-BE49-F238E27FC236}">
                <a16:creationId xmlns="" xmlns:a16="http://schemas.microsoft.com/office/drawing/2014/main" id="{C874FC1E-7F15-4D7D-83C8-F6095448BD51}"/>
              </a:ext>
            </a:extLst>
          </p:cNvPr>
          <p:cNvSpPr>
            <a:spLocks noChangeArrowheads="1"/>
          </p:cNvSpPr>
          <p:nvPr/>
        </p:nvSpPr>
        <p:spPr bwMode="auto">
          <a:xfrm>
            <a:off x="4846638" y="4875213"/>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6">
            <a:extLst>
              <a:ext uri="{FF2B5EF4-FFF2-40B4-BE49-F238E27FC236}">
                <a16:creationId xmlns="" xmlns:a16="http://schemas.microsoft.com/office/drawing/2014/main" id="{CFC1559D-E549-405C-86C0-6E9B675C1044}"/>
              </a:ext>
            </a:extLst>
          </p:cNvPr>
          <p:cNvSpPr>
            <a:spLocks noChangeArrowheads="1"/>
          </p:cNvSpPr>
          <p:nvPr/>
        </p:nvSpPr>
        <p:spPr bwMode="auto">
          <a:xfrm>
            <a:off x="4948238" y="4932363"/>
            <a:ext cx="57150" cy="77787"/>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7">
            <a:extLst>
              <a:ext uri="{FF2B5EF4-FFF2-40B4-BE49-F238E27FC236}">
                <a16:creationId xmlns="" xmlns:a16="http://schemas.microsoft.com/office/drawing/2014/main" id="{167C5277-283F-4981-BC8A-44C75FAABDAD}"/>
              </a:ext>
            </a:extLst>
          </p:cNvPr>
          <p:cNvSpPr>
            <a:spLocks noChangeArrowheads="1"/>
          </p:cNvSpPr>
          <p:nvPr/>
        </p:nvSpPr>
        <p:spPr bwMode="auto">
          <a:xfrm>
            <a:off x="5051425" y="4994275"/>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8">
            <a:extLst>
              <a:ext uri="{FF2B5EF4-FFF2-40B4-BE49-F238E27FC236}">
                <a16:creationId xmlns="" xmlns:a16="http://schemas.microsoft.com/office/drawing/2014/main" id="{DB125307-8DC3-45CD-B9BA-5921413A8942}"/>
              </a:ext>
            </a:extLst>
          </p:cNvPr>
          <p:cNvSpPr>
            <a:spLocks noEditPoints="1" noChangeArrowheads="1"/>
          </p:cNvSpPr>
          <p:nvPr/>
        </p:nvSpPr>
        <p:spPr bwMode="auto">
          <a:xfrm>
            <a:off x="8047038" y="1835150"/>
            <a:ext cx="1135062" cy="59690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29">
            <a:extLst>
              <a:ext uri="{FF2B5EF4-FFF2-40B4-BE49-F238E27FC236}">
                <a16:creationId xmlns="" xmlns:a16="http://schemas.microsoft.com/office/drawing/2014/main" id="{7F7D55B9-EFA6-434A-8578-006352C1ADBA}"/>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0">
            <a:extLst>
              <a:ext uri="{FF2B5EF4-FFF2-40B4-BE49-F238E27FC236}">
                <a16:creationId xmlns="" xmlns:a16="http://schemas.microsoft.com/office/drawing/2014/main" id="{CC862553-9916-4454-9791-F4B520A76C99}"/>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1">
            <a:extLst>
              <a:ext uri="{FF2B5EF4-FFF2-40B4-BE49-F238E27FC236}">
                <a16:creationId xmlns="" xmlns:a16="http://schemas.microsoft.com/office/drawing/2014/main" id="{C855EEB7-A415-4F88-90CF-287B35822CD1}"/>
              </a:ext>
            </a:extLst>
          </p:cNvPr>
          <p:cNvSpPr>
            <a:spLocks noChangeArrowheads="1"/>
          </p:cNvSpPr>
          <p:nvPr/>
        </p:nvSpPr>
        <p:spPr bwMode="auto">
          <a:xfrm>
            <a:off x="8985250" y="1866900"/>
            <a:ext cx="23813" cy="36513"/>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2">
            <a:extLst>
              <a:ext uri="{FF2B5EF4-FFF2-40B4-BE49-F238E27FC236}">
                <a16:creationId xmlns="" xmlns:a16="http://schemas.microsoft.com/office/drawing/2014/main" id="{052F20EB-602F-4FD8-ACC7-6631A771901F}"/>
              </a:ext>
            </a:extLst>
          </p:cNvPr>
          <p:cNvSpPr>
            <a:spLocks noChangeArrowheads="1"/>
          </p:cNvSpPr>
          <p:nvPr/>
        </p:nvSpPr>
        <p:spPr bwMode="auto">
          <a:xfrm>
            <a:off x="9155113" y="1835150"/>
            <a:ext cx="2222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3">
            <a:extLst>
              <a:ext uri="{FF2B5EF4-FFF2-40B4-BE49-F238E27FC236}">
                <a16:creationId xmlns="" xmlns:a16="http://schemas.microsoft.com/office/drawing/2014/main" id="{A53F6B73-E537-4FED-9A29-38A6E605C2B4}"/>
              </a:ext>
            </a:extLst>
          </p:cNvPr>
          <p:cNvSpPr>
            <a:spLocks noChangeArrowheads="1"/>
          </p:cNvSpPr>
          <p:nvPr/>
        </p:nvSpPr>
        <p:spPr bwMode="auto">
          <a:xfrm>
            <a:off x="4497388" y="2924175"/>
            <a:ext cx="2686050" cy="16192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 name="Freeform 134">
            <a:extLst>
              <a:ext uri="{FF2B5EF4-FFF2-40B4-BE49-F238E27FC236}">
                <a16:creationId xmlns="" xmlns:a16="http://schemas.microsoft.com/office/drawing/2014/main" id="{12AF3E8E-CD03-41B7-94AE-F750110E9FA9}"/>
              </a:ext>
            </a:extLst>
          </p:cNvPr>
          <p:cNvSpPr>
            <a:spLocks noChangeArrowheads="1"/>
          </p:cNvSpPr>
          <p:nvPr/>
        </p:nvSpPr>
        <p:spPr bwMode="auto">
          <a:xfrm>
            <a:off x="4506913" y="4486275"/>
            <a:ext cx="2530475" cy="14827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3" name="组合 47">
            <a:extLst>
              <a:ext uri="{FF2B5EF4-FFF2-40B4-BE49-F238E27FC236}">
                <a16:creationId xmlns="" xmlns:a16="http://schemas.microsoft.com/office/drawing/2014/main" id="{8BD377F7-3023-4EBA-A9C2-C59B12DF8729}"/>
              </a:ext>
            </a:extLst>
          </p:cNvPr>
          <p:cNvGrpSpPr>
            <a:grpSpLocks/>
          </p:cNvGrpSpPr>
          <p:nvPr/>
        </p:nvGrpSpPr>
        <p:grpSpPr bwMode="auto">
          <a:xfrm>
            <a:off x="4427538" y="1868488"/>
            <a:ext cx="7250112" cy="4165600"/>
            <a:chOff x="7564437" y="4244495"/>
            <a:chExt cx="4236358" cy="2433801"/>
          </a:xfrm>
        </p:grpSpPr>
        <p:sp>
          <p:nvSpPr>
            <p:cNvPr id="44" name="Freeform 238">
              <a:extLst>
                <a:ext uri="{FF2B5EF4-FFF2-40B4-BE49-F238E27FC236}">
                  <a16:creationId xmlns="" xmlns:a16="http://schemas.microsoft.com/office/drawing/2014/main" id="{06CD3851-C2DC-4690-B440-748F9799AEC1}"/>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 xmlns:a16="http://schemas.microsoft.com/office/drawing/2014/main" id="{B973BE56-DEA8-41C4-8C36-37104015B34C}"/>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 xmlns:a16="http://schemas.microsoft.com/office/drawing/2014/main" id="{3548C1B7-A01A-4E0F-AF45-EDD9848EA76A}"/>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238">
              <a:extLst>
                <a:ext uri="{FF2B5EF4-FFF2-40B4-BE49-F238E27FC236}">
                  <a16:creationId xmlns="" xmlns:a16="http://schemas.microsoft.com/office/drawing/2014/main" id="{7F02276A-59AF-4F48-A5AB-24EA731DDD8F}"/>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8" name="Freeform 135">
            <a:extLst>
              <a:ext uri="{FF2B5EF4-FFF2-40B4-BE49-F238E27FC236}">
                <a16:creationId xmlns="" xmlns:a16="http://schemas.microsoft.com/office/drawing/2014/main" id="{6EEB7527-0533-428E-A4E0-60BCFBAF5F82}"/>
              </a:ext>
            </a:extLst>
          </p:cNvPr>
          <p:cNvSpPr>
            <a:spLocks noEditPoints="1" noChangeArrowheads="1"/>
          </p:cNvSpPr>
          <p:nvPr/>
        </p:nvSpPr>
        <p:spPr bwMode="auto">
          <a:xfrm>
            <a:off x="7848600" y="4233863"/>
            <a:ext cx="1522413" cy="885825"/>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7">
            <a:extLst>
              <a:ext uri="{FF2B5EF4-FFF2-40B4-BE49-F238E27FC236}">
                <a16:creationId xmlns="" xmlns:a16="http://schemas.microsoft.com/office/drawing/2014/main" id="{75AA00D5-DAE8-4A1C-B2C9-B215959AC4C9}"/>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6">
            <a:extLst>
              <a:ext uri="{FF2B5EF4-FFF2-40B4-BE49-F238E27FC236}">
                <a16:creationId xmlns="" xmlns:a16="http://schemas.microsoft.com/office/drawing/2014/main" id="{3433F4F9-5741-4C20-8334-162108AEF4AE}"/>
              </a:ext>
            </a:extLst>
          </p:cNvPr>
          <p:cNvSpPr>
            <a:spLocks noEditPoints="1" noChangeArrowheads="1"/>
          </p:cNvSpPr>
          <p:nvPr/>
        </p:nvSpPr>
        <p:spPr bwMode="auto">
          <a:xfrm>
            <a:off x="9302750" y="3255963"/>
            <a:ext cx="1765300" cy="87947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8">
            <a:extLst>
              <a:ext uri="{FF2B5EF4-FFF2-40B4-BE49-F238E27FC236}">
                <a16:creationId xmlns="" xmlns:a16="http://schemas.microsoft.com/office/drawing/2014/main" id="{845BA712-40A3-4972-9FF9-3CC40014772B}"/>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39">
            <a:extLst>
              <a:ext uri="{FF2B5EF4-FFF2-40B4-BE49-F238E27FC236}">
                <a16:creationId xmlns="" xmlns:a16="http://schemas.microsoft.com/office/drawing/2014/main" id="{77A62DCF-8554-49AB-89CF-3940606F5240}"/>
              </a:ext>
            </a:extLst>
          </p:cNvPr>
          <p:cNvSpPr>
            <a:spLocks noEditPoints="1" noChangeArrowheads="1"/>
          </p:cNvSpPr>
          <p:nvPr/>
        </p:nvSpPr>
        <p:spPr bwMode="auto">
          <a:xfrm>
            <a:off x="7194550" y="2668588"/>
            <a:ext cx="1704975" cy="938212"/>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0">
            <a:extLst>
              <a:ext uri="{FF2B5EF4-FFF2-40B4-BE49-F238E27FC236}">
                <a16:creationId xmlns="" xmlns:a16="http://schemas.microsoft.com/office/drawing/2014/main" id="{0534DEAB-9CFA-4BE0-95EB-9E0AD9CFD970}"/>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1">
            <a:extLst>
              <a:ext uri="{FF2B5EF4-FFF2-40B4-BE49-F238E27FC236}">
                <a16:creationId xmlns="" xmlns:a16="http://schemas.microsoft.com/office/drawing/2014/main" id="{B01204B3-A082-461D-8FA8-5DDFE7384B8B}"/>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2">
            <a:extLst>
              <a:ext uri="{FF2B5EF4-FFF2-40B4-BE49-F238E27FC236}">
                <a16:creationId xmlns="" xmlns:a16="http://schemas.microsoft.com/office/drawing/2014/main" id="{B25CF6BF-6664-484E-9E77-6EE02638DCBC}"/>
              </a:ext>
            </a:extLst>
          </p:cNvPr>
          <p:cNvSpPr>
            <a:spLocks noChangeArrowheads="1"/>
          </p:cNvSpPr>
          <p:nvPr/>
        </p:nvSpPr>
        <p:spPr bwMode="auto">
          <a:xfrm>
            <a:off x="5664200" y="5113338"/>
            <a:ext cx="209550" cy="247650"/>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3">
            <a:extLst>
              <a:ext uri="{FF2B5EF4-FFF2-40B4-BE49-F238E27FC236}">
                <a16:creationId xmlns="" xmlns:a16="http://schemas.microsoft.com/office/drawing/2014/main" id="{7B3D527A-1910-41F3-B9D2-41C0BA69E68F}"/>
              </a:ext>
            </a:extLst>
          </p:cNvPr>
          <p:cNvSpPr>
            <a:spLocks noChangeArrowheads="1"/>
          </p:cNvSpPr>
          <p:nvPr/>
        </p:nvSpPr>
        <p:spPr bwMode="auto">
          <a:xfrm>
            <a:off x="5559425" y="5276850"/>
            <a:ext cx="234950" cy="195263"/>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4">
            <a:extLst>
              <a:ext uri="{FF2B5EF4-FFF2-40B4-BE49-F238E27FC236}">
                <a16:creationId xmlns="" xmlns:a16="http://schemas.microsoft.com/office/drawing/2014/main" id="{CD26042C-F6F5-4EA2-B2EE-404C435C734C}"/>
              </a:ext>
            </a:extLst>
          </p:cNvPr>
          <p:cNvSpPr>
            <a:spLocks noChangeArrowheads="1"/>
          </p:cNvSpPr>
          <p:nvPr/>
        </p:nvSpPr>
        <p:spPr bwMode="auto">
          <a:xfrm>
            <a:off x="5800725" y="4875213"/>
            <a:ext cx="2055813" cy="48577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5">
            <a:extLst>
              <a:ext uri="{FF2B5EF4-FFF2-40B4-BE49-F238E27FC236}">
                <a16:creationId xmlns="" xmlns:a16="http://schemas.microsoft.com/office/drawing/2014/main" id="{F3FD4682-F997-400E-9064-1C3B2887DF48}"/>
              </a:ext>
            </a:extLst>
          </p:cNvPr>
          <p:cNvSpPr>
            <a:spLocks noChangeArrowheads="1"/>
          </p:cNvSpPr>
          <p:nvPr/>
        </p:nvSpPr>
        <p:spPr bwMode="auto">
          <a:xfrm>
            <a:off x="6262688" y="3335338"/>
            <a:ext cx="1254125" cy="1558925"/>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46">
            <a:extLst>
              <a:ext uri="{FF2B5EF4-FFF2-40B4-BE49-F238E27FC236}">
                <a16:creationId xmlns="" xmlns:a16="http://schemas.microsoft.com/office/drawing/2014/main" id="{9C8DB4E6-D2BC-4673-97FB-D0A2C1A356A8}"/>
              </a:ext>
            </a:extLst>
          </p:cNvPr>
          <p:cNvSpPr>
            <a:spLocks noChangeArrowheads="1"/>
          </p:cNvSpPr>
          <p:nvPr/>
        </p:nvSpPr>
        <p:spPr bwMode="auto">
          <a:xfrm>
            <a:off x="7439025" y="3711575"/>
            <a:ext cx="2120900" cy="5080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0">
            <a:extLst>
              <a:ext uri="{FF2B5EF4-FFF2-40B4-BE49-F238E27FC236}">
                <a16:creationId xmlns="" xmlns:a16="http://schemas.microsoft.com/office/drawing/2014/main" id="{F12D6E17-390A-4C6C-9340-43843C2353CD}"/>
              </a:ext>
            </a:extLst>
          </p:cNvPr>
          <p:cNvSpPr>
            <a:spLocks noEditPoints="1" noChangeArrowheads="1"/>
          </p:cNvSpPr>
          <p:nvPr/>
        </p:nvSpPr>
        <p:spPr bwMode="auto">
          <a:xfrm>
            <a:off x="8899525" y="24431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1">
            <a:extLst>
              <a:ext uri="{FF2B5EF4-FFF2-40B4-BE49-F238E27FC236}">
                <a16:creationId xmlns="" xmlns:a16="http://schemas.microsoft.com/office/drawing/2014/main" id="{418C5718-98B1-4EFE-A7DF-157381242E7F}"/>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2">
            <a:extLst>
              <a:ext uri="{FF2B5EF4-FFF2-40B4-BE49-F238E27FC236}">
                <a16:creationId xmlns="" xmlns:a16="http://schemas.microsoft.com/office/drawing/2014/main" id="{AC626DAA-F85B-4990-9917-6847D1A0F80A}"/>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3">
            <a:extLst>
              <a:ext uri="{FF2B5EF4-FFF2-40B4-BE49-F238E27FC236}">
                <a16:creationId xmlns="" xmlns:a16="http://schemas.microsoft.com/office/drawing/2014/main" id="{2682A01C-F242-4718-8DC7-9C72C8BCFCBF}"/>
              </a:ext>
            </a:extLst>
          </p:cNvPr>
          <p:cNvSpPr>
            <a:spLocks noEditPoints="1" noChangeArrowheads="1"/>
          </p:cNvSpPr>
          <p:nvPr/>
        </p:nvSpPr>
        <p:spPr bwMode="auto">
          <a:xfrm>
            <a:off x="9634538" y="3825875"/>
            <a:ext cx="600075"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7">
            <a:extLst>
              <a:ext uri="{FF2B5EF4-FFF2-40B4-BE49-F238E27FC236}">
                <a16:creationId xmlns="" xmlns:a16="http://schemas.microsoft.com/office/drawing/2014/main" id="{618CA6E3-B4CF-42B9-866E-5F696FAD9E2D}"/>
              </a:ext>
            </a:extLst>
          </p:cNvPr>
          <p:cNvSpPr>
            <a:spLocks noChangeArrowheads="1"/>
          </p:cNvSpPr>
          <p:nvPr/>
        </p:nvSpPr>
        <p:spPr bwMode="auto">
          <a:xfrm>
            <a:off x="8890000" y="2449513"/>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8">
            <a:extLst>
              <a:ext uri="{FF2B5EF4-FFF2-40B4-BE49-F238E27FC236}">
                <a16:creationId xmlns="" xmlns:a16="http://schemas.microsoft.com/office/drawing/2014/main" id="{0B5FC428-3B11-4AF6-B9D2-CA8C2B2CEA6F}"/>
              </a:ext>
            </a:extLst>
          </p:cNvPr>
          <p:cNvSpPr>
            <a:spLocks noChangeArrowheads="1"/>
          </p:cNvSpPr>
          <p:nvPr/>
        </p:nvSpPr>
        <p:spPr bwMode="auto">
          <a:xfrm>
            <a:off x="8890000" y="2438400"/>
            <a:ext cx="20638" cy="11113"/>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59">
            <a:extLst>
              <a:ext uri="{FF2B5EF4-FFF2-40B4-BE49-F238E27FC236}">
                <a16:creationId xmlns="" xmlns:a16="http://schemas.microsoft.com/office/drawing/2014/main" id="{9EC2BF36-45A7-4B80-B4E2-606D8723965C}"/>
              </a:ext>
            </a:extLst>
          </p:cNvPr>
          <p:cNvSpPr>
            <a:spLocks noChangeArrowheads="1"/>
          </p:cNvSpPr>
          <p:nvPr/>
        </p:nvSpPr>
        <p:spPr bwMode="auto">
          <a:xfrm>
            <a:off x="8890000" y="2432050"/>
            <a:ext cx="1365250" cy="1625600"/>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0">
            <a:extLst>
              <a:ext uri="{FF2B5EF4-FFF2-40B4-BE49-F238E27FC236}">
                <a16:creationId xmlns="" xmlns:a16="http://schemas.microsoft.com/office/drawing/2014/main" id="{E793F106-D7D2-40A2-A50A-484A7939F8B4}"/>
              </a:ext>
            </a:extLst>
          </p:cNvPr>
          <p:cNvSpPr>
            <a:spLocks noEditPoints="1" noChangeArrowheads="1"/>
          </p:cNvSpPr>
          <p:nvPr/>
        </p:nvSpPr>
        <p:spPr bwMode="auto">
          <a:xfrm>
            <a:off x="8890000" y="2443163"/>
            <a:ext cx="9525" cy="6350"/>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64">
            <a:extLst>
              <a:ext uri="{FF2B5EF4-FFF2-40B4-BE49-F238E27FC236}">
                <a16:creationId xmlns="" xmlns:a16="http://schemas.microsoft.com/office/drawing/2014/main" id="{64C94442-35D6-420C-B3DC-F2BB3AE6379D}"/>
              </a:ext>
            </a:extLst>
          </p:cNvPr>
          <p:cNvSpPr>
            <a:spLocks noEditPoints="1" noChangeArrowheads="1"/>
          </p:cNvSpPr>
          <p:nvPr/>
        </p:nvSpPr>
        <p:spPr bwMode="auto">
          <a:xfrm>
            <a:off x="8899525" y="2443163"/>
            <a:ext cx="1335088"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2">
            <a:extLst>
              <a:ext uri="{FF2B5EF4-FFF2-40B4-BE49-F238E27FC236}">
                <a16:creationId xmlns="" xmlns:a16="http://schemas.microsoft.com/office/drawing/2014/main" id="{E802F860-4A5A-48D9-A547-F75E71D1C860}"/>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3">
            <a:extLst>
              <a:ext uri="{FF2B5EF4-FFF2-40B4-BE49-F238E27FC236}">
                <a16:creationId xmlns="" xmlns:a16="http://schemas.microsoft.com/office/drawing/2014/main" id="{831A016A-8C82-46B9-A1D1-3B05F2CBA795}"/>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74">
            <a:extLst>
              <a:ext uri="{FF2B5EF4-FFF2-40B4-BE49-F238E27FC236}">
                <a16:creationId xmlns="" xmlns:a16="http://schemas.microsoft.com/office/drawing/2014/main" id="{0E094A99-E528-43F0-8738-A47BDFDFAD43}"/>
              </a:ext>
            </a:extLst>
          </p:cNvPr>
          <p:cNvSpPr>
            <a:spLocks noEditPoints="1" noChangeArrowheads="1"/>
          </p:cNvSpPr>
          <p:nvPr/>
        </p:nvSpPr>
        <p:spPr bwMode="auto">
          <a:xfrm>
            <a:off x="7935913" y="4806950"/>
            <a:ext cx="596900"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5">
            <a:extLst>
              <a:ext uri="{FF2B5EF4-FFF2-40B4-BE49-F238E27FC236}">
                <a16:creationId xmlns="" xmlns:a16="http://schemas.microsoft.com/office/drawing/2014/main" id="{CCB3F5DE-AD4F-411B-BF35-266F308CFFFE}"/>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6">
            <a:extLst>
              <a:ext uri="{FF2B5EF4-FFF2-40B4-BE49-F238E27FC236}">
                <a16:creationId xmlns="" xmlns:a16="http://schemas.microsoft.com/office/drawing/2014/main" id="{3A8F191C-09FD-4E0E-A62F-4EBCB503B9F1}"/>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7">
            <a:extLst>
              <a:ext uri="{FF2B5EF4-FFF2-40B4-BE49-F238E27FC236}">
                <a16:creationId xmlns="" xmlns:a16="http://schemas.microsoft.com/office/drawing/2014/main" id="{CAFC6174-1FA1-4318-9B1B-18C0FE810777}"/>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98">
            <a:extLst>
              <a:ext uri="{FF2B5EF4-FFF2-40B4-BE49-F238E27FC236}">
                <a16:creationId xmlns="" xmlns:a16="http://schemas.microsoft.com/office/drawing/2014/main" id="{7C8E94EC-1E34-4E52-8E05-B17941CC99EC}"/>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8">
            <a:extLst>
              <a:ext uri="{FF2B5EF4-FFF2-40B4-BE49-F238E27FC236}">
                <a16:creationId xmlns="" xmlns:a16="http://schemas.microsoft.com/office/drawing/2014/main" id="{AAF42AD3-39F6-4BE6-AD0D-10AB81D343F5}"/>
              </a:ext>
            </a:extLst>
          </p:cNvPr>
          <p:cNvSpPr>
            <a:spLocks noChangeArrowheads="1"/>
          </p:cNvSpPr>
          <p:nvPr/>
        </p:nvSpPr>
        <p:spPr bwMode="auto">
          <a:xfrm>
            <a:off x="7188200" y="3381375"/>
            <a:ext cx="1428750" cy="16811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69">
            <a:extLst>
              <a:ext uri="{FF2B5EF4-FFF2-40B4-BE49-F238E27FC236}">
                <a16:creationId xmlns="" xmlns:a16="http://schemas.microsoft.com/office/drawing/2014/main" id="{59A04BA1-DBC9-480E-A3BA-93142F344F97}"/>
              </a:ext>
            </a:extLst>
          </p:cNvPr>
          <p:cNvSpPr>
            <a:spLocks noEditPoints="1" noChangeArrowheads="1"/>
          </p:cNvSpPr>
          <p:nvPr/>
        </p:nvSpPr>
        <p:spPr bwMode="auto">
          <a:xfrm>
            <a:off x="7188200" y="3381375"/>
            <a:ext cx="1428750" cy="16811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0">
            <a:extLst>
              <a:ext uri="{FF2B5EF4-FFF2-40B4-BE49-F238E27FC236}">
                <a16:creationId xmlns="" xmlns:a16="http://schemas.microsoft.com/office/drawing/2014/main" id="{602E2500-A185-42BA-B25E-8932588DFD5E}"/>
              </a:ext>
            </a:extLst>
          </p:cNvPr>
          <p:cNvSpPr>
            <a:spLocks noChangeArrowheads="1"/>
          </p:cNvSpPr>
          <p:nvPr/>
        </p:nvSpPr>
        <p:spPr bwMode="auto">
          <a:xfrm>
            <a:off x="7172325" y="3413125"/>
            <a:ext cx="1360488" cy="16652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1">
            <a:extLst>
              <a:ext uri="{FF2B5EF4-FFF2-40B4-BE49-F238E27FC236}">
                <a16:creationId xmlns="" xmlns:a16="http://schemas.microsoft.com/office/drawing/2014/main" id="{B3B420DA-64DD-4C76-BFDC-88512AE2D943}"/>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5">
            <a:extLst>
              <a:ext uri="{FF2B5EF4-FFF2-40B4-BE49-F238E27FC236}">
                <a16:creationId xmlns="" xmlns:a16="http://schemas.microsoft.com/office/drawing/2014/main" id="{4DEB5CCE-0CD3-4F31-B043-FDA2248D5CFB}"/>
              </a:ext>
            </a:extLst>
          </p:cNvPr>
          <p:cNvSpPr>
            <a:spLocks noChangeArrowheads="1"/>
          </p:cNvSpPr>
          <p:nvPr userDrawn="1"/>
        </p:nvSpPr>
        <p:spPr bwMode="auto">
          <a:xfrm>
            <a:off x="7483475" y="4003675"/>
            <a:ext cx="773113" cy="519113"/>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8">
            <a:extLst>
              <a:ext uri="{FF2B5EF4-FFF2-40B4-BE49-F238E27FC236}">
                <a16:creationId xmlns="" xmlns:a16="http://schemas.microsoft.com/office/drawing/2014/main" id="{5B87708A-020B-4731-BC6A-BB6033608F8B}"/>
              </a:ext>
            </a:extLst>
          </p:cNvPr>
          <p:cNvSpPr>
            <a:spLocks noChangeArrowheads="1"/>
          </p:cNvSpPr>
          <p:nvPr/>
        </p:nvSpPr>
        <p:spPr bwMode="auto">
          <a:xfrm>
            <a:off x="7188200" y="3427413"/>
            <a:ext cx="6350"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79">
            <a:extLst>
              <a:ext uri="{FF2B5EF4-FFF2-40B4-BE49-F238E27FC236}">
                <a16:creationId xmlns="" xmlns:a16="http://schemas.microsoft.com/office/drawing/2014/main" id="{48D19136-8EA5-409F-AE09-7D0E9D58045B}"/>
              </a:ext>
            </a:extLst>
          </p:cNvPr>
          <p:cNvSpPr>
            <a:spLocks noChangeArrowheads="1"/>
          </p:cNvSpPr>
          <p:nvPr/>
        </p:nvSpPr>
        <p:spPr bwMode="auto">
          <a:xfrm>
            <a:off x="7188200" y="3419475"/>
            <a:ext cx="25400"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0">
            <a:extLst>
              <a:ext uri="{FF2B5EF4-FFF2-40B4-BE49-F238E27FC236}">
                <a16:creationId xmlns="" xmlns:a16="http://schemas.microsoft.com/office/drawing/2014/main" id="{E1D44B10-61F0-4A22-8F61-0EFF8E0F789A}"/>
              </a:ext>
            </a:extLst>
          </p:cNvPr>
          <p:cNvSpPr>
            <a:spLocks noChangeArrowheads="1"/>
          </p:cNvSpPr>
          <p:nvPr/>
        </p:nvSpPr>
        <p:spPr bwMode="auto">
          <a:xfrm>
            <a:off x="7188200" y="3413125"/>
            <a:ext cx="1373188" cy="1627188"/>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Freeform 181">
            <a:extLst>
              <a:ext uri="{FF2B5EF4-FFF2-40B4-BE49-F238E27FC236}">
                <a16:creationId xmlns="" xmlns:a16="http://schemas.microsoft.com/office/drawing/2014/main" id="{01785DE4-88DB-4E70-8D62-43640BD11C3C}"/>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Rectangle 182">
            <a:extLst>
              <a:ext uri="{FF2B5EF4-FFF2-40B4-BE49-F238E27FC236}">
                <a16:creationId xmlns="" xmlns:a16="http://schemas.microsoft.com/office/drawing/2014/main" id="{FA03B2C4-2F47-40F5-96A1-71DC1C17E4AE}"/>
              </a:ext>
            </a:extLst>
          </p:cNvPr>
          <p:cNvSpPr>
            <a:spLocks noChangeArrowheads="1"/>
          </p:cNvSpPr>
          <p:nvPr/>
        </p:nvSpPr>
        <p:spPr bwMode="auto">
          <a:xfrm>
            <a:off x="7188200" y="3432175"/>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 name="Freeform 183">
            <a:extLst>
              <a:ext uri="{FF2B5EF4-FFF2-40B4-BE49-F238E27FC236}">
                <a16:creationId xmlns="" xmlns:a16="http://schemas.microsoft.com/office/drawing/2014/main" id="{39F208BB-6E54-42BD-B384-CA8245BA5782}"/>
              </a:ext>
            </a:extLst>
          </p:cNvPr>
          <p:cNvSpPr>
            <a:spLocks noChangeArrowheads="1"/>
          </p:cNvSpPr>
          <p:nvPr/>
        </p:nvSpPr>
        <p:spPr bwMode="auto">
          <a:xfrm>
            <a:off x="7188200" y="34321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6">
            <a:extLst>
              <a:ext uri="{FF2B5EF4-FFF2-40B4-BE49-F238E27FC236}">
                <a16:creationId xmlns="" xmlns:a16="http://schemas.microsoft.com/office/drawing/2014/main" id="{4321967D-D20B-49D8-B111-E234949F838C}"/>
              </a:ext>
            </a:extLst>
          </p:cNvPr>
          <p:cNvSpPr>
            <a:spLocks noChangeArrowheads="1"/>
          </p:cNvSpPr>
          <p:nvPr/>
        </p:nvSpPr>
        <p:spPr bwMode="auto">
          <a:xfrm>
            <a:off x="7199313" y="3419475"/>
            <a:ext cx="1355725" cy="163671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187">
            <a:extLst>
              <a:ext uri="{FF2B5EF4-FFF2-40B4-BE49-F238E27FC236}">
                <a16:creationId xmlns="" xmlns:a16="http://schemas.microsoft.com/office/drawing/2014/main" id="{6A2424E1-F377-4DB2-8EE0-6A6B37318F7D}"/>
              </a:ext>
            </a:extLst>
          </p:cNvPr>
          <p:cNvSpPr>
            <a:spLocks noEditPoints="1" noChangeArrowheads="1"/>
          </p:cNvSpPr>
          <p:nvPr/>
        </p:nvSpPr>
        <p:spPr bwMode="auto">
          <a:xfrm>
            <a:off x="7199313" y="3427413"/>
            <a:ext cx="1333500" cy="16287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09">
            <a:extLst>
              <a:ext uri="{FF2B5EF4-FFF2-40B4-BE49-F238E27FC236}">
                <a16:creationId xmlns="" xmlns:a16="http://schemas.microsoft.com/office/drawing/2014/main" id="{366F7B67-1656-4B2D-9AFB-747409FA6C5C}"/>
              </a:ext>
            </a:extLst>
          </p:cNvPr>
          <p:cNvSpPr>
            <a:spLocks noEditPoints="1" noChangeArrowheads="1"/>
          </p:cNvSpPr>
          <p:nvPr/>
        </p:nvSpPr>
        <p:spPr bwMode="auto">
          <a:xfrm>
            <a:off x="8183563" y="3443288"/>
            <a:ext cx="20637"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7">
            <a:extLst>
              <a:ext uri="{FF2B5EF4-FFF2-40B4-BE49-F238E27FC236}">
                <a16:creationId xmlns="" xmlns:a16="http://schemas.microsoft.com/office/drawing/2014/main" id="{F92F4392-8EEF-43B4-BAE7-A1304B214D1E}"/>
              </a:ext>
            </a:extLst>
          </p:cNvPr>
          <p:cNvSpPr>
            <a:spLocks noChangeArrowheads="1"/>
          </p:cNvSpPr>
          <p:nvPr/>
        </p:nvSpPr>
        <p:spPr bwMode="auto">
          <a:xfrm>
            <a:off x="7229475" y="2422525"/>
            <a:ext cx="168275" cy="246063"/>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8">
            <a:extLst>
              <a:ext uri="{FF2B5EF4-FFF2-40B4-BE49-F238E27FC236}">
                <a16:creationId xmlns="" xmlns:a16="http://schemas.microsoft.com/office/drawing/2014/main" id="{DCBB7236-9675-498B-8C20-A27177002E1A}"/>
              </a:ext>
            </a:extLst>
          </p:cNvPr>
          <p:cNvSpPr>
            <a:spLocks noChangeArrowheads="1"/>
          </p:cNvSpPr>
          <p:nvPr/>
        </p:nvSpPr>
        <p:spPr bwMode="auto">
          <a:xfrm>
            <a:off x="7439025" y="2538413"/>
            <a:ext cx="168275" cy="25558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 name="Freeform 219">
            <a:extLst>
              <a:ext uri="{FF2B5EF4-FFF2-40B4-BE49-F238E27FC236}">
                <a16:creationId xmlns="" xmlns:a16="http://schemas.microsoft.com/office/drawing/2014/main" id="{2FC711F2-E2BD-4A16-A399-0FEB2EE5F771}"/>
              </a:ext>
            </a:extLst>
          </p:cNvPr>
          <p:cNvSpPr>
            <a:spLocks noChangeArrowheads="1"/>
          </p:cNvSpPr>
          <p:nvPr/>
        </p:nvSpPr>
        <p:spPr bwMode="auto">
          <a:xfrm>
            <a:off x="7642225" y="2657475"/>
            <a:ext cx="168275" cy="25558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8">
            <a:extLst>
              <a:ext uri="{FF2B5EF4-FFF2-40B4-BE49-F238E27FC236}">
                <a16:creationId xmlns="" xmlns:a16="http://schemas.microsoft.com/office/drawing/2014/main" id="{00B33BA2-1E71-4715-B21C-1BE16BB3DD42}"/>
              </a:ext>
            </a:extLst>
          </p:cNvPr>
          <p:cNvSpPr>
            <a:spLocks noChangeArrowheads="1"/>
          </p:cNvSpPr>
          <p:nvPr/>
        </p:nvSpPr>
        <p:spPr bwMode="auto">
          <a:xfrm>
            <a:off x="8907463" y="2409825"/>
            <a:ext cx="1428750" cy="168275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 xmlns:a16="http://schemas.microsoft.com/office/drawing/2014/main" id="{70F6C8C1-1875-4877-A5A3-C4D64B673CD0}"/>
              </a:ext>
            </a:extLst>
          </p:cNvPr>
          <p:cNvSpPr>
            <a:spLocks noEditPoints="1" noChangeArrowheads="1"/>
          </p:cNvSpPr>
          <p:nvPr/>
        </p:nvSpPr>
        <p:spPr bwMode="auto">
          <a:xfrm>
            <a:off x="8907463" y="2409825"/>
            <a:ext cx="1428750" cy="168275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 xmlns:a16="http://schemas.microsoft.com/office/drawing/2014/main" id="{E2FBB50E-628E-4EE8-9E0F-DF970466A677}"/>
              </a:ext>
            </a:extLst>
          </p:cNvPr>
          <p:cNvSpPr>
            <a:spLocks noChangeArrowheads="1"/>
          </p:cNvSpPr>
          <p:nvPr/>
        </p:nvSpPr>
        <p:spPr bwMode="auto">
          <a:xfrm>
            <a:off x="8891588" y="2443163"/>
            <a:ext cx="1360487"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 xmlns:a16="http://schemas.microsoft.com/office/drawing/2014/main" id="{50B2F5EC-0905-4B44-A58A-8656F9F0CE8D}"/>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 xmlns:a16="http://schemas.microsoft.com/office/drawing/2014/main" id="{DC9D943D-6708-4514-AA71-4B4A6BC8D98D}"/>
              </a:ext>
            </a:extLst>
          </p:cNvPr>
          <p:cNvSpPr>
            <a:spLocks noChangeArrowheads="1"/>
          </p:cNvSpPr>
          <p:nvPr/>
        </p:nvSpPr>
        <p:spPr bwMode="auto">
          <a:xfrm>
            <a:off x="8872538" y="2470150"/>
            <a:ext cx="1346200" cy="16287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 xmlns:a16="http://schemas.microsoft.com/office/drawing/2014/main" id="{D4C9EE44-49E9-4ABC-AA3B-2F8F7DBE6888}"/>
              </a:ext>
            </a:extLst>
          </p:cNvPr>
          <p:cNvSpPr>
            <a:spLocks noChangeArrowheads="1"/>
          </p:cNvSpPr>
          <p:nvPr/>
        </p:nvSpPr>
        <p:spPr bwMode="auto">
          <a:xfrm>
            <a:off x="8907463" y="2455863"/>
            <a:ext cx="6350" cy="6350"/>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 xmlns:a16="http://schemas.microsoft.com/office/drawing/2014/main" id="{5868E1DB-7A84-47D5-8338-FA8B7B4483C3}"/>
              </a:ext>
            </a:extLst>
          </p:cNvPr>
          <p:cNvSpPr>
            <a:spLocks noChangeArrowheads="1"/>
          </p:cNvSpPr>
          <p:nvPr/>
        </p:nvSpPr>
        <p:spPr bwMode="auto">
          <a:xfrm>
            <a:off x="8907463" y="2447925"/>
            <a:ext cx="25400" cy="1428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 xmlns:a16="http://schemas.microsoft.com/office/drawing/2014/main" id="{11D9D801-49EA-4D68-9F00-D02CEBA3C92A}"/>
              </a:ext>
            </a:extLst>
          </p:cNvPr>
          <p:cNvSpPr>
            <a:spLocks noChangeArrowheads="1"/>
          </p:cNvSpPr>
          <p:nvPr/>
        </p:nvSpPr>
        <p:spPr bwMode="auto">
          <a:xfrm>
            <a:off x="8907463" y="2443163"/>
            <a:ext cx="1373187"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 xmlns:a16="http://schemas.microsoft.com/office/drawing/2014/main" id="{F689A14E-EAB7-43C3-8C68-18F45E106E8B}"/>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 xmlns:a16="http://schemas.microsoft.com/office/drawing/2014/main" id="{71EAAFBF-E3F1-462A-9AFE-49CF2FD57F66}"/>
              </a:ext>
            </a:extLst>
          </p:cNvPr>
          <p:cNvSpPr>
            <a:spLocks noChangeArrowheads="1"/>
          </p:cNvSpPr>
          <p:nvPr/>
        </p:nvSpPr>
        <p:spPr bwMode="auto">
          <a:xfrm>
            <a:off x="8907463" y="246221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 xmlns:a16="http://schemas.microsoft.com/office/drawing/2014/main" id="{54B5E515-73A1-467C-B5F4-A58ED24A17AC}"/>
              </a:ext>
            </a:extLst>
          </p:cNvPr>
          <p:cNvSpPr>
            <a:spLocks noChangeArrowheads="1"/>
          </p:cNvSpPr>
          <p:nvPr/>
        </p:nvSpPr>
        <p:spPr bwMode="auto">
          <a:xfrm>
            <a:off x="8907463" y="246221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 xmlns:a16="http://schemas.microsoft.com/office/drawing/2014/main" id="{0C11D7DE-9C83-4F59-A076-A112149256B6}"/>
              </a:ext>
            </a:extLst>
          </p:cNvPr>
          <p:cNvSpPr>
            <a:spLocks noChangeArrowheads="1"/>
          </p:cNvSpPr>
          <p:nvPr/>
        </p:nvSpPr>
        <p:spPr bwMode="auto">
          <a:xfrm>
            <a:off x="8918575" y="2447925"/>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 xmlns:a16="http://schemas.microsoft.com/office/drawing/2014/main" id="{1A94479D-D678-45DF-B39C-FE3FF191D561}"/>
              </a:ext>
            </a:extLst>
          </p:cNvPr>
          <p:cNvSpPr>
            <a:spLocks noEditPoints="1" noChangeArrowheads="1"/>
          </p:cNvSpPr>
          <p:nvPr/>
        </p:nvSpPr>
        <p:spPr bwMode="auto">
          <a:xfrm>
            <a:off x="8918575" y="2455863"/>
            <a:ext cx="1333500"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 xmlns:a16="http://schemas.microsoft.com/office/drawing/2014/main" id="{EE1F1E5F-A6D9-4294-A56F-07981EE41531}"/>
              </a:ext>
            </a:extLst>
          </p:cNvPr>
          <p:cNvSpPr>
            <a:spLocks noEditPoints="1" noChangeArrowheads="1"/>
          </p:cNvSpPr>
          <p:nvPr/>
        </p:nvSpPr>
        <p:spPr bwMode="auto">
          <a:xfrm>
            <a:off x="9902825" y="2473325"/>
            <a:ext cx="20638"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8">
            <a:extLst>
              <a:ext uri="{FF2B5EF4-FFF2-40B4-BE49-F238E27FC236}">
                <a16:creationId xmlns="" xmlns:a16="http://schemas.microsoft.com/office/drawing/2014/main" id="{6EF2154A-BA7C-47B7-91D6-3549B7921817}"/>
              </a:ext>
            </a:extLst>
          </p:cNvPr>
          <p:cNvSpPr>
            <a:spLocks noChangeArrowheads="1"/>
          </p:cNvSpPr>
          <p:nvPr userDrawn="1"/>
        </p:nvSpPr>
        <p:spPr bwMode="auto">
          <a:xfrm>
            <a:off x="6870700" y="1808163"/>
            <a:ext cx="1428750" cy="1681162"/>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 xmlns:a16="http://schemas.microsoft.com/office/drawing/2014/main" id="{9481D083-19D0-4F08-BB3D-656D1A7C6C68}"/>
              </a:ext>
            </a:extLst>
          </p:cNvPr>
          <p:cNvSpPr>
            <a:spLocks noEditPoints="1" noChangeArrowheads="1"/>
          </p:cNvSpPr>
          <p:nvPr userDrawn="1"/>
        </p:nvSpPr>
        <p:spPr bwMode="auto">
          <a:xfrm>
            <a:off x="6870700" y="1808163"/>
            <a:ext cx="1428750" cy="1681162"/>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 xmlns:a16="http://schemas.microsoft.com/office/drawing/2014/main" id="{178C77AC-C797-4C26-AD7B-4176A8934787}"/>
              </a:ext>
            </a:extLst>
          </p:cNvPr>
          <p:cNvSpPr>
            <a:spLocks noChangeArrowheads="1"/>
          </p:cNvSpPr>
          <p:nvPr userDrawn="1"/>
        </p:nvSpPr>
        <p:spPr bwMode="auto">
          <a:xfrm>
            <a:off x="6854825" y="1839913"/>
            <a:ext cx="1360488"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 xmlns:a16="http://schemas.microsoft.com/office/drawing/2014/main" id="{18BEA8C5-4D25-426E-BEF2-7A3AD4387597}"/>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 xmlns:a16="http://schemas.microsoft.com/office/drawing/2014/main" id="{AF47098A-F1EC-4304-81A7-9683D5E9EE4A}"/>
              </a:ext>
            </a:extLst>
          </p:cNvPr>
          <p:cNvSpPr>
            <a:spLocks noChangeArrowheads="1"/>
          </p:cNvSpPr>
          <p:nvPr userDrawn="1"/>
        </p:nvSpPr>
        <p:spPr bwMode="auto">
          <a:xfrm>
            <a:off x="6835775" y="1866900"/>
            <a:ext cx="1344613" cy="1630363"/>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 xmlns:a16="http://schemas.microsoft.com/office/drawing/2014/main" id="{78D26F82-92FE-4ABD-BB3A-A458D21D7DFA}"/>
              </a:ext>
            </a:extLst>
          </p:cNvPr>
          <p:cNvSpPr>
            <a:spLocks noChangeArrowheads="1"/>
          </p:cNvSpPr>
          <p:nvPr userDrawn="1"/>
        </p:nvSpPr>
        <p:spPr bwMode="auto">
          <a:xfrm>
            <a:off x="6870700" y="1854200"/>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 xmlns:a16="http://schemas.microsoft.com/office/drawing/2014/main" id="{0CDF19E4-E8A2-4FFD-8666-E0673286912F}"/>
              </a:ext>
            </a:extLst>
          </p:cNvPr>
          <p:cNvSpPr>
            <a:spLocks noChangeArrowheads="1"/>
          </p:cNvSpPr>
          <p:nvPr userDrawn="1"/>
        </p:nvSpPr>
        <p:spPr bwMode="auto">
          <a:xfrm>
            <a:off x="6870700" y="1846263"/>
            <a:ext cx="23813"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 xmlns:a16="http://schemas.microsoft.com/office/drawing/2014/main" id="{8B144759-F334-44D8-918F-430B5D5150E4}"/>
              </a:ext>
            </a:extLst>
          </p:cNvPr>
          <p:cNvSpPr>
            <a:spLocks noChangeArrowheads="1"/>
          </p:cNvSpPr>
          <p:nvPr userDrawn="1"/>
        </p:nvSpPr>
        <p:spPr bwMode="auto">
          <a:xfrm>
            <a:off x="6870700" y="1839913"/>
            <a:ext cx="1371600"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 xmlns:a16="http://schemas.microsoft.com/office/drawing/2014/main" id="{7AC02806-9C17-440D-A832-74EBC30EEAD4}"/>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 xmlns:a16="http://schemas.microsoft.com/office/drawing/2014/main" id="{BFDB50B1-8CB6-44EE-AA02-30B670BC92B5}"/>
              </a:ext>
            </a:extLst>
          </p:cNvPr>
          <p:cNvSpPr>
            <a:spLocks noChangeArrowheads="1"/>
          </p:cNvSpPr>
          <p:nvPr userDrawn="1"/>
        </p:nvSpPr>
        <p:spPr bwMode="auto">
          <a:xfrm>
            <a:off x="6870700" y="185896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 xmlns:a16="http://schemas.microsoft.com/office/drawing/2014/main" id="{D29DF795-704A-4E4D-9B5A-8C1D49EBCF2D}"/>
              </a:ext>
            </a:extLst>
          </p:cNvPr>
          <p:cNvSpPr>
            <a:spLocks noChangeArrowheads="1"/>
          </p:cNvSpPr>
          <p:nvPr userDrawn="1"/>
        </p:nvSpPr>
        <p:spPr bwMode="auto">
          <a:xfrm>
            <a:off x="6870700" y="1858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 xmlns:a16="http://schemas.microsoft.com/office/drawing/2014/main" id="{0DE687B4-0317-43F9-8EFA-A0B6E879C62B}"/>
              </a:ext>
            </a:extLst>
          </p:cNvPr>
          <p:cNvSpPr>
            <a:spLocks noChangeArrowheads="1"/>
          </p:cNvSpPr>
          <p:nvPr userDrawn="1"/>
        </p:nvSpPr>
        <p:spPr bwMode="auto">
          <a:xfrm>
            <a:off x="6881813" y="1846263"/>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 xmlns:a16="http://schemas.microsoft.com/office/drawing/2014/main" id="{5F5F98F7-4166-4784-8701-CA0CAD24072E}"/>
              </a:ext>
            </a:extLst>
          </p:cNvPr>
          <p:cNvSpPr>
            <a:spLocks noEditPoints="1" noChangeArrowheads="1"/>
          </p:cNvSpPr>
          <p:nvPr userDrawn="1"/>
        </p:nvSpPr>
        <p:spPr bwMode="auto">
          <a:xfrm>
            <a:off x="6881813" y="1854200"/>
            <a:ext cx="1333500" cy="1630363"/>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 xmlns:a16="http://schemas.microsoft.com/office/drawing/2014/main" id="{DE0DA466-8E8A-4A57-8332-086BFF420BCE}"/>
              </a:ext>
            </a:extLst>
          </p:cNvPr>
          <p:cNvSpPr>
            <a:spLocks noEditPoints="1" noChangeArrowheads="1"/>
          </p:cNvSpPr>
          <p:nvPr userDrawn="1"/>
        </p:nvSpPr>
        <p:spPr bwMode="auto">
          <a:xfrm>
            <a:off x="7864475" y="1870075"/>
            <a:ext cx="22225"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242">
            <a:extLst>
              <a:ext uri="{FF2B5EF4-FFF2-40B4-BE49-F238E27FC236}">
                <a16:creationId xmlns="" xmlns:a16="http://schemas.microsoft.com/office/drawing/2014/main" id="{8B5969BC-A18D-4003-AC44-D1AA248FC692}"/>
              </a:ext>
            </a:extLst>
          </p:cNvPr>
          <p:cNvSpPr/>
          <p:nvPr userDrawn="1"/>
        </p:nvSpPr>
        <p:spPr bwMode="auto">
          <a:xfrm>
            <a:off x="7321550" y="2419350"/>
            <a:ext cx="457200" cy="5667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2" name="increasing-stocks-graphic_38888">
            <a:extLst>
              <a:ext uri="{FF2B5EF4-FFF2-40B4-BE49-F238E27FC236}">
                <a16:creationId xmlns="" xmlns:a16="http://schemas.microsoft.com/office/drawing/2014/main" id="{FD506BBB-35F7-41A0-B565-0FDD636776B2}"/>
              </a:ext>
            </a:extLst>
          </p:cNvPr>
          <p:cNvSpPr>
            <a:spLocks noChangeAspect="1" noChangeArrowheads="1"/>
          </p:cNvSpPr>
          <p:nvPr userDrawn="1"/>
        </p:nvSpPr>
        <p:spPr bwMode="auto">
          <a:xfrm>
            <a:off x="9353550" y="3028950"/>
            <a:ext cx="474663" cy="468313"/>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3" name="组合 122">
            <a:extLst>
              <a:ext uri="{FF2B5EF4-FFF2-40B4-BE49-F238E27FC236}">
                <a16:creationId xmlns="" xmlns:a16="http://schemas.microsoft.com/office/drawing/2014/main" id="{46D1E2DE-F6C8-4749-8CD9-9D05F4D51EBF}"/>
              </a:ext>
            </a:extLst>
          </p:cNvPr>
          <p:cNvGrpSpPr/>
          <p:nvPr/>
        </p:nvGrpSpPr>
        <p:grpSpPr>
          <a:xfrm>
            <a:off x="1437600" y="1866560"/>
            <a:ext cx="9392844" cy="3521271"/>
            <a:chOff x="1728788" y="7356475"/>
            <a:chExt cx="10683874" cy="4005263"/>
          </a:xfrm>
          <a:solidFill>
            <a:schemeClr val="bg1">
              <a:alpha val="20000"/>
            </a:schemeClr>
          </a:solidFill>
        </p:grpSpPr>
        <p:sp>
          <p:nvSpPr>
            <p:cNvPr id="124" name="Freeform 192">
              <a:extLst>
                <a:ext uri="{FF2B5EF4-FFF2-40B4-BE49-F238E27FC236}">
                  <a16:creationId xmlns="" xmlns:a16="http://schemas.microsoft.com/office/drawing/2014/main" id="{29BA1BCC-03EA-4C69-9F50-61A520D9CC4D}"/>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5" name="Freeform 193">
              <a:extLst>
                <a:ext uri="{FF2B5EF4-FFF2-40B4-BE49-F238E27FC236}">
                  <a16:creationId xmlns="" xmlns:a16="http://schemas.microsoft.com/office/drawing/2014/main" id="{3C8A66E2-A1E3-41E9-8E26-8AD199BD8FA8}"/>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6" name="Freeform 194">
              <a:extLst>
                <a:ext uri="{FF2B5EF4-FFF2-40B4-BE49-F238E27FC236}">
                  <a16:creationId xmlns="" xmlns:a16="http://schemas.microsoft.com/office/drawing/2014/main" id="{336FC769-45B8-4091-B057-ECF741D6DB5F}"/>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7" name="Freeform 195">
              <a:extLst>
                <a:ext uri="{FF2B5EF4-FFF2-40B4-BE49-F238E27FC236}">
                  <a16:creationId xmlns="" xmlns:a16="http://schemas.microsoft.com/office/drawing/2014/main" id="{10A6BFBE-1E83-4D62-8333-43A7418FF9F4}"/>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8" name="Freeform 196">
              <a:extLst>
                <a:ext uri="{FF2B5EF4-FFF2-40B4-BE49-F238E27FC236}">
                  <a16:creationId xmlns="" xmlns:a16="http://schemas.microsoft.com/office/drawing/2014/main" id="{E2A929D4-59B8-412F-8C71-7BF89C9E8790}"/>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29" name="Freeform 197">
              <a:extLst>
                <a:ext uri="{FF2B5EF4-FFF2-40B4-BE49-F238E27FC236}">
                  <a16:creationId xmlns="" xmlns:a16="http://schemas.microsoft.com/office/drawing/2014/main" id="{05BB23E0-60F9-4FFC-8F81-4014E9BA0BF8}"/>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0" name="Freeform 198">
              <a:extLst>
                <a:ext uri="{FF2B5EF4-FFF2-40B4-BE49-F238E27FC236}">
                  <a16:creationId xmlns="" xmlns:a16="http://schemas.microsoft.com/office/drawing/2014/main" id="{35734EC5-751D-4F47-8703-6C68413A311B}"/>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1" name="Freeform 199">
              <a:extLst>
                <a:ext uri="{FF2B5EF4-FFF2-40B4-BE49-F238E27FC236}">
                  <a16:creationId xmlns="" xmlns:a16="http://schemas.microsoft.com/office/drawing/2014/main" id="{23F0D5E8-59DE-414D-A38F-DBE27BA60468}"/>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2" name="Freeform 200">
              <a:extLst>
                <a:ext uri="{FF2B5EF4-FFF2-40B4-BE49-F238E27FC236}">
                  <a16:creationId xmlns="" xmlns:a16="http://schemas.microsoft.com/office/drawing/2014/main" id="{4726B852-1B6C-4A71-80EC-CDBF35E88EEF}"/>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3" name="Freeform 201">
              <a:extLst>
                <a:ext uri="{FF2B5EF4-FFF2-40B4-BE49-F238E27FC236}">
                  <a16:creationId xmlns="" xmlns:a16="http://schemas.microsoft.com/office/drawing/2014/main" id="{4AA940CB-94EE-4DEF-9E9F-3D11BC8A77E0}"/>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4" name="Freeform 202">
              <a:extLst>
                <a:ext uri="{FF2B5EF4-FFF2-40B4-BE49-F238E27FC236}">
                  <a16:creationId xmlns="" xmlns:a16="http://schemas.microsoft.com/office/drawing/2014/main" id="{37043C60-3F8E-4D98-B028-C28CE45EF949}"/>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5" name="Freeform 203">
              <a:extLst>
                <a:ext uri="{FF2B5EF4-FFF2-40B4-BE49-F238E27FC236}">
                  <a16:creationId xmlns="" xmlns:a16="http://schemas.microsoft.com/office/drawing/2014/main" id="{C81FF395-5597-4B60-94F8-16CFCB54D10B}"/>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6" name="Freeform 204">
              <a:extLst>
                <a:ext uri="{FF2B5EF4-FFF2-40B4-BE49-F238E27FC236}">
                  <a16:creationId xmlns="" xmlns:a16="http://schemas.microsoft.com/office/drawing/2014/main" id="{2007123A-4AA8-48E1-BA2E-A82105D93644}"/>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7" name="Freeform 205">
              <a:extLst>
                <a:ext uri="{FF2B5EF4-FFF2-40B4-BE49-F238E27FC236}">
                  <a16:creationId xmlns="" xmlns:a16="http://schemas.microsoft.com/office/drawing/2014/main" id="{0683844A-AFE8-46C2-94DB-C4A051404877}"/>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8" name="Freeform 206">
              <a:extLst>
                <a:ext uri="{FF2B5EF4-FFF2-40B4-BE49-F238E27FC236}">
                  <a16:creationId xmlns="" xmlns:a16="http://schemas.microsoft.com/office/drawing/2014/main" id="{D8D71F33-0C29-48A9-A65A-A5537F3A52A6}"/>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39" name="Freeform 207">
              <a:extLst>
                <a:ext uri="{FF2B5EF4-FFF2-40B4-BE49-F238E27FC236}">
                  <a16:creationId xmlns="" xmlns:a16="http://schemas.microsoft.com/office/drawing/2014/main" id="{E97DE069-9FC5-47E3-BB06-6C53B57EBB04}"/>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0" name="Freeform 208">
              <a:extLst>
                <a:ext uri="{FF2B5EF4-FFF2-40B4-BE49-F238E27FC236}">
                  <a16:creationId xmlns="" xmlns:a16="http://schemas.microsoft.com/office/drawing/2014/main" id="{EB395240-8714-475A-A9EA-C1988D9DACB8}"/>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1" name="Freeform 209">
              <a:extLst>
                <a:ext uri="{FF2B5EF4-FFF2-40B4-BE49-F238E27FC236}">
                  <a16:creationId xmlns="" xmlns:a16="http://schemas.microsoft.com/office/drawing/2014/main" id="{6139A264-FB50-49CA-AE6F-7F4DFF7C6048}"/>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2" name="Freeform 210">
              <a:extLst>
                <a:ext uri="{FF2B5EF4-FFF2-40B4-BE49-F238E27FC236}">
                  <a16:creationId xmlns="" xmlns:a16="http://schemas.microsoft.com/office/drawing/2014/main" id="{E27E8A68-4257-446B-B011-27B527B11BA3}"/>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3" name="Freeform 211">
              <a:extLst>
                <a:ext uri="{FF2B5EF4-FFF2-40B4-BE49-F238E27FC236}">
                  <a16:creationId xmlns="" xmlns:a16="http://schemas.microsoft.com/office/drawing/2014/main" id="{63CF341D-2B39-4D7A-A0FC-8C9E4CAAD0B7}"/>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2">
              <a:extLst>
                <a:ext uri="{FF2B5EF4-FFF2-40B4-BE49-F238E27FC236}">
                  <a16:creationId xmlns="" xmlns:a16="http://schemas.microsoft.com/office/drawing/2014/main" id="{06245076-6CA3-4FDE-9361-0DA26A2EC607}"/>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5" name="Freeform 213">
              <a:extLst>
                <a:ext uri="{FF2B5EF4-FFF2-40B4-BE49-F238E27FC236}">
                  <a16:creationId xmlns="" xmlns:a16="http://schemas.microsoft.com/office/drawing/2014/main" id="{94E0F53C-DEC9-4430-B64C-6620E76347B0}"/>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6" name="Freeform 214">
              <a:extLst>
                <a:ext uri="{FF2B5EF4-FFF2-40B4-BE49-F238E27FC236}">
                  <a16:creationId xmlns="" xmlns:a16="http://schemas.microsoft.com/office/drawing/2014/main" id="{D426A132-F344-4AFD-9F3C-A887036E24DB}"/>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7" name="Freeform 215">
              <a:extLst>
                <a:ext uri="{FF2B5EF4-FFF2-40B4-BE49-F238E27FC236}">
                  <a16:creationId xmlns="" xmlns:a16="http://schemas.microsoft.com/office/drawing/2014/main" id="{8ACE94DA-4CCE-4980-BE34-998E88B7335D}"/>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8" name="Freeform 216">
              <a:extLst>
                <a:ext uri="{FF2B5EF4-FFF2-40B4-BE49-F238E27FC236}">
                  <a16:creationId xmlns="" xmlns:a16="http://schemas.microsoft.com/office/drawing/2014/main" id="{1186AB81-EC08-47A3-B424-BFDAFD7F41CF}"/>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49" name="Freeform 217">
              <a:extLst>
                <a:ext uri="{FF2B5EF4-FFF2-40B4-BE49-F238E27FC236}">
                  <a16:creationId xmlns="" xmlns:a16="http://schemas.microsoft.com/office/drawing/2014/main" id="{F5668DBE-204F-4171-9E4F-5846978205F7}"/>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0" name="Freeform 218">
              <a:extLst>
                <a:ext uri="{FF2B5EF4-FFF2-40B4-BE49-F238E27FC236}">
                  <a16:creationId xmlns="" xmlns:a16="http://schemas.microsoft.com/office/drawing/2014/main" id="{D3EFCB08-F6F6-491F-9E57-2E2F36735476}"/>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1" name="Freeform 219">
              <a:extLst>
                <a:ext uri="{FF2B5EF4-FFF2-40B4-BE49-F238E27FC236}">
                  <a16:creationId xmlns="" xmlns:a16="http://schemas.microsoft.com/office/drawing/2014/main" id="{FB523A2B-4AE4-496E-B6D5-96A80A3CE231}"/>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2" name="Freeform 220">
              <a:extLst>
                <a:ext uri="{FF2B5EF4-FFF2-40B4-BE49-F238E27FC236}">
                  <a16:creationId xmlns="" xmlns:a16="http://schemas.microsoft.com/office/drawing/2014/main" id="{12AFCCC9-64AE-492B-B862-3E0D337B8B47}"/>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3" name="Freeform 221">
              <a:extLst>
                <a:ext uri="{FF2B5EF4-FFF2-40B4-BE49-F238E27FC236}">
                  <a16:creationId xmlns="" xmlns:a16="http://schemas.microsoft.com/office/drawing/2014/main" id="{46D3A967-56BC-45BF-8ED4-884A091A967F}"/>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4" name="Freeform 222">
              <a:extLst>
                <a:ext uri="{FF2B5EF4-FFF2-40B4-BE49-F238E27FC236}">
                  <a16:creationId xmlns="" xmlns:a16="http://schemas.microsoft.com/office/drawing/2014/main" id="{D8CCC54B-96D6-4384-8DB9-3B07D2811111}"/>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5" name="Freeform 223">
              <a:extLst>
                <a:ext uri="{FF2B5EF4-FFF2-40B4-BE49-F238E27FC236}">
                  <a16:creationId xmlns="" xmlns:a16="http://schemas.microsoft.com/office/drawing/2014/main" id="{1F4F8155-DADF-4F50-AA1B-32DA5B769BCD}"/>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6" name="Freeform 224">
              <a:extLst>
                <a:ext uri="{FF2B5EF4-FFF2-40B4-BE49-F238E27FC236}">
                  <a16:creationId xmlns="" xmlns:a16="http://schemas.microsoft.com/office/drawing/2014/main" id="{4BE96C66-A0A7-483D-9938-D4593CB3AAE6}"/>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7" name="Freeform 225">
              <a:extLst>
                <a:ext uri="{FF2B5EF4-FFF2-40B4-BE49-F238E27FC236}">
                  <a16:creationId xmlns="" xmlns:a16="http://schemas.microsoft.com/office/drawing/2014/main" id="{8F827AD3-64F4-4111-93C8-1B6D02686F78}"/>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8" name="Freeform 226">
              <a:extLst>
                <a:ext uri="{FF2B5EF4-FFF2-40B4-BE49-F238E27FC236}">
                  <a16:creationId xmlns="" xmlns:a16="http://schemas.microsoft.com/office/drawing/2014/main" id="{97C21B80-8D79-4200-8299-0DBC93B18F32}"/>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9" name="Freeform 227">
              <a:extLst>
                <a:ext uri="{FF2B5EF4-FFF2-40B4-BE49-F238E27FC236}">
                  <a16:creationId xmlns="" xmlns:a16="http://schemas.microsoft.com/office/drawing/2014/main" id="{35EE361A-3852-4AEC-A2D1-00DFB9A23BED}"/>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0" name="Freeform 228">
              <a:extLst>
                <a:ext uri="{FF2B5EF4-FFF2-40B4-BE49-F238E27FC236}">
                  <a16:creationId xmlns="" xmlns:a16="http://schemas.microsoft.com/office/drawing/2014/main" id="{A667A830-5619-4A40-B459-B9E18551C481}"/>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1" name="Freeform 229">
              <a:extLst>
                <a:ext uri="{FF2B5EF4-FFF2-40B4-BE49-F238E27FC236}">
                  <a16:creationId xmlns="" xmlns:a16="http://schemas.microsoft.com/office/drawing/2014/main" id="{094D478C-FC2A-490F-B257-2CB4AE472637}"/>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2" name="Freeform 230">
              <a:extLst>
                <a:ext uri="{FF2B5EF4-FFF2-40B4-BE49-F238E27FC236}">
                  <a16:creationId xmlns="" xmlns:a16="http://schemas.microsoft.com/office/drawing/2014/main" id="{DE02CF36-9B20-4CBD-B9B7-A1B6580E1B72}"/>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3" name="Freeform 231">
              <a:extLst>
                <a:ext uri="{FF2B5EF4-FFF2-40B4-BE49-F238E27FC236}">
                  <a16:creationId xmlns="" xmlns:a16="http://schemas.microsoft.com/office/drawing/2014/main" id="{288FF36E-DADD-4B2D-BCCD-465F93CB1BCF}"/>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9801" name="副标题 2"/>
          <p:cNvSpPr>
            <a:spLocks noGrp="1"/>
          </p:cNvSpPr>
          <p:nvPr userDrawn="1">
            <p:ph type="subTitle" idx="1"/>
          </p:nvPr>
        </p:nvSpPr>
        <p:spPr>
          <a:xfrm>
            <a:off x="948718" y="2998375"/>
            <a:ext cx="5087595" cy="558799"/>
          </a:xfrm>
        </p:spPr>
        <p:txBody>
          <a:bodyPr anchor="ct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smtClean="0"/>
              <a:t>单击此处编辑母版副标题样式</a:t>
            </a:r>
            <a:endParaRPr lang="en-US" noProof="1"/>
          </a:p>
        </p:txBody>
      </p:sp>
      <p:sp>
        <p:nvSpPr>
          <p:cNvPr id="9802" name="标题 1"/>
          <p:cNvSpPr>
            <a:spLocks noGrp="1"/>
          </p:cNvSpPr>
          <p:nvPr userDrawn="1">
            <p:ph type="ctrTitle"/>
          </p:nvPr>
        </p:nvSpPr>
        <p:spPr>
          <a:xfrm>
            <a:off x="948718" y="1785931"/>
            <a:ext cx="5087595" cy="1198382"/>
          </a:xfrm>
        </p:spPr>
        <p:txBody>
          <a:bodyPr anchor="ctr">
            <a:normAutofit/>
          </a:bodyPr>
          <a:lstStyle>
            <a:lvl1pPr algn="l">
              <a:defRPr sz="4000">
                <a:solidFill>
                  <a:schemeClr val="bg1"/>
                </a:solidFill>
              </a:defRPr>
            </a:lvl1pPr>
          </a:lstStyle>
          <a:p>
            <a:r>
              <a:rPr lang="zh-CN" altLang="en-US" noProof="1" smtClean="0"/>
              <a:t>单击此处编辑母版标题样式</a:t>
            </a:r>
            <a:endParaRPr lang="zh-CN" altLang="en-US" noProof="1"/>
          </a:p>
        </p:txBody>
      </p:sp>
      <p:sp>
        <p:nvSpPr>
          <p:cNvPr id="12" name="文本占位符 13"/>
          <p:cNvSpPr>
            <a:spLocks noGrp="1"/>
          </p:cNvSpPr>
          <p:nvPr userDrawn="1">
            <p:ph type="body" sz="quarter" idx="10" hasCustomPrompt="1"/>
          </p:nvPr>
        </p:nvSpPr>
        <p:spPr>
          <a:xfrm>
            <a:off x="949208" y="4137532"/>
            <a:ext cx="2294395" cy="296271"/>
          </a:xfrm>
          <a:prstGeom prst="roundRect">
            <a:avLst>
              <a:gd name="adj" fmla="val 50000"/>
            </a:avLst>
          </a:prstGeom>
          <a:noFill/>
          <a:ln w="12700">
            <a:solidFill>
              <a:schemeClr val="bg1"/>
            </a:solidFill>
          </a:ln>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
        <p:nvSpPr>
          <p:cNvPr id="13" name="文本占位符 13"/>
          <p:cNvSpPr>
            <a:spLocks noGrp="1"/>
          </p:cNvSpPr>
          <p:nvPr userDrawn="1">
            <p:ph type="body" sz="quarter" idx="11" hasCustomPrompt="1"/>
          </p:nvPr>
        </p:nvSpPr>
        <p:spPr>
          <a:xfrm>
            <a:off x="949207" y="4558199"/>
            <a:ext cx="5087595"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Terabits</a:t>
            </a:r>
            <a:endParaRPr lang="zh-CN" altLang="en-US" noProof="1"/>
          </a:p>
        </p:txBody>
      </p:sp>
    </p:spTree>
    <p:extLst>
      <p:ext uri="{BB962C8B-B14F-4D97-AF65-F5344CB8AC3E}">
        <p14:creationId xmlns:p14="http://schemas.microsoft.com/office/powerpoint/2010/main" val="239276647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spTree>
      <p:nvGrpSpPr>
        <p:cNvPr id="1" name=""/>
        <p:cNvGrpSpPr/>
        <p:nvPr/>
      </p:nvGrpSpPr>
      <p:grpSpPr>
        <a:xfrm>
          <a:off x="0" y="0"/>
          <a:ext cx="0" cy="0"/>
          <a:chOff x="0" y="0"/>
          <a:chExt cx="0" cy="0"/>
        </a:xfrm>
      </p:grpSpPr>
      <p:sp>
        <p:nvSpPr>
          <p:cNvPr id="4" name="矩形 3">
            <a:extLst>
              <a:ext uri="{FF2B5EF4-FFF2-40B4-BE49-F238E27FC236}">
                <a16:creationId xmlns="" xmlns:a16="http://schemas.microsoft.com/office/drawing/2014/main" id="{FA89D527-07F7-4DF8-B4AE-7CE4750343FE}"/>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5" name="矩形 4">
            <a:extLst>
              <a:ext uri="{FF2B5EF4-FFF2-40B4-BE49-F238E27FC236}">
                <a16:creationId xmlns="" xmlns:a16="http://schemas.microsoft.com/office/drawing/2014/main" id="{4D938A1B-0B96-46F2-9400-1487ED36C6FC}"/>
              </a:ext>
            </a:extLst>
          </p:cNvPr>
          <p:cNvSpPr/>
          <p:nvPr userDrawn="1"/>
        </p:nvSpPr>
        <p:spPr>
          <a:xfrm>
            <a:off x="7223125" y="4016375"/>
            <a:ext cx="3338513" cy="2841625"/>
          </a:xfrm>
          <a:prstGeom prst="rect">
            <a:avLst/>
          </a:prstGeom>
          <a:gradFill>
            <a:gsLst>
              <a:gs pos="5000">
                <a:schemeClr val="accent2"/>
              </a:gs>
              <a:gs pos="100000">
                <a:schemeClr val="accent3"/>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6" name="Freeform 100">
            <a:extLst>
              <a:ext uri="{FF2B5EF4-FFF2-40B4-BE49-F238E27FC236}">
                <a16:creationId xmlns="" xmlns:a16="http://schemas.microsoft.com/office/drawing/2014/main" id="{3A1F5932-2139-48CA-8277-742909F78EFD}"/>
              </a:ext>
            </a:extLst>
          </p:cNvPr>
          <p:cNvSpPr>
            <a:spLocks noChangeArrowheads="1"/>
          </p:cNvSpPr>
          <p:nvPr/>
        </p:nvSpPr>
        <p:spPr bwMode="auto">
          <a:xfrm>
            <a:off x="7493000" y="1695450"/>
            <a:ext cx="1912938" cy="1449388"/>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01">
            <a:extLst>
              <a:ext uri="{FF2B5EF4-FFF2-40B4-BE49-F238E27FC236}">
                <a16:creationId xmlns="" xmlns:a16="http://schemas.microsoft.com/office/drawing/2014/main" id="{E2EAF21E-DF3A-47A2-A444-98FA64D4AE97}"/>
              </a:ext>
            </a:extLst>
          </p:cNvPr>
          <p:cNvSpPr>
            <a:spLocks noChangeArrowheads="1"/>
          </p:cNvSpPr>
          <p:nvPr/>
        </p:nvSpPr>
        <p:spPr bwMode="auto">
          <a:xfrm>
            <a:off x="8755063" y="1566863"/>
            <a:ext cx="766762" cy="1577975"/>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2">
            <a:extLst>
              <a:ext uri="{FF2B5EF4-FFF2-40B4-BE49-F238E27FC236}">
                <a16:creationId xmlns="" xmlns:a16="http://schemas.microsoft.com/office/drawing/2014/main" id="{9908D12F-8726-4C8F-8278-5E5EA5C506F7}"/>
              </a:ext>
            </a:extLst>
          </p:cNvPr>
          <p:cNvSpPr>
            <a:spLocks noChangeArrowheads="1"/>
          </p:cNvSpPr>
          <p:nvPr/>
        </p:nvSpPr>
        <p:spPr bwMode="auto">
          <a:xfrm>
            <a:off x="8645525" y="1428750"/>
            <a:ext cx="998538" cy="1716088"/>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3">
            <a:extLst>
              <a:ext uri="{FF2B5EF4-FFF2-40B4-BE49-F238E27FC236}">
                <a16:creationId xmlns="" xmlns:a16="http://schemas.microsoft.com/office/drawing/2014/main" id="{565847EB-3C92-41EA-8FC7-AEB66A45F26B}"/>
              </a:ext>
            </a:extLst>
          </p:cNvPr>
          <p:cNvSpPr>
            <a:spLocks noEditPoints="1" noChangeArrowheads="1"/>
          </p:cNvSpPr>
          <p:nvPr/>
        </p:nvSpPr>
        <p:spPr bwMode="auto">
          <a:xfrm>
            <a:off x="7432675" y="16652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4">
            <a:extLst>
              <a:ext uri="{FF2B5EF4-FFF2-40B4-BE49-F238E27FC236}">
                <a16:creationId xmlns="" xmlns:a16="http://schemas.microsoft.com/office/drawing/2014/main" id="{D8ADE8E6-8C31-478D-B207-22A9E6F64A95}"/>
              </a:ext>
            </a:extLst>
          </p:cNvPr>
          <p:cNvSpPr>
            <a:spLocks noEditPoints="1" noChangeArrowheads="1"/>
          </p:cNvSpPr>
          <p:nvPr/>
        </p:nvSpPr>
        <p:spPr bwMode="auto">
          <a:xfrm>
            <a:off x="8694738" y="153987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5">
            <a:extLst>
              <a:ext uri="{FF2B5EF4-FFF2-40B4-BE49-F238E27FC236}">
                <a16:creationId xmlns="" xmlns:a16="http://schemas.microsoft.com/office/drawing/2014/main" id="{ED5EA8DF-2B7F-458B-A8F1-89B911E1D948}"/>
              </a:ext>
            </a:extLst>
          </p:cNvPr>
          <p:cNvSpPr>
            <a:spLocks noEditPoints="1" noChangeArrowheads="1"/>
          </p:cNvSpPr>
          <p:nvPr/>
        </p:nvSpPr>
        <p:spPr bwMode="auto">
          <a:xfrm>
            <a:off x="8583613" y="13985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6">
            <a:extLst>
              <a:ext uri="{FF2B5EF4-FFF2-40B4-BE49-F238E27FC236}">
                <a16:creationId xmlns="" xmlns:a16="http://schemas.microsoft.com/office/drawing/2014/main" id="{0AEB20D9-923D-4E84-AB1B-3E8954AF5229}"/>
              </a:ext>
            </a:extLst>
          </p:cNvPr>
          <p:cNvSpPr>
            <a:spLocks noChangeArrowheads="1"/>
          </p:cNvSpPr>
          <p:nvPr/>
        </p:nvSpPr>
        <p:spPr bwMode="auto">
          <a:xfrm>
            <a:off x="8291513" y="1322388"/>
            <a:ext cx="1471612" cy="182245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107">
            <a:extLst>
              <a:ext uri="{FF2B5EF4-FFF2-40B4-BE49-F238E27FC236}">
                <a16:creationId xmlns="" xmlns:a16="http://schemas.microsoft.com/office/drawing/2014/main" id="{47CDE46C-DC4A-4CEB-B760-75CE03381F74}"/>
              </a:ext>
            </a:extLst>
          </p:cNvPr>
          <p:cNvSpPr>
            <a:spLocks noEditPoints="1" noChangeArrowheads="1"/>
          </p:cNvSpPr>
          <p:nvPr/>
        </p:nvSpPr>
        <p:spPr bwMode="auto">
          <a:xfrm>
            <a:off x="8231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8">
            <a:extLst>
              <a:ext uri="{FF2B5EF4-FFF2-40B4-BE49-F238E27FC236}">
                <a16:creationId xmlns="" xmlns:a16="http://schemas.microsoft.com/office/drawing/2014/main" id="{7670E6CE-3BB7-4481-8625-050E809ADA4D}"/>
              </a:ext>
            </a:extLst>
          </p:cNvPr>
          <p:cNvSpPr>
            <a:spLocks noChangeArrowheads="1"/>
          </p:cNvSpPr>
          <p:nvPr/>
        </p:nvSpPr>
        <p:spPr bwMode="auto">
          <a:xfrm>
            <a:off x="9872663" y="1322388"/>
            <a:ext cx="1041400" cy="182245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9">
            <a:extLst>
              <a:ext uri="{FF2B5EF4-FFF2-40B4-BE49-F238E27FC236}">
                <a16:creationId xmlns="" xmlns:a16="http://schemas.microsoft.com/office/drawing/2014/main" id="{D3DF8C53-D1F5-492E-99C7-BD5464222F19}"/>
              </a:ext>
            </a:extLst>
          </p:cNvPr>
          <p:cNvSpPr>
            <a:spLocks noEditPoints="1" noChangeArrowheads="1"/>
          </p:cNvSpPr>
          <p:nvPr/>
        </p:nvSpPr>
        <p:spPr bwMode="auto">
          <a:xfrm>
            <a:off x="10898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10">
            <a:extLst>
              <a:ext uri="{FF2B5EF4-FFF2-40B4-BE49-F238E27FC236}">
                <a16:creationId xmlns="" xmlns:a16="http://schemas.microsoft.com/office/drawing/2014/main" id="{A2C0E662-1FEA-4BEB-9A1E-7861B2690B6A}"/>
              </a:ext>
            </a:extLst>
          </p:cNvPr>
          <p:cNvSpPr>
            <a:spLocks noEditPoints="1" noChangeArrowheads="1"/>
          </p:cNvSpPr>
          <p:nvPr/>
        </p:nvSpPr>
        <p:spPr bwMode="auto">
          <a:xfrm>
            <a:off x="11042650"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11">
            <a:extLst>
              <a:ext uri="{FF2B5EF4-FFF2-40B4-BE49-F238E27FC236}">
                <a16:creationId xmlns="" xmlns:a16="http://schemas.microsoft.com/office/drawing/2014/main" id="{3B296366-066A-46CF-BD0B-07AC0B29637C}"/>
              </a:ext>
            </a:extLst>
          </p:cNvPr>
          <p:cNvSpPr>
            <a:spLocks noEditPoints="1" noChangeArrowheads="1"/>
          </p:cNvSpPr>
          <p:nvPr/>
        </p:nvSpPr>
        <p:spPr bwMode="auto">
          <a:xfrm>
            <a:off x="111902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12">
            <a:extLst>
              <a:ext uri="{FF2B5EF4-FFF2-40B4-BE49-F238E27FC236}">
                <a16:creationId xmlns="" xmlns:a16="http://schemas.microsoft.com/office/drawing/2014/main" id="{E2BD13DC-08C4-4EEE-914C-B1A33AECE58F}"/>
              </a:ext>
            </a:extLst>
          </p:cNvPr>
          <p:cNvSpPr>
            <a:spLocks noEditPoints="1" noChangeArrowheads="1"/>
          </p:cNvSpPr>
          <p:nvPr/>
        </p:nvSpPr>
        <p:spPr bwMode="auto">
          <a:xfrm>
            <a:off x="11333163" y="1292225"/>
            <a:ext cx="74612"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3">
            <a:extLst>
              <a:ext uri="{FF2B5EF4-FFF2-40B4-BE49-F238E27FC236}">
                <a16:creationId xmlns="" xmlns:a16="http://schemas.microsoft.com/office/drawing/2014/main" id="{A6B2E18D-6DAB-49DB-B326-FFD09F6A4EB6}"/>
              </a:ext>
            </a:extLst>
          </p:cNvPr>
          <p:cNvSpPr>
            <a:spLocks noEditPoints="1" noChangeArrowheads="1"/>
          </p:cNvSpPr>
          <p:nvPr/>
        </p:nvSpPr>
        <p:spPr bwMode="auto">
          <a:xfrm>
            <a:off x="11480800" y="1292225"/>
            <a:ext cx="74613"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4">
            <a:extLst>
              <a:ext uri="{FF2B5EF4-FFF2-40B4-BE49-F238E27FC236}">
                <a16:creationId xmlns="" xmlns:a16="http://schemas.microsoft.com/office/drawing/2014/main" id="{D09F76B4-9EDF-4BB0-A4BD-C03A27656A55}"/>
              </a:ext>
            </a:extLst>
          </p:cNvPr>
          <p:cNvSpPr>
            <a:spLocks noEditPoints="1" noChangeArrowheads="1"/>
          </p:cNvSpPr>
          <p:nvPr/>
        </p:nvSpPr>
        <p:spPr bwMode="auto">
          <a:xfrm>
            <a:off x="11625263" y="1292225"/>
            <a:ext cx="71437"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7">
            <a:extLst>
              <a:ext uri="{FF2B5EF4-FFF2-40B4-BE49-F238E27FC236}">
                <a16:creationId xmlns="" xmlns:a16="http://schemas.microsoft.com/office/drawing/2014/main" id="{B6666370-092F-4B21-BC49-81C165E4432B}"/>
              </a:ext>
            </a:extLst>
          </p:cNvPr>
          <p:cNvSpPr>
            <a:spLocks noEditPoints="1" noChangeArrowheads="1"/>
          </p:cNvSpPr>
          <p:nvPr/>
        </p:nvSpPr>
        <p:spPr bwMode="auto">
          <a:xfrm>
            <a:off x="6353175" y="2852738"/>
            <a:ext cx="5005388" cy="2908300"/>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8">
            <a:extLst>
              <a:ext uri="{FF2B5EF4-FFF2-40B4-BE49-F238E27FC236}">
                <a16:creationId xmlns="" xmlns:a16="http://schemas.microsoft.com/office/drawing/2014/main" id="{D86BA65D-3B90-41FF-B10A-4F4E0E8CD037}"/>
              </a:ext>
            </a:extLst>
          </p:cNvPr>
          <p:cNvSpPr>
            <a:spLocks noChangeArrowheads="1"/>
          </p:cNvSpPr>
          <p:nvPr/>
        </p:nvSpPr>
        <p:spPr bwMode="auto">
          <a:xfrm>
            <a:off x="6251575" y="2505075"/>
            <a:ext cx="5205413" cy="2952750"/>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9">
            <a:extLst>
              <a:ext uri="{FF2B5EF4-FFF2-40B4-BE49-F238E27FC236}">
                <a16:creationId xmlns="" xmlns:a16="http://schemas.microsoft.com/office/drawing/2014/main" id="{F9FAF9F0-1C4A-4256-A265-62E3124CD75A}"/>
              </a:ext>
            </a:extLst>
          </p:cNvPr>
          <p:cNvSpPr>
            <a:spLocks noChangeArrowheads="1"/>
          </p:cNvSpPr>
          <p:nvPr/>
        </p:nvSpPr>
        <p:spPr bwMode="auto">
          <a:xfrm>
            <a:off x="6251575" y="3368675"/>
            <a:ext cx="5205413" cy="2076450"/>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20">
            <a:extLst>
              <a:ext uri="{FF2B5EF4-FFF2-40B4-BE49-F238E27FC236}">
                <a16:creationId xmlns="" xmlns:a16="http://schemas.microsoft.com/office/drawing/2014/main" id="{03258DA8-CB1C-41C2-8363-C6729AE734D4}"/>
              </a:ext>
            </a:extLst>
          </p:cNvPr>
          <p:cNvSpPr>
            <a:spLocks noChangeArrowheads="1"/>
          </p:cNvSpPr>
          <p:nvPr/>
        </p:nvSpPr>
        <p:spPr bwMode="auto">
          <a:xfrm>
            <a:off x="6251575" y="3414713"/>
            <a:ext cx="5205413" cy="199707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1">
            <a:extLst>
              <a:ext uri="{FF2B5EF4-FFF2-40B4-BE49-F238E27FC236}">
                <a16:creationId xmlns="" xmlns:a16="http://schemas.microsoft.com/office/drawing/2014/main" id="{CAC6BC2E-BC0C-4E06-A519-62B8374FE231}"/>
              </a:ext>
            </a:extLst>
          </p:cNvPr>
          <p:cNvSpPr>
            <a:spLocks noChangeArrowheads="1"/>
          </p:cNvSpPr>
          <p:nvPr/>
        </p:nvSpPr>
        <p:spPr bwMode="auto">
          <a:xfrm>
            <a:off x="6235700" y="2308225"/>
            <a:ext cx="5240338" cy="3027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2">
            <a:extLst>
              <a:ext uri="{FF2B5EF4-FFF2-40B4-BE49-F238E27FC236}">
                <a16:creationId xmlns="" xmlns:a16="http://schemas.microsoft.com/office/drawing/2014/main" id="{4C6722D5-597A-476B-9FFB-A37EBA64EBD1}"/>
              </a:ext>
            </a:extLst>
          </p:cNvPr>
          <p:cNvSpPr>
            <a:spLocks noChangeArrowheads="1"/>
          </p:cNvSpPr>
          <p:nvPr/>
        </p:nvSpPr>
        <p:spPr bwMode="auto">
          <a:xfrm>
            <a:off x="7516813" y="508793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3">
            <a:extLst>
              <a:ext uri="{FF2B5EF4-FFF2-40B4-BE49-F238E27FC236}">
                <a16:creationId xmlns="" xmlns:a16="http://schemas.microsoft.com/office/drawing/2014/main" id="{D8123861-108E-48F3-B00C-328D748ED48A}"/>
              </a:ext>
            </a:extLst>
          </p:cNvPr>
          <p:cNvSpPr>
            <a:spLocks noChangeArrowheads="1"/>
          </p:cNvSpPr>
          <p:nvPr/>
        </p:nvSpPr>
        <p:spPr bwMode="auto">
          <a:xfrm>
            <a:off x="7591425" y="5130800"/>
            <a:ext cx="36513"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4">
            <a:extLst>
              <a:ext uri="{FF2B5EF4-FFF2-40B4-BE49-F238E27FC236}">
                <a16:creationId xmlns="" xmlns:a16="http://schemas.microsoft.com/office/drawing/2014/main" id="{E1E16852-F19B-4C74-8711-911715DAAC0E}"/>
              </a:ext>
            </a:extLst>
          </p:cNvPr>
          <p:cNvSpPr>
            <a:spLocks noChangeArrowheads="1"/>
          </p:cNvSpPr>
          <p:nvPr/>
        </p:nvSpPr>
        <p:spPr bwMode="auto">
          <a:xfrm>
            <a:off x="7664450" y="5175250"/>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5">
            <a:extLst>
              <a:ext uri="{FF2B5EF4-FFF2-40B4-BE49-F238E27FC236}">
                <a16:creationId xmlns="" xmlns:a16="http://schemas.microsoft.com/office/drawing/2014/main" id="{00D3F213-AEE9-461A-9821-E972EB5B5B26}"/>
              </a:ext>
            </a:extLst>
          </p:cNvPr>
          <p:cNvSpPr>
            <a:spLocks noChangeArrowheads="1"/>
          </p:cNvSpPr>
          <p:nvPr/>
        </p:nvSpPr>
        <p:spPr bwMode="auto">
          <a:xfrm>
            <a:off x="6500813" y="4503738"/>
            <a:ext cx="39687" cy="52387"/>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6">
            <a:extLst>
              <a:ext uri="{FF2B5EF4-FFF2-40B4-BE49-F238E27FC236}">
                <a16:creationId xmlns="" xmlns:a16="http://schemas.microsoft.com/office/drawing/2014/main" id="{99FAF4F1-248C-494E-8CAE-9DE0E3F996D5}"/>
              </a:ext>
            </a:extLst>
          </p:cNvPr>
          <p:cNvSpPr>
            <a:spLocks noChangeArrowheads="1"/>
          </p:cNvSpPr>
          <p:nvPr/>
        </p:nvSpPr>
        <p:spPr bwMode="auto">
          <a:xfrm>
            <a:off x="6573838" y="4545013"/>
            <a:ext cx="41275"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7">
            <a:extLst>
              <a:ext uri="{FF2B5EF4-FFF2-40B4-BE49-F238E27FC236}">
                <a16:creationId xmlns="" xmlns:a16="http://schemas.microsoft.com/office/drawing/2014/main" id="{18A61A7E-06D1-4936-9D3C-BD4CF705F18C}"/>
              </a:ext>
            </a:extLst>
          </p:cNvPr>
          <p:cNvSpPr>
            <a:spLocks noChangeArrowheads="1"/>
          </p:cNvSpPr>
          <p:nvPr/>
        </p:nvSpPr>
        <p:spPr bwMode="auto">
          <a:xfrm>
            <a:off x="6650038" y="4589463"/>
            <a:ext cx="38100"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8">
            <a:extLst>
              <a:ext uri="{FF2B5EF4-FFF2-40B4-BE49-F238E27FC236}">
                <a16:creationId xmlns="" xmlns:a16="http://schemas.microsoft.com/office/drawing/2014/main" id="{0C2F7A97-0454-482A-B806-90B72401DD3F}"/>
              </a:ext>
            </a:extLst>
          </p:cNvPr>
          <p:cNvSpPr>
            <a:spLocks noEditPoints="1" noChangeArrowheads="1"/>
          </p:cNvSpPr>
          <p:nvPr/>
        </p:nvSpPr>
        <p:spPr bwMode="auto">
          <a:xfrm>
            <a:off x="8824913" y="2297113"/>
            <a:ext cx="823912" cy="433387"/>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9">
            <a:extLst>
              <a:ext uri="{FF2B5EF4-FFF2-40B4-BE49-F238E27FC236}">
                <a16:creationId xmlns="" xmlns:a16="http://schemas.microsoft.com/office/drawing/2014/main" id="{A2FF0A01-030B-41D0-A009-026BD0FD85C1}"/>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30">
            <a:extLst>
              <a:ext uri="{FF2B5EF4-FFF2-40B4-BE49-F238E27FC236}">
                <a16:creationId xmlns="" xmlns:a16="http://schemas.microsoft.com/office/drawing/2014/main" id="{D7B34D66-772D-48A3-8B1B-E32BD0E7DF88}"/>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1">
            <a:extLst>
              <a:ext uri="{FF2B5EF4-FFF2-40B4-BE49-F238E27FC236}">
                <a16:creationId xmlns="" xmlns:a16="http://schemas.microsoft.com/office/drawing/2014/main" id="{F02319AF-B822-4214-8E97-6B2B659C2CB2}"/>
              </a:ext>
            </a:extLst>
          </p:cNvPr>
          <p:cNvSpPr>
            <a:spLocks noChangeArrowheads="1"/>
          </p:cNvSpPr>
          <p:nvPr/>
        </p:nvSpPr>
        <p:spPr bwMode="auto">
          <a:xfrm>
            <a:off x="9504363" y="2319338"/>
            <a:ext cx="17462" cy="26987"/>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2">
            <a:extLst>
              <a:ext uri="{FF2B5EF4-FFF2-40B4-BE49-F238E27FC236}">
                <a16:creationId xmlns="" xmlns:a16="http://schemas.microsoft.com/office/drawing/2014/main" id="{D72589FA-ED31-4FED-B4A3-6D776324BB62}"/>
              </a:ext>
            </a:extLst>
          </p:cNvPr>
          <p:cNvSpPr>
            <a:spLocks noChangeArrowheads="1"/>
          </p:cNvSpPr>
          <p:nvPr/>
        </p:nvSpPr>
        <p:spPr bwMode="auto">
          <a:xfrm>
            <a:off x="9628188" y="2297113"/>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3">
            <a:extLst>
              <a:ext uri="{FF2B5EF4-FFF2-40B4-BE49-F238E27FC236}">
                <a16:creationId xmlns="" xmlns:a16="http://schemas.microsoft.com/office/drawing/2014/main" id="{5126ED09-4C7C-427B-AAA2-108FB7EA732C}"/>
              </a:ext>
            </a:extLst>
          </p:cNvPr>
          <p:cNvSpPr>
            <a:spLocks noChangeArrowheads="1"/>
          </p:cNvSpPr>
          <p:nvPr/>
        </p:nvSpPr>
        <p:spPr bwMode="auto">
          <a:xfrm>
            <a:off x="6246813" y="3087688"/>
            <a:ext cx="1951037" cy="11747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4">
            <a:extLst>
              <a:ext uri="{FF2B5EF4-FFF2-40B4-BE49-F238E27FC236}">
                <a16:creationId xmlns="" xmlns:a16="http://schemas.microsoft.com/office/drawing/2014/main" id="{1792FC57-ECDB-4D6E-B7C7-77EFC910E875}"/>
              </a:ext>
            </a:extLst>
          </p:cNvPr>
          <p:cNvSpPr>
            <a:spLocks noChangeArrowheads="1"/>
          </p:cNvSpPr>
          <p:nvPr/>
        </p:nvSpPr>
        <p:spPr bwMode="auto">
          <a:xfrm>
            <a:off x="6254750" y="4221163"/>
            <a:ext cx="1836738" cy="10763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1" name="组合 161">
            <a:extLst>
              <a:ext uri="{FF2B5EF4-FFF2-40B4-BE49-F238E27FC236}">
                <a16:creationId xmlns="" xmlns:a16="http://schemas.microsoft.com/office/drawing/2014/main" id="{49541F5F-FC95-468E-B89E-EA6E378B89C7}"/>
              </a:ext>
            </a:extLst>
          </p:cNvPr>
          <p:cNvGrpSpPr>
            <a:grpSpLocks/>
          </p:cNvGrpSpPr>
          <p:nvPr/>
        </p:nvGrpSpPr>
        <p:grpSpPr bwMode="auto">
          <a:xfrm>
            <a:off x="6197600" y="2320925"/>
            <a:ext cx="5260975" cy="3022600"/>
            <a:chOff x="7564437" y="4244495"/>
            <a:chExt cx="4236358" cy="2433801"/>
          </a:xfrm>
        </p:grpSpPr>
        <p:sp>
          <p:nvSpPr>
            <p:cNvPr id="42" name="Freeform 238">
              <a:extLst>
                <a:ext uri="{FF2B5EF4-FFF2-40B4-BE49-F238E27FC236}">
                  <a16:creationId xmlns="" xmlns:a16="http://schemas.microsoft.com/office/drawing/2014/main" id="{D2A5171D-E58B-49E6-8330-867C6E75D918}"/>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 name="Freeform 238">
              <a:extLst>
                <a:ext uri="{FF2B5EF4-FFF2-40B4-BE49-F238E27FC236}">
                  <a16:creationId xmlns="" xmlns:a16="http://schemas.microsoft.com/office/drawing/2014/main" id="{83D6515D-411E-4AE8-86D4-1A76E4EF5650}"/>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 xmlns:a16="http://schemas.microsoft.com/office/drawing/2014/main" id="{ADE1FC05-CBFC-4560-906E-DBDADF97B946}"/>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 xmlns:a16="http://schemas.microsoft.com/office/drawing/2014/main" id="{BA520366-ED7A-4104-BCB8-5AFF9EFEA4E0}"/>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 name="Freeform 135">
            <a:extLst>
              <a:ext uri="{FF2B5EF4-FFF2-40B4-BE49-F238E27FC236}">
                <a16:creationId xmlns="" xmlns:a16="http://schemas.microsoft.com/office/drawing/2014/main" id="{F84C648C-8347-47DF-B8BE-C1DB94BF0130}"/>
              </a:ext>
            </a:extLst>
          </p:cNvPr>
          <p:cNvSpPr>
            <a:spLocks noEditPoints="1" noChangeArrowheads="1"/>
          </p:cNvSpPr>
          <p:nvPr/>
        </p:nvSpPr>
        <p:spPr bwMode="auto">
          <a:xfrm>
            <a:off x="8680450" y="4037013"/>
            <a:ext cx="1104900" cy="64293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137">
            <a:extLst>
              <a:ext uri="{FF2B5EF4-FFF2-40B4-BE49-F238E27FC236}">
                <a16:creationId xmlns="" xmlns:a16="http://schemas.microsoft.com/office/drawing/2014/main" id="{020821C1-6477-4F16-B170-5FFE976A9A07}"/>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6">
            <a:extLst>
              <a:ext uri="{FF2B5EF4-FFF2-40B4-BE49-F238E27FC236}">
                <a16:creationId xmlns="" xmlns:a16="http://schemas.microsoft.com/office/drawing/2014/main" id="{6B37FE91-B408-4775-BDA3-199D009784FD}"/>
              </a:ext>
            </a:extLst>
          </p:cNvPr>
          <p:cNvSpPr>
            <a:spLocks noEditPoints="1" noChangeArrowheads="1"/>
          </p:cNvSpPr>
          <p:nvPr/>
        </p:nvSpPr>
        <p:spPr bwMode="auto">
          <a:xfrm>
            <a:off x="9736138" y="3327400"/>
            <a:ext cx="1281112" cy="639763"/>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8">
            <a:extLst>
              <a:ext uri="{FF2B5EF4-FFF2-40B4-BE49-F238E27FC236}">
                <a16:creationId xmlns="" xmlns:a16="http://schemas.microsoft.com/office/drawing/2014/main" id="{FFD860AE-3B39-4E53-819A-3822DD4EFB3B}"/>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9">
            <a:extLst>
              <a:ext uri="{FF2B5EF4-FFF2-40B4-BE49-F238E27FC236}">
                <a16:creationId xmlns="" xmlns:a16="http://schemas.microsoft.com/office/drawing/2014/main" id="{6E1E582E-F77C-4151-B212-6AE8435741B2}"/>
              </a:ext>
            </a:extLst>
          </p:cNvPr>
          <p:cNvSpPr>
            <a:spLocks noEditPoints="1" noChangeArrowheads="1"/>
          </p:cNvSpPr>
          <p:nvPr/>
        </p:nvSpPr>
        <p:spPr bwMode="auto">
          <a:xfrm>
            <a:off x="8205788" y="2901950"/>
            <a:ext cx="1238250" cy="679450"/>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40">
            <a:extLst>
              <a:ext uri="{FF2B5EF4-FFF2-40B4-BE49-F238E27FC236}">
                <a16:creationId xmlns="" xmlns:a16="http://schemas.microsoft.com/office/drawing/2014/main" id="{5076AC02-A9A1-41D3-8BAB-BD3445F9A663}"/>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1">
            <a:extLst>
              <a:ext uri="{FF2B5EF4-FFF2-40B4-BE49-F238E27FC236}">
                <a16:creationId xmlns="" xmlns:a16="http://schemas.microsoft.com/office/drawing/2014/main" id="{7A977D5F-3BC9-49B7-95FA-CBBBA3DE8190}"/>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2">
            <a:extLst>
              <a:ext uri="{FF2B5EF4-FFF2-40B4-BE49-F238E27FC236}">
                <a16:creationId xmlns="" xmlns:a16="http://schemas.microsoft.com/office/drawing/2014/main" id="{CBF95F56-E509-4256-9084-654CF722CC72}"/>
              </a:ext>
            </a:extLst>
          </p:cNvPr>
          <p:cNvSpPr>
            <a:spLocks noChangeArrowheads="1"/>
          </p:cNvSpPr>
          <p:nvPr/>
        </p:nvSpPr>
        <p:spPr bwMode="auto">
          <a:xfrm>
            <a:off x="7094538" y="4676775"/>
            <a:ext cx="152400" cy="179388"/>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3">
            <a:extLst>
              <a:ext uri="{FF2B5EF4-FFF2-40B4-BE49-F238E27FC236}">
                <a16:creationId xmlns="" xmlns:a16="http://schemas.microsoft.com/office/drawing/2014/main" id="{C44C5CC4-F21A-4C0F-875E-43907342E7A7}"/>
              </a:ext>
            </a:extLst>
          </p:cNvPr>
          <p:cNvSpPr>
            <a:spLocks noChangeArrowheads="1"/>
          </p:cNvSpPr>
          <p:nvPr/>
        </p:nvSpPr>
        <p:spPr bwMode="auto">
          <a:xfrm>
            <a:off x="7018338" y="4794250"/>
            <a:ext cx="171450" cy="142875"/>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4">
            <a:extLst>
              <a:ext uri="{FF2B5EF4-FFF2-40B4-BE49-F238E27FC236}">
                <a16:creationId xmlns="" xmlns:a16="http://schemas.microsoft.com/office/drawing/2014/main" id="{778C8FFC-A32B-4CCA-8A70-0807EF721DB4}"/>
              </a:ext>
            </a:extLst>
          </p:cNvPr>
          <p:cNvSpPr>
            <a:spLocks noChangeArrowheads="1"/>
          </p:cNvSpPr>
          <p:nvPr/>
        </p:nvSpPr>
        <p:spPr bwMode="auto">
          <a:xfrm>
            <a:off x="7192963" y="4503738"/>
            <a:ext cx="1493837" cy="35242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5">
            <a:extLst>
              <a:ext uri="{FF2B5EF4-FFF2-40B4-BE49-F238E27FC236}">
                <a16:creationId xmlns="" xmlns:a16="http://schemas.microsoft.com/office/drawing/2014/main" id="{BABAA874-2E54-4C3F-84E3-1BCC5729F79A}"/>
              </a:ext>
            </a:extLst>
          </p:cNvPr>
          <p:cNvSpPr>
            <a:spLocks noChangeArrowheads="1"/>
          </p:cNvSpPr>
          <p:nvPr/>
        </p:nvSpPr>
        <p:spPr bwMode="auto">
          <a:xfrm>
            <a:off x="7529513" y="3384550"/>
            <a:ext cx="909637" cy="1131888"/>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6">
            <a:extLst>
              <a:ext uri="{FF2B5EF4-FFF2-40B4-BE49-F238E27FC236}">
                <a16:creationId xmlns="" xmlns:a16="http://schemas.microsoft.com/office/drawing/2014/main" id="{34D7C0CC-2DA1-4D77-A0C7-0DE9177F6069}"/>
              </a:ext>
            </a:extLst>
          </p:cNvPr>
          <p:cNvSpPr>
            <a:spLocks noChangeArrowheads="1"/>
          </p:cNvSpPr>
          <p:nvPr/>
        </p:nvSpPr>
        <p:spPr bwMode="auto">
          <a:xfrm>
            <a:off x="8382000" y="3659188"/>
            <a:ext cx="1541463" cy="3683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50">
            <a:extLst>
              <a:ext uri="{FF2B5EF4-FFF2-40B4-BE49-F238E27FC236}">
                <a16:creationId xmlns="" xmlns:a16="http://schemas.microsoft.com/office/drawing/2014/main" id="{6D9A3AAD-6D8A-45A0-AEFF-A8702CAC190D}"/>
              </a:ext>
            </a:extLst>
          </p:cNvPr>
          <p:cNvSpPr>
            <a:spLocks noEditPoints="1" noChangeArrowheads="1"/>
          </p:cNvSpPr>
          <p:nvPr/>
        </p:nvSpPr>
        <p:spPr bwMode="auto">
          <a:xfrm>
            <a:off x="9444038" y="273843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1">
            <a:extLst>
              <a:ext uri="{FF2B5EF4-FFF2-40B4-BE49-F238E27FC236}">
                <a16:creationId xmlns="" xmlns:a16="http://schemas.microsoft.com/office/drawing/2014/main" id="{DC69D04C-0CA7-4D0E-8BE8-424D09A6A652}"/>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2">
            <a:extLst>
              <a:ext uri="{FF2B5EF4-FFF2-40B4-BE49-F238E27FC236}">
                <a16:creationId xmlns="" xmlns:a16="http://schemas.microsoft.com/office/drawing/2014/main" id="{49345F0D-FBD5-450B-8D59-13A91F51CC89}"/>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3">
            <a:extLst>
              <a:ext uri="{FF2B5EF4-FFF2-40B4-BE49-F238E27FC236}">
                <a16:creationId xmlns="" xmlns:a16="http://schemas.microsoft.com/office/drawing/2014/main" id="{CA10216E-F4D0-41F8-87EA-B91FA1586C51}"/>
              </a:ext>
            </a:extLst>
          </p:cNvPr>
          <p:cNvSpPr>
            <a:spLocks noEditPoints="1" noChangeArrowheads="1"/>
          </p:cNvSpPr>
          <p:nvPr/>
        </p:nvSpPr>
        <p:spPr bwMode="auto">
          <a:xfrm>
            <a:off x="9975850" y="3741738"/>
            <a:ext cx="436563" cy="155575"/>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7">
            <a:extLst>
              <a:ext uri="{FF2B5EF4-FFF2-40B4-BE49-F238E27FC236}">
                <a16:creationId xmlns="" xmlns:a16="http://schemas.microsoft.com/office/drawing/2014/main" id="{C47C0E1E-6B82-46D4-8A5F-4BDAA17D90F0}"/>
              </a:ext>
            </a:extLst>
          </p:cNvPr>
          <p:cNvSpPr>
            <a:spLocks noChangeArrowheads="1"/>
          </p:cNvSpPr>
          <p:nvPr/>
        </p:nvSpPr>
        <p:spPr bwMode="auto">
          <a:xfrm>
            <a:off x="9436100" y="2741613"/>
            <a:ext cx="3175"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8">
            <a:extLst>
              <a:ext uri="{FF2B5EF4-FFF2-40B4-BE49-F238E27FC236}">
                <a16:creationId xmlns="" xmlns:a16="http://schemas.microsoft.com/office/drawing/2014/main" id="{CD37B47C-BEF0-40D7-9A1B-A0D3212F0135}"/>
              </a:ext>
            </a:extLst>
          </p:cNvPr>
          <p:cNvSpPr>
            <a:spLocks noChangeArrowheads="1"/>
          </p:cNvSpPr>
          <p:nvPr/>
        </p:nvSpPr>
        <p:spPr bwMode="auto">
          <a:xfrm>
            <a:off x="9436100" y="2733675"/>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9">
            <a:extLst>
              <a:ext uri="{FF2B5EF4-FFF2-40B4-BE49-F238E27FC236}">
                <a16:creationId xmlns="" xmlns:a16="http://schemas.microsoft.com/office/drawing/2014/main" id="{843A9F59-04DE-4D8C-B2FC-5EA650D114D8}"/>
              </a:ext>
            </a:extLst>
          </p:cNvPr>
          <p:cNvSpPr>
            <a:spLocks noChangeArrowheads="1"/>
          </p:cNvSpPr>
          <p:nvPr/>
        </p:nvSpPr>
        <p:spPr bwMode="auto">
          <a:xfrm>
            <a:off x="9436100" y="2730500"/>
            <a:ext cx="992188" cy="1179513"/>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60">
            <a:extLst>
              <a:ext uri="{FF2B5EF4-FFF2-40B4-BE49-F238E27FC236}">
                <a16:creationId xmlns="" xmlns:a16="http://schemas.microsoft.com/office/drawing/2014/main" id="{F2F660B3-C66F-4069-8160-FA6D39A4AA9C}"/>
              </a:ext>
            </a:extLst>
          </p:cNvPr>
          <p:cNvSpPr>
            <a:spLocks noEditPoints="1" noChangeArrowheads="1"/>
          </p:cNvSpPr>
          <p:nvPr/>
        </p:nvSpPr>
        <p:spPr bwMode="auto">
          <a:xfrm>
            <a:off x="9436100" y="2738438"/>
            <a:ext cx="7938" cy="3175"/>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4">
            <a:extLst>
              <a:ext uri="{FF2B5EF4-FFF2-40B4-BE49-F238E27FC236}">
                <a16:creationId xmlns="" xmlns:a16="http://schemas.microsoft.com/office/drawing/2014/main" id="{5E578A77-50F6-40CA-9909-4C1F5999004D}"/>
              </a:ext>
            </a:extLst>
          </p:cNvPr>
          <p:cNvSpPr>
            <a:spLocks noEditPoints="1" noChangeArrowheads="1"/>
          </p:cNvSpPr>
          <p:nvPr/>
        </p:nvSpPr>
        <p:spPr bwMode="auto">
          <a:xfrm>
            <a:off x="9444038" y="2738438"/>
            <a:ext cx="968375" cy="11826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72">
            <a:extLst>
              <a:ext uri="{FF2B5EF4-FFF2-40B4-BE49-F238E27FC236}">
                <a16:creationId xmlns="" xmlns:a16="http://schemas.microsoft.com/office/drawing/2014/main" id="{EDCF4CBF-0E29-4753-912C-649CCE95C511}"/>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3">
            <a:extLst>
              <a:ext uri="{FF2B5EF4-FFF2-40B4-BE49-F238E27FC236}">
                <a16:creationId xmlns="" xmlns:a16="http://schemas.microsoft.com/office/drawing/2014/main" id="{0096B257-3E0B-4250-9C13-ACB89DE631ED}"/>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4">
            <a:extLst>
              <a:ext uri="{FF2B5EF4-FFF2-40B4-BE49-F238E27FC236}">
                <a16:creationId xmlns="" xmlns:a16="http://schemas.microsoft.com/office/drawing/2014/main" id="{FDF4A16E-FF3D-4B48-9CAC-B7245AA4972A}"/>
              </a:ext>
            </a:extLst>
          </p:cNvPr>
          <p:cNvSpPr>
            <a:spLocks noEditPoints="1" noChangeArrowheads="1"/>
          </p:cNvSpPr>
          <p:nvPr/>
        </p:nvSpPr>
        <p:spPr bwMode="auto">
          <a:xfrm>
            <a:off x="8743950" y="4452938"/>
            <a:ext cx="433388"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95">
            <a:extLst>
              <a:ext uri="{FF2B5EF4-FFF2-40B4-BE49-F238E27FC236}">
                <a16:creationId xmlns="" xmlns:a16="http://schemas.microsoft.com/office/drawing/2014/main" id="{0FF9BE0F-759D-4F7B-8EB1-E83813E2AAB6}"/>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6">
            <a:extLst>
              <a:ext uri="{FF2B5EF4-FFF2-40B4-BE49-F238E27FC236}">
                <a16:creationId xmlns="" xmlns:a16="http://schemas.microsoft.com/office/drawing/2014/main" id="{77BFB1EA-368C-448C-BEA7-F400B5541498}"/>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7">
            <a:extLst>
              <a:ext uri="{FF2B5EF4-FFF2-40B4-BE49-F238E27FC236}">
                <a16:creationId xmlns="" xmlns:a16="http://schemas.microsoft.com/office/drawing/2014/main" id="{37338B3D-4D3C-4BC3-90CC-D5ABCA8B829F}"/>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8">
            <a:extLst>
              <a:ext uri="{FF2B5EF4-FFF2-40B4-BE49-F238E27FC236}">
                <a16:creationId xmlns="" xmlns:a16="http://schemas.microsoft.com/office/drawing/2014/main" id="{D3BEFF67-5D01-46EE-805B-4DDEDA44AC62}"/>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68">
            <a:extLst>
              <a:ext uri="{FF2B5EF4-FFF2-40B4-BE49-F238E27FC236}">
                <a16:creationId xmlns="" xmlns:a16="http://schemas.microsoft.com/office/drawing/2014/main" id="{0B960C00-8AF9-4DB8-B225-2F0270499866}"/>
              </a:ext>
            </a:extLst>
          </p:cNvPr>
          <p:cNvSpPr>
            <a:spLocks noChangeArrowheads="1"/>
          </p:cNvSpPr>
          <p:nvPr/>
        </p:nvSpPr>
        <p:spPr bwMode="auto">
          <a:xfrm>
            <a:off x="8201025" y="3417888"/>
            <a:ext cx="1038225" cy="12207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9">
            <a:extLst>
              <a:ext uri="{FF2B5EF4-FFF2-40B4-BE49-F238E27FC236}">
                <a16:creationId xmlns="" xmlns:a16="http://schemas.microsoft.com/office/drawing/2014/main" id="{2D024091-F83B-4ED2-81D3-22C831574F85}"/>
              </a:ext>
            </a:extLst>
          </p:cNvPr>
          <p:cNvSpPr>
            <a:spLocks noEditPoints="1" noChangeArrowheads="1"/>
          </p:cNvSpPr>
          <p:nvPr/>
        </p:nvSpPr>
        <p:spPr bwMode="auto">
          <a:xfrm>
            <a:off x="8201025" y="3417888"/>
            <a:ext cx="1038225" cy="12207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70">
            <a:extLst>
              <a:ext uri="{FF2B5EF4-FFF2-40B4-BE49-F238E27FC236}">
                <a16:creationId xmlns="" xmlns:a16="http://schemas.microsoft.com/office/drawing/2014/main" id="{58AF1531-15EE-4560-B2CC-C0630DE3BC23}"/>
              </a:ext>
            </a:extLst>
          </p:cNvPr>
          <p:cNvSpPr>
            <a:spLocks noChangeArrowheads="1"/>
          </p:cNvSpPr>
          <p:nvPr/>
        </p:nvSpPr>
        <p:spPr bwMode="auto">
          <a:xfrm>
            <a:off x="8189913" y="3441700"/>
            <a:ext cx="987425"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1">
            <a:extLst>
              <a:ext uri="{FF2B5EF4-FFF2-40B4-BE49-F238E27FC236}">
                <a16:creationId xmlns="" xmlns:a16="http://schemas.microsoft.com/office/drawing/2014/main" id="{F2056664-D23D-4A4C-8F1C-18A44ADE438E}"/>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5">
            <a:extLst>
              <a:ext uri="{FF2B5EF4-FFF2-40B4-BE49-F238E27FC236}">
                <a16:creationId xmlns="" xmlns:a16="http://schemas.microsoft.com/office/drawing/2014/main" id="{F48EE775-7ED0-4436-BA2B-609D380BE4F1}"/>
              </a:ext>
            </a:extLst>
          </p:cNvPr>
          <p:cNvSpPr>
            <a:spLocks noChangeArrowheads="1"/>
          </p:cNvSpPr>
          <p:nvPr/>
        </p:nvSpPr>
        <p:spPr bwMode="auto">
          <a:xfrm>
            <a:off x="8175625" y="3460750"/>
            <a:ext cx="976313"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8">
            <a:extLst>
              <a:ext uri="{FF2B5EF4-FFF2-40B4-BE49-F238E27FC236}">
                <a16:creationId xmlns="" xmlns:a16="http://schemas.microsoft.com/office/drawing/2014/main" id="{58C5F8D6-C538-4720-9D50-DEB0732D622E}"/>
              </a:ext>
            </a:extLst>
          </p:cNvPr>
          <p:cNvSpPr>
            <a:spLocks noChangeArrowheads="1"/>
          </p:cNvSpPr>
          <p:nvPr/>
        </p:nvSpPr>
        <p:spPr bwMode="auto">
          <a:xfrm>
            <a:off x="8201025" y="3451225"/>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9">
            <a:extLst>
              <a:ext uri="{FF2B5EF4-FFF2-40B4-BE49-F238E27FC236}">
                <a16:creationId xmlns="" xmlns:a16="http://schemas.microsoft.com/office/drawing/2014/main" id="{6494ACA9-4F77-4F46-AEC6-70438F50D835}"/>
              </a:ext>
            </a:extLst>
          </p:cNvPr>
          <p:cNvSpPr>
            <a:spLocks noChangeArrowheads="1"/>
          </p:cNvSpPr>
          <p:nvPr/>
        </p:nvSpPr>
        <p:spPr bwMode="auto">
          <a:xfrm>
            <a:off x="8201025" y="3446463"/>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80">
            <a:extLst>
              <a:ext uri="{FF2B5EF4-FFF2-40B4-BE49-F238E27FC236}">
                <a16:creationId xmlns="" xmlns:a16="http://schemas.microsoft.com/office/drawing/2014/main" id="{92EB9724-3689-4D2F-958E-87C1632CB898}"/>
              </a:ext>
            </a:extLst>
          </p:cNvPr>
          <p:cNvSpPr>
            <a:spLocks noChangeArrowheads="1"/>
          </p:cNvSpPr>
          <p:nvPr/>
        </p:nvSpPr>
        <p:spPr bwMode="auto">
          <a:xfrm>
            <a:off x="8201025" y="3441700"/>
            <a:ext cx="995363"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1">
            <a:extLst>
              <a:ext uri="{FF2B5EF4-FFF2-40B4-BE49-F238E27FC236}">
                <a16:creationId xmlns="" xmlns:a16="http://schemas.microsoft.com/office/drawing/2014/main" id="{26E331AE-1E17-4526-865B-45995F2A04B8}"/>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Rectangle 182">
            <a:extLst>
              <a:ext uri="{FF2B5EF4-FFF2-40B4-BE49-F238E27FC236}">
                <a16:creationId xmlns="" xmlns:a16="http://schemas.microsoft.com/office/drawing/2014/main" id="{79BA8D2E-D375-4FC4-A7EF-8367FC4F9EF2}"/>
              </a:ext>
            </a:extLst>
          </p:cNvPr>
          <p:cNvSpPr>
            <a:spLocks noChangeArrowheads="1"/>
          </p:cNvSpPr>
          <p:nvPr/>
        </p:nvSpPr>
        <p:spPr bwMode="auto">
          <a:xfrm>
            <a:off x="8201025" y="3455988"/>
            <a:ext cx="1588"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4" name="Freeform 183">
            <a:extLst>
              <a:ext uri="{FF2B5EF4-FFF2-40B4-BE49-F238E27FC236}">
                <a16:creationId xmlns="" xmlns:a16="http://schemas.microsoft.com/office/drawing/2014/main" id="{5E30F9DC-C719-47DA-A7D0-6E14FF66FFD9}"/>
              </a:ext>
            </a:extLst>
          </p:cNvPr>
          <p:cNvSpPr>
            <a:spLocks noChangeArrowheads="1"/>
          </p:cNvSpPr>
          <p:nvPr/>
        </p:nvSpPr>
        <p:spPr bwMode="auto">
          <a:xfrm>
            <a:off x="8201025" y="345598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Freeform 186">
            <a:extLst>
              <a:ext uri="{FF2B5EF4-FFF2-40B4-BE49-F238E27FC236}">
                <a16:creationId xmlns="" xmlns:a16="http://schemas.microsoft.com/office/drawing/2014/main" id="{6C437F70-D115-4E2C-AD55-6A1B2801BB99}"/>
              </a:ext>
            </a:extLst>
          </p:cNvPr>
          <p:cNvSpPr>
            <a:spLocks noChangeArrowheads="1"/>
          </p:cNvSpPr>
          <p:nvPr/>
        </p:nvSpPr>
        <p:spPr bwMode="auto">
          <a:xfrm>
            <a:off x="8208963" y="3446463"/>
            <a:ext cx="984250" cy="11890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7">
            <a:extLst>
              <a:ext uri="{FF2B5EF4-FFF2-40B4-BE49-F238E27FC236}">
                <a16:creationId xmlns="" xmlns:a16="http://schemas.microsoft.com/office/drawing/2014/main" id="{64B5063B-6199-4326-ACC8-95137C45B6A3}"/>
              </a:ext>
            </a:extLst>
          </p:cNvPr>
          <p:cNvSpPr>
            <a:spLocks noEditPoints="1" noChangeArrowheads="1"/>
          </p:cNvSpPr>
          <p:nvPr/>
        </p:nvSpPr>
        <p:spPr bwMode="auto">
          <a:xfrm>
            <a:off x="8208963" y="3451225"/>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209">
            <a:extLst>
              <a:ext uri="{FF2B5EF4-FFF2-40B4-BE49-F238E27FC236}">
                <a16:creationId xmlns="" xmlns:a16="http://schemas.microsoft.com/office/drawing/2014/main" id="{1ED1DD6C-3E4B-408C-BD16-030FDA879F28}"/>
              </a:ext>
            </a:extLst>
          </p:cNvPr>
          <p:cNvSpPr>
            <a:spLocks noEditPoints="1" noChangeArrowheads="1"/>
          </p:cNvSpPr>
          <p:nvPr/>
        </p:nvSpPr>
        <p:spPr bwMode="auto">
          <a:xfrm>
            <a:off x="8923338" y="3463925"/>
            <a:ext cx="15875" cy="26988"/>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17">
            <a:extLst>
              <a:ext uri="{FF2B5EF4-FFF2-40B4-BE49-F238E27FC236}">
                <a16:creationId xmlns="" xmlns:a16="http://schemas.microsoft.com/office/drawing/2014/main" id="{C1687EDF-7A9B-4F2D-A05B-AD10A5C5BAEE}"/>
              </a:ext>
            </a:extLst>
          </p:cNvPr>
          <p:cNvSpPr>
            <a:spLocks noChangeArrowheads="1"/>
          </p:cNvSpPr>
          <p:nvPr/>
        </p:nvSpPr>
        <p:spPr bwMode="auto">
          <a:xfrm>
            <a:off x="8231188" y="2722563"/>
            <a:ext cx="122237" cy="179387"/>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8">
            <a:extLst>
              <a:ext uri="{FF2B5EF4-FFF2-40B4-BE49-F238E27FC236}">
                <a16:creationId xmlns="" xmlns:a16="http://schemas.microsoft.com/office/drawing/2014/main" id="{72D2F478-4CDD-4028-AD16-9A931BF1D2B4}"/>
              </a:ext>
            </a:extLst>
          </p:cNvPr>
          <p:cNvSpPr>
            <a:spLocks noChangeArrowheads="1"/>
          </p:cNvSpPr>
          <p:nvPr/>
        </p:nvSpPr>
        <p:spPr bwMode="auto">
          <a:xfrm>
            <a:off x="8382000" y="2806700"/>
            <a:ext cx="122238" cy="18573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9">
            <a:extLst>
              <a:ext uri="{FF2B5EF4-FFF2-40B4-BE49-F238E27FC236}">
                <a16:creationId xmlns="" xmlns:a16="http://schemas.microsoft.com/office/drawing/2014/main" id="{18008606-BD32-46B2-BCD2-F0BBB4821A75}"/>
              </a:ext>
            </a:extLst>
          </p:cNvPr>
          <p:cNvSpPr>
            <a:spLocks noChangeArrowheads="1"/>
          </p:cNvSpPr>
          <p:nvPr/>
        </p:nvSpPr>
        <p:spPr bwMode="auto">
          <a:xfrm>
            <a:off x="8531225" y="2894013"/>
            <a:ext cx="122238" cy="18573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1" name="组合 207">
            <a:extLst>
              <a:ext uri="{FF2B5EF4-FFF2-40B4-BE49-F238E27FC236}">
                <a16:creationId xmlns="" xmlns:a16="http://schemas.microsoft.com/office/drawing/2014/main" id="{2112BA41-5450-4091-A7EC-1F09CA708324}"/>
              </a:ext>
            </a:extLst>
          </p:cNvPr>
          <p:cNvGrpSpPr>
            <a:grpSpLocks/>
          </p:cNvGrpSpPr>
          <p:nvPr/>
        </p:nvGrpSpPr>
        <p:grpSpPr bwMode="auto">
          <a:xfrm>
            <a:off x="9423400" y="2714625"/>
            <a:ext cx="1063625" cy="1231900"/>
            <a:chOff x="5332731" y="3343275"/>
            <a:chExt cx="855345" cy="992188"/>
          </a:xfrm>
        </p:grpSpPr>
        <p:sp>
          <p:nvSpPr>
            <p:cNvPr id="92" name="Freeform 168">
              <a:extLst>
                <a:ext uri="{FF2B5EF4-FFF2-40B4-BE49-F238E27FC236}">
                  <a16:creationId xmlns="" xmlns:a16="http://schemas.microsoft.com/office/drawing/2014/main" id="{D28C4D78-91DA-4AB5-9C87-639CA27589A4}"/>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9">
              <a:extLst>
                <a:ext uri="{FF2B5EF4-FFF2-40B4-BE49-F238E27FC236}">
                  <a16:creationId xmlns="" xmlns:a16="http://schemas.microsoft.com/office/drawing/2014/main" id="{B5DD6C6C-1837-44F6-B91C-8302D2A5BA31}"/>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70">
              <a:extLst>
                <a:ext uri="{FF2B5EF4-FFF2-40B4-BE49-F238E27FC236}">
                  <a16:creationId xmlns="" xmlns:a16="http://schemas.microsoft.com/office/drawing/2014/main" id="{C2584B54-CC5F-4A5F-AE67-36D93EA5C3F8}"/>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1">
              <a:extLst>
                <a:ext uri="{FF2B5EF4-FFF2-40B4-BE49-F238E27FC236}">
                  <a16:creationId xmlns="" xmlns:a16="http://schemas.microsoft.com/office/drawing/2014/main" id="{F1AA8B4F-F6C0-440C-8404-C4E151FFC422}"/>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5">
              <a:extLst>
                <a:ext uri="{FF2B5EF4-FFF2-40B4-BE49-F238E27FC236}">
                  <a16:creationId xmlns="" xmlns:a16="http://schemas.microsoft.com/office/drawing/2014/main" id="{B7125E28-3A03-48AB-B669-5A45B780DA09}"/>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8">
              <a:extLst>
                <a:ext uri="{FF2B5EF4-FFF2-40B4-BE49-F238E27FC236}">
                  <a16:creationId xmlns="" xmlns:a16="http://schemas.microsoft.com/office/drawing/2014/main" id="{1A3E7CB4-3981-4480-9237-99C0C5988C6B}"/>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9">
              <a:extLst>
                <a:ext uri="{FF2B5EF4-FFF2-40B4-BE49-F238E27FC236}">
                  <a16:creationId xmlns="" xmlns:a16="http://schemas.microsoft.com/office/drawing/2014/main" id="{E62C92E3-A523-4D2C-A019-6D03F903B6BB}"/>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80">
              <a:extLst>
                <a:ext uri="{FF2B5EF4-FFF2-40B4-BE49-F238E27FC236}">
                  <a16:creationId xmlns="" xmlns:a16="http://schemas.microsoft.com/office/drawing/2014/main" id="{032D310C-E207-4135-ADD4-AF998E37935B}"/>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1">
              <a:extLst>
                <a:ext uri="{FF2B5EF4-FFF2-40B4-BE49-F238E27FC236}">
                  <a16:creationId xmlns="" xmlns:a16="http://schemas.microsoft.com/office/drawing/2014/main" id="{5579F719-BED4-4738-ABCA-48A4311880F7}"/>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Rectangle 182">
              <a:extLst>
                <a:ext uri="{FF2B5EF4-FFF2-40B4-BE49-F238E27FC236}">
                  <a16:creationId xmlns="" xmlns:a16="http://schemas.microsoft.com/office/drawing/2014/main" id="{86EA70A5-FAAF-41F2-A551-65F490A76416}"/>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 name="Freeform 183">
              <a:extLst>
                <a:ext uri="{FF2B5EF4-FFF2-40B4-BE49-F238E27FC236}">
                  <a16:creationId xmlns="" xmlns:a16="http://schemas.microsoft.com/office/drawing/2014/main" id="{1AD9D5C3-FC81-4BEA-8F62-36932FCF3E54}"/>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 name="Freeform 186">
              <a:extLst>
                <a:ext uri="{FF2B5EF4-FFF2-40B4-BE49-F238E27FC236}">
                  <a16:creationId xmlns="" xmlns:a16="http://schemas.microsoft.com/office/drawing/2014/main" id="{36294BE5-D9C4-4EAB-BE9B-E8FF7D3BFA52}"/>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7">
              <a:extLst>
                <a:ext uri="{FF2B5EF4-FFF2-40B4-BE49-F238E27FC236}">
                  <a16:creationId xmlns="" xmlns:a16="http://schemas.microsoft.com/office/drawing/2014/main" id="{CA21D5A8-FBA6-418E-8DC7-8B926B9B0B04}"/>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209">
              <a:extLst>
                <a:ext uri="{FF2B5EF4-FFF2-40B4-BE49-F238E27FC236}">
                  <a16:creationId xmlns="" xmlns:a16="http://schemas.microsoft.com/office/drawing/2014/main" id="{BE8E7A51-1B94-46EA-ACEA-4B178E9EE24B}"/>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6" name="Freeform 168">
            <a:extLst>
              <a:ext uri="{FF2B5EF4-FFF2-40B4-BE49-F238E27FC236}">
                <a16:creationId xmlns="" xmlns:a16="http://schemas.microsoft.com/office/drawing/2014/main" id="{8BD3E2AD-B03D-4FDE-83C2-16AA9BF21B5D}"/>
              </a:ext>
            </a:extLst>
          </p:cNvPr>
          <p:cNvSpPr>
            <a:spLocks noChangeArrowheads="1"/>
          </p:cNvSpPr>
          <p:nvPr/>
        </p:nvSpPr>
        <p:spPr bwMode="auto">
          <a:xfrm>
            <a:off x="7970838" y="2276475"/>
            <a:ext cx="1036637" cy="1220788"/>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9">
            <a:extLst>
              <a:ext uri="{FF2B5EF4-FFF2-40B4-BE49-F238E27FC236}">
                <a16:creationId xmlns="" xmlns:a16="http://schemas.microsoft.com/office/drawing/2014/main" id="{67ED112B-E648-428C-8FF4-12B3CC9B554D}"/>
              </a:ext>
            </a:extLst>
          </p:cNvPr>
          <p:cNvSpPr>
            <a:spLocks noEditPoints="1" noChangeArrowheads="1"/>
          </p:cNvSpPr>
          <p:nvPr/>
        </p:nvSpPr>
        <p:spPr bwMode="auto">
          <a:xfrm>
            <a:off x="7970838" y="2276475"/>
            <a:ext cx="1036637" cy="1220788"/>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70">
            <a:extLst>
              <a:ext uri="{FF2B5EF4-FFF2-40B4-BE49-F238E27FC236}">
                <a16:creationId xmlns="" xmlns:a16="http://schemas.microsoft.com/office/drawing/2014/main" id="{FEA53336-BAF1-480B-A7FB-594F99D60E7B}"/>
              </a:ext>
            </a:extLst>
          </p:cNvPr>
          <p:cNvSpPr>
            <a:spLocks noChangeArrowheads="1"/>
          </p:cNvSpPr>
          <p:nvPr/>
        </p:nvSpPr>
        <p:spPr bwMode="auto">
          <a:xfrm>
            <a:off x="7958138" y="2300288"/>
            <a:ext cx="989012"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1">
            <a:extLst>
              <a:ext uri="{FF2B5EF4-FFF2-40B4-BE49-F238E27FC236}">
                <a16:creationId xmlns="" xmlns:a16="http://schemas.microsoft.com/office/drawing/2014/main" id="{3ECB9440-F5F1-4174-ACC8-4212F5F4FF0F}"/>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5">
            <a:extLst>
              <a:ext uri="{FF2B5EF4-FFF2-40B4-BE49-F238E27FC236}">
                <a16:creationId xmlns="" xmlns:a16="http://schemas.microsoft.com/office/drawing/2014/main" id="{F133A2C5-3374-497A-8DAE-8E9B4405E46E}"/>
              </a:ext>
            </a:extLst>
          </p:cNvPr>
          <p:cNvSpPr>
            <a:spLocks noChangeArrowheads="1"/>
          </p:cNvSpPr>
          <p:nvPr/>
        </p:nvSpPr>
        <p:spPr bwMode="auto">
          <a:xfrm>
            <a:off x="7945438" y="2319338"/>
            <a:ext cx="976312"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8">
            <a:extLst>
              <a:ext uri="{FF2B5EF4-FFF2-40B4-BE49-F238E27FC236}">
                <a16:creationId xmlns="" xmlns:a16="http://schemas.microsoft.com/office/drawing/2014/main" id="{5CB13AD1-93F1-48BF-8F17-5EB3AE38FE78}"/>
              </a:ext>
            </a:extLst>
          </p:cNvPr>
          <p:cNvSpPr>
            <a:spLocks noChangeArrowheads="1"/>
          </p:cNvSpPr>
          <p:nvPr/>
        </p:nvSpPr>
        <p:spPr bwMode="auto">
          <a:xfrm>
            <a:off x="7970838" y="2309813"/>
            <a:ext cx="3175"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9">
            <a:extLst>
              <a:ext uri="{FF2B5EF4-FFF2-40B4-BE49-F238E27FC236}">
                <a16:creationId xmlns="" xmlns:a16="http://schemas.microsoft.com/office/drawing/2014/main" id="{B542772D-790A-4084-8152-4D470C6CF24F}"/>
              </a:ext>
            </a:extLst>
          </p:cNvPr>
          <p:cNvSpPr>
            <a:spLocks noChangeArrowheads="1"/>
          </p:cNvSpPr>
          <p:nvPr/>
        </p:nvSpPr>
        <p:spPr bwMode="auto">
          <a:xfrm>
            <a:off x="7970838" y="2305050"/>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80">
            <a:extLst>
              <a:ext uri="{FF2B5EF4-FFF2-40B4-BE49-F238E27FC236}">
                <a16:creationId xmlns="" xmlns:a16="http://schemas.microsoft.com/office/drawing/2014/main" id="{07638C50-1674-4D53-9F8A-2068BD384951}"/>
              </a:ext>
            </a:extLst>
          </p:cNvPr>
          <p:cNvSpPr>
            <a:spLocks noChangeArrowheads="1"/>
          </p:cNvSpPr>
          <p:nvPr/>
        </p:nvSpPr>
        <p:spPr bwMode="auto">
          <a:xfrm>
            <a:off x="7970838" y="2300288"/>
            <a:ext cx="995362"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1">
            <a:extLst>
              <a:ext uri="{FF2B5EF4-FFF2-40B4-BE49-F238E27FC236}">
                <a16:creationId xmlns="" xmlns:a16="http://schemas.microsoft.com/office/drawing/2014/main" id="{AD7E9935-1058-4CBB-9CC0-9FC49B000E01}"/>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Rectangle 182">
            <a:extLst>
              <a:ext uri="{FF2B5EF4-FFF2-40B4-BE49-F238E27FC236}">
                <a16:creationId xmlns="" xmlns:a16="http://schemas.microsoft.com/office/drawing/2014/main" id="{35CF0C0D-BD1C-4F0C-8A49-508DC077AE63}"/>
              </a:ext>
            </a:extLst>
          </p:cNvPr>
          <p:cNvSpPr>
            <a:spLocks noChangeArrowheads="1"/>
          </p:cNvSpPr>
          <p:nvPr/>
        </p:nvSpPr>
        <p:spPr bwMode="auto">
          <a:xfrm>
            <a:off x="7970838" y="2314575"/>
            <a:ext cx="1587"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6" name="Freeform 183">
            <a:extLst>
              <a:ext uri="{FF2B5EF4-FFF2-40B4-BE49-F238E27FC236}">
                <a16:creationId xmlns="" xmlns:a16="http://schemas.microsoft.com/office/drawing/2014/main" id="{5092FAE1-A83A-48AD-B078-4A5847376C6E}"/>
              </a:ext>
            </a:extLst>
          </p:cNvPr>
          <p:cNvSpPr>
            <a:spLocks noChangeArrowheads="1"/>
          </p:cNvSpPr>
          <p:nvPr/>
        </p:nvSpPr>
        <p:spPr bwMode="auto">
          <a:xfrm>
            <a:off x="7970838" y="23145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7" name="Freeform 186">
            <a:extLst>
              <a:ext uri="{FF2B5EF4-FFF2-40B4-BE49-F238E27FC236}">
                <a16:creationId xmlns="" xmlns:a16="http://schemas.microsoft.com/office/drawing/2014/main" id="{2FE2FBF3-8C57-434A-8D44-A919843F2EA7}"/>
              </a:ext>
            </a:extLst>
          </p:cNvPr>
          <p:cNvSpPr>
            <a:spLocks noChangeArrowheads="1"/>
          </p:cNvSpPr>
          <p:nvPr/>
        </p:nvSpPr>
        <p:spPr bwMode="auto">
          <a:xfrm>
            <a:off x="7978775" y="2305050"/>
            <a:ext cx="984250" cy="11890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7">
            <a:extLst>
              <a:ext uri="{FF2B5EF4-FFF2-40B4-BE49-F238E27FC236}">
                <a16:creationId xmlns="" xmlns:a16="http://schemas.microsoft.com/office/drawing/2014/main" id="{2C6B7A3C-415D-4C97-BC34-CF95A4F8A1B8}"/>
              </a:ext>
            </a:extLst>
          </p:cNvPr>
          <p:cNvSpPr>
            <a:spLocks noEditPoints="1" noChangeArrowheads="1"/>
          </p:cNvSpPr>
          <p:nvPr/>
        </p:nvSpPr>
        <p:spPr bwMode="auto">
          <a:xfrm>
            <a:off x="7978775" y="2309813"/>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209">
            <a:extLst>
              <a:ext uri="{FF2B5EF4-FFF2-40B4-BE49-F238E27FC236}">
                <a16:creationId xmlns="" xmlns:a16="http://schemas.microsoft.com/office/drawing/2014/main" id="{D44F4783-C5E3-43E6-8287-BBFE6E41C05A}"/>
              </a:ext>
            </a:extLst>
          </p:cNvPr>
          <p:cNvSpPr>
            <a:spLocks noEditPoints="1" noChangeArrowheads="1"/>
          </p:cNvSpPr>
          <p:nvPr/>
        </p:nvSpPr>
        <p:spPr bwMode="auto">
          <a:xfrm>
            <a:off x="8691563" y="2322513"/>
            <a:ext cx="15875" cy="26987"/>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increasing-stocks-graphic_38888">
            <a:extLst>
              <a:ext uri="{FF2B5EF4-FFF2-40B4-BE49-F238E27FC236}">
                <a16:creationId xmlns="" xmlns:a16="http://schemas.microsoft.com/office/drawing/2014/main" id="{D8C230C7-6C52-4527-98C1-B1C8AA3BB90A}"/>
              </a:ext>
            </a:extLst>
          </p:cNvPr>
          <p:cNvSpPr>
            <a:spLocks noChangeAspect="1" noChangeArrowheads="1"/>
          </p:cNvSpPr>
          <p:nvPr userDrawn="1"/>
        </p:nvSpPr>
        <p:spPr bwMode="auto">
          <a:xfrm>
            <a:off x="9758363" y="3179763"/>
            <a:ext cx="315912" cy="31115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 xmlns:a16="http://schemas.microsoft.com/office/drawing/2014/main" id="{F4725360-A1ED-44FC-8D4E-5B008C3C555A}"/>
              </a:ext>
            </a:extLst>
          </p:cNvPr>
          <p:cNvSpPr>
            <a:spLocks noChangeArrowheads="1"/>
          </p:cNvSpPr>
          <p:nvPr userDrawn="1"/>
        </p:nvSpPr>
        <p:spPr bwMode="auto">
          <a:xfrm>
            <a:off x="8369300" y="3846513"/>
            <a:ext cx="544513" cy="377825"/>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 xmlns:a16="http://schemas.microsoft.com/office/drawing/2014/main" id="{1353EC8B-61D1-4F8C-BEDB-A596757A5A88}"/>
              </a:ext>
            </a:extLst>
          </p:cNvPr>
          <p:cNvSpPr/>
          <p:nvPr userDrawn="1"/>
        </p:nvSpPr>
        <p:spPr bwMode="auto">
          <a:xfrm>
            <a:off x="8234363" y="2692400"/>
            <a:ext cx="347662" cy="4016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20" name="标题 1"/>
          <p:cNvSpPr>
            <a:spLocks noGrp="1"/>
          </p:cNvSpPr>
          <p:nvPr userDrawn="1">
            <p:ph type="title" hasCustomPrompt="1"/>
          </p:nvPr>
        </p:nvSpPr>
        <p:spPr>
          <a:xfrm>
            <a:off x="1344680" y="1738313"/>
            <a:ext cx="5419185" cy="1988965"/>
          </a:xfrm>
        </p:spPr>
        <p:txBody>
          <a:bodyPr>
            <a:noAutofit/>
          </a:bodyPr>
          <a:lstStyle>
            <a:lvl1pPr algn="l">
              <a:defRPr sz="11500" b="1">
                <a:solidFill>
                  <a:schemeClr val="bg1"/>
                </a:solidFill>
                <a:latin typeface="+mn-lt"/>
                <a:cs typeface="Ebrima" panose="02000000000000000000" pitchFamily="2" charset="0"/>
              </a:defRPr>
            </a:lvl1pPr>
          </a:lstStyle>
          <a:p>
            <a:r>
              <a:rPr lang="en-US" altLang="zh-CN" noProof="1"/>
              <a:t>/</a:t>
            </a:r>
            <a:endParaRPr lang="zh-CN" altLang="en-US" noProof="1"/>
          </a:p>
        </p:txBody>
      </p:sp>
      <p:sp>
        <p:nvSpPr>
          <p:cNvPr id="21" name="文本占位符 2"/>
          <p:cNvSpPr>
            <a:spLocks noGrp="1"/>
          </p:cNvSpPr>
          <p:nvPr userDrawn="1">
            <p:ph type="body" idx="1" hasCustomPrompt="1"/>
          </p:nvPr>
        </p:nvSpPr>
        <p:spPr>
          <a:xfrm>
            <a:off x="1345796" y="3727279"/>
            <a:ext cx="5419185" cy="535160"/>
          </a:xfrm>
        </p:spPr>
        <p:txBody>
          <a:bodyPr anchor="ctr" anchorCtr="0">
            <a:normAutofit/>
          </a:bodyPr>
          <a:lstStyle>
            <a:lvl1pPr marL="0" indent="0" algn="l">
              <a:lnSpc>
                <a:spcPct val="100000"/>
              </a:lnSpc>
              <a:buNone/>
              <a:defRPr sz="2800">
                <a:solidFill>
                  <a:schemeClr val="bg1"/>
                </a:solidFill>
                <a:latin typeface="Arial" panose="020B0604020202020204" pitchFamily="34" charset="0"/>
                <a:ea typeface="微软雅黑" panose="020B0503020204020204" pitchFamily="34" charset="-122"/>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1"/>
              <a:t>Edit Master text </a:t>
            </a:r>
          </a:p>
        </p:txBody>
      </p:sp>
    </p:spTree>
    <p:extLst>
      <p:ext uri="{BB962C8B-B14F-4D97-AF65-F5344CB8AC3E}">
        <p14:creationId xmlns:p14="http://schemas.microsoft.com/office/powerpoint/2010/main" val="148751716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cxnSp>
        <p:nvCxnSpPr>
          <p:cNvPr id="4" name="直接连接符 6">
            <a:extLst>
              <a:ext uri="{FF2B5EF4-FFF2-40B4-BE49-F238E27FC236}">
                <a16:creationId xmlns="" xmlns:a16="http://schemas.microsoft.com/office/drawing/2014/main" id="{C25790C4-96E7-47B2-98D9-A90442BA1067}"/>
              </a:ext>
            </a:extLst>
          </p:cNvPr>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标题 5"/>
          <p:cNvSpPr>
            <a:spLocks noGrp="1"/>
          </p:cNvSpPr>
          <p:nvPr>
            <p:ph type="title"/>
          </p:nvPr>
        </p:nvSpPr>
        <p:spPr>
          <a:xfrm>
            <a:off x="669925" y="0"/>
            <a:ext cx="10850563" cy="925506"/>
          </a:xfrm>
        </p:spPr>
        <p:txBody>
          <a:bodyPr/>
          <a:lstStyle>
            <a:lvl1pPr>
              <a:defRPr/>
            </a:lvl1pPr>
          </a:lstStyle>
          <a:p>
            <a:r>
              <a:rPr lang="zh-CN" altLang="en-US" noProof="1" smtClean="0"/>
              <a:t>单击此处编辑母版标题样式</a:t>
            </a:r>
            <a:endParaRPr lang="zh-CN" altLang="en-US" noProof="1"/>
          </a:p>
        </p:txBody>
      </p:sp>
      <p:sp>
        <p:nvSpPr>
          <p:cNvPr id="8" name="内容占位符 7"/>
          <p:cNvSpPr>
            <a:spLocks noGrp="1"/>
          </p:cNvSpPr>
          <p:nvPr>
            <p:ph sz="quarter" idx="13"/>
          </p:nvPr>
        </p:nvSpPr>
        <p:spPr>
          <a:xfrm>
            <a:off x="669925" y="1130299"/>
            <a:ext cx="10850563" cy="5006975"/>
          </a:xfrm>
        </p:spPr>
        <p:txBody>
          <a:bodyPr/>
          <a:lstStyle>
            <a:lvl1pPr>
              <a:lnSpc>
                <a:spcPct val="125000"/>
              </a:lnSpc>
              <a:defRPr/>
            </a:lvl1pPr>
            <a:lvl2pPr>
              <a:lnSpc>
                <a:spcPct val="125000"/>
              </a:lnSpc>
              <a:defRPr/>
            </a:lvl2pPr>
            <a:lvl3pPr>
              <a:lnSpc>
                <a:spcPct val="125000"/>
              </a:lnSpc>
              <a:defRPr/>
            </a:lvl3pPr>
            <a:lvl4pPr>
              <a:lnSpc>
                <a:spcPct val="125000"/>
              </a:lnSpc>
              <a:defRPr/>
            </a:lvl4pPr>
            <a:lvl5pPr>
              <a:lnSpc>
                <a:spcPct val="125000"/>
              </a:lnSpc>
              <a:defRPr/>
            </a:lvl5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pic>
        <p:nvPicPr>
          <p:cNvPr id="10" name="图片 9">
            <a:extLst>
              <a:ext uri="{FF2B5EF4-FFF2-40B4-BE49-F238E27FC236}">
                <a16:creationId xmlns="" xmlns:a16="http://schemas.microsoft.com/office/drawing/2014/main" id="{B8B0DF5E-9061-4720-BB71-23728B49664F}"/>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12" name="文本框 11">
            <a:extLst>
              <a:ext uri="{FF2B5EF4-FFF2-40B4-BE49-F238E27FC236}">
                <a16:creationId xmlns="" xmlns:a16="http://schemas.microsoft.com/office/drawing/2014/main" id="{4327E7CB-9CE1-4AAA-9E8A-00EA35CC9C0E}"/>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85167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noProof="1" smtClean="0"/>
              <a:t>单击此处编辑母版标题样式</a:t>
            </a:r>
            <a:endParaRPr lang="en-US" noProof="1"/>
          </a:p>
        </p:txBody>
      </p:sp>
      <p:pic>
        <p:nvPicPr>
          <p:cNvPr id="6" name="图片 5">
            <a:extLst>
              <a:ext uri="{FF2B5EF4-FFF2-40B4-BE49-F238E27FC236}">
                <a16:creationId xmlns="" xmlns:a16="http://schemas.microsoft.com/office/drawing/2014/main" id="{4527C82D-DABD-4BD3-B32A-CD466225A13C}"/>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7" name="文本框 6">
            <a:extLst>
              <a:ext uri="{FF2B5EF4-FFF2-40B4-BE49-F238E27FC236}">
                <a16:creationId xmlns="" xmlns:a16="http://schemas.microsoft.com/office/drawing/2014/main" id="{746CFBB3-E2A4-40C3-AD1B-E27C29BCDC02}"/>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9805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8215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grpSp>
        <p:nvGrpSpPr>
          <p:cNvPr id="2" name="组合 1">
            <a:extLst>
              <a:ext uri="{FF2B5EF4-FFF2-40B4-BE49-F238E27FC236}">
                <a16:creationId xmlns="" xmlns:a16="http://schemas.microsoft.com/office/drawing/2014/main" id="{28FE39CA-7A54-4DA1-8DEC-2036FEF5582D}"/>
              </a:ext>
            </a:extLst>
          </p:cNvPr>
          <p:cNvGrpSpPr>
            <a:grpSpLocks/>
          </p:cNvGrpSpPr>
          <p:nvPr userDrawn="1"/>
        </p:nvGrpSpPr>
        <p:grpSpPr bwMode="auto">
          <a:xfrm>
            <a:off x="714375" y="1387475"/>
            <a:ext cx="2623140" cy="4247516"/>
            <a:chOff x="757282" y="1700808"/>
            <a:chExt cx="2623129" cy="4248096"/>
          </a:xfrm>
        </p:grpSpPr>
        <p:grpSp>
          <p:nvGrpSpPr>
            <p:cNvPr id="3" name="2b751056-6b97-492c-b763-340acee7e99d"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 xmlns:a16="http://schemas.microsoft.com/office/drawing/2014/main" id="{689D706B-B801-4A7E-97C0-CED7C9C74897}"/>
                </a:ext>
              </a:extLst>
            </p:cNvPr>
            <p:cNvGrpSpPr>
              <a:grpSpLocks noChangeAspect="1"/>
            </p:cNvGrpSpPr>
            <p:nvPr/>
          </p:nvGrpSpPr>
          <p:grpSpPr bwMode="auto">
            <a:xfrm>
              <a:off x="757282" y="1700808"/>
              <a:ext cx="2623129" cy="4248096"/>
              <a:chOff x="1175743" y="1700808"/>
              <a:chExt cx="2521145" cy="4248096"/>
            </a:xfrm>
          </p:grpSpPr>
          <p:cxnSp>
            <p:nvCxnSpPr>
              <p:cNvPr id="6" name="直接连接符 5">
                <a:extLst>
                  <a:ext uri="{FF2B5EF4-FFF2-40B4-BE49-F238E27FC236}">
                    <a16:creationId xmlns="" xmlns:a16="http://schemas.microsoft.com/office/drawing/2014/main" id="{14B68020-A78B-4674-A4EC-9191CDE850BD}"/>
                  </a:ext>
                </a:extLst>
              </p:cNvPr>
              <p:cNvCxnSpPr>
                <a:cxnSpLocks noChangeShapeType="1"/>
              </p:cNvCxnSpPr>
              <p:nvPr/>
            </p:nvCxnSpPr>
            <p:spPr bwMode="auto">
              <a:xfrm>
                <a:off x="3696888" y="1780800"/>
                <a:ext cx="0" cy="4168104"/>
              </a:xfrm>
              <a:prstGeom prst="line">
                <a:avLst/>
              </a:prstGeom>
              <a:noFill/>
              <a:ln w="3175">
                <a:solidFill>
                  <a:srgbClr val="BFBFBF"/>
                </a:solidFill>
                <a:round/>
                <a:headEnd/>
                <a:tailEnd/>
              </a:ln>
              <a:extLst>
                <a:ext uri="{909E8E84-426E-40DD-AFC4-6F175D3DCCD1}">
                  <a14:hiddenFill xmlns:a14="http://schemas.microsoft.com/office/drawing/2010/main">
                    <a:noFill/>
                  </a14:hiddenFill>
                </a:ext>
              </a:extLst>
            </p:spPr>
          </p:cxnSp>
          <p:sp>
            <p:nvSpPr>
              <p:cNvPr id="7" name="išľïḋé">
                <a:extLst>
                  <a:ext uri="{FF2B5EF4-FFF2-40B4-BE49-F238E27FC236}">
                    <a16:creationId xmlns="" xmlns:a16="http://schemas.microsoft.com/office/drawing/2014/main" id="{94D24CD7-7253-45D8-843B-80B2009F33E3}"/>
                  </a:ext>
                </a:extLst>
              </p:cNvPr>
              <p:cNvSpPr txBox="1">
                <a:spLocks noChangeArrowheads="1"/>
              </p:cNvSpPr>
              <p:nvPr/>
            </p:nvSpPr>
            <p:spPr bwMode="auto">
              <a:xfrm>
                <a:off x="1175743" y="1700808"/>
                <a:ext cx="2521108" cy="5232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tr-TR" altLang="zh-CN" sz="2800" b="1" dirty="0">
                    <a:solidFill>
                      <a:schemeClr val="accent1"/>
                    </a:solidFill>
                    <a:sym typeface="Arial" panose="020B0604020202020204" pitchFamily="34" charset="0"/>
                  </a:rPr>
                  <a:t>C</a:t>
                </a:r>
                <a:r>
                  <a:rPr lang="tr-TR" altLang="zh-CN" sz="100" b="1" dirty="0">
                    <a:solidFill>
                      <a:schemeClr val="accent1"/>
                    </a:solidFill>
                    <a:sym typeface="Arial" panose="020B0604020202020204" pitchFamily="34" charset="0"/>
                  </a:rPr>
                  <a:t> </a:t>
                </a:r>
                <a:r>
                  <a:rPr lang="tr-TR" altLang="zh-CN" sz="2800" b="1" dirty="0">
                    <a:solidFill>
                      <a:schemeClr val="accent1"/>
                    </a:solidFill>
                    <a:sym typeface="Arial" panose="020B0604020202020204" pitchFamily="34" charset="0"/>
                  </a:rPr>
                  <a:t>ONTENTS</a:t>
                </a:r>
              </a:p>
            </p:txBody>
          </p:sp>
        </p:grpSp>
        <p:sp>
          <p:nvSpPr>
            <p:cNvPr id="4" name="poetry_91022">
              <a:extLst>
                <a:ext uri="{FF2B5EF4-FFF2-40B4-BE49-F238E27FC236}">
                  <a16:creationId xmlns="" xmlns:a16="http://schemas.microsoft.com/office/drawing/2014/main" id="{0D6BB768-9400-4234-B0A6-052E35682435}"/>
                </a:ext>
              </a:extLst>
            </p:cNvPr>
            <p:cNvSpPr>
              <a:spLocks noChangeAspect="1" noChangeArrowheads="1"/>
            </p:cNvSpPr>
            <p:nvPr/>
          </p:nvSpPr>
          <p:spPr bwMode="auto">
            <a:xfrm>
              <a:off x="2379533" y="5008561"/>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dirty="0"/>
            </a:p>
          </p:txBody>
        </p:sp>
      </p:grpSp>
      <p:sp>
        <p:nvSpPr>
          <p:cNvPr id="11" name="内容占位符 10">
            <a:extLst>
              <a:ext uri="{FF2B5EF4-FFF2-40B4-BE49-F238E27FC236}">
                <a16:creationId xmlns="" xmlns:a16="http://schemas.microsoft.com/office/drawing/2014/main" id="{5EFB80EA-1C0D-45B6-A698-96B981D217CF}"/>
              </a:ext>
            </a:extLst>
          </p:cNvPr>
          <p:cNvSpPr>
            <a:spLocks noGrp="1"/>
          </p:cNvSpPr>
          <p:nvPr>
            <p:ph sz="quarter" idx="11"/>
          </p:nvPr>
        </p:nvSpPr>
        <p:spPr>
          <a:xfrm>
            <a:off x="3706832" y="1472484"/>
            <a:ext cx="6816725" cy="4167188"/>
          </a:xfrm>
        </p:spPr>
        <p:txBody>
          <a:bodyPr/>
          <a:lstStyle>
            <a:lvl1pPr marL="342900" indent="-342900">
              <a:lnSpc>
                <a:spcPct val="125000"/>
              </a:lnSpc>
              <a:defRPr kumimoji="0" lang="zh-CN" altLang="en-US" sz="1600" b="1" i="0" u="none" strike="noStrike" kern="1200" cap="none" spc="0" normalizeH="0" baseline="0" dirty="0" smtClean="0">
                <a:ln>
                  <a:noFill/>
                </a:ln>
                <a:solidFill>
                  <a:srgbClr val="000000"/>
                </a:solidFill>
                <a:effectLst/>
                <a:uLnTx/>
                <a:uFillTx/>
                <a:latin typeface="Arial" panose="020B0604020202020204" pitchFamily="34" charset="0"/>
                <a:ea typeface="微软雅黑" panose="020B0503020204020204" pitchFamily="34" charset="-122"/>
                <a:cs typeface="+mn-cs"/>
              </a:defRPr>
            </a:lvl1pPr>
            <a:lvl2pPr marL="800100" indent="-342900">
              <a:lnSpc>
                <a:spcPct val="125000"/>
              </a:lnSpc>
              <a:defRPr kumimoji="0" lang="zh-CN" altLang="en-US" sz="1400" b="0" i="0" u="none" strike="noStrike" kern="1200" cap="none" spc="0" normalizeH="0" baseline="0" dirty="0" smtClean="0">
                <a:ln>
                  <a:noFill/>
                </a:ln>
                <a:solidFill>
                  <a:srgbClr val="4D4D4D"/>
                </a:solidFill>
                <a:effectLst/>
                <a:uLnTx/>
                <a:uFillTx/>
                <a:latin typeface="Arial" panose="020B0604020202020204" pitchFamily="34" charset="0"/>
                <a:ea typeface="微软雅黑" panose="020B0503020204020204" pitchFamily="34" charset="-122"/>
                <a:cs typeface="+mn-cs"/>
              </a:defRPr>
            </a:lvl2pPr>
          </a:lstStyle>
          <a:p>
            <a:pPr marL="0" marR="0" lvl="0"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单击此处编辑母版文本样式</a:t>
            </a:r>
          </a:p>
          <a:p>
            <a:pPr marL="0" marR="0" lvl="1"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第二级</a:t>
            </a:r>
          </a:p>
        </p:txBody>
      </p:sp>
    </p:spTree>
    <p:extLst>
      <p:ext uri="{BB962C8B-B14F-4D97-AF65-F5344CB8AC3E}">
        <p14:creationId xmlns:p14="http://schemas.microsoft.com/office/powerpoint/2010/main" val="1220240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5" name="矩形 4">
            <a:extLst>
              <a:ext uri="{FF2B5EF4-FFF2-40B4-BE49-F238E27FC236}">
                <a16:creationId xmlns="" xmlns:a16="http://schemas.microsoft.com/office/drawing/2014/main" id="{D1501A3B-3447-4F2B-ADAE-503830AA78F6}"/>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Freeform 100">
            <a:extLst>
              <a:ext uri="{FF2B5EF4-FFF2-40B4-BE49-F238E27FC236}">
                <a16:creationId xmlns="" xmlns:a16="http://schemas.microsoft.com/office/drawing/2014/main" id="{9E9B1B0A-F147-48AA-A5DE-03B8826F8FCB}"/>
              </a:ext>
            </a:extLst>
          </p:cNvPr>
          <p:cNvSpPr>
            <a:spLocks noChangeArrowheads="1"/>
          </p:cNvSpPr>
          <p:nvPr/>
        </p:nvSpPr>
        <p:spPr bwMode="auto">
          <a:xfrm>
            <a:off x="1698625" y="1476375"/>
            <a:ext cx="1931988" cy="1465263"/>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1">
            <a:extLst>
              <a:ext uri="{FF2B5EF4-FFF2-40B4-BE49-F238E27FC236}">
                <a16:creationId xmlns="" xmlns:a16="http://schemas.microsoft.com/office/drawing/2014/main" id="{B754F84E-8490-4166-BFA5-A5D0332C0803}"/>
              </a:ext>
            </a:extLst>
          </p:cNvPr>
          <p:cNvSpPr>
            <a:spLocks noChangeArrowheads="1"/>
          </p:cNvSpPr>
          <p:nvPr/>
        </p:nvSpPr>
        <p:spPr bwMode="auto">
          <a:xfrm>
            <a:off x="2973388" y="1347788"/>
            <a:ext cx="774700" cy="1593850"/>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2">
            <a:extLst>
              <a:ext uri="{FF2B5EF4-FFF2-40B4-BE49-F238E27FC236}">
                <a16:creationId xmlns="" xmlns:a16="http://schemas.microsoft.com/office/drawing/2014/main" id="{A5859E9E-C291-4776-AD2A-547BB52A52F4}"/>
              </a:ext>
            </a:extLst>
          </p:cNvPr>
          <p:cNvSpPr>
            <a:spLocks noChangeArrowheads="1"/>
          </p:cNvSpPr>
          <p:nvPr/>
        </p:nvSpPr>
        <p:spPr bwMode="auto">
          <a:xfrm>
            <a:off x="2862263" y="1208088"/>
            <a:ext cx="1009650" cy="1733550"/>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3">
            <a:extLst>
              <a:ext uri="{FF2B5EF4-FFF2-40B4-BE49-F238E27FC236}">
                <a16:creationId xmlns="" xmlns:a16="http://schemas.microsoft.com/office/drawing/2014/main" id="{84012C9C-CCEF-4B10-BD34-2BA7046AE088}"/>
              </a:ext>
            </a:extLst>
          </p:cNvPr>
          <p:cNvSpPr>
            <a:spLocks noEditPoints="1" noChangeArrowheads="1"/>
          </p:cNvSpPr>
          <p:nvPr/>
        </p:nvSpPr>
        <p:spPr bwMode="auto">
          <a:xfrm>
            <a:off x="1636713" y="1446213"/>
            <a:ext cx="74612"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4">
            <a:extLst>
              <a:ext uri="{FF2B5EF4-FFF2-40B4-BE49-F238E27FC236}">
                <a16:creationId xmlns="" xmlns:a16="http://schemas.microsoft.com/office/drawing/2014/main" id="{6C2C5392-8085-47E5-ADA2-0121AB423799}"/>
              </a:ext>
            </a:extLst>
          </p:cNvPr>
          <p:cNvSpPr>
            <a:spLocks noEditPoints="1" noChangeArrowheads="1"/>
          </p:cNvSpPr>
          <p:nvPr/>
        </p:nvSpPr>
        <p:spPr bwMode="auto">
          <a:xfrm>
            <a:off x="2911475" y="1319213"/>
            <a:ext cx="74613"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5">
            <a:extLst>
              <a:ext uri="{FF2B5EF4-FFF2-40B4-BE49-F238E27FC236}">
                <a16:creationId xmlns="" xmlns:a16="http://schemas.microsoft.com/office/drawing/2014/main" id="{DEBD5C80-6B4B-4324-B775-6F17D2D0DE04}"/>
              </a:ext>
            </a:extLst>
          </p:cNvPr>
          <p:cNvSpPr>
            <a:spLocks noEditPoints="1" noChangeArrowheads="1"/>
          </p:cNvSpPr>
          <p:nvPr/>
        </p:nvSpPr>
        <p:spPr bwMode="auto">
          <a:xfrm>
            <a:off x="2800350" y="1177925"/>
            <a:ext cx="74613"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6">
            <a:extLst>
              <a:ext uri="{FF2B5EF4-FFF2-40B4-BE49-F238E27FC236}">
                <a16:creationId xmlns="" xmlns:a16="http://schemas.microsoft.com/office/drawing/2014/main" id="{56C9CF85-CF6D-46EB-B1B9-359294F7F292}"/>
              </a:ext>
            </a:extLst>
          </p:cNvPr>
          <p:cNvSpPr>
            <a:spLocks noChangeArrowheads="1"/>
          </p:cNvSpPr>
          <p:nvPr/>
        </p:nvSpPr>
        <p:spPr bwMode="auto">
          <a:xfrm>
            <a:off x="2505075" y="1100138"/>
            <a:ext cx="1487488" cy="184150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7">
            <a:extLst>
              <a:ext uri="{FF2B5EF4-FFF2-40B4-BE49-F238E27FC236}">
                <a16:creationId xmlns="" xmlns:a16="http://schemas.microsoft.com/office/drawing/2014/main" id="{D84B2DD6-3814-4F72-AA23-465C261DC725}"/>
              </a:ext>
            </a:extLst>
          </p:cNvPr>
          <p:cNvSpPr>
            <a:spLocks noEditPoints="1" noChangeArrowheads="1"/>
          </p:cNvSpPr>
          <p:nvPr/>
        </p:nvSpPr>
        <p:spPr bwMode="auto">
          <a:xfrm>
            <a:off x="244316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8">
            <a:extLst>
              <a:ext uri="{FF2B5EF4-FFF2-40B4-BE49-F238E27FC236}">
                <a16:creationId xmlns="" xmlns:a16="http://schemas.microsoft.com/office/drawing/2014/main" id="{169DB64A-D1FB-4A03-A513-76F01D5894F2}"/>
              </a:ext>
            </a:extLst>
          </p:cNvPr>
          <p:cNvSpPr>
            <a:spLocks noChangeArrowheads="1"/>
          </p:cNvSpPr>
          <p:nvPr/>
        </p:nvSpPr>
        <p:spPr bwMode="auto">
          <a:xfrm>
            <a:off x="4103688" y="1100138"/>
            <a:ext cx="1052512" cy="184150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9">
            <a:extLst>
              <a:ext uri="{FF2B5EF4-FFF2-40B4-BE49-F238E27FC236}">
                <a16:creationId xmlns="" xmlns:a16="http://schemas.microsoft.com/office/drawing/2014/main" id="{C761D5EA-1D1C-4992-9AF7-333C4BADAD3C}"/>
              </a:ext>
            </a:extLst>
          </p:cNvPr>
          <p:cNvSpPr>
            <a:spLocks noEditPoints="1" noChangeArrowheads="1"/>
          </p:cNvSpPr>
          <p:nvPr/>
        </p:nvSpPr>
        <p:spPr bwMode="auto">
          <a:xfrm>
            <a:off x="5140325" y="1069975"/>
            <a:ext cx="73025"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0">
            <a:extLst>
              <a:ext uri="{FF2B5EF4-FFF2-40B4-BE49-F238E27FC236}">
                <a16:creationId xmlns="" xmlns:a16="http://schemas.microsoft.com/office/drawing/2014/main" id="{F6CFCDF6-27D8-4082-9743-1DDF02047326}"/>
              </a:ext>
            </a:extLst>
          </p:cNvPr>
          <p:cNvSpPr>
            <a:spLocks noEditPoints="1" noChangeArrowheads="1"/>
          </p:cNvSpPr>
          <p:nvPr/>
        </p:nvSpPr>
        <p:spPr bwMode="auto">
          <a:xfrm>
            <a:off x="5284788"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1">
            <a:extLst>
              <a:ext uri="{FF2B5EF4-FFF2-40B4-BE49-F238E27FC236}">
                <a16:creationId xmlns="" xmlns:a16="http://schemas.microsoft.com/office/drawing/2014/main" id="{5AF066AD-2A75-4CE0-9985-9E485D212BEB}"/>
              </a:ext>
            </a:extLst>
          </p:cNvPr>
          <p:cNvSpPr>
            <a:spLocks noEditPoints="1" noChangeArrowheads="1"/>
          </p:cNvSpPr>
          <p:nvPr/>
        </p:nvSpPr>
        <p:spPr bwMode="auto">
          <a:xfrm>
            <a:off x="543401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2">
            <a:extLst>
              <a:ext uri="{FF2B5EF4-FFF2-40B4-BE49-F238E27FC236}">
                <a16:creationId xmlns="" xmlns:a16="http://schemas.microsoft.com/office/drawing/2014/main" id="{430A2212-C0FC-49AD-8682-A12C1F9D0EEC}"/>
              </a:ext>
            </a:extLst>
          </p:cNvPr>
          <p:cNvSpPr>
            <a:spLocks noEditPoints="1" noChangeArrowheads="1"/>
          </p:cNvSpPr>
          <p:nvPr/>
        </p:nvSpPr>
        <p:spPr bwMode="auto">
          <a:xfrm>
            <a:off x="5578475"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3">
            <a:extLst>
              <a:ext uri="{FF2B5EF4-FFF2-40B4-BE49-F238E27FC236}">
                <a16:creationId xmlns="" xmlns:a16="http://schemas.microsoft.com/office/drawing/2014/main" id="{D046BB3D-BC01-42D9-BA04-8CCE94C1856A}"/>
              </a:ext>
            </a:extLst>
          </p:cNvPr>
          <p:cNvSpPr>
            <a:spLocks noEditPoints="1" noChangeArrowheads="1"/>
          </p:cNvSpPr>
          <p:nvPr/>
        </p:nvSpPr>
        <p:spPr bwMode="auto">
          <a:xfrm>
            <a:off x="5727700"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4">
            <a:extLst>
              <a:ext uri="{FF2B5EF4-FFF2-40B4-BE49-F238E27FC236}">
                <a16:creationId xmlns="" xmlns:a16="http://schemas.microsoft.com/office/drawing/2014/main" id="{1A57CF94-A167-4B8C-9CAB-F801ED5A5EA5}"/>
              </a:ext>
            </a:extLst>
          </p:cNvPr>
          <p:cNvSpPr>
            <a:spLocks noEditPoints="1" noChangeArrowheads="1"/>
          </p:cNvSpPr>
          <p:nvPr/>
        </p:nvSpPr>
        <p:spPr bwMode="auto">
          <a:xfrm>
            <a:off x="5872163" y="1069975"/>
            <a:ext cx="74612"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7">
            <a:extLst>
              <a:ext uri="{FF2B5EF4-FFF2-40B4-BE49-F238E27FC236}">
                <a16:creationId xmlns="" xmlns:a16="http://schemas.microsoft.com/office/drawing/2014/main" id="{0AC5C741-51D7-459F-9144-1E944F3744F6}"/>
              </a:ext>
            </a:extLst>
          </p:cNvPr>
          <p:cNvSpPr>
            <a:spLocks noEditPoints="1" noChangeArrowheads="1"/>
          </p:cNvSpPr>
          <p:nvPr/>
        </p:nvSpPr>
        <p:spPr bwMode="auto">
          <a:xfrm>
            <a:off x="547688" y="2646363"/>
            <a:ext cx="5056187" cy="2938462"/>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8">
            <a:extLst>
              <a:ext uri="{FF2B5EF4-FFF2-40B4-BE49-F238E27FC236}">
                <a16:creationId xmlns="" xmlns:a16="http://schemas.microsoft.com/office/drawing/2014/main" id="{86C4773B-B1B7-4080-BA05-440FB6AAC6CC}"/>
              </a:ext>
            </a:extLst>
          </p:cNvPr>
          <p:cNvSpPr>
            <a:spLocks noChangeArrowheads="1"/>
          </p:cNvSpPr>
          <p:nvPr/>
        </p:nvSpPr>
        <p:spPr bwMode="auto">
          <a:xfrm>
            <a:off x="442913" y="2295525"/>
            <a:ext cx="5260975" cy="2982913"/>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9">
            <a:extLst>
              <a:ext uri="{FF2B5EF4-FFF2-40B4-BE49-F238E27FC236}">
                <a16:creationId xmlns="" xmlns:a16="http://schemas.microsoft.com/office/drawing/2014/main" id="{AC4D9720-5100-411A-901D-B888CE00D965}"/>
              </a:ext>
            </a:extLst>
          </p:cNvPr>
          <p:cNvSpPr>
            <a:spLocks noChangeArrowheads="1"/>
          </p:cNvSpPr>
          <p:nvPr/>
        </p:nvSpPr>
        <p:spPr bwMode="auto">
          <a:xfrm>
            <a:off x="442913" y="3168650"/>
            <a:ext cx="5260975" cy="2097088"/>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0">
            <a:extLst>
              <a:ext uri="{FF2B5EF4-FFF2-40B4-BE49-F238E27FC236}">
                <a16:creationId xmlns="" xmlns:a16="http://schemas.microsoft.com/office/drawing/2014/main" id="{C18E6281-1439-4738-A204-527A0E2495D8}"/>
              </a:ext>
            </a:extLst>
          </p:cNvPr>
          <p:cNvSpPr>
            <a:spLocks noChangeArrowheads="1"/>
          </p:cNvSpPr>
          <p:nvPr/>
        </p:nvSpPr>
        <p:spPr bwMode="auto">
          <a:xfrm>
            <a:off x="442913" y="3214688"/>
            <a:ext cx="5260975" cy="2017712"/>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1">
            <a:extLst>
              <a:ext uri="{FF2B5EF4-FFF2-40B4-BE49-F238E27FC236}">
                <a16:creationId xmlns="" xmlns:a16="http://schemas.microsoft.com/office/drawing/2014/main" id="{A80684C8-BD2D-4F8B-AE79-EF0E6623ACA8}"/>
              </a:ext>
            </a:extLst>
          </p:cNvPr>
          <p:cNvSpPr>
            <a:spLocks noChangeArrowheads="1"/>
          </p:cNvSpPr>
          <p:nvPr/>
        </p:nvSpPr>
        <p:spPr bwMode="auto">
          <a:xfrm>
            <a:off x="427038" y="2097088"/>
            <a:ext cx="5295900" cy="3057525"/>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2">
            <a:extLst>
              <a:ext uri="{FF2B5EF4-FFF2-40B4-BE49-F238E27FC236}">
                <a16:creationId xmlns="" xmlns:a16="http://schemas.microsoft.com/office/drawing/2014/main" id="{FC982295-AF39-446F-8B26-A196A5A1048C}"/>
              </a:ext>
            </a:extLst>
          </p:cNvPr>
          <p:cNvSpPr>
            <a:spLocks noChangeArrowheads="1"/>
          </p:cNvSpPr>
          <p:nvPr/>
        </p:nvSpPr>
        <p:spPr bwMode="auto">
          <a:xfrm>
            <a:off x="1722438" y="4905375"/>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3">
            <a:extLst>
              <a:ext uri="{FF2B5EF4-FFF2-40B4-BE49-F238E27FC236}">
                <a16:creationId xmlns="" xmlns:a16="http://schemas.microsoft.com/office/drawing/2014/main" id="{3DE41D60-69F3-4AD8-A3C4-DB5F6C6B8BB7}"/>
              </a:ext>
            </a:extLst>
          </p:cNvPr>
          <p:cNvSpPr>
            <a:spLocks noChangeArrowheads="1"/>
          </p:cNvSpPr>
          <p:nvPr/>
        </p:nvSpPr>
        <p:spPr bwMode="auto">
          <a:xfrm>
            <a:off x="1798638" y="4948238"/>
            <a:ext cx="34925"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4">
            <a:extLst>
              <a:ext uri="{FF2B5EF4-FFF2-40B4-BE49-F238E27FC236}">
                <a16:creationId xmlns="" xmlns:a16="http://schemas.microsoft.com/office/drawing/2014/main" id="{671B2D73-DE1F-4F18-A735-6ED7EF0D803B}"/>
              </a:ext>
            </a:extLst>
          </p:cNvPr>
          <p:cNvSpPr>
            <a:spLocks noChangeArrowheads="1"/>
          </p:cNvSpPr>
          <p:nvPr/>
        </p:nvSpPr>
        <p:spPr bwMode="auto">
          <a:xfrm>
            <a:off x="1871663" y="499268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5">
            <a:extLst>
              <a:ext uri="{FF2B5EF4-FFF2-40B4-BE49-F238E27FC236}">
                <a16:creationId xmlns="" xmlns:a16="http://schemas.microsoft.com/office/drawing/2014/main" id="{5FE95CCB-A33F-4C44-B0FE-66461995981F}"/>
              </a:ext>
            </a:extLst>
          </p:cNvPr>
          <p:cNvSpPr>
            <a:spLocks noChangeArrowheads="1"/>
          </p:cNvSpPr>
          <p:nvPr/>
        </p:nvSpPr>
        <p:spPr bwMode="auto">
          <a:xfrm>
            <a:off x="696913" y="4314825"/>
            <a:ext cx="39687" cy="52388"/>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6">
            <a:extLst>
              <a:ext uri="{FF2B5EF4-FFF2-40B4-BE49-F238E27FC236}">
                <a16:creationId xmlns="" xmlns:a16="http://schemas.microsoft.com/office/drawing/2014/main" id="{BF592E61-56AC-4BBC-9A71-C2A7F75729FD}"/>
              </a:ext>
            </a:extLst>
          </p:cNvPr>
          <p:cNvSpPr>
            <a:spLocks noChangeArrowheads="1"/>
          </p:cNvSpPr>
          <p:nvPr/>
        </p:nvSpPr>
        <p:spPr bwMode="auto">
          <a:xfrm>
            <a:off x="769938" y="4356100"/>
            <a:ext cx="42862"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7">
            <a:extLst>
              <a:ext uri="{FF2B5EF4-FFF2-40B4-BE49-F238E27FC236}">
                <a16:creationId xmlns="" xmlns:a16="http://schemas.microsoft.com/office/drawing/2014/main" id="{1DD08F44-ADCA-4FAA-BCDB-D45DFC4327AD}"/>
              </a:ext>
            </a:extLst>
          </p:cNvPr>
          <p:cNvSpPr>
            <a:spLocks noChangeArrowheads="1"/>
          </p:cNvSpPr>
          <p:nvPr/>
        </p:nvSpPr>
        <p:spPr bwMode="auto">
          <a:xfrm>
            <a:off x="846138" y="4402138"/>
            <a:ext cx="39687"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8">
            <a:extLst>
              <a:ext uri="{FF2B5EF4-FFF2-40B4-BE49-F238E27FC236}">
                <a16:creationId xmlns="" xmlns:a16="http://schemas.microsoft.com/office/drawing/2014/main" id="{1F8B2D33-8F37-4844-96B6-DCD16473B33C}"/>
              </a:ext>
            </a:extLst>
          </p:cNvPr>
          <p:cNvSpPr>
            <a:spLocks noEditPoints="1" noChangeArrowheads="1"/>
          </p:cNvSpPr>
          <p:nvPr/>
        </p:nvSpPr>
        <p:spPr bwMode="auto">
          <a:xfrm>
            <a:off x="3043238" y="2084388"/>
            <a:ext cx="833437" cy="43815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9">
            <a:extLst>
              <a:ext uri="{FF2B5EF4-FFF2-40B4-BE49-F238E27FC236}">
                <a16:creationId xmlns="" xmlns:a16="http://schemas.microsoft.com/office/drawing/2014/main" id="{E472FF78-17E6-4FCD-9B8C-E836EAED9F4B}"/>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0">
            <a:extLst>
              <a:ext uri="{FF2B5EF4-FFF2-40B4-BE49-F238E27FC236}">
                <a16:creationId xmlns="" xmlns:a16="http://schemas.microsoft.com/office/drawing/2014/main" id="{9FCFE153-0A16-4933-B53D-FE9BF4F63B47}"/>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1">
            <a:extLst>
              <a:ext uri="{FF2B5EF4-FFF2-40B4-BE49-F238E27FC236}">
                <a16:creationId xmlns="" xmlns:a16="http://schemas.microsoft.com/office/drawing/2014/main" id="{5B4D1BD2-208D-43AE-BA49-8B14AECE7687}"/>
              </a:ext>
            </a:extLst>
          </p:cNvPr>
          <p:cNvSpPr>
            <a:spLocks noChangeArrowheads="1"/>
          </p:cNvSpPr>
          <p:nvPr/>
        </p:nvSpPr>
        <p:spPr bwMode="auto">
          <a:xfrm>
            <a:off x="3730625" y="2108200"/>
            <a:ext cx="17463" cy="25400"/>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2">
            <a:extLst>
              <a:ext uri="{FF2B5EF4-FFF2-40B4-BE49-F238E27FC236}">
                <a16:creationId xmlns="" xmlns:a16="http://schemas.microsoft.com/office/drawing/2014/main" id="{2CB22EA3-BADB-4384-BFA3-C06DF35E56EC}"/>
              </a:ext>
            </a:extLst>
          </p:cNvPr>
          <p:cNvSpPr>
            <a:spLocks noChangeArrowheads="1"/>
          </p:cNvSpPr>
          <p:nvPr/>
        </p:nvSpPr>
        <p:spPr bwMode="auto">
          <a:xfrm>
            <a:off x="3856038" y="2084388"/>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3">
            <a:extLst>
              <a:ext uri="{FF2B5EF4-FFF2-40B4-BE49-F238E27FC236}">
                <a16:creationId xmlns="" xmlns:a16="http://schemas.microsoft.com/office/drawing/2014/main" id="{43AE9CDA-2392-437A-AB8F-27E81AB57E3A}"/>
              </a:ext>
            </a:extLst>
          </p:cNvPr>
          <p:cNvSpPr>
            <a:spLocks noChangeArrowheads="1"/>
          </p:cNvSpPr>
          <p:nvPr/>
        </p:nvSpPr>
        <p:spPr bwMode="auto">
          <a:xfrm>
            <a:off x="439738" y="2882900"/>
            <a:ext cx="1970087" cy="11874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4">
            <a:extLst>
              <a:ext uri="{FF2B5EF4-FFF2-40B4-BE49-F238E27FC236}">
                <a16:creationId xmlns="" xmlns:a16="http://schemas.microsoft.com/office/drawing/2014/main" id="{ACE168ED-DDF0-450D-ABFA-09DDD993483A}"/>
              </a:ext>
            </a:extLst>
          </p:cNvPr>
          <p:cNvSpPr>
            <a:spLocks noChangeArrowheads="1"/>
          </p:cNvSpPr>
          <p:nvPr/>
        </p:nvSpPr>
        <p:spPr bwMode="auto">
          <a:xfrm>
            <a:off x="447675" y="4029075"/>
            <a:ext cx="1854200" cy="1087438"/>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2" name="组合 41">
            <a:extLst>
              <a:ext uri="{FF2B5EF4-FFF2-40B4-BE49-F238E27FC236}">
                <a16:creationId xmlns="" xmlns:a16="http://schemas.microsoft.com/office/drawing/2014/main" id="{FC671DB3-08A4-49B5-B985-6EFAFAFCBA2D}"/>
              </a:ext>
            </a:extLst>
          </p:cNvPr>
          <p:cNvGrpSpPr>
            <a:grpSpLocks/>
          </p:cNvGrpSpPr>
          <p:nvPr/>
        </p:nvGrpSpPr>
        <p:grpSpPr bwMode="auto">
          <a:xfrm>
            <a:off x="388938" y="2109788"/>
            <a:ext cx="5316537" cy="3054350"/>
            <a:chOff x="7564437" y="4244495"/>
            <a:chExt cx="4236358" cy="2433801"/>
          </a:xfrm>
        </p:grpSpPr>
        <p:sp>
          <p:nvSpPr>
            <p:cNvPr id="43" name="Freeform 238">
              <a:extLst>
                <a:ext uri="{FF2B5EF4-FFF2-40B4-BE49-F238E27FC236}">
                  <a16:creationId xmlns="" xmlns:a16="http://schemas.microsoft.com/office/drawing/2014/main" id="{DC4B81A3-97E6-4707-A466-F92F06ECEC5B}"/>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 xmlns:a16="http://schemas.microsoft.com/office/drawing/2014/main" id="{A050C75A-8D86-4374-AC65-4FF5830730AE}"/>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 xmlns:a16="http://schemas.microsoft.com/office/drawing/2014/main" id="{99E7C69A-9566-4E8E-B735-842F824F59F8}"/>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 xmlns:a16="http://schemas.microsoft.com/office/drawing/2014/main" id="{E67EB1E3-0B58-4ADF-B968-E2ECABB43FA3}"/>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7" name="Freeform 135">
            <a:extLst>
              <a:ext uri="{FF2B5EF4-FFF2-40B4-BE49-F238E27FC236}">
                <a16:creationId xmlns="" xmlns:a16="http://schemas.microsoft.com/office/drawing/2014/main" id="{9AA94A5D-629E-483B-B93F-E0C4A658EF00}"/>
              </a:ext>
            </a:extLst>
          </p:cNvPr>
          <p:cNvSpPr>
            <a:spLocks noEditPoints="1" noChangeArrowheads="1"/>
          </p:cNvSpPr>
          <p:nvPr/>
        </p:nvSpPr>
        <p:spPr bwMode="auto">
          <a:xfrm>
            <a:off x="2898775" y="3843338"/>
            <a:ext cx="1114425" cy="64928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7">
            <a:extLst>
              <a:ext uri="{FF2B5EF4-FFF2-40B4-BE49-F238E27FC236}">
                <a16:creationId xmlns="" xmlns:a16="http://schemas.microsoft.com/office/drawing/2014/main" id="{DAC70147-8692-4FF3-B7EB-2157CCD7A066}"/>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6">
            <a:extLst>
              <a:ext uri="{FF2B5EF4-FFF2-40B4-BE49-F238E27FC236}">
                <a16:creationId xmlns="" xmlns:a16="http://schemas.microsoft.com/office/drawing/2014/main" id="{385E68FE-5D09-432B-99FC-CC88F37D5BBA}"/>
              </a:ext>
            </a:extLst>
          </p:cNvPr>
          <p:cNvSpPr>
            <a:spLocks noEditPoints="1" noChangeArrowheads="1"/>
          </p:cNvSpPr>
          <p:nvPr/>
        </p:nvSpPr>
        <p:spPr bwMode="auto">
          <a:xfrm>
            <a:off x="3963988" y="3127375"/>
            <a:ext cx="1295400" cy="64452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8">
            <a:extLst>
              <a:ext uri="{FF2B5EF4-FFF2-40B4-BE49-F238E27FC236}">
                <a16:creationId xmlns="" xmlns:a16="http://schemas.microsoft.com/office/drawing/2014/main" id="{96058411-3529-4DC4-BB4A-0DF91714A5B0}"/>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9">
            <a:extLst>
              <a:ext uri="{FF2B5EF4-FFF2-40B4-BE49-F238E27FC236}">
                <a16:creationId xmlns="" xmlns:a16="http://schemas.microsoft.com/office/drawing/2014/main" id="{D1C2EABB-03C2-40C9-BA63-A0170D6132BC}"/>
              </a:ext>
            </a:extLst>
          </p:cNvPr>
          <p:cNvSpPr>
            <a:spLocks noEditPoints="1" noChangeArrowheads="1"/>
          </p:cNvSpPr>
          <p:nvPr/>
        </p:nvSpPr>
        <p:spPr bwMode="auto">
          <a:xfrm>
            <a:off x="2417763" y="2695575"/>
            <a:ext cx="1250950" cy="687388"/>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0">
            <a:extLst>
              <a:ext uri="{FF2B5EF4-FFF2-40B4-BE49-F238E27FC236}">
                <a16:creationId xmlns="" xmlns:a16="http://schemas.microsoft.com/office/drawing/2014/main" id="{8FE2AB22-B85D-41F0-810B-7B738A0CBDDF}"/>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1">
            <a:extLst>
              <a:ext uri="{FF2B5EF4-FFF2-40B4-BE49-F238E27FC236}">
                <a16:creationId xmlns="" xmlns:a16="http://schemas.microsoft.com/office/drawing/2014/main" id="{E76382D2-16F2-4D91-9ACF-85956555B37C}"/>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2">
            <a:extLst>
              <a:ext uri="{FF2B5EF4-FFF2-40B4-BE49-F238E27FC236}">
                <a16:creationId xmlns="" xmlns:a16="http://schemas.microsoft.com/office/drawing/2014/main" id="{CEAFC3E1-B3B7-42DC-95D4-56F40F86F6D4}"/>
              </a:ext>
            </a:extLst>
          </p:cNvPr>
          <p:cNvSpPr>
            <a:spLocks noChangeArrowheads="1"/>
          </p:cNvSpPr>
          <p:nvPr/>
        </p:nvSpPr>
        <p:spPr bwMode="auto">
          <a:xfrm>
            <a:off x="1295400" y="4489450"/>
            <a:ext cx="153988" cy="180975"/>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3">
            <a:extLst>
              <a:ext uri="{FF2B5EF4-FFF2-40B4-BE49-F238E27FC236}">
                <a16:creationId xmlns="" xmlns:a16="http://schemas.microsoft.com/office/drawing/2014/main" id="{1CA4E850-99C0-4684-AD7B-26F1AD43AD90}"/>
              </a:ext>
            </a:extLst>
          </p:cNvPr>
          <p:cNvSpPr>
            <a:spLocks noChangeArrowheads="1"/>
          </p:cNvSpPr>
          <p:nvPr/>
        </p:nvSpPr>
        <p:spPr bwMode="auto">
          <a:xfrm>
            <a:off x="1219200" y="4608513"/>
            <a:ext cx="173038" cy="144462"/>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4">
            <a:extLst>
              <a:ext uri="{FF2B5EF4-FFF2-40B4-BE49-F238E27FC236}">
                <a16:creationId xmlns="" xmlns:a16="http://schemas.microsoft.com/office/drawing/2014/main" id="{FDEF00B1-D549-4C91-ACC5-CBA5D12AFDA1}"/>
              </a:ext>
            </a:extLst>
          </p:cNvPr>
          <p:cNvSpPr>
            <a:spLocks noChangeArrowheads="1"/>
          </p:cNvSpPr>
          <p:nvPr/>
        </p:nvSpPr>
        <p:spPr bwMode="auto">
          <a:xfrm>
            <a:off x="1395413" y="4314825"/>
            <a:ext cx="1508125" cy="355600"/>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5">
            <a:extLst>
              <a:ext uri="{FF2B5EF4-FFF2-40B4-BE49-F238E27FC236}">
                <a16:creationId xmlns="" xmlns:a16="http://schemas.microsoft.com/office/drawing/2014/main" id="{9A4E88C2-79ED-46D3-8955-2EA725F4CCAE}"/>
              </a:ext>
            </a:extLst>
          </p:cNvPr>
          <p:cNvSpPr>
            <a:spLocks noChangeArrowheads="1"/>
          </p:cNvSpPr>
          <p:nvPr/>
        </p:nvSpPr>
        <p:spPr bwMode="auto">
          <a:xfrm>
            <a:off x="1735138" y="3184525"/>
            <a:ext cx="919162" cy="1143000"/>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6">
            <a:extLst>
              <a:ext uri="{FF2B5EF4-FFF2-40B4-BE49-F238E27FC236}">
                <a16:creationId xmlns="" xmlns:a16="http://schemas.microsoft.com/office/drawing/2014/main" id="{F8F1ABD8-8DCF-42BE-A3B4-6BA4C65C9F67}"/>
              </a:ext>
            </a:extLst>
          </p:cNvPr>
          <p:cNvSpPr>
            <a:spLocks noChangeArrowheads="1"/>
          </p:cNvSpPr>
          <p:nvPr/>
        </p:nvSpPr>
        <p:spPr bwMode="auto">
          <a:xfrm>
            <a:off x="2597150" y="3460750"/>
            <a:ext cx="1555750" cy="373063"/>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0">
            <a:extLst>
              <a:ext uri="{FF2B5EF4-FFF2-40B4-BE49-F238E27FC236}">
                <a16:creationId xmlns="" xmlns:a16="http://schemas.microsoft.com/office/drawing/2014/main" id="{9B5C9F7F-2072-4A7C-B981-C041743A5DE0}"/>
              </a:ext>
            </a:extLst>
          </p:cNvPr>
          <p:cNvSpPr>
            <a:spLocks noEditPoints="1" noChangeArrowheads="1"/>
          </p:cNvSpPr>
          <p:nvPr/>
        </p:nvSpPr>
        <p:spPr bwMode="auto">
          <a:xfrm>
            <a:off x="3668713" y="25304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1">
            <a:extLst>
              <a:ext uri="{FF2B5EF4-FFF2-40B4-BE49-F238E27FC236}">
                <a16:creationId xmlns="" xmlns:a16="http://schemas.microsoft.com/office/drawing/2014/main" id="{E4D34405-0D6B-4B93-B1B5-D7E87BB9AB5F}"/>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2">
            <a:extLst>
              <a:ext uri="{FF2B5EF4-FFF2-40B4-BE49-F238E27FC236}">
                <a16:creationId xmlns="" xmlns:a16="http://schemas.microsoft.com/office/drawing/2014/main" id="{A22F668A-2AFA-4338-8247-881F24AC27FC}"/>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3">
            <a:extLst>
              <a:ext uri="{FF2B5EF4-FFF2-40B4-BE49-F238E27FC236}">
                <a16:creationId xmlns="" xmlns:a16="http://schemas.microsoft.com/office/drawing/2014/main" id="{467314C6-A86B-4F19-84CC-68BF3427848B}"/>
              </a:ext>
            </a:extLst>
          </p:cNvPr>
          <p:cNvSpPr>
            <a:spLocks noEditPoints="1" noChangeArrowheads="1"/>
          </p:cNvSpPr>
          <p:nvPr/>
        </p:nvSpPr>
        <p:spPr bwMode="auto">
          <a:xfrm>
            <a:off x="4206875" y="3544888"/>
            <a:ext cx="441325"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7">
            <a:extLst>
              <a:ext uri="{FF2B5EF4-FFF2-40B4-BE49-F238E27FC236}">
                <a16:creationId xmlns="" xmlns:a16="http://schemas.microsoft.com/office/drawing/2014/main" id="{1BF83113-19A6-46C9-9655-8F0017C40001}"/>
              </a:ext>
            </a:extLst>
          </p:cNvPr>
          <p:cNvSpPr>
            <a:spLocks noChangeArrowheads="1"/>
          </p:cNvSpPr>
          <p:nvPr/>
        </p:nvSpPr>
        <p:spPr bwMode="auto">
          <a:xfrm>
            <a:off x="3660775" y="2535238"/>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8">
            <a:extLst>
              <a:ext uri="{FF2B5EF4-FFF2-40B4-BE49-F238E27FC236}">
                <a16:creationId xmlns="" xmlns:a16="http://schemas.microsoft.com/office/drawing/2014/main" id="{D7C864B2-C3FD-471D-BB1D-6D5B010E7570}"/>
              </a:ext>
            </a:extLst>
          </p:cNvPr>
          <p:cNvSpPr>
            <a:spLocks noChangeArrowheads="1"/>
          </p:cNvSpPr>
          <p:nvPr/>
        </p:nvSpPr>
        <p:spPr bwMode="auto">
          <a:xfrm>
            <a:off x="3660775" y="2527300"/>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9">
            <a:extLst>
              <a:ext uri="{FF2B5EF4-FFF2-40B4-BE49-F238E27FC236}">
                <a16:creationId xmlns="" xmlns:a16="http://schemas.microsoft.com/office/drawing/2014/main" id="{98EC6CF7-E47F-4A0B-9369-2FB873D42C34}"/>
              </a:ext>
            </a:extLst>
          </p:cNvPr>
          <p:cNvSpPr>
            <a:spLocks noChangeArrowheads="1"/>
          </p:cNvSpPr>
          <p:nvPr/>
        </p:nvSpPr>
        <p:spPr bwMode="auto">
          <a:xfrm>
            <a:off x="3660775" y="2522538"/>
            <a:ext cx="1003300" cy="1192212"/>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0">
            <a:extLst>
              <a:ext uri="{FF2B5EF4-FFF2-40B4-BE49-F238E27FC236}">
                <a16:creationId xmlns="" xmlns:a16="http://schemas.microsoft.com/office/drawing/2014/main" id="{258615DC-1A0C-44BB-8ABD-36D8B7BCC5E2}"/>
              </a:ext>
            </a:extLst>
          </p:cNvPr>
          <p:cNvSpPr>
            <a:spLocks noEditPoints="1" noChangeArrowheads="1"/>
          </p:cNvSpPr>
          <p:nvPr/>
        </p:nvSpPr>
        <p:spPr bwMode="auto">
          <a:xfrm>
            <a:off x="3660775" y="2530475"/>
            <a:ext cx="7938" cy="4763"/>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4">
            <a:extLst>
              <a:ext uri="{FF2B5EF4-FFF2-40B4-BE49-F238E27FC236}">
                <a16:creationId xmlns="" xmlns:a16="http://schemas.microsoft.com/office/drawing/2014/main" id="{48873869-26AB-4A9F-A481-7C7111A2C7DB}"/>
              </a:ext>
            </a:extLst>
          </p:cNvPr>
          <p:cNvSpPr>
            <a:spLocks noEditPoints="1" noChangeArrowheads="1"/>
          </p:cNvSpPr>
          <p:nvPr/>
        </p:nvSpPr>
        <p:spPr bwMode="auto">
          <a:xfrm>
            <a:off x="3668713" y="2530475"/>
            <a:ext cx="979487"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2">
            <a:extLst>
              <a:ext uri="{FF2B5EF4-FFF2-40B4-BE49-F238E27FC236}">
                <a16:creationId xmlns="" xmlns:a16="http://schemas.microsoft.com/office/drawing/2014/main" id="{EC497003-DBD3-4806-BCA0-5CA18EFAEFF8}"/>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3">
            <a:extLst>
              <a:ext uri="{FF2B5EF4-FFF2-40B4-BE49-F238E27FC236}">
                <a16:creationId xmlns="" xmlns:a16="http://schemas.microsoft.com/office/drawing/2014/main" id="{B747C441-5A21-40AF-A711-EC145603DDCB}"/>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4">
            <a:extLst>
              <a:ext uri="{FF2B5EF4-FFF2-40B4-BE49-F238E27FC236}">
                <a16:creationId xmlns="" xmlns:a16="http://schemas.microsoft.com/office/drawing/2014/main" id="{4F3B3C19-8717-4B84-BAF1-F7E1213C12B1}"/>
              </a:ext>
            </a:extLst>
          </p:cNvPr>
          <p:cNvSpPr>
            <a:spLocks noEditPoints="1" noChangeArrowheads="1"/>
          </p:cNvSpPr>
          <p:nvPr/>
        </p:nvSpPr>
        <p:spPr bwMode="auto">
          <a:xfrm>
            <a:off x="2962275" y="4264025"/>
            <a:ext cx="438150" cy="15716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5">
            <a:extLst>
              <a:ext uri="{FF2B5EF4-FFF2-40B4-BE49-F238E27FC236}">
                <a16:creationId xmlns="" xmlns:a16="http://schemas.microsoft.com/office/drawing/2014/main" id="{45FD2AC0-4EE3-4E63-801A-6940FF69DE0C}"/>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6">
            <a:extLst>
              <a:ext uri="{FF2B5EF4-FFF2-40B4-BE49-F238E27FC236}">
                <a16:creationId xmlns="" xmlns:a16="http://schemas.microsoft.com/office/drawing/2014/main" id="{34844A0F-31A9-498B-AB22-9A3B9F429DAA}"/>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7">
            <a:extLst>
              <a:ext uri="{FF2B5EF4-FFF2-40B4-BE49-F238E27FC236}">
                <a16:creationId xmlns="" xmlns:a16="http://schemas.microsoft.com/office/drawing/2014/main" id="{0C9FE571-6504-4D50-95FA-C26A1E0FD13D}"/>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8">
            <a:extLst>
              <a:ext uri="{FF2B5EF4-FFF2-40B4-BE49-F238E27FC236}">
                <a16:creationId xmlns="" xmlns:a16="http://schemas.microsoft.com/office/drawing/2014/main" id="{235EC29E-561F-4502-A6EC-0476AB951EA5}"/>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8">
            <a:extLst>
              <a:ext uri="{FF2B5EF4-FFF2-40B4-BE49-F238E27FC236}">
                <a16:creationId xmlns="" xmlns:a16="http://schemas.microsoft.com/office/drawing/2014/main" id="{AE44EABA-F0D6-48DC-9067-7D8D8D01BBBD}"/>
              </a:ext>
            </a:extLst>
          </p:cNvPr>
          <p:cNvSpPr>
            <a:spLocks noChangeArrowheads="1"/>
          </p:cNvSpPr>
          <p:nvPr/>
        </p:nvSpPr>
        <p:spPr bwMode="auto">
          <a:xfrm>
            <a:off x="2414588" y="3217863"/>
            <a:ext cx="1047750" cy="12334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9">
            <a:extLst>
              <a:ext uri="{FF2B5EF4-FFF2-40B4-BE49-F238E27FC236}">
                <a16:creationId xmlns="" xmlns:a16="http://schemas.microsoft.com/office/drawing/2014/main" id="{FA0F6601-90E8-4201-8DC9-55A6E6826EAD}"/>
              </a:ext>
            </a:extLst>
          </p:cNvPr>
          <p:cNvSpPr>
            <a:spLocks noEditPoints="1" noChangeArrowheads="1"/>
          </p:cNvSpPr>
          <p:nvPr/>
        </p:nvSpPr>
        <p:spPr bwMode="auto">
          <a:xfrm>
            <a:off x="2414588" y="3217863"/>
            <a:ext cx="1047750" cy="12334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0">
            <a:extLst>
              <a:ext uri="{FF2B5EF4-FFF2-40B4-BE49-F238E27FC236}">
                <a16:creationId xmlns="" xmlns:a16="http://schemas.microsoft.com/office/drawing/2014/main" id="{685DC869-5BF0-4A5C-92C1-825CFA31CF73}"/>
              </a:ext>
            </a:extLst>
          </p:cNvPr>
          <p:cNvSpPr>
            <a:spLocks noChangeArrowheads="1"/>
          </p:cNvSpPr>
          <p:nvPr/>
        </p:nvSpPr>
        <p:spPr bwMode="auto">
          <a:xfrm>
            <a:off x="2401888" y="3241675"/>
            <a:ext cx="998537" cy="12223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1">
            <a:extLst>
              <a:ext uri="{FF2B5EF4-FFF2-40B4-BE49-F238E27FC236}">
                <a16:creationId xmlns="" xmlns:a16="http://schemas.microsoft.com/office/drawing/2014/main" id="{E4392ACA-855B-4EE2-9DE7-50DE9DA824D3}"/>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5">
            <a:extLst>
              <a:ext uri="{FF2B5EF4-FFF2-40B4-BE49-F238E27FC236}">
                <a16:creationId xmlns="" xmlns:a16="http://schemas.microsoft.com/office/drawing/2014/main" id="{2CC41932-B45C-4518-B132-5AB45491DA36}"/>
              </a:ext>
            </a:extLst>
          </p:cNvPr>
          <p:cNvSpPr>
            <a:spLocks noChangeArrowheads="1"/>
          </p:cNvSpPr>
          <p:nvPr/>
        </p:nvSpPr>
        <p:spPr bwMode="auto">
          <a:xfrm>
            <a:off x="2389188" y="3262313"/>
            <a:ext cx="985837" cy="1195387"/>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8">
            <a:extLst>
              <a:ext uri="{FF2B5EF4-FFF2-40B4-BE49-F238E27FC236}">
                <a16:creationId xmlns="" xmlns:a16="http://schemas.microsoft.com/office/drawing/2014/main" id="{4CB39093-5ACA-46CC-8444-43366D098E07}"/>
              </a:ext>
            </a:extLst>
          </p:cNvPr>
          <p:cNvSpPr>
            <a:spLocks noChangeArrowheads="1"/>
          </p:cNvSpPr>
          <p:nvPr/>
        </p:nvSpPr>
        <p:spPr bwMode="auto">
          <a:xfrm>
            <a:off x="2414588" y="3252788"/>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9">
            <a:extLst>
              <a:ext uri="{FF2B5EF4-FFF2-40B4-BE49-F238E27FC236}">
                <a16:creationId xmlns="" xmlns:a16="http://schemas.microsoft.com/office/drawing/2014/main" id="{F9D766FB-DE9B-4F4A-98DF-AB1A6C892658}"/>
              </a:ext>
            </a:extLst>
          </p:cNvPr>
          <p:cNvSpPr>
            <a:spLocks noChangeArrowheads="1"/>
          </p:cNvSpPr>
          <p:nvPr/>
        </p:nvSpPr>
        <p:spPr bwMode="auto">
          <a:xfrm>
            <a:off x="2414588" y="3246438"/>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0">
            <a:extLst>
              <a:ext uri="{FF2B5EF4-FFF2-40B4-BE49-F238E27FC236}">
                <a16:creationId xmlns="" xmlns:a16="http://schemas.microsoft.com/office/drawing/2014/main" id="{7D1C4006-8482-4DB8-88E9-3934F97DA4D3}"/>
              </a:ext>
            </a:extLst>
          </p:cNvPr>
          <p:cNvSpPr>
            <a:spLocks noChangeArrowheads="1"/>
          </p:cNvSpPr>
          <p:nvPr/>
        </p:nvSpPr>
        <p:spPr bwMode="auto">
          <a:xfrm>
            <a:off x="2414588" y="3241675"/>
            <a:ext cx="1004887" cy="11938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1">
            <a:extLst>
              <a:ext uri="{FF2B5EF4-FFF2-40B4-BE49-F238E27FC236}">
                <a16:creationId xmlns="" xmlns:a16="http://schemas.microsoft.com/office/drawing/2014/main" id="{4D0D5918-119E-4D26-BD83-B2C7ABD74FBD}"/>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Rectangle 182">
            <a:extLst>
              <a:ext uri="{FF2B5EF4-FFF2-40B4-BE49-F238E27FC236}">
                <a16:creationId xmlns="" xmlns:a16="http://schemas.microsoft.com/office/drawing/2014/main" id="{AE613C82-F884-4DC9-9277-4B21560BCF3E}"/>
              </a:ext>
            </a:extLst>
          </p:cNvPr>
          <p:cNvSpPr>
            <a:spLocks noChangeArrowheads="1"/>
          </p:cNvSpPr>
          <p:nvPr/>
        </p:nvSpPr>
        <p:spPr bwMode="auto">
          <a:xfrm>
            <a:off x="2414588" y="3255963"/>
            <a:ext cx="1587"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5" name="Freeform 183">
            <a:extLst>
              <a:ext uri="{FF2B5EF4-FFF2-40B4-BE49-F238E27FC236}">
                <a16:creationId xmlns="" xmlns:a16="http://schemas.microsoft.com/office/drawing/2014/main" id="{D8756AA1-23A1-4CA0-B349-3C9C35AB2FAA}"/>
              </a:ext>
            </a:extLst>
          </p:cNvPr>
          <p:cNvSpPr>
            <a:spLocks noChangeArrowheads="1"/>
          </p:cNvSpPr>
          <p:nvPr/>
        </p:nvSpPr>
        <p:spPr bwMode="auto">
          <a:xfrm>
            <a:off x="2414588" y="3255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6">
            <a:extLst>
              <a:ext uri="{FF2B5EF4-FFF2-40B4-BE49-F238E27FC236}">
                <a16:creationId xmlns="" xmlns:a16="http://schemas.microsoft.com/office/drawing/2014/main" id="{BE9BDD4E-EDB3-44C0-93CF-B76D90F851C8}"/>
              </a:ext>
            </a:extLst>
          </p:cNvPr>
          <p:cNvSpPr>
            <a:spLocks noChangeArrowheads="1"/>
          </p:cNvSpPr>
          <p:nvPr/>
        </p:nvSpPr>
        <p:spPr bwMode="auto">
          <a:xfrm>
            <a:off x="2422525" y="3246438"/>
            <a:ext cx="993775" cy="12017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7">
            <a:extLst>
              <a:ext uri="{FF2B5EF4-FFF2-40B4-BE49-F238E27FC236}">
                <a16:creationId xmlns="" xmlns:a16="http://schemas.microsoft.com/office/drawing/2014/main" id="{A5B9303C-609D-4806-A6F2-A51E180B570F}"/>
              </a:ext>
            </a:extLst>
          </p:cNvPr>
          <p:cNvSpPr>
            <a:spLocks noEditPoints="1" noChangeArrowheads="1"/>
          </p:cNvSpPr>
          <p:nvPr/>
        </p:nvSpPr>
        <p:spPr bwMode="auto">
          <a:xfrm>
            <a:off x="2422525" y="3252788"/>
            <a:ext cx="977900" cy="11953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09">
            <a:extLst>
              <a:ext uri="{FF2B5EF4-FFF2-40B4-BE49-F238E27FC236}">
                <a16:creationId xmlns="" xmlns:a16="http://schemas.microsoft.com/office/drawing/2014/main" id="{74F8F791-0B62-4827-B2F1-D0504FE0E10E}"/>
              </a:ext>
            </a:extLst>
          </p:cNvPr>
          <p:cNvSpPr>
            <a:spLocks noEditPoints="1" noChangeArrowheads="1"/>
          </p:cNvSpPr>
          <p:nvPr/>
        </p:nvSpPr>
        <p:spPr bwMode="auto">
          <a:xfrm>
            <a:off x="3143250" y="3263900"/>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7">
            <a:extLst>
              <a:ext uri="{FF2B5EF4-FFF2-40B4-BE49-F238E27FC236}">
                <a16:creationId xmlns="" xmlns:a16="http://schemas.microsoft.com/office/drawing/2014/main" id="{11EC5DF8-5E89-496F-8081-5FB743F474F8}"/>
              </a:ext>
            </a:extLst>
          </p:cNvPr>
          <p:cNvSpPr>
            <a:spLocks noChangeArrowheads="1"/>
          </p:cNvSpPr>
          <p:nvPr/>
        </p:nvSpPr>
        <p:spPr bwMode="auto">
          <a:xfrm>
            <a:off x="2443163" y="2514600"/>
            <a:ext cx="123825" cy="180975"/>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8">
            <a:extLst>
              <a:ext uri="{FF2B5EF4-FFF2-40B4-BE49-F238E27FC236}">
                <a16:creationId xmlns="" xmlns:a16="http://schemas.microsoft.com/office/drawing/2014/main" id="{6E73F24A-6E9E-4B84-9E02-F5629523D8F4}"/>
              </a:ext>
            </a:extLst>
          </p:cNvPr>
          <p:cNvSpPr>
            <a:spLocks noChangeArrowheads="1"/>
          </p:cNvSpPr>
          <p:nvPr/>
        </p:nvSpPr>
        <p:spPr bwMode="auto">
          <a:xfrm>
            <a:off x="2597150" y="2600325"/>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9">
            <a:extLst>
              <a:ext uri="{FF2B5EF4-FFF2-40B4-BE49-F238E27FC236}">
                <a16:creationId xmlns="" xmlns:a16="http://schemas.microsoft.com/office/drawing/2014/main" id="{BFACD187-1051-4D82-8320-1DAAC7A8FD01}"/>
              </a:ext>
            </a:extLst>
          </p:cNvPr>
          <p:cNvSpPr>
            <a:spLocks noChangeArrowheads="1"/>
          </p:cNvSpPr>
          <p:nvPr/>
        </p:nvSpPr>
        <p:spPr bwMode="auto">
          <a:xfrm>
            <a:off x="2746375" y="2687638"/>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2" name="组合 87">
            <a:extLst>
              <a:ext uri="{FF2B5EF4-FFF2-40B4-BE49-F238E27FC236}">
                <a16:creationId xmlns="" xmlns:a16="http://schemas.microsoft.com/office/drawing/2014/main" id="{9BF249A1-4B86-4E76-BEEA-C488BE876470}"/>
              </a:ext>
            </a:extLst>
          </p:cNvPr>
          <p:cNvGrpSpPr>
            <a:grpSpLocks/>
          </p:cNvGrpSpPr>
          <p:nvPr/>
        </p:nvGrpSpPr>
        <p:grpSpPr bwMode="auto">
          <a:xfrm>
            <a:off x="3649663" y="2506663"/>
            <a:ext cx="1073150" cy="1244600"/>
            <a:chOff x="5332731" y="3343275"/>
            <a:chExt cx="855345" cy="992188"/>
          </a:xfrm>
        </p:grpSpPr>
        <p:sp>
          <p:nvSpPr>
            <p:cNvPr id="93" name="Freeform 168">
              <a:extLst>
                <a:ext uri="{FF2B5EF4-FFF2-40B4-BE49-F238E27FC236}">
                  <a16:creationId xmlns="" xmlns:a16="http://schemas.microsoft.com/office/drawing/2014/main" id="{CE1CA0CA-5096-44EA-8D87-2E4D1DA89D8A}"/>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 xmlns:a16="http://schemas.microsoft.com/office/drawing/2014/main" id="{73FF06F4-C87D-42E3-B462-6C99F9C19E98}"/>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 xmlns:a16="http://schemas.microsoft.com/office/drawing/2014/main" id="{C763CF50-EE1F-446E-A897-0607512BE836}"/>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 xmlns:a16="http://schemas.microsoft.com/office/drawing/2014/main" id="{9E220766-4E47-4AB6-B40C-DF1BA1E36585}"/>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 xmlns:a16="http://schemas.microsoft.com/office/drawing/2014/main" id="{CBAE04A0-1673-4DA8-ADD1-7F75FC0B97DD}"/>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 xmlns:a16="http://schemas.microsoft.com/office/drawing/2014/main" id="{BFAA404D-07BC-435C-92F1-7EAC66343258}"/>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 xmlns:a16="http://schemas.microsoft.com/office/drawing/2014/main" id="{D490FBBA-3B99-4D1F-8880-ED9BBB009A35}"/>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 xmlns:a16="http://schemas.microsoft.com/office/drawing/2014/main" id="{05706127-DCED-4513-840A-3BD3AB114F46}"/>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 xmlns:a16="http://schemas.microsoft.com/office/drawing/2014/main" id="{2EC828FC-01D2-484F-9636-FEE3D4CC282C}"/>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 xmlns:a16="http://schemas.microsoft.com/office/drawing/2014/main" id="{66AE8E7E-FFF4-4CCB-8979-7822DC9ACC1D}"/>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 xmlns:a16="http://schemas.microsoft.com/office/drawing/2014/main" id="{8676D9B5-53AC-4347-9C36-47D1E2013766}"/>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 xmlns:a16="http://schemas.microsoft.com/office/drawing/2014/main" id="{BB5420F2-868C-45B1-BAC0-89DC0CF6F05F}"/>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 xmlns:a16="http://schemas.microsoft.com/office/drawing/2014/main" id="{212E335B-E0EE-4EA2-8379-C441DD026D17}"/>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 xmlns:a16="http://schemas.microsoft.com/office/drawing/2014/main" id="{E245FF98-59F8-42A9-8B51-D1B16ADCEA8A}"/>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7" name="Freeform 168">
            <a:extLst>
              <a:ext uri="{FF2B5EF4-FFF2-40B4-BE49-F238E27FC236}">
                <a16:creationId xmlns="" xmlns:a16="http://schemas.microsoft.com/office/drawing/2014/main" id="{C0745924-2690-4861-BFA6-57FA63001986}"/>
              </a:ext>
            </a:extLst>
          </p:cNvPr>
          <p:cNvSpPr>
            <a:spLocks noChangeArrowheads="1"/>
          </p:cNvSpPr>
          <p:nvPr/>
        </p:nvSpPr>
        <p:spPr bwMode="auto">
          <a:xfrm>
            <a:off x="2181225" y="2065338"/>
            <a:ext cx="1047750" cy="123190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 xmlns:a16="http://schemas.microsoft.com/office/drawing/2014/main" id="{3BA63241-B4F6-41AD-8097-BA7F17D98089}"/>
              </a:ext>
            </a:extLst>
          </p:cNvPr>
          <p:cNvSpPr>
            <a:spLocks noEditPoints="1" noChangeArrowheads="1"/>
          </p:cNvSpPr>
          <p:nvPr/>
        </p:nvSpPr>
        <p:spPr bwMode="auto">
          <a:xfrm>
            <a:off x="2181225" y="2065338"/>
            <a:ext cx="1047750" cy="123190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 xmlns:a16="http://schemas.microsoft.com/office/drawing/2014/main" id="{EE9F85AD-BD72-44CB-8220-D182FCEE2724}"/>
              </a:ext>
            </a:extLst>
          </p:cNvPr>
          <p:cNvSpPr>
            <a:spLocks noChangeArrowheads="1"/>
          </p:cNvSpPr>
          <p:nvPr/>
        </p:nvSpPr>
        <p:spPr bwMode="auto">
          <a:xfrm>
            <a:off x="2168525" y="2089150"/>
            <a:ext cx="998538" cy="12207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 xmlns:a16="http://schemas.microsoft.com/office/drawing/2014/main" id="{F9ED6832-E143-46A5-BEDE-DB6969F31A0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 xmlns:a16="http://schemas.microsoft.com/office/drawing/2014/main" id="{2A5206FA-8AC0-4D97-B849-CB9E5D956C21}"/>
              </a:ext>
            </a:extLst>
          </p:cNvPr>
          <p:cNvSpPr>
            <a:spLocks noChangeArrowheads="1"/>
          </p:cNvSpPr>
          <p:nvPr/>
        </p:nvSpPr>
        <p:spPr bwMode="auto">
          <a:xfrm>
            <a:off x="2155825" y="2108200"/>
            <a:ext cx="985838" cy="1195388"/>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 xmlns:a16="http://schemas.microsoft.com/office/drawing/2014/main" id="{0B844651-D0F8-4D4A-8564-83B4253D7942}"/>
              </a:ext>
            </a:extLst>
          </p:cNvPr>
          <p:cNvSpPr>
            <a:spLocks noChangeArrowheads="1"/>
          </p:cNvSpPr>
          <p:nvPr/>
        </p:nvSpPr>
        <p:spPr bwMode="auto">
          <a:xfrm>
            <a:off x="2181225" y="2098675"/>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 xmlns:a16="http://schemas.microsoft.com/office/drawing/2014/main" id="{2FB07380-BAF5-4752-BF7D-B046D6DD3036}"/>
              </a:ext>
            </a:extLst>
          </p:cNvPr>
          <p:cNvSpPr>
            <a:spLocks noChangeArrowheads="1"/>
          </p:cNvSpPr>
          <p:nvPr/>
        </p:nvSpPr>
        <p:spPr bwMode="auto">
          <a:xfrm>
            <a:off x="2181225" y="2092325"/>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 xmlns:a16="http://schemas.microsoft.com/office/drawing/2014/main" id="{5054D291-0697-4316-8BCA-AF35364DF7E0}"/>
              </a:ext>
            </a:extLst>
          </p:cNvPr>
          <p:cNvSpPr>
            <a:spLocks noChangeArrowheads="1"/>
          </p:cNvSpPr>
          <p:nvPr/>
        </p:nvSpPr>
        <p:spPr bwMode="auto">
          <a:xfrm>
            <a:off x="2181225" y="2089150"/>
            <a:ext cx="1004888" cy="11922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 xmlns:a16="http://schemas.microsoft.com/office/drawing/2014/main" id="{34CE39BF-0A01-457A-B10F-2271DE79115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 xmlns:a16="http://schemas.microsoft.com/office/drawing/2014/main" id="{5AB752B0-98E4-4536-A922-C0F815996C09}"/>
              </a:ext>
            </a:extLst>
          </p:cNvPr>
          <p:cNvSpPr>
            <a:spLocks noChangeArrowheads="1"/>
          </p:cNvSpPr>
          <p:nvPr/>
        </p:nvSpPr>
        <p:spPr bwMode="auto">
          <a:xfrm>
            <a:off x="2181225" y="2101850"/>
            <a:ext cx="1588"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 xmlns:a16="http://schemas.microsoft.com/office/drawing/2014/main" id="{1FB66A94-FBB2-4076-9F76-9E9EAAC5E2E5}"/>
              </a:ext>
            </a:extLst>
          </p:cNvPr>
          <p:cNvSpPr>
            <a:spLocks noChangeArrowheads="1"/>
          </p:cNvSpPr>
          <p:nvPr/>
        </p:nvSpPr>
        <p:spPr bwMode="auto">
          <a:xfrm>
            <a:off x="2181225" y="2101850"/>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 xmlns:a16="http://schemas.microsoft.com/office/drawing/2014/main" id="{59541746-04EE-4389-A2E2-39D3E067B698}"/>
              </a:ext>
            </a:extLst>
          </p:cNvPr>
          <p:cNvSpPr>
            <a:spLocks noChangeArrowheads="1"/>
          </p:cNvSpPr>
          <p:nvPr/>
        </p:nvSpPr>
        <p:spPr bwMode="auto">
          <a:xfrm>
            <a:off x="2189163" y="2092325"/>
            <a:ext cx="993775" cy="12017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 xmlns:a16="http://schemas.microsoft.com/office/drawing/2014/main" id="{895B4344-C9C8-4955-9C22-E848BB0EBB99}"/>
              </a:ext>
            </a:extLst>
          </p:cNvPr>
          <p:cNvSpPr>
            <a:spLocks noEditPoints="1" noChangeArrowheads="1"/>
          </p:cNvSpPr>
          <p:nvPr/>
        </p:nvSpPr>
        <p:spPr bwMode="auto">
          <a:xfrm>
            <a:off x="2189163" y="2098675"/>
            <a:ext cx="977900"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 xmlns:a16="http://schemas.microsoft.com/office/drawing/2014/main" id="{2691B07F-7AEB-44A0-B4AE-1AF0FF1D0D83}"/>
              </a:ext>
            </a:extLst>
          </p:cNvPr>
          <p:cNvSpPr>
            <a:spLocks noEditPoints="1" noChangeArrowheads="1"/>
          </p:cNvSpPr>
          <p:nvPr/>
        </p:nvSpPr>
        <p:spPr bwMode="auto">
          <a:xfrm>
            <a:off x="2909888" y="2109788"/>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 xmlns:a16="http://schemas.microsoft.com/office/drawing/2014/main" id="{FB2E26C0-A535-4D34-870F-2DC9AB8C3E63}"/>
              </a:ext>
            </a:extLst>
          </p:cNvPr>
          <p:cNvSpPr>
            <a:spLocks noChangeArrowheads="1"/>
          </p:cNvSpPr>
          <p:nvPr userDrawn="1"/>
        </p:nvSpPr>
        <p:spPr bwMode="auto">
          <a:xfrm>
            <a:off x="2617788" y="3695700"/>
            <a:ext cx="568325" cy="387350"/>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 xmlns:a16="http://schemas.microsoft.com/office/drawing/2014/main" id="{BF2DDFB1-6C1B-4514-9752-CFBF77FA25B1}"/>
              </a:ext>
            </a:extLst>
          </p:cNvPr>
          <p:cNvSpPr/>
          <p:nvPr userDrawn="1"/>
        </p:nvSpPr>
        <p:spPr bwMode="auto">
          <a:xfrm>
            <a:off x="2508250" y="2522538"/>
            <a:ext cx="341313" cy="444500"/>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3" name="increasing-stocks-graphic_38888">
            <a:extLst>
              <a:ext uri="{FF2B5EF4-FFF2-40B4-BE49-F238E27FC236}">
                <a16:creationId xmlns="" xmlns:a16="http://schemas.microsoft.com/office/drawing/2014/main" id="{7B945D96-5651-4B79-8CB4-95DD4AD24423}"/>
              </a:ext>
            </a:extLst>
          </p:cNvPr>
          <p:cNvSpPr>
            <a:spLocks noChangeAspect="1" noChangeArrowheads="1"/>
          </p:cNvSpPr>
          <p:nvPr userDrawn="1"/>
        </p:nvSpPr>
        <p:spPr bwMode="auto">
          <a:xfrm>
            <a:off x="3951288" y="2970213"/>
            <a:ext cx="347662" cy="34290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4" name="组合 123">
            <a:extLst>
              <a:ext uri="{FF2B5EF4-FFF2-40B4-BE49-F238E27FC236}">
                <a16:creationId xmlns="" xmlns:a16="http://schemas.microsoft.com/office/drawing/2014/main" id="{408B5205-2A4B-456E-8135-3354FC249D20}"/>
              </a:ext>
            </a:extLst>
          </p:cNvPr>
          <p:cNvGrpSpPr/>
          <p:nvPr/>
        </p:nvGrpSpPr>
        <p:grpSpPr>
          <a:xfrm>
            <a:off x="937172" y="1836665"/>
            <a:ext cx="10459150" cy="3921025"/>
            <a:chOff x="1728788" y="7356475"/>
            <a:chExt cx="10683874" cy="4005263"/>
          </a:xfrm>
          <a:solidFill>
            <a:schemeClr val="bg1">
              <a:alpha val="20000"/>
            </a:schemeClr>
          </a:solidFill>
        </p:grpSpPr>
        <p:sp>
          <p:nvSpPr>
            <p:cNvPr id="125" name="Freeform 192">
              <a:extLst>
                <a:ext uri="{FF2B5EF4-FFF2-40B4-BE49-F238E27FC236}">
                  <a16:creationId xmlns="" xmlns:a16="http://schemas.microsoft.com/office/drawing/2014/main" id="{58A50D4B-E781-4B8E-B0B8-717CFC9A36B8}"/>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6" name="Freeform 193">
              <a:extLst>
                <a:ext uri="{FF2B5EF4-FFF2-40B4-BE49-F238E27FC236}">
                  <a16:creationId xmlns="" xmlns:a16="http://schemas.microsoft.com/office/drawing/2014/main" id="{42C3B884-6BFA-42E8-B0D5-E83D66B476DD}"/>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7" name="Freeform 194">
              <a:extLst>
                <a:ext uri="{FF2B5EF4-FFF2-40B4-BE49-F238E27FC236}">
                  <a16:creationId xmlns="" xmlns:a16="http://schemas.microsoft.com/office/drawing/2014/main" id="{AC649642-D428-4D63-A6C3-FCE5F6FC2ECD}"/>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8" name="Freeform 195">
              <a:extLst>
                <a:ext uri="{FF2B5EF4-FFF2-40B4-BE49-F238E27FC236}">
                  <a16:creationId xmlns="" xmlns:a16="http://schemas.microsoft.com/office/drawing/2014/main" id="{B582B9E6-10D1-4810-BDCB-33CEB9AE5C13}"/>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9" name="Freeform 196">
              <a:extLst>
                <a:ext uri="{FF2B5EF4-FFF2-40B4-BE49-F238E27FC236}">
                  <a16:creationId xmlns="" xmlns:a16="http://schemas.microsoft.com/office/drawing/2014/main" id="{2D64AF32-6592-48F7-8F90-F628B250CB1A}"/>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30" name="Freeform 197">
              <a:extLst>
                <a:ext uri="{FF2B5EF4-FFF2-40B4-BE49-F238E27FC236}">
                  <a16:creationId xmlns="" xmlns:a16="http://schemas.microsoft.com/office/drawing/2014/main" id="{C7B7BC44-F60B-4CFC-A762-DC1B77B90055}"/>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1" name="Freeform 198">
              <a:extLst>
                <a:ext uri="{FF2B5EF4-FFF2-40B4-BE49-F238E27FC236}">
                  <a16:creationId xmlns="" xmlns:a16="http://schemas.microsoft.com/office/drawing/2014/main" id="{D1A0F323-7BE9-4760-A08B-DC0C71F82299}"/>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2" name="Freeform 199">
              <a:extLst>
                <a:ext uri="{FF2B5EF4-FFF2-40B4-BE49-F238E27FC236}">
                  <a16:creationId xmlns="" xmlns:a16="http://schemas.microsoft.com/office/drawing/2014/main" id="{573B7176-9E7C-4448-8B97-7BC840646C44}"/>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3" name="Freeform 200">
              <a:extLst>
                <a:ext uri="{FF2B5EF4-FFF2-40B4-BE49-F238E27FC236}">
                  <a16:creationId xmlns="" xmlns:a16="http://schemas.microsoft.com/office/drawing/2014/main" id="{25B855A5-D691-4AB7-80BC-8C8ABA078521}"/>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4" name="Freeform 201">
              <a:extLst>
                <a:ext uri="{FF2B5EF4-FFF2-40B4-BE49-F238E27FC236}">
                  <a16:creationId xmlns="" xmlns:a16="http://schemas.microsoft.com/office/drawing/2014/main" id="{0E66EEBF-B104-499C-99BF-2232A7CFAA86}"/>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5" name="Freeform 202">
              <a:extLst>
                <a:ext uri="{FF2B5EF4-FFF2-40B4-BE49-F238E27FC236}">
                  <a16:creationId xmlns="" xmlns:a16="http://schemas.microsoft.com/office/drawing/2014/main" id="{C46644B0-DEA0-494B-80FF-FF2998E8968E}"/>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6" name="Freeform 203">
              <a:extLst>
                <a:ext uri="{FF2B5EF4-FFF2-40B4-BE49-F238E27FC236}">
                  <a16:creationId xmlns="" xmlns:a16="http://schemas.microsoft.com/office/drawing/2014/main" id="{84843ED1-8455-4781-88CA-CEDE3EA329A2}"/>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7" name="Freeform 204">
              <a:extLst>
                <a:ext uri="{FF2B5EF4-FFF2-40B4-BE49-F238E27FC236}">
                  <a16:creationId xmlns="" xmlns:a16="http://schemas.microsoft.com/office/drawing/2014/main" id="{2794E835-85EE-4FB3-B9C5-7B829D44182B}"/>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8" name="Freeform 205">
              <a:extLst>
                <a:ext uri="{FF2B5EF4-FFF2-40B4-BE49-F238E27FC236}">
                  <a16:creationId xmlns="" xmlns:a16="http://schemas.microsoft.com/office/drawing/2014/main" id="{A6A96DDD-881F-4933-8141-B1079D43E40D}"/>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9" name="Freeform 206">
              <a:extLst>
                <a:ext uri="{FF2B5EF4-FFF2-40B4-BE49-F238E27FC236}">
                  <a16:creationId xmlns="" xmlns:a16="http://schemas.microsoft.com/office/drawing/2014/main" id="{91CCE4F0-4E3B-4FC0-9A28-7D5532D360C7}"/>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40" name="Freeform 207">
              <a:extLst>
                <a:ext uri="{FF2B5EF4-FFF2-40B4-BE49-F238E27FC236}">
                  <a16:creationId xmlns="" xmlns:a16="http://schemas.microsoft.com/office/drawing/2014/main" id="{7AD7E107-798E-44E5-9A60-81D6063E552F}"/>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1" name="Freeform 208">
              <a:extLst>
                <a:ext uri="{FF2B5EF4-FFF2-40B4-BE49-F238E27FC236}">
                  <a16:creationId xmlns="" xmlns:a16="http://schemas.microsoft.com/office/drawing/2014/main" id="{B6F24CC8-64D4-45EC-A81B-8E268510B2AE}"/>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2" name="Freeform 209">
              <a:extLst>
                <a:ext uri="{FF2B5EF4-FFF2-40B4-BE49-F238E27FC236}">
                  <a16:creationId xmlns="" xmlns:a16="http://schemas.microsoft.com/office/drawing/2014/main" id="{570606B0-14CE-456E-916D-7B0EF100926A}"/>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3" name="Freeform 210">
              <a:extLst>
                <a:ext uri="{FF2B5EF4-FFF2-40B4-BE49-F238E27FC236}">
                  <a16:creationId xmlns="" xmlns:a16="http://schemas.microsoft.com/office/drawing/2014/main" id="{21926438-26C9-485F-8528-D4EBD2FCD3BD}"/>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1">
              <a:extLst>
                <a:ext uri="{FF2B5EF4-FFF2-40B4-BE49-F238E27FC236}">
                  <a16:creationId xmlns="" xmlns:a16="http://schemas.microsoft.com/office/drawing/2014/main" id="{D6F8F4F0-E282-4028-BD0A-14FE37212B21}"/>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5" name="Freeform 212">
              <a:extLst>
                <a:ext uri="{FF2B5EF4-FFF2-40B4-BE49-F238E27FC236}">
                  <a16:creationId xmlns="" xmlns:a16="http://schemas.microsoft.com/office/drawing/2014/main" id="{49F2D76C-E743-4E53-BCD9-3B76409A0C70}"/>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6" name="Freeform 213">
              <a:extLst>
                <a:ext uri="{FF2B5EF4-FFF2-40B4-BE49-F238E27FC236}">
                  <a16:creationId xmlns="" xmlns:a16="http://schemas.microsoft.com/office/drawing/2014/main" id="{3EC33C70-C173-4119-886B-05C6A3FEE621}"/>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7" name="Freeform 214">
              <a:extLst>
                <a:ext uri="{FF2B5EF4-FFF2-40B4-BE49-F238E27FC236}">
                  <a16:creationId xmlns="" xmlns:a16="http://schemas.microsoft.com/office/drawing/2014/main" id="{5B0986E0-9102-4FE8-8A78-F43B1948E199}"/>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8" name="Freeform 215">
              <a:extLst>
                <a:ext uri="{FF2B5EF4-FFF2-40B4-BE49-F238E27FC236}">
                  <a16:creationId xmlns="" xmlns:a16="http://schemas.microsoft.com/office/drawing/2014/main" id="{4C2CE224-C3E4-435C-9E5F-DFAD396A9B39}"/>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9" name="Freeform 216">
              <a:extLst>
                <a:ext uri="{FF2B5EF4-FFF2-40B4-BE49-F238E27FC236}">
                  <a16:creationId xmlns="" xmlns:a16="http://schemas.microsoft.com/office/drawing/2014/main" id="{3EE7E84E-9FDD-4C43-AEB8-3A0270CCBEF0}"/>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50" name="Freeform 217">
              <a:extLst>
                <a:ext uri="{FF2B5EF4-FFF2-40B4-BE49-F238E27FC236}">
                  <a16:creationId xmlns="" xmlns:a16="http://schemas.microsoft.com/office/drawing/2014/main" id="{9076291C-4C90-4904-AF06-A94D0A908F24}"/>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1" name="Freeform 218">
              <a:extLst>
                <a:ext uri="{FF2B5EF4-FFF2-40B4-BE49-F238E27FC236}">
                  <a16:creationId xmlns="" xmlns:a16="http://schemas.microsoft.com/office/drawing/2014/main" id="{77350675-95D4-42C4-937D-B9404ED3D214}"/>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2" name="Freeform 219">
              <a:extLst>
                <a:ext uri="{FF2B5EF4-FFF2-40B4-BE49-F238E27FC236}">
                  <a16:creationId xmlns="" xmlns:a16="http://schemas.microsoft.com/office/drawing/2014/main" id="{F4C520F9-6C53-4FC2-AE08-184ABD428A0A}"/>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3" name="Freeform 220">
              <a:extLst>
                <a:ext uri="{FF2B5EF4-FFF2-40B4-BE49-F238E27FC236}">
                  <a16:creationId xmlns="" xmlns:a16="http://schemas.microsoft.com/office/drawing/2014/main" id="{51775C85-78BA-4BC7-9DA7-E65A8D3570D1}"/>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4" name="Freeform 221">
              <a:extLst>
                <a:ext uri="{FF2B5EF4-FFF2-40B4-BE49-F238E27FC236}">
                  <a16:creationId xmlns="" xmlns:a16="http://schemas.microsoft.com/office/drawing/2014/main" id="{066B28FA-F507-4F6A-866B-CBEEE43D6578}"/>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5" name="Freeform 222">
              <a:extLst>
                <a:ext uri="{FF2B5EF4-FFF2-40B4-BE49-F238E27FC236}">
                  <a16:creationId xmlns="" xmlns:a16="http://schemas.microsoft.com/office/drawing/2014/main" id="{9BA823AC-0A54-4561-9AF2-6668DED5210E}"/>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6" name="Freeform 223">
              <a:extLst>
                <a:ext uri="{FF2B5EF4-FFF2-40B4-BE49-F238E27FC236}">
                  <a16:creationId xmlns="" xmlns:a16="http://schemas.microsoft.com/office/drawing/2014/main" id="{CD76A1BD-849B-40B9-8635-849C526453AC}"/>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7" name="Freeform 224">
              <a:extLst>
                <a:ext uri="{FF2B5EF4-FFF2-40B4-BE49-F238E27FC236}">
                  <a16:creationId xmlns="" xmlns:a16="http://schemas.microsoft.com/office/drawing/2014/main" id="{2A0EB56E-B765-4A6E-9CB1-93948BBDAD6D}"/>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8" name="Freeform 225">
              <a:extLst>
                <a:ext uri="{FF2B5EF4-FFF2-40B4-BE49-F238E27FC236}">
                  <a16:creationId xmlns="" xmlns:a16="http://schemas.microsoft.com/office/drawing/2014/main" id="{8C224592-BDF6-4F7C-8D70-391E726A53BB}"/>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9" name="Freeform 226">
              <a:extLst>
                <a:ext uri="{FF2B5EF4-FFF2-40B4-BE49-F238E27FC236}">
                  <a16:creationId xmlns="" xmlns:a16="http://schemas.microsoft.com/office/drawing/2014/main" id="{643D17BB-AB5D-40B5-B26F-B16C717896EA}"/>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60" name="Freeform 227">
              <a:extLst>
                <a:ext uri="{FF2B5EF4-FFF2-40B4-BE49-F238E27FC236}">
                  <a16:creationId xmlns="" xmlns:a16="http://schemas.microsoft.com/office/drawing/2014/main" id="{B15EAFBD-9DE6-430C-9E4C-0D0EC0E1350A}"/>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1" name="Freeform 228">
              <a:extLst>
                <a:ext uri="{FF2B5EF4-FFF2-40B4-BE49-F238E27FC236}">
                  <a16:creationId xmlns="" xmlns:a16="http://schemas.microsoft.com/office/drawing/2014/main" id="{1EE8533E-7B34-4C1A-9D4C-F3F650020B8E}"/>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2" name="Freeform 229">
              <a:extLst>
                <a:ext uri="{FF2B5EF4-FFF2-40B4-BE49-F238E27FC236}">
                  <a16:creationId xmlns="" xmlns:a16="http://schemas.microsoft.com/office/drawing/2014/main" id="{AA8EB42A-15EF-4218-9E89-09E076600191}"/>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3" name="Freeform 230">
              <a:extLst>
                <a:ext uri="{FF2B5EF4-FFF2-40B4-BE49-F238E27FC236}">
                  <a16:creationId xmlns="" xmlns:a16="http://schemas.microsoft.com/office/drawing/2014/main" id="{F00CE7C7-86EA-4002-BE71-087D77E8B173}"/>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4" name="Freeform 231">
              <a:extLst>
                <a:ext uri="{FF2B5EF4-FFF2-40B4-BE49-F238E27FC236}">
                  <a16:creationId xmlns="" xmlns:a16="http://schemas.microsoft.com/office/drawing/2014/main" id="{E3C7619A-36B1-4B70-8DF7-CCC35E451F7E}"/>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13" name="标题 1"/>
          <p:cNvSpPr>
            <a:spLocks noGrp="1"/>
          </p:cNvSpPr>
          <p:nvPr userDrawn="1">
            <p:ph type="ctrTitle" hasCustomPrompt="1"/>
          </p:nvPr>
        </p:nvSpPr>
        <p:spPr>
          <a:xfrm>
            <a:off x="6283316" y="2193080"/>
            <a:ext cx="4950229" cy="1621509"/>
          </a:xfrm>
        </p:spPr>
        <p:txBody>
          <a:bodyPr>
            <a:noAutofit/>
          </a:bodyPr>
          <a:lstStyle>
            <a:lvl1pPr marL="0" indent="0" algn="l">
              <a:buFont typeface="Arial" panose="020B0604020202020204" pitchFamily="34" charset="0"/>
              <a:buNone/>
              <a:defRPr sz="8800">
                <a:solidFill>
                  <a:schemeClr val="bg1"/>
                </a:solidFill>
              </a:defRPr>
            </a:lvl1pPr>
          </a:lstStyle>
          <a:p>
            <a:r>
              <a:rPr lang="en-US" altLang="zh-CN" noProof="1"/>
              <a:t>Thanks</a:t>
            </a:r>
            <a:endParaRPr lang="zh-CN" altLang="en-US" noProof="1"/>
          </a:p>
        </p:txBody>
      </p:sp>
      <p:sp>
        <p:nvSpPr>
          <p:cNvPr id="15" name="文本占位符 62"/>
          <p:cNvSpPr>
            <a:spLocks noGrp="1"/>
          </p:cNvSpPr>
          <p:nvPr userDrawn="1">
            <p:ph type="body" sz="quarter" idx="18" hasCustomPrompt="1"/>
          </p:nvPr>
        </p:nvSpPr>
        <p:spPr>
          <a:xfrm>
            <a:off x="6283316" y="4499316"/>
            <a:ext cx="4950229" cy="310871"/>
          </a:xfrm>
        </p:spPr>
        <p:txBody>
          <a:bodyPr rtlCol="0">
            <a:normAutofit/>
          </a:bodyPr>
          <a:lstStyle>
            <a:lvl1pPr marL="0" indent="0" algn="l">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lvl="0"/>
            <a:r>
              <a:rPr lang="en-US" altLang="zh-CN" noProof="1"/>
              <a:t>Data</a:t>
            </a:r>
          </a:p>
        </p:txBody>
      </p:sp>
      <p:sp>
        <p:nvSpPr>
          <p:cNvPr id="6" name="文本占位符 13"/>
          <p:cNvSpPr>
            <a:spLocks noGrp="1"/>
          </p:cNvSpPr>
          <p:nvPr userDrawn="1">
            <p:ph type="body" sz="quarter" idx="10" hasCustomPrompt="1"/>
          </p:nvPr>
        </p:nvSpPr>
        <p:spPr>
          <a:xfrm>
            <a:off x="6283318" y="4203045"/>
            <a:ext cx="4950229"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Tree>
    <p:extLst>
      <p:ext uri="{BB962C8B-B14F-4D97-AF65-F5344CB8AC3E}">
        <p14:creationId xmlns:p14="http://schemas.microsoft.com/office/powerpoint/2010/main" val="108328761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 xmlns:a16="http://schemas.microsoft.com/office/drawing/2014/main" id="{6113CD24-F3A3-42C2-A4C2-4BE6EE2CFDEB}"/>
              </a:ext>
            </a:extLst>
          </p:cNvPr>
          <p:cNvSpPr>
            <a:spLocks noGrp="1" noChangeArrowheads="1"/>
          </p:cNvSpPr>
          <p:nvPr>
            <p:ph type="title" idx="4294967295"/>
          </p:nvPr>
        </p:nvSpPr>
        <p:spPr bwMode="auto">
          <a:xfrm>
            <a:off x="669925" y="0"/>
            <a:ext cx="10850563"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 xmlns:a16="http://schemas.microsoft.com/office/drawing/2014/main" id="{2020242A-7B51-4433-88E0-4DA53E65485A}"/>
              </a:ext>
            </a:extLst>
          </p:cNvPr>
          <p:cNvSpPr>
            <a:spLocks noGrp="1" noChangeArrowheads="1"/>
          </p:cNvSpPr>
          <p:nvPr>
            <p:ph type="body" idx="4294967295"/>
          </p:nvPr>
        </p:nvSpPr>
        <p:spPr bwMode="auto">
          <a:xfrm>
            <a:off x="669925" y="1123950"/>
            <a:ext cx="10850563"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cxnSp>
        <p:nvCxnSpPr>
          <p:cNvPr id="7" name="直接连接符 6">
            <a:extLst>
              <a:ext uri="{FF2B5EF4-FFF2-40B4-BE49-F238E27FC236}">
                <a16:creationId xmlns="" xmlns:a16="http://schemas.microsoft.com/office/drawing/2014/main" id="{9227C1A2-BF7A-415F-B2D5-10EAE8FD94C6}"/>
              </a:ext>
            </a:extLst>
          </p:cNvPr>
          <p:cNvCxnSpPr>
            <a:cxnSpLocks/>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 xmlns:a16="http://schemas.microsoft.com/office/drawing/2014/main" id="{FAC81E72-FAA7-4B1C-89A3-27C0490C863A}"/>
              </a:ext>
            </a:extLst>
          </p:cNvPr>
          <p:cNvPicPr>
            <a:picLocks noChangeAspect="1"/>
          </p:cNvPicPr>
          <p:nvPr userDrawn="1"/>
        </p:nvPicPr>
        <p:blipFill>
          <a:blip r:embed="rId9"/>
          <a:stretch>
            <a:fillRect/>
          </a:stretch>
        </p:blipFill>
        <p:spPr>
          <a:xfrm>
            <a:off x="669925" y="6240463"/>
            <a:ext cx="4170693" cy="206375"/>
          </a:xfrm>
          <a:prstGeom prst="rect">
            <a:avLst/>
          </a:prstGeom>
        </p:spPr>
      </p:pic>
      <p:sp>
        <p:nvSpPr>
          <p:cNvPr id="12" name="文本框 11">
            <a:extLst>
              <a:ext uri="{FF2B5EF4-FFF2-40B4-BE49-F238E27FC236}">
                <a16:creationId xmlns="" xmlns:a16="http://schemas.microsoft.com/office/drawing/2014/main" id="{82F02BE1-6CD5-45BD-B93A-34CD7D9B7B0D}"/>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3" r:id="rId6"/>
    <p:sldLayoutId id="2147483681" r:id="rId7"/>
  </p:sldLayoutIdLst>
  <p:hf sldNum="0" hdr="0" ftr="0" dt="0"/>
  <p:txStyles>
    <p:titleStyle>
      <a:lvl1pPr algn="l" rtl="0" eaLnBrk="1" fontAlgn="base" hangingPunct="1">
        <a:lnSpc>
          <a:spcPct val="90000"/>
        </a:lnSpc>
        <a:spcBef>
          <a:spcPct val="0"/>
        </a:spcBef>
        <a:spcAft>
          <a:spcPct val="0"/>
        </a:spcAft>
        <a:defRPr sz="2800" b="1" kern="1200">
          <a:solidFill>
            <a:schemeClr val="tx1"/>
          </a:solidFill>
          <a:latin typeface="+mj-lt"/>
          <a:ea typeface="+mj-ea"/>
          <a:cs typeface="+mj-cs"/>
        </a:defRPr>
      </a:lvl1pPr>
      <a:lvl2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2pPr>
      <a:lvl3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3pPr>
      <a:lvl4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4pPr>
      <a:lvl5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5pPr>
      <a:lvl6pPr marL="4572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6pPr>
      <a:lvl7pPr marL="9144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7pPr>
      <a:lvl8pPr marL="13716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8pPr>
      <a:lvl9pPr marL="18288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712" userDrawn="1">
          <p15:clr>
            <a:srgbClr val="A4A3A4"/>
          </p15:clr>
        </p15:guide>
        <p15:guide id="5" orient="horz" pos="3928" userDrawn="1">
          <p15:clr>
            <a:srgbClr val="A4A3A4"/>
          </p15:clr>
        </p15:guide>
        <p15:guide id="6" orient="horz" pos="3864"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hyperlink" Target="https://theano-pymc.readthedocs.io/"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hyperlink" Target="https://tensorflow.google.cn/"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3" Type="http://schemas.openxmlformats.org/officeDocument/2006/relationships/hyperlink" Target="https://mxnet.apache.org/"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hyperlink" Target="https://keras.io/"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hyperlink" Target="https://pytorch.org/"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6.jpg"/></Relationships>
</file>

<file path=ppt/slides/_rels/slide11.xml.rels><?xml version="1.0" encoding="UTF-8" standalone="yes"?>
<Relationships xmlns="http://schemas.openxmlformats.org/package/2006/relationships"><Relationship Id="rId3" Type="http://schemas.openxmlformats.org/officeDocument/2006/relationships/hyperlink" Target="http://caffe.berkeleyvision.org/"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hyperlink" Target="https://distill.pub/2019/computing-receptive-fields/" TargetMode="External"/><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hyperlink" Target="https://distill.pub/2019/computing-receptive-fields/"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27.jpg"/></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8.xml"/><Relationship Id="rId1" Type="http://schemas.openxmlformats.org/officeDocument/2006/relationships/slideLayout" Target="../slideLayouts/slideLayout3.xml"/><Relationship Id="rId4" Type="http://schemas.openxmlformats.org/officeDocument/2006/relationships/image" Target="../media/image31.jpg"/></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9.xml"/><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 xmlns:a16="http://schemas.microsoft.com/office/drawing/2014/main" id="{5C674A10-3091-4452-A509-500FDC13F4FE}"/>
              </a:ext>
            </a:extLst>
          </p:cNvPr>
          <p:cNvSpPr>
            <a:spLocks noGrp="1"/>
          </p:cNvSpPr>
          <p:nvPr>
            <p:ph type="subTitle" idx="1"/>
          </p:nvPr>
        </p:nvSpPr>
        <p:spPr/>
        <p:txBody>
          <a:bodyPr/>
          <a:lstStyle/>
          <a:p>
            <a:r>
              <a:rPr lang="zh-CN" altLang="en-US" smtClean="0"/>
              <a:t>课件：目标</a:t>
            </a:r>
            <a:r>
              <a:rPr lang="zh-CN" altLang="en-US" dirty="0" smtClean="0"/>
              <a:t>检测框架和基本概念</a:t>
            </a:r>
            <a:endParaRPr lang="zh-CN" altLang="en-US" dirty="0"/>
          </a:p>
        </p:txBody>
      </p:sp>
      <p:sp>
        <p:nvSpPr>
          <p:cNvPr id="3" name="标题 2">
            <a:extLst>
              <a:ext uri="{FF2B5EF4-FFF2-40B4-BE49-F238E27FC236}">
                <a16:creationId xmlns="" xmlns:a16="http://schemas.microsoft.com/office/drawing/2014/main" id="{37B72B94-1F12-468F-939B-26F0B436DFF1}"/>
              </a:ext>
            </a:extLst>
          </p:cNvPr>
          <p:cNvSpPr>
            <a:spLocks noGrp="1"/>
          </p:cNvSpPr>
          <p:nvPr>
            <p:ph type="ctrTitle"/>
          </p:nvPr>
        </p:nvSpPr>
        <p:spPr/>
        <p:txBody>
          <a:bodyPr/>
          <a:lstStyle/>
          <a:p>
            <a:r>
              <a:rPr lang="zh-CN" altLang="en-US" dirty="0" smtClean="0"/>
              <a:t>目标检测的实现</a:t>
            </a:r>
            <a:endParaRPr lang="zh-CN" altLang="en-US" dirty="0"/>
          </a:p>
        </p:txBody>
      </p:sp>
      <p:sp>
        <p:nvSpPr>
          <p:cNvPr id="4" name="文本占位符 3">
            <a:extLst>
              <a:ext uri="{FF2B5EF4-FFF2-40B4-BE49-F238E27FC236}">
                <a16:creationId xmlns="" xmlns:a16="http://schemas.microsoft.com/office/drawing/2014/main" id="{D30CE500-237B-4E6E-B7FE-6735EA2F0F52}"/>
              </a:ext>
            </a:extLst>
          </p:cNvPr>
          <p:cNvSpPr>
            <a:spLocks noGrp="1"/>
          </p:cNvSpPr>
          <p:nvPr>
            <p:ph type="body" sz="quarter" idx="10"/>
          </p:nvPr>
        </p:nvSpPr>
        <p:spPr/>
        <p:txBody>
          <a:bodyPr/>
          <a:lstStyle/>
          <a:p>
            <a:r>
              <a:rPr lang="zh-CN" altLang="en-US" dirty="0"/>
              <a:t>杭州钛比科技有限公司</a:t>
            </a:r>
          </a:p>
        </p:txBody>
      </p:sp>
      <p:sp>
        <p:nvSpPr>
          <p:cNvPr id="5" name="文本占位符 4">
            <a:extLst>
              <a:ext uri="{FF2B5EF4-FFF2-40B4-BE49-F238E27FC236}">
                <a16:creationId xmlns="" xmlns:a16="http://schemas.microsoft.com/office/drawing/2014/main" id="{CB507061-DD1C-4DEB-9AE0-8D195E8974B7}"/>
              </a:ext>
            </a:extLst>
          </p:cNvPr>
          <p:cNvSpPr>
            <a:spLocks noGrp="1"/>
          </p:cNvSpPr>
          <p:nvPr>
            <p:ph type="body" sz="quarter" idx="11"/>
          </p:nvPr>
        </p:nvSpPr>
        <p:spPr/>
        <p:txBody>
          <a:bodyPr/>
          <a:lstStyle/>
          <a:p>
            <a:r>
              <a:rPr lang="en-US" altLang="zh-CN" dirty="0"/>
              <a:t>www.terabits.cn</a:t>
            </a:r>
            <a:endParaRPr lang="zh-CN" altLang="en-US" dirty="0"/>
          </a:p>
        </p:txBody>
      </p:sp>
    </p:spTree>
    <p:extLst>
      <p:ext uri="{BB962C8B-B14F-4D97-AF65-F5344CB8AC3E}">
        <p14:creationId xmlns:p14="http://schemas.microsoft.com/office/powerpoint/2010/main" val="1287360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课程目标</a:t>
            </a:r>
            <a:endParaRPr lang="zh-CN" altLang="en-US" dirty="0"/>
          </a:p>
        </p:txBody>
      </p:sp>
      <p:sp>
        <p:nvSpPr>
          <p:cNvPr id="3" name="内容占位符 2"/>
          <p:cNvSpPr>
            <a:spLocks noGrp="1"/>
          </p:cNvSpPr>
          <p:nvPr>
            <p:ph sz="quarter" idx="13"/>
          </p:nvPr>
        </p:nvSpPr>
        <p:spPr/>
        <p:txBody>
          <a:bodyPr/>
          <a:lstStyle/>
          <a:p>
            <a:pPr marL="0" indent="0" defTabSz="2400300">
              <a:lnSpc>
                <a:spcPct val="150000"/>
              </a:lnSpc>
              <a:spcBef>
                <a:spcPts val="600"/>
              </a:spcBef>
              <a:spcAft>
                <a:spcPts val="600"/>
              </a:spcAft>
              <a:buNone/>
            </a:pPr>
            <a:r>
              <a:rPr kumimoji="1" lang="zh-CN" altLang="en-US" b="1" dirty="0">
                <a:latin typeface="微软雅黑" panose="020B0503020204020204" pitchFamily="34" charset="-122"/>
                <a:ea typeface="微软雅黑" panose="020B0503020204020204" pitchFamily="34" charset="-122"/>
              </a:rPr>
              <a:t>学习完本课程后，你将能够</a:t>
            </a:r>
            <a:r>
              <a:rPr kumimoji="1" lang="zh-CN" altLang="en-US" b="1" dirty="0" smtClean="0">
                <a:latin typeface="微软雅黑" panose="020B0503020204020204" pitchFamily="34" charset="-122"/>
                <a:ea typeface="微软雅黑" panose="020B0503020204020204" pitchFamily="34" charset="-122"/>
              </a:rPr>
              <a:t>：</a:t>
            </a: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了解主流的深度学习框架</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了解目标检测特有的基本概念</a:t>
            </a:r>
            <a:endParaRPr kumimoji="1" lang="en-US" altLang="zh-CN"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46861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 xmlns:a16="http://schemas.microsoft.com/office/drawing/2014/main" id="{3D28A7FA-9777-482F-9F1D-686C9423C48A}"/>
              </a:ext>
            </a:extLst>
          </p:cNvPr>
          <p:cNvSpPr>
            <a:spLocks noGrp="1"/>
          </p:cNvSpPr>
          <p:nvPr>
            <p:ph sz="quarter" idx="11"/>
          </p:nvPr>
        </p:nvSpPr>
        <p:spPr/>
        <p:txBody>
          <a:bodyPr/>
          <a:lstStyle/>
          <a:p>
            <a:pPr>
              <a:lnSpc>
                <a:spcPct val="125000"/>
              </a:lnSpc>
              <a:buFont typeface="+mj-lt"/>
              <a:buAutoNum type="arabicPeriod"/>
            </a:pPr>
            <a:r>
              <a:rPr lang="zh-CN" altLang="en-US" dirty="0" smtClean="0"/>
              <a:t>深度学习框架</a:t>
            </a:r>
            <a:endParaRPr lang="en-US" altLang="zh-CN" dirty="0" smtClean="0"/>
          </a:p>
          <a:p>
            <a:pPr lvl="1">
              <a:buFont typeface="+mj-lt"/>
              <a:buAutoNum type="arabicPeriod"/>
            </a:pPr>
            <a:r>
              <a:rPr lang="en-US" altLang="zh-CN" dirty="0" err="1" smtClean="0"/>
              <a:t>Theano</a:t>
            </a:r>
            <a:endParaRPr lang="en-US" altLang="zh-CN" dirty="0" smtClean="0"/>
          </a:p>
          <a:p>
            <a:pPr lvl="1">
              <a:buFont typeface="+mj-lt"/>
              <a:buAutoNum type="arabicPeriod"/>
            </a:pPr>
            <a:r>
              <a:rPr lang="en-US" altLang="zh-CN" dirty="0" err="1" smtClean="0"/>
              <a:t>TensorFlow</a:t>
            </a:r>
            <a:endParaRPr lang="en-US" altLang="zh-CN" dirty="0" smtClean="0"/>
          </a:p>
          <a:p>
            <a:pPr lvl="1">
              <a:buFont typeface="+mj-lt"/>
              <a:buAutoNum type="arabicPeriod"/>
            </a:pPr>
            <a:r>
              <a:rPr lang="en-US" altLang="zh-CN" dirty="0" err="1" smtClean="0"/>
              <a:t>MXNet</a:t>
            </a:r>
            <a:endParaRPr lang="en-US" altLang="zh-CN" dirty="0" smtClean="0"/>
          </a:p>
          <a:p>
            <a:pPr lvl="1">
              <a:buFont typeface="+mj-lt"/>
              <a:buAutoNum type="arabicPeriod"/>
            </a:pPr>
            <a:r>
              <a:rPr lang="en-US" altLang="zh-CN" dirty="0" err="1" smtClean="0"/>
              <a:t>Keras</a:t>
            </a:r>
            <a:endParaRPr lang="en-US" altLang="zh-CN" dirty="0" smtClean="0"/>
          </a:p>
          <a:p>
            <a:pPr lvl="1">
              <a:buFont typeface="+mj-lt"/>
              <a:buAutoNum type="arabicPeriod"/>
            </a:pPr>
            <a:r>
              <a:rPr lang="en-US" altLang="zh-CN" dirty="0" err="1" smtClean="0"/>
              <a:t>Pytorch</a:t>
            </a:r>
            <a:endParaRPr lang="en-US" altLang="zh-CN" dirty="0" smtClean="0"/>
          </a:p>
          <a:p>
            <a:pPr lvl="1">
              <a:buFont typeface="+mj-lt"/>
              <a:buAutoNum type="arabicPeriod"/>
            </a:pPr>
            <a:r>
              <a:rPr lang="en-US" altLang="zh-CN" dirty="0" err="1" smtClean="0"/>
              <a:t>Caffe</a:t>
            </a:r>
            <a:endParaRPr lang="en-US" altLang="zh-CN" dirty="0" smtClean="0"/>
          </a:p>
          <a:p>
            <a:pPr>
              <a:lnSpc>
                <a:spcPct val="125000"/>
              </a:lnSpc>
              <a:buFont typeface="+mj-lt"/>
              <a:buAutoNum type="arabicPeriod"/>
            </a:pPr>
            <a:r>
              <a:rPr lang="zh-CN" altLang="en-US" dirty="0" smtClean="0"/>
              <a:t>目标检测基本概念</a:t>
            </a:r>
            <a:endParaRPr lang="en-US" altLang="zh-CN" dirty="0"/>
          </a:p>
          <a:p>
            <a:pPr lvl="1">
              <a:buFont typeface="+mj-lt"/>
              <a:buAutoNum type="arabicPeriod"/>
            </a:pPr>
            <a:r>
              <a:rPr lang="en-US" altLang="zh-CN" dirty="0" err="1" smtClean="0"/>
              <a:t>IoU</a:t>
            </a:r>
            <a:r>
              <a:rPr lang="zh-CN" altLang="en-US" dirty="0" smtClean="0"/>
              <a:t>计算</a:t>
            </a:r>
            <a:endParaRPr lang="en-US" altLang="zh-CN" dirty="0" smtClean="0"/>
          </a:p>
          <a:p>
            <a:pPr lvl="1">
              <a:buFont typeface="+mj-lt"/>
              <a:buAutoNum type="arabicPeriod"/>
            </a:pPr>
            <a:r>
              <a:rPr lang="en-US" altLang="zh-CN" dirty="0" smtClean="0"/>
              <a:t>NMS</a:t>
            </a:r>
            <a:r>
              <a:rPr lang="zh-CN" altLang="en-US" dirty="0" smtClean="0"/>
              <a:t>操作</a:t>
            </a:r>
            <a:endParaRPr lang="en-US" altLang="zh-CN" dirty="0" smtClean="0"/>
          </a:p>
          <a:p>
            <a:pPr lvl="1">
              <a:buFont typeface="+mj-lt"/>
              <a:buAutoNum type="arabicPeriod"/>
            </a:pPr>
            <a:r>
              <a:rPr lang="zh-CN" altLang="en-US" dirty="0" smtClean="0"/>
              <a:t>感受野</a:t>
            </a:r>
            <a:endParaRPr lang="en-US" altLang="zh-CN" dirty="0" smtClean="0"/>
          </a:p>
          <a:p>
            <a:pPr lvl="1">
              <a:buFont typeface="+mj-lt"/>
              <a:buAutoNum type="arabicPeriod"/>
            </a:pPr>
            <a:r>
              <a:rPr lang="zh-CN" altLang="en-US" dirty="0"/>
              <a:t>空洞</a:t>
            </a:r>
            <a:r>
              <a:rPr lang="zh-CN" altLang="en-US" dirty="0" smtClean="0"/>
              <a:t>卷积</a:t>
            </a:r>
            <a:endParaRPr lang="en-US" altLang="zh-CN" dirty="0" smtClean="0"/>
          </a:p>
          <a:p>
            <a:pPr lvl="1">
              <a:buFont typeface="+mj-lt"/>
              <a:buAutoNum type="arabicPeriod"/>
            </a:pPr>
            <a:r>
              <a:rPr lang="zh-CN" altLang="en-US" dirty="0" smtClean="0"/>
              <a:t>评价指标</a:t>
            </a:r>
            <a:r>
              <a:rPr lang="en-US" altLang="zh-CN" dirty="0" err="1" smtClean="0"/>
              <a:t>mAP</a:t>
            </a:r>
            <a:endParaRPr lang="zh-CN" altLang="en-US" dirty="0"/>
          </a:p>
        </p:txBody>
      </p:sp>
    </p:spTree>
    <p:extLst>
      <p:ext uri="{BB962C8B-B14F-4D97-AF65-F5344CB8AC3E}">
        <p14:creationId xmlns:p14="http://schemas.microsoft.com/office/powerpoint/2010/main" val="2184989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/01</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深度学习框架</a:t>
            </a:r>
            <a:endParaRPr lang="zh-CN" altLang="en-US" dirty="0"/>
          </a:p>
        </p:txBody>
      </p:sp>
    </p:spTree>
    <p:extLst>
      <p:ext uri="{BB962C8B-B14F-4D97-AF65-F5344CB8AC3E}">
        <p14:creationId xmlns:p14="http://schemas.microsoft.com/office/powerpoint/2010/main" val="20433066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深度学习框架</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a:lnSpc>
                <a:spcPct val="125000"/>
              </a:lnSpc>
            </a:pPr>
            <a:r>
              <a:rPr lang="zh-CN" altLang="en-US" dirty="0" smtClean="0"/>
              <a:t>近几年，随着深度学习的爆炸式发展，相关理论和基础架构得到很大突破。</a:t>
            </a:r>
            <a:endParaRPr lang="en-US" altLang="zh-CN" dirty="0" smtClean="0"/>
          </a:p>
          <a:p>
            <a:pPr>
              <a:lnSpc>
                <a:spcPct val="125000"/>
              </a:lnSpc>
            </a:pPr>
            <a:r>
              <a:rPr lang="zh-CN" altLang="en-US" dirty="0" smtClean="0"/>
              <a:t>介绍几个著名的深度学习框架：</a:t>
            </a:r>
            <a:endParaRPr lang="en-US" altLang="zh-CN" dirty="0" smtClean="0"/>
          </a:p>
          <a:p>
            <a:pPr lvl="1"/>
            <a:r>
              <a:rPr lang="en-US" altLang="zh-CN" dirty="0" err="1" smtClean="0"/>
              <a:t>Theano</a:t>
            </a:r>
            <a:endParaRPr lang="en-US" altLang="zh-CN" dirty="0" smtClean="0"/>
          </a:p>
          <a:p>
            <a:pPr lvl="1"/>
            <a:r>
              <a:rPr lang="en-US" altLang="zh-CN" dirty="0" err="1" smtClean="0"/>
              <a:t>Tensorflow</a:t>
            </a:r>
            <a:endParaRPr lang="en-US" altLang="zh-CN" dirty="0" smtClean="0"/>
          </a:p>
          <a:p>
            <a:pPr lvl="1"/>
            <a:r>
              <a:rPr lang="en-US" altLang="zh-CN" dirty="0" err="1" smtClean="0"/>
              <a:t>MXNet</a:t>
            </a:r>
            <a:endParaRPr lang="en-US" altLang="zh-CN" dirty="0" smtClean="0"/>
          </a:p>
          <a:p>
            <a:pPr lvl="1"/>
            <a:r>
              <a:rPr lang="en-US" altLang="zh-CN" dirty="0" err="1" smtClean="0"/>
              <a:t>Keras</a:t>
            </a:r>
            <a:endParaRPr lang="en-US" altLang="zh-CN" dirty="0" smtClean="0"/>
          </a:p>
          <a:p>
            <a:pPr lvl="1"/>
            <a:r>
              <a:rPr lang="en-US" altLang="zh-CN" dirty="0" err="1" smtClean="0"/>
              <a:t>PyTorch</a:t>
            </a:r>
            <a:endParaRPr lang="en-US" altLang="zh-CN" dirty="0" smtClean="0"/>
          </a:p>
          <a:p>
            <a:pPr lvl="1"/>
            <a:r>
              <a:rPr lang="en-US" altLang="zh-CN" dirty="0" err="1" smtClean="0"/>
              <a:t>Caffe</a:t>
            </a:r>
            <a:endParaRPr lang="zh-CN" altLang="en-US" dirty="0"/>
          </a:p>
        </p:txBody>
      </p:sp>
    </p:spTree>
    <p:extLst>
      <p:ext uri="{BB962C8B-B14F-4D97-AF65-F5344CB8AC3E}">
        <p14:creationId xmlns:p14="http://schemas.microsoft.com/office/powerpoint/2010/main" val="18268306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Theano</a:t>
            </a:r>
            <a:endParaRPr lang="zh-CN" altLang="en-US" dirty="0"/>
          </a:p>
        </p:txBody>
      </p:sp>
      <p:sp>
        <p:nvSpPr>
          <p:cNvPr id="3" name="内容占位符 2"/>
          <p:cNvSpPr>
            <a:spLocks noGrp="1"/>
          </p:cNvSpPr>
          <p:nvPr>
            <p:ph sz="quarter" idx="13"/>
          </p:nvPr>
        </p:nvSpPr>
        <p:spPr/>
        <p:txBody>
          <a:bodyPr/>
          <a:lstStyle/>
          <a:p>
            <a:r>
              <a:rPr lang="en-US" altLang="zh-CN" dirty="0" err="1" smtClean="0"/>
              <a:t>Theano</a:t>
            </a:r>
            <a:r>
              <a:rPr lang="zh-CN" altLang="en-US" dirty="0"/>
              <a:t>库</a:t>
            </a:r>
            <a:r>
              <a:rPr lang="zh-CN" altLang="en-US" dirty="0" smtClean="0"/>
              <a:t>：</a:t>
            </a:r>
            <a:endParaRPr lang="en-US" altLang="zh-CN" dirty="0" smtClean="0"/>
          </a:p>
          <a:p>
            <a:pPr lvl="1"/>
            <a:r>
              <a:rPr lang="zh-CN" altLang="en-US" dirty="0" smtClean="0"/>
              <a:t>由</a:t>
            </a:r>
            <a:r>
              <a:rPr lang="en-US" altLang="zh-CN" dirty="0" smtClean="0"/>
              <a:t>LISA</a:t>
            </a:r>
            <a:r>
              <a:rPr lang="zh-CN" altLang="en-US" dirty="0" smtClean="0"/>
              <a:t>集团（现</a:t>
            </a:r>
            <a:r>
              <a:rPr lang="en-US" altLang="zh-CN" dirty="0" smtClean="0"/>
              <a:t>MILA</a:t>
            </a:r>
            <a:r>
              <a:rPr lang="zh-CN" altLang="en-US" dirty="0" smtClean="0"/>
              <a:t>）在加拿大蒙特利尔大学开发</a:t>
            </a:r>
            <a:endParaRPr lang="en-US" altLang="zh-CN" dirty="0" smtClean="0"/>
          </a:p>
          <a:p>
            <a:pPr lvl="1"/>
            <a:r>
              <a:rPr lang="en-US" altLang="zh-CN" dirty="0" smtClean="0"/>
              <a:t>BSD</a:t>
            </a:r>
            <a:r>
              <a:rPr lang="zh-CN" altLang="en-US" dirty="0" smtClean="0"/>
              <a:t>许可证下的开源项目，是一个</a:t>
            </a:r>
            <a:r>
              <a:rPr lang="en-US" altLang="zh-CN" dirty="0" smtClean="0"/>
              <a:t>Python</a:t>
            </a:r>
            <a:r>
              <a:rPr lang="zh-CN" altLang="en-US" dirty="0" smtClean="0"/>
              <a:t>库</a:t>
            </a:r>
            <a:endParaRPr lang="en-US" altLang="zh-CN" dirty="0" smtClean="0"/>
          </a:p>
          <a:p>
            <a:pPr lvl="1"/>
            <a:r>
              <a:rPr lang="zh-CN" altLang="en-US" dirty="0" smtClean="0"/>
              <a:t>用于定义、优化和计算数学表达式</a:t>
            </a:r>
            <a:endParaRPr lang="en-US" altLang="zh-CN" dirty="0" smtClean="0"/>
          </a:p>
          <a:p>
            <a:pPr lvl="1"/>
            <a:r>
              <a:rPr lang="zh-CN" altLang="en-US" dirty="0"/>
              <a:t>采用</a:t>
            </a:r>
            <a:r>
              <a:rPr lang="en-US" altLang="zh-CN" dirty="0" smtClean="0"/>
              <a:t>GPU</a:t>
            </a:r>
            <a:r>
              <a:rPr lang="zh-CN" altLang="en-US" dirty="0" smtClean="0"/>
              <a:t>加速，计算速度大幅提升</a:t>
            </a:r>
            <a:endParaRPr lang="en-US" altLang="zh-CN" dirty="0" smtClean="0"/>
          </a:p>
          <a:p>
            <a:pPr lvl="1"/>
            <a:r>
              <a:rPr lang="zh-CN" altLang="en-US" dirty="0"/>
              <a:t>第一</a:t>
            </a:r>
            <a:r>
              <a:rPr lang="zh-CN" altLang="en-US" dirty="0" smtClean="0"/>
              <a:t>个</a:t>
            </a:r>
            <a:r>
              <a:rPr lang="en-US" altLang="zh-CN" dirty="0" smtClean="0"/>
              <a:t>Python</a:t>
            </a:r>
            <a:r>
              <a:rPr lang="zh-CN" altLang="en-US" dirty="0" smtClean="0"/>
              <a:t>深度学习框架</a:t>
            </a:r>
            <a:endParaRPr lang="en-US" altLang="zh-CN" dirty="0" smtClean="0"/>
          </a:p>
          <a:p>
            <a:pPr lvl="1"/>
            <a:r>
              <a:rPr lang="zh-CN" altLang="en-US" dirty="0" smtClean="0"/>
              <a:t>逐渐被</a:t>
            </a:r>
            <a:r>
              <a:rPr lang="en-US" altLang="zh-CN" dirty="0" err="1" smtClean="0"/>
              <a:t>TensorFlow</a:t>
            </a:r>
            <a:r>
              <a:rPr lang="zh-CN" altLang="en-US" dirty="0" smtClean="0"/>
              <a:t>取代</a:t>
            </a:r>
            <a:endParaRPr lang="en-US" altLang="zh-CN" dirty="0" smtClean="0"/>
          </a:p>
          <a:p>
            <a:pPr lvl="1"/>
            <a:r>
              <a:rPr lang="en-US" altLang="zh-CN" dirty="0" smtClean="0"/>
              <a:t>2018</a:t>
            </a:r>
            <a:r>
              <a:rPr lang="zh-CN" altLang="en-US" dirty="0" smtClean="0"/>
              <a:t>年后不再更新维护</a:t>
            </a:r>
            <a:endParaRPr lang="en-US" altLang="zh-CN" dirty="0" smtClean="0"/>
          </a:p>
          <a:p>
            <a:r>
              <a:rPr lang="en-US" altLang="zh-CN" dirty="0" err="1" smtClean="0"/>
              <a:t>Theano</a:t>
            </a:r>
            <a:r>
              <a:rPr lang="zh-CN" altLang="en-US" dirty="0" smtClean="0"/>
              <a:t>官方网站：</a:t>
            </a:r>
            <a:r>
              <a:rPr lang="en-US" altLang="zh-CN" dirty="0">
                <a:hlinkClick r:id="rId3"/>
              </a:rPr>
              <a:t>https://theano-pymc.readthedocs.io/</a:t>
            </a:r>
            <a:endParaRPr lang="en-US" altLang="zh-CN" dirty="0" smtClean="0"/>
          </a:p>
          <a:p>
            <a:pPr lvl="1"/>
            <a:endParaRPr lang="en-US" altLang="zh-CN" dirty="0" smtClean="0"/>
          </a:p>
        </p:txBody>
      </p:sp>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07477" y="4966270"/>
            <a:ext cx="3513011" cy="1171004"/>
          </a:xfrm>
          <a:prstGeom prst="rect">
            <a:avLst/>
          </a:prstGeom>
          <a:solidFill>
            <a:schemeClr val="accent2">
              <a:lumMod val="60000"/>
              <a:lumOff val="40000"/>
            </a:schemeClr>
          </a:solidFill>
        </p:spPr>
      </p:pic>
    </p:spTree>
    <p:extLst>
      <p:ext uri="{BB962C8B-B14F-4D97-AF65-F5344CB8AC3E}">
        <p14:creationId xmlns:p14="http://schemas.microsoft.com/office/powerpoint/2010/main" val="2077590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TensorFlow</a:t>
            </a:r>
            <a:endParaRPr lang="zh-CN" altLang="en-US" dirty="0"/>
          </a:p>
        </p:txBody>
      </p:sp>
      <p:sp>
        <p:nvSpPr>
          <p:cNvPr id="3" name="内容占位符 2"/>
          <p:cNvSpPr>
            <a:spLocks noGrp="1"/>
          </p:cNvSpPr>
          <p:nvPr>
            <p:ph sz="quarter" idx="13"/>
          </p:nvPr>
        </p:nvSpPr>
        <p:spPr/>
        <p:txBody>
          <a:bodyPr/>
          <a:lstStyle/>
          <a:p>
            <a:r>
              <a:rPr lang="en-US" altLang="zh-CN" dirty="0" err="1" smtClean="0"/>
              <a:t>TensorFlow</a:t>
            </a:r>
            <a:r>
              <a:rPr lang="zh-CN" altLang="en-US" dirty="0" smtClean="0"/>
              <a:t>框架：</a:t>
            </a:r>
            <a:endParaRPr lang="en-US" altLang="zh-CN" dirty="0" smtClean="0"/>
          </a:p>
          <a:p>
            <a:pPr lvl="1"/>
            <a:r>
              <a:rPr lang="zh-CN" altLang="en-US" dirty="0" smtClean="0"/>
              <a:t>基于</a:t>
            </a:r>
            <a:r>
              <a:rPr lang="en-US" altLang="zh-CN" dirty="0" smtClean="0"/>
              <a:t>Google</a:t>
            </a:r>
            <a:r>
              <a:rPr lang="zh-CN" altLang="en-US" dirty="0" smtClean="0"/>
              <a:t>在</a:t>
            </a:r>
            <a:r>
              <a:rPr lang="en-US" altLang="zh-CN" dirty="0" smtClean="0"/>
              <a:t>2011</a:t>
            </a:r>
            <a:r>
              <a:rPr lang="zh-CN" altLang="en-US" dirty="0" smtClean="0"/>
              <a:t>年开发的基础架构</a:t>
            </a:r>
            <a:r>
              <a:rPr lang="en-US" altLang="zh-CN" dirty="0" err="1" smtClean="0"/>
              <a:t>DistBelief</a:t>
            </a:r>
            <a:r>
              <a:rPr lang="zh-CN" altLang="en-US" dirty="0" smtClean="0"/>
              <a:t>构建</a:t>
            </a:r>
            <a:endParaRPr lang="en-US" altLang="zh-CN" dirty="0" smtClean="0"/>
          </a:p>
          <a:p>
            <a:pPr lvl="1"/>
            <a:r>
              <a:rPr lang="zh-CN" altLang="en-US" dirty="0"/>
              <a:t>应用</a:t>
            </a:r>
            <a:r>
              <a:rPr lang="zh-CN" altLang="en-US" dirty="0" smtClean="0"/>
              <a:t>于所有实现机器学习的</a:t>
            </a:r>
            <a:r>
              <a:rPr lang="en-US" altLang="zh-CN" dirty="0" smtClean="0"/>
              <a:t>Google</a:t>
            </a:r>
            <a:r>
              <a:rPr lang="zh-CN" altLang="en-US" dirty="0" smtClean="0"/>
              <a:t>应用程序</a:t>
            </a:r>
            <a:endParaRPr lang="en-US" altLang="zh-CN" dirty="0" smtClean="0"/>
          </a:p>
          <a:p>
            <a:pPr lvl="1"/>
            <a:r>
              <a:rPr lang="zh-CN" altLang="en-US" dirty="0" smtClean="0"/>
              <a:t>继承了</a:t>
            </a:r>
            <a:r>
              <a:rPr lang="en-US" altLang="zh-CN" dirty="0" err="1" smtClean="0"/>
              <a:t>Theano</a:t>
            </a:r>
            <a:r>
              <a:rPr lang="zh-CN" altLang="en-US" dirty="0" smtClean="0"/>
              <a:t>的开发者与设计理念</a:t>
            </a:r>
            <a:endParaRPr lang="en-US" altLang="zh-CN" dirty="0" smtClean="0"/>
          </a:p>
          <a:p>
            <a:pPr lvl="1"/>
            <a:r>
              <a:rPr lang="zh-CN" altLang="en-US" dirty="0" smtClean="0"/>
              <a:t>支持多种编程语言，如</a:t>
            </a:r>
            <a:r>
              <a:rPr lang="en-US" altLang="zh-CN" dirty="0" smtClean="0"/>
              <a:t>C++</a:t>
            </a:r>
            <a:r>
              <a:rPr lang="zh-CN" altLang="en-US" dirty="0" smtClean="0"/>
              <a:t>，</a:t>
            </a:r>
            <a:r>
              <a:rPr lang="en-US" altLang="zh-CN" dirty="0" smtClean="0"/>
              <a:t>Java</a:t>
            </a:r>
            <a:r>
              <a:rPr lang="zh-CN" altLang="en-US" dirty="0" smtClean="0"/>
              <a:t>，</a:t>
            </a:r>
            <a:r>
              <a:rPr lang="en-US" altLang="zh-CN" dirty="0" smtClean="0"/>
              <a:t>Go</a:t>
            </a:r>
            <a:r>
              <a:rPr lang="zh-CN" altLang="en-US" dirty="0" smtClean="0"/>
              <a:t>，</a:t>
            </a:r>
            <a:r>
              <a:rPr lang="en-US" altLang="zh-CN" dirty="0" smtClean="0"/>
              <a:t>R</a:t>
            </a:r>
            <a:r>
              <a:rPr lang="zh-CN" altLang="en-US" dirty="0" smtClean="0"/>
              <a:t>等</a:t>
            </a:r>
            <a:endParaRPr lang="en-US" altLang="zh-CN" dirty="0" smtClean="0"/>
          </a:p>
          <a:p>
            <a:pPr lvl="1"/>
            <a:r>
              <a:rPr lang="zh-CN" altLang="en-US" dirty="0" smtClean="0"/>
              <a:t>支持多</a:t>
            </a:r>
            <a:r>
              <a:rPr lang="zh-CN" altLang="en-US" dirty="0"/>
              <a:t>种</a:t>
            </a:r>
            <a:r>
              <a:rPr lang="zh-CN" altLang="en-US" dirty="0" smtClean="0"/>
              <a:t>运行平台和多版本</a:t>
            </a:r>
            <a:r>
              <a:rPr lang="en-US" altLang="zh-CN" dirty="0" smtClean="0"/>
              <a:t>Windows</a:t>
            </a:r>
            <a:r>
              <a:rPr lang="zh-CN" altLang="en-US" dirty="0" smtClean="0"/>
              <a:t>操作系统</a:t>
            </a:r>
            <a:endParaRPr lang="en-US" altLang="zh-CN" dirty="0" smtClean="0"/>
          </a:p>
          <a:p>
            <a:pPr lvl="1"/>
            <a:r>
              <a:rPr lang="zh-CN" altLang="en-US" dirty="0" smtClean="0"/>
              <a:t>当前最流行的深度学习框架</a:t>
            </a:r>
            <a:endParaRPr lang="en-US" altLang="zh-CN" dirty="0" smtClean="0"/>
          </a:p>
          <a:p>
            <a:r>
              <a:rPr lang="en-US" altLang="zh-CN" dirty="0" err="1" smtClean="0"/>
              <a:t>TensorFlow</a:t>
            </a:r>
            <a:r>
              <a:rPr lang="zh-CN" altLang="en-US" dirty="0" smtClean="0"/>
              <a:t>注意事项：</a:t>
            </a:r>
            <a:endParaRPr lang="en-US" altLang="zh-CN" dirty="0" smtClean="0"/>
          </a:p>
          <a:p>
            <a:pPr lvl="1"/>
            <a:r>
              <a:rPr lang="zh-CN" altLang="en-US" dirty="0" smtClean="0"/>
              <a:t>接口不断迭代，版本不兼容问题</a:t>
            </a:r>
            <a:endParaRPr lang="en-US" altLang="zh-CN" dirty="0" smtClean="0"/>
          </a:p>
          <a:p>
            <a:pPr lvl="1"/>
            <a:r>
              <a:rPr lang="zh-CN" altLang="en-US" dirty="0" smtClean="0"/>
              <a:t>底层运行机制复杂</a:t>
            </a:r>
            <a:endParaRPr lang="en-US" altLang="zh-CN" dirty="0" smtClean="0"/>
          </a:p>
          <a:p>
            <a:pPr lvl="1"/>
            <a:r>
              <a:rPr lang="zh-CN" altLang="en-US" dirty="0"/>
              <a:t>同</a:t>
            </a:r>
            <a:r>
              <a:rPr lang="zh-CN" altLang="en-US" dirty="0" smtClean="0"/>
              <a:t>一功能实现方法良莠不齐</a:t>
            </a:r>
            <a:endParaRPr lang="en-US" altLang="zh-CN" dirty="0" smtClean="0"/>
          </a:p>
          <a:p>
            <a:pPr lvl="1"/>
            <a:r>
              <a:rPr lang="zh-CN" altLang="en-US" dirty="0" smtClean="0"/>
              <a:t>较多难以理解的抽象概念</a:t>
            </a:r>
            <a:endParaRPr lang="en-US" altLang="zh-CN" dirty="0" smtClean="0"/>
          </a:p>
          <a:p>
            <a:r>
              <a:rPr lang="en-US" altLang="zh-CN" dirty="0" err="1" smtClean="0"/>
              <a:t>TensorFlow</a:t>
            </a:r>
            <a:r>
              <a:rPr lang="zh-CN" altLang="en-US" dirty="0" smtClean="0"/>
              <a:t>官方网站：</a:t>
            </a:r>
            <a:r>
              <a:rPr lang="en-US" altLang="zh-CN" dirty="0">
                <a:hlinkClick r:id="rId3"/>
              </a:rPr>
              <a:t>https://tensorflow.google.cn/</a:t>
            </a:r>
            <a:endParaRPr lang="en-US" altLang="zh-CN" dirty="0" smtClean="0"/>
          </a:p>
          <a:p>
            <a:pPr lvl="1"/>
            <a:endParaRPr lang="zh-CN" altLang="en-US" dirty="0"/>
          </a:p>
        </p:txBody>
      </p:sp>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81549" y="2117502"/>
            <a:ext cx="4738939" cy="3032567"/>
          </a:xfrm>
          <a:prstGeom prst="rect">
            <a:avLst/>
          </a:prstGeom>
        </p:spPr>
      </p:pic>
    </p:spTree>
    <p:extLst>
      <p:ext uri="{BB962C8B-B14F-4D97-AF65-F5344CB8AC3E}">
        <p14:creationId xmlns:p14="http://schemas.microsoft.com/office/powerpoint/2010/main" val="3312485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MXNet</a:t>
            </a:r>
            <a:endParaRPr lang="zh-CN" altLang="en-US" dirty="0"/>
          </a:p>
        </p:txBody>
      </p:sp>
      <p:sp>
        <p:nvSpPr>
          <p:cNvPr id="3" name="内容占位符 2"/>
          <p:cNvSpPr>
            <a:spLocks noGrp="1"/>
          </p:cNvSpPr>
          <p:nvPr>
            <p:ph sz="quarter" idx="13"/>
          </p:nvPr>
        </p:nvSpPr>
        <p:spPr/>
        <p:txBody>
          <a:bodyPr/>
          <a:lstStyle/>
          <a:p>
            <a:r>
              <a:rPr lang="en-US" altLang="zh-CN" dirty="0" err="1" smtClean="0"/>
              <a:t>MXNet</a:t>
            </a:r>
            <a:r>
              <a:rPr lang="zh-CN" altLang="en-US" dirty="0" smtClean="0"/>
              <a:t>框架：</a:t>
            </a:r>
            <a:endParaRPr lang="en-US" altLang="zh-CN" dirty="0" smtClean="0"/>
          </a:p>
          <a:p>
            <a:pPr lvl="1"/>
            <a:r>
              <a:rPr lang="zh-CN" altLang="en-US" dirty="0" smtClean="0"/>
              <a:t>由亚马逊科学家李沐及团队开发</a:t>
            </a:r>
            <a:endParaRPr lang="en-US" altLang="zh-CN" dirty="0" smtClean="0"/>
          </a:p>
          <a:p>
            <a:pPr lvl="1"/>
            <a:r>
              <a:rPr lang="zh-CN" altLang="en-US" dirty="0" smtClean="0"/>
              <a:t>类似</a:t>
            </a:r>
            <a:r>
              <a:rPr lang="en-US" altLang="zh-CN" dirty="0" err="1" smtClean="0"/>
              <a:t>Theano</a:t>
            </a:r>
            <a:r>
              <a:rPr lang="zh-CN" altLang="en-US" dirty="0" smtClean="0"/>
              <a:t>和</a:t>
            </a:r>
            <a:r>
              <a:rPr lang="en-US" altLang="zh-CN" dirty="0" err="1" smtClean="0"/>
              <a:t>TensorFlow</a:t>
            </a:r>
            <a:r>
              <a:rPr lang="zh-CN" altLang="en-US" dirty="0" smtClean="0"/>
              <a:t>的数据流图</a:t>
            </a:r>
            <a:endParaRPr lang="en-US" altLang="zh-CN" dirty="0" smtClean="0"/>
          </a:p>
          <a:p>
            <a:pPr lvl="1"/>
            <a:r>
              <a:rPr lang="zh-CN" altLang="en-US" dirty="0" smtClean="0"/>
              <a:t>支持多</a:t>
            </a:r>
            <a:r>
              <a:rPr lang="en-US" altLang="zh-CN" dirty="0" smtClean="0"/>
              <a:t>GPU</a:t>
            </a:r>
            <a:r>
              <a:rPr lang="zh-CN" altLang="en-US" dirty="0" smtClean="0"/>
              <a:t>架构</a:t>
            </a:r>
            <a:endParaRPr lang="en-US" altLang="zh-CN" dirty="0" smtClean="0"/>
          </a:p>
          <a:p>
            <a:pPr lvl="1"/>
            <a:r>
              <a:rPr lang="zh-CN" altLang="en-US" dirty="0" smtClean="0"/>
              <a:t>类似</a:t>
            </a:r>
            <a:r>
              <a:rPr lang="en-US" altLang="zh-CN" dirty="0" err="1" smtClean="0"/>
              <a:t>Lasagne</a:t>
            </a:r>
            <a:r>
              <a:rPr lang="zh-CN" altLang="en-US" dirty="0" smtClean="0"/>
              <a:t>和</a:t>
            </a:r>
            <a:r>
              <a:rPr lang="en-US" altLang="zh-CN" dirty="0" smtClean="0"/>
              <a:t>Blocks</a:t>
            </a:r>
            <a:r>
              <a:rPr lang="zh-CN" altLang="en-US" dirty="0" smtClean="0"/>
              <a:t>的高级别模型构建块</a:t>
            </a:r>
            <a:endParaRPr lang="en-US" altLang="zh-CN" dirty="0" smtClean="0"/>
          </a:p>
          <a:p>
            <a:pPr lvl="1"/>
            <a:r>
              <a:rPr lang="zh-CN" altLang="en-US" dirty="0" smtClean="0"/>
              <a:t>提供多种编程语言接口</a:t>
            </a:r>
            <a:endParaRPr lang="en-US" altLang="zh-CN" dirty="0" smtClean="0"/>
          </a:p>
          <a:p>
            <a:pPr lvl="1"/>
            <a:r>
              <a:rPr lang="zh-CN" altLang="en-US" dirty="0"/>
              <a:t>超强分布式、</a:t>
            </a:r>
            <a:r>
              <a:rPr lang="zh-CN" altLang="en-US" dirty="0" smtClean="0"/>
              <a:t>内存</a:t>
            </a:r>
            <a:r>
              <a:rPr lang="en-US" altLang="zh-CN" dirty="0" smtClean="0"/>
              <a:t>/</a:t>
            </a:r>
            <a:r>
              <a:rPr lang="zh-CN" altLang="en-US" dirty="0"/>
              <a:t>显存</a:t>
            </a:r>
            <a:r>
              <a:rPr lang="zh-CN" altLang="en-US" dirty="0" smtClean="0"/>
              <a:t>优化能力</a:t>
            </a:r>
            <a:endParaRPr lang="en-US" altLang="zh-CN" dirty="0" smtClean="0"/>
          </a:p>
          <a:p>
            <a:pPr lvl="1"/>
            <a:r>
              <a:rPr lang="zh-CN" altLang="en-US" dirty="0" smtClean="0"/>
              <a:t>分布式环境下明显由于其他框架</a:t>
            </a:r>
            <a:endParaRPr lang="en-US" altLang="zh-CN" dirty="0" smtClean="0"/>
          </a:p>
          <a:p>
            <a:pPr lvl="1"/>
            <a:r>
              <a:rPr lang="zh-CN" altLang="en-US" dirty="0" smtClean="0"/>
              <a:t>适合云平台使用</a:t>
            </a:r>
            <a:endParaRPr lang="en-US" altLang="zh-CN" dirty="0" smtClean="0"/>
          </a:p>
          <a:p>
            <a:r>
              <a:rPr lang="en-US" altLang="zh-CN" dirty="0" err="1" smtClean="0"/>
              <a:t>MXNet</a:t>
            </a:r>
            <a:r>
              <a:rPr lang="zh-CN" altLang="en-US" dirty="0" smtClean="0"/>
              <a:t>缺点：</a:t>
            </a:r>
            <a:endParaRPr lang="en-US" altLang="zh-CN" dirty="0" smtClean="0"/>
          </a:p>
          <a:p>
            <a:pPr lvl="1"/>
            <a:r>
              <a:rPr lang="zh-CN" altLang="en-US" dirty="0"/>
              <a:t>推广</a:t>
            </a:r>
            <a:r>
              <a:rPr lang="zh-CN" altLang="en-US" dirty="0" smtClean="0"/>
              <a:t>力度不够，接口文档不完善</a:t>
            </a:r>
            <a:endParaRPr lang="en-US" altLang="zh-CN" dirty="0" smtClean="0"/>
          </a:p>
          <a:p>
            <a:pPr lvl="1"/>
            <a:r>
              <a:rPr lang="zh-CN" altLang="en-US" dirty="0" smtClean="0"/>
              <a:t>文档比较混乱</a:t>
            </a:r>
            <a:endParaRPr lang="en-US" altLang="zh-CN" dirty="0" smtClean="0"/>
          </a:p>
          <a:p>
            <a:r>
              <a:rPr lang="en-US" altLang="zh-CN" dirty="0" err="1" smtClean="0"/>
              <a:t>MXNet</a:t>
            </a:r>
            <a:r>
              <a:rPr lang="zh-CN" altLang="en-US" dirty="0" smtClean="0"/>
              <a:t>官方网站：</a:t>
            </a:r>
            <a:r>
              <a:rPr lang="en-US" altLang="zh-CN" dirty="0">
                <a:hlinkClick r:id="rId3"/>
              </a:rPr>
              <a:t> https://mxnet.apache.org/</a:t>
            </a:r>
            <a:endParaRPr lang="zh-CN" altLang="en-US" dirty="0"/>
          </a:p>
        </p:txBody>
      </p:sp>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540184" y="4774019"/>
            <a:ext cx="3980304" cy="1363255"/>
          </a:xfrm>
          <a:prstGeom prst="rect">
            <a:avLst/>
          </a:prstGeom>
          <a:solidFill>
            <a:srgbClr val="038CCB"/>
          </a:solidFill>
        </p:spPr>
      </p:pic>
    </p:spTree>
    <p:extLst>
      <p:ext uri="{BB962C8B-B14F-4D97-AF65-F5344CB8AC3E}">
        <p14:creationId xmlns:p14="http://schemas.microsoft.com/office/powerpoint/2010/main" val="1723631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Keras</a:t>
            </a:r>
            <a:endParaRPr lang="zh-CN" altLang="en-US" dirty="0"/>
          </a:p>
        </p:txBody>
      </p:sp>
      <p:sp>
        <p:nvSpPr>
          <p:cNvPr id="3" name="内容占位符 2"/>
          <p:cNvSpPr>
            <a:spLocks noGrp="1"/>
          </p:cNvSpPr>
          <p:nvPr>
            <p:ph sz="quarter" idx="13"/>
          </p:nvPr>
        </p:nvSpPr>
        <p:spPr/>
        <p:txBody>
          <a:bodyPr/>
          <a:lstStyle/>
          <a:p>
            <a:r>
              <a:rPr lang="en-US" altLang="zh-CN" dirty="0" err="1" smtClean="0"/>
              <a:t>Keras</a:t>
            </a:r>
            <a:r>
              <a:rPr lang="zh-CN" altLang="en-US" dirty="0"/>
              <a:t> </a:t>
            </a:r>
            <a:r>
              <a:rPr lang="en-US" altLang="zh-CN" dirty="0" smtClean="0"/>
              <a:t>API</a:t>
            </a:r>
            <a:r>
              <a:rPr lang="zh-CN" altLang="en-US" dirty="0" smtClean="0"/>
              <a:t>：</a:t>
            </a:r>
            <a:endParaRPr lang="en-US" altLang="zh-CN" dirty="0" smtClean="0"/>
          </a:p>
          <a:p>
            <a:pPr lvl="1"/>
            <a:r>
              <a:rPr lang="zh-CN" altLang="en-US" dirty="0" smtClean="0"/>
              <a:t>高层神经网络</a:t>
            </a:r>
            <a:r>
              <a:rPr lang="en-US" altLang="zh-CN" dirty="0" smtClean="0"/>
              <a:t>API</a:t>
            </a:r>
            <a:r>
              <a:rPr lang="zh-CN" altLang="en-US" dirty="0" smtClean="0"/>
              <a:t>，由</a:t>
            </a:r>
            <a:r>
              <a:rPr lang="en-US" altLang="zh-CN" dirty="0" smtClean="0"/>
              <a:t>Python</a:t>
            </a:r>
            <a:r>
              <a:rPr lang="zh-CN" altLang="en-US" dirty="0" smtClean="0"/>
              <a:t>编写，</a:t>
            </a:r>
            <a:r>
              <a:rPr lang="en-US" altLang="zh-CN" dirty="0" err="1" smtClean="0"/>
              <a:t>TensorFlow</a:t>
            </a:r>
            <a:r>
              <a:rPr lang="zh-CN" altLang="en-US" dirty="0" smtClean="0"/>
              <a:t>、</a:t>
            </a:r>
            <a:r>
              <a:rPr lang="en-US" altLang="zh-CN" dirty="0" err="1" smtClean="0"/>
              <a:t>Theano</a:t>
            </a:r>
            <a:r>
              <a:rPr lang="zh-CN" altLang="en-US" dirty="0" smtClean="0"/>
              <a:t>及</a:t>
            </a:r>
            <a:r>
              <a:rPr lang="en-US" altLang="zh-CN" dirty="0" smtClean="0"/>
              <a:t>CNTK</a:t>
            </a:r>
            <a:r>
              <a:rPr lang="zh-CN" altLang="en-US" dirty="0" smtClean="0"/>
              <a:t>作为后端</a:t>
            </a:r>
            <a:endParaRPr lang="en-US" altLang="zh-CN" dirty="0" smtClean="0"/>
          </a:p>
          <a:p>
            <a:pPr lvl="1"/>
            <a:r>
              <a:rPr lang="zh-CN" altLang="en-US" dirty="0"/>
              <a:t>最</a:t>
            </a:r>
            <a:r>
              <a:rPr lang="zh-CN" altLang="en-US" dirty="0" smtClean="0"/>
              <a:t>容易上手的深度学习框架，提供一致且简洁的</a:t>
            </a:r>
            <a:r>
              <a:rPr lang="en-US" altLang="zh-CN" dirty="0" smtClean="0"/>
              <a:t>API</a:t>
            </a:r>
          </a:p>
          <a:p>
            <a:pPr lvl="1"/>
            <a:r>
              <a:rPr lang="zh-CN" altLang="en-US" dirty="0" smtClean="0"/>
              <a:t>构建于第三方框架上，封装为各种接口减少工作量</a:t>
            </a:r>
            <a:endParaRPr lang="en-US" altLang="zh-CN" dirty="0" smtClean="0"/>
          </a:p>
          <a:p>
            <a:r>
              <a:rPr lang="en-US" altLang="zh-CN" dirty="0" err="1" smtClean="0"/>
              <a:t>Keras</a:t>
            </a:r>
            <a:r>
              <a:rPr lang="zh-CN" altLang="en-US" dirty="0" smtClean="0"/>
              <a:t>缺点：</a:t>
            </a:r>
            <a:endParaRPr lang="en-US" altLang="zh-CN" dirty="0" smtClean="0"/>
          </a:p>
          <a:p>
            <a:pPr lvl="1"/>
            <a:r>
              <a:rPr lang="zh-CN" altLang="en-US" dirty="0" smtClean="0"/>
              <a:t>为了屏蔽后端差异性进行层层封装，丧失灵活性</a:t>
            </a:r>
            <a:endParaRPr lang="en-US" altLang="zh-CN" dirty="0" smtClean="0"/>
          </a:p>
          <a:p>
            <a:pPr lvl="1"/>
            <a:r>
              <a:rPr lang="zh-CN" altLang="en-US" dirty="0" smtClean="0"/>
              <a:t>过度封装使程序运行缓慢</a:t>
            </a:r>
            <a:endParaRPr lang="en-US" altLang="zh-CN" dirty="0" smtClean="0"/>
          </a:p>
          <a:p>
            <a:r>
              <a:rPr lang="en-US" altLang="zh-CN" dirty="0" err="1" smtClean="0"/>
              <a:t>Keras</a:t>
            </a:r>
            <a:r>
              <a:rPr lang="zh-CN" altLang="en-US" dirty="0" smtClean="0"/>
              <a:t>官方网站：</a:t>
            </a:r>
            <a:r>
              <a:rPr lang="en-US" altLang="zh-CN" dirty="0">
                <a:hlinkClick r:id="rId3"/>
              </a:rPr>
              <a:t>https://keras.io/</a:t>
            </a:r>
            <a:endParaRPr lang="en-US" altLang="zh-CN" dirty="0" smtClean="0"/>
          </a:p>
          <a:p>
            <a:pPr lvl="1"/>
            <a:endParaRPr lang="zh-CN" altLang="en-US" dirty="0"/>
          </a:p>
        </p:txBody>
      </p:sp>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15111" y="4453715"/>
            <a:ext cx="5805377" cy="1683559"/>
          </a:xfrm>
          <a:prstGeom prst="rect">
            <a:avLst/>
          </a:prstGeom>
        </p:spPr>
      </p:pic>
    </p:spTree>
    <p:extLst>
      <p:ext uri="{BB962C8B-B14F-4D97-AF65-F5344CB8AC3E}">
        <p14:creationId xmlns:p14="http://schemas.microsoft.com/office/powerpoint/2010/main" val="39553091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PyTorch</a:t>
            </a:r>
            <a:endParaRPr lang="zh-CN" altLang="en-US" dirty="0"/>
          </a:p>
        </p:txBody>
      </p:sp>
      <p:sp>
        <p:nvSpPr>
          <p:cNvPr id="3" name="内容占位符 2"/>
          <p:cNvSpPr>
            <a:spLocks noGrp="1"/>
          </p:cNvSpPr>
          <p:nvPr>
            <p:ph sz="quarter" idx="13"/>
          </p:nvPr>
        </p:nvSpPr>
        <p:spPr/>
        <p:txBody>
          <a:bodyPr/>
          <a:lstStyle/>
          <a:p>
            <a:r>
              <a:rPr lang="en-US" altLang="zh-CN" dirty="0" err="1" smtClean="0"/>
              <a:t>PyTorch</a:t>
            </a:r>
            <a:r>
              <a:rPr lang="zh-CN" altLang="en-US" dirty="0" smtClean="0"/>
              <a:t>框架：</a:t>
            </a:r>
            <a:endParaRPr lang="en-US" altLang="zh-CN" dirty="0" smtClean="0"/>
          </a:p>
          <a:p>
            <a:pPr lvl="1"/>
            <a:r>
              <a:rPr lang="zh-CN" altLang="en-US" dirty="0" smtClean="0"/>
              <a:t>由</a:t>
            </a:r>
            <a:r>
              <a:rPr lang="en-US" altLang="zh-CN" dirty="0" smtClean="0"/>
              <a:t>Facebook </a:t>
            </a:r>
            <a:r>
              <a:rPr lang="en-US" altLang="zh-CN" dirty="0"/>
              <a:t>AI</a:t>
            </a:r>
            <a:r>
              <a:rPr lang="zh-CN" altLang="en-US" dirty="0" smtClean="0"/>
              <a:t>研究院基于</a:t>
            </a:r>
            <a:r>
              <a:rPr lang="en-US" altLang="zh-CN" dirty="0" smtClean="0"/>
              <a:t>Torch</a:t>
            </a:r>
            <a:r>
              <a:rPr lang="zh-CN" altLang="en-US" dirty="0" smtClean="0"/>
              <a:t>推出</a:t>
            </a:r>
            <a:endParaRPr lang="en-US" altLang="zh-CN" dirty="0" smtClean="0"/>
          </a:p>
          <a:p>
            <a:pPr lvl="1"/>
            <a:r>
              <a:rPr lang="en-US" altLang="zh-CN" dirty="0" smtClean="0"/>
              <a:t>Python</a:t>
            </a:r>
            <a:r>
              <a:rPr lang="zh-CN" altLang="en-US" dirty="0" smtClean="0"/>
              <a:t>优先的深度学习框架</a:t>
            </a:r>
            <a:endParaRPr lang="en-US" altLang="zh-CN" dirty="0" smtClean="0"/>
          </a:p>
          <a:p>
            <a:pPr lvl="1"/>
            <a:r>
              <a:rPr lang="zh-CN" altLang="en-US" dirty="0"/>
              <a:t>设计追求最少的封装</a:t>
            </a:r>
            <a:endParaRPr lang="en-US" altLang="zh-CN" dirty="0"/>
          </a:p>
          <a:p>
            <a:pPr lvl="1"/>
            <a:r>
              <a:rPr lang="en-US" altLang="zh-CN" dirty="0" smtClean="0"/>
              <a:t>GPU</a:t>
            </a:r>
            <a:r>
              <a:rPr lang="zh-CN" altLang="en-US" dirty="0" smtClean="0"/>
              <a:t>加速基础上实现张量和动态神经网络</a:t>
            </a:r>
            <a:endParaRPr lang="en-US" altLang="zh-CN" dirty="0" smtClean="0"/>
          </a:p>
          <a:p>
            <a:pPr lvl="1"/>
            <a:r>
              <a:rPr lang="en-US" altLang="zh-CN" dirty="0"/>
              <a:t>Facebook AI</a:t>
            </a:r>
            <a:r>
              <a:rPr lang="zh-CN" altLang="en-US" dirty="0" smtClean="0"/>
              <a:t>研究院推广支持，持续开发更新</a:t>
            </a:r>
            <a:endParaRPr lang="en-US" altLang="zh-CN" dirty="0" smtClean="0"/>
          </a:p>
          <a:p>
            <a:pPr lvl="1"/>
            <a:r>
              <a:rPr lang="zh-CN" altLang="en-US" dirty="0" smtClean="0"/>
              <a:t>动态图</a:t>
            </a:r>
            <a:r>
              <a:rPr lang="zh-CN" altLang="en-US" dirty="0"/>
              <a:t>，</a:t>
            </a:r>
            <a:r>
              <a:rPr lang="zh-CN" altLang="en-US" dirty="0" smtClean="0"/>
              <a:t>可扩展性强，相当简洁方便</a:t>
            </a:r>
            <a:endParaRPr lang="en-US" altLang="zh-CN" dirty="0" smtClean="0"/>
          </a:p>
          <a:p>
            <a:r>
              <a:rPr lang="en-US" altLang="zh-CN" dirty="0" err="1" smtClean="0"/>
              <a:t>PyTorch</a:t>
            </a:r>
            <a:r>
              <a:rPr lang="zh-CN" altLang="en-US" dirty="0" smtClean="0"/>
              <a:t>官方网站：</a:t>
            </a:r>
            <a:r>
              <a:rPr lang="en-US" altLang="zh-CN" dirty="0">
                <a:hlinkClick r:id="rId3"/>
              </a:rPr>
              <a:t>https://pytorch.org</a:t>
            </a:r>
            <a:r>
              <a:rPr lang="en-US" altLang="zh-CN" dirty="0" smtClean="0">
                <a:hlinkClick r:id="rId3"/>
              </a:rPr>
              <a:t>/</a:t>
            </a:r>
            <a:endParaRPr lang="en-US" altLang="zh-CN" dirty="0" smtClean="0"/>
          </a:p>
          <a:p>
            <a:endParaRPr lang="en-US" altLang="zh-CN" dirty="0" smtClean="0"/>
          </a:p>
          <a:p>
            <a:pPr lvl="2"/>
            <a:r>
              <a:rPr lang="en-US" altLang="zh-CN" dirty="0" err="1"/>
              <a:t>TensorFlow</a:t>
            </a:r>
            <a:r>
              <a:rPr lang="zh-CN" altLang="en-US" dirty="0" smtClean="0"/>
              <a:t>“</a:t>
            </a:r>
            <a:r>
              <a:rPr lang="en-US" altLang="zh-CN" dirty="0" smtClean="0"/>
              <a:t>Make </a:t>
            </a:r>
            <a:r>
              <a:rPr lang="en-US" altLang="zh-CN" dirty="0"/>
              <a:t>it complicated</a:t>
            </a:r>
            <a:r>
              <a:rPr lang="zh-CN" altLang="en-US" dirty="0"/>
              <a:t>”</a:t>
            </a:r>
            <a:endParaRPr lang="en-US" altLang="zh-CN" dirty="0"/>
          </a:p>
          <a:p>
            <a:pPr lvl="2"/>
            <a:r>
              <a:rPr lang="en-US" altLang="zh-CN" dirty="0" err="1" smtClean="0"/>
              <a:t>Keras</a:t>
            </a:r>
            <a:r>
              <a:rPr lang="zh-CN" altLang="en-US" dirty="0"/>
              <a:t>“</a:t>
            </a:r>
            <a:r>
              <a:rPr lang="en-US" altLang="zh-CN" dirty="0"/>
              <a:t>Make it </a:t>
            </a:r>
            <a:r>
              <a:rPr lang="en-US" altLang="zh-CN" dirty="0" smtClean="0"/>
              <a:t>complicated and hide it</a:t>
            </a:r>
            <a:r>
              <a:rPr lang="zh-CN" altLang="en-US" dirty="0" smtClean="0"/>
              <a:t>”</a:t>
            </a:r>
            <a:endParaRPr lang="en-US" altLang="zh-CN" dirty="0"/>
          </a:p>
          <a:p>
            <a:pPr lvl="2"/>
            <a:r>
              <a:rPr lang="en-US" altLang="zh-CN" dirty="0" err="1" smtClean="0"/>
              <a:t>PyTorch</a:t>
            </a:r>
            <a:r>
              <a:rPr lang="en-US" altLang="zh-CN" dirty="0" smtClean="0"/>
              <a:t> </a:t>
            </a:r>
            <a:r>
              <a:rPr lang="zh-CN" altLang="en-US" dirty="0" smtClean="0"/>
              <a:t>“</a:t>
            </a:r>
            <a:r>
              <a:rPr lang="en-US" altLang="zh-CN" dirty="0" smtClean="0"/>
              <a:t>Keep it simple and stupid</a:t>
            </a:r>
            <a:r>
              <a:rPr lang="zh-CN" altLang="en-US" dirty="0" smtClean="0"/>
              <a:t>”</a:t>
            </a:r>
            <a:endParaRPr lang="en-US" altLang="zh-CN" dirty="0" smtClean="0"/>
          </a:p>
          <a:p>
            <a:pPr lvl="1"/>
            <a:endParaRPr lang="zh-CN" altLang="en-US" dirty="0"/>
          </a:p>
        </p:txBody>
      </p:sp>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15088" y="2508249"/>
            <a:ext cx="5105400" cy="3629025"/>
          </a:xfrm>
          <a:prstGeom prst="rect">
            <a:avLst/>
          </a:prstGeom>
        </p:spPr>
      </p:pic>
    </p:spTree>
    <p:extLst>
      <p:ext uri="{BB962C8B-B14F-4D97-AF65-F5344CB8AC3E}">
        <p14:creationId xmlns:p14="http://schemas.microsoft.com/office/powerpoint/2010/main" val="79284497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Caffe</a:t>
            </a:r>
            <a:endParaRPr lang="zh-CN" altLang="en-US" dirty="0"/>
          </a:p>
        </p:txBody>
      </p:sp>
      <p:sp>
        <p:nvSpPr>
          <p:cNvPr id="3" name="内容占位符 2"/>
          <p:cNvSpPr>
            <a:spLocks noGrp="1"/>
          </p:cNvSpPr>
          <p:nvPr>
            <p:ph sz="quarter" idx="13"/>
          </p:nvPr>
        </p:nvSpPr>
        <p:spPr/>
        <p:txBody>
          <a:bodyPr/>
          <a:lstStyle/>
          <a:p>
            <a:r>
              <a:rPr lang="en-US" altLang="zh-CN" dirty="0" err="1" smtClean="0"/>
              <a:t>Caffe</a:t>
            </a:r>
            <a:r>
              <a:rPr lang="zh-CN" altLang="en-US" dirty="0" smtClean="0"/>
              <a:t>框架：</a:t>
            </a:r>
            <a:endParaRPr lang="en-US" altLang="zh-CN" dirty="0" smtClean="0"/>
          </a:p>
          <a:p>
            <a:pPr lvl="1"/>
            <a:r>
              <a:rPr lang="zh-CN" altLang="en-US" dirty="0" smtClean="0"/>
              <a:t>由</a:t>
            </a:r>
            <a:r>
              <a:rPr lang="zh-CN" altLang="en-US" dirty="0"/>
              <a:t>伯克利大学</a:t>
            </a:r>
            <a:r>
              <a:rPr lang="zh-CN" altLang="en-US" dirty="0" smtClean="0"/>
              <a:t>贾</a:t>
            </a:r>
            <a:r>
              <a:rPr lang="zh-CN" altLang="en-US" dirty="0"/>
              <a:t>杨清</a:t>
            </a:r>
            <a:r>
              <a:rPr lang="zh-CN" altLang="en-US" dirty="0" smtClean="0"/>
              <a:t>基于</a:t>
            </a:r>
            <a:r>
              <a:rPr lang="en-US" altLang="zh-CN" dirty="0" smtClean="0"/>
              <a:t>C++</a:t>
            </a:r>
            <a:r>
              <a:rPr lang="zh-CN" altLang="en-US" dirty="0" smtClean="0"/>
              <a:t>编写，提供命令行工具及</a:t>
            </a:r>
            <a:r>
              <a:rPr lang="en-US" altLang="zh-CN" dirty="0" err="1" smtClean="0"/>
              <a:t>Matlab</a:t>
            </a:r>
            <a:r>
              <a:rPr lang="zh-CN" altLang="en-US" dirty="0" smtClean="0"/>
              <a:t>和</a:t>
            </a:r>
            <a:r>
              <a:rPr lang="en-US" altLang="zh-CN" dirty="0" smtClean="0"/>
              <a:t>Python</a:t>
            </a:r>
            <a:r>
              <a:rPr lang="zh-CN" altLang="en-US" dirty="0" smtClean="0"/>
              <a:t>接口</a:t>
            </a:r>
            <a:endParaRPr lang="en-US" altLang="zh-CN" dirty="0" smtClean="0"/>
          </a:p>
          <a:p>
            <a:pPr lvl="1"/>
            <a:r>
              <a:rPr lang="zh-CN" altLang="en-US" dirty="0" smtClean="0"/>
              <a:t>流行的深度学习框架之一</a:t>
            </a:r>
            <a:endParaRPr lang="en-US" altLang="zh-CN" dirty="0" smtClean="0"/>
          </a:p>
          <a:p>
            <a:pPr lvl="1"/>
            <a:r>
              <a:rPr lang="zh-CN" altLang="en-US" dirty="0" smtClean="0"/>
              <a:t>不支持多机、跨平台、可扩展性差</a:t>
            </a:r>
            <a:endParaRPr lang="en-US" altLang="zh-CN" dirty="0" smtClean="0"/>
          </a:p>
          <a:p>
            <a:r>
              <a:rPr lang="en-US" altLang="zh-CN" dirty="0" err="1"/>
              <a:t>Caffe</a:t>
            </a:r>
            <a:r>
              <a:rPr lang="zh-CN" altLang="en-US" dirty="0"/>
              <a:t>注意事项</a:t>
            </a:r>
            <a:r>
              <a:rPr lang="zh-CN" altLang="en-US" dirty="0" smtClean="0"/>
              <a:t>：</a:t>
            </a:r>
            <a:endParaRPr lang="en-US" altLang="zh-CN" dirty="0" smtClean="0"/>
          </a:p>
          <a:p>
            <a:pPr lvl="1"/>
            <a:r>
              <a:rPr lang="zh-CN" altLang="en-US" dirty="0" smtClean="0"/>
              <a:t>大量依赖库的版本问题</a:t>
            </a:r>
            <a:endParaRPr lang="en-US" altLang="zh-CN" dirty="0" smtClean="0"/>
          </a:p>
          <a:p>
            <a:pPr lvl="1"/>
            <a:r>
              <a:rPr lang="zh-CN" altLang="en-US" dirty="0" smtClean="0"/>
              <a:t>实现新的层用</a:t>
            </a:r>
            <a:r>
              <a:rPr lang="en-US" altLang="zh-CN" dirty="0" smtClean="0"/>
              <a:t>C</a:t>
            </a:r>
            <a:r>
              <a:rPr lang="en-US" altLang="zh-CN" dirty="0"/>
              <a:t>++</a:t>
            </a:r>
            <a:r>
              <a:rPr lang="zh-CN" altLang="en-US" dirty="0" smtClean="0"/>
              <a:t>代码，运行在</a:t>
            </a:r>
            <a:r>
              <a:rPr lang="en-US" altLang="zh-CN" dirty="0" smtClean="0"/>
              <a:t>GPU</a:t>
            </a:r>
            <a:r>
              <a:rPr lang="zh-CN" altLang="en-US" dirty="0" smtClean="0"/>
              <a:t>上需要同时使用</a:t>
            </a:r>
            <a:r>
              <a:rPr lang="en-US" altLang="zh-CN" dirty="0" smtClean="0"/>
              <a:t>CUDA</a:t>
            </a:r>
            <a:endParaRPr lang="en-US" altLang="zh-CN" dirty="0"/>
          </a:p>
          <a:p>
            <a:r>
              <a:rPr lang="en-US" altLang="zh-CN" dirty="0" smtClean="0"/>
              <a:t>Caffe2</a:t>
            </a:r>
          </a:p>
          <a:p>
            <a:pPr lvl="1"/>
            <a:r>
              <a:rPr lang="zh-CN" altLang="en-US" dirty="0" smtClean="0"/>
              <a:t>出自</a:t>
            </a:r>
            <a:r>
              <a:rPr lang="en-US" altLang="zh-CN" dirty="0" smtClean="0"/>
              <a:t>Facebook AI</a:t>
            </a:r>
            <a:r>
              <a:rPr lang="zh-CN" altLang="en-US" dirty="0" smtClean="0"/>
              <a:t>研究院，</a:t>
            </a:r>
            <a:r>
              <a:rPr lang="zh-CN" altLang="en-US" dirty="0"/>
              <a:t>贾杨清仍是主要贡献</a:t>
            </a:r>
            <a:r>
              <a:rPr lang="zh-CN" altLang="en-US" dirty="0" smtClean="0"/>
              <a:t>者</a:t>
            </a:r>
            <a:endParaRPr lang="en-US" altLang="zh-CN" dirty="0" smtClean="0"/>
          </a:p>
          <a:p>
            <a:pPr lvl="1"/>
            <a:r>
              <a:rPr lang="zh-CN" altLang="en-US" dirty="0" smtClean="0"/>
              <a:t>优化运行速度、跨平台、可扩展性等</a:t>
            </a:r>
            <a:endParaRPr lang="en-US" altLang="zh-CN" dirty="0" smtClean="0"/>
          </a:p>
          <a:p>
            <a:pPr lvl="1"/>
            <a:r>
              <a:rPr lang="zh-CN" altLang="en-US" dirty="0" smtClean="0"/>
              <a:t>设计上与</a:t>
            </a:r>
            <a:r>
              <a:rPr lang="en-US" altLang="zh-CN" dirty="0" err="1" smtClean="0"/>
              <a:t>TensorFlow</a:t>
            </a:r>
            <a:r>
              <a:rPr lang="zh-CN" altLang="en-US" dirty="0" smtClean="0"/>
              <a:t>相似，目前已并入</a:t>
            </a:r>
            <a:r>
              <a:rPr lang="en-US" altLang="zh-CN" dirty="0" err="1" smtClean="0"/>
              <a:t>PyTorch</a:t>
            </a:r>
            <a:endParaRPr lang="en-US" altLang="zh-CN" dirty="0" smtClean="0"/>
          </a:p>
          <a:p>
            <a:r>
              <a:rPr lang="en-US" altLang="zh-CN" dirty="0" err="1" smtClean="0"/>
              <a:t>Caffe</a:t>
            </a:r>
            <a:r>
              <a:rPr lang="zh-CN" altLang="en-US" dirty="0" smtClean="0"/>
              <a:t>官方网站：</a:t>
            </a:r>
            <a:r>
              <a:rPr lang="en-US" altLang="zh-CN" dirty="0">
                <a:hlinkClick r:id="rId3"/>
              </a:rPr>
              <a:t>http://caffe.berkeleyvision.org/</a:t>
            </a:r>
            <a:endParaRPr lang="en-US" altLang="zh-CN" dirty="0" smtClean="0"/>
          </a:p>
        </p:txBody>
      </p:sp>
      <p:pic>
        <p:nvPicPr>
          <p:cNvPr id="4" name="图片 3"/>
          <p:cNvPicPr>
            <a:picLocks noChangeAspect="1"/>
          </p:cNvPicPr>
          <p:nvPr/>
        </p:nvPicPr>
        <p:blipFill>
          <a:blip r:embed="rId4"/>
          <a:stretch>
            <a:fillRect/>
          </a:stretch>
        </p:blipFill>
        <p:spPr>
          <a:xfrm>
            <a:off x="8697433" y="5354646"/>
            <a:ext cx="2823055" cy="782628"/>
          </a:xfrm>
          <a:prstGeom prst="rect">
            <a:avLst/>
          </a:prstGeom>
        </p:spPr>
      </p:pic>
    </p:spTree>
    <p:extLst>
      <p:ext uri="{BB962C8B-B14F-4D97-AF65-F5344CB8AC3E}">
        <p14:creationId xmlns:p14="http://schemas.microsoft.com/office/powerpoint/2010/main" val="163445541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7853AD29-4330-49E9-8BB1-F2974E6EB33B}"/>
              </a:ext>
            </a:extLst>
          </p:cNvPr>
          <p:cNvSpPr>
            <a:spLocks noGrp="1"/>
          </p:cNvSpPr>
          <p:nvPr>
            <p:ph type="title"/>
          </p:nvPr>
        </p:nvSpPr>
        <p:spPr/>
        <p:txBody>
          <a:bodyPr/>
          <a:lstStyle/>
          <a:p>
            <a:r>
              <a:rPr lang="en-US" altLang="zh-CN" dirty="0"/>
              <a:t>/</a:t>
            </a:r>
            <a:r>
              <a:rPr lang="en-US" altLang="zh-CN" dirty="0" smtClean="0"/>
              <a:t>02</a:t>
            </a:r>
            <a:endParaRPr lang="zh-CN" altLang="en-US" dirty="0"/>
          </a:p>
        </p:txBody>
      </p:sp>
      <p:sp>
        <p:nvSpPr>
          <p:cNvPr id="3" name="文本占位符 2">
            <a:extLst>
              <a:ext uri="{FF2B5EF4-FFF2-40B4-BE49-F238E27FC236}">
                <a16:creationId xmlns="" xmlns:a16="http://schemas.microsoft.com/office/drawing/2014/main" id="{271AD5FE-0452-46D3-A132-5A9EF58C7B33}"/>
              </a:ext>
            </a:extLst>
          </p:cNvPr>
          <p:cNvSpPr>
            <a:spLocks noGrp="1"/>
          </p:cNvSpPr>
          <p:nvPr>
            <p:ph type="body" idx="1"/>
          </p:nvPr>
        </p:nvSpPr>
        <p:spPr/>
        <p:txBody>
          <a:bodyPr/>
          <a:lstStyle/>
          <a:p>
            <a:r>
              <a:rPr lang="zh-CN" altLang="en-US" dirty="0" smtClean="0"/>
              <a:t>目标检测基本概念</a:t>
            </a:r>
            <a:endParaRPr lang="zh-CN" altLang="en-US" dirty="0"/>
          </a:p>
        </p:txBody>
      </p:sp>
    </p:spTree>
    <p:extLst>
      <p:ext uri="{BB962C8B-B14F-4D97-AF65-F5344CB8AC3E}">
        <p14:creationId xmlns:p14="http://schemas.microsoft.com/office/powerpoint/2010/main" val="22253326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目标检测基本概念</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pPr>
              <a:lnSpc>
                <a:spcPct val="125000"/>
              </a:lnSpc>
            </a:pPr>
            <a:r>
              <a:rPr lang="zh-CN" altLang="en-US" dirty="0" smtClean="0"/>
              <a:t>目标检测是多任务算法：</a:t>
            </a:r>
            <a:endParaRPr lang="en-US" altLang="zh-CN" dirty="0" smtClean="0"/>
          </a:p>
          <a:p>
            <a:pPr lvl="1"/>
            <a:r>
              <a:rPr lang="zh-CN" altLang="en-US" dirty="0"/>
              <a:t>确定</a:t>
            </a:r>
            <a:r>
              <a:rPr lang="zh-CN" altLang="en-US" dirty="0" smtClean="0"/>
              <a:t>目标分类</a:t>
            </a:r>
            <a:endParaRPr lang="en-US" altLang="zh-CN" dirty="0" smtClean="0"/>
          </a:p>
          <a:p>
            <a:pPr lvl="1"/>
            <a:r>
              <a:rPr lang="zh-CN" altLang="en-US" dirty="0" smtClean="0"/>
              <a:t>确定目标位置</a:t>
            </a:r>
            <a:endParaRPr lang="en-US" altLang="zh-CN" dirty="0" smtClean="0"/>
          </a:p>
          <a:p>
            <a:pPr>
              <a:lnSpc>
                <a:spcPct val="125000"/>
              </a:lnSpc>
            </a:pPr>
            <a:r>
              <a:rPr lang="zh-CN" altLang="en-US" dirty="0" smtClean="0"/>
              <a:t>核心概念词：</a:t>
            </a:r>
            <a:endParaRPr lang="en-US" altLang="zh-CN" dirty="0" smtClean="0"/>
          </a:p>
          <a:p>
            <a:pPr lvl="1"/>
            <a:r>
              <a:rPr lang="en-US" altLang="zh-CN" dirty="0" err="1" smtClean="0"/>
              <a:t>IoU</a:t>
            </a:r>
            <a:r>
              <a:rPr lang="zh-CN" altLang="en-US" dirty="0" smtClean="0"/>
              <a:t>计算</a:t>
            </a:r>
            <a:endParaRPr lang="en-US" altLang="zh-CN" dirty="0" smtClean="0"/>
          </a:p>
          <a:p>
            <a:pPr lvl="1"/>
            <a:r>
              <a:rPr lang="en-US" altLang="zh-CN" dirty="0" smtClean="0"/>
              <a:t>NMS</a:t>
            </a:r>
            <a:r>
              <a:rPr lang="zh-CN" altLang="en-US" dirty="0" smtClean="0"/>
              <a:t>操作</a:t>
            </a:r>
            <a:endParaRPr lang="en-US" altLang="zh-CN" dirty="0" smtClean="0"/>
          </a:p>
          <a:p>
            <a:pPr lvl="1"/>
            <a:r>
              <a:rPr lang="zh-CN" altLang="en-US" dirty="0" smtClean="0"/>
              <a:t>感受野</a:t>
            </a:r>
            <a:endParaRPr lang="en-US" altLang="zh-CN" dirty="0" smtClean="0"/>
          </a:p>
          <a:p>
            <a:pPr lvl="1"/>
            <a:r>
              <a:rPr lang="zh-CN" altLang="en-US" dirty="0" smtClean="0"/>
              <a:t>空洞卷积</a:t>
            </a:r>
            <a:endParaRPr lang="en-US" altLang="zh-CN" dirty="0" smtClean="0"/>
          </a:p>
          <a:p>
            <a:pPr lvl="1"/>
            <a:r>
              <a:rPr lang="zh-CN" altLang="en-US" dirty="0" smtClean="0"/>
              <a:t>评价指标</a:t>
            </a:r>
            <a:r>
              <a:rPr lang="en-US" altLang="zh-CN" dirty="0" err="1" smtClean="0"/>
              <a:t>mAP</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23260" y="3041162"/>
            <a:ext cx="8297228" cy="3096112"/>
          </a:xfrm>
          <a:prstGeom prst="rect">
            <a:avLst/>
          </a:prstGeom>
        </p:spPr>
      </p:pic>
    </p:spTree>
    <p:extLst>
      <p:ext uri="{BB962C8B-B14F-4D97-AF65-F5344CB8AC3E}">
        <p14:creationId xmlns:p14="http://schemas.microsoft.com/office/powerpoint/2010/main" val="32691252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IoU</a:t>
            </a:r>
            <a:r>
              <a:rPr lang="zh-CN" altLang="en-US" dirty="0" smtClean="0"/>
              <a:t>计算</a:t>
            </a:r>
            <a:endParaRPr lang="zh-CN" altLang="en-US" dirty="0"/>
          </a:p>
        </p:txBody>
      </p:sp>
      <p:sp>
        <p:nvSpPr>
          <p:cNvPr id="3" name="内容占位符 2"/>
          <p:cNvSpPr>
            <a:spLocks noGrp="1"/>
          </p:cNvSpPr>
          <p:nvPr>
            <p:ph sz="quarter" idx="13"/>
          </p:nvPr>
        </p:nvSpPr>
        <p:spPr/>
        <p:txBody>
          <a:bodyPr/>
          <a:lstStyle/>
          <a:p>
            <a:r>
              <a:rPr lang="en-US" altLang="zh-CN" dirty="0" err="1" smtClean="0"/>
              <a:t>IoU</a:t>
            </a:r>
            <a:r>
              <a:rPr lang="en-US" altLang="zh-CN" dirty="0" smtClean="0"/>
              <a:t>(Intersection over Union</a:t>
            </a:r>
            <a:r>
              <a:rPr lang="zh-CN" altLang="en-US" dirty="0" smtClean="0"/>
              <a:t>，交并比</a:t>
            </a:r>
            <a:r>
              <a:rPr lang="en-US" altLang="zh-CN" dirty="0" smtClean="0"/>
              <a:t>)</a:t>
            </a:r>
            <a:r>
              <a:rPr lang="zh-CN" altLang="en-US" dirty="0" smtClean="0"/>
              <a:t>计算：</a:t>
            </a:r>
            <a:endParaRPr lang="en-US" altLang="zh-CN" dirty="0" smtClean="0"/>
          </a:p>
          <a:p>
            <a:pPr lvl="1"/>
            <a:r>
              <a:rPr lang="zh-CN" altLang="en-US" dirty="0" smtClean="0"/>
              <a:t>比较真值框</a:t>
            </a:r>
            <a:r>
              <a:rPr lang="en-US" altLang="zh-CN" dirty="0"/>
              <a:t>(ground-truth bounding </a:t>
            </a:r>
            <a:r>
              <a:rPr lang="en-US" altLang="zh-CN" dirty="0" smtClean="0"/>
              <a:t>box)</a:t>
            </a:r>
            <a:r>
              <a:rPr lang="zh-CN" altLang="en-US" dirty="0" smtClean="0"/>
              <a:t>和预测框</a:t>
            </a:r>
            <a:r>
              <a:rPr lang="en-US" altLang="zh-CN" dirty="0"/>
              <a:t>(predicted bounding </a:t>
            </a:r>
            <a:r>
              <a:rPr lang="en-US" altLang="zh-CN" dirty="0" smtClean="0"/>
              <a:t>box)</a:t>
            </a:r>
            <a:r>
              <a:rPr lang="zh-CN" altLang="en-US" dirty="0" smtClean="0"/>
              <a:t>的距离、重叠面积等</a:t>
            </a:r>
            <a:endParaRPr lang="en-US" altLang="zh-CN" dirty="0" smtClean="0"/>
          </a:p>
          <a:p>
            <a:pPr lvl="1"/>
            <a:r>
              <a:rPr lang="zh-CN" altLang="en-US" dirty="0"/>
              <a:t>真值</a:t>
            </a:r>
            <a:r>
              <a:rPr lang="zh-CN" altLang="en-US" dirty="0" smtClean="0"/>
              <a:t>框与预测框相交面积除以相并面积</a:t>
            </a:r>
            <a:endParaRPr lang="en-US" altLang="zh-CN" dirty="0" smtClean="0"/>
          </a:p>
          <a:p>
            <a:pPr lvl="1"/>
            <a:r>
              <a:rPr lang="zh-CN" altLang="en-US" dirty="0" smtClean="0"/>
              <a:t>反映检测效果</a:t>
            </a:r>
            <a:endParaRPr lang="en-US" altLang="zh-CN" dirty="0" smtClean="0"/>
          </a:p>
          <a:p>
            <a:pPr lvl="1"/>
            <a:r>
              <a:rPr lang="zh-CN" altLang="en-US" dirty="0" smtClean="0"/>
              <a:t>尺度不变性</a:t>
            </a:r>
            <a:endParaRPr lang="en-US" altLang="zh-CN" dirty="0" smtClean="0"/>
          </a:p>
          <a:p>
            <a:pPr lvl="1"/>
            <a:endParaRPr lang="en-US" altLang="zh-CN" dirty="0" smtClean="0"/>
          </a:p>
          <a:p>
            <a:pPr lvl="1"/>
            <a:endParaRPr lang="zh-CN" alt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2061" y="2025374"/>
            <a:ext cx="6468428" cy="4111900"/>
          </a:xfrm>
          <a:prstGeom prst="rect">
            <a:avLst/>
          </a:prstGeom>
        </p:spPr>
      </p:pic>
    </p:spTree>
    <p:extLst>
      <p:ext uri="{BB962C8B-B14F-4D97-AF65-F5344CB8AC3E}">
        <p14:creationId xmlns:p14="http://schemas.microsoft.com/office/powerpoint/2010/main" val="1563820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IoU</a:t>
            </a:r>
            <a:r>
              <a:rPr lang="zh-CN" altLang="en-US" dirty="0" smtClean="0"/>
              <a:t>计算</a:t>
            </a:r>
            <a:endParaRPr lang="zh-CN" altLang="en-US" dirty="0"/>
          </a:p>
        </p:txBody>
      </p:sp>
      <p:sp>
        <p:nvSpPr>
          <p:cNvPr id="3" name="内容占位符 2"/>
          <p:cNvSpPr>
            <a:spLocks noGrp="1"/>
          </p:cNvSpPr>
          <p:nvPr>
            <p:ph sz="quarter" idx="13"/>
          </p:nvPr>
        </p:nvSpPr>
        <p:spPr/>
        <p:txBody>
          <a:bodyPr/>
          <a:lstStyle/>
          <a:p>
            <a:r>
              <a:rPr lang="en-US" altLang="zh-CN" dirty="0" err="1" smtClean="0"/>
              <a:t>IoU</a:t>
            </a:r>
            <a:r>
              <a:rPr lang="zh-CN" altLang="en-US" dirty="0" smtClean="0"/>
              <a:t>计算：</a:t>
            </a:r>
            <a:endParaRPr lang="en-US" altLang="zh-CN" dirty="0" smtClean="0"/>
          </a:p>
          <a:p>
            <a:pPr lvl="1"/>
            <a:r>
              <a:rPr lang="zh-CN" altLang="en-US" dirty="0" smtClean="0"/>
              <a:t>目前使用最广泛的检测框损失函数</a:t>
            </a:r>
            <a:endParaRPr lang="en-US" altLang="zh-CN" dirty="0" smtClean="0"/>
          </a:p>
          <a:p>
            <a:pPr lvl="1"/>
            <a:r>
              <a:rPr lang="zh-CN" altLang="en-US" dirty="0" smtClean="0"/>
              <a:t>一般阈值设为</a:t>
            </a:r>
            <a:r>
              <a:rPr lang="en-US" altLang="zh-CN" dirty="0" smtClean="0"/>
              <a:t>0.5</a:t>
            </a:r>
          </a:p>
          <a:p>
            <a:pPr lvl="1"/>
            <a:r>
              <a:rPr lang="en-US" altLang="zh-CN" dirty="0" err="1" smtClean="0"/>
              <a:t>GIoU</a:t>
            </a:r>
            <a:r>
              <a:rPr lang="zh-CN" altLang="en-US" dirty="0"/>
              <a:t>、</a:t>
            </a:r>
            <a:r>
              <a:rPr lang="en-US" altLang="zh-CN" dirty="0" err="1"/>
              <a:t>DIoU</a:t>
            </a:r>
            <a:r>
              <a:rPr lang="zh-CN" altLang="en-US" dirty="0"/>
              <a:t>、</a:t>
            </a:r>
            <a:r>
              <a:rPr lang="en-US" altLang="zh-CN" dirty="0" err="1"/>
              <a:t>CIoU</a:t>
            </a:r>
            <a:r>
              <a:rPr lang="zh-CN" altLang="en-US" dirty="0"/>
              <a:t>等</a:t>
            </a:r>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7706" y="3123564"/>
            <a:ext cx="5715000" cy="2362200"/>
          </a:xfrm>
          <a:prstGeom prst="rect">
            <a:avLst/>
          </a:prstGeom>
        </p:spPr>
      </p:pic>
    </p:spTree>
    <p:extLst>
      <p:ext uri="{BB962C8B-B14F-4D97-AF65-F5344CB8AC3E}">
        <p14:creationId xmlns:p14="http://schemas.microsoft.com/office/powerpoint/2010/main" val="22436992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NMS</a:t>
            </a:r>
            <a:r>
              <a:rPr lang="zh-CN" altLang="en-US" dirty="0" smtClean="0"/>
              <a:t>操作</a:t>
            </a:r>
            <a:endParaRPr lang="zh-CN" altLang="en-US" dirty="0"/>
          </a:p>
        </p:txBody>
      </p:sp>
      <p:sp>
        <p:nvSpPr>
          <p:cNvPr id="3" name="内容占位符 2"/>
          <p:cNvSpPr>
            <a:spLocks noGrp="1"/>
          </p:cNvSpPr>
          <p:nvPr>
            <p:ph sz="quarter" idx="13"/>
          </p:nvPr>
        </p:nvSpPr>
        <p:spPr/>
        <p:txBody>
          <a:bodyPr/>
          <a:lstStyle/>
          <a:p>
            <a:r>
              <a:rPr lang="en-US" altLang="zh-CN" dirty="0" smtClean="0"/>
              <a:t>NMS(Non </a:t>
            </a:r>
            <a:r>
              <a:rPr lang="en-US" altLang="zh-CN" dirty="0"/>
              <a:t>Maximum Suppression,</a:t>
            </a:r>
            <a:r>
              <a:rPr lang="zh-CN" altLang="en-US" dirty="0"/>
              <a:t>非极大值</a:t>
            </a:r>
            <a:r>
              <a:rPr lang="zh-CN" altLang="en-US" dirty="0" smtClean="0"/>
              <a:t>抑制</a:t>
            </a:r>
            <a:r>
              <a:rPr lang="en-US" altLang="zh-CN" dirty="0" smtClean="0"/>
              <a:t>)</a:t>
            </a:r>
            <a:r>
              <a:rPr lang="zh-CN" altLang="en-US" dirty="0" smtClean="0"/>
              <a:t>操作</a:t>
            </a:r>
            <a:r>
              <a:rPr lang="en-US" altLang="zh-CN" dirty="0" smtClean="0"/>
              <a:t>:</a:t>
            </a:r>
          </a:p>
          <a:p>
            <a:pPr lvl="1"/>
            <a:r>
              <a:rPr lang="zh-CN" altLang="en-US" dirty="0" smtClean="0"/>
              <a:t>常用的后处理操作</a:t>
            </a:r>
            <a:endParaRPr lang="en-US" altLang="zh-CN" dirty="0" smtClean="0"/>
          </a:p>
          <a:p>
            <a:pPr lvl="1"/>
            <a:r>
              <a:rPr lang="zh-CN" altLang="en-US" dirty="0" smtClean="0"/>
              <a:t>针对某一个目标判断检测框有效性</a:t>
            </a:r>
            <a:endParaRPr lang="en-US" altLang="zh-CN" dirty="0" smtClean="0"/>
          </a:p>
          <a:p>
            <a:pPr lvl="1"/>
            <a:endParaRPr lang="zh-CN" altLang="en-US" dirty="0"/>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47922" y="2288824"/>
            <a:ext cx="7572566" cy="3848450"/>
          </a:xfrm>
          <a:prstGeom prst="rect">
            <a:avLst/>
          </a:prstGeom>
        </p:spPr>
      </p:pic>
    </p:spTree>
    <p:extLst>
      <p:ext uri="{BB962C8B-B14F-4D97-AF65-F5344CB8AC3E}">
        <p14:creationId xmlns:p14="http://schemas.microsoft.com/office/powerpoint/2010/main" val="14760650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NMS</a:t>
            </a:r>
            <a:r>
              <a:rPr lang="zh-CN" altLang="en-US" dirty="0" smtClean="0"/>
              <a:t>操作</a:t>
            </a:r>
            <a:endParaRPr lang="zh-CN" altLang="en-US" dirty="0"/>
          </a:p>
        </p:txBody>
      </p:sp>
      <p:sp>
        <p:nvSpPr>
          <p:cNvPr id="3" name="内容占位符 2"/>
          <p:cNvSpPr>
            <a:spLocks noGrp="1"/>
          </p:cNvSpPr>
          <p:nvPr>
            <p:ph sz="quarter" idx="13"/>
          </p:nvPr>
        </p:nvSpPr>
        <p:spPr/>
        <p:txBody>
          <a:bodyPr/>
          <a:lstStyle/>
          <a:p>
            <a:r>
              <a:rPr lang="en-US" altLang="zh-CN" dirty="0" smtClean="0"/>
              <a:t>NMS</a:t>
            </a:r>
            <a:r>
              <a:rPr lang="zh-CN" altLang="en-US" dirty="0" smtClean="0"/>
              <a:t>计算</a:t>
            </a:r>
            <a:r>
              <a:rPr lang="en-US" altLang="zh-CN" dirty="0" smtClean="0"/>
              <a:t>:</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006" y="1480185"/>
            <a:ext cx="10058400" cy="2310288"/>
          </a:xfrm>
          <a:prstGeom prst="rect">
            <a:avLst/>
          </a:prstGeom>
        </p:spPr>
      </p:pic>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6006" y="3795553"/>
            <a:ext cx="10058400" cy="2341721"/>
          </a:xfrm>
          <a:prstGeom prst="rect">
            <a:avLst/>
          </a:prstGeom>
        </p:spPr>
      </p:pic>
      <p:cxnSp>
        <p:nvCxnSpPr>
          <p:cNvPr id="7" name="直接箭头连接符 6"/>
          <p:cNvCxnSpPr/>
          <p:nvPr/>
        </p:nvCxnSpPr>
        <p:spPr>
          <a:xfrm>
            <a:off x="6095206" y="3633786"/>
            <a:ext cx="0" cy="309564"/>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42718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NMS</a:t>
            </a:r>
            <a:r>
              <a:rPr lang="zh-CN" altLang="en-US" dirty="0" smtClean="0"/>
              <a:t>操作</a:t>
            </a:r>
            <a:endParaRPr lang="zh-CN" altLang="en-US" dirty="0"/>
          </a:p>
        </p:txBody>
      </p:sp>
      <p:sp>
        <p:nvSpPr>
          <p:cNvPr id="3" name="内容占位符 2"/>
          <p:cNvSpPr>
            <a:spLocks noGrp="1"/>
          </p:cNvSpPr>
          <p:nvPr>
            <p:ph sz="quarter" idx="13"/>
          </p:nvPr>
        </p:nvSpPr>
        <p:spPr/>
        <p:txBody>
          <a:bodyPr/>
          <a:lstStyle/>
          <a:p>
            <a:r>
              <a:rPr lang="en-US" altLang="zh-CN" dirty="0" smtClean="0"/>
              <a:t>NMS</a:t>
            </a:r>
            <a:r>
              <a:rPr lang="zh-CN" altLang="en-US" dirty="0" smtClean="0"/>
              <a:t>计算</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006" y="1495425"/>
            <a:ext cx="10058400" cy="2341721"/>
          </a:xfrm>
          <a:prstGeom prst="rect">
            <a:avLst/>
          </a:prstGeom>
        </p:spPr>
      </p:pic>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6006" y="3868896"/>
            <a:ext cx="10058400" cy="2268378"/>
          </a:xfrm>
          <a:prstGeom prst="rect">
            <a:avLst/>
          </a:prstGeom>
        </p:spPr>
      </p:pic>
      <p:cxnSp>
        <p:nvCxnSpPr>
          <p:cNvPr id="6" name="直接箭头连接符 5"/>
          <p:cNvCxnSpPr/>
          <p:nvPr/>
        </p:nvCxnSpPr>
        <p:spPr>
          <a:xfrm>
            <a:off x="6095206" y="3682364"/>
            <a:ext cx="0" cy="309564"/>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10046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NMS</a:t>
            </a:r>
            <a:r>
              <a:rPr lang="zh-CN" altLang="en-US" dirty="0" smtClean="0"/>
              <a:t>操作</a:t>
            </a:r>
            <a:endParaRPr lang="zh-CN" altLang="en-US" dirty="0"/>
          </a:p>
        </p:txBody>
      </p:sp>
      <p:sp>
        <p:nvSpPr>
          <p:cNvPr id="3" name="内容占位符 2"/>
          <p:cNvSpPr>
            <a:spLocks noGrp="1"/>
          </p:cNvSpPr>
          <p:nvPr>
            <p:ph sz="quarter" idx="13"/>
          </p:nvPr>
        </p:nvSpPr>
        <p:spPr/>
        <p:txBody>
          <a:bodyPr/>
          <a:lstStyle/>
          <a:p>
            <a:r>
              <a:rPr lang="en-US" altLang="zh-CN" dirty="0" smtClean="0"/>
              <a:t>NMS</a:t>
            </a:r>
            <a:r>
              <a:rPr lang="zh-CN" altLang="en-US" dirty="0" smtClean="0"/>
              <a:t>操作效果如图：</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0329" y="1785936"/>
            <a:ext cx="10429753" cy="4351338"/>
          </a:xfrm>
          <a:prstGeom prst="rect">
            <a:avLst/>
          </a:prstGeom>
        </p:spPr>
      </p:pic>
    </p:spTree>
    <p:extLst>
      <p:ext uri="{BB962C8B-B14F-4D97-AF65-F5344CB8AC3E}">
        <p14:creationId xmlns:p14="http://schemas.microsoft.com/office/powerpoint/2010/main" val="22261570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感受野</a:t>
            </a:r>
            <a:endParaRPr lang="zh-CN" altLang="en-US" dirty="0"/>
          </a:p>
        </p:txBody>
      </p:sp>
      <p:sp>
        <p:nvSpPr>
          <p:cNvPr id="3" name="内容占位符 2"/>
          <p:cNvSpPr>
            <a:spLocks noGrp="1"/>
          </p:cNvSpPr>
          <p:nvPr>
            <p:ph sz="quarter" idx="13"/>
          </p:nvPr>
        </p:nvSpPr>
        <p:spPr/>
        <p:txBody>
          <a:bodyPr/>
          <a:lstStyle/>
          <a:p>
            <a:r>
              <a:rPr lang="zh-CN" altLang="en-US" dirty="0"/>
              <a:t>感受野（</a:t>
            </a:r>
            <a:r>
              <a:rPr lang="en-US" altLang="zh-CN" dirty="0"/>
              <a:t>receptive field</a:t>
            </a:r>
            <a:r>
              <a:rPr lang="zh-CN" altLang="en-US" dirty="0" smtClean="0"/>
              <a:t>）：</a:t>
            </a:r>
            <a:endParaRPr lang="en-US" altLang="zh-CN" dirty="0" smtClean="0"/>
          </a:p>
          <a:p>
            <a:pPr lvl="1"/>
            <a:r>
              <a:rPr lang="zh-CN" altLang="en-US" dirty="0" smtClean="0"/>
              <a:t>直观理解：视觉感受区域的大小</a:t>
            </a:r>
            <a:endParaRPr lang="en-US" altLang="zh-CN" dirty="0" smtClean="0"/>
          </a:p>
          <a:p>
            <a:pPr lvl="1"/>
            <a:r>
              <a:rPr lang="en-US" altLang="zh-CN" dirty="0" smtClean="0"/>
              <a:t>CNN</a:t>
            </a:r>
            <a:r>
              <a:rPr lang="zh-CN" altLang="en-US" dirty="0" smtClean="0"/>
              <a:t>理解：决定某一层输出结果中一个元素对应输入层的区域大小</a:t>
            </a:r>
            <a:endParaRPr lang="en-US" altLang="zh-CN" dirty="0" smtClean="0"/>
          </a:p>
          <a:p>
            <a:pPr lvl="1"/>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8144" y="2474912"/>
            <a:ext cx="4874123" cy="3662362"/>
          </a:xfrm>
          <a:prstGeom prst="rect">
            <a:avLst/>
          </a:prstGeom>
        </p:spPr>
      </p:pic>
    </p:spTree>
    <p:extLst>
      <p:ext uri="{BB962C8B-B14F-4D97-AF65-F5344CB8AC3E}">
        <p14:creationId xmlns:p14="http://schemas.microsoft.com/office/powerpoint/2010/main" val="30439601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感受野</a:t>
            </a:r>
            <a:endParaRPr lang="zh-CN" altLang="en-US" dirty="0"/>
          </a:p>
        </p:txBody>
      </p:sp>
      <p:sp>
        <p:nvSpPr>
          <p:cNvPr id="3" name="内容占位符 2"/>
          <p:cNvSpPr>
            <a:spLocks noGrp="1"/>
          </p:cNvSpPr>
          <p:nvPr>
            <p:ph sz="quarter" idx="13"/>
          </p:nvPr>
        </p:nvSpPr>
        <p:spPr/>
        <p:txBody>
          <a:bodyPr/>
          <a:lstStyle/>
          <a:p>
            <a:r>
              <a:rPr lang="zh-CN" altLang="en-US" dirty="0" smtClean="0"/>
              <a:t>卷积神经网络感受野示例</a:t>
            </a:r>
            <a:r>
              <a:rPr lang="en-US" altLang="zh-CN" dirty="0" smtClean="0"/>
              <a:t>:</a:t>
            </a:r>
          </a:p>
          <a:p>
            <a:pPr lvl="1"/>
            <a:r>
              <a:rPr lang="zh-CN" altLang="en-US" dirty="0" smtClean="0"/>
              <a:t>输入层大小为</a:t>
            </a:r>
            <a:r>
              <a:rPr lang="en-US" altLang="zh-CN" dirty="0" smtClean="0"/>
              <a:t>10×10</a:t>
            </a:r>
          </a:p>
          <a:p>
            <a:pPr lvl="1"/>
            <a:r>
              <a:rPr lang="zh-CN" altLang="en-US" dirty="0" smtClean="0"/>
              <a:t>共设计</a:t>
            </a:r>
            <a:r>
              <a:rPr lang="en-US" altLang="zh-CN" dirty="0" smtClean="0"/>
              <a:t>5</a:t>
            </a:r>
            <a:r>
              <a:rPr lang="zh-CN" altLang="en-US" dirty="0" smtClean="0"/>
              <a:t>个网络层</a:t>
            </a:r>
            <a:endParaRPr lang="en-US" altLang="zh-CN" dirty="0" smtClean="0"/>
          </a:p>
          <a:p>
            <a:pPr lvl="2"/>
            <a:r>
              <a:rPr lang="zh-CN" altLang="en-US" dirty="0" smtClean="0"/>
              <a:t>前面</a:t>
            </a:r>
            <a:r>
              <a:rPr lang="en-US" altLang="zh-CN" dirty="0" smtClean="0"/>
              <a:t>4</a:t>
            </a:r>
            <a:r>
              <a:rPr lang="zh-CN" altLang="en-US" dirty="0" smtClean="0"/>
              <a:t>个是卷积层，卷积核大小</a:t>
            </a:r>
            <a:r>
              <a:rPr lang="en-US" altLang="zh-CN" dirty="0" smtClean="0"/>
              <a:t>3×3</a:t>
            </a:r>
          </a:p>
          <a:p>
            <a:pPr lvl="2"/>
            <a:r>
              <a:rPr lang="zh-CN" altLang="en-US" dirty="0" smtClean="0"/>
              <a:t>最后一个是池化层，大小为</a:t>
            </a:r>
            <a:r>
              <a:rPr lang="en-US" altLang="zh-CN" dirty="0" smtClean="0"/>
              <a:t>2×2</a:t>
            </a:r>
          </a:p>
          <a:p>
            <a:pPr lvl="2"/>
            <a:r>
              <a:rPr lang="zh-CN" altLang="en-US" dirty="0" smtClean="0"/>
              <a:t>所有步长（</a:t>
            </a:r>
            <a:r>
              <a:rPr lang="en-US" altLang="zh-CN" dirty="0" smtClean="0"/>
              <a:t>stride</a:t>
            </a:r>
            <a:r>
              <a:rPr lang="zh-CN" altLang="en-US" dirty="0" smtClean="0"/>
              <a:t>）均为</a:t>
            </a:r>
            <a:r>
              <a:rPr lang="en-US" altLang="zh-CN" dirty="0" smtClean="0"/>
              <a:t>1</a:t>
            </a:r>
          </a:p>
          <a:p>
            <a:pPr lvl="1"/>
            <a:r>
              <a:rPr lang="zh-CN" altLang="en-US" dirty="0" smtClean="0"/>
              <a:t>第一次卷积运算：</a:t>
            </a:r>
            <a:endParaRPr lang="en-US" altLang="zh-CN" dirty="0" smtClean="0"/>
          </a:p>
          <a:p>
            <a:pPr lvl="2"/>
            <a:r>
              <a:rPr lang="zh-CN" altLang="en-US" dirty="0" smtClean="0"/>
              <a:t>输出</a:t>
            </a:r>
            <a:r>
              <a:rPr lang="en-US" altLang="zh-CN" dirty="0" smtClean="0"/>
              <a:t>1</a:t>
            </a:r>
            <a:r>
              <a:rPr lang="zh-CN" altLang="en-US" dirty="0" smtClean="0"/>
              <a:t>：</a:t>
            </a:r>
            <a:r>
              <a:rPr lang="en-US" altLang="zh-CN" dirty="0" smtClean="0"/>
              <a:t>8×8</a:t>
            </a:r>
          </a:p>
          <a:p>
            <a:pPr lvl="2"/>
            <a:r>
              <a:rPr lang="en-US" altLang="zh-CN" dirty="0" smtClean="0"/>
              <a:t>RF1=3</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4123366623"/>
              </p:ext>
            </p:extLst>
          </p:nvPr>
        </p:nvGraphicFramePr>
        <p:xfrm>
          <a:off x="3495040" y="3394074"/>
          <a:ext cx="2520000" cy="2520000"/>
        </p:xfrm>
        <a:graphic>
          <a:graphicData uri="http://schemas.openxmlformats.org/drawingml/2006/table">
            <a:tbl>
              <a:tblPr firstRow="1" bandRow="1">
                <a:tableStyleId>{5940675A-B579-460E-94D1-54222C63F5DA}</a:tableStyleId>
              </a:tblPr>
              <a:tblGrid>
                <a:gridCol w="252000"/>
                <a:gridCol w="252000"/>
                <a:gridCol w="252000"/>
                <a:gridCol w="252000"/>
                <a:gridCol w="252000"/>
                <a:gridCol w="252000"/>
                <a:gridCol w="252000"/>
                <a:gridCol w="252000"/>
                <a:gridCol w="252000"/>
                <a:gridCol w="252000"/>
              </a:tblGrid>
              <a:tr h="252000">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252000">
                <a:tc>
                  <a:txBody>
                    <a:bodyPr/>
                    <a:lstStyle/>
                    <a:p>
                      <a:endParaRPr lang="zh-CN" altLang="en-US" sz="10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r h="252000">
                <a:tc>
                  <a:txBody>
                    <a:bodyPr/>
                    <a:lstStyle/>
                    <a:p>
                      <a:endParaRPr lang="zh-CN" altLang="en-US" sz="100">
                        <a:solidFill>
                          <a:schemeClr val="tx1"/>
                        </a:solidFill>
                      </a:endParaRPr>
                    </a:p>
                  </a:txBody>
                  <a:tcPr marL="0" marR="0" marT="0" marB="0">
                    <a:solidFill>
                      <a:schemeClr val="tx1">
                        <a:lumMod val="50000"/>
                        <a:lumOff val="50000"/>
                      </a:schemeClr>
                    </a:solidFill>
                  </a:tcPr>
                </a:tc>
                <a:tc>
                  <a:txBody>
                    <a:bodyPr/>
                    <a:lstStyle/>
                    <a:p>
                      <a:endParaRPr lang="zh-CN" altLang="en-US" sz="10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r>
              <a:tr h="252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252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252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252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252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252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r h="252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1697015285"/>
              </p:ext>
            </p:extLst>
          </p:nvPr>
        </p:nvGraphicFramePr>
        <p:xfrm>
          <a:off x="7116445" y="4267200"/>
          <a:ext cx="756000" cy="756000"/>
        </p:xfrm>
        <a:graphic>
          <a:graphicData uri="http://schemas.openxmlformats.org/drawingml/2006/table">
            <a:tbl>
              <a:tblPr firstRow="1" bandRow="1">
                <a:tableStyleId>{5940675A-B579-460E-94D1-54222C63F5DA}</a:tableStyleId>
              </a:tblPr>
              <a:tblGrid>
                <a:gridCol w="252000"/>
                <a:gridCol w="252000"/>
                <a:gridCol w="252000"/>
              </a:tblGrid>
              <a:tr h="252000">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r>
              <a:tr h="252000">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r h="252000">
                <a:tc>
                  <a:txBody>
                    <a:bodyPr/>
                    <a:lstStyle/>
                    <a:p>
                      <a:endParaRPr lang="zh-CN" altLang="en-US" sz="10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bl>
          </a:graphicData>
        </a:graphic>
      </p:graphicFrame>
      <p:sp>
        <p:nvSpPr>
          <p:cNvPr id="6" name="文本框 5"/>
          <p:cNvSpPr txBox="1"/>
          <p:nvPr/>
        </p:nvSpPr>
        <p:spPr>
          <a:xfrm>
            <a:off x="7063740" y="5097780"/>
            <a:ext cx="1015021" cy="369332"/>
          </a:xfrm>
          <a:prstGeom prst="rect">
            <a:avLst/>
          </a:prstGeom>
          <a:noFill/>
        </p:spPr>
        <p:txBody>
          <a:bodyPr wrap="none" rtlCol="0">
            <a:spAutoFit/>
          </a:bodyPr>
          <a:lstStyle/>
          <a:p>
            <a:r>
              <a:rPr lang="zh-CN" altLang="en-US" dirty="0" smtClean="0"/>
              <a:t>卷积核</a:t>
            </a:r>
            <a:r>
              <a:rPr lang="en-US" altLang="zh-CN" dirty="0" smtClean="0"/>
              <a:t>1</a:t>
            </a:r>
            <a:endParaRPr lang="zh-CN" altLang="en-US" dirty="0"/>
          </a:p>
        </p:txBody>
      </p:sp>
      <p:graphicFrame>
        <p:nvGraphicFramePr>
          <p:cNvPr id="7" name="表格 6"/>
          <p:cNvGraphicFramePr>
            <a:graphicFrameLocks noGrp="1"/>
          </p:cNvGraphicFramePr>
          <p:nvPr>
            <p:extLst>
              <p:ext uri="{D42A27DB-BD31-4B8C-83A1-F6EECF244321}">
                <p14:modId xmlns:p14="http://schemas.microsoft.com/office/powerpoint/2010/main" val="1468077651"/>
              </p:ext>
            </p:extLst>
          </p:nvPr>
        </p:nvGraphicFramePr>
        <p:xfrm>
          <a:off x="8899525" y="3478530"/>
          <a:ext cx="2016000" cy="2016000"/>
        </p:xfrm>
        <a:graphic>
          <a:graphicData uri="http://schemas.openxmlformats.org/drawingml/2006/table">
            <a:tbl>
              <a:tblPr firstRow="1" bandRow="1">
                <a:tableStyleId>{5940675A-B579-460E-94D1-54222C63F5DA}</a:tableStyleId>
              </a:tblPr>
              <a:tblGrid>
                <a:gridCol w="252000"/>
                <a:gridCol w="252000"/>
                <a:gridCol w="252000"/>
                <a:gridCol w="252000"/>
                <a:gridCol w="252000"/>
                <a:gridCol w="252000"/>
                <a:gridCol w="252000"/>
                <a:gridCol w="252000"/>
              </a:tblGrid>
              <a:tr h="252000">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r>
              <a:tr h="252000">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252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252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252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252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252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r h="252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bl>
          </a:graphicData>
        </a:graphic>
      </p:graphicFrame>
      <p:sp>
        <p:nvSpPr>
          <p:cNvPr id="8" name="文本框 7"/>
          <p:cNvSpPr txBox="1"/>
          <p:nvPr/>
        </p:nvSpPr>
        <p:spPr>
          <a:xfrm>
            <a:off x="9582150" y="5767942"/>
            <a:ext cx="774571" cy="369332"/>
          </a:xfrm>
          <a:prstGeom prst="rect">
            <a:avLst/>
          </a:prstGeom>
          <a:noFill/>
        </p:spPr>
        <p:txBody>
          <a:bodyPr wrap="none" rtlCol="0">
            <a:spAutoFit/>
          </a:bodyPr>
          <a:lstStyle/>
          <a:p>
            <a:r>
              <a:rPr lang="zh-CN" altLang="en-US" dirty="0" smtClean="0"/>
              <a:t>输出</a:t>
            </a:r>
            <a:r>
              <a:rPr lang="en-US" altLang="zh-CN" dirty="0" smtClean="0"/>
              <a:t>1</a:t>
            </a:r>
            <a:endParaRPr lang="zh-CN" altLang="en-US" dirty="0"/>
          </a:p>
        </p:txBody>
      </p:sp>
      <p:sp>
        <p:nvSpPr>
          <p:cNvPr id="9" name="矩形 8"/>
          <p:cNvSpPr/>
          <p:nvPr/>
        </p:nvSpPr>
        <p:spPr>
          <a:xfrm>
            <a:off x="7063740" y="3394710"/>
            <a:ext cx="4057650" cy="2742564"/>
          </a:xfrm>
          <a:prstGeom prst="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箭头连接符 10"/>
          <p:cNvCxnSpPr/>
          <p:nvPr/>
        </p:nvCxnSpPr>
        <p:spPr>
          <a:xfrm>
            <a:off x="4343400" y="4147583"/>
            <a:ext cx="2720340" cy="56007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V="1">
            <a:off x="7977484" y="3633786"/>
            <a:ext cx="869336" cy="753192"/>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06406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感受野</a:t>
            </a:r>
            <a:endParaRPr lang="zh-CN" altLang="en-US" dirty="0"/>
          </a:p>
        </p:txBody>
      </p:sp>
      <p:sp>
        <p:nvSpPr>
          <p:cNvPr id="3" name="内容占位符 2"/>
          <p:cNvSpPr>
            <a:spLocks noGrp="1"/>
          </p:cNvSpPr>
          <p:nvPr>
            <p:ph sz="quarter" idx="13"/>
          </p:nvPr>
        </p:nvSpPr>
        <p:spPr/>
        <p:txBody>
          <a:bodyPr/>
          <a:lstStyle/>
          <a:p>
            <a:r>
              <a:rPr lang="zh-CN" altLang="en-US" dirty="0"/>
              <a:t>卷积神经网络感受野示例</a:t>
            </a:r>
            <a:r>
              <a:rPr lang="en-US" altLang="zh-CN" dirty="0"/>
              <a:t>:</a:t>
            </a:r>
          </a:p>
          <a:p>
            <a:pPr lvl="1"/>
            <a:r>
              <a:rPr lang="zh-CN" altLang="en-US" dirty="0" smtClean="0"/>
              <a:t>第二次卷积运算：</a:t>
            </a:r>
            <a:endParaRPr lang="en-US" altLang="zh-CN" dirty="0" smtClean="0"/>
          </a:p>
          <a:p>
            <a:pPr lvl="2"/>
            <a:r>
              <a:rPr lang="zh-CN" altLang="en-US" dirty="0" smtClean="0"/>
              <a:t>输出</a:t>
            </a:r>
            <a:r>
              <a:rPr lang="en-US" altLang="zh-CN" dirty="0" smtClean="0"/>
              <a:t>2</a:t>
            </a:r>
            <a:r>
              <a:rPr lang="zh-CN" altLang="en-US" dirty="0" smtClean="0"/>
              <a:t>：</a:t>
            </a:r>
            <a:r>
              <a:rPr lang="en-US" altLang="zh-CN" dirty="0" smtClean="0"/>
              <a:t>6×6</a:t>
            </a:r>
          </a:p>
          <a:p>
            <a:pPr lvl="2"/>
            <a:r>
              <a:rPr lang="en-US" altLang="zh-CN" dirty="0" smtClean="0"/>
              <a:t>RF2=5</a:t>
            </a:r>
            <a:endParaRPr lang="zh-CN" altLang="en-US" dirty="0"/>
          </a:p>
        </p:txBody>
      </p:sp>
      <p:graphicFrame>
        <p:nvGraphicFramePr>
          <p:cNvPr id="6" name="表格 5"/>
          <p:cNvGraphicFramePr>
            <a:graphicFrameLocks noGrp="1"/>
          </p:cNvGraphicFramePr>
          <p:nvPr>
            <p:extLst>
              <p:ext uri="{D42A27DB-BD31-4B8C-83A1-F6EECF244321}">
                <p14:modId xmlns:p14="http://schemas.microsoft.com/office/powerpoint/2010/main" val="713469894"/>
              </p:ext>
            </p:extLst>
          </p:nvPr>
        </p:nvGraphicFramePr>
        <p:xfrm>
          <a:off x="2203450" y="3382644"/>
          <a:ext cx="1800000" cy="1800000"/>
        </p:xfrm>
        <a:graphic>
          <a:graphicData uri="http://schemas.openxmlformats.org/drawingml/2006/table">
            <a:tbl>
              <a:tblPr firstRow="1" bandRow="1">
                <a:tableStyleId>{5940675A-B579-460E-94D1-54222C63F5DA}</a:tableStyleId>
              </a:tblPr>
              <a:tblGrid>
                <a:gridCol w="180000"/>
                <a:gridCol w="180000"/>
                <a:gridCol w="180000"/>
                <a:gridCol w="180000"/>
                <a:gridCol w="180000"/>
                <a:gridCol w="180000"/>
                <a:gridCol w="180000"/>
                <a:gridCol w="180000"/>
                <a:gridCol w="180000"/>
                <a:gridCol w="180000"/>
              </a:tblGrid>
              <a:tr h="180000">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r h="180000">
                <a:tc>
                  <a:txBody>
                    <a:bodyPr/>
                    <a:lstStyle/>
                    <a:p>
                      <a:endParaRPr lang="zh-CN" altLang="en-US" sz="100">
                        <a:solidFill>
                          <a:schemeClr val="tx1"/>
                        </a:solidFill>
                      </a:endParaRPr>
                    </a:p>
                  </a:txBody>
                  <a:tcPr marL="0" marR="0" marT="0" marB="0">
                    <a:solidFill>
                      <a:schemeClr val="tx1">
                        <a:lumMod val="50000"/>
                        <a:lumOff val="50000"/>
                      </a:schemeClr>
                    </a:solidFill>
                  </a:tcPr>
                </a:tc>
                <a:tc>
                  <a:txBody>
                    <a:bodyPr/>
                    <a:lstStyle/>
                    <a:p>
                      <a:endParaRPr lang="zh-CN" altLang="en-US" sz="10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3634838701"/>
              </p:ext>
            </p:extLst>
          </p:nvPr>
        </p:nvGraphicFramePr>
        <p:xfrm>
          <a:off x="4286270" y="3357518"/>
          <a:ext cx="540000" cy="540000"/>
        </p:xfrm>
        <a:graphic>
          <a:graphicData uri="http://schemas.openxmlformats.org/drawingml/2006/table">
            <a:tbl>
              <a:tblPr firstRow="1" bandRow="1">
                <a:tableStyleId>{5940675A-B579-460E-94D1-54222C63F5DA}</a:tableStyleId>
              </a:tblPr>
              <a:tblGrid>
                <a:gridCol w="180000"/>
                <a:gridCol w="180000"/>
                <a:gridCol w="180000"/>
              </a:tblGrid>
              <a:tr h="180000">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bl>
          </a:graphicData>
        </a:graphic>
      </p:graphicFrame>
      <p:sp>
        <p:nvSpPr>
          <p:cNvPr id="8" name="文本框 7"/>
          <p:cNvSpPr txBox="1"/>
          <p:nvPr/>
        </p:nvSpPr>
        <p:spPr>
          <a:xfrm>
            <a:off x="4177337" y="4697730"/>
            <a:ext cx="1015021" cy="369332"/>
          </a:xfrm>
          <a:prstGeom prst="rect">
            <a:avLst/>
          </a:prstGeom>
          <a:noFill/>
        </p:spPr>
        <p:txBody>
          <a:bodyPr wrap="none" rtlCol="0">
            <a:spAutoFit/>
          </a:bodyPr>
          <a:lstStyle/>
          <a:p>
            <a:r>
              <a:rPr lang="zh-CN" altLang="en-US" dirty="0" smtClean="0"/>
              <a:t>卷积核</a:t>
            </a:r>
            <a:r>
              <a:rPr lang="en-US" altLang="zh-CN" dirty="0" smtClean="0"/>
              <a:t>1</a:t>
            </a:r>
            <a:endParaRPr lang="zh-CN" altLang="en-US" dirty="0"/>
          </a:p>
        </p:txBody>
      </p:sp>
      <p:graphicFrame>
        <p:nvGraphicFramePr>
          <p:cNvPr id="9" name="表格 8"/>
          <p:cNvGraphicFramePr>
            <a:graphicFrameLocks noGrp="1"/>
          </p:cNvGraphicFramePr>
          <p:nvPr>
            <p:extLst>
              <p:ext uri="{D42A27DB-BD31-4B8C-83A1-F6EECF244321}">
                <p14:modId xmlns:p14="http://schemas.microsoft.com/office/powerpoint/2010/main" val="403271588"/>
              </p:ext>
            </p:extLst>
          </p:nvPr>
        </p:nvGraphicFramePr>
        <p:xfrm>
          <a:off x="5722255" y="3159254"/>
          <a:ext cx="1440000" cy="1440000"/>
        </p:xfrm>
        <a:graphic>
          <a:graphicData uri="http://schemas.openxmlformats.org/drawingml/2006/table">
            <a:tbl>
              <a:tblPr firstRow="1" bandRow="1">
                <a:tableStyleId>{5940675A-B579-460E-94D1-54222C63F5DA}</a:tableStyleId>
              </a:tblPr>
              <a:tblGrid>
                <a:gridCol w="180000"/>
                <a:gridCol w="180000"/>
                <a:gridCol w="180000"/>
                <a:gridCol w="180000"/>
                <a:gridCol w="180000"/>
                <a:gridCol w="180000"/>
                <a:gridCol w="180000"/>
                <a:gridCol w="180000"/>
              </a:tblGrid>
              <a:tr h="180000">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bl>
          </a:graphicData>
        </a:graphic>
      </p:graphicFrame>
      <p:sp>
        <p:nvSpPr>
          <p:cNvPr id="10" name="文本框 9"/>
          <p:cNvSpPr txBox="1"/>
          <p:nvPr/>
        </p:nvSpPr>
        <p:spPr>
          <a:xfrm>
            <a:off x="6000475" y="4697730"/>
            <a:ext cx="774571" cy="369332"/>
          </a:xfrm>
          <a:prstGeom prst="rect">
            <a:avLst/>
          </a:prstGeom>
          <a:noFill/>
        </p:spPr>
        <p:txBody>
          <a:bodyPr wrap="none" rtlCol="0">
            <a:spAutoFit/>
          </a:bodyPr>
          <a:lstStyle/>
          <a:p>
            <a:r>
              <a:rPr lang="zh-CN" altLang="en-US" dirty="0" smtClean="0"/>
              <a:t>输出</a:t>
            </a:r>
            <a:r>
              <a:rPr lang="en-US" altLang="zh-CN" dirty="0" smtClean="0"/>
              <a:t>1</a:t>
            </a:r>
            <a:endParaRPr lang="zh-CN" altLang="en-US" dirty="0"/>
          </a:p>
        </p:txBody>
      </p:sp>
      <p:sp>
        <p:nvSpPr>
          <p:cNvPr id="11" name="矩形 10"/>
          <p:cNvSpPr/>
          <p:nvPr/>
        </p:nvSpPr>
        <p:spPr>
          <a:xfrm>
            <a:off x="4177337" y="2994660"/>
            <a:ext cx="3108069" cy="2072402"/>
          </a:xfrm>
          <a:prstGeom prst="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箭头连接符 11"/>
          <p:cNvCxnSpPr/>
          <p:nvPr/>
        </p:nvCxnSpPr>
        <p:spPr>
          <a:xfrm flipV="1">
            <a:off x="3114853" y="3594459"/>
            <a:ext cx="1182847" cy="316568"/>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V="1">
            <a:off x="4889528" y="3337560"/>
            <a:ext cx="841843" cy="164504"/>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7" name="表格 16"/>
          <p:cNvGraphicFramePr>
            <a:graphicFrameLocks noGrp="1"/>
          </p:cNvGraphicFramePr>
          <p:nvPr>
            <p:extLst>
              <p:ext uri="{D42A27DB-BD31-4B8C-83A1-F6EECF244321}">
                <p14:modId xmlns:p14="http://schemas.microsoft.com/office/powerpoint/2010/main" val="1179430776"/>
              </p:ext>
            </p:extLst>
          </p:nvPr>
        </p:nvGraphicFramePr>
        <p:xfrm>
          <a:off x="7536200" y="3713381"/>
          <a:ext cx="540000" cy="540000"/>
        </p:xfrm>
        <a:graphic>
          <a:graphicData uri="http://schemas.openxmlformats.org/drawingml/2006/table">
            <a:tbl>
              <a:tblPr firstRow="1" bandRow="1">
                <a:tableStyleId>{5940675A-B579-460E-94D1-54222C63F5DA}</a:tableStyleId>
              </a:tblPr>
              <a:tblGrid>
                <a:gridCol w="180000"/>
                <a:gridCol w="180000"/>
                <a:gridCol w="180000"/>
              </a:tblGrid>
              <a:tr h="180000">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bl>
          </a:graphicData>
        </a:graphic>
      </p:graphicFrame>
      <p:graphicFrame>
        <p:nvGraphicFramePr>
          <p:cNvPr id="18" name="表格 17"/>
          <p:cNvGraphicFramePr>
            <a:graphicFrameLocks noGrp="1"/>
          </p:cNvGraphicFramePr>
          <p:nvPr>
            <p:extLst>
              <p:ext uri="{D42A27DB-BD31-4B8C-83A1-F6EECF244321}">
                <p14:modId xmlns:p14="http://schemas.microsoft.com/office/powerpoint/2010/main" val="906159818"/>
              </p:ext>
            </p:extLst>
          </p:nvPr>
        </p:nvGraphicFramePr>
        <p:xfrm>
          <a:off x="8625900" y="3502064"/>
          <a:ext cx="1080000" cy="1080000"/>
        </p:xfrm>
        <a:graphic>
          <a:graphicData uri="http://schemas.openxmlformats.org/drawingml/2006/table">
            <a:tbl>
              <a:tblPr firstRow="1" bandRow="1">
                <a:tableStyleId>{5940675A-B579-460E-94D1-54222C63F5DA}</a:tableStyleId>
              </a:tblPr>
              <a:tblGrid>
                <a:gridCol w="180000"/>
                <a:gridCol w="180000"/>
                <a:gridCol w="180000"/>
                <a:gridCol w="180000"/>
                <a:gridCol w="180000"/>
                <a:gridCol w="180000"/>
              </a:tblGrid>
              <a:tr h="180000">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bl>
          </a:graphicData>
        </a:graphic>
      </p:graphicFrame>
      <p:cxnSp>
        <p:nvCxnSpPr>
          <p:cNvPr id="20" name="直接箭头连接符 19"/>
          <p:cNvCxnSpPr/>
          <p:nvPr/>
        </p:nvCxnSpPr>
        <p:spPr>
          <a:xfrm flipV="1">
            <a:off x="8100467" y="3594459"/>
            <a:ext cx="533023" cy="316568"/>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a:off x="6307783" y="3463428"/>
            <a:ext cx="1136163" cy="567433"/>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矩形 24"/>
          <p:cNvSpPr/>
          <p:nvPr/>
        </p:nvSpPr>
        <p:spPr>
          <a:xfrm>
            <a:off x="7443946" y="3337560"/>
            <a:ext cx="2397284" cy="1729502"/>
          </a:xfrm>
          <a:prstGeom prst="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7403875" y="4697730"/>
            <a:ext cx="1005403" cy="369332"/>
          </a:xfrm>
          <a:prstGeom prst="rect">
            <a:avLst/>
          </a:prstGeom>
          <a:noFill/>
        </p:spPr>
        <p:txBody>
          <a:bodyPr wrap="none" rtlCol="0">
            <a:spAutoFit/>
          </a:bodyPr>
          <a:lstStyle/>
          <a:p>
            <a:r>
              <a:rPr lang="zh-CN" altLang="en-US" dirty="0" smtClean="0"/>
              <a:t>卷积核</a:t>
            </a:r>
            <a:r>
              <a:rPr lang="en-US" altLang="zh-CN" dirty="0"/>
              <a:t>2</a:t>
            </a:r>
            <a:endParaRPr lang="zh-CN" altLang="en-US" dirty="0"/>
          </a:p>
        </p:txBody>
      </p:sp>
      <p:sp>
        <p:nvSpPr>
          <p:cNvPr id="28" name="文本框 27"/>
          <p:cNvSpPr txBox="1"/>
          <p:nvPr/>
        </p:nvSpPr>
        <p:spPr>
          <a:xfrm>
            <a:off x="8746789" y="4697730"/>
            <a:ext cx="774571" cy="369332"/>
          </a:xfrm>
          <a:prstGeom prst="rect">
            <a:avLst/>
          </a:prstGeom>
          <a:noFill/>
        </p:spPr>
        <p:txBody>
          <a:bodyPr wrap="none" rtlCol="0">
            <a:spAutoFit/>
          </a:bodyPr>
          <a:lstStyle/>
          <a:p>
            <a:r>
              <a:rPr lang="zh-CN" altLang="en-US" dirty="0" smtClean="0"/>
              <a:t>输出</a:t>
            </a:r>
            <a:r>
              <a:rPr lang="en-US" altLang="zh-CN" dirty="0" smtClean="0"/>
              <a:t>2</a:t>
            </a:r>
            <a:endParaRPr lang="zh-CN" altLang="en-US" dirty="0"/>
          </a:p>
        </p:txBody>
      </p:sp>
    </p:spTree>
    <p:extLst>
      <p:ext uri="{BB962C8B-B14F-4D97-AF65-F5344CB8AC3E}">
        <p14:creationId xmlns:p14="http://schemas.microsoft.com/office/powerpoint/2010/main" val="2680485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感受野</a:t>
            </a:r>
            <a:endParaRPr lang="zh-CN" altLang="en-US" dirty="0"/>
          </a:p>
        </p:txBody>
      </p:sp>
      <p:sp>
        <p:nvSpPr>
          <p:cNvPr id="3" name="内容占位符 2"/>
          <p:cNvSpPr>
            <a:spLocks noGrp="1"/>
          </p:cNvSpPr>
          <p:nvPr>
            <p:ph sz="quarter" idx="13"/>
          </p:nvPr>
        </p:nvSpPr>
        <p:spPr/>
        <p:txBody>
          <a:bodyPr/>
          <a:lstStyle/>
          <a:p>
            <a:r>
              <a:rPr lang="zh-CN" altLang="en-US" dirty="0"/>
              <a:t>卷积神经网络感受野示例</a:t>
            </a:r>
            <a:r>
              <a:rPr lang="en-US" altLang="zh-CN" dirty="0"/>
              <a:t>:</a:t>
            </a:r>
          </a:p>
          <a:p>
            <a:pPr lvl="1"/>
            <a:r>
              <a:rPr lang="zh-CN" altLang="en-US" dirty="0" smtClean="0"/>
              <a:t>第三次</a:t>
            </a:r>
            <a:r>
              <a:rPr lang="zh-CN" altLang="en-US" dirty="0"/>
              <a:t>卷积运算：</a:t>
            </a:r>
            <a:endParaRPr lang="en-US" altLang="zh-CN" dirty="0"/>
          </a:p>
          <a:p>
            <a:pPr lvl="2"/>
            <a:r>
              <a:rPr lang="zh-CN" altLang="en-US" dirty="0" smtClean="0"/>
              <a:t>输出</a:t>
            </a:r>
            <a:r>
              <a:rPr lang="en-US" altLang="zh-CN" dirty="0" smtClean="0"/>
              <a:t>3</a:t>
            </a:r>
            <a:r>
              <a:rPr lang="zh-CN" altLang="en-US" dirty="0" smtClean="0"/>
              <a:t>：</a:t>
            </a:r>
            <a:r>
              <a:rPr lang="en-US" altLang="zh-CN" dirty="0" smtClean="0"/>
              <a:t>4×4</a:t>
            </a:r>
            <a:endParaRPr lang="en-US" altLang="zh-CN" dirty="0"/>
          </a:p>
          <a:p>
            <a:pPr lvl="2"/>
            <a:r>
              <a:rPr lang="en-US" altLang="zh-CN" dirty="0" smtClean="0"/>
              <a:t>RF3=7</a:t>
            </a:r>
            <a:endParaRPr lang="zh-CN" altLang="en-US" dirty="0"/>
          </a:p>
          <a:p>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2286775221"/>
              </p:ext>
            </p:extLst>
          </p:nvPr>
        </p:nvGraphicFramePr>
        <p:xfrm>
          <a:off x="889000" y="3588384"/>
          <a:ext cx="1800000" cy="1800000"/>
        </p:xfrm>
        <a:graphic>
          <a:graphicData uri="http://schemas.openxmlformats.org/drawingml/2006/table">
            <a:tbl>
              <a:tblPr firstRow="1" bandRow="1">
                <a:tableStyleId>{5940675A-B579-460E-94D1-54222C63F5DA}</a:tableStyleId>
              </a:tblPr>
              <a:tblGrid>
                <a:gridCol w="180000"/>
                <a:gridCol w="180000"/>
                <a:gridCol w="180000"/>
                <a:gridCol w="180000"/>
                <a:gridCol w="180000"/>
                <a:gridCol w="180000"/>
                <a:gridCol w="180000"/>
                <a:gridCol w="180000"/>
                <a:gridCol w="180000"/>
                <a:gridCol w="180000"/>
              </a:tblGrid>
              <a:tr h="180000">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r h="180000">
                <a:tc>
                  <a:txBody>
                    <a:bodyPr/>
                    <a:lstStyle/>
                    <a:p>
                      <a:endParaRPr lang="zh-CN" altLang="en-US" sz="100">
                        <a:solidFill>
                          <a:schemeClr val="tx1"/>
                        </a:solidFill>
                      </a:endParaRPr>
                    </a:p>
                  </a:txBody>
                  <a:tcPr marL="0" marR="0" marT="0" marB="0">
                    <a:solidFill>
                      <a:schemeClr val="tx1">
                        <a:lumMod val="50000"/>
                        <a:lumOff val="50000"/>
                      </a:schemeClr>
                    </a:solidFill>
                  </a:tcPr>
                </a:tc>
                <a:tc>
                  <a:txBody>
                    <a:bodyPr/>
                    <a:lstStyle/>
                    <a:p>
                      <a:endParaRPr lang="zh-CN" altLang="en-US" sz="10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3872332705"/>
              </p:ext>
            </p:extLst>
          </p:nvPr>
        </p:nvGraphicFramePr>
        <p:xfrm>
          <a:off x="2971820" y="3563258"/>
          <a:ext cx="540000" cy="540000"/>
        </p:xfrm>
        <a:graphic>
          <a:graphicData uri="http://schemas.openxmlformats.org/drawingml/2006/table">
            <a:tbl>
              <a:tblPr firstRow="1" bandRow="1">
                <a:tableStyleId>{5940675A-B579-460E-94D1-54222C63F5DA}</a:tableStyleId>
              </a:tblPr>
              <a:tblGrid>
                <a:gridCol w="180000"/>
                <a:gridCol w="180000"/>
                <a:gridCol w="180000"/>
              </a:tblGrid>
              <a:tr h="180000">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bl>
          </a:graphicData>
        </a:graphic>
      </p:graphicFrame>
      <p:sp>
        <p:nvSpPr>
          <p:cNvPr id="6" name="文本框 5"/>
          <p:cNvSpPr txBox="1"/>
          <p:nvPr/>
        </p:nvSpPr>
        <p:spPr>
          <a:xfrm>
            <a:off x="2862887" y="4903470"/>
            <a:ext cx="1015021" cy="369332"/>
          </a:xfrm>
          <a:prstGeom prst="rect">
            <a:avLst/>
          </a:prstGeom>
          <a:noFill/>
        </p:spPr>
        <p:txBody>
          <a:bodyPr wrap="none" rtlCol="0">
            <a:spAutoFit/>
          </a:bodyPr>
          <a:lstStyle/>
          <a:p>
            <a:r>
              <a:rPr lang="zh-CN" altLang="en-US" dirty="0" smtClean="0"/>
              <a:t>卷积核</a:t>
            </a:r>
            <a:r>
              <a:rPr lang="en-US" altLang="zh-CN" dirty="0" smtClean="0"/>
              <a:t>1</a:t>
            </a:r>
            <a:endParaRPr lang="zh-CN" altLang="en-US" dirty="0"/>
          </a:p>
        </p:txBody>
      </p:sp>
      <p:graphicFrame>
        <p:nvGraphicFramePr>
          <p:cNvPr id="7" name="表格 6"/>
          <p:cNvGraphicFramePr>
            <a:graphicFrameLocks noGrp="1"/>
          </p:cNvGraphicFramePr>
          <p:nvPr>
            <p:extLst>
              <p:ext uri="{D42A27DB-BD31-4B8C-83A1-F6EECF244321}">
                <p14:modId xmlns:p14="http://schemas.microsoft.com/office/powerpoint/2010/main" val="3203716815"/>
              </p:ext>
            </p:extLst>
          </p:nvPr>
        </p:nvGraphicFramePr>
        <p:xfrm>
          <a:off x="3966025" y="3396767"/>
          <a:ext cx="1440000" cy="1440000"/>
        </p:xfrm>
        <a:graphic>
          <a:graphicData uri="http://schemas.openxmlformats.org/drawingml/2006/table">
            <a:tbl>
              <a:tblPr firstRow="1" bandRow="1">
                <a:tableStyleId>{5940675A-B579-460E-94D1-54222C63F5DA}</a:tableStyleId>
              </a:tblPr>
              <a:tblGrid>
                <a:gridCol w="180000"/>
                <a:gridCol w="180000"/>
                <a:gridCol w="180000"/>
                <a:gridCol w="180000"/>
                <a:gridCol w="180000"/>
                <a:gridCol w="180000"/>
                <a:gridCol w="180000"/>
                <a:gridCol w="180000"/>
              </a:tblGrid>
              <a:tr h="180000">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bl>
          </a:graphicData>
        </a:graphic>
      </p:graphicFrame>
      <p:sp>
        <p:nvSpPr>
          <p:cNvPr id="8" name="文本框 7"/>
          <p:cNvSpPr txBox="1"/>
          <p:nvPr/>
        </p:nvSpPr>
        <p:spPr>
          <a:xfrm>
            <a:off x="4306991" y="4903470"/>
            <a:ext cx="774571" cy="369332"/>
          </a:xfrm>
          <a:prstGeom prst="rect">
            <a:avLst/>
          </a:prstGeom>
          <a:noFill/>
        </p:spPr>
        <p:txBody>
          <a:bodyPr wrap="none" rtlCol="0">
            <a:spAutoFit/>
          </a:bodyPr>
          <a:lstStyle/>
          <a:p>
            <a:r>
              <a:rPr lang="zh-CN" altLang="en-US" dirty="0" smtClean="0"/>
              <a:t>输出</a:t>
            </a:r>
            <a:r>
              <a:rPr lang="en-US" altLang="zh-CN" dirty="0" smtClean="0"/>
              <a:t>1</a:t>
            </a:r>
            <a:endParaRPr lang="zh-CN" altLang="en-US" dirty="0"/>
          </a:p>
        </p:txBody>
      </p:sp>
      <p:sp>
        <p:nvSpPr>
          <p:cNvPr id="9" name="矩形 8"/>
          <p:cNvSpPr/>
          <p:nvPr/>
        </p:nvSpPr>
        <p:spPr>
          <a:xfrm>
            <a:off x="2862888" y="3200400"/>
            <a:ext cx="2715390" cy="2072402"/>
          </a:xfrm>
          <a:prstGeom prst="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箭头连接符 9"/>
          <p:cNvCxnSpPr/>
          <p:nvPr/>
        </p:nvCxnSpPr>
        <p:spPr>
          <a:xfrm flipV="1">
            <a:off x="2251710" y="3800199"/>
            <a:ext cx="731540" cy="543201"/>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3575078" y="3707804"/>
            <a:ext cx="302830" cy="92395"/>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2" name="表格 11"/>
          <p:cNvGraphicFramePr>
            <a:graphicFrameLocks noGrp="1"/>
          </p:cNvGraphicFramePr>
          <p:nvPr>
            <p:extLst>
              <p:ext uri="{D42A27DB-BD31-4B8C-83A1-F6EECF244321}">
                <p14:modId xmlns:p14="http://schemas.microsoft.com/office/powerpoint/2010/main" val="2620438665"/>
              </p:ext>
            </p:extLst>
          </p:nvPr>
        </p:nvGraphicFramePr>
        <p:xfrm>
          <a:off x="5958860" y="3919121"/>
          <a:ext cx="540000" cy="540000"/>
        </p:xfrm>
        <a:graphic>
          <a:graphicData uri="http://schemas.openxmlformats.org/drawingml/2006/table">
            <a:tbl>
              <a:tblPr firstRow="1" bandRow="1">
                <a:tableStyleId>{5940675A-B579-460E-94D1-54222C63F5DA}</a:tableStyleId>
              </a:tblPr>
              <a:tblGrid>
                <a:gridCol w="180000"/>
                <a:gridCol w="180000"/>
                <a:gridCol w="180000"/>
              </a:tblGrid>
              <a:tr h="180000">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bl>
          </a:graphicData>
        </a:graphic>
      </p:graphicFrame>
      <p:graphicFrame>
        <p:nvGraphicFramePr>
          <p:cNvPr id="13" name="表格 12"/>
          <p:cNvGraphicFramePr>
            <a:graphicFrameLocks noGrp="1"/>
          </p:cNvGraphicFramePr>
          <p:nvPr>
            <p:extLst>
              <p:ext uri="{D42A27DB-BD31-4B8C-83A1-F6EECF244321}">
                <p14:modId xmlns:p14="http://schemas.microsoft.com/office/powerpoint/2010/main" val="1938217212"/>
              </p:ext>
            </p:extLst>
          </p:nvPr>
        </p:nvGraphicFramePr>
        <p:xfrm>
          <a:off x="7048560" y="3707804"/>
          <a:ext cx="1080000" cy="1080000"/>
        </p:xfrm>
        <a:graphic>
          <a:graphicData uri="http://schemas.openxmlformats.org/drawingml/2006/table">
            <a:tbl>
              <a:tblPr firstRow="1" bandRow="1">
                <a:tableStyleId>{5940675A-B579-460E-94D1-54222C63F5DA}</a:tableStyleId>
              </a:tblPr>
              <a:tblGrid>
                <a:gridCol w="180000"/>
                <a:gridCol w="180000"/>
                <a:gridCol w="180000"/>
                <a:gridCol w="180000"/>
                <a:gridCol w="180000"/>
                <a:gridCol w="180000"/>
              </a:tblGrid>
              <a:tr h="180000">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bl>
          </a:graphicData>
        </a:graphic>
      </p:graphicFrame>
      <p:cxnSp>
        <p:nvCxnSpPr>
          <p:cNvPr id="14" name="直接箭头连接符 13"/>
          <p:cNvCxnSpPr/>
          <p:nvPr/>
        </p:nvCxnSpPr>
        <p:spPr>
          <a:xfrm flipV="1">
            <a:off x="6523127" y="3800199"/>
            <a:ext cx="533023" cy="316568"/>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a:off x="4892514" y="3738413"/>
            <a:ext cx="997161" cy="378354"/>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5866606" y="3543300"/>
            <a:ext cx="2397284" cy="1729502"/>
          </a:xfrm>
          <a:prstGeom prst="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5826535" y="4903470"/>
            <a:ext cx="1005403" cy="369332"/>
          </a:xfrm>
          <a:prstGeom prst="rect">
            <a:avLst/>
          </a:prstGeom>
          <a:noFill/>
        </p:spPr>
        <p:txBody>
          <a:bodyPr wrap="none" rtlCol="0">
            <a:spAutoFit/>
          </a:bodyPr>
          <a:lstStyle/>
          <a:p>
            <a:r>
              <a:rPr lang="zh-CN" altLang="en-US" dirty="0" smtClean="0"/>
              <a:t>卷积核</a:t>
            </a:r>
            <a:r>
              <a:rPr lang="en-US" altLang="zh-CN" dirty="0"/>
              <a:t>2</a:t>
            </a:r>
            <a:endParaRPr lang="zh-CN" altLang="en-US" dirty="0"/>
          </a:p>
        </p:txBody>
      </p:sp>
      <p:sp>
        <p:nvSpPr>
          <p:cNvPr id="18" name="文本框 17"/>
          <p:cNvSpPr txBox="1"/>
          <p:nvPr/>
        </p:nvSpPr>
        <p:spPr>
          <a:xfrm>
            <a:off x="7169449" y="4903470"/>
            <a:ext cx="774571" cy="369332"/>
          </a:xfrm>
          <a:prstGeom prst="rect">
            <a:avLst/>
          </a:prstGeom>
          <a:noFill/>
        </p:spPr>
        <p:txBody>
          <a:bodyPr wrap="none" rtlCol="0">
            <a:spAutoFit/>
          </a:bodyPr>
          <a:lstStyle/>
          <a:p>
            <a:r>
              <a:rPr lang="zh-CN" altLang="en-US" dirty="0" smtClean="0"/>
              <a:t>输出</a:t>
            </a:r>
            <a:r>
              <a:rPr lang="en-US" altLang="zh-CN" dirty="0" smtClean="0"/>
              <a:t>2</a:t>
            </a:r>
            <a:endParaRPr lang="zh-CN" altLang="en-US" dirty="0"/>
          </a:p>
        </p:txBody>
      </p:sp>
      <p:graphicFrame>
        <p:nvGraphicFramePr>
          <p:cNvPr id="23" name="表格 22"/>
          <p:cNvGraphicFramePr>
            <a:graphicFrameLocks noGrp="1"/>
          </p:cNvGraphicFramePr>
          <p:nvPr>
            <p:extLst>
              <p:ext uri="{D42A27DB-BD31-4B8C-83A1-F6EECF244321}">
                <p14:modId xmlns:p14="http://schemas.microsoft.com/office/powerpoint/2010/main" val="2223732989"/>
              </p:ext>
            </p:extLst>
          </p:nvPr>
        </p:nvGraphicFramePr>
        <p:xfrm>
          <a:off x="8522990" y="4390849"/>
          <a:ext cx="540000" cy="540000"/>
        </p:xfrm>
        <a:graphic>
          <a:graphicData uri="http://schemas.openxmlformats.org/drawingml/2006/table">
            <a:tbl>
              <a:tblPr firstRow="1" bandRow="1">
                <a:tableStyleId>{5940675A-B579-460E-94D1-54222C63F5DA}</a:tableStyleId>
              </a:tblPr>
              <a:tblGrid>
                <a:gridCol w="180000"/>
                <a:gridCol w="180000"/>
                <a:gridCol w="180000"/>
              </a:tblGrid>
              <a:tr h="180000">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bl>
          </a:graphicData>
        </a:graphic>
      </p:graphicFrame>
      <p:cxnSp>
        <p:nvCxnSpPr>
          <p:cNvPr id="25" name="直接箭头连接符 24"/>
          <p:cNvCxnSpPr/>
          <p:nvPr/>
        </p:nvCxnSpPr>
        <p:spPr>
          <a:xfrm flipV="1">
            <a:off x="9087257" y="4271927"/>
            <a:ext cx="233814" cy="316568"/>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8430736" y="4015028"/>
            <a:ext cx="1964115" cy="1257774"/>
          </a:xfrm>
          <a:prstGeom prst="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8373202" y="4903470"/>
            <a:ext cx="1005403" cy="369332"/>
          </a:xfrm>
          <a:prstGeom prst="rect">
            <a:avLst/>
          </a:prstGeom>
          <a:noFill/>
        </p:spPr>
        <p:txBody>
          <a:bodyPr wrap="none" rtlCol="0">
            <a:spAutoFit/>
          </a:bodyPr>
          <a:lstStyle/>
          <a:p>
            <a:r>
              <a:rPr lang="zh-CN" altLang="en-US" dirty="0" smtClean="0"/>
              <a:t>卷积核</a:t>
            </a:r>
            <a:r>
              <a:rPr lang="en-US" altLang="zh-CN" dirty="0" smtClean="0"/>
              <a:t>3</a:t>
            </a:r>
            <a:endParaRPr lang="zh-CN" altLang="en-US" dirty="0"/>
          </a:p>
        </p:txBody>
      </p:sp>
      <p:sp>
        <p:nvSpPr>
          <p:cNvPr id="28" name="文本框 27"/>
          <p:cNvSpPr txBox="1"/>
          <p:nvPr/>
        </p:nvSpPr>
        <p:spPr>
          <a:xfrm>
            <a:off x="9321071" y="4903470"/>
            <a:ext cx="774571" cy="369332"/>
          </a:xfrm>
          <a:prstGeom prst="rect">
            <a:avLst/>
          </a:prstGeom>
          <a:noFill/>
        </p:spPr>
        <p:txBody>
          <a:bodyPr wrap="none" rtlCol="0">
            <a:spAutoFit/>
          </a:bodyPr>
          <a:lstStyle/>
          <a:p>
            <a:r>
              <a:rPr lang="zh-CN" altLang="en-US" dirty="0" smtClean="0"/>
              <a:t>输出</a:t>
            </a:r>
            <a:r>
              <a:rPr lang="en-US" altLang="zh-CN" dirty="0" smtClean="0"/>
              <a:t>3</a:t>
            </a:r>
            <a:endParaRPr lang="zh-CN" altLang="en-US" dirty="0"/>
          </a:p>
        </p:txBody>
      </p:sp>
      <p:cxnSp>
        <p:nvCxnSpPr>
          <p:cNvPr id="29" name="直接箭头连接符 28"/>
          <p:cNvCxnSpPr/>
          <p:nvPr/>
        </p:nvCxnSpPr>
        <p:spPr>
          <a:xfrm>
            <a:off x="8159051" y="3952018"/>
            <a:ext cx="271685" cy="551402"/>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1" name="表格 30"/>
          <p:cNvGraphicFramePr>
            <a:graphicFrameLocks noGrp="1"/>
          </p:cNvGraphicFramePr>
          <p:nvPr>
            <p:extLst>
              <p:ext uri="{D42A27DB-BD31-4B8C-83A1-F6EECF244321}">
                <p14:modId xmlns:p14="http://schemas.microsoft.com/office/powerpoint/2010/main" val="3744074690"/>
              </p:ext>
            </p:extLst>
          </p:nvPr>
        </p:nvGraphicFramePr>
        <p:xfrm>
          <a:off x="9361142" y="4210141"/>
          <a:ext cx="720000" cy="720000"/>
        </p:xfrm>
        <a:graphic>
          <a:graphicData uri="http://schemas.openxmlformats.org/drawingml/2006/table">
            <a:tbl>
              <a:tblPr firstRow="1" bandRow="1">
                <a:tableStyleId>{5940675A-B579-460E-94D1-54222C63F5DA}</a:tableStyleId>
              </a:tblPr>
              <a:tblGrid>
                <a:gridCol w="180000"/>
                <a:gridCol w="180000"/>
                <a:gridCol w="180000"/>
                <a:gridCol w="180000"/>
              </a:tblGrid>
              <a:tr h="180000">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r h="180000">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bl>
          </a:graphicData>
        </a:graphic>
      </p:graphicFrame>
    </p:spTree>
    <p:extLst>
      <p:ext uri="{BB962C8B-B14F-4D97-AF65-F5344CB8AC3E}">
        <p14:creationId xmlns:p14="http://schemas.microsoft.com/office/powerpoint/2010/main" val="1578358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感受野</a:t>
            </a:r>
            <a:endParaRPr lang="zh-CN" altLang="en-US" dirty="0"/>
          </a:p>
        </p:txBody>
      </p:sp>
      <p:sp>
        <p:nvSpPr>
          <p:cNvPr id="3" name="内容占位符 2"/>
          <p:cNvSpPr>
            <a:spLocks noGrp="1"/>
          </p:cNvSpPr>
          <p:nvPr>
            <p:ph sz="quarter" idx="13"/>
          </p:nvPr>
        </p:nvSpPr>
        <p:spPr/>
        <p:txBody>
          <a:bodyPr/>
          <a:lstStyle/>
          <a:p>
            <a:r>
              <a:rPr lang="zh-CN" altLang="en-US" dirty="0"/>
              <a:t>卷积神经网络感受野示例</a:t>
            </a:r>
            <a:r>
              <a:rPr lang="en-US" altLang="zh-CN" dirty="0"/>
              <a:t>:</a:t>
            </a:r>
          </a:p>
          <a:p>
            <a:pPr lvl="1"/>
            <a:r>
              <a:rPr lang="zh-CN" altLang="en-US" dirty="0" smtClean="0"/>
              <a:t>第四次</a:t>
            </a:r>
            <a:r>
              <a:rPr lang="zh-CN" altLang="en-US" dirty="0"/>
              <a:t>卷积运算：</a:t>
            </a:r>
            <a:endParaRPr lang="en-US" altLang="zh-CN" dirty="0"/>
          </a:p>
          <a:p>
            <a:pPr lvl="2"/>
            <a:r>
              <a:rPr lang="zh-CN" altLang="en-US" dirty="0" smtClean="0"/>
              <a:t>输出</a:t>
            </a:r>
            <a:r>
              <a:rPr lang="en-US" altLang="zh-CN" dirty="0" smtClean="0"/>
              <a:t>4</a:t>
            </a:r>
            <a:r>
              <a:rPr lang="zh-CN" altLang="en-US" dirty="0" smtClean="0"/>
              <a:t>：</a:t>
            </a:r>
            <a:r>
              <a:rPr lang="en-US" altLang="zh-CN" dirty="0" smtClean="0"/>
              <a:t>2×2</a:t>
            </a:r>
            <a:endParaRPr lang="en-US" altLang="zh-CN" dirty="0"/>
          </a:p>
          <a:p>
            <a:pPr lvl="2"/>
            <a:r>
              <a:rPr lang="en-US" altLang="zh-CN" dirty="0" smtClean="0"/>
              <a:t>RF4=9</a:t>
            </a:r>
            <a:endParaRPr lang="zh-CN" altLang="en-US" dirty="0"/>
          </a:p>
          <a:p>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1143357844"/>
              </p:ext>
            </p:extLst>
          </p:nvPr>
        </p:nvGraphicFramePr>
        <p:xfrm>
          <a:off x="889000" y="3588384"/>
          <a:ext cx="1800000" cy="1800000"/>
        </p:xfrm>
        <a:graphic>
          <a:graphicData uri="http://schemas.openxmlformats.org/drawingml/2006/table">
            <a:tbl>
              <a:tblPr firstRow="1" bandRow="1">
                <a:tableStyleId>{5940675A-B579-460E-94D1-54222C63F5DA}</a:tableStyleId>
              </a:tblPr>
              <a:tblGrid>
                <a:gridCol w="180000"/>
                <a:gridCol w="180000"/>
                <a:gridCol w="180000"/>
                <a:gridCol w="180000"/>
                <a:gridCol w="180000"/>
                <a:gridCol w="180000"/>
                <a:gridCol w="180000"/>
                <a:gridCol w="180000"/>
                <a:gridCol w="180000"/>
                <a:gridCol w="180000"/>
              </a:tblGrid>
              <a:tr h="180000">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r>
              <a:tr h="180000">
                <a:tc>
                  <a:txBody>
                    <a:bodyPr/>
                    <a:lstStyle/>
                    <a:p>
                      <a:endParaRPr lang="zh-CN" altLang="en-US" sz="10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tc>
              </a:tr>
              <a:tr h="180000">
                <a:tc>
                  <a:txBody>
                    <a:bodyPr/>
                    <a:lstStyle/>
                    <a:p>
                      <a:endParaRPr lang="zh-CN" altLang="en-US" sz="100">
                        <a:solidFill>
                          <a:schemeClr val="tx1"/>
                        </a:solidFill>
                      </a:endParaRPr>
                    </a:p>
                  </a:txBody>
                  <a:tcPr marL="0" marR="0" marT="0" marB="0">
                    <a:solidFill>
                      <a:schemeClr val="tx1">
                        <a:lumMod val="50000"/>
                        <a:lumOff val="50000"/>
                      </a:schemeClr>
                    </a:solidFill>
                  </a:tcPr>
                </a:tc>
                <a:tc>
                  <a:txBody>
                    <a:bodyPr/>
                    <a:lstStyle/>
                    <a:p>
                      <a:endParaRPr lang="zh-CN" altLang="en-US" sz="10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3455148560"/>
              </p:ext>
            </p:extLst>
          </p:nvPr>
        </p:nvGraphicFramePr>
        <p:xfrm>
          <a:off x="2971820" y="3563258"/>
          <a:ext cx="540000" cy="540000"/>
        </p:xfrm>
        <a:graphic>
          <a:graphicData uri="http://schemas.openxmlformats.org/drawingml/2006/table">
            <a:tbl>
              <a:tblPr firstRow="1" bandRow="1">
                <a:tableStyleId>{5940675A-B579-460E-94D1-54222C63F5DA}</a:tableStyleId>
              </a:tblPr>
              <a:tblGrid>
                <a:gridCol w="180000"/>
                <a:gridCol w="180000"/>
                <a:gridCol w="180000"/>
              </a:tblGrid>
              <a:tr h="180000">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bl>
          </a:graphicData>
        </a:graphic>
      </p:graphicFrame>
      <p:sp>
        <p:nvSpPr>
          <p:cNvPr id="6" name="文本框 5"/>
          <p:cNvSpPr txBox="1"/>
          <p:nvPr/>
        </p:nvSpPr>
        <p:spPr>
          <a:xfrm>
            <a:off x="2862887" y="4903470"/>
            <a:ext cx="1015021" cy="369332"/>
          </a:xfrm>
          <a:prstGeom prst="rect">
            <a:avLst/>
          </a:prstGeom>
          <a:noFill/>
        </p:spPr>
        <p:txBody>
          <a:bodyPr wrap="none" rtlCol="0">
            <a:spAutoFit/>
          </a:bodyPr>
          <a:lstStyle/>
          <a:p>
            <a:r>
              <a:rPr lang="zh-CN" altLang="en-US" dirty="0" smtClean="0"/>
              <a:t>卷积核</a:t>
            </a:r>
            <a:r>
              <a:rPr lang="en-US" altLang="zh-CN" dirty="0" smtClean="0"/>
              <a:t>1</a:t>
            </a:r>
            <a:endParaRPr lang="zh-CN" altLang="en-US" dirty="0"/>
          </a:p>
        </p:txBody>
      </p:sp>
      <p:graphicFrame>
        <p:nvGraphicFramePr>
          <p:cNvPr id="7" name="表格 6"/>
          <p:cNvGraphicFramePr>
            <a:graphicFrameLocks noGrp="1"/>
          </p:cNvGraphicFramePr>
          <p:nvPr>
            <p:extLst>
              <p:ext uri="{D42A27DB-BD31-4B8C-83A1-F6EECF244321}">
                <p14:modId xmlns:p14="http://schemas.microsoft.com/office/powerpoint/2010/main" val="1535943518"/>
              </p:ext>
            </p:extLst>
          </p:nvPr>
        </p:nvGraphicFramePr>
        <p:xfrm>
          <a:off x="3966025" y="3396767"/>
          <a:ext cx="1440000" cy="1440000"/>
        </p:xfrm>
        <a:graphic>
          <a:graphicData uri="http://schemas.openxmlformats.org/drawingml/2006/table">
            <a:tbl>
              <a:tblPr firstRow="1" bandRow="1">
                <a:tableStyleId>{5940675A-B579-460E-94D1-54222C63F5DA}</a:tableStyleId>
              </a:tblPr>
              <a:tblGrid>
                <a:gridCol w="180000"/>
                <a:gridCol w="180000"/>
                <a:gridCol w="180000"/>
                <a:gridCol w="180000"/>
                <a:gridCol w="180000"/>
                <a:gridCol w="180000"/>
                <a:gridCol w="180000"/>
                <a:gridCol w="180000"/>
              </a:tblGrid>
              <a:tr h="180000">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bl>
          </a:graphicData>
        </a:graphic>
      </p:graphicFrame>
      <p:sp>
        <p:nvSpPr>
          <p:cNvPr id="8" name="文本框 7"/>
          <p:cNvSpPr txBox="1"/>
          <p:nvPr/>
        </p:nvSpPr>
        <p:spPr>
          <a:xfrm>
            <a:off x="4306991" y="4903470"/>
            <a:ext cx="774571" cy="369332"/>
          </a:xfrm>
          <a:prstGeom prst="rect">
            <a:avLst/>
          </a:prstGeom>
          <a:noFill/>
        </p:spPr>
        <p:txBody>
          <a:bodyPr wrap="none" rtlCol="0">
            <a:spAutoFit/>
          </a:bodyPr>
          <a:lstStyle/>
          <a:p>
            <a:r>
              <a:rPr lang="zh-CN" altLang="en-US" dirty="0" smtClean="0"/>
              <a:t>输出</a:t>
            </a:r>
            <a:r>
              <a:rPr lang="en-US" altLang="zh-CN" dirty="0" smtClean="0"/>
              <a:t>1</a:t>
            </a:r>
            <a:endParaRPr lang="zh-CN" altLang="en-US" dirty="0"/>
          </a:p>
        </p:txBody>
      </p:sp>
      <p:sp>
        <p:nvSpPr>
          <p:cNvPr id="9" name="矩形 8"/>
          <p:cNvSpPr/>
          <p:nvPr/>
        </p:nvSpPr>
        <p:spPr>
          <a:xfrm>
            <a:off x="2862888" y="3200400"/>
            <a:ext cx="2669561" cy="2072402"/>
          </a:xfrm>
          <a:prstGeom prst="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箭头连接符 9"/>
          <p:cNvCxnSpPr/>
          <p:nvPr/>
        </p:nvCxnSpPr>
        <p:spPr>
          <a:xfrm flipV="1">
            <a:off x="2548890" y="3800200"/>
            <a:ext cx="434360" cy="316567"/>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3575078" y="3707804"/>
            <a:ext cx="302830" cy="92395"/>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2" name="表格 11"/>
          <p:cNvGraphicFramePr>
            <a:graphicFrameLocks noGrp="1"/>
          </p:cNvGraphicFramePr>
          <p:nvPr>
            <p:extLst>
              <p:ext uri="{D42A27DB-BD31-4B8C-83A1-F6EECF244321}">
                <p14:modId xmlns:p14="http://schemas.microsoft.com/office/powerpoint/2010/main" val="1706188746"/>
              </p:ext>
            </p:extLst>
          </p:nvPr>
        </p:nvGraphicFramePr>
        <p:xfrm>
          <a:off x="5792669" y="3919121"/>
          <a:ext cx="540000" cy="540000"/>
        </p:xfrm>
        <a:graphic>
          <a:graphicData uri="http://schemas.openxmlformats.org/drawingml/2006/table">
            <a:tbl>
              <a:tblPr firstRow="1" bandRow="1">
                <a:tableStyleId>{5940675A-B579-460E-94D1-54222C63F5DA}</a:tableStyleId>
              </a:tblPr>
              <a:tblGrid>
                <a:gridCol w="180000"/>
                <a:gridCol w="180000"/>
                <a:gridCol w="180000"/>
              </a:tblGrid>
              <a:tr h="180000">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bl>
          </a:graphicData>
        </a:graphic>
      </p:graphicFrame>
      <p:graphicFrame>
        <p:nvGraphicFramePr>
          <p:cNvPr id="13" name="表格 12"/>
          <p:cNvGraphicFramePr>
            <a:graphicFrameLocks noGrp="1"/>
          </p:cNvGraphicFramePr>
          <p:nvPr>
            <p:extLst>
              <p:ext uri="{D42A27DB-BD31-4B8C-83A1-F6EECF244321}">
                <p14:modId xmlns:p14="http://schemas.microsoft.com/office/powerpoint/2010/main" val="3402324849"/>
              </p:ext>
            </p:extLst>
          </p:nvPr>
        </p:nvGraphicFramePr>
        <p:xfrm>
          <a:off x="6697829" y="3707804"/>
          <a:ext cx="1080000" cy="1080000"/>
        </p:xfrm>
        <a:graphic>
          <a:graphicData uri="http://schemas.openxmlformats.org/drawingml/2006/table">
            <a:tbl>
              <a:tblPr firstRow="1" bandRow="1">
                <a:tableStyleId>{5940675A-B579-460E-94D1-54222C63F5DA}</a:tableStyleId>
              </a:tblPr>
              <a:tblGrid>
                <a:gridCol w="180000"/>
                <a:gridCol w="180000"/>
                <a:gridCol w="180000"/>
                <a:gridCol w="180000"/>
                <a:gridCol w="180000"/>
                <a:gridCol w="180000"/>
              </a:tblGrid>
              <a:tr h="180000">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bl>
          </a:graphicData>
        </a:graphic>
      </p:graphicFrame>
      <p:cxnSp>
        <p:nvCxnSpPr>
          <p:cNvPr id="14" name="直接箭头连接符 13"/>
          <p:cNvCxnSpPr/>
          <p:nvPr/>
        </p:nvCxnSpPr>
        <p:spPr>
          <a:xfrm flipV="1">
            <a:off x="6356936" y="3952018"/>
            <a:ext cx="308811" cy="164749"/>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a:off x="5292090" y="3800199"/>
            <a:ext cx="437876" cy="234193"/>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5700415" y="3543300"/>
            <a:ext cx="2140874" cy="1729502"/>
          </a:xfrm>
          <a:prstGeom prst="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5660344" y="4903470"/>
            <a:ext cx="1005403" cy="369332"/>
          </a:xfrm>
          <a:prstGeom prst="rect">
            <a:avLst/>
          </a:prstGeom>
          <a:noFill/>
        </p:spPr>
        <p:txBody>
          <a:bodyPr wrap="none" rtlCol="0">
            <a:spAutoFit/>
          </a:bodyPr>
          <a:lstStyle/>
          <a:p>
            <a:r>
              <a:rPr lang="zh-CN" altLang="en-US" dirty="0" smtClean="0"/>
              <a:t>卷积核</a:t>
            </a:r>
            <a:r>
              <a:rPr lang="en-US" altLang="zh-CN" dirty="0"/>
              <a:t>2</a:t>
            </a:r>
            <a:endParaRPr lang="zh-CN" altLang="en-US" dirty="0"/>
          </a:p>
        </p:txBody>
      </p:sp>
      <p:sp>
        <p:nvSpPr>
          <p:cNvPr id="18" name="文本框 17"/>
          <p:cNvSpPr txBox="1"/>
          <p:nvPr/>
        </p:nvSpPr>
        <p:spPr>
          <a:xfrm>
            <a:off x="6781511" y="4892040"/>
            <a:ext cx="774571" cy="369332"/>
          </a:xfrm>
          <a:prstGeom prst="rect">
            <a:avLst/>
          </a:prstGeom>
          <a:noFill/>
        </p:spPr>
        <p:txBody>
          <a:bodyPr wrap="none" rtlCol="0">
            <a:spAutoFit/>
          </a:bodyPr>
          <a:lstStyle/>
          <a:p>
            <a:r>
              <a:rPr lang="zh-CN" altLang="en-US" dirty="0" smtClean="0"/>
              <a:t>输出</a:t>
            </a:r>
            <a:r>
              <a:rPr lang="en-US" altLang="zh-CN" dirty="0" smtClean="0"/>
              <a:t>2</a:t>
            </a:r>
            <a:endParaRPr lang="zh-CN" altLang="en-US" dirty="0"/>
          </a:p>
        </p:txBody>
      </p:sp>
      <p:graphicFrame>
        <p:nvGraphicFramePr>
          <p:cNvPr id="19" name="表格 18"/>
          <p:cNvGraphicFramePr>
            <a:graphicFrameLocks noGrp="1"/>
          </p:cNvGraphicFramePr>
          <p:nvPr>
            <p:extLst>
              <p:ext uri="{D42A27DB-BD31-4B8C-83A1-F6EECF244321}">
                <p14:modId xmlns:p14="http://schemas.microsoft.com/office/powerpoint/2010/main" val="4128433282"/>
              </p:ext>
            </p:extLst>
          </p:nvPr>
        </p:nvGraphicFramePr>
        <p:xfrm>
          <a:off x="8085230" y="4410213"/>
          <a:ext cx="540000" cy="540000"/>
        </p:xfrm>
        <a:graphic>
          <a:graphicData uri="http://schemas.openxmlformats.org/drawingml/2006/table">
            <a:tbl>
              <a:tblPr firstRow="1" bandRow="1">
                <a:tableStyleId>{5940675A-B579-460E-94D1-54222C63F5DA}</a:tableStyleId>
              </a:tblPr>
              <a:tblGrid>
                <a:gridCol w="180000"/>
                <a:gridCol w="180000"/>
                <a:gridCol w="180000"/>
              </a:tblGrid>
              <a:tr h="180000">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bl>
          </a:graphicData>
        </a:graphic>
      </p:graphicFrame>
      <p:cxnSp>
        <p:nvCxnSpPr>
          <p:cNvPr id="20" name="直接箭头连接符 19"/>
          <p:cNvCxnSpPr/>
          <p:nvPr/>
        </p:nvCxnSpPr>
        <p:spPr>
          <a:xfrm flipV="1">
            <a:off x="8649497" y="4291291"/>
            <a:ext cx="233814" cy="316568"/>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7992977" y="4034392"/>
            <a:ext cx="1781254" cy="1257774"/>
          </a:xfrm>
          <a:prstGeom prst="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7935442" y="4922834"/>
            <a:ext cx="1005403" cy="369332"/>
          </a:xfrm>
          <a:prstGeom prst="rect">
            <a:avLst/>
          </a:prstGeom>
          <a:noFill/>
        </p:spPr>
        <p:txBody>
          <a:bodyPr wrap="none" rtlCol="0">
            <a:spAutoFit/>
          </a:bodyPr>
          <a:lstStyle/>
          <a:p>
            <a:r>
              <a:rPr lang="zh-CN" altLang="en-US" dirty="0" smtClean="0"/>
              <a:t>卷积核</a:t>
            </a:r>
            <a:r>
              <a:rPr lang="en-US" altLang="zh-CN" dirty="0" smtClean="0"/>
              <a:t>3</a:t>
            </a:r>
            <a:endParaRPr lang="zh-CN" altLang="en-US" dirty="0"/>
          </a:p>
        </p:txBody>
      </p:sp>
      <p:sp>
        <p:nvSpPr>
          <p:cNvPr id="23" name="文本框 22"/>
          <p:cNvSpPr txBox="1"/>
          <p:nvPr/>
        </p:nvSpPr>
        <p:spPr>
          <a:xfrm>
            <a:off x="8883311" y="4922834"/>
            <a:ext cx="774571" cy="369332"/>
          </a:xfrm>
          <a:prstGeom prst="rect">
            <a:avLst/>
          </a:prstGeom>
          <a:noFill/>
        </p:spPr>
        <p:txBody>
          <a:bodyPr wrap="none" rtlCol="0">
            <a:spAutoFit/>
          </a:bodyPr>
          <a:lstStyle/>
          <a:p>
            <a:r>
              <a:rPr lang="zh-CN" altLang="en-US" dirty="0" smtClean="0"/>
              <a:t>输出</a:t>
            </a:r>
            <a:r>
              <a:rPr lang="en-US" altLang="zh-CN" dirty="0" smtClean="0"/>
              <a:t>3</a:t>
            </a:r>
            <a:endParaRPr lang="zh-CN" altLang="en-US" dirty="0"/>
          </a:p>
        </p:txBody>
      </p:sp>
      <p:cxnSp>
        <p:nvCxnSpPr>
          <p:cNvPr id="24" name="直接箭头连接符 23"/>
          <p:cNvCxnSpPr/>
          <p:nvPr/>
        </p:nvCxnSpPr>
        <p:spPr>
          <a:xfrm>
            <a:off x="7656425" y="4116767"/>
            <a:ext cx="367725" cy="495764"/>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5" name="表格 24"/>
          <p:cNvGraphicFramePr>
            <a:graphicFrameLocks noGrp="1"/>
          </p:cNvGraphicFramePr>
          <p:nvPr>
            <p:extLst>
              <p:ext uri="{D42A27DB-BD31-4B8C-83A1-F6EECF244321}">
                <p14:modId xmlns:p14="http://schemas.microsoft.com/office/powerpoint/2010/main" val="3864831402"/>
              </p:ext>
            </p:extLst>
          </p:nvPr>
        </p:nvGraphicFramePr>
        <p:xfrm>
          <a:off x="8923382" y="4229505"/>
          <a:ext cx="720000" cy="720000"/>
        </p:xfrm>
        <a:graphic>
          <a:graphicData uri="http://schemas.openxmlformats.org/drawingml/2006/table">
            <a:tbl>
              <a:tblPr firstRow="1" bandRow="1">
                <a:tableStyleId>{5940675A-B579-460E-94D1-54222C63F5DA}</a:tableStyleId>
              </a:tblPr>
              <a:tblGrid>
                <a:gridCol w="180000"/>
                <a:gridCol w="180000"/>
                <a:gridCol w="180000"/>
                <a:gridCol w="180000"/>
              </a:tblGrid>
              <a:tr h="180000">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r>
              <a:tr h="180000">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bl>
          </a:graphicData>
        </a:graphic>
      </p:graphicFrame>
      <p:graphicFrame>
        <p:nvGraphicFramePr>
          <p:cNvPr id="54" name="表格 53"/>
          <p:cNvGraphicFramePr>
            <a:graphicFrameLocks noGrp="1"/>
          </p:cNvGraphicFramePr>
          <p:nvPr>
            <p:extLst>
              <p:ext uri="{D42A27DB-BD31-4B8C-83A1-F6EECF244321}">
                <p14:modId xmlns:p14="http://schemas.microsoft.com/office/powerpoint/2010/main" val="2694962899"/>
              </p:ext>
            </p:extLst>
          </p:nvPr>
        </p:nvGraphicFramePr>
        <p:xfrm>
          <a:off x="9974282" y="4407263"/>
          <a:ext cx="540000" cy="540000"/>
        </p:xfrm>
        <a:graphic>
          <a:graphicData uri="http://schemas.openxmlformats.org/drawingml/2006/table">
            <a:tbl>
              <a:tblPr firstRow="1" bandRow="1">
                <a:tableStyleId>{5940675A-B579-460E-94D1-54222C63F5DA}</a:tableStyleId>
              </a:tblPr>
              <a:tblGrid>
                <a:gridCol w="180000"/>
                <a:gridCol w="180000"/>
                <a:gridCol w="180000"/>
              </a:tblGrid>
              <a:tr h="180000">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bl>
          </a:graphicData>
        </a:graphic>
      </p:graphicFrame>
      <p:sp>
        <p:nvSpPr>
          <p:cNvPr id="55" name="文本框 54"/>
          <p:cNvSpPr txBox="1"/>
          <p:nvPr/>
        </p:nvSpPr>
        <p:spPr>
          <a:xfrm>
            <a:off x="9787862" y="4922834"/>
            <a:ext cx="1005403" cy="369332"/>
          </a:xfrm>
          <a:prstGeom prst="rect">
            <a:avLst/>
          </a:prstGeom>
          <a:noFill/>
        </p:spPr>
        <p:txBody>
          <a:bodyPr wrap="none" rtlCol="0">
            <a:spAutoFit/>
          </a:bodyPr>
          <a:lstStyle/>
          <a:p>
            <a:r>
              <a:rPr lang="zh-CN" altLang="en-US" dirty="0" smtClean="0"/>
              <a:t>卷积核</a:t>
            </a:r>
            <a:r>
              <a:rPr lang="en-US" altLang="zh-CN" dirty="0"/>
              <a:t>4</a:t>
            </a:r>
            <a:endParaRPr lang="zh-CN" altLang="en-US" dirty="0"/>
          </a:p>
        </p:txBody>
      </p:sp>
      <p:graphicFrame>
        <p:nvGraphicFramePr>
          <p:cNvPr id="56" name="表格 55"/>
          <p:cNvGraphicFramePr>
            <a:graphicFrameLocks noGrp="1"/>
          </p:cNvGraphicFramePr>
          <p:nvPr>
            <p:extLst>
              <p:ext uri="{D42A27DB-BD31-4B8C-83A1-F6EECF244321}">
                <p14:modId xmlns:p14="http://schemas.microsoft.com/office/powerpoint/2010/main" val="3866822708"/>
              </p:ext>
            </p:extLst>
          </p:nvPr>
        </p:nvGraphicFramePr>
        <p:xfrm>
          <a:off x="10822909" y="4532040"/>
          <a:ext cx="360000" cy="360000"/>
        </p:xfrm>
        <a:graphic>
          <a:graphicData uri="http://schemas.openxmlformats.org/drawingml/2006/table">
            <a:tbl>
              <a:tblPr firstRow="1" bandRow="1">
                <a:tableStyleId>{5940675A-B579-460E-94D1-54222C63F5DA}</a:tableStyleId>
              </a:tblPr>
              <a:tblGrid>
                <a:gridCol w="180000"/>
                <a:gridCol w="180000"/>
              </a:tblGrid>
              <a:tr h="180000">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tc>
              </a:tr>
              <a:tr h="180000">
                <a:tc>
                  <a:txBody>
                    <a:bodyPr/>
                    <a:lstStyle/>
                    <a:p>
                      <a:endParaRPr lang="zh-CN" altLang="en-US" sz="100" dirty="0"/>
                    </a:p>
                  </a:txBody>
                  <a:tcPr marL="0" marR="0" marT="0" marB="0"/>
                </a:tc>
                <a:tc>
                  <a:txBody>
                    <a:bodyPr/>
                    <a:lstStyle/>
                    <a:p>
                      <a:endParaRPr lang="zh-CN" altLang="en-US" sz="100" dirty="0"/>
                    </a:p>
                  </a:txBody>
                  <a:tcPr marL="0" marR="0" marT="0" marB="0"/>
                </a:tc>
              </a:tr>
            </a:tbl>
          </a:graphicData>
        </a:graphic>
      </p:graphicFrame>
      <p:sp>
        <p:nvSpPr>
          <p:cNvPr id="57" name="文本框 56"/>
          <p:cNvSpPr txBox="1"/>
          <p:nvPr/>
        </p:nvSpPr>
        <p:spPr>
          <a:xfrm>
            <a:off x="10695169" y="4922834"/>
            <a:ext cx="774571" cy="369332"/>
          </a:xfrm>
          <a:prstGeom prst="rect">
            <a:avLst/>
          </a:prstGeom>
          <a:noFill/>
        </p:spPr>
        <p:txBody>
          <a:bodyPr wrap="none" rtlCol="0">
            <a:spAutoFit/>
          </a:bodyPr>
          <a:lstStyle/>
          <a:p>
            <a:r>
              <a:rPr lang="zh-CN" altLang="en-US" dirty="0" smtClean="0"/>
              <a:t>输出</a:t>
            </a:r>
            <a:r>
              <a:rPr lang="en-US" altLang="zh-CN" dirty="0"/>
              <a:t>4</a:t>
            </a:r>
            <a:endParaRPr lang="zh-CN" altLang="en-US" dirty="0"/>
          </a:p>
        </p:txBody>
      </p:sp>
      <p:sp>
        <p:nvSpPr>
          <p:cNvPr id="58" name="矩形 57"/>
          <p:cNvSpPr/>
          <p:nvPr/>
        </p:nvSpPr>
        <p:spPr>
          <a:xfrm>
            <a:off x="9854998" y="4291290"/>
            <a:ext cx="1614742" cy="1000875"/>
          </a:xfrm>
          <a:prstGeom prst="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9" name="直接箭头连接符 58"/>
          <p:cNvCxnSpPr>
            <a:endCxn id="54" idx="1"/>
          </p:cNvCxnSpPr>
          <p:nvPr/>
        </p:nvCxnSpPr>
        <p:spPr>
          <a:xfrm>
            <a:off x="9510506" y="4368207"/>
            <a:ext cx="463776" cy="309056"/>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p:nvPr/>
        </p:nvCxnSpPr>
        <p:spPr>
          <a:xfrm flipV="1">
            <a:off x="10543255" y="4607859"/>
            <a:ext cx="250010" cy="139989"/>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48485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感受野</a:t>
            </a:r>
            <a:endParaRPr lang="zh-CN" altLang="en-US" dirty="0"/>
          </a:p>
        </p:txBody>
      </p:sp>
      <p:sp>
        <p:nvSpPr>
          <p:cNvPr id="3" name="内容占位符 2"/>
          <p:cNvSpPr>
            <a:spLocks noGrp="1"/>
          </p:cNvSpPr>
          <p:nvPr>
            <p:ph sz="quarter" idx="13"/>
          </p:nvPr>
        </p:nvSpPr>
        <p:spPr/>
        <p:txBody>
          <a:bodyPr/>
          <a:lstStyle/>
          <a:p>
            <a:r>
              <a:rPr lang="zh-CN" altLang="en-US" dirty="0"/>
              <a:t>卷积神经网络感受野示例</a:t>
            </a:r>
            <a:r>
              <a:rPr lang="en-US" altLang="zh-CN" dirty="0"/>
              <a:t>:</a:t>
            </a:r>
          </a:p>
          <a:p>
            <a:pPr lvl="1"/>
            <a:r>
              <a:rPr lang="zh-CN" altLang="en-US" dirty="0" smtClean="0"/>
              <a:t>第五次池化运算</a:t>
            </a:r>
            <a:r>
              <a:rPr lang="zh-CN" altLang="en-US" dirty="0"/>
              <a:t>：</a:t>
            </a:r>
            <a:endParaRPr lang="en-US" altLang="zh-CN" dirty="0"/>
          </a:p>
          <a:p>
            <a:pPr lvl="2"/>
            <a:r>
              <a:rPr lang="zh-CN" altLang="en-US" dirty="0" smtClean="0"/>
              <a:t>输出</a:t>
            </a:r>
            <a:r>
              <a:rPr lang="en-US" altLang="zh-CN" dirty="0" smtClean="0"/>
              <a:t>5</a:t>
            </a:r>
            <a:r>
              <a:rPr lang="zh-CN" altLang="en-US" dirty="0" smtClean="0"/>
              <a:t>：</a:t>
            </a:r>
            <a:r>
              <a:rPr lang="en-US" altLang="zh-CN" dirty="0" smtClean="0"/>
              <a:t>1×1</a:t>
            </a:r>
            <a:endParaRPr lang="en-US" altLang="zh-CN" dirty="0"/>
          </a:p>
          <a:p>
            <a:pPr lvl="2"/>
            <a:r>
              <a:rPr lang="en-US" altLang="zh-CN" dirty="0" smtClean="0"/>
              <a:t>RF5=10</a:t>
            </a:r>
            <a:endParaRPr lang="zh-CN" altLang="en-US" dirty="0"/>
          </a:p>
          <a:p>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3894156725"/>
              </p:ext>
            </p:extLst>
          </p:nvPr>
        </p:nvGraphicFramePr>
        <p:xfrm>
          <a:off x="889000" y="3588384"/>
          <a:ext cx="1800000" cy="1800000"/>
        </p:xfrm>
        <a:graphic>
          <a:graphicData uri="http://schemas.openxmlformats.org/drawingml/2006/table">
            <a:tbl>
              <a:tblPr firstRow="1" bandRow="1">
                <a:tableStyleId>{5940675A-B579-460E-94D1-54222C63F5DA}</a:tableStyleId>
              </a:tblPr>
              <a:tblGrid>
                <a:gridCol w="180000"/>
                <a:gridCol w="180000"/>
                <a:gridCol w="180000"/>
                <a:gridCol w="180000"/>
                <a:gridCol w="180000"/>
                <a:gridCol w="180000"/>
                <a:gridCol w="180000"/>
                <a:gridCol w="180000"/>
                <a:gridCol w="180000"/>
                <a:gridCol w="180000"/>
              </a:tblGrid>
              <a:tr h="180000">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r>
              <a:tr h="180000">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r>
              <a:tr h="180000">
                <a:tc>
                  <a:txBody>
                    <a:bodyPr/>
                    <a:lstStyle/>
                    <a:p>
                      <a:endParaRPr lang="zh-CN" altLang="en-US" sz="10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3022888871"/>
              </p:ext>
            </p:extLst>
          </p:nvPr>
        </p:nvGraphicFramePr>
        <p:xfrm>
          <a:off x="2971820" y="3563258"/>
          <a:ext cx="540000" cy="540000"/>
        </p:xfrm>
        <a:graphic>
          <a:graphicData uri="http://schemas.openxmlformats.org/drawingml/2006/table">
            <a:tbl>
              <a:tblPr firstRow="1" bandRow="1">
                <a:tableStyleId>{5940675A-B579-460E-94D1-54222C63F5DA}</a:tableStyleId>
              </a:tblPr>
              <a:tblGrid>
                <a:gridCol w="180000"/>
                <a:gridCol w="180000"/>
                <a:gridCol w="180000"/>
              </a:tblGrid>
              <a:tr h="180000">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bl>
          </a:graphicData>
        </a:graphic>
      </p:graphicFrame>
      <p:sp>
        <p:nvSpPr>
          <p:cNvPr id="6" name="文本框 5"/>
          <p:cNvSpPr txBox="1"/>
          <p:nvPr/>
        </p:nvSpPr>
        <p:spPr>
          <a:xfrm>
            <a:off x="2862887" y="4903470"/>
            <a:ext cx="1015021" cy="369332"/>
          </a:xfrm>
          <a:prstGeom prst="rect">
            <a:avLst/>
          </a:prstGeom>
          <a:noFill/>
        </p:spPr>
        <p:txBody>
          <a:bodyPr wrap="none" rtlCol="0">
            <a:spAutoFit/>
          </a:bodyPr>
          <a:lstStyle/>
          <a:p>
            <a:r>
              <a:rPr lang="zh-CN" altLang="en-US" dirty="0" smtClean="0"/>
              <a:t>卷积核</a:t>
            </a:r>
            <a:r>
              <a:rPr lang="en-US" altLang="zh-CN" dirty="0" smtClean="0"/>
              <a:t>1</a:t>
            </a:r>
            <a:endParaRPr lang="zh-CN" altLang="en-US" dirty="0"/>
          </a:p>
        </p:txBody>
      </p:sp>
      <p:graphicFrame>
        <p:nvGraphicFramePr>
          <p:cNvPr id="7" name="表格 6"/>
          <p:cNvGraphicFramePr>
            <a:graphicFrameLocks noGrp="1"/>
          </p:cNvGraphicFramePr>
          <p:nvPr>
            <p:extLst>
              <p:ext uri="{D42A27DB-BD31-4B8C-83A1-F6EECF244321}">
                <p14:modId xmlns:p14="http://schemas.microsoft.com/office/powerpoint/2010/main" val="2587832693"/>
              </p:ext>
            </p:extLst>
          </p:nvPr>
        </p:nvGraphicFramePr>
        <p:xfrm>
          <a:off x="3966025" y="3396767"/>
          <a:ext cx="1440000" cy="1440000"/>
        </p:xfrm>
        <a:graphic>
          <a:graphicData uri="http://schemas.openxmlformats.org/drawingml/2006/table">
            <a:tbl>
              <a:tblPr firstRow="1" bandRow="1">
                <a:tableStyleId>{5940675A-B579-460E-94D1-54222C63F5DA}</a:tableStyleId>
              </a:tblPr>
              <a:tblGrid>
                <a:gridCol w="180000"/>
                <a:gridCol w="180000"/>
                <a:gridCol w="180000"/>
                <a:gridCol w="180000"/>
                <a:gridCol w="180000"/>
                <a:gridCol w="180000"/>
                <a:gridCol w="180000"/>
                <a:gridCol w="180000"/>
              </a:tblGrid>
              <a:tr h="180000">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r>
            </a:tbl>
          </a:graphicData>
        </a:graphic>
      </p:graphicFrame>
      <p:sp>
        <p:nvSpPr>
          <p:cNvPr id="8" name="文本框 7"/>
          <p:cNvSpPr txBox="1"/>
          <p:nvPr/>
        </p:nvSpPr>
        <p:spPr>
          <a:xfrm>
            <a:off x="4306991" y="4903470"/>
            <a:ext cx="774571" cy="369332"/>
          </a:xfrm>
          <a:prstGeom prst="rect">
            <a:avLst/>
          </a:prstGeom>
          <a:noFill/>
        </p:spPr>
        <p:txBody>
          <a:bodyPr wrap="none" rtlCol="0">
            <a:spAutoFit/>
          </a:bodyPr>
          <a:lstStyle/>
          <a:p>
            <a:r>
              <a:rPr lang="zh-CN" altLang="en-US" dirty="0" smtClean="0"/>
              <a:t>输出</a:t>
            </a:r>
            <a:r>
              <a:rPr lang="en-US" altLang="zh-CN" dirty="0" smtClean="0"/>
              <a:t>1</a:t>
            </a:r>
            <a:endParaRPr lang="zh-CN" altLang="en-US" dirty="0"/>
          </a:p>
        </p:txBody>
      </p:sp>
      <p:sp>
        <p:nvSpPr>
          <p:cNvPr id="9" name="矩形 8"/>
          <p:cNvSpPr/>
          <p:nvPr/>
        </p:nvSpPr>
        <p:spPr>
          <a:xfrm>
            <a:off x="2862888" y="3200400"/>
            <a:ext cx="2669561" cy="2072402"/>
          </a:xfrm>
          <a:prstGeom prst="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箭头连接符 9"/>
          <p:cNvCxnSpPr/>
          <p:nvPr/>
        </p:nvCxnSpPr>
        <p:spPr>
          <a:xfrm flipV="1">
            <a:off x="2548890" y="3800200"/>
            <a:ext cx="434360" cy="316567"/>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3575078" y="3707804"/>
            <a:ext cx="302830" cy="92395"/>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2" name="表格 11"/>
          <p:cNvGraphicFramePr>
            <a:graphicFrameLocks noGrp="1"/>
          </p:cNvGraphicFramePr>
          <p:nvPr>
            <p:extLst>
              <p:ext uri="{D42A27DB-BD31-4B8C-83A1-F6EECF244321}">
                <p14:modId xmlns:p14="http://schemas.microsoft.com/office/powerpoint/2010/main" val="1278830037"/>
              </p:ext>
            </p:extLst>
          </p:nvPr>
        </p:nvGraphicFramePr>
        <p:xfrm>
          <a:off x="5792669" y="3919121"/>
          <a:ext cx="540000" cy="540000"/>
        </p:xfrm>
        <a:graphic>
          <a:graphicData uri="http://schemas.openxmlformats.org/drawingml/2006/table">
            <a:tbl>
              <a:tblPr firstRow="1" bandRow="1">
                <a:tableStyleId>{5940675A-B579-460E-94D1-54222C63F5DA}</a:tableStyleId>
              </a:tblPr>
              <a:tblGrid>
                <a:gridCol w="180000"/>
                <a:gridCol w="180000"/>
                <a:gridCol w="180000"/>
              </a:tblGrid>
              <a:tr h="180000">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bl>
          </a:graphicData>
        </a:graphic>
      </p:graphicFrame>
      <p:graphicFrame>
        <p:nvGraphicFramePr>
          <p:cNvPr id="13" name="表格 12"/>
          <p:cNvGraphicFramePr>
            <a:graphicFrameLocks noGrp="1"/>
          </p:cNvGraphicFramePr>
          <p:nvPr>
            <p:extLst>
              <p:ext uri="{D42A27DB-BD31-4B8C-83A1-F6EECF244321}">
                <p14:modId xmlns:p14="http://schemas.microsoft.com/office/powerpoint/2010/main" val="3793467250"/>
              </p:ext>
            </p:extLst>
          </p:nvPr>
        </p:nvGraphicFramePr>
        <p:xfrm>
          <a:off x="6697829" y="3707804"/>
          <a:ext cx="1080000" cy="1080000"/>
        </p:xfrm>
        <a:graphic>
          <a:graphicData uri="http://schemas.openxmlformats.org/drawingml/2006/table">
            <a:tbl>
              <a:tblPr firstRow="1" bandRow="1">
                <a:tableStyleId>{5940675A-B579-460E-94D1-54222C63F5DA}</a:tableStyleId>
              </a:tblPr>
              <a:tblGrid>
                <a:gridCol w="180000"/>
                <a:gridCol w="180000"/>
                <a:gridCol w="180000"/>
                <a:gridCol w="180000"/>
                <a:gridCol w="180000"/>
                <a:gridCol w="180000"/>
              </a:tblGrid>
              <a:tr h="180000">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r>
            </a:tbl>
          </a:graphicData>
        </a:graphic>
      </p:graphicFrame>
      <p:cxnSp>
        <p:nvCxnSpPr>
          <p:cNvPr id="14" name="直接箭头连接符 13"/>
          <p:cNvCxnSpPr/>
          <p:nvPr/>
        </p:nvCxnSpPr>
        <p:spPr>
          <a:xfrm flipV="1">
            <a:off x="6356936" y="3952018"/>
            <a:ext cx="308811" cy="164749"/>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a:off x="5292090" y="3800199"/>
            <a:ext cx="437876" cy="234193"/>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5700415" y="3543300"/>
            <a:ext cx="2140874" cy="1729502"/>
          </a:xfrm>
          <a:prstGeom prst="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5660344" y="4903470"/>
            <a:ext cx="1005403" cy="369332"/>
          </a:xfrm>
          <a:prstGeom prst="rect">
            <a:avLst/>
          </a:prstGeom>
          <a:noFill/>
        </p:spPr>
        <p:txBody>
          <a:bodyPr wrap="none" rtlCol="0">
            <a:spAutoFit/>
          </a:bodyPr>
          <a:lstStyle/>
          <a:p>
            <a:r>
              <a:rPr lang="zh-CN" altLang="en-US" dirty="0" smtClean="0"/>
              <a:t>卷积核</a:t>
            </a:r>
            <a:r>
              <a:rPr lang="en-US" altLang="zh-CN" dirty="0"/>
              <a:t>2</a:t>
            </a:r>
            <a:endParaRPr lang="zh-CN" altLang="en-US" dirty="0"/>
          </a:p>
        </p:txBody>
      </p:sp>
      <p:sp>
        <p:nvSpPr>
          <p:cNvPr id="18" name="文本框 17"/>
          <p:cNvSpPr txBox="1"/>
          <p:nvPr/>
        </p:nvSpPr>
        <p:spPr>
          <a:xfrm>
            <a:off x="6781511" y="4892040"/>
            <a:ext cx="774571" cy="369332"/>
          </a:xfrm>
          <a:prstGeom prst="rect">
            <a:avLst/>
          </a:prstGeom>
          <a:noFill/>
        </p:spPr>
        <p:txBody>
          <a:bodyPr wrap="none" rtlCol="0">
            <a:spAutoFit/>
          </a:bodyPr>
          <a:lstStyle/>
          <a:p>
            <a:r>
              <a:rPr lang="zh-CN" altLang="en-US" dirty="0" smtClean="0"/>
              <a:t>输出</a:t>
            </a:r>
            <a:r>
              <a:rPr lang="en-US" altLang="zh-CN" dirty="0" smtClean="0"/>
              <a:t>2</a:t>
            </a:r>
            <a:endParaRPr lang="zh-CN" altLang="en-US" dirty="0"/>
          </a:p>
        </p:txBody>
      </p:sp>
      <p:graphicFrame>
        <p:nvGraphicFramePr>
          <p:cNvPr id="19" name="表格 18"/>
          <p:cNvGraphicFramePr>
            <a:graphicFrameLocks noGrp="1"/>
          </p:cNvGraphicFramePr>
          <p:nvPr>
            <p:extLst>
              <p:ext uri="{D42A27DB-BD31-4B8C-83A1-F6EECF244321}">
                <p14:modId xmlns:p14="http://schemas.microsoft.com/office/powerpoint/2010/main" val="2703367139"/>
              </p:ext>
            </p:extLst>
          </p:nvPr>
        </p:nvGraphicFramePr>
        <p:xfrm>
          <a:off x="8085230" y="4410213"/>
          <a:ext cx="540000" cy="540000"/>
        </p:xfrm>
        <a:graphic>
          <a:graphicData uri="http://schemas.openxmlformats.org/drawingml/2006/table">
            <a:tbl>
              <a:tblPr firstRow="1" bandRow="1">
                <a:tableStyleId>{5940675A-B579-460E-94D1-54222C63F5DA}</a:tableStyleId>
              </a:tblPr>
              <a:tblGrid>
                <a:gridCol w="180000"/>
                <a:gridCol w="180000"/>
                <a:gridCol w="180000"/>
              </a:tblGrid>
              <a:tr h="180000">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bl>
          </a:graphicData>
        </a:graphic>
      </p:graphicFrame>
      <p:cxnSp>
        <p:nvCxnSpPr>
          <p:cNvPr id="20" name="直接箭头连接符 19"/>
          <p:cNvCxnSpPr/>
          <p:nvPr/>
        </p:nvCxnSpPr>
        <p:spPr>
          <a:xfrm flipV="1">
            <a:off x="8649497" y="4291291"/>
            <a:ext cx="233814" cy="316568"/>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7992977" y="4034392"/>
            <a:ext cx="1781254" cy="1257774"/>
          </a:xfrm>
          <a:prstGeom prst="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7935442" y="4922834"/>
            <a:ext cx="1005403" cy="369332"/>
          </a:xfrm>
          <a:prstGeom prst="rect">
            <a:avLst/>
          </a:prstGeom>
          <a:noFill/>
        </p:spPr>
        <p:txBody>
          <a:bodyPr wrap="none" rtlCol="0">
            <a:spAutoFit/>
          </a:bodyPr>
          <a:lstStyle/>
          <a:p>
            <a:r>
              <a:rPr lang="zh-CN" altLang="en-US" dirty="0" smtClean="0"/>
              <a:t>卷积核</a:t>
            </a:r>
            <a:r>
              <a:rPr lang="en-US" altLang="zh-CN" dirty="0" smtClean="0"/>
              <a:t>3</a:t>
            </a:r>
            <a:endParaRPr lang="zh-CN" altLang="en-US" dirty="0"/>
          </a:p>
        </p:txBody>
      </p:sp>
      <p:sp>
        <p:nvSpPr>
          <p:cNvPr id="23" name="文本框 22"/>
          <p:cNvSpPr txBox="1"/>
          <p:nvPr/>
        </p:nvSpPr>
        <p:spPr>
          <a:xfrm>
            <a:off x="8883311" y="4922834"/>
            <a:ext cx="774571" cy="369332"/>
          </a:xfrm>
          <a:prstGeom prst="rect">
            <a:avLst/>
          </a:prstGeom>
          <a:noFill/>
        </p:spPr>
        <p:txBody>
          <a:bodyPr wrap="none" rtlCol="0">
            <a:spAutoFit/>
          </a:bodyPr>
          <a:lstStyle/>
          <a:p>
            <a:r>
              <a:rPr lang="zh-CN" altLang="en-US" dirty="0" smtClean="0"/>
              <a:t>输出</a:t>
            </a:r>
            <a:r>
              <a:rPr lang="en-US" altLang="zh-CN" dirty="0" smtClean="0"/>
              <a:t>3</a:t>
            </a:r>
            <a:endParaRPr lang="zh-CN" altLang="en-US" dirty="0"/>
          </a:p>
        </p:txBody>
      </p:sp>
      <p:cxnSp>
        <p:nvCxnSpPr>
          <p:cNvPr id="24" name="直接箭头连接符 23"/>
          <p:cNvCxnSpPr/>
          <p:nvPr/>
        </p:nvCxnSpPr>
        <p:spPr>
          <a:xfrm>
            <a:off x="7656425" y="4116767"/>
            <a:ext cx="367725" cy="495764"/>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5" name="表格 24"/>
          <p:cNvGraphicFramePr>
            <a:graphicFrameLocks noGrp="1"/>
          </p:cNvGraphicFramePr>
          <p:nvPr>
            <p:extLst>
              <p:ext uri="{D42A27DB-BD31-4B8C-83A1-F6EECF244321}">
                <p14:modId xmlns:p14="http://schemas.microsoft.com/office/powerpoint/2010/main" val="1577418857"/>
              </p:ext>
            </p:extLst>
          </p:nvPr>
        </p:nvGraphicFramePr>
        <p:xfrm>
          <a:off x="8923382" y="4229505"/>
          <a:ext cx="720000" cy="720000"/>
        </p:xfrm>
        <a:graphic>
          <a:graphicData uri="http://schemas.openxmlformats.org/drawingml/2006/table">
            <a:tbl>
              <a:tblPr firstRow="1" bandRow="1">
                <a:tableStyleId>{5940675A-B579-460E-94D1-54222C63F5DA}</a:tableStyleId>
              </a:tblPr>
              <a:tblGrid>
                <a:gridCol w="180000"/>
                <a:gridCol w="180000"/>
                <a:gridCol w="180000"/>
                <a:gridCol w="180000"/>
              </a:tblGrid>
              <a:tr h="180000">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r>
              <a:tr h="180000">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r>
            </a:tbl>
          </a:graphicData>
        </a:graphic>
      </p:graphicFrame>
      <p:graphicFrame>
        <p:nvGraphicFramePr>
          <p:cNvPr id="26" name="表格 25"/>
          <p:cNvGraphicFramePr>
            <a:graphicFrameLocks noGrp="1"/>
          </p:cNvGraphicFramePr>
          <p:nvPr>
            <p:extLst>
              <p:ext uri="{D42A27DB-BD31-4B8C-83A1-F6EECF244321}">
                <p14:modId xmlns:p14="http://schemas.microsoft.com/office/powerpoint/2010/main" val="2223648138"/>
              </p:ext>
            </p:extLst>
          </p:nvPr>
        </p:nvGraphicFramePr>
        <p:xfrm>
          <a:off x="9974282" y="4407263"/>
          <a:ext cx="540000" cy="540000"/>
        </p:xfrm>
        <a:graphic>
          <a:graphicData uri="http://schemas.openxmlformats.org/drawingml/2006/table">
            <a:tbl>
              <a:tblPr firstRow="1" bandRow="1">
                <a:tableStyleId>{5940675A-B579-460E-94D1-54222C63F5DA}</a:tableStyleId>
              </a:tblPr>
              <a:tblGrid>
                <a:gridCol w="180000"/>
                <a:gridCol w="180000"/>
                <a:gridCol w="180000"/>
              </a:tblGrid>
              <a:tr h="180000">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bl>
          </a:graphicData>
        </a:graphic>
      </p:graphicFrame>
      <p:sp>
        <p:nvSpPr>
          <p:cNvPr id="27" name="文本框 26"/>
          <p:cNvSpPr txBox="1"/>
          <p:nvPr/>
        </p:nvSpPr>
        <p:spPr>
          <a:xfrm>
            <a:off x="9787862" y="4922834"/>
            <a:ext cx="1005403" cy="369332"/>
          </a:xfrm>
          <a:prstGeom prst="rect">
            <a:avLst/>
          </a:prstGeom>
          <a:noFill/>
        </p:spPr>
        <p:txBody>
          <a:bodyPr wrap="none" rtlCol="0">
            <a:spAutoFit/>
          </a:bodyPr>
          <a:lstStyle/>
          <a:p>
            <a:r>
              <a:rPr lang="zh-CN" altLang="en-US" dirty="0" smtClean="0"/>
              <a:t>卷积核</a:t>
            </a:r>
            <a:r>
              <a:rPr lang="en-US" altLang="zh-CN" dirty="0"/>
              <a:t>4</a:t>
            </a:r>
            <a:endParaRPr lang="zh-CN" altLang="en-US" dirty="0"/>
          </a:p>
        </p:txBody>
      </p:sp>
      <p:graphicFrame>
        <p:nvGraphicFramePr>
          <p:cNvPr id="28" name="表格 27"/>
          <p:cNvGraphicFramePr>
            <a:graphicFrameLocks noGrp="1"/>
          </p:cNvGraphicFramePr>
          <p:nvPr>
            <p:extLst>
              <p:ext uri="{D42A27DB-BD31-4B8C-83A1-F6EECF244321}">
                <p14:modId xmlns:p14="http://schemas.microsoft.com/office/powerpoint/2010/main" val="1443254961"/>
              </p:ext>
            </p:extLst>
          </p:nvPr>
        </p:nvGraphicFramePr>
        <p:xfrm>
          <a:off x="10822909" y="4532040"/>
          <a:ext cx="360000" cy="360000"/>
        </p:xfrm>
        <a:graphic>
          <a:graphicData uri="http://schemas.openxmlformats.org/drawingml/2006/table">
            <a:tbl>
              <a:tblPr firstRow="1" bandRow="1">
                <a:tableStyleId>{5940675A-B579-460E-94D1-54222C63F5DA}</a:tableStyleId>
              </a:tblPr>
              <a:tblGrid>
                <a:gridCol w="180000"/>
                <a:gridCol w="180000"/>
              </a:tblGrid>
              <a:tr h="180000">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r>
              <a:tr h="180000">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r>
            </a:tbl>
          </a:graphicData>
        </a:graphic>
      </p:graphicFrame>
      <p:sp>
        <p:nvSpPr>
          <p:cNvPr id="29" name="文本框 28"/>
          <p:cNvSpPr txBox="1"/>
          <p:nvPr/>
        </p:nvSpPr>
        <p:spPr>
          <a:xfrm>
            <a:off x="10695169" y="4922834"/>
            <a:ext cx="774571" cy="369332"/>
          </a:xfrm>
          <a:prstGeom prst="rect">
            <a:avLst/>
          </a:prstGeom>
          <a:noFill/>
        </p:spPr>
        <p:txBody>
          <a:bodyPr wrap="none" rtlCol="0">
            <a:spAutoFit/>
          </a:bodyPr>
          <a:lstStyle/>
          <a:p>
            <a:r>
              <a:rPr lang="zh-CN" altLang="en-US" dirty="0" smtClean="0"/>
              <a:t>输出</a:t>
            </a:r>
            <a:r>
              <a:rPr lang="en-US" altLang="zh-CN" dirty="0"/>
              <a:t>4</a:t>
            </a:r>
            <a:endParaRPr lang="zh-CN" altLang="en-US" dirty="0"/>
          </a:p>
        </p:txBody>
      </p:sp>
      <p:sp>
        <p:nvSpPr>
          <p:cNvPr id="30" name="矩形 29"/>
          <p:cNvSpPr/>
          <p:nvPr/>
        </p:nvSpPr>
        <p:spPr>
          <a:xfrm>
            <a:off x="9854998" y="4291290"/>
            <a:ext cx="1614742" cy="1000875"/>
          </a:xfrm>
          <a:prstGeom prst="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1" name="直接箭头连接符 30"/>
          <p:cNvCxnSpPr>
            <a:endCxn id="26" idx="1"/>
          </p:cNvCxnSpPr>
          <p:nvPr/>
        </p:nvCxnSpPr>
        <p:spPr>
          <a:xfrm>
            <a:off x="9510506" y="4368207"/>
            <a:ext cx="463776" cy="309056"/>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flipV="1">
            <a:off x="10543255" y="4607859"/>
            <a:ext cx="250010" cy="139989"/>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3" name="表格 32"/>
          <p:cNvGraphicFramePr>
            <a:graphicFrameLocks noGrp="1"/>
          </p:cNvGraphicFramePr>
          <p:nvPr>
            <p:extLst>
              <p:ext uri="{D42A27DB-BD31-4B8C-83A1-F6EECF244321}">
                <p14:modId xmlns:p14="http://schemas.microsoft.com/office/powerpoint/2010/main" val="894898227"/>
              </p:ext>
            </p:extLst>
          </p:nvPr>
        </p:nvGraphicFramePr>
        <p:xfrm>
          <a:off x="10110563" y="3648894"/>
          <a:ext cx="360000" cy="360000"/>
        </p:xfrm>
        <a:graphic>
          <a:graphicData uri="http://schemas.openxmlformats.org/drawingml/2006/table">
            <a:tbl>
              <a:tblPr firstRow="1" bandRow="1">
                <a:tableStyleId>{5940675A-B579-460E-94D1-54222C63F5DA}</a:tableStyleId>
              </a:tblPr>
              <a:tblGrid>
                <a:gridCol w="180000"/>
                <a:gridCol w="180000"/>
              </a:tblGrid>
              <a:tr h="180000">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bl>
          </a:graphicData>
        </a:graphic>
      </p:graphicFrame>
      <p:graphicFrame>
        <p:nvGraphicFramePr>
          <p:cNvPr id="36" name="表格 35"/>
          <p:cNvGraphicFramePr>
            <a:graphicFrameLocks noGrp="1"/>
          </p:cNvGraphicFramePr>
          <p:nvPr>
            <p:extLst>
              <p:ext uri="{D42A27DB-BD31-4B8C-83A1-F6EECF244321}">
                <p14:modId xmlns:p14="http://schemas.microsoft.com/office/powerpoint/2010/main" val="2447164856"/>
              </p:ext>
            </p:extLst>
          </p:nvPr>
        </p:nvGraphicFramePr>
        <p:xfrm>
          <a:off x="10976145" y="3733544"/>
          <a:ext cx="180000" cy="180000"/>
        </p:xfrm>
        <a:graphic>
          <a:graphicData uri="http://schemas.openxmlformats.org/drawingml/2006/table">
            <a:tbl>
              <a:tblPr firstRow="1" bandRow="1">
                <a:tableStyleId>{5940675A-B579-460E-94D1-54222C63F5DA}</a:tableStyleId>
              </a:tblPr>
              <a:tblGrid>
                <a:gridCol w="180000"/>
              </a:tblGrid>
              <a:tr h="180000">
                <a:tc>
                  <a:txBody>
                    <a:bodyPr/>
                    <a:lstStyle/>
                    <a:p>
                      <a:endParaRPr lang="zh-CN" altLang="en-US" sz="100" dirty="0"/>
                    </a:p>
                  </a:txBody>
                  <a:tcPr marL="0" marR="0" marT="0" marB="0">
                    <a:solidFill>
                      <a:schemeClr val="tx1">
                        <a:lumMod val="50000"/>
                        <a:lumOff val="50000"/>
                      </a:schemeClr>
                    </a:solidFill>
                  </a:tcPr>
                </a:tc>
              </a:tr>
            </a:tbl>
          </a:graphicData>
        </a:graphic>
      </p:graphicFrame>
      <p:sp>
        <p:nvSpPr>
          <p:cNvPr id="37" name="文本框 36"/>
          <p:cNvSpPr txBox="1"/>
          <p:nvPr/>
        </p:nvSpPr>
        <p:spPr>
          <a:xfrm>
            <a:off x="9844988" y="3171914"/>
            <a:ext cx="1005403" cy="369332"/>
          </a:xfrm>
          <a:prstGeom prst="rect">
            <a:avLst/>
          </a:prstGeom>
          <a:noFill/>
        </p:spPr>
        <p:txBody>
          <a:bodyPr wrap="none" rtlCol="0">
            <a:spAutoFit/>
          </a:bodyPr>
          <a:lstStyle/>
          <a:p>
            <a:r>
              <a:rPr lang="zh-CN" altLang="en-US" dirty="0" smtClean="0"/>
              <a:t>池化核</a:t>
            </a:r>
            <a:r>
              <a:rPr lang="en-US" altLang="zh-CN" dirty="0" smtClean="0"/>
              <a:t>5</a:t>
            </a:r>
            <a:endParaRPr lang="zh-CN" altLang="en-US" dirty="0"/>
          </a:p>
        </p:txBody>
      </p:sp>
      <p:sp>
        <p:nvSpPr>
          <p:cNvPr id="38" name="文本框 37"/>
          <p:cNvSpPr txBox="1"/>
          <p:nvPr/>
        </p:nvSpPr>
        <p:spPr>
          <a:xfrm>
            <a:off x="10745917" y="3171913"/>
            <a:ext cx="774571" cy="369332"/>
          </a:xfrm>
          <a:prstGeom prst="rect">
            <a:avLst/>
          </a:prstGeom>
          <a:noFill/>
        </p:spPr>
        <p:txBody>
          <a:bodyPr wrap="none" rtlCol="0">
            <a:spAutoFit/>
          </a:bodyPr>
          <a:lstStyle/>
          <a:p>
            <a:r>
              <a:rPr lang="zh-CN" altLang="en-US" dirty="0" smtClean="0"/>
              <a:t>输出</a:t>
            </a:r>
            <a:r>
              <a:rPr lang="en-US" altLang="zh-CN" dirty="0" smtClean="0"/>
              <a:t>5</a:t>
            </a:r>
            <a:endParaRPr lang="zh-CN" altLang="en-US" dirty="0"/>
          </a:p>
        </p:txBody>
      </p:sp>
      <p:sp>
        <p:nvSpPr>
          <p:cNvPr id="39" name="矩形 38"/>
          <p:cNvSpPr/>
          <p:nvPr/>
        </p:nvSpPr>
        <p:spPr>
          <a:xfrm>
            <a:off x="9844988" y="3207366"/>
            <a:ext cx="1614742" cy="1000875"/>
          </a:xfrm>
          <a:prstGeom prst="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0" name="直接箭头连接符 39"/>
          <p:cNvCxnSpPr/>
          <p:nvPr/>
        </p:nvCxnSpPr>
        <p:spPr>
          <a:xfrm flipH="1" flipV="1">
            <a:off x="10543255" y="3952018"/>
            <a:ext cx="305385" cy="537339"/>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nvCxnSpPr>
        <p:spPr>
          <a:xfrm flipV="1">
            <a:off x="10525534" y="3799737"/>
            <a:ext cx="339269" cy="49014"/>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953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感受野</a:t>
            </a:r>
            <a:endParaRPr lang="zh-CN" altLang="en-US" dirty="0"/>
          </a:p>
        </p:txBody>
      </p:sp>
      <p:sp>
        <p:nvSpPr>
          <p:cNvPr id="3" name="内容占位符 2"/>
          <p:cNvSpPr>
            <a:spLocks noGrp="1"/>
          </p:cNvSpPr>
          <p:nvPr>
            <p:ph sz="quarter" idx="13"/>
          </p:nvPr>
        </p:nvSpPr>
        <p:spPr/>
        <p:txBody>
          <a:bodyPr/>
          <a:lstStyle/>
          <a:p>
            <a:r>
              <a:rPr lang="zh-CN" altLang="en-US" dirty="0" smtClean="0"/>
              <a:t>感受野的推导是一个递推的过程：</a:t>
            </a:r>
            <a:endParaRPr lang="en-US" altLang="zh-CN" dirty="0" smtClean="0"/>
          </a:p>
          <a:p>
            <a:pPr lvl="1"/>
            <a:r>
              <a:rPr lang="en-US" altLang="zh-CN" dirty="0" smtClean="0"/>
              <a:t>RF1 = 3   = k1</a:t>
            </a:r>
            <a:r>
              <a:rPr lang="zh-CN" altLang="en-US" dirty="0" smtClean="0"/>
              <a:t>（第一层的感受野，永远等于第一个卷积核的尺寸大小） </a:t>
            </a:r>
            <a:r>
              <a:rPr lang="en-US" altLang="zh-CN" dirty="0" err="1" smtClean="0"/>
              <a:t>kn</a:t>
            </a:r>
            <a:r>
              <a:rPr lang="zh-CN" altLang="en-US" dirty="0" smtClean="0"/>
              <a:t>表示第</a:t>
            </a:r>
            <a:r>
              <a:rPr lang="en-US" altLang="zh-CN" dirty="0"/>
              <a:t>n</a:t>
            </a:r>
            <a:r>
              <a:rPr lang="zh-CN" altLang="en-US" dirty="0" smtClean="0"/>
              <a:t>层（卷积</a:t>
            </a:r>
            <a:r>
              <a:rPr lang="en-US" altLang="zh-CN" dirty="0" smtClean="0"/>
              <a:t>/</a:t>
            </a:r>
            <a:r>
              <a:rPr lang="zh-CN" altLang="en-US" dirty="0" smtClean="0"/>
              <a:t>池化层）的核大小</a:t>
            </a:r>
            <a:endParaRPr lang="en-US" altLang="zh-CN" dirty="0" smtClean="0"/>
          </a:p>
          <a:p>
            <a:pPr lvl="1"/>
            <a:r>
              <a:rPr lang="en-US" altLang="zh-CN" dirty="0" smtClean="0"/>
              <a:t>RF2 = 5   = k1 + (k2 - 1)                                                    = RF1 + (k2 - 1)</a:t>
            </a:r>
          </a:p>
          <a:p>
            <a:pPr lvl="1"/>
            <a:r>
              <a:rPr lang="en-US" altLang="zh-CN" dirty="0" smtClean="0"/>
              <a:t>RF3 = 7   = </a:t>
            </a:r>
            <a:r>
              <a:rPr lang="en-US" altLang="zh-CN" dirty="0"/>
              <a:t>k1 + (k2 - 1) </a:t>
            </a:r>
            <a:r>
              <a:rPr lang="en-US" altLang="zh-CN" dirty="0" smtClean="0"/>
              <a:t>+ (k3 - 1)                                     = RF2 + (k3 - 1)</a:t>
            </a:r>
          </a:p>
          <a:p>
            <a:pPr lvl="1"/>
            <a:r>
              <a:rPr lang="en-US" altLang="zh-CN" dirty="0" smtClean="0"/>
              <a:t>RF4 = 9   = k1 + (k2 - 1) + (k3 - 1) + (k4 - 1)                      = RF3 + (k4 - 1)</a:t>
            </a:r>
          </a:p>
          <a:p>
            <a:pPr lvl="1"/>
            <a:r>
              <a:rPr lang="en-US" altLang="zh-CN" dirty="0" smtClean="0"/>
              <a:t>RF5 = 10 = </a:t>
            </a:r>
            <a:r>
              <a:rPr lang="en-US" altLang="zh-CN" dirty="0"/>
              <a:t>k1 + (k2 - 1) + (k3 - 1) + (k4 - 1) </a:t>
            </a:r>
            <a:r>
              <a:rPr lang="en-US" altLang="zh-CN" dirty="0" smtClean="0"/>
              <a:t>+ (k5 - 1)       = RF4 + (k5 - 1)</a:t>
            </a:r>
          </a:p>
          <a:p>
            <a:r>
              <a:rPr lang="zh-CN" altLang="en-US" dirty="0" smtClean="0"/>
              <a:t>当每一次卷积运算步长不为</a:t>
            </a:r>
            <a:r>
              <a:rPr lang="en-US" altLang="zh-CN" dirty="0" smtClean="0"/>
              <a:t>1</a:t>
            </a:r>
            <a:r>
              <a:rPr lang="zh-CN" altLang="en-US" dirty="0" smtClean="0"/>
              <a:t>时，感受野递推公式：</a:t>
            </a:r>
            <a:endParaRPr lang="en-US" altLang="zh-CN" dirty="0" smtClean="0"/>
          </a:p>
          <a:p>
            <a:pPr lvl="1"/>
            <a:r>
              <a:rPr lang="en-US" altLang="zh-CN" dirty="0" err="1"/>
              <a:t>RF</a:t>
            </a:r>
            <a:r>
              <a:rPr lang="en-US" altLang="zh-CN" baseline="-25000" dirty="0" err="1"/>
              <a:t>n</a:t>
            </a:r>
            <a:r>
              <a:rPr lang="en-US" altLang="zh-CN" dirty="0"/>
              <a:t> = RF</a:t>
            </a:r>
            <a:r>
              <a:rPr lang="en-US" altLang="zh-CN" baseline="-25000" dirty="0"/>
              <a:t>n-1</a:t>
            </a:r>
            <a:r>
              <a:rPr lang="en-US" altLang="zh-CN" dirty="0"/>
              <a:t> + (k</a:t>
            </a:r>
            <a:r>
              <a:rPr lang="en-US" altLang="zh-CN" baseline="-25000" dirty="0"/>
              <a:t>n</a:t>
            </a:r>
            <a:r>
              <a:rPr lang="en-US" altLang="zh-CN" dirty="0"/>
              <a:t>-1) × </a:t>
            </a:r>
            <a:r>
              <a:rPr lang="en-US" altLang="zh-CN" dirty="0" err="1"/>
              <a:t>stride</a:t>
            </a:r>
            <a:r>
              <a:rPr lang="en-US" altLang="zh-CN" baseline="-25000" dirty="0" err="1"/>
              <a:t>n</a:t>
            </a:r>
            <a:endParaRPr lang="en-US" altLang="zh-CN" baseline="-25000" dirty="0"/>
          </a:p>
          <a:p>
            <a:pPr lvl="1"/>
            <a:r>
              <a:rPr lang="en-US" altLang="zh-CN" dirty="0" err="1"/>
              <a:t>s</a:t>
            </a:r>
            <a:r>
              <a:rPr lang="en-US" altLang="zh-CN" dirty="0" err="1" smtClean="0"/>
              <a:t>tride</a:t>
            </a:r>
            <a:r>
              <a:rPr lang="en-US" altLang="zh-CN" baseline="-25000" dirty="0" err="1" smtClean="0"/>
              <a:t>n</a:t>
            </a:r>
            <a:r>
              <a:rPr lang="zh-CN" altLang="en-US" dirty="0" smtClean="0"/>
              <a:t>表示第</a:t>
            </a:r>
            <a:r>
              <a:rPr lang="en-US" altLang="zh-CN" dirty="0"/>
              <a:t>n</a:t>
            </a:r>
            <a:r>
              <a:rPr lang="zh-CN" altLang="en-US" dirty="0"/>
              <a:t>次卷积的移动</a:t>
            </a:r>
            <a:r>
              <a:rPr lang="zh-CN" altLang="en-US" dirty="0" smtClean="0"/>
              <a:t>步长</a:t>
            </a:r>
            <a:endParaRPr lang="en-US" altLang="zh-CN" dirty="0" smtClean="0"/>
          </a:p>
          <a:p>
            <a:pPr lvl="1"/>
            <a:r>
              <a:rPr lang="zh-CN" altLang="en-US" dirty="0" smtClean="0"/>
              <a:t>求解过程同样从</a:t>
            </a:r>
            <a:r>
              <a:rPr lang="en-US" altLang="zh-CN" dirty="0" smtClean="0"/>
              <a:t>RF1</a:t>
            </a:r>
            <a:r>
              <a:rPr lang="zh-CN" altLang="en-US" dirty="0" smtClean="0"/>
              <a:t>开始</a:t>
            </a:r>
            <a:endParaRPr lang="en-US" altLang="zh-CN" dirty="0" smtClean="0"/>
          </a:p>
          <a:p>
            <a:r>
              <a:rPr lang="zh-CN" altLang="en-US" dirty="0" smtClean="0"/>
              <a:t>有填充（</a:t>
            </a:r>
            <a:r>
              <a:rPr lang="en-US" altLang="zh-CN" dirty="0" smtClean="0"/>
              <a:t>padding</a:t>
            </a:r>
            <a:r>
              <a:rPr lang="zh-CN" altLang="en-US" dirty="0" smtClean="0"/>
              <a:t>）的情况：</a:t>
            </a:r>
            <a:endParaRPr lang="en-US" altLang="zh-CN" dirty="0" smtClean="0"/>
          </a:p>
          <a:p>
            <a:pPr lvl="1"/>
            <a:r>
              <a:rPr lang="en-US" altLang="zh-CN" dirty="0">
                <a:hlinkClick r:id="rId3"/>
              </a:rPr>
              <a:t>https://distill.pub/2019/computing-receptive-fields/</a:t>
            </a:r>
            <a:endParaRPr lang="en-US" altLang="zh-CN" dirty="0"/>
          </a:p>
          <a:p>
            <a:pPr lvl="1"/>
            <a:endParaRPr lang="zh-CN" altLang="en-US" dirty="0"/>
          </a:p>
        </p:txBody>
      </p:sp>
    </p:spTree>
    <p:extLst>
      <p:ext uri="{BB962C8B-B14F-4D97-AF65-F5344CB8AC3E}">
        <p14:creationId xmlns:p14="http://schemas.microsoft.com/office/powerpoint/2010/main" val="28245200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5784144" y="1440180"/>
            <a:ext cx="5736345" cy="4697094"/>
          </a:xfrm>
          <a:prstGeom prst="rect">
            <a:avLst/>
          </a:prstGeom>
        </p:spPr>
      </p:pic>
      <p:sp>
        <p:nvSpPr>
          <p:cNvPr id="2" name="标题 1"/>
          <p:cNvSpPr>
            <a:spLocks noGrp="1"/>
          </p:cNvSpPr>
          <p:nvPr>
            <p:ph type="title"/>
          </p:nvPr>
        </p:nvSpPr>
        <p:spPr/>
        <p:txBody>
          <a:bodyPr/>
          <a:lstStyle/>
          <a:p>
            <a:r>
              <a:rPr lang="zh-CN" altLang="en-US" dirty="0" smtClean="0"/>
              <a:t>感受野</a:t>
            </a:r>
            <a:endParaRPr lang="zh-CN" altLang="en-US" dirty="0"/>
          </a:p>
        </p:txBody>
      </p:sp>
      <p:sp>
        <p:nvSpPr>
          <p:cNvPr id="3" name="内容占位符 2"/>
          <p:cNvSpPr>
            <a:spLocks noGrp="1"/>
          </p:cNvSpPr>
          <p:nvPr>
            <p:ph sz="quarter" idx="13"/>
          </p:nvPr>
        </p:nvSpPr>
        <p:spPr/>
        <p:txBody>
          <a:bodyPr/>
          <a:lstStyle/>
          <a:p>
            <a:r>
              <a:rPr lang="zh-CN" altLang="en-US" dirty="0" smtClean="0"/>
              <a:t>在线模拟计算感受野：</a:t>
            </a:r>
            <a:endParaRPr lang="en-US" altLang="zh-CN" dirty="0"/>
          </a:p>
          <a:p>
            <a:pPr lvl="1"/>
            <a:r>
              <a:rPr lang="en-US" altLang="zh-CN" dirty="0">
                <a:hlinkClick r:id="rId4"/>
              </a:rPr>
              <a:t>https://distill.pub/2019/computing-receptive-fields</a:t>
            </a:r>
            <a:r>
              <a:rPr lang="en-US" altLang="zh-CN" dirty="0" smtClean="0">
                <a:hlinkClick r:id="rId4"/>
              </a:rPr>
              <a:t>/</a:t>
            </a:r>
            <a:endParaRPr lang="en-US" altLang="zh-CN" dirty="0" smtClean="0"/>
          </a:p>
          <a:p>
            <a:r>
              <a:rPr lang="zh-CN" altLang="en-US" dirty="0" smtClean="0"/>
              <a:t>感受野与特征图：</a:t>
            </a:r>
            <a:endParaRPr lang="en-US" altLang="zh-CN" dirty="0" smtClean="0"/>
          </a:p>
          <a:p>
            <a:pPr lvl="1"/>
            <a:r>
              <a:rPr lang="zh-CN" altLang="en-US" dirty="0" smtClean="0"/>
              <a:t>深层网络特征图尺寸较小，感受野较大</a:t>
            </a:r>
            <a:endParaRPr lang="en-US" altLang="zh-CN" dirty="0" smtClean="0"/>
          </a:p>
          <a:p>
            <a:pPr lvl="1"/>
            <a:r>
              <a:rPr lang="zh-CN" altLang="en-US" dirty="0" smtClean="0"/>
              <a:t>浅层网络特征图尺寸较大，感受野较小</a:t>
            </a:r>
            <a:endParaRPr lang="en-US" altLang="zh-CN" dirty="0"/>
          </a:p>
          <a:p>
            <a:pPr lvl="1"/>
            <a:r>
              <a:rPr lang="zh-CN" altLang="en-US" dirty="0" smtClean="0"/>
              <a:t>结合浅层特征与深层特征检测不同大小的目标</a:t>
            </a:r>
            <a:endParaRPr lang="zh-CN" altLang="en-US" dirty="0"/>
          </a:p>
        </p:txBody>
      </p:sp>
    </p:spTree>
    <p:extLst>
      <p:ext uri="{BB962C8B-B14F-4D97-AF65-F5344CB8AC3E}">
        <p14:creationId xmlns:p14="http://schemas.microsoft.com/office/powerpoint/2010/main" val="20489533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空洞卷积</a:t>
            </a:r>
            <a:endParaRPr lang="zh-CN" altLang="en-US" dirty="0"/>
          </a:p>
        </p:txBody>
      </p:sp>
      <p:sp>
        <p:nvSpPr>
          <p:cNvPr id="3" name="内容占位符 2"/>
          <p:cNvSpPr>
            <a:spLocks noGrp="1"/>
          </p:cNvSpPr>
          <p:nvPr>
            <p:ph sz="quarter" idx="13"/>
          </p:nvPr>
        </p:nvSpPr>
        <p:spPr/>
        <p:txBody>
          <a:bodyPr/>
          <a:lstStyle/>
          <a:p>
            <a:r>
              <a:rPr lang="zh-CN" altLang="en-US" dirty="0" smtClean="0"/>
              <a:t>空洞卷积（</a:t>
            </a:r>
            <a:r>
              <a:rPr lang="en-US" altLang="zh-CN" dirty="0" smtClean="0"/>
              <a:t>Dilated/</a:t>
            </a:r>
            <a:r>
              <a:rPr lang="en-US" altLang="zh-CN" dirty="0" err="1" smtClean="0"/>
              <a:t>Atrous</a:t>
            </a:r>
            <a:r>
              <a:rPr lang="en-US" altLang="zh-CN" dirty="0" smtClean="0"/>
              <a:t> Convolution,</a:t>
            </a:r>
            <a:r>
              <a:rPr lang="zh-CN" altLang="en-US" dirty="0" smtClean="0"/>
              <a:t>也称膨胀卷积）</a:t>
            </a:r>
            <a:r>
              <a:rPr lang="en-US" altLang="zh-CN" dirty="0" smtClean="0"/>
              <a:t>:</a:t>
            </a:r>
          </a:p>
          <a:p>
            <a:pPr lvl="1"/>
            <a:r>
              <a:rPr lang="zh-CN" altLang="en-US" dirty="0" smtClean="0"/>
              <a:t>增加感受野的同时保持特征图不变</a:t>
            </a:r>
            <a:endParaRPr lang="en-US" altLang="zh-CN" dirty="0" smtClean="0"/>
          </a:p>
          <a:p>
            <a:pPr lvl="1"/>
            <a:r>
              <a:rPr lang="zh-CN" altLang="en-US" dirty="0" smtClean="0"/>
              <a:t>增加超参数扩张率（</a:t>
            </a:r>
            <a:r>
              <a:rPr lang="en-US" altLang="zh-CN" dirty="0" smtClean="0"/>
              <a:t>dilation rate</a:t>
            </a:r>
            <a:r>
              <a:rPr lang="zh-CN" altLang="en-US" dirty="0" smtClean="0"/>
              <a:t>），定义卷积核处理数据时各值的间距</a:t>
            </a:r>
            <a:endParaRPr lang="en-US" altLang="zh-CN" dirty="0" smtClean="0"/>
          </a:p>
          <a:p>
            <a:pPr lvl="1"/>
            <a:r>
              <a:rPr lang="zh-CN" altLang="en-US" dirty="0" smtClean="0"/>
              <a:t>普通卷积操作扩张率为</a:t>
            </a:r>
            <a:r>
              <a:rPr lang="en-US" altLang="zh-CN" dirty="0" smtClean="0"/>
              <a:t>1</a:t>
            </a:r>
            <a:r>
              <a:rPr lang="zh-CN" altLang="en-US" dirty="0" smtClean="0"/>
              <a:t>，如下左图</a:t>
            </a:r>
            <a:endParaRPr lang="en-US" altLang="zh-CN" dirty="0" smtClean="0"/>
          </a:p>
          <a:p>
            <a:pPr lvl="1"/>
            <a:r>
              <a:rPr lang="zh-CN" altLang="en-US" dirty="0" smtClean="0"/>
              <a:t>扩张率为</a:t>
            </a:r>
            <a:r>
              <a:rPr lang="en-US" altLang="zh-CN" dirty="0" smtClean="0"/>
              <a:t>2</a:t>
            </a:r>
            <a:r>
              <a:rPr lang="zh-CN" altLang="en-US" dirty="0" smtClean="0"/>
              <a:t>（下中图）与扩张率为</a:t>
            </a:r>
            <a:r>
              <a:rPr lang="en-US" altLang="zh-CN" dirty="0" smtClean="0"/>
              <a:t>4</a:t>
            </a:r>
            <a:r>
              <a:rPr lang="zh-CN" altLang="en-US" dirty="0" smtClean="0"/>
              <a:t>（下右图）</a:t>
            </a:r>
            <a:endParaRPr lang="en-US" altLang="zh-CN" dirty="0" smtClean="0"/>
          </a:p>
          <a:p>
            <a:pPr lvl="1"/>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8623" y="3052784"/>
            <a:ext cx="9073166" cy="3084490"/>
          </a:xfrm>
          <a:prstGeom prst="rect">
            <a:avLst/>
          </a:prstGeom>
        </p:spPr>
      </p:pic>
    </p:spTree>
    <p:extLst>
      <p:ext uri="{BB962C8B-B14F-4D97-AF65-F5344CB8AC3E}">
        <p14:creationId xmlns:p14="http://schemas.microsoft.com/office/powerpoint/2010/main" val="25862738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空洞卷积</a:t>
            </a:r>
            <a:endParaRPr lang="zh-CN" altLang="en-US" dirty="0"/>
          </a:p>
        </p:txBody>
      </p:sp>
      <p:sp>
        <p:nvSpPr>
          <p:cNvPr id="3" name="内容占位符 2"/>
          <p:cNvSpPr>
            <a:spLocks noGrp="1"/>
          </p:cNvSpPr>
          <p:nvPr>
            <p:ph sz="quarter" idx="13"/>
          </p:nvPr>
        </p:nvSpPr>
        <p:spPr/>
        <p:txBody>
          <a:bodyPr/>
          <a:lstStyle/>
          <a:p>
            <a:r>
              <a:rPr lang="zh-CN" altLang="en-US" dirty="0" smtClean="0"/>
              <a:t>空洞卷积有如下两个作用：</a:t>
            </a:r>
            <a:endParaRPr lang="en-US" altLang="zh-CN" dirty="0" smtClean="0"/>
          </a:p>
          <a:p>
            <a:pPr lvl="1"/>
            <a:r>
              <a:rPr lang="zh-CN" altLang="en-US" dirty="0" smtClean="0"/>
              <a:t>扩大感受野</a:t>
            </a:r>
            <a:endParaRPr lang="en-US" altLang="zh-CN" dirty="0" smtClean="0"/>
          </a:p>
          <a:p>
            <a:pPr lvl="2"/>
            <a:r>
              <a:rPr lang="zh-CN" altLang="en-US" dirty="0"/>
              <a:t>不</a:t>
            </a:r>
            <a:r>
              <a:rPr lang="zh-CN" altLang="en-US" dirty="0" smtClean="0"/>
              <a:t>丢失分辨率情况下扩大感受野</a:t>
            </a:r>
            <a:endParaRPr lang="en-US" altLang="zh-CN" dirty="0" smtClean="0"/>
          </a:p>
          <a:p>
            <a:pPr lvl="2"/>
            <a:r>
              <a:rPr lang="zh-CN" altLang="en-US" dirty="0" smtClean="0"/>
              <a:t>检测大目标</a:t>
            </a:r>
            <a:endParaRPr lang="en-US" altLang="zh-CN" dirty="0" smtClean="0"/>
          </a:p>
          <a:p>
            <a:pPr lvl="2"/>
            <a:r>
              <a:rPr lang="zh-CN" altLang="en-US" dirty="0" smtClean="0"/>
              <a:t>精确定位目标</a:t>
            </a:r>
            <a:endParaRPr lang="en-US" altLang="zh-CN" dirty="0" smtClean="0"/>
          </a:p>
          <a:p>
            <a:pPr lvl="1"/>
            <a:r>
              <a:rPr lang="zh-CN" altLang="en-US" dirty="0" smtClean="0"/>
              <a:t>捕获多尺度上下文信息</a:t>
            </a:r>
            <a:endParaRPr lang="en-US" altLang="zh-CN" dirty="0" smtClean="0"/>
          </a:p>
          <a:p>
            <a:pPr lvl="2"/>
            <a:r>
              <a:rPr lang="zh-CN" altLang="en-US" dirty="0" smtClean="0"/>
              <a:t>设置不同扩张率获得多尺度信息</a:t>
            </a:r>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49403" y="1819273"/>
            <a:ext cx="3762375" cy="3629025"/>
          </a:xfrm>
          <a:prstGeom prst="rect">
            <a:avLst/>
          </a:prstGeom>
        </p:spPr>
      </p:pic>
    </p:spTree>
    <p:extLst>
      <p:ext uri="{BB962C8B-B14F-4D97-AF65-F5344CB8AC3E}">
        <p14:creationId xmlns:p14="http://schemas.microsoft.com/office/powerpoint/2010/main" val="321295446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评价指标</a:t>
            </a:r>
            <a:r>
              <a:rPr lang="en-US" altLang="zh-CN" dirty="0" err="1" smtClean="0"/>
              <a:t>mAP</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zh-CN" altLang="en-US" dirty="0" smtClean="0"/>
                  <a:t>准确率</a:t>
                </a:r>
                <a:r>
                  <a:rPr lang="en-US" altLang="zh-CN" dirty="0" smtClean="0"/>
                  <a:t>accuracy</a:t>
                </a:r>
                <a:r>
                  <a:rPr lang="zh-CN" altLang="en-US" dirty="0" smtClean="0"/>
                  <a:t>：</a:t>
                </a:r>
                <a14:m>
                  <m:oMath xmlns:m="http://schemas.openxmlformats.org/officeDocument/2006/math">
                    <m:r>
                      <a:rPr lang="en-US" altLang="zh-CN" i="1" dirty="0" smtClean="0">
                        <a:latin typeface="Cambria Math" panose="02040503050406030204" pitchFamily="18" charset="0"/>
                      </a:rPr>
                      <m:t>𝑎𝑐𝑐𝑢𝑟𝑎𝑐𝑦</m:t>
                    </m:r>
                    <m:r>
                      <a:rPr lang="en-US" altLang="zh-CN" i="1" dirty="0" smtClean="0">
                        <a:latin typeface="Cambria Math" panose="02040503050406030204" pitchFamily="18" charset="0"/>
                      </a:rPr>
                      <m:t>=</m:t>
                    </m:r>
                    <m:f>
                      <m:fPr>
                        <m:ctrlPr>
                          <a:rPr lang="en-US" altLang="zh-CN" i="1" dirty="0" smtClean="0">
                            <a:latin typeface="Cambria Math" panose="02040503050406030204" pitchFamily="18" charset="0"/>
                          </a:rPr>
                        </m:ctrlPr>
                      </m:fPr>
                      <m:num>
                        <m:r>
                          <a:rPr lang="zh-CN" altLang="en-US" i="1" dirty="0">
                            <a:latin typeface="Cambria Math" panose="02040503050406030204" pitchFamily="18" charset="0"/>
                          </a:rPr>
                          <m:t>预测</m:t>
                        </m:r>
                        <m:r>
                          <a:rPr lang="zh-CN" altLang="en-US" i="1" dirty="0" smtClean="0">
                            <a:latin typeface="Cambria Math" panose="02040503050406030204" pitchFamily="18" charset="0"/>
                          </a:rPr>
                          <m:t>标签</m:t>
                        </m:r>
                        <m:r>
                          <a:rPr lang="zh-CN" altLang="en-US" i="1" dirty="0">
                            <a:latin typeface="Cambria Math" panose="02040503050406030204" pitchFamily="18" charset="0"/>
                          </a:rPr>
                          <m:t>与</m:t>
                        </m:r>
                        <m:r>
                          <a:rPr lang="zh-CN" altLang="en-US" i="1" dirty="0" smtClean="0">
                            <a:latin typeface="Cambria Math" panose="02040503050406030204" pitchFamily="18" charset="0"/>
                          </a:rPr>
                          <m:t>真实</m:t>
                        </m:r>
                        <m:r>
                          <a:rPr lang="zh-CN" altLang="en-US" i="1" dirty="0">
                            <a:latin typeface="Cambria Math" panose="02040503050406030204" pitchFamily="18" charset="0"/>
                          </a:rPr>
                          <m:t>标签</m:t>
                        </m:r>
                        <m:r>
                          <a:rPr lang="zh-CN" altLang="en-US" i="1" dirty="0" smtClean="0">
                            <a:latin typeface="Cambria Math" panose="02040503050406030204" pitchFamily="18" charset="0"/>
                          </a:rPr>
                          <m:t>相同</m:t>
                        </m:r>
                        <m:r>
                          <a:rPr lang="zh-CN" altLang="en-US" i="1" dirty="0">
                            <a:latin typeface="Cambria Math" panose="02040503050406030204" pitchFamily="18" charset="0"/>
                          </a:rPr>
                          <m:t>的</m:t>
                        </m:r>
                        <m:r>
                          <a:rPr lang="zh-CN" altLang="en-US" i="1" dirty="0" smtClean="0">
                            <a:latin typeface="Cambria Math" panose="02040503050406030204" pitchFamily="18" charset="0"/>
                          </a:rPr>
                          <m:t>数量</m:t>
                        </m:r>
                      </m:num>
                      <m:den>
                        <m:r>
                          <a:rPr lang="zh-CN" altLang="en-US" i="1" dirty="0">
                            <a:latin typeface="Cambria Math" panose="02040503050406030204" pitchFamily="18" charset="0"/>
                          </a:rPr>
                          <m:t>总的</m:t>
                        </m:r>
                        <m:r>
                          <a:rPr lang="zh-CN" altLang="en-US" i="1" dirty="0" smtClean="0">
                            <a:latin typeface="Cambria Math" panose="02040503050406030204" pitchFamily="18" charset="0"/>
                          </a:rPr>
                          <m:t>预测</m:t>
                        </m:r>
                        <m:r>
                          <a:rPr lang="zh-CN" altLang="en-US" i="1" dirty="0">
                            <a:latin typeface="Cambria Math" panose="02040503050406030204" pitchFamily="18" charset="0"/>
                          </a:rPr>
                          <m:t>数据集</m:t>
                        </m:r>
                        <m:r>
                          <a:rPr lang="zh-CN" altLang="en-US" i="1" dirty="0" smtClean="0">
                            <a:latin typeface="Cambria Math" panose="02040503050406030204" pitchFamily="18" charset="0"/>
                          </a:rPr>
                          <m:t>数量</m:t>
                        </m:r>
                      </m:den>
                    </m:f>
                  </m:oMath>
                </a14:m>
                <a:endParaRPr lang="en-US" altLang="zh-CN" dirty="0" smtClean="0"/>
              </a:p>
              <a:p>
                <a:pPr lvl="1"/>
                <a:r>
                  <a:rPr lang="zh-CN" altLang="en-US" dirty="0" smtClean="0"/>
                  <a:t>简单直观</a:t>
                </a:r>
                <a:endParaRPr lang="en-US" altLang="zh-CN" dirty="0" smtClean="0"/>
              </a:p>
              <a:p>
                <a:pPr lvl="1"/>
                <a:r>
                  <a:rPr lang="zh-CN" altLang="en-US" dirty="0" smtClean="0"/>
                  <a:t>不适用于不平衡数据</a:t>
                </a:r>
                <a:endParaRPr lang="en-US" altLang="zh-CN" dirty="0" smtClean="0"/>
              </a:p>
              <a:p>
                <a:r>
                  <a:rPr lang="zh-CN" altLang="en-US" dirty="0"/>
                  <a:t>示例（预测某地发生</a:t>
                </a:r>
                <a:r>
                  <a:rPr lang="zh-CN" altLang="en-US" dirty="0" smtClean="0"/>
                  <a:t>地震模型）：</a:t>
                </a:r>
                <a:endParaRPr lang="en-US" altLang="zh-CN" dirty="0" smtClean="0"/>
              </a:p>
              <a:p>
                <a:pPr lvl="1"/>
                <a:r>
                  <a:rPr lang="zh-CN" altLang="en-US" dirty="0" smtClean="0"/>
                  <a:t>倾向于预测不发生地震</a:t>
                </a:r>
                <a:endParaRPr lang="en-US" altLang="zh-CN" dirty="0" smtClean="0"/>
              </a:p>
              <a:p>
                <a:pPr lvl="1"/>
                <a:r>
                  <a:rPr lang="zh-CN" altLang="en-US" dirty="0" smtClean="0"/>
                  <a:t>准确率</a:t>
                </a:r>
                <a:r>
                  <a:rPr lang="zh-CN" altLang="en-US" dirty="0"/>
                  <a:t>高达</a:t>
                </a:r>
                <a:r>
                  <a:rPr lang="en-US" altLang="zh-CN" dirty="0" smtClean="0"/>
                  <a:t>99.99%</a:t>
                </a:r>
              </a:p>
              <a:p>
                <a:pPr lvl="1"/>
                <a:r>
                  <a:rPr lang="zh-CN" altLang="en-US" dirty="0" smtClean="0"/>
                  <a:t>但这毫无意义</a:t>
                </a:r>
                <a:endParaRPr lang="en-US" altLang="zh-CN" dirty="0" smtClean="0"/>
              </a:p>
              <a:p>
                <a:pPr lvl="1"/>
                <a:endParaRPr lang="en-US" altLang="zh-CN" dirty="0" smtClean="0"/>
              </a:p>
              <a:p>
                <a:endParaRPr lang="en-US" altLang="zh-CN" dirty="0" smtClean="0"/>
              </a:p>
              <a:p>
                <a:pPr lvl="1"/>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853501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评价指标</a:t>
            </a:r>
            <a:r>
              <a:rPr lang="en-US" altLang="zh-CN" dirty="0" err="1" smtClean="0"/>
              <a:t>mAP</a:t>
            </a:r>
            <a:endParaRPr lang="zh-CN" altLang="en-US" dirty="0"/>
          </a:p>
        </p:txBody>
      </p:sp>
      <p:sp>
        <p:nvSpPr>
          <p:cNvPr id="3" name="内容占位符 2"/>
          <p:cNvSpPr>
            <a:spLocks noGrp="1"/>
          </p:cNvSpPr>
          <p:nvPr>
            <p:ph sz="quarter" idx="13"/>
          </p:nvPr>
        </p:nvSpPr>
        <p:spPr/>
        <p:txBody>
          <a:bodyPr/>
          <a:lstStyle/>
          <a:p>
            <a:r>
              <a:rPr lang="zh-CN" altLang="en-US" dirty="0" smtClean="0"/>
              <a:t>混淆矩阵（</a:t>
            </a:r>
            <a:r>
              <a:rPr lang="en-US" altLang="zh-CN" dirty="0" smtClean="0"/>
              <a:t>confusion matrix</a:t>
            </a:r>
            <a:r>
              <a:rPr lang="zh-CN" altLang="en-US" dirty="0" smtClean="0"/>
              <a:t>）：</a:t>
            </a:r>
            <a:endParaRPr lang="en-US" altLang="zh-CN" dirty="0" smtClean="0"/>
          </a:p>
          <a:p>
            <a:pPr lvl="1"/>
            <a:r>
              <a:rPr lang="zh-CN" altLang="en-US" dirty="0"/>
              <a:t>真实</a:t>
            </a:r>
            <a:r>
              <a:rPr lang="zh-CN" altLang="en-US" dirty="0" smtClean="0"/>
              <a:t>值是</a:t>
            </a:r>
            <a:r>
              <a:rPr lang="en-US" altLang="zh-CN" dirty="0" smtClean="0"/>
              <a:t>positive</a:t>
            </a:r>
            <a:r>
              <a:rPr lang="zh-CN" altLang="en-US" dirty="0" smtClean="0"/>
              <a:t>，模型任务是</a:t>
            </a:r>
            <a:r>
              <a:rPr lang="en-US" altLang="zh-CN" dirty="0" smtClean="0"/>
              <a:t>positive</a:t>
            </a:r>
            <a:r>
              <a:rPr lang="zh-CN" altLang="en-US" dirty="0" smtClean="0"/>
              <a:t>的数量（</a:t>
            </a:r>
            <a:r>
              <a:rPr lang="en-US" altLang="zh-CN" dirty="0" smtClean="0"/>
              <a:t>True Positive = TP</a:t>
            </a:r>
            <a:r>
              <a:rPr lang="zh-CN" altLang="en-US" dirty="0" smtClean="0"/>
              <a:t>）</a:t>
            </a:r>
            <a:endParaRPr lang="en-US" altLang="zh-CN" dirty="0" smtClean="0"/>
          </a:p>
          <a:p>
            <a:pPr lvl="1"/>
            <a:r>
              <a:rPr lang="zh-CN" altLang="en-US" dirty="0"/>
              <a:t>真实值是</a:t>
            </a:r>
            <a:r>
              <a:rPr lang="en-US" altLang="zh-CN" dirty="0"/>
              <a:t>positive</a:t>
            </a:r>
            <a:r>
              <a:rPr lang="zh-CN" altLang="en-US" dirty="0"/>
              <a:t>，模型任务</a:t>
            </a:r>
            <a:r>
              <a:rPr lang="zh-CN" altLang="en-US" dirty="0" smtClean="0"/>
              <a:t>是</a:t>
            </a:r>
            <a:r>
              <a:rPr lang="en-US" altLang="zh-CN" dirty="0" smtClean="0"/>
              <a:t>negative</a:t>
            </a:r>
            <a:r>
              <a:rPr lang="zh-CN" altLang="en-US" dirty="0" smtClean="0"/>
              <a:t>的</a:t>
            </a:r>
            <a:r>
              <a:rPr lang="zh-CN" altLang="en-US" dirty="0"/>
              <a:t>数量</a:t>
            </a:r>
            <a:r>
              <a:rPr lang="zh-CN" altLang="en-US" dirty="0" smtClean="0"/>
              <a:t>（</a:t>
            </a:r>
            <a:r>
              <a:rPr lang="en-US" altLang="zh-CN" dirty="0" smtClean="0"/>
              <a:t>False Negative = FN</a:t>
            </a:r>
            <a:r>
              <a:rPr lang="zh-CN" altLang="en-US" dirty="0" smtClean="0"/>
              <a:t>）</a:t>
            </a:r>
            <a:endParaRPr lang="zh-CN" altLang="en-US" dirty="0"/>
          </a:p>
          <a:p>
            <a:pPr lvl="1"/>
            <a:r>
              <a:rPr lang="zh-CN" altLang="en-US" dirty="0"/>
              <a:t>真实值</a:t>
            </a:r>
            <a:r>
              <a:rPr lang="zh-CN" altLang="en-US" dirty="0" smtClean="0"/>
              <a:t>是</a:t>
            </a:r>
            <a:r>
              <a:rPr lang="en-US" altLang="zh-CN" dirty="0"/>
              <a:t>negative</a:t>
            </a:r>
            <a:r>
              <a:rPr lang="zh-CN" altLang="en-US" dirty="0" smtClean="0"/>
              <a:t>，</a:t>
            </a:r>
            <a:r>
              <a:rPr lang="zh-CN" altLang="en-US" dirty="0"/>
              <a:t>模型任务是</a:t>
            </a:r>
            <a:r>
              <a:rPr lang="en-US" altLang="zh-CN" dirty="0"/>
              <a:t>positive</a:t>
            </a:r>
            <a:r>
              <a:rPr lang="zh-CN" altLang="en-US" dirty="0"/>
              <a:t>的数量</a:t>
            </a:r>
            <a:r>
              <a:rPr lang="zh-CN" altLang="en-US" dirty="0" smtClean="0"/>
              <a:t>（</a:t>
            </a:r>
            <a:r>
              <a:rPr lang="en-US" altLang="zh-CN" dirty="0"/>
              <a:t>False</a:t>
            </a:r>
            <a:r>
              <a:rPr lang="en-US" altLang="zh-CN" dirty="0" smtClean="0"/>
              <a:t> </a:t>
            </a:r>
            <a:r>
              <a:rPr lang="en-US" altLang="zh-CN" dirty="0"/>
              <a:t>Positive = </a:t>
            </a:r>
            <a:r>
              <a:rPr lang="en-US" altLang="zh-CN" dirty="0" smtClean="0"/>
              <a:t>FP</a:t>
            </a:r>
            <a:r>
              <a:rPr lang="zh-CN" altLang="en-US" dirty="0"/>
              <a:t>）</a:t>
            </a:r>
          </a:p>
          <a:p>
            <a:pPr lvl="1"/>
            <a:r>
              <a:rPr lang="zh-CN" altLang="en-US" dirty="0"/>
              <a:t>真实值</a:t>
            </a:r>
            <a:r>
              <a:rPr lang="zh-CN" altLang="en-US" dirty="0" smtClean="0"/>
              <a:t>是</a:t>
            </a:r>
            <a:r>
              <a:rPr lang="en-US" altLang="zh-CN" dirty="0"/>
              <a:t>negative</a:t>
            </a:r>
            <a:r>
              <a:rPr lang="zh-CN" altLang="en-US" dirty="0" smtClean="0"/>
              <a:t>，</a:t>
            </a:r>
            <a:r>
              <a:rPr lang="zh-CN" altLang="en-US" dirty="0"/>
              <a:t>模型任务是</a:t>
            </a:r>
            <a:r>
              <a:rPr lang="en-US" altLang="zh-CN" dirty="0"/>
              <a:t>positive</a:t>
            </a:r>
            <a:r>
              <a:rPr lang="zh-CN" altLang="en-US" dirty="0"/>
              <a:t>的数量（</a:t>
            </a:r>
            <a:r>
              <a:rPr lang="en-US" altLang="zh-CN" dirty="0"/>
              <a:t>True Negative</a:t>
            </a:r>
            <a:r>
              <a:rPr lang="en-US" altLang="zh-CN" dirty="0" smtClean="0"/>
              <a:t> </a:t>
            </a:r>
            <a:r>
              <a:rPr lang="en-US" altLang="zh-CN" dirty="0"/>
              <a:t>= </a:t>
            </a:r>
            <a:r>
              <a:rPr lang="en-US" altLang="zh-CN" dirty="0" smtClean="0"/>
              <a:t>TN</a:t>
            </a:r>
            <a:r>
              <a:rPr lang="zh-CN" altLang="en-US" dirty="0" smtClean="0"/>
              <a:t>）</a:t>
            </a:r>
            <a:endParaRPr lang="en-US" altLang="zh-CN" dirty="0" smtClean="0"/>
          </a:p>
          <a:p>
            <a:r>
              <a:rPr lang="zh-CN" altLang="en-US" dirty="0" smtClean="0"/>
              <a:t>根据以上</a:t>
            </a:r>
            <a:r>
              <a:rPr lang="en-US" altLang="zh-CN" dirty="0" smtClean="0"/>
              <a:t>4</a:t>
            </a:r>
            <a:r>
              <a:rPr lang="zh-CN" altLang="en-US" dirty="0" smtClean="0"/>
              <a:t>种情况对应的样本数构成混淆矩阵：</a:t>
            </a:r>
            <a:endParaRPr lang="en-US" altLang="zh-CN" dirty="0" smtClean="0"/>
          </a:p>
          <a:p>
            <a:pPr lvl="1"/>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1541430205"/>
              </p:ext>
            </p:extLst>
          </p:nvPr>
        </p:nvGraphicFramePr>
        <p:xfrm>
          <a:off x="1769110" y="3908636"/>
          <a:ext cx="8128000" cy="1483360"/>
        </p:xfrm>
        <a:graphic>
          <a:graphicData uri="http://schemas.openxmlformats.org/drawingml/2006/table">
            <a:tbl>
              <a:tblPr firstRow="1" bandRow="1">
                <a:tableStyleId>{5940675A-B579-460E-94D1-54222C63F5DA}</a:tableStyleId>
              </a:tblPr>
              <a:tblGrid>
                <a:gridCol w="2032000"/>
                <a:gridCol w="2032000"/>
                <a:gridCol w="2032000"/>
                <a:gridCol w="2032000"/>
              </a:tblGrid>
              <a:tr h="370840">
                <a:tc rowSpan="2" gridSpan="2">
                  <a:txBody>
                    <a:bodyPr/>
                    <a:lstStyle/>
                    <a:p>
                      <a:pPr algn="ctr"/>
                      <a:endParaRPr lang="zh-CN" altLang="en-US" dirty="0"/>
                    </a:p>
                  </a:txBody>
                  <a:tcPr anchor="ctr"/>
                </a:tc>
                <a:tc rowSpan="2" hMerge="1">
                  <a:txBody>
                    <a:bodyPr/>
                    <a:lstStyle/>
                    <a:p>
                      <a:endParaRPr lang="zh-CN" altLang="en-US"/>
                    </a:p>
                  </a:txBody>
                  <a:tcPr/>
                </a:tc>
                <a:tc gridSpan="2">
                  <a:txBody>
                    <a:bodyPr/>
                    <a:lstStyle/>
                    <a:p>
                      <a:pPr algn="ctr"/>
                      <a:r>
                        <a:rPr lang="zh-CN" altLang="en-US" dirty="0" smtClean="0"/>
                        <a:t>真实值</a:t>
                      </a:r>
                      <a:endParaRPr lang="zh-CN" altLang="en-US" dirty="0"/>
                    </a:p>
                  </a:txBody>
                  <a:tcPr anchor="ctr"/>
                </a:tc>
                <a:tc hMerge="1">
                  <a:txBody>
                    <a:bodyPr/>
                    <a:lstStyle/>
                    <a:p>
                      <a:endParaRPr lang="zh-CN" altLang="en-US" dirty="0"/>
                    </a:p>
                  </a:txBody>
                  <a:tcPr/>
                </a:tc>
              </a:tr>
              <a:tr h="370840">
                <a:tc gridSpan="2" vMerge="1">
                  <a:txBody>
                    <a:bodyPr/>
                    <a:lstStyle/>
                    <a:p>
                      <a:endParaRPr lang="zh-CN" altLang="en-US" dirty="0"/>
                    </a:p>
                  </a:txBody>
                  <a:tcPr/>
                </a:tc>
                <a:tc hMerge="1" vMerge="1">
                  <a:txBody>
                    <a:bodyPr/>
                    <a:lstStyle/>
                    <a:p>
                      <a:endParaRPr lang="zh-CN"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dirty="0" smtClean="0"/>
                        <a:t>Positive</a:t>
                      </a:r>
                      <a:endParaRPr lang="zh-CN" altLang="en-US" dirty="0" smtClean="0"/>
                    </a:p>
                  </a:txBody>
                  <a:tcPr anchor="ctr"/>
                </a:tc>
                <a:tc>
                  <a:txBody>
                    <a:bodyPr/>
                    <a:lstStyle/>
                    <a:p>
                      <a:pPr algn="ctr"/>
                      <a:r>
                        <a:rPr lang="en-US" altLang="zh-CN" dirty="0" smtClean="0"/>
                        <a:t>Negative</a:t>
                      </a:r>
                      <a:endParaRPr lang="zh-CN" altLang="en-US" dirty="0"/>
                    </a:p>
                  </a:txBody>
                  <a:tcPr anchor="ctr"/>
                </a:tc>
              </a:tr>
              <a:tr h="370840">
                <a:tc rowSpan="2">
                  <a:txBody>
                    <a:bodyPr/>
                    <a:lstStyle/>
                    <a:p>
                      <a:pPr algn="ctr"/>
                      <a:r>
                        <a:rPr lang="zh-CN" altLang="en-US" dirty="0" smtClean="0"/>
                        <a:t>预测值</a:t>
                      </a:r>
                      <a:endParaRPr lang="zh-CN" altLang="en-US" dirty="0"/>
                    </a:p>
                  </a:txBody>
                  <a:tcPr anchor="ctr"/>
                </a:tc>
                <a:tc>
                  <a:txBody>
                    <a:bodyPr/>
                    <a:lstStyle/>
                    <a:p>
                      <a:pPr algn="ctr"/>
                      <a:r>
                        <a:rPr lang="en-US" altLang="zh-CN" dirty="0" smtClean="0"/>
                        <a:t>Positive</a:t>
                      </a:r>
                      <a:endParaRPr lang="zh-CN" altLang="en-US" dirty="0"/>
                    </a:p>
                  </a:txBody>
                  <a:tcPr anchor="ctr"/>
                </a:tc>
                <a:tc>
                  <a:txBody>
                    <a:bodyPr/>
                    <a:lstStyle/>
                    <a:p>
                      <a:pPr algn="ctr"/>
                      <a:r>
                        <a:rPr lang="en-US" altLang="zh-CN" dirty="0" smtClean="0"/>
                        <a:t>True Positive </a:t>
                      </a:r>
                      <a:endParaRPr lang="zh-CN" altLang="en-US" dirty="0"/>
                    </a:p>
                  </a:txBody>
                  <a:tcPr anchor="ctr"/>
                </a:tc>
                <a:tc>
                  <a:txBody>
                    <a:bodyPr/>
                    <a:lstStyle/>
                    <a:p>
                      <a:pPr algn="ctr"/>
                      <a:r>
                        <a:rPr lang="en-US" altLang="zh-CN" dirty="0" smtClean="0"/>
                        <a:t>False Positive </a:t>
                      </a:r>
                      <a:endParaRPr lang="zh-CN" altLang="en-US" dirty="0"/>
                    </a:p>
                  </a:txBody>
                  <a:tcPr anchor="ctr"/>
                </a:tc>
              </a:tr>
              <a:tr h="370840">
                <a:tc vMerge="1">
                  <a:txBody>
                    <a:bodyPr/>
                    <a:lstStyle/>
                    <a:p>
                      <a:endParaRPr lang="zh-CN" altLang="en-US" dirty="0"/>
                    </a:p>
                  </a:txBody>
                  <a:tcPr/>
                </a:tc>
                <a:tc>
                  <a:txBody>
                    <a:bodyPr/>
                    <a:lstStyle/>
                    <a:p>
                      <a:pPr algn="ctr"/>
                      <a:r>
                        <a:rPr lang="en-US" altLang="zh-CN" dirty="0" smtClean="0"/>
                        <a:t>Negative</a:t>
                      </a:r>
                      <a:endParaRPr lang="zh-CN" altLang="en-US" dirty="0"/>
                    </a:p>
                  </a:txBody>
                  <a:tcPr anchor="ctr"/>
                </a:tc>
                <a:tc>
                  <a:txBody>
                    <a:bodyPr/>
                    <a:lstStyle/>
                    <a:p>
                      <a:pPr algn="ctr"/>
                      <a:r>
                        <a:rPr lang="en-US" altLang="zh-CN" dirty="0" smtClean="0"/>
                        <a:t>False Negative </a:t>
                      </a:r>
                      <a:endParaRPr lang="zh-CN" altLang="en-US" dirty="0"/>
                    </a:p>
                  </a:txBody>
                  <a:tcPr anchor="ctr"/>
                </a:tc>
                <a:tc>
                  <a:txBody>
                    <a:bodyPr/>
                    <a:lstStyle/>
                    <a:p>
                      <a:pPr algn="ctr"/>
                      <a:r>
                        <a:rPr lang="en-US" altLang="zh-CN" dirty="0" smtClean="0"/>
                        <a:t>True Negative </a:t>
                      </a:r>
                      <a:endParaRPr lang="zh-CN" altLang="en-US" dirty="0"/>
                    </a:p>
                  </a:txBody>
                  <a:tcPr anchor="ctr"/>
                </a:tc>
              </a:tr>
            </a:tbl>
          </a:graphicData>
        </a:graphic>
      </p:graphicFrame>
    </p:spTree>
    <p:extLst>
      <p:ext uri="{BB962C8B-B14F-4D97-AF65-F5344CB8AC3E}">
        <p14:creationId xmlns:p14="http://schemas.microsoft.com/office/powerpoint/2010/main" val="33366933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评价指标</a:t>
            </a:r>
            <a:r>
              <a:rPr lang="en-US" altLang="zh-CN" dirty="0" err="1" smtClean="0"/>
              <a:t>mAP</a:t>
            </a:r>
            <a:endParaRPr lang="zh-CN" altLang="en-US" dirty="0"/>
          </a:p>
        </p:txBody>
      </p:sp>
      <p:sp>
        <p:nvSpPr>
          <p:cNvPr id="3" name="内容占位符 2"/>
          <p:cNvSpPr>
            <a:spLocks noGrp="1"/>
          </p:cNvSpPr>
          <p:nvPr>
            <p:ph sz="quarter" idx="13"/>
          </p:nvPr>
        </p:nvSpPr>
        <p:spPr/>
        <p:txBody>
          <a:bodyPr/>
          <a:lstStyle/>
          <a:p>
            <a:r>
              <a:rPr lang="en-US" altLang="zh-CN" dirty="0" smtClean="0"/>
              <a:t>TP</a:t>
            </a:r>
            <a:r>
              <a:rPr lang="zh-CN" altLang="en-US" dirty="0" smtClean="0"/>
              <a:t>、</a:t>
            </a:r>
            <a:r>
              <a:rPr lang="en-US" altLang="zh-CN" dirty="0" smtClean="0"/>
              <a:t>TN</a:t>
            </a:r>
            <a:r>
              <a:rPr lang="zh-CN" altLang="en-US" dirty="0" smtClean="0"/>
              <a:t>、</a:t>
            </a:r>
            <a:r>
              <a:rPr lang="en-US" altLang="zh-CN" dirty="0" smtClean="0"/>
              <a:t>FP</a:t>
            </a:r>
            <a:r>
              <a:rPr lang="zh-CN" altLang="en-US" dirty="0" smtClean="0"/>
              <a:t>、</a:t>
            </a:r>
            <a:r>
              <a:rPr lang="en-US" altLang="zh-CN" dirty="0" smtClean="0"/>
              <a:t>FN</a:t>
            </a:r>
            <a:r>
              <a:rPr lang="zh-CN" altLang="en-US" dirty="0" smtClean="0"/>
              <a:t>分别表示其对应的样本数</a:t>
            </a:r>
            <a:endParaRPr lang="en-US" altLang="zh-CN" dirty="0" smtClean="0"/>
          </a:p>
          <a:p>
            <a:r>
              <a:rPr lang="zh-CN" altLang="en-US" dirty="0" smtClean="0"/>
              <a:t>根据混淆矩阵，我们可以很直观地比对原始数据和预测结果：</a:t>
            </a:r>
            <a:endParaRPr lang="en-US" altLang="zh-CN" dirty="0" smtClean="0"/>
          </a:p>
          <a:p>
            <a:pPr marL="800100" lvl="1" indent="-342900">
              <a:buFont typeface="+mj-lt"/>
              <a:buAutoNum type="arabicPeriod"/>
            </a:pPr>
            <a:r>
              <a:rPr lang="zh-CN" altLang="en-US" dirty="0" smtClean="0"/>
              <a:t>总共</a:t>
            </a:r>
            <a:r>
              <a:rPr lang="zh-CN" altLang="en-US" dirty="0"/>
              <a:t>有多少数据（四个格子的数字求和）；</a:t>
            </a:r>
          </a:p>
          <a:p>
            <a:pPr marL="800100" lvl="1" indent="-342900">
              <a:buFont typeface="+mj-lt"/>
              <a:buAutoNum type="arabicPeriod"/>
            </a:pPr>
            <a:r>
              <a:rPr lang="zh-CN" altLang="en-US" dirty="0"/>
              <a:t>预测对的有多少（主对角线求和）；</a:t>
            </a:r>
          </a:p>
          <a:p>
            <a:pPr marL="800100" lvl="1" indent="-342900">
              <a:buFont typeface="+mj-lt"/>
              <a:buAutoNum type="arabicPeriod"/>
            </a:pPr>
            <a:r>
              <a:rPr lang="zh-CN" altLang="en-US" dirty="0"/>
              <a:t>预测错的有多少（副对角线求和）；</a:t>
            </a:r>
          </a:p>
          <a:p>
            <a:pPr marL="800100" lvl="1" indent="-342900">
              <a:buFont typeface="+mj-lt"/>
              <a:buAutoNum type="arabicPeriod"/>
            </a:pPr>
            <a:r>
              <a:rPr lang="zh-CN" altLang="en-US" dirty="0"/>
              <a:t>有多少实际上是</a:t>
            </a:r>
            <a:r>
              <a:rPr lang="en-US" altLang="zh-CN" dirty="0"/>
              <a:t>positive</a:t>
            </a:r>
            <a:r>
              <a:rPr lang="zh-CN" altLang="en-US" dirty="0"/>
              <a:t>（第一列求和）；</a:t>
            </a:r>
          </a:p>
          <a:p>
            <a:pPr marL="800100" lvl="1" indent="-342900">
              <a:buFont typeface="+mj-lt"/>
              <a:buAutoNum type="arabicPeriod"/>
            </a:pPr>
            <a:r>
              <a:rPr lang="zh-CN" altLang="en-US" dirty="0"/>
              <a:t>有多少实际上是</a:t>
            </a:r>
            <a:r>
              <a:rPr lang="en-US" altLang="zh-CN" dirty="0"/>
              <a:t>negative</a:t>
            </a:r>
            <a:r>
              <a:rPr lang="zh-CN" altLang="en-US" dirty="0"/>
              <a:t>（第二列求和）；</a:t>
            </a:r>
          </a:p>
          <a:p>
            <a:pPr marL="800100" lvl="1" indent="-342900">
              <a:buFont typeface="+mj-lt"/>
              <a:buAutoNum type="arabicPeriod"/>
            </a:pPr>
            <a:r>
              <a:rPr lang="zh-CN" altLang="en-US" dirty="0"/>
              <a:t>有多少被预测为</a:t>
            </a:r>
            <a:r>
              <a:rPr lang="en-US" altLang="zh-CN" dirty="0"/>
              <a:t>positive</a:t>
            </a:r>
            <a:r>
              <a:rPr lang="zh-CN" altLang="en-US" dirty="0"/>
              <a:t>（第一行求和）；</a:t>
            </a:r>
          </a:p>
          <a:p>
            <a:pPr marL="800100" lvl="1" indent="-342900">
              <a:buFont typeface="+mj-lt"/>
              <a:buAutoNum type="arabicPeriod"/>
            </a:pPr>
            <a:r>
              <a:rPr lang="zh-CN" altLang="en-US" dirty="0"/>
              <a:t>有多少被预测为</a:t>
            </a:r>
            <a:r>
              <a:rPr lang="en-US" altLang="zh-CN" dirty="0"/>
              <a:t>negative</a:t>
            </a:r>
            <a:r>
              <a:rPr lang="zh-CN" altLang="en-US" dirty="0"/>
              <a:t>（第二行求和）</a:t>
            </a:r>
            <a:r>
              <a:rPr lang="zh-CN" altLang="en-US" dirty="0" smtClean="0"/>
              <a:t>。</a:t>
            </a:r>
            <a:endParaRPr lang="en-US" altLang="zh-CN" dirty="0" smtClean="0"/>
          </a:p>
          <a:p>
            <a:pPr lvl="1"/>
            <a:r>
              <a:rPr lang="zh-CN" altLang="en-US" dirty="0"/>
              <a:t>通过</a:t>
            </a:r>
            <a:r>
              <a:rPr lang="en-US" altLang="zh-CN" dirty="0"/>
              <a:t>4</a:t>
            </a:r>
            <a:r>
              <a:rPr lang="zh-CN" altLang="en-US" dirty="0"/>
              <a:t>和</a:t>
            </a:r>
            <a:r>
              <a:rPr lang="en-US" altLang="zh-CN" dirty="0"/>
              <a:t>5</a:t>
            </a:r>
            <a:r>
              <a:rPr lang="zh-CN" altLang="en-US" dirty="0"/>
              <a:t>的比例关系，我们可以知道这个数据集是否为非平衡的数据</a:t>
            </a:r>
            <a:r>
              <a:rPr lang="zh-CN" altLang="en-US" dirty="0" smtClean="0"/>
              <a:t>集</a:t>
            </a:r>
            <a:endParaRPr lang="en-US" altLang="zh-CN" dirty="0" smtClean="0"/>
          </a:p>
          <a:p>
            <a:pPr lvl="1"/>
            <a:r>
              <a:rPr lang="zh-CN" altLang="en-US" dirty="0"/>
              <a:t>通过</a:t>
            </a:r>
            <a:r>
              <a:rPr lang="en-US" altLang="zh-CN" dirty="0"/>
              <a:t>6</a:t>
            </a:r>
            <a:r>
              <a:rPr lang="zh-CN" altLang="en-US" dirty="0"/>
              <a:t>和</a:t>
            </a:r>
            <a:r>
              <a:rPr lang="en-US" altLang="zh-CN" dirty="0"/>
              <a:t>7</a:t>
            </a:r>
            <a:r>
              <a:rPr lang="zh-CN" altLang="en-US" dirty="0"/>
              <a:t>的比例关系，我们可以知道模型预测是否受到了非平衡样本的影响</a:t>
            </a:r>
          </a:p>
          <a:p>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1001643388"/>
              </p:ext>
            </p:extLst>
          </p:nvPr>
        </p:nvGraphicFramePr>
        <p:xfrm>
          <a:off x="6435088" y="2526028"/>
          <a:ext cx="4433572" cy="1494368"/>
        </p:xfrm>
        <a:graphic>
          <a:graphicData uri="http://schemas.openxmlformats.org/drawingml/2006/table">
            <a:tbl>
              <a:tblPr firstRow="1" bandRow="1">
                <a:tableStyleId>{5940675A-B579-460E-94D1-54222C63F5DA}</a:tableStyleId>
              </a:tblPr>
              <a:tblGrid>
                <a:gridCol w="1108393"/>
                <a:gridCol w="1108393"/>
                <a:gridCol w="1108393"/>
                <a:gridCol w="1108393"/>
              </a:tblGrid>
              <a:tr h="373592">
                <a:tc rowSpan="2" gridSpan="2">
                  <a:txBody>
                    <a:bodyPr/>
                    <a:lstStyle/>
                    <a:p>
                      <a:pPr algn="ctr"/>
                      <a:endParaRPr lang="zh-CN" altLang="en-US" dirty="0"/>
                    </a:p>
                  </a:txBody>
                  <a:tcPr anchor="ctr"/>
                </a:tc>
                <a:tc rowSpan="2" hMerge="1">
                  <a:txBody>
                    <a:bodyPr/>
                    <a:lstStyle/>
                    <a:p>
                      <a:endParaRPr lang="zh-CN" altLang="en-US"/>
                    </a:p>
                  </a:txBody>
                  <a:tcPr/>
                </a:tc>
                <a:tc gridSpan="2">
                  <a:txBody>
                    <a:bodyPr/>
                    <a:lstStyle/>
                    <a:p>
                      <a:pPr algn="ctr"/>
                      <a:r>
                        <a:rPr lang="zh-CN" altLang="en-US" dirty="0" smtClean="0"/>
                        <a:t>真实值</a:t>
                      </a:r>
                      <a:endParaRPr lang="zh-CN" altLang="en-US" dirty="0"/>
                    </a:p>
                  </a:txBody>
                  <a:tcPr anchor="ctr"/>
                </a:tc>
                <a:tc hMerge="1">
                  <a:txBody>
                    <a:bodyPr/>
                    <a:lstStyle/>
                    <a:p>
                      <a:endParaRPr lang="zh-CN" altLang="en-US" dirty="0"/>
                    </a:p>
                  </a:txBody>
                  <a:tcPr/>
                </a:tc>
              </a:tr>
              <a:tr h="373592">
                <a:tc gridSpan="2" vMerge="1">
                  <a:txBody>
                    <a:bodyPr/>
                    <a:lstStyle/>
                    <a:p>
                      <a:endParaRPr lang="zh-CN" altLang="en-US" dirty="0"/>
                    </a:p>
                  </a:txBody>
                  <a:tcPr/>
                </a:tc>
                <a:tc hMerge="1" vMerge="1">
                  <a:txBody>
                    <a:bodyPr/>
                    <a:lstStyle/>
                    <a:p>
                      <a:endParaRPr lang="zh-CN"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dirty="0" smtClean="0"/>
                        <a:t>Positive</a:t>
                      </a:r>
                      <a:endParaRPr lang="zh-CN" altLang="en-US" dirty="0" smtClean="0"/>
                    </a:p>
                  </a:txBody>
                  <a:tcPr anchor="ctr"/>
                </a:tc>
                <a:tc>
                  <a:txBody>
                    <a:bodyPr/>
                    <a:lstStyle/>
                    <a:p>
                      <a:pPr algn="ctr"/>
                      <a:r>
                        <a:rPr lang="en-US" altLang="zh-CN" dirty="0" smtClean="0"/>
                        <a:t>Negative</a:t>
                      </a:r>
                      <a:endParaRPr lang="zh-CN" altLang="en-US" dirty="0"/>
                    </a:p>
                  </a:txBody>
                  <a:tcPr anchor="ctr"/>
                </a:tc>
              </a:tr>
              <a:tr h="373592">
                <a:tc rowSpan="2">
                  <a:txBody>
                    <a:bodyPr/>
                    <a:lstStyle/>
                    <a:p>
                      <a:pPr algn="ctr"/>
                      <a:r>
                        <a:rPr lang="zh-CN" altLang="en-US" dirty="0" smtClean="0"/>
                        <a:t>预测值</a:t>
                      </a:r>
                      <a:endParaRPr lang="zh-CN" altLang="en-US" dirty="0"/>
                    </a:p>
                  </a:txBody>
                  <a:tcPr anchor="ctr"/>
                </a:tc>
                <a:tc>
                  <a:txBody>
                    <a:bodyPr/>
                    <a:lstStyle/>
                    <a:p>
                      <a:pPr algn="ctr"/>
                      <a:r>
                        <a:rPr lang="en-US" altLang="zh-CN" dirty="0" smtClean="0"/>
                        <a:t>Positive</a:t>
                      </a:r>
                      <a:endParaRPr lang="zh-CN" altLang="en-US" dirty="0"/>
                    </a:p>
                  </a:txBody>
                  <a:tcPr anchor="ctr"/>
                </a:tc>
                <a:tc>
                  <a:txBody>
                    <a:bodyPr/>
                    <a:lstStyle/>
                    <a:p>
                      <a:pPr algn="ctr"/>
                      <a:r>
                        <a:rPr lang="en-US" altLang="zh-CN" dirty="0" smtClean="0"/>
                        <a:t>TP</a:t>
                      </a:r>
                      <a:endParaRPr lang="zh-CN" altLang="en-US" dirty="0"/>
                    </a:p>
                  </a:txBody>
                  <a:tcPr anchor="ctr"/>
                </a:tc>
                <a:tc>
                  <a:txBody>
                    <a:bodyPr/>
                    <a:lstStyle/>
                    <a:p>
                      <a:pPr algn="ctr"/>
                      <a:r>
                        <a:rPr lang="en-US" altLang="zh-CN" dirty="0" smtClean="0"/>
                        <a:t>FP</a:t>
                      </a:r>
                      <a:endParaRPr lang="zh-CN" altLang="en-US" dirty="0"/>
                    </a:p>
                  </a:txBody>
                  <a:tcPr anchor="ctr"/>
                </a:tc>
              </a:tr>
              <a:tr h="373592">
                <a:tc vMerge="1">
                  <a:txBody>
                    <a:bodyPr/>
                    <a:lstStyle/>
                    <a:p>
                      <a:endParaRPr lang="zh-CN" altLang="en-US" dirty="0"/>
                    </a:p>
                  </a:txBody>
                  <a:tcPr/>
                </a:tc>
                <a:tc>
                  <a:txBody>
                    <a:bodyPr/>
                    <a:lstStyle/>
                    <a:p>
                      <a:pPr algn="ctr"/>
                      <a:r>
                        <a:rPr lang="en-US" altLang="zh-CN" dirty="0" smtClean="0"/>
                        <a:t>Negative</a:t>
                      </a:r>
                      <a:endParaRPr lang="zh-CN" altLang="en-US" dirty="0"/>
                    </a:p>
                  </a:txBody>
                  <a:tcPr anchor="ctr"/>
                </a:tc>
                <a:tc>
                  <a:txBody>
                    <a:bodyPr/>
                    <a:lstStyle/>
                    <a:p>
                      <a:pPr algn="ctr"/>
                      <a:r>
                        <a:rPr lang="en-US" altLang="zh-CN" dirty="0" smtClean="0"/>
                        <a:t>FN</a:t>
                      </a:r>
                      <a:endParaRPr lang="zh-CN" altLang="en-US" dirty="0"/>
                    </a:p>
                  </a:txBody>
                  <a:tcPr anchor="ctr"/>
                </a:tc>
                <a:tc>
                  <a:txBody>
                    <a:bodyPr/>
                    <a:lstStyle/>
                    <a:p>
                      <a:pPr algn="ctr"/>
                      <a:r>
                        <a:rPr lang="en-US" altLang="zh-CN" dirty="0" smtClean="0"/>
                        <a:t>TN</a:t>
                      </a:r>
                      <a:endParaRPr lang="zh-CN" altLang="en-US" dirty="0"/>
                    </a:p>
                  </a:txBody>
                  <a:tcPr anchor="ctr"/>
                </a:tc>
              </a:tr>
            </a:tbl>
          </a:graphicData>
        </a:graphic>
      </p:graphicFrame>
    </p:spTree>
    <p:extLst>
      <p:ext uri="{BB962C8B-B14F-4D97-AF65-F5344CB8AC3E}">
        <p14:creationId xmlns:p14="http://schemas.microsoft.com/office/powerpoint/2010/main" val="17076532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评价指标</a:t>
            </a:r>
            <a:r>
              <a:rPr lang="en-US" altLang="zh-CN" dirty="0" err="1" smtClean="0"/>
              <a:t>mAP</a:t>
            </a:r>
            <a:endParaRPr lang="zh-CN" altLang="en-US" dirty="0"/>
          </a:p>
        </p:txBody>
      </p:sp>
      <p:sp>
        <p:nvSpPr>
          <p:cNvPr id="3" name="内容占位符 2"/>
          <p:cNvSpPr>
            <a:spLocks noGrp="1"/>
          </p:cNvSpPr>
          <p:nvPr>
            <p:ph sz="quarter" idx="13"/>
          </p:nvPr>
        </p:nvSpPr>
        <p:spPr/>
        <p:txBody>
          <a:bodyPr/>
          <a:lstStyle/>
          <a:p>
            <a:r>
              <a:rPr lang="zh-CN" altLang="en-US" dirty="0" smtClean="0"/>
              <a:t>混淆矩阵二级指标：</a:t>
            </a:r>
            <a:endParaRPr lang="en-US" altLang="zh-CN" dirty="0" smtClean="0"/>
          </a:p>
          <a:p>
            <a:pPr lvl="1"/>
            <a:r>
              <a:rPr lang="en-US" altLang="zh-CN" dirty="0" smtClean="0"/>
              <a:t>Accuracy</a:t>
            </a:r>
            <a:r>
              <a:rPr lang="zh-CN" altLang="en-US" dirty="0" smtClean="0"/>
              <a:t>，准确率，</a:t>
            </a:r>
            <a:endParaRPr lang="en-US" altLang="zh-CN" dirty="0" smtClean="0"/>
          </a:p>
          <a:p>
            <a:pPr lvl="1"/>
            <a:r>
              <a:rPr lang="en-US" altLang="zh-CN" dirty="0" smtClean="0"/>
              <a:t>Precision</a:t>
            </a:r>
            <a:r>
              <a:rPr lang="zh-CN" altLang="en-US" dirty="0" smtClean="0"/>
              <a:t>，精确率，也称为精度，查准率</a:t>
            </a:r>
            <a:endParaRPr lang="en-US" altLang="zh-CN" dirty="0" smtClean="0"/>
          </a:p>
          <a:p>
            <a:pPr lvl="1"/>
            <a:r>
              <a:rPr lang="en-US" altLang="zh-CN" dirty="0" smtClean="0"/>
              <a:t>Recall</a:t>
            </a:r>
            <a:r>
              <a:rPr lang="zh-CN" altLang="en-US" dirty="0" smtClean="0"/>
              <a:t>，召回率，也称为灵敏度</a:t>
            </a:r>
            <a:r>
              <a:rPr lang="en-US" altLang="zh-CN" dirty="0" smtClean="0"/>
              <a:t>(Sensitivity)</a:t>
            </a:r>
            <a:r>
              <a:rPr lang="zh-CN" altLang="en-US" dirty="0" smtClean="0"/>
              <a:t>，查全率</a:t>
            </a:r>
            <a:endParaRPr lang="en-US" altLang="zh-CN" dirty="0" smtClean="0"/>
          </a:p>
          <a:p>
            <a:r>
              <a:rPr lang="zh-CN" altLang="en-US" dirty="0"/>
              <a:t>二</a:t>
            </a:r>
            <a:r>
              <a:rPr lang="zh-CN" altLang="en-US" dirty="0" smtClean="0"/>
              <a:t>级指标的计算公式如下：</a:t>
            </a:r>
            <a:endParaRPr lang="en-US" altLang="zh-CN" dirty="0" smtClean="0"/>
          </a:p>
          <a:p>
            <a:pPr lvl="1"/>
            <a:endParaRPr lang="zh-CN" altLang="en-US" dirty="0"/>
          </a:p>
        </p:txBody>
      </p:sp>
      <mc:AlternateContent xmlns:mc="http://schemas.openxmlformats.org/markup-compatibility/2006" xmlns:a14="http://schemas.microsoft.com/office/drawing/2010/main">
        <mc:Choice Requires="a14">
          <p:graphicFrame>
            <p:nvGraphicFramePr>
              <p:cNvPr id="4" name="表格 3"/>
              <p:cNvGraphicFramePr>
                <a:graphicFrameLocks noGrp="1"/>
              </p:cNvGraphicFramePr>
              <p:nvPr>
                <p:extLst>
                  <p:ext uri="{D42A27DB-BD31-4B8C-83A1-F6EECF244321}">
                    <p14:modId xmlns:p14="http://schemas.microsoft.com/office/powerpoint/2010/main" val="2653159195"/>
                  </p:ext>
                </p:extLst>
              </p:nvPr>
            </p:nvGraphicFramePr>
            <p:xfrm>
              <a:off x="1943100" y="3462654"/>
              <a:ext cx="8285798" cy="1920240"/>
            </p:xfrm>
            <a:graphic>
              <a:graphicData uri="http://schemas.openxmlformats.org/drawingml/2006/table">
                <a:tbl>
                  <a:tblPr firstRow="1" bandRow="1">
                    <a:tableStyleId>{5940675A-B579-460E-94D1-54222C63F5DA}</a:tableStyleId>
                  </a:tblPr>
                  <a:tblGrid>
                    <a:gridCol w="1360169"/>
                    <a:gridCol w="3646170"/>
                    <a:gridCol w="3279459"/>
                  </a:tblGrid>
                  <a:tr h="370840">
                    <a:tc>
                      <a:txBody>
                        <a:bodyPr/>
                        <a:lstStyle/>
                        <a:p>
                          <a:pPr algn="ctr"/>
                          <a:r>
                            <a:rPr lang="zh-CN" altLang="en-US" dirty="0" smtClean="0"/>
                            <a:t>准确率</a:t>
                          </a:r>
                          <a:r>
                            <a:rPr lang="en-US" altLang="zh-CN" dirty="0" smtClean="0"/>
                            <a:t>ACC</a:t>
                          </a:r>
                          <a:endParaRPr lang="zh-CN"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𝐴𝑐𝑐𝑢𝑟𝑎𝑐𝑦</m:t>
                                </m:r>
                                <m:r>
                                  <a:rPr lang="en-US" altLang="zh-CN" i="1" dirty="0" smtClean="0">
                                    <a:latin typeface="Cambria Math" panose="02040503050406030204" pitchFamily="18" charset="0"/>
                                  </a:rPr>
                                  <m:t>=</m:t>
                                </m:r>
                                <m:f>
                                  <m:fPr>
                                    <m:ctrlPr>
                                      <a:rPr lang="en-US" altLang="zh-CN" i="1" dirty="0" smtClean="0">
                                        <a:latin typeface="Cambria Math" panose="02040503050406030204" pitchFamily="18" charset="0"/>
                                      </a:rPr>
                                    </m:ctrlPr>
                                  </m:fPr>
                                  <m:num>
                                    <m:r>
                                      <a:rPr lang="en-US" altLang="zh-CN" i="1" dirty="0" smtClean="0">
                                        <a:latin typeface="Cambria Math" panose="02040503050406030204" pitchFamily="18" charset="0"/>
                                      </a:rPr>
                                      <m:t>𝑇𝑃</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𝑇𝑁</m:t>
                                    </m:r>
                                    <m:r>
                                      <m:rPr>
                                        <m:nor/>
                                      </m:rPr>
                                      <a:rPr lang="zh-CN" altLang="en-US" dirty="0"/>
                                      <m:t> </m:t>
                                    </m:r>
                                  </m:num>
                                  <m:den>
                                    <m:r>
                                      <a:rPr lang="en-US" altLang="zh-CN" b="0" i="1" dirty="0" smtClean="0">
                                        <a:latin typeface="Cambria Math" panose="02040503050406030204" pitchFamily="18" charset="0"/>
                                      </a:rPr>
                                      <m:t>𝑇𝑃</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𝑇𝑁</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𝐹𝑃</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𝐹𝑁</m:t>
                                    </m:r>
                                  </m:den>
                                </m:f>
                              </m:oMath>
                            </m:oMathPara>
                          </a14:m>
                          <a:endParaRPr lang="zh-CN" altLang="en-US" dirty="0"/>
                        </a:p>
                      </a:txBody>
                      <a:tcPr anchor="ctr"/>
                    </a:tc>
                    <a:tc>
                      <a:txBody>
                        <a:bodyPr/>
                        <a:lstStyle/>
                        <a:p>
                          <a:pPr algn="ctr"/>
                          <a:r>
                            <a:rPr lang="zh-CN" altLang="en-US" dirty="0" smtClean="0"/>
                            <a:t>分类模型所有判断正确的结果占总观测值的比重</a:t>
                          </a:r>
                          <a:endParaRPr lang="zh-CN" altLang="en-US" dirty="0"/>
                        </a:p>
                      </a:txBody>
                      <a:tcPr anchor="ctr"/>
                    </a:tc>
                  </a:tr>
                  <a:tr h="370840">
                    <a:tc>
                      <a:txBody>
                        <a:bodyPr/>
                        <a:lstStyle/>
                        <a:p>
                          <a:pPr algn="ctr"/>
                          <a:r>
                            <a:rPr lang="zh-CN" altLang="en-US" dirty="0" smtClean="0"/>
                            <a:t>精确率</a:t>
                          </a:r>
                          <a:r>
                            <a:rPr lang="en-US" altLang="zh-CN" dirty="0" smtClean="0"/>
                            <a:t>PPV</a:t>
                          </a:r>
                          <a:endParaRPr lang="zh-CN"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𝑃𝑟𝑒𝑐𝑖𝑠𝑖𝑜𝑛</m:t>
                                </m:r>
                                <m:r>
                                  <a:rPr lang="en-US" altLang="zh-CN" i="1" dirty="0" smtClean="0">
                                    <a:latin typeface="Cambria Math" panose="02040503050406030204" pitchFamily="18" charset="0"/>
                                  </a:rPr>
                                  <m:t>=</m:t>
                                </m:r>
                                <m:f>
                                  <m:fPr>
                                    <m:ctrlPr>
                                      <a:rPr lang="en-US" altLang="zh-CN" i="1" dirty="0" smtClean="0">
                                        <a:latin typeface="Cambria Math" panose="02040503050406030204" pitchFamily="18" charset="0"/>
                                      </a:rPr>
                                    </m:ctrlPr>
                                  </m:fPr>
                                  <m:num>
                                    <m:r>
                                      <a:rPr lang="en-US" altLang="zh-CN" b="0" i="1" dirty="0" smtClean="0">
                                        <a:latin typeface="Cambria Math" panose="02040503050406030204" pitchFamily="18" charset="0"/>
                                      </a:rPr>
                                      <m:t>𝑇𝑃</m:t>
                                    </m:r>
                                  </m:num>
                                  <m:den>
                                    <m:r>
                                      <a:rPr lang="en-US" altLang="zh-CN" b="0" i="1" dirty="0" smtClean="0">
                                        <a:latin typeface="Cambria Math" panose="02040503050406030204" pitchFamily="18" charset="0"/>
                                      </a:rPr>
                                      <m:t>𝑇𝑃</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𝐹𝑃</m:t>
                                    </m:r>
                                  </m:den>
                                </m:f>
                              </m:oMath>
                            </m:oMathPara>
                          </a14:m>
                          <a:endParaRPr lang="zh-CN" altLang="en-US" dirty="0"/>
                        </a:p>
                      </a:txBody>
                      <a:tcPr anchor="ctr"/>
                    </a:tc>
                    <a:tc>
                      <a:txBody>
                        <a:bodyPr/>
                        <a:lstStyle/>
                        <a:p>
                          <a:pPr algn="ctr"/>
                          <a:r>
                            <a:rPr lang="zh-CN" altLang="en-US" dirty="0" smtClean="0"/>
                            <a:t>在模型预测是</a:t>
                          </a:r>
                          <a:r>
                            <a:rPr lang="en-US" altLang="zh-CN" dirty="0" smtClean="0"/>
                            <a:t>Positive</a:t>
                          </a:r>
                          <a:r>
                            <a:rPr lang="zh-CN" altLang="en-US" dirty="0" smtClean="0"/>
                            <a:t>的所有结果中，模型预测正确的比重</a:t>
                          </a:r>
                          <a:endParaRPr lang="zh-CN" altLang="en-US" dirty="0"/>
                        </a:p>
                      </a:txBody>
                      <a:tcPr anchor="ctr"/>
                    </a:tc>
                  </a:tr>
                  <a:tr h="370840">
                    <a:tc>
                      <a:txBody>
                        <a:bodyPr/>
                        <a:lstStyle/>
                        <a:p>
                          <a:pPr algn="ctr"/>
                          <a:r>
                            <a:rPr lang="zh-CN" altLang="en-US" dirty="0" smtClean="0"/>
                            <a:t>召回率</a:t>
                          </a:r>
                          <a:r>
                            <a:rPr lang="en-US" altLang="zh-CN" dirty="0" smtClean="0"/>
                            <a:t>TPR</a:t>
                          </a:r>
                          <a:endParaRPr lang="zh-CN"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𝑆𝑒𝑛𝑠𝑖𝑡𝑖𝑣𝑖𝑡𝑦</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𝑅𝑒𝑐𝑎𝑙𝑙</m:t>
                                </m:r>
                                <m:r>
                                  <a:rPr lang="en-US" altLang="zh-CN" i="1" dirty="0" smtClean="0">
                                    <a:latin typeface="Cambria Math" panose="02040503050406030204" pitchFamily="18" charset="0"/>
                                  </a:rPr>
                                  <m:t>=</m:t>
                                </m:r>
                                <m:f>
                                  <m:fPr>
                                    <m:ctrlPr>
                                      <a:rPr lang="en-US" altLang="zh-CN" i="1" dirty="0" smtClean="0">
                                        <a:latin typeface="Cambria Math" panose="02040503050406030204" pitchFamily="18" charset="0"/>
                                      </a:rPr>
                                    </m:ctrlPr>
                                  </m:fPr>
                                  <m:num>
                                    <m:r>
                                      <a:rPr lang="en-US" altLang="zh-CN" b="0" i="1" dirty="0" smtClean="0">
                                        <a:latin typeface="Cambria Math" panose="02040503050406030204" pitchFamily="18" charset="0"/>
                                      </a:rPr>
                                      <m:t>𝑇𝑃</m:t>
                                    </m:r>
                                  </m:num>
                                  <m:den>
                                    <m:r>
                                      <a:rPr lang="en-US" altLang="zh-CN" b="0" i="1" dirty="0" smtClean="0">
                                        <a:latin typeface="Cambria Math" panose="02040503050406030204" pitchFamily="18" charset="0"/>
                                      </a:rPr>
                                      <m:t>𝑇𝑃</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𝐹𝑁</m:t>
                                    </m:r>
                                  </m:den>
                                </m:f>
                              </m:oMath>
                            </m:oMathPara>
                          </a14:m>
                          <a:endParaRPr lang="zh-CN" altLang="en-US" dirty="0"/>
                        </a:p>
                      </a:txBody>
                      <a:tcPr anchor="ctr"/>
                    </a:tc>
                    <a:tc>
                      <a:txBody>
                        <a:bodyPr/>
                        <a:lstStyle/>
                        <a:p>
                          <a:pPr algn="ctr"/>
                          <a:r>
                            <a:rPr lang="zh-CN" altLang="en-US" dirty="0" smtClean="0"/>
                            <a:t>在真实值是</a:t>
                          </a:r>
                          <a:r>
                            <a:rPr lang="en-US" altLang="zh-CN" dirty="0" smtClean="0"/>
                            <a:t>Positive</a:t>
                          </a:r>
                          <a:r>
                            <a:rPr lang="zh-CN" altLang="en-US" dirty="0" smtClean="0"/>
                            <a:t>的所有结果种，模型预测正确的比重</a:t>
                          </a:r>
                          <a:endParaRPr lang="zh-CN" altLang="en-US" dirty="0"/>
                        </a:p>
                      </a:txBody>
                      <a:tcPr anchor="ctr"/>
                    </a:tc>
                  </a:tr>
                </a:tbl>
              </a:graphicData>
            </a:graphic>
          </p:graphicFrame>
        </mc:Choice>
        <mc:Fallback xmlns="">
          <p:graphicFrame>
            <p:nvGraphicFramePr>
              <p:cNvPr id="4" name="表格 3"/>
              <p:cNvGraphicFramePr>
                <a:graphicFrameLocks noGrp="1"/>
              </p:cNvGraphicFramePr>
              <p:nvPr>
                <p:extLst>
                  <p:ext uri="{D42A27DB-BD31-4B8C-83A1-F6EECF244321}">
                    <p14:modId xmlns:p14="http://schemas.microsoft.com/office/powerpoint/2010/main" val="2653159195"/>
                  </p:ext>
                </p:extLst>
              </p:nvPr>
            </p:nvGraphicFramePr>
            <p:xfrm>
              <a:off x="1943100" y="3462654"/>
              <a:ext cx="8285798" cy="1920240"/>
            </p:xfrm>
            <a:graphic>
              <a:graphicData uri="http://schemas.openxmlformats.org/drawingml/2006/table">
                <a:tbl>
                  <a:tblPr firstRow="1" bandRow="1">
                    <a:tableStyleId>{5940675A-B579-460E-94D1-54222C63F5DA}</a:tableStyleId>
                  </a:tblPr>
                  <a:tblGrid>
                    <a:gridCol w="1360169"/>
                    <a:gridCol w="3646170"/>
                    <a:gridCol w="3279459"/>
                  </a:tblGrid>
                  <a:tr h="640080">
                    <a:tc>
                      <a:txBody>
                        <a:bodyPr/>
                        <a:lstStyle/>
                        <a:p>
                          <a:pPr algn="ctr"/>
                          <a:r>
                            <a:rPr lang="zh-CN" altLang="en-US" dirty="0" smtClean="0"/>
                            <a:t>准确率</a:t>
                          </a:r>
                          <a:r>
                            <a:rPr lang="en-US" altLang="zh-CN" dirty="0" smtClean="0"/>
                            <a:t>ACC</a:t>
                          </a:r>
                          <a:endParaRPr lang="zh-CN" altLang="en-US" dirty="0"/>
                        </a:p>
                      </a:txBody>
                      <a:tcPr anchor="ctr"/>
                    </a:tc>
                    <a:tc>
                      <a:txBody>
                        <a:bodyPr/>
                        <a:lstStyle/>
                        <a:p>
                          <a:endParaRPr lang="zh-CN"/>
                        </a:p>
                      </a:txBody>
                      <a:tcPr anchor="ctr">
                        <a:blipFill rotWithShape="0">
                          <a:blip r:embed="rId3"/>
                          <a:stretch>
                            <a:fillRect l="-37396" t="-4762" r="-90317" b="-215238"/>
                          </a:stretch>
                        </a:blipFill>
                      </a:tcPr>
                    </a:tc>
                    <a:tc>
                      <a:txBody>
                        <a:bodyPr/>
                        <a:lstStyle/>
                        <a:p>
                          <a:pPr algn="ctr"/>
                          <a:r>
                            <a:rPr lang="zh-CN" altLang="en-US" dirty="0" smtClean="0"/>
                            <a:t>分类模型所有判断正确的结果占总观测值的比重</a:t>
                          </a:r>
                          <a:endParaRPr lang="zh-CN" altLang="en-US" dirty="0"/>
                        </a:p>
                      </a:txBody>
                      <a:tcPr anchor="ctr"/>
                    </a:tc>
                  </a:tr>
                  <a:tr h="640080">
                    <a:tc>
                      <a:txBody>
                        <a:bodyPr/>
                        <a:lstStyle/>
                        <a:p>
                          <a:pPr algn="ctr"/>
                          <a:r>
                            <a:rPr lang="zh-CN" altLang="en-US" dirty="0" smtClean="0"/>
                            <a:t>精确率</a:t>
                          </a:r>
                          <a:r>
                            <a:rPr lang="en-US" altLang="zh-CN" dirty="0" smtClean="0"/>
                            <a:t>PPV</a:t>
                          </a:r>
                          <a:endParaRPr lang="zh-CN" altLang="en-US" dirty="0"/>
                        </a:p>
                      </a:txBody>
                      <a:tcPr anchor="ctr"/>
                    </a:tc>
                    <a:tc>
                      <a:txBody>
                        <a:bodyPr/>
                        <a:lstStyle/>
                        <a:p>
                          <a:endParaRPr lang="zh-CN"/>
                        </a:p>
                      </a:txBody>
                      <a:tcPr anchor="ctr">
                        <a:blipFill rotWithShape="0">
                          <a:blip r:embed="rId3"/>
                          <a:stretch>
                            <a:fillRect l="-37396" t="-103774" r="-90317" b="-113208"/>
                          </a:stretch>
                        </a:blipFill>
                      </a:tcPr>
                    </a:tc>
                    <a:tc>
                      <a:txBody>
                        <a:bodyPr/>
                        <a:lstStyle/>
                        <a:p>
                          <a:pPr algn="ctr"/>
                          <a:r>
                            <a:rPr lang="zh-CN" altLang="en-US" dirty="0" smtClean="0"/>
                            <a:t>在模型预测是</a:t>
                          </a:r>
                          <a:r>
                            <a:rPr lang="en-US" altLang="zh-CN" dirty="0" smtClean="0"/>
                            <a:t>Positive</a:t>
                          </a:r>
                          <a:r>
                            <a:rPr lang="zh-CN" altLang="en-US" dirty="0" smtClean="0"/>
                            <a:t>的所有结果中，模型预测正确的比重</a:t>
                          </a:r>
                          <a:endParaRPr lang="zh-CN" altLang="en-US" dirty="0"/>
                        </a:p>
                      </a:txBody>
                      <a:tcPr anchor="ctr"/>
                    </a:tc>
                  </a:tr>
                  <a:tr h="640080">
                    <a:tc>
                      <a:txBody>
                        <a:bodyPr/>
                        <a:lstStyle/>
                        <a:p>
                          <a:pPr algn="ctr"/>
                          <a:r>
                            <a:rPr lang="zh-CN" altLang="en-US" dirty="0" smtClean="0"/>
                            <a:t>召回率</a:t>
                          </a:r>
                          <a:r>
                            <a:rPr lang="en-US" altLang="zh-CN" dirty="0" smtClean="0"/>
                            <a:t>TPR</a:t>
                          </a:r>
                          <a:endParaRPr lang="zh-CN" altLang="en-US" dirty="0"/>
                        </a:p>
                      </a:txBody>
                      <a:tcPr anchor="ctr"/>
                    </a:tc>
                    <a:tc>
                      <a:txBody>
                        <a:bodyPr/>
                        <a:lstStyle/>
                        <a:p>
                          <a:endParaRPr lang="zh-CN"/>
                        </a:p>
                      </a:txBody>
                      <a:tcPr anchor="ctr">
                        <a:blipFill rotWithShape="0">
                          <a:blip r:embed="rId3"/>
                          <a:stretch>
                            <a:fillRect l="-37396" t="-205714" r="-90317" b="-14286"/>
                          </a:stretch>
                        </a:blipFill>
                      </a:tcPr>
                    </a:tc>
                    <a:tc>
                      <a:txBody>
                        <a:bodyPr/>
                        <a:lstStyle/>
                        <a:p>
                          <a:pPr algn="ctr"/>
                          <a:r>
                            <a:rPr lang="zh-CN" altLang="en-US" dirty="0" smtClean="0"/>
                            <a:t>在真实值是</a:t>
                          </a:r>
                          <a:r>
                            <a:rPr lang="en-US" altLang="zh-CN" dirty="0" smtClean="0"/>
                            <a:t>Positive</a:t>
                          </a:r>
                          <a:r>
                            <a:rPr lang="zh-CN" altLang="en-US" dirty="0" smtClean="0"/>
                            <a:t>的所有结果种，模型预测正确的比重</a:t>
                          </a:r>
                          <a:endParaRPr lang="zh-CN" altLang="en-US" dirty="0"/>
                        </a:p>
                      </a:txBody>
                      <a:tcPr anchor="ctr"/>
                    </a:tc>
                  </a:tr>
                </a:tbl>
              </a:graphicData>
            </a:graphic>
          </p:graphicFrame>
        </mc:Fallback>
      </mc:AlternateContent>
    </p:spTree>
    <p:extLst>
      <p:ext uri="{BB962C8B-B14F-4D97-AF65-F5344CB8AC3E}">
        <p14:creationId xmlns:p14="http://schemas.microsoft.com/office/powerpoint/2010/main" val="5835800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评价指标</a:t>
            </a:r>
            <a:r>
              <a:rPr lang="en-US" altLang="zh-CN" dirty="0" err="1" smtClean="0"/>
              <a:t>mAP</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zh-CN" altLang="en-US" dirty="0" smtClean="0"/>
                  <a:t>第一个例子：垃圾短信检测模型（高精确率）</a:t>
                </a:r>
                <a:endParaRPr lang="en-US" altLang="zh-CN" dirty="0" smtClean="0"/>
              </a:p>
              <a:p>
                <a:pPr lvl="1"/>
                <a14:m>
                  <m:oMath xmlns:m="http://schemas.openxmlformats.org/officeDocument/2006/math">
                    <m:r>
                      <a:rPr lang="en-US" altLang="zh-CN" sz="2000" i="1" dirty="0">
                        <a:latin typeface="Cambria Math" panose="02040503050406030204" pitchFamily="18" charset="0"/>
                      </a:rPr>
                      <m:t>𝐴𝑐𝑐𝑢𝑟𝑎𝑐𝑦</m:t>
                    </m:r>
                    <m:r>
                      <a:rPr lang="en-US" altLang="zh-CN" sz="2000" i="1" dirty="0">
                        <a:latin typeface="Cambria Math" panose="02040503050406030204" pitchFamily="18" charset="0"/>
                      </a:rPr>
                      <m:t>=</m:t>
                    </m:r>
                    <m:f>
                      <m:fPr>
                        <m:ctrlPr>
                          <a:rPr lang="en-US" altLang="zh-CN" sz="2000" i="1" dirty="0">
                            <a:latin typeface="Cambria Math" panose="02040503050406030204" pitchFamily="18" charset="0"/>
                          </a:rPr>
                        </m:ctrlPr>
                      </m:fPr>
                      <m:num>
                        <m:r>
                          <a:rPr lang="en-US" altLang="zh-CN" sz="2000" i="1" dirty="0">
                            <a:latin typeface="Cambria Math" panose="02040503050406030204" pitchFamily="18" charset="0"/>
                          </a:rPr>
                          <m:t>𝑇𝑃</m:t>
                        </m:r>
                        <m:r>
                          <a:rPr lang="en-US" altLang="zh-CN" sz="2000" i="1" dirty="0">
                            <a:latin typeface="Cambria Math" panose="02040503050406030204" pitchFamily="18" charset="0"/>
                          </a:rPr>
                          <m:t>+</m:t>
                        </m:r>
                        <m:r>
                          <a:rPr lang="en-US" altLang="zh-CN" sz="2000" i="1" dirty="0">
                            <a:latin typeface="Cambria Math" panose="02040503050406030204" pitchFamily="18" charset="0"/>
                          </a:rPr>
                          <m:t>𝑇𝑁</m:t>
                        </m:r>
                        <m:r>
                          <m:rPr>
                            <m:nor/>
                          </m:rPr>
                          <a:rPr lang="zh-CN" altLang="en-US" sz="2000" dirty="0"/>
                          <m:t> </m:t>
                        </m:r>
                      </m:num>
                      <m:den>
                        <m:r>
                          <a:rPr lang="en-US" altLang="zh-CN" sz="2000" i="1" dirty="0">
                            <a:latin typeface="Cambria Math" panose="02040503050406030204" pitchFamily="18" charset="0"/>
                          </a:rPr>
                          <m:t>𝑇𝑃</m:t>
                        </m:r>
                        <m:r>
                          <a:rPr lang="en-US" altLang="zh-CN" sz="2000" i="1" dirty="0">
                            <a:latin typeface="Cambria Math" panose="02040503050406030204" pitchFamily="18" charset="0"/>
                          </a:rPr>
                          <m:t>+</m:t>
                        </m:r>
                        <m:r>
                          <a:rPr lang="en-US" altLang="zh-CN" sz="2000" i="1" dirty="0">
                            <a:latin typeface="Cambria Math" panose="02040503050406030204" pitchFamily="18" charset="0"/>
                          </a:rPr>
                          <m:t>𝑇𝑁</m:t>
                        </m:r>
                        <m:r>
                          <a:rPr lang="en-US" altLang="zh-CN" sz="2000" i="1" dirty="0">
                            <a:latin typeface="Cambria Math" panose="02040503050406030204" pitchFamily="18" charset="0"/>
                          </a:rPr>
                          <m:t>+</m:t>
                        </m:r>
                        <m:r>
                          <a:rPr lang="en-US" altLang="zh-CN" sz="2000" i="1" dirty="0">
                            <a:latin typeface="Cambria Math" panose="02040503050406030204" pitchFamily="18" charset="0"/>
                          </a:rPr>
                          <m:t>𝐹𝑃</m:t>
                        </m:r>
                        <m:r>
                          <a:rPr lang="en-US" altLang="zh-CN" sz="2000" i="1" dirty="0">
                            <a:latin typeface="Cambria Math" panose="02040503050406030204" pitchFamily="18" charset="0"/>
                          </a:rPr>
                          <m:t>+</m:t>
                        </m:r>
                        <m:r>
                          <a:rPr lang="en-US" altLang="zh-CN" sz="2000" i="1" dirty="0">
                            <a:latin typeface="Cambria Math" panose="02040503050406030204" pitchFamily="18" charset="0"/>
                          </a:rPr>
                          <m:t>𝐹𝑁</m:t>
                        </m:r>
                      </m:den>
                    </m:f>
                    <m:r>
                      <a:rPr lang="en-US" altLang="zh-CN" sz="2000" b="0" i="0" dirty="0" smtClean="0">
                        <a:latin typeface="Cambria Math" panose="02040503050406030204" pitchFamily="18" charset="0"/>
                      </a:rPr>
                      <m:t>=</m:t>
                    </m:r>
                    <m:f>
                      <m:fPr>
                        <m:ctrlPr>
                          <a:rPr lang="en-US" altLang="zh-CN" sz="2000" b="0" i="1" dirty="0" smtClean="0">
                            <a:latin typeface="Cambria Math" panose="02040503050406030204" pitchFamily="18" charset="0"/>
                          </a:rPr>
                        </m:ctrlPr>
                      </m:fPr>
                      <m:num>
                        <m:r>
                          <a:rPr lang="en-US" altLang="zh-CN" sz="2000" b="0" i="1" dirty="0" smtClean="0">
                            <a:latin typeface="Cambria Math" panose="02040503050406030204" pitchFamily="18" charset="0"/>
                          </a:rPr>
                          <m:t>3+89</m:t>
                        </m:r>
                      </m:num>
                      <m:den>
                        <m:r>
                          <a:rPr lang="en-US" altLang="zh-CN" sz="2000" b="0" i="1" dirty="0" smtClean="0">
                            <a:latin typeface="Cambria Math" panose="02040503050406030204" pitchFamily="18" charset="0"/>
                          </a:rPr>
                          <m:t>3+89+1+7</m:t>
                        </m:r>
                      </m:den>
                    </m:f>
                    <m:r>
                      <a:rPr lang="en-US" altLang="zh-CN" sz="2000" b="0" i="1" dirty="0" smtClean="0">
                        <a:latin typeface="Cambria Math" panose="02040503050406030204" pitchFamily="18" charset="0"/>
                      </a:rPr>
                      <m:t>=0.92</m:t>
                    </m:r>
                  </m:oMath>
                </a14:m>
                <a:endParaRPr lang="en-US" altLang="zh-CN" sz="2000" b="0" dirty="0" smtClean="0"/>
              </a:p>
              <a:p>
                <a:pPr lvl="1"/>
                <a14:m>
                  <m:oMath xmlns:m="http://schemas.openxmlformats.org/officeDocument/2006/math">
                    <m:r>
                      <a:rPr lang="en-US" altLang="zh-CN" sz="2000" i="1" dirty="0">
                        <a:latin typeface="Cambria Math" panose="02040503050406030204" pitchFamily="18" charset="0"/>
                      </a:rPr>
                      <m:t>𝑃𝑟𝑒𝑐𝑖𝑠𝑖𝑜𝑛</m:t>
                    </m:r>
                    <m:r>
                      <a:rPr lang="en-US" altLang="zh-CN" sz="2000" i="1" dirty="0">
                        <a:latin typeface="Cambria Math" panose="02040503050406030204" pitchFamily="18" charset="0"/>
                      </a:rPr>
                      <m:t>=</m:t>
                    </m:r>
                    <m:f>
                      <m:fPr>
                        <m:ctrlPr>
                          <a:rPr lang="en-US" altLang="zh-CN" sz="2000" i="1" dirty="0">
                            <a:latin typeface="Cambria Math" panose="02040503050406030204" pitchFamily="18" charset="0"/>
                          </a:rPr>
                        </m:ctrlPr>
                      </m:fPr>
                      <m:num>
                        <m:r>
                          <a:rPr lang="en-US" altLang="zh-CN" sz="2000" i="1" dirty="0">
                            <a:latin typeface="Cambria Math" panose="02040503050406030204" pitchFamily="18" charset="0"/>
                          </a:rPr>
                          <m:t>𝑇𝑃</m:t>
                        </m:r>
                      </m:num>
                      <m:den>
                        <m:r>
                          <a:rPr lang="en-US" altLang="zh-CN" sz="2000" i="1" dirty="0">
                            <a:latin typeface="Cambria Math" panose="02040503050406030204" pitchFamily="18" charset="0"/>
                          </a:rPr>
                          <m:t>𝑇𝑃</m:t>
                        </m:r>
                        <m:r>
                          <a:rPr lang="en-US" altLang="zh-CN" sz="2000" i="1" dirty="0">
                            <a:latin typeface="Cambria Math" panose="02040503050406030204" pitchFamily="18" charset="0"/>
                          </a:rPr>
                          <m:t>+</m:t>
                        </m:r>
                        <m:r>
                          <a:rPr lang="en-US" altLang="zh-CN" sz="2000" i="1" dirty="0">
                            <a:latin typeface="Cambria Math" panose="02040503050406030204" pitchFamily="18" charset="0"/>
                          </a:rPr>
                          <m:t>𝐹𝑃</m:t>
                        </m:r>
                      </m:den>
                    </m:f>
                    <m:r>
                      <a:rPr lang="en-US" altLang="zh-CN" sz="2000" b="0" i="1" dirty="0" smtClean="0">
                        <a:latin typeface="Cambria Math" panose="02040503050406030204" pitchFamily="18" charset="0"/>
                      </a:rPr>
                      <m:t>=</m:t>
                    </m:r>
                    <m:f>
                      <m:fPr>
                        <m:ctrlPr>
                          <a:rPr lang="en-US" altLang="zh-CN" sz="2000" b="0" i="1" dirty="0" smtClean="0">
                            <a:latin typeface="Cambria Math" panose="02040503050406030204" pitchFamily="18" charset="0"/>
                          </a:rPr>
                        </m:ctrlPr>
                      </m:fPr>
                      <m:num>
                        <m:r>
                          <a:rPr lang="en-US" altLang="zh-CN" sz="2000" b="0" i="1" dirty="0" smtClean="0">
                            <a:latin typeface="Cambria Math" panose="02040503050406030204" pitchFamily="18" charset="0"/>
                          </a:rPr>
                          <m:t>3</m:t>
                        </m:r>
                      </m:num>
                      <m:den>
                        <m:r>
                          <a:rPr lang="en-US" altLang="zh-CN" sz="2000" b="0" i="1" dirty="0" smtClean="0">
                            <a:latin typeface="Cambria Math" panose="02040503050406030204" pitchFamily="18" charset="0"/>
                          </a:rPr>
                          <m:t>3+1</m:t>
                        </m:r>
                      </m:den>
                    </m:f>
                    <m:r>
                      <a:rPr lang="en-US" altLang="zh-CN" sz="2000" b="0" i="1" dirty="0" smtClean="0">
                        <a:latin typeface="Cambria Math" panose="02040503050406030204" pitchFamily="18" charset="0"/>
                      </a:rPr>
                      <m:t>=0.75</m:t>
                    </m:r>
                  </m:oMath>
                </a14:m>
                <a:endParaRPr lang="en-US" altLang="zh-CN" sz="2000" b="0" dirty="0" smtClean="0"/>
              </a:p>
              <a:p>
                <a:pPr lvl="1"/>
                <a14:m>
                  <m:oMath xmlns:m="http://schemas.openxmlformats.org/officeDocument/2006/math">
                    <m:r>
                      <a:rPr lang="en-US" altLang="zh-CN" sz="2000" i="1" dirty="0">
                        <a:latin typeface="Cambria Math" panose="02040503050406030204" pitchFamily="18" charset="0"/>
                      </a:rPr>
                      <m:t>𝑅𝑒𝑐𝑎𝑙𝑙</m:t>
                    </m:r>
                    <m:r>
                      <a:rPr lang="en-US" altLang="zh-CN" sz="2000" i="1" dirty="0">
                        <a:latin typeface="Cambria Math" panose="02040503050406030204" pitchFamily="18" charset="0"/>
                      </a:rPr>
                      <m:t>=</m:t>
                    </m:r>
                    <m:f>
                      <m:fPr>
                        <m:ctrlPr>
                          <a:rPr lang="en-US" altLang="zh-CN" sz="2000" i="1" dirty="0">
                            <a:latin typeface="Cambria Math" panose="02040503050406030204" pitchFamily="18" charset="0"/>
                          </a:rPr>
                        </m:ctrlPr>
                      </m:fPr>
                      <m:num>
                        <m:r>
                          <a:rPr lang="en-US" altLang="zh-CN" sz="2000" i="1" dirty="0">
                            <a:latin typeface="Cambria Math" panose="02040503050406030204" pitchFamily="18" charset="0"/>
                          </a:rPr>
                          <m:t>𝑇𝑃</m:t>
                        </m:r>
                      </m:num>
                      <m:den>
                        <m:r>
                          <a:rPr lang="en-US" altLang="zh-CN" sz="2000" i="1" dirty="0">
                            <a:latin typeface="Cambria Math" panose="02040503050406030204" pitchFamily="18" charset="0"/>
                          </a:rPr>
                          <m:t>𝑇𝑃</m:t>
                        </m:r>
                        <m:r>
                          <a:rPr lang="en-US" altLang="zh-CN" sz="2000" i="1" dirty="0">
                            <a:latin typeface="Cambria Math" panose="02040503050406030204" pitchFamily="18" charset="0"/>
                          </a:rPr>
                          <m:t>+</m:t>
                        </m:r>
                        <m:r>
                          <a:rPr lang="en-US" altLang="zh-CN" sz="2000" i="1" dirty="0">
                            <a:latin typeface="Cambria Math" panose="02040503050406030204" pitchFamily="18" charset="0"/>
                          </a:rPr>
                          <m:t>𝐹𝑁</m:t>
                        </m:r>
                      </m:den>
                    </m:f>
                    <m:r>
                      <a:rPr lang="en-US" altLang="zh-CN" sz="2000" b="0" i="1" dirty="0" smtClean="0">
                        <a:latin typeface="Cambria Math" panose="02040503050406030204" pitchFamily="18" charset="0"/>
                      </a:rPr>
                      <m:t>=</m:t>
                    </m:r>
                    <m:f>
                      <m:fPr>
                        <m:ctrlPr>
                          <a:rPr lang="en-US" altLang="zh-CN" sz="2000" b="0" i="1" dirty="0" smtClean="0">
                            <a:latin typeface="Cambria Math" panose="02040503050406030204" pitchFamily="18" charset="0"/>
                          </a:rPr>
                        </m:ctrlPr>
                      </m:fPr>
                      <m:num>
                        <m:r>
                          <a:rPr lang="en-US" altLang="zh-CN" sz="2000" b="0" i="1" dirty="0" smtClean="0">
                            <a:latin typeface="Cambria Math" panose="02040503050406030204" pitchFamily="18" charset="0"/>
                          </a:rPr>
                          <m:t>3</m:t>
                        </m:r>
                      </m:num>
                      <m:den>
                        <m:r>
                          <a:rPr lang="en-US" altLang="zh-CN" sz="2000" b="0" i="1" dirty="0" smtClean="0">
                            <a:latin typeface="Cambria Math" panose="02040503050406030204" pitchFamily="18" charset="0"/>
                          </a:rPr>
                          <m:t>3+7</m:t>
                        </m:r>
                      </m:den>
                    </m:f>
                    <m:r>
                      <a:rPr lang="en-US" altLang="zh-CN" sz="2000" b="0" i="1" dirty="0" smtClean="0">
                        <a:latin typeface="Cambria Math" panose="02040503050406030204" pitchFamily="18" charset="0"/>
                      </a:rPr>
                      <m:t>=0.3</m:t>
                    </m:r>
                  </m:oMath>
                </a14:m>
                <a:endParaRPr lang="en-US" altLang="zh-CN" sz="2000" dirty="0" smtClean="0"/>
              </a:p>
              <a:p>
                <a:r>
                  <a:rPr lang="zh-CN" altLang="en-US" dirty="0"/>
                  <a:t>第二</a:t>
                </a:r>
                <a:r>
                  <a:rPr lang="zh-CN" altLang="en-US" dirty="0" smtClean="0"/>
                  <a:t>个例子：新冠患者检测模型（高召回率）</a:t>
                </a:r>
                <a:endParaRPr lang="en-US" altLang="zh-CN" dirty="0" smtClean="0"/>
              </a:p>
              <a:p>
                <a:pPr lvl="1"/>
                <a14:m>
                  <m:oMath xmlns:m="http://schemas.openxmlformats.org/officeDocument/2006/math">
                    <m:r>
                      <a:rPr lang="en-US" altLang="zh-CN" sz="2000" i="1" dirty="0">
                        <a:latin typeface="Cambria Math" panose="02040503050406030204" pitchFamily="18" charset="0"/>
                      </a:rPr>
                      <m:t>𝐴𝑐𝑐𝑢𝑟𝑎𝑐𝑦</m:t>
                    </m:r>
                    <m:r>
                      <a:rPr lang="en-US" altLang="zh-CN" sz="2000" i="1" dirty="0">
                        <a:latin typeface="Cambria Math" panose="02040503050406030204" pitchFamily="18" charset="0"/>
                      </a:rPr>
                      <m:t>=</m:t>
                    </m:r>
                    <m:f>
                      <m:fPr>
                        <m:ctrlPr>
                          <a:rPr lang="en-US" altLang="zh-CN" sz="2000" i="1" dirty="0">
                            <a:latin typeface="Cambria Math" panose="02040503050406030204" pitchFamily="18" charset="0"/>
                          </a:rPr>
                        </m:ctrlPr>
                      </m:fPr>
                      <m:num>
                        <m:r>
                          <a:rPr lang="en-US" altLang="zh-CN" sz="2000" i="1" dirty="0">
                            <a:latin typeface="Cambria Math" panose="02040503050406030204" pitchFamily="18" charset="0"/>
                          </a:rPr>
                          <m:t>𝑇𝑃</m:t>
                        </m:r>
                        <m:r>
                          <a:rPr lang="en-US" altLang="zh-CN" sz="2000" i="1" dirty="0">
                            <a:latin typeface="Cambria Math" panose="02040503050406030204" pitchFamily="18" charset="0"/>
                          </a:rPr>
                          <m:t>+</m:t>
                        </m:r>
                        <m:r>
                          <a:rPr lang="en-US" altLang="zh-CN" sz="2000" i="1" dirty="0">
                            <a:latin typeface="Cambria Math" panose="02040503050406030204" pitchFamily="18" charset="0"/>
                          </a:rPr>
                          <m:t>𝑇𝑁</m:t>
                        </m:r>
                        <m:r>
                          <m:rPr>
                            <m:nor/>
                          </m:rPr>
                          <a:rPr lang="zh-CN" altLang="en-US" sz="2000" dirty="0"/>
                          <m:t> </m:t>
                        </m:r>
                      </m:num>
                      <m:den>
                        <m:r>
                          <a:rPr lang="en-US" altLang="zh-CN" sz="2000" i="1" dirty="0">
                            <a:latin typeface="Cambria Math" panose="02040503050406030204" pitchFamily="18" charset="0"/>
                          </a:rPr>
                          <m:t>𝑇𝑃</m:t>
                        </m:r>
                        <m:r>
                          <a:rPr lang="en-US" altLang="zh-CN" sz="2000" i="1" dirty="0">
                            <a:latin typeface="Cambria Math" panose="02040503050406030204" pitchFamily="18" charset="0"/>
                          </a:rPr>
                          <m:t>+</m:t>
                        </m:r>
                        <m:r>
                          <a:rPr lang="en-US" altLang="zh-CN" sz="2000" i="1" dirty="0">
                            <a:latin typeface="Cambria Math" panose="02040503050406030204" pitchFamily="18" charset="0"/>
                          </a:rPr>
                          <m:t>𝑇𝑁</m:t>
                        </m:r>
                        <m:r>
                          <a:rPr lang="en-US" altLang="zh-CN" sz="2000" i="1" dirty="0">
                            <a:latin typeface="Cambria Math" panose="02040503050406030204" pitchFamily="18" charset="0"/>
                          </a:rPr>
                          <m:t>+</m:t>
                        </m:r>
                        <m:r>
                          <a:rPr lang="en-US" altLang="zh-CN" sz="2000" i="1" dirty="0">
                            <a:latin typeface="Cambria Math" panose="02040503050406030204" pitchFamily="18" charset="0"/>
                          </a:rPr>
                          <m:t>𝐹𝑃</m:t>
                        </m:r>
                        <m:r>
                          <a:rPr lang="en-US" altLang="zh-CN" sz="2000" i="1" dirty="0">
                            <a:latin typeface="Cambria Math" panose="02040503050406030204" pitchFamily="18" charset="0"/>
                          </a:rPr>
                          <m:t>+</m:t>
                        </m:r>
                        <m:r>
                          <a:rPr lang="en-US" altLang="zh-CN" sz="2000" i="1" dirty="0">
                            <a:latin typeface="Cambria Math" panose="02040503050406030204" pitchFamily="18" charset="0"/>
                          </a:rPr>
                          <m:t>𝐹𝑁</m:t>
                        </m:r>
                      </m:den>
                    </m:f>
                    <m:r>
                      <a:rPr lang="en-US" altLang="zh-CN" sz="2000" dirty="0">
                        <a:latin typeface="Cambria Math" panose="02040503050406030204" pitchFamily="18" charset="0"/>
                      </a:rPr>
                      <m:t>=</m:t>
                    </m:r>
                    <m:f>
                      <m:fPr>
                        <m:ctrlPr>
                          <a:rPr lang="en-US" altLang="zh-CN" sz="2000" i="1" dirty="0">
                            <a:latin typeface="Cambria Math" panose="02040503050406030204" pitchFamily="18" charset="0"/>
                          </a:rPr>
                        </m:ctrlPr>
                      </m:fPr>
                      <m:num>
                        <m:r>
                          <a:rPr lang="en-US" altLang="zh-CN" sz="2000" i="1" dirty="0">
                            <a:latin typeface="Cambria Math" panose="02040503050406030204" pitchFamily="18" charset="0"/>
                          </a:rPr>
                          <m:t>9+81</m:t>
                        </m:r>
                      </m:num>
                      <m:den>
                        <m:r>
                          <a:rPr lang="en-US" altLang="zh-CN" sz="2000" i="1" dirty="0">
                            <a:latin typeface="Cambria Math" panose="02040503050406030204" pitchFamily="18" charset="0"/>
                          </a:rPr>
                          <m:t>9+81+</m:t>
                        </m:r>
                        <m:r>
                          <a:rPr lang="en-US" altLang="zh-CN" sz="2000" b="0" i="1" dirty="0" smtClean="0">
                            <a:latin typeface="Cambria Math" panose="02040503050406030204" pitchFamily="18" charset="0"/>
                          </a:rPr>
                          <m:t>9</m:t>
                        </m:r>
                        <m:r>
                          <a:rPr lang="en-US" altLang="zh-CN" sz="2000" i="1" dirty="0">
                            <a:latin typeface="Cambria Math" panose="02040503050406030204" pitchFamily="18" charset="0"/>
                          </a:rPr>
                          <m:t>+</m:t>
                        </m:r>
                        <m:r>
                          <a:rPr lang="en-US" altLang="zh-CN" sz="2000" b="0" i="1" dirty="0" smtClean="0">
                            <a:latin typeface="Cambria Math" panose="02040503050406030204" pitchFamily="18" charset="0"/>
                          </a:rPr>
                          <m:t>1</m:t>
                        </m:r>
                      </m:den>
                    </m:f>
                    <m:r>
                      <a:rPr lang="en-US" altLang="zh-CN" sz="2000" i="1" dirty="0">
                        <a:latin typeface="Cambria Math" panose="02040503050406030204" pitchFamily="18" charset="0"/>
                      </a:rPr>
                      <m:t>=0.9</m:t>
                    </m:r>
                  </m:oMath>
                </a14:m>
                <a:endParaRPr lang="en-US" altLang="zh-CN" sz="2000" dirty="0"/>
              </a:p>
              <a:p>
                <a:pPr lvl="1"/>
                <a14:m>
                  <m:oMath xmlns:m="http://schemas.openxmlformats.org/officeDocument/2006/math">
                    <m:r>
                      <a:rPr lang="en-US" altLang="zh-CN" sz="2000" i="1" dirty="0">
                        <a:latin typeface="Cambria Math" panose="02040503050406030204" pitchFamily="18" charset="0"/>
                      </a:rPr>
                      <m:t>𝑃𝑟𝑒𝑐𝑖𝑠𝑖𝑜𝑛</m:t>
                    </m:r>
                    <m:r>
                      <a:rPr lang="en-US" altLang="zh-CN" sz="2000" i="1" dirty="0">
                        <a:latin typeface="Cambria Math" panose="02040503050406030204" pitchFamily="18" charset="0"/>
                      </a:rPr>
                      <m:t>=</m:t>
                    </m:r>
                    <m:f>
                      <m:fPr>
                        <m:ctrlPr>
                          <a:rPr lang="en-US" altLang="zh-CN" sz="2000" i="1" dirty="0">
                            <a:latin typeface="Cambria Math" panose="02040503050406030204" pitchFamily="18" charset="0"/>
                          </a:rPr>
                        </m:ctrlPr>
                      </m:fPr>
                      <m:num>
                        <m:r>
                          <a:rPr lang="en-US" altLang="zh-CN" sz="2000" i="1" dirty="0">
                            <a:latin typeface="Cambria Math" panose="02040503050406030204" pitchFamily="18" charset="0"/>
                          </a:rPr>
                          <m:t>𝑇𝑃</m:t>
                        </m:r>
                      </m:num>
                      <m:den>
                        <m:r>
                          <a:rPr lang="en-US" altLang="zh-CN" sz="2000" i="1" dirty="0">
                            <a:latin typeface="Cambria Math" panose="02040503050406030204" pitchFamily="18" charset="0"/>
                          </a:rPr>
                          <m:t>𝑇𝑃</m:t>
                        </m:r>
                        <m:r>
                          <a:rPr lang="en-US" altLang="zh-CN" sz="2000" i="1" dirty="0">
                            <a:latin typeface="Cambria Math" panose="02040503050406030204" pitchFamily="18" charset="0"/>
                          </a:rPr>
                          <m:t>+</m:t>
                        </m:r>
                        <m:r>
                          <a:rPr lang="en-US" altLang="zh-CN" sz="2000" i="1" dirty="0">
                            <a:latin typeface="Cambria Math" panose="02040503050406030204" pitchFamily="18" charset="0"/>
                          </a:rPr>
                          <m:t>𝐹𝑃</m:t>
                        </m:r>
                      </m:den>
                    </m:f>
                    <m:r>
                      <a:rPr lang="en-US" altLang="zh-CN" sz="2000" i="1" dirty="0">
                        <a:latin typeface="Cambria Math" panose="02040503050406030204" pitchFamily="18" charset="0"/>
                      </a:rPr>
                      <m:t>=</m:t>
                    </m:r>
                    <m:f>
                      <m:fPr>
                        <m:ctrlPr>
                          <a:rPr lang="en-US" altLang="zh-CN" sz="2000" i="1" dirty="0">
                            <a:latin typeface="Cambria Math" panose="02040503050406030204" pitchFamily="18" charset="0"/>
                          </a:rPr>
                        </m:ctrlPr>
                      </m:fPr>
                      <m:num>
                        <m:r>
                          <a:rPr lang="en-US" altLang="zh-CN" sz="2000" i="1" dirty="0">
                            <a:latin typeface="Cambria Math" panose="02040503050406030204" pitchFamily="18" charset="0"/>
                          </a:rPr>
                          <m:t>9</m:t>
                        </m:r>
                      </m:num>
                      <m:den>
                        <m:r>
                          <a:rPr lang="en-US" altLang="zh-CN" sz="2000" i="1" dirty="0">
                            <a:latin typeface="Cambria Math" panose="02040503050406030204" pitchFamily="18" charset="0"/>
                          </a:rPr>
                          <m:t>9+</m:t>
                        </m:r>
                        <m:r>
                          <a:rPr lang="en-US" altLang="zh-CN" sz="2000" b="0" i="1" dirty="0" smtClean="0">
                            <a:latin typeface="Cambria Math" panose="02040503050406030204" pitchFamily="18" charset="0"/>
                          </a:rPr>
                          <m:t>9</m:t>
                        </m:r>
                      </m:den>
                    </m:f>
                    <m:r>
                      <a:rPr lang="en-US" altLang="zh-CN" sz="2000" i="1" dirty="0">
                        <a:latin typeface="Cambria Math" panose="02040503050406030204" pitchFamily="18" charset="0"/>
                      </a:rPr>
                      <m:t>=0.</m:t>
                    </m:r>
                    <m:r>
                      <a:rPr lang="en-US" altLang="zh-CN" sz="2000" b="0" i="1" dirty="0" smtClean="0">
                        <a:latin typeface="Cambria Math" panose="02040503050406030204" pitchFamily="18" charset="0"/>
                      </a:rPr>
                      <m:t>5</m:t>
                    </m:r>
                  </m:oMath>
                </a14:m>
                <a:endParaRPr lang="en-US" altLang="zh-CN" sz="2000" dirty="0"/>
              </a:p>
              <a:p>
                <a:pPr lvl="1"/>
                <a14:m>
                  <m:oMath xmlns:m="http://schemas.openxmlformats.org/officeDocument/2006/math">
                    <m:r>
                      <a:rPr lang="en-US" altLang="zh-CN" sz="2000" i="1" dirty="0">
                        <a:latin typeface="Cambria Math" panose="02040503050406030204" pitchFamily="18" charset="0"/>
                      </a:rPr>
                      <m:t>𝑅𝑒𝑐𝑎𝑙𝑙</m:t>
                    </m:r>
                    <m:r>
                      <a:rPr lang="en-US" altLang="zh-CN" sz="2000" i="1" dirty="0">
                        <a:latin typeface="Cambria Math" panose="02040503050406030204" pitchFamily="18" charset="0"/>
                      </a:rPr>
                      <m:t>=</m:t>
                    </m:r>
                    <m:f>
                      <m:fPr>
                        <m:ctrlPr>
                          <a:rPr lang="en-US" altLang="zh-CN" sz="2000" i="1" dirty="0">
                            <a:latin typeface="Cambria Math" panose="02040503050406030204" pitchFamily="18" charset="0"/>
                          </a:rPr>
                        </m:ctrlPr>
                      </m:fPr>
                      <m:num>
                        <m:r>
                          <a:rPr lang="en-US" altLang="zh-CN" sz="2000" i="1" dirty="0">
                            <a:latin typeface="Cambria Math" panose="02040503050406030204" pitchFamily="18" charset="0"/>
                          </a:rPr>
                          <m:t>𝑇𝑃</m:t>
                        </m:r>
                      </m:num>
                      <m:den>
                        <m:r>
                          <a:rPr lang="en-US" altLang="zh-CN" sz="2000" i="1" dirty="0">
                            <a:latin typeface="Cambria Math" panose="02040503050406030204" pitchFamily="18" charset="0"/>
                          </a:rPr>
                          <m:t>𝑇𝑃</m:t>
                        </m:r>
                        <m:r>
                          <a:rPr lang="en-US" altLang="zh-CN" sz="2000" i="1" dirty="0">
                            <a:latin typeface="Cambria Math" panose="02040503050406030204" pitchFamily="18" charset="0"/>
                          </a:rPr>
                          <m:t>+</m:t>
                        </m:r>
                        <m:r>
                          <a:rPr lang="en-US" altLang="zh-CN" sz="2000" i="1" dirty="0">
                            <a:latin typeface="Cambria Math" panose="02040503050406030204" pitchFamily="18" charset="0"/>
                          </a:rPr>
                          <m:t>𝐹𝑁</m:t>
                        </m:r>
                      </m:den>
                    </m:f>
                    <m:r>
                      <a:rPr lang="en-US" altLang="zh-CN" sz="2000" i="1" dirty="0">
                        <a:latin typeface="Cambria Math" panose="02040503050406030204" pitchFamily="18" charset="0"/>
                      </a:rPr>
                      <m:t>=</m:t>
                    </m:r>
                    <m:f>
                      <m:fPr>
                        <m:ctrlPr>
                          <a:rPr lang="en-US" altLang="zh-CN" sz="2000" i="1" dirty="0">
                            <a:latin typeface="Cambria Math" panose="02040503050406030204" pitchFamily="18" charset="0"/>
                          </a:rPr>
                        </m:ctrlPr>
                      </m:fPr>
                      <m:num>
                        <m:r>
                          <a:rPr lang="en-US" altLang="zh-CN" sz="2000" i="1" dirty="0">
                            <a:latin typeface="Cambria Math" panose="02040503050406030204" pitchFamily="18" charset="0"/>
                          </a:rPr>
                          <m:t>9</m:t>
                        </m:r>
                      </m:num>
                      <m:den>
                        <m:r>
                          <a:rPr lang="en-US" altLang="zh-CN" sz="2000" i="1" dirty="0">
                            <a:latin typeface="Cambria Math" panose="02040503050406030204" pitchFamily="18" charset="0"/>
                          </a:rPr>
                          <m:t>9+1</m:t>
                        </m:r>
                      </m:den>
                    </m:f>
                    <m:r>
                      <a:rPr lang="en-US" altLang="zh-CN" sz="2000" i="1" dirty="0">
                        <a:latin typeface="Cambria Math" panose="02040503050406030204" pitchFamily="18" charset="0"/>
                      </a:rPr>
                      <m:t>=0.</m:t>
                    </m:r>
                    <m:r>
                      <a:rPr lang="en-US" altLang="zh-CN" sz="2000" b="0" i="1" dirty="0" smtClean="0">
                        <a:latin typeface="Cambria Math" panose="02040503050406030204" pitchFamily="18" charset="0"/>
                      </a:rPr>
                      <m:t>9</m:t>
                    </m:r>
                  </m:oMath>
                </a14:m>
                <a:endParaRPr lang="en-US" altLang="zh-CN" sz="2000"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graphicFrame>
        <p:nvGraphicFramePr>
          <p:cNvPr id="4" name="表格 3"/>
          <p:cNvGraphicFramePr>
            <a:graphicFrameLocks noGrp="1"/>
          </p:cNvGraphicFramePr>
          <p:nvPr>
            <p:extLst>
              <p:ext uri="{D42A27DB-BD31-4B8C-83A1-F6EECF244321}">
                <p14:modId xmlns:p14="http://schemas.microsoft.com/office/powerpoint/2010/main" val="2109602258"/>
              </p:ext>
            </p:extLst>
          </p:nvPr>
        </p:nvGraphicFramePr>
        <p:xfrm>
          <a:off x="7086916" y="1678939"/>
          <a:ext cx="4433572" cy="1494368"/>
        </p:xfrm>
        <a:graphic>
          <a:graphicData uri="http://schemas.openxmlformats.org/drawingml/2006/table">
            <a:tbl>
              <a:tblPr firstRow="1" bandRow="1">
                <a:tableStyleId>{5940675A-B579-460E-94D1-54222C63F5DA}</a:tableStyleId>
              </a:tblPr>
              <a:tblGrid>
                <a:gridCol w="1108393"/>
                <a:gridCol w="1108393"/>
                <a:gridCol w="1108393"/>
                <a:gridCol w="1108393"/>
              </a:tblGrid>
              <a:tr h="373592">
                <a:tc rowSpan="2" gridSpan="2">
                  <a:txBody>
                    <a:bodyPr/>
                    <a:lstStyle/>
                    <a:p>
                      <a:pPr algn="ctr"/>
                      <a:endParaRPr lang="zh-CN" altLang="en-US" dirty="0"/>
                    </a:p>
                  </a:txBody>
                  <a:tcPr anchor="ctr"/>
                </a:tc>
                <a:tc rowSpan="2" hMerge="1">
                  <a:txBody>
                    <a:bodyPr/>
                    <a:lstStyle/>
                    <a:p>
                      <a:endParaRPr lang="zh-CN" altLang="en-US"/>
                    </a:p>
                  </a:txBody>
                  <a:tcPr/>
                </a:tc>
                <a:tc gridSpan="2">
                  <a:txBody>
                    <a:bodyPr/>
                    <a:lstStyle/>
                    <a:p>
                      <a:pPr algn="ctr"/>
                      <a:r>
                        <a:rPr lang="zh-CN" altLang="en-US" dirty="0" smtClean="0"/>
                        <a:t>真实值</a:t>
                      </a:r>
                      <a:endParaRPr lang="zh-CN" altLang="en-US" dirty="0"/>
                    </a:p>
                  </a:txBody>
                  <a:tcPr anchor="ctr"/>
                </a:tc>
                <a:tc hMerge="1">
                  <a:txBody>
                    <a:bodyPr/>
                    <a:lstStyle/>
                    <a:p>
                      <a:endParaRPr lang="zh-CN" altLang="en-US" dirty="0"/>
                    </a:p>
                  </a:txBody>
                  <a:tcPr/>
                </a:tc>
              </a:tr>
              <a:tr h="373592">
                <a:tc gridSpan="2" vMerge="1">
                  <a:txBody>
                    <a:bodyPr/>
                    <a:lstStyle/>
                    <a:p>
                      <a:endParaRPr lang="zh-CN" altLang="en-US" dirty="0"/>
                    </a:p>
                  </a:txBody>
                  <a:tcPr/>
                </a:tc>
                <a:tc hMerge="1" vMerge="1">
                  <a:txBody>
                    <a:bodyPr/>
                    <a:lstStyle/>
                    <a:p>
                      <a:endParaRPr lang="zh-CN"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dirty="0" smtClean="0"/>
                        <a:t>Positive</a:t>
                      </a:r>
                      <a:endParaRPr lang="zh-CN" altLang="en-US" dirty="0" smtClean="0"/>
                    </a:p>
                  </a:txBody>
                  <a:tcPr anchor="ctr"/>
                </a:tc>
                <a:tc>
                  <a:txBody>
                    <a:bodyPr/>
                    <a:lstStyle/>
                    <a:p>
                      <a:pPr algn="ctr"/>
                      <a:r>
                        <a:rPr lang="en-US" altLang="zh-CN" dirty="0" smtClean="0"/>
                        <a:t>Negative</a:t>
                      </a:r>
                      <a:endParaRPr lang="zh-CN" altLang="en-US" dirty="0"/>
                    </a:p>
                  </a:txBody>
                  <a:tcPr anchor="ctr"/>
                </a:tc>
              </a:tr>
              <a:tr h="373592">
                <a:tc rowSpan="2">
                  <a:txBody>
                    <a:bodyPr/>
                    <a:lstStyle/>
                    <a:p>
                      <a:pPr algn="ctr"/>
                      <a:r>
                        <a:rPr lang="zh-CN" altLang="en-US" dirty="0" smtClean="0"/>
                        <a:t>预测值</a:t>
                      </a:r>
                      <a:endParaRPr lang="zh-CN" altLang="en-US" dirty="0"/>
                    </a:p>
                  </a:txBody>
                  <a:tcPr anchor="ctr"/>
                </a:tc>
                <a:tc>
                  <a:txBody>
                    <a:bodyPr/>
                    <a:lstStyle/>
                    <a:p>
                      <a:pPr algn="ctr"/>
                      <a:r>
                        <a:rPr lang="en-US" altLang="zh-CN" dirty="0" smtClean="0"/>
                        <a:t>Positive</a:t>
                      </a:r>
                      <a:endParaRPr lang="zh-CN" altLang="en-US" dirty="0"/>
                    </a:p>
                  </a:txBody>
                  <a:tcPr anchor="ctr"/>
                </a:tc>
                <a:tc>
                  <a:txBody>
                    <a:bodyPr/>
                    <a:lstStyle/>
                    <a:p>
                      <a:pPr algn="ctr"/>
                      <a:r>
                        <a:rPr lang="en-US" altLang="zh-CN" dirty="0" smtClean="0"/>
                        <a:t>TP=3</a:t>
                      </a:r>
                      <a:endParaRPr lang="zh-CN" altLang="en-US" dirty="0"/>
                    </a:p>
                  </a:txBody>
                  <a:tcPr anchor="ctr"/>
                </a:tc>
                <a:tc>
                  <a:txBody>
                    <a:bodyPr/>
                    <a:lstStyle/>
                    <a:p>
                      <a:pPr algn="ctr"/>
                      <a:r>
                        <a:rPr lang="en-US" altLang="zh-CN" dirty="0" smtClean="0"/>
                        <a:t>FP=1</a:t>
                      </a:r>
                      <a:endParaRPr lang="zh-CN" altLang="en-US" dirty="0"/>
                    </a:p>
                  </a:txBody>
                  <a:tcPr anchor="ctr"/>
                </a:tc>
              </a:tr>
              <a:tr h="373592">
                <a:tc vMerge="1">
                  <a:txBody>
                    <a:bodyPr/>
                    <a:lstStyle/>
                    <a:p>
                      <a:endParaRPr lang="zh-CN" altLang="en-US" dirty="0"/>
                    </a:p>
                  </a:txBody>
                  <a:tcPr/>
                </a:tc>
                <a:tc>
                  <a:txBody>
                    <a:bodyPr/>
                    <a:lstStyle/>
                    <a:p>
                      <a:pPr algn="ctr"/>
                      <a:r>
                        <a:rPr lang="en-US" altLang="zh-CN" dirty="0" smtClean="0"/>
                        <a:t>Negative</a:t>
                      </a:r>
                      <a:endParaRPr lang="zh-CN" altLang="en-US" dirty="0"/>
                    </a:p>
                  </a:txBody>
                  <a:tcPr anchor="ctr"/>
                </a:tc>
                <a:tc>
                  <a:txBody>
                    <a:bodyPr/>
                    <a:lstStyle/>
                    <a:p>
                      <a:pPr algn="ctr"/>
                      <a:r>
                        <a:rPr lang="en-US" altLang="zh-CN" dirty="0" smtClean="0"/>
                        <a:t>FN=7</a:t>
                      </a:r>
                      <a:endParaRPr lang="zh-CN" altLang="en-US" dirty="0"/>
                    </a:p>
                  </a:txBody>
                  <a:tcPr anchor="ctr"/>
                </a:tc>
                <a:tc>
                  <a:txBody>
                    <a:bodyPr/>
                    <a:lstStyle/>
                    <a:p>
                      <a:pPr algn="ctr"/>
                      <a:r>
                        <a:rPr lang="en-US" altLang="zh-CN" dirty="0" smtClean="0"/>
                        <a:t>TN=89</a:t>
                      </a:r>
                      <a:endParaRPr lang="zh-CN" altLang="en-US" dirty="0"/>
                    </a:p>
                  </a:txBody>
                  <a:tcPr anchor="ct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3924101430"/>
              </p:ext>
            </p:extLst>
          </p:nvPr>
        </p:nvGraphicFramePr>
        <p:xfrm>
          <a:off x="7086916" y="4037116"/>
          <a:ext cx="4433572" cy="1494368"/>
        </p:xfrm>
        <a:graphic>
          <a:graphicData uri="http://schemas.openxmlformats.org/drawingml/2006/table">
            <a:tbl>
              <a:tblPr firstRow="1" bandRow="1">
                <a:tableStyleId>{5940675A-B579-460E-94D1-54222C63F5DA}</a:tableStyleId>
              </a:tblPr>
              <a:tblGrid>
                <a:gridCol w="1108393"/>
                <a:gridCol w="1108393"/>
                <a:gridCol w="1108393"/>
                <a:gridCol w="1108393"/>
              </a:tblGrid>
              <a:tr h="373592">
                <a:tc rowSpan="2" gridSpan="2">
                  <a:txBody>
                    <a:bodyPr/>
                    <a:lstStyle/>
                    <a:p>
                      <a:pPr algn="ctr"/>
                      <a:endParaRPr lang="zh-CN" altLang="en-US" dirty="0"/>
                    </a:p>
                  </a:txBody>
                  <a:tcPr anchor="ctr"/>
                </a:tc>
                <a:tc rowSpan="2" hMerge="1">
                  <a:txBody>
                    <a:bodyPr/>
                    <a:lstStyle/>
                    <a:p>
                      <a:endParaRPr lang="zh-CN" altLang="en-US"/>
                    </a:p>
                  </a:txBody>
                  <a:tcPr/>
                </a:tc>
                <a:tc gridSpan="2">
                  <a:txBody>
                    <a:bodyPr/>
                    <a:lstStyle/>
                    <a:p>
                      <a:pPr algn="ctr"/>
                      <a:r>
                        <a:rPr lang="zh-CN" altLang="en-US" dirty="0" smtClean="0"/>
                        <a:t>真实值</a:t>
                      </a:r>
                      <a:endParaRPr lang="zh-CN" altLang="en-US" dirty="0"/>
                    </a:p>
                  </a:txBody>
                  <a:tcPr anchor="ctr"/>
                </a:tc>
                <a:tc hMerge="1">
                  <a:txBody>
                    <a:bodyPr/>
                    <a:lstStyle/>
                    <a:p>
                      <a:endParaRPr lang="zh-CN" altLang="en-US" dirty="0"/>
                    </a:p>
                  </a:txBody>
                  <a:tcPr/>
                </a:tc>
              </a:tr>
              <a:tr h="373592">
                <a:tc gridSpan="2" vMerge="1">
                  <a:txBody>
                    <a:bodyPr/>
                    <a:lstStyle/>
                    <a:p>
                      <a:endParaRPr lang="zh-CN" altLang="en-US" dirty="0"/>
                    </a:p>
                  </a:txBody>
                  <a:tcPr/>
                </a:tc>
                <a:tc hMerge="1" vMerge="1">
                  <a:txBody>
                    <a:bodyPr/>
                    <a:lstStyle/>
                    <a:p>
                      <a:endParaRPr lang="zh-CN"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dirty="0" smtClean="0"/>
                        <a:t>Positive</a:t>
                      </a:r>
                      <a:endParaRPr lang="zh-CN" altLang="en-US" dirty="0" smtClean="0"/>
                    </a:p>
                  </a:txBody>
                  <a:tcPr anchor="ctr"/>
                </a:tc>
                <a:tc>
                  <a:txBody>
                    <a:bodyPr/>
                    <a:lstStyle/>
                    <a:p>
                      <a:pPr algn="ctr"/>
                      <a:r>
                        <a:rPr lang="en-US" altLang="zh-CN" dirty="0" smtClean="0"/>
                        <a:t>Negative</a:t>
                      </a:r>
                      <a:endParaRPr lang="zh-CN" altLang="en-US" dirty="0"/>
                    </a:p>
                  </a:txBody>
                  <a:tcPr anchor="ctr"/>
                </a:tc>
              </a:tr>
              <a:tr h="373592">
                <a:tc rowSpan="2">
                  <a:txBody>
                    <a:bodyPr/>
                    <a:lstStyle/>
                    <a:p>
                      <a:pPr algn="ctr"/>
                      <a:r>
                        <a:rPr lang="zh-CN" altLang="en-US" dirty="0" smtClean="0"/>
                        <a:t>预测值</a:t>
                      </a:r>
                      <a:endParaRPr lang="zh-CN" altLang="en-US" dirty="0"/>
                    </a:p>
                  </a:txBody>
                  <a:tcPr anchor="ctr"/>
                </a:tc>
                <a:tc>
                  <a:txBody>
                    <a:bodyPr/>
                    <a:lstStyle/>
                    <a:p>
                      <a:pPr algn="ctr"/>
                      <a:r>
                        <a:rPr lang="en-US" altLang="zh-CN" dirty="0" smtClean="0"/>
                        <a:t>Positive</a:t>
                      </a:r>
                      <a:endParaRPr lang="zh-CN" altLang="en-US" dirty="0"/>
                    </a:p>
                  </a:txBody>
                  <a:tcPr anchor="ctr"/>
                </a:tc>
                <a:tc>
                  <a:txBody>
                    <a:bodyPr/>
                    <a:lstStyle/>
                    <a:p>
                      <a:pPr algn="ctr"/>
                      <a:r>
                        <a:rPr lang="en-US" altLang="zh-CN" dirty="0" smtClean="0"/>
                        <a:t>TP=9</a:t>
                      </a:r>
                      <a:endParaRPr lang="zh-CN" altLang="en-US" dirty="0"/>
                    </a:p>
                  </a:txBody>
                  <a:tcPr anchor="ctr"/>
                </a:tc>
                <a:tc>
                  <a:txBody>
                    <a:bodyPr/>
                    <a:lstStyle/>
                    <a:p>
                      <a:pPr algn="ctr"/>
                      <a:r>
                        <a:rPr lang="en-US" altLang="zh-CN" dirty="0" smtClean="0"/>
                        <a:t>FP=9</a:t>
                      </a:r>
                      <a:endParaRPr lang="zh-CN" altLang="en-US" dirty="0"/>
                    </a:p>
                  </a:txBody>
                  <a:tcPr anchor="ctr"/>
                </a:tc>
              </a:tr>
              <a:tr h="373592">
                <a:tc vMerge="1">
                  <a:txBody>
                    <a:bodyPr/>
                    <a:lstStyle/>
                    <a:p>
                      <a:endParaRPr lang="zh-CN" altLang="en-US" dirty="0"/>
                    </a:p>
                  </a:txBody>
                  <a:tcPr/>
                </a:tc>
                <a:tc>
                  <a:txBody>
                    <a:bodyPr/>
                    <a:lstStyle/>
                    <a:p>
                      <a:pPr algn="ctr"/>
                      <a:r>
                        <a:rPr lang="en-US" altLang="zh-CN" dirty="0" smtClean="0"/>
                        <a:t>Negative</a:t>
                      </a:r>
                      <a:endParaRPr lang="zh-CN" altLang="en-US" dirty="0"/>
                    </a:p>
                  </a:txBody>
                  <a:tcPr anchor="ctr"/>
                </a:tc>
                <a:tc>
                  <a:txBody>
                    <a:bodyPr/>
                    <a:lstStyle/>
                    <a:p>
                      <a:pPr algn="ctr"/>
                      <a:r>
                        <a:rPr lang="en-US" altLang="zh-CN" dirty="0" smtClean="0"/>
                        <a:t>FN=1</a:t>
                      </a:r>
                      <a:endParaRPr lang="zh-CN" altLang="en-US" dirty="0"/>
                    </a:p>
                  </a:txBody>
                  <a:tcPr anchor="ctr"/>
                </a:tc>
                <a:tc>
                  <a:txBody>
                    <a:bodyPr/>
                    <a:lstStyle/>
                    <a:p>
                      <a:pPr algn="ctr"/>
                      <a:r>
                        <a:rPr lang="en-US" altLang="zh-CN" dirty="0" smtClean="0"/>
                        <a:t>TN=81</a:t>
                      </a:r>
                      <a:endParaRPr lang="zh-CN" altLang="en-US" dirty="0"/>
                    </a:p>
                  </a:txBody>
                  <a:tcPr anchor="ctr"/>
                </a:tc>
              </a:tr>
            </a:tbl>
          </a:graphicData>
        </a:graphic>
      </p:graphicFrame>
    </p:spTree>
    <p:extLst>
      <p:ext uri="{BB962C8B-B14F-4D97-AF65-F5344CB8AC3E}">
        <p14:creationId xmlns:p14="http://schemas.microsoft.com/office/powerpoint/2010/main" val="19044703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评价指标</a:t>
            </a:r>
            <a:r>
              <a:rPr lang="en-US" altLang="zh-CN" dirty="0" err="1" smtClean="0"/>
              <a:t>mAP</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zh-CN" altLang="en-US" dirty="0" smtClean="0"/>
                  <a:t>混淆矩阵</a:t>
                </a:r>
                <a:r>
                  <a:rPr lang="en-US" altLang="zh-CN" dirty="0" smtClean="0"/>
                  <a:t>F-Measure</a:t>
                </a:r>
                <a:r>
                  <a:rPr lang="zh-CN" altLang="en-US" dirty="0" smtClean="0"/>
                  <a:t>：</a:t>
                </a:r>
                <a:endParaRPr lang="en-US" altLang="zh-CN" dirty="0" smtClean="0"/>
              </a:p>
              <a:p>
                <a:pPr lvl="1"/>
                <a14:m>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𝐹</m:t>
                        </m:r>
                      </m:e>
                      <m:sub>
                        <m:r>
                          <a:rPr lang="zh-CN" altLang="en-US" sz="2000" b="0" i="1" smtClean="0">
                            <a:latin typeface="Cambria Math" panose="02040503050406030204" pitchFamily="18" charset="0"/>
                          </a:rPr>
                          <m:t>𝛼</m:t>
                        </m:r>
                      </m:sub>
                    </m:sSub>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d>
                          <m:dPr>
                            <m:ctrlPr>
                              <a:rPr lang="en-US" altLang="zh-CN" sz="2000" b="0" i="1" smtClean="0">
                                <a:latin typeface="Cambria Math" panose="02040503050406030204" pitchFamily="18" charset="0"/>
                              </a:rPr>
                            </m:ctrlPr>
                          </m:dPr>
                          <m:e>
                            <m:sSup>
                              <m:sSupPr>
                                <m:ctrlPr>
                                  <a:rPr lang="en-US" altLang="zh-CN" sz="2000" b="0" i="1" smtClean="0">
                                    <a:latin typeface="Cambria Math" panose="02040503050406030204" pitchFamily="18" charset="0"/>
                                  </a:rPr>
                                </m:ctrlPr>
                              </m:sSupPr>
                              <m:e>
                                <m:r>
                                  <a:rPr lang="zh-CN" altLang="en-US" sz="2000" b="0" i="1" smtClean="0">
                                    <a:latin typeface="Cambria Math" panose="02040503050406030204" pitchFamily="18" charset="0"/>
                                  </a:rPr>
                                  <m:t>𝛼</m:t>
                                </m:r>
                              </m:e>
                              <m:sup>
                                <m:r>
                                  <a:rPr lang="en-US" altLang="zh-CN" sz="2000" b="0" i="1" smtClean="0">
                                    <a:latin typeface="Cambria Math" panose="02040503050406030204" pitchFamily="18" charset="0"/>
                                  </a:rPr>
                                  <m:t>2</m:t>
                                </m:r>
                              </m:sup>
                            </m:sSup>
                            <m:r>
                              <a:rPr lang="en-US" altLang="zh-CN" sz="2000" b="0" i="1" smtClean="0">
                                <a:latin typeface="Cambria Math" panose="02040503050406030204" pitchFamily="18" charset="0"/>
                              </a:rPr>
                              <m:t>+1</m:t>
                            </m:r>
                          </m:e>
                        </m:d>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𝑝𝑟𝑒𝑐𝑖𝑠𝑖𝑜𝑛</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𝑟𝑒𝑐𝑎𝑙𝑙</m:t>
                        </m:r>
                      </m:num>
                      <m:den>
                        <m:sSup>
                          <m:sSupPr>
                            <m:ctrlPr>
                              <a:rPr lang="en-US" altLang="zh-CN" sz="2000" b="0" i="1" smtClean="0">
                                <a:latin typeface="Cambria Math" panose="02040503050406030204" pitchFamily="18" charset="0"/>
                              </a:rPr>
                            </m:ctrlPr>
                          </m:sSupPr>
                          <m:e>
                            <m:r>
                              <a:rPr lang="zh-CN" altLang="en-US" sz="2000" b="0" i="1" smtClean="0">
                                <a:latin typeface="Cambria Math" panose="02040503050406030204" pitchFamily="18" charset="0"/>
                              </a:rPr>
                              <m:t>𝛼</m:t>
                            </m:r>
                          </m:e>
                          <m:sup>
                            <m:r>
                              <a:rPr lang="en-US" altLang="zh-CN" sz="2000" b="0" i="1" smtClean="0">
                                <a:latin typeface="Cambria Math" panose="02040503050406030204" pitchFamily="18" charset="0"/>
                              </a:rPr>
                              <m:t>2</m:t>
                            </m:r>
                          </m:sup>
                        </m:sSup>
                        <m:r>
                          <a:rPr lang="en-US" altLang="zh-CN" sz="2000" b="0" i="1" smtClean="0">
                            <a:latin typeface="Cambria Math" panose="02040503050406030204" pitchFamily="18" charset="0"/>
                            <a:ea typeface="Cambria Math" panose="02040503050406030204" pitchFamily="18" charset="0"/>
                          </a:rPr>
                          <m:t>×</m:t>
                        </m:r>
                        <m:d>
                          <m:dPr>
                            <m:ctrlPr>
                              <a:rPr lang="en-US" altLang="zh-CN" sz="2000" b="0" i="1" smtClean="0">
                                <a:latin typeface="Cambria Math" panose="02040503050406030204" pitchFamily="18" charset="0"/>
                                <a:ea typeface="Cambria Math" panose="02040503050406030204" pitchFamily="18" charset="0"/>
                              </a:rPr>
                            </m:ctrlPr>
                          </m:dPr>
                          <m:e>
                            <m:r>
                              <a:rPr lang="en-US" altLang="zh-CN" sz="2000" b="0" i="1" smtClean="0">
                                <a:latin typeface="Cambria Math" panose="02040503050406030204" pitchFamily="18" charset="0"/>
                                <a:ea typeface="Cambria Math" panose="02040503050406030204" pitchFamily="18" charset="0"/>
                              </a:rPr>
                              <m:t>𝑝𝑟𝑒𝑐𝑖𝑠𝑖𝑜𝑛</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𝑟𝑒𝑐𝑎𝑙𝑙</m:t>
                            </m:r>
                          </m:e>
                        </m:d>
                      </m:den>
                    </m:f>
                    <m:r>
                      <a:rPr lang="en-US" altLang="zh-CN" sz="2000" b="0" i="1" smtClean="0">
                        <a:latin typeface="Cambria Math" panose="02040503050406030204" pitchFamily="18" charset="0"/>
                        <a:ea typeface="Cambria Math" panose="02040503050406030204" pitchFamily="18" charset="0"/>
                      </a:rPr>
                      <m:t>∈</m:t>
                    </m:r>
                    <m:d>
                      <m:dPr>
                        <m:ctrlPr>
                          <a:rPr lang="en-US" altLang="zh-CN" sz="2000" b="0" i="1" smtClean="0">
                            <a:latin typeface="Cambria Math" panose="02040503050406030204" pitchFamily="18" charset="0"/>
                            <a:ea typeface="Cambria Math" panose="02040503050406030204" pitchFamily="18" charset="0"/>
                          </a:rPr>
                        </m:ctrlPr>
                      </m:dPr>
                      <m:e>
                        <m:r>
                          <a:rPr lang="en-US" altLang="zh-CN" sz="2000" b="0" i="1" smtClean="0">
                            <a:latin typeface="Cambria Math" panose="02040503050406030204" pitchFamily="18" charset="0"/>
                            <a:ea typeface="Cambria Math" panose="02040503050406030204" pitchFamily="18" charset="0"/>
                          </a:rPr>
                          <m:t>0,1</m:t>
                        </m:r>
                      </m:e>
                    </m:d>
                  </m:oMath>
                </a14:m>
                <a:r>
                  <a:rPr lang="en-US" altLang="zh-CN" sz="2000" dirty="0" smtClean="0"/>
                  <a:t>,</a:t>
                </a:r>
              </a:p>
              <a:p>
                <a:pPr lvl="1"/>
                <a:r>
                  <a:rPr lang="zh-CN" altLang="en-US" dirty="0" smtClean="0">
                    <a:latin typeface="Cambria Math" panose="02040503050406030204" pitchFamily="18" charset="0"/>
                  </a:rPr>
                  <a:t>越接近</a:t>
                </a:r>
                <a:r>
                  <a:rPr lang="en-US" altLang="zh-CN" dirty="0" smtClean="0">
                    <a:latin typeface="Cambria Math" panose="02040503050406030204" pitchFamily="18" charset="0"/>
                  </a:rPr>
                  <a:t>1</a:t>
                </a:r>
                <a:r>
                  <a:rPr lang="zh-CN" altLang="en-US" dirty="0" smtClean="0">
                    <a:latin typeface="Cambria Math" panose="02040503050406030204" pitchFamily="18" charset="0"/>
                  </a:rPr>
                  <a:t>，模型的精确度越高</a:t>
                </a:r>
                <a:endParaRPr lang="en-US" altLang="zh-CN" dirty="0" smtClean="0">
                  <a:latin typeface="Cambria Math" panose="02040503050406030204" pitchFamily="18" charset="0"/>
                </a:endParaRPr>
              </a:p>
              <a:p>
                <a:pPr lvl="1"/>
                <a14:m>
                  <m:oMath xmlns:m="http://schemas.openxmlformats.org/officeDocument/2006/math">
                    <m:r>
                      <a:rPr lang="zh-CN" altLang="en-US" i="1" dirty="0" smtClean="0">
                        <a:latin typeface="Cambria Math" panose="02040503050406030204" pitchFamily="18" charset="0"/>
                      </a:rPr>
                      <m:t>𝛼</m:t>
                    </m:r>
                  </m:oMath>
                </a14:m>
                <a:r>
                  <a:rPr lang="zh-CN" altLang="en-US" dirty="0" smtClean="0"/>
                  <a:t>为权重参数</a:t>
                </a:r>
                <a:r>
                  <a:rPr lang="zh-CN" altLang="en-US" dirty="0"/>
                  <a:t>，</a:t>
                </a:r>
                <a14:m>
                  <m:oMath xmlns:m="http://schemas.openxmlformats.org/officeDocument/2006/math">
                    <m:r>
                      <a:rPr lang="zh-CN" altLang="en-US" i="1" dirty="0">
                        <a:latin typeface="Cambria Math" panose="02040503050406030204" pitchFamily="18" charset="0"/>
                      </a:rPr>
                      <m:t>𝛼</m:t>
                    </m:r>
                  </m:oMath>
                </a14:m>
                <a:r>
                  <a:rPr lang="zh-CN" altLang="en-US" dirty="0" smtClean="0"/>
                  <a:t>越大表明越关注</a:t>
                </a:r>
                <a14:m>
                  <m:oMath xmlns:m="http://schemas.openxmlformats.org/officeDocument/2006/math">
                    <m:r>
                      <a:rPr lang="en-US" altLang="zh-CN" i="1">
                        <a:latin typeface="Cambria Math" panose="02040503050406030204" pitchFamily="18" charset="0"/>
                        <a:ea typeface="Cambria Math" panose="02040503050406030204" pitchFamily="18" charset="0"/>
                      </a:rPr>
                      <m:t>𝑟𝑒𝑐𝑎𝑙𝑙</m:t>
                    </m:r>
                  </m:oMath>
                </a14:m>
                <a:r>
                  <a:rPr lang="zh-CN" altLang="en-US" dirty="0" smtClean="0"/>
                  <a:t>值</a:t>
                </a:r>
                <a:endParaRPr lang="en-US" altLang="zh-CN" dirty="0" smtClean="0"/>
              </a:p>
              <a:p>
                <a:pPr lvl="1"/>
                <a:r>
                  <a:rPr lang="zh-CN" altLang="en-US" dirty="0" smtClean="0"/>
                  <a:t>最常见的是</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𝐹</m:t>
                        </m:r>
                      </m:e>
                      <m:sub>
                        <m:r>
                          <a:rPr lang="en-US" altLang="zh-CN" b="0" i="1" smtClean="0">
                            <a:latin typeface="Cambria Math" panose="02040503050406030204" pitchFamily="18" charset="0"/>
                          </a:rPr>
                          <m:t>1</m:t>
                        </m:r>
                      </m:sub>
                    </m:sSub>
                  </m:oMath>
                </a14:m>
                <a:r>
                  <a:rPr lang="zh-CN" altLang="en-US" dirty="0" smtClean="0"/>
                  <a:t>值，此时参数</a:t>
                </a:r>
                <a14:m>
                  <m:oMath xmlns:m="http://schemas.openxmlformats.org/officeDocument/2006/math">
                    <m:r>
                      <a:rPr lang="zh-CN" altLang="en-US" i="1" dirty="0">
                        <a:latin typeface="Cambria Math" panose="02040503050406030204" pitchFamily="18" charset="0"/>
                      </a:rPr>
                      <m:t>𝛼</m:t>
                    </m:r>
                    <m:r>
                      <a:rPr lang="en-US" altLang="zh-CN" b="0" i="1" dirty="0" smtClean="0">
                        <a:latin typeface="Cambria Math" panose="02040503050406030204" pitchFamily="18" charset="0"/>
                      </a:rPr>
                      <m:t>=1</m:t>
                    </m:r>
                  </m:oMath>
                </a14:m>
                <a:endParaRPr lang="en-US" altLang="zh-CN" dirty="0" smtClean="0"/>
              </a:p>
              <a:p>
                <a:pPr lvl="1"/>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𝐹</m:t>
                        </m:r>
                      </m:e>
                      <m:sub>
                        <m:r>
                          <a:rPr lang="en-US" altLang="zh-CN" sz="2000" b="0" i="1" smtClean="0">
                            <a:latin typeface="Cambria Math" panose="02040503050406030204" pitchFamily="18" charset="0"/>
                          </a:rPr>
                          <m:t>1</m:t>
                        </m:r>
                      </m:sub>
                    </m:sSub>
                    <m:r>
                      <a:rPr lang="en-US" altLang="zh-CN" sz="2000" i="1">
                        <a:latin typeface="Cambria Math" panose="02040503050406030204" pitchFamily="18" charset="0"/>
                      </a:rPr>
                      <m:t>=</m:t>
                    </m:r>
                    <m:r>
                      <a:rPr lang="en-US" altLang="zh-CN" sz="2000" b="0" i="1" smtClean="0">
                        <a:latin typeface="Cambria Math" panose="02040503050406030204" pitchFamily="18" charset="0"/>
                      </a:rPr>
                      <m:t>2</m:t>
                    </m:r>
                    <m:r>
                      <a:rPr lang="en-US" altLang="zh-CN" sz="2000" b="0" i="1" smtClean="0">
                        <a:latin typeface="Cambria Math" panose="02040503050406030204" pitchFamily="18" charset="0"/>
                        <a:ea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ea typeface="Cambria Math" panose="02040503050406030204" pitchFamily="18" charset="0"/>
                          </a:rPr>
                          <m:t>𝑝𝑟𝑒𝑐𝑖𝑠𝑖𝑜𝑛</m:t>
                        </m:r>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𝑟𝑒𝑐𝑎𝑙𝑙</m:t>
                        </m:r>
                      </m:num>
                      <m:den>
                        <m:r>
                          <a:rPr lang="en-US" altLang="zh-CN" sz="2000" i="1">
                            <a:latin typeface="Cambria Math" panose="02040503050406030204" pitchFamily="18" charset="0"/>
                            <a:ea typeface="Cambria Math" panose="02040503050406030204" pitchFamily="18" charset="0"/>
                          </a:rPr>
                          <m:t>𝑝𝑟𝑒𝑐𝑖𝑠𝑖𝑜𝑛</m:t>
                        </m:r>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𝑟𝑒𝑐𝑎𝑙𝑙</m:t>
                        </m:r>
                      </m:den>
                    </m:f>
                  </m:oMath>
                </a14:m>
                <a:endParaRPr lang="en-US" altLang="zh-CN" sz="2000" dirty="0" smtClean="0"/>
              </a:p>
              <a:p>
                <a:pPr lvl="1"/>
                <a:r>
                  <a:rPr lang="zh-CN" altLang="en-US" dirty="0" smtClean="0"/>
                  <a:t>综合考虑了</a:t>
                </a:r>
                <a:r>
                  <a:rPr lang="en-US" altLang="zh-CN" dirty="0"/>
                  <a:t>precision</a:t>
                </a:r>
                <a:r>
                  <a:rPr lang="zh-CN" altLang="en-US" dirty="0"/>
                  <a:t>和</a:t>
                </a:r>
                <a:r>
                  <a:rPr lang="en-US" altLang="zh-CN" dirty="0"/>
                  <a:t>recall</a:t>
                </a:r>
                <a:r>
                  <a:rPr lang="zh-CN" altLang="en-US" dirty="0"/>
                  <a:t>两方面的</a:t>
                </a:r>
                <a:r>
                  <a:rPr lang="zh-CN" altLang="en-US" dirty="0" smtClean="0"/>
                  <a:t>因素</a:t>
                </a:r>
                <a:endParaRPr lang="en-US" altLang="zh-CN" dirty="0" smtClean="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14020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评价指标</a:t>
            </a:r>
            <a:r>
              <a:rPr lang="en-US" altLang="zh-CN" dirty="0" err="1" smtClean="0"/>
              <a:t>mAP</a:t>
            </a:r>
            <a:endParaRPr lang="zh-CN" altLang="en-US" dirty="0"/>
          </a:p>
        </p:txBody>
      </p:sp>
      <p:sp>
        <p:nvSpPr>
          <p:cNvPr id="3" name="内容占位符 2"/>
          <p:cNvSpPr>
            <a:spLocks noGrp="1"/>
          </p:cNvSpPr>
          <p:nvPr>
            <p:ph sz="quarter" idx="13"/>
          </p:nvPr>
        </p:nvSpPr>
        <p:spPr/>
        <p:txBody>
          <a:bodyPr/>
          <a:lstStyle/>
          <a:p>
            <a:r>
              <a:rPr lang="en-US" altLang="zh-CN" dirty="0" smtClean="0"/>
              <a:t>P-R</a:t>
            </a:r>
            <a:r>
              <a:rPr lang="zh-CN" altLang="en-US" dirty="0" smtClean="0"/>
              <a:t>曲线和</a:t>
            </a:r>
            <a:r>
              <a:rPr lang="en-US" altLang="zh-CN" dirty="0" smtClean="0"/>
              <a:t>AP</a:t>
            </a:r>
          </a:p>
          <a:p>
            <a:pPr lvl="1"/>
            <a:r>
              <a:rPr lang="zh-CN" altLang="en-US" dirty="0" smtClean="0"/>
              <a:t>描述精确率和召回率变化的曲线</a:t>
            </a:r>
            <a:endParaRPr lang="en-US" altLang="zh-CN" dirty="0" smtClean="0"/>
          </a:p>
          <a:p>
            <a:pPr lvl="1"/>
            <a:r>
              <a:rPr lang="zh-CN" altLang="en-US" dirty="0" smtClean="0"/>
              <a:t>综合考虑了</a:t>
            </a:r>
            <a:r>
              <a:rPr lang="en-US" altLang="zh-CN" dirty="0" smtClean="0"/>
              <a:t>precision</a:t>
            </a:r>
            <a:r>
              <a:rPr lang="zh-CN" altLang="en-US" dirty="0"/>
              <a:t>和</a:t>
            </a:r>
            <a:r>
              <a:rPr lang="en-US" altLang="zh-CN" dirty="0"/>
              <a:t>recall</a:t>
            </a:r>
            <a:r>
              <a:rPr lang="zh-CN" altLang="en-US" dirty="0"/>
              <a:t>两方面的因素</a:t>
            </a:r>
            <a:endParaRPr lang="en-US" altLang="zh-CN" dirty="0"/>
          </a:p>
          <a:p>
            <a:pPr lvl="1"/>
            <a:r>
              <a:rPr lang="zh-CN" altLang="en-US" dirty="0" smtClean="0"/>
              <a:t>曲线与坐标轴围成的面积大小称为</a:t>
            </a:r>
            <a:r>
              <a:rPr lang="en-US" altLang="zh-CN" dirty="0" smtClean="0"/>
              <a:t>AP</a:t>
            </a:r>
          </a:p>
          <a:p>
            <a:pPr lvl="1"/>
            <a:r>
              <a:rPr lang="en-US" altLang="zh-CN" dirty="0" smtClean="0"/>
              <a:t>AP</a:t>
            </a:r>
            <a:r>
              <a:rPr lang="zh-CN" altLang="en-US" dirty="0" smtClean="0"/>
              <a:t>反映模型的性能</a:t>
            </a:r>
            <a:endParaRPr lang="en-US" altLang="zh-CN" dirty="0" smtClean="0"/>
          </a:p>
          <a:p>
            <a:pPr lvl="1"/>
            <a:r>
              <a:rPr lang="zh-CN" altLang="en-US" dirty="0" smtClean="0"/>
              <a:t>平衡点</a:t>
            </a:r>
            <a:r>
              <a:rPr lang="zh-CN" altLang="en-US" dirty="0"/>
              <a:t>（</a:t>
            </a:r>
            <a:r>
              <a:rPr lang="en-US" altLang="zh-CN" dirty="0"/>
              <a:t>Break-Event Point</a:t>
            </a:r>
            <a:r>
              <a:rPr lang="zh-CN" altLang="en-US" dirty="0" smtClean="0"/>
              <a:t>）反映模型的性能</a:t>
            </a:r>
            <a:endParaRPr lang="en-US" altLang="zh-CN" dirty="0"/>
          </a:p>
          <a:p>
            <a:pPr lvl="1"/>
            <a:endParaRPr lang="en-US" altLang="zh-CN" dirty="0" smtClean="0"/>
          </a:p>
          <a:p>
            <a:pPr lvl="1"/>
            <a:endParaRPr lang="en-US" altLang="zh-CN" dirty="0"/>
          </a:p>
          <a:p>
            <a:pPr lvl="1"/>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05638" y="1476373"/>
            <a:ext cx="4514850" cy="4314825"/>
          </a:xfrm>
          <a:prstGeom prst="rect">
            <a:avLst/>
          </a:prstGeom>
        </p:spPr>
      </p:pic>
    </p:spTree>
    <p:extLst>
      <p:ext uri="{BB962C8B-B14F-4D97-AF65-F5344CB8AC3E}">
        <p14:creationId xmlns:p14="http://schemas.microsoft.com/office/powerpoint/2010/main" val="38439075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评价指标</a:t>
            </a:r>
            <a:r>
              <a:rPr lang="en-US" altLang="zh-CN" dirty="0" err="1" smtClean="0"/>
              <a:t>mAP</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zh-CN" altLang="en-US" dirty="0" smtClean="0"/>
                  <a:t>评价指标</a:t>
                </a:r>
                <a:r>
                  <a:rPr lang="en-US" altLang="zh-CN" dirty="0" err="1" smtClean="0"/>
                  <a:t>mAP</a:t>
                </a:r>
                <a:r>
                  <a:rPr lang="en-US" altLang="zh-CN" dirty="0" smtClean="0"/>
                  <a:t>(mean Average Precision):</a:t>
                </a:r>
              </a:p>
              <a:p>
                <a:pPr lvl="1"/>
                <a:r>
                  <a:rPr lang="en-US" altLang="zh-CN" dirty="0" err="1" smtClean="0"/>
                  <a:t>mAP</a:t>
                </a:r>
                <a:r>
                  <a:rPr lang="zh-CN" altLang="en-US" dirty="0" smtClean="0"/>
                  <a:t>（</a:t>
                </a:r>
                <a:r>
                  <a:rPr lang="en-US" altLang="zh-CN" dirty="0" smtClean="0"/>
                  <a:t>mean Average Precision</a:t>
                </a:r>
                <a:r>
                  <a:rPr lang="zh-CN" altLang="en-US" dirty="0" smtClean="0"/>
                  <a:t>），即各类别</a:t>
                </a:r>
                <a:r>
                  <a:rPr lang="en-US" altLang="zh-CN" dirty="0" smtClean="0"/>
                  <a:t>AP</a:t>
                </a:r>
                <a:r>
                  <a:rPr lang="zh-CN" altLang="en-US" dirty="0" smtClean="0"/>
                  <a:t>的平均值</a:t>
                </a:r>
                <a:endParaRPr lang="en-US" altLang="zh-CN" dirty="0" smtClean="0"/>
              </a:p>
              <a:p>
                <a:pPr lvl="1"/>
                <a:r>
                  <a:rPr lang="en-US" altLang="zh-CN" dirty="0" smtClean="0"/>
                  <a:t>AP</a:t>
                </a:r>
                <a:r>
                  <a:rPr lang="zh-CN" altLang="en-US" dirty="0" smtClean="0"/>
                  <a:t>：</a:t>
                </a:r>
                <a:r>
                  <a:rPr lang="en-US" altLang="zh-CN" dirty="0" smtClean="0"/>
                  <a:t>P-R</a:t>
                </a:r>
                <a:r>
                  <a:rPr lang="zh-CN" altLang="en-US" dirty="0" smtClean="0"/>
                  <a:t>曲线下的面积</a:t>
                </a:r>
                <a:endParaRPr lang="en-US" altLang="zh-CN" dirty="0" smtClean="0"/>
              </a:p>
              <a:p>
                <a:pPr lvl="1"/>
                <a:r>
                  <a:rPr lang="en-US" altLang="zh-CN" dirty="0" smtClean="0"/>
                  <a:t>P-R</a:t>
                </a:r>
                <a:r>
                  <a:rPr lang="zh-CN" altLang="en-US" dirty="0" smtClean="0"/>
                  <a:t>曲线：</a:t>
                </a:r>
                <a:r>
                  <a:rPr lang="en-US" altLang="zh-CN" dirty="0" smtClean="0"/>
                  <a:t>Precision-Recall</a:t>
                </a:r>
                <a:r>
                  <a:rPr lang="zh-CN" altLang="en-US" dirty="0" smtClean="0"/>
                  <a:t>曲线</a:t>
                </a:r>
                <a:endParaRPr lang="en-US" altLang="zh-CN" dirty="0" smtClean="0"/>
              </a:p>
              <a:p>
                <a:pPr lvl="1"/>
                <a:r>
                  <a:rPr lang="en-US" altLang="zh-CN" dirty="0" smtClean="0"/>
                  <a:t>Precision</a:t>
                </a:r>
                <a:r>
                  <a:rPr lang="zh-CN" altLang="en-US" dirty="0" smtClean="0"/>
                  <a:t>：</a:t>
                </a:r>
                <a14:m>
                  <m:oMath xmlns:m="http://schemas.openxmlformats.org/officeDocument/2006/math">
                    <m:r>
                      <a:rPr lang="en-US" altLang="zh-CN" i="1" dirty="0" smtClean="0">
                        <a:latin typeface="Cambria Math" panose="02040503050406030204" pitchFamily="18" charset="0"/>
                      </a:rPr>
                      <m:t>𝑇𝑃</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𝑇𝑃</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𝐹𝑃</m:t>
                    </m:r>
                    <m:r>
                      <a:rPr lang="en-US" altLang="zh-CN" i="1" dirty="0" smtClean="0">
                        <a:latin typeface="Cambria Math" panose="02040503050406030204" pitchFamily="18" charset="0"/>
                      </a:rPr>
                      <m:t>)</m:t>
                    </m:r>
                  </m:oMath>
                </a14:m>
                <a:endParaRPr lang="en-US" altLang="zh-CN" dirty="0" smtClean="0"/>
              </a:p>
              <a:p>
                <a:pPr lvl="1"/>
                <a:r>
                  <a:rPr lang="en-US" altLang="zh-CN" dirty="0" smtClean="0"/>
                  <a:t>Recall</a:t>
                </a:r>
                <a:r>
                  <a:rPr lang="zh-CN" altLang="en-US" dirty="0" smtClean="0"/>
                  <a:t>：</a:t>
                </a:r>
                <a14:m>
                  <m:oMath xmlns:m="http://schemas.openxmlformats.org/officeDocument/2006/math">
                    <m:r>
                      <a:rPr lang="en-US" altLang="zh-CN" i="1" dirty="0" smtClean="0">
                        <a:latin typeface="Cambria Math" panose="02040503050406030204" pitchFamily="18" charset="0"/>
                      </a:rPr>
                      <m:t>𝑇𝑃</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𝑇𝑃</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𝐹𝑁</m:t>
                    </m:r>
                    <m:r>
                      <a:rPr lang="en-US" altLang="zh-CN" i="1" dirty="0" smtClean="0">
                        <a:latin typeface="Cambria Math" panose="02040503050406030204" pitchFamily="18" charset="0"/>
                      </a:rPr>
                      <m:t>)</m:t>
                    </m:r>
                  </m:oMath>
                </a14:m>
                <a:endParaRPr lang="en-US" altLang="zh-CN" dirty="0" smtClean="0"/>
              </a:p>
              <a:p>
                <a:pPr lvl="1"/>
                <a:r>
                  <a:rPr lang="en-US" altLang="zh-CN" dirty="0" smtClean="0"/>
                  <a:t>TP</a:t>
                </a:r>
                <a:r>
                  <a:rPr lang="zh-CN" altLang="en-US" dirty="0" smtClean="0"/>
                  <a:t>：</a:t>
                </a:r>
                <a14:m>
                  <m:oMath xmlns:m="http://schemas.openxmlformats.org/officeDocument/2006/math">
                    <m:r>
                      <a:rPr lang="en-US" altLang="zh-CN" i="1" dirty="0" smtClean="0">
                        <a:latin typeface="Cambria Math" panose="02040503050406030204" pitchFamily="18" charset="0"/>
                      </a:rPr>
                      <m:t>𝐼𝑜𝑈</m:t>
                    </m:r>
                    <m:r>
                      <a:rPr lang="en-US" altLang="zh-CN" i="1" dirty="0" smtClean="0">
                        <a:latin typeface="Cambria Math" panose="02040503050406030204" pitchFamily="18" charset="0"/>
                        <a:ea typeface="Cambria Math" panose="02040503050406030204" pitchFamily="18" charset="0"/>
                      </a:rPr>
                      <m:t>&gt;</m:t>
                    </m:r>
                    <m:r>
                      <a:rPr lang="en-US" altLang="zh-CN" b="0" i="1" dirty="0" smtClean="0">
                        <a:latin typeface="Cambria Math" panose="02040503050406030204" pitchFamily="18" charset="0"/>
                        <a:ea typeface="Cambria Math" panose="02040503050406030204" pitchFamily="18" charset="0"/>
                      </a:rPr>
                      <m:t>0.5</m:t>
                    </m:r>
                  </m:oMath>
                </a14:m>
                <a:r>
                  <a:rPr lang="zh-CN" altLang="en-US" dirty="0" smtClean="0"/>
                  <a:t>的检测框数量（同一真值框只计算一次）</a:t>
                </a:r>
                <a:endParaRPr lang="en-US" altLang="zh-CN" dirty="0" smtClean="0"/>
              </a:p>
              <a:p>
                <a:pPr lvl="1"/>
                <a:r>
                  <a:rPr lang="en-US" altLang="zh-CN" dirty="0" smtClean="0"/>
                  <a:t>FP</a:t>
                </a:r>
                <a:r>
                  <a:rPr lang="zh-CN" altLang="en-US" dirty="0" smtClean="0"/>
                  <a:t>：</a:t>
                </a:r>
                <a14:m>
                  <m:oMath xmlns:m="http://schemas.openxmlformats.org/officeDocument/2006/math">
                    <m:r>
                      <a:rPr lang="en-US" altLang="zh-CN" i="1" dirty="0">
                        <a:latin typeface="Cambria Math" panose="02040503050406030204" pitchFamily="18" charset="0"/>
                      </a:rPr>
                      <m:t>𝐼𝑜𝑈</m:t>
                    </m:r>
                    <m:r>
                      <a:rPr lang="en-US" altLang="zh-CN" i="1" dirty="0" smtClean="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0.5</m:t>
                    </m:r>
                  </m:oMath>
                </a14:m>
                <a:r>
                  <a:rPr lang="zh-CN" altLang="en-US" dirty="0" smtClean="0"/>
                  <a:t>的检测框数量，或者是检测到同一个真值框的多余检测框的数量</a:t>
                </a:r>
                <a:endParaRPr lang="en-US" altLang="zh-CN" dirty="0" smtClean="0"/>
              </a:p>
              <a:p>
                <a:pPr lvl="1"/>
                <a:r>
                  <a:rPr lang="en-US" altLang="zh-CN" dirty="0" smtClean="0"/>
                  <a:t>FN</a:t>
                </a:r>
                <a:r>
                  <a:rPr lang="zh-CN" altLang="en-US" dirty="0" smtClean="0"/>
                  <a:t>：没有检测到的真值框数量</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001878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评价指标</a:t>
            </a:r>
            <a:r>
              <a:rPr lang="en-US" altLang="zh-CN" dirty="0" err="1" smtClean="0"/>
              <a:t>mAP</a:t>
            </a:r>
            <a:endParaRPr lang="zh-CN" altLang="en-US" dirty="0"/>
          </a:p>
        </p:txBody>
      </p:sp>
      <p:sp>
        <p:nvSpPr>
          <p:cNvPr id="3" name="内容占位符 2"/>
          <p:cNvSpPr>
            <a:spLocks noGrp="1"/>
          </p:cNvSpPr>
          <p:nvPr>
            <p:ph sz="quarter" idx="13"/>
          </p:nvPr>
        </p:nvSpPr>
        <p:spPr/>
        <p:txBody>
          <a:bodyPr/>
          <a:lstStyle/>
          <a:p>
            <a:r>
              <a:rPr lang="en-US" altLang="zh-CN" dirty="0" err="1"/>
              <a:t>m</a:t>
            </a:r>
            <a:r>
              <a:rPr lang="en-US" altLang="zh-CN" dirty="0" err="1" smtClean="0"/>
              <a:t>AP</a:t>
            </a:r>
            <a:r>
              <a:rPr lang="zh-CN" altLang="en-US" dirty="0" smtClean="0"/>
              <a:t>计算示例：</a:t>
            </a:r>
            <a:endParaRPr lang="en-US" altLang="zh-CN" dirty="0" smtClean="0"/>
          </a:p>
          <a:p>
            <a:pPr lvl="1"/>
            <a:r>
              <a:rPr lang="zh-CN" altLang="en-US" dirty="0" smtClean="0"/>
              <a:t>模型输出结果格式为</a:t>
            </a:r>
            <a:r>
              <a:rPr lang="en-US" altLang="zh-CN" dirty="0">
                <a:sym typeface="Wingdings" panose="05000000000000000000" pitchFamily="2" charset="2"/>
              </a:rPr>
              <a:t>[cat_id,x1,y1,w,h,score</a:t>
            </a:r>
            <a:r>
              <a:rPr lang="en-US" altLang="zh-CN" dirty="0" smtClean="0">
                <a:sym typeface="Wingdings" panose="05000000000000000000" pitchFamily="2" charset="2"/>
              </a:rPr>
              <a:t>]</a:t>
            </a:r>
          </a:p>
          <a:p>
            <a:pPr lvl="1"/>
            <a:r>
              <a:rPr lang="zh-CN" altLang="en-US" dirty="0" smtClean="0"/>
              <a:t>真值格式为</a:t>
            </a:r>
            <a:r>
              <a:rPr lang="en-US" altLang="zh-CN" dirty="0">
                <a:sym typeface="Wingdings" panose="05000000000000000000" pitchFamily="2" charset="2"/>
              </a:rPr>
              <a:t>[</a:t>
            </a:r>
            <a:r>
              <a:rPr lang="en-US" altLang="zh-CN" dirty="0" smtClean="0">
                <a:sym typeface="Wingdings" panose="05000000000000000000" pitchFamily="2" charset="2"/>
              </a:rPr>
              <a:t>cat_id,x1,y1,w,h]</a:t>
            </a:r>
          </a:p>
          <a:p>
            <a:pPr lvl="1"/>
            <a:r>
              <a:rPr lang="zh-CN" altLang="en-US" dirty="0" smtClean="0"/>
              <a:t>针对某一图像识别结果得分进行降序排序</a:t>
            </a:r>
            <a:endParaRPr lang="en-US" altLang="zh-CN" dirty="0" smtClean="0"/>
          </a:p>
          <a:p>
            <a:pPr lvl="1"/>
            <a:r>
              <a:rPr lang="zh-CN" altLang="en-US" dirty="0" smtClean="0"/>
              <a:t>遍历预测框，分别与真值框比较类别和</a:t>
            </a:r>
            <a:r>
              <a:rPr lang="en-US" altLang="zh-CN" dirty="0" err="1" smtClean="0"/>
              <a:t>IoU</a:t>
            </a:r>
            <a:endParaRPr lang="en-US" altLang="zh-CN" dirty="0" smtClean="0"/>
          </a:p>
          <a:p>
            <a:pPr lvl="1"/>
            <a:r>
              <a:rPr lang="zh-CN" altLang="en-US" dirty="0" smtClean="0"/>
              <a:t>根据记录的</a:t>
            </a:r>
            <a:r>
              <a:rPr lang="en-US" altLang="zh-CN" dirty="0" smtClean="0"/>
              <a:t>precision</a:t>
            </a:r>
            <a:r>
              <a:rPr lang="zh-CN" altLang="en-US" dirty="0" smtClean="0"/>
              <a:t>和</a:t>
            </a:r>
            <a:r>
              <a:rPr lang="en-US" altLang="zh-CN" dirty="0" smtClean="0"/>
              <a:t>recall</a:t>
            </a:r>
            <a:r>
              <a:rPr lang="zh-CN" altLang="en-US" dirty="0" smtClean="0"/>
              <a:t>推演计算</a:t>
            </a:r>
            <a:r>
              <a:rPr lang="en-US" altLang="zh-CN" dirty="0" smtClean="0"/>
              <a:t>AP</a:t>
            </a:r>
          </a:p>
          <a:p>
            <a:pPr lvl="1"/>
            <a:r>
              <a:rPr lang="zh-CN" altLang="en-US" dirty="0" smtClean="0"/>
              <a:t>所有类别</a:t>
            </a:r>
            <a:r>
              <a:rPr lang="en-US" altLang="zh-CN" dirty="0" smtClean="0"/>
              <a:t>AP</a:t>
            </a:r>
            <a:r>
              <a:rPr lang="zh-CN" altLang="en-US" dirty="0" smtClean="0"/>
              <a:t>值求均值得到</a:t>
            </a:r>
            <a:r>
              <a:rPr lang="en-US" altLang="zh-CN" dirty="0" err="1" smtClean="0"/>
              <a:t>mAP</a:t>
            </a:r>
            <a:endParaRPr lang="en-US" altLang="zh-CN" dirty="0" smtClean="0"/>
          </a:p>
          <a:p>
            <a:pPr lvl="1"/>
            <a:r>
              <a:rPr lang="en-US" altLang="zh-CN" dirty="0" smtClean="0"/>
              <a:t>PASCAL VOC 2007 </a:t>
            </a:r>
            <a:r>
              <a:rPr lang="en-US" altLang="zh-CN" dirty="0" err="1" smtClean="0"/>
              <a:t>mAP</a:t>
            </a:r>
            <a:r>
              <a:rPr lang="zh-CN" altLang="en-US" dirty="0" smtClean="0"/>
              <a:t>计算逻辑</a:t>
            </a:r>
            <a:endParaRPr lang="en-US" altLang="zh-CN" dirty="0" smtClean="0"/>
          </a:p>
          <a:p>
            <a:pPr lvl="2"/>
            <a:r>
              <a:rPr lang="zh-CN" altLang="en-US" dirty="0">
                <a:sym typeface="Wingdings" panose="05000000000000000000" pitchFamily="2" charset="2"/>
              </a:rPr>
              <a:t>召回率坐标轴上均匀选取</a:t>
            </a:r>
            <a:r>
              <a:rPr lang="en-US" altLang="zh-CN" dirty="0">
                <a:sym typeface="Wingdings" panose="05000000000000000000" pitchFamily="2" charset="2"/>
              </a:rPr>
              <a:t>11</a:t>
            </a:r>
            <a:r>
              <a:rPr lang="zh-CN" altLang="en-US" dirty="0">
                <a:sym typeface="Wingdings" panose="05000000000000000000" pitchFamily="2" charset="2"/>
              </a:rPr>
              <a:t>个</a:t>
            </a:r>
            <a:r>
              <a:rPr lang="zh-CN" altLang="en-US" dirty="0" smtClean="0">
                <a:sym typeface="Wingdings" panose="05000000000000000000" pitchFamily="2" charset="2"/>
              </a:rPr>
              <a:t>点</a:t>
            </a:r>
            <a:endParaRPr lang="en-US" altLang="zh-CN" dirty="0" smtClean="0">
              <a:sym typeface="Wingdings" panose="05000000000000000000" pitchFamily="2" charset="2"/>
            </a:endParaRPr>
          </a:p>
          <a:p>
            <a:pPr lvl="2"/>
            <a:r>
              <a:rPr lang="zh-CN" altLang="en-US" dirty="0">
                <a:sym typeface="Wingdings" panose="05000000000000000000" pitchFamily="2" charset="2"/>
              </a:rPr>
              <a:t>计算在召回率大于</a:t>
            </a:r>
            <a:r>
              <a:rPr lang="en-US" altLang="zh-CN" dirty="0">
                <a:sym typeface="Wingdings" panose="05000000000000000000" pitchFamily="2" charset="2"/>
              </a:rPr>
              <a:t>0</a:t>
            </a:r>
            <a:r>
              <a:rPr lang="zh-CN" altLang="en-US" dirty="0">
                <a:sym typeface="Wingdings" panose="05000000000000000000" pitchFamily="2" charset="2"/>
              </a:rPr>
              <a:t>的所有点中，精确度的最大</a:t>
            </a:r>
            <a:r>
              <a:rPr lang="zh-CN" altLang="en-US" dirty="0" smtClean="0">
                <a:sym typeface="Wingdings" panose="05000000000000000000" pitchFamily="2" charset="2"/>
              </a:rPr>
              <a:t>值</a:t>
            </a:r>
            <a:endParaRPr lang="en-US" altLang="zh-CN" dirty="0" smtClean="0">
              <a:sym typeface="Wingdings" panose="05000000000000000000" pitchFamily="2" charset="2"/>
            </a:endParaRPr>
          </a:p>
          <a:p>
            <a:pPr lvl="2"/>
            <a:r>
              <a:rPr lang="zh-CN" altLang="en-US" dirty="0">
                <a:sym typeface="Wingdings" panose="05000000000000000000" pitchFamily="2" charset="2"/>
              </a:rPr>
              <a:t>计算在召回率大于</a:t>
            </a:r>
            <a:r>
              <a:rPr lang="en-US" altLang="zh-CN" dirty="0">
                <a:sym typeface="Wingdings" panose="05000000000000000000" pitchFamily="2" charset="2"/>
              </a:rPr>
              <a:t>0.1</a:t>
            </a:r>
            <a:r>
              <a:rPr lang="zh-CN" altLang="en-US" dirty="0">
                <a:sym typeface="Wingdings" panose="05000000000000000000" pitchFamily="2" charset="2"/>
              </a:rPr>
              <a:t>的所有点中，精确度的最大</a:t>
            </a:r>
            <a:r>
              <a:rPr lang="zh-CN" altLang="en-US" dirty="0" smtClean="0">
                <a:sym typeface="Wingdings" panose="05000000000000000000" pitchFamily="2" charset="2"/>
              </a:rPr>
              <a:t>值</a:t>
            </a:r>
            <a:endParaRPr lang="en-US" altLang="zh-CN" dirty="0" smtClean="0">
              <a:sym typeface="Wingdings" panose="05000000000000000000" pitchFamily="2" charset="2"/>
            </a:endParaRPr>
          </a:p>
          <a:p>
            <a:pPr lvl="2"/>
            <a:r>
              <a:rPr lang="en-US" altLang="zh-CN" dirty="0" smtClean="0">
                <a:sym typeface="Wingdings" panose="05000000000000000000" pitchFamily="2" charset="2"/>
              </a:rPr>
              <a:t>……</a:t>
            </a:r>
            <a:r>
              <a:rPr lang="zh-CN" altLang="en-US" dirty="0" smtClean="0">
                <a:sym typeface="Wingdings" panose="05000000000000000000" pitchFamily="2" charset="2"/>
              </a:rPr>
              <a:t>以此类推</a:t>
            </a:r>
            <a:endParaRPr lang="en-US" altLang="zh-CN" dirty="0" smtClean="0">
              <a:sym typeface="Wingdings" panose="05000000000000000000" pitchFamily="2" charset="2"/>
            </a:endParaRPr>
          </a:p>
          <a:p>
            <a:pPr lvl="2"/>
            <a:r>
              <a:rPr lang="en-US" altLang="zh-CN" dirty="0">
                <a:sym typeface="Wingdings" panose="05000000000000000000" pitchFamily="2" charset="2"/>
              </a:rPr>
              <a:t>11</a:t>
            </a:r>
            <a:r>
              <a:rPr lang="zh-CN" altLang="en-US" dirty="0">
                <a:sym typeface="Wingdings" panose="05000000000000000000" pitchFamily="2" charset="2"/>
              </a:rPr>
              <a:t>个精确度求均值后便可以得到</a:t>
            </a:r>
            <a:r>
              <a:rPr lang="en-US" altLang="zh-CN" dirty="0">
                <a:sym typeface="Wingdings" panose="05000000000000000000" pitchFamily="2" charset="2"/>
              </a:rPr>
              <a:t>AP</a:t>
            </a:r>
            <a:r>
              <a:rPr lang="zh-CN" altLang="en-US" dirty="0" smtClean="0">
                <a:sym typeface="Wingdings" panose="05000000000000000000" pitchFamily="2" charset="2"/>
              </a:rPr>
              <a:t>值</a:t>
            </a:r>
            <a:endParaRPr lang="en-US" altLang="zh-CN" dirty="0" smtClean="0">
              <a:sym typeface="Wingdings" panose="05000000000000000000" pitchFamily="2" charset="2"/>
            </a:endParaRPr>
          </a:p>
          <a:p>
            <a:pPr lvl="2"/>
            <a:r>
              <a:rPr lang="en-US" altLang="zh-CN" dirty="0" err="1" smtClean="0"/>
              <a:t>mAP</a:t>
            </a:r>
            <a:r>
              <a:rPr lang="zh-CN" altLang="en-US" dirty="0" smtClean="0"/>
              <a:t>：对每个目标类别得到的</a:t>
            </a:r>
            <a:r>
              <a:rPr lang="en-US" altLang="zh-CN" dirty="0" smtClean="0"/>
              <a:t>AP</a:t>
            </a:r>
            <a:r>
              <a:rPr lang="zh-CN" altLang="en-US" dirty="0" smtClean="0"/>
              <a:t>值再求均值</a:t>
            </a:r>
            <a:endParaRPr lang="en-US" altLang="zh-CN" dirty="0" smtClean="0"/>
          </a:p>
        </p:txBody>
      </p:sp>
    </p:spTree>
    <p:extLst>
      <p:ext uri="{BB962C8B-B14F-4D97-AF65-F5344CB8AC3E}">
        <p14:creationId xmlns:p14="http://schemas.microsoft.com/office/powerpoint/2010/main" val="12966216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评价指标</a:t>
            </a:r>
            <a:r>
              <a:rPr lang="en-US" altLang="zh-CN" dirty="0" err="1" smtClean="0"/>
              <a:t>mAP</a:t>
            </a:r>
            <a:endParaRPr lang="zh-CN" altLang="en-US" dirty="0"/>
          </a:p>
        </p:txBody>
      </p:sp>
      <p:sp>
        <p:nvSpPr>
          <p:cNvPr id="3" name="内容占位符 2"/>
          <p:cNvSpPr>
            <a:spLocks noGrp="1"/>
          </p:cNvSpPr>
          <p:nvPr>
            <p:ph sz="quarter" idx="13"/>
          </p:nvPr>
        </p:nvSpPr>
        <p:spPr/>
        <p:txBody>
          <a:bodyPr/>
          <a:lstStyle/>
          <a:p>
            <a:r>
              <a:rPr lang="en-US" altLang="zh-CN" dirty="0" smtClean="0"/>
              <a:t>AP</a:t>
            </a:r>
            <a:r>
              <a:rPr lang="zh-CN" altLang="en-US" dirty="0" smtClean="0"/>
              <a:t>计算：</a:t>
            </a:r>
            <a:endParaRPr lang="en-US" altLang="zh-CN" dirty="0" smtClean="0"/>
          </a:p>
          <a:p>
            <a:pPr lvl="1"/>
            <a:r>
              <a:rPr lang="zh-CN" altLang="en-US" dirty="0" smtClean="0"/>
              <a:t>针对某一类别目标</a:t>
            </a:r>
            <a:endParaRPr lang="en-US" altLang="zh-CN" dirty="0" smtClean="0"/>
          </a:p>
          <a:p>
            <a:pPr lvl="1"/>
            <a:r>
              <a:rPr lang="en-US" altLang="zh-CN" dirty="0" smtClean="0"/>
              <a:t>7</a:t>
            </a:r>
            <a:r>
              <a:rPr lang="zh-CN" altLang="en-US" dirty="0" smtClean="0"/>
              <a:t>张图片（</a:t>
            </a:r>
            <a:r>
              <a:rPr lang="en-US" altLang="zh-CN" dirty="0" smtClean="0"/>
              <a:t>image1-7</a:t>
            </a:r>
            <a:r>
              <a:rPr lang="zh-CN" altLang="en-US" dirty="0" smtClean="0"/>
              <a:t>）</a:t>
            </a:r>
            <a:endParaRPr lang="en-US" altLang="zh-CN" dirty="0" smtClean="0"/>
          </a:p>
          <a:p>
            <a:pPr lvl="1"/>
            <a:r>
              <a:rPr lang="en-US" altLang="zh-CN" dirty="0" smtClean="0"/>
              <a:t>15</a:t>
            </a:r>
            <a:r>
              <a:rPr lang="zh-CN" altLang="en-US" dirty="0" smtClean="0"/>
              <a:t>个真实目标（绿）</a:t>
            </a:r>
            <a:endParaRPr lang="en-US" altLang="zh-CN" dirty="0" smtClean="0"/>
          </a:p>
          <a:p>
            <a:pPr lvl="1"/>
            <a:r>
              <a:rPr lang="en-US" altLang="zh-CN" dirty="0" smtClean="0"/>
              <a:t>24</a:t>
            </a:r>
            <a:r>
              <a:rPr lang="zh-CN" altLang="en-US" dirty="0" smtClean="0"/>
              <a:t>个预测边框（红，</a:t>
            </a:r>
            <a:r>
              <a:rPr lang="en-US" altLang="zh-CN" dirty="0" smtClean="0"/>
              <a:t>A-Y</a:t>
            </a:r>
            <a:r>
              <a:rPr lang="zh-CN" altLang="en-US" dirty="0" smtClean="0"/>
              <a:t>）</a:t>
            </a:r>
            <a:endParaRPr lang="en-US" altLang="zh-CN" dirty="0" smtClean="0"/>
          </a:p>
          <a:p>
            <a:pPr lvl="1"/>
            <a:r>
              <a:rPr lang="zh-CN" altLang="en-US" dirty="0" smtClean="0"/>
              <a:t>每个预测边框有置信度值</a:t>
            </a:r>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4763" y="1889124"/>
            <a:ext cx="7705725" cy="4248150"/>
          </a:xfrm>
          <a:prstGeom prst="rect">
            <a:avLst/>
          </a:prstGeom>
        </p:spPr>
      </p:pic>
    </p:spTree>
    <p:extLst>
      <p:ext uri="{BB962C8B-B14F-4D97-AF65-F5344CB8AC3E}">
        <p14:creationId xmlns:p14="http://schemas.microsoft.com/office/powerpoint/2010/main" val="35598222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评价指标</a:t>
            </a:r>
            <a:r>
              <a:rPr lang="en-US" altLang="zh-CN" dirty="0" err="1" smtClean="0"/>
              <a:t>mAP</a:t>
            </a:r>
            <a:endParaRPr lang="zh-CN" altLang="en-US" dirty="0"/>
          </a:p>
        </p:txBody>
      </p:sp>
      <p:sp>
        <p:nvSpPr>
          <p:cNvPr id="3" name="内容占位符 2"/>
          <p:cNvSpPr>
            <a:spLocks noGrp="1"/>
          </p:cNvSpPr>
          <p:nvPr>
            <p:ph sz="quarter" idx="13"/>
          </p:nvPr>
        </p:nvSpPr>
        <p:spPr/>
        <p:txBody>
          <a:bodyPr/>
          <a:lstStyle/>
          <a:p>
            <a:r>
              <a:rPr lang="zh-CN" altLang="en-US" dirty="0" smtClean="0"/>
              <a:t>所有预测框结果表格：</a:t>
            </a:r>
            <a:endParaRPr lang="en-US" altLang="zh-CN" dirty="0" smtClean="0"/>
          </a:p>
          <a:p>
            <a:pPr lvl="1"/>
            <a:r>
              <a:rPr lang="en-US" altLang="zh-CN" dirty="0" smtClean="0"/>
              <a:t>Images</a:t>
            </a:r>
            <a:r>
              <a:rPr lang="zh-CN" altLang="en-US" dirty="0" smtClean="0"/>
              <a:t>：图片编号</a:t>
            </a:r>
            <a:endParaRPr lang="en-US" altLang="zh-CN" dirty="0" smtClean="0"/>
          </a:p>
          <a:p>
            <a:pPr lvl="1"/>
            <a:r>
              <a:rPr lang="en-US" altLang="zh-CN" dirty="0" smtClean="0"/>
              <a:t>Detections</a:t>
            </a:r>
            <a:r>
              <a:rPr lang="zh-CN" altLang="en-US" dirty="0" smtClean="0"/>
              <a:t>：预测边框的编号</a:t>
            </a:r>
            <a:endParaRPr lang="en-US" altLang="zh-CN" dirty="0" smtClean="0"/>
          </a:p>
          <a:p>
            <a:pPr lvl="1"/>
            <a:r>
              <a:rPr lang="en-US" altLang="zh-CN" dirty="0" smtClean="0"/>
              <a:t>Confidences</a:t>
            </a:r>
            <a:r>
              <a:rPr lang="zh-CN" altLang="en-US" dirty="0" smtClean="0"/>
              <a:t>：预测边框置信度</a:t>
            </a:r>
            <a:endParaRPr lang="en-US" altLang="zh-CN" dirty="0" smtClean="0"/>
          </a:p>
          <a:p>
            <a:pPr lvl="1"/>
            <a:r>
              <a:rPr lang="en-US" altLang="zh-CN" dirty="0" smtClean="0"/>
              <a:t>TP or FP</a:t>
            </a:r>
            <a:r>
              <a:rPr lang="zh-CN" altLang="en-US" dirty="0" smtClean="0"/>
              <a:t>：是否匹配真值框</a:t>
            </a:r>
            <a:endParaRPr lang="en-US" altLang="zh-CN" dirty="0" smtClean="0"/>
          </a:p>
          <a:p>
            <a:pPr lvl="2"/>
            <a:r>
              <a:rPr lang="zh-CN" altLang="en-US" dirty="0"/>
              <a:t>预测</a:t>
            </a:r>
            <a:r>
              <a:rPr lang="zh-CN" altLang="en-US" dirty="0" smtClean="0"/>
              <a:t>框与真值框</a:t>
            </a:r>
            <a:r>
              <a:rPr lang="en-US" altLang="zh-CN" dirty="0" err="1" smtClean="0"/>
              <a:t>IoU</a:t>
            </a:r>
            <a:r>
              <a:rPr lang="zh-CN" altLang="en-US" dirty="0" smtClean="0"/>
              <a:t>大于阈值（该例中为</a:t>
            </a:r>
            <a:r>
              <a:rPr lang="en-US" altLang="zh-CN" dirty="0" smtClean="0"/>
              <a:t>0.3</a:t>
            </a:r>
            <a:r>
              <a:rPr lang="zh-CN" altLang="en-US" dirty="0" smtClean="0"/>
              <a:t>）</a:t>
            </a:r>
            <a:endParaRPr lang="en-US" altLang="zh-CN" dirty="0" smtClean="0"/>
          </a:p>
          <a:p>
            <a:pPr lvl="2"/>
            <a:r>
              <a:rPr lang="zh-CN" altLang="en-US" dirty="0"/>
              <a:t>一</a:t>
            </a:r>
            <a:r>
              <a:rPr lang="zh-CN" altLang="en-US" dirty="0" smtClean="0"/>
              <a:t>个真值框最多只能匹配一个预测框（</a:t>
            </a:r>
            <a:r>
              <a:rPr lang="en-US" altLang="zh-CN" dirty="0" smtClean="0"/>
              <a:t>NMS</a:t>
            </a:r>
            <a:r>
              <a:rPr lang="zh-CN" altLang="en-US" dirty="0" smtClean="0"/>
              <a:t>抑制）</a:t>
            </a:r>
            <a:endParaRPr lang="en-US" altLang="zh-CN" dirty="0" smtClean="0"/>
          </a:p>
          <a:p>
            <a:pPr lvl="1"/>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84516" y="1130299"/>
            <a:ext cx="4535971" cy="5006975"/>
          </a:xfrm>
          <a:prstGeom prst="rect">
            <a:avLst/>
          </a:prstGeom>
        </p:spPr>
      </p:pic>
    </p:spTree>
    <p:extLst>
      <p:ext uri="{BB962C8B-B14F-4D97-AF65-F5344CB8AC3E}">
        <p14:creationId xmlns:p14="http://schemas.microsoft.com/office/powerpoint/2010/main" val="19678122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评价指标</a:t>
            </a:r>
            <a:r>
              <a:rPr lang="en-US" altLang="zh-CN" dirty="0" err="1" smtClean="0"/>
              <a:t>mAP</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zh-CN" altLang="en-US" dirty="0" smtClean="0"/>
                  <a:t>遍历</a:t>
                </a:r>
                <a:r>
                  <a:rPr lang="zh-CN" altLang="en-US" dirty="0" smtClean="0">
                    <a:solidFill>
                      <a:srgbClr val="FF0000"/>
                    </a:solidFill>
                  </a:rPr>
                  <a:t>预测框</a:t>
                </a:r>
                <a:r>
                  <a:rPr lang="zh-CN" altLang="en-US" dirty="0" smtClean="0"/>
                  <a:t>，根据</a:t>
                </a:r>
                <a:r>
                  <a:rPr lang="zh-CN" altLang="en-US" dirty="0"/>
                  <a:t>得分（置信度）降序</a:t>
                </a:r>
                <a:r>
                  <a:rPr lang="zh-CN" altLang="en-US" dirty="0" smtClean="0"/>
                  <a:t>排序：</a:t>
                </a:r>
                <a:endParaRPr lang="en-US" altLang="zh-CN" dirty="0" smtClean="0"/>
              </a:p>
              <a:p>
                <a:pPr lvl="1"/>
                <a:r>
                  <a:rPr lang="en-US" altLang="zh-CN" dirty="0" smtClean="0"/>
                  <a:t>ACC TP</a:t>
                </a:r>
                <a:r>
                  <a:rPr lang="zh-CN" altLang="en-US" dirty="0" smtClean="0"/>
                  <a:t>：</a:t>
                </a:r>
                <a:r>
                  <a:rPr lang="en-US" altLang="zh-CN" dirty="0" smtClean="0"/>
                  <a:t>TP</a:t>
                </a:r>
                <a:r>
                  <a:rPr lang="zh-CN" altLang="en-US" dirty="0" smtClean="0"/>
                  <a:t>累加值</a:t>
                </a:r>
                <a:endParaRPr lang="en-US" altLang="zh-CN" dirty="0" smtClean="0"/>
              </a:p>
              <a:p>
                <a:pPr lvl="1"/>
                <a:r>
                  <a:rPr lang="en-US" altLang="zh-CN" dirty="0" smtClean="0"/>
                  <a:t>ACC FP</a:t>
                </a:r>
                <a:r>
                  <a:rPr lang="zh-CN" altLang="en-US" dirty="0" smtClean="0"/>
                  <a:t>：</a:t>
                </a:r>
                <a:r>
                  <a:rPr lang="en-US" altLang="zh-CN" dirty="0" smtClean="0"/>
                  <a:t>FP</a:t>
                </a:r>
                <a:r>
                  <a:rPr lang="zh-CN" altLang="en-US" dirty="0" smtClean="0"/>
                  <a:t>累加值</a:t>
                </a:r>
                <a:endParaRPr lang="en-US" altLang="zh-CN" dirty="0" smtClean="0"/>
              </a:p>
              <a:p>
                <a:pPr lvl="1"/>
                <a:r>
                  <a:rPr lang="zh-CN" altLang="en-US" dirty="0" smtClean="0"/>
                  <a:t>标号</a:t>
                </a:r>
                <a:r>
                  <a:rPr lang="en-US" altLang="zh-CN" dirty="0" smtClean="0"/>
                  <a:t>1</a:t>
                </a:r>
                <a:r>
                  <a:rPr lang="zh-CN" altLang="en-US" dirty="0" smtClean="0"/>
                  <a:t>：</a:t>
                </a:r>
                <a:endParaRPr lang="en-US" altLang="zh-CN" dirty="0"/>
              </a:p>
              <a:p>
                <a:pPr lvl="2"/>
                <a:r>
                  <a:rPr lang="en-US" altLang="zh-CN" dirty="0" smtClean="0"/>
                  <a:t>Precision=</a:t>
                </a:r>
                <a14:m>
                  <m:oMath xmlns:m="http://schemas.openxmlformats.org/officeDocument/2006/math">
                    <m:f>
                      <m:fPr>
                        <m:ctrlPr>
                          <a:rPr lang="en-US" altLang="zh-CN" i="1" dirty="0" smtClean="0">
                            <a:latin typeface="Cambria Math" panose="02040503050406030204" pitchFamily="18" charset="0"/>
                          </a:rPr>
                        </m:ctrlPr>
                      </m:fPr>
                      <m:num>
                        <m:r>
                          <a:rPr lang="en-US" altLang="zh-CN" i="1" dirty="0" smtClean="0">
                            <a:latin typeface="Cambria Math" panose="02040503050406030204" pitchFamily="18" charset="0"/>
                          </a:rPr>
                          <m:t>1</m:t>
                        </m:r>
                      </m:num>
                      <m:den>
                        <m:r>
                          <a:rPr lang="en-US" altLang="zh-CN" i="1" dirty="0" smtClean="0">
                            <a:latin typeface="Cambria Math" panose="02040503050406030204" pitchFamily="18" charset="0"/>
                          </a:rPr>
                          <m:t>1+0</m:t>
                        </m:r>
                      </m:den>
                    </m:f>
                    <m:r>
                      <a:rPr lang="en-US" altLang="zh-CN" b="0" i="1" dirty="0" smtClean="0">
                        <a:latin typeface="Cambria Math" panose="02040503050406030204" pitchFamily="18" charset="0"/>
                      </a:rPr>
                      <m:t>=</m:t>
                    </m:r>
                  </m:oMath>
                </a14:m>
                <a:r>
                  <a:rPr lang="en-US" altLang="zh-CN" dirty="0" smtClean="0"/>
                  <a:t>1</a:t>
                </a:r>
              </a:p>
              <a:p>
                <a:pPr lvl="2"/>
                <a:r>
                  <a:rPr lang="en-US" altLang="zh-CN" dirty="0" smtClean="0"/>
                  <a:t>Recall=1/15=0.0666</a:t>
                </a:r>
              </a:p>
              <a:p>
                <a:pPr lvl="1"/>
                <a:r>
                  <a:rPr lang="zh-CN" altLang="en-US" dirty="0" smtClean="0"/>
                  <a:t>标号</a:t>
                </a:r>
                <a:r>
                  <a:rPr lang="en-US" altLang="zh-CN" dirty="0" smtClean="0"/>
                  <a:t>2</a:t>
                </a:r>
                <a:r>
                  <a:rPr lang="zh-CN" altLang="en-US" dirty="0" smtClean="0"/>
                  <a:t>：</a:t>
                </a:r>
                <a:endParaRPr lang="en-US" altLang="zh-CN" dirty="0" smtClean="0"/>
              </a:p>
              <a:p>
                <a:pPr lvl="2"/>
                <a:r>
                  <a:rPr lang="en-US" altLang="zh-CN" dirty="0" smtClean="0"/>
                  <a:t>Precision=</a:t>
                </a:r>
                <a14:m>
                  <m:oMath xmlns:m="http://schemas.openxmlformats.org/officeDocument/2006/math">
                    <m:f>
                      <m:fPr>
                        <m:ctrlPr>
                          <a:rPr lang="en-US" altLang="zh-CN" i="1" dirty="0" smtClean="0">
                            <a:latin typeface="Cambria Math" panose="02040503050406030204" pitchFamily="18" charset="0"/>
                          </a:rPr>
                        </m:ctrlPr>
                      </m:fPr>
                      <m:num>
                        <m:r>
                          <a:rPr lang="en-US" altLang="zh-CN" i="1" dirty="0" smtClean="0">
                            <a:latin typeface="Cambria Math" panose="02040503050406030204" pitchFamily="18" charset="0"/>
                          </a:rPr>
                          <m:t>1</m:t>
                        </m:r>
                      </m:num>
                      <m:den>
                        <m:r>
                          <a:rPr lang="en-US" altLang="zh-CN" i="1" dirty="0" smtClean="0">
                            <a:latin typeface="Cambria Math" panose="02040503050406030204" pitchFamily="18" charset="0"/>
                          </a:rPr>
                          <m:t>1+1</m:t>
                        </m:r>
                      </m:den>
                    </m:f>
                    <m:r>
                      <a:rPr lang="en-US" altLang="zh-CN" b="0" i="1" dirty="0" smtClean="0">
                        <a:latin typeface="Cambria Math" panose="02040503050406030204" pitchFamily="18" charset="0"/>
                      </a:rPr>
                      <m:t>=</m:t>
                    </m:r>
                  </m:oMath>
                </a14:m>
                <a:r>
                  <a:rPr lang="en-US" altLang="zh-CN" dirty="0" smtClean="0"/>
                  <a:t>0.5</a:t>
                </a:r>
              </a:p>
              <a:p>
                <a:pPr lvl="2"/>
                <a:r>
                  <a:rPr lang="en-US" altLang="zh-CN" dirty="0" smtClean="0"/>
                  <a:t>Recall=1/15=0.0666</a:t>
                </a:r>
              </a:p>
              <a:p>
                <a:pPr lvl="1"/>
                <a:r>
                  <a:rPr lang="zh-CN" altLang="en-US" dirty="0" smtClean="0"/>
                  <a:t>标号</a:t>
                </a:r>
                <a:r>
                  <a:rPr lang="en-US" altLang="zh-CN" dirty="0" smtClean="0"/>
                  <a:t>3</a:t>
                </a:r>
                <a:r>
                  <a:rPr lang="zh-CN" altLang="en-US" dirty="0" smtClean="0"/>
                  <a:t>：</a:t>
                </a:r>
                <a:endParaRPr lang="en-US" altLang="zh-CN" dirty="0" smtClean="0"/>
              </a:p>
              <a:p>
                <a:pPr lvl="2"/>
                <a:r>
                  <a:rPr lang="en-US" altLang="zh-CN" dirty="0" smtClean="0"/>
                  <a:t>Precision=</a:t>
                </a:r>
                <a14:m>
                  <m:oMath xmlns:m="http://schemas.openxmlformats.org/officeDocument/2006/math">
                    <m:f>
                      <m:fPr>
                        <m:ctrlPr>
                          <a:rPr lang="en-US" altLang="zh-CN" i="1" dirty="0" smtClean="0">
                            <a:latin typeface="Cambria Math" panose="02040503050406030204" pitchFamily="18" charset="0"/>
                          </a:rPr>
                        </m:ctrlPr>
                      </m:fPr>
                      <m:num>
                        <m:r>
                          <a:rPr lang="en-US" altLang="zh-CN" i="1" dirty="0" smtClean="0">
                            <a:latin typeface="Cambria Math" panose="02040503050406030204" pitchFamily="18" charset="0"/>
                          </a:rPr>
                          <m:t>2</m:t>
                        </m:r>
                      </m:num>
                      <m:den>
                        <m:r>
                          <a:rPr lang="en-US" altLang="zh-CN" i="1" dirty="0" smtClean="0">
                            <a:latin typeface="Cambria Math" panose="02040503050406030204" pitchFamily="18" charset="0"/>
                          </a:rPr>
                          <m:t>2+1</m:t>
                        </m:r>
                      </m:den>
                    </m:f>
                    <m:r>
                      <a:rPr lang="en-US" altLang="zh-CN" b="0" i="1" dirty="0" smtClean="0">
                        <a:latin typeface="Cambria Math" panose="02040503050406030204" pitchFamily="18" charset="0"/>
                      </a:rPr>
                      <m:t>=</m:t>
                    </m:r>
                  </m:oMath>
                </a14:m>
                <a:r>
                  <a:rPr lang="en-US" altLang="zh-CN" dirty="0" smtClean="0"/>
                  <a:t>0.</a:t>
                </a:r>
                <a14:m>
                  <m:oMath xmlns:m="http://schemas.openxmlformats.org/officeDocument/2006/math">
                    <m:acc>
                      <m:accPr>
                        <m:chr m:val="̇"/>
                        <m:ctrlPr>
                          <a:rPr lang="en-US" altLang="zh-CN" sz="1600" i="1" smtClean="0">
                            <a:latin typeface="Cambria Math" panose="02040503050406030204" pitchFamily="18" charset="0"/>
                          </a:rPr>
                        </m:ctrlPr>
                      </m:accPr>
                      <m:e>
                        <m:r>
                          <a:rPr lang="en-US" altLang="zh-CN" sz="1600" b="0" i="1" smtClean="0">
                            <a:latin typeface="Cambria Math" panose="02040503050406030204" pitchFamily="18" charset="0"/>
                          </a:rPr>
                          <m:t>6</m:t>
                        </m:r>
                      </m:e>
                    </m:acc>
                  </m:oMath>
                </a14:m>
                <a:endParaRPr lang="en-US" altLang="zh-CN" sz="1600" dirty="0" smtClean="0"/>
              </a:p>
              <a:p>
                <a:pPr lvl="2"/>
                <a:r>
                  <a:rPr lang="en-US" altLang="zh-CN" dirty="0" smtClean="0"/>
                  <a:t>Recall=2/15=0.1333</a:t>
                </a:r>
              </a:p>
              <a:p>
                <a:pPr lvl="1"/>
                <a:r>
                  <a:rPr lang="en-US" altLang="zh-CN" dirty="0" smtClean="0"/>
                  <a:t>……</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13947" y="1645919"/>
            <a:ext cx="7906542" cy="4491355"/>
          </a:xfrm>
          <a:prstGeom prst="rect">
            <a:avLst/>
          </a:prstGeom>
        </p:spPr>
      </p:pic>
    </p:spTree>
    <p:extLst>
      <p:ext uri="{BB962C8B-B14F-4D97-AF65-F5344CB8AC3E}">
        <p14:creationId xmlns:p14="http://schemas.microsoft.com/office/powerpoint/2010/main" val="36964407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评价指标</a:t>
            </a:r>
            <a:r>
              <a:rPr lang="en-US" altLang="zh-CN" dirty="0" err="1" smtClean="0"/>
              <a:t>mAP</a:t>
            </a:r>
            <a:endParaRPr lang="zh-CN" altLang="en-US" dirty="0"/>
          </a:p>
        </p:txBody>
      </p:sp>
      <p:sp>
        <p:nvSpPr>
          <p:cNvPr id="3" name="内容占位符 2"/>
          <p:cNvSpPr>
            <a:spLocks noGrp="1"/>
          </p:cNvSpPr>
          <p:nvPr>
            <p:ph sz="quarter" idx="13"/>
          </p:nvPr>
        </p:nvSpPr>
        <p:spPr/>
        <p:txBody>
          <a:bodyPr/>
          <a:lstStyle/>
          <a:p>
            <a:r>
              <a:rPr lang="zh-CN" altLang="en-US" dirty="0" smtClean="0"/>
              <a:t>绘制</a:t>
            </a:r>
            <a:r>
              <a:rPr lang="en-US" altLang="zh-CN" dirty="0" smtClean="0"/>
              <a:t>P-R</a:t>
            </a:r>
            <a:r>
              <a:rPr lang="zh-CN" altLang="en-US" dirty="0" smtClean="0"/>
              <a:t>曲线：</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51811" y="1270573"/>
            <a:ext cx="6080760" cy="4866701"/>
          </a:xfrm>
          <a:prstGeom prst="rect">
            <a:avLst/>
          </a:prstGeom>
        </p:spPr>
      </p:pic>
    </p:spTree>
    <p:extLst>
      <p:ext uri="{BB962C8B-B14F-4D97-AF65-F5344CB8AC3E}">
        <p14:creationId xmlns:p14="http://schemas.microsoft.com/office/powerpoint/2010/main" val="10123901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评价指标</a:t>
            </a:r>
            <a:r>
              <a:rPr lang="en-US" altLang="zh-CN" dirty="0" err="1" smtClean="0"/>
              <a:t>mAP</a:t>
            </a:r>
            <a:endParaRPr lang="zh-CN" altLang="en-US" dirty="0"/>
          </a:p>
        </p:txBody>
      </p:sp>
      <p:sp>
        <p:nvSpPr>
          <p:cNvPr id="3" name="内容占位符 2"/>
          <p:cNvSpPr>
            <a:spLocks noGrp="1"/>
          </p:cNvSpPr>
          <p:nvPr>
            <p:ph sz="quarter" idx="13"/>
          </p:nvPr>
        </p:nvSpPr>
        <p:spPr/>
        <p:txBody>
          <a:bodyPr/>
          <a:lstStyle/>
          <a:p>
            <a:r>
              <a:rPr lang="en-US" altLang="zh-CN" dirty="0" smtClean="0"/>
              <a:t>AP</a:t>
            </a:r>
            <a:r>
              <a:rPr lang="zh-CN" altLang="en-US" dirty="0" smtClean="0"/>
              <a:t>计算：</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68188" y="1262356"/>
            <a:ext cx="6323812" cy="4742859"/>
          </a:xfrm>
          <a:prstGeom prst="rect">
            <a:avLst/>
          </a:prstGeom>
        </p:spPr>
      </p:pic>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9925" y="1634487"/>
            <a:ext cx="5400675" cy="4181475"/>
          </a:xfrm>
          <a:prstGeom prst="rect">
            <a:avLst/>
          </a:prstGeom>
        </p:spPr>
      </p:pic>
    </p:spTree>
    <p:extLst>
      <p:ext uri="{BB962C8B-B14F-4D97-AF65-F5344CB8AC3E}">
        <p14:creationId xmlns:p14="http://schemas.microsoft.com/office/powerpoint/2010/main" val="2307090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评价指标</a:t>
            </a:r>
            <a:r>
              <a:rPr lang="en-US" altLang="zh-CN" dirty="0" err="1" smtClean="0"/>
              <a:t>mAP</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zh-CN" altLang="en-US" dirty="0" smtClean="0"/>
                  <a:t>得到一个类别的 </a:t>
                </a:r>
                <a:r>
                  <a:rPr lang="en-US" altLang="zh-CN" dirty="0"/>
                  <a:t>AP </a:t>
                </a:r>
                <a:r>
                  <a:rPr lang="zh-CN" altLang="en-US" dirty="0"/>
                  <a:t>结果如下</a:t>
                </a:r>
                <a:r>
                  <a:rPr lang="zh-CN" altLang="en-US"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14:m>
                  <m:oMath xmlns:m="http://schemas.openxmlformats.org/officeDocument/2006/math">
                    <m:r>
                      <a:rPr lang="zh-CN" altLang="en-US" i="1">
                        <a:latin typeface="Cambria Math" panose="02040503050406030204" pitchFamily="18" charset="0"/>
                      </a:rPr>
                      <m:t>𝜌</m:t>
                    </m:r>
                    <m:r>
                      <a:rPr lang="en-US" altLang="zh-CN" i="1">
                        <a:latin typeface="Cambria Math" panose="02040503050406030204" pitchFamily="18" charset="0"/>
                      </a:rPr>
                      <m:t>𝑖𝑛𝑡𝑒𝑟𝑝</m:t>
                    </m:r>
                    <m:r>
                      <a:rPr lang="en-US" altLang="zh-CN" i="1">
                        <a:latin typeface="Cambria Math" panose="02040503050406030204" pitchFamily="18" charset="0"/>
                      </a:rPr>
                      <m:t>(</m:t>
                    </m:r>
                    <m:r>
                      <a:rPr lang="en-US" altLang="zh-CN" i="1">
                        <a:latin typeface="Cambria Math" panose="02040503050406030204" pitchFamily="18" charset="0"/>
                      </a:rPr>
                      <m:t>𝑟</m:t>
                    </m:r>
                    <m:r>
                      <a:rPr lang="en-US" altLang="zh-CN" i="1">
                        <a:latin typeface="Cambria Math" panose="02040503050406030204" pitchFamily="18" charset="0"/>
                      </a:rPr>
                      <m:t>)</m:t>
                    </m:r>
                  </m:oMath>
                </a14:m>
                <a:r>
                  <a:rPr lang="zh-CN" altLang="en-US" dirty="0"/>
                  <a:t>是经过平滑处理后的</a:t>
                </a:r>
                <a:r>
                  <a:rPr lang="zh-CN" altLang="en-US" dirty="0" smtClean="0"/>
                  <a:t>值</a:t>
                </a:r>
                <a:endParaRPr lang="en-US" altLang="zh-CN" dirty="0" smtClean="0"/>
              </a:p>
              <a:p>
                <a:r>
                  <a:rPr lang="en-US" altLang="zh-CN" dirty="0" err="1" smtClean="0"/>
                  <a:t>mAP</a:t>
                </a:r>
                <a:r>
                  <a:rPr lang="en-US" altLang="zh-CN" dirty="0" smtClean="0"/>
                  <a:t>=</a:t>
                </a:r>
                <a:r>
                  <a:rPr lang="zh-CN" altLang="en-US" dirty="0" smtClean="0"/>
                  <a:t>所有类别</a:t>
                </a:r>
                <a:r>
                  <a:rPr lang="en-US" altLang="zh-CN" dirty="0" smtClean="0"/>
                  <a:t>AP</a:t>
                </a:r>
                <a:r>
                  <a:rPr lang="zh-CN" altLang="en-US" dirty="0" smtClean="0"/>
                  <a:t>平均值</a:t>
                </a:r>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6006" y="1658464"/>
            <a:ext cx="10058400" cy="2313944"/>
          </a:xfrm>
          <a:prstGeom prst="rect">
            <a:avLst/>
          </a:prstGeom>
        </p:spPr>
      </p:pic>
    </p:spTree>
    <p:extLst>
      <p:ext uri="{BB962C8B-B14F-4D97-AF65-F5344CB8AC3E}">
        <p14:creationId xmlns:p14="http://schemas.microsoft.com/office/powerpoint/2010/main" val="20070752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课程小结</a:t>
            </a:r>
            <a:endParaRPr lang="zh-CN" altLang="en-US" dirty="0"/>
          </a:p>
        </p:txBody>
      </p:sp>
      <p:sp>
        <p:nvSpPr>
          <p:cNvPr id="3" name="内容占位符 2"/>
          <p:cNvSpPr>
            <a:spLocks noGrp="1"/>
          </p:cNvSpPr>
          <p:nvPr>
            <p:ph sz="quarter" idx="13"/>
          </p:nvPr>
        </p:nvSpPr>
        <p:spPr/>
        <p:txBody>
          <a:bodyPr/>
          <a:lstStyle/>
          <a:p>
            <a:r>
              <a:rPr lang="zh-CN" altLang="en-US" dirty="0" smtClean="0"/>
              <a:t>在</a:t>
            </a:r>
            <a:r>
              <a:rPr lang="zh-CN" altLang="zh-CN" dirty="0" smtClean="0"/>
              <a:t>本</a:t>
            </a:r>
            <a:r>
              <a:rPr lang="zh-CN" altLang="en-US" dirty="0" smtClean="0"/>
              <a:t>节课</a:t>
            </a:r>
            <a:r>
              <a:rPr lang="zh-CN" altLang="zh-CN" dirty="0" smtClean="0"/>
              <a:t>中</a:t>
            </a:r>
            <a:r>
              <a:rPr lang="zh-CN" altLang="zh-CN" dirty="0"/>
              <a:t>，</a:t>
            </a:r>
            <a:r>
              <a:rPr lang="zh-CN" altLang="zh-CN" dirty="0" smtClean="0"/>
              <a:t>我们</a:t>
            </a:r>
            <a:r>
              <a:rPr lang="zh-CN" altLang="en-US" dirty="0"/>
              <a:t>学习</a:t>
            </a:r>
            <a:r>
              <a:rPr lang="zh-CN" altLang="en-US" dirty="0" smtClean="0"/>
              <a:t>了：</a:t>
            </a:r>
            <a:endParaRPr lang="en-US" altLang="zh-CN" dirty="0" smtClean="0"/>
          </a:p>
          <a:p>
            <a:r>
              <a:rPr lang="zh-CN" altLang="en-US" dirty="0" smtClean="0"/>
              <a:t>主流的</a:t>
            </a:r>
            <a:r>
              <a:rPr lang="en-US" altLang="zh-CN" dirty="0" smtClean="0"/>
              <a:t>6</a:t>
            </a:r>
            <a:r>
              <a:rPr lang="zh-CN" altLang="en-US" dirty="0" smtClean="0"/>
              <a:t>种深度学习框架</a:t>
            </a:r>
            <a:endParaRPr lang="en-US" altLang="zh-CN" dirty="0" smtClean="0"/>
          </a:p>
          <a:p>
            <a:r>
              <a:rPr lang="zh-CN" altLang="en-US" dirty="0" smtClean="0"/>
              <a:t>目标检测特有的基本概念及计算</a:t>
            </a:r>
            <a:endParaRPr lang="zh-CN" altLang="en-US" dirty="0"/>
          </a:p>
        </p:txBody>
      </p:sp>
    </p:spTree>
    <p:extLst>
      <p:ext uri="{BB962C8B-B14F-4D97-AF65-F5344CB8AC3E}">
        <p14:creationId xmlns:p14="http://schemas.microsoft.com/office/powerpoint/2010/main" val="31378939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F00044BE-8457-4074-8823-61E1394FBFA4}"/>
              </a:ext>
            </a:extLst>
          </p:cNvPr>
          <p:cNvSpPr>
            <a:spLocks noGrp="1"/>
          </p:cNvSpPr>
          <p:nvPr>
            <p:ph type="ctrTitle"/>
          </p:nvPr>
        </p:nvSpPr>
        <p:spPr/>
        <p:txBody>
          <a:bodyPr/>
          <a:lstStyle/>
          <a:p>
            <a:endParaRPr lang="zh-CN" altLang="en-US"/>
          </a:p>
        </p:txBody>
      </p:sp>
      <p:sp>
        <p:nvSpPr>
          <p:cNvPr id="3" name="文本占位符 2">
            <a:extLst>
              <a:ext uri="{FF2B5EF4-FFF2-40B4-BE49-F238E27FC236}">
                <a16:creationId xmlns="" xmlns:a16="http://schemas.microsoft.com/office/drawing/2014/main" id="{6CDD7759-BA71-41DE-BB7F-473ED21A855A}"/>
              </a:ext>
            </a:extLst>
          </p:cNvPr>
          <p:cNvSpPr>
            <a:spLocks noGrp="1"/>
          </p:cNvSpPr>
          <p:nvPr>
            <p:ph type="body" sz="quarter" idx="18"/>
          </p:nvPr>
        </p:nvSpPr>
        <p:spPr/>
        <p:txBody>
          <a:bodyPr/>
          <a:lstStyle/>
          <a:p>
            <a:endParaRPr lang="zh-CN" altLang="en-US"/>
          </a:p>
        </p:txBody>
      </p:sp>
      <p:sp>
        <p:nvSpPr>
          <p:cNvPr id="4" name="文本占位符 3">
            <a:extLst>
              <a:ext uri="{FF2B5EF4-FFF2-40B4-BE49-F238E27FC236}">
                <a16:creationId xmlns="" xmlns:a16="http://schemas.microsoft.com/office/drawing/2014/main" id="{B39E9368-67B8-448F-BCF0-D2F5A267509F}"/>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6404832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THEME" val="#218130"/>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111D84"/>
      </a:accent1>
      <a:accent2>
        <a:srgbClr val="28528B"/>
      </a:accent2>
      <a:accent3>
        <a:srgbClr val="39AEC0"/>
      </a:accent3>
      <a:accent4>
        <a:srgbClr val="FBCB6A"/>
      </a:accent4>
      <a:accent5>
        <a:srgbClr val="757579"/>
      </a:accent5>
      <a:accent6>
        <a:srgbClr val="5C5E60"/>
      </a:accent6>
      <a:hlink>
        <a:srgbClr val="4276AA"/>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课件：模板.potx" id="{75A736F1-A9F4-4558-8520-289A7C5FD6F8}" vid="{6F499C35-6EEA-4591-8D01-5F89C10EE7D2}"/>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课件：模板</Template>
  <TotalTime>1707</TotalTime>
  <Words>9588</Words>
  <Application>Microsoft Office PowerPoint</Application>
  <PresentationFormat>宽屏</PresentationFormat>
  <Paragraphs>578</Paragraphs>
  <Slides>46</Slides>
  <Notes>39</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46</vt:i4>
      </vt:variant>
    </vt:vector>
  </HeadingPairs>
  <TitlesOfParts>
    <vt:vector size="55" baseType="lpstr">
      <vt:lpstr>等线</vt:lpstr>
      <vt:lpstr>宋体</vt:lpstr>
      <vt:lpstr>微软雅黑</vt:lpstr>
      <vt:lpstr>Arial</vt:lpstr>
      <vt:lpstr>Calibri</vt:lpstr>
      <vt:lpstr>Cambria Math</vt:lpstr>
      <vt:lpstr>Ebrima</vt:lpstr>
      <vt:lpstr>Wingdings</vt:lpstr>
      <vt:lpstr>主题5</vt:lpstr>
      <vt:lpstr>目标检测的实现</vt:lpstr>
      <vt:lpstr>课程目标</vt:lpstr>
      <vt:lpstr>PowerPoint 演示文稿</vt:lpstr>
      <vt:lpstr>/01</vt:lpstr>
      <vt:lpstr>深度学习框架</vt:lpstr>
      <vt:lpstr>Theano</vt:lpstr>
      <vt:lpstr>TensorFlow</vt:lpstr>
      <vt:lpstr>MXNet</vt:lpstr>
      <vt:lpstr>Keras</vt:lpstr>
      <vt:lpstr>PyTorch</vt:lpstr>
      <vt:lpstr>Caffe</vt:lpstr>
      <vt:lpstr>/02</vt:lpstr>
      <vt:lpstr>目标检测基本概念</vt:lpstr>
      <vt:lpstr>IoU计算</vt:lpstr>
      <vt:lpstr>IoU计算</vt:lpstr>
      <vt:lpstr>NMS操作</vt:lpstr>
      <vt:lpstr>NMS操作</vt:lpstr>
      <vt:lpstr>NMS操作</vt:lpstr>
      <vt:lpstr>NMS操作</vt:lpstr>
      <vt:lpstr>感受野</vt:lpstr>
      <vt:lpstr>感受野</vt:lpstr>
      <vt:lpstr>感受野</vt:lpstr>
      <vt:lpstr>感受野</vt:lpstr>
      <vt:lpstr>感受野</vt:lpstr>
      <vt:lpstr>感受野</vt:lpstr>
      <vt:lpstr>感受野</vt:lpstr>
      <vt:lpstr>感受野</vt:lpstr>
      <vt:lpstr>空洞卷积</vt:lpstr>
      <vt:lpstr>空洞卷积</vt:lpstr>
      <vt:lpstr>评价指标mAP</vt:lpstr>
      <vt:lpstr>评价指标mAP</vt:lpstr>
      <vt:lpstr>评价指标mAP</vt:lpstr>
      <vt:lpstr>评价指标mAP</vt:lpstr>
      <vt:lpstr>评价指标mAP</vt:lpstr>
      <vt:lpstr>评价指标mAP</vt:lpstr>
      <vt:lpstr>评价指标mAP</vt:lpstr>
      <vt:lpstr>评价指标mAP</vt:lpstr>
      <vt:lpstr>评价指标mAP</vt:lpstr>
      <vt:lpstr>评价指标mAP</vt:lpstr>
      <vt:lpstr>评价指标mAP</vt:lpstr>
      <vt:lpstr>评价指标mAP</vt:lpstr>
      <vt:lpstr>评价指标mAP</vt:lpstr>
      <vt:lpstr>评价指标mAP</vt:lpstr>
      <vt:lpstr>评价指标mAP</vt:lpstr>
      <vt:lpstr>课程小结</vt:lpstr>
      <vt:lpstr>PowerPoint 演示文稿</vt:lpstr>
    </vt:vector>
  </TitlesOfParts>
  <Manager>iSlide</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Microsoft 帐户</cp:lastModifiedBy>
  <cp:revision>72</cp:revision>
  <cp:lastPrinted>2018-09-20T16:00:00Z</cp:lastPrinted>
  <dcterms:created xsi:type="dcterms:W3CDTF">2022-06-27T01:42:48Z</dcterms:created>
  <dcterms:modified xsi:type="dcterms:W3CDTF">2022-12-27T09:31:30Z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73014DBFC45146CA96EB1D40049F1576</vt:lpwstr>
  </property>
  <property fmtid="{D5CDD505-2E9C-101B-9397-08002B2CF9AE}" pid="4" name="KSOProductBuildVer">
    <vt:lpwstr>2052-11.1.0.10667</vt:lpwstr>
  </property>
</Properties>
</file>