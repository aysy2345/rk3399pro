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266" r:id="rId2"/>
    <p:sldId id="265" r:id="rId3"/>
    <p:sldId id="262" r:id="rId4"/>
    <p:sldId id="25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67" r:id="rId34"/>
    <p:sldId id="296" r:id="rId35"/>
    <p:sldId id="297" r:id="rId36"/>
    <p:sldId id="298" r:id="rId37"/>
    <p:sldId id="299" r:id="rId38"/>
    <p:sldId id="300" r:id="rId39"/>
    <p:sldId id="301" r:id="rId40"/>
    <p:sldId id="302" r:id="rId41"/>
    <p:sldId id="303" r:id="rId42"/>
    <p:sldId id="304" r:id="rId43"/>
    <p:sldId id="305" r:id="rId44"/>
    <p:sldId id="306" r:id="rId45"/>
    <p:sldId id="307" r:id="rId46"/>
    <p:sldId id="264" r:id="rId47"/>
    <p:sldId id="261" r:id="rId48"/>
  </p:sldIdLst>
  <p:sldSz cx="12192000" cy="6858000"/>
  <p:notesSz cx="6858000" cy="9144000"/>
  <p:custDataLst>
    <p:tags r:id="rId51"/>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1661" autoAdjust="0"/>
  </p:normalViewPr>
  <p:slideViewPr>
    <p:cSldViewPr snapToGrid="0" showGuides="1">
      <p:cViewPr varScale="1">
        <p:scale>
          <a:sx n="95" d="100"/>
          <a:sy n="95" d="100"/>
        </p:scale>
        <p:origin x="1134" y="78"/>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尽管两阶段检测算法流程清晰，检测结果较好，但由于其存在候选区域提取和类别判定两个相对对立的过程，计算时间较长。</a:t>
            </a:r>
            <a:endParaRPr lang="en-US" altLang="zh-CN" dirty="0" smtClean="0"/>
          </a:p>
          <a:p>
            <a:r>
              <a:rPr lang="zh-CN" altLang="en-US" dirty="0" smtClean="0"/>
              <a:t>为了进一步提升算法速度和算法落地的可行性，业界又提出了若干一阶段检测算法，包括</a:t>
            </a:r>
            <a:r>
              <a:rPr lang="en-US" altLang="zh-CN" dirty="0" smtClean="0"/>
              <a:t>YOLO</a:t>
            </a:r>
            <a:r>
              <a:rPr lang="zh-CN" altLang="en-US" dirty="0" smtClean="0"/>
              <a:t>、</a:t>
            </a:r>
            <a:r>
              <a:rPr lang="en-US" altLang="zh-CN" dirty="0" smtClean="0"/>
              <a:t>SSD</a:t>
            </a:r>
            <a:r>
              <a:rPr lang="zh-CN" altLang="en-US" dirty="0" smtClean="0"/>
              <a:t>、</a:t>
            </a:r>
            <a:r>
              <a:rPr lang="en-US" altLang="zh-CN" dirty="0" smtClean="0"/>
              <a:t>FCOS</a:t>
            </a:r>
            <a:r>
              <a:rPr lang="zh-CN" altLang="en-US" dirty="0" smtClean="0"/>
              <a:t>等。这些算法中，</a:t>
            </a:r>
            <a:r>
              <a:rPr lang="en-US" altLang="zh-CN" dirty="0" smtClean="0"/>
              <a:t>YOLO</a:t>
            </a:r>
            <a:r>
              <a:rPr lang="zh-CN" altLang="en-US" dirty="0" smtClean="0"/>
              <a:t>、</a:t>
            </a:r>
            <a:r>
              <a:rPr lang="en-US" altLang="zh-CN" dirty="0" smtClean="0"/>
              <a:t>SSD</a:t>
            </a:r>
            <a:r>
              <a:rPr lang="zh-CN" altLang="en-US" dirty="0" smtClean="0"/>
              <a:t>基于锚，通常用于目标尺寸、形态变化不太大的场景，如行人检测、人脸检测等；</a:t>
            </a:r>
            <a:r>
              <a:rPr lang="en-US" altLang="zh-CN" dirty="0" smtClean="0"/>
              <a:t>FCOS</a:t>
            </a:r>
            <a:r>
              <a:rPr lang="zh-CN" altLang="en-US" dirty="0" smtClean="0"/>
              <a:t>不依赖锚，更适合目标尺寸、形态变化剧烈的场景，比如在工业瑕疵检测场景中，瑕疵的尺寸通常变化很多，小的瑕疵尺度大多小于</a:t>
            </a:r>
            <a:r>
              <a:rPr lang="en-US" altLang="zh-CN" dirty="0" smtClean="0"/>
              <a:t>5×5</a:t>
            </a:r>
            <a:r>
              <a:rPr lang="zh-CN" altLang="en-US" dirty="0" smtClean="0"/>
              <a:t>，大的瑕疵尺寸可能大于</a:t>
            </a:r>
            <a:r>
              <a:rPr lang="en-US" altLang="zh-CN" dirty="0" smtClean="0"/>
              <a:t>100×100</a:t>
            </a:r>
            <a:r>
              <a:rPr lang="zh-CN" altLang="en-US" dirty="0" smtClean="0"/>
              <a:t>，瑕疵的形态也存在很大差异，这种情况下就更适合通过</a:t>
            </a:r>
            <a:r>
              <a:rPr lang="en-US" altLang="zh-CN" dirty="0" smtClean="0"/>
              <a:t>FCOS</a:t>
            </a:r>
            <a:r>
              <a:rPr lang="zh-CN" altLang="en-US" dirty="0" smtClean="0"/>
              <a:t>算法来解决问题。下面我们详细介绍这些算法。</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434862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YOLO</a:t>
            </a:r>
            <a:r>
              <a:rPr lang="zh-CN" altLang="en-US" dirty="0" smtClean="0"/>
              <a:t>是一种重要的一阶段检测算法，其核心思想是将整幅图像作为输入，通过神经网络直接回归目标的位置坐标和分类概率。与两阶段算法不同，</a:t>
            </a:r>
            <a:r>
              <a:rPr lang="en-US" altLang="zh-CN" dirty="0" smtClean="0"/>
              <a:t>YOLO</a:t>
            </a:r>
            <a:r>
              <a:rPr lang="zh-CN" altLang="en-US" dirty="0" smtClean="0"/>
              <a:t>不需要进行预测候选框这个步骤，带来的好处就是显著提升目标检测算法的执行速度，可以在实时系统中得以使用。</a:t>
            </a:r>
            <a:endParaRPr lang="en-US" altLang="zh-CN" dirty="0" smtClean="0"/>
          </a:p>
          <a:p>
            <a:r>
              <a:rPr lang="en-US" altLang="zh-CN" dirty="0" smtClean="0"/>
              <a:t>YOLO</a:t>
            </a:r>
            <a:r>
              <a:rPr lang="zh-CN" altLang="en-US" dirty="0" smtClean="0"/>
              <a:t>目前已经迭代了</a:t>
            </a:r>
            <a:r>
              <a:rPr lang="en-US" altLang="zh-CN" dirty="0" smtClean="0"/>
              <a:t>5</a:t>
            </a:r>
            <a:r>
              <a:rPr lang="zh-CN" altLang="en-US" dirty="0" smtClean="0"/>
              <a:t>个版本，是目前最常用的一阶段检测算法，后续实验中我们将使用</a:t>
            </a:r>
            <a:r>
              <a:rPr lang="en-US" altLang="zh-CN" dirty="0" smtClean="0"/>
              <a:t>YOLO</a:t>
            </a:r>
            <a:r>
              <a:rPr lang="zh-CN" altLang="en-US" dirty="0" smtClean="0"/>
              <a:t>对之前的数据集进行目标检测的训练与测试。</a:t>
            </a:r>
            <a:endParaRPr lang="en-US" altLang="zh-CN" dirty="0" smtClean="0"/>
          </a:p>
          <a:p>
            <a:r>
              <a:rPr lang="zh-CN" altLang="en-US" dirty="0" smtClean="0"/>
              <a:t>处理检测问题最直接的方法是使用不同尺度和形状的候选框在图像上密集采样，以此判断候选框是否包含目标，这种方法极为耗时。另一种方法是两阶段算法中采用的策略，先通过</a:t>
            </a:r>
            <a:r>
              <a:rPr lang="en-US" altLang="zh-CN" dirty="0" smtClean="0"/>
              <a:t>Selective Search</a:t>
            </a:r>
            <a:r>
              <a:rPr lang="zh-CN" altLang="en-US" dirty="0" smtClean="0"/>
              <a:t>等方法生成一系列候选框，然后使用分类器判断候选框是否包含目标，再对目标的位置进行精细修正。这种方法的优点是能够得到比较准确的目标位置，缺点仍然是消耗较多的计算时间。那么如何进一步降低算法耗时呢</a:t>
            </a:r>
            <a:r>
              <a:rPr lang="en-US" altLang="zh-CN" dirty="0" smtClean="0"/>
              <a:t>?</a:t>
            </a:r>
            <a:r>
              <a:rPr lang="zh-CN" altLang="en-US" dirty="0" smtClean="0"/>
              <a:t>一个比较便捷的方法是直接回归目标框的位置坐标和分类概率，把检测问题转化成回归问题</a:t>
            </a:r>
            <a:r>
              <a:rPr lang="en-US" altLang="zh-CN" dirty="0" smtClean="0"/>
              <a:t>,</a:t>
            </a:r>
            <a:r>
              <a:rPr lang="zh-CN" altLang="en-US" dirty="0" smtClean="0"/>
              <a:t>这也是 </a:t>
            </a:r>
            <a:r>
              <a:rPr lang="en-US" altLang="zh-CN" dirty="0" smtClean="0"/>
              <a:t>YOLO</a:t>
            </a:r>
            <a:r>
              <a:rPr lang="zh-CN" altLang="en-US" dirty="0" smtClean="0"/>
              <a:t>算法的基本思路。</a:t>
            </a:r>
            <a:r>
              <a:rPr lang="en-US" altLang="zh-CN" dirty="0" smtClean="0"/>
              <a:t>YOLO</a:t>
            </a:r>
            <a:r>
              <a:rPr lang="zh-CN" altLang="en-US" dirty="0" smtClean="0"/>
              <a:t>另一个显著特点是将一整张图作为输入，每个回归的目标都基于整张图像的信息</a:t>
            </a:r>
            <a:r>
              <a:rPr lang="en-US" altLang="zh-CN" dirty="0" smtClean="0"/>
              <a:t>,</a:t>
            </a:r>
            <a:r>
              <a:rPr lang="zh-CN" altLang="en-US" dirty="0" smtClean="0"/>
              <a:t>因此</a:t>
            </a:r>
            <a:r>
              <a:rPr lang="en-US" altLang="zh-CN" dirty="0" smtClean="0"/>
              <a:t>YOLO </a:t>
            </a:r>
            <a:r>
              <a:rPr lang="zh-CN" altLang="en-US" dirty="0" smtClean="0"/>
              <a:t>能够利用更加全面的上下文信息。</a:t>
            </a:r>
            <a:endParaRPr lang="en-US" altLang="zh-CN" dirty="0" smtClean="0"/>
          </a:p>
          <a:p>
            <a:r>
              <a:rPr lang="en-US" altLang="zh-CN" dirty="0" smtClean="0"/>
              <a:t>YOLO</a:t>
            </a:r>
            <a:r>
              <a:rPr lang="zh-CN" altLang="en-US" dirty="0" smtClean="0"/>
              <a:t>也有一些明显的局限性</a:t>
            </a:r>
            <a:r>
              <a:rPr lang="en-US" altLang="zh-CN" dirty="0" smtClean="0"/>
              <a:t>,</a:t>
            </a:r>
            <a:r>
              <a:rPr lang="zh-CN" altLang="en-US" dirty="0" smtClean="0"/>
              <a:t>其有一个默认的假设</a:t>
            </a:r>
            <a:r>
              <a:rPr lang="en-US" altLang="zh-CN" dirty="0" smtClean="0"/>
              <a:t>,</a:t>
            </a:r>
            <a:r>
              <a:rPr lang="zh-CN" altLang="en-US" dirty="0" smtClean="0"/>
              <a:t>认为图像中的目标都比较大，不存在密集小目标，因此需要根据实际的应用场景判断是否适合使用</a:t>
            </a:r>
            <a:r>
              <a:rPr lang="en-US" altLang="zh-CN" dirty="0" smtClean="0"/>
              <a:t>YOLO</a:t>
            </a:r>
            <a:r>
              <a:rPr lang="zh-CN" altLang="en-US" dirty="0" smtClean="0"/>
              <a:t>算法。</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637707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dirty="0" smtClean="0"/>
                  <a:t>YOLO</a:t>
                </a:r>
                <a:r>
                  <a:rPr lang="zh-CN" altLang="en-US" dirty="0" smtClean="0"/>
                  <a:t>算法通过一个</a:t>
                </a:r>
                <a:r>
                  <a:rPr lang="en-US" altLang="zh-CN" dirty="0" smtClean="0"/>
                  <a:t>S</a:t>
                </a:r>
                <a:r>
                  <a:rPr lang="zh-CN" altLang="en-US" dirty="0" smtClean="0"/>
                  <a:t>行</a:t>
                </a:r>
                <a:r>
                  <a:rPr lang="en-US" altLang="zh-CN" dirty="0" smtClean="0"/>
                  <a:t>×S</a:t>
                </a:r>
                <a:r>
                  <a:rPr lang="zh-CN" altLang="en-US" dirty="0" smtClean="0"/>
                  <a:t>列的均匀网格，将一张输入的图像均匀分成</a:t>
                </a:r>
                <a:r>
                  <a:rPr lang="en-US" altLang="zh-CN" dirty="0" smtClean="0"/>
                  <a:t>S×S</a:t>
                </a:r>
                <a:r>
                  <a:rPr lang="zh-CN" altLang="en-US" dirty="0" smtClean="0"/>
                  <a:t>个子图像块，如果目标的中心点落在某个子图像块内，就认为这个目标归属于这个子图像块，也可以说这个子图像块包含这个目标</a:t>
                </a:r>
                <a:r>
                  <a:rPr lang="en-US" altLang="zh-CN" dirty="0" smtClean="0"/>
                  <a:t>(</a:t>
                </a:r>
                <a:r>
                  <a:rPr lang="zh-CN" altLang="en-US" dirty="0" smtClean="0"/>
                  <a:t>其实是包含目标的中心</a:t>
                </a:r>
                <a:r>
                  <a:rPr lang="en-US" altLang="zh-CN" dirty="0" smtClean="0"/>
                  <a:t>)</a:t>
                </a:r>
                <a:r>
                  <a:rPr lang="zh-CN" altLang="en-US" dirty="0" smtClean="0"/>
                  <a:t>。这里的图中分成了</a:t>
                </a:r>
                <a:r>
                  <a:rPr lang="en-US" altLang="zh-CN" dirty="0" smtClean="0"/>
                  <a:t>7×7=49</a:t>
                </a:r>
                <a:r>
                  <a:rPr lang="zh-CN" altLang="en-US" dirty="0" smtClean="0"/>
                  <a:t>个子图像块。在每一个子图像块中，会预测</a:t>
                </a:r>
                <a:r>
                  <a:rPr lang="en-US" altLang="zh-CN" dirty="0" smtClean="0"/>
                  <a:t>B</a:t>
                </a:r>
                <a:r>
                  <a:rPr lang="zh-CN" altLang="en-US" dirty="0" smtClean="0"/>
                  <a:t>个目标框的坐标以及这</a:t>
                </a:r>
                <a:r>
                  <a:rPr lang="en-US" altLang="zh-CN" dirty="0" smtClean="0"/>
                  <a:t>B</a:t>
                </a:r>
                <a:r>
                  <a:rPr lang="zh-CN" altLang="en-US" dirty="0" smtClean="0"/>
                  <a:t>个目标框框中目标的置信度，这个置信度反映的是当前预测框框中目标的概率以及预测框位置的准确程度。具体可以通过如下公式描述</a:t>
                </a:r>
                <a:r>
                  <a:rPr lang="en-US" altLang="zh-CN" dirty="0" smtClean="0"/>
                  <a:t>:</a:t>
                </a:r>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𝑃𝑟</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𝑂𝑏𝑗𝑒𝑐𝑡</m:t>
                        </m:r>
                      </m:e>
                    </m:d>
                    <m:r>
                      <a:rPr lang="en-US" altLang="zh-CN" i="1">
                        <a:latin typeface="Cambria Math" panose="02040503050406030204" pitchFamily="18" charset="0"/>
                      </a:rPr>
                      <m:t>×</m:t>
                    </m:r>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𝐼𝑜𝑈</m:t>
                        </m:r>
                      </m:e>
                      <m:sub>
                        <m:r>
                          <a:rPr lang="en-US" altLang="zh-CN" b="0" i="1" smtClean="0">
                            <a:latin typeface="Cambria Math" panose="02040503050406030204" pitchFamily="18" charset="0"/>
                          </a:rPr>
                          <m:t>𝑝𝑟𝑒𝑑</m:t>
                        </m:r>
                      </m:sub>
                      <m:sup>
                        <m:r>
                          <a:rPr lang="en-US" altLang="zh-CN" b="0" i="1" smtClean="0">
                            <a:latin typeface="Cambria Math" panose="02040503050406030204" pitchFamily="18" charset="0"/>
                          </a:rPr>
                          <m:t>𝑡𝑟𝑢𝑡h</m:t>
                        </m:r>
                      </m:sup>
                    </m:sSubSup>
                    <m:r>
                      <a:rPr lang="zh-CN" altLang="en-US" b="0" i="1" smtClean="0">
                        <a:latin typeface="Cambria Math" panose="02040503050406030204" pitchFamily="18" charset="0"/>
                      </a:rPr>
                      <m:t>。</m:t>
                    </m:r>
                  </m:oMath>
                </a14:m>
                <a:endParaRPr lang="en-US" altLang="zh-CN" dirty="0" smtClean="0"/>
              </a:p>
              <a:p>
                <a:r>
                  <a:rPr lang="zh-CN" altLang="en-US" dirty="0" smtClean="0"/>
                  <a:t>如果当前预测框没有框中目标，则</a:t>
                </a:r>
                <a:r>
                  <a:rPr lang="en-US" altLang="zh-CN" dirty="0" err="1" smtClean="0"/>
                  <a:t>Pr</a:t>
                </a:r>
                <a:r>
                  <a:rPr lang="en-US" altLang="zh-CN" dirty="0" smtClean="0"/>
                  <a:t>(Object)=0;</a:t>
                </a:r>
                <a:r>
                  <a:rPr lang="zh-CN" altLang="en-US" dirty="0" smtClean="0"/>
                  <a:t>反之，如果当前预测框框中了目标，则</a:t>
                </a:r>
                <a:r>
                  <a:rPr lang="en-US" altLang="zh-CN" dirty="0" err="1" smtClean="0"/>
                  <a:t>Pr</a:t>
                </a:r>
                <a:r>
                  <a:rPr lang="en-US" altLang="zh-CN" dirty="0" smtClean="0"/>
                  <a:t>(Object)=1</a:t>
                </a:r>
                <a:r>
                  <a:rPr lang="zh-CN" altLang="en-US" dirty="0" smtClean="0"/>
                  <a:t>。</a:t>
                </a:r>
              </a:p>
              <a:p>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𝐼𝑜𝑈</m:t>
                        </m:r>
                      </m:e>
                      <m:sub>
                        <m:r>
                          <a:rPr lang="en-US" altLang="zh-CN" b="0" i="1" smtClean="0">
                            <a:latin typeface="Cambria Math" panose="02040503050406030204" pitchFamily="18" charset="0"/>
                          </a:rPr>
                          <m:t>𝑝𝑟𝑒𝑑</m:t>
                        </m:r>
                      </m:sub>
                      <m:sup>
                        <m:r>
                          <a:rPr lang="en-US" altLang="zh-CN" b="0" i="1" smtClean="0">
                            <a:latin typeface="Cambria Math" panose="02040503050406030204" pitchFamily="18" charset="0"/>
                          </a:rPr>
                          <m:t>𝑡𝑟𝑢𝑡h</m:t>
                        </m:r>
                      </m:sup>
                    </m:sSubSup>
                  </m:oMath>
                </a14:m>
                <a:r>
                  <a:rPr lang="zh-CN" altLang="en-US" dirty="0" smtClean="0"/>
                  <a:t>是预测框和目标真值框的交并比，反映预测框和真值框的重合度。这里说明一下何为框中目标，如果一个目标的中心点没有落在当前子图像块内，则这个目标不属于当前子图像块，当前子图像块的预测框不会框中这个目标</a:t>
                </a:r>
                <a:r>
                  <a:rPr lang="en-US" altLang="zh-CN" dirty="0" smtClean="0"/>
                  <a:t>;</a:t>
                </a:r>
                <a:r>
                  <a:rPr lang="zh-CN" altLang="en-US" dirty="0" smtClean="0"/>
                  <a:t>如果一个目标的中心点落在当前子图像块中，就需要分别计算各个预测框与目标真值框的交并比，认为</a:t>
                </a:r>
                <a:r>
                  <a:rPr lang="en-US" altLang="zh-CN" dirty="0" err="1" smtClean="0"/>
                  <a:t>IoU</a:t>
                </a:r>
                <a:r>
                  <a:rPr lang="zh-CN" altLang="en-US" dirty="0" smtClean="0"/>
                  <a:t>最大的预测框框中了目标，其他预测框没有框中目标，其实这个约定并不见得合理，仅是</a:t>
                </a:r>
                <a:r>
                  <a:rPr lang="en-US" altLang="zh-CN" dirty="0" smtClean="0"/>
                  <a:t>YOLO</a:t>
                </a:r>
                <a:r>
                  <a:rPr lang="zh-CN" altLang="en-US" dirty="0" smtClean="0"/>
                  <a:t>的一个策略。另外，如前所述， 因为</a:t>
                </a:r>
                <a:r>
                  <a:rPr lang="en-US" altLang="zh-CN" dirty="0" smtClean="0"/>
                  <a:t>YOLO</a:t>
                </a:r>
                <a:r>
                  <a:rPr lang="zh-CN" altLang="en-US" dirty="0" smtClean="0"/>
                  <a:t>默认图像中的目标都比较大，以至于不会出现一一个子图像块中有多个目标的情况，所以如果有多个非常小的目标的中心落在同一个子图像块内，算法就会出现问题，最终只有一个目标会被检测出来。</a:t>
                </a:r>
                <a:endParaRPr lang="en-US" altLang="zh-CN" dirty="0" smtClean="0"/>
              </a:p>
              <a:p>
                <a:r>
                  <a:rPr lang="zh-CN" altLang="en-US" dirty="0" smtClean="0"/>
                  <a:t>对于每一个预测框，都需要回归框的中心点坐标</a:t>
                </a:r>
                <a:r>
                  <a:rPr lang="en-US" altLang="zh-CN" dirty="0" smtClean="0"/>
                  <a:t>(x</a:t>
                </a:r>
                <a:r>
                  <a:rPr lang="zh-CN" altLang="en-US" dirty="0" smtClean="0"/>
                  <a:t>，</a:t>
                </a:r>
                <a:r>
                  <a:rPr lang="en-US" altLang="zh-CN" dirty="0" smtClean="0"/>
                  <a:t>y)</a:t>
                </a:r>
                <a:r>
                  <a:rPr lang="zh-CN" altLang="en-US" dirty="0" smtClean="0"/>
                  <a:t>， 框的宽</a:t>
                </a:r>
                <a:r>
                  <a:rPr lang="en-US" altLang="zh-CN" dirty="0" smtClean="0"/>
                  <a:t>w</a:t>
                </a:r>
                <a:r>
                  <a:rPr lang="zh-CN" altLang="en-US" dirty="0" smtClean="0"/>
                  <a:t>和高</a:t>
                </a:r>
                <a:r>
                  <a:rPr lang="en-US" altLang="zh-CN" dirty="0" smtClean="0"/>
                  <a:t>h</a:t>
                </a:r>
                <a:r>
                  <a:rPr lang="zh-CN" altLang="en-US" dirty="0" smtClean="0"/>
                  <a:t>以及预测框的置信度。预测框的置信度如上文所述，描述的是预测框框中目标的概率以及预测框与真值框的交并比，</a:t>
                </a:r>
                <a:r>
                  <a:rPr lang="en-US" altLang="zh-CN" dirty="0" smtClean="0"/>
                  <a:t>(x, y)</a:t>
                </a:r>
                <a:r>
                  <a:rPr lang="zh-CN" altLang="en-US" dirty="0" smtClean="0"/>
                  <a:t>是当前子图像块的相对坐标，坐标原点位于子图像块的左上角，且坐标值通过除以子图像块的宽、高，进行了归一化处理。</a:t>
                </a:r>
                <a:r>
                  <a:rPr lang="en-US" altLang="zh-CN" dirty="0" smtClean="0"/>
                  <a:t>w</a:t>
                </a:r>
                <a:r>
                  <a:rPr lang="zh-CN" altLang="en-US" dirty="0" smtClean="0"/>
                  <a:t>、</a:t>
                </a:r>
                <a:r>
                  <a:rPr lang="en-US" altLang="zh-CN" dirty="0" smtClean="0"/>
                  <a:t>h</a:t>
                </a:r>
                <a:r>
                  <a:rPr lang="zh-CN" altLang="en-US" dirty="0" smtClean="0"/>
                  <a:t>也是经过归一化处理的宽和高，是将预测框的宽和高，分别除以整幅图像的宽和高得到的。</a:t>
                </a:r>
              </a:p>
              <a:p>
                <a:r>
                  <a:rPr lang="zh-CN" altLang="en-US" dirty="0" smtClean="0"/>
                  <a:t>每个子图像块都会回归</a:t>
                </a:r>
                <a:r>
                  <a:rPr lang="en-US" altLang="zh-CN" dirty="0" smtClean="0"/>
                  <a:t>C</a:t>
                </a:r>
                <a:r>
                  <a:rPr lang="zh-CN" altLang="en-US" dirty="0" smtClean="0"/>
                  <a:t>个条件概率，用</a:t>
                </a:r>
                <a:r>
                  <a:rPr lang="en-US" altLang="zh-CN" dirty="0" err="1" smtClean="0"/>
                  <a:t>Pr</a:t>
                </a:r>
                <a:r>
                  <a:rPr lang="en-US" altLang="zh-CN" dirty="0" smtClean="0"/>
                  <a:t>(</a:t>
                </a:r>
                <a:r>
                  <a:rPr lang="en-US" altLang="zh-CN" dirty="0" err="1" smtClean="0"/>
                  <a:t>Class</a:t>
                </a:r>
                <a:r>
                  <a:rPr lang="en-US" altLang="zh-CN" baseline="-25000" dirty="0" err="1" smtClean="0"/>
                  <a:t>i</a:t>
                </a:r>
                <a:r>
                  <a:rPr lang="en-US" altLang="zh-CN" dirty="0" err="1" smtClean="0"/>
                  <a:t>|Object</a:t>
                </a:r>
                <a:r>
                  <a:rPr lang="en-US" altLang="zh-CN" dirty="0" smtClean="0"/>
                  <a:t>)</a:t>
                </a:r>
                <a:r>
                  <a:rPr lang="zh-CN" altLang="en-US" dirty="0" smtClean="0"/>
                  <a:t>表示，表示在框中目标的前提下，目标属于某个类别的概率。因为</a:t>
                </a:r>
                <a:r>
                  <a:rPr lang="en-US" altLang="zh-CN" dirty="0" smtClean="0"/>
                  <a:t>YOLO</a:t>
                </a:r>
                <a:r>
                  <a:rPr lang="zh-CN" altLang="en-US" dirty="0" smtClean="0"/>
                  <a:t>默认每个子图像块只包含一个目标，所以无论要预测多少个目标框，只需要回归一组条件概率。在测试的时候，由预测框的置信度和条件概率相乘得到最终的置信度，其中融合了位置和类别的信息，可以用下面的公式描述。</a:t>
                </a:r>
                <a:endParaRPr lang="en-US" altLang="zh-CN" dirty="0" smtClean="0"/>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𝑃𝑟</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𝐶𝑙𝑎𝑠𝑠</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𝑂𝑏𝑗𝑒𝑐𝑡</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𝑃𝑟</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𝑂𝑏𝑗𝑒𝑐𝑡</m:t>
                          </m:r>
                        </m:e>
                      </m:d>
                      <m:r>
                        <a:rPr lang="en-US" altLang="zh-CN" b="0" i="1" smtClean="0">
                          <a:latin typeface="Cambria Math" panose="02040503050406030204" pitchFamily="18" charset="0"/>
                          <a:ea typeface="Cambria Math" panose="02040503050406030204" pitchFamily="18" charset="0"/>
                        </a:rPr>
                        <m:t>×</m:t>
                      </m:r>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𝐼𝑜𝑈</m:t>
                          </m:r>
                        </m:e>
                        <m:sub>
                          <m:r>
                            <a:rPr lang="en-US" altLang="zh-CN" b="0" i="1" smtClean="0">
                              <a:latin typeface="Cambria Math" panose="02040503050406030204" pitchFamily="18" charset="0"/>
                              <a:ea typeface="Cambria Math" panose="02040503050406030204" pitchFamily="18" charset="0"/>
                            </a:rPr>
                            <m:t>𝑝𝑟𝑒𝑑</m:t>
                          </m:r>
                        </m:sub>
                        <m:sup>
                          <m:r>
                            <a:rPr lang="en-US" altLang="zh-CN" b="0" i="1" smtClean="0">
                              <a:latin typeface="Cambria Math" panose="02040503050406030204" pitchFamily="18" charset="0"/>
                              <a:ea typeface="Cambria Math" panose="02040503050406030204" pitchFamily="18" charset="0"/>
                            </a:rPr>
                            <m:t>𝑡𝑟𝑢𝑡h</m:t>
                          </m:r>
                        </m:sup>
                      </m:sSub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𝑃𝑟</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𝐶𝑙𝑎𝑠𝑠</m:t>
                              </m:r>
                            </m:e>
                            <m:sub>
                              <m:r>
                                <a:rPr lang="en-US" altLang="zh-CN" b="0" i="1" smtClean="0">
                                  <a:latin typeface="Cambria Math" panose="02040503050406030204" pitchFamily="18" charset="0"/>
                                  <a:ea typeface="Cambria Math" panose="02040503050406030204" pitchFamily="18" charset="0"/>
                                </a:rPr>
                                <m:t>𝑖</m:t>
                              </m:r>
                            </m:sub>
                          </m:sSub>
                        </m:e>
                      </m:d>
                      <m:r>
                        <a:rPr lang="en-US" altLang="zh-CN" b="0" i="1" smtClean="0">
                          <a:latin typeface="Cambria Math" panose="02040503050406030204" pitchFamily="18" charset="0"/>
                          <a:ea typeface="Cambria Math" panose="02040503050406030204" pitchFamily="18" charset="0"/>
                        </a:rPr>
                        <m:t>×</m:t>
                      </m:r>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𝐼𝑜𝑈</m:t>
                          </m:r>
                        </m:e>
                        <m:sub>
                          <m:r>
                            <a:rPr lang="en-US" altLang="zh-CN" b="0" i="1" smtClean="0">
                              <a:latin typeface="Cambria Math" panose="02040503050406030204" pitchFamily="18" charset="0"/>
                              <a:ea typeface="Cambria Math" panose="02040503050406030204" pitchFamily="18" charset="0"/>
                            </a:rPr>
                            <m:t>𝑝𝑟𝑒𝑑</m:t>
                          </m:r>
                        </m:sub>
                        <m:sup>
                          <m:r>
                            <a:rPr lang="en-US" altLang="zh-CN" b="0" i="1" smtClean="0">
                              <a:latin typeface="Cambria Math" panose="02040503050406030204" pitchFamily="18" charset="0"/>
                              <a:ea typeface="Cambria Math" panose="02040503050406030204" pitchFamily="18" charset="0"/>
                            </a:rPr>
                            <m:t>𝑡𝑟𝑢𝑡h</m:t>
                          </m:r>
                        </m:sup>
                      </m:sSubSup>
                    </m:oMath>
                  </m:oMathPara>
                </a14:m>
                <a:endParaRPr lang="zh-CN" altLang="en-US" dirty="0" smtClean="0"/>
              </a:p>
            </p:txBody>
          </p:sp>
        </mc:Choice>
        <mc:Fallback xmlns="">
          <p:sp>
            <p:nvSpPr>
              <p:cNvPr id="3" name="备注占位符 2"/>
              <p:cNvSpPr>
                <a:spLocks noGrp="1"/>
              </p:cNvSpPr>
              <p:nvPr>
                <p:ph type="body" idx="1"/>
              </p:nvPr>
            </p:nvSpPr>
            <p:spPr/>
            <p:txBody>
              <a:bodyPr/>
              <a:lstStyle/>
              <a:p>
                <a:r>
                  <a:rPr lang="en-US" altLang="zh-CN" dirty="0" smtClean="0"/>
                  <a:t>YOLO</a:t>
                </a:r>
                <a:r>
                  <a:rPr lang="zh-CN" altLang="en-US" dirty="0" smtClean="0"/>
                  <a:t>算法通过一个</a:t>
                </a:r>
                <a:r>
                  <a:rPr lang="en-US" altLang="zh-CN" dirty="0" smtClean="0"/>
                  <a:t>S</a:t>
                </a:r>
                <a:r>
                  <a:rPr lang="zh-CN" altLang="en-US" dirty="0" smtClean="0"/>
                  <a:t>行</a:t>
                </a:r>
                <a:r>
                  <a:rPr lang="en-US" altLang="zh-CN" dirty="0" smtClean="0"/>
                  <a:t>×S</a:t>
                </a:r>
                <a:r>
                  <a:rPr lang="zh-CN" altLang="en-US" dirty="0" smtClean="0"/>
                  <a:t>列的均匀网格，将一张输入的图像均匀分成</a:t>
                </a:r>
                <a:r>
                  <a:rPr lang="en-US" altLang="zh-CN" dirty="0" smtClean="0"/>
                  <a:t>S×S</a:t>
                </a:r>
                <a:r>
                  <a:rPr lang="zh-CN" altLang="en-US" dirty="0" smtClean="0"/>
                  <a:t>个子图像块，如果目标的中心点落在某个子图像块内，就认为这个目标归属于这个子图像块，也可以说这个子图像块包含这个目标</a:t>
                </a:r>
                <a:r>
                  <a:rPr lang="en-US" altLang="zh-CN" dirty="0" smtClean="0"/>
                  <a:t>(</a:t>
                </a:r>
                <a:r>
                  <a:rPr lang="zh-CN" altLang="en-US" dirty="0" smtClean="0"/>
                  <a:t>其实是包含目标的中心</a:t>
                </a:r>
                <a:r>
                  <a:rPr lang="en-US" altLang="zh-CN" dirty="0" smtClean="0"/>
                  <a:t>)</a:t>
                </a:r>
                <a:r>
                  <a:rPr lang="zh-CN" altLang="en-US" dirty="0" smtClean="0"/>
                  <a:t>。这里的图中分成了</a:t>
                </a:r>
                <a:r>
                  <a:rPr lang="en-US" altLang="zh-CN" dirty="0" smtClean="0"/>
                  <a:t>7×7=49</a:t>
                </a:r>
                <a:r>
                  <a:rPr lang="zh-CN" altLang="en-US" dirty="0" smtClean="0"/>
                  <a:t>个子图像块。在每一个子图像块中，会预测</a:t>
                </a:r>
                <a:r>
                  <a:rPr lang="en-US" altLang="zh-CN" dirty="0" smtClean="0"/>
                  <a:t>B</a:t>
                </a:r>
                <a:r>
                  <a:rPr lang="zh-CN" altLang="en-US" dirty="0" smtClean="0"/>
                  <a:t>个目标框的坐标以及这</a:t>
                </a:r>
                <a:r>
                  <a:rPr lang="en-US" altLang="zh-CN" dirty="0" smtClean="0"/>
                  <a:t>B</a:t>
                </a:r>
                <a:r>
                  <a:rPr lang="zh-CN" altLang="en-US" dirty="0" smtClean="0"/>
                  <a:t>个目标框框中目标的置信度，这个置信度反映的是当前预测框框中目标的概率以及预测框位置的准确程度。具体可以通过如下公式描述</a:t>
                </a:r>
                <a:r>
                  <a:rPr lang="en-US" altLang="zh-CN" dirty="0" smtClean="0"/>
                  <a:t>:</a:t>
                </a:r>
                <a:r>
                  <a:rPr lang="en-US" altLang="zh-CN" b="0" i="0" smtClean="0">
                    <a:latin typeface="Cambria Math" panose="02040503050406030204" pitchFamily="18" charset="0"/>
                  </a:rPr>
                  <a:t>𝑃=𝑃𝑟(𝑂𝑏𝑗𝑒𝑐𝑡)</a:t>
                </a:r>
                <a:r>
                  <a:rPr lang="en-US" altLang="zh-CN" i="0">
                    <a:latin typeface="Cambria Math" panose="02040503050406030204" pitchFamily="18" charset="0"/>
                  </a:rPr>
                  <a:t>×</a:t>
                </a:r>
                <a:r>
                  <a:rPr lang="en-US" altLang="zh-CN" i="0" smtClean="0">
                    <a:latin typeface="Cambria Math" panose="02040503050406030204" pitchFamily="18" charset="0"/>
                  </a:rPr>
                  <a:t>〖</a:t>
                </a:r>
                <a:r>
                  <a:rPr lang="en-US" altLang="zh-CN" b="0" i="0" smtClean="0">
                    <a:latin typeface="Cambria Math" panose="02040503050406030204" pitchFamily="18" charset="0"/>
                  </a:rPr>
                  <a:t>𝐼𝑜𝑈〗_𝑝𝑟𝑒𝑑^𝑡𝑟𝑢𝑡ℎ</a:t>
                </a:r>
                <a:r>
                  <a:rPr lang="zh-CN" altLang="en-US" b="0" i="0" smtClean="0">
                    <a:latin typeface="Cambria Math" panose="02040503050406030204" pitchFamily="18" charset="0"/>
                  </a:rPr>
                  <a:t> 。</a:t>
                </a:r>
                <a:endParaRPr lang="en-US" altLang="zh-CN" dirty="0" smtClean="0"/>
              </a:p>
              <a:p>
                <a:r>
                  <a:rPr lang="zh-CN" altLang="en-US" dirty="0" smtClean="0"/>
                  <a:t>如果当前预测框没有框中目标，则</a:t>
                </a:r>
                <a:r>
                  <a:rPr lang="en-US" altLang="zh-CN" dirty="0" err="1" smtClean="0"/>
                  <a:t>Pr</a:t>
                </a:r>
                <a:r>
                  <a:rPr lang="en-US" altLang="zh-CN" dirty="0" smtClean="0"/>
                  <a:t>(Object)=0;</a:t>
                </a:r>
                <a:r>
                  <a:rPr lang="zh-CN" altLang="en-US" dirty="0" smtClean="0"/>
                  <a:t>反之，如果当前预测框框中了目标，则</a:t>
                </a:r>
                <a:r>
                  <a:rPr lang="en-US" altLang="zh-CN" dirty="0" err="1" smtClean="0"/>
                  <a:t>Pr</a:t>
                </a:r>
                <a:r>
                  <a:rPr lang="en-US" altLang="zh-CN" dirty="0" smtClean="0"/>
                  <a:t>(Object)=1</a:t>
                </a:r>
                <a:r>
                  <a:rPr lang="zh-CN" altLang="en-US" dirty="0" smtClean="0"/>
                  <a:t>。</a:t>
                </a:r>
              </a:p>
              <a:p>
                <a:r>
                  <a:rPr lang="en-US" altLang="zh-CN" i="0" smtClean="0">
                    <a:latin typeface="Cambria Math" panose="02040503050406030204" pitchFamily="18" charset="0"/>
                  </a:rPr>
                  <a:t>〖</a:t>
                </a:r>
                <a:r>
                  <a:rPr lang="en-US" altLang="zh-CN" b="0" i="0" smtClean="0">
                    <a:latin typeface="Cambria Math" panose="02040503050406030204" pitchFamily="18" charset="0"/>
                  </a:rPr>
                  <a:t>𝐼𝑜𝑈〗_𝑝𝑟𝑒𝑑^𝑡𝑟𝑢𝑡ℎ</a:t>
                </a:r>
                <a:r>
                  <a:rPr lang="zh-CN" altLang="en-US" dirty="0" smtClean="0"/>
                  <a:t>是预测框和目标真值框的交并比，反映预测框和真值框的重合度。这里说明一下何为框中目标，如果一个目标的中心点没有落在当前子图像块内，则这个目标不属于当前子图像块，当前子图像块的预测框不会框中这个目标</a:t>
                </a:r>
                <a:r>
                  <a:rPr lang="en-US" altLang="zh-CN" dirty="0" smtClean="0"/>
                  <a:t>;</a:t>
                </a:r>
                <a:r>
                  <a:rPr lang="zh-CN" altLang="en-US" dirty="0" smtClean="0"/>
                  <a:t>如果一个目标的中心点落在当前子图像块中，就需要分别计算各个预测框与目标真值框的交并比，认为</a:t>
                </a:r>
                <a:r>
                  <a:rPr lang="en-US" altLang="zh-CN" dirty="0" err="1" smtClean="0"/>
                  <a:t>IoU</a:t>
                </a:r>
                <a:r>
                  <a:rPr lang="zh-CN" altLang="en-US" dirty="0" smtClean="0"/>
                  <a:t>最大的预测框框中了目标，其他预测框没有框中目标，其实这个约定并不见得合理，仅是</a:t>
                </a:r>
                <a:r>
                  <a:rPr lang="en-US" altLang="zh-CN" dirty="0" smtClean="0"/>
                  <a:t>YOLO</a:t>
                </a:r>
                <a:r>
                  <a:rPr lang="zh-CN" altLang="en-US" dirty="0" smtClean="0"/>
                  <a:t>的一个策略。另外，如前所述， 因为</a:t>
                </a:r>
                <a:r>
                  <a:rPr lang="en-US" altLang="zh-CN" dirty="0" smtClean="0"/>
                  <a:t>YOLO</a:t>
                </a:r>
                <a:r>
                  <a:rPr lang="zh-CN" altLang="en-US" dirty="0" smtClean="0"/>
                  <a:t>默认图像中的目标都比较大，以至于不会出现一一个子图像块中有多个目标的情况，所以如果有多个非常小的目标的中心落在同一个子图像块内，算法就会出现问题，最终只有一个目标会被检测出来。</a:t>
                </a:r>
                <a:endParaRPr lang="en-US" altLang="zh-CN" dirty="0" smtClean="0"/>
              </a:p>
              <a:p>
                <a:r>
                  <a:rPr lang="zh-CN" altLang="en-US" dirty="0" smtClean="0"/>
                  <a:t>对于每一个预测框，都需要回归框的中心点坐标</a:t>
                </a:r>
                <a:r>
                  <a:rPr lang="en-US" altLang="zh-CN" dirty="0" smtClean="0"/>
                  <a:t>(x</a:t>
                </a:r>
                <a:r>
                  <a:rPr lang="zh-CN" altLang="en-US" dirty="0" smtClean="0"/>
                  <a:t>，</a:t>
                </a:r>
                <a:r>
                  <a:rPr lang="en-US" altLang="zh-CN" dirty="0" smtClean="0"/>
                  <a:t>y)</a:t>
                </a:r>
                <a:r>
                  <a:rPr lang="zh-CN" altLang="en-US" dirty="0" smtClean="0"/>
                  <a:t>， 框的宽</a:t>
                </a:r>
                <a:r>
                  <a:rPr lang="en-US" altLang="zh-CN" dirty="0" smtClean="0"/>
                  <a:t>w</a:t>
                </a:r>
                <a:r>
                  <a:rPr lang="zh-CN" altLang="en-US" dirty="0" smtClean="0"/>
                  <a:t>和高</a:t>
                </a:r>
                <a:r>
                  <a:rPr lang="en-US" altLang="zh-CN" dirty="0" smtClean="0"/>
                  <a:t>h</a:t>
                </a:r>
                <a:r>
                  <a:rPr lang="zh-CN" altLang="en-US" dirty="0" smtClean="0"/>
                  <a:t>以及预测框的置信度。预测框的置信度如上文所述，描述的是预测框框中目标的概率以及预测框与真值框的交并比，</a:t>
                </a:r>
                <a:r>
                  <a:rPr lang="en-US" altLang="zh-CN" dirty="0" smtClean="0"/>
                  <a:t>(x, y)</a:t>
                </a:r>
                <a:r>
                  <a:rPr lang="zh-CN" altLang="en-US" dirty="0" smtClean="0"/>
                  <a:t>是当前子图像块的相对坐标，坐标原点位于子图像块的左上角，且坐标值通过除以子图像块的宽、高，进行了归一化处理。</a:t>
                </a:r>
                <a:r>
                  <a:rPr lang="en-US" altLang="zh-CN" dirty="0" smtClean="0"/>
                  <a:t>w</a:t>
                </a:r>
                <a:r>
                  <a:rPr lang="zh-CN" altLang="en-US" dirty="0" smtClean="0"/>
                  <a:t>、</a:t>
                </a:r>
                <a:r>
                  <a:rPr lang="en-US" altLang="zh-CN" dirty="0" smtClean="0"/>
                  <a:t>h</a:t>
                </a:r>
                <a:r>
                  <a:rPr lang="zh-CN" altLang="en-US" dirty="0" smtClean="0"/>
                  <a:t>也是经过归一化处理的宽和高，是将预测框的宽和高，分别除以整幅图像的宽和高得到的。</a:t>
                </a:r>
              </a:p>
              <a:p>
                <a:r>
                  <a:rPr lang="zh-CN" altLang="en-US" dirty="0" smtClean="0"/>
                  <a:t>每个子图像块都会回归</a:t>
                </a:r>
                <a:r>
                  <a:rPr lang="en-US" altLang="zh-CN" dirty="0" smtClean="0"/>
                  <a:t>C</a:t>
                </a:r>
                <a:r>
                  <a:rPr lang="zh-CN" altLang="en-US" dirty="0" smtClean="0"/>
                  <a:t>个条件概率，用</a:t>
                </a:r>
                <a:r>
                  <a:rPr lang="en-US" altLang="zh-CN" dirty="0" err="1" smtClean="0"/>
                  <a:t>Pr</a:t>
                </a:r>
                <a:r>
                  <a:rPr lang="en-US" altLang="zh-CN" dirty="0" smtClean="0"/>
                  <a:t>(</a:t>
                </a:r>
                <a:r>
                  <a:rPr lang="en-US" altLang="zh-CN" dirty="0" err="1" smtClean="0"/>
                  <a:t>Class</a:t>
                </a:r>
                <a:r>
                  <a:rPr lang="en-US" altLang="zh-CN" baseline="-25000" dirty="0" err="1" smtClean="0"/>
                  <a:t>i</a:t>
                </a:r>
                <a:r>
                  <a:rPr lang="en-US" altLang="zh-CN" dirty="0" err="1" smtClean="0"/>
                  <a:t>|Object</a:t>
                </a:r>
                <a:r>
                  <a:rPr lang="en-US" altLang="zh-CN" dirty="0" smtClean="0"/>
                  <a:t>)</a:t>
                </a:r>
                <a:r>
                  <a:rPr lang="zh-CN" altLang="en-US" dirty="0" smtClean="0"/>
                  <a:t>表示，表示在框中目标的前提下，目标属于某个类别的概率。因为</a:t>
                </a:r>
                <a:r>
                  <a:rPr lang="en-US" altLang="zh-CN" dirty="0" smtClean="0"/>
                  <a:t>YOLO</a:t>
                </a:r>
                <a:r>
                  <a:rPr lang="zh-CN" altLang="en-US" dirty="0" smtClean="0"/>
                  <a:t>默认每个子图像块只包含一个目标，所以无论要预测多少个目标框，只需要回归一组条件概率。在测试的时候，由预测框的置信度和条件概率相乘得到最终的置信度，其中融合了位置和类别的信息，可以用下面的公式描述。</a:t>
                </a:r>
                <a:endParaRPr lang="en-US" altLang="zh-CN" dirty="0" smtClean="0"/>
              </a:p>
              <a:p>
                <a:pPr/>
                <a:r>
                  <a:rPr lang="en-US" altLang="zh-CN" b="0" i="0" smtClean="0">
                    <a:latin typeface="Cambria Math" panose="02040503050406030204" pitchFamily="18" charset="0"/>
                  </a:rPr>
                  <a:t>𝑃𝑟(〖𝐶𝑙𝑎𝑠𝑠〗_𝑖 |𝑂𝑏𝑗𝑒𝑐𝑡)</a:t>
                </a:r>
                <a:r>
                  <a:rPr lang="en-US" altLang="zh-CN" b="0" i="0" smtClean="0">
                    <a:latin typeface="Cambria Math" panose="02040503050406030204" pitchFamily="18" charset="0"/>
                    <a:ea typeface="Cambria Math" panose="02040503050406030204" pitchFamily="18" charset="0"/>
                  </a:rPr>
                  <a:t>×𝑃𝑟(𝑂𝑏𝑗𝑒𝑐𝑡)×〖𝐼𝑜𝑈〗_𝑝𝑟𝑒𝑑^𝑡𝑟𝑢𝑡ℎ=𝑃𝑟(〖𝐶𝑙𝑎𝑠𝑠〗_𝑖 )×〖𝐼𝑜𝑈〗_𝑝𝑟𝑒𝑑^𝑡𝑟𝑢𝑡ℎ</a:t>
                </a:r>
                <a:endParaRPr lang="zh-CN" altLang="en-US" dirty="0" smtClean="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186638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如图所示，测试时将图像分成</a:t>
                </a:r>
                <a:r>
                  <a:rPr lang="en-US" altLang="zh-CN" dirty="0" smtClean="0"/>
                  <a:t>S×S</a:t>
                </a:r>
                <a:r>
                  <a:rPr lang="zh-CN" altLang="en-US" dirty="0" smtClean="0"/>
                  <a:t>个子图像块，总共回归</a:t>
                </a:r>
                <a:r>
                  <a:rPr lang="en-US" altLang="zh-CN" dirty="0" smtClean="0"/>
                  <a:t>S×S×</a:t>
                </a:r>
                <a:r>
                  <a:rPr lang="zh-CN" altLang="en-US" dirty="0" smtClean="0"/>
                  <a:t>（</a:t>
                </a:r>
                <a:r>
                  <a:rPr lang="en-US" altLang="zh-CN" dirty="0" smtClean="0"/>
                  <a:t>B×5+C</a:t>
                </a:r>
                <a:r>
                  <a:rPr lang="zh-CN" altLang="en-US" dirty="0" smtClean="0"/>
                  <a:t>）个参数（</a:t>
                </a:r>
                <a:r>
                  <a:rPr lang="en-US" altLang="zh-CN" dirty="0" smtClean="0"/>
                  <a:t>5</a:t>
                </a:r>
                <a:r>
                  <a:rPr lang="zh-CN" altLang="en-US" dirty="0" smtClean="0"/>
                  <a:t>表示</a:t>
                </a:r>
                <a:r>
                  <a:rPr lang="en-US" altLang="zh-CN" dirty="0" smtClean="0"/>
                  <a:t>4</a:t>
                </a:r>
                <a:r>
                  <a:rPr lang="zh-CN" altLang="en-US" dirty="0" smtClean="0"/>
                  <a:t>个位置参数</a:t>
                </a:r>
                <a:r>
                  <a:rPr lang="en-US" altLang="zh-CN" dirty="0" err="1" smtClean="0"/>
                  <a:t>x,y,w,h</a:t>
                </a:r>
                <a:r>
                  <a:rPr lang="zh-CN" altLang="en-US" dirty="0" smtClean="0"/>
                  <a:t>和</a:t>
                </a:r>
                <a:r>
                  <a:rPr lang="en-US" altLang="zh-CN" dirty="0" smtClean="0"/>
                  <a:t>1</a:t>
                </a:r>
                <a:r>
                  <a:rPr lang="zh-CN" altLang="en-US" dirty="0" smtClean="0"/>
                  <a:t>个置信度），基于回归的结果，分别计算每个框的</a:t>
                </a:r>
                <a14:m>
                  <m:oMath xmlns:m="http://schemas.openxmlformats.org/officeDocument/2006/math">
                    <m:r>
                      <a:rPr lang="en-US" altLang="zh-CN" i="1" smtClean="0">
                        <a:latin typeface="Cambria Math" panose="02040503050406030204" pitchFamily="18" charset="0"/>
                      </a:rPr>
                      <m:t>𝑃𝑟</m:t>
                    </m:r>
                    <m:d>
                      <m:dPr>
                        <m:ctrlPr>
                          <a:rPr lang="en-US" altLang="zh-CN" i="1">
                            <a:latin typeface="Cambria Math" panose="02040503050406030204" pitchFamily="18" charset="0"/>
                          </a:rPr>
                        </m:ctrlPr>
                      </m:dPr>
                      <m:e>
                        <m:r>
                          <a:rPr lang="en-US" altLang="zh-CN" i="1">
                            <a:latin typeface="Cambria Math" panose="02040503050406030204" pitchFamily="18" charset="0"/>
                          </a:rPr>
                          <m:t>𝑂𝑏𝑗𝑒𝑐𝑡</m:t>
                        </m:r>
                      </m:e>
                    </m:d>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𝐼𝑜𝑈</m:t>
                        </m:r>
                      </m:e>
                      <m:sub>
                        <m:r>
                          <a:rPr lang="en-US" altLang="zh-CN" i="1">
                            <a:latin typeface="Cambria Math" panose="02040503050406030204" pitchFamily="18" charset="0"/>
                          </a:rPr>
                          <m:t>𝑝𝑟𝑒𝑑</m:t>
                        </m:r>
                      </m:sub>
                      <m:sup>
                        <m:r>
                          <a:rPr lang="en-US" altLang="zh-CN" i="1">
                            <a:latin typeface="Cambria Math" panose="02040503050406030204" pitchFamily="18" charset="0"/>
                          </a:rPr>
                          <m:t>𝑡𝑟𝑢𝑡h</m:t>
                        </m:r>
                      </m:sup>
                    </m:sSubSup>
                  </m:oMath>
                </a14:m>
                <a:r>
                  <a:rPr lang="zh-CN" altLang="en-US" smtClean="0"/>
                  <a:t>的值，当该值为所在子块中的最大值，且大于预设的检出阈值时，输出对应的预测框。</a:t>
                </a:r>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如图所示，测试时将图像分成</a:t>
                </a:r>
                <a:r>
                  <a:rPr lang="en-US" altLang="zh-CN" dirty="0" smtClean="0"/>
                  <a:t>S×S</a:t>
                </a:r>
                <a:r>
                  <a:rPr lang="zh-CN" altLang="en-US" dirty="0" smtClean="0"/>
                  <a:t>个子图像块，总共回归</a:t>
                </a:r>
                <a:r>
                  <a:rPr lang="en-US" altLang="zh-CN" dirty="0" smtClean="0"/>
                  <a:t>S×S×</a:t>
                </a:r>
                <a:r>
                  <a:rPr lang="zh-CN" altLang="en-US" dirty="0" smtClean="0"/>
                  <a:t>（</a:t>
                </a:r>
                <a:r>
                  <a:rPr lang="en-US" altLang="zh-CN" dirty="0" smtClean="0"/>
                  <a:t>B×5+C</a:t>
                </a:r>
                <a:r>
                  <a:rPr lang="zh-CN" altLang="en-US" dirty="0" smtClean="0"/>
                  <a:t>）个参数（</a:t>
                </a:r>
                <a:r>
                  <a:rPr lang="en-US" altLang="zh-CN" dirty="0" smtClean="0"/>
                  <a:t>5</a:t>
                </a:r>
                <a:r>
                  <a:rPr lang="zh-CN" altLang="en-US" dirty="0" smtClean="0"/>
                  <a:t>表示</a:t>
                </a:r>
                <a:r>
                  <a:rPr lang="en-US" altLang="zh-CN" dirty="0" smtClean="0"/>
                  <a:t>4</a:t>
                </a:r>
                <a:r>
                  <a:rPr lang="zh-CN" altLang="en-US" dirty="0" smtClean="0"/>
                  <a:t>个位置参数</a:t>
                </a:r>
                <a:r>
                  <a:rPr lang="en-US" altLang="zh-CN" dirty="0" err="1" smtClean="0"/>
                  <a:t>x,y,w,h</a:t>
                </a:r>
                <a:r>
                  <a:rPr lang="zh-CN" altLang="en-US" dirty="0" smtClean="0"/>
                  <a:t>和</a:t>
                </a:r>
                <a:r>
                  <a:rPr lang="en-US" altLang="zh-CN" dirty="0" smtClean="0"/>
                  <a:t>1</a:t>
                </a:r>
                <a:r>
                  <a:rPr lang="zh-CN" altLang="en-US" dirty="0" smtClean="0"/>
                  <a:t>个置信度），基于回归的结果，分别计算每个框的</a:t>
                </a:r>
                <a:r>
                  <a:rPr lang="en-US" altLang="zh-CN" i="0" smtClean="0">
                    <a:latin typeface="Cambria Math" panose="02040503050406030204" pitchFamily="18" charset="0"/>
                  </a:rPr>
                  <a:t>𝑃𝑟</a:t>
                </a:r>
                <a:r>
                  <a:rPr lang="en-US" altLang="zh-CN" i="0">
                    <a:latin typeface="Cambria Math" panose="02040503050406030204" pitchFamily="18" charset="0"/>
                  </a:rPr>
                  <a:t>(𝑂𝑏𝑗𝑒𝑐𝑡)×〖𝐼𝑜𝑈〗_𝑝𝑟𝑒𝑑^𝑡𝑟𝑢𝑡ℎ</a:t>
                </a:r>
                <a:r>
                  <a:rPr lang="zh-CN" altLang="en-US" smtClean="0"/>
                  <a:t>的值，当该值为所在子块中的最大值，且大于预设的检出阈值时，输出对应的预测框。</a:t>
                </a:r>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57516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下面基于</a:t>
            </a:r>
            <a:r>
              <a:rPr lang="en-US" altLang="zh-CN" dirty="0" smtClean="0"/>
              <a:t>PASCAL VOC</a:t>
            </a:r>
            <a:r>
              <a:rPr lang="zh-CN" altLang="en-US" dirty="0" smtClean="0"/>
              <a:t>数据集，介绍</a:t>
            </a:r>
            <a:r>
              <a:rPr lang="en-US" altLang="zh-CN" dirty="0" smtClean="0"/>
              <a:t>YOLO</a:t>
            </a:r>
            <a:r>
              <a:rPr lang="zh-CN" altLang="en-US" dirty="0" smtClean="0"/>
              <a:t>第一版的训练方法。取</a:t>
            </a:r>
            <a:r>
              <a:rPr lang="en-US" altLang="zh-CN" dirty="0" smtClean="0"/>
              <a:t>S=7</a:t>
            </a:r>
            <a:r>
              <a:rPr lang="zh-CN" altLang="en-US" dirty="0" smtClean="0"/>
              <a:t>、</a:t>
            </a:r>
            <a:r>
              <a:rPr lang="en-US" altLang="zh-CN" dirty="0" smtClean="0"/>
              <a:t>B=2</a:t>
            </a:r>
            <a:r>
              <a:rPr lang="zh-CN" altLang="en-US" dirty="0" smtClean="0"/>
              <a:t>，则图像被划分成</a:t>
            </a:r>
            <a:r>
              <a:rPr lang="en-US" altLang="zh-CN" dirty="0" smtClean="0"/>
              <a:t>7×7</a:t>
            </a:r>
            <a:r>
              <a:rPr lang="zh-CN" altLang="en-US" dirty="0" smtClean="0"/>
              <a:t>个子图像块，每个子图像块需要预测</a:t>
            </a:r>
            <a:r>
              <a:rPr lang="en-US" altLang="zh-CN" dirty="0" smtClean="0"/>
              <a:t>2</a:t>
            </a:r>
            <a:r>
              <a:rPr lang="zh-CN" altLang="en-US" dirty="0" smtClean="0"/>
              <a:t>个目标框。</a:t>
            </a:r>
            <a:r>
              <a:rPr lang="en-US" altLang="zh-CN" dirty="0" smtClean="0"/>
              <a:t>PASCAL VOC</a:t>
            </a:r>
            <a:r>
              <a:rPr lang="zh-CN" altLang="en-US" dirty="0" smtClean="0"/>
              <a:t>数据集有</a:t>
            </a:r>
            <a:r>
              <a:rPr lang="en-US" altLang="zh-CN" dirty="0" smtClean="0"/>
              <a:t>20</a:t>
            </a:r>
            <a:r>
              <a:rPr lang="zh-CN" altLang="en-US" dirty="0" smtClean="0"/>
              <a:t>个类别，则最后需要回归的参数数量为</a:t>
            </a:r>
            <a:r>
              <a:rPr lang="en-US" altLang="zh-CN" dirty="0" smtClean="0"/>
              <a:t>7×7×[2×(4+1)+20]=7×7×30</a:t>
            </a:r>
            <a:r>
              <a:rPr lang="zh-CN" altLang="en-US" dirty="0" smtClean="0"/>
              <a:t>，其中</a:t>
            </a:r>
            <a:r>
              <a:rPr lang="en-US" altLang="zh-CN" dirty="0" smtClean="0"/>
              <a:t>7×7</a:t>
            </a:r>
            <a:r>
              <a:rPr lang="zh-CN" altLang="en-US" dirty="0" smtClean="0"/>
              <a:t>为子图像块的数量，</a:t>
            </a:r>
            <a:r>
              <a:rPr lang="en-US" altLang="zh-CN" dirty="0" smtClean="0"/>
              <a:t>2</a:t>
            </a:r>
            <a:r>
              <a:rPr lang="zh-CN" altLang="en-US" dirty="0" smtClean="0"/>
              <a:t>为每个子图像块需要预测的框的数量，</a:t>
            </a:r>
            <a:r>
              <a:rPr lang="en-US" altLang="zh-CN" dirty="0" smtClean="0"/>
              <a:t>4+1</a:t>
            </a:r>
            <a:r>
              <a:rPr lang="zh-CN" altLang="en-US" dirty="0" smtClean="0"/>
              <a:t>代表框的位置参数</a:t>
            </a:r>
            <a:r>
              <a:rPr lang="en-US" altLang="zh-CN" dirty="0" err="1" smtClean="0"/>
              <a:t>x,y,w,h</a:t>
            </a:r>
            <a:r>
              <a:rPr lang="zh-CN" altLang="en-US" dirty="0" smtClean="0"/>
              <a:t>以及</a:t>
            </a:r>
            <a:r>
              <a:rPr lang="en-US" altLang="zh-CN" dirty="0" smtClean="0"/>
              <a:t>1</a:t>
            </a:r>
            <a:r>
              <a:rPr lang="zh-CN" altLang="en-US" dirty="0" smtClean="0"/>
              <a:t>个框的置信度，</a:t>
            </a:r>
            <a:r>
              <a:rPr lang="en-US" altLang="zh-CN" dirty="0" smtClean="0"/>
              <a:t>20</a:t>
            </a:r>
            <a:r>
              <a:rPr lang="zh-CN" altLang="en-US" dirty="0" smtClean="0"/>
              <a:t>表示</a:t>
            </a:r>
            <a:r>
              <a:rPr lang="en-US" altLang="zh-CN" dirty="0" smtClean="0"/>
              <a:t>20</a:t>
            </a:r>
            <a:r>
              <a:rPr lang="zh-CN" altLang="en-US" dirty="0" smtClean="0"/>
              <a:t>个类别的分类概率。</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13559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YOLO</a:t>
            </a:r>
            <a:r>
              <a:rPr lang="zh-CN" altLang="en-US" dirty="0" smtClean="0"/>
              <a:t>第一版的网络结构如图所示，借鉴了</a:t>
            </a:r>
            <a:r>
              <a:rPr lang="en-US" altLang="zh-CN" dirty="0" err="1" smtClean="0"/>
              <a:t>GoogleNet</a:t>
            </a:r>
            <a:r>
              <a:rPr lang="zh-CN" altLang="en-US" dirty="0" smtClean="0"/>
              <a:t>的结构，先通过</a:t>
            </a:r>
            <a:r>
              <a:rPr lang="en-US" altLang="zh-CN" dirty="0" smtClean="0"/>
              <a:t>24</a:t>
            </a:r>
            <a:r>
              <a:rPr lang="zh-CN" altLang="en-US" dirty="0" smtClean="0"/>
              <a:t>个卷积层提取特征，然后</a:t>
            </a:r>
            <a:r>
              <a:rPr lang="en-US" altLang="zh-CN" dirty="0" smtClean="0"/>
              <a:t>2</a:t>
            </a:r>
            <a:r>
              <a:rPr lang="zh-CN" altLang="en-US" dirty="0" smtClean="0"/>
              <a:t>层使用全连接层回归框的坐标、置信度以及分类概率，最后输出的参数工</a:t>
            </a:r>
            <a:r>
              <a:rPr lang="en-US" altLang="zh-CN" dirty="0" smtClean="0"/>
              <a:t>7×7×30</a:t>
            </a:r>
            <a:r>
              <a:rPr lang="zh-CN" altLang="en-US" dirty="0" smtClean="0"/>
              <a:t>维。因为网络最后</a:t>
            </a:r>
            <a:r>
              <a:rPr lang="en-US" altLang="zh-CN" dirty="0" smtClean="0"/>
              <a:t>2</a:t>
            </a:r>
            <a:r>
              <a:rPr lang="zh-CN" altLang="en-US" dirty="0" smtClean="0"/>
              <a:t>层是全连接层，所以要求整个网络具有固定尺度的输入。（图中的</a:t>
            </a:r>
            <a:r>
              <a:rPr lang="en-US" altLang="zh-CN" dirty="0" smtClean="0"/>
              <a:t>-s-</a:t>
            </a:r>
            <a:r>
              <a:rPr lang="zh-CN" altLang="en-US" dirty="0" smtClean="0"/>
              <a:t>代表除）</a:t>
            </a:r>
            <a:endParaRPr lang="en-US" altLang="zh-CN" dirty="0" smtClean="0"/>
          </a:p>
          <a:p>
            <a:r>
              <a:rPr lang="zh-CN" altLang="en-US" dirty="0" smtClean="0"/>
              <a:t>训练模型时，仍然采用基于</a:t>
            </a:r>
            <a:r>
              <a:rPr lang="en-US" altLang="zh-CN" dirty="0" err="1" smtClean="0"/>
              <a:t>ImageNet</a:t>
            </a:r>
            <a:r>
              <a:rPr lang="zh-CN" altLang="en-US" dirty="0" smtClean="0"/>
              <a:t>分类数据集进行预训练的方式。取上述网络的前</a:t>
            </a:r>
            <a:r>
              <a:rPr lang="en-US" altLang="zh-CN" dirty="0" smtClean="0"/>
              <a:t>20</a:t>
            </a:r>
            <a:r>
              <a:rPr lang="zh-CN" altLang="en-US" dirty="0" smtClean="0"/>
              <a:t>个卷积层，后面接一个全连接层训练分类模型。在这个过程中，用于分类模型训练的图像尺度为</a:t>
            </a:r>
            <a:r>
              <a:rPr lang="en-US" altLang="zh-CN" dirty="0" smtClean="0"/>
              <a:t>224×224</a:t>
            </a:r>
            <a:r>
              <a:rPr lang="zh-CN" altLang="en-US" dirty="0" smtClean="0"/>
              <a:t>。分类模型训练完成后，在</a:t>
            </a:r>
            <a:r>
              <a:rPr lang="en-US" altLang="zh-CN" dirty="0" smtClean="0"/>
              <a:t>20</a:t>
            </a:r>
            <a:r>
              <a:rPr lang="zh-CN" altLang="en-US" dirty="0" smtClean="0"/>
              <a:t>个预训练的卷积层之后加上</a:t>
            </a:r>
            <a:r>
              <a:rPr lang="en-US" altLang="zh-CN" dirty="0" smtClean="0"/>
              <a:t>4</a:t>
            </a:r>
            <a:r>
              <a:rPr lang="zh-CN" altLang="en-US" dirty="0" smtClean="0"/>
              <a:t>个新的卷积层和</a:t>
            </a:r>
            <a:r>
              <a:rPr lang="en-US" altLang="zh-CN" dirty="0" smtClean="0"/>
              <a:t>2</a:t>
            </a:r>
            <a:r>
              <a:rPr lang="zh-CN" altLang="en-US" dirty="0" smtClean="0"/>
              <a:t>个全连接层，构造</a:t>
            </a:r>
            <a:r>
              <a:rPr lang="en-US" altLang="zh-CN" dirty="0" smtClean="0"/>
              <a:t>YOLO</a:t>
            </a:r>
            <a:r>
              <a:rPr lang="zh-CN" altLang="en-US" dirty="0" smtClean="0"/>
              <a:t>网络，其中</a:t>
            </a:r>
            <a:r>
              <a:rPr lang="en-US" altLang="zh-CN" dirty="0" smtClean="0"/>
              <a:t>4</a:t>
            </a:r>
            <a:r>
              <a:rPr lang="zh-CN" altLang="en-US" dirty="0" smtClean="0"/>
              <a:t>个卷积层和</a:t>
            </a:r>
            <a:r>
              <a:rPr lang="en-US" altLang="zh-CN" dirty="0" smtClean="0"/>
              <a:t>2</a:t>
            </a:r>
            <a:r>
              <a:rPr lang="zh-CN" altLang="en-US" dirty="0" smtClean="0"/>
              <a:t>个新的全连接层的参数可以通过随机的方式进行初始化，为了使用更加精细的信息，</a:t>
            </a:r>
            <a:r>
              <a:rPr lang="en-US" altLang="zh-CN" dirty="0" smtClean="0"/>
              <a:t>YOLO</a:t>
            </a:r>
            <a:r>
              <a:rPr lang="zh-CN" altLang="en-US" dirty="0" smtClean="0"/>
              <a:t>第一版网络适配了全连接层的尺度，使得输入的图像尺度为</a:t>
            </a:r>
            <a:r>
              <a:rPr lang="en-US" altLang="zh-CN" dirty="0" smtClean="0"/>
              <a:t>448×448</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242151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损失函数</a:t>
                </a:r>
                <a:r>
                  <a:rPr lang="en-US" altLang="zh-CN" dirty="0" smtClean="0"/>
                  <a:t>L=</a:t>
                </a:r>
                <a:r>
                  <a:rPr lang="zh-CN" altLang="en-US" dirty="0" smtClean="0"/>
                  <a:t>坐标损失</a:t>
                </a:r>
                <a:r>
                  <a:rPr lang="en-US" altLang="zh-CN" dirty="0" smtClean="0"/>
                  <a:t>+</a:t>
                </a:r>
                <a:r>
                  <a:rPr lang="zh-CN" altLang="en-US" dirty="0" smtClean="0"/>
                  <a:t>置信度损失</a:t>
                </a:r>
                <a:r>
                  <a:rPr lang="en-US" altLang="zh-CN" dirty="0" smtClean="0"/>
                  <a:t>+</a:t>
                </a:r>
                <a:r>
                  <a:rPr lang="zh-CN" altLang="en-US" dirty="0" smtClean="0"/>
                  <a:t>预测类别损失。</a:t>
                </a:r>
                <a:endParaRPr lang="en-US" altLang="zh-CN" dirty="0" smtClean="0"/>
              </a:p>
              <a:p>
                <a:r>
                  <a:rPr lang="en-US" altLang="zh-CN" dirty="0" smtClean="0"/>
                  <a:t>YOLO</a:t>
                </a:r>
                <a:r>
                  <a:rPr lang="zh-CN" altLang="en-US" dirty="0" smtClean="0"/>
                  <a:t>第一版中有个并不合理的默认假设，就是一个子图像块中最多只能包含一个目标，因此</a:t>
                </a:r>
                <a:r>
                  <a:rPr lang="en-US" altLang="zh-CN" dirty="0" smtClean="0"/>
                  <a:t>YOLO</a:t>
                </a:r>
                <a:r>
                  <a:rPr lang="zh-CN" altLang="en-US" dirty="0" smtClean="0"/>
                  <a:t>第一版不适合小目标的检测场景。另外，</a:t>
                </a:r>
                <a:r>
                  <a:rPr lang="en-US" altLang="zh-CN" dirty="0" smtClean="0"/>
                  <a:t>YOLO</a:t>
                </a:r>
                <a:r>
                  <a:rPr lang="zh-CN" altLang="en-US" dirty="0" smtClean="0"/>
                  <a:t>第一版中约定了每个子图像块中与目标框</a:t>
                </a:r>
                <a:r>
                  <a:rPr lang="en-US" altLang="zh-CN" dirty="0" err="1" smtClean="0"/>
                  <a:t>IoU</a:t>
                </a:r>
                <a:r>
                  <a:rPr lang="zh-CN" altLang="en-US" dirty="0" smtClean="0"/>
                  <a:t>最大的预测框是框中目标的，其余的预测框认为未框中目标。</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sSubSup>
                      <m:sSubSupPr>
                        <m:ctrlPr>
                          <a:rPr lang="en-US" altLang="zh-CN" i="1" smtClean="0">
                            <a:latin typeface="Cambria Math" panose="02040503050406030204" pitchFamily="18" charset="0"/>
                          </a:rPr>
                        </m:ctrlPr>
                      </m:sSubSupPr>
                      <m:e>
                        <m:r>
                          <m:rPr>
                            <m:nor/>
                          </m:rPr>
                          <a:rPr lang="en-US" altLang="zh-CN"/>
                          <m:t>Ⅱ</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𝑜𝑏𝑗</m:t>
                        </m:r>
                      </m:sup>
                    </m:sSubSup>
                  </m:oMath>
                </a14:m>
                <a:r>
                  <a:rPr lang="zh-CN" altLang="en-US" dirty="0" smtClean="0"/>
                  <a:t>是指示函数，当第</a:t>
                </a:r>
                <a:r>
                  <a:rPr lang="en-US" altLang="zh-CN" dirty="0" err="1" smtClean="0"/>
                  <a:t>i</a:t>
                </a:r>
                <a:r>
                  <a:rPr lang="zh-CN" altLang="en-US" dirty="0" smtClean="0"/>
                  <a:t>个子图像块的第</a:t>
                </a:r>
                <a:r>
                  <a:rPr lang="en-US" altLang="zh-CN" dirty="0" smtClean="0"/>
                  <a:t>j</a:t>
                </a:r>
                <a:r>
                  <a:rPr lang="zh-CN" altLang="en-US" dirty="0" smtClean="0"/>
                  <a:t>个预测框框中目标时，</a:t>
                </a:r>
                <a14:m>
                  <m:oMath xmlns:m="http://schemas.openxmlformats.org/officeDocument/2006/math">
                    <m:sSubSup>
                      <m:sSubSupPr>
                        <m:ctrlPr>
                          <a:rPr lang="en-US" altLang="zh-CN" i="1" smtClean="0">
                            <a:latin typeface="Cambria Math" panose="02040503050406030204" pitchFamily="18" charset="0"/>
                          </a:rPr>
                        </m:ctrlPr>
                      </m:sSubSupPr>
                      <m:e>
                        <m:r>
                          <m:rPr>
                            <m:nor/>
                          </m:rPr>
                          <a:rPr lang="en-US" altLang="zh-CN"/>
                          <m:t>Ⅱ</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𝑜𝑏𝑗</m:t>
                        </m:r>
                      </m:sup>
                    </m:sSubSup>
                  </m:oMath>
                </a14:m>
                <a:r>
                  <a:rPr lang="en-US" altLang="zh-CN" dirty="0" smtClean="0"/>
                  <a:t>=1</a:t>
                </a:r>
                <a:r>
                  <a:rPr lang="zh-CN" altLang="en-US" dirty="0" smtClean="0"/>
                  <a:t>，否则</a:t>
                </a:r>
                <a14:m>
                  <m:oMath xmlns:m="http://schemas.openxmlformats.org/officeDocument/2006/math">
                    <m:sSubSup>
                      <m:sSubSupPr>
                        <m:ctrlPr>
                          <a:rPr lang="en-US" altLang="zh-CN" i="1" smtClean="0">
                            <a:latin typeface="Cambria Math" panose="02040503050406030204" pitchFamily="18" charset="0"/>
                          </a:rPr>
                        </m:ctrlPr>
                      </m:sSubSupPr>
                      <m:e>
                        <m:r>
                          <m:rPr>
                            <m:nor/>
                          </m:rPr>
                          <a:rPr lang="en-US" altLang="zh-CN"/>
                          <m:t>Ⅱ</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𝑜𝑏𝑗</m:t>
                        </m:r>
                      </m:sup>
                    </m:sSubSup>
                  </m:oMath>
                </a14:m>
                <a:r>
                  <a:rPr lang="en-US" altLang="zh-CN" dirty="0" smtClean="0"/>
                  <a:t>=0</a:t>
                </a:r>
                <a:r>
                  <a:rPr lang="zh-CN" altLang="en-US" dirty="0" smtClean="0"/>
                  <a:t>。所以图中前三行表示包含目标的框的位置损失和置信度损失，如前所述，公式中</a:t>
                </a:r>
                <a:r>
                  <a:rPr lang="en-US" altLang="zh-CN" dirty="0" err="1" smtClean="0"/>
                  <a:t>x,y</a:t>
                </a:r>
                <a:r>
                  <a:rPr lang="zh-CN" altLang="en-US" dirty="0" smtClean="0"/>
                  <a:t>和</a:t>
                </a:r>
                <a14:m>
                  <m:oMath xmlns:m="http://schemas.openxmlformats.org/officeDocument/2006/math">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𝑥</m:t>
                        </m:r>
                      </m:e>
                    </m:acc>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𝑦</m:t>
                        </m:r>
                      </m:e>
                    </m:acc>
                    <m:r>
                      <a:rPr lang="zh-CN" altLang="en-US" b="0" i="1" smtClean="0">
                        <a:latin typeface="Cambria Math" panose="02040503050406030204" pitchFamily="18" charset="0"/>
                      </a:rPr>
                      <m:t>分别</m:t>
                    </m:r>
                  </m:oMath>
                </a14:m>
                <a:r>
                  <a:rPr lang="zh-CN" altLang="en-US" dirty="0" smtClean="0"/>
                  <a:t>表示预测框和目标框的中心点相对于子图像块的归一化坐标，</a:t>
                </a:r>
                <a:r>
                  <a:rPr lang="en-US" altLang="zh-CN" dirty="0" err="1" smtClean="0"/>
                  <a:t>w,h</a:t>
                </a:r>
                <a:r>
                  <a:rPr lang="zh-CN" altLang="en-US" dirty="0" smtClean="0"/>
                  <a:t>和</a:t>
                </a:r>
                <a14:m>
                  <m:oMath xmlns:m="http://schemas.openxmlformats.org/officeDocument/2006/math">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𝑤</m:t>
                        </m:r>
                      </m:e>
                    </m:acc>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h</m:t>
                        </m:r>
                      </m:e>
                    </m:acc>
                  </m:oMath>
                </a14:m>
                <a:r>
                  <a:rPr lang="zh-CN" altLang="en-US" dirty="0" smtClean="0"/>
                  <a:t>分别表示预测框和目标框相对于整幅图像的宽和高的归一化宽和高。这部分仅将框中目标的预测框的损失进行计算和梯度回传；图中第</a:t>
                </a:r>
                <a:r>
                  <a:rPr lang="en-US" altLang="zh-CN" dirty="0" smtClean="0"/>
                  <a:t>4</a:t>
                </a:r>
                <a:r>
                  <a:rPr lang="zh-CN" altLang="en-US" dirty="0" smtClean="0"/>
                  <a:t>行表示未包含目标的预测框的置信度损失，因为没有目标，其框中目标的置信度</a:t>
                </a:r>
                <a14:m>
                  <m:oMath xmlns:m="http://schemas.openxmlformats.org/officeDocument/2006/math">
                    <m:acc>
                      <m:accPr>
                        <m:chr m:val="̂"/>
                        <m:ctrlPr>
                          <a:rPr lang="zh-CN" altLang="en-US" i="1" smtClean="0">
                            <a:latin typeface="Cambria Math" panose="02040503050406030204" pitchFamily="18" charset="0"/>
                          </a:rPr>
                        </m:ctrlPr>
                      </m:acc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𝑖</m:t>
                            </m:r>
                          </m:sub>
                        </m:sSub>
                      </m:e>
                    </m:acc>
                  </m:oMath>
                </a14:m>
                <a:r>
                  <a:rPr lang="zh-CN" altLang="en-US" dirty="0" smtClean="0"/>
                  <a:t>的值为</a:t>
                </a:r>
                <a:r>
                  <a:rPr lang="en-US" altLang="zh-CN" dirty="0" smtClean="0"/>
                  <a:t>0</a:t>
                </a:r>
                <a:r>
                  <a:rPr lang="zh-CN" altLang="en-US" dirty="0" smtClean="0"/>
                  <a:t>；图中最后一行表示包含目标的分类损失。</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如果只是简单的把它们相加，</a:t>
                </a:r>
                <a:r>
                  <a:rPr lang="en-US" altLang="zh-CN" sz="1200" b="0" i="0" kern="1200" dirty="0" smtClean="0">
                    <a:solidFill>
                      <a:schemeClr val="tx1"/>
                    </a:solidFill>
                    <a:effectLst/>
                    <a:latin typeface="+mn-lt"/>
                    <a:ea typeface="+mn-ea"/>
                    <a:cs typeface="+mn-cs"/>
                  </a:rPr>
                  <a:t>8</a:t>
                </a:r>
                <a:r>
                  <a:rPr lang="zh-CN" altLang="en-US" sz="1200" b="0" i="0" kern="1200" dirty="0" smtClean="0">
                    <a:solidFill>
                      <a:schemeClr val="tx1"/>
                    </a:solidFill>
                    <a:effectLst/>
                    <a:latin typeface="+mn-lt"/>
                    <a:ea typeface="+mn-ea"/>
                    <a:cs typeface="+mn-cs"/>
                  </a:rPr>
                  <a:t>维的坐标损失和</a:t>
                </a:r>
                <a:r>
                  <a:rPr lang="en-US" altLang="zh-CN" sz="1200" b="0" i="0" kern="1200" dirty="0" smtClean="0">
                    <a:solidFill>
                      <a:schemeClr val="tx1"/>
                    </a:solidFill>
                    <a:effectLst/>
                    <a:latin typeface="+mn-lt"/>
                    <a:ea typeface="+mn-ea"/>
                    <a:cs typeface="+mn-cs"/>
                  </a:rPr>
                  <a:t>20</a:t>
                </a:r>
                <a:r>
                  <a:rPr lang="zh-CN" altLang="en-US" sz="1200" b="0" i="0" kern="1200" dirty="0" smtClean="0">
                    <a:solidFill>
                      <a:schemeClr val="tx1"/>
                    </a:solidFill>
                    <a:effectLst/>
                    <a:latin typeface="+mn-lt"/>
                    <a:ea typeface="+mn-ea"/>
                    <a:cs typeface="+mn-cs"/>
                  </a:rPr>
                  <a:t>维的分类损失同等重要显然是不合理的。如果一些框没有目标（一幅图中这种框很多），那么就会将这些框的置信度设置为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，相比于数量较少的有目标的框，这些不包含目标的框对梯度更新的贡献更大，导致网络不稳定甚至发散。因此引入了</a:t>
                </a:r>
                <a:r>
                  <a:rPr lang="el-GR" altLang="zh-CN" sz="1200" b="0" i="0" kern="1200" dirty="0" smtClean="0">
                    <a:solidFill>
                      <a:schemeClr val="tx1"/>
                    </a:solidFill>
                    <a:effectLst/>
                    <a:latin typeface="+mn-lt"/>
                    <a:ea typeface="+mn-ea"/>
                    <a:cs typeface="+mn-cs"/>
                  </a:rPr>
                  <a:t>λ</a:t>
                </a:r>
                <a:r>
                  <a:rPr lang="zh-CN" altLang="en-US" sz="1200" b="0" i="0" kern="1200" dirty="0" smtClean="0">
                    <a:solidFill>
                      <a:schemeClr val="tx1"/>
                    </a:solidFill>
                    <a:effectLst/>
                    <a:latin typeface="+mn-lt"/>
                    <a:ea typeface="+mn-ea"/>
                    <a:cs typeface="+mn-cs"/>
                  </a:rPr>
                  <a:t>表示加权系数，用于平衡各部分损失的比例。图中引入了两个</a:t>
                </a:r>
                <a:r>
                  <a:rPr lang="el-GR" altLang="zh-CN" sz="1200" b="0" i="0" kern="1200" dirty="0" smtClean="0">
                    <a:solidFill>
                      <a:schemeClr val="tx1"/>
                    </a:solidFill>
                    <a:effectLst/>
                    <a:latin typeface="+mn-lt"/>
                    <a:ea typeface="+mn-ea"/>
                    <a:cs typeface="+mn-cs"/>
                  </a:rPr>
                  <a:t>λ</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λcoord</a:t>
                </a:r>
                <a:r>
                  <a:rPr lang="zh-CN" altLang="en-US" sz="1200" b="0" i="0" kern="1200" dirty="0" smtClean="0">
                    <a:solidFill>
                      <a:schemeClr val="tx1"/>
                    </a:solidFill>
                    <a:effectLst/>
                    <a:latin typeface="+mn-lt"/>
                    <a:ea typeface="+mn-ea"/>
                    <a:cs typeface="+mn-cs"/>
                  </a:rPr>
                  <a:t>更重视</a:t>
                </a:r>
                <a:r>
                  <a:rPr lang="en-US" altLang="zh-CN" sz="1200" b="0" i="0" kern="1200" dirty="0" smtClean="0">
                    <a:solidFill>
                      <a:schemeClr val="tx1"/>
                    </a:solidFill>
                    <a:effectLst/>
                    <a:latin typeface="+mn-lt"/>
                    <a:ea typeface="+mn-ea"/>
                    <a:cs typeface="+mn-cs"/>
                  </a:rPr>
                  <a:t>8</a:t>
                </a:r>
                <a:r>
                  <a:rPr lang="zh-CN" altLang="en-US" sz="1200" b="0" i="0" kern="1200" dirty="0" smtClean="0">
                    <a:solidFill>
                      <a:schemeClr val="tx1"/>
                    </a:solidFill>
                    <a:effectLst/>
                    <a:latin typeface="+mn-lt"/>
                    <a:ea typeface="+mn-ea"/>
                    <a:cs typeface="+mn-cs"/>
                  </a:rPr>
                  <a:t>维的坐标预测，给这些损失前面赋予更大的</a:t>
                </a:r>
                <a:r>
                  <a:rPr lang="en-US" altLang="zh-CN" sz="1200" b="0" i="0" kern="1200" dirty="0" smtClean="0">
                    <a:solidFill>
                      <a:schemeClr val="tx1"/>
                    </a:solidFill>
                    <a:effectLst/>
                    <a:latin typeface="+mn-lt"/>
                    <a:ea typeface="+mn-ea"/>
                    <a:cs typeface="+mn-cs"/>
                  </a:rPr>
                  <a:t>loss weight, ,</a:t>
                </a:r>
                <a:r>
                  <a:rPr lang="zh-CN" altLang="en-US" sz="1200" b="0" i="0" kern="1200" dirty="0" smtClean="0">
                    <a:solidFill>
                      <a:schemeClr val="tx1"/>
                    </a:solidFill>
                    <a:effectLst/>
                    <a:latin typeface="+mn-lt"/>
                    <a:ea typeface="+mn-ea"/>
                    <a:cs typeface="+mn-cs"/>
                  </a:rPr>
                  <a:t>在</a:t>
                </a:r>
                <a:r>
                  <a:rPr lang="en-US" altLang="zh-CN" sz="1200" b="0" i="0" kern="1200" dirty="0" err="1" smtClean="0">
                    <a:solidFill>
                      <a:schemeClr val="tx1"/>
                    </a:solidFill>
                    <a:effectLst/>
                    <a:latin typeface="+mn-lt"/>
                    <a:ea typeface="+mn-ea"/>
                    <a:cs typeface="+mn-cs"/>
                  </a:rPr>
                  <a:t>pascal</a:t>
                </a:r>
                <a:r>
                  <a:rPr lang="en-US" altLang="zh-CN" sz="1200" b="0" i="0" kern="1200" dirty="0" smtClean="0">
                    <a:solidFill>
                      <a:schemeClr val="tx1"/>
                    </a:solidFill>
                    <a:effectLst/>
                    <a:latin typeface="+mn-lt"/>
                    <a:ea typeface="+mn-ea"/>
                    <a:cs typeface="+mn-cs"/>
                  </a:rPr>
                  <a:t> VOC</a:t>
                </a:r>
                <a:r>
                  <a:rPr lang="zh-CN" altLang="en-US" sz="1200" b="0" i="0" kern="1200" dirty="0" smtClean="0">
                    <a:solidFill>
                      <a:schemeClr val="tx1"/>
                    </a:solidFill>
                    <a:effectLst/>
                    <a:latin typeface="+mn-lt"/>
                    <a:ea typeface="+mn-ea"/>
                    <a:cs typeface="+mn-cs"/>
                  </a:rPr>
                  <a:t>训练中取</a:t>
                </a:r>
                <a:r>
                  <a:rPr lang="en-US" altLang="zh-CN" sz="1200" b="0" i="0" kern="1200" dirty="0" smtClean="0">
                    <a:solidFill>
                      <a:schemeClr val="tx1"/>
                    </a:solidFill>
                    <a:effectLst/>
                    <a:latin typeface="+mn-lt"/>
                    <a:ea typeface="+mn-ea"/>
                    <a:cs typeface="+mn-cs"/>
                  </a:rPr>
                  <a:t>5,</a:t>
                </a:r>
                <a:r>
                  <a:rPr lang="el-GR" altLang="zh-CN" sz="1200" b="0" i="0" kern="1200" dirty="0" smtClean="0">
                    <a:solidFill>
                      <a:schemeClr val="tx1"/>
                    </a:solidFill>
                    <a:effectLst/>
                    <a:latin typeface="+mn-lt"/>
                    <a:ea typeface="+mn-ea"/>
                    <a:cs typeface="+mn-cs"/>
                  </a:rPr>
                  <a:t> λ</a:t>
                </a:r>
                <a:r>
                  <a:rPr lang="en-US" altLang="zh-CN" sz="1200" b="0" i="0" kern="1200" dirty="0" err="1" smtClean="0">
                    <a:solidFill>
                      <a:schemeClr val="tx1"/>
                    </a:solidFill>
                    <a:effectLst/>
                    <a:latin typeface="+mn-lt"/>
                    <a:ea typeface="+mn-ea"/>
                    <a:cs typeface="+mn-cs"/>
                  </a:rPr>
                  <a:t>noobj</a:t>
                </a:r>
                <a:r>
                  <a:rPr lang="zh-CN" altLang="en-US" sz="1200" b="0" i="0" kern="1200" dirty="0" smtClean="0">
                    <a:solidFill>
                      <a:schemeClr val="tx1"/>
                    </a:solidFill>
                    <a:effectLst/>
                    <a:latin typeface="+mn-lt"/>
                    <a:ea typeface="+mn-ea"/>
                    <a:cs typeface="+mn-cs"/>
                  </a:rPr>
                  <a:t>对没有</a:t>
                </a:r>
                <a:r>
                  <a:rPr lang="en-US" altLang="zh-CN" sz="1200" b="0" i="0" kern="1200" dirty="0" smtClean="0">
                    <a:solidFill>
                      <a:schemeClr val="tx1"/>
                    </a:solidFill>
                    <a:effectLst/>
                    <a:latin typeface="+mn-lt"/>
                    <a:ea typeface="+mn-ea"/>
                    <a:cs typeface="+mn-cs"/>
                  </a:rPr>
                  <a:t>object</a:t>
                </a:r>
                <a:r>
                  <a:rPr lang="zh-CN" altLang="en-US" sz="1200" b="0" i="0" kern="1200" dirty="0" smtClean="0">
                    <a:solidFill>
                      <a:schemeClr val="tx1"/>
                    </a:solidFill>
                    <a:effectLst/>
                    <a:latin typeface="+mn-lt"/>
                    <a:ea typeface="+mn-ea"/>
                    <a:cs typeface="+mn-cs"/>
                  </a:rPr>
                  <a:t>的</a:t>
                </a:r>
                <a:r>
                  <a:rPr lang="en-US" altLang="zh-CN" sz="1200" b="0" i="0" kern="1200" dirty="0" err="1" smtClean="0">
                    <a:solidFill>
                      <a:schemeClr val="tx1"/>
                    </a:solidFill>
                    <a:effectLst/>
                    <a:latin typeface="+mn-lt"/>
                    <a:ea typeface="+mn-ea"/>
                    <a:cs typeface="+mn-cs"/>
                  </a:rPr>
                  <a:t>bbox</a:t>
                </a:r>
                <a:r>
                  <a:rPr lang="zh-CN" altLang="en-US" sz="1200" b="0" i="0" kern="1200" dirty="0" smtClean="0">
                    <a:solidFill>
                      <a:schemeClr val="tx1"/>
                    </a:solidFill>
                    <a:effectLst/>
                    <a:latin typeface="+mn-lt"/>
                    <a:ea typeface="+mn-ea"/>
                    <a:cs typeface="+mn-cs"/>
                  </a:rPr>
                  <a:t>的</a:t>
                </a:r>
                <a:r>
                  <a:rPr lang="en-US" altLang="zh-CN" sz="1200" b="0" i="0" kern="1200" dirty="0" smtClean="0">
                    <a:solidFill>
                      <a:schemeClr val="tx1"/>
                    </a:solidFill>
                    <a:effectLst/>
                    <a:latin typeface="+mn-lt"/>
                    <a:ea typeface="+mn-ea"/>
                    <a:cs typeface="+mn-cs"/>
                  </a:rPr>
                  <a:t>confidence loss</a:t>
                </a:r>
                <a:r>
                  <a:rPr lang="zh-CN" altLang="en-US" sz="1200" b="0" i="0" kern="1200" dirty="0" smtClean="0">
                    <a:solidFill>
                      <a:schemeClr val="tx1"/>
                    </a:solidFill>
                    <a:effectLst/>
                    <a:latin typeface="+mn-lt"/>
                    <a:ea typeface="+mn-ea"/>
                    <a:cs typeface="+mn-cs"/>
                  </a:rPr>
                  <a:t>，赋予小的</a:t>
                </a:r>
                <a:r>
                  <a:rPr lang="en-US" altLang="zh-CN" sz="1200" b="0" i="0" kern="1200" dirty="0" smtClean="0">
                    <a:solidFill>
                      <a:schemeClr val="tx1"/>
                    </a:solidFill>
                    <a:effectLst/>
                    <a:latin typeface="+mn-lt"/>
                    <a:ea typeface="+mn-ea"/>
                    <a:cs typeface="+mn-cs"/>
                  </a:rPr>
                  <a:t>loss weight</a:t>
                </a:r>
                <a:r>
                  <a:rPr lang="zh-CN" altLang="en-US" sz="1200" b="0" i="0" kern="1200" dirty="0" smtClean="0">
                    <a:solidFill>
                      <a:schemeClr val="tx1"/>
                    </a:solidFill>
                    <a:effectLst/>
                    <a:latin typeface="+mn-lt"/>
                    <a:ea typeface="+mn-ea"/>
                    <a:cs typeface="+mn-cs"/>
                  </a:rPr>
                  <a:t>，在</a:t>
                </a:r>
                <a:r>
                  <a:rPr lang="en-US" altLang="zh-CN" sz="1200" b="0" i="0" kern="1200" dirty="0" err="1" smtClean="0">
                    <a:solidFill>
                      <a:schemeClr val="tx1"/>
                    </a:solidFill>
                    <a:effectLst/>
                    <a:latin typeface="+mn-lt"/>
                    <a:ea typeface="+mn-ea"/>
                    <a:cs typeface="+mn-cs"/>
                  </a:rPr>
                  <a:t>pascal</a:t>
                </a:r>
                <a:r>
                  <a:rPr lang="en-US" altLang="zh-CN" sz="1200" b="0" i="0" kern="1200" dirty="0" smtClean="0">
                    <a:solidFill>
                      <a:schemeClr val="tx1"/>
                    </a:solidFill>
                    <a:effectLst/>
                    <a:latin typeface="+mn-lt"/>
                    <a:ea typeface="+mn-ea"/>
                    <a:cs typeface="+mn-cs"/>
                  </a:rPr>
                  <a:t> VOC</a:t>
                </a:r>
                <a:r>
                  <a:rPr lang="zh-CN" altLang="en-US" sz="1200" b="0" i="0" kern="1200" dirty="0" smtClean="0">
                    <a:solidFill>
                      <a:schemeClr val="tx1"/>
                    </a:solidFill>
                    <a:effectLst/>
                    <a:latin typeface="+mn-lt"/>
                    <a:ea typeface="+mn-ea"/>
                    <a:cs typeface="+mn-cs"/>
                  </a:rPr>
                  <a:t>训练中取</a:t>
                </a:r>
                <a:r>
                  <a:rPr lang="en-US" altLang="zh-CN" sz="1200" b="0" i="0" kern="1200" dirty="0" smtClean="0">
                    <a:solidFill>
                      <a:schemeClr val="tx1"/>
                    </a:solidFill>
                    <a:effectLst/>
                    <a:latin typeface="+mn-lt"/>
                    <a:ea typeface="+mn-ea"/>
                    <a:cs typeface="+mn-cs"/>
                  </a:rPr>
                  <a:t>0.5</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en-US" dirty="0" smtClean="0"/>
                  <a:t>损失函数</a:t>
                </a:r>
                <a:r>
                  <a:rPr lang="en-US" altLang="zh-CN" dirty="0" smtClean="0"/>
                  <a:t>L=</a:t>
                </a:r>
                <a:r>
                  <a:rPr lang="zh-CN" altLang="en-US" dirty="0" smtClean="0"/>
                  <a:t>坐标损失</a:t>
                </a:r>
                <a:r>
                  <a:rPr lang="en-US" altLang="zh-CN" dirty="0" smtClean="0"/>
                  <a:t>+</a:t>
                </a:r>
                <a:r>
                  <a:rPr lang="zh-CN" altLang="en-US" dirty="0" smtClean="0"/>
                  <a:t>置信度损失</a:t>
                </a:r>
                <a:r>
                  <a:rPr lang="en-US" altLang="zh-CN" dirty="0" smtClean="0"/>
                  <a:t>+</a:t>
                </a:r>
                <a:r>
                  <a:rPr lang="zh-CN" altLang="en-US" dirty="0" smtClean="0"/>
                  <a:t>预测类别损失。</a:t>
                </a:r>
                <a:endParaRPr lang="en-US" altLang="zh-CN" dirty="0" smtClean="0"/>
              </a:p>
              <a:p>
                <a:r>
                  <a:rPr lang="en-US" altLang="zh-CN" dirty="0" smtClean="0"/>
                  <a:t>YOLO</a:t>
                </a:r>
                <a:r>
                  <a:rPr lang="zh-CN" altLang="en-US" dirty="0" smtClean="0"/>
                  <a:t>第一版中有个并不合理的默认假设，就是一个子图像块中最多只能包含一个目标，因此</a:t>
                </a:r>
                <a:r>
                  <a:rPr lang="en-US" altLang="zh-CN" dirty="0" smtClean="0"/>
                  <a:t>YOLO</a:t>
                </a:r>
                <a:r>
                  <a:rPr lang="zh-CN" altLang="en-US" dirty="0" smtClean="0"/>
                  <a:t>第一版不适合小目标的检测场景。另外，</a:t>
                </a:r>
                <a:r>
                  <a:rPr lang="en-US" altLang="zh-CN" dirty="0" smtClean="0"/>
                  <a:t>YOLO</a:t>
                </a:r>
                <a:r>
                  <a:rPr lang="zh-CN" altLang="en-US" dirty="0" smtClean="0"/>
                  <a:t>第一版中约定了每个子图像块中与目标框</a:t>
                </a:r>
                <a:r>
                  <a:rPr lang="en-US" altLang="zh-CN" dirty="0" err="1" smtClean="0"/>
                  <a:t>IoU</a:t>
                </a:r>
                <a:r>
                  <a:rPr lang="zh-CN" altLang="en-US" dirty="0" smtClean="0"/>
                  <a:t>最大的预测框是框中目标的，其余的预测框认为未框中目标。</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en-US" altLang="zh-CN" i="0"/>
                  <a:t>"Ⅱ</a:t>
                </a:r>
                <a:r>
                  <a:rPr lang="en-US" altLang="zh-CN" i="0">
                    <a:latin typeface="Cambria Math" panose="02040503050406030204" pitchFamily="18" charset="0"/>
                  </a:rPr>
                  <a:t>" </a:t>
                </a:r>
                <a:r>
                  <a:rPr lang="en-US" altLang="zh-CN" i="0" smtClean="0">
                    <a:latin typeface="Cambria Math" panose="02040503050406030204" pitchFamily="18" charset="0"/>
                  </a:rPr>
                  <a:t>_</a:t>
                </a:r>
                <a:r>
                  <a:rPr lang="en-US" altLang="zh-CN" b="0" i="0" smtClean="0">
                    <a:latin typeface="Cambria Math" panose="02040503050406030204" pitchFamily="18" charset="0"/>
                  </a:rPr>
                  <a:t>𝑖𝑗^𝑜𝑏𝑗</a:t>
                </a:r>
                <a:r>
                  <a:rPr lang="zh-CN" altLang="en-US" dirty="0" smtClean="0"/>
                  <a:t>是指示函数，当第</a:t>
                </a:r>
                <a:r>
                  <a:rPr lang="en-US" altLang="zh-CN" dirty="0" err="1" smtClean="0"/>
                  <a:t>i</a:t>
                </a:r>
                <a:r>
                  <a:rPr lang="zh-CN" altLang="en-US" dirty="0" smtClean="0"/>
                  <a:t>个子图像块的第</a:t>
                </a:r>
                <a:r>
                  <a:rPr lang="en-US" altLang="zh-CN" dirty="0" smtClean="0"/>
                  <a:t>j</a:t>
                </a:r>
                <a:r>
                  <a:rPr lang="zh-CN" altLang="en-US" dirty="0" smtClean="0"/>
                  <a:t>个预测框框中目标时，</a:t>
                </a:r>
                <a:r>
                  <a:rPr lang="en-US" altLang="zh-CN" i="0"/>
                  <a:t>"Ⅱ</a:t>
                </a:r>
                <a:r>
                  <a:rPr lang="en-US" altLang="zh-CN" i="0">
                    <a:latin typeface="Cambria Math" panose="02040503050406030204" pitchFamily="18" charset="0"/>
                  </a:rPr>
                  <a:t>" </a:t>
                </a:r>
                <a:r>
                  <a:rPr lang="en-US" altLang="zh-CN" i="0" smtClean="0">
                    <a:latin typeface="Cambria Math" panose="02040503050406030204" pitchFamily="18" charset="0"/>
                  </a:rPr>
                  <a:t>_</a:t>
                </a:r>
                <a:r>
                  <a:rPr lang="en-US" altLang="zh-CN" b="0" i="0" smtClean="0">
                    <a:latin typeface="Cambria Math" panose="02040503050406030204" pitchFamily="18" charset="0"/>
                  </a:rPr>
                  <a:t>𝑖𝑗^𝑜𝑏𝑗</a:t>
                </a:r>
                <a:r>
                  <a:rPr lang="en-US" altLang="zh-CN" dirty="0" smtClean="0"/>
                  <a:t>=1</a:t>
                </a:r>
                <a:r>
                  <a:rPr lang="zh-CN" altLang="en-US" dirty="0" smtClean="0"/>
                  <a:t>，否则</a:t>
                </a:r>
                <a:r>
                  <a:rPr lang="en-US" altLang="zh-CN" i="0"/>
                  <a:t>"Ⅱ</a:t>
                </a:r>
                <a:r>
                  <a:rPr lang="en-US" altLang="zh-CN" i="0">
                    <a:latin typeface="Cambria Math" panose="02040503050406030204" pitchFamily="18" charset="0"/>
                  </a:rPr>
                  <a:t>" </a:t>
                </a:r>
                <a:r>
                  <a:rPr lang="en-US" altLang="zh-CN" i="0" smtClean="0">
                    <a:latin typeface="Cambria Math" panose="02040503050406030204" pitchFamily="18" charset="0"/>
                  </a:rPr>
                  <a:t>_</a:t>
                </a:r>
                <a:r>
                  <a:rPr lang="en-US" altLang="zh-CN" b="0" i="0" smtClean="0">
                    <a:latin typeface="Cambria Math" panose="02040503050406030204" pitchFamily="18" charset="0"/>
                  </a:rPr>
                  <a:t>𝑖𝑗^𝑜𝑏𝑗</a:t>
                </a:r>
                <a:r>
                  <a:rPr lang="en-US" altLang="zh-CN" dirty="0" smtClean="0"/>
                  <a:t>=0</a:t>
                </a:r>
                <a:r>
                  <a:rPr lang="zh-CN" altLang="en-US" dirty="0" smtClean="0"/>
                  <a:t>。所以图中前三行表示包含目标的框的位置损失和置信度损失，如前所述，公式中</a:t>
                </a:r>
                <a:r>
                  <a:rPr lang="en-US" altLang="zh-CN" dirty="0" err="1" smtClean="0"/>
                  <a:t>x,y</a:t>
                </a:r>
                <a:r>
                  <a:rPr lang="zh-CN" altLang="en-US" dirty="0" smtClean="0"/>
                  <a:t>和</a:t>
                </a:r>
                <a:r>
                  <a:rPr lang="en-US" altLang="zh-CN" b="0" i="0" smtClean="0">
                    <a:latin typeface="Cambria Math" panose="02040503050406030204" pitchFamily="18" charset="0"/>
                  </a:rPr>
                  <a:t>𝑥</a:t>
                </a:r>
                <a:r>
                  <a:rPr lang="zh-CN" altLang="en-US" b="0" i="0" smtClean="0">
                    <a:latin typeface="Cambria Math" panose="02040503050406030204" pitchFamily="18" charset="0"/>
                  </a:rPr>
                  <a:t> ̂</a:t>
                </a:r>
                <a:r>
                  <a:rPr lang="en-US" altLang="zh-CN" b="0" i="0" smtClean="0">
                    <a:latin typeface="Cambria Math" panose="02040503050406030204" pitchFamily="18" charset="0"/>
                  </a:rPr>
                  <a:t>𝑦</a:t>
                </a:r>
                <a:r>
                  <a:rPr lang="zh-CN" altLang="en-US" b="0" i="0" smtClean="0">
                    <a:latin typeface="Cambria Math" panose="02040503050406030204" pitchFamily="18" charset="0"/>
                  </a:rPr>
                  <a:t> ̂分别</a:t>
                </a:r>
                <a:r>
                  <a:rPr lang="zh-CN" altLang="en-US" dirty="0" smtClean="0"/>
                  <a:t>表示预测框和目标框的中心点相对于子图像块的归一化坐标，</a:t>
                </a:r>
                <a:r>
                  <a:rPr lang="en-US" altLang="zh-CN" dirty="0" err="1" smtClean="0"/>
                  <a:t>w,h</a:t>
                </a:r>
                <a:r>
                  <a:rPr lang="zh-CN" altLang="en-US" dirty="0" smtClean="0"/>
                  <a:t>和</a:t>
                </a:r>
                <a:r>
                  <a:rPr lang="en-US" altLang="zh-CN" b="0" i="0" smtClean="0">
                    <a:latin typeface="Cambria Math" panose="02040503050406030204" pitchFamily="18" charset="0"/>
                  </a:rPr>
                  <a:t>𝑤</a:t>
                </a:r>
                <a:r>
                  <a:rPr lang="zh-CN" altLang="en-US" b="0" i="0" smtClean="0">
                    <a:latin typeface="Cambria Math" panose="02040503050406030204" pitchFamily="18" charset="0"/>
                  </a:rPr>
                  <a:t> ̂</a:t>
                </a:r>
                <a:r>
                  <a:rPr lang="en-US" altLang="zh-CN" b="0" i="0" smtClean="0">
                    <a:latin typeface="Cambria Math" panose="02040503050406030204" pitchFamily="18" charset="0"/>
                  </a:rPr>
                  <a:t>ℎ</a:t>
                </a:r>
                <a:r>
                  <a:rPr lang="zh-CN" altLang="en-US" b="0" i="0" smtClean="0">
                    <a:latin typeface="Cambria Math" panose="02040503050406030204" pitchFamily="18" charset="0"/>
                  </a:rPr>
                  <a:t> ̂</a:t>
                </a:r>
                <a:r>
                  <a:rPr lang="zh-CN" altLang="en-US" dirty="0" smtClean="0"/>
                  <a:t>分别表示预测框和目标框相对于整幅图像的宽和高的归一化宽和高。这部分仅将框中目标的预测框的损失进行计算和梯度回传；图中第</a:t>
                </a:r>
                <a:r>
                  <a:rPr lang="en-US" altLang="zh-CN" dirty="0" smtClean="0"/>
                  <a:t>4</a:t>
                </a:r>
                <a:r>
                  <a:rPr lang="zh-CN" altLang="en-US" dirty="0" smtClean="0"/>
                  <a:t>行表示未包含目标的预测框的置信度损失，因为没有目标，其框中目标的置信度</a:t>
                </a:r>
                <a:r>
                  <a:rPr lang="zh-CN" altLang="en-US" i="0" smtClean="0">
                    <a:latin typeface="Cambria Math" panose="02040503050406030204" pitchFamily="18" charset="0"/>
                  </a:rPr>
                  <a:t>(</a:t>
                </a:r>
                <a:r>
                  <a:rPr lang="en-US" altLang="zh-CN" b="0" i="0" smtClean="0">
                    <a:latin typeface="Cambria Math" panose="02040503050406030204" pitchFamily="18" charset="0"/>
                  </a:rPr>
                  <a:t>𝐶_𝑖 </a:t>
                </a:r>
                <a:r>
                  <a:rPr lang="zh-CN" altLang="en-US" b="0" i="0" smtClean="0">
                    <a:latin typeface="Cambria Math" panose="02040503050406030204" pitchFamily="18" charset="0"/>
                  </a:rPr>
                  <a:t>) ̂</a:t>
                </a:r>
                <a:r>
                  <a:rPr lang="zh-CN" altLang="en-US" dirty="0" smtClean="0"/>
                  <a:t>的值为</a:t>
                </a:r>
                <a:r>
                  <a:rPr lang="en-US" altLang="zh-CN" dirty="0" smtClean="0"/>
                  <a:t>0</a:t>
                </a:r>
                <a:r>
                  <a:rPr lang="zh-CN" altLang="en-US" dirty="0" smtClean="0"/>
                  <a:t>；图中最后一行表示包含目标的分类损失。</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如果只是简单的把它们相加，</a:t>
                </a:r>
                <a:r>
                  <a:rPr lang="en-US" altLang="zh-CN" sz="1200" b="0" i="0" kern="1200" dirty="0" smtClean="0">
                    <a:solidFill>
                      <a:schemeClr val="tx1"/>
                    </a:solidFill>
                    <a:effectLst/>
                    <a:latin typeface="+mn-lt"/>
                    <a:ea typeface="+mn-ea"/>
                    <a:cs typeface="+mn-cs"/>
                  </a:rPr>
                  <a:t>8</a:t>
                </a:r>
                <a:r>
                  <a:rPr lang="zh-CN" altLang="en-US" sz="1200" b="0" i="0" kern="1200" dirty="0" smtClean="0">
                    <a:solidFill>
                      <a:schemeClr val="tx1"/>
                    </a:solidFill>
                    <a:effectLst/>
                    <a:latin typeface="+mn-lt"/>
                    <a:ea typeface="+mn-ea"/>
                    <a:cs typeface="+mn-cs"/>
                  </a:rPr>
                  <a:t>维的坐标损失和</a:t>
                </a:r>
                <a:r>
                  <a:rPr lang="en-US" altLang="zh-CN" sz="1200" b="0" i="0" kern="1200" dirty="0" smtClean="0">
                    <a:solidFill>
                      <a:schemeClr val="tx1"/>
                    </a:solidFill>
                    <a:effectLst/>
                    <a:latin typeface="+mn-lt"/>
                    <a:ea typeface="+mn-ea"/>
                    <a:cs typeface="+mn-cs"/>
                  </a:rPr>
                  <a:t>20</a:t>
                </a:r>
                <a:r>
                  <a:rPr lang="zh-CN" altLang="en-US" sz="1200" b="0" i="0" kern="1200" dirty="0" smtClean="0">
                    <a:solidFill>
                      <a:schemeClr val="tx1"/>
                    </a:solidFill>
                    <a:effectLst/>
                    <a:latin typeface="+mn-lt"/>
                    <a:ea typeface="+mn-ea"/>
                    <a:cs typeface="+mn-cs"/>
                  </a:rPr>
                  <a:t>维的分类损失同等重要显然是不合理的。如果一些框没有目标（一幅图中这种框很多），那么就会将这些框的置信度设置为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，相比于数量较少的有目标的框，这些不包含目标的框对梯度更新的贡献更大，导致网络不稳定甚至发散。因此引入了</a:t>
                </a:r>
                <a:r>
                  <a:rPr lang="el-GR" altLang="zh-CN" sz="1200" b="0" i="0" kern="1200" dirty="0" smtClean="0">
                    <a:solidFill>
                      <a:schemeClr val="tx1"/>
                    </a:solidFill>
                    <a:effectLst/>
                    <a:latin typeface="+mn-lt"/>
                    <a:ea typeface="+mn-ea"/>
                    <a:cs typeface="+mn-cs"/>
                  </a:rPr>
                  <a:t>λ</a:t>
                </a:r>
                <a:r>
                  <a:rPr lang="zh-CN" altLang="en-US" sz="1200" b="0" i="0" kern="1200" dirty="0" smtClean="0">
                    <a:solidFill>
                      <a:schemeClr val="tx1"/>
                    </a:solidFill>
                    <a:effectLst/>
                    <a:latin typeface="+mn-lt"/>
                    <a:ea typeface="+mn-ea"/>
                    <a:cs typeface="+mn-cs"/>
                  </a:rPr>
                  <a:t>表示加权系数，用于平衡各部分损失的比例。图中引入了两个</a:t>
                </a:r>
                <a:r>
                  <a:rPr lang="el-GR" altLang="zh-CN" sz="1200" b="0" i="0" kern="1200" dirty="0" smtClean="0">
                    <a:solidFill>
                      <a:schemeClr val="tx1"/>
                    </a:solidFill>
                    <a:effectLst/>
                    <a:latin typeface="+mn-lt"/>
                    <a:ea typeface="+mn-ea"/>
                    <a:cs typeface="+mn-cs"/>
                  </a:rPr>
                  <a:t>λ</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λcoord</a:t>
                </a:r>
                <a:r>
                  <a:rPr lang="zh-CN" altLang="en-US" sz="1200" b="0" i="0" kern="1200" dirty="0" smtClean="0">
                    <a:solidFill>
                      <a:schemeClr val="tx1"/>
                    </a:solidFill>
                    <a:effectLst/>
                    <a:latin typeface="+mn-lt"/>
                    <a:ea typeface="+mn-ea"/>
                    <a:cs typeface="+mn-cs"/>
                  </a:rPr>
                  <a:t>更重视</a:t>
                </a:r>
                <a:r>
                  <a:rPr lang="en-US" altLang="zh-CN" sz="1200" b="0" i="0" kern="1200" dirty="0" smtClean="0">
                    <a:solidFill>
                      <a:schemeClr val="tx1"/>
                    </a:solidFill>
                    <a:effectLst/>
                    <a:latin typeface="+mn-lt"/>
                    <a:ea typeface="+mn-ea"/>
                    <a:cs typeface="+mn-cs"/>
                  </a:rPr>
                  <a:t>8</a:t>
                </a:r>
                <a:r>
                  <a:rPr lang="zh-CN" altLang="en-US" sz="1200" b="0" i="0" kern="1200" dirty="0" smtClean="0">
                    <a:solidFill>
                      <a:schemeClr val="tx1"/>
                    </a:solidFill>
                    <a:effectLst/>
                    <a:latin typeface="+mn-lt"/>
                    <a:ea typeface="+mn-ea"/>
                    <a:cs typeface="+mn-cs"/>
                  </a:rPr>
                  <a:t>维的坐标预测，给这些损失前面赋予更大的</a:t>
                </a:r>
                <a:r>
                  <a:rPr lang="en-US" altLang="zh-CN" sz="1200" b="0" i="0" kern="1200" dirty="0" smtClean="0">
                    <a:solidFill>
                      <a:schemeClr val="tx1"/>
                    </a:solidFill>
                    <a:effectLst/>
                    <a:latin typeface="+mn-lt"/>
                    <a:ea typeface="+mn-ea"/>
                    <a:cs typeface="+mn-cs"/>
                  </a:rPr>
                  <a:t>loss weight, ,</a:t>
                </a:r>
                <a:r>
                  <a:rPr lang="zh-CN" altLang="en-US" sz="1200" b="0" i="0" kern="1200" dirty="0" smtClean="0">
                    <a:solidFill>
                      <a:schemeClr val="tx1"/>
                    </a:solidFill>
                    <a:effectLst/>
                    <a:latin typeface="+mn-lt"/>
                    <a:ea typeface="+mn-ea"/>
                    <a:cs typeface="+mn-cs"/>
                  </a:rPr>
                  <a:t>在</a:t>
                </a:r>
                <a:r>
                  <a:rPr lang="en-US" altLang="zh-CN" sz="1200" b="0" i="0" kern="1200" dirty="0" err="1" smtClean="0">
                    <a:solidFill>
                      <a:schemeClr val="tx1"/>
                    </a:solidFill>
                    <a:effectLst/>
                    <a:latin typeface="+mn-lt"/>
                    <a:ea typeface="+mn-ea"/>
                    <a:cs typeface="+mn-cs"/>
                  </a:rPr>
                  <a:t>pascal</a:t>
                </a:r>
                <a:r>
                  <a:rPr lang="en-US" altLang="zh-CN" sz="1200" b="0" i="0" kern="1200" dirty="0" smtClean="0">
                    <a:solidFill>
                      <a:schemeClr val="tx1"/>
                    </a:solidFill>
                    <a:effectLst/>
                    <a:latin typeface="+mn-lt"/>
                    <a:ea typeface="+mn-ea"/>
                    <a:cs typeface="+mn-cs"/>
                  </a:rPr>
                  <a:t> VOC</a:t>
                </a:r>
                <a:r>
                  <a:rPr lang="zh-CN" altLang="en-US" sz="1200" b="0" i="0" kern="1200" dirty="0" smtClean="0">
                    <a:solidFill>
                      <a:schemeClr val="tx1"/>
                    </a:solidFill>
                    <a:effectLst/>
                    <a:latin typeface="+mn-lt"/>
                    <a:ea typeface="+mn-ea"/>
                    <a:cs typeface="+mn-cs"/>
                  </a:rPr>
                  <a:t>训练中取</a:t>
                </a:r>
                <a:r>
                  <a:rPr lang="en-US" altLang="zh-CN" sz="1200" b="0" i="0" kern="1200" dirty="0" smtClean="0">
                    <a:solidFill>
                      <a:schemeClr val="tx1"/>
                    </a:solidFill>
                    <a:effectLst/>
                    <a:latin typeface="+mn-lt"/>
                    <a:ea typeface="+mn-ea"/>
                    <a:cs typeface="+mn-cs"/>
                  </a:rPr>
                  <a:t>5,</a:t>
                </a:r>
                <a:r>
                  <a:rPr lang="el-GR" altLang="zh-CN" sz="1200" b="0" i="0" kern="1200" dirty="0" smtClean="0">
                    <a:solidFill>
                      <a:schemeClr val="tx1"/>
                    </a:solidFill>
                    <a:effectLst/>
                    <a:latin typeface="+mn-lt"/>
                    <a:ea typeface="+mn-ea"/>
                    <a:cs typeface="+mn-cs"/>
                  </a:rPr>
                  <a:t> λ</a:t>
                </a:r>
                <a:r>
                  <a:rPr lang="en-US" altLang="zh-CN" sz="1200" b="0" i="0" kern="1200" dirty="0" err="1" smtClean="0">
                    <a:solidFill>
                      <a:schemeClr val="tx1"/>
                    </a:solidFill>
                    <a:effectLst/>
                    <a:latin typeface="+mn-lt"/>
                    <a:ea typeface="+mn-ea"/>
                    <a:cs typeface="+mn-cs"/>
                  </a:rPr>
                  <a:t>noobj</a:t>
                </a:r>
                <a:r>
                  <a:rPr lang="zh-CN" altLang="en-US" sz="1200" b="0" i="0" kern="1200" dirty="0" smtClean="0">
                    <a:solidFill>
                      <a:schemeClr val="tx1"/>
                    </a:solidFill>
                    <a:effectLst/>
                    <a:latin typeface="+mn-lt"/>
                    <a:ea typeface="+mn-ea"/>
                    <a:cs typeface="+mn-cs"/>
                  </a:rPr>
                  <a:t>对没有</a:t>
                </a:r>
                <a:r>
                  <a:rPr lang="en-US" altLang="zh-CN" sz="1200" b="0" i="0" kern="1200" dirty="0" smtClean="0">
                    <a:solidFill>
                      <a:schemeClr val="tx1"/>
                    </a:solidFill>
                    <a:effectLst/>
                    <a:latin typeface="+mn-lt"/>
                    <a:ea typeface="+mn-ea"/>
                    <a:cs typeface="+mn-cs"/>
                  </a:rPr>
                  <a:t>object</a:t>
                </a:r>
                <a:r>
                  <a:rPr lang="zh-CN" altLang="en-US" sz="1200" b="0" i="0" kern="1200" dirty="0" smtClean="0">
                    <a:solidFill>
                      <a:schemeClr val="tx1"/>
                    </a:solidFill>
                    <a:effectLst/>
                    <a:latin typeface="+mn-lt"/>
                    <a:ea typeface="+mn-ea"/>
                    <a:cs typeface="+mn-cs"/>
                  </a:rPr>
                  <a:t>的</a:t>
                </a:r>
                <a:r>
                  <a:rPr lang="en-US" altLang="zh-CN" sz="1200" b="0" i="0" kern="1200" dirty="0" err="1" smtClean="0">
                    <a:solidFill>
                      <a:schemeClr val="tx1"/>
                    </a:solidFill>
                    <a:effectLst/>
                    <a:latin typeface="+mn-lt"/>
                    <a:ea typeface="+mn-ea"/>
                    <a:cs typeface="+mn-cs"/>
                  </a:rPr>
                  <a:t>bbox</a:t>
                </a:r>
                <a:r>
                  <a:rPr lang="zh-CN" altLang="en-US" sz="1200" b="0" i="0" kern="1200" dirty="0" smtClean="0">
                    <a:solidFill>
                      <a:schemeClr val="tx1"/>
                    </a:solidFill>
                    <a:effectLst/>
                    <a:latin typeface="+mn-lt"/>
                    <a:ea typeface="+mn-ea"/>
                    <a:cs typeface="+mn-cs"/>
                  </a:rPr>
                  <a:t>的</a:t>
                </a:r>
                <a:r>
                  <a:rPr lang="en-US" altLang="zh-CN" sz="1200" b="0" i="0" kern="1200" dirty="0" smtClean="0">
                    <a:solidFill>
                      <a:schemeClr val="tx1"/>
                    </a:solidFill>
                    <a:effectLst/>
                    <a:latin typeface="+mn-lt"/>
                    <a:ea typeface="+mn-ea"/>
                    <a:cs typeface="+mn-cs"/>
                  </a:rPr>
                  <a:t>confidence loss</a:t>
                </a:r>
                <a:r>
                  <a:rPr lang="zh-CN" altLang="en-US" sz="1200" b="0" i="0" kern="1200" dirty="0" smtClean="0">
                    <a:solidFill>
                      <a:schemeClr val="tx1"/>
                    </a:solidFill>
                    <a:effectLst/>
                    <a:latin typeface="+mn-lt"/>
                    <a:ea typeface="+mn-ea"/>
                    <a:cs typeface="+mn-cs"/>
                  </a:rPr>
                  <a:t>，赋予小的</a:t>
                </a:r>
                <a:r>
                  <a:rPr lang="en-US" altLang="zh-CN" sz="1200" b="0" i="0" kern="1200" dirty="0" smtClean="0">
                    <a:solidFill>
                      <a:schemeClr val="tx1"/>
                    </a:solidFill>
                    <a:effectLst/>
                    <a:latin typeface="+mn-lt"/>
                    <a:ea typeface="+mn-ea"/>
                    <a:cs typeface="+mn-cs"/>
                  </a:rPr>
                  <a:t>loss weight</a:t>
                </a:r>
                <a:r>
                  <a:rPr lang="zh-CN" altLang="en-US" sz="1200" b="0" i="0" kern="1200" dirty="0" smtClean="0">
                    <a:solidFill>
                      <a:schemeClr val="tx1"/>
                    </a:solidFill>
                    <a:effectLst/>
                    <a:latin typeface="+mn-lt"/>
                    <a:ea typeface="+mn-ea"/>
                    <a:cs typeface="+mn-cs"/>
                  </a:rPr>
                  <a:t>，在</a:t>
                </a:r>
                <a:r>
                  <a:rPr lang="en-US" altLang="zh-CN" sz="1200" b="0" i="0" kern="1200" dirty="0" err="1" smtClean="0">
                    <a:solidFill>
                      <a:schemeClr val="tx1"/>
                    </a:solidFill>
                    <a:effectLst/>
                    <a:latin typeface="+mn-lt"/>
                    <a:ea typeface="+mn-ea"/>
                    <a:cs typeface="+mn-cs"/>
                  </a:rPr>
                  <a:t>pascal</a:t>
                </a:r>
                <a:r>
                  <a:rPr lang="en-US" altLang="zh-CN" sz="1200" b="0" i="0" kern="1200" dirty="0" smtClean="0">
                    <a:solidFill>
                      <a:schemeClr val="tx1"/>
                    </a:solidFill>
                    <a:effectLst/>
                    <a:latin typeface="+mn-lt"/>
                    <a:ea typeface="+mn-ea"/>
                    <a:cs typeface="+mn-cs"/>
                  </a:rPr>
                  <a:t> VOC</a:t>
                </a:r>
                <a:r>
                  <a:rPr lang="zh-CN" altLang="en-US" sz="1200" b="0" i="0" kern="1200" dirty="0" smtClean="0">
                    <a:solidFill>
                      <a:schemeClr val="tx1"/>
                    </a:solidFill>
                    <a:effectLst/>
                    <a:latin typeface="+mn-lt"/>
                    <a:ea typeface="+mn-ea"/>
                    <a:cs typeface="+mn-cs"/>
                  </a:rPr>
                  <a:t>训练中取</a:t>
                </a:r>
                <a:r>
                  <a:rPr lang="en-US" altLang="zh-CN" sz="1200" b="0" i="0" kern="1200" dirty="0" smtClean="0">
                    <a:solidFill>
                      <a:schemeClr val="tx1"/>
                    </a:solidFill>
                    <a:effectLst/>
                    <a:latin typeface="+mn-lt"/>
                    <a:ea typeface="+mn-ea"/>
                    <a:cs typeface="+mn-cs"/>
                  </a:rPr>
                  <a:t>0.5</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11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774776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对不同大小的</a:t>
            </a:r>
            <a:r>
              <a:rPr lang="en-US" altLang="zh-CN" dirty="0" err="1" smtClean="0"/>
              <a:t>bbox</a:t>
            </a:r>
            <a:r>
              <a:rPr lang="zh-CN" altLang="en-US" dirty="0" smtClean="0"/>
              <a:t>预测中，相比于大</a:t>
            </a:r>
            <a:r>
              <a:rPr lang="en-US" altLang="zh-CN" dirty="0" err="1" smtClean="0"/>
              <a:t>bbox</a:t>
            </a:r>
            <a:r>
              <a:rPr lang="zh-CN" altLang="en-US" dirty="0" smtClean="0"/>
              <a:t>预测偏一点，小</a:t>
            </a:r>
            <a:r>
              <a:rPr lang="en-US" altLang="zh-CN" dirty="0" smtClean="0"/>
              <a:t>box</a:t>
            </a:r>
            <a:r>
              <a:rPr lang="zh-CN" altLang="en-US" dirty="0" smtClean="0"/>
              <a:t>预测偏相同的尺寸对</a:t>
            </a:r>
            <a:r>
              <a:rPr lang="en-US" altLang="zh-CN" dirty="0" smtClean="0"/>
              <a:t>IOU</a:t>
            </a:r>
            <a:r>
              <a:rPr lang="zh-CN" altLang="en-US" dirty="0" smtClean="0"/>
              <a:t>的影响更大。而</a:t>
            </a:r>
            <a:r>
              <a:rPr lang="en-US" altLang="zh-CN" dirty="0" smtClean="0"/>
              <a:t>sum-square error loss</a:t>
            </a:r>
            <a:r>
              <a:rPr lang="zh-CN" altLang="en-US" dirty="0" smtClean="0"/>
              <a:t>中对同样的偏移</a:t>
            </a:r>
            <a:r>
              <a:rPr lang="en-US" altLang="zh-CN" dirty="0" smtClean="0"/>
              <a:t>loss</a:t>
            </a:r>
            <a:r>
              <a:rPr lang="zh-CN" altLang="en-US" dirty="0" smtClean="0"/>
              <a:t>是一样。为了缓和这个问题，作者用了一个巧妙的办法，就是将</a:t>
            </a:r>
            <a:r>
              <a:rPr lang="en-US" altLang="zh-CN" dirty="0" smtClean="0"/>
              <a:t>box</a:t>
            </a:r>
            <a:r>
              <a:rPr lang="zh-CN" altLang="en-US" dirty="0" smtClean="0"/>
              <a:t>的</a:t>
            </a:r>
            <a:r>
              <a:rPr lang="en-US" altLang="zh-CN" dirty="0" smtClean="0"/>
              <a:t>width</a:t>
            </a:r>
            <a:r>
              <a:rPr lang="zh-CN" altLang="en-US" dirty="0" smtClean="0"/>
              <a:t>和</a:t>
            </a:r>
            <a:r>
              <a:rPr lang="en-US" altLang="zh-CN" dirty="0" smtClean="0"/>
              <a:t>height</a:t>
            </a:r>
            <a:r>
              <a:rPr lang="zh-CN" altLang="en-US" dirty="0" smtClean="0"/>
              <a:t>取平方根代替原本的</a:t>
            </a:r>
            <a:r>
              <a:rPr lang="en-US" altLang="zh-CN" dirty="0" smtClean="0"/>
              <a:t>height</a:t>
            </a:r>
            <a:r>
              <a:rPr lang="zh-CN" altLang="en-US" dirty="0" smtClean="0"/>
              <a:t>和</a:t>
            </a:r>
            <a:r>
              <a:rPr lang="en-US" altLang="zh-CN" dirty="0" smtClean="0"/>
              <a:t>width</a:t>
            </a:r>
            <a:r>
              <a:rPr lang="zh-CN" altLang="en-US" dirty="0" smtClean="0"/>
              <a:t>。 如下图：</a:t>
            </a:r>
            <a:r>
              <a:rPr lang="en-US" altLang="zh-CN" dirty="0" smtClean="0"/>
              <a:t>small </a:t>
            </a:r>
            <a:r>
              <a:rPr lang="en-US" altLang="zh-CN" dirty="0" err="1" smtClean="0"/>
              <a:t>bbox</a:t>
            </a:r>
            <a:r>
              <a:rPr lang="zh-CN" altLang="en-US" dirty="0" smtClean="0"/>
              <a:t>的横轴值较小，发生偏移时，反应到</a:t>
            </a:r>
            <a:r>
              <a:rPr lang="en-US" altLang="zh-CN" dirty="0" smtClean="0"/>
              <a:t>y</a:t>
            </a:r>
            <a:r>
              <a:rPr lang="zh-CN" altLang="en-US" dirty="0" smtClean="0"/>
              <a:t>轴上的</a:t>
            </a:r>
            <a:r>
              <a:rPr lang="en-US" altLang="zh-CN" dirty="0" smtClean="0"/>
              <a:t>loss</a:t>
            </a:r>
            <a:r>
              <a:rPr lang="zh-CN" altLang="en-US" dirty="0" smtClean="0"/>
              <a:t>（图绿色）比</a:t>
            </a:r>
            <a:r>
              <a:rPr lang="en-US" altLang="zh-CN" dirty="0" smtClean="0"/>
              <a:t>big box(</a:t>
            </a:r>
            <a:r>
              <a:rPr lang="zh-CN" altLang="en-US" dirty="0" smtClean="0"/>
              <a:t>图红色</a:t>
            </a:r>
            <a:r>
              <a:rPr lang="en-US" altLang="zh-CN" dirty="0" smtClean="0"/>
              <a:t>)</a:t>
            </a:r>
            <a:r>
              <a:rPr lang="zh-CN" altLang="en-US" dirty="0" smtClean="0"/>
              <a:t>要大。</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3548524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为了防止模型过拟合（在训练集上模型的预测效果很好，在测试集上效果明显变差），</a:t>
            </a:r>
            <a:r>
              <a:rPr lang="en-US" altLang="zh-CN" dirty="0" smtClean="0"/>
              <a:t>YOLO</a:t>
            </a:r>
            <a:r>
              <a:rPr lang="zh-CN" altLang="en-US" dirty="0" smtClean="0"/>
              <a:t>第一版使用了</a:t>
            </a:r>
            <a:r>
              <a:rPr lang="en-US" altLang="zh-CN" dirty="0" smtClean="0"/>
              <a:t>drop out</a:t>
            </a:r>
            <a:r>
              <a:rPr lang="zh-CN" altLang="en-US" dirty="0" smtClean="0"/>
              <a:t>策略，同时在图像尺度和图像</a:t>
            </a:r>
            <a:r>
              <a:rPr lang="en-US" altLang="zh-CN" dirty="0" smtClean="0"/>
              <a:t>HSV</a:t>
            </a:r>
            <a:r>
              <a:rPr lang="zh-CN" altLang="en-US" dirty="0" smtClean="0"/>
              <a:t>颜色空间上进行样本的扰动扩充，使得训练的模型具有更好的泛化能力。</a:t>
            </a:r>
            <a:endParaRPr lang="en-US" altLang="zh-CN" dirty="0" smtClean="0"/>
          </a:p>
          <a:p>
            <a:r>
              <a:rPr lang="zh-CN" altLang="en-US" dirty="0" smtClean="0"/>
              <a:t>其实，</a:t>
            </a:r>
            <a:r>
              <a:rPr lang="en-US" altLang="zh-CN" dirty="0" smtClean="0"/>
              <a:t>YOLO</a:t>
            </a:r>
            <a:r>
              <a:rPr lang="zh-CN" altLang="en-US" dirty="0" smtClean="0"/>
              <a:t>第一版中的具体实现方法未必都很合理，比如一个子图像块的各个预测框都对应同一组分类概率的约定就有些问题，对于不同的预测框，完全可以让每个框对应各自的分类概率。另外，在计算损失的时候，也可以把同一子块中各个预测框与真值框的损失都进行同级并加入梯度回传，这样看起来会更合理一些。</a:t>
            </a:r>
            <a:endParaRPr lang="en-US" altLang="zh-CN" dirty="0" smtClean="0"/>
          </a:p>
          <a:p>
            <a:r>
              <a:rPr lang="zh-CN" altLang="en-US" dirty="0" smtClean="0"/>
              <a:t>基于</a:t>
            </a:r>
            <a:r>
              <a:rPr lang="en-US" altLang="zh-CN" dirty="0" smtClean="0"/>
              <a:t>YOLO</a:t>
            </a:r>
            <a:r>
              <a:rPr lang="zh-CN" altLang="en-US" dirty="0" smtClean="0"/>
              <a:t>进行检测和其他检测方法类似，对</a:t>
            </a:r>
            <a:r>
              <a:rPr lang="en-US" altLang="zh-CN" dirty="0" smtClean="0"/>
              <a:t>7×7×2=98</a:t>
            </a:r>
            <a:r>
              <a:rPr lang="zh-CN" altLang="en-US" dirty="0" smtClean="0"/>
              <a:t>个预测框，分别计算框中目标的概率与最大分类概率的乘积，当其大于指定阈值时，将预测框作为目标框输出，再对所有的目标框进行非极大值抑制处理，得到最终的结果。</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49700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YOLO</a:t>
            </a:r>
            <a:r>
              <a:rPr lang="zh-CN" altLang="en-US" dirty="0" smtClean="0"/>
              <a:t>第一版的优势在于算法执行的速度快，但在实际使用的时候，对目标框位置的预测精度和目标的召回率都不及两阶段算法，在</a:t>
            </a:r>
            <a:r>
              <a:rPr lang="en-US" altLang="zh-CN" dirty="0" smtClean="0"/>
              <a:t>YOLO</a:t>
            </a:r>
            <a:r>
              <a:rPr lang="zh-CN" altLang="en-US" dirty="0" smtClean="0"/>
              <a:t>第二版中，对算法的一些实现细节进行了改进。主要有以下几点改进：</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0157223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a:t>
            </a:r>
            <a:r>
              <a:rPr lang="zh-CN" altLang="en-US" dirty="0" smtClean="0"/>
              <a:t>批次归一化</a:t>
            </a:r>
            <a:endParaRPr lang="en-US" altLang="zh-CN" dirty="0" smtClean="0"/>
          </a:p>
          <a:p>
            <a:r>
              <a:rPr lang="en-US" altLang="zh-CN" dirty="0" smtClean="0"/>
              <a:t>YOLO</a:t>
            </a:r>
            <a:r>
              <a:rPr lang="zh-CN" altLang="en-US" dirty="0" smtClean="0"/>
              <a:t>第二版在训练时使用的是批次归一化方法（</a:t>
            </a:r>
            <a:r>
              <a:rPr lang="en-US" altLang="zh-CN" dirty="0" smtClean="0"/>
              <a:t>BN</a:t>
            </a:r>
            <a:r>
              <a:rPr lang="zh-CN" altLang="en-US" dirty="0" smtClean="0"/>
              <a:t>）方法，能够更好的增加模型的泛化能力。在</a:t>
            </a:r>
            <a:r>
              <a:rPr lang="en-US" altLang="zh-CN" dirty="0" smtClean="0"/>
              <a:t>PASCOL VOC</a:t>
            </a:r>
            <a:r>
              <a:rPr lang="zh-CN" altLang="en-US" dirty="0" smtClean="0"/>
              <a:t>数据集上，不改变网络结构的前提下，</a:t>
            </a:r>
            <a:r>
              <a:rPr lang="en-US" altLang="zh-CN" dirty="0" err="1" smtClean="0"/>
              <a:t>mAP</a:t>
            </a:r>
            <a:r>
              <a:rPr lang="zh-CN" altLang="en-US" dirty="0" smtClean="0"/>
              <a:t>有</a:t>
            </a:r>
            <a:r>
              <a:rPr lang="en-US" altLang="zh-CN" dirty="0" smtClean="0"/>
              <a:t>2.4%</a:t>
            </a:r>
            <a:r>
              <a:rPr lang="zh-CN" altLang="en-US" dirty="0" smtClean="0"/>
              <a:t>的提升。另外，使用了批量归一化方法之后，可以去掉</a:t>
            </a:r>
            <a:r>
              <a:rPr lang="en-US" altLang="zh-CN" dirty="0" smtClean="0"/>
              <a:t>YOLO</a:t>
            </a:r>
            <a:r>
              <a:rPr lang="zh-CN" altLang="en-US" dirty="0" smtClean="0"/>
              <a:t>第一版使用的</a:t>
            </a:r>
            <a:r>
              <a:rPr lang="en-US" altLang="zh-CN" dirty="0" smtClean="0"/>
              <a:t>dropout</a:t>
            </a:r>
            <a:r>
              <a:rPr lang="zh-CN" altLang="en-US" dirty="0" smtClean="0"/>
              <a:t>方法。</a:t>
            </a:r>
          </a:p>
          <a:p>
            <a:r>
              <a:rPr lang="en-US" altLang="zh-CN" dirty="0" smtClean="0"/>
              <a:t>2.</a:t>
            </a:r>
            <a:r>
              <a:rPr lang="zh-CN" altLang="en-US" dirty="0" smtClean="0"/>
              <a:t>使用高分辨率训练集</a:t>
            </a:r>
            <a:endParaRPr lang="en-US" altLang="zh-CN" dirty="0" smtClean="0"/>
          </a:p>
          <a:p>
            <a:r>
              <a:rPr lang="en-US" altLang="zh-CN" dirty="0" smtClean="0"/>
              <a:t>YOLO</a:t>
            </a:r>
            <a:r>
              <a:rPr lang="zh-CN" altLang="en-US" dirty="0" smtClean="0"/>
              <a:t>第二版训练时，使用了更高分辨率的数据。</a:t>
            </a:r>
            <a:r>
              <a:rPr lang="zh-CN" altLang="en-US" sz="1200" b="0" i="0" kern="1200" dirty="0" smtClean="0">
                <a:solidFill>
                  <a:schemeClr val="tx1"/>
                </a:solidFill>
                <a:effectLst/>
                <a:latin typeface="+mn-lt"/>
                <a:ea typeface="+mn-ea"/>
                <a:cs typeface="+mn-cs"/>
              </a:rPr>
              <a:t>目前大部分的检测模型都会在先在</a:t>
            </a:r>
            <a:r>
              <a:rPr lang="en-US" altLang="zh-CN" sz="1200" b="0" i="0" kern="1200" dirty="0" err="1" smtClean="0">
                <a:solidFill>
                  <a:schemeClr val="tx1"/>
                </a:solidFill>
                <a:effectLst/>
                <a:latin typeface="+mn-lt"/>
                <a:ea typeface="+mn-ea"/>
                <a:cs typeface="+mn-cs"/>
              </a:rPr>
              <a:t>ImageNet</a:t>
            </a:r>
            <a:r>
              <a:rPr lang="zh-CN" altLang="en-US" sz="1200" b="0" i="0" kern="1200" dirty="0" smtClean="0">
                <a:solidFill>
                  <a:schemeClr val="tx1"/>
                </a:solidFill>
                <a:effectLst/>
                <a:latin typeface="+mn-lt"/>
                <a:ea typeface="+mn-ea"/>
                <a:cs typeface="+mn-cs"/>
              </a:rPr>
              <a:t>分类数据集上预训练模型的主体部分，</a:t>
            </a:r>
            <a:r>
              <a:rPr lang="zh-CN" altLang="en-US" dirty="0" smtClean="0"/>
              <a:t>由于历史原因，</a:t>
            </a:r>
            <a:r>
              <a:rPr lang="en-US" altLang="zh-CN" dirty="0" err="1" smtClean="0"/>
              <a:t>ImageNet</a:t>
            </a:r>
            <a:r>
              <a:rPr lang="zh-CN" altLang="en-US" dirty="0" smtClean="0"/>
              <a:t>分类模型基本采用</a:t>
            </a:r>
            <a:r>
              <a:rPr lang="en-US" altLang="zh-CN" dirty="0" smtClean="0"/>
              <a:t>224×224</a:t>
            </a:r>
            <a:r>
              <a:rPr lang="zh-CN" altLang="en-US" dirty="0" smtClean="0"/>
              <a:t>大小的数据作为输入。</a:t>
            </a:r>
            <a:r>
              <a:rPr lang="en-US" altLang="zh-CN" dirty="0" smtClean="0"/>
              <a:t>YOLO</a:t>
            </a:r>
            <a:r>
              <a:rPr lang="zh-CN" altLang="en-US" dirty="0" smtClean="0"/>
              <a:t>第一版首先基于</a:t>
            </a:r>
            <a:r>
              <a:rPr lang="en-US" altLang="zh-CN" dirty="0" smtClean="0"/>
              <a:t>224×224</a:t>
            </a:r>
            <a:r>
              <a:rPr lang="zh-CN" altLang="en-US" dirty="0" smtClean="0"/>
              <a:t>的分类数据集训练前面的卷积层后，直接切换在</a:t>
            </a:r>
            <a:r>
              <a:rPr lang="en-US" altLang="zh-CN" dirty="0" smtClean="0"/>
              <a:t>448×448</a:t>
            </a:r>
            <a:r>
              <a:rPr lang="zh-CN" altLang="en-US" dirty="0" smtClean="0"/>
              <a:t>的检测数据集上训练整个检测网络，两次训练数据的分辨率存在差距，使得模型不容易达到最优的效果。</a:t>
            </a:r>
            <a:r>
              <a:rPr lang="en-US" altLang="zh-CN" dirty="0" smtClean="0"/>
              <a:t>YOLO</a:t>
            </a:r>
            <a:r>
              <a:rPr lang="zh-CN" altLang="en-US" dirty="0" smtClean="0"/>
              <a:t>第二版为了克服这个问题，在</a:t>
            </a:r>
            <a:r>
              <a:rPr lang="en-US" altLang="zh-CN" dirty="0" smtClean="0"/>
              <a:t>224×224</a:t>
            </a:r>
            <a:r>
              <a:rPr lang="zh-CN" altLang="en-US" dirty="0" smtClean="0"/>
              <a:t>的分类数据集训练前的卷积层之后，基于</a:t>
            </a:r>
            <a:r>
              <a:rPr lang="en-US" altLang="zh-CN" dirty="0" smtClean="0"/>
              <a:t>448×448</a:t>
            </a:r>
            <a:r>
              <a:rPr lang="zh-CN" altLang="en-US" dirty="0" smtClean="0"/>
              <a:t>的分类数据进行了若干轮迭代训练，使得网络更加适配高分辨率的数据，之后，在分辨率为</a:t>
            </a:r>
            <a:r>
              <a:rPr lang="en-US" altLang="zh-CN" dirty="0" smtClean="0"/>
              <a:t>448×448</a:t>
            </a:r>
            <a:r>
              <a:rPr lang="zh-CN" altLang="en-US" dirty="0" smtClean="0"/>
              <a:t>的检测数据集上训练整个检测网络。通过这样的训练策略，模型的</a:t>
            </a:r>
            <a:r>
              <a:rPr lang="en-US" altLang="zh-CN" dirty="0" err="1" smtClean="0"/>
              <a:t>mAP</a:t>
            </a:r>
            <a:r>
              <a:rPr lang="zh-CN" altLang="en-US" dirty="0" smtClean="0"/>
              <a:t>有了</a:t>
            </a:r>
            <a:r>
              <a:rPr lang="en-US" altLang="zh-CN" dirty="0" smtClean="0"/>
              <a:t>4%</a:t>
            </a:r>
            <a:r>
              <a:rPr lang="zh-CN" altLang="en-US" dirty="0" smtClean="0"/>
              <a:t>的提升。</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224507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采用了一个新的基础模型（特征提取器），称为</a:t>
            </a:r>
            <a:r>
              <a:rPr lang="en-US" altLang="zh-CN" sz="1200" b="0" i="0" kern="1200" dirty="0" smtClean="0">
                <a:solidFill>
                  <a:schemeClr val="tx1"/>
                </a:solidFill>
                <a:effectLst/>
                <a:latin typeface="+mn-lt"/>
                <a:ea typeface="+mn-ea"/>
                <a:cs typeface="+mn-cs"/>
              </a:rPr>
              <a:t>Darknet-19</a:t>
            </a:r>
            <a:r>
              <a:rPr lang="zh-CN" altLang="en-US" sz="1200" b="0" i="0" kern="1200" dirty="0" smtClean="0">
                <a:solidFill>
                  <a:schemeClr val="tx1"/>
                </a:solidFill>
                <a:effectLst/>
                <a:latin typeface="+mn-lt"/>
                <a:ea typeface="+mn-ea"/>
                <a:cs typeface="+mn-cs"/>
              </a:rPr>
              <a:t>，包括</a:t>
            </a:r>
            <a:r>
              <a:rPr lang="en-US" altLang="zh-CN" sz="1200" b="0" i="0" kern="1200" dirty="0" smtClean="0">
                <a:solidFill>
                  <a:schemeClr val="tx1"/>
                </a:solidFill>
                <a:effectLst/>
                <a:latin typeface="+mn-lt"/>
                <a:ea typeface="+mn-ea"/>
                <a:cs typeface="+mn-cs"/>
              </a:rPr>
              <a:t>19</a:t>
            </a:r>
            <a:r>
              <a:rPr lang="zh-CN" altLang="en-US" sz="1200" b="0" i="0" kern="1200" dirty="0" smtClean="0">
                <a:solidFill>
                  <a:schemeClr val="tx1"/>
                </a:solidFill>
                <a:effectLst/>
                <a:latin typeface="+mn-lt"/>
                <a:ea typeface="+mn-ea"/>
                <a:cs typeface="+mn-cs"/>
              </a:rPr>
              <a:t>个卷积层和</a:t>
            </a:r>
            <a:r>
              <a:rPr lang="en-US" altLang="zh-CN" sz="1200" b="0" i="0" kern="1200" dirty="0" smtClean="0">
                <a:solidFill>
                  <a:schemeClr val="tx1"/>
                </a:solidFill>
                <a:effectLst/>
                <a:latin typeface="+mn-lt"/>
                <a:ea typeface="+mn-ea"/>
                <a:cs typeface="+mn-cs"/>
              </a:rPr>
              <a:t>5</a:t>
            </a:r>
            <a:r>
              <a:rPr lang="zh-CN" altLang="en-US" sz="1200" b="0" i="0" kern="1200" dirty="0" smtClean="0">
                <a:solidFill>
                  <a:schemeClr val="tx1"/>
                </a:solidFill>
                <a:effectLst/>
                <a:latin typeface="+mn-lt"/>
                <a:ea typeface="+mn-ea"/>
                <a:cs typeface="+mn-cs"/>
              </a:rPr>
              <a:t>个</a:t>
            </a:r>
            <a:r>
              <a:rPr lang="en-US" altLang="zh-CN" sz="1200" b="0" i="0" kern="1200" dirty="0" err="1" smtClean="0">
                <a:solidFill>
                  <a:schemeClr val="tx1"/>
                </a:solidFill>
                <a:effectLst/>
                <a:latin typeface="+mn-lt"/>
                <a:ea typeface="+mn-ea"/>
                <a:cs typeface="+mn-cs"/>
              </a:rPr>
              <a:t>maxpooling</a:t>
            </a:r>
            <a:r>
              <a:rPr lang="zh-CN" altLang="en-US" sz="1200" b="0" i="0" kern="1200" dirty="0" smtClean="0">
                <a:solidFill>
                  <a:schemeClr val="tx1"/>
                </a:solidFill>
                <a:effectLst/>
                <a:latin typeface="+mn-lt"/>
                <a:ea typeface="+mn-ea"/>
                <a:cs typeface="+mn-cs"/>
              </a:rPr>
              <a:t>层，如图所示。</a:t>
            </a:r>
            <a:r>
              <a:rPr lang="en-US" altLang="zh-CN" sz="1200" b="0" i="0" kern="1200" dirty="0" smtClean="0">
                <a:solidFill>
                  <a:schemeClr val="tx1"/>
                </a:solidFill>
                <a:effectLst/>
                <a:latin typeface="+mn-lt"/>
                <a:ea typeface="+mn-ea"/>
                <a:cs typeface="+mn-cs"/>
              </a:rPr>
              <a:t>Darknet-19</a:t>
            </a:r>
            <a:r>
              <a:rPr lang="zh-CN" altLang="en-US" sz="1200" b="0" i="0" kern="1200" dirty="0" smtClean="0">
                <a:solidFill>
                  <a:schemeClr val="tx1"/>
                </a:solidFill>
                <a:effectLst/>
                <a:latin typeface="+mn-lt"/>
                <a:ea typeface="+mn-ea"/>
                <a:cs typeface="+mn-cs"/>
              </a:rPr>
              <a:t>与</a:t>
            </a:r>
            <a:r>
              <a:rPr lang="en-US" altLang="zh-CN" sz="1200" b="0" i="0" kern="1200" dirty="0" smtClean="0">
                <a:solidFill>
                  <a:schemeClr val="tx1"/>
                </a:solidFill>
                <a:effectLst/>
                <a:latin typeface="+mn-lt"/>
                <a:ea typeface="+mn-ea"/>
                <a:cs typeface="+mn-cs"/>
              </a:rPr>
              <a:t>VGG16</a:t>
            </a:r>
            <a:r>
              <a:rPr lang="zh-CN" altLang="en-US" sz="1200" b="0" i="0" kern="1200" dirty="0" smtClean="0">
                <a:solidFill>
                  <a:schemeClr val="tx1"/>
                </a:solidFill>
                <a:effectLst/>
                <a:latin typeface="+mn-lt"/>
                <a:ea typeface="+mn-ea"/>
                <a:cs typeface="+mn-cs"/>
              </a:rPr>
              <a:t>模型设计原则是一致的，主要采用</a:t>
            </a:r>
            <a:r>
              <a:rPr lang="en-US" altLang="zh-CN" sz="1200" b="0" i="0" kern="1200" dirty="0" smtClean="0">
                <a:solidFill>
                  <a:schemeClr val="tx1"/>
                </a:solidFill>
                <a:effectLst/>
                <a:latin typeface="+mn-lt"/>
                <a:ea typeface="+mn-ea"/>
                <a:cs typeface="+mn-cs"/>
              </a:rPr>
              <a:t>3×3</a:t>
            </a:r>
            <a:r>
              <a:rPr lang="zh-CN" altLang="en-US" sz="1200" b="0" i="0" kern="1200" dirty="0" smtClean="0">
                <a:solidFill>
                  <a:schemeClr val="tx1"/>
                </a:solidFill>
                <a:effectLst/>
                <a:latin typeface="+mn-lt"/>
                <a:ea typeface="+mn-ea"/>
                <a:cs typeface="+mn-cs"/>
              </a:rPr>
              <a:t>卷积，采用</a:t>
            </a:r>
            <a:r>
              <a:rPr lang="en-US" altLang="zh-CN" sz="1200" b="0" i="0" kern="1200" dirty="0" smtClean="0">
                <a:solidFill>
                  <a:schemeClr val="tx1"/>
                </a:solidFill>
                <a:effectLst/>
                <a:latin typeface="+mn-lt"/>
                <a:ea typeface="+mn-ea"/>
                <a:cs typeface="+mn-cs"/>
              </a:rPr>
              <a:t>2×2</a:t>
            </a:r>
            <a:r>
              <a:rPr lang="zh-CN" altLang="en-US" sz="1200" b="0" i="0" kern="1200" dirty="0" smtClean="0">
                <a:solidFill>
                  <a:schemeClr val="tx1"/>
                </a:solidFill>
                <a:effectLst/>
                <a:latin typeface="+mn-lt"/>
                <a:ea typeface="+mn-ea"/>
                <a:cs typeface="+mn-cs"/>
              </a:rPr>
              <a:t>的</a:t>
            </a:r>
            <a:r>
              <a:rPr lang="en-US" altLang="zh-CN" sz="1200" b="0" i="0" kern="1200" dirty="0" err="1" smtClean="0">
                <a:solidFill>
                  <a:schemeClr val="tx1"/>
                </a:solidFill>
                <a:effectLst/>
                <a:latin typeface="+mn-lt"/>
                <a:ea typeface="+mn-ea"/>
                <a:cs typeface="+mn-cs"/>
              </a:rPr>
              <a:t>maxpooling</a:t>
            </a:r>
            <a:r>
              <a:rPr lang="zh-CN" altLang="en-US" sz="1200" b="0" i="0" kern="1200" dirty="0" smtClean="0">
                <a:solidFill>
                  <a:schemeClr val="tx1"/>
                </a:solidFill>
                <a:effectLst/>
                <a:latin typeface="+mn-lt"/>
                <a:ea typeface="+mn-ea"/>
                <a:cs typeface="+mn-cs"/>
              </a:rPr>
              <a:t>层之后，特征图维度降低</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倍，而同时将特征图的</a:t>
            </a:r>
            <a:r>
              <a:rPr lang="en-US" altLang="zh-CN" sz="1200" b="0" i="0" kern="1200" dirty="0" err="1" smtClean="0">
                <a:solidFill>
                  <a:schemeClr val="tx1"/>
                </a:solidFill>
                <a:effectLst/>
                <a:latin typeface="+mn-lt"/>
                <a:ea typeface="+mn-ea"/>
                <a:cs typeface="+mn-cs"/>
              </a:rPr>
              <a:t>channles</a:t>
            </a:r>
            <a:r>
              <a:rPr lang="zh-CN" altLang="en-US" sz="1200" b="0" i="0" kern="1200" dirty="0" smtClean="0">
                <a:solidFill>
                  <a:schemeClr val="tx1"/>
                </a:solidFill>
                <a:effectLst/>
                <a:latin typeface="+mn-lt"/>
                <a:ea typeface="+mn-ea"/>
                <a:cs typeface="+mn-cs"/>
              </a:rPr>
              <a:t>增加两倍。与</a:t>
            </a:r>
            <a:r>
              <a:rPr lang="en-US" altLang="zh-CN" sz="1200" b="0" i="0" u="none" kern="1200" dirty="0" smtClean="0">
                <a:solidFill>
                  <a:schemeClr val="tx1"/>
                </a:solidFill>
                <a:effectLst/>
                <a:latin typeface="+mn-lt"/>
                <a:ea typeface="+mn-ea"/>
                <a:cs typeface="+mn-cs"/>
              </a:rPr>
              <a:t>NIN(</a:t>
            </a:r>
            <a:r>
              <a:rPr lang="en-US" altLang="zh-CN" sz="1200" b="0" i="0" u="none" strike="noStrike" kern="1200" dirty="0" smtClean="0">
                <a:solidFill>
                  <a:schemeClr val="tx1"/>
                </a:solidFill>
                <a:effectLst/>
                <a:latin typeface="+mn-lt"/>
                <a:ea typeface="+mn-ea"/>
                <a:cs typeface="+mn-cs"/>
              </a:rPr>
              <a:t>Network in Network</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类似，</a:t>
            </a:r>
            <a:r>
              <a:rPr lang="en-US" altLang="zh-CN" sz="1200" b="0" i="0" kern="1200" dirty="0" smtClean="0">
                <a:solidFill>
                  <a:schemeClr val="tx1"/>
                </a:solidFill>
                <a:effectLst/>
                <a:latin typeface="+mn-lt"/>
                <a:ea typeface="+mn-ea"/>
                <a:cs typeface="+mn-cs"/>
              </a:rPr>
              <a:t>Darknet-19</a:t>
            </a:r>
            <a:r>
              <a:rPr lang="zh-CN" altLang="en-US" sz="1200" b="0" i="0" kern="1200" dirty="0" smtClean="0">
                <a:solidFill>
                  <a:schemeClr val="tx1"/>
                </a:solidFill>
                <a:effectLst/>
                <a:latin typeface="+mn-lt"/>
                <a:ea typeface="+mn-ea"/>
                <a:cs typeface="+mn-cs"/>
              </a:rPr>
              <a:t>最终采用</a:t>
            </a:r>
            <a:r>
              <a:rPr lang="en-US" altLang="zh-CN" sz="1200" b="0" i="0" kern="1200" dirty="0" smtClean="0">
                <a:solidFill>
                  <a:schemeClr val="tx1"/>
                </a:solidFill>
                <a:effectLst/>
                <a:latin typeface="+mn-lt"/>
                <a:ea typeface="+mn-ea"/>
                <a:cs typeface="+mn-cs"/>
              </a:rPr>
              <a:t>global </a:t>
            </a:r>
            <a:r>
              <a:rPr lang="en-US" altLang="zh-CN" sz="1200" b="0" i="0" kern="1200" dirty="0" err="1" smtClean="0">
                <a:solidFill>
                  <a:schemeClr val="tx1"/>
                </a:solidFill>
                <a:effectLst/>
                <a:latin typeface="+mn-lt"/>
                <a:ea typeface="+mn-ea"/>
                <a:cs typeface="+mn-cs"/>
              </a:rPr>
              <a:t>avgpooling</a:t>
            </a:r>
            <a:r>
              <a:rPr lang="zh-CN" altLang="en-US" sz="1200" b="0" i="0" kern="1200" dirty="0" smtClean="0">
                <a:solidFill>
                  <a:schemeClr val="tx1"/>
                </a:solidFill>
                <a:effectLst/>
                <a:latin typeface="+mn-lt"/>
                <a:ea typeface="+mn-ea"/>
                <a:cs typeface="+mn-cs"/>
              </a:rPr>
              <a:t>做预测，并且在</a:t>
            </a:r>
            <a:r>
              <a:rPr lang="en-US" altLang="zh-CN" sz="1200" b="0" i="0" kern="1200" dirty="0" smtClean="0">
                <a:solidFill>
                  <a:schemeClr val="tx1"/>
                </a:solidFill>
                <a:effectLst/>
                <a:latin typeface="+mn-lt"/>
                <a:ea typeface="+mn-ea"/>
                <a:cs typeface="+mn-cs"/>
              </a:rPr>
              <a:t>3×3</a:t>
            </a:r>
            <a:r>
              <a:rPr lang="zh-CN" altLang="en-US" sz="1200" b="0" i="0" kern="1200" dirty="0" smtClean="0">
                <a:solidFill>
                  <a:schemeClr val="tx1"/>
                </a:solidFill>
                <a:effectLst/>
                <a:latin typeface="+mn-lt"/>
                <a:ea typeface="+mn-ea"/>
                <a:cs typeface="+mn-cs"/>
              </a:rPr>
              <a:t>卷积之间使用</a:t>
            </a:r>
            <a:r>
              <a:rPr lang="en-US" altLang="zh-CN" sz="1200" b="0" i="0" kern="1200" dirty="0" smtClean="0">
                <a:solidFill>
                  <a:schemeClr val="tx1"/>
                </a:solidFill>
                <a:effectLst/>
                <a:latin typeface="+mn-lt"/>
                <a:ea typeface="+mn-ea"/>
                <a:cs typeface="+mn-cs"/>
              </a:rPr>
              <a:t>1×1</a:t>
            </a:r>
            <a:r>
              <a:rPr lang="zh-CN" altLang="en-US" sz="1200" b="0" i="0" kern="1200" dirty="0" smtClean="0">
                <a:solidFill>
                  <a:schemeClr val="tx1"/>
                </a:solidFill>
                <a:effectLst/>
                <a:latin typeface="+mn-lt"/>
                <a:ea typeface="+mn-ea"/>
                <a:cs typeface="+mn-cs"/>
              </a:rPr>
              <a:t>卷积来压缩特征图</a:t>
            </a:r>
            <a:r>
              <a:rPr lang="en-US" altLang="zh-CN" sz="1200" b="0" i="0" kern="1200" dirty="0" err="1" smtClean="0">
                <a:solidFill>
                  <a:schemeClr val="tx1"/>
                </a:solidFill>
                <a:effectLst/>
                <a:latin typeface="+mn-lt"/>
                <a:ea typeface="+mn-ea"/>
                <a:cs typeface="+mn-cs"/>
              </a:rPr>
              <a:t>channles</a:t>
            </a:r>
            <a:r>
              <a:rPr lang="zh-CN" altLang="en-US" sz="1200" b="0" i="0" kern="1200" dirty="0" smtClean="0">
                <a:solidFill>
                  <a:schemeClr val="tx1"/>
                </a:solidFill>
                <a:effectLst/>
                <a:latin typeface="+mn-lt"/>
                <a:ea typeface="+mn-ea"/>
                <a:cs typeface="+mn-cs"/>
              </a:rPr>
              <a:t>以降低模型计算量和参数。</a:t>
            </a:r>
            <a:r>
              <a:rPr lang="en-US" altLang="zh-CN" sz="1200" b="0" i="0" kern="1200" dirty="0" smtClean="0">
                <a:solidFill>
                  <a:schemeClr val="tx1"/>
                </a:solidFill>
                <a:effectLst/>
                <a:latin typeface="+mn-lt"/>
                <a:ea typeface="+mn-ea"/>
                <a:cs typeface="+mn-cs"/>
              </a:rPr>
              <a:t>Darknet-19</a:t>
            </a:r>
            <a:r>
              <a:rPr lang="zh-CN" altLang="en-US" sz="1200" b="0" i="0" kern="1200" dirty="0" smtClean="0">
                <a:solidFill>
                  <a:schemeClr val="tx1"/>
                </a:solidFill>
                <a:effectLst/>
                <a:latin typeface="+mn-lt"/>
                <a:ea typeface="+mn-ea"/>
                <a:cs typeface="+mn-cs"/>
              </a:rPr>
              <a:t>每个卷积层后面同样使用了</a:t>
            </a:r>
            <a:r>
              <a:rPr lang="en-US" altLang="zh-CN" sz="1200" b="0" i="0" kern="1200" dirty="0" smtClean="0">
                <a:solidFill>
                  <a:schemeClr val="tx1"/>
                </a:solidFill>
                <a:effectLst/>
                <a:latin typeface="+mn-lt"/>
                <a:ea typeface="+mn-ea"/>
                <a:cs typeface="+mn-cs"/>
              </a:rPr>
              <a:t>batch norm</a:t>
            </a:r>
            <a:r>
              <a:rPr lang="zh-CN" altLang="en-US" sz="1200" b="0" i="0" kern="1200" dirty="0" smtClean="0">
                <a:solidFill>
                  <a:schemeClr val="tx1"/>
                </a:solidFill>
                <a:effectLst/>
                <a:latin typeface="+mn-lt"/>
                <a:ea typeface="+mn-ea"/>
                <a:cs typeface="+mn-cs"/>
              </a:rPr>
              <a:t>层以加快收敛速度，降低模型过拟合。在</a:t>
            </a:r>
            <a:r>
              <a:rPr lang="en-US" altLang="zh-CN" sz="1200" b="0" i="0" kern="1200" dirty="0" err="1" smtClean="0">
                <a:solidFill>
                  <a:schemeClr val="tx1"/>
                </a:solidFill>
                <a:effectLst/>
                <a:latin typeface="+mn-lt"/>
                <a:ea typeface="+mn-ea"/>
                <a:cs typeface="+mn-cs"/>
              </a:rPr>
              <a:t>ImageNet</a:t>
            </a:r>
            <a:r>
              <a:rPr lang="zh-CN" altLang="en-US" sz="1200" b="0" i="0" kern="1200" dirty="0" smtClean="0">
                <a:solidFill>
                  <a:schemeClr val="tx1"/>
                </a:solidFill>
                <a:effectLst/>
                <a:latin typeface="+mn-lt"/>
                <a:ea typeface="+mn-ea"/>
                <a:cs typeface="+mn-cs"/>
              </a:rPr>
              <a:t>分类数据集上，</a:t>
            </a:r>
            <a:r>
              <a:rPr lang="en-US" altLang="zh-CN" sz="1200" b="0" i="0" kern="1200" dirty="0" smtClean="0">
                <a:solidFill>
                  <a:schemeClr val="tx1"/>
                </a:solidFill>
                <a:effectLst/>
                <a:latin typeface="+mn-lt"/>
                <a:ea typeface="+mn-ea"/>
                <a:cs typeface="+mn-cs"/>
              </a:rPr>
              <a:t>Darknet-19</a:t>
            </a:r>
            <a:r>
              <a:rPr lang="zh-CN" altLang="en-US" sz="1200" b="0" i="0" kern="1200" dirty="0" smtClean="0">
                <a:solidFill>
                  <a:schemeClr val="tx1"/>
                </a:solidFill>
                <a:effectLst/>
                <a:latin typeface="+mn-lt"/>
                <a:ea typeface="+mn-ea"/>
                <a:cs typeface="+mn-cs"/>
              </a:rPr>
              <a:t>的</a:t>
            </a:r>
            <a:r>
              <a:rPr lang="en-US" altLang="zh-CN" sz="1200" b="0" i="0" kern="1200" dirty="0" smtClean="0">
                <a:solidFill>
                  <a:schemeClr val="tx1"/>
                </a:solidFill>
                <a:effectLst/>
                <a:latin typeface="+mn-lt"/>
                <a:ea typeface="+mn-ea"/>
                <a:cs typeface="+mn-cs"/>
              </a:rPr>
              <a:t>top-1</a:t>
            </a:r>
            <a:r>
              <a:rPr lang="zh-CN" altLang="en-US" sz="1200" b="0" i="0" kern="1200" dirty="0" smtClean="0">
                <a:solidFill>
                  <a:schemeClr val="tx1"/>
                </a:solidFill>
                <a:effectLst/>
                <a:latin typeface="+mn-lt"/>
                <a:ea typeface="+mn-ea"/>
                <a:cs typeface="+mn-cs"/>
              </a:rPr>
              <a:t>准确度为</a:t>
            </a:r>
            <a:r>
              <a:rPr lang="en-US" altLang="zh-CN" sz="1200" b="0" i="0" kern="1200" dirty="0" smtClean="0">
                <a:solidFill>
                  <a:schemeClr val="tx1"/>
                </a:solidFill>
                <a:effectLst/>
                <a:latin typeface="+mn-lt"/>
                <a:ea typeface="+mn-ea"/>
                <a:cs typeface="+mn-cs"/>
              </a:rPr>
              <a:t>72.9%</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top-5</a:t>
            </a:r>
            <a:r>
              <a:rPr lang="zh-CN" altLang="en-US" sz="1200" b="0" i="0" kern="1200" dirty="0" smtClean="0">
                <a:solidFill>
                  <a:schemeClr val="tx1"/>
                </a:solidFill>
                <a:effectLst/>
                <a:latin typeface="+mn-lt"/>
                <a:ea typeface="+mn-ea"/>
                <a:cs typeface="+mn-cs"/>
              </a:rPr>
              <a:t>准确度为</a:t>
            </a:r>
            <a:r>
              <a:rPr lang="en-US" altLang="zh-CN" sz="1200" b="0" i="0" kern="1200" dirty="0" smtClean="0">
                <a:solidFill>
                  <a:schemeClr val="tx1"/>
                </a:solidFill>
                <a:effectLst/>
                <a:latin typeface="+mn-lt"/>
                <a:ea typeface="+mn-ea"/>
                <a:cs typeface="+mn-cs"/>
              </a:rPr>
              <a:t>91.2%</a:t>
            </a:r>
            <a:r>
              <a:rPr lang="zh-CN" altLang="en-US" sz="1200" b="0" i="0" kern="1200" dirty="0" smtClean="0">
                <a:solidFill>
                  <a:schemeClr val="tx1"/>
                </a:solidFill>
                <a:effectLst/>
                <a:latin typeface="+mn-lt"/>
                <a:ea typeface="+mn-ea"/>
                <a:cs typeface="+mn-cs"/>
              </a:rPr>
              <a:t>，但是模型参数相对小一些。使用</a:t>
            </a:r>
            <a:r>
              <a:rPr lang="en-US" altLang="zh-CN" sz="1200" b="0" i="0" kern="1200" dirty="0" smtClean="0">
                <a:solidFill>
                  <a:schemeClr val="tx1"/>
                </a:solidFill>
                <a:effectLst/>
                <a:latin typeface="+mn-lt"/>
                <a:ea typeface="+mn-ea"/>
                <a:cs typeface="+mn-cs"/>
              </a:rPr>
              <a:t>Darknet-19</a:t>
            </a:r>
            <a:r>
              <a:rPr lang="zh-CN" altLang="en-US" sz="1200" b="0" i="0" kern="1200" dirty="0" smtClean="0">
                <a:solidFill>
                  <a:schemeClr val="tx1"/>
                </a:solidFill>
                <a:effectLst/>
                <a:latin typeface="+mn-lt"/>
                <a:ea typeface="+mn-ea"/>
                <a:cs typeface="+mn-cs"/>
              </a:rPr>
              <a:t>之后，</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的</a:t>
            </a:r>
            <a:r>
              <a:rPr lang="en-US" altLang="zh-CN" sz="1200" b="0" i="0" kern="1200" dirty="0" err="1" smtClean="0">
                <a:solidFill>
                  <a:schemeClr val="tx1"/>
                </a:solidFill>
                <a:effectLst/>
                <a:latin typeface="+mn-lt"/>
                <a:ea typeface="+mn-ea"/>
                <a:cs typeface="+mn-cs"/>
              </a:rPr>
              <a:t>mAP</a:t>
            </a:r>
            <a:r>
              <a:rPr lang="zh-CN" altLang="en-US" sz="1200" b="0" i="0" kern="1200" dirty="0" smtClean="0">
                <a:solidFill>
                  <a:schemeClr val="tx1"/>
                </a:solidFill>
                <a:effectLst/>
                <a:latin typeface="+mn-lt"/>
                <a:ea typeface="+mn-ea"/>
                <a:cs typeface="+mn-cs"/>
              </a:rPr>
              <a:t>值没有显著提升，但是计算量却可以减少约</a:t>
            </a:r>
            <a:r>
              <a:rPr lang="en-US" altLang="zh-CN" sz="1200" b="0" i="0" kern="1200" dirty="0" smtClean="0">
                <a:solidFill>
                  <a:schemeClr val="tx1"/>
                </a:solidFill>
                <a:effectLst/>
                <a:latin typeface="+mn-lt"/>
                <a:ea typeface="+mn-ea"/>
                <a:cs typeface="+mn-cs"/>
              </a:rPr>
              <a:t>33%</a:t>
            </a:r>
            <a:r>
              <a:rPr lang="zh-CN" altLang="en-US" sz="1200" b="0" i="0" kern="1200" dirty="0" smtClean="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6498443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YOLO </a:t>
            </a:r>
            <a:r>
              <a:rPr lang="zh-CN" altLang="en-US" dirty="0" smtClean="0"/>
              <a:t>第二版相对于第一版另一个重要的改进就是使用了锚。类似 </a:t>
            </a:r>
            <a:r>
              <a:rPr lang="en-US" altLang="zh-CN" dirty="0" smtClean="0"/>
              <a:t>Faster R-CNN </a:t>
            </a:r>
            <a:r>
              <a:rPr lang="zh-CN" altLang="en-US" dirty="0" smtClean="0"/>
              <a:t>中的</a:t>
            </a:r>
            <a:r>
              <a:rPr lang="en-US" altLang="zh-CN" dirty="0" smtClean="0"/>
              <a:t>RPN</a:t>
            </a:r>
            <a:r>
              <a:rPr lang="zh-CN" altLang="en-US" dirty="0" smtClean="0"/>
              <a:t>网络，基于锚的网络是全卷积的，其原理就是在前面若干卷积层提取的特征图上，用一个小卷积网络在每个位置上进行滑动</a:t>
            </a:r>
            <a:r>
              <a:rPr lang="en-US" altLang="zh-CN" dirty="0" smtClean="0"/>
              <a:t>,</a:t>
            </a:r>
            <a:r>
              <a:rPr lang="zh-CN" altLang="en-US" dirty="0" smtClean="0"/>
              <a:t>在特征图每个位置上回归目标参数。在</a:t>
            </a:r>
            <a:r>
              <a:rPr lang="en-US" altLang="zh-CN" dirty="0" smtClean="0"/>
              <a:t>YOLO </a:t>
            </a:r>
            <a:r>
              <a:rPr lang="zh-CN" altLang="en-US" dirty="0" smtClean="0"/>
              <a:t>第二版中</a:t>
            </a:r>
            <a:r>
              <a:rPr lang="en-US" altLang="zh-CN" dirty="0" smtClean="0"/>
              <a:t>,</a:t>
            </a:r>
            <a:r>
              <a:rPr lang="zh-CN" altLang="en-US" dirty="0" smtClean="0"/>
              <a:t>去掉了第一版最后的两个卷积层以及一个池化层</a:t>
            </a:r>
            <a:r>
              <a:rPr lang="en-US" altLang="zh-CN" dirty="0" smtClean="0"/>
              <a:t>,</a:t>
            </a:r>
            <a:r>
              <a:rPr lang="zh-CN" altLang="en-US" dirty="0" smtClean="0"/>
              <a:t>并添加了用于在每个特征图的子块上进行预测的卷积层</a:t>
            </a:r>
            <a:r>
              <a:rPr lang="en-US" altLang="zh-CN" dirty="0" smtClean="0"/>
              <a:t>,</a:t>
            </a:r>
            <a:r>
              <a:rPr lang="zh-CN" altLang="en-US" dirty="0" smtClean="0"/>
              <a:t>整个网络变成全卷积结构。因为采用的是全卷积网络，所以不受输入图像尺寸的限制</a:t>
            </a:r>
            <a:r>
              <a:rPr lang="en-US" altLang="zh-CN" dirty="0" smtClean="0"/>
              <a:t>,</a:t>
            </a:r>
            <a:r>
              <a:rPr lang="zh-CN" altLang="en-US" dirty="0" smtClean="0"/>
              <a:t>对于一些大的目标，很大概率其居于图像中心的位置</a:t>
            </a:r>
            <a:r>
              <a:rPr lang="en-US" altLang="zh-CN" dirty="0" smtClean="0"/>
              <a:t>,</a:t>
            </a:r>
            <a:r>
              <a:rPr lang="zh-CN" altLang="en-US" dirty="0" smtClean="0"/>
              <a:t>如果用于回归的特征图的子块维度为奇数，则目标的中心大概率会落在中心的子块</a:t>
            </a:r>
            <a:r>
              <a:rPr lang="en-US" altLang="zh-CN" dirty="0" smtClean="0"/>
              <a:t>,</a:t>
            </a:r>
            <a:r>
              <a:rPr lang="zh-CN" altLang="en-US" dirty="0" smtClean="0"/>
              <a:t>相比子块维度为偶数时目标中心落在周围的子块的情况，目标中心落在中心子块时锚与目标更容易匹配。因此 </a:t>
            </a:r>
            <a:r>
              <a:rPr lang="en-US" altLang="zh-CN" dirty="0" smtClean="0"/>
              <a:t>YOLO</a:t>
            </a:r>
            <a:r>
              <a:rPr lang="zh-CN" altLang="en-US" dirty="0" smtClean="0"/>
              <a:t>第二版中对输入图像的尺寸做了一点修改，由</a:t>
            </a:r>
            <a:r>
              <a:rPr lang="en-US" altLang="zh-CN" dirty="0" smtClean="0"/>
              <a:t>448×448</a:t>
            </a:r>
            <a:r>
              <a:rPr lang="zh-CN" altLang="en-US" dirty="0" smtClean="0"/>
              <a:t>缩减到</a:t>
            </a:r>
            <a:r>
              <a:rPr lang="en-US" altLang="zh-CN" dirty="0" smtClean="0"/>
              <a:t>416×416.</a:t>
            </a:r>
            <a:r>
              <a:rPr lang="zh-CN" altLang="en-US" dirty="0" smtClean="0"/>
              <a:t>这样经过前面的卷积层，图像经过</a:t>
            </a:r>
            <a:r>
              <a:rPr lang="en-US" altLang="zh-CN" dirty="0" smtClean="0"/>
              <a:t>32</a:t>
            </a:r>
            <a:r>
              <a:rPr lang="zh-CN" altLang="en-US" dirty="0" smtClean="0"/>
              <a:t>倍的下采样，生成的特征图尺寸为</a:t>
            </a:r>
            <a:r>
              <a:rPr lang="en-US" altLang="zh-CN" dirty="0" smtClean="0"/>
              <a:t>13×13</a:t>
            </a:r>
            <a:r>
              <a:rPr lang="zh-CN" altLang="en-US" dirty="0" smtClean="0"/>
              <a:t>，行列均为奇数，即大目标的中心大概率会落在中间的特征子块中</a:t>
            </a:r>
            <a:r>
              <a:rPr lang="en-US" altLang="zh-CN" dirty="0" smtClean="0"/>
              <a:t>,</a:t>
            </a:r>
            <a:r>
              <a:rPr lang="zh-CN" altLang="en-US" dirty="0" smtClean="0"/>
              <a:t>更有助于进行目标的预测。</a:t>
            </a:r>
            <a:endParaRPr lang="en-US" altLang="zh-CN" dirty="0" smtClean="0"/>
          </a:p>
          <a:p>
            <a:r>
              <a:rPr lang="en-US" altLang="zh-CN" dirty="0" smtClean="0"/>
              <a:t>Faster R-CNN</a:t>
            </a:r>
            <a:r>
              <a:rPr lang="zh-CN" altLang="en-US" dirty="0" smtClean="0"/>
              <a:t>使用的锚完全是手工设计的，</a:t>
            </a:r>
            <a:r>
              <a:rPr lang="en-US" altLang="zh-CN" dirty="0" smtClean="0"/>
              <a:t>YOLO </a:t>
            </a:r>
            <a:r>
              <a:rPr lang="zh-CN" altLang="en-US" dirty="0" smtClean="0"/>
              <a:t>第二版做了进一步改进</a:t>
            </a:r>
            <a:r>
              <a:rPr lang="en-US" altLang="zh-CN" dirty="0" smtClean="0"/>
              <a:t>,</a:t>
            </a:r>
            <a:r>
              <a:rPr lang="zh-CN" altLang="en-US" dirty="0" smtClean="0"/>
              <a:t>通过</a:t>
            </a:r>
            <a:r>
              <a:rPr lang="en-US" altLang="zh-CN" dirty="0" smtClean="0"/>
              <a:t>k-means</a:t>
            </a:r>
            <a:r>
              <a:rPr lang="zh-CN" altLang="en-US" dirty="0" smtClean="0"/>
              <a:t>算法，在训练集中对</a:t>
            </a:r>
            <a:r>
              <a:rPr lang="en-US" altLang="zh-CN" dirty="0" smtClean="0"/>
              <a:t>anchor</a:t>
            </a:r>
            <a:r>
              <a:rPr lang="zh-CN" altLang="en-US" dirty="0" smtClean="0"/>
              <a:t>的位置和形状进行了聚类。用</a:t>
            </a:r>
            <a:r>
              <a:rPr lang="en-US" altLang="zh-CN" dirty="0" smtClean="0"/>
              <a:t>box</a:t>
            </a:r>
            <a:r>
              <a:rPr lang="zh-CN" altLang="en-US" dirty="0" smtClean="0"/>
              <a:t>表示图像上任意一个框，</a:t>
            </a:r>
            <a:r>
              <a:rPr lang="en-US" altLang="zh-CN" dirty="0" smtClean="0"/>
              <a:t>centroid</a:t>
            </a:r>
            <a:r>
              <a:rPr lang="zh-CN" altLang="en-US" dirty="0" smtClean="0"/>
              <a:t>表示</a:t>
            </a:r>
            <a:r>
              <a:rPr lang="en-US" altLang="zh-CN" dirty="0" smtClean="0"/>
              <a:t>k-means</a:t>
            </a:r>
            <a:r>
              <a:rPr lang="zh-CN" altLang="en-US" dirty="0" smtClean="0"/>
              <a:t>聚类中心</a:t>
            </a:r>
            <a:r>
              <a:rPr lang="en-US" altLang="zh-CN" dirty="0" smtClean="0"/>
              <a:t>anchor(</a:t>
            </a:r>
            <a:r>
              <a:rPr lang="zh-CN" altLang="en-US" dirty="0" smtClean="0"/>
              <a:t>也是一个框</a:t>
            </a:r>
            <a:r>
              <a:rPr lang="en-US" altLang="zh-CN" dirty="0" smtClean="0"/>
              <a:t>),</a:t>
            </a:r>
            <a:r>
              <a:rPr lang="zh-CN" altLang="en-US" dirty="0" smtClean="0"/>
              <a:t>定义两者的距离为如下公式。</a:t>
            </a:r>
            <a:endParaRPr lang="en-US" altLang="zh-CN" dirty="0" smtClean="0"/>
          </a:p>
          <a:p>
            <a:r>
              <a:rPr lang="zh-CN" altLang="en-US" dirty="0" smtClean="0"/>
              <a:t>选择的聚类中心</a:t>
            </a:r>
            <a:r>
              <a:rPr lang="en-US" altLang="zh-CN" dirty="0" smtClean="0"/>
              <a:t>(</a:t>
            </a:r>
            <a:r>
              <a:rPr lang="zh-CN" altLang="en-US" dirty="0" smtClean="0"/>
              <a:t>这里就是锚</a:t>
            </a:r>
            <a:r>
              <a:rPr lang="en-US" altLang="zh-CN" dirty="0" smtClean="0"/>
              <a:t>)</a:t>
            </a:r>
            <a:r>
              <a:rPr lang="zh-CN" altLang="en-US" dirty="0" smtClean="0"/>
              <a:t>越多，能够匹配的目标框就越多</a:t>
            </a:r>
            <a:r>
              <a:rPr lang="en-US" altLang="zh-CN" dirty="0" smtClean="0"/>
              <a:t>,</a:t>
            </a:r>
            <a:r>
              <a:rPr lang="zh-CN" altLang="en-US" dirty="0" smtClean="0"/>
              <a:t>但计算过程也会越复杂。一般通过统计</a:t>
            </a:r>
            <a:r>
              <a:rPr lang="en-US" altLang="zh-CN" dirty="0" smtClean="0"/>
              <a:t>,</a:t>
            </a:r>
            <a:r>
              <a:rPr lang="zh-CN" altLang="en-US" dirty="0" smtClean="0"/>
              <a:t>会选取一个匹配度和计算复杂度较好的折中。如图所示</a:t>
            </a:r>
            <a:r>
              <a:rPr lang="en-US" altLang="zh-CN" dirty="0" smtClean="0"/>
              <a:t>,</a:t>
            </a:r>
            <a:r>
              <a:rPr lang="zh-CN" altLang="en-US" dirty="0" smtClean="0"/>
              <a:t>通过分析，选择了</a:t>
            </a:r>
            <a:r>
              <a:rPr lang="en-US" altLang="zh-CN" dirty="0" smtClean="0"/>
              <a:t>5</a:t>
            </a:r>
            <a:r>
              <a:rPr lang="zh-CN" altLang="en-US" dirty="0" smtClean="0"/>
              <a:t>个锚。这种情况下，特征图上的每个位置会回归（</a:t>
            </a:r>
            <a:r>
              <a:rPr lang="en-US" altLang="zh-CN" dirty="0" smtClean="0"/>
              <a:t>4+1+20</a:t>
            </a:r>
            <a:r>
              <a:rPr lang="zh-CN" altLang="en-US" dirty="0" smtClean="0"/>
              <a:t>）</a:t>
            </a:r>
            <a:r>
              <a:rPr lang="en-US" altLang="zh-CN" dirty="0" smtClean="0"/>
              <a:t>×5</a:t>
            </a:r>
            <a:r>
              <a:rPr lang="zh-CN" altLang="en-US" dirty="0" smtClean="0"/>
              <a:t>个参数</a:t>
            </a:r>
            <a:r>
              <a:rPr lang="en-US" altLang="zh-CN" dirty="0" smtClean="0"/>
              <a:t>,</a:t>
            </a:r>
            <a:r>
              <a:rPr lang="zh-CN" altLang="en-US" dirty="0" smtClean="0"/>
              <a:t>表示</a:t>
            </a:r>
            <a:r>
              <a:rPr lang="en-US" altLang="zh-CN" dirty="0" smtClean="0"/>
              <a:t>5</a:t>
            </a:r>
            <a:r>
              <a:rPr lang="zh-CN" altLang="en-US" dirty="0" smtClean="0"/>
              <a:t>个锚，每个锚需要回归</a:t>
            </a:r>
            <a:r>
              <a:rPr lang="en-US" altLang="zh-CN" dirty="0" smtClean="0"/>
              <a:t>4</a:t>
            </a:r>
            <a:r>
              <a:rPr lang="zh-CN" altLang="en-US" dirty="0" smtClean="0"/>
              <a:t>个位置坐标、</a:t>
            </a:r>
            <a:r>
              <a:rPr lang="en-US" altLang="zh-CN" dirty="0" smtClean="0"/>
              <a:t>1</a:t>
            </a:r>
            <a:r>
              <a:rPr lang="zh-CN" altLang="en-US" dirty="0" smtClean="0"/>
              <a:t>个框置信度，以及</a:t>
            </a:r>
            <a:r>
              <a:rPr lang="en-US" altLang="zh-CN" dirty="0" smtClean="0"/>
              <a:t>20</a:t>
            </a:r>
            <a:r>
              <a:rPr lang="zh-CN" altLang="en-US" dirty="0" smtClean="0"/>
              <a:t>个分类概率。</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6792063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为了训练过程更加稳定，</a:t>
                </a:r>
                <a:r>
                  <a:rPr lang="en-US" altLang="zh-CN" dirty="0" smtClean="0"/>
                  <a:t>YOLO</a:t>
                </a:r>
                <a:r>
                  <a:rPr lang="zh-CN" altLang="en-US" dirty="0" smtClean="0"/>
                  <a:t>第二版限制了要预测的目标框的位置，如图所示，目标的中心点被限制在当前子块内，通过预测目标框的宽和高与锚的宽和高的比例，获取目标框的位置，计算公式如下。</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整个图像基于子块的宽和高进行了归一化处理，最终子块的宽和高都为</a:t>
                </a:r>
                <a:r>
                  <a:rPr lang="en-US" altLang="zh-CN" dirty="0" smtClean="0"/>
                  <a:t>1</a:t>
                </a:r>
                <a:r>
                  <a:rPr lang="zh-CN" altLang="en-US" dirty="0" smtClean="0"/>
                  <a:t>。</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𝑦</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𝑤</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h</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zh-CN" altLang="en-US" b="0" i="1" smtClean="0">
                            <a:latin typeface="Cambria Math" panose="02040503050406030204" pitchFamily="18" charset="0"/>
                          </a:rPr>
                          <m:t>𝜎</m:t>
                        </m:r>
                      </m:sub>
                    </m:sSub>
                  </m:oMath>
                </a14:m>
                <a:r>
                  <a:rPr lang="zh-CN" altLang="en-US" dirty="0" smtClean="0"/>
                  <a:t>是需要回归的参数，</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𝑦</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𝑤</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h</m:t>
                        </m:r>
                      </m:sub>
                    </m:sSub>
                  </m:oMath>
                </a14:m>
                <a:r>
                  <a:rPr lang="zh-CN" altLang="en-US" dirty="0" smtClean="0"/>
                  <a:t>分别表示整幅图像归一化后目标框的中心点坐标以及宽和高。</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𝑤</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h</m:t>
                        </m:r>
                      </m:sub>
                    </m:sSub>
                  </m:oMath>
                </a14:m>
                <a:r>
                  <a:rPr lang="zh-CN" altLang="en-US" dirty="0" smtClean="0"/>
                  <a:t>分别表示整幅图像归一化后锚的宽和高。其中</a:t>
                </a:r>
                <a14:m>
                  <m:oMath xmlns:m="http://schemas.openxmlformats.org/officeDocument/2006/math">
                    <m:r>
                      <a:rPr lang="zh-CN" altLang="en-US" i="1" smtClean="0">
                        <a:latin typeface="Cambria Math" panose="02040503050406030204" pitchFamily="18" charset="0"/>
                      </a:rPr>
                      <m:t>𝜎</m:t>
                    </m:r>
                    <m:r>
                      <a:rPr lang="zh-CN" altLang="en-US" i="1">
                        <a:latin typeface="Cambria Math" panose="02040503050406030204" pitchFamily="18" charset="0"/>
                      </a:rPr>
                      <m:t>是</m:t>
                    </m:r>
                  </m:oMath>
                </a14:m>
                <a:r>
                  <a:rPr lang="en-US" altLang="zh-CN" dirty="0" smtClean="0"/>
                  <a:t>sigmoid</a:t>
                </a:r>
                <a:r>
                  <a:rPr lang="zh-CN" altLang="en-US" dirty="0" smtClean="0"/>
                  <a:t>函数，将</a:t>
                </a:r>
                <a14:m>
                  <m:oMath xmlns:m="http://schemas.openxmlformats.org/officeDocument/2006/math">
                    <m:r>
                      <a:rPr lang="zh-CN" altLang="en-US" i="1" smtClean="0">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𝑥</m:t>
                            </m:r>
                          </m:sub>
                        </m:sSub>
                      </m:e>
                    </m:d>
                    <m:r>
                      <a:rPr lang="en-US" altLang="zh-CN" i="1">
                        <a:latin typeface="Cambria Math" panose="02040503050406030204" pitchFamily="18" charset="0"/>
                      </a:rPr>
                      <m:t>,</m:t>
                    </m:r>
                    <m:r>
                      <a:rPr lang="zh-CN" altLang="en-US" i="1">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𝑦</m:t>
                            </m:r>
                          </m:sub>
                        </m:sSub>
                      </m:e>
                    </m:d>
                  </m:oMath>
                </a14:m>
                <a:r>
                  <a:rPr lang="zh-CN" altLang="en-US" dirty="0" smtClean="0"/>
                  <a:t>约束在（</a:t>
                </a:r>
                <a:r>
                  <a:rPr lang="en-US" altLang="zh-CN" dirty="0" smtClean="0"/>
                  <a:t>0</a:t>
                </a:r>
                <a:r>
                  <a:rPr lang="zh-CN" altLang="en-US" dirty="0" smtClean="0"/>
                  <a:t>，</a:t>
                </a:r>
                <a:r>
                  <a:rPr lang="en-US" altLang="zh-CN" dirty="0" smtClean="0"/>
                  <a:t>1</a:t>
                </a:r>
                <a:r>
                  <a:rPr lang="zh-CN" altLang="en-US" dirty="0" smtClean="0"/>
                  <a:t>）内。</a:t>
                </a:r>
                <a14:m>
                  <m:oMath xmlns:m="http://schemas.openxmlformats.org/officeDocument/2006/math">
                    <m:r>
                      <a:rPr lang="zh-CN" altLang="en-US" i="1" smtClean="0">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𝑥</m:t>
                            </m:r>
                          </m:sub>
                        </m:sSub>
                      </m:e>
                    </m:d>
                    <m:r>
                      <a:rPr lang="en-US" altLang="zh-CN" i="1">
                        <a:latin typeface="Cambria Math" panose="02040503050406030204" pitchFamily="18" charset="0"/>
                      </a:rPr>
                      <m:t>,</m:t>
                    </m:r>
                    <m:r>
                      <a:rPr lang="zh-CN" altLang="en-US" i="1">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𝑦</m:t>
                            </m:r>
                          </m:sub>
                        </m:sSub>
                      </m:e>
                    </m:d>
                  </m:oMath>
                </a14:m>
                <a:r>
                  <a:rPr lang="zh-CN" altLang="en-US" dirty="0" smtClean="0"/>
                  <a:t>给出了预测框相对于子块左上角原点（</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𝑥</m:t>
                        </m:r>
                      </m:sub>
                    </m:sSub>
                  </m:oMath>
                </a14:m>
                <a:r>
                  <a:rPr lang="zh-CN" altLang="en-US" dirty="0" smtClean="0"/>
                  <a:t>，</a:t>
                </a:r>
                <a14:m>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𝑐</m:t>
                        </m:r>
                      </m:e>
                      <m:sub>
                        <m:r>
                          <a:rPr lang="en-US" altLang="zh-CN" b="0" i="1" smtClean="0">
                            <a:latin typeface="Cambria Math" panose="02040503050406030204" pitchFamily="18" charset="0"/>
                          </a:rPr>
                          <m:t>𝑦</m:t>
                        </m:r>
                      </m:sub>
                    </m:sSub>
                  </m:oMath>
                </a14:m>
                <a:r>
                  <a:rPr lang="zh-CN" altLang="en-US" dirty="0" smtClean="0"/>
                  <a:t>）的归一化偏移量，</a:t>
                </a:r>
                <a14:m>
                  <m:oMath xmlns:m="http://schemas.openxmlformats.org/officeDocument/2006/math">
                    <m:r>
                      <a:rPr lang="zh-CN" altLang="en-US" i="1" smtClean="0">
                        <a:latin typeface="Cambria Math" panose="02040503050406030204" pitchFamily="18" charset="0"/>
                      </a:rPr>
                      <m:t>𝜎</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𝑡</m:t>
                            </m:r>
                          </m:e>
                          <m:sub>
                            <m:r>
                              <a:rPr lang="zh-CN" altLang="en-US" i="1" smtClean="0">
                                <a:latin typeface="Cambria Math" panose="02040503050406030204" pitchFamily="18" charset="0"/>
                              </a:rPr>
                              <m:t>𝜎</m:t>
                            </m:r>
                          </m:sub>
                        </m:sSub>
                      </m:e>
                    </m:d>
                  </m:oMath>
                </a14:m>
                <a:r>
                  <a:rPr lang="zh-CN" altLang="en-US" dirty="0" smtClean="0"/>
                  <a:t>给出预测框的置信度。因为对所预测的目标框中心点位置分为进行了限制，所以模型优化的过程变得更加稳定且更容易学习。</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值得注意的是，</a:t>
                </a:r>
                <a:r>
                  <a:rPr lang="en-US" altLang="zh-CN" dirty="0" smtClean="0"/>
                  <a:t>YOLO</a:t>
                </a:r>
                <a:r>
                  <a:rPr lang="zh-CN" altLang="en-US" dirty="0" smtClean="0"/>
                  <a:t>第二版使用了基于锚的方法，每个锚都分别回归各自框的坐标和分类概率，本质上就去掉了</a:t>
                </a:r>
                <a:r>
                  <a:rPr lang="en-US" altLang="zh-CN" dirty="0" smtClean="0"/>
                  <a:t>YOLO</a:t>
                </a:r>
                <a:r>
                  <a:rPr lang="zh-CN" altLang="en-US" dirty="0" smtClean="0"/>
                  <a:t>第一版中一个子块只包含一个目标的默认假设，从而针对密集小目标场景增加了适应能力。使用锚策略，和</a:t>
                </a:r>
                <a:r>
                  <a:rPr lang="en-US" altLang="zh-CN" dirty="0" smtClean="0"/>
                  <a:t>YOLO</a:t>
                </a:r>
                <a:r>
                  <a:rPr lang="zh-CN" altLang="en-US" dirty="0" smtClean="0"/>
                  <a:t>第一版相比显著增加了预测框的数量。</a:t>
                </a:r>
                <a:r>
                  <a:rPr lang="en-US" altLang="zh-CN" sz="1200" b="0" i="0" kern="1200" dirty="0" smtClean="0">
                    <a:solidFill>
                      <a:schemeClr val="tx1"/>
                    </a:solidFill>
                    <a:effectLst/>
                    <a:latin typeface="+mn-lt"/>
                    <a:ea typeface="+mn-ea"/>
                    <a:cs typeface="+mn-cs"/>
                  </a:rPr>
                  <a:t>YOLOv1</a:t>
                </a:r>
                <a:r>
                  <a:rPr lang="zh-CN" altLang="en-US" sz="1200" b="0" i="0" kern="1200" dirty="0" smtClean="0">
                    <a:solidFill>
                      <a:schemeClr val="tx1"/>
                    </a:solidFill>
                    <a:effectLst/>
                    <a:latin typeface="+mn-lt"/>
                    <a:ea typeface="+mn-ea"/>
                    <a:cs typeface="+mn-cs"/>
                  </a:rPr>
                  <a:t>只能预测</a:t>
                </a:r>
                <a:r>
                  <a:rPr lang="en-US" altLang="zh-CN" sz="1200" b="0" i="0" kern="1200" dirty="0" smtClean="0">
                    <a:solidFill>
                      <a:schemeClr val="tx1"/>
                    </a:solidFill>
                    <a:effectLst/>
                    <a:latin typeface="+mn-lt"/>
                    <a:ea typeface="+mn-ea"/>
                    <a:cs typeface="+mn-cs"/>
                  </a:rPr>
                  <a:t>98</a:t>
                </a:r>
                <a:r>
                  <a:rPr lang="zh-CN" altLang="en-US" sz="1200" b="0" i="0" kern="1200" dirty="0" smtClean="0">
                    <a:solidFill>
                      <a:schemeClr val="tx1"/>
                    </a:solidFill>
                    <a:effectLst/>
                    <a:latin typeface="+mn-lt"/>
                    <a:ea typeface="+mn-ea"/>
                    <a:cs typeface="+mn-cs"/>
                  </a:rPr>
                  <a:t>个边界框（</a:t>
                </a:r>
                <a:r>
                  <a:rPr lang="en-US" altLang="zh-CN" sz="1200" b="0" i="0" kern="1200" dirty="0" smtClean="0">
                    <a:solidFill>
                      <a:schemeClr val="tx1"/>
                    </a:solidFill>
                    <a:effectLst/>
                    <a:latin typeface="+mn-lt"/>
                    <a:ea typeface="+mn-ea"/>
                    <a:cs typeface="+mn-cs"/>
                  </a:rPr>
                  <a:t>7×7×2</a:t>
                </a:r>
                <a:r>
                  <a:rPr lang="zh-CN" altLang="en-US" sz="1200" b="0" i="0" kern="1200" dirty="0" smtClean="0">
                    <a:solidFill>
                      <a:schemeClr val="tx1"/>
                    </a:solidFill>
                    <a:effectLst/>
                    <a:latin typeface="+mn-lt"/>
                    <a:ea typeface="+mn-ea"/>
                    <a:cs typeface="+mn-cs"/>
                  </a:rPr>
                  <a:t>），而</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使用锚框之后可以预测上千个边界框（</a:t>
                </a:r>
                <a:r>
                  <a:rPr lang="en-US" altLang="zh-CN" sz="1200" b="0" i="0" kern="1200" dirty="0" smtClean="0">
                    <a:solidFill>
                      <a:schemeClr val="tx1"/>
                    </a:solidFill>
                    <a:effectLst/>
                    <a:latin typeface="+mn-lt"/>
                    <a:ea typeface="+mn-ea"/>
                    <a:cs typeface="+mn-cs"/>
                  </a:rPr>
                  <a:t>13×13×</a:t>
                </a:r>
                <a:r>
                  <a:rPr lang="zh-CN" altLang="en-US" sz="1200" b="0" i="0" kern="1200" dirty="0" smtClean="0">
                    <a:solidFill>
                      <a:schemeClr val="tx1"/>
                    </a:solidFill>
                    <a:effectLst/>
                    <a:latin typeface="+mn-lt"/>
                    <a:ea typeface="+mn-ea"/>
                    <a:cs typeface="+mn-cs"/>
                  </a:rPr>
                  <a:t>锚数量）。所以使用</a:t>
                </a:r>
                <a:r>
                  <a:rPr lang="en-US" altLang="zh-CN" sz="1200" b="0" i="0" kern="1200" dirty="0" smtClean="0">
                    <a:solidFill>
                      <a:schemeClr val="tx1"/>
                    </a:solidFill>
                    <a:effectLst/>
                    <a:latin typeface="+mn-lt"/>
                    <a:ea typeface="+mn-ea"/>
                    <a:cs typeface="+mn-cs"/>
                  </a:rPr>
                  <a:t>anchor boxes</a:t>
                </a:r>
                <a:r>
                  <a:rPr lang="zh-CN" altLang="en-US" sz="1200" b="0" i="0" kern="1200" dirty="0" smtClean="0">
                    <a:solidFill>
                      <a:schemeClr val="tx1"/>
                    </a:solidFill>
                    <a:effectLst/>
                    <a:latin typeface="+mn-lt"/>
                    <a:ea typeface="+mn-ea"/>
                    <a:cs typeface="+mn-cs"/>
                  </a:rPr>
                  <a:t>之后，</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的召回率大大提升，由原来的</a:t>
                </a:r>
                <a:r>
                  <a:rPr lang="en-US" altLang="zh-CN" sz="1200" b="0" i="0" kern="1200" dirty="0" smtClean="0">
                    <a:solidFill>
                      <a:schemeClr val="tx1"/>
                    </a:solidFill>
                    <a:effectLst/>
                    <a:latin typeface="+mn-lt"/>
                    <a:ea typeface="+mn-ea"/>
                    <a:cs typeface="+mn-cs"/>
                  </a:rPr>
                  <a:t>81%</a:t>
                </a:r>
                <a:r>
                  <a:rPr lang="zh-CN" altLang="en-US" sz="1200" b="0" i="0" kern="1200" dirty="0" smtClean="0">
                    <a:solidFill>
                      <a:schemeClr val="tx1"/>
                    </a:solidFill>
                    <a:effectLst/>
                    <a:latin typeface="+mn-lt"/>
                    <a:ea typeface="+mn-ea"/>
                    <a:cs typeface="+mn-cs"/>
                  </a:rPr>
                  <a:t>升至</a:t>
                </a:r>
                <a:r>
                  <a:rPr lang="en-US" altLang="zh-CN" sz="1200" b="0" i="0" kern="1200" dirty="0" smtClean="0">
                    <a:solidFill>
                      <a:schemeClr val="tx1"/>
                    </a:solidFill>
                    <a:effectLst/>
                    <a:latin typeface="+mn-lt"/>
                    <a:ea typeface="+mn-ea"/>
                    <a:cs typeface="+mn-cs"/>
                  </a:rPr>
                  <a:t>88%</a:t>
                </a:r>
                <a:r>
                  <a:rPr lang="zh-CN" altLang="en-US" sz="1200" b="0" i="0" kern="1200" dirty="0" smtClean="0">
                    <a:solidFill>
                      <a:schemeClr val="tx1"/>
                    </a:solidFill>
                    <a:effectLst/>
                    <a:latin typeface="+mn-lt"/>
                    <a:ea typeface="+mn-ea"/>
                    <a:cs typeface="+mn-cs"/>
                  </a:rPr>
                  <a:t>。</a:t>
                </a:r>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为了训练过程更加稳定，</a:t>
                </a:r>
                <a:r>
                  <a:rPr lang="en-US" altLang="zh-CN" dirty="0" smtClean="0"/>
                  <a:t>YOLO</a:t>
                </a:r>
                <a:r>
                  <a:rPr lang="zh-CN" altLang="en-US" dirty="0" smtClean="0"/>
                  <a:t>第二版限制了要预测的目标框的位置，如图所示，目标的中心点被限制在当前子块内，通过预测目标框的宽和高与锚的宽和高的比例，获取目标框的位置，计算公式如下。</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整个图像基于子块的宽和高进行了归一化处理，最终子块的宽和高都为</a:t>
                </a:r>
                <a:r>
                  <a:rPr lang="en-US" altLang="zh-CN" dirty="0" smtClean="0"/>
                  <a:t>1</a:t>
                </a:r>
                <a:r>
                  <a:rPr lang="zh-CN" altLang="en-US" dirty="0" smtClean="0"/>
                  <a:t>。</a:t>
                </a:r>
                <a:r>
                  <a:rPr lang="en-US" altLang="zh-CN" b="0" i="0" smtClean="0">
                    <a:latin typeface="Cambria Math" panose="02040503050406030204" pitchFamily="18" charset="0"/>
                  </a:rPr>
                  <a:t>𝑡_𝑥,𝑡_𝑦,𝑡_𝑤,𝑡_ℎ,𝑡_</a:t>
                </a:r>
                <a:r>
                  <a:rPr lang="zh-CN" altLang="en-US" b="0" i="0" smtClean="0">
                    <a:latin typeface="Cambria Math" panose="02040503050406030204" pitchFamily="18" charset="0"/>
                  </a:rPr>
                  <a:t>𝜎</a:t>
                </a:r>
                <a:r>
                  <a:rPr lang="zh-CN" altLang="en-US" dirty="0" smtClean="0"/>
                  <a:t>是需要回归的参数，</a:t>
                </a:r>
                <a:r>
                  <a:rPr lang="en-US" altLang="zh-CN" b="0" i="0" smtClean="0">
                    <a:latin typeface="Cambria Math" panose="02040503050406030204" pitchFamily="18" charset="0"/>
                  </a:rPr>
                  <a:t>𝑏_𝑥,𝑏_𝑦,𝑏_𝑤,𝑏_ℎ</a:t>
                </a:r>
                <a:r>
                  <a:rPr lang="zh-CN" altLang="en-US" dirty="0" smtClean="0"/>
                  <a:t>分别表示整幅图像归一化后目标框的中心点坐标以及宽和高。</a:t>
                </a:r>
                <a:r>
                  <a:rPr lang="en-US" altLang="zh-CN" b="0" i="0" smtClean="0">
                    <a:latin typeface="Cambria Math" panose="02040503050406030204" pitchFamily="18" charset="0"/>
                  </a:rPr>
                  <a:t>𝑝_𝑤,𝑝_ℎ</a:t>
                </a:r>
                <a:r>
                  <a:rPr lang="zh-CN" altLang="en-US" dirty="0" smtClean="0"/>
                  <a:t>分别表示整幅图像归一化后锚的宽和高。其中</a:t>
                </a:r>
                <a:r>
                  <a:rPr lang="zh-CN" altLang="en-US" i="0" smtClean="0">
                    <a:latin typeface="Cambria Math" panose="02040503050406030204" pitchFamily="18" charset="0"/>
                  </a:rPr>
                  <a:t>𝜎</a:t>
                </a:r>
                <a:r>
                  <a:rPr lang="zh-CN" altLang="en-US" i="0">
                    <a:latin typeface="Cambria Math" panose="02040503050406030204" pitchFamily="18" charset="0"/>
                  </a:rPr>
                  <a:t>是</a:t>
                </a:r>
                <a:r>
                  <a:rPr lang="en-US" altLang="zh-CN" dirty="0" smtClean="0"/>
                  <a:t>sigmoid</a:t>
                </a:r>
                <a:r>
                  <a:rPr lang="zh-CN" altLang="en-US" dirty="0" smtClean="0"/>
                  <a:t>函数，将</a:t>
                </a:r>
                <a:r>
                  <a:rPr lang="zh-CN" altLang="en-US" i="0" smtClean="0">
                    <a:latin typeface="Cambria Math" panose="02040503050406030204" pitchFamily="18" charset="0"/>
                  </a:rPr>
                  <a:t>𝜎</a:t>
                </a:r>
                <a:r>
                  <a:rPr lang="en-US" altLang="zh-CN" i="0">
                    <a:latin typeface="Cambria Math" panose="02040503050406030204" pitchFamily="18" charset="0"/>
                  </a:rPr>
                  <a:t>(𝑡_𝑥 ),</a:t>
                </a:r>
                <a:r>
                  <a:rPr lang="zh-CN" altLang="en-US" i="0">
                    <a:latin typeface="Cambria Math" panose="02040503050406030204" pitchFamily="18" charset="0"/>
                  </a:rPr>
                  <a:t>𝜎</a:t>
                </a:r>
                <a:r>
                  <a:rPr lang="en-US" altLang="zh-CN" i="0">
                    <a:latin typeface="Cambria Math" panose="02040503050406030204" pitchFamily="18" charset="0"/>
                  </a:rPr>
                  <a:t>(𝑡_𝑦 )</a:t>
                </a:r>
                <a:r>
                  <a:rPr lang="zh-CN" altLang="en-US" dirty="0" smtClean="0"/>
                  <a:t>约束在（</a:t>
                </a:r>
                <a:r>
                  <a:rPr lang="en-US" altLang="zh-CN" dirty="0" smtClean="0"/>
                  <a:t>0</a:t>
                </a:r>
                <a:r>
                  <a:rPr lang="zh-CN" altLang="en-US" dirty="0" smtClean="0"/>
                  <a:t>，</a:t>
                </a:r>
                <a:r>
                  <a:rPr lang="en-US" altLang="zh-CN" dirty="0" smtClean="0"/>
                  <a:t>1</a:t>
                </a:r>
                <a:r>
                  <a:rPr lang="zh-CN" altLang="en-US" dirty="0" smtClean="0"/>
                  <a:t>）内。</a:t>
                </a:r>
                <a:r>
                  <a:rPr lang="zh-CN" altLang="en-US" i="0" smtClean="0">
                    <a:latin typeface="Cambria Math" panose="02040503050406030204" pitchFamily="18" charset="0"/>
                  </a:rPr>
                  <a:t>𝜎</a:t>
                </a:r>
                <a:r>
                  <a:rPr lang="en-US" altLang="zh-CN" i="0">
                    <a:latin typeface="Cambria Math" panose="02040503050406030204" pitchFamily="18" charset="0"/>
                  </a:rPr>
                  <a:t>(𝑡_𝑥 ),</a:t>
                </a:r>
                <a:r>
                  <a:rPr lang="zh-CN" altLang="en-US" i="0">
                    <a:latin typeface="Cambria Math" panose="02040503050406030204" pitchFamily="18" charset="0"/>
                  </a:rPr>
                  <a:t>𝜎</a:t>
                </a:r>
                <a:r>
                  <a:rPr lang="en-US" altLang="zh-CN" i="0">
                    <a:latin typeface="Cambria Math" panose="02040503050406030204" pitchFamily="18" charset="0"/>
                  </a:rPr>
                  <a:t>(𝑡_𝑦 )</a:t>
                </a:r>
                <a:r>
                  <a:rPr lang="zh-CN" altLang="en-US" dirty="0" smtClean="0"/>
                  <a:t>给出了预测框相对于子块左上角原点（</a:t>
                </a:r>
                <a:r>
                  <a:rPr lang="en-US" altLang="zh-CN" b="0" i="0" smtClean="0">
                    <a:latin typeface="Cambria Math" panose="02040503050406030204" pitchFamily="18" charset="0"/>
                  </a:rPr>
                  <a:t>𝑐_𝑥</a:t>
                </a:r>
                <a:r>
                  <a:rPr lang="zh-CN" altLang="en-US" dirty="0" smtClean="0"/>
                  <a:t>，</a:t>
                </a:r>
                <a:r>
                  <a:rPr lang="en-US" altLang="zh-CN" i="0">
                    <a:latin typeface="Cambria Math" panose="02040503050406030204" pitchFamily="18" charset="0"/>
                  </a:rPr>
                  <a:t>𝑐</a:t>
                </a:r>
                <a:r>
                  <a:rPr lang="en-US" altLang="zh-CN" i="0" smtClean="0">
                    <a:latin typeface="Cambria Math" panose="02040503050406030204" pitchFamily="18" charset="0"/>
                  </a:rPr>
                  <a:t>_</a:t>
                </a:r>
                <a:r>
                  <a:rPr lang="en-US" altLang="zh-CN" b="0" i="0" smtClean="0">
                    <a:latin typeface="Cambria Math" panose="02040503050406030204" pitchFamily="18" charset="0"/>
                  </a:rPr>
                  <a:t>𝑦</a:t>
                </a:r>
                <a:r>
                  <a:rPr lang="zh-CN" altLang="en-US" dirty="0" smtClean="0"/>
                  <a:t>）的归一化偏移量，</a:t>
                </a:r>
                <a:r>
                  <a:rPr lang="zh-CN" altLang="en-US" i="0" smtClean="0">
                    <a:latin typeface="Cambria Math" panose="02040503050406030204" pitchFamily="18" charset="0"/>
                  </a:rPr>
                  <a:t>𝜎</a:t>
                </a:r>
                <a:r>
                  <a:rPr lang="en-US" altLang="zh-CN" i="0" smtClean="0">
                    <a:latin typeface="Cambria Math" panose="02040503050406030204" pitchFamily="18" charset="0"/>
                  </a:rPr>
                  <a:t>(</a:t>
                </a:r>
                <a:r>
                  <a:rPr lang="en-US" altLang="zh-CN" b="0" i="0" smtClean="0">
                    <a:latin typeface="Cambria Math" panose="02040503050406030204" pitchFamily="18" charset="0"/>
                  </a:rPr>
                  <a:t>𝑡_</a:t>
                </a:r>
                <a:r>
                  <a:rPr lang="zh-CN" altLang="en-US" i="0" smtClean="0">
                    <a:latin typeface="Cambria Math" panose="02040503050406030204" pitchFamily="18" charset="0"/>
                  </a:rPr>
                  <a:t>𝜎 )</a:t>
                </a:r>
                <a:r>
                  <a:rPr lang="zh-CN" altLang="en-US" dirty="0" smtClean="0"/>
                  <a:t>给出预测框的置信度。因为对所预测的目标框中心点位置分为进行了限制，所以模型优化的过程变得更加稳定且更容易学习。</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值得注意的是，</a:t>
                </a:r>
                <a:r>
                  <a:rPr lang="en-US" altLang="zh-CN" dirty="0" smtClean="0"/>
                  <a:t>YOLO</a:t>
                </a:r>
                <a:r>
                  <a:rPr lang="zh-CN" altLang="en-US" dirty="0" smtClean="0"/>
                  <a:t>第二版使用了基于锚的方法，每个锚都分别回归各自框的坐标和分类概率，本质上就去掉了</a:t>
                </a:r>
                <a:r>
                  <a:rPr lang="en-US" altLang="zh-CN" dirty="0" smtClean="0"/>
                  <a:t>YOLO</a:t>
                </a:r>
                <a:r>
                  <a:rPr lang="zh-CN" altLang="en-US" dirty="0" smtClean="0"/>
                  <a:t>第一版中一个子块只包含一个目标的默认假设，从而针对密集小目标场景增加了适应能力。使用锚策略，和</a:t>
                </a:r>
                <a:r>
                  <a:rPr lang="en-US" altLang="zh-CN" dirty="0" smtClean="0"/>
                  <a:t>YOLO</a:t>
                </a:r>
                <a:r>
                  <a:rPr lang="zh-CN" altLang="en-US" dirty="0" smtClean="0"/>
                  <a:t>第一版相比显著增加了预测框的数量。</a:t>
                </a:r>
                <a:r>
                  <a:rPr lang="en-US" altLang="zh-CN" sz="1200" b="0" i="0" kern="1200" dirty="0" smtClean="0">
                    <a:solidFill>
                      <a:schemeClr val="tx1"/>
                    </a:solidFill>
                    <a:effectLst/>
                    <a:latin typeface="+mn-lt"/>
                    <a:ea typeface="+mn-ea"/>
                    <a:cs typeface="+mn-cs"/>
                  </a:rPr>
                  <a:t>YOLOv1</a:t>
                </a:r>
                <a:r>
                  <a:rPr lang="zh-CN" altLang="en-US" sz="1200" b="0" i="0" kern="1200" dirty="0" smtClean="0">
                    <a:solidFill>
                      <a:schemeClr val="tx1"/>
                    </a:solidFill>
                    <a:effectLst/>
                    <a:latin typeface="+mn-lt"/>
                    <a:ea typeface="+mn-ea"/>
                    <a:cs typeface="+mn-cs"/>
                  </a:rPr>
                  <a:t>只能预测</a:t>
                </a:r>
                <a:r>
                  <a:rPr lang="en-US" altLang="zh-CN" sz="1200" b="0" i="0" kern="1200" dirty="0" smtClean="0">
                    <a:solidFill>
                      <a:schemeClr val="tx1"/>
                    </a:solidFill>
                    <a:effectLst/>
                    <a:latin typeface="+mn-lt"/>
                    <a:ea typeface="+mn-ea"/>
                    <a:cs typeface="+mn-cs"/>
                  </a:rPr>
                  <a:t>98</a:t>
                </a:r>
                <a:r>
                  <a:rPr lang="zh-CN" altLang="en-US" sz="1200" b="0" i="0" kern="1200" dirty="0" smtClean="0">
                    <a:solidFill>
                      <a:schemeClr val="tx1"/>
                    </a:solidFill>
                    <a:effectLst/>
                    <a:latin typeface="+mn-lt"/>
                    <a:ea typeface="+mn-ea"/>
                    <a:cs typeface="+mn-cs"/>
                  </a:rPr>
                  <a:t>个边界框（</a:t>
                </a:r>
                <a:r>
                  <a:rPr lang="en-US" altLang="zh-CN" sz="1200" b="0" i="0" kern="1200" dirty="0" smtClean="0">
                    <a:solidFill>
                      <a:schemeClr val="tx1"/>
                    </a:solidFill>
                    <a:effectLst/>
                    <a:latin typeface="+mn-lt"/>
                    <a:ea typeface="+mn-ea"/>
                    <a:cs typeface="+mn-cs"/>
                  </a:rPr>
                  <a:t>7×7×2</a:t>
                </a:r>
                <a:r>
                  <a:rPr lang="zh-CN" altLang="en-US" sz="1200" b="0" i="0" kern="1200" dirty="0" smtClean="0">
                    <a:solidFill>
                      <a:schemeClr val="tx1"/>
                    </a:solidFill>
                    <a:effectLst/>
                    <a:latin typeface="+mn-lt"/>
                    <a:ea typeface="+mn-ea"/>
                    <a:cs typeface="+mn-cs"/>
                  </a:rPr>
                  <a:t>），而</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使用锚框之后可以预测上千个边界框（</a:t>
                </a:r>
                <a:r>
                  <a:rPr lang="en-US" altLang="zh-CN" sz="1200" b="0" i="0" kern="1200" dirty="0" smtClean="0">
                    <a:solidFill>
                      <a:schemeClr val="tx1"/>
                    </a:solidFill>
                    <a:effectLst/>
                    <a:latin typeface="+mn-lt"/>
                    <a:ea typeface="+mn-ea"/>
                    <a:cs typeface="+mn-cs"/>
                  </a:rPr>
                  <a:t>13×13×</a:t>
                </a:r>
                <a:r>
                  <a:rPr lang="zh-CN" altLang="en-US" sz="1200" b="0" i="0" kern="1200" dirty="0" smtClean="0">
                    <a:solidFill>
                      <a:schemeClr val="tx1"/>
                    </a:solidFill>
                    <a:effectLst/>
                    <a:latin typeface="+mn-lt"/>
                    <a:ea typeface="+mn-ea"/>
                    <a:cs typeface="+mn-cs"/>
                  </a:rPr>
                  <a:t>锚数量）。所以使用</a:t>
                </a:r>
                <a:r>
                  <a:rPr lang="en-US" altLang="zh-CN" sz="1200" b="0" i="0" kern="1200" dirty="0" smtClean="0">
                    <a:solidFill>
                      <a:schemeClr val="tx1"/>
                    </a:solidFill>
                    <a:effectLst/>
                    <a:latin typeface="+mn-lt"/>
                    <a:ea typeface="+mn-ea"/>
                    <a:cs typeface="+mn-cs"/>
                  </a:rPr>
                  <a:t>anchor boxes</a:t>
                </a:r>
                <a:r>
                  <a:rPr lang="zh-CN" altLang="en-US" sz="1200" b="0" i="0" kern="1200" dirty="0" smtClean="0">
                    <a:solidFill>
                      <a:schemeClr val="tx1"/>
                    </a:solidFill>
                    <a:effectLst/>
                    <a:latin typeface="+mn-lt"/>
                    <a:ea typeface="+mn-ea"/>
                    <a:cs typeface="+mn-cs"/>
                  </a:rPr>
                  <a:t>之后，</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的召回率大大提升，由原来的</a:t>
                </a:r>
                <a:r>
                  <a:rPr lang="en-US" altLang="zh-CN" sz="1200" b="0" i="0" kern="1200" dirty="0" smtClean="0">
                    <a:solidFill>
                      <a:schemeClr val="tx1"/>
                    </a:solidFill>
                    <a:effectLst/>
                    <a:latin typeface="+mn-lt"/>
                    <a:ea typeface="+mn-ea"/>
                    <a:cs typeface="+mn-cs"/>
                  </a:rPr>
                  <a:t>81%</a:t>
                </a:r>
                <a:r>
                  <a:rPr lang="zh-CN" altLang="en-US" sz="1200" b="0" i="0" kern="1200" dirty="0" smtClean="0">
                    <a:solidFill>
                      <a:schemeClr val="tx1"/>
                    </a:solidFill>
                    <a:effectLst/>
                    <a:latin typeface="+mn-lt"/>
                    <a:ea typeface="+mn-ea"/>
                    <a:cs typeface="+mn-cs"/>
                  </a:rPr>
                  <a:t>升至</a:t>
                </a:r>
                <a:r>
                  <a:rPr lang="en-US" altLang="zh-CN" sz="1200" b="0" i="0" kern="1200" dirty="0" smtClean="0">
                    <a:solidFill>
                      <a:schemeClr val="tx1"/>
                    </a:solidFill>
                    <a:effectLst/>
                    <a:latin typeface="+mn-lt"/>
                    <a:ea typeface="+mn-ea"/>
                    <a:cs typeface="+mn-cs"/>
                  </a:rPr>
                  <a:t>88%</a:t>
                </a:r>
                <a:r>
                  <a:rPr lang="zh-CN" altLang="en-US" sz="1200" b="0" i="0" kern="1200" dirty="0" smtClean="0">
                    <a:solidFill>
                      <a:schemeClr val="tx1"/>
                    </a:solidFill>
                    <a:effectLst/>
                    <a:latin typeface="+mn-lt"/>
                    <a:ea typeface="+mn-ea"/>
                    <a:cs typeface="+mn-cs"/>
                  </a:rPr>
                  <a:t>。</a:t>
                </a:r>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792177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YOLO</a:t>
            </a:r>
            <a:r>
              <a:rPr lang="zh-CN" altLang="en-US" dirty="0" smtClean="0"/>
              <a:t>伸用最上层</a:t>
            </a:r>
            <a:r>
              <a:rPr lang="en-US" altLang="zh-CN" dirty="0" smtClean="0"/>
              <a:t>13×13</a:t>
            </a:r>
            <a:r>
              <a:rPr lang="zh-CN" altLang="en-US" dirty="0" smtClean="0"/>
              <a:t>的特征图进行目标预测</a:t>
            </a:r>
            <a:r>
              <a:rPr lang="en-US" altLang="zh-CN" dirty="0" smtClean="0"/>
              <a:t>,</a:t>
            </a:r>
            <a:r>
              <a:rPr lang="zh-CN" altLang="en-US" dirty="0" smtClean="0"/>
              <a:t>因为顶层的特征图具有较大的感受野，所以有利于对大目标进行预测</a:t>
            </a:r>
            <a:r>
              <a:rPr lang="en-US" altLang="zh-CN" dirty="0" smtClean="0"/>
              <a:t>,</a:t>
            </a:r>
            <a:r>
              <a:rPr lang="zh-CN" altLang="en-US" dirty="0" smtClean="0"/>
              <a:t>但同时</a:t>
            </a:r>
            <a:r>
              <a:rPr lang="en-US" altLang="zh-CN" dirty="0" smtClean="0"/>
              <a:t>,</a:t>
            </a:r>
            <a:r>
              <a:rPr lang="zh-CN" altLang="en-US" dirty="0" smtClean="0"/>
              <a:t>也会因为使用的都是整体特征</a:t>
            </a:r>
            <a:r>
              <a:rPr lang="en-US" altLang="zh-CN" dirty="0" smtClean="0"/>
              <a:t>,</a:t>
            </a:r>
            <a:r>
              <a:rPr lang="zh-CN" altLang="en-US" dirty="0" smtClean="0"/>
              <a:t>所以对细节和小目标的预测性造成影响。为了提升多尺度目标的检测能力</a:t>
            </a:r>
            <a:r>
              <a:rPr lang="en-US" altLang="zh-CN" dirty="0" smtClean="0"/>
              <a:t>,Faster R-CNN </a:t>
            </a:r>
            <a:r>
              <a:rPr lang="zh-CN" altLang="en-US" dirty="0" smtClean="0"/>
              <a:t>采取的策略是在不同尺度的特征图上设计锚， </a:t>
            </a:r>
            <a:r>
              <a:rPr lang="en-US" altLang="zh-CN" dirty="0" smtClean="0"/>
              <a:t>YOLO</a:t>
            </a:r>
            <a:r>
              <a:rPr lang="zh-CN" altLang="en-US" dirty="0" smtClean="0"/>
              <a:t>则另辟蹊径，把深层特征和浅层特征进行级联，使得新的特征图同时具有深层特征和浅层特征的表达能力</a:t>
            </a:r>
            <a:r>
              <a:rPr lang="en-US" altLang="zh-CN" dirty="0" smtClean="0"/>
              <a:t>,</a:t>
            </a:r>
            <a:r>
              <a:rPr lang="zh-CN" altLang="en-US" dirty="0" smtClean="0"/>
              <a:t>并将其命名为</a:t>
            </a:r>
            <a:r>
              <a:rPr lang="en-US" altLang="zh-CN" dirty="0" err="1" smtClean="0"/>
              <a:t>passthrough</a:t>
            </a:r>
            <a:r>
              <a:rPr lang="zh-CN" altLang="en-US" dirty="0" smtClean="0"/>
              <a:t>层。</a:t>
            </a:r>
            <a:endParaRPr lang="en-US" altLang="zh-CN" dirty="0" smtClean="0"/>
          </a:p>
          <a:p>
            <a:r>
              <a:rPr lang="en-US" altLang="zh-CN" sz="1200" b="0" i="0" kern="1200" dirty="0" err="1" smtClean="0">
                <a:solidFill>
                  <a:schemeClr val="tx1"/>
                </a:solidFill>
                <a:effectLst/>
                <a:latin typeface="+mn-lt"/>
                <a:ea typeface="+mn-ea"/>
                <a:cs typeface="+mn-cs"/>
              </a:rPr>
              <a:t>passthrough</a:t>
            </a:r>
            <a:r>
              <a:rPr lang="zh-CN" altLang="en-US" sz="1200" b="0" i="0" kern="1200" dirty="0" smtClean="0">
                <a:solidFill>
                  <a:schemeClr val="tx1"/>
                </a:solidFill>
                <a:effectLst/>
                <a:latin typeface="+mn-lt"/>
                <a:ea typeface="+mn-ea"/>
                <a:cs typeface="+mn-cs"/>
              </a:rPr>
              <a:t>层与</a:t>
            </a:r>
            <a:r>
              <a:rPr lang="en-US" altLang="zh-CN" sz="1200" b="0" i="0" kern="1200" dirty="0" err="1" smtClean="0">
                <a:solidFill>
                  <a:schemeClr val="tx1"/>
                </a:solidFill>
                <a:effectLst/>
                <a:latin typeface="+mn-lt"/>
                <a:ea typeface="+mn-ea"/>
                <a:cs typeface="+mn-cs"/>
              </a:rPr>
              <a:t>ResNet</a:t>
            </a:r>
            <a:r>
              <a:rPr lang="zh-CN" altLang="en-US" sz="1200" b="0" i="0" kern="1200" dirty="0" smtClean="0">
                <a:solidFill>
                  <a:schemeClr val="tx1"/>
                </a:solidFill>
                <a:effectLst/>
                <a:latin typeface="+mn-lt"/>
                <a:ea typeface="+mn-ea"/>
                <a:cs typeface="+mn-cs"/>
              </a:rPr>
              <a:t>网络的</a:t>
            </a:r>
            <a:r>
              <a:rPr lang="en-US" altLang="zh-CN" sz="1200" b="0" i="0" kern="1200" dirty="0" smtClean="0">
                <a:solidFill>
                  <a:schemeClr val="tx1"/>
                </a:solidFill>
                <a:effectLst/>
                <a:latin typeface="+mn-lt"/>
                <a:ea typeface="+mn-ea"/>
                <a:cs typeface="+mn-cs"/>
              </a:rPr>
              <a:t>shortcut</a:t>
            </a:r>
            <a:r>
              <a:rPr lang="zh-CN" altLang="en-US" sz="1200" b="0" i="0" kern="1200" dirty="0" smtClean="0">
                <a:solidFill>
                  <a:schemeClr val="tx1"/>
                </a:solidFill>
                <a:effectLst/>
                <a:latin typeface="+mn-lt"/>
                <a:ea typeface="+mn-ea"/>
                <a:cs typeface="+mn-cs"/>
              </a:rPr>
              <a:t>类似，以前面更高分辨率的特征图为输入，然后将其连接到后面的低分辨率特征图上。</a:t>
            </a:r>
            <a:r>
              <a:rPr lang="zh-CN" altLang="en-US" dirty="0" smtClean="0"/>
              <a:t>下图为</a:t>
            </a:r>
            <a:r>
              <a:rPr lang="en-US" altLang="zh-CN" dirty="0" err="1" smtClean="0"/>
              <a:t>passthrough</a:t>
            </a:r>
            <a:r>
              <a:rPr lang="zh-CN" altLang="en-US" dirty="0" smtClean="0"/>
              <a:t>的简单演示。</a:t>
            </a:r>
            <a:endParaRPr lang="en-US" altLang="zh-CN" dirty="0" smtClean="0"/>
          </a:p>
          <a:p>
            <a:r>
              <a:rPr lang="zh-CN" altLang="en-US" dirty="0" smtClean="0"/>
              <a:t>例如，顶层特征图的尺寸为</a:t>
            </a:r>
            <a:r>
              <a:rPr lang="en-US" altLang="zh-CN" dirty="0" smtClean="0"/>
              <a:t>13×13</a:t>
            </a:r>
            <a:r>
              <a:rPr lang="zh-CN" altLang="en-US" dirty="0" smtClean="0"/>
              <a:t>，其前面一层特征图的尺寸为</a:t>
            </a:r>
            <a:r>
              <a:rPr lang="en-US" altLang="zh-CN" dirty="0" smtClean="0"/>
              <a:t>26×26,</a:t>
            </a:r>
            <a:r>
              <a:rPr lang="zh-CN" altLang="en-US" dirty="0" smtClean="0"/>
              <a:t>将</a:t>
            </a:r>
            <a:r>
              <a:rPr lang="en-US" altLang="zh-CN" dirty="0" smtClean="0"/>
              <a:t>26×26</a:t>
            </a:r>
            <a:r>
              <a:rPr lang="zh-CN" altLang="en-US" dirty="0" smtClean="0"/>
              <a:t>的特征图按照奇数行列和偶数行列进行拆分，变成</a:t>
            </a:r>
            <a:r>
              <a:rPr lang="en-US" altLang="zh-CN" dirty="0" smtClean="0"/>
              <a:t>4</a:t>
            </a:r>
            <a:r>
              <a:rPr lang="zh-CN" altLang="en-US" dirty="0" smtClean="0"/>
              <a:t>个</a:t>
            </a:r>
            <a:r>
              <a:rPr lang="en-US" altLang="zh-CN" dirty="0" smtClean="0"/>
              <a:t>13×13</a:t>
            </a:r>
            <a:r>
              <a:rPr lang="zh-CN" altLang="en-US" dirty="0" smtClean="0"/>
              <a:t>的特征图并依次摞在原始的顶层</a:t>
            </a:r>
            <a:r>
              <a:rPr lang="en-US" altLang="zh-CN" dirty="0" smtClean="0"/>
              <a:t>13×13</a:t>
            </a:r>
            <a:r>
              <a:rPr lang="zh-CN" altLang="en-US" dirty="0" smtClean="0"/>
              <a:t>的特征图上</a:t>
            </a:r>
            <a:r>
              <a:rPr lang="en-US" altLang="zh-CN" dirty="0" smtClean="0"/>
              <a:t>,</a:t>
            </a:r>
            <a:r>
              <a:rPr lang="zh-CN" altLang="en-US" dirty="0" smtClean="0"/>
              <a:t>则新的特征图尺寸仍然保持</a:t>
            </a:r>
            <a:r>
              <a:rPr lang="en-US" altLang="zh-CN" dirty="0" smtClean="0"/>
              <a:t>13×13</a:t>
            </a:r>
            <a:r>
              <a:rPr lang="zh-CN" altLang="en-US" dirty="0" smtClean="0"/>
              <a:t>，通道数为原顶层</a:t>
            </a:r>
            <a:r>
              <a:rPr lang="en-US" altLang="zh-CN" dirty="0" smtClean="0"/>
              <a:t>13×13</a:t>
            </a:r>
            <a:r>
              <a:rPr lang="zh-CN" altLang="en-US" dirty="0" smtClean="0"/>
              <a:t>特征图通道数</a:t>
            </a:r>
            <a:r>
              <a:rPr lang="en-US" altLang="zh-CN" dirty="0" smtClean="0"/>
              <a:t>+4×</a:t>
            </a:r>
            <a:r>
              <a:rPr lang="zh-CN" altLang="en-US" dirty="0" smtClean="0"/>
              <a:t>原</a:t>
            </a:r>
            <a:r>
              <a:rPr lang="en-US" altLang="zh-CN" dirty="0" smtClean="0"/>
              <a:t>26×26</a:t>
            </a:r>
            <a:r>
              <a:rPr lang="zh-CN" altLang="en-US" dirty="0" smtClean="0"/>
              <a:t>特征图的通道数。对于</a:t>
            </a:r>
            <a:r>
              <a:rPr lang="en-US" altLang="zh-CN" dirty="0" smtClean="0"/>
              <a:t>Darknet-19</a:t>
            </a:r>
            <a:r>
              <a:rPr lang="zh-CN" altLang="en-US" dirty="0" smtClean="0"/>
              <a:t>模型，大小为</a:t>
            </a:r>
            <a:r>
              <a:rPr lang="en-US" altLang="zh-CN" dirty="0" smtClean="0"/>
              <a:t>26×26×512</a:t>
            </a:r>
            <a:r>
              <a:rPr lang="zh-CN" altLang="en-US" dirty="0" smtClean="0"/>
              <a:t>的特征图，</a:t>
            </a:r>
            <a:r>
              <a:rPr lang="en-US" altLang="zh-CN" dirty="0" err="1" smtClean="0"/>
              <a:t>passthrough</a:t>
            </a:r>
            <a:r>
              <a:rPr lang="zh-CN" altLang="en-US" dirty="0" smtClean="0"/>
              <a:t>层处理后变为</a:t>
            </a:r>
            <a:r>
              <a:rPr lang="en-US" altLang="zh-CN" dirty="0" smtClean="0"/>
              <a:t>13×13×2048</a:t>
            </a:r>
            <a:r>
              <a:rPr lang="zh-CN" altLang="en-US" dirty="0" smtClean="0"/>
              <a:t>，这样就可以和后面</a:t>
            </a:r>
            <a:r>
              <a:rPr lang="en-US" altLang="zh-CN" dirty="0" smtClean="0"/>
              <a:t>13×13×1024</a:t>
            </a:r>
            <a:r>
              <a:rPr lang="zh-CN" altLang="en-US" dirty="0" smtClean="0"/>
              <a:t>特征图连接，形成新的</a:t>
            </a:r>
            <a:r>
              <a:rPr lang="en-US" altLang="zh-CN" dirty="0" smtClean="0"/>
              <a:t>13×13×3072</a:t>
            </a:r>
            <a:r>
              <a:rPr lang="zh-CN" altLang="en-US" dirty="0" smtClean="0"/>
              <a:t>特征图进行卷积做预测。</a:t>
            </a:r>
          </a:p>
          <a:p>
            <a:r>
              <a:rPr lang="zh-CN" altLang="en-US" dirty="0" smtClean="0"/>
              <a:t>基于新的特征图进行预测</a:t>
            </a:r>
            <a:r>
              <a:rPr lang="en-US" altLang="zh-CN" dirty="0" smtClean="0"/>
              <a:t>,</a:t>
            </a:r>
            <a:r>
              <a:rPr lang="en-US" altLang="zh-CN" dirty="0" err="1" smtClean="0"/>
              <a:t>mAP</a:t>
            </a:r>
            <a:r>
              <a:rPr lang="zh-CN" altLang="en-US" dirty="0" smtClean="0"/>
              <a:t>有了</a:t>
            </a:r>
            <a:r>
              <a:rPr lang="en-US" altLang="zh-CN" dirty="0" smtClean="0"/>
              <a:t>1%</a:t>
            </a:r>
            <a:r>
              <a:rPr lang="zh-CN" altLang="en-US" dirty="0" smtClean="0"/>
              <a:t>的提升。</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093654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因为</a:t>
            </a:r>
            <a:r>
              <a:rPr lang="en-US" altLang="zh-CN" dirty="0" smtClean="0"/>
              <a:t>YOLO</a:t>
            </a:r>
            <a:r>
              <a:rPr lang="zh-CN" altLang="en-US" dirty="0" smtClean="0"/>
              <a:t>第二版使用的是全卷积网络，只包含卷积层和池化层</a:t>
            </a:r>
            <a:r>
              <a:rPr lang="en-US" altLang="zh-CN" dirty="0" smtClean="0"/>
              <a:t>,</a:t>
            </a:r>
            <a:r>
              <a:rPr lang="zh-CN" altLang="en-US" dirty="0" smtClean="0"/>
              <a:t>所以对输入图像的尺寸没有限制。</a:t>
            </a:r>
            <a:r>
              <a:rPr lang="zh-CN" altLang="en-US" sz="1200" b="0" i="0" kern="1200" dirty="0" smtClean="0">
                <a:solidFill>
                  <a:schemeClr val="tx1"/>
                </a:solidFill>
                <a:effectLst/>
                <a:latin typeface="+mn-lt"/>
                <a:ea typeface="+mn-ea"/>
                <a:cs typeface="+mn-cs"/>
              </a:rPr>
              <a:t>为了增强模型的鲁棒性，</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借鉴了</a:t>
            </a:r>
            <a:r>
              <a:rPr lang="en-US" altLang="zh-CN" sz="1200" b="0" i="0" kern="1200" dirty="0" smtClean="0">
                <a:solidFill>
                  <a:schemeClr val="tx1"/>
                </a:solidFill>
                <a:effectLst/>
                <a:latin typeface="+mn-lt"/>
                <a:ea typeface="+mn-ea"/>
                <a:cs typeface="+mn-cs"/>
              </a:rPr>
              <a:t>FPN</a:t>
            </a:r>
            <a:r>
              <a:rPr lang="zh-CN" altLang="en-US" sz="1200" b="0" i="0" kern="1200" dirty="0" smtClean="0">
                <a:solidFill>
                  <a:schemeClr val="tx1"/>
                </a:solidFill>
                <a:effectLst/>
                <a:latin typeface="+mn-lt"/>
                <a:ea typeface="+mn-ea"/>
                <a:cs typeface="+mn-cs"/>
              </a:rPr>
              <a:t>的思想，采用了多尺度输入训练策略，具体来说就是在训练过程中每间隔一定的迭代次数之后改变模型的输入图片大小。由于</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的下采样总步长为</a:t>
            </a:r>
            <a:r>
              <a:rPr lang="en-US" altLang="zh-CN" sz="1200" b="0" i="0" kern="1200" dirty="0" smtClean="0">
                <a:solidFill>
                  <a:schemeClr val="tx1"/>
                </a:solidFill>
                <a:effectLst/>
                <a:latin typeface="+mn-lt"/>
                <a:ea typeface="+mn-ea"/>
                <a:cs typeface="+mn-cs"/>
              </a:rPr>
              <a:t>32</a:t>
            </a:r>
            <a:r>
              <a:rPr lang="zh-CN" altLang="en-US" sz="1200" b="0" i="0" kern="1200" dirty="0" smtClean="0">
                <a:solidFill>
                  <a:schemeClr val="tx1"/>
                </a:solidFill>
                <a:effectLst/>
                <a:latin typeface="+mn-lt"/>
                <a:ea typeface="+mn-ea"/>
                <a:cs typeface="+mn-cs"/>
              </a:rPr>
              <a:t>，输入图片大小选择一系列为</a:t>
            </a:r>
            <a:r>
              <a:rPr lang="en-US" altLang="zh-CN" sz="1200" b="0" i="0" kern="1200" dirty="0" smtClean="0">
                <a:solidFill>
                  <a:schemeClr val="tx1"/>
                </a:solidFill>
                <a:effectLst/>
                <a:latin typeface="+mn-lt"/>
                <a:ea typeface="+mn-ea"/>
                <a:cs typeface="+mn-cs"/>
              </a:rPr>
              <a:t>32</a:t>
            </a:r>
            <a:r>
              <a:rPr lang="zh-CN" altLang="en-US" sz="1200" b="0" i="0" kern="1200" dirty="0" smtClean="0">
                <a:solidFill>
                  <a:schemeClr val="tx1"/>
                </a:solidFill>
                <a:effectLst/>
                <a:latin typeface="+mn-lt"/>
                <a:ea typeface="+mn-ea"/>
                <a:cs typeface="+mn-cs"/>
              </a:rPr>
              <a:t>倍数的值：</a:t>
            </a:r>
            <a:r>
              <a:rPr lang="en-US" altLang="zh-CN" sz="1200" b="0" i="0" kern="1200" dirty="0" smtClean="0">
                <a:solidFill>
                  <a:schemeClr val="tx1"/>
                </a:solidFill>
                <a:effectLst/>
                <a:latin typeface="+mn-lt"/>
                <a:ea typeface="+mn-ea"/>
                <a:cs typeface="+mn-cs"/>
              </a:rPr>
              <a:t>320</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352</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608</a:t>
            </a:r>
            <a:r>
              <a:rPr lang="zh-CN" altLang="en-US" sz="1200" b="0" i="0" kern="1200" dirty="0" smtClean="0">
                <a:solidFill>
                  <a:schemeClr val="tx1"/>
                </a:solidFill>
                <a:effectLst/>
                <a:latin typeface="+mn-lt"/>
                <a:ea typeface="+mn-ea"/>
                <a:cs typeface="+mn-cs"/>
              </a:rPr>
              <a:t>，输入图片最小为</a:t>
            </a:r>
            <a:r>
              <a:rPr lang="en-US" altLang="zh-CN" sz="1200" b="0" i="0" kern="1200" dirty="0" smtClean="0">
                <a:solidFill>
                  <a:schemeClr val="tx1"/>
                </a:solidFill>
                <a:effectLst/>
                <a:latin typeface="+mn-lt"/>
                <a:ea typeface="+mn-ea"/>
                <a:cs typeface="+mn-cs"/>
              </a:rPr>
              <a:t>320×320</a:t>
            </a:r>
            <a:r>
              <a:rPr lang="zh-CN" altLang="en-US" sz="1200" b="0" i="0" kern="1200" dirty="0" smtClean="0">
                <a:solidFill>
                  <a:schemeClr val="tx1"/>
                </a:solidFill>
                <a:effectLst/>
                <a:latin typeface="+mn-lt"/>
                <a:ea typeface="+mn-ea"/>
                <a:cs typeface="+mn-cs"/>
              </a:rPr>
              <a:t>，此时对应的特征图大小为</a:t>
            </a:r>
            <a:r>
              <a:rPr lang="en-US" altLang="zh-CN" sz="1200" b="0" i="0" kern="1200" dirty="0" smtClean="0">
                <a:solidFill>
                  <a:schemeClr val="tx1"/>
                </a:solidFill>
                <a:effectLst/>
                <a:latin typeface="+mn-lt"/>
                <a:ea typeface="+mn-ea"/>
                <a:cs typeface="+mn-cs"/>
              </a:rPr>
              <a:t>10×10</a:t>
            </a:r>
            <a:r>
              <a:rPr lang="zh-CN" altLang="en-US" sz="1200" b="0" i="0" kern="1200" dirty="0" smtClean="0">
                <a:solidFill>
                  <a:schemeClr val="tx1"/>
                </a:solidFill>
                <a:effectLst/>
                <a:latin typeface="+mn-lt"/>
                <a:ea typeface="+mn-ea"/>
                <a:cs typeface="+mn-cs"/>
              </a:rPr>
              <a:t>（为什么不是奇数尚不清楚），输入图片最大为</a:t>
            </a:r>
            <a:r>
              <a:rPr lang="en-US" altLang="zh-CN" sz="1200" b="0" i="0" kern="1200" dirty="0" smtClean="0">
                <a:solidFill>
                  <a:schemeClr val="tx1"/>
                </a:solidFill>
                <a:effectLst/>
                <a:latin typeface="+mn-lt"/>
                <a:ea typeface="+mn-ea"/>
                <a:cs typeface="+mn-cs"/>
              </a:rPr>
              <a:t>608×608</a:t>
            </a:r>
            <a:r>
              <a:rPr lang="zh-CN" altLang="en-US" sz="1200" b="0" i="0" kern="1200" dirty="0" smtClean="0">
                <a:solidFill>
                  <a:schemeClr val="tx1"/>
                </a:solidFill>
                <a:effectLst/>
                <a:latin typeface="+mn-lt"/>
                <a:ea typeface="+mn-ea"/>
                <a:cs typeface="+mn-cs"/>
              </a:rPr>
              <a:t>，此时对应的特征图大小为</a:t>
            </a:r>
            <a:r>
              <a:rPr lang="en-US" altLang="zh-CN" sz="1200" b="0" i="0" kern="1200" dirty="0" smtClean="0">
                <a:solidFill>
                  <a:schemeClr val="tx1"/>
                </a:solidFill>
                <a:effectLst/>
                <a:latin typeface="+mn-lt"/>
                <a:ea typeface="+mn-ea"/>
                <a:cs typeface="+mn-cs"/>
              </a:rPr>
              <a:t>19×19</a:t>
            </a:r>
            <a:r>
              <a:rPr lang="zh-CN" altLang="en-US" sz="1200" b="0" i="0" kern="1200" dirty="0" smtClean="0">
                <a:solidFill>
                  <a:schemeClr val="tx1"/>
                </a:solidFill>
                <a:effectLst/>
                <a:latin typeface="+mn-lt"/>
                <a:ea typeface="+mn-ea"/>
                <a:cs typeface="+mn-cs"/>
              </a:rPr>
              <a:t>。在训练过程中，每隔</a:t>
            </a:r>
            <a:r>
              <a:rPr lang="en-US" altLang="zh-CN" sz="1200" b="0" i="0" kern="1200" dirty="0" smtClean="0">
                <a:solidFill>
                  <a:schemeClr val="tx1"/>
                </a:solidFill>
                <a:effectLst/>
                <a:latin typeface="+mn-lt"/>
                <a:ea typeface="+mn-ea"/>
                <a:cs typeface="+mn-cs"/>
              </a:rPr>
              <a:t>10</a:t>
            </a:r>
            <a:r>
              <a:rPr lang="zh-CN" altLang="en-US" sz="1200" b="0" i="0" kern="1200" dirty="0" smtClean="0">
                <a:solidFill>
                  <a:schemeClr val="tx1"/>
                </a:solidFill>
                <a:effectLst/>
                <a:latin typeface="+mn-lt"/>
                <a:ea typeface="+mn-ea"/>
                <a:cs typeface="+mn-cs"/>
              </a:rPr>
              <a:t>次迭代随机选择一种输入图片大小，只需要修改对最后检验层的处理就可以重新训练。</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采用这种策略，</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可以适应不同大小的图片，并且预测出很好的结果。在测试时，</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可以采用不同大小的图片作为输入，在</a:t>
            </a:r>
            <a:r>
              <a:rPr lang="en-US" altLang="zh-CN" sz="1200" b="0" i="0" kern="1200" dirty="0" smtClean="0">
                <a:solidFill>
                  <a:schemeClr val="tx1"/>
                </a:solidFill>
                <a:effectLst/>
                <a:latin typeface="+mn-lt"/>
                <a:ea typeface="+mn-ea"/>
                <a:cs typeface="+mn-cs"/>
              </a:rPr>
              <a:t>VOC 2007</a:t>
            </a:r>
            <a:r>
              <a:rPr lang="zh-CN" altLang="en-US" sz="1200" b="0" i="0" kern="1200" dirty="0" smtClean="0">
                <a:solidFill>
                  <a:schemeClr val="tx1"/>
                </a:solidFill>
                <a:effectLst/>
                <a:latin typeface="+mn-lt"/>
                <a:ea typeface="+mn-ea"/>
                <a:cs typeface="+mn-cs"/>
              </a:rPr>
              <a:t>数据集上的效果如下图所示。可以看到采用较小分辨率时，</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的</a:t>
            </a:r>
            <a:r>
              <a:rPr lang="en-US" altLang="zh-CN" sz="1200" b="0" i="0" kern="1200" dirty="0" err="1" smtClean="0">
                <a:solidFill>
                  <a:schemeClr val="tx1"/>
                </a:solidFill>
                <a:effectLst/>
                <a:latin typeface="+mn-lt"/>
                <a:ea typeface="+mn-ea"/>
                <a:cs typeface="+mn-cs"/>
              </a:rPr>
              <a:t>mAP</a:t>
            </a:r>
            <a:r>
              <a:rPr lang="zh-CN" altLang="en-US" sz="1200" b="0" i="0" kern="1200" dirty="0" smtClean="0">
                <a:solidFill>
                  <a:schemeClr val="tx1"/>
                </a:solidFill>
                <a:effectLst/>
                <a:latin typeface="+mn-lt"/>
                <a:ea typeface="+mn-ea"/>
                <a:cs typeface="+mn-cs"/>
              </a:rPr>
              <a:t>值略低，但是速度更快，而采用高分辨输入时，</a:t>
            </a:r>
            <a:r>
              <a:rPr lang="en-US" altLang="zh-CN" sz="1200" b="0" i="0" kern="1200" dirty="0" err="1" smtClean="0">
                <a:solidFill>
                  <a:schemeClr val="tx1"/>
                </a:solidFill>
                <a:effectLst/>
                <a:latin typeface="+mn-lt"/>
                <a:ea typeface="+mn-ea"/>
                <a:cs typeface="+mn-cs"/>
              </a:rPr>
              <a:t>mAP</a:t>
            </a:r>
            <a:r>
              <a:rPr lang="zh-CN" altLang="en-US" sz="1200" b="0" i="0" kern="1200" dirty="0" smtClean="0">
                <a:solidFill>
                  <a:schemeClr val="tx1"/>
                </a:solidFill>
                <a:effectLst/>
                <a:latin typeface="+mn-lt"/>
                <a:ea typeface="+mn-ea"/>
                <a:cs typeface="+mn-cs"/>
              </a:rPr>
              <a:t>值更高，但是速度略有下降，对于</a:t>
            </a:r>
            <a:r>
              <a:rPr lang="en-US" altLang="zh-CN" sz="1200" b="0" i="0" kern="1200" dirty="0" smtClean="0">
                <a:solidFill>
                  <a:schemeClr val="tx1"/>
                </a:solidFill>
                <a:effectLst/>
                <a:latin typeface="+mn-lt"/>
                <a:ea typeface="+mn-ea"/>
                <a:cs typeface="+mn-cs"/>
              </a:rPr>
              <a:t>544×544</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mAP</a:t>
            </a:r>
            <a:r>
              <a:rPr lang="zh-CN" altLang="en-US" sz="1200" b="0" i="0" kern="1200" dirty="0" smtClean="0">
                <a:solidFill>
                  <a:schemeClr val="tx1"/>
                </a:solidFill>
                <a:effectLst/>
                <a:latin typeface="+mn-lt"/>
                <a:ea typeface="+mn-ea"/>
                <a:cs typeface="+mn-cs"/>
              </a:rPr>
              <a:t>高达</a:t>
            </a:r>
            <a:r>
              <a:rPr lang="en-US" altLang="zh-CN" sz="1200" b="0" i="0" kern="1200" dirty="0" smtClean="0">
                <a:solidFill>
                  <a:schemeClr val="tx1"/>
                </a:solidFill>
                <a:effectLst/>
                <a:latin typeface="+mn-lt"/>
                <a:ea typeface="+mn-ea"/>
                <a:cs typeface="+mn-cs"/>
              </a:rPr>
              <a:t>78.6%</a:t>
            </a:r>
            <a:r>
              <a:rPr lang="zh-CN" altLang="en-US" sz="1200" b="0" i="0" kern="1200" dirty="0" smtClean="0">
                <a:solidFill>
                  <a:schemeClr val="tx1"/>
                </a:solidFill>
                <a:effectLst/>
                <a:latin typeface="+mn-lt"/>
                <a:ea typeface="+mn-ea"/>
                <a:cs typeface="+mn-cs"/>
              </a:rPr>
              <a:t>。注意，这只是测试时输入图片大小不同，而实际上用的是同一个模型（使用多尺度图像进行训练）</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32202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YOLO</a:t>
            </a:r>
            <a:r>
              <a:rPr lang="zh-CN" altLang="en-US" dirty="0" smtClean="0"/>
              <a:t>第三版并没有特别突出的创新之处，主要是基于</a:t>
            </a:r>
            <a:r>
              <a:rPr lang="en-US" altLang="zh-CN" dirty="0" smtClean="0"/>
              <a:t>YOLO</a:t>
            </a:r>
            <a:r>
              <a:rPr lang="zh-CN" altLang="en-US" dirty="0" smtClean="0"/>
              <a:t>第二版进行了以下一些改进。</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8063642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a:t>
            </a:r>
            <a:r>
              <a:rPr lang="zh-CN" altLang="en-US" dirty="0" smtClean="0"/>
              <a:t>类别预测</a:t>
            </a:r>
            <a:endParaRPr lang="en-US" altLang="zh-CN" dirty="0" smtClean="0"/>
          </a:p>
          <a:p>
            <a:r>
              <a:rPr lang="zh-CN" altLang="en-US" dirty="0" smtClean="0"/>
              <a:t>一个目标可能具有多个类别标签，各个类别之间不一定是互斥的。比如，橘子是一种水果，同时还是一种食物，对于这样的目标来说，几个类别标签都是正确的。</a:t>
            </a:r>
            <a:r>
              <a:rPr lang="en-US" altLang="zh-CN" dirty="0" smtClean="0"/>
              <a:t>YOLO</a:t>
            </a:r>
            <a:r>
              <a:rPr lang="zh-CN" altLang="en-US" dirty="0" smtClean="0"/>
              <a:t>第三版采用逻辑回归分类器代替了</a:t>
            </a:r>
            <a:r>
              <a:rPr lang="en-US" altLang="zh-CN" dirty="0" err="1" smtClean="0"/>
              <a:t>softmax</a:t>
            </a:r>
            <a:r>
              <a:rPr lang="zh-CN" altLang="en-US" dirty="0" smtClean="0"/>
              <a:t>分类器</a:t>
            </a:r>
            <a:r>
              <a:rPr lang="zh-CN" altLang="en-US" sz="1200" b="0" i="0" kern="1200" dirty="0" smtClean="0">
                <a:solidFill>
                  <a:schemeClr val="tx1"/>
                </a:solidFill>
                <a:effectLst/>
                <a:latin typeface="+mn-lt"/>
                <a:ea typeface="+mn-ea"/>
                <a:cs typeface="+mn-cs"/>
              </a:rPr>
              <a:t>（全部分类的概率之和为</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zh-CN" altLang="en-US" dirty="0" smtClean="0"/>
              <a:t>，在训练过程中，使用了二分交叉熵损失，而非均方误差。</a:t>
            </a:r>
            <a:endParaRPr lang="en-US" altLang="zh-CN" dirty="0" smtClean="0"/>
          </a:p>
          <a:p>
            <a:r>
              <a:rPr lang="zh-CN" altLang="en-US" dirty="0" smtClean="0"/>
              <a:t>本质上，</a:t>
            </a:r>
            <a:r>
              <a:rPr lang="en-US" altLang="zh-CN" dirty="0" smtClean="0"/>
              <a:t>YOLO</a:t>
            </a:r>
            <a:r>
              <a:rPr lang="zh-CN" altLang="en-US" dirty="0" smtClean="0"/>
              <a:t>第三版采用多个二分类器代替一对多分类器，实现了对一个目标多个类别标签的判定。下面两张图仅为示例，左图是</a:t>
            </a:r>
            <a:r>
              <a:rPr lang="en-US" altLang="zh-CN" dirty="0" err="1" smtClean="0"/>
              <a:t>softmax</a:t>
            </a:r>
            <a:r>
              <a:rPr lang="zh-CN" altLang="en-US" dirty="0" smtClean="0"/>
              <a:t>分类器，右图是</a:t>
            </a:r>
            <a:r>
              <a:rPr lang="en-US" altLang="zh-CN" dirty="0" smtClean="0"/>
              <a:t>logistic</a:t>
            </a:r>
            <a:r>
              <a:rPr lang="zh-CN" altLang="en-US" dirty="0" smtClean="0"/>
              <a:t>分类器。</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9928859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YOLO</a:t>
            </a:r>
            <a:r>
              <a:rPr lang="zh-CN" altLang="en-US" dirty="0" smtClean="0"/>
              <a:t>第三版借鉴了</a:t>
            </a:r>
            <a:r>
              <a:rPr lang="en-US" altLang="zh-CN" dirty="0" err="1" smtClean="0"/>
              <a:t>ResNet</a:t>
            </a:r>
            <a:r>
              <a:rPr lang="zh-CN" altLang="en-US" dirty="0" smtClean="0"/>
              <a:t>结构，也设计了一个残差网络</a:t>
            </a:r>
            <a:r>
              <a:rPr lang="en-US" altLang="zh-CN" dirty="0" smtClean="0"/>
              <a:t>Darknet-53</a:t>
            </a:r>
            <a:r>
              <a:rPr lang="zh-CN" altLang="en-US" dirty="0" smtClean="0"/>
              <a:t>，使得整个网络更容易训练。</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591954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YOLO</a:t>
            </a:r>
            <a:r>
              <a:rPr lang="zh-CN" altLang="en-US" dirty="0" smtClean="0"/>
              <a:t>第三版在特征图上的每个位置使用</a:t>
            </a:r>
            <a:r>
              <a:rPr lang="en-US" altLang="zh-CN" dirty="0" smtClean="0"/>
              <a:t>3</a:t>
            </a:r>
            <a:r>
              <a:rPr lang="zh-CN" altLang="en-US" dirty="0" smtClean="0"/>
              <a:t>个锚，在一个</a:t>
            </a:r>
            <a:r>
              <a:rPr lang="en-US" altLang="zh-CN" dirty="0" err="1" smtClean="0"/>
              <a:t>NxN</a:t>
            </a:r>
            <a:r>
              <a:rPr lang="zh-CN" altLang="en-US" dirty="0" smtClean="0"/>
              <a:t>大小的特征图上</a:t>
            </a:r>
            <a:r>
              <a:rPr lang="en-US" altLang="zh-CN" dirty="0" smtClean="0"/>
              <a:t>,</a:t>
            </a:r>
            <a:r>
              <a:rPr lang="zh-CN" altLang="en-US" dirty="0" smtClean="0"/>
              <a:t>需要预测的参数数量为</a:t>
            </a:r>
            <a:r>
              <a:rPr lang="en-US" altLang="zh-CN" dirty="0" smtClean="0"/>
              <a:t>NxN×3×(4+1+n</a:t>
            </a:r>
            <a:r>
              <a:rPr lang="en-US" altLang="zh-CN" baseline="0" dirty="0" smtClean="0"/>
              <a:t>_</a:t>
            </a:r>
            <a:r>
              <a:rPr lang="en-US" altLang="zh-CN" dirty="0" smtClean="0"/>
              <a:t>class)</a:t>
            </a:r>
            <a:r>
              <a:rPr lang="zh-CN" altLang="en-US" dirty="0" smtClean="0"/>
              <a:t>，其中</a:t>
            </a:r>
            <a:r>
              <a:rPr lang="en-US" altLang="zh-CN" dirty="0" smtClean="0"/>
              <a:t>3</a:t>
            </a:r>
            <a:r>
              <a:rPr lang="zh-CN" altLang="en-US" dirty="0" smtClean="0"/>
              <a:t>表示</a:t>
            </a:r>
            <a:r>
              <a:rPr lang="en-US" altLang="zh-CN" dirty="0" smtClean="0"/>
              <a:t>3</a:t>
            </a:r>
            <a:r>
              <a:rPr lang="zh-CN" altLang="en-US" dirty="0" smtClean="0"/>
              <a:t>个锚</a:t>
            </a:r>
            <a:r>
              <a:rPr lang="en-US" altLang="zh-CN" dirty="0" smtClean="0"/>
              <a:t>,4</a:t>
            </a:r>
            <a:r>
              <a:rPr lang="zh-CN" altLang="en-US" dirty="0" smtClean="0"/>
              <a:t>表示</a:t>
            </a:r>
            <a:r>
              <a:rPr lang="en-US" altLang="zh-CN" dirty="0" smtClean="0"/>
              <a:t>4</a:t>
            </a:r>
            <a:r>
              <a:rPr lang="zh-CN" altLang="en-US" dirty="0" smtClean="0"/>
              <a:t>个坐标</a:t>
            </a:r>
            <a:r>
              <a:rPr lang="en-US" altLang="zh-CN" dirty="0" smtClean="0"/>
              <a:t>,1</a:t>
            </a:r>
            <a:r>
              <a:rPr lang="zh-CN" altLang="en-US" dirty="0" smtClean="0"/>
              <a:t>表示是否框中目标的置信度，</a:t>
            </a:r>
            <a:r>
              <a:rPr lang="en-US" altLang="zh-CN" dirty="0" err="1" smtClean="0"/>
              <a:t>n_class</a:t>
            </a:r>
            <a:r>
              <a:rPr lang="zh-CN" altLang="en-US" dirty="0" smtClean="0"/>
              <a:t>表示需要回归的类别概率。</a:t>
            </a:r>
            <a:r>
              <a:rPr lang="en-US" altLang="zh-CN" dirty="0" smtClean="0"/>
              <a:t>YOLO</a:t>
            </a:r>
            <a:r>
              <a:rPr lang="zh-CN" altLang="en-US" dirty="0" smtClean="0"/>
              <a:t>第三版开始在</a:t>
            </a:r>
            <a:r>
              <a:rPr lang="en-US" altLang="zh-CN" dirty="0" smtClean="0"/>
              <a:t>COCO</a:t>
            </a:r>
            <a:r>
              <a:rPr lang="zh-CN" altLang="en-US" dirty="0" smtClean="0"/>
              <a:t>数据集上测试，</a:t>
            </a:r>
            <a:r>
              <a:rPr lang="en-US" altLang="zh-CN" dirty="0" smtClean="0"/>
              <a:t>COCO</a:t>
            </a:r>
            <a:r>
              <a:rPr lang="zh-CN" altLang="en-US" dirty="0" smtClean="0"/>
              <a:t>数据集的检测类别为</a:t>
            </a:r>
            <a:r>
              <a:rPr lang="en-US" altLang="zh-CN" dirty="0" smtClean="0"/>
              <a:t>80</a:t>
            </a:r>
            <a:r>
              <a:rPr lang="zh-CN" altLang="en-US" dirty="0" smtClean="0"/>
              <a:t>。</a:t>
            </a:r>
            <a:endParaRPr lang="en-US" altLang="zh-CN" dirty="0" smtClean="0"/>
          </a:p>
          <a:p>
            <a:r>
              <a:rPr lang="en-US" altLang="zh-CN" sz="1200" b="0" i="0" kern="1200" dirty="0" smtClean="0">
                <a:solidFill>
                  <a:schemeClr val="tx1"/>
                </a:solidFill>
                <a:effectLst/>
                <a:latin typeface="+mn-lt"/>
                <a:ea typeface="+mn-ea"/>
                <a:cs typeface="+mn-cs"/>
              </a:rPr>
              <a:t>YOLO2</a:t>
            </a:r>
            <a:r>
              <a:rPr lang="zh-CN" altLang="en-US" sz="1200" b="0" i="0" kern="1200" dirty="0" smtClean="0">
                <a:solidFill>
                  <a:schemeClr val="tx1"/>
                </a:solidFill>
                <a:effectLst/>
                <a:latin typeface="+mn-lt"/>
                <a:ea typeface="+mn-ea"/>
                <a:cs typeface="+mn-cs"/>
              </a:rPr>
              <a:t>曾采用</a:t>
            </a:r>
            <a:r>
              <a:rPr lang="en-US" altLang="zh-CN" sz="1200" b="0" i="0" kern="1200" dirty="0" err="1" smtClean="0">
                <a:solidFill>
                  <a:schemeClr val="tx1"/>
                </a:solidFill>
                <a:effectLst/>
                <a:latin typeface="+mn-lt"/>
                <a:ea typeface="+mn-ea"/>
                <a:cs typeface="+mn-cs"/>
              </a:rPr>
              <a:t>passthrough</a:t>
            </a:r>
            <a:r>
              <a:rPr lang="zh-CN" altLang="en-US" sz="1200" b="0" i="0" kern="1200" dirty="0" smtClean="0">
                <a:solidFill>
                  <a:schemeClr val="tx1"/>
                </a:solidFill>
                <a:effectLst/>
                <a:latin typeface="+mn-lt"/>
                <a:ea typeface="+mn-ea"/>
                <a:cs typeface="+mn-cs"/>
              </a:rPr>
              <a:t>结构来检测细粒度特征，在</a:t>
            </a:r>
            <a:r>
              <a:rPr lang="en-US" altLang="zh-CN" sz="1200" b="0" i="0" kern="1200" dirty="0" smtClean="0">
                <a:solidFill>
                  <a:schemeClr val="tx1"/>
                </a:solidFill>
                <a:effectLst/>
                <a:latin typeface="+mn-lt"/>
                <a:ea typeface="+mn-ea"/>
                <a:cs typeface="+mn-cs"/>
              </a:rPr>
              <a:t>YOLO3</a:t>
            </a:r>
            <a:r>
              <a:rPr lang="zh-CN" altLang="en-US" sz="1200" b="0" i="0" kern="1200" dirty="0" smtClean="0">
                <a:solidFill>
                  <a:schemeClr val="tx1"/>
                </a:solidFill>
                <a:effectLst/>
                <a:latin typeface="+mn-lt"/>
                <a:ea typeface="+mn-ea"/>
                <a:cs typeface="+mn-cs"/>
              </a:rPr>
              <a:t>更进一步采用了</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个不同尺度的特征图来进行目标</a:t>
            </a:r>
            <a:r>
              <a:rPr lang="zh-CN" altLang="en-US" sz="1200" b="0" i="0" kern="1200" smtClean="0">
                <a:solidFill>
                  <a:schemeClr val="tx1"/>
                </a:solidFill>
                <a:effectLst/>
                <a:latin typeface="+mn-lt"/>
                <a:ea typeface="+mn-ea"/>
                <a:cs typeface="+mn-cs"/>
              </a:rPr>
              <a:t>检测。</a:t>
            </a:r>
            <a:r>
              <a:rPr lang="zh-CN" altLang="en-US" smtClean="0"/>
              <a:t>假设</a:t>
            </a:r>
            <a:r>
              <a:rPr lang="zh-CN" altLang="en-US" dirty="0" smtClean="0"/>
              <a:t>第一个用于检测的特征图是网络的第</a:t>
            </a:r>
            <a:r>
              <a:rPr lang="en-US" altLang="zh-CN" dirty="0" smtClean="0"/>
              <a:t>n</a:t>
            </a:r>
            <a:r>
              <a:rPr lang="zh-CN" altLang="en-US" dirty="0" smtClean="0"/>
              <a:t>层，在网络较浅的位置取第</a:t>
            </a:r>
            <a:r>
              <a:rPr lang="en-US" altLang="zh-CN" dirty="0" smtClean="0"/>
              <a:t>m</a:t>
            </a:r>
            <a:r>
              <a:rPr lang="zh-CN" altLang="en-US" dirty="0" smtClean="0"/>
              <a:t>层，</a:t>
            </a:r>
            <a:r>
              <a:rPr lang="en-US" altLang="zh-CN" dirty="0" smtClean="0"/>
              <a:t>m&lt;n,</a:t>
            </a:r>
            <a:r>
              <a:rPr lang="zh-CN" altLang="en-US" dirty="0" smtClean="0"/>
              <a:t>第</a:t>
            </a:r>
            <a:r>
              <a:rPr lang="en-US" altLang="zh-CN" dirty="0" smtClean="0"/>
              <a:t>m</a:t>
            </a:r>
            <a:r>
              <a:rPr lang="zh-CN" altLang="en-US" dirty="0" smtClean="0"/>
              <a:t>层的尺寸大于第</a:t>
            </a:r>
            <a:r>
              <a:rPr lang="en-US" altLang="zh-CN" dirty="0" smtClean="0"/>
              <a:t>n</a:t>
            </a:r>
            <a:r>
              <a:rPr lang="zh-CN" altLang="en-US" dirty="0" smtClean="0"/>
              <a:t>层的尺寸，具有更细节的特征表达能力，对第</a:t>
            </a:r>
            <a:r>
              <a:rPr lang="en-US" altLang="zh-CN" dirty="0" smtClean="0"/>
              <a:t>n</a:t>
            </a:r>
            <a:r>
              <a:rPr lang="zh-CN" altLang="en-US" dirty="0" smtClean="0"/>
              <a:t>层的特征图进行上采样，使得上采样后的特征图和第</a:t>
            </a:r>
            <a:r>
              <a:rPr lang="en-US" altLang="zh-CN" dirty="0" smtClean="0"/>
              <a:t>m</a:t>
            </a:r>
            <a:r>
              <a:rPr lang="zh-CN" altLang="en-US" dirty="0" smtClean="0"/>
              <a:t>层的特征图具有相同的尺寸，然后把第</a:t>
            </a:r>
            <a:r>
              <a:rPr lang="en-US" altLang="zh-CN" dirty="0" smtClean="0"/>
              <a:t>m</a:t>
            </a:r>
            <a:r>
              <a:rPr lang="zh-CN" altLang="en-US" dirty="0" smtClean="0"/>
              <a:t>层特征图和上采样后的特征图对齐位置“摞”在一起</a:t>
            </a:r>
            <a:r>
              <a:rPr lang="en-US" altLang="zh-CN" dirty="0" smtClean="0"/>
              <a:t>(</a:t>
            </a:r>
            <a:r>
              <a:rPr lang="zh-CN" altLang="en-US" dirty="0" smtClean="0"/>
              <a:t>进行</a:t>
            </a:r>
            <a:r>
              <a:rPr lang="en-US" altLang="zh-CN" dirty="0" err="1" smtClean="0"/>
              <a:t>concat</a:t>
            </a:r>
            <a:r>
              <a:rPr lang="en-US" altLang="zh-CN" dirty="0" smtClean="0"/>
              <a:t> </a:t>
            </a:r>
            <a:r>
              <a:rPr lang="zh-CN" altLang="en-US" dirty="0" smtClean="0"/>
              <a:t>操作</a:t>
            </a:r>
            <a:r>
              <a:rPr lang="en-US" altLang="zh-CN" dirty="0" smtClean="0"/>
              <a:t>,</a:t>
            </a:r>
            <a:r>
              <a:rPr lang="zh-CN" altLang="en-US" dirty="0" smtClean="0"/>
              <a:t>与 </a:t>
            </a:r>
            <a:r>
              <a:rPr lang="en-US" altLang="zh-CN" dirty="0" smtClean="0"/>
              <a:t>FPN</a:t>
            </a:r>
            <a:r>
              <a:rPr lang="zh-CN" altLang="en-US" dirty="0" smtClean="0"/>
              <a:t>的</a:t>
            </a:r>
            <a:r>
              <a:rPr lang="en-US" altLang="zh-CN" dirty="0" err="1" smtClean="0"/>
              <a:t>elementwise</a:t>
            </a:r>
            <a:r>
              <a:rPr lang="en-US" altLang="zh-CN" dirty="0" smtClean="0"/>
              <a:t> add </a:t>
            </a:r>
            <a:r>
              <a:rPr lang="zh-CN" altLang="en-US" dirty="0" smtClean="0"/>
              <a:t>操作有所区别</a:t>
            </a:r>
            <a:r>
              <a:rPr lang="en-US" altLang="zh-CN" dirty="0" smtClean="0"/>
              <a:t>),</a:t>
            </a:r>
            <a:r>
              <a:rPr lang="zh-CN" altLang="en-US" dirty="0" smtClean="0"/>
              <a:t>构成第</a:t>
            </a:r>
            <a:r>
              <a:rPr lang="en-US" altLang="zh-CN" dirty="0" smtClean="0"/>
              <a:t>2</a:t>
            </a:r>
            <a:r>
              <a:rPr lang="zh-CN" altLang="en-US" dirty="0" smtClean="0"/>
              <a:t>个特征图。新的特征图融合了深层和浅层特征，具备更好的多尺度表达能力。利用类似的方法，可以选取更浅层的特征图构造第</a:t>
            </a:r>
            <a:r>
              <a:rPr lang="en-US" altLang="zh-CN" dirty="0" smtClean="0"/>
              <a:t>3</a:t>
            </a:r>
            <a:r>
              <a:rPr lang="zh-CN" altLang="en-US" dirty="0" smtClean="0"/>
              <a:t>个特征图。分别基于这</a:t>
            </a:r>
            <a:r>
              <a:rPr lang="en-US" altLang="zh-CN" dirty="0" smtClean="0"/>
              <a:t>3</a:t>
            </a:r>
            <a:r>
              <a:rPr lang="zh-CN" altLang="en-US" dirty="0" smtClean="0"/>
              <a:t>个特征图进行预测，能够得到更好的多尺度目标检测效果。</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695050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结合上图看，卷积网络在</a:t>
            </a:r>
            <a:r>
              <a:rPr lang="en-US" altLang="zh-CN" dirty="0" smtClean="0"/>
              <a:t>79</a:t>
            </a:r>
            <a:r>
              <a:rPr lang="zh-CN" altLang="en-US" dirty="0" smtClean="0"/>
              <a:t>层后，经过下方几个黄色的卷积层得到一种尺度的检测结果。相比输入图像，这里用于检测的特征图有</a:t>
            </a:r>
            <a:r>
              <a:rPr lang="en-US" altLang="zh-CN" dirty="0" smtClean="0"/>
              <a:t>32</a:t>
            </a:r>
            <a:r>
              <a:rPr lang="zh-CN" altLang="en-US" dirty="0" smtClean="0"/>
              <a:t>倍的下采样。比如输入是</a:t>
            </a:r>
            <a:r>
              <a:rPr lang="en-US" altLang="zh-CN" dirty="0" smtClean="0"/>
              <a:t>416 × 416</a:t>
            </a:r>
            <a:r>
              <a:rPr lang="zh-CN" altLang="en-US" dirty="0" smtClean="0"/>
              <a:t>的话，这里的特征图就是</a:t>
            </a:r>
            <a:r>
              <a:rPr lang="en-US" altLang="zh-CN" dirty="0" smtClean="0"/>
              <a:t>13 × 13</a:t>
            </a:r>
            <a:r>
              <a:rPr lang="zh-CN" altLang="en-US" dirty="0" smtClean="0"/>
              <a:t>了。由于下采样倍数高，这里特征图的感受野比较大，因此适合检测图像中尺寸比较大的目标。为了实现细粒度的检测，第</a:t>
            </a:r>
            <a:r>
              <a:rPr lang="en-US" altLang="zh-CN" dirty="0" smtClean="0"/>
              <a:t>79</a:t>
            </a:r>
            <a:r>
              <a:rPr lang="zh-CN" altLang="en-US" dirty="0" smtClean="0"/>
              <a:t>层的特征图又开始作上采样（从</a:t>
            </a:r>
            <a:r>
              <a:rPr lang="en-US" altLang="zh-CN" dirty="0" smtClean="0"/>
              <a:t>79</a:t>
            </a:r>
            <a:r>
              <a:rPr lang="zh-CN" altLang="en-US" dirty="0" smtClean="0"/>
              <a:t>层往右开始上采样卷积），然后与第</a:t>
            </a:r>
            <a:r>
              <a:rPr lang="en-US" altLang="zh-CN" dirty="0" smtClean="0"/>
              <a:t>61</a:t>
            </a:r>
            <a:r>
              <a:rPr lang="zh-CN" altLang="en-US" dirty="0" smtClean="0"/>
              <a:t>层特征图融合（</a:t>
            </a:r>
            <a:r>
              <a:rPr lang="en-US" altLang="zh-CN" dirty="0" smtClean="0"/>
              <a:t>Concatenation</a:t>
            </a:r>
            <a:r>
              <a:rPr lang="zh-CN" altLang="en-US" dirty="0" smtClean="0"/>
              <a:t>），这样得到第</a:t>
            </a:r>
            <a:r>
              <a:rPr lang="en-US" altLang="zh-CN" dirty="0" smtClean="0"/>
              <a:t>91</a:t>
            </a:r>
            <a:r>
              <a:rPr lang="zh-CN" altLang="en-US" dirty="0" smtClean="0"/>
              <a:t>层较细粒度的特征图，同样经过几个卷积层后得到相对输入图像</a:t>
            </a:r>
            <a:r>
              <a:rPr lang="en-US" altLang="zh-CN" dirty="0" smtClean="0"/>
              <a:t>16</a:t>
            </a:r>
            <a:r>
              <a:rPr lang="zh-CN" altLang="en-US" dirty="0" smtClean="0"/>
              <a:t>倍下采样的特征图。它具有中等尺度的感受野，适合检测中等尺度的目标。最后，第</a:t>
            </a:r>
            <a:r>
              <a:rPr lang="en-US" altLang="zh-CN" dirty="0" smtClean="0"/>
              <a:t>91</a:t>
            </a:r>
            <a:r>
              <a:rPr lang="zh-CN" altLang="en-US" dirty="0" smtClean="0"/>
              <a:t>层特征图再次上采样，并与第</a:t>
            </a:r>
            <a:r>
              <a:rPr lang="en-US" altLang="zh-CN" dirty="0" smtClean="0"/>
              <a:t>36</a:t>
            </a:r>
            <a:r>
              <a:rPr lang="zh-CN" altLang="en-US" dirty="0" smtClean="0"/>
              <a:t>层特征图融合（</a:t>
            </a:r>
            <a:r>
              <a:rPr lang="en-US" altLang="zh-CN" dirty="0" smtClean="0"/>
              <a:t>Concatenation</a:t>
            </a:r>
            <a:r>
              <a:rPr lang="zh-CN" altLang="en-US" dirty="0" smtClean="0"/>
              <a:t>），最后得到相对输入图像</a:t>
            </a:r>
            <a:r>
              <a:rPr lang="en-US" altLang="zh-CN" dirty="0" smtClean="0"/>
              <a:t>8</a:t>
            </a:r>
            <a:r>
              <a:rPr lang="zh-CN" altLang="en-US" dirty="0" smtClean="0"/>
              <a:t>倍下采样的特征图。它的感受野最小，适合检测小尺寸的目标。</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3655217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同样，</a:t>
            </a:r>
            <a:r>
              <a:rPr lang="en-US" altLang="zh-CN" dirty="0" smtClean="0"/>
              <a:t>yolov3</a:t>
            </a:r>
            <a:r>
              <a:rPr lang="zh-CN" altLang="en-US" dirty="0" smtClean="0"/>
              <a:t>用</a:t>
            </a:r>
            <a:r>
              <a:rPr lang="en-US" altLang="zh-CN" dirty="0" smtClean="0"/>
              <a:t>K-means</a:t>
            </a:r>
            <a:r>
              <a:rPr lang="zh-CN" altLang="en-US" dirty="0" smtClean="0"/>
              <a:t>聚类得到先验框的尺寸，并为每种下采样尺度设定</a:t>
            </a:r>
            <a:r>
              <a:rPr lang="en-US" altLang="zh-CN" dirty="0" smtClean="0"/>
              <a:t>3</a:t>
            </a:r>
            <a:r>
              <a:rPr lang="zh-CN" altLang="en-US" dirty="0" smtClean="0"/>
              <a:t>种先验框，总共聚类出</a:t>
            </a:r>
            <a:r>
              <a:rPr lang="en-US" altLang="zh-CN" dirty="0" smtClean="0"/>
              <a:t>9</a:t>
            </a:r>
            <a:r>
              <a:rPr lang="zh-CN" altLang="en-US" dirty="0" smtClean="0"/>
              <a:t>种尺寸的先验框，这</a:t>
            </a:r>
            <a:r>
              <a:rPr lang="en-US" altLang="zh-CN" dirty="0" smtClean="0"/>
              <a:t>9</a:t>
            </a:r>
            <a:r>
              <a:rPr lang="zh-CN" altLang="en-US" dirty="0" smtClean="0"/>
              <a:t>个先验框是：</a:t>
            </a:r>
            <a:r>
              <a:rPr lang="en-US" altLang="zh-CN" dirty="0" smtClean="0"/>
              <a:t>(10x13)</a:t>
            </a:r>
            <a:r>
              <a:rPr lang="zh-CN" altLang="en-US" dirty="0" smtClean="0"/>
              <a:t>，</a:t>
            </a:r>
            <a:r>
              <a:rPr lang="en-US" altLang="zh-CN" dirty="0" smtClean="0"/>
              <a:t>(16x30)</a:t>
            </a:r>
            <a:r>
              <a:rPr lang="zh-CN" altLang="en-US" dirty="0" smtClean="0"/>
              <a:t>，</a:t>
            </a:r>
            <a:r>
              <a:rPr lang="en-US" altLang="zh-CN" dirty="0" smtClean="0"/>
              <a:t>(33x23)</a:t>
            </a:r>
            <a:r>
              <a:rPr lang="zh-CN" altLang="en-US" dirty="0" smtClean="0"/>
              <a:t>，</a:t>
            </a:r>
            <a:r>
              <a:rPr lang="en-US" altLang="zh-CN" dirty="0" smtClean="0"/>
              <a:t>(30x61)</a:t>
            </a:r>
            <a:r>
              <a:rPr lang="zh-CN" altLang="en-US" dirty="0" smtClean="0"/>
              <a:t>，</a:t>
            </a:r>
            <a:r>
              <a:rPr lang="en-US" altLang="zh-CN" dirty="0" smtClean="0"/>
              <a:t>(62x45)</a:t>
            </a:r>
            <a:r>
              <a:rPr lang="zh-CN" altLang="en-US" dirty="0" smtClean="0"/>
              <a:t>，</a:t>
            </a:r>
            <a:r>
              <a:rPr lang="en-US" altLang="zh-CN" dirty="0" smtClean="0"/>
              <a:t>(59x119)</a:t>
            </a:r>
            <a:r>
              <a:rPr lang="zh-CN" altLang="en-US" dirty="0" smtClean="0"/>
              <a:t>，</a:t>
            </a:r>
            <a:r>
              <a:rPr lang="en-US" altLang="zh-CN" dirty="0" smtClean="0"/>
              <a:t>(116x90)</a:t>
            </a:r>
            <a:r>
              <a:rPr lang="zh-CN" altLang="en-US" dirty="0" smtClean="0"/>
              <a:t>，</a:t>
            </a:r>
            <a:r>
              <a:rPr lang="en-US" altLang="zh-CN" dirty="0" smtClean="0"/>
              <a:t>(156x198)</a:t>
            </a:r>
            <a:r>
              <a:rPr lang="zh-CN" altLang="en-US" dirty="0" smtClean="0"/>
              <a:t>，</a:t>
            </a:r>
            <a:r>
              <a:rPr lang="en-US" altLang="zh-CN" dirty="0" smtClean="0"/>
              <a:t>(373x326)</a:t>
            </a:r>
            <a:r>
              <a:rPr lang="zh-CN" altLang="en-US" dirty="0" smtClean="0"/>
              <a:t>。</a:t>
            </a:r>
            <a:endParaRPr lang="en-US" altLang="zh-CN" dirty="0" smtClean="0"/>
          </a:p>
          <a:p>
            <a:r>
              <a:rPr lang="zh-CN" altLang="en-US" dirty="0" smtClean="0"/>
              <a:t>在最小的</a:t>
            </a:r>
            <a:r>
              <a:rPr lang="en-US" altLang="zh-CN" dirty="0" smtClean="0"/>
              <a:t>13x13</a:t>
            </a:r>
            <a:r>
              <a:rPr lang="zh-CN" altLang="en-US" dirty="0" smtClean="0"/>
              <a:t>特征图上（有最大的感受野，下采样</a:t>
            </a:r>
            <a:r>
              <a:rPr lang="en-US" altLang="zh-CN" dirty="0" smtClean="0"/>
              <a:t>stride=32</a:t>
            </a:r>
            <a:r>
              <a:rPr lang="zh-CN" altLang="en-US" dirty="0" smtClean="0"/>
              <a:t>），所以用大的先验框</a:t>
            </a:r>
            <a:r>
              <a:rPr lang="en-US" altLang="zh-CN" dirty="0" smtClean="0"/>
              <a:t>(116x90)</a:t>
            </a:r>
            <a:r>
              <a:rPr lang="zh-CN" altLang="en-US" dirty="0" smtClean="0"/>
              <a:t>，</a:t>
            </a:r>
            <a:r>
              <a:rPr lang="en-US" altLang="zh-CN" dirty="0" smtClean="0"/>
              <a:t>(156x198)</a:t>
            </a:r>
            <a:r>
              <a:rPr lang="zh-CN" altLang="en-US" dirty="0" smtClean="0"/>
              <a:t>，</a:t>
            </a:r>
            <a:r>
              <a:rPr lang="en-US" altLang="zh-CN" dirty="0" smtClean="0"/>
              <a:t>(373x326)</a:t>
            </a:r>
            <a:r>
              <a:rPr lang="zh-CN" altLang="en-US" dirty="0" smtClean="0"/>
              <a:t>，检测大对象。在中等的</a:t>
            </a:r>
            <a:r>
              <a:rPr lang="en-US" altLang="zh-CN" dirty="0" smtClean="0"/>
              <a:t>26x26</a:t>
            </a:r>
            <a:r>
              <a:rPr lang="zh-CN" altLang="en-US" dirty="0" smtClean="0"/>
              <a:t>特征图上（有中等的感受野，下采样</a:t>
            </a:r>
            <a:r>
              <a:rPr lang="en-US" altLang="zh-CN" dirty="0" smtClean="0"/>
              <a:t>stride=16</a:t>
            </a:r>
            <a:r>
              <a:rPr lang="zh-CN" altLang="en-US" dirty="0" smtClean="0"/>
              <a:t>），所以用中的先验框</a:t>
            </a:r>
            <a:r>
              <a:rPr lang="en-US" altLang="zh-CN" dirty="0" smtClean="0"/>
              <a:t>(30x61)</a:t>
            </a:r>
            <a:r>
              <a:rPr lang="zh-CN" altLang="en-US" dirty="0" smtClean="0"/>
              <a:t>，</a:t>
            </a:r>
            <a:r>
              <a:rPr lang="en-US" altLang="zh-CN" dirty="0" smtClean="0"/>
              <a:t>(62x45)</a:t>
            </a:r>
            <a:r>
              <a:rPr lang="zh-CN" altLang="en-US" dirty="0" smtClean="0"/>
              <a:t>，</a:t>
            </a:r>
            <a:r>
              <a:rPr lang="en-US" altLang="zh-CN" dirty="0" smtClean="0"/>
              <a:t>(59x119)</a:t>
            </a:r>
            <a:r>
              <a:rPr lang="zh-CN" altLang="en-US" dirty="0" smtClean="0"/>
              <a:t>，检测中等对象。在较大的</a:t>
            </a:r>
            <a:r>
              <a:rPr lang="en-US" altLang="zh-CN" dirty="0" smtClean="0"/>
              <a:t>52x52</a:t>
            </a:r>
            <a:r>
              <a:rPr lang="zh-CN" altLang="en-US" dirty="0" smtClean="0"/>
              <a:t>特征图上（有最小的感受野，下采样</a:t>
            </a:r>
            <a:r>
              <a:rPr lang="en-US" altLang="zh-CN" dirty="0" smtClean="0"/>
              <a:t>stride=8</a:t>
            </a:r>
            <a:r>
              <a:rPr lang="zh-CN" altLang="en-US" dirty="0" smtClean="0"/>
              <a:t>），所以用小的先验框</a:t>
            </a:r>
            <a:r>
              <a:rPr lang="en-US" altLang="zh-CN" dirty="0" smtClean="0"/>
              <a:t>(10x13)</a:t>
            </a:r>
            <a:r>
              <a:rPr lang="zh-CN" altLang="en-US" dirty="0" smtClean="0"/>
              <a:t>，</a:t>
            </a:r>
            <a:r>
              <a:rPr lang="en-US" altLang="zh-CN" dirty="0" smtClean="0"/>
              <a:t>(16x30)</a:t>
            </a:r>
            <a:r>
              <a:rPr lang="zh-CN" altLang="en-US" dirty="0" smtClean="0"/>
              <a:t>，</a:t>
            </a:r>
            <a:r>
              <a:rPr lang="en-US" altLang="zh-CN" dirty="0" smtClean="0"/>
              <a:t>(33x23)</a:t>
            </a:r>
            <a:r>
              <a:rPr lang="zh-CN" altLang="en-US" dirty="0" smtClean="0"/>
              <a:t>，检测小对象。</a:t>
            </a:r>
            <a:endParaRPr lang="en-US" altLang="zh-CN" dirty="0" smtClean="0"/>
          </a:p>
          <a:p>
            <a:r>
              <a:rPr lang="zh-CN" altLang="en-US" sz="1200" b="0" i="0" kern="1200" dirty="0" smtClean="0">
                <a:solidFill>
                  <a:schemeClr val="tx1"/>
                </a:solidFill>
                <a:effectLst/>
                <a:latin typeface="+mn-lt"/>
                <a:ea typeface="+mn-ea"/>
                <a:cs typeface="+mn-cs"/>
              </a:rPr>
              <a:t>感受一下</a:t>
            </a:r>
            <a:r>
              <a:rPr lang="en-US" altLang="zh-CN" sz="1200" b="0" i="0" kern="1200" dirty="0" smtClean="0">
                <a:solidFill>
                  <a:schemeClr val="tx1"/>
                </a:solidFill>
                <a:effectLst/>
                <a:latin typeface="+mn-lt"/>
                <a:ea typeface="+mn-ea"/>
                <a:cs typeface="+mn-cs"/>
              </a:rPr>
              <a:t>9</a:t>
            </a:r>
            <a:r>
              <a:rPr lang="zh-CN" altLang="en-US" sz="1200" b="0" i="0" kern="1200" dirty="0" smtClean="0">
                <a:solidFill>
                  <a:schemeClr val="tx1"/>
                </a:solidFill>
                <a:effectLst/>
                <a:latin typeface="+mn-lt"/>
                <a:ea typeface="+mn-ea"/>
                <a:cs typeface="+mn-cs"/>
              </a:rPr>
              <a:t>种先验框的尺寸，下图中蓝色框为聚类得到的先验框。黄色框式</a:t>
            </a:r>
            <a:r>
              <a:rPr lang="en-US" altLang="zh-CN" sz="1200" b="0" i="0" kern="1200" dirty="0" smtClean="0">
                <a:solidFill>
                  <a:schemeClr val="tx1"/>
                </a:solidFill>
                <a:effectLst/>
                <a:latin typeface="+mn-lt"/>
                <a:ea typeface="+mn-ea"/>
                <a:cs typeface="+mn-cs"/>
              </a:rPr>
              <a:t>ground truth</a:t>
            </a:r>
            <a:r>
              <a:rPr lang="zh-CN" altLang="en-US" sz="1200" b="0" i="0" kern="1200" dirty="0" smtClean="0">
                <a:solidFill>
                  <a:schemeClr val="tx1"/>
                </a:solidFill>
                <a:effectLst/>
                <a:latin typeface="+mn-lt"/>
                <a:ea typeface="+mn-ea"/>
                <a:cs typeface="+mn-cs"/>
              </a:rPr>
              <a:t>，红框是对象中心点所在的网格。</a:t>
            </a:r>
            <a:endParaRPr lang="zh-CN" altLang="en-US" dirty="0" smtClean="0"/>
          </a:p>
          <a:p>
            <a:r>
              <a:rPr lang="zh-CN" altLang="en-US" dirty="0" smtClean="0"/>
              <a:t>由于</a:t>
            </a:r>
            <a:r>
              <a:rPr lang="en-US" altLang="zh-CN" dirty="0" smtClean="0"/>
              <a:t>YOLOv3</a:t>
            </a:r>
            <a:r>
              <a:rPr lang="zh-CN" altLang="en-US" dirty="0" smtClean="0"/>
              <a:t>是在</a:t>
            </a:r>
            <a:r>
              <a:rPr lang="en-US" altLang="zh-CN" dirty="0" smtClean="0"/>
              <a:t>COCO</a:t>
            </a:r>
            <a:r>
              <a:rPr lang="zh-CN" altLang="en-US" dirty="0" smtClean="0"/>
              <a:t>公开数据集上测试的，聚类得到先验框的尺寸不一定适用于其他的数据集（例如网上其他的公开数据集以及我们自己整理的数据集）。</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329077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随着</a:t>
            </a:r>
            <a:r>
              <a:rPr lang="en-US" altLang="zh-CN" dirty="0" smtClean="0"/>
              <a:t>YOLO</a:t>
            </a:r>
            <a:r>
              <a:rPr lang="zh-CN" altLang="en-US" dirty="0" smtClean="0"/>
              <a:t>系列原作者</a:t>
            </a:r>
            <a:r>
              <a:rPr lang="en-US" altLang="zh-CN" sz="1200" b="0" i="0" kern="1200" dirty="0" smtClean="0">
                <a:solidFill>
                  <a:schemeClr val="tx1"/>
                </a:solidFill>
                <a:effectLst/>
                <a:latin typeface="+mn-lt"/>
                <a:ea typeface="+mn-ea"/>
                <a:cs typeface="+mn-cs"/>
              </a:rPr>
              <a:t>Joseph </a:t>
            </a:r>
            <a:r>
              <a:rPr lang="en-US" altLang="zh-CN" sz="1200" b="0" i="0" kern="1200" dirty="0" err="1" smtClean="0">
                <a:solidFill>
                  <a:schemeClr val="tx1"/>
                </a:solidFill>
                <a:effectLst/>
                <a:latin typeface="+mn-lt"/>
                <a:ea typeface="+mn-ea"/>
                <a:cs typeface="+mn-cs"/>
              </a:rPr>
              <a:t>Redmon</a:t>
            </a:r>
            <a:r>
              <a:rPr lang="zh-CN" altLang="en-US" sz="1200" b="0" i="0" kern="1200" dirty="0" smtClean="0">
                <a:solidFill>
                  <a:schemeClr val="tx1"/>
                </a:solidFill>
                <a:effectLst/>
                <a:latin typeface="+mn-lt"/>
                <a:ea typeface="+mn-ea"/>
                <a:cs typeface="+mn-cs"/>
              </a:rPr>
              <a:t>宣布退出计算机视觉领域后，表明官方不再更新</a:t>
            </a:r>
            <a:r>
              <a:rPr lang="en-US" altLang="zh-CN" sz="1200" b="0" i="0" kern="1200" dirty="0" smtClean="0">
                <a:solidFill>
                  <a:schemeClr val="tx1"/>
                </a:solidFill>
                <a:effectLst/>
                <a:latin typeface="+mn-lt"/>
                <a:ea typeface="+mn-ea"/>
                <a:cs typeface="+mn-cs"/>
              </a:rPr>
              <a:t>YOLOv3</a:t>
            </a:r>
            <a:r>
              <a:rPr lang="zh-CN" altLang="en-US" sz="1200" b="0" i="0" kern="1200" dirty="0" smtClean="0">
                <a:solidFill>
                  <a:schemeClr val="tx1"/>
                </a:solidFill>
                <a:effectLst/>
                <a:latin typeface="+mn-lt"/>
                <a:ea typeface="+mn-ea"/>
                <a:cs typeface="+mn-cs"/>
              </a:rPr>
              <a:t>。但在过去的两年中，</a:t>
            </a:r>
            <a:r>
              <a:rPr lang="en-US" altLang="zh-CN" sz="1200" b="0" i="0" kern="1200" dirty="0" err="1" smtClean="0">
                <a:solidFill>
                  <a:schemeClr val="tx1"/>
                </a:solidFill>
                <a:effectLst/>
                <a:latin typeface="+mn-lt"/>
                <a:ea typeface="+mn-ea"/>
                <a:cs typeface="+mn-cs"/>
              </a:rPr>
              <a:t>Darknet</a:t>
            </a:r>
            <a:r>
              <a:rPr lang="zh-CN" altLang="en-US" sz="1200" b="0" i="0" kern="1200" dirty="0" smtClean="0">
                <a:solidFill>
                  <a:schemeClr val="tx1"/>
                </a:solidFill>
                <a:effectLst/>
                <a:latin typeface="+mn-lt"/>
                <a:ea typeface="+mn-ea"/>
                <a:cs typeface="+mn-cs"/>
              </a:rPr>
              <a:t>的贡献者</a:t>
            </a:r>
            <a:r>
              <a:rPr lang="en-US" altLang="zh-CN" sz="1200" b="0" i="0" kern="1200" dirty="0" err="1" smtClean="0">
                <a:solidFill>
                  <a:schemeClr val="tx1"/>
                </a:solidFill>
                <a:effectLst/>
                <a:latin typeface="+mn-lt"/>
                <a:ea typeface="+mn-ea"/>
                <a:cs typeface="+mn-cs"/>
              </a:rPr>
              <a:t>AlexeyAB</a:t>
            </a:r>
            <a:r>
              <a:rPr lang="zh-CN" altLang="en-US" sz="1200" b="0" i="0" kern="1200" dirty="0" smtClean="0">
                <a:solidFill>
                  <a:schemeClr val="tx1"/>
                </a:solidFill>
                <a:effectLst/>
                <a:latin typeface="+mn-lt"/>
                <a:ea typeface="+mn-ea"/>
                <a:cs typeface="+mn-cs"/>
              </a:rPr>
              <a:t>继承了</a:t>
            </a:r>
            <a:r>
              <a:rPr lang="en-US" altLang="zh-CN" sz="1200" b="0" i="0" kern="1200" dirty="0" smtClean="0">
                <a:solidFill>
                  <a:schemeClr val="tx1"/>
                </a:solidFill>
                <a:effectLst/>
                <a:latin typeface="+mn-lt"/>
                <a:ea typeface="+mn-ea"/>
                <a:cs typeface="+mn-cs"/>
              </a:rPr>
              <a:t>YOLO</a:t>
            </a:r>
            <a:r>
              <a:rPr lang="zh-CN" altLang="en-US" sz="1200" b="0" i="0" kern="1200" dirty="0" smtClean="0">
                <a:solidFill>
                  <a:schemeClr val="tx1"/>
                </a:solidFill>
                <a:effectLst/>
                <a:latin typeface="+mn-lt"/>
                <a:ea typeface="+mn-ea"/>
                <a:cs typeface="+mn-cs"/>
              </a:rPr>
              <a:t>系列的思想和理念发布了</a:t>
            </a:r>
            <a:r>
              <a:rPr lang="en-US" altLang="zh-CN" sz="1200" b="0" i="0" kern="1200" dirty="0" smtClean="0">
                <a:solidFill>
                  <a:schemeClr val="tx1"/>
                </a:solidFill>
                <a:effectLst/>
                <a:latin typeface="+mn-lt"/>
                <a:ea typeface="+mn-ea"/>
                <a:cs typeface="+mn-cs"/>
              </a:rPr>
              <a:t>YOLOv4</a:t>
            </a:r>
            <a:r>
              <a:rPr lang="zh-CN" altLang="en-US" sz="1200" b="0" i="0" kern="1200" dirty="0" smtClean="0">
                <a:solidFill>
                  <a:schemeClr val="tx1"/>
                </a:solidFill>
                <a:effectLst/>
                <a:latin typeface="+mn-lt"/>
                <a:ea typeface="+mn-ea"/>
                <a:cs typeface="+mn-cs"/>
              </a:rPr>
              <a:t>，并得到了原作者</a:t>
            </a:r>
            <a:r>
              <a:rPr lang="en-US" altLang="zh-CN" sz="1200" b="0" i="0" kern="1200" dirty="0" smtClean="0">
                <a:solidFill>
                  <a:schemeClr val="tx1"/>
                </a:solidFill>
                <a:effectLst/>
                <a:latin typeface="+mn-lt"/>
                <a:ea typeface="+mn-ea"/>
                <a:cs typeface="+mn-cs"/>
              </a:rPr>
              <a:t>Joseph </a:t>
            </a:r>
            <a:r>
              <a:rPr lang="en-US" altLang="zh-CN" sz="1200" b="0" i="0" kern="1200" dirty="0" err="1" smtClean="0">
                <a:solidFill>
                  <a:schemeClr val="tx1"/>
                </a:solidFill>
                <a:effectLst/>
                <a:latin typeface="+mn-lt"/>
                <a:ea typeface="+mn-ea"/>
                <a:cs typeface="+mn-cs"/>
              </a:rPr>
              <a:t>Redmon</a:t>
            </a:r>
            <a:r>
              <a:rPr lang="zh-CN" altLang="en-US" sz="1200" b="0" i="0" kern="1200" dirty="0" smtClean="0">
                <a:solidFill>
                  <a:schemeClr val="tx1"/>
                </a:solidFill>
                <a:effectLst/>
                <a:latin typeface="+mn-lt"/>
                <a:ea typeface="+mn-ea"/>
                <a:cs typeface="+mn-cs"/>
              </a:rPr>
              <a:t>的承认。总体而言，</a:t>
            </a:r>
            <a:r>
              <a:rPr lang="en-US" altLang="zh-CN" sz="1200" b="0" i="0" kern="1200" dirty="0" smtClean="0">
                <a:solidFill>
                  <a:schemeClr val="tx1"/>
                </a:solidFill>
                <a:effectLst/>
                <a:latin typeface="+mn-lt"/>
                <a:ea typeface="+mn-ea"/>
                <a:cs typeface="+mn-cs"/>
              </a:rPr>
              <a:t>YOLOv4</a:t>
            </a:r>
            <a:r>
              <a:rPr lang="zh-CN" altLang="en-US" sz="1200" b="0" i="0" kern="1200" dirty="0" smtClean="0">
                <a:solidFill>
                  <a:schemeClr val="tx1"/>
                </a:solidFill>
                <a:effectLst/>
                <a:latin typeface="+mn-lt"/>
                <a:ea typeface="+mn-ea"/>
                <a:cs typeface="+mn-cs"/>
              </a:rPr>
              <a:t>的核心思想与主要架构与</a:t>
            </a:r>
            <a:r>
              <a:rPr lang="en-US" altLang="zh-CN" sz="1200" b="0" i="0" kern="1200" dirty="0" smtClean="0">
                <a:solidFill>
                  <a:schemeClr val="tx1"/>
                </a:solidFill>
                <a:effectLst/>
                <a:latin typeface="+mn-lt"/>
                <a:ea typeface="+mn-ea"/>
                <a:cs typeface="+mn-cs"/>
              </a:rPr>
              <a:t>YOLOv3</a:t>
            </a:r>
            <a:r>
              <a:rPr lang="zh-CN" altLang="en-US" sz="1200" b="0" i="0" kern="1200" dirty="0" smtClean="0">
                <a:solidFill>
                  <a:schemeClr val="tx1"/>
                </a:solidFill>
                <a:effectLst/>
                <a:latin typeface="+mn-lt"/>
                <a:ea typeface="+mn-ea"/>
                <a:cs typeface="+mn-cs"/>
              </a:rPr>
              <a:t>无异，主要是在</a:t>
            </a:r>
            <a:r>
              <a:rPr lang="en-US" altLang="zh-CN" sz="1200" b="0" i="0" kern="1200" dirty="0" smtClean="0">
                <a:solidFill>
                  <a:schemeClr val="tx1"/>
                </a:solidFill>
                <a:effectLst/>
                <a:latin typeface="+mn-lt"/>
                <a:ea typeface="+mn-ea"/>
                <a:cs typeface="+mn-cs"/>
              </a:rPr>
              <a:t>YOLOv3</a:t>
            </a:r>
            <a:r>
              <a:rPr lang="zh-CN" altLang="en-US" sz="1200" b="0" i="0" kern="1200" dirty="0" smtClean="0">
                <a:solidFill>
                  <a:schemeClr val="tx1"/>
                </a:solidFill>
                <a:effectLst/>
                <a:latin typeface="+mn-lt"/>
                <a:ea typeface="+mn-ea"/>
                <a:cs typeface="+mn-cs"/>
              </a:rPr>
              <a:t>的基础上运用了许多小技巧，使得模型速度更快，</a:t>
            </a:r>
            <a:r>
              <a:rPr lang="en-US" altLang="zh-CN" sz="1200" b="0" i="0" kern="1200" dirty="0" err="1" smtClean="0">
                <a:solidFill>
                  <a:schemeClr val="tx1"/>
                </a:solidFill>
                <a:effectLst/>
                <a:latin typeface="+mn-lt"/>
                <a:ea typeface="+mn-ea"/>
                <a:cs typeface="+mn-cs"/>
              </a:rPr>
              <a:t>mAP</a:t>
            </a:r>
            <a:r>
              <a:rPr lang="zh-CN" altLang="en-US" sz="1200" b="0" i="0" kern="1200" dirty="0" smtClean="0">
                <a:solidFill>
                  <a:schemeClr val="tx1"/>
                </a:solidFill>
                <a:effectLst/>
                <a:latin typeface="+mn-lt"/>
                <a:ea typeface="+mn-ea"/>
                <a:cs typeface="+mn-cs"/>
              </a:rPr>
              <a:t>更高。下面简单介绍其中的几个：</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395735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在平时项目训练时，小目标的</a:t>
            </a:r>
            <a:r>
              <a:rPr lang="en-US" altLang="zh-CN" sz="1200" b="0" i="0" kern="1200" dirty="0" smtClean="0">
                <a:solidFill>
                  <a:schemeClr val="tx1"/>
                </a:solidFill>
                <a:effectLst/>
                <a:latin typeface="+mn-lt"/>
                <a:ea typeface="+mn-ea"/>
                <a:cs typeface="+mn-cs"/>
              </a:rPr>
              <a:t>AP</a:t>
            </a:r>
            <a:r>
              <a:rPr lang="zh-CN" altLang="en-US" sz="1200" b="0" i="0" kern="1200" dirty="0" smtClean="0">
                <a:solidFill>
                  <a:schemeClr val="tx1"/>
                </a:solidFill>
                <a:effectLst/>
                <a:latin typeface="+mn-lt"/>
                <a:ea typeface="+mn-ea"/>
                <a:cs typeface="+mn-cs"/>
              </a:rPr>
              <a:t>一般比中目标和大目标低很多。而</a:t>
            </a:r>
            <a:r>
              <a:rPr lang="en-US" altLang="zh-CN" sz="1200" b="0" i="0" kern="1200" dirty="0" smtClean="0">
                <a:solidFill>
                  <a:schemeClr val="tx1"/>
                </a:solidFill>
                <a:effectLst/>
                <a:latin typeface="+mn-lt"/>
                <a:ea typeface="+mn-ea"/>
                <a:cs typeface="+mn-cs"/>
              </a:rPr>
              <a:t>Coco</a:t>
            </a:r>
            <a:r>
              <a:rPr lang="zh-CN" altLang="en-US" sz="1200" b="0" i="0" kern="1200" dirty="0" smtClean="0">
                <a:solidFill>
                  <a:schemeClr val="tx1"/>
                </a:solidFill>
                <a:effectLst/>
                <a:latin typeface="+mn-lt"/>
                <a:ea typeface="+mn-ea"/>
                <a:cs typeface="+mn-cs"/>
              </a:rPr>
              <a:t>数据集中也包含大量的小目标，但比较麻烦的是小目标的分布并不均匀。所以为了平衡小、中、大目标的占比数量，使用</a:t>
            </a:r>
            <a:r>
              <a:rPr lang="en-US" altLang="zh-CN" sz="1200" b="0" i="0" kern="1200" dirty="0" smtClean="0">
                <a:solidFill>
                  <a:schemeClr val="tx1"/>
                </a:solidFill>
                <a:effectLst/>
                <a:latin typeface="+mn-lt"/>
                <a:ea typeface="+mn-ea"/>
                <a:cs typeface="+mn-cs"/>
              </a:rPr>
              <a:t>Mosaic</a:t>
            </a:r>
            <a:r>
              <a:rPr lang="zh-CN" altLang="en-US" sz="1200" b="0" i="0" kern="1200" dirty="0" smtClean="0">
                <a:solidFill>
                  <a:schemeClr val="tx1"/>
                </a:solidFill>
                <a:effectLst/>
                <a:latin typeface="+mn-lt"/>
                <a:ea typeface="+mn-ea"/>
                <a:cs typeface="+mn-cs"/>
              </a:rPr>
              <a:t>数据增强</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Yolov4</a:t>
            </a:r>
            <a:r>
              <a:rPr lang="zh-CN" altLang="en-US" sz="1200" b="0" i="0" kern="1200" dirty="0" smtClean="0">
                <a:solidFill>
                  <a:schemeClr val="tx1"/>
                </a:solidFill>
                <a:effectLst/>
                <a:latin typeface="+mn-lt"/>
                <a:ea typeface="+mn-ea"/>
                <a:cs typeface="+mn-cs"/>
              </a:rPr>
              <a:t>中使用的</a:t>
            </a:r>
            <a:r>
              <a:rPr lang="en-US" altLang="zh-CN" sz="1200" b="0" i="0" kern="1200" dirty="0" smtClean="0">
                <a:solidFill>
                  <a:schemeClr val="tx1"/>
                </a:solidFill>
                <a:effectLst/>
                <a:latin typeface="+mn-lt"/>
                <a:ea typeface="+mn-ea"/>
                <a:cs typeface="+mn-cs"/>
              </a:rPr>
              <a:t>Mosaic</a:t>
            </a:r>
            <a:r>
              <a:rPr lang="zh-CN" altLang="en-US" sz="1200" b="0" i="0" kern="1200" dirty="0" smtClean="0">
                <a:solidFill>
                  <a:schemeClr val="tx1"/>
                </a:solidFill>
                <a:effectLst/>
                <a:latin typeface="+mn-lt"/>
                <a:ea typeface="+mn-ea"/>
                <a:cs typeface="+mn-cs"/>
              </a:rPr>
              <a:t>是参考</a:t>
            </a:r>
            <a:r>
              <a:rPr lang="en-US" altLang="zh-CN" sz="1200" b="0" i="0" kern="1200" dirty="0" smtClean="0">
                <a:solidFill>
                  <a:schemeClr val="tx1"/>
                </a:solidFill>
                <a:effectLst/>
                <a:latin typeface="+mn-lt"/>
                <a:ea typeface="+mn-ea"/>
                <a:cs typeface="+mn-cs"/>
              </a:rPr>
              <a:t>2019</a:t>
            </a:r>
            <a:r>
              <a:rPr lang="zh-CN" altLang="en-US" sz="1200" b="0" i="0" kern="1200" dirty="0" smtClean="0">
                <a:solidFill>
                  <a:schemeClr val="tx1"/>
                </a:solidFill>
                <a:effectLst/>
                <a:latin typeface="+mn-lt"/>
                <a:ea typeface="+mn-ea"/>
                <a:cs typeface="+mn-cs"/>
              </a:rPr>
              <a:t>年底提出的</a:t>
            </a:r>
            <a:r>
              <a:rPr lang="en-US" altLang="zh-CN" sz="1200" b="0" i="0" kern="1200" dirty="0" err="1" smtClean="0">
                <a:solidFill>
                  <a:schemeClr val="tx1"/>
                </a:solidFill>
                <a:effectLst/>
                <a:latin typeface="+mn-lt"/>
                <a:ea typeface="+mn-ea"/>
                <a:cs typeface="+mn-cs"/>
              </a:rPr>
              <a:t>CutMix</a:t>
            </a:r>
            <a:r>
              <a:rPr lang="zh-CN" altLang="en-US" sz="1200" b="0" i="0" kern="1200" dirty="0" smtClean="0">
                <a:solidFill>
                  <a:schemeClr val="tx1"/>
                </a:solidFill>
                <a:effectLst/>
                <a:latin typeface="+mn-lt"/>
                <a:ea typeface="+mn-ea"/>
                <a:cs typeface="+mn-cs"/>
              </a:rPr>
              <a:t>数据增强的方式，但</a:t>
            </a:r>
            <a:r>
              <a:rPr lang="en-US" altLang="zh-CN" sz="1200" b="0" i="0" kern="1200" dirty="0" err="1" smtClean="0">
                <a:solidFill>
                  <a:schemeClr val="tx1"/>
                </a:solidFill>
                <a:effectLst/>
                <a:latin typeface="+mn-lt"/>
                <a:ea typeface="+mn-ea"/>
                <a:cs typeface="+mn-cs"/>
              </a:rPr>
              <a:t>CutMix</a:t>
            </a:r>
            <a:r>
              <a:rPr lang="zh-CN" altLang="en-US" sz="1200" b="0" i="0" kern="1200" dirty="0" smtClean="0">
                <a:solidFill>
                  <a:schemeClr val="tx1"/>
                </a:solidFill>
                <a:effectLst/>
                <a:latin typeface="+mn-lt"/>
                <a:ea typeface="+mn-ea"/>
                <a:cs typeface="+mn-cs"/>
              </a:rPr>
              <a:t>只使用了两张图片进行拼接，而</a:t>
            </a:r>
            <a:r>
              <a:rPr lang="en-US" altLang="zh-CN" sz="1200" b="0" i="0" kern="1200" dirty="0" smtClean="0">
                <a:solidFill>
                  <a:schemeClr val="tx1"/>
                </a:solidFill>
                <a:effectLst/>
                <a:latin typeface="+mn-lt"/>
                <a:ea typeface="+mn-ea"/>
                <a:cs typeface="+mn-cs"/>
              </a:rPr>
              <a:t>Mosaic</a:t>
            </a:r>
            <a:r>
              <a:rPr lang="zh-CN" altLang="en-US" sz="1200" b="0" i="0" kern="1200" dirty="0" smtClean="0">
                <a:solidFill>
                  <a:schemeClr val="tx1"/>
                </a:solidFill>
                <a:effectLst/>
                <a:latin typeface="+mn-lt"/>
                <a:ea typeface="+mn-ea"/>
                <a:cs typeface="+mn-cs"/>
              </a:rPr>
              <a:t>数据增强则采用了</a:t>
            </a:r>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张图片，随机缩放、随机裁剪、随机排布的方式进行拼接。</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这种做法扩充了数据集，均衡大中小目标数量：随机使用</a:t>
            </a:r>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张图片随机拼接，且通过随机缩放可以获得很多小目标，让网络的鲁棒性更好。</a:t>
            </a:r>
            <a:r>
              <a:rPr lang="zh-CN" altLang="en-US" dirty="0" smtClean="0"/>
              <a:t/>
            </a:r>
            <a:br>
              <a:rPr lang="zh-CN" altLang="en-US" dirty="0" smtClean="0"/>
            </a:b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减少</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：因为使用</a:t>
            </a:r>
            <a:r>
              <a:rPr lang="en-US" altLang="zh-CN" sz="1200" b="0" i="0" kern="1200" dirty="0" smtClean="0">
                <a:solidFill>
                  <a:schemeClr val="tx1"/>
                </a:solidFill>
                <a:effectLst/>
                <a:latin typeface="+mn-lt"/>
                <a:ea typeface="+mn-ea"/>
                <a:cs typeface="+mn-cs"/>
              </a:rPr>
              <a:t>Mosaic</a:t>
            </a:r>
            <a:r>
              <a:rPr lang="zh-CN" altLang="en-US" sz="1200" b="0" i="0" kern="1200" dirty="0" smtClean="0">
                <a:solidFill>
                  <a:schemeClr val="tx1"/>
                </a:solidFill>
                <a:effectLst/>
                <a:latin typeface="+mn-lt"/>
                <a:ea typeface="+mn-ea"/>
                <a:cs typeface="+mn-cs"/>
              </a:rPr>
              <a:t>增强进行训练时，</a:t>
            </a:r>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张图片被整合成一张图片，这样一来可以使</a:t>
            </a:r>
            <a:r>
              <a:rPr lang="en-US" altLang="zh-CN" sz="1200" b="0" i="0" kern="1200" dirty="0" smtClean="0">
                <a:solidFill>
                  <a:schemeClr val="tx1"/>
                </a:solidFill>
                <a:effectLst/>
                <a:latin typeface="+mn-lt"/>
                <a:ea typeface="+mn-ea"/>
                <a:cs typeface="+mn-cs"/>
              </a:rPr>
              <a:t>mini-batch</a:t>
            </a:r>
            <a:r>
              <a:rPr lang="zh-CN" altLang="en-US" sz="1200" b="0" i="0" kern="1200" dirty="0" smtClean="0">
                <a:solidFill>
                  <a:schemeClr val="tx1"/>
                </a:solidFill>
                <a:effectLst/>
                <a:latin typeface="+mn-lt"/>
                <a:ea typeface="+mn-ea"/>
                <a:cs typeface="+mn-cs"/>
              </a:rPr>
              <a:t>大小并不用很大，这样一个</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就能达到比较好的效果。</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394850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smtClean="0">
                <a:solidFill>
                  <a:schemeClr val="tx1"/>
                </a:solidFill>
                <a:effectLst/>
                <a:latin typeface="+mn-lt"/>
                <a:ea typeface="+mn-ea"/>
                <a:cs typeface="+mn-cs"/>
              </a:rPr>
              <a:t>CSPNet</a:t>
            </a:r>
            <a:r>
              <a:rPr lang="en-US" altLang="zh-CN" sz="1200" b="0" i="0" kern="1200" dirty="0" smtClean="0">
                <a:solidFill>
                  <a:schemeClr val="tx1"/>
                </a:solidFill>
                <a:effectLst/>
                <a:latin typeface="+mn-lt"/>
                <a:ea typeface="+mn-ea"/>
                <a:cs typeface="+mn-cs"/>
              </a:rPr>
              <a:t> (Cross Stage </a:t>
            </a:r>
            <a:r>
              <a:rPr lang="en-US" altLang="zh-CN" sz="1200" b="0" i="0" kern="1200" dirty="0" err="1" smtClean="0">
                <a:solidFill>
                  <a:schemeClr val="tx1"/>
                </a:solidFill>
                <a:effectLst/>
                <a:latin typeface="+mn-lt"/>
                <a:ea typeface="+mn-ea"/>
                <a:cs typeface="+mn-cs"/>
              </a:rPr>
              <a:t>Paritial</a:t>
            </a:r>
            <a:r>
              <a:rPr lang="en-US" altLang="zh-CN" sz="1200" b="0" i="0" kern="1200" dirty="0" smtClean="0">
                <a:solidFill>
                  <a:schemeClr val="tx1"/>
                </a:solidFill>
                <a:effectLst/>
                <a:latin typeface="+mn-lt"/>
                <a:ea typeface="+mn-ea"/>
                <a:cs typeface="+mn-cs"/>
              </a:rPr>
              <a:t> Network) </a:t>
            </a:r>
            <a:r>
              <a:rPr lang="zh-CN" altLang="en-US" sz="1200" b="0" i="0" kern="1200" dirty="0" smtClean="0">
                <a:solidFill>
                  <a:schemeClr val="tx1"/>
                </a:solidFill>
                <a:effectLst/>
                <a:latin typeface="+mn-lt"/>
                <a:ea typeface="+mn-ea"/>
                <a:cs typeface="+mn-cs"/>
              </a:rPr>
              <a:t>主要从网络结构设计的角度解决推理中计算量大的问题。</a:t>
            </a:r>
            <a:r>
              <a:rPr lang="en-US" altLang="zh-CN" sz="1200" b="0" i="0" kern="1200" dirty="0" err="1" smtClean="0">
                <a:solidFill>
                  <a:schemeClr val="tx1"/>
                </a:solidFill>
                <a:effectLst/>
                <a:latin typeface="+mn-lt"/>
                <a:ea typeface="+mn-ea"/>
                <a:cs typeface="+mn-cs"/>
              </a:rPr>
              <a:t>CSPNet</a:t>
            </a: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的作者认为推理计算过高的问题是由于网络优化中的梯度信息重复导致的。 因此采用 </a:t>
            </a:r>
            <a:r>
              <a:rPr lang="en-US" altLang="zh-CN" sz="1200" b="0" i="0" kern="1200" dirty="0" smtClean="0">
                <a:solidFill>
                  <a:schemeClr val="tx1"/>
                </a:solidFill>
                <a:effectLst/>
                <a:latin typeface="+mn-lt"/>
                <a:ea typeface="+mn-ea"/>
                <a:cs typeface="+mn-cs"/>
              </a:rPr>
              <a:t>Cross-Stage-Partial-connections (CSP) </a:t>
            </a:r>
            <a:r>
              <a:rPr lang="zh-CN" altLang="en-US" sz="1200" b="0" i="0" kern="1200" dirty="0" smtClean="0">
                <a:solidFill>
                  <a:schemeClr val="tx1"/>
                </a:solidFill>
                <a:effectLst/>
                <a:latin typeface="+mn-lt"/>
                <a:ea typeface="+mn-ea"/>
                <a:cs typeface="+mn-cs"/>
              </a:rPr>
              <a:t>先将基础层的特征映射划分为两部分，然后通过跨阶段层次结构将它们合并，在减少了计算量的同时可以保证准确率。</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网络结构采用 </a:t>
            </a:r>
            <a:r>
              <a:rPr lang="en-US" altLang="zh-CN" sz="1200" b="0" i="0" kern="1200" dirty="0" smtClean="0">
                <a:solidFill>
                  <a:schemeClr val="tx1"/>
                </a:solidFill>
                <a:effectLst/>
                <a:latin typeface="+mn-lt"/>
                <a:ea typeface="+mn-ea"/>
                <a:cs typeface="+mn-cs"/>
              </a:rPr>
              <a:t>CSP </a:t>
            </a:r>
            <a:r>
              <a:rPr lang="zh-CN" altLang="en-US" sz="1200" b="0" i="0" kern="1200" dirty="0" smtClean="0">
                <a:solidFill>
                  <a:schemeClr val="tx1"/>
                </a:solidFill>
                <a:effectLst/>
                <a:latin typeface="+mn-lt"/>
                <a:ea typeface="+mn-ea"/>
                <a:cs typeface="+mn-cs"/>
              </a:rPr>
              <a:t>连接，主要以下三个方面的优点：增强 </a:t>
            </a:r>
            <a:r>
              <a:rPr lang="en-US" altLang="zh-CN" sz="1200" b="0" i="0" kern="1200" dirty="0" smtClean="0">
                <a:solidFill>
                  <a:schemeClr val="tx1"/>
                </a:solidFill>
                <a:effectLst/>
                <a:latin typeface="+mn-lt"/>
                <a:ea typeface="+mn-ea"/>
                <a:cs typeface="+mn-cs"/>
              </a:rPr>
              <a:t>CNN </a:t>
            </a:r>
            <a:r>
              <a:rPr lang="zh-CN" altLang="en-US" sz="1200" b="0" i="0" kern="1200" dirty="0" smtClean="0">
                <a:solidFill>
                  <a:schemeClr val="tx1"/>
                </a:solidFill>
                <a:effectLst/>
                <a:latin typeface="+mn-lt"/>
                <a:ea typeface="+mn-ea"/>
                <a:cs typeface="+mn-cs"/>
              </a:rPr>
              <a:t>的学习能力，使得在轻量化的同时保持准确性；降低计算瓶颈；降低内存成本。</a:t>
            </a:r>
            <a:r>
              <a:rPr lang="en-US" altLang="zh-CN" sz="1200" b="0" i="0" kern="1200" dirty="0" smtClean="0">
                <a:solidFill>
                  <a:schemeClr val="tx1"/>
                </a:solidFill>
                <a:effectLst/>
                <a:latin typeface="+mn-lt"/>
                <a:ea typeface="+mn-ea"/>
                <a:cs typeface="+mn-cs"/>
              </a:rPr>
              <a:t>YOLOv4 </a:t>
            </a:r>
            <a:r>
              <a:rPr lang="zh-CN" altLang="en-US" sz="1200" b="0" i="0" kern="1200" dirty="0" smtClean="0">
                <a:solidFill>
                  <a:schemeClr val="tx1"/>
                </a:solidFill>
                <a:effectLst/>
                <a:latin typeface="+mn-lt"/>
                <a:ea typeface="+mn-ea"/>
                <a:cs typeface="+mn-cs"/>
              </a:rPr>
              <a:t>利用上面的 </a:t>
            </a:r>
            <a:r>
              <a:rPr lang="en-US" altLang="zh-CN" sz="1200" b="0" i="0" kern="1200" dirty="0" smtClean="0">
                <a:solidFill>
                  <a:schemeClr val="tx1"/>
                </a:solidFill>
                <a:effectLst/>
                <a:latin typeface="+mn-lt"/>
                <a:ea typeface="+mn-ea"/>
                <a:cs typeface="+mn-cs"/>
              </a:rPr>
              <a:t>CSP </a:t>
            </a:r>
            <a:r>
              <a:rPr lang="zh-CN" altLang="en-US" sz="1200" b="0" i="0" kern="1200" dirty="0" smtClean="0">
                <a:solidFill>
                  <a:schemeClr val="tx1"/>
                </a:solidFill>
                <a:effectLst/>
                <a:latin typeface="+mn-lt"/>
                <a:ea typeface="+mn-ea"/>
                <a:cs typeface="+mn-cs"/>
              </a:rPr>
              <a:t>连接以及</a:t>
            </a:r>
            <a:r>
              <a:rPr lang="en-US" altLang="zh-CN" sz="1200" b="0" i="0" kern="1200" dirty="0" smtClean="0">
                <a:solidFill>
                  <a:schemeClr val="tx1"/>
                </a:solidFill>
                <a:effectLst/>
                <a:latin typeface="+mn-lt"/>
                <a:ea typeface="+mn-ea"/>
                <a:cs typeface="+mn-cs"/>
              </a:rPr>
              <a:t>Darknet-53</a:t>
            </a:r>
            <a:r>
              <a:rPr lang="zh-CN" altLang="en-US" sz="1200" b="0" i="0" kern="1200" dirty="0" smtClean="0">
                <a:solidFill>
                  <a:schemeClr val="tx1"/>
                </a:solidFill>
                <a:effectLst/>
                <a:latin typeface="+mn-lt"/>
                <a:ea typeface="+mn-ea"/>
                <a:cs typeface="+mn-cs"/>
              </a:rPr>
              <a:t>作为提取特征的主干网络。</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此外，</a:t>
            </a:r>
            <a:r>
              <a:rPr lang="en-US" altLang="zh-CN" sz="1200" b="0" i="0" kern="1200" dirty="0" smtClean="0">
                <a:solidFill>
                  <a:schemeClr val="tx1"/>
                </a:solidFill>
                <a:effectLst/>
                <a:latin typeface="+mn-lt"/>
                <a:ea typeface="+mn-ea"/>
                <a:cs typeface="+mn-cs"/>
              </a:rPr>
              <a:t>YOLOv4</a:t>
            </a:r>
            <a:r>
              <a:rPr lang="zh-CN" altLang="en-US" sz="1200" b="0" i="0" kern="1200" dirty="0" smtClean="0">
                <a:solidFill>
                  <a:schemeClr val="tx1"/>
                </a:solidFill>
                <a:effectLst/>
                <a:latin typeface="+mn-lt"/>
                <a:ea typeface="+mn-ea"/>
                <a:cs typeface="+mn-cs"/>
              </a:rPr>
              <a:t>还引入</a:t>
            </a:r>
            <a:r>
              <a:rPr lang="en-US" altLang="zh-CN" sz="1200" b="0" i="0" kern="1200" dirty="0" err="1" smtClean="0">
                <a:solidFill>
                  <a:schemeClr val="tx1"/>
                </a:solidFill>
                <a:effectLst/>
                <a:latin typeface="+mn-lt"/>
                <a:ea typeface="+mn-ea"/>
                <a:cs typeface="+mn-cs"/>
              </a:rPr>
              <a:t>Dropblock</a:t>
            </a:r>
            <a:r>
              <a:rPr lang="zh-CN" altLang="en-US" sz="1200" b="0" i="0" kern="1200" dirty="0" smtClean="0">
                <a:solidFill>
                  <a:schemeClr val="tx1"/>
                </a:solidFill>
                <a:effectLst/>
                <a:latin typeface="+mn-lt"/>
                <a:ea typeface="+mn-ea"/>
                <a:cs typeface="+mn-cs"/>
              </a:rPr>
              <a:t>缓解过拟合问题，作用与</a:t>
            </a:r>
            <a:r>
              <a:rPr lang="en-US" altLang="zh-CN" sz="1200" b="0" i="0" kern="1200" dirty="0" smtClean="0">
                <a:solidFill>
                  <a:schemeClr val="tx1"/>
                </a:solidFill>
                <a:effectLst/>
                <a:latin typeface="+mn-lt"/>
                <a:ea typeface="+mn-ea"/>
                <a:cs typeface="+mn-cs"/>
              </a:rPr>
              <a:t>dropout</a:t>
            </a:r>
            <a:r>
              <a:rPr lang="zh-CN" altLang="en-US" sz="1200" b="0" i="0" kern="1200" dirty="0" smtClean="0">
                <a:solidFill>
                  <a:schemeClr val="tx1"/>
                </a:solidFill>
                <a:effectLst/>
                <a:latin typeface="+mn-lt"/>
                <a:ea typeface="+mn-ea"/>
                <a:cs typeface="+mn-cs"/>
              </a:rPr>
              <a:t>层基本相同。</a:t>
            </a:r>
            <a:r>
              <a:rPr lang="en-US" altLang="zh-CN" sz="1200" b="0" i="0" kern="1200" dirty="0" smtClean="0">
                <a:solidFill>
                  <a:schemeClr val="tx1"/>
                </a:solidFill>
                <a:effectLst/>
                <a:latin typeface="+mn-lt"/>
                <a:ea typeface="+mn-ea"/>
                <a:cs typeface="+mn-cs"/>
              </a:rPr>
              <a:t>Dropout</a:t>
            </a:r>
            <a:r>
              <a:rPr lang="zh-CN" altLang="en-US" sz="1200" b="0" i="0" kern="1200" dirty="0" smtClean="0">
                <a:solidFill>
                  <a:schemeClr val="tx1"/>
                </a:solidFill>
                <a:effectLst/>
                <a:latin typeface="+mn-lt"/>
                <a:ea typeface="+mn-ea"/>
                <a:cs typeface="+mn-cs"/>
              </a:rPr>
              <a:t>使得图像随机位置失活，但这种方式对于</a:t>
            </a:r>
            <a:r>
              <a:rPr lang="en-US" altLang="zh-CN" sz="1200" b="0" i="0" kern="1200" dirty="0" smtClean="0">
                <a:solidFill>
                  <a:schemeClr val="tx1"/>
                </a:solidFill>
                <a:effectLst/>
                <a:latin typeface="+mn-lt"/>
                <a:ea typeface="+mn-ea"/>
                <a:cs typeface="+mn-cs"/>
              </a:rPr>
              <a:t>CNN</a:t>
            </a:r>
            <a:r>
              <a:rPr lang="zh-CN" altLang="en-US" sz="1200" b="0" i="0" kern="1200" dirty="0" smtClean="0">
                <a:solidFill>
                  <a:schemeClr val="tx1"/>
                </a:solidFill>
                <a:effectLst/>
                <a:latin typeface="+mn-lt"/>
                <a:ea typeface="+mn-ea"/>
                <a:cs typeface="+mn-cs"/>
              </a:rPr>
              <a:t>的三层结构（卷积</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激活</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池化）效果并不好。卷积层仍然可以从相邻的激活单元学习到相同的信息，池化层本身就是对相邻单元起作用，对于这种随机丢弃并不敏感。而</a:t>
            </a:r>
            <a:r>
              <a:rPr lang="en-US" altLang="zh-CN" sz="1200" b="0" i="0" kern="1200" dirty="0" err="1" smtClean="0">
                <a:solidFill>
                  <a:schemeClr val="tx1"/>
                </a:solidFill>
                <a:effectLst/>
                <a:latin typeface="+mn-lt"/>
                <a:ea typeface="+mn-ea"/>
                <a:cs typeface="+mn-cs"/>
              </a:rPr>
              <a:t>Dropblock</a:t>
            </a:r>
            <a:r>
              <a:rPr lang="zh-CN" altLang="en-US" sz="1200" b="0" i="0" kern="1200" dirty="0" smtClean="0">
                <a:solidFill>
                  <a:schemeClr val="tx1"/>
                </a:solidFill>
                <a:effectLst/>
                <a:latin typeface="+mn-lt"/>
                <a:ea typeface="+mn-ea"/>
                <a:cs typeface="+mn-cs"/>
              </a:rPr>
              <a:t>则采用将局部区域进行失活，并可以应用到网络中的每一个特征图上，有效缓解过拟合问题。</a:t>
            </a:r>
            <a:endParaRPr lang="en-US" altLang="zh-CN" sz="1200" b="0" i="0" kern="1200" dirty="0" smtClean="0">
              <a:solidFill>
                <a:schemeClr val="tx1"/>
              </a:solidFill>
              <a:effectLst/>
              <a:latin typeface="+mn-lt"/>
              <a:ea typeface="+mn-ea"/>
              <a:cs typeface="+mn-cs"/>
            </a:endParaRPr>
          </a:p>
          <a:p>
            <a:endParaRPr lang="zh-CN" altLang="en-US"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8273192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FPN+PAN</a:t>
            </a:r>
            <a:r>
              <a:rPr lang="zh-CN" altLang="en-US" dirty="0" smtClean="0"/>
              <a:t>所谓的</a:t>
            </a:r>
            <a:r>
              <a:rPr lang="en-US" altLang="zh-CN" dirty="0" smtClean="0"/>
              <a:t>FPN</a:t>
            </a:r>
            <a:r>
              <a:rPr lang="zh-CN" altLang="en-US" dirty="0" smtClean="0"/>
              <a:t>，即特征金字塔网络，通过在特征图上面构建金字塔，可以更好的解决目标检测中尺度问题，如左图。</a:t>
            </a:r>
            <a:r>
              <a:rPr lang="en-US" altLang="zh-CN" dirty="0" smtClean="0"/>
              <a:t>PAN</a:t>
            </a:r>
            <a:r>
              <a:rPr lang="zh-CN" altLang="en-US" dirty="0" smtClean="0"/>
              <a:t>则是借鉴了图像分割领域</a:t>
            </a:r>
            <a:r>
              <a:rPr lang="en-US" altLang="zh-CN" dirty="0" err="1" smtClean="0"/>
              <a:t>PANet</a:t>
            </a:r>
            <a:r>
              <a:rPr lang="zh-CN" altLang="en-US" dirty="0" smtClean="0"/>
              <a:t>算法中的创新点，它是一种自底向上的结构，它在</a:t>
            </a:r>
            <a:r>
              <a:rPr lang="en-US" altLang="zh-CN" dirty="0" smtClean="0"/>
              <a:t>FPN</a:t>
            </a:r>
            <a:r>
              <a:rPr lang="zh-CN" altLang="en-US" dirty="0" smtClean="0"/>
              <a:t>的基础上增加了两个</a:t>
            </a:r>
            <a:r>
              <a:rPr lang="en-US" altLang="zh-CN" dirty="0" smtClean="0"/>
              <a:t>PAN</a:t>
            </a:r>
            <a:r>
              <a:rPr lang="zh-CN" altLang="en-US" dirty="0" smtClean="0"/>
              <a:t>结构，如右图中的</a:t>
            </a:r>
            <a:r>
              <a:rPr lang="en-US" altLang="zh-CN" dirty="0" smtClean="0"/>
              <a:t>2</a:t>
            </a:r>
            <a:r>
              <a:rPr lang="zh-CN" altLang="en-US" dirty="0" smtClean="0"/>
              <a:t>和</a:t>
            </a:r>
            <a:r>
              <a:rPr lang="en-US" altLang="zh-CN" dirty="0" smtClean="0"/>
              <a:t>3</a:t>
            </a:r>
            <a:r>
              <a:rPr lang="zh-CN" altLang="en-US" dirty="0" smtClean="0"/>
              <a:t>所示。（</a:t>
            </a:r>
            <a:r>
              <a:rPr lang="en-US" altLang="zh-CN" dirty="0" smtClean="0"/>
              <a:t>1</a:t>
            </a:r>
            <a:r>
              <a:rPr lang="zh-CN" altLang="en-US" dirty="0" smtClean="0"/>
              <a:t>）整个网络的输入图像大小为</a:t>
            </a:r>
            <a:r>
              <a:rPr lang="en-US" altLang="zh-CN" dirty="0" smtClean="0"/>
              <a:t>608*608</a:t>
            </a:r>
            <a:r>
              <a:rPr lang="zh-CN" altLang="en-US" dirty="0" smtClean="0"/>
              <a:t>；然后经过</a:t>
            </a:r>
            <a:r>
              <a:rPr lang="en-US" altLang="zh-CN" dirty="0" smtClean="0"/>
              <a:t>CSP</a:t>
            </a:r>
            <a:r>
              <a:rPr lang="zh-CN" altLang="en-US" dirty="0" smtClean="0"/>
              <a:t>块之后生成一个</a:t>
            </a:r>
            <a:r>
              <a:rPr lang="en-US" altLang="zh-CN" dirty="0" smtClean="0"/>
              <a:t>76*76</a:t>
            </a:r>
            <a:r>
              <a:rPr lang="zh-CN" altLang="en-US" dirty="0" smtClean="0"/>
              <a:t>大小的特征映射，经过下采样操作之后生成</a:t>
            </a:r>
            <a:r>
              <a:rPr lang="en-US" altLang="zh-CN" dirty="0" smtClean="0"/>
              <a:t>38*38</a:t>
            </a:r>
            <a:r>
              <a:rPr lang="zh-CN" altLang="en-US" dirty="0" smtClean="0"/>
              <a:t>的特征映射，经过下采样操作之后生成</a:t>
            </a:r>
            <a:r>
              <a:rPr lang="en-US" altLang="zh-CN" dirty="0" smtClean="0"/>
              <a:t>19*19</a:t>
            </a:r>
            <a:r>
              <a:rPr lang="zh-CN" altLang="en-US" dirty="0" smtClean="0"/>
              <a:t>的特征映射；（</a:t>
            </a:r>
            <a:r>
              <a:rPr lang="en-US" altLang="zh-CN" dirty="0" smtClean="0"/>
              <a:t>2</a:t>
            </a:r>
            <a:r>
              <a:rPr lang="zh-CN" altLang="en-US" dirty="0" smtClean="0"/>
              <a:t>）接着将其传入</a:t>
            </a:r>
            <a:r>
              <a:rPr lang="en-US" altLang="zh-CN" dirty="0" smtClean="0"/>
              <a:t>FPN</a:t>
            </a:r>
            <a:r>
              <a:rPr lang="zh-CN" altLang="en-US" dirty="0" smtClean="0"/>
              <a:t>结构中，依次对</a:t>
            </a:r>
            <a:r>
              <a:rPr lang="en-US" altLang="zh-CN" dirty="0" smtClean="0"/>
              <a:t>19*19</a:t>
            </a:r>
            <a:r>
              <a:rPr lang="zh-CN" altLang="en-US" dirty="0" smtClean="0"/>
              <a:t>、</a:t>
            </a:r>
            <a:r>
              <a:rPr lang="en-US" altLang="zh-CN" dirty="0" smtClean="0"/>
              <a:t>38*38</a:t>
            </a:r>
            <a:r>
              <a:rPr lang="zh-CN" altLang="en-US" dirty="0" smtClean="0"/>
              <a:t>、</a:t>
            </a:r>
            <a:r>
              <a:rPr lang="en-US" altLang="zh-CN" dirty="0" smtClean="0"/>
              <a:t>76*76</a:t>
            </a:r>
            <a:r>
              <a:rPr lang="zh-CN" altLang="en-US" dirty="0" smtClean="0"/>
              <a:t>执行融合操作，即先对比较小的特征映射层执行上采样操作，将其调整成相同大小，然后将两个同等大小的特征映射叠加起来。通过</a:t>
            </a:r>
            <a:r>
              <a:rPr lang="en-US" altLang="zh-CN" dirty="0" smtClean="0"/>
              <a:t>FPN</a:t>
            </a:r>
            <a:r>
              <a:rPr lang="zh-CN" altLang="en-US" dirty="0" smtClean="0"/>
              <a:t>操作可以将</a:t>
            </a:r>
            <a:r>
              <a:rPr lang="en-US" altLang="zh-CN" dirty="0" smtClean="0"/>
              <a:t>19*19</a:t>
            </a:r>
            <a:r>
              <a:rPr lang="zh-CN" altLang="en-US" dirty="0" smtClean="0"/>
              <a:t>大小的特征映射调整为</a:t>
            </a:r>
            <a:r>
              <a:rPr lang="en-US" altLang="zh-CN" dirty="0" smtClean="0"/>
              <a:t>76*76</a:t>
            </a:r>
            <a:r>
              <a:rPr lang="zh-CN" altLang="en-US" dirty="0" smtClean="0"/>
              <a:t>大小，这样不仅提升了特征映射的大小，可以更好的解决检测中尺度 问题，而且增加了网络的深度，提升了网络的鲁棒性。（</a:t>
            </a:r>
            <a:r>
              <a:rPr lang="en-US" altLang="zh-CN" dirty="0" smtClean="0"/>
              <a:t>3</a:t>
            </a:r>
            <a:r>
              <a:rPr lang="zh-CN" altLang="en-US" dirty="0" smtClean="0"/>
              <a:t>）接着将其传入</a:t>
            </a:r>
            <a:r>
              <a:rPr lang="en-US" altLang="zh-CN" dirty="0" smtClean="0"/>
              <a:t>PAN</a:t>
            </a:r>
            <a:r>
              <a:rPr lang="zh-CN" altLang="en-US" dirty="0" smtClean="0"/>
              <a:t>结构中，</a:t>
            </a:r>
            <a:r>
              <a:rPr lang="en-US" altLang="zh-CN" dirty="0" err="1" smtClean="0"/>
              <a:t>PANet</a:t>
            </a:r>
            <a:r>
              <a:rPr lang="zh-CN" altLang="en-US" dirty="0" smtClean="0"/>
              <a:t>网络的</a:t>
            </a:r>
            <a:r>
              <a:rPr lang="en-US" altLang="zh-CN" dirty="0" smtClean="0"/>
              <a:t>PAN</a:t>
            </a:r>
            <a:r>
              <a:rPr lang="zh-CN" altLang="en-US" dirty="0" smtClean="0"/>
              <a:t>结构是将两个相同大小的特征映射执行按位加操作，</a:t>
            </a:r>
            <a:r>
              <a:rPr lang="en-US" altLang="zh-CN" dirty="0" smtClean="0"/>
              <a:t>YOLOv4</a:t>
            </a:r>
            <a:r>
              <a:rPr lang="zh-CN" altLang="en-US" dirty="0" smtClean="0"/>
              <a:t>中使用</a:t>
            </a:r>
            <a:r>
              <a:rPr lang="en-US" altLang="zh-CN" dirty="0" err="1" smtClean="0"/>
              <a:t>Concat</a:t>
            </a:r>
            <a:r>
              <a:rPr lang="zh-CN" altLang="en-US" dirty="0" smtClean="0"/>
              <a:t>操作来代替它。经过两个</a:t>
            </a:r>
            <a:r>
              <a:rPr lang="en-US" altLang="zh-CN" dirty="0" smtClean="0"/>
              <a:t>PAN</a:t>
            </a:r>
            <a:r>
              <a:rPr lang="zh-CN" altLang="en-US" dirty="0" smtClean="0"/>
              <a:t>结构，我们将</a:t>
            </a:r>
            <a:r>
              <a:rPr lang="en-US" altLang="zh-CN" dirty="0" smtClean="0"/>
              <a:t>76*76</a:t>
            </a:r>
            <a:r>
              <a:rPr lang="zh-CN" altLang="en-US" dirty="0" smtClean="0"/>
              <a:t>大小的特征映射重新调整为</a:t>
            </a:r>
            <a:r>
              <a:rPr lang="en-US" altLang="zh-CN" dirty="0" smtClean="0"/>
              <a:t>19*19</a:t>
            </a:r>
            <a:r>
              <a:rPr lang="zh-CN" altLang="en-US" dirty="0" smtClean="0"/>
              <a:t>大小，这样可以在一定程度上提升该算法的目标定位能力。</a:t>
            </a:r>
            <a:r>
              <a:rPr lang="en-US" altLang="zh-CN" dirty="0" smtClean="0"/>
              <a:t>FPN</a:t>
            </a:r>
            <a:r>
              <a:rPr lang="zh-CN" altLang="en-US" dirty="0" smtClean="0"/>
              <a:t>层自顶向下可以捕获强语义特征，而</a:t>
            </a:r>
            <a:r>
              <a:rPr lang="en-US" altLang="zh-CN" dirty="0" smtClean="0"/>
              <a:t>PAF</a:t>
            </a:r>
            <a:r>
              <a:rPr lang="zh-CN" altLang="en-US" dirty="0" smtClean="0"/>
              <a:t>则通过自底向上传达强定位特征，通过组合这两个模块，可以很好的完成目标定位的功能。</a:t>
            </a:r>
            <a:endParaRPr lang="en-US" altLang="zh-CN" dirty="0" smtClean="0"/>
          </a:p>
          <a:p>
            <a:r>
              <a:rPr lang="zh-CN" altLang="en-US" dirty="0" smtClean="0"/>
              <a:t>此外，</a:t>
            </a:r>
            <a:r>
              <a:rPr lang="en-US" altLang="zh-CN" dirty="0" smtClean="0"/>
              <a:t>YOLOv4</a:t>
            </a:r>
            <a:r>
              <a:rPr lang="zh-CN" altLang="en-US" dirty="0" smtClean="0"/>
              <a:t>还有许多小技巧例如主干部分添加</a:t>
            </a:r>
            <a:r>
              <a:rPr lang="en-US" altLang="zh-CN" dirty="0" smtClean="0"/>
              <a:t>SPP-Net</a:t>
            </a:r>
            <a:r>
              <a:rPr lang="zh-CN" altLang="en-US" dirty="0" smtClean="0"/>
              <a:t>，使用</a:t>
            </a:r>
            <a:r>
              <a:rPr lang="en-US" altLang="zh-CN" dirty="0" smtClean="0"/>
              <a:t>Mish</a:t>
            </a:r>
            <a:r>
              <a:rPr lang="zh-CN" altLang="en-US" dirty="0" smtClean="0"/>
              <a:t>激活函数，优化</a:t>
            </a:r>
            <a:r>
              <a:rPr lang="en-US" altLang="zh-CN" dirty="0" err="1" smtClean="0"/>
              <a:t>IoU</a:t>
            </a:r>
            <a:r>
              <a:rPr lang="en-US" altLang="zh-CN" dirty="0" smtClean="0"/>
              <a:t> Loss</a:t>
            </a:r>
            <a:r>
              <a:rPr lang="zh-CN" altLang="en-US" dirty="0" smtClean="0"/>
              <a:t>计算等，这里不再一一赘述。</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491211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YOLOv5</a:t>
            </a:r>
            <a:r>
              <a:rPr lang="zh-CN" altLang="en-US" sz="1200" b="0" i="0" kern="1200" dirty="0" smtClean="0">
                <a:solidFill>
                  <a:schemeClr val="tx1"/>
                </a:solidFill>
                <a:effectLst/>
                <a:latin typeface="+mn-lt"/>
                <a:ea typeface="+mn-ea"/>
                <a:cs typeface="+mn-cs"/>
              </a:rPr>
              <a:t>在</a:t>
            </a:r>
            <a:r>
              <a:rPr lang="en-US" altLang="zh-CN" sz="1200" b="0" i="0" kern="1200" dirty="0" smtClean="0">
                <a:solidFill>
                  <a:schemeClr val="tx1"/>
                </a:solidFill>
                <a:effectLst/>
                <a:latin typeface="+mn-lt"/>
                <a:ea typeface="+mn-ea"/>
                <a:cs typeface="+mn-cs"/>
              </a:rPr>
              <a:t>YOLOv4</a:t>
            </a:r>
            <a:r>
              <a:rPr lang="zh-CN" altLang="en-US" sz="1200" b="0" i="0" kern="1200" dirty="0" smtClean="0">
                <a:solidFill>
                  <a:schemeClr val="tx1"/>
                </a:solidFill>
                <a:effectLst/>
                <a:latin typeface="+mn-lt"/>
                <a:ea typeface="+mn-ea"/>
                <a:cs typeface="+mn-cs"/>
              </a:rPr>
              <a:t>出来之后没多久就横空出世了。总体来说，</a:t>
            </a:r>
            <a:r>
              <a:rPr lang="en-US" altLang="zh-CN" sz="1200" b="0" i="0" kern="1200" dirty="0" smtClean="0">
                <a:solidFill>
                  <a:schemeClr val="tx1"/>
                </a:solidFill>
                <a:effectLst/>
                <a:latin typeface="+mn-lt"/>
                <a:ea typeface="+mn-ea"/>
                <a:cs typeface="+mn-cs"/>
              </a:rPr>
              <a:t>YOLOv5</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YOLOv4</a:t>
            </a:r>
            <a:r>
              <a:rPr lang="zh-CN" altLang="en-US" sz="1200" b="0" i="0" kern="1200" dirty="0" smtClean="0">
                <a:solidFill>
                  <a:schemeClr val="tx1"/>
                </a:solidFill>
                <a:effectLst/>
                <a:latin typeface="+mn-lt"/>
                <a:ea typeface="+mn-ea"/>
                <a:cs typeface="+mn-cs"/>
              </a:rPr>
              <a:t>差不多，但还是做了一些调整与优化。特点是速度更快，模型更灵活更易部署，但性能上稍弱于</a:t>
            </a:r>
            <a:r>
              <a:rPr lang="en-US" altLang="zh-CN" sz="1200" b="0" i="0" kern="1200" dirty="0" smtClean="0">
                <a:solidFill>
                  <a:schemeClr val="tx1"/>
                </a:solidFill>
                <a:effectLst/>
                <a:latin typeface="+mn-lt"/>
                <a:ea typeface="+mn-ea"/>
                <a:cs typeface="+mn-cs"/>
              </a:rPr>
              <a:t>YOLOv4</a:t>
            </a:r>
            <a:r>
              <a:rPr lang="zh-CN" altLang="en-US" sz="1200" b="0" i="0" kern="1200" dirty="0" smtClean="0">
                <a:solidFill>
                  <a:schemeClr val="tx1"/>
                </a:solidFill>
                <a:effectLst/>
                <a:latin typeface="+mn-lt"/>
                <a:ea typeface="+mn-ea"/>
                <a:cs typeface="+mn-cs"/>
              </a:rPr>
              <a:t>，因此目前仍饱受非议。与之前的</a:t>
            </a:r>
            <a:r>
              <a:rPr lang="en-US" altLang="zh-CN" sz="1200" kern="1200" dirty="0" smtClean="0">
                <a:solidFill>
                  <a:schemeClr val="tx1"/>
                </a:solidFill>
                <a:effectLst/>
                <a:latin typeface="+mn-lt"/>
                <a:ea typeface="+mn-ea"/>
                <a:cs typeface="+mn-cs"/>
              </a:rPr>
              <a:t>YOLOv3</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YOLOv4</a:t>
            </a:r>
            <a:r>
              <a:rPr lang="zh-CN" altLang="en-US" sz="1200" kern="1200" dirty="0" smtClean="0">
                <a:solidFill>
                  <a:schemeClr val="tx1"/>
                </a:solidFill>
                <a:effectLst/>
                <a:latin typeface="+mn-lt"/>
                <a:ea typeface="+mn-ea"/>
                <a:cs typeface="+mn-cs"/>
              </a:rPr>
              <a:t>不同，</a:t>
            </a:r>
            <a:r>
              <a:rPr lang="en-US" altLang="zh-CN" sz="1200" kern="1200" dirty="0" smtClean="0">
                <a:solidFill>
                  <a:schemeClr val="tx1"/>
                </a:solidFill>
                <a:effectLst/>
                <a:latin typeface="+mn-lt"/>
                <a:ea typeface="+mn-ea"/>
                <a:cs typeface="+mn-cs"/>
              </a:rPr>
              <a:t>v3</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v4 </a:t>
            </a:r>
            <a:r>
              <a:rPr lang="zh-CN" altLang="en-US" sz="1200" kern="1200" dirty="0" smtClean="0">
                <a:solidFill>
                  <a:schemeClr val="tx1"/>
                </a:solidFill>
                <a:effectLst/>
                <a:latin typeface="+mn-lt"/>
                <a:ea typeface="+mn-ea"/>
                <a:cs typeface="+mn-cs"/>
              </a:rPr>
              <a:t>除了有完整的大模型之外，只有一个轻量级的</a:t>
            </a:r>
            <a:r>
              <a:rPr lang="en-US" altLang="zh-CN" sz="1200" kern="1200" dirty="0" smtClean="0">
                <a:solidFill>
                  <a:schemeClr val="tx1"/>
                </a:solidFill>
                <a:effectLst/>
                <a:latin typeface="+mn-lt"/>
                <a:ea typeface="+mn-ea"/>
                <a:cs typeface="+mn-cs"/>
              </a:rPr>
              <a:t>tiny</a:t>
            </a:r>
            <a:r>
              <a:rPr lang="zh-CN" altLang="en-US" sz="1200" kern="1200" dirty="0" smtClean="0">
                <a:solidFill>
                  <a:schemeClr val="tx1"/>
                </a:solidFill>
                <a:effectLst/>
                <a:latin typeface="+mn-lt"/>
                <a:ea typeface="+mn-ea"/>
                <a:cs typeface="+mn-cs"/>
              </a:rPr>
              <a:t>模型，值得注意的是，在</a:t>
            </a:r>
            <a:r>
              <a:rPr lang="en-US" altLang="zh-CN" sz="1200" kern="1200" dirty="0" smtClean="0">
                <a:solidFill>
                  <a:schemeClr val="tx1"/>
                </a:solidFill>
                <a:effectLst/>
                <a:latin typeface="+mn-lt"/>
                <a:ea typeface="+mn-ea"/>
                <a:cs typeface="+mn-cs"/>
              </a:rPr>
              <a:t>tiny</a:t>
            </a:r>
            <a:r>
              <a:rPr lang="zh-CN" altLang="en-US" sz="1200" kern="1200" dirty="0" smtClean="0">
                <a:solidFill>
                  <a:schemeClr val="tx1"/>
                </a:solidFill>
                <a:effectLst/>
                <a:latin typeface="+mn-lt"/>
                <a:ea typeface="+mn-ea"/>
                <a:cs typeface="+mn-cs"/>
              </a:rPr>
              <a:t>中，只有两个输出层。而</a:t>
            </a:r>
            <a:r>
              <a:rPr lang="en-US" altLang="zh-CN" sz="1200" kern="1200" dirty="0" smtClean="0">
                <a:solidFill>
                  <a:schemeClr val="tx1"/>
                </a:solidFill>
                <a:effectLst/>
                <a:latin typeface="+mn-lt"/>
                <a:ea typeface="+mn-ea"/>
                <a:cs typeface="+mn-cs"/>
              </a:rPr>
              <a:t>YOLOv5</a:t>
            </a:r>
            <a:r>
              <a:rPr lang="zh-CN" altLang="en-US" sz="1200" kern="1200" dirty="0" smtClean="0">
                <a:solidFill>
                  <a:schemeClr val="tx1"/>
                </a:solidFill>
                <a:effectLst/>
                <a:latin typeface="+mn-lt"/>
                <a:ea typeface="+mn-ea"/>
                <a:cs typeface="+mn-cs"/>
              </a:rPr>
              <a:t>则具备四种网络模型：</a:t>
            </a:r>
            <a:r>
              <a:rPr lang="en-US" altLang="zh-CN" sz="1200" kern="1200" dirty="0" smtClean="0">
                <a:solidFill>
                  <a:schemeClr val="tx1"/>
                </a:solidFill>
                <a:effectLst/>
                <a:latin typeface="+mn-lt"/>
                <a:ea typeface="+mn-ea"/>
                <a:cs typeface="+mn-cs"/>
              </a:rPr>
              <a:t>YOLOv5s</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YOLOv5m</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YOLOv5l</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YOLOv5x</a:t>
            </a:r>
            <a:r>
              <a:rPr lang="zh-CN" altLang="en-US" sz="1200" kern="1200" dirty="0" smtClean="0">
                <a:solidFill>
                  <a:schemeClr val="tx1"/>
                </a:solidFill>
                <a:effectLst/>
                <a:latin typeface="+mn-lt"/>
                <a:ea typeface="+mn-ea"/>
                <a:cs typeface="+mn-cs"/>
              </a:rPr>
              <a:t>四种模型。此外，</a:t>
            </a:r>
            <a:r>
              <a:rPr lang="en-US" altLang="zh-CN" sz="1200" kern="1200" dirty="0" smtClean="0">
                <a:solidFill>
                  <a:schemeClr val="tx1"/>
                </a:solidFill>
                <a:effectLst/>
                <a:latin typeface="+mn-lt"/>
                <a:ea typeface="+mn-ea"/>
                <a:cs typeface="+mn-cs"/>
              </a:rPr>
              <a:t>YOLOv5</a:t>
            </a:r>
            <a:r>
              <a:rPr lang="zh-CN" altLang="en-US" sz="1200" kern="1200" dirty="0" smtClean="0">
                <a:solidFill>
                  <a:schemeClr val="tx1"/>
                </a:solidFill>
                <a:effectLst/>
                <a:latin typeface="+mn-lt"/>
                <a:ea typeface="+mn-ea"/>
                <a:cs typeface="+mn-cs"/>
              </a:rPr>
              <a:t>直接使用</a:t>
            </a:r>
            <a:r>
              <a:rPr lang="en-US" altLang="zh-CN" sz="1200" kern="1200" dirty="0" err="1" smtClean="0">
                <a:solidFill>
                  <a:schemeClr val="tx1"/>
                </a:solidFill>
                <a:effectLst/>
                <a:latin typeface="+mn-lt"/>
                <a:ea typeface="+mn-ea"/>
                <a:cs typeface="+mn-cs"/>
              </a:rPr>
              <a:t>Pytorch</a:t>
            </a:r>
            <a:r>
              <a:rPr lang="zh-CN" altLang="en-US" sz="1200" kern="1200" dirty="0" smtClean="0">
                <a:solidFill>
                  <a:schemeClr val="tx1"/>
                </a:solidFill>
                <a:effectLst/>
                <a:latin typeface="+mn-lt"/>
                <a:ea typeface="+mn-ea"/>
                <a:cs typeface="+mn-cs"/>
              </a:rPr>
              <a:t>框架，相对于</a:t>
            </a:r>
            <a:r>
              <a:rPr lang="en-US" altLang="zh-CN" sz="1200" kern="1200" dirty="0" err="1" smtClean="0">
                <a:solidFill>
                  <a:schemeClr val="tx1"/>
                </a:solidFill>
                <a:effectLst/>
                <a:latin typeface="+mn-lt"/>
                <a:ea typeface="+mn-ea"/>
                <a:cs typeface="+mn-cs"/>
              </a:rPr>
              <a:t>Darknet</a:t>
            </a:r>
            <a:r>
              <a:rPr lang="zh-CN" altLang="en-US" sz="1200" kern="1200" dirty="0" smtClean="0">
                <a:solidFill>
                  <a:schemeClr val="tx1"/>
                </a:solidFill>
                <a:effectLst/>
                <a:latin typeface="+mn-lt"/>
                <a:ea typeface="+mn-ea"/>
                <a:cs typeface="+mn-cs"/>
              </a:rPr>
              <a:t>框架更易于投入生产。</a:t>
            </a:r>
            <a:r>
              <a:rPr lang="en-US" altLang="zh-CN" sz="1200" kern="1200" dirty="0" smtClean="0">
                <a:solidFill>
                  <a:schemeClr val="tx1"/>
                </a:solidFill>
                <a:effectLst/>
                <a:latin typeface="+mn-lt"/>
                <a:ea typeface="+mn-ea"/>
                <a:cs typeface="+mn-cs"/>
              </a:rPr>
              <a:t>YOLOv5</a:t>
            </a:r>
            <a:r>
              <a:rPr lang="zh-CN" altLang="en-US" sz="1200" kern="1200" dirty="0" smtClean="0">
                <a:solidFill>
                  <a:schemeClr val="tx1"/>
                </a:solidFill>
                <a:effectLst/>
                <a:latin typeface="+mn-lt"/>
                <a:ea typeface="+mn-ea"/>
                <a:cs typeface="+mn-cs"/>
              </a:rPr>
              <a:t>没有相关的论文，仅有代码文件目前在不断更新。在</a:t>
            </a:r>
            <a:r>
              <a:rPr lang="en-US" altLang="zh-CN" sz="1200" kern="1200" dirty="0" smtClean="0">
                <a:solidFill>
                  <a:schemeClr val="tx1"/>
                </a:solidFill>
                <a:effectLst/>
                <a:latin typeface="+mn-lt"/>
                <a:ea typeface="+mn-ea"/>
                <a:cs typeface="+mn-cs"/>
              </a:rPr>
              <a:t>YOLOv4</a:t>
            </a:r>
            <a:r>
              <a:rPr lang="zh-CN" altLang="en-US" sz="1200" kern="1200" dirty="0" smtClean="0">
                <a:solidFill>
                  <a:schemeClr val="tx1"/>
                </a:solidFill>
                <a:effectLst/>
                <a:latin typeface="+mn-lt"/>
                <a:ea typeface="+mn-ea"/>
                <a:cs typeface="+mn-cs"/>
              </a:rPr>
              <a:t>的基础上，主要有以下改进：</a:t>
            </a:r>
            <a:endParaRPr lang="en-US" altLang="zh-CN" sz="1200" kern="1200" dirty="0" smtClean="0">
              <a:solidFill>
                <a:schemeClr val="tx1"/>
              </a:solidFill>
              <a:effectLst/>
              <a:latin typeface="+mn-lt"/>
              <a:ea typeface="+mn-ea"/>
              <a:cs typeface="+mn-cs"/>
            </a:endParaRPr>
          </a:p>
          <a:p>
            <a:pPr marL="800100" lvl="1" indent="-342900">
              <a:buFont typeface="+mj-lt"/>
              <a:buAutoNum type="arabicPeriod"/>
            </a:pPr>
            <a:r>
              <a:rPr lang="zh-CN" altLang="en-US" dirty="0" smtClean="0"/>
              <a:t>自适应锚框计算</a:t>
            </a:r>
            <a:endParaRPr lang="en-US" altLang="zh-CN" dirty="0" smtClean="0"/>
          </a:p>
          <a:p>
            <a:pPr marL="800100" lvl="1" indent="-342900">
              <a:buFont typeface="+mj-lt"/>
              <a:buAutoNum type="arabicPeriod"/>
            </a:pPr>
            <a:r>
              <a:rPr lang="zh-CN" altLang="en-US" dirty="0" smtClean="0"/>
              <a:t>自适应图片缩放</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835486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smtClean="0">
                <a:solidFill>
                  <a:schemeClr val="tx1"/>
                </a:solidFill>
                <a:effectLst/>
                <a:latin typeface="+mn-lt"/>
                <a:ea typeface="+mn-ea"/>
                <a:cs typeface="+mn-cs"/>
              </a:rPr>
              <a:t>像之前的 </a:t>
            </a:r>
            <a:r>
              <a:rPr lang="en-US" altLang="zh-CN" sz="1200" kern="1200" dirty="0" smtClean="0">
                <a:solidFill>
                  <a:schemeClr val="tx1"/>
                </a:solidFill>
                <a:effectLst/>
                <a:latin typeface="+mn-lt"/>
                <a:ea typeface="+mn-ea"/>
                <a:cs typeface="+mn-cs"/>
              </a:rPr>
              <a:t>YOLOv3</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YOLOv4</a:t>
            </a:r>
            <a:r>
              <a:rPr lang="zh-CN" altLang="en-US" sz="1200" kern="1200" dirty="0" smtClean="0">
                <a:solidFill>
                  <a:schemeClr val="tx1"/>
                </a:solidFill>
                <a:effectLst/>
                <a:latin typeface="+mn-lt"/>
                <a:ea typeface="+mn-ea"/>
                <a:cs typeface="+mn-cs"/>
              </a:rPr>
              <a:t>，对于不同的数据集，都会计算先验框 </a:t>
            </a:r>
            <a:r>
              <a:rPr lang="en-US" altLang="zh-CN" sz="1200" kern="1200" dirty="0" smtClean="0">
                <a:solidFill>
                  <a:schemeClr val="tx1"/>
                </a:solidFill>
                <a:effectLst/>
                <a:latin typeface="+mn-lt"/>
                <a:ea typeface="+mn-ea"/>
                <a:cs typeface="+mn-cs"/>
              </a:rPr>
              <a:t>anchor</a:t>
            </a:r>
            <a:r>
              <a:rPr lang="zh-CN" altLang="en-US" sz="1200" kern="1200" dirty="0" smtClean="0">
                <a:solidFill>
                  <a:schemeClr val="tx1"/>
                </a:solidFill>
                <a:effectLst/>
                <a:latin typeface="+mn-lt"/>
                <a:ea typeface="+mn-ea"/>
                <a:cs typeface="+mn-cs"/>
              </a:rPr>
              <a:t>。然后在网络训练时，网络会在 </a:t>
            </a:r>
            <a:r>
              <a:rPr lang="en-US" altLang="zh-CN" sz="1200" kern="1200" dirty="0" smtClean="0">
                <a:solidFill>
                  <a:schemeClr val="tx1"/>
                </a:solidFill>
                <a:effectLst/>
                <a:latin typeface="+mn-lt"/>
                <a:ea typeface="+mn-ea"/>
                <a:cs typeface="+mn-cs"/>
              </a:rPr>
              <a:t>anchor </a:t>
            </a:r>
            <a:r>
              <a:rPr lang="zh-CN" altLang="en-US" sz="1200" kern="1200" dirty="0" smtClean="0">
                <a:solidFill>
                  <a:schemeClr val="tx1"/>
                </a:solidFill>
                <a:effectLst/>
                <a:latin typeface="+mn-lt"/>
                <a:ea typeface="+mn-ea"/>
                <a:cs typeface="+mn-cs"/>
              </a:rPr>
              <a:t>的基础上进行预测，然后输出预测框，再和标签框进行对比，最后就进行梯度地反向传播。</a:t>
            </a:r>
          </a:p>
          <a:p>
            <a:r>
              <a:rPr lang="zh-CN" altLang="en-US" sz="1200" kern="1200" dirty="0" smtClean="0">
                <a:solidFill>
                  <a:schemeClr val="tx1"/>
                </a:solidFill>
                <a:effectLst/>
                <a:latin typeface="+mn-lt"/>
                <a:ea typeface="+mn-ea"/>
                <a:cs typeface="+mn-cs"/>
              </a:rPr>
              <a:t>在 </a:t>
            </a:r>
            <a:r>
              <a:rPr lang="en-US" altLang="zh-CN" sz="1200" kern="1200" dirty="0" smtClean="0">
                <a:solidFill>
                  <a:schemeClr val="tx1"/>
                </a:solidFill>
                <a:effectLst/>
                <a:latin typeface="+mn-lt"/>
                <a:ea typeface="+mn-ea"/>
                <a:cs typeface="+mn-cs"/>
              </a:rPr>
              <a:t>YOLOv3</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YOLOv4 </a:t>
            </a:r>
            <a:r>
              <a:rPr lang="zh-CN" altLang="en-US" sz="1200" kern="1200" dirty="0" smtClean="0">
                <a:solidFill>
                  <a:schemeClr val="tx1"/>
                </a:solidFill>
                <a:effectLst/>
                <a:latin typeface="+mn-lt"/>
                <a:ea typeface="+mn-ea"/>
                <a:cs typeface="+mn-cs"/>
              </a:rPr>
              <a:t>中，训练不同的数据集时，是使用单独的脚本进行初始锚框的计算，在 </a:t>
            </a:r>
            <a:r>
              <a:rPr lang="en-US" altLang="zh-CN" sz="1200" kern="1200" dirty="0" smtClean="0">
                <a:solidFill>
                  <a:schemeClr val="tx1"/>
                </a:solidFill>
                <a:effectLst/>
                <a:latin typeface="+mn-lt"/>
                <a:ea typeface="+mn-ea"/>
                <a:cs typeface="+mn-cs"/>
              </a:rPr>
              <a:t>YOLOv5 </a:t>
            </a:r>
            <a:r>
              <a:rPr lang="zh-CN" altLang="en-US" sz="1200" kern="1200" dirty="0" smtClean="0">
                <a:solidFill>
                  <a:schemeClr val="tx1"/>
                </a:solidFill>
                <a:effectLst/>
                <a:latin typeface="+mn-lt"/>
                <a:ea typeface="+mn-ea"/>
                <a:cs typeface="+mn-cs"/>
              </a:rPr>
              <a:t>中，则是将此功能嵌入到整个训练代码里中。所以在每次训练开始之前，它都会根据不同的数据集来自适应计算 </a:t>
            </a:r>
            <a:r>
              <a:rPr lang="en-US" altLang="zh-CN" sz="1200" kern="1200" dirty="0" smtClean="0">
                <a:solidFill>
                  <a:schemeClr val="tx1"/>
                </a:solidFill>
                <a:effectLst/>
                <a:latin typeface="+mn-lt"/>
                <a:ea typeface="+mn-ea"/>
                <a:cs typeface="+mn-cs"/>
              </a:rPr>
              <a:t>anchor</a:t>
            </a:r>
            <a:r>
              <a:rPr lang="zh-CN" altLang="en-US"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原始的缩放方法存在着一些问题，实际的使用中的很多图片的长宽比不同，因此缩放填充之后，两端的黑边大小都不相同。</a:t>
            </a:r>
            <a:r>
              <a:rPr lang="en-US" altLang="zh-CN" sz="1200" kern="1200" dirty="0" smtClean="0">
                <a:solidFill>
                  <a:schemeClr val="tx1"/>
                </a:solidFill>
                <a:effectLst/>
                <a:latin typeface="+mn-lt"/>
                <a:ea typeface="+mn-ea"/>
                <a:cs typeface="+mn-cs"/>
              </a:rPr>
              <a:t>YOLOv5</a:t>
            </a:r>
            <a:r>
              <a:rPr lang="zh-CN" altLang="en-US" sz="1200" kern="1200" dirty="0" smtClean="0">
                <a:solidFill>
                  <a:schemeClr val="tx1"/>
                </a:solidFill>
                <a:effectLst/>
                <a:latin typeface="+mn-lt"/>
                <a:ea typeface="+mn-ea"/>
                <a:cs typeface="+mn-cs"/>
              </a:rPr>
              <a:t>提出一种方法，能够自适应添加最少的黑边到缩放之后的图片中，从而极大提升算法的推理速度。</a:t>
            </a:r>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步骤一：</a:t>
            </a:r>
            <a:r>
              <a:rPr lang="zh-CN" altLang="en-US" dirty="0" smtClean="0"/>
              <a:t>根据原始图片大小与输入到网络图片大小计算缩放比例</a:t>
            </a:r>
            <a:endParaRPr lang="en-US" altLang="zh-CN" dirty="0" smtClean="0"/>
          </a:p>
          <a:p>
            <a:r>
              <a:rPr lang="zh-CN" altLang="en-US" dirty="0" smtClean="0"/>
              <a:t>步骤二：根据原始图片大小与缩放比例计算缩放后的图片大小</a:t>
            </a:r>
            <a:endParaRPr lang="en-US" altLang="zh-CN" dirty="0" smtClean="0"/>
          </a:p>
          <a:p>
            <a:r>
              <a:rPr lang="zh-CN" altLang="en-US" dirty="0" smtClean="0"/>
              <a:t>步骤三：计算黑边填充数值。</a:t>
            </a:r>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需要注意的是，该操作仅在模型推理阶段执行，模型训练阶段仍然和传统的方法相同，将原始图片裁剪到</a:t>
            </a:r>
            <a:r>
              <a:rPr lang="en-US" altLang="zh-CN" sz="1200" kern="1200" dirty="0" smtClean="0">
                <a:solidFill>
                  <a:schemeClr val="tx1"/>
                </a:solidFill>
                <a:effectLst/>
                <a:latin typeface="+mn-lt"/>
                <a:ea typeface="+mn-ea"/>
                <a:cs typeface="+mn-cs"/>
              </a:rPr>
              <a:t>416*416</a:t>
            </a:r>
            <a:r>
              <a:rPr lang="zh-CN" altLang="en-US" sz="1200" kern="1200" dirty="0" smtClean="0">
                <a:solidFill>
                  <a:schemeClr val="tx1"/>
                </a:solidFill>
                <a:effectLst/>
                <a:latin typeface="+mn-lt"/>
                <a:ea typeface="+mn-ea"/>
                <a:cs typeface="+mn-cs"/>
              </a:rPr>
              <a:t>大小；</a:t>
            </a:r>
            <a:r>
              <a:rPr lang="en-US" altLang="zh-CN" sz="1200" kern="1200" dirty="0" smtClean="0">
                <a:solidFill>
                  <a:schemeClr val="tx1"/>
                </a:solidFill>
                <a:effectLst/>
                <a:latin typeface="+mn-lt"/>
                <a:ea typeface="+mn-ea"/>
                <a:cs typeface="+mn-cs"/>
              </a:rPr>
              <a:t>(2)YOLOv3</a:t>
            </a:r>
            <a:r>
              <a:rPr lang="zh-CN" altLang="en-US" sz="1200" kern="1200" dirty="0" smtClean="0">
                <a:solidFill>
                  <a:schemeClr val="tx1"/>
                </a:solidFill>
                <a:effectLst/>
                <a:latin typeface="+mn-lt"/>
                <a:ea typeface="+mn-ea"/>
                <a:cs typeface="+mn-cs"/>
              </a:rPr>
              <a:t>与</a:t>
            </a:r>
            <a:r>
              <a:rPr lang="en-US" altLang="zh-CN" sz="1200" kern="1200" dirty="0" smtClean="0">
                <a:solidFill>
                  <a:schemeClr val="tx1"/>
                </a:solidFill>
                <a:effectLst/>
                <a:latin typeface="+mn-lt"/>
                <a:ea typeface="+mn-ea"/>
                <a:cs typeface="+mn-cs"/>
              </a:rPr>
              <a:t>YOLOv4</a:t>
            </a:r>
            <a:r>
              <a:rPr lang="zh-CN" altLang="en-US" sz="1200" kern="1200" dirty="0" smtClean="0">
                <a:solidFill>
                  <a:schemeClr val="tx1"/>
                </a:solidFill>
                <a:effectLst/>
                <a:latin typeface="+mn-lt"/>
                <a:ea typeface="+mn-ea"/>
                <a:cs typeface="+mn-cs"/>
              </a:rPr>
              <a:t>中默认填充的数值是</a:t>
            </a:r>
            <a:r>
              <a:rPr lang="en-US" altLang="zh-CN" sz="1200" kern="1200" dirty="0" smtClean="0">
                <a:solidFill>
                  <a:schemeClr val="tx1"/>
                </a:solidFill>
                <a:effectLst/>
                <a:latin typeface="+mn-lt"/>
                <a:ea typeface="+mn-ea"/>
                <a:cs typeface="+mn-cs"/>
              </a:rPr>
              <a:t>(0,0,0)</a:t>
            </a:r>
            <a:r>
              <a:rPr lang="zh-CN" altLang="en-US" sz="1200" kern="1200" dirty="0" smtClean="0">
                <a:solidFill>
                  <a:schemeClr val="tx1"/>
                </a:solidFill>
                <a:effectLst/>
                <a:latin typeface="+mn-lt"/>
                <a:ea typeface="+mn-ea"/>
                <a:cs typeface="+mn-cs"/>
              </a:rPr>
              <a:t>，而</a:t>
            </a:r>
            <a:r>
              <a:rPr lang="en-US" altLang="zh-CN" sz="1200" kern="1200" dirty="0" smtClean="0">
                <a:solidFill>
                  <a:schemeClr val="tx1"/>
                </a:solidFill>
                <a:effectLst/>
                <a:latin typeface="+mn-lt"/>
                <a:ea typeface="+mn-ea"/>
                <a:cs typeface="+mn-cs"/>
              </a:rPr>
              <a:t>YOLOv5</a:t>
            </a:r>
            <a:r>
              <a:rPr lang="zh-CN" altLang="en-US" sz="1200" kern="1200" dirty="0" smtClean="0">
                <a:solidFill>
                  <a:schemeClr val="tx1"/>
                </a:solidFill>
                <a:effectLst/>
                <a:latin typeface="+mn-lt"/>
                <a:ea typeface="+mn-ea"/>
                <a:cs typeface="+mn-cs"/>
              </a:rPr>
              <a:t>中默认填充的数值是</a:t>
            </a:r>
            <a:r>
              <a:rPr lang="en-US" altLang="zh-CN" sz="1200" kern="1200" dirty="0" smtClean="0">
                <a:solidFill>
                  <a:schemeClr val="tx1"/>
                </a:solidFill>
                <a:effectLst/>
                <a:latin typeface="+mn-lt"/>
                <a:ea typeface="+mn-ea"/>
                <a:cs typeface="+mn-cs"/>
              </a:rPr>
              <a:t>(114,114,114)</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3</a:t>
            </a:r>
            <a:r>
              <a:rPr lang="zh-CN" altLang="en-US" sz="1200" kern="1200" dirty="0" smtClean="0">
                <a:solidFill>
                  <a:schemeClr val="tx1"/>
                </a:solidFill>
                <a:effectLst/>
                <a:latin typeface="+mn-lt"/>
                <a:ea typeface="+mn-ea"/>
                <a:cs typeface="+mn-cs"/>
              </a:rPr>
              <a:t>）该操作仅仅针对原始图片的短边而言，仍然将长边裁剪到</a:t>
            </a:r>
            <a:r>
              <a:rPr lang="en-US" altLang="zh-CN" sz="1200" kern="1200" dirty="0" smtClean="0">
                <a:solidFill>
                  <a:schemeClr val="tx1"/>
                </a:solidFill>
                <a:effectLst/>
                <a:latin typeface="+mn-lt"/>
                <a:ea typeface="+mn-ea"/>
                <a:cs typeface="+mn-cs"/>
              </a:rPr>
              <a:t>416</a:t>
            </a:r>
            <a:r>
              <a:rPr lang="zh-CN" altLang="en-US" sz="1200" kern="1200" dirty="0" smtClean="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669263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SSD(Single</a:t>
            </a:r>
            <a:r>
              <a:rPr lang="en-US" altLang="zh-CN" baseline="0" dirty="0" smtClean="0"/>
              <a:t> Shot Detector</a:t>
            </a:r>
            <a:r>
              <a:rPr lang="en-US" altLang="zh-CN" dirty="0" smtClean="0"/>
              <a:t>)</a:t>
            </a:r>
            <a:r>
              <a:rPr lang="zh-CN" altLang="en-US" dirty="0" smtClean="0"/>
              <a:t>也是一种重要的一阶段检测算法，如图所示，其核心思想是在特征图的每个位置上，预设固定的一系列默认框</a:t>
            </a:r>
            <a:r>
              <a:rPr lang="en-US" altLang="zh-CN" dirty="0" smtClean="0"/>
              <a:t>(default box)</a:t>
            </a:r>
            <a:r>
              <a:rPr lang="zh-CN" altLang="en-US" dirty="0" smtClean="0"/>
              <a:t>，这些默认框类似于</a:t>
            </a:r>
            <a:r>
              <a:rPr lang="en-US" altLang="zh-CN" dirty="0" smtClean="0"/>
              <a:t>Faster R-CNN</a:t>
            </a:r>
            <a:r>
              <a:rPr lang="zh-CN" altLang="en-US" dirty="0" smtClean="0"/>
              <a:t>的锚，我们亦可以称其为锚。</a:t>
            </a:r>
            <a:r>
              <a:rPr lang="en-US" altLang="zh-CN" dirty="0" smtClean="0"/>
              <a:t>SSD</a:t>
            </a:r>
            <a:r>
              <a:rPr lang="zh-CN" altLang="en-US" dirty="0" smtClean="0"/>
              <a:t>算法使用小尺寸的卷积网络在特征图上滑窗，对于每个位置的各个锚，分别回归目标类型的概率以及目标框相对于锚的位置偏移量和缩放尺度。</a:t>
            </a:r>
            <a:r>
              <a:rPr lang="en-US" altLang="zh-CN" dirty="0" smtClean="0"/>
              <a:t>SSD</a:t>
            </a:r>
            <a:r>
              <a:rPr lang="zh-CN" altLang="en-US" dirty="0" smtClean="0"/>
              <a:t>算法的一个显著特点是，基于不同尺度的特征图进行预测，有效提升了算法对不同尺度目标的检测能力。这和之前</a:t>
            </a:r>
            <a:r>
              <a:rPr lang="en-US" altLang="zh-CN" dirty="0" smtClean="0"/>
              <a:t>YOLOv3</a:t>
            </a:r>
            <a:r>
              <a:rPr lang="zh-CN" altLang="en-US" dirty="0" smtClean="0"/>
              <a:t>中使用的先验框思路相同。同样的，大特征图有小的感受野检测小对象，小特征图有大的感受野检测大对象，如图所示。</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6924350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smtClean="0"/>
              <a:t>SSD</a:t>
            </a:r>
            <a:r>
              <a:rPr lang="zh-CN" altLang="en-US" dirty="0" smtClean="0"/>
              <a:t>算法的网络模型包括两大部分</a:t>
            </a:r>
            <a:r>
              <a:rPr lang="en-US" altLang="zh-CN" dirty="0" smtClean="0"/>
              <a:t>:</a:t>
            </a:r>
            <a:r>
              <a:rPr lang="zh-CN" altLang="en-US" dirty="0" smtClean="0"/>
              <a:t>一部分是基础骨架</a:t>
            </a:r>
            <a:r>
              <a:rPr lang="en-US" altLang="zh-CN" dirty="0" smtClean="0"/>
              <a:t>,</a:t>
            </a:r>
            <a:r>
              <a:rPr lang="zh-CN" altLang="en-US" dirty="0" smtClean="0"/>
              <a:t>用于生成一系列不同尺寸的特征图，这些特征图由浅层到深层尺寸逐渐变小</a:t>
            </a:r>
            <a:r>
              <a:rPr lang="en-US" altLang="zh-CN" dirty="0" smtClean="0"/>
              <a:t>,</a:t>
            </a:r>
            <a:r>
              <a:rPr lang="zh-CN" altLang="en-US" dirty="0" smtClean="0"/>
              <a:t>另一部分是一系列在不同尺寸特征图上滑窗的卷积网络，用于回归特征图上每个位置各个锚对应的目标类型概率以及目标框相对于锚的位置偏移量和缩放尺度。</a:t>
            </a:r>
          </a:p>
          <a:p>
            <a:r>
              <a:rPr lang="zh-CN" altLang="en-US" dirty="0" smtClean="0"/>
              <a:t>对于一个尺寸为</a:t>
            </a:r>
            <a:r>
              <a:rPr lang="en-US" altLang="zh-CN" dirty="0" err="1" smtClean="0"/>
              <a:t>m×n</a:t>
            </a:r>
            <a:r>
              <a:rPr lang="en-US" altLang="zh-CN" dirty="0" smtClean="0"/>
              <a:t>,</a:t>
            </a:r>
            <a:r>
              <a:rPr lang="zh-CN" altLang="en-US" dirty="0" smtClean="0"/>
              <a:t>通道数为</a:t>
            </a:r>
            <a:r>
              <a:rPr lang="en-US" altLang="zh-CN" dirty="0" smtClean="0"/>
              <a:t>p</a:t>
            </a:r>
            <a:r>
              <a:rPr lang="zh-CN" altLang="en-US" dirty="0" smtClean="0"/>
              <a:t>的特征图，通常使用一个尺寸为</a:t>
            </a:r>
            <a:r>
              <a:rPr lang="en-US" altLang="zh-CN" dirty="0" smtClean="0"/>
              <a:t>3×3</a:t>
            </a:r>
            <a:r>
              <a:rPr lang="zh-CN" altLang="en-US" dirty="0" smtClean="0"/>
              <a:t>，通道数为</a:t>
            </a:r>
            <a:r>
              <a:rPr lang="en-US" altLang="zh-CN" dirty="0" smtClean="0"/>
              <a:t>p</a:t>
            </a:r>
            <a:r>
              <a:rPr lang="zh-CN" altLang="en-US" dirty="0" smtClean="0"/>
              <a:t>的小卷积核</a:t>
            </a:r>
            <a:r>
              <a:rPr lang="en-US" altLang="zh-CN" dirty="0" smtClean="0"/>
              <a:t>,</a:t>
            </a:r>
            <a:r>
              <a:rPr lang="zh-CN" altLang="en-US" dirty="0" smtClean="0"/>
              <a:t>这个小卷积核被应用于特征图的</a:t>
            </a:r>
            <a:r>
              <a:rPr lang="en-US" altLang="zh-CN" dirty="0" err="1" smtClean="0"/>
              <a:t>m×n</a:t>
            </a:r>
            <a:r>
              <a:rPr lang="zh-CN" altLang="en-US" dirty="0" smtClean="0"/>
              <a:t>个</a:t>
            </a:r>
          </a:p>
          <a:p>
            <a:r>
              <a:rPr lang="zh-CN" altLang="en-US" dirty="0" smtClean="0"/>
              <a:t>位置上。每个位置对应</a:t>
            </a:r>
            <a:r>
              <a:rPr lang="en-US" altLang="zh-CN" dirty="0" smtClean="0"/>
              <a:t>k</a:t>
            </a:r>
            <a:r>
              <a:rPr lang="zh-CN" altLang="en-US" dirty="0" smtClean="0"/>
              <a:t>个锚</a:t>
            </a:r>
            <a:r>
              <a:rPr lang="en-US" altLang="zh-CN" dirty="0" smtClean="0"/>
              <a:t>,</a:t>
            </a:r>
            <a:r>
              <a:rPr lang="zh-CN" altLang="en-US" dirty="0" smtClean="0"/>
              <a:t>回归的目标类型的概率以及目标框的偏移量和缩放尺度，都是相对于当前锚而言的。假设共有</a:t>
            </a:r>
            <a:r>
              <a:rPr lang="en-US" altLang="zh-CN" dirty="0" smtClean="0"/>
              <a:t>c</a:t>
            </a:r>
            <a:r>
              <a:rPr lang="zh-CN" altLang="en-US" dirty="0" smtClean="0"/>
              <a:t>个目标类别</a:t>
            </a:r>
            <a:r>
              <a:rPr lang="en-US" altLang="zh-CN" dirty="0" smtClean="0"/>
              <a:t>(</a:t>
            </a:r>
            <a:r>
              <a:rPr lang="zh-CN" altLang="en-US" dirty="0" smtClean="0"/>
              <a:t>含背景类</a:t>
            </a:r>
            <a:r>
              <a:rPr lang="en-US" altLang="zh-CN" dirty="0" smtClean="0"/>
              <a:t>),</a:t>
            </a:r>
            <a:r>
              <a:rPr lang="zh-CN" altLang="en-US" dirty="0" smtClean="0"/>
              <a:t>则每个锚需要回归</a:t>
            </a:r>
            <a:r>
              <a:rPr lang="en-US" altLang="zh-CN" dirty="0" smtClean="0"/>
              <a:t>c</a:t>
            </a:r>
            <a:r>
              <a:rPr lang="zh-CN" altLang="en-US" dirty="0" smtClean="0"/>
              <a:t>个概率值以及水平方向、垂直方向的偏移量和缩放因子，合计</a:t>
            </a:r>
            <a:r>
              <a:rPr lang="en-US" altLang="zh-CN" dirty="0" smtClean="0"/>
              <a:t>(c+4</a:t>
            </a:r>
            <a:r>
              <a:rPr lang="zh-CN" altLang="en-US" dirty="0" smtClean="0"/>
              <a:t>）</a:t>
            </a:r>
            <a:r>
              <a:rPr lang="en-US" altLang="zh-CN" dirty="0" smtClean="0"/>
              <a:t>×k</a:t>
            </a:r>
            <a:r>
              <a:rPr lang="zh-CN" altLang="en-US" dirty="0" smtClean="0"/>
              <a:t>个参数</a:t>
            </a:r>
            <a:r>
              <a:rPr lang="en-US" altLang="zh-CN" dirty="0" smtClean="0"/>
              <a:t>,</a:t>
            </a:r>
            <a:r>
              <a:rPr lang="zh-CN" altLang="en-US" dirty="0" smtClean="0"/>
              <a:t>对于整个</a:t>
            </a:r>
            <a:r>
              <a:rPr lang="en-US" altLang="zh-CN" dirty="0" err="1" smtClean="0"/>
              <a:t>m×n</a:t>
            </a:r>
            <a:r>
              <a:rPr lang="zh-CN" altLang="en-US" dirty="0" smtClean="0"/>
              <a:t>的特征图，需要回归（</a:t>
            </a:r>
            <a:r>
              <a:rPr lang="en-US" altLang="zh-CN" dirty="0" smtClean="0"/>
              <a:t>c+4) ×</a:t>
            </a:r>
            <a:r>
              <a:rPr lang="en-US" altLang="zh-CN" dirty="0" err="1" smtClean="0"/>
              <a:t>k×m×n</a:t>
            </a:r>
            <a:r>
              <a:rPr lang="zh-CN" altLang="en-US" dirty="0" smtClean="0"/>
              <a:t>个参数。</a:t>
            </a:r>
            <a:r>
              <a:rPr lang="en-US" altLang="zh-CN" dirty="0" smtClean="0"/>
              <a:t>SSD</a:t>
            </a:r>
            <a:r>
              <a:rPr lang="zh-CN" altLang="en-US" dirty="0" smtClean="0"/>
              <a:t>算法的锚和</a:t>
            </a:r>
            <a:r>
              <a:rPr lang="en-US" altLang="zh-CN" dirty="0" smtClean="0"/>
              <a:t>Faster R-CNN</a:t>
            </a:r>
            <a:r>
              <a:rPr lang="zh-CN" altLang="en-US" dirty="0" smtClean="0"/>
              <a:t>类似，都是在一个位置取若干尺度、横纵比的预设框，区别在于</a:t>
            </a:r>
            <a:r>
              <a:rPr lang="en-US" altLang="zh-CN" dirty="0" smtClean="0"/>
              <a:t>SSD</a:t>
            </a:r>
            <a:r>
              <a:rPr lang="zh-CN" altLang="en-US" dirty="0" smtClean="0"/>
              <a:t>的锚分布在不同层次的特征图上，覆盖了更多的尺度。</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078520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SSD</a:t>
            </a:r>
            <a:r>
              <a:rPr lang="zh-CN" altLang="en-US" dirty="0" smtClean="0"/>
              <a:t>大致网络架构如图所示。这里的基础网络使用的是</a:t>
            </a:r>
            <a:r>
              <a:rPr lang="en-US" altLang="zh-CN" dirty="0" smtClean="0"/>
              <a:t>VGG-16</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8751966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dirty="0" smtClean="0"/>
                  <a:t>SSD</a:t>
                </a:r>
                <a:r>
                  <a:rPr lang="zh-CN" altLang="en-US" dirty="0" smtClean="0"/>
                  <a:t>算法的训练过程和之前介绍的基于候选框（</a:t>
                </a:r>
                <a:r>
                  <a:rPr lang="en-US" altLang="zh-CN" dirty="0" smtClean="0"/>
                  <a:t>region proposal</a:t>
                </a:r>
                <a:r>
                  <a:rPr lang="zh-CN" altLang="en-US" dirty="0" smtClean="0"/>
                  <a:t>）算法的训练过程有一个关键区别，即</a:t>
                </a:r>
                <a:r>
                  <a:rPr lang="en-US" altLang="zh-CN" dirty="0" smtClean="0"/>
                  <a:t>SSD</a:t>
                </a:r>
                <a:r>
                  <a:rPr lang="zh-CN" altLang="en-US" dirty="0" smtClean="0"/>
                  <a:t>算法中的真值信息需要被关联到各层特征图各个位置的一系列锚上，这里锚的位置和形状是固定的。这个特性，使得</a:t>
                </a:r>
                <a:r>
                  <a:rPr lang="en-US" altLang="zh-CN" dirty="0" smtClean="0"/>
                  <a:t>SSD</a:t>
                </a:r>
                <a:r>
                  <a:rPr lang="zh-CN" altLang="en-US" dirty="0" smtClean="0"/>
                  <a:t>的整个训练过程构成一个端到端的结构。</a:t>
                </a:r>
                <a:endParaRPr lang="en-US" altLang="zh-CN" dirty="0" smtClean="0"/>
              </a:p>
              <a:p>
                <a:r>
                  <a:rPr lang="zh-CN" altLang="en-US" dirty="0" smtClean="0"/>
                  <a:t>在训练的过程中，需要给出真值和锚的匹配规则。对于每一个真值，首先匹配给所有锚中与当前真值的交并比最大的锚，而后分配给所有锚中与当前真值的交并比大于某个阈值（一般为</a:t>
                </a:r>
                <a:r>
                  <a:rPr lang="en-US" altLang="zh-CN" dirty="0" smtClean="0"/>
                  <a:t>0.5</a:t>
                </a:r>
                <a:r>
                  <a:rPr lang="zh-CN" altLang="en-US" dirty="0" smtClean="0"/>
                  <a:t>）的锚。通过这种方法，只要交并比大于阈值，一个真值就可以被匹配到多个锚。</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下面讨论以下</a:t>
                </a:r>
                <a:r>
                  <a:rPr lang="en-US" altLang="zh-CN" dirty="0" smtClean="0"/>
                  <a:t>SSD</a:t>
                </a:r>
                <a:r>
                  <a:rPr lang="zh-CN" altLang="en-US" dirty="0" smtClean="0"/>
                  <a:t>训练的目标函数。令</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𝑝</m:t>
                        </m:r>
                      </m:sup>
                    </m:sSubSup>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1,0</m:t>
                        </m:r>
                      </m:e>
                    </m:d>
                  </m:oMath>
                </a14:m>
                <a:r>
                  <a:rPr lang="zh-CN" altLang="en-US" dirty="0" smtClean="0"/>
                  <a:t>，</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𝑝</m:t>
                        </m:r>
                      </m:sup>
                    </m:sSubSup>
                  </m:oMath>
                </a14:m>
                <a:r>
                  <a:rPr lang="zh-CN" altLang="en-US" dirty="0" smtClean="0"/>
                  <a:t>表示一个指示变量，当第</a:t>
                </a:r>
                <a:r>
                  <a:rPr lang="en-US" altLang="zh-CN" dirty="0" err="1" smtClean="0"/>
                  <a:t>i</a:t>
                </a:r>
                <a:r>
                  <a:rPr lang="zh-CN" altLang="en-US" dirty="0" smtClean="0"/>
                  <a:t>个锚和第</a:t>
                </a:r>
                <a:r>
                  <a:rPr lang="en-US" altLang="zh-CN" dirty="0" smtClean="0"/>
                  <a:t>j</a:t>
                </a:r>
                <a:r>
                  <a:rPr lang="zh-CN" altLang="en-US" dirty="0" smtClean="0"/>
                  <a:t>个真值（类别为</a:t>
                </a:r>
                <a:r>
                  <a:rPr lang="en-US" altLang="zh-CN" dirty="0" smtClean="0"/>
                  <a:t>p</a:t>
                </a:r>
                <a:r>
                  <a:rPr lang="zh-CN" altLang="en-US" dirty="0" smtClean="0"/>
                  <a:t>）按照上述规则匹配时，</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𝑝</m:t>
                        </m:r>
                      </m:sup>
                    </m:sSubSup>
                    <m:r>
                      <a:rPr lang="en-US" altLang="zh-CN" b="0" i="1" smtClean="0">
                        <a:latin typeface="Cambria Math" panose="02040503050406030204" pitchFamily="18" charset="0"/>
                      </a:rPr>
                      <m:t>=</m:t>
                    </m:r>
                    <m:r>
                      <a:rPr lang="en-US" altLang="zh-CN" b="0" i="0" smtClean="0">
                        <a:latin typeface="Cambria Math" panose="02040503050406030204" pitchFamily="18" charset="0"/>
                      </a:rPr>
                      <m:t>1</m:t>
                    </m:r>
                    <m:r>
                      <a:rPr lang="zh-CN" altLang="en-US" b="0" i="1" smtClean="0">
                        <a:latin typeface="Cambria Math" panose="02040503050406030204" pitchFamily="18" charset="0"/>
                      </a:rPr>
                      <m:t>，</m:t>
                    </m:r>
                  </m:oMath>
                </a14:m>
                <a:r>
                  <a:rPr lang="zh-CN" altLang="en-US" dirty="0" smtClean="0"/>
                  <a:t>否则</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𝑝</m:t>
                        </m:r>
                      </m:sup>
                    </m:sSubSup>
                    <m:r>
                      <a:rPr lang="en-US" altLang="zh-CN" b="0" i="1" smtClean="0">
                        <a:latin typeface="Cambria Math" panose="02040503050406030204" pitchFamily="18" charset="0"/>
                      </a:rPr>
                      <m:t>=0</m:t>
                    </m:r>
                  </m:oMath>
                </a14:m>
                <a:r>
                  <a:rPr lang="zh-CN" altLang="en-US" dirty="0" smtClean="0"/>
                  <a:t>。对于任何一个真值，其必然至少和一个</a:t>
                </a:r>
                <a:r>
                  <a:rPr lang="en-US" altLang="zh-CN" dirty="0" smtClean="0"/>
                  <a:t>anchor</a:t>
                </a:r>
                <a:r>
                  <a:rPr lang="zh-CN" altLang="en-US" dirty="0" smtClean="0"/>
                  <a:t>匹配，则有</a:t>
                </a:r>
                <a14:m>
                  <m:oMath xmlns:m="http://schemas.openxmlformats.org/officeDocument/2006/math">
                    <m:nary>
                      <m:naryPr>
                        <m:chr m:val="∑"/>
                        <m:supHide m:val="on"/>
                        <m:ctrlPr>
                          <a:rPr lang="zh-CN" altLang="en-US" i="1" smtClean="0">
                            <a:latin typeface="Cambria Math" panose="02040503050406030204" pitchFamily="18" charset="0"/>
                          </a:rPr>
                        </m:ctrlPr>
                      </m:naryPr>
                      <m:sub>
                        <m:r>
                          <m:rPr>
                            <m:brk m:alnAt="7"/>
                          </m:rPr>
                          <a:rPr lang="en-US" altLang="zh-CN" b="0" i="1" smtClean="0">
                            <a:latin typeface="Cambria Math" panose="02040503050406030204" pitchFamily="18" charset="0"/>
                          </a:rPr>
                          <m:t>𝑖</m:t>
                        </m:r>
                      </m:sub>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𝑖𝑗</m:t>
                            </m:r>
                          </m:sub>
                          <m:sup>
                            <m:r>
                              <a:rPr lang="en-US" altLang="zh-CN" i="1">
                                <a:latin typeface="Cambria Math" panose="02040503050406030204" pitchFamily="18" charset="0"/>
                              </a:rPr>
                              <m:t>𝑝</m:t>
                            </m:r>
                          </m:sup>
                        </m:sSubSup>
                      </m:e>
                    </m:nary>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r>
                      <a:rPr lang="zh-CN" altLang="en-US" b="0" i="1" smtClean="0">
                        <a:latin typeface="Cambria Math" panose="02040503050406030204" pitchFamily="18" charset="0"/>
                        <a:ea typeface="Cambria Math" panose="02040503050406030204" pitchFamily="18" charset="0"/>
                      </a:rPr>
                      <m:t>。</m:t>
                    </m:r>
                  </m:oMath>
                </a14:m>
                <a:r>
                  <a:rPr lang="zh-CN" altLang="en-US" dirty="0" smtClean="0"/>
                  <a:t>同样，模型训练的损失函数可以通过分类损失和位置损失来表达，具体公式如下：</a:t>
                </a:r>
                <a14:m>
                  <m:oMath xmlns:m="http://schemas.openxmlformats.org/officeDocument/2006/math">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𝑔</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𝑁</m:t>
                        </m:r>
                      </m:den>
                    </m:f>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𝑐𝑜𝑛𝑓</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e>
                        </m:d>
                        <m:r>
                          <a:rPr lang="en-US" altLang="zh-CN" b="0" i="1" smtClean="0">
                            <a:latin typeface="Cambria Math" panose="02040503050406030204" pitchFamily="18" charset="0"/>
                          </a:rPr>
                          <m:t>+</m:t>
                        </m:r>
                        <m:r>
                          <a:rPr lang="zh-CN" altLang="en-US" b="0" i="1" smtClean="0">
                            <a:latin typeface="Cambria Math" panose="02040503050406030204" pitchFamily="18" charset="0"/>
                          </a:rPr>
                          <m:t>𝛼</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𝑙𝑜𝑐</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𝑔</m:t>
                            </m:r>
                          </m:e>
                        </m:d>
                      </m:e>
                    </m:d>
                  </m:oMath>
                </a14:m>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其中，</a:t>
                </a:r>
                <a14:m>
                  <m:oMath xmlns:m="http://schemas.openxmlformats.org/officeDocument/2006/math">
                    <m:r>
                      <a:rPr lang="en-US" altLang="zh-CN" b="0" i="1" smtClean="0">
                        <a:latin typeface="Cambria Math" panose="02040503050406030204" pitchFamily="18" charset="0"/>
                      </a:rPr>
                      <m:t>𝑁</m:t>
                    </m:r>
                  </m:oMath>
                </a14:m>
                <a:r>
                  <a:rPr lang="zh-CN" altLang="en-US" dirty="0" smtClean="0"/>
                  <a:t>表示和真值匹配成功的</a:t>
                </a:r>
                <a:r>
                  <a:rPr lang="en-US" altLang="zh-CN" dirty="0" smtClean="0"/>
                  <a:t>anchor</a:t>
                </a:r>
                <a:r>
                  <a:rPr lang="zh-CN" altLang="en-US" dirty="0" smtClean="0"/>
                  <a:t>个数，当图像为纯背景，没有真值时，</a:t>
                </a:r>
                <a14:m>
                  <m:oMath xmlns:m="http://schemas.openxmlformats.org/officeDocument/2006/math">
                    <m:r>
                      <a:rPr lang="en-US" altLang="zh-CN" b="0" i="1" smtClean="0">
                        <a:latin typeface="Cambria Math" panose="02040503050406030204" pitchFamily="18" charset="0"/>
                      </a:rPr>
                      <m:t>𝑁</m:t>
                    </m:r>
                    <m:r>
                      <a:rPr lang="en-US" altLang="zh-CN" b="0" i="0" smtClean="0">
                        <a:latin typeface="Cambria Math" panose="02040503050406030204" pitchFamily="18" charset="0"/>
                      </a:rPr>
                      <m:t>=0</m:t>
                    </m:r>
                  </m:oMath>
                </a14:m>
                <a:r>
                  <a:rPr lang="zh-CN" altLang="en-US" dirty="0" smtClean="0"/>
                  <a:t>，此时记</a:t>
                </a:r>
                <a14:m>
                  <m:oMath xmlns:m="http://schemas.openxmlformats.org/officeDocument/2006/math">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𝑔</m:t>
                        </m:r>
                      </m:e>
                    </m:d>
                    <m:r>
                      <a:rPr lang="en-US" altLang="zh-CN" b="0" i="0" smtClean="0">
                        <a:latin typeface="Cambria Math" panose="02040503050406030204" pitchFamily="18" charset="0"/>
                      </a:rPr>
                      <m:t>=0</m:t>
                    </m:r>
                    <m:r>
                      <a:rPr lang="zh-CN" altLang="en-US" b="0" i="1" smtClean="0">
                        <a:latin typeface="Cambria Math" panose="02040503050406030204" pitchFamily="18" charset="0"/>
                      </a:rPr>
                      <m:t>。</m:t>
                    </m:r>
                  </m:oMath>
                </a14:m>
                <a:r>
                  <a:rPr lang="zh-CN" altLang="en-US" dirty="0" smtClean="0"/>
                  <a:t>公式中</a:t>
                </a:r>
                <a14:m>
                  <m:oMath xmlns:m="http://schemas.openxmlformats.org/officeDocument/2006/math">
                    <m:r>
                      <a:rPr lang="en-US" altLang="zh-CN" b="0" i="1" smtClean="0">
                        <a:latin typeface="Cambria Math" panose="02040503050406030204" pitchFamily="18" charset="0"/>
                      </a:rPr>
                      <m:t>𝑥</m:t>
                    </m:r>
                  </m:oMath>
                </a14:m>
                <a:r>
                  <a:rPr lang="zh-CN" altLang="en-US" dirty="0" smtClean="0"/>
                  <a:t>表示各个指示变量，</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r>
                      <a:rPr lang="en-US" altLang="zh-CN" i="1" smtClean="0">
                        <a:latin typeface="Cambria Math" panose="02040503050406030204" pitchFamily="18" charset="0"/>
                      </a:rPr>
                      <m:t>𝑐</m:t>
                    </m:r>
                  </m:oMath>
                </a14:m>
                <a:r>
                  <a:rPr lang="zh-CN" altLang="en-US" dirty="0" smtClean="0"/>
                  <a:t>表示每个类别的概率值，</a:t>
                </a:r>
                <a14:m>
                  <m:oMath xmlns:m="http://schemas.openxmlformats.org/officeDocument/2006/math">
                    <m:r>
                      <a:rPr lang="en-US" altLang="zh-CN" i="1" smtClean="0">
                        <a:latin typeface="Cambria Math" panose="02040503050406030204" pitchFamily="18" charset="0"/>
                      </a:rPr>
                      <m:t>𝑙</m:t>
                    </m:r>
                  </m:oMath>
                </a14:m>
                <a:r>
                  <a:rPr lang="zh-CN" altLang="en-US" dirty="0" smtClean="0"/>
                  <a:t>表示预测框，</a:t>
                </a:r>
                <a:r>
                  <a:rPr lang="en-US" altLang="zh-CN" dirty="0"/>
                  <a:t> </a:t>
                </a:r>
                <a14:m>
                  <m:oMath xmlns:m="http://schemas.openxmlformats.org/officeDocument/2006/math">
                    <m:r>
                      <a:rPr lang="en-US" altLang="zh-CN" i="1">
                        <a:latin typeface="Cambria Math" panose="02040503050406030204" pitchFamily="18" charset="0"/>
                      </a:rPr>
                      <m:t>𝑔</m:t>
                    </m:r>
                  </m:oMath>
                </a14:m>
                <a:r>
                  <a:rPr lang="zh-CN" altLang="en-US" dirty="0" smtClean="0"/>
                  <a:t>表示真值框。</a:t>
                </a:r>
                <a:endParaRPr lang="en-US" altLang="zh-CN" dirty="0" smtClean="0"/>
              </a:p>
            </p:txBody>
          </p:sp>
        </mc:Choice>
        <mc:Fallback xmlns="">
          <p:sp>
            <p:nvSpPr>
              <p:cNvPr id="3" name="备注占位符 2"/>
              <p:cNvSpPr>
                <a:spLocks noGrp="1"/>
              </p:cNvSpPr>
              <p:nvPr>
                <p:ph type="body" idx="1"/>
              </p:nvPr>
            </p:nvSpPr>
            <p:spPr/>
            <p:txBody>
              <a:bodyPr/>
              <a:lstStyle/>
              <a:p>
                <a:r>
                  <a:rPr lang="en-US" altLang="zh-CN" dirty="0" smtClean="0"/>
                  <a:t>SSD</a:t>
                </a:r>
                <a:r>
                  <a:rPr lang="zh-CN" altLang="en-US" dirty="0" smtClean="0"/>
                  <a:t>算法的训练过程和之前介绍的基于候选框（</a:t>
                </a:r>
                <a:r>
                  <a:rPr lang="en-US" altLang="zh-CN" dirty="0" smtClean="0"/>
                  <a:t>region proposal</a:t>
                </a:r>
                <a:r>
                  <a:rPr lang="zh-CN" altLang="en-US" dirty="0" smtClean="0"/>
                  <a:t>）算法的训练过程有一个关键区别，即</a:t>
                </a:r>
                <a:r>
                  <a:rPr lang="en-US" altLang="zh-CN" dirty="0" smtClean="0"/>
                  <a:t>SSD</a:t>
                </a:r>
                <a:r>
                  <a:rPr lang="zh-CN" altLang="en-US" dirty="0" smtClean="0"/>
                  <a:t>算法中的真值信息需要被关联到各层特征图各个位置的一系列锚上，这里锚的位置和形状是固定的。这个特性，使得</a:t>
                </a:r>
                <a:r>
                  <a:rPr lang="en-US" altLang="zh-CN" dirty="0" smtClean="0"/>
                  <a:t>SSD</a:t>
                </a:r>
                <a:r>
                  <a:rPr lang="zh-CN" altLang="en-US" dirty="0" smtClean="0"/>
                  <a:t>的整个训练过程构成一个端到端的结构。</a:t>
                </a:r>
                <a:endParaRPr lang="en-US" altLang="zh-CN" dirty="0" smtClean="0"/>
              </a:p>
              <a:p>
                <a:r>
                  <a:rPr lang="zh-CN" altLang="en-US" dirty="0" smtClean="0"/>
                  <a:t>在训练的过程中，需要给出真值和锚的匹配规则。对于每一个真值，首先匹配给所有锚中与当前真值的交并比最大的锚，而后分配给所有锚中与当前真值的交并比大于某个阈值（一般为</a:t>
                </a:r>
                <a:r>
                  <a:rPr lang="en-US" altLang="zh-CN" dirty="0" smtClean="0"/>
                  <a:t>0.5</a:t>
                </a:r>
                <a:r>
                  <a:rPr lang="zh-CN" altLang="en-US" dirty="0" smtClean="0"/>
                  <a:t>）的锚。通过这种方法，只要交并比大于阈值，一个真值就可以被匹配到多个锚。</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下面讨论以下</a:t>
                </a:r>
                <a:r>
                  <a:rPr lang="en-US" altLang="zh-CN" dirty="0" smtClean="0"/>
                  <a:t>SSD</a:t>
                </a:r>
                <a:r>
                  <a:rPr lang="zh-CN" altLang="en-US" dirty="0" smtClean="0"/>
                  <a:t>训练的目标函数。令</a:t>
                </a:r>
                <a:r>
                  <a:rPr lang="en-US" altLang="zh-CN" b="0" i="0" smtClean="0">
                    <a:latin typeface="Cambria Math" panose="02040503050406030204" pitchFamily="18" charset="0"/>
                  </a:rPr>
                  <a:t>𝑥_𝑖𝑗^𝑝={1,0}</a:t>
                </a:r>
                <a:r>
                  <a:rPr lang="zh-CN" altLang="en-US" dirty="0" smtClean="0"/>
                  <a:t>，</a:t>
                </a:r>
                <a:r>
                  <a:rPr lang="en-US" altLang="zh-CN" b="0" i="0" smtClean="0">
                    <a:latin typeface="Cambria Math" panose="02040503050406030204" pitchFamily="18" charset="0"/>
                  </a:rPr>
                  <a:t>𝑥_𝑖𝑗^𝑝</a:t>
                </a:r>
                <a:r>
                  <a:rPr lang="zh-CN" altLang="en-US" dirty="0" smtClean="0"/>
                  <a:t>表示一个指示变量，当第</a:t>
                </a:r>
                <a:r>
                  <a:rPr lang="en-US" altLang="zh-CN" dirty="0" err="1" smtClean="0"/>
                  <a:t>i</a:t>
                </a:r>
                <a:r>
                  <a:rPr lang="zh-CN" altLang="en-US" dirty="0" smtClean="0"/>
                  <a:t>个锚和第</a:t>
                </a:r>
                <a:r>
                  <a:rPr lang="en-US" altLang="zh-CN" dirty="0" smtClean="0"/>
                  <a:t>j</a:t>
                </a:r>
                <a:r>
                  <a:rPr lang="zh-CN" altLang="en-US" dirty="0" smtClean="0"/>
                  <a:t>个真值（类别为</a:t>
                </a:r>
                <a:r>
                  <a:rPr lang="en-US" altLang="zh-CN" dirty="0" smtClean="0"/>
                  <a:t>p</a:t>
                </a:r>
                <a:r>
                  <a:rPr lang="zh-CN" altLang="en-US" dirty="0" smtClean="0"/>
                  <a:t>）按照上述规则匹配时，</a:t>
                </a:r>
                <a:r>
                  <a:rPr lang="en-US" altLang="zh-CN" b="0" i="0" smtClean="0">
                    <a:latin typeface="Cambria Math" panose="02040503050406030204" pitchFamily="18" charset="0"/>
                  </a:rPr>
                  <a:t>𝑥_𝑖𝑗^𝑝=1</a:t>
                </a:r>
                <a:r>
                  <a:rPr lang="zh-CN" altLang="en-US" b="0" i="0" smtClean="0">
                    <a:latin typeface="Cambria Math" panose="02040503050406030204" pitchFamily="18" charset="0"/>
                  </a:rPr>
                  <a:t>，</a:t>
                </a:r>
                <a:r>
                  <a:rPr lang="zh-CN" altLang="en-US" dirty="0" smtClean="0"/>
                  <a:t>否则</a:t>
                </a:r>
                <a:r>
                  <a:rPr lang="en-US" altLang="zh-CN" b="0" i="0" smtClean="0">
                    <a:latin typeface="Cambria Math" panose="02040503050406030204" pitchFamily="18" charset="0"/>
                  </a:rPr>
                  <a:t>𝑥_𝑖𝑗^𝑝=0</a:t>
                </a:r>
                <a:r>
                  <a:rPr lang="zh-CN" altLang="en-US" dirty="0" smtClean="0"/>
                  <a:t>。对于任何一个真值，其必然至少和一个</a:t>
                </a:r>
                <a:r>
                  <a:rPr lang="en-US" altLang="zh-CN" dirty="0" smtClean="0"/>
                  <a:t>anchor</a:t>
                </a:r>
                <a:r>
                  <a:rPr lang="zh-CN" altLang="en-US" dirty="0" smtClean="0"/>
                  <a:t>匹配，则有</a:t>
                </a:r>
                <a:r>
                  <a:rPr lang="zh-CN" altLang="en-US" i="0" smtClean="0">
                    <a:latin typeface="Cambria Math" panose="02040503050406030204" pitchFamily="18" charset="0"/>
                  </a:rPr>
                  <a:t>∑</a:t>
                </a:r>
                <a:r>
                  <a:rPr lang="en-US" altLang="zh-CN" b="0" i="0" smtClean="0">
                    <a:latin typeface="Cambria Math" panose="02040503050406030204" pitchFamily="18" charset="0"/>
                  </a:rPr>
                  <a:t>_𝑖</a:t>
                </a:r>
                <a:r>
                  <a:rPr lang="en-US" altLang="zh-CN" b="0" i="0">
                    <a:latin typeface="Cambria Math" panose="02040503050406030204" pitchFamily="18" charset="0"/>
                  </a:rPr>
                  <a:t>▒</a:t>
                </a:r>
                <a:r>
                  <a:rPr lang="en-US" altLang="zh-CN" i="0">
                    <a:latin typeface="Cambria Math" panose="02040503050406030204" pitchFamily="18" charset="0"/>
                  </a:rPr>
                  <a:t>𝑥_𝑖𝑗^𝑝 </a:t>
                </a:r>
                <a:r>
                  <a:rPr lang="en-US" altLang="zh-CN"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1</a:t>
                </a:r>
                <a:r>
                  <a:rPr lang="zh-CN" altLang="en-US" b="0" i="0" smtClean="0">
                    <a:latin typeface="Cambria Math" panose="02040503050406030204" pitchFamily="18" charset="0"/>
                    <a:ea typeface="Cambria Math" panose="02040503050406030204" pitchFamily="18" charset="0"/>
                  </a:rPr>
                  <a:t>。</a:t>
                </a:r>
                <a:r>
                  <a:rPr lang="zh-CN" altLang="en-US" dirty="0" smtClean="0"/>
                  <a:t>同样，模型训练的损失函数可以通过分类损失和位置损失来表达，具体公式如下：</a:t>
                </a:r>
                <a:r>
                  <a:rPr lang="en-US" altLang="zh-CN" b="0" i="0" smtClean="0">
                    <a:latin typeface="Cambria Math" panose="02040503050406030204" pitchFamily="18" charset="0"/>
                  </a:rPr>
                  <a:t>𝐿(𝑥,𝑐,𝑙,𝑔)=1/𝑁 [𝐿_𝑐𝑜𝑛𝑓 (𝑥,𝑐)+</a:t>
                </a:r>
                <a:r>
                  <a:rPr lang="zh-CN" altLang="en-US" b="0" i="0" smtClean="0">
                    <a:latin typeface="Cambria Math" panose="02040503050406030204" pitchFamily="18" charset="0"/>
                  </a:rPr>
                  <a:t>𝛼</a:t>
                </a:r>
                <a:r>
                  <a:rPr lang="en-US" altLang="zh-CN" b="0" i="0" smtClean="0">
                    <a:latin typeface="Cambria Math" panose="02040503050406030204" pitchFamily="18" charset="0"/>
                  </a:rPr>
                  <a:t>𝐿_𝑙𝑜𝑐 (𝑥,𝑙,𝑔)]</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其中，</a:t>
                </a:r>
                <a:r>
                  <a:rPr lang="en-US" altLang="zh-CN" b="0" i="0" smtClean="0">
                    <a:latin typeface="Cambria Math" panose="02040503050406030204" pitchFamily="18" charset="0"/>
                  </a:rPr>
                  <a:t>𝑁</a:t>
                </a:r>
                <a:r>
                  <a:rPr lang="zh-CN" altLang="en-US" dirty="0" smtClean="0"/>
                  <a:t>表示和真值匹配成功的</a:t>
                </a:r>
                <a:r>
                  <a:rPr lang="en-US" altLang="zh-CN" dirty="0" smtClean="0"/>
                  <a:t>anchor</a:t>
                </a:r>
                <a:r>
                  <a:rPr lang="zh-CN" altLang="en-US" dirty="0" smtClean="0"/>
                  <a:t>个数，当图像为纯背景，没有真值时，</a:t>
                </a:r>
                <a:r>
                  <a:rPr lang="en-US" altLang="zh-CN" b="0" i="0" smtClean="0">
                    <a:latin typeface="Cambria Math" panose="02040503050406030204" pitchFamily="18" charset="0"/>
                  </a:rPr>
                  <a:t>𝑁=0</a:t>
                </a:r>
                <a:r>
                  <a:rPr lang="zh-CN" altLang="en-US" dirty="0" smtClean="0"/>
                  <a:t>，此时记</a:t>
                </a:r>
                <a:r>
                  <a:rPr lang="en-US" altLang="zh-CN" b="0" i="0" smtClean="0">
                    <a:latin typeface="Cambria Math" panose="02040503050406030204" pitchFamily="18" charset="0"/>
                  </a:rPr>
                  <a:t>𝐿(𝑥,𝑐,𝑙,𝑔)=0</a:t>
                </a:r>
                <a:r>
                  <a:rPr lang="zh-CN" altLang="en-US" b="0" i="0" smtClean="0">
                    <a:latin typeface="Cambria Math" panose="02040503050406030204" pitchFamily="18" charset="0"/>
                  </a:rPr>
                  <a:t>。</a:t>
                </a:r>
                <a:r>
                  <a:rPr lang="zh-CN" altLang="en-US" dirty="0" smtClean="0"/>
                  <a:t>公式中</a:t>
                </a:r>
                <a:r>
                  <a:rPr lang="en-US" altLang="zh-CN" b="0" i="0" smtClean="0">
                    <a:latin typeface="Cambria Math" panose="02040503050406030204" pitchFamily="18" charset="0"/>
                  </a:rPr>
                  <a:t>𝑥</a:t>
                </a:r>
                <a:r>
                  <a:rPr lang="zh-CN" altLang="en-US" dirty="0" smtClean="0"/>
                  <a:t>表示各个指示变量，</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en-US" altLang="zh-CN" i="0" smtClean="0">
                    <a:latin typeface="Cambria Math" panose="02040503050406030204" pitchFamily="18" charset="0"/>
                  </a:rPr>
                  <a:t>𝑐</a:t>
                </a:r>
                <a:r>
                  <a:rPr lang="zh-CN" altLang="en-US" dirty="0" smtClean="0"/>
                  <a:t>表示每个类别的概率值，</a:t>
                </a:r>
                <a:r>
                  <a:rPr lang="en-US" altLang="zh-CN" i="0" smtClean="0">
                    <a:latin typeface="Cambria Math" panose="02040503050406030204" pitchFamily="18" charset="0"/>
                  </a:rPr>
                  <a:t>𝑙</a:t>
                </a:r>
                <a:r>
                  <a:rPr lang="zh-CN" altLang="en-US" dirty="0" smtClean="0"/>
                  <a:t>表示预测框，</a:t>
                </a:r>
                <a:r>
                  <a:rPr lang="en-US" altLang="zh-CN" dirty="0"/>
                  <a:t> </a:t>
                </a:r>
                <a:r>
                  <a:rPr lang="en-US" altLang="zh-CN" i="0">
                    <a:latin typeface="Cambria Math" panose="02040503050406030204" pitchFamily="18" charset="0"/>
                  </a:rPr>
                  <a:t>𝑔</a:t>
                </a:r>
                <a:r>
                  <a:rPr lang="zh-CN" altLang="en-US" dirty="0" smtClean="0"/>
                  <a:t>表示真值框。</a:t>
                </a:r>
                <a:endParaRPr lang="en-US" altLang="zh-CN" dirty="0" smtClean="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37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7183620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位置</a:t>
                </a:r>
                <a:r>
                  <a:rPr lang="zh-CN" altLang="en-US" dirty="0"/>
                  <a:t>损失</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𝑙𝑜𝑐</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𝑙</m:t>
                        </m:r>
                        <m:r>
                          <a:rPr lang="en-US" altLang="zh-CN" i="1">
                            <a:latin typeface="Cambria Math" panose="02040503050406030204" pitchFamily="18" charset="0"/>
                          </a:rPr>
                          <m:t>,</m:t>
                        </m:r>
                        <m:r>
                          <a:rPr lang="en-US" altLang="zh-CN" i="1">
                            <a:latin typeface="Cambria Math" panose="02040503050406030204" pitchFamily="18" charset="0"/>
                          </a:rPr>
                          <m:t>𝑔</m:t>
                        </m:r>
                      </m:e>
                    </m:d>
                  </m:oMath>
                </a14:m>
                <a:r>
                  <a:rPr lang="zh-CN" altLang="en-US" dirty="0"/>
                  <a:t>是预测框</a:t>
                </a:r>
                <a14:m>
                  <m:oMath xmlns:m="http://schemas.openxmlformats.org/officeDocument/2006/math">
                    <m:r>
                      <a:rPr lang="en-US" altLang="zh-CN" i="1">
                        <a:latin typeface="Cambria Math" panose="02040503050406030204" pitchFamily="18" charset="0"/>
                      </a:rPr>
                      <m:t>𝑙</m:t>
                    </m:r>
                  </m:oMath>
                </a14:m>
                <a:r>
                  <a:rPr lang="zh-CN" altLang="en-US" dirty="0"/>
                  <a:t>与真值框</a:t>
                </a:r>
                <a14:m>
                  <m:oMath xmlns:m="http://schemas.openxmlformats.org/officeDocument/2006/math">
                    <m:r>
                      <a:rPr lang="en-US" altLang="zh-CN" i="1">
                        <a:latin typeface="Cambria Math" panose="02040503050406030204" pitchFamily="18" charset="0"/>
                      </a:rPr>
                      <m:t>𝑔</m:t>
                    </m:r>
                  </m:oMath>
                </a14:m>
                <a:r>
                  <a:rPr lang="zh-CN" altLang="en-US" dirty="0"/>
                  <a:t>的</a:t>
                </a:r>
                <a:r>
                  <a:rPr lang="zh-CN" altLang="en-US" dirty="0" smtClean="0"/>
                  <a:t>平滑</a:t>
                </a:r>
                <a14:m>
                  <m:oMath xmlns:m="http://schemas.openxmlformats.org/officeDocument/2006/math">
                    <m:r>
                      <a:rPr lang="en-US" altLang="zh-CN" b="0" i="1" smtClean="0">
                        <a:latin typeface="Cambria Math" panose="02040503050406030204" pitchFamily="18" charset="0"/>
                      </a:rPr>
                      <m:t>𝐿</m:t>
                    </m:r>
                    <m:r>
                      <a:rPr lang="en-US" altLang="zh-CN" b="0" i="1" smtClean="0">
                        <a:latin typeface="Cambria Math" panose="02040503050406030204" pitchFamily="18" charset="0"/>
                      </a:rPr>
                      <m:t>1</m:t>
                    </m:r>
                  </m:oMath>
                </a14:m>
                <a:r>
                  <a:rPr lang="zh-CN" altLang="en-US" dirty="0" smtClean="0"/>
                  <a:t>损失，即之前再</a:t>
                </a:r>
                <a:r>
                  <a:rPr lang="en-US" altLang="zh-CN" dirty="0" smtClean="0"/>
                  <a:t>R-CNN</a:t>
                </a:r>
                <a:r>
                  <a:rPr lang="zh-CN" altLang="en-US" dirty="0" smtClean="0"/>
                  <a:t>中提到过的</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𝑠𝑚𝑜𝑜𝑡h</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1</m:t>
                            </m:r>
                          </m:sub>
                        </m:sSub>
                      </m:sub>
                    </m:sSub>
                    <m:r>
                      <a:rPr lang="zh-CN" altLang="en-US" i="1" smtClean="0">
                        <a:latin typeface="Cambria Math" panose="02040503050406030204" pitchFamily="18" charset="0"/>
                      </a:rPr>
                      <m:t>。</m:t>
                    </m:r>
                  </m:oMath>
                </a14:m>
                <a:r>
                  <a:rPr lang="zh-CN" altLang="en-US" dirty="0" smtClean="0"/>
                  <a:t>同样地，回归的是预测框</a:t>
                </a:r>
                <a14:m>
                  <m:oMath xmlns:m="http://schemas.openxmlformats.org/officeDocument/2006/math">
                    <m:r>
                      <a:rPr lang="en-US" altLang="zh-CN" i="1" smtClean="0">
                        <a:latin typeface="Cambria Math" panose="02040503050406030204" pitchFamily="18" charset="0"/>
                      </a:rPr>
                      <m:t>𝑙</m:t>
                    </m:r>
                  </m:oMath>
                </a14:m>
                <a:r>
                  <a:rPr lang="zh-CN" altLang="en-US" dirty="0" smtClean="0"/>
                  <a:t>相对于所匹配的</a:t>
                </a:r>
                <a:r>
                  <a:rPr lang="en-US" altLang="zh-CN" dirty="0" smtClean="0"/>
                  <a:t>anchor</a:t>
                </a:r>
                <a:r>
                  <a:rPr lang="zh-CN" altLang="en-US" dirty="0" smtClean="0"/>
                  <a:t>中心点</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𝑐𝑥</m:t>
                        </m:r>
                        <m:r>
                          <a:rPr lang="en-US" altLang="zh-CN" b="0" i="1" smtClean="0">
                            <a:latin typeface="Cambria Math" panose="02040503050406030204" pitchFamily="18" charset="0"/>
                          </a:rPr>
                          <m:t>,</m:t>
                        </m:r>
                        <m:r>
                          <a:rPr lang="en-US" altLang="zh-CN" b="0" i="1" smtClean="0">
                            <a:latin typeface="Cambria Math" panose="02040503050406030204" pitchFamily="18" charset="0"/>
                          </a:rPr>
                          <m:t>𝑐𝑦</m:t>
                        </m:r>
                      </m:e>
                    </m:d>
                  </m:oMath>
                </a14:m>
                <a:r>
                  <a:rPr lang="zh-CN" altLang="en-US" dirty="0" smtClean="0"/>
                  <a:t>的偏移，以及相对于</a:t>
                </a:r>
                <a:r>
                  <a:rPr lang="en-US" altLang="zh-CN" dirty="0" smtClean="0"/>
                  <a:t>anchor</a:t>
                </a:r>
                <a:r>
                  <a:rPr lang="zh-CN" altLang="en-US" dirty="0" smtClean="0"/>
                  <a:t>宽</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𝑤</m:t>
                    </m:r>
                  </m:oMath>
                </a14:m>
                <a:r>
                  <a:rPr lang="zh-CN" altLang="en-US" dirty="0" smtClean="0"/>
                  <a:t>、高</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h</m:t>
                    </m:r>
                  </m:oMath>
                </a14:m>
                <a:r>
                  <a:rPr lang="zh-CN" altLang="en-US" dirty="0" smtClean="0"/>
                  <a:t>的缩放尺度。分类损失就是多个分类概率</a:t>
                </a:r>
                <a14:m>
                  <m:oMath xmlns:m="http://schemas.openxmlformats.org/officeDocument/2006/math">
                    <m:r>
                      <a:rPr lang="en-US" altLang="zh-CN" b="0" i="1" smtClean="0">
                        <a:latin typeface="Cambria Math" panose="02040503050406030204" pitchFamily="18" charset="0"/>
                      </a:rPr>
                      <m:t>𝑐</m:t>
                    </m:r>
                  </m:oMath>
                </a14:m>
                <a:r>
                  <a:rPr lang="zh-CN" altLang="en-US" dirty="0" smtClean="0"/>
                  <a:t>的</a:t>
                </a:r>
                <a:r>
                  <a:rPr lang="en-US" altLang="zh-CN" dirty="0" err="1" smtClean="0"/>
                  <a:t>softmax</a:t>
                </a:r>
                <a:r>
                  <a:rPr lang="zh-CN" altLang="en-US" dirty="0" smtClean="0"/>
                  <a:t>损失，其中</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𝑐</m:t>
                              </m:r>
                            </m:e>
                          </m:acc>
                        </m:e>
                        <m:sub>
                          <m:r>
                            <a:rPr lang="en-US" altLang="zh-CN" i="1">
                              <a:latin typeface="Cambria Math" panose="02040503050406030204" pitchFamily="18" charset="0"/>
                            </a:rPr>
                            <m:t>𝑖</m:t>
                          </m:r>
                        </m:sub>
                        <m:sup>
                          <m:r>
                            <a:rPr lang="en-US" altLang="zh-CN" i="1">
                              <a:latin typeface="Cambria Math" panose="02040503050406030204" pitchFamily="18" charset="0"/>
                            </a:rPr>
                            <m:t>𝑝</m:t>
                          </m:r>
                        </m:sup>
                      </m:sSub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𝑒𝑥𝑝</m:t>
                          </m:r>
                          <m:d>
                            <m:dPr>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𝑝</m:t>
                                  </m:r>
                                </m:sup>
                              </m:sSubSup>
                            </m:e>
                          </m:d>
                        </m:num>
                        <m:den>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𝑝</m:t>
                              </m:r>
                            </m:sub>
                            <m:sup/>
                            <m:e>
                              <m:r>
                                <a:rPr lang="en-US" altLang="zh-CN" i="1">
                                  <a:latin typeface="Cambria Math" panose="02040503050406030204" pitchFamily="18" charset="0"/>
                                </a:rPr>
                                <m:t>𝑒𝑥𝑝</m:t>
                              </m:r>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𝑖</m:t>
                                      </m:r>
                                    </m:sub>
                                    <m:sup>
                                      <m:r>
                                        <a:rPr lang="en-US" altLang="zh-CN" i="1">
                                          <a:latin typeface="Cambria Math" panose="02040503050406030204" pitchFamily="18" charset="0"/>
                                        </a:rPr>
                                        <m:t>𝑝</m:t>
                                      </m:r>
                                    </m:sup>
                                  </m:sSubSup>
                                </m:e>
                              </m:d>
                            </m:e>
                          </m:nary>
                        </m:den>
                      </m:f>
                    </m:oMath>
                  </m:oMathPara>
                </a14:m>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整体损失函数是位置损失和分类损失的加权求和，通常情况下，位置损失和分类损失的权重比例因子取值为</a:t>
                </a:r>
                <a:r>
                  <a:rPr lang="en-US" altLang="zh-CN" dirty="0" smtClean="0"/>
                  <a:t>1</a:t>
                </a:r>
                <a:r>
                  <a:rPr lang="zh-CN" altLang="en-US" dirty="0" smtClean="0"/>
                  <a:t>。</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mc:Choice>
        <mc:Fallback xmlns="">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位置</a:t>
                </a:r>
                <a:r>
                  <a:rPr lang="zh-CN" altLang="en-US" dirty="0"/>
                  <a:t>损失</a:t>
                </a:r>
                <a:r>
                  <a:rPr lang="en-US" altLang="zh-CN" i="0">
                    <a:latin typeface="Cambria Math" panose="02040503050406030204" pitchFamily="18" charset="0"/>
                  </a:rPr>
                  <a:t>𝐿_𝑙𝑜𝑐 (𝑥,𝑙,𝑔)</a:t>
                </a:r>
                <a:r>
                  <a:rPr lang="zh-CN" altLang="en-US" dirty="0"/>
                  <a:t>是预测框</a:t>
                </a:r>
                <a:r>
                  <a:rPr lang="en-US" altLang="zh-CN" i="0">
                    <a:latin typeface="Cambria Math" panose="02040503050406030204" pitchFamily="18" charset="0"/>
                  </a:rPr>
                  <a:t>𝑙</a:t>
                </a:r>
                <a:r>
                  <a:rPr lang="zh-CN" altLang="en-US" dirty="0"/>
                  <a:t>与真值框</a:t>
                </a:r>
                <a:r>
                  <a:rPr lang="en-US" altLang="zh-CN" i="0">
                    <a:latin typeface="Cambria Math" panose="02040503050406030204" pitchFamily="18" charset="0"/>
                  </a:rPr>
                  <a:t>𝑔</a:t>
                </a:r>
                <a:r>
                  <a:rPr lang="zh-CN" altLang="en-US" dirty="0"/>
                  <a:t>的</a:t>
                </a:r>
                <a:r>
                  <a:rPr lang="zh-CN" altLang="en-US" dirty="0" smtClean="0"/>
                  <a:t>平滑</a:t>
                </a:r>
                <a:r>
                  <a:rPr lang="en-US" altLang="zh-CN" b="0" i="0" smtClean="0">
                    <a:latin typeface="Cambria Math" panose="02040503050406030204" pitchFamily="18" charset="0"/>
                  </a:rPr>
                  <a:t>𝐿1</a:t>
                </a:r>
                <a:r>
                  <a:rPr lang="zh-CN" altLang="en-US" dirty="0" smtClean="0"/>
                  <a:t>损失，即之前再</a:t>
                </a:r>
                <a:r>
                  <a:rPr lang="en-US" altLang="zh-CN" dirty="0" smtClean="0"/>
                  <a:t>R-CNN</a:t>
                </a:r>
                <a:r>
                  <a:rPr lang="zh-CN" altLang="en-US" dirty="0" smtClean="0"/>
                  <a:t>中提到过的</a:t>
                </a:r>
                <a:r>
                  <a:rPr lang="en-US" altLang="zh-CN" i="0">
                    <a:latin typeface="Cambria Math" panose="02040503050406030204" pitchFamily="18" charset="0"/>
                  </a:rPr>
                  <a:t>〖𝑠𝑚𝑜𝑜𝑡ℎ〗_(𝐿_1 )</a:t>
                </a:r>
                <a:r>
                  <a:rPr lang="zh-CN" altLang="en-US" i="0" smtClean="0">
                    <a:latin typeface="Cambria Math" panose="02040503050406030204" pitchFamily="18" charset="0"/>
                  </a:rPr>
                  <a:t> 。</a:t>
                </a:r>
                <a:r>
                  <a:rPr lang="zh-CN" altLang="en-US" dirty="0" smtClean="0"/>
                  <a:t>同样地，回归的是预测框</a:t>
                </a:r>
                <a:r>
                  <a:rPr lang="en-US" altLang="zh-CN" i="0" smtClean="0">
                    <a:latin typeface="Cambria Math" panose="02040503050406030204" pitchFamily="18" charset="0"/>
                  </a:rPr>
                  <a:t>𝑙</a:t>
                </a:r>
                <a:r>
                  <a:rPr lang="zh-CN" altLang="en-US" dirty="0" smtClean="0"/>
                  <a:t>相对于所匹配的</a:t>
                </a:r>
                <a:r>
                  <a:rPr lang="en-US" altLang="zh-CN" dirty="0" smtClean="0"/>
                  <a:t>anchor</a:t>
                </a:r>
                <a:r>
                  <a:rPr lang="zh-CN" altLang="en-US" dirty="0" smtClean="0"/>
                  <a:t>中心点</a:t>
                </a:r>
                <a:r>
                  <a:rPr lang="en-US" altLang="zh-CN" i="0" smtClean="0">
                    <a:latin typeface="Cambria Math" panose="02040503050406030204" pitchFamily="18" charset="0"/>
                  </a:rPr>
                  <a:t>(</a:t>
                </a:r>
                <a:r>
                  <a:rPr lang="en-US" altLang="zh-CN" b="0" i="0" smtClean="0">
                    <a:latin typeface="Cambria Math" panose="02040503050406030204" pitchFamily="18" charset="0"/>
                  </a:rPr>
                  <a:t>𝑐𝑥,𝑐𝑦)</a:t>
                </a:r>
                <a:r>
                  <a:rPr lang="zh-CN" altLang="en-US" dirty="0" smtClean="0"/>
                  <a:t>的偏移，以及相对于</a:t>
                </a:r>
                <a:r>
                  <a:rPr lang="en-US" altLang="zh-CN" dirty="0" smtClean="0"/>
                  <a:t>anchor</a:t>
                </a:r>
                <a:r>
                  <a:rPr lang="zh-CN" altLang="en-US" dirty="0" smtClean="0"/>
                  <a:t>宽</a:t>
                </a:r>
                <a:r>
                  <a:rPr lang="en-US" altLang="zh-CN" b="0" i="0" smtClean="0">
                    <a:latin typeface="Cambria Math" panose="02040503050406030204" pitchFamily="18" charset="0"/>
                    <a:ea typeface="Cambria Math" panose="02040503050406030204" pitchFamily="18" charset="0"/>
                  </a:rPr>
                  <a:t>𝑤</a:t>
                </a:r>
                <a:r>
                  <a:rPr lang="zh-CN" altLang="en-US" dirty="0" smtClean="0"/>
                  <a:t>、高</a:t>
                </a:r>
                <a:r>
                  <a:rPr lang="en-US" altLang="zh-CN" b="0" i="0" smtClean="0">
                    <a:latin typeface="Cambria Math" panose="02040503050406030204" pitchFamily="18" charset="0"/>
                    <a:ea typeface="Cambria Math" panose="02040503050406030204" pitchFamily="18" charset="0"/>
                  </a:rPr>
                  <a:t>ℎ</a:t>
                </a:r>
                <a:r>
                  <a:rPr lang="zh-CN" altLang="en-US" dirty="0" smtClean="0"/>
                  <a:t>的缩放尺度。分类损失就是多个分类概率</a:t>
                </a:r>
                <a:r>
                  <a:rPr lang="en-US" altLang="zh-CN" b="0" i="0" smtClean="0">
                    <a:latin typeface="Cambria Math" panose="02040503050406030204" pitchFamily="18" charset="0"/>
                  </a:rPr>
                  <a:t>𝑐</a:t>
                </a:r>
                <a:r>
                  <a:rPr lang="zh-CN" altLang="en-US" dirty="0" smtClean="0"/>
                  <a:t>的</a:t>
                </a:r>
                <a:r>
                  <a:rPr lang="en-US" altLang="zh-CN" dirty="0" err="1" smtClean="0"/>
                  <a:t>softmax</a:t>
                </a:r>
                <a:r>
                  <a:rPr lang="zh-CN" altLang="en-US" dirty="0" smtClean="0"/>
                  <a:t>损失，其中</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en-US" altLang="zh-CN" i="0">
                    <a:latin typeface="Cambria Math" panose="02040503050406030204" pitchFamily="18" charset="0"/>
                  </a:rPr>
                  <a:t>𝑐 ̂</a:t>
                </a:r>
                <a:r>
                  <a:rPr lang="en-US" altLang="zh-CN" i="0" smtClean="0">
                    <a:latin typeface="Cambria Math" panose="02040503050406030204" pitchFamily="18" charset="0"/>
                  </a:rPr>
                  <a:t>_</a:t>
                </a:r>
                <a:r>
                  <a:rPr lang="en-US" altLang="zh-CN" i="0">
                    <a:latin typeface="Cambria Math" panose="02040503050406030204" pitchFamily="18" charset="0"/>
                  </a:rPr>
                  <a:t>𝑖^𝑝</a:t>
                </a:r>
                <a:r>
                  <a:rPr lang="en-US" altLang="zh-CN" b="0" i="0" smtClean="0">
                    <a:latin typeface="Cambria Math" panose="02040503050406030204" pitchFamily="18" charset="0"/>
                  </a:rPr>
                  <a:t>=𝑒𝑥𝑝(𝑐_𝑖^𝑝 )/(∑_𝑝</a:t>
                </a:r>
                <a:r>
                  <a:rPr lang="en-US" altLang="zh-CN" b="0" i="0">
                    <a:latin typeface="Cambria Math" panose="02040503050406030204" pitchFamily="18" charset="0"/>
                  </a:rPr>
                  <a:t>▒</a:t>
                </a:r>
                <a:r>
                  <a:rPr lang="en-US" altLang="zh-CN" i="0">
                    <a:latin typeface="Cambria Math" panose="02040503050406030204" pitchFamily="18" charset="0"/>
                  </a:rPr>
                  <a:t>𝑒𝑥𝑝(𝑐_𝑖^𝑝 ) </a:t>
                </a:r>
                <a:r>
                  <a:rPr lang="en-US" altLang="zh-CN" b="0" i="0" smtClean="0">
                    <a:latin typeface="Cambria Math" panose="02040503050406030204" pitchFamily="18" charset="0"/>
                  </a:rPr>
                  <a:t>)</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整体损失函数是位置损失和分类损失的加权求和，通常情况下，位置损失和分类损失的权重比例因子取值为</a:t>
                </a:r>
                <a:r>
                  <a:rPr lang="en-US" altLang="zh-CN" dirty="0" smtClean="0"/>
                  <a:t>1</a:t>
                </a:r>
                <a:r>
                  <a:rPr lang="zh-CN" altLang="en-US" dirty="0" smtClean="0"/>
                  <a:t>。</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38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6190018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此外，</a:t>
            </a:r>
            <a:r>
              <a:rPr lang="en-US" altLang="zh-CN" dirty="0" smtClean="0"/>
              <a:t>SSD</a:t>
            </a:r>
            <a:r>
              <a:rPr lang="zh-CN" altLang="en-US" dirty="0" smtClean="0"/>
              <a:t>训练过程中也用到了之前提到的诸多方法与技巧。</a:t>
            </a:r>
            <a:endParaRPr lang="en-US" altLang="zh-CN" dirty="0" smtClean="0"/>
          </a:p>
          <a:p>
            <a:r>
              <a:rPr lang="zh-CN" altLang="en-US" dirty="0" smtClean="0"/>
              <a:t>为了检测多尺度的目标，</a:t>
            </a:r>
            <a:r>
              <a:rPr lang="en-US" altLang="zh-CN" dirty="0" smtClean="0"/>
              <a:t>SSD</a:t>
            </a:r>
            <a:r>
              <a:rPr lang="zh-CN" altLang="en-US" dirty="0" smtClean="0"/>
              <a:t>使用了特征金字塔的方法。基于底层特征图提取的特征具有更多细节信息，适合检测较小的目标，基于高层特征图提取的特征具有更多整体信息，适合检测较大的目标。根据不同检测任务设置每一层上锚的尺寸和宽高比是非常有技巧的，一个基本的原则就是尽可能用有限数量的锚覆盖实际场景中各个尺度的目标。</a:t>
            </a:r>
            <a:endParaRPr lang="en-US" altLang="zh-CN" dirty="0" smtClean="0"/>
          </a:p>
          <a:p>
            <a:r>
              <a:rPr lang="zh-CN" altLang="en-US" dirty="0" smtClean="0"/>
              <a:t>在实际场景中，一幅图像上能够和目标匹配的锚数量要远小于无法和目标匹配的锚数量，这就导致样本中负样本的比例远小于正样本的比例，造成严重的样本不均衡的问题。通常使用难例挖掘（</a:t>
            </a:r>
            <a:r>
              <a:rPr lang="en-US" altLang="zh-CN" dirty="0" smtClean="0"/>
              <a:t>hared negative</a:t>
            </a:r>
            <a:r>
              <a:rPr lang="en-US" altLang="zh-CN" baseline="0" dirty="0" smtClean="0"/>
              <a:t> mining</a:t>
            </a:r>
            <a:r>
              <a:rPr lang="zh-CN" altLang="en-US" dirty="0" smtClean="0"/>
              <a:t>）方法解决这一问题。具体做法是，训练时计算每个锚产生的损失，对负样本按照损失大小进行排序，取损失值最大的那部分锚进行模型迭代。（负样本损失大意味着更接近与</a:t>
            </a:r>
            <a:r>
              <a:rPr lang="en-US" altLang="zh-CN" dirty="0" smtClean="0"/>
              <a:t>False Positive,</a:t>
            </a:r>
            <a:r>
              <a:rPr lang="zh-CN" altLang="en-US" dirty="0" smtClean="0"/>
              <a:t>假正样本）负样本的选取比例可以根据实际问题进行调整，一个常规的做法是按照正样本：负样本</a:t>
            </a:r>
            <a:r>
              <a:rPr lang="en-US" altLang="zh-CN" dirty="0" smtClean="0"/>
              <a:t>=1</a:t>
            </a:r>
            <a:r>
              <a:rPr lang="zh-CN" altLang="en-US" dirty="0" smtClean="0"/>
              <a:t>：</a:t>
            </a:r>
            <a:r>
              <a:rPr lang="en-US" altLang="zh-CN" dirty="0" smtClean="0"/>
              <a:t>3</a:t>
            </a:r>
            <a:r>
              <a:rPr lang="zh-CN" altLang="en-US" dirty="0" smtClean="0"/>
              <a:t>比例选取负样本。</a:t>
            </a:r>
            <a:endParaRPr lang="en-US" altLang="zh-CN" dirty="0" smtClean="0"/>
          </a:p>
          <a:p>
            <a:r>
              <a:rPr lang="zh-CN" altLang="en-US" dirty="0" smtClean="0"/>
              <a:t>为了更好地检测实际场景不同尺寸和形状的目标，通常采用数据增强的方法。具体策略主要有以下</a:t>
            </a:r>
            <a:r>
              <a:rPr lang="en-US" altLang="zh-CN" dirty="0" smtClean="0"/>
              <a:t>3</a:t>
            </a:r>
            <a:r>
              <a:rPr lang="zh-CN" altLang="en-US" dirty="0" smtClean="0"/>
              <a:t>个步骤。</a:t>
            </a:r>
            <a:endParaRPr lang="en-US" altLang="zh-CN" dirty="0" smtClean="0"/>
          </a:p>
          <a:p>
            <a:r>
              <a:rPr lang="zh-CN" altLang="en-US" dirty="0" smtClean="0"/>
              <a:t>一、在原图上进行重采样。重采样的数据一般包含如下三种。</a:t>
            </a:r>
            <a:endParaRPr lang="en-US" altLang="zh-CN" dirty="0" smtClean="0"/>
          </a:p>
          <a:p>
            <a:r>
              <a:rPr lang="en-US" altLang="zh-CN" dirty="0" smtClean="0"/>
              <a:t>1</a:t>
            </a:r>
            <a:r>
              <a:rPr lang="zh-CN" altLang="en-US" dirty="0" smtClean="0"/>
              <a:t>、原始图像</a:t>
            </a:r>
            <a:endParaRPr lang="en-US" altLang="zh-CN" dirty="0" smtClean="0"/>
          </a:p>
          <a:p>
            <a:r>
              <a:rPr lang="en-US" altLang="zh-CN" dirty="0" smtClean="0"/>
              <a:t>2</a:t>
            </a:r>
            <a:r>
              <a:rPr lang="zh-CN" altLang="en-US" dirty="0" smtClean="0"/>
              <a:t>、与目标相交的图像，相交的最小比例是</a:t>
            </a:r>
            <a:r>
              <a:rPr lang="en-US" altLang="zh-CN" dirty="0" smtClean="0"/>
              <a:t>0.1</a:t>
            </a:r>
            <a:r>
              <a:rPr lang="zh-CN" altLang="en-US" dirty="0" smtClean="0"/>
              <a:t>、</a:t>
            </a:r>
            <a:r>
              <a:rPr lang="en-US" altLang="zh-CN" dirty="0" smtClean="0"/>
              <a:t>0.3</a:t>
            </a:r>
            <a:r>
              <a:rPr lang="zh-CN" altLang="en-US" dirty="0" smtClean="0"/>
              <a:t>、</a:t>
            </a:r>
            <a:r>
              <a:rPr lang="en-US" altLang="zh-CN" dirty="0" smtClean="0"/>
              <a:t>0.5</a:t>
            </a:r>
            <a:r>
              <a:rPr lang="zh-CN" altLang="en-US" dirty="0" smtClean="0"/>
              <a:t>、</a:t>
            </a:r>
            <a:r>
              <a:rPr lang="en-US" altLang="zh-CN" dirty="0" smtClean="0"/>
              <a:t>0.7</a:t>
            </a:r>
            <a:r>
              <a:rPr lang="zh-CN" altLang="en-US" dirty="0" smtClean="0"/>
              <a:t>、</a:t>
            </a:r>
            <a:r>
              <a:rPr lang="en-US" altLang="zh-CN" dirty="0" smtClean="0"/>
              <a:t>0.9</a:t>
            </a:r>
            <a:r>
              <a:rPr lang="zh-CN" altLang="en-US" dirty="0" smtClean="0"/>
              <a:t>等</a:t>
            </a:r>
            <a:endParaRPr lang="en-US" altLang="zh-CN" dirty="0" smtClean="0"/>
          </a:p>
          <a:p>
            <a:r>
              <a:rPr lang="en-US" altLang="zh-CN" dirty="0" smtClean="0"/>
              <a:t>3</a:t>
            </a:r>
            <a:r>
              <a:rPr lang="zh-CN" altLang="en-US" dirty="0" smtClean="0"/>
              <a:t>、随机采样</a:t>
            </a:r>
            <a:endParaRPr lang="en-US" altLang="zh-CN" dirty="0" smtClean="0"/>
          </a:p>
          <a:p>
            <a:r>
              <a:rPr lang="zh-CN" altLang="en-US" dirty="0" smtClean="0"/>
              <a:t>重采样的图像宽高比限制在</a:t>
            </a:r>
            <a:r>
              <a:rPr lang="en-US" altLang="zh-CN" dirty="0" smtClean="0"/>
              <a:t>1</a:t>
            </a:r>
            <a:r>
              <a:rPr lang="zh-CN" altLang="en-US" dirty="0" smtClean="0"/>
              <a:t>：</a:t>
            </a:r>
            <a:r>
              <a:rPr lang="en-US" altLang="zh-CN" dirty="0" smtClean="0"/>
              <a:t>2~2</a:t>
            </a:r>
            <a:r>
              <a:rPr lang="zh-CN" altLang="en-US" dirty="0" smtClean="0"/>
              <a:t>：</a:t>
            </a:r>
            <a:r>
              <a:rPr lang="en-US" altLang="zh-CN" dirty="0" smtClean="0"/>
              <a:t>1</a:t>
            </a:r>
            <a:r>
              <a:rPr lang="zh-CN" altLang="en-US" dirty="0" smtClean="0"/>
              <a:t>，采样之后被拉伸到统一尺寸进行归一化处理。</a:t>
            </a:r>
            <a:endParaRPr lang="en-US" altLang="zh-CN" dirty="0" smtClean="0"/>
          </a:p>
          <a:p>
            <a:r>
              <a:rPr lang="zh-CN" altLang="en-US" dirty="0" smtClean="0"/>
              <a:t>二、对归一化处理之后的图像进行水平镜像处理</a:t>
            </a:r>
            <a:endParaRPr lang="en-US" altLang="zh-CN" dirty="0" smtClean="0"/>
          </a:p>
          <a:p>
            <a:r>
              <a:rPr lang="zh-CN" altLang="en-US" dirty="0" smtClean="0"/>
              <a:t>三、添加相机畸变</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75414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FCOS</a:t>
            </a:r>
            <a:r>
              <a:rPr lang="zh-CN" altLang="en-US" dirty="0" smtClean="0"/>
              <a:t>（</a:t>
            </a:r>
            <a:r>
              <a:rPr lang="en-US" altLang="zh-CN" dirty="0" smtClean="0"/>
              <a:t>Fully Convolutional One-Stage Object Detector</a:t>
            </a:r>
            <a:r>
              <a:rPr lang="zh-CN" altLang="en-US" dirty="0" smtClean="0"/>
              <a:t>，全卷积一阶段目标检测）算法是一种基于全卷积网络的一阶段目标检测算法。与之前介绍的</a:t>
            </a:r>
            <a:r>
              <a:rPr lang="en-US" altLang="zh-CN" dirty="0" smtClean="0"/>
              <a:t>Faster R-CNN</a:t>
            </a:r>
            <a:r>
              <a:rPr lang="zh-CN" altLang="en-US" dirty="0" smtClean="0"/>
              <a:t>、</a:t>
            </a:r>
            <a:r>
              <a:rPr lang="en-US" altLang="zh-CN" dirty="0" smtClean="0"/>
              <a:t>SSD</a:t>
            </a:r>
            <a:r>
              <a:rPr lang="zh-CN" altLang="en-US" dirty="0" smtClean="0"/>
              <a:t>、</a:t>
            </a:r>
            <a:r>
              <a:rPr lang="en-US" altLang="zh-CN" dirty="0" smtClean="0"/>
              <a:t>YOLO</a:t>
            </a:r>
            <a:r>
              <a:rPr lang="zh-CN" altLang="en-US" dirty="0" smtClean="0"/>
              <a:t>等算法不同，</a:t>
            </a:r>
            <a:r>
              <a:rPr lang="en-US" altLang="zh-CN" dirty="0" smtClean="0"/>
              <a:t>FCOS</a:t>
            </a:r>
            <a:r>
              <a:rPr lang="zh-CN" altLang="en-US" dirty="0" smtClean="0"/>
              <a:t>不依赖锚，甚至不依赖候选框，而是直接针对图像上的每个像素预测可能包含该像素的目标框的位置。这样的算法设计我们称为</a:t>
            </a:r>
            <a:r>
              <a:rPr lang="en-US" altLang="zh-CN" dirty="0" smtClean="0"/>
              <a:t>anchor-free</a:t>
            </a:r>
            <a:r>
              <a:rPr lang="zh-CN" altLang="en-US" dirty="0" smtClean="0"/>
              <a:t>，既避免了在训练过程中与锚相关的计算，也避免了与锚相关的调参操作，大大简化了训练过程。</a:t>
            </a:r>
            <a:r>
              <a:rPr lang="en-US" altLang="zh-CN" dirty="0" smtClean="0"/>
              <a:t>YOLOv1</a:t>
            </a:r>
            <a:r>
              <a:rPr lang="zh-CN" altLang="en-US" dirty="0" smtClean="0"/>
              <a:t>其实也是</a:t>
            </a:r>
            <a:r>
              <a:rPr lang="en-US" altLang="zh-CN" dirty="0" smtClean="0"/>
              <a:t>anchor-free</a:t>
            </a:r>
            <a:r>
              <a:rPr lang="zh-CN" altLang="en-US" dirty="0" smtClean="0"/>
              <a:t>方法，</a:t>
            </a:r>
            <a:r>
              <a:rPr lang="zh-CN" altLang="en-US" sz="1200" b="0" i="0" kern="1200" dirty="0" smtClean="0">
                <a:solidFill>
                  <a:schemeClr val="tx1"/>
                </a:solidFill>
                <a:effectLst/>
                <a:latin typeface="+mn-lt"/>
                <a:ea typeface="+mn-ea"/>
                <a:cs typeface="+mn-cs"/>
              </a:rPr>
              <a:t>但</a:t>
            </a:r>
            <a:r>
              <a:rPr lang="en-US" altLang="zh-CN" sz="1200" b="0" i="0" kern="1200" dirty="0" smtClean="0">
                <a:solidFill>
                  <a:schemeClr val="tx1"/>
                </a:solidFill>
                <a:effectLst/>
                <a:latin typeface="+mn-lt"/>
                <a:ea typeface="+mn-ea"/>
                <a:cs typeface="+mn-cs"/>
              </a:rPr>
              <a:t>YOLOv1</a:t>
            </a:r>
            <a:r>
              <a:rPr lang="zh-CN" altLang="en-US" sz="1200" b="0" i="0" kern="1200" dirty="0" smtClean="0">
                <a:solidFill>
                  <a:schemeClr val="tx1"/>
                </a:solidFill>
                <a:effectLst/>
                <a:latin typeface="+mn-lt"/>
                <a:ea typeface="+mn-ea"/>
                <a:cs typeface="+mn-cs"/>
              </a:rPr>
              <a:t>因为只检测离中心点近的目标，导致召回率比较低，因此后续版本中还是使用了</a:t>
            </a:r>
            <a:r>
              <a:rPr lang="en-US" altLang="zh-CN" sz="1200" b="0" i="0" kern="1200" dirty="0" smtClean="0">
                <a:solidFill>
                  <a:schemeClr val="tx1"/>
                </a:solidFill>
                <a:effectLst/>
                <a:latin typeface="+mn-lt"/>
                <a:ea typeface="+mn-ea"/>
                <a:cs typeface="+mn-cs"/>
              </a:rPr>
              <a:t>anchor</a:t>
            </a:r>
            <a:r>
              <a:rPr lang="zh-CN" altLang="en-US" sz="1200" b="0" i="0" kern="1200" dirty="0" smtClean="0">
                <a:solidFill>
                  <a:schemeClr val="tx1"/>
                </a:solidFill>
                <a:effectLst/>
                <a:latin typeface="+mn-lt"/>
                <a:ea typeface="+mn-ea"/>
                <a:cs typeface="+mn-cs"/>
              </a:rPr>
              <a:t>。下图是</a:t>
            </a:r>
            <a:r>
              <a:rPr lang="en-US" altLang="zh-CN" sz="1200" b="0" i="0" kern="1200" dirty="0" smtClean="0">
                <a:solidFill>
                  <a:schemeClr val="tx1"/>
                </a:solidFill>
                <a:effectLst/>
                <a:latin typeface="+mn-lt"/>
                <a:ea typeface="+mn-ea"/>
                <a:cs typeface="+mn-cs"/>
              </a:rPr>
              <a:t>FCOS</a:t>
            </a:r>
            <a:r>
              <a:rPr lang="zh-CN" altLang="en-US" sz="1200" b="0" i="0" kern="1200" dirty="0" smtClean="0">
                <a:solidFill>
                  <a:schemeClr val="tx1"/>
                </a:solidFill>
                <a:effectLst/>
                <a:latin typeface="+mn-lt"/>
                <a:ea typeface="+mn-ea"/>
                <a:cs typeface="+mn-cs"/>
              </a:rPr>
              <a:t>论文中与其他模型检测结果的对比。</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5849793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之前介绍的几种目标检测算法有一个共同之处，就是都使用了预定义的锚。锚的使用是上述算法非常重要的成功因素，但这种方式也存在一定的弊端</a:t>
                </a:r>
                <a:r>
                  <a:rPr lang="en-US" altLang="zh-CN" dirty="0" smtClean="0"/>
                  <a:t>,</a:t>
                </a:r>
                <a:r>
                  <a:rPr lang="zh-CN" altLang="en-US" dirty="0" smtClean="0"/>
                  <a:t>主要体现在如下几个方面</a:t>
                </a:r>
                <a:r>
                  <a:rPr lang="en-US" altLang="zh-CN" dirty="0" smtClean="0"/>
                  <a:t>:</a:t>
                </a:r>
                <a:r>
                  <a:rPr lang="zh-CN" altLang="en-US" dirty="0" smtClean="0"/>
                  <a:t>（</a:t>
                </a:r>
                <a:r>
                  <a:rPr lang="en-US" altLang="zh-CN" dirty="0" smtClean="0"/>
                  <a:t>1</a:t>
                </a:r>
                <a:r>
                  <a:rPr lang="zh-CN" altLang="en-US" dirty="0" smtClean="0"/>
                  <a:t>）在具体的算法实现过程中，因为每个场景下对锚的大小及形状进行不同取值，会明显影响算法的性能，所以在模型训练的过程中，需要非常仔细地进行调整，以达到更优的性能，这样给模型训练增加了复杂性</a:t>
                </a:r>
                <a:r>
                  <a:rPr lang="en-US" altLang="zh-CN" dirty="0" smtClean="0"/>
                  <a:t>;</a:t>
                </a:r>
                <a:r>
                  <a:rPr lang="zh-CN" altLang="en-US" dirty="0" smtClean="0"/>
                  <a:t>（</a:t>
                </a:r>
                <a:r>
                  <a:rPr lang="en-US" altLang="zh-CN" dirty="0" smtClean="0"/>
                  <a:t>2</a:t>
                </a:r>
                <a:r>
                  <a:rPr lang="zh-CN" altLang="en-US" dirty="0" smtClean="0"/>
                  <a:t>）在同一个检测任务中，锚的大小及形状仅有几个固定的取值，对于检测目标尺寸和形状有较大变化的场景</a:t>
                </a:r>
                <a:r>
                  <a:rPr lang="en-US" altLang="zh-CN" dirty="0" smtClean="0"/>
                  <a:t>,</a:t>
                </a:r>
                <a:r>
                  <a:rPr lang="zh-CN" altLang="en-US" dirty="0" smtClean="0"/>
                  <a:t>算法的性能会受到一些影响</a:t>
                </a:r>
                <a:r>
                  <a:rPr lang="en-US" altLang="zh-CN" dirty="0" smtClean="0"/>
                  <a:t>;</a:t>
                </a:r>
                <a:r>
                  <a:rPr lang="zh-CN" altLang="en-US" dirty="0" smtClean="0"/>
                  <a:t>（例如一本书横着放</a:t>
                </a:r>
                <a:r>
                  <a:rPr lang="en-US" altLang="zh-CN" dirty="0" smtClean="0"/>
                  <a:t>w</a:t>
                </a:r>
                <a:r>
                  <a:rPr lang="zh-CN" altLang="en-US" dirty="0" smtClean="0"/>
                  <a:t>远大于</a:t>
                </a:r>
                <a:r>
                  <a:rPr lang="en-US" altLang="zh-CN" dirty="0" smtClean="0"/>
                  <a:t>h</a:t>
                </a:r>
                <a:r>
                  <a:rPr lang="zh-CN" altLang="en-US" dirty="0" smtClean="0"/>
                  <a:t>，竖着放</a:t>
                </a:r>
                <a:r>
                  <a:rPr lang="en-US" altLang="zh-CN" dirty="0" smtClean="0"/>
                  <a:t>h</a:t>
                </a:r>
                <a:r>
                  <a:rPr lang="zh-CN" altLang="en-US" dirty="0" smtClean="0"/>
                  <a:t>远大于</a:t>
                </a:r>
                <a:r>
                  <a:rPr lang="en-US" altLang="zh-CN" dirty="0" smtClean="0"/>
                  <a:t>w</a:t>
                </a:r>
                <a:r>
                  <a:rPr lang="zh-CN" altLang="en-US" dirty="0" smtClean="0"/>
                  <a:t>，很难设计出合适的锚框）（</a:t>
                </a:r>
                <a:r>
                  <a:rPr lang="en-US" altLang="zh-CN" dirty="0" smtClean="0"/>
                  <a:t>3</a:t>
                </a:r>
                <a:r>
                  <a:rPr lang="zh-CN" altLang="en-US" dirty="0" smtClean="0"/>
                  <a:t>）为了能够更好地覆盖检测目标</a:t>
                </a:r>
                <a:r>
                  <a:rPr lang="en-US" altLang="zh-CN" dirty="0" smtClean="0"/>
                  <a:t>,</a:t>
                </a:r>
                <a:r>
                  <a:rPr lang="zh-CN" altLang="en-US" dirty="0" smtClean="0"/>
                  <a:t>在一张图像上会有非常多的锚，而其中绝大多数是负样本，这导致正负样本极为不平衡</a:t>
                </a:r>
                <a:r>
                  <a:rPr lang="en-US" altLang="zh-CN" dirty="0" smtClean="0"/>
                  <a:t>;(4</a:t>
                </a:r>
                <a:r>
                  <a:rPr lang="zh-CN" altLang="en-US" dirty="0" smtClean="0"/>
                  <a:t>）使用锚</a:t>
                </a:r>
                <a:r>
                  <a:rPr lang="en-US" altLang="zh-CN" dirty="0" smtClean="0"/>
                  <a:t>,</a:t>
                </a:r>
                <a:r>
                  <a:rPr lang="zh-CN" altLang="en-US" dirty="0" smtClean="0"/>
                  <a:t>涉及大量与真值框交并比的计算</a:t>
                </a:r>
                <a:r>
                  <a:rPr lang="en-US" altLang="zh-CN" dirty="0" smtClean="0"/>
                  <a:t>,</a:t>
                </a:r>
                <a:r>
                  <a:rPr lang="zh-CN" altLang="en-US" dirty="0" smtClean="0"/>
                  <a:t>造成很大的计算开销。</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为了解决使用锚存在的上述问题，诞生了一个新的思路，就是不再使用锚，而是基于每个像素，直接预测包含该像素的目标框的位置及目标的类别，如图所示。对于每个像素，预测的目标框用一个</a:t>
                </a:r>
                <a:r>
                  <a:rPr lang="en-US" altLang="zh-CN" dirty="0" smtClean="0"/>
                  <a:t>4</a:t>
                </a:r>
                <a:r>
                  <a:rPr lang="zh-CN" altLang="en-US" dirty="0" smtClean="0"/>
                  <a:t>维向量</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e>
                    </m:d>
                  </m:oMath>
                </a14:m>
                <a:r>
                  <a:rPr lang="zh-CN" altLang="en-US" dirty="0" smtClean="0"/>
                  <a:t>表示，</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e>
                    </m:d>
                  </m:oMath>
                </a14:m>
                <a:r>
                  <a:rPr lang="zh-CN" altLang="en-US" dirty="0" smtClean="0"/>
                  <a:t>分别代表该像素点到目标框左、右、上、下边边缘的距离。每个像素都对应一个预测的目标框，根据所有预测的目标框的类别和置信度，通过非极大值抑制，就能够得到最终的预测结果。</a:t>
                </a:r>
                <a:endParaRPr lang="en-US" altLang="zh-CN" dirty="0" smtClean="0"/>
              </a:p>
              <a:p>
                <a:endParaRPr lang="zh-CN" altLang="en-US" dirty="0"/>
              </a:p>
            </p:txBody>
          </p:sp>
        </mc:Choice>
        <mc:Fallback xmlns="">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之前介绍的几种目标检测算法有一个共同之处，就是都使用了预定义的锚。锚的使用是上述算法非常重要的成功因素，但这种方式也存在一定的弊端</a:t>
                </a:r>
                <a:r>
                  <a:rPr lang="en-US" altLang="zh-CN" dirty="0" smtClean="0"/>
                  <a:t>,</a:t>
                </a:r>
                <a:r>
                  <a:rPr lang="zh-CN" altLang="en-US" dirty="0" smtClean="0"/>
                  <a:t>主要体现在如下几个方面</a:t>
                </a:r>
                <a:r>
                  <a:rPr lang="en-US" altLang="zh-CN" dirty="0" smtClean="0"/>
                  <a:t>:</a:t>
                </a:r>
                <a:r>
                  <a:rPr lang="zh-CN" altLang="en-US" dirty="0" smtClean="0"/>
                  <a:t>（</a:t>
                </a:r>
                <a:r>
                  <a:rPr lang="en-US" altLang="zh-CN" dirty="0" smtClean="0"/>
                  <a:t>1</a:t>
                </a:r>
                <a:r>
                  <a:rPr lang="zh-CN" altLang="en-US" dirty="0" smtClean="0"/>
                  <a:t>）在具体的算法实现过程中，因为每个场景下对锚的大小及形状进行不同取值，会明显影响算法的性能，所以在模型训练的过程中，需要非常仔细地进行调整，以达到更优的性能，这样给模型训练增加了复杂性</a:t>
                </a:r>
                <a:r>
                  <a:rPr lang="en-US" altLang="zh-CN" dirty="0" smtClean="0"/>
                  <a:t>;</a:t>
                </a:r>
                <a:r>
                  <a:rPr lang="zh-CN" altLang="en-US" dirty="0" smtClean="0"/>
                  <a:t>（</a:t>
                </a:r>
                <a:r>
                  <a:rPr lang="en-US" altLang="zh-CN" dirty="0" smtClean="0"/>
                  <a:t>2</a:t>
                </a:r>
                <a:r>
                  <a:rPr lang="zh-CN" altLang="en-US" dirty="0" smtClean="0"/>
                  <a:t>）在同一个检测任务中，锚的大小及形状仅有几个固定的取值，对于检测目标尺寸和形状有较大变化的场景</a:t>
                </a:r>
                <a:r>
                  <a:rPr lang="en-US" altLang="zh-CN" dirty="0" smtClean="0"/>
                  <a:t>,</a:t>
                </a:r>
                <a:r>
                  <a:rPr lang="zh-CN" altLang="en-US" dirty="0" smtClean="0"/>
                  <a:t>算法的性能会受到一些影响</a:t>
                </a:r>
                <a:r>
                  <a:rPr lang="en-US" altLang="zh-CN" dirty="0" smtClean="0"/>
                  <a:t>;</a:t>
                </a:r>
                <a:r>
                  <a:rPr lang="zh-CN" altLang="en-US" dirty="0" smtClean="0"/>
                  <a:t>（例如一本书横着放</a:t>
                </a:r>
                <a:r>
                  <a:rPr lang="en-US" altLang="zh-CN" dirty="0" smtClean="0"/>
                  <a:t>w</a:t>
                </a:r>
                <a:r>
                  <a:rPr lang="zh-CN" altLang="en-US" dirty="0" smtClean="0"/>
                  <a:t>远大于</a:t>
                </a:r>
                <a:r>
                  <a:rPr lang="en-US" altLang="zh-CN" dirty="0" smtClean="0"/>
                  <a:t>h</a:t>
                </a:r>
                <a:r>
                  <a:rPr lang="zh-CN" altLang="en-US" dirty="0" smtClean="0"/>
                  <a:t>，竖着放</a:t>
                </a:r>
                <a:r>
                  <a:rPr lang="en-US" altLang="zh-CN" dirty="0" smtClean="0"/>
                  <a:t>h</a:t>
                </a:r>
                <a:r>
                  <a:rPr lang="zh-CN" altLang="en-US" dirty="0" smtClean="0"/>
                  <a:t>远大于</a:t>
                </a:r>
                <a:r>
                  <a:rPr lang="en-US" altLang="zh-CN" dirty="0" smtClean="0"/>
                  <a:t>w</a:t>
                </a:r>
                <a:r>
                  <a:rPr lang="zh-CN" altLang="en-US" dirty="0" smtClean="0"/>
                  <a:t>，很难设计出合适的锚框）（</a:t>
                </a:r>
                <a:r>
                  <a:rPr lang="en-US" altLang="zh-CN" dirty="0" smtClean="0"/>
                  <a:t>3</a:t>
                </a:r>
                <a:r>
                  <a:rPr lang="zh-CN" altLang="en-US" dirty="0" smtClean="0"/>
                  <a:t>）为了能够更好地覆盖检测目标</a:t>
                </a:r>
                <a:r>
                  <a:rPr lang="en-US" altLang="zh-CN" dirty="0" smtClean="0"/>
                  <a:t>,</a:t>
                </a:r>
                <a:r>
                  <a:rPr lang="zh-CN" altLang="en-US" dirty="0" smtClean="0"/>
                  <a:t>在一张图像上会有非常多的锚，而其中绝大多数是负样本，这导致正负样本极为不平衡</a:t>
                </a:r>
                <a:r>
                  <a:rPr lang="en-US" altLang="zh-CN" dirty="0" smtClean="0"/>
                  <a:t>;(4</a:t>
                </a:r>
                <a:r>
                  <a:rPr lang="zh-CN" altLang="en-US" dirty="0" smtClean="0"/>
                  <a:t>）使用锚</a:t>
                </a:r>
                <a:r>
                  <a:rPr lang="en-US" altLang="zh-CN" dirty="0" smtClean="0"/>
                  <a:t>,</a:t>
                </a:r>
                <a:r>
                  <a:rPr lang="zh-CN" altLang="en-US" dirty="0" smtClean="0"/>
                  <a:t>涉及大量与真值框交并比的计算</a:t>
                </a:r>
                <a:r>
                  <a:rPr lang="en-US" altLang="zh-CN" dirty="0" smtClean="0"/>
                  <a:t>,</a:t>
                </a:r>
                <a:r>
                  <a:rPr lang="zh-CN" altLang="en-US" dirty="0" smtClean="0"/>
                  <a:t>造成很大的计算开销。</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为了解决使用锚存在的上述问题，诞生了一个新的思路，就是不再使用锚，而是基于每个像素，直接预测包含该像素的目标框的位置及目标的类别，如图所示。对于每个像素，预测的目标框用一个</a:t>
                </a:r>
                <a:r>
                  <a:rPr lang="en-US" altLang="zh-CN" dirty="0" smtClean="0"/>
                  <a:t>4</a:t>
                </a:r>
                <a:r>
                  <a:rPr lang="zh-CN" altLang="en-US" dirty="0" smtClean="0"/>
                  <a:t>维向量</a:t>
                </a:r>
                <a:r>
                  <a:rPr lang="en-US" altLang="zh-CN" i="0" smtClean="0">
                    <a:latin typeface="Cambria Math" panose="02040503050406030204" pitchFamily="18" charset="0"/>
                  </a:rPr>
                  <a:t>(</a:t>
                </a:r>
                <a:r>
                  <a:rPr lang="en-US" altLang="zh-CN" b="0" i="0" smtClean="0">
                    <a:latin typeface="Cambria Math" panose="02040503050406030204" pitchFamily="18" charset="0"/>
                  </a:rPr>
                  <a:t>𝑙,𝑟,𝑡,𝑏)</a:t>
                </a:r>
                <a:r>
                  <a:rPr lang="zh-CN" altLang="en-US" dirty="0" smtClean="0"/>
                  <a:t>表示，</a:t>
                </a:r>
                <a:r>
                  <a:rPr lang="en-US" altLang="zh-CN" i="0" smtClean="0">
                    <a:latin typeface="Cambria Math" panose="02040503050406030204" pitchFamily="18" charset="0"/>
                  </a:rPr>
                  <a:t>(</a:t>
                </a:r>
                <a:r>
                  <a:rPr lang="en-US" altLang="zh-CN" b="0" i="0" smtClean="0">
                    <a:latin typeface="Cambria Math" panose="02040503050406030204" pitchFamily="18" charset="0"/>
                  </a:rPr>
                  <a:t>𝑙,𝑟,𝑡,𝑏)</a:t>
                </a:r>
                <a:r>
                  <a:rPr lang="zh-CN" altLang="en-US" dirty="0" smtClean="0"/>
                  <a:t>分别代表该像素点到目标框左、右、上、下边边缘的距离。每个像素都对应一个预测的目标框，根据所有预测的目标框的类别和置信度，通过非极大值抑制，就能够得到最终的预测结果。</a:t>
                </a:r>
                <a:endParaRPr lang="en-US" altLang="zh-CN" dirty="0" smtClean="0"/>
              </a:p>
              <a:p>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41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4879230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下面详细介绍算法的具体细节。</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smtClean="0"/>
                  <a:t>1.</a:t>
                </a:r>
                <a:r>
                  <a:rPr lang="zh-CN" altLang="en-US" dirty="0" smtClean="0"/>
                  <a:t>基于全卷积网络的一阶段检测算法</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令</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𝑖</m:t>
                        </m:r>
                      </m:sub>
                    </m:sSub>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𝐻</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𝑊</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sup>
                    </m:sSup>
                  </m:oMath>
                </a14:m>
                <a:r>
                  <a:rPr lang="zh-CN" altLang="en-US" dirty="0" smtClean="0"/>
                  <a:t>表示网络骨架第</a:t>
                </a:r>
                <a14:m>
                  <m:oMath xmlns:m="http://schemas.openxmlformats.org/officeDocument/2006/math">
                    <m:r>
                      <a:rPr lang="en-US" altLang="zh-CN" i="1">
                        <a:latin typeface="Cambria Math" panose="02040503050406030204" pitchFamily="18" charset="0"/>
                      </a:rPr>
                      <m:t>𝑖</m:t>
                    </m:r>
                  </m:oMath>
                </a14:m>
                <a:r>
                  <a:rPr lang="zh-CN" altLang="en-US" dirty="0" smtClean="0"/>
                  <a:t>层输出的特征图，</a:t>
                </a:r>
                <a14:m>
                  <m:oMath xmlns:m="http://schemas.openxmlformats.org/officeDocument/2006/math">
                    <m:r>
                      <a:rPr lang="en-US" altLang="zh-CN" b="0" i="1" smtClean="0">
                        <a:latin typeface="Cambria Math" panose="02040503050406030204" pitchFamily="18" charset="0"/>
                      </a:rPr>
                      <m:t>𝑠</m:t>
                    </m:r>
                  </m:oMath>
                </a14:m>
                <a:r>
                  <a:rPr lang="zh-CN" altLang="en-US" dirty="0" smtClean="0"/>
                  <a:t>表示该层相对于原始图像的采样间隔</a:t>
                </a:r>
                <a:r>
                  <a:rPr lang="en-US" altLang="zh-CN" dirty="0" smtClean="0"/>
                  <a:t>(stride)</a:t>
                </a:r>
                <a:r>
                  <a:rPr lang="zh-CN" altLang="en-US" dirty="0" smtClean="0"/>
                  <a:t>。图像中的真值框用</a:t>
                </a:r>
                <a14:m>
                  <m:oMath xmlns:m="http://schemas.openxmlformats.org/officeDocument/2006/math">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sub>
                        </m:sSub>
                      </m:e>
                    </m:d>
                  </m:oMath>
                </a14:m>
                <a:r>
                  <a:rPr lang="zh-CN" altLang="en-US" dirty="0" smtClean="0"/>
                  <a:t>表示，其中</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𝑖</m:t>
                            </m:r>
                          </m:sup>
                        </m:sSubSup>
                        <m:r>
                          <a:rPr lang="en-US" altLang="zh-CN" b="0" i="1" smtClean="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𝑦</m:t>
                            </m:r>
                          </m:e>
                          <m:sub>
                            <m:r>
                              <a:rPr lang="en-US" altLang="zh-CN" i="1">
                                <a:latin typeface="Cambria Math" panose="02040503050406030204" pitchFamily="18" charset="0"/>
                              </a:rPr>
                              <m:t>0</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𝑐</m:t>
                            </m:r>
                          </m:e>
                          <m:sup>
                            <m:r>
                              <a:rPr lang="en-US" altLang="zh-CN" b="0" i="1" smtClean="0">
                                <a:latin typeface="Cambria Math" panose="02040503050406030204" pitchFamily="18" charset="0"/>
                              </a:rPr>
                              <m:t>𝑖</m:t>
                            </m:r>
                          </m:sup>
                        </m:sSup>
                      </m:e>
                    </m:d>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4</m:t>
                        </m:r>
                      </m:sup>
                    </m:sSup>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1,2,⋯,</m:t>
                        </m:r>
                        <m:r>
                          <a:rPr lang="en-US" altLang="zh-CN" b="0" i="1" smtClean="0">
                            <a:latin typeface="Cambria Math" panose="02040503050406030204" pitchFamily="18" charset="0"/>
                            <a:ea typeface="Cambria Math" panose="02040503050406030204" pitchFamily="18" charset="0"/>
                          </a:rPr>
                          <m:t>𝐶</m:t>
                        </m:r>
                      </m:e>
                    </m:d>
                  </m:oMath>
                </a14:m>
                <a:r>
                  <a:rPr lang="en-US" altLang="zh-CN" dirty="0" smtClean="0"/>
                  <a:t>, </a:t>
                </a:r>
                <a14:m>
                  <m:oMath xmlns:m="http://schemas.openxmlformats.org/officeDocument/2006/math">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m:t>
                        </m:r>
                        <m:r>
                          <a:rPr lang="en-US" altLang="zh-CN" i="1">
                            <a:latin typeface="Cambria Math" panose="02040503050406030204" pitchFamily="18" charset="0"/>
                          </a:rPr>
                          <m:t>𝑥</m:t>
                        </m:r>
                      </m:e>
                      <m:sub>
                        <m:r>
                          <a:rPr lang="en-US" altLang="zh-CN" i="1">
                            <a:latin typeface="Cambria Math" panose="02040503050406030204" pitchFamily="18" charset="0"/>
                          </a:rPr>
                          <m:t>0</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𝑦</m:t>
                        </m:r>
                      </m:e>
                      <m:sub>
                        <m:r>
                          <a:rPr lang="en-US" altLang="zh-CN" i="1">
                            <a:latin typeface="Cambria Math" panose="02040503050406030204" pitchFamily="18" charset="0"/>
                          </a:rPr>
                          <m:t>0</m:t>
                        </m:r>
                      </m:sub>
                      <m:sup>
                        <m:r>
                          <a:rPr lang="en-US" altLang="zh-CN" i="1">
                            <a:latin typeface="Cambria Math" panose="02040503050406030204" pitchFamily="18" charset="0"/>
                          </a:rPr>
                          <m:t>𝑖</m:t>
                        </m:r>
                      </m:sup>
                    </m:sSubSup>
                    <m:r>
                      <a:rPr lang="en-US" altLang="zh-CN" b="0" i="1" smtClean="0">
                        <a:latin typeface="Cambria Math" panose="02040503050406030204" pitchFamily="18" charset="0"/>
                      </a:rPr>
                      <m:t>)</m:t>
                    </m:r>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m:t>
                        </m:r>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𝑦</m:t>
                        </m:r>
                      </m:e>
                      <m:sub>
                        <m:r>
                          <a:rPr lang="en-US" altLang="zh-CN" i="1">
                            <a:latin typeface="Cambria Math" panose="02040503050406030204" pitchFamily="18" charset="0"/>
                          </a:rPr>
                          <m:t>1</m:t>
                        </m:r>
                      </m:sub>
                      <m:sup>
                        <m:r>
                          <a:rPr lang="en-US" altLang="zh-CN" i="1">
                            <a:latin typeface="Cambria Math" panose="02040503050406030204" pitchFamily="18" charset="0"/>
                          </a:rPr>
                          <m:t>𝑖</m:t>
                        </m:r>
                      </m:sup>
                    </m:sSubSup>
                    <m:r>
                      <a:rPr lang="en-US" altLang="zh-CN" b="0" i="1" smtClean="0">
                        <a:latin typeface="Cambria Math" panose="02040503050406030204" pitchFamily="18" charset="0"/>
                      </a:rPr>
                      <m:t>)</m:t>
                    </m:r>
                  </m:oMath>
                </a14:m>
                <a:r>
                  <a:rPr lang="zh-CN" altLang="en-US" dirty="0" smtClean="0"/>
                  <a:t>分别表示框左上角与右下角坐标，</a:t>
                </a:r>
                <a14:m>
                  <m:oMath xmlns:m="http://schemas.openxmlformats.org/officeDocument/2006/math">
                    <m:sSup>
                      <m:sSupPr>
                        <m:ctrlPr>
                          <a:rPr lang="en-US" altLang="zh-CN" i="1" smtClean="0">
                            <a:latin typeface="Cambria Math" panose="02040503050406030204" pitchFamily="18" charset="0"/>
                          </a:rPr>
                        </m:ctrlPr>
                      </m:sSupPr>
                      <m:e>
                        <m:r>
                          <a:rPr lang="en-US" altLang="zh-CN" i="1">
                            <a:latin typeface="Cambria Math" panose="02040503050406030204" pitchFamily="18" charset="0"/>
                          </a:rPr>
                          <m:t>𝑐</m:t>
                        </m:r>
                      </m:e>
                      <m:sup>
                        <m:r>
                          <a:rPr lang="en-US" altLang="zh-CN" i="1">
                            <a:latin typeface="Cambria Math" panose="02040503050406030204" pitchFamily="18" charset="0"/>
                          </a:rPr>
                          <m:t>𝑖</m:t>
                        </m:r>
                      </m:sup>
                    </m:sSup>
                  </m:oMath>
                </a14:m>
                <a:r>
                  <a:rPr lang="zh-CN" altLang="en-US" dirty="0" smtClean="0"/>
                  <a:t>表示框归属的类别，</a:t>
                </a:r>
                <a14:m>
                  <m:oMath xmlns:m="http://schemas.openxmlformats.org/officeDocument/2006/math">
                    <m:r>
                      <a:rPr lang="en-US" altLang="zh-CN" i="1" smtClean="0">
                        <a:latin typeface="Cambria Math" panose="02040503050406030204" pitchFamily="18" charset="0"/>
                        <a:ea typeface="Cambria Math" panose="02040503050406030204" pitchFamily="18" charset="0"/>
                      </a:rPr>
                      <m:t>𝐶</m:t>
                    </m:r>
                  </m:oMath>
                </a14:m>
                <a:r>
                  <a:rPr lang="zh-CN" altLang="en-US" dirty="0" smtClean="0"/>
                  <a:t>表示类别数量，比如对于</a:t>
                </a:r>
                <a:r>
                  <a:rPr lang="en-US" altLang="zh-CN" dirty="0" smtClean="0"/>
                  <a:t>COCO</a:t>
                </a:r>
                <a:r>
                  <a:rPr lang="zh-CN" altLang="en-US" dirty="0" smtClean="0"/>
                  <a:t>数据集，</a:t>
                </a:r>
                <a:r>
                  <a:rPr lang="en-US" altLang="zh-CN" dirty="0" smtClean="0"/>
                  <a:t>C</a:t>
                </a:r>
                <a:r>
                  <a:rPr lang="zh-CN" altLang="en-US" dirty="0" smtClean="0"/>
                  <a:t>的取值为</a:t>
                </a:r>
                <a:r>
                  <a:rPr lang="en-US" altLang="zh-CN" dirty="0" smtClean="0"/>
                  <a:t>80</a:t>
                </a:r>
                <a:r>
                  <a:rPr lang="zh-CN" altLang="en-US" dirty="0" smtClean="0"/>
                  <a:t>。</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对于特征图</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𝑖</m:t>
                        </m:r>
                      </m:sub>
                    </m:sSub>
                  </m:oMath>
                </a14:m>
                <a:r>
                  <a:rPr lang="zh-CN" altLang="en-US" dirty="0" smtClean="0"/>
                  <a:t>上的一点</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en-US" altLang="zh-CN" dirty="0" smtClean="0"/>
                  <a:t>,</a:t>
                </a:r>
                <a:r>
                  <a:rPr lang="zh-CN" altLang="en-US" dirty="0" smtClean="0"/>
                  <a:t>可以将其投影到输入图像的原始像素</a:t>
                </a:r>
                <a14:m>
                  <m:oMath xmlns:m="http://schemas.openxmlformats.org/officeDocument/2006/math">
                    <m:d>
                      <m:dPr>
                        <m:ctrlPr>
                          <a:rPr lang="en-US" altLang="zh-CN" i="1" smtClean="0">
                            <a:latin typeface="Cambria Math" panose="02040503050406030204" pitchFamily="18" charset="0"/>
                          </a:rPr>
                        </m:ctrlPr>
                      </m:dPr>
                      <m:e>
                        <m:d>
                          <m:dPr>
                            <m:begChr m:val="⌊"/>
                            <m:endChr m:val="⌋"/>
                            <m:ctrlPr>
                              <a:rPr lang="en-US" altLang="zh-CN" i="1" smtClean="0">
                                <a:latin typeface="Cambria Math" panose="02040503050406030204" pitchFamily="18" charset="0"/>
                              </a:rPr>
                            </m:ctrlPr>
                          </m:dPr>
                          <m:e>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𝑠</m:t>
                                </m:r>
                              </m:num>
                              <m:den>
                                <m:r>
                                  <a:rPr lang="en-US" altLang="zh-CN" b="0" i="1" smtClean="0">
                                    <a:latin typeface="Cambria Math" panose="02040503050406030204" pitchFamily="18" charset="0"/>
                                  </a:rPr>
                                  <m:t>2</m:t>
                                </m:r>
                              </m:den>
                            </m:f>
                          </m:e>
                        </m:d>
                        <m:r>
                          <a:rPr lang="en-US" altLang="zh-CN" b="0" i="1" smtClean="0">
                            <a:latin typeface="Cambria Math" panose="02040503050406030204" pitchFamily="18" charset="0"/>
                          </a:rPr>
                          <m:t>+</m:t>
                        </m:r>
                        <m:r>
                          <a:rPr lang="en-US" altLang="zh-CN" b="0" i="1" smtClean="0">
                            <a:latin typeface="Cambria Math" panose="02040503050406030204" pitchFamily="18" charset="0"/>
                          </a:rPr>
                          <m:t>𝑥𝑠</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𝑠</m:t>
                                </m:r>
                              </m:num>
                              <m:den>
                                <m:r>
                                  <a:rPr lang="en-US" altLang="zh-CN" b="0" i="1" smtClean="0">
                                    <a:latin typeface="Cambria Math" panose="02040503050406030204" pitchFamily="18" charset="0"/>
                                  </a:rPr>
                                  <m:t>2</m:t>
                                </m:r>
                              </m:den>
                            </m:f>
                          </m:e>
                        </m:d>
                        <m:r>
                          <a:rPr lang="en-US" altLang="zh-CN" b="0" i="1" smtClean="0">
                            <a:latin typeface="Cambria Math" panose="02040503050406030204" pitchFamily="18" charset="0"/>
                          </a:rPr>
                          <m:t>+</m:t>
                        </m:r>
                        <m:r>
                          <a:rPr lang="en-US" altLang="zh-CN" b="0" i="1" smtClean="0">
                            <a:latin typeface="Cambria Math" panose="02040503050406030204" pitchFamily="18" charset="0"/>
                          </a:rPr>
                          <m:t>𝑦𝑠</m:t>
                        </m:r>
                      </m:e>
                    </m:d>
                  </m:oMath>
                </a14:m>
                <a:r>
                  <a:rPr lang="zh-CN" altLang="en-US" dirty="0" smtClean="0"/>
                  <a:t>上</a:t>
                </a:r>
                <a14:m>
                  <m:oMath xmlns:m="http://schemas.openxmlformats.org/officeDocument/2006/math">
                    <m:r>
                      <a:rPr lang="zh-CN" altLang="en-US" i="1" dirty="0" smtClean="0">
                        <a:latin typeface="Cambria Math" panose="02040503050406030204" pitchFamily="18" charset="0"/>
                      </a:rPr>
                      <m:t>（注：</m:t>
                    </m:r>
                    <m:d>
                      <m:dPr>
                        <m:begChr m:val="⌊"/>
                        <m:endChr m:val="⌋"/>
                        <m:ctrlPr>
                          <a:rPr lang="en-US" altLang="zh-CN" i="1" smtClean="0">
                            <a:latin typeface="Cambria Math" panose="02040503050406030204" pitchFamily="18" charset="0"/>
                          </a:rPr>
                        </m:ctrlPr>
                      </m:dPr>
                      <m:e/>
                    </m:d>
                    <m:r>
                      <a:rPr lang="zh-CN" altLang="en-US" b="0" i="1" smtClean="0">
                        <a:latin typeface="Cambria Math" panose="02040503050406030204" pitchFamily="18" charset="0"/>
                      </a:rPr>
                      <m:t>表示</m:t>
                    </m:r>
                  </m:oMath>
                </a14:m>
                <a:r>
                  <a:rPr lang="zh-CN" altLang="en-US" dirty="0" smtClean="0"/>
                  <a:t>向下取整），这个投影位置记为</a:t>
                </a:r>
                <a14:m>
                  <m:oMath xmlns:m="http://schemas.openxmlformats.org/officeDocument/2006/math">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e>
                    </m:d>
                  </m:oMath>
                </a14:m>
                <a:r>
                  <a:rPr lang="zh-CN" altLang="en-US" dirty="0" smtClean="0"/>
                  <a:t>，临近</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感受野的中心。与基于锚的方法需要回归锚与真值之间的位置偏移和尺度缩放的方法不同，</a:t>
                </a:r>
                <a:r>
                  <a:rPr lang="en-US" altLang="zh-CN" dirty="0" smtClean="0"/>
                  <a:t>FCOS</a:t>
                </a:r>
                <a:r>
                  <a:rPr lang="zh-CN" altLang="en-US" dirty="0" smtClean="0"/>
                  <a:t>直接回归</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在原始图像上的投影</a:t>
                </a:r>
                <a14:m>
                  <m:oMath xmlns:m="http://schemas.openxmlformats.org/officeDocument/2006/math">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e>
                    </m:d>
                  </m:oMath>
                </a14:m>
                <a:r>
                  <a:rPr lang="zh-CN" altLang="en-US" dirty="0" smtClean="0"/>
                  <a:t>到真值左、右、上、下</a:t>
                </a:r>
                <a:r>
                  <a:rPr lang="en-US" altLang="zh-CN" dirty="0" smtClean="0"/>
                  <a:t>4</a:t>
                </a:r>
                <a:r>
                  <a:rPr lang="zh-CN" altLang="en-US" dirty="0" smtClean="0"/>
                  <a:t>个边缘的距离，也就是说</a:t>
                </a:r>
                <a14:m>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𝑖</m:t>
                        </m:r>
                      </m:sub>
                    </m:sSub>
                  </m:oMath>
                </a14:m>
                <a:r>
                  <a:rPr lang="zh-CN" altLang="en-US" dirty="0" smtClean="0"/>
                  <a:t>上的每个位置</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，都是</a:t>
                </a:r>
                <a:r>
                  <a:rPr lang="en-US" altLang="zh-CN" dirty="0" smtClean="0"/>
                  <a:t>FCOS</a:t>
                </a:r>
                <a:r>
                  <a:rPr lang="zh-CN" altLang="en-US" dirty="0" smtClean="0"/>
                  <a:t>的训练样本。更具体地说，如果</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的投影</a:t>
                </a:r>
                <a14:m>
                  <m:oMath xmlns:m="http://schemas.openxmlformats.org/officeDocument/2006/math">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e>
                    </m:d>
                  </m:oMath>
                </a14:m>
                <a:r>
                  <a:rPr lang="zh-CN" altLang="en-US" dirty="0" smtClean="0"/>
                  <a:t>落在某个真值框之内，</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就被视为一个正样本，这个真值框包围的目标的类别</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𝑐</m:t>
                        </m:r>
                      </m:e>
                      <m:sup>
                        <m:r>
                          <a:rPr lang="en-US" altLang="zh-CN" b="0" i="1" smtClean="0">
                            <a:latin typeface="Cambria Math" panose="02040503050406030204" pitchFamily="18" charset="0"/>
                          </a:rPr>
                          <m:t>∗</m:t>
                        </m:r>
                      </m:sup>
                    </m:sSup>
                  </m:oMath>
                </a14:m>
                <a:r>
                  <a:rPr lang="zh-CN" altLang="en-US" dirty="0" smtClean="0"/>
                  <a:t>就是</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所属的类别；如果</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的投影</a:t>
                </a:r>
                <a14:m>
                  <m:oMath xmlns:m="http://schemas.openxmlformats.org/officeDocument/2006/math">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e>
                    </m:d>
                  </m:oMath>
                </a14:m>
                <a:r>
                  <a:rPr lang="zh-CN" altLang="en-US" dirty="0" smtClean="0"/>
                  <a:t>落在多个彼此覆盖的真值框内，我们就选定其中最小的作为</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所属的真值框；如果</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的投影</a:t>
                </a:r>
                <a14:m>
                  <m:oMath xmlns:m="http://schemas.openxmlformats.org/officeDocument/2006/math">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e>
                    </m:d>
                    <m:r>
                      <a:rPr lang="zh-CN" altLang="en-US" b="0" i="1" smtClean="0">
                        <a:latin typeface="Cambria Math" panose="02040503050406030204" pitchFamily="18" charset="0"/>
                      </a:rPr>
                      <m:t>未</m:t>
                    </m:r>
                  </m:oMath>
                </a14:m>
                <a:r>
                  <a:rPr lang="zh-CN" altLang="en-US" dirty="0" smtClean="0"/>
                  <a:t>落在任何一个真值框内，则</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未负样本，其所属类别为背景类，即</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𝑐</m:t>
                        </m:r>
                      </m:e>
                      <m:sup>
                        <m:r>
                          <a:rPr lang="en-US" altLang="zh-CN" b="0" i="1" smtClean="0">
                            <a:latin typeface="Cambria Math" panose="02040503050406030204" pitchFamily="18" charset="0"/>
                          </a:rPr>
                          <m:t>∗</m:t>
                        </m:r>
                      </m:sup>
                    </m:sSup>
                    <m:r>
                      <a:rPr lang="en-US" altLang="zh-CN" b="0" i="0" smtClean="0">
                        <a:latin typeface="Cambria Math" panose="02040503050406030204" pitchFamily="18" charset="0"/>
                      </a:rPr>
                      <m:t>=0</m:t>
                    </m:r>
                  </m:oMath>
                </a14:m>
                <a:r>
                  <a:rPr lang="zh-CN" altLang="en-US" dirty="0" smtClean="0"/>
                  <a:t>。对于一个正样本，除了要回归类别标签，还需要回归一个</a:t>
                </a:r>
                <a:r>
                  <a:rPr lang="en-US" altLang="zh-CN" dirty="0" smtClean="0"/>
                  <a:t>4</a:t>
                </a:r>
                <a:r>
                  <a:rPr lang="zh-CN" altLang="en-US" dirty="0" smtClean="0"/>
                  <a:t>维的向量，用于定位</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投影点</a:t>
                </a:r>
                <a14:m>
                  <m:oMath xmlns:m="http://schemas.openxmlformats.org/officeDocument/2006/math">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e>
                    </m:d>
                  </m:oMath>
                </a14:m>
                <a:r>
                  <a:rPr lang="zh-CN" altLang="en-US" dirty="0" smtClean="0"/>
                  <a:t>对应的目标框。记这个</a:t>
                </a:r>
                <a:r>
                  <a:rPr lang="en-US" altLang="zh-CN" dirty="0" smtClean="0"/>
                  <a:t>4</a:t>
                </a:r>
                <a:r>
                  <a:rPr lang="zh-CN" altLang="en-US" dirty="0" smtClean="0"/>
                  <a:t>维向量</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𝑇</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𝑙</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𝑟</m:t>
                            </m:r>
                          </m:e>
                          <m:sup>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𝑏</m:t>
                            </m:r>
                          </m:e>
                          <m:sup>
                            <m:r>
                              <a:rPr lang="en-US" altLang="zh-CN" i="1">
                                <a:latin typeface="Cambria Math" panose="02040503050406030204" pitchFamily="18" charset="0"/>
                              </a:rPr>
                              <m:t>∗</m:t>
                            </m:r>
                          </m:sup>
                        </m:sSup>
                      </m:e>
                    </m:d>
                  </m:oMath>
                </a14:m>
                <a:r>
                  <a:rPr lang="zh-CN" altLang="en-US" dirty="0" smtClean="0"/>
                  <a:t>，分别表示</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的投影</a:t>
                </a:r>
                <a14:m>
                  <m:oMath xmlns:m="http://schemas.openxmlformats.org/officeDocument/2006/math">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e>
                    </m:d>
                  </m:oMath>
                </a14:m>
                <a:r>
                  <a:rPr lang="zh-CN" altLang="en-US" dirty="0" smtClean="0"/>
                  <a:t>点到目标框左右上下</a:t>
                </a:r>
                <a:r>
                  <a:rPr lang="en-US" altLang="zh-CN" dirty="0" smtClean="0"/>
                  <a:t>4</a:t>
                </a:r>
                <a:r>
                  <a:rPr lang="zh-CN" altLang="en-US" dirty="0" smtClean="0"/>
                  <a:t>个边缘的距离。很显然，通过这样的方式，避免了锚一系列计算</a:t>
                </a:r>
                <a:r>
                  <a:rPr lang="en-US" altLang="zh-CN" dirty="0" err="1" smtClean="0"/>
                  <a:t>IoU</a:t>
                </a:r>
                <a:r>
                  <a:rPr lang="zh-CN" altLang="en-US" baseline="0" dirty="0" smtClean="0"/>
                  <a:t>的过程，明显提升了算法运行的效率。</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endParaRPr lang="en-US" altLang="zh-CN" dirty="0" smtClean="0"/>
              </a:p>
            </p:txBody>
          </p:sp>
        </mc:Choice>
        <mc:Fallback xmlns="">
          <p:sp>
            <p:nvSpPr>
              <p:cNvPr id="3" name="备注占位符 2"/>
              <p:cNvSpPr>
                <a:spLocks noGrp="1"/>
              </p:cNvSpPr>
              <p:nvPr>
                <p:ph type="body" idx="1"/>
              </p:nvPr>
            </p:nvSpPr>
            <p:spPr/>
            <p:txBody>
              <a:bodyPr/>
              <a:lstStyle/>
              <a:p>
                <a:r>
                  <a:rPr lang="zh-CN" altLang="en-US" dirty="0" smtClean="0"/>
                  <a:t>下面详细介绍算法的具体细节。</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smtClean="0"/>
                  <a:t>1.</a:t>
                </a:r>
                <a:r>
                  <a:rPr lang="zh-CN" altLang="en-US" dirty="0" smtClean="0"/>
                  <a:t>基于全卷积网络的一阶段检测算法</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令</a:t>
                </a:r>
                <a:r>
                  <a:rPr lang="en-US" altLang="zh-CN" b="0" i="0" smtClean="0">
                    <a:latin typeface="Cambria Math" panose="02040503050406030204" pitchFamily="18" charset="0"/>
                  </a:rPr>
                  <a:t>𝐹_𝑖</a:t>
                </a:r>
                <a:r>
                  <a:rPr lang="en-US" altLang="zh-CN"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𝑅^(𝐻</a:t>
                </a:r>
                <a:r>
                  <a:rPr lang="en-US" altLang="zh-CN" i="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𝑊</a:t>
                </a:r>
                <a:r>
                  <a:rPr lang="en-US" altLang="zh-CN" i="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𝐶)</a:t>
                </a:r>
                <a:r>
                  <a:rPr lang="zh-CN" altLang="en-US" dirty="0" smtClean="0"/>
                  <a:t>表示网络骨架第</a:t>
                </a:r>
                <a:r>
                  <a:rPr lang="en-US" altLang="zh-CN" i="0">
                    <a:latin typeface="Cambria Math" panose="02040503050406030204" pitchFamily="18" charset="0"/>
                  </a:rPr>
                  <a:t>𝑖</a:t>
                </a:r>
                <a:r>
                  <a:rPr lang="zh-CN" altLang="en-US" dirty="0" smtClean="0"/>
                  <a:t>层输出的特征图，</a:t>
                </a:r>
                <a:r>
                  <a:rPr lang="en-US" altLang="zh-CN" b="0" i="0" smtClean="0">
                    <a:latin typeface="Cambria Math" panose="02040503050406030204" pitchFamily="18" charset="0"/>
                  </a:rPr>
                  <a:t>𝑠</a:t>
                </a:r>
                <a:r>
                  <a:rPr lang="zh-CN" altLang="en-US" dirty="0" smtClean="0"/>
                  <a:t>表示该层相对于原始图像的采样间隔</a:t>
                </a:r>
                <a:r>
                  <a:rPr lang="en-US" altLang="zh-CN" dirty="0" smtClean="0"/>
                  <a:t>(stride)</a:t>
                </a:r>
                <a:r>
                  <a:rPr lang="zh-CN" altLang="en-US" dirty="0" smtClean="0"/>
                  <a:t>。图像中的真值框用</a:t>
                </a:r>
                <a:r>
                  <a:rPr lang="en-US" altLang="zh-CN" i="0" smtClean="0">
                    <a:latin typeface="Cambria Math" panose="02040503050406030204" pitchFamily="18" charset="0"/>
                  </a:rPr>
                  <a:t>{</a:t>
                </a:r>
                <a:r>
                  <a:rPr lang="en-US" altLang="zh-CN" b="0" i="0" smtClean="0">
                    <a:latin typeface="Cambria Math" panose="02040503050406030204" pitchFamily="18" charset="0"/>
                  </a:rPr>
                  <a:t>𝐵_𝑖 }</a:t>
                </a:r>
                <a:r>
                  <a:rPr lang="zh-CN" altLang="en-US" dirty="0" smtClean="0"/>
                  <a:t>表示，其中</a:t>
                </a:r>
                <a:r>
                  <a:rPr lang="en-US" altLang="zh-CN" b="0" i="0" smtClean="0">
                    <a:latin typeface="Cambria Math" panose="02040503050406030204" pitchFamily="18" charset="0"/>
                  </a:rPr>
                  <a:t>𝐵_𝑖=(𝑥_0^𝑖,𝑦</a:t>
                </a:r>
                <a:r>
                  <a:rPr lang="en-US" altLang="zh-CN" b="0" i="0">
                    <a:latin typeface="Cambria Math" panose="02040503050406030204" pitchFamily="18" charset="0"/>
                  </a:rPr>
                  <a:t>_</a:t>
                </a:r>
                <a:r>
                  <a:rPr lang="en-US" altLang="zh-CN" i="0">
                    <a:latin typeface="Cambria Math" panose="02040503050406030204" pitchFamily="18" charset="0"/>
                  </a:rPr>
                  <a:t>0^𝑖,𝑥_</a:t>
                </a:r>
                <a:r>
                  <a:rPr lang="en-US" altLang="zh-CN" b="0" i="0" smtClean="0">
                    <a:latin typeface="Cambria Math" panose="02040503050406030204" pitchFamily="18" charset="0"/>
                  </a:rPr>
                  <a:t>1^</a:t>
                </a:r>
                <a:r>
                  <a:rPr lang="en-US" altLang="zh-CN" i="0">
                    <a:latin typeface="Cambria Math" panose="02040503050406030204" pitchFamily="18" charset="0"/>
                  </a:rPr>
                  <a:t>𝑖,</a:t>
                </a:r>
                <a:r>
                  <a:rPr lang="en-US" altLang="zh-CN" b="0" i="0" smtClean="0">
                    <a:latin typeface="Cambria Math" panose="02040503050406030204" pitchFamily="18" charset="0"/>
                  </a:rPr>
                  <a:t>𝑦</a:t>
                </a:r>
                <a:r>
                  <a:rPr lang="en-US" altLang="zh-CN" b="0" i="0">
                    <a:latin typeface="Cambria Math" panose="02040503050406030204" pitchFamily="18" charset="0"/>
                  </a:rPr>
                  <a:t>_</a:t>
                </a:r>
                <a:r>
                  <a:rPr lang="en-US" altLang="zh-CN" b="0" i="0" smtClean="0">
                    <a:latin typeface="Cambria Math" panose="02040503050406030204" pitchFamily="18" charset="0"/>
                  </a:rPr>
                  <a:t>1^</a:t>
                </a:r>
                <a:r>
                  <a:rPr lang="en-US" altLang="zh-CN" i="0">
                    <a:latin typeface="Cambria Math" panose="02040503050406030204" pitchFamily="18" charset="0"/>
                  </a:rPr>
                  <a:t>𝑖,</a:t>
                </a:r>
                <a:r>
                  <a:rPr lang="en-US" altLang="zh-CN" b="0" i="0" smtClean="0">
                    <a:latin typeface="Cambria Math" panose="02040503050406030204" pitchFamily="18" charset="0"/>
                  </a:rPr>
                  <a:t>𝑐^𝑖 )</a:t>
                </a:r>
                <a:r>
                  <a:rPr lang="en-US" altLang="zh-CN" b="0" i="0" smtClean="0">
                    <a:latin typeface="Cambria Math" panose="02040503050406030204" pitchFamily="18" charset="0"/>
                    <a:ea typeface="Cambria Math" panose="02040503050406030204" pitchFamily="18" charset="0"/>
                  </a:rPr>
                  <a:t>∈𝑅^4×{1,2,⋯,𝐶}</a:t>
                </a:r>
                <a:r>
                  <a:rPr lang="en-US" altLang="zh-CN" dirty="0" smtClean="0"/>
                  <a:t>, </a:t>
                </a:r>
                <a:r>
                  <a:rPr lang="en-US" altLang="zh-CN" i="0">
                    <a:latin typeface="Cambria Math" panose="02040503050406030204" pitchFamily="18" charset="0"/>
                  </a:rPr>
                  <a:t>〖</a:t>
                </a:r>
                <a:r>
                  <a:rPr lang="en-US" altLang="zh-CN" b="0" i="0" smtClean="0">
                    <a:latin typeface="Cambria Math" panose="02040503050406030204" pitchFamily="18" charset="0"/>
                  </a:rPr>
                  <a:t>(</a:t>
                </a:r>
                <a:r>
                  <a:rPr lang="en-US" altLang="zh-CN" i="0">
                    <a:latin typeface="Cambria Math" panose="02040503050406030204" pitchFamily="18" charset="0"/>
                  </a:rPr>
                  <a:t>𝑥〗_0^𝑖,𝑦_0^𝑖</a:t>
                </a:r>
                <a:r>
                  <a:rPr lang="en-US" altLang="zh-CN" b="0" i="0" smtClean="0">
                    <a:latin typeface="Cambria Math" panose="02040503050406030204" pitchFamily="18" charset="0"/>
                  </a:rPr>
                  <a:t>)</a:t>
                </a:r>
                <a:r>
                  <a:rPr lang="en-US" altLang="zh-CN" i="0">
                    <a:latin typeface="Cambria Math" panose="02040503050406030204" pitchFamily="18" charset="0"/>
                  </a:rPr>
                  <a:t>,〖</a:t>
                </a:r>
                <a:r>
                  <a:rPr lang="en-US" altLang="zh-CN" b="0" i="0" smtClean="0">
                    <a:latin typeface="Cambria Math" panose="02040503050406030204" pitchFamily="18" charset="0"/>
                  </a:rPr>
                  <a:t>(</a:t>
                </a:r>
                <a:r>
                  <a:rPr lang="en-US" altLang="zh-CN" i="0">
                    <a:latin typeface="Cambria Math" panose="02040503050406030204" pitchFamily="18" charset="0"/>
                  </a:rPr>
                  <a:t>𝑥〗_1^𝑖,𝑦_1^𝑖</a:t>
                </a:r>
                <a:r>
                  <a:rPr lang="en-US" altLang="zh-CN" b="0" i="0" smtClean="0">
                    <a:latin typeface="Cambria Math" panose="02040503050406030204" pitchFamily="18" charset="0"/>
                  </a:rPr>
                  <a:t>)</a:t>
                </a:r>
                <a:r>
                  <a:rPr lang="zh-CN" altLang="en-US" dirty="0" smtClean="0"/>
                  <a:t>分别表示框左上角与右下角坐标，</a:t>
                </a:r>
                <a:r>
                  <a:rPr lang="en-US" altLang="zh-CN" i="0">
                    <a:latin typeface="Cambria Math" panose="02040503050406030204" pitchFamily="18" charset="0"/>
                  </a:rPr>
                  <a:t>𝑐</a:t>
                </a:r>
                <a:r>
                  <a:rPr lang="en-US" altLang="zh-CN" i="0" smtClean="0">
                    <a:latin typeface="Cambria Math" panose="02040503050406030204" pitchFamily="18" charset="0"/>
                  </a:rPr>
                  <a:t>^</a:t>
                </a:r>
                <a:r>
                  <a:rPr lang="en-US" altLang="zh-CN" i="0">
                    <a:latin typeface="Cambria Math" panose="02040503050406030204" pitchFamily="18" charset="0"/>
                  </a:rPr>
                  <a:t>𝑖</a:t>
                </a:r>
                <a:r>
                  <a:rPr lang="zh-CN" altLang="en-US" dirty="0" smtClean="0"/>
                  <a:t>表示框归属的类别，</a:t>
                </a:r>
                <a:r>
                  <a:rPr lang="en-US" altLang="zh-CN" i="0" smtClean="0">
                    <a:latin typeface="Cambria Math" panose="02040503050406030204" pitchFamily="18" charset="0"/>
                    <a:ea typeface="Cambria Math" panose="02040503050406030204" pitchFamily="18" charset="0"/>
                  </a:rPr>
                  <a:t>𝐶</a:t>
                </a:r>
                <a:r>
                  <a:rPr lang="zh-CN" altLang="en-US" dirty="0" smtClean="0"/>
                  <a:t>表示类别数量，比如对于</a:t>
                </a:r>
                <a:r>
                  <a:rPr lang="en-US" altLang="zh-CN" dirty="0" smtClean="0"/>
                  <a:t>COCO</a:t>
                </a:r>
                <a:r>
                  <a:rPr lang="zh-CN" altLang="en-US" dirty="0" smtClean="0"/>
                  <a:t>数据集，</a:t>
                </a:r>
                <a:r>
                  <a:rPr lang="en-US" altLang="zh-CN" dirty="0" smtClean="0"/>
                  <a:t>C</a:t>
                </a:r>
                <a:r>
                  <a:rPr lang="zh-CN" altLang="en-US" dirty="0" smtClean="0"/>
                  <a:t>的取值为</a:t>
                </a:r>
                <a:r>
                  <a:rPr lang="en-US" altLang="zh-CN" dirty="0" smtClean="0"/>
                  <a:t>80</a:t>
                </a:r>
                <a:r>
                  <a:rPr lang="zh-CN" altLang="en-US" dirty="0" smtClean="0"/>
                  <a:t>。</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对于特征图</a:t>
                </a:r>
                <a:r>
                  <a:rPr lang="en-US" altLang="zh-CN" b="0" i="0" smtClean="0">
                    <a:latin typeface="Cambria Math" panose="02040503050406030204" pitchFamily="18" charset="0"/>
                  </a:rPr>
                  <a:t>𝐹_𝑖</a:t>
                </a:r>
                <a:r>
                  <a:rPr lang="zh-CN" altLang="en-US" dirty="0" smtClean="0"/>
                  <a:t>上的一点</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en-US" altLang="zh-CN" dirty="0" smtClean="0"/>
                  <a:t>,</a:t>
                </a:r>
                <a:r>
                  <a:rPr lang="zh-CN" altLang="en-US" dirty="0" smtClean="0"/>
                  <a:t>可以将其投影到输入图像的原始像素</a:t>
                </a:r>
                <a:r>
                  <a:rPr lang="en-US" altLang="zh-CN" i="0" smtClean="0">
                    <a:latin typeface="Cambria Math" panose="02040503050406030204" pitchFamily="18" charset="0"/>
                  </a:rPr>
                  <a:t>(⌊</a:t>
                </a:r>
                <a:r>
                  <a:rPr lang="en-US" altLang="zh-CN" b="0" i="0" smtClean="0">
                    <a:latin typeface="Cambria Math" panose="02040503050406030204" pitchFamily="18" charset="0"/>
                  </a:rPr>
                  <a:t>𝑠/2⌋+𝑥𝑠,⌊𝑠/2⌋+𝑦𝑠)</a:t>
                </a:r>
                <a:r>
                  <a:rPr lang="zh-CN" altLang="en-US" dirty="0" smtClean="0"/>
                  <a:t>上</a:t>
                </a:r>
                <a:r>
                  <a:rPr lang="zh-CN" altLang="en-US" i="0" dirty="0" smtClean="0">
                    <a:latin typeface="Cambria Math" panose="02040503050406030204" pitchFamily="18" charset="0"/>
                  </a:rPr>
                  <a:t>（注：</a:t>
                </a:r>
                <a:r>
                  <a:rPr lang="en-US" altLang="zh-CN" i="0" smtClean="0">
                    <a:latin typeface="Cambria Math" panose="02040503050406030204" pitchFamily="18" charset="0"/>
                  </a:rPr>
                  <a:t>⌊┤⌋</a:t>
                </a:r>
                <a:r>
                  <a:rPr lang="zh-CN" altLang="en-US" b="0" i="0" smtClean="0">
                    <a:latin typeface="Cambria Math" panose="02040503050406030204" pitchFamily="18" charset="0"/>
                  </a:rPr>
                  <a:t>表示</a:t>
                </a:r>
                <a:r>
                  <a:rPr lang="zh-CN" altLang="en-US" dirty="0" smtClean="0"/>
                  <a:t>向下取整），这个投影位置记为</a:t>
                </a:r>
                <a:r>
                  <a:rPr lang="en-US" altLang="zh-CN" i="0" smtClean="0">
                    <a:latin typeface="Cambria Math" panose="02040503050406030204" pitchFamily="18" charset="0"/>
                  </a:rPr>
                  <a:t>(</a:t>
                </a:r>
                <a:r>
                  <a:rPr lang="en-US" altLang="zh-CN" b="0" i="0" smtClean="0">
                    <a:latin typeface="Cambria Math" panose="02040503050406030204" pitchFamily="18" charset="0"/>
                  </a:rPr>
                  <a:t>𝑥_𝑝,𝑦_𝑝 )</a:t>
                </a:r>
                <a:r>
                  <a:rPr lang="zh-CN" altLang="en-US" dirty="0" smtClean="0"/>
                  <a:t>，临近</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感受野的中心。与基于锚的方法需要回归锚与真值之间的位置偏移和尺度缩放的方法不同，</a:t>
                </a:r>
                <a:r>
                  <a:rPr lang="en-US" altLang="zh-CN" dirty="0" smtClean="0"/>
                  <a:t>FCOS</a:t>
                </a:r>
                <a:r>
                  <a:rPr lang="zh-CN" altLang="en-US" dirty="0" smtClean="0"/>
                  <a:t>直接回归</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在原始图像上的投影</a:t>
                </a:r>
                <a:r>
                  <a:rPr lang="en-US" altLang="zh-CN" i="0" smtClean="0">
                    <a:latin typeface="Cambria Math" panose="02040503050406030204" pitchFamily="18" charset="0"/>
                  </a:rPr>
                  <a:t>(</a:t>
                </a:r>
                <a:r>
                  <a:rPr lang="en-US" altLang="zh-CN" b="0" i="0" smtClean="0">
                    <a:latin typeface="Cambria Math" panose="02040503050406030204" pitchFamily="18" charset="0"/>
                  </a:rPr>
                  <a:t>𝑥_𝑝,𝑦_𝑝 )</a:t>
                </a:r>
                <a:r>
                  <a:rPr lang="zh-CN" altLang="en-US" dirty="0" smtClean="0"/>
                  <a:t>到真值左、右、上、下</a:t>
                </a:r>
                <a:r>
                  <a:rPr lang="en-US" altLang="zh-CN" dirty="0" smtClean="0"/>
                  <a:t>4</a:t>
                </a:r>
                <a:r>
                  <a:rPr lang="zh-CN" altLang="en-US" dirty="0" smtClean="0"/>
                  <a:t>个边缘的距离，也就是说</a:t>
                </a:r>
                <a:r>
                  <a:rPr lang="en-US" altLang="zh-CN" i="0">
                    <a:latin typeface="Cambria Math" panose="02040503050406030204" pitchFamily="18" charset="0"/>
                  </a:rPr>
                  <a:t>𝐹</a:t>
                </a:r>
                <a:r>
                  <a:rPr lang="en-US" altLang="zh-CN" i="0" smtClean="0">
                    <a:latin typeface="Cambria Math" panose="02040503050406030204" pitchFamily="18" charset="0"/>
                  </a:rPr>
                  <a:t>_</a:t>
                </a:r>
                <a:r>
                  <a:rPr lang="en-US" altLang="zh-CN" i="0">
                    <a:latin typeface="Cambria Math" panose="02040503050406030204" pitchFamily="18" charset="0"/>
                  </a:rPr>
                  <a:t>𝑖</a:t>
                </a:r>
                <a:r>
                  <a:rPr lang="zh-CN" altLang="en-US" dirty="0" smtClean="0"/>
                  <a:t>上的每个位置</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，都是</a:t>
                </a:r>
                <a:r>
                  <a:rPr lang="en-US" altLang="zh-CN" dirty="0" smtClean="0"/>
                  <a:t>FCOS</a:t>
                </a:r>
                <a:r>
                  <a:rPr lang="zh-CN" altLang="en-US" dirty="0" smtClean="0"/>
                  <a:t>的训练样本。更具体地说，如果</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的投影</a:t>
                </a:r>
                <a:r>
                  <a:rPr lang="en-US" altLang="zh-CN" i="0" smtClean="0">
                    <a:latin typeface="Cambria Math" panose="02040503050406030204" pitchFamily="18" charset="0"/>
                  </a:rPr>
                  <a:t>(</a:t>
                </a:r>
                <a:r>
                  <a:rPr lang="en-US" altLang="zh-CN" b="0" i="0" smtClean="0">
                    <a:latin typeface="Cambria Math" panose="02040503050406030204" pitchFamily="18" charset="0"/>
                  </a:rPr>
                  <a:t>𝑥_𝑝,𝑦_𝑝 )</a:t>
                </a:r>
                <a:r>
                  <a:rPr lang="zh-CN" altLang="en-US" dirty="0" smtClean="0"/>
                  <a:t>落在某个真值框之内，</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就被视为一个正样本，这个真值框包围的目标的类别</a:t>
                </a:r>
                <a:r>
                  <a:rPr lang="en-US" altLang="zh-CN" b="0" i="0" smtClean="0">
                    <a:latin typeface="Cambria Math" panose="02040503050406030204" pitchFamily="18" charset="0"/>
                  </a:rPr>
                  <a:t>𝑐^∗</a:t>
                </a:r>
                <a:r>
                  <a:rPr lang="zh-CN" altLang="en-US" dirty="0" smtClean="0"/>
                  <a:t>就是</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所属的类别；如果</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的投影</a:t>
                </a:r>
                <a:r>
                  <a:rPr lang="en-US" altLang="zh-CN" i="0" smtClean="0">
                    <a:latin typeface="Cambria Math" panose="02040503050406030204" pitchFamily="18" charset="0"/>
                  </a:rPr>
                  <a:t>(</a:t>
                </a:r>
                <a:r>
                  <a:rPr lang="en-US" altLang="zh-CN" b="0" i="0" smtClean="0">
                    <a:latin typeface="Cambria Math" panose="02040503050406030204" pitchFamily="18" charset="0"/>
                  </a:rPr>
                  <a:t>𝑥_𝑝,𝑦_𝑝 )</a:t>
                </a:r>
                <a:r>
                  <a:rPr lang="zh-CN" altLang="en-US" dirty="0" smtClean="0"/>
                  <a:t>落在多个彼此覆盖的真值框内，我们就选定其中最小的作为</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所属的真值框；如果</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的投影</a:t>
                </a:r>
                <a:r>
                  <a:rPr lang="en-US" altLang="zh-CN" i="0" smtClean="0">
                    <a:latin typeface="Cambria Math" panose="02040503050406030204" pitchFamily="18" charset="0"/>
                  </a:rPr>
                  <a:t>(</a:t>
                </a:r>
                <a:r>
                  <a:rPr lang="en-US" altLang="zh-CN" b="0" i="0" smtClean="0">
                    <a:latin typeface="Cambria Math" panose="02040503050406030204" pitchFamily="18" charset="0"/>
                  </a:rPr>
                  <a:t>𝑥_𝑝,𝑦_𝑝 )</a:t>
                </a:r>
                <a:r>
                  <a:rPr lang="zh-CN" altLang="en-US" b="0" i="0" smtClean="0">
                    <a:latin typeface="Cambria Math" panose="02040503050406030204" pitchFamily="18" charset="0"/>
                  </a:rPr>
                  <a:t>未</a:t>
                </a:r>
                <a:r>
                  <a:rPr lang="zh-CN" altLang="en-US" dirty="0" smtClean="0"/>
                  <a:t>落在任何一个真值框内，则</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未负样本，其所属类别为背景类，即</a:t>
                </a:r>
                <a:r>
                  <a:rPr lang="en-US" altLang="zh-CN" b="0" i="0" smtClean="0">
                    <a:latin typeface="Cambria Math" panose="02040503050406030204" pitchFamily="18" charset="0"/>
                  </a:rPr>
                  <a:t>𝑐^∗=0</a:t>
                </a:r>
                <a:r>
                  <a:rPr lang="zh-CN" altLang="en-US" dirty="0" smtClean="0"/>
                  <a:t>。对于一个正样本，除了要回归类别标签，还需要回归一个</a:t>
                </a:r>
                <a:r>
                  <a:rPr lang="en-US" altLang="zh-CN" dirty="0" smtClean="0"/>
                  <a:t>4</a:t>
                </a:r>
                <a:r>
                  <a:rPr lang="zh-CN" altLang="en-US" dirty="0" smtClean="0"/>
                  <a:t>维的向量，用于定位</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投影点</a:t>
                </a:r>
                <a:r>
                  <a:rPr lang="en-US" altLang="zh-CN" i="0" smtClean="0">
                    <a:latin typeface="Cambria Math" panose="02040503050406030204" pitchFamily="18" charset="0"/>
                  </a:rPr>
                  <a:t>(</a:t>
                </a:r>
                <a:r>
                  <a:rPr lang="en-US" altLang="zh-CN" b="0" i="0" smtClean="0">
                    <a:latin typeface="Cambria Math" panose="02040503050406030204" pitchFamily="18" charset="0"/>
                  </a:rPr>
                  <a:t>𝑥_𝑝,𝑦_𝑝 )</a:t>
                </a:r>
                <a:r>
                  <a:rPr lang="zh-CN" altLang="en-US" dirty="0" smtClean="0"/>
                  <a:t>对应的目标框。记这个</a:t>
                </a:r>
                <a:r>
                  <a:rPr lang="en-US" altLang="zh-CN" dirty="0" smtClean="0"/>
                  <a:t>4</a:t>
                </a:r>
                <a:r>
                  <a:rPr lang="zh-CN" altLang="en-US" dirty="0" smtClean="0"/>
                  <a:t>维向量</a:t>
                </a:r>
                <a:r>
                  <a:rPr lang="en-US" altLang="zh-CN" b="0" i="0" smtClean="0">
                    <a:latin typeface="Cambria Math" panose="02040503050406030204" pitchFamily="18" charset="0"/>
                  </a:rPr>
                  <a:t>𝑇^∗=(𝑙^∗,𝑟</a:t>
                </a:r>
                <a:r>
                  <a:rPr lang="en-US" altLang="zh-CN" b="0" i="0">
                    <a:latin typeface="Cambria Math" panose="02040503050406030204" pitchFamily="18" charset="0"/>
                  </a:rPr>
                  <a:t>^</a:t>
                </a:r>
                <a:r>
                  <a:rPr lang="en-US" altLang="zh-CN" i="0">
                    <a:latin typeface="Cambria Math" panose="02040503050406030204" pitchFamily="18" charset="0"/>
                  </a:rPr>
                  <a:t>∗,</a:t>
                </a:r>
                <a:r>
                  <a:rPr lang="en-US" altLang="zh-CN" b="0" i="0" smtClean="0">
                    <a:latin typeface="Cambria Math" panose="02040503050406030204" pitchFamily="18" charset="0"/>
                  </a:rPr>
                  <a:t>𝑡</a:t>
                </a:r>
                <a:r>
                  <a:rPr lang="en-US" altLang="zh-CN" b="0" i="0">
                    <a:latin typeface="Cambria Math" panose="02040503050406030204" pitchFamily="18" charset="0"/>
                  </a:rPr>
                  <a:t>^</a:t>
                </a:r>
                <a:r>
                  <a:rPr lang="en-US" altLang="zh-CN" i="0">
                    <a:latin typeface="Cambria Math" panose="02040503050406030204" pitchFamily="18" charset="0"/>
                  </a:rPr>
                  <a:t>∗,</a:t>
                </a:r>
                <a:r>
                  <a:rPr lang="en-US" altLang="zh-CN" b="0" i="0" smtClean="0">
                    <a:latin typeface="Cambria Math" panose="02040503050406030204" pitchFamily="18" charset="0"/>
                  </a:rPr>
                  <a:t>𝑏</a:t>
                </a:r>
                <a:r>
                  <a:rPr lang="en-US" altLang="zh-CN" b="0" i="0">
                    <a:latin typeface="Cambria Math" panose="02040503050406030204" pitchFamily="18" charset="0"/>
                  </a:rPr>
                  <a:t>^</a:t>
                </a:r>
                <a:r>
                  <a:rPr lang="en-US" altLang="zh-CN" i="0">
                    <a:latin typeface="Cambria Math" panose="02040503050406030204" pitchFamily="18" charset="0"/>
                  </a:rPr>
                  <a:t>∗ )</a:t>
                </a:r>
                <a:r>
                  <a:rPr lang="zh-CN" altLang="en-US" dirty="0" smtClean="0"/>
                  <a:t>，分别表示</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的投影</a:t>
                </a:r>
                <a:r>
                  <a:rPr lang="en-US" altLang="zh-CN" i="0" smtClean="0">
                    <a:latin typeface="Cambria Math" panose="02040503050406030204" pitchFamily="18" charset="0"/>
                  </a:rPr>
                  <a:t>(</a:t>
                </a:r>
                <a:r>
                  <a:rPr lang="en-US" altLang="zh-CN" b="0" i="0" smtClean="0">
                    <a:latin typeface="Cambria Math" panose="02040503050406030204" pitchFamily="18" charset="0"/>
                  </a:rPr>
                  <a:t>𝑥_𝑝,𝑦_𝑝 )</a:t>
                </a:r>
                <a:r>
                  <a:rPr lang="zh-CN" altLang="en-US" dirty="0" smtClean="0"/>
                  <a:t>点到目标框左右上下</a:t>
                </a:r>
                <a:r>
                  <a:rPr lang="en-US" altLang="zh-CN" dirty="0" smtClean="0"/>
                  <a:t>4</a:t>
                </a:r>
                <a:r>
                  <a:rPr lang="zh-CN" altLang="en-US" dirty="0" smtClean="0"/>
                  <a:t>个边缘的距离。很显然，通过这样的方式，避免了锚一系列计算</a:t>
                </a:r>
                <a:r>
                  <a:rPr lang="en-US" altLang="zh-CN" dirty="0" err="1" smtClean="0"/>
                  <a:t>IoU</a:t>
                </a:r>
                <a:r>
                  <a:rPr lang="zh-CN" altLang="en-US" baseline="0" dirty="0" smtClean="0"/>
                  <a:t>的过程，明显提升了算法运行的效率。</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endParaRPr lang="en-US" altLang="zh-CN" dirty="0" smtClean="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42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7139094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基于</a:t>
                </a:r>
                <a:r>
                  <a:rPr lang="en-US" altLang="zh-CN" dirty="0" smtClean="0"/>
                  <a:t>FCOS</a:t>
                </a:r>
                <a:r>
                  <a:rPr lang="zh-CN" altLang="en-US" dirty="0" smtClean="0"/>
                  <a:t>算法的思想，网络的输出至少包含两个分支：第一个分支是用于分类的概率向量</a:t>
                </a:r>
                <a:r>
                  <a:rPr lang="en-US" altLang="zh-CN" dirty="0" smtClean="0"/>
                  <a:t>p</a:t>
                </a:r>
                <a:r>
                  <a:rPr lang="zh-CN" altLang="en-US" dirty="0" smtClean="0"/>
                  <a:t>，向量的维度等于待检测目标的类别数</a:t>
                </a:r>
                <a:r>
                  <a:rPr lang="en-US" altLang="zh-CN" dirty="0" smtClean="0"/>
                  <a:t>C</a:t>
                </a:r>
                <a:r>
                  <a:rPr lang="zh-CN" altLang="en-US" dirty="0" smtClean="0"/>
                  <a:t>，与多类别</a:t>
                </a:r>
                <a:r>
                  <a:rPr lang="en-US" altLang="zh-CN" dirty="0" err="1" smtClean="0"/>
                  <a:t>softmax</a:t>
                </a:r>
                <a:r>
                  <a:rPr lang="zh-CN" altLang="en-US" dirty="0" smtClean="0"/>
                  <a:t>分类器不同，</a:t>
                </a:r>
                <a:r>
                  <a:rPr lang="en-US" altLang="zh-CN" dirty="0" smtClean="0"/>
                  <a:t>FCOS</a:t>
                </a:r>
                <a:r>
                  <a:rPr lang="zh-CN" altLang="en-US" dirty="0" smtClean="0"/>
                  <a:t>训练了</a:t>
                </a:r>
                <a:r>
                  <a:rPr lang="en-US" altLang="zh-CN" dirty="0" smtClean="0"/>
                  <a:t>C</a:t>
                </a:r>
                <a:r>
                  <a:rPr lang="zh-CN" altLang="en-US" dirty="0" smtClean="0"/>
                  <a:t>个二分类分类器，向量</a:t>
                </a:r>
                <a:r>
                  <a:rPr lang="en-US" altLang="zh-CN" dirty="0" smtClean="0"/>
                  <a:t>p</a:t>
                </a:r>
                <a:r>
                  <a:rPr lang="zh-CN" altLang="en-US" dirty="0" smtClean="0"/>
                  <a:t>的每个分量对应一个目标类别的置信度，置信度最高的分量对应的目标类别，就是网络预测出的目标框的类型；第二个分支是用</a:t>
                </a:r>
                <a:r>
                  <a:rPr lang="en-US" altLang="zh-CN" dirty="0" smtClean="0"/>
                  <a:t>4</a:t>
                </a:r>
                <a:r>
                  <a:rPr lang="zh-CN" altLang="en-US" dirty="0" smtClean="0"/>
                  <a:t>维向量表示的目标框的位置，具体含义如前面所述，因为每个分量的含义都是点到目标框边缘的距离，其值总是大于</a:t>
                </a:r>
                <a:r>
                  <a:rPr lang="en-US" altLang="zh-CN" dirty="0" smtClean="0"/>
                  <a:t>0</a:t>
                </a:r>
                <a:r>
                  <a:rPr lang="zh-CN" altLang="en-US" dirty="0" smtClean="0"/>
                  <a:t>，所以算法实现的过程是通过指数函数</a:t>
                </a:r>
                <a:r>
                  <a:rPr lang="en-US" altLang="zh-CN" dirty="0" err="1" smtClean="0"/>
                  <a:t>exp</a:t>
                </a:r>
                <a:r>
                  <a:rPr lang="en-US" altLang="zh-CN" dirty="0" smtClean="0"/>
                  <a:t>(x)</a:t>
                </a:r>
                <a:r>
                  <a:rPr lang="zh-CN" altLang="en-US" dirty="0" smtClean="0"/>
                  <a:t>进行变换，以保证最终的取值恒为非负值。</a:t>
                </a:r>
                <a:endParaRPr lang="en-US" altLang="zh-CN" dirty="0" smtClean="0"/>
              </a:p>
              <a:p>
                <a:r>
                  <a:rPr lang="zh-CN" altLang="en-US" dirty="0" smtClean="0"/>
                  <a:t>根据</a:t>
                </a:r>
                <a:r>
                  <a:rPr lang="en-US" altLang="zh-CN" dirty="0" smtClean="0"/>
                  <a:t>FCOS</a:t>
                </a:r>
                <a:r>
                  <a:rPr lang="zh-CN" altLang="en-US" dirty="0" smtClean="0"/>
                  <a:t>网络的输出，训练的损失函数按照如下方式定义。</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公式中</a:t>
                </a:r>
                <a14:m>
                  <m:oMath xmlns:m="http://schemas.openxmlformats.org/officeDocument/2006/math">
                    <m:d>
                      <m:dPr>
                        <m:begChr m:val="{"/>
                        <m:endChr m:val="}"/>
                        <m:ctrlPr>
                          <a:rPr lang="en-US" altLang="zh-CN"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Sub>
                      </m:e>
                    </m:d>
                    <m:r>
                      <a:rPr lang="zh-CN" altLang="en-US" i="1" smtClean="0">
                        <a:latin typeface="Cambria Math" panose="02040503050406030204" pitchFamily="18" charset="0"/>
                      </a:rPr>
                      <m:t>和</m:t>
                    </m:r>
                    <m:d>
                      <m:dPr>
                        <m:begChr m:val="{"/>
                        <m:endChr m:val="}"/>
                        <m:ctrlPr>
                          <a:rPr lang="en-US" altLang="zh-CN" i="1">
                            <a:latin typeface="Cambria Math" panose="02040503050406030204" pitchFamily="18" charset="0"/>
                            <a:ea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sub>
                          <m:sup>
                            <m:r>
                              <a:rPr lang="en-US" altLang="zh-CN" i="1">
                                <a:latin typeface="Cambria Math" panose="02040503050406030204" pitchFamily="18" charset="0"/>
                                <a:ea typeface="Cambria Math" panose="02040503050406030204" pitchFamily="18" charset="0"/>
                              </a:rPr>
                              <m:t>∗</m:t>
                            </m:r>
                          </m:sup>
                        </m:sSubSup>
                      </m:e>
                    </m:d>
                  </m:oMath>
                </a14:m>
                <a:r>
                  <a:rPr lang="zh-CN" altLang="en-US" dirty="0" smtClean="0"/>
                  <a:t>分别表示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Sub>
                    <m:r>
                      <a:rPr lang="en-US" altLang="zh-CN" b="0" i="1" smtClean="0">
                        <a:latin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t>对应的矩形框。</a:t>
                </a:r>
                <a14:m>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𝑝𝑜𝑠</m:t>
                        </m:r>
                      </m:sub>
                    </m:sSub>
                  </m:oMath>
                </a14:m>
                <a:r>
                  <a:rPr lang="zh-CN" altLang="en-US" dirty="0" smtClean="0"/>
                  <a:t>表示正样本个数，</a:t>
                </a:r>
                <a14:m>
                  <m:oMath xmlns:m="http://schemas.openxmlformats.org/officeDocument/2006/math">
                    <m:r>
                      <m:rPr>
                        <m:nor/>
                      </m:rPr>
                      <a:rPr lang="el-GR" altLang="zh-CN" smtClean="0"/>
                      <m:t>λ</m:t>
                    </m:r>
                  </m:oMath>
                </a14:m>
                <a:r>
                  <a:rPr lang="zh-CN" altLang="en-US" dirty="0" smtClean="0"/>
                  <a:t>是两个损失的权重因子（通常取</a:t>
                </a:r>
                <a14:m>
                  <m:oMath xmlns:m="http://schemas.openxmlformats.org/officeDocument/2006/math">
                    <m:r>
                      <m:rPr>
                        <m:nor/>
                      </m:rPr>
                      <a:rPr lang="el-GR" altLang="zh-CN" smtClean="0"/>
                      <m:t>λ</m:t>
                    </m:r>
                  </m:oMath>
                </a14:m>
                <a:r>
                  <a:rPr lang="en-US" altLang="zh-CN" dirty="0" smtClean="0"/>
                  <a:t>=1</a:t>
                </a:r>
                <a:r>
                  <a:rPr lang="zh-CN" altLang="en-US" dirty="0" smtClean="0"/>
                  <a:t>），</a:t>
                </a:r>
                <a14:m>
                  <m:oMath xmlns:m="http://schemas.openxmlformats.org/officeDocument/2006/math">
                    <m:nary>
                      <m:naryPr>
                        <m:chr m:val="∑"/>
                        <m:subHide m:val="on"/>
                        <m:supHide m:val="on"/>
                        <m:ctrlPr>
                          <a:rPr lang="en-US" altLang="zh-CN" i="1" smtClean="0">
                            <a:latin typeface="Cambria Math" panose="02040503050406030204" pitchFamily="18" charset="0"/>
                          </a:rPr>
                        </m:ctrlPr>
                      </m:naryPr>
                      <m:sub/>
                      <m:sup/>
                      <m:e/>
                    </m:nary>
                  </m:oMath>
                </a14:m>
                <a:r>
                  <a:rPr lang="zh-CN" altLang="en-US" dirty="0" smtClean="0"/>
                  <a:t>表示对特征图</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𝑖</m:t>
                        </m:r>
                      </m:sub>
                    </m:sSub>
                  </m:oMath>
                </a14:m>
                <a:r>
                  <a:rPr lang="zh-CN" altLang="en-US" dirty="0" smtClean="0"/>
                  <a:t>上所有位置</a:t>
                </a:r>
                <a14:m>
                  <m:oMath xmlns:m="http://schemas.openxmlformats.org/officeDocument/2006/math">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oMath>
                </a14:m>
                <a:r>
                  <a:rPr lang="zh-CN" altLang="en-US" dirty="0" smtClean="0"/>
                  <a:t>求和</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d>
                          <m:dPr>
                            <m:begChr m:val="{"/>
                            <m:endChr m:val="}"/>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up>
                                <m:r>
                                  <a:rPr lang="en-US" altLang="zh-CN" i="1">
                                    <a:latin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&gt;0</m:t>
                            </m:r>
                          </m:e>
                        </m:d>
                      </m:sub>
                    </m:sSub>
                  </m:oMath>
                </a14:m>
                <a:r>
                  <a:rPr lang="zh-CN" altLang="en-US" dirty="0" smtClean="0"/>
                  <a:t>为示性函数，</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up>
                        <m:r>
                          <a:rPr lang="en-US" altLang="zh-CN" i="1">
                            <a:latin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&gt;0</m:t>
                    </m:r>
                  </m:oMath>
                </a14:m>
                <a:r>
                  <a:rPr lang="zh-CN" altLang="en-US" dirty="0" smtClean="0"/>
                  <a:t>时</a:t>
                </a:r>
                <a:r>
                  <a:rPr lang="en-US" altLang="zh-CN" dirty="0" smtClean="0"/>
                  <a:t>,</a:t>
                </a:r>
                <a:r>
                  <a:rPr lang="zh-CN" altLang="en-US" dirty="0" smtClean="0"/>
                  <a:t>即</a:t>
                </a:r>
                <a14:m>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up>
                        <m:r>
                          <a:rPr lang="en-US" altLang="zh-CN" i="1">
                            <a:latin typeface="Cambria Math" panose="02040503050406030204" pitchFamily="18" charset="0"/>
                          </a:rPr>
                          <m:t>∗</m:t>
                        </m:r>
                      </m:sup>
                    </m:sSubSup>
                  </m:oMath>
                </a14:m>
                <a:r>
                  <a:rPr lang="zh-CN" altLang="en-US" dirty="0" smtClean="0"/>
                  <a:t>为目标类别时，其值取</a:t>
                </a:r>
                <a:r>
                  <a:rPr lang="en-US" altLang="zh-CN" dirty="0" smtClean="0"/>
                  <a:t>1</a:t>
                </a:r>
                <a:r>
                  <a:rPr lang="zh-CN" altLang="en-US" dirty="0" smtClean="0"/>
                  <a:t>，否则取</a:t>
                </a:r>
                <a:r>
                  <a:rPr lang="en-US" altLang="zh-CN" dirty="0" smtClean="0"/>
                  <a:t>0</a:t>
                </a:r>
                <a:r>
                  <a:rPr lang="zh-CN" altLang="en-US" dirty="0" smtClean="0"/>
                  <a:t>。</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在推理过程中，基于上述方法，可以根据一定的阈值，直接推理出每个目标框的位置及其类别，最后使用</a:t>
                </a:r>
                <a:r>
                  <a:rPr lang="en-US" altLang="zh-CN" dirty="0" smtClean="0"/>
                  <a:t>NMS</a:t>
                </a:r>
                <a:r>
                  <a:rPr lang="zh-CN" altLang="en-US" dirty="0" smtClean="0"/>
                  <a:t>得到输出结果。</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endParaRPr lang="en-US" altLang="zh-CN" dirty="0" smtClean="0"/>
              </a:p>
              <a:p>
                <a:endParaRPr lang="en-US" altLang="zh-CN" dirty="0" smtClean="0"/>
              </a:p>
              <a:p>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基于</a:t>
                </a:r>
                <a:r>
                  <a:rPr lang="en-US" altLang="zh-CN" dirty="0" smtClean="0"/>
                  <a:t>FCOS</a:t>
                </a:r>
                <a:r>
                  <a:rPr lang="zh-CN" altLang="en-US" dirty="0" smtClean="0"/>
                  <a:t>算法的思想，网络的输出至少包含两个分支：第一个分支是用于分类的概率向量</a:t>
                </a:r>
                <a:r>
                  <a:rPr lang="en-US" altLang="zh-CN" dirty="0" smtClean="0"/>
                  <a:t>p</a:t>
                </a:r>
                <a:r>
                  <a:rPr lang="zh-CN" altLang="en-US" dirty="0" smtClean="0"/>
                  <a:t>，向量的维度等于待检测目标的类别数</a:t>
                </a:r>
                <a:r>
                  <a:rPr lang="en-US" altLang="zh-CN" dirty="0" smtClean="0"/>
                  <a:t>C</a:t>
                </a:r>
                <a:r>
                  <a:rPr lang="zh-CN" altLang="en-US" dirty="0" smtClean="0"/>
                  <a:t>，与多类别</a:t>
                </a:r>
                <a:r>
                  <a:rPr lang="en-US" altLang="zh-CN" dirty="0" err="1" smtClean="0"/>
                  <a:t>softmax</a:t>
                </a:r>
                <a:r>
                  <a:rPr lang="zh-CN" altLang="en-US" dirty="0" smtClean="0"/>
                  <a:t>分类器不同，</a:t>
                </a:r>
                <a:r>
                  <a:rPr lang="en-US" altLang="zh-CN" dirty="0" smtClean="0"/>
                  <a:t>FCOS</a:t>
                </a:r>
                <a:r>
                  <a:rPr lang="zh-CN" altLang="en-US" dirty="0" smtClean="0"/>
                  <a:t>训练了</a:t>
                </a:r>
                <a:r>
                  <a:rPr lang="en-US" altLang="zh-CN" dirty="0" smtClean="0"/>
                  <a:t>C</a:t>
                </a:r>
                <a:r>
                  <a:rPr lang="zh-CN" altLang="en-US" dirty="0" smtClean="0"/>
                  <a:t>个二分类分类器，向量</a:t>
                </a:r>
                <a:r>
                  <a:rPr lang="en-US" altLang="zh-CN" dirty="0" smtClean="0"/>
                  <a:t>p</a:t>
                </a:r>
                <a:r>
                  <a:rPr lang="zh-CN" altLang="en-US" dirty="0" smtClean="0"/>
                  <a:t>的每个分量对应一个目标类别的置信度，置信度最高的分量对应的目标类别，就是网络预测出的目标框的类型；第二个分支是用</a:t>
                </a:r>
                <a:r>
                  <a:rPr lang="en-US" altLang="zh-CN" dirty="0" smtClean="0"/>
                  <a:t>4</a:t>
                </a:r>
                <a:r>
                  <a:rPr lang="zh-CN" altLang="en-US" dirty="0" smtClean="0"/>
                  <a:t>维向量表示的目标框的位置，具体含义如前面所述，因为每个分量的含义都是点到目标框边缘的距离，其值总是大于</a:t>
                </a:r>
                <a:r>
                  <a:rPr lang="en-US" altLang="zh-CN" dirty="0" smtClean="0"/>
                  <a:t>0</a:t>
                </a:r>
                <a:r>
                  <a:rPr lang="zh-CN" altLang="en-US" dirty="0" smtClean="0"/>
                  <a:t>，所以算法实现的过程是通过指数函数</a:t>
                </a:r>
                <a:r>
                  <a:rPr lang="en-US" altLang="zh-CN" dirty="0" err="1" smtClean="0"/>
                  <a:t>exp</a:t>
                </a:r>
                <a:r>
                  <a:rPr lang="en-US" altLang="zh-CN" dirty="0" smtClean="0"/>
                  <a:t>(x)</a:t>
                </a:r>
                <a:r>
                  <a:rPr lang="zh-CN" altLang="en-US" dirty="0" smtClean="0"/>
                  <a:t>进行变换，以保证最终的取值恒为非负值。</a:t>
                </a:r>
                <a:endParaRPr lang="en-US" altLang="zh-CN" dirty="0" smtClean="0"/>
              </a:p>
              <a:p>
                <a:r>
                  <a:rPr lang="zh-CN" altLang="en-US" dirty="0" smtClean="0"/>
                  <a:t>根据</a:t>
                </a:r>
                <a:r>
                  <a:rPr lang="en-US" altLang="zh-CN" dirty="0" smtClean="0"/>
                  <a:t>FCOS</a:t>
                </a:r>
                <a:r>
                  <a:rPr lang="zh-CN" altLang="en-US" dirty="0" smtClean="0"/>
                  <a:t>网络的输出，训练的损失函数按照如下方式定义。</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公式中</a:t>
                </a:r>
                <a:r>
                  <a:rPr lang="en-US" altLang="zh-CN" i="0" smtClean="0">
                    <a:latin typeface="Cambria Math" panose="02040503050406030204" pitchFamily="18" charset="0"/>
                  </a:rPr>
                  <a:t>{</a:t>
                </a:r>
                <a:r>
                  <a:rPr lang="en-US" altLang="zh-CN" i="0">
                    <a:latin typeface="Cambria Math" panose="02040503050406030204" pitchFamily="18" charset="0"/>
                  </a:rPr>
                  <a:t>𝑡_(𝑥,𝑦) }</a:t>
                </a:r>
                <a:r>
                  <a:rPr lang="zh-CN" altLang="en-US" i="0" smtClean="0">
                    <a:latin typeface="Cambria Math" panose="02040503050406030204" pitchFamily="18" charset="0"/>
                  </a:rPr>
                  <a:t>和</a:t>
                </a:r>
                <a:r>
                  <a:rPr lang="en-US" altLang="zh-CN" i="0">
                    <a:latin typeface="Cambria Math" panose="02040503050406030204" pitchFamily="18" charset="0"/>
                    <a:ea typeface="Cambria Math" panose="02040503050406030204" pitchFamily="18" charset="0"/>
                  </a:rPr>
                  <a:t>{𝑡_(𝑥,𝑦)^∗ }</a:t>
                </a:r>
                <a:r>
                  <a:rPr lang="zh-CN" altLang="en-US" dirty="0" smtClean="0"/>
                  <a:t>分别表示</a:t>
                </a:r>
                <a:r>
                  <a:rPr lang="en-US" altLang="zh-CN" i="0">
                    <a:latin typeface="Cambria Math" panose="02040503050406030204" pitchFamily="18" charset="0"/>
                  </a:rPr>
                  <a:t>𝑡_(𝑥,𝑦)</a:t>
                </a:r>
                <a:r>
                  <a:rPr lang="en-US" altLang="zh-CN" b="0" i="0" smtClean="0">
                    <a:latin typeface="Cambria Math" panose="02040503050406030204" pitchFamily="18" charset="0"/>
                  </a:rPr>
                  <a:t>,</a:t>
                </a:r>
                <a:r>
                  <a:rPr lang="en-US" altLang="zh-CN" i="0">
                    <a:latin typeface="Cambria Math" panose="02040503050406030204" pitchFamily="18" charset="0"/>
                    <a:ea typeface="Cambria Math" panose="02040503050406030204" pitchFamily="18" charset="0"/>
                  </a:rPr>
                  <a:t>𝑡_(𝑥,𝑦)^∗</a:t>
                </a:r>
                <a:r>
                  <a:rPr lang="zh-CN" altLang="en-US" dirty="0" smtClean="0"/>
                  <a:t>对应的矩形框。</a:t>
                </a:r>
                <a:r>
                  <a:rPr lang="en-US" altLang="zh-CN" i="0">
                    <a:latin typeface="Cambria Math" panose="02040503050406030204" pitchFamily="18" charset="0"/>
                  </a:rPr>
                  <a:t>𝑁</a:t>
                </a:r>
                <a:r>
                  <a:rPr lang="en-US" altLang="zh-CN" i="0" smtClean="0">
                    <a:latin typeface="Cambria Math" panose="02040503050406030204" pitchFamily="18" charset="0"/>
                  </a:rPr>
                  <a:t>_</a:t>
                </a:r>
                <a:r>
                  <a:rPr lang="en-US" altLang="zh-CN" i="0">
                    <a:latin typeface="Cambria Math" panose="02040503050406030204" pitchFamily="18" charset="0"/>
                  </a:rPr>
                  <a:t>𝑝𝑜𝑠</a:t>
                </a:r>
                <a:r>
                  <a:rPr lang="zh-CN" altLang="en-US" dirty="0" smtClean="0"/>
                  <a:t>表示正样本个数，</a:t>
                </a:r>
                <a:r>
                  <a:rPr lang="el-GR" altLang="zh-CN" i="0" smtClean="0">
                    <a:latin typeface="Cambria Math" panose="02040503050406030204" pitchFamily="18" charset="0"/>
                  </a:rPr>
                  <a:t>"λ</a:t>
                </a:r>
                <a:r>
                  <a:rPr lang="zh-CN" altLang="en-US" i="0" smtClean="0"/>
                  <a:t>"</a:t>
                </a:r>
                <a:r>
                  <a:rPr lang="zh-CN" altLang="en-US" dirty="0" smtClean="0"/>
                  <a:t>是两个损失的权重因子（通常取</a:t>
                </a:r>
                <a:r>
                  <a:rPr lang="el-GR" altLang="zh-CN" i="0" smtClean="0">
                    <a:latin typeface="Cambria Math" panose="02040503050406030204" pitchFamily="18" charset="0"/>
                  </a:rPr>
                  <a:t>"λ</a:t>
                </a:r>
                <a:r>
                  <a:rPr lang="zh-CN" altLang="en-US" i="0" smtClean="0"/>
                  <a:t>"</a:t>
                </a:r>
                <a:r>
                  <a:rPr lang="en-US" altLang="zh-CN" dirty="0" smtClean="0"/>
                  <a:t>=1</a:t>
                </a:r>
                <a:r>
                  <a:rPr lang="zh-CN" altLang="en-US" dirty="0" smtClean="0"/>
                  <a:t>），</a:t>
                </a:r>
                <a:r>
                  <a:rPr lang="en-US" altLang="zh-CN" i="0" smtClean="0">
                    <a:latin typeface="Cambria Math" panose="02040503050406030204" pitchFamily="18" charset="0"/>
                  </a:rPr>
                  <a:t>∑</a:t>
                </a:r>
                <a:r>
                  <a:rPr lang="zh-CN" altLang="en-US" dirty="0" smtClean="0"/>
                  <a:t>表示对特征图</a:t>
                </a:r>
                <a:r>
                  <a:rPr lang="en-US" altLang="zh-CN" i="0">
                    <a:latin typeface="Cambria Math" panose="02040503050406030204" pitchFamily="18" charset="0"/>
                  </a:rPr>
                  <a:t>𝐹_𝑖</a:t>
                </a:r>
                <a:r>
                  <a:rPr lang="zh-CN" altLang="en-US" dirty="0" smtClean="0"/>
                  <a:t>上所有位置</a:t>
                </a:r>
                <a:r>
                  <a:rPr lang="en-US" altLang="zh-CN" i="0">
                    <a:latin typeface="Cambria Math" panose="02040503050406030204" pitchFamily="18" charset="0"/>
                  </a:rPr>
                  <a:t>(𝑥,𝑦)</a:t>
                </a:r>
                <a:r>
                  <a:rPr lang="zh-CN" altLang="en-US" dirty="0" smtClean="0"/>
                  <a:t>求和</a:t>
                </a:r>
                <a:r>
                  <a:rPr lang="en-US" altLang="zh-CN" dirty="0" smtClean="0"/>
                  <a:t>, </a:t>
                </a:r>
                <a:r>
                  <a:rPr lang="en-US" altLang="zh-CN" i="0">
                    <a:latin typeface="Cambria Math" panose="02040503050406030204" pitchFamily="18" charset="0"/>
                  </a:rPr>
                  <a:t>𝐼_{𝑐_(𝑥,𝑦)^∗</a:t>
                </a:r>
                <a:r>
                  <a:rPr lang="en-US" altLang="zh-CN" i="0">
                    <a:latin typeface="Cambria Math" panose="02040503050406030204" pitchFamily="18" charset="0"/>
                    <a:ea typeface="Cambria Math" panose="02040503050406030204" pitchFamily="18" charset="0"/>
                  </a:rPr>
                  <a:t>&gt;0} </a:t>
                </a:r>
                <a:r>
                  <a:rPr lang="zh-CN" altLang="en-US" dirty="0" smtClean="0"/>
                  <a:t>为示性函数，</a:t>
                </a:r>
                <a:r>
                  <a:rPr lang="en-US" altLang="zh-CN" i="0">
                    <a:latin typeface="Cambria Math" panose="02040503050406030204" pitchFamily="18" charset="0"/>
                  </a:rPr>
                  <a:t>𝑐_(𝑥,𝑦)^∗</a:t>
                </a:r>
                <a:r>
                  <a:rPr lang="en-US" altLang="zh-CN" i="0">
                    <a:latin typeface="Cambria Math" panose="02040503050406030204" pitchFamily="18" charset="0"/>
                    <a:ea typeface="Cambria Math" panose="02040503050406030204" pitchFamily="18" charset="0"/>
                  </a:rPr>
                  <a:t>&gt;0</a:t>
                </a:r>
                <a:r>
                  <a:rPr lang="zh-CN" altLang="en-US" dirty="0" smtClean="0"/>
                  <a:t>时</a:t>
                </a:r>
                <a:r>
                  <a:rPr lang="en-US" altLang="zh-CN" dirty="0" smtClean="0"/>
                  <a:t>,</a:t>
                </a:r>
                <a:r>
                  <a:rPr lang="zh-CN" altLang="en-US" dirty="0" smtClean="0"/>
                  <a:t>即</a:t>
                </a:r>
                <a:r>
                  <a:rPr lang="en-US" altLang="zh-CN" i="0">
                    <a:latin typeface="Cambria Math" panose="02040503050406030204" pitchFamily="18" charset="0"/>
                  </a:rPr>
                  <a:t>𝑐</a:t>
                </a:r>
                <a:r>
                  <a:rPr lang="en-US" altLang="zh-CN" i="0" smtClean="0">
                    <a:latin typeface="Cambria Math" panose="02040503050406030204" pitchFamily="18" charset="0"/>
                  </a:rPr>
                  <a:t>_(</a:t>
                </a:r>
                <a:r>
                  <a:rPr lang="en-US" altLang="zh-CN" i="0">
                    <a:latin typeface="Cambria Math" panose="02040503050406030204" pitchFamily="18" charset="0"/>
                  </a:rPr>
                  <a:t>𝑥,𝑦</a:t>
                </a:r>
                <a:r>
                  <a:rPr lang="en-US" altLang="zh-CN" i="0" smtClean="0">
                    <a:latin typeface="Cambria Math" panose="02040503050406030204" pitchFamily="18" charset="0"/>
                  </a:rPr>
                  <a:t>)</a:t>
                </a:r>
                <a:r>
                  <a:rPr lang="en-US" altLang="zh-CN" i="0">
                    <a:latin typeface="Cambria Math" panose="02040503050406030204" pitchFamily="18" charset="0"/>
                  </a:rPr>
                  <a:t>^∗</a:t>
                </a:r>
                <a:r>
                  <a:rPr lang="zh-CN" altLang="en-US" dirty="0" smtClean="0"/>
                  <a:t>为目标类别时，其值取</a:t>
                </a:r>
                <a:r>
                  <a:rPr lang="en-US" altLang="zh-CN" dirty="0" smtClean="0"/>
                  <a:t>1</a:t>
                </a:r>
                <a:r>
                  <a:rPr lang="zh-CN" altLang="en-US" dirty="0" smtClean="0"/>
                  <a:t>，否则取</a:t>
                </a:r>
                <a:r>
                  <a:rPr lang="en-US" altLang="zh-CN" dirty="0" smtClean="0"/>
                  <a:t>0</a:t>
                </a:r>
                <a:r>
                  <a:rPr lang="zh-CN" altLang="en-US" dirty="0" smtClean="0"/>
                  <a:t>。</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在推理过程中，基于上述方法，可以根据一定的阈值，直接推理出每个目标框的位置及其类别，最后使用</a:t>
                </a:r>
                <a:r>
                  <a:rPr lang="en-US" altLang="zh-CN" dirty="0" smtClean="0"/>
                  <a:t>NMS</a:t>
                </a:r>
                <a:r>
                  <a:rPr lang="zh-CN" altLang="en-US" dirty="0" smtClean="0"/>
                  <a:t>得到输出结果。</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endParaRPr lang="en-US" altLang="zh-CN" dirty="0" smtClean="0"/>
              </a:p>
              <a:p>
                <a:endParaRPr lang="en-US" altLang="zh-CN" dirty="0" smtClean="0"/>
              </a:p>
              <a:p>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43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335174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如果预测目标框的时候仅使用卷积网络最后一层特征图，会遇到两个问题：一个是相对原图来说</a:t>
                </a:r>
                <a:r>
                  <a:rPr lang="en-US" altLang="zh-CN" dirty="0" smtClean="0"/>
                  <a:t>,</a:t>
                </a:r>
                <a:r>
                  <a:rPr lang="zh-CN" altLang="en-US" dirty="0" smtClean="0"/>
                  <a:t>最后一层采样的间隔很大，编码主要是整体信息，对于比较小的目标信息损失会比较多，容易产生漏检；另一个是不容易区分交叠在一起的目标。为了解决这些问题，</a:t>
                </a:r>
                <a:r>
                  <a:rPr lang="en-US" altLang="zh-CN" dirty="0" smtClean="0"/>
                  <a:t>FCOS</a:t>
                </a:r>
                <a:r>
                  <a:rPr lang="zh-CN" altLang="en-US" dirty="0" smtClean="0"/>
                  <a:t>使用了特征金字塔</a:t>
                </a:r>
                <a:r>
                  <a:rPr lang="en-US" altLang="zh-CN" dirty="0" smtClean="0"/>
                  <a:t>(FPN)</a:t>
                </a:r>
                <a:r>
                  <a:rPr lang="zh-CN" altLang="en-US" dirty="0" smtClean="0"/>
                  <a:t>方法。</a:t>
                </a:r>
                <a:endParaRPr lang="en-US" altLang="zh-CN" dirty="0" smtClean="0"/>
              </a:p>
              <a:p>
                <a:r>
                  <a:rPr lang="zh-CN" altLang="en-US" dirty="0" smtClean="0"/>
                  <a:t>使用</a:t>
                </a:r>
                <a:r>
                  <a:rPr lang="en-US" altLang="zh-CN" dirty="0" smtClean="0"/>
                  <a:t>FPN</a:t>
                </a:r>
                <a:r>
                  <a:rPr lang="zh-CN" altLang="en-US" dirty="0" smtClean="0"/>
                  <a:t>方法的基本思路是</a:t>
                </a:r>
                <a:r>
                  <a:rPr lang="en-US" altLang="zh-CN" dirty="0" smtClean="0"/>
                  <a:t>,</a:t>
                </a:r>
                <a:r>
                  <a:rPr lang="zh-CN" altLang="en-US" dirty="0" smtClean="0"/>
                  <a:t>不同层的特征图</a:t>
                </a:r>
                <a:r>
                  <a:rPr lang="en-US" altLang="zh-CN" dirty="0" smtClean="0"/>
                  <a:t>,</a:t>
                </a:r>
                <a:r>
                  <a:rPr lang="zh-CN" altLang="en-US" dirty="0" smtClean="0"/>
                  <a:t>预测不同尺寸的目标框。如图</a:t>
                </a:r>
                <a:r>
                  <a:rPr lang="en-US" altLang="zh-CN" dirty="0" smtClean="0"/>
                  <a:t>1</a:t>
                </a:r>
                <a:r>
                  <a:rPr lang="zh-CN" altLang="en-US" dirty="0" smtClean="0"/>
                  <a:t>左侧所示，我们将</a:t>
                </a:r>
                <a:r>
                  <a:rPr lang="en-US" altLang="zh-CN" dirty="0" smtClean="0"/>
                  <a:t>FPN</a:t>
                </a:r>
                <a:r>
                  <a:rPr lang="zh-CN" altLang="en-US" dirty="0" smtClean="0"/>
                  <a:t>的特征图用</a:t>
                </a:r>
                <a:r>
                  <a:rPr lang="en-US" altLang="zh-CN" dirty="0" smtClean="0"/>
                  <a:t>{P</a:t>
                </a:r>
                <a:r>
                  <a:rPr lang="en-US" altLang="zh-CN" baseline="-25000" dirty="0" smtClean="0"/>
                  <a:t>3</a:t>
                </a:r>
                <a:r>
                  <a:rPr lang="en-US" altLang="zh-CN" dirty="0" smtClean="0"/>
                  <a:t>,P</a:t>
                </a:r>
                <a:r>
                  <a:rPr lang="en-US" altLang="zh-CN" baseline="-25000" dirty="0" smtClean="0"/>
                  <a:t>4</a:t>
                </a:r>
                <a:r>
                  <a:rPr lang="en-US" altLang="zh-CN" dirty="0" smtClean="0"/>
                  <a:t>,P</a:t>
                </a:r>
                <a:r>
                  <a:rPr lang="en-US" altLang="zh-CN" baseline="-25000" dirty="0" smtClean="0"/>
                  <a:t>5</a:t>
                </a:r>
                <a:r>
                  <a:rPr lang="en-US" altLang="zh-CN" dirty="0" smtClean="0"/>
                  <a:t>,P</a:t>
                </a:r>
                <a:r>
                  <a:rPr lang="en-US" altLang="zh-CN" baseline="-25000" dirty="0" smtClean="0"/>
                  <a:t>6</a:t>
                </a:r>
                <a:r>
                  <a:rPr lang="en-US" altLang="zh-CN" dirty="0" smtClean="0"/>
                  <a:t>,P</a:t>
                </a:r>
                <a:r>
                  <a:rPr lang="en-US" altLang="zh-CN" baseline="-25000" dirty="0" smtClean="0"/>
                  <a:t>7</a:t>
                </a:r>
                <a:r>
                  <a:rPr lang="en-US" altLang="zh-CN" dirty="0" smtClean="0"/>
                  <a:t>}</a:t>
                </a:r>
                <a:r>
                  <a:rPr lang="zh-CN" altLang="en-US" dirty="0" smtClean="0"/>
                  <a:t>来表示，</a:t>
                </a:r>
                <a:r>
                  <a:rPr lang="en-US" altLang="zh-CN" dirty="0" smtClean="0"/>
                  <a:t>P</a:t>
                </a:r>
                <a:r>
                  <a:rPr lang="en-US" altLang="zh-CN" baseline="-25000" dirty="0" smtClean="0"/>
                  <a:t>3</a:t>
                </a:r>
                <a:r>
                  <a:rPr lang="en-US" altLang="zh-CN" dirty="0" smtClean="0"/>
                  <a:t>,P</a:t>
                </a:r>
                <a:r>
                  <a:rPr lang="en-US" altLang="zh-CN" baseline="-25000" dirty="0" smtClean="0"/>
                  <a:t>4</a:t>
                </a:r>
                <a:r>
                  <a:rPr lang="en-US" altLang="zh-CN" dirty="0" smtClean="0"/>
                  <a:t>,P</a:t>
                </a:r>
                <a:r>
                  <a:rPr lang="en-US" altLang="zh-CN" baseline="-25000" dirty="0" smtClean="0"/>
                  <a:t>5</a:t>
                </a:r>
                <a:r>
                  <a:rPr lang="zh-CN" altLang="en-US" dirty="0" smtClean="0"/>
                  <a:t>和前文介绍的一样，由主干网络的输出特征图</a:t>
                </a:r>
                <a:r>
                  <a:rPr lang="en-US" altLang="zh-CN" dirty="0" smtClean="0"/>
                  <a:t>C</a:t>
                </a:r>
                <a:r>
                  <a:rPr lang="en-US" altLang="zh-CN" baseline="-25000" dirty="0" smtClean="0"/>
                  <a:t>3</a:t>
                </a:r>
                <a:r>
                  <a:rPr lang="zh-CN" altLang="en-US" dirty="0" smtClean="0"/>
                  <a:t>、</a:t>
                </a:r>
                <a:r>
                  <a:rPr lang="en-US" altLang="zh-CN" dirty="0" smtClean="0"/>
                  <a:t>C</a:t>
                </a:r>
                <a:r>
                  <a:rPr lang="en-US" altLang="zh-CN" baseline="-25000" dirty="0" smtClean="0"/>
                  <a:t>4</a:t>
                </a:r>
                <a:r>
                  <a:rPr lang="zh-CN" altLang="en-US" dirty="0" smtClean="0"/>
                  <a:t>、</a:t>
                </a:r>
                <a:r>
                  <a:rPr lang="en-US" altLang="zh-CN" dirty="0" smtClean="0"/>
                  <a:t>C</a:t>
                </a:r>
                <a:r>
                  <a:rPr lang="en-US" altLang="zh-CN" baseline="-25000" dirty="0" smtClean="0"/>
                  <a:t>5</a:t>
                </a:r>
                <a:r>
                  <a:rPr lang="zh-CN" altLang="en-US" dirty="0" smtClean="0"/>
                  <a:t>经过自上而下的过程构建</a:t>
                </a:r>
                <a:r>
                  <a:rPr lang="en-US" altLang="zh-CN" dirty="0" smtClean="0"/>
                  <a:t>,P</a:t>
                </a:r>
                <a:r>
                  <a:rPr lang="en-US" altLang="zh-CN" baseline="-25000" dirty="0" smtClean="0"/>
                  <a:t>6</a:t>
                </a:r>
                <a:r>
                  <a:rPr lang="en-US" altLang="zh-CN" dirty="0" smtClean="0"/>
                  <a:t>,P</a:t>
                </a:r>
                <a:r>
                  <a:rPr lang="en-US" altLang="zh-CN" baseline="-25000" dirty="0" smtClean="0"/>
                  <a:t>7</a:t>
                </a:r>
                <a:r>
                  <a:rPr lang="en-US" altLang="zh-CN" dirty="0" smtClean="0"/>
                  <a:t>,</a:t>
                </a:r>
                <a:r>
                  <a:rPr lang="zh-CN" altLang="en-US" dirty="0" smtClean="0"/>
                  <a:t>分别基于</a:t>
                </a:r>
                <a:r>
                  <a:rPr lang="en-US" altLang="zh-CN" dirty="0" smtClean="0"/>
                  <a:t>P</a:t>
                </a:r>
                <a:r>
                  <a:rPr lang="en-US" altLang="zh-CN" baseline="-25000" dirty="0" smtClean="0"/>
                  <a:t>5</a:t>
                </a:r>
                <a:r>
                  <a:rPr lang="zh-CN" altLang="en-US" dirty="0" smtClean="0"/>
                  <a:t>、</a:t>
                </a:r>
                <a:r>
                  <a:rPr lang="en-US" altLang="zh-CN" dirty="0" smtClean="0"/>
                  <a:t>P</a:t>
                </a:r>
                <a:r>
                  <a:rPr lang="en-US" altLang="zh-CN" baseline="-25000" dirty="0" smtClean="0"/>
                  <a:t>6</a:t>
                </a:r>
                <a:r>
                  <a:rPr lang="zh-CN" altLang="en-US" baseline="0" dirty="0" smtClean="0"/>
                  <a:t>，</a:t>
                </a:r>
                <a:r>
                  <a:rPr lang="zh-CN" altLang="en-US" dirty="0" smtClean="0"/>
                  <a:t>通过采样间隔为</a:t>
                </a:r>
                <a:r>
                  <a:rPr lang="en-US" altLang="zh-CN" dirty="0" smtClean="0"/>
                  <a:t>2(stride=2</a:t>
                </a:r>
                <a:r>
                  <a:rPr lang="zh-CN" altLang="en-US" dirty="0" smtClean="0"/>
                  <a:t>）的卷积操作构建</a:t>
                </a:r>
                <a:r>
                  <a:rPr lang="en-US" altLang="zh-CN" dirty="0" smtClean="0"/>
                  <a:t>, P</a:t>
                </a:r>
                <a:r>
                  <a:rPr lang="en-US" altLang="zh-CN" baseline="-25000" dirty="0" smtClean="0"/>
                  <a:t>3</a:t>
                </a:r>
                <a:r>
                  <a:rPr lang="en-US" altLang="zh-CN" dirty="0" smtClean="0"/>
                  <a:t>,P</a:t>
                </a:r>
                <a:r>
                  <a:rPr lang="en-US" altLang="zh-CN" baseline="-25000" dirty="0" smtClean="0"/>
                  <a:t>4</a:t>
                </a:r>
                <a:r>
                  <a:rPr lang="en-US" altLang="zh-CN" dirty="0" smtClean="0"/>
                  <a:t>,P</a:t>
                </a:r>
                <a:r>
                  <a:rPr lang="en-US" altLang="zh-CN" baseline="-25000" dirty="0" smtClean="0"/>
                  <a:t>5</a:t>
                </a:r>
                <a:r>
                  <a:rPr lang="en-US" altLang="zh-CN" dirty="0" smtClean="0"/>
                  <a:t>,P</a:t>
                </a:r>
                <a:r>
                  <a:rPr lang="en-US" altLang="zh-CN" baseline="-25000" dirty="0" smtClean="0"/>
                  <a:t>6</a:t>
                </a:r>
                <a:r>
                  <a:rPr lang="en-US" altLang="zh-CN" dirty="0" smtClean="0"/>
                  <a:t>,P</a:t>
                </a:r>
                <a:r>
                  <a:rPr lang="en-US" altLang="zh-CN" baseline="-25000" dirty="0" smtClean="0"/>
                  <a:t>7</a:t>
                </a:r>
                <a:r>
                  <a:rPr lang="zh-CN" altLang="en-US" dirty="0" smtClean="0"/>
                  <a:t>相对于原图的采样间隔</a:t>
                </a:r>
                <a:r>
                  <a:rPr lang="en-US" altLang="zh-CN" dirty="0" smtClean="0"/>
                  <a:t>,</a:t>
                </a:r>
                <a:r>
                  <a:rPr lang="zh-CN" altLang="en-US" dirty="0" smtClean="0"/>
                  <a:t>分别为</a:t>
                </a:r>
                <a:r>
                  <a:rPr lang="en-US" altLang="zh-CN" dirty="0" smtClean="0"/>
                  <a:t>8</a:t>
                </a:r>
                <a:r>
                  <a:rPr lang="zh-CN" altLang="en-US" dirty="0" smtClean="0"/>
                  <a:t>、</a:t>
                </a:r>
                <a:r>
                  <a:rPr lang="en-US" altLang="zh-CN" dirty="0" smtClean="0"/>
                  <a:t>16</a:t>
                </a:r>
                <a:r>
                  <a:rPr lang="zh-CN" altLang="en-US" dirty="0" smtClean="0"/>
                  <a:t>、</a:t>
                </a:r>
                <a:r>
                  <a:rPr lang="en-US" altLang="zh-CN" dirty="0" smtClean="0"/>
                  <a:t>32</a:t>
                </a:r>
                <a:r>
                  <a:rPr lang="zh-CN" altLang="en-US" dirty="0" smtClean="0"/>
                  <a:t>、</a:t>
                </a:r>
                <a:r>
                  <a:rPr lang="en-US" altLang="zh-CN" dirty="0" smtClean="0"/>
                  <a:t>64</a:t>
                </a:r>
                <a:r>
                  <a:rPr lang="zh-CN" altLang="en-US" dirty="0" smtClean="0"/>
                  <a:t>和</a:t>
                </a:r>
                <a:r>
                  <a:rPr lang="en-US" altLang="zh-CN" dirty="0" smtClean="0"/>
                  <a:t>128</a:t>
                </a:r>
                <a:r>
                  <a:rPr lang="zh-CN" altLang="en-US" dirty="0" smtClean="0"/>
                  <a:t>。</a:t>
                </a:r>
                <a:endParaRPr lang="en-US" altLang="zh-CN" dirty="0" smtClean="0"/>
              </a:p>
              <a:p>
                <a:r>
                  <a:rPr lang="zh-CN" altLang="en-US" dirty="0" smtClean="0"/>
                  <a:t>基于锚的检测方法针对不同层次的特征设置了不同尺度的锚框，而</a:t>
                </a:r>
                <a:r>
                  <a:rPr lang="en-US" altLang="zh-CN" dirty="0" smtClean="0"/>
                  <a:t>FCOS</a:t>
                </a:r>
                <a:r>
                  <a:rPr lang="zh-CN" altLang="en-US" dirty="0" smtClean="0"/>
                  <a:t>是直接限制了通过每一层特征能够回归的框的尺寸。对于</a:t>
                </a:r>
                <a:r>
                  <a:rPr lang="en-US" altLang="zh-CN" dirty="0" smtClean="0"/>
                  <a:t>FPN</a:t>
                </a:r>
                <a:r>
                  <a:rPr lang="zh-CN" altLang="en-US" dirty="0" smtClean="0"/>
                  <a:t>的各层特征图</a:t>
                </a:r>
                <a:r>
                  <a:rPr lang="en-US" altLang="zh-CN" dirty="0" smtClean="0"/>
                  <a:t>P</a:t>
                </a:r>
                <a:r>
                  <a:rPr lang="en-US" altLang="zh-CN" baseline="-25000" dirty="0" smtClean="0"/>
                  <a:t>3</a:t>
                </a:r>
                <a:r>
                  <a:rPr lang="en-US" altLang="zh-CN" dirty="0" smtClean="0"/>
                  <a:t>,P</a:t>
                </a:r>
                <a:r>
                  <a:rPr lang="en-US" altLang="zh-CN" baseline="-25000" dirty="0" smtClean="0"/>
                  <a:t>4</a:t>
                </a:r>
                <a:r>
                  <a:rPr lang="en-US" altLang="zh-CN" dirty="0" smtClean="0"/>
                  <a:t>,P</a:t>
                </a:r>
                <a:r>
                  <a:rPr lang="en-US" altLang="zh-CN" baseline="-25000" dirty="0" smtClean="0"/>
                  <a:t>5</a:t>
                </a:r>
                <a:r>
                  <a:rPr lang="en-US" altLang="zh-CN" dirty="0" smtClean="0"/>
                  <a:t>,P</a:t>
                </a:r>
                <a:r>
                  <a:rPr lang="en-US" altLang="zh-CN" baseline="-25000" dirty="0" smtClean="0"/>
                  <a:t>6</a:t>
                </a:r>
                <a:r>
                  <a:rPr lang="en-US" altLang="zh-CN" dirty="0" smtClean="0"/>
                  <a:t>,P</a:t>
                </a:r>
                <a:r>
                  <a:rPr lang="en-US" altLang="zh-CN" baseline="-25000" dirty="0" smtClean="0"/>
                  <a:t>7</a:t>
                </a:r>
                <a:r>
                  <a:rPr lang="zh-CN" altLang="en-US" dirty="0" smtClean="0"/>
                  <a:t>，分别设置</a:t>
                </a:r>
                <a:r>
                  <a:rPr lang="en-US" altLang="zh-CN" dirty="0" smtClean="0"/>
                  <a:t>m</a:t>
                </a:r>
                <a:r>
                  <a:rPr lang="en-US" altLang="zh-CN" baseline="-25000" dirty="0" smtClean="0"/>
                  <a:t>2</a:t>
                </a:r>
                <a:r>
                  <a:rPr lang="en-US" altLang="zh-CN" dirty="0" smtClean="0"/>
                  <a:t>,m</a:t>
                </a:r>
                <a:r>
                  <a:rPr lang="en-US" altLang="zh-CN" baseline="-25000" dirty="0" smtClean="0"/>
                  <a:t>3</a:t>
                </a:r>
                <a:r>
                  <a:rPr lang="en-US" altLang="zh-CN" dirty="0" smtClean="0"/>
                  <a:t>,m</a:t>
                </a:r>
                <a:r>
                  <a:rPr lang="en-US" altLang="zh-CN" baseline="-25000" dirty="0" smtClean="0"/>
                  <a:t>4</a:t>
                </a:r>
                <a:r>
                  <a:rPr lang="en-US" altLang="zh-CN" dirty="0" smtClean="0"/>
                  <a:t>,m</a:t>
                </a:r>
                <a:r>
                  <a:rPr lang="en-US" altLang="zh-CN" baseline="-25000" dirty="0" smtClean="0"/>
                  <a:t>5</a:t>
                </a:r>
                <a:r>
                  <a:rPr lang="en-US" altLang="zh-CN" dirty="0" smtClean="0"/>
                  <a:t>,m</a:t>
                </a:r>
                <a:r>
                  <a:rPr lang="en-US" altLang="zh-CN" baseline="-25000" dirty="0" smtClean="0"/>
                  <a:t>6</a:t>
                </a:r>
                <a:r>
                  <a:rPr lang="en-US" altLang="zh-CN" dirty="0" smtClean="0"/>
                  <a:t>,m</a:t>
                </a:r>
                <a:r>
                  <a:rPr lang="en-US" altLang="zh-CN" baseline="-25000" dirty="0" smtClean="0"/>
                  <a:t>7</a:t>
                </a:r>
                <a:r>
                  <a:rPr lang="zh-CN" altLang="en-US" baseline="0" dirty="0" smtClean="0"/>
                  <a:t>，比如分别取</a:t>
                </a:r>
                <a:r>
                  <a:rPr lang="en-US" altLang="zh-CN" baseline="0" dirty="0" smtClean="0"/>
                  <a:t>0</a:t>
                </a:r>
                <a:r>
                  <a:rPr lang="zh-CN" altLang="en-US" baseline="0" dirty="0" smtClean="0"/>
                  <a:t>、</a:t>
                </a:r>
                <a:r>
                  <a:rPr lang="en-US" altLang="zh-CN" baseline="0" dirty="0" smtClean="0"/>
                  <a:t>64</a:t>
                </a:r>
                <a:r>
                  <a:rPr lang="zh-CN" altLang="en-US" baseline="0" dirty="0" smtClean="0"/>
                  <a:t>、</a:t>
                </a:r>
                <a:r>
                  <a:rPr lang="en-US" altLang="zh-CN" baseline="0" dirty="0" smtClean="0"/>
                  <a:t>128</a:t>
                </a:r>
                <a:r>
                  <a:rPr lang="zh-CN" altLang="en-US" baseline="0" dirty="0" smtClean="0"/>
                  <a:t>、</a:t>
                </a:r>
                <a:r>
                  <a:rPr lang="en-US" altLang="zh-CN" baseline="0" dirty="0" smtClean="0"/>
                  <a:t>256</a:t>
                </a:r>
                <a:r>
                  <a:rPr lang="zh-CN" altLang="en-US" baseline="0" dirty="0" smtClean="0"/>
                  <a:t>、</a:t>
                </a:r>
                <a:r>
                  <a:rPr lang="en-US" altLang="zh-CN" baseline="0" dirty="0" smtClean="0"/>
                  <a:t>512</a:t>
                </a:r>
                <a:r>
                  <a:rPr lang="zh-CN" altLang="en-US" baseline="0" dirty="0" smtClean="0"/>
                  <a:t>、∞，对于第</a:t>
                </a:r>
                <a:r>
                  <a:rPr lang="en-US" altLang="zh-CN" baseline="0" dirty="0" err="1" smtClean="0"/>
                  <a:t>i</a:t>
                </a:r>
                <a:r>
                  <a:rPr lang="zh-CN" altLang="en-US" baseline="0" dirty="0" smtClean="0"/>
                  <a:t>层特征图，限制</a:t>
                </a:r>
                <a14:m>
                  <m:oMath xmlns:m="http://schemas.openxmlformats.org/officeDocument/2006/math">
                    <m:sSub>
                      <m:sSubPr>
                        <m:ctrlPr>
                          <a:rPr lang="en-US" altLang="zh-CN" i="1" baseline="0" smtClean="0">
                            <a:latin typeface="Cambria Math" panose="02040503050406030204" pitchFamily="18" charset="0"/>
                          </a:rPr>
                        </m:ctrlPr>
                      </m:sSubPr>
                      <m:e>
                        <m:r>
                          <a:rPr lang="en-US" altLang="zh-CN" b="0" i="1" baseline="0" smtClean="0">
                            <a:latin typeface="Cambria Math" panose="02040503050406030204" pitchFamily="18" charset="0"/>
                          </a:rPr>
                          <m:t>𝑚</m:t>
                        </m:r>
                      </m:e>
                      <m:sub>
                        <m:r>
                          <a:rPr lang="en-US" altLang="zh-CN" b="0" i="1" baseline="0" smtClean="0">
                            <a:latin typeface="Cambria Math" panose="02040503050406030204" pitchFamily="18" charset="0"/>
                          </a:rPr>
                          <m:t>𝑖</m:t>
                        </m:r>
                        <m:r>
                          <a:rPr lang="en-US" altLang="zh-CN" b="0" i="1" baseline="0" smtClean="0">
                            <a:latin typeface="Cambria Math" panose="02040503050406030204" pitchFamily="18" charset="0"/>
                          </a:rPr>
                          <m:t>−1</m:t>
                        </m:r>
                      </m:sub>
                    </m:sSub>
                    <m:r>
                      <a:rPr lang="en-US" altLang="zh-CN" i="1" baseline="0" smtClean="0">
                        <a:latin typeface="Cambria Math" panose="02040503050406030204" pitchFamily="18" charset="0"/>
                        <a:ea typeface="Cambria Math" panose="02040503050406030204" pitchFamily="18" charset="0"/>
                      </a:rPr>
                      <m:t>≤</m:t>
                    </m:r>
                    <m:r>
                      <a:rPr lang="en-US" altLang="zh-CN" b="0" i="1" baseline="0" smtClean="0">
                        <a:latin typeface="Cambria Math" panose="02040503050406030204" pitchFamily="18" charset="0"/>
                        <a:ea typeface="Cambria Math" panose="02040503050406030204" pitchFamily="18" charset="0"/>
                      </a:rPr>
                      <m:t>𝑚𝑎𝑥</m:t>
                    </m:r>
                    <m:d>
                      <m:dPr>
                        <m:ctrlPr>
                          <a:rPr lang="en-US" altLang="zh-CN" b="0" i="1" baseline="0" smtClean="0">
                            <a:latin typeface="Cambria Math" panose="02040503050406030204" pitchFamily="18" charset="0"/>
                            <a:ea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𝑙</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𝑟</m:t>
                            </m:r>
                          </m:e>
                          <m:sup>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𝑏</m:t>
                            </m:r>
                          </m:e>
                          <m:sup>
                            <m:r>
                              <a:rPr lang="en-US" altLang="zh-CN" i="1">
                                <a:latin typeface="Cambria Math" panose="02040503050406030204" pitchFamily="18" charset="0"/>
                              </a:rPr>
                              <m:t>∗</m:t>
                            </m:r>
                          </m:sup>
                        </m:sSup>
                      </m:e>
                    </m:d>
                    <m:r>
                      <a:rPr lang="en-US" altLang="zh-CN" b="0" i="1" baseline="0" smtClean="0">
                        <a:latin typeface="Cambria Math" panose="02040503050406030204" pitchFamily="18" charset="0"/>
                        <a:ea typeface="Cambria Math" panose="02040503050406030204" pitchFamily="18" charset="0"/>
                      </a:rPr>
                      <m:t>≤</m:t>
                    </m:r>
                    <m:sSub>
                      <m:sSubPr>
                        <m:ctrlPr>
                          <a:rPr lang="en-US" altLang="zh-CN" b="0" i="1" baseline="0" smtClean="0">
                            <a:latin typeface="Cambria Math" panose="02040503050406030204" pitchFamily="18" charset="0"/>
                            <a:ea typeface="Cambria Math" panose="02040503050406030204" pitchFamily="18" charset="0"/>
                          </a:rPr>
                        </m:ctrlPr>
                      </m:sSubPr>
                      <m:e>
                        <m:r>
                          <a:rPr lang="en-US" altLang="zh-CN" b="0" i="1" baseline="0" smtClean="0">
                            <a:latin typeface="Cambria Math" panose="02040503050406030204" pitchFamily="18" charset="0"/>
                            <a:ea typeface="Cambria Math" panose="02040503050406030204" pitchFamily="18" charset="0"/>
                          </a:rPr>
                          <m:t>𝑚</m:t>
                        </m:r>
                      </m:e>
                      <m:sub>
                        <m:r>
                          <a:rPr lang="en-US" altLang="zh-CN" b="0" i="1" baseline="0" smtClean="0">
                            <a:latin typeface="Cambria Math" panose="02040503050406030204" pitchFamily="18" charset="0"/>
                            <a:ea typeface="Cambria Math" panose="02040503050406030204" pitchFamily="18" charset="0"/>
                          </a:rPr>
                          <m:t>𝑖</m:t>
                        </m:r>
                      </m:sub>
                    </m:sSub>
                  </m:oMath>
                </a14:m>
                <a:r>
                  <a:rPr lang="zh-CN" altLang="en-US" baseline="0" dirty="0" smtClean="0"/>
                  <a:t>，如果需要回归的真值框不在限制条件内，则对应的特征图上的点视为负样本，</a:t>
                </a:r>
                <a:r>
                  <a:rPr lang="en-US" altLang="zh-CN" baseline="0" dirty="0" smtClean="0"/>
                  <a:t>FPN</a:t>
                </a:r>
                <a:r>
                  <a:rPr lang="zh-CN" altLang="en-US" baseline="0" dirty="0" smtClean="0"/>
                  <a:t>每一层只负责回归对应尺度的目标框，因此算法的性能得到了较好的保障。另外，因为交叠的目标通常归属于不同的特征图，所以这种方法在一定程度上解决了交叠目标的回归问题</a:t>
                </a:r>
                <a:r>
                  <a:rPr lang="en-US" altLang="zh-CN" baseline="0" dirty="0" smtClean="0"/>
                  <a:t>,</a:t>
                </a:r>
                <a:r>
                  <a:rPr lang="zh-CN" altLang="en-US" baseline="0" dirty="0" smtClean="0"/>
                  <a:t>但如果两个交叠目标的尺度非常接近</a:t>
                </a:r>
                <a:r>
                  <a:rPr lang="en-US" altLang="zh-CN" baseline="0" dirty="0" smtClean="0"/>
                  <a:t>,</a:t>
                </a:r>
                <a:r>
                  <a:rPr lang="zh-CN" altLang="en-US" baseline="0" dirty="0" smtClean="0"/>
                  <a:t>属于同一层特征图</a:t>
                </a:r>
                <a:r>
                  <a:rPr lang="en-US" altLang="zh-CN" baseline="0" dirty="0" smtClean="0"/>
                  <a:t>,</a:t>
                </a:r>
                <a:r>
                  <a:rPr lang="zh-CN" altLang="en-US" baseline="0" dirty="0" smtClean="0"/>
                  <a:t>算法的策略仍然是选择较小的框作为回归对象。</a:t>
                </a:r>
                <a:endParaRPr lang="en-US" altLang="zh-CN" baseline="-25000" dirty="0" smtClean="0"/>
              </a:p>
            </p:txBody>
          </p:sp>
        </mc:Choice>
        <mc:Fallback xmlns="">
          <p:sp>
            <p:nvSpPr>
              <p:cNvPr id="3" name="备注占位符 2"/>
              <p:cNvSpPr>
                <a:spLocks noGrp="1"/>
              </p:cNvSpPr>
              <p:nvPr>
                <p:ph type="body" idx="1"/>
              </p:nvPr>
            </p:nvSpPr>
            <p:spPr/>
            <p:txBody>
              <a:bodyPr/>
              <a:lstStyle/>
              <a:p>
                <a:r>
                  <a:rPr lang="zh-CN" altLang="en-US" dirty="0" smtClean="0"/>
                  <a:t>如果预测目标框的时候仅使用卷积网络最后一层特征图，会遇到两个问题：一个是相对原图来说</a:t>
                </a:r>
                <a:r>
                  <a:rPr lang="en-US" altLang="zh-CN" dirty="0" smtClean="0"/>
                  <a:t>,</a:t>
                </a:r>
                <a:r>
                  <a:rPr lang="zh-CN" altLang="en-US" dirty="0" smtClean="0"/>
                  <a:t>最后一层采样的间隔很大，编码主要是整体信息，对于比较小的目标信息损失会比较多，容易产生漏检；另一个是不容易区分交叠在一起的目标。为了解决这些问题，</a:t>
                </a:r>
                <a:r>
                  <a:rPr lang="en-US" altLang="zh-CN" dirty="0" smtClean="0"/>
                  <a:t>FCOS</a:t>
                </a:r>
                <a:r>
                  <a:rPr lang="zh-CN" altLang="en-US" dirty="0" smtClean="0"/>
                  <a:t>使用了特征金字塔</a:t>
                </a:r>
                <a:r>
                  <a:rPr lang="en-US" altLang="zh-CN" dirty="0" smtClean="0"/>
                  <a:t>(FPN)</a:t>
                </a:r>
                <a:r>
                  <a:rPr lang="zh-CN" altLang="en-US" dirty="0" smtClean="0"/>
                  <a:t>方法。</a:t>
                </a:r>
                <a:endParaRPr lang="en-US" altLang="zh-CN" dirty="0" smtClean="0"/>
              </a:p>
              <a:p>
                <a:r>
                  <a:rPr lang="zh-CN" altLang="en-US" dirty="0" smtClean="0"/>
                  <a:t>使用</a:t>
                </a:r>
                <a:r>
                  <a:rPr lang="en-US" altLang="zh-CN" dirty="0" smtClean="0"/>
                  <a:t>FPN</a:t>
                </a:r>
                <a:r>
                  <a:rPr lang="zh-CN" altLang="en-US" dirty="0" smtClean="0"/>
                  <a:t>方法的基本思路是</a:t>
                </a:r>
                <a:r>
                  <a:rPr lang="en-US" altLang="zh-CN" dirty="0" smtClean="0"/>
                  <a:t>,</a:t>
                </a:r>
                <a:r>
                  <a:rPr lang="zh-CN" altLang="en-US" dirty="0" smtClean="0"/>
                  <a:t>不同层的特征图</a:t>
                </a:r>
                <a:r>
                  <a:rPr lang="en-US" altLang="zh-CN" dirty="0" smtClean="0"/>
                  <a:t>,</a:t>
                </a:r>
                <a:r>
                  <a:rPr lang="zh-CN" altLang="en-US" dirty="0" smtClean="0"/>
                  <a:t>预测不同尺寸的目标框。如图</a:t>
                </a:r>
                <a:r>
                  <a:rPr lang="en-US" altLang="zh-CN" dirty="0" smtClean="0"/>
                  <a:t>1</a:t>
                </a:r>
                <a:r>
                  <a:rPr lang="zh-CN" altLang="en-US" dirty="0" smtClean="0"/>
                  <a:t>左侧所示，我们将</a:t>
                </a:r>
                <a:r>
                  <a:rPr lang="en-US" altLang="zh-CN" dirty="0" smtClean="0"/>
                  <a:t>FPN</a:t>
                </a:r>
                <a:r>
                  <a:rPr lang="zh-CN" altLang="en-US" dirty="0" smtClean="0"/>
                  <a:t>的特征图用</a:t>
                </a:r>
                <a:r>
                  <a:rPr lang="en-US" altLang="zh-CN" dirty="0" smtClean="0"/>
                  <a:t>{P</a:t>
                </a:r>
                <a:r>
                  <a:rPr lang="en-US" altLang="zh-CN" baseline="-25000" dirty="0" smtClean="0"/>
                  <a:t>3</a:t>
                </a:r>
                <a:r>
                  <a:rPr lang="en-US" altLang="zh-CN" dirty="0" smtClean="0"/>
                  <a:t>,P</a:t>
                </a:r>
                <a:r>
                  <a:rPr lang="en-US" altLang="zh-CN" baseline="-25000" dirty="0" smtClean="0"/>
                  <a:t>4</a:t>
                </a:r>
                <a:r>
                  <a:rPr lang="en-US" altLang="zh-CN" dirty="0" smtClean="0"/>
                  <a:t>,P</a:t>
                </a:r>
                <a:r>
                  <a:rPr lang="en-US" altLang="zh-CN" baseline="-25000" dirty="0" smtClean="0"/>
                  <a:t>5</a:t>
                </a:r>
                <a:r>
                  <a:rPr lang="en-US" altLang="zh-CN" dirty="0" smtClean="0"/>
                  <a:t>,P</a:t>
                </a:r>
                <a:r>
                  <a:rPr lang="en-US" altLang="zh-CN" baseline="-25000" dirty="0" smtClean="0"/>
                  <a:t>6</a:t>
                </a:r>
                <a:r>
                  <a:rPr lang="en-US" altLang="zh-CN" dirty="0" smtClean="0"/>
                  <a:t>,P</a:t>
                </a:r>
                <a:r>
                  <a:rPr lang="en-US" altLang="zh-CN" baseline="-25000" dirty="0" smtClean="0"/>
                  <a:t>7</a:t>
                </a:r>
                <a:r>
                  <a:rPr lang="en-US" altLang="zh-CN" dirty="0" smtClean="0"/>
                  <a:t>}</a:t>
                </a:r>
                <a:r>
                  <a:rPr lang="zh-CN" altLang="en-US" dirty="0" smtClean="0"/>
                  <a:t>来表示，</a:t>
                </a:r>
                <a:r>
                  <a:rPr lang="en-US" altLang="zh-CN" dirty="0" smtClean="0"/>
                  <a:t>P</a:t>
                </a:r>
                <a:r>
                  <a:rPr lang="en-US" altLang="zh-CN" baseline="-25000" dirty="0" smtClean="0"/>
                  <a:t>3</a:t>
                </a:r>
                <a:r>
                  <a:rPr lang="en-US" altLang="zh-CN" dirty="0" smtClean="0"/>
                  <a:t>,P</a:t>
                </a:r>
                <a:r>
                  <a:rPr lang="en-US" altLang="zh-CN" baseline="-25000" dirty="0" smtClean="0"/>
                  <a:t>4</a:t>
                </a:r>
                <a:r>
                  <a:rPr lang="en-US" altLang="zh-CN" dirty="0" smtClean="0"/>
                  <a:t>,P</a:t>
                </a:r>
                <a:r>
                  <a:rPr lang="en-US" altLang="zh-CN" baseline="-25000" dirty="0" smtClean="0"/>
                  <a:t>5</a:t>
                </a:r>
                <a:r>
                  <a:rPr lang="zh-CN" altLang="en-US" dirty="0" smtClean="0"/>
                  <a:t>和前文介绍的一样，由主干网络的输出特征图</a:t>
                </a:r>
                <a:r>
                  <a:rPr lang="en-US" altLang="zh-CN" dirty="0" smtClean="0"/>
                  <a:t>C</a:t>
                </a:r>
                <a:r>
                  <a:rPr lang="en-US" altLang="zh-CN" baseline="-25000" dirty="0" smtClean="0"/>
                  <a:t>3</a:t>
                </a:r>
                <a:r>
                  <a:rPr lang="zh-CN" altLang="en-US" dirty="0" smtClean="0"/>
                  <a:t>、</a:t>
                </a:r>
                <a:r>
                  <a:rPr lang="en-US" altLang="zh-CN" dirty="0" smtClean="0"/>
                  <a:t>C</a:t>
                </a:r>
                <a:r>
                  <a:rPr lang="en-US" altLang="zh-CN" baseline="-25000" dirty="0" smtClean="0"/>
                  <a:t>4</a:t>
                </a:r>
                <a:r>
                  <a:rPr lang="zh-CN" altLang="en-US" dirty="0" smtClean="0"/>
                  <a:t>、</a:t>
                </a:r>
                <a:r>
                  <a:rPr lang="en-US" altLang="zh-CN" dirty="0" smtClean="0"/>
                  <a:t>C</a:t>
                </a:r>
                <a:r>
                  <a:rPr lang="en-US" altLang="zh-CN" baseline="-25000" dirty="0" smtClean="0"/>
                  <a:t>5</a:t>
                </a:r>
                <a:r>
                  <a:rPr lang="zh-CN" altLang="en-US" dirty="0" smtClean="0"/>
                  <a:t>经过自上而下的过程构建</a:t>
                </a:r>
                <a:r>
                  <a:rPr lang="en-US" altLang="zh-CN" dirty="0" smtClean="0"/>
                  <a:t>,P</a:t>
                </a:r>
                <a:r>
                  <a:rPr lang="en-US" altLang="zh-CN" baseline="-25000" dirty="0" smtClean="0"/>
                  <a:t>6</a:t>
                </a:r>
                <a:r>
                  <a:rPr lang="en-US" altLang="zh-CN" dirty="0" smtClean="0"/>
                  <a:t>,P</a:t>
                </a:r>
                <a:r>
                  <a:rPr lang="en-US" altLang="zh-CN" baseline="-25000" dirty="0" smtClean="0"/>
                  <a:t>7</a:t>
                </a:r>
                <a:r>
                  <a:rPr lang="en-US" altLang="zh-CN" dirty="0" smtClean="0"/>
                  <a:t>,</a:t>
                </a:r>
                <a:r>
                  <a:rPr lang="zh-CN" altLang="en-US" dirty="0" smtClean="0"/>
                  <a:t>分别基于</a:t>
                </a:r>
                <a:r>
                  <a:rPr lang="en-US" altLang="zh-CN" dirty="0" smtClean="0"/>
                  <a:t>P</a:t>
                </a:r>
                <a:r>
                  <a:rPr lang="en-US" altLang="zh-CN" baseline="-25000" dirty="0" smtClean="0"/>
                  <a:t>5</a:t>
                </a:r>
                <a:r>
                  <a:rPr lang="zh-CN" altLang="en-US" dirty="0" smtClean="0"/>
                  <a:t>、</a:t>
                </a:r>
                <a:r>
                  <a:rPr lang="en-US" altLang="zh-CN" dirty="0" smtClean="0"/>
                  <a:t>P</a:t>
                </a:r>
                <a:r>
                  <a:rPr lang="en-US" altLang="zh-CN" baseline="-25000" dirty="0" smtClean="0"/>
                  <a:t>6</a:t>
                </a:r>
                <a:r>
                  <a:rPr lang="zh-CN" altLang="en-US" baseline="0" dirty="0" smtClean="0"/>
                  <a:t>，</a:t>
                </a:r>
                <a:r>
                  <a:rPr lang="zh-CN" altLang="en-US" dirty="0" smtClean="0"/>
                  <a:t>通过采样间隔为</a:t>
                </a:r>
                <a:r>
                  <a:rPr lang="en-US" altLang="zh-CN" dirty="0" smtClean="0"/>
                  <a:t>2(stride=2</a:t>
                </a:r>
                <a:r>
                  <a:rPr lang="zh-CN" altLang="en-US" dirty="0" smtClean="0"/>
                  <a:t>）的卷积操作构建</a:t>
                </a:r>
                <a:r>
                  <a:rPr lang="en-US" altLang="zh-CN" dirty="0" smtClean="0"/>
                  <a:t>, P</a:t>
                </a:r>
                <a:r>
                  <a:rPr lang="en-US" altLang="zh-CN" baseline="-25000" dirty="0" smtClean="0"/>
                  <a:t>3</a:t>
                </a:r>
                <a:r>
                  <a:rPr lang="en-US" altLang="zh-CN" dirty="0" smtClean="0"/>
                  <a:t>,P</a:t>
                </a:r>
                <a:r>
                  <a:rPr lang="en-US" altLang="zh-CN" baseline="-25000" dirty="0" smtClean="0"/>
                  <a:t>4</a:t>
                </a:r>
                <a:r>
                  <a:rPr lang="en-US" altLang="zh-CN" dirty="0" smtClean="0"/>
                  <a:t>,P</a:t>
                </a:r>
                <a:r>
                  <a:rPr lang="en-US" altLang="zh-CN" baseline="-25000" dirty="0" smtClean="0"/>
                  <a:t>5</a:t>
                </a:r>
                <a:r>
                  <a:rPr lang="en-US" altLang="zh-CN" dirty="0" smtClean="0"/>
                  <a:t>,P</a:t>
                </a:r>
                <a:r>
                  <a:rPr lang="en-US" altLang="zh-CN" baseline="-25000" dirty="0" smtClean="0"/>
                  <a:t>6</a:t>
                </a:r>
                <a:r>
                  <a:rPr lang="en-US" altLang="zh-CN" dirty="0" smtClean="0"/>
                  <a:t>,P</a:t>
                </a:r>
                <a:r>
                  <a:rPr lang="en-US" altLang="zh-CN" baseline="-25000" dirty="0" smtClean="0"/>
                  <a:t>7</a:t>
                </a:r>
                <a:r>
                  <a:rPr lang="zh-CN" altLang="en-US" dirty="0" smtClean="0"/>
                  <a:t>相对于原图的采样间隔</a:t>
                </a:r>
                <a:r>
                  <a:rPr lang="en-US" altLang="zh-CN" dirty="0" smtClean="0"/>
                  <a:t>,</a:t>
                </a:r>
                <a:r>
                  <a:rPr lang="zh-CN" altLang="en-US" dirty="0" smtClean="0"/>
                  <a:t>分别为</a:t>
                </a:r>
                <a:r>
                  <a:rPr lang="en-US" altLang="zh-CN" dirty="0" smtClean="0"/>
                  <a:t>8</a:t>
                </a:r>
                <a:r>
                  <a:rPr lang="zh-CN" altLang="en-US" dirty="0" smtClean="0"/>
                  <a:t>、</a:t>
                </a:r>
                <a:r>
                  <a:rPr lang="en-US" altLang="zh-CN" dirty="0" smtClean="0"/>
                  <a:t>16</a:t>
                </a:r>
                <a:r>
                  <a:rPr lang="zh-CN" altLang="en-US" dirty="0" smtClean="0"/>
                  <a:t>、</a:t>
                </a:r>
                <a:r>
                  <a:rPr lang="en-US" altLang="zh-CN" dirty="0" smtClean="0"/>
                  <a:t>32</a:t>
                </a:r>
                <a:r>
                  <a:rPr lang="zh-CN" altLang="en-US" dirty="0" smtClean="0"/>
                  <a:t>、</a:t>
                </a:r>
                <a:r>
                  <a:rPr lang="en-US" altLang="zh-CN" dirty="0" smtClean="0"/>
                  <a:t>64</a:t>
                </a:r>
                <a:r>
                  <a:rPr lang="zh-CN" altLang="en-US" dirty="0" smtClean="0"/>
                  <a:t>和</a:t>
                </a:r>
                <a:r>
                  <a:rPr lang="en-US" altLang="zh-CN" dirty="0" smtClean="0"/>
                  <a:t>128</a:t>
                </a:r>
                <a:r>
                  <a:rPr lang="zh-CN" altLang="en-US" dirty="0" smtClean="0"/>
                  <a:t>。</a:t>
                </a:r>
                <a:endParaRPr lang="en-US" altLang="zh-CN" dirty="0" smtClean="0"/>
              </a:p>
              <a:p>
                <a:r>
                  <a:rPr lang="zh-CN" altLang="en-US" dirty="0" smtClean="0"/>
                  <a:t>基于锚的检测方法针对不同层次的特征设置了不同尺度的锚框，而</a:t>
                </a:r>
                <a:r>
                  <a:rPr lang="en-US" altLang="zh-CN" dirty="0" smtClean="0"/>
                  <a:t>FCOS</a:t>
                </a:r>
                <a:r>
                  <a:rPr lang="zh-CN" altLang="en-US" dirty="0" smtClean="0"/>
                  <a:t>是直接限制了通过每一层特征能够回归的框的尺寸。对于</a:t>
                </a:r>
                <a:r>
                  <a:rPr lang="en-US" altLang="zh-CN" dirty="0" smtClean="0"/>
                  <a:t>FPN</a:t>
                </a:r>
                <a:r>
                  <a:rPr lang="zh-CN" altLang="en-US" dirty="0" smtClean="0"/>
                  <a:t>的各层特征图</a:t>
                </a:r>
                <a:r>
                  <a:rPr lang="en-US" altLang="zh-CN" dirty="0" smtClean="0"/>
                  <a:t>P</a:t>
                </a:r>
                <a:r>
                  <a:rPr lang="en-US" altLang="zh-CN" baseline="-25000" dirty="0" smtClean="0"/>
                  <a:t>3</a:t>
                </a:r>
                <a:r>
                  <a:rPr lang="en-US" altLang="zh-CN" dirty="0" smtClean="0"/>
                  <a:t>,P</a:t>
                </a:r>
                <a:r>
                  <a:rPr lang="en-US" altLang="zh-CN" baseline="-25000" dirty="0" smtClean="0"/>
                  <a:t>4</a:t>
                </a:r>
                <a:r>
                  <a:rPr lang="en-US" altLang="zh-CN" dirty="0" smtClean="0"/>
                  <a:t>,P</a:t>
                </a:r>
                <a:r>
                  <a:rPr lang="en-US" altLang="zh-CN" baseline="-25000" dirty="0" smtClean="0"/>
                  <a:t>5</a:t>
                </a:r>
                <a:r>
                  <a:rPr lang="en-US" altLang="zh-CN" dirty="0" smtClean="0"/>
                  <a:t>,P</a:t>
                </a:r>
                <a:r>
                  <a:rPr lang="en-US" altLang="zh-CN" baseline="-25000" dirty="0" smtClean="0"/>
                  <a:t>6</a:t>
                </a:r>
                <a:r>
                  <a:rPr lang="en-US" altLang="zh-CN" dirty="0" smtClean="0"/>
                  <a:t>,P</a:t>
                </a:r>
                <a:r>
                  <a:rPr lang="en-US" altLang="zh-CN" baseline="-25000" dirty="0" smtClean="0"/>
                  <a:t>7</a:t>
                </a:r>
                <a:r>
                  <a:rPr lang="zh-CN" altLang="en-US" dirty="0" smtClean="0"/>
                  <a:t>，分别设置</a:t>
                </a:r>
                <a:r>
                  <a:rPr lang="en-US" altLang="zh-CN" dirty="0" smtClean="0"/>
                  <a:t>m</a:t>
                </a:r>
                <a:r>
                  <a:rPr lang="en-US" altLang="zh-CN" baseline="-25000" dirty="0" smtClean="0"/>
                  <a:t>2</a:t>
                </a:r>
                <a:r>
                  <a:rPr lang="en-US" altLang="zh-CN" dirty="0" smtClean="0"/>
                  <a:t>,m</a:t>
                </a:r>
                <a:r>
                  <a:rPr lang="en-US" altLang="zh-CN" baseline="-25000" dirty="0" smtClean="0"/>
                  <a:t>3</a:t>
                </a:r>
                <a:r>
                  <a:rPr lang="en-US" altLang="zh-CN" dirty="0" smtClean="0"/>
                  <a:t>,m</a:t>
                </a:r>
                <a:r>
                  <a:rPr lang="en-US" altLang="zh-CN" baseline="-25000" dirty="0" smtClean="0"/>
                  <a:t>4</a:t>
                </a:r>
                <a:r>
                  <a:rPr lang="en-US" altLang="zh-CN" dirty="0" smtClean="0"/>
                  <a:t>,m</a:t>
                </a:r>
                <a:r>
                  <a:rPr lang="en-US" altLang="zh-CN" baseline="-25000" dirty="0" smtClean="0"/>
                  <a:t>5</a:t>
                </a:r>
                <a:r>
                  <a:rPr lang="en-US" altLang="zh-CN" dirty="0" smtClean="0"/>
                  <a:t>,m</a:t>
                </a:r>
                <a:r>
                  <a:rPr lang="en-US" altLang="zh-CN" baseline="-25000" dirty="0" smtClean="0"/>
                  <a:t>6</a:t>
                </a:r>
                <a:r>
                  <a:rPr lang="en-US" altLang="zh-CN" dirty="0" smtClean="0"/>
                  <a:t>,m</a:t>
                </a:r>
                <a:r>
                  <a:rPr lang="en-US" altLang="zh-CN" baseline="-25000" dirty="0" smtClean="0"/>
                  <a:t>7</a:t>
                </a:r>
                <a:r>
                  <a:rPr lang="zh-CN" altLang="en-US" baseline="0" dirty="0" smtClean="0"/>
                  <a:t>，比如分别取</a:t>
                </a:r>
                <a:r>
                  <a:rPr lang="en-US" altLang="zh-CN" baseline="0" dirty="0" smtClean="0"/>
                  <a:t>0</a:t>
                </a:r>
                <a:r>
                  <a:rPr lang="zh-CN" altLang="en-US" baseline="0" dirty="0" smtClean="0"/>
                  <a:t>、</a:t>
                </a:r>
                <a:r>
                  <a:rPr lang="en-US" altLang="zh-CN" baseline="0" dirty="0" smtClean="0"/>
                  <a:t>64</a:t>
                </a:r>
                <a:r>
                  <a:rPr lang="zh-CN" altLang="en-US" baseline="0" dirty="0" smtClean="0"/>
                  <a:t>、</a:t>
                </a:r>
                <a:r>
                  <a:rPr lang="en-US" altLang="zh-CN" baseline="0" dirty="0" smtClean="0"/>
                  <a:t>128</a:t>
                </a:r>
                <a:r>
                  <a:rPr lang="zh-CN" altLang="en-US" baseline="0" dirty="0" smtClean="0"/>
                  <a:t>、</a:t>
                </a:r>
                <a:r>
                  <a:rPr lang="en-US" altLang="zh-CN" baseline="0" dirty="0" smtClean="0"/>
                  <a:t>256</a:t>
                </a:r>
                <a:r>
                  <a:rPr lang="zh-CN" altLang="en-US" baseline="0" dirty="0" smtClean="0"/>
                  <a:t>、</a:t>
                </a:r>
                <a:r>
                  <a:rPr lang="en-US" altLang="zh-CN" baseline="0" dirty="0" smtClean="0"/>
                  <a:t>512</a:t>
                </a:r>
                <a:r>
                  <a:rPr lang="zh-CN" altLang="en-US" baseline="0" dirty="0" smtClean="0"/>
                  <a:t>、∞，对于第</a:t>
                </a:r>
                <a:r>
                  <a:rPr lang="en-US" altLang="zh-CN" baseline="0" dirty="0" err="1" smtClean="0"/>
                  <a:t>i</a:t>
                </a:r>
                <a:r>
                  <a:rPr lang="zh-CN" altLang="en-US" baseline="0" dirty="0" smtClean="0"/>
                  <a:t>层特征图，限制</a:t>
                </a:r>
                <a:r>
                  <a:rPr lang="en-US" altLang="zh-CN" b="0" i="0" baseline="0" smtClean="0">
                    <a:latin typeface="Cambria Math" panose="02040503050406030204" pitchFamily="18" charset="0"/>
                  </a:rPr>
                  <a:t>𝑚_(𝑖−1)</a:t>
                </a:r>
                <a:r>
                  <a:rPr lang="en-US" altLang="zh-CN" i="0" baseline="0" smtClean="0">
                    <a:latin typeface="Cambria Math" panose="02040503050406030204" pitchFamily="18" charset="0"/>
                    <a:ea typeface="Cambria Math" panose="02040503050406030204" pitchFamily="18" charset="0"/>
                  </a:rPr>
                  <a:t>≤</a:t>
                </a:r>
                <a:r>
                  <a:rPr lang="en-US" altLang="zh-CN" b="0" i="0" baseline="0" smtClean="0">
                    <a:latin typeface="Cambria Math" panose="02040503050406030204" pitchFamily="18" charset="0"/>
                    <a:ea typeface="Cambria Math" panose="02040503050406030204" pitchFamily="18" charset="0"/>
                  </a:rPr>
                  <a:t>𝑚𝑎𝑥(</a:t>
                </a:r>
                <a:r>
                  <a:rPr lang="en-US" altLang="zh-CN" b="0" i="0" smtClean="0">
                    <a:latin typeface="Cambria Math" panose="02040503050406030204" pitchFamily="18" charset="0"/>
                  </a:rPr>
                  <a:t>𝑙^∗,𝑟</a:t>
                </a:r>
                <a:r>
                  <a:rPr lang="en-US" altLang="zh-CN" b="0" i="0">
                    <a:latin typeface="Cambria Math" panose="02040503050406030204" pitchFamily="18" charset="0"/>
                  </a:rPr>
                  <a:t>^</a:t>
                </a:r>
                <a:r>
                  <a:rPr lang="en-US" altLang="zh-CN" i="0">
                    <a:latin typeface="Cambria Math" panose="02040503050406030204" pitchFamily="18" charset="0"/>
                  </a:rPr>
                  <a:t>∗,</a:t>
                </a:r>
                <a:r>
                  <a:rPr lang="en-US" altLang="zh-CN" b="0" i="0" smtClean="0">
                    <a:latin typeface="Cambria Math" panose="02040503050406030204" pitchFamily="18" charset="0"/>
                  </a:rPr>
                  <a:t>𝑡</a:t>
                </a:r>
                <a:r>
                  <a:rPr lang="en-US" altLang="zh-CN" b="0" i="0">
                    <a:latin typeface="Cambria Math" panose="02040503050406030204" pitchFamily="18" charset="0"/>
                  </a:rPr>
                  <a:t>^</a:t>
                </a:r>
                <a:r>
                  <a:rPr lang="en-US" altLang="zh-CN" i="0">
                    <a:latin typeface="Cambria Math" panose="02040503050406030204" pitchFamily="18" charset="0"/>
                  </a:rPr>
                  <a:t>∗,</a:t>
                </a:r>
                <a:r>
                  <a:rPr lang="en-US" altLang="zh-CN" b="0" i="0" smtClean="0">
                    <a:latin typeface="Cambria Math" panose="02040503050406030204" pitchFamily="18" charset="0"/>
                  </a:rPr>
                  <a:t>𝑏</a:t>
                </a:r>
                <a:r>
                  <a:rPr lang="en-US" altLang="zh-CN" b="0" i="0">
                    <a:latin typeface="Cambria Math" panose="02040503050406030204" pitchFamily="18" charset="0"/>
                  </a:rPr>
                  <a:t>^</a:t>
                </a:r>
                <a:r>
                  <a:rPr lang="en-US" altLang="zh-CN" i="0">
                    <a:latin typeface="Cambria Math" panose="02040503050406030204" pitchFamily="18" charset="0"/>
                  </a:rPr>
                  <a:t>∗ )</a:t>
                </a:r>
                <a:r>
                  <a:rPr lang="en-US" altLang="zh-CN" b="0" i="0" baseline="0" smtClean="0">
                    <a:latin typeface="Cambria Math" panose="02040503050406030204" pitchFamily="18" charset="0"/>
                    <a:ea typeface="Cambria Math" panose="02040503050406030204" pitchFamily="18" charset="0"/>
                  </a:rPr>
                  <a:t>≤𝑚_𝑖</a:t>
                </a:r>
                <a:r>
                  <a:rPr lang="zh-CN" altLang="en-US" baseline="0" dirty="0" smtClean="0"/>
                  <a:t>，如果需要回归的真值框不在限制条件内，则对应的特征图上的点视为负样本，</a:t>
                </a:r>
                <a:r>
                  <a:rPr lang="en-US" altLang="zh-CN" baseline="0" dirty="0" smtClean="0"/>
                  <a:t>FPN</a:t>
                </a:r>
                <a:r>
                  <a:rPr lang="zh-CN" altLang="en-US" baseline="0" dirty="0" smtClean="0"/>
                  <a:t>每一层只负责回归对应尺度的目标框，因此算法的性能得到了较好的保障。另外，因为交叠的目标通常归属于不同的特征图，所以这种方法在一定程度上解决了交叠目标的回归问题</a:t>
                </a:r>
                <a:r>
                  <a:rPr lang="en-US" altLang="zh-CN" baseline="0" dirty="0" smtClean="0"/>
                  <a:t>,</a:t>
                </a:r>
                <a:r>
                  <a:rPr lang="zh-CN" altLang="en-US" baseline="0" dirty="0" smtClean="0"/>
                  <a:t>但如果两个交叠目标的尺度非常接近</a:t>
                </a:r>
                <a:r>
                  <a:rPr lang="en-US" altLang="zh-CN" baseline="0" dirty="0" smtClean="0"/>
                  <a:t>,</a:t>
                </a:r>
                <a:r>
                  <a:rPr lang="zh-CN" altLang="en-US" baseline="0" dirty="0" smtClean="0"/>
                  <a:t>属于同一层特征图</a:t>
                </a:r>
                <a:r>
                  <a:rPr lang="en-US" altLang="zh-CN" baseline="0" dirty="0" smtClean="0"/>
                  <a:t>,</a:t>
                </a:r>
                <a:r>
                  <a:rPr lang="zh-CN" altLang="en-US" baseline="0" dirty="0" smtClean="0"/>
                  <a:t>算法的策略仍然是选择较小的框作为回归对象。</a:t>
                </a:r>
                <a:endParaRPr lang="en-US" altLang="zh-CN" baseline="-25000" dirty="0" smtClean="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44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9657731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我们在实际测试过程中会发现，即使使用了</a:t>
            </a:r>
            <a:r>
              <a:rPr lang="en-US" altLang="zh-CN" dirty="0" smtClean="0"/>
              <a:t>FPN</a:t>
            </a:r>
            <a:r>
              <a:rPr lang="zh-CN" altLang="en-US" dirty="0" smtClean="0"/>
              <a:t>方法，</a:t>
            </a:r>
            <a:r>
              <a:rPr lang="en-US" altLang="zh-CN" dirty="0" smtClean="0"/>
              <a:t>FCOS</a:t>
            </a:r>
            <a:r>
              <a:rPr lang="zh-CN" altLang="en-US" dirty="0" smtClean="0"/>
              <a:t>的回归结果和基于锚的方法仍有一些差距，通过分析可知，一个主要的原因是有很多预测框的中心明显偏离了特征图上训练样本在原图上的投影点，产生了很多的低质量的预测框，这些低质量的预测框相当于噪声，严重影响了后面</a:t>
            </a:r>
            <a:r>
              <a:rPr lang="en-US" altLang="zh-CN" dirty="0" smtClean="0"/>
              <a:t>NMS</a:t>
            </a:r>
            <a:r>
              <a:rPr lang="zh-CN" altLang="en-US" dirty="0" smtClean="0"/>
              <a:t>的结果。为了解决这个问题，</a:t>
            </a:r>
            <a:r>
              <a:rPr lang="en-US" altLang="zh-CN" dirty="0" smtClean="0"/>
              <a:t>FCOS</a:t>
            </a:r>
            <a:r>
              <a:rPr lang="zh-CN" altLang="en-US" dirty="0" smtClean="0"/>
              <a:t>引入了一个中心指标（</a:t>
            </a:r>
            <a:r>
              <a:rPr lang="en-US" altLang="zh-CN" dirty="0" smtClean="0"/>
              <a:t>center-ness</a:t>
            </a:r>
            <a:r>
              <a:rPr lang="zh-CN" altLang="en-US" dirty="0" smtClean="0"/>
              <a:t>），用于衡量预测框相对于投影点的对称性，计算方法如下。</a:t>
            </a:r>
            <a:endParaRPr lang="en-US" altLang="zh-CN" dirty="0" smtClean="0"/>
          </a:p>
          <a:p>
            <a:r>
              <a:rPr lang="zh-CN" altLang="en-US" dirty="0" smtClean="0"/>
              <a:t>中心指标取值为</a:t>
            </a:r>
            <a:r>
              <a:rPr lang="en-US" altLang="zh-CN" dirty="0" smtClean="0"/>
              <a:t>0~1</a:t>
            </a:r>
            <a:r>
              <a:rPr lang="zh-CN" altLang="en-US" dirty="0" smtClean="0"/>
              <a:t>，取值越大意味着投影点与预测框中心的重合度越高，在训练过程中，如上张幻灯片的图一样，分类分支再分成两个分支，一个用来回归当前像素类别的概率；另一个用来回归中心指标；在测试过程中，中心指标作为一个权重因子与分类分支类别的置信度相乘，即使某个类别的置信度很高，如果中心指标的值非常小，整体加权结果也会很小，就可以被阈值过滤掉，从而不参与</a:t>
            </a:r>
            <a:r>
              <a:rPr lang="en-US" altLang="zh-CN" dirty="0" smtClean="0"/>
              <a:t>NMS</a:t>
            </a:r>
            <a:r>
              <a:rPr lang="zh-CN" altLang="en-US" dirty="0" smtClean="0"/>
              <a:t>的计算，使得算法的性能和计算效率都有一个显著的提升。</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07200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0.jpg"/></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33.jp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38.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43.jpg"/></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0.xml"/><Relationship Id="rId1" Type="http://schemas.openxmlformats.org/officeDocument/2006/relationships/slideLayout" Target="../slideLayouts/slideLayout3.xml"/><Relationship Id="rId5" Type="http://schemas.openxmlformats.org/officeDocument/2006/relationships/image" Target="../media/image53.png"/><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smtClean="0"/>
              <a:t>课件：一</a:t>
            </a:r>
            <a:r>
              <a:rPr lang="zh-CN" altLang="en-US" dirty="0" smtClean="0"/>
              <a:t>阶段检测算法</a:t>
            </a:r>
            <a:endParaRPr lang="zh-CN" altLang="en-US" dirty="0"/>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p:txBody>
          <a:bodyPr/>
          <a:lstStyle/>
          <a:p>
            <a:r>
              <a:rPr lang="zh-CN" altLang="en-US" dirty="0" smtClean="0"/>
              <a:t>目标检测的实现</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463984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a:t>
            </a:r>
            <a:r>
              <a:rPr kumimoji="1" lang="en-US" altLang="zh-CN" dirty="0" smtClean="0">
                <a:latin typeface="微软雅黑" panose="020B0503020204020204" pitchFamily="34" charset="-122"/>
                <a:ea typeface="微软雅黑" panose="020B0503020204020204" pitchFamily="34" charset="-122"/>
              </a:rPr>
              <a:t>YOLO</a:t>
            </a:r>
            <a:r>
              <a:rPr kumimoji="1" lang="zh-CN" altLang="en-US" dirty="0" smtClean="0">
                <a:latin typeface="微软雅黑" panose="020B0503020204020204" pitchFamily="34" charset="-122"/>
                <a:ea typeface="微软雅黑" panose="020B0503020204020204" pitchFamily="34" charset="-122"/>
              </a:rPr>
              <a:t>算法的原理与改进</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了解其他重要的一阶段检测算法</a:t>
            </a: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a:t>一</a:t>
            </a:r>
            <a:r>
              <a:rPr lang="zh-CN" altLang="en-US" dirty="0" smtClean="0"/>
              <a:t>阶段检测算法</a:t>
            </a:r>
            <a:r>
              <a:rPr lang="en-US" altLang="zh-CN" dirty="0" smtClean="0"/>
              <a:t>——YOLO</a:t>
            </a:r>
          </a:p>
          <a:p>
            <a:pPr lvl="1">
              <a:buFont typeface="+mj-lt"/>
              <a:buAutoNum type="arabicPeriod"/>
            </a:pPr>
            <a:r>
              <a:rPr lang="en-US" altLang="zh-CN" dirty="0" smtClean="0"/>
              <a:t>YOLOv1</a:t>
            </a:r>
          </a:p>
          <a:p>
            <a:pPr lvl="1">
              <a:buFont typeface="+mj-lt"/>
              <a:buAutoNum type="arabicPeriod"/>
            </a:pPr>
            <a:r>
              <a:rPr lang="en-US" altLang="zh-CN" dirty="0" smtClean="0"/>
              <a:t>YOLOv2</a:t>
            </a:r>
          </a:p>
          <a:p>
            <a:pPr lvl="1">
              <a:buFont typeface="+mj-lt"/>
              <a:buAutoNum type="arabicPeriod"/>
            </a:pPr>
            <a:r>
              <a:rPr lang="en-US" altLang="zh-CN" dirty="0" smtClean="0"/>
              <a:t>YOLOv3</a:t>
            </a:r>
          </a:p>
          <a:p>
            <a:pPr lvl="1">
              <a:buFont typeface="+mj-lt"/>
              <a:buAutoNum type="arabicPeriod"/>
            </a:pPr>
            <a:r>
              <a:rPr lang="en-US" altLang="zh-CN" dirty="0" smtClean="0"/>
              <a:t>YOLOv4</a:t>
            </a:r>
          </a:p>
          <a:p>
            <a:pPr lvl="1">
              <a:buFont typeface="+mj-lt"/>
              <a:buAutoNum type="arabicPeriod"/>
            </a:pPr>
            <a:r>
              <a:rPr lang="en-US" altLang="zh-CN" dirty="0" smtClean="0"/>
              <a:t>YOLOv5</a:t>
            </a:r>
          </a:p>
          <a:p>
            <a:pPr>
              <a:lnSpc>
                <a:spcPct val="125000"/>
              </a:lnSpc>
              <a:buFont typeface="+mj-lt"/>
              <a:buAutoNum type="arabicPeriod"/>
            </a:pPr>
            <a:r>
              <a:rPr lang="zh-CN" altLang="en-US" dirty="0" smtClean="0"/>
              <a:t>其他的一阶段检测算法</a:t>
            </a:r>
            <a:endParaRPr lang="en-US" altLang="zh-CN" dirty="0" smtClean="0"/>
          </a:p>
          <a:p>
            <a:pPr lvl="1">
              <a:buFont typeface="+mj-lt"/>
              <a:buAutoNum type="arabicPeriod"/>
            </a:pPr>
            <a:r>
              <a:rPr lang="en-US" altLang="zh-CN" dirty="0" smtClean="0"/>
              <a:t>SSD</a:t>
            </a:r>
            <a:r>
              <a:rPr lang="zh-CN" altLang="en-US" dirty="0" smtClean="0"/>
              <a:t>算法</a:t>
            </a:r>
            <a:endParaRPr lang="en-US" altLang="zh-CN" dirty="0" smtClean="0"/>
          </a:p>
          <a:p>
            <a:pPr lvl="1">
              <a:buFont typeface="+mj-lt"/>
              <a:buAutoNum type="arabicPeriod"/>
            </a:pPr>
            <a:r>
              <a:rPr lang="en-US" altLang="zh-CN" dirty="0" smtClean="0"/>
              <a:t>FCOS</a:t>
            </a:r>
            <a:r>
              <a:rPr lang="zh-CN" altLang="en-US" dirty="0" smtClean="0"/>
              <a:t>算法</a:t>
            </a: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一阶段检测算法</a:t>
            </a:r>
            <a:r>
              <a:rPr lang="en-US" altLang="zh-CN" dirty="0" smtClean="0"/>
              <a:t>——YOLO</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一阶段检测算法</a:t>
            </a:r>
            <a:endParaRPr lang="zh-CN" altLang="en-US" dirty="0"/>
          </a:p>
        </p:txBody>
      </p:sp>
      <p:sp>
        <p:nvSpPr>
          <p:cNvPr id="3" name="内容占位符 2"/>
          <p:cNvSpPr>
            <a:spLocks noGrp="1"/>
          </p:cNvSpPr>
          <p:nvPr>
            <p:ph sz="quarter" idx="13"/>
          </p:nvPr>
        </p:nvSpPr>
        <p:spPr/>
        <p:txBody>
          <a:bodyPr/>
          <a:lstStyle/>
          <a:p>
            <a:r>
              <a:rPr lang="zh-CN" altLang="en-US" dirty="0" smtClean="0"/>
              <a:t>直接回归目标框的位置坐标和目标的分类概率</a:t>
            </a:r>
            <a:endParaRPr lang="en-US" altLang="zh-CN" dirty="0" smtClean="0"/>
          </a:p>
          <a:p>
            <a:r>
              <a:rPr lang="zh-CN" altLang="en-US" dirty="0" smtClean="0"/>
              <a:t>基于锚：</a:t>
            </a:r>
            <a:endParaRPr lang="en-US" altLang="zh-CN" dirty="0" smtClean="0"/>
          </a:p>
          <a:p>
            <a:pPr lvl="1"/>
            <a:r>
              <a:rPr lang="zh-CN" altLang="en-US" dirty="0" smtClean="0"/>
              <a:t>用于目标尺寸、形态变化不大的场景</a:t>
            </a:r>
            <a:endParaRPr lang="en-US" altLang="zh-CN" dirty="0" smtClean="0"/>
          </a:p>
          <a:p>
            <a:pPr lvl="1"/>
            <a:r>
              <a:rPr lang="zh-CN" altLang="en-US" dirty="0" smtClean="0"/>
              <a:t>如人脸检测、行人检测</a:t>
            </a:r>
            <a:endParaRPr lang="en-US" altLang="zh-CN" dirty="0" smtClean="0"/>
          </a:p>
          <a:p>
            <a:pPr lvl="1"/>
            <a:r>
              <a:rPr lang="en-US" altLang="zh-CN" dirty="0" smtClean="0"/>
              <a:t>YOLO(You Only Look Once)</a:t>
            </a:r>
            <a:r>
              <a:rPr lang="zh-CN" altLang="en-US" dirty="0" smtClean="0"/>
              <a:t>、</a:t>
            </a:r>
            <a:r>
              <a:rPr lang="en-US" altLang="zh-CN" dirty="0" smtClean="0"/>
              <a:t>SSD(Single Shot Detector)</a:t>
            </a:r>
            <a:r>
              <a:rPr lang="zh-CN" altLang="en-US" dirty="0" smtClean="0"/>
              <a:t>算法</a:t>
            </a:r>
            <a:endParaRPr lang="en-US" altLang="zh-CN" dirty="0" smtClean="0"/>
          </a:p>
          <a:p>
            <a:r>
              <a:rPr lang="zh-CN" altLang="en-US" dirty="0"/>
              <a:t>不</a:t>
            </a:r>
            <a:r>
              <a:rPr lang="zh-CN" altLang="en-US" dirty="0" smtClean="0"/>
              <a:t>依赖锚：</a:t>
            </a:r>
            <a:endParaRPr lang="en-US" altLang="zh-CN" dirty="0" smtClean="0"/>
          </a:p>
          <a:p>
            <a:pPr lvl="1"/>
            <a:r>
              <a:rPr lang="zh-CN" altLang="en-US" dirty="0" smtClean="0"/>
              <a:t>适合目标尺寸、形态变化剧烈场景</a:t>
            </a:r>
            <a:endParaRPr lang="en-US" altLang="zh-CN" dirty="0" smtClean="0"/>
          </a:p>
          <a:p>
            <a:pPr lvl="1"/>
            <a:r>
              <a:rPr lang="zh-CN" altLang="en-US" dirty="0" smtClean="0"/>
              <a:t>如工业瑕疵检测</a:t>
            </a:r>
            <a:endParaRPr lang="en-US" altLang="zh-CN" dirty="0" smtClean="0"/>
          </a:p>
          <a:p>
            <a:pPr lvl="1"/>
            <a:r>
              <a:rPr lang="en-US" altLang="zh-CN" dirty="0" smtClean="0"/>
              <a:t>FCOS(Fully Convolutional One-Stage Object Detector)</a:t>
            </a:r>
            <a:r>
              <a:rPr lang="zh-CN" altLang="en-US" dirty="0" smtClean="0"/>
              <a:t>算法</a:t>
            </a:r>
            <a:endParaRPr lang="zh-CN" altLang="en-US" dirty="0"/>
          </a:p>
        </p:txBody>
      </p:sp>
    </p:spTree>
    <p:extLst>
      <p:ext uri="{BB962C8B-B14F-4D97-AF65-F5344CB8AC3E}">
        <p14:creationId xmlns:p14="http://schemas.microsoft.com/office/powerpoint/2010/main" val="3139689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a:t>
            </a:r>
            <a:endParaRPr lang="zh-CN" altLang="en-US" dirty="0"/>
          </a:p>
        </p:txBody>
      </p:sp>
      <p:sp>
        <p:nvSpPr>
          <p:cNvPr id="3" name="内容占位符 2"/>
          <p:cNvSpPr>
            <a:spLocks noGrp="1"/>
          </p:cNvSpPr>
          <p:nvPr>
            <p:ph sz="quarter" idx="13"/>
          </p:nvPr>
        </p:nvSpPr>
        <p:spPr/>
        <p:txBody>
          <a:bodyPr/>
          <a:lstStyle/>
          <a:p>
            <a:r>
              <a:rPr lang="zh-CN" altLang="en-US" dirty="0" smtClean="0"/>
              <a:t>基本思路：</a:t>
            </a:r>
            <a:endParaRPr lang="en-US" altLang="zh-CN" dirty="0" smtClean="0"/>
          </a:p>
          <a:p>
            <a:pPr lvl="1"/>
            <a:r>
              <a:rPr lang="zh-CN" altLang="en-US" dirty="0" smtClean="0"/>
              <a:t>直接回归目标框的位置坐标和分类概率</a:t>
            </a:r>
            <a:r>
              <a:rPr lang="en-US" altLang="zh-CN" dirty="0" smtClean="0"/>
              <a:t>	</a:t>
            </a:r>
          </a:p>
          <a:p>
            <a:pPr lvl="1"/>
            <a:r>
              <a:rPr lang="zh-CN" altLang="en-US" dirty="0" smtClean="0"/>
              <a:t>检测问题直接转化为回归问题</a:t>
            </a:r>
            <a:endParaRPr lang="en-US" altLang="zh-CN" dirty="0" smtClean="0"/>
          </a:p>
          <a:p>
            <a:r>
              <a:rPr lang="zh-CN" altLang="en-US" dirty="0" smtClean="0"/>
              <a:t>特点：</a:t>
            </a:r>
            <a:endParaRPr lang="en-US" altLang="zh-CN" dirty="0" smtClean="0"/>
          </a:p>
          <a:p>
            <a:pPr lvl="1"/>
            <a:r>
              <a:rPr lang="zh-CN" altLang="en-US" dirty="0" smtClean="0"/>
              <a:t>将一整张图作为输入，每个目标都基于整张图像信息</a:t>
            </a:r>
            <a:endParaRPr lang="en-US" altLang="zh-CN" dirty="0" smtClean="0"/>
          </a:p>
          <a:p>
            <a:pPr lvl="1"/>
            <a:r>
              <a:rPr lang="zh-CN" altLang="en-US" dirty="0" smtClean="0"/>
              <a:t>能够利用更加全面的上下文信息</a:t>
            </a:r>
            <a:endParaRPr lang="en-US" altLang="zh-CN" dirty="0" smtClean="0"/>
          </a:p>
          <a:p>
            <a:r>
              <a:rPr lang="zh-CN" altLang="en-US" dirty="0" smtClean="0"/>
              <a:t>局限性：</a:t>
            </a:r>
            <a:endParaRPr lang="en-US" altLang="zh-CN" dirty="0"/>
          </a:p>
          <a:p>
            <a:pPr lvl="1"/>
            <a:r>
              <a:rPr lang="zh-CN" altLang="en-US" dirty="0" smtClean="0"/>
              <a:t>对密集小目标检测结果较差</a:t>
            </a:r>
            <a:endParaRPr lang="en-US" altLang="zh-CN" dirty="0" smtClean="0"/>
          </a:p>
          <a:p>
            <a:r>
              <a:rPr lang="zh-CN" altLang="en-US" dirty="0" smtClean="0"/>
              <a:t>版本：</a:t>
            </a:r>
            <a:endParaRPr lang="en-US" altLang="zh-CN" dirty="0" smtClean="0"/>
          </a:p>
          <a:p>
            <a:pPr lvl="1"/>
            <a:r>
              <a:rPr lang="en-US" altLang="zh-CN" dirty="0" smtClean="0"/>
              <a:t>YOLOv1-YOLOv5</a:t>
            </a: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0539" y="3785191"/>
            <a:ext cx="7599949" cy="2352083"/>
          </a:xfrm>
          <a:prstGeom prst="rect">
            <a:avLst/>
          </a:prstGeom>
        </p:spPr>
      </p:pic>
    </p:spTree>
    <p:extLst>
      <p:ext uri="{BB962C8B-B14F-4D97-AF65-F5344CB8AC3E}">
        <p14:creationId xmlns:p14="http://schemas.microsoft.com/office/powerpoint/2010/main" val="3723154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YOLOv1</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en-US" altLang="zh-CN" dirty="0" smtClean="0"/>
                  <a:t>YOLOv1</a:t>
                </a:r>
                <a:r>
                  <a:rPr lang="zh-CN" altLang="en-US" dirty="0" smtClean="0"/>
                  <a:t>算法原理：</a:t>
                </a:r>
                <a:endParaRPr lang="en-US" altLang="zh-CN" dirty="0" smtClean="0"/>
              </a:p>
              <a:p>
                <a:pPr lvl="1"/>
                <a:r>
                  <a:rPr lang="zh-CN" altLang="en-US" dirty="0" smtClean="0"/>
                  <a:t>将图像均匀分为</a:t>
                </a:r>
                <a:r>
                  <a:rPr lang="en-US" altLang="zh-CN" dirty="0" smtClean="0"/>
                  <a:t>S×S</a:t>
                </a:r>
                <a:r>
                  <a:rPr lang="zh-CN" altLang="en-US" dirty="0" smtClean="0"/>
                  <a:t>块，以检测目标的中心点位置决定哪一块</a:t>
                </a:r>
                <a:endParaRPr lang="en-US" altLang="zh-CN" dirty="0" smtClean="0"/>
              </a:p>
              <a:p>
                <a:pPr lvl="1"/>
                <a:r>
                  <a:rPr lang="zh-CN" altLang="en-US" dirty="0" smtClean="0"/>
                  <a:t>保留目标置信度（交并比）最大的预测框</a:t>
                </a:r>
                <a:endParaRPr lang="en-US" altLang="zh-CN" dirty="0" smtClean="0"/>
              </a:p>
              <a:p>
                <a:pPr lvl="1"/>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𝑃𝑟</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𝑂𝑏𝑗𝑒𝑐𝑡</m:t>
                        </m:r>
                      </m:e>
                    </m:d>
                    <m:r>
                      <a:rPr lang="en-US" altLang="zh-CN" i="1">
                        <a:latin typeface="Cambria Math" panose="02040503050406030204" pitchFamily="18" charset="0"/>
                      </a:rPr>
                      <m:t>×</m:t>
                    </m:r>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𝐼𝑜𝑈</m:t>
                        </m:r>
                      </m:e>
                      <m:sub>
                        <m:r>
                          <a:rPr lang="en-US" altLang="zh-CN" b="0" i="1" smtClean="0">
                            <a:latin typeface="Cambria Math" panose="02040503050406030204" pitchFamily="18" charset="0"/>
                          </a:rPr>
                          <m:t>𝑝𝑟𝑒𝑑</m:t>
                        </m:r>
                      </m:sub>
                      <m:sup>
                        <m:r>
                          <a:rPr lang="en-US" altLang="zh-CN" b="0" i="1" smtClean="0">
                            <a:latin typeface="Cambria Math" panose="02040503050406030204" pitchFamily="18" charset="0"/>
                          </a:rPr>
                          <m:t>𝑡𝑟𝑢𝑡h</m:t>
                        </m:r>
                      </m:sup>
                    </m:sSubSup>
                  </m:oMath>
                </a14:m>
                <a:endParaRPr lang="en-US" altLang="zh-CN" dirty="0" smtClean="0"/>
              </a:p>
              <a:p>
                <a:pPr lvl="2"/>
                <a:r>
                  <a:rPr lang="zh-CN" altLang="en-US" dirty="0" smtClean="0"/>
                  <a:t>预测框框中目标，</a:t>
                </a:r>
                <a14:m>
                  <m:oMath xmlns:m="http://schemas.openxmlformats.org/officeDocument/2006/math">
                    <m:r>
                      <a:rPr lang="en-US" altLang="zh-CN" i="1">
                        <a:latin typeface="Cambria Math" panose="02040503050406030204" pitchFamily="18" charset="0"/>
                      </a:rPr>
                      <m:t>𝑃𝑟</m:t>
                    </m:r>
                    <m:d>
                      <m:dPr>
                        <m:ctrlPr>
                          <a:rPr lang="en-US" altLang="zh-CN" i="1">
                            <a:latin typeface="Cambria Math" panose="02040503050406030204" pitchFamily="18" charset="0"/>
                          </a:rPr>
                        </m:ctrlPr>
                      </m:dPr>
                      <m:e>
                        <m:r>
                          <a:rPr lang="en-US" altLang="zh-CN" i="1">
                            <a:latin typeface="Cambria Math" panose="02040503050406030204" pitchFamily="18" charset="0"/>
                          </a:rPr>
                          <m:t>𝑂𝑏𝑗𝑒𝑐𝑡</m:t>
                        </m:r>
                      </m:e>
                    </m:d>
                    <m:r>
                      <a:rPr lang="en-US" altLang="zh-CN" b="0" i="1" smtClean="0">
                        <a:latin typeface="Cambria Math" panose="02040503050406030204" pitchFamily="18" charset="0"/>
                      </a:rPr>
                      <m:t>=1</m:t>
                    </m:r>
                  </m:oMath>
                </a14:m>
                <a:r>
                  <a:rPr lang="zh-CN" altLang="en-US" dirty="0" smtClean="0"/>
                  <a:t>，预测框没有框中目标，</a:t>
                </a:r>
                <a14:m>
                  <m:oMath xmlns:m="http://schemas.openxmlformats.org/officeDocument/2006/math">
                    <m:r>
                      <a:rPr lang="en-US" altLang="zh-CN" i="1">
                        <a:latin typeface="Cambria Math" panose="02040503050406030204" pitchFamily="18" charset="0"/>
                      </a:rPr>
                      <m:t>𝑃𝑟</m:t>
                    </m:r>
                    <m:d>
                      <m:dPr>
                        <m:ctrlPr>
                          <a:rPr lang="en-US" altLang="zh-CN" i="1">
                            <a:latin typeface="Cambria Math" panose="02040503050406030204" pitchFamily="18" charset="0"/>
                          </a:rPr>
                        </m:ctrlPr>
                      </m:dPr>
                      <m:e>
                        <m:r>
                          <a:rPr lang="en-US" altLang="zh-CN" i="1">
                            <a:latin typeface="Cambria Math" panose="02040503050406030204" pitchFamily="18" charset="0"/>
                          </a:rPr>
                          <m:t>𝑂𝑏𝑗𝑒𝑐𝑡</m:t>
                        </m:r>
                      </m:e>
                    </m:d>
                    <m:r>
                      <a:rPr lang="en-US" altLang="zh-CN" b="0" i="1" smtClean="0">
                        <a:latin typeface="Cambria Math" panose="02040503050406030204" pitchFamily="18" charset="0"/>
                      </a:rPr>
                      <m:t>=0</m:t>
                    </m:r>
                  </m:oMath>
                </a14:m>
                <a:endParaRPr lang="en-US" altLang="zh-CN" dirty="0" smtClean="0"/>
              </a:p>
              <a:p>
                <a:pPr lvl="1"/>
                <a:r>
                  <a:rPr lang="zh-CN" altLang="en-US" dirty="0"/>
                  <a:t>回归值为</a:t>
                </a:r>
                <a:r>
                  <a:rPr lang="en-US" altLang="zh-CN" dirty="0"/>
                  <a:t>5</a:t>
                </a:r>
                <a:r>
                  <a:rPr lang="zh-CN" altLang="en-US" dirty="0"/>
                  <a:t>个：框中心点坐标</a:t>
                </a:r>
                <a14:m>
                  <m:oMath xmlns:m="http://schemas.openxmlformats.org/officeDocument/2006/math">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oMath>
                </a14:m>
                <a:r>
                  <a:rPr lang="en-US" altLang="zh-CN" dirty="0"/>
                  <a:t>,</a:t>
                </a:r>
                <a:r>
                  <a:rPr lang="zh-CN" altLang="en-US" dirty="0"/>
                  <a:t>框的宽</a:t>
                </a:r>
                <a14:m>
                  <m:oMath xmlns:m="http://schemas.openxmlformats.org/officeDocument/2006/math">
                    <m:r>
                      <a:rPr lang="en-US" altLang="zh-CN" i="1">
                        <a:latin typeface="Cambria Math" panose="02040503050406030204" pitchFamily="18" charset="0"/>
                      </a:rPr>
                      <m:t>𝑤</m:t>
                    </m:r>
                  </m:oMath>
                </a14:m>
                <a:r>
                  <a:rPr lang="zh-CN" altLang="en-US" dirty="0"/>
                  <a:t>和高</a:t>
                </a:r>
                <a14:m>
                  <m:oMath xmlns:m="http://schemas.openxmlformats.org/officeDocument/2006/math">
                    <m:r>
                      <a:rPr lang="en-US" altLang="zh-CN" i="1">
                        <a:latin typeface="Cambria Math" panose="02040503050406030204" pitchFamily="18" charset="0"/>
                      </a:rPr>
                      <m:t>h</m:t>
                    </m:r>
                  </m:oMath>
                </a14:m>
                <a:r>
                  <a:rPr lang="zh-CN" altLang="en-US" dirty="0"/>
                  <a:t>以及预测框的置信</a:t>
                </a:r>
                <a:r>
                  <a:rPr lang="zh-CN" altLang="en-US" dirty="0" smtClean="0"/>
                  <a:t>度</a:t>
                </a:r>
                <a:endParaRPr lang="en-US" altLang="zh-CN" dirty="0" smtClean="0"/>
              </a:p>
              <a:p>
                <a:pPr lvl="2"/>
                <a:r>
                  <a:rPr lang="zh-CN" altLang="en-US" dirty="0" smtClean="0"/>
                  <a:t>子图像块左上角为坐标原点，坐标值除以子图像块的宽高进行归一化处理</a:t>
                </a:r>
                <a:endParaRPr lang="en-US" altLang="zh-CN" dirty="0" smtClean="0"/>
              </a:p>
              <a:p>
                <a:pPr lvl="2"/>
                <a:r>
                  <a:rPr lang="zh-CN" altLang="en-US" dirty="0" smtClean="0"/>
                  <a:t>预测框的宽和高除以整幅图像宽和高进行归一化处理</a:t>
                </a:r>
                <a:endParaRPr lang="en-US" altLang="zh-CN" dirty="0" smtClean="0"/>
              </a:p>
              <a:p>
                <a:pPr lvl="1"/>
                <a:r>
                  <a:rPr lang="zh-CN" altLang="en-US" dirty="0" smtClean="0"/>
                  <a:t>每个子图像块回归</a:t>
                </a:r>
                <a:r>
                  <a:rPr lang="en-US" altLang="zh-CN" dirty="0" smtClean="0"/>
                  <a:t>C</a:t>
                </a:r>
                <a:r>
                  <a:rPr lang="zh-CN" altLang="en-US" dirty="0" smtClean="0"/>
                  <a:t>个条件概率：</a:t>
                </a:r>
                <a:endParaRPr lang="en-US" altLang="zh-CN" dirty="0" smtClean="0"/>
              </a:p>
              <a:p>
                <a:pPr lvl="2"/>
                <a14:m>
                  <m:oMath xmlns:m="http://schemas.openxmlformats.org/officeDocument/2006/math">
                    <m:r>
                      <a:rPr lang="en-US" altLang="zh-CN" b="0" i="1" smtClean="0">
                        <a:latin typeface="Cambria Math" panose="02040503050406030204" pitchFamily="18" charset="0"/>
                      </a:rPr>
                      <m:t>𝑃𝑟</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𝐶𝑙𝑎𝑠𝑠</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𝑂𝑏𝑗𝑒𝑐𝑡</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𝑃𝑟</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𝑂𝑏𝑗𝑒𝑐𝑡</m:t>
                        </m:r>
                      </m:e>
                    </m:d>
                    <m:r>
                      <a:rPr lang="en-US" altLang="zh-CN" b="0" i="1" smtClean="0">
                        <a:latin typeface="Cambria Math" panose="02040503050406030204" pitchFamily="18" charset="0"/>
                        <a:ea typeface="Cambria Math" panose="02040503050406030204" pitchFamily="18" charset="0"/>
                      </a:rPr>
                      <m:t>×</m:t>
                    </m:r>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𝐼𝑜𝑈</m:t>
                        </m:r>
                      </m:e>
                      <m:sub>
                        <m:r>
                          <a:rPr lang="en-US" altLang="zh-CN" b="0" i="1" smtClean="0">
                            <a:latin typeface="Cambria Math" panose="02040503050406030204" pitchFamily="18" charset="0"/>
                            <a:ea typeface="Cambria Math" panose="02040503050406030204" pitchFamily="18" charset="0"/>
                          </a:rPr>
                          <m:t>𝑝𝑟𝑒𝑑</m:t>
                        </m:r>
                      </m:sub>
                      <m:sup>
                        <m:r>
                          <a:rPr lang="en-US" altLang="zh-CN" b="0" i="1" smtClean="0">
                            <a:latin typeface="Cambria Math" panose="02040503050406030204" pitchFamily="18" charset="0"/>
                            <a:ea typeface="Cambria Math" panose="02040503050406030204" pitchFamily="18" charset="0"/>
                          </a:rPr>
                          <m:t>𝑡𝑟𝑢𝑡h</m:t>
                        </m:r>
                      </m:sup>
                    </m:sSub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𝑃𝑟</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𝐶𝑙𝑎𝑠𝑠</m:t>
                            </m:r>
                          </m:e>
                          <m:sub>
                            <m:r>
                              <a:rPr lang="en-US" altLang="zh-CN" b="0" i="1" smtClean="0">
                                <a:latin typeface="Cambria Math" panose="02040503050406030204" pitchFamily="18" charset="0"/>
                                <a:ea typeface="Cambria Math" panose="02040503050406030204" pitchFamily="18" charset="0"/>
                              </a:rPr>
                              <m:t>𝑖</m:t>
                            </m:r>
                          </m:sub>
                        </m:sSub>
                      </m:e>
                    </m:d>
                    <m:r>
                      <a:rPr lang="en-US" altLang="zh-CN" b="0" i="1" smtClean="0">
                        <a:latin typeface="Cambria Math" panose="02040503050406030204" pitchFamily="18" charset="0"/>
                        <a:ea typeface="Cambria Math" panose="02040503050406030204" pitchFamily="18" charset="0"/>
                      </a:rPr>
                      <m:t>×</m:t>
                    </m:r>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𝐼𝑜𝑈</m:t>
                        </m:r>
                      </m:e>
                      <m:sub>
                        <m:r>
                          <a:rPr lang="en-US" altLang="zh-CN" b="0" i="1" smtClean="0">
                            <a:latin typeface="Cambria Math" panose="02040503050406030204" pitchFamily="18" charset="0"/>
                            <a:ea typeface="Cambria Math" panose="02040503050406030204" pitchFamily="18" charset="0"/>
                          </a:rPr>
                          <m:t>𝑝𝑟𝑒𝑑</m:t>
                        </m:r>
                      </m:sub>
                      <m:sup>
                        <m:r>
                          <a:rPr lang="en-US" altLang="zh-CN" b="0" i="1" smtClean="0">
                            <a:latin typeface="Cambria Math" panose="02040503050406030204" pitchFamily="18" charset="0"/>
                            <a:ea typeface="Cambria Math" panose="02040503050406030204" pitchFamily="18" charset="0"/>
                          </a:rPr>
                          <m:t>𝑡𝑟𝑢𝑡h</m:t>
                        </m:r>
                      </m:sup>
                    </m:sSubSup>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85051" y="2610524"/>
            <a:ext cx="3535437" cy="3526750"/>
          </a:xfrm>
          <a:prstGeom prst="rect">
            <a:avLst/>
          </a:prstGeom>
        </p:spPr>
      </p:pic>
    </p:spTree>
    <p:extLst>
      <p:ext uri="{BB962C8B-B14F-4D97-AF65-F5344CB8AC3E}">
        <p14:creationId xmlns:p14="http://schemas.microsoft.com/office/powerpoint/2010/main" val="747727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YOLOv1</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en-US" altLang="zh-CN" dirty="0" smtClean="0"/>
                  <a:t>YOLOv1</a:t>
                </a:r>
                <a:r>
                  <a:rPr lang="zh-CN" altLang="en-US" dirty="0" smtClean="0"/>
                  <a:t>算法原理：</a:t>
                </a:r>
                <a:endParaRPr lang="en-US" altLang="zh-CN" dirty="0" smtClean="0"/>
              </a:p>
              <a:p>
                <a:pPr marL="800100" lvl="1" indent="-342900">
                  <a:buFont typeface="+mj-lt"/>
                  <a:buAutoNum type="arabicPeriod"/>
                </a:pPr>
                <a:r>
                  <a:rPr lang="zh-CN" altLang="en-US" dirty="0" smtClean="0"/>
                  <a:t>将图像分为</a:t>
                </a:r>
                <a:r>
                  <a:rPr lang="en-US" altLang="zh-CN" dirty="0" smtClean="0"/>
                  <a:t>S×S</a:t>
                </a:r>
                <a:r>
                  <a:rPr lang="zh-CN" altLang="en-US" dirty="0" smtClean="0"/>
                  <a:t>个方块</a:t>
                </a:r>
                <a:endParaRPr lang="en-US" altLang="zh-CN" dirty="0" smtClean="0"/>
              </a:p>
              <a:p>
                <a:pPr marL="800100" lvl="1" indent="-342900">
                  <a:buFont typeface="+mj-lt"/>
                  <a:buAutoNum type="arabicPeriod"/>
                </a:pPr>
                <a:r>
                  <a:rPr lang="zh-CN" altLang="en-US" dirty="0" smtClean="0"/>
                  <a:t>总共回归</a:t>
                </a:r>
                <a:r>
                  <a:rPr lang="en-US" altLang="zh-CN" dirty="0" smtClean="0"/>
                  <a:t>S×S×</a:t>
                </a:r>
                <a:r>
                  <a:rPr lang="zh-CN" altLang="en-US" dirty="0" smtClean="0"/>
                  <a:t>（</a:t>
                </a:r>
                <a:r>
                  <a:rPr lang="en-US" altLang="zh-CN" dirty="0" smtClean="0"/>
                  <a:t>B×5+C</a:t>
                </a:r>
                <a:r>
                  <a:rPr lang="zh-CN" altLang="en-US" dirty="0" smtClean="0"/>
                  <a:t>）个参数</a:t>
                </a:r>
                <a:endParaRPr lang="en-US" altLang="zh-CN" dirty="0" smtClean="0"/>
              </a:p>
              <a:p>
                <a:pPr marL="800100" lvl="1" indent="-342900">
                  <a:buFont typeface="+mj-lt"/>
                  <a:buAutoNum type="arabicPeriod"/>
                </a:pPr>
                <a:r>
                  <a:rPr lang="zh-CN" altLang="en-US" dirty="0" smtClean="0"/>
                  <a:t>分别计算每个框的</a:t>
                </a:r>
                <a14:m>
                  <m:oMath xmlns:m="http://schemas.openxmlformats.org/officeDocument/2006/math">
                    <m:r>
                      <a:rPr lang="en-US" altLang="zh-CN" i="1">
                        <a:latin typeface="Cambria Math" panose="02040503050406030204" pitchFamily="18" charset="0"/>
                      </a:rPr>
                      <m:t>𝑃𝑟</m:t>
                    </m:r>
                    <m:d>
                      <m:dPr>
                        <m:ctrlPr>
                          <a:rPr lang="en-US" altLang="zh-CN" i="1">
                            <a:latin typeface="Cambria Math" panose="02040503050406030204" pitchFamily="18" charset="0"/>
                          </a:rPr>
                        </m:ctrlPr>
                      </m:dPr>
                      <m:e>
                        <m:r>
                          <a:rPr lang="en-US" altLang="zh-CN" i="1">
                            <a:latin typeface="Cambria Math" panose="02040503050406030204" pitchFamily="18" charset="0"/>
                          </a:rPr>
                          <m:t>𝑂𝑏𝑗𝑒𝑐𝑡</m:t>
                        </m:r>
                      </m:e>
                    </m:d>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𝐼𝑜𝑈</m:t>
                        </m:r>
                      </m:e>
                      <m:sub>
                        <m:r>
                          <a:rPr lang="en-US" altLang="zh-CN" i="1">
                            <a:latin typeface="Cambria Math" panose="02040503050406030204" pitchFamily="18" charset="0"/>
                          </a:rPr>
                          <m:t>𝑝𝑟𝑒𝑑</m:t>
                        </m:r>
                      </m:sub>
                      <m:sup>
                        <m:r>
                          <a:rPr lang="en-US" altLang="zh-CN" i="1">
                            <a:latin typeface="Cambria Math" panose="02040503050406030204" pitchFamily="18" charset="0"/>
                          </a:rPr>
                          <m:t>𝑡𝑟𝑢𝑡h</m:t>
                        </m:r>
                      </m:sup>
                    </m:sSubSup>
                  </m:oMath>
                </a14:m>
                <a:endParaRPr lang="en-US" altLang="zh-CN" dirty="0" smtClean="0"/>
              </a:p>
              <a:p>
                <a:pPr marL="800100" lvl="1" indent="-342900">
                  <a:buFont typeface="+mj-lt"/>
                  <a:buAutoNum type="arabicPeriod"/>
                </a:pPr>
                <a:r>
                  <a:rPr lang="zh-CN" altLang="en-US" dirty="0" smtClean="0"/>
                  <a:t>该值为所在子块最大值且大于预设阈值时，</a:t>
                </a:r>
                <a:endParaRPr lang="en-US" altLang="zh-CN" dirty="0" smtClean="0"/>
              </a:p>
              <a:p>
                <a:pPr marL="457200" lvl="1" indent="0">
                  <a:buNone/>
                </a:pPr>
                <a:r>
                  <a:rPr lang="zh-CN" altLang="en-US" dirty="0" smtClean="0"/>
                  <a:t>输出预测框</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86638" y="1130299"/>
            <a:ext cx="6233850" cy="5006975"/>
          </a:xfrm>
          <a:prstGeom prst="rect">
            <a:avLst/>
          </a:prstGeom>
        </p:spPr>
      </p:pic>
    </p:spTree>
    <p:extLst>
      <p:ext uri="{BB962C8B-B14F-4D97-AF65-F5344CB8AC3E}">
        <p14:creationId xmlns:p14="http://schemas.microsoft.com/office/powerpoint/2010/main" val="1662914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YOLOv1</a:t>
            </a:r>
            <a:endParaRPr lang="zh-CN" altLang="en-US" dirty="0"/>
          </a:p>
        </p:txBody>
      </p:sp>
      <p:sp>
        <p:nvSpPr>
          <p:cNvPr id="3" name="内容占位符 2"/>
          <p:cNvSpPr>
            <a:spLocks noGrp="1"/>
          </p:cNvSpPr>
          <p:nvPr>
            <p:ph sz="quarter" idx="13"/>
          </p:nvPr>
        </p:nvSpPr>
        <p:spPr/>
        <p:txBody>
          <a:bodyPr/>
          <a:lstStyle/>
          <a:p>
            <a:r>
              <a:rPr lang="en-US" altLang="zh-CN" dirty="0" smtClean="0"/>
              <a:t>YOLOv1</a:t>
            </a:r>
            <a:r>
              <a:rPr lang="zh-CN" altLang="en-US" dirty="0" smtClean="0"/>
              <a:t>训练方法</a:t>
            </a:r>
            <a:r>
              <a:rPr lang="en-US" altLang="zh-CN" dirty="0" smtClean="0"/>
              <a:t>:</a:t>
            </a:r>
          </a:p>
          <a:p>
            <a:pPr lvl="1"/>
            <a:r>
              <a:rPr lang="zh-CN" altLang="en-US" dirty="0" smtClean="0"/>
              <a:t>基于</a:t>
            </a:r>
            <a:r>
              <a:rPr lang="en-US" altLang="zh-CN" dirty="0" smtClean="0"/>
              <a:t>PASCAL VOC</a:t>
            </a:r>
            <a:r>
              <a:rPr lang="zh-CN" altLang="en-US" dirty="0" smtClean="0"/>
              <a:t>数据集，该数据集有</a:t>
            </a:r>
            <a:r>
              <a:rPr lang="en-US" altLang="zh-CN" dirty="0" smtClean="0"/>
              <a:t>20</a:t>
            </a:r>
            <a:r>
              <a:rPr lang="zh-CN" altLang="en-US" dirty="0" smtClean="0"/>
              <a:t>个类别（</a:t>
            </a:r>
            <a:r>
              <a:rPr lang="en-US" altLang="zh-CN" dirty="0" smtClean="0"/>
              <a:t>C=20</a:t>
            </a:r>
            <a:r>
              <a:rPr lang="zh-CN" altLang="en-US" dirty="0" smtClean="0"/>
              <a:t>）</a:t>
            </a:r>
            <a:endParaRPr lang="en-US" altLang="zh-CN" dirty="0" smtClean="0"/>
          </a:p>
          <a:p>
            <a:pPr lvl="1"/>
            <a:r>
              <a:rPr lang="zh-CN" altLang="en-US" dirty="0" smtClean="0"/>
              <a:t>取</a:t>
            </a:r>
            <a:r>
              <a:rPr lang="en-US" altLang="zh-CN" dirty="0" smtClean="0"/>
              <a:t>S=7</a:t>
            </a:r>
            <a:r>
              <a:rPr lang="zh-CN" altLang="en-US" dirty="0" smtClean="0"/>
              <a:t>、</a:t>
            </a:r>
            <a:r>
              <a:rPr lang="en-US" altLang="zh-CN" dirty="0" smtClean="0"/>
              <a:t>B=2</a:t>
            </a:r>
            <a:r>
              <a:rPr lang="zh-CN" altLang="en-US" dirty="0" smtClean="0"/>
              <a:t>，则参数数量为</a:t>
            </a:r>
            <a:r>
              <a:rPr lang="en-US" altLang="zh-CN" dirty="0" smtClean="0"/>
              <a:t>7×7×</a:t>
            </a:r>
            <a:r>
              <a:rPr lang="en-US" altLang="zh-CN" dirty="0"/>
              <a:t>[</a:t>
            </a:r>
            <a:r>
              <a:rPr lang="en-US" altLang="zh-CN" dirty="0" smtClean="0"/>
              <a:t>2×(4+1)+20</a:t>
            </a:r>
            <a:r>
              <a:rPr lang="en-US" altLang="zh-CN" dirty="0"/>
              <a:t>]</a:t>
            </a:r>
            <a:r>
              <a:rPr lang="en-US" altLang="zh-CN" dirty="0" smtClean="0"/>
              <a:t>=7×7×30</a:t>
            </a:r>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1220" y="2416226"/>
            <a:ext cx="7287971" cy="3721048"/>
          </a:xfrm>
          <a:prstGeom prst="rect">
            <a:avLst/>
          </a:prstGeom>
        </p:spPr>
      </p:pic>
    </p:spTree>
    <p:extLst>
      <p:ext uri="{BB962C8B-B14F-4D97-AF65-F5344CB8AC3E}">
        <p14:creationId xmlns:p14="http://schemas.microsoft.com/office/powerpoint/2010/main" val="2297464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YOLOv1</a:t>
            </a:r>
            <a:endParaRPr lang="zh-CN" altLang="en-US" dirty="0"/>
          </a:p>
        </p:txBody>
      </p:sp>
      <p:sp>
        <p:nvSpPr>
          <p:cNvPr id="3" name="内容占位符 2"/>
          <p:cNvSpPr>
            <a:spLocks noGrp="1"/>
          </p:cNvSpPr>
          <p:nvPr>
            <p:ph sz="quarter" idx="13"/>
          </p:nvPr>
        </p:nvSpPr>
        <p:spPr/>
        <p:txBody>
          <a:bodyPr/>
          <a:lstStyle/>
          <a:p>
            <a:r>
              <a:rPr lang="en-US" altLang="zh-CN" dirty="0" smtClean="0"/>
              <a:t>YOLOv1</a:t>
            </a:r>
            <a:r>
              <a:rPr lang="zh-CN" altLang="en-US" dirty="0" smtClean="0"/>
              <a:t>训练方法：</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0336" y="1470880"/>
            <a:ext cx="9409740" cy="4666394"/>
          </a:xfrm>
          <a:prstGeom prst="rect">
            <a:avLst/>
          </a:prstGeom>
        </p:spPr>
      </p:pic>
    </p:spTree>
    <p:extLst>
      <p:ext uri="{BB962C8B-B14F-4D97-AF65-F5344CB8AC3E}">
        <p14:creationId xmlns:p14="http://schemas.microsoft.com/office/powerpoint/2010/main" val="3495473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YOLOv1</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en-US" altLang="zh-CN" dirty="0" smtClean="0"/>
                  <a:t>YOLOv1</a:t>
                </a:r>
                <a:r>
                  <a:rPr lang="zh-CN" altLang="en-US" dirty="0" smtClean="0"/>
                  <a:t>损失函数：</a:t>
                </a:r>
                <a:endParaRPr lang="en-US" altLang="zh-CN" dirty="0" smtClean="0"/>
              </a:p>
              <a:p>
                <a:pPr lvl="1"/>
                <a14:m>
                  <m:oMath xmlns:m="http://schemas.openxmlformats.org/officeDocument/2006/math">
                    <m:sSubSup>
                      <m:sSubSupPr>
                        <m:ctrlPr>
                          <a:rPr lang="en-US" altLang="zh-CN" i="1" smtClean="0">
                            <a:latin typeface="Cambria Math" panose="02040503050406030204" pitchFamily="18" charset="0"/>
                          </a:rPr>
                        </m:ctrlPr>
                      </m:sSubSupPr>
                      <m:e>
                        <m:r>
                          <m:rPr>
                            <m:nor/>
                          </m:rPr>
                          <a:rPr lang="en-US" altLang="zh-CN"/>
                          <m:t>Ⅱ</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𝑜𝑏𝑗</m:t>
                        </m:r>
                      </m:sup>
                    </m:sSubSup>
                  </m:oMath>
                </a14:m>
                <a:r>
                  <a:rPr lang="zh-CN" altLang="en-US" dirty="0" smtClean="0"/>
                  <a:t>是指示函数</a:t>
                </a:r>
                <a:endParaRPr lang="en-US" altLang="zh-CN" dirty="0" smtClean="0"/>
              </a:p>
              <a:p>
                <a:pPr lvl="1"/>
                <a14:m>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oMath>
                </a14:m>
                <a:r>
                  <a:rPr lang="zh-CN" altLang="en-US" dirty="0"/>
                  <a:t> </a:t>
                </a:r>
                <a14:m>
                  <m:oMath xmlns:m="http://schemas.openxmlformats.org/officeDocument/2006/math">
                    <m:acc>
                      <m:accPr>
                        <m:chr m:val="̂"/>
                        <m:ctrlPr>
                          <a:rPr lang="zh-CN" altLang="en-US" i="1">
                            <a:latin typeface="Cambria Math" panose="02040503050406030204" pitchFamily="18" charset="0"/>
                          </a:rPr>
                        </m:ctrlPr>
                      </m:accPr>
                      <m:e>
                        <m:r>
                          <a:rPr lang="en-US" altLang="zh-CN" i="1">
                            <a:latin typeface="Cambria Math" panose="02040503050406030204" pitchFamily="18" charset="0"/>
                          </a:rPr>
                          <m:t>𝑥</m:t>
                        </m:r>
                      </m:e>
                    </m:acc>
                    <m:r>
                      <a:rPr lang="en-US" altLang="zh-CN" b="0" i="1" smtClean="0">
                        <a:latin typeface="Cambria Math" panose="02040503050406030204" pitchFamily="18" charset="0"/>
                      </a:rPr>
                      <m:t>,</m:t>
                    </m:r>
                    <m:acc>
                      <m:accPr>
                        <m:chr m:val="̂"/>
                        <m:ctrlPr>
                          <a:rPr lang="zh-CN" altLang="en-US" i="1">
                            <a:latin typeface="Cambria Math" panose="02040503050406030204" pitchFamily="18" charset="0"/>
                          </a:rPr>
                        </m:ctrlPr>
                      </m:accPr>
                      <m:e>
                        <m:r>
                          <a:rPr lang="en-US" altLang="zh-CN" i="1">
                            <a:latin typeface="Cambria Math" panose="02040503050406030204" pitchFamily="18" charset="0"/>
                          </a:rPr>
                          <m:t>𝑦</m:t>
                        </m:r>
                      </m:e>
                    </m:acc>
                  </m:oMath>
                </a14:m>
                <a:r>
                  <a:rPr lang="zh-CN" altLang="en-US" dirty="0" smtClean="0"/>
                  <a:t>指中心点归一化坐标</a:t>
                </a:r>
                <a:endParaRPr lang="en-US" altLang="zh-CN" dirty="0" smtClean="0"/>
              </a:p>
              <a:p>
                <a:pPr lvl="1"/>
                <a14:m>
                  <m:oMath xmlns:m="http://schemas.openxmlformats.org/officeDocument/2006/math">
                    <m:r>
                      <a:rPr lang="en-US" altLang="zh-CN" b="0" i="1" smtClean="0">
                        <a:latin typeface="Cambria Math" panose="02040503050406030204" pitchFamily="18" charset="0"/>
                      </a:rPr>
                      <m:t>𝑤</m:t>
                    </m:r>
                    <m:r>
                      <a:rPr lang="en-US" altLang="zh-CN" b="0" i="1" smtClean="0">
                        <a:latin typeface="Cambria Math" panose="02040503050406030204" pitchFamily="18" charset="0"/>
                      </a:rPr>
                      <m:t>,</m:t>
                    </m:r>
                    <m:r>
                      <a:rPr lang="en-US" altLang="zh-CN" b="0" i="1" smtClean="0">
                        <a:latin typeface="Cambria Math" panose="02040503050406030204" pitchFamily="18" charset="0"/>
                      </a:rPr>
                      <m:t>h</m:t>
                    </m:r>
                    <m:r>
                      <a:rPr lang="en-US" altLang="zh-CN" b="0" i="1" smtClean="0">
                        <a:latin typeface="Cambria Math" panose="02040503050406030204" pitchFamily="18" charset="0"/>
                      </a:rPr>
                      <m:t>,</m:t>
                    </m:r>
                  </m:oMath>
                </a14:m>
                <a:r>
                  <a:rPr lang="zh-CN" altLang="en-US" dirty="0"/>
                  <a:t> </a:t>
                </a:r>
                <a14:m>
                  <m:oMath xmlns:m="http://schemas.openxmlformats.org/officeDocument/2006/math">
                    <m:acc>
                      <m:accPr>
                        <m:chr m:val="̂"/>
                        <m:ctrlPr>
                          <a:rPr lang="zh-CN" altLang="en-US" i="1">
                            <a:latin typeface="Cambria Math" panose="02040503050406030204" pitchFamily="18" charset="0"/>
                          </a:rPr>
                        </m:ctrlPr>
                      </m:accPr>
                      <m:e>
                        <m:r>
                          <a:rPr lang="en-US" altLang="zh-CN" i="1">
                            <a:latin typeface="Cambria Math" panose="02040503050406030204" pitchFamily="18" charset="0"/>
                          </a:rPr>
                          <m:t>𝑤</m:t>
                        </m:r>
                      </m:e>
                    </m:acc>
                    <m:r>
                      <a:rPr lang="en-US" altLang="zh-CN" b="0" i="1" smtClean="0">
                        <a:latin typeface="Cambria Math" panose="02040503050406030204" pitchFamily="18" charset="0"/>
                      </a:rPr>
                      <m:t>,</m:t>
                    </m:r>
                    <m:acc>
                      <m:accPr>
                        <m:chr m:val="̂"/>
                        <m:ctrlPr>
                          <a:rPr lang="zh-CN" altLang="en-US" i="1">
                            <a:latin typeface="Cambria Math" panose="02040503050406030204" pitchFamily="18" charset="0"/>
                          </a:rPr>
                        </m:ctrlPr>
                      </m:accPr>
                      <m:e>
                        <m:r>
                          <a:rPr lang="en-US" altLang="zh-CN" i="1">
                            <a:latin typeface="Cambria Math" panose="02040503050406030204" pitchFamily="18" charset="0"/>
                          </a:rPr>
                          <m:t>h</m:t>
                        </m:r>
                      </m:e>
                    </m:acc>
                  </m:oMath>
                </a14:m>
                <a:r>
                  <a:rPr lang="zh-CN" altLang="en-US" dirty="0" smtClean="0"/>
                  <a:t>指框归一化宽和高</a:t>
                </a:r>
                <a:endParaRPr lang="en-US" altLang="zh-CN" dirty="0" smtClean="0"/>
              </a:p>
              <a:p>
                <a:pPr lvl="1"/>
                <a:r>
                  <a:rPr lang="el-GR" altLang="zh-CN" dirty="0" smtClean="0"/>
                  <a:t>λ</a:t>
                </a:r>
                <a:r>
                  <a:rPr lang="zh-CN" altLang="en-US" dirty="0" smtClean="0"/>
                  <a:t>表示加权系数</a:t>
                </a:r>
                <a:endParaRPr lang="en-US" altLang="zh-CN" dirty="0" smtClean="0"/>
              </a:p>
              <a:p>
                <a:pPr lvl="2"/>
                <a:r>
                  <a:rPr lang="el-GR" altLang="zh-CN" dirty="0" smtClean="0"/>
                  <a:t>λ</a:t>
                </a:r>
                <a:r>
                  <a:rPr lang="en-US" altLang="zh-CN" baseline="-25000" dirty="0" err="1" smtClean="0"/>
                  <a:t>coord</a:t>
                </a:r>
                <a:r>
                  <a:rPr lang="zh-CN" altLang="en-US" dirty="0" smtClean="0"/>
                  <a:t>重视</a:t>
                </a:r>
                <a:r>
                  <a:rPr lang="zh-CN" altLang="en-US" dirty="0"/>
                  <a:t>坐标预测</a:t>
                </a:r>
                <a:endParaRPr lang="en-US" altLang="zh-CN" baseline="-25000" dirty="0" smtClean="0"/>
              </a:p>
              <a:p>
                <a:pPr lvl="2"/>
                <a:r>
                  <a:rPr lang="el-GR" altLang="zh-CN" dirty="0" smtClean="0"/>
                  <a:t>λ</a:t>
                </a:r>
                <a:r>
                  <a:rPr lang="en-US" altLang="zh-CN" baseline="-25000" dirty="0" err="1" smtClean="0"/>
                  <a:t>noobj</a:t>
                </a:r>
                <a:r>
                  <a:rPr lang="zh-CN" altLang="en-US" dirty="0" smtClean="0"/>
                  <a:t>缓和正负样本比例</a:t>
                </a:r>
                <a:endParaRPr lang="en-US" altLang="zh-CN" dirty="0" smtClean="0"/>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55042" y="1130299"/>
            <a:ext cx="7065446" cy="5012967"/>
          </a:xfrm>
          <a:prstGeom prst="rect">
            <a:avLst/>
          </a:prstGeom>
        </p:spPr>
      </p:pic>
    </p:spTree>
    <p:extLst>
      <p:ext uri="{BB962C8B-B14F-4D97-AF65-F5344CB8AC3E}">
        <p14:creationId xmlns:p14="http://schemas.microsoft.com/office/powerpoint/2010/main" val="2787746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YOLOv1</a:t>
            </a:r>
            <a:endParaRPr lang="zh-CN" altLang="en-US" dirty="0"/>
          </a:p>
        </p:txBody>
      </p:sp>
      <p:sp>
        <p:nvSpPr>
          <p:cNvPr id="3" name="内容占位符 2"/>
          <p:cNvSpPr>
            <a:spLocks noGrp="1"/>
          </p:cNvSpPr>
          <p:nvPr>
            <p:ph sz="quarter" idx="13"/>
          </p:nvPr>
        </p:nvSpPr>
        <p:spPr/>
        <p:txBody>
          <a:bodyPr/>
          <a:lstStyle/>
          <a:p>
            <a:r>
              <a:rPr lang="zh-CN" altLang="en-US" dirty="0" smtClean="0"/>
              <a:t>此外，针对坐标损失中预测框与目标框宽和高的偏差，采用平方根处理：</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8612" y="1615805"/>
            <a:ext cx="7073188" cy="4521469"/>
          </a:xfrm>
          <a:prstGeom prst="rect">
            <a:avLst/>
          </a:prstGeom>
        </p:spPr>
      </p:pic>
    </p:spTree>
    <p:extLst>
      <p:ext uri="{BB962C8B-B14F-4D97-AF65-F5344CB8AC3E}">
        <p14:creationId xmlns:p14="http://schemas.microsoft.com/office/powerpoint/2010/main" val="2469224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YOLOv1</a:t>
            </a:r>
            <a:endParaRPr lang="zh-CN" altLang="en-US" dirty="0"/>
          </a:p>
        </p:txBody>
      </p:sp>
      <p:sp>
        <p:nvSpPr>
          <p:cNvPr id="3" name="内容占位符 2"/>
          <p:cNvSpPr>
            <a:spLocks noGrp="1"/>
          </p:cNvSpPr>
          <p:nvPr>
            <p:ph sz="quarter" idx="13"/>
          </p:nvPr>
        </p:nvSpPr>
        <p:spPr/>
        <p:txBody>
          <a:bodyPr/>
          <a:lstStyle/>
          <a:p>
            <a:r>
              <a:rPr lang="zh-CN" altLang="en-US" dirty="0" smtClean="0"/>
              <a:t>对每一个框进行计算，计算值与阈值比较后排序，进行非极大值抑制处理。</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6731" y="1638512"/>
            <a:ext cx="8016949" cy="4498762"/>
          </a:xfrm>
          <a:prstGeom prst="rect">
            <a:avLst/>
          </a:prstGeom>
        </p:spPr>
      </p:pic>
    </p:spTree>
    <p:extLst>
      <p:ext uri="{BB962C8B-B14F-4D97-AF65-F5344CB8AC3E}">
        <p14:creationId xmlns:p14="http://schemas.microsoft.com/office/powerpoint/2010/main" val="3559547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YOLOv2</a:t>
            </a:r>
            <a:endParaRPr lang="zh-CN" altLang="en-US" dirty="0"/>
          </a:p>
        </p:txBody>
      </p:sp>
      <p:sp>
        <p:nvSpPr>
          <p:cNvPr id="3" name="内容占位符 2"/>
          <p:cNvSpPr>
            <a:spLocks noGrp="1"/>
          </p:cNvSpPr>
          <p:nvPr>
            <p:ph sz="quarter" idx="13"/>
          </p:nvPr>
        </p:nvSpPr>
        <p:spPr/>
        <p:txBody>
          <a:bodyPr/>
          <a:lstStyle/>
          <a:p>
            <a:r>
              <a:rPr lang="en-US" altLang="zh-CN" dirty="0" smtClean="0"/>
              <a:t>YOLOv2</a:t>
            </a:r>
            <a:r>
              <a:rPr lang="zh-CN" altLang="en-US" dirty="0" smtClean="0"/>
              <a:t>：</a:t>
            </a:r>
            <a:endParaRPr lang="en-US" altLang="zh-CN" dirty="0" smtClean="0"/>
          </a:p>
          <a:p>
            <a:pPr marL="800100" lvl="1" indent="-342900">
              <a:buFont typeface="+mj-lt"/>
              <a:buAutoNum type="arabicPeriod"/>
            </a:pPr>
            <a:r>
              <a:rPr lang="zh-CN" altLang="en-US" dirty="0" smtClean="0"/>
              <a:t>批次归一化</a:t>
            </a:r>
            <a:endParaRPr lang="en-US" altLang="zh-CN" dirty="0" smtClean="0"/>
          </a:p>
          <a:p>
            <a:pPr marL="800100" lvl="1" indent="-342900">
              <a:buFont typeface="+mj-lt"/>
              <a:buAutoNum type="arabicPeriod"/>
            </a:pPr>
            <a:r>
              <a:rPr lang="zh-CN" altLang="en-US" dirty="0" smtClean="0"/>
              <a:t>使用高分辨率训练集</a:t>
            </a:r>
            <a:endParaRPr lang="en-US" altLang="zh-CN" dirty="0" smtClean="0"/>
          </a:p>
          <a:p>
            <a:pPr marL="800100" lvl="1" indent="-342900">
              <a:buFont typeface="+mj-lt"/>
              <a:buAutoNum type="arabicPeriod"/>
            </a:pPr>
            <a:r>
              <a:rPr lang="zh-CN" altLang="en-US" dirty="0" smtClean="0"/>
              <a:t>新的网络结构</a:t>
            </a:r>
            <a:endParaRPr lang="en-US" altLang="zh-CN" dirty="0" smtClean="0"/>
          </a:p>
          <a:p>
            <a:pPr marL="800100" lvl="1" indent="-342900">
              <a:buFont typeface="+mj-lt"/>
              <a:buAutoNum type="arabicPeriod"/>
            </a:pPr>
            <a:r>
              <a:rPr lang="zh-CN" altLang="en-US" dirty="0" smtClean="0"/>
              <a:t>基于锚（</a:t>
            </a:r>
            <a:r>
              <a:rPr lang="en-US" altLang="zh-CN" dirty="0" smtClean="0"/>
              <a:t>anchor boxes</a:t>
            </a:r>
            <a:r>
              <a:rPr lang="zh-CN" altLang="en-US" dirty="0" smtClean="0"/>
              <a:t>）</a:t>
            </a:r>
            <a:endParaRPr lang="en-US" altLang="zh-CN" dirty="0" smtClean="0"/>
          </a:p>
          <a:p>
            <a:pPr marL="800100" lvl="1" indent="-342900">
              <a:buFont typeface="+mj-lt"/>
              <a:buAutoNum type="arabicPeriod"/>
            </a:pPr>
            <a:r>
              <a:rPr lang="zh-CN" altLang="en-US" dirty="0" smtClean="0"/>
              <a:t>使用浅层细节特征</a:t>
            </a:r>
            <a:endParaRPr lang="en-US" altLang="zh-CN" dirty="0" smtClean="0"/>
          </a:p>
          <a:p>
            <a:pPr marL="800100" lvl="1" indent="-342900">
              <a:buFont typeface="+mj-lt"/>
              <a:buAutoNum type="arabicPeriod"/>
            </a:pPr>
            <a:r>
              <a:rPr lang="zh-CN" altLang="en-US" dirty="0" smtClean="0"/>
              <a:t>使用多尺度图像进行训练</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2488" y="2205036"/>
            <a:ext cx="6858000" cy="2857500"/>
          </a:xfrm>
          <a:prstGeom prst="rect">
            <a:avLst/>
          </a:prstGeom>
        </p:spPr>
      </p:pic>
    </p:spTree>
    <p:extLst>
      <p:ext uri="{BB962C8B-B14F-4D97-AF65-F5344CB8AC3E}">
        <p14:creationId xmlns:p14="http://schemas.microsoft.com/office/powerpoint/2010/main" val="1815794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YOLOv2</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a:pPr>
            <a:r>
              <a:rPr lang="zh-CN" altLang="en-US" dirty="0" smtClean="0"/>
              <a:t>批次归一化（</a:t>
            </a:r>
            <a:r>
              <a:rPr lang="en-US" altLang="zh-CN" dirty="0" smtClean="0"/>
              <a:t>Batch Normalization</a:t>
            </a:r>
            <a:r>
              <a:rPr lang="zh-CN" altLang="en-US" dirty="0" smtClean="0"/>
              <a:t>）</a:t>
            </a:r>
            <a:endParaRPr lang="en-US" altLang="zh-CN" dirty="0" smtClean="0"/>
          </a:p>
          <a:p>
            <a:pPr lvl="1"/>
            <a:r>
              <a:rPr lang="zh-CN" altLang="en-US" dirty="0" smtClean="0"/>
              <a:t>增加模型泛化能力</a:t>
            </a:r>
            <a:endParaRPr lang="en-US" altLang="zh-CN" dirty="0" smtClean="0"/>
          </a:p>
          <a:p>
            <a:pPr lvl="1"/>
            <a:r>
              <a:rPr lang="zh-CN" altLang="en-US" dirty="0" smtClean="0"/>
              <a:t>可以去掉</a:t>
            </a:r>
            <a:r>
              <a:rPr lang="en-US" altLang="zh-CN" dirty="0" smtClean="0"/>
              <a:t>dropout</a:t>
            </a:r>
          </a:p>
          <a:p>
            <a:pPr marL="342900" indent="-342900">
              <a:buFont typeface="+mj-lt"/>
              <a:buAutoNum type="arabicPeriod"/>
            </a:pPr>
            <a:r>
              <a:rPr lang="zh-CN" altLang="en-US" dirty="0" smtClean="0"/>
              <a:t>高分辨率训练集</a:t>
            </a:r>
            <a:r>
              <a:rPr lang="en-US" altLang="zh-CN" dirty="0" smtClean="0"/>
              <a:t>(high-resolution)</a:t>
            </a:r>
          </a:p>
          <a:p>
            <a:pPr lvl="1"/>
            <a:r>
              <a:rPr lang="en-US" altLang="zh-CN" dirty="0" smtClean="0"/>
              <a:t>448×448</a:t>
            </a:r>
            <a:r>
              <a:rPr lang="zh-CN" altLang="en-US" dirty="0" smtClean="0"/>
              <a:t>的数据进入训练</a:t>
            </a:r>
            <a:endParaRPr lang="en-US" altLang="zh-CN" dirty="0" smtClean="0"/>
          </a:p>
          <a:p>
            <a:pPr lvl="1"/>
            <a:r>
              <a:rPr lang="zh-CN" altLang="en-US" dirty="0" smtClean="0"/>
              <a:t>更加适配高分辨率的数据</a:t>
            </a:r>
            <a:endParaRPr lang="en-US" altLang="zh-CN" dirty="0" smtClean="0"/>
          </a:p>
          <a:p>
            <a:pPr marL="342900" indent="-342900">
              <a:buFont typeface="+mj-lt"/>
              <a:buAutoNum type="arabicPeriod"/>
            </a:pP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2488" y="2205036"/>
            <a:ext cx="6858000" cy="2857500"/>
          </a:xfrm>
          <a:prstGeom prst="rect">
            <a:avLst/>
          </a:prstGeom>
        </p:spPr>
      </p:pic>
    </p:spTree>
    <p:extLst>
      <p:ext uri="{BB962C8B-B14F-4D97-AF65-F5344CB8AC3E}">
        <p14:creationId xmlns:p14="http://schemas.microsoft.com/office/powerpoint/2010/main" val="3046759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YOLOv2</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3"/>
            </a:pPr>
            <a:r>
              <a:rPr lang="zh-CN" altLang="en-US" dirty="0"/>
              <a:t>新</a:t>
            </a:r>
            <a:r>
              <a:rPr lang="zh-CN" altLang="en-US" dirty="0" smtClean="0"/>
              <a:t>的网络结构</a:t>
            </a:r>
            <a:endParaRPr lang="en-US" altLang="zh-CN" dirty="0" smtClean="0"/>
          </a:p>
          <a:p>
            <a:pPr lvl="1"/>
            <a:r>
              <a:rPr lang="en-US" altLang="zh-CN" dirty="0" smtClean="0"/>
              <a:t>Darknet-19</a:t>
            </a:r>
            <a:r>
              <a:rPr lang="zh-CN" altLang="en-US" dirty="0" smtClean="0"/>
              <a:t>网络</a:t>
            </a:r>
            <a:endParaRPr lang="en-US" altLang="zh-CN" dirty="0" smtClean="0"/>
          </a:p>
          <a:p>
            <a:pPr lvl="1"/>
            <a:r>
              <a:rPr lang="zh-CN" altLang="en-US" dirty="0" smtClean="0"/>
              <a:t>原理与</a:t>
            </a:r>
            <a:r>
              <a:rPr lang="en-US" altLang="zh-CN" dirty="0" smtClean="0"/>
              <a:t>VGG16</a:t>
            </a:r>
            <a:r>
              <a:rPr lang="zh-CN" altLang="en-US" dirty="0" smtClean="0"/>
              <a:t>类似</a:t>
            </a:r>
            <a:endParaRPr lang="en-US" altLang="zh-CN" dirty="0" smtClean="0"/>
          </a:p>
          <a:p>
            <a:pPr lvl="1"/>
            <a:r>
              <a:rPr lang="zh-CN" altLang="en-US" dirty="0" smtClean="0"/>
              <a:t>计算量减少</a:t>
            </a:r>
            <a:r>
              <a:rPr lang="en-US" altLang="zh-CN" dirty="0" smtClean="0"/>
              <a:t>33%</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2772" y="1130299"/>
            <a:ext cx="3967716" cy="5004733"/>
          </a:xfrm>
          <a:prstGeom prst="rect">
            <a:avLst/>
          </a:prstGeom>
        </p:spPr>
      </p:pic>
    </p:spTree>
    <p:extLst>
      <p:ext uri="{BB962C8B-B14F-4D97-AF65-F5344CB8AC3E}">
        <p14:creationId xmlns:p14="http://schemas.microsoft.com/office/powerpoint/2010/main" val="1168335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YOLOv2</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pPr marL="342900" indent="-342900">
                  <a:buFont typeface="+mj-lt"/>
                  <a:buAutoNum type="arabicPeriod" startAt="4"/>
                </a:pPr>
                <a:r>
                  <a:rPr lang="zh-CN" altLang="en-US" dirty="0" smtClean="0"/>
                  <a:t>基于锚</a:t>
                </a:r>
                <a:endParaRPr lang="en-US" altLang="zh-CN" dirty="0" smtClean="0"/>
              </a:p>
              <a:p>
                <a:pPr lvl="1"/>
                <a:r>
                  <a:rPr lang="zh-CN" altLang="en-US" dirty="0" smtClean="0"/>
                  <a:t>类似</a:t>
                </a:r>
                <a:r>
                  <a:rPr lang="en-US" altLang="zh-CN" dirty="0" smtClean="0"/>
                  <a:t>RPN</a:t>
                </a:r>
                <a:r>
                  <a:rPr lang="zh-CN" altLang="en-US" dirty="0" smtClean="0"/>
                  <a:t>网络，整个网络变成全卷积结构</a:t>
                </a:r>
                <a:endParaRPr lang="en-US" altLang="zh-CN" dirty="0" smtClean="0"/>
              </a:p>
              <a:p>
                <a:pPr lvl="1"/>
                <a:r>
                  <a:rPr lang="zh-CN" altLang="en-US" dirty="0" smtClean="0"/>
                  <a:t>调整输入图像尺寸，下采样后子块维度为奇数</a:t>
                </a:r>
                <a:endParaRPr lang="en-US" altLang="zh-CN" dirty="0" smtClean="0"/>
              </a:p>
              <a:p>
                <a:pPr lvl="1"/>
                <a:r>
                  <a:rPr lang="zh-CN" altLang="en-US" dirty="0" smtClean="0"/>
                  <a:t>使用</a:t>
                </a:r>
                <a:r>
                  <a:rPr lang="en-US" altLang="zh-CN" dirty="0"/>
                  <a:t>k</a:t>
                </a:r>
                <a:r>
                  <a:rPr lang="en-US" altLang="zh-CN" dirty="0" smtClean="0"/>
                  <a:t>-means</a:t>
                </a:r>
                <a:r>
                  <a:rPr lang="zh-CN" altLang="en-US" dirty="0" smtClean="0"/>
                  <a:t>聚类算法对锚进行计算</a:t>
                </a:r>
                <a:endParaRPr lang="en-US" altLang="zh-CN" dirty="0" smtClean="0"/>
              </a:p>
              <a:p>
                <a:pPr lvl="2"/>
                <a14:m>
                  <m:oMath xmlns:m="http://schemas.openxmlformats.org/officeDocument/2006/math">
                    <m:r>
                      <a:rPr lang="en-US" altLang="zh-CN" b="0" i="1" smtClean="0">
                        <a:latin typeface="Cambria Math" panose="02040503050406030204" pitchFamily="18" charset="0"/>
                      </a:rPr>
                      <m:t>𝑑</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𝑏𝑜𝑥</m:t>
                        </m:r>
                        <m:r>
                          <a:rPr lang="en-US" altLang="zh-CN" b="0" i="1" smtClean="0">
                            <a:latin typeface="Cambria Math" panose="02040503050406030204" pitchFamily="18" charset="0"/>
                          </a:rPr>
                          <m:t>,</m:t>
                        </m:r>
                        <m:r>
                          <a:rPr lang="en-US" altLang="zh-CN" b="0" i="1" smtClean="0">
                            <a:latin typeface="Cambria Math" panose="02040503050406030204" pitchFamily="18" charset="0"/>
                          </a:rPr>
                          <m:t>𝑐𝑒𝑛𝑡𝑟𝑜𝑖𝑑</m:t>
                        </m:r>
                      </m:e>
                    </m:d>
                    <m:r>
                      <a:rPr lang="en-US" altLang="zh-CN" b="0" i="1" smtClean="0">
                        <a:latin typeface="Cambria Math" panose="02040503050406030204" pitchFamily="18" charset="0"/>
                      </a:rPr>
                      <m:t>=1−</m:t>
                    </m:r>
                    <m:r>
                      <a:rPr lang="en-US" altLang="zh-CN" b="0" i="1" smtClean="0">
                        <a:latin typeface="Cambria Math" panose="02040503050406030204" pitchFamily="18" charset="0"/>
                      </a:rPr>
                      <m:t>𝐼𝑜𝑈</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𝑏𝑜𝑥</m:t>
                        </m:r>
                        <m:r>
                          <a:rPr lang="en-US" altLang="zh-CN" b="0" i="1" smtClean="0">
                            <a:latin typeface="Cambria Math" panose="02040503050406030204" pitchFamily="18" charset="0"/>
                          </a:rPr>
                          <m:t>,</m:t>
                        </m:r>
                        <m:r>
                          <a:rPr lang="en-US" altLang="zh-CN" b="0" i="1" smtClean="0">
                            <a:latin typeface="Cambria Math" panose="02040503050406030204" pitchFamily="18" charset="0"/>
                          </a:rPr>
                          <m:t>𝑐𝑒𝑛𝑡𝑟𝑜𝑖𝑑</m:t>
                        </m:r>
                      </m:e>
                    </m:d>
                  </m:oMath>
                </a14:m>
                <a:endParaRPr lang="en-US" altLang="zh-CN" dirty="0" smtClean="0"/>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5887" y="2870790"/>
            <a:ext cx="6274600" cy="3266483"/>
          </a:xfrm>
          <a:prstGeom prst="rect">
            <a:avLst/>
          </a:prstGeom>
        </p:spPr>
      </p:pic>
    </p:spTree>
    <p:extLst>
      <p:ext uri="{BB962C8B-B14F-4D97-AF65-F5344CB8AC3E}">
        <p14:creationId xmlns:p14="http://schemas.microsoft.com/office/powerpoint/2010/main" val="661419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YOLOv2</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pPr marL="342900" indent="-342900">
                  <a:buFont typeface="+mj-lt"/>
                  <a:buAutoNum type="arabicPeriod" startAt="4"/>
                </a:pPr>
                <a:r>
                  <a:rPr lang="zh-CN" altLang="en-US" dirty="0" smtClean="0"/>
                  <a:t>基于锚</a:t>
                </a:r>
                <a:endParaRPr lang="en-US" altLang="zh-CN" dirty="0" smtClean="0"/>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𝜎</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𝑥</m:t>
                            </m:r>
                          </m:sub>
                        </m:sSub>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𝑥</m:t>
                        </m:r>
                      </m:sub>
                    </m:sSub>
                  </m:oMath>
                </a14:m>
                <a:endParaRPr lang="en-US" altLang="zh-CN" b="0" dirty="0" smtClean="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𝑦</m:t>
                        </m:r>
                      </m:sub>
                    </m:sSub>
                    <m:r>
                      <a:rPr lang="en-US" altLang="zh-CN" i="1">
                        <a:latin typeface="Cambria Math" panose="02040503050406030204" pitchFamily="18" charset="0"/>
                      </a:rPr>
                      <m:t>=</m:t>
                    </m:r>
                    <m:r>
                      <a:rPr lang="zh-CN" altLang="en-US" i="1">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𝑡</m:t>
                            </m:r>
                          </m:e>
                          <m:sub>
                            <m:r>
                              <a:rPr lang="en-US" altLang="zh-CN" b="0" i="1" smtClean="0">
                                <a:latin typeface="Cambria Math" panose="02040503050406030204" pitchFamily="18" charset="0"/>
                              </a:rPr>
                              <m:t>𝑦</m:t>
                            </m:r>
                          </m:sub>
                        </m:sSub>
                      </m:e>
                    </m:d>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𝑐</m:t>
                        </m:r>
                      </m:e>
                      <m:sub>
                        <m:r>
                          <a:rPr lang="en-US" altLang="zh-CN" b="0" i="1" smtClean="0">
                            <a:latin typeface="Cambria Math" panose="02040503050406030204" pitchFamily="18" charset="0"/>
                          </a:rPr>
                          <m:t>𝑦</m:t>
                        </m:r>
                      </m:sub>
                    </m:sSub>
                  </m:oMath>
                </a14:m>
                <a:endParaRPr lang="en-US" altLang="zh-CN" dirty="0" smtClean="0"/>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𝑤</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𝑤</m:t>
                        </m:r>
                      </m:sub>
                    </m:s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𝑤</m:t>
                            </m:r>
                          </m:sub>
                        </m:sSub>
                      </m:sup>
                    </m:sSup>
                  </m:oMath>
                </a14:m>
                <a:endParaRPr lang="en-US" altLang="zh-CN" b="0" dirty="0" smtClean="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h</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h</m:t>
                        </m:r>
                      </m:sub>
                    </m:sSub>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b="0" i="1" smtClean="0">
                                <a:latin typeface="Cambria Math" panose="02040503050406030204" pitchFamily="18" charset="0"/>
                              </a:rPr>
                              <m:t>h</m:t>
                            </m:r>
                          </m:sub>
                        </m:sSub>
                      </m:sup>
                    </m:sSup>
                  </m:oMath>
                </a14:m>
                <a:endParaRPr lang="en-US" altLang="zh-CN" dirty="0" smtClean="0"/>
              </a:p>
              <a:p>
                <a:pPr lvl="1"/>
                <a14:m>
                  <m:oMath xmlns:m="http://schemas.openxmlformats.org/officeDocument/2006/math">
                    <m:r>
                      <a:rPr lang="en-US" altLang="zh-CN" b="0" i="1" smtClean="0">
                        <a:latin typeface="Cambria Math" panose="02040503050406030204" pitchFamily="18" charset="0"/>
                      </a:rPr>
                      <m:t>𝑃𝑟</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𝑂𝑏𝑗𝑒𝑐𝑡</m:t>
                        </m:r>
                      </m:e>
                    </m:d>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𝐼𝑜𝑈</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𝑏</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𝑜𝑏𝑗𝑒𝑐𝑡</m:t>
                        </m:r>
                      </m:e>
                    </m:d>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𝜎</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𝑡</m:t>
                            </m:r>
                          </m:e>
                          <m:sub>
                            <m:r>
                              <a:rPr lang="zh-CN" altLang="en-US" b="0" i="1" smtClean="0">
                                <a:latin typeface="Cambria Math" panose="02040503050406030204" pitchFamily="18" charset="0"/>
                                <a:ea typeface="Cambria Math" panose="02040503050406030204" pitchFamily="18" charset="0"/>
                              </a:rPr>
                              <m:t>𝜎</m:t>
                            </m:r>
                          </m:sub>
                        </m:sSub>
                      </m:e>
                    </m:d>
                  </m:oMath>
                </a14:m>
                <a:endParaRPr lang="en-US" altLang="zh-CN" b="0" dirty="0" smtClean="0">
                  <a:ea typeface="Cambria Math" panose="02040503050406030204" pitchFamily="18" charset="0"/>
                </a:endParaRPr>
              </a:p>
              <a:p>
                <a:pPr lvl="1"/>
                <a:endParaRPr lang="en-US" altLang="zh-CN" dirty="0" smtClean="0"/>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𝑦</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𝑤</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h</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zh-CN" altLang="en-US" b="0" i="1" smtClean="0">
                            <a:latin typeface="Cambria Math" panose="02040503050406030204" pitchFamily="18" charset="0"/>
                          </a:rPr>
                          <m:t>𝜎</m:t>
                        </m:r>
                      </m:sub>
                    </m:sSub>
                    <m:r>
                      <a:rPr lang="zh-CN" altLang="en-US" i="1">
                        <a:latin typeface="Cambria Math" panose="02040503050406030204" pitchFamily="18" charset="0"/>
                      </a:rPr>
                      <m:t>是</m:t>
                    </m:r>
                  </m:oMath>
                </a14:m>
                <a:r>
                  <a:rPr lang="zh-CN" altLang="en-US" dirty="0" smtClean="0"/>
                  <a:t>需要回归的参数</a:t>
                </a:r>
                <a:endParaRPr lang="en-US" altLang="zh-CN" dirty="0" smtClean="0"/>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𝑦</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𝑤</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h</m:t>
                        </m:r>
                      </m:sub>
                    </m:sSub>
                  </m:oMath>
                </a14:m>
                <a:r>
                  <a:rPr lang="zh-CN" altLang="en-US" dirty="0" smtClean="0"/>
                  <a:t>是目标框中心点坐标</a:t>
                </a:r>
                <a:r>
                  <a:rPr lang="zh-CN" altLang="en-US" dirty="0"/>
                  <a:t>和</a:t>
                </a:r>
                <a:r>
                  <a:rPr lang="zh-CN" altLang="en-US" dirty="0" smtClean="0"/>
                  <a:t>宽、高</a:t>
                </a:r>
                <a:endParaRPr lang="en-US" altLang="zh-CN" dirty="0" smtClean="0"/>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𝑤</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h</m:t>
                        </m:r>
                      </m:sub>
                    </m:sSub>
                  </m:oMath>
                </a14:m>
                <a:r>
                  <a:rPr lang="zh-CN" altLang="en-US" dirty="0" smtClean="0"/>
                  <a:t>是锚的宽、高</a:t>
                </a:r>
                <a:endParaRPr lang="en-US" altLang="zh-CN" dirty="0" smtClean="0"/>
              </a:p>
              <a:p>
                <a:pPr lvl="1"/>
                <a14:m>
                  <m:oMath xmlns:m="http://schemas.openxmlformats.org/officeDocument/2006/math">
                    <m:r>
                      <a:rPr lang="zh-CN" altLang="en-US" i="1" smtClean="0">
                        <a:latin typeface="Cambria Math" panose="02040503050406030204" pitchFamily="18" charset="0"/>
                      </a:rPr>
                      <m:t>𝜎</m:t>
                    </m:r>
                    <m:r>
                      <a:rPr lang="zh-CN" altLang="en-US" i="1">
                        <a:latin typeface="Cambria Math" panose="02040503050406030204" pitchFamily="18" charset="0"/>
                      </a:rPr>
                      <m:t>是</m:t>
                    </m:r>
                  </m:oMath>
                </a14:m>
                <a:r>
                  <a:rPr lang="en-US" altLang="zh-CN" dirty="0" smtClean="0"/>
                  <a:t>sigmoid</a:t>
                </a:r>
                <a:r>
                  <a:rPr lang="zh-CN" altLang="en-US" dirty="0" smtClean="0"/>
                  <a:t>函数</a:t>
                </a:r>
                <a14:m>
                  <m:oMath xmlns:m="http://schemas.openxmlformats.org/officeDocument/2006/math">
                    <m:r>
                      <a:rPr lang="zh-CN" altLang="en-US" i="1" dirty="0">
                        <a:latin typeface="Cambria Math" panose="02040503050406030204" pitchFamily="18" charset="0"/>
                      </a:rPr>
                      <m:t>，</m:t>
                    </m:r>
                    <m:r>
                      <a:rPr lang="zh-CN" altLang="en-US" i="1">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𝑥</m:t>
                            </m:r>
                          </m:sub>
                        </m:sSub>
                      </m:e>
                    </m:d>
                    <m:r>
                      <a:rPr lang="en-US" altLang="zh-CN" i="1">
                        <a:latin typeface="Cambria Math" panose="02040503050406030204" pitchFamily="18" charset="0"/>
                      </a:rPr>
                      <m:t>,</m:t>
                    </m:r>
                    <m:r>
                      <a:rPr lang="zh-CN" altLang="en-US" i="1">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𝑦</m:t>
                            </m:r>
                          </m:sub>
                        </m:sSub>
                      </m:e>
                    </m:d>
                    <m:r>
                      <a:rPr lang="en-US" altLang="zh-CN" i="1">
                        <a:latin typeface="Cambria Math" panose="02040503050406030204" pitchFamily="18" charset="0"/>
                        <a:ea typeface="Cambria Math" panose="02040503050406030204" pitchFamily="18" charset="0"/>
                      </a:rPr>
                      <m:t>∈</m:t>
                    </m:r>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0,1</m:t>
                        </m:r>
                      </m:e>
                    </m:d>
                  </m:oMath>
                </a14:m>
                <a:endParaRPr lang="en-US" altLang="zh-CN" dirty="0" smtClean="0"/>
              </a:p>
              <a:p>
                <a:pPr lvl="1"/>
                <a14:m>
                  <m:oMath xmlns:m="http://schemas.openxmlformats.org/officeDocument/2006/math">
                    <m:r>
                      <a:rPr lang="zh-CN" altLang="en-US" i="1">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𝑥</m:t>
                            </m:r>
                          </m:sub>
                        </m:sSub>
                      </m:e>
                    </m:d>
                    <m:r>
                      <a:rPr lang="en-US" altLang="zh-CN" i="1">
                        <a:latin typeface="Cambria Math" panose="02040503050406030204" pitchFamily="18" charset="0"/>
                      </a:rPr>
                      <m:t>,</m:t>
                    </m:r>
                    <m:r>
                      <a:rPr lang="zh-CN" altLang="en-US" i="1">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𝑦</m:t>
                            </m:r>
                          </m:sub>
                        </m:sSub>
                      </m:e>
                    </m:d>
                  </m:oMath>
                </a14:m>
                <a:r>
                  <a:rPr lang="zh-CN" altLang="en-US" dirty="0" smtClean="0"/>
                  <a:t>是相对子块原点</a:t>
                </a:r>
                <a:r>
                  <a:rPr lang="en-US" altLang="zh-CN" dirty="0" smtClean="0"/>
                  <a:t>(</a:t>
                </a:r>
                <a14:m>
                  <m:oMath xmlns:m="http://schemas.openxmlformats.org/officeDocument/2006/math">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r>
                          <a:rPr lang="en-US" altLang="zh-CN" i="1">
                            <a:latin typeface="Cambria Math" panose="02040503050406030204" pitchFamily="18" charset="0"/>
                          </a:rPr>
                          <m:t>𝑐</m:t>
                        </m:r>
                      </m:e>
                      <m:sub>
                        <m:r>
                          <a:rPr lang="en-US" altLang="zh-CN" i="1">
                            <a:latin typeface="Cambria Math" panose="02040503050406030204" pitchFamily="18" charset="0"/>
                          </a:rPr>
                          <m:t>𝑦</m:t>
                        </m:r>
                      </m:sub>
                    </m:sSub>
                  </m:oMath>
                </a14:m>
                <a:r>
                  <a:rPr lang="en-US" altLang="zh-CN" dirty="0" smtClean="0"/>
                  <a:t>)</a:t>
                </a:r>
                <a:r>
                  <a:rPr lang="zh-CN" altLang="en-US" dirty="0" smtClean="0"/>
                  <a:t>的偏移量</a:t>
                </a:r>
                <a:endParaRPr lang="en-US" altLang="zh-CN" dirty="0" smtClean="0"/>
              </a:p>
              <a:p>
                <a:pPr lvl="1"/>
                <a14:m>
                  <m:oMath xmlns:m="http://schemas.openxmlformats.org/officeDocument/2006/math">
                    <m:r>
                      <a:rPr lang="zh-CN" altLang="en-US" i="1" smtClean="0">
                        <a:latin typeface="Cambria Math" panose="02040503050406030204" pitchFamily="18" charset="0"/>
                      </a:rPr>
                      <m:t>𝜎</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𝑡</m:t>
                            </m:r>
                          </m:e>
                          <m:sub>
                            <m:r>
                              <a:rPr lang="zh-CN" altLang="en-US" i="1" smtClean="0">
                                <a:latin typeface="Cambria Math" panose="02040503050406030204" pitchFamily="18" charset="0"/>
                              </a:rPr>
                              <m:t>𝜎</m:t>
                            </m:r>
                          </m:sub>
                        </m:sSub>
                      </m:e>
                    </m:d>
                  </m:oMath>
                </a14:m>
                <a:r>
                  <a:rPr lang="zh-CN" altLang="en-US" dirty="0" smtClean="0"/>
                  <a:t>是预测框的置信度</a:t>
                </a:r>
                <a:endParaRPr lang="en-US" altLang="zh-CN" dirty="0" smtClean="0"/>
              </a:p>
              <a:p>
                <a:pPr lvl="2"/>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b="-1582"/>
                </a:stretch>
              </a:blipFill>
            </p:spPr>
            <p:txBody>
              <a:bodyPr/>
              <a:lstStyle/>
              <a:p>
                <a:r>
                  <a:rPr lang="zh-CN" altLang="en-US">
                    <a:noFill/>
                  </a:rPr>
                  <a:t> </a:t>
                </a:r>
              </a:p>
            </p:txBody>
          </p:sp>
        </mc:Fallback>
      </mc:AlternateContent>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48522" y="1392865"/>
            <a:ext cx="6171966" cy="4617408"/>
          </a:xfrm>
          <a:prstGeom prst="rect">
            <a:avLst/>
          </a:prstGeom>
        </p:spPr>
      </p:pic>
    </p:spTree>
    <p:extLst>
      <p:ext uri="{BB962C8B-B14F-4D97-AF65-F5344CB8AC3E}">
        <p14:creationId xmlns:p14="http://schemas.microsoft.com/office/powerpoint/2010/main" val="1926466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YOLOv2</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5"/>
            </a:pPr>
            <a:r>
              <a:rPr lang="zh-CN" altLang="en-US" dirty="0" smtClean="0"/>
              <a:t>使用浅层细节特征</a:t>
            </a:r>
            <a:endParaRPr lang="en-US" altLang="zh-CN" dirty="0" smtClean="0"/>
          </a:p>
          <a:p>
            <a:pPr lvl="1"/>
            <a:r>
              <a:rPr lang="zh-CN" altLang="en-US" dirty="0" smtClean="0"/>
              <a:t>深层特征与浅层特征进行级联</a:t>
            </a:r>
            <a:endParaRPr lang="en-US" altLang="zh-CN" dirty="0" smtClean="0"/>
          </a:p>
          <a:p>
            <a:pPr lvl="1"/>
            <a:r>
              <a:rPr lang="zh-CN" altLang="en-US" dirty="0" smtClean="0"/>
              <a:t>拆分成</a:t>
            </a:r>
            <a:r>
              <a:rPr lang="en-US" altLang="zh-CN" dirty="0" smtClean="0"/>
              <a:t>4</a:t>
            </a:r>
            <a:r>
              <a:rPr lang="zh-CN" altLang="en-US" dirty="0" smtClean="0"/>
              <a:t>个特征图，特征图大小降低</a:t>
            </a:r>
            <a:r>
              <a:rPr lang="en-US" altLang="zh-CN" dirty="0" smtClean="0"/>
              <a:t>4</a:t>
            </a:r>
            <a:r>
              <a:rPr lang="zh-CN" altLang="en-US" dirty="0" smtClean="0"/>
              <a:t>倍，</a:t>
            </a:r>
            <a:r>
              <a:rPr lang="zh-CN" altLang="en-US" dirty="0"/>
              <a:t>通道</a:t>
            </a:r>
            <a:r>
              <a:rPr lang="zh-CN" altLang="en-US" dirty="0" smtClean="0"/>
              <a:t>数增加</a:t>
            </a:r>
            <a:r>
              <a:rPr lang="en-US" altLang="zh-CN" dirty="0" smtClean="0"/>
              <a:t>4</a:t>
            </a:r>
            <a:r>
              <a:rPr lang="zh-CN" altLang="en-US" dirty="0" smtClean="0"/>
              <a:t>倍</a:t>
            </a:r>
            <a:endParaRPr lang="en-US" altLang="zh-CN" dirty="0" smtClean="0"/>
          </a:p>
          <a:p>
            <a:pPr lvl="1"/>
            <a:r>
              <a:rPr lang="zh-CN" altLang="en-US" dirty="0" smtClean="0"/>
              <a:t>类似于</a:t>
            </a:r>
            <a:r>
              <a:rPr lang="en-US" altLang="zh-CN" dirty="0" err="1" smtClean="0"/>
              <a:t>ResNet</a:t>
            </a:r>
            <a:r>
              <a:rPr lang="zh-CN" altLang="en-US" dirty="0" smtClean="0"/>
              <a:t>的思想，该层命名为</a:t>
            </a:r>
            <a:r>
              <a:rPr lang="en-US" altLang="zh-CN" dirty="0" err="1"/>
              <a:t>passthrough</a:t>
            </a:r>
            <a:r>
              <a:rPr lang="zh-CN" altLang="en-US" dirty="0"/>
              <a:t>层</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5206" y="3420359"/>
            <a:ext cx="7620000" cy="1724025"/>
          </a:xfrm>
          <a:prstGeom prst="rect">
            <a:avLst/>
          </a:prstGeom>
        </p:spPr>
      </p:pic>
    </p:spTree>
    <p:extLst>
      <p:ext uri="{BB962C8B-B14F-4D97-AF65-F5344CB8AC3E}">
        <p14:creationId xmlns:p14="http://schemas.microsoft.com/office/powerpoint/2010/main" val="537389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YOLOv2</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6"/>
            </a:pPr>
            <a:r>
              <a:rPr lang="zh-CN" altLang="en-US" dirty="0" smtClean="0"/>
              <a:t>使用多尺度图像进行训练</a:t>
            </a:r>
            <a:endParaRPr lang="en-US" altLang="zh-CN" dirty="0" smtClean="0"/>
          </a:p>
          <a:p>
            <a:pPr lvl="1"/>
            <a:r>
              <a:rPr lang="zh-CN" altLang="en-US" dirty="0" smtClean="0"/>
              <a:t>每间隔一定迭代次数之后改变模型的输入图像大小</a:t>
            </a:r>
            <a:endParaRPr lang="en-US" altLang="zh-CN" dirty="0" smtClean="0"/>
          </a:p>
          <a:p>
            <a:pPr lvl="1"/>
            <a:r>
              <a:rPr lang="zh-CN" altLang="en-US" dirty="0" smtClean="0"/>
              <a:t>输入图像大小选择一系列</a:t>
            </a:r>
            <a:r>
              <a:rPr lang="en-US" altLang="zh-CN" dirty="0" smtClean="0"/>
              <a:t>32</a:t>
            </a:r>
            <a:r>
              <a:rPr lang="zh-CN" altLang="en-US" dirty="0" smtClean="0"/>
              <a:t>倍数值，从</a:t>
            </a:r>
            <a:r>
              <a:rPr lang="en-US" altLang="zh-CN" dirty="0" smtClean="0"/>
              <a:t>320</a:t>
            </a:r>
            <a:r>
              <a:rPr lang="zh-CN" altLang="en-US" dirty="0" smtClean="0"/>
              <a:t>至</a:t>
            </a:r>
            <a:r>
              <a:rPr lang="en-US" altLang="zh-CN" dirty="0" smtClean="0"/>
              <a:t>608</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5" y="2651124"/>
            <a:ext cx="4276725" cy="3486150"/>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4606" y="2441574"/>
            <a:ext cx="6257925" cy="3695700"/>
          </a:xfrm>
          <a:prstGeom prst="rect">
            <a:avLst/>
          </a:prstGeom>
        </p:spPr>
      </p:pic>
    </p:spTree>
    <p:extLst>
      <p:ext uri="{BB962C8B-B14F-4D97-AF65-F5344CB8AC3E}">
        <p14:creationId xmlns:p14="http://schemas.microsoft.com/office/powerpoint/2010/main" val="3442998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YOLOv3</a:t>
            </a:r>
            <a:endParaRPr lang="zh-CN" altLang="en-US" dirty="0"/>
          </a:p>
        </p:txBody>
      </p:sp>
      <p:sp>
        <p:nvSpPr>
          <p:cNvPr id="3" name="内容占位符 2"/>
          <p:cNvSpPr>
            <a:spLocks noGrp="1"/>
          </p:cNvSpPr>
          <p:nvPr>
            <p:ph sz="quarter" idx="13"/>
          </p:nvPr>
        </p:nvSpPr>
        <p:spPr/>
        <p:txBody>
          <a:bodyPr/>
          <a:lstStyle/>
          <a:p>
            <a:r>
              <a:rPr lang="en-US" altLang="zh-CN" dirty="0" smtClean="0"/>
              <a:t>YOLOv3</a:t>
            </a:r>
            <a:r>
              <a:rPr lang="zh-CN" altLang="en-US" dirty="0" smtClean="0"/>
              <a:t>：</a:t>
            </a:r>
            <a:endParaRPr lang="en-US" altLang="zh-CN" dirty="0" smtClean="0"/>
          </a:p>
          <a:p>
            <a:pPr marL="800100" lvl="1" indent="-342900">
              <a:buFont typeface="+mj-lt"/>
              <a:buAutoNum type="arabicPeriod"/>
            </a:pPr>
            <a:r>
              <a:rPr lang="zh-CN" altLang="en-US" dirty="0" smtClean="0"/>
              <a:t>类别预测</a:t>
            </a:r>
            <a:endParaRPr lang="en-US" altLang="zh-CN" dirty="0" smtClean="0"/>
          </a:p>
          <a:p>
            <a:pPr marL="800100" lvl="1" indent="-342900">
              <a:buFont typeface="+mj-lt"/>
              <a:buAutoNum type="arabicPeriod"/>
            </a:pPr>
            <a:r>
              <a:rPr lang="zh-CN" altLang="en-US" dirty="0"/>
              <a:t>使用残差结构网络</a:t>
            </a:r>
            <a:endParaRPr lang="en-US" altLang="zh-CN" dirty="0"/>
          </a:p>
          <a:p>
            <a:pPr marL="800100" lvl="1" indent="-342900">
              <a:buFont typeface="+mj-lt"/>
              <a:buAutoNum type="arabicPeriod"/>
            </a:pPr>
            <a:r>
              <a:rPr lang="zh-CN" altLang="en-US" dirty="0" smtClean="0"/>
              <a:t>使用多尺度特征</a:t>
            </a:r>
            <a:endParaRPr lang="en-US" altLang="zh-CN" dirty="0" smtClean="0"/>
          </a:p>
          <a:p>
            <a:pPr marL="800100" lvl="1" indent="-342900">
              <a:buFont typeface="+mj-lt"/>
              <a:buAutoNum type="arabicPeriod"/>
            </a:pPr>
            <a:r>
              <a:rPr lang="zh-CN" altLang="en-US" dirty="0"/>
              <a:t>先验</a:t>
            </a:r>
            <a:r>
              <a:rPr lang="zh-CN" altLang="en-US" dirty="0" smtClean="0"/>
              <a:t>框</a:t>
            </a: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8688" y="2155824"/>
            <a:ext cx="6781800" cy="3981450"/>
          </a:xfrm>
          <a:prstGeom prst="rect">
            <a:avLst/>
          </a:prstGeom>
        </p:spPr>
      </p:pic>
    </p:spTree>
    <p:extLst>
      <p:ext uri="{BB962C8B-B14F-4D97-AF65-F5344CB8AC3E}">
        <p14:creationId xmlns:p14="http://schemas.microsoft.com/office/powerpoint/2010/main" val="3838973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YOLOv3</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a:pPr>
            <a:r>
              <a:rPr lang="zh-CN" altLang="en-US" dirty="0" smtClean="0"/>
              <a:t>类别预测</a:t>
            </a:r>
            <a:endParaRPr lang="en-US" altLang="zh-CN" dirty="0" smtClean="0"/>
          </a:p>
          <a:p>
            <a:pPr lvl="1"/>
            <a:r>
              <a:rPr lang="zh-CN" altLang="en-US" dirty="0" smtClean="0"/>
              <a:t>使用</a:t>
            </a:r>
            <a:r>
              <a:rPr lang="en-US" altLang="zh-CN" dirty="0" smtClean="0"/>
              <a:t>logistic</a:t>
            </a:r>
            <a:r>
              <a:rPr lang="zh-CN" altLang="en-US" dirty="0" smtClean="0"/>
              <a:t>分类器代替</a:t>
            </a:r>
            <a:r>
              <a:rPr lang="en-US" altLang="zh-CN" dirty="0" err="1" smtClean="0"/>
              <a:t>softmax</a:t>
            </a:r>
            <a:r>
              <a:rPr lang="zh-CN" altLang="en-US" dirty="0" smtClean="0"/>
              <a:t>分类器</a:t>
            </a:r>
            <a:endParaRPr lang="en-US" altLang="zh-CN" dirty="0" smtClean="0"/>
          </a:p>
          <a:p>
            <a:pPr lvl="2"/>
            <a:r>
              <a:rPr lang="zh-CN" altLang="en-US" dirty="0" smtClean="0"/>
              <a:t>针对每一类使用独立的</a:t>
            </a:r>
            <a:r>
              <a:rPr lang="en-US" altLang="zh-CN" dirty="0" smtClean="0"/>
              <a:t>logistic</a:t>
            </a:r>
            <a:r>
              <a:rPr lang="zh-CN" altLang="en-US" dirty="0" smtClean="0"/>
              <a:t>分类器</a:t>
            </a:r>
            <a:endParaRPr lang="en-US" altLang="zh-CN" dirty="0" smtClean="0"/>
          </a:p>
          <a:p>
            <a:pPr lvl="2"/>
            <a:r>
              <a:rPr lang="en-US" altLang="zh-CN" dirty="0" err="1" smtClean="0"/>
              <a:t>softmax</a:t>
            </a:r>
            <a:r>
              <a:rPr lang="zh-CN" altLang="en-US" dirty="0" smtClean="0"/>
              <a:t>分类器全部分类概率之和为</a:t>
            </a:r>
            <a:r>
              <a:rPr lang="en-US" altLang="zh-CN" dirty="0" smtClean="0"/>
              <a:t>1</a:t>
            </a:r>
          </a:p>
          <a:p>
            <a:pPr lvl="1"/>
            <a:r>
              <a:rPr lang="zh-CN" altLang="en-US" dirty="0" smtClean="0"/>
              <a:t>训练过程使用二分交叉熵损失代替均方误差</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5" y="3020054"/>
            <a:ext cx="4364531" cy="2992404"/>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55364" y="3020054"/>
            <a:ext cx="4365124" cy="2992811"/>
          </a:xfrm>
          <a:prstGeom prst="rect">
            <a:avLst/>
          </a:prstGeom>
        </p:spPr>
      </p:pic>
    </p:spTree>
    <p:extLst>
      <p:ext uri="{BB962C8B-B14F-4D97-AF65-F5344CB8AC3E}">
        <p14:creationId xmlns:p14="http://schemas.microsoft.com/office/powerpoint/2010/main" val="2175078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YOLOv3</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2"/>
            </a:pPr>
            <a:r>
              <a:rPr lang="zh-CN" altLang="en-US" dirty="0" smtClean="0"/>
              <a:t>使用残差结构网络</a:t>
            </a:r>
            <a:endParaRPr lang="en-US" altLang="zh-CN" dirty="0" smtClean="0"/>
          </a:p>
          <a:p>
            <a:pPr lvl="1"/>
            <a:r>
              <a:rPr lang="en-US" altLang="zh-CN" dirty="0" smtClean="0"/>
              <a:t>Darknet-53</a:t>
            </a:r>
          </a:p>
          <a:p>
            <a:pPr marL="342900" indent="-342900">
              <a:buFont typeface="+mj-lt"/>
              <a:buAutoNum type="arabicPeriod" startAt="2"/>
            </a:pP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7413" y="1130299"/>
            <a:ext cx="3923075" cy="5006975"/>
          </a:xfrm>
          <a:prstGeom prst="rect">
            <a:avLst/>
          </a:prstGeom>
        </p:spPr>
      </p:pic>
    </p:spTree>
    <p:extLst>
      <p:ext uri="{BB962C8B-B14F-4D97-AF65-F5344CB8AC3E}">
        <p14:creationId xmlns:p14="http://schemas.microsoft.com/office/powerpoint/2010/main" val="3324963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YOLOv3</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3"/>
            </a:pPr>
            <a:r>
              <a:rPr lang="zh-CN" altLang="en-US" dirty="0" smtClean="0"/>
              <a:t>使用多尺度特征</a:t>
            </a:r>
            <a:endParaRPr lang="en-US" altLang="zh-CN" dirty="0" smtClean="0"/>
          </a:p>
          <a:p>
            <a:pPr lvl="1"/>
            <a:r>
              <a:rPr lang="zh-CN" altLang="en-US" dirty="0" smtClean="0"/>
              <a:t>特征图每个位置使用</a:t>
            </a:r>
            <a:r>
              <a:rPr lang="en-US" altLang="zh-CN" dirty="0" smtClean="0"/>
              <a:t>3</a:t>
            </a:r>
            <a:r>
              <a:rPr lang="zh-CN" altLang="en-US" dirty="0" smtClean="0"/>
              <a:t>个锚</a:t>
            </a:r>
            <a:endParaRPr lang="en-US" altLang="zh-CN" dirty="0" smtClean="0"/>
          </a:p>
          <a:p>
            <a:pPr lvl="1"/>
            <a:r>
              <a:rPr lang="zh-CN" altLang="en-US" dirty="0" smtClean="0"/>
              <a:t>需要预测的参数数量为</a:t>
            </a:r>
            <a:r>
              <a:rPr lang="en-US" altLang="zh-CN" dirty="0" smtClean="0"/>
              <a:t>N×N×3×(4+1+n_class)</a:t>
            </a:r>
          </a:p>
          <a:p>
            <a:pPr lvl="1"/>
            <a:r>
              <a:rPr lang="en-US" altLang="zh-CN" dirty="0" smtClean="0"/>
              <a:t>3</a:t>
            </a:r>
            <a:r>
              <a:rPr lang="zh-CN" altLang="en-US" dirty="0" smtClean="0"/>
              <a:t>个不同尺度的特征图以获得更好效果</a:t>
            </a:r>
            <a:endParaRPr lang="en-US" altLang="zh-CN" dirty="0" smtClean="0"/>
          </a:p>
          <a:p>
            <a:pPr marL="342900" indent="-342900">
              <a:buFont typeface="+mj-lt"/>
              <a:buAutoNum type="arabicPeriod" startAt="3"/>
            </a:pP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7047" y="1130299"/>
            <a:ext cx="5503441" cy="5014246"/>
          </a:xfrm>
          <a:prstGeom prst="rect">
            <a:avLst/>
          </a:prstGeom>
        </p:spPr>
      </p:pic>
    </p:spTree>
    <p:extLst>
      <p:ext uri="{BB962C8B-B14F-4D97-AF65-F5344CB8AC3E}">
        <p14:creationId xmlns:p14="http://schemas.microsoft.com/office/powerpoint/2010/main" val="34940250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YOLOv3</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3"/>
            </a:pPr>
            <a:r>
              <a:rPr lang="zh-CN" altLang="en-US" dirty="0" smtClean="0"/>
              <a:t>使用多尺度特征</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4587" y="1363315"/>
            <a:ext cx="8585902" cy="4773960"/>
          </a:xfrm>
          <a:prstGeom prst="rect">
            <a:avLst/>
          </a:prstGeom>
        </p:spPr>
      </p:pic>
    </p:spTree>
    <p:extLst>
      <p:ext uri="{BB962C8B-B14F-4D97-AF65-F5344CB8AC3E}">
        <p14:creationId xmlns:p14="http://schemas.microsoft.com/office/powerpoint/2010/main" val="22801539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YOLOv3</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4"/>
            </a:pPr>
            <a:r>
              <a:rPr lang="zh-CN" altLang="en-US" dirty="0" smtClean="0"/>
              <a:t>先验框</a:t>
            </a:r>
            <a:endParaRPr lang="en-US" altLang="zh-CN" dirty="0" smtClean="0"/>
          </a:p>
          <a:p>
            <a:pPr lvl="1"/>
            <a:r>
              <a:rPr lang="zh-CN" altLang="en-US" dirty="0" smtClean="0"/>
              <a:t>最小的特征图有最大的感受野，用大的先验框检测大对象</a:t>
            </a:r>
            <a:r>
              <a:rPr lang="en-US" altLang="zh-CN" dirty="0" smtClean="0"/>
              <a:t>{(</a:t>
            </a:r>
            <a:r>
              <a:rPr lang="en-US" altLang="zh-CN" dirty="0"/>
              <a:t>116x90)</a:t>
            </a:r>
            <a:r>
              <a:rPr lang="zh-CN" altLang="en-US" dirty="0"/>
              <a:t>，</a:t>
            </a:r>
            <a:r>
              <a:rPr lang="en-US" altLang="zh-CN" dirty="0"/>
              <a:t>(156x198)</a:t>
            </a:r>
            <a:r>
              <a:rPr lang="zh-CN" altLang="en-US" dirty="0"/>
              <a:t>，</a:t>
            </a:r>
            <a:r>
              <a:rPr lang="en-US" altLang="zh-CN" dirty="0"/>
              <a:t>(373x326</a:t>
            </a:r>
            <a:r>
              <a:rPr lang="en-US" altLang="zh-CN" dirty="0" smtClean="0"/>
              <a:t>)}</a:t>
            </a:r>
          </a:p>
          <a:p>
            <a:pPr lvl="1"/>
            <a:r>
              <a:rPr lang="zh-CN" altLang="en-US" dirty="0" smtClean="0"/>
              <a:t>中等的特征图有中等的感受野，用中的先验框检测中对象</a:t>
            </a:r>
            <a:r>
              <a:rPr lang="en-US" altLang="zh-CN" dirty="0"/>
              <a:t>{(30x61)</a:t>
            </a:r>
            <a:r>
              <a:rPr lang="zh-CN" altLang="en-US" dirty="0"/>
              <a:t>，</a:t>
            </a:r>
            <a:r>
              <a:rPr lang="en-US" altLang="zh-CN" dirty="0"/>
              <a:t>(62x45)</a:t>
            </a:r>
            <a:r>
              <a:rPr lang="zh-CN" altLang="en-US" dirty="0"/>
              <a:t>，</a:t>
            </a:r>
            <a:r>
              <a:rPr lang="en-US" altLang="zh-CN" dirty="0"/>
              <a:t>(59x119)}</a:t>
            </a:r>
            <a:endParaRPr lang="en-US" altLang="zh-CN" dirty="0" smtClean="0"/>
          </a:p>
          <a:p>
            <a:pPr lvl="1"/>
            <a:r>
              <a:rPr lang="zh-CN" altLang="en-US" dirty="0" smtClean="0"/>
              <a:t>最大的特征图有最小的感受野，用小的先验框检测小对象</a:t>
            </a:r>
            <a:r>
              <a:rPr lang="en-US" altLang="zh-CN" dirty="0" smtClean="0"/>
              <a:t>{</a:t>
            </a:r>
            <a:r>
              <a:rPr lang="en-US" altLang="zh-CN" dirty="0"/>
              <a:t>(10x13)</a:t>
            </a:r>
            <a:r>
              <a:rPr lang="zh-CN" altLang="en-US" dirty="0"/>
              <a:t>，</a:t>
            </a:r>
            <a:r>
              <a:rPr lang="en-US" altLang="zh-CN" dirty="0"/>
              <a:t>(16x30)</a:t>
            </a:r>
            <a:r>
              <a:rPr lang="zh-CN" altLang="en-US" dirty="0"/>
              <a:t>，</a:t>
            </a:r>
            <a:r>
              <a:rPr lang="en-US" altLang="zh-CN" dirty="0"/>
              <a:t>(33x23)</a:t>
            </a:r>
            <a:r>
              <a:rPr lang="en-US" altLang="zh-CN" dirty="0" smtClean="0"/>
              <a:t>}</a:t>
            </a:r>
          </a:p>
          <a:p>
            <a:pPr lvl="1"/>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5" y="2785021"/>
            <a:ext cx="3240000" cy="3352253"/>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09925" y="2785021"/>
            <a:ext cx="3240000" cy="3408910"/>
          </a:xfrm>
          <a:prstGeom prst="rect">
            <a:avLst/>
          </a:prstGeom>
        </p:spPr>
      </p:pic>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49925" y="2818291"/>
            <a:ext cx="3240000" cy="3342370"/>
          </a:xfrm>
          <a:prstGeom prst="rect">
            <a:avLst/>
          </a:prstGeom>
        </p:spPr>
      </p:pic>
    </p:spTree>
    <p:extLst>
      <p:ext uri="{BB962C8B-B14F-4D97-AF65-F5344CB8AC3E}">
        <p14:creationId xmlns:p14="http://schemas.microsoft.com/office/powerpoint/2010/main" val="20797554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YOLOv4</a:t>
            </a:r>
            <a:endParaRPr lang="zh-CN" altLang="en-US" dirty="0"/>
          </a:p>
        </p:txBody>
      </p:sp>
      <p:sp>
        <p:nvSpPr>
          <p:cNvPr id="3" name="内容占位符 2"/>
          <p:cNvSpPr>
            <a:spLocks noGrp="1"/>
          </p:cNvSpPr>
          <p:nvPr>
            <p:ph sz="quarter" idx="13"/>
          </p:nvPr>
        </p:nvSpPr>
        <p:spPr/>
        <p:txBody>
          <a:bodyPr/>
          <a:lstStyle/>
          <a:p>
            <a:r>
              <a:rPr lang="en-US" altLang="zh-CN" dirty="0" smtClean="0"/>
              <a:t>YOLOv4</a:t>
            </a:r>
            <a:r>
              <a:rPr lang="zh-CN" altLang="en-US" dirty="0" smtClean="0"/>
              <a:t>：</a:t>
            </a:r>
            <a:endParaRPr lang="en-US" altLang="zh-CN" dirty="0" smtClean="0"/>
          </a:p>
          <a:p>
            <a:pPr marL="800100" lvl="1" indent="-342900">
              <a:buFont typeface="+mj-lt"/>
              <a:buAutoNum type="arabicPeriod"/>
            </a:pPr>
            <a:r>
              <a:rPr lang="en-US" altLang="zh-CN" dirty="0" smtClean="0"/>
              <a:t>Mosaic</a:t>
            </a:r>
            <a:r>
              <a:rPr lang="zh-CN" altLang="en-US" dirty="0" smtClean="0"/>
              <a:t>数据增强</a:t>
            </a:r>
            <a:endParaRPr lang="en-US" altLang="zh-CN" dirty="0" smtClean="0"/>
          </a:p>
          <a:p>
            <a:pPr marL="800100" lvl="1" indent="-342900">
              <a:buFont typeface="+mj-lt"/>
              <a:buAutoNum type="arabicPeriod"/>
            </a:pPr>
            <a:r>
              <a:rPr lang="zh-CN" altLang="en-US" dirty="0" smtClean="0"/>
              <a:t>主干网络升级</a:t>
            </a:r>
            <a:endParaRPr lang="en-US" altLang="zh-CN" dirty="0" smtClean="0"/>
          </a:p>
          <a:p>
            <a:pPr marL="800100" lvl="1" indent="-342900">
              <a:buFont typeface="+mj-lt"/>
              <a:buAutoNum type="arabicPeriod"/>
            </a:pPr>
            <a:r>
              <a:rPr lang="zh-CN" altLang="en-US" dirty="0"/>
              <a:t>多</a:t>
            </a:r>
            <a:r>
              <a:rPr lang="zh-CN" altLang="en-US" dirty="0" smtClean="0"/>
              <a:t>尺度金字塔升级</a:t>
            </a:r>
            <a:endParaRPr lang="en-US" altLang="zh-CN" dirty="0" smtClean="0"/>
          </a:p>
          <a:p>
            <a:pPr marL="800100" lvl="1" indent="-342900">
              <a:buFont typeface="+mj-lt"/>
              <a:buAutoNum type="arabicPeriod"/>
            </a:pP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8930" y="1251032"/>
            <a:ext cx="5991558" cy="4765507"/>
          </a:xfrm>
          <a:prstGeom prst="rect">
            <a:avLst/>
          </a:prstGeom>
        </p:spPr>
      </p:pic>
    </p:spTree>
    <p:extLst>
      <p:ext uri="{BB962C8B-B14F-4D97-AF65-F5344CB8AC3E}">
        <p14:creationId xmlns:p14="http://schemas.microsoft.com/office/powerpoint/2010/main" val="33698509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YOLOv4</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a:pPr>
            <a:r>
              <a:rPr lang="en-US" altLang="zh-CN" dirty="0" smtClean="0"/>
              <a:t>Mosaic</a:t>
            </a:r>
            <a:r>
              <a:rPr lang="zh-CN" altLang="en-US" dirty="0" smtClean="0"/>
              <a:t>数据增强</a:t>
            </a:r>
            <a:endParaRPr lang="en-US" altLang="zh-CN" dirty="0" smtClean="0"/>
          </a:p>
          <a:p>
            <a:pPr lvl="1"/>
            <a:r>
              <a:rPr lang="zh-CN" altLang="en-US" dirty="0" smtClean="0"/>
              <a:t>平衡不同尺寸目标的占比数量</a:t>
            </a:r>
            <a:endParaRPr lang="en-US" altLang="zh-CN" dirty="0" smtClean="0"/>
          </a:p>
          <a:p>
            <a:pPr lvl="1"/>
            <a:r>
              <a:rPr lang="zh-CN" altLang="en-US" dirty="0" smtClean="0"/>
              <a:t>采用</a:t>
            </a:r>
            <a:r>
              <a:rPr lang="en-US" altLang="zh-CN" dirty="0" smtClean="0"/>
              <a:t>4</a:t>
            </a:r>
            <a:r>
              <a:rPr lang="zh-CN" altLang="en-US" dirty="0" smtClean="0"/>
              <a:t>张图片随机缩放、裁剪、排布进行拼接</a:t>
            </a:r>
            <a:endParaRPr lang="en-US" altLang="zh-CN" dirty="0" smtClean="0"/>
          </a:p>
          <a:p>
            <a:pPr lvl="1"/>
            <a:r>
              <a:rPr lang="zh-CN" altLang="en-US" dirty="0" smtClean="0"/>
              <a:t>扩充了数据集，减少</a:t>
            </a:r>
            <a:r>
              <a:rPr lang="en-US" altLang="zh-CN" dirty="0" smtClean="0"/>
              <a:t>GPU</a:t>
            </a:r>
            <a:r>
              <a:rPr lang="zh-CN" altLang="en-US" dirty="0" smtClean="0"/>
              <a:t>计算量</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6923" y="2812825"/>
            <a:ext cx="8356566" cy="3324449"/>
          </a:xfrm>
          <a:prstGeom prst="rect">
            <a:avLst/>
          </a:prstGeom>
        </p:spPr>
      </p:pic>
    </p:spTree>
    <p:extLst>
      <p:ext uri="{BB962C8B-B14F-4D97-AF65-F5344CB8AC3E}">
        <p14:creationId xmlns:p14="http://schemas.microsoft.com/office/powerpoint/2010/main" val="8032518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YOLOv4</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2"/>
            </a:pPr>
            <a:r>
              <a:rPr lang="zh-CN" altLang="en-US" dirty="0" smtClean="0"/>
              <a:t>主干网络升级</a:t>
            </a:r>
            <a:endParaRPr lang="en-US" altLang="zh-CN" dirty="0" smtClean="0"/>
          </a:p>
          <a:p>
            <a:pPr lvl="1"/>
            <a:r>
              <a:rPr lang="en-US" altLang="zh-CN" dirty="0" smtClean="0"/>
              <a:t>CSPDarknet-53</a:t>
            </a:r>
            <a:r>
              <a:rPr lang="zh-CN" altLang="en-US" dirty="0" smtClean="0"/>
              <a:t>网络</a:t>
            </a:r>
            <a:endParaRPr lang="en-US" altLang="zh-CN" dirty="0" smtClean="0"/>
          </a:p>
          <a:p>
            <a:pPr lvl="1"/>
            <a:r>
              <a:rPr lang="zh-CN" altLang="en-US" dirty="0" smtClean="0"/>
              <a:t>增强</a:t>
            </a:r>
            <a:r>
              <a:rPr lang="en-US" altLang="zh-CN" dirty="0" smtClean="0"/>
              <a:t>CNN</a:t>
            </a:r>
            <a:r>
              <a:rPr lang="zh-CN" altLang="en-US" dirty="0" smtClean="0"/>
              <a:t>学习能力，降低计算瓶颈及内存成本</a:t>
            </a:r>
            <a:endParaRPr lang="en-US" altLang="zh-CN" dirty="0" smtClean="0"/>
          </a:p>
          <a:p>
            <a:pPr lvl="1"/>
            <a:r>
              <a:rPr lang="en-US" altLang="zh-CN" dirty="0" err="1" smtClean="0"/>
              <a:t>Dropblock</a:t>
            </a:r>
            <a:r>
              <a:rPr lang="zh-CN" altLang="en-US" dirty="0" smtClean="0"/>
              <a:t>缓解过拟合</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3238" y="1130299"/>
            <a:ext cx="4667250" cy="2333625"/>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1849" y="3902149"/>
            <a:ext cx="5948639" cy="2235125"/>
          </a:xfrm>
          <a:prstGeom prst="rect">
            <a:avLst/>
          </a:prstGeom>
        </p:spPr>
      </p:pic>
    </p:spTree>
    <p:extLst>
      <p:ext uri="{BB962C8B-B14F-4D97-AF65-F5344CB8AC3E}">
        <p14:creationId xmlns:p14="http://schemas.microsoft.com/office/powerpoint/2010/main" val="3467241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YOLOv4</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3"/>
            </a:pPr>
            <a:r>
              <a:rPr lang="zh-CN" altLang="en-US" dirty="0" smtClean="0"/>
              <a:t>多尺度金字塔升级</a:t>
            </a:r>
            <a:endParaRPr lang="en-US" altLang="zh-CN" dirty="0" smtClean="0"/>
          </a:p>
          <a:p>
            <a:pPr lvl="1"/>
            <a:r>
              <a:rPr lang="en-US" altLang="zh-CN" dirty="0" smtClean="0"/>
              <a:t>FPN+PAN</a:t>
            </a:r>
            <a:r>
              <a:rPr lang="zh-CN" altLang="en-US" dirty="0" smtClean="0"/>
              <a:t>结构</a:t>
            </a:r>
            <a:endParaRPr lang="en-US" altLang="zh-CN" dirty="0" smtClean="0"/>
          </a:p>
          <a:p>
            <a:pPr lvl="1"/>
            <a:r>
              <a:rPr lang="zh-CN" altLang="en-US" dirty="0" smtClean="0"/>
              <a:t>组合两个模块，</a:t>
            </a:r>
            <a:r>
              <a:rPr lang="en-US" altLang="zh-CN" dirty="0" smtClean="0"/>
              <a:t>FPN</a:t>
            </a:r>
            <a:r>
              <a:rPr lang="zh-CN" altLang="en-US" dirty="0" smtClean="0"/>
              <a:t>自顶向下捕获特征，</a:t>
            </a:r>
            <a:r>
              <a:rPr lang="en-US" altLang="zh-CN" dirty="0" smtClean="0"/>
              <a:t>PAN</a:t>
            </a:r>
            <a:r>
              <a:rPr lang="zh-CN" altLang="en-US" dirty="0" smtClean="0"/>
              <a:t>自底向上传达定位</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8844" y="2592281"/>
            <a:ext cx="4484773" cy="3544993"/>
          </a:xfrm>
          <a:prstGeom prst="rect">
            <a:avLst/>
          </a:prstGeom>
          <a:ln>
            <a:noFill/>
          </a:ln>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3617" y="2358454"/>
            <a:ext cx="5026871" cy="3778820"/>
          </a:xfrm>
          <a:prstGeom prst="rect">
            <a:avLst/>
          </a:prstGeom>
        </p:spPr>
      </p:pic>
    </p:spTree>
    <p:extLst>
      <p:ext uri="{BB962C8B-B14F-4D97-AF65-F5344CB8AC3E}">
        <p14:creationId xmlns:p14="http://schemas.microsoft.com/office/powerpoint/2010/main" val="370867577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YOLOv5</a:t>
            </a:r>
            <a:endParaRPr lang="zh-CN" altLang="en-US" dirty="0"/>
          </a:p>
        </p:txBody>
      </p:sp>
      <p:sp>
        <p:nvSpPr>
          <p:cNvPr id="3" name="内容占位符 2"/>
          <p:cNvSpPr>
            <a:spLocks noGrp="1"/>
          </p:cNvSpPr>
          <p:nvPr>
            <p:ph sz="quarter" idx="13"/>
          </p:nvPr>
        </p:nvSpPr>
        <p:spPr/>
        <p:txBody>
          <a:bodyPr/>
          <a:lstStyle/>
          <a:p>
            <a:r>
              <a:rPr lang="en-US" altLang="zh-CN" dirty="0" smtClean="0"/>
              <a:t>YOLOv5</a:t>
            </a:r>
            <a:r>
              <a:rPr lang="zh-CN" altLang="en-US" dirty="0" smtClean="0"/>
              <a:t>：</a:t>
            </a:r>
            <a:endParaRPr lang="en-US" altLang="zh-CN" dirty="0" smtClean="0"/>
          </a:p>
          <a:p>
            <a:pPr marL="800100" lvl="1" indent="-342900">
              <a:buFont typeface="+mj-lt"/>
              <a:buAutoNum type="arabicPeriod"/>
            </a:pPr>
            <a:r>
              <a:rPr lang="zh-CN" altLang="en-US" dirty="0"/>
              <a:t>自适应锚框</a:t>
            </a:r>
            <a:r>
              <a:rPr lang="zh-CN" altLang="en-US" dirty="0" smtClean="0"/>
              <a:t>计算</a:t>
            </a:r>
            <a:endParaRPr lang="en-US" altLang="zh-CN" dirty="0" smtClean="0"/>
          </a:p>
          <a:p>
            <a:pPr marL="800100" lvl="1" indent="-342900">
              <a:buFont typeface="+mj-lt"/>
              <a:buAutoNum type="arabicPeriod"/>
            </a:pPr>
            <a:r>
              <a:rPr lang="zh-CN" altLang="en-US" dirty="0" smtClean="0"/>
              <a:t>自</a:t>
            </a:r>
            <a:r>
              <a:rPr lang="zh-CN" altLang="en-US" dirty="0"/>
              <a:t>适应图片</a:t>
            </a:r>
            <a:r>
              <a:rPr lang="zh-CN" altLang="en-US" dirty="0" smtClean="0"/>
              <a:t>缩放</a:t>
            </a:r>
            <a:endParaRPr lang="en-US" altLang="zh-CN" dirty="0" smtClean="0"/>
          </a:p>
          <a:p>
            <a:pPr marL="800100" lvl="1" indent="-342900">
              <a:buFont typeface="+mj-lt"/>
              <a:buAutoNum type="arabicPeriod"/>
            </a:pPr>
            <a:endParaRPr lang="en-US" altLang="zh-CN" dirty="0" smtClean="0"/>
          </a:p>
          <a:p>
            <a:pPr marL="800100" lvl="1" indent="-342900">
              <a:buFont typeface="+mj-lt"/>
              <a:buAutoNum type="arabicPeriod"/>
            </a:pPr>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5647" y="1199775"/>
            <a:ext cx="6214841" cy="4868022"/>
          </a:xfrm>
          <a:prstGeom prst="rect">
            <a:avLst/>
          </a:prstGeom>
        </p:spPr>
      </p:pic>
    </p:spTree>
    <p:extLst>
      <p:ext uri="{BB962C8B-B14F-4D97-AF65-F5344CB8AC3E}">
        <p14:creationId xmlns:p14="http://schemas.microsoft.com/office/powerpoint/2010/main" val="2423833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YOLOv5</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a:pPr>
            <a:r>
              <a:rPr lang="zh-CN" altLang="en-US" dirty="0" smtClean="0"/>
              <a:t>自适应锚框计算</a:t>
            </a:r>
            <a:endParaRPr lang="en-US" altLang="zh-CN" dirty="0" smtClean="0"/>
          </a:p>
          <a:p>
            <a:pPr lvl="1"/>
            <a:r>
              <a:rPr lang="zh-CN" altLang="en-US" dirty="0" smtClean="0"/>
              <a:t>不再使用单独脚本</a:t>
            </a:r>
            <a:endParaRPr lang="en-US" altLang="zh-CN" dirty="0" smtClean="0"/>
          </a:p>
          <a:p>
            <a:pPr marL="342900" indent="-342900">
              <a:buFont typeface="+mj-lt"/>
              <a:buAutoNum type="arabicPeriod"/>
            </a:pPr>
            <a:r>
              <a:rPr lang="zh-CN" altLang="en-US" dirty="0" smtClean="0"/>
              <a:t>自适应图片缩放</a:t>
            </a:r>
            <a:endParaRPr lang="en-US" altLang="zh-CN" dirty="0" smtClean="0"/>
          </a:p>
          <a:p>
            <a:pPr lvl="1"/>
            <a:r>
              <a:rPr lang="zh-CN" altLang="en-US" dirty="0"/>
              <a:t>根据原始图片大小与输入到网络图片大小计算缩放</a:t>
            </a:r>
            <a:r>
              <a:rPr lang="zh-CN" altLang="en-US" dirty="0" smtClean="0"/>
              <a:t>比例</a:t>
            </a:r>
            <a:endParaRPr lang="en-US" altLang="zh-CN" dirty="0" smtClean="0"/>
          </a:p>
          <a:p>
            <a:pPr lvl="1"/>
            <a:r>
              <a:rPr lang="zh-CN" altLang="en-US" dirty="0"/>
              <a:t>根据原始图片大小与缩放比例计算缩放后的图片</a:t>
            </a:r>
            <a:r>
              <a:rPr lang="zh-CN" altLang="en-US" dirty="0" smtClean="0"/>
              <a:t>大小</a:t>
            </a:r>
            <a:endParaRPr lang="en-US" altLang="zh-CN" dirty="0" smtClean="0"/>
          </a:p>
          <a:p>
            <a:pPr lvl="1"/>
            <a:r>
              <a:rPr lang="zh-CN" altLang="en-US" dirty="0"/>
              <a:t>计算黑边填充数值。</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06023" y="1130299"/>
            <a:ext cx="4914465" cy="2160000"/>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9925" y="3977274"/>
            <a:ext cx="4914468" cy="2160000"/>
          </a:xfrm>
          <a:prstGeom prst="rect">
            <a:avLst/>
          </a:prstGeom>
        </p:spPr>
      </p:pic>
      <p:pic>
        <p:nvPicPr>
          <p:cNvPr id="6" name="图片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73896" y="3977274"/>
            <a:ext cx="5146592" cy="2160000"/>
          </a:xfrm>
          <a:prstGeom prst="rect">
            <a:avLst/>
          </a:prstGeom>
        </p:spPr>
      </p:pic>
    </p:spTree>
    <p:extLst>
      <p:ext uri="{BB962C8B-B14F-4D97-AF65-F5344CB8AC3E}">
        <p14:creationId xmlns:p14="http://schemas.microsoft.com/office/powerpoint/2010/main" val="3225964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其他的一阶段检测算法</a:t>
            </a:r>
            <a:endParaRPr lang="zh-CN" altLang="en-US" dirty="0"/>
          </a:p>
        </p:txBody>
      </p:sp>
    </p:spTree>
    <p:extLst>
      <p:ext uri="{BB962C8B-B14F-4D97-AF65-F5344CB8AC3E}">
        <p14:creationId xmlns:p14="http://schemas.microsoft.com/office/powerpoint/2010/main" val="405758675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a:t>
            </a:r>
            <a:endParaRPr lang="zh-CN" altLang="en-US" dirty="0"/>
          </a:p>
        </p:txBody>
      </p:sp>
      <p:sp>
        <p:nvSpPr>
          <p:cNvPr id="3" name="内容占位符 2"/>
          <p:cNvSpPr>
            <a:spLocks noGrp="1"/>
          </p:cNvSpPr>
          <p:nvPr>
            <p:ph sz="quarter" idx="13"/>
          </p:nvPr>
        </p:nvSpPr>
        <p:spPr/>
        <p:txBody>
          <a:bodyPr/>
          <a:lstStyle/>
          <a:p>
            <a:r>
              <a:rPr lang="zh-CN" altLang="en-US" dirty="0"/>
              <a:t>核心</a:t>
            </a:r>
            <a:r>
              <a:rPr lang="zh-CN" altLang="en-US" dirty="0" smtClean="0"/>
              <a:t>思想：</a:t>
            </a:r>
            <a:endParaRPr lang="en-US" altLang="zh-CN" dirty="0" smtClean="0"/>
          </a:p>
          <a:p>
            <a:pPr lvl="1"/>
            <a:r>
              <a:rPr lang="zh-CN" altLang="en-US" dirty="0"/>
              <a:t>预</a:t>
            </a:r>
            <a:r>
              <a:rPr lang="zh-CN" altLang="en-US" dirty="0" smtClean="0"/>
              <a:t>设一系列锚</a:t>
            </a:r>
            <a:endParaRPr lang="en-US" altLang="zh-CN" dirty="0" smtClean="0"/>
          </a:p>
          <a:p>
            <a:pPr lvl="1"/>
            <a:r>
              <a:rPr lang="zh-CN" altLang="en-US" dirty="0"/>
              <a:t>小</a:t>
            </a:r>
            <a:r>
              <a:rPr lang="zh-CN" altLang="en-US" dirty="0" smtClean="0"/>
              <a:t>尺寸卷积网络滑窗</a:t>
            </a:r>
            <a:endParaRPr lang="en-US" altLang="zh-CN" dirty="0" smtClean="0"/>
          </a:p>
          <a:p>
            <a:pPr lvl="1"/>
            <a:r>
              <a:rPr lang="zh-CN" altLang="en-US" dirty="0" smtClean="0"/>
              <a:t>基于不同尺度特征图预测</a:t>
            </a:r>
            <a:endParaRPr lang="en-US" altLang="zh-CN" dirty="0" smtClean="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5592" y="2692175"/>
            <a:ext cx="9279228" cy="3445099"/>
          </a:xfrm>
          <a:prstGeom prst="rect">
            <a:avLst/>
          </a:prstGeom>
        </p:spPr>
      </p:pic>
    </p:spTree>
    <p:extLst>
      <p:ext uri="{BB962C8B-B14F-4D97-AF65-F5344CB8AC3E}">
        <p14:creationId xmlns:p14="http://schemas.microsoft.com/office/powerpoint/2010/main" val="350222938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a:t>
            </a:r>
            <a:endParaRPr lang="zh-CN" altLang="en-US" dirty="0"/>
          </a:p>
        </p:txBody>
      </p:sp>
      <p:sp>
        <p:nvSpPr>
          <p:cNvPr id="3" name="内容占位符 2"/>
          <p:cNvSpPr>
            <a:spLocks noGrp="1"/>
          </p:cNvSpPr>
          <p:nvPr>
            <p:ph sz="quarter" idx="13"/>
          </p:nvPr>
        </p:nvSpPr>
        <p:spPr/>
        <p:txBody>
          <a:bodyPr/>
          <a:lstStyle/>
          <a:p>
            <a:r>
              <a:rPr lang="zh-CN" altLang="en-US" dirty="0" smtClean="0"/>
              <a:t>算法原理：</a:t>
            </a:r>
            <a:endParaRPr lang="en-US" altLang="zh-CN" dirty="0" smtClean="0"/>
          </a:p>
          <a:p>
            <a:pPr lvl="1"/>
            <a:r>
              <a:rPr lang="zh-CN" altLang="en-US" dirty="0"/>
              <a:t>基础</a:t>
            </a:r>
            <a:r>
              <a:rPr lang="zh-CN" altLang="en-US" dirty="0" smtClean="0"/>
              <a:t>骨架，生成一系列不同尺寸的特征图</a:t>
            </a:r>
            <a:endParaRPr lang="en-US" altLang="zh-CN" dirty="0" smtClean="0"/>
          </a:p>
          <a:p>
            <a:pPr lvl="1"/>
            <a:r>
              <a:rPr lang="zh-CN" altLang="en-US" dirty="0" smtClean="0"/>
              <a:t>卷积网络，在不同尺寸特征图上进行滑窗</a:t>
            </a:r>
            <a:endParaRPr lang="en-US" altLang="zh-CN" dirty="0" smtClean="0"/>
          </a:p>
          <a:p>
            <a:pPr lvl="1"/>
            <a:r>
              <a:rPr lang="zh-CN" altLang="en-US" dirty="0" smtClean="0"/>
              <a:t>对于一个尺寸</a:t>
            </a:r>
            <a:r>
              <a:rPr lang="en-US" altLang="zh-CN" dirty="0" err="1" smtClean="0"/>
              <a:t>m×n</a:t>
            </a:r>
            <a:r>
              <a:rPr lang="zh-CN" altLang="en-US" dirty="0" smtClean="0"/>
              <a:t>，通道数为</a:t>
            </a:r>
            <a:r>
              <a:rPr lang="en-US" altLang="zh-CN" dirty="0" smtClean="0"/>
              <a:t>p</a:t>
            </a:r>
            <a:r>
              <a:rPr lang="zh-CN" altLang="en-US" dirty="0" smtClean="0"/>
              <a:t>的特征图</a:t>
            </a:r>
            <a:endParaRPr lang="en-US" altLang="zh-CN" dirty="0" smtClean="0"/>
          </a:p>
          <a:p>
            <a:pPr lvl="2"/>
            <a:r>
              <a:rPr lang="zh-CN" altLang="en-US" dirty="0" smtClean="0"/>
              <a:t>使用尺寸</a:t>
            </a:r>
            <a:r>
              <a:rPr lang="en-US" altLang="zh-CN" dirty="0" smtClean="0"/>
              <a:t>3×3</a:t>
            </a:r>
            <a:r>
              <a:rPr lang="zh-CN" altLang="en-US" dirty="0" smtClean="0"/>
              <a:t>，通道数为</a:t>
            </a:r>
            <a:r>
              <a:rPr lang="en-US" altLang="zh-CN" dirty="0" smtClean="0"/>
              <a:t>p</a:t>
            </a:r>
            <a:r>
              <a:rPr lang="zh-CN" altLang="en-US" dirty="0" smtClean="0"/>
              <a:t>的小卷积核</a:t>
            </a:r>
            <a:endParaRPr lang="en-US" altLang="zh-CN" dirty="0" smtClean="0"/>
          </a:p>
          <a:p>
            <a:pPr lvl="2"/>
            <a:r>
              <a:rPr lang="zh-CN" altLang="en-US" dirty="0" smtClean="0"/>
              <a:t>应用到</a:t>
            </a:r>
            <a:r>
              <a:rPr lang="en-US" altLang="zh-CN" dirty="0" err="1" smtClean="0"/>
              <a:t>m×n</a:t>
            </a:r>
            <a:r>
              <a:rPr lang="zh-CN" altLang="en-US" dirty="0" smtClean="0"/>
              <a:t>个位置上</a:t>
            </a:r>
            <a:endParaRPr lang="en-US" altLang="zh-CN" dirty="0" smtClean="0"/>
          </a:p>
          <a:p>
            <a:pPr lvl="2"/>
            <a:r>
              <a:rPr lang="zh-CN" altLang="en-US" dirty="0" smtClean="0"/>
              <a:t>每个位置对应</a:t>
            </a:r>
            <a:r>
              <a:rPr lang="en-US" altLang="zh-CN" dirty="0" smtClean="0"/>
              <a:t>k</a:t>
            </a:r>
            <a:r>
              <a:rPr lang="zh-CN" altLang="en-US" dirty="0" smtClean="0"/>
              <a:t>个锚</a:t>
            </a:r>
            <a:endParaRPr lang="en-US" altLang="zh-CN" dirty="0" smtClean="0"/>
          </a:p>
          <a:p>
            <a:pPr lvl="2"/>
            <a:r>
              <a:rPr lang="zh-CN" altLang="en-US" dirty="0" smtClean="0"/>
              <a:t>假设共有</a:t>
            </a:r>
            <a:r>
              <a:rPr lang="en-US" altLang="zh-CN" dirty="0" smtClean="0"/>
              <a:t>c</a:t>
            </a:r>
            <a:r>
              <a:rPr lang="zh-CN" altLang="en-US" dirty="0" smtClean="0"/>
              <a:t>个目标类别（含背景类）</a:t>
            </a:r>
            <a:endParaRPr lang="en-US" altLang="zh-CN" dirty="0" smtClean="0"/>
          </a:p>
          <a:p>
            <a:pPr lvl="2"/>
            <a:r>
              <a:rPr lang="zh-CN" altLang="en-US" dirty="0" smtClean="0"/>
              <a:t>回归</a:t>
            </a:r>
            <a:r>
              <a:rPr lang="en-US" altLang="zh-CN" dirty="0" smtClean="0"/>
              <a:t>c</a:t>
            </a:r>
            <a:r>
              <a:rPr lang="zh-CN" altLang="en-US" dirty="0" smtClean="0"/>
              <a:t>个概率值，以及水平和垂直方向的偏移量和缩放因子共（</a:t>
            </a:r>
            <a:r>
              <a:rPr lang="en-US" altLang="zh-CN" dirty="0" smtClean="0"/>
              <a:t>c+4)×k</a:t>
            </a:r>
            <a:r>
              <a:rPr lang="zh-CN" altLang="en-US" dirty="0" smtClean="0"/>
              <a:t>个参数</a:t>
            </a:r>
            <a:endParaRPr lang="en-US" altLang="zh-CN" dirty="0" smtClean="0"/>
          </a:p>
          <a:p>
            <a:pPr lvl="1"/>
            <a:r>
              <a:rPr lang="zh-CN" altLang="en-US" dirty="0" smtClean="0"/>
              <a:t>对于整个</a:t>
            </a:r>
            <a:r>
              <a:rPr lang="en-US" altLang="zh-CN" dirty="0" err="1" smtClean="0"/>
              <a:t>m×n</a:t>
            </a:r>
            <a:r>
              <a:rPr lang="zh-CN" altLang="en-US" dirty="0" smtClean="0"/>
              <a:t>的特征图</a:t>
            </a:r>
            <a:r>
              <a:rPr lang="zh-CN" altLang="en-US" dirty="0"/>
              <a:t>需要回归（</a:t>
            </a:r>
            <a:r>
              <a:rPr lang="en-US" altLang="zh-CN" dirty="0"/>
              <a:t>c+4)×</a:t>
            </a:r>
            <a:r>
              <a:rPr lang="en-US" altLang="zh-CN" dirty="0" err="1" smtClean="0"/>
              <a:t>k×m×n</a:t>
            </a:r>
            <a:r>
              <a:rPr lang="zh-CN" altLang="en-US" dirty="0" smtClean="0"/>
              <a:t>个参数</a:t>
            </a:r>
            <a:endParaRPr lang="en-US" altLang="zh-CN" dirty="0"/>
          </a:p>
        </p:txBody>
      </p:sp>
    </p:spTree>
    <p:extLst>
      <p:ext uri="{BB962C8B-B14F-4D97-AF65-F5344CB8AC3E}">
        <p14:creationId xmlns:p14="http://schemas.microsoft.com/office/powerpoint/2010/main" val="79547011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a:t>
            </a:r>
            <a:endParaRPr lang="zh-CN" altLang="en-US" dirty="0"/>
          </a:p>
        </p:txBody>
      </p:sp>
      <p:sp>
        <p:nvSpPr>
          <p:cNvPr id="3" name="内容占位符 2"/>
          <p:cNvSpPr>
            <a:spLocks noGrp="1"/>
          </p:cNvSpPr>
          <p:nvPr>
            <p:ph sz="quarter" idx="13"/>
          </p:nvPr>
        </p:nvSpPr>
        <p:spPr/>
        <p:txBody>
          <a:bodyPr/>
          <a:lstStyle/>
          <a:p>
            <a:r>
              <a:rPr lang="zh-CN" altLang="en-US" dirty="0" smtClean="0"/>
              <a:t>网络架构</a:t>
            </a:r>
            <a:endParaRPr lang="zh-CN" altLang="en-US" dirty="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9922" y="1485523"/>
            <a:ext cx="9590567" cy="4651751"/>
          </a:xfrm>
          <a:prstGeom prst="rect">
            <a:avLst/>
          </a:prstGeom>
        </p:spPr>
      </p:pic>
    </p:spTree>
    <p:extLst>
      <p:ext uri="{BB962C8B-B14F-4D97-AF65-F5344CB8AC3E}">
        <p14:creationId xmlns:p14="http://schemas.microsoft.com/office/powerpoint/2010/main" val="18314900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训练方法</a:t>
                </a:r>
                <a:endParaRPr lang="en-US" altLang="zh-CN" dirty="0" smtClean="0"/>
              </a:p>
              <a:p>
                <a:pPr lvl="1"/>
                <a:r>
                  <a:rPr lang="zh-CN" altLang="en-US" dirty="0"/>
                  <a:t>一</a:t>
                </a:r>
                <a:r>
                  <a:rPr lang="zh-CN" altLang="en-US" dirty="0" smtClean="0"/>
                  <a:t>个真值先匹配</a:t>
                </a:r>
                <a:r>
                  <a:rPr lang="en-US" altLang="zh-CN" dirty="0" err="1" smtClean="0"/>
                  <a:t>IoU</a:t>
                </a:r>
                <a:r>
                  <a:rPr lang="zh-CN" altLang="en-US" dirty="0" smtClean="0"/>
                  <a:t>最大的锚，再分配给所有大于阈值的锚</a:t>
                </a:r>
                <a:endParaRPr lang="en-US" altLang="zh-CN" dirty="0" smtClean="0"/>
              </a:p>
              <a:p>
                <a:pPr lvl="1"/>
                <a:r>
                  <a:rPr lang="zh-CN" altLang="en-US" dirty="0" smtClean="0"/>
                  <a:t>指示变量</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𝑝</m:t>
                        </m:r>
                      </m:sup>
                    </m:sSubSup>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1,0</m:t>
                        </m:r>
                      </m:e>
                    </m:d>
                  </m:oMath>
                </a14:m>
                <a:endParaRPr lang="en-US" altLang="zh-CN" b="0" dirty="0" smtClean="0"/>
              </a:p>
              <a:p>
                <a:pPr lvl="2"/>
                <a:r>
                  <a:rPr lang="zh-CN" altLang="en-US" dirty="0" smtClean="0"/>
                  <a:t>第</a:t>
                </a:r>
                <a:r>
                  <a:rPr lang="en-US" altLang="zh-CN" dirty="0" err="1" smtClean="0"/>
                  <a:t>i</a:t>
                </a:r>
                <a:r>
                  <a:rPr lang="zh-CN" altLang="en-US" dirty="0" smtClean="0"/>
                  <a:t>个锚与第</a:t>
                </a:r>
                <a:r>
                  <a:rPr lang="en-US" altLang="zh-CN" dirty="0" smtClean="0"/>
                  <a:t>j</a:t>
                </a:r>
                <a:r>
                  <a:rPr lang="zh-CN" altLang="en-US" dirty="0" smtClean="0"/>
                  <a:t>个真值（类别为</a:t>
                </a:r>
                <a:r>
                  <a:rPr lang="en-US" altLang="zh-CN" dirty="0" smtClean="0"/>
                  <a:t>p</a:t>
                </a:r>
                <a:r>
                  <a:rPr lang="zh-CN" altLang="en-US" dirty="0" smtClean="0"/>
                  <a:t>）匹配时</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𝑖𝑗</m:t>
                        </m:r>
                      </m:sub>
                      <m:sup>
                        <m:r>
                          <a:rPr lang="en-US" altLang="zh-CN" i="1">
                            <a:latin typeface="Cambria Math" panose="02040503050406030204" pitchFamily="18" charset="0"/>
                          </a:rPr>
                          <m:t>𝑝</m:t>
                        </m:r>
                      </m:sup>
                    </m:sSubSup>
                    <m:r>
                      <a:rPr lang="en-US" altLang="zh-CN" i="1">
                        <a:latin typeface="Cambria Math" panose="02040503050406030204" pitchFamily="18" charset="0"/>
                      </a:rPr>
                      <m:t>=</m:t>
                    </m:r>
                    <m:r>
                      <a:rPr lang="en-US" altLang="zh-CN" b="0" i="0" smtClean="0">
                        <a:latin typeface="Cambria Math" panose="02040503050406030204" pitchFamily="18" charset="0"/>
                      </a:rPr>
                      <m:t>1</m:t>
                    </m:r>
                  </m:oMath>
                </a14:m>
                <a:r>
                  <a:rPr lang="zh-CN" altLang="en-US" dirty="0" smtClean="0"/>
                  <a:t>，否则</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𝑖𝑗</m:t>
                        </m:r>
                      </m:sub>
                      <m:sup>
                        <m:r>
                          <a:rPr lang="en-US" altLang="zh-CN" i="1">
                            <a:latin typeface="Cambria Math" panose="02040503050406030204" pitchFamily="18" charset="0"/>
                          </a:rPr>
                          <m:t>𝑝</m:t>
                        </m:r>
                      </m:sup>
                    </m:sSubSup>
                    <m:r>
                      <a:rPr lang="en-US" altLang="zh-CN" i="1">
                        <a:latin typeface="Cambria Math" panose="02040503050406030204" pitchFamily="18" charset="0"/>
                      </a:rPr>
                      <m:t>=</m:t>
                    </m:r>
                    <m:r>
                      <a:rPr lang="en-US" altLang="zh-CN" b="0" i="1" smtClean="0">
                        <a:latin typeface="Cambria Math" panose="02040503050406030204" pitchFamily="18" charset="0"/>
                      </a:rPr>
                      <m:t>0</m:t>
                    </m:r>
                  </m:oMath>
                </a14:m>
                <a:endParaRPr lang="en-US" altLang="zh-CN" b="0" dirty="0" smtClean="0"/>
              </a:p>
              <a:p>
                <a:pPr lvl="2"/>
                <a:r>
                  <a:rPr lang="zh-CN" altLang="en-US" dirty="0" smtClean="0"/>
                  <a:t>对于任意一个真值必然至少和一个</a:t>
                </a:r>
                <a:r>
                  <a:rPr lang="en-US" altLang="zh-CN" dirty="0" smtClean="0"/>
                  <a:t>anchor</a:t>
                </a:r>
                <a:r>
                  <a:rPr lang="zh-CN" altLang="en-US" dirty="0" smtClean="0"/>
                  <a:t>匹配，</a:t>
                </a:r>
                <a14:m>
                  <m:oMath xmlns:m="http://schemas.openxmlformats.org/officeDocument/2006/math">
                    <m:nary>
                      <m:naryPr>
                        <m:chr m:val="∑"/>
                        <m:supHide m:val="on"/>
                        <m:ctrlPr>
                          <a:rPr lang="zh-CN" altLang="en-US" i="1" smtClean="0">
                            <a:latin typeface="Cambria Math" panose="02040503050406030204" pitchFamily="18" charset="0"/>
                          </a:rPr>
                        </m:ctrlPr>
                      </m:naryPr>
                      <m:sub>
                        <m:r>
                          <m:rPr>
                            <m:brk m:alnAt="7"/>
                          </m:rPr>
                          <a:rPr lang="en-US" altLang="zh-CN" b="0" i="1" smtClean="0">
                            <a:latin typeface="Cambria Math" panose="02040503050406030204" pitchFamily="18" charset="0"/>
                          </a:rPr>
                          <m:t>𝑖</m:t>
                        </m:r>
                      </m:sub>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𝑖𝑗</m:t>
                            </m:r>
                          </m:sub>
                          <m:sup>
                            <m:r>
                              <a:rPr lang="en-US" altLang="zh-CN" i="1">
                                <a:latin typeface="Cambria Math" panose="02040503050406030204" pitchFamily="18" charset="0"/>
                              </a:rPr>
                              <m:t>𝑝</m:t>
                            </m:r>
                          </m:sup>
                        </m:sSubSup>
                      </m:e>
                    </m:nary>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oMath>
                </a14:m>
                <a:endParaRPr lang="en-US" altLang="zh-CN" dirty="0" smtClean="0"/>
              </a:p>
              <a:p>
                <a:pPr lvl="1"/>
                <a:r>
                  <a:rPr lang="zh-CN" altLang="en-US" dirty="0" smtClean="0"/>
                  <a:t>损失函数</a:t>
                </a:r>
                <a14:m>
                  <m:oMath xmlns:m="http://schemas.openxmlformats.org/officeDocument/2006/math">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𝑔</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𝑁</m:t>
                        </m:r>
                      </m:den>
                    </m:f>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𝑐𝑜𝑛𝑓</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e>
                        </m:d>
                        <m:r>
                          <a:rPr lang="en-US" altLang="zh-CN" b="0" i="1" smtClean="0">
                            <a:latin typeface="Cambria Math" panose="02040503050406030204" pitchFamily="18" charset="0"/>
                          </a:rPr>
                          <m:t>+</m:t>
                        </m:r>
                        <m:r>
                          <a:rPr lang="zh-CN" altLang="en-US" b="0" i="1" smtClean="0">
                            <a:latin typeface="Cambria Math" panose="02040503050406030204" pitchFamily="18" charset="0"/>
                          </a:rPr>
                          <m:t>𝛼</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𝑙𝑜𝑐</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𝑔</m:t>
                            </m:r>
                          </m:e>
                        </m:d>
                      </m:e>
                    </m:d>
                  </m:oMath>
                </a14:m>
                <a:endParaRPr lang="en-US" altLang="zh-CN" dirty="0" smtClean="0"/>
              </a:p>
              <a:p>
                <a:pPr lvl="2"/>
                <a14:m>
                  <m:oMath xmlns:m="http://schemas.openxmlformats.org/officeDocument/2006/math">
                    <m:r>
                      <a:rPr lang="en-US" altLang="zh-CN" i="1">
                        <a:latin typeface="Cambria Math" panose="02040503050406030204" pitchFamily="18" charset="0"/>
                      </a:rPr>
                      <m:t>𝑁</m:t>
                    </m:r>
                  </m:oMath>
                </a14:m>
                <a:r>
                  <a:rPr lang="zh-CN" altLang="en-US" dirty="0" smtClean="0"/>
                  <a:t>表示和真值匹配成功的</a:t>
                </a:r>
                <a:r>
                  <a:rPr lang="en-US" altLang="zh-CN" dirty="0" smtClean="0"/>
                  <a:t>anchor</a:t>
                </a:r>
                <a:r>
                  <a:rPr lang="zh-CN" altLang="en-US" dirty="0" smtClean="0"/>
                  <a:t>个数</a:t>
                </a:r>
                <a:endParaRPr lang="en-US" altLang="zh-CN" dirty="0" smtClean="0"/>
              </a:p>
              <a:p>
                <a:pPr lvl="2"/>
                <a14:m>
                  <m:oMath xmlns:m="http://schemas.openxmlformats.org/officeDocument/2006/math">
                    <m:r>
                      <a:rPr lang="en-US" altLang="zh-CN" i="1">
                        <a:latin typeface="Cambria Math" panose="02040503050406030204" pitchFamily="18" charset="0"/>
                      </a:rPr>
                      <m:t>𝑥</m:t>
                    </m:r>
                  </m:oMath>
                </a14:m>
                <a:r>
                  <a:rPr lang="zh-CN" altLang="en-US" dirty="0" smtClean="0"/>
                  <a:t>表示各个指示变量</a:t>
                </a:r>
                <a:endParaRPr lang="en-US" altLang="zh-CN" dirty="0" smtClean="0"/>
              </a:p>
              <a:p>
                <a:pPr lvl="2"/>
                <a14:m>
                  <m:oMath xmlns:m="http://schemas.openxmlformats.org/officeDocument/2006/math">
                    <m:r>
                      <a:rPr lang="en-US" altLang="zh-CN" i="1">
                        <a:latin typeface="Cambria Math" panose="02040503050406030204" pitchFamily="18" charset="0"/>
                      </a:rPr>
                      <m:t>𝑐</m:t>
                    </m:r>
                  </m:oMath>
                </a14:m>
                <a:r>
                  <a:rPr lang="zh-CN" altLang="en-US" dirty="0" smtClean="0"/>
                  <a:t>表示每个类别的概率值</a:t>
                </a:r>
                <a:endParaRPr lang="en-US" altLang="zh-CN" dirty="0" smtClean="0"/>
              </a:p>
              <a:p>
                <a:pPr lvl="2"/>
                <a14:m>
                  <m:oMath xmlns:m="http://schemas.openxmlformats.org/officeDocument/2006/math">
                    <m:r>
                      <a:rPr lang="en-US" altLang="zh-CN" i="1">
                        <a:latin typeface="Cambria Math" panose="02040503050406030204" pitchFamily="18" charset="0"/>
                      </a:rPr>
                      <m:t>𝑙</m:t>
                    </m:r>
                  </m:oMath>
                </a14:m>
                <a:r>
                  <a:rPr lang="zh-CN" altLang="en-US" dirty="0" smtClean="0"/>
                  <a:t>表示预测框，</a:t>
                </a:r>
                <a:r>
                  <a:rPr lang="en-US" altLang="zh-CN" dirty="0"/>
                  <a:t> </a:t>
                </a:r>
                <a14:m>
                  <m:oMath xmlns:m="http://schemas.openxmlformats.org/officeDocument/2006/math">
                    <m:r>
                      <a:rPr lang="en-US" altLang="zh-CN" i="1">
                        <a:latin typeface="Cambria Math" panose="02040503050406030204" pitchFamily="18" charset="0"/>
                      </a:rPr>
                      <m:t>𝑔</m:t>
                    </m:r>
                  </m:oMath>
                </a14:m>
                <a:r>
                  <a:rPr lang="zh-CN" altLang="en-US" dirty="0" smtClean="0"/>
                  <a:t>表示真值框</a:t>
                </a:r>
                <a:endParaRPr lang="en-US" altLang="zh-CN" dirty="0" smtClean="0"/>
              </a:p>
              <a:p>
                <a:pPr marL="914400" lvl="2" indent="0">
                  <a:buNone/>
                </a:pPr>
                <a:endParaRPr lang="en-US" altLang="zh-CN" dirty="0" smtClean="0"/>
              </a:p>
              <a:p>
                <a:pPr lvl="1"/>
                <a:endParaRPr lang="en-US" altLang="zh-CN" dirty="0" smtClean="0"/>
              </a:p>
              <a:p>
                <a:pPr lvl="1"/>
                <a:endParaRPr lang="en-US" altLang="zh-CN" dirty="0" smtClean="0"/>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7451319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损失函数：</a:t>
                </a:r>
                <a14:m>
                  <m:oMath xmlns:m="http://schemas.openxmlformats.org/officeDocument/2006/math">
                    <m:r>
                      <a:rPr lang="en-US" altLang="zh-CN" i="1">
                        <a:latin typeface="Cambria Math" panose="02040503050406030204" pitchFamily="18" charset="0"/>
                      </a:rPr>
                      <m:t>𝐿</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𝑐</m:t>
                        </m:r>
                        <m:r>
                          <a:rPr lang="en-US" altLang="zh-CN" i="1">
                            <a:latin typeface="Cambria Math" panose="02040503050406030204" pitchFamily="18" charset="0"/>
                          </a:rPr>
                          <m:t>,</m:t>
                        </m:r>
                        <m:r>
                          <a:rPr lang="en-US" altLang="zh-CN" i="1">
                            <a:latin typeface="Cambria Math" panose="02040503050406030204" pitchFamily="18" charset="0"/>
                          </a:rPr>
                          <m:t>𝑙</m:t>
                        </m:r>
                        <m:r>
                          <a:rPr lang="en-US" altLang="zh-CN" i="1">
                            <a:latin typeface="Cambria Math" panose="02040503050406030204" pitchFamily="18" charset="0"/>
                          </a:rPr>
                          <m:t>,</m:t>
                        </m:r>
                        <m:r>
                          <a:rPr lang="en-US" altLang="zh-CN" i="1">
                            <a:latin typeface="Cambria Math" panose="02040503050406030204" pitchFamily="18" charset="0"/>
                          </a:rPr>
                          <m:t>𝑔</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𝑁</m:t>
                        </m:r>
                      </m:den>
                    </m:f>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𝑐𝑜𝑛𝑓</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𝑐</m:t>
                            </m:r>
                          </m:e>
                        </m:d>
                        <m:r>
                          <a:rPr lang="en-US" altLang="zh-CN" i="1">
                            <a:latin typeface="Cambria Math" panose="02040503050406030204" pitchFamily="18" charset="0"/>
                          </a:rPr>
                          <m:t>+</m:t>
                        </m:r>
                        <m:r>
                          <a:rPr lang="zh-CN" altLang="en-US" i="1">
                            <a:latin typeface="Cambria Math" panose="02040503050406030204" pitchFamily="18" charset="0"/>
                          </a:rPr>
                          <m:t>𝛼</m:t>
                        </m:r>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𝑙𝑜𝑐</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𝑙</m:t>
                            </m:r>
                            <m:r>
                              <a:rPr lang="en-US" altLang="zh-CN" i="1">
                                <a:latin typeface="Cambria Math" panose="02040503050406030204" pitchFamily="18" charset="0"/>
                              </a:rPr>
                              <m:t>,</m:t>
                            </m:r>
                            <m:r>
                              <a:rPr lang="en-US" altLang="zh-CN" i="1">
                                <a:latin typeface="Cambria Math" panose="02040503050406030204" pitchFamily="18" charset="0"/>
                              </a:rPr>
                              <m:t>𝑔</m:t>
                            </m:r>
                          </m:e>
                        </m:d>
                      </m:e>
                    </m:d>
                  </m:oMath>
                </a14:m>
                <a:endParaRPr lang="en-US" altLang="zh-CN" dirty="0" smtClean="0"/>
              </a:p>
              <a:p>
                <a:pPr lvl="1"/>
                <a:r>
                  <a:rPr lang="zh-CN" altLang="en-US" dirty="0" smtClean="0"/>
                  <a:t>位置</a:t>
                </a:r>
                <a:r>
                  <a:rPr lang="zh-CN" altLang="en-US" dirty="0"/>
                  <a:t>损失</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𝑙𝑜𝑐</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𝑙</m:t>
                        </m:r>
                        <m:r>
                          <a:rPr lang="en-US" altLang="zh-CN" i="1">
                            <a:latin typeface="Cambria Math" panose="02040503050406030204" pitchFamily="18" charset="0"/>
                          </a:rPr>
                          <m:t>,</m:t>
                        </m:r>
                        <m:r>
                          <a:rPr lang="en-US" altLang="zh-CN" i="1">
                            <a:latin typeface="Cambria Math" panose="02040503050406030204" pitchFamily="18" charset="0"/>
                          </a:rPr>
                          <m:t>𝑔</m:t>
                        </m:r>
                      </m:e>
                    </m:d>
                  </m:oMath>
                </a14:m>
                <a:r>
                  <a:rPr lang="zh-CN" altLang="en-US" dirty="0"/>
                  <a:t>是预测框</a:t>
                </a:r>
                <a14:m>
                  <m:oMath xmlns:m="http://schemas.openxmlformats.org/officeDocument/2006/math">
                    <m:r>
                      <a:rPr lang="en-US" altLang="zh-CN" i="1">
                        <a:latin typeface="Cambria Math" panose="02040503050406030204" pitchFamily="18" charset="0"/>
                      </a:rPr>
                      <m:t>𝑙</m:t>
                    </m:r>
                  </m:oMath>
                </a14:m>
                <a:r>
                  <a:rPr lang="zh-CN" altLang="en-US" dirty="0"/>
                  <a:t>与真值框</a:t>
                </a:r>
                <a14:m>
                  <m:oMath xmlns:m="http://schemas.openxmlformats.org/officeDocument/2006/math">
                    <m:r>
                      <a:rPr lang="en-US" altLang="zh-CN" i="1">
                        <a:latin typeface="Cambria Math" panose="02040503050406030204" pitchFamily="18" charset="0"/>
                      </a:rPr>
                      <m:t>𝑔</m:t>
                    </m:r>
                  </m:oMath>
                </a14:m>
                <a:r>
                  <a:rPr lang="zh-CN" altLang="en-US" dirty="0"/>
                  <a:t>的</a:t>
                </a:r>
                <a:r>
                  <a:rPr lang="zh-CN" altLang="en-US" dirty="0" smtClean="0"/>
                  <a:t>平滑</a:t>
                </a:r>
                <a14:m>
                  <m:oMath xmlns:m="http://schemas.openxmlformats.org/officeDocument/2006/math">
                    <m:r>
                      <a:rPr lang="en-US" altLang="zh-CN" b="0" i="1" smtClean="0">
                        <a:latin typeface="Cambria Math" panose="02040503050406030204" pitchFamily="18" charset="0"/>
                      </a:rPr>
                      <m:t>𝐿</m:t>
                    </m:r>
                    <m:r>
                      <a:rPr lang="en-US" altLang="zh-CN" b="0" i="1" smtClean="0">
                        <a:latin typeface="Cambria Math" panose="02040503050406030204" pitchFamily="18" charset="0"/>
                      </a:rPr>
                      <m:t>1</m:t>
                    </m:r>
                  </m:oMath>
                </a14:m>
                <a:r>
                  <a:rPr lang="zh-CN" altLang="en-US" dirty="0" smtClean="0"/>
                  <a:t>损失，</a:t>
                </a:r>
                <a14:m>
                  <m:oMath xmlns:m="http://schemas.openxmlformats.org/officeDocument/2006/math">
                    <m:r>
                      <m:rPr>
                        <m:nor/>
                      </m:rPr>
                      <a:rPr lang="zh-CN" altLang="en-US" dirty="0"/>
                      <m:t>即</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𝑠𝑚𝑜𝑜𝑡h</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1</m:t>
                            </m:r>
                          </m:sub>
                        </m:sSub>
                      </m:sub>
                    </m:sSub>
                  </m:oMath>
                </a14:m>
                <a:r>
                  <a:rPr lang="en-US" altLang="zh-CN" dirty="0" smtClean="0"/>
                  <a:t>:</a:t>
                </a:r>
              </a:p>
              <a:p>
                <a:pPr lvl="2"/>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𝑠𝑚𝑜𝑜𝑡h</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1</m:t>
                            </m:r>
                          </m:sub>
                        </m:sSub>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0.5</m:t>
                            </m:r>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2</m:t>
                                </m:r>
                              </m:sup>
                            </m:sSup>
                            <m:d>
                              <m:dPr>
                                <m:ctrlPr>
                                  <a:rPr lang="en-US" altLang="zh-CN" i="1">
                                    <a:latin typeface="Cambria Math" panose="02040503050406030204" pitchFamily="18" charset="0"/>
                                  </a:rPr>
                                </m:ctrlPr>
                              </m:d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ea typeface="Cambria Math" panose="02040503050406030204" pitchFamily="18" charset="0"/>
                                  </a:rPr>
                                  <m:t>&lt;1</m:t>
                                </m:r>
                              </m:e>
                            </m:d>
                          </m:e>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−0.5</m:t>
                            </m:r>
                            <m:d>
                              <m:dPr>
                                <m:ctrlPr>
                                  <a:rPr lang="en-US" altLang="zh-CN" i="1">
                                    <a:latin typeface="Cambria Math" panose="02040503050406030204" pitchFamily="18" charset="0"/>
                                  </a:rPr>
                                </m:ctrlPr>
                              </m:d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ea typeface="Cambria Math" panose="02040503050406030204" pitchFamily="18" charset="0"/>
                                  </a:rPr>
                                  <m:t>≥1</m:t>
                                </m:r>
                              </m:e>
                            </m:d>
                          </m:e>
                        </m:eqArr>
                      </m:e>
                    </m:d>
                  </m:oMath>
                </a14:m>
                <a:endParaRPr lang="en-US" altLang="zh-CN" dirty="0" smtClean="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𝑙𝑜𝑐</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𝑙</m:t>
                        </m:r>
                        <m:r>
                          <a:rPr lang="en-US" altLang="zh-CN" i="1">
                            <a:latin typeface="Cambria Math" panose="02040503050406030204" pitchFamily="18" charset="0"/>
                          </a:rPr>
                          <m:t>,</m:t>
                        </m:r>
                        <m:r>
                          <a:rPr lang="en-US" altLang="zh-CN" i="1">
                            <a:latin typeface="Cambria Math" panose="02040503050406030204" pitchFamily="18" charset="0"/>
                          </a:rPr>
                          <m:t>𝑔</m:t>
                        </m:r>
                      </m:e>
                    </m:d>
                    <m:r>
                      <a:rPr lang="en-US" altLang="zh-CN" i="1" smtClean="0">
                        <a:latin typeface="Cambria Math" panose="02040503050406030204" pitchFamily="18" charset="0"/>
                        <a:ea typeface="Cambria Math" panose="02040503050406030204" pitchFamily="18" charset="0"/>
                      </a:rPr>
                      <m:t>=</m:t>
                    </m:r>
                    <m:nary>
                      <m:naryPr>
                        <m:chr m:val="∑"/>
                        <m:ctrlPr>
                          <a:rPr lang="en-US" altLang="zh-CN" i="1" smtClean="0">
                            <a:latin typeface="Cambria Math" panose="02040503050406030204" pitchFamily="18" charset="0"/>
                            <a:ea typeface="Cambria Math" panose="02040503050406030204" pitchFamily="18" charset="0"/>
                          </a:rPr>
                        </m:ctrlPr>
                      </m:naryPr>
                      <m:sub>
                        <m:r>
                          <m:rPr>
                            <m:brk m:alnAt="23"/>
                          </m:rP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𝑃𝑜𝑠</m:t>
                        </m:r>
                      </m:sub>
                      <m:sup>
                        <m:r>
                          <a:rPr lang="en-US" altLang="zh-CN" b="0" i="1" smtClean="0">
                            <a:latin typeface="Cambria Math" panose="02040503050406030204" pitchFamily="18" charset="0"/>
                            <a:ea typeface="Cambria Math" panose="02040503050406030204" pitchFamily="18" charset="0"/>
                          </a:rPr>
                          <m:t>𝑁</m:t>
                        </m:r>
                      </m:sup>
                      <m:e>
                        <m:nary>
                          <m:naryPr>
                            <m:chr m:val="∑"/>
                            <m:supHide m:val="on"/>
                            <m:ctrlPr>
                              <a:rPr lang="en-US" altLang="zh-CN"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𝑚</m:t>
                            </m:r>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𝑐𝑥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𝑐𝑦</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𝑤</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h</m:t>
                                </m:r>
                              </m:e>
                            </m:d>
                          </m:sub>
                          <m:sup/>
                          <m:e>
                            <m:sSubSup>
                              <m:sSubSupPr>
                                <m:ctrlPr>
                                  <a:rPr lang="en-US"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𝑖𝑗</m:t>
                                </m:r>
                              </m:sub>
                              <m:sup>
                                <m:r>
                                  <a:rPr lang="en-US" altLang="zh-CN" b="0" i="1" smtClean="0">
                                    <a:latin typeface="Cambria Math" panose="02040503050406030204" pitchFamily="18" charset="0"/>
                                    <a:ea typeface="Cambria Math" panose="02040503050406030204" pitchFamily="18" charset="0"/>
                                  </a:rPr>
                                  <m:t>𝑝</m:t>
                                </m:r>
                              </m:sup>
                            </m:sSubSup>
                          </m:e>
                        </m:nary>
                      </m:e>
                    </m:nary>
                    <m:sSub>
                      <m:sSubPr>
                        <m:ctrlPr>
                          <a:rPr lang="en-US" altLang="zh-CN" i="1">
                            <a:latin typeface="Cambria Math" panose="02040503050406030204" pitchFamily="18" charset="0"/>
                          </a:rPr>
                        </m:ctrlPr>
                      </m:sSubPr>
                      <m:e>
                        <m:r>
                          <a:rPr lang="en-US" altLang="zh-CN" i="1">
                            <a:latin typeface="Cambria Math" panose="02040503050406030204" pitchFamily="18" charset="0"/>
                          </a:rPr>
                          <m:t>𝑠𝑚𝑜𝑜𝑡h</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1</m:t>
                            </m:r>
                          </m:sub>
                        </m:sSub>
                      </m:sub>
                    </m:sSub>
                    <m:d>
                      <m:dPr>
                        <m:ctrlPr>
                          <a:rPr lang="en-US" altLang="zh-CN" i="1" smtClean="0">
                            <a:latin typeface="Cambria Math" panose="02040503050406030204" pitchFamily="18" charset="0"/>
                          </a:rPr>
                        </m:ctrlPr>
                      </m:dPr>
                      <m:e>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𝑙</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𝑚</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𝑔</m:t>
                                </m:r>
                              </m:e>
                            </m:acc>
                          </m:e>
                          <m:sub>
                            <m:r>
                              <a:rPr lang="en-US" altLang="zh-CN" b="0" i="1" smtClean="0">
                                <a:latin typeface="Cambria Math" panose="02040503050406030204" pitchFamily="18" charset="0"/>
                              </a:rPr>
                              <m:t>𝑗</m:t>
                            </m:r>
                          </m:sub>
                          <m:sup>
                            <m:r>
                              <a:rPr lang="en-US" altLang="zh-CN" b="0" i="1" smtClean="0">
                                <a:latin typeface="Cambria Math" panose="02040503050406030204" pitchFamily="18" charset="0"/>
                              </a:rPr>
                              <m:t>𝑚</m:t>
                            </m:r>
                          </m:sup>
                        </m:sSubSup>
                      </m:e>
                    </m:d>
                  </m:oMath>
                </a14:m>
                <a:endParaRPr lang="en-US" altLang="zh-CN" dirty="0" smtClean="0"/>
              </a:p>
              <a:p>
                <a:pPr lvl="2"/>
                <a14:m>
                  <m:oMath xmlns:m="http://schemas.openxmlformats.org/officeDocument/2006/math">
                    <m:sSubSup>
                      <m:sSubSupPr>
                        <m:ctrlPr>
                          <a:rPr lang="en-US" altLang="zh-CN" sz="1600" i="1" smtClean="0">
                            <a:latin typeface="Cambria Math" panose="02040503050406030204" pitchFamily="18" charset="0"/>
                          </a:rPr>
                        </m:ctrlPr>
                      </m:sSubSupPr>
                      <m:e>
                        <m:acc>
                          <m:accPr>
                            <m:chr m:val="̂"/>
                            <m:ctrlPr>
                              <a:rPr lang="en-US" altLang="zh-CN" sz="1600" i="1" smtClean="0">
                                <a:latin typeface="Cambria Math" panose="02040503050406030204" pitchFamily="18" charset="0"/>
                              </a:rPr>
                            </m:ctrlPr>
                          </m:accPr>
                          <m:e>
                            <m:r>
                              <a:rPr lang="en-US" altLang="zh-CN" sz="1600" b="0" i="1" smtClean="0">
                                <a:latin typeface="Cambria Math" panose="02040503050406030204" pitchFamily="18" charset="0"/>
                              </a:rPr>
                              <m:t>𝑔</m:t>
                            </m:r>
                          </m:e>
                        </m:acc>
                      </m:e>
                      <m:sub>
                        <m:r>
                          <a:rPr lang="en-US" altLang="zh-CN" sz="1600" b="0" i="1" smtClean="0">
                            <a:latin typeface="Cambria Math" panose="02040503050406030204" pitchFamily="18" charset="0"/>
                          </a:rPr>
                          <m:t>𝑗</m:t>
                        </m:r>
                      </m:sub>
                      <m:sup>
                        <m:r>
                          <a:rPr lang="en-US" altLang="zh-CN" sz="1600" b="0" i="1" smtClean="0">
                            <a:latin typeface="Cambria Math" panose="02040503050406030204" pitchFamily="18" charset="0"/>
                          </a:rPr>
                          <m:t>𝑐𝑥</m:t>
                        </m:r>
                      </m:sup>
                    </m:sSubSup>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d>
                          <m:dPr>
                            <m:ctrlPr>
                              <a:rPr lang="en-US" altLang="zh-CN" sz="1600" b="0" i="1" smtClean="0">
                                <a:latin typeface="Cambria Math" panose="02040503050406030204" pitchFamily="18" charset="0"/>
                              </a:rPr>
                            </m:ctrlPr>
                          </m:dPr>
                          <m:e>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𝑔</m:t>
                                </m:r>
                              </m:e>
                              <m:sub>
                                <m:r>
                                  <a:rPr lang="en-US" altLang="zh-CN" sz="1600" b="0" i="1" smtClean="0">
                                    <a:latin typeface="Cambria Math" panose="02040503050406030204" pitchFamily="18" charset="0"/>
                                  </a:rPr>
                                  <m:t>𝑗</m:t>
                                </m:r>
                              </m:sub>
                              <m:sup>
                                <m:r>
                                  <a:rPr lang="en-US" altLang="zh-CN" sz="1600" b="0" i="1" smtClean="0">
                                    <a:latin typeface="Cambria Math" panose="02040503050406030204" pitchFamily="18" charset="0"/>
                                  </a:rPr>
                                  <m:t>𝑐𝑥</m:t>
                                </m:r>
                              </m:sup>
                            </m:sSubSup>
                            <m:r>
                              <a:rPr lang="en-US" altLang="zh-CN" sz="1600" b="0" i="1" smtClean="0">
                                <a:latin typeface="Cambria Math" panose="02040503050406030204" pitchFamily="18" charset="0"/>
                              </a:rPr>
                              <m:t>−</m:t>
                            </m:r>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𝑑</m:t>
                                </m:r>
                              </m:e>
                              <m:sub>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𝑐𝑥</m:t>
                                </m:r>
                              </m:sup>
                            </m:sSubSup>
                          </m:e>
                        </m:d>
                      </m:num>
                      <m:den>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𝑑</m:t>
                            </m:r>
                          </m:e>
                          <m:sub>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𝑤</m:t>
                            </m:r>
                          </m:sup>
                        </m:sSubSup>
                      </m:den>
                    </m:f>
                    <m:r>
                      <a:rPr lang="en-US" altLang="zh-CN" sz="1600" b="0" i="1" smtClean="0">
                        <a:latin typeface="Cambria Math" panose="02040503050406030204" pitchFamily="18" charset="0"/>
                      </a:rPr>
                      <m:t>,</m:t>
                    </m:r>
                  </m:oMath>
                </a14:m>
                <a:r>
                  <a:rPr lang="en-US" altLang="zh-CN" sz="1600" dirty="0"/>
                  <a:t> </a:t>
                </a:r>
                <a14:m>
                  <m:oMath xmlns:m="http://schemas.openxmlformats.org/officeDocument/2006/math">
                    <m:sSubSup>
                      <m:sSubSupPr>
                        <m:ctrlPr>
                          <a:rPr lang="en-US" altLang="zh-CN" sz="1600" i="1">
                            <a:latin typeface="Cambria Math" panose="02040503050406030204" pitchFamily="18" charset="0"/>
                          </a:rPr>
                        </m:ctrlPr>
                      </m:sSubSup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𝑔</m:t>
                            </m:r>
                          </m:e>
                        </m:acc>
                      </m:e>
                      <m:sub>
                        <m:r>
                          <a:rPr lang="en-US" altLang="zh-CN" sz="1600" i="1">
                            <a:latin typeface="Cambria Math" panose="02040503050406030204" pitchFamily="18" charset="0"/>
                          </a:rPr>
                          <m:t>𝑗</m:t>
                        </m:r>
                      </m:sub>
                      <m:sup>
                        <m:r>
                          <a:rPr lang="en-US" altLang="zh-CN" sz="1600" i="1">
                            <a:latin typeface="Cambria Math" panose="02040503050406030204" pitchFamily="18" charset="0"/>
                          </a:rPr>
                          <m:t>𝑐</m:t>
                        </m:r>
                        <m:r>
                          <a:rPr lang="en-US" altLang="zh-CN" sz="1600" b="0" i="1" smtClean="0">
                            <a:latin typeface="Cambria Math" panose="02040503050406030204" pitchFamily="18" charset="0"/>
                          </a:rPr>
                          <m:t>𝑦</m:t>
                        </m:r>
                      </m:sup>
                    </m:sSubSup>
                    <m:r>
                      <a:rPr lang="en-US" altLang="zh-CN" sz="1600" i="1">
                        <a:latin typeface="Cambria Math" panose="02040503050406030204" pitchFamily="18" charset="0"/>
                      </a:rPr>
                      <m:t>=</m:t>
                    </m:r>
                    <m:f>
                      <m:fPr>
                        <m:ctrlPr>
                          <a:rPr lang="en-US" altLang="zh-CN" sz="1600" i="1">
                            <a:latin typeface="Cambria Math" panose="02040503050406030204" pitchFamily="18" charset="0"/>
                          </a:rPr>
                        </m:ctrlPr>
                      </m:fPr>
                      <m:num>
                        <m:d>
                          <m:dPr>
                            <m:ctrlPr>
                              <a:rPr lang="en-US" altLang="zh-CN" sz="1600" i="1">
                                <a:latin typeface="Cambria Math" panose="02040503050406030204" pitchFamily="18" charset="0"/>
                              </a:rPr>
                            </m:ctrlPr>
                          </m:dPr>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𝑔</m:t>
                                </m:r>
                              </m:e>
                              <m:sub>
                                <m:r>
                                  <a:rPr lang="en-US" altLang="zh-CN" sz="1600" i="1">
                                    <a:latin typeface="Cambria Math" panose="02040503050406030204" pitchFamily="18" charset="0"/>
                                  </a:rPr>
                                  <m:t>𝑗</m:t>
                                </m:r>
                              </m:sub>
                              <m:sup>
                                <m:r>
                                  <a:rPr lang="en-US" altLang="zh-CN" sz="1600" i="1">
                                    <a:latin typeface="Cambria Math" panose="02040503050406030204" pitchFamily="18" charset="0"/>
                                  </a:rPr>
                                  <m:t>𝑐</m:t>
                                </m:r>
                                <m:r>
                                  <a:rPr lang="en-US" altLang="zh-CN" sz="1600" b="0" i="1" smtClean="0">
                                    <a:latin typeface="Cambria Math" panose="02040503050406030204" pitchFamily="18" charset="0"/>
                                  </a:rPr>
                                  <m:t>𝑦</m:t>
                                </m:r>
                              </m:sup>
                            </m:sSubSup>
                            <m:r>
                              <a:rPr lang="en-US" altLang="zh-CN" sz="1600" i="1">
                                <a:latin typeface="Cambria Math" panose="02040503050406030204" pitchFamily="18" charset="0"/>
                              </a:rPr>
                              <m:t>−</m:t>
                            </m:r>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𝑑</m:t>
                                </m:r>
                              </m:e>
                              <m:sub>
                                <m:r>
                                  <a:rPr lang="en-US" altLang="zh-CN" sz="1600" i="1">
                                    <a:latin typeface="Cambria Math" panose="02040503050406030204" pitchFamily="18" charset="0"/>
                                  </a:rPr>
                                  <m:t>𝑖</m:t>
                                </m:r>
                              </m:sub>
                              <m:sup>
                                <m:r>
                                  <a:rPr lang="en-US" altLang="zh-CN" sz="1600" i="1">
                                    <a:latin typeface="Cambria Math" panose="02040503050406030204" pitchFamily="18" charset="0"/>
                                  </a:rPr>
                                  <m:t>𝑐</m:t>
                                </m:r>
                                <m:r>
                                  <a:rPr lang="en-US" altLang="zh-CN" sz="1600" b="0" i="1" smtClean="0">
                                    <a:latin typeface="Cambria Math" panose="02040503050406030204" pitchFamily="18" charset="0"/>
                                  </a:rPr>
                                  <m:t>𝑦</m:t>
                                </m:r>
                              </m:sup>
                            </m:sSubSup>
                          </m:e>
                        </m:d>
                      </m:num>
                      <m:den>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𝑑</m:t>
                            </m:r>
                          </m:e>
                          <m:sub>
                            <m:r>
                              <a:rPr lang="en-US" altLang="zh-CN" sz="1600" i="1">
                                <a:latin typeface="Cambria Math" panose="02040503050406030204" pitchFamily="18" charset="0"/>
                              </a:rPr>
                              <m:t>𝑖</m:t>
                            </m:r>
                          </m:sub>
                          <m:sup>
                            <m:r>
                              <a:rPr lang="en-US" altLang="zh-CN" sz="1600" b="0" i="1" smtClean="0">
                                <a:latin typeface="Cambria Math" panose="02040503050406030204" pitchFamily="18" charset="0"/>
                              </a:rPr>
                              <m:t>h</m:t>
                            </m:r>
                          </m:sup>
                        </m:sSubSup>
                      </m:den>
                    </m:f>
                  </m:oMath>
                </a14:m>
                <a:endParaRPr lang="en-US" altLang="zh-CN" sz="1600" dirty="0" smtClean="0"/>
              </a:p>
              <a:p>
                <a:pPr lvl="2"/>
                <a14:m>
                  <m:oMath xmlns:m="http://schemas.openxmlformats.org/officeDocument/2006/math">
                    <m:sSubSup>
                      <m:sSubSupPr>
                        <m:ctrlPr>
                          <a:rPr lang="en-US" altLang="zh-CN" sz="1600" i="1" smtClean="0">
                            <a:latin typeface="Cambria Math" panose="02040503050406030204" pitchFamily="18" charset="0"/>
                          </a:rPr>
                        </m:ctrlPr>
                      </m:sSubSupPr>
                      <m:e>
                        <m:acc>
                          <m:accPr>
                            <m:chr m:val="̂"/>
                            <m:ctrlPr>
                              <a:rPr lang="en-US" altLang="zh-CN" sz="1600" i="1" smtClean="0">
                                <a:latin typeface="Cambria Math" panose="02040503050406030204" pitchFamily="18" charset="0"/>
                              </a:rPr>
                            </m:ctrlPr>
                          </m:accPr>
                          <m:e>
                            <m:r>
                              <a:rPr lang="en-US" altLang="zh-CN" sz="1600" b="0" i="1" smtClean="0">
                                <a:latin typeface="Cambria Math" panose="02040503050406030204" pitchFamily="18" charset="0"/>
                              </a:rPr>
                              <m:t>𝑔</m:t>
                            </m:r>
                          </m:e>
                        </m:acc>
                      </m:e>
                      <m:sub>
                        <m:r>
                          <a:rPr lang="en-US" altLang="zh-CN" sz="1600" b="0" i="1" smtClean="0">
                            <a:latin typeface="Cambria Math" panose="02040503050406030204" pitchFamily="18" charset="0"/>
                          </a:rPr>
                          <m:t>𝑗</m:t>
                        </m:r>
                      </m:sub>
                      <m:sup>
                        <m:r>
                          <a:rPr lang="en-US" altLang="zh-CN" sz="1600" b="0" i="1" smtClean="0">
                            <a:latin typeface="Cambria Math" panose="02040503050406030204" pitchFamily="18" charset="0"/>
                          </a:rPr>
                          <m:t>𝑤</m:t>
                        </m:r>
                      </m:sup>
                    </m:sSubSup>
                    <m:r>
                      <a:rPr lang="en-US" altLang="zh-CN" sz="1600" b="0" i="1" smtClean="0">
                        <a:latin typeface="Cambria Math" panose="02040503050406030204" pitchFamily="18" charset="0"/>
                      </a:rPr>
                      <m:t>=</m:t>
                    </m:r>
                    <m:func>
                      <m:funcPr>
                        <m:ctrlPr>
                          <a:rPr lang="en-US" altLang="zh-CN" sz="1600" b="0" i="1" smtClean="0">
                            <a:latin typeface="Cambria Math" panose="02040503050406030204" pitchFamily="18" charset="0"/>
                          </a:rPr>
                        </m:ctrlPr>
                      </m:funcPr>
                      <m:fName>
                        <m:r>
                          <m:rPr>
                            <m:sty m:val="p"/>
                          </m:rPr>
                          <a:rPr lang="en-US" altLang="zh-CN" sz="1600" b="0" i="0" smtClean="0">
                            <a:latin typeface="Cambria Math" panose="02040503050406030204" pitchFamily="18" charset="0"/>
                          </a:rPr>
                          <m:t>log</m:t>
                        </m:r>
                      </m:fName>
                      <m:e>
                        <m:d>
                          <m:dPr>
                            <m:ctrlPr>
                              <a:rPr lang="en-US" altLang="zh-CN" sz="1600" b="0" i="1" smtClean="0">
                                <a:latin typeface="Cambria Math" panose="02040503050406030204" pitchFamily="18" charset="0"/>
                              </a:rPr>
                            </m:ctrlPr>
                          </m:dPr>
                          <m:e>
                            <m:f>
                              <m:fPr>
                                <m:ctrlPr>
                                  <a:rPr lang="en-US" altLang="zh-CN" sz="1600" b="0" i="1" smtClean="0">
                                    <a:latin typeface="Cambria Math" panose="02040503050406030204" pitchFamily="18" charset="0"/>
                                  </a:rPr>
                                </m:ctrlPr>
                              </m:fPr>
                              <m:num>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𝑔</m:t>
                                    </m:r>
                                  </m:e>
                                  <m:sub>
                                    <m:r>
                                      <a:rPr lang="en-US" altLang="zh-CN" sz="1600" b="0" i="1" smtClean="0">
                                        <a:latin typeface="Cambria Math" panose="02040503050406030204" pitchFamily="18" charset="0"/>
                                      </a:rPr>
                                      <m:t>𝑗</m:t>
                                    </m:r>
                                  </m:sub>
                                  <m:sup>
                                    <m:r>
                                      <a:rPr lang="en-US" altLang="zh-CN" sz="1600" b="0" i="1" smtClean="0">
                                        <a:latin typeface="Cambria Math" panose="02040503050406030204" pitchFamily="18" charset="0"/>
                                      </a:rPr>
                                      <m:t>𝑤</m:t>
                                    </m:r>
                                  </m:sup>
                                </m:sSubSup>
                              </m:num>
                              <m:den>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𝑑</m:t>
                                    </m:r>
                                  </m:e>
                                  <m:sub>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𝑤</m:t>
                                    </m:r>
                                  </m:sup>
                                </m:sSubSup>
                              </m:den>
                            </m:f>
                          </m:e>
                        </m:d>
                      </m:e>
                    </m:func>
                    <m:r>
                      <a:rPr lang="en-US" altLang="zh-CN" sz="1600" b="0" i="1" smtClean="0">
                        <a:latin typeface="Cambria Math" panose="02040503050406030204" pitchFamily="18" charset="0"/>
                      </a:rPr>
                      <m:t>,</m:t>
                    </m:r>
                  </m:oMath>
                </a14:m>
                <a:r>
                  <a:rPr lang="en-US" altLang="zh-CN" sz="1600" dirty="0"/>
                  <a:t> </a:t>
                </a:r>
                <a14:m>
                  <m:oMath xmlns:m="http://schemas.openxmlformats.org/officeDocument/2006/math">
                    <m:sSubSup>
                      <m:sSubSupPr>
                        <m:ctrlPr>
                          <a:rPr lang="en-US" altLang="zh-CN" sz="1600" i="1">
                            <a:latin typeface="Cambria Math" panose="02040503050406030204" pitchFamily="18" charset="0"/>
                          </a:rPr>
                        </m:ctrlPr>
                      </m:sSubSup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𝑔</m:t>
                            </m:r>
                          </m:e>
                        </m:acc>
                      </m:e>
                      <m:sub>
                        <m:r>
                          <a:rPr lang="en-US" altLang="zh-CN" sz="1600" i="1">
                            <a:latin typeface="Cambria Math" panose="02040503050406030204" pitchFamily="18" charset="0"/>
                          </a:rPr>
                          <m:t>𝑗</m:t>
                        </m:r>
                      </m:sub>
                      <m:sup>
                        <m:r>
                          <a:rPr lang="en-US" altLang="zh-CN" sz="1600" b="0" i="1" smtClean="0">
                            <a:latin typeface="Cambria Math" panose="02040503050406030204" pitchFamily="18" charset="0"/>
                          </a:rPr>
                          <m:t>h</m:t>
                        </m:r>
                      </m:sup>
                    </m:sSubSup>
                    <m:r>
                      <a:rPr lang="en-US" altLang="zh-CN" sz="1600" i="1">
                        <a:latin typeface="Cambria Math" panose="02040503050406030204" pitchFamily="18" charset="0"/>
                      </a:rPr>
                      <m:t>=</m:t>
                    </m:r>
                    <m:func>
                      <m:funcPr>
                        <m:ctrlPr>
                          <a:rPr lang="en-US" altLang="zh-CN" sz="1600" i="1">
                            <a:latin typeface="Cambria Math" panose="02040503050406030204" pitchFamily="18" charset="0"/>
                          </a:rPr>
                        </m:ctrlPr>
                      </m:funcPr>
                      <m:fName>
                        <m:r>
                          <m:rPr>
                            <m:sty m:val="p"/>
                          </m:rPr>
                          <a:rPr lang="en-US" altLang="zh-CN" sz="1600">
                            <a:latin typeface="Cambria Math" panose="02040503050406030204" pitchFamily="18" charset="0"/>
                          </a:rPr>
                          <m:t>log</m:t>
                        </m:r>
                      </m:fName>
                      <m:e>
                        <m:d>
                          <m:dPr>
                            <m:ctrlPr>
                              <a:rPr lang="en-US" altLang="zh-CN" sz="1600" i="1">
                                <a:latin typeface="Cambria Math" panose="02040503050406030204" pitchFamily="18" charset="0"/>
                              </a:rPr>
                            </m:ctrlPr>
                          </m:dPr>
                          <m:e>
                            <m:f>
                              <m:fPr>
                                <m:ctrlPr>
                                  <a:rPr lang="en-US" altLang="zh-CN" sz="1600" i="1">
                                    <a:latin typeface="Cambria Math" panose="02040503050406030204" pitchFamily="18" charset="0"/>
                                  </a:rPr>
                                </m:ctrlPr>
                              </m:fPr>
                              <m:num>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𝑔</m:t>
                                    </m:r>
                                  </m:e>
                                  <m:sub>
                                    <m:r>
                                      <a:rPr lang="en-US" altLang="zh-CN" sz="1600" i="1">
                                        <a:latin typeface="Cambria Math" panose="02040503050406030204" pitchFamily="18" charset="0"/>
                                      </a:rPr>
                                      <m:t>𝑗</m:t>
                                    </m:r>
                                  </m:sub>
                                  <m:sup>
                                    <m:r>
                                      <a:rPr lang="en-US" altLang="zh-CN" sz="1600" b="0" i="1" smtClean="0">
                                        <a:latin typeface="Cambria Math" panose="02040503050406030204" pitchFamily="18" charset="0"/>
                                      </a:rPr>
                                      <m:t>h</m:t>
                                    </m:r>
                                  </m:sup>
                                </m:sSubSup>
                              </m:num>
                              <m:den>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𝑑</m:t>
                                    </m:r>
                                  </m:e>
                                  <m:sub>
                                    <m:r>
                                      <a:rPr lang="en-US" altLang="zh-CN" sz="1600" i="1">
                                        <a:latin typeface="Cambria Math" panose="02040503050406030204" pitchFamily="18" charset="0"/>
                                      </a:rPr>
                                      <m:t>𝑖</m:t>
                                    </m:r>
                                  </m:sub>
                                  <m:sup>
                                    <m:r>
                                      <a:rPr lang="en-US" altLang="zh-CN" sz="1600" b="0" i="1" smtClean="0">
                                        <a:latin typeface="Cambria Math" panose="02040503050406030204" pitchFamily="18" charset="0"/>
                                      </a:rPr>
                                      <m:t>h</m:t>
                                    </m:r>
                                  </m:sup>
                                </m:sSubSup>
                              </m:den>
                            </m:f>
                          </m:e>
                        </m:d>
                      </m:e>
                    </m:func>
                  </m:oMath>
                </a14:m>
                <a:endParaRPr lang="en-US" altLang="zh-CN" sz="1600" dirty="0" smtClean="0"/>
              </a:p>
              <a:p>
                <a:pPr lvl="1"/>
                <a:r>
                  <a:rPr lang="zh-CN" altLang="en-US" dirty="0" smtClean="0"/>
                  <a:t>分类损失</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𝑐𝑜𝑛𝑓</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𝑐</m:t>
                        </m:r>
                      </m:e>
                    </m:d>
                  </m:oMath>
                </a14:m>
                <a:r>
                  <a:rPr lang="zh-CN" altLang="en-US" dirty="0" smtClean="0"/>
                  <a:t>就是多个分类概率</a:t>
                </a:r>
                <a14:m>
                  <m:oMath xmlns:m="http://schemas.openxmlformats.org/officeDocument/2006/math">
                    <m:r>
                      <a:rPr lang="en-US" altLang="zh-CN" i="1">
                        <a:latin typeface="Cambria Math" panose="02040503050406030204" pitchFamily="18" charset="0"/>
                      </a:rPr>
                      <m:t>𝑐</m:t>
                    </m:r>
                  </m:oMath>
                </a14:m>
                <a:r>
                  <a:rPr lang="zh-CN" altLang="en-US" dirty="0" smtClean="0"/>
                  <a:t>的</a:t>
                </a:r>
                <a:r>
                  <a:rPr lang="en-US" altLang="zh-CN" dirty="0" err="1" smtClean="0"/>
                  <a:t>softmax</a:t>
                </a:r>
                <a:r>
                  <a:rPr lang="zh-CN" altLang="en-US" dirty="0" smtClean="0"/>
                  <a:t>损失：</a:t>
                </a:r>
                <a:endParaRPr lang="en-US" altLang="zh-CN" dirty="0" smtClean="0"/>
              </a:p>
              <a:p>
                <a:pPr lvl="2"/>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𝐿</m:t>
                        </m:r>
                      </m:e>
                      <m:sub>
                        <m:r>
                          <a:rPr lang="en-US" altLang="zh-CN" sz="1600" i="1">
                            <a:latin typeface="Cambria Math" panose="02040503050406030204" pitchFamily="18" charset="0"/>
                          </a:rPr>
                          <m:t>𝑐𝑜𝑛𝑓</m:t>
                        </m:r>
                      </m:sub>
                    </m:sSub>
                    <m:d>
                      <m:dPr>
                        <m:ctrlPr>
                          <a:rPr lang="en-US" altLang="zh-CN" sz="1600" i="1">
                            <a:latin typeface="Cambria Math" panose="02040503050406030204" pitchFamily="18" charset="0"/>
                          </a:rPr>
                        </m:ctrlPr>
                      </m:dPr>
                      <m:e>
                        <m:r>
                          <a:rPr lang="en-US" altLang="zh-CN" sz="1600" i="1">
                            <a:latin typeface="Cambria Math" panose="02040503050406030204" pitchFamily="18" charset="0"/>
                          </a:rPr>
                          <m:t>𝑥</m:t>
                        </m:r>
                        <m:r>
                          <a:rPr lang="en-US" altLang="zh-CN" sz="1600" i="1">
                            <a:latin typeface="Cambria Math" panose="02040503050406030204" pitchFamily="18" charset="0"/>
                          </a:rPr>
                          <m:t>,</m:t>
                        </m:r>
                        <m:r>
                          <a:rPr lang="en-US" altLang="zh-CN" sz="1600" i="1">
                            <a:latin typeface="Cambria Math" panose="02040503050406030204" pitchFamily="18" charset="0"/>
                          </a:rPr>
                          <m:t>𝑐</m:t>
                        </m:r>
                      </m:e>
                    </m:d>
                    <m:r>
                      <a:rPr lang="en-US" altLang="zh-CN" sz="1600" b="0" i="1" smtClean="0">
                        <a:latin typeface="Cambria Math" panose="02040503050406030204" pitchFamily="18" charset="0"/>
                      </a:rPr>
                      <m:t>=−</m:t>
                    </m:r>
                    <m:nary>
                      <m:naryPr>
                        <m:chr m:val="∑"/>
                        <m:ctrlPr>
                          <a:rPr lang="en-US" altLang="zh-CN" sz="1600" b="0" i="1" smtClean="0">
                            <a:latin typeface="Cambria Math" panose="02040503050406030204" pitchFamily="18" charset="0"/>
                          </a:rPr>
                        </m:ctrlPr>
                      </m:naryPr>
                      <m:sub>
                        <m:r>
                          <m:rPr>
                            <m:brk m:alnAt="23"/>
                          </m:rPr>
                          <a:rPr lang="en-US" altLang="zh-CN" sz="1600" b="0" i="1" smtClean="0">
                            <a:latin typeface="Cambria Math" panose="02040503050406030204" pitchFamily="18" charset="0"/>
                          </a:rPr>
                          <m:t>𝑖</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𝑃𝑜𝑠</m:t>
                        </m:r>
                      </m:sub>
                      <m:sup>
                        <m:r>
                          <a:rPr lang="en-US" altLang="zh-CN" sz="1600" b="0" i="1" smtClean="0">
                            <a:latin typeface="Cambria Math" panose="02040503050406030204" pitchFamily="18" charset="0"/>
                          </a:rPr>
                          <m:t>𝑁</m:t>
                        </m:r>
                      </m:sup>
                      <m:e>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𝑖𝑗</m:t>
                            </m:r>
                          </m:sub>
                          <m:sup>
                            <m:r>
                              <a:rPr lang="en-US" altLang="zh-CN" sz="1600" b="0" i="1" smtClean="0">
                                <a:latin typeface="Cambria Math" panose="02040503050406030204" pitchFamily="18" charset="0"/>
                              </a:rPr>
                              <m:t>𝑝</m:t>
                            </m:r>
                          </m:sup>
                        </m:sSubSup>
                        <m:func>
                          <m:funcPr>
                            <m:ctrlPr>
                              <a:rPr lang="en-US" altLang="zh-CN" sz="1600" b="0" i="1" smtClean="0">
                                <a:latin typeface="Cambria Math" panose="02040503050406030204" pitchFamily="18" charset="0"/>
                              </a:rPr>
                            </m:ctrlPr>
                          </m:funcPr>
                          <m:fName>
                            <m:r>
                              <m:rPr>
                                <m:sty m:val="p"/>
                              </m:rPr>
                              <a:rPr lang="en-US" altLang="zh-CN" sz="1600" b="0" i="0" smtClean="0">
                                <a:latin typeface="Cambria Math" panose="02040503050406030204" pitchFamily="18" charset="0"/>
                              </a:rPr>
                              <m:t>log</m:t>
                            </m:r>
                          </m:fName>
                          <m:e>
                            <m:d>
                              <m:dPr>
                                <m:ctrlPr>
                                  <a:rPr lang="en-US" altLang="zh-CN" sz="1600" b="0" i="1" smtClean="0">
                                    <a:latin typeface="Cambria Math" panose="02040503050406030204" pitchFamily="18" charset="0"/>
                                  </a:rPr>
                                </m:ctrlPr>
                              </m:dPr>
                              <m:e>
                                <m:sSubSup>
                                  <m:sSubSupPr>
                                    <m:ctrlPr>
                                      <a:rPr lang="en-US" altLang="zh-CN" sz="1600" b="0" i="1" smtClean="0">
                                        <a:latin typeface="Cambria Math" panose="02040503050406030204" pitchFamily="18" charset="0"/>
                                      </a:rPr>
                                    </m:ctrlPr>
                                  </m:sSubSup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𝑐</m:t>
                                        </m:r>
                                      </m:e>
                                    </m:acc>
                                  </m:e>
                                  <m:sub>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𝑝</m:t>
                                    </m:r>
                                  </m:sup>
                                </m:sSubSup>
                              </m:e>
                            </m:d>
                          </m:e>
                        </m:func>
                      </m:e>
                    </m:nary>
                    <m:r>
                      <a:rPr lang="en-US" altLang="zh-CN" sz="1600" b="0" i="1" smtClean="0">
                        <a:latin typeface="Cambria Math" panose="02040503050406030204" pitchFamily="18" charset="0"/>
                      </a:rPr>
                      <m:t>−</m:t>
                    </m:r>
                    <m:nary>
                      <m:naryPr>
                        <m:chr m:val="∑"/>
                        <m:supHide m:val="on"/>
                        <m:ctrlPr>
                          <a:rPr lang="en-US" altLang="zh-CN" sz="1600" b="0" i="1" smtClean="0">
                            <a:latin typeface="Cambria Math" panose="02040503050406030204" pitchFamily="18" charset="0"/>
                          </a:rPr>
                        </m:ctrlPr>
                      </m:naryPr>
                      <m:sub>
                        <m:r>
                          <m:rPr>
                            <m:brk m:alnAt="7"/>
                          </m:rPr>
                          <a:rPr lang="en-US" altLang="zh-CN" sz="1600" b="0" i="1" smtClean="0">
                            <a:latin typeface="Cambria Math" panose="02040503050406030204" pitchFamily="18" charset="0"/>
                          </a:rPr>
                          <m:t>𝑖</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𝑁𝑒𝑔</m:t>
                        </m:r>
                      </m:sub>
                      <m:sup/>
                      <m:e>
                        <m:func>
                          <m:funcPr>
                            <m:ctrlPr>
                              <a:rPr lang="en-US" altLang="zh-CN" sz="1600" b="0" i="1" smtClean="0">
                                <a:latin typeface="Cambria Math" panose="02040503050406030204" pitchFamily="18" charset="0"/>
                              </a:rPr>
                            </m:ctrlPr>
                          </m:funcPr>
                          <m:fName>
                            <m:r>
                              <m:rPr>
                                <m:sty m:val="p"/>
                              </m:rPr>
                              <a:rPr lang="en-US" altLang="zh-CN" sz="1600" b="0" i="0" smtClean="0">
                                <a:latin typeface="Cambria Math" panose="02040503050406030204" pitchFamily="18" charset="0"/>
                              </a:rPr>
                              <m:t>log</m:t>
                            </m:r>
                          </m:fName>
                          <m:e>
                            <m:d>
                              <m:dPr>
                                <m:ctrlPr>
                                  <a:rPr lang="en-US" altLang="zh-CN" sz="1600" b="0" i="1" smtClean="0">
                                    <a:latin typeface="Cambria Math" panose="02040503050406030204" pitchFamily="18" charset="0"/>
                                  </a:rPr>
                                </m:ctrlPr>
                              </m:dPr>
                              <m:e>
                                <m:sSubSup>
                                  <m:sSubSupPr>
                                    <m:ctrlPr>
                                      <a:rPr lang="en-US" altLang="zh-CN" sz="1600" b="0" i="1" smtClean="0">
                                        <a:latin typeface="Cambria Math" panose="02040503050406030204" pitchFamily="18" charset="0"/>
                                      </a:rPr>
                                    </m:ctrlPr>
                                  </m:sSubSup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𝑐</m:t>
                                        </m:r>
                                      </m:e>
                                    </m:acc>
                                  </m:e>
                                  <m:sub>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0</m:t>
                                    </m:r>
                                  </m:sup>
                                </m:sSubSup>
                              </m:e>
                            </m:d>
                          </m:e>
                        </m:func>
                      </m:e>
                    </m:nary>
                  </m:oMath>
                </a14:m>
                <a:endParaRPr lang="en-US" altLang="zh-CN" sz="1600" dirty="0" smtClean="0"/>
              </a:p>
              <a:p>
                <a:pPr lvl="2"/>
                <a14:m>
                  <m:oMath xmlns:m="http://schemas.openxmlformats.org/officeDocument/2006/math">
                    <m:sSubSup>
                      <m:sSubSupPr>
                        <m:ctrlPr>
                          <a:rPr lang="en-US" altLang="zh-CN" sz="1600" i="1">
                            <a:latin typeface="Cambria Math" panose="02040503050406030204" pitchFamily="18" charset="0"/>
                          </a:rPr>
                        </m:ctrlPr>
                      </m:sSubSup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𝑐</m:t>
                            </m:r>
                          </m:e>
                        </m:acc>
                      </m:e>
                      <m:sub>
                        <m:r>
                          <a:rPr lang="en-US" altLang="zh-CN" sz="1600" i="1">
                            <a:latin typeface="Cambria Math" panose="02040503050406030204" pitchFamily="18" charset="0"/>
                          </a:rPr>
                          <m:t>𝑖</m:t>
                        </m:r>
                      </m:sub>
                      <m:sup>
                        <m:r>
                          <a:rPr lang="en-US" altLang="zh-CN" sz="1600" i="1">
                            <a:latin typeface="Cambria Math" panose="02040503050406030204" pitchFamily="18" charset="0"/>
                          </a:rPr>
                          <m:t>𝑝</m:t>
                        </m:r>
                      </m:sup>
                    </m:sSubSup>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𝑒𝑥𝑝</m:t>
                        </m:r>
                        <m:d>
                          <m:dPr>
                            <m:ctrlPr>
                              <a:rPr lang="en-US" altLang="zh-CN" sz="1600" b="0" i="1" smtClean="0">
                                <a:latin typeface="Cambria Math" panose="02040503050406030204" pitchFamily="18" charset="0"/>
                              </a:rPr>
                            </m:ctrlPr>
                          </m:dPr>
                          <m:e>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𝑐</m:t>
                                </m:r>
                              </m:e>
                              <m:sub>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𝑝</m:t>
                                </m:r>
                              </m:sup>
                            </m:sSubSup>
                          </m:e>
                        </m:d>
                      </m:num>
                      <m:den>
                        <m:nary>
                          <m:naryPr>
                            <m:chr m:val="∑"/>
                            <m:supHide m:val="on"/>
                            <m:ctrlPr>
                              <a:rPr lang="en-US" altLang="zh-CN" sz="1600" b="0" i="1" smtClean="0">
                                <a:latin typeface="Cambria Math" panose="02040503050406030204" pitchFamily="18" charset="0"/>
                              </a:rPr>
                            </m:ctrlPr>
                          </m:naryPr>
                          <m:sub>
                            <m:r>
                              <m:rPr>
                                <m:brk m:alnAt="7"/>
                              </m:rPr>
                              <a:rPr lang="en-US" altLang="zh-CN" sz="1600" b="0" i="1" smtClean="0">
                                <a:latin typeface="Cambria Math" panose="02040503050406030204" pitchFamily="18" charset="0"/>
                              </a:rPr>
                              <m:t>𝑝</m:t>
                            </m:r>
                          </m:sub>
                          <m:sup/>
                          <m:e>
                            <m:r>
                              <a:rPr lang="en-US" altLang="zh-CN" sz="1600" i="1">
                                <a:latin typeface="Cambria Math" panose="02040503050406030204" pitchFamily="18" charset="0"/>
                              </a:rPr>
                              <m:t>𝑒𝑥𝑝</m:t>
                            </m:r>
                            <m:d>
                              <m:dPr>
                                <m:ctrlPr>
                                  <a:rPr lang="en-US" altLang="zh-CN" sz="1600" i="1">
                                    <a:latin typeface="Cambria Math" panose="02040503050406030204" pitchFamily="18" charset="0"/>
                                  </a:rPr>
                                </m:ctrlPr>
                              </m:dPr>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𝑐</m:t>
                                    </m:r>
                                  </m:e>
                                  <m:sub>
                                    <m:r>
                                      <a:rPr lang="en-US" altLang="zh-CN" sz="1600" i="1">
                                        <a:latin typeface="Cambria Math" panose="02040503050406030204" pitchFamily="18" charset="0"/>
                                      </a:rPr>
                                      <m:t>𝑖</m:t>
                                    </m:r>
                                  </m:sub>
                                  <m:sup>
                                    <m:r>
                                      <a:rPr lang="en-US" altLang="zh-CN" sz="1600" i="1">
                                        <a:latin typeface="Cambria Math" panose="02040503050406030204" pitchFamily="18" charset="0"/>
                                      </a:rPr>
                                      <m:t>𝑝</m:t>
                                    </m:r>
                                  </m:sup>
                                </m:sSubSup>
                              </m:e>
                            </m:d>
                          </m:e>
                        </m:nary>
                      </m:den>
                    </m:f>
                  </m:oMath>
                </a14:m>
                <a:endParaRPr lang="zh-CN" altLang="en-US" sz="1600"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4123955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a:t>
            </a:r>
            <a:endParaRPr lang="zh-CN" altLang="en-US" dirty="0"/>
          </a:p>
        </p:txBody>
      </p:sp>
      <p:sp>
        <p:nvSpPr>
          <p:cNvPr id="3" name="内容占位符 2"/>
          <p:cNvSpPr>
            <a:spLocks noGrp="1"/>
          </p:cNvSpPr>
          <p:nvPr>
            <p:ph sz="quarter" idx="13"/>
          </p:nvPr>
        </p:nvSpPr>
        <p:spPr/>
        <p:txBody>
          <a:bodyPr/>
          <a:lstStyle/>
          <a:p>
            <a:r>
              <a:rPr lang="zh-CN" altLang="en-US" dirty="0" smtClean="0"/>
              <a:t>训练方法</a:t>
            </a:r>
            <a:endParaRPr lang="en-US" altLang="zh-CN" dirty="0" smtClean="0"/>
          </a:p>
          <a:p>
            <a:pPr lvl="1"/>
            <a:r>
              <a:rPr lang="zh-CN" altLang="en-US" dirty="0" smtClean="0"/>
              <a:t>特征金字塔检测多尺度目标</a:t>
            </a:r>
            <a:endParaRPr lang="en-US" altLang="zh-CN" dirty="0" smtClean="0"/>
          </a:p>
          <a:p>
            <a:pPr lvl="1"/>
            <a:r>
              <a:rPr lang="zh-CN" altLang="en-US" dirty="0"/>
              <a:t>难</a:t>
            </a:r>
            <a:r>
              <a:rPr lang="zh-CN" altLang="en-US" dirty="0" smtClean="0"/>
              <a:t>例挖掘解决正负样本不均</a:t>
            </a:r>
            <a:endParaRPr lang="en-US" altLang="zh-CN" dirty="0" smtClean="0"/>
          </a:p>
          <a:p>
            <a:pPr lvl="1"/>
            <a:r>
              <a:rPr lang="zh-CN" altLang="en-US" dirty="0" smtClean="0"/>
              <a:t>数据增强</a:t>
            </a:r>
            <a:endParaRPr lang="en-US" altLang="zh-CN" dirty="0" smtClean="0"/>
          </a:p>
          <a:p>
            <a:pPr marL="1257300" lvl="2" indent="-342900">
              <a:buFont typeface="+mj-lt"/>
              <a:buAutoNum type="arabicPeriod"/>
            </a:pPr>
            <a:r>
              <a:rPr lang="zh-CN" altLang="en-US" dirty="0" smtClean="0"/>
              <a:t>重采样</a:t>
            </a:r>
            <a:endParaRPr lang="en-US" altLang="zh-CN" dirty="0" smtClean="0"/>
          </a:p>
          <a:p>
            <a:pPr lvl="3"/>
            <a:r>
              <a:rPr lang="zh-CN" altLang="en-US" dirty="0" smtClean="0"/>
              <a:t>原始图像</a:t>
            </a:r>
            <a:endParaRPr lang="en-US" altLang="zh-CN" dirty="0" smtClean="0"/>
          </a:p>
          <a:p>
            <a:pPr lvl="3"/>
            <a:r>
              <a:rPr lang="zh-CN" altLang="en-US" dirty="0" smtClean="0"/>
              <a:t>与目标相交的图像</a:t>
            </a:r>
            <a:endParaRPr lang="en-US" altLang="zh-CN" dirty="0" smtClean="0"/>
          </a:p>
          <a:p>
            <a:pPr lvl="3"/>
            <a:r>
              <a:rPr lang="zh-CN" altLang="en-US" dirty="0" smtClean="0"/>
              <a:t>随机采样</a:t>
            </a:r>
            <a:endParaRPr lang="en-US" altLang="zh-CN" dirty="0" smtClean="0"/>
          </a:p>
          <a:p>
            <a:pPr marL="1257300" lvl="2" indent="-342900">
              <a:buFont typeface="+mj-lt"/>
              <a:buAutoNum type="arabicPeriod"/>
            </a:pPr>
            <a:r>
              <a:rPr lang="zh-CN" altLang="en-US" dirty="0" smtClean="0"/>
              <a:t>水平镜像处理</a:t>
            </a:r>
            <a:endParaRPr lang="en-US" altLang="zh-CN" dirty="0" smtClean="0"/>
          </a:p>
          <a:p>
            <a:pPr marL="1257300" lvl="2" indent="-342900">
              <a:buFont typeface="+mj-lt"/>
              <a:buAutoNum type="arabicPeriod"/>
            </a:pPr>
            <a:r>
              <a:rPr lang="zh-CN" altLang="en-US" dirty="0" smtClean="0"/>
              <a:t>添加相机畸变</a:t>
            </a:r>
            <a:endParaRPr lang="en-US" altLang="zh-CN" dirty="0" smtClean="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8488" y="1130299"/>
            <a:ext cx="4572000" cy="2314575"/>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62800" y="3876674"/>
            <a:ext cx="4143375" cy="1828800"/>
          </a:xfrm>
          <a:prstGeom prst="rect">
            <a:avLst/>
          </a:prstGeom>
        </p:spPr>
      </p:pic>
    </p:spTree>
    <p:extLst>
      <p:ext uri="{BB962C8B-B14F-4D97-AF65-F5344CB8AC3E}">
        <p14:creationId xmlns:p14="http://schemas.microsoft.com/office/powerpoint/2010/main" val="15206715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FCOS</a:t>
            </a:r>
            <a:endParaRPr lang="zh-CN" altLang="en-US" dirty="0"/>
          </a:p>
        </p:txBody>
      </p:sp>
      <p:sp>
        <p:nvSpPr>
          <p:cNvPr id="3" name="内容占位符 2"/>
          <p:cNvSpPr>
            <a:spLocks noGrp="1"/>
          </p:cNvSpPr>
          <p:nvPr>
            <p:ph sz="quarter" idx="13"/>
          </p:nvPr>
        </p:nvSpPr>
        <p:spPr/>
        <p:txBody>
          <a:bodyPr/>
          <a:lstStyle/>
          <a:p>
            <a:r>
              <a:rPr lang="zh-CN" altLang="en-US" dirty="0" smtClean="0"/>
              <a:t>核心思想：</a:t>
            </a:r>
            <a:endParaRPr lang="en-US" altLang="zh-CN" dirty="0" smtClean="0"/>
          </a:p>
          <a:p>
            <a:pPr lvl="1"/>
            <a:r>
              <a:rPr lang="zh-CN" altLang="en-US" dirty="0" smtClean="0"/>
              <a:t>基于全卷积网络</a:t>
            </a:r>
            <a:endParaRPr lang="en-US" altLang="zh-CN" dirty="0" smtClean="0"/>
          </a:p>
          <a:p>
            <a:pPr lvl="1"/>
            <a:r>
              <a:rPr lang="zh-CN" altLang="en-US" dirty="0">
                <a:solidFill>
                  <a:srgbClr val="FF0000"/>
                </a:solidFill>
              </a:rPr>
              <a:t>不</a:t>
            </a:r>
            <a:r>
              <a:rPr lang="zh-CN" altLang="en-US" dirty="0" smtClean="0">
                <a:solidFill>
                  <a:srgbClr val="FF0000"/>
                </a:solidFill>
              </a:rPr>
              <a:t>依赖锚和候选框</a:t>
            </a:r>
            <a:endParaRPr lang="en-US" altLang="zh-CN" dirty="0" smtClean="0">
              <a:solidFill>
                <a:srgbClr val="FF0000"/>
              </a:solidFill>
            </a:endParaRPr>
          </a:p>
          <a:p>
            <a:r>
              <a:rPr lang="zh-CN" altLang="en-US" dirty="0" smtClean="0"/>
              <a:t>算法原理：</a:t>
            </a:r>
            <a:endParaRPr lang="en-US" altLang="zh-CN" dirty="0" smtClean="0"/>
          </a:p>
          <a:p>
            <a:pPr lvl="1"/>
            <a:r>
              <a:rPr lang="zh-CN" altLang="en-US" dirty="0" smtClean="0"/>
              <a:t>基于全卷积网络的一阶段检测算法</a:t>
            </a:r>
            <a:endParaRPr lang="en-US" altLang="zh-CN" dirty="0" smtClean="0"/>
          </a:p>
          <a:p>
            <a:pPr lvl="1"/>
            <a:r>
              <a:rPr lang="zh-CN" altLang="en-US" dirty="0" smtClean="0"/>
              <a:t>使用特征金字塔进行多尺度预测</a:t>
            </a:r>
            <a:endParaRPr lang="en-US" altLang="zh-CN" dirty="0" smtClean="0"/>
          </a:p>
          <a:p>
            <a:pPr lvl="1"/>
            <a:r>
              <a:rPr lang="en-US" altLang="zh-CN" dirty="0" smtClean="0"/>
              <a:t>FCOS</a:t>
            </a:r>
            <a:r>
              <a:rPr lang="zh-CN" altLang="en-US" dirty="0" smtClean="0"/>
              <a:t>的中心指标</a:t>
            </a:r>
            <a:r>
              <a:rPr lang="en-US" altLang="zh-CN" dirty="0" smtClean="0"/>
              <a:t>(center-ness)</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5158" y="3623063"/>
            <a:ext cx="7295329" cy="2514210"/>
          </a:xfrm>
          <a:prstGeom prst="rect">
            <a:avLst/>
          </a:prstGeom>
        </p:spPr>
      </p:pic>
    </p:spTree>
    <p:extLst>
      <p:ext uri="{BB962C8B-B14F-4D97-AF65-F5344CB8AC3E}">
        <p14:creationId xmlns:p14="http://schemas.microsoft.com/office/powerpoint/2010/main" val="43259093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FCOS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en-US" altLang="zh-CN" dirty="0" smtClean="0"/>
                  <a:t>FCOS</a:t>
                </a:r>
                <a:r>
                  <a:rPr lang="zh-CN" altLang="en-US" dirty="0" smtClean="0"/>
                  <a:t>最大的特点就是不依赖锚的结构。</a:t>
                </a:r>
                <a:endParaRPr lang="en-US" altLang="zh-CN" dirty="0" smtClean="0"/>
              </a:p>
              <a:p>
                <a:r>
                  <a:rPr lang="zh-CN" altLang="en-US" dirty="0" smtClean="0"/>
                  <a:t>基于锚的结构</a:t>
                </a:r>
                <a:r>
                  <a:rPr lang="en-US" altLang="zh-CN" dirty="0" smtClean="0"/>
                  <a:t>(anchor-based)</a:t>
                </a:r>
              </a:p>
              <a:p>
                <a:pPr lvl="1"/>
                <a:r>
                  <a:rPr lang="zh-CN" altLang="en-US" dirty="0"/>
                  <a:t>锚的形状与大小调整增加了训练复杂性</a:t>
                </a:r>
                <a:endParaRPr lang="en-US" altLang="zh-CN" dirty="0"/>
              </a:p>
              <a:p>
                <a:pPr lvl="1"/>
                <a:r>
                  <a:rPr lang="zh-CN" altLang="en-US" dirty="0"/>
                  <a:t>锚的大小及形状仅有几个固定取值</a:t>
                </a:r>
                <a:endParaRPr lang="en-US" altLang="zh-CN" dirty="0"/>
              </a:p>
              <a:p>
                <a:pPr lvl="1"/>
                <a:r>
                  <a:rPr lang="zh-CN" altLang="en-US" dirty="0"/>
                  <a:t>一张图像上使用非常多的锚导致正负样本不均</a:t>
                </a:r>
                <a:endParaRPr lang="en-US" altLang="zh-CN" dirty="0"/>
              </a:p>
              <a:p>
                <a:pPr lvl="1"/>
                <a:r>
                  <a:rPr lang="zh-CN" altLang="en-US" dirty="0"/>
                  <a:t>涉及大量真值框交并比计算造成计算</a:t>
                </a:r>
                <a:r>
                  <a:rPr lang="zh-CN" altLang="en-US" dirty="0" smtClean="0"/>
                  <a:t>开销</a:t>
                </a:r>
                <a:endParaRPr lang="en-US" altLang="zh-CN" dirty="0" smtClean="0"/>
              </a:p>
              <a:p>
                <a:r>
                  <a:rPr lang="zh-CN" altLang="en-US" dirty="0" smtClean="0"/>
                  <a:t>不依赖锚的结构</a:t>
                </a:r>
                <a:r>
                  <a:rPr lang="en-US" altLang="zh-CN" dirty="0" smtClean="0"/>
                  <a:t>(anchor-free)</a:t>
                </a:r>
              </a:p>
              <a:p>
                <a:pPr lvl="1"/>
                <a:r>
                  <a:rPr lang="zh-CN" altLang="en-US" dirty="0" smtClean="0"/>
                  <a:t>基于每个像素预测</a:t>
                </a:r>
                <a:endParaRPr lang="en-US" altLang="zh-CN" dirty="0" smtClean="0"/>
              </a:p>
              <a:p>
                <a:pPr lvl="1"/>
                <a:r>
                  <a:rPr lang="zh-CN" altLang="en-US" dirty="0"/>
                  <a:t>用一</a:t>
                </a:r>
                <a:r>
                  <a:rPr lang="zh-CN" altLang="en-US" dirty="0" smtClean="0"/>
                  <a:t>个</a:t>
                </a:r>
                <a:r>
                  <a:rPr lang="en-US" altLang="zh-CN" dirty="0" smtClean="0"/>
                  <a:t>4</a:t>
                </a:r>
                <a:r>
                  <a:rPr lang="zh-CN" altLang="en-US" dirty="0" smtClean="0"/>
                  <a:t>维向量</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e>
                    </m:d>
                  </m:oMath>
                </a14:m>
                <a:r>
                  <a:rPr lang="zh-CN" altLang="en-US" dirty="0" smtClean="0"/>
                  <a:t>表示</a:t>
                </a:r>
                <a:endParaRPr lang="en-US" altLang="zh-CN" dirty="0" smtClean="0"/>
              </a:p>
              <a:p>
                <a:pPr lvl="2"/>
                <a14:m>
                  <m:oMath xmlns:m="http://schemas.openxmlformats.org/officeDocument/2006/math">
                    <m:r>
                      <a:rPr lang="en-US" altLang="zh-CN" i="1">
                        <a:latin typeface="Cambria Math" panose="02040503050406030204" pitchFamily="18" charset="0"/>
                      </a:rPr>
                      <m:t>𝑙</m:t>
                    </m:r>
                    <m:r>
                      <a:rPr lang="en-US" altLang="zh-CN" i="1">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𝑏</m:t>
                    </m:r>
                  </m:oMath>
                </a14:m>
                <a:r>
                  <a:rPr lang="zh-CN" altLang="en-US" dirty="0" smtClean="0"/>
                  <a:t>分别代表该像素到目标框各边边缘的距离</a:t>
                </a:r>
                <a:endParaRPr lang="en-US" altLang="zh-CN" dirty="0" smtClean="0"/>
              </a:p>
              <a:p>
                <a:pPr lvl="1"/>
                <a:r>
                  <a:rPr lang="zh-CN" altLang="en-US" dirty="0" smtClean="0"/>
                  <a:t>每个像素对应一个预测的目标框</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09964" y="2018519"/>
            <a:ext cx="5810524" cy="3230533"/>
          </a:xfrm>
          <a:prstGeom prst="rect">
            <a:avLst/>
          </a:prstGeom>
        </p:spPr>
      </p:pic>
    </p:spTree>
    <p:extLst>
      <p:ext uri="{BB962C8B-B14F-4D97-AF65-F5344CB8AC3E}">
        <p14:creationId xmlns:p14="http://schemas.microsoft.com/office/powerpoint/2010/main" val="28868552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FCOS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pPr marL="342900" indent="-342900">
                  <a:buFont typeface="+mj-lt"/>
                  <a:buAutoNum type="arabicPeriod"/>
                </a:pPr>
                <a:r>
                  <a:rPr lang="zh-CN" altLang="en-US" dirty="0" smtClean="0"/>
                  <a:t>基于全卷积网络的一阶段检测算法</a:t>
                </a:r>
                <a:endParaRPr lang="en-US" altLang="zh-CN" dirty="0" smtClean="0"/>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𝑖</m:t>
                        </m:r>
                      </m:sub>
                    </m:sSub>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𝐻</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𝑊</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sup>
                    </m:sSup>
                  </m:oMath>
                </a14:m>
                <a:r>
                  <a:rPr lang="zh-CN" altLang="en-US" dirty="0" smtClean="0"/>
                  <a:t>表示网络骨架第</a:t>
                </a:r>
                <a14:m>
                  <m:oMath xmlns:m="http://schemas.openxmlformats.org/officeDocument/2006/math">
                    <m:r>
                      <a:rPr lang="en-US" altLang="zh-CN" i="1">
                        <a:latin typeface="Cambria Math" panose="02040503050406030204" pitchFamily="18" charset="0"/>
                      </a:rPr>
                      <m:t>𝑖</m:t>
                    </m:r>
                  </m:oMath>
                </a14:m>
                <a:r>
                  <a:rPr lang="zh-CN" altLang="en-US" dirty="0" smtClean="0"/>
                  <a:t>层输出的特征图</a:t>
                </a:r>
                <a:endParaRPr lang="en-US" altLang="zh-CN" dirty="0" smtClean="0"/>
              </a:p>
              <a:p>
                <a:pPr lvl="1"/>
                <a14:m>
                  <m:oMath xmlns:m="http://schemas.openxmlformats.org/officeDocument/2006/math">
                    <m:r>
                      <a:rPr lang="en-US" altLang="zh-CN" b="0" i="1" smtClean="0">
                        <a:latin typeface="Cambria Math" panose="02040503050406030204" pitchFamily="18" charset="0"/>
                      </a:rPr>
                      <m:t>𝑠</m:t>
                    </m:r>
                  </m:oMath>
                </a14:m>
                <a:r>
                  <a:rPr lang="zh-CN" altLang="en-US" dirty="0" smtClean="0"/>
                  <a:t>表示相对于原始图像的采样间隔</a:t>
                </a:r>
                <a:r>
                  <a:rPr lang="en-US" altLang="zh-CN" dirty="0" smtClean="0"/>
                  <a:t>(stride)</a:t>
                </a:r>
              </a:p>
              <a:p>
                <a:pPr lvl="1"/>
                <a14:m>
                  <m:oMath xmlns:m="http://schemas.openxmlformats.org/officeDocument/2006/math">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sub>
                        </m:sSub>
                      </m:e>
                    </m:d>
                  </m:oMath>
                </a14:m>
                <a:r>
                  <a:rPr lang="zh-CN" altLang="en-US" dirty="0" smtClean="0"/>
                  <a:t>表示</a:t>
                </a:r>
                <a:r>
                  <a:rPr lang="zh-CN" altLang="en-US" dirty="0"/>
                  <a:t>真值</a:t>
                </a:r>
                <a:r>
                  <a:rPr lang="zh-CN" altLang="en-US" dirty="0" smtClean="0"/>
                  <a:t>框，</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𝑖</m:t>
                            </m:r>
                          </m:sup>
                        </m:sSubSup>
                        <m:r>
                          <a:rPr lang="en-US" altLang="zh-CN" b="0" i="1" smtClean="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𝑦</m:t>
                            </m:r>
                          </m:e>
                          <m:sub>
                            <m:r>
                              <a:rPr lang="en-US" altLang="zh-CN" i="1">
                                <a:latin typeface="Cambria Math" panose="02040503050406030204" pitchFamily="18" charset="0"/>
                              </a:rPr>
                              <m:t>0</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𝑐</m:t>
                            </m:r>
                          </m:e>
                          <m:sup>
                            <m:r>
                              <a:rPr lang="en-US" altLang="zh-CN" b="0" i="1" smtClean="0">
                                <a:latin typeface="Cambria Math" panose="02040503050406030204" pitchFamily="18" charset="0"/>
                              </a:rPr>
                              <m:t>𝑖</m:t>
                            </m:r>
                          </m:sup>
                        </m:sSup>
                      </m:e>
                    </m:d>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4</m:t>
                        </m:r>
                      </m:sup>
                    </m:sSup>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1,2,⋯,</m:t>
                        </m:r>
                        <m:r>
                          <a:rPr lang="en-US" altLang="zh-CN" b="0" i="1" smtClean="0">
                            <a:latin typeface="Cambria Math" panose="02040503050406030204" pitchFamily="18" charset="0"/>
                            <a:ea typeface="Cambria Math" panose="02040503050406030204" pitchFamily="18" charset="0"/>
                          </a:rPr>
                          <m:t>𝐶</m:t>
                        </m:r>
                      </m:e>
                    </m:d>
                  </m:oMath>
                </a14:m>
                <a:r>
                  <a:rPr lang="en-US" altLang="zh-CN" dirty="0" smtClean="0"/>
                  <a:t>,</a:t>
                </a:r>
              </a:p>
              <a:p>
                <a:pPr lvl="2"/>
                <a14:m>
                  <m:oMath xmlns:m="http://schemas.openxmlformats.org/officeDocument/2006/math">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m:t>
                        </m:r>
                        <m:r>
                          <a:rPr lang="en-US" altLang="zh-CN" i="1">
                            <a:latin typeface="Cambria Math" panose="02040503050406030204" pitchFamily="18" charset="0"/>
                          </a:rPr>
                          <m:t>𝑥</m:t>
                        </m:r>
                      </m:e>
                      <m:sub>
                        <m:r>
                          <a:rPr lang="en-US" altLang="zh-CN" i="1">
                            <a:latin typeface="Cambria Math" panose="02040503050406030204" pitchFamily="18" charset="0"/>
                          </a:rPr>
                          <m:t>0</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𝑦</m:t>
                        </m:r>
                      </m:e>
                      <m:sub>
                        <m:r>
                          <a:rPr lang="en-US" altLang="zh-CN" i="1">
                            <a:latin typeface="Cambria Math" panose="02040503050406030204" pitchFamily="18" charset="0"/>
                          </a:rPr>
                          <m:t>0</m:t>
                        </m:r>
                      </m:sub>
                      <m:sup>
                        <m:r>
                          <a:rPr lang="en-US" altLang="zh-CN" i="1">
                            <a:latin typeface="Cambria Math" panose="02040503050406030204" pitchFamily="18" charset="0"/>
                          </a:rPr>
                          <m:t>𝑖</m:t>
                        </m:r>
                      </m:sup>
                    </m:sSubSup>
                    <m:r>
                      <a:rPr lang="en-US" altLang="zh-CN" b="0" i="1" smtClean="0">
                        <a:latin typeface="Cambria Math" panose="02040503050406030204" pitchFamily="18" charset="0"/>
                      </a:rPr>
                      <m:t>)</m:t>
                    </m:r>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m:t>
                        </m:r>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𝑦</m:t>
                        </m:r>
                      </m:e>
                      <m:sub>
                        <m:r>
                          <a:rPr lang="en-US" altLang="zh-CN" i="1">
                            <a:latin typeface="Cambria Math" panose="02040503050406030204" pitchFamily="18" charset="0"/>
                          </a:rPr>
                          <m:t>1</m:t>
                        </m:r>
                      </m:sub>
                      <m:sup>
                        <m:r>
                          <a:rPr lang="en-US" altLang="zh-CN" i="1">
                            <a:latin typeface="Cambria Math" panose="02040503050406030204" pitchFamily="18" charset="0"/>
                          </a:rPr>
                          <m:t>𝑖</m:t>
                        </m:r>
                      </m:sup>
                    </m:sSubSup>
                    <m:r>
                      <a:rPr lang="en-US" altLang="zh-CN" b="0" i="1" smtClean="0">
                        <a:latin typeface="Cambria Math" panose="02040503050406030204" pitchFamily="18" charset="0"/>
                      </a:rPr>
                      <m:t>)</m:t>
                    </m:r>
                  </m:oMath>
                </a14:m>
                <a:r>
                  <a:rPr lang="zh-CN" altLang="en-US" dirty="0" smtClean="0"/>
                  <a:t>分别表示框左上角与右下角坐标</a:t>
                </a:r>
                <a:endParaRPr lang="en-US" altLang="zh-CN" dirty="0" smtClean="0"/>
              </a:p>
              <a:p>
                <a:pPr lvl="2"/>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𝑐</m:t>
                        </m:r>
                      </m:e>
                      <m:sup>
                        <m:r>
                          <a:rPr lang="en-US" altLang="zh-CN" i="1">
                            <a:latin typeface="Cambria Math" panose="02040503050406030204" pitchFamily="18" charset="0"/>
                          </a:rPr>
                          <m:t>𝑖</m:t>
                        </m:r>
                      </m:sup>
                    </m:sSup>
                  </m:oMath>
                </a14:m>
                <a:r>
                  <a:rPr lang="zh-CN" altLang="en-US" dirty="0" smtClean="0"/>
                  <a:t>表示框归属的类别</a:t>
                </a:r>
                <a:endParaRPr lang="en-US" altLang="zh-CN" dirty="0" smtClean="0"/>
              </a:p>
              <a:p>
                <a:pPr lvl="2"/>
                <a14:m>
                  <m:oMath xmlns:m="http://schemas.openxmlformats.org/officeDocument/2006/math">
                    <m:r>
                      <a:rPr lang="en-US" altLang="zh-CN" i="1">
                        <a:latin typeface="Cambria Math" panose="02040503050406030204" pitchFamily="18" charset="0"/>
                        <a:ea typeface="Cambria Math" panose="02040503050406030204" pitchFamily="18" charset="0"/>
                      </a:rPr>
                      <m:t>𝐶</m:t>
                    </m:r>
                  </m:oMath>
                </a14:m>
                <a:r>
                  <a:rPr lang="zh-CN" altLang="en-US" dirty="0" smtClean="0"/>
                  <a:t>表示类别数量</a:t>
                </a:r>
                <a:endParaRPr lang="en-US" altLang="zh-CN" dirty="0" smtClean="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𝑖</m:t>
                        </m:r>
                      </m:sub>
                    </m:sSub>
                  </m:oMath>
                </a14:m>
                <a:r>
                  <a:rPr lang="zh-CN" altLang="en-US" dirty="0" smtClean="0"/>
                  <a:t>上一点</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投影到输入图像原始像素</a:t>
                </a:r>
                <a14:m>
                  <m:oMath xmlns:m="http://schemas.openxmlformats.org/officeDocument/2006/math">
                    <m:d>
                      <m:dPr>
                        <m:ctrlPr>
                          <a:rPr lang="en-US" altLang="zh-CN" i="1" smtClean="0">
                            <a:latin typeface="Cambria Math" panose="02040503050406030204" pitchFamily="18" charset="0"/>
                          </a:rPr>
                        </m:ctrlPr>
                      </m:dPr>
                      <m:e>
                        <m:d>
                          <m:dPr>
                            <m:begChr m:val="⌊"/>
                            <m:endChr m:val="⌋"/>
                            <m:ctrlPr>
                              <a:rPr lang="en-US" altLang="zh-CN" i="1" smtClean="0">
                                <a:latin typeface="Cambria Math" panose="02040503050406030204" pitchFamily="18" charset="0"/>
                              </a:rPr>
                            </m:ctrlPr>
                          </m:dPr>
                          <m:e>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𝑠</m:t>
                                </m:r>
                              </m:num>
                              <m:den>
                                <m:r>
                                  <a:rPr lang="en-US" altLang="zh-CN" b="0" i="1" smtClean="0">
                                    <a:latin typeface="Cambria Math" panose="02040503050406030204" pitchFamily="18" charset="0"/>
                                  </a:rPr>
                                  <m:t>2</m:t>
                                </m:r>
                              </m:den>
                            </m:f>
                          </m:e>
                        </m:d>
                        <m:r>
                          <a:rPr lang="en-US" altLang="zh-CN" b="0" i="1" smtClean="0">
                            <a:latin typeface="Cambria Math" panose="02040503050406030204" pitchFamily="18" charset="0"/>
                          </a:rPr>
                          <m:t>+</m:t>
                        </m:r>
                        <m:r>
                          <a:rPr lang="en-US" altLang="zh-CN" b="0" i="1" smtClean="0">
                            <a:latin typeface="Cambria Math" panose="02040503050406030204" pitchFamily="18" charset="0"/>
                          </a:rPr>
                          <m:t>𝑥𝑠</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𝑠</m:t>
                                </m:r>
                              </m:num>
                              <m:den>
                                <m:r>
                                  <a:rPr lang="en-US" altLang="zh-CN" b="0" i="1" smtClean="0">
                                    <a:latin typeface="Cambria Math" panose="02040503050406030204" pitchFamily="18" charset="0"/>
                                  </a:rPr>
                                  <m:t>2</m:t>
                                </m:r>
                              </m:den>
                            </m:f>
                          </m:e>
                        </m:d>
                        <m:r>
                          <a:rPr lang="en-US" altLang="zh-CN" b="0" i="1" smtClean="0">
                            <a:latin typeface="Cambria Math" panose="02040503050406030204" pitchFamily="18" charset="0"/>
                          </a:rPr>
                          <m:t>+</m:t>
                        </m:r>
                        <m:r>
                          <a:rPr lang="en-US" altLang="zh-CN" b="0" i="1" smtClean="0">
                            <a:latin typeface="Cambria Math" panose="02040503050406030204" pitchFamily="18" charset="0"/>
                          </a:rPr>
                          <m:t>𝑦𝑠</m:t>
                        </m:r>
                      </m:e>
                    </m:d>
                    <m:r>
                      <a:rPr lang="zh-CN" altLang="en-US" i="1">
                        <a:latin typeface="Cambria Math" panose="02040503050406030204" pitchFamily="18" charset="0"/>
                      </a:rPr>
                      <m:t>，</m:t>
                    </m:r>
                    <m:r>
                      <a:rPr lang="zh-CN" altLang="en-US" i="1" smtClean="0">
                        <a:latin typeface="Cambria Math" panose="02040503050406030204" pitchFamily="18" charset="0"/>
                      </a:rPr>
                      <m:t>记为</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e>
                    </m:d>
                  </m:oMath>
                </a14:m>
                <a:endParaRPr lang="en-US" altLang="zh-CN" dirty="0" smtClean="0"/>
              </a:p>
              <a:p>
                <a:pPr lvl="1"/>
                <a:r>
                  <a:rPr lang="zh-CN" altLang="en-US" dirty="0"/>
                  <a:t>回归</a:t>
                </a:r>
                <a14:m>
                  <m:oMath xmlns:m="http://schemas.openxmlformats.org/officeDocument/2006/math">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𝑝</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𝑝</m:t>
                            </m:r>
                          </m:sub>
                        </m:sSub>
                      </m:e>
                    </m:d>
                  </m:oMath>
                </a14:m>
                <a:r>
                  <a:rPr lang="zh-CN" altLang="en-US" dirty="0" smtClean="0"/>
                  <a:t>到真值框</a:t>
                </a:r>
                <a:r>
                  <a:rPr lang="en-US" altLang="zh-CN" dirty="0" smtClean="0"/>
                  <a:t>4</a:t>
                </a:r>
                <a:r>
                  <a:rPr lang="zh-CN" altLang="en-US" dirty="0" smtClean="0"/>
                  <a:t>个边缘的距离</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𝑇</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𝑙</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𝑟</m:t>
                            </m:r>
                          </m:e>
                          <m:sup>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𝑏</m:t>
                            </m:r>
                          </m:e>
                          <m:sup>
                            <m:r>
                              <a:rPr lang="en-US" altLang="zh-CN" i="1">
                                <a:latin typeface="Cambria Math" panose="02040503050406030204" pitchFamily="18" charset="0"/>
                              </a:rPr>
                              <m:t>∗</m:t>
                            </m:r>
                          </m:sup>
                        </m:sSup>
                      </m:e>
                    </m:d>
                  </m:oMath>
                </a14:m>
                <a:endParaRPr lang="en-US" altLang="zh-CN" dirty="0" smtClean="0"/>
              </a:p>
              <a:p>
                <a:pPr lvl="2"/>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𝑙</m:t>
                        </m:r>
                      </m:e>
                      <m:sup>
                        <m:r>
                          <a:rPr lang="en-US" altLang="zh-CN" i="1">
                            <a:latin typeface="Cambria Math" panose="02040503050406030204" pitchFamily="18" charset="0"/>
                          </a:rPr>
                          <m:t>∗</m:t>
                        </m:r>
                      </m:sup>
                    </m:s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𝑖</m:t>
                        </m:r>
                      </m:sup>
                    </m:sSubSup>
                  </m:oMath>
                </a14:m>
                <a:r>
                  <a:rPr lang="en-US" altLang="zh-CN" dirty="0" smtClean="0">
                    <a:latin typeface="Cambria Math" panose="02040503050406030204" pitchFamily="18" charset="0"/>
                  </a:rPr>
                  <a:t>(</a:t>
                </a:r>
                <a:r>
                  <a:rPr lang="zh-CN" altLang="en-US" dirty="0" smtClean="0">
                    <a:latin typeface="Cambria Math" panose="02040503050406030204" pitchFamily="18" charset="0"/>
                  </a:rPr>
                  <a:t>左边距</a:t>
                </a:r>
                <a:r>
                  <a:rPr lang="en-US" altLang="zh-CN" dirty="0" smtClean="0">
                    <a:latin typeface="Cambria Math" panose="02040503050406030204" pitchFamily="18" charset="0"/>
                  </a:rPr>
                  <a:t>)</a:t>
                </a:r>
              </a:p>
              <a:p>
                <a:pPr lvl="2"/>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𝑟</m:t>
                        </m:r>
                      </m:e>
                      <m:sup>
                        <m:r>
                          <a:rPr lang="en-US" altLang="zh-CN" i="1">
                            <a:latin typeface="Cambria Math" panose="02040503050406030204" pitchFamily="18" charset="0"/>
                          </a:rPr>
                          <m:t>∗</m:t>
                        </m:r>
                      </m:sup>
                    </m:s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𝑖</m:t>
                        </m:r>
                      </m:sup>
                    </m:sSub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oMath>
                </a14:m>
                <a:r>
                  <a:rPr lang="en-US" altLang="zh-CN" dirty="0" smtClean="0">
                    <a:latin typeface="Cambria Math" panose="02040503050406030204" pitchFamily="18" charset="0"/>
                  </a:rPr>
                  <a:t>(</a:t>
                </a:r>
                <a:r>
                  <a:rPr lang="zh-CN" altLang="en-US" dirty="0" smtClean="0">
                    <a:latin typeface="Cambria Math" panose="02040503050406030204" pitchFamily="18" charset="0"/>
                  </a:rPr>
                  <a:t>右边</a:t>
                </a:r>
                <a:r>
                  <a:rPr lang="zh-CN" altLang="en-US" dirty="0">
                    <a:latin typeface="Cambria Math" panose="02040503050406030204" pitchFamily="18" charset="0"/>
                  </a:rPr>
                  <a:t>距</a:t>
                </a:r>
                <a:r>
                  <a:rPr lang="en-US" altLang="zh-CN" dirty="0">
                    <a:latin typeface="Cambria Math" panose="02040503050406030204" pitchFamily="18" charset="0"/>
                  </a:rPr>
                  <a:t>)</a:t>
                </a:r>
              </a:p>
              <a:p>
                <a:pPr lvl="2"/>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𝑡</m:t>
                        </m:r>
                      </m:e>
                      <m:sup>
                        <m:r>
                          <a:rPr lang="en-US" altLang="zh-CN" i="1">
                            <a:latin typeface="Cambria Math" panose="02040503050406030204" pitchFamily="18" charset="0"/>
                          </a:rPr>
                          <m:t>∗</m:t>
                        </m:r>
                      </m:sup>
                    </m:s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𝑖</m:t>
                        </m:r>
                      </m:sup>
                    </m:sSubSup>
                  </m:oMath>
                </a14:m>
                <a:r>
                  <a:rPr lang="en-US" altLang="zh-CN" dirty="0">
                    <a:latin typeface="Cambria Math" panose="02040503050406030204" pitchFamily="18" charset="0"/>
                  </a:rPr>
                  <a:t> </a:t>
                </a:r>
                <a:r>
                  <a:rPr lang="en-US" altLang="zh-CN" dirty="0" smtClean="0">
                    <a:latin typeface="Cambria Math" panose="02040503050406030204" pitchFamily="18" charset="0"/>
                  </a:rPr>
                  <a:t>(</a:t>
                </a:r>
                <a:r>
                  <a:rPr lang="zh-CN" altLang="en-US" dirty="0" smtClean="0">
                    <a:latin typeface="Cambria Math" panose="02040503050406030204" pitchFamily="18" charset="0"/>
                  </a:rPr>
                  <a:t>上边</a:t>
                </a:r>
                <a:r>
                  <a:rPr lang="zh-CN" altLang="en-US" dirty="0">
                    <a:latin typeface="Cambria Math" panose="02040503050406030204" pitchFamily="18" charset="0"/>
                  </a:rPr>
                  <a:t>距</a:t>
                </a:r>
                <a:r>
                  <a:rPr lang="en-US" altLang="zh-CN" dirty="0">
                    <a:latin typeface="Cambria Math" panose="02040503050406030204" pitchFamily="18" charset="0"/>
                  </a:rPr>
                  <a:t>)</a:t>
                </a:r>
                <a:endParaRPr lang="en-US" altLang="zh-CN" i="1" dirty="0" smtClean="0">
                  <a:latin typeface="Cambria Math" panose="02040503050406030204" pitchFamily="18" charset="0"/>
                </a:endParaRPr>
              </a:p>
              <a:p>
                <a:pPr lvl="2"/>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𝑏</m:t>
                        </m:r>
                      </m:e>
                      <m:sup>
                        <m:r>
                          <a:rPr lang="en-US" altLang="zh-CN" i="1">
                            <a:latin typeface="Cambria Math" panose="02040503050406030204" pitchFamily="18" charset="0"/>
                          </a:rPr>
                          <m:t>∗</m:t>
                        </m:r>
                      </m:sup>
                    </m:s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𝑖</m:t>
                        </m:r>
                      </m:sup>
                    </m:sSub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oMath>
                </a14:m>
                <a:r>
                  <a:rPr lang="en-US" altLang="zh-CN" dirty="0">
                    <a:latin typeface="Cambria Math" panose="02040503050406030204" pitchFamily="18" charset="0"/>
                  </a:rPr>
                  <a:t> </a:t>
                </a:r>
                <a:r>
                  <a:rPr lang="en-US" altLang="zh-CN" dirty="0" smtClean="0">
                    <a:latin typeface="Cambria Math" panose="02040503050406030204" pitchFamily="18" charset="0"/>
                  </a:rPr>
                  <a:t>(</a:t>
                </a:r>
                <a:r>
                  <a:rPr lang="zh-CN" altLang="en-US" dirty="0" smtClean="0">
                    <a:latin typeface="Cambria Math" panose="02040503050406030204" pitchFamily="18" charset="0"/>
                  </a:rPr>
                  <a:t>下边</a:t>
                </a:r>
                <a:r>
                  <a:rPr lang="zh-CN" altLang="en-US" dirty="0">
                    <a:latin typeface="Cambria Math" panose="02040503050406030204" pitchFamily="18" charset="0"/>
                  </a:rPr>
                  <a:t>距</a:t>
                </a:r>
                <a:r>
                  <a:rPr lang="en-US" altLang="zh-CN" dirty="0">
                    <a:latin typeface="Cambria Math" panose="02040503050406030204" pitchFamily="18" charset="0"/>
                  </a:rPr>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b="-608"/>
                </a:stretch>
              </a:blipFill>
            </p:spPr>
            <p:txBody>
              <a:bodyPr/>
              <a:lstStyle/>
              <a:p>
                <a:r>
                  <a:rPr lang="zh-CN" altLang="en-US">
                    <a:noFill/>
                  </a:rPr>
                  <a:t> </a:t>
                </a:r>
              </a:p>
            </p:txBody>
          </p:sp>
        </mc:Fallback>
      </mc:AlternateContent>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84861" y="1130299"/>
            <a:ext cx="3035627" cy="5011947"/>
          </a:xfrm>
          <a:prstGeom prst="rect">
            <a:avLst/>
          </a:prstGeom>
        </p:spPr>
      </p:pic>
    </p:spTree>
    <p:extLst>
      <p:ext uri="{BB962C8B-B14F-4D97-AF65-F5344CB8AC3E}">
        <p14:creationId xmlns:p14="http://schemas.microsoft.com/office/powerpoint/2010/main" val="309627835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FCOS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pPr marL="342900" indent="-342900">
                  <a:buFont typeface="+mj-lt"/>
                  <a:buAutoNum type="arabicPeriod"/>
                </a:pPr>
                <a:r>
                  <a:rPr lang="zh-CN" altLang="en-US" dirty="0" smtClean="0"/>
                  <a:t>基于全卷积网络的一阶段检测算法</a:t>
                </a:r>
                <a:endParaRPr lang="en-US" altLang="zh-CN" dirty="0" smtClean="0"/>
              </a:p>
              <a:p>
                <a:pPr lvl="1"/>
                <a:r>
                  <a:rPr lang="zh-CN" altLang="en-US" dirty="0" smtClean="0"/>
                  <a:t>网络的输出至少包含两个分支：</a:t>
                </a:r>
                <a:endParaRPr lang="en-US" altLang="zh-CN" dirty="0" smtClean="0"/>
              </a:p>
              <a:p>
                <a:pPr lvl="2"/>
                <a:r>
                  <a:rPr lang="zh-CN" altLang="en-US" dirty="0" smtClean="0"/>
                  <a:t>用于分类的概率向量</a:t>
                </a:r>
                <a:r>
                  <a:rPr lang="en-US" altLang="zh-CN" dirty="0" smtClean="0"/>
                  <a:t>p</a:t>
                </a:r>
                <a:r>
                  <a:rPr lang="zh-CN" altLang="en-US" dirty="0" smtClean="0"/>
                  <a:t>，维度等于待检测类别数</a:t>
                </a:r>
                <a:r>
                  <a:rPr lang="en-US" altLang="zh-CN" dirty="0" smtClean="0"/>
                  <a:t>C</a:t>
                </a:r>
              </a:p>
              <a:p>
                <a:pPr lvl="2"/>
                <a:r>
                  <a:rPr lang="zh-CN" altLang="en-US" dirty="0" smtClean="0"/>
                  <a:t>用于表示位置的</a:t>
                </a:r>
                <a:r>
                  <a:rPr lang="en-US" altLang="zh-CN" dirty="0" smtClean="0"/>
                  <a:t>4</a:t>
                </a:r>
                <a:r>
                  <a:rPr lang="zh-CN" altLang="en-US" dirty="0" smtClean="0"/>
                  <a:t>维向量</a:t>
                </a:r>
                <a:r>
                  <a:rPr lang="en-US" altLang="zh-CN" dirty="0" smtClean="0"/>
                  <a:t>T</a:t>
                </a:r>
                <a:endParaRPr lang="en-US" altLang="zh-CN" dirty="0"/>
              </a:p>
              <a:p>
                <a:pPr lvl="1"/>
                <a:r>
                  <a:rPr lang="zh-CN" altLang="en-US" dirty="0" smtClean="0"/>
                  <a:t>损失函数：</a:t>
                </a:r>
                <a:endParaRPr lang="en-US" altLang="zh-CN" dirty="0" smtClean="0"/>
              </a:p>
              <a:p>
                <a:pPr lvl="2"/>
                <a14:m>
                  <m:oMath xmlns:m="http://schemas.openxmlformats.org/officeDocument/2006/math">
                    <m:r>
                      <a:rPr lang="en-US" altLang="zh-CN" sz="1800" b="0" i="1" smtClean="0">
                        <a:latin typeface="Cambria Math" panose="02040503050406030204" pitchFamily="18" charset="0"/>
                      </a:rPr>
                      <m:t>𝐿</m:t>
                    </m:r>
                    <m:d>
                      <m:dPr>
                        <m:ctrlPr>
                          <a:rPr lang="en-US" altLang="zh-CN" sz="1800" b="0" i="1" smtClean="0">
                            <a:latin typeface="Cambria Math" panose="02040503050406030204" pitchFamily="18" charset="0"/>
                          </a:rPr>
                        </m:ctrlPr>
                      </m:dPr>
                      <m:e>
                        <m:d>
                          <m:dPr>
                            <m:begChr m:val="{"/>
                            <m:endChr m:val="}"/>
                            <m:ctrlPr>
                              <a:rPr lang="en-US" altLang="zh-CN" sz="1800" b="0" i="1" smtClean="0">
                                <a:latin typeface="Cambria Math" panose="02040503050406030204" pitchFamily="18" charset="0"/>
                              </a:rPr>
                            </m:ctrlPr>
                          </m:dPr>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𝑝</m:t>
                                </m:r>
                              </m:e>
                              <m:sub>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Sub>
                          </m:e>
                        </m:d>
                        <m:r>
                          <a:rPr lang="en-US" altLang="zh-CN" sz="1800" b="0" i="1" smtClean="0">
                            <a:latin typeface="Cambria Math" panose="02040503050406030204" pitchFamily="18" charset="0"/>
                          </a:rPr>
                          <m:t>,</m:t>
                        </m:r>
                        <m:d>
                          <m:dPr>
                            <m:begChr m:val="{"/>
                            <m:endChr m:val="}"/>
                            <m:ctrlPr>
                              <a:rPr lang="en-US" altLang="zh-CN" sz="1800" b="0" i="1" smtClean="0">
                                <a:latin typeface="Cambria Math" panose="02040503050406030204" pitchFamily="18" charset="0"/>
                              </a:rPr>
                            </m:ctrlPr>
                          </m:dPr>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Sub>
                          </m:e>
                        </m:d>
                        <m:r>
                          <a:rPr lang="en-US" altLang="zh-CN" sz="1800" b="0" i="1" smtClean="0">
                            <a:latin typeface="Cambria Math" panose="02040503050406030204" pitchFamily="18" charset="0"/>
                          </a:rPr>
                          <m:t>,</m:t>
                        </m:r>
                      </m:e>
                    </m:d>
                    <m:r>
                      <a:rPr lang="en-US" altLang="zh-CN" sz="1800" b="0" i="1" smtClean="0">
                        <a:latin typeface="Cambria Math" panose="02040503050406030204" pitchFamily="18" charset="0"/>
                      </a:rPr>
                      <m:t>=</m:t>
                    </m:r>
                    <m:f>
                      <m:fPr>
                        <m:ctrlPr>
                          <a:rPr lang="en-US" altLang="zh-CN" sz="1800" b="0" i="1" smtClean="0">
                            <a:latin typeface="Cambria Math" panose="02040503050406030204" pitchFamily="18" charset="0"/>
                          </a:rPr>
                        </m:ctrlPr>
                      </m:fPr>
                      <m:num>
                        <m:r>
                          <a:rPr lang="en-US" altLang="zh-CN" sz="1800" b="0" i="1" smtClean="0">
                            <a:latin typeface="Cambria Math" panose="02040503050406030204" pitchFamily="18" charset="0"/>
                          </a:rPr>
                          <m:t>1</m:t>
                        </m:r>
                      </m:num>
                      <m:den>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𝑁</m:t>
                            </m:r>
                          </m:e>
                          <m:sub>
                            <m:r>
                              <a:rPr lang="en-US" altLang="zh-CN" sz="1800" b="0" i="1" smtClean="0">
                                <a:latin typeface="Cambria Math" panose="02040503050406030204" pitchFamily="18" charset="0"/>
                              </a:rPr>
                              <m:t>𝑝𝑜𝑠</m:t>
                            </m:r>
                          </m:sub>
                        </m:sSub>
                      </m:den>
                    </m:f>
                    <m:nary>
                      <m:naryPr>
                        <m:chr m:val="∑"/>
                        <m:supHide m:val="on"/>
                        <m:ctrlPr>
                          <a:rPr lang="en-US" altLang="zh-CN" sz="1800" b="0" i="1" smtClean="0">
                            <a:latin typeface="Cambria Math" panose="02040503050406030204" pitchFamily="18" charset="0"/>
                          </a:rPr>
                        </m:ctrlPr>
                      </m:naryPr>
                      <m:sub>
                        <m:r>
                          <m:rPr>
                            <m:brk m:alnAt="7"/>
                          </m:rP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up/>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𝐿</m:t>
                            </m:r>
                          </m:e>
                          <m:sub>
                            <m:r>
                              <a:rPr lang="en-US" altLang="zh-CN" sz="1800" b="0" i="1" smtClean="0">
                                <a:latin typeface="Cambria Math" panose="02040503050406030204" pitchFamily="18" charset="0"/>
                              </a:rPr>
                              <m:t>𝑐𝑙𝑠</m:t>
                            </m:r>
                          </m:sub>
                        </m:sSub>
                        <m:d>
                          <m:dPr>
                            <m:ctrlPr>
                              <a:rPr lang="en-US" altLang="zh-CN" sz="1800" b="0" i="1" smtClean="0">
                                <a:latin typeface="Cambria Math" panose="02040503050406030204" pitchFamily="18" charset="0"/>
                              </a:rPr>
                            </m:ctrlPr>
                          </m:dPr>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𝑝</m:t>
                                </m:r>
                              </m:e>
                              <m:sub>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Sub>
                            <m:r>
                              <a:rPr lang="en-US" altLang="zh-CN" sz="1800" b="0" i="1" smtClean="0">
                                <a:latin typeface="Cambria Math" panose="02040503050406030204" pitchFamily="18" charset="0"/>
                              </a:rPr>
                              <m:t>,</m:t>
                            </m:r>
                            <m:sSubSup>
                              <m:sSubSupPr>
                                <m:ctrlPr>
                                  <a:rPr lang="en-US" altLang="zh-CN" sz="1800" b="0" i="1" smtClean="0">
                                    <a:latin typeface="Cambria Math" panose="02040503050406030204" pitchFamily="18" charset="0"/>
                                  </a:rPr>
                                </m:ctrlPr>
                              </m:sSubSup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up>
                                <m:r>
                                  <a:rPr lang="en-US" altLang="zh-CN" sz="1800" b="0" i="1" smtClean="0">
                                    <a:latin typeface="Cambria Math" panose="02040503050406030204" pitchFamily="18" charset="0"/>
                                  </a:rPr>
                                  <m:t>∗</m:t>
                                </m:r>
                              </m:sup>
                            </m:sSubSup>
                          </m:e>
                        </m:d>
                      </m:e>
                    </m:nary>
                    <m:r>
                      <a:rPr lang="en-US" altLang="zh-CN" sz="1800" b="0" i="1" smtClean="0">
                        <a:latin typeface="Cambria Math" panose="02040503050406030204" pitchFamily="18" charset="0"/>
                      </a:rPr>
                      <m:t>+</m:t>
                    </m:r>
                    <m:f>
                      <m:fPr>
                        <m:ctrlPr>
                          <a:rPr lang="en-US" altLang="zh-CN" sz="1800" i="1">
                            <a:latin typeface="Cambria Math" panose="02040503050406030204" pitchFamily="18" charset="0"/>
                          </a:rPr>
                        </m:ctrlPr>
                      </m:fPr>
                      <m:num>
                        <m:r>
                          <m:rPr>
                            <m:nor/>
                          </m:rPr>
                          <a:rPr lang="el-GR" altLang="zh-CN" sz="1800"/>
                          <m:t>λ</m:t>
                        </m:r>
                      </m:num>
                      <m:den>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𝑁</m:t>
                            </m:r>
                          </m:e>
                          <m:sub>
                            <m:r>
                              <a:rPr lang="en-US" altLang="zh-CN" sz="1800" b="0" i="1" smtClean="0">
                                <a:latin typeface="Cambria Math" panose="02040503050406030204" pitchFamily="18" charset="0"/>
                              </a:rPr>
                              <m:t>𝑝𝑜𝑠</m:t>
                            </m:r>
                          </m:sub>
                        </m:sSub>
                      </m:den>
                    </m:f>
                    <m:nary>
                      <m:naryPr>
                        <m:chr m:val="∑"/>
                        <m:supHide m:val="on"/>
                        <m:ctrlPr>
                          <a:rPr lang="en-US" altLang="zh-CN" sz="1800" i="1" smtClean="0">
                            <a:latin typeface="Cambria Math" panose="02040503050406030204" pitchFamily="18" charset="0"/>
                          </a:rPr>
                        </m:ctrlPr>
                      </m:naryPr>
                      <m:sub>
                        <m:r>
                          <m:rPr>
                            <m:brk m:alnAt="7"/>
                          </m:rP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up/>
                      <m:e>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𝐼</m:t>
                            </m:r>
                          </m:e>
                          <m:sub>
                            <m:d>
                              <m:dPr>
                                <m:begChr m:val="{"/>
                                <m:endChr m:val="}"/>
                                <m:ctrlPr>
                                  <a:rPr lang="en-US" altLang="zh-CN" sz="1800" i="1" smtClean="0">
                                    <a:latin typeface="Cambria Math" panose="02040503050406030204" pitchFamily="18" charset="0"/>
                                  </a:rPr>
                                </m:ctrlPr>
                              </m:dPr>
                              <m:e>
                                <m:sSubSup>
                                  <m:sSubSupPr>
                                    <m:ctrlPr>
                                      <a:rPr lang="en-US" altLang="zh-CN" sz="1800" i="1" smtClean="0">
                                        <a:latin typeface="Cambria Math" panose="02040503050406030204" pitchFamily="18" charset="0"/>
                                      </a:rPr>
                                    </m:ctrlPr>
                                  </m:sSubSup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up>
                                    <m:r>
                                      <a:rPr lang="en-US" altLang="zh-CN" sz="1800" b="0" i="1" smtClean="0">
                                        <a:latin typeface="Cambria Math" panose="02040503050406030204" pitchFamily="18" charset="0"/>
                                      </a:rPr>
                                      <m:t>∗</m:t>
                                    </m:r>
                                  </m:sup>
                                </m:sSubSup>
                                <m:r>
                                  <a:rPr lang="en-US" altLang="zh-CN" sz="1800" i="1" smtClean="0">
                                    <a:latin typeface="Cambria Math" panose="02040503050406030204" pitchFamily="18" charset="0"/>
                                    <a:ea typeface="Cambria Math" panose="02040503050406030204" pitchFamily="18" charset="0"/>
                                  </a:rPr>
                                  <m:t>&gt;</m:t>
                                </m:r>
                                <m:r>
                                  <a:rPr lang="en-US" altLang="zh-CN" sz="1800" b="0" i="1" smtClean="0">
                                    <a:latin typeface="Cambria Math" panose="02040503050406030204" pitchFamily="18" charset="0"/>
                                    <a:ea typeface="Cambria Math" panose="02040503050406030204" pitchFamily="18" charset="0"/>
                                  </a:rPr>
                                  <m:t>0</m:t>
                                </m:r>
                              </m:e>
                            </m:d>
                          </m:sub>
                        </m:sSub>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𝐿</m:t>
                            </m:r>
                          </m:e>
                          <m:sub>
                            <m:r>
                              <a:rPr lang="en-US" altLang="zh-CN" sz="1800" b="0" i="1" smtClean="0">
                                <a:latin typeface="Cambria Math" panose="02040503050406030204" pitchFamily="18" charset="0"/>
                              </a:rPr>
                              <m:t>𝑟𝑒𝑔</m:t>
                            </m:r>
                          </m:sub>
                        </m:sSub>
                        <m:d>
                          <m:dPr>
                            <m:ctrlPr>
                              <a:rPr lang="en-US" altLang="zh-CN" sz="1800" i="1" smtClean="0">
                                <a:latin typeface="Cambria Math" panose="02040503050406030204" pitchFamily="18" charset="0"/>
                              </a:rPr>
                            </m:ctrlPr>
                          </m:dPr>
                          <m:e>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Sub>
                            <m:r>
                              <a:rPr lang="en-US" altLang="zh-CN" sz="1800" b="0" i="1" smtClean="0">
                                <a:latin typeface="Cambria Math" panose="02040503050406030204" pitchFamily="18" charset="0"/>
                              </a:rPr>
                              <m:t>,</m:t>
                            </m:r>
                            <m:sSubSup>
                              <m:sSubSupPr>
                                <m:ctrlPr>
                                  <a:rPr lang="en-US" altLang="zh-CN" sz="1800" b="0" i="1" smtClean="0">
                                    <a:latin typeface="Cambria Math" panose="02040503050406030204" pitchFamily="18" charset="0"/>
                                  </a:rPr>
                                </m:ctrlPr>
                              </m:sSubSup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up>
                                <m:r>
                                  <a:rPr lang="en-US" altLang="zh-CN" sz="1800" b="0" i="1" smtClean="0">
                                    <a:latin typeface="Cambria Math" panose="02040503050406030204" pitchFamily="18" charset="0"/>
                                  </a:rPr>
                                  <m:t>∗</m:t>
                                </m:r>
                              </m:sup>
                            </m:sSubSup>
                          </m:e>
                        </m:d>
                      </m:e>
                    </m:nary>
                  </m:oMath>
                </a14:m>
                <a:endParaRPr lang="en-US" altLang="zh-CN" sz="1800" dirty="0" smtClean="0"/>
              </a:p>
              <a:p>
                <a:pPr lvl="2"/>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𝑐𝑙𝑠</m:t>
                        </m:r>
                      </m:sub>
                    </m:sSub>
                  </m:oMath>
                </a14:m>
                <a:r>
                  <a:rPr lang="zh-CN" altLang="en-US" dirty="0" smtClean="0"/>
                  <a:t>为焦点损失函数，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𝑟𝑒𝑔</m:t>
                        </m:r>
                      </m:sub>
                    </m:sSub>
                  </m:oMath>
                </a14:m>
                <a:r>
                  <a:rPr lang="zh-CN" altLang="en-US" dirty="0" smtClean="0"/>
                  <a:t>为交并比损失函数</a:t>
                </a:r>
                <a:r>
                  <a:rPr lang="en-US" altLang="zh-CN" dirty="0" smtClean="0"/>
                  <a:t>(</a:t>
                </a:r>
                <a:r>
                  <a:rPr lang="en-US" altLang="zh-CN" dirty="0" err="1" smtClean="0"/>
                  <a:t>IoU</a:t>
                </a:r>
                <a:r>
                  <a:rPr lang="en-US" altLang="zh-CN" dirty="0" smtClean="0"/>
                  <a:t> loss)</a:t>
                </a:r>
              </a:p>
              <a:p>
                <a:pPr lvl="2"/>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𝐿</m:t>
                        </m:r>
                      </m:e>
                      <m:sub>
                        <m:r>
                          <a:rPr lang="en-US" altLang="zh-CN" sz="1800" b="0" i="1" smtClean="0">
                            <a:latin typeface="Cambria Math" panose="02040503050406030204" pitchFamily="18" charset="0"/>
                          </a:rPr>
                          <m:t>𝑟𝑒𝑔</m:t>
                        </m:r>
                      </m:sub>
                    </m:sSub>
                    <m:r>
                      <a:rPr lang="en-US" altLang="zh-CN" sz="1800" b="0" i="1" smtClean="0">
                        <a:latin typeface="Cambria Math" panose="02040503050406030204" pitchFamily="18" charset="0"/>
                      </a:rPr>
                      <m:t>=−</m:t>
                    </m:r>
                    <m:func>
                      <m:funcPr>
                        <m:ctrlPr>
                          <a:rPr lang="en-US" altLang="zh-CN" sz="1800" b="0" i="1" smtClean="0">
                            <a:latin typeface="Cambria Math" panose="02040503050406030204" pitchFamily="18" charset="0"/>
                          </a:rPr>
                        </m:ctrlPr>
                      </m:funcPr>
                      <m:fName>
                        <m:r>
                          <m:rPr>
                            <m:sty m:val="p"/>
                          </m:rPr>
                          <a:rPr lang="en-US" altLang="zh-CN" sz="1800" b="0" i="0" smtClean="0">
                            <a:latin typeface="Cambria Math" panose="02040503050406030204" pitchFamily="18" charset="0"/>
                          </a:rPr>
                          <m:t>ln</m:t>
                        </m:r>
                      </m:fName>
                      <m:e>
                        <m:d>
                          <m:dPr>
                            <m:ctrlPr>
                              <a:rPr lang="en-US" altLang="zh-CN" sz="1800" b="0" i="1" smtClean="0">
                                <a:latin typeface="Cambria Math" panose="02040503050406030204" pitchFamily="18" charset="0"/>
                              </a:rPr>
                            </m:ctrlPr>
                          </m:dPr>
                          <m:e>
                            <m:f>
                              <m:fPr>
                                <m:ctrlPr>
                                  <a:rPr lang="en-US" altLang="zh-CN" sz="1800" b="0" i="1" smtClean="0">
                                    <a:latin typeface="Cambria Math" panose="02040503050406030204" pitchFamily="18" charset="0"/>
                                  </a:rPr>
                                </m:ctrlPr>
                              </m:fPr>
                              <m:num>
                                <m:d>
                                  <m:dPr>
                                    <m:begChr m:val="{"/>
                                    <m:endChr m:val="}"/>
                                    <m:ctrlPr>
                                      <a:rPr lang="en-US" altLang="zh-CN" sz="1800" b="0" i="1" smtClean="0">
                                        <a:latin typeface="Cambria Math" panose="02040503050406030204" pitchFamily="18" charset="0"/>
                                      </a:rPr>
                                    </m:ctrlPr>
                                  </m:dPr>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Sub>
                                  </m:e>
                                </m:d>
                                <m:r>
                                  <a:rPr lang="en-US" altLang="zh-CN" sz="1800" b="0" i="1" smtClean="0">
                                    <a:latin typeface="Cambria Math" panose="02040503050406030204" pitchFamily="18" charset="0"/>
                                    <a:ea typeface="Cambria Math" panose="02040503050406030204" pitchFamily="18" charset="0"/>
                                  </a:rPr>
                                  <m:t>∩</m:t>
                                </m:r>
                                <m:d>
                                  <m:dPr>
                                    <m:begChr m:val="{"/>
                                    <m:endChr m:val="}"/>
                                    <m:ctrlPr>
                                      <a:rPr lang="en-US" altLang="zh-CN" sz="1800" b="0" i="1" smtClean="0">
                                        <a:latin typeface="Cambria Math" panose="02040503050406030204" pitchFamily="18" charset="0"/>
                                        <a:ea typeface="Cambria Math" panose="02040503050406030204" pitchFamily="18" charset="0"/>
                                      </a:rPr>
                                    </m:ctrlPr>
                                  </m:dPr>
                                  <m:e>
                                    <m:sSubSup>
                                      <m:sSubSupPr>
                                        <m:ctrlPr>
                                          <a:rPr lang="en-US" altLang="zh-CN" sz="1800" b="0" i="1" smtClean="0">
                                            <a:latin typeface="Cambria Math" panose="02040503050406030204" pitchFamily="18" charset="0"/>
                                            <a:ea typeface="Cambria Math" panose="02040503050406030204" pitchFamily="18" charset="0"/>
                                          </a:rPr>
                                        </m:ctrlPr>
                                      </m:sSubSupPr>
                                      <m:e>
                                        <m:r>
                                          <a:rPr lang="en-US" altLang="zh-CN" sz="1800" b="0" i="1" smtClean="0">
                                            <a:latin typeface="Cambria Math" panose="02040503050406030204" pitchFamily="18" charset="0"/>
                                            <a:ea typeface="Cambria Math" panose="02040503050406030204" pitchFamily="18" charset="0"/>
                                          </a:rPr>
                                          <m:t>𝑡</m:t>
                                        </m:r>
                                      </m:e>
                                      <m:sub>
                                        <m:r>
                                          <a:rPr lang="en-US" altLang="zh-CN" sz="1800" b="0" i="1" smtClean="0">
                                            <a:latin typeface="Cambria Math" panose="02040503050406030204" pitchFamily="18" charset="0"/>
                                            <a:ea typeface="Cambria Math" panose="02040503050406030204" pitchFamily="18" charset="0"/>
                                          </a:rPr>
                                          <m:t>𝑥</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𝑦</m:t>
                                        </m:r>
                                      </m:sub>
                                      <m:sup>
                                        <m:r>
                                          <a:rPr lang="en-US" altLang="zh-CN" sz="1800" b="0" i="1" smtClean="0">
                                            <a:latin typeface="Cambria Math" panose="02040503050406030204" pitchFamily="18" charset="0"/>
                                            <a:ea typeface="Cambria Math" panose="02040503050406030204" pitchFamily="18" charset="0"/>
                                          </a:rPr>
                                          <m:t>∗</m:t>
                                        </m:r>
                                      </m:sup>
                                    </m:sSubSup>
                                  </m:e>
                                </m:d>
                              </m:num>
                              <m:den>
                                <m:d>
                                  <m:dPr>
                                    <m:begChr m:val="{"/>
                                    <m:endChr m:val="}"/>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i="1">
                                            <a:latin typeface="Cambria Math" panose="02040503050406030204" pitchFamily="18" charset="0"/>
                                          </a:rPr>
                                          <m:t>𝑥</m:t>
                                        </m:r>
                                        <m:r>
                                          <a:rPr lang="en-US" altLang="zh-CN" sz="1800" i="1">
                                            <a:latin typeface="Cambria Math" panose="02040503050406030204" pitchFamily="18" charset="0"/>
                                          </a:rPr>
                                          <m:t>,</m:t>
                                        </m:r>
                                        <m:r>
                                          <a:rPr lang="en-US" altLang="zh-CN" sz="1800" i="1">
                                            <a:latin typeface="Cambria Math" panose="02040503050406030204" pitchFamily="18" charset="0"/>
                                          </a:rPr>
                                          <m:t>𝑦</m:t>
                                        </m:r>
                                      </m:sub>
                                    </m:sSub>
                                  </m:e>
                                </m:d>
                                <m:r>
                                  <a:rPr lang="en-US" altLang="zh-CN" sz="1800" i="1" smtClean="0">
                                    <a:latin typeface="Cambria Math" panose="02040503050406030204" pitchFamily="18" charset="0"/>
                                    <a:ea typeface="Cambria Math" panose="02040503050406030204" pitchFamily="18" charset="0"/>
                                  </a:rPr>
                                  <m:t>∪</m:t>
                                </m:r>
                                <m:d>
                                  <m:dPr>
                                    <m:begChr m:val="{"/>
                                    <m:endChr m:val="}"/>
                                    <m:ctrlPr>
                                      <a:rPr lang="en-US" altLang="zh-CN" sz="1800" i="1">
                                        <a:latin typeface="Cambria Math" panose="02040503050406030204" pitchFamily="18" charset="0"/>
                                        <a:ea typeface="Cambria Math" panose="02040503050406030204" pitchFamily="18" charset="0"/>
                                      </a:rPr>
                                    </m:ctrlPr>
                                  </m:dPr>
                                  <m:e>
                                    <m:sSubSup>
                                      <m:sSubSupPr>
                                        <m:ctrlPr>
                                          <a:rPr lang="en-US" altLang="zh-CN" sz="1800" i="1">
                                            <a:latin typeface="Cambria Math" panose="02040503050406030204" pitchFamily="18" charset="0"/>
                                            <a:ea typeface="Cambria Math" panose="02040503050406030204" pitchFamily="18" charset="0"/>
                                          </a:rPr>
                                        </m:ctrlPr>
                                      </m:sSubSupPr>
                                      <m:e>
                                        <m:r>
                                          <a:rPr lang="en-US" altLang="zh-CN" sz="1800" i="1">
                                            <a:latin typeface="Cambria Math" panose="02040503050406030204" pitchFamily="18" charset="0"/>
                                            <a:ea typeface="Cambria Math" panose="02040503050406030204" pitchFamily="18" charset="0"/>
                                          </a:rPr>
                                          <m:t>𝑡</m:t>
                                        </m:r>
                                      </m:e>
                                      <m:sub>
                                        <m:r>
                                          <a:rPr lang="en-US" altLang="zh-CN" sz="1800" i="1">
                                            <a:latin typeface="Cambria Math" panose="02040503050406030204" pitchFamily="18" charset="0"/>
                                            <a:ea typeface="Cambria Math" panose="02040503050406030204" pitchFamily="18" charset="0"/>
                                          </a:rPr>
                                          <m:t>𝑥</m:t>
                                        </m:r>
                                        <m:r>
                                          <a:rPr lang="en-US" altLang="zh-CN" sz="1800" i="1">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ea typeface="Cambria Math" panose="02040503050406030204" pitchFamily="18" charset="0"/>
                                          </a:rPr>
                                          <m:t>𝑦</m:t>
                                        </m:r>
                                      </m:sub>
                                      <m:sup>
                                        <m:r>
                                          <a:rPr lang="en-US" altLang="zh-CN" sz="1800" i="1">
                                            <a:latin typeface="Cambria Math" panose="02040503050406030204" pitchFamily="18" charset="0"/>
                                            <a:ea typeface="Cambria Math" panose="02040503050406030204" pitchFamily="18" charset="0"/>
                                          </a:rPr>
                                          <m:t>∗</m:t>
                                        </m:r>
                                      </m:sup>
                                    </m:sSubSup>
                                  </m:e>
                                </m:d>
                              </m:den>
                            </m:f>
                          </m:e>
                        </m:d>
                      </m:e>
                    </m:func>
                  </m:oMath>
                </a14:m>
                <a:endParaRPr lang="en-US" altLang="zh-CN" sz="1800" dirty="0" smtClean="0"/>
              </a:p>
              <a:p>
                <a:pPr lvl="2"/>
                <a14:m>
                  <m:oMath xmlns:m="http://schemas.openxmlformats.org/officeDocument/2006/math">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Sub>
                      </m:e>
                    </m:d>
                    <m:r>
                      <a:rPr lang="zh-CN" altLang="en-US" i="1" smtClean="0">
                        <a:latin typeface="Cambria Math" panose="02040503050406030204" pitchFamily="18" charset="0"/>
                      </a:rPr>
                      <m:t>和</m:t>
                    </m:r>
                    <m:d>
                      <m:dPr>
                        <m:begChr m:val="{"/>
                        <m:endChr m:val="}"/>
                        <m:ctrlPr>
                          <a:rPr lang="en-US" altLang="zh-CN" i="1">
                            <a:latin typeface="Cambria Math" panose="02040503050406030204" pitchFamily="18" charset="0"/>
                            <a:ea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sub>
                          <m:sup>
                            <m:r>
                              <a:rPr lang="en-US" altLang="zh-CN" i="1">
                                <a:latin typeface="Cambria Math" panose="02040503050406030204" pitchFamily="18" charset="0"/>
                                <a:ea typeface="Cambria Math" panose="02040503050406030204" pitchFamily="18" charset="0"/>
                              </a:rPr>
                              <m:t>∗</m:t>
                            </m:r>
                          </m:sup>
                        </m:sSubSup>
                      </m:e>
                    </m:d>
                  </m:oMath>
                </a14:m>
                <a:r>
                  <a:rPr lang="zh-CN" altLang="en-US" dirty="0" smtClean="0"/>
                  <a:t>分别表示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Sub>
                    <m:r>
                      <a:rPr lang="en-US" altLang="zh-CN" b="0" i="1" smtClean="0">
                        <a:latin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t>对应的矩形框</a:t>
                </a:r>
                <a:endParaRPr lang="en-US" altLang="zh-CN" dirty="0" smtClean="0"/>
              </a:p>
              <a:p>
                <a:pPr lvl="2"/>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𝑝𝑜𝑠</m:t>
                        </m:r>
                      </m:sub>
                    </m:sSub>
                  </m:oMath>
                </a14:m>
                <a:r>
                  <a:rPr lang="zh-CN" altLang="en-US" dirty="0" smtClean="0"/>
                  <a:t>表示正样本个数，</a:t>
                </a:r>
                <a:r>
                  <a:rPr lang="el-GR" altLang="zh-CN" dirty="0"/>
                  <a:t> </a:t>
                </a:r>
                <a14:m>
                  <m:oMath xmlns:m="http://schemas.openxmlformats.org/officeDocument/2006/math">
                    <m:r>
                      <m:rPr>
                        <m:nor/>
                      </m:rPr>
                      <a:rPr lang="el-GR" altLang="zh-CN"/>
                      <m:t>λ</m:t>
                    </m:r>
                  </m:oMath>
                </a14:m>
                <a:r>
                  <a:rPr lang="zh-CN" altLang="en-US" dirty="0" smtClean="0"/>
                  <a:t>表示两个损失的权重因子（通常取</a:t>
                </a:r>
                <a:r>
                  <a:rPr lang="en-US" altLang="zh-CN" dirty="0" smtClean="0"/>
                  <a:t>1</a:t>
                </a:r>
                <a:r>
                  <a:rPr lang="zh-CN" altLang="en-US" dirty="0" smtClean="0"/>
                  <a:t>）</a:t>
                </a:r>
                <a:endParaRPr lang="en-US" altLang="zh-CN" dirty="0" smtClean="0"/>
              </a:p>
              <a:p>
                <a:pPr lvl="2"/>
                <a14:m>
                  <m:oMath xmlns:m="http://schemas.openxmlformats.org/officeDocument/2006/math">
                    <m:nary>
                      <m:naryPr>
                        <m:chr m:val="∑"/>
                        <m:subHide m:val="on"/>
                        <m:supHide m:val="on"/>
                        <m:ctrlPr>
                          <a:rPr lang="en-US" altLang="zh-CN" i="1" smtClean="0">
                            <a:latin typeface="Cambria Math" panose="02040503050406030204" pitchFamily="18" charset="0"/>
                          </a:rPr>
                        </m:ctrlPr>
                      </m:naryPr>
                      <m:sub/>
                      <m:sup/>
                      <m:e/>
                    </m:nary>
                  </m:oMath>
                </a14:m>
                <a:r>
                  <a:rPr lang="zh-CN" altLang="en-US" dirty="0" smtClean="0"/>
                  <a:t>表示对特征图</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𝑖</m:t>
                        </m:r>
                      </m:sub>
                    </m:sSub>
                  </m:oMath>
                </a14:m>
                <a:r>
                  <a:rPr lang="zh-CN" altLang="en-US" dirty="0" smtClean="0"/>
                  <a:t>上所有位置</a:t>
                </a:r>
                <a14:m>
                  <m:oMath xmlns:m="http://schemas.openxmlformats.org/officeDocument/2006/math">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oMath>
                </a14:m>
                <a:r>
                  <a:rPr lang="zh-CN" altLang="en-US" dirty="0" smtClean="0"/>
                  <a:t>求和</a:t>
                </a:r>
                <a:endParaRPr lang="en-US" altLang="zh-CN" dirty="0" smtClean="0"/>
              </a:p>
              <a:p>
                <a:pPr lvl="2"/>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d>
                          <m:dPr>
                            <m:begChr m:val="{"/>
                            <m:endChr m:val="}"/>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up>
                                <m:r>
                                  <a:rPr lang="en-US" altLang="zh-CN" i="1">
                                    <a:latin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&gt;0</m:t>
                            </m:r>
                          </m:e>
                        </m:d>
                      </m:sub>
                    </m:sSub>
                  </m:oMath>
                </a14:m>
                <a:r>
                  <a:rPr lang="zh-CN" altLang="en-US" dirty="0" smtClean="0"/>
                  <a:t>为示性函数，</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up>
                        <m:r>
                          <a:rPr lang="en-US" altLang="zh-CN" i="1">
                            <a:latin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&gt;0</m:t>
                    </m:r>
                  </m:oMath>
                </a14:m>
                <a:r>
                  <a:rPr lang="zh-CN" altLang="en-US" dirty="0" smtClean="0"/>
                  <a:t>时</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d>
                          <m:dPr>
                            <m:begChr m:val="{"/>
                            <m:endChr m:val="}"/>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up>
                                <m:r>
                                  <a:rPr lang="en-US" altLang="zh-CN" i="1">
                                    <a:latin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&gt;0</m:t>
                            </m:r>
                          </m:e>
                        </m:d>
                      </m:sub>
                    </m:sSub>
                  </m:oMath>
                </a14:m>
                <a:r>
                  <a:rPr lang="zh-CN" altLang="en-US" dirty="0" smtClean="0"/>
                  <a:t>取</a:t>
                </a:r>
                <a:r>
                  <a:rPr lang="en-US" altLang="zh-CN" dirty="0" smtClean="0"/>
                  <a:t>1</a:t>
                </a:r>
                <a:r>
                  <a:rPr lang="zh-CN" altLang="en-US" dirty="0" smtClean="0"/>
                  <a:t>，否则取</a:t>
                </a:r>
                <a:r>
                  <a:rPr lang="en-US" altLang="zh-CN" dirty="0" smtClean="0"/>
                  <a:t>0</a:t>
                </a:r>
              </a:p>
              <a:p>
                <a:pPr lvl="2"/>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b="-20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9492806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FCOS</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2"/>
            </a:pPr>
            <a:r>
              <a:rPr lang="zh-CN" altLang="en-US" dirty="0" smtClean="0"/>
              <a:t>使用特征金字塔进行多尺度预测</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1722786"/>
            <a:ext cx="10058400" cy="4414488"/>
          </a:xfrm>
          <a:prstGeom prst="rect">
            <a:avLst/>
          </a:prstGeom>
        </p:spPr>
      </p:pic>
    </p:spTree>
    <p:extLst>
      <p:ext uri="{BB962C8B-B14F-4D97-AF65-F5344CB8AC3E}">
        <p14:creationId xmlns:p14="http://schemas.microsoft.com/office/powerpoint/2010/main" val="44302789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FCOS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pPr marL="342900" indent="-342900">
                  <a:buFont typeface="+mj-lt"/>
                  <a:buAutoNum type="arabicPeriod" startAt="3"/>
                </a:pPr>
                <a:r>
                  <a:rPr lang="en-US" altLang="zh-CN" dirty="0" smtClean="0"/>
                  <a:t>FCOS</a:t>
                </a:r>
                <a:r>
                  <a:rPr lang="zh-CN" altLang="en-US" dirty="0" smtClean="0"/>
                  <a:t>的中心指标</a:t>
                </a:r>
                <a:r>
                  <a:rPr lang="en-US" altLang="zh-CN" dirty="0" smtClean="0"/>
                  <a:t>(center-ness)</a:t>
                </a:r>
              </a:p>
              <a:p>
                <a:pPr lvl="1"/>
                <a:r>
                  <a:rPr lang="zh-CN" altLang="en-US" dirty="0"/>
                  <a:t>衡量</a:t>
                </a:r>
                <a:r>
                  <a:rPr lang="zh-CN" altLang="en-US" dirty="0" smtClean="0"/>
                  <a:t>预测框相对于投影点的对称性</a:t>
                </a:r>
                <a:endParaRPr lang="en-US" altLang="zh-CN" dirty="0" smtClean="0"/>
              </a:p>
              <a:p>
                <a:pPr lvl="1"/>
                <a14:m>
                  <m:oMath xmlns:m="http://schemas.openxmlformats.org/officeDocument/2006/math">
                    <m:r>
                      <m:rPr>
                        <m:nor/>
                      </m:rPr>
                      <a:rPr lang="en-US" altLang="zh-CN" sz="2000" dirty="0"/>
                      <m:t>center</m:t>
                    </m:r>
                    <m:r>
                      <m:rPr>
                        <m:nor/>
                      </m:rPr>
                      <a:rPr lang="en-US" altLang="zh-CN" sz="2000" dirty="0"/>
                      <m:t>−</m:t>
                    </m:r>
                    <m:r>
                      <m:rPr>
                        <m:nor/>
                      </m:rPr>
                      <a:rPr lang="en-US" altLang="zh-CN" sz="2000" dirty="0"/>
                      <m:t>ness</m:t>
                    </m:r>
                    <m:r>
                      <m:rPr>
                        <m:nor/>
                      </m:rPr>
                      <a:rPr lang="en-US" altLang="zh-CN" sz="2000" b="0" i="0" dirty="0" smtClean="0"/>
                      <m:t>∗=</m:t>
                    </m:r>
                    <m:rad>
                      <m:radPr>
                        <m:degHide m:val="on"/>
                        <m:ctrlPr>
                          <a:rPr lang="en-US" altLang="zh-CN" sz="2000" b="0" i="1" dirty="0" smtClean="0">
                            <a:latin typeface="Cambria Math" panose="02040503050406030204" pitchFamily="18" charset="0"/>
                          </a:rPr>
                        </m:ctrlPr>
                      </m:radPr>
                      <m:deg/>
                      <m:e>
                        <m:f>
                          <m:fPr>
                            <m:ctrlPr>
                              <a:rPr lang="en-US" altLang="zh-CN" sz="2000" b="0" i="1" dirty="0" smtClean="0">
                                <a:latin typeface="Cambria Math" panose="02040503050406030204" pitchFamily="18" charset="0"/>
                              </a:rPr>
                            </m:ctrlPr>
                          </m:fPr>
                          <m:num>
                            <m:r>
                              <m:rPr>
                                <m:sty m:val="p"/>
                              </m:rPr>
                              <a:rPr lang="en-US" altLang="zh-CN" sz="2000" b="0" i="0" dirty="0" smtClean="0">
                                <a:latin typeface="Cambria Math" panose="02040503050406030204" pitchFamily="18" charset="0"/>
                              </a:rPr>
                              <m:t>min</m:t>
                            </m:r>
                            <m:r>
                              <a:rPr lang="en-US" altLang="zh-CN" sz="2000" b="0" i="1" dirty="0" smtClean="0">
                                <a:latin typeface="Cambria Math" panose="02040503050406030204" pitchFamily="18" charset="0"/>
                              </a:rPr>
                              <m:t>⁡(</m:t>
                            </m:r>
                            <m:sSup>
                              <m:sSupPr>
                                <m:ctrlPr>
                                  <a:rPr lang="en-US" altLang="zh-CN" sz="2000" i="1" dirty="0">
                                    <a:latin typeface="Cambria Math" panose="02040503050406030204" pitchFamily="18" charset="0"/>
                                  </a:rPr>
                                </m:ctrlPr>
                              </m:sSupPr>
                              <m:e>
                                <m:r>
                                  <a:rPr lang="en-US" altLang="zh-CN" sz="2000" i="1" dirty="0">
                                    <a:latin typeface="Cambria Math" panose="02040503050406030204" pitchFamily="18" charset="0"/>
                                  </a:rPr>
                                  <m:t>𝑙</m:t>
                                </m:r>
                              </m:e>
                              <m:sup>
                                <m:r>
                                  <a:rPr lang="en-US" altLang="zh-CN" sz="2000" i="1" dirty="0">
                                    <a:latin typeface="Cambria Math" panose="02040503050406030204" pitchFamily="18" charset="0"/>
                                  </a:rPr>
                                  <m:t>∗</m:t>
                                </m:r>
                              </m:sup>
                            </m:sSup>
                            <m:r>
                              <a:rPr lang="en-US" altLang="zh-CN" sz="2000" i="1" dirty="0">
                                <a:latin typeface="Cambria Math" panose="02040503050406030204" pitchFamily="18" charset="0"/>
                              </a:rPr>
                              <m:t>,</m:t>
                            </m:r>
                            <m:sSup>
                              <m:sSupPr>
                                <m:ctrlPr>
                                  <a:rPr lang="en-US" altLang="zh-CN" sz="2000" i="1" dirty="0">
                                    <a:latin typeface="Cambria Math" panose="02040503050406030204" pitchFamily="18" charset="0"/>
                                  </a:rPr>
                                </m:ctrlPr>
                              </m:sSupPr>
                              <m:e>
                                <m:r>
                                  <a:rPr lang="en-US" altLang="zh-CN" sz="2000" i="1" dirty="0">
                                    <a:latin typeface="Cambria Math" panose="02040503050406030204" pitchFamily="18" charset="0"/>
                                  </a:rPr>
                                  <m:t>𝑟</m:t>
                                </m:r>
                              </m:e>
                              <m:sup>
                                <m:r>
                                  <a:rPr lang="en-US" altLang="zh-CN" sz="2000" i="1" dirty="0">
                                    <a:latin typeface="Cambria Math" panose="02040503050406030204" pitchFamily="18" charset="0"/>
                                  </a:rPr>
                                  <m:t>∗</m:t>
                                </m:r>
                              </m:sup>
                            </m:sSup>
                            <m:r>
                              <a:rPr lang="en-US" altLang="zh-CN" sz="2000" b="0" i="1" dirty="0" smtClean="0">
                                <a:latin typeface="Cambria Math" panose="02040503050406030204" pitchFamily="18" charset="0"/>
                              </a:rPr>
                              <m:t>)</m:t>
                            </m:r>
                          </m:num>
                          <m:den>
                            <m:r>
                              <m:rPr>
                                <m:sty m:val="p"/>
                              </m:rPr>
                              <a:rPr lang="en-US" altLang="zh-CN" sz="2000" b="0" i="0" dirty="0" smtClean="0">
                                <a:latin typeface="Cambria Math" panose="02040503050406030204" pitchFamily="18" charset="0"/>
                              </a:rPr>
                              <m:t>max</m:t>
                            </m:r>
                            <m:r>
                              <a:rPr lang="en-US" altLang="zh-CN" sz="2000" b="0" i="1" dirty="0" smtClean="0">
                                <a:latin typeface="Cambria Math" panose="02040503050406030204" pitchFamily="18" charset="0"/>
                              </a:rPr>
                              <m:t>⁡(</m:t>
                            </m:r>
                            <m:sSup>
                              <m:sSupPr>
                                <m:ctrlPr>
                                  <a:rPr lang="en-US" altLang="zh-CN" sz="2000" b="0" i="1" dirty="0" smtClean="0">
                                    <a:latin typeface="Cambria Math" panose="02040503050406030204" pitchFamily="18" charset="0"/>
                                  </a:rPr>
                                </m:ctrlPr>
                              </m:sSupPr>
                              <m:e>
                                <m:r>
                                  <a:rPr lang="en-US" altLang="zh-CN" sz="2000" b="0" i="1" dirty="0" smtClean="0">
                                    <a:latin typeface="Cambria Math" panose="02040503050406030204" pitchFamily="18" charset="0"/>
                                  </a:rPr>
                                  <m:t>𝑙</m:t>
                                </m:r>
                              </m:e>
                              <m:sup>
                                <m:r>
                                  <a:rPr lang="en-US" altLang="zh-CN" sz="2000" b="0" i="1" dirty="0" smtClean="0">
                                    <a:latin typeface="Cambria Math" panose="02040503050406030204" pitchFamily="18" charset="0"/>
                                  </a:rPr>
                                  <m:t>∗</m:t>
                                </m:r>
                              </m:sup>
                            </m:sSup>
                            <m:r>
                              <a:rPr lang="en-US" altLang="zh-CN" sz="2000" b="0" i="1" dirty="0" smtClean="0">
                                <a:latin typeface="Cambria Math" panose="02040503050406030204" pitchFamily="18" charset="0"/>
                              </a:rPr>
                              <m:t>,</m:t>
                            </m:r>
                            <m:sSup>
                              <m:sSupPr>
                                <m:ctrlPr>
                                  <a:rPr lang="en-US" altLang="zh-CN" sz="2000" b="0" i="1" dirty="0" smtClean="0">
                                    <a:latin typeface="Cambria Math" panose="02040503050406030204" pitchFamily="18" charset="0"/>
                                  </a:rPr>
                                </m:ctrlPr>
                              </m:sSupPr>
                              <m:e>
                                <m:r>
                                  <a:rPr lang="en-US" altLang="zh-CN" sz="2000" b="0" i="1" dirty="0" smtClean="0">
                                    <a:latin typeface="Cambria Math" panose="02040503050406030204" pitchFamily="18" charset="0"/>
                                  </a:rPr>
                                  <m:t>𝑟</m:t>
                                </m:r>
                              </m:e>
                              <m:sup>
                                <m:r>
                                  <a:rPr lang="en-US" altLang="zh-CN" sz="2000" b="0" i="1" dirty="0" smtClean="0">
                                    <a:latin typeface="Cambria Math" panose="02040503050406030204" pitchFamily="18" charset="0"/>
                                  </a:rPr>
                                  <m:t>∗</m:t>
                                </m:r>
                              </m:sup>
                            </m:sSup>
                            <m:r>
                              <a:rPr lang="en-US" altLang="zh-CN" sz="2000" b="0" i="1" dirty="0" smtClean="0">
                                <a:latin typeface="Cambria Math" panose="02040503050406030204" pitchFamily="18" charset="0"/>
                              </a:rPr>
                              <m:t>)</m:t>
                            </m:r>
                          </m:den>
                        </m:f>
                        <m:r>
                          <a:rPr lang="en-US" altLang="zh-CN" sz="2000" b="0" i="1" dirty="0" smtClean="0">
                            <a:latin typeface="Cambria Math" panose="02040503050406030204" pitchFamily="18" charset="0"/>
                            <a:ea typeface="Cambria Math" panose="02040503050406030204" pitchFamily="18" charset="0"/>
                          </a:rPr>
                          <m:t>×</m:t>
                        </m:r>
                        <m:f>
                          <m:fPr>
                            <m:ctrlPr>
                              <a:rPr lang="en-US" altLang="zh-CN" sz="2000" b="0" i="1" dirty="0" smtClean="0">
                                <a:latin typeface="Cambria Math" panose="02040503050406030204" pitchFamily="18" charset="0"/>
                                <a:ea typeface="Cambria Math" panose="02040503050406030204" pitchFamily="18" charset="0"/>
                              </a:rPr>
                            </m:ctrlPr>
                          </m:fPr>
                          <m:num>
                            <m:r>
                              <m:rPr>
                                <m:sty m:val="p"/>
                              </m:rPr>
                              <a:rPr lang="en-US" altLang="zh-CN" sz="2000" b="0" i="0" dirty="0" smtClean="0">
                                <a:latin typeface="Cambria Math" panose="02040503050406030204" pitchFamily="18" charset="0"/>
                                <a:ea typeface="Cambria Math" panose="02040503050406030204" pitchFamily="18" charset="0"/>
                              </a:rPr>
                              <m:t>min</m:t>
                            </m:r>
                            <m:r>
                              <a:rPr lang="en-US" altLang="zh-CN" sz="2000" b="0" i="1" dirty="0" smtClean="0">
                                <a:latin typeface="Cambria Math" panose="02040503050406030204" pitchFamily="18" charset="0"/>
                                <a:ea typeface="Cambria Math" panose="02040503050406030204" pitchFamily="18" charset="0"/>
                              </a:rPr>
                              <m:t>⁡(</m:t>
                            </m:r>
                            <m:sSup>
                              <m:sSupPr>
                                <m:ctrlPr>
                                  <a:rPr lang="en-US" altLang="zh-CN" sz="2000" b="0" i="1" dirty="0" smtClean="0">
                                    <a:latin typeface="Cambria Math" panose="02040503050406030204" pitchFamily="18" charset="0"/>
                                    <a:ea typeface="Cambria Math" panose="02040503050406030204" pitchFamily="18" charset="0"/>
                                  </a:rPr>
                                </m:ctrlPr>
                              </m:sSupPr>
                              <m:e>
                                <m:r>
                                  <a:rPr lang="en-US" altLang="zh-CN" sz="2000" b="0" i="1" dirty="0" smtClean="0">
                                    <a:latin typeface="Cambria Math" panose="02040503050406030204" pitchFamily="18" charset="0"/>
                                    <a:ea typeface="Cambria Math" panose="02040503050406030204" pitchFamily="18" charset="0"/>
                                  </a:rPr>
                                  <m:t>𝑡</m:t>
                                </m:r>
                              </m:e>
                              <m:sup>
                                <m:r>
                                  <a:rPr lang="en-US" altLang="zh-CN" sz="2000" b="0" i="1" dirty="0" smtClean="0">
                                    <a:latin typeface="Cambria Math" panose="02040503050406030204" pitchFamily="18" charset="0"/>
                                    <a:ea typeface="Cambria Math" panose="02040503050406030204" pitchFamily="18" charset="0"/>
                                  </a:rPr>
                                  <m:t>∗</m:t>
                                </m:r>
                              </m:sup>
                            </m:sSup>
                            <m:r>
                              <a:rPr lang="en-US" altLang="zh-CN" sz="2000" b="0" i="1" dirty="0" smtClean="0">
                                <a:latin typeface="Cambria Math" panose="02040503050406030204" pitchFamily="18" charset="0"/>
                                <a:ea typeface="Cambria Math" panose="02040503050406030204" pitchFamily="18" charset="0"/>
                              </a:rPr>
                              <m:t>,</m:t>
                            </m:r>
                            <m:sSup>
                              <m:sSupPr>
                                <m:ctrlPr>
                                  <a:rPr lang="en-US" altLang="zh-CN" sz="2000" b="0" i="1" dirty="0" smtClean="0">
                                    <a:latin typeface="Cambria Math" panose="02040503050406030204" pitchFamily="18" charset="0"/>
                                    <a:ea typeface="Cambria Math" panose="02040503050406030204" pitchFamily="18" charset="0"/>
                                  </a:rPr>
                                </m:ctrlPr>
                              </m:sSupPr>
                              <m:e>
                                <m:r>
                                  <a:rPr lang="en-US" altLang="zh-CN" sz="2000" b="0" i="1" dirty="0" smtClean="0">
                                    <a:latin typeface="Cambria Math" panose="02040503050406030204" pitchFamily="18" charset="0"/>
                                    <a:ea typeface="Cambria Math" panose="02040503050406030204" pitchFamily="18" charset="0"/>
                                  </a:rPr>
                                  <m:t>𝑏</m:t>
                                </m:r>
                              </m:e>
                              <m:sup>
                                <m:r>
                                  <a:rPr lang="en-US" altLang="zh-CN" sz="2000" b="0" i="1" dirty="0" smtClean="0">
                                    <a:latin typeface="Cambria Math" panose="02040503050406030204" pitchFamily="18" charset="0"/>
                                    <a:ea typeface="Cambria Math" panose="02040503050406030204" pitchFamily="18" charset="0"/>
                                  </a:rPr>
                                  <m:t>∗</m:t>
                                </m:r>
                              </m:sup>
                            </m:sSup>
                            <m:r>
                              <a:rPr lang="en-US" altLang="zh-CN" sz="2000" b="0" i="1" dirty="0" smtClean="0">
                                <a:latin typeface="Cambria Math" panose="02040503050406030204" pitchFamily="18" charset="0"/>
                                <a:ea typeface="Cambria Math" panose="02040503050406030204" pitchFamily="18" charset="0"/>
                              </a:rPr>
                              <m:t>)</m:t>
                            </m:r>
                          </m:num>
                          <m:den>
                            <m:r>
                              <m:rPr>
                                <m:sty m:val="p"/>
                              </m:rPr>
                              <a:rPr lang="en-US" altLang="zh-CN" sz="2000" b="0" i="0" dirty="0" smtClean="0">
                                <a:latin typeface="Cambria Math" panose="02040503050406030204" pitchFamily="18" charset="0"/>
                                <a:ea typeface="Cambria Math" panose="02040503050406030204" pitchFamily="18" charset="0"/>
                              </a:rPr>
                              <m:t>max</m:t>
                            </m:r>
                            <m:r>
                              <a:rPr lang="en-US" altLang="zh-CN" sz="2000" b="0" i="1" dirty="0" smtClean="0">
                                <a:latin typeface="Cambria Math" panose="02040503050406030204" pitchFamily="18" charset="0"/>
                                <a:ea typeface="Cambria Math" panose="02040503050406030204" pitchFamily="18" charset="0"/>
                              </a:rPr>
                              <m:t>⁡(</m:t>
                            </m:r>
                            <m:sSup>
                              <m:sSupPr>
                                <m:ctrlPr>
                                  <a:rPr lang="en-US" altLang="zh-CN" sz="2000" i="1" dirty="0">
                                    <a:latin typeface="Cambria Math" panose="02040503050406030204" pitchFamily="18" charset="0"/>
                                    <a:ea typeface="Cambria Math" panose="02040503050406030204" pitchFamily="18" charset="0"/>
                                  </a:rPr>
                                </m:ctrlPr>
                              </m:sSupPr>
                              <m:e>
                                <m:r>
                                  <a:rPr lang="en-US" altLang="zh-CN" sz="2000" i="1" dirty="0">
                                    <a:latin typeface="Cambria Math" panose="02040503050406030204" pitchFamily="18" charset="0"/>
                                    <a:ea typeface="Cambria Math" panose="02040503050406030204" pitchFamily="18" charset="0"/>
                                  </a:rPr>
                                  <m:t>𝑡</m:t>
                                </m:r>
                              </m:e>
                              <m:sup>
                                <m:r>
                                  <a:rPr lang="en-US" altLang="zh-CN" sz="2000" i="1" dirty="0">
                                    <a:latin typeface="Cambria Math" panose="02040503050406030204" pitchFamily="18" charset="0"/>
                                    <a:ea typeface="Cambria Math" panose="02040503050406030204" pitchFamily="18" charset="0"/>
                                  </a:rPr>
                                  <m:t>∗</m:t>
                                </m:r>
                              </m:sup>
                            </m:sSup>
                            <m:r>
                              <a:rPr lang="en-US" altLang="zh-CN" sz="2000" i="1" dirty="0">
                                <a:latin typeface="Cambria Math" panose="02040503050406030204" pitchFamily="18" charset="0"/>
                                <a:ea typeface="Cambria Math" panose="02040503050406030204" pitchFamily="18" charset="0"/>
                              </a:rPr>
                              <m:t>,</m:t>
                            </m:r>
                            <m:sSup>
                              <m:sSupPr>
                                <m:ctrlPr>
                                  <a:rPr lang="en-US" altLang="zh-CN" sz="2000" i="1" dirty="0">
                                    <a:latin typeface="Cambria Math" panose="02040503050406030204" pitchFamily="18" charset="0"/>
                                    <a:ea typeface="Cambria Math" panose="02040503050406030204" pitchFamily="18" charset="0"/>
                                  </a:rPr>
                                </m:ctrlPr>
                              </m:sSupPr>
                              <m:e>
                                <m:r>
                                  <a:rPr lang="en-US" altLang="zh-CN" sz="2000" i="1" dirty="0">
                                    <a:latin typeface="Cambria Math" panose="02040503050406030204" pitchFamily="18" charset="0"/>
                                    <a:ea typeface="Cambria Math" panose="02040503050406030204" pitchFamily="18" charset="0"/>
                                  </a:rPr>
                                  <m:t>𝑏</m:t>
                                </m:r>
                              </m:e>
                              <m:sup>
                                <m:r>
                                  <a:rPr lang="en-US" altLang="zh-CN" sz="2000" i="1" dirty="0">
                                    <a:latin typeface="Cambria Math" panose="02040503050406030204" pitchFamily="18" charset="0"/>
                                    <a:ea typeface="Cambria Math" panose="02040503050406030204" pitchFamily="18" charset="0"/>
                                  </a:rPr>
                                  <m:t>∗</m:t>
                                </m:r>
                              </m:sup>
                            </m:sSup>
                            <m:r>
                              <a:rPr lang="en-US" altLang="zh-CN" sz="2000" b="0" i="1" dirty="0" smtClean="0">
                                <a:latin typeface="Cambria Math" panose="02040503050406030204" pitchFamily="18" charset="0"/>
                                <a:ea typeface="Cambria Math" panose="02040503050406030204" pitchFamily="18" charset="0"/>
                              </a:rPr>
                              <m:t>)</m:t>
                            </m:r>
                          </m:den>
                        </m:f>
                      </m:e>
                    </m:rad>
                  </m:oMath>
                </a14:m>
                <a:endParaRPr lang="en-US" altLang="zh-CN" sz="2000" dirty="0" smtClean="0"/>
              </a:p>
              <a:p>
                <a:pPr lvl="1"/>
                <a:r>
                  <a:rPr lang="zh-CN" altLang="en-US" dirty="0" smtClean="0"/>
                  <a:t>取值为</a:t>
                </a:r>
                <a:r>
                  <a:rPr lang="en-US" altLang="zh-CN" dirty="0" smtClean="0"/>
                  <a:t>0~1</a:t>
                </a:r>
                <a:r>
                  <a:rPr lang="zh-CN" altLang="en-US" dirty="0" smtClean="0"/>
                  <a:t>，取值越大意味着重合度越高</a:t>
                </a:r>
                <a:endParaRPr lang="en-US" altLang="zh-CN" dirty="0" smtClean="0"/>
              </a:p>
              <a:p>
                <a:pPr lvl="1"/>
                <a:r>
                  <a:rPr lang="zh-CN" altLang="en-US" dirty="0" smtClean="0"/>
                  <a:t>测试时作为权重因子与分类的置信度进行相乘</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0546" y="3494848"/>
            <a:ext cx="3797366" cy="2737019"/>
          </a:xfrm>
          <a:prstGeom prst="rect">
            <a:avLst/>
          </a:prstGeom>
        </p:spPr>
      </p:pic>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17931" y="1406565"/>
            <a:ext cx="6002557" cy="4518055"/>
          </a:xfrm>
          <a:prstGeom prst="rect">
            <a:avLst/>
          </a:prstGeom>
        </p:spPr>
      </p:pic>
    </p:spTree>
    <p:extLst>
      <p:ext uri="{BB962C8B-B14F-4D97-AF65-F5344CB8AC3E}">
        <p14:creationId xmlns:p14="http://schemas.microsoft.com/office/powerpoint/2010/main" val="414048266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重要的一阶段检测算法</a:t>
            </a:r>
            <a:r>
              <a:rPr lang="en-US" altLang="zh-CN" dirty="0" smtClean="0"/>
              <a:t>——YOLO</a:t>
            </a:r>
            <a:r>
              <a:rPr lang="zh-CN" altLang="en-US" dirty="0" smtClean="0"/>
              <a:t>的各个版本及原理</a:t>
            </a:r>
            <a:endParaRPr lang="en-US" altLang="zh-CN" dirty="0" smtClean="0"/>
          </a:p>
          <a:p>
            <a:r>
              <a:rPr lang="zh-CN" altLang="en-US" dirty="0" smtClean="0"/>
              <a:t>其他的一阶段检测算法原理</a:t>
            </a:r>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28</TotalTime>
  <Words>8751</Words>
  <Application>Microsoft Office PowerPoint</Application>
  <PresentationFormat>宽屏</PresentationFormat>
  <Paragraphs>449</Paragraphs>
  <Slides>47</Slides>
  <Notes>40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47</vt:i4>
      </vt:variant>
    </vt:vector>
  </HeadingPairs>
  <TitlesOfParts>
    <vt:vector size="55" baseType="lpstr">
      <vt:lpstr>等线</vt:lpstr>
      <vt:lpstr>宋体</vt:lpstr>
      <vt:lpstr>微软雅黑</vt:lpstr>
      <vt:lpstr>Arial</vt:lpstr>
      <vt:lpstr>Calibri</vt:lpstr>
      <vt:lpstr>Cambria Math</vt:lpstr>
      <vt:lpstr>Ebrima</vt:lpstr>
      <vt:lpstr>主题5</vt:lpstr>
      <vt:lpstr>目标检测的实现</vt:lpstr>
      <vt:lpstr>课程目标</vt:lpstr>
      <vt:lpstr>PowerPoint 演示文稿</vt:lpstr>
      <vt:lpstr>/01</vt:lpstr>
      <vt:lpstr>一阶段检测算法</vt:lpstr>
      <vt:lpstr>YOLO</vt:lpstr>
      <vt:lpstr>YOLOv1</vt:lpstr>
      <vt:lpstr>YOLOv1</vt:lpstr>
      <vt:lpstr>YOLOv1</vt:lpstr>
      <vt:lpstr>YOLOv1</vt:lpstr>
      <vt:lpstr>YOLOv1</vt:lpstr>
      <vt:lpstr>YOLOv1</vt:lpstr>
      <vt:lpstr>YOLOv1</vt:lpstr>
      <vt:lpstr>YOLOv2</vt:lpstr>
      <vt:lpstr>YOLOv2</vt:lpstr>
      <vt:lpstr>YOLOv2</vt:lpstr>
      <vt:lpstr>YOLOv2</vt:lpstr>
      <vt:lpstr>YOLOv2</vt:lpstr>
      <vt:lpstr>YOLOv2</vt:lpstr>
      <vt:lpstr>YOLOv2</vt:lpstr>
      <vt:lpstr>YOLOv3</vt:lpstr>
      <vt:lpstr>YOLOv3</vt:lpstr>
      <vt:lpstr>YOLOv3</vt:lpstr>
      <vt:lpstr>YOLOv3</vt:lpstr>
      <vt:lpstr>YOLOv3</vt:lpstr>
      <vt:lpstr>YOLOv3</vt:lpstr>
      <vt:lpstr>YOLOv4</vt:lpstr>
      <vt:lpstr>YOLOv4</vt:lpstr>
      <vt:lpstr>YOLOv4</vt:lpstr>
      <vt:lpstr>YOLOv4</vt:lpstr>
      <vt:lpstr>YOLOv5</vt:lpstr>
      <vt:lpstr>YOLOv5</vt:lpstr>
      <vt:lpstr>/02</vt:lpstr>
      <vt:lpstr>SSD</vt:lpstr>
      <vt:lpstr>SSD</vt:lpstr>
      <vt:lpstr>SSD</vt:lpstr>
      <vt:lpstr>SSD</vt:lpstr>
      <vt:lpstr>SSD</vt:lpstr>
      <vt:lpstr>SSD</vt:lpstr>
      <vt:lpstr>FCOS</vt:lpstr>
      <vt:lpstr>FCOS</vt:lpstr>
      <vt:lpstr>FCOS</vt:lpstr>
      <vt:lpstr>FCOS</vt:lpstr>
      <vt:lpstr>FCOS</vt:lpstr>
      <vt:lpstr>FCOS</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13</cp:revision>
  <cp:lastPrinted>2018-09-20T16:00:00Z</cp:lastPrinted>
  <dcterms:created xsi:type="dcterms:W3CDTF">2022-06-27T01:42:48Z</dcterms:created>
  <dcterms:modified xsi:type="dcterms:W3CDTF">2022-12-27T09:31:49Z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