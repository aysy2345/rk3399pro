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58" r:id="rId2"/>
    <p:sldId id="295" r:id="rId3"/>
    <p:sldId id="262" r:id="rId4"/>
    <p:sldId id="257" r:id="rId5"/>
    <p:sldId id="260" r:id="rId6"/>
    <p:sldId id="303" r:id="rId7"/>
    <p:sldId id="304" r:id="rId8"/>
    <p:sldId id="305" r:id="rId9"/>
    <p:sldId id="306" r:id="rId10"/>
    <p:sldId id="269" r:id="rId11"/>
    <p:sldId id="272" r:id="rId12"/>
    <p:sldId id="263" r:id="rId13"/>
    <p:sldId id="264" r:id="rId14"/>
    <p:sldId id="265" r:id="rId15"/>
    <p:sldId id="266" r:id="rId16"/>
    <p:sldId id="267" r:id="rId17"/>
    <p:sldId id="268" r:id="rId18"/>
    <p:sldId id="270" r:id="rId19"/>
    <p:sldId id="271" r:id="rId20"/>
    <p:sldId id="273" r:id="rId21"/>
    <p:sldId id="274" r:id="rId22"/>
    <p:sldId id="278" r:id="rId23"/>
    <p:sldId id="276" r:id="rId24"/>
    <p:sldId id="277" r:id="rId25"/>
    <p:sldId id="279" r:id="rId26"/>
    <p:sldId id="280" r:id="rId27"/>
    <p:sldId id="281" r:id="rId28"/>
    <p:sldId id="282" r:id="rId29"/>
    <p:sldId id="283" r:id="rId30"/>
    <p:sldId id="284" r:id="rId31"/>
    <p:sldId id="285" r:id="rId32"/>
    <p:sldId id="286" r:id="rId33"/>
    <p:sldId id="288" r:id="rId34"/>
    <p:sldId id="287" r:id="rId35"/>
    <p:sldId id="290" r:id="rId36"/>
    <p:sldId id="289" r:id="rId37"/>
    <p:sldId id="291" r:id="rId38"/>
    <p:sldId id="292" r:id="rId39"/>
    <p:sldId id="293" r:id="rId40"/>
    <p:sldId id="294" r:id="rId41"/>
    <p:sldId id="297" r:id="rId42"/>
    <p:sldId id="298" r:id="rId43"/>
    <p:sldId id="299" r:id="rId44"/>
    <p:sldId id="300" r:id="rId45"/>
    <p:sldId id="301" r:id="rId46"/>
    <p:sldId id="296" r:id="rId47"/>
    <p:sldId id="261" r:id="rId48"/>
  </p:sldIdLst>
  <p:sldSz cx="12192000" cy="6858000"/>
  <p:notesSz cx="6858000" cy="9144000"/>
  <p:custDataLst>
    <p:tags r:id="rId5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帐户" initials="M帐" lastIdx="2" clrIdx="0">
    <p:extLst>
      <p:ext uri="{19B8F6BF-5375-455C-9EA6-DF929625EA0E}">
        <p15:presenceInfo xmlns:p15="http://schemas.microsoft.com/office/powerpoint/2012/main" userId="2210e39e748663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888" autoAdjust="0"/>
  </p:normalViewPr>
  <p:slideViewPr>
    <p:cSldViewPr snapToGrid="0" showGuides="1">
      <p:cViewPr varScale="1">
        <p:scale>
          <a:sx n="105" d="100"/>
          <a:sy n="105" d="100"/>
        </p:scale>
        <p:origin x="732" y="96"/>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DE4C9E-7B18-43FF-916A-A6EE63C02C7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C195E0BF-92E2-42E4-A7E5-CA4E1F34285D}">
      <dgm:prSet phldrT="[文本]"/>
      <dgm:spPr/>
      <dgm:t>
        <a:bodyPr/>
        <a:lstStyle/>
        <a:p>
          <a:r>
            <a:rPr lang="zh-CN" altLang="en-US" dirty="0" smtClean="0"/>
            <a:t>传统算法</a:t>
          </a:r>
          <a:endParaRPr lang="zh-CN" altLang="en-US" dirty="0"/>
        </a:p>
      </dgm:t>
    </dgm:pt>
    <dgm:pt modelId="{550807DA-B084-4312-99A7-BD7A078119F0}" type="parTrans" cxnId="{6B322612-D3F5-42EC-B08F-61D32F43FD7E}">
      <dgm:prSet/>
      <dgm:spPr/>
      <dgm:t>
        <a:bodyPr/>
        <a:lstStyle/>
        <a:p>
          <a:endParaRPr lang="zh-CN" altLang="en-US"/>
        </a:p>
      </dgm:t>
    </dgm:pt>
    <dgm:pt modelId="{F540D406-828A-4D48-BF0A-9E5FEDBE45F5}" type="sibTrans" cxnId="{6B322612-D3F5-42EC-B08F-61D32F43FD7E}">
      <dgm:prSet/>
      <dgm:spPr/>
      <dgm:t>
        <a:bodyPr/>
        <a:lstStyle/>
        <a:p>
          <a:endParaRPr lang="zh-CN" altLang="en-US"/>
        </a:p>
      </dgm:t>
    </dgm:pt>
    <dgm:pt modelId="{1E65E990-E276-4F65-9C71-CBAD8B8C32BF}">
      <dgm:prSet phldrT="[文本]"/>
      <dgm:spPr/>
      <dgm:t>
        <a:bodyPr/>
        <a:lstStyle/>
        <a:p>
          <a:r>
            <a:rPr lang="zh-CN" altLang="en-US" dirty="0" smtClean="0"/>
            <a:t>深度学习算法</a:t>
          </a:r>
          <a:endParaRPr lang="zh-CN" altLang="en-US" dirty="0"/>
        </a:p>
      </dgm:t>
    </dgm:pt>
    <dgm:pt modelId="{BFD58DB5-50A6-4306-AF5F-F6E568CE7687}" type="parTrans" cxnId="{4FF30E64-90CF-41A4-B7A3-7A530D03E9B5}">
      <dgm:prSet/>
      <dgm:spPr/>
      <dgm:t>
        <a:bodyPr/>
        <a:lstStyle/>
        <a:p>
          <a:endParaRPr lang="zh-CN" altLang="en-US"/>
        </a:p>
      </dgm:t>
    </dgm:pt>
    <dgm:pt modelId="{8AE2DABE-75D4-4586-9B53-8E9C442977AA}" type="sibTrans" cxnId="{4FF30E64-90CF-41A4-B7A3-7A530D03E9B5}">
      <dgm:prSet/>
      <dgm:spPr/>
      <dgm:t>
        <a:bodyPr/>
        <a:lstStyle/>
        <a:p>
          <a:endParaRPr lang="zh-CN" altLang="en-US"/>
        </a:p>
      </dgm:t>
    </dgm:pt>
    <dgm:pt modelId="{495BBD4D-E001-4800-B868-4EC9C532EE03}" type="pres">
      <dgm:prSet presAssocID="{E6DE4C9E-7B18-43FF-916A-A6EE63C02C7D}" presName="linearFlow" presStyleCnt="0">
        <dgm:presLayoutVars>
          <dgm:resizeHandles val="exact"/>
        </dgm:presLayoutVars>
      </dgm:prSet>
      <dgm:spPr/>
      <dgm:t>
        <a:bodyPr/>
        <a:lstStyle/>
        <a:p>
          <a:endParaRPr lang="zh-CN" altLang="en-US"/>
        </a:p>
      </dgm:t>
    </dgm:pt>
    <dgm:pt modelId="{99BA825E-7C7F-461A-AFFE-14E679F35141}" type="pres">
      <dgm:prSet presAssocID="{C195E0BF-92E2-42E4-A7E5-CA4E1F34285D}" presName="node" presStyleLbl="node1" presStyleIdx="0" presStyleCnt="2">
        <dgm:presLayoutVars>
          <dgm:bulletEnabled val="1"/>
        </dgm:presLayoutVars>
      </dgm:prSet>
      <dgm:spPr/>
      <dgm:t>
        <a:bodyPr/>
        <a:lstStyle/>
        <a:p>
          <a:endParaRPr lang="zh-CN" altLang="en-US"/>
        </a:p>
      </dgm:t>
    </dgm:pt>
    <dgm:pt modelId="{210452C3-8056-483C-9D5E-7F7CBB87A55B}" type="pres">
      <dgm:prSet presAssocID="{F540D406-828A-4D48-BF0A-9E5FEDBE45F5}" presName="sibTrans" presStyleLbl="sibTrans2D1" presStyleIdx="0" presStyleCnt="1"/>
      <dgm:spPr/>
      <dgm:t>
        <a:bodyPr/>
        <a:lstStyle/>
        <a:p>
          <a:endParaRPr lang="zh-CN" altLang="en-US"/>
        </a:p>
      </dgm:t>
    </dgm:pt>
    <dgm:pt modelId="{56C7C15D-B998-42F7-9954-E1FE54388301}" type="pres">
      <dgm:prSet presAssocID="{F540D406-828A-4D48-BF0A-9E5FEDBE45F5}" presName="connectorText" presStyleLbl="sibTrans2D1" presStyleIdx="0" presStyleCnt="1"/>
      <dgm:spPr/>
      <dgm:t>
        <a:bodyPr/>
        <a:lstStyle/>
        <a:p>
          <a:endParaRPr lang="zh-CN" altLang="en-US"/>
        </a:p>
      </dgm:t>
    </dgm:pt>
    <dgm:pt modelId="{74C03AEF-4BD4-40F1-BFD0-67B5BD672048}" type="pres">
      <dgm:prSet presAssocID="{1E65E990-E276-4F65-9C71-CBAD8B8C32BF}" presName="node" presStyleLbl="node1" presStyleIdx="1" presStyleCnt="2">
        <dgm:presLayoutVars>
          <dgm:bulletEnabled val="1"/>
        </dgm:presLayoutVars>
      </dgm:prSet>
      <dgm:spPr/>
      <dgm:t>
        <a:bodyPr/>
        <a:lstStyle/>
        <a:p>
          <a:endParaRPr lang="zh-CN" altLang="en-US"/>
        </a:p>
      </dgm:t>
    </dgm:pt>
  </dgm:ptLst>
  <dgm:cxnLst>
    <dgm:cxn modelId="{4FF30E64-90CF-41A4-B7A3-7A530D03E9B5}" srcId="{E6DE4C9E-7B18-43FF-916A-A6EE63C02C7D}" destId="{1E65E990-E276-4F65-9C71-CBAD8B8C32BF}" srcOrd="1" destOrd="0" parTransId="{BFD58DB5-50A6-4306-AF5F-F6E568CE7687}" sibTransId="{8AE2DABE-75D4-4586-9B53-8E9C442977AA}"/>
    <dgm:cxn modelId="{5D239F41-9079-47C8-BC1F-8C65912E7AFE}" type="presOf" srcId="{1E65E990-E276-4F65-9C71-CBAD8B8C32BF}" destId="{74C03AEF-4BD4-40F1-BFD0-67B5BD672048}" srcOrd="0" destOrd="0" presId="urn:microsoft.com/office/officeart/2005/8/layout/process2"/>
    <dgm:cxn modelId="{A124F405-FDE9-4D52-A485-FAD582EAB520}" type="presOf" srcId="{C195E0BF-92E2-42E4-A7E5-CA4E1F34285D}" destId="{99BA825E-7C7F-461A-AFFE-14E679F35141}" srcOrd="0" destOrd="0" presId="urn:microsoft.com/office/officeart/2005/8/layout/process2"/>
    <dgm:cxn modelId="{42DA3519-7B14-4DB2-9F28-E6D508CDE2DD}" type="presOf" srcId="{F540D406-828A-4D48-BF0A-9E5FEDBE45F5}" destId="{210452C3-8056-483C-9D5E-7F7CBB87A55B}" srcOrd="0" destOrd="0" presId="urn:microsoft.com/office/officeart/2005/8/layout/process2"/>
    <dgm:cxn modelId="{50CF839A-5ADA-4E26-AE21-A80934A090DE}" type="presOf" srcId="{F540D406-828A-4D48-BF0A-9E5FEDBE45F5}" destId="{56C7C15D-B998-42F7-9954-E1FE54388301}" srcOrd="1" destOrd="0" presId="urn:microsoft.com/office/officeart/2005/8/layout/process2"/>
    <dgm:cxn modelId="{F16F18A8-797D-460A-8FC0-03F6E63CCEEC}" type="presOf" srcId="{E6DE4C9E-7B18-43FF-916A-A6EE63C02C7D}" destId="{495BBD4D-E001-4800-B868-4EC9C532EE03}" srcOrd="0" destOrd="0" presId="urn:microsoft.com/office/officeart/2005/8/layout/process2"/>
    <dgm:cxn modelId="{6B322612-D3F5-42EC-B08F-61D32F43FD7E}" srcId="{E6DE4C9E-7B18-43FF-916A-A6EE63C02C7D}" destId="{C195E0BF-92E2-42E4-A7E5-CA4E1F34285D}" srcOrd="0" destOrd="0" parTransId="{550807DA-B084-4312-99A7-BD7A078119F0}" sibTransId="{F540D406-828A-4D48-BF0A-9E5FEDBE45F5}"/>
    <dgm:cxn modelId="{8FA4308C-8CA9-4821-96A6-FB05D388348C}" type="presParOf" srcId="{495BBD4D-E001-4800-B868-4EC9C532EE03}" destId="{99BA825E-7C7F-461A-AFFE-14E679F35141}" srcOrd="0" destOrd="0" presId="urn:microsoft.com/office/officeart/2005/8/layout/process2"/>
    <dgm:cxn modelId="{DA214F59-99E9-4CCE-9C9D-AA5C827F6E9A}" type="presParOf" srcId="{495BBD4D-E001-4800-B868-4EC9C532EE03}" destId="{210452C3-8056-483C-9D5E-7F7CBB87A55B}" srcOrd="1" destOrd="0" presId="urn:microsoft.com/office/officeart/2005/8/layout/process2"/>
    <dgm:cxn modelId="{7DE77A0F-8191-480C-AACF-E43081D289CA}" type="presParOf" srcId="{210452C3-8056-483C-9D5E-7F7CBB87A55B}" destId="{56C7C15D-B998-42F7-9954-E1FE54388301}" srcOrd="0" destOrd="0" presId="urn:microsoft.com/office/officeart/2005/8/layout/process2"/>
    <dgm:cxn modelId="{5F4B2F1C-BDBA-4AC4-910E-CD15E048B0FF}" type="presParOf" srcId="{495BBD4D-E001-4800-B868-4EC9C532EE03}" destId="{74C03AEF-4BD4-40F1-BFD0-67B5BD672048}" srcOrd="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目标检测概述，由以下</a:t>
            </a:r>
            <a:r>
              <a:rPr lang="en-US" altLang="zh-CN" dirty="0" smtClean="0"/>
              <a:t>4</a:t>
            </a:r>
            <a:r>
              <a:rPr lang="zh-CN" altLang="en-US" dirty="0" smtClean="0"/>
              <a:t>部分开始讲解目标检测。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60486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目标检测（</a:t>
            </a:r>
            <a:r>
              <a:rPr lang="en-US" altLang="zh-CN" sz="1200" dirty="0" smtClean="0"/>
              <a:t>Object Detection</a:t>
            </a:r>
            <a:r>
              <a:rPr lang="zh-CN" altLang="en-US" sz="1200" dirty="0" smtClean="0"/>
              <a:t>）是计算机视觉（</a:t>
            </a:r>
            <a:r>
              <a:rPr lang="en-US" altLang="zh-CN" sz="1200" dirty="0" smtClean="0"/>
              <a:t>Computer Vision, CV</a:t>
            </a:r>
            <a:r>
              <a:rPr lang="zh-CN" altLang="en-US" sz="1200" dirty="0" smtClean="0"/>
              <a:t>）的一个分支，指通过编写特定的算法代码，让计算机从一张图像中找出若干特定目标的方法。</a:t>
            </a:r>
          </a:p>
          <a:p>
            <a:pPr eaLnBrk="1" hangingPunct="1">
              <a:lnSpc>
                <a:spcPct val="200000"/>
              </a:lnSpc>
              <a:spcBef>
                <a:spcPct val="0"/>
              </a:spcBef>
            </a:pPr>
            <a:r>
              <a:rPr lang="zh-CN" altLang="en-US" sz="1200" dirty="0" smtClean="0"/>
              <a:t>目标检测包含两层含义：</a:t>
            </a:r>
            <a:r>
              <a:rPr lang="zh-CN" altLang="en-US" sz="1200" dirty="0" smtClean="0">
                <a:sym typeface="Wingdings 2" panose="05020102010507070707" pitchFamily="18" charset="2"/>
              </a:rPr>
              <a:t>判定图像上有哪些目标，解决目标存在性的问题；判定图像中目标的具体位置，解决目标在哪里的问题。目标检测和图像分类最大区别在于目标检测需要更细粒度的判定，不仅要判定是否包含目标，还要给出各个目标的具体位置。二者的差异如右图所示。</a:t>
            </a:r>
            <a:endParaRPr lang="en-US" altLang="zh-CN" sz="1200" dirty="0" smtClean="0">
              <a:sym typeface="Wingdings 2" panose="05020102010507070707" pitchFamily="18" charset="2"/>
            </a:endParaRPr>
          </a:p>
          <a:p>
            <a:pPr eaLnBrk="1" hangingPunct="1">
              <a:lnSpc>
                <a:spcPct val="200000"/>
              </a:lnSpc>
              <a:spcBef>
                <a:spcPct val="0"/>
              </a:spcBef>
            </a:pPr>
            <a:r>
              <a:rPr lang="zh-CN" altLang="en-US" sz="1200" dirty="0" smtClean="0">
                <a:sym typeface="Wingdings 2" panose="05020102010507070707" pitchFamily="18" charset="2"/>
              </a:rPr>
              <a:t>那么什么是计算机视觉？</a:t>
            </a:r>
            <a:endParaRPr lang="zh-CN" altLang="en-US"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44072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在介绍计算机视觉之前，思考一下人类是如何观察整个世界的。对于人类的视觉而言，视觉系统的感受部分是视网膜，它是一个三维采样系统。三维物体的可见部分投影到视网膜上，人们按照投影到视网膜上的二维的像来对该物体进行三维理解。所谓三维理解是指对被观察对象的形状、尺寸、离开观察点的距离、质地和运动特征（方向和速度）等的理解。</a:t>
            </a:r>
            <a:endParaRPr lang="en-US" altLang="zh-CN" sz="1200" dirty="0" smtClean="0"/>
          </a:p>
          <a:p>
            <a:pPr eaLnBrk="1" hangingPunct="1">
              <a:lnSpc>
                <a:spcPct val="200000"/>
              </a:lnSpc>
              <a:spcBef>
                <a:spcPct val="0"/>
              </a:spcBef>
            </a:pPr>
            <a:r>
              <a:rPr lang="zh-CN" altLang="en-US" sz="1200" dirty="0" smtClean="0"/>
              <a:t>人类视觉系统是迄今为止，人们所知道的功能最强大和完善的视觉系统。研究表明，人类通过视觉获取的外界信息至少占总信息量的</a:t>
            </a:r>
            <a:r>
              <a:rPr lang="en-US" altLang="zh-CN" sz="1200" dirty="0" smtClean="0"/>
              <a:t>80%</a:t>
            </a:r>
            <a:r>
              <a:rPr lang="zh-CN" altLang="en-US" sz="1200" dirty="0" smtClean="0"/>
              <a:t>，视觉系统是人和动物最重要的感觉系统。</a:t>
            </a:r>
            <a:endParaRPr lang="en-US" altLang="zh-CN" sz="1200" dirty="0" smtClean="0"/>
          </a:p>
          <a:p>
            <a:r>
              <a:rPr lang="zh-CN" altLang="en-US" dirty="0" smtClean="0"/>
              <a:t>即使目标被部分遮挡，人类也能判断这是一只猫。</a:t>
            </a:r>
            <a:endParaRPr lang="en-US" altLang="zh-CN" dirty="0" smtClean="0"/>
          </a:p>
          <a:p>
            <a:r>
              <a:rPr lang="zh-CN" altLang="en-US" dirty="0" smtClean="0"/>
              <a:t>那么计算机如何实现视觉？</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03928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计算机视觉是使用计算机及相关设备对生物视觉的一种模拟。它的主要任务就是通过对采集的图片或视频进行处理以获得相应场景的三维信息，就像人类和许多其他类生物每天所做的那样。</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dirty="0" smtClean="0"/>
              <a:t>计算机视觉原理与人类大脑工作原理相似。</a:t>
            </a:r>
            <a:r>
              <a:rPr lang="zh-CN" altLang="en-US" sz="1200" dirty="0" smtClean="0"/>
              <a:t>在计算机视觉系统中，计算机起代替人脑的作用，但并不意味着计算机必须按人类视觉的方法完成视觉信息的处理。人类大脑的工作原理复杂且抽象，计算机视觉可以而且应该根据计算机系统的特点来进行视觉信息的存储和处理。</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dirty="0" smtClean="0"/>
              <a:t>接下来我们将通过计算机视觉的图像存储方式和难点介绍计算机视觉。</a:t>
            </a:r>
          </a:p>
          <a:p>
            <a:pPr marL="0" marR="0" indent="0" algn="l" defTabSz="914400" rtl="0" eaLnBrk="1" fontAlgn="base" latinLnBrk="0" hangingPunct="1">
              <a:lnSpc>
                <a:spcPct val="200000"/>
              </a:lnSpc>
              <a:spcBef>
                <a:spcPct val="0"/>
              </a:spcBef>
              <a:spcAft>
                <a:spcPct val="0"/>
              </a:spcAft>
              <a:buClrTx/>
              <a:buSzTx/>
              <a:buFontTx/>
              <a:buNone/>
              <a:tabLst/>
              <a:defRPr/>
            </a:pP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8782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计算机以像素为单位存储图像。右图是一张</a:t>
            </a:r>
            <a:r>
              <a:rPr lang="en-US" altLang="zh-CN" sz="1200" dirty="0" smtClean="0"/>
              <a:t>24</a:t>
            </a:r>
            <a:r>
              <a:rPr lang="en-US" altLang="zh-CN" sz="1200" b="1" dirty="0" smtClean="0"/>
              <a:t>×</a:t>
            </a:r>
            <a:r>
              <a:rPr lang="en-US" altLang="zh-CN" sz="1200" dirty="0" smtClean="0"/>
              <a:t>16</a:t>
            </a:r>
            <a:r>
              <a:rPr lang="zh-CN" altLang="en-US" sz="1200" dirty="0" smtClean="0"/>
              <a:t>的黑白图像，这意味着该图像高度为</a:t>
            </a:r>
            <a:r>
              <a:rPr lang="en-US" altLang="zh-CN" sz="1200" dirty="0" smtClean="0"/>
              <a:t>24</a:t>
            </a:r>
            <a:r>
              <a:rPr lang="zh-CN" altLang="en-US" sz="1200" dirty="0" smtClean="0"/>
              <a:t>像素，宽度为</a:t>
            </a:r>
            <a:r>
              <a:rPr lang="en-US" altLang="zh-CN" sz="1200" dirty="0" smtClean="0"/>
              <a:t>16</a:t>
            </a:r>
            <a:r>
              <a:rPr lang="zh-CN" altLang="en-US" sz="1200" dirty="0" smtClean="0"/>
              <a:t>像素。计算机用数值来表示每一个像素，这些数值称为像素值，表示像素的强度，范围是</a:t>
            </a:r>
            <a:r>
              <a:rPr lang="en-US" altLang="zh-CN" sz="1200" dirty="0" smtClean="0"/>
              <a:t>0</a:t>
            </a:r>
            <a:r>
              <a:rPr lang="zh-CN" altLang="en-US" sz="1200" dirty="0" smtClean="0"/>
              <a:t>至</a:t>
            </a:r>
            <a:r>
              <a:rPr lang="en-US" altLang="zh-CN" sz="1200" dirty="0" smtClean="0"/>
              <a:t>255</a:t>
            </a:r>
            <a:r>
              <a:rPr lang="zh-CN" altLang="en-US" sz="1200" dirty="0" smtClean="0"/>
              <a:t>。对于单通道的黑白图像，数字越小表示颜色越深，数字越大表示颜色越浅。</a:t>
            </a:r>
            <a:endParaRPr lang="en-US" altLang="zh-CN" sz="1200" dirty="0" smtClean="0"/>
          </a:p>
          <a:p>
            <a:pPr eaLnBrk="1" hangingPunct="1">
              <a:lnSpc>
                <a:spcPct val="200000"/>
              </a:lnSpc>
              <a:spcBef>
                <a:spcPct val="0"/>
              </a:spcBef>
            </a:pPr>
            <a:r>
              <a:rPr lang="zh-CN" altLang="en-US" sz="1200" dirty="0" smtClean="0"/>
              <a:t>而对于彩色图像而言，几乎所有颜色都可以从三种原色（红、绿、蓝）生成，意味着每张彩色图像都由三个通道组合而成</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92840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实现计算机视觉有两大难点：</a:t>
            </a:r>
            <a:endParaRPr lang="en-US" altLang="zh-CN" sz="1200" dirty="0" smtClean="0"/>
          </a:p>
          <a:p>
            <a:pPr eaLnBrk="1" hangingPunct="1">
              <a:lnSpc>
                <a:spcPct val="200000"/>
              </a:lnSpc>
              <a:spcBef>
                <a:spcPct val="0"/>
              </a:spcBef>
            </a:pPr>
            <a:r>
              <a:rPr lang="zh-CN" altLang="en-US" sz="1200" dirty="0" smtClean="0"/>
              <a:t>特征难以提取。同一只猫在不同的角度，不同的光线，不同的动作下。像素差异是非常大的。就算是同一张照片，旋转</a:t>
            </a:r>
            <a:r>
              <a:rPr lang="en-US" altLang="zh-CN" sz="1200" dirty="0" smtClean="0"/>
              <a:t>90</a:t>
            </a:r>
            <a:r>
              <a:rPr lang="zh-CN" altLang="en-US" sz="1200" dirty="0" smtClean="0"/>
              <a:t>度后，其像素差异也非常大！所以图片里的内容相似甚至相同，但是在像素层面，其变化会非常大。这对于特征提取是一大挑战。</a:t>
            </a:r>
            <a:endParaRPr lang="en-US" altLang="zh-CN" sz="1200" dirty="0" smtClean="0"/>
          </a:p>
          <a:p>
            <a:pPr eaLnBrk="1" hangingPunct="1">
              <a:lnSpc>
                <a:spcPct val="200000"/>
              </a:lnSpc>
              <a:spcBef>
                <a:spcPct val="0"/>
              </a:spcBef>
            </a:pPr>
            <a:r>
              <a:rPr lang="zh-CN" altLang="en-US" sz="1200" dirty="0" smtClean="0"/>
              <a:t>需要计算的数据量巨大。目前手机上随便拍一张照片就是百万级别像素，而每个像素又由 </a:t>
            </a:r>
            <a:r>
              <a:rPr lang="en-US" altLang="zh-CN" sz="1200" dirty="0" smtClean="0"/>
              <a:t>RGB 3</a:t>
            </a:r>
            <a:r>
              <a:rPr lang="zh-CN" altLang="en-US" sz="1200" dirty="0" smtClean="0"/>
              <a:t>个通道组成，每张照片包含的数据量可想而知，视频流所包含的数据量就更大了。右图中一个很小的区域可能就包含几万个像素值。</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为了解决上述难点，我们引入深度学习概念中的卷积神经网络，将在下一课时中详细介绍。</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06329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1828800" eaLnBrk="1" hangingPunct="1">
              <a:lnSpc>
                <a:spcPct val="200000"/>
              </a:lnSpc>
              <a:spcBef>
                <a:spcPct val="0"/>
              </a:spcBef>
            </a:pPr>
            <a:r>
              <a:rPr lang="zh-CN" altLang="en-US" sz="1200" dirty="0" smtClean="0">
                <a:latin typeface="微软雅黑" panose="020B0503020204020204" pitchFamily="34" charset="-122"/>
              </a:rPr>
              <a:t>人脸识别是基于人的面部特征进行身份识别的一种生物识别技术，也叫做人像识别、面部识别。</a:t>
            </a:r>
            <a:endParaRPr lang="en-US" altLang="zh-CN" sz="1200" dirty="0" smtClean="0">
              <a:latin typeface="微软雅黑" panose="020B0503020204020204" pitchFamily="34" charset="-122"/>
            </a:endParaRPr>
          </a:p>
          <a:p>
            <a:pPr defTabSz="1828800" eaLnBrk="1" hangingPunct="1">
              <a:lnSpc>
                <a:spcPct val="200000"/>
              </a:lnSpc>
              <a:spcBef>
                <a:spcPct val="0"/>
              </a:spcBef>
            </a:pPr>
            <a:r>
              <a:rPr lang="zh-CN" altLang="en-US" sz="1200" dirty="0" smtClean="0">
                <a:latin typeface="微软雅黑" panose="020B0503020204020204" pitchFamily="34" charset="-122"/>
              </a:rPr>
              <a:t>人脸识别系统主要包括</a:t>
            </a:r>
            <a:r>
              <a:rPr lang="en-US" altLang="zh-CN" sz="1200" dirty="0" smtClean="0">
                <a:latin typeface="微软雅黑" panose="020B0503020204020204" pitchFamily="34" charset="-122"/>
              </a:rPr>
              <a:t>4</a:t>
            </a:r>
            <a:r>
              <a:rPr lang="zh-CN" altLang="en-US" sz="1200" dirty="0" smtClean="0">
                <a:latin typeface="微软雅黑" panose="020B0503020204020204" pitchFamily="34" charset="-122"/>
              </a:rPr>
              <a:t>个部分：</a:t>
            </a:r>
            <a:r>
              <a:rPr lang="zh-CN" altLang="en-US" sz="1200" dirty="0" smtClean="0">
                <a:latin typeface="微软雅黑" panose="020B0503020204020204" pitchFamily="34" charset="-122"/>
                <a:sym typeface="Wingdings 2" panose="05020102010507070707" pitchFamily="18" charset="2"/>
              </a:rPr>
              <a:t>人脸图像采集</a:t>
            </a:r>
            <a:r>
              <a:rPr lang="en-US" altLang="zh-CN" sz="1200" dirty="0" smtClean="0">
                <a:latin typeface="微软雅黑" panose="020B0503020204020204" pitchFamily="34" charset="-122"/>
                <a:sym typeface="Wingdings 2" panose="05020102010507070707" pitchFamily="18" charset="2"/>
              </a:rPr>
              <a:t>/</a:t>
            </a:r>
            <a:r>
              <a:rPr lang="zh-CN" altLang="en-US" sz="1200" dirty="0" smtClean="0">
                <a:latin typeface="微软雅黑" panose="020B0503020204020204" pitchFamily="34" charset="-122"/>
                <a:sym typeface="Wingdings 2" panose="05020102010507070707" pitchFamily="18" charset="2"/>
              </a:rPr>
              <a:t>检测；人脸图像预处理；人脸图像特征提取；身份匹配与识别。其中人脸图像采集</a:t>
            </a:r>
            <a:r>
              <a:rPr lang="en-US" altLang="zh-CN" sz="1200" dirty="0" smtClean="0">
                <a:latin typeface="微软雅黑" panose="020B0503020204020204" pitchFamily="34" charset="-122"/>
                <a:sym typeface="Wingdings 2" panose="05020102010507070707" pitchFamily="18" charset="2"/>
              </a:rPr>
              <a:t>/</a:t>
            </a:r>
            <a:r>
              <a:rPr lang="zh-CN" altLang="en-US" sz="1200" dirty="0" smtClean="0">
                <a:latin typeface="微软雅黑" panose="020B0503020204020204" pitchFamily="34" charset="-122"/>
                <a:sym typeface="Wingdings 2" panose="05020102010507070707" pitchFamily="18" charset="2"/>
              </a:rPr>
              <a:t>检测是进行后续识别的基础。如右图所示，通过检测框把后续算法的处理区域从整个图像限制到人脸区域。</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27921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latin typeface="微软雅黑" panose="020B0503020204020204" pitchFamily="34" charset="-122"/>
                <a:sym typeface="Wingdings 2" panose="05020102010507070707" pitchFamily="18" charset="2"/>
              </a:rPr>
              <a:t>人脸识别技术通常结合红外摄像头，能够辩别真人与照片，根据</a:t>
            </a:r>
            <a:r>
              <a:rPr lang="zh-CN" altLang="en-US" dirty="0" smtClean="0"/>
              <a:t>人脸部位的热成像温度检测体温。</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近年来人脸识别技术已经取得长足发展，通过人脸识别摄像头广泛应用于公安、交通、支付等多个实际场景。</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26307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智慧交通是目标检测的一个重要应用领域，主要包括以下场景：</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2425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交通流量监控与红绿灯配时控制：对道路相机采集的视频图像进行分析，根据相应路段车流量调整红绿灯配时策略，提升交通通行能力。</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90223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异常事件检测：检测各种交通异常事件，包括非机动车驶入机动车道，车辆占用应急车道以及危险品运输车辆异常驾驶行为等。</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68718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交通违法事件检测与追踪：发现套牌车辆、收费站逃费现象，对肇事车辆全程轨迹追踪，极大提升交管部门的监管能力。</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3685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自动驾驶：当今热门的研究领域，主要包含对道路、车辆以及行人的检测，对交通标志物及路旁物体检测识别等。主流的人工智能公司都投入大量资源进行研发，目前已经初步实现受限路况下的自动驾驶，但距离实现复杂路况天气下的自动驾驶尚有很大一段距离。</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73400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1828800" eaLnBrk="1" hangingPunct="1">
              <a:lnSpc>
                <a:spcPct val="200000"/>
              </a:lnSpc>
              <a:spcBef>
                <a:spcPct val="0"/>
              </a:spcBef>
            </a:pPr>
            <a:r>
              <a:rPr lang="zh-CN" altLang="en-US" sz="1200" dirty="0" smtClean="0">
                <a:latin typeface="微软雅黑" panose="020B0503020204020204" pitchFamily="34" charset="-122"/>
                <a:sym typeface="Wingdings 2" panose="05020102010507070707" pitchFamily="18" charset="2"/>
              </a:rPr>
              <a:t>工业检测是计算机视觉的另一个重要应用领域，在各个行业均有极为广泛的应用。在产品生产的过程中，由于原料、制造业工艺、环境等因素的影响，产品可能产生各种各样的问题。</a:t>
            </a:r>
            <a:endParaRPr lang="en-US" altLang="zh-CN" sz="1200" dirty="0" smtClean="0">
              <a:latin typeface="微软雅黑" panose="020B0503020204020204" pitchFamily="34" charset="-122"/>
              <a:sym typeface="Wingdings 2" panose="05020102010507070707" pitchFamily="18" charset="2"/>
            </a:endParaRPr>
          </a:p>
          <a:p>
            <a:pPr defTabSz="1828800" eaLnBrk="1" hangingPunct="1">
              <a:lnSpc>
                <a:spcPct val="200000"/>
              </a:lnSpc>
              <a:spcBef>
                <a:spcPct val="0"/>
              </a:spcBef>
            </a:pPr>
            <a:r>
              <a:rPr lang="zh-CN" altLang="en-US" sz="1200" dirty="0" smtClean="0">
                <a:latin typeface="微软雅黑" panose="020B0503020204020204" pitchFamily="34" charset="-122"/>
                <a:sym typeface="Wingdings 2" panose="05020102010507070707" pitchFamily="18" charset="2"/>
              </a:rPr>
              <a:t>相当一部分产品问题是由于产品外观缺陷导致产品功能缺失。在传统生产流程中，外观缺陷大多采用人工检测的方式进行识别，不仅消耗人力成本也无法保障检测效果。右图是电路板内层芯板断路示意图，可以明显看出图中铜导线有一个断开的部分。工业检测就是利用计算机视觉技术中的目标检测算法，把产品在生产过程中出现的裂纹、形变、部件丢失等外观缺陷检测出来，达到提升产品质量稳定性，提高生产效率的目的。</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03309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传统算法阶段，检测器完全依靠人工设计特征。人们使用了非常多的技巧，目的在于让检测器获取更强的表达能力，同时尽可能地降低对计算资源的消耗。</a:t>
            </a:r>
            <a:endParaRPr lang="en-US" altLang="zh-CN" sz="1200" dirty="0" smtClean="0"/>
          </a:p>
          <a:p>
            <a:pPr eaLnBrk="1" hangingPunct="1">
              <a:lnSpc>
                <a:spcPct val="200000"/>
              </a:lnSpc>
              <a:spcBef>
                <a:spcPct val="0"/>
              </a:spcBef>
            </a:pPr>
            <a:r>
              <a:rPr lang="zh-CN" altLang="en-US" sz="1200" dirty="0" smtClean="0"/>
              <a:t>当人工目标检测器于</a:t>
            </a:r>
            <a:r>
              <a:rPr lang="en-US" altLang="zh-CN" sz="1200" dirty="0" smtClean="0"/>
              <a:t>2010</a:t>
            </a:r>
            <a:r>
              <a:rPr lang="zh-CN" altLang="en-US" sz="1200" dirty="0" smtClean="0"/>
              <a:t>年达到瓶颈后，目标检测算法的优化陷入了停滞。直到</a:t>
            </a:r>
            <a:r>
              <a:rPr lang="en-US" altLang="zh-CN" sz="1200" dirty="0" smtClean="0"/>
              <a:t>2012</a:t>
            </a:r>
            <a:r>
              <a:rPr lang="zh-CN" altLang="en-US" sz="1200" dirty="0" smtClean="0"/>
              <a:t>年，基于卷积神经网络（</a:t>
            </a:r>
            <a:r>
              <a:rPr lang="en-US" altLang="zh-CN" sz="1200" dirty="0" smtClean="0"/>
              <a:t>CNN</a:t>
            </a:r>
            <a:r>
              <a:rPr lang="zh-CN" altLang="en-US" sz="1200" dirty="0" smtClean="0"/>
              <a:t>）的特征在图像分类任务中取得巨大的进展，并于</a:t>
            </a:r>
            <a:r>
              <a:rPr lang="en-US" altLang="zh-CN" sz="1200" dirty="0" smtClean="0"/>
              <a:t>2014</a:t>
            </a:r>
            <a:r>
              <a:rPr lang="zh-CN" altLang="en-US" sz="1200" dirty="0" smtClean="0"/>
              <a:t>年应用到了目标检测场景中，此后，目标检测算法有了飞速的发展。</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18337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spcBef>
                <a:spcPct val="0"/>
              </a:spcBef>
            </a:pPr>
            <a:r>
              <a:rPr lang="en-US" altLang="zh-CN" dirty="0" smtClean="0"/>
              <a:t>Viola Jones</a:t>
            </a:r>
            <a:r>
              <a:rPr lang="zh-CN" altLang="en-US" dirty="0" smtClean="0"/>
              <a:t>检测器是</a:t>
            </a:r>
            <a:r>
              <a:rPr lang="en-US" altLang="zh-CN" dirty="0" smtClean="0"/>
              <a:t>P. Viola</a:t>
            </a:r>
            <a:r>
              <a:rPr lang="zh-CN" altLang="en-US" dirty="0" smtClean="0"/>
              <a:t>和</a:t>
            </a:r>
            <a:r>
              <a:rPr lang="en-US" altLang="zh-CN" dirty="0" smtClean="0"/>
              <a:t>M. Jones</a:t>
            </a:r>
            <a:r>
              <a:rPr lang="zh-CN" altLang="en-US" dirty="0" smtClean="0"/>
              <a:t>针对人脸检测场景提出的。在同等的算法精度下，该检测器比同时期的其他算法有几十到上百倍的速度提升。</a:t>
            </a:r>
            <a:endParaRPr lang="en-US" altLang="zh-CN" dirty="0" smtClean="0"/>
          </a:p>
          <a:p>
            <a:pPr>
              <a:lnSpc>
                <a:spcPct val="200000"/>
              </a:lnSpc>
              <a:spcBef>
                <a:spcPct val="0"/>
              </a:spcBef>
            </a:pPr>
            <a:r>
              <a:rPr lang="en-US" altLang="zh-CN" dirty="0" smtClean="0"/>
              <a:t>Viola Jones</a:t>
            </a:r>
            <a:r>
              <a:rPr lang="zh-CN" altLang="en-US" dirty="0" smtClean="0"/>
              <a:t>检测器采用最直接的滑动窗口方法，检测框遍历图像上所有尺度与位置，查看检测框是否包含人脸目标。这种滑动窗口看似简单，却需要耗费非常多的计算时间。该检测器优势在于使用了积分图像、特征筛选、级联检测的策略，使算法速度有巨大提升。</a:t>
            </a:r>
            <a:endParaRPr lang="en-US" altLang="zh-CN" dirty="0" smtClean="0"/>
          </a:p>
          <a:p>
            <a:pPr>
              <a:lnSpc>
                <a:spcPct val="200000"/>
              </a:lnSpc>
              <a:spcBef>
                <a:spcPct val="0"/>
              </a:spcBef>
            </a:pPr>
            <a:r>
              <a:rPr lang="zh-CN" altLang="en-US" dirty="0" smtClean="0"/>
              <a:t>该检测器通过积分图像的技巧大幅减少特征的重复计算；基于</a:t>
            </a:r>
            <a:r>
              <a:rPr lang="en-US" altLang="zh-CN" dirty="0" err="1" smtClean="0"/>
              <a:t>Adaboost</a:t>
            </a:r>
            <a:r>
              <a:rPr lang="zh-CN" altLang="en-US" dirty="0" smtClean="0"/>
              <a:t>方法从大量特征中筛选出若干适合检测任务的特征；使用检测步骤级联的方式，更聚焦与目标的确认，避免在背景区域耗费过多的计算资源。</a:t>
            </a:r>
            <a:endParaRPr lang="en-US" altLang="zh-CN" dirty="0" smtClean="0"/>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99412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HOG (Histogram of Oriented Gradients, </a:t>
            </a:r>
            <a:r>
              <a:rPr lang="zh-CN" altLang="en-US" sz="1200" dirty="0" smtClean="0"/>
              <a:t>梯度方向直方图</a:t>
            </a:r>
            <a:r>
              <a:rPr lang="en-US" altLang="zh-CN" sz="1200" dirty="0" smtClean="0"/>
              <a:t>) </a:t>
            </a:r>
            <a:r>
              <a:rPr lang="zh-CN" altLang="en-US" sz="1200" dirty="0" smtClean="0"/>
              <a:t>特征是一种重要的尺度不变特征，由</a:t>
            </a:r>
            <a:r>
              <a:rPr lang="en-US" altLang="zh-CN" sz="1200" dirty="0" smtClean="0"/>
              <a:t>N. </a:t>
            </a:r>
            <a:r>
              <a:rPr lang="en-US" altLang="zh-CN" sz="1200" dirty="0" err="1" smtClean="0"/>
              <a:t>Dalal</a:t>
            </a:r>
            <a:r>
              <a:rPr lang="zh-CN" altLang="en-US" sz="1200" dirty="0" smtClean="0"/>
              <a:t>和</a:t>
            </a:r>
            <a:r>
              <a:rPr lang="en-US" altLang="zh-CN" sz="1200" dirty="0" smtClean="0"/>
              <a:t>B. </a:t>
            </a:r>
            <a:r>
              <a:rPr lang="en-US" altLang="zh-CN" sz="1200" dirty="0" err="1" smtClean="0"/>
              <a:t>Triggs</a:t>
            </a:r>
            <a:r>
              <a:rPr lang="en-US" altLang="zh-CN" sz="1200" dirty="0" smtClean="0"/>
              <a:t> </a:t>
            </a:r>
            <a:r>
              <a:rPr lang="zh-CN" altLang="en-US" sz="1200" dirty="0" smtClean="0"/>
              <a:t>于</a:t>
            </a:r>
            <a:r>
              <a:rPr lang="en-US" altLang="zh-CN" sz="1200" dirty="0" smtClean="0"/>
              <a:t>2005</a:t>
            </a:r>
            <a:r>
              <a:rPr lang="zh-CN" altLang="en-US" sz="1200" dirty="0" smtClean="0"/>
              <a:t>年提出。</a:t>
            </a:r>
            <a:endParaRPr lang="en-US" altLang="zh-CN" sz="1200" dirty="0" smtClean="0"/>
          </a:p>
          <a:p>
            <a:pPr eaLnBrk="1" hangingPunct="1">
              <a:lnSpc>
                <a:spcPct val="200000"/>
              </a:lnSpc>
              <a:spcBef>
                <a:spcPct val="0"/>
              </a:spcBef>
            </a:pPr>
            <a:r>
              <a:rPr lang="en-US" altLang="zh-CN" sz="1200" dirty="0" smtClean="0"/>
              <a:t>HOG</a:t>
            </a:r>
            <a:r>
              <a:rPr lang="zh-CN" altLang="en-US" sz="1200" dirty="0" smtClean="0"/>
              <a:t>检测器的核心思想是用规则的网格将图像划分成大小相同的子块，在每一个子块中计算梯度方向直方图。通过这种方式，可以大大消除尺度变化和光照的影响。在相当长的时间里，</a:t>
            </a:r>
            <a:r>
              <a:rPr lang="en-US" altLang="zh-CN" sz="1200" dirty="0" smtClean="0"/>
              <a:t>HOG</a:t>
            </a:r>
            <a:r>
              <a:rPr lang="zh-CN" altLang="en-US" sz="1200" dirty="0" smtClean="0"/>
              <a:t>都是处理检测问题的一种重要特征，尤其是在行人检测场景，</a:t>
            </a:r>
            <a:r>
              <a:rPr lang="en-US" altLang="zh-CN" sz="1200" dirty="0" smtClean="0"/>
              <a:t>HOG</a:t>
            </a:r>
            <a:r>
              <a:rPr lang="zh-CN" altLang="en-US" sz="1200" dirty="0" smtClean="0"/>
              <a:t>有着极为重要的应用。</a:t>
            </a:r>
            <a:endParaRPr lang="en-US" altLang="zh-CN" sz="1200" dirty="0" smtClean="0"/>
          </a:p>
          <a:p>
            <a:pPr eaLnBrk="1" hangingPunct="1">
              <a:lnSpc>
                <a:spcPct val="200000"/>
              </a:lnSpc>
              <a:spcBef>
                <a:spcPct val="0"/>
              </a:spcBef>
            </a:pPr>
            <a:r>
              <a:rPr lang="zh-CN" altLang="en-US" sz="1200" dirty="0" smtClean="0"/>
              <a:t>右图是</a:t>
            </a:r>
            <a:r>
              <a:rPr lang="en-US" altLang="zh-CN" sz="1200" dirty="0" smtClean="0"/>
              <a:t>HOG</a:t>
            </a:r>
            <a:r>
              <a:rPr lang="zh-CN" altLang="en-US" sz="1200" dirty="0" smtClean="0"/>
              <a:t>划分子块的演示，黑色框代表单元格，每种不同颜色的框代表一个子块，每个子块包含</a:t>
            </a:r>
            <a:r>
              <a:rPr lang="en-US" altLang="zh-CN" sz="1200" dirty="0" smtClean="0"/>
              <a:t>4</a:t>
            </a:r>
            <a:r>
              <a:rPr lang="zh-CN" altLang="en-US" sz="1200" dirty="0" smtClean="0"/>
              <a:t>个单元格。</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38167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DPM (Deformable Part Model, </a:t>
            </a:r>
            <a:r>
              <a:rPr lang="zh-CN" altLang="en-US" sz="1200" dirty="0" smtClean="0"/>
              <a:t>可变形组件模型</a:t>
            </a:r>
            <a:r>
              <a:rPr lang="en-US" altLang="zh-CN" sz="1200" dirty="0" smtClean="0"/>
              <a:t>) </a:t>
            </a:r>
            <a:r>
              <a:rPr lang="zh-CN" altLang="en-US" sz="1200" dirty="0" smtClean="0"/>
              <a:t>是一种基于组件的检测算法，由</a:t>
            </a:r>
            <a:r>
              <a:rPr lang="en-US" altLang="zh-CN" sz="1200" dirty="0" smtClean="0"/>
              <a:t>P. </a:t>
            </a:r>
            <a:r>
              <a:rPr lang="en-US" altLang="zh-CN" sz="1200" dirty="0" err="1" smtClean="0"/>
              <a:t>Felzenszwalb</a:t>
            </a:r>
            <a:r>
              <a:rPr lang="zh-CN" altLang="en-US" sz="1200" dirty="0" smtClean="0"/>
              <a:t>于</a:t>
            </a:r>
            <a:r>
              <a:rPr lang="en-US" altLang="zh-CN" sz="1200" dirty="0" smtClean="0"/>
              <a:t>2008</a:t>
            </a:r>
            <a:r>
              <a:rPr lang="zh-CN" altLang="en-US" sz="1200" dirty="0" smtClean="0"/>
              <a:t>年提出，后来</a:t>
            </a:r>
            <a:r>
              <a:rPr lang="en-US" altLang="zh-CN" sz="1200" dirty="0" smtClean="0"/>
              <a:t>R. </a:t>
            </a:r>
            <a:r>
              <a:rPr lang="en-US" altLang="zh-CN" sz="1200" dirty="0" err="1" smtClean="0"/>
              <a:t>Girshick</a:t>
            </a:r>
            <a:r>
              <a:rPr lang="zh-CN" altLang="en-US" sz="1200" dirty="0" smtClean="0"/>
              <a:t>对其进行了多项重要改进。</a:t>
            </a:r>
            <a:endParaRPr lang="en-US" altLang="zh-CN" sz="1200" dirty="0" smtClean="0"/>
          </a:p>
          <a:p>
            <a:pPr eaLnBrk="1" hangingPunct="1">
              <a:lnSpc>
                <a:spcPct val="200000"/>
              </a:lnSpc>
              <a:spcBef>
                <a:spcPct val="0"/>
              </a:spcBef>
            </a:pPr>
            <a:r>
              <a:rPr lang="en-US" altLang="zh-CN" sz="1200" dirty="0" smtClean="0"/>
              <a:t>DPM</a:t>
            </a:r>
            <a:r>
              <a:rPr lang="zh-CN" altLang="en-US" sz="1200" dirty="0" smtClean="0"/>
              <a:t>在特征层面对经典的</a:t>
            </a:r>
            <a:r>
              <a:rPr lang="en-US" altLang="zh-CN" sz="1200" dirty="0" smtClean="0"/>
              <a:t>HOG</a:t>
            </a:r>
            <a:r>
              <a:rPr lang="zh-CN" altLang="en-US" sz="1200" dirty="0" smtClean="0"/>
              <a:t>特征进行扩展，也使用了滑动窗口的方法，基于</a:t>
            </a:r>
            <a:r>
              <a:rPr lang="en-US" altLang="zh-CN" sz="1200" dirty="0" smtClean="0"/>
              <a:t>SVM</a:t>
            </a:r>
            <a:r>
              <a:rPr lang="zh-CN" altLang="en-US" sz="1200" dirty="0" smtClean="0"/>
              <a:t>进行分类，其核心思想是将待检测目标拆分成一系列部件，把检测一个复杂目标的问题转换成检测多个简单部件的问题。</a:t>
            </a:r>
            <a:endParaRPr lang="en-US" altLang="zh-CN" sz="1200" dirty="0" smtClean="0"/>
          </a:p>
          <a:p>
            <a:pPr eaLnBrk="1" hangingPunct="1">
              <a:lnSpc>
                <a:spcPct val="200000"/>
              </a:lnSpc>
              <a:spcBef>
                <a:spcPct val="0"/>
              </a:spcBef>
            </a:pPr>
            <a:r>
              <a:rPr lang="zh-CN" altLang="en-US" sz="1200" dirty="0" smtClean="0"/>
              <a:t>虽然如今检测算法的性能已经远超</a:t>
            </a:r>
            <a:r>
              <a:rPr lang="en-US" altLang="zh-CN" sz="1200" dirty="0" smtClean="0"/>
              <a:t>DPM</a:t>
            </a:r>
            <a:r>
              <a:rPr lang="zh-CN" altLang="en-US" sz="1200" dirty="0" smtClean="0"/>
              <a:t>，但</a:t>
            </a:r>
            <a:r>
              <a:rPr lang="en-US" altLang="zh-CN" sz="1200" dirty="0" smtClean="0"/>
              <a:t>DPM</a:t>
            </a:r>
            <a:r>
              <a:rPr lang="zh-CN" altLang="en-US" sz="1200" dirty="0" smtClean="0"/>
              <a:t>采用的问题拆分思想对后续检测算法的发展起到了深远的影响，现在很多检测问题都基于这一思想设计解决方案。</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36571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从算法处理的流程划分，基于深度学习的目标检测算法可分为两阶段</a:t>
            </a:r>
            <a:r>
              <a:rPr lang="en-US" altLang="zh-CN" sz="1200" dirty="0" smtClean="0"/>
              <a:t> (Two-Stage) </a:t>
            </a:r>
            <a:r>
              <a:rPr lang="zh-CN" altLang="en-US" sz="1200" dirty="0" smtClean="0"/>
              <a:t>算法和一阶段 </a:t>
            </a:r>
            <a:r>
              <a:rPr lang="en-US" altLang="zh-CN" sz="1200" dirty="0" smtClean="0"/>
              <a:t>(One-Stage) </a:t>
            </a:r>
            <a:r>
              <a:rPr lang="zh-CN" altLang="en-US" sz="1200" dirty="0" smtClean="0"/>
              <a:t>算法。</a:t>
            </a:r>
            <a:endParaRPr lang="en-US" altLang="zh-CN" sz="1200" dirty="0" smtClean="0"/>
          </a:p>
          <a:p>
            <a:pPr eaLnBrk="1" hangingPunct="1">
              <a:lnSpc>
                <a:spcPct val="200000"/>
              </a:lnSpc>
              <a:spcBef>
                <a:spcPct val="0"/>
              </a:spcBef>
            </a:pPr>
            <a:r>
              <a:rPr lang="zh-CN" altLang="en-US" sz="1200" dirty="0" smtClean="0"/>
              <a:t>两阶段算法需要先进行候选框的筛选，然后判断候选框是否框中了待检测目标，并对目标的位置进行修正。</a:t>
            </a:r>
            <a:endParaRPr lang="en-US" altLang="zh-CN" sz="1200" dirty="0" smtClean="0"/>
          </a:p>
          <a:p>
            <a:pPr eaLnBrk="1" hangingPunct="1">
              <a:lnSpc>
                <a:spcPct val="200000"/>
              </a:lnSpc>
              <a:spcBef>
                <a:spcPct val="0"/>
              </a:spcBef>
            </a:pPr>
            <a:r>
              <a:rPr lang="zh-CN" altLang="en-US" sz="1200" dirty="0" smtClean="0"/>
              <a:t>一阶段算法没有筛选候选框的过程，而是直接回归目标框的位置坐标和目标的分类概率。</a:t>
            </a:r>
            <a:endParaRPr lang="en-US" altLang="zh-CN" sz="1200" dirty="0" smtClean="0"/>
          </a:p>
          <a:p>
            <a:pPr eaLnBrk="1" hangingPunct="1">
              <a:lnSpc>
                <a:spcPct val="200000"/>
              </a:lnSpc>
              <a:spcBef>
                <a:spcPct val="0"/>
              </a:spcBef>
            </a:pPr>
            <a:r>
              <a:rPr lang="zh-CN" altLang="en-US" sz="1200" dirty="0" smtClean="0"/>
              <a:t>通常来说，两阶段算法需要多次运行检测和分类流程，检测精度较高，但检测速度较慢。一阶段算法直接对图像进行计算，检测速度快但检测精度低。因此在目标检测中需要不断地改进与优化主流目标检测算法，以实现检测精度和检测速度的最佳平衡。</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3784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2014</a:t>
            </a:r>
            <a:r>
              <a:rPr lang="zh-CN" altLang="en-US" sz="1200" dirty="0" smtClean="0"/>
              <a:t>年，</a:t>
            </a:r>
            <a:r>
              <a:rPr lang="en-US" altLang="zh-CN" sz="1200" dirty="0" smtClean="0"/>
              <a:t>R. </a:t>
            </a:r>
            <a:r>
              <a:rPr lang="en-US" altLang="zh-CN" sz="1200" dirty="0" err="1" smtClean="0"/>
              <a:t>Girshick</a:t>
            </a:r>
            <a:r>
              <a:rPr lang="zh-CN" altLang="en-US" sz="1200" dirty="0" smtClean="0"/>
              <a:t>等人提出了</a:t>
            </a:r>
            <a:r>
              <a:rPr lang="en-US" altLang="zh-CN" sz="1200" dirty="0" smtClean="0"/>
              <a:t>R-CNN (Region-Convolutional Neural Networks, </a:t>
            </a:r>
            <a:r>
              <a:rPr lang="zh-CN" altLang="en-US" sz="1200" dirty="0" smtClean="0"/>
              <a:t>区域卷积神经网络</a:t>
            </a:r>
            <a:r>
              <a:rPr lang="en-US" altLang="zh-CN" sz="1200" dirty="0" smtClean="0"/>
              <a:t>)</a:t>
            </a:r>
            <a:r>
              <a:rPr lang="zh-CN" altLang="en-US" sz="1200" dirty="0" smtClean="0"/>
              <a:t>算法。该算法思路非常简单，首先基于</a:t>
            </a:r>
            <a:r>
              <a:rPr lang="en-US" altLang="zh-CN" sz="1200" dirty="0" smtClean="0"/>
              <a:t>Selective Search</a:t>
            </a:r>
            <a:r>
              <a:rPr lang="zh-CN" altLang="en-US" sz="1200" dirty="0" smtClean="0"/>
              <a:t>方法从原始图像中筛选出若干候选框，然后将每个候选框中的图像缩放到固定尺度送入卷积网络提取特征，最后通过支持向量机 </a:t>
            </a:r>
            <a:r>
              <a:rPr lang="en-US" altLang="zh-CN" sz="1200" dirty="0" smtClean="0"/>
              <a:t>(SVM) </a:t>
            </a:r>
            <a:r>
              <a:rPr lang="zh-CN" altLang="en-US" sz="1200" dirty="0" smtClean="0"/>
              <a:t>方法对特征进行分类，判断候选框中的图像是背景还是我们关注的目标类型。在</a:t>
            </a:r>
            <a:r>
              <a:rPr lang="en-US" altLang="zh-CN" sz="1200" dirty="0" smtClean="0"/>
              <a:t>VOC2007</a:t>
            </a:r>
            <a:r>
              <a:rPr lang="zh-CN" altLang="en-US" sz="1200" dirty="0" smtClean="0"/>
              <a:t>公开数据集上，</a:t>
            </a:r>
            <a:r>
              <a:rPr lang="en-US" altLang="zh-CN" sz="1200" dirty="0" smtClean="0"/>
              <a:t>R-CNN</a:t>
            </a:r>
            <a:r>
              <a:rPr lang="zh-CN" altLang="en-US" sz="1200" dirty="0" smtClean="0"/>
              <a:t>算法相比之前的检测算法在性能上有了显著提升（从</a:t>
            </a:r>
            <a:r>
              <a:rPr lang="en-US" altLang="zh-CN" sz="1200" dirty="0" smtClean="0"/>
              <a:t>33.7%</a:t>
            </a:r>
            <a:r>
              <a:rPr lang="zh-CN" altLang="en-US" sz="1200" dirty="0" smtClean="0"/>
              <a:t>提升至</a:t>
            </a:r>
            <a:r>
              <a:rPr lang="en-US" altLang="zh-CN" sz="1200" dirty="0" smtClean="0"/>
              <a:t>58.5%</a:t>
            </a:r>
            <a:r>
              <a:rPr lang="zh-CN" altLang="en-US" sz="1200" dirty="0" smtClean="0"/>
              <a:t>）。</a:t>
            </a:r>
            <a:endParaRPr lang="en-US" altLang="zh-CN" sz="1200" dirty="0" smtClean="0"/>
          </a:p>
          <a:p>
            <a:pPr eaLnBrk="1" hangingPunct="1">
              <a:lnSpc>
                <a:spcPct val="200000"/>
              </a:lnSpc>
              <a:spcBef>
                <a:spcPct val="0"/>
              </a:spcBef>
            </a:pPr>
            <a:r>
              <a:rPr lang="zh-CN" altLang="en-US" sz="1200" dirty="0" smtClean="0"/>
              <a:t>虽然</a:t>
            </a:r>
            <a:r>
              <a:rPr lang="en-US" altLang="zh-CN" sz="1200" dirty="0" smtClean="0"/>
              <a:t>R-CNN</a:t>
            </a:r>
            <a:r>
              <a:rPr lang="zh-CN" altLang="en-US" sz="1200" dirty="0" smtClean="0"/>
              <a:t>在算法性能上取得巨大进展，但由于需要分别从</a:t>
            </a:r>
            <a:r>
              <a:rPr lang="en-US" altLang="zh-CN" sz="1200" dirty="0" smtClean="0"/>
              <a:t>2000</a:t>
            </a:r>
            <a:r>
              <a:rPr lang="zh-CN" altLang="en-US" sz="1200" dirty="0" smtClean="0"/>
              <a:t>多个候选框中提取特征，算法效率非常低，后续各种算法正是为了解决这一问题而提出的一系列改进方案。</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72591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2014</a:t>
            </a:r>
            <a:r>
              <a:rPr lang="zh-CN" altLang="en-US" sz="1200" dirty="0" smtClean="0"/>
              <a:t>年，何恺明等人提出了</a:t>
            </a:r>
            <a:r>
              <a:rPr lang="en-US" altLang="zh-CN" sz="1200" dirty="0" smtClean="0"/>
              <a:t>SPP-Net (Spatial Pyramid Pooling Networks, </a:t>
            </a:r>
            <a:r>
              <a:rPr lang="zh-CN" altLang="en-US" sz="1200" dirty="0" smtClean="0"/>
              <a:t>空间金字塔池化网络</a:t>
            </a:r>
            <a:r>
              <a:rPr lang="en-US" altLang="zh-CN" sz="1200" dirty="0" smtClean="0"/>
              <a:t>) </a:t>
            </a:r>
            <a:r>
              <a:rPr lang="zh-CN" altLang="en-US" sz="1200" dirty="0" smtClean="0"/>
              <a:t>算法。</a:t>
            </a:r>
            <a:r>
              <a:rPr lang="en-US" altLang="zh-CN" sz="1200" dirty="0" smtClean="0"/>
              <a:t>R-CNN</a:t>
            </a:r>
            <a:r>
              <a:rPr lang="zh-CN" altLang="en-US" sz="1200" dirty="0" smtClean="0"/>
              <a:t>算法要求输入卷积网络用来提取特征的子图像尺寸固定，而</a:t>
            </a:r>
            <a:r>
              <a:rPr lang="en-US" altLang="zh-CN" sz="1200" dirty="0" smtClean="0"/>
              <a:t>SPP-Net</a:t>
            </a:r>
            <a:r>
              <a:rPr lang="zh-CN" altLang="en-US" sz="1200" dirty="0" smtClean="0"/>
              <a:t>算法则去掉了这一限制。</a:t>
            </a:r>
            <a:endParaRPr lang="en-US" altLang="zh-CN" sz="1200" dirty="0" smtClean="0"/>
          </a:p>
          <a:p>
            <a:pPr eaLnBrk="1" hangingPunct="1">
              <a:lnSpc>
                <a:spcPct val="200000"/>
              </a:lnSpc>
              <a:spcBef>
                <a:spcPct val="0"/>
              </a:spcBef>
            </a:pPr>
            <a:r>
              <a:rPr lang="en-US" altLang="zh-CN" sz="1200" dirty="0" smtClean="0"/>
              <a:t>SPP-Net</a:t>
            </a:r>
            <a:r>
              <a:rPr lang="zh-CN" altLang="en-US" sz="1200" dirty="0" smtClean="0"/>
              <a:t>算法基于一个空间金字塔池化层</a:t>
            </a:r>
            <a:r>
              <a:rPr lang="en-US" altLang="zh-CN" sz="1200" dirty="0" smtClean="0"/>
              <a:t> (SPP layer) </a:t>
            </a:r>
            <a:r>
              <a:rPr lang="zh-CN" altLang="en-US" sz="1200" dirty="0" smtClean="0"/>
              <a:t>，无论输入子图像大小如何，都会将子图像采样成固定大小的图像。使用</a:t>
            </a:r>
            <a:r>
              <a:rPr lang="en-US" altLang="zh-CN" sz="1200" dirty="0" smtClean="0"/>
              <a:t>SPP-Net</a:t>
            </a:r>
            <a:r>
              <a:rPr lang="zh-CN" altLang="en-US" sz="1200" dirty="0" smtClean="0"/>
              <a:t>进行检测的过程中，对原始图像只需要进行一次卷积网络的计算。在得到整幅图像的特征图后，通过空间金字塔池化层将每个候选框区域</a:t>
            </a:r>
            <a:r>
              <a:rPr lang="en-US" altLang="zh-CN" sz="1200" dirty="0" smtClean="0"/>
              <a:t> (ROI) </a:t>
            </a:r>
            <a:r>
              <a:rPr lang="zh-CN" altLang="en-US" sz="1200" dirty="0" smtClean="0"/>
              <a:t>都分别采样成相同尺寸的子图像，将相同尺寸的各个子图像送入后续的网络中进行特征提取，从而保证提取的特征具有相同的维数。</a:t>
            </a:r>
            <a:r>
              <a:rPr lang="en-US" altLang="zh-CN" sz="1200" dirty="0" smtClean="0"/>
              <a:t>SPP-Net</a:t>
            </a:r>
            <a:r>
              <a:rPr lang="zh-CN" altLang="en-US" sz="1200" dirty="0" smtClean="0"/>
              <a:t>与</a:t>
            </a:r>
            <a:r>
              <a:rPr lang="en-US" altLang="zh-CN" sz="1200" dirty="0" smtClean="0"/>
              <a:t>R-CNN</a:t>
            </a:r>
            <a:r>
              <a:rPr lang="zh-CN" altLang="en-US" sz="1200" dirty="0" smtClean="0"/>
              <a:t>相比，由于不需要多次卷积网络计算，在算法精度不变的情况下，算法速度有了几十倍的提升。</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60990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R. </a:t>
            </a:r>
            <a:r>
              <a:rPr lang="en-US" altLang="zh-CN" sz="1200" dirty="0" err="1" smtClean="0"/>
              <a:t>Girshick</a:t>
            </a:r>
            <a:r>
              <a:rPr lang="zh-CN" altLang="en-US" sz="1200" dirty="0" smtClean="0"/>
              <a:t>等人提出了</a:t>
            </a:r>
            <a:r>
              <a:rPr lang="en-US" altLang="zh-CN" sz="1200" dirty="0" smtClean="0"/>
              <a:t>Fast R-CNN</a:t>
            </a:r>
            <a:r>
              <a:rPr lang="zh-CN" altLang="en-US" sz="1200" dirty="0" smtClean="0"/>
              <a:t>算法，其本质是在</a:t>
            </a:r>
            <a:r>
              <a:rPr lang="en-US" altLang="zh-CN" sz="1200" dirty="0" smtClean="0"/>
              <a:t>R-CNN</a:t>
            </a:r>
            <a:r>
              <a:rPr lang="zh-CN" altLang="en-US" sz="1200" dirty="0" smtClean="0"/>
              <a:t>和</a:t>
            </a:r>
            <a:r>
              <a:rPr lang="en-US" altLang="zh-CN" sz="1200" dirty="0" smtClean="0"/>
              <a:t>SPP-Net</a:t>
            </a:r>
            <a:r>
              <a:rPr lang="zh-CN" altLang="en-US" sz="1200" dirty="0" smtClean="0"/>
              <a:t>的基础上进行了进一步改进。</a:t>
            </a:r>
            <a:endParaRPr lang="en-US" altLang="zh-CN" sz="1200" dirty="0" smtClean="0"/>
          </a:p>
          <a:p>
            <a:pPr eaLnBrk="1" hangingPunct="1">
              <a:lnSpc>
                <a:spcPct val="200000"/>
              </a:lnSpc>
              <a:spcBef>
                <a:spcPct val="0"/>
              </a:spcBef>
            </a:pPr>
            <a:r>
              <a:rPr lang="en-US" altLang="zh-CN" sz="1200" dirty="0" smtClean="0"/>
              <a:t>Fast R-CNN</a:t>
            </a:r>
            <a:r>
              <a:rPr lang="zh-CN" altLang="en-US" sz="1200" dirty="0" smtClean="0"/>
              <a:t>可以在网络里同时预测目标的分类概率和位置偏移。在</a:t>
            </a:r>
            <a:r>
              <a:rPr lang="en-US" altLang="zh-CN" sz="1200" dirty="0" smtClean="0"/>
              <a:t>VOC2007</a:t>
            </a:r>
            <a:r>
              <a:rPr lang="zh-CN" altLang="en-US" sz="1200" dirty="0" smtClean="0"/>
              <a:t>公开数据集上，</a:t>
            </a:r>
            <a:r>
              <a:rPr lang="en-US" altLang="zh-CN" sz="1200" dirty="0" smtClean="0"/>
              <a:t>Fast R-CNN</a:t>
            </a:r>
            <a:r>
              <a:rPr lang="zh-CN" altLang="en-US" sz="1200" dirty="0" smtClean="0"/>
              <a:t>将</a:t>
            </a:r>
            <a:r>
              <a:rPr lang="en-US" altLang="zh-CN" sz="1200" dirty="0" err="1" smtClean="0"/>
              <a:t>mAP</a:t>
            </a:r>
            <a:r>
              <a:rPr lang="en-US" altLang="zh-CN" sz="1200" dirty="0" smtClean="0"/>
              <a:t> (mean Average Precision, </a:t>
            </a:r>
            <a:r>
              <a:rPr lang="zh-CN" altLang="en-US" sz="1200" dirty="0" smtClean="0"/>
              <a:t>平均精度均值</a:t>
            </a:r>
            <a:r>
              <a:rPr lang="en-US" altLang="zh-CN" sz="1200" dirty="0" smtClean="0"/>
              <a:t>) </a:t>
            </a:r>
            <a:r>
              <a:rPr lang="zh-CN" altLang="en-US" sz="1200" dirty="0" smtClean="0"/>
              <a:t>从</a:t>
            </a:r>
            <a:r>
              <a:rPr lang="en-US" altLang="zh-CN" sz="1200" dirty="0" smtClean="0"/>
              <a:t>58.5%</a:t>
            </a:r>
            <a:r>
              <a:rPr lang="zh-CN" altLang="en-US" sz="1200" dirty="0" smtClean="0"/>
              <a:t>提升至</a:t>
            </a:r>
            <a:r>
              <a:rPr lang="en-US" altLang="zh-CN" sz="1200" dirty="0" smtClean="0"/>
              <a:t>70.0%</a:t>
            </a:r>
            <a:r>
              <a:rPr lang="zh-CN" altLang="en-US" sz="1200" dirty="0" smtClean="0"/>
              <a:t>，算法速度也比</a:t>
            </a:r>
            <a:r>
              <a:rPr lang="en-US" altLang="zh-CN" sz="1200" dirty="0" smtClean="0"/>
              <a:t>R-CNN</a:t>
            </a:r>
            <a:r>
              <a:rPr lang="zh-CN" altLang="en-US" sz="1200" dirty="0" smtClean="0"/>
              <a:t>有了</a:t>
            </a:r>
            <a:r>
              <a:rPr lang="en-US" altLang="zh-CN" sz="1200" dirty="0" smtClean="0"/>
              <a:t>200</a:t>
            </a:r>
            <a:r>
              <a:rPr lang="zh-CN" altLang="en-US" sz="1200" dirty="0" smtClean="0"/>
              <a:t>倍的提升。</a:t>
            </a:r>
            <a:endParaRPr lang="en-US" altLang="zh-CN" sz="1200" dirty="0" smtClean="0"/>
          </a:p>
          <a:p>
            <a:pPr eaLnBrk="1" hangingPunct="1">
              <a:lnSpc>
                <a:spcPct val="200000"/>
              </a:lnSpc>
              <a:spcBef>
                <a:spcPct val="0"/>
              </a:spcBef>
            </a:pPr>
            <a:r>
              <a:rPr lang="zh-CN" altLang="en-US" sz="1200" dirty="0" smtClean="0"/>
              <a:t>虽然</a:t>
            </a:r>
            <a:r>
              <a:rPr lang="en-US" altLang="zh-CN" sz="1200" dirty="0" smtClean="0"/>
              <a:t>Fast R-CNN</a:t>
            </a:r>
            <a:r>
              <a:rPr lang="zh-CN" altLang="en-US" sz="1200" dirty="0" smtClean="0"/>
              <a:t>的性能和速度相比</a:t>
            </a:r>
            <a:r>
              <a:rPr lang="en-US" altLang="zh-CN" sz="1200" dirty="0" smtClean="0"/>
              <a:t>R-CNN</a:t>
            </a:r>
            <a:r>
              <a:rPr lang="zh-CN" altLang="en-US" sz="1200" dirty="0" smtClean="0"/>
              <a:t>和</a:t>
            </a:r>
            <a:r>
              <a:rPr lang="en-US" altLang="zh-CN" sz="1200" dirty="0" smtClean="0"/>
              <a:t>SPP-Net</a:t>
            </a:r>
            <a:r>
              <a:rPr lang="zh-CN" altLang="en-US" sz="1200" dirty="0" smtClean="0"/>
              <a:t>有了明显的改善，但整体速度仍受到候选框检测算法的制约，为了解决这个问题，</a:t>
            </a:r>
            <a:r>
              <a:rPr lang="en-US" altLang="zh-CN" sz="1200" dirty="0" smtClean="0"/>
              <a:t>Faster R-CNN</a:t>
            </a:r>
            <a:r>
              <a:rPr lang="zh-CN" altLang="en-US" sz="1200" dirty="0" smtClean="0"/>
              <a:t>算法诞生了。</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5375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S. </a:t>
            </a:r>
            <a:r>
              <a:rPr lang="en-US" altLang="zh-CN" sz="1200" dirty="0" err="1" smtClean="0"/>
              <a:t>Ren</a:t>
            </a:r>
            <a:r>
              <a:rPr lang="zh-CN" altLang="en-US" sz="1200" dirty="0" smtClean="0"/>
              <a:t>等人提出了</a:t>
            </a:r>
            <a:r>
              <a:rPr lang="en-US" altLang="zh-CN" sz="1200" dirty="0" smtClean="0"/>
              <a:t>Faster R-CNN</a:t>
            </a:r>
            <a:r>
              <a:rPr lang="zh-CN" altLang="en-US" sz="1200" dirty="0" smtClean="0"/>
              <a:t>算法，</a:t>
            </a:r>
            <a:r>
              <a:rPr lang="en-US" altLang="zh-CN" sz="1200" dirty="0" smtClean="0"/>
              <a:t>Faster R-CNN</a:t>
            </a:r>
            <a:r>
              <a:rPr lang="zh-CN" altLang="en-US" sz="1200" dirty="0" smtClean="0"/>
              <a:t>是第一个端到端算法，也是第一个接近实时深度学习的目标检测算法。使用</a:t>
            </a:r>
            <a:r>
              <a:rPr lang="en-US" altLang="zh-CN" sz="1200" dirty="0" smtClean="0"/>
              <a:t>ZF-Net</a:t>
            </a:r>
            <a:r>
              <a:rPr lang="zh-CN" altLang="en-US" sz="1200" dirty="0" smtClean="0"/>
              <a:t>网络骨架，在</a:t>
            </a:r>
            <a:r>
              <a:rPr lang="en-US" altLang="zh-CN" sz="1200" dirty="0" smtClean="0"/>
              <a:t>VOC2007</a:t>
            </a:r>
            <a:r>
              <a:rPr lang="zh-CN" altLang="en-US" sz="1200" dirty="0" smtClean="0"/>
              <a:t>公开数据集上，</a:t>
            </a:r>
            <a:r>
              <a:rPr lang="en-US" altLang="zh-CN" sz="1200" dirty="0" err="1" smtClean="0"/>
              <a:t>mAP</a:t>
            </a:r>
            <a:r>
              <a:rPr lang="zh-CN" altLang="en-US" sz="1200" dirty="0" smtClean="0"/>
              <a:t>达到了</a:t>
            </a:r>
            <a:r>
              <a:rPr lang="en-US" altLang="zh-CN" sz="1200" dirty="0" smtClean="0"/>
              <a:t>73.2%</a:t>
            </a:r>
            <a:r>
              <a:rPr lang="zh-CN" altLang="en-US" sz="1200" dirty="0" smtClean="0"/>
              <a:t>，算法速度达到了</a:t>
            </a:r>
            <a:r>
              <a:rPr lang="en-US" altLang="zh-CN" sz="1200" dirty="0" smtClean="0"/>
              <a:t>17fps</a:t>
            </a:r>
            <a:r>
              <a:rPr lang="zh-CN" altLang="en-US" sz="1200" dirty="0" smtClean="0"/>
              <a:t>。</a:t>
            </a:r>
            <a:endParaRPr lang="en-US" altLang="zh-CN" sz="1200" dirty="0" smtClean="0"/>
          </a:p>
          <a:p>
            <a:pPr eaLnBrk="1" hangingPunct="1">
              <a:lnSpc>
                <a:spcPct val="200000"/>
              </a:lnSpc>
              <a:spcBef>
                <a:spcPct val="0"/>
              </a:spcBef>
            </a:pPr>
            <a:r>
              <a:rPr lang="en-US" altLang="zh-CN" sz="1200" dirty="0" smtClean="0"/>
              <a:t>Faster R-CNN</a:t>
            </a:r>
            <a:r>
              <a:rPr lang="zh-CN" altLang="en-US" sz="1200" dirty="0" smtClean="0"/>
              <a:t>最主要的贡献是使用卷积网络检测候选框。检测候选框、预测目标的类别、回归目标位置的偏移量，共享底层卷积特征，整个算法流程融合成了一个完整的端到端学习框架。</a:t>
            </a:r>
            <a:r>
              <a:rPr lang="en-US" altLang="zh-CN" sz="1200" dirty="0" smtClean="0"/>
              <a:t>Faster R-CNN</a:t>
            </a:r>
            <a:r>
              <a:rPr lang="zh-CN" altLang="en-US" sz="1200" dirty="0" smtClean="0"/>
              <a:t>突破了候选框检测的速度瓶颈，是一种十分重要的两阶段算法。</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2196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2017</a:t>
            </a:r>
            <a:r>
              <a:rPr lang="zh-CN" altLang="en-US" sz="1200" dirty="0" smtClean="0"/>
              <a:t>年，</a:t>
            </a:r>
            <a:r>
              <a:rPr lang="en-US" altLang="zh-CN" sz="1200" dirty="0" smtClean="0"/>
              <a:t>Lin </a:t>
            </a:r>
            <a:r>
              <a:rPr lang="zh-CN" altLang="en-US" sz="1200" dirty="0" smtClean="0"/>
              <a:t>等人在</a:t>
            </a:r>
            <a:r>
              <a:rPr lang="en-US" altLang="zh-CN" sz="1200" dirty="0" smtClean="0"/>
              <a:t>Faster R-CNN</a:t>
            </a:r>
            <a:r>
              <a:rPr lang="zh-CN" altLang="en-US" sz="1200" dirty="0" smtClean="0"/>
              <a:t>的基础上提出了</a:t>
            </a:r>
            <a:r>
              <a:rPr lang="en-US" altLang="zh-CN" sz="1200" dirty="0" smtClean="0"/>
              <a:t>FPN (Feature Pyramid Networks, </a:t>
            </a:r>
            <a:r>
              <a:rPr lang="zh-CN" altLang="en-US" sz="1200" dirty="0" smtClean="0"/>
              <a:t>特征金字塔策略</a:t>
            </a:r>
            <a:r>
              <a:rPr lang="en-US" altLang="zh-CN" sz="1200" dirty="0" smtClean="0"/>
              <a:t>)</a:t>
            </a:r>
            <a:r>
              <a:rPr lang="zh-CN" altLang="en-US" sz="1200" dirty="0" smtClean="0"/>
              <a:t>算法。</a:t>
            </a:r>
            <a:endParaRPr lang="en-US" altLang="zh-CN" sz="1200" dirty="0" smtClean="0"/>
          </a:p>
          <a:p>
            <a:pPr eaLnBrk="1" hangingPunct="1">
              <a:lnSpc>
                <a:spcPct val="200000"/>
              </a:lnSpc>
              <a:spcBef>
                <a:spcPct val="0"/>
              </a:spcBef>
            </a:pPr>
            <a:r>
              <a:rPr lang="zh-CN" altLang="en-US" sz="1200" dirty="0" smtClean="0"/>
              <a:t>在</a:t>
            </a:r>
            <a:r>
              <a:rPr lang="en-US" altLang="zh-CN" sz="1200" dirty="0" smtClean="0"/>
              <a:t>FPN</a:t>
            </a:r>
            <a:r>
              <a:rPr lang="zh-CN" altLang="en-US" sz="1200" dirty="0" smtClean="0"/>
              <a:t>之前，绝大多数深度学习检测器都是基于卷积网络最顶层的特征图进行计算的。深层特征包含全局信息，</a:t>
            </a:r>
            <a:r>
              <a:rPr lang="en-US" altLang="zh-CN" sz="1200" dirty="0" smtClean="0"/>
              <a:t> </a:t>
            </a:r>
            <a:r>
              <a:rPr lang="zh-CN" altLang="en-US" sz="1200" dirty="0" smtClean="0"/>
              <a:t>却弱化了细节信息，使用深层特征在小目标检测，尤其是精准定位方面，有着较大的劣势。</a:t>
            </a:r>
            <a:r>
              <a:rPr lang="en-US" altLang="zh-CN" sz="1200" dirty="0" smtClean="0"/>
              <a:t>FPN</a:t>
            </a:r>
            <a:r>
              <a:rPr lang="zh-CN" altLang="en-US" sz="1200" dirty="0" smtClean="0"/>
              <a:t>采用</a:t>
            </a:r>
            <a:r>
              <a:rPr lang="en-US" altLang="zh-CN" sz="1200" dirty="0" smtClean="0"/>
              <a:t>top-down</a:t>
            </a:r>
            <a:r>
              <a:rPr lang="zh-CN" altLang="en-US" sz="1200" dirty="0" smtClean="0"/>
              <a:t>结构以及侧连方法，将深层特征与浅层特征进行融合，使得特征既包含全局信息又包含细节信息。</a:t>
            </a:r>
            <a:r>
              <a:rPr lang="en-US" altLang="zh-CN" sz="1200" dirty="0" smtClean="0"/>
              <a:t>FPN</a:t>
            </a:r>
            <a:r>
              <a:rPr lang="zh-CN" altLang="en-US" sz="1200" dirty="0" smtClean="0"/>
              <a:t>检测计算基于特征金字塔的多层特征图，具有更强的多尺度适应性。基于</a:t>
            </a:r>
            <a:r>
              <a:rPr lang="en-US" altLang="zh-CN" sz="1200" dirty="0" smtClean="0"/>
              <a:t>FPN</a:t>
            </a:r>
            <a:r>
              <a:rPr lang="zh-CN" altLang="en-US" sz="1200" dirty="0" smtClean="0"/>
              <a:t>的</a:t>
            </a:r>
            <a:r>
              <a:rPr lang="en-US" altLang="zh-CN" sz="1200" dirty="0" smtClean="0"/>
              <a:t>Faster R-CNN</a:t>
            </a:r>
            <a:r>
              <a:rPr lang="zh-CN" altLang="en-US" sz="1200" dirty="0" smtClean="0"/>
              <a:t>算法在</a:t>
            </a:r>
            <a:r>
              <a:rPr lang="en-US" altLang="zh-CN" sz="1200" dirty="0" smtClean="0"/>
              <a:t>COCO</a:t>
            </a:r>
            <a:r>
              <a:rPr lang="zh-CN" altLang="en-US" sz="1200" dirty="0" smtClean="0"/>
              <a:t>公开数据集上取得了最优的性能。当前，</a:t>
            </a:r>
            <a:r>
              <a:rPr lang="en-US" altLang="zh-CN" sz="1200" dirty="0" smtClean="0"/>
              <a:t>FPN</a:t>
            </a:r>
            <a:r>
              <a:rPr lang="zh-CN" altLang="en-US" sz="1200" dirty="0" smtClean="0"/>
              <a:t>已经成为构建检测算法的基础策略。</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29103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R. Joseph</a:t>
            </a:r>
            <a:r>
              <a:rPr lang="zh-CN" altLang="en-US" sz="1200" dirty="0" smtClean="0"/>
              <a:t>等人提出了</a:t>
            </a:r>
            <a:r>
              <a:rPr lang="en-US" altLang="zh-CN" sz="1200" dirty="0" smtClean="0"/>
              <a:t>YOLO (You Only Look Once) </a:t>
            </a:r>
            <a:r>
              <a:rPr lang="zh-CN" altLang="en-US" sz="1200" dirty="0" smtClean="0"/>
              <a:t>算法，这是首个深度学习领域的一阶段算法。</a:t>
            </a:r>
            <a:r>
              <a:rPr lang="en-US" altLang="zh-CN" sz="1200" dirty="0" smtClean="0"/>
              <a:t>YOLO</a:t>
            </a:r>
            <a:r>
              <a:rPr lang="zh-CN" altLang="en-US" sz="1200" dirty="0" smtClean="0"/>
              <a:t>没有两阶段算法中提取候选框和验证分类两个步骤，图像送入一个神经网络就能完成整个预测过程。</a:t>
            </a:r>
            <a:endParaRPr lang="en-US" altLang="zh-CN" sz="1200" dirty="0" smtClean="0"/>
          </a:p>
          <a:p>
            <a:pPr eaLnBrk="1" hangingPunct="1">
              <a:lnSpc>
                <a:spcPct val="200000"/>
              </a:lnSpc>
              <a:spcBef>
                <a:spcPct val="0"/>
              </a:spcBef>
            </a:pPr>
            <a:r>
              <a:rPr lang="en-US" altLang="zh-CN" sz="1200" dirty="0" smtClean="0"/>
              <a:t>YOLO</a:t>
            </a:r>
            <a:r>
              <a:rPr lang="zh-CN" altLang="en-US" sz="1200" dirty="0" smtClean="0"/>
              <a:t>先将原始图像划分成网格，然后基于网格的每个单元格回归目标的类别概率和位置坐标。作为一阶段算法，</a:t>
            </a:r>
            <a:r>
              <a:rPr lang="en-US" altLang="zh-CN" sz="1200" dirty="0" smtClean="0"/>
              <a:t>YOLO</a:t>
            </a:r>
            <a:r>
              <a:rPr lang="zh-CN" altLang="en-US" sz="1200" dirty="0" smtClean="0"/>
              <a:t>的一个最大优点就是速度快，在</a:t>
            </a:r>
            <a:r>
              <a:rPr lang="en-US" altLang="zh-CN" sz="1200" dirty="0" smtClean="0"/>
              <a:t>VOC2007</a:t>
            </a:r>
            <a:r>
              <a:rPr lang="zh-CN" altLang="en-US" sz="1200" dirty="0" smtClean="0"/>
              <a:t>公开数据集上，</a:t>
            </a:r>
            <a:r>
              <a:rPr lang="en-US" altLang="zh-CN" sz="1200" dirty="0" err="1" smtClean="0"/>
              <a:t>mAP</a:t>
            </a:r>
            <a:r>
              <a:rPr lang="zh-CN" altLang="en-US" sz="1200" dirty="0" smtClean="0"/>
              <a:t>为</a:t>
            </a:r>
            <a:r>
              <a:rPr lang="en-US" altLang="zh-CN" sz="1200" dirty="0" smtClean="0"/>
              <a:t>63.4%</a:t>
            </a:r>
            <a:r>
              <a:rPr lang="zh-CN" altLang="en-US" sz="1200" dirty="0" smtClean="0"/>
              <a:t>，速度达到了</a:t>
            </a:r>
            <a:r>
              <a:rPr lang="en-US" altLang="zh-CN" sz="1200" dirty="0" smtClean="0"/>
              <a:t>45fps</a:t>
            </a:r>
            <a:r>
              <a:rPr lang="zh-CN" altLang="en-US" sz="1200" dirty="0" smtClean="0"/>
              <a:t>。</a:t>
            </a:r>
            <a:endParaRPr lang="en-US" altLang="zh-CN" sz="1200" dirty="0" smtClean="0"/>
          </a:p>
          <a:p>
            <a:pPr eaLnBrk="1" hangingPunct="1">
              <a:lnSpc>
                <a:spcPct val="200000"/>
              </a:lnSpc>
              <a:spcBef>
                <a:spcPct val="0"/>
              </a:spcBef>
            </a:pPr>
            <a:r>
              <a:rPr lang="en-US" altLang="zh-CN" sz="1200" dirty="0" smtClean="0"/>
              <a:t>YOLO</a:t>
            </a:r>
            <a:r>
              <a:rPr lang="zh-CN" altLang="en-US" sz="1200" dirty="0" smtClean="0"/>
              <a:t>的缺点也很明显：目标位置的精度相比两阶段算法有所降低，尤其是在对一些小目标的检测方面，效果明显变差。正因为存在这些问题，后续</a:t>
            </a:r>
            <a:r>
              <a:rPr lang="en-US" altLang="zh-CN" sz="1200" dirty="0" smtClean="0"/>
              <a:t>YOLO</a:t>
            </a:r>
            <a:r>
              <a:rPr lang="zh-CN" altLang="en-US" sz="1200" dirty="0" smtClean="0"/>
              <a:t>版本以及其他的一阶段算法都致力于更好的解决上述问题。目前</a:t>
            </a:r>
            <a:r>
              <a:rPr lang="en-US" altLang="zh-CN" sz="1200" dirty="0" smtClean="0"/>
              <a:t>YOLO</a:t>
            </a:r>
            <a:r>
              <a:rPr lang="zh-CN" altLang="en-US" sz="1200" dirty="0" smtClean="0"/>
              <a:t>已经从</a:t>
            </a:r>
            <a:r>
              <a:rPr lang="en-US" altLang="zh-CN" sz="1200" dirty="0" smtClean="0"/>
              <a:t>v1</a:t>
            </a:r>
            <a:r>
              <a:rPr lang="zh-CN" altLang="en-US" sz="1200" dirty="0" smtClean="0"/>
              <a:t>版本更新到</a:t>
            </a:r>
            <a:r>
              <a:rPr lang="en-US" altLang="zh-CN" sz="1200" dirty="0" smtClean="0"/>
              <a:t>v5</a:t>
            </a:r>
            <a:r>
              <a:rPr lang="zh-CN" altLang="en-US" sz="1200" dirty="0" smtClean="0"/>
              <a:t>版本，改善了部分算法上的缺陷。</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59093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W. Liu</a:t>
            </a:r>
            <a:r>
              <a:rPr lang="zh-CN" altLang="en-US" sz="1200" dirty="0" smtClean="0"/>
              <a:t>等人提出了</a:t>
            </a:r>
            <a:r>
              <a:rPr lang="en-US" altLang="zh-CN" sz="1200" dirty="0" smtClean="0"/>
              <a:t>SSD (Single Shot </a:t>
            </a:r>
            <a:r>
              <a:rPr lang="en-US" altLang="zh-CN" sz="1200" dirty="0" err="1" smtClean="0"/>
              <a:t>MultiBox</a:t>
            </a:r>
            <a:r>
              <a:rPr lang="en-US" altLang="zh-CN" sz="1200" dirty="0" smtClean="0"/>
              <a:t> Detector) </a:t>
            </a:r>
            <a:r>
              <a:rPr lang="zh-CN" altLang="en-US" sz="1200" dirty="0" smtClean="0"/>
              <a:t>算法，这是深度学习领域的第二个一阶段算法。</a:t>
            </a:r>
            <a:endParaRPr lang="en-US" altLang="zh-CN" sz="1200" dirty="0" smtClean="0"/>
          </a:p>
          <a:p>
            <a:pPr eaLnBrk="1" hangingPunct="1">
              <a:lnSpc>
                <a:spcPct val="200000"/>
              </a:lnSpc>
              <a:spcBef>
                <a:spcPct val="0"/>
              </a:spcBef>
            </a:pPr>
            <a:r>
              <a:rPr lang="zh-CN" altLang="en-US" sz="1200" dirty="0" smtClean="0"/>
              <a:t>与仅使用最顶层特征图进行预测的方法不同，</a:t>
            </a:r>
            <a:r>
              <a:rPr lang="en-US" altLang="zh-CN" sz="1200" dirty="0" smtClean="0"/>
              <a:t>SSD</a:t>
            </a:r>
            <a:r>
              <a:rPr lang="zh-CN" altLang="en-US" sz="1200" dirty="0" smtClean="0"/>
              <a:t>最主要的贡献是引入了基于多尺度特征图的检测策略，显著提升了算法的性能，尤其是在小目标检测方面，相比</a:t>
            </a:r>
            <a:r>
              <a:rPr lang="en-US" altLang="zh-CN" sz="1200" dirty="0" smtClean="0"/>
              <a:t>YOLO</a:t>
            </a:r>
            <a:r>
              <a:rPr lang="zh-CN" altLang="en-US" sz="1200" dirty="0" smtClean="0"/>
              <a:t>的早些版本有了明显改善。在</a:t>
            </a:r>
            <a:r>
              <a:rPr lang="en-US" altLang="zh-CN" sz="1200" dirty="0" smtClean="0"/>
              <a:t>VOC2007</a:t>
            </a:r>
            <a:r>
              <a:rPr lang="zh-CN" altLang="en-US" sz="1200" dirty="0" smtClean="0"/>
              <a:t>公开数据集上，</a:t>
            </a:r>
            <a:r>
              <a:rPr lang="en-US" altLang="zh-CN" sz="1200" dirty="0" err="1" smtClean="0"/>
              <a:t>mAP</a:t>
            </a:r>
            <a:r>
              <a:rPr lang="zh-CN" altLang="en-US" sz="1200" dirty="0" smtClean="0"/>
              <a:t>达到了</a:t>
            </a:r>
            <a:r>
              <a:rPr lang="en-US" altLang="zh-CN" sz="1200" dirty="0" smtClean="0"/>
              <a:t>76.8%</a:t>
            </a:r>
            <a:r>
              <a:rPr lang="zh-CN" altLang="en-US" sz="1200" dirty="0" smtClean="0"/>
              <a:t>。</a:t>
            </a:r>
            <a:endParaRPr lang="en-US" altLang="zh-CN" sz="1200" dirty="0" smtClean="0"/>
          </a:p>
          <a:p>
            <a:pPr eaLnBrk="1" hangingPunct="1">
              <a:lnSpc>
                <a:spcPct val="200000"/>
              </a:lnSpc>
              <a:spcBef>
                <a:spcPct val="0"/>
              </a:spcBef>
            </a:pPr>
            <a:r>
              <a:rPr lang="zh-CN" altLang="en-US" sz="1200" dirty="0" smtClean="0"/>
              <a:t>多尺度特征图的意思是，卷积神经网络一般是个金字塔结构，前宽后窄，所以在不同的阶段就可以得到一些比较大的特征图和一些比较小的特征图，思路和</a:t>
            </a:r>
            <a:r>
              <a:rPr lang="en-US" altLang="zh-CN" sz="1200" dirty="0" err="1" smtClean="0"/>
              <a:t>spp</a:t>
            </a:r>
            <a:r>
              <a:rPr lang="zh-CN" altLang="en-US" sz="1200" dirty="0" smtClean="0"/>
              <a:t>差不多。一是</a:t>
            </a:r>
            <a:r>
              <a:rPr lang="en-US" altLang="zh-CN" sz="1200" dirty="0" smtClean="0"/>
              <a:t>SSD</a:t>
            </a:r>
            <a:r>
              <a:rPr lang="zh-CN" altLang="en-US" sz="1200" dirty="0" smtClean="0"/>
              <a:t>提取不同尺度的特征图来做检测，大尺度特征图（较靠前的特征图）用来检测小物体，小尺度特征图（较靠后的特征图，感受野大）用来检测大物体；二是</a:t>
            </a:r>
            <a:r>
              <a:rPr lang="en-US" altLang="zh-CN" sz="1200" dirty="0" smtClean="0"/>
              <a:t>SSD</a:t>
            </a:r>
            <a:r>
              <a:rPr lang="zh-CN" altLang="en-US" sz="1200" dirty="0" smtClean="0"/>
              <a:t>采用了不同尺度和长宽比的先验框</a:t>
            </a:r>
            <a:r>
              <a:rPr lang="en-US" altLang="zh-CN" sz="1200" dirty="0" smtClean="0"/>
              <a:t>Anchor box</a:t>
            </a:r>
            <a:r>
              <a:rPr lang="zh-CN" altLang="en-US" sz="1200" dirty="0" smtClean="0"/>
              <a:t>，这个技巧新版本的</a:t>
            </a:r>
            <a:r>
              <a:rPr lang="en-US" altLang="zh-CN" sz="1200" dirty="0" smtClean="0"/>
              <a:t>yolov2</a:t>
            </a:r>
            <a:r>
              <a:rPr lang="zh-CN" altLang="en-US" sz="1200" dirty="0" smtClean="0"/>
              <a:t>也使用了。</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060712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Retina-Net</a:t>
            </a:r>
            <a:r>
              <a:rPr lang="zh-CN" altLang="en-US" sz="1200" dirty="0" smtClean="0"/>
              <a:t>算法的主要目的是解决正负样本不平衡的问题。常规的一阶段算法在提取训练样本的过程中，背景样本的比例远大于目标样本的比例。正负样本的极度不平衡会导致训练过程中模型较少关注目标样本，这也是一阶段算法的精度低于两阶段算法的主要原因。</a:t>
            </a:r>
            <a:endParaRPr lang="en-US" altLang="zh-CN" sz="1200" dirty="0" smtClean="0"/>
          </a:p>
          <a:p>
            <a:pPr eaLnBrk="1" hangingPunct="1">
              <a:lnSpc>
                <a:spcPct val="200000"/>
              </a:lnSpc>
              <a:spcBef>
                <a:spcPct val="0"/>
              </a:spcBef>
            </a:pPr>
            <a:r>
              <a:rPr lang="en-US" altLang="zh-CN" sz="1200" dirty="0" smtClean="0"/>
              <a:t>Retina-Net</a:t>
            </a:r>
            <a:r>
              <a:rPr lang="zh-CN" altLang="en-US" sz="1200" dirty="0" smtClean="0"/>
              <a:t>算法引入了损失函数，其核心思想是在训练过程中，对传统的交叉熵损失加上权重，使得错分的样本产生的损失在最终损失中占有更大的比例。引入损失函数，使得一阶段算法在保持速度优势的前提下，保证了目标检测的精度。</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635759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2019</a:t>
            </a:r>
            <a:r>
              <a:rPr lang="zh-CN" altLang="en-US" sz="1200" dirty="0" smtClean="0"/>
              <a:t>年，沈春华团队提出了</a:t>
            </a:r>
            <a:r>
              <a:rPr lang="en-US" altLang="zh-CN" sz="1200" dirty="0" smtClean="0"/>
              <a:t>FCOS (Fully Convolutional One-Stage, </a:t>
            </a:r>
            <a:r>
              <a:rPr lang="zh-CN" altLang="en-US" sz="1200" dirty="0" smtClean="0"/>
              <a:t>一阶全卷积</a:t>
            </a:r>
            <a:r>
              <a:rPr lang="en-US" altLang="zh-CN" sz="1200" dirty="0" smtClean="0"/>
              <a:t>)</a:t>
            </a:r>
            <a:r>
              <a:rPr lang="zh-CN" altLang="en-US" sz="1200" dirty="0" smtClean="0"/>
              <a:t>算法。和</a:t>
            </a:r>
            <a:r>
              <a:rPr lang="en-US" altLang="zh-CN" sz="1200" dirty="0" smtClean="0"/>
              <a:t>SSD</a:t>
            </a:r>
            <a:r>
              <a:rPr lang="zh-CN" altLang="en-US" sz="1200" dirty="0" smtClean="0"/>
              <a:t>等一阶段算法不同，</a:t>
            </a:r>
            <a:r>
              <a:rPr lang="en-US" altLang="zh-CN" sz="1200" dirty="0" smtClean="0"/>
              <a:t>FCOS</a:t>
            </a:r>
            <a:r>
              <a:rPr lang="zh-CN" altLang="en-US" sz="1200" dirty="0" smtClean="0"/>
              <a:t>是一种“</a:t>
            </a:r>
            <a:r>
              <a:rPr lang="en-US" altLang="zh-CN" sz="1200" dirty="0" smtClean="0"/>
              <a:t>anchor free</a:t>
            </a:r>
            <a:r>
              <a:rPr lang="zh-CN" altLang="en-US" sz="1200" dirty="0" smtClean="0"/>
              <a:t>”方法，回归目标位置不需要预先设定</a:t>
            </a:r>
            <a:r>
              <a:rPr lang="en-US" altLang="zh-CN" sz="1200" dirty="0" smtClean="0"/>
              <a:t>anchor</a:t>
            </a:r>
            <a:r>
              <a:rPr lang="zh-CN" altLang="en-US" sz="1200" dirty="0" smtClean="0"/>
              <a:t>，在待检测目标尺度和形态变化较大的场景中有重要的应用。</a:t>
            </a:r>
            <a:endParaRPr lang="en-US" altLang="zh-CN" sz="1200" dirty="0" smtClean="0"/>
          </a:p>
          <a:p>
            <a:pPr eaLnBrk="1" hangingPunct="1">
              <a:lnSpc>
                <a:spcPct val="200000"/>
              </a:lnSpc>
              <a:spcBef>
                <a:spcPct val="0"/>
              </a:spcBef>
            </a:pPr>
            <a:r>
              <a:rPr lang="zh-CN" altLang="en-US" sz="1200" dirty="0" smtClean="0"/>
              <a:t>另外，</a:t>
            </a:r>
            <a:r>
              <a:rPr lang="en-US" altLang="zh-CN" sz="1200" dirty="0" smtClean="0"/>
              <a:t>FCOS</a:t>
            </a:r>
            <a:r>
              <a:rPr lang="zh-CN" altLang="en-US" sz="1200" dirty="0" smtClean="0"/>
              <a:t>算法在具体实现的过程中也使用了</a:t>
            </a:r>
            <a:r>
              <a:rPr lang="en-US" altLang="zh-CN" sz="1200" dirty="0" smtClean="0"/>
              <a:t>FPN</a:t>
            </a:r>
            <a:r>
              <a:rPr lang="zh-CN" altLang="en-US" sz="1200" dirty="0" smtClean="0"/>
              <a:t>策略，对于多尺度的目标有更好的检测效果。</a:t>
            </a:r>
            <a:endParaRPr lang="en-US" altLang="zh-CN" sz="1200" dirty="0" smtClean="0"/>
          </a:p>
          <a:p>
            <a:pPr eaLnBrk="1" hangingPunct="1">
              <a:lnSpc>
                <a:spcPct val="200000"/>
              </a:lnSpc>
              <a:spcBef>
                <a:spcPct val="0"/>
              </a:spcBef>
            </a:pPr>
            <a:r>
              <a:rPr lang="zh-CN" altLang="en-US" sz="1200" b="0" i="0" kern="1200" dirty="0" smtClean="0">
                <a:solidFill>
                  <a:schemeClr val="tx1"/>
                </a:solidFill>
                <a:effectLst/>
                <a:latin typeface="+mn-lt"/>
                <a:ea typeface="+mn-ea"/>
                <a:cs typeface="+mn-cs"/>
              </a:rPr>
              <a:t>在相同主干网络的情况下，</a:t>
            </a:r>
            <a:r>
              <a:rPr lang="en-US" altLang="zh-CN" sz="1200" b="0" i="0" kern="1200" dirty="0" smtClean="0">
                <a:solidFill>
                  <a:schemeClr val="tx1"/>
                </a:solidFill>
                <a:effectLst/>
                <a:latin typeface="+mn-lt"/>
                <a:ea typeface="+mn-ea"/>
                <a:cs typeface="+mn-cs"/>
              </a:rPr>
              <a:t>FCOS</a:t>
            </a:r>
            <a:r>
              <a:rPr lang="zh-CN" altLang="en-US" sz="1200" b="0" i="0" kern="1200" dirty="0" smtClean="0">
                <a:solidFill>
                  <a:schemeClr val="tx1"/>
                </a:solidFill>
                <a:effectLst/>
                <a:latin typeface="+mn-lt"/>
                <a:ea typeface="+mn-ea"/>
                <a:cs typeface="+mn-cs"/>
              </a:rPr>
              <a:t>的性能比基于</a:t>
            </a:r>
            <a:r>
              <a:rPr lang="en-US" altLang="zh-CN" sz="1200" b="0" i="0" kern="1200" dirty="0" smtClean="0">
                <a:solidFill>
                  <a:schemeClr val="tx1"/>
                </a:solidFill>
                <a:effectLst/>
                <a:latin typeface="+mn-lt"/>
                <a:ea typeface="+mn-ea"/>
                <a:cs typeface="+mn-cs"/>
              </a:rPr>
              <a:t>anchor</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RetinaNet</a:t>
            </a:r>
            <a:r>
              <a:rPr lang="zh-CN" altLang="en-US" sz="1200" b="0" i="0" kern="1200" dirty="0" smtClean="0">
                <a:solidFill>
                  <a:schemeClr val="tx1"/>
                </a:solidFill>
                <a:effectLst/>
                <a:latin typeface="+mn-lt"/>
                <a:ea typeface="+mn-ea"/>
                <a:cs typeface="+mn-cs"/>
              </a:rPr>
              <a:t>高出</a:t>
            </a:r>
            <a:r>
              <a:rPr lang="en-US" altLang="zh-CN" sz="1200" b="0" i="0" kern="1200" dirty="0" smtClean="0">
                <a:solidFill>
                  <a:schemeClr val="tx1"/>
                </a:solidFill>
                <a:effectLst/>
                <a:latin typeface="+mn-lt"/>
                <a:ea typeface="+mn-ea"/>
                <a:cs typeface="+mn-cs"/>
              </a:rPr>
              <a:t>1.9%</a:t>
            </a:r>
            <a:endParaRPr lang="zh-CN" altLang="en-US"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004251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何对算法进行比较呢？一个重要的方法就是在相同的公开数据集上进行评测，根据评测得到的性能指标，大致判断算法优劣。评测集在算法领域有至关重要的作用，下面将介绍几个在目标检测领域有较大影响力的公开评测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12771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PASCAL VOC</a:t>
            </a:r>
            <a:r>
              <a:rPr lang="zh-CN" altLang="en-US" dirty="0" smtClean="0"/>
              <a:t>（</a:t>
            </a:r>
            <a:r>
              <a:rPr lang="en-US" altLang="zh-CN" dirty="0" smtClean="0"/>
              <a:t>Visual Object Classes</a:t>
            </a:r>
            <a:r>
              <a:rPr lang="zh-CN" altLang="en-US" dirty="0" smtClean="0"/>
              <a:t>）挑战赛是计算机视觉领域早期重要的比赛之一，包括图像分类、目标检测、场景分割、事件检测</a:t>
            </a:r>
            <a:r>
              <a:rPr lang="en-US" altLang="zh-CN" dirty="0" smtClean="0"/>
              <a:t>4</a:t>
            </a:r>
            <a:r>
              <a:rPr lang="zh-CN" altLang="en-US" dirty="0" smtClean="0"/>
              <a:t>个主题。在目标检测方向，最常用的评测集是</a:t>
            </a:r>
            <a:r>
              <a:rPr lang="en-US" altLang="zh-CN" dirty="0" smtClean="0"/>
              <a:t>VOC2007</a:t>
            </a:r>
            <a:r>
              <a:rPr lang="zh-CN" altLang="en-US" dirty="0" smtClean="0"/>
              <a:t>和</a:t>
            </a:r>
            <a:r>
              <a:rPr lang="en-US" altLang="zh-CN" dirty="0" smtClean="0"/>
              <a:t>VOC2012</a:t>
            </a:r>
            <a:r>
              <a:rPr lang="zh-CN" altLang="en-US" dirty="0" smtClean="0"/>
              <a:t>。评测集包含</a:t>
            </a:r>
            <a:r>
              <a:rPr lang="en-US" altLang="zh-CN" dirty="0" smtClean="0"/>
              <a:t>20</a:t>
            </a:r>
            <a:r>
              <a:rPr lang="zh-CN" altLang="en-US" dirty="0" smtClean="0"/>
              <a:t>类日常生活中常见的物品，分别是人、鸟、猫、奶牛、狗、马、羊、飞机、自行车、船、公共汽车、小轿车、摩托车、火车、瓶子、椅子、餐桌、盆栽、沙发、电视。</a:t>
            </a:r>
            <a:r>
              <a:rPr lang="en-US" altLang="zh-CN" dirty="0" smtClean="0"/>
              <a:t>VOC2007</a:t>
            </a:r>
            <a:r>
              <a:rPr lang="zh-CN" altLang="en-US" dirty="0" smtClean="0"/>
              <a:t>包含</a:t>
            </a:r>
            <a:r>
              <a:rPr lang="en-US" altLang="zh-CN" dirty="0" smtClean="0"/>
              <a:t>5000</a:t>
            </a:r>
            <a:r>
              <a:rPr lang="zh-CN" altLang="en-US" dirty="0" smtClean="0"/>
              <a:t>张训练图像和</a:t>
            </a:r>
            <a:r>
              <a:rPr lang="en-US" altLang="zh-CN" dirty="0" smtClean="0"/>
              <a:t>1.2</a:t>
            </a:r>
            <a:r>
              <a:rPr lang="zh-CN" altLang="en-US" dirty="0" smtClean="0"/>
              <a:t>万个标注目标；</a:t>
            </a:r>
            <a:r>
              <a:rPr lang="en-US" altLang="zh-CN" dirty="0" smtClean="0"/>
              <a:t>VOC2012</a:t>
            </a:r>
            <a:r>
              <a:rPr lang="zh-CN" altLang="en-US" dirty="0" smtClean="0"/>
              <a:t>包含</a:t>
            </a:r>
            <a:r>
              <a:rPr lang="en-US" altLang="zh-CN" dirty="0" smtClean="0"/>
              <a:t>1.1</a:t>
            </a:r>
            <a:r>
              <a:rPr lang="zh-CN" altLang="en-US" dirty="0" smtClean="0"/>
              <a:t>万张训练图像和</a:t>
            </a:r>
            <a:r>
              <a:rPr lang="en-US" altLang="zh-CN" dirty="0" smtClean="0"/>
              <a:t>2.7</a:t>
            </a:r>
            <a:r>
              <a:rPr lang="zh-CN" altLang="en-US" dirty="0" smtClean="0"/>
              <a:t>万个标注目标。不过，随着近几年更大规模评测集的发布，</a:t>
            </a:r>
            <a:r>
              <a:rPr lang="en-US" altLang="zh-CN" dirty="0" smtClean="0"/>
              <a:t>VOC</a:t>
            </a:r>
            <a:r>
              <a:rPr lang="zh-CN" altLang="en-US" dirty="0" smtClean="0"/>
              <a:t>评测集的重要性正在逐步降低。</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75462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ILSVRC</a:t>
            </a:r>
            <a:r>
              <a:rPr lang="zh-CN" altLang="en-US" dirty="0" smtClean="0"/>
              <a:t>（</a:t>
            </a:r>
            <a:r>
              <a:rPr lang="en-US" altLang="zh-CN" dirty="0" err="1" smtClean="0"/>
              <a:t>ImageNet</a:t>
            </a:r>
            <a:r>
              <a:rPr lang="en-US" altLang="zh-CN" dirty="0" smtClean="0"/>
              <a:t> Large Scale Visual Recognition Challenge</a:t>
            </a:r>
            <a:r>
              <a:rPr lang="zh-CN" altLang="en-US" dirty="0" smtClean="0"/>
              <a:t>，大规模图像识别挑战赛）从</a:t>
            </a:r>
            <a:r>
              <a:rPr lang="en-US" altLang="zh-CN" dirty="0" smtClean="0"/>
              <a:t>2010</a:t>
            </a:r>
            <a:r>
              <a:rPr lang="zh-CN" altLang="en-US" dirty="0" smtClean="0"/>
              <a:t>年开始每年都会举办，其中包含一个目标检测主题，到</a:t>
            </a:r>
            <a:r>
              <a:rPr lang="en-US" altLang="zh-CN" dirty="0" smtClean="0"/>
              <a:t>2017</a:t>
            </a:r>
            <a:r>
              <a:rPr lang="zh-CN" altLang="en-US" dirty="0" smtClean="0"/>
              <a:t>年是最后一届（在算法层面已经刷过拟合了，再比下去意义不是很大了）。</a:t>
            </a:r>
            <a:r>
              <a:rPr lang="en-US" altLang="zh-CN" dirty="0" smtClean="0"/>
              <a:t>ILSVRC</a:t>
            </a:r>
            <a:r>
              <a:rPr lang="zh-CN" altLang="en-US" dirty="0" smtClean="0"/>
              <a:t>的目标检测的评测集包含</a:t>
            </a:r>
            <a:r>
              <a:rPr lang="en-US" altLang="zh-CN" dirty="0" smtClean="0"/>
              <a:t>200</a:t>
            </a:r>
            <a:r>
              <a:rPr lang="zh-CN" altLang="en-US" dirty="0" smtClean="0"/>
              <a:t>种类别，评测集中图像的数量和目标的数量比</a:t>
            </a:r>
            <a:r>
              <a:rPr lang="en-US" altLang="zh-CN" dirty="0" smtClean="0"/>
              <a:t>VOC</a:t>
            </a:r>
            <a:r>
              <a:rPr lang="zh-CN" altLang="en-US" dirty="0" smtClean="0"/>
              <a:t>的评测集高两个数量级。以</a:t>
            </a:r>
            <a:r>
              <a:rPr lang="en-US" altLang="zh-CN" dirty="0" smtClean="0"/>
              <a:t>ILSVRC-14</a:t>
            </a:r>
            <a:r>
              <a:rPr lang="zh-CN" altLang="en-US" dirty="0" smtClean="0"/>
              <a:t>评测集为例，其中包含</a:t>
            </a:r>
            <a:r>
              <a:rPr lang="en-US" altLang="zh-CN" dirty="0" smtClean="0"/>
              <a:t>51.7</a:t>
            </a:r>
            <a:r>
              <a:rPr lang="zh-CN" altLang="en-US" dirty="0" smtClean="0"/>
              <a:t>万张训练图像和</a:t>
            </a:r>
            <a:r>
              <a:rPr lang="en-US" altLang="zh-CN" dirty="0" smtClean="0"/>
              <a:t>53.4</a:t>
            </a:r>
            <a:r>
              <a:rPr lang="zh-CN" altLang="en-US" dirty="0" smtClean="0"/>
              <a:t>万个标注目标。</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521632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MS-COCO</a:t>
            </a:r>
            <a:r>
              <a:rPr lang="zh-CN" altLang="en-US" dirty="0" smtClean="0"/>
              <a:t>是当前最具挑战的目标检测评测集，从</a:t>
            </a:r>
            <a:r>
              <a:rPr lang="en-US" altLang="zh-CN" dirty="0" smtClean="0"/>
              <a:t>2015</a:t>
            </a:r>
            <a:r>
              <a:rPr lang="zh-CN" altLang="en-US" dirty="0" smtClean="0"/>
              <a:t>年开始，基于</a:t>
            </a:r>
            <a:r>
              <a:rPr lang="en-US" altLang="zh-CN" dirty="0" smtClean="0"/>
              <a:t>MS-COCO</a:t>
            </a:r>
            <a:r>
              <a:rPr lang="zh-CN" altLang="en-US" dirty="0" smtClean="0"/>
              <a:t>的目标检测比赛每年举行一次，一直持续至今。</a:t>
            </a:r>
            <a:r>
              <a:rPr lang="en-US" altLang="zh-CN" dirty="0" smtClean="0"/>
              <a:t>MS-COCO</a:t>
            </a:r>
            <a:r>
              <a:rPr lang="zh-CN" altLang="en-US" dirty="0" smtClean="0"/>
              <a:t>包含的检测目标类别不及</a:t>
            </a:r>
            <a:r>
              <a:rPr lang="en-US" altLang="zh-CN" dirty="0" smtClean="0"/>
              <a:t>ILSVRC</a:t>
            </a:r>
            <a:r>
              <a:rPr lang="zh-CN" altLang="en-US" dirty="0" smtClean="0"/>
              <a:t>，但包含更多实例。以</a:t>
            </a:r>
            <a:r>
              <a:rPr lang="en-US" altLang="zh-CN" dirty="0" smtClean="0"/>
              <a:t>MS-COCO-17</a:t>
            </a:r>
            <a:r>
              <a:rPr lang="zh-CN" altLang="en-US" dirty="0" smtClean="0"/>
              <a:t>为例，其中包含</a:t>
            </a:r>
            <a:r>
              <a:rPr lang="en-US" altLang="zh-CN" dirty="0" smtClean="0"/>
              <a:t>80</a:t>
            </a:r>
            <a:r>
              <a:rPr lang="zh-CN" altLang="en-US" dirty="0" smtClean="0"/>
              <a:t>个类别，</a:t>
            </a:r>
            <a:r>
              <a:rPr lang="en-US" altLang="zh-CN" dirty="0" smtClean="0"/>
              <a:t>16.4</a:t>
            </a:r>
            <a:r>
              <a:rPr lang="zh-CN" altLang="en-US" dirty="0" smtClean="0"/>
              <a:t>万张训练图像和</a:t>
            </a:r>
            <a:r>
              <a:rPr lang="en-US" altLang="zh-CN" dirty="0" smtClean="0"/>
              <a:t>89.7</a:t>
            </a:r>
            <a:r>
              <a:rPr lang="zh-CN" altLang="en-US" dirty="0" smtClean="0"/>
              <a:t>万个标注目标。与</a:t>
            </a:r>
            <a:r>
              <a:rPr lang="en-US" altLang="zh-CN" dirty="0" smtClean="0"/>
              <a:t>VOC</a:t>
            </a:r>
            <a:r>
              <a:rPr lang="zh-CN" altLang="en-US" dirty="0" smtClean="0"/>
              <a:t>和</a:t>
            </a:r>
            <a:r>
              <a:rPr lang="en-US" altLang="zh-CN" dirty="0" smtClean="0"/>
              <a:t>ILSVRC</a:t>
            </a:r>
            <a:r>
              <a:rPr lang="zh-CN" altLang="en-US" dirty="0" smtClean="0"/>
              <a:t>相比，</a:t>
            </a:r>
            <a:r>
              <a:rPr lang="en-US" altLang="zh-CN" dirty="0" smtClean="0"/>
              <a:t>MS-COCO</a:t>
            </a:r>
            <a:r>
              <a:rPr lang="zh-CN" altLang="en-US" dirty="0" smtClean="0"/>
              <a:t>最大的进步在于除了标注每个目标实例的包围盒之外，还标注了每个实例的分割信息。除此之外，</a:t>
            </a:r>
            <a:r>
              <a:rPr lang="en-US" altLang="zh-CN" dirty="0" smtClean="0"/>
              <a:t>MS-COCO</a:t>
            </a:r>
            <a:r>
              <a:rPr lang="zh-CN" altLang="en-US" dirty="0" smtClean="0"/>
              <a:t>包含了很多小目标（占有区域不足整幅图像的</a:t>
            </a:r>
            <a:r>
              <a:rPr lang="en-US" altLang="zh-CN" dirty="0" smtClean="0"/>
              <a:t>1%</a:t>
            </a:r>
            <a:r>
              <a:rPr lang="zh-CN" altLang="en-US" dirty="0" smtClean="0"/>
              <a:t>）以及众多密集目标。这些特点使得</a:t>
            </a:r>
            <a:r>
              <a:rPr lang="en-US" altLang="zh-CN" dirty="0" smtClean="0"/>
              <a:t>MS-COCO</a:t>
            </a:r>
            <a:r>
              <a:rPr lang="zh-CN" altLang="en-US" dirty="0" smtClean="0"/>
              <a:t>的数据分布更接近真实世界，此外相比于</a:t>
            </a:r>
            <a:r>
              <a:rPr lang="en-US" altLang="zh-CN" dirty="0" smtClean="0"/>
              <a:t>PASCAL VOC</a:t>
            </a:r>
            <a:r>
              <a:rPr lang="zh-CN" altLang="en-US" dirty="0" smtClean="0"/>
              <a:t>，</a:t>
            </a:r>
            <a:r>
              <a:rPr lang="en-US" altLang="zh-CN" dirty="0" smtClean="0"/>
              <a:t>MS-COCO</a:t>
            </a:r>
            <a:r>
              <a:rPr lang="zh-CN" altLang="en-US" dirty="0" smtClean="0"/>
              <a:t>的评估标准更加严格，因此成为目前目标检测领域最为重要的评测集之一。</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459322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Open Images</a:t>
            </a:r>
            <a:r>
              <a:rPr lang="zh-CN" altLang="en-US" dirty="0" smtClean="0"/>
              <a:t>挑战赛始于</a:t>
            </a:r>
            <a:r>
              <a:rPr lang="en-US" altLang="zh-CN" dirty="0" smtClean="0"/>
              <a:t>2018</a:t>
            </a:r>
            <a:r>
              <a:rPr lang="zh-CN" altLang="en-US" dirty="0" smtClean="0"/>
              <a:t>年，是目前最新的挑战赛，由谷歌发布并不断更新，目前已经更新至</a:t>
            </a:r>
            <a:r>
              <a:rPr lang="en-US" altLang="zh-CN" dirty="0" smtClean="0"/>
              <a:t>V6</a:t>
            </a:r>
            <a:r>
              <a:rPr lang="zh-CN" altLang="en-US" dirty="0" smtClean="0"/>
              <a:t>版本。它包含两个主题：①标准的目标检测；②目标之间的关系分析。以</a:t>
            </a:r>
            <a:r>
              <a:rPr lang="en-US" altLang="zh-CN" dirty="0" smtClean="0"/>
              <a:t>Open Images V4</a:t>
            </a:r>
            <a:r>
              <a:rPr lang="zh-CN" altLang="en-US" dirty="0" smtClean="0"/>
              <a:t>为例，检测任务的评测集包含</a:t>
            </a:r>
            <a:r>
              <a:rPr lang="en-US" altLang="zh-CN" dirty="0" smtClean="0"/>
              <a:t>600</a:t>
            </a:r>
            <a:r>
              <a:rPr lang="zh-CN" altLang="en-US" dirty="0" smtClean="0"/>
              <a:t>种目标类别，合计</a:t>
            </a:r>
            <a:r>
              <a:rPr lang="en-US" altLang="zh-CN" dirty="0" smtClean="0"/>
              <a:t>191</a:t>
            </a:r>
            <a:r>
              <a:rPr lang="zh-CN" altLang="en-US" dirty="0" smtClean="0"/>
              <a:t>万张训练图像和</a:t>
            </a:r>
            <a:r>
              <a:rPr lang="en-US" altLang="zh-CN" dirty="0" smtClean="0"/>
              <a:t>1544</a:t>
            </a:r>
            <a:r>
              <a:rPr lang="zh-CN" altLang="en-US" dirty="0" smtClean="0"/>
              <a:t>万个标注目标。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5187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课件：目标</a:t>
            </a:r>
            <a:r>
              <a:rPr lang="zh-CN" altLang="en-US" dirty="0" smtClean="0"/>
              <a:t>检测概述</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smtClean="0"/>
              <a:t>目标检测的准备</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lang="zh-CN" altLang="en-US" dirty="0" smtClean="0"/>
              <a:t>对目标检测有初步的概念</a:t>
            </a:r>
            <a:endParaRPr lang="en-US" altLang="zh-CN" dirty="0" smtClean="0"/>
          </a:p>
          <a:p>
            <a:pPr marL="342900" indent="-342900" defTabSz="2400300">
              <a:lnSpc>
                <a:spcPct val="150000"/>
              </a:lnSpc>
              <a:buAutoNum type="arabicPeriod"/>
            </a:pPr>
            <a:r>
              <a:rPr lang="zh-CN" altLang="en-US" dirty="0" smtClean="0"/>
              <a:t>了解目标检测的应用场景，发展简史以及公开评测集</a:t>
            </a:r>
            <a:endParaRPr lang="en-US" altLang="zh-CN" dirty="0" smtClean="0"/>
          </a:p>
        </p:txBody>
      </p:sp>
    </p:spTree>
    <p:extLst>
      <p:ext uri="{BB962C8B-B14F-4D97-AF65-F5344CB8AC3E}">
        <p14:creationId xmlns:p14="http://schemas.microsoft.com/office/powerpoint/2010/main" val="86396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目标检测介绍</a:t>
            </a:r>
            <a:endParaRPr lang="en-US" altLang="zh-CN" dirty="0" smtClean="0"/>
          </a:p>
          <a:p>
            <a:pPr>
              <a:buFont typeface="+mj-lt"/>
              <a:buAutoNum type="arabicPeriod"/>
            </a:pPr>
            <a:r>
              <a:rPr lang="zh-CN" altLang="en-US" dirty="0"/>
              <a:t>目标检测应用</a:t>
            </a:r>
            <a:r>
              <a:rPr lang="zh-CN" altLang="en-US" dirty="0" smtClean="0"/>
              <a:t>场景</a:t>
            </a:r>
            <a:endParaRPr lang="en-US" altLang="zh-CN" dirty="0" smtClean="0"/>
          </a:p>
          <a:p>
            <a:pPr>
              <a:buFont typeface="+mj-lt"/>
              <a:buAutoNum type="arabicPeriod"/>
            </a:pPr>
            <a:r>
              <a:rPr lang="zh-CN" altLang="en-US" dirty="0" smtClean="0"/>
              <a:t>目标</a:t>
            </a:r>
            <a:r>
              <a:rPr lang="zh-CN" altLang="en-US" dirty="0"/>
              <a:t>检测</a:t>
            </a:r>
            <a:r>
              <a:rPr lang="zh-CN" altLang="en-US" dirty="0" smtClean="0"/>
              <a:t>发展史</a:t>
            </a:r>
            <a:endParaRPr lang="en-US" altLang="zh-CN" dirty="0" smtClean="0"/>
          </a:p>
          <a:p>
            <a:pPr>
              <a:buFont typeface="+mj-lt"/>
              <a:buAutoNum type="arabicPeriod"/>
            </a:pPr>
            <a:r>
              <a:rPr lang="zh-CN" altLang="en-US" dirty="0"/>
              <a:t>目标</a:t>
            </a:r>
            <a:r>
              <a:rPr lang="zh-CN" altLang="en-US" dirty="0" smtClean="0"/>
              <a:t>检测的公开数据集</a:t>
            </a:r>
            <a:endParaRPr lang="zh-CN" altLang="en-US" dirty="0"/>
          </a:p>
          <a:p>
            <a:pPr>
              <a:buFont typeface="+mj-lt"/>
              <a:buAutoNum type="arabicPeriod"/>
            </a:pPr>
            <a:endParaRPr lang="zh-CN" altLang="en-US" dirty="0" smtClean="0"/>
          </a:p>
          <a:p>
            <a:pPr>
              <a:buFont typeface="+mj-lt"/>
              <a:buAutoNum type="arabicPeriod"/>
            </a:pPr>
            <a:endParaRPr lang="zh-CN" altLang="en-US" dirty="0" smtClean="0"/>
          </a:p>
          <a:p>
            <a:pPr>
              <a:lnSpc>
                <a:spcPct val="125000"/>
              </a:lnSpc>
              <a:buFont typeface="+mj-lt"/>
              <a:buAutoNum type="arabicPeriod"/>
            </a:pP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目标检测介绍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目标检测（</a:t>
            </a:r>
            <a:r>
              <a:rPr lang="en-US" altLang="zh-CN" dirty="0"/>
              <a:t>Object Detection</a:t>
            </a:r>
            <a:r>
              <a:rPr lang="zh-CN" altLang="en-US" dirty="0"/>
              <a:t>）是计算机视觉（</a:t>
            </a:r>
            <a:r>
              <a:rPr lang="en-US" altLang="zh-CN" dirty="0"/>
              <a:t>Computer Vision, CV</a:t>
            </a:r>
            <a:r>
              <a:rPr lang="zh-CN" altLang="en-US" dirty="0"/>
              <a:t>）的一个分支，指通过编写特定的算法代码，让计算机从一张图像中找出若干特定目标的方法</a:t>
            </a:r>
            <a:r>
              <a:rPr lang="zh-CN" altLang="en-US" dirty="0" smtClean="0"/>
              <a:t>。</a:t>
            </a:r>
            <a:endParaRPr lang="en-US" altLang="zh-CN" dirty="0" smtClean="0"/>
          </a:p>
          <a:p>
            <a:r>
              <a:rPr lang="zh-CN" altLang="en-US" dirty="0"/>
              <a:t>目标检测包含两层含义</a:t>
            </a:r>
            <a:r>
              <a:rPr lang="zh-CN" altLang="en-US" dirty="0" smtClean="0"/>
              <a:t>：</a:t>
            </a:r>
            <a:endParaRPr lang="en-US" altLang="zh-CN" dirty="0" smtClean="0"/>
          </a:p>
          <a:p>
            <a:pPr marL="0" indent="0">
              <a:buNone/>
            </a:pPr>
            <a:r>
              <a:rPr lang="zh-CN" altLang="en-US" dirty="0" smtClean="0">
                <a:sym typeface="Wingdings 2" panose="05020102010507070707" pitchFamily="18" charset="2"/>
              </a:rPr>
              <a:t></a:t>
            </a:r>
            <a:r>
              <a:rPr lang="zh-CN" altLang="en-US" dirty="0">
                <a:sym typeface="Wingdings 2" panose="05020102010507070707" pitchFamily="18" charset="2"/>
              </a:rPr>
              <a:t>判定图像上有</a:t>
            </a:r>
            <a:r>
              <a:rPr lang="zh-CN" altLang="en-US" dirty="0" smtClean="0">
                <a:sym typeface="Wingdings 2" panose="05020102010507070707" pitchFamily="18" charset="2"/>
              </a:rPr>
              <a:t>哪些目标</a:t>
            </a:r>
            <a:r>
              <a:rPr lang="zh-CN" altLang="en-US" dirty="0">
                <a:sym typeface="Wingdings 2" panose="05020102010507070707" pitchFamily="18" charset="2"/>
              </a:rPr>
              <a:t>，解决目标存在性的问题</a:t>
            </a:r>
            <a:r>
              <a:rPr lang="zh-CN" altLang="en-US" dirty="0" smtClean="0">
                <a:sym typeface="Wingdings 2" panose="05020102010507070707" pitchFamily="18" charset="2"/>
              </a:rPr>
              <a:t>；</a:t>
            </a:r>
            <a:endParaRPr lang="en-US" altLang="zh-CN" dirty="0" smtClean="0">
              <a:sym typeface="Wingdings 2" panose="05020102010507070707" pitchFamily="18" charset="2"/>
            </a:endParaRPr>
          </a:p>
          <a:p>
            <a:pPr marL="0" indent="0">
              <a:buNone/>
            </a:pPr>
            <a:r>
              <a:rPr lang="zh-CN" altLang="en-US" dirty="0" smtClean="0">
                <a:sym typeface="Wingdings 2" panose="05020102010507070707" pitchFamily="18" charset="2"/>
              </a:rPr>
              <a:t></a:t>
            </a:r>
            <a:r>
              <a:rPr lang="zh-CN" altLang="en-US" dirty="0">
                <a:sym typeface="Wingdings 2" panose="05020102010507070707" pitchFamily="18" charset="2"/>
              </a:rPr>
              <a:t>判定图像中目标的具体位置，解决目标在哪里的问题</a:t>
            </a:r>
            <a:r>
              <a:rPr lang="zh-CN" altLang="en-US" dirty="0" smtClean="0">
                <a:sym typeface="Wingdings 2" panose="05020102010507070707" pitchFamily="18" charset="2"/>
              </a:rPr>
              <a:t>。</a:t>
            </a:r>
            <a:endParaRPr lang="en-US" altLang="zh-CN" dirty="0" smtClean="0">
              <a:sym typeface="Wingdings 2" panose="05020102010507070707" pitchFamily="18" charset="2"/>
            </a:endParaRPr>
          </a:p>
          <a:p>
            <a:r>
              <a:rPr lang="zh-CN" altLang="en-US" dirty="0" smtClean="0">
                <a:sym typeface="Wingdings 2" panose="05020102010507070707" pitchFamily="18" charset="2"/>
              </a:rPr>
              <a:t>相比于图像分类（左），目标检测（右）还需要给出各个</a:t>
            </a:r>
            <a:endParaRPr lang="en-US" altLang="zh-CN" dirty="0" smtClean="0">
              <a:sym typeface="Wingdings 2" panose="05020102010507070707" pitchFamily="18" charset="2"/>
            </a:endParaRPr>
          </a:p>
          <a:p>
            <a:pPr marL="0" indent="0">
              <a:buNone/>
            </a:pPr>
            <a:r>
              <a:rPr lang="zh-CN" altLang="en-US" dirty="0" smtClean="0">
                <a:sym typeface="Wingdings 2" panose="05020102010507070707" pitchFamily="18" charset="2"/>
              </a:rPr>
              <a:t>目标的具体位置。</a:t>
            </a:r>
            <a:endParaRPr lang="en-US" altLang="zh-CN" dirty="0" smtClean="0">
              <a:sym typeface="Wingdings 2" panose="05020102010507070707" pitchFamily="18"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0886" y="1854822"/>
            <a:ext cx="4905504" cy="3557928"/>
          </a:xfrm>
          <a:prstGeom prst="rect">
            <a:avLst/>
          </a:prstGeom>
        </p:spPr>
      </p:pic>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人类的视觉</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视觉系统是人和动物最重要的感觉</a:t>
            </a:r>
            <a:r>
              <a:rPr lang="zh-CN" altLang="en-US" dirty="0" smtClean="0"/>
              <a:t>系统。</a:t>
            </a:r>
            <a:endParaRPr lang="en-US" altLang="zh-CN" dirty="0" smtClean="0"/>
          </a:p>
          <a:p>
            <a:pPr>
              <a:lnSpc>
                <a:spcPct val="125000"/>
              </a:lnSpc>
            </a:pPr>
            <a:r>
              <a:rPr lang="zh-CN" altLang="en-US" dirty="0" smtClean="0"/>
              <a:t>人类的视觉系统：</a:t>
            </a:r>
            <a:endParaRPr lang="en-US" altLang="zh-CN" dirty="0" smtClean="0"/>
          </a:p>
          <a:p>
            <a:pPr lvl="1"/>
            <a:r>
              <a:rPr lang="zh-CN" altLang="en-US" dirty="0" smtClean="0"/>
              <a:t>视觉系统感受部分是视网膜</a:t>
            </a:r>
            <a:endParaRPr lang="en-US" altLang="zh-CN" dirty="0" smtClean="0"/>
          </a:p>
          <a:p>
            <a:pPr lvl="1"/>
            <a:r>
              <a:rPr lang="zh-CN" altLang="en-US" dirty="0" smtClean="0"/>
              <a:t>三维物体可见部分投影到视网膜形成二维的像</a:t>
            </a:r>
            <a:endParaRPr lang="en-US" altLang="zh-CN" dirty="0" smtClean="0"/>
          </a:p>
          <a:p>
            <a:pPr lvl="1"/>
            <a:r>
              <a:rPr lang="zh-CN" altLang="en-US" dirty="0" smtClean="0"/>
              <a:t>通过二维的像对物体进行三维理解</a:t>
            </a:r>
            <a:endParaRPr lang="en-US" altLang="zh-CN" dirty="0" smtClean="0"/>
          </a:p>
          <a:p>
            <a:r>
              <a:rPr lang="zh-CN" altLang="en-US" dirty="0"/>
              <a:t>人类视觉系统</a:t>
            </a:r>
            <a:r>
              <a:rPr lang="zh-CN" altLang="en-US" dirty="0" smtClean="0"/>
              <a:t>是最</a:t>
            </a:r>
            <a:r>
              <a:rPr lang="zh-CN" altLang="en-US" dirty="0"/>
              <a:t>强大和完善的视觉系统</a:t>
            </a:r>
            <a:r>
              <a:rPr lang="zh-CN" altLang="en-US" dirty="0" smtClean="0"/>
              <a:t>。</a:t>
            </a:r>
            <a:endParaRPr lang="en-US" altLang="zh-CN" dirty="0" smtClean="0"/>
          </a:p>
          <a:p>
            <a:r>
              <a:rPr lang="zh-CN" altLang="en-US" dirty="0"/>
              <a:t>人类通过视觉获取的外界信息至少占总信息量的</a:t>
            </a:r>
            <a:r>
              <a:rPr lang="en-US" altLang="zh-CN" dirty="0"/>
              <a:t>80</a:t>
            </a:r>
            <a:r>
              <a:rPr lang="en-US" altLang="zh-CN" dirty="0" smtClean="0"/>
              <a:t>%</a:t>
            </a:r>
            <a:r>
              <a:rPr lang="zh-CN" altLang="en-US" dirty="0" smtClean="0"/>
              <a:t>。</a:t>
            </a:r>
            <a:endParaRPr lang="en-US" altLang="zh-CN" dirty="0" smtClean="0"/>
          </a:p>
          <a:p>
            <a:r>
              <a:rPr lang="zh-CN" altLang="en-US" dirty="0" smtClean="0"/>
              <a:t>右图中，即使目标被遮挡也能轻易判断这是一只猫。</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2458" y="1827025"/>
            <a:ext cx="4818030" cy="3613522"/>
          </a:xfrm>
          <a:prstGeom prst="rect">
            <a:avLst/>
          </a:prstGeom>
        </p:spPr>
      </p:pic>
    </p:spTree>
    <p:extLst>
      <p:ext uri="{BB962C8B-B14F-4D97-AF65-F5344CB8AC3E}">
        <p14:creationId xmlns:p14="http://schemas.microsoft.com/office/powerpoint/2010/main" val="3143991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计算机视觉介绍</a:t>
            </a:r>
            <a:endParaRPr lang="zh-CN" altLang="en-US" dirty="0"/>
          </a:p>
        </p:txBody>
      </p:sp>
      <p:sp>
        <p:nvSpPr>
          <p:cNvPr id="3" name="内容占位符 2"/>
          <p:cNvSpPr>
            <a:spLocks noGrp="1"/>
          </p:cNvSpPr>
          <p:nvPr>
            <p:ph sz="quarter" idx="13"/>
          </p:nvPr>
        </p:nvSpPr>
        <p:spPr/>
        <p:txBody>
          <a:bodyPr/>
          <a:lstStyle/>
          <a:p>
            <a:r>
              <a:rPr lang="zh-CN" altLang="en-US" dirty="0"/>
              <a:t>计算机视觉是使用计算机及相关设备对生物视觉的一种模拟</a:t>
            </a:r>
            <a:r>
              <a:rPr lang="zh-CN" altLang="en-US" dirty="0" smtClean="0"/>
              <a:t>。</a:t>
            </a:r>
            <a:endParaRPr lang="en-US" altLang="zh-CN" dirty="0" smtClean="0"/>
          </a:p>
          <a:p>
            <a:r>
              <a:rPr lang="zh-CN" altLang="en-US" dirty="0" smtClean="0"/>
              <a:t>通过</a:t>
            </a:r>
            <a:r>
              <a:rPr lang="zh-CN" altLang="en-US" dirty="0"/>
              <a:t>采集的图片或视频进行</a:t>
            </a:r>
            <a:r>
              <a:rPr lang="zh-CN" altLang="en-US" dirty="0" smtClean="0"/>
              <a:t>处理获得相应场景的三维信息。</a:t>
            </a:r>
            <a:endParaRPr lang="en-US" altLang="zh-CN" dirty="0" smtClean="0"/>
          </a:p>
          <a:p>
            <a:r>
              <a:rPr lang="zh-CN" altLang="en-US" dirty="0" smtClean="0"/>
              <a:t>计算机视觉原理与人类大脑工作原理相似。</a:t>
            </a:r>
            <a:endParaRPr lang="en-US" altLang="zh-CN" dirty="0" smtClean="0"/>
          </a:p>
          <a:p>
            <a:r>
              <a:rPr lang="zh-CN" altLang="en-US" dirty="0" smtClean="0"/>
              <a:t>根据计算机系统的特点进行视觉信息存储和处理。</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3880" y="2159943"/>
            <a:ext cx="5186608" cy="3977331"/>
          </a:xfrm>
          <a:prstGeom prst="rect">
            <a:avLst/>
          </a:prstGeom>
        </p:spPr>
      </p:pic>
    </p:spTree>
    <p:extLst>
      <p:ext uri="{BB962C8B-B14F-4D97-AF65-F5344CB8AC3E}">
        <p14:creationId xmlns:p14="http://schemas.microsoft.com/office/powerpoint/2010/main" val="2630284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计算机视觉介绍</a:t>
            </a:r>
            <a:endParaRPr lang="zh-CN" altLang="en-US" dirty="0"/>
          </a:p>
        </p:txBody>
      </p:sp>
      <p:sp>
        <p:nvSpPr>
          <p:cNvPr id="3" name="内容占位符 2"/>
          <p:cNvSpPr>
            <a:spLocks noGrp="1"/>
          </p:cNvSpPr>
          <p:nvPr>
            <p:ph sz="quarter" idx="13"/>
          </p:nvPr>
        </p:nvSpPr>
        <p:spPr/>
        <p:txBody>
          <a:bodyPr/>
          <a:lstStyle/>
          <a:p>
            <a:r>
              <a:rPr lang="zh-CN" altLang="en-US" dirty="0" smtClean="0"/>
              <a:t>计算机图像存储</a:t>
            </a:r>
            <a:endParaRPr lang="en-US" altLang="zh-CN" dirty="0" smtClean="0"/>
          </a:p>
          <a:p>
            <a:pPr lvl="1"/>
            <a:r>
              <a:rPr lang="zh-CN" altLang="en-US" dirty="0" smtClean="0"/>
              <a:t>以像素为单位存储图像</a:t>
            </a:r>
            <a:endParaRPr lang="en-US" altLang="zh-CN" dirty="0" smtClean="0"/>
          </a:p>
          <a:p>
            <a:pPr lvl="1"/>
            <a:r>
              <a:rPr lang="zh-CN" altLang="en-US" dirty="0" smtClean="0"/>
              <a:t>用</a:t>
            </a:r>
            <a:r>
              <a:rPr lang="zh-CN" altLang="en-US" dirty="0"/>
              <a:t>像素</a:t>
            </a:r>
            <a:r>
              <a:rPr lang="zh-CN" altLang="en-US" dirty="0" smtClean="0"/>
              <a:t>值表示每一个像素</a:t>
            </a:r>
            <a:endParaRPr lang="en-US" altLang="zh-CN" dirty="0" smtClean="0"/>
          </a:p>
          <a:p>
            <a:pPr lvl="1"/>
            <a:r>
              <a:rPr lang="zh-CN" altLang="en-US" dirty="0"/>
              <a:t>像素</a:t>
            </a:r>
            <a:r>
              <a:rPr lang="zh-CN" altLang="en-US" dirty="0" smtClean="0"/>
              <a:t>值大小表示该像素的强度</a:t>
            </a:r>
            <a:endParaRPr lang="en-US" altLang="zh-CN" dirty="0" smtClean="0"/>
          </a:p>
          <a:p>
            <a:pPr lvl="1"/>
            <a:r>
              <a:rPr lang="zh-CN" altLang="en-US" dirty="0" smtClean="0"/>
              <a:t>黑白图像由单通道表示</a:t>
            </a:r>
            <a:endParaRPr lang="en-US" altLang="zh-CN" dirty="0" smtClean="0"/>
          </a:p>
          <a:p>
            <a:pPr lvl="1"/>
            <a:r>
              <a:rPr lang="zh-CN" altLang="en-US" dirty="0" smtClean="0"/>
              <a:t>彩色图像由三通道表示（</a:t>
            </a:r>
            <a:r>
              <a:rPr lang="en-US" altLang="zh-CN" dirty="0" smtClean="0"/>
              <a:t>R</a:t>
            </a:r>
            <a:r>
              <a:rPr lang="zh-CN" altLang="en-US" dirty="0" smtClean="0"/>
              <a:t>，</a:t>
            </a:r>
            <a:r>
              <a:rPr lang="en-US" altLang="zh-CN" dirty="0" smtClean="0"/>
              <a:t>G</a:t>
            </a:r>
            <a:r>
              <a:rPr lang="zh-CN" altLang="en-US" dirty="0" smtClean="0"/>
              <a:t>，</a:t>
            </a:r>
            <a:r>
              <a:rPr lang="en-US" altLang="zh-CN" dirty="0" smtClean="0"/>
              <a:t>B</a:t>
            </a:r>
            <a:r>
              <a:rPr lang="zh-CN" altLang="en-US" dirty="0" smtClean="0"/>
              <a:t>）</a:t>
            </a:r>
            <a:endParaRPr lang="zh-CN" altLang="en-US" dirty="0"/>
          </a:p>
        </p:txBody>
      </p:sp>
      <p:pic>
        <p:nvPicPr>
          <p:cNvPr id="4"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53163" y="1539875"/>
            <a:ext cx="10604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04275" y="1181100"/>
            <a:ext cx="1735138"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右箭头 5"/>
          <p:cNvSpPr/>
          <p:nvPr/>
        </p:nvSpPr>
        <p:spPr>
          <a:xfrm>
            <a:off x="7483475" y="2085975"/>
            <a:ext cx="1152525" cy="3476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文本框 20"/>
          <p:cNvSpPr txBox="1">
            <a:spLocks noChangeArrowheads="1"/>
          </p:cNvSpPr>
          <p:nvPr/>
        </p:nvSpPr>
        <p:spPr bwMode="auto">
          <a:xfrm>
            <a:off x="6204622" y="3389314"/>
            <a:ext cx="4798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一张</a:t>
            </a:r>
            <a:r>
              <a:rPr lang="en-US" altLang="zh-CN" b="1" dirty="0"/>
              <a:t>24×16</a:t>
            </a:r>
            <a:r>
              <a:rPr lang="zh-CN" altLang="en-US" b="1" dirty="0"/>
              <a:t>黑白图像在计算机存储的表现形式</a:t>
            </a:r>
          </a:p>
        </p:txBody>
      </p:sp>
      <p:sp>
        <p:nvSpPr>
          <p:cNvPr id="8" name="文本框 19"/>
          <p:cNvSpPr txBox="1">
            <a:spLocks noChangeArrowheads="1"/>
          </p:cNvSpPr>
          <p:nvPr/>
        </p:nvSpPr>
        <p:spPr bwMode="auto">
          <a:xfrm>
            <a:off x="4308319" y="5648329"/>
            <a:ext cx="41601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彩色图像一般由</a:t>
            </a:r>
            <a:r>
              <a:rPr lang="en-US" altLang="zh-CN" b="1" dirty="0"/>
              <a:t>R</a:t>
            </a:r>
            <a:r>
              <a:rPr lang="zh-CN" altLang="en-US" b="1" dirty="0"/>
              <a:t>、</a:t>
            </a:r>
            <a:r>
              <a:rPr lang="en-US" altLang="zh-CN" b="1" dirty="0"/>
              <a:t>G</a:t>
            </a:r>
            <a:r>
              <a:rPr lang="zh-CN" altLang="en-US" b="1" dirty="0"/>
              <a:t>、</a:t>
            </a:r>
            <a:r>
              <a:rPr lang="en-US" altLang="zh-CN" b="1" dirty="0"/>
              <a:t>B</a:t>
            </a:r>
            <a:r>
              <a:rPr lang="zh-CN" altLang="en-US" b="1" dirty="0"/>
              <a:t>三个通道组成</a:t>
            </a:r>
          </a:p>
        </p:txBody>
      </p:sp>
      <p:pic>
        <p:nvPicPr>
          <p:cNvPr id="9" name="图片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90520" y="3921489"/>
            <a:ext cx="2155825"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925" y="4168222"/>
            <a:ext cx="6303767" cy="1364580"/>
          </a:xfrm>
          <a:prstGeom prst="rect">
            <a:avLst/>
          </a:prstGeom>
        </p:spPr>
      </p:pic>
    </p:spTree>
    <p:extLst>
      <p:ext uri="{BB962C8B-B14F-4D97-AF65-F5344CB8AC3E}">
        <p14:creationId xmlns:p14="http://schemas.microsoft.com/office/powerpoint/2010/main" val="2485787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计算机视觉介绍</a:t>
            </a:r>
            <a:endParaRPr lang="zh-CN" altLang="en-US" dirty="0"/>
          </a:p>
        </p:txBody>
      </p:sp>
      <p:sp>
        <p:nvSpPr>
          <p:cNvPr id="3" name="内容占位符 2"/>
          <p:cNvSpPr>
            <a:spLocks noGrp="1"/>
          </p:cNvSpPr>
          <p:nvPr>
            <p:ph sz="quarter" idx="13"/>
          </p:nvPr>
        </p:nvSpPr>
        <p:spPr/>
        <p:txBody>
          <a:bodyPr/>
          <a:lstStyle/>
          <a:p>
            <a:r>
              <a:rPr lang="zh-CN" altLang="en-US" dirty="0" smtClean="0"/>
              <a:t>实现计算机视觉有两大难点</a:t>
            </a:r>
            <a:endParaRPr lang="en-US" altLang="zh-CN" dirty="0" smtClean="0"/>
          </a:p>
          <a:p>
            <a:pPr marL="800100" lvl="1" indent="-342900">
              <a:buFont typeface="+mj-lt"/>
              <a:buAutoNum type="arabicPeriod"/>
            </a:pPr>
            <a:r>
              <a:rPr lang="zh-CN" altLang="en-US" dirty="0"/>
              <a:t>特征难以</a:t>
            </a:r>
            <a:r>
              <a:rPr lang="zh-CN" altLang="en-US" dirty="0" smtClean="0"/>
              <a:t>提取</a:t>
            </a:r>
            <a:endParaRPr lang="en-US" altLang="zh-CN" dirty="0" smtClean="0"/>
          </a:p>
          <a:p>
            <a:pPr lvl="2"/>
            <a:r>
              <a:rPr lang="zh-CN" altLang="en-US" dirty="0" smtClean="0"/>
              <a:t>物体受客观因素影响</a:t>
            </a:r>
            <a:endParaRPr lang="en-US" altLang="zh-CN" dirty="0" smtClean="0"/>
          </a:p>
          <a:p>
            <a:pPr lvl="2"/>
            <a:r>
              <a:rPr lang="zh-CN" altLang="en-US" dirty="0" smtClean="0"/>
              <a:t>照片旋转变换导致像素值变化</a:t>
            </a:r>
            <a:endParaRPr lang="en-US" altLang="zh-CN" dirty="0" smtClean="0"/>
          </a:p>
          <a:p>
            <a:pPr marL="800100" lvl="1" indent="-342900">
              <a:buFont typeface="+mj-lt"/>
              <a:buAutoNum type="arabicPeriod"/>
            </a:pPr>
            <a:r>
              <a:rPr lang="zh-CN" altLang="en-US" dirty="0" smtClean="0"/>
              <a:t>需要计算的数据量巨大</a:t>
            </a:r>
            <a:endParaRPr lang="en-US" altLang="zh-CN" dirty="0" smtClean="0"/>
          </a:p>
          <a:p>
            <a:pPr lvl="2"/>
            <a:r>
              <a:rPr lang="zh-CN" altLang="en-US" dirty="0" smtClean="0"/>
              <a:t>一张照片百万级别像素</a:t>
            </a:r>
            <a:endParaRPr lang="en-US" altLang="zh-CN" dirty="0" smtClean="0"/>
          </a:p>
          <a:p>
            <a:pPr lvl="2"/>
            <a:r>
              <a:rPr lang="zh-CN" altLang="en-US" dirty="0" smtClean="0"/>
              <a:t>彩色图片需要三通道组成</a:t>
            </a:r>
            <a:endParaRPr lang="en-US" altLang="zh-CN" dirty="0" smtClean="0"/>
          </a:p>
          <a:p>
            <a:pPr lvl="2"/>
            <a:r>
              <a:rPr lang="zh-CN" altLang="en-US" dirty="0" smtClean="0"/>
              <a:t>视频流包含数据量更大</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7098" y="1566801"/>
            <a:ext cx="5835192" cy="4133970"/>
          </a:xfrm>
          <a:prstGeom prst="rect">
            <a:avLst/>
          </a:prstGeom>
        </p:spPr>
      </p:pic>
    </p:spTree>
    <p:extLst>
      <p:ext uri="{BB962C8B-B14F-4D97-AF65-F5344CB8AC3E}">
        <p14:creationId xmlns:p14="http://schemas.microsoft.com/office/powerpoint/2010/main" val="3284262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目标检测应用场景</a:t>
            </a:r>
            <a:endParaRPr lang="zh-CN" altLang="en-US" dirty="0"/>
          </a:p>
        </p:txBody>
      </p:sp>
    </p:spTree>
    <p:extLst>
      <p:ext uri="{BB962C8B-B14F-4D97-AF65-F5344CB8AC3E}">
        <p14:creationId xmlns:p14="http://schemas.microsoft.com/office/powerpoint/2010/main" val="1417159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目标检测应用场景</a:t>
            </a:r>
            <a:endParaRPr lang="zh-CN" altLang="en-US" dirty="0"/>
          </a:p>
        </p:txBody>
      </p:sp>
      <p:sp>
        <p:nvSpPr>
          <p:cNvPr id="3" name="内容占位符 2"/>
          <p:cNvSpPr>
            <a:spLocks noGrp="1"/>
          </p:cNvSpPr>
          <p:nvPr>
            <p:ph sz="quarter" idx="13"/>
          </p:nvPr>
        </p:nvSpPr>
        <p:spPr/>
        <p:txBody>
          <a:bodyPr/>
          <a:lstStyle/>
          <a:p>
            <a:r>
              <a:rPr lang="zh-CN" altLang="en-US" dirty="0" smtClean="0"/>
              <a:t>目标检测是计算机视觉最基本的问题之一，具有极为广泛的应用，下面简单介绍几个典型的应用场景：</a:t>
            </a:r>
            <a:endParaRPr lang="en-US" altLang="zh-CN" dirty="0" smtClean="0"/>
          </a:p>
          <a:p>
            <a:pPr marL="342900" indent="-342900">
              <a:buFont typeface="+mj-lt"/>
              <a:buAutoNum type="arabicPeriod"/>
            </a:pPr>
            <a:r>
              <a:rPr lang="zh-CN" altLang="en-US" dirty="0"/>
              <a:t>人</a:t>
            </a:r>
            <a:r>
              <a:rPr lang="zh-CN" altLang="en-US" dirty="0" smtClean="0"/>
              <a:t>脸识别</a:t>
            </a:r>
            <a:endParaRPr lang="en-US" altLang="zh-CN" dirty="0" smtClean="0"/>
          </a:p>
          <a:p>
            <a:pPr marL="342900" indent="-342900">
              <a:buFont typeface="+mj-lt"/>
              <a:buAutoNum type="arabicPeriod"/>
            </a:pPr>
            <a:r>
              <a:rPr lang="zh-CN" altLang="en-US" dirty="0" smtClean="0"/>
              <a:t>智慧交通</a:t>
            </a:r>
            <a:endParaRPr lang="en-US" altLang="zh-CN" dirty="0" smtClean="0"/>
          </a:p>
          <a:p>
            <a:pPr marL="342900" indent="-342900">
              <a:buFont typeface="+mj-lt"/>
              <a:buAutoNum type="arabicPeriod"/>
            </a:pPr>
            <a:r>
              <a:rPr lang="zh-CN" altLang="en-US" dirty="0"/>
              <a:t>工业检测</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510" y="1708178"/>
            <a:ext cx="4348262" cy="2237149"/>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950174"/>
            <a:ext cx="4677748" cy="218225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86329" y="3950174"/>
            <a:ext cx="3234159" cy="2187100"/>
          </a:xfrm>
          <a:prstGeom prst="rect">
            <a:avLst/>
          </a:prstGeom>
        </p:spPr>
      </p:pic>
    </p:spTree>
    <p:extLst>
      <p:ext uri="{BB962C8B-B14F-4D97-AF65-F5344CB8AC3E}">
        <p14:creationId xmlns:p14="http://schemas.microsoft.com/office/powerpoint/2010/main" val="307496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人脸识别</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rPr>
              <a:t>人脸识别是基于人的面部特征进行身份识别的一种生物识别技术，也叫做人像识别、面部识别</a:t>
            </a:r>
            <a:r>
              <a:rPr lang="zh-CN" altLang="en-US" dirty="0" smtClean="0">
                <a:latin typeface="微软雅黑" panose="020B0503020204020204" pitchFamily="34" charset="-122"/>
              </a:rPr>
              <a:t>。</a:t>
            </a:r>
            <a:endParaRPr lang="en-US" altLang="zh-CN" dirty="0" smtClean="0">
              <a:latin typeface="微软雅黑" panose="020B0503020204020204" pitchFamily="34" charset="-122"/>
            </a:endParaRPr>
          </a:p>
          <a:p>
            <a:r>
              <a:rPr lang="zh-CN" altLang="en-US" dirty="0">
                <a:latin typeface="微软雅黑" panose="020B0503020204020204" pitchFamily="34" charset="-122"/>
              </a:rPr>
              <a:t>人</a:t>
            </a:r>
            <a:r>
              <a:rPr lang="zh-CN" altLang="en-US" dirty="0" smtClean="0">
                <a:latin typeface="微软雅黑" panose="020B0503020204020204" pitchFamily="34" charset="-122"/>
              </a:rPr>
              <a:t>脸</a:t>
            </a:r>
            <a:r>
              <a:rPr lang="zh-CN" altLang="en-US" dirty="0">
                <a:latin typeface="微软雅黑" panose="020B0503020204020204" pitchFamily="34" charset="-122"/>
              </a:rPr>
              <a:t>识别系统主要包括</a:t>
            </a:r>
            <a:r>
              <a:rPr lang="en-US" altLang="zh-CN" dirty="0">
                <a:latin typeface="微软雅黑" panose="020B0503020204020204" pitchFamily="34" charset="-122"/>
              </a:rPr>
              <a:t>4</a:t>
            </a:r>
            <a:r>
              <a:rPr lang="zh-CN" altLang="en-US" dirty="0">
                <a:latin typeface="微软雅黑" panose="020B0503020204020204" pitchFamily="34" charset="-122"/>
              </a:rPr>
              <a:t>个</a:t>
            </a:r>
            <a:r>
              <a:rPr lang="zh-CN" altLang="en-US" dirty="0" smtClean="0">
                <a:latin typeface="微软雅黑" panose="020B0503020204020204" pitchFamily="34" charset="-122"/>
              </a:rPr>
              <a:t>部分：</a:t>
            </a:r>
            <a:endParaRPr lang="en-US" altLang="zh-CN" dirty="0" smtClean="0">
              <a:latin typeface="微软雅黑" panose="020B0503020204020204" pitchFamily="34" charset="-12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人脸图像采集</a:t>
            </a:r>
            <a:r>
              <a:rPr lang="en-US" altLang="zh-CN" dirty="0">
                <a:latin typeface="微软雅黑" panose="020B0503020204020204" pitchFamily="34" charset="-122"/>
                <a:sym typeface="Wingdings 2" panose="05020102010507070707" pitchFamily="18" charset="2"/>
              </a:rPr>
              <a:t>/</a:t>
            </a:r>
            <a:r>
              <a:rPr lang="zh-CN" altLang="en-US" dirty="0" smtClean="0">
                <a:latin typeface="微软雅黑" panose="020B0503020204020204" pitchFamily="34" charset="-122"/>
                <a:sym typeface="Wingdings 2" panose="05020102010507070707" pitchFamily="18" charset="2"/>
              </a:rPr>
              <a:t>检测</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人脸图像</a:t>
            </a:r>
            <a:r>
              <a:rPr lang="zh-CN" altLang="en-US" dirty="0" smtClean="0">
                <a:latin typeface="微软雅黑" panose="020B0503020204020204" pitchFamily="34" charset="-122"/>
                <a:sym typeface="Wingdings 2" panose="05020102010507070707" pitchFamily="18" charset="2"/>
              </a:rPr>
              <a:t>预处理</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人脸图像</a:t>
            </a:r>
            <a:r>
              <a:rPr lang="zh-CN" altLang="en-US" dirty="0" smtClean="0">
                <a:latin typeface="微软雅黑" panose="020B0503020204020204" pitchFamily="34" charset="-122"/>
                <a:sym typeface="Wingdings 2" panose="05020102010507070707" pitchFamily="18" charset="2"/>
              </a:rPr>
              <a:t>特征提取</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身份匹配与</a:t>
            </a:r>
            <a:r>
              <a:rPr lang="zh-CN" altLang="en-US" dirty="0" smtClean="0">
                <a:latin typeface="微软雅黑" panose="020B0503020204020204" pitchFamily="34" charset="-122"/>
                <a:sym typeface="Wingdings 2" panose="05020102010507070707" pitchFamily="18" charset="2"/>
              </a:rPr>
              <a:t>识别</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其中人脸图像采集</a:t>
            </a:r>
            <a:r>
              <a:rPr lang="en-US" altLang="zh-CN" dirty="0" smtClean="0">
                <a:latin typeface="微软雅黑" panose="020B0503020204020204" pitchFamily="34" charset="-122"/>
                <a:sym typeface="Wingdings 2" panose="05020102010507070707" pitchFamily="18" charset="2"/>
              </a:rPr>
              <a:t>/</a:t>
            </a:r>
            <a:r>
              <a:rPr lang="zh-CN" altLang="en-US" dirty="0" smtClean="0">
                <a:latin typeface="微软雅黑" panose="020B0503020204020204" pitchFamily="34" charset="-122"/>
                <a:sym typeface="Wingdings 2" panose="05020102010507070707" pitchFamily="18" charset="2"/>
              </a:rPr>
              <a:t>检测是进行后续识别的基础。</a:t>
            </a:r>
            <a:endParaRPr lang="en-US" altLang="zh-CN" dirty="0">
              <a:latin typeface="微软雅黑" panose="020B0503020204020204" pitchFamily="34" charset="-122"/>
            </a:endParaRPr>
          </a:p>
          <a:p>
            <a:r>
              <a:rPr lang="zh-CN" altLang="en-US" dirty="0" smtClean="0"/>
              <a:t>右图通过</a:t>
            </a:r>
            <a:r>
              <a:rPr lang="zh-CN" altLang="en-US" dirty="0">
                <a:latin typeface="微软雅黑" panose="020B0503020204020204" pitchFamily="34" charset="-122"/>
                <a:sym typeface="Wingdings 2" panose="05020102010507070707" pitchFamily="18" charset="2"/>
              </a:rPr>
              <a:t>检测框把后续算法的处理区域从整个</a:t>
            </a:r>
            <a:r>
              <a:rPr lang="zh-CN" altLang="en-US" dirty="0" smtClean="0">
                <a:latin typeface="微软雅黑" panose="020B0503020204020204" pitchFamily="34" charset="-122"/>
                <a:sym typeface="Wingdings 2" panose="05020102010507070707" pitchFamily="18" charset="2"/>
              </a:rPr>
              <a:t>图像</a:t>
            </a:r>
            <a:endParaRPr lang="en-US" altLang="zh-CN" dirty="0" smtClean="0">
              <a:latin typeface="微软雅黑" panose="020B0503020204020204" pitchFamily="34" charset="-122"/>
              <a:sym typeface="Wingdings 2" panose="05020102010507070707" pitchFamily="18" charset="2"/>
            </a:endParaRPr>
          </a:p>
          <a:p>
            <a:pPr marL="0" indent="0">
              <a:buNone/>
            </a:pPr>
            <a:r>
              <a:rPr lang="zh-CN" altLang="en-US" dirty="0" smtClean="0">
                <a:latin typeface="微软雅黑" panose="020B0503020204020204" pitchFamily="34" charset="-122"/>
                <a:sym typeface="Wingdings 2" panose="05020102010507070707" pitchFamily="18" charset="2"/>
              </a:rPr>
              <a:t>限制到人</a:t>
            </a:r>
            <a:r>
              <a:rPr lang="zh-CN" altLang="en-US" dirty="0">
                <a:latin typeface="微软雅黑" panose="020B0503020204020204" pitchFamily="34" charset="-122"/>
                <a:sym typeface="Wingdings 2" panose="05020102010507070707" pitchFamily="18" charset="2"/>
              </a:rPr>
              <a:t>脸</a:t>
            </a:r>
            <a:r>
              <a:rPr lang="zh-CN" altLang="en-US" dirty="0" smtClean="0">
                <a:latin typeface="微软雅黑" panose="020B0503020204020204" pitchFamily="34" charset="-122"/>
                <a:sym typeface="Wingdings 2" panose="05020102010507070707" pitchFamily="18" charset="2"/>
              </a:rPr>
              <a:t>区域。</a:t>
            </a:r>
            <a:endParaRPr lang="en-US" altLang="zh-CN" dirty="0" smtClean="0">
              <a:latin typeface="微软雅黑" panose="020B0503020204020204" pitchFamily="34" charset="-122"/>
              <a:sym typeface="Wingdings 2" panose="05020102010507070707" pitchFamily="18" charset="2"/>
            </a:endParaRPr>
          </a:p>
          <a:p>
            <a:pPr marL="0" indent="0">
              <a:buNone/>
            </a:pPr>
            <a:endParaRPr lang="en-US" altLang="zh-CN" dirty="0">
              <a:latin typeface="微软雅黑" panose="020B0503020204020204" pitchFamily="34" charset="-122"/>
              <a:sym typeface="Wingdings 2" panose="05020102010507070707" pitchFamily="18"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0488" y="1594417"/>
            <a:ext cx="4800000" cy="4542857"/>
          </a:xfrm>
          <a:prstGeom prst="rect">
            <a:avLst/>
          </a:prstGeom>
        </p:spPr>
      </p:pic>
    </p:spTree>
    <p:extLst>
      <p:ext uri="{BB962C8B-B14F-4D97-AF65-F5344CB8AC3E}">
        <p14:creationId xmlns:p14="http://schemas.microsoft.com/office/powerpoint/2010/main" val="3047552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人脸识别</a:t>
            </a:r>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人脸识别</a:t>
            </a:r>
            <a:r>
              <a:rPr lang="zh-CN" altLang="en-US" dirty="0" smtClean="0">
                <a:latin typeface="微软雅黑" panose="020B0503020204020204" pitchFamily="34" charset="-122"/>
                <a:sym typeface="Wingdings 2" panose="05020102010507070707" pitchFamily="18" charset="2"/>
              </a:rPr>
              <a:t>技术通常结合红外</a:t>
            </a:r>
            <a:r>
              <a:rPr lang="zh-CN" altLang="en-US" dirty="0">
                <a:latin typeface="微软雅黑" panose="020B0503020204020204" pitchFamily="34" charset="-122"/>
                <a:sym typeface="Wingdings 2" panose="05020102010507070707" pitchFamily="18" charset="2"/>
              </a:rPr>
              <a:t>摄像头，能够辩别真人与照片，根据</a:t>
            </a:r>
            <a:r>
              <a:rPr lang="zh-CN" altLang="en-US" dirty="0"/>
              <a:t>人脸部位的热成像温度检测体温。</a:t>
            </a:r>
          </a:p>
          <a:p>
            <a:r>
              <a:rPr lang="zh-CN" altLang="en-US" dirty="0" smtClean="0">
                <a:latin typeface="微软雅黑" panose="020B0503020204020204" pitchFamily="34" charset="-122"/>
                <a:sym typeface="Wingdings 2" panose="05020102010507070707" pitchFamily="18" charset="2"/>
              </a:rPr>
              <a:t>近年来</a:t>
            </a:r>
            <a:r>
              <a:rPr lang="zh-CN" altLang="en-US" dirty="0">
                <a:latin typeface="微软雅黑" panose="020B0503020204020204" pitchFamily="34" charset="-122"/>
                <a:sym typeface="Wingdings 2" panose="05020102010507070707" pitchFamily="18" charset="2"/>
              </a:rPr>
              <a:t>人脸识别技术已经取得长足发展，通过人脸识别摄像头广泛应用于公安、交通、支付等多个实际场景</a:t>
            </a:r>
            <a:r>
              <a:rPr lang="zh-CN" altLang="en-US" dirty="0" smtClean="0">
                <a:latin typeface="微软雅黑" panose="020B0503020204020204" pitchFamily="34" charset="-122"/>
                <a:sym typeface="Wingdings 2" panose="05020102010507070707" pitchFamily="18" charset="2"/>
              </a:rPr>
              <a:t>。</a:t>
            </a:r>
            <a:endParaRPr lang="en-US" altLang="zh-CN" dirty="0" smtClean="0">
              <a:latin typeface="微软雅黑" panose="020B0503020204020204" pitchFamily="34" charset="-122"/>
              <a:sym typeface="Wingdings 2" panose="05020102010507070707" pitchFamily="18"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744701"/>
            <a:ext cx="4084172" cy="2240777"/>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4097" y="3743375"/>
            <a:ext cx="2989471" cy="2242103"/>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3568" y="3743374"/>
            <a:ext cx="3363156" cy="2242103"/>
          </a:xfrm>
          <a:prstGeom prst="rect">
            <a:avLst/>
          </a:prstGeom>
        </p:spPr>
      </p:pic>
    </p:spTree>
    <p:extLst>
      <p:ext uri="{BB962C8B-B14F-4D97-AF65-F5344CB8AC3E}">
        <p14:creationId xmlns:p14="http://schemas.microsoft.com/office/powerpoint/2010/main" val="10073839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智慧交通</a:t>
            </a:r>
            <a:endParaRPr lang="zh-CN" altLang="en-US" dirty="0"/>
          </a:p>
        </p:txBody>
      </p:sp>
      <p:sp>
        <p:nvSpPr>
          <p:cNvPr id="3" name="内容占位符 2"/>
          <p:cNvSpPr>
            <a:spLocks noGrp="1"/>
          </p:cNvSpPr>
          <p:nvPr>
            <p:ph sz="quarter" idx="13"/>
          </p:nvPr>
        </p:nvSpPr>
        <p:spPr/>
        <p:txBody>
          <a:bodyPr/>
          <a:lstStyle/>
          <a:p>
            <a:r>
              <a:rPr lang="zh-CN" altLang="en-US" dirty="0" smtClean="0"/>
              <a:t>智慧交通是目标检测另一大应用场景，主要场景有：</a:t>
            </a:r>
            <a:endParaRPr lang="en-US" altLang="zh-CN" dirty="0" smtClean="0"/>
          </a:p>
          <a:p>
            <a:pPr marL="342900" indent="-342900">
              <a:buFont typeface="+mj-lt"/>
              <a:buAutoNum type="arabicPeriod"/>
            </a:pPr>
            <a:r>
              <a:rPr lang="zh-CN" altLang="en-US" dirty="0" smtClean="0"/>
              <a:t>流量监控与红绿灯配时控制</a:t>
            </a:r>
            <a:endParaRPr lang="en-US" altLang="zh-CN" dirty="0" smtClean="0"/>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异常事件</a:t>
            </a:r>
            <a:r>
              <a:rPr lang="zh-CN" altLang="en-US" dirty="0" smtClean="0">
                <a:latin typeface="微软雅黑" panose="020B0503020204020204" pitchFamily="34" charset="-122"/>
                <a:sym typeface="Wingdings 2" panose="05020102010507070707" pitchFamily="18" charset="2"/>
              </a:rPr>
              <a:t>检测</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交通违法事件检测与</a:t>
            </a:r>
            <a:r>
              <a:rPr lang="zh-CN" altLang="en-US" dirty="0" smtClean="0">
                <a:latin typeface="微软雅黑" panose="020B0503020204020204" pitchFamily="34" charset="-122"/>
                <a:sym typeface="Wingdings 2" panose="05020102010507070707" pitchFamily="18" charset="2"/>
              </a:rPr>
              <a:t>追踪</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自动驾驶</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2026" y="2183765"/>
            <a:ext cx="7028462" cy="3953509"/>
          </a:xfrm>
          <a:prstGeom prst="rect">
            <a:avLst/>
          </a:prstGeom>
        </p:spPr>
      </p:pic>
    </p:spTree>
    <p:extLst>
      <p:ext uri="{BB962C8B-B14F-4D97-AF65-F5344CB8AC3E}">
        <p14:creationId xmlns:p14="http://schemas.microsoft.com/office/powerpoint/2010/main" val="39216908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流量监控与红绿灯配时控制</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对道路相机采集的视频图像进行分析，根据相应路段车流量调整红绿灯配时策略，提升交通通行能力</a:t>
            </a:r>
            <a:r>
              <a:rPr lang="zh-CN" altLang="en-US" dirty="0" smtClean="0">
                <a:latin typeface="微软雅黑" panose="020B0503020204020204" pitchFamily="34" charset="-122"/>
                <a:sym typeface="Wingdings 2" panose="05020102010507070707" pitchFamily="18" charset="2"/>
              </a:rPr>
              <a:t>。</a:t>
            </a:r>
            <a:endParaRPr lang="en-US" altLang="zh-CN" dirty="0" smtClean="0">
              <a:latin typeface="微软雅黑" panose="020B0503020204020204" pitchFamily="34" charset="-122"/>
              <a:sym typeface="Wingdings 2" panose="05020102010507070707" pitchFamily="18" charset="2"/>
            </a:endParaRPr>
          </a:p>
          <a:p>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831" y="1861751"/>
            <a:ext cx="2627471" cy="4090086"/>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925" y="2470356"/>
            <a:ext cx="7325303" cy="2872875"/>
          </a:xfrm>
          <a:prstGeom prst="rect">
            <a:avLst/>
          </a:prstGeom>
        </p:spPr>
      </p:pic>
    </p:spTree>
    <p:extLst>
      <p:ext uri="{BB962C8B-B14F-4D97-AF65-F5344CB8AC3E}">
        <p14:creationId xmlns:p14="http://schemas.microsoft.com/office/powerpoint/2010/main" val="3950004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异常事件检测</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检测各种交通异常事件，包括非机动车驶入机动车道，车辆占用应急车道以及危险品运输车辆异常驾驶行为等。</a:t>
            </a:r>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516" y="2741964"/>
            <a:ext cx="10299380" cy="3395310"/>
          </a:xfrm>
          <a:prstGeom prst="rect">
            <a:avLst/>
          </a:prstGeom>
        </p:spPr>
      </p:pic>
    </p:spTree>
    <p:extLst>
      <p:ext uri="{BB962C8B-B14F-4D97-AF65-F5344CB8AC3E}">
        <p14:creationId xmlns:p14="http://schemas.microsoft.com/office/powerpoint/2010/main" val="1447649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sym typeface="Wingdings 2" panose="05020102010507070707" pitchFamily="18" charset="2"/>
              </a:rPr>
              <a:t>交通违法事件检测与追踪</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发现套牌车辆、收费站逃费现象，对肇事车辆全程轨迹追踪，极大提升交管部门的监管能力。</a:t>
            </a:r>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319434"/>
            <a:ext cx="5181600" cy="2914650"/>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97273" y="2176460"/>
            <a:ext cx="5023215" cy="3200597"/>
          </a:xfrm>
          <a:prstGeom prst="rect">
            <a:avLst/>
          </a:prstGeom>
        </p:spPr>
      </p:pic>
    </p:spTree>
    <p:extLst>
      <p:ext uri="{BB962C8B-B14F-4D97-AF65-F5344CB8AC3E}">
        <p14:creationId xmlns:p14="http://schemas.microsoft.com/office/powerpoint/2010/main" val="1543905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自动驾驶</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当今热门的研究领域，主要包含对道路、车辆以及行人的检测，对交通标志物及路旁物体检测识别</a:t>
            </a:r>
            <a:r>
              <a:rPr lang="zh-CN" altLang="en-US" dirty="0" smtClean="0">
                <a:latin typeface="微软雅黑" panose="020B0503020204020204" pitchFamily="34" charset="-122"/>
                <a:sym typeface="Wingdings 2" panose="05020102010507070707" pitchFamily="18" charset="2"/>
              </a:rPr>
              <a:t>等。</a:t>
            </a:r>
            <a:endParaRPr lang="en-US" altLang="zh-CN" dirty="0" smtClean="0">
              <a:latin typeface="微软雅黑" panose="020B0503020204020204" pitchFamily="34" charset="-122"/>
              <a:sym typeface="Wingdings 2" panose="05020102010507070707" pitchFamily="18" charset="2"/>
            </a:endParaRPr>
          </a:p>
          <a:p>
            <a:r>
              <a:rPr lang="zh-CN" altLang="en-US" dirty="0">
                <a:latin typeface="微软雅黑" panose="020B0503020204020204" pitchFamily="34" charset="-122"/>
                <a:sym typeface="Wingdings 2" panose="05020102010507070707" pitchFamily="18" charset="2"/>
              </a:rPr>
              <a:t>主流的人工智能公司都投入大量资源进行研发，目前已经初步实现受限路况下的自动驾驶，但距离实现复杂路况天气下的自动驾驶尚有很大一段距离。</a:t>
            </a:r>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3244" y="2858047"/>
            <a:ext cx="5127244" cy="3279227"/>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924" y="2857472"/>
            <a:ext cx="5467265" cy="3279802"/>
          </a:xfrm>
          <a:prstGeom prst="rect">
            <a:avLst/>
          </a:prstGeom>
        </p:spPr>
      </p:pic>
    </p:spTree>
    <p:extLst>
      <p:ext uri="{BB962C8B-B14F-4D97-AF65-F5344CB8AC3E}">
        <p14:creationId xmlns:p14="http://schemas.microsoft.com/office/powerpoint/2010/main" val="152565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工业检测</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工业检测是计算机视觉的另一个重要应用领域，在各个行业均有极为广泛的应用</a:t>
            </a:r>
            <a:r>
              <a:rPr lang="zh-CN" altLang="en-US" dirty="0" smtClean="0">
                <a:latin typeface="微软雅黑" panose="020B0503020204020204" pitchFamily="34" charset="-122"/>
                <a:sym typeface="Wingdings 2" panose="05020102010507070707" pitchFamily="18" charset="2"/>
              </a:rPr>
              <a:t>。</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利用计算机视觉技术中的目标检测算法，检测出产品外观缺陷。</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相比于人工检测，工业检测效率更高，也保障了检测效果。</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右图使用工业检测，检测出电路板内层芯板的断路。</a:t>
            </a:r>
            <a:endParaRPr lang="en-US" altLang="zh-CN" dirty="0" smtClean="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4784" y="2208778"/>
            <a:ext cx="4055704" cy="3928496"/>
          </a:xfrm>
          <a:prstGeom prst="rect">
            <a:avLst/>
          </a:prstGeom>
        </p:spPr>
      </p:pic>
    </p:spTree>
    <p:extLst>
      <p:ext uri="{BB962C8B-B14F-4D97-AF65-F5344CB8AC3E}">
        <p14:creationId xmlns:p14="http://schemas.microsoft.com/office/powerpoint/2010/main" val="1192878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目标检测发展史</a:t>
            </a:r>
            <a:endParaRPr lang="zh-CN" altLang="en-US" dirty="0"/>
          </a:p>
        </p:txBody>
      </p:sp>
    </p:spTree>
    <p:extLst>
      <p:ext uri="{BB962C8B-B14F-4D97-AF65-F5344CB8AC3E}">
        <p14:creationId xmlns:p14="http://schemas.microsoft.com/office/powerpoint/2010/main" val="39551261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目标检测发展史</a:t>
            </a:r>
            <a:endParaRPr lang="zh-CN" altLang="en-US" dirty="0"/>
          </a:p>
        </p:txBody>
      </p:sp>
      <p:sp>
        <p:nvSpPr>
          <p:cNvPr id="3" name="内容占位符 2"/>
          <p:cNvSpPr>
            <a:spLocks noGrp="1"/>
          </p:cNvSpPr>
          <p:nvPr>
            <p:ph sz="quarter" idx="13"/>
          </p:nvPr>
        </p:nvSpPr>
        <p:spPr/>
        <p:txBody>
          <a:bodyPr/>
          <a:lstStyle/>
          <a:p>
            <a:r>
              <a:rPr lang="zh-CN" altLang="en-US" dirty="0"/>
              <a:t>在过去的二十几年里，以</a:t>
            </a:r>
            <a:r>
              <a:rPr lang="en-US" altLang="zh-CN" dirty="0"/>
              <a:t>2014</a:t>
            </a:r>
            <a:r>
              <a:rPr lang="zh-CN" altLang="en-US" dirty="0"/>
              <a:t>年为分界点，目标检测技术大致可分为两个阶段：在</a:t>
            </a:r>
            <a:r>
              <a:rPr lang="en-US" altLang="zh-CN" dirty="0"/>
              <a:t>2014</a:t>
            </a:r>
            <a:r>
              <a:rPr lang="zh-CN" altLang="en-US" dirty="0"/>
              <a:t>年以前，目标检测问题都基于传统算法；在</a:t>
            </a:r>
            <a:r>
              <a:rPr lang="en-US" altLang="zh-CN" dirty="0"/>
              <a:t>2014</a:t>
            </a:r>
            <a:r>
              <a:rPr lang="zh-CN" altLang="en-US" dirty="0"/>
              <a:t>年以后，目标检测问题主要基于深度学习算法</a:t>
            </a:r>
            <a:r>
              <a:rPr lang="zh-CN" altLang="en-US" dirty="0" smtClean="0"/>
              <a:t>。</a:t>
            </a:r>
            <a:endParaRPr lang="en-US" altLang="zh-CN" dirty="0" smtClean="0"/>
          </a:p>
          <a:p>
            <a:r>
              <a:rPr lang="zh-CN" altLang="en-US" dirty="0" smtClean="0"/>
              <a:t>传统算法：</a:t>
            </a:r>
            <a:endParaRPr lang="en-US" altLang="zh-CN" dirty="0" smtClean="0"/>
          </a:p>
          <a:p>
            <a:pPr lvl="1"/>
            <a:r>
              <a:rPr lang="zh-CN" altLang="en-US" dirty="0" smtClean="0"/>
              <a:t>依靠人工设计特征</a:t>
            </a:r>
            <a:endParaRPr lang="en-US" altLang="zh-CN" dirty="0" smtClean="0"/>
          </a:p>
          <a:p>
            <a:pPr lvl="1"/>
            <a:r>
              <a:rPr lang="zh-CN" altLang="en-US" dirty="0" smtClean="0"/>
              <a:t>计算</a:t>
            </a:r>
            <a:r>
              <a:rPr lang="zh-CN" altLang="en-US" dirty="0"/>
              <a:t>过程过于</a:t>
            </a:r>
            <a:r>
              <a:rPr lang="zh-CN" altLang="en-US" dirty="0" smtClean="0"/>
              <a:t>繁琐</a:t>
            </a:r>
            <a:endParaRPr lang="en-US" altLang="zh-CN" dirty="0" smtClean="0"/>
          </a:p>
          <a:p>
            <a:pPr lvl="1"/>
            <a:r>
              <a:rPr lang="zh-CN" altLang="en-US" dirty="0" smtClean="0"/>
              <a:t>数据量达到瓶颈后性能不再优化</a:t>
            </a:r>
            <a:endParaRPr lang="en-US" altLang="zh-CN" dirty="0" smtClean="0"/>
          </a:p>
          <a:p>
            <a:r>
              <a:rPr lang="zh-CN" altLang="en-US" dirty="0" smtClean="0"/>
              <a:t>深度学习算法：</a:t>
            </a:r>
            <a:endParaRPr lang="en-US" altLang="zh-CN" dirty="0" smtClean="0"/>
          </a:p>
          <a:p>
            <a:pPr lvl="1"/>
            <a:r>
              <a:rPr lang="zh-CN" altLang="en-US" dirty="0" smtClean="0"/>
              <a:t>依靠神经网络训练特征</a:t>
            </a:r>
            <a:endParaRPr lang="en-US" altLang="zh-CN" dirty="0" smtClean="0"/>
          </a:p>
          <a:p>
            <a:pPr lvl="1"/>
            <a:r>
              <a:rPr lang="zh-CN" altLang="en-US" dirty="0" smtClean="0"/>
              <a:t>计算过程简单</a:t>
            </a:r>
            <a:endParaRPr lang="en-US" altLang="zh-CN" dirty="0" smtClean="0"/>
          </a:p>
          <a:p>
            <a:pPr lvl="1"/>
            <a:r>
              <a:rPr lang="zh-CN" altLang="en-US" dirty="0" smtClean="0"/>
              <a:t>需要丰富的数据集</a:t>
            </a:r>
            <a:endParaRPr lang="en-US" altLang="zh-CN" dirty="0" smtClean="0"/>
          </a:p>
          <a:p>
            <a:pPr lvl="1"/>
            <a:r>
              <a:rPr lang="zh-CN" altLang="en-US" dirty="0" smtClean="0"/>
              <a:t>需要超强算力的支持</a:t>
            </a:r>
            <a:endParaRPr lang="en-US" altLang="zh-CN" dirty="0"/>
          </a:p>
          <a:p>
            <a:r>
              <a:rPr lang="zh-CN" altLang="en-US" dirty="0" smtClean="0"/>
              <a:t>下面简单回顾目标检测的发展历史，介绍几种里程碑式的算法。</a:t>
            </a:r>
            <a:endParaRPr lang="en-US" altLang="zh-CN" dirty="0" smtClean="0"/>
          </a:p>
          <a:p>
            <a:pPr lvl="1"/>
            <a:endParaRPr lang="en-US" altLang="zh-CN" dirty="0" smtClean="0"/>
          </a:p>
          <a:p>
            <a:pPr lvl="1"/>
            <a:endParaRPr lang="en-US" altLang="zh-CN" dirty="0"/>
          </a:p>
          <a:p>
            <a:endParaRPr lang="zh-CN" altLang="en-US" dirty="0"/>
          </a:p>
        </p:txBody>
      </p:sp>
      <p:graphicFrame>
        <p:nvGraphicFramePr>
          <p:cNvPr id="4" name="图示 3"/>
          <p:cNvGraphicFramePr/>
          <p:nvPr>
            <p:extLst>
              <p:ext uri="{D42A27DB-BD31-4B8C-83A1-F6EECF244321}">
                <p14:modId xmlns:p14="http://schemas.microsoft.com/office/powerpoint/2010/main" val="140845766"/>
              </p:ext>
            </p:extLst>
          </p:nvPr>
        </p:nvGraphicFramePr>
        <p:xfrm>
          <a:off x="8712882" y="2905053"/>
          <a:ext cx="2146041" cy="2598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12"/>
          <p:cNvSpPr txBox="1">
            <a:spLocks noChangeArrowheads="1"/>
          </p:cNvSpPr>
          <p:nvPr/>
        </p:nvSpPr>
        <p:spPr bwMode="auto">
          <a:xfrm>
            <a:off x="7326785" y="3267814"/>
            <a:ext cx="1298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sz="1400" b="1"/>
              <a:t>开始</a:t>
            </a:r>
            <a:r>
              <a:rPr lang="en-US" altLang="zh-CN" sz="1400" b="1"/>
              <a:t>---2014</a:t>
            </a:r>
            <a:r>
              <a:rPr lang="zh-CN" altLang="en-US" sz="1400" b="1"/>
              <a:t>年</a:t>
            </a:r>
          </a:p>
        </p:txBody>
      </p:sp>
      <p:sp>
        <p:nvSpPr>
          <p:cNvPr id="6" name="文本框 18"/>
          <p:cNvSpPr txBox="1">
            <a:spLocks noChangeArrowheads="1"/>
          </p:cNvSpPr>
          <p:nvPr/>
        </p:nvSpPr>
        <p:spPr bwMode="auto">
          <a:xfrm>
            <a:off x="7326785" y="4853726"/>
            <a:ext cx="1298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2014</a:t>
            </a:r>
            <a:r>
              <a:rPr lang="zh-CN" altLang="en-US" sz="1400" b="1"/>
              <a:t>年</a:t>
            </a:r>
            <a:r>
              <a:rPr lang="en-US" altLang="zh-CN" sz="1400" b="1"/>
              <a:t>---</a:t>
            </a:r>
            <a:r>
              <a:rPr lang="zh-CN" altLang="en-US" sz="1400" b="1"/>
              <a:t>至今</a:t>
            </a:r>
          </a:p>
        </p:txBody>
      </p:sp>
      <p:sp>
        <p:nvSpPr>
          <p:cNvPr id="7" name="文本框 19"/>
          <p:cNvSpPr txBox="1">
            <a:spLocks noChangeArrowheads="1"/>
          </p:cNvSpPr>
          <p:nvPr/>
        </p:nvSpPr>
        <p:spPr bwMode="auto">
          <a:xfrm>
            <a:off x="9055572" y="2351826"/>
            <a:ext cx="1441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sz="1400" b="1"/>
              <a:t>目标检测发展史</a:t>
            </a:r>
          </a:p>
        </p:txBody>
      </p:sp>
    </p:spTree>
    <p:extLst>
      <p:ext uri="{BB962C8B-B14F-4D97-AF65-F5344CB8AC3E}">
        <p14:creationId xmlns:p14="http://schemas.microsoft.com/office/powerpoint/2010/main" val="8601607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传统算法</a:t>
            </a:r>
            <a:r>
              <a:rPr lang="en-US" altLang="zh-CN" noProof="1">
                <a:latin typeface="微软雅黑" panose="020B0503020204020204" pitchFamily="34" charset="-122"/>
                <a:cs typeface="微软雅黑" panose="020B0503020204020204" pitchFamily="34" charset="-122"/>
              </a:rPr>
              <a:t>——Viola Jones</a:t>
            </a:r>
            <a:r>
              <a:rPr lang="zh-CN" altLang="en-US" noProof="1">
                <a:latin typeface="微软雅黑" panose="020B0503020204020204" pitchFamily="34" charset="-122"/>
                <a:cs typeface="微软雅黑" panose="020B0503020204020204" pitchFamily="34" charset="-122"/>
              </a:rPr>
              <a:t>检测器</a:t>
            </a:r>
            <a:endParaRPr lang="zh-CN" altLang="en-US" dirty="0"/>
          </a:p>
        </p:txBody>
      </p:sp>
      <p:sp>
        <p:nvSpPr>
          <p:cNvPr id="3" name="内容占位符 2"/>
          <p:cNvSpPr>
            <a:spLocks noGrp="1"/>
          </p:cNvSpPr>
          <p:nvPr>
            <p:ph sz="quarter" idx="13"/>
          </p:nvPr>
        </p:nvSpPr>
        <p:spPr/>
        <p:txBody>
          <a:bodyPr/>
          <a:lstStyle/>
          <a:p>
            <a:r>
              <a:rPr lang="en-US" altLang="zh-CN" dirty="0"/>
              <a:t>Viola Jones</a:t>
            </a:r>
            <a:r>
              <a:rPr lang="zh-CN" altLang="en-US" dirty="0"/>
              <a:t>检测器</a:t>
            </a:r>
            <a:endParaRPr lang="en-US" altLang="zh-CN" dirty="0"/>
          </a:p>
          <a:p>
            <a:pPr lvl="1"/>
            <a:r>
              <a:rPr lang="zh-CN" altLang="en-US" dirty="0"/>
              <a:t>由</a:t>
            </a:r>
            <a:r>
              <a:rPr lang="en-US" altLang="zh-CN" dirty="0"/>
              <a:t>P. Viola</a:t>
            </a:r>
            <a:r>
              <a:rPr lang="zh-CN" altLang="en-US" dirty="0"/>
              <a:t>和</a:t>
            </a:r>
            <a:r>
              <a:rPr lang="en-US" altLang="zh-CN" dirty="0"/>
              <a:t>M. Jones</a:t>
            </a:r>
            <a:r>
              <a:rPr lang="zh-CN" altLang="en-US" dirty="0"/>
              <a:t>针对人脸检测场景提出</a:t>
            </a:r>
          </a:p>
          <a:p>
            <a:pPr lvl="1"/>
            <a:r>
              <a:rPr lang="zh-CN" altLang="en-US" dirty="0"/>
              <a:t>同等精度下，比同时期算法有几十到上百倍速度提升</a:t>
            </a:r>
          </a:p>
          <a:p>
            <a:pPr lvl="1"/>
            <a:r>
              <a:rPr lang="zh-CN" altLang="en-US" dirty="0"/>
              <a:t>采用最直接的滑动窗口方法</a:t>
            </a:r>
          </a:p>
          <a:p>
            <a:pPr lvl="1"/>
            <a:r>
              <a:rPr lang="zh-CN" altLang="en-US" dirty="0"/>
              <a:t>通过积分图像技巧大幅减少特征重复计算</a:t>
            </a:r>
          </a:p>
          <a:p>
            <a:pPr lvl="1"/>
            <a:r>
              <a:rPr lang="zh-CN" altLang="en-US" dirty="0"/>
              <a:t>基于</a:t>
            </a:r>
            <a:r>
              <a:rPr lang="en-US" altLang="zh-CN" dirty="0" err="1"/>
              <a:t>Adaboost</a:t>
            </a:r>
            <a:r>
              <a:rPr lang="zh-CN" altLang="en-US" dirty="0"/>
              <a:t>从大量特征中筛选适合的特征</a:t>
            </a:r>
          </a:p>
          <a:p>
            <a:pPr lvl="1"/>
            <a:r>
              <a:rPr lang="zh-CN" altLang="en-US" dirty="0"/>
              <a:t>使用级联检测策略避免在背景耗费过多的计算资源</a:t>
            </a:r>
          </a:p>
          <a:p>
            <a:pPr lvl="1"/>
            <a:endParaRPr lang="zh-CN" altLang="en-US" dirty="0"/>
          </a:p>
        </p:txBody>
      </p:sp>
      <p:pic>
        <p:nvPicPr>
          <p:cNvPr id="4"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32625" y="4079875"/>
            <a:ext cx="4297363"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32625" y="1347788"/>
            <a:ext cx="4287838"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下箭头 5"/>
          <p:cNvSpPr/>
          <p:nvPr/>
        </p:nvSpPr>
        <p:spPr>
          <a:xfrm>
            <a:off x="7277100" y="3532188"/>
            <a:ext cx="430213" cy="508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文本框 5"/>
          <p:cNvSpPr txBox="1">
            <a:spLocks noChangeArrowheads="1"/>
          </p:cNvSpPr>
          <p:nvPr/>
        </p:nvSpPr>
        <p:spPr bwMode="auto">
          <a:xfrm>
            <a:off x="8034338" y="3640138"/>
            <a:ext cx="2970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sz="1400" b="1"/>
              <a:t>基于</a:t>
            </a:r>
            <a:r>
              <a:rPr lang="en-US" altLang="zh-CN" sz="1400" b="1"/>
              <a:t>Viola Jones</a:t>
            </a:r>
            <a:r>
              <a:rPr lang="zh-CN" altLang="en-US" sz="1400" b="1"/>
              <a:t>检测器的人脸检测</a:t>
            </a:r>
          </a:p>
        </p:txBody>
      </p:sp>
    </p:spTree>
    <p:extLst>
      <p:ext uri="{BB962C8B-B14F-4D97-AF65-F5344CB8AC3E}">
        <p14:creationId xmlns:p14="http://schemas.microsoft.com/office/powerpoint/2010/main" val="3068495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传统算法</a:t>
            </a:r>
            <a:r>
              <a:rPr lang="en-US" altLang="zh-CN" noProof="1">
                <a:latin typeface="微软雅黑" panose="020B0503020204020204" pitchFamily="34" charset="-122"/>
                <a:cs typeface="微软雅黑" panose="020B0503020204020204" pitchFamily="34" charset="-122"/>
              </a:rPr>
              <a:t>——HOG</a:t>
            </a:r>
            <a:r>
              <a:rPr lang="zh-CN" altLang="en-US" noProof="1" smtClean="0">
                <a:latin typeface="微软雅黑" panose="020B0503020204020204" pitchFamily="34" charset="-122"/>
                <a:cs typeface="微软雅黑" panose="020B0503020204020204" pitchFamily="34" charset="-122"/>
              </a:rPr>
              <a:t>检测器</a:t>
            </a:r>
            <a:endParaRPr lang="zh-CN" altLang="en-US" dirty="0"/>
          </a:p>
        </p:txBody>
      </p:sp>
      <p:sp>
        <p:nvSpPr>
          <p:cNvPr id="3" name="内容占位符 2"/>
          <p:cNvSpPr>
            <a:spLocks noGrp="1"/>
          </p:cNvSpPr>
          <p:nvPr>
            <p:ph sz="quarter" idx="13"/>
          </p:nvPr>
        </p:nvSpPr>
        <p:spPr/>
        <p:txBody>
          <a:bodyPr/>
          <a:lstStyle/>
          <a:p>
            <a:r>
              <a:rPr lang="en-US" altLang="zh-CN" dirty="0"/>
              <a:t>HOG (Histogram of Oriented Gradients, </a:t>
            </a:r>
            <a:r>
              <a:rPr lang="zh-CN" altLang="en-US" dirty="0"/>
              <a:t>梯度方向直方图</a:t>
            </a:r>
            <a:r>
              <a:rPr lang="en-US" altLang="zh-CN" dirty="0" smtClean="0"/>
              <a:t>)</a:t>
            </a:r>
          </a:p>
          <a:p>
            <a:pPr lvl="1"/>
            <a:r>
              <a:rPr lang="zh-CN" altLang="en-US" dirty="0"/>
              <a:t>由</a:t>
            </a:r>
            <a:r>
              <a:rPr lang="en-US" altLang="zh-CN" dirty="0"/>
              <a:t>N. </a:t>
            </a:r>
            <a:r>
              <a:rPr lang="en-US" altLang="zh-CN" dirty="0" err="1"/>
              <a:t>Dalal</a:t>
            </a:r>
            <a:r>
              <a:rPr lang="zh-CN" altLang="en-US" dirty="0"/>
              <a:t>和</a:t>
            </a:r>
            <a:r>
              <a:rPr lang="en-US" altLang="zh-CN" dirty="0"/>
              <a:t>B. </a:t>
            </a:r>
            <a:r>
              <a:rPr lang="en-US" altLang="zh-CN" dirty="0" err="1"/>
              <a:t>Triggs</a:t>
            </a:r>
            <a:r>
              <a:rPr lang="en-US" altLang="zh-CN" dirty="0"/>
              <a:t> </a:t>
            </a:r>
            <a:r>
              <a:rPr lang="zh-CN" altLang="en-US" dirty="0"/>
              <a:t>于</a:t>
            </a:r>
            <a:r>
              <a:rPr lang="en-US" altLang="zh-CN" dirty="0"/>
              <a:t>2005</a:t>
            </a:r>
            <a:r>
              <a:rPr lang="zh-CN" altLang="en-US" dirty="0"/>
              <a:t>年</a:t>
            </a:r>
            <a:r>
              <a:rPr lang="zh-CN" altLang="en-US" dirty="0" smtClean="0"/>
              <a:t>提出</a:t>
            </a:r>
            <a:endParaRPr lang="en-US" altLang="zh-CN" dirty="0" smtClean="0"/>
          </a:p>
          <a:p>
            <a:pPr lvl="1"/>
            <a:r>
              <a:rPr lang="zh-CN" altLang="en-US" dirty="0" smtClean="0"/>
              <a:t>用规则网格将图像划分成大小相同的子块</a:t>
            </a:r>
            <a:endParaRPr lang="en-US" altLang="zh-CN" dirty="0" smtClean="0"/>
          </a:p>
          <a:p>
            <a:pPr lvl="1"/>
            <a:r>
              <a:rPr lang="zh-CN" altLang="en-US" dirty="0"/>
              <a:t>每一</a:t>
            </a:r>
            <a:r>
              <a:rPr lang="zh-CN" altLang="en-US" dirty="0" smtClean="0"/>
              <a:t>个子块计算梯度方向直方图</a:t>
            </a:r>
            <a:endParaRPr lang="en-US" altLang="zh-CN" dirty="0" smtClean="0"/>
          </a:p>
          <a:p>
            <a:pPr lvl="1"/>
            <a:r>
              <a:rPr lang="zh-CN" altLang="en-US" dirty="0" smtClean="0"/>
              <a:t>消除尺度变化和光照影响</a:t>
            </a:r>
            <a:endParaRPr lang="en-US" altLang="zh-CN" dirty="0" smtClean="0"/>
          </a:p>
          <a:p>
            <a:pPr lvl="1"/>
            <a:r>
              <a:rPr lang="zh-CN" altLang="en-US" dirty="0" smtClean="0"/>
              <a:t>在行人检测场景有极为重要的应用</a:t>
            </a:r>
            <a:endParaRPr lang="en-US" altLang="zh-CN" dirty="0" smtClean="0"/>
          </a:p>
          <a:p>
            <a:r>
              <a:rPr lang="zh-CN" altLang="en-US" dirty="0" smtClean="0"/>
              <a:t>右图是</a:t>
            </a:r>
            <a:r>
              <a:rPr lang="en-US" altLang="zh-CN" dirty="0" smtClean="0"/>
              <a:t>HOG</a:t>
            </a:r>
            <a:r>
              <a:rPr lang="zh-CN" altLang="en-US" dirty="0" smtClean="0"/>
              <a:t>划分子块的演示</a:t>
            </a:r>
            <a:endParaRPr lang="en-US" altLang="zh-CN" dirty="0" smtClean="0"/>
          </a:p>
          <a:p>
            <a:pPr lvl="1"/>
            <a:r>
              <a:rPr lang="zh-CN" altLang="en-US" dirty="0"/>
              <a:t>黑色</a:t>
            </a:r>
            <a:r>
              <a:rPr lang="zh-CN" altLang="en-US" dirty="0" smtClean="0"/>
              <a:t>框</a:t>
            </a:r>
            <a:r>
              <a:rPr lang="en-US" altLang="zh-CN" dirty="0" smtClean="0"/>
              <a:t>cell</a:t>
            </a:r>
            <a:r>
              <a:rPr lang="zh-CN" altLang="en-US" dirty="0" smtClean="0"/>
              <a:t>代表一个单元格</a:t>
            </a:r>
            <a:endParaRPr lang="en-US" altLang="zh-CN" dirty="0" smtClean="0"/>
          </a:p>
          <a:p>
            <a:pPr lvl="1"/>
            <a:r>
              <a:rPr lang="zh-CN" altLang="en-US" dirty="0" smtClean="0"/>
              <a:t>其他颜色框代表一个子块，每个子块包含</a:t>
            </a:r>
            <a:r>
              <a:rPr lang="en-US" altLang="zh-CN" dirty="0" smtClean="0"/>
              <a:t>4</a:t>
            </a:r>
            <a:r>
              <a:rPr lang="zh-CN" altLang="en-US" dirty="0" smtClean="0"/>
              <a:t>个单元格</a:t>
            </a:r>
            <a:endParaRPr lang="en-US" altLang="zh-CN" dirty="0" smtClean="0"/>
          </a:p>
          <a:p>
            <a:pPr lvl="1"/>
            <a:r>
              <a:rPr lang="zh-CN" altLang="en-US" dirty="0" smtClean="0"/>
              <a:t>计算以子块为单位</a:t>
            </a:r>
            <a:endParaRPr lang="en-US" altLang="zh-CN" dirty="0" smtClean="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3647" y="1542666"/>
            <a:ext cx="4206841" cy="4182240"/>
          </a:xfrm>
          <a:prstGeom prst="rect">
            <a:avLst/>
          </a:prstGeom>
        </p:spPr>
      </p:pic>
    </p:spTree>
    <p:extLst>
      <p:ext uri="{BB962C8B-B14F-4D97-AF65-F5344CB8AC3E}">
        <p14:creationId xmlns:p14="http://schemas.microsoft.com/office/powerpoint/2010/main" val="9101378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传统算法</a:t>
            </a:r>
            <a:r>
              <a:rPr lang="en-US" altLang="zh-CN" noProof="1">
                <a:latin typeface="微软雅黑" panose="020B0503020204020204" pitchFamily="34" charset="-122"/>
                <a:cs typeface="微软雅黑" panose="020B0503020204020204" pitchFamily="34" charset="-122"/>
              </a:rPr>
              <a:t>——DPM</a:t>
            </a:r>
            <a:r>
              <a:rPr lang="zh-CN" altLang="en-US" noProof="1" smtClean="0">
                <a:latin typeface="微软雅黑" panose="020B0503020204020204" pitchFamily="34" charset="-122"/>
                <a:cs typeface="微软雅黑" panose="020B0503020204020204" pitchFamily="34" charset="-122"/>
              </a:rPr>
              <a:t>检测器</a:t>
            </a:r>
            <a:endParaRPr lang="zh-CN" altLang="en-US" dirty="0"/>
          </a:p>
        </p:txBody>
      </p:sp>
      <p:sp>
        <p:nvSpPr>
          <p:cNvPr id="3" name="内容占位符 2"/>
          <p:cNvSpPr>
            <a:spLocks noGrp="1"/>
          </p:cNvSpPr>
          <p:nvPr>
            <p:ph sz="quarter" idx="13"/>
          </p:nvPr>
        </p:nvSpPr>
        <p:spPr/>
        <p:txBody>
          <a:bodyPr/>
          <a:lstStyle/>
          <a:p>
            <a:r>
              <a:rPr lang="en-US" altLang="zh-CN" dirty="0"/>
              <a:t>DPM (Deformable Part Model, </a:t>
            </a:r>
            <a:r>
              <a:rPr lang="zh-CN" altLang="en-US" dirty="0"/>
              <a:t>可变形组件模型</a:t>
            </a:r>
            <a:r>
              <a:rPr lang="en-US" altLang="zh-CN" dirty="0" smtClean="0"/>
              <a:t>)</a:t>
            </a:r>
          </a:p>
          <a:p>
            <a:pPr lvl="1"/>
            <a:r>
              <a:rPr lang="zh-CN" altLang="en-US" dirty="0" smtClean="0"/>
              <a:t>基于组件的检测算法</a:t>
            </a:r>
            <a:endParaRPr lang="en-US" altLang="zh-CN" dirty="0" smtClean="0"/>
          </a:p>
          <a:p>
            <a:pPr lvl="1"/>
            <a:r>
              <a:rPr lang="zh-CN" altLang="en-US" dirty="0"/>
              <a:t>由</a:t>
            </a:r>
            <a:r>
              <a:rPr lang="en-US" altLang="zh-CN" dirty="0"/>
              <a:t>P. </a:t>
            </a:r>
            <a:r>
              <a:rPr lang="en-US" altLang="zh-CN" dirty="0" err="1"/>
              <a:t>Felzenszwalb</a:t>
            </a:r>
            <a:r>
              <a:rPr lang="zh-CN" altLang="en-US" dirty="0"/>
              <a:t>于</a:t>
            </a:r>
            <a:r>
              <a:rPr lang="en-US" altLang="zh-CN" dirty="0"/>
              <a:t>2008</a:t>
            </a:r>
            <a:r>
              <a:rPr lang="zh-CN" altLang="en-US" dirty="0"/>
              <a:t>年</a:t>
            </a:r>
            <a:r>
              <a:rPr lang="zh-CN" altLang="en-US" dirty="0" smtClean="0"/>
              <a:t>提出，</a:t>
            </a:r>
            <a:r>
              <a:rPr lang="en-US" altLang="zh-CN" dirty="0" smtClean="0"/>
              <a:t>R</a:t>
            </a:r>
            <a:r>
              <a:rPr lang="en-US" altLang="zh-CN" dirty="0"/>
              <a:t>. </a:t>
            </a:r>
            <a:r>
              <a:rPr lang="en-US" altLang="zh-CN" dirty="0" err="1" smtClean="0"/>
              <a:t>Girshick</a:t>
            </a:r>
            <a:r>
              <a:rPr lang="zh-CN" altLang="en-US" dirty="0" smtClean="0"/>
              <a:t>进行改进</a:t>
            </a:r>
            <a:endParaRPr lang="en-US" altLang="zh-CN" dirty="0" smtClean="0"/>
          </a:p>
          <a:p>
            <a:pPr lvl="1"/>
            <a:r>
              <a:rPr lang="zh-CN" altLang="en-US" dirty="0"/>
              <a:t>采用滑动窗口方法</a:t>
            </a:r>
            <a:endParaRPr lang="en-US" altLang="zh-CN" dirty="0"/>
          </a:p>
          <a:p>
            <a:pPr lvl="1"/>
            <a:r>
              <a:rPr lang="zh-CN" altLang="en-US" dirty="0" smtClean="0"/>
              <a:t>对</a:t>
            </a:r>
            <a:r>
              <a:rPr lang="en-US" altLang="zh-CN" dirty="0" smtClean="0"/>
              <a:t>HOG</a:t>
            </a:r>
            <a:r>
              <a:rPr lang="zh-CN" altLang="en-US" dirty="0" smtClean="0"/>
              <a:t>特征进行扩展，基于</a:t>
            </a:r>
            <a:r>
              <a:rPr lang="en-US" altLang="zh-CN" dirty="0" smtClean="0"/>
              <a:t>SVM</a:t>
            </a:r>
            <a:r>
              <a:rPr lang="zh-CN" altLang="en-US" dirty="0" smtClean="0"/>
              <a:t>进行分类</a:t>
            </a:r>
            <a:endParaRPr lang="en-US" altLang="zh-CN" dirty="0" smtClean="0"/>
          </a:p>
          <a:p>
            <a:pPr lvl="1"/>
            <a:r>
              <a:rPr lang="zh-CN" altLang="en-US" dirty="0" smtClean="0"/>
              <a:t>核心思想是将检测目标拆分成一系列部件进行检测</a:t>
            </a:r>
            <a:endParaRPr lang="en-US" altLang="zh-CN" dirty="0" smtClean="0"/>
          </a:p>
          <a:p>
            <a:pPr lvl="1"/>
            <a:r>
              <a:rPr lang="zh-CN" altLang="en-US" dirty="0" smtClean="0"/>
              <a:t>拆分思想对后续检测算法发展起到了深远的影响</a:t>
            </a:r>
            <a:endParaRPr lang="en-US" altLang="zh-CN" dirty="0" smtClean="0"/>
          </a:p>
          <a:p>
            <a:r>
              <a:rPr lang="zh-CN" altLang="en-US" dirty="0"/>
              <a:t>右</a:t>
            </a:r>
            <a:r>
              <a:rPr lang="zh-CN" altLang="en-US" dirty="0" smtClean="0"/>
              <a:t>图是</a:t>
            </a:r>
            <a:r>
              <a:rPr lang="en-US" altLang="zh-CN" dirty="0" smtClean="0"/>
              <a:t>DPM</a:t>
            </a:r>
            <a:r>
              <a:rPr lang="zh-CN" altLang="en-US" dirty="0" smtClean="0"/>
              <a:t>拆分部件检测的演示</a:t>
            </a:r>
            <a:endParaRPr lang="en-US" altLang="zh-CN" dirty="0"/>
          </a:p>
          <a:p>
            <a:pPr lvl="1"/>
            <a:r>
              <a:rPr lang="zh-CN" altLang="en-US" dirty="0" smtClean="0"/>
              <a:t>将人拆分为了头部、双臂、双腿、脚部进行检测</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358" y="1826847"/>
            <a:ext cx="4776130" cy="3613878"/>
          </a:xfrm>
          <a:prstGeom prst="rect">
            <a:avLst/>
          </a:prstGeom>
        </p:spPr>
      </p:pic>
    </p:spTree>
    <p:extLst>
      <p:ext uri="{BB962C8B-B14F-4D97-AF65-F5344CB8AC3E}">
        <p14:creationId xmlns:p14="http://schemas.microsoft.com/office/powerpoint/2010/main" val="495542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深度学习</a:t>
            </a:r>
            <a:r>
              <a:rPr lang="zh-CN" altLang="en-US" noProof="1" smtClean="0">
                <a:latin typeface="微软雅黑" panose="020B0503020204020204" pitchFamily="34" charset="-122"/>
                <a:cs typeface="微软雅黑" panose="020B0503020204020204" pitchFamily="34" charset="-122"/>
              </a:rPr>
              <a:t>算法</a:t>
            </a:r>
            <a:endParaRPr lang="zh-CN" altLang="en-US" dirty="0"/>
          </a:p>
        </p:txBody>
      </p:sp>
      <p:sp>
        <p:nvSpPr>
          <p:cNvPr id="3" name="内容占位符 2"/>
          <p:cNvSpPr>
            <a:spLocks noGrp="1"/>
          </p:cNvSpPr>
          <p:nvPr>
            <p:ph sz="quarter" idx="13"/>
          </p:nvPr>
        </p:nvSpPr>
        <p:spPr/>
        <p:txBody>
          <a:bodyPr/>
          <a:lstStyle/>
          <a:p>
            <a:r>
              <a:rPr lang="zh-CN" altLang="en-US" dirty="0"/>
              <a:t>从算法处理的流程划分，基于深度学习的目标检测算法可</a:t>
            </a:r>
            <a:r>
              <a:rPr lang="zh-CN" altLang="en-US" dirty="0" smtClean="0"/>
              <a:t>分为：</a:t>
            </a:r>
            <a:endParaRPr lang="en-US" altLang="zh-CN" dirty="0" smtClean="0"/>
          </a:p>
          <a:p>
            <a:pPr marL="342900" indent="-342900">
              <a:buFont typeface="+mj-lt"/>
              <a:buAutoNum type="arabicPeriod"/>
            </a:pPr>
            <a:r>
              <a:rPr lang="zh-CN" altLang="en-US" dirty="0"/>
              <a:t>两阶段</a:t>
            </a:r>
            <a:r>
              <a:rPr lang="en-US" altLang="zh-CN" dirty="0"/>
              <a:t> (Two-Stage) </a:t>
            </a:r>
            <a:r>
              <a:rPr lang="zh-CN" altLang="en-US" dirty="0"/>
              <a:t>算法</a:t>
            </a:r>
            <a:endParaRPr lang="en-US" altLang="zh-CN" dirty="0"/>
          </a:p>
          <a:p>
            <a:pPr lvl="1"/>
            <a:r>
              <a:rPr lang="zh-CN" altLang="en-US" dirty="0"/>
              <a:t>先进行候选框的筛选</a:t>
            </a:r>
            <a:endParaRPr lang="en-US" altLang="zh-CN" dirty="0"/>
          </a:p>
          <a:p>
            <a:pPr lvl="1"/>
            <a:r>
              <a:rPr lang="zh-CN" altLang="en-US" dirty="0"/>
              <a:t>判断候选框是否框中待检测目标</a:t>
            </a:r>
            <a:endParaRPr lang="en-US" altLang="zh-CN" dirty="0"/>
          </a:p>
          <a:p>
            <a:pPr lvl="1"/>
            <a:r>
              <a:rPr lang="zh-CN" altLang="en-US" dirty="0"/>
              <a:t>对目标位置进行修正</a:t>
            </a:r>
            <a:endParaRPr lang="en-US" altLang="zh-CN" dirty="0"/>
          </a:p>
          <a:p>
            <a:pPr lvl="1"/>
            <a:r>
              <a:rPr lang="zh-CN" altLang="en-US" dirty="0"/>
              <a:t>检测精度高、速度慢</a:t>
            </a:r>
            <a:endParaRPr lang="en-US" altLang="zh-CN" dirty="0"/>
          </a:p>
          <a:p>
            <a:pPr marL="342900" indent="-342900">
              <a:buFont typeface="+mj-lt"/>
              <a:buAutoNum type="arabicPeriod"/>
            </a:pPr>
            <a:r>
              <a:rPr lang="zh-CN" altLang="en-US" dirty="0" smtClean="0"/>
              <a:t>一</a:t>
            </a:r>
            <a:r>
              <a:rPr lang="zh-CN" altLang="en-US" dirty="0"/>
              <a:t>阶段 </a:t>
            </a:r>
            <a:r>
              <a:rPr lang="en-US" altLang="zh-CN" dirty="0"/>
              <a:t>(One-Stage) </a:t>
            </a:r>
            <a:r>
              <a:rPr lang="zh-CN" altLang="en-US" dirty="0"/>
              <a:t>算法</a:t>
            </a:r>
            <a:endParaRPr lang="en-US" altLang="zh-CN" dirty="0"/>
          </a:p>
          <a:p>
            <a:pPr lvl="1"/>
            <a:r>
              <a:rPr lang="zh-CN" altLang="en-US" dirty="0"/>
              <a:t>直接回归目标框的位置坐标和分类概率</a:t>
            </a:r>
            <a:endParaRPr lang="en-US" altLang="zh-CN" dirty="0"/>
          </a:p>
          <a:p>
            <a:pPr lvl="1"/>
            <a:r>
              <a:rPr lang="zh-CN" altLang="en-US" dirty="0"/>
              <a:t>检测精度低、速度快</a:t>
            </a:r>
            <a:endParaRPr lang="en-US" altLang="zh-CN" dirty="0"/>
          </a:p>
          <a:p>
            <a:r>
              <a:rPr lang="zh-CN" altLang="en-US" dirty="0" smtClean="0"/>
              <a:t>因此目标检测任务中：</a:t>
            </a:r>
            <a:endParaRPr lang="en-US" altLang="zh-CN" dirty="0" smtClean="0"/>
          </a:p>
          <a:p>
            <a:pPr lvl="1"/>
            <a:r>
              <a:rPr lang="zh-CN" altLang="en-US" dirty="0" smtClean="0"/>
              <a:t>需要不断改进优化主流算法</a:t>
            </a:r>
            <a:endParaRPr lang="en-US" altLang="zh-CN" dirty="0" smtClean="0"/>
          </a:p>
          <a:p>
            <a:pPr lvl="1"/>
            <a:r>
              <a:rPr lang="zh-CN" altLang="en-US" dirty="0" smtClean="0"/>
              <a:t>实现检测精度和检测速度的最佳平衡</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357" y="1486890"/>
            <a:ext cx="5159131" cy="4650384"/>
          </a:xfrm>
          <a:prstGeom prst="rect">
            <a:avLst/>
          </a:prstGeom>
        </p:spPr>
      </p:pic>
    </p:spTree>
    <p:extLst>
      <p:ext uri="{BB962C8B-B14F-4D97-AF65-F5344CB8AC3E}">
        <p14:creationId xmlns:p14="http://schemas.microsoft.com/office/powerpoint/2010/main" val="2169476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R-CNN</a:t>
            </a:r>
            <a:endParaRPr lang="zh-CN" altLang="en-US" dirty="0"/>
          </a:p>
        </p:txBody>
      </p:sp>
      <p:sp>
        <p:nvSpPr>
          <p:cNvPr id="3" name="内容占位符 2"/>
          <p:cNvSpPr>
            <a:spLocks noGrp="1"/>
          </p:cNvSpPr>
          <p:nvPr>
            <p:ph sz="quarter" idx="13"/>
          </p:nvPr>
        </p:nvSpPr>
        <p:spPr/>
        <p:txBody>
          <a:bodyPr/>
          <a:lstStyle/>
          <a:p>
            <a:r>
              <a:rPr lang="en-US" altLang="zh-CN" dirty="0"/>
              <a:t>R-CNN (Region-Convolutional Neural Networks, </a:t>
            </a:r>
            <a:r>
              <a:rPr lang="zh-CN" altLang="en-US" dirty="0"/>
              <a:t>区域卷积神经网络</a:t>
            </a:r>
            <a:r>
              <a:rPr lang="en-US" altLang="zh-CN" dirty="0"/>
              <a:t>)</a:t>
            </a:r>
            <a:r>
              <a:rPr lang="zh-CN" altLang="en-US" dirty="0" smtClean="0"/>
              <a:t>算法</a:t>
            </a:r>
            <a:endParaRPr lang="en-US" altLang="zh-CN" dirty="0" smtClean="0"/>
          </a:p>
          <a:p>
            <a:pPr lvl="1"/>
            <a:r>
              <a:rPr lang="zh-CN" altLang="en-US" dirty="0" smtClean="0"/>
              <a:t>由</a:t>
            </a:r>
            <a:r>
              <a:rPr lang="en-US" altLang="zh-CN" dirty="0"/>
              <a:t>R. </a:t>
            </a:r>
            <a:r>
              <a:rPr lang="en-US" altLang="zh-CN" dirty="0" err="1"/>
              <a:t>Girshick</a:t>
            </a:r>
            <a:r>
              <a:rPr lang="zh-CN" altLang="en-US" dirty="0"/>
              <a:t>等</a:t>
            </a:r>
            <a:r>
              <a:rPr lang="zh-CN" altLang="en-US" dirty="0" smtClean="0"/>
              <a:t>人于</a:t>
            </a:r>
            <a:r>
              <a:rPr lang="en-US" altLang="zh-CN" dirty="0" smtClean="0"/>
              <a:t>2014</a:t>
            </a:r>
            <a:r>
              <a:rPr lang="zh-CN" altLang="en-US" dirty="0" smtClean="0"/>
              <a:t>年提出</a:t>
            </a:r>
            <a:endParaRPr lang="en-US" altLang="zh-CN" dirty="0" smtClean="0"/>
          </a:p>
          <a:p>
            <a:pPr lvl="1"/>
            <a:r>
              <a:rPr lang="zh-CN" altLang="en-US" dirty="0"/>
              <a:t>基于</a:t>
            </a:r>
            <a:r>
              <a:rPr lang="en-US" altLang="zh-CN" dirty="0"/>
              <a:t>Selective Search</a:t>
            </a:r>
            <a:r>
              <a:rPr lang="zh-CN" altLang="en-US" dirty="0"/>
              <a:t>方法从原始图像中筛选出若干候选</a:t>
            </a:r>
            <a:r>
              <a:rPr lang="zh-CN" altLang="en-US" dirty="0" smtClean="0"/>
              <a:t>框</a:t>
            </a:r>
            <a:endParaRPr lang="en-US" altLang="zh-CN" dirty="0" smtClean="0"/>
          </a:p>
          <a:p>
            <a:pPr lvl="1"/>
            <a:r>
              <a:rPr lang="zh-CN" altLang="en-US" dirty="0" smtClean="0"/>
              <a:t>每个候选</a:t>
            </a:r>
            <a:r>
              <a:rPr lang="zh-CN" altLang="en-US" dirty="0"/>
              <a:t>框中的图像缩放到固定尺度送入卷积网络提取</a:t>
            </a:r>
            <a:r>
              <a:rPr lang="zh-CN" altLang="en-US" dirty="0" smtClean="0"/>
              <a:t>特征</a:t>
            </a:r>
            <a:endParaRPr lang="en-US" altLang="zh-CN" dirty="0" smtClean="0"/>
          </a:p>
          <a:p>
            <a:pPr lvl="1"/>
            <a:r>
              <a:rPr lang="zh-CN" altLang="en-US" dirty="0" smtClean="0"/>
              <a:t>通过</a:t>
            </a:r>
            <a:r>
              <a:rPr lang="en-US" altLang="zh-CN" dirty="0" smtClean="0"/>
              <a:t>SVM</a:t>
            </a:r>
            <a:r>
              <a:rPr lang="zh-CN" altLang="en-US" dirty="0"/>
              <a:t>方法对特征进行</a:t>
            </a:r>
            <a:r>
              <a:rPr lang="zh-CN" altLang="en-US" dirty="0" smtClean="0"/>
              <a:t>分类</a:t>
            </a:r>
            <a:endParaRPr lang="en-US" altLang="zh-CN" dirty="0" smtClean="0"/>
          </a:p>
          <a:p>
            <a:pPr lvl="1"/>
            <a:r>
              <a:rPr lang="zh-CN" altLang="en-US" dirty="0" smtClean="0"/>
              <a:t>判断候选框图像是背景还是目标</a:t>
            </a:r>
            <a:endParaRPr lang="en-US" altLang="zh-CN" dirty="0" smtClean="0"/>
          </a:p>
          <a:p>
            <a:r>
              <a:rPr lang="zh-CN" altLang="en-US" dirty="0" smtClean="0"/>
              <a:t>在</a:t>
            </a:r>
            <a:r>
              <a:rPr lang="en-US" altLang="zh-CN" dirty="0" smtClean="0"/>
              <a:t>VOC2007</a:t>
            </a:r>
            <a:r>
              <a:rPr lang="zh-CN" altLang="en-US" dirty="0" smtClean="0"/>
              <a:t>数据集上，算法性能提升（</a:t>
            </a:r>
            <a:r>
              <a:rPr lang="en-US" altLang="zh-CN" dirty="0" smtClean="0"/>
              <a:t>33.7%</a:t>
            </a:r>
            <a:r>
              <a:rPr lang="zh-CN" altLang="en-US" dirty="0" smtClean="0"/>
              <a:t>至</a:t>
            </a:r>
            <a:r>
              <a:rPr lang="en-US" altLang="zh-CN" dirty="0"/>
              <a:t>58.5</a:t>
            </a:r>
            <a:r>
              <a:rPr lang="en-US" altLang="zh-CN" dirty="0" smtClean="0"/>
              <a:t>%</a:t>
            </a:r>
            <a:r>
              <a:rPr lang="zh-CN" altLang="en-US" dirty="0" smtClean="0"/>
              <a:t>）</a:t>
            </a:r>
            <a:endParaRPr lang="en-US" altLang="zh-CN" dirty="0" smtClean="0"/>
          </a:p>
          <a:p>
            <a:r>
              <a:rPr lang="zh-CN" altLang="en-US" dirty="0" smtClean="0"/>
              <a:t>需要从</a:t>
            </a:r>
            <a:r>
              <a:rPr lang="en-US" altLang="zh-CN" dirty="0" smtClean="0"/>
              <a:t>2000</a:t>
            </a:r>
            <a:r>
              <a:rPr lang="zh-CN" altLang="en-US" dirty="0" smtClean="0"/>
              <a:t>多个候选框提取特征，算法效率很低</a:t>
            </a:r>
            <a:endParaRPr lang="en-US" altLang="zh-CN" dirty="0" smtClean="0"/>
          </a:p>
          <a:p>
            <a:endParaRPr lang="en-US" altLang="zh-CN" dirty="0" smtClean="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2825" y="4499179"/>
            <a:ext cx="7104762" cy="1638095"/>
          </a:xfrm>
          <a:prstGeom prst="rect">
            <a:avLst/>
          </a:prstGeom>
        </p:spPr>
      </p:pic>
    </p:spTree>
    <p:extLst>
      <p:ext uri="{BB962C8B-B14F-4D97-AF65-F5344CB8AC3E}">
        <p14:creationId xmlns:p14="http://schemas.microsoft.com/office/powerpoint/2010/main" val="490460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SPP-Net</a:t>
            </a:r>
            <a:endParaRPr lang="zh-CN" altLang="en-US" dirty="0"/>
          </a:p>
        </p:txBody>
      </p:sp>
      <p:sp>
        <p:nvSpPr>
          <p:cNvPr id="3" name="内容占位符 2"/>
          <p:cNvSpPr>
            <a:spLocks noGrp="1"/>
          </p:cNvSpPr>
          <p:nvPr>
            <p:ph sz="quarter" idx="13"/>
          </p:nvPr>
        </p:nvSpPr>
        <p:spPr/>
        <p:txBody>
          <a:bodyPr/>
          <a:lstStyle/>
          <a:p>
            <a:r>
              <a:rPr lang="en-US" altLang="zh-CN" dirty="0"/>
              <a:t>SPP-Net (Spatial Pyramid Pooling Networks, </a:t>
            </a:r>
            <a:r>
              <a:rPr lang="zh-CN" altLang="en-US" dirty="0"/>
              <a:t>空间金字塔池化网络</a:t>
            </a:r>
            <a:r>
              <a:rPr lang="en-US" altLang="zh-CN" dirty="0"/>
              <a:t>) </a:t>
            </a:r>
            <a:r>
              <a:rPr lang="zh-CN" altLang="en-US" dirty="0" smtClean="0"/>
              <a:t>算法</a:t>
            </a:r>
            <a:endParaRPr lang="en-US" altLang="zh-CN" dirty="0" smtClean="0"/>
          </a:p>
          <a:p>
            <a:pPr lvl="1"/>
            <a:r>
              <a:rPr lang="zh-CN" altLang="en-US" dirty="0" smtClean="0"/>
              <a:t>由何恺明</a:t>
            </a:r>
            <a:r>
              <a:rPr lang="zh-CN" altLang="en-US" dirty="0"/>
              <a:t>等</a:t>
            </a:r>
            <a:r>
              <a:rPr lang="zh-CN" altLang="en-US" dirty="0" smtClean="0"/>
              <a:t>人于</a:t>
            </a:r>
            <a:r>
              <a:rPr lang="en-US" altLang="zh-CN" dirty="0"/>
              <a:t>2014</a:t>
            </a:r>
            <a:r>
              <a:rPr lang="zh-CN" altLang="en-US" dirty="0"/>
              <a:t>年</a:t>
            </a:r>
            <a:r>
              <a:rPr lang="zh-CN" altLang="en-US" dirty="0" smtClean="0"/>
              <a:t>提出</a:t>
            </a:r>
            <a:endParaRPr lang="en-US" altLang="zh-CN" dirty="0" smtClean="0"/>
          </a:p>
          <a:p>
            <a:pPr lvl="1"/>
            <a:r>
              <a:rPr lang="zh-CN" altLang="en-US" dirty="0"/>
              <a:t>对原始图像只需要进行一次卷积网络的计算</a:t>
            </a:r>
            <a:endParaRPr lang="en-US" altLang="zh-CN" dirty="0"/>
          </a:p>
          <a:p>
            <a:pPr lvl="1"/>
            <a:r>
              <a:rPr lang="zh-CN" altLang="en-US" dirty="0" smtClean="0"/>
              <a:t>基于</a:t>
            </a:r>
            <a:r>
              <a:rPr lang="zh-CN" altLang="en-US" dirty="0"/>
              <a:t>一个空间金字塔池化层</a:t>
            </a:r>
            <a:r>
              <a:rPr lang="en-US" altLang="zh-CN" dirty="0"/>
              <a:t> (SPP layer</a:t>
            </a:r>
            <a:r>
              <a:rPr lang="en-US" altLang="zh-CN" dirty="0" smtClean="0"/>
              <a:t>)</a:t>
            </a:r>
          </a:p>
          <a:p>
            <a:pPr lvl="1"/>
            <a:r>
              <a:rPr lang="zh-CN" altLang="en-US" dirty="0" smtClean="0"/>
              <a:t>在</a:t>
            </a:r>
            <a:r>
              <a:rPr lang="en-US" altLang="zh-CN" dirty="0" smtClean="0"/>
              <a:t>R-CNN</a:t>
            </a:r>
            <a:r>
              <a:rPr lang="zh-CN" altLang="en-US" dirty="0" smtClean="0"/>
              <a:t>基础上，去除子图像尺寸限制</a:t>
            </a:r>
            <a:endParaRPr lang="en-US" altLang="zh-CN" dirty="0" smtClean="0"/>
          </a:p>
          <a:p>
            <a:pPr lvl="1"/>
            <a:r>
              <a:rPr lang="zh-CN" altLang="en-US" dirty="0"/>
              <a:t>每个候选框区域</a:t>
            </a:r>
            <a:r>
              <a:rPr lang="en-US" altLang="zh-CN" dirty="0"/>
              <a:t> (ROI) </a:t>
            </a:r>
            <a:r>
              <a:rPr lang="zh-CN" altLang="en-US" dirty="0" smtClean="0"/>
              <a:t>采样</a:t>
            </a:r>
            <a:r>
              <a:rPr lang="zh-CN" altLang="en-US" dirty="0"/>
              <a:t>成相同尺寸的子</a:t>
            </a:r>
            <a:r>
              <a:rPr lang="zh-CN" altLang="en-US" dirty="0" smtClean="0"/>
              <a:t>图像</a:t>
            </a:r>
            <a:endParaRPr lang="en-US" altLang="zh-CN" dirty="0" smtClean="0"/>
          </a:p>
          <a:p>
            <a:pPr lvl="1"/>
            <a:r>
              <a:rPr lang="zh-CN" altLang="en-US" dirty="0"/>
              <a:t>保证提取的特征具有相同的</a:t>
            </a:r>
            <a:r>
              <a:rPr lang="zh-CN" altLang="en-US" dirty="0" smtClean="0"/>
              <a:t>维数</a:t>
            </a:r>
            <a:endParaRPr lang="en-US" altLang="zh-CN" dirty="0" smtClean="0"/>
          </a:p>
          <a:p>
            <a:r>
              <a:rPr lang="zh-CN" altLang="en-US" dirty="0" smtClean="0"/>
              <a:t>相比</a:t>
            </a:r>
            <a:r>
              <a:rPr lang="en-US" altLang="zh-CN" dirty="0" smtClean="0"/>
              <a:t>R-CNN</a:t>
            </a:r>
            <a:r>
              <a:rPr lang="zh-CN" altLang="en-US" dirty="0" smtClean="0"/>
              <a:t>，算法</a:t>
            </a:r>
            <a:r>
              <a:rPr lang="zh-CN" altLang="en-US" dirty="0"/>
              <a:t>速度</a:t>
            </a:r>
            <a:r>
              <a:rPr lang="zh-CN" altLang="en-US" dirty="0" smtClean="0"/>
              <a:t>有几十倍</a:t>
            </a:r>
            <a:r>
              <a:rPr lang="zh-CN" altLang="en-US" dirty="0"/>
              <a:t>的提升</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7155" y="3670607"/>
            <a:ext cx="5933333" cy="2466667"/>
          </a:xfrm>
          <a:prstGeom prst="rect">
            <a:avLst/>
          </a:prstGeom>
        </p:spPr>
      </p:pic>
    </p:spTree>
    <p:extLst>
      <p:ext uri="{BB962C8B-B14F-4D97-AF65-F5344CB8AC3E}">
        <p14:creationId xmlns:p14="http://schemas.microsoft.com/office/powerpoint/2010/main" val="1205549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——Fast </a:t>
            </a:r>
            <a:r>
              <a:rPr lang="en-US" altLang="zh-CN" noProof="1" smtClean="0">
                <a:latin typeface="微软雅黑" panose="020B0503020204020204" pitchFamily="34" charset="-122"/>
                <a:cs typeface="微软雅黑" panose="020B0503020204020204" pitchFamily="34" charset="-122"/>
              </a:rPr>
              <a:t>R-CNN</a:t>
            </a:r>
            <a:endParaRPr lang="zh-CN" altLang="en-US" dirty="0"/>
          </a:p>
        </p:txBody>
      </p:sp>
      <p:sp>
        <p:nvSpPr>
          <p:cNvPr id="3" name="内容占位符 2"/>
          <p:cNvSpPr>
            <a:spLocks noGrp="1"/>
          </p:cNvSpPr>
          <p:nvPr>
            <p:ph sz="quarter" idx="13"/>
          </p:nvPr>
        </p:nvSpPr>
        <p:spPr/>
        <p:txBody>
          <a:bodyPr/>
          <a:lstStyle/>
          <a:p>
            <a:r>
              <a:rPr lang="en-US" altLang="zh-CN" dirty="0"/>
              <a:t>Fast R-CNN</a:t>
            </a:r>
            <a:r>
              <a:rPr lang="zh-CN" altLang="en-US" dirty="0" smtClean="0"/>
              <a:t>算法</a:t>
            </a:r>
            <a:endParaRPr lang="en-US" altLang="zh-CN" dirty="0" smtClean="0"/>
          </a:p>
          <a:p>
            <a:pPr lvl="1"/>
            <a:r>
              <a:rPr lang="zh-CN" altLang="en-US" dirty="0" smtClean="0"/>
              <a:t>由</a:t>
            </a:r>
            <a:r>
              <a:rPr lang="en-US" altLang="zh-CN" dirty="0" smtClean="0"/>
              <a:t>R</a:t>
            </a:r>
            <a:r>
              <a:rPr lang="en-US" altLang="zh-CN" dirty="0"/>
              <a:t>. </a:t>
            </a:r>
            <a:r>
              <a:rPr lang="en-US" altLang="zh-CN" dirty="0" err="1"/>
              <a:t>Girshick</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a:t>本质是在</a:t>
            </a:r>
            <a:r>
              <a:rPr lang="en-US" altLang="zh-CN" dirty="0"/>
              <a:t>R-CNN</a:t>
            </a:r>
            <a:r>
              <a:rPr lang="zh-CN" altLang="en-US" dirty="0"/>
              <a:t>和</a:t>
            </a:r>
            <a:r>
              <a:rPr lang="en-US" altLang="zh-CN" dirty="0"/>
              <a:t>SPP-Net</a:t>
            </a:r>
            <a:r>
              <a:rPr lang="zh-CN" altLang="en-US" dirty="0"/>
              <a:t>的基础</a:t>
            </a:r>
            <a:r>
              <a:rPr lang="zh-CN" altLang="en-US" dirty="0" smtClean="0"/>
              <a:t>上进一步改进</a:t>
            </a:r>
            <a:endParaRPr lang="en-US" altLang="zh-CN" dirty="0" smtClean="0"/>
          </a:p>
          <a:p>
            <a:pPr lvl="1"/>
            <a:r>
              <a:rPr lang="zh-CN" altLang="en-US" dirty="0"/>
              <a:t>同时预测目标的分类概率和位置</a:t>
            </a:r>
            <a:r>
              <a:rPr lang="zh-CN" altLang="en-US" dirty="0" smtClean="0"/>
              <a:t>偏移</a:t>
            </a:r>
            <a:endParaRPr lang="en-US" altLang="zh-CN" dirty="0" smtClean="0"/>
          </a:p>
          <a:p>
            <a:r>
              <a:rPr lang="zh-CN" altLang="en-US" dirty="0" smtClean="0"/>
              <a:t>在</a:t>
            </a:r>
            <a:r>
              <a:rPr lang="en-US" altLang="zh-CN" dirty="0" smtClean="0"/>
              <a:t>VOC2007</a:t>
            </a:r>
            <a:r>
              <a:rPr lang="zh-CN" altLang="en-US" dirty="0" smtClean="0"/>
              <a:t>数据集上，平均精度均值提升（</a:t>
            </a:r>
            <a:r>
              <a:rPr lang="en-US" altLang="zh-CN" dirty="0"/>
              <a:t> 58.5</a:t>
            </a:r>
            <a:r>
              <a:rPr lang="en-US" altLang="zh-CN" dirty="0" smtClean="0"/>
              <a:t>%</a:t>
            </a:r>
            <a:r>
              <a:rPr lang="zh-CN" altLang="en-US" dirty="0" smtClean="0"/>
              <a:t>至</a:t>
            </a:r>
            <a:r>
              <a:rPr lang="en-US" altLang="zh-CN" dirty="0"/>
              <a:t>70.0% </a:t>
            </a:r>
            <a:r>
              <a:rPr lang="zh-CN" altLang="en-US" dirty="0" smtClean="0"/>
              <a:t>）</a:t>
            </a:r>
            <a:endParaRPr lang="en-US" altLang="zh-CN" dirty="0" smtClean="0"/>
          </a:p>
          <a:p>
            <a:r>
              <a:rPr lang="zh-CN" altLang="en-US" dirty="0" smtClean="0"/>
              <a:t>相比</a:t>
            </a:r>
            <a:r>
              <a:rPr lang="en-US" altLang="zh-CN" dirty="0" smtClean="0"/>
              <a:t>R-CNN</a:t>
            </a:r>
            <a:r>
              <a:rPr lang="zh-CN" altLang="en-US" dirty="0" smtClean="0"/>
              <a:t>，算法速度提升</a:t>
            </a:r>
            <a:r>
              <a:rPr lang="en-US" altLang="zh-CN" dirty="0" smtClean="0"/>
              <a:t>200</a:t>
            </a:r>
            <a:r>
              <a:rPr lang="zh-CN" altLang="en-US" dirty="0"/>
              <a:t>倍</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1917" y="3184893"/>
            <a:ext cx="6428571" cy="2952381"/>
          </a:xfrm>
          <a:prstGeom prst="rect">
            <a:avLst/>
          </a:prstGeom>
        </p:spPr>
      </p:pic>
    </p:spTree>
    <p:extLst>
      <p:ext uri="{BB962C8B-B14F-4D97-AF65-F5344CB8AC3E}">
        <p14:creationId xmlns:p14="http://schemas.microsoft.com/office/powerpoint/2010/main" val="99079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——Faster </a:t>
            </a:r>
            <a:r>
              <a:rPr lang="en-US" altLang="zh-CN" noProof="1" smtClean="0">
                <a:latin typeface="微软雅黑" panose="020B0503020204020204" pitchFamily="34" charset="-122"/>
                <a:cs typeface="微软雅黑" panose="020B0503020204020204" pitchFamily="34" charset="-122"/>
              </a:rPr>
              <a:t>R-CNN</a:t>
            </a:r>
            <a:endParaRPr lang="zh-CN" altLang="en-US" dirty="0"/>
          </a:p>
        </p:txBody>
      </p:sp>
      <p:sp>
        <p:nvSpPr>
          <p:cNvPr id="3" name="内容占位符 2"/>
          <p:cNvSpPr>
            <a:spLocks noGrp="1"/>
          </p:cNvSpPr>
          <p:nvPr>
            <p:ph sz="quarter" idx="13"/>
          </p:nvPr>
        </p:nvSpPr>
        <p:spPr/>
        <p:txBody>
          <a:bodyPr/>
          <a:lstStyle/>
          <a:p>
            <a:r>
              <a:rPr lang="en-US" altLang="zh-CN" dirty="0"/>
              <a:t>Faster R-CNN</a:t>
            </a:r>
            <a:r>
              <a:rPr lang="zh-CN" altLang="en-US" dirty="0" smtClean="0"/>
              <a:t>算法</a:t>
            </a:r>
            <a:endParaRPr lang="en-US" altLang="zh-CN" dirty="0" smtClean="0"/>
          </a:p>
          <a:p>
            <a:pPr lvl="1"/>
            <a:r>
              <a:rPr lang="zh-CN" altLang="en-US" dirty="0" smtClean="0"/>
              <a:t>由</a:t>
            </a:r>
            <a:r>
              <a:rPr lang="en-US" altLang="zh-CN" dirty="0"/>
              <a:t>S. </a:t>
            </a:r>
            <a:r>
              <a:rPr lang="en-US" altLang="zh-CN" dirty="0" err="1"/>
              <a:t>Ren</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smtClean="0"/>
              <a:t>第一个端到端算法，接近实时深度学习</a:t>
            </a:r>
            <a:endParaRPr lang="en-US" altLang="zh-CN" dirty="0" smtClean="0"/>
          </a:p>
          <a:p>
            <a:pPr lvl="1"/>
            <a:r>
              <a:rPr lang="zh-CN" altLang="en-US" dirty="0" smtClean="0"/>
              <a:t>使用</a:t>
            </a:r>
            <a:r>
              <a:rPr lang="en-US" altLang="zh-CN" dirty="0" smtClean="0"/>
              <a:t>ZF-Net</a:t>
            </a:r>
            <a:r>
              <a:rPr lang="zh-CN" altLang="en-US" dirty="0" smtClean="0"/>
              <a:t>网络骨架</a:t>
            </a:r>
            <a:endParaRPr lang="en-US" altLang="zh-CN" dirty="0" smtClean="0"/>
          </a:p>
          <a:p>
            <a:pPr lvl="1"/>
            <a:r>
              <a:rPr lang="zh-CN" altLang="en-US" dirty="0" smtClean="0"/>
              <a:t>使用卷积网络检测候选框</a:t>
            </a:r>
            <a:endParaRPr lang="en-US" altLang="zh-CN" dirty="0" smtClean="0"/>
          </a:p>
          <a:p>
            <a:r>
              <a:rPr lang="en-US" altLang="zh-CN" dirty="0" smtClean="0"/>
              <a:t>VOC2007</a:t>
            </a:r>
            <a:r>
              <a:rPr lang="zh-CN" altLang="en-US" dirty="0" smtClean="0"/>
              <a:t>数据集上</a:t>
            </a:r>
            <a:endParaRPr lang="en-US" altLang="zh-CN" dirty="0" smtClean="0"/>
          </a:p>
          <a:p>
            <a:pPr lvl="1"/>
            <a:r>
              <a:rPr lang="zh-CN" altLang="en-US" dirty="0" smtClean="0"/>
              <a:t>平均精度均值达到</a:t>
            </a:r>
            <a:r>
              <a:rPr lang="en-US" altLang="zh-CN" dirty="0" smtClean="0"/>
              <a:t>73.2%</a:t>
            </a:r>
          </a:p>
          <a:p>
            <a:pPr lvl="1"/>
            <a:r>
              <a:rPr lang="zh-CN" altLang="en-US" dirty="0" smtClean="0"/>
              <a:t>算法速度达到</a:t>
            </a:r>
            <a:r>
              <a:rPr lang="en-US" altLang="zh-CN" dirty="0" smtClean="0"/>
              <a:t>17fps</a:t>
            </a:r>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4388" y="3498849"/>
            <a:ext cx="6896100" cy="2638425"/>
          </a:xfrm>
          <a:prstGeom prst="rect">
            <a:avLst/>
          </a:prstGeom>
        </p:spPr>
      </p:pic>
    </p:spTree>
    <p:extLst>
      <p:ext uri="{BB962C8B-B14F-4D97-AF65-F5344CB8AC3E}">
        <p14:creationId xmlns:p14="http://schemas.microsoft.com/office/powerpoint/2010/main" val="195875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FPN</a:t>
            </a:r>
            <a:endParaRPr lang="zh-CN" altLang="en-US" dirty="0"/>
          </a:p>
        </p:txBody>
      </p:sp>
      <p:sp>
        <p:nvSpPr>
          <p:cNvPr id="3" name="内容占位符 2"/>
          <p:cNvSpPr>
            <a:spLocks noGrp="1"/>
          </p:cNvSpPr>
          <p:nvPr>
            <p:ph sz="quarter" idx="13"/>
          </p:nvPr>
        </p:nvSpPr>
        <p:spPr/>
        <p:txBody>
          <a:bodyPr/>
          <a:lstStyle/>
          <a:p>
            <a:r>
              <a:rPr lang="en-US" altLang="zh-CN" dirty="0"/>
              <a:t>FPN (Feature Pyramid Networks, </a:t>
            </a:r>
            <a:r>
              <a:rPr lang="zh-CN" altLang="en-US" dirty="0"/>
              <a:t>特征金字塔策略</a:t>
            </a:r>
            <a:r>
              <a:rPr lang="en-US" altLang="zh-CN" dirty="0"/>
              <a:t>)</a:t>
            </a:r>
            <a:r>
              <a:rPr lang="zh-CN" altLang="en-US" dirty="0" smtClean="0"/>
              <a:t>算法</a:t>
            </a:r>
            <a:endParaRPr lang="en-US" altLang="zh-CN" dirty="0" smtClean="0"/>
          </a:p>
          <a:p>
            <a:pPr lvl="1"/>
            <a:r>
              <a:rPr lang="zh-CN" altLang="en-US" dirty="0" smtClean="0"/>
              <a:t>由</a:t>
            </a:r>
            <a:r>
              <a:rPr lang="en-US" altLang="zh-CN" dirty="0"/>
              <a:t>Lin </a:t>
            </a:r>
            <a:r>
              <a:rPr lang="zh-CN" altLang="en-US" dirty="0"/>
              <a:t>等</a:t>
            </a:r>
            <a:r>
              <a:rPr lang="zh-CN" altLang="en-US" dirty="0" smtClean="0"/>
              <a:t>人于</a:t>
            </a:r>
            <a:r>
              <a:rPr lang="en-US" altLang="zh-CN" dirty="0" smtClean="0"/>
              <a:t>2017</a:t>
            </a:r>
            <a:r>
              <a:rPr lang="zh-CN" altLang="en-US" dirty="0" smtClean="0"/>
              <a:t>年在</a:t>
            </a:r>
            <a:r>
              <a:rPr lang="en-US" altLang="zh-CN" dirty="0"/>
              <a:t>Faster R-CNN</a:t>
            </a:r>
            <a:r>
              <a:rPr lang="zh-CN" altLang="en-US" dirty="0"/>
              <a:t>的基础上</a:t>
            </a:r>
            <a:r>
              <a:rPr lang="zh-CN" altLang="en-US" dirty="0" smtClean="0"/>
              <a:t>提出</a:t>
            </a:r>
            <a:endParaRPr lang="en-US" altLang="zh-CN" dirty="0" smtClean="0"/>
          </a:p>
          <a:p>
            <a:pPr lvl="1"/>
            <a:r>
              <a:rPr lang="zh-CN" altLang="en-US" dirty="0"/>
              <a:t>采用</a:t>
            </a:r>
            <a:r>
              <a:rPr lang="en-US" altLang="zh-CN" dirty="0"/>
              <a:t>top-down</a:t>
            </a:r>
            <a:r>
              <a:rPr lang="zh-CN" altLang="en-US" dirty="0"/>
              <a:t>结构以及侧连</a:t>
            </a:r>
            <a:r>
              <a:rPr lang="zh-CN" altLang="en-US" dirty="0" smtClean="0"/>
              <a:t>方法</a:t>
            </a:r>
            <a:endParaRPr lang="en-US" altLang="zh-CN" dirty="0" smtClean="0"/>
          </a:p>
          <a:p>
            <a:pPr lvl="1"/>
            <a:r>
              <a:rPr lang="zh-CN" altLang="en-US" dirty="0" smtClean="0"/>
              <a:t>基于</a:t>
            </a:r>
            <a:r>
              <a:rPr lang="zh-CN" altLang="en-US" dirty="0"/>
              <a:t>特征金字塔的多层特征</a:t>
            </a:r>
            <a:r>
              <a:rPr lang="zh-CN" altLang="en-US" dirty="0" smtClean="0"/>
              <a:t>图</a:t>
            </a:r>
            <a:endParaRPr lang="en-US" altLang="zh-CN" dirty="0" smtClean="0"/>
          </a:p>
          <a:p>
            <a:pPr lvl="1"/>
            <a:r>
              <a:rPr lang="zh-CN" altLang="en-US" dirty="0"/>
              <a:t>成为</a:t>
            </a:r>
            <a:r>
              <a:rPr lang="zh-CN" altLang="en-US" dirty="0" smtClean="0"/>
              <a:t>构建</a:t>
            </a:r>
            <a:r>
              <a:rPr lang="zh-CN" altLang="en-US" dirty="0"/>
              <a:t>检测算法的基础</a:t>
            </a:r>
            <a:r>
              <a:rPr lang="zh-CN" altLang="en-US" dirty="0" smtClean="0"/>
              <a:t>策略</a:t>
            </a:r>
            <a:endParaRPr lang="en-US" altLang="zh-CN" dirty="0" smtClean="0"/>
          </a:p>
          <a:p>
            <a:r>
              <a:rPr lang="zh-CN" altLang="en-US" dirty="0" smtClean="0"/>
              <a:t>基于</a:t>
            </a:r>
            <a:r>
              <a:rPr lang="en-US" altLang="zh-CN" dirty="0" smtClean="0"/>
              <a:t>FPN</a:t>
            </a:r>
            <a:r>
              <a:rPr lang="zh-CN" altLang="en-US" dirty="0" smtClean="0"/>
              <a:t>的</a:t>
            </a:r>
            <a:r>
              <a:rPr lang="en-US" altLang="zh-CN" dirty="0" smtClean="0"/>
              <a:t>Faster R-CNN</a:t>
            </a:r>
            <a:r>
              <a:rPr lang="zh-CN" altLang="en-US" dirty="0" smtClean="0"/>
              <a:t>在</a:t>
            </a:r>
            <a:r>
              <a:rPr lang="en-US" altLang="zh-CN" dirty="0" smtClean="0"/>
              <a:t>COCO</a:t>
            </a:r>
            <a:r>
              <a:rPr lang="zh-CN" altLang="en-US" dirty="0" smtClean="0"/>
              <a:t>数据集取得最优性能</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3517594"/>
            <a:ext cx="10058400" cy="2619680"/>
          </a:xfrm>
          <a:prstGeom prst="rect">
            <a:avLst/>
          </a:prstGeom>
        </p:spPr>
      </p:pic>
    </p:spTree>
    <p:extLst>
      <p:ext uri="{BB962C8B-B14F-4D97-AF65-F5344CB8AC3E}">
        <p14:creationId xmlns:p14="http://schemas.microsoft.com/office/powerpoint/2010/main" val="703985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YOLO</a:t>
            </a:r>
            <a:endParaRPr lang="zh-CN" altLang="en-US" dirty="0"/>
          </a:p>
        </p:txBody>
      </p:sp>
      <p:sp>
        <p:nvSpPr>
          <p:cNvPr id="3" name="内容占位符 2"/>
          <p:cNvSpPr>
            <a:spLocks noGrp="1"/>
          </p:cNvSpPr>
          <p:nvPr>
            <p:ph sz="quarter" idx="13"/>
          </p:nvPr>
        </p:nvSpPr>
        <p:spPr/>
        <p:txBody>
          <a:bodyPr/>
          <a:lstStyle/>
          <a:p>
            <a:r>
              <a:rPr lang="en-US" altLang="zh-CN" dirty="0"/>
              <a:t>YOLO (You Only Look Once) </a:t>
            </a:r>
            <a:r>
              <a:rPr lang="zh-CN" altLang="en-US" dirty="0" smtClean="0"/>
              <a:t>算法</a:t>
            </a:r>
            <a:endParaRPr lang="en-US" altLang="zh-CN" dirty="0" smtClean="0"/>
          </a:p>
          <a:p>
            <a:pPr lvl="1"/>
            <a:r>
              <a:rPr lang="zh-CN" altLang="en-US" dirty="0" smtClean="0"/>
              <a:t>由</a:t>
            </a:r>
            <a:r>
              <a:rPr lang="en-US" altLang="zh-CN" dirty="0" smtClean="0"/>
              <a:t>R</a:t>
            </a:r>
            <a:r>
              <a:rPr lang="en-US" altLang="zh-CN" dirty="0"/>
              <a:t>. Joseph</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a:t>首个深度学习领域的一阶段</a:t>
            </a:r>
            <a:r>
              <a:rPr lang="zh-CN" altLang="en-US" dirty="0" smtClean="0"/>
              <a:t>算法</a:t>
            </a:r>
            <a:endParaRPr lang="en-US" altLang="zh-CN" dirty="0" smtClean="0"/>
          </a:p>
          <a:p>
            <a:pPr lvl="1"/>
            <a:r>
              <a:rPr lang="zh-CN" altLang="en-US" dirty="0" smtClean="0"/>
              <a:t>没有提取候选框步骤</a:t>
            </a:r>
            <a:endParaRPr lang="en-US" altLang="zh-CN" dirty="0" smtClean="0"/>
          </a:p>
          <a:p>
            <a:pPr lvl="1"/>
            <a:r>
              <a:rPr lang="zh-CN" altLang="en-US" dirty="0"/>
              <a:t>一</a:t>
            </a:r>
            <a:r>
              <a:rPr lang="zh-CN" altLang="en-US" dirty="0" smtClean="0"/>
              <a:t>个神经网络完成整个预测过程</a:t>
            </a:r>
            <a:endParaRPr lang="en-US" altLang="zh-CN" dirty="0" smtClean="0"/>
          </a:p>
          <a:p>
            <a:pPr lvl="1"/>
            <a:r>
              <a:rPr lang="zh-CN" altLang="en-US" dirty="0" smtClean="0"/>
              <a:t>对小目标的检测效果较差</a:t>
            </a:r>
            <a:endParaRPr lang="en-US" altLang="zh-CN" dirty="0" smtClean="0"/>
          </a:p>
          <a:p>
            <a:r>
              <a:rPr lang="zh-CN" altLang="en-US" dirty="0" smtClean="0"/>
              <a:t>相比于两阶段算法，</a:t>
            </a:r>
            <a:r>
              <a:rPr lang="en-US" altLang="zh-CN" dirty="0" smtClean="0"/>
              <a:t>YOLO</a:t>
            </a:r>
            <a:r>
              <a:rPr lang="zh-CN" altLang="en-US" dirty="0" smtClean="0"/>
              <a:t>速度快，精度低</a:t>
            </a:r>
            <a:endParaRPr lang="en-US" altLang="zh-CN" dirty="0" smtClean="0"/>
          </a:p>
          <a:p>
            <a:r>
              <a:rPr lang="en-US" altLang="zh-CN" dirty="0" smtClean="0"/>
              <a:t>VOC2007</a:t>
            </a:r>
            <a:r>
              <a:rPr lang="zh-CN" altLang="en-US" dirty="0" smtClean="0"/>
              <a:t>数据集上</a:t>
            </a:r>
            <a:endParaRPr lang="en-US" altLang="zh-CN" dirty="0" smtClean="0"/>
          </a:p>
          <a:p>
            <a:pPr lvl="1"/>
            <a:r>
              <a:rPr lang="zh-CN" altLang="en-US" dirty="0"/>
              <a:t>平均精度</a:t>
            </a:r>
            <a:r>
              <a:rPr lang="zh-CN" altLang="en-US" dirty="0" smtClean="0"/>
              <a:t>均值</a:t>
            </a:r>
            <a:r>
              <a:rPr lang="en-US" altLang="zh-CN" dirty="0" smtClean="0"/>
              <a:t>63.4%</a:t>
            </a:r>
          </a:p>
          <a:p>
            <a:pPr lvl="1"/>
            <a:r>
              <a:rPr lang="zh-CN" altLang="en-US" dirty="0" smtClean="0"/>
              <a:t>速度</a:t>
            </a:r>
            <a:r>
              <a:rPr lang="en-US" altLang="zh-CN" dirty="0" smtClean="0"/>
              <a:t>45fps</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7911" y="4841854"/>
            <a:ext cx="1626269" cy="863613"/>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1605" y="1688626"/>
            <a:ext cx="4858883" cy="3026708"/>
          </a:xfrm>
          <a:prstGeom prst="rect">
            <a:avLst/>
          </a:prstGeom>
          <a:solidFill>
            <a:schemeClr val="tx1"/>
          </a:solidFill>
        </p:spPr>
      </p:pic>
    </p:spTree>
    <p:extLst>
      <p:ext uri="{BB962C8B-B14F-4D97-AF65-F5344CB8AC3E}">
        <p14:creationId xmlns:p14="http://schemas.microsoft.com/office/powerpoint/2010/main" val="418509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SSD</a:t>
            </a:r>
            <a:endParaRPr lang="zh-CN" altLang="en-US" dirty="0"/>
          </a:p>
        </p:txBody>
      </p:sp>
      <p:sp>
        <p:nvSpPr>
          <p:cNvPr id="3" name="内容占位符 2"/>
          <p:cNvSpPr>
            <a:spLocks noGrp="1"/>
          </p:cNvSpPr>
          <p:nvPr>
            <p:ph sz="quarter" idx="13"/>
          </p:nvPr>
        </p:nvSpPr>
        <p:spPr/>
        <p:txBody>
          <a:bodyPr/>
          <a:lstStyle/>
          <a:p>
            <a:r>
              <a:rPr lang="en-US" altLang="zh-CN" dirty="0"/>
              <a:t>SSD (Single Shot </a:t>
            </a:r>
            <a:r>
              <a:rPr lang="en-US" altLang="zh-CN" dirty="0" err="1"/>
              <a:t>MultiBox</a:t>
            </a:r>
            <a:r>
              <a:rPr lang="en-US" altLang="zh-CN" dirty="0"/>
              <a:t> Detector) </a:t>
            </a:r>
            <a:r>
              <a:rPr lang="zh-CN" altLang="en-US" dirty="0" smtClean="0"/>
              <a:t>算法</a:t>
            </a:r>
            <a:endParaRPr lang="en-US" altLang="zh-CN" dirty="0" smtClean="0"/>
          </a:p>
          <a:p>
            <a:pPr lvl="1"/>
            <a:r>
              <a:rPr lang="zh-CN" altLang="en-US" dirty="0" smtClean="0"/>
              <a:t>由</a:t>
            </a:r>
            <a:r>
              <a:rPr lang="en-US" altLang="zh-CN" dirty="0" smtClean="0"/>
              <a:t>W</a:t>
            </a:r>
            <a:r>
              <a:rPr lang="en-US" altLang="zh-CN" dirty="0"/>
              <a:t>. Liu</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a:t>深度学习</a:t>
            </a:r>
            <a:r>
              <a:rPr lang="zh-CN" altLang="en-US" dirty="0" smtClean="0"/>
              <a:t>领域第二个一阶段算法</a:t>
            </a:r>
            <a:endParaRPr lang="en-US" altLang="zh-CN" dirty="0" smtClean="0"/>
          </a:p>
          <a:p>
            <a:pPr lvl="1"/>
            <a:r>
              <a:rPr lang="zh-CN" altLang="en-US" dirty="0"/>
              <a:t>基于多尺度特征图的检测</a:t>
            </a:r>
            <a:r>
              <a:rPr lang="zh-CN" altLang="en-US" dirty="0" smtClean="0"/>
              <a:t>策略</a:t>
            </a:r>
            <a:endParaRPr lang="en-US" altLang="zh-CN" dirty="0" smtClean="0"/>
          </a:p>
          <a:p>
            <a:pPr lvl="1"/>
            <a:r>
              <a:rPr lang="zh-CN" altLang="en-US" dirty="0" smtClean="0"/>
              <a:t>采用不同尺度的先验框</a:t>
            </a:r>
            <a:endParaRPr lang="en-US" altLang="zh-CN" dirty="0" smtClean="0"/>
          </a:p>
          <a:p>
            <a:r>
              <a:rPr lang="zh-CN" altLang="en-US" dirty="0" smtClean="0"/>
              <a:t>相比</a:t>
            </a:r>
            <a:r>
              <a:rPr lang="en-US" altLang="zh-CN" dirty="0" smtClean="0"/>
              <a:t>YOLO</a:t>
            </a:r>
            <a:r>
              <a:rPr lang="zh-CN" altLang="en-US" dirty="0"/>
              <a:t>的早些</a:t>
            </a:r>
            <a:r>
              <a:rPr lang="zh-CN" altLang="en-US" dirty="0" smtClean="0"/>
              <a:t>版本对小目标检测有明显改善</a:t>
            </a:r>
            <a:endParaRPr lang="en-US" altLang="zh-CN" dirty="0" smtClean="0"/>
          </a:p>
          <a:p>
            <a:r>
              <a:rPr lang="en-US" altLang="zh-CN" dirty="0" smtClean="0"/>
              <a:t>VOC2007</a:t>
            </a:r>
            <a:r>
              <a:rPr lang="zh-CN" altLang="en-US" dirty="0" smtClean="0"/>
              <a:t>数据集上平均精度均值</a:t>
            </a:r>
            <a:r>
              <a:rPr lang="en-US" altLang="zh-CN" dirty="0" smtClean="0"/>
              <a:t>76.8%</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855" y="1955549"/>
            <a:ext cx="5575633" cy="4181725"/>
          </a:xfrm>
          <a:prstGeom prst="rect">
            <a:avLst/>
          </a:prstGeom>
        </p:spPr>
      </p:pic>
    </p:spTree>
    <p:extLst>
      <p:ext uri="{BB962C8B-B14F-4D97-AF65-F5344CB8AC3E}">
        <p14:creationId xmlns:p14="http://schemas.microsoft.com/office/powerpoint/2010/main" val="2112021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Retina-Net</a:t>
            </a:r>
            <a:endParaRPr lang="zh-CN" altLang="en-US" dirty="0"/>
          </a:p>
        </p:txBody>
      </p:sp>
      <p:sp>
        <p:nvSpPr>
          <p:cNvPr id="3" name="内容占位符 2"/>
          <p:cNvSpPr>
            <a:spLocks noGrp="1"/>
          </p:cNvSpPr>
          <p:nvPr>
            <p:ph sz="quarter" idx="13"/>
          </p:nvPr>
        </p:nvSpPr>
        <p:spPr/>
        <p:txBody>
          <a:bodyPr/>
          <a:lstStyle/>
          <a:p>
            <a:r>
              <a:rPr lang="en-US" altLang="zh-CN" dirty="0"/>
              <a:t>Retina-Net</a:t>
            </a:r>
            <a:r>
              <a:rPr lang="zh-CN" altLang="en-US" dirty="0" smtClean="0"/>
              <a:t>算法</a:t>
            </a:r>
            <a:endParaRPr lang="en-US" altLang="zh-CN" dirty="0"/>
          </a:p>
          <a:p>
            <a:pPr lvl="1"/>
            <a:r>
              <a:rPr lang="zh-CN" altLang="en-US" dirty="0" smtClean="0"/>
              <a:t>由何恺明等人于</a:t>
            </a:r>
            <a:r>
              <a:rPr lang="en-US" altLang="zh-CN" dirty="0" smtClean="0"/>
              <a:t>2018</a:t>
            </a:r>
            <a:r>
              <a:rPr lang="zh-CN" altLang="en-US" dirty="0" smtClean="0"/>
              <a:t>年提出</a:t>
            </a:r>
            <a:endParaRPr lang="en-US" altLang="zh-CN" dirty="0" smtClean="0"/>
          </a:p>
          <a:p>
            <a:pPr lvl="1"/>
            <a:r>
              <a:rPr lang="zh-CN" altLang="en-US" dirty="0" smtClean="0"/>
              <a:t>主要解决正负样本不平衡问题</a:t>
            </a:r>
            <a:endParaRPr lang="en-US" altLang="zh-CN" dirty="0" smtClean="0"/>
          </a:p>
          <a:p>
            <a:pPr lvl="1"/>
            <a:r>
              <a:rPr lang="zh-CN" altLang="en-US" dirty="0" smtClean="0"/>
              <a:t>独特的损失函数</a:t>
            </a:r>
            <a:endParaRPr lang="en-US" altLang="zh-CN" dirty="0" smtClean="0"/>
          </a:p>
          <a:p>
            <a:pPr lvl="1"/>
            <a:r>
              <a:rPr lang="zh-CN" altLang="en-US" dirty="0" smtClean="0"/>
              <a:t>保持速度的前提下，保证目标检测精度</a:t>
            </a:r>
            <a:endParaRPr lang="en-US" altLang="zh-CN" dirty="0" smtClean="0"/>
          </a:p>
          <a:p>
            <a:r>
              <a:rPr lang="zh-CN" altLang="en-US" dirty="0" smtClean="0"/>
              <a:t>独特的损失函数</a:t>
            </a:r>
            <a:endParaRPr lang="en-US" altLang="zh-CN" dirty="0" smtClean="0"/>
          </a:p>
          <a:p>
            <a:pPr lvl="1"/>
            <a:r>
              <a:rPr lang="zh-CN" altLang="en-US" dirty="0" smtClean="0"/>
              <a:t>对传统交叉熵损失加上权重</a:t>
            </a:r>
            <a:endParaRPr lang="en-US" altLang="zh-CN" dirty="0" smtClean="0"/>
          </a:p>
          <a:p>
            <a:pPr lvl="1"/>
            <a:r>
              <a:rPr lang="zh-CN" altLang="en-US" dirty="0"/>
              <a:t>错</a:t>
            </a:r>
            <a:r>
              <a:rPr lang="zh-CN" altLang="en-US" dirty="0" smtClean="0"/>
              <a:t>分的样本产生损失更影响最终损失</a:t>
            </a:r>
            <a:endParaRPr lang="en-US" altLang="zh-CN" dirty="0" smtClean="0"/>
          </a:p>
          <a:p>
            <a:pPr lvl="1"/>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6874" y="2016357"/>
            <a:ext cx="5903614" cy="3234857"/>
          </a:xfrm>
          <a:prstGeom prst="rect">
            <a:avLst/>
          </a:prstGeom>
        </p:spPr>
      </p:pic>
    </p:spTree>
    <p:extLst>
      <p:ext uri="{BB962C8B-B14F-4D97-AF65-F5344CB8AC3E}">
        <p14:creationId xmlns:p14="http://schemas.microsoft.com/office/powerpoint/2010/main" val="730021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FCOS</a:t>
            </a:r>
            <a:endParaRPr lang="zh-CN" altLang="en-US" dirty="0"/>
          </a:p>
        </p:txBody>
      </p:sp>
      <p:sp>
        <p:nvSpPr>
          <p:cNvPr id="3" name="内容占位符 2"/>
          <p:cNvSpPr>
            <a:spLocks noGrp="1"/>
          </p:cNvSpPr>
          <p:nvPr>
            <p:ph sz="quarter" idx="13"/>
          </p:nvPr>
        </p:nvSpPr>
        <p:spPr/>
        <p:txBody>
          <a:bodyPr/>
          <a:lstStyle/>
          <a:p>
            <a:r>
              <a:rPr lang="en-US" altLang="zh-CN" dirty="0"/>
              <a:t>FCOS (Fully Convolutional One-Stage, </a:t>
            </a:r>
            <a:r>
              <a:rPr lang="zh-CN" altLang="en-US" dirty="0"/>
              <a:t>一阶全卷积</a:t>
            </a:r>
            <a:r>
              <a:rPr lang="en-US" altLang="zh-CN" dirty="0"/>
              <a:t>)</a:t>
            </a:r>
            <a:r>
              <a:rPr lang="zh-CN" altLang="en-US" dirty="0" smtClean="0"/>
              <a:t>算法</a:t>
            </a:r>
            <a:endParaRPr lang="en-US" altLang="zh-CN" dirty="0" smtClean="0"/>
          </a:p>
          <a:p>
            <a:pPr lvl="1"/>
            <a:r>
              <a:rPr lang="zh-CN" altLang="en-US" dirty="0" smtClean="0"/>
              <a:t>由沈</a:t>
            </a:r>
            <a:r>
              <a:rPr lang="zh-CN" altLang="en-US" dirty="0"/>
              <a:t>春华</a:t>
            </a:r>
            <a:r>
              <a:rPr lang="zh-CN" altLang="en-US" dirty="0" smtClean="0"/>
              <a:t>团队于</a:t>
            </a:r>
            <a:r>
              <a:rPr lang="en-US" altLang="zh-CN" dirty="0" smtClean="0"/>
              <a:t>2019</a:t>
            </a:r>
            <a:r>
              <a:rPr lang="zh-CN" altLang="en-US" dirty="0" smtClean="0"/>
              <a:t>年提出</a:t>
            </a:r>
            <a:endParaRPr lang="en-US" altLang="zh-CN" dirty="0" smtClean="0"/>
          </a:p>
          <a:p>
            <a:pPr lvl="1"/>
            <a:r>
              <a:rPr lang="zh-CN" altLang="en-US" dirty="0"/>
              <a:t>回归目标位置不需要预先设定</a:t>
            </a:r>
            <a:r>
              <a:rPr lang="en-US" altLang="zh-CN" dirty="0" smtClean="0"/>
              <a:t>anchor</a:t>
            </a:r>
          </a:p>
          <a:p>
            <a:pPr lvl="1"/>
            <a:r>
              <a:rPr lang="zh-CN" altLang="en-US" dirty="0"/>
              <a:t>使用</a:t>
            </a:r>
            <a:r>
              <a:rPr lang="en-US" altLang="zh-CN" dirty="0"/>
              <a:t>FPN</a:t>
            </a:r>
            <a:r>
              <a:rPr lang="zh-CN" altLang="en-US" dirty="0"/>
              <a:t>策略</a:t>
            </a:r>
          </a:p>
          <a:p>
            <a:pPr lvl="1"/>
            <a:r>
              <a:rPr lang="zh-CN" altLang="en-US" dirty="0" smtClean="0"/>
              <a:t>待</a:t>
            </a:r>
            <a:r>
              <a:rPr lang="zh-CN" altLang="en-US" dirty="0"/>
              <a:t>检测目标尺度和形态变化较大的场景中有重要的</a:t>
            </a:r>
            <a:r>
              <a:rPr lang="zh-CN" altLang="en-US" dirty="0" smtClean="0"/>
              <a:t>应用</a:t>
            </a:r>
            <a:endParaRPr lang="en-US" altLang="zh-CN" dirty="0" smtClean="0"/>
          </a:p>
          <a:p>
            <a:r>
              <a:rPr lang="zh-CN" altLang="en-US" dirty="0" smtClean="0"/>
              <a:t>性能相比</a:t>
            </a:r>
            <a:r>
              <a:rPr lang="en-US" altLang="zh-CN" dirty="0" err="1" smtClean="0"/>
              <a:t>RetinaNet</a:t>
            </a:r>
            <a:r>
              <a:rPr lang="zh-CN" altLang="en-US" dirty="0" smtClean="0"/>
              <a:t>高出</a:t>
            </a:r>
            <a:r>
              <a:rPr lang="en-US" altLang="zh-CN" dirty="0" smtClean="0"/>
              <a:t>1.9%</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8174" y="1413164"/>
            <a:ext cx="2689964" cy="4441243"/>
          </a:xfrm>
          <a:prstGeom prst="rect">
            <a:avLst/>
          </a:prstGeom>
        </p:spPr>
      </p:pic>
    </p:spTree>
    <p:extLst>
      <p:ext uri="{BB962C8B-B14F-4D97-AF65-F5344CB8AC3E}">
        <p14:creationId xmlns:p14="http://schemas.microsoft.com/office/powerpoint/2010/main" val="1520805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目标检测的公开数据集</a:t>
            </a:r>
            <a:endParaRPr lang="zh-CN" altLang="en-US" dirty="0"/>
          </a:p>
        </p:txBody>
      </p:sp>
    </p:spTree>
    <p:extLst>
      <p:ext uri="{BB962C8B-B14F-4D97-AF65-F5344CB8AC3E}">
        <p14:creationId xmlns:p14="http://schemas.microsoft.com/office/powerpoint/2010/main" val="12775030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目标检测的公开数据集</a:t>
            </a:r>
            <a:endParaRPr lang="zh-CN" altLang="en-US" dirty="0"/>
          </a:p>
        </p:txBody>
      </p:sp>
      <p:sp>
        <p:nvSpPr>
          <p:cNvPr id="3" name="内容占位符 2"/>
          <p:cNvSpPr>
            <a:spLocks noGrp="1"/>
          </p:cNvSpPr>
          <p:nvPr>
            <p:ph sz="quarter" idx="13"/>
          </p:nvPr>
        </p:nvSpPr>
        <p:spPr/>
        <p:txBody>
          <a:bodyPr/>
          <a:lstStyle/>
          <a:p>
            <a:r>
              <a:rPr lang="zh-CN" altLang="en-US" dirty="0" smtClean="0"/>
              <a:t>如何对算法进行比较呢？一个重要的方法就是在相同的公开数据集上进行评测。</a:t>
            </a:r>
            <a:endParaRPr lang="en-US" altLang="zh-CN" dirty="0" smtClean="0"/>
          </a:p>
          <a:p>
            <a:r>
              <a:rPr lang="zh-CN" altLang="en-US" dirty="0" smtClean="0"/>
              <a:t>根据评测得到的性能指标，大致判断算法优劣。</a:t>
            </a:r>
            <a:endParaRPr lang="en-US" altLang="zh-CN" dirty="0" smtClean="0"/>
          </a:p>
          <a:p>
            <a:r>
              <a:rPr lang="zh-CN" altLang="en-US" dirty="0"/>
              <a:t>评测</a:t>
            </a:r>
            <a:r>
              <a:rPr lang="zh-CN" altLang="en-US" dirty="0" smtClean="0"/>
              <a:t>集在算法领域有着至关重要的作用，下面介绍几个有较大影响力的公开数据集：</a:t>
            </a:r>
            <a:endParaRPr lang="en-US" altLang="zh-CN" dirty="0" smtClean="0"/>
          </a:p>
          <a:p>
            <a:pPr marL="342900" indent="-342900">
              <a:buFont typeface="+mj-lt"/>
              <a:buAutoNum type="arabicPeriod"/>
            </a:pPr>
            <a:r>
              <a:rPr lang="en-US" altLang="zh-CN" dirty="0" smtClean="0"/>
              <a:t>PASCAL VOC</a:t>
            </a:r>
          </a:p>
          <a:p>
            <a:pPr marL="342900" indent="-342900">
              <a:buFont typeface="+mj-lt"/>
              <a:buAutoNum type="arabicPeriod"/>
            </a:pPr>
            <a:r>
              <a:rPr lang="en-US" altLang="zh-CN" dirty="0" smtClean="0"/>
              <a:t>ILSVRC</a:t>
            </a:r>
          </a:p>
          <a:p>
            <a:pPr marL="342900" indent="-342900">
              <a:buFont typeface="+mj-lt"/>
              <a:buAutoNum type="arabicPeriod"/>
            </a:pPr>
            <a:r>
              <a:rPr lang="en-US" altLang="zh-CN" dirty="0" smtClean="0"/>
              <a:t>MS-COCO</a:t>
            </a:r>
          </a:p>
          <a:p>
            <a:pPr marL="342900" indent="-342900">
              <a:buFont typeface="+mj-lt"/>
              <a:buAutoNum type="arabicPeriod"/>
            </a:pPr>
            <a:r>
              <a:rPr lang="en-US" altLang="zh-CN" dirty="0" smtClean="0"/>
              <a:t>Open Images</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4529" y="4157930"/>
            <a:ext cx="8305959" cy="1979344"/>
          </a:xfrm>
          <a:prstGeom prst="rect">
            <a:avLst/>
          </a:prstGeom>
        </p:spPr>
      </p:pic>
    </p:spTree>
    <p:extLst>
      <p:ext uri="{BB962C8B-B14F-4D97-AF65-F5344CB8AC3E}">
        <p14:creationId xmlns:p14="http://schemas.microsoft.com/office/powerpoint/2010/main" val="477593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PASCAL VOC</a:t>
            </a:r>
            <a:endParaRPr lang="zh-CN" altLang="en-US" dirty="0"/>
          </a:p>
        </p:txBody>
      </p:sp>
      <p:sp>
        <p:nvSpPr>
          <p:cNvPr id="3" name="内容占位符 2"/>
          <p:cNvSpPr>
            <a:spLocks noGrp="1"/>
          </p:cNvSpPr>
          <p:nvPr>
            <p:ph sz="quarter" idx="13"/>
          </p:nvPr>
        </p:nvSpPr>
        <p:spPr/>
        <p:txBody>
          <a:bodyPr/>
          <a:lstStyle/>
          <a:p>
            <a:r>
              <a:rPr lang="en-US" altLang="zh-CN" dirty="0" smtClean="0"/>
              <a:t>PASCAL VOC</a:t>
            </a:r>
            <a:r>
              <a:rPr lang="zh-CN" altLang="en-US" dirty="0" smtClean="0"/>
              <a:t>（</a:t>
            </a:r>
            <a:r>
              <a:rPr lang="en-US" altLang="zh-CN" dirty="0" smtClean="0"/>
              <a:t>Visual Object Classes</a:t>
            </a:r>
            <a:r>
              <a:rPr lang="zh-CN" altLang="en-US" dirty="0" smtClean="0"/>
              <a:t>）挑战赛</a:t>
            </a:r>
            <a:endParaRPr lang="en-US" altLang="zh-CN" dirty="0" smtClean="0"/>
          </a:p>
          <a:p>
            <a:pPr lvl="1"/>
            <a:r>
              <a:rPr lang="zh-CN" altLang="en-US" dirty="0" smtClean="0"/>
              <a:t>计算机视觉领域早期重要比赛之一</a:t>
            </a:r>
            <a:r>
              <a:rPr lang="zh-CN" altLang="en-US" dirty="0"/>
              <a:t>，</a:t>
            </a:r>
            <a:r>
              <a:rPr lang="zh-CN" altLang="en-US" dirty="0" smtClean="0"/>
              <a:t>主要包含</a:t>
            </a:r>
            <a:r>
              <a:rPr lang="en-US" altLang="zh-CN" dirty="0" smtClean="0"/>
              <a:t>4</a:t>
            </a:r>
            <a:r>
              <a:rPr lang="zh-CN" altLang="en-US" dirty="0" smtClean="0"/>
              <a:t>个主题</a:t>
            </a:r>
            <a:r>
              <a:rPr lang="en-US" altLang="zh-CN" dirty="0" smtClean="0"/>
              <a:t>:</a:t>
            </a:r>
          </a:p>
          <a:p>
            <a:pPr lvl="2"/>
            <a:r>
              <a:rPr lang="zh-CN" altLang="en-US" dirty="0" smtClean="0"/>
              <a:t>图像分类</a:t>
            </a:r>
            <a:endParaRPr lang="en-US" altLang="zh-CN" dirty="0" smtClean="0"/>
          </a:p>
          <a:p>
            <a:pPr lvl="2"/>
            <a:r>
              <a:rPr lang="zh-CN" altLang="en-US" dirty="0"/>
              <a:t>目标</a:t>
            </a:r>
            <a:r>
              <a:rPr lang="zh-CN" altLang="en-US" dirty="0" smtClean="0"/>
              <a:t>检测</a:t>
            </a:r>
            <a:endParaRPr lang="en-US" altLang="zh-CN" dirty="0" smtClean="0"/>
          </a:p>
          <a:p>
            <a:pPr lvl="2"/>
            <a:r>
              <a:rPr lang="zh-CN" altLang="en-US" dirty="0"/>
              <a:t>场景</a:t>
            </a:r>
            <a:r>
              <a:rPr lang="zh-CN" altLang="en-US" dirty="0" smtClean="0"/>
              <a:t>分割</a:t>
            </a:r>
            <a:endParaRPr lang="en-US" altLang="zh-CN" dirty="0" smtClean="0"/>
          </a:p>
          <a:p>
            <a:pPr lvl="2"/>
            <a:r>
              <a:rPr lang="zh-CN" altLang="en-US" dirty="0" smtClean="0"/>
              <a:t>事件检测</a:t>
            </a:r>
            <a:endParaRPr lang="en-US" altLang="zh-CN" dirty="0" smtClean="0"/>
          </a:p>
          <a:p>
            <a:pPr lvl="1"/>
            <a:r>
              <a:rPr lang="zh-CN" altLang="en-US" dirty="0" smtClean="0"/>
              <a:t>目标检测最常用</a:t>
            </a:r>
            <a:r>
              <a:rPr lang="en-US" altLang="zh-CN" dirty="0" smtClean="0"/>
              <a:t>VOC2007</a:t>
            </a:r>
            <a:r>
              <a:rPr lang="zh-CN" altLang="en-US" dirty="0" smtClean="0"/>
              <a:t>和</a:t>
            </a:r>
            <a:r>
              <a:rPr lang="en-US" altLang="zh-CN" dirty="0" smtClean="0"/>
              <a:t>VOC2012</a:t>
            </a:r>
          </a:p>
          <a:p>
            <a:pPr lvl="1"/>
            <a:r>
              <a:rPr lang="zh-CN" altLang="en-US" dirty="0" smtClean="0"/>
              <a:t>包含</a:t>
            </a:r>
            <a:r>
              <a:rPr lang="en-US" altLang="zh-CN" dirty="0" smtClean="0"/>
              <a:t>20</a:t>
            </a:r>
            <a:r>
              <a:rPr lang="zh-CN" altLang="en-US" dirty="0" smtClean="0"/>
              <a:t>类生活常见物品</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4245951"/>
            <a:ext cx="10058400" cy="1891323"/>
          </a:xfrm>
          <a:prstGeom prst="rect">
            <a:avLst/>
          </a:prstGeom>
        </p:spPr>
      </p:pic>
    </p:spTree>
    <p:extLst>
      <p:ext uri="{BB962C8B-B14F-4D97-AF65-F5344CB8AC3E}">
        <p14:creationId xmlns:p14="http://schemas.microsoft.com/office/powerpoint/2010/main" val="325226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ILSVRC</a:t>
            </a:r>
            <a:endParaRPr lang="zh-CN" altLang="en-US" dirty="0"/>
          </a:p>
        </p:txBody>
      </p:sp>
      <p:sp>
        <p:nvSpPr>
          <p:cNvPr id="3" name="内容占位符 2"/>
          <p:cNvSpPr>
            <a:spLocks noGrp="1"/>
          </p:cNvSpPr>
          <p:nvPr>
            <p:ph sz="quarter" idx="13"/>
          </p:nvPr>
        </p:nvSpPr>
        <p:spPr/>
        <p:txBody>
          <a:bodyPr/>
          <a:lstStyle/>
          <a:p>
            <a:r>
              <a:rPr lang="en-US" altLang="zh-CN" dirty="0"/>
              <a:t>ILSVRC</a:t>
            </a:r>
            <a:r>
              <a:rPr lang="zh-CN" altLang="en-US" dirty="0"/>
              <a:t>（</a:t>
            </a:r>
            <a:r>
              <a:rPr lang="en-US" altLang="zh-CN" dirty="0" err="1"/>
              <a:t>ImageNet</a:t>
            </a:r>
            <a:r>
              <a:rPr lang="en-US" altLang="zh-CN" dirty="0"/>
              <a:t> Large Scale Visual Recognition Challenge</a:t>
            </a:r>
            <a:r>
              <a:rPr lang="zh-CN" altLang="en-US" dirty="0"/>
              <a:t>，大规模图像识别挑战赛</a:t>
            </a:r>
            <a:r>
              <a:rPr lang="zh-CN" altLang="en-US" dirty="0" smtClean="0"/>
              <a:t>）</a:t>
            </a:r>
            <a:endParaRPr lang="en-US" altLang="zh-CN" dirty="0" smtClean="0"/>
          </a:p>
          <a:p>
            <a:pPr lvl="1"/>
            <a:r>
              <a:rPr lang="zh-CN" altLang="en-US" dirty="0" smtClean="0"/>
              <a:t>从</a:t>
            </a:r>
            <a:r>
              <a:rPr lang="en-US" altLang="zh-CN" dirty="0" smtClean="0"/>
              <a:t>2010</a:t>
            </a:r>
            <a:r>
              <a:rPr lang="zh-CN" altLang="en-US" dirty="0" smtClean="0"/>
              <a:t>年开始，到</a:t>
            </a:r>
            <a:r>
              <a:rPr lang="en-US" altLang="zh-CN" dirty="0" smtClean="0"/>
              <a:t>2017</a:t>
            </a:r>
            <a:r>
              <a:rPr lang="zh-CN" altLang="en-US" dirty="0" smtClean="0"/>
              <a:t>年结束</a:t>
            </a:r>
            <a:endParaRPr lang="en-US" altLang="zh-CN" dirty="0" smtClean="0"/>
          </a:p>
          <a:p>
            <a:pPr lvl="1"/>
            <a:r>
              <a:rPr lang="zh-CN" altLang="en-US" dirty="0" smtClean="0"/>
              <a:t>竞赛项目主要包括</a:t>
            </a:r>
            <a:r>
              <a:rPr lang="en-US" altLang="zh-CN" dirty="0" smtClean="0"/>
              <a:t>4</a:t>
            </a:r>
            <a:r>
              <a:rPr lang="zh-CN" altLang="en-US" dirty="0" smtClean="0"/>
              <a:t>个问题</a:t>
            </a:r>
            <a:endParaRPr lang="en-US" altLang="zh-CN" dirty="0" smtClean="0"/>
          </a:p>
          <a:p>
            <a:pPr lvl="2"/>
            <a:r>
              <a:rPr lang="zh-CN" altLang="en-US" dirty="0" smtClean="0"/>
              <a:t>图像分类与目标定位</a:t>
            </a:r>
            <a:endParaRPr lang="en-US" altLang="zh-CN" dirty="0" smtClean="0"/>
          </a:p>
          <a:p>
            <a:pPr lvl="2"/>
            <a:r>
              <a:rPr lang="zh-CN" altLang="en-US" dirty="0"/>
              <a:t>目标</a:t>
            </a:r>
            <a:r>
              <a:rPr lang="zh-CN" altLang="en-US" dirty="0" smtClean="0"/>
              <a:t>检测</a:t>
            </a:r>
            <a:endParaRPr lang="en-US" altLang="zh-CN" dirty="0" smtClean="0"/>
          </a:p>
          <a:p>
            <a:pPr lvl="2"/>
            <a:r>
              <a:rPr lang="zh-CN" altLang="en-US" dirty="0" smtClean="0"/>
              <a:t>视频目标检测</a:t>
            </a:r>
            <a:endParaRPr lang="en-US" altLang="zh-CN" dirty="0" smtClean="0"/>
          </a:p>
          <a:p>
            <a:pPr lvl="2"/>
            <a:r>
              <a:rPr lang="zh-CN" altLang="en-US" dirty="0" smtClean="0"/>
              <a:t>场景分类</a:t>
            </a:r>
            <a:endParaRPr lang="en-US" altLang="zh-CN" dirty="0" smtClean="0"/>
          </a:p>
          <a:p>
            <a:pPr lvl="1"/>
            <a:r>
              <a:rPr lang="zh-CN" altLang="en-US" dirty="0" smtClean="0"/>
              <a:t>每年举办都包含一个目标检测主题</a:t>
            </a:r>
            <a:endParaRPr lang="en-US" altLang="zh-CN" dirty="0" smtClean="0"/>
          </a:p>
          <a:p>
            <a:pPr lvl="1"/>
            <a:r>
              <a:rPr lang="zh-CN" altLang="en-US" dirty="0" smtClean="0"/>
              <a:t>包含</a:t>
            </a:r>
            <a:r>
              <a:rPr lang="en-US" altLang="zh-CN" dirty="0" smtClean="0"/>
              <a:t>200</a:t>
            </a:r>
            <a:r>
              <a:rPr lang="zh-CN" altLang="en-US" dirty="0" smtClean="0"/>
              <a:t>种类别</a:t>
            </a:r>
            <a:endParaRPr lang="en-US" altLang="zh-CN" dirty="0" smtClean="0"/>
          </a:p>
          <a:p>
            <a:r>
              <a:rPr lang="zh-CN" altLang="en-US" dirty="0" smtClean="0"/>
              <a:t>图像和目标的数量比</a:t>
            </a:r>
            <a:r>
              <a:rPr lang="en-US" altLang="zh-CN" dirty="0" smtClean="0"/>
              <a:t>VOC</a:t>
            </a:r>
            <a:r>
              <a:rPr lang="zh-CN" altLang="en-US" dirty="0" smtClean="0"/>
              <a:t>高两个数量级</a:t>
            </a:r>
            <a:endParaRPr lang="en-US" altLang="zh-CN" dirty="0" smtClean="0"/>
          </a:p>
          <a:p>
            <a:r>
              <a:rPr lang="en-US" altLang="zh-CN" dirty="0" smtClean="0"/>
              <a:t>ILSVRC-14</a:t>
            </a:r>
            <a:r>
              <a:rPr lang="zh-CN" altLang="en-US" dirty="0" smtClean="0"/>
              <a:t>包含</a:t>
            </a:r>
            <a:endParaRPr lang="en-US" altLang="zh-CN" dirty="0"/>
          </a:p>
          <a:p>
            <a:pPr lvl="1"/>
            <a:r>
              <a:rPr lang="en-US" altLang="zh-CN" dirty="0" smtClean="0"/>
              <a:t>51.7</a:t>
            </a:r>
            <a:r>
              <a:rPr lang="zh-CN" altLang="en-US" dirty="0" smtClean="0"/>
              <a:t>万张训练图像</a:t>
            </a:r>
            <a:endParaRPr lang="en-US" altLang="zh-CN" dirty="0" smtClean="0"/>
          </a:p>
          <a:p>
            <a:pPr lvl="1"/>
            <a:r>
              <a:rPr lang="en-US" altLang="zh-CN" dirty="0" smtClean="0"/>
              <a:t>53.4</a:t>
            </a:r>
            <a:r>
              <a:rPr lang="zh-CN" altLang="en-US" dirty="0" smtClean="0"/>
              <a:t>万个标注目标</a:t>
            </a:r>
            <a:endParaRPr lang="en-US" altLang="zh-CN" dirty="0" smtClean="0"/>
          </a:p>
          <a:p>
            <a:pPr marL="0" indent="0">
              <a:buNone/>
            </a:pP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3152" y="5434974"/>
            <a:ext cx="5097336" cy="702300"/>
          </a:xfrm>
          <a:prstGeom prst="rect">
            <a:avLst/>
          </a:prstGeom>
        </p:spPr>
      </p:pic>
    </p:spTree>
    <p:extLst>
      <p:ext uri="{BB962C8B-B14F-4D97-AF65-F5344CB8AC3E}">
        <p14:creationId xmlns:p14="http://schemas.microsoft.com/office/powerpoint/2010/main" val="3832112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MS-COCO</a:t>
            </a:r>
            <a:endParaRPr lang="zh-CN" altLang="en-US" dirty="0"/>
          </a:p>
        </p:txBody>
      </p:sp>
      <p:sp>
        <p:nvSpPr>
          <p:cNvPr id="3" name="内容占位符 2"/>
          <p:cNvSpPr>
            <a:spLocks noGrp="1"/>
          </p:cNvSpPr>
          <p:nvPr>
            <p:ph sz="quarter" idx="13"/>
          </p:nvPr>
        </p:nvSpPr>
        <p:spPr/>
        <p:txBody>
          <a:bodyPr/>
          <a:lstStyle/>
          <a:p>
            <a:r>
              <a:rPr lang="en-US" altLang="zh-CN" dirty="0" smtClean="0"/>
              <a:t>MS-COCO</a:t>
            </a:r>
            <a:r>
              <a:rPr lang="zh-CN" altLang="en-US" dirty="0" smtClean="0"/>
              <a:t>是当前最具挑战的目标检测评测集</a:t>
            </a:r>
            <a:endParaRPr lang="en-US" altLang="zh-CN" dirty="0" smtClean="0"/>
          </a:p>
          <a:p>
            <a:pPr lvl="1"/>
            <a:r>
              <a:rPr lang="zh-CN" altLang="en-US" dirty="0" smtClean="0"/>
              <a:t>从</a:t>
            </a:r>
            <a:r>
              <a:rPr lang="en-US" altLang="zh-CN" dirty="0" smtClean="0"/>
              <a:t>2015</a:t>
            </a:r>
            <a:r>
              <a:rPr lang="zh-CN" altLang="en-US" dirty="0" smtClean="0"/>
              <a:t>年开始每年举行一次</a:t>
            </a:r>
            <a:endParaRPr lang="en-US" altLang="zh-CN" dirty="0" smtClean="0"/>
          </a:p>
          <a:p>
            <a:pPr lvl="1"/>
            <a:r>
              <a:rPr lang="zh-CN" altLang="en-US" dirty="0" smtClean="0"/>
              <a:t>每种目标包含更多实例</a:t>
            </a:r>
            <a:endParaRPr lang="en-US" altLang="zh-CN" dirty="0" smtClean="0"/>
          </a:p>
          <a:p>
            <a:pPr lvl="1"/>
            <a:r>
              <a:rPr lang="zh-CN" altLang="en-US" dirty="0" smtClean="0"/>
              <a:t>标注了每个实例的分割信息</a:t>
            </a:r>
            <a:endParaRPr lang="en-US" altLang="zh-CN" dirty="0" smtClean="0"/>
          </a:p>
          <a:p>
            <a:pPr lvl="1"/>
            <a:r>
              <a:rPr lang="zh-CN" altLang="en-US" dirty="0" smtClean="0"/>
              <a:t>包含很多小目标，众多密集目标</a:t>
            </a:r>
            <a:endParaRPr lang="en-US" altLang="zh-CN" dirty="0" smtClean="0"/>
          </a:p>
          <a:p>
            <a:pPr lvl="1"/>
            <a:r>
              <a:rPr lang="zh-CN" altLang="en-US" dirty="0" smtClean="0"/>
              <a:t>测试标准更严格</a:t>
            </a:r>
            <a:endParaRPr lang="en-US" altLang="zh-CN" dirty="0" smtClean="0"/>
          </a:p>
          <a:p>
            <a:r>
              <a:rPr lang="en-US" altLang="zh-CN" dirty="0" smtClean="0"/>
              <a:t>MS-COCO-17</a:t>
            </a:r>
            <a:r>
              <a:rPr lang="zh-CN" altLang="en-US" dirty="0" smtClean="0"/>
              <a:t>包含</a:t>
            </a:r>
            <a:endParaRPr lang="en-US" altLang="zh-CN" dirty="0" smtClean="0"/>
          </a:p>
          <a:p>
            <a:pPr lvl="1"/>
            <a:r>
              <a:rPr lang="en-US" altLang="zh-CN" dirty="0" smtClean="0"/>
              <a:t>80</a:t>
            </a:r>
            <a:r>
              <a:rPr lang="zh-CN" altLang="en-US" dirty="0"/>
              <a:t>种</a:t>
            </a:r>
            <a:r>
              <a:rPr lang="zh-CN" altLang="en-US" dirty="0" smtClean="0"/>
              <a:t>类别</a:t>
            </a:r>
            <a:endParaRPr lang="en-US" altLang="zh-CN" dirty="0" smtClean="0"/>
          </a:p>
          <a:p>
            <a:pPr lvl="1"/>
            <a:r>
              <a:rPr lang="en-US" altLang="zh-CN" dirty="0" smtClean="0"/>
              <a:t>16.4</a:t>
            </a:r>
            <a:r>
              <a:rPr lang="zh-CN" altLang="en-US" dirty="0" smtClean="0"/>
              <a:t>万张训练图像</a:t>
            </a:r>
            <a:endParaRPr lang="en-US" altLang="zh-CN" dirty="0" smtClean="0"/>
          </a:p>
          <a:p>
            <a:pPr lvl="1"/>
            <a:r>
              <a:rPr lang="en-US" altLang="zh-CN" dirty="0" smtClean="0"/>
              <a:t>89.7</a:t>
            </a:r>
            <a:r>
              <a:rPr lang="zh-CN" altLang="en-US" dirty="0" smtClean="0"/>
              <a:t>万个标注目标</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1760" y="4068681"/>
            <a:ext cx="8138728" cy="2068593"/>
          </a:xfrm>
          <a:prstGeom prst="rect">
            <a:avLst/>
          </a:prstGeom>
        </p:spPr>
      </p:pic>
    </p:spTree>
    <p:extLst>
      <p:ext uri="{BB962C8B-B14F-4D97-AF65-F5344CB8AC3E}">
        <p14:creationId xmlns:p14="http://schemas.microsoft.com/office/powerpoint/2010/main" val="1409480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Open Images</a:t>
            </a:r>
            <a:endParaRPr lang="zh-CN" altLang="en-US" dirty="0"/>
          </a:p>
        </p:txBody>
      </p:sp>
      <p:sp>
        <p:nvSpPr>
          <p:cNvPr id="3" name="内容占位符 2"/>
          <p:cNvSpPr>
            <a:spLocks noGrp="1"/>
          </p:cNvSpPr>
          <p:nvPr>
            <p:ph sz="quarter" idx="13"/>
          </p:nvPr>
        </p:nvSpPr>
        <p:spPr/>
        <p:txBody>
          <a:bodyPr/>
          <a:lstStyle/>
          <a:p>
            <a:r>
              <a:rPr lang="en-US" altLang="zh-CN" dirty="0" smtClean="0"/>
              <a:t>Open Images</a:t>
            </a:r>
            <a:r>
              <a:rPr lang="zh-CN" altLang="en-US" dirty="0" smtClean="0"/>
              <a:t>挑战赛</a:t>
            </a:r>
            <a:endParaRPr lang="en-US" altLang="zh-CN" dirty="0" smtClean="0"/>
          </a:p>
          <a:p>
            <a:pPr lvl="1"/>
            <a:r>
              <a:rPr lang="zh-CN" altLang="en-US" dirty="0"/>
              <a:t>始</a:t>
            </a:r>
            <a:r>
              <a:rPr lang="zh-CN" altLang="en-US" dirty="0" smtClean="0"/>
              <a:t>于</a:t>
            </a:r>
            <a:r>
              <a:rPr lang="en-US" altLang="zh-CN" dirty="0" smtClean="0"/>
              <a:t>2018</a:t>
            </a:r>
            <a:r>
              <a:rPr lang="zh-CN" altLang="en-US" dirty="0" smtClean="0"/>
              <a:t>年，由谷歌发布并不断更新</a:t>
            </a:r>
            <a:endParaRPr lang="en-US" altLang="zh-CN" dirty="0" smtClean="0"/>
          </a:p>
          <a:p>
            <a:pPr lvl="1"/>
            <a:r>
              <a:rPr lang="zh-CN" altLang="en-US" dirty="0" smtClean="0"/>
              <a:t>包含两个主题</a:t>
            </a:r>
            <a:endParaRPr lang="en-US" altLang="zh-CN" dirty="0" smtClean="0"/>
          </a:p>
          <a:p>
            <a:pPr lvl="2"/>
            <a:r>
              <a:rPr lang="zh-CN" altLang="en-US" dirty="0" smtClean="0"/>
              <a:t>标准的目标检测</a:t>
            </a:r>
            <a:endParaRPr lang="en-US" altLang="zh-CN" dirty="0" smtClean="0"/>
          </a:p>
          <a:p>
            <a:pPr lvl="2"/>
            <a:r>
              <a:rPr lang="zh-CN" altLang="en-US" dirty="0"/>
              <a:t>目标</a:t>
            </a:r>
            <a:r>
              <a:rPr lang="zh-CN" altLang="en-US" dirty="0" smtClean="0"/>
              <a:t>之间的关系分析</a:t>
            </a:r>
            <a:endParaRPr lang="en-US" altLang="zh-CN" dirty="0" smtClean="0"/>
          </a:p>
          <a:p>
            <a:pPr lvl="1"/>
            <a:r>
              <a:rPr lang="zh-CN" altLang="en-US" dirty="0" smtClean="0"/>
              <a:t>数据量级最大，目标类别最多</a:t>
            </a:r>
            <a:endParaRPr lang="en-US" altLang="zh-CN" dirty="0"/>
          </a:p>
          <a:p>
            <a:r>
              <a:rPr lang="en-US" altLang="zh-CN" dirty="0" smtClean="0"/>
              <a:t>Open Images V4</a:t>
            </a:r>
            <a:r>
              <a:rPr lang="zh-CN" altLang="en-US" dirty="0" smtClean="0"/>
              <a:t>包含</a:t>
            </a:r>
            <a:endParaRPr lang="en-US" altLang="zh-CN" dirty="0" smtClean="0"/>
          </a:p>
          <a:p>
            <a:pPr lvl="1"/>
            <a:r>
              <a:rPr lang="en-US" altLang="zh-CN" dirty="0" smtClean="0"/>
              <a:t>600</a:t>
            </a:r>
            <a:r>
              <a:rPr lang="zh-CN" altLang="en-US" dirty="0" smtClean="0"/>
              <a:t>种目标类别</a:t>
            </a:r>
            <a:endParaRPr lang="en-US" altLang="zh-CN" dirty="0" smtClean="0"/>
          </a:p>
          <a:p>
            <a:pPr lvl="1"/>
            <a:r>
              <a:rPr lang="en-US" altLang="zh-CN" dirty="0" smtClean="0"/>
              <a:t>191</a:t>
            </a:r>
            <a:r>
              <a:rPr lang="zh-CN" altLang="en-US" dirty="0" smtClean="0"/>
              <a:t>万张训练图像</a:t>
            </a:r>
            <a:endParaRPr lang="en-US" altLang="zh-CN" dirty="0" smtClean="0"/>
          </a:p>
          <a:p>
            <a:pPr lvl="1"/>
            <a:r>
              <a:rPr lang="en-US" altLang="zh-CN" dirty="0" smtClean="0"/>
              <a:t>1544</a:t>
            </a:r>
            <a:r>
              <a:rPr lang="zh-CN" altLang="en-US" dirty="0" smtClean="0"/>
              <a:t>万个标注目标</a:t>
            </a:r>
            <a:endParaRPr lang="en-US" altLang="zh-CN" dirty="0" smtClean="0"/>
          </a:p>
          <a:p>
            <a:pPr marL="457200" lvl="1" indent="0">
              <a:buNone/>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2909" y="2909619"/>
            <a:ext cx="4543425" cy="3019425"/>
          </a:xfrm>
          <a:prstGeom prst="rect">
            <a:avLst/>
          </a:prstGeom>
        </p:spPr>
      </p:pic>
    </p:spTree>
    <p:extLst>
      <p:ext uri="{BB962C8B-B14F-4D97-AF65-F5344CB8AC3E}">
        <p14:creationId xmlns:p14="http://schemas.microsoft.com/office/powerpoint/2010/main" val="2388380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其他特定场景的评测集</a:t>
            </a:r>
            <a:endParaRPr lang="zh-CN" altLang="en-US" dirty="0"/>
          </a:p>
        </p:txBody>
      </p:sp>
      <p:sp>
        <p:nvSpPr>
          <p:cNvPr id="3" name="内容占位符 2"/>
          <p:cNvSpPr>
            <a:spLocks noGrp="1"/>
          </p:cNvSpPr>
          <p:nvPr>
            <p:ph sz="quarter" idx="13"/>
          </p:nvPr>
        </p:nvSpPr>
        <p:spPr/>
        <p:txBody>
          <a:bodyPr/>
          <a:lstStyle/>
          <a:p>
            <a:r>
              <a:rPr lang="zh-CN" altLang="en-US" dirty="0" smtClean="0"/>
              <a:t>除了上述通用场景的目标检测评测集，在一些重要领域也都有对应的评测集</a:t>
            </a:r>
            <a:endParaRPr lang="en-US" altLang="zh-CN" dirty="0" smtClean="0"/>
          </a:p>
          <a:p>
            <a:r>
              <a:rPr lang="zh-CN" altLang="en-US" dirty="0" smtClean="0"/>
              <a:t>下面简单介绍一些特定领域中比较有影响力的评测集</a:t>
            </a:r>
            <a:endParaRPr lang="en-US" altLang="zh-CN" dirty="0" smtClean="0"/>
          </a:p>
          <a:p>
            <a:pPr lvl="1"/>
            <a:r>
              <a:rPr lang="zh-CN" altLang="en-US" dirty="0" smtClean="0"/>
              <a:t>行人检测评测集</a:t>
            </a:r>
            <a:endParaRPr lang="en-US" altLang="zh-CN" dirty="0" smtClean="0"/>
          </a:p>
          <a:p>
            <a:pPr lvl="1"/>
            <a:r>
              <a:rPr lang="zh-CN" altLang="en-US" dirty="0"/>
              <a:t>人脸</a:t>
            </a:r>
            <a:r>
              <a:rPr lang="zh-CN" altLang="en-US" dirty="0" smtClean="0"/>
              <a:t>检测评测集</a:t>
            </a:r>
            <a:endParaRPr lang="en-US" altLang="zh-CN" dirty="0" smtClean="0"/>
          </a:p>
          <a:p>
            <a:pPr lvl="1"/>
            <a:r>
              <a:rPr lang="zh-CN" altLang="en-US" dirty="0"/>
              <a:t>文本</a:t>
            </a:r>
            <a:r>
              <a:rPr lang="zh-CN" altLang="en-US" dirty="0" smtClean="0"/>
              <a:t>检测评测集</a:t>
            </a:r>
            <a:endParaRPr lang="en-US" altLang="zh-CN" dirty="0" smtClean="0"/>
          </a:p>
          <a:p>
            <a:pPr lvl="1"/>
            <a:r>
              <a:rPr lang="zh-CN" altLang="en-US" dirty="0" smtClean="0"/>
              <a:t>交通信号灯集交通标志检测评测集</a:t>
            </a:r>
            <a:endParaRPr lang="en-US" altLang="zh-CN" dirty="0" smtClean="0"/>
          </a:p>
          <a:p>
            <a:pPr lvl="1"/>
            <a:endParaRPr lang="zh-CN" altLang="en-US" dirty="0"/>
          </a:p>
        </p:txBody>
      </p:sp>
    </p:spTree>
    <p:extLst>
      <p:ext uri="{BB962C8B-B14F-4D97-AF65-F5344CB8AC3E}">
        <p14:creationId xmlns:p14="http://schemas.microsoft.com/office/powerpoint/2010/main" val="773363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行人检测评测集</a:t>
            </a:r>
            <a:endParaRPr lang="zh-CN" altLang="en-US" dirty="0"/>
          </a:p>
        </p:txBody>
      </p:sp>
      <p:pic>
        <p:nvPicPr>
          <p:cNvPr id="8" name="内容占位符 7"/>
          <p:cNvPicPr>
            <a:picLocks noGrp="1" noChangeAspect="1"/>
          </p:cNvPicPr>
          <p:nvPr>
            <p:ph sz="quarter" idx="13"/>
          </p:nvPr>
        </p:nvPicPr>
        <p:blipFill>
          <a:blip r:embed="rId2"/>
          <a:stretch>
            <a:fillRect/>
          </a:stretch>
        </p:blipFill>
        <p:spPr>
          <a:xfrm>
            <a:off x="669925" y="1362118"/>
            <a:ext cx="10850563" cy="4543339"/>
          </a:xfrm>
          <a:prstGeom prst="rect">
            <a:avLst/>
          </a:prstGeom>
        </p:spPr>
      </p:pic>
    </p:spTree>
    <p:extLst>
      <p:ext uri="{BB962C8B-B14F-4D97-AF65-F5344CB8AC3E}">
        <p14:creationId xmlns:p14="http://schemas.microsoft.com/office/powerpoint/2010/main" val="3816129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人脸检测评测集</a:t>
            </a:r>
            <a:endParaRPr lang="zh-CN" altLang="en-US" dirty="0"/>
          </a:p>
        </p:txBody>
      </p:sp>
      <p:pic>
        <p:nvPicPr>
          <p:cNvPr id="6" name="内容占位符 5"/>
          <p:cNvPicPr>
            <a:picLocks noGrp="1" noChangeAspect="1"/>
          </p:cNvPicPr>
          <p:nvPr>
            <p:ph sz="quarter" idx="13"/>
          </p:nvPr>
        </p:nvPicPr>
        <p:blipFill>
          <a:blip r:embed="rId2"/>
          <a:stretch>
            <a:fillRect/>
          </a:stretch>
        </p:blipFill>
        <p:spPr>
          <a:xfrm>
            <a:off x="669925" y="1243325"/>
            <a:ext cx="10850563" cy="4780925"/>
          </a:xfrm>
          <a:prstGeom prst="rect">
            <a:avLst/>
          </a:prstGeom>
        </p:spPr>
      </p:pic>
    </p:spTree>
    <p:extLst>
      <p:ext uri="{BB962C8B-B14F-4D97-AF65-F5344CB8AC3E}">
        <p14:creationId xmlns:p14="http://schemas.microsoft.com/office/powerpoint/2010/main" val="1583056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文本检测评测集</a:t>
            </a:r>
            <a:endParaRPr lang="zh-CN" altLang="en-US" dirty="0"/>
          </a:p>
        </p:txBody>
      </p:sp>
      <p:pic>
        <p:nvPicPr>
          <p:cNvPr id="9" name="内容占位符 8"/>
          <p:cNvPicPr>
            <a:picLocks noGrp="1" noChangeAspect="1"/>
          </p:cNvPicPr>
          <p:nvPr>
            <p:ph sz="quarter" idx="13"/>
          </p:nvPr>
        </p:nvPicPr>
        <p:blipFill>
          <a:blip r:embed="rId2"/>
          <a:stretch>
            <a:fillRect/>
          </a:stretch>
        </p:blipFill>
        <p:spPr>
          <a:xfrm>
            <a:off x="669925" y="1577188"/>
            <a:ext cx="10850563" cy="4113198"/>
          </a:xfrm>
          <a:prstGeom prst="rect">
            <a:avLst/>
          </a:prstGeom>
        </p:spPr>
      </p:pic>
    </p:spTree>
    <p:extLst>
      <p:ext uri="{BB962C8B-B14F-4D97-AF65-F5344CB8AC3E}">
        <p14:creationId xmlns:p14="http://schemas.microsoft.com/office/powerpoint/2010/main" val="1539487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交通信号灯及交通标志检测评测集</a:t>
            </a:r>
            <a:endParaRPr lang="zh-CN" altLang="en-US" dirty="0"/>
          </a:p>
        </p:txBody>
      </p:sp>
      <p:pic>
        <p:nvPicPr>
          <p:cNvPr id="6" name="内容占位符 5"/>
          <p:cNvPicPr>
            <a:picLocks noGrp="1" noChangeAspect="1"/>
          </p:cNvPicPr>
          <p:nvPr>
            <p:ph sz="quarter" idx="13"/>
          </p:nvPr>
        </p:nvPicPr>
        <p:blipFill>
          <a:blip r:embed="rId2"/>
          <a:stretch>
            <a:fillRect/>
          </a:stretch>
        </p:blipFill>
        <p:spPr>
          <a:xfrm>
            <a:off x="1767369" y="1130300"/>
            <a:ext cx="8655674" cy="5006975"/>
          </a:xfrm>
          <a:prstGeom prst="rect">
            <a:avLst/>
          </a:prstGeom>
        </p:spPr>
      </p:pic>
    </p:spTree>
    <p:extLst>
      <p:ext uri="{BB962C8B-B14F-4D97-AF65-F5344CB8AC3E}">
        <p14:creationId xmlns:p14="http://schemas.microsoft.com/office/powerpoint/2010/main" val="1956239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目标检测的应用场景</a:t>
            </a:r>
            <a:endParaRPr lang="en-US" altLang="zh-CN" dirty="0" smtClean="0"/>
          </a:p>
          <a:p>
            <a:r>
              <a:rPr lang="zh-CN" altLang="en-US" dirty="0" smtClean="0"/>
              <a:t>目标检测发展简史</a:t>
            </a:r>
            <a:endParaRPr lang="en-US" altLang="zh-CN" dirty="0" smtClean="0"/>
          </a:p>
          <a:p>
            <a:r>
              <a:rPr lang="zh-CN" altLang="en-US" dirty="0"/>
              <a:t>目标</a:t>
            </a:r>
            <a:r>
              <a:rPr lang="zh-CN" altLang="en-US" dirty="0" smtClean="0"/>
              <a:t>检测常用评测集</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321084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1304</TotalTime>
  <Words>6382</Words>
  <Application>Microsoft Office PowerPoint</Application>
  <PresentationFormat>宽屏</PresentationFormat>
  <Paragraphs>407</Paragraphs>
  <Slides>47</Slides>
  <Notes>33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宋体</vt:lpstr>
      <vt:lpstr>微软雅黑</vt:lpstr>
      <vt:lpstr>Arial</vt:lpstr>
      <vt:lpstr>Calibri</vt:lpstr>
      <vt:lpstr>Ebrima</vt:lpstr>
      <vt:lpstr>Wingdings 2</vt:lpstr>
      <vt:lpstr>主题5</vt:lpstr>
      <vt:lpstr>目标检测的准备</vt:lpstr>
      <vt:lpstr>课程目标</vt:lpstr>
      <vt:lpstr>PowerPoint 演示文稿</vt:lpstr>
      <vt:lpstr>/01</vt:lpstr>
      <vt:lpstr>目标检测介绍</vt:lpstr>
      <vt:lpstr>人类的视觉</vt:lpstr>
      <vt:lpstr>计算机视觉介绍</vt:lpstr>
      <vt:lpstr>计算机视觉介绍</vt:lpstr>
      <vt:lpstr>计算机视觉介绍</vt:lpstr>
      <vt:lpstr>/02</vt:lpstr>
      <vt:lpstr>目标检测应用场景</vt:lpstr>
      <vt:lpstr>人脸识别</vt:lpstr>
      <vt:lpstr>人脸识别</vt:lpstr>
      <vt:lpstr>智慧交通</vt:lpstr>
      <vt:lpstr>流量监控与红绿灯配时控制</vt:lpstr>
      <vt:lpstr>异常事件检测</vt:lpstr>
      <vt:lpstr>交通违法事件检测与追踪</vt:lpstr>
      <vt:lpstr>自动驾驶</vt:lpstr>
      <vt:lpstr>工业检测</vt:lpstr>
      <vt:lpstr>/03</vt:lpstr>
      <vt:lpstr>目标检测发展史</vt:lpstr>
      <vt:lpstr>传统算法——Viola Jones检测器</vt:lpstr>
      <vt:lpstr>传统算法——HOG检测器</vt:lpstr>
      <vt:lpstr>传统算法——DPM检测器</vt:lpstr>
      <vt:lpstr>深度学习算法</vt:lpstr>
      <vt:lpstr>两阶段算法——R-CNN</vt:lpstr>
      <vt:lpstr>两阶段算法——SPP-Net</vt:lpstr>
      <vt:lpstr>两阶段算法——Fast R-CNN</vt:lpstr>
      <vt:lpstr>两阶段算法——Faster R-CNN</vt:lpstr>
      <vt:lpstr>两阶段算法——FPN</vt:lpstr>
      <vt:lpstr>一阶段算法——YOLO</vt:lpstr>
      <vt:lpstr>一阶段算法——SSD</vt:lpstr>
      <vt:lpstr>一阶段算法——Retina-Net</vt:lpstr>
      <vt:lpstr>一阶段算法——FCOS</vt:lpstr>
      <vt:lpstr>/04</vt:lpstr>
      <vt:lpstr>目标检测的公开数据集</vt:lpstr>
      <vt:lpstr>PASCAL VOC</vt:lpstr>
      <vt:lpstr>ILSVRC</vt:lpstr>
      <vt:lpstr>MS-COCO</vt:lpstr>
      <vt:lpstr>Open Images</vt:lpstr>
      <vt:lpstr>其他特定场景的评测集</vt:lpstr>
      <vt:lpstr>行人检测评测集</vt:lpstr>
      <vt:lpstr>人脸检测评测集</vt:lpstr>
      <vt:lpstr>文本检测评测集</vt:lpstr>
      <vt:lpstr>交通信号灯及交通标志检测评测集</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38</cp:revision>
  <cp:lastPrinted>2018-09-20T16:00:00Z</cp:lastPrinted>
  <dcterms:created xsi:type="dcterms:W3CDTF">2022-06-27T01:42:48Z</dcterms:created>
  <dcterms:modified xsi:type="dcterms:W3CDTF">2022-12-27T09:26:01Z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