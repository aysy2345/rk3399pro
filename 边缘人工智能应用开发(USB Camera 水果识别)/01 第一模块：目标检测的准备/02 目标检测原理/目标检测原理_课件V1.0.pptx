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handoutMasterIdLst>
    <p:handoutMasterId r:id="rId65"/>
  </p:handoutMasterIdLst>
  <p:sldIdLst>
    <p:sldId id="258" r:id="rId2"/>
    <p:sldId id="263" r:id="rId3"/>
    <p:sldId id="262" r:id="rId4"/>
    <p:sldId id="267" r:id="rId5"/>
    <p:sldId id="268" r:id="rId6"/>
    <p:sldId id="288" r:id="rId7"/>
    <p:sldId id="269" r:id="rId8"/>
    <p:sldId id="270" r:id="rId9"/>
    <p:sldId id="271" r:id="rId10"/>
    <p:sldId id="272" r:id="rId11"/>
    <p:sldId id="273" r:id="rId12"/>
    <p:sldId id="274" r:id="rId13"/>
    <p:sldId id="275" r:id="rId14"/>
    <p:sldId id="276" r:id="rId15"/>
    <p:sldId id="285" r:id="rId16"/>
    <p:sldId id="286" r:id="rId17"/>
    <p:sldId id="287" r:id="rId18"/>
    <p:sldId id="277" r:id="rId19"/>
    <p:sldId id="278" r:id="rId20"/>
    <p:sldId id="279" r:id="rId21"/>
    <p:sldId id="280" r:id="rId22"/>
    <p:sldId id="281" r:id="rId23"/>
    <p:sldId id="282" r:id="rId24"/>
    <p:sldId id="289" r:id="rId25"/>
    <p:sldId id="283" r:id="rId26"/>
    <p:sldId id="284" r:id="rId27"/>
    <p:sldId id="290" r:id="rId28"/>
    <p:sldId id="291" r:id="rId29"/>
    <p:sldId id="292" r:id="rId30"/>
    <p:sldId id="293" r:id="rId31"/>
    <p:sldId id="294" r:id="rId32"/>
    <p:sldId id="295" r:id="rId33"/>
    <p:sldId id="296" r:id="rId34"/>
    <p:sldId id="297" r:id="rId35"/>
    <p:sldId id="298" r:id="rId36"/>
    <p:sldId id="299" r:id="rId37"/>
    <p:sldId id="300" r:id="rId38"/>
    <p:sldId id="301" r:id="rId39"/>
    <p:sldId id="302" r:id="rId40"/>
    <p:sldId id="303" r:id="rId41"/>
    <p:sldId id="304" r:id="rId42"/>
    <p:sldId id="305" r:id="rId43"/>
    <p:sldId id="306" r:id="rId44"/>
    <p:sldId id="307" r:id="rId45"/>
    <p:sldId id="308" r:id="rId46"/>
    <p:sldId id="309" r:id="rId47"/>
    <p:sldId id="310" r:id="rId48"/>
    <p:sldId id="311" r:id="rId49"/>
    <p:sldId id="312" r:id="rId50"/>
    <p:sldId id="313" r:id="rId51"/>
    <p:sldId id="314" r:id="rId52"/>
    <p:sldId id="315" r:id="rId53"/>
    <p:sldId id="316" r:id="rId54"/>
    <p:sldId id="317" r:id="rId55"/>
    <p:sldId id="318" r:id="rId56"/>
    <p:sldId id="319" r:id="rId57"/>
    <p:sldId id="320" r:id="rId58"/>
    <p:sldId id="321" r:id="rId59"/>
    <p:sldId id="322" r:id="rId60"/>
    <p:sldId id="323" r:id="rId61"/>
    <p:sldId id="324" r:id="rId62"/>
    <p:sldId id="261" r:id="rId63"/>
  </p:sldIdLst>
  <p:sldSz cx="12192000" cy="6858000"/>
  <p:notesSz cx="6858000" cy="9144000"/>
  <p:custDataLst>
    <p:tags r:id="rId66"/>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pos="3840" userDrawn="1">
          <p15:clr>
            <a:srgbClr val="F26B43"/>
          </p15:clr>
        </p15:guide>
        <p15:guide id="2" pos="7256" userDrawn="1">
          <p15:clr>
            <a:srgbClr val="A4A3A4"/>
          </p15:clr>
        </p15:guide>
        <p15:guide id="5" orient="horz" pos="3929" userDrawn="1">
          <p15:clr>
            <a:srgbClr val="A4A3A4"/>
          </p15:clr>
        </p15:guide>
        <p15:guide id="6" orient="horz" pos="3864" userDrawn="1">
          <p15:clr>
            <a:srgbClr val="A4A3A4"/>
          </p15:clr>
        </p15:guide>
        <p15:guide id="7" orient="horz" pos="2160"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82AEBC"/>
    <a:srgbClr val="F03662"/>
    <a:srgbClr val="5F5F5F"/>
    <a:srgbClr val="36A4BC"/>
    <a:srgbClr val="FCCC6B"/>
    <a:srgbClr val="0B077F"/>
    <a:srgbClr val="28508A"/>
    <a:srgbClr val="327CA6"/>
    <a:srgbClr val="1FDBE8"/>
    <a:srgbClr val="FBBB3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7" autoAdjust="0"/>
    <p:restoredTop sz="76009" autoAdjust="0"/>
  </p:normalViewPr>
  <p:slideViewPr>
    <p:cSldViewPr snapToGrid="0" showGuides="1">
      <p:cViewPr varScale="1">
        <p:scale>
          <a:sx n="88" d="100"/>
          <a:sy n="88" d="100"/>
        </p:scale>
        <p:origin x="1440" y="90"/>
      </p:cViewPr>
      <p:guideLst>
        <p:guide pos="3840"/>
        <p:guide pos="7256"/>
        <p:guide orient="horz" pos="3929"/>
        <p:guide orient="horz" pos="3864"/>
        <p:guide orient="horz" pos="216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gs" Target="tags/tag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xmlns="" id="{83C43651-EA8B-4678-8FD9-6C875DB136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a16="http://schemas.microsoft.com/office/drawing/2014/main" xmlns="" id="{6BD28C34-B0BD-41BE-80A7-C252BFAB08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09C1BF11-5702-475A-BDCC-CA13CC2B291E}"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4" name="页脚占位符 3">
            <a:extLst>
              <a:ext uri="{FF2B5EF4-FFF2-40B4-BE49-F238E27FC236}">
                <a16:creationId xmlns:a16="http://schemas.microsoft.com/office/drawing/2014/main" xmlns="" id="{A77B7009-201B-41DD-A31B-ADB4AD7A41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a16="http://schemas.microsoft.com/office/drawing/2014/main" xmlns="" id="{DBB078B8-0584-4580-A4FF-8E471217AE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81B0EFE-A81B-4FF2-A11B-20F00DF34C36}" type="slidenum">
              <a:rPr lang="zh-CN" altLang="en-US"/>
              <a:pPr/>
              <a:t>‹#›</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4032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xmlns="" id="{A1E830F0-DDCD-4D0F-B5F3-4FD19C8F86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E86D8963-CFCD-4740-AF60-049850373CDF}"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30723" name="幻灯片图像占位符 3">
            <a:extLst>
              <a:ext uri="{FF2B5EF4-FFF2-40B4-BE49-F238E27FC236}">
                <a16:creationId xmlns:a16="http://schemas.microsoft.com/office/drawing/2014/main" xmlns="" id="{0E0776D9-EB5E-4648-A11C-5DC5CDC40389}"/>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30724" name="备注占位符 7">
            <a:extLst>
              <a:ext uri="{FF2B5EF4-FFF2-40B4-BE49-F238E27FC236}">
                <a16:creationId xmlns:a16="http://schemas.microsoft.com/office/drawing/2014/main" xmlns="" id="{283E4D93-BBF5-4A19-BF46-DCA634601C1A}"/>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灯片编号占位符 8">
            <a:extLst>
              <a:ext uri="{FF2B5EF4-FFF2-40B4-BE49-F238E27FC236}">
                <a16:creationId xmlns:a16="http://schemas.microsoft.com/office/drawing/2014/main" xmlns="" id="{DF32E9F7-1370-428C-9546-57C93750911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4C464E13-4384-4E27-B198-CCD5CE71F818}" type="slidenum">
              <a:rPr lang="zh-CN" altLang="en-US"/>
              <a:pPr/>
              <a:t>‹#›</a:t>
            </a:fld>
            <a:endParaRPr lang="zh-CN" altLang="en-US">
              <a:latin typeface="Arial" panose="020B0604020202020204" pitchFamily="34" charset="0"/>
              <a:ea typeface="微软雅黑" panose="020B0503020204020204" pitchFamily="34" charset="-122"/>
            </a:endParaRPr>
          </a:p>
        </p:txBody>
      </p:sp>
      <p:sp>
        <p:nvSpPr>
          <p:cNvPr id="10" name="页脚占位符 9">
            <a:extLst>
              <a:ext uri="{FF2B5EF4-FFF2-40B4-BE49-F238E27FC236}">
                <a16:creationId xmlns:a16="http://schemas.microsoft.com/office/drawing/2014/main" xmlns="" id="{22C67519-F77F-4031-9D1A-E102741AFDF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11" name="页眉占位符 10">
            <a:extLst>
              <a:ext uri="{FF2B5EF4-FFF2-40B4-BE49-F238E27FC236}">
                <a16:creationId xmlns:a16="http://schemas.microsoft.com/office/drawing/2014/main" xmlns="" id="{A2FFFFAA-8C8E-43C6-8DDC-20C2BA84D3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Tree>
    <p:extLst>
      <p:ext uri="{BB962C8B-B14F-4D97-AF65-F5344CB8AC3E}">
        <p14:creationId xmlns:p14="http://schemas.microsoft.com/office/powerpoint/2010/main" val="2146978427"/>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之前的课程中提到目标检测是计算机视觉的一个分支，我们先从计算机视觉开始，进而引入深度学习的卷积神经网络，介绍目标检测的原理。</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153954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1827782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200000"/>
              </a:lnSpc>
              <a:spcBef>
                <a:spcPct val="0"/>
              </a:spcBef>
              <a:spcAft>
                <a:spcPct val="0"/>
              </a:spcAft>
              <a:buClrTx/>
              <a:buSzTx/>
              <a:buFontTx/>
              <a:buNone/>
              <a:tabLst/>
              <a:defRPr/>
            </a:pPr>
            <a:r>
              <a:rPr lang="zh-CN" altLang="en-US" sz="1200" dirty="0" smtClean="0"/>
              <a:t>为了解决在上一课时中提出的实现计算机视觉的两大难点，我们引入了深度学习概念中的卷积神经网络。</a:t>
            </a:r>
            <a:endParaRPr lang="en-US" altLang="zh-CN" sz="1200" dirty="0" smtClean="0"/>
          </a:p>
          <a:p>
            <a:pPr marL="0" marR="0" indent="0" algn="l" defTabSz="914400" rtl="0" eaLnBrk="1" fontAlgn="base" latinLnBrk="0" hangingPunct="1">
              <a:lnSpc>
                <a:spcPct val="200000"/>
              </a:lnSpc>
              <a:spcBef>
                <a:spcPct val="0"/>
              </a:spcBef>
              <a:spcAft>
                <a:spcPct val="0"/>
              </a:spcAft>
              <a:buClrTx/>
              <a:buSzTx/>
              <a:buFontTx/>
              <a:buNone/>
              <a:tabLst/>
              <a:defRPr/>
            </a:pPr>
            <a:r>
              <a:rPr lang="zh-CN" altLang="en-US" sz="1200" dirty="0" smtClean="0"/>
              <a:t>卷积神经网络</a:t>
            </a:r>
            <a:r>
              <a:rPr lang="en-US" altLang="zh-CN" sz="1200" dirty="0" smtClean="0"/>
              <a:t> (Convolutional Neural Network, CNN) </a:t>
            </a:r>
            <a:r>
              <a:rPr lang="zh-CN" altLang="en-US" sz="1200" dirty="0" smtClean="0"/>
              <a:t>是一种深度前馈神经网络，目前广泛应用于图像分类、图像检索、目标检测、目标分割、目标跟踪、视频分类等图像识别领域。</a:t>
            </a:r>
            <a:endParaRPr lang="en-US" altLang="zh-CN" sz="1200" dirty="0" smtClean="0"/>
          </a:p>
          <a:p>
            <a:pPr eaLnBrk="1" hangingPunct="1">
              <a:lnSpc>
                <a:spcPct val="200000"/>
              </a:lnSpc>
              <a:spcBef>
                <a:spcPct val="0"/>
              </a:spcBef>
            </a:pPr>
            <a:r>
              <a:rPr lang="en-US" altLang="zh-CN" sz="1200" dirty="0" smtClean="0"/>
              <a:t>CNN</a:t>
            </a:r>
            <a:r>
              <a:rPr lang="zh-CN" altLang="en-US" sz="1200" dirty="0" smtClean="0"/>
              <a:t>可以基于原始图像的像素数据在第一层网络进行边缘检测；然后在第二层网络中，通过边缘检测识别的形状（如斑点），检测到更高层级的特征（如人类面部特征）；最后在第三层网络使用这些特征做图像预测。</a:t>
            </a:r>
          </a:p>
          <a:p>
            <a:pPr eaLnBrk="1" hangingPunct="1">
              <a:lnSpc>
                <a:spcPct val="200000"/>
              </a:lnSpc>
              <a:spcBef>
                <a:spcPct val="0"/>
              </a:spcBef>
            </a:pPr>
            <a:r>
              <a:rPr lang="zh-CN" altLang="en-US" sz="1200" dirty="0" smtClean="0"/>
              <a:t>相比传统神经网络的全连接，卷积神经网络通过“卷积核”进行连接。这种做法具有参数共享、连接稀疏的优点，不仅保留了图像的局部位置信息，也极大降低了参数的量级。</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695880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与普通的神经网络相比，卷积神经网络有一些特殊的层，右图是一个典型的卷积神经网络执行目标检测任务时的结构。下面就将一一详细介绍这些新概念，并推理每一层的计算和作用。</a:t>
            </a:r>
            <a:endParaRPr lang="en-US" altLang="zh-CN" dirty="0" smtClean="0"/>
          </a:p>
          <a:p>
            <a:r>
              <a:rPr lang="zh-CN" altLang="en-US" dirty="0" smtClean="0"/>
              <a:t>此外，我们还将介绍一些其他的概念，以便更深入地了解卷积神经网络。</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535449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zh-CN" altLang="en-US" sz="1200" dirty="0" smtClean="0"/>
              <a:t>卷积层与全连接层不同，它保留了输入图像的空间特征，用一张</a:t>
            </a:r>
            <a:r>
              <a:rPr lang="en-US" altLang="zh-CN" sz="1200" dirty="0" smtClean="0"/>
              <a:t>32</a:t>
            </a:r>
            <a:r>
              <a:rPr lang="en-US" altLang="zh-CN" sz="1200" b="1" dirty="0" smtClean="0"/>
              <a:t>×</a:t>
            </a:r>
            <a:r>
              <a:rPr lang="en-US" altLang="zh-CN" sz="1200" dirty="0" smtClean="0"/>
              <a:t>32</a:t>
            </a:r>
            <a:r>
              <a:rPr lang="en-US" altLang="zh-CN" sz="1200" b="1" dirty="0" smtClean="0"/>
              <a:t>×</a:t>
            </a:r>
            <a:r>
              <a:rPr lang="en-US" altLang="zh-CN" sz="1200" dirty="0" smtClean="0"/>
              <a:t>3</a:t>
            </a:r>
            <a:r>
              <a:rPr lang="zh-CN" altLang="en-US" sz="1200" dirty="0" smtClean="0"/>
              <a:t>的图像为例 </a:t>
            </a:r>
            <a:r>
              <a:rPr lang="en-US" altLang="zh-CN" sz="1200" dirty="0" smtClean="0"/>
              <a:t>(</a:t>
            </a:r>
            <a:r>
              <a:rPr lang="zh-CN" altLang="en-US" sz="1200" dirty="0" smtClean="0"/>
              <a:t>宽、高均为</a:t>
            </a:r>
            <a:r>
              <a:rPr lang="en-US" altLang="zh-CN" sz="1200" dirty="0" smtClean="0"/>
              <a:t>32</a:t>
            </a:r>
            <a:r>
              <a:rPr lang="zh-CN" altLang="en-US" sz="1200" dirty="0" smtClean="0"/>
              <a:t>像素，彩色</a:t>
            </a:r>
            <a:r>
              <a:rPr lang="en-US" altLang="zh-CN" sz="1200" dirty="0" smtClean="0"/>
              <a:t>RGB3</a:t>
            </a:r>
            <a:r>
              <a:rPr lang="zh-CN" altLang="en-US" sz="1200" dirty="0" smtClean="0"/>
              <a:t>通道</a:t>
            </a:r>
            <a:r>
              <a:rPr lang="en-US" altLang="zh-CN" sz="1200" dirty="0" smtClean="0"/>
              <a:t>)</a:t>
            </a:r>
            <a:r>
              <a:rPr lang="zh-CN" altLang="en-US" sz="1200" dirty="0" smtClean="0"/>
              <a:t>，卷积层的输入就是</a:t>
            </a:r>
            <a:r>
              <a:rPr lang="en-US" altLang="zh-CN" sz="1200" dirty="0" smtClean="0"/>
              <a:t>32</a:t>
            </a:r>
            <a:r>
              <a:rPr lang="en-US" altLang="zh-CN" sz="1200" b="1" dirty="0" smtClean="0"/>
              <a:t>×</a:t>
            </a:r>
            <a:r>
              <a:rPr lang="en-US" altLang="zh-CN" sz="1200" dirty="0" smtClean="0"/>
              <a:t>32</a:t>
            </a:r>
            <a:r>
              <a:rPr lang="en-US" altLang="zh-CN" sz="1200" b="1" dirty="0" smtClean="0"/>
              <a:t>×</a:t>
            </a:r>
            <a:r>
              <a:rPr lang="en-US" altLang="zh-CN" sz="1200" dirty="0" smtClean="0"/>
              <a:t>3</a:t>
            </a:r>
            <a:r>
              <a:rPr lang="zh-CN" altLang="en-US" sz="1200" dirty="0" smtClean="0"/>
              <a:t>的矩阵。</a:t>
            </a:r>
            <a:endParaRPr lang="en-US" altLang="zh-CN" sz="1200" dirty="0" smtClean="0"/>
          </a:p>
          <a:p>
            <a:pPr eaLnBrk="1" hangingPunct="1">
              <a:lnSpc>
                <a:spcPct val="200000"/>
              </a:lnSpc>
              <a:spcBef>
                <a:spcPct val="0"/>
              </a:spcBef>
            </a:pPr>
            <a:r>
              <a:rPr lang="zh-CN" altLang="en-US" sz="1200" dirty="0" smtClean="0"/>
              <a:t>卷积层的主要作用是提取特征，不论是局部特征还是整体特征。每层卷积层由若干卷积单元组成，每个卷积单元的参数都是通过反向传播算法优化得到的。卷积运算的目的是提取输入的不同特征，第一层卷积层可能只能提取一些低级的特征如边缘、线条和角等层级，更多层的网络能从低级特征中迭代提取更复杂的特征。</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7613751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zh-CN" altLang="en-US" sz="1200" dirty="0" smtClean="0"/>
              <a:t>在卷积层中，对图像进行的处理就是卷积运算，这里我们需要引入一个新的概念</a:t>
            </a:r>
            <a:r>
              <a:rPr lang="en-US" altLang="zh-CN" sz="1200" dirty="0" smtClean="0"/>
              <a:t>——</a:t>
            </a:r>
            <a:r>
              <a:rPr lang="zh-CN" altLang="en-US" sz="1200" dirty="0" smtClean="0"/>
              <a:t>卷积核 </a:t>
            </a:r>
            <a:r>
              <a:rPr lang="en-US" altLang="zh-CN" sz="1200" dirty="0" smtClean="0"/>
              <a:t>(kernel, </a:t>
            </a:r>
            <a:r>
              <a:rPr lang="zh-CN" altLang="en-US" sz="1200" dirty="0" smtClean="0"/>
              <a:t>常简称为卷积，有时也称为滤波器</a:t>
            </a:r>
            <a:r>
              <a:rPr lang="en-US" altLang="zh-CN" sz="1200" dirty="0" smtClean="0"/>
              <a:t>, filter) </a:t>
            </a:r>
            <a:r>
              <a:rPr lang="zh-CN" altLang="en-US" sz="1200" dirty="0" smtClean="0"/>
              <a:t>。卷积核的尺寸可以根据实际需要自行定义，通常设为 </a:t>
            </a:r>
            <a:r>
              <a:rPr lang="en-US" altLang="zh-CN" sz="1200" dirty="0" smtClean="0"/>
              <a:t>(1,1) (3,3) (5,5)</a:t>
            </a:r>
            <a:r>
              <a:rPr lang="zh-CN" altLang="en-US" sz="1200" dirty="0" smtClean="0"/>
              <a:t>等。尺寸较大的卷积核带来的计算量会比较大，因此目前主流的卷积核尺寸都相对较小。卷积核的通道个数一般设置为与输入图像通道数一致（如果输入图像是黑白的灰度图，则通道数为</a:t>
            </a:r>
            <a:r>
              <a:rPr lang="en-US" altLang="zh-CN" sz="1200" dirty="0" smtClean="0"/>
              <a:t>1</a:t>
            </a:r>
            <a:r>
              <a:rPr lang="zh-CN" altLang="en-US" sz="1200" dirty="0" smtClean="0"/>
              <a:t>，如果输入图像是彩色图，则通道数为</a:t>
            </a:r>
            <a:r>
              <a:rPr lang="en-US" altLang="zh-CN" sz="1200" dirty="0" smtClean="0"/>
              <a:t>3</a:t>
            </a:r>
            <a:r>
              <a:rPr lang="zh-CN" altLang="en-US" sz="1200" dirty="0" smtClean="0"/>
              <a:t>）。</a:t>
            </a:r>
            <a:endParaRPr lang="en-US" altLang="zh-CN" sz="1200" dirty="0" smtClean="0"/>
          </a:p>
          <a:p>
            <a:pPr eaLnBrk="1" hangingPunct="1">
              <a:lnSpc>
                <a:spcPct val="200000"/>
              </a:lnSpc>
              <a:spcBef>
                <a:spcPct val="0"/>
              </a:spcBef>
            </a:pPr>
            <a:r>
              <a:rPr lang="zh-CN" altLang="en-US" sz="1200" dirty="0" smtClean="0"/>
              <a:t>右图是一种特殊的卷积核，名为</a:t>
            </a:r>
            <a:r>
              <a:rPr lang="en-US" altLang="zh-CN" sz="1200" dirty="0" err="1" smtClean="0"/>
              <a:t>Laplacian</a:t>
            </a:r>
            <a:r>
              <a:rPr lang="zh-CN" altLang="en-US" sz="1200" dirty="0" smtClean="0"/>
              <a:t>算子，主要应用于边缘检测，感兴趣的同学可以自行探索。</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8829268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zh-CN" altLang="en-US" sz="1200" dirty="0" smtClean="0"/>
              <a:t>在介绍完卷积核后，我们探讨一下卷积计算的过程。让卷积核在输入特征图上依次滑动，滑动方向为从左到右，从上到下。每滑动一次，卷积核就和滑窗位置对应的输入特征图做一次点乘运算（将各个位置上卷积核的元素和输入特征图对应位置的元素先相乘再求和），并将得到的数值保存到输出特征图对应的位置上，最终得到卷积运算的输出。</a:t>
            </a:r>
            <a:endParaRPr lang="en-US" altLang="zh-CN" sz="1200" dirty="0" smtClean="0"/>
          </a:p>
          <a:p>
            <a:pPr eaLnBrk="1" hangingPunct="1">
              <a:lnSpc>
                <a:spcPct val="200000"/>
              </a:lnSpc>
              <a:spcBef>
                <a:spcPct val="0"/>
              </a:spcBef>
            </a:pPr>
            <a:r>
              <a:rPr lang="zh-CN" altLang="en-US" sz="1200" dirty="0" smtClean="0"/>
              <a:t>右图就是一张</a:t>
            </a:r>
            <a:r>
              <a:rPr lang="en-US" altLang="zh-CN" sz="1200" dirty="0" smtClean="0"/>
              <a:t>6×6</a:t>
            </a:r>
            <a:r>
              <a:rPr lang="zh-CN" altLang="en-US" sz="1200" dirty="0" smtClean="0"/>
              <a:t>彩色图像经过</a:t>
            </a:r>
            <a:r>
              <a:rPr lang="en-US" altLang="zh-CN" sz="1200" dirty="0" smtClean="0"/>
              <a:t>3</a:t>
            </a:r>
            <a:r>
              <a:rPr lang="zh-CN" altLang="en-US" sz="1200" dirty="0" smtClean="0"/>
              <a:t>通道的</a:t>
            </a:r>
            <a:r>
              <a:rPr lang="en-US" altLang="zh-CN" sz="1200" dirty="0" smtClean="0"/>
              <a:t>(3,3)</a:t>
            </a:r>
            <a:r>
              <a:rPr lang="zh-CN" altLang="en-US" sz="1200" dirty="0" smtClean="0"/>
              <a:t>卷积核进行卷积计算的示例。</a:t>
            </a:r>
            <a:endParaRPr lang="en-US" altLang="zh-CN" sz="1200" dirty="0" smtClean="0"/>
          </a:p>
          <a:p>
            <a:pPr eaLnBrk="1" hangingPunct="1">
              <a:lnSpc>
                <a:spcPct val="200000"/>
              </a:lnSpc>
              <a:spcBef>
                <a:spcPct val="0"/>
              </a:spcBef>
            </a:pPr>
            <a:r>
              <a:rPr lang="zh-CN" altLang="en-US" sz="1200" dirty="0" smtClean="0"/>
              <a:t>在</a:t>
            </a:r>
            <a:r>
              <a:rPr lang="en-US" altLang="zh-CN" sz="1200" dirty="0" smtClean="0"/>
              <a:t>CNN</a:t>
            </a:r>
            <a:r>
              <a:rPr lang="zh-CN" altLang="en-US" sz="1200" dirty="0" smtClean="0"/>
              <a:t>中，卷积核除了有权重参数之外，也存在偏置，偏置通常只有一个</a:t>
            </a:r>
            <a:r>
              <a:rPr lang="en-US" altLang="zh-CN" sz="1200" dirty="0" smtClean="0"/>
              <a:t> (1,1) </a:t>
            </a:r>
            <a:r>
              <a:rPr lang="zh-CN" altLang="en-US" sz="1200" dirty="0" smtClean="0"/>
              <a:t>，它会被加到应用卷积核的所有元素上。</a:t>
            </a:r>
            <a:endParaRPr lang="en-US" altLang="zh-CN" sz="1200"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141189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zh-CN" altLang="en-US" sz="1200" dirty="0" smtClean="0"/>
              <a:t>我们通过一些具体的示例加深对卷积计算的理解。</a:t>
            </a:r>
            <a:endParaRPr lang="en-US" altLang="zh-CN" sz="1200" dirty="0" smtClean="0"/>
          </a:p>
          <a:p>
            <a:pPr eaLnBrk="1" hangingPunct="1">
              <a:lnSpc>
                <a:spcPct val="200000"/>
              </a:lnSpc>
              <a:spcBef>
                <a:spcPct val="0"/>
              </a:spcBef>
            </a:pPr>
            <a:r>
              <a:rPr lang="zh-CN" altLang="en-US" sz="1200" dirty="0" smtClean="0"/>
              <a:t>假设有一张</a:t>
            </a:r>
            <a:r>
              <a:rPr lang="en-US" altLang="zh-CN" sz="1200" dirty="0" smtClean="0"/>
              <a:t>4</a:t>
            </a:r>
            <a:r>
              <a:rPr lang="en-US" altLang="zh-CN" sz="1200" b="1" dirty="0" smtClean="0"/>
              <a:t>×</a:t>
            </a:r>
            <a:r>
              <a:rPr lang="en-US" altLang="zh-CN" sz="1200" dirty="0" smtClean="0"/>
              <a:t>4</a:t>
            </a:r>
            <a:r>
              <a:rPr lang="zh-CN" altLang="en-US" sz="1200" dirty="0" smtClean="0"/>
              <a:t>的黑白图像，它的特征图如下图所示。使用的卷积核是之前提到的</a:t>
            </a:r>
            <a:r>
              <a:rPr lang="en-US" altLang="zh-CN" sz="1200" dirty="0" err="1" smtClean="0"/>
              <a:t>Laplacian</a:t>
            </a:r>
            <a:r>
              <a:rPr lang="zh-CN" altLang="en-US" sz="1200" dirty="0" smtClean="0"/>
              <a:t>算子，偏置值为</a:t>
            </a:r>
            <a:r>
              <a:rPr lang="en-US" altLang="zh-CN" sz="1200" dirty="0" smtClean="0"/>
              <a:t>2</a:t>
            </a:r>
            <a:r>
              <a:rPr lang="zh-CN" altLang="en-US" sz="1200" dirty="0" smtClean="0"/>
              <a:t>，滑动步长为</a:t>
            </a:r>
            <a:r>
              <a:rPr lang="en-US" altLang="zh-CN" sz="1200" dirty="0" smtClean="0"/>
              <a:t>1</a:t>
            </a:r>
            <a:r>
              <a:rPr lang="zh-CN" altLang="en-US" sz="1200" dirty="0" smtClean="0"/>
              <a:t>。</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966063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dirty="0" smtClean="0"/>
              <a:t>这里需要提到另一个概念：步长，即卷积核在输入特征图上需要移动的像素。在上述例子中滑动步长为</a:t>
            </a:r>
            <a:r>
              <a:rPr lang="en-US" altLang="zh-CN" sz="1200" dirty="0" smtClean="0"/>
              <a:t>1</a:t>
            </a:r>
            <a:r>
              <a:rPr lang="zh-CN" altLang="en-US" sz="1200" dirty="0" smtClean="0"/>
              <a:t>，卷积核每次只移动</a:t>
            </a:r>
            <a:r>
              <a:rPr lang="en-US" altLang="zh-CN" sz="1200" dirty="0" smtClean="0"/>
              <a:t>1</a:t>
            </a:r>
            <a:r>
              <a:rPr lang="zh-CN" altLang="en-US" sz="1200" dirty="0" smtClean="0"/>
              <a:t>个像素，计算过程不会跳过任何一个像素；而步长为</a:t>
            </a:r>
            <a:r>
              <a:rPr lang="en-US" altLang="zh-CN" sz="1200" dirty="0" smtClean="0"/>
              <a:t>2</a:t>
            </a:r>
            <a:r>
              <a:rPr lang="zh-CN" altLang="en-US" sz="1200" dirty="0" smtClean="0"/>
              <a:t>时，卷积核会跳过</a:t>
            </a:r>
            <a:r>
              <a:rPr lang="en-US" altLang="zh-CN" sz="1200" dirty="0" smtClean="0"/>
              <a:t>1</a:t>
            </a:r>
            <a:r>
              <a:rPr lang="zh-CN" altLang="en-US" sz="1200" dirty="0" smtClean="0"/>
              <a:t>个像素，每次移动</a:t>
            </a:r>
            <a:r>
              <a:rPr lang="en-US" altLang="zh-CN" sz="1200" dirty="0" smtClean="0"/>
              <a:t>2</a:t>
            </a:r>
            <a:r>
              <a:rPr lang="zh-CN" altLang="en-US" sz="1200" dirty="0" smtClean="0"/>
              <a:t>个像素。</a:t>
            </a:r>
            <a:endParaRPr lang="en-US" altLang="zh-CN" sz="1200"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noProof="1" smtClean="0">
                <a:latin typeface="微软雅黑" panose="020B0503020204020204" pitchFamily="34" charset="-122"/>
              </a:rPr>
              <a:t>卷积核每次滑动覆盖的范围叫感受野，即下图演示的灰色区域。</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090588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dirty="0" smtClean="0"/>
              <a:t>为了方便理解，我们先看一维卷积运算的情况。我们输入一个 </a:t>
            </a:r>
            <a:r>
              <a:rPr lang="en-US" altLang="zh-CN" sz="1200" dirty="0" smtClean="0"/>
              <a:t>(1,7) </a:t>
            </a:r>
            <a:r>
              <a:rPr lang="zh-CN" altLang="en-US" sz="1200" dirty="0" smtClean="0"/>
              <a:t>的向量及其对应的数值。定义一个一维卷积，尺寸为 </a:t>
            </a:r>
            <a:r>
              <a:rPr lang="en-US" altLang="zh-CN" sz="1200" dirty="0" smtClean="0"/>
              <a:t>(1,3)</a:t>
            </a:r>
            <a:r>
              <a:rPr lang="zh-CN" altLang="en-US" sz="1200" dirty="0" smtClean="0"/>
              <a:t>，数值分别为</a:t>
            </a:r>
            <a:r>
              <a:rPr lang="en-US" altLang="zh-CN" sz="1200" dirty="0" smtClean="0"/>
              <a:t>10</a:t>
            </a:r>
            <a:r>
              <a:rPr lang="zh-CN" altLang="en-US" sz="1200" dirty="0" smtClean="0"/>
              <a:t>、</a:t>
            </a:r>
            <a:r>
              <a:rPr lang="en-US" altLang="zh-CN" sz="1200" dirty="0" smtClean="0"/>
              <a:t>5</a:t>
            </a:r>
            <a:r>
              <a:rPr lang="zh-CN" altLang="en-US" sz="1200" dirty="0" smtClean="0"/>
              <a:t>、</a:t>
            </a:r>
            <a:r>
              <a:rPr lang="en-US" altLang="zh-CN" sz="1200" dirty="0" smtClean="0"/>
              <a:t>11</a:t>
            </a:r>
            <a:r>
              <a:rPr lang="zh-CN" altLang="en-US" sz="1200" dirty="0" smtClean="0"/>
              <a:t>，这个例子中，设置偏置为</a:t>
            </a:r>
            <a:r>
              <a:rPr lang="en-US" altLang="zh-CN" sz="1200" dirty="0" smtClean="0"/>
              <a:t>0</a:t>
            </a:r>
            <a:r>
              <a:rPr lang="zh-CN" altLang="en-US" sz="1200" dirty="0" smtClean="0"/>
              <a:t>（无偏置）。我们先设置滑动步长为</a:t>
            </a:r>
            <a:r>
              <a:rPr lang="en-US" altLang="zh-CN" sz="1200" dirty="0" smtClean="0"/>
              <a:t>1</a:t>
            </a:r>
            <a:r>
              <a:rPr lang="zh-CN" altLang="en-US" sz="1200" dirty="0" smtClean="0"/>
              <a:t>来计算。第一步结果如图所示。</a:t>
            </a:r>
            <a:endParaRPr lang="en-US" altLang="zh-CN" sz="1200"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567929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zh-CN" altLang="en-US" sz="1200" dirty="0" smtClean="0"/>
              <a:t>因为我们定义步长为</a:t>
            </a:r>
            <a:r>
              <a:rPr lang="en-US" altLang="zh-CN" sz="1200" dirty="0" smtClean="0"/>
              <a:t>1</a:t>
            </a:r>
            <a:r>
              <a:rPr lang="zh-CN" altLang="en-US" sz="1200" dirty="0" smtClean="0"/>
              <a:t>，所以接下来卷积移动一个格子（在图像中一个步长可以理解为一个像素）。</a:t>
            </a:r>
            <a:endParaRPr lang="en-US" altLang="zh-CN" sz="1200" dirty="0" smtClean="0"/>
          </a:p>
          <a:p>
            <a:pPr eaLnBrk="1" hangingPunct="1">
              <a:lnSpc>
                <a:spcPct val="200000"/>
              </a:lnSpc>
              <a:spcBef>
                <a:spcPct val="0"/>
              </a:spcBef>
            </a:pPr>
            <a:r>
              <a:rPr lang="zh-CN" altLang="en-US" dirty="0" smtClean="0"/>
              <a:t>依旧遵循卷积核从左到右从上到下的滑动规则。</a:t>
            </a:r>
            <a:endParaRPr lang="en-US" altLang="zh-CN" sz="1200" dirty="0" smtClean="0"/>
          </a:p>
          <a:p>
            <a:pPr eaLnBrk="1" hangingPunct="1">
              <a:lnSpc>
                <a:spcPct val="200000"/>
              </a:lnSpc>
              <a:spcBef>
                <a:spcPct val="0"/>
              </a:spcBef>
            </a:pPr>
            <a:r>
              <a:rPr lang="zh-CN" altLang="en-US" sz="1200" dirty="0" smtClean="0"/>
              <a:t>以此类推，我们最终得到一个</a:t>
            </a:r>
            <a:r>
              <a:rPr lang="en-US" altLang="zh-CN" sz="1200" dirty="0" smtClean="0"/>
              <a:t> (1,5) </a:t>
            </a:r>
            <a:r>
              <a:rPr lang="zh-CN" altLang="en-US" sz="1200" dirty="0" smtClean="0"/>
              <a:t>的向量，如右图所示。</a:t>
            </a:r>
            <a:endParaRPr lang="en-US" altLang="zh-CN" sz="1200"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2696416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zh-CN" altLang="en-US" sz="1200" dirty="0" smtClean="0"/>
              <a:t>如果我们定义步长为</a:t>
            </a:r>
            <a:r>
              <a:rPr lang="en-US" altLang="zh-CN" sz="1200" dirty="0" smtClean="0"/>
              <a:t>2</a:t>
            </a:r>
            <a:r>
              <a:rPr lang="zh-CN" altLang="en-US" sz="1200" dirty="0" smtClean="0"/>
              <a:t>，结果又会怎样呢？</a:t>
            </a:r>
            <a:endParaRPr lang="en-US" altLang="zh-CN" sz="1200" dirty="0" smtClean="0"/>
          </a:p>
          <a:p>
            <a:pPr eaLnBrk="1" hangingPunct="1">
              <a:lnSpc>
                <a:spcPct val="200000"/>
              </a:lnSpc>
              <a:spcBef>
                <a:spcPct val="0"/>
              </a:spcBef>
            </a:pPr>
            <a:r>
              <a:rPr lang="zh-CN" altLang="en-US" sz="1200" dirty="0" smtClean="0"/>
              <a:t>同样是 </a:t>
            </a:r>
            <a:r>
              <a:rPr lang="en-US" altLang="zh-CN" sz="1200" dirty="0" smtClean="0"/>
              <a:t>(1,7) </a:t>
            </a:r>
            <a:r>
              <a:rPr lang="zh-CN" altLang="en-US" sz="1200" dirty="0" smtClean="0"/>
              <a:t>的输入向量和 </a:t>
            </a:r>
            <a:r>
              <a:rPr lang="en-US" altLang="zh-CN" sz="1200" dirty="0" smtClean="0"/>
              <a:t>(1,3) </a:t>
            </a:r>
            <a:r>
              <a:rPr lang="zh-CN" altLang="en-US" sz="1200" dirty="0" smtClean="0"/>
              <a:t>的卷积核，卷积核每次移动</a:t>
            </a:r>
            <a:r>
              <a:rPr lang="en-US" altLang="zh-CN" sz="1200" dirty="0" smtClean="0"/>
              <a:t>2</a:t>
            </a:r>
            <a:r>
              <a:rPr lang="zh-CN" altLang="en-US" sz="1200" dirty="0" smtClean="0"/>
              <a:t>个格子（像素），最终得到一个</a:t>
            </a:r>
            <a:r>
              <a:rPr lang="en-US" altLang="zh-CN" sz="1200" dirty="0" smtClean="0"/>
              <a:t> (1,3) </a:t>
            </a:r>
            <a:r>
              <a:rPr lang="zh-CN" altLang="en-US" sz="1200" dirty="0" smtClean="0"/>
              <a:t>的向量。</a:t>
            </a:r>
            <a:endParaRPr lang="en-US" altLang="zh-CN" sz="1200"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5539739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defRPr/>
            </a:pPr>
            <a:r>
              <a:rPr lang="zh-CN" altLang="en-US" sz="1200" dirty="0" smtClean="0"/>
              <a:t>不难发现，我们在进行卷积计算的过程中，特征图尺寸在不断缩小，且边缘像素只计算了一遍，容易造成边缘信息丢失。</a:t>
            </a:r>
            <a:endParaRPr lang="en-US" altLang="zh-CN" sz="1200" dirty="0" smtClean="0"/>
          </a:p>
          <a:p>
            <a:pPr eaLnBrk="1" hangingPunct="1">
              <a:lnSpc>
                <a:spcPct val="200000"/>
              </a:lnSpc>
              <a:spcBef>
                <a:spcPct val="0"/>
              </a:spcBef>
              <a:defRPr/>
            </a:pPr>
            <a:r>
              <a:rPr lang="zh-CN" altLang="en-US" sz="1200" dirty="0" smtClean="0"/>
              <a:t>下面介绍另一个重要的概念：填充。填充指的是向输入特征图的周围填入固定的数据（比如</a:t>
            </a:r>
            <a:r>
              <a:rPr lang="en-US" altLang="zh-CN" sz="1200" dirty="0" smtClean="0"/>
              <a:t>0</a:t>
            </a:r>
            <a:r>
              <a:rPr lang="zh-CN" altLang="en-US" sz="1200" dirty="0" smtClean="0"/>
              <a:t>）。使用填充可以调整输出特征图的大小。以之前的例子来说，我们将输入大小 </a:t>
            </a:r>
            <a:r>
              <a:rPr lang="en-US" altLang="zh-CN" sz="1200" dirty="0" smtClean="0"/>
              <a:t>(4,4) </a:t>
            </a:r>
            <a:r>
              <a:rPr lang="zh-CN" altLang="en-US" sz="1200" dirty="0" smtClean="0"/>
              <a:t>的特征图输出为 </a:t>
            </a:r>
            <a:r>
              <a:rPr lang="en-US" altLang="zh-CN" sz="1200" dirty="0" smtClean="0"/>
              <a:t>(2,2) </a:t>
            </a:r>
            <a:r>
              <a:rPr lang="zh-CN" altLang="en-US" sz="1200" dirty="0" smtClean="0"/>
              <a:t>的特征图。如果不使用填充，在反复进行多次卷积运算后，深度网络的输出特征图尺寸有可能在某时刻变为</a:t>
            </a:r>
            <a:r>
              <a:rPr lang="en-US" altLang="zh-CN" sz="1200" dirty="0" smtClean="0"/>
              <a:t>1</a:t>
            </a:r>
            <a:r>
              <a:rPr lang="zh-CN" altLang="en-US" sz="1200" dirty="0" smtClean="0"/>
              <a:t>，导致无法再进行卷积计算。</a:t>
            </a:r>
            <a:endParaRPr lang="en-US" altLang="zh-CN" sz="1200" dirty="0" smtClean="0"/>
          </a:p>
          <a:p>
            <a:pPr eaLnBrk="1" hangingPunct="1">
              <a:lnSpc>
                <a:spcPct val="200000"/>
              </a:lnSpc>
              <a:spcBef>
                <a:spcPct val="0"/>
              </a:spcBef>
              <a:defRPr/>
            </a:pPr>
            <a:r>
              <a:rPr lang="zh-CN" altLang="en-US" sz="1200" dirty="0" smtClean="0"/>
              <a:t>为了避免这种情况的出现，就需要使用填充。</a:t>
            </a:r>
            <a:endParaRPr lang="en-US" altLang="zh-CN" sz="1200" dirty="0" smtClean="0"/>
          </a:p>
          <a:p>
            <a:pPr eaLnBrk="1" hangingPunct="1">
              <a:lnSpc>
                <a:spcPct val="200000"/>
              </a:lnSpc>
              <a:spcBef>
                <a:spcPct val="0"/>
              </a:spcBef>
              <a:defRPr/>
            </a:pPr>
            <a:r>
              <a:rPr lang="zh-CN" altLang="en-US" sz="1200" dirty="0" smtClean="0"/>
              <a:t>为什么填充的值是</a:t>
            </a:r>
            <a:r>
              <a:rPr lang="en-US" altLang="zh-CN" sz="1200" dirty="0" smtClean="0"/>
              <a:t>0</a:t>
            </a:r>
            <a:r>
              <a:rPr lang="zh-CN" altLang="en-US" sz="1200" dirty="0" smtClean="0"/>
              <a:t>？因为</a:t>
            </a:r>
            <a:r>
              <a:rPr lang="en-US" altLang="zh-CN" sz="1200" dirty="0" smtClean="0"/>
              <a:t>0</a:t>
            </a:r>
            <a:r>
              <a:rPr lang="zh-CN" altLang="en-US" sz="1200" dirty="0" smtClean="0"/>
              <a:t>在权重乘积和运算中对最终结果不造成影响，也就避免了图片增加额外的干扰信息。</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7257640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dirty="0" smtClean="0"/>
              <a:t>在之前例子的基础上，我们定义填充为</a:t>
            </a:r>
            <a:r>
              <a:rPr lang="en-US" altLang="zh-CN" sz="1200" dirty="0" smtClean="0"/>
              <a:t>1</a:t>
            </a:r>
            <a:r>
              <a:rPr lang="zh-CN" altLang="en-US" sz="1200" dirty="0" smtClean="0"/>
              <a:t>，即对输入图像的周边做</a:t>
            </a:r>
            <a:r>
              <a:rPr lang="en-US" altLang="zh-CN" sz="1200" dirty="0" smtClean="0"/>
              <a:t>1</a:t>
            </a:r>
            <a:r>
              <a:rPr lang="zh-CN" altLang="en-US" sz="1200" dirty="0" smtClean="0"/>
              <a:t>个像素的填充，填充的默认值为</a:t>
            </a:r>
            <a:r>
              <a:rPr lang="en-US" altLang="zh-CN" sz="1200" dirty="0" smtClean="0"/>
              <a:t>0</a:t>
            </a:r>
            <a:r>
              <a:rPr lang="zh-CN" altLang="en-US" sz="1200" dirty="0" smtClean="0"/>
              <a:t>，用相同的卷积核、偏置以及滑动步长进行卷积计算。可以看到，输出特征图的尺寸可以保持为原来的 </a:t>
            </a:r>
            <a:r>
              <a:rPr lang="en-US" altLang="zh-CN" sz="1200" dirty="0" smtClean="0"/>
              <a:t>(4,4) , </a:t>
            </a:r>
            <a:r>
              <a:rPr lang="zh-CN" altLang="en-US" sz="1200" dirty="0" smtClean="0"/>
              <a:t>且有效地避免了边缘信息的丢失。因为在之前的卷积计算中，四个角落的值只计算</a:t>
            </a:r>
            <a:r>
              <a:rPr lang="en-US" altLang="zh-CN" sz="1200" dirty="0" smtClean="0"/>
              <a:t>1</a:t>
            </a:r>
            <a:r>
              <a:rPr lang="zh-CN" altLang="en-US" sz="1200" dirty="0" smtClean="0"/>
              <a:t>次，而中心值计算了</a:t>
            </a:r>
            <a:r>
              <a:rPr lang="en-US" altLang="zh-CN" sz="1200" dirty="0" smtClean="0"/>
              <a:t>4</a:t>
            </a:r>
            <a:r>
              <a:rPr lang="zh-CN" altLang="en-US" sz="1200" dirty="0" smtClean="0"/>
              <a:t>次。</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104485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200000"/>
              </a:lnSpc>
              <a:spcBef>
                <a:spcPct val="0"/>
              </a:spcBef>
            </a:pPr>
            <a:r>
              <a:rPr lang="zh-CN" altLang="en-US" sz="1200" dirty="0" smtClean="0"/>
              <a:t>接下来我们学习一种更为通用的卷积形式，总结步长、填充、卷积核大小与输入输出特征图尺寸的关系。</a:t>
            </a:r>
            <a:endParaRPr lang="en-US" altLang="zh-CN" sz="1200" dirty="0" smtClean="0"/>
          </a:p>
          <a:p>
            <a:pPr marL="0" marR="0" lvl="2" indent="0" algn="l" defTabSz="914400" rtl="0" eaLnBrk="1" fontAlgn="base" latinLnBrk="0" hangingPunct="1">
              <a:lnSpc>
                <a:spcPct val="200000"/>
              </a:lnSpc>
              <a:spcBef>
                <a:spcPct val="0"/>
              </a:spcBef>
              <a:spcAft>
                <a:spcPct val="0"/>
              </a:spcAft>
              <a:buClrTx/>
              <a:buSzTx/>
              <a:buFontTx/>
              <a:buNone/>
              <a:tabLst/>
              <a:defRPr/>
            </a:pPr>
            <a:r>
              <a:rPr lang="zh-CN" altLang="en-US" sz="1200" dirty="0" smtClean="0"/>
              <a:t>假设输入特征图（图像）大小为</a:t>
            </a:r>
            <a:r>
              <a:rPr lang="en-US" altLang="zh-CN" sz="1200" dirty="0" smtClean="0"/>
              <a:t>W1</a:t>
            </a:r>
            <a:r>
              <a:rPr lang="en-US" altLang="zh-CN" sz="1200" b="1" dirty="0" smtClean="0"/>
              <a:t>×</a:t>
            </a:r>
            <a:r>
              <a:rPr lang="en-US" altLang="zh-CN" sz="1200" dirty="0" smtClean="0"/>
              <a:t>H1</a:t>
            </a:r>
            <a:r>
              <a:rPr lang="en-US" altLang="zh-CN" sz="1200" b="1" dirty="0" smtClean="0"/>
              <a:t>×</a:t>
            </a:r>
            <a:r>
              <a:rPr lang="en-US" altLang="zh-CN" sz="1200" dirty="0" smtClean="0"/>
              <a:t>D1</a:t>
            </a:r>
            <a:r>
              <a:rPr lang="zh-CN" altLang="en-US" sz="1200" dirty="0" smtClean="0"/>
              <a:t>，这里</a:t>
            </a:r>
            <a:r>
              <a:rPr lang="en-US" altLang="zh-CN" sz="1200" dirty="0" smtClean="0"/>
              <a:t>W1</a:t>
            </a:r>
            <a:r>
              <a:rPr lang="zh-CN" altLang="en-US" sz="1200" dirty="0" smtClean="0"/>
              <a:t>表示图像的宽（像素），</a:t>
            </a:r>
            <a:r>
              <a:rPr lang="en-US" altLang="zh-CN" sz="1200" dirty="0" smtClean="0"/>
              <a:t>H1</a:t>
            </a:r>
            <a:r>
              <a:rPr lang="zh-CN" altLang="en-US" sz="1200" dirty="0" smtClean="0"/>
              <a:t>表示图像的高（像素），</a:t>
            </a:r>
            <a:r>
              <a:rPr lang="en-US" altLang="zh-CN" sz="1200" dirty="0" smtClean="0"/>
              <a:t>D1</a:t>
            </a:r>
            <a:r>
              <a:rPr lang="zh-CN" altLang="en-US" sz="1200" dirty="0" smtClean="0"/>
              <a:t>表示图像的通道数。卷积层中卷积核大小为 </a:t>
            </a:r>
            <a:r>
              <a:rPr lang="en-US" altLang="zh-CN" sz="1200" dirty="0" smtClean="0"/>
              <a:t>(F,F)</a:t>
            </a:r>
            <a:r>
              <a:rPr lang="zh-CN" altLang="en-US" sz="1200" dirty="0" smtClean="0"/>
              <a:t>，步长为</a:t>
            </a:r>
            <a:r>
              <a:rPr lang="en-US" altLang="zh-CN" sz="1200" dirty="0" smtClean="0"/>
              <a:t>S</a:t>
            </a:r>
            <a:r>
              <a:rPr lang="zh-CN" altLang="en-US" sz="1200" dirty="0" smtClean="0"/>
              <a:t>，填充大小为</a:t>
            </a:r>
            <a:r>
              <a:rPr lang="en-US" altLang="zh-CN" sz="1200" dirty="0" smtClean="0"/>
              <a:t>P</a:t>
            </a:r>
            <a:r>
              <a:rPr lang="zh-CN" altLang="en-US" sz="1200" dirty="0" smtClean="0"/>
              <a:t>，卷积核的个数为</a:t>
            </a:r>
            <a:r>
              <a:rPr lang="en-US" altLang="zh-CN" sz="1200" dirty="0" smtClean="0"/>
              <a:t>K</a:t>
            </a:r>
            <a:r>
              <a:rPr lang="zh-CN" altLang="en-US" sz="1200" dirty="0" smtClean="0"/>
              <a:t>，那么经过卷积运算后输出图像的宽、高、通道数分别为</a:t>
            </a:r>
            <a:r>
              <a:rPr lang="en-US" altLang="zh-CN" sz="1200" dirty="0" smtClean="0"/>
              <a:t>W2=</a:t>
            </a:r>
            <a:r>
              <a:rPr lang="zh-CN" altLang="en-US" sz="1200" dirty="0" smtClean="0"/>
              <a:t>（</a:t>
            </a:r>
            <a:r>
              <a:rPr lang="en-US" altLang="zh-CN" sz="1200" dirty="0" smtClean="0"/>
              <a:t>W1-F+2P</a:t>
            </a:r>
            <a:r>
              <a:rPr lang="zh-CN" altLang="en-US" sz="1200" dirty="0" smtClean="0"/>
              <a:t>）</a:t>
            </a:r>
            <a:r>
              <a:rPr lang="en-US" altLang="zh-CN" sz="1200" dirty="0" smtClean="0"/>
              <a:t>/ S +1</a:t>
            </a:r>
            <a:r>
              <a:rPr lang="zh-CN" altLang="en-US" sz="1200" dirty="0" smtClean="0"/>
              <a:t>，</a:t>
            </a:r>
            <a:r>
              <a:rPr lang="en-US" altLang="zh-CN" sz="1200" dirty="0" smtClean="0"/>
              <a:t>H2=</a:t>
            </a:r>
            <a:r>
              <a:rPr lang="zh-CN" altLang="en-US" sz="1200" dirty="0" smtClean="0"/>
              <a:t>（</a:t>
            </a:r>
            <a:r>
              <a:rPr lang="en-US" altLang="zh-CN" sz="1200" dirty="0" smtClean="0"/>
              <a:t>H1-F+2P</a:t>
            </a:r>
            <a:r>
              <a:rPr lang="zh-CN" altLang="en-US" sz="1200" dirty="0" smtClean="0"/>
              <a:t>）</a:t>
            </a:r>
            <a:r>
              <a:rPr lang="en-US" altLang="zh-CN" sz="1200" dirty="0" smtClean="0"/>
              <a:t>/ S+1</a:t>
            </a:r>
            <a:r>
              <a:rPr lang="zh-CN" altLang="en-US" sz="1200" dirty="0" smtClean="0"/>
              <a:t>，</a:t>
            </a:r>
            <a:r>
              <a:rPr lang="en-US" altLang="zh-CN" sz="1200" dirty="0" smtClean="0"/>
              <a:t>D2=K</a:t>
            </a:r>
            <a:r>
              <a:rPr lang="zh-CN" altLang="en-US" sz="1200" dirty="0" smtClean="0"/>
              <a:t>。这里发现有一个参数在</a:t>
            </a:r>
            <a:r>
              <a:rPr lang="en-US" altLang="zh-CN" dirty="0" smtClean="0"/>
              <a:t>D</a:t>
            </a:r>
            <a:r>
              <a:rPr lang="en-US" altLang="zh-CN" baseline="-25000" dirty="0" smtClean="0"/>
              <a:t>1</a:t>
            </a:r>
            <a:r>
              <a:rPr lang="zh-CN" altLang="en-US" sz="1200" dirty="0" smtClean="0"/>
              <a:t>并没有出现在公式中。之前提到过，卷积核通道个数一般和输入图像通道数一致。因此实际上每一个卷积核其实是由</a:t>
            </a:r>
            <a:r>
              <a:rPr lang="en-US" altLang="zh-CN" sz="1200" dirty="0" smtClean="0"/>
              <a:t>D</a:t>
            </a:r>
            <a:r>
              <a:rPr lang="en-US" altLang="zh-CN" baseline="-25000" dirty="0" smtClean="0"/>
              <a:t>1</a:t>
            </a:r>
            <a:r>
              <a:rPr lang="zh-CN" altLang="en-US" sz="1200" dirty="0" smtClean="0"/>
              <a:t>个大小为（</a:t>
            </a:r>
            <a:r>
              <a:rPr lang="en-US" altLang="zh-CN" sz="1200" dirty="0" smtClean="0"/>
              <a:t>F,F</a:t>
            </a:r>
            <a:r>
              <a:rPr lang="zh-CN" altLang="en-US" sz="1200" dirty="0" smtClean="0"/>
              <a:t>）构成的，也可以写作</a:t>
            </a:r>
            <a:r>
              <a:rPr lang="en-US" altLang="zh-CN" dirty="0" smtClean="0"/>
              <a:t>F× F×D</a:t>
            </a:r>
            <a:r>
              <a:rPr lang="en-US" altLang="zh-CN" baseline="-25000" dirty="0" smtClean="0"/>
              <a:t>1</a:t>
            </a:r>
            <a:r>
              <a:rPr lang="zh-CN" altLang="en-US" baseline="-25000" dirty="0" smtClean="0"/>
              <a:t>。</a:t>
            </a:r>
            <a:endParaRPr lang="en-US" altLang="zh-CN" sz="1200"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5381667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我们以之前的例子进行简单的验证。</a:t>
            </a:r>
            <a:endParaRPr lang="en-US" altLang="zh-CN" dirty="0" smtClean="0"/>
          </a:p>
          <a:p>
            <a:r>
              <a:rPr lang="zh-CN" altLang="en-US" dirty="0" smtClean="0"/>
              <a:t>如图。</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9930720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我们把它上升到一般情况。输入</a:t>
            </a:r>
            <a:r>
              <a:rPr lang="en-US" altLang="zh-CN" dirty="0" smtClean="0"/>
              <a:t>(W1</a:t>
            </a:r>
            <a:r>
              <a:rPr lang="zh-CN" altLang="en-US" dirty="0" smtClean="0"/>
              <a:t>，</a:t>
            </a:r>
            <a:r>
              <a:rPr lang="en-US" altLang="zh-CN" dirty="0" smtClean="0"/>
              <a:t>H1)</a:t>
            </a:r>
            <a:r>
              <a:rPr lang="zh-CN" altLang="en-US" dirty="0" smtClean="0"/>
              <a:t>，通道</a:t>
            </a:r>
            <a:r>
              <a:rPr lang="en-US" altLang="zh-CN" dirty="0" smtClean="0"/>
              <a:t>D1</a:t>
            </a:r>
            <a:r>
              <a:rPr lang="zh-CN" altLang="en-US" dirty="0" smtClean="0"/>
              <a:t>，填充</a:t>
            </a:r>
            <a:r>
              <a:rPr lang="en-US" altLang="zh-CN" dirty="0" smtClean="0"/>
              <a:t>P</a:t>
            </a:r>
            <a:r>
              <a:rPr lang="zh-CN" altLang="en-US" dirty="0" smtClean="0"/>
              <a:t>，步长</a:t>
            </a:r>
            <a:r>
              <a:rPr lang="en-US" altLang="zh-CN" dirty="0" smtClean="0"/>
              <a:t>S</a:t>
            </a:r>
            <a:r>
              <a:rPr lang="zh-CN" altLang="en-US" dirty="0" smtClean="0"/>
              <a:t>，使用</a:t>
            </a:r>
            <a:r>
              <a:rPr lang="en-US" altLang="zh-CN" dirty="0" smtClean="0"/>
              <a:t>K</a:t>
            </a:r>
            <a:r>
              <a:rPr lang="zh-CN" altLang="en-US" dirty="0" smtClean="0"/>
              <a:t>个</a:t>
            </a:r>
            <a:r>
              <a:rPr lang="en-US" altLang="zh-CN" dirty="0" smtClean="0"/>
              <a:t>(F,F)</a:t>
            </a:r>
            <a:r>
              <a:rPr lang="zh-CN" altLang="en-US" dirty="0" smtClean="0"/>
              <a:t>通道为</a:t>
            </a:r>
            <a:r>
              <a:rPr lang="en-US" altLang="zh-CN" dirty="0" smtClean="0"/>
              <a:t>D1</a:t>
            </a:r>
            <a:r>
              <a:rPr lang="zh-CN" altLang="en-US" dirty="0" smtClean="0"/>
              <a:t>的卷积核和</a:t>
            </a:r>
            <a:r>
              <a:rPr lang="en-US" altLang="zh-CN" dirty="0" smtClean="0"/>
              <a:t>K</a:t>
            </a:r>
            <a:r>
              <a:rPr lang="zh-CN" altLang="en-US" dirty="0" smtClean="0"/>
              <a:t>个偏置。</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一般偏置个数与卷积核数量保持一致。该卷积层所含参数数量为</a:t>
            </a:r>
            <a:r>
              <a:rPr lang="en-US" altLang="zh-CN" dirty="0" smtClean="0"/>
              <a:t>F</a:t>
            </a:r>
            <a:r>
              <a:rPr lang="en-US" altLang="zh-CN" baseline="30000" dirty="0" smtClean="0"/>
              <a:t>2</a:t>
            </a:r>
            <a:r>
              <a:rPr lang="en-US" altLang="zh-CN" b="1" dirty="0" smtClean="0"/>
              <a:t>×</a:t>
            </a:r>
            <a:r>
              <a:rPr lang="en-US" altLang="zh-CN" dirty="0" smtClean="0"/>
              <a:t>D</a:t>
            </a:r>
            <a:r>
              <a:rPr lang="en-US" altLang="zh-CN" baseline="-25000" dirty="0" smtClean="0"/>
              <a:t>1</a:t>
            </a:r>
            <a:r>
              <a:rPr lang="en-US" altLang="zh-CN" b="1" dirty="0" smtClean="0"/>
              <a:t>×</a:t>
            </a:r>
            <a:r>
              <a:rPr lang="en-US" altLang="zh-CN" dirty="0" smtClean="0"/>
              <a:t>K + K</a:t>
            </a:r>
            <a:r>
              <a:rPr lang="zh-CN" altLang="en-US" dirty="0" smtClean="0"/>
              <a:t>。</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5738002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介绍完卷积层后简单提一下激活层。</a:t>
            </a:r>
            <a:endParaRPr lang="en-US" altLang="zh-CN" dirty="0" smtClean="0"/>
          </a:p>
          <a:p>
            <a:r>
              <a:rPr lang="zh-CN" altLang="en-US" dirty="0" smtClean="0"/>
              <a:t>卷积神经网络就是由一系列卷积层经过激活而得。</a:t>
            </a:r>
            <a:endParaRPr lang="en-US" altLang="zh-CN" dirty="0" smtClean="0"/>
          </a:p>
          <a:p>
            <a:r>
              <a:rPr lang="zh-CN" altLang="en-US" sz="1200" b="0" i="0" kern="1200" dirty="0" smtClean="0">
                <a:solidFill>
                  <a:schemeClr val="tx1"/>
                </a:solidFill>
                <a:effectLst/>
                <a:latin typeface="+mn-lt"/>
                <a:ea typeface="+mn-ea"/>
                <a:cs typeface="+mn-cs"/>
              </a:rPr>
              <a:t>各种激活函数层数不穷，各有优缺点。常用的激活函数有</a:t>
            </a:r>
            <a:r>
              <a:rPr lang="en-US" altLang="zh-CN" sz="1200" b="0" i="0" kern="1200" dirty="0" smtClean="0">
                <a:solidFill>
                  <a:schemeClr val="tx1"/>
                </a:solidFill>
                <a:effectLst/>
                <a:latin typeface="+mn-lt"/>
                <a:ea typeface="+mn-ea"/>
                <a:cs typeface="+mn-cs"/>
              </a:rPr>
              <a:t>sigmoid</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tanh</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relu</a:t>
            </a:r>
            <a:r>
              <a:rPr lang="zh-CN" altLang="en-US" sz="1200" b="0" i="0" kern="1200" dirty="0" smtClean="0">
                <a:solidFill>
                  <a:schemeClr val="tx1"/>
                </a:solidFill>
                <a:effectLst/>
                <a:latin typeface="+mn-lt"/>
                <a:ea typeface="+mn-ea"/>
                <a:cs typeface="+mn-cs"/>
              </a:rPr>
              <a:t>等等，前两者</a:t>
            </a:r>
            <a:r>
              <a:rPr lang="en-US" altLang="zh-CN" sz="1200" b="0" i="0" kern="1200" dirty="0" smtClean="0">
                <a:solidFill>
                  <a:schemeClr val="tx1"/>
                </a:solidFill>
                <a:effectLst/>
                <a:latin typeface="+mn-lt"/>
                <a:ea typeface="+mn-ea"/>
                <a:cs typeface="+mn-cs"/>
              </a:rPr>
              <a:t>sigmoid/</a:t>
            </a:r>
            <a:r>
              <a:rPr lang="en-US" altLang="zh-CN" sz="1200" b="0" i="0" kern="1200" dirty="0" err="1" smtClean="0">
                <a:solidFill>
                  <a:schemeClr val="tx1"/>
                </a:solidFill>
                <a:effectLst/>
                <a:latin typeface="+mn-lt"/>
                <a:ea typeface="+mn-ea"/>
                <a:cs typeface="+mn-cs"/>
              </a:rPr>
              <a:t>tanh</a:t>
            </a:r>
            <a:r>
              <a:rPr lang="zh-CN" altLang="en-US" sz="1200" b="0" i="0" kern="1200" dirty="0" smtClean="0">
                <a:solidFill>
                  <a:schemeClr val="tx1"/>
                </a:solidFill>
                <a:effectLst/>
                <a:latin typeface="+mn-lt"/>
                <a:ea typeface="+mn-ea"/>
                <a:cs typeface="+mn-cs"/>
              </a:rPr>
              <a:t>比较常见于全连接层，后者</a:t>
            </a:r>
            <a:r>
              <a:rPr lang="en-US" altLang="zh-CN" sz="1200" b="0" i="0" kern="1200" dirty="0" err="1" smtClean="0">
                <a:solidFill>
                  <a:schemeClr val="tx1"/>
                </a:solidFill>
                <a:effectLst/>
                <a:latin typeface="+mn-lt"/>
                <a:ea typeface="+mn-ea"/>
                <a:cs typeface="+mn-cs"/>
              </a:rPr>
              <a:t>ReLU</a:t>
            </a:r>
            <a:r>
              <a:rPr lang="zh-CN" altLang="en-US" sz="1200" b="0" i="0" kern="1200" dirty="0" smtClean="0">
                <a:solidFill>
                  <a:schemeClr val="tx1"/>
                </a:solidFill>
                <a:effectLst/>
                <a:latin typeface="+mn-lt"/>
                <a:ea typeface="+mn-ea"/>
                <a:cs typeface="+mn-cs"/>
              </a:rPr>
              <a:t>常见于卷积层。激活函数的作用是用来加入非线性因素，把卷积层输出结果做非线性映射。在卷积神经网络中，激活函数一般使用</a:t>
            </a:r>
            <a:r>
              <a:rPr lang="en-US" altLang="zh-CN" sz="1200" b="0" i="0" kern="1200" dirty="0" err="1" smtClean="0">
                <a:solidFill>
                  <a:schemeClr val="tx1"/>
                </a:solidFill>
                <a:effectLst/>
                <a:latin typeface="+mn-lt"/>
                <a:ea typeface="+mn-ea"/>
                <a:cs typeface="+mn-cs"/>
              </a:rPr>
              <a:t>ReLU</a:t>
            </a:r>
            <a:r>
              <a:rPr lang="en-US" altLang="zh-CN" sz="1200" b="0" i="0" kern="1200" dirty="0" smtClean="0">
                <a:solidFill>
                  <a:schemeClr val="tx1"/>
                </a:solidFill>
                <a:effectLst/>
                <a:latin typeface="+mn-lt"/>
                <a:ea typeface="+mn-ea"/>
                <a:cs typeface="+mn-cs"/>
              </a:rPr>
              <a:t>(The Rectified Linear Unit</a:t>
            </a:r>
            <a:r>
              <a:rPr lang="zh-CN" altLang="en-US" sz="1200" b="0" i="0" kern="1200" dirty="0" smtClean="0">
                <a:solidFill>
                  <a:schemeClr val="tx1"/>
                </a:solidFill>
                <a:effectLst/>
                <a:latin typeface="+mn-lt"/>
                <a:ea typeface="+mn-ea"/>
                <a:cs typeface="+mn-cs"/>
              </a:rPr>
              <a:t>，修正线性单元</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，它的特点是收敛快，求梯度简单。计算公式也很简单，</a:t>
            </a:r>
            <a:r>
              <a:rPr lang="en-US" altLang="zh-CN" sz="1200" b="0" i="0" kern="1200" dirty="0" smtClean="0">
                <a:solidFill>
                  <a:schemeClr val="tx1"/>
                </a:solidFill>
                <a:effectLst/>
                <a:latin typeface="+mn-lt"/>
                <a:ea typeface="+mn-ea"/>
                <a:cs typeface="+mn-cs"/>
              </a:rPr>
              <a:t>max(0,x)</a:t>
            </a:r>
            <a:r>
              <a:rPr lang="zh-CN" altLang="en-US" sz="1200" b="0" i="0" kern="1200" dirty="0" smtClean="0">
                <a:solidFill>
                  <a:schemeClr val="tx1"/>
                </a:solidFill>
                <a:effectLst/>
                <a:latin typeface="+mn-lt"/>
                <a:ea typeface="+mn-ea"/>
                <a:cs typeface="+mn-cs"/>
              </a:rPr>
              <a:t>，即对于输入的负值，输出全为</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，对于正值，则原样输出。</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1401771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介绍完激活层之后我们介绍池化层。</a:t>
            </a:r>
            <a:endParaRPr lang="en-US" altLang="zh-CN" dirty="0" smtClean="0"/>
          </a:p>
          <a:p>
            <a:r>
              <a:rPr lang="zh-CN" altLang="en-US" dirty="0" smtClean="0"/>
              <a:t>池化是对图像进行压缩（降采样）的一种方法，有利于减少后续的计算量，同时不会影响特征的提取。池化层在图像分类领域的应用非常广泛，但是在目标检测以及图像分割领域的存在感就弱了一些，究其原因在于检测与分割需要被检测对象在图像中的具体位置信息，而池化层容易丢失这样的信息。池化的方法有很多，如最大池化、平均池化等。池化层的特点是没有要学习的参数，池化只是从目标区域中取最大值或者平均值；在池化运算中，输入特征图和输出特征图的通道数不会发生变化（计算是按通道独立进行的），但通常会降低图像的尺寸。</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9155665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尽管没有需要学习的参数，池化层也有操作参数，我们假设输入图像为</a:t>
            </a:r>
            <a:r>
              <a:rPr lang="en-US" altLang="zh-CN" dirty="0" smtClean="0"/>
              <a:t>W1*H1*D1</a:t>
            </a:r>
            <a:r>
              <a:rPr lang="zh-CN" altLang="en-US" dirty="0" smtClean="0"/>
              <a:t>，</a:t>
            </a:r>
            <a:r>
              <a:rPr lang="en-US" altLang="zh-CN" dirty="0" smtClean="0"/>
              <a:t>W1</a:t>
            </a:r>
            <a:r>
              <a:rPr lang="zh-CN" altLang="en-US" dirty="0" smtClean="0"/>
              <a:t>、</a:t>
            </a:r>
            <a:r>
              <a:rPr lang="en-US" altLang="zh-CN" dirty="0" smtClean="0"/>
              <a:t>H1</a:t>
            </a:r>
            <a:r>
              <a:rPr lang="zh-CN" altLang="en-US" dirty="0" smtClean="0"/>
              <a:t>、</a:t>
            </a:r>
            <a:r>
              <a:rPr lang="en-US" altLang="zh-CN" dirty="0" smtClean="0"/>
              <a:t>D1</a:t>
            </a:r>
            <a:r>
              <a:rPr lang="zh-CN" altLang="en-US" dirty="0" smtClean="0"/>
              <a:t>分别表示图像的宽、高、通道数。池化层中池化卷积核的尺寸为（</a:t>
            </a:r>
            <a:r>
              <a:rPr lang="en-US" altLang="zh-CN" dirty="0" smtClean="0"/>
              <a:t>F</a:t>
            </a:r>
            <a:r>
              <a:rPr lang="zh-CN" altLang="en-US" dirty="0" smtClean="0"/>
              <a:t>，</a:t>
            </a:r>
            <a:r>
              <a:rPr lang="en-US" altLang="zh-CN" dirty="0" smtClean="0"/>
              <a:t>F</a:t>
            </a:r>
            <a:r>
              <a:rPr lang="zh-CN" altLang="en-US" dirty="0" smtClean="0"/>
              <a:t>），步长为</a:t>
            </a:r>
            <a:r>
              <a:rPr lang="en-US" altLang="zh-CN" dirty="0" smtClean="0"/>
              <a:t>S</a:t>
            </a:r>
            <a:r>
              <a:rPr lang="zh-CN" altLang="en-US" dirty="0" smtClean="0"/>
              <a:t>，填充为</a:t>
            </a:r>
            <a:r>
              <a:rPr lang="en-US" altLang="zh-CN" dirty="0" smtClean="0"/>
              <a:t>P</a:t>
            </a:r>
            <a:r>
              <a:rPr lang="zh-CN" altLang="en-US" dirty="0" smtClean="0"/>
              <a:t>，那么经过池化后输出图像的宽、高、通道数分别为</a:t>
            </a:r>
            <a:r>
              <a:rPr lang="en-US" altLang="zh-CN" dirty="0" smtClean="0"/>
              <a:t>(W1-F+2P</a:t>
            </a:r>
            <a:r>
              <a:rPr lang="zh-CN" altLang="en-US" dirty="0" smtClean="0"/>
              <a:t>）</a:t>
            </a:r>
            <a:r>
              <a:rPr lang="en-US" altLang="zh-CN" dirty="0" smtClean="0"/>
              <a:t>/S</a:t>
            </a:r>
            <a:r>
              <a:rPr lang="en-US" altLang="zh-CN" baseline="0" dirty="0" smtClean="0"/>
              <a:t> +1</a:t>
            </a:r>
            <a:r>
              <a:rPr lang="zh-CN" altLang="en-US" dirty="0" smtClean="0"/>
              <a:t>，</a:t>
            </a:r>
            <a:r>
              <a:rPr lang="en-US" altLang="zh-CN" dirty="0" smtClean="0"/>
              <a:t>(H1-F+2P</a:t>
            </a:r>
            <a:r>
              <a:rPr lang="zh-CN" altLang="en-US" dirty="0" smtClean="0"/>
              <a:t>）</a:t>
            </a:r>
            <a:r>
              <a:rPr lang="en-US" altLang="zh-CN" dirty="0" smtClean="0"/>
              <a:t>/S</a:t>
            </a:r>
            <a:r>
              <a:rPr lang="en-US" altLang="zh-CN" baseline="0" dirty="0" smtClean="0"/>
              <a:t> +1</a:t>
            </a:r>
            <a:r>
              <a:rPr lang="zh-CN" altLang="en-US" dirty="0" smtClean="0"/>
              <a:t>，</a:t>
            </a:r>
            <a:r>
              <a:rPr lang="en-US" altLang="zh-CN" dirty="0" smtClean="0"/>
              <a:t>D2</a:t>
            </a:r>
            <a:r>
              <a:rPr lang="zh-CN" altLang="en-US" dirty="0" smtClean="0"/>
              <a:t>，与卷积层计算尺寸相同。通常情况下</a:t>
            </a:r>
            <a:r>
              <a:rPr lang="en-US" altLang="zh-CN" dirty="0" smtClean="0"/>
              <a:t>F=2</a:t>
            </a:r>
            <a:r>
              <a:rPr lang="zh-CN" altLang="en-US" dirty="0" smtClean="0"/>
              <a:t>，</a:t>
            </a:r>
            <a:r>
              <a:rPr lang="en-US" altLang="zh-CN" dirty="0" smtClean="0"/>
              <a:t>S=2</a:t>
            </a:r>
            <a:r>
              <a:rPr lang="zh-CN" altLang="en-US" dirty="0" smtClean="0"/>
              <a:t>，</a:t>
            </a:r>
            <a:r>
              <a:rPr lang="en-US" altLang="zh-CN" dirty="0" smtClean="0"/>
              <a:t>P=0</a:t>
            </a:r>
            <a:r>
              <a:rPr lang="zh-CN" altLang="en-US" dirty="0" smtClean="0"/>
              <a:t>。一个（</a:t>
            </a:r>
            <a:r>
              <a:rPr lang="en-US" altLang="zh-CN" dirty="0" smtClean="0"/>
              <a:t>4</a:t>
            </a:r>
            <a:r>
              <a:rPr lang="zh-CN" altLang="en-US" dirty="0" smtClean="0"/>
              <a:t>，</a:t>
            </a:r>
            <a:r>
              <a:rPr lang="en-US" altLang="zh-CN" dirty="0" smtClean="0"/>
              <a:t>4</a:t>
            </a:r>
            <a:r>
              <a:rPr lang="zh-CN" altLang="en-US" dirty="0" smtClean="0"/>
              <a:t>）的特征层经过卷积核尺寸为（</a:t>
            </a:r>
            <a:r>
              <a:rPr lang="en-US" altLang="zh-CN" dirty="0" smtClean="0"/>
              <a:t>2</a:t>
            </a:r>
            <a:r>
              <a:rPr lang="zh-CN" altLang="en-US" dirty="0" smtClean="0"/>
              <a:t>，</a:t>
            </a:r>
            <a:r>
              <a:rPr lang="en-US" altLang="zh-CN" dirty="0" smtClean="0"/>
              <a:t>2</a:t>
            </a:r>
            <a:r>
              <a:rPr lang="zh-CN" altLang="en-US" dirty="0" smtClean="0"/>
              <a:t>），步长为</a:t>
            </a:r>
            <a:r>
              <a:rPr lang="en-US" altLang="zh-CN" dirty="0" smtClean="0"/>
              <a:t>2</a:t>
            </a:r>
            <a:r>
              <a:rPr lang="zh-CN" altLang="en-US" dirty="0" smtClean="0"/>
              <a:t>的最大池化操作后得到一个（</a:t>
            </a:r>
            <a:r>
              <a:rPr lang="en-US" altLang="zh-CN" dirty="0" smtClean="0"/>
              <a:t>2</a:t>
            </a:r>
            <a:r>
              <a:rPr lang="zh-CN" altLang="en-US" dirty="0" smtClean="0"/>
              <a:t>，</a:t>
            </a:r>
            <a:r>
              <a:rPr lang="en-US" altLang="zh-CN" dirty="0" smtClean="0"/>
              <a:t>2</a:t>
            </a:r>
            <a:r>
              <a:rPr lang="zh-CN" altLang="en-US" dirty="0" smtClean="0"/>
              <a:t>）的特征层。</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2997555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池化层对原始特征层的信息进行压缩，当输入数据发生微小偏差的时候，池化层的计算仍然会返回相同的结果，因此池化层对数据发生的微小偏差具有一定的鲁棒性。此外，相同卷积核情况下，对池化后的特征图进行特征提取可以获取更多的信息。综合来看，池化层是卷积神经网络中很重要的一步，我们将会看到在绝大多数情况下，卷积层、池化层、激活层三者像一个整体一样共同出现，三者结合使用提取不同维度的特征。</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6690505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传统神经网络中相邻层的所有神经元之间都是相互连接的，所以也将相邻层称为全连接层。卷积神经网络中，全连接层起到分类的作用，通常不止一层，位于神经网络末端。它包含权重向量</a:t>
            </a:r>
            <a:r>
              <a:rPr lang="en-US" altLang="zh-CN" dirty="0" smtClean="0"/>
              <a:t>W</a:t>
            </a:r>
            <a:r>
              <a:rPr lang="zh-CN" altLang="en-US" dirty="0" smtClean="0"/>
              <a:t>和激活函数，将最后一次卷积层的特征图拉伸展开为一维向量作为输入。具体来说，如果一张图像经过卷积池化最终的特征图大小为</a:t>
            </a:r>
            <a:r>
              <a:rPr lang="en-US" altLang="zh-CN" dirty="0" smtClean="0"/>
              <a:t>32×32×3</a:t>
            </a:r>
            <a:r>
              <a:rPr lang="zh-CN" altLang="en-US" dirty="0" smtClean="0"/>
              <a:t>（宽和高均为</a:t>
            </a:r>
            <a:r>
              <a:rPr lang="en-US" altLang="zh-CN" dirty="0" smtClean="0"/>
              <a:t>32</a:t>
            </a:r>
            <a:r>
              <a:rPr lang="zh-CN" altLang="en-US" dirty="0" smtClean="0"/>
              <a:t>个像素，有</a:t>
            </a:r>
            <a:r>
              <a:rPr lang="en-US" altLang="zh-CN" dirty="0" smtClean="0"/>
              <a:t>3</a:t>
            </a:r>
            <a:r>
              <a:rPr lang="zh-CN" altLang="en-US" dirty="0" smtClean="0"/>
              <a:t>个</a:t>
            </a:r>
            <a:r>
              <a:rPr lang="en-US" altLang="zh-CN" dirty="0" smtClean="0"/>
              <a:t>RGB</a:t>
            </a:r>
            <a:r>
              <a:rPr lang="zh-CN" altLang="en-US" dirty="0" smtClean="0"/>
              <a:t>通道，可以理解为一个</a:t>
            </a:r>
            <a:r>
              <a:rPr lang="en-US" altLang="zh-CN" dirty="0" smtClean="0"/>
              <a:t>32×32×3</a:t>
            </a:r>
            <a:r>
              <a:rPr lang="zh-CN" altLang="en-US" dirty="0" smtClean="0"/>
              <a:t>的矩阵）要通过全连接层，首先要将其拉伸为</a:t>
            </a:r>
            <a:r>
              <a:rPr lang="en-US" altLang="zh-CN" dirty="0" smtClean="0"/>
              <a:t>3072×1</a:t>
            </a:r>
            <a:r>
              <a:rPr lang="zh-CN" altLang="en-US" dirty="0" smtClean="0"/>
              <a:t>的向量，作为神经网络隐藏层的输入，然后对该向量与权重向量</a:t>
            </a:r>
            <a:r>
              <a:rPr lang="en-US" altLang="zh-CN" dirty="0" smtClean="0"/>
              <a:t>W</a:t>
            </a:r>
            <a:r>
              <a:rPr lang="zh-CN" altLang="en-US" dirty="0" smtClean="0"/>
              <a:t>做点乘操作，将点乘后的结果作为激活函数（如</a:t>
            </a:r>
            <a:r>
              <a:rPr lang="en-US" altLang="zh-CN" dirty="0" smtClean="0"/>
              <a:t>Sigmoid</a:t>
            </a:r>
            <a:r>
              <a:rPr lang="zh-CN" altLang="en-US" dirty="0" smtClean="0"/>
              <a:t>或</a:t>
            </a:r>
            <a:r>
              <a:rPr lang="en-US" altLang="zh-CN" dirty="0" err="1" smtClean="0"/>
              <a:t>ReLU</a:t>
            </a:r>
            <a:r>
              <a:rPr lang="zh-CN" altLang="en-US" dirty="0" smtClean="0"/>
              <a:t>）的输入，最后激活函数输出的结果便是全连接层的最终结果。其中圆圈的值表示所有</a:t>
            </a:r>
            <a:r>
              <a:rPr lang="en-US" altLang="zh-CN" dirty="0" smtClean="0"/>
              <a:t>3072</a:t>
            </a:r>
            <a:r>
              <a:rPr lang="zh-CN" altLang="en-US" dirty="0" smtClean="0"/>
              <a:t>个输入和</a:t>
            </a:r>
            <a:r>
              <a:rPr lang="en-US" altLang="zh-CN" dirty="0" smtClean="0"/>
              <a:t>10</a:t>
            </a:r>
            <a:r>
              <a:rPr lang="zh-CN" altLang="en-US" dirty="0" smtClean="0"/>
              <a:t>维权重向量</a:t>
            </a:r>
            <a:r>
              <a:rPr lang="en-US" altLang="zh-CN" dirty="0" smtClean="0"/>
              <a:t>W</a:t>
            </a:r>
            <a:r>
              <a:rPr lang="zh-CN" altLang="en-US" dirty="0" smtClean="0"/>
              <a:t>点乘的结果。可以看作输入是（</a:t>
            </a:r>
            <a:r>
              <a:rPr lang="en-US" altLang="zh-CN" dirty="0" smtClean="0"/>
              <a:t>1</a:t>
            </a:r>
            <a:r>
              <a:rPr lang="zh-CN" altLang="en-US" dirty="0" smtClean="0"/>
              <a:t>，</a:t>
            </a:r>
            <a:r>
              <a:rPr lang="en-US" altLang="zh-CN" dirty="0" smtClean="0"/>
              <a:t>m</a:t>
            </a:r>
            <a:r>
              <a:rPr lang="zh-CN" altLang="en-US" dirty="0" smtClean="0"/>
              <a:t>）的向量，权重向量</a:t>
            </a:r>
            <a:r>
              <a:rPr lang="en-US" altLang="zh-CN" dirty="0" smtClean="0"/>
              <a:t>W</a:t>
            </a:r>
            <a:r>
              <a:rPr lang="zh-CN" altLang="en-US" dirty="0" smtClean="0"/>
              <a:t>是（</a:t>
            </a:r>
            <a:r>
              <a:rPr lang="en-US" altLang="zh-CN" dirty="0" smtClean="0"/>
              <a:t>m</a:t>
            </a:r>
            <a:r>
              <a:rPr lang="zh-CN" altLang="en-US" dirty="0" smtClean="0"/>
              <a:t>，</a:t>
            </a:r>
            <a:r>
              <a:rPr lang="en-US" altLang="zh-CN" dirty="0" smtClean="0"/>
              <a:t>n</a:t>
            </a:r>
            <a:r>
              <a:rPr lang="zh-CN" altLang="en-US" dirty="0" smtClean="0"/>
              <a:t>）大小的矩阵，输出结果是（</a:t>
            </a:r>
            <a:r>
              <a:rPr lang="en-US" altLang="zh-CN" dirty="0" smtClean="0"/>
              <a:t>1</a:t>
            </a:r>
            <a:r>
              <a:rPr lang="zh-CN" altLang="en-US" dirty="0" smtClean="0"/>
              <a:t>，</a:t>
            </a:r>
            <a:r>
              <a:rPr lang="en-US" altLang="zh-CN" dirty="0" smtClean="0"/>
              <a:t>n</a:t>
            </a:r>
            <a:r>
              <a:rPr lang="zh-CN" altLang="en-US" dirty="0" smtClean="0"/>
              <a:t>）的向量。</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1936312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简单来说，</a:t>
            </a:r>
            <a:r>
              <a:rPr lang="zh-CN" altLang="en-US" sz="1200" b="0" i="0" kern="1200" dirty="0" smtClean="0">
                <a:solidFill>
                  <a:schemeClr val="tx1"/>
                </a:solidFill>
                <a:effectLst/>
                <a:latin typeface="+mn-lt"/>
                <a:ea typeface="+mn-ea"/>
                <a:cs typeface="+mn-cs"/>
              </a:rPr>
              <a:t>全连接常用于对前面设计的特征做加权和。前面的卷积和池化相当于做特征工程，后面的全连接相当于做特征加权。一般使用</a:t>
            </a:r>
            <a:r>
              <a:rPr lang="en-US" altLang="zh-CN" sz="1200" b="0" i="0" kern="1200" dirty="0" err="1" smtClean="0">
                <a:solidFill>
                  <a:schemeClr val="tx1"/>
                </a:solidFill>
                <a:effectLst/>
                <a:latin typeface="+mn-lt"/>
                <a:ea typeface="+mn-ea"/>
                <a:cs typeface="+mn-cs"/>
              </a:rPr>
              <a:t>ReLU</a:t>
            </a:r>
            <a:r>
              <a:rPr lang="zh-CN" altLang="en-US" sz="1200" b="0" i="0" kern="1200" dirty="0" smtClean="0">
                <a:solidFill>
                  <a:schemeClr val="tx1"/>
                </a:solidFill>
                <a:effectLst/>
                <a:latin typeface="+mn-lt"/>
                <a:ea typeface="+mn-ea"/>
                <a:cs typeface="+mn-cs"/>
              </a:rPr>
              <a:t>激活函数，最后一层全连接层一般使用</a:t>
            </a:r>
            <a:r>
              <a:rPr lang="en-US" altLang="zh-CN" sz="1200" b="0" i="0" kern="1200" dirty="0" err="1" smtClean="0">
                <a:solidFill>
                  <a:schemeClr val="tx1"/>
                </a:solidFill>
                <a:effectLst/>
                <a:latin typeface="+mn-lt"/>
                <a:ea typeface="+mn-ea"/>
                <a:cs typeface="+mn-cs"/>
              </a:rPr>
              <a:t>softmax</a:t>
            </a:r>
            <a:r>
              <a:rPr lang="zh-CN" altLang="en-US" sz="1200" b="0" i="0" kern="1200" dirty="0" smtClean="0">
                <a:solidFill>
                  <a:schemeClr val="tx1"/>
                </a:solidFill>
                <a:effectLst/>
                <a:latin typeface="+mn-lt"/>
                <a:ea typeface="+mn-ea"/>
                <a:cs typeface="+mn-cs"/>
              </a:rPr>
              <a:t>进行分类。</a:t>
            </a:r>
            <a:r>
              <a:rPr lang="en-US" altLang="zh-CN" b="0" dirty="0" err="1" smtClean="0"/>
              <a:t>Softmax</a:t>
            </a:r>
            <a:r>
              <a:rPr lang="zh-CN" altLang="en-US" b="0" dirty="0" smtClean="0"/>
              <a:t>函数可以将各类预测值映射成为</a:t>
            </a:r>
            <a:r>
              <a:rPr lang="en-US" altLang="zh-CN" b="0" dirty="0" smtClean="0"/>
              <a:t>(0,1)</a:t>
            </a:r>
            <a:r>
              <a:rPr lang="zh-CN" altLang="en-US" b="0" dirty="0" smtClean="0"/>
              <a:t>的值，而这些值的累和为</a:t>
            </a:r>
            <a:r>
              <a:rPr lang="en-US" altLang="zh-CN" b="0" dirty="0" smtClean="0"/>
              <a:t>1</a:t>
            </a:r>
            <a:r>
              <a:rPr lang="zh-CN" altLang="en-US" b="0" dirty="0" smtClean="0"/>
              <a:t>（满足概率的性质），那么就可以将它理解成概率，在最后选取输出结点的时候，就可以选取概率最大（也就是值对应最大的）结点，作为我们的预测目标。</a:t>
            </a:r>
            <a:endParaRPr lang="en-US" altLang="zh-CN" sz="1200" b="0" i="0" kern="1200" dirty="0" smtClean="0">
              <a:solidFill>
                <a:schemeClr val="tx1"/>
              </a:solidFill>
              <a:effectLst/>
              <a:latin typeface="+mn-lt"/>
              <a:ea typeface="+mn-ea"/>
              <a:cs typeface="+mn-cs"/>
            </a:endParaRPr>
          </a:p>
          <a:p>
            <a:r>
              <a:rPr lang="zh-CN" altLang="en-US" dirty="0" smtClean="0"/>
              <a:t>右图例子中，原始图像是一张</a:t>
            </a:r>
            <a:r>
              <a:rPr lang="en-US" altLang="zh-CN" dirty="0" smtClean="0"/>
              <a:t>224*224*3</a:t>
            </a:r>
            <a:r>
              <a:rPr lang="zh-CN" altLang="en-US" dirty="0" smtClean="0"/>
              <a:t>的输入，经过卷积池化后最终得到</a:t>
            </a:r>
            <a:r>
              <a:rPr lang="en-US" altLang="zh-CN" dirty="0" smtClean="0"/>
              <a:t>7*7*512</a:t>
            </a:r>
            <a:r>
              <a:rPr lang="zh-CN" altLang="en-US" dirty="0" smtClean="0"/>
              <a:t>的特征图，拉伸后得到</a:t>
            </a:r>
            <a:r>
              <a:rPr lang="en-US" altLang="zh-CN" dirty="0" smtClean="0"/>
              <a:t>7*7*512=25088</a:t>
            </a:r>
            <a:r>
              <a:rPr lang="zh-CN" altLang="en-US" dirty="0" smtClean="0"/>
              <a:t>个参数，用了</a:t>
            </a:r>
            <a:r>
              <a:rPr lang="en-US" altLang="zh-CN" dirty="0" smtClean="0"/>
              <a:t>4096</a:t>
            </a:r>
            <a:r>
              <a:rPr lang="zh-CN" altLang="en-US" dirty="0" smtClean="0"/>
              <a:t>维权重向量，涉及的参数量为</a:t>
            </a:r>
            <a:r>
              <a:rPr lang="en-US" altLang="zh-CN" dirty="0" smtClean="0"/>
              <a:t>25088*4096</a:t>
            </a:r>
            <a:r>
              <a:rPr lang="zh-CN" altLang="en-US" dirty="0" smtClean="0"/>
              <a:t>。最后一层全连接层作为分类依据，</a:t>
            </a:r>
            <a:r>
              <a:rPr lang="en-US" altLang="zh-CN" dirty="0" smtClean="0"/>
              <a:t>1*1*1000</a:t>
            </a:r>
            <a:r>
              <a:rPr lang="zh-CN" altLang="en-US" dirty="0" smtClean="0"/>
              <a:t>意为可以针对</a:t>
            </a:r>
            <a:r>
              <a:rPr lang="en-US" altLang="zh-CN" dirty="0" smtClean="0"/>
              <a:t>1000</a:t>
            </a:r>
            <a:r>
              <a:rPr lang="zh-CN" altLang="en-US" dirty="0" smtClean="0"/>
              <a:t>种物体进行分类。</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305373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在步长与填充总结中的一般情况已经提及了三维数据的卷积运算，在这里更为系统的讲解一遍。</a:t>
            </a:r>
            <a:endParaRPr lang="en-US" altLang="zh-CN" dirty="0" smtClean="0"/>
          </a:p>
          <a:p>
            <a:r>
              <a:rPr lang="zh-CN" altLang="en-US" dirty="0" smtClean="0"/>
              <a:t>通道方向有多个卷积核的时候，会按通道进行输入特征图和卷积核的卷积运算，并将结果相加，从而得到输出结果。（需要注意的是，在三维数据的卷积运算中，输入特征图和卷积核的通道数必须保持一致，即均为</a:t>
            </a:r>
            <a:r>
              <a:rPr lang="en-US" altLang="zh-CN" dirty="0" smtClean="0"/>
              <a:t>3</a:t>
            </a:r>
            <a:r>
              <a:rPr lang="zh-CN" altLang="en-US" dirty="0" smtClean="0"/>
              <a:t>，通道的卷积核尺寸可以设置为任意值，但是同一个通道内的卷积核尺寸必须保持一致）。可以看到，使用一个尺寸为</a:t>
            </a:r>
            <a:r>
              <a:rPr lang="en-US" altLang="zh-CN" dirty="0" smtClean="0"/>
              <a:t>3*3</a:t>
            </a:r>
            <a:r>
              <a:rPr lang="zh-CN" altLang="en-US" dirty="0" smtClean="0"/>
              <a:t>通道数为</a:t>
            </a:r>
            <a:r>
              <a:rPr lang="en-US" altLang="zh-CN" dirty="0" smtClean="0"/>
              <a:t>3</a:t>
            </a:r>
            <a:r>
              <a:rPr lang="zh-CN" altLang="en-US" dirty="0" smtClean="0"/>
              <a:t>的卷积核，输出结果是尺寸为</a:t>
            </a:r>
            <a:r>
              <a:rPr lang="en-US" altLang="zh-CN" dirty="0" smtClean="0"/>
              <a:t>4*4</a:t>
            </a:r>
            <a:r>
              <a:rPr lang="zh-CN" altLang="en-US" dirty="0" smtClean="0"/>
              <a:t>的一维图。</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2706714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通过应用</a:t>
            </a:r>
            <a:r>
              <a:rPr lang="en-US" altLang="zh-CN" dirty="0" smtClean="0"/>
              <a:t>N</a:t>
            </a:r>
            <a:r>
              <a:rPr lang="zh-CN" altLang="en-US" dirty="0" smtClean="0"/>
              <a:t>个卷积核（本例为</a:t>
            </a:r>
            <a:r>
              <a:rPr lang="en-US" altLang="zh-CN" dirty="0" smtClean="0"/>
              <a:t>2</a:t>
            </a:r>
            <a:r>
              <a:rPr lang="zh-CN" altLang="en-US" dirty="0" smtClean="0"/>
              <a:t>个），输出特征图也生成了</a:t>
            </a:r>
            <a:r>
              <a:rPr lang="en-US" altLang="zh-CN" dirty="0" smtClean="0"/>
              <a:t>N</a:t>
            </a:r>
            <a:r>
              <a:rPr lang="zh-CN" altLang="en-US" dirty="0" smtClean="0"/>
              <a:t>个。如果将</a:t>
            </a:r>
            <a:r>
              <a:rPr lang="en-US" altLang="zh-CN" dirty="0" smtClean="0"/>
              <a:t>N</a:t>
            </a:r>
            <a:r>
              <a:rPr lang="zh-CN" altLang="en-US" dirty="0" smtClean="0"/>
              <a:t>个输出特征图汇集在一起，就得到了尺寸为（</a:t>
            </a:r>
            <a:r>
              <a:rPr lang="en-US" altLang="zh-CN" dirty="0" smtClean="0"/>
              <a:t>N</a:t>
            </a:r>
            <a:r>
              <a:rPr lang="zh-CN" altLang="en-US" dirty="0" smtClean="0"/>
              <a:t>，</a:t>
            </a:r>
            <a:r>
              <a:rPr lang="en-US" altLang="zh-CN" dirty="0" smtClean="0"/>
              <a:t>H</a:t>
            </a:r>
            <a:r>
              <a:rPr lang="zh-CN" altLang="en-US" dirty="0" smtClean="0"/>
              <a:t>，</a:t>
            </a:r>
            <a:r>
              <a:rPr lang="en-US" altLang="zh-CN" dirty="0" smtClean="0"/>
              <a:t>W</a:t>
            </a:r>
            <a:r>
              <a:rPr lang="zh-CN" altLang="en-US" dirty="0" smtClean="0"/>
              <a:t>）的矩阵，将这个矩阵传给下一层网络就是</a:t>
            </a:r>
            <a:r>
              <a:rPr lang="en-US" altLang="zh-CN" dirty="0" smtClean="0"/>
              <a:t>CNN</a:t>
            </a:r>
            <a:r>
              <a:rPr lang="zh-CN" altLang="en-US" dirty="0" smtClean="0"/>
              <a:t>的处理流。最后矩阵的层数等于要检测的特征数，表示的是卷积核的个数，还可以添加很多层。每个通道只有一个偏置，这里偏置的尺寸是（</a:t>
            </a:r>
            <a:r>
              <a:rPr lang="en-US" altLang="zh-CN" dirty="0" smtClean="0"/>
              <a:t>N</a:t>
            </a:r>
            <a:r>
              <a:rPr lang="zh-CN" altLang="en-US" dirty="0" smtClean="0"/>
              <a:t>，</a:t>
            </a:r>
            <a:r>
              <a:rPr lang="en-US" altLang="zh-CN" dirty="0" smtClean="0"/>
              <a:t>1</a:t>
            </a:r>
            <a:r>
              <a:rPr lang="zh-CN" altLang="en-US" dirty="0" smtClean="0"/>
              <a:t>，</a:t>
            </a:r>
            <a:r>
              <a:rPr lang="en-US" altLang="zh-CN" dirty="0" smtClean="0"/>
              <a:t>1</a:t>
            </a:r>
            <a:r>
              <a:rPr lang="zh-CN" altLang="en-US" dirty="0" smtClean="0"/>
              <a:t>），卷积核输出结果的尺寸是（</a:t>
            </a:r>
            <a:r>
              <a:rPr lang="en-US" altLang="zh-CN" dirty="0" smtClean="0"/>
              <a:t>N</a:t>
            </a:r>
            <a:r>
              <a:rPr lang="zh-CN" altLang="en-US" dirty="0" smtClean="0"/>
              <a:t>，</a:t>
            </a:r>
            <a:r>
              <a:rPr lang="en-US" altLang="zh-CN" dirty="0" smtClean="0"/>
              <a:t>H</a:t>
            </a:r>
            <a:r>
              <a:rPr lang="zh-CN" altLang="en-US" dirty="0" smtClean="0"/>
              <a:t>，</a:t>
            </a:r>
            <a:r>
              <a:rPr lang="en-US" altLang="zh-CN" dirty="0" smtClean="0"/>
              <a:t>W</a:t>
            </a:r>
            <a:r>
              <a:rPr lang="zh-CN" altLang="en-US" dirty="0" smtClean="0"/>
              <a:t>），这两个方块相加的时候，要对卷积核的输出结果（</a:t>
            </a:r>
            <a:r>
              <a:rPr lang="en-US" altLang="zh-CN" dirty="0" smtClean="0"/>
              <a:t>N</a:t>
            </a:r>
            <a:r>
              <a:rPr lang="zh-CN" altLang="en-US" dirty="0" smtClean="0"/>
              <a:t>，</a:t>
            </a:r>
            <a:r>
              <a:rPr lang="en-US" altLang="zh-CN" dirty="0" smtClean="0"/>
              <a:t>H</a:t>
            </a:r>
            <a:r>
              <a:rPr lang="zh-CN" altLang="en-US" dirty="0" smtClean="0"/>
              <a:t>，</a:t>
            </a:r>
            <a:r>
              <a:rPr lang="en-US" altLang="zh-CN" dirty="0" smtClean="0"/>
              <a:t>W</a:t>
            </a:r>
            <a:r>
              <a:rPr lang="zh-CN" altLang="en-US" dirty="0" smtClean="0"/>
              <a:t>）加上与通道数相同的偏置值，最后得到输出特征图（</a:t>
            </a:r>
            <a:r>
              <a:rPr lang="en-US" altLang="zh-CN" dirty="0" smtClean="0"/>
              <a:t>N</a:t>
            </a:r>
            <a:r>
              <a:rPr lang="zh-CN" altLang="en-US" dirty="0" smtClean="0"/>
              <a:t>，</a:t>
            </a:r>
            <a:r>
              <a:rPr lang="en-US" altLang="zh-CN" dirty="0" smtClean="0"/>
              <a:t>H</a:t>
            </a:r>
            <a:r>
              <a:rPr lang="zh-CN" altLang="en-US" dirty="0" smtClean="0"/>
              <a:t>，</a:t>
            </a:r>
            <a:r>
              <a:rPr lang="en-US" altLang="zh-CN" dirty="0" smtClean="0"/>
              <a:t>W</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4300389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批规范化层是</a:t>
            </a:r>
            <a:r>
              <a:rPr lang="en-US" altLang="zh-CN" dirty="0" smtClean="0"/>
              <a:t>2015</a:t>
            </a:r>
            <a:r>
              <a:rPr lang="zh-CN" altLang="en-US" dirty="0" smtClean="0"/>
              <a:t>年</a:t>
            </a:r>
            <a:r>
              <a:rPr lang="en-US" altLang="zh-CN" dirty="0" err="1" smtClean="0"/>
              <a:t>Ioffe</a:t>
            </a:r>
            <a:r>
              <a:rPr lang="zh-CN" altLang="en-US" dirty="0" smtClean="0"/>
              <a:t>和</a:t>
            </a:r>
            <a:r>
              <a:rPr lang="en-US" altLang="zh-CN" dirty="0" err="1" smtClean="0"/>
              <a:t>Szegedy</a:t>
            </a:r>
            <a:r>
              <a:rPr lang="zh-CN" altLang="en-US" dirty="0" smtClean="0"/>
              <a:t>等人提出的想法，目标是加速神经网络的收敛过程，提高训练过程中的稳定性。深度学习的训练过程始终需要精心调试，比如设置初始化参数、使用较小的学习率等。批规范化层在后面很多实验中被证明非常有效。如图所示，当没有进行数据批规范化处理时，数据的分布是任意的，那么就会有大量数据处在激活函数的敏感区域外，而如果进行了数据批规范化处理，相对来说数据的分布就比较均衡了。</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176331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了解了批规范化的基本思想之后，我们再来了解批规范化的具体处理流程。在用卷积神经网络处理图像数据时，往往是几张图像同时输入网络中进行前向计算，误差也是该批次中所有图像的误差累计起来一起回传。批规范化方法其实就是对一个批次中的数据进行如下归一化处理。</a:t>
                </a:r>
                <a:endParaRPr lang="en-US" altLang="zh-CN" dirty="0" smtClean="0"/>
              </a:p>
              <a:p>
                <a:r>
                  <a:rPr lang="zh-CN" altLang="en-US" dirty="0" smtClean="0"/>
                  <a:t>第</a:t>
                </a:r>
                <a:r>
                  <a:rPr lang="en-US" altLang="zh-CN" dirty="0" smtClean="0"/>
                  <a:t>1</a:t>
                </a:r>
                <a:r>
                  <a:rPr lang="zh-CN" altLang="en-US" dirty="0" smtClean="0"/>
                  <a:t>步，获得一个小批次的输入</a:t>
                </a:r>
                <a:r>
                  <a:rPr lang="en-US" altLang="zh-CN" dirty="0" smtClean="0"/>
                  <a:t>β={x1</a:t>
                </a:r>
                <a:r>
                  <a:rPr lang="zh-CN" altLang="en-US" dirty="0" smtClean="0"/>
                  <a:t>，</a:t>
                </a:r>
                <a:r>
                  <a:rPr lang="en-US" altLang="zh-CN" dirty="0" smtClean="0"/>
                  <a:t>…</a:t>
                </a:r>
                <a:r>
                  <a:rPr lang="zh-CN" altLang="en-US" dirty="0" smtClean="0"/>
                  <a:t>，</a:t>
                </a:r>
                <a:r>
                  <a:rPr lang="en-US" altLang="zh-CN" dirty="0" err="1" smtClean="0"/>
                  <a:t>xm</a:t>
                </a:r>
                <a:r>
                  <a:rPr lang="en-US" altLang="zh-CN" dirty="0" smtClean="0"/>
                  <a:t>}</a:t>
                </a:r>
                <a:r>
                  <a:rPr lang="zh-CN" altLang="en-US" dirty="0" smtClean="0"/>
                  <a:t>。可以看出批次大小就是</a:t>
                </a:r>
                <a:r>
                  <a:rPr lang="en-US" altLang="zh-CN" dirty="0" smtClean="0"/>
                  <a:t>m</a:t>
                </a:r>
                <a:r>
                  <a:rPr lang="zh-CN" altLang="en-US" dirty="0" smtClean="0"/>
                  <a:t>。第</a:t>
                </a:r>
                <a:r>
                  <a:rPr lang="en-US" altLang="zh-CN" dirty="0" smtClean="0"/>
                  <a:t>2</a:t>
                </a:r>
                <a:r>
                  <a:rPr lang="zh-CN" altLang="en-US" dirty="0" smtClean="0"/>
                  <a:t>步，求这个批次的均值</a:t>
                </a:r>
                <a:r>
                  <a:rPr lang="en-US" altLang="zh-CN" dirty="0" smtClean="0"/>
                  <a:t>μ</a:t>
                </a:r>
                <a:r>
                  <a:rPr lang="zh-CN" altLang="en-US" dirty="0" smtClean="0"/>
                  <a:t>和方差</a:t>
                </a:r>
                <a:r>
                  <a:rPr lang="en-US" altLang="zh-CN" dirty="0" smtClean="0"/>
                  <a:t>σ</a:t>
                </a:r>
                <a:r>
                  <a:rPr lang="zh-CN" altLang="en-US" dirty="0" smtClean="0"/>
                  <a:t>。第</a:t>
                </a:r>
                <a:r>
                  <a:rPr lang="en-US" altLang="zh-CN" dirty="0" smtClean="0"/>
                  <a:t>3</a:t>
                </a:r>
                <a:r>
                  <a:rPr lang="zh-CN" altLang="en-US" dirty="0" smtClean="0"/>
                  <a:t>步，对所有</a:t>
                </a:r>
                <a:r>
                  <a:rPr lang="en-US" altLang="zh-CN" dirty="0" smtClean="0"/>
                  <a:t>xi</a:t>
                </a:r>
                <a:r>
                  <a:rPr lang="zh-CN" altLang="en-US" dirty="0" smtClean="0"/>
                  <a:t>进行标准化处理，得到</a:t>
                </a:r>
                <a14:m>
                  <m:oMath xmlns:m="http://schemas.openxmlformats.org/officeDocument/2006/math">
                    <m:acc>
                      <m:accPr>
                        <m:chr m:val="̂"/>
                        <m:ctrlPr>
                          <a:rPr lang="zh-CN" altLang="en-US" i="1" smtClean="0">
                            <a:latin typeface="Cambria Math" panose="02040503050406030204" pitchFamily="18" charset="0"/>
                          </a:rPr>
                        </m:ctrlPr>
                      </m:accPr>
                      <m:e>
                        <m:r>
                          <m:rPr>
                            <m:sty m:val="p"/>
                          </m:rPr>
                          <a:rPr lang="en-US" altLang="zh-CN" i="1">
                            <a:latin typeface="Cambria Math" panose="02040503050406030204" pitchFamily="18" charset="0"/>
                          </a:rPr>
                          <m:t>x</m:t>
                        </m:r>
                        <m:r>
                          <a:rPr lang="en-US" altLang="zh-CN" b="0" i="1" baseline="-25000" smtClean="0">
                            <a:latin typeface="Cambria Math" panose="02040503050406030204" pitchFamily="18" charset="0"/>
                          </a:rPr>
                          <m:t>𝑖</m:t>
                        </m:r>
                      </m:e>
                    </m:acc>
                  </m:oMath>
                </a14:m>
                <a:r>
                  <a:rPr lang="zh-CN" altLang="en-US" dirty="0" smtClean="0"/>
                  <a:t>（</a:t>
                </a:r>
                <a:r>
                  <a:rPr lang="en-US" altLang="zh-CN" dirty="0" smtClean="0"/>
                  <a:t>xi hat</a:t>
                </a:r>
                <a:r>
                  <a:rPr lang="zh-CN" altLang="en-US" dirty="0" smtClean="0"/>
                  <a:t>）。这里的</a:t>
                </a:r>
                <a:r>
                  <a:rPr lang="en-US" altLang="zh-CN" dirty="0" smtClean="0"/>
                  <a:t>ε</a:t>
                </a:r>
                <a:r>
                  <a:rPr lang="zh-CN" altLang="en-US" dirty="0" smtClean="0"/>
                  <a:t>是一个很小的数，用于避免因分母等于</a:t>
                </a:r>
                <a:r>
                  <a:rPr lang="en-US" altLang="zh-CN" dirty="0" smtClean="0"/>
                  <a:t>0</a:t>
                </a:r>
                <a:r>
                  <a:rPr lang="zh-CN" altLang="en-US" dirty="0" smtClean="0"/>
                  <a:t>带来的系统错误。第</a:t>
                </a:r>
                <a:r>
                  <a:rPr lang="en-US" altLang="zh-CN" dirty="0" smtClean="0"/>
                  <a:t>4</a:t>
                </a:r>
                <a:r>
                  <a:rPr lang="zh-CN" altLang="en-US" dirty="0" smtClean="0"/>
                  <a:t>步，对</a:t>
                </a:r>
                <a14:m>
                  <m:oMath xmlns:m="http://schemas.openxmlformats.org/officeDocument/2006/math">
                    <m:acc>
                      <m:accPr>
                        <m:chr m:val="̂"/>
                        <m:ctrlPr>
                          <a:rPr lang="zh-CN" altLang="en-US" i="1" smtClean="0">
                            <a:latin typeface="Cambria Math" panose="02040503050406030204" pitchFamily="18" charset="0"/>
                          </a:rPr>
                        </m:ctrlPr>
                      </m:accPr>
                      <m:e>
                        <m:r>
                          <m:rPr>
                            <m:sty m:val="p"/>
                          </m:rPr>
                          <a:rPr lang="en-US" altLang="zh-CN" i="1">
                            <a:latin typeface="Cambria Math" panose="02040503050406030204" pitchFamily="18" charset="0"/>
                          </a:rPr>
                          <m:t>x</m:t>
                        </m:r>
                        <m:r>
                          <a:rPr lang="en-US" altLang="zh-CN" b="0" i="1" baseline="-25000" smtClean="0">
                            <a:latin typeface="Cambria Math" panose="02040503050406030204" pitchFamily="18" charset="0"/>
                          </a:rPr>
                          <m:t>𝑖</m:t>
                        </m:r>
                      </m:e>
                    </m:acc>
                  </m:oMath>
                </a14:m>
                <a:r>
                  <a:rPr lang="zh-CN" altLang="en-US" dirty="0" smtClean="0"/>
                  <a:t>（</a:t>
                </a:r>
                <a:r>
                  <a:rPr lang="en-US" altLang="zh-CN" dirty="0" smtClean="0"/>
                  <a:t>xi hat</a:t>
                </a:r>
                <a:r>
                  <a:rPr lang="zh-CN" altLang="en-US" dirty="0" smtClean="0"/>
                  <a:t>）做线性变换，得到输出</a:t>
                </a:r>
                <a:r>
                  <a:rPr lang="en-US" altLang="zh-CN" dirty="0" err="1" smtClean="0"/>
                  <a:t>yi</a:t>
                </a:r>
                <a:r>
                  <a:rPr lang="zh-CN" altLang="en-US" dirty="0" smtClean="0"/>
                  <a:t>。在第</a:t>
                </a:r>
                <a:r>
                  <a:rPr lang="en-US" altLang="zh-CN" dirty="0" smtClean="0"/>
                  <a:t>4</a:t>
                </a:r>
                <a:r>
                  <a:rPr lang="zh-CN" altLang="en-US" dirty="0" smtClean="0"/>
                  <a:t>步中，</a:t>
                </a:r>
                <a:r>
                  <a:rPr lang="en-US" altLang="zh-CN" dirty="0" smtClean="0"/>
                  <a:t>γ</a:t>
                </a:r>
                <a:r>
                  <a:rPr lang="zh-CN" altLang="en-US" dirty="0" smtClean="0"/>
                  <a:t>和</a:t>
                </a:r>
                <a:r>
                  <a:rPr lang="en-US" altLang="zh-CN" dirty="0" smtClean="0"/>
                  <a:t>β</a:t>
                </a:r>
                <a:r>
                  <a:rPr lang="zh-CN" altLang="en-US" dirty="0" smtClean="0"/>
                  <a:t>是可学习的。我们获得一个关于</a:t>
                </a:r>
                <a:r>
                  <a:rPr lang="en-US" altLang="zh-CN" dirty="0" smtClean="0"/>
                  <a:t>y</a:t>
                </a:r>
                <a:r>
                  <a:rPr lang="zh-CN" altLang="en-US" dirty="0" smtClean="0"/>
                  <a:t>轴对称的分布真的是最符合神经网络训练的吗？没有任何证据能证明这点。事实上，</a:t>
                </a:r>
                <a:r>
                  <a:rPr lang="en-US" altLang="zh-CN" dirty="0" smtClean="0"/>
                  <a:t>γ</a:t>
                </a:r>
                <a:r>
                  <a:rPr lang="zh-CN" altLang="en-US" dirty="0" smtClean="0"/>
                  <a:t>和</a:t>
                </a:r>
                <a:r>
                  <a:rPr lang="en-US" altLang="zh-CN" dirty="0" smtClean="0"/>
                  <a:t>β</a:t>
                </a:r>
                <a:r>
                  <a:rPr lang="zh-CN" altLang="en-US" dirty="0" smtClean="0"/>
                  <a:t>为输出的线性调整参数，可以让分布曲线压缩或延长一点，上移或下移一点。由于</a:t>
                </a:r>
                <a:r>
                  <a:rPr lang="en-US" altLang="zh-CN" dirty="0" smtClean="0"/>
                  <a:t>γ</a:t>
                </a:r>
                <a:r>
                  <a:rPr lang="zh-CN" altLang="en-US" dirty="0" smtClean="0"/>
                  <a:t>和</a:t>
                </a:r>
                <a:r>
                  <a:rPr lang="en-US" altLang="zh-CN" dirty="0" smtClean="0"/>
                  <a:t>β</a:t>
                </a:r>
                <a:r>
                  <a:rPr lang="zh-CN" altLang="en-US" dirty="0" smtClean="0"/>
                  <a:t>是可训练的，意味着神经网络会随着训练过程自己挑选一个最适合的分布。如果我们固执地不用</a:t>
                </a:r>
                <a:r>
                  <a:rPr lang="en-US" altLang="zh-CN" dirty="0" smtClean="0"/>
                  <a:t>γ</a:t>
                </a:r>
                <a:r>
                  <a:rPr lang="zh-CN" altLang="en-US" dirty="0" smtClean="0"/>
                  <a:t>和</a:t>
                </a:r>
                <a:r>
                  <a:rPr lang="en-US" altLang="zh-CN" dirty="0" smtClean="0"/>
                  <a:t>β</a:t>
                </a:r>
                <a:r>
                  <a:rPr lang="zh-CN" altLang="en-US" dirty="0" smtClean="0"/>
                  <a:t>会怎么样呢？那势必会把压力转移到特征提取层，虽然最后的结果依然可观，但训练压力会很大：一边只需要训练两个数，另一边需要训练特征提取层来符合最优分布。显然前者的训练成本更低。</a:t>
                </a:r>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了解了批规范化的基本思想之后，我们再来了解批规范化的具体处理流程。在用卷积神经网络处理图像数据时，往往是几张图像同时输入网络中进行前向计算，误差也是该批次中所有图像的误差累计起来一起回传。批规范化方法其实就是对一个批次中的数据进行如下归一化处理</a:t>
                </a:r>
                <a:r>
                  <a:rPr lang="zh-CN" altLang="en-US" dirty="0" smtClean="0"/>
                  <a:t>。</a:t>
                </a:r>
                <a:endParaRPr lang="en-US" altLang="zh-CN" dirty="0" smtClean="0"/>
              </a:p>
              <a:p>
                <a:r>
                  <a:rPr lang="zh-CN" altLang="en-US" dirty="0" smtClean="0"/>
                  <a:t>第</a:t>
                </a:r>
                <a:r>
                  <a:rPr lang="en-US" altLang="zh-CN" dirty="0" smtClean="0"/>
                  <a:t>1</a:t>
                </a:r>
                <a:r>
                  <a:rPr lang="zh-CN" altLang="en-US" dirty="0" smtClean="0"/>
                  <a:t>步，获得一个小批次的输入</a:t>
                </a:r>
                <a:r>
                  <a:rPr lang="en-US" altLang="zh-CN" dirty="0" smtClean="0"/>
                  <a:t>β={x1</a:t>
                </a:r>
                <a:r>
                  <a:rPr lang="zh-CN" altLang="en-US" dirty="0" smtClean="0"/>
                  <a:t>，</a:t>
                </a:r>
                <a:r>
                  <a:rPr lang="en-US" altLang="zh-CN" dirty="0" smtClean="0"/>
                  <a:t>…</a:t>
                </a:r>
                <a:r>
                  <a:rPr lang="zh-CN" altLang="en-US" dirty="0" smtClean="0"/>
                  <a:t>，</a:t>
                </a:r>
                <a:r>
                  <a:rPr lang="en-US" altLang="zh-CN" dirty="0" err="1" smtClean="0"/>
                  <a:t>xm</a:t>
                </a:r>
                <a:r>
                  <a:rPr lang="en-US" altLang="zh-CN" dirty="0" smtClean="0"/>
                  <a:t>}</a:t>
                </a:r>
                <a:r>
                  <a:rPr lang="zh-CN" altLang="en-US" dirty="0" smtClean="0"/>
                  <a:t>。可以看出批次大小就是</a:t>
                </a:r>
                <a:r>
                  <a:rPr lang="en-US" altLang="zh-CN" dirty="0" smtClean="0"/>
                  <a:t>m</a:t>
                </a:r>
                <a:r>
                  <a:rPr lang="zh-CN" altLang="en-US" dirty="0" smtClean="0"/>
                  <a:t>。第</a:t>
                </a:r>
                <a:r>
                  <a:rPr lang="en-US" altLang="zh-CN" dirty="0" smtClean="0"/>
                  <a:t>2</a:t>
                </a:r>
                <a:r>
                  <a:rPr lang="zh-CN" altLang="en-US" dirty="0" smtClean="0"/>
                  <a:t>步，求这个批次的均值</a:t>
                </a:r>
                <a:r>
                  <a:rPr lang="en-US" altLang="zh-CN" dirty="0" smtClean="0"/>
                  <a:t>μ</a:t>
                </a:r>
                <a:r>
                  <a:rPr lang="zh-CN" altLang="en-US" dirty="0" smtClean="0"/>
                  <a:t>和方差</a:t>
                </a:r>
                <a:r>
                  <a:rPr lang="en-US" altLang="zh-CN" dirty="0" smtClean="0"/>
                  <a:t>σ</a:t>
                </a:r>
                <a:r>
                  <a:rPr lang="zh-CN" altLang="en-US" dirty="0" smtClean="0"/>
                  <a:t>。第</a:t>
                </a:r>
                <a:r>
                  <a:rPr lang="en-US" altLang="zh-CN" dirty="0" smtClean="0"/>
                  <a:t>3</a:t>
                </a:r>
                <a:r>
                  <a:rPr lang="zh-CN" altLang="en-US" dirty="0" smtClean="0"/>
                  <a:t>步，对所有</a:t>
                </a:r>
                <a:r>
                  <a:rPr lang="en-US" altLang="zh-CN" dirty="0" smtClean="0"/>
                  <a:t>xi</a:t>
                </a:r>
                <a:r>
                  <a:rPr lang="zh-CN" altLang="en-US" dirty="0" smtClean="0"/>
                  <a:t>进行标准化处理，得到</a:t>
                </a:r>
                <a:r>
                  <a:rPr lang="zh-CN" altLang="en-US" i="0" smtClean="0">
                    <a:latin typeface="Cambria Math" panose="02040503050406030204" pitchFamily="18" charset="0"/>
                  </a:rPr>
                  <a:t>(</a:t>
                </a:r>
                <a:r>
                  <a:rPr lang="en-US" altLang="zh-CN" i="0">
                    <a:latin typeface="Cambria Math" panose="02040503050406030204" pitchFamily="18" charset="0"/>
                  </a:rPr>
                  <a:t>x</a:t>
                </a:r>
                <a:r>
                  <a:rPr lang="en-US" altLang="zh-CN" b="0" i="0" baseline="-25000" smtClean="0">
                    <a:latin typeface="Cambria Math" panose="02040503050406030204" pitchFamily="18" charset="0"/>
                  </a:rPr>
                  <a:t>𝑖</a:t>
                </a:r>
                <a:r>
                  <a:rPr lang="zh-CN" altLang="en-US" b="0" i="0" baseline="-25000" smtClean="0">
                    <a:latin typeface="Cambria Math" panose="02040503050406030204" pitchFamily="18" charset="0"/>
                  </a:rPr>
                  <a:t>) ̂</a:t>
                </a:r>
                <a:r>
                  <a:rPr lang="zh-CN" altLang="en-US" dirty="0" smtClean="0"/>
                  <a:t>（</a:t>
                </a:r>
                <a:r>
                  <a:rPr lang="en-US" altLang="zh-CN" dirty="0" smtClean="0"/>
                  <a:t>xi hat</a:t>
                </a:r>
                <a:r>
                  <a:rPr lang="zh-CN" altLang="en-US" dirty="0" smtClean="0"/>
                  <a:t>）。这里的</a:t>
                </a:r>
                <a:r>
                  <a:rPr lang="en-US" altLang="zh-CN" dirty="0" smtClean="0"/>
                  <a:t>ε</a:t>
                </a:r>
                <a:r>
                  <a:rPr lang="zh-CN" altLang="en-US" dirty="0" smtClean="0"/>
                  <a:t>是一个很小的数，用于避免因分母等于</a:t>
                </a:r>
                <a:r>
                  <a:rPr lang="en-US" altLang="zh-CN" dirty="0" smtClean="0"/>
                  <a:t>0</a:t>
                </a:r>
                <a:r>
                  <a:rPr lang="zh-CN" altLang="en-US" dirty="0" smtClean="0"/>
                  <a:t>带来的系统错误。第</a:t>
                </a:r>
                <a:r>
                  <a:rPr lang="en-US" altLang="zh-CN" dirty="0" smtClean="0"/>
                  <a:t>4</a:t>
                </a:r>
                <a:r>
                  <a:rPr lang="zh-CN" altLang="en-US" dirty="0" smtClean="0"/>
                  <a:t>步，对</a:t>
                </a:r>
                <a:r>
                  <a:rPr lang="zh-CN" altLang="en-US" i="0" smtClean="0">
                    <a:latin typeface="Cambria Math" panose="02040503050406030204" pitchFamily="18" charset="0"/>
                  </a:rPr>
                  <a:t>(</a:t>
                </a:r>
                <a:r>
                  <a:rPr lang="en-US" altLang="zh-CN" i="0">
                    <a:latin typeface="Cambria Math" panose="02040503050406030204" pitchFamily="18" charset="0"/>
                  </a:rPr>
                  <a:t>x</a:t>
                </a:r>
                <a:r>
                  <a:rPr lang="en-US" altLang="zh-CN" b="0" i="0" baseline="-25000" smtClean="0">
                    <a:latin typeface="Cambria Math" panose="02040503050406030204" pitchFamily="18" charset="0"/>
                  </a:rPr>
                  <a:t>𝑖</a:t>
                </a:r>
                <a:r>
                  <a:rPr lang="zh-CN" altLang="en-US" b="0" i="0" baseline="-25000" smtClean="0">
                    <a:latin typeface="Cambria Math" panose="02040503050406030204" pitchFamily="18" charset="0"/>
                  </a:rPr>
                  <a:t>) ̂</a:t>
                </a:r>
                <a:r>
                  <a:rPr lang="zh-CN" altLang="en-US" dirty="0" smtClean="0"/>
                  <a:t>（</a:t>
                </a:r>
                <a:r>
                  <a:rPr lang="en-US" altLang="zh-CN" dirty="0" smtClean="0"/>
                  <a:t>xi hat</a:t>
                </a:r>
                <a:r>
                  <a:rPr lang="zh-CN" altLang="en-US" dirty="0" smtClean="0"/>
                  <a:t>）</a:t>
                </a:r>
                <a:r>
                  <a:rPr lang="zh-CN" altLang="en-US" dirty="0" smtClean="0"/>
                  <a:t>做线性变换，得到输出</a:t>
                </a:r>
                <a:r>
                  <a:rPr lang="en-US" altLang="zh-CN" dirty="0" err="1" smtClean="0"/>
                  <a:t>yi</a:t>
                </a:r>
                <a:r>
                  <a:rPr lang="zh-CN" altLang="en-US" dirty="0" smtClean="0"/>
                  <a:t>。在第</a:t>
                </a:r>
                <a:r>
                  <a:rPr lang="en-US" altLang="zh-CN" dirty="0" smtClean="0"/>
                  <a:t>4</a:t>
                </a:r>
                <a:r>
                  <a:rPr lang="zh-CN" altLang="en-US" dirty="0" smtClean="0"/>
                  <a:t>步中，</a:t>
                </a:r>
                <a:r>
                  <a:rPr lang="en-US" altLang="zh-CN" dirty="0" smtClean="0"/>
                  <a:t>γ</a:t>
                </a:r>
                <a:r>
                  <a:rPr lang="zh-CN" altLang="en-US" dirty="0" smtClean="0"/>
                  <a:t>和</a:t>
                </a:r>
                <a:r>
                  <a:rPr lang="en-US" altLang="zh-CN" dirty="0" smtClean="0"/>
                  <a:t>β</a:t>
                </a:r>
                <a:r>
                  <a:rPr lang="zh-CN" altLang="en-US" dirty="0" smtClean="0"/>
                  <a:t>是可学习的。我们获得一个关于</a:t>
                </a:r>
                <a:r>
                  <a:rPr lang="en-US" altLang="zh-CN" dirty="0" smtClean="0"/>
                  <a:t>y</a:t>
                </a:r>
                <a:r>
                  <a:rPr lang="zh-CN" altLang="en-US" dirty="0" smtClean="0"/>
                  <a:t>轴对称的分布真的是最符合神经网络训练的吗？没有任何证据能证明这点。事实上，</a:t>
                </a:r>
                <a:r>
                  <a:rPr lang="en-US" altLang="zh-CN" dirty="0" smtClean="0"/>
                  <a:t>γ</a:t>
                </a:r>
                <a:r>
                  <a:rPr lang="zh-CN" altLang="en-US" dirty="0" smtClean="0"/>
                  <a:t>和</a:t>
                </a:r>
                <a:r>
                  <a:rPr lang="en-US" altLang="zh-CN" dirty="0" smtClean="0"/>
                  <a:t>β</a:t>
                </a:r>
                <a:r>
                  <a:rPr lang="zh-CN" altLang="en-US" dirty="0" smtClean="0"/>
                  <a:t>为输出的线性调整参数，可以让分布曲线压缩或延长一点，上移或下移一点。由于</a:t>
                </a:r>
                <a:r>
                  <a:rPr lang="en-US" altLang="zh-CN" dirty="0" smtClean="0"/>
                  <a:t>γ</a:t>
                </a:r>
                <a:r>
                  <a:rPr lang="zh-CN" altLang="en-US" dirty="0" smtClean="0"/>
                  <a:t>和</a:t>
                </a:r>
                <a:r>
                  <a:rPr lang="en-US" altLang="zh-CN" dirty="0" smtClean="0"/>
                  <a:t>β</a:t>
                </a:r>
                <a:r>
                  <a:rPr lang="zh-CN" altLang="en-US" dirty="0" smtClean="0"/>
                  <a:t>是可训练的，意味着神经网络会随着训练过程自己挑选一个最适合的分布。如果我们固执地不用</a:t>
                </a:r>
                <a:r>
                  <a:rPr lang="en-US" altLang="zh-CN" dirty="0" smtClean="0"/>
                  <a:t>γ</a:t>
                </a:r>
                <a:r>
                  <a:rPr lang="zh-CN" altLang="en-US" dirty="0" smtClean="0"/>
                  <a:t>和</a:t>
                </a:r>
                <a:r>
                  <a:rPr lang="en-US" altLang="zh-CN" dirty="0" smtClean="0"/>
                  <a:t>β</a:t>
                </a:r>
                <a:r>
                  <a:rPr lang="zh-CN" altLang="en-US" dirty="0" smtClean="0"/>
                  <a:t>会怎么样呢？那势必会把压力转移到特征提取层，虽然最后的结果依然可观，但训练压力会很大：一边只需要训练两个数，另一边需要训练特征提取层来符合最优分布。显然前者的训练成本更低。</a:t>
                </a:r>
                <a:endParaRPr lang="zh-CN" altLang="en-US"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33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4562232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批规范化处理通常用在卷积层之后，激活函数之前。虽然批规范化也不一定用在卷积层之后，但用在激活函数之前是必需的（这样才能发挥它的作用）。</a:t>
            </a:r>
            <a:endParaRPr lang="en-US" altLang="zh-CN" dirty="0" smtClean="0"/>
          </a:p>
          <a:p>
            <a:r>
              <a:rPr lang="zh-CN" altLang="en-US" dirty="0" smtClean="0"/>
              <a:t>批规范化处理会在训练过程中调整每层网络输出数据的分布，使其更合理地进入激活函数的作用区。激活函数的作用区是指原点附近的区域，梯度弥散率低、区分率高。</a:t>
            </a:r>
            <a:endParaRPr lang="en-US" altLang="zh-CN" dirty="0" smtClean="0"/>
          </a:p>
          <a:p>
            <a:r>
              <a:rPr lang="zh-CN" altLang="en-US" dirty="0" smtClean="0"/>
              <a:t>批规范化具有加速收敛的特点，这是因为不必训练神经网络适应数据的分布，所以减少了</a:t>
            </a:r>
            <a:r>
              <a:rPr lang="en-US" altLang="zh-CN" dirty="0" smtClean="0"/>
              <a:t>epoch</a:t>
            </a:r>
            <a:r>
              <a:rPr lang="zh-CN" altLang="en-US" dirty="0" smtClean="0"/>
              <a:t>轮数。批规范化完美地使用了激活函数对数据进行修剪，减少了梯度弥散。同时，学习率也可以大一点。</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960844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Dropout</a:t>
            </a:r>
            <a:r>
              <a:rPr lang="zh-CN" altLang="en-US" dirty="0" smtClean="0"/>
              <a:t>可以看作一种模型平均。所谓模型平均，顾名思义，就是把来自不同模型的估计或者预测通过一定的权重进行平均，在一些文献中也成为模型组合，一般包括组合估计和组合预测。</a:t>
            </a:r>
            <a:endParaRPr lang="en-US" altLang="zh-CN" dirty="0" smtClean="0"/>
          </a:p>
          <a:p>
            <a:r>
              <a:rPr lang="zh-CN" altLang="en-US" dirty="0" smtClean="0"/>
              <a:t>在机器学习模型中，如果模型的参数太多，而训练样本又太少，训练出来的模型很容易产生过拟合现象。在训练神经网络的时候经常会遇到过拟合的问题，具体表现在：模型在训练数据上损失函数较小，预测准确率较高，而在测试数据上损失函数较大，预测准确率较低。</a:t>
            </a:r>
            <a:endParaRPr lang="en-US" altLang="zh-CN" dirty="0" smtClean="0"/>
          </a:p>
          <a:p>
            <a:r>
              <a:rPr lang="zh-CN" altLang="en-US" dirty="0" smtClean="0"/>
              <a:t>过拟合是很多机器学习模型的通病。如果模型过拟合，那么得到的模型基本不能用。为了解决过拟合问题，一般会采用模型集成的方法，即训练多个模型进行组合。此时，又出现了训练模型的耗时问题，不仅训练多个模型很费时，测试多个模型也费时。</a:t>
            </a:r>
            <a:endParaRPr lang="en-US" altLang="zh-CN" dirty="0" smtClean="0"/>
          </a:p>
          <a:p>
            <a:r>
              <a:rPr lang="en-US" altLang="zh-CN" dirty="0" smtClean="0"/>
              <a:t>Dropout</a:t>
            </a:r>
            <a:r>
              <a:rPr lang="zh-CN" altLang="en-US" dirty="0" smtClean="0"/>
              <a:t>可以作为训练深度神经网络的一项秘密武器。在每次训练中，忽略一般特征检测器（让一般的隐层节点值为</a:t>
            </a:r>
            <a:r>
              <a:rPr lang="en-US" altLang="zh-CN" dirty="0" smtClean="0"/>
              <a:t>0</a:t>
            </a:r>
            <a:r>
              <a:rPr lang="zh-CN" altLang="en-US" dirty="0" smtClean="0"/>
              <a:t>），可以明显减少过拟合现象。这种方式可以减少特征检测器之间的相互作用。检测器之间的相互作用是指某些检测器只有依赖其他检测器才能发挥作用。</a:t>
            </a:r>
            <a:endParaRPr lang="en-US" altLang="zh-CN" dirty="0" smtClean="0"/>
          </a:p>
          <a:p>
            <a:r>
              <a:rPr lang="en-US" altLang="zh-CN" dirty="0" smtClean="0"/>
              <a:t>Dropout</a:t>
            </a:r>
            <a:r>
              <a:rPr lang="zh-CN" altLang="en-US" dirty="0" smtClean="0"/>
              <a:t>说简单一点就是在前向传播的时候，让某个神经元的激活值以一定的概率</a:t>
            </a:r>
            <a:r>
              <a:rPr lang="en-US" altLang="zh-CN" dirty="0" smtClean="0"/>
              <a:t>p</a:t>
            </a:r>
            <a:r>
              <a:rPr lang="zh-CN" altLang="en-US" dirty="0" smtClean="0"/>
              <a:t>（通常为</a:t>
            </a:r>
            <a:r>
              <a:rPr lang="en-US" altLang="zh-CN" dirty="0" smtClean="0"/>
              <a:t>0.5</a:t>
            </a:r>
            <a:r>
              <a:rPr lang="zh-CN" altLang="en-US" dirty="0" smtClean="0"/>
              <a:t>，即一般的神经元）停止工作，这样可以使模型的泛化性更强，因为它不太会依赖某些局部特征。</a:t>
            </a:r>
            <a:endParaRPr lang="en-US" altLang="zh-CN" dirty="0" smtClean="0"/>
          </a:p>
          <a:p>
            <a:r>
              <a:rPr lang="en-US" altLang="zh-CN" dirty="0" smtClean="0"/>
              <a:t>Dropout</a:t>
            </a:r>
            <a:r>
              <a:rPr lang="zh-CN" altLang="en-US" dirty="0" smtClean="0"/>
              <a:t>能体现不同模型的奥秘在于我们随机选择被忽略的隐层节点。在每个批次的训练过程中，因为每次随机忽略的隐层节点不同，所以每次训练的网络都是不一样的，每次训练都可以算作一个新的模型。此外，隐含节点都是以一定概率随机出现的，不能保证每两个隐含节点每次都同时出现，这样权值的更新不再依赖有固定关系的隐含节点的共同作用，避免了某些特征仅在特定特征下才有效果的情况。</a:t>
            </a:r>
            <a:endParaRPr lang="en-US" altLang="zh-CN" dirty="0" smtClean="0"/>
          </a:p>
          <a:p>
            <a:r>
              <a:rPr lang="en-US" altLang="zh-CN" dirty="0" smtClean="0"/>
              <a:t>Dropout</a:t>
            </a:r>
            <a:r>
              <a:rPr lang="zh-CN" altLang="en-US" dirty="0" smtClean="0"/>
              <a:t>是一个非常有效的神经网络模型平均方法，通过训练大量不同的网络，得到平均预测概率。不同的模型在不同的训练集上训练（每个批次的训练数据都是随机选择的），最后在每个模型上用相同的权重来融合。</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4338899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卷积层作为特征提取的主要网络层，在网络的构建过程中应用最为广泛；批规范化层作为归一化层，经常与卷积层成对出现，能够有效加速模型的收敛，池化层作为降采样层，能够缩减特征图的维度、降低噪声；全连接层完成最终分类目标；应用在全连接层上的</a:t>
            </a:r>
            <a:r>
              <a:rPr lang="en-US" altLang="zh-CN" dirty="0" smtClean="0"/>
              <a:t>Dropout</a:t>
            </a:r>
            <a:r>
              <a:rPr lang="zh-CN" altLang="en-US" dirty="0" smtClean="0"/>
              <a:t>层用于避免过拟合。</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3833627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下面将介绍目前常用的卷积神经网络结构，了解</a:t>
            </a:r>
            <a:r>
              <a:rPr lang="en-US" altLang="zh-CN" dirty="0" smtClean="0"/>
              <a:t>CNN</a:t>
            </a:r>
            <a:r>
              <a:rPr lang="zh-CN" altLang="en-US" dirty="0" smtClean="0"/>
              <a:t>的发展历程。尽管各种神经网络在细节的处理上略有不同，本质上网络结构是不变的。</a:t>
            </a:r>
            <a:r>
              <a:rPr lang="en-US" altLang="zh-CN" dirty="0" smtClean="0"/>
              <a:t/>
            </a:r>
            <a:br>
              <a:rPr lang="en-US" altLang="zh-CN" dirty="0" smtClean="0"/>
            </a:br>
            <a:r>
              <a:rPr lang="zh-CN" altLang="en-US" dirty="0" smtClean="0"/>
              <a:t>工业界的很多图像算法模型会采用基于</a:t>
            </a:r>
            <a:r>
              <a:rPr lang="en-US" altLang="zh-CN" dirty="0" err="1" smtClean="0"/>
              <a:t>ImageNet</a:t>
            </a:r>
            <a:r>
              <a:rPr lang="zh-CN" altLang="en-US" dirty="0" smtClean="0"/>
              <a:t>数据集的预训练模型进行参数初始化，这种做法叫做迁移学习。</a:t>
            </a:r>
            <a:r>
              <a:rPr lang="zh-CN" altLang="en-US" sz="1200" b="0" i="0" kern="1200" dirty="0" smtClean="0">
                <a:solidFill>
                  <a:schemeClr val="tx1"/>
                </a:solidFill>
                <a:effectLst/>
                <a:latin typeface="+mn-lt"/>
                <a:ea typeface="+mn-ea"/>
                <a:cs typeface="+mn-cs"/>
              </a:rPr>
              <a:t>基于共享参数的迁移研究的是如何找到源数据和目标数据的空间模型之间的共同参数或者先验分布，从而可以通过进一步处理，达到知识迁移的目的，假设前提是，学习任务中的的每个相关模型会共享一些相同的参数或者先验分布。</a:t>
            </a:r>
            <a:r>
              <a:rPr lang="zh-CN" altLang="en-US" dirty="0" smtClean="0"/>
              <a:t>这样做不仅可以加快模型的收敛速度，还能有效降低因数据量小而带来的过拟合风险。</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789237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LeNet</a:t>
            </a:r>
            <a:r>
              <a:rPr lang="zh-CN" altLang="en-US" dirty="0" smtClean="0"/>
              <a:t>是卷积神经网络的奠基人 </a:t>
            </a:r>
            <a:r>
              <a:rPr lang="en-US" altLang="zh-CN" dirty="0" err="1" smtClean="0"/>
              <a:t>Yann</a:t>
            </a:r>
            <a:r>
              <a:rPr lang="en-US" altLang="zh-CN" dirty="0" smtClean="0"/>
              <a:t> </a:t>
            </a:r>
            <a:r>
              <a:rPr lang="en-US" altLang="zh-CN" dirty="0" err="1" smtClean="0"/>
              <a:t>LeCun</a:t>
            </a:r>
            <a:r>
              <a:rPr lang="zh-CN" altLang="en-US" dirty="0" smtClean="0"/>
              <a:t>在</a:t>
            </a:r>
            <a:r>
              <a:rPr lang="en-US" altLang="zh-CN" dirty="0" smtClean="0"/>
              <a:t>1998</a:t>
            </a:r>
            <a:r>
              <a:rPr lang="zh-CN" altLang="en-US" dirty="0" smtClean="0"/>
              <a:t>年提出的，用于解决手写数字识别的视觉任务。它的结构非常简单</a:t>
            </a:r>
            <a:r>
              <a:rPr lang="en-US" altLang="zh-CN" dirty="0" smtClean="0"/>
              <a:t>,</a:t>
            </a:r>
            <a:r>
              <a:rPr lang="zh-CN" altLang="en-US" dirty="0" smtClean="0"/>
              <a:t>我们通过这个简单的网络来学习时下最为流行的卷积神经网络结构。如今各大深度学习框架中使用的</a:t>
            </a:r>
            <a:r>
              <a:rPr lang="en-US" altLang="zh-CN" dirty="0" err="1" smtClean="0"/>
              <a:t>LeNet</a:t>
            </a:r>
            <a:r>
              <a:rPr lang="zh-CN" altLang="en-US" dirty="0" smtClean="0"/>
              <a:t>都是经过简化改进过的</a:t>
            </a:r>
            <a:r>
              <a:rPr lang="en-US" altLang="zh-CN" dirty="0" smtClean="0"/>
              <a:t>LeNet-5</a:t>
            </a:r>
            <a:r>
              <a:rPr lang="zh-CN" altLang="en-US" dirty="0" smtClean="0"/>
              <a:t>，如图所示，和原始的</a:t>
            </a:r>
            <a:r>
              <a:rPr lang="en-US" altLang="zh-CN" dirty="0" err="1" smtClean="0"/>
              <a:t>LeNet</a:t>
            </a:r>
            <a:r>
              <a:rPr lang="zh-CN" altLang="en-US" dirty="0" smtClean="0"/>
              <a:t>有些许不同，激活函数也从原来的 </a:t>
            </a:r>
            <a:r>
              <a:rPr lang="en-US" altLang="zh-CN" dirty="0" err="1" smtClean="0"/>
              <a:t>tanh</a:t>
            </a:r>
            <a:r>
              <a:rPr lang="en-US" altLang="zh-CN" dirty="0" smtClean="0"/>
              <a:t> </a:t>
            </a:r>
            <a:r>
              <a:rPr lang="zh-CN" altLang="en-US" dirty="0" smtClean="0"/>
              <a:t>改为现在常用的</a:t>
            </a:r>
            <a:r>
              <a:rPr lang="en-US" altLang="zh-CN" dirty="0" err="1" smtClean="0"/>
              <a:t>ReLU</a:t>
            </a:r>
            <a:r>
              <a:rPr lang="zh-CN" altLang="en-US" dirty="0" smtClean="0"/>
              <a:t>。如今的</a:t>
            </a:r>
            <a:r>
              <a:rPr lang="en-US" altLang="zh-CN" dirty="0" err="1" smtClean="0"/>
              <a:t>LeNet</a:t>
            </a:r>
            <a:r>
              <a:rPr lang="en-US" altLang="zh-CN" dirty="0" smtClean="0"/>
              <a:t> </a:t>
            </a:r>
            <a:r>
              <a:rPr lang="zh-CN" altLang="en-US" dirty="0" smtClean="0"/>
              <a:t>网络与卷积层之后紧跟池化层再接</a:t>
            </a:r>
            <a:r>
              <a:rPr lang="en-US" altLang="zh-CN" dirty="0" err="1" smtClean="0"/>
              <a:t>ReLU</a:t>
            </a:r>
            <a:r>
              <a:rPr lang="zh-CN" altLang="en-US" dirty="0" smtClean="0"/>
              <a:t>层的套路不同，而是卷积层</a:t>
            </a:r>
            <a:r>
              <a:rPr lang="en-US" altLang="zh-CN" dirty="0" smtClean="0"/>
              <a:t>1→ReLU→</a:t>
            </a:r>
            <a:r>
              <a:rPr lang="zh-CN" altLang="en-US" dirty="0" smtClean="0"/>
              <a:t>池化层</a:t>
            </a:r>
            <a:r>
              <a:rPr lang="en-US" altLang="zh-CN" dirty="0" smtClean="0"/>
              <a:t>1→</a:t>
            </a:r>
            <a:r>
              <a:rPr lang="zh-CN" altLang="en-US" dirty="0" smtClean="0"/>
              <a:t>卷积层</a:t>
            </a:r>
            <a:r>
              <a:rPr lang="en-US" altLang="zh-CN" dirty="0" smtClean="0"/>
              <a:t>2→ReLU→</a:t>
            </a:r>
            <a:r>
              <a:rPr lang="zh-CN" altLang="en-US" dirty="0" smtClean="0"/>
              <a:t>池化层</a:t>
            </a:r>
            <a:r>
              <a:rPr lang="en-US" altLang="zh-CN" dirty="0" smtClean="0"/>
              <a:t>2</a:t>
            </a:r>
            <a:r>
              <a:rPr lang="zh-CN" altLang="en-US" dirty="0" smtClean="0"/>
              <a:t>再接全连接层，但卷积层后紧接池化层的模式依旧不变。</a:t>
            </a:r>
            <a:endParaRPr lang="en-US" altLang="zh-CN" dirty="0" smtClean="0"/>
          </a:p>
          <a:p>
            <a:r>
              <a:rPr lang="zh-CN" altLang="en-US" dirty="0" smtClean="0"/>
              <a:t>接着我们对经典的</a:t>
            </a:r>
            <a:r>
              <a:rPr lang="en-US" altLang="zh-CN" dirty="0" err="1" smtClean="0"/>
              <a:t>LeNet</a:t>
            </a:r>
            <a:r>
              <a:rPr lang="en-US" altLang="zh-CN" dirty="0" smtClean="0"/>
              <a:t> </a:t>
            </a:r>
            <a:r>
              <a:rPr lang="zh-CN" altLang="en-US" dirty="0" smtClean="0"/>
              <a:t>网络做深入分析。</a:t>
            </a:r>
            <a:r>
              <a:rPr lang="en-US" altLang="zh-CN" dirty="0" err="1" smtClean="0"/>
              <a:t>LeNet</a:t>
            </a:r>
            <a:r>
              <a:rPr lang="zh-CN" altLang="en-US" dirty="0" smtClean="0"/>
              <a:t>包括卷积层和全连接层</a:t>
            </a:r>
            <a:r>
              <a:rPr lang="en-US" altLang="zh-CN" dirty="0" smtClean="0"/>
              <a:t>,</a:t>
            </a:r>
            <a:r>
              <a:rPr lang="zh-CN" altLang="en-US" dirty="0" smtClean="0"/>
              <a:t>卷积层用来识别图像里的特征、比如线条和物体的局部特征，之后的池化层用来降低卷积层对位置的敏感性。卷积层的输出形状为</a:t>
            </a:r>
            <a:r>
              <a:rPr lang="en-US" altLang="zh-CN" dirty="0" smtClean="0"/>
              <a:t>(</a:t>
            </a:r>
            <a:r>
              <a:rPr lang="zh-CN" altLang="en-US" dirty="0" smtClean="0"/>
              <a:t>批次大小</a:t>
            </a:r>
            <a:r>
              <a:rPr lang="en-US" altLang="zh-CN" dirty="0" smtClean="0"/>
              <a:t>,</a:t>
            </a:r>
            <a:r>
              <a:rPr lang="zh-CN" altLang="en-US" dirty="0" smtClean="0"/>
              <a:t>通道，高，宽</a:t>
            </a:r>
            <a:r>
              <a:rPr lang="en-US" altLang="zh-CN" dirty="0" smtClean="0"/>
              <a:t>),</a:t>
            </a:r>
            <a:r>
              <a:rPr lang="zh-CN" altLang="en-US" dirty="0" smtClean="0"/>
              <a:t>当卷积层的输出传入全连接层的时候</a:t>
            </a:r>
            <a:r>
              <a:rPr lang="en-US" altLang="zh-CN" dirty="0" smtClean="0"/>
              <a:t>,</a:t>
            </a:r>
            <a:r>
              <a:rPr lang="zh-CN" altLang="en-US" dirty="0" smtClean="0"/>
              <a:t>全连接层会对每个样本做拉伸</a:t>
            </a:r>
            <a:r>
              <a:rPr lang="en-US" altLang="zh-CN" dirty="0" smtClean="0"/>
              <a:t>(flatten)</a:t>
            </a:r>
            <a:r>
              <a:rPr lang="zh-CN" altLang="en-US" dirty="0" smtClean="0"/>
              <a:t>处理。也就是说</a:t>
            </a:r>
            <a:r>
              <a:rPr lang="en-US" altLang="zh-CN" dirty="0" smtClean="0"/>
              <a:t>,</a:t>
            </a:r>
            <a:r>
              <a:rPr lang="zh-CN" altLang="en-US" dirty="0" smtClean="0"/>
              <a:t>全连接层的输入形状将变为二维，其中第一维是批次中的样本数，第二维是每个样本拉伸后的向量表示。</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0812159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dirty="0" err="1" smtClean="0"/>
              <a:t>LeNet</a:t>
            </a:r>
            <a:r>
              <a:rPr lang="zh-CN" altLang="en-US" dirty="0" smtClean="0"/>
              <a:t>的优点显而易见：结构简单，使用参数少，模型速度快。</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右图是使用</a:t>
            </a:r>
            <a:r>
              <a:rPr lang="en-US" altLang="zh-CN" dirty="0" smtClean="0"/>
              <a:t>LeNet-5</a:t>
            </a:r>
            <a:r>
              <a:rPr lang="zh-CN" altLang="en-US" dirty="0" smtClean="0"/>
              <a:t>识别数字</a:t>
            </a:r>
            <a:r>
              <a:rPr lang="en-US" altLang="zh-CN" dirty="0" smtClean="0"/>
              <a:t>3</a:t>
            </a:r>
            <a:r>
              <a:rPr lang="zh-CN" altLang="en-US" dirty="0" smtClean="0"/>
              <a:t>的过程。</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6372074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虽然</a:t>
            </a:r>
            <a:r>
              <a:rPr lang="en-US" altLang="zh-CN" dirty="0" err="1" smtClean="0"/>
              <a:t>LeNet</a:t>
            </a:r>
            <a:r>
              <a:rPr lang="zh-CN" altLang="en-US" dirty="0" smtClean="0"/>
              <a:t>在小数据集上的表现非常好，但是在更大的真实数据集上的表现就没那么出色了</a:t>
            </a:r>
            <a:r>
              <a:rPr lang="en-US" altLang="zh-CN" dirty="0" smtClean="0"/>
              <a:t>,</a:t>
            </a:r>
            <a:r>
              <a:rPr lang="zh-CN" altLang="en-US" dirty="0" smtClean="0"/>
              <a:t>一直到</a:t>
            </a:r>
            <a:r>
              <a:rPr lang="en-US" altLang="zh-CN" dirty="0" smtClean="0"/>
              <a:t>2012</a:t>
            </a:r>
            <a:r>
              <a:rPr lang="zh-CN" altLang="en-US" dirty="0" smtClean="0"/>
              <a:t>年 </a:t>
            </a:r>
            <a:r>
              <a:rPr lang="en-US" altLang="zh-CN" dirty="0" err="1" smtClean="0"/>
              <a:t>AlexNet</a:t>
            </a:r>
            <a:r>
              <a:rPr lang="en-US" altLang="zh-CN" dirty="0" smtClean="0"/>
              <a:t> </a:t>
            </a:r>
            <a:r>
              <a:rPr lang="zh-CN" altLang="en-US" dirty="0" smtClean="0"/>
              <a:t>横空出世。本节介绍神经网络的坚守者</a:t>
            </a:r>
            <a:r>
              <a:rPr lang="en-US" altLang="zh-CN" dirty="0" smtClean="0"/>
              <a:t>Hinton </a:t>
            </a:r>
            <a:r>
              <a:rPr lang="zh-CN" altLang="en-US" dirty="0" smtClean="0"/>
              <a:t>在</a:t>
            </a:r>
            <a:r>
              <a:rPr lang="en-US" altLang="zh-CN" dirty="0" smtClean="0"/>
              <a:t>2012</a:t>
            </a:r>
            <a:r>
              <a:rPr lang="zh-CN" altLang="en-US" dirty="0" smtClean="0"/>
              <a:t>年和他的学生</a:t>
            </a:r>
            <a:r>
              <a:rPr lang="en-US" altLang="zh-CN" dirty="0" err="1" smtClean="0"/>
              <a:t>Alev</a:t>
            </a:r>
            <a:r>
              <a:rPr lang="en-US" altLang="zh-CN" dirty="0" smtClean="0"/>
              <a:t> </a:t>
            </a:r>
            <a:r>
              <a:rPr lang="en-US" altLang="zh-CN" dirty="0" err="1" smtClean="0"/>
              <a:t>Krizhevsky</a:t>
            </a:r>
            <a:r>
              <a:rPr lang="zh-CN" altLang="en-US" dirty="0" smtClean="0"/>
              <a:t>设计的</a:t>
            </a:r>
            <a:r>
              <a:rPr lang="en-US" altLang="zh-CN" dirty="0" err="1" smtClean="0"/>
              <a:t>AlexNet</a:t>
            </a:r>
            <a:r>
              <a:rPr lang="zh-CN" altLang="en-US" dirty="0" smtClean="0"/>
              <a:t>神经网络，该模型拿到了当年 </a:t>
            </a:r>
            <a:r>
              <a:rPr lang="en-US" altLang="zh-CN" dirty="0" err="1" smtClean="0"/>
              <a:t>ImageNet</a:t>
            </a:r>
            <a:r>
              <a:rPr lang="zh-CN" altLang="en-US" dirty="0" smtClean="0"/>
              <a:t>竞赛的冠军，并从此掀起了一波深度学习的热潮。</a:t>
            </a:r>
            <a:r>
              <a:rPr lang="en-US" altLang="zh-CN" dirty="0" err="1" smtClean="0"/>
              <a:t>ImageNet</a:t>
            </a:r>
            <a:r>
              <a:rPr lang="zh-CN" altLang="en-US" dirty="0" smtClean="0"/>
              <a:t>在之前有介绍过，是李飞飞团队创建的用干图像识别的十刑数据库句含超过</a:t>
            </a:r>
            <a:r>
              <a:rPr lang="en-US" altLang="zh-CN" dirty="0" smtClean="0"/>
              <a:t>1400</a:t>
            </a:r>
            <a:r>
              <a:rPr lang="zh-CN" altLang="en-US" dirty="0" smtClean="0"/>
              <a:t>万张带标记的图像。自</a:t>
            </a:r>
            <a:r>
              <a:rPr lang="en-US" altLang="zh-CN" dirty="0" smtClean="0"/>
              <a:t>2010</a:t>
            </a:r>
            <a:r>
              <a:rPr lang="zh-CN" altLang="en-US" dirty="0" smtClean="0"/>
              <a:t>年起，</a:t>
            </a:r>
            <a:r>
              <a:rPr lang="en-US" altLang="zh-CN" dirty="0" err="1" smtClean="0"/>
              <a:t>ImageNet</a:t>
            </a:r>
            <a:r>
              <a:rPr lang="zh-CN" altLang="en-US" dirty="0" smtClean="0"/>
              <a:t>每年举办一次图像分类和物体检测比赛</a:t>
            </a:r>
            <a:r>
              <a:rPr lang="en-US" altLang="zh-CN" dirty="0" smtClean="0"/>
              <a:t>——ILSVRC</a:t>
            </a:r>
            <a:r>
              <a:rPr lang="zh-CN" altLang="en-US" dirty="0" smtClean="0"/>
              <a:t>。图像分类比赛中有</a:t>
            </a:r>
            <a:r>
              <a:rPr lang="en-US" altLang="zh-CN" dirty="0" smtClean="0"/>
              <a:t>1000</a:t>
            </a:r>
            <a:r>
              <a:rPr lang="zh-CN" altLang="en-US" dirty="0" smtClean="0"/>
              <a:t>个不同类别的图像。每个类别有</a:t>
            </a:r>
            <a:r>
              <a:rPr lang="en-US" altLang="zh-CN" dirty="0" smtClean="0"/>
              <a:t>200</a:t>
            </a:r>
            <a:r>
              <a:rPr lang="zh-CN" altLang="en-US" dirty="0" smtClean="0"/>
              <a:t>～</a:t>
            </a:r>
            <a:r>
              <a:rPr lang="en-US" altLang="zh-CN" dirty="0" smtClean="0"/>
              <a:t>1000</a:t>
            </a:r>
            <a:r>
              <a:rPr lang="zh-CN" altLang="en-US" dirty="0" smtClean="0"/>
              <a:t>张不同源的图像。回到</a:t>
            </a:r>
            <a:r>
              <a:rPr lang="en-US" altLang="zh-CN" dirty="0" err="1" smtClean="0"/>
              <a:t>AlexNet</a:t>
            </a:r>
            <a:r>
              <a:rPr lang="en-US" altLang="zh-CN" dirty="0" smtClean="0"/>
              <a:t>,</a:t>
            </a:r>
            <a:r>
              <a:rPr lang="zh-CN" altLang="en-US" dirty="0" smtClean="0"/>
              <a:t>先看其网络结构</a:t>
            </a:r>
            <a:r>
              <a:rPr lang="en-US" altLang="zh-CN" dirty="0" smtClean="0"/>
              <a:t>,</a:t>
            </a:r>
            <a:r>
              <a:rPr lang="zh-CN" altLang="en-US" dirty="0" smtClean="0"/>
              <a:t>如图所示。</a:t>
            </a:r>
            <a:r>
              <a:rPr lang="en-US" altLang="zh-CN" dirty="0" err="1" smtClean="0"/>
              <a:t>AlexNet</a:t>
            </a:r>
            <a:r>
              <a:rPr lang="zh-CN" altLang="en-US" dirty="0" smtClean="0"/>
              <a:t>主要由</a:t>
            </a:r>
            <a:r>
              <a:rPr lang="en-US" altLang="zh-CN" dirty="0" smtClean="0"/>
              <a:t>5</a:t>
            </a:r>
            <a:r>
              <a:rPr lang="zh-CN" altLang="en-US" dirty="0" smtClean="0"/>
              <a:t>个卷积层和</a:t>
            </a:r>
            <a:r>
              <a:rPr lang="en-US" altLang="zh-CN" dirty="0" smtClean="0"/>
              <a:t>3</a:t>
            </a:r>
            <a:r>
              <a:rPr lang="zh-CN" altLang="en-US" dirty="0" smtClean="0"/>
              <a:t>个全连接层组成，最后一个全连接层通过</a:t>
            </a:r>
            <a:r>
              <a:rPr lang="en-US" altLang="zh-CN" dirty="0" err="1" smtClean="0"/>
              <a:t>softmax</a:t>
            </a:r>
            <a:r>
              <a:rPr lang="zh-CN" altLang="en-US" dirty="0" smtClean="0"/>
              <a:t>产生的结果作为输入图像在</a:t>
            </a:r>
            <a:r>
              <a:rPr lang="en-US" altLang="zh-CN" dirty="0" smtClean="0"/>
              <a:t>1000</a:t>
            </a:r>
            <a:r>
              <a:rPr lang="zh-CN" altLang="en-US" dirty="0" smtClean="0"/>
              <a:t>个类别（</a:t>
            </a:r>
            <a:r>
              <a:rPr lang="en-US" altLang="zh-CN" dirty="0" smtClean="0"/>
              <a:t>ILSVRC</a:t>
            </a:r>
            <a:r>
              <a:rPr lang="zh-CN" altLang="en-US" dirty="0" smtClean="0"/>
              <a:t>图像分类比赛有</a:t>
            </a:r>
            <a:r>
              <a:rPr lang="en-US" altLang="zh-CN" dirty="0" smtClean="0"/>
              <a:t>1000</a:t>
            </a:r>
            <a:r>
              <a:rPr lang="zh-CN" altLang="en-US" dirty="0" smtClean="0"/>
              <a:t>个类别）上的得分。以输入一个（</a:t>
            </a:r>
            <a:r>
              <a:rPr lang="en-US" altLang="zh-CN" dirty="0" smtClean="0"/>
              <a:t>227, 227,3</a:t>
            </a:r>
            <a:r>
              <a:rPr lang="zh-CN" altLang="en-US" dirty="0" smtClean="0"/>
              <a:t>）的图像</a:t>
            </a:r>
            <a:r>
              <a:rPr lang="en-US" altLang="zh-CN" dirty="0" smtClean="0"/>
              <a:t>(</a:t>
            </a:r>
            <a:r>
              <a:rPr lang="zh-CN" altLang="en-US" dirty="0" smtClean="0"/>
              <a:t>长和宽均为</a:t>
            </a:r>
            <a:r>
              <a:rPr lang="en-US" altLang="zh-CN" dirty="0" smtClean="0"/>
              <a:t>227</a:t>
            </a:r>
            <a:r>
              <a:rPr lang="zh-CN" altLang="en-US" dirty="0" smtClean="0"/>
              <a:t>像素的彩色图，通道数为</a:t>
            </a:r>
            <a:r>
              <a:rPr lang="en-US" altLang="zh-CN" dirty="0" smtClean="0"/>
              <a:t>3)</a:t>
            </a:r>
            <a:r>
              <a:rPr lang="zh-CN" altLang="en-US" dirty="0" smtClean="0"/>
              <a:t>为例</a:t>
            </a:r>
            <a:r>
              <a:rPr lang="en-US" altLang="zh-CN" dirty="0" smtClean="0"/>
              <a:t>,</a:t>
            </a:r>
            <a:r>
              <a:rPr lang="zh-CN" altLang="en-US" dirty="0" smtClean="0"/>
              <a:t>第一层卷积的卷积核大小为（</a:t>
            </a:r>
            <a:r>
              <a:rPr lang="en-US" altLang="zh-CN" dirty="0" smtClean="0"/>
              <a:t>11</a:t>
            </a:r>
            <a:r>
              <a:rPr lang="zh-CN" altLang="en-US" dirty="0" smtClean="0"/>
              <a:t>，</a:t>
            </a:r>
            <a:r>
              <a:rPr lang="en-US" altLang="zh-CN" dirty="0" smtClean="0"/>
              <a:t>11</a:t>
            </a:r>
            <a:r>
              <a:rPr lang="zh-CN" altLang="en-US" dirty="0" smtClean="0"/>
              <a:t>，</a:t>
            </a:r>
            <a:r>
              <a:rPr lang="en-US" altLang="zh-CN" dirty="0" smtClean="0"/>
              <a:t>3)</a:t>
            </a:r>
            <a:r>
              <a:rPr lang="zh-CN" altLang="en-US" dirty="0" smtClean="0"/>
              <a:t>，由</a:t>
            </a:r>
            <a:r>
              <a:rPr lang="en-US" altLang="zh-CN" dirty="0" smtClean="0"/>
              <a:t>96</a:t>
            </a:r>
            <a:r>
              <a:rPr lang="zh-CN" altLang="en-US" dirty="0" smtClean="0"/>
              <a:t>个卷积核组成。所有卷积核以滑动步长为</a:t>
            </a:r>
            <a:r>
              <a:rPr lang="en-US" altLang="zh-CN" dirty="0" smtClean="0"/>
              <a:t>4</a:t>
            </a:r>
            <a:r>
              <a:rPr lang="zh-CN" altLang="en-US" dirty="0" smtClean="0"/>
              <a:t>滑过整张图像，根据卷积输出层分辨率计算公式（</a:t>
            </a:r>
            <a:r>
              <a:rPr lang="en-US" altLang="zh-CN" dirty="0" smtClean="0"/>
              <a:t>W+2 x padding-kernel</a:t>
            </a:r>
            <a:r>
              <a:rPr lang="zh-CN" altLang="en-US" dirty="0" smtClean="0"/>
              <a:t>）</a:t>
            </a:r>
            <a:r>
              <a:rPr lang="en-US" altLang="zh-CN" dirty="0" smtClean="0"/>
              <a:t>/stride+1</a:t>
            </a:r>
            <a:r>
              <a:rPr lang="zh-CN" altLang="en-US" dirty="0" smtClean="0"/>
              <a:t>可得出第一个卷积层输出层分辨率大小为</a:t>
            </a:r>
            <a:r>
              <a:rPr lang="en-US" altLang="zh-CN" dirty="0" smtClean="0"/>
              <a:t>(227+2×0-11)/4+1=55</a:t>
            </a:r>
            <a:r>
              <a:rPr lang="zh-CN" altLang="en-US" dirty="0" smtClean="0"/>
              <a:t>。因此，不难得出第一层卷积最终输出尺寸为（</a:t>
            </a:r>
            <a:r>
              <a:rPr lang="en-US" altLang="zh-CN" dirty="0" smtClean="0"/>
              <a:t>55.55.96)</a:t>
            </a:r>
            <a:r>
              <a:rPr lang="zh-CN" altLang="en-US" dirty="0" smtClean="0"/>
              <a:t>。因为卷积层只有卷积核含有神经网络的参数，所以第一层卷积参数总量为</a:t>
            </a:r>
            <a:r>
              <a:rPr lang="en-US" altLang="zh-CN" dirty="0" smtClean="0"/>
              <a:t>(11x11×3)×96=35000</a:t>
            </a:r>
            <a:r>
              <a:rPr lang="zh-CN" altLang="en-US" dirty="0" smtClean="0"/>
              <a:t>。以此类推，可根据图</a:t>
            </a:r>
            <a:r>
              <a:rPr lang="en-US" altLang="zh-CN" dirty="0" smtClean="0"/>
              <a:t>5-2</a:t>
            </a:r>
            <a:r>
              <a:rPr lang="zh-CN" altLang="en-US" dirty="0" smtClean="0"/>
              <a:t>中</a:t>
            </a:r>
            <a:r>
              <a:rPr lang="en-US" altLang="zh-CN" dirty="0" err="1" smtClean="0"/>
              <a:t>AlexNet</a:t>
            </a:r>
            <a:r>
              <a:rPr lang="zh-CN" altLang="en-US" dirty="0" smtClean="0"/>
              <a:t>的网络结构推导出对应输出的大小及相应的参数个数。</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8896053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AlexNet</a:t>
            </a:r>
            <a:r>
              <a:rPr lang="zh-CN" altLang="en-US" dirty="0" smtClean="0"/>
              <a:t>有如下两个特点：</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使用</a:t>
            </a:r>
            <a:r>
              <a:rPr lang="en-US" altLang="zh-CN" dirty="0" err="1" smtClean="0"/>
              <a:t>ReLU</a:t>
            </a:r>
            <a:r>
              <a:rPr lang="zh-CN" altLang="en-US" dirty="0" smtClean="0"/>
              <a:t>作为激活函数。为了加快深度神经网络的训练速度，</a:t>
            </a:r>
            <a:r>
              <a:rPr lang="en-US" altLang="zh-CN" dirty="0" err="1" smtClean="0"/>
              <a:t>AlexNet</a:t>
            </a:r>
            <a:r>
              <a:rPr lang="zh-CN" altLang="en-US" dirty="0" smtClean="0"/>
              <a:t>将传统神经网络神经元激活函数</a:t>
            </a:r>
            <a:r>
              <a:rPr lang="en-US" altLang="zh-CN" dirty="0" smtClean="0"/>
              <a:t>f(x)= </a:t>
            </a:r>
            <a:r>
              <a:rPr lang="en-US" altLang="zh-CN" dirty="0" err="1" smtClean="0"/>
              <a:t>tanh</a:t>
            </a:r>
            <a:r>
              <a:rPr lang="en-US" altLang="zh-CN" dirty="0" smtClean="0"/>
              <a:t>(x)</a:t>
            </a:r>
            <a:r>
              <a:rPr lang="zh-CN" altLang="en-US" dirty="0" smtClean="0"/>
              <a:t>或</a:t>
            </a:r>
            <a:r>
              <a:rPr lang="en-US" altLang="zh-CN" dirty="0" smtClean="0"/>
              <a:t>f(x)=(1+e-x)-1</a:t>
            </a:r>
            <a:r>
              <a:rPr lang="zh-CN" altLang="en-US" dirty="0" smtClean="0"/>
              <a:t>改为</a:t>
            </a:r>
            <a:r>
              <a:rPr lang="en-US" altLang="zh-CN" dirty="0" smtClean="0"/>
              <a:t>f(x)=max </a:t>
            </a:r>
            <a:r>
              <a:rPr lang="zh-CN" altLang="en-US" dirty="0" smtClean="0"/>
              <a:t>（</a:t>
            </a:r>
            <a:r>
              <a:rPr lang="en-US" altLang="zh-CN" dirty="0" smtClean="0"/>
              <a:t>0;x)</a:t>
            </a:r>
            <a:r>
              <a:rPr lang="zh-CN" altLang="en-US" dirty="0" smtClean="0"/>
              <a:t>，即 </a:t>
            </a:r>
            <a:r>
              <a:rPr lang="en-US" altLang="zh-CN" dirty="0" err="1" smtClean="0"/>
              <a:t>ReLU</a:t>
            </a:r>
            <a:r>
              <a:rPr lang="zh-CN" altLang="en-US" dirty="0" smtClean="0"/>
              <a:t>。从图可以看出</a:t>
            </a:r>
            <a:r>
              <a:rPr lang="en-US" altLang="zh-CN" dirty="0" smtClean="0"/>
              <a:t>,</a:t>
            </a:r>
            <a:r>
              <a:rPr lang="zh-CN" altLang="en-US" dirty="0" smtClean="0"/>
              <a:t>从一个含有</a:t>
            </a:r>
            <a:r>
              <a:rPr lang="en-US" altLang="zh-CN" dirty="0" smtClean="0"/>
              <a:t>4</a:t>
            </a:r>
            <a:r>
              <a:rPr lang="zh-CN" altLang="en-US" dirty="0" smtClean="0"/>
              <a:t>层卷积的神经网络上看，相比</a:t>
            </a:r>
            <a:r>
              <a:rPr lang="en-US" altLang="zh-CN" dirty="0" err="1" smtClean="0"/>
              <a:t>tanh</a:t>
            </a:r>
            <a:r>
              <a:rPr lang="zh-CN" altLang="en-US" dirty="0" smtClean="0"/>
              <a:t>函数，</a:t>
            </a:r>
            <a:r>
              <a:rPr lang="en-US" altLang="zh-CN" dirty="0" err="1" smtClean="0"/>
              <a:t>ReLU</a:t>
            </a:r>
            <a:r>
              <a:rPr lang="zh-CN" altLang="en-US" dirty="0" smtClean="0"/>
              <a:t>的收敛速度快了好几倍。当训练误差同为</a:t>
            </a:r>
            <a:r>
              <a:rPr lang="en-US" altLang="zh-CN" dirty="0" smtClean="0"/>
              <a:t>25%</a:t>
            </a:r>
            <a:r>
              <a:rPr lang="zh-CN" altLang="en-US" dirty="0" smtClean="0"/>
              <a:t>时</a:t>
            </a:r>
            <a:r>
              <a:rPr lang="en-US" altLang="zh-CN" dirty="0" smtClean="0"/>
              <a:t>,</a:t>
            </a:r>
            <a:r>
              <a:rPr lang="en-US" altLang="zh-CN" dirty="0" err="1" smtClean="0"/>
              <a:t>ReLU</a:t>
            </a:r>
            <a:r>
              <a:rPr lang="zh-CN" altLang="en-US" dirty="0" smtClean="0"/>
              <a:t>经过约</a:t>
            </a:r>
            <a:r>
              <a:rPr lang="en-US" altLang="zh-CN" dirty="0" smtClean="0"/>
              <a:t>5</a:t>
            </a:r>
            <a:r>
              <a:rPr lang="zh-CN" altLang="en-US" dirty="0" smtClean="0"/>
              <a:t>次迭代即可达到</a:t>
            </a:r>
            <a:r>
              <a:rPr lang="en-US" altLang="zh-CN" dirty="0" err="1" smtClean="0"/>
              <a:t>tanh</a:t>
            </a:r>
            <a:r>
              <a:rPr lang="zh-CN" altLang="en-US" dirty="0" smtClean="0"/>
              <a:t>迭代</a:t>
            </a:r>
            <a:r>
              <a:rPr lang="en-US" altLang="zh-CN" dirty="0" smtClean="0"/>
              <a:t>35</a:t>
            </a:r>
            <a:r>
              <a:rPr lang="zh-CN" altLang="en-US" dirty="0" smtClean="0"/>
              <a:t>次的效果。</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经过分析可知，</a:t>
            </a:r>
            <a:r>
              <a:rPr lang="en-US" altLang="zh-CN" dirty="0" err="1" smtClean="0"/>
              <a:t>AlexNet</a:t>
            </a:r>
            <a:r>
              <a:rPr lang="zh-CN" altLang="en-US" dirty="0" smtClean="0"/>
              <a:t>有超过</a:t>
            </a:r>
            <a:r>
              <a:rPr lang="en-US" altLang="zh-CN" dirty="0" smtClean="0"/>
              <a:t>6</a:t>
            </a:r>
            <a:r>
              <a:rPr lang="zh-CN" altLang="en-US" dirty="0" smtClean="0"/>
              <a:t>千万个参数，虽然</a:t>
            </a:r>
            <a:r>
              <a:rPr lang="en-US" altLang="zh-CN" dirty="0" smtClean="0"/>
              <a:t>ILSVRC</a:t>
            </a:r>
            <a:r>
              <a:rPr lang="zh-CN" altLang="en-US" dirty="0" smtClean="0"/>
              <a:t>比赛有大量训练数据，但仍很难完成数量如此庞大的参数训练，从而导致严重的过拟合问题。</a:t>
            </a:r>
            <a:r>
              <a:rPr lang="en-US" altLang="zh-CN" dirty="0" err="1" smtClean="0"/>
              <a:t>AlexNet</a:t>
            </a:r>
            <a:r>
              <a:rPr lang="zh-CN" altLang="en-US" dirty="0" smtClean="0"/>
              <a:t>巧妙地用下面两种方法处理了这个问题。</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在图像领域</a:t>
            </a:r>
            <a:r>
              <a:rPr lang="en-US" altLang="zh-CN" dirty="0" smtClean="0"/>
              <a:t>,</a:t>
            </a:r>
            <a:r>
              <a:rPr lang="zh-CN" altLang="en-US" dirty="0" smtClean="0"/>
              <a:t>避免过拟合最简单也最常用的方法就是增强数据集。这里介绍一些比较常见的数据增强方法。</a:t>
            </a:r>
            <a:endParaRPr lang="en-US" altLang="zh-CN" dirty="0" smtClean="0"/>
          </a:p>
          <a:p>
            <a:r>
              <a:rPr lang="en-US" altLang="zh-CN" dirty="0" smtClean="0"/>
              <a:t>1</a:t>
            </a:r>
            <a:r>
              <a:rPr lang="zh-CN" altLang="en-US" dirty="0" smtClean="0"/>
              <a:t>）对原始图像做随机裁剪。如原始输入图像尺寸为（</a:t>
            </a:r>
            <a:r>
              <a:rPr lang="en-US" altLang="zh-CN" dirty="0" smtClean="0"/>
              <a:t>256,256),</a:t>
            </a:r>
            <a:r>
              <a:rPr lang="zh-CN" altLang="en-US" dirty="0" smtClean="0"/>
              <a:t>训练时随机从（</a:t>
            </a:r>
            <a:r>
              <a:rPr lang="en-US" altLang="zh-CN" dirty="0" smtClean="0"/>
              <a:t>256,256</a:t>
            </a:r>
            <a:r>
              <a:rPr lang="zh-CN" altLang="en-US" dirty="0" smtClean="0"/>
              <a:t>）的图像上裁剪（</a:t>
            </a:r>
            <a:r>
              <a:rPr lang="en-US" altLang="zh-CN" dirty="0" smtClean="0"/>
              <a:t>224</a:t>
            </a:r>
            <a:r>
              <a:rPr lang="zh-CN" altLang="en-US" dirty="0" smtClean="0"/>
              <a:t>，</a:t>
            </a:r>
            <a:r>
              <a:rPr lang="en-US" altLang="zh-CN" dirty="0" smtClean="0"/>
              <a:t>224</a:t>
            </a:r>
            <a:r>
              <a:rPr lang="zh-CN" altLang="en-US" dirty="0" smtClean="0"/>
              <a:t>）的图像作为网络的输入。</a:t>
            </a:r>
            <a:r>
              <a:rPr lang="en-US" altLang="zh-CN" dirty="0" smtClean="0"/>
              <a:t>2</a:t>
            </a:r>
            <a:r>
              <a:rPr lang="zh-CN" altLang="en-US" dirty="0" smtClean="0"/>
              <a:t>）一些其他常见的数据增强方法，如训练时对原始图像进行随机上下翻转、左右翻转、平移、缩放、旋转等，在实践中都有很好的效果，只是</a:t>
            </a:r>
            <a:r>
              <a:rPr lang="en-US" altLang="zh-CN" dirty="0" err="1" smtClean="0"/>
              <a:t>AlexNet</a:t>
            </a:r>
            <a:r>
              <a:rPr lang="zh-CN" altLang="en-US" dirty="0" smtClean="0"/>
              <a:t>中并没有全部用到。</a:t>
            </a:r>
            <a:endParaRPr lang="en-US" altLang="zh-CN" dirty="0" smtClean="0"/>
          </a:p>
          <a:p>
            <a:r>
              <a:rPr lang="zh-CN" altLang="en-US" dirty="0" smtClean="0"/>
              <a:t>使用</a:t>
            </a:r>
            <a:r>
              <a:rPr lang="en-US" altLang="zh-CN" dirty="0" smtClean="0"/>
              <a:t>dropout</a:t>
            </a:r>
            <a:r>
              <a:rPr lang="zh-CN" altLang="en-US" dirty="0" smtClean="0"/>
              <a:t>方法一方面是为了避免模型过拟合</a:t>
            </a:r>
            <a:r>
              <a:rPr lang="en-US" altLang="zh-CN" dirty="0" smtClean="0"/>
              <a:t>,</a:t>
            </a:r>
            <a:r>
              <a:rPr lang="zh-CN" altLang="en-US" dirty="0" smtClean="0"/>
              <a:t>另一方面是使用更有效的方式进行模型融合。具体方法是在训练时让神经网络中每一个中间层神经元以一定的概率（比如</a:t>
            </a:r>
            <a:r>
              <a:rPr lang="en-US" altLang="zh-CN" dirty="0" smtClean="0"/>
              <a:t>0.5</a:t>
            </a:r>
            <a:r>
              <a:rPr lang="zh-CN" altLang="en-US" dirty="0" smtClean="0"/>
              <a:t>）置为</a:t>
            </a:r>
            <a:r>
              <a:rPr lang="en-US" altLang="zh-CN" dirty="0" smtClean="0"/>
              <a:t>0</a:t>
            </a:r>
            <a:r>
              <a:rPr lang="zh-CN" altLang="en-US" dirty="0" smtClean="0"/>
              <a:t>。当某个神经元被置为</a:t>
            </a:r>
            <a:r>
              <a:rPr lang="en-US" altLang="zh-CN" dirty="0" smtClean="0"/>
              <a:t>0</a:t>
            </a:r>
            <a:r>
              <a:rPr lang="zh-CN" altLang="en-US" dirty="0" smtClean="0"/>
              <a:t>时</a:t>
            </a:r>
            <a:r>
              <a:rPr lang="en-US" altLang="zh-CN" dirty="0" smtClean="0"/>
              <a:t>,</a:t>
            </a:r>
            <a:r>
              <a:rPr lang="zh-CN" altLang="en-US" dirty="0" smtClean="0"/>
              <a:t>它不会参与前向传播以及反向回传的计算。因此</a:t>
            </a:r>
            <a:r>
              <a:rPr lang="en-US" altLang="zh-CN" dirty="0" smtClean="0"/>
              <a:t>,</a:t>
            </a:r>
            <a:r>
              <a:rPr lang="zh-CN" altLang="en-US" dirty="0" smtClean="0"/>
              <a:t>每当有一个新的图像输入</a:t>
            </a:r>
            <a:r>
              <a:rPr lang="en-US" altLang="zh-CN" dirty="0" smtClean="0"/>
              <a:t>,</a:t>
            </a:r>
            <a:r>
              <a:rPr lang="zh-CN" altLang="en-US" dirty="0" smtClean="0"/>
              <a:t>就意味着网络随机采样出一个新的网络结构</a:t>
            </a:r>
            <a:r>
              <a:rPr lang="en-US" altLang="zh-CN" dirty="0" smtClean="0"/>
              <a:t>,</a:t>
            </a:r>
            <a:r>
              <a:rPr lang="zh-CN" altLang="en-US" dirty="0" smtClean="0"/>
              <a:t>而整个网络的权重一直是共享的。</a:t>
            </a:r>
            <a:endParaRPr lang="en-US" altLang="zh-CN" dirty="0" smtClean="0"/>
          </a:p>
          <a:p>
            <a:r>
              <a:rPr lang="zh-CN" altLang="en-US" dirty="0" smtClean="0"/>
              <a:t>从感性的角度讲，</a:t>
            </a:r>
            <a:r>
              <a:rPr lang="en-US" altLang="zh-CN" dirty="0" smtClean="0"/>
              <a:t>dropout</a:t>
            </a:r>
            <a:r>
              <a:rPr lang="zh-CN" altLang="en-US" dirty="0" smtClean="0"/>
              <a:t>方法强迫神经网络学习出更稳定的特征（因为在训练过程中，随机屏蔽一些权重的同时要保证算法效果，所以学习出来的模型相对更加稳定</a:t>
            </a:r>
            <a:r>
              <a:rPr lang="en-US" altLang="zh-CN" dirty="0" smtClean="0"/>
              <a:t>)</a:t>
            </a:r>
            <a:r>
              <a:rPr lang="zh-CN" altLang="en-US" dirty="0" smtClean="0"/>
              <a:t>。预测时使用所有的神经元</a:t>
            </a:r>
            <a:r>
              <a:rPr lang="en-US" altLang="zh-CN" dirty="0" smtClean="0"/>
              <a:t>,</a:t>
            </a:r>
            <a:r>
              <a:rPr lang="zh-CN" altLang="en-US" dirty="0" smtClean="0"/>
              <a:t>但将其所有输出乘以</a:t>
            </a:r>
            <a:r>
              <a:rPr lang="en-US" altLang="zh-CN" dirty="0" smtClean="0"/>
              <a:t>0.5</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7201002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2012</a:t>
            </a:r>
            <a:r>
              <a:rPr lang="zh-CN" altLang="en-US" dirty="0" smtClean="0"/>
              <a:t>年，</a:t>
            </a:r>
            <a:r>
              <a:rPr lang="en-US" altLang="zh-CN" dirty="0" err="1" smtClean="0"/>
              <a:t>AlexNet</a:t>
            </a:r>
            <a:r>
              <a:rPr lang="zh-CN" altLang="en-US" dirty="0" smtClean="0"/>
              <a:t>使用</a:t>
            </a:r>
            <a:r>
              <a:rPr lang="en-US" altLang="zh-CN" dirty="0" smtClean="0"/>
              <a:t>8</a:t>
            </a:r>
            <a:r>
              <a:rPr lang="zh-CN" altLang="en-US" dirty="0" smtClean="0"/>
              <a:t>层神经网络以</a:t>
            </a:r>
            <a:r>
              <a:rPr lang="en-US" altLang="zh-CN" dirty="0" smtClean="0"/>
              <a:t>top1(</a:t>
            </a:r>
            <a:r>
              <a:rPr lang="zh-CN" altLang="en-US" dirty="0" smtClean="0"/>
              <a:t>指排名第一的类别与实际结果相符的准确率）分类误差</a:t>
            </a:r>
            <a:r>
              <a:rPr lang="en-US" altLang="zh-CN" dirty="0" smtClean="0"/>
              <a:t>16.4%</a:t>
            </a:r>
            <a:r>
              <a:rPr lang="zh-CN" altLang="en-US" dirty="0" smtClean="0"/>
              <a:t>的成绩摘得</a:t>
            </a:r>
            <a:r>
              <a:rPr lang="en-US" altLang="zh-CN" dirty="0" smtClean="0"/>
              <a:t>ILSVRC </a:t>
            </a:r>
            <a:r>
              <a:rPr lang="zh-CN" altLang="en-US" dirty="0" smtClean="0"/>
              <a:t>比赛桂冠。</a:t>
            </a:r>
            <a:r>
              <a:rPr lang="en-US" altLang="zh-CN" dirty="0" smtClean="0"/>
              <a:t>2013</a:t>
            </a:r>
            <a:r>
              <a:rPr lang="zh-CN" altLang="en-US" dirty="0" smtClean="0"/>
              <a:t>年，</a:t>
            </a:r>
            <a:r>
              <a:rPr lang="en-US" altLang="zh-CN" dirty="0" err="1" smtClean="0"/>
              <a:t>ZFNet</a:t>
            </a:r>
            <a:r>
              <a:rPr lang="zh-CN" altLang="en-US" dirty="0" smtClean="0"/>
              <a:t>在</a:t>
            </a:r>
            <a:r>
              <a:rPr lang="en-US" altLang="zh-CN" dirty="0" err="1" smtClean="0"/>
              <a:t>AlexNet</a:t>
            </a:r>
            <a:r>
              <a:rPr lang="zh-CN" altLang="en-US" dirty="0" smtClean="0"/>
              <a:t>的基础上做了超参的调整，使</a:t>
            </a:r>
            <a:r>
              <a:rPr lang="en-US" altLang="zh-CN" dirty="0" smtClean="0"/>
              <a:t>top1</a:t>
            </a:r>
            <a:r>
              <a:rPr lang="zh-CN" altLang="en-US" dirty="0" smtClean="0"/>
              <a:t>分类误差降到</a:t>
            </a:r>
            <a:r>
              <a:rPr lang="en-US" altLang="zh-CN" dirty="0" smtClean="0"/>
              <a:t>11.7%</a:t>
            </a:r>
            <a:r>
              <a:rPr lang="zh-CN" altLang="en-US" dirty="0" smtClean="0"/>
              <a:t>，并成为新的冠军。</a:t>
            </a:r>
            <a:r>
              <a:rPr lang="en-US" altLang="zh-CN" dirty="0" err="1" smtClean="0"/>
              <a:t>ZFNet</a:t>
            </a:r>
            <a:r>
              <a:rPr lang="zh-CN" altLang="en-US" dirty="0" smtClean="0"/>
              <a:t>将</a:t>
            </a:r>
            <a:r>
              <a:rPr lang="en-US" altLang="zh-CN" dirty="0" err="1" smtClean="0"/>
              <a:t>AlexNet</a:t>
            </a:r>
            <a:r>
              <a:rPr lang="en-US" altLang="zh-CN" dirty="0" smtClean="0"/>
              <a:t> </a:t>
            </a:r>
            <a:r>
              <a:rPr lang="zh-CN" altLang="en-US" dirty="0" smtClean="0"/>
              <a:t>的第一个卷积层从卷积核尺寸（</a:t>
            </a:r>
            <a:r>
              <a:rPr lang="en-US" altLang="zh-CN" dirty="0" smtClean="0"/>
              <a:t>11</a:t>
            </a:r>
            <a:r>
              <a:rPr lang="zh-CN" altLang="en-US" dirty="0" smtClean="0"/>
              <a:t>，</a:t>
            </a:r>
            <a:r>
              <a:rPr lang="en-US" altLang="zh-CN" dirty="0" smtClean="0"/>
              <a:t>11)</a:t>
            </a:r>
            <a:r>
              <a:rPr lang="zh-CN" altLang="en-US" dirty="0" smtClean="0"/>
              <a:t>、滑动步长</a:t>
            </a:r>
            <a:r>
              <a:rPr lang="en-US" altLang="zh-CN" dirty="0" smtClean="0"/>
              <a:t>4</a:t>
            </a:r>
            <a:r>
              <a:rPr lang="zh-CN" altLang="en-US" dirty="0" smtClean="0"/>
              <a:t>改为卷积核尺寸</a:t>
            </a:r>
            <a:r>
              <a:rPr lang="en-US" altLang="zh-CN" dirty="0" smtClean="0"/>
              <a:t>(7,7)</a:t>
            </a:r>
            <a:r>
              <a:rPr lang="zh-CN" altLang="en-US" dirty="0" smtClean="0"/>
              <a:t>、滑动步长</a:t>
            </a:r>
            <a:r>
              <a:rPr lang="en-US" altLang="zh-CN" dirty="0" smtClean="0"/>
              <a:t>2;</a:t>
            </a:r>
            <a:r>
              <a:rPr lang="zh-CN" altLang="en-US" dirty="0" smtClean="0"/>
              <a:t>第</a:t>
            </a:r>
            <a:r>
              <a:rPr lang="en-US" altLang="zh-CN" dirty="0" smtClean="0"/>
              <a:t>3</a:t>
            </a:r>
            <a:r>
              <a:rPr lang="zh-CN" altLang="en-US" dirty="0" smtClean="0"/>
              <a:t>～</a:t>
            </a:r>
            <a:r>
              <a:rPr lang="en-US" altLang="zh-CN" dirty="0" smtClean="0"/>
              <a:t>5</a:t>
            </a:r>
            <a:r>
              <a:rPr lang="zh-CN" altLang="en-US" dirty="0" smtClean="0"/>
              <a:t>层卷积的卷积核个数分别从</a:t>
            </a:r>
            <a:r>
              <a:rPr lang="en-US" altLang="zh-CN" dirty="0" smtClean="0"/>
              <a:t>384</a:t>
            </a:r>
            <a:r>
              <a:rPr lang="zh-CN" altLang="en-US" dirty="0" smtClean="0"/>
              <a:t>、</a:t>
            </a:r>
            <a:r>
              <a:rPr lang="en-US" altLang="zh-CN" dirty="0" smtClean="0"/>
              <a:t>384</a:t>
            </a:r>
            <a:r>
              <a:rPr lang="zh-CN" altLang="en-US" dirty="0" smtClean="0"/>
              <a:t>、</a:t>
            </a:r>
            <a:r>
              <a:rPr lang="en-US" altLang="zh-CN" dirty="0" smtClean="0"/>
              <a:t>256</a:t>
            </a:r>
            <a:r>
              <a:rPr lang="zh-CN" altLang="en-US" dirty="0" smtClean="0"/>
              <a:t>改为</a:t>
            </a:r>
            <a:r>
              <a:rPr lang="en-US" altLang="zh-CN" dirty="0" smtClean="0"/>
              <a:t>512</a:t>
            </a:r>
            <a:r>
              <a:rPr lang="zh-CN" altLang="en-US" dirty="0" smtClean="0"/>
              <a:t>、</a:t>
            </a:r>
            <a:r>
              <a:rPr lang="en-US" altLang="zh-CN" dirty="0" smtClean="0"/>
              <a:t>1024</a:t>
            </a:r>
            <a:r>
              <a:rPr lang="zh-CN" altLang="en-US" dirty="0" smtClean="0"/>
              <a:t>和</a:t>
            </a:r>
            <a:r>
              <a:rPr lang="en-US" altLang="zh-CN" dirty="0" smtClean="0"/>
              <a:t>512</a:t>
            </a:r>
            <a:r>
              <a:rPr lang="zh-CN" altLang="en-US" dirty="0" smtClean="0"/>
              <a:t>。</a:t>
            </a:r>
            <a:r>
              <a:rPr lang="en-US" altLang="zh-CN" dirty="0" smtClean="0"/>
              <a:t>2014</a:t>
            </a:r>
            <a:r>
              <a:rPr lang="zh-CN" altLang="en-US" dirty="0" smtClean="0"/>
              <a:t>年</a:t>
            </a:r>
            <a:r>
              <a:rPr lang="en-US" altLang="zh-CN" dirty="0" smtClean="0"/>
              <a:t>,</a:t>
            </a:r>
            <a:r>
              <a:rPr lang="en-US" altLang="zh-CN" dirty="0" err="1" smtClean="0"/>
              <a:t>Simonyan</a:t>
            </a:r>
            <a:r>
              <a:rPr lang="zh-CN" altLang="en-US" dirty="0" smtClean="0"/>
              <a:t>和 </a:t>
            </a:r>
            <a:r>
              <a:rPr lang="en-US" altLang="zh-CN" dirty="0" err="1" smtClean="0"/>
              <a:t>Zisserman</a:t>
            </a:r>
            <a:r>
              <a:rPr lang="zh-CN" altLang="en-US" dirty="0" smtClean="0"/>
              <a:t>设计了层次更深并且卷积核更小的 </a:t>
            </a:r>
            <a:r>
              <a:rPr lang="en-US" altLang="zh-CN" dirty="0" err="1" smtClean="0"/>
              <a:t>VGGNet</a:t>
            </a:r>
            <a:r>
              <a:rPr lang="zh-CN" altLang="en-US" dirty="0" smtClean="0"/>
              <a:t>模型</a:t>
            </a:r>
            <a:r>
              <a:rPr lang="en-US" altLang="zh-CN" dirty="0" smtClean="0"/>
              <a:t>,</a:t>
            </a:r>
            <a:r>
              <a:rPr lang="zh-CN" altLang="en-US" dirty="0" smtClean="0"/>
              <a:t>下图是分类比赛误差比较。</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4916295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2014</a:t>
            </a:r>
            <a:r>
              <a:rPr lang="zh-CN" altLang="en-US" dirty="0" smtClean="0"/>
              <a:t>年，参加</a:t>
            </a:r>
            <a:r>
              <a:rPr lang="en-US" altLang="zh-CN" dirty="0" smtClean="0"/>
              <a:t>ILSVRC</a:t>
            </a:r>
            <a:r>
              <a:rPr lang="zh-CN" altLang="en-US" dirty="0" smtClean="0"/>
              <a:t>比赛的</a:t>
            </a:r>
            <a:r>
              <a:rPr lang="en-US" altLang="zh-CN" dirty="0" smtClean="0"/>
              <a:t>VGG</a:t>
            </a:r>
            <a:r>
              <a:rPr lang="zh-CN" altLang="en-US" dirty="0" smtClean="0"/>
              <a:t>队在</a:t>
            </a:r>
            <a:r>
              <a:rPr lang="en-US" altLang="zh-CN" dirty="0" err="1" smtClean="0"/>
              <a:t>ImageNet</a:t>
            </a:r>
            <a:r>
              <a:rPr lang="zh-CN" altLang="en-US" dirty="0" smtClean="0"/>
              <a:t>比赛中获得了亚军。</a:t>
            </a:r>
            <a:r>
              <a:rPr lang="en-US" altLang="zh-CN" dirty="0" err="1" smtClean="0"/>
              <a:t>VGGNet</a:t>
            </a:r>
            <a:r>
              <a:rPr lang="zh-CN" altLang="en-US" dirty="0" smtClean="0"/>
              <a:t>的核心思想是利用较小的卷积核增加网络的深度</a:t>
            </a:r>
            <a:r>
              <a:rPr lang="en-US" altLang="zh-CN" dirty="0" smtClean="0"/>
              <a:t>,</a:t>
            </a:r>
            <a:r>
              <a:rPr lang="en-US" altLang="zh-CN" dirty="0" err="1" smtClean="0"/>
              <a:t>VGGNet</a:t>
            </a:r>
            <a:r>
              <a:rPr lang="zh-CN" altLang="en-US" dirty="0" smtClean="0"/>
              <a:t>网络结构清晰简洁，虽然已经发表多年，但目前仍有非常广泛的应用。</a:t>
            </a:r>
            <a:r>
              <a:rPr lang="en-US" altLang="zh-CN" dirty="0" smtClean="0"/>
              <a:t>VGG</a:t>
            </a:r>
            <a:r>
              <a:rPr lang="zh-CN" altLang="en-US" dirty="0" smtClean="0"/>
              <a:t>的</a:t>
            </a:r>
            <a:r>
              <a:rPr lang="zh-CN" altLang="en-US" sz="1200" b="0" i="0" kern="1200" dirty="0" smtClean="0">
                <a:solidFill>
                  <a:schemeClr val="tx1"/>
                </a:solidFill>
                <a:effectLst/>
                <a:latin typeface="+mn-lt"/>
                <a:ea typeface="+mn-ea"/>
                <a:cs typeface="+mn-cs"/>
              </a:rPr>
              <a:t>主要工作是证明了增加网络的深度能够在一定程度上影响网络最终的性能。</a:t>
            </a:r>
            <a:r>
              <a:rPr lang="en-US" altLang="zh-CN" sz="1200" b="0" i="0" kern="1200" dirty="0" smtClean="0">
                <a:solidFill>
                  <a:schemeClr val="tx1"/>
                </a:solidFill>
                <a:effectLst/>
                <a:latin typeface="+mn-lt"/>
                <a:ea typeface="+mn-ea"/>
                <a:cs typeface="+mn-cs"/>
              </a:rPr>
              <a:t>VGG</a:t>
            </a:r>
            <a:r>
              <a:rPr lang="zh-CN" altLang="en-US" sz="1200" b="0" i="0" kern="1200" dirty="0" smtClean="0">
                <a:solidFill>
                  <a:schemeClr val="tx1"/>
                </a:solidFill>
                <a:effectLst/>
                <a:latin typeface="+mn-lt"/>
                <a:ea typeface="+mn-ea"/>
                <a:cs typeface="+mn-cs"/>
              </a:rPr>
              <a:t>有两种结构，分别是</a:t>
            </a:r>
            <a:r>
              <a:rPr lang="en-US" altLang="zh-CN" sz="1200" b="0" i="0" kern="1200" dirty="0" smtClean="0">
                <a:solidFill>
                  <a:schemeClr val="tx1"/>
                </a:solidFill>
                <a:effectLst/>
                <a:latin typeface="+mn-lt"/>
                <a:ea typeface="+mn-ea"/>
                <a:cs typeface="+mn-cs"/>
              </a:rPr>
              <a:t>VGG16</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VGG19</a:t>
            </a:r>
            <a:r>
              <a:rPr lang="zh-CN" altLang="en-US" sz="1200" b="0" i="0" kern="1200" dirty="0" smtClean="0">
                <a:solidFill>
                  <a:schemeClr val="tx1"/>
                </a:solidFill>
                <a:effectLst/>
                <a:latin typeface="+mn-lt"/>
                <a:ea typeface="+mn-ea"/>
                <a:cs typeface="+mn-cs"/>
              </a:rPr>
              <a:t>，两者并没有本质上的区别，只是网络深度不一样。</a:t>
            </a:r>
            <a:r>
              <a:rPr lang="en-US" altLang="zh-CN" dirty="0" smtClean="0"/>
              <a:t>VGG16</a:t>
            </a:r>
            <a:r>
              <a:rPr lang="zh-CN" altLang="en-US" dirty="0" smtClean="0"/>
              <a:t>拥有</a:t>
            </a:r>
            <a:r>
              <a:rPr lang="en-US" altLang="zh-CN" dirty="0" smtClean="0"/>
              <a:t>13</a:t>
            </a:r>
            <a:r>
              <a:rPr lang="zh-CN" altLang="en-US" dirty="0" smtClean="0"/>
              <a:t>个核大小均为</a:t>
            </a:r>
            <a:r>
              <a:rPr lang="en-US" altLang="zh-CN" dirty="0" smtClean="0"/>
              <a:t>(3</a:t>
            </a:r>
            <a:r>
              <a:rPr lang="zh-CN" altLang="en-US" dirty="0" smtClean="0"/>
              <a:t>，</a:t>
            </a:r>
            <a:r>
              <a:rPr lang="en-US" altLang="zh-CN" dirty="0" smtClean="0"/>
              <a:t>3</a:t>
            </a:r>
            <a:r>
              <a:rPr lang="zh-CN" altLang="en-US" dirty="0" smtClean="0"/>
              <a:t>）的卷积层、</a:t>
            </a:r>
            <a:r>
              <a:rPr lang="en-US" altLang="zh-CN" dirty="0" smtClean="0"/>
              <a:t>5</a:t>
            </a:r>
            <a:r>
              <a:rPr lang="zh-CN" altLang="en-US" dirty="0" smtClean="0"/>
              <a:t>个最大池化层和</a:t>
            </a:r>
            <a:r>
              <a:rPr lang="en-US" altLang="zh-CN" dirty="0" smtClean="0"/>
              <a:t>3</a:t>
            </a:r>
            <a:r>
              <a:rPr lang="zh-CN" altLang="en-US" dirty="0" smtClean="0"/>
              <a:t>个全连接层。</a:t>
            </a:r>
            <a:r>
              <a:rPr lang="en-US" altLang="zh-CN" dirty="0" smtClean="0"/>
              <a:t>VGG19</a:t>
            </a:r>
            <a:r>
              <a:rPr lang="zh-CN" altLang="en-US" dirty="0" smtClean="0"/>
              <a:t>拥有</a:t>
            </a:r>
            <a:r>
              <a:rPr lang="en-US" altLang="zh-CN" dirty="0" smtClean="0"/>
              <a:t>16</a:t>
            </a:r>
            <a:r>
              <a:rPr lang="zh-CN" altLang="en-US" dirty="0" smtClean="0"/>
              <a:t>个核大小均为</a:t>
            </a:r>
            <a:r>
              <a:rPr lang="en-US" altLang="zh-CN" dirty="0" smtClean="0"/>
              <a:t>(3,3</a:t>
            </a:r>
            <a:r>
              <a:rPr lang="zh-CN" altLang="en-US" dirty="0" smtClean="0"/>
              <a:t>）的卷积层、</a:t>
            </a:r>
            <a:r>
              <a:rPr lang="en-US" altLang="zh-CN" dirty="0" smtClean="0"/>
              <a:t>5</a:t>
            </a:r>
            <a:r>
              <a:rPr lang="zh-CN" altLang="en-US" dirty="0" smtClean="0"/>
              <a:t>个最大池化层和</a:t>
            </a:r>
            <a:r>
              <a:rPr lang="en-US" altLang="zh-CN" dirty="0" smtClean="0"/>
              <a:t>3</a:t>
            </a:r>
            <a:r>
              <a:rPr lang="zh-CN" altLang="en-US" dirty="0" smtClean="0"/>
              <a:t>个全连接层。</a:t>
            </a:r>
            <a:r>
              <a:rPr lang="en-US" altLang="zh-CN" dirty="0" smtClean="0"/>
              <a:t>VGG19</a:t>
            </a:r>
            <a:r>
              <a:rPr lang="zh-CN" altLang="en-US" dirty="0" smtClean="0"/>
              <a:t>和</a:t>
            </a:r>
            <a:r>
              <a:rPr lang="en-US" altLang="zh-CN" dirty="0" smtClean="0"/>
              <a:t>VGG16</a:t>
            </a:r>
            <a:r>
              <a:rPr lang="zh-CN" altLang="en-US" dirty="0" smtClean="0"/>
              <a:t>的区别仅在后三个卷积</a:t>
            </a:r>
            <a:r>
              <a:rPr lang="en-US" altLang="zh-CN" dirty="0" smtClean="0"/>
              <a:t>+</a:t>
            </a:r>
            <a:r>
              <a:rPr lang="zh-CN" altLang="en-US" dirty="0" smtClean="0"/>
              <a:t>池化层组中多加了一个卷积层。</a:t>
            </a:r>
            <a:endParaRPr lang="en-US" altLang="zh-CN" dirty="0" smtClean="0"/>
          </a:p>
          <a:p>
            <a:r>
              <a:rPr lang="en-US" altLang="zh-CN" dirty="0" smtClean="0"/>
              <a:t>16</a:t>
            </a:r>
            <a:r>
              <a:rPr lang="zh-CN" altLang="en-US" dirty="0" smtClean="0"/>
              <a:t>和</a:t>
            </a:r>
            <a:r>
              <a:rPr lang="en-US" altLang="zh-CN" dirty="0" smtClean="0"/>
              <a:t>19</a:t>
            </a:r>
            <a:r>
              <a:rPr lang="zh-CN" altLang="en-US" dirty="0" smtClean="0"/>
              <a:t>的由来：</a:t>
            </a:r>
            <a:r>
              <a:rPr lang="en-US" altLang="zh-CN" dirty="0" smtClean="0"/>
              <a:t>16=13</a:t>
            </a:r>
            <a:r>
              <a:rPr lang="zh-CN" altLang="en-US" dirty="0" smtClean="0"/>
              <a:t>（卷积层）</a:t>
            </a:r>
            <a:r>
              <a:rPr lang="en-US" altLang="zh-CN" dirty="0" smtClean="0"/>
              <a:t>+3</a:t>
            </a:r>
            <a:r>
              <a:rPr lang="zh-CN" altLang="en-US" dirty="0" smtClean="0"/>
              <a:t>（全连接层），</a:t>
            </a:r>
            <a:r>
              <a:rPr lang="en-US" altLang="zh-CN" dirty="0" smtClean="0"/>
              <a:t>19=16</a:t>
            </a:r>
            <a:r>
              <a:rPr lang="zh-CN" altLang="en-US" dirty="0" smtClean="0"/>
              <a:t>（卷积层）</a:t>
            </a:r>
            <a:r>
              <a:rPr lang="en-US" altLang="zh-CN" dirty="0" smtClean="0"/>
              <a:t>+3</a:t>
            </a:r>
            <a:r>
              <a:rPr lang="zh-CN" altLang="en-US" dirty="0" smtClean="0"/>
              <a:t>（全连接层）由于池化层不涉及权重参数，不属于权重层，因此未被计数。</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42124921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VGG</a:t>
            </a:r>
            <a:r>
              <a:rPr lang="zh-CN" altLang="en-US" sz="1200" b="0" i="0" kern="1200" dirty="0" smtClean="0">
                <a:solidFill>
                  <a:schemeClr val="tx1"/>
                </a:solidFill>
                <a:effectLst/>
                <a:latin typeface="+mn-lt"/>
                <a:ea typeface="+mn-ea"/>
                <a:cs typeface="+mn-cs"/>
              </a:rPr>
              <a:t>神经网络的突出特点是</a:t>
            </a:r>
            <a:r>
              <a:rPr lang="zh-CN" altLang="en-US" sz="1200" b="1" i="0" kern="1200" dirty="0" smtClean="0">
                <a:solidFill>
                  <a:schemeClr val="tx1"/>
                </a:solidFill>
                <a:effectLst/>
                <a:latin typeface="+mn-lt"/>
                <a:ea typeface="+mn-ea"/>
                <a:cs typeface="+mn-cs"/>
              </a:rPr>
              <a:t>简单</a:t>
            </a:r>
            <a:r>
              <a:rPr lang="zh-CN" altLang="en-US" sz="1200" b="0" i="0" kern="1200" dirty="0" smtClean="0">
                <a:solidFill>
                  <a:schemeClr val="tx1"/>
                </a:solidFill>
                <a:effectLst/>
                <a:latin typeface="+mn-lt"/>
                <a:ea typeface="+mn-ea"/>
                <a:cs typeface="+mn-cs"/>
              </a:rPr>
              <a:t>，体现在：卷积层均采用相同的卷积核参数</a:t>
            </a:r>
          </a:p>
          <a:p>
            <a:r>
              <a:rPr lang="zh-CN" altLang="en-US" sz="1200" b="0" i="0" kern="1200" dirty="0" smtClean="0">
                <a:solidFill>
                  <a:schemeClr val="tx1"/>
                </a:solidFill>
                <a:effectLst/>
                <a:latin typeface="+mn-lt"/>
                <a:ea typeface="+mn-ea"/>
                <a:cs typeface="+mn-cs"/>
              </a:rPr>
              <a:t>卷积层均表示为</a:t>
            </a:r>
            <a:r>
              <a:rPr lang="en-US" altLang="zh-CN" sz="1200" b="0" i="0" kern="1200" dirty="0" smtClean="0">
                <a:solidFill>
                  <a:schemeClr val="tx1"/>
                </a:solidFill>
                <a:effectLst/>
                <a:latin typeface="+mn-lt"/>
                <a:ea typeface="+mn-ea"/>
                <a:cs typeface="+mn-cs"/>
              </a:rPr>
              <a:t>conv3-XXX</a:t>
            </a:r>
            <a:r>
              <a:rPr lang="zh-CN" altLang="en-US" sz="1200" b="0" i="0" kern="1200" dirty="0" smtClean="0">
                <a:solidFill>
                  <a:schemeClr val="tx1"/>
                </a:solidFill>
                <a:effectLst/>
                <a:latin typeface="+mn-lt"/>
                <a:ea typeface="+mn-ea"/>
                <a:cs typeface="+mn-cs"/>
              </a:rPr>
              <a:t>，其中</a:t>
            </a:r>
            <a:r>
              <a:rPr lang="en-US" altLang="zh-CN" sz="1200" b="0" i="0" kern="1200" dirty="0" smtClean="0">
                <a:solidFill>
                  <a:schemeClr val="tx1"/>
                </a:solidFill>
                <a:effectLst/>
                <a:latin typeface="+mn-lt"/>
                <a:ea typeface="+mn-ea"/>
                <a:cs typeface="+mn-cs"/>
              </a:rPr>
              <a:t>conv3</a:t>
            </a:r>
            <a:r>
              <a:rPr lang="zh-CN" altLang="en-US" sz="1200" b="0" i="0" kern="1200" dirty="0" smtClean="0">
                <a:solidFill>
                  <a:schemeClr val="tx1"/>
                </a:solidFill>
                <a:effectLst/>
                <a:latin typeface="+mn-lt"/>
                <a:ea typeface="+mn-ea"/>
                <a:cs typeface="+mn-cs"/>
              </a:rPr>
              <a:t>说明该卷积层采用的卷积核的尺寸</a:t>
            </a:r>
            <a:r>
              <a:rPr lang="en-US" altLang="zh-CN" sz="1200" b="0" i="0" kern="1200" dirty="0" smtClean="0">
                <a:solidFill>
                  <a:schemeClr val="tx1"/>
                </a:solidFill>
                <a:effectLst/>
                <a:latin typeface="+mn-lt"/>
                <a:ea typeface="+mn-ea"/>
                <a:cs typeface="+mn-cs"/>
              </a:rPr>
              <a:t>(kernel size)</a:t>
            </a:r>
            <a:r>
              <a:rPr lang="zh-CN" altLang="en-US" sz="1200" b="0" i="0" kern="1200" dirty="0" smtClean="0">
                <a:solidFill>
                  <a:schemeClr val="tx1"/>
                </a:solidFill>
                <a:effectLst/>
                <a:latin typeface="+mn-lt"/>
                <a:ea typeface="+mn-ea"/>
                <a:cs typeface="+mn-cs"/>
              </a:rPr>
              <a:t>是</a:t>
            </a: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，即宽（</a:t>
            </a:r>
            <a:r>
              <a:rPr lang="en-US" altLang="zh-CN" sz="1200" b="0" i="0" kern="1200" dirty="0" smtClean="0">
                <a:solidFill>
                  <a:schemeClr val="tx1"/>
                </a:solidFill>
                <a:effectLst/>
                <a:latin typeface="+mn-lt"/>
                <a:ea typeface="+mn-ea"/>
                <a:cs typeface="+mn-cs"/>
              </a:rPr>
              <a:t>width</a:t>
            </a:r>
            <a:r>
              <a:rPr lang="zh-CN" altLang="en-US" sz="1200" b="0" i="0" kern="1200" dirty="0" smtClean="0">
                <a:solidFill>
                  <a:schemeClr val="tx1"/>
                </a:solidFill>
                <a:effectLst/>
                <a:latin typeface="+mn-lt"/>
                <a:ea typeface="+mn-ea"/>
                <a:cs typeface="+mn-cs"/>
              </a:rPr>
              <a:t>）和高（</a:t>
            </a:r>
            <a:r>
              <a:rPr lang="en-US" altLang="zh-CN" sz="1200" b="0" i="0" kern="1200" dirty="0" smtClean="0">
                <a:solidFill>
                  <a:schemeClr val="tx1"/>
                </a:solidFill>
                <a:effectLst/>
                <a:latin typeface="+mn-lt"/>
                <a:ea typeface="+mn-ea"/>
                <a:cs typeface="+mn-cs"/>
              </a:rPr>
              <a:t>height</a:t>
            </a:r>
            <a:r>
              <a:rPr lang="zh-CN" altLang="en-US" sz="1200" b="0" i="0" kern="1200" dirty="0" smtClean="0">
                <a:solidFill>
                  <a:schemeClr val="tx1"/>
                </a:solidFill>
                <a:effectLst/>
                <a:latin typeface="+mn-lt"/>
                <a:ea typeface="+mn-ea"/>
                <a:cs typeface="+mn-cs"/>
              </a:rPr>
              <a:t>）均为</a:t>
            </a: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3*3</a:t>
            </a:r>
            <a:r>
              <a:rPr lang="zh-CN" altLang="en-US" sz="1200" b="0" i="0" kern="1200" dirty="0" smtClean="0">
                <a:solidFill>
                  <a:schemeClr val="tx1"/>
                </a:solidFill>
                <a:effectLst/>
                <a:latin typeface="+mn-lt"/>
                <a:ea typeface="+mn-ea"/>
                <a:cs typeface="+mn-cs"/>
              </a:rPr>
              <a:t>是</a:t>
            </a:r>
            <a:r>
              <a:rPr lang="zh-CN" altLang="en-US" sz="1200" b="1" i="0" kern="1200" dirty="0" smtClean="0">
                <a:solidFill>
                  <a:schemeClr val="tx1"/>
                </a:solidFill>
                <a:effectLst/>
                <a:latin typeface="+mn-lt"/>
                <a:ea typeface="+mn-ea"/>
                <a:cs typeface="+mn-cs"/>
              </a:rPr>
              <a:t>很小的卷积核尺寸</a:t>
            </a:r>
            <a:r>
              <a:rPr lang="zh-CN" altLang="en-US" sz="1200" b="0" i="0" kern="1200" dirty="0" smtClean="0">
                <a:solidFill>
                  <a:schemeClr val="tx1"/>
                </a:solidFill>
                <a:effectLst/>
                <a:latin typeface="+mn-lt"/>
                <a:ea typeface="+mn-ea"/>
                <a:cs typeface="+mn-cs"/>
              </a:rPr>
              <a:t>，结合其它参数（步幅</a:t>
            </a:r>
            <a:r>
              <a:rPr lang="en-US" altLang="zh-CN" sz="1200" b="0" i="0" kern="1200" dirty="0" smtClean="0">
                <a:solidFill>
                  <a:schemeClr val="tx1"/>
                </a:solidFill>
                <a:effectLst/>
                <a:latin typeface="+mn-lt"/>
                <a:ea typeface="+mn-ea"/>
                <a:cs typeface="+mn-cs"/>
              </a:rPr>
              <a:t>stride=1</a:t>
            </a:r>
            <a:r>
              <a:rPr lang="zh-CN" altLang="en-US" sz="1200" b="0" i="0" kern="1200" dirty="0" smtClean="0">
                <a:solidFill>
                  <a:schemeClr val="tx1"/>
                </a:solidFill>
                <a:effectLst/>
                <a:latin typeface="+mn-lt"/>
                <a:ea typeface="+mn-ea"/>
                <a:cs typeface="+mn-cs"/>
              </a:rPr>
              <a:t>，填充方式</a:t>
            </a:r>
            <a:r>
              <a:rPr lang="en-US" altLang="zh-CN" sz="1200" b="0" i="0" kern="1200" dirty="0" smtClean="0">
                <a:solidFill>
                  <a:schemeClr val="tx1"/>
                </a:solidFill>
                <a:effectLst/>
                <a:latin typeface="+mn-lt"/>
                <a:ea typeface="+mn-ea"/>
                <a:cs typeface="+mn-cs"/>
              </a:rPr>
              <a:t>padding=same</a:t>
            </a:r>
            <a:r>
              <a:rPr lang="zh-CN" altLang="en-US" sz="1200" b="0" i="0" kern="1200" dirty="0" smtClean="0">
                <a:solidFill>
                  <a:schemeClr val="tx1"/>
                </a:solidFill>
                <a:effectLst/>
                <a:latin typeface="+mn-lt"/>
                <a:ea typeface="+mn-ea"/>
                <a:cs typeface="+mn-cs"/>
              </a:rPr>
              <a:t>），这样就能够使得每一个卷积层</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张量</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与前一层（张量）保持相同的宽和高。</a:t>
            </a:r>
            <a:r>
              <a:rPr lang="en-US" altLang="zh-CN" sz="1200" b="0" i="0" kern="1200" dirty="0" smtClean="0">
                <a:solidFill>
                  <a:schemeClr val="tx1"/>
                </a:solidFill>
                <a:effectLst/>
                <a:latin typeface="+mn-lt"/>
                <a:ea typeface="+mn-ea"/>
                <a:cs typeface="+mn-cs"/>
              </a:rPr>
              <a:t>XXX</a:t>
            </a:r>
            <a:r>
              <a:rPr lang="zh-CN" altLang="en-US" sz="1200" b="0" i="0" kern="1200" dirty="0" smtClean="0">
                <a:solidFill>
                  <a:schemeClr val="tx1"/>
                </a:solidFill>
                <a:effectLst/>
                <a:latin typeface="+mn-lt"/>
                <a:ea typeface="+mn-ea"/>
                <a:cs typeface="+mn-cs"/>
              </a:rPr>
              <a:t>代表卷积层的通道数。</a:t>
            </a:r>
          </a:p>
          <a:p>
            <a:r>
              <a:rPr lang="zh-CN" altLang="en-US" sz="1200" b="0" i="0" kern="1200" dirty="0" smtClean="0">
                <a:solidFill>
                  <a:schemeClr val="tx1"/>
                </a:solidFill>
                <a:effectLst/>
                <a:latin typeface="+mn-lt"/>
                <a:ea typeface="+mn-ea"/>
                <a:cs typeface="+mn-cs"/>
              </a:rPr>
              <a:t>池化层均采用相同的池化核参数</a:t>
            </a:r>
          </a:p>
          <a:p>
            <a:r>
              <a:rPr lang="zh-CN" altLang="en-US" sz="1200" b="0" i="0" kern="1200" dirty="0" smtClean="0">
                <a:solidFill>
                  <a:schemeClr val="tx1"/>
                </a:solidFill>
                <a:effectLst/>
                <a:latin typeface="+mn-lt"/>
                <a:ea typeface="+mn-ea"/>
                <a:cs typeface="+mn-cs"/>
              </a:rPr>
              <a:t>池化层的参数均为</a:t>
            </a:r>
            <a:r>
              <a:rPr lang="en-US" altLang="zh-CN" sz="1200" b="0" i="0" kern="1200" dirty="0" smtClean="0">
                <a:solidFill>
                  <a:schemeClr val="tx1"/>
                </a:solidFill>
                <a:effectLst/>
                <a:latin typeface="+mn-lt"/>
                <a:ea typeface="+mn-ea"/>
                <a:cs typeface="+mn-cs"/>
              </a:rPr>
              <a:t>2</a:t>
            </a:r>
            <a:r>
              <a:rPr lang="en-US" altLang="zh-CN" sz="1200" b="0" i="0" u="none" strike="noStrike" kern="1200" dirty="0" smtClean="0">
                <a:solidFill>
                  <a:schemeClr val="tx1"/>
                </a:solidFill>
                <a:effectLst/>
                <a:latin typeface="+mn-lt"/>
                <a:ea typeface="+mn-ea"/>
                <a:cs typeface="+mn-cs"/>
              </a:rPr>
              <a:t>×2</a:t>
            </a:r>
            <a:r>
              <a:rPr lang="zh-CN" altLang="en-US" sz="1200" b="0" i="0" u="none" strike="noStrike" kern="1200" dirty="0" smtClean="0">
                <a:solidFill>
                  <a:schemeClr val="tx1"/>
                </a:solidFill>
                <a:effectLst/>
                <a:latin typeface="+mn-lt"/>
                <a:ea typeface="+mn-ea"/>
                <a:cs typeface="+mn-cs"/>
              </a:rPr>
              <a:t>，步幅</a:t>
            </a:r>
            <a:r>
              <a:rPr lang="en-US" altLang="zh-CN" sz="1200" b="0" i="0" u="none" strike="noStrike" kern="1200" dirty="0" smtClean="0">
                <a:solidFill>
                  <a:schemeClr val="tx1"/>
                </a:solidFill>
                <a:effectLst/>
                <a:latin typeface="+mn-lt"/>
                <a:ea typeface="+mn-ea"/>
                <a:cs typeface="+mn-cs"/>
              </a:rPr>
              <a:t>stride=2</a:t>
            </a:r>
            <a:r>
              <a:rPr lang="zh-CN" altLang="en-US" sz="1200" b="0" i="0" u="none" strike="noStrike" kern="1200" dirty="0" smtClean="0">
                <a:solidFill>
                  <a:schemeClr val="tx1"/>
                </a:solidFill>
                <a:effectLst/>
                <a:latin typeface="+mn-lt"/>
                <a:ea typeface="+mn-ea"/>
                <a:cs typeface="+mn-cs"/>
              </a:rPr>
              <a:t>，</a:t>
            </a:r>
            <a:r>
              <a:rPr lang="en-US" altLang="zh-CN" sz="1200" b="0" i="0" u="none" strike="noStrike" kern="1200" dirty="0" smtClean="0">
                <a:solidFill>
                  <a:schemeClr val="tx1"/>
                </a:solidFill>
                <a:effectLst/>
                <a:latin typeface="+mn-lt"/>
                <a:ea typeface="+mn-ea"/>
                <a:cs typeface="+mn-cs"/>
              </a:rPr>
              <a:t>max</a:t>
            </a:r>
            <a:r>
              <a:rPr lang="zh-CN" altLang="en-US" sz="1200" b="0" i="0" u="none" strike="noStrike" kern="1200" dirty="0" smtClean="0">
                <a:solidFill>
                  <a:schemeClr val="tx1"/>
                </a:solidFill>
                <a:effectLst/>
                <a:latin typeface="+mn-lt"/>
                <a:ea typeface="+mn-ea"/>
                <a:cs typeface="+mn-cs"/>
              </a:rPr>
              <a:t>的池化方式，这样就能够使得每一个池化层（张量）的宽和高是前一层（张量）的</a:t>
            </a:r>
            <a:r>
              <a:rPr lang="en-US" altLang="zh-CN" sz="1200" b="0" i="0" u="none" strike="noStrike" kern="1200" dirty="0" smtClean="0">
                <a:solidFill>
                  <a:schemeClr val="tx1"/>
                </a:solidFill>
                <a:effectLst/>
                <a:latin typeface="+mn-lt"/>
                <a:ea typeface="+mn-ea"/>
                <a:cs typeface="+mn-cs"/>
              </a:rPr>
              <a:t>1/2</a:t>
            </a:r>
            <a:r>
              <a:rPr lang="zh-CN" altLang="en-US" sz="1200" b="0" i="0" u="none" strike="noStrike" kern="1200" dirty="0" smtClean="0">
                <a:solidFill>
                  <a:schemeClr val="tx1"/>
                </a:solidFill>
                <a:effectLst/>
                <a:latin typeface="+mn-lt"/>
                <a:ea typeface="+mn-ea"/>
                <a:cs typeface="+mn-cs"/>
              </a:rPr>
              <a:t>。</a:t>
            </a:r>
            <a:endParaRPr lang="zh-CN" altLang="en-US"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模型是由若干卷积层和池化层堆叠（</a:t>
            </a:r>
            <a:r>
              <a:rPr lang="en-US" altLang="zh-CN" sz="1200" b="0" i="0" kern="1200" dirty="0" smtClean="0">
                <a:solidFill>
                  <a:schemeClr val="tx1"/>
                </a:solidFill>
                <a:effectLst/>
                <a:latin typeface="+mn-lt"/>
                <a:ea typeface="+mn-ea"/>
                <a:cs typeface="+mn-cs"/>
              </a:rPr>
              <a:t>stack</a:t>
            </a:r>
            <a:r>
              <a:rPr lang="zh-CN" altLang="en-US" sz="1200" b="0" i="0" kern="1200" dirty="0" smtClean="0">
                <a:solidFill>
                  <a:schemeClr val="tx1"/>
                </a:solidFill>
                <a:effectLst/>
                <a:latin typeface="+mn-lt"/>
                <a:ea typeface="+mn-ea"/>
                <a:cs typeface="+mn-cs"/>
              </a:rPr>
              <a:t>）的方式构成，比较容易形成较深的网络结构（在</a:t>
            </a:r>
            <a:r>
              <a:rPr lang="en-US" altLang="zh-CN" sz="1200" b="0" i="0" kern="1200" dirty="0" smtClean="0">
                <a:solidFill>
                  <a:schemeClr val="tx1"/>
                </a:solidFill>
                <a:effectLst/>
                <a:latin typeface="+mn-lt"/>
                <a:ea typeface="+mn-ea"/>
                <a:cs typeface="+mn-cs"/>
              </a:rPr>
              <a:t>2014</a:t>
            </a:r>
            <a:r>
              <a:rPr lang="zh-CN" altLang="en-US" sz="1200" b="0" i="0" kern="1200" dirty="0" smtClean="0">
                <a:solidFill>
                  <a:schemeClr val="tx1"/>
                </a:solidFill>
                <a:effectLst/>
                <a:latin typeface="+mn-lt"/>
                <a:ea typeface="+mn-ea"/>
                <a:cs typeface="+mn-cs"/>
              </a:rPr>
              <a:t>年，</a:t>
            </a:r>
            <a:r>
              <a:rPr lang="en-US" altLang="zh-CN" sz="1200" b="0" i="0" kern="1200" dirty="0" smtClean="0">
                <a:solidFill>
                  <a:schemeClr val="tx1"/>
                </a:solidFill>
                <a:effectLst/>
                <a:latin typeface="+mn-lt"/>
                <a:ea typeface="+mn-ea"/>
                <a:cs typeface="+mn-cs"/>
              </a:rPr>
              <a:t>16</a:t>
            </a:r>
            <a:r>
              <a:rPr lang="zh-CN" altLang="en-US" sz="1200" b="0" i="0" kern="1200" dirty="0" smtClean="0">
                <a:solidFill>
                  <a:schemeClr val="tx1"/>
                </a:solidFill>
                <a:effectLst/>
                <a:latin typeface="+mn-lt"/>
                <a:ea typeface="+mn-ea"/>
                <a:cs typeface="+mn-cs"/>
              </a:rPr>
              <a:t>层已经被认为很深了）。</a:t>
            </a:r>
          </a:p>
          <a:p>
            <a:r>
              <a:rPr lang="zh-CN" altLang="en-US" sz="1200" b="0" i="0" kern="1200" dirty="0" smtClean="0">
                <a:solidFill>
                  <a:schemeClr val="tx1"/>
                </a:solidFill>
                <a:effectLst/>
                <a:latin typeface="+mn-lt"/>
                <a:ea typeface="+mn-ea"/>
                <a:cs typeface="+mn-cs"/>
              </a:rPr>
              <a:t>综合上述分析，可以概括</a:t>
            </a:r>
            <a:r>
              <a:rPr lang="en-US" altLang="zh-CN" sz="1200" b="0" i="0" kern="1200" dirty="0" smtClean="0">
                <a:solidFill>
                  <a:schemeClr val="tx1"/>
                </a:solidFill>
                <a:effectLst/>
                <a:latin typeface="+mn-lt"/>
                <a:ea typeface="+mn-ea"/>
                <a:cs typeface="+mn-cs"/>
              </a:rPr>
              <a:t>VGG</a:t>
            </a:r>
            <a:r>
              <a:rPr lang="zh-CN" altLang="en-US" sz="1200" b="0" i="0" kern="1200" dirty="0" smtClean="0">
                <a:solidFill>
                  <a:schemeClr val="tx1"/>
                </a:solidFill>
                <a:effectLst/>
                <a:latin typeface="+mn-lt"/>
                <a:ea typeface="+mn-ea"/>
                <a:cs typeface="+mn-cs"/>
              </a:rPr>
              <a:t>的优点为</a:t>
            </a:r>
            <a:r>
              <a:rPr lang="en-US" altLang="zh-CN" sz="1200" b="0" i="0" kern="1200" dirty="0" smtClean="0">
                <a:solidFill>
                  <a:schemeClr val="tx1"/>
                </a:solidFill>
                <a:effectLst/>
                <a:latin typeface="+mn-lt"/>
                <a:ea typeface="+mn-ea"/>
                <a:cs typeface="+mn-cs"/>
              </a:rPr>
              <a:t>: </a:t>
            </a:r>
            <a:r>
              <a:rPr lang="en-US" altLang="zh-CN" sz="1200" b="1" i="0" kern="1200" dirty="0" smtClean="0">
                <a:solidFill>
                  <a:schemeClr val="tx1"/>
                </a:solidFill>
                <a:effectLst/>
                <a:latin typeface="+mn-lt"/>
                <a:ea typeface="+mn-ea"/>
                <a:cs typeface="+mn-cs"/>
              </a:rPr>
              <a:t>Small filters, Deeper networks</a:t>
            </a:r>
            <a:r>
              <a:rPr lang="en-US" altLang="zh-CN" sz="1200" b="0" i="0" kern="1200" dirty="0" smtClean="0">
                <a:solidFill>
                  <a:schemeClr val="tx1"/>
                </a:solidFill>
                <a:effectLst/>
                <a:latin typeface="+mn-lt"/>
                <a:ea typeface="+mn-ea"/>
                <a:cs typeface="+mn-cs"/>
              </a:rPr>
              <a:t>.</a:t>
            </a:r>
          </a:p>
          <a:p>
            <a:r>
              <a:rPr lang="en-US" altLang="zh-CN" sz="1200" b="0" i="0" kern="1200" dirty="0" err="1" smtClean="0">
                <a:solidFill>
                  <a:schemeClr val="tx1"/>
                </a:solidFill>
                <a:effectLst/>
                <a:latin typeface="+mn-lt"/>
                <a:ea typeface="+mn-ea"/>
                <a:cs typeface="+mn-cs"/>
              </a:rPr>
              <a:t>VGGNet</a:t>
            </a:r>
            <a:r>
              <a:rPr lang="zh-CN" altLang="en-US" sz="1200" b="0" i="0" kern="1200" dirty="0" smtClean="0">
                <a:solidFill>
                  <a:schemeClr val="tx1"/>
                </a:solidFill>
                <a:effectLst/>
                <a:latin typeface="+mn-lt"/>
                <a:ea typeface="+mn-ea"/>
                <a:cs typeface="+mn-cs"/>
              </a:rPr>
              <a:t>有两种结构分别为</a:t>
            </a:r>
            <a:r>
              <a:rPr lang="en-US" altLang="zh-CN" sz="1200" b="0" i="0" kern="1200" dirty="0" smtClean="0">
                <a:solidFill>
                  <a:schemeClr val="tx1"/>
                </a:solidFill>
                <a:effectLst/>
                <a:latin typeface="+mn-lt"/>
                <a:ea typeface="+mn-ea"/>
                <a:cs typeface="+mn-cs"/>
              </a:rPr>
              <a:t>16</a:t>
            </a:r>
            <a:r>
              <a:rPr lang="zh-CN" altLang="en-US" sz="1200" b="0" i="0" kern="1200" dirty="0" smtClean="0">
                <a:solidFill>
                  <a:schemeClr val="tx1"/>
                </a:solidFill>
                <a:effectLst/>
                <a:latin typeface="+mn-lt"/>
                <a:ea typeface="+mn-ea"/>
                <a:cs typeface="+mn-cs"/>
              </a:rPr>
              <a:t>层和</a:t>
            </a:r>
            <a:r>
              <a:rPr lang="en-US" altLang="zh-CN" sz="1200" b="0" i="0" kern="1200" dirty="0" smtClean="0">
                <a:solidFill>
                  <a:schemeClr val="tx1"/>
                </a:solidFill>
                <a:effectLst/>
                <a:latin typeface="+mn-lt"/>
                <a:ea typeface="+mn-ea"/>
                <a:cs typeface="+mn-cs"/>
              </a:rPr>
              <a:t>19</a:t>
            </a:r>
            <a:r>
              <a:rPr lang="zh-CN" altLang="en-US" sz="1200" b="0" i="0" kern="1200" dirty="0" smtClean="0">
                <a:solidFill>
                  <a:schemeClr val="tx1"/>
                </a:solidFill>
                <a:effectLst/>
                <a:latin typeface="+mn-lt"/>
                <a:ea typeface="+mn-ea"/>
                <a:cs typeface="+mn-cs"/>
              </a:rPr>
              <a:t>层，从图</a:t>
            </a: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可以看出，</a:t>
            </a:r>
            <a:r>
              <a:rPr lang="en-US" altLang="zh-CN" sz="1200" b="0" i="0" kern="1200" dirty="0" err="1" smtClean="0">
                <a:solidFill>
                  <a:schemeClr val="tx1"/>
                </a:solidFill>
                <a:effectLst/>
                <a:latin typeface="+mn-lt"/>
                <a:ea typeface="+mn-ea"/>
                <a:cs typeface="+mn-cs"/>
              </a:rPr>
              <a:t>VGGNet</a:t>
            </a:r>
            <a:r>
              <a:rPr lang="zh-CN" altLang="en-US" sz="1200" b="0" i="0" kern="1200" dirty="0" smtClean="0">
                <a:solidFill>
                  <a:schemeClr val="tx1"/>
                </a:solidFill>
                <a:effectLst/>
                <a:latin typeface="+mn-lt"/>
                <a:ea typeface="+mn-ea"/>
                <a:cs typeface="+mn-cs"/>
              </a:rPr>
              <a:t>结构所有卷积层的</a:t>
            </a:r>
            <a:r>
              <a:rPr lang="en-US" altLang="zh-CN" sz="1200" b="0" i="0" kern="1200" dirty="0" smtClean="0">
                <a:solidFill>
                  <a:schemeClr val="tx1"/>
                </a:solidFill>
                <a:effectLst/>
                <a:latin typeface="+mn-lt"/>
                <a:ea typeface="+mn-ea"/>
                <a:cs typeface="+mn-cs"/>
              </a:rPr>
              <a:t>kernel</a:t>
            </a:r>
            <a:r>
              <a:rPr lang="zh-CN" altLang="en-US" sz="1200" b="0" i="0" kern="1200" dirty="0" smtClean="0">
                <a:solidFill>
                  <a:schemeClr val="tx1"/>
                </a:solidFill>
                <a:effectLst/>
                <a:latin typeface="+mn-lt"/>
                <a:ea typeface="+mn-ea"/>
                <a:cs typeface="+mn-cs"/>
              </a:rPr>
              <a:t>都只有</a:t>
            </a:r>
            <a:r>
              <a:rPr lang="en-US" altLang="zh-CN" sz="1200" b="0" i="0" kern="1200" dirty="0" smtClean="0">
                <a:solidFill>
                  <a:schemeClr val="tx1"/>
                </a:solidFill>
                <a:effectLst/>
                <a:latin typeface="+mn-lt"/>
                <a:ea typeface="+mn-ea"/>
                <a:cs typeface="+mn-cs"/>
              </a:rPr>
              <a:t>3*3</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VGGNet</a:t>
            </a:r>
            <a:r>
              <a:rPr lang="zh-CN" altLang="en-US" sz="1200" b="0" i="0" kern="1200" dirty="0" smtClean="0">
                <a:solidFill>
                  <a:schemeClr val="tx1"/>
                </a:solidFill>
                <a:effectLst/>
                <a:latin typeface="+mn-lt"/>
                <a:ea typeface="+mn-ea"/>
                <a:cs typeface="+mn-cs"/>
              </a:rPr>
              <a:t>中连续使用</a:t>
            </a: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组</a:t>
            </a:r>
            <a:r>
              <a:rPr lang="en-US" altLang="zh-CN" sz="1200" b="0" i="0" kern="1200" dirty="0" smtClean="0">
                <a:solidFill>
                  <a:schemeClr val="tx1"/>
                </a:solidFill>
                <a:effectLst/>
                <a:latin typeface="+mn-lt"/>
                <a:ea typeface="+mn-ea"/>
                <a:cs typeface="+mn-cs"/>
              </a:rPr>
              <a:t>3*3kernel</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stride</a:t>
            </a:r>
            <a:r>
              <a:rPr lang="zh-CN" altLang="en-US" sz="1200" b="0" i="0" kern="1200" dirty="0" smtClean="0">
                <a:solidFill>
                  <a:schemeClr val="tx1"/>
                </a:solidFill>
                <a:effectLst/>
                <a:latin typeface="+mn-lt"/>
                <a:ea typeface="+mn-ea"/>
                <a:cs typeface="+mn-cs"/>
              </a:rPr>
              <a:t>为</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）的原因是它和使用</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个</a:t>
            </a:r>
            <a:r>
              <a:rPr lang="en-US" altLang="zh-CN" sz="1200" b="0" i="0" kern="1200" dirty="0" smtClean="0">
                <a:solidFill>
                  <a:schemeClr val="tx1"/>
                </a:solidFill>
                <a:effectLst/>
                <a:latin typeface="+mn-lt"/>
                <a:ea typeface="+mn-ea"/>
                <a:cs typeface="+mn-cs"/>
              </a:rPr>
              <a:t>7*7kernel</a:t>
            </a:r>
            <a:r>
              <a:rPr lang="zh-CN" altLang="en-US" sz="1200" b="0" i="0" kern="1200" dirty="0" smtClean="0">
                <a:solidFill>
                  <a:schemeClr val="tx1"/>
                </a:solidFill>
                <a:effectLst/>
                <a:latin typeface="+mn-lt"/>
                <a:ea typeface="+mn-ea"/>
                <a:cs typeface="+mn-cs"/>
              </a:rPr>
              <a:t>产生的效果相同（图以一维卷积为例解释效果相同的原理），然而更深的网络结构会学习到更复杂的非线性关系，使得模型效果更好。该操作带来的另一个好处是参数数量的减少，因为对于一个有</a:t>
            </a:r>
            <a:r>
              <a:rPr lang="en-US" altLang="zh-CN" sz="1200" b="0" i="0" kern="1200" dirty="0" smtClean="0">
                <a:solidFill>
                  <a:schemeClr val="tx1"/>
                </a:solidFill>
                <a:effectLst/>
                <a:latin typeface="+mn-lt"/>
                <a:ea typeface="+mn-ea"/>
                <a:cs typeface="+mn-cs"/>
              </a:rPr>
              <a:t>C</a:t>
            </a:r>
            <a:r>
              <a:rPr lang="zh-CN" altLang="en-US" sz="1200" b="0" i="0" kern="1200" dirty="0" smtClean="0">
                <a:solidFill>
                  <a:schemeClr val="tx1"/>
                </a:solidFill>
                <a:effectLst/>
                <a:latin typeface="+mn-lt"/>
                <a:ea typeface="+mn-ea"/>
                <a:cs typeface="+mn-cs"/>
              </a:rPr>
              <a:t>个</a:t>
            </a:r>
            <a:r>
              <a:rPr lang="en-US" altLang="zh-CN" sz="1200" b="0" i="0" kern="1200" dirty="0" smtClean="0">
                <a:solidFill>
                  <a:schemeClr val="tx1"/>
                </a:solidFill>
                <a:effectLst/>
                <a:latin typeface="+mn-lt"/>
                <a:ea typeface="+mn-ea"/>
                <a:cs typeface="+mn-cs"/>
              </a:rPr>
              <a:t>kernel</a:t>
            </a:r>
            <a:r>
              <a:rPr lang="zh-CN" altLang="en-US" sz="1200" b="0" i="0" kern="1200" dirty="0" smtClean="0">
                <a:solidFill>
                  <a:schemeClr val="tx1"/>
                </a:solidFill>
                <a:effectLst/>
                <a:latin typeface="+mn-lt"/>
                <a:ea typeface="+mn-ea"/>
                <a:cs typeface="+mn-cs"/>
              </a:rPr>
              <a:t>的卷积层来说，原来的参数个数为</a:t>
            </a:r>
            <a:r>
              <a:rPr lang="en-US" altLang="zh-CN" sz="1200" b="0" i="0" kern="1200" dirty="0" smtClean="0">
                <a:solidFill>
                  <a:schemeClr val="tx1"/>
                </a:solidFill>
                <a:effectLst/>
                <a:latin typeface="+mn-lt"/>
                <a:ea typeface="+mn-ea"/>
                <a:cs typeface="+mn-cs"/>
              </a:rPr>
              <a:t>7*7*C</a:t>
            </a:r>
            <a:r>
              <a:rPr lang="zh-CN" altLang="en-US" sz="1200" b="0" i="0" kern="1200" dirty="0" smtClean="0">
                <a:solidFill>
                  <a:schemeClr val="tx1"/>
                </a:solidFill>
                <a:effectLst/>
                <a:latin typeface="+mn-lt"/>
                <a:ea typeface="+mn-ea"/>
                <a:cs typeface="+mn-cs"/>
              </a:rPr>
              <a:t>，而新的参数个数为</a:t>
            </a: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3*3*C</a:t>
            </a:r>
            <a:r>
              <a:rPr lang="zh-CN" altLang="en-US" sz="1200" b="0" i="0" kern="1200" dirty="0" smtClean="0">
                <a:solidFill>
                  <a:schemeClr val="tx1"/>
                </a:solidFill>
                <a:effectLst/>
                <a:latin typeface="+mn-lt"/>
                <a:ea typeface="+mn-ea"/>
                <a:cs typeface="+mn-cs"/>
              </a:rPr>
              <a:t>）。</a:t>
            </a:r>
            <a:endParaRPr lang="en-US" altLang="zh-CN" sz="1200" b="0" i="0" kern="1200" dirty="0" smtClean="0">
              <a:solidFill>
                <a:schemeClr val="tx1"/>
              </a:solidFill>
              <a:effectLst/>
              <a:latin typeface="+mn-lt"/>
              <a:ea typeface="+mn-ea"/>
              <a:cs typeface="+mn-cs"/>
            </a:endParaRPr>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b="0" i="0" kern="1200" dirty="0" smtClean="0">
                <a:solidFill>
                  <a:schemeClr val="tx1"/>
                </a:solidFill>
                <a:effectLst/>
                <a:latin typeface="+mn-lt"/>
                <a:ea typeface="+mn-ea"/>
                <a:cs typeface="+mn-cs"/>
              </a:rPr>
              <a:t>尽管</a:t>
            </a:r>
            <a:r>
              <a:rPr lang="en-US" altLang="zh-CN" sz="1200" b="0" i="0" kern="1200" dirty="0" smtClean="0">
                <a:solidFill>
                  <a:schemeClr val="tx1"/>
                </a:solidFill>
                <a:effectLst/>
                <a:latin typeface="+mn-lt"/>
                <a:ea typeface="+mn-ea"/>
                <a:cs typeface="+mn-cs"/>
              </a:rPr>
              <a:t>VGG</a:t>
            </a:r>
            <a:r>
              <a:rPr lang="zh-CN" altLang="en-US" sz="1200" b="0" i="0" kern="1200" dirty="0" smtClean="0">
                <a:solidFill>
                  <a:schemeClr val="tx1"/>
                </a:solidFill>
                <a:effectLst/>
                <a:latin typeface="+mn-lt"/>
                <a:ea typeface="+mn-ea"/>
                <a:cs typeface="+mn-cs"/>
              </a:rPr>
              <a:t>的结构简单，所包含的权重数目却很大，这包括了卷积层与全连接层的权重参数。这导致了训练时间过长，调参难度大。需要的存储容量大，不利于部署。例如存储</a:t>
            </a:r>
            <a:r>
              <a:rPr lang="en-US" altLang="zh-CN" sz="1200" b="0" i="0" kern="1200" dirty="0" smtClean="0">
                <a:solidFill>
                  <a:schemeClr val="tx1"/>
                </a:solidFill>
                <a:effectLst/>
                <a:latin typeface="+mn-lt"/>
                <a:ea typeface="+mn-ea"/>
                <a:cs typeface="+mn-cs"/>
              </a:rPr>
              <a:t>VGG16</a:t>
            </a:r>
            <a:r>
              <a:rPr lang="zh-CN" altLang="en-US" sz="1200" b="0" i="0" kern="1200" dirty="0" smtClean="0">
                <a:solidFill>
                  <a:schemeClr val="tx1"/>
                </a:solidFill>
                <a:effectLst/>
                <a:latin typeface="+mn-lt"/>
                <a:ea typeface="+mn-ea"/>
                <a:cs typeface="+mn-cs"/>
              </a:rPr>
              <a:t>权重值文件的大小为</a:t>
            </a:r>
            <a:r>
              <a:rPr lang="en-US" altLang="zh-CN" sz="1200" b="0" i="0" kern="1200" dirty="0" smtClean="0">
                <a:solidFill>
                  <a:schemeClr val="tx1"/>
                </a:solidFill>
                <a:effectLst/>
                <a:latin typeface="+mn-lt"/>
                <a:ea typeface="+mn-ea"/>
                <a:cs typeface="+mn-cs"/>
              </a:rPr>
              <a:t>500</a:t>
            </a:r>
            <a:r>
              <a:rPr lang="zh-CN" altLang="en-US" sz="1200" b="0" i="0" kern="1200" dirty="0" smtClean="0">
                <a:solidFill>
                  <a:schemeClr val="tx1"/>
                </a:solidFill>
                <a:effectLst/>
                <a:latin typeface="+mn-lt"/>
                <a:ea typeface="+mn-ea"/>
                <a:cs typeface="+mn-cs"/>
              </a:rPr>
              <a:t>多</a:t>
            </a:r>
            <a:r>
              <a:rPr lang="en-US" altLang="zh-CN" sz="1200" b="0" i="0" kern="1200" dirty="0" smtClean="0">
                <a:solidFill>
                  <a:schemeClr val="tx1"/>
                </a:solidFill>
                <a:effectLst/>
                <a:latin typeface="+mn-lt"/>
                <a:ea typeface="+mn-ea"/>
                <a:cs typeface="+mn-cs"/>
              </a:rPr>
              <a:t>MB</a:t>
            </a:r>
            <a:r>
              <a:rPr lang="zh-CN" altLang="en-US" sz="1200" b="0" i="0" kern="1200" dirty="0" smtClean="0">
                <a:solidFill>
                  <a:schemeClr val="tx1"/>
                </a:solidFill>
                <a:effectLst/>
                <a:latin typeface="+mn-lt"/>
                <a:ea typeface="+mn-ea"/>
                <a:cs typeface="+mn-cs"/>
              </a:rPr>
              <a:t>，不利于安装到嵌入式系统中。</a:t>
            </a:r>
          </a:p>
          <a:p>
            <a:pPr marL="0" marR="0" indent="0" algn="l" defTabSz="914400" rtl="0" eaLnBrk="1" fontAlgn="base" latinLnBrk="0" hangingPunct="1">
              <a:lnSpc>
                <a:spcPct val="100000"/>
              </a:lnSpc>
              <a:spcBef>
                <a:spcPct val="0"/>
              </a:spcBef>
              <a:spcAft>
                <a:spcPct val="0"/>
              </a:spcAft>
              <a:buClrTx/>
              <a:buSzTx/>
              <a:buFontTx/>
              <a:buNone/>
              <a:tabLst/>
              <a:defRPr/>
            </a:pPr>
            <a:endParaRPr lang="zh-CN" altLang="en-US" sz="1200" b="0" i="0" kern="1200" dirty="0" smtClean="0">
              <a:solidFill>
                <a:schemeClr val="tx1"/>
              </a:solidFill>
              <a:effectLst/>
              <a:latin typeface="+mn-lt"/>
              <a:ea typeface="+mn-ea"/>
              <a:cs typeface="+mn-cs"/>
            </a:endParaRPr>
          </a:p>
          <a:p>
            <a:pPr marL="0" marR="0" indent="0" algn="l" defTabSz="914400" rtl="0" eaLnBrk="1" fontAlgn="base" latinLnBrk="0" hangingPunct="1">
              <a:lnSpc>
                <a:spcPct val="100000"/>
              </a:lnSpc>
              <a:spcBef>
                <a:spcPct val="0"/>
              </a:spcBef>
              <a:spcAft>
                <a:spcPct val="0"/>
              </a:spcAft>
              <a:buClrTx/>
              <a:buSzTx/>
              <a:buFontTx/>
              <a:buNone/>
              <a:tabLst/>
              <a:defRPr/>
            </a:pPr>
            <a:endParaRPr lang="en-US" altLang="zh-CN"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6036080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GoogLeNet</a:t>
            </a:r>
            <a:r>
              <a:rPr lang="zh-CN" altLang="en-US" dirty="0" smtClean="0"/>
              <a:t>专注于加深网络结构，同时引入了新的基本结构</a:t>
            </a:r>
            <a:r>
              <a:rPr lang="en-US" altLang="zh-CN" dirty="0" smtClean="0"/>
              <a:t>——Inception</a:t>
            </a:r>
            <a:r>
              <a:rPr lang="zh-CN" altLang="en-US" dirty="0" smtClean="0"/>
              <a:t>模块</a:t>
            </a:r>
            <a:r>
              <a:rPr lang="en-US" altLang="zh-CN" dirty="0" smtClean="0"/>
              <a:t>,</a:t>
            </a:r>
            <a:r>
              <a:rPr lang="zh-CN" altLang="en-US" dirty="0" smtClean="0"/>
              <a:t>以增加网络的宽度。</a:t>
            </a:r>
            <a:r>
              <a:rPr lang="en-US" altLang="zh-CN" dirty="0" err="1" smtClean="0"/>
              <a:t>GoogLeNet</a:t>
            </a:r>
            <a:r>
              <a:rPr lang="zh-CN" altLang="en-US" dirty="0" smtClean="0"/>
              <a:t>一共</a:t>
            </a:r>
            <a:r>
              <a:rPr lang="en-US" altLang="zh-CN" dirty="0" smtClean="0"/>
              <a:t>22</a:t>
            </a:r>
            <a:r>
              <a:rPr lang="zh-CN" altLang="en-US" dirty="0" smtClean="0"/>
              <a:t>层</a:t>
            </a:r>
            <a:r>
              <a:rPr lang="en-US" altLang="zh-CN" dirty="0" smtClean="0"/>
              <a:t>,</a:t>
            </a:r>
            <a:r>
              <a:rPr lang="zh-CN" altLang="en-US" dirty="0" smtClean="0"/>
              <a:t>主干网络没有全连接层，在</a:t>
            </a:r>
            <a:r>
              <a:rPr lang="en-US" altLang="zh-CN" dirty="0" smtClean="0"/>
              <a:t>2014</a:t>
            </a:r>
            <a:r>
              <a:rPr lang="zh-CN" altLang="en-US" dirty="0" smtClean="0"/>
              <a:t>年的</a:t>
            </a:r>
            <a:r>
              <a:rPr lang="en-US" altLang="zh-CN" dirty="0" err="1" smtClean="0"/>
              <a:t>ImageNet</a:t>
            </a:r>
            <a:r>
              <a:rPr lang="zh-CN" altLang="en-US" dirty="0" smtClean="0"/>
              <a:t>图像识别挑战赛中获得了冠军。</a:t>
            </a:r>
            <a:endParaRPr lang="en-US" altLang="zh-CN" dirty="0" smtClean="0"/>
          </a:p>
          <a:p>
            <a:r>
              <a:rPr lang="en-US" altLang="zh-CN" dirty="0" err="1" smtClean="0"/>
              <a:t>GoogLeNet</a:t>
            </a:r>
            <a:r>
              <a:rPr lang="zh-CN" altLang="en-US" dirty="0" smtClean="0"/>
              <a:t>最初始的想法很简单</a:t>
            </a:r>
            <a:r>
              <a:rPr lang="en-US" altLang="zh-CN" dirty="0" smtClean="0"/>
              <a:t>,</a:t>
            </a:r>
            <a:r>
              <a:rPr lang="zh-CN" altLang="en-US" dirty="0" smtClean="0"/>
              <a:t>想要更好的预测效果，</a:t>
            </a:r>
          </a:p>
          <a:p>
            <a:r>
              <a:rPr lang="zh-CN" altLang="en-US" dirty="0" smtClean="0"/>
              <a:t>就要从网络深度和网络宽度两个角度出发增加网络的复杂度。但这个思路有两个较为明显的问题。首先</a:t>
            </a:r>
            <a:r>
              <a:rPr lang="en-US" altLang="zh-CN" dirty="0" smtClean="0"/>
              <a:t>,</a:t>
            </a:r>
            <a:r>
              <a:rPr lang="zh-CN" altLang="en-US" dirty="0" smtClean="0"/>
              <a:t>更复杂的网络意味着更多的参数</a:t>
            </a:r>
            <a:r>
              <a:rPr lang="en-US" altLang="zh-CN" dirty="0" smtClean="0"/>
              <a:t>,</a:t>
            </a:r>
            <a:r>
              <a:rPr lang="zh-CN" altLang="en-US" dirty="0" smtClean="0"/>
              <a:t>就算是</a:t>
            </a:r>
            <a:r>
              <a:rPr lang="en-US" altLang="zh-CN" dirty="0" smtClean="0"/>
              <a:t>ILSVRC</a:t>
            </a:r>
            <a:r>
              <a:rPr lang="zh-CN" altLang="en-US" dirty="0" smtClean="0"/>
              <a:t>这种有</a:t>
            </a:r>
            <a:r>
              <a:rPr lang="en-US" altLang="zh-CN" dirty="0" smtClean="0"/>
              <a:t>1000</a:t>
            </a:r>
            <a:r>
              <a:rPr lang="zh-CN" altLang="en-US" dirty="0" smtClean="0"/>
              <a:t>类标签的数据集也很容易过拟合。其次，更复杂的网络会消耗更多的计算资源，而且卷积核个数设计不合理，导致了卷积核中参数没有被完全利用</a:t>
            </a:r>
            <a:r>
              <a:rPr lang="en-US" altLang="zh-CN" dirty="0" smtClean="0"/>
              <a:t>(</a:t>
            </a:r>
            <a:r>
              <a:rPr lang="zh-CN" altLang="en-US" dirty="0" smtClean="0"/>
              <a:t>多数权重都趋近</a:t>
            </a:r>
            <a:r>
              <a:rPr lang="en-US" altLang="zh-CN" dirty="0" smtClean="0"/>
              <a:t>0)</a:t>
            </a:r>
            <a:r>
              <a:rPr lang="zh-CN" altLang="en-US" dirty="0" smtClean="0"/>
              <a:t>时</a:t>
            </a:r>
            <a:r>
              <a:rPr lang="en-US" altLang="zh-CN" dirty="0" smtClean="0"/>
              <a:t>,</a:t>
            </a:r>
            <a:r>
              <a:rPr lang="zh-CN" altLang="en-US" dirty="0" smtClean="0"/>
              <a:t>会造成大量计算资源的浪费。</a:t>
            </a:r>
            <a:endParaRPr lang="en-US" altLang="zh-CN" dirty="0" smtClean="0"/>
          </a:p>
          <a:p>
            <a:r>
              <a:rPr lang="en-US" altLang="zh-CN" dirty="0" err="1" smtClean="0"/>
              <a:t>GoogLeNet</a:t>
            </a:r>
            <a:r>
              <a:rPr lang="zh-CN" altLang="en-US" dirty="0" smtClean="0"/>
              <a:t>引入</a:t>
            </a:r>
            <a:r>
              <a:rPr lang="en-US" altLang="zh-CN" dirty="0" smtClean="0"/>
              <a:t>inception</a:t>
            </a:r>
            <a:r>
              <a:rPr lang="zh-CN" altLang="en-US" dirty="0" smtClean="0"/>
              <a:t>模块来解决上述问题，其中涉及大量的数学推导和原理，感兴趣的读者可查阅相关资料，这里以一种简单的方式解释</a:t>
            </a:r>
            <a:r>
              <a:rPr lang="en-US" altLang="zh-CN" dirty="0" smtClean="0"/>
              <a:t>inception </a:t>
            </a:r>
            <a:r>
              <a:rPr lang="zh-CN" altLang="en-US" dirty="0" smtClean="0"/>
              <a:t>设计的初衷。</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551778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首先，神经网络的权重矩阵是稀疏的，如果能将上图左边的稀疏矩阵和（</a:t>
            </a:r>
            <a:r>
              <a:rPr lang="en-US" altLang="zh-CN" dirty="0" smtClean="0"/>
              <a:t>2,2)</a:t>
            </a:r>
            <a:r>
              <a:rPr lang="zh-CN" altLang="en-US" dirty="0" smtClean="0"/>
              <a:t>的矩阵卷积转换成右边</a:t>
            </a:r>
            <a:r>
              <a:rPr lang="en-US" altLang="zh-CN" dirty="0" smtClean="0"/>
              <a:t>2</a:t>
            </a:r>
            <a:r>
              <a:rPr lang="zh-CN" altLang="en-US" dirty="0" smtClean="0"/>
              <a:t>个子矩阵和（</a:t>
            </a:r>
            <a:r>
              <a:rPr lang="en-US" altLang="zh-CN" dirty="0" smtClean="0"/>
              <a:t>2,2</a:t>
            </a:r>
            <a:r>
              <a:rPr lang="zh-CN" altLang="en-US" dirty="0" smtClean="0"/>
              <a:t>）矩阵做卷积的方式，就能大大降低计算量。那么</a:t>
            </a:r>
            <a:r>
              <a:rPr lang="en-US" altLang="zh-CN" dirty="0" smtClean="0"/>
              <a:t>,</a:t>
            </a:r>
            <a:r>
              <a:rPr lang="zh-CN" altLang="en-US" dirty="0" smtClean="0"/>
              <a:t>同样的道理，应用在降低卷积神经网络的计算量上就产生了下图所示的 </a:t>
            </a:r>
            <a:r>
              <a:rPr lang="en-US" altLang="zh-CN" dirty="0" smtClean="0"/>
              <a:t>inception </a:t>
            </a:r>
            <a:r>
              <a:rPr lang="zh-CN" altLang="en-US" dirty="0" smtClean="0"/>
              <a:t>结构。在这个结构中，将</a:t>
            </a:r>
            <a:r>
              <a:rPr lang="en-US" altLang="zh-CN" dirty="0" smtClean="0"/>
              <a:t>256</a:t>
            </a:r>
            <a:r>
              <a:rPr lang="zh-CN" altLang="en-US" dirty="0" smtClean="0"/>
              <a:t>个均匀分布在（</a:t>
            </a:r>
            <a:r>
              <a:rPr lang="en-US" altLang="zh-CN" dirty="0" smtClean="0"/>
              <a:t>3</a:t>
            </a:r>
            <a:r>
              <a:rPr lang="zh-CN" altLang="en-US" dirty="0" smtClean="0"/>
              <a:t>，</a:t>
            </a:r>
            <a:r>
              <a:rPr lang="en-US" altLang="zh-CN" dirty="0" smtClean="0"/>
              <a:t>3</a:t>
            </a:r>
            <a:r>
              <a:rPr lang="zh-CN" altLang="en-US" dirty="0" smtClean="0"/>
              <a:t>）尺度的特征转换成多个不同尺度的聚类，这样可以使计算更有效</a:t>
            </a:r>
            <a:r>
              <a:rPr lang="en-US" altLang="zh-CN" dirty="0" smtClean="0"/>
              <a:t>,</a:t>
            </a:r>
            <a:r>
              <a:rPr lang="zh-CN" altLang="en-US" dirty="0" smtClean="0"/>
              <a:t>收敛更快。</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8031667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但是，</a:t>
            </a:r>
            <a:r>
              <a:rPr lang="en-US" altLang="zh-CN" dirty="0" smtClean="0"/>
              <a:t>inception</a:t>
            </a:r>
            <a:r>
              <a:rPr lang="zh-CN" altLang="en-US" dirty="0" smtClean="0"/>
              <a:t>结构仍然有较大的计算量，如表所示。可以看出，对于最简单的</a:t>
            </a:r>
            <a:r>
              <a:rPr lang="en-US" altLang="zh-CN" dirty="0" smtClean="0"/>
              <a:t>inception</a:t>
            </a:r>
            <a:r>
              <a:rPr lang="zh-CN" altLang="en-US" dirty="0" smtClean="0"/>
              <a:t>结构而言，一个（</a:t>
            </a:r>
            <a:r>
              <a:rPr lang="en-US" altLang="zh-CN" dirty="0" smtClean="0"/>
              <a:t>28</a:t>
            </a:r>
            <a:r>
              <a:rPr lang="zh-CN" altLang="en-US" dirty="0" smtClean="0"/>
              <a:t>，</a:t>
            </a:r>
            <a:r>
              <a:rPr lang="en-US" altLang="zh-CN" dirty="0" smtClean="0"/>
              <a:t>28</a:t>
            </a:r>
            <a:r>
              <a:rPr lang="zh-CN" altLang="en-US" dirty="0" smtClean="0"/>
              <a:t>，</a:t>
            </a:r>
            <a:r>
              <a:rPr lang="en-US" altLang="zh-CN" dirty="0" smtClean="0"/>
              <a:t>256</a:t>
            </a:r>
            <a:r>
              <a:rPr lang="zh-CN" altLang="en-US" dirty="0" smtClean="0"/>
              <a:t>）的输入最终计算量约为</a:t>
            </a:r>
            <a:r>
              <a:rPr lang="en-US" altLang="zh-CN" dirty="0" smtClean="0"/>
              <a:t>854M</a:t>
            </a:r>
            <a:r>
              <a:rPr lang="zh-CN" altLang="en-US" dirty="0" smtClean="0"/>
              <a:t>。</a:t>
            </a:r>
            <a:endParaRPr lang="en-US" altLang="zh-CN" dirty="0" smtClean="0"/>
          </a:p>
          <a:p>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11162272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为了进一步减小计算量，</a:t>
            </a:r>
            <a:r>
              <a:rPr lang="en-US" altLang="zh-CN" sz="1200" b="0" i="0" kern="1200" dirty="0" err="1" smtClean="0">
                <a:solidFill>
                  <a:schemeClr val="tx1"/>
                </a:solidFill>
                <a:effectLst/>
                <a:latin typeface="+mn-lt"/>
                <a:ea typeface="+mn-ea"/>
                <a:cs typeface="+mn-cs"/>
              </a:rPr>
              <a:t>Szegedy</a:t>
            </a:r>
            <a:r>
              <a:rPr lang="zh-CN" altLang="en-US" sz="1200" b="0" i="0" kern="1200" dirty="0" smtClean="0">
                <a:solidFill>
                  <a:schemeClr val="tx1"/>
                </a:solidFill>
                <a:effectLst/>
                <a:latin typeface="+mn-lt"/>
                <a:ea typeface="+mn-ea"/>
                <a:cs typeface="+mn-cs"/>
              </a:rPr>
              <a:t>等人引入小尺寸</a:t>
            </a:r>
            <a:r>
              <a:rPr lang="en-US" altLang="zh-CN" sz="1200" b="0" i="0" kern="1200" dirty="0" smtClean="0">
                <a:solidFill>
                  <a:schemeClr val="tx1"/>
                </a:solidFill>
                <a:effectLst/>
                <a:latin typeface="+mn-lt"/>
                <a:ea typeface="+mn-ea"/>
                <a:cs typeface="+mn-cs"/>
              </a:rPr>
              <a:t>kernel</a:t>
            </a:r>
            <a:r>
              <a:rPr lang="zh-CN" altLang="en-US" sz="1200" b="0" i="0" kern="1200" dirty="0" smtClean="0">
                <a:solidFill>
                  <a:schemeClr val="tx1"/>
                </a:solidFill>
                <a:effectLst/>
                <a:latin typeface="+mn-lt"/>
                <a:ea typeface="+mn-ea"/>
                <a:cs typeface="+mn-cs"/>
              </a:rPr>
              <a:t>对</a:t>
            </a:r>
            <a:r>
              <a:rPr lang="en-US" altLang="zh-CN" sz="1200" b="0" i="0" kern="1200" dirty="0" smtClean="0">
                <a:solidFill>
                  <a:schemeClr val="tx1"/>
                </a:solidFill>
                <a:effectLst/>
                <a:latin typeface="+mn-lt"/>
                <a:ea typeface="+mn-ea"/>
                <a:cs typeface="+mn-cs"/>
              </a:rPr>
              <a:t>inception</a:t>
            </a:r>
            <a:r>
              <a:rPr lang="zh-CN" altLang="en-US" sz="1200" b="0" i="0" kern="1200" dirty="0" smtClean="0">
                <a:solidFill>
                  <a:schemeClr val="tx1"/>
                </a:solidFill>
                <a:effectLst/>
                <a:latin typeface="+mn-lt"/>
                <a:ea typeface="+mn-ea"/>
                <a:cs typeface="+mn-cs"/>
              </a:rPr>
              <a:t>结构进行降维，如图所示。通过降维，原来一个</a:t>
            </a:r>
            <a:r>
              <a:rPr lang="en-US" altLang="zh-CN" sz="1200" b="0" i="0" kern="1200" dirty="0" smtClean="0">
                <a:solidFill>
                  <a:schemeClr val="tx1"/>
                </a:solidFill>
                <a:effectLst/>
                <a:latin typeface="+mn-lt"/>
                <a:ea typeface="+mn-ea"/>
                <a:cs typeface="+mn-cs"/>
              </a:rPr>
              <a:t>28*28*256</a:t>
            </a:r>
            <a:r>
              <a:rPr lang="zh-CN" altLang="en-US" sz="1200" b="0" i="0" kern="1200" dirty="0" smtClean="0">
                <a:solidFill>
                  <a:schemeClr val="tx1"/>
                </a:solidFill>
                <a:effectLst/>
                <a:latin typeface="+mn-lt"/>
                <a:ea typeface="+mn-ea"/>
                <a:cs typeface="+mn-cs"/>
              </a:rPr>
              <a:t>的输入计算量仅仅需要降低到约</a:t>
            </a:r>
            <a:r>
              <a:rPr lang="en-US" altLang="zh-CN" sz="1200" b="0" i="0" kern="1200" dirty="0" smtClean="0">
                <a:solidFill>
                  <a:schemeClr val="tx1"/>
                </a:solidFill>
                <a:effectLst/>
                <a:latin typeface="+mn-lt"/>
                <a:ea typeface="+mn-ea"/>
                <a:cs typeface="+mn-cs"/>
              </a:rPr>
              <a:t>358M</a:t>
            </a:r>
            <a:r>
              <a:rPr lang="zh-CN" altLang="en-US" sz="1200" b="0" i="0" kern="1200" dirty="0" smtClean="0">
                <a:solidFill>
                  <a:schemeClr val="tx1"/>
                </a:solidFill>
                <a:effectLst/>
                <a:latin typeface="+mn-lt"/>
                <a:ea typeface="+mn-ea"/>
                <a:cs typeface="+mn-cs"/>
              </a:rPr>
              <a:t>。</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这里对图做一些补充说明。不同大小的卷积核意味着不同大小的感受野，最后拼接意味着不同尺度特征的融合，使用（</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5</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5</a:t>
            </a:r>
            <a:r>
              <a:rPr lang="zh-CN" altLang="en-US" sz="1200" b="0" i="0" kern="1200" dirty="0" smtClean="0">
                <a:solidFill>
                  <a:schemeClr val="tx1"/>
                </a:solidFill>
                <a:effectLst/>
                <a:latin typeface="+mn-lt"/>
                <a:ea typeface="+mn-ea"/>
                <a:cs typeface="+mn-cs"/>
              </a:rPr>
              <a:t>）的卷积核是为了方便对齐，设定步长为</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后，只需要分别设定填充的大小为</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就能得到相同维度的特征，并将这些特征拼接到一起。</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使用（</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）的卷积核到底有什么作用呢</a:t>
            </a:r>
            <a:r>
              <a:rPr lang="en-US" altLang="zh-CN" sz="1200" b="0" i="0" kern="1200" dirty="0" smtClean="0">
                <a:solidFill>
                  <a:schemeClr val="tx1"/>
                </a:solidFill>
                <a:effectLst/>
                <a:latin typeface="+mn-lt"/>
                <a:ea typeface="+mn-ea"/>
                <a:cs typeface="+mn-cs"/>
              </a:rPr>
              <a:t>?</a:t>
            </a:r>
          </a:p>
          <a:p>
            <a:r>
              <a:rPr lang="zh-CN" altLang="en-US" sz="1200" b="0" i="0" kern="1200" dirty="0" smtClean="0">
                <a:solidFill>
                  <a:schemeClr val="tx1"/>
                </a:solidFill>
                <a:effectLst/>
                <a:latin typeface="+mn-lt"/>
                <a:ea typeface="+mn-ea"/>
                <a:cs typeface="+mn-cs"/>
              </a:rPr>
              <a:t>答案是可以减小维度</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并且修正线性激活函数。比如</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上一层的输出为（</a:t>
            </a:r>
            <a:r>
              <a:rPr lang="en-US" altLang="zh-CN" sz="1200" b="0" i="0" kern="1200" dirty="0" smtClean="0">
                <a:solidFill>
                  <a:schemeClr val="tx1"/>
                </a:solidFill>
                <a:effectLst/>
                <a:latin typeface="+mn-lt"/>
                <a:ea typeface="+mn-ea"/>
                <a:cs typeface="+mn-cs"/>
              </a:rPr>
              <a:t>100,100</a:t>
            </a: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128</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经过具有</a:t>
            </a:r>
            <a:r>
              <a:rPr lang="en-US" altLang="zh-CN" sz="1200" b="0" i="0" kern="1200" dirty="0" smtClean="0">
                <a:solidFill>
                  <a:schemeClr val="tx1"/>
                </a:solidFill>
                <a:effectLst/>
                <a:latin typeface="+mn-lt"/>
                <a:ea typeface="+mn-ea"/>
                <a:cs typeface="+mn-cs"/>
              </a:rPr>
              <a:t>256</a:t>
            </a:r>
            <a:r>
              <a:rPr lang="zh-CN" altLang="en-US" sz="1200" b="0" i="0" kern="1200" dirty="0" smtClean="0">
                <a:solidFill>
                  <a:schemeClr val="tx1"/>
                </a:solidFill>
                <a:effectLst/>
                <a:latin typeface="+mn-lt"/>
                <a:ea typeface="+mn-ea"/>
                <a:cs typeface="+mn-cs"/>
              </a:rPr>
              <a:t>个通道的（</a:t>
            </a:r>
            <a:r>
              <a:rPr lang="en-US" altLang="zh-CN" sz="1200" b="0" i="0" kern="1200" dirty="0" smtClean="0">
                <a:solidFill>
                  <a:schemeClr val="tx1"/>
                </a:solidFill>
                <a:effectLst/>
                <a:latin typeface="+mn-lt"/>
                <a:ea typeface="+mn-ea"/>
                <a:cs typeface="+mn-cs"/>
              </a:rPr>
              <a:t>5,5</a:t>
            </a:r>
            <a:r>
              <a:rPr lang="zh-CN" altLang="en-US" sz="1200" b="0" i="0" kern="1200" dirty="0" smtClean="0">
                <a:solidFill>
                  <a:schemeClr val="tx1"/>
                </a:solidFill>
                <a:effectLst/>
                <a:latin typeface="+mn-lt"/>
                <a:ea typeface="+mn-ea"/>
                <a:cs typeface="+mn-cs"/>
              </a:rPr>
              <a:t>）卷积层之后（</a:t>
            </a:r>
            <a:r>
              <a:rPr lang="en-US" altLang="zh-CN" sz="1200" b="0" i="0" kern="1200" dirty="0" smtClean="0">
                <a:solidFill>
                  <a:schemeClr val="tx1"/>
                </a:solidFill>
                <a:effectLst/>
                <a:latin typeface="+mn-lt"/>
                <a:ea typeface="+mn-ea"/>
                <a:cs typeface="+mn-cs"/>
              </a:rPr>
              <a:t>stride=1, padding=2),</a:t>
            </a:r>
            <a:r>
              <a:rPr lang="zh-CN" altLang="en-US" sz="1200" b="0" i="0" kern="1200" dirty="0" smtClean="0">
                <a:solidFill>
                  <a:schemeClr val="tx1"/>
                </a:solidFill>
                <a:effectLst/>
                <a:latin typeface="+mn-lt"/>
                <a:ea typeface="+mn-ea"/>
                <a:cs typeface="+mn-cs"/>
              </a:rPr>
              <a:t>输出数据为（</a:t>
            </a:r>
            <a:r>
              <a:rPr lang="en-US" altLang="zh-CN" sz="1200" b="0" i="0" kern="1200" dirty="0" smtClean="0">
                <a:solidFill>
                  <a:schemeClr val="tx1"/>
                </a:solidFill>
                <a:effectLst/>
                <a:latin typeface="+mn-lt"/>
                <a:ea typeface="+mn-ea"/>
                <a:cs typeface="+mn-cs"/>
              </a:rPr>
              <a:t>100</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100,256</a:t>
            </a:r>
            <a:r>
              <a:rPr lang="zh-CN" altLang="en-US" sz="1200" b="0" i="0" kern="1200" dirty="0" smtClean="0">
                <a:solidFill>
                  <a:schemeClr val="tx1"/>
                </a:solidFill>
                <a:effectLst/>
                <a:latin typeface="+mn-lt"/>
                <a:ea typeface="+mn-ea"/>
                <a:cs typeface="+mn-cs"/>
              </a:rPr>
              <a:t>）。其中</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卷积层的参数为</a:t>
            </a:r>
            <a:r>
              <a:rPr lang="en-US" altLang="zh-CN" sz="1200" b="0" i="0" kern="1200" dirty="0" smtClean="0">
                <a:solidFill>
                  <a:schemeClr val="tx1"/>
                </a:solidFill>
                <a:effectLst/>
                <a:latin typeface="+mn-lt"/>
                <a:ea typeface="+mn-ea"/>
                <a:cs typeface="+mn-cs"/>
              </a:rPr>
              <a:t>128×5×5×256=819200</a:t>
            </a:r>
            <a:r>
              <a:rPr lang="zh-CN" altLang="en-US" sz="1200" b="0" i="0" kern="1200" dirty="0" smtClean="0">
                <a:solidFill>
                  <a:schemeClr val="tx1"/>
                </a:solidFill>
                <a:effectLst/>
                <a:latin typeface="+mn-lt"/>
                <a:ea typeface="+mn-ea"/>
                <a:cs typeface="+mn-cs"/>
              </a:rPr>
              <a:t>。而假如上一层输出先经过具有</a:t>
            </a:r>
            <a:r>
              <a:rPr lang="en-US" altLang="zh-CN" sz="1200" b="0" i="0" kern="1200" dirty="0" smtClean="0">
                <a:solidFill>
                  <a:schemeClr val="tx1"/>
                </a:solidFill>
                <a:effectLst/>
                <a:latin typeface="+mn-lt"/>
                <a:ea typeface="+mn-ea"/>
                <a:cs typeface="+mn-cs"/>
              </a:rPr>
              <a:t>32</a:t>
            </a:r>
            <a:r>
              <a:rPr lang="zh-CN" altLang="en-US" sz="1200" b="0" i="0" kern="1200" dirty="0" smtClean="0">
                <a:solidFill>
                  <a:schemeClr val="tx1"/>
                </a:solidFill>
                <a:effectLst/>
                <a:latin typeface="+mn-lt"/>
                <a:ea typeface="+mn-ea"/>
                <a:cs typeface="+mn-cs"/>
              </a:rPr>
              <a:t>个通道的（</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卷积层，再经过具有</a:t>
            </a:r>
            <a:r>
              <a:rPr lang="en-US" altLang="zh-CN" sz="1200" b="0" i="0" kern="1200" dirty="0" smtClean="0">
                <a:solidFill>
                  <a:schemeClr val="tx1"/>
                </a:solidFill>
                <a:effectLst/>
                <a:latin typeface="+mn-lt"/>
                <a:ea typeface="+mn-ea"/>
                <a:cs typeface="+mn-cs"/>
              </a:rPr>
              <a:t>256</a:t>
            </a:r>
            <a:r>
              <a:rPr lang="zh-CN" altLang="en-US" sz="1200" b="0" i="0" kern="1200" dirty="0" smtClean="0">
                <a:solidFill>
                  <a:schemeClr val="tx1"/>
                </a:solidFill>
                <a:effectLst/>
                <a:latin typeface="+mn-lt"/>
                <a:ea typeface="+mn-ea"/>
                <a:cs typeface="+mn-cs"/>
              </a:rPr>
              <a:t>个输出的</a:t>
            </a:r>
            <a:r>
              <a:rPr lang="en-US" altLang="zh-CN" sz="1200" b="0" i="0" kern="1200" dirty="0" smtClean="0">
                <a:solidFill>
                  <a:schemeClr val="tx1"/>
                </a:solidFill>
                <a:effectLst/>
                <a:latin typeface="+mn-lt"/>
                <a:ea typeface="+mn-ea"/>
                <a:cs typeface="+mn-cs"/>
              </a:rPr>
              <a:t>(5,5</a:t>
            </a:r>
            <a:r>
              <a:rPr lang="zh-CN" altLang="en-US" sz="1200" b="0" i="0" kern="1200" dirty="0" smtClean="0">
                <a:solidFill>
                  <a:schemeClr val="tx1"/>
                </a:solidFill>
                <a:effectLst/>
                <a:latin typeface="+mn-lt"/>
                <a:ea typeface="+mn-ea"/>
                <a:cs typeface="+mn-cs"/>
              </a:rPr>
              <a:t>）卷积层，那么输出数据仍为（</a:t>
            </a:r>
            <a:r>
              <a:rPr lang="en-US" altLang="zh-CN" sz="1200" b="0" i="0" kern="1200" dirty="0" smtClean="0">
                <a:solidFill>
                  <a:schemeClr val="tx1"/>
                </a:solidFill>
                <a:effectLst/>
                <a:latin typeface="+mn-lt"/>
                <a:ea typeface="+mn-ea"/>
                <a:cs typeface="+mn-cs"/>
              </a:rPr>
              <a:t>100,100</a:t>
            </a: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256),</a:t>
            </a:r>
            <a:r>
              <a:rPr lang="zh-CN" altLang="en-US" sz="1200" b="0" i="0" kern="1200" dirty="0" smtClean="0">
                <a:solidFill>
                  <a:schemeClr val="tx1"/>
                </a:solidFill>
                <a:effectLst/>
                <a:latin typeface="+mn-lt"/>
                <a:ea typeface="+mn-ea"/>
                <a:cs typeface="+mn-cs"/>
              </a:rPr>
              <a:t>但卷积参数量已经减少为</a:t>
            </a:r>
            <a:r>
              <a:rPr lang="en-US" altLang="zh-CN" sz="1200" b="0" i="0" kern="1200" dirty="0" smtClean="0">
                <a:solidFill>
                  <a:schemeClr val="tx1"/>
                </a:solidFill>
                <a:effectLst/>
                <a:latin typeface="+mn-lt"/>
                <a:ea typeface="+mn-ea"/>
                <a:cs typeface="+mn-cs"/>
              </a:rPr>
              <a:t>128×1×1×32+32×5×5×256=204800,</a:t>
            </a:r>
            <a:r>
              <a:rPr lang="zh-CN" altLang="en-US" sz="1200" b="0" i="0" kern="1200" dirty="0" smtClean="0">
                <a:solidFill>
                  <a:schemeClr val="tx1"/>
                </a:solidFill>
                <a:effectLst/>
                <a:latin typeface="+mn-lt"/>
                <a:ea typeface="+mn-ea"/>
                <a:cs typeface="+mn-cs"/>
              </a:rPr>
              <a:t>大约减少了</a:t>
            </a:r>
            <a:r>
              <a:rPr lang="en-US" altLang="zh-CN" sz="1200" b="0" i="0" kern="1200" dirty="0" smtClean="0">
                <a:solidFill>
                  <a:schemeClr val="tx1"/>
                </a:solidFill>
                <a:effectLst/>
                <a:latin typeface="+mn-lt"/>
                <a:ea typeface="+mn-ea"/>
                <a:cs typeface="+mn-cs"/>
              </a:rPr>
              <a:t>4</a:t>
            </a:r>
            <a:r>
              <a:rPr lang="zh-CN" altLang="en-US" sz="1200" b="0" i="0" kern="1200" dirty="0" smtClean="0">
                <a:solidFill>
                  <a:schemeClr val="tx1"/>
                </a:solidFill>
                <a:effectLst/>
                <a:latin typeface="+mn-lt"/>
                <a:ea typeface="+mn-ea"/>
                <a:cs typeface="+mn-cs"/>
              </a:rPr>
              <a:t>倍。</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除了</a:t>
            </a:r>
            <a:r>
              <a:rPr lang="en-US" altLang="zh-CN" sz="1200" b="0" i="0" kern="1200" dirty="0" smtClean="0">
                <a:solidFill>
                  <a:schemeClr val="tx1"/>
                </a:solidFill>
                <a:effectLst/>
                <a:latin typeface="+mn-lt"/>
                <a:ea typeface="+mn-ea"/>
                <a:cs typeface="+mn-cs"/>
              </a:rPr>
              <a:t>inception</a:t>
            </a:r>
            <a:r>
              <a:rPr lang="zh-CN" altLang="en-US" sz="1200" b="0" i="0" kern="1200" dirty="0" smtClean="0">
                <a:solidFill>
                  <a:schemeClr val="tx1"/>
                </a:solidFill>
                <a:effectLst/>
                <a:latin typeface="+mn-lt"/>
                <a:ea typeface="+mn-ea"/>
                <a:cs typeface="+mn-cs"/>
              </a:rPr>
              <a:t>结构</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可以发现</a:t>
            </a:r>
            <a:r>
              <a:rPr lang="en-US" altLang="zh-CN" sz="1200" b="0" i="0" kern="1200" dirty="0" err="1" smtClean="0">
                <a:solidFill>
                  <a:schemeClr val="tx1"/>
                </a:solidFill>
                <a:effectLst/>
                <a:latin typeface="+mn-lt"/>
                <a:ea typeface="+mn-ea"/>
                <a:cs typeface="+mn-cs"/>
              </a:rPr>
              <a:t>GoogleNet</a:t>
            </a:r>
            <a:r>
              <a:rPr lang="zh-CN" altLang="en-US" sz="1200" b="0" i="0" kern="1200" dirty="0" smtClean="0">
                <a:solidFill>
                  <a:schemeClr val="tx1"/>
                </a:solidFill>
                <a:effectLst/>
                <a:latin typeface="+mn-lt"/>
                <a:ea typeface="+mn-ea"/>
                <a:cs typeface="+mn-cs"/>
              </a:rPr>
              <a:t>的另外一个特点是主干网络部分使用了卷积网络，仅在最终分类使用全连接层。</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7279260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接着我们简单介绍一下 </a:t>
            </a:r>
            <a:r>
              <a:rPr lang="en-US" altLang="zh-CN" dirty="0" err="1" smtClean="0"/>
              <a:t>GoogleNet</a:t>
            </a:r>
            <a:r>
              <a:rPr lang="zh-CN" altLang="en-US" dirty="0" smtClean="0"/>
              <a:t>第二版到第四版的演变。</a:t>
            </a:r>
          </a:p>
          <a:p>
            <a:r>
              <a:rPr lang="en-US" altLang="zh-CN" dirty="0" smtClean="0"/>
              <a:t>inception</a:t>
            </a:r>
            <a:r>
              <a:rPr lang="zh-CN" altLang="en-US" dirty="0" smtClean="0"/>
              <a:t>第二版其实在网络结构上没有什么改动，只是在输入的时候增加了批标准化操作（</a:t>
            </a:r>
            <a:r>
              <a:rPr lang="en-US" altLang="zh-CN" dirty="0" smtClean="0"/>
              <a:t>batch normal).</a:t>
            </a:r>
            <a:r>
              <a:rPr lang="zh-CN" altLang="en-US" dirty="0" smtClean="0"/>
              <a:t>加入批标准化操作后，训练模型收敛更快</a:t>
            </a:r>
            <a:r>
              <a:rPr lang="en-US" altLang="zh-CN" dirty="0" smtClean="0"/>
              <a:t>,</a:t>
            </a:r>
            <a:r>
              <a:rPr lang="zh-CN" altLang="en-US" dirty="0" smtClean="0"/>
              <a:t>学习起来自然更高效。参考</a:t>
            </a:r>
            <a:r>
              <a:rPr lang="en-US" altLang="zh-CN" dirty="0" smtClean="0"/>
              <a:t>VGG</a:t>
            </a:r>
            <a:r>
              <a:rPr lang="zh-CN" altLang="en-US" dirty="0" smtClean="0"/>
              <a:t>的处理方式，把</a:t>
            </a:r>
            <a:r>
              <a:rPr lang="en-US" altLang="zh-CN" dirty="0" smtClean="0"/>
              <a:t>5×5</a:t>
            </a:r>
            <a:r>
              <a:rPr lang="zh-CN" altLang="en-US" dirty="0" smtClean="0"/>
              <a:t>的卷积改成两个</a:t>
            </a:r>
            <a:r>
              <a:rPr lang="en-US" altLang="zh-CN" dirty="0" smtClean="0"/>
              <a:t>3×3</a:t>
            </a:r>
            <a:r>
              <a:rPr lang="zh-CN" altLang="en-US" dirty="0" smtClean="0"/>
              <a:t>卷积串联，因为一个</a:t>
            </a:r>
            <a:r>
              <a:rPr lang="en-US" altLang="zh-CN" dirty="0" smtClean="0"/>
              <a:t>5x5</a:t>
            </a:r>
            <a:r>
              <a:rPr lang="zh-CN" altLang="en-US" dirty="0" smtClean="0"/>
              <a:t>的卷积看起来像是一个</a:t>
            </a:r>
            <a:r>
              <a:rPr lang="en-US" altLang="zh-CN" dirty="0" smtClean="0"/>
              <a:t>5×5</a:t>
            </a:r>
            <a:r>
              <a:rPr lang="zh-CN" altLang="en-US" dirty="0" smtClean="0"/>
              <a:t>的全连接，所以直接用两个</a:t>
            </a:r>
            <a:r>
              <a:rPr lang="en-US" altLang="zh-CN" dirty="0" smtClean="0"/>
              <a:t>3×3</a:t>
            </a:r>
            <a:r>
              <a:rPr lang="zh-CN" altLang="en-US" dirty="0" smtClean="0"/>
              <a:t>的卷积替代</a:t>
            </a:r>
            <a:r>
              <a:rPr lang="en-US" altLang="zh-CN" dirty="0" smtClean="0"/>
              <a:t>,</a:t>
            </a:r>
            <a:r>
              <a:rPr lang="zh-CN" altLang="en-US" dirty="0" smtClean="0"/>
              <a:t>第一层是卷积层，第二层相当于全连接层</a:t>
            </a:r>
            <a:r>
              <a:rPr lang="en-US" altLang="zh-CN" dirty="0" smtClean="0"/>
              <a:t>,</a:t>
            </a:r>
            <a:r>
              <a:rPr lang="zh-CN" altLang="en-US" dirty="0" smtClean="0"/>
              <a:t>这样可以增加网络的深度</a:t>
            </a:r>
            <a:r>
              <a:rPr lang="en-US" altLang="zh-CN" dirty="0" smtClean="0"/>
              <a:t>,</a:t>
            </a:r>
            <a:r>
              <a:rPr lang="zh-CN" altLang="en-US" dirty="0" smtClean="0"/>
              <a:t>并且减少很多参数</a:t>
            </a:r>
            <a:r>
              <a:rPr lang="en-US" altLang="zh-CN" dirty="0" smtClean="0"/>
              <a:t>,</a:t>
            </a:r>
            <a:r>
              <a:rPr lang="zh-CN" altLang="en-US" dirty="0" smtClean="0"/>
              <a:t>如图所示。</a:t>
            </a:r>
          </a:p>
          <a:p>
            <a:r>
              <a:rPr lang="en-US" altLang="zh-CN" dirty="0" smtClean="0"/>
              <a:t>inception</a:t>
            </a:r>
            <a:r>
              <a:rPr lang="zh-CN" altLang="en-US" dirty="0" smtClean="0"/>
              <a:t>第三版把 </a:t>
            </a:r>
            <a:r>
              <a:rPr lang="en-US" altLang="zh-CN" dirty="0" err="1" smtClean="0"/>
              <a:t>GoogLeNet</a:t>
            </a:r>
            <a:r>
              <a:rPr lang="zh-CN" altLang="en-US" dirty="0" smtClean="0"/>
              <a:t>中的一些</a:t>
            </a:r>
            <a:r>
              <a:rPr lang="en-US" altLang="zh-CN" dirty="0" smtClean="0"/>
              <a:t>(7,7)</a:t>
            </a:r>
            <a:r>
              <a:rPr lang="zh-CN" altLang="en-US" dirty="0" smtClean="0"/>
              <a:t>卷积变成了</a:t>
            </a:r>
            <a:r>
              <a:rPr lang="en-US" altLang="zh-CN" dirty="0" smtClean="0"/>
              <a:t>(1,7</a:t>
            </a:r>
            <a:r>
              <a:rPr lang="zh-CN" altLang="en-US" dirty="0" smtClean="0"/>
              <a:t>）和（</a:t>
            </a:r>
            <a:r>
              <a:rPr lang="en-US" altLang="zh-CN" dirty="0" smtClean="0"/>
              <a:t>7</a:t>
            </a:r>
            <a:r>
              <a:rPr lang="zh-CN" altLang="en-US" dirty="0" smtClean="0"/>
              <a:t>，</a:t>
            </a:r>
            <a:r>
              <a:rPr lang="en-US" altLang="zh-CN" dirty="0" smtClean="0"/>
              <a:t>1)</a:t>
            </a:r>
            <a:r>
              <a:rPr lang="zh-CN" altLang="en-US" dirty="0" smtClean="0"/>
              <a:t>两层卷积串联</a:t>
            </a:r>
            <a:r>
              <a:rPr lang="en-US" altLang="zh-CN" dirty="0" smtClean="0"/>
              <a:t>;(3,3</a:t>
            </a:r>
            <a:r>
              <a:rPr lang="zh-CN" altLang="en-US" dirty="0" smtClean="0"/>
              <a:t>）的卷积也一样</a:t>
            </a:r>
            <a:r>
              <a:rPr lang="en-US" altLang="zh-CN" dirty="0" smtClean="0"/>
              <a:t>,</a:t>
            </a:r>
            <a:r>
              <a:rPr lang="zh-CN" altLang="en-US" dirty="0" smtClean="0"/>
              <a:t>变成了（</a:t>
            </a:r>
            <a:r>
              <a:rPr lang="en-US" altLang="zh-CN" dirty="0" smtClean="0"/>
              <a:t>1,3</a:t>
            </a:r>
            <a:r>
              <a:rPr lang="zh-CN" altLang="en-US" dirty="0" smtClean="0"/>
              <a:t>）和（</a:t>
            </a:r>
            <a:r>
              <a:rPr lang="en-US" altLang="zh-CN" dirty="0" smtClean="0"/>
              <a:t>3</a:t>
            </a:r>
            <a:r>
              <a:rPr lang="zh-CN" altLang="en-US" dirty="0" smtClean="0"/>
              <a:t>，</a:t>
            </a:r>
            <a:r>
              <a:rPr lang="en-US" altLang="zh-CN" dirty="0" smtClean="0"/>
              <a:t>1</a:t>
            </a:r>
            <a:r>
              <a:rPr lang="zh-CN" altLang="en-US" dirty="0" smtClean="0"/>
              <a:t>）两层卷积串联</a:t>
            </a:r>
            <a:r>
              <a:rPr lang="en-US" altLang="zh-CN" dirty="0" smtClean="0"/>
              <a:t>,</a:t>
            </a:r>
            <a:r>
              <a:rPr lang="zh-CN" altLang="en-US" dirty="0" smtClean="0"/>
              <a:t>这样做加速了计算</a:t>
            </a:r>
            <a:r>
              <a:rPr lang="en-US" altLang="zh-CN" dirty="0" smtClean="0"/>
              <a:t>,</a:t>
            </a:r>
            <a:r>
              <a:rPr lang="zh-CN" altLang="en-US" dirty="0" smtClean="0"/>
              <a:t>还增加了网络的非线性</a:t>
            </a:r>
            <a:r>
              <a:rPr lang="en-US" altLang="zh-CN" dirty="0" smtClean="0"/>
              <a:t>,</a:t>
            </a:r>
            <a:r>
              <a:rPr lang="zh-CN" altLang="en-US" dirty="0" smtClean="0"/>
              <a:t>减小过拟合的概率。另外</a:t>
            </a:r>
            <a:r>
              <a:rPr lang="en-US" altLang="zh-CN" dirty="0" smtClean="0"/>
              <a:t>,</a:t>
            </a:r>
            <a:r>
              <a:rPr lang="zh-CN" altLang="en-US" dirty="0" smtClean="0"/>
              <a:t>网络的输入特征图尺寸从（</a:t>
            </a:r>
            <a:r>
              <a:rPr lang="en-US" altLang="zh-CN" dirty="0" smtClean="0"/>
              <a:t>224,224</a:t>
            </a:r>
            <a:r>
              <a:rPr lang="zh-CN" altLang="en-US" dirty="0" smtClean="0"/>
              <a:t>）改成了（</a:t>
            </a:r>
            <a:r>
              <a:rPr lang="en-US" altLang="zh-CN" dirty="0" smtClean="0"/>
              <a:t>299, 299)</a:t>
            </a:r>
            <a:r>
              <a:rPr lang="zh-CN" altLang="en-US" dirty="0" smtClean="0"/>
              <a:t>。</a:t>
            </a:r>
          </a:p>
          <a:p>
            <a:r>
              <a:rPr lang="en-US" altLang="zh-CN" dirty="0" smtClean="0"/>
              <a:t>Inception</a:t>
            </a:r>
            <a:r>
              <a:rPr lang="zh-CN" altLang="en-US" dirty="0" smtClean="0"/>
              <a:t>第四版是在上一版的基础上增加了</a:t>
            </a:r>
            <a:r>
              <a:rPr lang="en-US" altLang="zh-CN" dirty="0" err="1" smtClean="0"/>
              <a:t>ResNet</a:t>
            </a:r>
            <a:r>
              <a:rPr lang="zh-CN" altLang="en-US" dirty="0" smtClean="0"/>
              <a:t>方法及一些细微的改变</a:t>
            </a:r>
            <a:r>
              <a:rPr lang="en-US" altLang="zh-CN" dirty="0" smtClean="0"/>
              <a:t>(</a:t>
            </a:r>
            <a:r>
              <a:rPr lang="zh-CN" altLang="en-US" dirty="0" smtClean="0"/>
              <a:t>需要了解细节的同学可以直接查阅论文</a:t>
            </a:r>
            <a:r>
              <a:rPr lang="en-US" altLang="zh-CN" dirty="0" smtClean="0"/>
              <a:t>)</a:t>
            </a:r>
            <a:r>
              <a:rPr lang="zh-CN" altLang="en-US" dirty="0" smtClean="0"/>
              <a:t>。引入</a:t>
            </a:r>
            <a:r>
              <a:rPr lang="en-US" altLang="zh-CN" dirty="0" err="1" smtClean="0"/>
              <a:t>ResNet</a:t>
            </a:r>
            <a:r>
              <a:rPr lang="zh-CN" altLang="en-US" dirty="0" smtClean="0"/>
              <a:t>方法并不是为了提高深度和准确度，只是用来提高训练速度。</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13394165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GoogleNet</a:t>
            </a:r>
            <a:r>
              <a:rPr lang="zh-CN" altLang="en-US" dirty="0" smtClean="0"/>
              <a:t>神经网络整体结构如图所示。这里做一下解释说明：</a:t>
            </a:r>
            <a:endParaRPr lang="en-US" altLang="zh-CN" dirty="0" smtClean="0"/>
          </a:p>
          <a:p>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GoogLeNet</a:t>
            </a:r>
            <a:r>
              <a:rPr lang="zh-CN" altLang="en-US" sz="1200" b="0" i="0" kern="1200" dirty="0" smtClean="0">
                <a:solidFill>
                  <a:schemeClr val="tx1"/>
                </a:solidFill>
                <a:effectLst/>
                <a:latin typeface="+mn-lt"/>
                <a:ea typeface="+mn-ea"/>
                <a:cs typeface="+mn-cs"/>
              </a:rPr>
              <a:t>采用了模块化的结构（</a:t>
            </a:r>
            <a:r>
              <a:rPr lang="en-US" altLang="zh-CN" sz="1200" b="0" i="0" kern="1200" dirty="0" smtClean="0">
                <a:solidFill>
                  <a:schemeClr val="tx1"/>
                </a:solidFill>
                <a:effectLst/>
                <a:latin typeface="+mn-lt"/>
                <a:ea typeface="+mn-ea"/>
                <a:cs typeface="+mn-cs"/>
              </a:rPr>
              <a:t>Inception</a:t>
            </a:r>
            <a:r>
              <a:rPr lang="zh-CN" altLang="en-US" sz="1200" b="0" i="0" kern="1200" dirty="0" smtClean="0">
                <a:solidFill>
                  <a:schemeClr val="tx1"/>
                </a:solidFill>
                <a:effectLst/>
                <a:latin typeface="+mn-lt"/>
                <a:ea typeface="+mn-ea"/>
                <a:cs typeface="+mn-cs"/>
              </a:rPr>
              <a:t>结构），方便增添和修改；</a:t>
            </a:r>
          </a:p>
          <a:p>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）网络最后采用了</a:t>
            </a:r>
            <a:r>
              <a:rPr lang="en-US" altLang="zh-CN" sz="1200" b="0" i="0" kern="1200" dirty="0" smtClean="0">
                <a:solidFill>
                  <a:schemeClr val="tx1"/>
                </a:solidFill>
                <a:effectLst/>
                <a:latin typeface="+mn-lt"/>
                <a:ea typeface="+mn-ea"/>
                <a:cs typeface="+mn-cs"/>
              </a:rPr>
              <a:t>average pooling</a:t>
            </a:r>
            <a:r>
              <a:rPr lang="zh-CN" altLang="en-US" sz="1200" b="0" i="0" kern="1200" dirty="0" smtClean="0">
                <a:solidFill>
                  <a:schemeClr val="tx1"/>
                </a:solidFill>
                <a:effectLst/>
                <a:latin typeface="+mn-lt"/>
                <a:ea typeface="+mn-ea"/>
                <a:cs typeface="+mn-cs"/>
              </a:rPr>
              <a:t>（平均池化）来代替全连接层，该想法来自</a:t>
            </a:r>
            <a:r>
              <a:rPr lang="en-US" altLang="zh-CN" sz="1200" b="0" i="0" kern="1200" dirty="0" smtClean="0">
                <a:solidFill>
                  <a:schemeClr val="tx1"/>
                </a:solidFill>
                <a:effectLst/>
                <a:latin typeface="+mn-lt"/>
                <a:ea typeface="+mn-ea"/>
                <a:cs typeface="+mn-cs"/>
              </a:rPr>
              <a:t>NIN</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Network in Network</a:t>
            </a:r>
            <a:r>
              <a:rPr lang="zh-CN" altLang="en-US" sz="1200" b="0" i="0" kern="1200" dirty="0" smtClean="0">
                <a:solidFill>
                  <a:schemeClr val="tx1"/>
                </a:solidFill>
                <a:effectLst/>
                <a:latin typeface="+mn-lt"/>
                <a:ea typeface="+mn-ea"/>
                <a:cs typeface="+mn-cs"/>
              </a:rPr>
              <a:t>），事实证明这样可以将准确率提高</a:t>
            </a:r>
            <a:r>
              <a:rPr lang="en-US" altLang="zh-CN" sz="1200" b="0" i="0" kern="1200" dirty="0" smtClean="0">
                <a:solidFill>
                  <a:schemeClr val="tx1"/>
                </a:solidFill>
                <a:effectLst/>
                <a:latin typeface="+mn-lt"/>
                <a:ea typeface="+mn-ea"/>
                <a:cs typeface="+mn-cs"/>
              </a:rPr>
              <a:t>0.6%</a:t>
            </a:r>
            <a:r>
              <a:rPr lang="zh-CN" altLang="en-US" sz="1200" b="0" i="0" kern="1200" dirty="0" smtClean="0">
                <a:solidFill>
                  <a:schemeClr val="tx1"/>
                </a:solidFill>
                <a:effectLst/>
                <a:latin typeface="+mn-lt"/>
                <a:ea typeface="+mn-ea"/>
                <a:cs typeface="+mn-cs"/>
              </a:rPr>
              <a:t>。</a:t>
            </a:r>
          </a:p>
          <a:p>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）虽然移除了全连接，但是网络中依然使用了</a:t>
            </a:r>
            <a:r>
              <a:rPr lang="en-US" altLang="zh-CN" sz="1200" b="0" i="0" kern="1200" dirty="0" smtClean="0">
                <a:solidFill>
                  <a:schemeClr val="tx1"/>
                </a:solidFill>
                <a:effectLst/>
                <a:latin typeface="+mn-lt"/>
                <a:ea typeface="+mn-ea"/>
                <a:cs typeface="+mn-cs"/>
              </a:rPr>
              <a:t>Dropout ;</a:t>
            </a:r>
          </a:p>
          <a:p>
            <a:r>
              <a:rPr lang="en-US" altLang="zh-CN" sz="1200" b="0" i="0" kern="1200" dirty="0" smtClean="0">
                <a:solidFill>
                  <a:schemeClr val="tx1"/>
                </a:solidFill>
                <a:effectLst/>
                <a:latin typeface="+mn-lt"/>
                <a:ea typeface="+mn-ea"/>
                <a:cs typeface="+mn-cs"/>
              </a:rPr>
              <a:t>4</a:t>
            </a:r>
            <a:r>
              <a:rPr lang="zh-CN" altLang="en-US" sz="1200" b="0" i="0" kern="1200" dirty="0" smtClean="0">
                <a:solidFill>
                  <a:schemeClr val="tx1"/>
                </a:solidFill>
                <a:effectLst/>
                <a:latin typeface="+mn-lt"/>
                <a:ea typeface="+mn-ea"/>
                <a:cs typeface="+mn-cs"/>
              </a:rPr>
              <a:t>）为了避免梯度消失，网络额外增加了</a:t>
            </a:r>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个辅助的</a:t>
            </a:r>
            <a:r>
              <a:rPr lang="en-US" altLang="zh-CN" sz="1200" b="0" i="0" kern="1200" dirty="0" err="1" smtClean="0">
                <a:solidFill>
                  <a:schemeClr val="tx1"/>
                </a:solidFill>
                <a:effectLst/>
                <a:latin typeface="+mn-lt"/>
                <a:ea typeface="+mn-ea"/>
                <a:cs typeface="+mn-cs"/>
              </a:rPr>
              <a:t>softmax</a:t>
            </a:r>
            <a:r>
              <a:rPr lang="zh-CN" altLang="en-US" sz="1200" b="0" i="0" kern="1200" dirty="0" smtClean="0">
                <a:solidFill>
                  <a:schemeClr val="tx1"/>
                </a:solidFill>
                <a:effectLst/>
                <a:latin typeface="+mn-lt"/>
                <a:ea typeface="+mn-ea"/>
                <a:cs typeface="+mn-cs"/>
              </a:rPr>
              <a:t>用于向前传导梯度（辅助分类器）</a:t>
            </a:r>
          </a:p>
          <a:p>
            <a:r>
              <a:rPr lang="zh-CN" altLang="en-US" sz="1200" b="0" i="0" kern="1200" dirty="0" smtClean="0">
                <a:solidFill>
                  <a:schemeClr val="tx1"/>
                </a:solidFill>
                <a:effectLst/>
                <a:latin typeface="+mn-lt"/>
                <a:ea typeface="+mn-ea"/>
                <a:cs typeface="+mn-cs"/>
              </a:rPr>
              <a:t>对于前三点都很好理解，下面我们重点看一下第</a:t>
            </a:r>
            <a:r>
              <a:rPr lang="en-US" altLang="zh-CN" sz="1200" b="0" i="0" kern="1200" dirty="0" smtClean="0">
                <a:solidFill>
                  <a:schemeClr val="tx1"/>
                </a:solidFill>
                <a:effectLst/>
                <a:latin typeface="+mn-lt"/>
                <a:ea typeface="+mn-ea"/>
                <a:cs typeface="+mn-cs"/>
              </a:rPr>
              <a:t>4</a:t>
            </a:r>
            <a:r>
              <a:rPr lang="zh-CN" altLang="en-US" sz="1200" b="0" i="0" kern="1200" dirty="0" smtClean="0">
                <a:solidFill>
                  <a:schemeClr val="tx1"/>
                </a:solidFill>
                <a:effectLst/>
                <a:latin typeface="+mn-lt"/>
                <a:ea typeface="+mn-ea"/>
                <a:cs typeface="+mn-cs"/>
              </a:rPr>
              <a:t>点。这里的辅助分类器只是在训练时使用，在正常预测时会被去掉。辅助分类器促进了更稳定的学习和更好的收敛，往往在接近训练结束时，辅助分支网络开始超越没有任何分支的网络的准确性，达到了更高的水平。</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1138693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2015</a:t>
            </a:r>
            <a:r>
              <a:rPr lang="zh-CN" altLang="en-US" dirty="0" smtClean="0"/>
              <a:t>年何恺明提出了</a:t>
            </a:r>
            <a:r>
              <a:rPr lang="en-US" altLang="zh-CN" dirty="0" smtClean="0"/>
              <a:t>152</a:t>
            </a:r>
            <a:r>
              <a:rPr lang="zh-CN" altLang="en-US" dirty="0" smtClean="0"/>
              <a:t>层的</a:t>
            </a:r>
            <a:r>
              <a:rPr lang="en-US" altLang="zh-CN" dirty="0" err="1" smtClean="0"/>
              <a:t>ResNet</a:t>
            </a:r>
            <a:r>
              <a:rPr lang="en-US" altLang="zh-CN" dirty="0" smtClean="0"/>
              <a:t>,</a:t>
            </a:r>
            <a:r>
              <a:rPr lang="zh-CN" altLang="en-US" dirty="0" smtClean="0"/>
              <a:t>以 </a:t>
            </a:r>
            <a:r>
              <a:rPr lang="en-US" altLang="zh-CN" dirty="0" smtClean="0"/>
              <a:t>top1</a:t>
            </a:r>
            <a:r>
              <a:rPr lang="zh-CN" altLang="en-US" dirty="0" smtClean="0"/>
              <a:t>误差</a:t>
            </a:r>
            <a:r>
              <a:rPr lang="en-US" altLang="zh-CN" dirty="0" smtClean="0"/>
              <a:t>3.6%</a:t>
            </a:r>
            <a:r>
              <a:rPr lang="zh-CN" altLang="en-US" dirty="0" smtClean="0"/>
              <a:t>的图像识别记录获得了</a:t>
            </a:r>
            <a:r>
              <a:rPr lang="en-US" altLang="zh-CN" dirty="0" smtClean="0"/>
              <a:t>2015</a:t>
            </a:r>
            <a:r>
              <a:rPr lang="zh-CN" altLang="en-US" dirty="0" smtClean="0"/>
              <a:t>年</a:t>
            </a:r>
            <a:r>
              <a:rPr lang="en-US" altLang="zh-CN" dirty="0" smtClean="0"/>
              <a:t>ILSVPC</a:t>
            </a:r>
            <a:r>
              <a:rPr lang="zh-CN" altLang="en-US" dirty="0" smtClean="0"/>
              <a:t>比赛的冠军</a:t>
            </a:r>
            <a:r>
              <a:rPr lang="en-US" altLang="zh-CN" dirty="0" smtClean="0"/>
              <a:t>,</a:t>
            </a:r>
            <a:r>
              <a:rPr lang="zh-CN" altLang="en-US" dirty="0" smtClean="0"/>
              <a:t>这使得卷积神经网络有了真正的“深度”。</a:t>
            </a:r>
            <a:r>
              <a:rPr lang="en-US" altLang="zh-CN" dirty="0" err="1" smtClean="0"/>
              <a:t>ResNet</a:t>
            </a:r>
            <a:r>
              <a:rPr lang="zh-CN" altLang="en-US" dirty="0" smtClean="0"/>
              <a:t>的提出具有革命性意义，为神经网络中因为网络深度导致梯度消失的问题提供了一个非常好的解决思路。</a:t>
            </a:r>
            <a:endParaRPr lang="en-US" altLang="zh-CN" dirty="0" smtClean="0"/>
          </a:p>
          <a:p>
            <a:r>
              <a:rPr lang="zh-CN" altLang="en-US" dirty="0" smtClean="0"/>
              <a:t>根据网络层数不同，</a:t>
            </a:r>
            <a:r>
              <a:rPr lang="en-US" altLang="zh-CN" dirty="0" err="1" smtClean="0"/>
              <a:t>ResNet</a:t>
            </a:r>
            <a:r>
              <a:rPr lang="zh-CN" altLang="en-US" dirty="0" smtClean="0"/>
              <a:t>的深度有所不同，但大致结构不变：</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9411566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这里解释一下梯度消失问题</a:t>
            </a:r>
            <a:r>
              <a:rPr lang="en-US" altLang="zh-CN" dirty="0" smtClean="0"/>
              <a:t>,</a:t>
            </a:r>
            <a:r>
              <a:rPr lang="zh-CN" altLang="en-US" dirty="0" smtClean="0"/>
              <a:t>从前面提到的</a:t>
            </a:r>
            <a:r>
              <a:rPr lang="en-US" altLang="zh-CN" dirty="0" err="1" smtClean="0"/>
              <a:t>AlexNet</a:t>
            </a:r>
            <a:r>
              <a:rPr lang="zh-CN" altLang="en-US" dirty="0" smtClean="0"/>
              <a:t>、</a:t>
            </a:r>
            <a:r>
              <a:rPr lang="en-US" altLang="zh-CN" dirty="0" err="1" smtClean="0"/>
              <a:t>VGGNet</a:t>
            </a:r>
            <a:r>
              <a:rPr lang="zh-CN" altLang="en-US" dirty="0" smtClean="0"/>
              <a:t>、</a:t>
            </a:r>
            <a:r>
              <a:rPr lang="en-US" altLang="zh-CN" dirty="0" err="1" smtClean="0"/>
              <a:t>GoogLeNet</a:t>
            </a:r>
            <a:r>
              <a:rPr lang="zh-CN" altLang="en-US" dirty="0" smtClean="0"/>
              <a:t>可以看出</a:t>
            </a:r>
            <a:r>
              <a:rPr lang="en-US" altLang="zh-CN" dirty="0" smtClean="0"/>
              <a:t>,</a:t>
            </a:r>
            <a:r>
              <a:rPr lang="zh-CN" altLang="en-US" dirty="0" smtClean="0"/>
              <a:t>更深层次的网络可以带来更好的识别效果。那么</a:t>
            </a:r>
            <a:r>
              <a:rPr lang="en-US" altLang="zh-CN" dirty="0" smtClean="0"/>
              <a:t>,</a:t>
            </a:r>
          </a:p>
          <a:p>
            <a:r>
              <a:rPr lang="zh-CN" altLang="en-US" dirty="0" smtClean="0"/>
              <a:t>是不是网络结构越深、卷积层数量堆叠得越多越好呢</a:t>
            </a:r>
            <a:r>
              <a:rPr lang="en-US" altLang="zh-CN" dirty="0" smtClean="0"/>
              <a:t>?</a:t>
            </a:r>
            <a:r>
              <a:rPr lang="zh-CN" altLang="en-US" dirty="0" smtClean="0"/>
              <a:t>这里有个简单的实验，从图中可以看出</a:t>
            </a:r>
            <a:r>
              <a:rPr lang="en-US" altLang="zh-CN" dirty="0" smtClean="0"/>
              <a:t>,56</a:t>
            </a:r>
            <a:r>
              <a:rPr lang="zh-CN" altLang="en-US" dirty="0" smtClean="0"/>
              <a:t>层的卷积神经网络在训练和预测方面的误差都大于</a:t>
            </a:r>
            <a:r>
              <a:rPr lang="en-US" altLang="zh-CN" dirty="0" smtClean="0"/>
              <a:t>20</a:t>
            </a:r>
            <a:r>
              <a:rPr lang="zh-CN" altLang="en-US" dirty="0" smtClean="0"/>
              <a:t>层的网络</a:t>
            </a:r>
            <a:r>
              <a:rPr lang="en-US" altLang="zh-CN" dirty="0" smtClean="0"/>
              <a:t>,</a:t>
            </a:r>
            <a:r>
              <a:rPr lang="zh-CN" altLang="en-US" dirty="0" smtClean="0"/>
              <a:t>可以排除过拟合的干扰因素。产生这一结果的真实原因就是梯度消失（初始化网络权值</a:t>
            </a:r>
            <a:r>
              <a:rPr lang="en-US" altLang="zh-CN" dirty="0" smtClean="0"/>
              <a:t>W</a:t>
            </a:r>
            <a:r>
              <a:rPr lang="zh-CN" altLang="en-US" dirty="0" smtClean="0"/>
              <a:t>通常在</a:t>
            </a:r>
            <a:r>
              <a:rPr lang="en-US" altLang="zh-CN" dirty="0" smtClean="0"/>
              <a:t>0</a:t>
            </a:r>
            <a:r>
              <a:rPr lang="zh-CN" altLang="en-US" dirty="0" smtClean="0"/>
              <a:t>附近</a:t>
            </a:r>
            <a:r>
              <a:rPr lang="en-US" altLang="zh-CN" dirty="0" smtClean="0"/>
              <a:t>,</a:t>
            </a:r>
            <a:r>
              <a:rPr lang="zh-CN" altLang="en-US" dirty="0" smtClean="0"/>
              <a:t>因而会导致出现梯度消失的情况</a:t>
            </a:r>
            <a:r>
              <a:rPr lang="en-US" altLang="zh-CN" dirty="0" smtClean="0"/>
              <a:t>),</a:t>
            </a:r>
            <a:r>
              <a:rPr lang="zh-CN" altLang="en-US" dirty="0" smtClean="0"/>
              <a:t>下面我们简单看下原理。</a:t>
            </a:r>
            <a:endParaRPr lang="en-US" altLang="zh-CN" dirty="0" smtClean="0"/>
          </a:p>
          <a:p>
            <a:r>
              <a:rPr lang="zh-CN" altLang="en-US" dirty="0" smtClean="0"/>
              <a:t>网络的损失函数为</a:t>
            </a:r>
            <a:r>
              <a:rPr lang="en-US" altLang="zh-CN" dirty="0" smtClean="0"/>
              <a:t>F(X,W),</a:t>
            </a:r>
            <a:r>
              <a:rPr lang="zh-CN" altLang="en-US" dirty="0" smtClean="0"/>
              <a:t>如公式</a:t>
            </a:r>
            <a:r>
              <a:rPr lang="en-US" altLang="zh-CN" dirty="0" smtClean="0"/>
              <a:t>1</a:t>
            </a:r>
            <a:r>
              <a:rPr lang="zh-CN" altLang="en-US" dirty="0" smtClean="0"/>
              <a:t>所示，其反向传播的梯度值如公式</a:t>
            </a:r>
            <a:r>
              <a:rPr lang="en-US" altLang="zh-CN" dirty="0" smtClean="0"/>
              <a:t>2</a:t>
            </a:r>
            <a:r>
              <a:rPr lang="zh-CN" altLang="en-US" dirty="0" smtClean="0"/>
              <a:t>所示。同样的原理，扩展到多层神经网络</a:t>
            </a:r>
            <a:r>
              <a:rPr lang="en-US" altLang="zh-CN" dirty="0" smtClean="0"/>
              <a:t>,</a:t>
            </a:r>
            <a:r>
              <a:rPr lang="zh-CN" altLang="en-US" dirty="0" smtClean="0"/>
              <a:t>如公式</a:t>
            </a:r>
            <a:r>
              <a:rPr lang="en-US" altLang="zh-CN" dirty="0" smtClean="0"/>
              <a:t>3</a:t>
            </a:r>
            <a:r>
              <a:rPr lang="zh-CN" altLang="en-US" dirty="0" smtClean="0"/>
              <a:t>所示。</a:t>
            </a:r>
          </a:p>
          <a:p>
            <a:r>
              <a:rPr lang="zh-CN" altLang="en-US" dirty="0" smtClean="0"/>
              <a:t>其中</a:t>
            </a:r>
            <a:r>
              <a:rPr lang="en-US" altLang="zh-CN" dirty="0" smtClean="0"/>
              <a:t>n</a:t>
            </a:r>
            <a:r>
              <a:rPr lang="zh-CN" altLang="en-US" dirty="0" smtClean="0"/>
              <a:t>为神经网络的层数，最终根据链式法则可推导出在第</a:t>
            </a:r>
            <a:r>
              <a:rPr lang="en-US" altLang="zh-CN" dirty="0" err="1" smtClean="0"/>
              <a:t>i</a:t>
            </a:r>
            <a:r>
              <a:rPr lang="zh-CN" altLang="en-US" dirty="0" smtClean="0"/>
              <a:t>层的梯度，如公式</a:t>
            </a:r>
            <a:r>
              <a:rPr lang="en-US" altLang="zh-CN" dirty="0" smtClean="0"/>
              <a:t>4</a:t>
            </a:r>
            <a:r>
              <a:rPr lang="zh-CN" altLang="en-US" dirty="0" smtClean="0"/>
              <a:t>所示。由此可以看出，随着误差的回传，前层网络的梯度越来越小。为了解决神经网络过深导致的梯度消失问题，</a:t>
            </a:r>
            <a:r>
              <a:rPr lang="en-US" altLang="zh-CN" dirty="0" err="1" smtClean="0"/>
              <a:t>ResNet</a:t>
            </a:r>
            <a:r>
              <a:rPr lang="zh-CN" altLang="en-US" dirty="0" smtClean="0"/>
              <a:t>巧妙地引入了残差结构，即把输出层</a:t>
            </a:r>
            <a:r>
              <a:rPr lang="en-US" altLang="zh-CN" dirty="0" smtClean="0"/>
              <a:t>H(X)=F(X)</a:t>
            </a:r>
            <a:r>
              <a:rPr lang="zh-CN" altLang="en-US" dirty="0" smtClean="0"/>
              <a:t>改为</a:t>
            </a:r>
            <a:r>
              <a:rPr lang="en-US" altLang="zh-CN" dirty="0" smtClean="0"/>
              <a:t>H(X)=F(X)+X,</a:t>
            </a:r>
            <a:r>
              <a:rPr lang="zh-CN" altLang="en-US" dirty="0" smtClean="0"/>
              <a:t>将公式</a:t>
            </a:r>
            <a:r>
              <a:rPr lang="en-US" altLang="zh-CN" dirty="0" smtClean="0"/>
              <a:t>4</a:t>
            </a:r>
            <a:r>
              <a:rPr lang="zh-CN" altLang="en-US" dirty="0" smtClean="0"/>
              <a:t>变为了公式</a:t>
            </a:r>
            <a:r>
              <a:rPr lang="en-US" altLang="zh-CN" dirty="0" smtClean="0"/>
              <a:t>5</a:t>
            </a:r>
            <a:r>
              <a:rPr lang="zh-CN" altLang="en-US" dirty="0" smtClean="0"/>
              <a:t>。这样一来，就算网络结构很深，梯度也不会消失。</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94592308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除残差结构外，</a:t>
            </a:r>
            <a:r>
              <a:rPr lang="en-US" altLang="zh-CN" dirty="0" err="1" smtClean="0"/>
              <a:t>ResNet</a:t>
            </a:r>
            <a:r>
              <a:rPr lang="zh-CN" altLang="en-US" dirty="0" smtClean="0"/>
              <a:t>沿用了一些可以提升网络性能和效果的设计</a:t>
            </a:r>
            <a:r>
              <a:rPr lang="en-US" altLang="zh-CN" dirty="0" smtClean="0"/>
              <a:t>,</a:t>
            </a:r>
            <a:r>
              <a:rPr lang="zh-CN" altLang="en-US" dirty="0" smtClean="0"/>
              <a:t>如堆叠式残差结构。</a:t>
            </a:r>
            <a:r>
              <a:rPr lang="en-US" altLang="zh-CN" dirty="0" err="1" smtClean="0"/>
              <a:t>ResNet</a:t>
            </a:r>
            <a:r>
              <a:rPr lang="zh-CN" altLang="en-US" dirty="0" smtClean="0"/>
              <a:t>网络深度有</a:t>
            </a:r>
            <a:r>
              <a:rPr lang="en-US" altLang="zh-CN" dirty="0" smtClean="0"/>
              <a:t>34</a:t>
            </a:r>
            <a:r>
              <a:rPr lang="zh-CN" altLang="en-US" dirty="0" smtClean="0"/>
              <a:t>、</a:t>
            </a:r>
            <a:r>
              <a:rPr lang="en-US" altLang="zh-CN" dirty="0" smtClean="0"/>
              <a:t>50</a:t>
            </a:r>
            <a:r>
              <a:rPr lang="zh-CN" altLang="en-US" dirty="0" smtClean="0"/>
              <a:t>、</a:t>
            </a:r>
            <a:r>
              <a:rPr lang="en-US" altLang="zh-CN" dirty="0" smtClean="0"/>
              <a:t>101</a:t>
            </a:r>
            <a:r>
              <a:rPr lang="zh-CN" altLang="en-US" dirty="0" smtClean="0"/>
              <a:t>、</a:t>
            </a:r>
            <a:r>
              <a:rPr lang="en-US" altLang="zh-CN" dirty="0" smtClean="0"/>
              <a:t>152</a:t>
            </a:r>
            <a:r>
              <a:rPr lang="zh-CN" altLang="en-US" dirty="0" smtClean="0"/>
              <a:t>等，对于</a:t>
            </a:r>
            <a:r>
              <a:rPr lang="en-US" altLang="zh-CN" dirty="0" smtClean="0"/>
              <a:t>50</a:t>
            </a:r>
            <a:r>
              <a:rPr lang="zh-CN" altLang="en-US" dirty="0" smtClean="0"/>
              <a:t>层以上的</a:t>
            </a:r>
            <a:r>
              <a:rPr lang="en-US" altLang="zh-CN" dirty="0" err="1" smtClean="0"/>
              <a:t>ResNet</a:t>
            </a:r>
            <a:r>
              <a:rPr lang="en-US" altLang="zh-CN" dirty="0" smtClean="0"/>
              <a:t>,</a:t>
            </a:r>
            <a:r>
              <a:rPr lang="zh-CN" altLang="en-US" dirty="0" smtClean="0"/>
              <a:t>也借鉴了类似</a:t>
            </a:r>
            <a:r>
              <a:rPr lang="en-US" altLang="zh-CN" dirty="0" err="1" smtClean="0"/>
              <a:t>GoogLeNet</a:t>
            </a:r>
            <a:r>
              <a:rPr lang="zh-CN" altLang="en-US" dirty="0" smtClean="0"/>
              <a:t>的思想</a:t>
            </a:r>
            <a:r>
              <a:rPr lang="en-US" altLang="zh-CN" dirty="0" smtClean="0"/>
              <a:t>,</a:t>
            </a:r>
            <a:r>
              <a:rPr lang="zh-CN" altLang="en-US" dirty="0" smtClean="0"/>
              <a:t>在细节上使用了</a:t>
            </a:r>
            <a:r>
              <a:rPr lang="en-US" altLang="zh-CN" dirty="0" smtClean="0"/>
              <a:t>bottleneck</a:t>
            </a:r>
            <a:r>
              <a:rPr lang="zh-CN" altLang="en-US" dirty="0" smtClean="0"/>
              <a:t>的设计方式</a:t>
            </a:r>
            <a:r>
              <a:rPr lang="en-US" altLang="zh-CN" dirty="0" smtClean="0"/>
              <a:t>(</a:t>
            </a:r>
            <a:r>
              <a:rPr lang="zh-CN" altLang="en-US" dirty="0" smtClean="0"/>
              <a:t>从左图变为右图</a:t>
            </a:r>
            <a:r>
              <a:rPr lang="en-US" altLang="zh-CN" dirty="0" smtClean="0"/>
              <a:t>).</a:t>
            </a:r>
          </a:p>
          <a:p>
            <a:r>
              <a:rPr lang="zh-CN" altLang="en-US" dirty="0" smtClean="0"/>
              <a:t>这两种结构是分别针对</a:t>
            </a:r>
            <a:r>
              <a:rPr lang="en-US" altLang="zh-CN" dirty="0" smtClean="0"/>
              <a:t>ResNet34</a:t>
            </a:r>
            <a:r>
              <a:rPr lang="zh-CN" altLang="en-US" dirty="0" smtClean="0"/>
              <a:t>和</a:t>
            </a:r>
            <a:r>
              <a:rPr lang="en-US" altLang="zh-CN" dirty="0" smtClean="0"/>
              <a:t>ResNet50/101/152</a:t>
            </a:r>
            <a:r>
              <a:rPr lang="zh-CN" altLang="en-US" dirty="0" smtClean="0"/>
              <a:t>，右边的“</a:t>
            </a:r>
            <a:r>
              <a:rPr lang="en-US" altLang="zh-CN" dirty="0" smtClean="0"/>
              <a:t>bottleneck design”</a:t>
            </a:r>
            <a:r>
              <a:rPr lang="zh-CN" altLang="en-US" dirty="0" smtClean="0"/>
              <a:t>要比左边的“</a:t>
            </a:r>
            <a:r>
              <a:rPr lang="en-US" altLang="zh-CN" dirty="0" smtClean="0"/>
              <a:t>building block”</a:t>
            </a:r>
            <a:r>
              <a:rPr lang="zh-CN" altLang="en-US" dirty="0" smtClean="0"/>
              <a:t>多了</a:t>
            </a:r>
            <a:r>
              <a:rPr lang="en-US" altLang="zh-CN" dirty="0" smtClean="0"/>
              <a:t>1</a:t>
            </a:r>
            <a:r>
              <a:rPr lang="zh-CN" altLang="en-US" dirty="0" smtClean="0"/>
              <a:t>层，增添</a:t>
            </a:r>
            <a:r>
              <a:rPr lang="en-US" altLang="zh-CN" dirty="0" smtClean="0"/>
              <a:t>1*1</a:t>
            </a:r>
            <a:r>
              <a:rPr lang="zh-CN" altLang="en-US" dirty="0" smtClean="0"/>
              <a:t>的卷积目的就是为了降低参数的数目，减少计算量。所以浅层次的网络，可使用“</a:t>
            </a:r>
            <a:r>
              <a:rPr lang="en-US" altLang="zh-CN" dirty="0" smtClean="0"/>
              <a:t>building block”</a:t>
            </a:r>
            <a:r>
              <a:rPr lang="zh-CN" altLang="en-US" dirty="0" smtClean="0"/>
              <a:t>，对于深层次的网络，为了减少计算量，</a:t>
            </a:r>
            <a:r>
              <a:rPr lang="en-US" altLang="zh-CN" dirty="0" smtClean="0"/>
              <a:t>bottleneck design </a:t>
            </a:r>
            <a:r>
              <a:rPr lang="zh-CN" altLang="en-US" dirty="0" smtClean="0"/>
              <a:t>是更好的选择。</a:t>
            </a: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66733133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至此介绍了</a:t>
            </a:r>
            <a:r>
              <a:rPr lang="en-US" altLang="zh-CN" sz="1200" b="0" i="0" kern="1200" dirty="0" smtClean="0">
                <a:solidFill>
                  <a:schemeClr val="tx1"/>
                </a:solidFill>
                <a:effectLst/>
                <a:latin typeface="+mn-lt"/>
                <a:ea typeface="+mn-ea"/>
                <a:cs typeface="+mn-cs"/>
              </a:rPr>
              <a:t>5</a:t>
            </a:r>
            <a:r>
              <a:rPr lang="zh-CN" altLang="en-US" sz="1200" b="0" i="0" kern="1200" dirty="0" smtClean="0">
                <a:solidFill>
                  <a:schemeClr val="tx1"/>
                </a:solidFill>
                <a:effectLst/>
                <a:latin typeface="+mn-lt"/>
                <a:ea typeface="+mn-ea"/>
                <a:cs typeface="+mn-cs"/>
              </a:rPr>
              <a:t>种基础的网络结构和设计网络时涉及的主要思想。在</a:t>
            </a:r>
            <a:r>
              <a:rPr lang="en-US" altLang="zh-CN" sz="1200" b="0" i="0" kern="1200" dirty="0" err="1" smtClean="0">
                <a:solidFill>
                  <a:schemeClr val="tx1"/>
                </a:solidFill>
                <a:effectLst/>
                <a:latin typeface="+mn-lt"/>
                <a:ea typeface="+mn-ea"/>
                <a:cs typeface="+mn-cs"/>
              </a:rPr>
              <a:t>ResNet</a:t>
            </a:r>
            <a:r>
              <a:rPr lang="zh-CN" altLang="en-US" sz="1200" b="0" i="0" kern="1200" dirty="0" smtClean="0">
                <a:solidFill>
                  <a:schemeClr val="tx1"/>
                </a:solidFill>
                <a:effectLst/>
                <a:latin typeface="+mn-lt"/>
                <a:ea typeface="+mn-ea"/>
                <a:cs typeface="+mn-cs"/>
              </a:rPr>
              <a:t>之后还有很多新的网络结构不断出现，但主要思想大体基于以上</a:t>
            </a:r>
            <a:r>
              <a:rPr lang="en-US" altLang="zh-CN" sz="1200" b="0" i="0" kern="1200" dirty="0" smtClean="0">
                <a:solidFill>
                  <a:schemeClr val="tx1"/>
                </a:solidFill>
                <a:effectLst/>
                <a:latin typeface="+mn-lt"/>
                <a:ea typeface="+mn-ea"/>
                <a:cs typeface="+mn-cs"/>
              </a:rPr>
              <a:t>5</a:t>
            </a:r>
            <a:r>
              <a:rPr lang="zh-CN" altLang="en-US" sz="1200" b="0" i="0" kern="1200" dirty="0" smtClean="0">
                <a:solidFill>
                  <a:schemeClr val="tx1"/>
                </a:solidFill>
                <a:effectLst/>
                <a:latin typeface="+mn-lt"/>
                <a:ea typeface="+mn-ea"/>
                <a:cs typeface="+mn-cs"/>
              </a:rPr>
              <a:t>种类型做的一些分析和改进，如</a:t>
            </a:r>
            <a:r>
              <a:rPr lang="en-US" altLang="zh-CN" sz="1200" b="0" i="0" kern="1200" dirty="0" smtClean="0">
                <a:solidFill>
                  <a:schemeClr val="tx1"/>
                </a:solidFill>
                <a:effectLst/>
                <a:latin typeface="+mn-lt"/>
                <a:ea typeface="+mn-ea"/>
                <a:cs typeface="+mn-cs"/>
              </a:rPr>
              <a:t>Inception-v4</a:t>
            </a:r>
            <a:r>
              <a:rPr lang="zh-CN" altLang="en-US" sz="1200" b="0" i="0" kern="1200" dirty="0" smtClean="0">
                <a:solidFill>
                  <a:schemeClr val="tx1"/>
                </a:solidFill>
                <a:effectLst/>
                <a:latin typeface="+mn-lt"/>
                <a:ea typeface="+mn-ea"/>
                <a:cs typeface="+mn-cs"/>
              </a:rPr>
              <a:t>主要思想便是</a:t>
            </a:r>
            <a:r>
              <a:rPr lang="en-US" altLang="zh-CN" sz="1200" b="0" i="0" kern="1200" dirty="0" err="1" smtClean="0">
                <a:solidFill>
                  <a:schemeClr val="tx1"/>
                </a:solidFill>
                <a:effectLst/>
                <a:latin typeface="+mn-lt"/>
                <a:ea typeface="+mn-ea"/>
                <a:cs typeface="+mn-cs"/>
              </a:rPr>
              <a:t>ResNet+Inception</a:t>
            </a:r>
            <a:r>
              <a:rPr lang="zh-CN" altLang="en-US" sz="1200" b="0" i="0" kern="1200" dirty="0" smtClean="0">
                <a:solidFill>
                  <a:schemeClr val="tx1"/>
                </a:solidFill>
                <a:effectLst/>
                <a:latin typeface="+mn-lt"/>
                <a:ea typeface="+mn-ea"/>
                <a:cs typeface="+mn-cs"/>
              </a:rPr>
              <a:t>。图中列出了不同网络结构可以达到的算法精度以及其内存消耗情况。左图横轴是不同模型，竖轴是</a:t>
            </a:r>
            <a:r>
              <a:rPr lang="en-US" altLang="zh-CN" sz="1200" b="0" i="0" kern="1200" dirty="0" smtClean="0">
                <a:solidFill>
                  <a:schemeClr val="tx1"/>
                </a:solidFill>
                <a:effectLst/>
                <a:latin typeface="+mn-lt"/>
                <a:ea typeface="+mn-ea"/>
                <a:cs typeface="+mn-cs"/>
              </a:rPr>
              <a:t>top1</a:t>
            </a:r>
            <a:r>
              <a:rPr lang="zh-CN" altLang="en-US" sz="1200" b="0" i="0" kern="1200" dirty="0" smtClean="0">
                <a:solidFill>
                  <a:schemeClr val="tx1"/>
                </a:solidFill>
                <a:effectLst/>
                <a:latin typeface="+mn-lt"/>
                <a:ea typeface="+mn-ea"/>
                <a:cs typeface="+mn-cs"/>
              </a:rPr>
              <a:t>精度。右图横轴是计算量，竖轴是</a:t>
            </a:r>
            <a:r>
              <a:rPr lang="en-US" altLang="zh-CN" sz="1200" b="0" i="0" kern="1200" dirty="0" smtClean="0">
                <a:solidFill>
                  <a:schemeClr val="tx1"/>
                </a:solidFill>
                <a:effectLst/>
                <a:latin typeface="+mn-lt"/>
                <a:ea typeface="+mn-ea"/>
                <a:cs typeface="+mn-cs"/>
              </a:rPr>
              <a:t>top1</a:t>
            </a:r>
            <a:r>
              <a:rPr lang="zh-CN" altLang="en-US" sz="1200" b="0" i="0" kern="1200" dirty="0" smtClean="0">
                <a:solidFill>
                  <a:schemeClr val="tx1"/>
                </a:solidFill>
                <a:effectLst/>
                <a:latin typeface="+mn-lt"/>
                <a:ea typeface="+mn-ea"/>
                <a:cs typeface="+mn-cs"/>
              </a:rPr>
              <a:t>精度，圆圈大小表示内存的消耗。与其他模型相比，</a:t>
            </a:r>
            <a:r>
              <a:rPr lang="en-US" altLang="zh-CN" sz="1200" b="0" i="0" kern="1200" dirty="0" err="1" smtClean="0">
                <a:solidFill>
                  <a:schemeClr val="tx1"/>
                </a:solidFill>
                <a:effectLst/>
                <a:latin typeface="+mn-lt"/>
                <a:ea typeface="+mn-ea"/>
                <a:cs typeface="+mn-cs"/>
              </a:rPr>
              <a:t>VGGNet</a:t>
            </a:r>
            <a:r>
              <a:rPr lang="zh-CN" altLang="en-US" sz="1200" b="0" i="0" kern="1200" dirty="0" smtClean="0">
                <a:solidFill>
                  <a:schemeClr val="tx1"/>
                </a:solidFill>
                <a:effectLst/>
                <a:latin typeface="+mn-lt"/>
                <a:ea typeface="+mn-ea"/>
                <a:cs typeface="+mn-cs"/>
              </a:rPr>
              <a:t>计算量最多，并且消耗最大的内存。</a:t>
            </a:r>
            <a:r>
              <a:rPr lang="en-US" altLang="zh-CN" sz="1200" b="0" i="0" kern="1200" dirty="0" err="1" smtClean="0">
                <a:solidFill>
                  <a:schemeClr val="tx1"/>
                </a:solidFill>
                <a:effectLst/>
                <a:latin typeface="+mn-lt"/>
                <a:ea typeface="+mn-ea"/>
                <a:cs typeface="+mn-cs"/>
              </a:rPr>
              <a:t>GoogLeNet</a:t>
            </a:r>
            <a:r>
              <a:rPr lang="zh-CN" altLang="en-US" sz="1200" b="0" i="0" kern="1200" dirty="0" smtClean="0">
                <a:solidFill>
                  <a:schemeClr val="tx1"/>
                </a:solidFill>
                <a:effectLst/>
                <a:latin typeface="+mn-lt"/>
                <a:ea typeface="+mn-ea"/>
                <a:cs typeface="+mn-cs"/>
              </a:rPr>
              <a:t>是上述几种模型中计算量和内存消耗最小的模型。</a:t>
            </a:r>
            <a:r>
              <a:rPr lang="en-US" altLang="zh-CN" sz="1200" b="0" i="0" kern="1200" dirty="0" err="1" smtClean="0">
                <a:solidFill>
                  <a:schemeClr val="tx1"/>
                </a:solidFill>
                <a:effectLst/>
                <a:latin typeface="+mn-lt"/>
                <a:ea typeface="+mn-ea"/>
                <a:cs typeface="+mn-cs"/>
              </a:rPr>
              <a:t>AlexNet</a:t>
            </a:r>
            <a:r>
              <a:rPr lang="zh-CN" altLang="en-US" sz="1200" b="0" i="0" kern="1200" dirty="0" smtClean="0">
                <a:solidFill>
                  <a:schemeClr val="tx1"/>
                </a:solidFill>
                <a:effectLst/>
                <a:latin typeface="+mn-lt"/>
                <a:ea typeface="+mn-ea"/>
                <a:cs typeface="+mn-cs"/>
              </a:rPr>
              <a:t>虽然计算量不高，但占用较大的内存并且精度不高。不同大小的</a:t>
            </a:r>
            <a:r>
              <a:rPr lang="en-US" altLang="zh-CN" sz="1200" b="0" i="0" kern="1200" dirty="0" err="1" smtClean="0">
                <a:solidFill>
                  <a:schemeClr val="tx1"/>
                </a:solidFill>
                <a:effectLst/>
                <a:latin typeface="+mn-lt"/>
                <a:ea typeface="+mn-ea"/>
                <a:cs typeface="+mn-cs"/>
              </a:rPr>
              <a:t>ResNet</a:t>
            </a:r>
            <a:r>
              <a:rPr lang="zh-CN" altLang="en-US" sz="1200" b="0" i="0" kern="1200" dirty="0" smtClean="0">
                <a:solidFill>
                  <a:schemeClr val="tx1"/>
                </a:solidFill>
                <a:effectLst/>
                <a:latin typeface="+mn-lt"/>
                <a:ea typeface="+mn-ea"/>
                <a:cs typeface="+mn-cs"/>
              </a:rPr>
              <a:t>模型性能差异也较大，具体需要根据应用场景选择合适的模型。</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98645515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在</a:t>
            </a:r>
            <a:r>
              <a:rPr lang="en-US" altLang="zh-CN" dirty="0" err="1" smtClean="0"/>
              <a:t>ResNet</a:t>
            </a:r>
            <a:r>
              <a:rPr lang="zh-CN" altLang="en-US" dirty="0" smtClean="0"/>
              <a:t>的基础上，还出现了一些其他的网络结构，下面对它们进行简单的介绍。</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65191355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Wide </a:t>
            </a:r>
            <a:r>
              <a:rPr lang="en-US" altLang="zh-CN" dirty="0" err="1" smtClean="0"/>
              <a:t>ResNet</a:t>
            </a:r>
            <a:r>
              <a:rPr lang="zh-CN" altLang="en-US" dirty="0" smtClean="0"/>
              <a:t>是 </a:t>
            </a:r>
            <a:r>
              <a:rPr lang="en-US" altLang="zh-CN" dirty="0" err="1" smtClean="0"/>
              <a:t>Zagoruyko</a:t>
            </a:r>
            <a:r>
              <a:rPr lang="zh-CN" altLang="en-US" dirty="0" smtClean="0"/>
              <a:t>等人于</a:t>
            </a:r>
            <a:r>
              <a:rPr lang="en-US" altLang="zh-CN" dirty="0" smtClean="0"/>
              <a:t>2016</a:t>
            </a:r>
            <a:r>
              <a:rPr lang="zh-CN" altLang="en-US" dirty="0" smtClean="0"/>
              <a:t>年提出的，他们认为残差结构比深度更重要，因此设计了更宽的残差模块，如图所示。实验证明，</a:t>
            </a:r>
            <a:r>
              <a:rPr lang="en-US" altLang="zh-CN" dirty="0" smtClean="0"/>
              <a:t>50</a:t>
            </a:r>
            <a:r>
              <a:rPr lang="zh-CN" altLang="en-US" dirty="0" smtClean="0"/>
              <a:t>层加宽残差网络比</a:t>
            </a:r>
            <a:r>
              <a:rPr lang="en-US" altLang="zh-CN" dirty="0" smtClean="0"/>
              <a:t>152</a:t>
            </a:r>
            <a:r>
              <a:rPr lang="zh-CN" altLang="en-US" dirty="0" smtClean="0"/>
              <a:t>层的原</a:t>
            </a:r>
            <a:r>
              <a:rPr lang="en-US" altLang="zh-CN" dirty="0" err="1" smtClean="0"/>
              <a:t>ResNet</a:t>
            </a:r>
            <a:r>
              <a:rPr lang="en-US" altLang="zh-CN" dirty="0" smtClean="0"/>
              <a:t> </a:t>
            </a:r>
            <a:r>
              <a:rPr lang="zh-CN" altLang="en-US" dirty="0" smtClean="0"/>
              <a:t>网络效果更好。</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9408371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dirty="0" err="1" smtClean="0"/>
              <a:t>ResNeXt</a:t>
            </a:r>
            <a:r>
              <a:rPr lang="zh-CN" altLang="en-US" dirty="0" smtClean="0"/>
              <a:t>是</a:t>
            </a:r>
            <a:r>
              <a:rPr lang="en-US" altLang="zh-CN" dirty="0" err="1" smtClean="0"/>
              <a:t>Xie</a:t>
            </a:r>
            <a:r>
              <a:rPr lang="zh-CN" altLang="en-US" dirty="0" smtClean="0"/>
              <a:t>等人于</a:t>
            </a:r>
            <a:r>
              <a:rPr lang="en-US" altLang="zh-CN" dirty="0" smtClean="0"/>
              <a:t>2016</a:t>
            </a:r>
            <a:r>
              <a:rPr lang="zh-CN" altLang="en-US" dirty="0" smtClean="0"/>
              <a:t>年提出的，与</a:t>
            </a:r>
            <a:r>
              <a:rPr lang="en-US" altLang="zh-CN" dirty="0" smtClean="0"/>
              <a:t>Wide </a:t>
            </a:r>
            <a:r>
              <a:rPr lang="en-US" altLang="zh-CN" dirty="0" err="1" smtClean="0"/>
              <a:t>ResNet</a:t>
            </a:r>
            <a:r>
              <a:rPr lang="zh-CN" altLang="en-US" dirty="0" smtClean="0"/>
              <a:t>不同，</a:t>
            </a:r>
            <a:r>
              <a:rPr lang="en-US" altLang="zh-CN" dirty="0" err="1" smtClean="0"/>
              <a:t>ResNeXt</a:t>
            </a:r>
            <a:r>
              <a:rPr lang="zh-CN" altLang="en-US" dirty="0" smtClean="0"/>
              <a:t>在</a:t>
            </a:r>
            <a:r>
              <a:rPr lang="en-US" altLang="zh-CN" dirty="0" err="1" smtClean="0"/>
              <a:t>ResNet</a:t>
            </a:r>
            <a:r>
              <a:rPr lang="zh-CN" altLang="en-US" dirty="0" smtClean="0"/>
              <a:t>的基础上，通过增加</a:t>
            </a:r>
            <a:r>
              <a:rPr lang="en-US" altLang="zh-CN" dirty="0" smtClean="0"/>
              <a:t>inception</a:t>
            </a:r>
            <a:r>
              <a:rPr lang="zh-CN" altLang="en-US" dirty="0" smtClean="0"/>
              <a:t>个数的方式扩展残差模块，如图所示。</a:t>
            </a: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23406374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dirty="0" err="1" smtClean="0"/>
              <a:t>DenseNet</a:t>
            </a:r>
            <a:r>
              <a:rPr lang="zh-CN" altLang="en-US" dirty="0" smtClean="0"/>
              <a:t>是</a:t>
            </a:r>
            <a:r>
              <a:rPr lang="en-US" altLang="zh-CN" dirty="0" smtClean="0"/>
              <a:t>Huang</a:t>
            </a:r>
            <a:r>
              <a:rPr lang="zh-CN" altLang="en-US" dirty="0" smtClean="0"/>
              <a:t>等人在</a:t>
            </a:r>
            <a:r>
              <a:rPr lang="en-US" altLang="zh-CN" dirty="0" smtClean="0"/>
              <a:t>2017</a:t>
            </a:r>
            <a:r>
              <a:rPr lang="zh-CN" altLang="en-US" dirty="0" smtClean="0"/>
              <a:t>年提出的，网络模块如右图所示。在</a:t>
            </a:r>
            <a:r>
              <a:rPr lang="en-US" altLang="zh-CN" dirty="0" err="1" smtClean="0"/>
              <a:t>DenseNet</a:t>
            </a:r>
            <a:r>
              <a:rPr lang="zh-CN" altLang="en-US" dirty="0" smtClean="0"/>
              <a:t>中，每一层都与其他层相关联，这样的设计大大减轻了梯度消失的问题。</a:t>
            </a:r>
            <a:r>
              <a:rPr lang="zh-CN" altLang="en-US" sz="1200" b="0" i="0" kern="1200" dirty="0" smtClean="0">
                <a:solidFill>
                  <a:schemeClr val="tx1"/>
                </a:solidFill>
                <a:effectLst/>
                <a:latin typeface="+mn-lt"/>
                <a:ea typeface="+mn-ea"/>
                <a:cs typeface="+mn-cs"/>
              </a:rPr>
              <a:t>需要明确一点，</a:t>
            </a:r>
            <a:r>
              <a:rPr lang="en-US" altLang="zh-CN" sz="1200" b="0" i="0" kern="1200" dirty="0" smtClean="0">
                <a:solidFill>
                  <a:schemeClr val="tx1"/>
                </a:solidFill>
                <a:effectLst/>
                <a:latin typeface="+mn-lt"/>
                <a:ea typeface="+mn-ea"/>
                <a:cs typeface="+mn-cs"/>
              </a:rPr>
              <a:t>dense connectivity </a:t>
            </a:r>
            <a:r>
              <a:rPr lang="zh-CN" altLang="en-US" sz="1200" b="0" i="0" kern="1200" dirty="0" smtClean="0">
                <a:solidFill>
                  <a:schemeClr val="tx1"/>
                </a:solidFill>
                <a:effectLst/>
                <a:latin typeface="+mn-lt"/>
                <a:ea typeface="+mn-ea"/>
                <a:cs typeface="+mn-cs"/>
              </a:rPr>
              <a:t>仅仅是在一个</a:t>
            </a:r>
            <a:r>
              <a:rPr lang="en-US" altLang="zh-CN" sz="1200" b="0" i="0" kern="1200" dirty="0" smtClean="0">
                <a:solidFill>
                  <a:schemeClr val="tx1"/>
                </a:solidFill>
                <a:effectLst/>
                <a:latin typeface="+mn-lt"/>
                <a:ea typeface="+mn-ea"/>
                <a:cs typeface="+mn-cs"/>
              </a:rPr>
              <a:t>dense block</a:t>
            </a:r>
            <a:r>
              <a:rPr lang="zh-CN" altLang="en-US" sz="1200" b="0" i="0" kern="1200" dirty="0" smtClean="0">
                <a:solidFill>
                  <a:schemeClr val="tx1"/>
                </a:solidFill>
                <a:effectLst/>
                <a:latin typeface="+mn-lt"/>
                <a:ea typeface="+mn-ea"/>
                <a:cs typeface="+mn-cs"/>
              </a:rPr>
              <a:t>里的，不同</a:t>
            </a:r>
            <a:r>
              <a:rPr lang="en-US" altLang="zh-CN" sz="1200" b="0" i="0" kern="1200" dirty="0" smtClean="0">
                <a:solidFill>
                  <a:schemeClr val="tx1"/>
                </a:solidFill>
                <a:effectLst/>
                <a:latin typeface="+mn-lt"/>
                <a:ea typeface="+mn-ea"/>
                <a:cs typeface="+mn-cs"/>
              </a:rPr>
              <a:t>dense block </a:t>
            </a:r>
            <a:r>
              <a:rPr lang="zh-CN" altLang="en-US" sz="1200" b="0" i="0" kern="1200" dirty="0" smtClean="0">
                <a:solidFill>
                  <a:schemeClr val="tx1"/>
                </a:solidFill>
                <a:effectLst/>
                <a:latin typeface="+mn-lt"/>
                <a:ea typeface="+mn-ea"/>
                <a:cs typeface="+mn-cs"/>
              </a:rPr>
              <a:t>之间是没有</a:t>
            </a:r>
            <a:r>
              <a:rPr lang="en-US" altLang="zh-CN" sz="1200" b="0" i="0" kern="1200" dirty="0" smtClean="0">
                <a:solidFill>
                  <a:schemeClr val="tx1"/>
                </a:solidFill>
                <a:effectLst/>
                <a:latin typeface="+mn-lt"/>
                <a:ea typeface="+mn-ea"/>
                <a:cs typeface="+mn-cs"/>
              </a:rPr>
              <a:t>dense connectivity</a:t>
            </a:r>
            <a:r>
              <a:rPr lang="zh-CN" altLang="en-US" sz="1200" b="0" i="0" kern="1200" dirty="0" smtClean="0">
                <a:solidFill>
                  <a:schemeClr val="tx1"/>
                </a:solidFill>
                <a:effectLst/>
                <a:latin typeface="+mn-lt"/>
                <a:ea typeface="+mn-ea"/>
                <a:cs typeface="+mn-cs"/>
              </a:rPr>
              <a:t>的。</a:t>
            </a:r>
            <a:endParaRPr lang="en-US" altLang="zh-CN" dirty="0" smtClean="0"/>
          </a:p>
          <a:p>
            <a:r>
              <a:rPr lang="zh-CN" altLang="en-US" dirty="0" smtClean="0"/>
              <a:t>此外，</a:t>
            </a:r>
            <a:r>
              <a:rPr lang="en-US" altLang="zh-CN" dirty="0" err="1" smtClean="0"/>
              <a:t>ResNet</a:t>
            </a:r>
            <a:r>
              <a:rPr lang="zh-CN" altLang="en-US" dirty="0" smtClean="0"/>
              <a:t>和</a:t>
            </a:r>
            <a:r>
              <a:rPr lang="en-US" altLang="zh-CN" dirty="0" err="1" smtClean="0"/>
              <a:t>DenseNet</a:t>
            </a:r>
            <a:r>
              <a:rPr lang="zh-CN" altLang="en-US" dirty="0" smtClean="0"/>
              <a:t>在跨层连接上的主要区别是使用了相加和连接。这也是</a:t>
            </a:r>
            <a:r>
              <a:rPr lang="en-US" altLang="zh-CN" dirty="0" err="1" smtClean="0"/>
              <a:t>DenseNet</a:t>
            </a:r>
            <a:r>
              <a:rPr lang="zh-CN" altLang="en-US" dirty="0" smtClean="0"/>
              <a:t>被称为稠密连接的原因。</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75702748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在</a:t>
            </a:r>
            <a:r>
              <a:rPr lang="en-US" altLang="zh-CN" sz="1200" b="0" i="0" kern="1200" dirty="0" err="1" smtClean="0">
                <a:solidFill>
                  <a:schemeClr val="tx1"/>
                </a:solidFill>
                <a:effectLst/>
                <a:latin typeface="+mn-lt"/>
                <a:ea typeface="+mn-ea"/>
                <a:cs typeface="+mn-cs"/>
              </a:rPr>
              <a:t>ResNet</a:t>
            </a:r>
            <a:r>
              <a:rPr lang="zh-CN" altLang="en-US" sz="1200" b="0" i="0" kern="1200" dirty="0" smtClean="0">
                <a:solidFill>
                  <a:schemeClr val="tx1"/>
                </a:solidFill>
                <a:effectLst/>
                <a:latin typeface="+mn-lt"/>
                <a:ea typeface="+mn-ea"/>
                <a:cs typeface="+mn-cs"/>
              </a:rPr>
              <a:t>中，层与层之间是元素相加的，但是在</a:t>
            </a:r>
            <a:r>
              <a:rPr lang="en-US" altLang="zh-CN" sz="1200" b="0" i="0" kern="1200" dirty="0" err="1" smtClean="0">
                <a:solidFill>
                  <a:schemeClr val="tx1"/>
                </a:solidFill>
                <a:effectLst/>
                <a:latin typeface="+mn-lt"/>
                <a:ea typeface="+mn-ea"/>
                <a:cs typeface="+mn-cs"/>
              </a:rPr>
              <a:t>DenseNet</a:t>
            </a:r>
            <a:r>
              <a:rPr lang="zh-CN" altLang="en-US" sz="1200" b="0" i="0" kern="1200" dirty="0" smtClean="0">
                <a:solidFill>
                  <a:schemeClr val="tx1"/>
                </a:solidFill>
                <a:effectLst/>
                <a:latin typeface="+mn-lt"/>
                <a:ea typeface="+mn-ea"/>
                <a:cs typeface="+mn-cs"/>
              </a:rPr>
              <a:t>中，不同层之间的连接方式变成了</a:t>
            </a:r>
            <a:r>
              <a:rPr lang="en-US" altLang="zh-CN" sz="1200" b="0" i="0" kern="1200" dirty="0" smtClean="0">
                <a:solidFill>
                  <a:schemeClr val="tx1"/>
                </a:solidFill>
                <a:effectLst/>
                <a:latin typeface="+mn-lt"/>
                <a:ea typeface="+mn-ea"/>
                <a:cs typeface="+mn-cs"/>
              </a:rPr>
              <a:t>concatenating</a:t>
            </a:r>
            <a:r>
              <a:rPr lang="zh-CN" altLang="en-US" sz="1200" b="0" i="0" kern="1200" dirty="0" smtClean="0">
                <a:solidFill>
                  <a:schemeClr val="tx1"/>
                </a:solidFill>
                <a:effectLst/>
                <a:latin typeface="+mn-lt"/>
                <a:ea typeface="+mn-ea"/>
                <a:cs typeface="+mn-cs"/>
              </a:rPr>
              <a:t>，即维度上的叠加。</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由于密集连接方式，</a:t>
            </a:r>
            <a:r>
              <a:rPr lang="en-US" altLang="zh-CN" sz="1200" b="0" i="0" kern="1200" dirty="0" err="1" smtClean="0">
                <a:solidFill>
                  <a:schemeClr val="tx1"/>
                </a:solidFill>
                <a:effectLst/>
                <a:latin typeface="+mn-lt"/>
                <a:ea typeface="+mn-ea"/>
                <a:cs typeface="+mn-cs"/>
              </a:rPr>
              <a:t>DenseNet</a:t>
            </a:r>
            <a:r>
              <a:rPr lang="zh-CN" altLang="en-US" sz="1200" b="0" i="0" kern="1200" dirty="0" smtClean="0">
                <a:solidFill>
                  <a:schemeClr val="tx1"/>
                </a:solidFill>
                <a:effectLst/>
                <a:latin typeface="+mn-lt"/>
                <a:ea typeface="+mn-ea"/>
                <a:cs typeface="+mn-cs"/>
              </a:rPr>
              <a:t>提升了梯度的反向传播，使得网络更容易训练。密集连接这个词给人的第一感觉就是极大的增加了网络的参数量和计算量。但由于每层计算量的减少以及特征的重复利用</a:t>
            </a:r>
            <a:r>
              <a:rPr lang="en-US" altLang="zh-CN"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DenseNet</a:t>
            </a:r>
            <a:r>
              <a:rPr lang="zh-CN" altLang="en-US" sz="1200" b="0" i="0" kern="1200" dirty="0" smtClean="0">
                <a:solidFill>
                  <a:schemeClr val="tx1"/>
                </a:solidFill>
                <a:effectLst/>
                <a:latin typeface="+mn-lt"/>
                <a:ea typeface="+mn-ea"/>
                <a:cs typeface="+mn-cs"/>
              </a:rPr>
              <a:t>的参数量会更少，并且由于每一层都包含之前所有层的输出信息，因此其只需要很少的特征图就够了，这也是为什么</a:t>
            </a:r>
            <a:r>
              <a:rPr lang="en-US" altLang="zh-CN" sz="1200" b="0" i="0" kern="1200" dirty="0" err="1" smtClean="0">
                <a:solidFill>
                  <a:schemeClr val="tx1"/>
                </a:solidFill>
                <a:effectLst/>
                <a:latin typeface="+mn-lt"/>
                <a:ea typeface="+mn-ea"/>
                <a:cs typeface="+mn-cs"/>
              </a:rPr>
              <a:t>DenseNet</a:t>
            </a:r>
            <a:r>
              <a:rPr lang="zh-CN" altLang="en-US" sz="1200" b="0" i="0" kern="1200" dirty="0" smtClean="0">
                <a:solidFill>
                  <a:schemeClr val="tx1"/>
                </a:solidFill>
                <a:effectLst/>
                <a:latin typeface="+mn-lt"/>
                <a:ea typeface="+mn-ea"/>
                <a:cs typeface="+mn-cs"/>
              </a:rPr>
              <a:t>的参数量较其他模型大大减少的原因。这种</a:t>
            </a:r>
            <a:r>
              <a:rPr lang="en-US" altLang="zh-CN" sz="1200" b="0" i="0" kern="1200" dirty="0" smtClean="0">
                <a:solidFill>
                  <a:schemeClr val="tx1"/>
                </a:solidFill>
                <a:effectLst/>
                <a:latin typeface="+mn-lt"/>
                <a:ea typeface="+mn-ea"/>
                <a:cs typeface="+mn-cs"/>
              </a:rPr>
              <a:t>dense connection</a:t>
            </a:r>
            <a:r>
              <a:rPr lang="zh-CN" altLang="en-US" sz="1200" b="0" i="0" kern="1200" dirty="0" smtClean="0">
                <a:solidFill>
                  <a:schemeClr val="tx1"/>
                </a:solidFill>
                <a:effectLst/>
                <a:latin typeface="+mn-lt"/>
                <a:ea typeface="+mn-ea"/>
                <a:cs typeface="+mn-cs"/>
              </a:rPr>
              <a:t>相当于每一层都直接连接</a:t>
            </a:r>
            <a:r>
              <a:rPr lang="en-US" altLang="zh-CN" sz="1200" b="0" i="0" kern="1200" dirty="0" smtClean="0">
                <a:solidFill>
                  <a:schemeClr val="tx1"/>
                </a:solidFill>
                <a:effectLst/>
                <a:latin typeface="+mn-lt"/>
                <a:ea typeface="+mn-ea"/>
                <a:cs typeface="+mn-cs"/>
              </a:rPr>
              <a:t>input</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loss</a:t>
            </a:r>
            <a:r>
              <a:rPr lang="zh-CN" altLang="en-US" sz="1200" b="0" i="0" kern="1200" dirty="0" smtClean="0">
                <a:solidFill>
                  <a:schemeClr val="tx1"/>
                </a:solidFill>
                <a:effectLst/>
                <a:latin typeface="+mn-lt"/>
                <a:ea typeface="+mn-ea"/>
                <a:cs typeface="+mn-cs"/>
              </a:rPr>
              <a:t>，因此就可以减轻梯度消失现象。</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然而，</a:t>
            </a:r>
            <a:r>
              <a:rPr lang="en-US" altLang="zh-CN" sz="1200" b="0" i="0" kern="1200" dirty="0" err="1" smtClean="0">
                <a:solidFill>
                  <a:schemeClr val="tx1"/>
                </a:solidFill>
                <a:effectLst/>
                <a:latin typeface="+mn-lt"/>
                <a:ea typeface="+mn-ea"/>
                <a:cs typeface="+mn-cs"/>
              </a:rPr>
              <a:t>DenseNet</a:t>
            </a:r>
            <a:r>
              <a:rPr lang="zh-CN" altLang="en-US" sz="1200" b="0" i="0" kern="1200" dirty="0" smtClean="0">
                <a:solidFill>
                  <a:schemeClr val="tx1"/>
                </a:solidFill>
                <a:effectLst/>
                <a:latin typeface="+mn-lt"/>
                <a:ea typeface="+mn-ea"/>
                <a:cs typeface="+mn-cs"/>
              </a:rPr>
              <a:t>的反复拼接操作，导致每次读取后面层时需要读取所有前面层的参数，造成了恐怖的内存占用，训练速度也非常的慢。</a:t>
            </a:r>
            <a:endParaRPr lang="en-US" altLang="zh-CN"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60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4585057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xmlns="" id="{6EB3BC85-6B9D-4CAF-90B8-EC7DC38A8093}"/>
              </a:ext>
            </a:extLst>
          </p:cNvPr>
          <p:cNvSpPr/>
          <p:nvPr userDrawn="1"/>
        </p:nvSpPr>
        <p:spPr>
          <a:xfrm>
            <a:off x="0" y="0"/>
            <a:ext cx="12192000" cy="6858000"/>
          </a:xfrm>
          <a:prstGeom prst="roundRect">
            <a:avLst>
              <a:gd name="adj" fmla="val 0"/>
            </a:avLst>
          </a:prstGeom>
          <a:gradFill>
            <a:gsLst>
              <a:gs pos="0">
                <a:schemeClr val="accent2"/>
              </a:gs>
              <a:gs pos="100000">
                <a:schemeClr val="accent3"/>
              </a:gs>
            </a:gsLst>
            <a:lin ang="0" scaled="0"/>
          </a:gra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形状 6">
            <a:extLst>
              <a:ext uri="{FF2B5EF4-FFF2-40B4-BE49-F238E27FC236}">
                <a16:creationId xmlns:a16="http://schemas.microsoft.com/office/drawing/2014/main" xmlns="" id="{ED0129E5-1051-4340-8E45-BD04A72D1987}"/>
              </a:ext>
            </a:extLst>
          </p:cNvPr>
          <p:cNvSpPr/>
          <p:nvPr userDrawn="1"/>
        </p:nvSpPr>
        <p:spPr>
          <a:xfrm>
            <a:off x="4019550" y="1346200"/>
            <a:ext cx="7832725" cy="5137150"/>
          </a:xfrm>
          <a:custGeom>
            <a:avLst/>
            <a:gdLst>
              <a:gd name="connsiteX0" fmla="*/ 9059374 w 9059374"/>
              <a:gd name="connsiteY0" fmla="*/ 0 h 5940588"/>
              <a:gd name="connsiteX1" fmla="*/ 9059374 w 9059374"/>
              <a:gd name="connsiteY1" fmla="*/ 5940588 h 5940588"/>
              <a:gd name="connsiteX2" fmla="*/ 0 w 9059374"/>
              <a:gd name="connsiteY2" fmla="*/ 5940588 h 5940588"/>
            </a:gdLst>
            <a:ahLst/>
            <a:cxnLst>
              <a:cxn ang="0">
                <a:pos x="connsiteX0" y="connsiteY0"/>
              </a:cxn>
              <a:cxn ang="0">
                <a:pos x="connsiteX1" y="connsiteY1"/>
              </a:cxn>
              <a:cxn ang="0">
                <a:pos x="connsiteX2" y="connsiteY2"/>
              </a:cxn>
            </a:cxnLst>
            <a:rect l="l" t="t" r="r" b="b"/>
            <a:pathLst>
              <a:path w="9059374" h="5940588">
                <a:moveTo>
                  <a:pt x="9059374" y="0"/>
                </a:moveTo>
                <a:lnTo>
                  <a:pt x="9059374" y="5940588"/>
                </a:lnTo>
                <a:lnTo>
                  <a:pt x="0" y="5940588"/>
                </a:lnTo>
                <a:close/>
              </a:path>
            </a:pathLst>
          </a:custGeom>
          <a:solidFill>
            <a:schemeClr val="bg1">
              <a:alpha val="27000"/>
            </a:schemeClr>
          </a:soli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Freeform 100">
            <a:extLst>
              <a:ext uri="{FF2B5EF4-FFF2-40B4-BE49-F238E27FC236}">
                <a16:creationId xmlns:a16="http://schemas.microsoft.com/office/drawing/2014/main" xmlns="" id="{A36D1798-A1CA-4D7E-B424-254BFF94FD7C}"/>
              </a:ext>
            </a:extLst>
          </p:cNvPr>
          <p:cNvSpPr>
            <a:spLocks noChangeArrowheads="1"/>
          </p:cNvSpPr>
          <p:nvPr/>
        </p:nvSpPr>
        <p:spPr bwMode="auto">
          <a:xfrm>
            <a:off x="6213475" y="1006475"/>
            <a:ext cx="2635250" cy="1997075"/>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1">
            <a:extLst>
              <a:ext uri="{FF2B5EF4-FFF2-40B4-BE49-F238E27FC236}">
                <a16:creationId xmlns:a16="http://schemas.microsoft.com/office/drawing/2014/main" xmlns="" id="{E8C3362A-0A53-4F77-816A-7587B884A5E9}"/>
              </a:ext>
            </a:extLst>
          </p:cNvPr>
          <p:cNvSpPr>
            <a:spLocks noChangeArrowheads="1"/>
          </p:cNvSpPr>
          <p:nvPr/>
        </p:nvSpPr>
        <p:spPr bwMode="auto">
          <a:xfrm>
            <a:off x="7951788" y="830263"/>
            <a:ext cx="1057275" cy="2173287"/>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2">
            <a:extLst>
              <a:ext uri="{FF2B5EF4-FFF2-40B4-BE49-F238E27FC236}">
                <a16:creationId xmlns:a16="http://schemas.microsoft.com/office/drawing/2014/main" xmlns="" id="{B38EB0B3-A79D-4899-B750-F812B5748320}"/>
              </a:ext>
            </a:extLst>
          </p:cNvPr>
          <p:cNvSpPr>
            <a:spLocks noChangeArrowheads="1"/>
          </p:cNvSpPr>
          <p:nvPr/>
        </p:nvSpPr>
        <p:spPr bwMode="auto">
          <a:xfrm>
            <a:off x="7799388" y="639763"/>
            <a:ext cx="1377950" cy="2363787"/>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3">
            <a:extLst>
              <a:ext uri="{FF2B5EF4-FFF2-40B4-BE49-F238E27FC236}">
                <a16:creationId xmlns:a16="http://schemas.microsoft.com/office/drawing/2014/main" xmlns="" id="{70050A56-5891-4390-A47C-74FAD121AB29}"/>
              </a:ext>
            </a:extLst>
          </p:cNvPr>
          <p:cNvSpPr>
            <a:spLocks noEditPoints="1" noChangeArrowheads="1"/>
          </p:cNvSpPr>
          <p:nvPr/>
        </p:nvSpPr>
        <p:spPr bwMode="auto">
          <a:xfrm>
            <a:off x="6129338" y="965200"/>
            <a:ext cx="100012"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4">
            <a:extLst>
              <a:ext uri="{FF2B5EF4-FFF2-40B4-BE49-F238E27FC236}">
                <a16:creationId xmlns:a16="http://schemas.microsoft.com/office/drawing/2014/main" xmlns="" id="{7682B7E0-695F-44B2-875E-095AF6F7046A}"/>
              </a:ext>
            </a:extLst>
          </p:cNvPr>
          <p:cNvSpPr>
            <a:spLocks noEditPoints="1" noChangeArrowheads="1"/>
          </p:cNvSpPr>
          <p:nvPr/>
        </p:nvSpPr>
        <p:spPr bwMode="auto">
          <a:xfrm>
            <a:off x="7867650" y="792163"/>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5">
            <a:extLst>
              <a:ext uri="{FF2B5EF4-FFF2-40B4-BE49-F238E27FC236}">
                <a16:creationId xmlns:a16="http://schemas.microsoft.com/office/drawing/2014/main" xmlns="" id="{CC4A0B06-5CDE-4CBC-B116-907CE683E1CC}"/>
              </a:ext>
            </a:extLst>
          </p:cNvPr>
          <p:cNvSpPr>
            <a:spLocks noEditPoints="1" noChangeArrowheads="1"/>
          </p:cNvSpPr>
          <p:nvPr/>
        </p:nvSpPr>
        <p:spPr bwMode="auto">
          <a:xfrm>
            <a:off x="7715250" y="598488"/>
            <a:ext cx="101600"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6">
            <a:extLst>
              <a:ext uri="{FF2B5EF4-FFF2-40B4-BE49-F238E27FC236}">
                <a16:creationId xmlns:a16="http://schemas.microsoft.com/office/drawing/2014/main" xmlns="" id="{6CB9C93B-43EF-4856-811F-BCF5E95C91D2}"/>
              </a:ext>
            </a:extLst>
          </p:cNvPr>
          <p:cNvSpPr>
            <a:spLocks noChangeArrowheads="1"/>
          </p:cNvSpPr>
          <p:nvPr/>
        </p:nvSpPr>
        <p:spPr bwMode="auto">
          <a:xfrm>
            <a:off x="7313613" y="493713"/>
            <a:ext cx="2027237" cy="2509837"/>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7">
            <a:extLst>
              <a:ext uri="{FF2B5EF4-FFF2-40B4-BE49-F238E27FC236}">
                <a16:creationId xmlns:a16="http://schemas.microsoft.com/office/drawing/2014/main" xmlns="" id="{BCE8B6EB-271B-4795-84B5-C74FC766DFF9}"/>
              </a:ext>
            </a:extLst>
          </p:cNvPr>
          <p:cNvSpPr>
            <a:spLocks noEditPoints="1" noChangeArrowheads="1"/>
          </p:cNvSpPr>
          <p:nvPr/>
        </p:nvSpPr>
        <p:spPr bwMode="auto">
          <a:xfrm>
            <a:off x="7229475" y="452438"/>
            <a:ext cx="100013"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8">
            <a:extLst>
              <a:ext uri="{FF2B5EF4-FFF2-40B4-BE49-F238E27FC236}">
                <a16:creationId xmlns:a16="http://schemas.microsoft.com/office/drawing/2014/main" xmlns="" id="{2C044E33-42F0-47B8-9413-FF36324D4CA0}"/>
              </a:ext>
            </a:extLst>
          </p:cNvPr>
          <p:cNvSpPr>
            <a:spLocks noChangeArrowheads="1"/>
          </p:cNvSpPr>
          <p:nvPr/>
        </p:nvSpPr>
        <p:spPr bwMode="auto">
          <a:xfrm>
            <a:off x="9493250" y="493713"/>
            <a:ext cx="1433513" cy="2509837"/>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09">
            <a:extLst>
              <a:ext uri="{FF2B5EF4-FFF2-40B4-BE49-F238E27FC236}">
                <a16:creationId xmlns:a16="http://schemas.microsoft.com/office/drawing/2014/main" xmlns="" id="{B0B75A94-9E0D-4A3A-831A-ED028A99DB23}"/>
              </a:ext>
            </a:extLst>
          </p:cNvPr>
          <p:cNvSpPr>
            <a:spLocks noEditPoints="1" noChangeArrowheads="1"/>
          </p:cNvSpPr>
          <p:nvPr/>
        </p:nvSpPr>
        <p:spPr bwMode="auto">
          <a:xfrm>
            <a:off x="10904538"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0">
            <a:extLst>
              <a:ext uri="{FF2B5EF4-FFF2-40B4-BE49-F238E27FC236}">
                <a16:creationId xmlns:a16="http://schemas.microsoft.com/office/drawing/2014/main" xmlns="" id="{60903120-90EA-4BD9-989C-DEE80E5D9170}"/>
              </a:ext>
            </a:extLst>
          </p:cNvPr>
          <p:cNvSpPr>
            <a:spLocks noEditPoints="1" noChangeArrowheads="1"/>
          </p:cNvSpPr>
          <p:nvPr/>
        </p:nvSpPr>
        <p:spPr bwMode="auto">
          <a:xfrm>
            <a:off x="11102975"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1">
            <a:extLst>
              <a:ext uri="{FF2B5EF4-FFF2-40B4-BE49-F238E27FC236}">
                <a16:creationId xmlns:a16="http://schemas.microsoft.com/office/drawing/2014/main" xmlns="" id="{5FEBB2C5-1CB2-4CB4-951C-C88673222AA8}"/>
              </a:ext>
            </a:extLst>
          </p:cNvPr>
          <p:cNvSpPr>
            <a:spLocks noEditPoints="1" noChangeArrowheads="1"/>
          </p:cNvSpPr>
          <p:nvPr/>
        </p:nvSpPr>
        <p:spPr bwMode="auto">
          <a:xfrm>
            <a:off x="11307763" y="452438"/>
            <a:ext cx="100012"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2">
            <a:extLst>
              <a:ext uri="{FF2B5EF4-FFF2-40B4-BE49-F238E27FC236}">
                <a16:creationId xmlns:a16="http://schemas.microsoft.com/office/drawing/2014/main" xmlns="" id="{61BBE27F-C126-43A0-ADAC-32F04A7BA344}"/>
              </a:ext>
            </a:extLst>
          </p:cNvPr>
          <p:cNvSpPr>
            <a:spLocks noEditPoints="1" noChangeArrowheads="1"/>
          </p:cNvSpPr>
          <p:nvPr/>
        </p:nvSpPr>
        <p:spPr bwMode="auto">
          <a:xfrm>
            <a:off x="115030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3">
            <a:extLst>
              <a:ext uri="{FF2B5EF4-FFF2-40B4-BE49-F238E27FC236}">
                <a16:creationId xmlns:a16="http://schemas.microsoft.com/office/drawing/2014/main" xmlns="" id="{EAA58AC9-539D-4C09-9AA7-13B04599C160}"/>
              </a:ext>
            </a:extLst>
          </p:cNvPr>
          <p:cNvSpPr>
            <a:spLocks noEditPoints="1" noChangeArrowheads="1"/>
          </p:cNvSpPr>
          <p:nvPr/>
        </p:nvSpPr>
        <p:spPr bwMode="auto">
          <a:xfrm>
            <a:off x="117062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4">
            <a:extLst>
              <a:ext uri="{FF2B5EF4-FFF2-40B4-BE49-F238E27FC236}">
                <a16:creationId xmlns:a16="http://schemas.microsoft.com/office/drawing/2014/main" xmlns="" id="{ACC85A4E-AC3E-44B6-8F1C-395F77E6AE44}"/>
              </a:ext>
            </a:extLst>
          </p:cNvPr>
          <p:cNvSpPr>
            <a:spLocks noEditPoints="1" noChangeArrowheads="1"/>
          </p:cNvSpPr>
          <p:nvPr/>
        </p:nvSpPr>
        <p:spPr bwMode="auto">
          <a:xfrm>
            <a:off x="11904663" y="452438"/>
            <a:ext cx="100012"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7">
            <a:extLst>
              <a:ext uri="{FF2B5EF4-FFF2-40B4-BE49-F238E27FC236}">
                <a16:creationId xmlns:a16="http://schemas.microsoft.com/office/drawing/2014/main" xmlns="" id="{52FC56B6-5653-4FCF-B0E0-5EB6CF7D4CF7}"/>
              </a:ext>
            </a:extLst>
          </p:cNvPr>
          <p:cNvSpPr>
            <a:spLocks noEditPoints="1" noChangeArrowheads="1"/>
          </p:cNvSpPr>
          <p:nvPr/>
        </p:nvSpPr>
        <p:spPr bwMode="auto">
          <a:xfrm>
            <a:off x="4643438" y="2600325"/>
            <a:ext cx="6894512" cy="4008438"/>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8">
            <a:extLst>
              <a:ext uri="{FF2B5EF4-FFF2-40B4-BE49-F238E27FC236}">
                <a16:creationId xmlns:a16="http://schemas.microsoft.com/office/drawing/2014/main" xmlns="" id="{6E93BA8B-AE90-475B-9BCA-7C9DE918B6FE}"/>
              </a:ext>
            </a:extLst>
          </p:cNvPr>
          <p:cNvSpPr>
            <a:spLocks noChangeArrowheads="1"/>
          </p:cNvSpPr>
          <p:nvPr/>
        </p:nvSpPr>
        <p:spPr bwMode="auto">
          <a:xfrm>
            <a:off x="4502150" y="2122488"/>
            <a:ext cx="7172325" cy="4067175"/>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19">
            <a:extLst>
              <a:ext uri="{FF2B5EF4-FFF2-40B4-BE49-F238E27FC236}">
                <a16:creationId xmlns:a16="http://schemas.microsoft.com/office/drawing/2014/main" xmlns="" id="{8272447B-0412-408B-B30E-A3EAA6303F2B}"/>
              </a:ext>
            </a:extLst>
          </p:cNvPr>
          <p:cNvSpPr>
            <a:spLocks noChangeArrowheads="1"/>
          </p:cNvSpPr>
          <p:nvPr/>
        </p:nvSpPr>
        <p:spPr bwMode="auto">
          <a:xfrm>
            <a:off x="4502150" y="3313113"/>
            <a:ext cx="7172325" cy="2860675"/>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0">
            <a:extLst>
              <a:ext uri="{FF2B5EF4-FFF2-40B4-BE49-F238E27FC236}">
                <a16:creationId xmlns:a16="http://schemas.microsoft.com/office/drawing/2014/main" xmlns="" id="{10152BF8-06E3-4D91-BDFF-8B0CB78A2085}"/>
              </a:ext>
            </a:extLst>
          </p:cNvPr>
          <p:cNvSpPr>
            <a:spLocks noChangeArrowheads="1"/>
          </p:cNvSpPr>
          <p:nvPr/>
        </p:nvSpPr>
        <p:spPr bwMode="auto">
          <a:xfrm>
            <a:off x="4502150" y="3375025"/>
            <a:ext cx="7172325" cy="275272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1">
            <a:extLst>
              <a:ext uri="{FF2B5EF4-FFF2-40B4-BE49-F238E27FC236}">
                <a16:creationId xmlns:a16="http://schemas.microsoft.com/office/drawing/2014/main" xmlns="" id="{D116E5C1-D001-4F24-8EAB-DF98F7901648}"/>
              </a:ext>
            </a:extLst>
          </p:cNvPr>
          <p:cNvSpPr>
            <a:spLocks noChangeArrowheads="1"/>
          </p:cNvSpPr>
          <p:nvPr/>
        </p:nvSpPr>
        <p:spPr bwMode="auto">
          <a:xfrm>
            <a:off x="4479925" y="1851025"/>
            <a:ext cx="7221538" cy="4170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2">
            <a:extLst>
              <a:ext uri="{FF2B5EF4-FFF2-40B4-BE49-F238E27FC236}">
                <a16:creationId xmlns:a16="http://schemas.microsoft.com/office/drawing/2014/main" xmlns="" id="{617B4ED8-8EB4-400C-80E8-07B6665657E1}"/>
              </a:ext>
            </a:extLst>
          </p:cNvPr>
          <p:cNvSpPr>
            <a:spLocks noChangeArrowheads="1"/>
          </p:cNvSpPr>
          <p:nvPr/>
        </p:nvSpPr>
        <p:spPr bwMode="auto">
          <a:xfrm>
            <a:off x="6246813" y="5681663"/>
            <a:ext cx="50800" cy="7302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3">
            <a:extLst>
              <a:ext uri="{FF2B5EF4-FFF2-40B4-BE49-F238E27FC236}">
                <a16:creationId xmlns:a16="http://schemas.microsoft.com/office/drawing/2014/main" xmlns="" id="{D73F8684-E5A7-49EE-906B-5C88229AC643}"/>
              </a:ext>
            </a:extLst>
          </p:cNvPr>
          <p:cNvSpPr>
            <a:spLocks noChangeArrowheads="1"/>
          </p:cNvSpPr>
          <p:nvPr/>
        </p:nvSpPr>
        <p:spPr bwMode="auto">
          <a:xfrm>
            <a:off x="6350000" y="5738813"/>
            <a:ext cx="47625" cy="79375"/>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4">
            <a:extLst>
              <a:ext uri="{FF2B5EF4-FFF2-40B4-BE49-F238E27FC236}">
                <a16:creationId xmlns:a16="http://schemas.microsoft.com/office/drawing/2014/main" xmlns="" id="{41621DB1-3C1F-4A87-AAF6-176EE9EE27FB}"/>
              </a:ext>
            </a:extLst>
          </p:cNvPr>
          <p:cNvSpPr>
            <a:spLocks noChangeArrowheads="1"/>
          </p:cNvSpPr>
          <p:nvPr/>
        </p:nvSpPr>
        <p:spPr bwMode="auto">
          <a:xfrm>
            <a:off x="6450013" y="5800725"/>
            <a:ext cx="50800" cy="74613"/>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5">
            <a:extLst>
              <a:ext uri="{FF2B5EF4-FFF2-40B4-BE49-F238E27FC236}">
                <a16:creationId xmlns:a16="http://schemas.microsoft.com/office/drawing/2014/main" xmlns="" id="{C874FC1E-7F15-4D7D-83C8-F6095448BD51}"/>
              </a:ext>
            </a:extLst>
          </p:cNvPr>
          <p:cNvSpPr>
            <a:spLocks noChangeArrowheads="1"/>
          </p:cNvSpPr>
          <p:nvPr/>
        </p:nvSpPr>
        <p:spPr bwMode="auto">
          <a:xfrm>
            <a:off x="4846638" y="4875213"/>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6">
            <a:extLst>
              <a:ext uri="{FF2B5EF4-FFF2-40B4-BE49-F238E27FC236}">
                <a16:creationId xmlns:a16="http://schemas.microsoft.com/office/drawing/2014/main" xmlns="" id="{CFC1559D-E549-405C-86C0-6E9B675C1044}"/>
              </a:ext>
            </a:extLst>
          </p:cNvPr>
          <p:cNvSpPr>
            <a:spLocks noChangeArrowheads="1"/>
          </p:cNvSpPr>
          <p:nvPr/>
        </p:nvSpPr>
        <p:spPr bwMode="auto">
          <a:xfrm>
            <a:off x="4948238" y="4932363"/>
            <a:ext cx="57150" cy="77787"/>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7">
            <a:extLst>
              <a:ext uri="{FF2B5EF4-FFF2-40B4-BE49-F238E27FC236}">
                <a16:creationId xmlns:a16="http://schemas.microsoft.com/office/drawing/2014/main" xmlns="" id="{167C5277-283F-4981-BC8A-44C75FAABDAD}"/>
              </a:ext>
            </a:extLst>
          </p:cNvPr>
          <p:cNvSpPr>
            <a:spLocks noChangeArrowheads="1"/>
          </p:cNvSpPr>
          <p:nvPr/>
        </p:nvSpPr>
        <p:spPr bwMode="auto">
          <a:xfrm>
            <a:off x="5051425" y="4994275"/>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8">
            <a:extLst>
              <a:ext uri="{FF2B5EF4-FFF2-40B4-BE49-F238E27FC236}">
                <a16:creationId xmlns:a16="http://schemas.microsoft.com/office/drawing/2014/main" xmlns="" id="{DB125307-8DC3-45CD-B9BA-5921413A8942}"/>
              </a:ext>
            </a:extLst>
          </p:cNvPr>
          <p:cNvSpPr>
            <a:spLocks noEditPoints="1" noChangeArrowheads="1"/>
          </p:cNvSpPr>
          <p:nvPr/>
        </p:nvSpPr>
        <p:spPr bwMode="auto">
          <a:xfrm>
            <a:off x="8047038" y="1835150"/>
            <a:ext cx="1135062" cy="59690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29">
            <a:extLst>
              <a:ext uri="{FF2B5EF4-FFF2-40B4-BE49-F238E27FC236}">
                <a16:creationId xmlns:a16="http://schemas.microsoft.com/office/drawing/2014/main" xmlns="" id="{7F7D55B9-EFA6-434A-8578-006352C1ADBA}"/>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0">
            <a:extLst>
              <a:ext uri="{FF2B5EF4-FFF2-40B4-BE49-F238E27FC236}">
                <a16:creationId xmlns:a16="http://schemas.microsoft.com/office/drawing/2014/main" xmlns="" id="{CC862553-9916-4454-9791-F4B520A76C99}"/>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1">
            <a:extLst>
              <a:ext uri="{FF2B5EF4-FFF2-40B4-BE49-F238E27FC236}">
                <a16:creationId xmlns:a16="http://schemas.microsoft.com/office/drawing/2014/main" xmlns="" id="{C855EEB7-A415-4F88-90CF-287B35822CD1}"/>
              </a:ext>
            </a:extLst>
          </p:cNvPr>
          <p:cNvSpPr>
            <a:spLocks noChangeArrowheads="1"/>
          </p:cNvSpPr>
          <p:nvPr/>
        </p:nvSpPr>
        <p:spPr bwMode="auto">
          <a:xfrm>
            <a:off x="8985250" y="1866900"/>
            <a:ext cx="23813" cy="36513"/>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2">
            <a:extLst>
              <a:ext uri="{FF2B5EF4-FFF2-40B4-BE49-F238E27FC236}">
                <a16:creationId xmlns:a16="http://schemas.microsoft.com/office/drawing/2014/main" xmlns="" id="{052F20EB-602F-4FD8-ACC7-6631A771901F}"/>
              </a:ext>
            </a:extLst>
          </p:cNvPr>
          <p:cNvSpPr>
            <a:spLocks noChangeArrowheads="1"/>
          </p:cNvSpPr>
          <p:nvPr/>
        </p:nvSpPr>
        <p:spPr bwMode="auto">
          <a:xfrm>
            <a:off x="9155113" y="1835150"/>
            <a:ext cx="2222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3">
            <a:extLst>
              <a:ext uri="{FF2B5EF4-FFF2-40B4-BE49-F238E27FC236}">
                <a16:creationId xmlns:a16="http://schemas.microsoft.com/office/drawing/2014/main" xmlns="" id="{A53F6B73-E537-4FED-9A29-38A6E605C2B4}"/>
              </a:ext>
            </a:extLst>
          </p:cNvPr>
          <p:cNvSpPr>
            <a:spLocks noChangeArrowheads="1"/>
          </p:cNvSpPr>
          <p:nvPr/>
        </p:nvSpPr>
        <p:spPr bwMode="auto">
          <a:xfrm>
            <a:off x="4497388" y="2924175"/>
            <a:ext cx="2686050" cy="16192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34">
            <a:extLst>
              <a:ext uri="{FF2B5EF4-FFF2-40B4-BE49-F238E27FC236}">
                <a16:creationId xmlns:a16="http://schemas.microsoft.com/office/drawing/2014/main" xmlns="" id="{12AF3E8E-CD03-41B7-94AE-F750110E9FA9}"/>
              </a:ext>
            </a:extLst>
          </p:cNvPr>
          <p:cNvSpPr>
            <a:spLocks noChangeArrowheads="1"/>
          </p:cNvSpPr>
          <p:nvPr/>
        </p:nvSpPr>
        <p:spPr bwMode="auto">
          <a:xfrm>
            <a:off x="4506913" y="4486275"/>
            <a:ext cx="2530475" cy="14827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 name="组合 47">
            <a:extLst>
              <a:ext uri="{FF2B5EF4-FFF2-40B4-BE49-F238E27FC236}">
                <a16:creationId xmlns:a16="http://schemas.microsoft.com/office/drawing/2014/main" xmlns="" id="{8BD377F7-3023-4EBA-A9C2-C59B12DF8729}"/>
              </a:ext>
            </a:extLst>
          </p:cNvPr>
          <p:cNvGrpSpPr>
            <a:grpSpLocks/>
          </p:cNvGrpSpPr>
          <p:nvPr/>
        </p:nvGrpSpPr>
        <p:grpSpPr bwMode="auto">
          <a:xfrm>
            <a:off x="4427538" y="1868488"/>
            <a:ext cx="7250112" cy="4165600"/>
            <a:chOff x="7564437" y="4244495"/>
            <a:chExt cx="4236358" cy="2433801"/>
          </a:xfrm>
        </p:grpSpPr>
        <p:sp>
          <p:nvSpPr>
            <p:cNvPr id="44" name="Freeform 238">
              <a:extLst>
                <a:ext uri="{FF2B5EF4-FFF2-40B4-BE49-F238E27FC236}">
                  <a16:creationId xmlns:a16="http://schemas.microsoft.com/office/drawing/2014/main" xmlns="" id="{06CD3851-C2DC-4690-B440-748F9799AEC1}"/>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973BE56-DEA8-41C4-8C36-37104015B34C}"/>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3548C1B7-A01A-4E0F-AF45-EDD9848EA76A}"/>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238">
              <a:extLst>
                <a:ext uri="{FF2B5EF4-FFF2-40B4-BE49-F238E27FC236}">
                  <a16:creationId xmlns:a16="http://schemas.microsoft.com/office/drawing/2014/main" xmlns="" id="{7F02276A-59AF-4F48-A5AB-24EA731DDD8F}"/>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Freeform 135">
            <a:extLst>
              <a:ext uri="{FF2B5EF4-FFF2-40B4-BE49-F238E27FC236}">
                <a16:creationId xmlns:a16="http://schemas.microsoft.com/office/drawing/2014/main" xmlns="" id="{6EEB7527-0533-428E-A4E0-60BCFBAF5F82}"/>
              </a:ext>
            </a:extLst>
          </p:cNvPr>
          <p:cNvSpPr>
            <a:spLocks noEditPoints="1" noChangeArrowheads="1"/>
          </p:cNvSpPr>
          <p:nvPr/>
        </p:nvSpPr>
        <p:spPr bwMode="auto">
          <a:xfrm>
            <a:off x="7848600" y="4233863"/>
            <a:ext cx="1522413" cy="885825"/>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7">
            <a:extLst>
              <a:ext uri="{FF2B5EF4-FFF2-40B4-BE49-F238E27FC236}">
                <a16:creationId xmlns:a16="http://schemas.microsoft.com/office/drawing/2014/main" xmlns="" id="{75AA00D5-DAE8-4A1C-B2C9-B215959AC4C9}"/>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6">
            <a:extLst>
              <a:ext uri="{FF2B5EF4-FFF2-40B4-BE49-F238E27FC236}">
                <a16:creationId xmlns:a16="http://schemas.microsoft.com/office/drawing/2014/main" xmlns="" id="{3433F4F9-5741-4C20-8334-162108AEF4AE}"/>
              </a:ext>
            </a:extLst>
          </p:cNvPr>
          <p:cNvSpPr>
            <a:spLocks noEditPoints="1" noChangeArrowheads="1"/>
          </p:cNvSpPr>
          <p:nvPr/>
        </p:nvSpPr>
        <p:spPr bwMode="auto">
          <a:xfrm>
            <a:off x="9302750" y="3255963"/>
            <a:ext cx="1765300" cy="87947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8">
            <a:extLst>
              <a:ext uri="{FF2B5EF4-FFF2-40B4-BE49-F238E27FC236}">
                <a16:creationId xmlns:a16="http://schemas.microsoft.com/office/drawing/2014/main" xmlns="" id="{845BA712-40A3-4972-9FF9-3CC40014772B}"/>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9">
            <a:extLst>
              <a:ext uri="{FF2B5EF4-FFF2-40B4-BE49-F238E27FC236}">
                <a16:creationId xmlns:a16="http://schemas.microsoft.com/office/drawing/2014/main" xmlns="" id="{77A62DCF-8554-49AB-89CF-3940606F5240}"/>
              </a:ext>
            </a:extLst>
          </p:cNvPr>
          <p:cNvSpPr>
            <a:spLocks noEditPoints="1" noChangeArrowheads="1"/>
          </p:cNvSpPr>
          <p:nvPr/>
        </p:nvSpPr>
        <p:spPr bwMode="auto">
          <a:xfrm>
            <a:off x="7194550" y="2668588"/>
            <a:ext cx="1704975" cy="938212"/>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0">
            <a:extLst>
              <a:ext uri="{FF2B5EF4-FFF2-40B4-BE49-F238E27FC236}">
                <a16:creationId xmlns:a16="http://schemas.microsoft.com/office/drawing/2014/main" xmlns="" id="{0534DEAB-9CFA-4BE0-95EB-9E0AD9CFD970}"/>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1">
            <a:extLst>
              <a:ext uri="{FF2B5EF4-FFF2-40B4-BE49-F238E27FC236}">
                <a16:creationId xmlns:a16="http://schemas.microsoft.com/office/drawing/2014/main" xmlns="" id="{B01204B3-A082-461D-8FA8-5DDFE7384B8B}"/>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2">
            <a:extLst>
              <a:ext uri="{FF2B5EF4-FFF2-40B4-BE49-F238E27FC236}">
                <a16:creationId xmlns:a16="http://schemas.microsoft.com/office/drawing/2014/main" xmlns="" id="{B25CF6BF-6664-484E-9E77-6EE02638DCBC}"/>
              </a:ext>
            </a:extLst>
          </p:cNvPr>
          <p:cNvSpPr>
            <a:spLocks noChangeArrowheads="1"/>
          </p:cNvSpPr>
          <p:nvPr/>
        </p:nvSpPr>
        <p:spPr bwMode="auto">
          <a:xfrm>
            <a:off x="5664200" y="5113338"/>
            <a:ext cx="209550" cy="247650"/>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3">
            <a:extLst>
              <a:ext uri="{FF2B5EF4-FFF2-40B4-BE49-F238E27FC236}">
                <a16:creationId xmlns:a16="http://schemas.microsoft.com/office/drawing/2014/main" xmlns="" id="{7B3D527A-1910-41F3-B9D2-41C0BA69E68F}"/>
              </a:ext>
            </a:extLst>
          </p:cNvPr>
          <p:cNvSpPr>
            <a:spLocks noChangeArrowheads="1"/>
          </p:cNvSpPr>
          <p:nvPr/>
        </p:nvSpPr>
        <p:spPr bwMode="auto">
          <a:xfrm>
            <a:off x="5559425" y="5276850"/>
            <a:ext cx="234950" cy="195263"/>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4">
            <a:extLst>
              <a:ext uri="{FF2B5EF4-FFF2-40B4-BE49-F238E27FC236}">
                <a16:creationId xmlns:a16="http://schemas.microsoft.com/office/drawing/2014/main" xmlns="" id="{CD26042C-F6F5-4EA2-B2EE-404C435C734C}"/>
              </a:ext>
            </a:extLst>
          </p:cNvPr>
          <p:cNvSpPr>
            <a:spLocks noChangeArrowheads="1"/>
          </p:cNvSpPr>
          <p:nvPr/>
        </p:nvSpPr>
        <p:spPr bwMode="auto">
          <a:xfrm>
            <a:off x="5800725" y="4875213"/>
            <a:ext cx="2055813" cy="48577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5">
            <a:extLst>
              <a:ext uri="{FF2B5EF4-FFF2-40B4-BE49-F238E27FC236}">
                <a16:creationId xmlns:a16="http://schemas.microsoft.com/office/drawing/2014/main" xmlns="" id="{F3FD4682-F997-400E-9064-1C3B2887DF48}"/>
              </a:ext>
            </a:extLst>
          </p:cNvPr>
          <p:cNvSpPr>
            <a:spLocks noChangeArrowheads="1"/>
          </p:cNvSpPr>
          <p:nvPr/>
        </p:nvSpPr>
        <p:spPr bwMode="auto">
          <a:xfrm>
            <a:off x="6262688" y="3335338"/>
            <a:ext cx="1254125" cy="1558925"/>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46">
            <a:extLst>
              <a:ext uri="{FF2B5EF4-FFF2-40B4-BE49-F238E27FC236}">
                <a16:creationId xmlns:a16="http://schemas.microsoft.com/office/drawing/2014/main" xmlns="" id="{9C8DB4E6-D2BC-4673-97FB-D0A2C1A356A8}"/>
              </a:ext>
            </a:extLst>
          </p:cNvPr>
          <p:cNvSpPr>
            <a:spLocks noChangeArrowheads="1"/>
          </p:cNvSpPr>
          <p:nvPr/>
        </p:nvSpPr>
        <p:spPr bwMode="auto">
          <a:xfrm>
            <a:off x="7439025" y="3711575"/>
            <a:ext cx="2120900" cy="5080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0">
            <a:extLst>
              <a:ext uri="{FF2B5EF4-FFF2-40B4-BE49-F238E27FC236}">
                <a16:creationId xmlns:a16="http://schemas.microsoft.com/office/drawing/2014/main" xmlns="" id="{F12D6E17-390A-4C6C-9340-43843C2353CD}"/>
              </a:ext>
            </a:extLst>
          </p:cNvPr>
          <p:cNvSpPr>
            <a:spLocks noEditPoints="1" noChangeArrowheads="1"/>
          </p:cNvSpPr>
          <p:nvPr/>
        </p:nvSpPr>
        <p:spPr bwMode="auto">
          <a:xfrm>
            <a:off x="8899525" y="24431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1">
            <a:extLst>
              <a:ext uri="{FF2B5EF4-FFF2-40B4-BE49-F238E27FC236}">
                <a16:creationId xmlns:a16="http://schemas.microsoft.com/office/drawing/2014/main" xmlns="" id="{418C5718-98B1-4EFE-A7DF-157381242E7F}"/>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2">
            <a:extLst>
              <a:ext uri="{FF2B5EF4-FFF2-40B4-BE49-F238E27FC236}">
                <a16:creationId xmlns:a16="http://schemas.microsoft.com/office/drawing/2014/main" xmlns="" id="{AC626DAA-F85B-4990-9917-6847D1A0F80A}"/>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3">
            <a:extLst>
              <a:ext uri="{FF2B5EF4-FFF2-40B4-BE49-F238E27FC236}">
                <a16:creationId xmlns:a16="http://schemas.microsoft.com/office/drawing/2014/main" xmlns="" id="{2682A01C-F242-4718-8DC7-9C72C8BCFCBF}"/>
              </a:ext>
            </a:extLst>
          </p:cNvPr>
          <p:cNvSpPr>
            <a:spLocks noEditPoints="1" noChangeArrowheads="1"/>
          </p:cNvSpPr>
          <p:nvPr/>
        </p:nvSpPr>
        <p:spPr bwMode="auto">
          <a:xfrm>
            <a:off x="9634538" y="3825875"/>
            <a:ext cx="600075"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7">
            <a:extLst>
              <a:ext uri="{FF2B5EF4-FFF2-40B4-BE49-F238E27FC236}">
                <a16:creationId xmlns:a16="http://schemas.microsoft.com/office/drawing/2014/main" xmlns="" id="{618CA6E3-B4CF-42B9-866E-5F696FAD9E2D}"/>
              </a:ext>
            </a:extLst>
          </p:cNvPr>
          <p:cNvSpPr>
            <a:spLocks noChangeArrowheads="1"/>
          </p:cNvSpPr>
          <p:nvPr/>
        </p:nvSpPr>
        <p:spPr bwMode="auto">
          <a:xfrm>
            <a:off x="8890000" y="2449513"/>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8">
            <a:extLst>
              <a:ext uri="{FF2B5EF4-FFF2-40B4-BE49-F238E27FC236}">
                <a16:creationId xmlns:a16="http://schemas.microsoft.com/office/drawing/2014/main" xmlns="" id="{0B5FC428-3B11-4AF6-B9D2-CA8C2B2CEA6F}"/>
              </a:ext>
            </a:extLst>
          </p:cNvPr>
          <p:cNvSpPr>
            <a:spLocks noChangeArrowheads="1"/>
          </p:cNvSpPr>
          <p:nvPr/>
        </p:nvSpPr>
        <p:spPr bwMode="auto">
          <a:xfrm>
            <a:off x="8890000" y="2438400"/>
            <a:ext cx="20638" cy="11113"/>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59">
            <a:extLst>
              <a:ext uri="{FF2B5EF4-FFF2-40B4-BE49-F238E27FC236}">
                <a16:creationId xmlns:a16="http://schemas.microsoft.com/office/drawing/2014/main" xmlns="" id="{9EC2BF36-45A7-4B80-B4E2-606D8723965C}"/>
              </a:ext>
            </a:extLst>
          </p:cNvPr>
          <p:cNvSpPr>
            <a:spLocks noChangeArrowheads="1"/>
          </p:cNvSpPr>
          <p:nvPr/>
        </p:nvSpPr>
        <p:spPr bwMode="auto">
          <a:xfrm>
            <a:off x="8890000" y="2432050"/>
            <a:ext cx="1365250" cy="1625600"/>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0">
            <a:extLst>
              <a:ext uri="{FF2B5EF4-FFF2-40B4-BE49-F238E27FC236}">
                <a16:creationId xmlns:a16="http://schemas.microsoft.com/office/drawing/2014/main" xmlns="" id="{E793F106-D7D2-40A2-A50A-484A7939F8B4}"/>
              </a:ext>
            </a:extLst>
          </p:cNvPr>
          <p:cNvSpPr>
            <a:spLocks noEditPoints="1" noChangeArrowheads="1"/>
          </p:cNvSpPr>
          <p:nvPr/>
        </p:nvSpPr>
        <p:spPr bwMode="auto">
          <a:xfrm>
            <a:off x="8890000" y="2443163"/>
            <a:ext cx="9525" cy="6350"/>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64">
            <a:extLst>
              <a:ext uri="{FF2B5EF4-FFF2-40B4-BE49-F238E27FC236}">
                <a16:creationId xmlns:a16="http://schemas.microsoft.com/office/drawing/2014/main" xmlns="" id="{64C94442-35D6-420C-B3DC-F2BB3AE6379D}"/>
              </a:ext>
            </a:extLst>
          </p:cNvPr>
          <p:cNvSpPr>
            <a:spLocks noEditPoints="1" noChangeArrowheads="1"/>
          </p:cNvSpPr>
          <p:nvPr/>
        </p:nvSpPr>
        <p:spPr bwMode="auto">
          <a:xfrm>
            <a:off x="8899525" y="2443163"/>
            <a:ext cx="1335088"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2">
            <a:extLst>
              <a:ext uri="{FF2B5EF4-FFF2-40B4-BE49-F238E27FC236}">
                <a16:creationId xmlns:a16="http://schemas.microsoft.com/office/drawing/2014/main" xmlns="" id="{E802F860-4A5A-48D9-A547-F75E71D1C860}"/>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3">
            <a:extLst>
              <a:ext uri="{FF2B5EF4-FFF2-40B4-BE49-F238E27FC236}">
                <a16:creationId xmlns:a16="http://schemas.microsoft.com/office/drawing/2014/main" xmlns="" id="{831A016A-8C82-46B9-A1D1-3B05F2CBA795}"/>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4">
            <a:extLst>
              <a:ext uri="{FF2B5EF4-FFF2-40B4-BE49-F238E27FC236}">
                <a16:creationId xmlns:a16="http://schemas.microsoft.com/office/drawing/2014/main" xmlns="" id="{0E094A99-E528-43F0-8738-A47BDFDFAD43}"/>
              </a:ext>
            </a:extLst>
          </p:cNvPr>
          <p:cNvSpPr>
            <a:spLocks noEditPoints="1" noChangeArrowheads="1"/>
          </p:cNvSpPr>
          <p:nvPr/>
        </p:nvSpPr>
        <p:spPr bwMode="auto">
          <a:xfrm>
            <a:off x="7935913" y="4806950"/>
            <a:ext cx="596900"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5">
            <a:extLst>
              <a:ext uri="{FF2B5EF4-FFF2-40B4-BE49-F238E27FC236}">
                <a16:creationId xmlns:a16="http://schemas.microsoft.com/office/drawing/2014/main" xmlns="" id="{CCB3F5DE-AD4F-411B-BF35-266F308CFFFE}"/>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6">
            <a:extLst>
              <a:ext uri="{FF2B5EF4-FFF2-40B4-BE49-F238E27FC236}">
                <a16:creationId xmlns:a16="http://schemas.microsoft.com/office/drawing/2014/main" xmlns="" id="{3A8F191C-09FD-4E0E-A62F-4EBCB503B9F1}"/>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7">
            <a:extLst>
              <a:ext uri="{FF2B5EF4-FFF2-40B4-BE49-F238E27FC236}">
                <a16:creationId xmlns:a16="http://schemas.microsoft.com/office/drawing/2014/main" xmlns="" id="{CAFC6174-1FA1-4318-9B1B-18C0FE810777}"/>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98">
            <a:extLst>
              <a:ext uri="{FF2B5EF4-FFF2-40B4-BE49-F238E27FC236}">
                <a16:creationId xmlns:a16="http://schemas.microsoft.com/office/drawing/2014/main" xmlns="" id="{7C8E94EC-1E34-4E52-8E05-B17941CC99EC}"/>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8">
            <a:extLst>
              <a:ext uri="{FF2B5EF4-FFF2-40B4-BE49-F238E27FC236}">
                <a16:creationId xmlns:a16="http://schemas.microsoft.com/office/drawing/2014/main" xmlns="" id="{AAF42AD3-39F6-4BE6-AD0D-10AB81D343F5}"/>
              </a:ext>
            </a:extLst>
          </p:cNvPr>
          <p:cNvSpPr>
            <a:spLocks noChangeArrowheads="1"/>
          </p:cNvSpPr>
          <p:nvPr/>
        </p:nvSpPr>
        <p:spPr bwMode="auto">
          <a:xfrm>
            <a:off x="7188200" y="3381375"/>
            <a:ext cx="1428750" cy="16811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69">
            <a:extLst>
              <a:ext uri="{FF2B5EF4-FFF2-40B4-BE49-F238E27FC236}">
                <a16:creationId xmlns:a16="http://schemas.microsoft.com/office/drawing/2014/main" xmlns="" id="{59A04BA1-DBC9-480E-A3BA-93142F344F97}"/>
              </a:ext>
            </a:extLst>
          </p:cNvPr>
          <p:cNvSpPr>
            <a:spLocks noEditPoints="1" noChangeArrowheads="1"/>
          </p:cNvSpPr>
          <p:nvPr/>
        </p:nvSpPr>
        <p:spPr bwMode="auto">
          <a:xfrm>
            <a:off x="7188200" y="3381375"/>
            <a:ext cx="1428750" cy="16811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0">
            <a:extLst>
              <a:ext uri="{FF2B5EF4-FFF2-40B4-BE49-F238E27FC236}">
                <a16:creationId xmlns:a16="http://schemas.microsoft.com/office/drawing/2014/main" xmlns="" id="{602E2500-A185-42BA-B25E-8932588DFD5E}"/>
              </a:ext>
            </a:extLst>
          </p:cNvPr>
          <p:cNvSpPr>
            <a:spLocks noChangeArrowheads="1"/>
          </p:cNvSpPr>
          <p:nvPr/>
        </p:nvSpPr>
        <p:spPr bwMode="auto">
          <a:xfrm>
            <a:off x="7172325" y="3413125"/>
            <a:ext cx="1360488" cy="16652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1">
            <a:extLst>
              <a:ext uri="{FF2B5EF4-FFF2-40B4-BE49-F238E27FC236}">
                <a16:creationId xmlns:a16="http://schemas.microsoft.com/office/drawing/2014/main" xmlns="" id="{B3B420DA-64DD-4C76-BFDC-88512AE2D943}"/>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5">
            <a:extLst>
              <a:ext uri="{FF2B5EF4-FFF2-40B4-BE49-F238E27FC236}">
                <a16:creationId xmlns:a16="http://schemas.microsoft.com/office/drawing/2014/main" xmlns="" id="{4DEB5CCE-0CD3-4F31-B043-FDA2248D5CFB}"/>
              </a:ext>
            </a:extLst>
          </p:cNvPr>
          <p:cNvSpPr>
            <a:spLocks noChangeArrowheads="1"/>
          </p:cNvSpPr>
          <p:nvPr userDrawn="1"/>
        </p:nvSpPr>
        <p:spPr bwMode="auto">
          <a:xfrm>
            <a:off x="7483475" y="4003675"/>
            <a:ext cx="773113" cy="519113"/>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8">
            <a:extLst>
              <a:ext uri="{FF2B5EF4-FFF2-40B4-BE49-F238E27FC236}">
                <a16:creationId xmlns:a16="http://schemas.microsoft.com/office/drawing/2014/main" xmlns="" id="{5B87708A-020B-4731-BC6A-BB6033608F8B}"/>
              </a:ext>
            </a:extLst>
          </p:cNvPr>
          <p:cNvSpPr>
            <a:spLocks noChangeArrowheads="1"/>
          </p:cNvSpPr>
          <p:nvPr/>
        </p:nvSpPr>
        <p:spPr bwMode="auto">
          <a:xfrm>
            <a:off x="7188200" y="3427413"/>
            <a:ext cx="6350"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79">
            <a:extLst>
              <a:ext uri="{FF2B5EF4-FFF2-40B4-BE49-F238E27FC236}">
                <a16:creationId xmlns:a16="http://schemas.microsoft.com/office/drawing/2014/main" xmlns="" id="{48D19136-8EA5-409F-AE09-7D0E9D58045B}"/>
              </a:ext>
            </a:extLst>
          </p:cNvPr>
          <p:cNvSpPr>
            <a:spLocks noChangeArrowheads="1"/>
          </p:cNvSpPr>
          <p:nvPr/>
        </p:nvSpPr>
        <p:spPr bwMode="auto">
          <a:xfrm>
            <a:off x="7188200" y="3419475"/>
            <a:ext cx="25400"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0">
            <a:extLst>
              <a:ext uri="{FF2B5EF4-FFF2-40B4-BE49-F238E27FC236}">
                <a16:creationId xmlns:a16="http://schemas.microsoft.com/office/drawing/2014/main" xmlns="" id="{E1D44B10-61F0-4A22-8F61-0EFF8E0F789A}"/>
              </a:ext>
            </a:extLst>
          </p:cNvPr>
          <p:cNvSpPr>
            <a:spLocks noChangeArrowheads="1"/>
          </p:cNvSpPr>
          <p:nvPr/>
        </p:nvSpPr>
        <p:spPr bwMode="auto">
          <a:xfrm>
            <a:off x="7188200" y="3413125"/>
            <a:ext cx="1373188" cy="1627188"/>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181">
            <a:extLst>
              <a:ext uri="{FF2B5EF4-FFF2-40B4-BE49-F238E27FC236}">
                <a16:creationId xmlns:a16="http://schemas.microsoft.com/office/drawing/2014/main" xmlns="" id="{01785DE4-88DB-4E70-8D62-43640BD11C3C}"/>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82">
            <a:extLst>
              <a:ext uri="{FF2B5EF4-FFF2-40B4-BE49-F238E27FC236}">
                <a16:creationId xmlns:a16="http://schemas.microsoft.com/office/drawing/2014/main" xmlns="" id="{FA03B2C4-2F47-40F5-96A1-71DC1C17E4AE}"/>
              </a:ext>
            </a:extLst>
          </p:cNvPr>
          <p:cNvSpPr>
            <a:spLocks noChangeArrowheads="1"/>
          </p:cNvSpPr>
          <p:nvPr/>
        </p:nvSpPr>
        <p:spPr bwMode="auto">
          <a:xfrm>
            <a:off x="7188200" y="3432175"/>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Freeform 183">
            <a:extLst>
              <a:ext uri="{FF2B5EF4-FFF2-40B4-BE49-F238E27FC236}">
                <a16:creationId xmlns:a16="http://schemas.microsoft.com/office/drawing/2014/main" xmlns="" id="{39F208BB-6E54-42BD-B384-CA8245BA5782}"/>
              </a:ext>
            </a:extLst>
          </p:cNvPr>
          <p:cNvSpPr>
            <a:spLocks noChangeArrowheads="1"/>
          </p:cNvSpPr>
          <p:nvPr/>
        </p:nvSpPr>
        <p:spPr bwMode="auto">
          <a:xfrm>
            <a:off x="7188200" y="34321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6">
            <a:extLst>
              <a:ext uri="{FF2B5EF4-FFF2-40B4-BE49-F238E27FC236}">
                <a16:creationId xmlns:a16="http://schemas.microsoft.com/office/drawing/2014/main" xmlns="" id="{4321967D-D20B-49D8-B111-E234949F838C}"/>
              </a:ext>
            </a:extLst>
          </p:cNvPr>
          <p:cNvSpPr>
            <a:spLocks noChangeArrowheads="1"/>
          </p:cNvSpPr>
          <p:nvPr/>
        </p:nvSpPr>
        <p:spPr bwMode="auto">
          <a:xfrm>
            <a:off x="7199313" y="3419475"/>
            <a:ext cx="1355725" cy="163671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87">
            <a:extLst>
              <a:ext uri="{FF2B5EF4-FFF2-40B4-BE49-F238E27FC236}">
                <a16:creationId xmlns:a16="http://schemas.microsoft.com/office/drawing/2014/main" xmlns="" id="{6A2424E1-F377-4DB2-8EE0-6A6B37318F7D}"/>
              </a:ext>
            </a:extLst>
          </p:cNvPr>
          <p:cNvSpPr>
            <a:spLocks noEditPoints="1" noChangeArrowheads="1"/>
          </p:cNvSpPr>
          <p:nvPr/>
        </p:nvSpPr>
        <p:spPr bwMode="auto">
          <a:xfrm>
            <a:off x="7199313" y="3427413"/>
            <a:ext cx="1333500" cy="16287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09">
            <a:extLst>
              <a:ext uri="{FF2B5EF4-FFF2-40B4-BE49-F238E27FC236}">
                <a16:creationId xmlns:a16="http://schemas.microsoft.com/office/drawing/2014/main" xmlns="" id="{366F7B67-1656-4B2D-9AFB-747409FA6C5C}"/>
              </a:ext>
            </a:extLst>
          </p:cNvPr>
          <p:cNvSpPr>
            <a:spLocks noEditPoints="1" noChangeArrowheads="1"/>
          </p:cNvSpPr>
          <p:nvPr/>
        </p:nvSpPr>
        <p:spPr bwMode="auto">
          <a:xfrm>
            <a:off x="8183563" y="3443288"/>
            <a:ext cx="20637"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7">
            <a:extLst>
              <a:ext uri="{FF2B5EF4-FFF2-40B4-BE49-F238E27FC236}">
                <a16:creationId xmlns:a16="http://schemas.microsoft.com/office/drawing/2014/main" xmlns="" id="{F92F4392-8EEF-43B4-BAE7-A1304B214D1E}"/>
              </a:ext>
            </a:extLst>
          </p:cNvPr>
          <p:cNvSpPr>
            <a:spLocks noChangeArrowheads="1"/>
          </p:cNvSpPr>
          <p:nvPr/>
        </p:nvSpPr>
        <p:spPr bwMode="auto">
          <a:xfrm>
            <a:off x="7229475" y="2422525"/>
            <a:ext cx="168275" cy="246063"/>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8">
            <a:extLst>
              <a:ext uri="{FF2B5EF4-FFF2-40B4-BE49-F238E27FC236}">
                <a16:creationId xmlns:a16="http://schemas.microsoft.com/office/drawing/2014/main" xmlns="" id="{DCBB7236-9675-498B-8C20-A27177002E1A}"/>
              </a:ext>
            </a:extLst>
          </p:cNvPr>
          <p:cNvSpPr>
            <a:spLocks noChangeArrowheads="1"/>
          </p:cNvSpPr>
          <p:nvPr/>
        </p:nvSpPr>
        <p:spPr bwMode="auto">
          <a:xfrm>
            <a:off x="7439025" y="2538413"/>
            <a:ext cx="168275" cy="25558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219">
            <a:extLst>
              <a:ext uri="{FF2B5EF4-FFF2-40B4-BE49-F238E27FC236}">
                <a16:creationId xmlns:a16="http://schemas.microsoft.com/office/drawing/2014/main" xmlns="" id="{2FC711F2-E2BD-4A16-A399-0FEB2EE5F771}"/>
              </a:ext>
            </a:extLst>
          </p:cNvPr>
          <p:cNvSpPr>
            <a:spLocks noChangeArrowheads="1"/>
          </p:cNvSpPr>
          <p:nvPr/>
        </p:nvSpPr>
        <p:spPr bwMode="auto">
          <a:xfrm>
            <a:off x="7642225" y="2657475"/>
            <a:ext cx="168275" cy="25558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8">
            <a:extLst>
              <a:ext uri="{FF2B5EF4-FFF2-40B4-BE49-F238E27FC236}">
                <a16:creationId xmlns:a16="http://schemas.microsoft.com/office/drawing/2014/main" xmlns="" id="{00B33BA2-1E71-4715-B21C-1BE16BB3DD42}"/>
              </a:ext>
            </a:extLst>
          </p:cNvPr>
          <p:cNvSpPr>
            <a:spLocks noChangeArrowheads="1"/>
          </p:cNvSpPr>
          <p:nvPr/>
        </p:nvSpPr>
        <p:spPr bwMode="auto">
          <a:xfrm>
            <a:off x="8907463" y="2409825"/>
            <a:ext cx="1428750" cy="168275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0F6C8C1-1875-4877-A5A3-C4D64B673CD0}"/>
              </a:ext>
            </a:extLst>
          </p:cNvPr>
          <p:cNvSpPr>
            <a:spLocks noEditPoints="1" noChangeArrowheads="1"/>
          </p:cNvSpPr>
          <p:nvPr/>
        </p:nvSpPr>
        <p:spPr bwMode="auto">
          <a:xfrm>
            <a:off x="8907463" y="2409825"/>
            <a:ext cx="1428750" cy="168275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E2FBB50E-628E-4EE8-9E0F-DF970466A677}"/>
              </a:ext>
            </a:extLst>
          </p:cNvPr>
          <p:cNvSpPr>
            <a:spLocks noChangeArrowheads="1"/>
          </p:cNvSpPr>
          <p:nvPr/>
        </p:nvSpPr>
        <p:spPr bwMode="auto">
          <a:xfrm>
            <a:off x="8891588" y="2443163"/>
            <a:ext cx="1360487"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50B2F5EC-0905-4B44-A58A-8656F9F0CE8D}"/>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DC9D943D-6708-4514-AA71-4B4A6BC8D98D}"/>
              </a:ext>
            </a:extLst>
          </p:cNvPr>
          <p:cNvSpPr>
            <a:spLocks noChangeArrowheads="1"/>
          </p:cNvSpPr>
          <p:nvPr/>
        </p:nvSpPr>
        <p:spPr bwMode="auto">
          <a:xfrm>
            <a:off x="8872538" y="2470150"/>
            <a:ext cx="1346200" cy="16287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D4C9EE44-49E9-4ABC-AA3B-2F8F7DBE6888}"/>
              </a:ext>
            </a:extLst>
          </p:cNvPr>
          <p:cNvSpPr>
            <a:spLocks noChangeArrowheads="1"/>
          </p:cNvSpPr>
          <p:nvPr/>
        </p:nvSpPr>
        <p:spPr bwMode="auto">
          <a:xfrm>
            <a:off x="8907463" y="2455863"/>
            <a:ext cx="6350" cy="6350"/>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5868E1DB-7A84-47D5-8338-FA8B7B4483C3}"/>
              </a:ext>
            </a:extLst>
          </p:cNvPr>
          <p:cNvSpPr>
            <a:spLocks noChangeArrowheads="1"/>
          </p:cNvSpPr>
          <p:nvPr/>
        </p:nvSpPr>
        <p:spPr bwMode="auto">
          <a:xfrm>
            <a:off x="8907463" y="2447925"/>
            <a:ext cx="25400" cy="1428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11D9D801-49EA-4D68-9F00-D02CEBA3C92A}"/>
              </a:ext>
            </a:extLst>
          </p:cNvPr>
          <p:cNvSpPr>
            <a:spLocks noChangeArrowheads="1"/>
          </p:cNvSpPr>
          <p:nvPr/>
        </p:nvSpPr>
        <p:spPr bwMode="auto">
          <a:xfrm>
            <a:off x="8907463" y="2443163"/>
            <a:ext cx="1373187"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F689A14E-EAB7-43C3-8C68-18F45E106E8B}"/>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71EAAFBF-E3F1-462A-9AFE-49CF2FD57F66}"/>
              </a:ext>
            </a:extLst>
          </p:cNvPr>
          <p:cNvSpPr>
            <a:spLocks noChangeArrowheads="1"/>
          </p:cNvSpPr>
          <p:nvPr/>
        </p:nvSpPr>
        <p:spPr bwMode="auto">
          <a:xfrm>
            <a:off x="8907463" y="246221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54B5E515-73A1-467C-B5F4-A58ED24A17AC}"/>
              </a:ext>
            </a:extLst>
          </p:cNvPr>
          <p:cNvSpPr>
            <a:spLocks noChangeArrowheads="1"/>
          </p:cNvSpPr>
          <p:nvPr/>
        </p:nvSpPr>
        <p:spPr bwMode="auto">
          <a:xfrm>
            <a:off x="8907463" y="246221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0C11D7DE-9C83-4F59-A076-A112149256B6}"/>
              </a:ext>
            </a:extLst>
          </p:cNvPr>
          <p:cNvSpPr>
            <a:spLocks noChangeArrowheads="1"/>
          </p:cNvSpPr>
          <p:nvPr/>
        </p:nvSpPr>
        <p:spPr bwMode="auto">
          <a:xfrm>
            <a:off x="8918575" y="2447925"/>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1A94479D-D678-45DF-B39C-FE3FF191D561}"/>
              </a:ext>
            </a:extLst>
          </p:cNvPr>
          <p:cNvSpPr>
            <a:spLocks noEditPoints="1" noChangeArrowheads="1"/>
          </p:cNvSpPr>
          <p:nvPr/>
        </p:nvSpPr>
        <p:spPr bwMode="auto">
          <a:xfrm>
            <a:off x="8918575" y="2455863"/>
            <a:ext cx="1333500"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E1F1E5F-A6D9-4294-A56F-07981EE41531}"/>
              </a:ext>
            </a:extLst>
          </p:cNvPr>
          <p:cNvSpPr>
            <a:spLocks noEditPoints="1" noChangeArrowheads="1"/>
          </p:cNvSpPr>
          <p:nvPr/>
        </p:nvSpPr>
        <p:spPr bwMode="auto">
          <a:xfrm>
            <a:off x="9902825" y="2473325"/>
            <a:ext cx="20638"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8">
            <a:extLst>
              <a:ext uri="{FF2B5EF4-FFF2-40B4-BE49-F238E27FC236}">
                <a16:creationId xmlns:a16="http://schemas.microsoft.com/office/drawing/2014/main" xmlns="" id="{6EF2154A-BA7C-47B7-91D6-3549B7921817}"/>
              </a:ext>
            </a:extLst>
          </p:cNvPr>
          <p:cNvSpPr>
            <a:spLocks noChangeArrowheads="1"/>
          </p:cNvSpPr>
          <p:nvPr userDrawn="1"/>
        </p:nvSpPr>
        <p:spPr bwMode="auto">
          <a:xfrm>
            <a:off x="6870700" y="1808163"/>
            <a:ext cx="1428750" cy="1681162"/>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9481D083-19D0-4F08-BB3D-656D1A7C6C68}"/>
              </a:ext>
            </a:extLst>
          </p:cNvPr>
          <p:cNvSpPr>
            <a:spLocks noEditPoints="1" noChangeArrowheads="1"/>
          </p:cNvSpPr>
          <p:nvPr userDrawn="1"/>
        </p:nvSpPr>
        <p:spPr bwMode="auto">
          <a:xfrm>
            <a:off x="6870700" y="1808163"/>
            <a:ext cx="1428750" cy="1681162"/>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178C77AC-C797-4C26-AD7B-4176A8934787}"/>
              </a:ext>
            </a:extLst>
          </p:cNvPr>
          <p:cNvSpPr>
            <a:spLocks noChangeArrowheads="1"/>
          </p:cNvSpPr>
          <p:nvPr userDrawn="1"/>
        </p:nvSpPr>
        <p:spPr bwMode="auto">
          <a:xfrm>
            <a:off x="6854825" y="1839913"/>
            <a:ext cx="1360488"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18BEA8C5-4D25-426E-BEF2-7A3AD4387597}"/>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AF47098A-F1EC-4304-81A7-9683D5E9EE4A}"/>
              </a:ext>
            </a:extLst>
          </p:cNvPr>
          <p:cNvSpPr>
            <a:spLocks noChangeArrowheads="1"/>
          </p:cNvSpPr>
          <p:nvPr userDrawn="1"/>
        </p:nvSpPr>
        <p:spPr bwMode="auto">
          <a:xfrm>
            <a:off x="6835775" y="1866900"/>
            <a:ext cx="1344613" cy="1630363"/>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78D26F82-92FE-4ABD-BB3A-A458D21D7DFA}"/>
              </a:ext>
            </a:extLst>
          </p:cNvPr>
          <p:cNvSpPr>
            <a:spLocks noChangeArrowheads="1"/>
          </p:cNvSpPr>
          <p:nvPr userDrawn="1"/>
        </p:nvSpPr>
        <p:spPr bwMode="auto">
          <a:xfrm>
            <a:off x="6870700" y="1854200"/>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0CDF19E4-E8A2-4FFD-8666-E0673286912F}"/>
              </a:ext>
            </a:extLst>
          </p:cNvPr>
          <p:cNvSpPr>
            <a:spLocks noChangeArrowheads="1"/>
          </p:cNvSpPr>
          <p:nvPr userDrawn="1"/>
        </p:nvSpPr>
        <p:spPr bwMode="auto">
          <a:xfrm>
            <a:off x="6870700" y="1846263"/>
            <a:ext cx="23813"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8B144759-F334-44D8-918F-430B5D5150E4}"/>
              </a:ext>
            </a:extLst>
          </p:cNvPr>
          <p:cNvSpPr>
            <a:spLocks noChangeArrowheads="1"/>
          </p:cNvSpPr>
          <p:nvPr userDrawn="1"/>
        </p:nvSpPr>
        <p:spPr bwMode="auto">
          <a:xfrm>
            <a:off x="6870700" y="1839913"/>
            <a:ext cx="1371600"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7AC02806-9C17-440D-A832-74EBC30EEAD4}"/>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BFDB50B1-8CB6-44EE-AA02-30B670BC92B5}"/>
              </a:ext>
            </a:extLst>
          </p:cNvPr>
          <p:cNvSpPr>
            <a:spLocks noChangeArrowheads="1"/>
          </p:cNvSpPr>
          <p:nvPr userDrawn="1"/>
        </p:nvSpPr>
        <p:spPr bwMode="auto">
          <a:xfrm>
            <a:off x="6870700" y="185896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D29DF795-704A-4E4D-9B5A-8C1D49EBCF2D}"/>
              </a:ext>
            </a:extLst>
          </p:cNvPr>
          <p:cNvSpPr>
            <a:spLocks noChangeArrowheads="1"/>
          </p:cNvSpPr>
          <p:nvPr userDrawn="1"/>
        </p:nvSpPr>
        <p:spPr bwMode="auto">
          <a:xfrm>
            <a:off x="6870700" y="1858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0DE687B4-0317-43F9-8EFA-A0B6E879C62B}"/>
              </a:ext>
            </a:extLst>
          </p:cNvPr>
          <p:cNvSpPr>
            <a:spLocks noChangeArrowheads="1"/>
          </p:cNvSpPr>
          <p:nvPr userDrawn="1"/>
        </p:nvSpPr>
        <p:spPr bwMode="auto">
          <a:xfrm>
            <a:off x="6881813" y="1846263"/>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5F5F98F7-4166-4784-8701-CA0CAD24072E}"/>
              </a:ext>
            </a:extLst>
          </p:cNvPr>
          <p:cNvSpPr>
            <a:spLocks noEditPoints="1" noChangeArrowheads="1"/>
          </p:cNvSpPr>
          <p:nvPr userDrawn="1"/>
        </p:nvSpPr>
        <p:spPr bwMode="auto">
          <a:xfrm>
            <a:off x="6881813" y="1854200"/>
            <a:ext cx="1333500" cy="1630363"/>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DE0DA466-8E8A-4A57-8332-086BFF420BCE}"/>
              </a:ext>
            </a:extLst>
          </p:cNvPr>
          <p:cNvSpPr>
            <a:spLocks noEditPoints="1" noChangeArrowheads="1"/>
          </p:cNvSpPr>
          <p:nvPr userDrawn="1"/>
        </p:nvSpPr>
        <p:spPr bwMode="auto">
          <a:xfrm>
            <a:off x="7864475" y="1870075"/>
            <a:ext cx="22225"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242">
            <a:extLst>
              <a:ext uri="{FF2B5EF4-FFF2-40B4-BE49-F238E27FC236}">
                <a16:creationId xmlns:a16="http://schemas.microsoft.com/office/drawing/2014/main" xmlns="" id="{8B5969BC-A18D-4003-AC44-D1AA248FC692}"/>
              </a:ext>
            </a:extLst>
          </p:cNvPr>
          <p:cNvSpPr/>
          <p:nvPr userDrawn="1"/>
        </p:nvSpPr>
        <p:spPr bwMode="auto">
          <a:xfrm>
            <a:off x="7321550" y="2419350"/>
            <a:ext cx="457200" cy="5667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2" name="increasing-stocks-graphic_38888">
            <a:extLst>
              <a:ext uri="{FF2B5EF4-FFF2-40B4-BE49-F238E27FC236}">
                <a16:creationId xmlns:a16="http://schemas.microsoft.com/office/drawing/2014/main" xmlns="" id="{FD506BBB-35F7-41A0-B565-0FDD636776B2}"/>
              </a:ext>
            </a:extLst>
          </p:cNvPr>
          <p:cNvSpPr>
            <a:spLocks noChangeAspect="1" noChangeArrowheads="1"/>
          </p:cNvSpPr>
          <p:nvPr userDrawn="1"/>
        </p:nvSpPr>
        <p:spPr bwMode="auto">
          <a:xfrm>
            <a:off x="9353550" y="3028950"/>
            <a:ext cx="474663" cy="468313"/>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 name="组合 122">
            <a:extLst>
              <a:ext uri="{FF2B5EF4-FFF2-40B4-BE49-F238E27FC236}">
                <a16:creationId xmlns:a16="http://schemas.microsoft.com/office/drawing/2014/main" xmlns="" id="{46D1E2DE-F6C8-4749-8CD9-9D05F4D51EBF}"/>
              </a:ext>
            </a:extLst>
          </p:cNvPr>
          <p:cNvGrpSpPr/>
          <p:nvPr/>
        </p:nvGrpSpPr>
        <p:grpSpPr>
          <a:xfrm>
            <a:off x="1437600" y="1866560"/>
            <a:ext cx="9392844" cy="3521271"/>
            <a:chOff x="1728788" y="7356475"/>
            <a:chExt cx="10683874" cy="4005263"/>
          </a:xfrm>
          <a:solidFill>
            <a:schemeClr val="bg1">
              <a:alpha val="20000"/>
            </a:schemeClr>
          </a:solidFill>
        </p:grpSpPr>
        <p:sp>
          <p:nvSpPr>
            <p:cNvPr id="124" name="Freeform 192">
              <a:extLst>
                <a:ext uri="{FF2B5EF4-FFF2-40B4-BE49-F238E27FC236}">
                  <a16:creationId xmlns:a16="http://schemas.microsoft.com/office/drawing/2014/main" xmlns="" id="{29BA1BCC-03EA-4C69-9F50-61A520D9CC4D}"/>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5" name="Freeform 193">
              <a:extLst>
                <a:ext uri="{FF2B5EF4-FFF2-40B4-BE49-F238E27FC236}">
                  <a16:creationId xmlns:a16="http://schemas.microsoft.com/office/drawing/2014/main" xmlns="" id="{3C8A66E2-A1E3-41E9-8E26-8AD199BD8FA8}"/>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6" name="Freeform 194">
              <a:extLst>
                <a:ext uri="{FF2B5EF4-FFF2-40B4-BE49-F238E27FC236}">
                  <a16:creationId xmlns:a16="http://schemas.microsoft.com/office/drawing/2014/main" xmlns="" id="{336FC769-45B8-4091-B057-ECF741D6DB5F}"/>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7" name="Freeform 195">
              <a:extLst>
                <a:ext uri="{FF2B5EF4-FFF2-40B4-BE49-F238E27FC236}">
                  <a16:creationId xmlns:a16="http://schemas.microsoft.com/office/drawing/2014/main" xmlns="" id="{10A6BFBE-1E83-4D62-8333-43A7418FF9F4}"/>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8" name="Freeform 196">
              <a:extLst>
                <a:ext uri="{FF2B5EF4-FFF2-40B4-BE49-F238E27FC236}">
                  <a16:creationId xmlns:a16="http://schemas.microsoft.com/office/drawing/2014/main" xmlns="" id="{E2A929D4-59B8-412F-8C71-7BF89C9E8790}"/>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29" name="Freeform 197">
              <a:extLst>
                <a:ext uri="{FF2B5EF4-FFF2-40B4-BE49-F238E27FC236}">
                  <a16:creationId xmlns:a16="http://schemas.microsoft.com/office/drawing/2014/main" xmlns="" id="{05BB23E0-60F9-4FFC-8F81-4014E9BA0BF8}"/>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0" name="Freeform 198">
              <a:extLst>
                <a:ext uri="{FF2B5EF4-FFF2-40B4-BE49-F238E27FC236}">
                  <a16:creationId xmlns:a16="http://schemas.microsoft.com/office/drawing/2014/main" xmlns="" id="{35734EC5-751D-4F47-8703-6C68413A311B}"/>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1" name="Freeform 199">
              <a:extLst>
                <a:ext uri="{FF2B5EF4-FFF2-40B4-BE49-F238E27FC236}">
                  <a16:creationId xmlns:a16="http://schemas.microsoft.com/office/drawing/2014/main" xmlns="" id="{23F0D5E8-59DE-414D-A38F-DBE27BA60468}"/>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2" name="Freeform 200">
              <a:extLst>
                <a:ext uri="{FF2B5EF4-FFF2-40B4-BE49-F238E27FC236}">
                  <a16:creationId xmlns:a16="http://schemas.microsoft.com/office/drawing/2014/main" xmlns="" id="{4726B852-1B6C-4A71-80EC-CDBF35E88EEF}"/>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3" name="Freeform 201">
              <a:extLst>
                <a:ext uri="{FF2B5EF4-FFF2-40B4-BE49-F238E27FC236}">
                  <a16:creationId xmlns:a16="http://schemas.microsoft.com/office/drawing/2014/main" xmlns="" id="{4AA940CB-94EE-4DEF-9E9F-3D11BC8A77E0}"/>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4" name="Freeform 202">
              <a:extLst>
                <a:ext uri="{FF2B5EF4-FFF2-40B4-BE49-F238E27FC236}">
                  <a16:creationId xmlns:a16="http://schemas.microsoft.com/office/drawing/2014/main" xmlns="" id="{37043C60-3F8E-4D98-B028-C28CE45EF949}"/>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5" name="Freeform 203">
              <a:extLst>
                <a:ext uri="{FF2B5EF4-FFF2-40B4-BE49-F238E27FC236}">
                  <a16:creationId xmlns:a16="http://schemas.microsoft.com/office/drawing/2014/main" xmlns="" id="{C81FF395-5597-4B60-94F8-16CFCB54D10B}"/>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6" name="Freeform 204">
              <a:extLst>
                <a:ext uri="{FF2B5EF4-FFF2-40B4-BE49-F238E27FC236}">
                  <a16:creationId xmlns:a16="http://schemas.microsoft.com/office/drawing/2014/main" xmlns="" id="{2007123A-4AA8-48E1-BA2E-A82105D93644}"/>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7" name="Freeform 205">
              <a:extLst>
                <a:ext uri="{FF2B5EF4-FFF2-40B4-BE49-F238E27FC236}">
                  <a16:creationId xmlns:a16="http://schemas.microsoft.com/office/drawing/2014/main" xmlns="" id="{0683844A-AFE8-46C2-94DB-C4A051404877}"/>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8" name="Freeform 206">
              <a:extLst>
                <a:ext uri="{FF2B5EF4-FFF2-40B4-BE49-F238E27FC236}">
                  <a16:creationId xmlns:a16="http://schemas.microsoft.com/office/drawing/2014/main" xmlns="" id="{D8D71F33-0C29-48A9-A65A-A5537F3A52A6}"/>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39" name="Freeform 207">
              <a:extLst>
                <a:ext uri="{FF2B5EF4-FFF2-40B4-BE49-F238E27FC236}">
                  <a16:creationId xmlns:a16="http://schemas.microsoft.com/office/drawing/2014/main" xmlns="" id="{E97DE069-9FC5-47E3-BB06-6C53B57EBB04}"/>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0" name="Freeform 208">
              <a:extLst>
                <a:ext uri="{FF2B5EF4-FFF2-40B4-BE49-F238E27FC236}">
                  <a16:creationId xmlns:a16="http://schemas.microsoft.com/office/drawing/2014/main" xmlns="" id="{EB395240-8714-475A-A9EA-C1988D9DACB8}"/>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1" name="Freeform 209">
              <a:extLst>
                <a:ext uri="{FF2B5EF4-FFF2-40B4-BE49-F238E27FC236}">
                  <a16:creationId xmlns:a16="http://schemas.microsoft.com/office/drawing/2014/main" xmlns="" id="{6139A264-FB50-49CA-AE6F-7F4DFF7C6048}"/>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2" name="Freeform 210">
              <a:extLst>
                <a:ext uri="{FF2B5EF4-FFF2-40B4-BE49-F238E27FC236}">
                  <a16:creationId xmlns:a16="http://schemas.microsoft.com/office/drawing/2014/main" xmlns="" id="{E27E8A68-4257-446B-B011-27B527B11BA3}"/>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3" name="Freeform 211">
              <a:extLst>
                <a:ext uri="{FF2B5EF4-FFF2-40B4-BE49-F238E27FC236}">
                  <a16:creationId xmlns:a16="http://schemas.microsoft.com/office/drawing/2014/main" xmlns="" id="{63CF341D-2B39-4D7A-A0FC-8C9E4CAAD0B7}"/>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2">
              <a:extLst>
                <a:ext uri="{FF2B5EF4-FFF2-40B4-BE49-F238E27FC236}">
                  <a16:creationId xmlns:a16="http://schemas.microsoft.com/office/drawing/2014/main" xmlns="" id="{06245076-6CA3-4FDE-9361-0DA26A2EC607}"/>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5" name="Freeform 213">
              <a:extLst>
                <a:ext uri="{FF2B5EF4-FFF2-40B4-BE49-F238E27FC236}">
                  <a16:creationId xmlns:a16="http://schemas.microsoft.com/office/drawing/2014/main" xmlns="" id="{94E0F53C-DEC9-4430-B64C-6620E76347B0}"/>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6" name="Freeform 214">
              <a:extLst>
                <a:ext uri="{FF2B5EF4-FFF2-40B4-BE49-F238E27FC236}">
                  <a16:creationId xmlns:a16="http://schemas.microsoft.com/office/drawing/2014/main" xmlns="" id="{D426A132-F344-4AFD-9F3C-A887036E24DB}"/>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7" name="Freeform 215">
              <a:extLst>
                <a:ext uri="{FF2B5EF4-FFF2-40B4-BE49-F238E27FC236}">
                  <a16:creationId xmlns:a16="http://schemas.microsoft.com/office/drawing/2014/main" xmlns="" id="{8ACE94DA-4CCE-4980-BE34-998E88B7335D}"/>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8" name="Freeform 216">
              <a:extLst>
                <a:ext uri="{FF2B5EF4-FFF2-40B4-BE49-F238E27FC236}">
                  <a16:creationId xmlns:a16="http://schemas.microsoft.com/office/drawing/2014/main" xmlns="" id="{1186AB81-EC08-47A3-B424-BFDAFD7F41CF}"/>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49" name="Freeform 217">
              <a:extLst>
                <a:ext uri="{FF2B5EF4-FFF2-40B4-BE49-F238E27FC236}">
                  <a16:creationId xmlns:a16="http://schemas.microsoft.com/office/drawing/2014/main" xmlns="" id="{F5668DBE-204F-4171-9E4F-5846978205F7}"/>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0" name="Freeform 218">
              <a:extLst>
                <a:ext uri="{FF2B5EF4-FFF2-40B4-BE49-F238E27FC236}">
                  <a16:creationId xmlns:a16="http://schemas.microsoft.com/office/drawing/2014/main" xmlns="" id="{D3EFCB08-F6F6-491F-9E57-2E2F36735476}"/>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1" name="Freeform 219">
              <a:extLst>
                <a:ext uri="{FF2B5EF4-FFF2-40B4-BE49-F238E27FC236}">
                  <a16:creationId xmlns:a16="http://schemas.microsoft.com/office/drawing/2014/main" xmlns="" id="{FB523A2B-4AE4-496E-B6D5-96A80A3CE231}"/>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2" name="Freeform 220">
              <a:extLst>
                <a:ext uri="{FF2B5EF4-FFF2-40B4-BE49-F238E27FC236}">
                  <a16:creationId xmlns:a16="http://schemas.microsoft.com/office/drawing/2014/main" xmlns="" id="{12AFCCC9-64AE-492B-B862-3E0D337B8B47}"/>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3" name="Freeform 221">
              <a:extLst>
                <a:ext uri="{FF2B5EF4-FFF2-40B4-BE49-F238E27FC236}">
                  <a16:creationId xmlns:a16="http://schemas.microsoft.com/office/drawing/2014/main" xmlns="" id="{46D3A967-56BC-45BF-8ED4-884A091A967F}"/>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4" name="Freeform 222">
              <a:extLst>
                <a:ext uri="{FF2B5EF4-FFF2-40B4-BE49-F238E27FC236}">
                  <a16:creationId xmlns:a16="http://schemas.microsoft.com/office/drawing/2014/main" xmlns="" id="{D8CCC54B-96D6-4384-8DB9-3B07D2811111}"/>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5" name="Freeform 223">
              <a:extLst>
                <a:ext uri="{FF2B5EF4-FFF2-40B4-BE49-F238E27FC236}">
                  <a16:creationId xmlns:a16="http://schemas.microsoft.com/office/drawing/2014/main" xmlns="" id="{1F4F8155-DADF-4F50-AA1B-32DA5B769BCD}"/>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6" name="Freeform 224">
              <a:extLst>
                <a:ext uri="{FF2B5EF4-FFF2-40B4-BE49-F238E27FC236}">
                  <a16:creationId xmlns:a16="http://schemas.microsoft.com/office/drawing/2014/main" xmlns="" id="{4BE96C66-A0A7-483D-9938-D4593CB3AAE6}"/>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7" name="Freeform 225">
              <a:extLst>
                <a:ext uri="{FF2B5EF4-FFF2-40B4-BE49-F238E27FC236}">
                  <a16:creationId xmlns:a16="http://schemas.microsoft.com/office/drawing/2014/main" xmlns="" id="{8F827AD3-64F4-4111-93C8-1B6D02686F78}"/>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8" name="Freeform 226">
              <a:extLst>
                <a:ext uri="{FF2B5EF4-FFF2-40B4-BE49-F238E27FC236}">
                  <a16:creationId xmlns:a16="http://schemas.microsoft.com/office/drawing/2014/main" xmlns="" id="{97C21B80-8D79-4200-8299-0DBC93B18F32}"/>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9" name="Freeform 227">
              <a:extLst>
                <a:ext uri="{FF2B5EF4-FFF2-40B4-BE49-F238E27FC236}">
                  <a16:creationId xmlns:a16="http://schemas.microsoft.com/office/drawing/2014/main" xmlns="" id="{35EE361A-3852-4AEC-A2D1-00DFB9A23BED}"/>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0" name="Freeform 228">
              <a:extLst>
                <a:ext uri="{FF2B5EF4-FFF2-40B4-BE49-F238E27FC236}">
                  <a16:creationId xmlns:a16="http://schemas.microsoft.com/office/drawing/2014/main" xmlns="" id="{A667A830-5619-4A40-B459-B9E18551C481}"/>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1" name="Freeform 229">
              <a:extLst>
                <a:ext uri="{FF2B5EF4-FFF2-40B4-BE49-F238E27FC236}">
                  <a16:creationId xmlns:a16="http://schemas.microsoft.com/office/drawing/2014/main" xmlns="" id="{094D478C-FC2A-490F-B257-2CB4AE472637}"/>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2" name="Freeform 230">
              <a:extLst>
                <a:ext uri="{FF2B5EF4-FFF2-40B4-BE49-F238E27FC236}">
                  <a16:creationId xmlns:a16="http://schemas.microsoft.com/office/drawing/2014/main" xmlns="" id="{DE02CF36-9B20-4CBD-B9B7-A1B6580E1B72}"/>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3" name="Freeform 231">
              <a:extLst>
                <a:ext uri="{FF2B5EF4-FFF2-40B4-BE49-F238E27FC236}">
                  <a16:creationId xmlns:a16="http://schemas.microsoft.com/office/drawing/2014/main" xmlns="" id="{288FF36E-DADD-4B2D-BCCD-465F93CB1BCF}"/>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9801" name="副标题 2"/>
          <p:cNvSpPr>
            <a:spLocks noGrp="1"/>
          </p:cNvSpPr>
          <p:nvPr userDrawn="1">
            <p:ph type="subTitle" idx="1"/>
          </p:nvPr>
        </p:nvSpPr>
        <p:spPr>
          <a:xfrm>
            <a:off x="948718" y="2998375"/>
            <a:ext cx="5087595" cy="558799"/>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9802" name="标题 1"/>
          <p:cNvSpPr>
            <a:spLocks noGrp="1"/>
          </p:cNvSpPr>
          <p:nvPr userDrawn="1">
            <p:ph type="ctrTitle"/>
          </p:nvPr>
        </p:nvSpPr>
        <p:spPr>
          <a:xfrm>
            <a:off x="948718" y="1785931"/>
            <a:ext cx="5087595" cy="1198382"/>
          </a:xfrm>
        </p:spPr>
        <p:txBody>
          <a:bodyPr anchor="ctr">
            <a:normAutofit/>
          </a:bodyPr>
          <a:lstStyle>
            <a:lvl1pPr algn="l">
              <a:defRPr sz="4000">
                <a:solidFill>
                  <a:schemeClr val="bg1"/>
                </a:solidFill>
              </a:defRPr>
            </a:lvl1pPr>
          </a:lstStyle>
          <a:p>
            <a:r>
              <a:rPr lang="zh-CN" altLang="en-US" noProof="1" smtClean="0"/>
              <a:t>单击此处编辑母版标题样式</a:t>
            </a:r>
            <a:endParaRPr lang="zh-CN" altLang="en-US" noProof="1"/>
          </a:p>
        </p:txBody>
      </p:sp>
      <p:sp>
        <p:nvSpPr>
          <p:cNvPr id="12" name="文本占位符 13"/>
          <p:cNvSpPr>
            <a:spLocks noGrp="1"/>
          </p:cNvSpPr>
          <p:nvPr userDrawn="1">
            <p:ph type="body" sz="quarter" idx="10" hasCustomPrompt="1"/>
          </p:nvPr>
        </p:nvSpPr>
        <p:spPr>
          <a:xfrm>
            <a:off x="949208" y="4137532"/>
            <a:ext cx="2294395" cy="296271"/>
          </a:xfrm>
          <a:prstGeom prst="roundRect">
            <a:avLst>
              <a:gd name="adj" fmla="val 50000"/>
            </a:avLst>
          </a:prstGeom>
          <a:noFill/>
          <a:ln w="12700">
            <a:solidFill>
              <a:schemeClr val="bg1"/>
            </a:solidFill>
          </a:ln>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
        <p:nvSpPr>
          <p:cNvPr id="13" name="文本占位符 13"/>
          <p:cNvSpPr>
            <a:spLocks noGrp="1"/>
          </p:cNvSpPr>
          <p:nvPr userDrawn="1">
            <p:ph type="body" sz="quarter" idx="11" hasCustomPrompt="1"/>
          </p:nvPr>
        </p:nvSpPr>
        <p:spPr>
          <a:xfrm>
            <a:off x="949207" y="4558199"/>
            <a:ext cx="5087595"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Terabits</a:t>
            </a:r>
            <a:endParaRPr lang="zh-CN" altLang="en-US" noProof="1"/>
          </a:p>
        </p:txBody>
      </p:sp>
    </p:spTree>
    <p:extLst>
      <p:ext uri="{BB962C8B-B14F-4D97-AF65-F5344CB8AC3E}">
        <p14:creationId xmlns:p14="http://schemas.microsoft.com/office/powerpoint/2010/main" val="23927664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xmlns="" id="{FA89D527-07F7-4DF8-B4AE-7CE4750343FE}"/>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矩形 4">
            <a:extLst>
              <a:ext uri="{FF2B5EF4-FFF2-40B4-BE49-F238E27FC236}">
                <a16:creationId xmlns:a16="http://schemas.microsoft.com/office/drawing/2014/main" xmlns="" id="{4D938A1B-0B96-46F2-9400-1487ED36C6FC}"/>
              </a:ext>
            </a:extLst>
          </p:cNvPr>
          <p:cNvSpPr/>
          <p:nvPr userDrawn="1"/>
        </p:nvSpPr>
        <p:spPr>
          <a:xfrm>
            <a:off x="7223125" y="4016375"/>
            <a:ext cx="3338513" cy="2841625"/>
          </a:xfrm>
          <a:prstGeom prst="rect">
            <a:avLst/>
          </a:prstGeom>
          <a:gradFill>
            <a:gsLst>
              <a:gs pos="5000">
                <a:schemeClr val="accent2"/>
              </a:gs>
              <a:gs pos="100000">
                <a:schemeClr val="accent3"/>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Freeform 100">
            <a:extLst>
              <a:ext uri="{FF2B5EF4-FFF2-40B4-BE49-F238E27FC236}">
                <a16:creationId xmlns:a16="http://schemas.microsoft.com/office/drawing/2014/main" xmlns="" id="{3A1F5932-2139-48CA-8277-742909F78EFD}"/>
              </a:ext>
            </a:extLst>
          </p:cNvPr>
          <p:cNvSpPr>
            <a:spLocks noChangeArrowheads="1"/>
          </p:cNvSpPr>
          <p:nvPr/>
        </p:nvSpPr>
        <p:spPr bwMode="auto">
          <a:xfrm>
            <a:off x="7493000" y="1695450"/>
            <a:ext cx="1912938" cy="1449388"/>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1">
            <a:extLst>
              <a:ext uri="{FF2B5EF4-FFF2-40B4-BE49-F238E27FC236}">
                <a16:creationId xmlns:a16="http://schemas.microsoft.com/office/drawing/2014/main" xmlns="" id="{E2EAF21E-DF3A-47A2-A444-98FA64D4AE97}"/>
              </a:ext>
            </a:extLst>
          </p:cNvPr>
          <p:cNvSpPr>
            <a:spLocks noChangeArrowheads="1"/>
          </p:cNvSpPr>
          <p:nvPr/>
        </p:nvSpPr>
        <p:spPr bwMode="auto">
          <a:xfrm>
            <a:off x="8755063" y="1566863"/>
            <a:ext cx="766762" cy="1577975"/>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2">
            <a:extLst>
              <a:ext uri="{FF2B5EF4-FFF2-40B4-BE49-F238E27FC236}">
                <a16:creationId xmlns:a16="http://schemas.microsoft.com/office/drawing/2014/main" xmlns="" id="{9908D12F-8726-4C8F-8278-5E5EA5C506F7}"/>
              </a:ext>
            </a:extLst>
          </p:cNvPr>
          <p:cNvSpPr>
            <a:spLocks noChangeArrowheads="1"/>
          </p:cNvSpPr>
          <p:nvPr/>
        </p:nvSpPr>
        <p:spPr bwMode="auto">
          <a:xfrm>
            <a:off x="8645525" y="1428750"/>
            <a:ext cx="998538" cy="1716088"/>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3">
            <a:extLst>
              <a:ext uri="{FF2B5EF4-FFF2-40B4-BE49-F238E27FC236}">
                <a16:creationId xmlns:a16="http://schemas.microsoft.com/office/drawing/2014/main" xmlns="" id="{565847EB-3C92-41EA-8FC7-AEB66A45F26B}"/>
              </a:ext>
            </a:extLst>
          </p:cNvPr>
          <p:cNvSpPr>
            <a:spLocks noEditPoints="1" noChangeArrowheads="1"/>
          </p:cNvSpPr>
          <p:nvPr/>
        </p:nvSpPr>
        <p:spPr bwMode="auto">
          <a:xfrm>
            <a:off x="7432675" y="16652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4">
            <a:extLst>
              <a:ext uri="{FF2B5EF4-FFF2-40B4-BE49-F238E27FC236}">
                <a16:creationId xmlns:a16="http://schemas.microsoft.com/office/drawing/2014/main" xmlns="" id="{D8ADE8E6-8C31-478D-B207-22A9E6F64A95}"/>
              </a:ext>
            </a:extLst>
          </p:cNvPr>
          <p:cNvSpPr>
            <a:spLocks noEditPoints="1" noChangeArrowheads="1"/>
          </p:cNvSpPr>
          <p:nvPr/>
        </p:nvSpPr>
        <p:spPr bwMode="auto">
          <a:xfrm>
            <a:off x="8694738" y="153987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5">
            <a:extLst>
              <a:ext uri="{FF2B5EF4-FFF2-40B4-BE49-F238E27FC236}">
                <a16:creationId xmlns:a16="http://schemas.microsoft.com/office/drawing/2014/main" xmlns="" id="{ED5EA8DF-2B7F-458B-A8F1-89B911E1D948}"/>
              </a:ext>
            </a:extLst>
          </p:cNvPr>
          <p:cNvSpPr>
            <a:spLocks noEditPoints="1" noChangeArrowheads="1"/>
          </p:cNvSpPr>
          <p:nvPr/>
        </p:nvSpPr>
        <p:spPr bwMode="auto">
          <a:xfrm>
            <a:off x="8583613" y="13985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6">
            <a:extLst>
              <a:ext uri="{FF2B5EF4-FFF2-40B4-BE49-F238E27FC236}">
                <a16:creationId xmlns:a16="http://schemas.microsoft.com/office/drawing/2014/main" xmlns="" id="{0AEB20D9-923D-4E84-AB1B-3E8954AF5229}"/>
              </a:ext>
            </a:extLst>
          </p:cNvPr>
          <p:cNvSpPr>
            <a:spLocks noChangeArrowheads="1"/>
          </p:cNvSpPr>
          <p:nvPr/>
        </p:nvSpPr>
        <p:spPr bwMode="auto">
          <a:xfrm>
            <a:off x="8291513" y="1322388"/>
            <a:ext cx="1471612" cy="182245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07">
            <a:extLst>
              <a:ext uri="{FF2B5EF4-FFF2-40B4-BE49-F238E27FC236}">
                <a16:creationId xmlns:a16="http://schemas.microsoft.com/office/drawing/2014/main" xmlns="" id="{47CDE46C-DC4A-4CEB-B760-75CE03381F74}"/>
              </a:ext>
            </a:extLst>
          </p:cNvPr>
          <p:cNvSpPr>
            <a:spLocks noEditPoints="1" noChangeArrowheads="1"/>
          </p:cNvSpPr>
          <p:nvPr/>
        </p:nvSpPr>
        <p:spPr bwMode="auto">
          <a:xfrm>
            <a:off x="8231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8">
            <a:extLst>
              <a:ext uri="{FF2B5EF4-FFF2-40B4-BE49-F238E27FC236}">
                <a16:creationId xmlns:a16="http://schemas.microsoft.com/office/drawing/2014/main" xmlns="" id="{7670E6CE-3BB7-4481-8625-050E809ADA4D}"/>
              </a:ext>
            </a:extLst>
          </p:cNvPr>
          <p:cNvSpPr>
            <a:spLocks noChangeArrowheads="1"/>
          </p:cNvSpPr>
          <p:nvPr/>
        </p:nvSpPr>
        <p:spPr bwMode="auto">
          <a:xfrm>
            <a:off x="9872663" y="1322388"/>
            <a:ext cx="1041400" cy="182245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9">
            <a:extLst>
              <a:ext uri="{FF2B5EF4-FFF2-40B4-BE49-F238E27FC236}">
                <a16:creationId xmlns:a16="http://schemas.microsoft.com/office/drawing/2014/main" xmlns="" id="{D3DF8C53-D1F5-492E-99C7-BD5464222F19}"/>
              </a:ext>
            </a:extLst>
          </p:cNvPr>
          <p:cNvSpPr>
            <a:spLocks noEditPoints="1" noChangeArrowheads="1"/>
          </p:cNvSpPr>
          <p:nvPr/>
        </p:nvSpPr>
        <p:spPr bwMode="auto">
          <a:xfrm>
            <a:off x="10898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10">
            <a:extLst>
              <a:ext uri="{FF2B5EF4-FFF2-40B4-BE49-F238E27FC236}">
                <a16:creationId xmlns:a16="http://schemas.microsoft.com/office/drawing/2014/main" xmlns="" id="{A2C0E662-1FEA-4BEB-9A1E-7861B2690B6A}"/>
              </a:ext>
            </a:extLst>
          </p:cNvPr>
          <p:cNvSpPr>
            <a:spLocks noEditPoints="1" noChangeArrowheads="1"/>
          </p:cNvSpPr>
          <p:nvPr/>
        </p:nvSpPr>
        <p:spPr bwMode="auto">
          <a:xfrm>
            <a:off x="11042650"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1">
            <a:extLst>
              <a:ext uri="{FF2B5EF4-FFF2-40B4-BE49-F238E27FC236}">
                <a16:creationId xmlns:a16="http://schemas.microsoft.com/office/drawing/2014/main" xmlns="" id="{3B296366-066A-46CF-BD0B-07AC0B29637C}"/>
              </a:ext>
            </a:extLst>
          </p:cNvPr>
          <p:cNvSpPr>
            <a:spLocks noEditPoints="1" noChangeArrowheads="1"/>
          </p:cNvSpPr>
          <p:nvPr/>
        </p:nvSpPr>
        <p:spPr bwMode="auto">
          <a:xfrm>
            <a:off x="111902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12">
            <a:extLst>
              <a:ext uri="{FF2B5EF4-FFF2-40B4-BE49-F238E27FC236}">
                <a16:creationId xmlns:a16="http://schemas.microsoft.com/office/drawing/2014/main" xmlns="" id="{E2BD13DC-08C4-4EEE-914C-B1A33AECE58F}"/>
              </a:ext>
            </a:extLst>
          </p:cNvPr>
          <p:cNvSpPr>
            <a:spLocks noEditPoints="1" noChangeArrowheads="1"/>
          </p:cNvSpPr>
          <p:nvPr/>
        </p:nvSpPr>
        <p:spPr bwMode="auto">
          <a:xfrm>
            <a:off x="11333163" y="1292225"/>
            <a:ext cx="74612"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3">
            <a:extLst>
              <a:ext uri="{FF2B5EF4-FFF2-40B4-BE49-F238E27FC236}">
                <a16:creationId xmlns:a16="http://schemas.microsoft.com/office/drawing/2014/main" xmlns="" id="{A6B2E18D-6DAB-49DB-B326-FFD09F6A4EB6}"/>
              </a:ext>
            </a:extLst>
          </p:cNvPr>
          <p:cNvSpPr>
            <a:spLocks noEditPoints="1" noChangeArrowheads="1"/>
          </p:cNvSpPr>
          <p:nvPr/>
        </p:nvSpPr>
        <p:spPr bwMode="auto">
          <a:xfrm>
            <a:off x="11480800" y="1292225"/>
            <a:ext cx="74613"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4">
            <a:extLst>
              <a:ext uri="{FF2B5EF4-FFF2-40B4-BE49-F238E27FC236}">
                <a16:creationId xmlns:a16="http://schemas.microsoft.com/office/drawing/2014/main" xmlns="" id="{D09F76B4-9EDF-4BB0-A4BD-C03A27656A55}"/>
              </a:ext>
            </a:extLst>
          </p:cNvPr>
          <p:cNvSpPr>
            <a:spLocks noEditPoints="1" noChangeArrowheads="1"/>
          </p:cNvSpPr>
          <p:nvPr/>
        </p:nvSpPr>
        <p:spPr bwMode="auto">
          <a:xfrm>
            <a:off x="11625263" y="1292225"/>
            <a:ext cx="71437"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a:extLst>
              <a:ext uri="{FF2B5EF4-FFF2-40B4-BE49-F238E27FC236}">
                <a16:creationId xmlns:a16="http://schemas.microsoft.com/office/drawing/2014/main" xmlns="" id="{B6666370-092F-4B21-BC49-81C165E4432B}"/>
              </a:ext>
            </a:extLst>
          </p:cNvPr>
          <p:cNvSpPr>
            <a:spLocks noEditPoints="1" noChangeArrowheads="1"/>
          </p:cNvSpPr>
          <p:nvPr/>
        </p:nvSpPr>
        <p:spPr bwMode="auto">
          <a:xfrm>
            <a:off x="6353175" y="2852738"/>
            <a:ext cx="5005388" cy="2908300"/>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a:extLst>
              <a:ext uri="{FF2B5EF4-FFF2-40B4-BE49-F238E27FC236}">
                <a16:creationId xmlns:a16="http://schemas.microsoft.com/office/drawing/2014/main" xmlns="" id="{D86BA65D-3B90-41FF-B10A-4F4E0E8CD037}"/>
              </a:ext>
            </a:extLst>
          </p:cNvPr>
          <p:cNvSpPr>
            <a:spLocks noChangeArrowheads="1"/>
          </p:cNvSpPr>
          <p:nvPr/>
        </p:nvSpPr>
        <p:spPr bwMode="auto">
          <a:xfrm>
            <a:off x="6251575" y="2505075"/>
            <a:ext cx="5205413" cy="2952750"/>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9">
            <a:extLst>
              <a:ext uri="{FF2B5EF4-FFF2-40B4-BE49-F238E27FC236}">
                <a16:creationId xmlns:a16="http://schemas.microsoft.com/office/drawing/2014/main" xmlns="" id="{F9FAF9F0-1C4A-4256-A265-62E3124CD75A}"/>
              </a:ext>
            </a:extLst>
          </p:cNvPr>
          <p:cNvSpPr>
            <a:spLocks noChangeArrowheads="1"/>
          </p:cNvSpPr>
          <p:nvPr/>
        </p:nvSpPr>
        <p:spPr bwMode="auto">
          <a:xfrm>
            <a:off x="6251575" y="3368675"/>
            <a:ext cx="5205413" cy="2076450"/>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20">
            <a:extLst>
              <a:ext uri="{FF2B5EF4-FFF2-40B4-BE49-F238E27FC236}">
                <a16:creationId xmlns:a16="http://schemas.microsoft.com/office/drawing/2014/main" xmlns="" id="{03258DA8-CB1C-41C2-8363-C6729AE734D4}"/>
              </a:ext>
            </a:extLst>
          </p:cNvPr>
          <p:cNvSpPr>
            <a:spLocks noChangeArrowheads="1"/>
          </p:cNvSpPr>
          <p:nvPr/>
        </p:nvSpPr>
        <p:spPr bwMode="auto">
          <a:xfrm>
            <a:off x="6251575" y="3414713"/>
            <a:ext cx="5205413" cy="199707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1">
            <a:extLst>
              <a:ext uri="{FF2B5EF4-FFF2-40B4-BE49-F238E27FC236}">
                <a16:creationId xmlns:a16="http://schemas.microsoft.com/office/drawing/2014/main" xmlns="" id="{CAC6BC2E-BC0C-4E06-A519-62B8374FE231}"/>
              </a:ext>
            </a:extLst>
          </p:cNvPr>
          <p:cNvSpPr>
            <a:spLocks noChangeArrowheads="1"/>
          </p:cNvSpPr>
          <p:nvPr/>
        </p:nvSpPr>
        <p:spPr bwMode="auto">
          <a:xfrm>
            <a:off x="6235700" y="2308225"/>
            <a:ext cx="5240338" cy="3027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2">
            <a:extLst>
              <a:ext uri="{FF2B5EF4-FFF2-40B4-BE49-F238E27FC236}">
                <a16:creationId xmlns:a16="http://schemas.microsoft.com/office/drawing/2014/main" xmlns="" id="{4C6722D5-597A-476B-9FFB-A37EBA64EBD1}"/>
              </a:ext>
            </a:extLst>
          </p:cNvPr>
          <p:cNvSpPr>
            <a:spLocks noChangeArrowheads="1"/>
          </p:cNvSpPr>
          <p:nvPr/>
        </p:nvSpPr>
        <p:spPr bwMode="auto">
          <a:xfrm>
            <a:off x="7516813" y="508793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3">
            <a:extLst>
              <a:ext uri="{FF2B5EF4-FFF2-40B4-BE49-F238E27FC236}">
                <a16:creationId xmlns:a16="http://schemas.microsoft.com/office/drawing/2014/main" xmlns="" id="{D8123861-108E-48F3-B00C-328D748ED48A}"/>
              </a:ext>
            </a:extLst>
          </p:cNvPr>
          <p:cNvSpPr>
            <a:spLocks noChangeArrowheads="1"/>
          </p:cNvSpPr>
          <p:nvPr/>
        </p:nvSpPr>
        <p:spPr bwMode="auto">
          <a:xfrm>
            <a:off x="7591425" y="5130800"/>
            <a:ext cx="36513"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4">
            <a:extLst>
              <a:ext uri="{FF2B5EF4-FFF2-40B4-BE49-F238E27FC236}">
                <a16:creationId xmlns:a16="http://schemas.microsoft.com/office/drawing/2014/main" xmlns="" id="{E1E16852-F19B-4C74-8711-911715DAAC0E}"/>
              </a:ext>
            </a:extLst>
          </p:cNvPr>
          <p:cNvSpPr>
            <a:spLocks noChangeArrowheads="1"/>
          </p:cNvSpPr>
          <p:nvPr/>
        </p:nvSpPr>
        <p:spPr bwMode="auto">
          <a:xfrm>
            <a:off x="7664450" y="5175250"/>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5">
            <a:extLst>
              <a:ext uri="{FF2B5EF4-FFF2-40B4-BE49-F238E27FC236}">
                <a16:creationId xmlns:a16="http://schemas.microsoft.com/office/drawing/2014/main" xmlns="" id="{00D3F213-AEE9-461A-9821-E972EB5B5B26}"/>
              </a:ext>
            </a:extLst>
          </p:cNvPr>
          <p:cNvSpPr>
            <a:spLocks noChangeArrowheads="1"/>
          </p:cNvSpPr>
          <p:nvPr/>
        </p:nvSpPr>
        <p:spPr bwMode="auto">
          <a:xfrm>
            <a:off x="6500813" y="4503738"/>
            <a:ext cx="39687" cy="52387"/>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6">
            <a:extLst>
              <a:ext uri="{FF2B5EF4-FFF2-40B4-BE49-F238E27FC236}">
                <a16:creationId xmlns:a16="http://schemas.microsoft.com/office/drawing/2014/main" xmlns="" id="{99FAF4F1-248C-494E-8CAE-9DE0E3F996D5}"/>
              </a:ext>
            </a:extLst>
          </p:cNvPr>
          <p:cNvSpPr>
            <a:spLocks noChangeArrowheads="1"/>
          </p:cNvSpPr>
          <p:nvPr/>
        </p:nvSpPr>
        <p:spPr bwMode="auto">
          <a:xfrm>
            <a:off x="6573838" y="4545013"/>
            <a:ext cx="41275"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7">
            <a:extLst>
              <a:ext uri="{FF2B5EF4-FFF2-40B4-BE49-F238E27FC236}">
                <a16:creationId xmlns:a16="http://schemas.microsoft.com/office/drawing/2014/main" xmlns="" id="{18A61A7E-06D1-4936-9D3C-BD4CF705F18C}"/>
              </a:ext>
            </a:extLst>
          </p:cNvPr>
          <p:cNvSpPr>
            <a:spLocks noChangeArrowheads="1"/>
          </p:cNvSpPr>
          <p:nvPr/>
        </p:nvSpPr>
        <p:spPr bwMode="auto">
          <a:xfrm>
            <a:off x="6650038" y="4589463"/>
            <a:ext cx="38100"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8">
            <a:extLst>
              <a:ext uri="{FF2B5EF4-FFF2-40B4-BE49-F238E27FC236}">
                <a16:creationId xmlns:a16="http://schemas.microsoft.com/office/drawing/2014/main" xmlns="" id="{0C2F7A97-0454-482A-B806-90B72401DD3F}"/>
              </a:ext>
            </a:extLst>
          </p:cNvPr>
          <p:cNvSpPr>
            <a:spLocks noEditPoints="1" noChangeArrowheads="1"/>
          </p:cNvSpPr>
          <p:nvPr/>
        </p:nvSpPr>
        <p:spPr bwMode="auto">
          <a:xfrm>
            <a:off x="8824913" y="2297113"/>
            <a:ext cx="823912" cy="433387"/>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9">
            <a:extLst>
              <a:ext uri="{FF2B5EF4-FFF2-40B4-BE49-F238E27FC236}">
                <a16:creationId xmlns:a16="http://schemas.microsoft.com/office/drawing/2014/main" xmlns="" id="{A2FF0A01-030B-41D0-A009-026BD0FD85C1}"/>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30">
            <a:extLst>
              <a:ext uri="{FF2B5EF4-FFF2-40B4-BE49-F238E27FC236}">
                <a16:creationId xmlns:a16="http://schemas.microsoft.com/office/drawing/2014/main" xmlns="" id="{D7B34D66-772D-48A3-8B1B-E32BD0E7DF88}"/>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1">
            <a:extLst>
              <a:ext uri="{FF2B5EF4-FFF2-40B4-BE49-F238E27FC236}">
                <a16:creationId xmlns:a16="http://schemas.microsoft.com/office/drawing/2014/main" xmlns="" id="{F02319AF-B822-4214-8E97-6B2B659C2CB2}"/>
              </a:ext>
            </a:extLst>
          </p:cNvPr>
          <p:cNvSpPr>
            <a:spLocks noChangeArrowheads="1"/>
          </p:cNvSpPr>
          <p:nvPr/>
        </p:nvSpPr>
        <p:spPr bwMode="auto">
          <a:xfrm>
            <a:off x="9504363" y="2319338"/>
            <a:ext cx="17462" cy="26987"/>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2">
            <a:extLst>
              <a:ext uri="{FF2B5EF4-FFF2-40B4-BE49-F238E27FC236}">
                <a16:creationId xmlns:a16="http://schemas.microsoft.com/office/drawing/2014/main" xmlns="" id="{D72589FA-ED31-4FED-B4A3-6D776324BB62}"/>
              </a:ext>
            </a:extLst>
          </p:cNvPr>
          <p:cNvSpPr>
            <a:spLocks noChangeArrowheads="1"/>
          </p:cNvSpPr>
          <p:nvPr/>
        </p:nvSpPr>
        <p:spPr bwMode="auto">
          <a:xfrm>
            <a:off x="9628188" y="2297113"/>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3">
            <a:extLst>
              <a:ext uri="{FF2B5EF4-FFF2-40B4-BE49-F238E27FC236}">
                <a16:creationId xmlns:a16="http://schemas.microsoft.com/office/drawing/2014/main" xmlns="" id="{5126ED09-4C7C-427B-AAA2-108FB7EA732C}"/>
              </a:ext>
            </a:extLst>
          </p:cNvPr>
          <p:cNvSpPr>
            <a:spLocks noChangeArrowheads="1"/>
          </p:cNvSpPr>
          <p:nvPr/>
        </p:nvSpPr>
        <p:spPr bwMode="auto">
          <a:xfrm>
            <a:off x="6246813" y="3087688"/>
            <a:ext cx="1951037" cy="11747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4">
            <a:extLst>
              <a:ext uri="{FF2B5EF4-FFF2-40B4-BE49-F238E27FC236}">
                <a16:creationId xmlns:a16="http://schemas.microsoft.com/office/drawing/2014/main" xmlns="" id="{1792FC57-ECDB-4D6E-B7C7-77EFC910E875}"/>
              </a:ext>
            </a:extLst>
          </p:cNvPr>
          <p:cNvSpPr>
            <a:spLocks noChangeArrowheads="1"/>
          </p:cNvSpPr>
          <p:nvPr/>
        </p:nvSpPr>
        <p:spPr bwMode="auto">
          <a:xfrm>
            <a:off x="6254750" y="4221163"/>
            <a:ext cx="1836738" cy="10763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 name="组合 161">
            <a:extLst>
              <a:ext uri="{FF2B5EF4-FFF2-40B4-BE49-F238E27FC236}">
                <a16:creationId xmlns:a16="http://schemas.microsoft.com/office/drawing/2014/main" xmlns="" id="{49541F5F-FC95-468E-B89E-EA6E378B89C7}"/>
              </a:ext>
            </a:extLst>
          </p:cNvPr>
          <p:cNvGrpSpPr>
            <a:grpSpLocks/>
          </p:cNvGrpSpPr>
          <p:nvPr/>
        </p:nvGrpSpPr>
        <p:grpSpPr bwMode="auto">
          <a:xfrm>
            <a:off x="6197600" y="2320925"/>
            <a:ext cx="5260975" cy="3022600"/>
            <a:chOff x="7564437" y="4244495"/>
            <a:chExt cx="4236358" cy="2433801"/>
          </a:xfrm>
        </p:grpSpPr>
        <p:sp>
          <p:nvSpPr>
            <p:cNvPr id="42" name="Freeform 238">
              <a:extLst>
                <a:ext uri="{FF2B5EF4-FFF2-40B4-BE49-F238E27FC236}">
                  <a16:creationId xmlns:a16="http://schemas.microsoft.com/office/drawing/2014/main" xmlns="" id="{D2A5171D-E58B-49E6-8330-867C6E75D918}"/>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238">
              <a:extLst>
                <a:ext uri="{FF2B5EF4-FFF2-40B4-BE49-F238E27FC236}">
                  <a16:creationId xmlns:a16="http://schemas.microsoft.com/office/drawing/2014/main" xmlns="" id="{83D6515D-411E-4AE8-86D4-1A76E4EF5650}"/>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DE1FC05-CBFC-4560-906E-DBDADF97B946}"/>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A520366-ED7A-4104-BCB8-5AFF9EFEA4E0}"/>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 name="Freeform 135">
            <a:extLst>
              <a:ext uri="{FF2B5EF4-FFF2-40B4-BE49-F238E27FC236}">
                <a16:creationId xmlns:a16="http://schemas.microsoft.com/office/drawing/2014/main" xmlns="" id="{F84C648C-8347-47DF-B8BE-C1DB94BF0130}"/>
              </a:ext>
            </a:extLst>
          </p:cNvPr>
          <p:cNvSpPr>
            <a:spLocks noEditPoints="1" noChangeArrowheads="1"/>
          </p:cNvSpPr>
          <p:nvPr/>
        </p:nvSpPr>
        <p:spPr bwMode="auto">
          <a:xfrm>
            <a:off x="8680450" y="4037013"/>
            <a:ext cx="1104900" cy="64293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37">
            <a:extLst>
              <a:ext uri="{FF2B5EF4-FFF2-40B4-BE49-F238E27FC236}">
                <a16:creationId xmlns:a16="http://schemas.microsoft.com/office/drawing/2014/main" xmlns="" id="{020821C1-6477-4F16-B170-5FFE976A9A07}"/>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6">
            <a:extLst>
              <a:ext uri="{FF2B5EF4-FFF2-40B4-BE49-F238E27FC236}">
                <a16:creationId xmlns:a16="http://schemas.microsoft.com/office/drawing/2014/main" xmlns="" id="{6B37FE91-B408-4775-BDA3-199D009784FD}"/>
              </a:ext>
            </a:extLst>
          </p:cNvPr>
          <p:cNvSpPr>
            <a:spLocks noEditPoints="1" noChangeArrowheads="1"/>
          </p:cNvSpPr>
          <p:nvPr/>
        </p:nvSpPr>
        <p:spPr bwMode="auto">
          <a:xfrm>
            <a:off x="9736138" y="3327400"/>
            <a:ext cx="1281112" cy="639763"/>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8">
            <a:extLst>
              <a:ext uri="{FF2B5EF4-FFF2-40B4-BE49-F238E27FC236}">
                <a16:creationId xmlns:a16="http://schemas.microsoft.com/office/drawing/2014/main" xmlns="" id="{FFD860AE-3B39-4E53-819A-3822DD4EFB3B}"/>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9">
            <a:extLst>
              <a:ext uri="{FF2B5EF4-FFF2-40B4-BE49-F238E27FC236}">
                <a16:creationId xmlns:a16="http://schemas.microsoft.com/office/drawing/2014/main" xmlns="" id="{6E1E582E-F77C-4151-B212-6AE8435741B2}"/>
              </a:ext>
            </a:extLst>
          </p:cNvPr>
          <p:cNvSpPr>
            <a:spLocks noEditPoints="1" noChangeArrowheads="1"/>
          </p:cNvSpPr>
          <p:nvPr/>
        </p:nvSpPr>
        <p:spPr bwMode="auto">
          <a:xfrm>
            <a:off x="8205788" y="2901950"/>
            <a:ext cx="1238250" cy="679450"/>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40">
            <a:extLst>
              <a:ext uri="{FF2B5EF4-FFF2-40B4-BE49-F238E27FC236}">
                <a16:creationId xmlns:a16="http://schemas.microsoft.com/office/drawing/2014/main" xmlns="" id="{5076AC02-A9A1-41D3-8BAB-BD3445F9A663}"/>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1">
            <a:extLst>
              <a:ext uri="{FF2B5EF4-FFF2-40B4-BE49-F238E27FC236}">
                <a16:creationId xmlns:a16="http://schemas.microsoft.com/office/drawing/2014/main" xmlns="" id="{7A977D5F-3BC9-49B7-95FA-CBBBA3DE8190}"/>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2">
            <a:extLst>
              <a:ext uri="{FF2B5EF4-FFF2-40B4-BE49-F238E27FC236}">
                <a16:creationId xmlns:a16="http://schemas.microsoft.com/office/drawing/2014/main" xmlns="" id="{CBF95F56-E509-4256-9084-654CF722CC72}"/>
              </a:ext>
            </a:extLst>
          </p:cNvPr>
          <p:cNvSpPr>
            <a:spLocks noChangeArrowheads="1"/>
          </p:cNvSpPr>
          <p:nvPr/>
        </p:nvSpPr>
        <p:spPr bwMode="auto">
          <a:xfrm>
            <a:off x="7094538" y="4676775"/>
            <a:ext cx="152400" cy="179388"/>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3">
            <a:extLst>
              <a:ext uri="{FF2B5EF4-FFF2-40B4-BE49-F238E27FC236}">
                <a16:creationId xmlns:a16="http://schemas.microsoft.com/office/drawing/2014/main" xmlns="" id="{C44C5CC4-F21A-4C0F-875E-43907342E7A7}"/>
              </a:ext>
            </a:extLst>
          </p:cNvPr>
          <p:cNvSpPr>
            <a:spLocks noChangeArrowheads="1"/>
          </p:cNvSpPr>
          <p:nvPr/>
        </p:nvSpPr>
        <p:spPr bwMode="auto">
          <a:xfrm>
            <a:off x="7018338" y="4794250"/>
            <a:ext cx="171450" cy="142875"/>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4">
            <a:extLst>
              <a:ext uri="{FF2B5EF4-FFF2-40B4-BE49-F238E27FC236}">
                <a16:creationId xmlns:a16="http://schemas.microsoft.com/office/drawing/2014/main" xmlns="" id="{778C8FFC-A32B-4CCA-8A70-0807EF721DB4}"/>
              </a:ext>
            </a:extLst>
          </p:cNvPr>
          <p:cNvSpPr>
            <a:spLocks noChangeArrowheads="1"/>
          </p:cNvSpPr>
          <p:nvPr/>
        </p:nvSpPr>
        <p:spPr bwMode="auto">
          <a:xfrm>
            <a:off x="7192963" y="4503738"/>
            <a:ext cx="1493837" cy="35242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5">
            <a:extLst>
              <a:ext uri="{FF2B5EF4-FFF2-40B4-BE49-F238E27FC236}">
                <a16:creationId xmlns:a16="http://schemas.microsoft.com/office/drawing/2014/main" xmlns="" id="{BABAA874-2E54-4C3F-84E3-1BCC5729F79A}"/>
              </a:ext>
            </a:extLst>
          </p:cNvPr>
          <p:cNvSpPr>
            <a:spLocks noChangeArrowheads="1"/>
          </p:cNvSpPr>
          <p:nvPr/>
        </p:nvSpPr>
        <p:spPr bwMode="auto">
          <a:xfrm>
            <a:off x="7529513" y="3384550"/>
            <a:ext cx="909637" cy="1131888"/>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6">
            <a:extLst>
              <a:ext uri="{FF2B5EF4-FFF2-40B4-BE49-F238E27FC236}">
                <a16:creationId xmlns:a16="http://schemas.microsoft.com/office/drawing/2014/main" xmlns="" id="{34D7C0CC-2DA1-4D77-A0C7-0DE9177F6069}"/>
              </a:ext>
            </a:extLst>
          </p:cNvPr>
          <p:cNvSpPr>
            <a:spLocks noChangeArrowheads="1"/>
          </p:cNvSpPr>
          <p:nvPr/>
        </p:nvSpPr>
        <p:spPr bwMode="auto">
          <a:xfrm>
            <a:off x="8382000" y="3659188"/>
            <a:ext cx="1541463" cy="3683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50">
            <a:extLst>
              <a:ext uri="{FF2B5EF4-FFF2-40B4-BE49-F238E27FC236}">
                <a16:creationId xmlns:a16="http://schemas.microsoft.com/office/drawing/2014/main" xmlns="" id="{6D9A3AAD-6D8A-45A0-AEFF-A8702CAC190D}"/>
              </a:ext>
            </a:extLst>
          </p:cNvPr>
          <p:cNvSpPr>
            <a:spLocks noEditPoints="1" noChangeArrowheads="1"/>
          </p:cNvSpPr>
          <p:nvPr/>
        </p:nvSpPr>
        <p:spPr bwMode="auto">
          <a:xfrm>
            <a:off x="9444038" y="27384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1">
            <a:extLst>
              <a:ext uri="{FF2B5EF4-FFF2-40B4-BE49-F238E27FC236}">
                <a16:creationId xmlns:a16="http://schemas.microsoft.com/office/drawing/2014/main" xmlns="" id="{DC69D04C-0CA7-4D0E-8BE8-424D09A6A652}"/>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2">
            <a:extLst>
              <a:ext uri="{FF2B5EF4-FFF2-40B4-BE49-F238E27FC236}">
                <a16:creationId xmlns:a16="http://schemas.microsoft.com/office/drawing/2014/main" xmlns="" id="{49345F0D-FBD5-450B-8D59-13A91F51CC89}"/>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3">
            <a:extLst>
              <a:ext uri="{FF2B5EF4-FFF2-40B4-BE49-F238E27FC236}">
                <a16:creationId xmlns:a16="http://schemas.microsoft.com/office/drawing/2014/main" xmlns="" id="{CA10216E-F4D0-41F8-87EA-B91FA1586C51}"/>
              </a:ext>
            </a:extLst>
          </p:cNvPr>
          <p:cNvSpPr>
            <a:spLocks noEditPoints="1" noChangeArrowheads="1"/>
          </p:cNvSpPr>
          <p:nvPr/>
        </p:nvSpPr>
        <p:spPr bwMode="auto">
          <a:xfrm>
            <a:off x="9975850" y="3741738"/>
            <a:ext cx="436563" cy="155575"/>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7">
            <a:extLst>
              <a:ext uri="{FF2B5EF4-FFF2-40B4-BE49-F238E27FC236}">
                <a16:creationId xmlns:a16="http://schemas.microsoft.com/office/drawing/2014/main" xmlns="" id="{C47C0E1E-6B82-46D4-8A5F-4BDAA17D90F0}"/>
              </a:ext>
            </a:extLst>
          </p:cNvPr>
          <p:cNvSpPr>
            <a:spLocks noChangeArrowheads="1"/>
          </p:cNvSpPr>
          <p:nvPr/>
        </p:nvSpPr>
        <p:spPr bwMode="auto">
          <a:xfrm>
            <a:off x="9436100" y="2741613"/>
            <a:ext cx="3175"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8">
            <a:extLst>
              <a:ext uri="{FF2B5EF4-FFF2-40B4-BE49-F238E27FC236}">
                <a16:creationId xmlns:a16="http://schemas.microsoft.com/office/drawing/2014/main" xmlns="" id="{CD37B47C-BEF0-40D7-9A1B-A0D3212F0135}"/>
              </a:ext>
            </a:extLst>
          </p:cNvPr>
          <p:cNvSpPr>
            <a:spLocks noChangeArrowheads="1"/>
          </p:cNvSpPr>
          <p:nvPr/>
        </p:nvSpPr>
        <p:spPr bwMode="auto">
          <a:xfrm>
            <a:off x="9436100" y="2733675"/>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9">
            <a:extLst>
              <a:ext uri="{FF2B5EF4-FFF2-40B4-BE49-F238E27FC236}">
                <a16:creationId xmlns:a16="http://schemas.microsoft.com/office/drawing/2014/main" xmlns="" id="{843A9F59-04DE-4D8C-B2FC-5EA650D114D8}"/>
              </a:ext>
            </a:extLst>
          </p:cNvPr>
          <p:cNvSpPr>
            <a:spLocks noChangeArrowheads="1"/>
          </p:cNvSpPr>
          <p:nvPr/>
        </p:nvSpPr>
        <p:spPr bwMode="auto">
          <a:xfrm>
            <a:off x="9436100" y="2730500"/>
            <a:ext cx="992188" cy="1179513"/>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60">
            <a:extLst>
              <a:ext uri="{FF2B5EF4-FFF2-40B4-BE49-F238E27FC236}">
                <a16:creationId xmlns:a16="http://schemas.microsoft.com/office/drawing/2014/main" xmlns="" id="{F2F660B3-C66F-4069-8160-FA6D39A4AA9C}"/>
              </a:ext>
            </a:extLst>
          </p:cNvPr>
          <p:cNvSpPr>
            <a:spLocks noEditPoints="1" noChangeArrowheads="1"/>
          </p:cNvSpPr>
          <p:nvPr/>
        </p:nvSpPr>
        <p:spPr bwMode="auto">
          <a:xfrm>
            <a:off x="9436100" y="2738438"/>
            <a:ext cx="7938" cy="3175"/>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4">
            <a:extLst>
              <a:ext uri="{FF2B5EF4-FFF2-40B4-BE49-F238E27FC236}">
                <a16:creationId xmlns:a16="http://schemas.microsoft.com/office/drawing/2014/main" xmlns="" id="{5E578A77-50F6-40CA-9909-4C1F5999004D}"/>
              </a:ext>
            </a:extLst>
          </p:cNvPr>
          <p:cNvSpPr>
            <a:spLocks noEditPoints="1" noChangeArrowheads="1"/>
          </p:cNvSpPr>
          <p:nvPr/>
        </p:nvSpPr>
        <p:spPr bwMode="auto">
          <a:xfrm>
            <a:off x="9444038" y="2738438"/>
            <a:ext cx="968375" cy="11826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2">
            <a:extLst>
              <a:ext uri="{FF2B5EF4-FFF2-40B4-BE49-F238E27FC236}">
                <a16:creationId xmlns:a16="http://schemas.microsoft.com/office/drawing/2014/main" xmlns="" id="{EDCF4CBF-0E29-4753-912C-649CCE95C511}"/>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3">
            <a:extLst>
              <a:ext uri="{FF2B5EF4-FFF2-40B4-BE49-F238E27FC236}">
                <a16:creationId xmlns:a16="http://schemas.microsoft.com/office/drawing/2014/main" xmlns="" id="{0096B257-3E0B-4250-9C13-ACB89DE631ED}"/>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4">
            <a:extLst>
              <a:ext uri="{FF2B5EF4-FFF2-40B4-BE49-F238E27FC236}">
                <a16:creationId xmlns:a16="http://schemas.microsoft.com/office/drawing/2014/main" xmlns="" id="{FDF4A16E-FF3D-4B48-9CAC-B7245AA4972A}"/>
              </a:ext>
            </a:extLst>
          </p:cNvPr>
          <p:cNvSpPr>
            <a:spLocks noEditPoints="1" noChangeArrowheads="1"/>
          </p:cNvSpPr>
          <p:nvPr/>
        </p:nvSpPr>
        <p:spPr bwMode="auto">
          <a:xfrm>
            <a:off x="8743950" y="4452938"/>
            <a:ext cx="433388"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95">
            <a:extLst>
              <a:ext uri="{FF2B5EF4-FFF2-40B4-BE49-F238E27FC236}">
                <a16:creationId xmlns:a16="http://schemas.microsoft.com/office/drawing/2014/main" xmlns="" id="{0FF9BE0F-759D-4F7B-8EB1-E83813E2AAB6}"/>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6">
            <a:extLst>
              <a:ext uri="{FF2B5EF4-FFF2-40B4-BE49-F238E27FC236}">
                <a16:creationId xmlns:a16="http://schemas.microsoft.com/office/drawing/2014/main" xmlns="" id="{77BFB1EA-368C-448C-BEA7-F400B5541498}"/>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7">
            <a:extLst>
              <a:ext uri="{FF2B5EF4-FFF2-40B4-BE49-F238E27FC236}">
                <a16:creationId xmlns:a16="http://schemas.microsoft.com/office/drawing/2014/main" xmlns="" id="{37338B3D-4D3C-4BC3-90CC-D5ABCA8B829F}"/>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8">
            <a:extLst>
              <a:ext uri="{FF2B5EF4-FFF2-40B4-BE49-F238E27FC236}">
                <a16:creationId xmlns:a16="http://schemas.microsoft.com/office/drawing/2014/main" xmlns="" id="{D3BEFF67-5D01-46EE-805B-4DDEDA44AC62}"/>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68">
            <a:extLst>
              <a:ext uri="{FF2B5EF4-FFF2-40B4-BE49-F238E27FC236}">
                <a16:creationId xmlns:a16="http://schemas.microsoft.com/office/drawing/2014/main" xmlns="" id="{0B960C00-8AF9-4DB8-B225-2F0270499866}"/>
              </a:ext>
            </a:extLst>
          </p:cNvPr>
          <p:cNvSpPr>
            <a:spLocks noChangeArrowheads="1"/>
          </p:cNvSpPr>
          <p:nvPr/>
        </p:nvSpPr>
        <p:spPr bwMode="auto">
          <a:xfrm>
            <a:off x="8201025" y="3417888"/>
            <a:ext cx="1038225" cy="12207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9">
            <a:extLst>
              <a:ext uri="{FF2B5EF4-FFF2-40B4-BE49-F238E27FC236}">
                <a16:creationId xmlns:a16="http://schemas.microsoft.com/office/drawing/2014/main" xmlns="" id="{2D024091-F83B-4ED2-81D3-22C831574F85}"/>
              </a:ext>
            </a:extLst>
          </p:cNvPr>
          <p:cNvSpPr>
            <a:spLocks noEditPoints="1" noChangeArrowheads="1"/>
          </p:cNvSpPr>
          <p:nvPr/>
        </p:nvSpPr>
        <p:spPr bwMode="auto">
          <a:xfrm>
            <a:off x="8201025" y="3417888"/>
            <a:ext cx="1038225" cy="12207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70">
            <a:extLst>
              <a:ext uri="{FF2B5EF4-FFF2-40B4-BE49-F238E27FC236}">
                <a16:creationId xmlns:a16="http://schemas.microsoft.com/office/drawing/2014/main" xmlns="" id="{58AF1531-15EE-4560-B2CC-C0630DE3BC23}"/>
              </a:ext>
            </a:extLst>
          </p:cNvPr>
          <p:cNvSpPr>
            <a:spLocks noChangeArrowheads="1"/>
          </p:cNvSpPr>
          <p:nvPr/>
        </p:nvSpPr>
        <p:spPr bwMode="auto">
          <a:xfrm>
            <a:off x="8189913" y="3441700"/>
            <a:ext cx="987425"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1">
            <a:extLst>
              <a:ext uri="{FF2B5EF4-FFF2-40B4-BE49-F238E27FC236}">
                <a16:creationId xmlns:a16="http://schemas.microsoft.com/office/drawing/2014/main" xmlns="" id="{F2056664-D23D-4A4C-8F1C-18A44ADE438E}"/>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5">
            <a:extLst>
              <a:ext uri="{FF2B5EF4-FFF2-40B4-BE49-F238E27FC236}">
                <a16:creationId xmlns:a16="http://schemas.microsoft.com/office/drawing/2014/main" xmlns="" id="{F48EE775-7ED0-4436-BA2B-609D380BE4F1}"/>
              </a:ext>
            </a:extLst>
          </p:cNvPr>
          <p:cNvSpPr>
            <a:spLocks noChangeArrowheads="1"/>
          </p:cNvSpPr>
          <p:nvPr/>
        </p:nvSpPr>
        <p:spPr bwMode="auto">
          <a:xfrm>
            <a:off x="8175625" y="3460750"/>
            <a:ext cx="976313"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8">
            <a:extLst>
              <a:ext uri="{FF2B5EF4-FFF2-40B4-BE49-F238E27FC236}">
                <a16:creationId xmlns:a16="http://schemas.microsoft.com/office/drawing/2014/main" xmlns="" id="{58C5F8D6-C538-4720-9D50-DEB0732D622E}"/>
              </a:ext>
            </a:extLst>
          </p:cNvPr>
          <p:cNvSpPr>
            <a:spLocks noChangeArrowheads="1"/>
          </p:cNvSpPr>
          <p:nvPr/>
        </p:nvSpPr>
        <p:spPr bwMode="auto">
          <a:xfrm>
            <a:off x="8201025" y="3451225"/>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9">
            <a:extLst>
              <a:ext uri="{FF2B5EF4-FFF2-40B4-BE49-F238E27FC236}">
                <a16:creationId xmlns:a16="http://schemas.microsoft.com/office/drawing/2014/main" xmlns="" id="{6494ACA9-4F77-4F46-AEC6-70438F50D835}"/>
              </a:ext>
            </a:extLst>
          </p:cNvPr>
          <p:cNvSpPr>
            <a:spLocks noChangeArrowheads="1"/>
          </p:cNvSpPr>
          <p:nvPr/>
        </p:nvSpPr>
        <p:spPr bwMode="auto">
          <a:xfrm>
            <a:off x="8201025" y="3446463"/>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80">
            <a:extLst>
              <a:ext uri="{FF2B5EF4-FFF2-40B4-BE49-F238E27FC236}">
                <a16:creationId xmlns:a16="http://schemas.microsoft.com/office/drawing/2014/main" xmlns="" id="{92EB9724-3689-4D2F-958E-87C1632CB898}"/>
              </a:ext>
            </a:extLst>
          </p:cNvPr>
          <p:cNvSpPr>
            <a:spLocks noChangeArrowheads="1"/>
          </p:cNvSpPr>
          <p:nvPr/>
        </p:nvSpPr>
        <p:spPr bwMode="auto">
          <a:xfrm>
            <a:off x="8201025" y="3441700"/>
            <a:ext cx="995363"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1">
            <a:extLst>
              <a:ext uri="{FF2B5EF4-FFF2-40B4-BE49-F238E27FC236}">
                <a16:creationId xmlns:a16="http://schemas.microsoft.com/office/drawing/2014/main" xmlns="" id="{26E331AE-1E17-4526-865B-45995F2A04B8}"/>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82">
            <a:extLst>
              <a:ext uri="{FF2B5EF4-FFF2-40B4-BE49-F238E27FC236}">
                <a16:creationId xmlns:a16="http://schemas.microsoft.com/office/drawing/2014/main" xmlns="" id="{79BA8D2E-D375-4FC4-A7EF-8367FC4F9EF2}"/>
              </a:ext>
            </a:extLst>
          </p:cNvPr>
          <p:cNvSpPr>
            <a:spLocks noChangeArrowheads="1"/>
          </p:cNvSpPr>
          <p:nvPr/>
        </p:nvSpPr>
        <p:spPr bwMode="auto">
          <a:xfrm>
            <a:off x="8201025" y="3455988"/>
            <a:ext cx="1588"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 name="Freeform 183">
            <a:extLst>
              <a:ext uri="{FF2B5EF4-FFF2-40B4-BE49-F238E27FC236}">
                <a16:creationId xmlns:a16="http://schemas.microsoft.com/office/drawing/2014/main" xmlns="" id="{5E30F9DC-C719-47DA-A7D0-6E14FF66FFD9}"/>
              </a:ext>
            </a:extLst>
          </p:cNvPr>
          <p:cNvSpPr>
            <a:spLocks noChangeArrowheads="1"/>
          </p:cNvSpPr>
          <p:nvPr/>
        </p:nvSpPr>
        <p:spPr bwMode="auto">
          <a:xfrm>
            <a:off x="8201025" y="345598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186">
            <a:extLst>
              <a:ext uri="{FF2B5EF4-FFF2-40B4-BE49-F238E27FC236}">
                <a16:creationId xmlns:a16="http://schemas.microsoft.com/office/drawing/2014/main" xmlns="" id="{6C437F70-D115-4E2C-AD55-6A1B2801BB99}"/>
              </a:ext>
            </a:extLst>
          </p:cNvPr>
          <p:cNvSpPr>
            <a:spLocks noChangeArrowheads="1"/>
          </p:cNvSpPr>
          <p:nvPr/>
        </p:nvSpPr>
        <p:spPr bwMode="auto">
          <a:xfrm>
            <a:off x="8208963" y="3446463"/>
            <a:ext cx="984250" cy="11890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7">
            <a:extLst>
              <a:ext uri="{FF2B5EF4-FFF2-40B4-BE49-F238E27FC236}">
                <a16:creationId xmlns:a16="http://schemas.microsoft.com/office/drawing/2014/main" xmlns="" id="{64B5063B-6199-4326-ACC8-95137C45B6A3}"/>
              </a:ext>
            </a:extLst>
          </p:cNvPr>
          <p:cNvSpPr>
            <a:spLocks noEditPoints="1" noChangeArrowheads="1"/>
          </p:cNvSpPr>
          <p:nvPr/>
        </p:nvSpPr>
        <p:spPr bwMode="auto">
          <a:xfrm>
            <a:off x="8208963" y="3451225"/>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209">
            <a:extLst>
              <a:ext uri="{FF2B5EF4-FFF2-40B4-BE49-F238E27FC236}">
                <a16:creationId xmlns:a16="http://schemas.microsoft.com/office/drawing/2014/main" xmlns="" id="{1ED1DD6C-3E4B-408C-BD16-030FDA879F28}"/>
              </a:ext>
            </a:extLst>
          </p:cNvPr>
          <p:cNvSpPr>
            <a:spLocks noEditPoints="1" noChangeArrowheads="1"/>
          </p:cNvSpPr>
          <p:nvPr/>
        </p:nvSpPr>
        <p:spPr bwMode="auto">
          <a:xfrm>
            <a:off x="8923338" y="3463925"/>
            <a:ext cx="15875" cy="26988"/>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17">
            <a:extLst>
              <a:ext uri="{FF2B5EF4-FFF2-40B4-BE49-F238E27FC236}">
                <a16:creationId xmlns:a16="http://schemas.microsoft.com/office/drawing/2014/main" xmlns="" id="{C1687EDF-7A9B-4F2D-A05B-AD10A5C5BAEE}"/>
              </a:ext>
            </a:extLst>
          </p:cNvPr>
          <p:cNvSpPr>
            <a:spLocks noChangeArrowheads="1"/>
          </p:cNvSpPr>
          <p:nvPr/>
        </p:nvSpPr>
        <p:spPr bwMode="auto">
          <a:xfrm>
            <a:off x="8231188" y="2722563"/>
            <a:ext cx="122237" cy="179387"/>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8">
            <a:extLst>
              <a:ext uri="{FF2B5EF4-FFF2-40B4-BE49-F238E27FC236}">
                <a16:creationId xmlns:a16="http://schemas.microsoft.com/office/drawing/2014/main" xmlns="" id="{72D2F478-4CDD-4028-AD16-9A931BF1D2B4}"/>
              </a:ext>
            </a:extLst>
          </p:cNvPr>
          <p:cNvSpPr>
            <a:spLocks noChangeArrowheads="1"/>
          </p:cNvSpPr>
          <p:nvPr/>
        </p:nvSpPr>
        <p:spPr bwMode="auto">
          <a:xfrm>
            <a:off x="8382000" y="2806700"/>
            <a:ext cx="122238" cy="18573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9">
            <a:extLst>
              <a:ext uri="{FF2B5EF4-FFF2-40B4-BE49-F238E27FC236}">
                <a16:creationId xmlns:a16="http://schemas.microsoft.com/office/drawing/2014/main" xmlns="" id="{18008606-BD32-46B2-BCD2-F0BBB4821A75}"/>
              </a:ext>
            </a:extLst>
          </p:cNvPr>
          <p:cNvSpPr>
            <a:spLocks noChangeArrowheads="1"/>
          </p:cNvSpPr>
          <p:nvPr/>
        </p:nvSpPr>
        <p:spPr bwMode="auto">
          <a:xfrm>
            <a:off x="8531225" y="2894013"/>
            <a:ext cx="122238" cy="18573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1" name="组合 207">
            <a:extLst>
              <a:ext uri="{FF2B5EF4-FFF2-40B4-BE49-F238E27FC236}">
                <a16:creationId xmlns:a16="http://schemas.microsoft.com/office/drawing/2014/main" xmlns="" id="{2112BA41-5450-4091-A7EC-1F09CA708324}"/>
              </a:ext>
            </a:extLst>
          </p:cNvPr>
          <p:cNvGrpSpPr>
            <a:grpSpLocks/>
          </p:cNvGrpSpPr>
          <p:nvPr/>
        </p:nvGrpSpPr>
        <p:grpSpPr bwMode="auto">
          <a:xfrm>
            <a:off x="9423400" y="2714625"/>
            <a:ext cx="1063625" cy="1231900"/>
            <a:chOff x="5332731" y="3343275"/>
            <a:chExt cx="855345" cy="992188"/>
          </a:xfrm>
        </p:grpSpPr>
        <p:sp>
          <p:nvSpPr>
            <p:cNvPr id="92" name="Freeform 168">
              <a:extLst>
                <a:ext uri="{FF2B5EF4-FFF2-40B4-BE49-F238E27FC236}">
                  <a16:creationId xmlns:a16="http://schemas.microsoft.com/office/drawing/2014/main" xmlns="" id="{D28C4D78-91DA-4AB5-9C87-639CA27589A4}"/>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9">
              <a:extLst>
                <a:ext uri="{FF2B5EF4-FFF2-40B4-BE49-F238E27FC236}">
                  <a16:creationId xmlns:a16="http://schemas.microsoft.com/office/drawing/2014/main" xmlns="" id="{B5DD6C6C-1837-44F6-B91C-8302D2A5BA31}"/>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70">
              <a:extLst>
                <a:ext uri="{FF2B5EF4-FFF2-40B4-BE49-F238E27FC236}">
                  <a16:creationId xmlns:a16="http://schemas.microsoft.com/office/drawing/2014/main" xmlns="" id="{C2584B54-CC5F-4A5F-AE67-36D93EA5C3F8}"/>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1">
              <a:extLst>
                <a:ext uri="{FF2B5EF4-FFF2-40B4-BE49-F238E27FC236}">
                  <a16:creationId xmlns:a16="http://schemas.microsoft.com/office/drawing/2014/main" xmlns="" id="{F1AA8B4F-F6C0-440C-8404-C4E151FFC422}"/>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5">
              <a:extLst>
                <a:ext uri="{FF2B5EF4-FFF2-40B4-BE49-F238E27FC236}">
                  <a16:creationId xmlns:a16="http://schemas.microsoft.com/office/drawing/2014/main" xmlns="" id="{B7125E28-3A03-48AB-B669-5A45B780DA09}"/>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8">
              <a:extLst>
                <a:ext uri="{FF2B5EF4-FFF2-40B4-BE49-F238E27FC236}">
                  <a16:creationId xmlns:a16="http://schemas.microsoft.com/office/drawing/2014/main" xmlns="" id="{1A3E7CB4-3981-4480-9237-99C0C5988C6B}"/>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9">
              <a:extLst>
                <a:ext uri="{FF2B5EF4-FFF2-40B4-BE49-F238E27FC236}">
                  <a16:creationId xmlns:a16="http://schemas.microsoft.com/office/drawing/2014/main" xmlns="" id="{E62C92E3-A523-4D2C-A019-6D03F903B6BB}"/>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80">
              <a:extLst>
                <a:ext uri="{FF2B5EF4-FFF2-40B4-BE49-F238E27FC236}">
                  <a16:creationId xmlns:a16="http://schemas.microsoft.com/office/drawing/2014/main" xmlns="" id="{032D310C-E207-4135-ADD4-AF998E37935B}"/>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1">
              <a:extLst>
                <a:ext uri="{FF2B5EF4-FFF2-40B4-BE49-F238E27FC236}">
                  <a16:creationId xmlns:a16="http://schemas.microsoft.com/office/drawing/2014/main" xmlns="" id="{5579F719-BED4-4738-ABCA-48A4311880F7}"/>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Rectangle 182">
              <a:extLst>
                <a:ext uri="{FF2B5EF4-FFF2-40B4-BE49-F238E27FC236}">
                  <a16:creationId xmlns:a16="http://schemas.microsoft.com/office/drawing/2014/main" xmlns="" id="{86EA70A5-FAAF-41F2-A551-65F490A76416}"/>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Freeform 183">
              <a:extLst>
                <a:ext uri="{FF2B5EF4-FFF2-40B4-BE49-F238E27FC236}">
                  <a16:creationId xmlns:a16="http://schemas.microsoft.com/office/drawing/2014/main" xmlns="" id="{1AD9D5C3-FC81-4BEA-8F62-36932FCF3E54}"/>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86">
              <a:extLst>
                <a:ext uri="{FF2B5EF4-FFF2-40B4-BE49-F238E27FC236}">
                  <a16:creationId xmlns:a16="http://schemas.microsoft.com/office/drawing/2014/main" xmlns="" id="{36294BE5-D9C4-4EAB-BE9B-E8FF7D3BFA52}"/>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7">
              <a:extLst>
                <a:ext uri="{FF2B5EF4-FFF2-40B4-BE49-F238E27FC236}">
                  <a16:creationId xmlns:a16="http://schemas.microsoft.com/office/drawing/2014/main" xmlns="" id="{CA21D5A8-FBA6-418E-8DC7-8B926B9B0B04}"/>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209">
              <a:extLst>
                <a:ext uri="{FF2B5EF4-FFF2-40B4-BE49-F238E27FC236}">
                  <a16:creationId xmlns:a16="http://schemas.microsoft.com/office/drawing/2014/main" xmlns="" id="{BE8E7A51-1B94-46EA-ACEA-4B178E9EE24B}"/>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 name="Freeform 168">
            <a:extLst>
              <a:ext uri="{FF2B5EF4-FFF2-40B4-BE49-F238E27FC236}">
                <a16:creationId xmlns:a16="http://schemas.microsoft.com/office/drawing/2014/main" xmlns="" id="{8BD3E2AD-B03D-4FDE-83C2-16AA9BF21B5D}"/>
              </a:ext>
            </a:extLst>
          </p:cNvPr>
          <p:cNvSpPr>
            <a:spLocks noChangeArrowheads="1"/>
          </p:cNvSpPr>
          <p:nvPr/>
        </p:nvSpPr>
        <p:spPr bwMode="auto">
          <a:xfrm>
            <a:off x="7970838" y="2276475"/>
            <a:ext cx="1036637" cy="1220788"/>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9">
            <a:extLst>
              <a:ext uri="{FF2B5EF4-FFF2-40B4-BE49-F238E27FC236}">
                <a16:creationId xmlns:a16="http://schemas.microsoft.com/office/drawing/2014/main" xmlns="" id="{67ED112B-E648-428C-8FF4-12B3CC9B554D}"/>
              </a:ext>
            </a:extLst>
          </p:cNvPr>
          <p:cNvSpPr>
            <a:spLocks noEditPoints="1" noChangeArrowheads="1"/>
          </p:cNvSpPr>
          <p:nvPr/>
        </p:nvSpPr>
        <p:spPr bwMode="auto">
          <a:xfrm>
            <a:off x="7970838" y="2276475"/>
            <a:ext cx="1036637" cy="1220788"/>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70">
            <a:extLst>
              <a:ext uri="{FF2B5EF4-FFF2-40B4-BE49-F238E27FC236}">
                <a16:creationId xmlns:a16="http://schemas.microsoft.com/office/drawing/2014/main" xmlns="" id="{FEA53336-BAF1-480B-A7FB-594F99D60E7B}"/>
              </a:ext>
            </a:extLst>
          </p:cNvPr>
          <p:cNvSpPr>
            <a:spLocks noChangeArrowheads="1"/>
          </p:cNvSpPr>
          <p:nvPr/>
        </p:nvSpPr>
        <p:spPr bwMode="auto">
          <a:xfrm>
            <a:off x="7958138" y="2300288"/>
            <a:ext cx="989012"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1">
            <a:extLst>
              <a:ext uri="{FF2B5EF4-FFF2-40B4-BE49-F238E27FC236}">
                <a16:creationId xmlns:a16="http://schemas.microsoft.com/office/drawing/2014/main" xmlns="" id="{3ECB9440-F5F1-4174-ACC8-4212F5F4FF0F}"/>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5">
            <a:extLst>
              <a:ext uri="{FF2B5EF4-FFF2-40B4-BE49-F238E27FC236}">
                <a16:creationId xmlns:a16="http://schemas.microsoft.com/office/drawing/2014/main" xmlns="" id="{F133A2C5-3374-497A-8DAE-8E9B4405E46E}"/>
              </a:ext>
            </a:extLst>
          </p:cNvPr>
          <p:cNvSpPr>
            <a:spLocks noChangeArrowheads="1"/>
          </p:cNvSpPr>
          <p:nvPr/>
        </p:nvSpPr>
        <p:spPr bwMode="auto">
          <a:xfrm>
            <a:off x="7945438" y="2319338"/>
            <a:ext cx="976312"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8">
            <a:extLst>
              <a:ext uri="{FF2B5EF4-FFF2-40B4-BE49-F238E27FC236}">
                <a16:creationId xmlns:a16="http://schemas.microsoft.com/office/drawing/2014/main" xmlns="" id="{5CB13AD1-93F1-48BF-8F17-5EB3AE38FE78}"/>
              </a:ext>
            </a:extLst>
          </p:cNvPr>
          <p:cNvSpPr>
            <a:spLocks noChangeArrowheads="1"/>
          </p:cNvSpPr>
          <p:nvPr/>
        </p:nvSpPr>
        <p:spPr bwMode="auto">
          <a:xfrm>
            <a:off x="7970838" y="2309813"/>
            <a:ext cx="3175"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9">
            <a:extLst>
              <a:ext uri="{FF2B5EF4-FFF2-40B4-BE49-F238E27FC236}">
                <a16:creationId xmlns:a16="http://schemas.microsoft.com/office/drawing/2014/main" xmlns="" id="{B542772D-790A-4084-8152-4D470C6CF24F}"/>
              </a:ext>
            </a:extLst>
          </p:cNvPr>
          <p:cNvSpPr>
            <a:spLocks noChangeArrowheads="1"/>
          </p:cNvSpPr>
          <p:nvPr/>
        </p:nvSpPr>
        <p:spPr bwMode="auto">
          <a:xfrm>
            <a:off x="7970838" y="2305050"/>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80">
            <a:extLst>
              <a:ext uri="{FF2B5EF4-FFF2-40B4-BE49-F238E27FC236}">
                <a16:creationId xmlns:a16="http://schemas.microsoft.com/office/drawing/2014/main" xmlns="" id="{07638C50-1674-4D53-9F8A-2068BD384951}"/>
              </a:ext>
            </a:extLst>
          </p:cNvPr>
          <p:cNvSpPr>
            <a:spLocks noChangeArrowheads="1"/>
          </p:cNvSpPr>
          <p:nvPr/>
        </p:nvSpPr>
        <p:spPr bwMode="auto">
          <a:xfrm>
            <a:off x="7970838" y="2300288"/>
            <a:ext cx="995362"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1">
            <a:extLst>
              <a:ext uri="{FF2B5EF4-FFF2-40B4-BE49-F238E27FC236}">
                <a16:creationId xmlns:a16="http://schemas.microsoft.com/office/drawing/2014/main" xmlns="" id="{AD7E9935-1058-4CBB-9CC0-9FC49B000E01}"/>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82">
            <a:extLst>
              <a:ext uri="{FF2B5EF4-FFF2-40B4-BE49-F238E27FC236}">
                <a16:creationId xmlns:a16="http://schemas.microsoft.com/office/drawing/2014/main" xmlns="" id="{35CF0C0D-BD1C-4F0C-8A49-508DC077AE63}"/>
              </a:ext>
            </a:extLst>
          </p:cNvPr>
          <p:cNvSpPr>
            <a:spLocks noChangeArrowheads="1"/>
          </p:cNvSpPr>
          <p:nvPr/>
        </p:nvSpPr>
        <p:spPr bwMode="auto">
          <a:xfrm>
            <a:off x="7970838" y="2314575"/>
            <a:ext cx="1587"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83">
            <a:extLst>
              <a:ext uri="{FF2B5EF4-FFF2-40B4-BE49-F238E27FC236}">
                <a16:creationId xmlns:a16="http://schemas.microsoft.com/office/drawing/2014/main" xmlns="" id="{5092FAE1-A83A-48AD-B078-4A5847376C6E}"/>
              </a:ext>
            </a:extLst>
          </p:cNvPr>
          <p:cNvSpPr>
            <a:spLocks noChangeArrowheads="1"/>
          </p:cNvSpPr>
          <p:nvPr/>
        </p:nvSpPr>
        <p:spPr bwMode="auto">
          <a:xfrm>
            <a:off x="7970838" y="23145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86">
            <a:extLst>
              <a:ext uri="{FF2B5EF4-FFF2-40B4-BE49-F238E27FC236}">
                <a16:creationId xmlns:a16="http://schemas.microsoft.com/office/drawing/2014/main" xmlns="" id="{2FE2FBF3-8C57-434A-8D44-A919843F2EA7}"/>
              </a:ext>
            </a:extLst>
          </p:cNvPr>
          <p:cNvSpPr>
            <a:spLocks noChangeArrowheads="1"/>
          </p:cNvSpPr>
          <p:nvPr/>
        </p:nvSpPr>
        <p:spPr bwMode="auto">
          <a:xfrm>
            <a:off x="7978775" y="2305050"/>
            <a:ext cx="984250" cy="11890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7">
            <a:extLst>
              <a:ext uri="{FF2B5EF4-FFF2-40B4-BE49-F238E27FC236}">
                <a16:creationId xmlns:a16="http://schemas.microsoft.com/office/drawing/2014/main" xmlns="" id="{2C6B7A3C-415D-4C97-BC34-CF95A4F8A1B8}"/>
              </a:ext>
            </a:extLst>
          </p:cNvPr>
          <p:cNvSpPr>
            <a:spLocks noEditPoints="1" noChangeArrowheads="1"/>
          </p:cNvSpPr>
          <p:nvPr/>
        </p:nvSpPr>
        <p:spPr bwMode="auto">
          <a:xfrm>
            <a:off x="7978775" y="2309813"/>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209">
            <a:extLst>
              <a:ext uri="{FF2B5EF4-FFF2-40B4-BE49-F238E27FC236}">
                <a16:creationId xmlns:a16="http://schemas.microsoft.com/office/drawing/2014/main" xmlns="" id="{D44F4783-C5E3-43E6-8287-BBFE6E41C05A}"/>
              </a:ext>
            </a:extLst>
          </p:cNvPr>
          <p:cNvSpPr>
            <a:spLocks noEditPoints="1" noChangeArrowheads="1"/>
          </p:cNvSpPr>
          <p:nvPr/>
        </p:nvSpPr>
        <p:spPr bwMode="auto">
          <a:xfrm>
            <a:off x="8691563" y="2322513"/>
            <a:ext cx="15875" cy="26987"/>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increasing-stocks-graphic_38888">
            <a:extLst>
              <a:ext uri="{FF2B5EF4-FFF2-40B4-BE49-F238E27FC236}">
                <a16:creationId xmlns:a16="http://schemas.microsoft.com/office/drawing/2014/main" xmlns="" id="{D8C230C7-6C52-4527-98C1-B1C8AA3BB90A}"/>
              </a:ext>
            </a:extLst>
          </p:cNvPr>
          <p:cNvSpPr>
            <a:spLocks noChangeAspect="1" noChangeArrowheads="1"/>
          </p:cNvSpPr>
          <p:nvPr userDrawn="1"/>
        </p:nvSpPr>
        <p:spPr bwMode="auto">
          <a:xfrm>
            <a:off x="9758363" y="3179763"/>
            <a:ext cx="315912" cy="31115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4725360-A1ED-44FC-8D4E-5B008C3C555A}"/>
              </a:ext>
            </a:extLst>
          </p:cNvPr>
          <p:cNvSpPr>
            <a:spLocks noChangeArrowheads="1"/>
          </p:cNvSpPr>
          <p:nvPr userDrawn="1"/>
        </p:nvSpPr>
        <p:spPr bwMode="auto">
          <a:xfrm>
            <a:off x="8369300" y="3846513"/>
            <a:ext cx="544513" cy="377825"/>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1353EC8B-61D1-4F8C-BEDB-A596757A5A88}"/>
              </a:ext>
            </a:extLst>
          </p:cNvPr>
          <p:cNvSpPr/>
          <p:nvPr userDrawn="1"/>
        </p:nvSpPr>
        <p:spPr bwMode="auto">
          <a:xfrm>
            <a:off x="8234363" y="2692400"/>
            <a:ext cx="347662" cy="4016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20" name="标题 1"/>
          <p:cNvSpPr>
            <a:spLocks noGrp="1"/>
          </p:cNvSpPr>
          <p:nvPr userDrawn="1">
            <p:ph type="title" hasCustomPrompt="1"/>
          </p:nvPr>
        </p:nvSpPr>
        <p:spPr>
          <a:xfrm>
            <a:off x="1344680" y="1738313"/>
            <a:ext cx="5419185" cy="1988965"/>
          </a:xfrm>
        </p:spPr>
        <p:txBody>
          <a:bodyPr>
            <a:noAutofit/>
          </a:bodyPr>
          <a:lstStyle>
            <a:lvl1pPr algn="l">
              <a:defRPr sz="11500" b="1">
                <a:solidFill>
                  <a:schemeClr val="bg1"/>
                </a:solidFill>
                <a:latin typeface="+mn-lt"/>
                <a:cs typeface="Ebrima" panose="02000000000000000000" pitchFamily="2" charset="0"/>
              </a:defRPr>
            </a:lvl1pPr>
          </a:lstStyle>
          <a:p>
            <a:r>
              <a:rPr lang="en-US" altLang="zh-CN" noProof="1"/>
              <a:t>/</a:t>
            </a:r>
            <a:endParaRPr lang="zh-CN" altLang="en-US" noProof="1"/>
          </a:p>
        </p:txBody>
      </p:sp>
      <p:sp>
        <p:nvSpPr>
          <p:cNvPr id="21" name="文本占位符 2"/>
          <p:cNvSpPr>
            <a:spLocks noGrp="1"/>
          </p:cNvSpPr>
          <p:nvPr userDrawn="1">
            <p:ph type="body" idx="1" hasCustomPrompt="1"/>
          </p:nvPr>
        </p:nvSpPr>
        <p:spPr>
          <a:xfrm>
            <a:off x="1345796" y="3727279"/>
            <a:ext cx="5419185" cy="535160"/>
          </a:xfrm>
        </p:spPr>
        <p:txBody>
          <a:bodyPr anchor="ctr" anchorCtr="0">
            <a:normAutofit/>
          </a:bodyPr>
          <a:lstStyle>
            <a:lvl1pPr marL="0" indent="0" algn="l">
              <a:lnSpc>
                <a:spcPct val="100000"/>
              </a:lnSpc>
              <a:buNone/>
              <a:defRPr sz="28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a:t>
            </a:r>
          </a:p>
        </p:txBody>
      </p:sp>
    </p:spTree>
    <p:extLst>
      <p:ext uri="{BB962C8B-B14F-4D97-AF65-F5344CB8AC3E}">
        <p14:creationId xmlns:p14="http://schemas.microsoft.com/office/powerpoint/2010/main" val="148751716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4" name="直接连接符 6">
            <a:extLst>
              <a:ext uri="{FF2B5EF4-FFF2-40B4-BE49-F238E27FC236}">
                <a16:creationId xmlns:a16="http://schemas.microsoft.com/office/drawing/2014/main" xmlns="" id="{C25790C4-96E7-47B2-98D9-A90442BA1067}"/>
              </a:ext>
            </a:extLst>
          </p:cNvPr>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a:xfrm>
            <a:off x="669925" y="0"/>
            <a:ext cx="10850563" cy="925506"/>
          </a:xfrm>
        </p:spPr>
        <p:txBody>
          <a:bodyPr/>
          <a:lstStyle>
            <a:lvl1pPr>
              <a:defRPr/>
            </a:lvl1pPr>
          </a:lstStyle>
          <a:p>
            <a:r>
              <a:rPr lang="zh-CN" altLang="en-US" noProof="1" smtClean="0"/>
              <a:t>单击此处编辑母版标题样式</a:t>
            </a:r>
            <a:endParaRPr lang="zh-CN" altLang="en-US" noProof="1"/>
          </a:p>
        </p:txBody>
      </p:sp>
      <p:sp>
        <p:nvSpPr>
          <p:cNvPr id="8" name="内容占位符 7"/>
          <p:cNvSpPr>
            <a:spLocks noGrp="1"/>
          </p:cNvSpPr>
          <p:nvPr>
            <p:ph sz="quarter" idx="13"/>
          </p:nvPr>
        </p:nvSpPr>
        <p:spPr>
          <a:xfrm>
            <a:off x="669925" y="1130299"/>
            <a:ext cx="10850563" cy="5006975"/>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pic>
        <p:nvPicPr>
          <p:cNvPr id="10" name="图片 9">
            <a:extLst>
              <a:ext uri="{FF2B5EF4-FFF2-40B4-BE49-F238E27FC236}">
                <a16:creationId xmlns:a16="http://schemas.microsoft.com/office/drawing/2014/main" xmlns="" id="{B8B0DF5E-9061-4720-BB71-23728B49664F}"/>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4327E7CB-9CE1-4AAA-9E8A-00EA35CC9C0E}"/>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1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noProof="1" smtClean="0"/>
              <a:t>单击此处编辑母版标题样式</a:t>
            </a:r>
            <a:endParaRPr lang="en-US" noProof="1"/>
          </a:p>
        </p:txBody>
      </p:sp>
      <p:pic>
        <p:nvPicPr>
          <p:cNvPr id="6" name="图片 5">
            <a:extLst>
              <a:ext uri="{FF2B5EF4-FFF2-40B4-BE49-F238E27FC236}">
                <a16:creationId xmlns:a16="http://schemas.microsoft.com/office/drawing/2014/main" xmlns="" id="{4527C82D-DABD-4BD3-B32A-CD466225A13C}"/>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7" name="文本框 6">
            <a:extLst>
              <a:ext uri="{FF2B5EF4-FFF2-40B4-BE49-F238E27FC236}">
                <a16:creationId xmlns:a16="http://schemas.microsoft.com/office/drawing/2014/main" xmlns="" id="{746CFBB3-E2A4-40C3-AD1B-E27C29BCDC02}"/>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805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xmlns="" id="{28FE39CA-7A54-4DA1-8DEC-2036FEF5582D}"/>
              </a:ext>
            </a:extLst>
          </p:cNvPr>
          <p:cNvGrpSpPr>
            <a:grpSpLocks/>
          </p:cNvGrpSpPr>
          <p:nvPr userDrawn="1"/>
        </p:nvGrpSpPr>
        <p:grpSpPr bwMode="auto">
          <a:xfrm>
            <a:off x="714375" y="1387475"/>
            <a:ext cx="2623140" cy="4247516"/>
            <a:chOff x="757282" y="1700808"/>
            <a:chExt cx="2623129" cy="4248096"/>
          </a:xfrm>
        </p:grpSpPr>
        <p:grpSp>
          <p:nvGrpSpPr>
            <p:cNvPr id="3"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xmlns="" id="{689D706B-B801-4A7E-97C0-CED7C9C74897}"/>
                </a:ext>
              </a:extLst>
            </p:cNvPr>
            <p:cNvGrpSpPr>
              <a:grpSpLocks noChangeAspect="1"/>
            </p:cNvGrpSpPr>
            <p:nvPr/>
          </p:nvGrpSpPr>
          <p:grpSpPr bwMode="auto">
            <a:xfrm>
              <a:off x="757282" y="1700808"/>
              <a:ext cx="2623129" cy="4248096"/>
              <a:chOff x="1175743" y="1700808"/>
              <a:chExt cx="2521145" cy="4248096"/>
            </a:xfrm>
          </p:grpSpPr>
          <p:cxnSp>
            <p:nvCxnSpPr>
              <p:cNvPr id="6" name="直接连接符 5">
                <a:extLst>
                  <a:ext uri="{FF2B5EF4-FFF2-40B4-BE49-F238E27FC236}">
                    <a16:creationId xmlns:a16="http://schemas.microsoft.com/office/drawing/2014/main" xmlns="" id="{14B68020-A78B-4674-A4EC-9191CDE850BD}"/>
                  </a:ext>
                </a:extLst>
              </p:cNvPr>
              <p:cNvCxnSpPr>
                <a:cxnSpLocks noChangeShapeType="1"/>
              </p:cNvCxnSpPr>
              <p:nvPr/>
            </p:nvCxnSpPr>
            <p:spPr bwMode="auto">
              <a:xfrm>
                <a:off x="3696888" y="1780800"/>
                <a:ext cx="0" cy="4168104"/>
              </a:xfrm>
              <a:prstGeom prst="line">
                <a:avLst/>
              </a:prstGeom>
              <a:noFill/>
              <a:ln w="3175">
                <a:solidFill>
                  <a:srgbClr val="BFBFBF"/>
                </a:solidFill>
                <a:round/>
                <a:headEnd/>
                <a:tailEnd/>
              </a:ln>
              <a:extLst>
                <a:ext uri="{909E8E84-426E-40DD-AFC4-6F175D3DCCD1}">
                  <a14:hiddenFill xmlns:a14="http://schemas.microsoft.com/office/drawing/2010/main">
                    <a:noFill/>
                  </a14:hiddenFill>
                </a:ext>
              </a:extLst>
            </p:spPr>
          </p:cxnSp>
          <p:sp>
            <p:nvSpPr>
              <p:cNvPr id="7" name="išľïḋé">
                <a:extLst>
                  <a:ext uri="{FF2B5EF4-FFF2-40B4-BE49-F238E27FC236}">
                    <a16:creationId xmlns:a16="http://schemas.microsoft.com/office/drawing/2014/main" xmlns="" id="{94D24CD7-7253-45D8-843B-80B2009F33E3}"/>
                  </a:ext>
                </a:extLst>
              </p:cNvPr>
              <p:cNvSpPr txBox="1">
                <a:spLocks noChangeArrowheads="1"/>
              </p:cNvSpPr>
              <p:nvPr/>
            </p:nvSpPr>
            <p:spPr bwMode="auto">
              <a:xfrm>
                <a:off x="1175743" y="1700808"/>
                <a:ext cx="252110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tr-TR" altLang="zh-CN" sz="2800" b="1" dirty="0">
                    <a:solidFill>
                      <a:schemeClr val="accent1"/>
                    </a:solidFill>
                    <a:sym typeface="Arial" panose="020B0604020202020204" pitchFamily="34" charset="0"/>
                  </a:rPr>
                  <a:t>C</a:t>
                </a:r>
                <a:r>
                  <a:rPr lang="tr-TR" altLang="zh-CN" sz="100" b="1" dirty="0">
                    <a:solidFill>
                      <a:schemeClr val="accent1"/>
                    </a:solidFill>
                    <a:sym typeface="Arial" panose="020B0604020202020204" pitchFamily="34" charset="0"/>
                  </a:rPr>
                  <a:t> </a:t>
                </a:r>
                <a:r>
                  <a:rPr lang="tr-TR" altLang="zh-CN" sz="2800" b="1" dirty="0">
                    <a:solidFill>
                      <a:schemeClr val="accent1"/>
                    </a:solidFill>
                    <a:sym typeface="Arial" panose="020B0604020202020204" pitchFamily="34" charset="0"/>
                  </a:rPr>
                  <a:t>ONTENTS</a:t>
                </a:r>
              </a:p>
            </p:txBody>
          </p:sp>
        </p:grpSp>
        <p:sp>
          <p:nvSpPr>
            <p:cNvPr id="4" name="poetry_91022">
              <a:extLst>
                <a:ext uri="{FF2B5EF4-FFF2-40B4-BE49-F238E27FC236}">
                  <a16:creationId xmlns:a16="http://schemas.microsoft.com/office/drawing/2014/main" xmlns="" id="{0D6BB768-9400-4234-B0A6-052E35682435}"/>
                </a:ext>
              </a:extLst>
            </p:cNvPr>
            <p:cNvSpPr>
              <a:spLocks noChangeAspect="1" noChangeArrowheads="1"/>
            </p:cNvSpPr>
            <p:nvPr/>
          </p:nvSpPr>
          <p:spPr bwMode="auto">
            <a:xfrm>
              <a:off x="2379533" y="5008561"/>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p>
          </p:txBody>
        </p:sp>
      </p:grpSp>
      <p:sp>
        <p:nvSpPr>
          <p:cNvPr id="11" name="内容占位符 10">
            <a:extLst>
              <a:ext uri="{FF2B5EF4-FFF2-40B4-BE49-F238E27FC236}">
                <a16:creationId xmlns:a16="http://schemas.microsoft.com/office/drawing/2014/main" xmlns="" id="{5EFB80EA-1C0D-45B6-A698-96B981D217CF}"/>
              </a:ext>
            </a:extLst>
          </p:cNvPr>
          <p:cNvSpPr>
            <a:spLocks noGrp="1"/>
          </p:cNvSpPr>
          <p:nvPr>
            <p:ph sz="quarter" idx="11"/>
          </p:nvPr>
        </p:nvSpPr>
        <p:spPr>
          <a:xfrm>
            <a:off x="3706832" y="1472484"/>
            <a:ext cx="6816725" cy="4167188"/>
          </a:xfrm>
        </p:spPr>
        <p:txBody>
          <a:bodyPr/>
          <a:lstStyle>
            <a:lvl1pPr marL="342900" indent="-342900">
              <a:lnSpc>
                <a:spcPct val="125000"/>
              </a:lnSpc>
              <a:defRPr kumimoji="0" lang="zh-CN" altLang="en-US" sz="1600" b="1" i="0" u="none" strike="noStrike" kern="1200" cap="none" spc="0" normalizeH="0" baseline="0" dirty="0" smtClean="0">
                <a:ln>
                  <a:noFill/>
                </a:ln>
                <a:solidFill>
                  <a:srgbClr val="000000"/>
                </a:solidFill>
                <a:effectLst/>
                <a:uLnTx/>
                <a:uFillTx/>
                <a:latin typeface="Arial" panose="020B0604020202020204" pitchFamily="34" charset="0"/>
                <a:ea typeface="微软雅黑" panose="020B0503020204020204" pitchFamily="34" charset="-122"/>
                <a:cs typeface="+mn-cs"/>
              </a:defRPr>
            </a:lvl1pPr>
            <a:lvl2pPr marL="800100" indent="-342900">
              <a:lnSpc>
                <a:spcPct val="125000"/>
              </a:lnSpc>
              <a:defRPr kumimoji="0" lang="zh-CN" altLang="en-US" sz="1400" b="0" i="0" u="none" strike="noStrike" kern="1200" cap="none" spc="0" normalizeH="0" baseline="0" dirty="0" smtClean="0">
                <a:ln>
                  <a:noFill/>
                </a:ln>
                <a:solidFill>
                  <a:srgbClr val="4D4D4D"/>
                </a:solidFill>
                <a:effectLst/>
                <a:uLnTx/>
                <a:uFillTx/>
                <a:latin typeface="Arial" panose="020B0604020202020204" pitchFamily="34" charset="0"/>
                <a:ea typeface="微软雅黑" panose="020B0503020204020204" pitchFamily="34" charset="-122"/>
                <a:cs typeface="+mn-cs"/>
              </a:defRPr>
            </a:lvl2pPr>
          </a:lstStyle>
          <a:p>
            <a:pPr marL="0" marR="0" lvl="0"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单击此处编辑母版文本样式</a:t>
            </a:r>
          </a:p>
          <a:p>
            <a:pPr marL="0" marR="0" lvl="1"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第二级</a:t>
            </a:r>
          </a:p>
        </p:txBody>
      </p:sp>
    </p:spTree>
    <p:extLst>
      <p:ext uri="{BB962C8B-B14F-4D97-AF65-F5344CB8AC3E}">
        <p14:creationId xmlns:p14="http://schemas.microsoft.com/office/powerpoint/2010/main" val="122024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xmlns="" id="{D1501A3B-3447-4F2B-ADAE-503830AA78F6}"/>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Freeform 100">
            <a:extLst>
              <a:ext uri="{FF2B5EF4-FFF2-40B4-BE49-F238E27FC236}">
                <a16:creationId xmlns:a16="http://schemas.microsoft.com/office/drawing/2014/main" xmlns="" id="{9E9B1B0A-F147-48AA-A5DE-03B8826F8FCB}"/>
              </a:ext>
            </a:extLst>
          </p:cNvPr>
          <p:cNvSpPr>
            <a:spLocks noChangeArrowheads="1"/>
          </p:cNvSpPr>
          <p:nvPr/>
        </p:nvSpPr>
        <p:spPr bwMode="auto">
          <a:xfrm>
            <a:off x="1698625" y="1476375"/>
            <a:ext cx="1931988" cy="1465263"/>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1">
            <a:extLst>
              <a:ext uri="{FF2B5EF4-FFF2-40B4-BE49-F238E27FC236}">
                <a16:creationId xmlns:a16="http://schemas.microsoft.com/office/drawing/2014/main" xmlns="" id="{B754F84E-8490-4166-BFA5-A5D0332C0803}"/>
              </a:ext>
            </a:extLst>
          </p:cNvPr>
          <p:cNvSpPr>
            <a:spLocks noChangeArrowheads="1"/>
          </p:cNvSpPr>
          <p:nvPr/>
        </p:nvSpPr>
        <p:spPr bwMode="auto">
          <a:xfrm>
            <a:off x="2973388" y="1347788"/>
            <a:ext cx="774700" cy="1593850"/>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2">
            <a:extLst>
              <a:ext uri="{FF2B5EF4-FFF2-40B4-BE49-F238E27FC236}">
                <a16:creationId xmlns:a16="http://schemas.microsoft.com/office/drawing/2014/main" xmlns="" id="{A5859E9E-C291-4776-AD2A-547BB52A52F4}"/>
              </a:ext>
            </a:extLst>
          </p:cNvPr>
          <p:cNvSpPr>
            <a:spLocks noChangeArrowheads="1"/>
          </p:cNvSpPr>
          <p:nvPr/>
        </p:nvSpPr>
        <p:spPr bwMode="auto">
          <a:xfrm>
            <a:off x="2862263" y="1208088"/>
            <a:ext cx="1009650" cy="1733550"/>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3">
            <a:extLst>
              <a:ext uri="{FF2B5EF4-FFF2-40B4-BE49-F238E27FC236}">
                <a16:creationId xmlns:a16="http://schemas.microsoft.com/office/drawing/2014/main" xmlns="" id="{84012C9C-CCEF-4B10-BD34-2BA7046AE088}"/>
              </a:ext>
            </a:extLst>
          </p:cNvPr>
          <p:cNvSpPr>
            <a:spLocks noEditPoints="1" noChangeArrowheads="1"/>
          </p:cNvSpPr>
          <p:nvPr/>
        </p:nvSpPr>
        <p:spPr bwMode="auto">
          <a:xfrm>
            <a:off x="1636713" y="1446213"/>
            <a:ext cx="74612"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4">
            <a:extLst>
              <a:ext uri="{FF2B5EF4-FFF2-40B4-BE49-F238E27FC236}">
                <a16:creationId xmlns:a16="http://schemas.microsoft.com/office/drawing/2014/main" xmlns="" id="{6C2C5392-8085-47E5-ADA2-0121AB423799}"/>
              </a:ext>
            </a:extLst>
          </p:cNvPr>
          <p:cNvSpPr>
            <a:spLocks noEditPoints="1" noChangeArrowheads="1"/>
          </p:cNvSpPr>
          <p:nvPr/>
        </p:nvSpPr>
        <p:spPr bwMode="auto">
          <a:xfrm>
            <a:off x="2911475" y="1319213"/>
            <a:ext cx="74613"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5">
            <a:extLst>
              <a:ext uri="{FF2B5EF4-FFF2-40B4-BE49-F238E27FC236}">
                <a16:creationId xmlns:a16="http://schemas.microsoft.com/office/drawing/2014/main" xmlns="" id="{DEBD5C80-6B4B-4324-B775-6F17D2D0DE04}"/>
              </a:ext>
            </a:extLst>
          </p:cNvPr>
          <p:cNvSpPr>
            <a:spLocks noEditPoints="1" noChangeArrowheads="1"/>
          </p:cNvSpPr>
          <p:nvPr/>
        </p:nvSpPr>
        <p:spPr bwMode="auto">
          <a:xfrm>
            <a:off x="2800350" y="1177925"/>
            <a:ext cx="74613"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6">
            <a:extLst>
              <a:ext uri="{FF2B5EF4-FFF2-40B4-BE49-F238E27FC236}">
                <a16:creationId xmlns:a16="http://schemas.microsoft.com/office/drawing/2014/main" xmlns="" id="{56C9CF85-CF6D-46EB-B1B9-359294F7F292}"/>
              </a:ext>
            </a:extLst>
          </p:cNvPr>
          <p:cNvSpPr>
            <a:spLocks noChangeArrowheads="1"/>
          </p:cNvSpPr>
          <p:nvPr/>
        </p:nvSpPr>
        <p:spPr bwMode="auto">
          <a:xfrm>
            <a:off x="2505075" y="1100138"/>
            <a:ext cx="1487488" cy="184150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7">
            <a:extLst>
              <a:ext uri="{FF2B5EF4-FFF2-40B4-BE49-F238E27FC236}">
                <a16:creationId xmlns:a16="http://schemas.microsoft.com/office/drawing/2014/main" xmlns="" id="{D84B2DD6-3814-4F72-AA23-465C261DC725}"/>
              </a:ext>
            </a:extLst>
          </p:cNvPr>
          <p:cNvSpPr>
            <a:spLocks noEditPoints="1" noChangeArrowheads="1"/>
          </p:cNvSpPr>
          <p:nvPr/>
        </p:nvSpPr>
        <p:spPr bwMode="auto">
          <a:xfrm>
            <a:off x="244316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8">
            <a:extLst>
              <a:ext uri="{FF2B5EF4-FFF2-40B4-BE49-F238E27FC236}">
                <a16:creationId xmlns:a16="http://schemas.microsoft.com/office/drawing/2014/main" xmlns="" id="{169DB64A-D1FB-4A03-A513-76F01D5894F2}"/>
              </a:ext>
            </a:extLst>
          </p:cNvPr>
          <p:cNvSpPr>
            <a:spLocks noChangeArrowheads="1"/>
          </p:cNvSpPr>
          <p:nvPr/>
        </p:nvSpPr>
        <p:spPr bwMode="auto">
          <a:xfrm>
            <a:off x="4103688" y="1100138"/>
            <a:ext cx="1052512" cy="184150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9">
            <a:extLst>
              <a:ext uri="{FF2B5EF4-FFF2-40B4-BE49-F238E27FC236}">
                <a16:creationId xmlns:a16="http://schemas.microsoft.com/office/drawing/2014/main" xmlns="" id="{C761D5EA-1D1C-4992-9AF7-333C4BADAD3C}"/>
              </a:ext>
            </a:extLst>
          </p:cNvPr>
          <p:cNvSpPr>
            <a:spLocks noEditPoints="1" noChangeArrowheads="1"/>
          </p:cNvSpPr>
          <p:nvPr/>
        </p:nvSpPr>
        <p:spPr bwMode="auto">
          <a:xfrm>
            <a:off x="5140325" y="1069975"/>
            <a:ext cx="73025"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0">
            <a:extLst>
              <a:ext uri="{FF2B5EF4-FFF2-40B4-BE49-F238E27FC236}">
                <a16:creationId xmlns:a16="http://schemas.microsoft.com/office/drawing/2014/main" xmlns="" id="{F6CFCDF6-27D8-4082-9743-1DDF02047326}"/>
              </a:ext>
            </a:extLst>
          </p:cNvPr>
          <p:cNvSpPr>
            <a:spLocks noEditPoints="1" noChangeArrowheads="1"/>
          </p:cNvSpPr>
          <p:nvPr/>
        </p:nvSpPr>
        <p:spPr bwMode="auto">
          <a:xfrm>
            <a:off x="5284788"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1">
            <a:extLst>
              <a:ext uri="{FF2B5EF4-FFF2-40B4-BE49-F238E27FC236}">
                <a16:creationId xmlns:a16="http://schemas.microsoft.com/office/drawing/2014/main" xmlns="" id="{5AF066AD-2A75-4CE0-9985-9E485D212BEB}"/>
              </a:ext>
            </a:extLst>
          </p:cNvPr>
          <p:cNvSpPr>
            <a:spLocks noEditPoints="1" noChangeArrowheads="1"/>
          </p:cNvSpPr>
          <p:nvPr/>
        </p:nvSpPr>
        <p:spPr bwMode="auto">
          <a:xfrm>
            <a:off x="543401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2">
            <a:extLst>
              <a:ext uri="{FF2B5EF4-FFF2-40B4-BE49-F238E27FC236}">
                <a16:creationId xmlns:a16="http://schemas.microsoft.com/office/drawing/2014/main" xmlns="" id="{430A2212-C0FC-49AD-8682-A12C1F9D0EEC}"/>
              </a:ext>
            </a:extLst>
          </p:cNvPr>
          <p:cNvSpPr>
            <a:spLocks noEditPoints="1" noChangeArrowheads="1"/>
          </p:cNvSpPr>
          <p:nvPr/>
        </p:nvSpPr>
        <p:spPr bwMode="auto">
          <a:xfrm>
            <a:off x="5578475"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3">
            <a:extLst>
              <a:ext uri="{FF2B5EF4-FFF2-40B4-BE49-F238E27FC236}">
                <a16:creationId xmlns:a16="http://schemas.microsoft.com/office/drawing/2014/main" xmlns="" id="{D046BB3D-BC01-42D9-BA04-8CCE94C1856A}"/>
              </a:ext>
            </a:extLst>
          </p:cNvPr>
          <p:cNvSpPr>
            <a:spLocks noEditPoints="1" noChangeArrowheads="1"/>
          </p:cNvSpPr>
          <p:nvPr/>
        </p:nvSpPr>
        <p:spPr bwMode="auto">
          <a:xfrm>
            <a:off x="5727700"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4">
            <a:extLst>
              <a:ext uri="{FF2B5EF4-FFF2-40B4-BE49-F238E27FC236}">
                <a16:creationId xmlns:a16="http://schemas.microsoft.com/office/drawing/2014/main" xmlns="" id="{1A57CF94-A167-4B8C-9CAB-F801ED5A5EA5}"/>
              </a:ext>
            </a:extLst>
          </p:cNvPr>
          <p:cNvSpPr>
            <a:spLocks noEditPoints="1" noChangeArrowheads="1"/>
          </p:cNvSpPr>
          <p:nvPr/>
        </p:nvSpPr>
        <p:spPr bwMode="auto">
          <a:xfrm>
            <a:off x="5872163" y="1069975"/>
            <a:ext cx="74612"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7">
            <a:extLst>
              <a:ext uri="{FF2B5EF4-FFF2-40B4-BE49-F238E27FC236}">
                <a16:creationId xmlns:a16="http://schemas.microsoft.com/office/drawing/2014/main" xmlns="" id="{0AC5C741-51D7-459F-9144-1E944F3744F6}"/>
              </a:ext>
            </a:extLst>
          </p:cNvPr>
          <p:cNvSpPr>
            <a:spLocks noEditPoints="1" noChangeArrowheads="1"/>
          </p:cNvSpPr>
          <p:nvPr/>
        </p:nvSpPr>
        <p:spPr bwMode="auto">
          <a:xfrm>
            <a:off x="547688" y="2646363"/>
            <a:ext cx="5056187" cy="2938462"/>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8">
            <a:extLst>
              <a:ext uri="{FF2B5EF4-FFF2-40B4-BE49-F238E27FC236}">
                <a16:creationId xmlns:a16="http://schemas.microsoft.com/office/drawing/2014/main" xmlns="" id="{86C4773B-B1B7-4080-BA05-440FB6AAC6CC}"/>
              </a:ext>
            </a:extLst>
          </p:cNvPr>
          <p:cNvSpPr>
            <a:spLocks noChangeArrowheads="1"/>
          </p:cNvSpPr>
          <p:nvPr/>
        </p:nvSpPr>
        <p:spPr bwMode="auto">
          <a:xfrm>
            <a:off x="442913" y="2295525"/>
            <a:ext cx="5260975" cy="2982913"/>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9">
            <a:extLst>
              <a:ext uri="{FF2B5EF4-FFF2-40B4-BE49-F238E27FC236}">
                <a16:creationId xmlns:a16="http://schemas.microsoft.com/office/drawing/2014/main" xmlns="" id="{AC4D9720-5100-411A-901D-B888CE00D965}"/>
              </a:ext>
            </a:extLst>
          </p:cNvPr>
          <p:cNvSpPr>
            <a:spLocks noChangeArrowheads="1"/>
          </p:cNvSpPr>
          <p:nvPr/>
        </p:nvSpPr>
        <p:spPr bwMode="auto">
          <a:xfrm>
            <a:off x="442913" y="3168650"/>
            <a:ext cx="5260975" cy="2097088"/>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0">
            <a:extLst>
              <a:ext uri="{FF2B5EF4-FFF2-40B4-BE49-F238E27FC236}">
                <a16:creationId xmlns:a16="http://schemas.microsoft.com/office/drawing/2014/main" xmlns="" id="{C18E6281-1439-4738-A204-527A0E2495D8}"/>
              </a:ext>
            </a:extLst>
          </p:cNvPr>
          <p:cNvSpPr>
            <a:spLocks noChangeArrowheads="1"/>
          </p:cNvSpPr>
          <p:nvPr/>
        </p:nvSpPr>
        <p:spPr bwMode="auto">
          <a:xfrm>
            <a:off x="442913" y="3214688"/>
            <a:ext cx="5260975" cy="2017712"/>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1">
            <a:extLst>
              <a:ext uri="{FF2B5EF4-FFF2-40B4-BE49-F238E27FC236}">
                <a16:creationId xmlns:a16="http://schemas.microsoft.com/office/drawing/2014/main" xmlns="" id="{A80684C8-BD2D-4F8B-AE79-EF0E6623ACA8}"/>
              </a:ext>
            </a:extLst>
          </p:cNvPr>
          <p:cNvSpPr>
            <a:spLocks noChangeArrowheads="1"/>
          </p:cNvSpPr>
          <p:nvPr/>
        </p:nvSpPr>
        <p:spPr bwMode="auto">
          <a:xfrm>
            <a:off x="427038" y="2097088"/>
            <a:ext cx="5295900" cy="3057525"/>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2">
            <a:extLst>
              <a:ext uri="{FF2B5EF4-FFF2-40B4-BE49-F238E27FC236}">
                <a16:creationId xmlns:a16="http://schemas.microsoft.com/office/drawing/2014/main" xmlns="" id="{FC982295-AF39-446F-8B26-A196A5A1048C}"/>
              </a:ext>
            </a:extLst>
          </p:cNvPr>
          <p:cNvSpPr>
            <a:spLocks noChangeArrowheads="1"/>
          </p:cNvSpPr>
          <p:nvPr/>
        </p:nvSpPr>
        <p:spPr bwMode="auto">
          <a:xfrm>
            <a:off x="1722438" y="4905375"/>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3">
            <a:extLst>
              <a:ext uri="{FF2B5EF4-FFF2-40B4-BE49-F238E27FC236}">
                <a16:creationId xmlns:a16="http://schemas.microsoft.com/office/drawing/2014/main" xmlns="" id="{3DE41D60-69F3-4AD8-A3C4-DB5F6C6B8BB7}"/>
              </a:ext>
            </a:extLst>
          </p:cNvPr>
          <p:cNvSpPr>
            <a:spLocks noChangeArrowheads="1"/>
          </p:cNvSpPr>
          <p:nvPr/>
        </p:nvSpPr>
        <p:spPr bwMode="auto">
          <a:xfrm>
            <a:off x="1798638" y="4948238"/>
            <a:ext cx="34925"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4">
            <a:extLst>
              <a:ext uri="{FF2B5EF4-FFF2-40B4-BE49-F238E27FC236}">
                <a16:creationId xmlns:a16="http://schemas.microsoft.com/office/drawing/2014/main" xmlns="" id="{671B2D73-DE1F-4F18-A735-6ED7EF0D803B}"/>
              </a:ext>
            </a:extLst>
          </p:cNvPr>
          <p:cNvSpPr>
            <a:spLocks noChangeArrowheads="1"/>
          </p:cNvSpPr>
          <p:nvPr/>
        </p:nvSpPr>
        <p:spPr bwMode="auto">
          <a:xfrm>
            <a:off x="1871663" y="499268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5">
            <a:extLst>
              <a:ext uri="{FF2B5EF4-FFF2-40B4-BE49-F238E27FC236}">
                <a16:creationId xmlns:a16="http://schemas.microsoft.com/office/drawing/2014/main" xmlns="" id="{5FE95CCB-A33F-4C44-B0FE-66461995981F}"/>
              </a:ext>
            </a:extLst>
          </p:cNvPr>
          <p:cNvSpPr>
            <a:spLocks noChangeArrowheads="1"/>
          </p:cNvSpPr>
          <p:nvPr/>
        </p:nvSpPr>
        <p:spPr bwMode="auto">
          <a:xfrm>
            <a:off x="696913" y="4314825"/>
            <a:ext cx="39687" cy="52388"/>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6">
            <a:extLst>
              <a:ext uri="{FF2B5EF4-FFF2-40B4-BE49-F238E27FC236}">
                <a16:creationId xmlns:a16="http://schemas.microsoft.com/office/drawing/2014/main" xmlns="" id="{BF592E61-56AC-4BBC-9A71-C2A7F75729FD}"/>
              </a:ext>
            </a:extLst>
          </p:cNvPr>
          <p:cNvSpPr>
            <a:spLocks noChangeArrowheads="1"/>
          </p:cNvSpPr>
          <p:nvPr/>
        </p:nvSpPr>
        <p:spPr bwMode="auto">
          <a:xfrm>
            <a:off x="769938" y="4356100"/>
            <a:ext cx="42862"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7">
            <a:extLst>
              <a:ext uri="{FF2B5EF4-FFF2-40B4-BE49-F238E27FC236}">
                <a16:creationId xmlns:a16="http://schemas.microsoft.com/office/drawing/2014/main" xmlns="" id="{1DD08F44-ADCA-4FAA-BCDB-D45DFC4327AD}"/>
              </a:ext>
            </a:extLst>
          </p:cNvPr>
          <p:cNvSpPr>
            <a:spLocks noChangeArrowheads="1"/>
          </p:cNvSpPr>
          <p:nvPr/>
        </p:nvSpPr>
        <p:spPr bwMode="auto">
          <a:xfrm>
            <a:off x="846138" y="4402138"/>
            <a:ext cx="39687"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8">
            <a:extLst>
              <a:ext uri="{FF2B5EF4-FFF2-40B4-BE49-F238E27FC236}">
                <a16:creationId xmlns:a16="http://schemas.microsoft.com/office/drawing/2014/main" xmlns="" id="{1F8B2D33-8F37-4844-96B6-DCD16473B33C}"/>
              </a:ext>
            </a:extLst>
          </p:cNvPr>
          <p:cNvSpPr>
            <a:spLocks noEditPoints="1" noChangeArrowheads="1"/>
          </p:cNvSpPr>
          <p:nvPr/>
        </p:nvSpPr>
        <p:spPr bwMode="auto">
          <a:xfrm>
            <a:off x="3043238" y="2084388"/>
            <a:ext cx="833437" cy="43815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9">
            <a:extLst>
              <a:ext uri="{FF2B5EF4-FFF2-40B4-BE49-F238E27FC236}">
                <a16:creationId xmlns:a16="http://schemas.microsoft.com/office/drawing/2014/main" xmlns="" id="{E472FF78-17E6-4FCD-9B8C-E836EAED9F4B}"/>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0">
            <a:extLst>
              <a:ext uri="{FF2B5EF4-FFF2-40B4-BE49-F238E27FC236}">
                <a16:creationId xmlns:a16="http://schemas.microsoft.com/office/drawing/2014/main" xmlns="" id="{9FCFE153-0A16-4933-B53D-FE9BF4F63B47}"/>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1">
            <a:extLst>
              <a:ext uri="{FF2B5EF4-FFF2-40B4-BE49-F238E27FC236}">
                <a16:creationId xmlns:a16="http://schemas.microsoft.com/office/drawing/2014/main" xmlns="" id="{5B4D1BD2-208D-43AE-BA49-8B14AECE7687}"/>
              </a:ext>
            </a:extLst>
          </p:cNvPr>
          <p:cNvSpPr>
            <a:spLocks noChangeArrowheads="1"/>
          </p:cNvSpPr>
          <p:nvPr/>
        </p:nvSpPr>
        <p:spPr bwMode="auto">
          <a:xfrm>
            <a:off x="3730625" y="2108200"/>
            <a:ext cx="17463" cy="25400"/>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2">
            <a:extLst>
              <a:ext uri="{FF2B5EF4-FFF2-40B4-BE49-F238E27FC236}">
                <a16:creationId xmlns:a16="http://schemas.microsoft.com/office/drawing/2014/main" xmlns="" id="{2CB22EA3-BADB-4384-BFA3-C06DF35E56EC}"/>
              </a:ext>
            </a:extLst>
          </p:cNvPr>
          <p:cNvSpPr>
            <a:spLocks noChangeArrowheads="1"/>
          </p:cNvSpPr>
          <p:nvPr/>
        </p:nvSpPr>
        <p:spPr bwMode="auto">
          <a:xfrm>
            <a:off x="3856038" y="2084388"/>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3">
            <a:extLst>
              <a:ext uri="{FF2B5EF4-FFF2-40B4-BE49-F238E27FC236}">
                <a16:creationId xmlns:a16="http://schemas.microsoft.com/office/drawing/2014/main" xmlns="" id="{43AE9CDA-2392-437A-AB8F-27E81AB57E3A}"/>
              </a:ext>
            </a:extLst>
          </p:cNvPr>
          <p:cNvSpPr>
            <a:spLocks noChangeArrowheads="1"/>
          </p:cNvSpPr>
          <p:nvPr/>
        </p:nvSpPr>
        <p:spPr bwMode="auto">
          <a:xfrm>
            <a:off x="439738" y="2882900"/>
            <a:ext cx="1970087" cy="11874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4">
            <a:extLst>
              <a:ext uri="{FF2B5EF4-FFF2-40B4-BE49-F238E27FC236}">
                <a16:creationId xmlns:a16="http://schemas.microsoft.com/office/drawing/2014/main" xmlns="" id="{ACE168ED-DDF0-450D-ABFA-09DDD993483A}"/>
              </a:ext>
            </a:extLst>
          </p:cNvPr>
          <p:cNvSpPr>
            <a:spLocks noChangeArrowheads="1"/>
          </p:cNvSpPr>
          <p:nvPr/>
        </p:nvSpPr>
        <p:spPr bwMode="auto">
          <a:xfrm>
            <a:off x="447675" y="4029075"/>
            <a:ext cx="1854200" cy="1087438"/>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2" name="组合 41">
            <a:extLst>
              <a:ext uri="{FF2B5EF4-FFF2-40B4-BE49-F238E27FC236}">
                <a16:creationId xmlns:a16="http://schemas.microsoft.com/office/drawing/2014/main" xmlns="" id="{FC671DB3-08A4-49B5-B985-6EFAFAFCBA2D}"/>
              </a:ext>
            </a:extLst>
          </p:cNvPr>
          <p:cNvGrpSpPr>
            <a:grpSpLocks/>
          </p:cNvGrpSpPr>
          <p:nvPr/>
        </p:nvGrpSpPr>
        <p:grpSpPr bwMode="auto">
          <a:xfrm>
            <a:off x="388938" y="2109788"/>
            <a:ext cx="5316537" cy="3054350"/>
            <a:chOff x="7564437" y="4244495"/>
            <a:chExt cx="4236358" cy="2433801"/>
          </a:xfrm>
        </p:grpSpPr>
        <p:sp>
          <p:nvSpPr>
            <p:cNvPr id="43" name="Freeform 238">
              <a:extLst>
                <a:ext uri="{FF2B5EF4-FFF2-40B4-BE49-F238E27FC236}">
                  <a16:creationId xmlns:a16="http://schemas.microsoft.com/office/drawing/2014/main" xmlns="" id="{DC4B81A3-97E6-4707-A466-F92F06ECEC5B}"/>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050C75A-8D86-4374-AC65-4FF5830730AE}"/>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99E7C69A-9566-4E8E-B735-842F824F59F8}"/>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E67EB1E3-0B58-4ADF-B968-E2ECABB43FA3}"/>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 name="Freeform 135">
            <a:extLst>
              <a:ext uri="{FF2B5EF4-FFF2-40B4-BE49-F238E27FC236}">
                <a16:creationId xmlns:a16="http://schemas.microsoft.com/office/drawing/2014/main" xmlns="" id="{9AA94A5D-629E-483B-B93F-E0C4A658EF00}"/>
              </a:ext>
            </a:extLst>
          </p:cNvPr>
          <p:cNvSpPr>
            <a:spLocks noEditPoints="1" noChangeArrowheads="1"/>
          </p:cNvSpPr>
          <p:nvPr/>
        </p:nvSpPr>
        <p:spPr bwMode="auto">
          <a:xfrm>
            <a:off x="2898775" y="3843338"/>
            <a:ext cx="1114425" cy="64928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7">
            <a:extLst>
              <a:ext uri="{FF2B5EF4-FFF2-40B4-BE49-F238E27FC236}">
                <a16:creationId xmlns:a16="http://schemas.microsoft.com/office/drawing/2014/main" xmlns="" id="{DAC70147-8692-4FF3-B7EB-2157CCD7A066}"/>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6">
            <a:extLst>
              <a:ext uri="{FF2B5EF4-FFF2-40B4-BE49-F238E27FC236}">
                <a16:creationId xmlns:a16="http://schemas.microsoft.com/office/drawing/2014/main" xmlns="" id="{385E68FE-5D09-432B-99FC-CC88F37D5BBA}"/>
              </a:ext>
            </a:extLst>
          </p:cNvPr>
          <p:cNvSpPr>
            <a:spLocks noEditPoints="1" noChangeArrowheads="1"/>
          </p:cNvSpPr>
          <p:nvPr/>
        </p:nvSpPr>
        <p:spPr bwMode="auto">
          <a:xfrm>
            <a:off x="3963988" y="3127375"/>
            <a:ext cx="1295400" cy="64452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8">
            <a:extLst>
              <a:ext uri="{FF2B5EF4-FFF2-40B4-BE49-F238E27FC236}">
                <a16:creationId xmlns:a16="http://schemas.microsoft.com/office/drawing/2014/main" xmlns="" id="{96058411-3529-4DC4-BB4A-0DF91714A5B0}"/>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9">
            <a:extLst>
              <a:ext uri="{FF2B5EF4-FFF2-40B4-BE49-F238E27FC236}">
                <a16:creationId xmlns:a16="http://schemas.microsoft.com/office/drawing/2014/main" xmlns="" id="{D1C2EABB-03C2-40C9-BA63-A0170D6132BC}"/>
              </a:ext>
            </a:extLst>
          </p:cNvPr>
          <p:cNvSpPr>
            <a:spLocks noEditPoints="1" noChangeArrowheads="1"/>
          </p:cNvSpPr>
          <p:nvPr/>
        </p:nvSpPr>
        <p:spPr bwMode="auto">
          <a:xfrm>
            <a:off x="2417763" y="2695575"/>
            <a:ext cx="1250950" cy="687388"/>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0">
            <a:extLst>
              <a:ext uri="{FF2B5EF4-FFF2-40B4-BE49-F238E27FC236}">
                <a16:creationId xmlns:a16="http://schemas.microsoft.com/office/drawing/2014/main" xmlns="" id="{8FE2AB22-B85D-41F0-810B-7B738A0CBDDF}"/>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1">
            <a:extLst>
              <a:ext uri="{FF2B5EF4-FFF2-40B4-BE49-F238E27FC236}">
                <a16:creationId xmlns:a16="http://schemas.microsoft.com/office/drawing/2014/main" xmlns="" id="{E76382D2-16F2-4D91-9ACF-85956555B37C}"/>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2">
            <a:extLst>
              <a:ext uri="{FF2B5EF4-FFF2-40B4-BE49-F238E27FC236}">
                <a16:creationId xmlns:a16="http://schemas.microsoft.com/office/drawing/2014/main" xmlns="" id="{CEAFC3E1-B3B7-42DC-95D4-56F40F86F6D4}"/>
              </a:ext>
            </a:extLst>
          </p:cNvPr>
          <p:cNvSpPr>
            <a:spLocks noChangeArrowheads="1"/>
          </p:cNvSpPr>
          <p:nvPr/>
        </p:nvSpPr>
        <p:spPr bwMode="auto">
          <a:xfrm>
            <a:off x="1295400" y="4489450"/>
            <a:ext cx="153988" cy="180975"/>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3">
            <a:extLst>
              <a:ext uri="{FF2B5EF4-FFF2-40B4-BE49-F238E27FC236}">
                <a16:creationId xmlns:a16="http://schemas.microsoft.com/office/drawing/2014/main" xmlns="" id="{1CA4E850-99C0-4684-AD7B-26F1AD43AD90}"/>
              </a:ext>
            </a:extLst>
          </p:cNvPr>
          <p:cNvSpPr>
            <a:spLocks noChangeArrowheads="1"/>
          </p:cNvSpPr>
          <p:nvPr/>
        </p:nvSpPr>
        <p:spPr bwMode="auto">
          <a:xfrm>
            <a:off x="1219200" y="4608513"/>
            <a:ext cx="173038" cy="144462"/>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4">
            <a:extLst>
              <a:ext uri="{FF2B5EF4-FFF2-40B4-BE49-F238E27FC236}">
                <a16:creationId xmlns:a16="http://schemas.microsoft.com/office/drawing/2014/main" xmlns="" id="{FDEF00B1-D549-4C91-ACC5-CBA5D12AFDA1}"/>
              </a:ext>
            </a:extLst>
          </p:cNvPr>
          <p:cNvSpPr>
            <a:spLocks noChangeArrowheads="1"/>
          </p:cNvSpPr>
          <p:nvPr/>
        </p:nvSpPr>
        <p:spPr bwMode="auto">
          <a:xfrm>
            <a:off x="1395413" y="4314825"/>
            <a:ext cx="1508125" cy="355600"/>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5">
            <a:extLst>
              <a:ext uri="{FF2B5EF4-FFF2-40B4-BE49-F238E27FC236}">
                <a16:creationId xmlns:a16="http://schemas.microsoft.com/office/drawing/2014/main" xmlns="" id="{9A4E88C2-79ED-46D3-8955-2EA725F4CCAE}"/>
              </a:ext>
            </a:extLst>
          </p:cNvPr>
          <p:cNvSpPr>
            <a:spLocks noChangeArrowheads="1"/>
          </p:cNvSpPr>
          <p:nvPr/>
        </p:nvSpPr>
        <p:spPr bwMode="auto">
          <a:xfrm>
            <a:off x="1735138" y="3184525"/>
            <a:ext cx="919162" cy="1143000"/>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6">
            <a:extLst>
              <a:ext uri="{FF2B5EF4-FFF2-40B4-BE49-F238E27FC236}">
                <a16:creationId xmlns:a16="http://schemas.microsoft.com/office/drawing/2014/main" xmlns="" id="{F8F1ABD8-8DCF-42BE-A3B4-6BA4C65C9F67}"/>
              </a:ext>
            </a:extLst>
          </p:cNvPr>
          <p:cNvSpPr>
            <a:spLocks noChangeArrowheads="1"/>
          </p:cNvSpPr>
          <p:nvPr/>
        </p:nvSpPr>
        <p:spPr bwMode="auto">
          <a:xfrm>
            <a:off x="2597150" y="3460750"/>
            <a:ext cx="1555750" cy="373063"/>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0">
            <a:extLst>
              <a:ext uri="{FF2B5EF4-FFF2-40B4-BE49-F238E27FC236}">
                <a16:creationId xmlns:a16="http://schemas.microsoft.com/office/drawing/2014/main" xmlns="" id="{9B5C9F7F-2072-4A7C-B981-C041743A5DE0}"/>
              </a:ext>
            </a:extLst>
          </p:cNvPr>
          <p:cNvSpPr>
            <a:spLocks noEditPoints="1" noChangeArrowheads="1"/>
          </p:cNvSpPr>
          <p:nvPr/>
        </p:nvSpPr>
        <p:spPr bwMode="auto">
          <a:xfrm>
            <a:off x="3668713" y="25304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1">
            <a:extLst>
              <a:ext uri="{FF2B5EF4-FFF2-40B4-BE49-F238E27FC236}">
                <a16:creationId xmlns:a16="http://schemas.microsoft.com/office/drawing/2014/main" xmlns="" id="{E4D34405-0D6B-4B93-B1B5-D7E87BB9AB5F}"/>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2">
            <a:extLst>
              <a:ext uri="{FF2B5EF4-FFF2-40B4-BE49-F238E27FC236}">
                <a16:creationId xmlns:a16="http://schemas.microsoft.com/office/drawing/2014/main" xmlns="" id="{A22F668A-2AFA-4338-8247-881F24AC27FC}"/>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3">
            <a:extLst>
              <a:ext uri="{FF2B5EF4-FFF2-40B4-BE49-F238E27FC236}">
                <a16:creationId xmlns:a16="http://schemas.microsoft.com/office/drawing/2014/main" xmlns="" id="{467314C6-A86B-4F19-84CC-68BF3427848B}"/>
              </a:ext>
            </a:extLst>
          </p:cNvPr>
          <p:cNvSpPr>
            <a:spLocks noEditPoints="1" noChangeArrowheads="1"/>
          </p:cNvSpPr>
          <p:nvPr/>
        </p:nvSpPr>
        <p:spPr bwMode="auto">
          <a:xfrm>
            <a:off x="4206875" y="3544888"/>
            <a:ext cx="441325"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7">
            <a:extLst>
              <a:ext uri="{FF2B5EF4-FFF2-40B4-BE49-F238E27FC236}">
                <a16:creationId xmlns:a16="http://schemas.microsoft.com/office/drawing/2014/main" xmlns="" id="{1BF83113-19A6-46C9-9655-8F0017C40001}"/>
              </a:ext>
            </a:extLst>
          </p:cNvPr>
          <p:cNvSpPr>
            <a:spLocks noChangeArrowheads="1"/>
          </p:cNvSpPr>
          <p:nvPr/>
        </p:nvSpPr>
        <p:spPr bwMode="auto">
          <a:xfrm>
            <a:off x="3660775" y="2535238"/>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8">
            <a:extLst>
              <a:ext uri="{FF2B5EF4-FFF2-40B4-BE49-F238E27FC236}">
                <a16:creationId xmlns:a16="http://schemas.microsoft.com/office/drawing/2014/main" xmlns="" id="{D7C864B2-C3FD-471D-BB1D-6D5B010E7570}"/>
              </a:ext>
            </a:extLst>
          </p:cNvPr>
          <p:cNvSpPr>
            <a:spLocks noChangeArrowheads="1"/>
          </p:cNvSpPr>
          <p:nvPr/>
        </p:nvSpPr>
        <p:spPr bwMode="auto">
          <a:xfrm>
            <a:off x="3660775" y="2527300"/>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9">
            <a:extLst>
              <a:ext uri="{FF2B5EF4-FFF2-40B4-BE49-F238E27FC236}">
                <a16:creationId xmlns:a16="http://schemas.microsoft.com/office/drawing/2014/main" xmlns="" id="{98EC6CF7-E47F-4A0B-9369-2FB873D42C34}"/>
              </a:ext>
            </a:extLst>
          </p:cNvPr>
          <p:cNvSpPr>
            <a:spLocks noChangeArrowheads="1"/>
          </p:cNvSpPr>
          <p:nvPr/>
        </p:nvSpPr>
        <p:spPr bwMode="auto">
          <a:xfrm>
            <a:off x="3660775" y="2522538"/>
            <a:ext cx="1003300" cy="1192212"/>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0">
            <a:extLst>
              <a:ext uri="{FF2B5EF4-FFF2-40B4-BE49-F238E27FC236}">
                <a16:creationId xmlns:a16="http://schemas.microsoft.com/office/drawing/2014/main" xmlns="" id="{258615DC-1A0C-44BB-8ABD-36D8B7BCC5E2}"/>
              </a:ext>
            </a:extLst>
          </p:cNvPr>
          <p:cNvSpPr>
            <a:spLocks noEditPoints="1" noChangeArrowheads="1"/>
          </p:cNvSpPr>
          <p:nvPr/>
        </p:nvSpPr>
        <p:spPr bwMode="auto">
          <a:xfrm>
            <a:off x="3660775" y="2530475"/>
            <a:ext cx="7938" cy="4763"/>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4">
            <a:extLst>
              <a:ext uri="{FF2B5EF4-FFF2-40B4-BE49-F238E27FC236}">
                <a16:creationId xmlns:a16="http://schemas.microsoft.com/office/drawing/2014/main" xmlns="" id="{48873869-26AB-4A9F-A481-7C7111A2C7DB}"/>
              </a:ext>
            </a:extLst>
          </p:cNvPr>
          <p:cNvSpPr>
            <a:spLocks noEditPoints="1" noChangeArrowheads="1"/>
          </p:cNvSpPr>
          <p:nvPr/>
        </p:nvSpPr>
        <p:spPr bwMode="auto">
          <a:xfrm>
            <a:off x="3668713" y="2530475"/>
            <a:ext cx="979487"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2">
            <a:extLst>
              <a:ext uri="{FF2B5EF4-FFF2-40B4-BE49-F238E27FC236}">
                <a16:creationId xmlns:a16="http://schemas.microsoft.com/office/drawing/2014/main" xmlns="" id="{EC497003-DBD3-4806-BCA0-5CA18EFAEFF8}"/>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3">
            <a:extLst>
              <a:ext uri="{FF2B5EF4-FFF2-40B4-BE49-F238E27FC236}">
                <a16:creationId xmlns:a16="http://schemas.microsoft.com/office/drawing/2014/main" xmlns="" id="{B747C441-5A21-40AF-A711-EC145603DDCB}"/>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4">
            <a:extLst>
              <a:ext uri="{FF2B5EF4-FFF2-40B4-BE49-F238E27FC236}">
                <a16:creationId xmlns:a16="http://schemas.microsoft.com/office/drawing/2014/main" xmlns="" id="{4F3B3C19-8717-4B84-BAF1-F7E1213C12B1}"/>
              </a:ext>
            </a:extLst>
          </p:cNvPr>
          <p:cNvSpPr>
            <a:spLocks noEditPoints="1" noChangeArrowheads="1"/>
          </p:cNvSpPr>
          <p:nvPr/>
        </p:nvSpPr>
        <p:spPr bwMode="auto">
          <a:xfrm>
            <a:off x="2962275" y="4264025"/>
            <a:ext cx="438150" cy="15716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5">
            <a:extLst>
              <a:ext uri="{FF2B5EF4-FFF2-40B4-BE49-F238E27FC236}">
                <a16:creationId xmlns:a16="http://schemas.microsoft.com/office/drawing/2014/main" xmlns="" id="{45FD2AC0-4EE3-4E63-801A-6940FF69DE0C}"/>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6">
            <a:extLst>
              <a:ext uri="{FF2B5EF4-FFF2-40B4-BE49-F238E27FC236}">
                <a16:creationId xmlns:a16="http://schemas.microsoft.com/office/drawing/2014/main" xmlns="" id="{34844A0F-31A9-498B-AB22-9A3B9F429DAA}"/>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7">
            <a:extLst>
              <a:ext uri="{FF2B5EF4-FFF2-40B4-BE49-F238E27FC236}">
                <a16:creationId xmlns:a16="http://schemas.microsoft.com/office/drawing/2014/main" xmlns="" id="{0C9FE571-6504-4D50-95FA-C26A1E0FD13D}"/>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8">
            <a:extLst>
              <a:ext uri="{FF2B5EF4-FFF2-40B4-BE49-F238E27FC236}">
                <a16:creationId xmlns:a16="http://schemas.microsoft.com/office/drawing/2014/main" xmlns="" id="{235EC29E-561F-4502-A6EC-0476AB951EA5}"/>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8">
            <a:extLst>
              <a:ext uri="{FF2B5EF4-FFF2-40B4-BE49-F238E27FC236}">
                <a16:creationId xmlns:a16="http://schemas.microsoft.com/office/drawing/2014/main" xmlns="" id="{AE44EABA-F0D6-48DC-9067-7D8D8D01BBBD}"/>
              </a:ext>
            </a:extLst>
          </p:cNvPr>
          <p:cNvSpPr>
            <a:spLocks noChangeArrowheads="1"/>
          </p:cNvSpPr>
          <p:nvPr/>
        </p:nvSpPr>
        <p:spPr bwMode="auto">
          <a:xfrm>
            <a:off x="2414588" y="3217863"/>
            <a:ext cx="1047750" cy="12334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9">
            <a:extLst>
              <a:ext uri="{FF2B5EF4-FFF2-40B4-BE49-F238E27FC236}">
                <a16:creationId xmlns:a16="http://schemas.microsoft.com/office/drawing/2014/main" xmlns="" id="{FA0F6601-90E8-4201-8DC9-55A6E6826EAD}"/>
              </a:ext>
            </a:extLst>
          </p:cNvPr>
          <p:cNvSpPr>
            <a:spLocks noEditPoints="1" noChangeArrowheads="1"/>
          </p:cNvSpPr>
          <p:nvPr/>
        </p:nvSpPr>
        <p:spPr bwMode="auto">
          <a:xfrm>
            <a:off x="2414588" y="3217863"/>
            <a:ext cx="1047750" cy="12334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0">
            <a:extLst>
              <a:ext uri="{FF2B5EF4-FFF2-40B4-BE49-F238E27FC236}">
                <a16:creationId xmlns:a16="http://schemas.microsoft.com/office/drawing/2014/main" xmlns="" id="{685DC869-5BF0-4A5C-92C1-825CFA31CF73}"/>
              </a:ext>
            </a:extLst>
          </p:cNvPr>
          <p:cNvSpPr>
            <a:spLocks noChangeArrowheads="1"/>
          </p:cNvSpPr>
          <p:nvPr/>
        </p:nvSpPr>
        <p:spPr bwMode="auto">
          <a:xfrm>
            <a:off x="2401888" y="3241675"/>
            <a:ext cx="998537" cy="12223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1">
            <a:extLst>
              <a:ext uri="{FF2B5EF4-FFF2-40B4-BE49-F238E27FC236}">
                <a16:creationId xmlns:a16="http://schemas.microsoft.com/office/drawing/2014/main" xmlns="" id="{E4392ACA-855B-4EE2-9DE7-50DE9DA824D3}"/>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5">
            <a:extLst>
              <a:ext uri="{FF2B5EF4-FFF2-40B4-BE49-F238E27FC236}">
                <a16:creationId xmlns:a16="http://schemas.microsoft.com/office/drawing/2014/main" xmlns="" id="{2CC41932-B45C-4518-B132-5AB45491DA36}"/>
              </a:ext>
            </a:extLst>
          </p:cNvPr>
          <p:cNvSpPr>
            <a:spLocks noChangeArrowheads="1"/>
          </p:cNvSpPr>
          <p:nvPr/>
        </p:nvSpPr>
        <p:spPr bwMode="auto">
          <a:xfrm>
            <a:off x="2389188" y="3262313"/>
            <a:ext cx="985837" cy="1195387"/>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8">
            <a:extLst>
              <a:ext uri="{FF2B5EF4-FFF2-40B4-BE49-F238E27FC236}">
                <a16:creationId xmlns:a16="http://schemas.microsoft.com/office/drawing/2014/main" xmlns="" id="{4CB39093-5ACA-46CC-8444-43366D098E07}"/>
              </a:ext>
            </a:extLst>
          </p:cNvPr>
          <p:cNvSpPr>
            <a:spLocks noChangeArrowheads="1"/>
          </p:cNvSpPr>
          <p:nvPr/>
        </p:nvSpPr>
        <p:spPr bwMode="auto">
          <a:xfrm>
            <a:off x="2414588" y="3252788"/>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9">
            <a:extLst>
              <a:ext uri="{FF2B5EF4-FFF2-40B4-BE49-F238E27FC236}">
                <a16:creationId xmlns:a16="http://schemas.microsoft.com/office/drawing/2014/main" xmlns="" id="{F9D766FB-DE9B-4F4A-98DF-AB1A6C892658}"/>
              </a:ext>
            </a:extLst>
          </p:cNvPr>
          <p:cNvSpPr>
            <a:spLocks noChangeArrowheads="1"/>
          </p:cNvSpPr>
          <p:nvPr/>
        </p:nvSpPr>
        <p:spPr bwMode="auto">
          <a:xfrm>
            <a:off x="2414588" y="3246438"/>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0">
            <a:extLst>
              <a:ext uri="{FF2B5EF4-FFF2-40B4-BE49-F238E27FC236}">
                <a16:creationId xmlns:a16="http://schemas.microsoft.com/office/drawing/2014/main" xmlns="" id="{7D1C4006-8482-4DB8-88E9-3934F97DA4D3}"/>
              </a:ext>
            </a:extLst>
          </p:cNvPr>
          <p:cNvSpPr>
            <a:spLocks noChangeArrowheads="1"/>
          </p:cNvSpPr>
          <p:nvPr/>
        </p:nvSpPr>
        <p:spPr bwMode="auto">
          <a:xfrm>
            <a:off x="2414588" y="3241675"/>
            <a:ext cx="1004887" cy="11938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1">
            <a:extLst>
              <a:ext uri="{FF2B5EF4-FFF2-40B4-BE49-F238E27FC236}">
                <a16:creationId xmlns:a16="http://schemas.microsoft.com/office/drawing/2014/main" xmlns="" id="{4D0D5918-119E-4D26-BD83-B2C7ABD74FBD}"/>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Rectangle 182">
            <a:extLst>
              <a:ext uri="{FF2B5EF4-FFF2-40B4-BE49-F238E27FC236}">
                <a16:creationId xmlns:a16="http://schemas.microsoft.com/office/drawing/2014/main" xmlns="" id="{AE613C82-F884-4DC9-9277-4B21560BCF3E}"/>
              </a:ext>
            </a:extLst>
          </p:cNvPr>
          <p:cNvSpPr>
            <a:spLocks noChangeArrowheads="1"/>
          </p:cNvSpPr>
          <p:nvPr/>
        </p:nvSpPr>
        <p:spPr bwMode="auto">
          <a:xfrm>
            <a:off x="2414588" y="3255963"/>
            <a:ext cx="1587"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183">
            <a:extLst>
              <a:ext uri="{FF2B5EF4-FFF2-40B4-BE49-F238E27FC236}">
                <a16:creationId xmlns:a16="http://schemas.microsoft.com/office/drawing/2014/main" xmlns="" id="{D8756AA1-23A1-4CA0-B349-3C9C35AB2FAA}"/>
              </a:ext>
            </a:extLst>
          </p:cNvPr>
          <p:cNvSpPr>
            <a:spLocks noChangeArrowheads="1"/>
          </p:cNvSpPr>
          <p:nvPr/>
        </p:nvSpPr>
        <p:spPr bwMode="auto">
          <a:xfrm>
            <a:off x="2414588" y="3255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6">
            <a:extLst>
              <a:ext uri="{FF2B5EF4-FFF2-40B4-BE49-F238E27FC236}">
                <a16:creationId xmlns:a16="http://schemas.microsoft.com/office/drawing/2014/main" xmlns="" id="{BE9BDD4E-EDB3-44C0-93CF-B76D90F851C8}"/>
              </a:ext>
            </a:extLst>
          </p:cNvPr>
          <p:cNvSpPr>
            <a:spLocks noChangeArrowheads="1"/>
          </p:cNvSpPr>
          <p:nvPr/>
        </p:nvSpPr>
        <p:spPr bwMode="auto">
          <a:xfrm>
            <a:off x="2422525" y="3246438"/>
            <a:ext cx="993775" cy="12017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7">
            <a:extLst>
              <a:ext uri="{FF2B5EF4-FFF2-40B4-BE49-F238E27FC236}">
                <a16:creationId xmlns:a16="http://schemas.microsoft.com/office/drawing/2014/main" xmlns="" id="{A5B9303C-609D-4806-A6F2-A51E180B570F}"/>
              </a:ext>
            </a:extLst>
          </p:cNvPr>
          <p:cNvSpPr>
            <a:spLocks noEditPoints="1" noChangeArrowheads="1"/>
          </p:cNvSpPr>
          <p:nvPr/>
        </p:nvSpPr>
        <p:spPr bwMode="auto">
          <a:xfrm>
            <a:off x="2422525" y="3252788"/>
            <a:ext cx="977900" cy="11953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09">
            <a:extLst>
              <a:ext uri="{FF2B5EF4-FFF2-40B4-BE49-F238E27FC236}">
                <a16:creationId xmlns:a16="http://schemas.microsoft.com/office/drawing/2014/main" xmlns="" id="{74F8F791-0B62-4827-B2F1-D0504FE0E10E}"/>
              </a:ext>
            </a:extLst>
          </p:cNvPr>
          <p:cNvSpPr>
            <a:spLocks noEditPoints="1" noChangeArrowheads="1"/>
          </p:cNvSpPr>
          <p:nvPr/>
        </p:nvSpPr>
        <p:spPr bwMode="auto">
          <a:xfrm>
            <a:off x="3143250" y="3263900"/>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7">
            <a:extLst>
              <a:ext uri="{FF2B5EF4-FFF2-40B4-BE49-F238E27FC236}">
                <a16:creationId xmlns:a16="http://schemas.microsoft.com/office/drawing/2014/main" xmlns="" id="{11EC5DF8-5E89-496F-8081-5FB743F474F8}"/>
              </a:ext>
            </a:extLst>
          </p:cNvPr>
          <p:cNvSpPr>
            <a:spLocks noChangeArrowheads="1"/>
          </p:cNvSpPr>
          <p:nvPr/>
        </p:nvSpPr>
        <p:spPr bwMode="auto">
          <a:xfrm>
            <a:off x="2443163" y="2514600"/>
            <a:ext cx="123825" cy="180975"/>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8">
            <a:extLst>
              <a:ext uri="{FF2B5EF4-FFF2-40B4-BE49-F238E27FC236}">
                <a16:creationId xmlns:a16="http://schemas.microsoft.com/office/drawing/2014/main" xmlns="" id="{6E73F24A-6E9E-4B84-9E02-F5629523D8F4}"/>
              </a:ext>
            </a:extLst>
          </p:cNvPr>
          <p:cNvSpPr>
            <a:spLocks noChangeArrowheads="1"/>
          </p:cNvSpPr>
          <p:nvPr/>
        </p:nvSpPr>
        <p:spPr bwMode="auto">
          <a:xfrm>
            <a:off x="2597150" y="2600325"/>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9">
            <a:extLst>
              <a:ext uri="{FF2B5EF4-FFF2-40B4-BE49-F238E27FC236}">
                <a16:creationId xmlns:a16="http://schemas.microsoft.com/office/drawing/2014/main" xmlns="" id="{BFACD187-1051-4D82-8320-1DAAC7A8FD01}"/>
              </a:ext>
            </a:extLst>
          </p:cNvPr>
          <p:cNvSpPr>
            <a:spLocks noChangeArrowheads="1"/>
          </p:cNvSpPr>
          <p:nvPr/>
        </p:nvSpPr>
        <p:spPr bwMode="auto">
          <a:xfrm>
            <a:off x="2746375" y="2687638"/>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 name="组合 87">
            <a:extLst>
              <a:ext uri="{FF2B5EF4-FFF2-40B4-BE49-F238E27FC236}">
                <a16:creationId xmlns:a16="http://schemas.microsoft.com/office/drawing/2014/main" xmlns="" id="{9BF249A1-4B86-4E76-BEEA-C488BE876470}"/>
              </a:ext>
            </a:extLst>
          </p:cNvPr>
          <p:cNvGrpSpPr>
            <a:grpSpLocks/>
          </p:cNvGrpSpPr>
          <p:nvPr/>
        </p:nvGrpSpPr>
        <p:grpSpPr bwMode="auto">
          <a:xfrm>
            <a:off x="3649663" y="2506663"/>
            <a:ext cx="1073150" cy="1244600"/>
            <a:chOff x="5332731" y="3343275"/>
            <a:chExt cx="855345" cy="992188"/>
          </a:xfrm>
        </p:grpSpPr>
        <p:sp>
          <p:nvSpPr>
            <p:cNvPr id="93" name="Freeform 168">
              <a:extLst>
                <a:ext uri="{FF2B5EF4-FFF2-40B4-BE49-F238E27FC236}">
                  <a16:creationId xmlns:a16="http://schemas.microsoft.com/office/drawing/2014/main" xmlns="" id="{CE1CA0CA-5096-44EA-8D87-2E4D1DA89D8A}"/>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3FF06F4-C87D-42E3-B462-6C99F9C19E98}"/>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C763CF50-EE1F-446E-A897-0607512BE836}"/>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9E220766-4E47-4AB6-B40C-DF1BA1E36585}"/>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CBAE04A0-1673-4DA8-ADD1-7F75FC0B97DD}"/>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BFAA404D-07BC-435C-92F1-7EAC66343258}"/>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D490FBBA-3B99-4D1F-8880-ED9BBB009A35}"/>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05706127-DCED-4513-840A-3BD3AB114F46}"/>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2EC828FC-01D2-484F-9636-FEE3D4CC282C}"/>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66AE8E7E-FFF4-4CCB-8979-7822DC9ACC1D}"/>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8676D9B5-53AC-4347-9C36-47D1E2013766}"/>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BB5420F2-868C-45B1-BAC0-89DC0CF6F05F}"/>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212E335B-E0EE-4EA2-8379-C441DD026D17}"/>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245FF98-59F8-42A9-8B51-D1B16ADCEA8A}"/>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7" name="Freeform 168">
            <a:extLst>
              <a:ext uri="{FF2B5EF4-FFF2-40B4-BE49-F238E27FC236}">
                <a16:creationId xmlns:a16="http://schemas.microsoft.com/office/drawing/2014/main" xmlns="" id="{C0745924-2690-4861-BFA6-57FA63001986}"/>
              </a:ext>
            </a:extLst>
          </p:cNvPr>
          <p:cNvSpPr>
            <a:spLocks noChangeArrowheads="1"/>
          </p:cNvSpPr>
          <p:nvPr/>
        </p:nvSpPr>
        <p:spPr bwMode="auto">
          <a:xfrm>
            <a:off x="2181225" y="2065338"/>
            <a:ext cx="1047750" cy="123190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3BA63241-B4F6-41AD-8097-BA7F17D98089}"/>
              </a:ext>
            </a:extLst>
          </p:cNvPr>
          <p:cNvSpPr>
            <a:spLocks noEditPoints="1" noChangeArrowheads="1"/>
          </p:cNvSpPr>
          <p:nvPr/>
        </p:nvSpPr>
        <p:spPr bwMode="auto">
          <a:xfrm>
            <a:off x="2181225" y="2065338"/>
            <a:ext cx="1047750" cy="123190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EE9F85AD-BD72-44CB-8220-D182FCEE2724}"/>
              </a:ext>
            </a:extLst>
          </p:cNvPr>
          <p:cNvSpPr>
            <a:spLocks noChangeArrowheads="1"/>
          </p:cNvSpPr>
          <p:nvPr/>
        </p:nvSpPr>
        <p:spPr bwMode="auto">
          <a:xfrm>
            <a:off x="2168525" y="2089150"/>
            <a:ext cx="998538" cy="12207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F9ED6832-E143-46A5-BEDE-DB6969F31A0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2A5206FA-8AC0-4D97-B849-CB9E5D956C21}"/>
              </a:ext>
            </a:extLst>
          </p:cNvPr>
          <p:cNvSpPr>
            <a:spLocks noChangeArrowheads="1"/>
          </p:cNvSpPr>
          <p:nvPr/>
        </p:nvSpPr>
        <p:spPr bwMode="auto">
          <a:xfrm>
            <a:off x="2155825" y="2108200"/>
            <a:ext cx="985838" cy="1195388"/>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0B844651-D0F8-4D4A-8564-83B4253D7942}"/>
              </a:ext>
            </a:extLst>
          </p:cNvPr>
          <p:cNvSpPr>
            <a:spLocks noChangeArrowheads="1"/>
          </p:cNvSpPr>
          <p:nvPr/>
        </p:nvSpPr>
        <p:spPr bwMode="auto">
          <a:xfrm>
            <a:off x="2181225" y="2098675"/>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2FB07380-BAF5-4752-BF7D-B046D6DD3036}"/>
              </a:ext>
            </a:extLst>
          </p:cNvPr>
          <p:cNvSpPr>
            <a:spLocks noChangeArrowheads="1"/>
          </p:cNvSpPr>
          <p:nvPr/>
        </p:nvSpPr>
        <p:spPr bwMode="auto">
          <a:xfrm>
            <a:off x="2181225" y="2092325"/>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5054D291-0697-4316-8BCA-AF35364DF7E0}"/>
              </a:ext>
            </a:extLst>
          </p:cNvPr>
          <p:cNvSpPr>
            <a:spLocks noChangeArrowheads="1"/>
          </p:cNvSpPr>
          <p:nvPr/>
        </p:nvSpPr>
        <p:spPr bwMode="auto">
          <a:xfrm>
            <a:off x="2181225" y="2089150"/>
            <a:ext cx="1004888" cy="11922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34CE39BF-0A01-457A-B10F-2271DE79115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5AB752B0-98E4-4536-A922-C0F815996C09}"/>
              </a:ext>
            </a:extLst>
          </p:cNvPr>
          <p:cNvSpPr>
            <a:spLocks noChangeArrowheads="1"/>
          </p:cNvSpPr>
          <p:nvPr/>
        </p:nvSpPr>
        <p:spPr bwMode="auto">
          <a:xfrm>
            <a:off x="2181225" y="2101850"/>
            <a:ext cx="1588"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1FB66A94-FBB2-4076-9F76-9E9EAAC5E2E5}"/>
              </a:ext>
            </a:extLst>
          </p:cNvPr>
          <p:cNvSpPr>
            <a:spLocks noChangeArrowheads="1"/>
          </p:cNvSpPr>
          <p:nvPr/>
        </p:nvSpPr>
        <p:spPr bwMode="auto">
          <a:xfrm>
            <a:off x="2181225" y="2101850"/>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59541746-04EE-4389-A2E2-39D3E067B698}"/>
              </a:ext>
            </a:extLst>
          </p:cNvPr>
          <p:cNvSpPr>
            <a:spLocks noChangeArrowheads="1"/>
          </p:cNvSpPr>
          <p:nvPr/>
        </p:nvSpPr>
        <p:spPr bwMode="auto">
          <a:xfrm>
            <a:off x="2189163" y="2092325"/>
            <a:ext cx="993775" cy="12017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895B4344-C9C8-4955-9C22-E848BB0EBB99}"/>
              </a:ext>
            </a:extLst>
          </p:cNvPr>
          <p:cNvSpPr>
            <a:spLocks noEditPoints="1" noChangeArrowheads="1"/>
          </p:cNvSpPr>
          <p:nvPr/>
        </p:nvSpPr>
        <p:spPr bwMode="auto">
          <a:xfrm>
            <a:off x="2189163" y="2098675"/>
            <a:ext cx="977900"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2691B07F-7AEB-44A0-B4AE-1AF0FF1D0D83}"/>
              </a:ext>
            </a:extLst>
          </p:cNvPr>
          <p:cNvSpPr>
            <a:spLocks noEditPoints="1" noChangeArrowheads="1"/>
          </p:cNvSpPr>
          <p:nvPr/>
        </p:nvSpPr>
        <p:spPr bwMode="auto">
          <a:xfrm>
            <a:off x="2909888" y="2109788"/>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B2E26C0-A535-4D34-870F-2DC9AB8C3E63}"/>
              </a:ext>
            </a:extLst>
          </p:cNvPr>
          <p:cNvSpPr>
            <a:spLocks noChangeArrowheads="1"/>
          </p:cNvSpPr>
          <p:nvPr userDrawn="1"/>
        </p:nvSpPr>
        <p:spPr bwMode="auto">
          <a:xfrm>
            <a:off x="2617788" y="3695700"/>
            <a:ext cx="568325" cy="387350"/>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BF2DDFB1-6C1B-4514-9752-CFBF77FA25B1}"/>
              </a:ext>
            </a:extLst>
          </p:cNvPr>
          <p:cNvSpPr/>
          <p:nvPr userDrawn="1"/>
        </p:nvSpPr>
        <p:spPr bwMode="auto">
          <a:xfrm>
            <a:off x="2508250" y="2522538"/>
            <a:ext cx="341313" cy="444500"/>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3" name="increasing-stocks-graphic_38888">
            <a:extLst>
              <a:ext uri="{FF2B5EF4-FFF2-40B4-BE49-F238E27FC236}">
                <a16:creationId xmlns:a16="http://schemas.microsoft.com/office/drawing/2014/main" xmlns="" id="{7B945D96-5651-4B79-8CB4-95DD4AD24423}"/>
              </a:ext>
            </a:extLst>
          </p:cNvPr>
          <p:cNvSpPr>
            <a:spLocks noChangeAspect="1" noChangeArrowheads="1"/>
          </p:cNvSpPr>
          <p:nvPr userDrawn="1"/>
        </p:nvSpPr>
        <p:spPr bwMode="auto">
          <a:xfrm>
            <a:off x="3951288" y="2970213"/>
            <a:ext cx="347662" cy="34290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4" name="组合 123">
            <a:extLst>
              <a:ext uri="{FF2B5EF4-FFF2-40B4-BE49-F238E27FC236}">
                <a16:creationId xmlns:a16="http://schemas.microsoft.com/office/drawing/2014/main" xmlns="" id="{408B5205-2A4B-456E-8135-3354FC249D20}"/>
              </a:ext>
            </a:extLst>
          </p:cNvPr>
          <p:cNvGrpSpPr/>
          <p:nvPr/>
        </p:nvGrpSpPr>
        <p:grpSpPr>
          <a:xfrm>
            <a:off x="937172" y="1836665"/>
            <a:ext cx="10459150" cy="3921025"/>
            <a:chOff x="1728788" y="7356475"/>
            <a:chExt cx="10683874" cy="4005263"/>
          </a:xfrm>
          <a:solidFill>
            <a:schemeClr val="bg1">
              <a:alpha val="20000"/>
            </a:schemeClr>
          </a:solidFill>
        </p:grpSpPr>
        <p:sp>
          <p:nvSpPr>
            <p:cNvPr id="125" name="Freeform 192">
              <a:extLst>
                <a:ext uri="{FF2B5EF4-FFF2-40B4-BE49-F238E27FC236}">
                  <a16:creationId xmlns:a16="http://schemas.microsoft.com/office/drawing/2014/main" xmlns="" id="{58A50D4B-E781-4B8E-B0B8-717CFC9A36B8}"/>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6" name="Freeform 193">
              <a:extLst>
                <a:ext uri="{FF2B5EF4-FFF2-40B4-BE49-F238E27FC236}">
                  <a16:creationId xmlns:a16="http://schemas.microsoft.com/office/drawing/2014/main" xmlns="" id="{42C3B884-6BFA-42E8-B0D5-E83D66B476DD}"/>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7" name="Freeform 194">
              <a:extLst>
                <a:ext uri="{FF2B5EF4-FFF2-40B4-BE49-F238E27FC236}">
                  <a16:creationId xmlns:a16="http://schemas.microsoft.com/office/drawing/2014/main" xmlns="" id="{AC649642-D428-4D63-A6C3-FCE5F6FC2ECD}"/>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8" name="Freeform 195">
              <a:extLst>
                <a:ext uri="{FF2B5EF4-FFF2-40B4-BE49-F238E27FC236}">
                  <a16:creationId xmlns:a16="http://schemas.microsoft.com/office/drawing/2014/main" xmlns="" id="{B582B9E6-10D1-4810-BDCB-33CEB9AE5C13}"/>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9" name="Freeform 196">
              <a:extLst>
                <a:ext uri="{FF2B5EF4-FFF2-40B4-BE49-F238E27FC236}">
                  <a16:creationId xmlns:a16="http://schemas.microsoft.com/office/drawing/2014/main" xmlns="" id="{2D64AF32-6592-48F7-8F90-F628B250CB1A}"/>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30" name="Freeform 197">
              <a:extLst>
                <a:ext uri="{FF2B5EF4-FFF2-40B4-BE49-F238E27FC236}">
                  <a16:creationId xmlns:a16="http://schemas.microsoft.com/office/drawing/2014/main" xmlns="" id="{C7B7BC44-F60B-4CFC-A762-DC1B77B90055}"/>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1" name="Freeform 198">
              <a:extLst>
                <a:ext uri="{FF2B5EF4-FFF2-40B4-BE49-F238E27FC236}">
                  <a16:creationId xmlns:a16="http://schemas.microsoft.com/office/drawing/2014/main" xmlns="" id="{D1A0F323-7BE9-4760-A08B-DC0C71F82299}"/>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2" name="Freeform 199">
              <a:extLst>
                <a:ext uri="{FF2B5EF4-FFF2-40B4-BE49-F238E27FC236}">
                  <a16:creationId xmlns:a16="http://schemas.microsoft.com/office/drawing/2014/main" xmlns="" id="{573B7176-9E7C-4448-8B97-7BC840646C44}"/>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3" name="Freeform 200">
              <a:extLst>
                <a:ext uri="{FF2B5EF4-FFF2-40B4-BE49-F238E27FC236}">
                  <a16:creationId xmlns:a16="http://schemas.microsoft.com/office/drawing/2014/main" xmlns="" id="{25B855A5-D691-4AB7-80BC-8C8ABA078521}"/>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4" name="Freeform 201">
              <a:extLst>
                <a:ext uri="{FF2B5EF4-FFF2-40B4-BE49-F238E27FC236}">
                  <a16:creationId xmlns:a16="http://schemas.microsoft.com/office/drawing/2014/main" xmlns="" id="{0E66EEBF-B104-499C-99BF-2232A7CFAA86}"/>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5" name="Freeform 202">
              <a:extLst>
                <a:ext uri="{FF2B5EF4-FFF2-40B4-BE49-F238E27FC236}">
                  <a16:creationId xmlns:a16="http://schemas.microsoft.com/office/drawing/2014/main" xmlns="" id="{C46644B0-DEA0-494B-80FF-FF2998E8968E}"/>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6" name="Freeform 203">
              <a:extLst>
                <a:ext uri="{FF2B5EF4-FFF2-40B4-BE49-F238E27FC236}">
                  <a16:creationId xmlns:a16="http://schemas.microsoft.com/office/drawing/2014/main" xmlns="" id="{84843ED1-8455-4781-88CA-CEDE3EA329A2}"/>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7" name="Freeform 204">
              <a:extLst>
                <a:ext uri="{FF2B5EF4-FFF2-40B4-BE49-F238E27FC236}">
                  <a16:creationId xmlns:a16="http://schemas.microsoft.com/office/drawing/2014/main" xmlns="" id="{2794E835-85EE-4FB3-B9C5-7B829D44182B}"/>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8" name="Freeform 205">
              <a:extLst>
                <a:ext uri="{FF2B5EF4-FFF2-40B4-BE49-F238E27FC236}">
                  <a16:creationId xmlns:a16="http://schemas.microsoft.com/office/drawing/2014/main" xmlns="" id="{A6A96DDD-881F-4933-8141-B1079D43E40D}"/>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9" name="Freeform 206">
              <a:extLst>
                <a:ext uri="{FF2B5EF4-FFF2-40B4-BE49-F238E27FC236}">
                  <a16:creationId xmlns:a16="http://schemas.microsoft.com/office/drawing/2014/main" xmlns="" id="{91CCE4F0-4E3B-4FC0-9A28-7D5532D360C7}"/>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40" name="Freeform 207">
              <a:extLst>
                <a:ext uri="{FF2B5EF4-FFF2-40B4-BE49-F238E27FC236}">
                  <a16:creationId xmlns:a16="http://schemas.microsoft.com/office/drawing/2014/main" xmlns="" id="{7AD7E107-798E-44E5-9A60-81D6063E552F}"/>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1" name="Freeform 208">
              <a:extLst>
                <a:ext uri="{FF2B5EF4-FFF2-40B4-BE49-F238E27FC236}">
                  <a16:creationId xmlns:a16="http://schemas.microsoft.com/office/drawing/2014/main" xmlns="" id="{B6F24CC8-64D4-45EC-A81B-8E268510B2AE}"/>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2" name="Freeform 209">
              <a:extLst>
                <a:ext uri="{FF2B5EF4-FFF2-40B4-BE49-F238E27FC236}">
                  <a16:creationId xmlns:a16="http://schemas.microsoft.com/office/drawing/2014/main" xmlns="" id="{570606B0-14CE-456E-916D-7B0EF100926A}"/>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3" name="Freeform 210">
              <a:extLst>
                <a:ext uri="{FF2B5EF4-FFF2-40B4-BE49-F238E27FC236}">
                  <a16:creationId xmlns:a16="http://schemas.microsoft.com/office/drawing/2014/main" xmlns="" id="{21926438-26C9-485F-8528-D4EBD2FCD3BD}"/>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1">
              <a:extLst>
                <a:ext uri="{FF2B5EF4-FFF2-40B4-BE49-F238E27FC236}">
                  <a16:creationId xmlns:a16="http://schemas.microsoft.com/office/drawing/2014/main" xmlns="" id="{D6F8F4F0-E282-4028-BD0A-14FE37212B21}"/>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5" name="Freeform 212">
              <a:extLst>
                <a:ext uri="{FF2B5EF4-FFF2-40B4-BE49-F238E27FC236}">
                  <a16:creationId xmlns:a16="http://schemas.microsoft.com/office/drawing/2014/main" xmlns="" id="{49F2D76C-E743-4E53-BCD9-3B76409A0C70}"/>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6" name="Freeform 213">
              <a:extLst>
                <a:ext uri="{FF2B5EF4-FFF2-40B4-BE49-F238E27FC236}">
                  <a16:creationId xmlns:a16="http://schemas.microsoft.com/office/drawing/2014/main" xmlns="" id="{3EC33C70-C173-4119-886B-05C6A3FEE621}"/>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7" name="Freeform 214">
              <a:extLst>
                <a:ext uri="{FF2B5EF4-FFF2-40B4-BE49-F238E27FC236}">
                  <a16:creationId xmlns:a16="http://schemas.microsoft.com/office/drawing/2014/main" xmlns="" id="{5B0986E0-9102-4FE8-8A78-F43B1948E199}"/>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8" name="Freeform 215">
              <a:extLst>
                <a:ext uri="{FF2B5EF4-FFF2-40B4-BE49-F238E27FC236}">
                  <a16:creationId xmlns:a16="http://schemas.microsoft.com/office/drawing/2014/main" xmlns="" id="{4C2CE224-C3E4-435C-9E5F-DFAD396A9B39}"/>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9" name="Freeform 216">
              <a:extLst>
                <a:ext uri="{FF2B5EF4-FFF2-40B4-BE49-F238E27FC236}">
                  <a16:creationId xmlns:a16="http://schemas.microsoft.com/office/drawing/2014/main" xmlns="" id="{3EE7E84E-9FDD-4C43-AEB8-3A0270CCBEF0}"/>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50" name="Freeform 217">
              <a:extLst>
                <a:ext uri="{FF2B5EF4-FFF2-40B4-BE49-F238E27FC236}">
                  <a16:creationId xmlns:a16="http://schemas.microsoft.com/office/drawing/2014/main" xmlns="" id="{9076291C-4C90-4904-AF06-A94D0A908F24}"/>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1" name="Freeform 218">
              <a:extLst>
                <a:ext uri="{FF2B5EF4-FFF2-40B4-BE49-F238E27FC236}">
                  <a16:creationId xmlns:a16="http://schemas.microsoft.com/office/drawing/2014/main" xmlns="" id="{77350675-95D4-42C4-937D-B9404ED3D214}"/>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2" name="Freeform 219">
              <a:extLst>
                <a:ext uri="{FF2B5EF4-FFF2-40B4-BE49-F238E27FC236}">
                  <a16:creationId xmlns:a16="http://schemas.microsoft.com/office/drawing/2014/main" xmlns="" id="{F4C520F9-6C53-4FC2-AE08-184ABD428A0A}"/>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3" name="Freeform 220">
              <a:extLst>
                <a:ext uri="{FF2B5EF4-FFF2-40B4-BE49-F238E27FC236}">
                  <a16:creationId xmlns:a16="http://schemas.microsoft.com/office/drawing/2014/main" xmlns="" id="{51775C85-78BA-4BC7-9DA7-E65A8D3570D1}"/>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4" name="Freeform 221">
              <a:extLst>
                <a:ext uri="{FF2B5EF4-FFF2-40B4-BE49-F238E27FC236}">
                  <a16:creationId xmlns:a16="http://schemas.microsoft.com/office/drawing/2014/main" xmlns="" id="{066B28FA-F507-4F6A-866B-CBEEE43D6578}"/>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5" name="Freeform 222">
              <a:extLst>
                <a:ext uri="{FF2B5EF4-FFF2-40B4-BE49-F238E27FC236}">
                  <a16:creationId xmlns:a16="http://schemas.microsoft.com/office/drawing/2014/main" xmlns="" id="{9BA823AC-0A54-4561-9AF2-6668DED5210E}"/>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6" name="Freeform 223">
              <a:extLst>
                <a:ext uri="{FF2B5EF4-FFF2-40B4-BE49-F238E27FC236}">
                  <a16:creationId xmlns:a16="http://schemas.microsoft.com/office/drawing/2014/main" xmlns="" id="{CD76A1BD-849B-40B9-8635-849C526453AC}"/>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7" name="Freeform 224">
              <a:extLst>
                <a:ext uri="{FF2B5EF4-FFF2-40B4-BE49-F238E27FC236}">
                  <a16:creationId xmlns:a16="http://schemas.microsoft.com/office/drawing/2014/main" xmlns="" id="{2A0EB56E-B765-4A6E-9CB1-93948BBDAD6D}"/>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8" name="Freeform 225">
              <a:extLst>
                <a:ext uri="{FF2B5EF4-FFF2-40B4-BE49-F238E27FC236}">
                  <a16:creationId xmlns:a16="http://schemas.microsoft.com/office/drawing/2014/main" xmlns="" id="{8C224592-BDF6-4F7C-8D70-391E726A53BB}"/>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9" name="Freeform 226">
              <a:extLst>
                <a:ext uri="{FF2B5EF4-FFF2-40B4-BE49-F238E27FC236}">
                  <a16:creationId xmlns:a16="http://schemas.microsoft.com/office/drawing/2014/main" xmlns="" id="{643D17BB-AB5D-40B5-B26F-B16C717896EA}"/>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60" name="Freeform 227">
              <a:extLst>
                <a:ext uri="{FF2B5EF4-FFF2-40B4-BE49-F238E27FC236}">
                  <a16:creationId xmlns:a16="http://schemas.microsoft.com/office/drawing/2014/main" xmlns="" id="{B15EAFBD-9DE6-430C-9E4C-0D0EC0E1350A}"/>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1" name="Freeform 228">
              <a:extLst>
                <a:ext uri="{FF2B5EF4-FFF2-40B4-BE49-F238E27FC236}">
                  <a16:creationId xmlns:a16="http://schemas.microsoft.com/office/drawing/2014/main" xmlns="" id="{1EE8533E-7B34-4C1A-9D4C-F3F650020B8E}"/>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2" name="Freeform 229">
              <a:extLst>
                <a:ext uri="{FF2B5EF4-FFF2-40B4-BE49-F238E27FC236}">
                  <a16:creationId xmlns:a16="http://schemas.microsoft.com/office/drawing/2014/main" xmlns="" id="{AA8EB42A-15EF-4218-9E89-09E076600191}"/>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3" name="Freeform 230">
              <a:extLst>
                <a:ext uri="{FF2B5EF4-FFF2-40B4-BE49-F238E27FC236}">
                  <a16:creationId xmlns:a16="http://schemas.microsoft.com/office/drawing/2014/main" xmlns="" id="{F00CE7C7-86EA-4002-BE71-087D77E8B173}"/>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4" name="Freeform 231">
              <a:extLst>
                <a:ext uri="{FF2B5EF4-FFF2-40B4-BE49-F238E27FC236}">
                  <a16:creationId xmlns:a16="http://schemas.microsoft.com/office/drawing/2014/main" xmlns="" id="{E3C7619A-36B1-4B70-8DF7-CCC35E451F7E}"/>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13" name="标题 1"/>
          <p:cNvSpPr>
            <a:spLocks noGrp="1"/>
          </p:cNvSpPr>
          <p:nvPr userDrawn="1">
            <p:ph type="ctrTitle" hasCustomPrompt="1"/>
          </p:nvPr>
        </p:nvSpPr>
        <p:spPr>
          <a:xfrm>
            <a:off x="6283316" y="2193080"/>
            <a:ext cx="4950229" cy="1621509"/>
          </a:xfrm>
        </p:spPr>
        <p:txBody>
          <a:bodyPr>
            <a:noAutofit/>
          </a:bodyPr>
          <a:lstStyle>
            <a:lvl1pPr marL="0" indent="0" algn="l">
              <a:buFont typeface="Arial" panose="020B0604020202020204" pitchFamily="34" charset="0"/>
              <a:buNone/>
              <a:defRPr sz="8800">
                <a:solidFill>
                  <a:schemeClr val="bg1"/>
                </a:solidFill>
              </a:defRPr>
            </a:lvl1pPr>
          </a:lstStyle>
          <a:p>
            <a:r>
              <a:rPr lang="en-US" altLang="zh-CN" noProof="1"/>
              <a:t>Thanks</a:t>
            </a:r>
            <a:endParaRPr lang="zh-CN" altLang="en-US" noProof="1"/>
          </a:p>
        </p:txBody>
      </p:sp>
      <p:sp>
        <p:nvSpPr>
          <p:cNvPr id="15" name="文本占位符 62"/>
          <p:cNvSpPr>
            <a:spLocks noGrp="1"/>
          </p:cNvSpPr>
          <p:nvPr userDrawn="1">
            <p:ph type="body" sz="quarter" idx="18" hasCustomPrompt="1"/>
          </p:nvPr>
        </p:nvSpPr>
        <p:spPr>
          <a:xfrm>
            <a:off x="6283316" y="4499316"/>
            <a:ext cx="4950229" cy="310871"/>
          </a:xfrm>
        </p:spPr>
        <p:txBody>
          <a:bodyPr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noProof="1"/>
              <a:t>Data</a:t>
            </a:r>
          </a:p>
        </p:txBody>
      </p:sp>
      <p:sp>
        <p:nvSpPr>
          <p:cNvPr id="6" name="文本占位符 13"/>
          <p:cNvSpPr>
            <a:spLocks noGrp="1"/>
          </p:cNvSpPr>
          <p:nvPr userDrawn="1">
            <p:ph type="body" sz="quarter" idx="10" hasCustomPrompt="1"/>
          </p:nvPr>
        </p:nvSpPr>
        <p:spPr>
          <a:xfrm>
            <a:off x="6283318" y="4203045"/>
            <a:ext cx="4950229"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Tree>
    <p:extLst>
      <p:ext uri="{BB962C8B-B14F-4D97-AF65-F5344CB8AC3E}">
        <p14:creationId xmlns:p14="http://schemas.microsoft.com/office/powerpoint/2010/main" val="10832876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xmlns="" id="{6113CD24-F3A3-42C2-A4C2-4BE6EE2CFDEB}"/>
              </a:ext>
            </a:extLst>
          </p:cNvPr>
          <p:cNvSpPr>
            <a:spLocks noGrp="1" noChangeArrowheads="1"/>
          </p:cNvSpPr>
          <p:nvPr>
            <p:ph type="title" idx="4294967295"/>
          </p:nvPr>
        </p:nvSpPr>
        <p:spPr bwMode="auto">
          <a:xfrm>
            <a:off x="669925" y="0"/>
            <a:ext cx="108505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xmlns="" id="{2020242A-7B51-4433-88E0-4DA53E65485A}"/>
              </a:ext>
            </a:extLst>
          </p:cNvPr>
          <p:cNvSpPr>
            <a:spLocks noGrp="1" noChangeArrowheads="1"/>
          </p:cNvSpPr>
          <p:nvPr>
            <p:ph type="body" idx="4294967295"/>
          </p:nvPr>
        </p:nvSpPr>
        <p:spPr bwMode="auto">
          <a:xfrm>
            <a:off x="669925" y="1123950"/>
            <a:ext cx="10850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7" name="直接连接符 6">
            <a:extLst>
              <a:ext uri="{FF2B5EF4-FFF2-40B4-BE49-F238E27FC236}">
                <a16:creationId xmlns:a16="http://schemas.microsoft.com/office/drawing/2014/main" xmlns="" id="{9227C1A2-BF7A-415F-B2D5-10EAE8FD94C6}"/>
              </a:ext>
            </a:extLst>
          </p:cNvPr>
          <p:cNvCxnSpPr>
            <a:cxnSpLocks/>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xmlns="" id="{FAC81E72-FAA7-4B1C-89A3-27C0490C863A}"/>
              </a:ext>
            </a:extLst>
          </p:cNvPr>
          <p:cNvPicPr>
            <a:picLocks noChangeAspect="1"/>
          </p:cNvPicPr>
          <p:nvPr userDrawn="1"/>
        </p:nvPicPr>
        <p:blipFill>
          <a:blip r:embed="rId9"/>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82F02BE1-6CD5-45BD-B93A-34CD7D9B7B0D}"/>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3" r:id="rId6"/>
    <p:sldLayoutId id="2147483681" r:id="rId7"/>
  </p:sldLayoutIdLst>
  <p:hf sldNum="0" hdr="0" ftr="0" dt="0"/>
  <p:txStyles>
    <p:titleStyle>
      <a:lvl1pPr algn="l" rtl="0" eaLnBrk="1" fontAlgn="base" hangingPunct="1">
        <a:lnSpc>
          <a:spcPct val="90000"/>
        </a:lnSpc>
        <a:spcBef>
          <a:spcPct val="0"/>
        </a:spcBef>
        <a:spcAft>
          <a:spcPct val="0"/>
        </a:spcAft>
        <a:defRPr sz="2800" b="1" kern="1200">
          <a:solidFill>
            <a:schemeClr val="tx1"/>
          </a:solidFill>
          <a:latin typeface="+mj-lt"/>
          <a:ea typeface="+mj-ea"/>
          <a:cs typeface="+mj-cs"/>
        </a:defRPr>
      </a:lvl1pPr>
      <a:lvl2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17.jpg"/></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6.xml"/><Relationship Id="rId1" Type="http://schemas.openxmlformats.org/officeDocument/2006/relationships/slideLayout" Target="../slideLayouts/slideLayout3.xml"/><Relationship Id="rId5" Type="http://schemas.openxmlformats.org/officeDocument/2006/relationships/image" Target="../media/image32.png"/><Relationship Id="rId4" Type="http://schemas.openxmlformats.org/officeDocument/2006/relationships/image" Target="../media/image31.png"/></Relationships>
</file>

<file path=ppt/slides/_rels/slide54.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47.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55.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53.xml"/><Relationship Id="rId1" Type="http://schemas.openxmlformats.org/officeDocument/2006/relationships/slideLayout" Target="../slideLayouts/slideLayout3.xml"/><Relationship Id="rId4" Type="http://schemas.openxmlformats.org/officeDocument/2006/relationships/image" Target="../media/image40.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xmlns="" id="{5C674A10-3091-4452-A509-500FDC13F4FE}"/>
              </a:ext>
            </a:extLst>
          </p:cNvPr>
          <p:cNvSpPr>
            <a:spLocks noGrp="1"/>
          </p:cNvSpPr>
          <p:nvPr>
            <p:ph type="subTitle" idx="1"/>
          </p:nvPr>
        </p:nvSpPr>
        <p:spPr/>
        <p:txBody>
          <a:bodyPr/>
          <a:lstStyle/>
          <a:p>
            <a:r>
              <a:rPr lang="zh-CN" altLang="en-US" smtClean="0"/>
              <a:t>课件：目标</a:t>
            </a:r>
            <a:r>
              <a:rPr lang="zh-CN" altLang="en-US" dirty="0" smtClean="0"/>
              <a:t>检测原理</a:t>
            </a:r>
            <a:endParaRPr lang="zh-CN" altLang="en-US" dirty="0"/>
          </a:p>
        </p:txBody>
      </p:sp>
      <p:sp>
        <p:nvSpPr>
          <p:cNvPr id="3" name="标题 2">
            <a:extLst>
              <a:ext uri="{FF2B5EF4-FFF2-40B4-BE49-F238E27FC236}">
                <a16:creationId xmlns:a16="http://schemas.microsoft.com/office/drawing/2014/main" xmlns="" id="{37B72B94-1F12-468F-939B-26F0B436DFF1}"/>
              </a:ext>
            </a:extLst>
          </p:cNvPr>
          <p:cNvSpPr>
            <a:spLocks noGrp="1"/>
          </p:cNvSpPr>
          <p:nvPr>
            <p:ph type="ctrTitle"/>
          </p:nvPr>
        </p:nvSpPr>
        <p:spPr/>
        <p:txBody>
          <a:bodyPr/>
          <a:lstStyle/>
          <a:p>
            <a:r>
              <a:rPr lang="zh-CN" altLang="en-US" dirty="0" smtClean="0"/>
              <a:t>目标</a:t>
            </a:r>
            <a:r>
              <a:rPr lang="zh-CN" altLang="en-US" dirty="0" smtClean="0"/>
              <a:t>检测</a:t>
            </a:r>
            <a:r>
              <a:rPr lang="zh-CN" altLang="en-US" dirty="0" smtClean="0"/>
              <a:t>的准备</a:t>
            </a:r>
            <a:endParaRPr lang="zh-CN" altLang="en-US" dirty="0"/>
          </a:p>
        </p:txBody>
      </p:sp>
      <p:sp>
        <p:nvSpPr>
          <p:cNvPr id="4" name="文本占位符 3">
            <a:extLst>
              <a:ext uri="{FF2B5EF4-FFF2-40B4-BE49-F238E27FC236}">
                <a16:creationId xmlns:a16="http://schemas.microsoft.com/office/drawing/2014/main" xmlns="" id="{D30CE500-237B-4E6E-B7FE-6735EA2F0F52}"/>
              </a:ext>
            </a:extLst>
          </p:cNvPr>
          <p:cNvSpPr>
            <a:spLocks noGrp="1"/>
          </p:cNvSpPr>
          <p:nvPr>
            <p:ph type="body" sz="quarter" idx="10"/>
          </p:nvPr>
        </p:nvSpPr>
        <p:spPr/>
        <p:txBody>
          <a:bodyPr/>
          <a:lstStyle/>
          <a:p>
            <a:r>
              <a:rPr lang="zh-CN" altLang="en-US" dirty="0"/>
              <a:t>杭州钛比科技有限公司</a:t>
            </a:r>
          </a:p>
        </p:txBody>
      </p:sp>
      <p:sp>
        <p:nvSpPr>
          <p:cNvPr id="5" name="文本占位符 4">
            <a:extLst>
              <a:ext uri="{FF2B5EF4-FFF2-40B4-BE49-F238E27FC236}">
                <a16:creationId xmlns:a16="http://schemas.microsoft.com/office/drawing/2014/main" xmlns="" id="{CB507061-DD1C-4DEB-9AE0-8D195E8974B7}"/>
              </a:ext>
            </a:extLst>
          </p:cNvPr>
          <p:cNvSpPr>
            <a:spLocks noGrp="1"/>
          </p:cNvSpPr>
          <p:nvPr>
            <p:ph type="body" sz="quarter" idx="11"/>
          </p:nvPr>
        </p:nvSpPr>
        <p:spPr/>
        <p:txBody>
          <a:bodyPr/>
          <a:lstStyle/>
          <a:p>
            <a:r>
              <a:rPr lang="en-US" altLang="zh-CN" dirty="0"/>
              <a:t>www.terabits.cn</a:t>
            </a:r>
            <a:endParaRPr lang="zh-CN" altLang="en-US" dirty="0"/>
          </a:p>
        </p:txBody>
      </p:sp>
    </p:spTree>
    <p:extLst>
      <p:ext uri="{BB962C8B-B14F-4D97-AF65-F5344CB8AC3E}">
        <p14:creationId xmlns:p14="http://schemas.microsoft.com/office/powerpoint/2010/main" val="1287360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sz="quarter" idx="13"/>
          </p:nvPr>
        </p:nvSpPr>
        <p:spPr/>
        <p:txBody>
          <a:bodyPr/>
          <a:lstStyle/>
          <a:p>
            <a:pPr marL="0" indent="0" defTabSz="2400300">
              <a:lnSpc>
                <a:spcPct val="150000"/>
              </a:lnSpc>
              <a:spcBef>
                <a:spcPts val="600"/>
              </a:spcBef>
              <a:spcAft>
                <a:spcPts val="600"/>
              </a:spcAft>
              <a:buNone/>
            </a:pPr>
            <a:r>
              <a:rPr kumimoji="1" lang="zh-CN" altLang="en-US" b="1" dirty="0">
                <a:latin typeface="微软雅黑" panose="020B0503020204020204" pitchFamily="34" charset="-122"/>
                <a:ea typeface="微软雅黑" panose="020B0503020204020204" pitchFamily="34" charset="-122"/>
              </a:rPr>
              <a:t>学习完本课程后，你将能够：</a:t>
            </a:r>
            <a:endParaRPr kumimoji="1" lang="en-US" altLang="zh-CN" b="1" dirty="0">
              <a:latin typeface="微软雅黑" panose="020B0503020204020204" pitchFamily="34" charset="-122"/>
              <a:ea typeface="微软雅黑" panose="020B0503020204020204" pitchFamily="34" charset="-122"/>
            </a:endParaRPr>
          </a:p>
          <a:p>
            <a:pPr marL="342900" indent="-342900" defTabSz="2400300">
              <a:lnSpc>
                <a:spcPct val="150000"/>
              </a:lnSpc>
              <a:buFont typeface="Arial" panose="020B0604020202020204" pitchFamily="34" charset="0"/>
              <a:buAutoNum type="arabicPeriod"/>
            </a:pPr>
            <a:r>
              <a:rPr kumimoji="1" lang="zh-CN" altLang="en-US" dirty="0" smtClean="0">
                <a:latin typeface="微软雅黑" panose="020B0503020204020204" pitchFamily="34" charset="-122"/>
                <a:ea typeface="微软雅黑" panose="020B0503020204020204" pitchFamily="34" charset="-122"/>
              </a:rPr>
              <a:t>了解目标检测的原理</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Font typeface="Arial" panose="020B0604020202020204" pitchFamily="34" charset="0"/>
              <a:buAutoNum type="arabicPeriod"/>
            </a:pPr>
            <a:r>
              <a:rPr kumimoji="1" lang="zh-CN" altLang="en-US" dirty="0" smtClean="0">
                <a:latin typeface="微软雅黑" panose="020B0503020204020204" pitchFamily="34" charset="-122"/>
                <a:ea typeface="微软雅黑" panose="020B0503020204020204" pitchFamily="34" charset="-122"/>
              </a:rPr>
              <a:t>了解卷积神经网络各层的作用与原理</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Font typeface="Arial" panose="020B0604020202020204" pitchFamily="34" charset="0"/>
              <a:buAutoNum type="arabicPeriod"/>
            </a:pPr>
            <a:r>
              <a:rPr kumimoji="1" lang="zh-CN" altLang="en-US" dirty="0" smtClean="0">
                <a:latin typeface="微软雅黑" panose="020B0503020204020204" pitchFamily="34" charset="-122"/>
                <a:ea typeface="微软雅黑" panose="020B0503020204020204" pitchFamily="34" charset="-122"/>
              </a:rPr>
              <a:t>学会简单的卷积计算</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Font typeface="Arial" panose="020B0604020202020204" pitchFamily="34" charset="0"/>
              <a:buAutoNum type="arabicPeriod"/>
            </a:pPr>
            <a:r>
              <a:rPr kumimoji="1" lang="zh-CN" altLang="en-US" dirty="0" smtClean="0">
                <a:latin typeface="微软雅黑" panose="020B0503020204020204" pitchFamily="34" charset="-122"/>
                <a:ea typeface="微软雅黑" panose="020B0503020204020204" pitchFamily="34" charset="-122"/>
              </a:rPr>
              <a:t>了解常用的卷积网络结构</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Font typeface="Arial" panose="020B0604020202020204" pitchFamily="34" charset="0"/>
              <a:buAutoNum type="arabicPeriod"/>
            </a:pPr>
            <a:endParaRPr lang="en-US" altLang="zh-CN" dirty="0" smtClean="0"/>
          </a:p>
        </p:txBody>
      </p:sp>
    </p:spTree>
    <p:extLst>
      <p:ext uri="{BB962C8B-B14F-4D97-AF65-F5344CB8AC3E}">
        <p14:creationId xmlns:p14="http://schemas.microsoft.com/office/powerpoint/2010/main" val="3870144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xmlns="" id="{3D28A7FA-9777-482F-9F1D-686C9423C48A}"/>
              </a:ext>
            </a:extLst>
          </p:cNvPr>
          <p:cNvSpPr>
            <a:spLocks noGrp="1"/>
          </p:cNvSpPr>
          <p:nvPr>
            <p:ph sz="quarter" idx="11"/>
          </p:nvPr>
        </p:nvSpPr>
        <p:spPr/>
        <p:txBody>
          <a:bodyPr/>
          <a:lstStyle/>
          <a:p>
            <a:pPr>
              <a:lnSpc>
                <a:spcPct val="125000"/>
              </a:lnSpc>
              <a:buFont typeface="+mj-lt"/>
              <a:buAutoNum type="arabicPeriod"/>
            </a:pPr>
            <a:r>
              <a:rPr lang="zh-CN" altLang="en-US" dirty="0" smtClean="0"/>
              <a:t>卷积神经网络基础</a:t>
            </a:r>
            <a:endParaRPr lang="en-US" altLang="zh-CN" dirty="0" smtClean="0"/>
          </a:p>
          <a:p>
            <a:pPr>
              <a:lnSpc>
                <a:spcPct val="125000"/>
              </a:lnSpc>
              <a:buFont typeface="+mj-lt"/>
              <a:buAutoNum type="arabicPeriod"/>
            </a:pPr>
            <a:r>
              <a:rPr lang="zh-CN" altLang="en-US" dirty="0" smtClean="0"/>
              <a:t>常见卷积神经网络结构</a:t>
            </a:r>
            <a:endParaRPr lang="zh-CN" altLang="en-US" dirty="0"/>
          </a:p>
        </p:txBody>
      </p:sp>
    </p:spTree>
    <p:extLst>
      <p:ext uri="{BB962C8B-B14F-4D97-AF65-F5344CB8AC3E}">
        <p14:creationId xmlns:p14="http://schemas.microsoft.com/office/powerpoint/2010/main" val="218498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01</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卷积神经网络基础</a:t>
            </a:r>
            <a:endParaRPr lang="zh-CN" altLang="en-US" dirty="0"/>
          </a:p>
        </p:txBody>
      </p:sp>
    </p:spTree>
    <p:extLst>
      <p:ext uri="{BB962C8B-B14F-4D97-AF65-F5344CB8AC3E}">
        <p14:creationId xmlns:p14="http://schemas.microsoft.com/office/powerpoint/2010/main" val="2393945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卷积神经网络基础</a:t>
            </a:r>
            <a:endParaRPr lang="zh-CN" altLang="en-US" dirty="0"/>
          </a:p>
        </p:txBody>
      </p:sp>
      <p:sp>
        <p:nvSpPr>
          <p:cNvPr id="3" name="内容占位符 2"/>
          <p:cNvSpPr>
            <a:spLocks noGrp="1"/>
          </p:cNvSpPr>
          <p:nvPr>
            <p:ph sz="quarter" idx="13"/>
          </p:nvPr>
        </p:nvSpPr>
        <p:spPr/>
        <p:txBody>
          <a:bodyPr/>
          <a:lstStyle/>
          <a:p>
            <a:r>
              <a:rPr lang="zh-CN" altLang="en-US" dirty="0"/>
              <a:t>卷积神经网络</a:t>
            </a:r>
            <a:r>
              <a:rPr lang="en-US" altLang="zh-CN" dirty="0"/>
              <a:t> (Convolutional Neural Network, CNN</a:t>
            </a:r>
            <a:r>
              <a:rPr lang="en-US" altLang="zh-CN" dirty="0" smtClean="0"/>
              <a:t>)</a:t>
            </a:r>
            <a:r>
              <a:rPr lang="zh-CN" altLang="en-US" dirty="0" smtClean="0"/>
              <a:t>：</a:t>
            </a:r>
            <a:endParaRPr lang="en-US" altLang="zh-CN" dirty="0" smtClean="0"/>
          </a:p>
          <a:p>
            <a:pPr lvl="1"/>
            <a:r>
              <a:rPr lang="zh-CN" altLang="en-US" dirty="0"/>
              <a:t>一种深度前馈</a:t>
            </a:r>
            <a:r>
              <a:rPr lang="zh-CN" altLang="en-US" dirty="0" smtClean="0"/>
              <a:t>神经网络</a:t>
            </a:r>
            <a:endParaRPr lang="en-US" altLang="zh-CN" dirty="0" smtClean="0"/>
          </a:p>
          <a:p>
            <a:pPr lvl="1"/>
            <a:r>
              <a:rPr lang="zh-CN" altLang="en-US" dirty="0" smtClean="0"/>
              <a:t>广泛应用于图像识别领域：</a:t>
            </a:r>
            <a:endParaRPr lang="en-US" altLang="zh-CN" dirty="0" smtClean="0"/>
          </a:p>
          <a:p>
            <a:pPr lvl="2"/>
            <a:r>
              <a:rPr lang="zh-CN" altLang="en-US" dirty="0"/>
              <a:t>图像</a:t>
            </a:r>
            <a:r>
              <a:rPr lang="zh-CN" altLang="en-US" dirty="0" smtClean="0"/>
              <a:t>检索</a:t>
            </a:r>
            <a:endParaRPr lang="en-US" altLang="zh-CN" dirty="0" smtClean="0"/>
          </a:p>
          <a:p>
            <a:pPr lvl="2"/>
            <a:r>
              <a:rPr lang="zh-CN" altLang="en-US" dirty="0" smtClean="0"/>
              <a:t>目标检测</a:t>
            </a:r>
            <a:endParaRPr lang="en-US" altLang="zh-CN" dirty="0" smtClean="0"/>
          </a:p>
          <a:p>
            <a:pPr lvl="2"/>
            <a:r>
              <a:rPr lang="zh-CN" altLang="en-US" dirty="0" smtClean="0"/>
              <a:t>目标分割</a:t>
            </a:r>
            <a:endParaRPr lang="en-US" altLang="zh-CN" dirty="0" smtClean="0"/>
          </a:p>
          <a:p>
            <a:pPr lvl="2"/>
            <a:r>
              <a:rPr lang="zh-CN" altLang="en-US" dirty="0" smtClean="0"/>
              <a:t>目标跟踪</a:t>
            </a:r>
            <a:endParaRPr lang="en-US" altLang="zh-CN" dirty="0" smtClean="0"/>
          </a:p>
          <a:p>
            <a:pPr lvl="2"/>
            <a:r>
              <a:rPr lang="zh-CN" altLang="en-US" dirty="0" smtClean="0"/>
              <a:t>视频分类</a:t>
            </a:r>
            <a:endParaRPr lang="en-US" altLang="zh-CN" dirty="0" smtClean="0"/>
          </a:p>
          <a:p>
            <a:pPr lvl="1"/>
            <a:r>
              <a:rPr lang="zh-CN" altLang="en-US" dirty="0" smtClean="0"/>
              <a:t>不同深度的网络层检测不同层级的特征</a:t>
            </a:r>
            <a:endParaRPr lang="en-US" altLang="zh-CN" dirty="0" smtClean="0"/>
          </a:p>
          <a:p>
            <a:pPr lvl="1"/>
            <a:r>
              <a:rPr lang="zh-CN" altLang="en-US" dirty="0" smtClean="0"/>
              <a:t>通过卷积核进行连接，优点：</a:t>
            </a:r>
            <a:endParaRPr lang="en-US" altLang="zh-CN" dirty="0" smtClean="0"/>
          </a:p>
          <a:p>
            <a:pPr lvl="2"/>
            <a:r>
              <a:rPr lang="zh-CN" altLang="en-US" dirty="0" smtClean="0"/>
              <a:t>参数共享</a:t>
            </a:r>
            <a:endParaRPr lang="en-US" altLang="zh-CN" dirty="0" smtClean="0"/>
          </a:p>
          <a:p>
            <a:pPr lvl="2"/>
            <a:r>
              <a:rPr lang="zh-CN" altLang="en-US" dirty="0" smtClean="0"/>
              <a:t>连接稀疏</a:t>
            </a:r>
            <a:endParaRPr lang="en-US" altLang="zh-CN" dirty="0" smtClean="0"/>
          </a:p>
          <a:p>
            <a:pPr lvl="1"/>
            <a:endParaRPr lang="zh-CN" altLang="en-US" dirty="0"/>
          </a:p>
        </p:txBody>
      </p:sp>
      <p:pic>
        <p:nvPicPr>
          <p:cNvPr id="5"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58504" y="1554157"/>
            <a:ext cx="4176713" cy="212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910047" y="3884613"/>
            <a:ext cx="4873625" cy="186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19"/>
          <p:cNvSpPr txBox="1">
            <a:spLocks noChangeArrowheads="1"/>
          </p:cNvSpPr>
          <p:nvPr/>
        </p:nvSpPr>
        <p:spPr bwMode="auto">
          <a:xfrm>
            <a:off x="7984950" y="3679820"/>
            <a:ext cx="27238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a:t>传统全连接神经网络结构</a:t>
            </a:r>
          </a:p>
        </p:txBody>
      </p:sp>
      <p:sp>
        <p:nvSpPr>
          <p:cNvPr id="8" name="文本框 20"/>
          <p:cNvSpPr txBox="1">
            <a:spLocks noChangeArrowheads="1"/>
          </p:cNvSpPr>
          <p:nvPr/>
        </p:nvSpPr>
        <p:spPr bwMode="auto">
          <a:xfrm>
            <a:off x="8331200" y="5735638"/>
            <a:ext cx="20313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a:t>卷积神经网络结构</a:t>
            </a:r>
          </a:p>
        </p:txBody>
      </p:sp>
    </p:spTree>
    <p:extLst>
      <p:ext uri="{BB962C8B-B14F-4D97-AF65-F5344CB8AC3E}">
        <p14:creationId xmlns:p14="http://schemas.microsoft.com/office/powerpoint/2010/main" val="3812310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卷积神经网络基础</a:t>
            </a:r>
            <a:endParaRPr lang="zh-CN" altLang="en-US" dirty="0"/>
          </a:p>
        </p:txBody>
      </p:sp>
      <p:sp>
        <p:nvSpPr>
          <p:cNvPr id="3" name="内容占位符 2"/>
          <p:cNvSpPr>
            <a:spLocks noGrp="1"/>
          </p:cNvSpPr>
          <p:nvPr>
            <p:ph sz="quarter" idx="13"/>
          </p:nvPr>
        </p:nvSpPr>
        <p:spPr/>
        <p:txBody>
          <a:bodyPr/>
          <a:lstStyle/>
          <a:p>
            <a:r>
              <a:rPr lang="zh-CN" altLang="en-US" dirty="0"/>
              <a:t>卷积</a:t>
            </a:r>
            <a:r>
              <a:rPr lang="zh-CN" altLang="en-US" dirty="0" smtClean="0"/>
              <a:t>神经网络结构常见特殊层：</a:t>
            </a:r>
            <a:endParaRPr lang="en-US" altLang="zh-CN" dirty="0" smtClean="0"/>
          </a:p>
          <a:p>
            <a:pPr lvl="1"/>
            <a:r>
              <a:rPr lang="zh-CN" altLang="en-US" dirty="0"/>
              <a:t>卷积</a:t>
            </a:r>
            <a:r>
              <a:rPr lang="zh-CN" altLang="en-US" dirty="0" smtClean="0"/>
              <a:t>层</a:t>
            </a:r>
            <a:endParaRPr lang="en-US" altLang="zh-CN" dirty="0" smtClean="0"/>
          </a:p>
          <a:p>
            <a:pPr lvl="1"/>
            <a:r>
              <a:rPr lang="zh-CN" altLang="en-US" dirty="0"/>
              <a:t>池化</a:t>
            </a:r>
            <a:r>
              <a:rPr lang="zh-CN" altLang="en-US" dirty="0" smtClean="0"/>
              <a:t>层</a:t>
            </a:r>
            <a:endParaRPr lang="en-US" altLang="zh-CN" dirty="0" smtClean="0"/>
          </a:p>
          <a:p>
            <a:pPr lvl="1"/>
            <a:r>
              <a:rPr lang="zh-CN" altLang="en-US" dirty="0"/>
              <a:t>全</a:t>
            </a:r>
            <a:r>
              <a:rPr lang="zh-CN" altLang="en-US" dirty="0" smtClean="0"/>
              <a:t>连接层</a:t>
            </a:r>
            <a:endParaRPr lang="en-US" altLang="zh-CN" dirty="0" smtClean="0"/>
          </a:p>
          <a:p>
            <a:r>
              <a:rPr lang="zh-CN" altLang="en-US" dirty="0" smtClean="0"/>
              <a:t>此外，我们还将介绍</a:t>
            </a:r>
            <a:endParaRPr lang="en-US" altLang="zh-CN" dirty="0" smtClean="0"/>
          </a:p>
          <a:p>
            <a:pPr lvl="1"/>
            <a:r>
              <a:rPr lang="zh-CN" altLang="en-US" dirty="0" smtClean="0"/>
              <a:t>三维数据的卷积运算</a:t>
            </a:r>
            <a:endParaRPr lang="en-US" altLang="zh-CN" dirty="0" smtClean="0"/>
          </a:p>
          <a:p>
            <a:pPr lvl="1"/>
            <a:r>
              <a:rPr lang="zh-CN" altLang="en-US" dirty="0" smtClean="0"/>
              <a:t>批规范化层</a:t>
            </a:r>
            <a:endParaRPr lang="en-US" altLang="zh-CN" dirty="0" smtClean="0"/>
          </a:p>
          <a:p>
            <a:pPr lvl="1"/>
            <a:r>
              <a:rPr lang="en-US" altLang="zh-CN" dirty="0" smtClean="0"/>
              <a:t>Dropout</a:t>
            </a:r>
            <a:r>
              <a:rPr lang="zh-CN" altLang="en-US" dirty="0" smtClean="0"/>
              <a:t>层</a:t>
            </a:r>
            <a:endParaRPr lang="en-US" altLang="zh-CN" dirty="0" smtClean="0"/>
          </a:p>
          <a:p>
            <a:pPr lvl="1"/>
            <a:endParaRPr lang="en-US" altLang="zh-CN" dirty="0" smtClean="0"/>
          </a:p>
          <a:p>
            <a:pPr lvl="1"/>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7314" y="1986988"/>
            <a:ext cx="5523174" cy="3293595"/>
          </a:xfrm>
          <a:prstGeom prst="rect">
            <a:avLst/>
          </a:prstGeom>
        </p:spPr>
      </p:pic>
    </p:spTree>
    <p:extLst>
      <p:ext uri="{BB962C8B-B14F-4D97-AF65-F5344CB8AC3E}">
        <p14:creationId xmlns:p14="http://schemas.microsoft.com/office/powerpoint/2010/main" val="2020396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卷积层</a:t>
            </a:r>
            <a:endParaRPr lang="zh-CN" altLang="en-US" dirty="0"/>
          </a:p>
        </p:txBody>
      </p:sp>
      <p:sp>
        <p:nvSpPr>
          <p:cNvPr id="3" name="内容占位符 2"/>
          <p:cNvSpPr>
            <a:spLocks noGrp="1"/>
          </p:cNvSpPr>
          <p:nvPr>
            <p:ph sz="quarter" idx="13"/>
          </p:nvPr>
        </p:nvSpPr>
        <p:spPr/>
        <p:txBody>
          <a:bodyPr/>
          <a:lstStyle/>
          <a:p>
            <a:r>
              <a:rPr lang="zh-CN" altLang="en-US" dirty="0"/>
              <a:t>卷积层与全连接层不同，它保留了输入图像的空间</a:t>
            </a:r>
            <a:r>
              <a:rPr lang="zh-CN" altLang="en-US" dirty="0" smtClean="0"/>
              <a:t>特征。</a:t>
            </a:r>
            <a:endParaRPr lang="en-US" altLang="zh-CN" dirty="0" smtClean="0"/>
          </a:p>
          <a:p>
            <a:r>
              <a:rPr lang="zh-CN" altLang="en-US" dirty="0" smtClean="0"/>
              <a:t>卷积层的主要作用是提取特征。</a:t>
            </a:r>
            <a:endParaRPr lang="en-US" altLang="zh-CN" dirty="0" smtClean="0"/>
          </a:p>
          <a:p>
            <a:r>
              <a:rPr lang="zh-CN" altLang="en-US" dirty="0"/>
              <a:t>卷积</a:t>
            </a:r>
            <a:r>
              <a:rPr lang="zh-CN" altLang="en-US" dirty="0" smtClean="0"/>
              <a:t>层由若干卷积单元组成，参数通过算法优化得到。</a:t>
            </a:r>
            <a:endParaRPr lang="en-US" altLang="zh-CN" dirty="0" smtClean="0"/>
          </a:p>
          <a:p>
            <a:r>
              <a:rPr lang="zh-CN" altLang="en-US" dirty="0" smtClean="0"/>
              <a:t>不同深度的卷积层提取不同程度的特征。</a:t>
            </a:r>
            <a:endParaRPr lang="en-US" altLang="zh-CN" dirty="0" smtClean="0"/>
          </a:p>
          <a:p>
            <a:endParaRPr lang="en-US" altLang="zh-CN" dirty="0" smtClean="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7797" y="1923810"/>
            <a:ext cx="4772691" cy="3419952"/>
          </a:xfrm>
          <a:prstGeom prst="rect">
            <a:avLst/>
          </a:prstGeom>
        </p:spPr>
      </p:pic>
    </p:spTree>
    <p:extLst>
      <p:ext uri="{BB962C8B-B14F-4D97-AF65-F5344CB8AC3E}">
        <p14:creationId xmlns:p14="http://schemas.microsoft.com/office/powerpoint/2010/main" val="31688643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卷积核</a:t>
            </a:r>
            <a:endParaRPr lang="zh-CN" altLang="en-US" dirty="0"/>
          </a:p>
        </p:txBody>
      </p:sp>
      <p:sp>
        <p:nvSpPr>
          <p:cNvPr id="3" name="内容占位符 2"/>
          <p:cNvSpPr>
            <a:spLocks noGrp="1"/>
          </p:cNvSpPr>
          <p:nvPr>
            <p:ph sz="quarter" idx="13"/>
          </p:nvPr>
        </p:nvSpPr>
        <p:spPr/>
        <p:txBody>
          <a:bodyPr/>
          <a:lstStyle/>
          <a:p>
            <a:r>
              <a:rPr lang="zh-CN" altLang="en-US" dirty="0" smtClean="0"/>
              <a:t>卷积核</a:t>
            </a:r>
            <a:r>
              <a:rPr lang="en-US" altLang="zh-CN" dirty="0"/>
              <a:t>(kernel, </a:t>
            </a:r>
            <a:r>
              <a:rPr lang="zh-CN" altLang="en-US" dirty="0"/>
              <a:t>常简称为卷积，有时也称为滤波器</a:t>
            </a:r>
            <a:r>
              <a:rPr lang="en-US" altLang="zh-CN" dirty="0"/>
              <a:t>, filter) </a:t>
            </a:r>
            <a:r>
              <a:rPr lang="zh-CN" altLang="en-US" dirty="0" smtClean="0"/>
              <a:t>：</a:t>
            </a:r>
            <a:endParaRPr lang="en-US" altLang="zh-CN" dirty="0" smtClean="0"/>
          </a:p>
          <a:p>
            <a:pPr lvl="1"/>
            <a:r>
              <a:rPr lang="zh-CN" altLang="en-US" dirty="0" smtClean="0"/>
              <a:t>对图像进行卷积计算时使用</a:t>
            </a:r>
            <a:endParaRPr lang="en-US" altLang="zh-CN" dirty="0" smtClean="0"/>
          </a:p>
          <a:p>
            <a:pPr lvl="1"/>
            <a:r>
              <a:rPr lang="zh-CN" altLang="en-US" dirty="0" smtClean="0"/>
              <a:t>尺寸根据实际需要自行定义</a:t>
            </a:r>
            <a:endParaRPr lang="en-US" altLang="zh-CN" dirty="0" smtClean="0"/>
          </a:p>
          <a:p>
            <a:pPr lvl="1"/>
            <a:r>
              <a:rPr lang="zh-CN" altLang="en-US" dirty="0" smtClean="0"/>
              <a:t>通常尺寸设为</a:t>
            </a:r>
            <a:r>
              <a:rPr lang="en-US" altLang="zh-CN" dirty="0"/>
              <a:t>(1,1) (3,3) (5,5)</a:t>
            </a:r>
            <a:r>
              <a:rPr lang="zh-CN" altLang="en-US" dirty="0" smtClean="0"/>
              <a:t>等</a:t>
            </a:r>
            <a:endParaRPr lang="en-US" altLang="zh-CN" dirty="0" smtClean="0"/>
          </a:p>
          <a:p>
            <a:pPr lvl="1"/>
            <a:r>
              <a:rPr lang="zh-CN" altLang="en-US" dirty="0" smtClean="0"/>
              <a:t>卷积核通道数一般与输入图像通道数一致</a:t>
            </a:r>
            <a:endParaRPr lang="en-US" altLang="zh-CN" dirty="0"/>
          </a:p>
          <a:p>
            <a:r>
              <a:rPr lang="zh-CN" altLang="en-US" dirty="0" smtClean="0"/>
              <a:t>右图是一种特殊的卷积核，名为</a:t>
            </a:r>
            <a:r>
              <a:rPr lang="en-US" altLang="zh-CN" dirty="0" err="1" smtClean="0"/>
              <a:t>Laplacian</a:t>
            </a:r>
            <a:r>
              <a:rPr lang="zh-CN" altLang="en-US" dirty="0" smtClean="0"/>
              <a:t>算子，单通道，大小为</a:t>
            </a:r>
            <a:r>
              <a:rPr lang="en-US" altLang="zh-CN" dirty="0" smtClean="0"/>
              <a:t>(3,3)</a:t>
            </a:r>
          </a:p>
          <a:p>
            <a:pPr lvl="1"/>
            <a:endParaRPr lang="en-US" altLang="zh-CN" dirty="0" smtClean="0"/>
          </a:p>
        </p:txBody>
      </p:sp>
      <p:graphicFrame>
        <p:nvGraphicFramePr>
          <p:cNvPr id="4" name="表格 3"/>
          <p:cNvGraphicFramePr>
            <a:graphicFrameLocks noGrp="1"/>
          </p:cNvGraphicFramePr>
          <p:nvPr>
            <p:extLst>
              <p:ext uri="{D42A27DB-BD31-4B8C-83A1-F6EECF244321}">
                <p14:modId xmlns:p14="http://schemas.microsoft.com/office/powerpoint/2010/main" val="3082233754"/>
              </p:ext>
            </p:extLst>
          </p:nvPr>
        </p:nvGraphicFramePr>
        <p:xfrm>
          <a:off x="8034255" y="2604925"/>
          <a:ext cx="2159001" cy="2160588"/>
        </p:xfrm>
        <a:graphic>
          <a:graphicData uri="http://schemas.openxmlformats.org/drawingml/2006/table">
            <a:tbl>
              <a:tblPr firstRow="1" bandRow="1">
                <a:tableStyleId>{5940675A-B579-460E-94D1-54222C63F5DA}</a:tableStyleId>
              </a:tblPr>
              <a:tblGrid>
                <a:gridCol w="719667"/>
                <a:gridCol w="719667"/>
                <a:gridCol w="719667"/>
              </a:tblGrid>
              <a:tr h="720196">
                <a:tc>
                  <a:txBody>
                    <a:bodyPr/>
                    <a:lstStyle/>
                    <a:p>
                      <a:pPr algn="ctr"/>
                      <a:r>
                        <a:rPr lang="en-US" altLang="zh-CN" sz="1800" b="1" dirty="0" smtClean="0"/>
                        <a:t>0</a:t>
                      </a:r>
                      <a:endParaRPr lang="zh-CN" altLang="en-US" sz="1800" b="1" dirty="0"/>
                    </a:p>
                  </a:txBody>
                  <a:tcPr marL="91356" marR="91356" marT="45738" marB="45738"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356" marR="91356" marT="45738" marB="45738" anchor="ctr">
                    <a:solidFill>
                      <a:schemeClr val="accent2">
                        <a:lumMod val="20000"/>
                        <a:lumOff val="80000"/>
                      </a:schemeClr>
                    </a:solidFill>
                  </a:tcPr>
                </a:tc>
                <a:tc>
                  <a:txBody>
                    <a:bodyPr/>
                    <a:lstStyle/>
                    <a:p>
                      <a:pPr algn="ctr"/>
                      <a:r>
                        <a:rPr lang="en-US" altLang="zh-CN" sz="1800" b="1" dirty="0" smtClean="0"/>
                        <a:t>0</a:t>
                      </a:r>
                      <a:endParaRPr lang="zh-CN" altLang="en-US" sz="1800" b="1" dirty="0"/>
                    </a:p>
                  </a:txBody>
                  <a:tcPr marL="91356" marR="91356" marT="45738" marB="45738" anchor="ctr">
                    <a:solidFill>
                      <a:schemeClr val="accent2">
                        <a:lumMod val="20000"/>
                        <a:lumOff val="80000"/>
                      </a:schemeClr>
                    </a:solidFill>
                  </a:tcPr>
                </a:tc>
              </a:tr>
              <a:tr h="720196">
                <a:tc>
                  <a:txBody>
                    <a:bodyPr/>
                    <a:lstStyle/>
                    <a:p>
                      <a:pPr algn="ctr"/>
                      <a:r>
                        <a:rPr lang="en-US" altLang="zh-CN" sz="1800" b="1" dirty="0" smtClean="0"/>
                        <a:t>1</a:t>
                      </a:r>
                      <a:endParaRPr lang="zh-CN" altLang="en-US" sz="1800" b="1" dirty="0"/>
                    </a:p>
                  </a:txBody>
                  <a:tcPr marL="91356" marR="91356" marT="45738" marB="45738" anchor="ctr">
                    <a:solidFill>
                      <a:schemeClr val="accent2">
                        <a:lumMod val="20000"/>
                        <a:lumOff val="80000"/>
                      </a:schemeClr>
                    </a:solidFill>
                  </a:tcPr>
                </a:tc>
                <a:tc>
                  <a:txBody>
                    <a:bodyPr/>
                    <a:lstStyle/>
                    <a:p>
                      <a:pPr algn="ctr"/>
                      <a:r>
                        <a:rPr lang="en-US" altLang="zh-CN" sz="1800" b="1" dirty="0" smtClean="0"/>
                        <a:t>-4</a:t>
                      </a:r>
                      <a:endParaRPr lang="zh-CN" altLang="en-US" sz="1800" b="1" dirty="0"/>
                    </a:p>
                  </a:txBody>
                  <a:tcPr marL="91356" marR="91356" marT="45738" marB="45738"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356" marR="91356" marT="45738" marB="45738" anchor="ctr">
                    <a:solidFill>
                      <a:schemeClr val="accent2">
                        <a:lumMod val="20000"/>
                        <a:lumOff val="80000"/>
                      </a:schemeClr>
                    </a:solidFill>
                  </a:tcPr>
                </a:tc>
              </a:tr>
              <a:tr h="720196">
                <a:tc>
                  <a:txBody>
                    <a:bodyPr/>
                    <a:lstStyle/>
                    <a:p>
                      <a:pPr algn="ctr"/>
                      <a:r>
                        <a:rPr lang="en-US" altLang="zh-CN" sz="1800" b="1" dirty="0" smtClean="0"/>
                        <a:t>0</a:t>
                      </a:r>
                      <a:endParaRPr lang="zh-CN" altLang="en-US" sz="1800" b="1" dirty="0"/>
                    </a:p>
                  </a:txBody>
                  <a:tcPr marL="91356" marR="91356" marT="45738" marB="45738"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356" marR="91356" marT="45738" marB="45738" anchor="ctr">
                    <a:solidFill>
                      <a:schemeClr val="accent2">
                        <a:lumMod val="20000"/>
                        <a:lumOff val="80000"/>
                      </a:schemeClr>
                    </a:solidFill>
                  </a:tcPr>
                </a:tc>
                <a:tc>
                  <a:txBody>
                    <a:bodyPr/>
                    <a:lstStyle/>
                    <a:p>
                      <a:pPr algn="ctr"/>
                      <a:r>
                        <a:rPr lang="en-US" altLang="zh-CN" sz="1800" b="1" dirty="0" smtClean="0"/>
                        <a:t>0</a:t>
                      </a:r>
                      <a:endParaRPr lang="zh-CN" altLang="en-US" sz="1800" b="1" dirty="0"/>
                    </a:p>
                  </a:txBody>
                  <a:tcPr marL="91356" marR="91356" marT="45738" marB="45738" anchor="ctr">
                    <a:solidFill>
                      <a:schemeClr val="accent2">
                        <a:lumMod val="20000"/>
                        <a:lumOff val="80000"/>
                      </a:schemeClr>
                    </a:solidFill>
                  </a:tcPr>
                </a:tc>
              </a:tr>
            </a:tbl>
          </a:graphicData>
        </a:graphic>
      </p:graphicFrame>
    </p:spTree>
    <p:extLst>
      <p:ext uri="{BB962C8B-B14F-4D97-AF65-F5344CB8AC3E}">
        <p14:creationId xmlns:p14="http://schemas.microsoft.com/office/powerpoint/2010/main" val="2535294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卷积计算</a:t>
            </a:r>
            <a:endParaRPr lang="zh-CN" altLang="en-US" dirty="0"/>
          </a:p>
        </p:txBody>
      </p:sp>
      <p:sp>
        <p:nvSpPr>
          <p:cNvPr id="3" name="内容占位符 2"/>
          <p:cNvSpPr>
            <a:spLocks noGrp="1"/>
          </p:cNvSpPr>
          <p:nvPr>
            <p:ph sz="quarter" idx="13"/>
          </p:nvPr>
        </p:nvSpPr>
        <p:spPr/>
        <p:txBody>
          <a:bodyPr/>
          <a:lstStyle/>
          <a:p>
            <a:r>
              <a:rPr lang="zh-CN" altLang="en-US" dirty="0" smtClean="0"/>
              <a:t>卷积计算的过程：</a:t>
            </a:r>
            <a:endParaRPr lang="en-US" altLang="zh-CN" dirty="0" smtClean="0"/>
          </a:p>
          <a:p>
            <a:pPr lvl="1"/>
            <a:r>
              <a:rPr lang="zh-CN" altLang="en-US" dirty="0"/>
              <a:t>卷积核在输入特征图上依次</a:t>
            </a:r>
            <a:r>
              <a:rPr lang="zh-CN" altLang="en-US" dirty="0" smtClean="0"/>
              <a:t>滑动</a:t>
            </a:r>
            <a:endParaRPr lang="en-US" altLang="zh-CN" dirty="0" smtClean="0"/>
          </a:p>
          <a:p>
            <a:pPr lvl="1"/>
            <a:r>
              <a:rPr lang="zh-CN" altLang="en-US" dirty="0"/>
              <a:t>滑动方向为从左到右，</a:t>
            </a:r>
            <a:r>
              <a:rPr lang="zh-CN" altLang="en-US" dirty="0" smtClean="0"/>
              <a:t>从上到下</a:t>
            </a:r>
            <a:endParaRPr lang="en-US" altLang="zh-CN" dirty="0" smtClean="0"/>
          </a:p>
          <a:p>
            <a:pPr lvl="1"/>
            <a:r>
              <a:rPr lang="zh-CN" altLang="en-US" dirty="0"/>
              <a:t>每</a:t>
            </a:r>
            <a:r>
              <a:rPr lang="zh-CN" altLang="en-US" dirty="0" smtClean="0"/>
              <a:t>滑动</a:t>
            </a:r>
            <a:r>
              <a:rPr lang="zh-CN" altLang="en-US" dirty="0"/>
              <a:t>一次，卷积核就和滑窗位置对应的输入特征图做一次点乘</a:t>
            </a:r>
            <a:r>
              <a:rPr lang="zh-CN" altLang="en-US" dirty="0" smtClean="0"/>
              <a:t>运算</a:t>
            </a:r>
            <a:endParaRPr lang="en-US" altLang="zh-CN" dirty="0" smtClean="0"/>
          </a:p>
          <a:p>
            <a:pPr lvl="1"/>
            <a:r>
              <a:rPr lang="zh-CN" altLang="en-US" dirty="0"/>
              <a:t>得到的数值保存到输出特征图对应的位置</a:t>
            </a:r>
            <a:r>
              <a:rPr lang="zh-CN" altLang="en-US" dirty="0" smtClean="0"/>
              <a:t>上</a:t>
            </a:r>
            <a:endParaRPr lang="en-US" altLang="zh-CN" dirty="0" smtClean="0"/>
          </a:p>
          <a:p>
            <a:pPr lvl="1"/>
            <a:r>
              <a:rPr lang="zh-CN" altLang="en-US" dirty="0" smtClean="0"/>
              <a:t>输出特征图即为卷积</a:t>
            </a:r>
            <a:r>
              <a:rPr lang="zh-CN" altLang="en-US" dirty="0"/>
              <a:t>运算的</a:t>
            </a:r>
            <a:r>
              <a:rPr lang="zh-CN" altLang="en-US" dirty="0" smtClean="0"/>
              <a:t>输出</a:t>
            </a:r>
            <a:endParaRPr lang="en-US" altLang="zh-CN" dirty="0" smtClean="0"/>
          </a:p>
          <a:p>
            <a:r>
              <a:rPr lang="zh-CN" altLang="en-US" dirty="0"/>
              <a:t>卷积核除了有权重参数之外，也存在</a:t>
            </a:r>
            <a:r>
              <a:rPr lang="zh-CN" altLang="en-US" dirty="0" smtClean="0"/>
              <a:t>偏置。</a:t>
            </a:r>
            <a:endParaRPr lang="en-US" altLang="zh-CN" dirty="0" smtClean="0"/>
          </a:p>
          <a:p>
            <a:r>
              <a:rPr lang="zh-CN" altLang="en-US" dirty="0"/>
              <a:t>偏置通常只有一个</a:t>
            </a:r>
            <a:r>
              <a:rPr lang="en-US" altLang="zh-CN" dirty="0"/>
              <a:t> (1,1) </a:t>
            </a:r>
            <a:r>
              <a:rPr lang="zh-CN" altLang="en-US" dirty="0"/>
              <a:t>，它会被加到应用卷积核的所有元素上。</a:t>
            </a:r>
            <a:endParaRPr lang="en-US" altLang="zh-CN" dirty="0"/>
          </a:p>
          <a:p>
            <a:endParaRPr lang="zh-CN" altLang="en-US"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43480" y="4461469"/>
            <a:ext cx="4177008" cy="1675805"/>
          </a:xfrm>
          <a:prstGeom prst="rect">
            <a:avLst/>
          </a:prstGeom>
        </p:spPr>
      </p:pic>
    </p:spTree>
    <p:extLst>
      <p:ext uri="{BB962C8B-B14F-4D97-AF65-F5344CB8AC3E}">
        <p14:creationId xmlns:p14="http://schemas.microsoft.com/office/powerpoint/2010/main" val="3390924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卷积计算示例</a:t>
            </a:r>
            <a:endParaRPr lang="zh-CN" altLang="en-US" dirty="0"/>
          </a:p>
        </p:txBody>
      </p:sp>
      <p:sp>
        <p:nvSpPr>
          <p:cNvPr id="3" name="内容占位符 2"/>
          <p:cNvSpPr>
            <a:spLocks noGrp="1"/>
          </p:cNvSpPr>
          <p:nvPr>
            <p:ph sz="quarter" idx="13"/>
          </p:nvPr>
        </p:nvSpPr>
        <p:spPr/>
        <p:txBody>
          <a:bodyPr/>
          <a:lstStyle/>
          <a:p>
            <a:r>
              <a:rPr lang="zh-CN" altLang="en-US" dirty="0" smtClean="0"/>
              <a:t>我们通过一些具体的的示例加深</a:t>
            </a:r>
            <a:r>
              <a:rPr lang="zh-CN" altLang="en-US" dirty="0"/>
              <a:t>对卷积计算的理解。</a:t>
            </a:r>
            <a:endParaRPr lang="en-US" altLang="zh-CN" dirty="0"/>
          </a:p>
          <a:p>
            <a:r>
              <a:rPr lang="zh-CN" altLang="en-US" dirty="0"/>
              <a:t>假设</a:t>
            </a:r>
            <a:r>
              <a:rPr lang="zh-CN" altLang="en-US" dirty="0" smtClean="0"/>
              <a:t>有</a:t>
            </a:r>
            <a:r>
              <a:rPr lang="zh-CN" altLang="en-US" dirty="0"/>
              <a:t>一张</a:t>
            </a:r>
            <a:r>
              <a:rPr lang="en-US" altLang="zh-CN" dirty="0"/>
              <a:t>4</a:t>
            </a:r>
            <a:r>
              <a:rPr lang="en-US" altLang="zh-CN" b="1" dirty="0"/>
              <a:t>×</a:t>
            </a:r>
            <a:r>
              <a:rPr lang="en-US" altLang="zh-CN" dirty="0"/>
              <a:t>4</a:t>
            </a:r>
            <a:r>
              <a:rPr lang="zh-CN" altLang="en-US" dirty="0"/>
              <a:t>的黑白图像，它的特征图如下图所示。使用的卷积核是之前提到的</a:t>
            </a:r>
            <a:r>
              <a:rPr lang="en-US" altLang="zh-CN" dirty="0" err="1"/>
              <a:t>Laplacian</a:t>
            </a:r>
            <a:r>
              <a:rPr lang="zh-CN" altLang="en-US" dirty="0"/>
              <a:t>算子，偏置值为</a:t>
            </a:r>
            <a:r>
              <a:rPr lang="en-US" altLang="zh-CN" dirty="0"/>
              <a:t>2</a:t>
            </a:r>
            <a:r>
              <a:rPr lang="zh-CN" altLang="en-US" dirty="0"/>
              <a:t>，</a:t>
            </a:r>
            <a:r>
              <a:rPr lang="zh-CN" altLang="en-US" dirty="0" smtClean="0"/>
              <a:t>滑动</a:t>
            </a:r>
            <a:r>
              <a:rPr lang="zh-CN" altLang="en-US" dirty="0"/>
              <a:t>步长为</a:t>
            </a:r>
            <a:r>
              <a:rPr lang="en-US" altLang="zh-CN" dirty="0"/>
              <a:t>1</a:t>
            </a:r>
            <a:r>
              <a:rPr lang="zh-CN" altLang="en-US" dirty="0"/>
              <a:t>。</a:t>
            </a:r>
          </a:p>
        </p:txBody>
      </p:sp>
      <p:graphicFrame>
        <p:nvGraphicFramePr>
          <p:cNvPr id="6" name="表格 5"/>
          <p:cNvGraphicFramePr>
            <a:graphicFrameLocks noGrp="1"/>
          </p:cNvGraphicFramePr>
          <p:nvPr>
            <p:extLst>
              <p:ext uri="{D42A27DB-BD31-4B8C-83A1-F6EECF244321}">
                <p14:modId xmlns:p14="http://schemas.microsoft.com/office/powerpoint/2010/main" val="1347852129"/>
              </p:ext>
            </p:extLst>
          </p:nvPr>
        </p:nvGraphicFramePr>
        <p:xfrm>
          <a:off x="1060040" y="2707444"/>
          <a:ext cx="2879724" cy="2879724"/>
        </p:xfrm>
        <a:graphic>
          <a:graphicData uri="http://schemas.openxmlformats.org/drawingml/2006/table">
            <a:tbl>
              <a:tblPr firstRow="1" bandRow="1">
                <a:tableStyleId>{5940675A-B579-460E-94D1-54222C63F5DA}</a:tableStyleId>
              </a:tblPr>
              <a:tblGrid>
                <a:gridCol w="719931"/>
                <a:gridCol w="719931"/>
                <a:gridCol w="719931"/>
                <a:gridCol w="719931"/>
              </a:tblGrid>
              <a:tr h="719931">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3</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2</a:t>
                      </a:r>
                      <a:endParaRPr lang="zh-CN" altLang="en-US" sz="1800" b="1" dirty="0"/>
                    </a:p>
                  </a:txBody>
                  <a:tcPr marL="91431" marR="91431" marT="45716" marB="45716" anchor="ctr"/>
                </a:tc>
              </a:tr>
              <a:tr h="719931">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0</a:t>
                      </a:r>
                      <a:endParaRPr lang="zh-CN" altLang="en-US" sz="1800" b="1" dirty="0"/>
                    </a:p>
                  </a:txBody>
                  <a:tcPr marL="91431" marR="91431" marT="45716" marB="45716" anchor="ctr"/>
                </a:tc>
                <a:tc>
                  <a:txBody>
                    <a:bodyPr/>
                    <a:lstStyle/>
                    <a:p>
                      <a:pPr algn="ctr"/>
                      <a:r>
                        <a:rPr lang="en-US" altLang="zh-CN" sz="1800" b="1" dirty="0" smtClean="0"/>
                        <a:t>0</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r>
              <a:tr h="719931">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3</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0</a:t>
                      </a:r>
                      <a:endParaRPr lang="zh-CN" altLang="en-US" sz="1800" b="1" dirty="0"/>
                    </a:p>
                  </a:txBody>
                  <a:tcPr marL="91431" marR="91431" marT="45716" marB="45716" anchor="ctr"/>
                </a:tc>
              </a:tr>
              <a:tr h="719931">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5</a:t>
                      </a:r>
                      <a:endParaRPr lang="zh-CN" altLang="en-US" sz="1800" b="1" dirty="0"/>
                    </a:p>
                  </a:txBody>
                  <a:tcPr marL="91431" marR="91431" marT="45716" marB="45716" anchor="ctr"/>
                </a:tc>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1829146845"/>
              </p:ext>
            </p:extLst>
          </p:nvPr>
        </p:nvGraphicFramePr>
        <p:xfrm>
          <a:off x="4849402" y="3094794"/>
          <a:ext cx="2160588" cy="2159001"/>
        </p:xfrm>
        <a:graphic>
          <a:graphicData uri="http://schemas.openxmlformats.org/drawingml/2006/table">
            <a:tbl>
              <a:tblPr firstRow="1" bandRow="1">
                <a:tableStyleId>{5940675A-B579-460E-94D1-54222C63F5DA}</a:tableStyleId>
              </a:tblPr>
              <a:tblGrid>
                <a:gridCol w="720196"/>
                <a:gridCol w="720196"/>
                <a:gridCol w="720196"/>
              </a:tblGrid>
              <a:tr h="719667">
                <a:tc>
                  <a:txBody>
                    <a:bodyPr/>
                    <a:lstStyle/>
                    <a:p>
                      <a:pPr algn="ctr"/>
                      <a:r>
                        <a:rPr lang="en-US" altLang="zh-CN" sz="1800" b="1" dirty="0" smtClean="0"/>
                        <a:t>0</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0</a:t>
                      </a:r>
                      <a:endParaRPr lang="zh-CN" altLang="en-US" sz="1800" b="1" dirty="0"/>
                    </a:p>
                  </a:txBody>
                  <a:tcPr marL="91476" marR="91476" marT="45678" marB="45678" anchor="ctr">
                    <a:solidFill>
                      <a:schemeClr val="accent2">
                        <a:lumMod val="20000"/>
                        <a:lumOff val="80000"/>
                      </a:schemeClr>
                    </a:solidFill>
                  </a:tcPr>
                </a:tc>
              </a:tr>
              <a:tr h="719667">
                <a:tc>
                  <a:txBody>
                    <a:bodyPr/>
                    <a:lstStyle/>
                    <a:p>
                      <a:pPr algn="ctr"/>
                      <a:r>
                        <a:rPr lang="en-US" altLang="zh-CN" sz="1800" b="1" dirty="0" smtClean="0"/>
                        <a:t>1</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-4</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76" marR="91476" marT="45678" marB="45678" anchor="ctr">
                    <a:solidFill>
                      <a:schemeClr val="accent2">
                        <a:lumMod val="20000"/>
                        <a:lumOff val="80000"/>
                      </a:schemeClr>
                    </a:solidFill>
                  </a:tcPr>
                </a:tc>
              </a:tr>
              <a:tr h="719667">
                <a:tc>
                  <a:txBody>
                    <a:bodyPr/>
                    <a:lstStyle/>
                    <a:p>
                      <a:pPr algn="ctr"/>
                      <a:r>
                        <a:rPr lang="en-US" altLang="zh-CN" sz="1800" b="1" dirty="0" smtClean="0"/>
                        <a:t>0</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0</a:t>
                      </a:r>
                      <a:endParaRPr lang="zh-CN" altLang="en-US" sz="1800" b="1" dirty="0"/>
                    </a:p>
                  </a:txBody>
                  <a:tcPr marL="91476" marR="91476" marT="45678" marB="45678" anchor="ctr">
                    <a:solidFill>
                      <a:schemeClr val="accent2">
                        <a:lumMod val="20000"/>
                        <a:lumOff val="80000"/>
                      </a:schemeClr>
                    </a:solidFill>
                  </a:tcPr>
                </a:tc>
              </a:tr>
            </a:tbl>
          </a:graphicData>
        </a:graphic>
      </p:graphicFrame>
      <p:sp>
        <p:nvSpPr>
          <p:cNvPr id="8" name="文本框 21"/>
          <p:cNvSpPr txBox="1">
            <a:spLocks noChangeArrowheads="1"/>
          </p:cNvSpPr>
          <p:nvPr/>
        </p:nvSpPr>
        <p:spPr bwMode="auto">
          <a:xfrm>
            <a:off x="1444468" y="5767942"/>
            <a:ext cx="20024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4×4</a:t>
            </a:r>
            <a:r>
              <a:rPr lang="zh-CN" altLang="en-US" b="1" dirty="0"/>
              <a:t>单通道特征图</a:t>
            </a:r>
          </a:p>
        </p:txBody>
      </p:sp>
      <p:sp>
        <p:nvSpPr>
          <p:cNvPr id="9" name="文本框 22"/>
          <p:cNvSpPr txBox="1">
            <a:spLocks noChangeArrowheads="1"/>
          </p:cNvSpPr>
          <p:nvPr/>
        </p:nvSpPr>
        <p:spPr bwMode="auto">
          <a:xfrm>
            <a:off x="4426333" y="5771662"/>
            <a:ext cx="31181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3×3</a:t>
            </a:r>
            <a:r>
              <a:rPr lang="zh-CN" altLang="en-US" b="1" dirty="0"/>
              <a:t>卷积核 </a:t>
            </a:r>
            <a:r>
              <a:rPr lang="en-US" altLang="zh-CN" b="1" dirty="0"/>
              <a:t>(</a:t>
            </a:r>
            <a:r>
              <a:rPr lang="en-US" altLang="zh-CN" b="1" dirty="0" err="1"/>
              <a:t>Laplacian</a:t>
            </a:r>
            <a:r>
              <a:rPr lang="zh-CN" altLang="en-US" b="1" dirty="0"/>
              <a:t>算子</a:t>
            </a:r>
            <a:r>
              <a:rPr lang="en-US" altLang="zh-CN" b="1" dirty="0"/>
              <a:t>) </a:t>
            </a:r>
            <a:endParaRPr lang="zh-CN" altLang="en-US" b="1" dirty="0"/>
          </a:p>
        </p:txBody>
      </p:sp>
      <p:sp>
        <p:nvSpPr>
          <p:cNvPr id="10" name="文本框 6"/>
          <p:cNvSpPr txBox="1">
            <a:spLocks noChangeArrowheads="1"/>
          </p:cNvSpPr>
          <p:nvPr/>
        </p:nvSpPr>
        <p:spPr bwMode="auto">
          <a:xfrm>
            <a:off x="4228690" y="3937756"/>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dirty="0">
                <a:sym typeface="Wingdings 2" panose="05020102010507070707" pitchFamily="18" charset="2"/>
              </a:rPr>
              <a:t></a:t>
            </a:r>
            <a:endParaRPr lang="zh-CN" altLang="en-US" dirty="0"/>
          </a:p>
        </p:txBody>
      </p:sp>
      <p:graphicFrame>
        <p:nvGraphicFramePr>
          <p:cNvPr id="11" name="表格 10"/>
          <p:cNvGraphicFramePr>
            <a:graphicFrameLocks noGrp="1"/>
          </p:cNvGraphicFramePr>
          <p:nvPr>
            <p:extLst>
              <p:ext uri="{D42A27DB-BD31-4B8C-83A1-F6EECF244321}">
                <p14:modId xmlns:p14="http://schemas.microsoft.com/office/powerpoint/2010/main" val="605633553"/>
              </p:ext>
            </p:extLst>
          </p:nvPr>
        </p:nvGraphicFramePr>
        <p:xfrm>
          <a:off x="7776752" y="3763131"/>
          <a:ext cx="720725" cy="719138"/>
        </p:xfrm>
        <a:graphic>
          <a:graphicData uri="http://schemas.openxmlformats.org/drawingml/2006/table">
            <a:tbl>
              <a:tblPr firstRow="1" bandRow="1">
                <a:tableStyleId>{5C22544A-7EE6-4342-B048-85BDC9FD1C3A}</a:tableStyleId>
              </a:tblPr>
              <a:tblGrid>
                <a:gridCol w="720725"/>
              </a:tblGrid>
              <a:tr h="719138">
                <a:tc>
                  <a:txBody>
                    <a:bodyPr/>
                    <a:lstStyle/>
                    <a:p>
                      <a:pPr algn="ctr"/>
                      <a:r>
                        <a:rPr lang="en-US" altLang="zh-CN" sz="1800" b="1" dirty="0" smtClean="0">
                          <a:solidFill>
                            <a:schemeClr val="tx1"/>
                          </a:solidFill>
                        </a:rPr>
                        <a:t>2</a:t>
                      </a:r>
                      <a:endParaRPr lang="zh-CN" altLang="en-US" sz="1800" b="1" dirty="0">
                        <a:solidFill>
                          <a:schemeClr val="tx1"/>
                        </a:solidFill>
                      </a:endParaRPr>
                    </a:p>
                  </a:txBody>
                  <a:tcPr marL="91543" marR="91543" marT="45671" marB="45671" anchor="ctr">
                    <a:solidFill>
                      <a:schemeClr val="accent2">
                        <a:lumMod val="20000"/>
                        <a:lumOff val="80000"/>
                      </a:schemeClr>
                    </a:solidFill>
                  </a:tcPr>
                </a:tc>
              </a:tr>
            </a:tbl>
          </a:graphicData>
        </a:graphic>
      </p:graphicFrame>
      <p:sp>
        <p:nvSpPr>
          <p:cNvPr id="12" name="文本框 23"/>
          <p:cNvSpPr txBox="1">
            <a:spLocks noChangeArrowheads="1"/>
          </p:cNvSpPr>
          <p:nvPr/>
        </p:nvSpPr>
        <p:spPr bwMode="auto">
          <a:xfrm>
            <a:off x="7877557" y="5767942"/>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a:t>偏置</a:t>
            </a:r>
          </a:p>
        </p:txBody>
      </p:sp>
      <p:sp>
        <p:nvSpPr>
          <p:cNvPr id="13" name="文本框 24"/>
          <p:cNvSpPr txBox="1">
            <a:spLocks noChangeArrowheads="1"/>
          </p:cNvSpPr>
          <p:nvPr/>
        </p:nvSpPr>
        <p:spPr bwMode="auto">
          <a:xfrm>
            <a:off x="7292565" y="3937756"/>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a:sym typeface="Symbol" panose="05050102010706020507" pitchFamily="18" charset="2"/>
              </a:rPr>
              <a:t></a:t>
            </a:r>
            <a:endParaRPr lang="zh-CN" altLang="en-US"/>
          </a:p>
        </p:txBody>
      </p:sp>
      <p:sp>
        <p:nvSpPr>
          <p:cNvPr id="14" name="文本框 23"/>
          <p:cNvSpPr txBox="1">
            <a:spLocks noChangeArrowheads="1"/>
          </p:cNvSpPr>
          <p:nvPr/>
        </p:nvSpPr>
        <p:spPr bwMode="auto">
          <a:xfrm>
            <a:off x="8754652" y="3967919"/>
            <a:ext cx="2889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sz="1400" b="1"/>
              <a:t>=</a:t>
            </a:r>
            <a:endParaRPr lang="zh-CN" altLang="en-US" sz="1400" b="1"/>
          </a:p>
        </p:txBody>
      </p:sp>
      <p:graphicFrame>
        <p:nvGraphicFramePr>
          <p:cNvPr id="15" name="表格 14"/>
          <p:cNvGraphicFramePr>
            <a:graphicFrameLocks noGrp="1"/>
          </p:cNvGraphicFramePr>
          <p:nvPr>
            <p:extLst>
              <p:ext uri="{D42A27DB-BD31-4B8C-83A1-F6EECF244321}">
                <p14:modId xmlns:p14="http://schemas.microsoft.com/office/powerpoint/2010/main" val="2504512732"/>
              </p:ext>
            </p:extLst>
          </p:nvPr>
        </p:nvGraphicFramePr>
        <p:xfrm>
          <a:off x="9232490" y="3424994"/>
          <a:ext cx="1439862" cy="1441450"/>
        </p:xfrm>
        <a:graphic>
          <a:graphicData uri="http://schemas.openxmlformats.org/drawingml/2006/table">
            <a:tbl>
              <a:tblPr firstRow="1" bandRow="1">
                <a:tableStyleId>{5940675A-B579-460E-94D1-54222C63F5DA}</a:tableStyleId>
              </a:tblPr>
              <a:tblGrid>
                <a:gridCol w="719931"/>
                <a:gridCol w="719931"/>
              </a:tblGrid>
              <a:tr h="720725">
                <a:tc>
                  <a:txBody>
                    <a:bodyPr/>
                    <a:lstStyle/>
                    <a:p>
                      <a:pPr algn="ctr"/>
                      <a:endParaRPr lang="zh-CN" altLang="en-US" sz="1800" dirty="0"/>
                    </a:p>
                  </a:txBody>
                  <a:tcPr marL="91431" marR="91431" marT="45766" marB="45766" anchor="ctr"/>
                </a:tc>
                <a:tc>
                  <a:txBody>
                    <a:bodyPr/>
                    <a:lstStyle/>
                    <a:p>
                      <a:pPr algn="ctr"/>
                      <a:endParaRPr lang="zh-CN" altLang="en-US" sz="1800"/>
                    </a:p>
                  </a:txBody>
                  <a:tcPr marL="91431" marR="91431" marT="45766" marB="45766" anchor="ctr"/>
                </a:tc>
              </a:tr>
              <a:tr h="720725">
                <a:tc>
                  <a:txBody>
                    <a:bodyPr/>
                    <a:lstStyle/>
                    <a:p>
                      <a:pPr algn="ctr"/>
                      <a:endParaRPr lang="zh-CN" altLang="en-US" sz="1800" dirty="0"/>
                    </a:p>
                  </a:txBody>
                  <a:tcPr marL="91431" marR="91431" marT="45766" marB="45766" anchor="ctr"/>
                </a:tc>
                <a:tc>
                  <a:txBody>
                    <a:bodyPr/>
                    <a:lstStyle/>
                    <a:p>
                      <a:pPr algn="ctr"/>
                      <a:endParaRPr lang="zh-CN" altLang="en-US" sz="1800" dirty="0"/>
                    </a:p>
                  </a:txBody>
                  <a:tcPr marL="91431" marR="91431" marT="45766" marB="45766" anchor="ctr"/>
                </a:tc>
              </a:tr>
            </a:tbl>
          </a:graphicData>
        </a:graphic>
      </p:graphicFrame>
    </p:spTree>
    <p:extLst>
      <p:ext uri="{BB962C8B-B14F-4D97-AF65-F5344CB8AC3E}">
        <p14:creationId xmlns:p14="http://schemas.microsoft.com/office/powerpoint/2010/main" val="1936081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卷积计算示例</a:t>
            </a:r>
            <a:endParaRPr lang="zh-CN" altLang="en-US" dirty="0"/>
          </a:p>
        </p:txBody>
      </p:sp>
      <p:sp>
        <p:nvSpPr>
          <p:cNvPr id="3" name="内容占位符 2"/>
          <p:cNvSpPr>
            <a:spLocks noGrp="1"/>
          </p:cNvSpPr>
          <p:nvPr>
            <p:ph sz="quarter" idx="13"/>
          </p:nvPr>
        </p:nvSpPr>
        <p:spPr/>
        <p:txBody>
          <a:bodyPr/>
          <a:lstStyle/>
          <a:p>
            <a:r>
              <a:rPr lang="zh-CN" altLang="en-US" dirty="0"/>
              <a:t>先从左上角开始，选取和卷积核一样大小的特征图区域开始计算，卷积核和滑窗位置的输入特征图做一次点乘运算：</a:t>
            </a:r>
            <a:endParaRPr lang="en-US" altLang="zh-CN" dirty="0"/>
          </a:p>
          <a:p>
            <a:r>
              <a:rPr lang="en-US" altLang="zh-CN" b="1" dirty="0" smtClean="0"/>
              <a:t> </a:t>
            </a:r>
            <a:r>
              <a:rPr lang="en-US" altLang="zh-CN" b="1" dirty="0" smtClean="0">
                <a:solidFill>
                  <a:srgbClr val="FF0000"/>
                </a:solidFill>
              </a:rPr>
              <a:t>1×0</a:t>
            </a:r>
            <a:r>
              <a:rPr lang="en-US" altLang="zh-CN" b="1" dirty="0" smtClean="0"/>
              <a:t>+</a:t>
            </a:r>
            <a:r>
              <a:rPr lang="en-US" altLang="zh-CN" b="1" dirty="0" smtClean="0">
                <a:solidFill>
                  <a:srgbClr val="FF33CC"/>
                </a:solidFill>
              </a:rPr>
              <a:t>3×1</a:t>
            </a:r>
            <a:r>
              <a:rPr lang="en-US" altLang="zh-CN" b="1" dirty="0" smtClean="0"/>
              <a:t>+</a:t>
            </a:r>
            <a:r>
              <a:rPr lang="en-US" altLang="zh-CN" b="1" dirty="0" smtClean="0">
                <a:solidFill>
                  <a:schemeClr val="accent4">
                    <a:lumMod val="75000"/>
                  </a:schemeClr>
                </a:solidFill>
              </a:rPr>
              <a:t>1×0</a:t>
            </a:r>
            <a:r>
              <a:rPr lang="en-US" altLang="zh-CN" b="1" dirty="0" smtClean="0"/>
              <a:t>+</a:t>
            </a:r>
            <a:r>
              <a:rPr lang="en-US" altLang="zh-CN" b="1" dirty="0" smtClean="0">
                <a:solidFill>
                  <a:srgbClr val="FF7C80"/>
                </a:solidFill>
              </a:rPr>
              <a:t>2×1</a:t>
            </a:r>
            <a:r>
              <a:rPr lang="en-US" altLang="zh-CN" b="1" dirty="0" smtClean="0"/>
              <a:t>+</a:t>
            </a:r>
            <a:r>
              <a:rPr lang="en-US" altLang="zh-CN" b="1" dirty="0" smtClean="0">
                <a:solidFill>
                  <a:srgbClr val="0000FF"/>
                </a:solidFill>
              </a:rPr>
              <a:t>0×(-4)</a:t>
            </a:r>
            <a:r>
              <a:rPr lang="en-US" altLang="zh-CN" b="1" dirty="0" smtClean="0"/>
              <a:t>+</a:t>
            </a:r>
            <a:r>
              <a:rPr lang="en-US" altLang="zh-CN" b="1" dirty="0" smtClean="0">
                <a:solidFill>
                  <a:srgbClr val="A50021"/>
                </a:solidFill>
              </a:rPr>
              <a:t>0×1</a:t>
            </a:r>
            <a:r>
              <a:rPr lang="en-US" altLang="zh-CN" b="1" dirty="0" smtClean="0"/>
              <a:t>+</a:t>
            </a:r>
            <a:r>
              <a:rPr lang="en-US" altLang="zh-CN" b="1" dirty="0" smtClean="0">
                <a:solidFill>
                  <a:srgbClr val="00CC00"/>
                </a:solidFill>
              </a:rPr>
              <a:t>2×0</a:t>
            </a:r>
            <a:r>
              <a:rPr lang="en-US" altLang="zh-CN" b="1" dirty="0" smtClean="0"/>
              <a:t>+</a:t>
            </a:r>
            <a:r>
              <a:rPr lang="en-US" altLang="zh-CN" b="1" dirty="0" smtClean="0">
                <a:solidFill>
                  <a:srgbClr val="003366"/>
                </a:solidFill>
              </a:rPr>
              <a:t>3×1</a:t>
            </a:r>
            <a:r>
              <a:rPr lang="en-US" altLang="zh-CN" b="1" dirty="0" smtClean="0"/>
              <a:t>+</a:t>
            </a:r>
            <a:r>
              <a:rPr lang="en-US" altLang="zh-CN" b="1" dirty="0" smtClean="0">
                <a:solidFill>
                  <a:srgbClr val="008000"/>
                </a:solidFill>
              </a:rPr>
              <a:t>1×0 </a:t>
            </a:r>
            <a:r>
              <a:rPr lang="en-US" altLang="zh-CN" b="1" dirty="0" smtClean="0"/>
              <a:t>= 8</a:t>
            </a:r>
            <a:r>
              <a:rPr lang="zh-CN" altLang="en-US" b="1" dirty="0" smtClean="0"/>
              <a:t>，</a:t>
            </a:r>
            <a:r>
              <a:rPr lang="zh-CN" altLang="en-US" dirty="0" smtClean="0"/>
              <a:t>再加上偏置</a:t>
            </a:r>
            <a:r>
              <a:rPr lang="en-US" altLang="zh-CN" b="1" dirty="0" smtClean="0">
                <a:solidFill>
                  <a:srgbClr val="82AEBC"/>
                </a:solidFill>
              </a:rPr>
              <a:t>2</a:t>
            </a:r>
            <a:r>
              <a:rPr lang="zh-CN" altLang="en-US" dirty="0" smtClean="0"/>
              <a:t>，最后结果为</a:t>
            </a:r>
            <a:r>
              <a:rPr lang="en-US" altLang="zh-CN" dirty="0" smtClean="0"/>
              <a:t> </a:t>
            </a:r>
            <a:r>
              <a:rPr lang="en-US" altLang="zh-CN" b="1" dirty="0" smtClean="0"/>
              <a:t>8 + </a:t>
            </a:r>
            <a:r>
              <a:rPr lang="en-US" altLang="zh-CN" b="1" dirty="0" smtClean="0">
                <a:solidFill>
                  <a:srgbClr val="82AEBC"/>
                </a:solidFill>
              </a:rPr>
              <a:t>2</a:t>
            </a:r>
            <a:r>
              <a:rPr lang="en-US" altLang="zh-CN" b="1" dirty="0" smtClean="0"/>
              <a:t> = 10</a:t>
            </a:r>
            <a:r>
              <a:rPr lang="zh-CN" altLang="en-US" dirty="0" smtClean="0"/>
              <a:t>。</a:t>
            </a:r>
            <a:endParaRPr lang="en-US" altLang="zh-CN" b="1" dirty="0" smtClean="0"/>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3270494414"/>
              </p:ext>
            </p:extLst>
          </p:nvPr>
        </p:nvGraphicFramePr>
        <p:xfrm>
          <a:off x="1163736" y="2811135"/>
          <a:ext cx="2879724" cy="2879724"/>
        </p:xfrm>
        <a:graphic>
          <a:graphicData uri="http://schemas.openxmlformats.org/drawingml/2006/table">
            <a:tbl>
              <a:tblPr firstRow="1" bandRow="1">
                <a:tableStyleId>{5940675A-B579-460E-94D1-54222C63F5DA}</a:tableStyleId>
              </a:tblPr>
              <a:tblGrid>
                <a:gridCol w="719931"/>
                <a:gridCol w="719931"/>
                <a:gridCol w="719931"/>
                <a:gridCol w="719931"/>
              </a:tblGrid>
              <a:tr h="719931">
                <a:tc>
                  <a:txBody>
                    <a:bodyPr/>
                    <a:lstStyle/>
                    <a:p>
                      <a:pPr algn="ctr"/>
                      <a:r>
                        <a:rPr lang="en-US" altLang="zh-CN" sz="1800" b="1" dirty="0" smtClean="0">
                          <a:solidFill>
                            <a:srgbClr val="FF0000"/>
                          </a:solidFill>
                        </a:rPr>
                        <a:t>1</a:t>
                      </a:r>
                      <a:endParaRPr lang="zh-CN" altLang="en-US" sz="1800" b="1" dirty="0">
                        <a:solidFill>
                          <a:srgbClr val="FF0000"/>
                        </a:solidFill>
                      </a:endParaRPr>
                    </a:p>
                  </a:txBody>
                  <a:tcPr marL="91431" marR="91431" marT="45716" marB="45716" anchor="ctr">
                    <a:solidFill>
                      <a:schemeClr val="bg1">
                        <a:lumMod val="85000"/>
                      </a:schemeClr>
                    </a:solidFill>
                  </a:tcPr>
                </a:tc>
                <a:tc>
                  <a:txBody>
                    <a:bodyPr/>
                    <a:lstStyle/>
                    <a:p>
                      <a:pPr algn="ctr"/>
                      <a:r>
                        <a:rPr lang="en-US" altLang="zh-CN" sz="1800" b="1" dirty="0" smtClean="0">
                          <a:solidFill>
                            <a:srgbClr val="FF33CC"/>
                          </a:solidFill>
                        </a:rPr>
                        <a:t>3</a:t>
                      </a:r>
                      <a:endParaRPr lang="zh-CN" altLang="en-US" sz="1800" b="1" dirty="0">
                        <a:solidFill>
                          <a:srgbClr val="FF33CC"/>
                        </a:solidFill>
                      </a:endParaRPr>
                    </a:p>
                  </a:txBody>
                  <a:tcPr marL="91431" marR="91431" marT="45716" marB="45716" anchor="ctr">
                    <a:solidFill>
                      <a:schemeClr val="bg1">
                        <a:lumMod val="85000"/>
                      </a:schemeClr>
                    </a:solidFill>
                  </a:tcPr>
                </a:tc>
                <a:tc>
                  <a:txBody>
                    <a:bodyPr/>
                    <a:lstStyle/>
                    <a:p>
                      <a:pPr algn="ctr"/>
                      <a:r>
                        <a:rPr lang="en-US" altLang="zh-CN" sz="1800" b="1" dirty="0" smtClean="0">
                          <a:solidFill>
                            <a:schemeClr val="accent4">
                              <a:lumMod val="75000"/>
                            </a:schemeClr>
                          </a:solidFill>
                        </a:rPr>
                        <a:t>1</a:t>
                      </a:r>
                      <a:endParaRPr lang="zh-CN" altLang="en-US" sz="1800" b="1" dirty="0">
                        <a:solidFill>
                          <a:schemeClr val="accent4">
                            <a:lumMod val="75000"/>
                          </a:schemeClr>
                        </a:solidFill>
                      </a:endParaRPr>
                    </a:p>
                  </a:txBody>
                  <a:tcPr marL="91431" marR="91431" marT="45716" marB="45716" anchor="ctr">
                    <a:solidFill>
                      <a:schemeClr val="bg1">
                        <a:lumMod val="85000"/>
                      </a:schemeClr>
                    </a:solidFill>
                  </a:tcPr>
                </a:tc>
                <a:tc>
                  <a:txBody>
                    <a:bodyPr/>
                    <a:lstStyle/>
                    <a:p>
                      <a:pPr algn="ctr"/>
                      <a:r>
                        <a:rPr lang="en-US" altLang="zh-CN" sz="1800" b="1" dirty="0" smtClean="0"/>
                        <a:t>2</a:t>
                      </a:r>
                      <a:endParaRPr lang="zh-CN" altLang="en-US" sz="1800" b="1" dirty="0"/>
                    </a:p>
                  </a:txBody>
                  <a:tcPr marL="91431" marR="91431" marT="45716" marB="45716" anchor="ctr"/>
                </a:tc>
              </a:tr>
              <a:tr h="719931">
                <a:tc>
                  <a:txBody>
                    <a:bodyPr/>
                    <a:lstStyle/>
                    <a:p>
                      <a:pPr algn="ctr"/>
                      <a:r>
                        <a:rPr lang="en-US" altLang="zh-CN" sz="1800" b="1" dirty="0" smtClean="0">
                          <a:solidFill>
                            <a:srgbClr val="FF7C80"/>
                          </a:solidFill>
                        </a:rPr>
                        <a:t>2</a:t>
                      </a:r>
                      <a:endParaRPr lang="zh-CN" altLang="en-US" sz="1800" b="1" dirty="0">
                        <a:solidFill>
                          <a:srgbClr val="FF7C80"/>
                        </a:solidFill>
                      </a:endParaRPr>
                    </a:p>
                  </a:txBody>
                  <a:tcPr marL="91431" marR="91431" marT="45716" marB="45716" anchor="ctr">
                    <a:solidFill>
                      <a:schemeClr val="bg1">
                        <a:lumMod val="85000"/>
                      </a:schemeClr>
                    </a:solidFill>
                  </a:tcPr>
                </a:tc>
                <a:tc>
                  <a:txBody>
                    <a:bodyPr/>
                    <a:lstStyle/>
                    <a:p>
                      <a:pPr algn="ctr"/>
                      <a:r>
                        <a:rPr lang="en-US" altLang="zh-CN" sz="1800" b="1" dirty="0" smtClean="0">
                          <a:solidFill>
                            <a:srgbClr val="0000FF"/>
                          </a:solidFill>
                        </a:rPr>
                        <a:t>0</a:t>
                      </a:r>
                      <a:endParaRPr lang="zh-CN" altLang="en-US" sz="1800" b="1" dirty="0">
                        <a:solidFill>
                          <a:srgbClr val="0000FF"/>
                        </a:solidFill>
                      </a:endParaRPr>
                    </a:p>
                  </a:txBody>
                  <a:tcPr marL="91431" marR="91431" marT="45716" marB="45716" anchor="ctr">
                    <a:solidFill>
                      <a:schemeClr val="bg1">
                        <a:lumMod val="85000"/>
                      </a:schemeClr>
                    </a:solidFill>
                  </a:tcPr>
                </a:tc>
                <a:tc>
                  <a:txBody>
                    <a:bodyPr/>
                    <a:lstStyle/>
                    <a:p>
                      <a:pPr algn="ctr"/>
                      <a:r>
                        <a:rPr lang="en-US" altLang="zh-CN" sz="1800" b="1" dirty="0" smtClean="0">
                          <a:solidFill>
                            <a:srgbClr val="A50021"/>
                          </a:solidFill>
                        </a:rPr>
                        <a:t>0</a:t>
                      </a:r>
                      <a:endParaRPr lang="zh-CN" altLang="en-US" sz="1800" b="1" dirty="0">
                        <a:solidFill>
                          <a:srgbClr val="A50021"/>
                        </a:solidFill>
                      </a:endParaRPr>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tc>
              </a:tr>
              <a:tr h="719931">
                <a:tc>
                  <a:txBody>
                    <a:bodyPr/>
                    <a:lstStyle/>
                    <a:p>
                      <a:pPr algn="ctr"/>
                      <a:r>
                        <a:rPr lang="en-US" altLang="zh-CN" sz="1800" b="1" dirty="0" smtClean="0">
                          <a:solidFill>
                            <a:srgbClr val="00CC00"/>
                          </a:solidFill>
                        </a:rPr>
                        <a:t>2</a:t>
                      </a:r>
                      <a:endParaRPr lang="zh-CN" altLang="en-US" sz="1800" b="1" dirty="0">
                        <a:solidFill>
                          <a:srgbClr val="00CC00"/>
                        </a:solidFill>
                      </a:endParaRPr>
                    </a:p>
                  </a:txBody>
                  <a:tcPr marL="91431" marR="91431" marT="45716" marB="45716" anchor="ctr">
                    <a:solidFill>
                      <a:schemeClr val="bg1">
                        <a:lumMod val="85000"/>
                      </a:schemeClr>
                    </a:solidFill>
                  </a:tcPr>
                </a:tc>
                <a:tc>
                  <a:txBody>
                    <a:bodyPr/>
                    <a:lstStyle/>
                    <a:p>
                      <a:pPr algn="ctr"/>
                      <a:r>
                        <a:rPr lang="en-US" altLang="zh-CN" sz="1800" b="1" dirty="0" smtClean="0">
                          <a:solidFill>
                            <a:srgbClr val="003366"/>
                          </a:solidFill>
                        </a:rPr>
                        <a:t>3</a:t>
                      </a:r>
                      <a:endParaRPr lang="zh-CN" altLang="en-US" sz="1800" b="1" dirty="0">
                        <a:solidFill>
                          <a:srgbClr val="003366"/>
                        </a:solidFill>
                      </a:endParaRPr>
                    </a:p>
                  </a:txBody>
                  <a:tcPr marL="91431" marR="91431" marT="45716" marB="45716" anchor="ctr">
                    <a:solidFill>
                      <a:schemeClr val="bg1">
                        <a:lumMod val="85000"/>
                      </a:schemeClr>
                    </a:solidFill>
                  </a:tcPr>
                </a:tc>
                <a:tc>
                  <a:txBody>
                    <a:bodyPr/>
                    <a:lstStyle/>
                    <a:p>
                      <a:pPr algn="ctr"/>
                      <a:r>
                        <a:rPr lang="en-US" altLang="zh-CN" sz="1800" b="1" dirty="0" smtClean="0">
                          <a:solidFill>
                            <a:srgbClr val="008000"/>
                          </a:solidFill>
                        </a:rPr>
                        <a:t>1</a:t>
                      </a:r>
                      <a:endParaRPr lang="zh-CN" altLang="en-US" sz="1800" b="1" dirty="0">
                        <a:solidFill>
                          <a:srgbClr val="008000"/>
                        </a:solidFill>
                      </a:endParaRPr>
                    </a:p>
                  </a:txBody>
                  <a:tcPr marL="91431" marR="91431" marT="45716" marB="45716" anchor="ctr">
                    <a:solidFill>
                      <a:schemeClr val="bg1">
                        <a:lumMod val="85000"/>
                      </a:schemeClr>
                    </a:solidFill>
                  </a:tcPr>
                </a:tc>
                <a:tc>
                  <a:txBody>
                    <a:bodyPr/>
                    <a:lstStyle/>
                    <a:p>
                      <a:pPr algn="ctr"/>
                      <a:r>
                        <a:rPr lang="en-US" altLang="zh-CN" sz="1800" b="1" dirty="0" smtClean="0"/>
                        <a:t>0</a:t>
                      </a:r>
                      <a:endParaRPr lang="zh-CN" altLang="en-US" sz="1800" b="1" dirty="0"/>
                    </a:p>
                  </a:txBody>
                  <a:tcPr marL="91431" marR="91431" marT="45716" marB="45716" anchor="ctr"/>
                </a:tc>
              </a:tr>
              <a:tr h="719931">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5</a:t>
                      </a:r>
                      <a:endParaRPr lang="zh-CN" altLang="en-US" sz="1800" b="1" dirty="0"/>
                    </a:p>
                  </a:txBody>
                  <a:tcPr marL="91431" marR="91431" marT="45716" marB="45716" anchor="ctr"/>
                </a:tc>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1485654279"/>
              </p:ext>
            </p:extLst>
          </p:nvPr>
        </p:nvGraphicFramePr>
        <p:xfrm>
          <a:off x="4935636" y="3142922"/>
          <a:ext cx="2159001" cy="2160588"/>
        </p:xfrm>
        <a:graphic>
          <a:graphicData uri="http://schemas.openxmlformats.org/drawingml/2006/table">
            <a:tbl>
              <a:tblPr firstRow="1" bandRow="1">
                <a:tableStyleId>{5940675A-B579-460E-94D1-54222C63F5DA}</a:tableStyleId>
              </a:tblPr>
              <a:tblGrid>
                <a:gridCol w="719667"/>
                <a:gridCol w="719667"/>
                <a:gridCol w="719667"/>
              </a:tblGrid>
              <a:tr h="720196">
                <a:tc>
                  <a:txBody>
                    <a:bodyPr/>
                    <a:lstStyle/>
                    <a:p>
                      <a:pPr algn="ctr"/>
                      <a:r>
                        <a:rPr lang="en-US" altLang="zh-CN" sz="1800" b="1" dirty="0" smtClean="0">
                          <a:solidFill>
                            <a:srgbClr val="FF0000"/>
                          </a:solidFill>
                        </a:rPr>
                        <a:t>0</a:t>
                      </a:r>
                      <a:endParaRPr lang="zh-CN" altLang="en-US" sz="1800" b="1" dirty="0">
                        <a:solidFill>
                          <a:srgbClr val="FF0000"/>
                        </a:solidFill>
                      </a:endParaRPr>
                    </a:p>
                  </a:txBody>
                  <a:tcPr marL="91409" marR="91409" marT="45711" marB="45711" anchor="ctr">
                    <a:solidFill>
                      <a:schemeClr val="accent2">
                        <a:lumMod val="20000"/>
                        <a:lumOff val="80000"/>
                      </a:schemeClr>
                    </a:solidFill>
                  </a:tcPr>
                </a:tc>
                <a:tc>
                  <a:txBody>
                    <a:bodyPr/>
                    <a:lstStyle/>
                    <a:p>
                      <a:pPr algn="ctr"/>
                      <a:r>
                        <a:rPr lang="en-US" altLang="zh-CN" sz="1800" b="1" dirty="0" smtClean="0">
                          <a:solidFill>
                            <a:srgbClr val="FF33CC"/>
                          </a:solidFill>
                        </a:rPr>
                        <a:t>1</a:t>
                      </a:r>
                      <a:endParaRPr lang="zh-CN" altLang="en-US" sz="1800" b="1" dirty="0">
                        <a:solidFill>
                          <a:srgbClr val="FF33CC"/>
                        </a:solidFill>
                      </a:endParaRPr>
                    </a:p>
                  </a:txBody>
                  <a:tcPr marL="91409" marR="91409" marT="45711" marB="45711" anchor="ctr">
                    <a:solidFill>
                      <a:schemeClr val="accent2">
                        <a:lumMod val="20000"/>
                        <a:lumOff val="80000"/>
                      </a:schemeClr>
                    </a:solidFill>
                  </a:tcPr>
                </a:tc>
                <a:tc>
                  <a:txBody>
                    <a:bodyPr/>
                    <a:lstStyle/>
                    <a:p>
                      <a:pPr algn="ctr"/>
                      <a:r>
                        <a:rPr lang="en-US" altLang="zh-CN" sz="1800" b="1" dirty="0" smtClean="0">
                          <a:solidFill>
                            <a:schemeClr val="accent4">
                              <a:lumMod val="75000"/>
                            </a:schemeClr>
                          </a:solidFill>
                        </a:rPr>
                        <a:t>0</a:t>
                      </a:r>
                      <a:endParaRPr lang="zh-CN" altLang="en-US" sz="1800" b="1" dirty="0">
                        <a:solidFill>
                          <a:schemeClr val="accent4">
                            <a:lumMod val="75000"/>
                          </a:schemeClr>
                        </a:solidFill>
                      </a:endParaRPr>
                    </a:p>
                  </a:txBody>
                  <a:tcPr marL="91409" marR="91409" marT="45711" marB="45711" anchor="ctr">
                    <a:solidFill>
                      <a:schemeClr val="accent2">
                        <a:lumMod val="20000"/>
                        <a:lumOff val="80000"/>
                      </a:schemeClr>
                    </a:solidFill>
                  </a:tcPr>
                </a:tc>
              </a:tr>
              <a:tr h="720196">
                <a:tc>
                  <a:txBody>
                    <a:bodyPr/>
                    <a:lstStyle/>
                    <a:p>
                      <a:pPr algn="ctr"/>
                      <a:r>
                        <a:rPr lang="en-US" altLang="zh-CN" sz="1800" b="1" dirty="0" smtClean="0">
                          <a:solidFill>
                            <a:srgbClr val="FF7C80"/>
                          </a:solidFill>
                        </a:rPr>
                        <a:t>1</a:t>
                      </a:r>
                      <a:endParaRPr lang="zh-CN" altLang="en-US" sz="1800" b="1" dirty="0">
                        <a:solidFill>
                          <a:srgbClr val="FF7C80"/>
                        </a:solidFill>
                      </a:endParaRPr>
                    </a:p>
                  </a:txBody>
                  <a:tcPr marL="91409" marR="91409" marT="45711" marB="45711" anchor="ctr">
                    <a:solidFill>
                      <a:schemeClr val="accent2">
                        <a:lumMod val="20000"/>
                        <a:lumOff val="80000"/>
                      </a:schemeClr>
                    </a:solidFill>
                  </a:tcPr>
                </a:tc>
                <a:tc>
                  <a:txBody>
                    <a:bodyPr/>
                    <a:lstStyle/>
                    <a:p>
                      <a:pPr algn="ctr"/>
                      <a:r>
                        <a:rPr lang="en-US" altLang="zh-CN" sz="1800" b="1" dirty="0" smtClean="0">
                          <a:solidFill>
                            <a:srgbClr val="0000FF"/>
                          </a:solidFill>
                        </a:rPr>
                        <a:t>-4</a:t>
                      </a:r>
                      <a:endParaRPr lang="zh-CN" altLang="en-US" sz="1800" b="1" dirty="0">
                        <a:solidFill>
                          <a:srgbClr val="0000FF"/>
                        </a:solidFill>
                      </a:endParaRPr>
                    </a:p>
                  </a:txBody>
                  <a:tcPr marL="91409" marR="91409" marT="45711" marB="45711" anchor="ctr">
                    <a:solidFill>
                      <a:schemeClr val="accent2">
                        <a:lumMod val="20000"/>
                        <a:lumOff val="80000"/>
                      </a:schemeClr>
                    </a:solidFill>
                  </a:tcPr>
                </a:tc>
                <a:tc>
                  <a:txBody>
                    <a:bodyPr/>
                    <a:lstStyle/>
                    <a:p>
                      <a:pPr algn="ctr"/>
                      <a:r>
                        <a:rPr lang="en-US" altLang="zh-CN" sz="1800" b="1" dirty="0" smtClean="0">
                          <a:solidFill>
                            <a:srgbClr val="A50021"/>
                          </a:solidFill>
                        </a:rPr>
                        <a:t>1</a:t>
                      </a:r>
                      <a:endParaRPr lang="zh-CN" altLang="en-US" sz="1800" b="1" dirty="0">
                        <a:solidFill>
                          <a:srgbClr val="A50021"/>
                        </a:solidFill>
                      </a:endParaRPr>
                    </a:p>
                  </a:txBody>
                  <a:tcPr marL="91409" marR="91409" marT="45711" marB="45711" anchor="ctr">
                    <a:solidFill>
                      <a:schemeClr val="accent2">
                        <a:lumMod val="20000"/>
                        <a:lumOff val="80000"/>
                      </a:schemeClr>
                    </a:solidFill>
                  </a:tcPr>
                </a:tc>
              </a:tr>
              <a:tr h="720196">
                <a:tc>
                  <a:txBody>
                    <a:bodyPr/>
                    <a:lstStyle/>
                    <a:p>
                      <a:pPr algn="ctr"/>
                      <a:r>
                        <a:rPr lang="en-US" altLang="zh-CN" sz="1800" b="1" dirty="0" smtClean="0">
                          <a:solidFill>
                            <a:srgbClr val="00CC00"/>
                          </a:solidFill>
                        </a:rPr>
                        <a:t>0</a:t>
                      </a:r>
                      <a:endParaRPr lang="zh-CN" altLang="en-US" sz="1800" b="1" dirty="0">
                        <a:solidFill>
                          <a:srgbClr val="00CC00"/>
                        </a:solidFill>
                      </a:endParaRPr>
                    </a:p>
                  </a:txBody>
                  <a:tcPr marL="91409" marR="91409" marT="45711" marB="45711" anchor="ctr">
                    <a:solidFill>
                      <a:schemeClr val="accent2">
                        <a:lumMod val="20000"/>
                        <a:lumOff val="80000"/>
                      </a:schemeClr>
                    </a:solidFill>
                  </a:tcPr>
                </a:tc>
                <a:tc>
                  <a:txBody>
                    <a:bodyPr/>
                    <a:lstStyle/>
                    <a:p>
                      <a:pPr algn="ctr"/>
                      <a:r>
                        <a:rPr lang="en-US" altLang="zh-CN" sz="1800" b="1" dirty="0" smtClean="0">
                          <a:solidFill>
                            <a:srgbClr val="003366"/>
                          </a:solidFill>
                        </a:rPr>
                        <a:t>1</a:t>
                      </a:r>
                      <a:endParaRPr lang="zh-CN" altLang="en-US" sz="1800" b="1" dirty="0">
                        <a:solidFill>
                          <a:srgbClr val="003366"/>
                        </a:solidFill>
                      </a:endParaRPr>
                    </a:p>
                  </a:txBody>
                  <a:tcPr marL="91409" marR="91409" marT="45711" marB="45711" anchor="ctr">
                    <a:solidFill>
                      <a:schemeClr val="accent2">
                        <a:lumMod val="20000"/>
                        <a:lumOff val="80000"/>
                      </a:schemeClr>
                    </a:solidFill>
                  </a:tcPr>
                </a:tc>
                <a:tc>
                  <a:txBody>
                    <a:bodyPr/>
                    <a:lstStyle/>
                    <a:p>
                      <a:pPr algn="ctr"/>
                      <a:r>
                        <a:rPr lang="en-US" altLang="zh-CN" sz="1800" b="1" dirty="0" smtClean="0">
                          <a:solidFill>
                            <a:srgbClr val="008000"/>
                          </a:solidFill>
                        </a:rPr>
                        <a:t>0</a:t>
                      </a:r>
                      <a:endParaRPr lang="zh-CN" altLang="en-US" sz="1800" b="1" dirty="0">
                        <a:solidFill>
                          <a:srgbClr val="008000"/>
                        </a:solidFill>
                      </a:endParaRPr>
                    </a:p>
                  </a:txBody>
                  <a:tcPr marL="91409" marR="91409" marT="45711" marB="45711" anchor="ctr">
                    <a:solidFill>
                      <a:schemeClr val="accent2">
                        <a:lumMod val="20000"/>
                        <a:lumOff val="80000"/>
                      </a:schemeClr>
                    </a:solidFill>
                  </a:tcPr>
                </a:tc>
              </a:tr>
            </a:tbl>
          </a:graphicData>
        </a:graphic>
      </p:graphicFrame>
      <p:sp>
        <p:nvSpPr>
          <p:cNvPr id="6" name="文本框 21"/>
          <p:cNvSpPr txBox="1">
            <a:spLocks noChangeArrowheads="1"/>
          </p:cNvSpPr>
          <p:nvPr/>
        </p:nvSpPr>
        <p:spPr bwMode="auto">
          <a:xfrm>
            <a:off x="1495097" y="5767942"/>
            <a:ext cx="20024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4×4</a:t>
            </a:r>
            <a:r>
              <a:rPr lang="zh-CN" altLang="en-US" b="1" dirty="0"/>
              <a:t>单通道特征图</a:t>
            </a:r>
          </a:p>
        </p:txBody>
      </p:sp>
      <p:sp>
        <p:nvSpPr>
          <p:cNvPr id="7" name="文本框 22"/>
          <p:cNvSpPr txBox="1">
            <a:spLocks noChangeArrowheads="1"/>
          </p:cNvSpPr>
          <p:nvPr/>
        </p:nvSpPr>
        <p:spPr bwMode="auto">
          <a:xfrm>
            <a:off x="4536125" y="5767942"/>
            <a:ext cx="31181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3×3</a:t>
            </a:r>
            <a:r>
              <a:rPr lang="zh-CN" altLang="en-US" b="1" dirty="0"/>
              <a:t>卷积核 </a:t>
            </a:r>
            <a:r>
              <a:rPr lang="en-US" altLang="zh-CN" b="1" dirty="0"/>
              <a:t>(</a:t>
            </a:r>
            <a:r>
              <a:rPr lang="en-US" altLang="zh-CN" b="1" dirty="0" err="1"/>
              <a:t>Laplacian</a:t>
            </a:r>
            <a:r>
              <a:rPr lang="zh-CN" altLang="en-US" b="1" dirty="0"/>
              <a:t>算子</a:t>
            </a:r>
            <a:r>
              <a:rPr lang="en-US" altLang="zh-CN" b="1" dirty="0"/>
              <a:t>) </a:t>
            </a:r>
            <a:endParaRPr lang="zh-CN" altLang="en-US" b="1" dirty="0"/>
          </a:p>
        </p:txBody>
      </p:sp>
      <p:sp>
        <p:nvSpPr>
          <p:cNvPr id="8" name="文本框 6"/>
          <p:cNvSpPr txBox="1">
            <a:spLocks noChangeArrowheads="1"/>
          </p:cNvSpPr>
          <p:nvPr/>
        </p:nvSpPr>
        <p:spPr bwMode="auto">
          <a:xfrm>
            <a:off x="4332386" y="4041447"/>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a:sym typeface="Wingdings 2" panose="05020102010507070707" pitchFamily="18" charset="2"/>
              </a:rPr>
              <a:t></a:t>
            </a:r>
            <a:endParaRPr lang="zh-CN" altLang="en-US"/>
          </a:p>
        </p:txBody>
      </p:sp>
      <p:graphicFrame>
        <p:nvGraphicFramePr>
          <p:cNvPr id="9" name="表格 8"/>
          <p:cNvGraphicFramePr>
            <a:graphicFrameLocks noGrp="1"/>
          </p:cNvGraphicFramePr>
          <p:nvPr>
            <p:extLst>
              <p:ext uri="{D42A27DB-BD31-4B8C-83A1-F6EECF244321}">
                <p14:modId xmlns:p14="http://schemas.microsoft.com/office/powerpoint/2010/main" val="1000184788"/>
              </p:ext>
            </p:extLst>
          </p:nvPr>
        </p:nvGraphicFramePr>
        <p:xfrm>
          <a:off x="7880448" y="3866822"/>
          <a:ext cx="720725" cy="719138"/>
        </p:xfrm>
        <a:graphic>
          <a:graphicData uri="http://schemas.openxmlformats.org/drawingml/2006/table">
            <a:tbl>
              <a:tblPr firstRow="1" bandRow="1">
                <a:tableStyleId>{5C22544A-7EE6-4342-B048-85BDC9FD1C3A}</a:tableStyleId>
              </a:tblPr>
              <a:tblGrid>
                <a:gridCol w="720725"/>
              </a:tblGrid>
              <a:tr h="719138">
                <a:tc>
                  <a:txBody>
                    <a:bodyPr/>
                    <a:lstStyle/>
                    <a:p>
                      <a:pPr algn="ctr"/>
                      <a:r>
                        <a:rPr lang="en-US" altLang="zh-CN" sz="1800" b="1" dirty="0" smtClean="0">
                          <a:solidFill>
                            <a:srgbClr val="82AEBC"/>
                          </a:solidFill>
                        </a:rPr>
                        <a:t>2</a:t>
                      </a:r>
                      <a:endParaRPr lang="zh-CN" altLang="en-US" sz="1800" b="1" dirty="0">
                        <a:solidFill>
                          <a:srgbClr val="82AEBC"/>
                        </a:solidFill>
                      </a:endParaRPr>
                    </a:p>
                  </a:txBody>
                  <a:tcPr marL="91543" marR="91543" marT="45671" marB="45671" anchor="ctr">
                    <a:solidFill>
                      <a:schemeClr val="accent2">
                        <a:lumMod val="20000"/>
                        <a:lumOff val="80000"/>
                      </a:schemeClr>
                    </a:solidFill>
                  </a:tcPr>
                </a:tc>
              </a:tr>
            </a:tbl>
          </a:graphicData>
        </a:graphic>
      </p:graphicFrame>
      <p:sp>
        <p:nvSpPr>
          <p:cNvPr id="10" name="文本框 23"/>
          <p:cNvSpPr txBox="1">
            <a:spLocks noChangeArrowheads="1"/>
          </p:cNvSpPr>
          <p:nvPr/>
        </p:nvSpPr>
        <p:spPr bwMode="auto">
          <a:xfrm>
            <a:off x="7980524" y="5767942"/>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a:t>偏置</a:t>
            </a:r>
          </a:p>
        </p:txBody>
      </p:sp>
      <p:sp>
        <p:nvSpPr>
          <p:cNvPr id="11" name="文本框 24"/>
          <p:cNvSpPr txBox="1">
            <a:spLocks noChangeArrowheads="1"/>
          </p:cNvSpPr>
          <p:nvPr/>
        </p:nvSpPr>
        <p:spPr bwMode="auto">
          <a:xfrm>
            <a:off x="7396261" y="4041447"/>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a:sym typeface="Symbol" panose="05050102010706020507" pitchFamily="18" charset="2"/>
              </a:rPr>
              <a:t></a:t>
            </a:r>
            <a:endParaRPr lang="zh-CN" altLang="en-US"/>
          </a:p>
        </p:txBody>
      </p:sp>
      <p:sp>
        <p:nvSpPr>
          <p:cNvPr id="12" name="文本框 23"/>
          <p:cNvSpPr txBox="1">
            <a:spLocks noChangeArrowheads="1"/>
          </p:cNvSpPr>
          <p:nvPr/>
        </p:nvSpPr>
        <p:spPr bwMode="auto">
          <a:xfrm>
            <a:off x="8858348" y="4071610"/>
            <a:ext cx="2889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sz="1400" b="1"/>
              <a:t>=</a:t>
            </a:r>
            <a:endParaRPr lang="zh-CN" altLang="en-US" sz="1400" b="1"/>
          </a:p>
        </p:txBody>
      </p:sp>
      <p:graphicFrame>
        <p:nvGraphicFramePr>
          <p:cNvPr id="13" name="表格 12"/>
          <p:cNvGraphicFramePr>
            <a:graphicFrameLocks noGrp="1"/>
          </p:cNvGraphicFramePr>
          <p:nvPr>
            <p:extLst>
              <p:ext uri="{D42A27DB-BD31-4B8C-83A1-F6EECF244321}">
                <p14:modId xmlns:p14="http://schemas.microsoft.com/office/powerpoint/2010/main" val="1940871566"/>
              </p:ext>
            </p:extLst>
          </p:nvPr>
        </p:nvGraphicFramePr>
        <p:xfrm>
          <a:off x="9336186" y="3528685"/>
          <a:ext cx="1439862" cy="1441450"/>
        </p:xfrm>
        <a:graphic>
          <a:graphicData uri="http://schemas.openxmlformats.org/drawingml/2006/table">
            <a:tbl>
              <a:tblPr firstRow="1" bandRow="1">
                <a:tableStyleId>{5940675A-B579-460E-94D1-54222C63F5DA}</a:tableStyleId>
              </a:tblPr>
              <a:tblGrid>
                <a:gridCol w="719931"/>
                <a:gridCol w="719931"/>
              </a:tblGrid>
              <a:tr h="720725">
                <a:tc>
                  <a:txBody>
                    <a:bodyPr/>
                    <a:lstStyle/>
                    <a:p>
                      <a:pPr algn="ctr"/>
                      <a:r>
                        <a:rPr lang="en-US" altLang="zh-CN" sz="1800" b="1" dirty="0" smtClean="0">
                          <a:solidFill>
                            <a:schemeClr val="tx1"/>
                          </a:solidFill>
                        </a:rPr>
                        <a:t>10</a:t>
                      </a:r>
                      <a:endParaRPr lang="zh-CN" altLang="en-US" sz="1800" b="1" dirty="0">
                        <a:solidFill>
                          <a:schemeClr val="tx1"/>
                        </a:solidFill>
                      </a:endParaRPr>
                    </a:p>
                  </a:txBody>
                  <a:tcPr marL="91431" marR="91431" marT="45766" marB="45766" anchor="ctr">
                    <a:solidFill>
                      <a:schemeClr val="bg1">
                        <a:lumMod val="85000"/>
                      </a:schemeClr>
                    </a:solidFill>
                  </a:tcPr>
                </a:tc>
                <a:tc>
                  <a:txBody>
                    <a:bodyPr/>
                    <a:lstStyle/>
                    <a:p>
                      <a:pPr algn="ctr"/>
                      <a:endParaRPr lang="zh-CN" altLang="en-US" sz="1800" dirty="0"/>
                    </a:p>
                  </a:txBody>
                  <a:tcPr marL="91431" marR="91431" marT="45766" marB="45766" anchor="ctr"/>
                </a:tc>
              </a:tr>
              <a:tr h="720725">
                <a:tc>
                  <a:txBody>
                    <a:bodyPr/>
                    <a:lstStyle/>
                    <a:p>
                      <a:pPr algn="ctr"/>
                      <a:endParaRPr lang="zh-CN" altLang="en-US" sz="1800" dirty="0"/>
                    </a:p>
                  </a:txBody>
                  <a:tcPr marL="91431" marR="91431" marT="45766" marB="45766" anchor="ctr"/>
                </a:tc>
                <a:tc>
                  <a:txBody>
                    <a:bodyPr/>
                    <a:lstStyle/>
                    <a:p>
                      <a:pPr algn="ctr"/>
                      <a:endParaRPr lang="zh-CN" altLang="en-US" sz="1800" dirty="0"/>
                    </a:p>
                  </a:txBody>
                  <a:tcPr marL="91431" marR="91431" marT="45766" marB="45766" anchor="ctr"/>
                </a:tc>
              </a:tr>
            </a:tbl>
          </a:graphicData>
        </a:graphic>
      </p:graphicFrame>
    </p:spTree>
    <p:extLst>
      <p:ext uri="{BB962C8B-B14F-4D97-AF65-F5344CB8AC3E}">
        <p14:creationId xmlns:p14="http://schemas.microsoft.com/office/powerpoint/2010/main" val="3537426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卷积计算示例</a:t>
            </a:r>
            <a:endParaRPr lang="zh-CN" altLang="en-US" dirty="0"/>
          </a:p>
        </p:txBody>
      </p:sp>
      <p:sp>
        <p:nvSpPr>
          <p:cNvPr id="3" name="内容占位符 2"/>
          <p:cNvSpPr>
            <a:spLocks noGrp="1"/>
          </p:cNvSpPr>
          <p:nvPr>
            <p:ph sz="quarter" idx="13"/>
          </p:nvPr>
        </p:nvSpPr>
        <p:spPr/>
        <p:txBody>
          <a:bodyPr/>
          <a:lstStyle/>
          <a:p>
            <a:r>
              <a:rPr lang="zh-CN" altLang="en-US" dirty="0"/>
              <a:t>接下来我们开始让卷积核在输入特征图上依次滑动，滑动方向为从左到右，从上到下</a:t>
            </a:r>
            <a:r>
              <a:rPr lang="zh-CN" altLang="en-US" dirty="0" smtClean="0"/>
              <a:t>。</a:t>
            </a:r>
            <a:endParaRPr lang="en-US" altLang="zh-CN" dirty="0" smtClean="0"/>
          </a:p>
          <a:p>
            <a:r>
              <a:rPr lang="zh-CN" altLang="en-US" dirty="0"/>
              <a:t>同样地，对第二个区域使用相同的卷积核与偏置进行卷积</a:t>
            </a:r>
            <a:r>
              <a:rPr lang="zh-CN" altLang="en-US" dirty="0" smtClean="0"/>
              <a:t>计算</a:t>
            </a:r>
            <a:r>
              <a:rPr lang="zh-CN" altLang="en-US" dirty="0"/>
              <a:t>。</a:t>
            </a:r>
            <a:endParaRPr lang="en-US" altLang="zh-CN" dirty="0" smtClean="0"/>
          </a:p>
          <a:p>
            <a:r>
              <a:rPr lang="en-US" altLang="zh-CN" b="1" dirty="0" smtClean="0"/>
              <a:t>(</a:t>
            </a:r>
            <a:r>
              <a:rPr lang="en-US" altLang="zh-CN" b="1" dirty="0"/>
              <a:t>3×0+1×1+2×0+0×1+0×(-4)+1×1+3×0+1×1+0×0)+2 = </a:t>
            </a:r>
            <a:r>
              <a:rPr lang="en-US" altLang="zh-CN" b="1" dirty="0">
                <a:solidFill>
                  <a:srgbClr val="79D1ED"/>
                </a:solidFill>
              </a:rPr>
              <a:t>5</a:t>
            </a:r>
            <a:r>
              <a:rPr lang="en-US" altLang="zh-CN" b="1" dirty="0"/>
              <a:t> </a:t>
            </a:r>
            <a:r>
              <a:rPr lang="zh-CN" altLang="en-US" b="1" dirty="0"/>
              <a:t>。</a:t>
            </a:r>
            <a:endParaRPr lang="en-US" altLang="zh-CN" dirty="0"/>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393278671"/>
              </p:ext>
            </p:extLst>
          </p:nvPr>
        </p:nvGraphicFramePr>
        <p:xfrm>
          <a:off x="1060040" y="2707444"/>
          <a:ext cx="2879724" cy="2879724"/>
        </p:xfrm>
        <a:graphic>
          <a:graphicData uri="http://schemas.openxmlformats.org/drawingml/2006/table">
            <a:tbl>
              <a:tblPr firstRow="1" bandRow="1">
                <a:tableStyleId>{5940675A-B579-460E-94D1-54222C63F5DA}</a:tableStyleId>
              </a:tblPr>
              <a:tblGrid>
                <a:gridCol w="719931"/>
                <a:gridCol w="719931"/>
                <a:gridCol w="719931"/>
                <a:gridCol w="719931"/>
              </a:tblGrid>
              <a:tr h="719931">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3</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2</a:t>
                      </a:r>
                      <a:endParaRPr lang="zh-CN" altLang="en-US" sz="1800" b="1" dirty="0"/>
                    </a:p>
                  </a:txBody>
                  <a:tcPr marL="91431" marR="91431" marT="45716" marB="45716" anchor="ctr">
                    <a:solidFill>
                      <a:schemeClr val="bg1">
                        <a:lumMod val="85000"/>
                      </a:schemeClr>
                    </a:solidFill>
                  </a:tcPr>
                </a:tc>
              </a:tr>
              <a:tr h="719931">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0</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0</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r>
              <a:tr h="719931">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3</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0</a:t>
                      </a:r>
                      <a:endParaRPr lang="zh-CN" altLang="en-US" sz="1800" b="1" dirty="0"/>
                    </a:p>
                  </a:txBody>
                  <a:tcPr marL="91431" marR="91431" marT="45716" marB="45716" anchor="ctr">
                    <a:solidFill>
                      <a:schemeClr val="bg1">
                        <a:lumMod val="85000"/>
                      </a:schemeClr>
                    </a:solidFill>
                  </a:tcPr>
                </a:tc>
              </a:tr>
              <a:tr h="719931">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5</a:t>
                      </a:r>
                      <a:endParaRPr lang="zh-CN" altLang="en-US" sz="1800" b="1" dirty="0"/>
                    </a:p>
                  </a:txBody>
                  <a:tcPr marL="91431" marR="91431" marT="45716" marB="45716" anchor="ctr"/>
                </a:tc>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612044545"/>
              </p:ext>
            </p:extLst>
          </p:nvPr>
        </p:nvGraphicFramePr>
        <p:xfrm>
          <a:off x="4849402" y="3094794"/>
          <a:ext cx="2160588" cy="2159001"/>
        </p:xfrm>
        <a:graphic>
          <a:graphicData uri="http://schemas.openxmlformats.org/drawingml/2006/table">
            <a:tbl>
              <a:tblPr firstRow="1" bandRow="1">
                <a:tableStyleId>{5940675A-B579-460E-94D1-54222C63F5DA}</a:tableStyleId>
              </a:tblPr>
              <a:tblGrid>
                <a:gridCol w="720196"/>
                <a:gridCol w="720196"/>
                <a:gridCol w="720196"/>
              </a:tblGrid>
              <a:tr h="719667">
                <a:tc>
                  <a:txBody>
                    <a:bodyPr/>
                    <a:lstStyle/>
                    <a:p>
                      <a:pPr algn="ctr"/>
                      <a:r>
                        <a:rPr lang="en-US" altLang="zh-CN" sz="1800" b="1" dirty="0" smtClean="0"/>
                        <a:t>0</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0</a:t>
                      </a:r>
                      <a:endParaRPr lang="zh-CN" altLang="en-US" sz="1800" b="1" dirty="0"/>
                    </a:p>
                  </a:txBody>
                  <a:tcPr marL="91476" marR="91476" marT="45678" marB="45678" anchor="ctr">
                    <a:solidFill>
                      <a:schemeClr val="accent2">
                        <a:lumMod val="20000"/>
                        <a:lumOff val="80000"/>
                      </a:schemeClr>
                    </a:solidFill>
                  </a:tcPr>
                </a:tc>
              </a:tr>
              <a:tr h="719667">
                <a:tc>
                  <a:txBody>
                    <a:bodyPr/>
                    <a:lstStyle/>
                    <a:p>
                      <a:pPr algn="ctr"/>
                      <a:r>
                        <a:rPr lang="en-US" altLang="zh-CN" sz="1800" b="1" dirty="0" smtClean="0"/>
                        <a:t>1</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-4</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76" marR="91476" marT="45678" marB="45678" anchor="ctr">
                    <a:solidFill>
                      <a:schemeClr val="accent2">
                        <a:lumMod val="20000"/>
                        <a:lumOff val="80000"/>
                      </a:schemeClr>
                    </a:solidFill>
                  </a:tcPr>
                </a:tc>
              </a:tr>
              <a:tr h="719667">
                <a:tc>
                  <a:txBody>
                    <a:bodyPr/>
                    <a:lstStyle/>
                    <a:p>
                      <a:pPr algn="ctr"/>
                      <a:r>
                        <a:rPr lang="en-US" altLang="zh-CN" sz="1800" b="1" dirty="0" smtClean="0"/>
                        <a:t>0</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0</a:t>
                      </a:r>
                      <a:endParaRPr lang="zh-CN" altLang="en-US" sz="1800" b="1" dirty="0"/>
                    </a:p>
                  </a:txBody>
                  <a:tcPr marL="91476" marR="91476" marT="45678" marB="45678" anchor="ctr">
                    <a:solidFill>
                      <a:schemeClr val="accent2">
                        <a:lumMod val="20000"/>
                        <a:lumOff val="80000"/>
                      </a:schemeClr>
                    </a:solidFill>
                  </a:tcPr>
                </a:tc>
              </a:tr>
            </a:tbl>
          </a:graphicData>
        </a:graphic>
      </p:graphicFrame>
      <p:sp>
        <p:nvSpPr>
          <p:cNvPr id="6" name="文本框 21"/>
          <p:cNvSpPr txBox="1">
            <a:spLocks noChangeArrowheads="1"/>
          </p:cNvSpPr>
          <p:nvPr/>
        </p:nvSpPr>
        <p:spPr bwMode="auto">
          <a:xfrm>
            <a:off x="1444468" y="5767942"/>
            <a:ext cx="20024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4×4</a:t>
            </a:r>
            <a:r>
              <a:rPr lang="zh-CN" altLang="en-US" b="1" dirty="0"/>
              <a:t>单通道特征图</a:t>
            </a:r>
          </a:p>
        </p:txBody>
      </p:sp>
      <p:sp>
        <p:nvSpPr>
          <p:cNvPr id="7" name="文本框 22"/>
          <p:cNvSpPr txBox="1">
            <a:spLocks noChangeArrowheads="1"/>
          </p:cNvSpPr>
          <p:nvPr/>
        </p:nvSpPr>
        <p:spPr bwMode="auto">
          <a:xfrm>
            <a:off x="4426333" y="5771662"/>
            <a:ext cx="31181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3×3</a:t>
            </a:r>
            <a:r>
              <a:rPr lang="zh-CN" altLang="en-US" b="1" dirty="0"/>
              <a:t>卷积核 </a:t>
            </a:r>
            <a:r>
              <a:rPr lang="en-US" altLang="zh-CN" b="1" dirty="0"/>
              <a:t>(</a:t>
            </a:r>
            <a:r>
              <a:rPr lang="en-US" altLang="zh-CN" b="1" dirty="0" err="1"/>
              <a:t>Laplacian</a:t>
            </a:r>
            <a:r>
              <a:rPr lang="zh-CN" altLang="en-US" b="1" dirty="0"/>
              <a:t>算子</a:t>
            </a:r>
            <a:r>
              <a:rPr lang="en-US" altLang="zh-CN" b="1" dirty="0"/>
              <a:t>) </a:t>
            </a:r>
            <a:endParaRPr lang="zh-CN" altLang="en-US" b="1" dirty="0"/>
          </a:p>
        </p:txBody>
      </p:sp>
      <p:sp>
        <p:nvSpPr>
          <p:cNvPr id="8" name="文本框 6"/>
          <p:cNvSpPr txBox="1">
            <a:spLocks noChangeArrowheads="1"/>
          </p:cNvSpPr>
          <p:nvPr/>
        </p:nvSpPr>
        <p:spPr bwMode="auto">
          <a:xfrm>
            <a:off x="4228690" y="3937756"/>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a:sym typeface="Wingdings 2" panose="05020102010507070707" pitchFamily="18" charset="2"/>
              </a:rPr>
              <a:t></a:t>
            </a:r>
            <a:endParaRPr lang="zh-CN" altLang="en-US"/>
          </a:p>
        </p:txBody>
      </p:sp>
      <p:graphicFrame>
        <p:nvGraphicFramePr>
          <p:cNvPr id="9" name="表格 8"/>
          <p:cNvGraphicFramePr>
            <a:graphicFrameLocks noGrp="1"/>
          </p:cNvGraphicFramePr>
          <p:nvPr>
            <p:extLst>
              <p:ext uri="{D42A27DB-BD31-4B8C-83A1-F6EECF244321}">
                <p14:modId xmlns:p14="http://schemas.microsoft.com/office/powerpoint/2010/main" val="2592716840"/>
              </p:ext>
            </p:extLst>
          </p:nvPr>
        </p:nvGraphicFramePr>
        <p:xfrm>
          <a:off x="7776752" y="3763131"/>
          <a:ext cx="720725" cy="719138"/>
        </p:xfrm>
        <a:graphic>
          <a:graphicData uri="http://schemas.openxmlformats.org/drawingml/2006/table">
            <a:tbl>
              <a:tblPr firstRow="1" bandRow="1">
                <a:tableStyleId>{5C22544A-7EE6-4342-B048-85BDC9FD1C3A}</a:tableStyleId>
              </a:tblPr>
              <a:tblGrid>
                <a:gridCol w="720725"/>
              </a:tblGrid>
              <a:tr h="719138">
                <a:tc>
                  <a:txBody>
                    <a:bodyPr/>
                    <a:lstStyle/>
                    <a:p>
                      <a:pPr algn="ctr"/>
                      <a:r>
                        <a:rPr lang="en-US" altLang="zh-CN" sz="1800" b="1" dirty="0" smtClean="0">
                          <a:solidFill>
                            <a:schemeClr val="tx1"/>
                          </a:solidFill>
                        </a:rPr>
                        <a:t>2</a:t>
                      </a:r>
                      <a:endParaRPr lang="zh-CN" altLang="en-US" sz="1800" b="1" dirty="0">
                        <a:solidFill>
                          <a:schemeClr val="tx1"/>
                        </a:solidFill>
                      </a:endParaRPr>
                    </a:p>
                  </a:txBody>
                  <a:tcPr marL="91543" marR="91543" marT="45671" marB="45671" anchor="ctr">
                    <a:solidFill>
                      <a:schemeClr val="accent2">
                        <a:lumMod val="20000"/>
                        <a:lumOff val="80000"/>
                      </a:schemeClr>
                    </a:solidFill>
                  </a:tcPr>
                </a:tc>
              </a:tr>
            </a:tbl>
          </a:graphicData>
        </a:graphic>
      </p:graphicFrame>
      <p:sp>
        <p:nvSpPr>
          <p:cNvPr id="10" name="文本框 23"/>
          <p:cNvSpPr txBox="1">
            <a:spLocks noChangeArrowheads="1"/>
          </p:cNvSpPr>
          <p:nvPr/>
        </p:nvSpPr>
        <p:spPr bwMode="auto">
          <a:xfrm>
            <a:off x="7877557" y="5767942"/>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a:t>偏置</a:t>
            </a:r>
          </a:p>
        </p:txBody>
      </p:sp>
      <p:sp>
        <p:nvSpPr>
          <p:cNvPr id="11" name="文本框 24"/>
          <p:cNvSpPr txBox="1">
            <a:spLocks noChangeArrowheads="1"/>
          </p:cNvSpPr>
          <p:nvPr/>
        </p:nvSpPr>
        <p:spPr bwMode="auto">
          <a:xfrm>
            <a:off x="7292565" y="3937756"/>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a:sym typeface="Symbol" panose="05050102010706020507" pitchFamily="18" charset="2"/>
              </a:rPr>
              <a:t></a:t>
            </a:r>
            <a:endParaRPr lang="zh-CN" altLang="en-US"/>
          </a:p>
        </p:txBody>
      </p:sp>
      <p:sp>
        <p:nvSpPr>
          <p:cNvPr id="12" name="文本框 23"/>
          <p:cNvSpPr txBox="1">
            <a:spLocks noChangeArrowheads="1"/>
          </p:cNvSpPr>
          <p:nvPr/>
        </p:nvSpPr>
        <p:spPr bwMode="auto">
          <a:xfrm>
            <a:off x="8754652" y="3967919"/>
            <a:ext cx="2889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sz="1400" b="1"/>
              <a:t>=</a:t>
            </a:r>
            <a:endParaRPr lang="zh-CN" altLang="en-US" sz="1400" b="1"/>
          </a:p>
        </p:txBody>
      </p:sp>
      <p:graphicFrame>
        <p:nvGraphicFramePr>
          <p:cNvPr id="13" name="表格 12"/>
          <p:cNvGraphicFramePr>
            <a:graphicFrameLocks noGrp="1"/>
          </p:cNvGraphicFramePr>
          <p:nvPr>
            <p:extLst>
              <p:ext uri="{D42A27DB-BD31-4B8C-83A1-F6EECF244321}">
                <p14:modId xmlns:p14="http://schemas.microsoft.com/office/powerpoint/2010/main" val="2692549791"/>
              </p:ext>
            </p:extLst>
          </p:nvPr>
        </p:nvGraphicFramePr>
        <p:xfrm>
          <a:off x="9232490" y="3424994"/>
          <a:ext cx="1439862" cy="1441450"/>
        </p:xfrm>
        <a:graphic>
          <a:graphicData uri="http://schemas.openxmlformats.org/drawingml/2006/table">
            <a:tbl>
              <a:tblPr firstRow="1" bandRow="1">
                <a:tableStyleId>{5940675A-B579-460E-94D1-54222C63F5DA}</a:tableStyleId>
              </a:tblPr>
              <a:tblGrid>
                <a:gridCol w="719931"/>
                <a:gridCol w="719931"/>
              </a:tblGrid>
              <a:tr h="72072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smtClean="0">
                          <a:solidFill>
                            <a:schemeClr val="tx1"/>
                          </a:solidFill>
                        </a:rPr>
                        <a:t>10</a:t>
                      </a:r>
                      <a:endParaRPr lang="zh-CN" altLang="en-US" sz="1800" b="1" dirty="0" smtClean="0">
                        <a:solidFill>
                          <a:schemeClr val="tx1"/>
                        </a:solidFill>
                      </a:endParaRPr>
                    </a:p>
                  </a:txBody>
                  <a:tcPr marL="91431" marR="91431" marT="45766" marB="45766"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smtClean="0">
                          <a:solidFill>
                            <a:schemeClr val="tx1"/>
                          </a:solidFill>
                        </a:rPr>
                        <a:t>5</a:t>
                      </a:r>
                      <a:endParaRPr lang="zh-CN" altLang="en-US" sz="1800" b="1" dirty="0" smtClean="0">
                        <a:solidFill>
                          <a:schemeClr val="tx1"/>
                        </a:solidFill>
                      </a:endParaRPr>
                    </a:p>
                  </a:txBody>
                  <a:tcPr marL="91431" marR="91431" marT="45766" marB="45766" anchor="ctr">
                    <a:solidFill>
                      <a:schemeClr val="bg1">
                        <a:lumMod val="85000"/>
                      </a:schemeClr>
                    </a:solidFill>
                  </a:tcPr>
                </a:tc>
              </a:tr>
              <a:tr h="720725">
                <a:tc>
                  <a:txBody>
                    <a:bodyPr/>
                    <a:lstStyle/>
                    <a:p>
                      <a:pPr algn="ctr"/>
                      <a:endParaRPr lang="zh-CN" altLang="en-US" sz="1800" dirty="0"/>
                    </a:p>
                  </a:txBody>
                  <a:tcPr marL="91431" marR="91431" marT="45766" marB="45766" anchor="ctr"/>
                </a:tc>
                <a:tc>
                  <a:txBody>
                    <a:bodyPr/>
                    <a:lstStyle/>
                    <a:p>
                      <a:pPr algn="ctr"/>
                      <a:endParaRPr lang="zh-CN" altLang="en-US" sz="1800" dirty="0"/>
                    </a:p>
                  </a:txBody>
                  <a:tcPr marL="91431" marR="91431" marT="45766" marB="45766" anchor="ctr"/>
                </a:tc>
              </a:tr>
            </a:tbl>
          </a:graphicData>
        </a:graphic>
      </p:graphicFrame>
    </p:spTree>
    <p:extLst>
      <p:ext uri="{BB962C8B-B14F-4D97-AF65-F5344CB8AC3E}">
        <p14:creationId xmlns:p14="http://schemas.microsoft.com/office/powerpoint/2010/main" val="3883854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卷积计算示例</a:t>
            </a:r>
            <a:endParaRPr lang="zh-CN" altLang="en-US" dirty="0"/>
          </a:p>
        </p:txBody>
      </p:sp>
      <p:sp>
        <p:nvSpPr>
          <p:cNvPr id="3" name="内容占位符 2"/>
          <p:cNvSpPr>
            <a:spLocks noGrp="1"/>
          </p:cNvSpPr>
          <p:nvPr>
            <p:ph sz="quarter" idx="13"/>
          </p:nvPr>
        </p:nvSpPr>
        <p:spPr/>
        <p:txBody>
          <a:bodyPr/>
          <a:lstStyle/>
          <a:p>
            <a:r>
              <a:rPr lang="zh-CN" altLang="en-US" dirty="0" smtClean="0"/>
              <a:t>继续滑动，</a:t>
            </a:r>
            <a:r>
              <a:rPr lang="zh-CN" altLang="en-US" dirty="0"/>
              <a:t>滑动方向为从左到右，从上到下。</a:t>
            </a:r>
            <a:endParaRPr lang="en-US" altLang="zh-CN" dirty="0"/>
          </a:p>
          <a:p>
            <a:r>
              <a:rPr lang="zh-CN" altLang="en-US" dirty="0"/>
              <a:t>对第三和第四个区域使用相同的卷积核与偏置进行卷积计算，分别得出结果为</a:t>
            </a:r>
            <a:r>
              <a:rPr lang="en-US" altLang="zh-CN" dirty="0"/>
              <a:t>-2</a:t>
            </a:r>
            <a:r>
              <a:rPr lang="zh-CN" altLang="en-US" dirty="0"/>
              <a:t>和</a:t>
            </a:r>
            <a:r>
              <a:rPr lang="en-US" altLang="zh-CN" dirty="0"/>
              <a:t>3</a:t>
            </a:r>
            <a:r>
              <a:rPr lang="zh-CN" altLang="en-US" dirty="0"/>
              <a:t>。</a:t>
            </a:r>
            <a:endParaRPr lang="en-US" altLang="zh-CN" b="1" dirty="0"/>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1334833420"/>
              </p:ext>
            </p:extLst>
          </p:nvPr>
        </p:nvGraphicFramePr>
        <p:xfrm>
          <a:off x="1060040" y="2707444"/>
          <a:ext cx="2879724" cy="2879724"/>
        </p:xfrm>
        <a:graphic>
          <a:graphicData uri="http://schemas.openxmlformats.org/drawingml/2006/table">
            <a:tbl>
              <a:tblPr firstRow="1" bandRow="1">
                <a:tableStyleId>{5940675A-B579-460E-94D1-54222C63F5DA}</a:tableStyleId>
              </a:tblPr>
              <a:tblGrid>
                <a:gridCol w="719931"/>
                <a:gridCol w="719931"/>
                <a:gridCol w="719931"/>
                <a:gridCol w="719931"/>
              </a:tblGrid>
              <a:tr h="719931">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3</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2</a:t>
                      </a:r>
                      <a:endParaRPr lang="zh-CN" altLang="en-US" sz="1800" b="1" dirty="0"/>
                    </a:p>
                  </a:txBody>
                  <a:tcPr marL="91431" marR="91431" marT="45716" marB="45716" anchor="ctr"/>
                </a:tc>
              </a:tr>
              <a:tr h="719931">
                <a:tc>
                  <a:txBody>
                    <a:bodyPr/>
                    <a:lstStyle/>
                    <a:p>
                      <a:pPr algn="ctr"/>
                      <a:r>
                        <a:rPr lang="en-US" altLang="zh-CN" sz="1800" b="1" dirty="0" smtClean="0"/>
                        <a:t>2</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0</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0</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tc>
              </a:tr>
              <a:tr h="719931">
                <a:tc>
                  <a:txBody>
                    <a:bodyPr/>
                    <a:lstStyle/>
                    <a:p>
                      <a:pPr algn="ctr"/>
                      <a:r>
                        <a:rPr lang="en-US" altLang="zh-CN" sz="1800" b="1" dirty="0" smtClean="0"/>
                        <a:t>2</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3</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0</a:t>
                      </a:r>
                      <a:endParaRPr lang="zh-CN" altLang="en-US" sz="1800" b="1" dirty="0"/>
                    </a:p>
                  </a:txBody>
                  <a:tcPr marL="91431" marR="91431" marT="45716" marB="45716" anchor="ctr"/>
                </a:tc>
              </a:tr>
              <a:tr h="719931">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5</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2</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tc>
              </a:tr>
            </a:tbl>
          </a:graphicData>
        </a:graphic>
      </p:graphicFrame>
      <p:sp>
        <p:nvSpPr>
          <p:cNvPr id="5" name="文本框 6"/>
          <p:cNvSpPr txBox="1">
            <a:spLocks noChangeArrowheads="1"/>
          </p:cNvSpPr>
          <p:nvPr/>
        </p:nvSpPr>
        <p:spPr bwMode="auto">
          <a:xfrm>
            <a:off x="3945886" y="3947183"/>
            <a:ext cx="3952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dirty="0" smtClean="0">
                <a:sym typeface="Wingdings 2" panose="05020102010507070707" pitchFamily="18" charset="2"/>
              </a:rPr>
              <a:t></a:t>
            </a:r>
            <a:endParaRPr lang="zh-CN" altLang="en-US" dirty="0"/>
          </a:p>
        </p:txBody>
      </p:sp>
      <p:sp>
        <p:nvSpPr>
          <p:cNvPr id="6" name="文本框 21"/>
          <p:cNvSpPr txBox="1">
            <a:spLocks noChangeArrowheads="1"/>
          </p:cNvSpPr>
          <p:nvPr/>
        </p:nvSpPr>
        <p:spPr bwMode="auto">
          <a:xfrm>
            <a:off x="4341173" y="3978655"/>
            <a:ext cx="36195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sz="1400" b="1" dirty="0"/>
              <a:t>···</a:t>
            </a:r>
            <a:endParaRPr lang="zh-CN" altLang="en-US" sz="1400" b="1" dirty="0"/>
          </a:p>
        </p:txBody>
      </p:sp>
      <p:sp>
        <p:nvSpPr>
          <p:cNvPr id="7" name="文本框 24"/>
          <p:cNvSpPr txBox="1">
            <a:spLocks noChangeArrowheads="1"/>
          </p:cNvSpPr>
          <p:nvPr/>
        </p:nvSpPr>
        <p:spPr bwMode="auto">
          <a:xfrm>
            <a:off x="4703123" y="3946628"/>
            <a:ext cx="3952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dirty="0">
                <a:sym typeface="Symbol" panose="05050102010706020507" pitchFamily="18" charset="2"/>
              </a:rPr>
              <a:t></a:t>
            </a:r>
            <a:endParaRPr lang="zh-CN" altLang="en-US" dirty="0"/>
          </a:p>
        </p:txBody>
      </p:sp>
      <p:sp>
        <p:nvSpPr>
          <p:cNvPr id="8" name="文本框 21"/>
          <p:cNvSpPr txBox="1">
            <a:spLocks noChangeArrowheads="1"/>
          </p:cNvSpPr>
          <p:nvPr/>
        </p:nvSpPr>
        <p:spPr bwMode="auto">
          <a:xfrm>
            <a:off x="5098410" y="3978655"/>
            <a:ext cx="5476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sz="1400" b="1" dirty="0"/>
              <a:t>=  -2</a:t>
            </a:r>
            <a:endParaRPr lang="zh-CN" altLang="en-US" sz="1400" b="1" dirty="0"/>
          </a:p>
        </p:txBody>
      </p:sp>
      <p:graphicFrame>
        <p:nvGraphicFramePr>
          <p:cNvPr id="9" name="表格 8"/>
          <p:cNvGraphicFramePr>
            <a:graphicFrameLocks noGrp="1"/>
          </p:cNvGraphicFramePr>
          <p:nvPr>
            <p:extLst>
              <p:ext uri="{D42A27DB-BD31-4B8C-83A1-F6EECF244321}">
                <p14:modId xmlns:p14="http://schemas.microsoft.com/office/powerpoint/2010/main" val="3629531069"/>
              </p:ext>
            </p:extLst>
          </p:nvPr>
        </p:nvGraphicFramePr>
        <p:xfrm>
          <a:off x="6041385" y="2691709"/>
          <a:ext cx="2879724" cy="2879724"/>
        </p:xfrm>
        <a:graphic>
          <a:graphicData uri="http://schemas.openxmlformats.org/drawingml/2006/table">
            <a:tbl>
              <a:tblPr firstRow="1" bandRow="1">
                <a:tableStyleId>{5940675A-B579-460E-94D1-54222C63F5DA}</a:tableStyleId>
              </a:tblPr>
              <a:tblGrid>
                <a:gridCol w="719931"/>
                <a:gridCol w="719931"/>
                <a:gridCol w="719931"/>
                <a:gridCol w="719931"/>
              </a:tblGrid>
              <a:tr h="719931">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3</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2</a:t>
                      </a:r>
                      <a:endParaRPr lang="zh-CN" altLang="en-US" sz="1800" b="1" dirty="0"/>
                    </a:p>
                  </a:txBody>
                  <a:tcPr marL="91431" marR="91431" marT="45716" marB="45716" anchor="ctr"/>
                </a:tc>
              </a:tr>
              <a:tr h="719931">
                <a:tc>
                  <a:txBody>
                    <a:bodyPr/>
                    <a:lstStyle/>
                    <a:p>
                      <a:pPr algn="ctr"/>
                      <a:r>
                        <a:rPr lang="en-US" altLang="zh-CN" sz="1800" b="1" dirty="0" smtClean="0"/>
                        <a:t>2</a:t>
                      </a:r>
                      <a:endParaRPr lang="zh-CN" altLang="en-US" sz="1800" b="1" dirty="0"/>
                    </a:p>
                  </a:txBody>
                  <a:tcPr marL="91431" marR="91431" marT="45716" marB="45716" anchor="ctr">
                    <a:solidFill>
                      <a:schemeClr val="bg1"/>
                    </a:solidFill>
                  </a:tcPr>
                </a:tc>
                <a:tc>
                  <a:txBody>
                    <a:bodyPr/>
                    <a:lstStyle/>
                    <a:p>
                      <a:pPr algn="ctr"/>
                      <a:r>
                        <a:rPr lang="en-US" altLang="zh-CN" sz="1800" b="1" dirty="0" smtClean="0"/>
                        <a:t>0</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0</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r>
              <a:tr h="719931">
                <a:tc>
                  <a:txBody>
                    <a:bodyPr/>
                    <a:lstStyle/>
                    <a:p>
                      <a:pPr algn="ctr"/>
                      <a:r>
                        <a:rPr lang="en-US" altLang="zh-CN" sz="1800" b="1" dirty="0" smtClean="0"/>
                        <a:t>2</a:t>
                      </a:r>
                      <a:endParaRPr lang="zh-CN" altLang="en-US" sz="1800" b="1" dirty="0"/>
                    </a:p>
                  </a:txBody>
                  <a:tcPr marL="91431" marR="91431" marT="45716" marB="45716" anchor="ctr">
                    <a:solidFill>
                      <a:schemeClr val="bg1"/>
                    </a:solidFill>
                  </a:tcPr>
                </a:tc>
                <a:tc>
                  <a:txBody>
                    <a:bodyPr/>
                    <a:lstStyle/>
                    <a:p>
                      <a:pPr algn="ctr"/>
                      <a:r>
                        <a:rPr lang="en-US" altLang="zh-CN" sz="1800" b="1" dirty="0" smtClean="0"/>
                        <a:t>3</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0</a:t>
                      </a:r>
                      <a:endParaRPr lang="zh-CN" altLang="en-US" sz="1800" b="1" dirty="0"/>
                    </a:p>
                  </a:txBody>
                  <a:tcPr marL="91431" marR="91431" marT="45716" marB="45716" anchor="ctr">
                    <a:solidFill>
                      <a:schemeClr val="bg1">
                        <a:lumMod val="85000"/>
                      </a:schemeClr>
                    </a:solidFill>
                  </a:tcPr>
                </a:tc>
              </a:tr>
              <a:tr h="719931">
                <a:tc>
                  <a:txBody>
                    <a:bodyPr/>
                    <a:lstStyle/>
                    <a:p>
                      <a:pPr algn="ctr"/>
                      <a:r>
                        <a:rPr lang="en-US" altLang="zh-CN" sz="1800" b="1" dirty="0" smtClean="0"/>
                        <a:t>1</a:t>
                      </a:r>
                      <a:endParaRPr lang="zh-CN" altLang="en-US" sz="1800" b="1" dirty="0"/>
                    </a:p>
                  </a:txBody>
                  <a:tcPr marL="91431" marR="91431" marT="45716" marB="45716" anchor="ctr">
                    <a:solidFill>
                      <a:schemeClr val="bg1"/>
                    </a:solidFill>
                  </a:tcPr>
                </a:tc>
                <a:tc>
                  <a:txBody>
                    <a:bodyPr/>
                    <a:lstStyle/>
                    <a:p>
                      <a:pPr algn="ctr"/>
                      <a:r>
                        <a:rPr lang="en-US" altLang="zh-CN" sz="1800" b="1" dirty="0" smtClean="0"/>
                        <a:t>5</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2</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r>
            </a:tbl>
          </a:graphicData>
        </a:graphic>
      </p:graphicFrame>
      <p:sp>
        <p:nvSpPr>
          <p:cNvPr id="10" name="文本框 6"/>
          <p:cNvSpPr txBox="1">
            <a:spLocks noChangeArrowheads="1"/>
          </p:cNvSpPr>
          <p:nvPr/>
        </p:nvSpPr>
        <p:spPr bwMode="auto">
          <a:xfrm>
            <a:off x="8933964" y="3946628"/>
            <a:ext cx="3952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dirty="0" smtClean="0">
                <a:sym typeface="Wingdings 2" panose="05020102010507070707" pitchFamily="18" charset="2"/>
              </a:rPr>
              <a:t></a:t>
            </a:r>
            <a:endParaRPr lang="zh-CN" altLang="en-US" dirty="0"/>
          </a:p>
        </p:txBody>
      </p:sp>
      <p:sp>
        <p:nvSpPr>
          <p:cNvPr id="11" name="文本框 21"/>
          <p:cNvSpPr txBox="1">
            <a:spLocks noChangeArrowheads="1"/>
          </p:cNvSpPr>
          <p:nvPr/>
        </p:nvSpPr>
        <p:spPr bwMode="auto">
          <a:xfrm>
            <a:off x="9329251" y="3978100"/>
            <a:ext cx="36195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sz="1400" b="1" dirty="0"/>
              <a:t>···</a:t>
            </a:r>
            <a:endParaRPr lang="zh-CN" altLang="en-US" sz="1400" b="1" dirty="0"/>
          </a:p>
        </p:txBody>
      </p:sp>
      <p:sp>
        <p:nvSpPr>
          <p:cNvPr id="12" name="文本框 24"/>
          <p:cNvSpPr txBox="1">
            <a:spLocks noChangeArrowheads="1"/>
          </p:cNvSpPr>
          <p:nvPr/>
        </p:nvSpPr>
        <p:spPr bwMode="auto">
          <a:xfrm>
            <a:off x="9691201" y="3946073"/>
            <a:ext cx="3952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dirty="0">
                <a:sym typeface="Symbol" panose="05050102010706020507" pitchFamily="18" charset="2"/>
              </a:rPr>
              <a:t></a:t>
            </a:r>
            <a:endParaRPr lang="zh-CN" altLang="en-US" dirty="0"/>
          </a:p>
        </p:txBody>
      </p:sp>
      <p:sp>
        <p:nvSpPr>
          <p:cNvPr id="13" name="文本框 21"/>
          <p:cNvSpPr txBox="1">
            <a:spLocks noChangeArrowheads="1"/>
          </p:cNvSpPr>
          <p:nvPr/>
        </p:nvSpPr>
        <p:spPr bwMode="auto">
          <a:xfrm>
            <a:off x="10086488" y="3978100"/>
            <a:ext cx="48763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sz="1400" b="1" dirty="0"/>
              <a:t>=  3</a:t>
            </a:r>
            <a:endParaRPr lang="zh-CN" altLang="en-US" sz="1400" b="1" dirty="0"/>
          </a:p>
        </p:txBody>
      </p:sp>
    </p:spTree>
    <p:extLst>
      <p:ext uri="{BB962C8B-B14F-4D97-AF65-F5344CB8AC3E}">
        <p14:creationId xmlns:p14="http://schemas.microsoft.com/office/powerpoint/2010/main" val="30444155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卷积计算示例</a:t>
            </a:r>
          </a:p>
        </p:txBody>
      </p:sp>
      <p:sp>
        <p:nvSpPr>
          <p:cNvPr id="3" name="内容占位符 2"/>
          <p:cNvSpPr>
            <a:spLocks noGrp="1"/>
          </p:cNvSpPr>
          <p:nvPr>
            <p:ph sz="quarter" idx="13"/>
          </p:nvPr>
        </p:nvSpPr>
        <p:spPr/>
        <p:txBody>
          <a:bodyPr/>
          <a:lstStyle/>
          <a:p>
            <a:r>
              <a:rPr lang="zh-CN" altLang="en-US" dirty="0" smtClean="0"/>
              <a:t>至此</a:t>
            </a:r>
            <a:r>
              <a:rPr lang="zh-CN" altLang="en-US" dirty="0"/>
              <a:t>我们已经完成了对原始特征图的所有卷积计算，输出特征图的大小是</a:t>
            </a:r>
            <a:r>
              <a:rPr lang="en-US" altLang="zh-CN" dirty="0"/>
              <a:t>2</a:t>
            </a:r>
            <a:r>
              <a:rPr lang="en-US" altLang="zh-CN" b="1" dirty="0"/>
              <a:t>×</a:t>
            </a:r>
            <a:r>
              <a:rPr lang="en-US" altLang="zh-CN" dirty="0"/>
              <a:t>2</a:t>
            </a:r>
            <a:r>
              <a:rPr lang="zh-CN" altLang="en-US" dirty="0" smtClean="0"/>
              <a:t>。</a:t>
            </a:r>
            <a:endParaRPr lang="en-US" altLang="zh-CN" dirty="0" smtClean="0"/>
          </a:p>
          <a:p>
            <a:r>
              <a:rPr lang="zh-CN" altLang="en-US" dirty="0"/>
              <a:t>由此可见，卷积计算不仅保留了图像的局部位置信息，也极大降低了参数的量级。</a:t>
            </a:r>
            <a:endParaRPr lang="en-US" altLang="zh-CN" dirty="0"/>
          </a:p>
          <a:p>
            <a:endParaRPr lang="en-US" altLang="zh-CN" dirty="0"/>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2620771548"/>
              </p:ext>
            </p:extLst>
          </p:nvPr>
        </p:nvGraphicFramePr>
        <p:xfrm>
          <a:off x="1060040" y="2707444"/>
          <a:ext cx="2879724" cy="2879724"/>
        </p:xfrm>
        <a:graphic>
          <a:graphicData uri="http://schemas.openxmlformats.org/drawingml/2006/table">
            <a:tbl>
              <a:tblPr firstRow="1" bandRow="1">
                <a:tableStyleId>{5940675A-B579-460E-94D1-54222C63F5DA}</a:tableStyleId>
              </a:tblPr>
              <a:tblGrid>
                <a:gridCol w="719931"/>
                <a:gridCol w="719931"/>
                <a:gridCol w="719931"/>
                <a:gridCol w="719931"/>
              </a:tblGrid>
              <a:tr h="719931">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3</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2</a:t>
                      </a:r>
                      <a:endParaRPr lang="zh-CN" altLang="en-US" sz="1800" b="1" dirty="0"/>
                    </a:p>
                  </a:txBody>
                  <a:tcPr marL="91431" marR="91431" marT="45716" marB="45716" anchor="ctr"/>
                </a:tc>
              </a:tr>
              <a:tr h="719931">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0</a:t>
                      </a:r>
                      <a:endParaRPr lang="zh-CN" altLang="en-US" sz="1800" b="1" dirty="0"/>
                    </a:p>
                  </a:txBody>
                  <a:tcPr marL="91431" marR="91431" marT="45716" marB="45716" anchor="ctr"/>
                </a:tc>
                <a:tc>
                  <a:txBody>
                    <a:bodyPr/>
                    <a:lstStyle/>
                    <a:p>
                      <a:pPr algn="ctr"/>
                      <a:r>
                        <a:rPr lang="en-US" altLang="zh-CN" sz="1800" b="1" dirty="0" smtClean="0"/>
                        <a:t>0</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r>
              <a:tr h="719931">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3</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0</a:t>
                      </a:r>
                      <a:endParaRPr lang="zh-CN" altLang="en-US" sz="1800" b="1" dirty="0"/>
                    </a:p>
                  </a:txBody>
                  <a:tcPr marL="91431" marR="91431" marT="45716" marB="45716" anchor="ctr"/>
                </a:tc>
              </a:tr>
              <a:tr h="719931">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5</a:t>
                      </a:r>
                      <a:endParaRPr lang="zh-CN" altLang="en-US" sz="1800" b="1" dirty="0"/>
                    </a:p>
                  </a:txBody>
                  <a:tcPr marL="91431" marR="91431" marT="45716" marB="45716" anchor="ctr"/>
                </a:tc>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228779846"/>
              </p:ext>
            </p:extLst>
          </p:nvPr>
        </p:nvGraphicFramePr>
        <p:xfrm>
          <a:off x="4849402" y="3094794"/>
          <a:ext cx="2160588" cy="2159001"/>
        </p:xfrm>
        <a:graphic>
          <a:graphicData uri="http://schemas.openxmlformats.org/drawingml/2006/table">
            <a:tbl>
              <a:tblPr firstRow="1" bandRow="1">
                <a:tableStyleId>{5940675A-B579-460E-94D1-54222C63F5DA}</a:tableStyleId>
              </a:tblPr>
              <a:tblGrid>
                <a:gridCol w="720196"/>
                <a:gridCol w="720196"/>
                <a:gridCol w="720196"/>
              </a:tblGrid>
              <a:tr h="719667">
                <a:tc>
                  <a:txBody>
                    <a:bodyPr/>
                    <a:lstStyle/>
                    <a:p>
                      <a:pPr algn="ctr"/>
                      <a:r>
                        <a:rPr lang="en-US" altLang="zh-CN" sz="1800" b="1" dirty="0" smtClean="0"/>
                        <a:t>0</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0</a:t>
                      </a:r>
                      <a:endParaRPr lang="zh-CN" altLang="en-US" sz="1800" b="1" dirty="0"/>
                    </a:p>
                  </a:txBody>
                  <a:tcPr marL="91476" marR="91476" marT="45678" marB="45678" anchor="ctr">
                    <a:solidFill>
                      <a:schemeClr val="accent2">
                        <a:lumMod val="20000"/>
                        <a:lumOff val="80000"/>
                      </a:schemeClr>
                    </a:solidFill>
                  </a:tcPr>
                </a:tc>
              </a:tr>
              <a:tr h="719667">
                <a:tc>
                  <a:txBody>
                    <a:bodyPr/>
                    <a:lstStyle/>
                    <a:p>
                      <a:pPr algn="ctr"/>
                      <a:r>
                        <a:rPr lang="en-US" altLang="zh-CN" sz="1800" b="1" dirty="0" smtClean="0"/>
                        <a:t>1</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-4</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76" marR="91476" marT="45678" marB="45678" anchor="ctr">
                    <a:solidFill>
                      <a:schemeClr val="accent2">
                        <a:lumMod val="20000"/>
                        <a:lumOff val="80000"/>
                      </a:schemeClr>
                    </a:solidFill>
                  </a:tcPr>
                </a:tc>
              </a:tr>
              <a:tr h="719667">
                <a:tc>
                  <a:txBody>
                    <a:bodyPr/>
                    <a:lstStyle/>
                    <a:p>
                      <a:pPr algn="ctr"/>
                      <a:r>
                        <a:rPr lang="en-US" altLang="zh-CN" sz="1800" b="1" dirty="0" smtClean="0"/>
                        <a:t>0</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76" marR="91476" marT="45678" marB="45678" anchor="ctr">
                    <a:solidFill>
                      <a:schemeClr val="accent2">
                        <a:lumMod val="20000"/>
                        <a:lumOff val="80000"/>
                      </a:schemeClr>
                    </a:solidFill>
                  </a:tcPr>
                </a:tc>
                <a:tc>
                  <a:txBody>
                    <a:bodyPr/>
                    <a:lstStyle/>
                    <a:p>
                      <a:pPr algn="ctr"/>
                      <a:r>
                        <a:rPr lang="en-US" altLang="zh-CN" sz="1800" b="1" dirty="0" smtClean="0"/>
                        <a:t>0</a:t>
                      </a:r>
                      <a:endParaRPr lang="zh-CN" altLang="en-US" sz="1800" b="1" dirty="0"/>
                    </a:p>
                  </a:txBody>
                  <a:tcPr marL="91476" marR="91476" marT="45678" marB="45678" anchor="ctr">
                    <a:solidFill>
                      <a:schemeClr val="accent2">
                        <a:lumMod val="20000"/>
                        <a:lumOff val="80000"/>
                      </a:schemeClr>
                    </a:solidFill>
                  </a:tcPr>
                </a:tc>
              </a:tr>
            </a:tbl>
          </a:graphicData>
        </a:graphic>
      </p:graphicFrame>
      <p:sp>
        <p:nvSpPr>
          <p:cNvPr id="6" name="文本框 21"/>
          <p:cNvSpPr txBox="1">
            <a:spLocks noChangeArrowheads="1"/>
          </p:cNvSpPr>
          <p:nvPr/>
        </p:nvSpPr>
        <p:spPr bwMode="auto">
          <a:xfrm>
            <a:off x="1444468" y="5767942"/>
            <a:ext cx="20024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4×4</a:t>
            </a:r>
            <a:r>
              <a:rPr lang="zh-CN" altLang="en-US" b="1" dirty="0"/>
              <a:t>单通道特征图</a:t>
            </a:r>
          </a:p>
        </p:txBody>
      </p:sp>
      <p:sp>
        <p:nvSpPr>
          <p:cNvPr id="7" name="文本框 22"/>
          <p:cNvSpPr txBox="1">
            <a:spLocks noChangeArrowheads="1"/>
          </p:cNvSpPr>
          <p:nvPr/>
        </p:nvSpPr>
        <p:spPr bwMode="auto">
          <a:xfrm>
            <a:off x="4426333" y="5771662"/>
            <a:ext cx="31181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3×3</a:t>
            </a:r>
            <a:r>
              <a:rPr lang="zh-CN" altLang="en-US" b="1" dirty="0"/>
              <a:t>卷积核 </a:t>
            </a:r>
            <a:r>
              <a:rPr lang="en-US" altLang="zh-CN" b="1" dirty="0"/>
              <a:t>(</a:t>
            </a:r>
            <a:r>
              <a:rPr lang="en-US" altLang="zh-CN" b="1" dirty="0" err="1"/>
              <a:t>Laplacian</a:t>
            </a:r>
            <a:r>
              <a:rPr lang="zh-CN" altLang="en-US" b="1" dirty="0"/>
              <a:t>算子</a:t>
            </a:r>
            <a:r>
              <a:rPr lang="en-US" altLang="zh-CN" b="1" dirty="0"/>
              <a:t>) </a:t>
            </a:r>
            <a:endParaRPr lang="zh-CN" altLang="en-US" b="1" dirty="0"/>
          </a:p>
        </p:txBody>
      </p:sp>
      <p:sp>
        <p:nvSpPr>
          <p:cNvPr id="8" name="文本框 6"/>
          <p:cNvSpPr txBox="1">
            <a:spLocks noChangeArrowheads="1"/>
          </p:cNvSpPr>
          <p:nvPr/>
        </p:nvSpPr>
        <p:spPr bwMode="auto">
          <a:xfrm>
            <a:off x="4228690" y="3937756"/>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dirty="0">
                <a:sym typeface="Wingdings 2" panose="05020102010507070707" pitchFamily="18" charset="2"/>
              </a:rPr>
              <a:t></a:t>
            </a:r>
            <a:endParaRPr lang="zh-CN" altLang="en-US" dirty="0"/>
          </a:p>
        </p:txBody>
      </p:sp>
      <p:graphicFrame>
        <p:nvGraphicFramePr>
          <p:cNvPr id="9" name="表格 8"/>
          <p:cNvGraphicFramePr>
            <a:graphicFrameLocks noGrp="1"/>
          </p:cNvGraphicFramePr>
          <p:nvPr>
            <p:extLst>
              <p:ext uri="{D42A27DB-BD31-4B8C-83A1-F6EECF244321}">
                <p14:modId xmlns:p14="http://schemas.microsoft.com/office/powerpoint/2010/main" val="1552005318"/>
              </p:ext>
            </p:extLst>
          </p:nvPr>
        </p:nvGraphicFramePr>
        <p:xfrm>
          <a:off x="7776752" y="3763131"/>
          <a:ext cx="720725" cy="719138"/>
        </p:xfrm>
        <a:graphic>
          <a:graphicData uri="http://schemas.openxmlformats.org/drawingml/2006/table">
            <a:tbl>
              <a:tblPr firstRow="1" bandRow="1">
                <a:tableStyleId>{5C22544A-7EE6-4342-B048-85BDC9FD1C3A}</a:tableStyleId>
              </a:tblPr>
              <a:tblGrid>
                <a:gridCol w="720725"/>
              </a:tblGrid>
              <a:tr h="719138">
                <a:tc>
                  <a:txBody>
                    <a:bodyPr/>
                    <a:lstStyle/>
                    <a:p>
                      <a:pPr algn="ctr"/>
                      <a:r>
                        <a:rPr lang="en-US" altLang="zh-CN" sz="1800" b="1" dirty="0" smtClean="0">
                          <a:solidFill>
                            <a:schemeClr val="tx1"/>
                          </a:solidFill>
                        </a:rPr>
                        <a:t>2</a:t>
                      </a:r>
                      <a:endParaRPr lang="zh-CN" altLang="en-US" sz="1800" b="1" dirty="0">
                        <a:solidFill>
                          <a:schemeClr val="tx1"/>
                        </a:solidFill>
                      </a:endParaRPr>
                    </a:p>
                  </a:txBody>
                  <a:tcPr marL="91543" marR="91543" marT="45671" marB="45671" anchor="ctr">
                    <a:solidFill>
                      <a:schemeClr val="accent2">
                        <a:lumMod val="20000"/>
                        <a:lumOff val="80000"/>
                      </a:schemeClr>
                    </a:solidFill>
                  </a:tcPr>
                </a:tc>
              </a:tr>
            </a:tbl>
          </a:graphicData>
        </a:graphic>
      </p:graphicFrame>
      <p:sp>
        <p:nvSpPr>
          <p:cNvPr id="10" name="文本框 23"/>
          <p:cNvSpPr txBox="1">
            <a:spLocks noChangeArrowheads="1"/>
          </p:cNvSpPr>
          <p:nvPr/>
        </p:nvSpPr>
        <p:spPr bwMode="auto">
          <a:xfrm>
            <a:off x="7877557" y="5767942"/>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a:t>偏置</a:t>
            </a:r>
          </a:p>
        </p:txBody>
      </p:sp>
      <p:sp>
        <p:nvSpPr>
          <p:cNvPr id="11" name="文本框 24"/>
          <p:cNvSpPr txBox="1">
            <a:spLocks noChangeArrowheads="1"/>
          </p:cNvSpPr>
          <p:nvPr/>
        </p:nvSpPr>
        <p:spPr bwMode="auto">
          <a:xfrm>
            <a:off x="7292565" y="3937756"/>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a:sym typeface="Symbol" panose="05050102010706020507" pitchFamily="18" charset="2"/>
              </a:rPr>
              <a:t></a:t>
            </a:r>
            <a:endParaRPr lang="zh-CN" altLang="en-US"/>
          </a:p>
        </p:txBody>
      </p:sp>
      <p:sp>
        <p:nvSpPr>
          <p:cNvPr id="12" name="文本框 23"/>
          <p:cNvSpPr txBox="1">
            <a:spLocks noChangeArrowheads="1"/>
          </p:cNvSpPr>
          <p:nvPr/>
        </p:nvSpPr>
        <p:spPr bwMode="auto">
          <a:xfrm>
            <a:off x="8754652" y="3967919"/>
            <a:ext cx="2889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sz="1400" b="1"/>
              <a:t>=</a:t>
            </a:r>
            <a:endParaRPr lang="zh-CN" altLang="en-US" sz="1400" b="1"/>
          </a:p>
        </p:txBody>
      </p:sp>
      <p:graphicFrame>
        <p:nvGraphicFramePr>
          <p:cNvPr id="13" name="表格 12"/>
          <p:cNvGraphicFramePr>
            <a:graphicFrameLocks noGrp="1"/>
          </p:cNvGraphicFramePr>
          <p:nvPr>
            <p:extLst>
              <p:ext uri="{D42A27DB-BD31-4B8C-83A1-F6EECF244321}">
                <p14:modId xmlns:p14="http://schemas.microsoft.com/office/powerpoint/2010/main" val="1461763837"/>
              </p:ext>
            </p:extLst>
          </p:nvPr>
        </p:nvGraphicFramePr>
        <p:xfrm>
          <a:off x="9232490" y="3424994"/>
          <a:ext cx="1439862" cy="1441450"/>
        </p:xfrm>
        <a:graphic>
          <a:graphicData uri="http://schemas.openxmlformats.org/drawingml/2006/table">
            <a:tbl>
              <a:tblPr firstRow="1" bandRow="1">
                <a:tableStyleId>{5940675A-B579-460E-94D1-54222C63F5DA}</a:tableStyleId>
              </a:tblPr>
              <a:tblGrid>
                <a:gridCol w="719931"/>
                <a:gridCol w="719931"/>
              </a:tblGrid>
              <a:tr h="720725">
                <a:tc>
                  <a:txBody>
                    <a:bodyPr/>
                    <a:lstStyle/>
                    <a:p>
                      <a:pPr algn="ctr"/>
                      <a:r>
                        <a:rPr lang="en-US" altLang="zh-CN" sz="1800" b="1" dirty="0" smtClean="0">
                          <a:solidFill>
                            <a:schemeClr val="tx1"/>
                          </a:solidFill>
                        </a:rPr>
                        <a:t>10</a:t>
                      </a:r>
                      <a:endParaRPr lang="zh-CN" altLang="en-US" sz="1800" b="1" dirty="0">
                        <a:solidFill>
                          <a:schemeClr val="tx1"/>
                        </a:solidFill>
                      </a:endParaRPr>
                    </a:p>
                  </a:txBody>
                  <a:tcPr marL="91431" marR="91431" marT="45766" marB="45766" anchor="ctr"/>
                </a:tc>
                <a:tc>
                  <a:txBody>
                    <a:bodyPr/>
                    <a:lstStyle/>
                    <a:p>
                      <a:pPr algn="ctr"/>
                      <a:r>
                        <a:rPr lang="en-US" altLang="zh-CN" sz="1800" b="1" dirty="0" smtClean="0">
                          <a:solidFill>
                            <a:schemeClr val="tx1"/>
                          </a:solidFill>
                        </a:rPr>
                        <a:t>5</a:t>
                      </a:r>
                      <a:endParaRPr lang="zh-CN" altLang="en-US" sz="1800" b="1" dirty="0">
                        <a:solidFill>
                          <a:schemeClr val="tx1"/>
                        </a:solidFill>
                      </a:endParaRPr>
                    </a:p>
                  </a:txBody>
                  <a:tcPr marL="91431" marR="91431" marT="45766" marB="45766" anchor="ctr"/>
                </a:tc>
              </a:tr>
              <a:tr h="720725">
                <a:tc>
                  <a:txBody>
                    <a:bodyPr/>
                    <a:lstStyle/>
                    <a:p>
                      <a:pPr algn="ctr"/>
                      <a:r>
                        <a:rPr lang="en-US" altLang="zh-CN" sz="1800" b="1" dirty="0" smtClean="0">
                          <a:solidFill>
                            <a:schemeClr val="tx1"/>
                          </a:solidFill>
                        </a:rPr>
                        <a:t>-2</a:t>
                      </a:r>
                      <a:endParaRPr lang="zh-CN" altLang="en-US" sz="1800" b="1" dirty="0">
                        <a:solidFill>
                          <a:schemeClr val="tx1"/>
                        </a:solidFill>
                      </a:endParaRPr>
                    </a:p>
                  </a:txBody>
                  <a:tcPr marL="91431" marR="91431" marT="45766" marB="45766" anchor="ctr"/>
                </a:tc>
                <a:tc>
                  <a:txBody>
                    <a:bodyPr/>
                    <a:lstStyle/>
                    <a:p>
                      <a:pPr algn="ctr"/>
                      <a:r>
                        <a:rPr lang="en-US" altLang="zh-CN" sz="1800" b="1" dirty="0" smtClean="0">
                          <a:solidFill>
                            <a:schemeClr val="tx1"/>
                          </a:solidFill>
                        </a:rPr>
                        <a:t>3</a:t>
                      </a:r>
                      <a:endParaRPr lang="zh-CN" altLang="en-US" sz="1800" b="1" dirty="0">
                        <a:solidFill>
                          <a:schemeClr val="tx1"/>
                        </a:solidFill>
                      </a:endParaRPr>
                    </a:p>
                  </a:txBody>
                  <a:tcPr marL="91431" marR="91431" marT="45766" marB="45766" anchor="ctr"/>
                </a:tc>
              </a:tr>
            </a:tbl>
          </a:graphicData>
        </a:graphic>
      </p:graphicFrame>
      <p:sp>
        <p:nvSpPr>
          <p:cNvPr id="14" name="文本框 21"/>
          <p:cNvSpPr txBox="1">
            <a:spLocks noChangeArrowheads="1"/>
          </p:cNvSpPr>
          <p:nvPr/>
        </p:nvSpPr>
        <p:spPr bwMode="auto">
          <a:xfrm>
            <a:off x="9043577" y="5767942"/>
            <a:ext cx="20024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a:t>2×2</a:t>
            </a:r>
            <a:r>
              <a:rPr lang="zh-CN" altLang="en-US" b="1"/>
              <a:t>单通道特征图</a:t>
            </a:r>
          </a:p>
        </p:txBody>
      </p:sp>
    </p:spTree>
    <p:extLst>
      <p:ext uri="{BB962C8B-B14F-4D97-AF65-F5344CB8AC3E}">
        <p14:creationId xmlns:p14="http://schemas.microsoft.com/office/powerpoint/2010/main" val="1215716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步长</a:t>
            </a:r>
          </a:p>
        </p:txBody>
      </p:sp>
      <p:sp>
        <p:nvSpPr>
          <p:cNvPr id="3" name="内容占位符 2"/>
          <p:cNvSpPr>
            <a:spLocks noGrp="1"/>
          </p:cNvSpPr>
          <p:nvPr>
            <p:ph sz="quarter" idx="13"/>
          </p:nvPr>
        </p:nvSpPr>
        <p:spPr/>
        <p:txBody>
          <a:bodyPr/>
          <a:lstStyle/>
          <a:p>
            <a:r>
              <a:rPr lang="zh-CN" altLang="en-US" dirty="0" smtClean="0"/>
              <a:t>步长</a:t>
            </a:r>
            <a:r>
              <a:rPr lang="en-US" altLang="zh-CN" noProof="1">
                <a:latin typeface="微软雅黑" panose="020B0503020204020204" pitchFamily="34" charset="-122"/>
                <a:cs typeface="微软雅黑" panose="020B0503020204020204" pitchFamily="34" charset="-122"/>
              </a:rPr>
              <a:t>(</a:t>
            </a:r>
            <a:r>
              <a:rPr lang="en-US" altLang="zh-CN" noProof="1" smtClean="0">
                <a:latin typeface="微软雅黑" panose="020B0503020204020204" pitchFamily="34" charset="-122"/>
                <a:cs typeface="微软雅黑" panose="020B0503020204020204" pitchFamily="34" charset="-122"/>
              </a:rPr>
              <a:t>strides)</a:t>
            </a:r>
            <a:r>
              <a:rPr lang="zh-CN" altLang="en-US" noProof="1" smtClean="0"/>
              <a:t>是</a:t>
            </a:r>
            <a:r>
              <a:rPr lang="zh-CN" altLang="en-US" noProof="1"/>
              <a:t>卷积</a:t>
            </a:r>
            <a:r>
              <a:rPr lang="zh-CN" altLang="en-US" noProof="1" smtClean="0"/>
              <a:t>计算中另一个概念：</a:t>
            </a:r>
            <a:endParaRPr lang="en-US" altLang="zh-CN" noProof="1" smtClean="0"/>
          </a:p>
          <a:p>
            <a:pPr lvl="1"/>
            <a:r>
              <a:rPr lang="zh-CN" altLang="en-US" dirty="0" smtClean="0"/>
              <a:t>表示卷积</a:t>
            </a:r>
            <a:r>
              <a:rPr lang="zh-CN" altLang="en-US" dirty="0"/>
              <a:t>核在输入特征图上需要移动的</a:t>
            </a:r>
            <a:r>
              <a:rPr lang="zh-CN" altLang="en-US" dirty="0" smtClean="0"/>
              <a:t>像素</a:t>
            </a:r>
            <a:endParaRPr lang="en-US" altLang="zh-CN" noProof="1" smtClean="0">
              <a:latin typeface="微软雅黑" panose="020B0503020204020204" pitchFamily="34" charset="-122"/>
            </a:endParaRPr>
          </a:p>
          <a:p>
            <a:r>
              <a:rPr lang="zh-CN" altLang="en-US" noProof="1" smtClean="0">
                <a:latin typeface="微软雅黑" panose="020B0503020204020204" pitchFamily="34" charset="-122"/>
              </a:rPr>
              <a:t>在上述例子中，滑动步长为</a:t>
            </a:r>
            <a:r>
              <a:rPr lang="en-US" altLang="zh-CN" noProof="1" smtClean="0">
                <a:latin typeface="微软雅黑" panose="020B0503020204020204" pitchFamily="34" charset="-122"/>
              </a:rPr>
              <a:t>1</a:t>
            </a:r>
            <a:r>
              <a:rPr lang="zh-CN" altLang="en-US" noProof="1" smtClean="0">
                <a:latin typeface="微软雅黑" panose="020B0503020204020204" pitchFamily="34" charset="-122"/>
              </a:rPr>
              <a:t>，卷积核每次只移动</a:t>
            </a:r>
            <a:r>
              <a:rPr lang="en-US" altLang="zh-CN" noProof="1" smtClean="0">
                <a:latin typeface="微软雅黑" panose="020B0503020204020204" pitchFamily="34" charset="-122"/>
              </a:rPr>
              <a:t>1</a:t>
            </a:r>
            <a:r>
              <a:rPr lang="zh-CN" altLang="en-US" noProof="1" smtClean="0">
                <a:latin typeface="微软雅黑" panose="020B0503020204020204" pitchFamily="34" charset="-122"/>
              </a:rPr>
              <a:t>个像素。</a:t>
            </a:r>
            <a:endParaRPr lang="en-US" altLang="zh-CN" noProof="1" smtClean="0">
              <a:latin typeface="微软雅黑" panose="020B0503020204020204" pitchFamily="34" charset="-122"/>
            </a:endParaRPr>
          </a:p>
          <a:p>
            <a:r>
              <a:rPr lang="zh-CN" altLang="en-US" noProof="1">
                <a:latin typeface="微软雅黑" panose="020B0503020204020204" pitchFamily="34" charset="-122"/>
              </a:rPr>
              <a:t>卷积</a:t>
            </a:r>
            <a:r>
              <a:rPr lang="zh-CN" altLang="en-US" noProof="1" smtClean="0">
                <a:latin typeface="微软雅黑" panose="020B0503020204020204" pitchFamily="34" charset="-122"/>
              </a:rPr>
              <a:t>核每次滑动覆盖的范围叫感受野，即下图演示的灰色区域。</a:t>
            </a:r>
            <a:endParaRPr lang="en-US" altLang="zh-CN" dirty="0" smtClean="0"/>
          </a:p>
        </p:txBody>
      </p:sp>
      <p:graphicFrame>
        <p:nvGraphicFramePr>
          <p:cNvPr id="4" name="表格 3"/>
          <p:cNvGraphicFramePr>
            <a:graphicFrameLocks noGrp="1"/>
          </p:cNvGraphicFramePr>
          <p:nvPr>
            <p:extLst>
              <p:ext uri="{D42A27DB-BD31-4B8C-83A1-F6EECF244321}">
                <p14:modId xmlns:p14="http://schemas.microsoft.com/office/powerpoint/2010/main" val="4111165465"/>
              </p:ext>
            </p:extLst>
          </p:nvPr>
        </p:nvGraphicFramePr>
        <p:xfrm>
          <a:off x="1173163" y="3084513"/>
          <a:ext cx="2879724" cy="2879724"/>
        </p:xfrm>
        <a:graphic>
          <a:graphicData uri="http://schemas.openxmlformats.org/drawingml/2006/table">
            <a:tbl>
              <a:tblPr firstRow="1" bandRow="1">
                <a:tableStyleId>{5940675A-B579-460E-94D1-54222C63F5DA}</a:tableStyleId>
              </a:tblPr>
              <a:tblGrid>
                <a:gridCol w="719931"/>
                <a:gridCol w="719931"/>
                <a:gridCol w="719931"/>
                <a:gridCol w="719931"/>
              </a:tblGrid>
              <a:tr h="719931">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3</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2</a:t>
                      </a:r>
                      <a:endParaRPr lang="zh-CN" altLang="en-US" sz="1800" b="1" dirty="0"/>
                    </a:p>
                  </a:txBody>
                  <a:tcPr marL="91431" marR="91431" marT="45716" marB="45716" anchor="ctr">
                    <a:solidFill>
                      <a:schemeClr val="bg1"/>
                    </a:solidFill>
                  </a:tcPr>
                </a:tc>
              </a:tr>
              <a:tr h="719931">
                <a:tc>
                  <a:txBody>
                    <a:bodyPr/>
                    <a:lstStyle/>
                    <a:p>
                      <a:pPr algn="ctr"/>
                      <a:r>
                        <a:rPr lang="en-US" altLang="zh-CN" sz="1800" b="1" dirty="0" smtClean="0"/>
                        <a:t>2</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0</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0</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solidFill>
                      <a:schemeClr val="bg1"/>
                    </a:solidFill>
                  </a:tcPr>
                </a:tc>
              </a:tr>
              <a:tr h="719931">
                <a:tc>
                  <a:txBody>
                    <a:bodyPr/>
                    <a:lstStyle/>
                    <a:p>
                      <a:pPr algn="ctr"/>
                      <a:r>
                        <a:rPr lang="en-US" altLang="zh-CN" sz="1800" b="1" dirty="0" smtClean="0"/>
                        <a:t>2</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3</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0</a:t>
                      </a:r>
                      <a:endParaRPr lang="zh-CN" altLang="en-US" sz="1800" b="1" dirty="0"/>
                    </a:p>
                  </a:txBody>
                  <a:tcPr marL="91431" marR="91431" marT="45716" marB="45716" anchor="ctr">
                    <a:solidFill>
                      <a:schemeClr val="bg1"/>
                    </a:solidFill>
                  </a:tcPr>
                </a:tc>
              </a:tr>
              <a:tr h="719931">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5</a:t>
                      </a:r>
                      <a:endParaRPr lang="zh-CN" altLang="en-US" sz="1800" b="1" dirty="0"/>
                    </a:p>
                  </a:txBody>
                  <a:tcPr marL="91431" marR="91431" marT="45716" marB="45716" anchor="ctr"/>
                </a:tc>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r>
            </a:tbl>
          </a:graphicData>
        </a:graphic>
      </p:graphicFrame>
      <p:graphicFrame>
        <p:nvGraphicFramePr>
          <p:cNvPr id="5" name="表格 4"/>
          <p:cNvGraphicFramePr>
            <a:graphicFrameLocks noGrp="1"/>
          </p:cNvGraphicFramePr>
          <p:nvPr/>
        </p:nvGraphicFramePr>
        <p:xfrm>
          <a:off x="1428750" y="3335338"/>
          <a:ext cx="2159001" cy="2160588"/>
        </p:xfrm>
        <a:graphic>
          <a:graphicData uri="http://schemas.openxmlformats.org/drawingml/2006/table">
            <a:tbl>
              <a:tblPr firstRow="1" bandRow="1">
                <a:tableStyleId>{5940675A-B579-460E-94D1-54222C63F5DA}</a:tableStyleId>
              </a:tblPr>
              <a:tblGrid>
                <a:gridCol w="719667"/>
                <a:gridCol w="719667"/>
                <a:gridCol w="719667"/>
              </a:tblGrid>
              <a:tr h="720196">
                <a:tc>
                  <a:txBody>
                    <a:bodyPr/>
                    <a:lstStyle/>
                    <a:p>
                      <a:pPr algn="ctr"/>
                      <a:r>
                        <a:rPr lang="en-US" altLang="zh-CN" sz="1800" b="1" dirty="0" smtClean="0"/>
                        <a:t>0</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r>
                        <a:rPr lang="en-US" altLang="zh-CN" sz="1800" b="1" dirty="0" smtClean="0"/>
                        <a:t>1</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r>
                        <a:rPr lang="en-US" altLang="zh-CN" sz="1800" b="1" dirty="0" smtClean="0"/>
                        <a:t>0</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r>
              <a:tr h="720196">
                <a:tc>
                  <a:txBody>
                    <a:bodyPr/>
                    <a:lstStyle/>
                    <a:p>
                      <a:pPr algn="ctr"/>
                      <a:r>
                        <a:rPr lang="en-US" altLang="zh-CN" sz="1800" b="1" dirty="0" smtClean="0"/>
                        <a:t>1</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r>
                        <a:rPr lang="en-US" altLang="zh-CN" sz="1800" b="1" dirty="0" smtClean="0"/>
                        <a:t>-4</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r>
                        <a:rPr lang="en-US" altLang="zh-CN" sz="1800" b="1" dirty="0" smtClean="0"/>
                        <a:t>1</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r>
              <a:tr h="720196">
                <a:tc>
                  <a:txBody>
                    <a:bodyPr/>
                    <a:lstStyle/>
                    <a:p>
                      <a:pPr algn="ctr"/>
                      <a:r>
                        <a:rPr lang="en-US" altLang="zh-CN" sz="1800" b="1" dirty="0" smtClean="0"/>
                        <a:t>0</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r>
                        <a:rPr lang="en-US" altLang="zh-CN" sz="1800" b="1" dirty="0" smtClean="0"/>
                        <a:t>1</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r>
                        <a:rPr lang="en-US" altLang="zh-CN" sz="1800" b="1" dirty="0" smtClean="0"/>
                        <a:t>0</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r>
            </a:tbl>
          </a:graphicData>
        </a:graphic>
      </p:graphicFrame>
      <p:cxnSp>
        <p:nvCxnSpPr>
          <p:cNvPr id="6" name="直接连接符 5"/>
          <p:cNvCxnSpPr/>
          <p:nvPr/>
        </p:nvCxnSpPr>
        <p:spPr>
          <a:xfrm>
            <a:off x="1169988" y="3081338"/>
            <a:ext cx="274637" cy="274637"/>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22638" y="3081338"/>
            <a:ext cx="273050" cy="274637"/>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1169988" y="5233988"/>
            <a:ext cx="274637" cy="274637"/>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3322638" y="5230813"/>
            <a:ext cx="273050" cy="274637"/>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10" name="右箭头 9"/>
          <p:cNvSpPr/>
          <p:nvPr/>
        </p:nvSpPr>
        <p:spPr>
          <a:xfrm>
            <a:off x="4605338" y="4221163"/>
            <a:ext cx="2825750" cy="3206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 name="文本框 21"/>
          <p:cNvSpPr txBox="1">
            <a:spLocks noChangeArrowheads="1"/>
          </p:cNvSpPr>
          <p:nvPr/>
        </p:nvSpPr>
        <p:spPr bwMode="auto">
          <a:xfrm>
            <a:off x="4669174" y="3851831"/>
            <a:ext cx="28520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a:t>滑动步长为</a:t>
            </a:r>
            <a:r>
              <a:rPr lang="en-US" altLang="zh-CN" b="1" dirty="0"/>
              <a:t>1</a:t>
            </a:r>
            <a:r>
              <a:rPr lang="zh-CN" altLang="en-US" b="1" dirty="0"/>
              <a:t>，卷积核滑动</a:t>
            </a:r>
          </a:p>
        </p:txBody>
      </p:sp>
      <p:graphicFrame>
        <p:nvGraphicFramePr>
          <p:cNvPr id="12" name="表格 11"/>
          <p:cNvGraphicFramePr>
            <a:graphicFrameLocks noGrp="1"/>
          </p:cNvGraphicFramePr>
          <p:nvPr>
            <p:extLst>
              <p:ext uri="{D42A27DB-BD31-4B8C-83A1-F6EECF244321}">
                <p14:modId xmlns:p14="http://schemas.microsoft.com/office/powerpoint/2010/main" val="385288876"/>
              </p:ext>
            </p:extLst>
          </p:nvPr>
        </p:nvGraphicFramePr>
        <p:xfrm>
          <a:off x="8093075" y="3021013"/>
          <a:ext cx="2879724" cy="2879724"/>
        </p:xfrm>
        <a:graphic>
          <a:graphicData uri="http://schemas.openxmlformats.org/drawingml/2006/table">
            <a:tbl>
              <a:tblPr firstRow="1" bandRow="1">
                <a:tableStyleId>{5940675A-B579-460E-94D1-54222C63F5DA}</a:tableStyleId>
              </a:tblPr>
              <a:tblGrid>
                <a:gridCol w="719931"/>
                <a:gridCol w="719931"/>
                <a:gridCol w="719931"/>
                <a:gridCol w="719931"/>
              </a:tblGrid>
              <a:tr h="719931">
                <a:tc>
                  <a:txBody>
                    <a:bodyPr/>
                    <a:lstStyle/>
                    <a:p>
                      <a:pPr algn="ctr"/>
                      <a:r>
                        <a:rPr lang="en-US" altLang="zh-CN" sz="1800" b="1" dirty="0" smtClean="0"/>
                        <a:t>1</a:t>
                      </a:r>
                      <a:endParaRPr lang="zh-CN" altLang="en-US" sz="1800" b="1" dirty="0"/>
                    </a:p>
                  </a:txBody>
                  <a:tcPr marL="91431" marR="91431" marT="45716" marB="45716" anchor="ctr">
                    <a:solidFill>
                      <a:schemeClr val="bg1"/>
                    </a:solidFill>
                  </a:tcPr>
                </a:tc>
                <a:tc>
                  <a:txBody>
                    <a:bodyPr/>
                    <a:lstStyle/>
                    <a:p>
                      <a:pPr algn="ctr"/>
                      <a:r>
                        <a:rPr lang="en-US" altLang="zh-CN" sz="1800" b="1" dirty="0" smtClean="0"/>
                        <a:t>3</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2</a:t>
                      </a:r>
                      <a:endParaRPr lang="zh-CN" altLang="en-US" sz="1800" b="1" dirty="0"/>
                    </a:p>
                  </a:txBody>
                  <a:tcPr marL="91431" marR="91431" marT="45716" marB="45716" anchor="ctr">
                    <a:solidFill>
                      <a:schemeClr val="bg1">
                        <a:lumMod val="85000"/>
                      </a:schemeClr>
                    </a:solidFill>
                  </a:tcPr>
                </a:tc>
              </a:tr>
              <a:tr h="719931">
                <a:tc>
                  <a:txBody>
                    <a:bodyPr/>
                    <a:lstStyle/>
                    <a:p>
                      <a:pPr algn="ctr"/>
                      <a:r>
                        <a:rPr lang="en-US" altLang="zh-CN" sz="1800" b="1" dirty="0" smtClean="0"/>
                        <a:t>2</a:t>
                      </a:r>
                      <a:endParaRPr lang="zh-CN" altLang="en-US" sz="1800" b="1" dirty="0"/>
                    </a:p>
                  </a:txBody>
                  <a:tcPr marL="91431" marR="91431" marT="45716" marB="45716" anchor="ctr">
                    <a:solidFill>
                      <a:schemeClr val="bg1"/>
                    </a:solidFill>
                  </a:tcPr>
                </a:tc>
                <a:tc>
                  <a:txBody>
                    <a:bodyPr/>
                    <a:lstStyle/>
                    <a:p>
                      <a:pPr algn="ctr"/>
                      <a:r>
                        <a:rPr lang="en-US" altLang="zh-CN" sz="1800" b="1" dirty="0" smtClean="0"/>
                        <a:t>0</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0</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r>
              <a:tr h="719931">
                <a:tc>
                  <a:txBody>
                    <a:bodyPr/>
                    <a:lstStyle/>
                    <a:p>
                      <a:pPr algn="ctr"/>
                      <a:r>
                        <a:rPr lang="en-US" altLang="zh-CN" sz="1800" b="1" dirty="0" smtClean="0"/>
                        <a:t>2</a:t>
                      </a:r>
                      <a:endParaRPr lang="zh-CN" altLang="en-US" sz="1800" b="1" dirty="0"/>
                    </a:p>
                  </a:txBody>
                  <a:tcPr marL="91431" marR="91431" marT="45716" marB="45716" anchor="ctr">
                    <a:solidFill>
                      <a:schemeClr val="bg1"/>
                    </a:solidFill>
                  </a:tcPr>
                </a:tc>
                <a:tc>
                  <a:txBody>
                    <a:bodyPr/>
                    <a:lstStyle/>
                    <a:p>
                      <a:pPr algn="ctr"/>
                      <a:r>
                        <a:rPr lang="en-US" altLang="zh-CN" sz="1800" b="1" dirty="0" smtClean="0"/>
                        <a:t>3</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1</a:t>
                      </a:r>
                      <a:endParaRPr lang="zh-CN" altLang="en-US" sz="1800" b="1" dirty="0"/>
                    </a:p>
                  </a:txBody>
                  <a:tcPr marL="91431" marR="91431" marT="45716" marB="45716" anchor="ctr">
                    <a:solidFill>
                      <a:schemeClr val="bg1">
                        <a:lumMod val="85000"/>
                      </a:schemeClr>
                    </a:solidFill>
                  </a:tcPr>
                </a:tc>
                <a:tc>
                  <a:txBody>
                    <a:bodyPr/>
                    <a:lstStyle/>
                    <a:p>
                      <a:pPr algn="ctr"/>
                      <a:r>
                        <a:rPr lang="en-US" altLang="zh-CN" sz="1800" b="1" dirty="0" smtClean="0"/>
                        <a:t>0</a:t>
                      </a:r>
                      <a:endParaRPr lang="zh-CN" altLang="en-US" sz="1800" b="1" dirty="0"/>
                    </a:p>
                  </a:txBody>
                  <a:tcPr marL="91431" marR="91431" marT="45716" marB="45716" anchor="ctr">
                    <a:solidFill>
                      <a:schemeClr val="bg1">
                        <a:lumMod val="85000"/>
                      </a:schemeClr>
                    </a:solidFill>
                  </a:tcPr>
                </a:tc>
              </a:tr>
              <a:tr h="719931">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5</a:t>
                      </a:r>
                      <a:endParaRPr lang="zh-CN" altLang="en-US" sz="1800" b="1" dirty="0"/>
                    </a:p>
                  </a:txBody>
                  <a:tcPr marL="91431" marR="91431" marT="45716" marB="45716" anchor="ctr"/>
                </a:tc>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r>
            </a:tbl>
          </a:graphicData>
        </a:graphic>
      </p:graphicFrame>
      <p:graphicFrame>
        <p:nvGraphicFramePr>
          <p:cNvPr id="13" name="表格 12"/>
          <p:cNvGraphicFramePr>
            <a:graphicFrameLocks noGrp="1"/>
          </p:cNvGraphicFramePr>
          <p:nvPr/>
        </p:nvGraphicFramePr>
        <p:xfrm>
          <a:off x="9078913" y="3259138"/>
          <a:ext cx="2159001" cy="2160588"/>
        </p:xfrm>
        <a:graphic>
          <a:graphicData uri="http://schemas.openxmlformats.org/drawingml/2006/table">
            <a:tbl>
              <a:tblPr firstRow="1" bandRow="1">
                <a:tableStyleId>{5940675A-B579-460E-94D1-54222C63F5DA}</a:tableStyleId>
              </a:tblPr>
              <a:tblGrid>
                <a:gridCol w="719667"/>
                <a:gridCol w="719667"/>
                <a:gridCol w="719667"/>
              </a:tblGrid>
              <a:tr h="720196">
                <a:tc>
                  <a:txBody>
                    <a:bodyPr/>
                    <a:lstStyle/>
                    <a:p>
                      <a:pPr algn="ctr"/>
                      <a:r>
                        <a:rPr lang="en-US" altLang="zh-CN" sz="1800" b="1" dirty="0" smtClean="0"/>
                        <a:t>0</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r>
                        <a:rPr lang="en-US" altLang="zh-CN" sz="1800" b="1" dirty="0" smtClean="0"/>
                        <a:t>1</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r>
                        <a:rPr lang="en-US" altLang="zh-CN" sz="1800" b="1" dirty="0" smtClean="0"/>
                        <a:t>0</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r>
              <a:tr h="720196">
                <a:tc>
                  <a:txBody>
                    <a:bodyPr/>
                    <a:lstStyle/>
                    <a:p>
                      <a:pPr algn="ctr"/>
                      <a:r>
                        <a:rPr lang="en-US" altLang="zh-CN" sz="1800" b="1" dirty="0" smtClean="0"/>
                        <a:t>1</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r>
                        <a:rPr lang="en-US" altLang="zh-CN" sz="1800" b="1" dirty="0" smtClean="0"/>
                        <a:t>-4</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r>
                        <a:rPr lang="en-US" altLang="zh-CN" sz="1800" b="1" dirty="0" smtClean="0"/>
                        <a:t>1</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r>
              <a:tr h="720196">
                <a:tc>
                  <a:txBody>
                    <a:bodyPr/>
                    <a:lstStyle/>
                    <a:p>
                      <a:pPr algn="ctr"/>
                      <a:r>
                        <a:rPr lang="en-US" altLang="zh-CN" sz="1800" b="1" dirty="0" smtClean="0"/>
                        <a:t>0</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r>
                        <a:rPr lang="en-US" altLang="zh-CN" sz="1800" b="1" dirty="0" smtClean="0"/>
                        <a:t>1</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r>
                        <a:rPr lang="en-US" altLang="zh-CN" sz="1800" b="1" dirty="0" smtClean="0"/>
                        <a:t>0</a:t>
                      </a:r>
                      <a:endParaRPr lang="zh-CN" altLang="en-US" sz="1800" b="1" dirty="0"/>
                    </a:p>
                  </a:txBody>
                  <a:tcPr marL="91409" marR="91409" marT="45711" marB="45711"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r>
            </a:tbl>
          </a:graphicData>
        </a:graphic>
      </p:graphicFrame>
      <p:cxnSp>
        <p:nvCxnSpPr>
          <p:cNvPr id="14" name="直接连接符 13"/>
          <p:cNvCxnSpPr/>
          <p:nvPr/>
        </p:nvCxnSpPr>
        <p:spPr>
          <a:xfrm>
            <a:off x="8820150" y="3022600"/>
            <a:ext cx="274638" cy="274638"/>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10972800" y="3022600"/>
            <a:ext cx="274638" cy="274638"/>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8820150" y="5176838"/>
            <a:ext cx="274638" cy="27305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0972800" y="5178425"/>
            <a:ext cx="274638" cy="274638"/>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4561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步长</a:t>
            </a:r>
          </a:p>
        </p:txBody>
      </p:sp>
      <p:sp>
        <p:nvSpPr>
          <p:cNvPr id="3" name="内容占位符 2"/>
          <p:cNvSpPr>
            <a:spLocks noGrp="1"/>
          </p:cNvSpPr>
          <p:nvPr>
            <p:ph sz="quarter" idx="13"/>
          </p:nvPr>
        </p:nvSpPr>
        <p:spPr/>
        <p:txBody>
          <a:bodyPr/>
          <a:lstStyle/>
          <a:p>
            <a:r>
              <a:rPr lang="zh-CN" altLang="en-US" dirty="0" smtClean="0"/>
              <a:t>为了方便理解，我们先看一维卷积运算的情况。</a:t>
            </a:r>
            <a:endParaRPr lang="en-US" altLang="zh-CN" dirty="0" smtClean="0"/>
          </a:p>
          <a:p>
            <a:r>
              <a:rPr lang="zh-CN" altLang="en-US" dirty="0" smtClean="0"/>
              <a:t>输入一个</a:t>
            </a:r>
            <a:r>
              <a:rPr lang="en-US" altLang="zh-CN" dirty="0"/>
              <a:t>(1,7) </a:t>
            </a:r>
            <a:r>
              <a:rPr lang="zh-CN" altLang="en-US" dirty="0"/>
              <a:t>的向量及其对应的</a:t>
            </a:r>
            <a:r>
              <a:rPr lang="zh-CN" altLang="en-US" dirty="0" smtClean="0"/>
              <a:t>数值。</a:t>
            </a:r>
            <a:endParaRPr lang="en-US" altLang="zh-CN" dirty="0" smtClean="0"/>
          </a:p>
          <a:p>
            <a:r>
              <a:rPr lang="zh-CN" altLang="en-US" dirty="0"/>
              <a:t>定义一个一维</a:t>
            </a:r>
            <a:r>
              <a:rPr lang="zh-CN" altLang="en-US" dirty="0" smtClean="0"/>
              <a:t>卷积，尺寸为</a:t>
            </a:r>
            <a:r>
              <a:rPr lang="en-US" altLang="zh-CN" dirty="0"/>
              <a:t>(1,3</a:t>
            </a:r>
            <a:r>
              <a:rPr lang="en-US" altLang="zh-CN" dirty="0" smtClean="0"/>
              <a:t>)</a:t>
            </a:r>
            <a:r>
              <a:rPr lang="zh-CN" altLang="en-US" dirty="0" smtClean="0"/>
              <a:t>，数值分别为</a:t>
            </a:r>
            <a:r>
              <a:rPr lang="en-US" altLang="zh-CN" dirty="0"/>
              <a:t>10</a:t>
            </a:r>
            <a:r>
              <a:rPr lang="zh-CN" altLang="en-US" dirty="0"/>
              <a:t>、</a:t>
            </a:r>
            <a:r>
              <a:rPr lang="en-US" altLang="zh-CN" dirty="0"/>
              <a:t>5</a:t>
            </a:r>
            <a:r>
              <a:rPr lang="zh-CN" altLang="en-US" dirty="0"/>
              <a:t>、</a:t>
            </a:r>
            <a:r>
              <a:rPr lang="en-US" altLang="zh-CN" dirty="0" smtClean="0"/>
              <a:t>11</a:t>
            </a:r>
            <a:r>
              <a:rPr lang="zh-CN" altLang="en-US" dirty="0" smtClean="0"/>
              <a:t>。</a:t>
            </a:r>
            <a:endParaRPr lang="en-US" altLang="zh-CN" dirty="0" smtClean="0"/>
          </a:p>
          <a:p>
            <a:r>
              <a:rPr lang="zh-CN" altLang="en-US" dirty="0" smtClean="0"/>
              <a:t>设置偏置为</a:t>
            </a:r>
            <a:r>
              <a:rPr lang="en-US" altLang="zh-CN" dirty="0" smtClean="0"/>
              <a:t>0</a:t>
            </a:r>
            <a:r>
              <a:rPr lang="zh-CN" altLang="en-US" dirty="0" smtClean="0"/>
              <a:t>（无偏置），滑动步长为</a:t>
            </a:r>
            <a:r>
              <a:rPr lang="en-US" altLang="zh-CN" dirty="0" smtClean="0"/>
              <a:t>1</a:t>
            </a:r>
            <a:r>
              <a:rPr lang="zh-CN" altLang="en-US" dirty="0" smtClean="0"/>
              <a:t>。</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3965607180"/>
              </p:ext>
            </p:extLst>
          </p:nvPr>
        </p:nvGraphicFramePr>
        <p:xfrm>
          <a:off x="2699750" y="3149600"/>
          <a:ext cx="3779839" cy="539750"/>
        </p:xfrm>
        <a:graphic>
          <a:graphicData uri="http://schemas.openxmlformats.org/drawingml/2006/table">
            <a:tbl>
              <a:tblPr firstRow="1" bandRow="1">
                <a:tableStyleId>{5940675A-B579-460E-94D1-54222C63F5DA}</a:tableStyleId>
              </a:tblPr>
              <a:tblGrid>
                <a:gridCol w="539977"/>
                <a:gridCol w="539977"/>
                <a:gridCol w="539977"/>
                <a:gridCol w="539977"/>
                <a:gridCol w="539977"/>
                <a:gridCol w="539977"/>
                <a:gridCol w="539977"/>
              </a:tblGrid>
              <a:tr h="539750">
                <a:tc>
                  <a:txBody>
                    <a:bodyPr/>
                    <a:lstStyle/>
                    <a:p>
                      <a:pPr algn="ctr"/>
                      <a:r>
                        <a:rPr lang="en-US" altLang="zh-CN" sz="1800" dirty="0" smtClean="0"/>
                        <a:t>5</a:t>
                      </a:r>
                      <a:endParaRPr lang="zh-CN" altLang="en-US" sz="1800" dirty="0"/>
                    </a:p>
                  </a:txBody>
                  <a:tcPr marL="91436" marR="91436" marT="45699" marB="45699" anchor="ctr"/>
                </a:tc>
                <a:tc>
                  <a:txBody>
                    <a:bodyPr/>
                    <a:lstStyle/>
                    <a:p>
                      <a:pPr algn="ctr"/>
                      <a:r>
                        <a:rPr lang="en-US" altLang="zh-CN" sz="1800" dirty="0" smtClean="0"/>
                        <a:t>2</a:t>
                      </a:r>
                      <a:endParaRPr lang="zh-CN" altLang="en-US" sz="1800" dirty="0"/>
                    </a:p>
                  </a:txBody>
                  <a:tcPr marL="91436" marR="91436" marT="45699" marB="45699" anchor="ctr"/>
                </a:tc>
                <a:tc>
                  <a:txBody>
                    <a:bodyPr/>
                    <a:lstStyle/>
                    <a:p>
                      <a:pPr algn="ctr"/>
                      <a:r>
                        <a:rPr lang="en-US" altLang="zh-CN" sz="1800" dirty="0" smtClean="0"/>
                        <a:t>6</a:t>
                      </a:r>
                      <a:endParaRPr lang="zh-CN" altLang="en-US" sz="1800" dirty="0"/>
                    </a:p>
                  </a:txBody>
                  <a:tcPr marL="91436" marR="91436" marT="45699" marB="45699" anchor="ctr"/>
                </a:tc>
                <a:tc>
                  <a:txBody>
                    <a:bodyPr/>
                    <a:lstStyle/>
                    <a:p>
                      <a:pPr algn="ctr"/>
                      <a:r>
                        <a:rPr lang="en-US" altLang="zh-CN" sz="1800" dirty="0" smtClean="0"/>
                        <a:t>10</a:t>
                      </a:r>
                      <a:endParaRPr lang="zh-CN" altLang="en-US" sz="1800" dirty="0"/>
                    </a:p>
                  </a:txBody>
                  <a:tcPr marL="91436" marR="91436" marT="45699" marB="45699" anchor="ctr"/>
                </a:tc>
                <a:tc>
                  <a:txBody>
                    <a:bodyPr/>
                    <a:lstStyle/>
                    <a:p>
                      <a:pPr algn="ctr"/>
                      <a:r>
                        <a:rPr lang="en-US" altLang="zh-CN" sz="1800" dirty="0" smtClean="0"/>
                        <a:t>7</a:t>
                      </a:r>
                      <a:endParaRPr lang="zh-CN" altLang="en-US" sz="1800" dirty="0"/>
                    </a:p>
                  </a:txBody>
                  <a:tcPr marL="91436" marR="91436" marT="45699" marB="45699" anchor="ctr"/>
                </a:tc>
                <a:tc>
                  <a:txBody>
                    <a:bodyPr/>
                    <a:lstStyle/>
                    <a:p>
                      <a:pPr algn="ctr"/>
                      <a:r>
                        <a:rPr lang="en-US" altLang="zh-CN" sz="1800" dirty="0" smtClean="0"/>
                        <a:t>12</a:t>
                      </a:r>
                      <a:endParaRPr lang="zh-CN" altLang="en-US" sz="1800" dirty="0"/>
                    </a:p>
                  </a:txBody>
                  <a:tcPr marL="91436" marR="91436" marT="45699" marB="45699" anchor="ctr"/>
                </a:tc>
                <a:tc>
                  <a:txBody>
                    <a:bodyPr/>
                    <a:lstStyle/>
                    <a:p>
                      <a:pPr algn="ctr"/>
                      <a:r>
                        <a:rPr lang="en-US" altLang="zh-CN" sz="1800" dirty="0" smtClean="0"/>
                        <a:t>8</a:t>
                      </a:r>
                      <a:endParaRPr lang="zh-CN" altLang="en-US" sz="1800" dirty="0"/>
                    </a:p>
                  </a:txBody>
                  <a:tcPr marL="91436" marR="91436" marT="45699" marB="45699" anchor="ctr"/>
                </a:tc>
              </a:tr>
            </a:tbl>
          </a:graphicData>
        </a:graphic>
      </p:graphicFrame>
      <p:sp>
        <p:nvSpPr>
          <p:cNvPr id="5" name="文本框 23"/>
          <p:cNvSpPr txBox="1">
            <a:spLocks noChangeArrowheads="1"/>
          </p:cNvSpPr>
          <p:nvPr/>
        </p:nvSpPr>
        <p:spPr bwMode="auto">
          <a:xfrm>
            <a:off x="1688512" y="3260725"/>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a:t>输入</a:t>
            </a:r>
          </a:p>
        </p:txBody>
      </p:sp>
      <p:sp>
        <p:nvSpPr>
          <p:cNvPr id="6" name="文本框 23"/>
          <p:cNvSpPr txBox="1">
            <a:spLocks noChangeArrowheads="1"/>
          </p:cNvSpPr>
          <p:nvPr/>
        </p:nvSpPr>
        <p:spPr bwMode="auto">
          <a:xfrm>
            <a:off x="1340563" y="3935951"/>
            <a:ext cx="13099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1×3</a:t>
            </a:r>
            <a:r>
              <a:rPr lang="zh-CN" altLang="en-US" b="1" dirty="0"/>
              <a:t>卷积核</a:t>
            </a:r>
          </a:p>
        </p:txBody>
      </p:sp>
      <p:graphicFrame>
        <p:nvGraphicFramePr>
          <p:cNvPr id="7" name="表格 6"/>
          <p:cNvGraphicFramePr>
            <a:graphicFrameLocks noGrp="1"/>
          </p:cNvGraphicFramePr>
          <p:nvPr>
            <p:extLst>
              <p:ext uri="{D42A27DB-BD31-4B8C-83A1-F6EECF244321}">
                <p14:modId xmlns:p14="http://schemas.microsoft.com/office/powerpoint/2010/main" val="1565006376"/>
              </p:ext>
            </p:extLst>
          </p:nvPr>
        </p:nvGraphicFramePr>
        <p:xfrm>
          <a:off x="2704512" y="3867150"/>
          <a:ext cx="1620837" cy="539750"/>
        </p:xfrm>
        <a:graphic>
          <a:graphicData uri="http://schemas.openxmlformats.org/drawingml/2006/table">
            <a:tbl>
              <a:tblPr firstRow="1" bandRow="1">
                <a:tableStyleId>{5940675A-B579-460E-94D1-54222C63F5DA}</a:tableStyleId>
              </a:tblPr>
              <a:tblGrid>
                <a:gridCol w="540279"/>
                <a:gridCol w="540279"/>
                <a:gridCol w="540279"/>
              </a:tblGrid>
              <a:tr h="539750">
                <a:tc>
                  <a:txBody>
                    <a:bodyPr/>
                    <a:lstStyle/>
                    <a:p>
                      <a:pPr algn="ctr"/>
                      <a:r>
                        <a:rPr lang="en-US" altLang="zh-CN" sz="1800" dirty="0" smtClean="0"/>
                        <a:t>10</a:t>
                      </a:r>
                      <a:endParaRPr lang="zh-CN" altLang="en-US" sz="1800" dirty="0"/>
                    </a:p>
                  </a:txBody>
                  <a:tcPr marL="91487" marR="91487" marT="45699" marB="45699" anchor="ctr"/>
                </a:tc>
                <a:tc>
                  <a:txBody>
                    <a:bodyPr/>
                    <a:lstStyle/>
                    <a:p>
                      <a:pPr algn="ctr"/>
                      <a:r>
                        <a:rPr lang="en-US" altLang="zh-CN" sz="1800" dirty="0" smtClean="0"/>
                        <a:t>5</a:t>
                      </a:r>
                      <a:endParaRPr lang="zh-CN" altLang="en-US" sz="1800" dirty="0"/>
                    </a:p>
                  </a:txBody>
                  <a:tcPr marL="91487" marR="91487" marT="45699" marB="45699" anchor="ctr"/>
                </a:tc>
                <a:tc>
                  <a:txBody>
                    <a:bodyPr/>
                    <a:lstStyle/>
                    <a:p>
                      <a:pPr algn="ctr"/>
                      <a:r>
                        <a:rPr lang="en-US" altLang="zh-CN" sz="1800" dirty="0" smtClean="0"/>
                        <a:t>11</a:t>
                      </a:r>
                      <a:endParaRPr lang="zh-CN" altLang="en-US" sz="1800" dirty="0"/>
                    </a:p>
                  </a:txBody>
                  <a:tcPr marL="91487" marR="91487" marT="45699" marB="45699" anchor="ctr"/>
                </a:tc>
              </a:tr>
            </a:tbl>
          </a:graphicData>
        </a:graphic>
      </p:graphicFrame>
      <p:sp>
        <p:nvSpPr>
          <p:cNvPr id="8" name="文本框 23"/>
          <p:cNvSpPr txBox="1">
            <a:spLocks noChangeArrowheads="1"/>
          </p:cNvSpPr>
          <p:nvPr/>
        </p:nvSpPr>
        <p:spPr bwMode="auto">
          <a:xfrm>
            <a:off x="1688512" y="5087938"/>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a:t>输出</a:t>
            </a:r>
          </a:p>
        </p:txBody>
      </p:sp>
      <p:graphicFrame>
        <p:nvGraphicFramePr>
          <p:cNvPr id="9" name="表格 8"/>
          <p:cNvGraphicFramePr>
            <a:graphicFrameLocks noGrp="1"/>
          </p:cNvGraphicFramePr>
          <p:nvPr>
            <p:extLst>
              <p:ext uri="{D42A27DB-BD31-4B8C-83A1-F6EECF244321}">
                <p14:modId xmlns:p14="http://schemas.microsoft.com/office/powerpoint/2010/main" val="1299181939"/>
              </p:ext>
            </p:extLst>
          </p:nvPr>
        </p:nvGraphicFramePr>
        <p:xfrm>
          <a:off x="3188700" y="5064125"/>
          <a:ext cx="539750" cy="541338"/>
        </p:xfrm>
        <a:graphic>
          <a:graphicData uri="http://schemas.openxmlformats.org/drawingml/2006/table">
            <a:tbl>
              <a:tblPr firstRow="1" bandRow="1">
                <a:tableStyleId>{5940675A-B579-460E-94D1-54222C63F5DA}</a:tableStyleId>
              </a:tblPr>
              <a:tblGrid>
                <a:gridCol w="539750"/>
              </a:tblGrid>
              <a:tr h="541338">
                <a:tc>
                  <a:txBody>
                    <a:bodyPr/>
                    <a:lstStyle/>
                    <a:p>
                      <a:pPr algn="ctr"/>
                      <a:r>
                        <a:rPr lang="en-US" altLang="zh-CN" sz="1800" dirty="0" smtClean="0"/>
                        <a:t>A</a:t>
                      </a:r>
                      <a:endParaRPr lang="zh-CN" altLang="en-US" sz="1800" dirty="0"/>
                    </a:p>
                  </a:txBody>
                  <a:tcPr marL="91398" marR="91398" marT="45833" marB="45833" anchor="ctr"/>
                </a:tc>
              </a:tr>
            </a:tbl>
          </a:graphicData>
        </a:graphic>
      </p:graphicFrame>
      <p:sp>
        <p:nvSpPr>
          <p:cNvPr id="10" name="矩形 9"/>
          <p:cNvSpPr/>
          <p:nvPr/>
        </p:nvSpPr>
        <p:spPr>
          <a:xfrm>
            <a:off x="2650537" y="3109913"/>
            <a:ext cx="1692275" cy="611187"/>
          </a:xfrm>
          <a:prstGeom prst="rect">
            <a:avLst/>
          </a:prstGeom>
          <a:solidFill>
            <a:schemeClr val="lt1">
              <a:alpha val="0"/>
            </a:schemeClr>
          </a:solidFill>
          <a:ln w="31750"/>
        </p:spPr>
        <p:style>
          <a:lnRef idx="2">
            <a:schemeClr val="dk1"/>
          </a:lnRef>
          <a:fillRef idx="1">
            <a:schemeClr val="lt1"/>
          </a:fillRef>
          <a:effectRef idx="0">
            <a:schemeClr val="dk1"/>
          </a:effectRef>
          <a:fontRef idx="minor">
            <a:schemeClr val="dk1"/>
          </a:fontRef>
        </p:style>
        <p:txBody>
          <a:bodyPr anchor="ctr"/>
          <a:lstStyle/>
          <a:p>
            <a:pPr algn="ctr">
              <a:defRPr/>
            </a:pPr>
            <a:endParaRPr lang="zh-CN" altLang="en-US"/>
          </a:p>
        </p:txBody>
      </p:sp>
      <p:cxnSp>
        <p:nvCxnSpPr>
          <p:cNvPr id="11" name="直接连接符 10"/>
          <p:cNvCxnSpPr/>
          <p:nvPr/>
        </p:nvCxnSpPr>
        <p:spPr>
          <a:xfrm>
            <a:off x="2715625" y="4429125"/>
            <a:ext cx="522287" cy="5635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3710987" y="4429125"/>
            <a:ext cx="611188" cy="5635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文本框 23"/>
          <p:cNvSpPr txBox="1">
            <a:spLocks noChangeArrowheads="1"/>
          </p:cNvSpPr>
          <p:nvPr/>
        </p:nvSpPr>
        <p:spPr bwMode="auto">
          <a:xfrm>
            <a:off x="6840506" y="4275137"/>
            <a:ext cx="39367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A = 5 × 10 + 2 × 5 + 6 × 11 = 126</a:t>
            </a:r>
            <a:r>
              <a:rPr lang="zh-CN" altLang="en-US" b="1" dirty="0"/>
              <a:t>。</a:t>
            </a:r>
          </a:p>
        </p:txBody>
      </p:sp>
    </p:spTree>
    <p:extLst>
      <p:ext uri="{BB962C8B-B14F-4D97-AF65-F5344CB8AC3E}">
        <p14:creationId xmlns:p14="http://schemas.microsoft.com/office/powerpoint/2010/main" val="11620220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步长</a:t>
            </a:r>
            <a:endParaRPr lang="zh-CN" altLang="en-US" dirty="0"/>
          </a:p>
        </p:txBody>
      </p:sp>
      <p:sp>
        <p:nvSpPr>
          <p:cNvPr id="3" name="内容占位符 2"/>
          <p:cNvSpPr>
            <a:spLocks noGrp="1"/>
          </p:cNvSpPr>
          <p:nvPr>
            <p:ph sz="quarter" idx="13"/>
          </p:nvPr>
        </p:nvSpPr>
        <p:spPr/>
        <p:txBody>
          <a:bodyPr/>
          <a:lstStyle/>
          <a:p>
            <a:r>
              <a:rPr lang="zh-CN" altLang="en-US" dirty="0"/>
              <a:t>因为我们定义步长为</a:t>
            </a:r>
            <a:r>
              <a:rPr lang="en-US" altLang="zh-CN" dirty="0"/>
              <a:t>1</a:t>
            </a:r>
            <a:r>
              <a:rPr lang="zh-CN" altLang="en-US" dirty="0"/>
              <a:t>，所以接下来卷积移动一个格子（在图像中一个步长可以理解为一个像素）。</a:t>
            </a:r>
            <a:endParaRPr lang="en-US" altLang="zh-CN" dirty="0"/>
          </a:p>
          <a:p>
            <a:r>
              <a:rPr lang="zh-CN" altLang="en-US" dirty="0" smtClean="0"/>
              <a:t>依旧遵循卷积核从左到右从上到下的滑动规则。</a:t>
            </a:r>
            <a:endParaRPr lang="en-US" altLang="zh-CN" dirty="0" smtClean="0"/>
          </a:p>
          <a:p>
            <a:r>
              <a:rPr lang="zh-CN" altLang="en-US" dirty="0" smtClean="0"/>
              <a:t>以此类推</a:t>
            </a:r>
            <a:r>
              <a:rPr lang="zh-CN" altLang="en-US" dirty="0"/>
              <a:t>，我们最终得到一个</a:t>
            </a:r>
            <a:r>
              <a:rPr lang="en-US" altLang="zh-CN" dirty="0"/>
              <a:t> (1,5) </a:t>
            </a:r>
            <a:r>
              <a:rPr lang="zh-CN" altLang="en-US" dirty="0"/>
              <a:t>的向量，如右图所示。</a:t>
            </a:r>
            <a:endParaRPr lang="en-US" altLang="zh-CN" dirty="0"/>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3360109318"/>
              </p:ext>
            </p:extLst>
          </p:nvPr>
        </p:nvGraphicFramePr>
        <p:xfrm>
          <a:off x="2124715" y="3121319"/>
          <a:ext cx="3779839" cy="539750"/>
        </p:xfrm>
        <a:graphic>
          <a:graphicData uri="http://schemas.openxmlformats.org/drawingml/2006/table">
            <a:tbl>
              <a:tblPr firstRow="1" bandRow="1">
                <a:tableStyleId>{5940675A-B579-460E-94D1-54222C63F5DA}</a:tableStyleId>
              </a:tblPr>
              <a:tblGrid>
                <a:gridCol w="539977"/>
                <a:gridCol w="539977"/>
                <a:gridCol w="539977"/>
                <a:gridCol w="539977"/>
                <a:gridCol w="539977"/>
                <a:gridCol w="539977"/>
                <a:gridCol w="539977"/>
              </a:tblGrid>
              <a:tr h="539750">
                <a:tc>
                  <a:txBody>
                    <a:bodyPr/>
                    <a:lstStyle/>
                    <a:p>
                      <a:pPr algn="ctr"/>
                      <a:r>
                        <a:rPr lang="en-US" altLang="zh-CN" sz="1800" dirty="0" smtClean="0"/>
                        <a:t>5</a:t>
                      </a:r>
                      <a:endParaRPr lang="zh-CN" altLang="en-US" sz="1800" dirty="0"/>
                    </a:p>
                  </a:txBody>
                  <a:tcPr marL="91436" marR="91436" marT="45699" marB="45699" anchor="ctr"/>
                </a:tc>
                <a:tc>
                  <a:txBody>
                    <a:bodyPr/>
                    <a:lstStyle/>
                    <a:p>
                      <a:pPr algn="ctr"/>
                      <a:r>
                        <a:rPr lang="en-US" altLang="zh-CN" sz="1800" dirty="0" smtClean="0"/>
                        <a:t>2</a:t>
                      </a:r>
                      <a:endParaRPr lang="zh-CN" altLang="en-US" sz="1800" dirty="0"/>
                    </a:p>
                  </a:txBody>
                  <a:tcPr marL="91436" marR="91436" marT="45699" marB="45699" anchor="ctr"/>
                </a:tc>
                <a:tc>
                  <a:txBody>
                    <a:bodyPr/>
                    <a:lstStyle/>
                    <a:p>
                      <a:pPr algn="ctr"/>
                      <a:r>
                        <a:rPr lang="en-US" altLang="zh-CN" sz="1800" dirty="0" smtClean="0"/>
                        <a:t>6</a:t>
                      </a:r>
                      <a:endParaRPr lang="zh-CN" altLang="en-US" sz="1800" dirty="0"/>
                    </a:p>
                  </a:txBody>
                  <a:tcPr marL="91436" marR="91436" marT="45699" marB="45699" anchor="ctr"/>
                </a:tc>
                <a:tc>
                  <a:txBody>
                    <a:bodyPr/>
                    <a:lstStyle/>
                    <a:p>
                      <a:pPr algn="ctr"/>
                      <a:r>
                        <a:rPr lang="en-US" altLang="zh-CN" sz="1800" dirty="0" smtClean="0"/>
                        <a:t>10</a:t>
                      </a:r>
                      <a:endParaRPr lang="zh-CN" altLang="en-US" sz="1800" dirty="0"/>
                    </a:p>
                  </a:txBody>
                  <a:tcPr marL="91436" marR="91436" marT="45699" marB="45699" anchor="ctr"/>
                </a:tc>
                <a:tc>
                  <a:txBody>
                    <a:bodyPr/>
                    <a:lstStyle/>
                    <a:p>
                      <a:pPr algn="ctr"/>
                      <a:r>
                        <a:rPr lang="en-US" altLang="zh-CN" sz="1800" dirty="0" smtClean="0"/>
                        <a:t>7</a:t>
                      </a:r>
                      <a:endParaRPr lang="zh-CN" altLang="en-US" sz="1800" dirty="0"/>
                    </a:p>
                  </a:txBody>
                  <a:tcPr marL="91436" marR="91436" marT="45699" marB="45699" anchor="ctr"/>
                </a:tc>
                <a:tc>
                  <a:txBody>
                    <a:bodyPr/>
                    <a:lstStyle/>
                    <a:p>
                      <a:pPr algn="ctr"/>
                      <a:r>
                        <a:rPr lang="en-US" altLang="zh-CN" sz="1800" dirty="0" smtClean="0"/>
                        <a:t>12</a:t>
                      </a:r>
                      <a:endParaRPr lang="zh-CN" altLang="en-US" sz="1800" dirty="0"/>
                    </a:p>
                  </a:txBody>
                  <a:tcPr marL="91436" marR="91436" marT="45699" marB="45699" anchor="ctr"/>
                </a:tc>
                <a:tc>
                  <a:txBody>
                    <a:bodyPr/>
                    <a:lstStyle/>
                    <a:p>
                      <a:pPr algn="ctr"/>
                      <a:r>
                        <a:rPr lang="en-US" altLang="zh-CN" sz="1800" dirty="0" smtClean="0"/>
                        <a:t>8</a:t>
                      </a:r>
                      <a:endParaRPr lang="zh-CN" altLang="en-US" sz="1800" dirty="0"/>
                    </a:p>
                  </a:txBody>
                  <a:tcPr marL="91436" marR="91436" marT="45699" marB="45699" anchor="ctr"/>
                </a:tc>
              </a:tr>
            </a:tbl>
          </a:graphicData>
        </a:graphic>
      </p:graphicFrame>
      <p:sp>
        <p:nvSpPr>
          <p:cNvPr id="5" name="文本框 23"/>
          <p:cNvSpPr txBox="1">
            <a:spLocks noChangeArrowheads="1"/>
          </p:cNvSpPr>
          <p:nvPr/>
        </p:nvSpPr>
        <p:spPr bwMode="auto">
          <a:xfrm>
            <a:off x="1113477" y="323244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a:t>输入</a:t>
            </a:r>
          </a:p>
        </p:txBody>
      </p:sp>
      <p:sp>
        <p:nvSpPr>
          <p:cNvPr id="6" name="文本框 23"/>
          <p:cNvSpPr txBox="1">
            <a:spLocks noChangeArrowheads="1"/>
          </p:cNvSpPr>
          <p:nvPr/>
        </p:nvSpPr>
        <p:spPr bwMode="auto">
          <a:xfrm>
            <a:off x="856302" y="3954757"/>
            <a:ext cx="13099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a:t>1×3</a:t>
            </a:r>
            <a:r>
              <a:rPr lang="zh-CN" altLang="en-US" b="1"/>
              <a:t>卷积核</a:t>
            </a:r>
          </a:p>
        </p:txBody>
      </p:sp>
      <p:graphicFrame>
        <p:nvGraphicFramePr>
          <p:cNvPr id="7" name="表格 6"/>
          <p:cNvGraphicFramePr>
            <a:graphicFrameLocks noGrp="1"/>
          </p:cNvGraphicFramePr>
          <p:nvPr>
            <p:extLst>
              <p:ext uri="{D42A27DB-BD31-4B8C-83A1-F6EECF244321}">
                <p14:modId xmlns:p14="http://schemas.microsoft.com/office/powerpoint/2010/main" val="2178802369"/>
              </p:ext>
            </p:extLst>
          </p:nvPr>
        </p:nvGraphicFramePr>
        <p:xfrm>
          <a:off x="2662877" y="3792832"/>
          <a:ext cx="1620837" cy="539750"/>
        </p:xfrm>
        <a:graphic>
          <a:graphicData uri="http://schemas.openxmlformats.org/drawingml/2006/table">
            <a:tbl>
              <a:tblPr firstRow="1" bandRow="1">
                <a:tableStyleId>{5940675A-B579-460E-94D1-54222C63F5DA}</a:tableStyleId>
              </a:tblPr>
              <a:tblGrid>
                <a:gridCol w="540279"/>
                <a:gridCol w="540279"/>
                <a:gridCol w="540279"/>
              </a:tblGrid>
              <a:tr h="539750">
                <a:tc>
                  <a:txBody>
                    <a:bodyPr/>
                    <a:lstStyle/>
                    <a:p>
                      <a:pPr algn="ctr"/>
                      <a:r>
                        <a:rPr lang="en-US" altLang="zh-CN" sz="1800" dirty="0" smtClean="0"/>
                        <a:t>10</a:t>
                      </a:r>
                      <a:endParaRPr lang="zh-CN" altLang="en-US" sz="1800" dirty="0"/>
                    </a:p>
                  </a:txBody>
                  <a:tcPr marL="91487" marR="91487" marT="45699" marB="45699" anchor="ctr"/>
                </a:tc>
                <a:tc>
                  <a:txBody>
                    <a:bodyPr/>
                    <a:lstStyle/>
                    <a:p>
                      <a:pPr algn="ctr"/>
                      <a:r>
                        <a:rPr lang="en-US" altLang="zh-CN" sz="1800" dirty="0" smtClean="0"/>
                        <a:t>5</a:t>
                      </a:r>
                      <a:endParaRPr lang="zh-CN" altLang="en-US" sz="1800" dirty="0"/>
                    </a:p>
                  </a:txBody>
                  <a:tcPr marL="91487" marR="91487" marT="45699" marB="45699" anchor="ctr"/>
                </a:tc>
                <a:tc>
                  <a:txBody>
                    <a:bodyPr/>
                    <a:lstStyle/>
                    <a:p>
                      <a:pPr algn="ctr"/>
                      <a:r>
                        <a:rPr lang="en-US" altLang="zh-CN" sz="1800" dirty="0" smtClean="0"/>
                        <a:t>11</a:t>
                      </a:r>
                      <a:endParaRPr lang="zh-CN" altLang="en-US" sz="1800" dirty="0"/>
                    </a:p>
                  </a:txBody>
                  <a:tcPr marL="91487" marR="91487" marT="45699" marB="45699" anchor="ctr"/>
                </a:tc>
              </a:tr>
            </a:tbl>
          </a:graphicData>
        </a:graphic>
      </p:graphicFrame>
      <p:sp>
        <p:nvSpPr>
          <p:cNvPr id="8" name="文本框 23"/>
          <p:cNvSpPr txBox="1">
            <a:spLocks noChangeArrowheads="1"/>
          </p:cNvSpPr>
          <p:nvPr/>
        </p:nvSpPr>
        <p:spPr bwMode="auto">
          <a:xfrm>
            <a:off x="1113477" y="5059657"/>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a:t>输出</a:t>
            </a:r>
          </a:p>
        </p:txBody>
      </p:sp>
      <p:sp>
        <p:nvSpPr>
          <p:cNvPr id="9" name="矩形 8"/>
          <p:cNvSpPr/>
          <p:nvPr/>
        </p:nvSpPr>
        <p:spPr>
          <a:xfrm>
            <a:off x="2615252" y="3081632"/>
            <a:ext cx="1692275" cy="611187"/>
          </a:xfrm>
          <a:prstGeom prst="rect">
            <a:avLst/>
          </a:prstGeom>
          <a:solidFill>
            <a:schemeClr val="lt1">
              <a:alpha val="0"/>
            </a:schemeClr>
          </a:solidFill>
          <a:ln w="31750"/>
        </p:spPr>
        <p:style>
          <a:lnRef idx="2">
            <a:schemeClr val="dk1"/>
          </a:lnRef>
          <a:fillRef idx="1">
            <a:schemeClr val="lt1"/>
          </a:fillRef>
          <a:effectRef idx="0">
            <a:schemeClr val="dk1"/>
          </a:effectRef>
          <a:fontRef idx="minor">
            <a:schemeClr val="dk1"/>
          </a:fontRef>
        </p:style>
        <p:txBody>
          <a:bodyPr anchor="ctr"/>
          <a:lstStyle/>
          <a:p>
            <a:pPr algn="ctr">
              <a:defRPr/>
            </a:pPr>
            <a:endParaRPr lang="zh-CN" altLang="en-US"/>
          </a:p>
        </p:txBody>
      </p:sp>
      <p:cxnSp>
        <p:nvCxnSpPr>
          <p:cNvPr id="10" name="直接连接符 9"/>
          <p:cNvCxnSpPr/>
          <p:nvPr/>
        </p:nvCxnSpPr>
        <p:spPr>
          <a:xfrm>
            <a:off x="2623190" y="4400844"/>
            <a:ext cx="523875" cy="5635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a:off x="3696340" y="4392907"/>
            <a:ext cx="611187" cy="5635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2" name="表格 11"/>
          <p:cNvGraphicFramePr>
            <a:graphicFrameLocks noGrp="1"/>
          </p:cNvGraphicFramePr>
          <p:nvPr>
            <p:extLst>
              <p:ext uri="{D42A27DB-BD31-4B8C-83A1-F6EECF244321}">
                <p14:modId xmlns:p14="http://schemas.microsoft.com/office/powerpoint/2010/main" val="3256333477"/>
              </p:ext>
            </p:extLst>
          </p:nvPr>
        </p:nvGraphicFramePr>
        <p:xfrm>
          <a:off x="2615252" y="4992982"/>
          <a:ext cx="1079500" cy="539750"/>
        </p:xfrm>
        <a:graphic>
          <a:graphicData uri="http://schemas.openxmlformats.org/drawingml/2006/table">
            <a:tbl>
              <a:tblPr firstRow="1" bandRow="1">
                <a:tableStyleId>{5940675A-B579-460E-94D1-54222C63F5DA}</a:tableStyleId>
              </a:tblPr>
              <a:tblGrid>
                <a:gridCol w="539750"/>
                <a:gridCol w="539750"/>
              </a:tblGrid>
              <a:tr h="539750">
                <a:tc>
                  <a:txBody>
                    <a:bodyPr/>
                    <a:lstStyle/>
                    <a:p>
                      <a:pPr algn="ctr"/>
                      <a:r>
                        <a:rPr lang="en-US" altLang="zh-CN" sz="1800" b="1" dirty="0" smtClean="0"/>
                        <a:t>A</a:t>
                      </a:r>
                      <a:endParaRPr lang="zh-CN" altLang="en-US" sz="1800" b="1" dirty="0"/>
                    </a:p>
                  </a:txBody>
                  <a:tcPr marL="91398" marR="91398" marT="45699" marB="45699" anchor="ctr"/>
                </a:tc>
                <a:tc>
                  <a:txBody>
                    <a:bodyPr/>
                    <a:lstStyle/>
                    <a:p>
                      <a:pPr algn="ctr"/>
                      <a:r>
                        <a:rPr lang="en-US" altLang="zh-CN" sz="1800" b="1" dirty="0" smtClean="0"/>
                        <a:t>B</a:t>
                      </a:r>
                      <a:endParaRPr lang="zh-CN" altLang="en-US" sz="1800" b="1" dirty="0"/>
                    </a:p>
                  </a:txBody>
                  <a:tcPr marL="91398" marR="91398" marT="45699" marB="45699" anchor="ctr"/>
                </a:tc>
              </a:tr>
            </a:tbl>
          </a:graphicData>
        </a:graphic>
      </p:graphicFrame>
      <p:sp>
        <p:nvSpPr>
          <p:cNvPr id="13" name="右箭头 12"/>
          <p:cNvSpPr/>
          <p:nvPr/>
        </p:nvSpPr>
        <p:spPr>
          <a:xfrm>
            <a:off x="2920052" y="2999082"/>
            <a:ext cx="541338" cy="44450"/>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右箭头 13"/>
          <p:cNvSpPr/>
          <p:nvPr/>
        </p:nvSpPr>
        <p:spPr>
          <a:xfrm>
            <a:off x="2578740" y="4651669"/>
            <a:ext cx="541337" cy="46038"/>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aphicFrame>
        <p:nvGraphicFramePr>
          <p:cNvPr id="15" name="表格 14"/>
          <p:cNvGraphicFramePr>
            <a:graphicFrameLocks noGrp="1"/>
          </p:cNvGraphicFramePr>
          <p:nvPr>
            <p:extLst>
              <p:ext uri="{D42A27DB-BD31-4B8C-83A1-F6EECF244321}">
                <p14:modId xmlns:p14="http://schemas.microsoft.com/office/powerpoint/2010/main" val="847364492"/>
              </p:ext>
            </p:extLst>
          </p:nvPr>
        </p:nvGraphicFramePr>
        <p:xfrm>
          <a:off x="7322190" y="3157832"/>
          <a:ext cx="3781428" cy="539750"/>
        </p:xfrm>
        <a:graphic>
          <a:graphicData uri="http://schemas.openxmlformats.org/drawingml/2006/table">
            <a:tbl>
              <a:tblPr firstRow="1" bandRow="1">
                <a:tableStyleId>{5940675A-B579-460E-94D1-54222C63F5DA}</a:tableStyleId>
              </a:tblPr>
              <a:tblGrid>
                <a:gridCol w="540204"/>
                <a:gridCol w="540204"/>
                <a:gridCol w="540204"/>
                <a:gridCol w="540204"/>
                <a:gridCol w="540204"/>
                <a:gridCol w="540204"/>
                <a:gridCol w="540204"/>
              </a:tblGrid>
              <a:tr h="539750">
                <a:tc>
                  <a:txBody>
                    <a:bodyPr/>
                    <a:lstStyle/>
                    <a:p>
                      <a:pPr algn="ctr"/>
                      <a:r>
                        <a:rPr lang="en-US" altLang="zh-CN" sz="1800" dirty="0" smtClean="0"/>
                        <a:t>5</a:t>
                      </a:r>
                      <a:endParaRPr lang="zh-CN" altLang="en-US" sz="1800" dirty="0"/>
                    </a:p>
                  </a:txBody>
                  <a:tcPr marL="91474" marR="91474" marT="45699" marB="45699" anchor="ctr"/>
                </a:tc>
                <a:tc>
                  <a:txBody>
                    <a:bodyPr/>
                    <a:lstStyle/>
                    <a:p>
                      <a:pPr algn="ctr"/>
                      <a:r>
                        <a:rPr lang="en-US" altLang="zh-CN" sz="1800" dirty="0" smtClean="0"/>
                        <a:t>2</a:t>
                      </a:r>
                      <a:endParaRPr lang="zh-CN" altLang="en-US" sz="1800" dirty="0"/>
                    </a:p>
                  </a:txBody>
                  <a:tcPr marL="91474" marR="91474" marT="45699" marB="45699" anchor="ctr"/>
                </a:tc>
                <a:tc>
                  <a:txBody>
                    <a:bodyPr/>
                    <a:lstStyle/>
                    <a:p>
                      <a:pPr algn="ctr"/>
                      <a:r>
                        <a:rPr lang="en-US" altLang="zh-CN" sz="1800" dirty="0" smtClean="0"/>
                        <a:t>6</a:t>
                      </a:r>
                      <a:endParaRPr lang="zh-CN" altLang="en-US" sz="1800" dirty="0"/>
                    </a:p>
                  </a:txBody>
                  <a:tcPr marL="91474" marR="91474" marT="45699" marB="45699" anchor="ctr"/>
                </a:tc>
                <a:tc>
                  <a:txBody>
                    <a:bodyPr/>
                    <a:lstStyle/>
                    <a:p>
                      <a:pPr algn="ctr"/>
                      <a:r>
                        <a:rPr lang="en-US" altLang="zh-CN" sz="1800" dirty="0" smtClean="0"/>
                        <a:t>10</a:t>
                      </a:r>
                      <a:endParaRPr lang="zh-CN" altLang="en-US" sz="1800" dirty="0"/>
                    </a:p>
                  </a:txBody>
                  <a:tcPr marL="91474" marR="91474" marT="45699" marB="45699" anchor="ctr"/>
                </a:tc>
                <a:tc>
                  <a:txBody>
                    <a:bodyPr/>
                    <a:lstStyle/>
                    <a:p>
                      <a:pPr algn="ctr"/>
                      <a:r>
                        <a:rPr lang="en-US" altLang="zh-CN" sz="1800" dirty="0" smtClean="0"/>
                        <a:t>7</a:t>
                      </a:r>
                      <a:endParaRPr lang="zh-CN" altLang="en-US" sz="1800" dirty="0"/>
                    </a:p>
                  </a:txBody>
                  <a:tcPr marL="91474" marR="91474" marT="45699" marB="45699" anchor="ctr"/>
                </a:tc>
                <a:tc>
                  <a:txBody>
                    <a:bodyPr/>
                    <a:lstStyle/>
                    <a:p>
                      <a:pPr algn="ctr"/>
                      <a:r>
                        <a:rPr lang="en-US" altLang="zh-CN" sz="1800" dirty="0" smtClean="0"/>
                        <a:t>12</a:t>
                      </a:r>
                      <a:endParaRPr lang="zh-CN" altLang="en-US" sz="1800" dirty="0"/>
                    </a:p>
                  </a:txBody>
                  <a:tcPr marL="91474" marR="91474" marT="45699" marB="45699" anchor="ctr"/>
                </a:tc>
                <a:tc>
                  <a:txBody>
                    <a:bodyPr/>
                    <a:lstStyle/>
                    <a:p>
                      <a:pPr algn="ctr"/>
                      <a:r>
                        <a:rPr lang="en-US" altLang="zh-CN" sz="1800" dirty="0" smtClean="0"/>
                        <a:t>8</a:t>
                      </a:r>
                      <a:endParaRPr lang="zh-CN" altLang="en-US" sz="1800" dirty="0"/>
                    </a:p>
                  </a:txBody>
                  <a:tcPr marL="91474" marR="91474" marT="45699" marB="45699" anchor="ctr"/>
                </a:tc>
              </a:tr>
            </a:tbl>
          </a:graphicData>
        </a:graphic>
      </p:graphicFrame>
      <p:sp>
        <p:nvSpPr>
          <p:cNvPr id="16" name="文本框 23"/>
          <p:cNvSpPr txBox="1">
            <a:spLocks noChangeArrowheads="1"/>
          </p:cNvSpPr>
          <p:nvPr/>
        </p:nvSpPr>
        <p:spPr bwMode="auto">
          <a:xfrm>
            <a:off x="6312540" y="3268957"/>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a:t>输入</a:t>
            </a:r>
          </a:p>
        </p:txBody>
      </p:sp>
      <p:sp>
        <p:nvSpPr>
          <p:cNvPr id="17" name="文本框 23"/>
          <p:cNvSpPr txBox="1">
            <a:spLocks noChangeArrowheads="1"/>
          </p:cNvSpPr>
          <p:nvPr/>
        </p:nvSpPr>
        <p:spPr bwMode="auto">
          <a:xfrm>
            <a:off x="6055365" y="3991269"/>
            <a:ext cx="13099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a:t>1×3</a:t>
            </a:r>
            <a:r>
              <a:rPr lang="zh-CN" altLang="en-US" b="1"/>
              <a:t>卷积核</a:t>
            </a:r>
          </a:p>
        </p:txBody>
      </p:sp>
      <p:graphicFrame>
        <p:nvGraphicFramePr>
          <p:cNvPr id="18" name="表格 17"/>
          <p:cNvGraphicFramePr>
            <a:graphicFrameLocks noGrp="1"/>
          </p:cNvGraphicFramePr>
          <p:nvPr>
            <p:extLst>
              <p:ext uri="{D42A27DB-BD31-4B8C-83A1-F6EECF244321}">
                <p14:modId xmlns:p14="http://schemas.microsoft.com/office/powerpoint/2010/main" val="1341051790"/>
              </p:ext>
            </p:extLst>
          </p:nvPr>
        </p:nvGraphicFramePr>
        <p:xfrm>
          <a:off x="9481190" y="3829344"/>
          <a:ext cx="1619250" cy="539750"/>
        </p:xfrm>
        <a:graphic>
          <a:graphicData uri="http://schemas.openxmlformats.org/drawingml/2006/table">
            <a:tbl>
              <a:tblPr firstRow="1" bandRow="1">
                <a:tableStyleId>{5940675A-B579-460E-94D1-54222C63F5DA}</a:tableStyleId>
              </a:tblPr>
              <a:tblGrid>
                <a:gridCol w="539750"/>
                <a:gridCol w="539750"/>
                <a:gridCol w="539750"/>
              </a:tblGrid>
              <a:tr h="539750">
                <a:tc>
                  <a:txBody>
                    <a:bodyPr/>
                    <a:lstStyle/>
                    <a:p>
                      <a:pPr algn="ctr"/>
                      <a:r>
                        <a:rPr lang="en-US" altLang="zh-CN" sz="1800" dirty="0" smtClean="0"/>
                        <a:t>10</a:t>
                      </a:r>
                      <a:endParaRPr lang="zh-CN" altLang="en-US" sz="1800" dirty="0"/>
                    </a:p>
                  </a:txBody>
                  <a:tcPr marL="91398" marR="91398" marT="45699" marB="45699" anchor="ctr"/>
                </a:tc>
                <a:tc>
                  <a:txBody>
                    <a:bodyPr/>
                    <a:lstStyle/>
                    <a:p>
                      <a:pPr algn="ctr"/>
                      <a:r>
                        <a:rPr lang="en-US" altLang="zh-CN" sz="1800" dirty="0" smtClean="0"/>
                        <a:t>5</a:t>
                      </a:r>
                      <a:endParaRPr lang="zh-CN" altLang="en-US" sz="1800" dirty="0"/>
                    </a:p>
                  </a:txBody>
                  <a:tcPr marL="91398" marR="91398" marT="45699" marB="45699" anchor="ctr"/>
                </a:tc>
                <a:tc>
                  <a:txBody>
                    <a:bodyPr/>
                    <a:lstStyle/>
                    <a:p>
                      <a:pPr algn="ctr"/>
                      <a:r>
                        <a:rPr lang="en-US" altLang="zh-CN" sz="1800" dirty="0" smtClean="0"/>
                        <a:t>11</a:t>
                      </a:r>
                      <a:endParaRPr lang="zh-CN" altLang="en-US" sz="1800" dirty="0"/>
                    </a:p>
                  </a:txBody>
                  <a:tcPr marL="91398" marR="91398" marT="45699" marB="45699" anchor="ctr"/>
                </a:tc>
              </a:tr>
            </a:tbl>
          </a:graphicData>
        </a:graphic>
      </p:graphicFrame>
      <p:sp>
        <p:nvSpPr>
          <p:cNvPr id="19" name="文本框 23"/>
          <p:cNvSpPr txBox="1">
            <a:spLocks noChangeArrowheads="1"/>
          </p:cNvSpPr>
          <p:nvPr/>
        </p:nvSpPr>
        <p:spPr bwMode="auto">
          <a:xfrm>
            <a:off x="6312540" y="5096169"/>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a:t>输出</a:t>
            </a:r>
          </a:p>
        </p:txBody>
      </p:sp>
      <p:cxnSp>
        <p:nvCxnSpPr>
          <p:cNvPr id="20" name="直接连接符 19"/>
          <p:cNvCxnSpPr/>
          <p:nvPr/>
        </p:nvCxnSpPr>
        <p:spPr>
          <a:xfrm>
            <a:off x="9439915" y="4437357"/>
            <a:ext cx="523875" cy="5635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10513065" y="4429419"/>
            <a:ext cx="611187" cy="5635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22" name="表格 21"/>
          <p:cNvGraphicFramePr>
            <a:graphicFrameLocks noGrp="1"/>
          </p:cNvGraphicFramePr>
          <p:nvPr>
            <p:extLst>
              <p:ext uri="{D42A27DB-BD31-4B8C-83A1-F6EECF244321}">
                <p14:modId xmlns:p14="http://schemas.microsoft.com/office/powerpoint/2010/main" val="1148758397"/>
              </p:ext>
            </p:extLst>
          </p:nvPr>
        </p:nvGraphicFramePr>
        <p:xfrm>
          <a:off x="7812727" y="5029494"/>
          <a:ext cx="2700340" cy="539750"/>
        </p:xfrm>
        <a:graphic>
          <a:graphicData uri="http://schemas.openxmlformats.org/drawingml/2006/table">
            <a:tbl>
              <a:tblPr firstRow="1" bandRow="1">
                <a:tableStyleId>{5940675A-B579-460E-94D1-54222C63F5DA}</a:tableStyleId>
              </a:tblPr>
              <a:tblGrid>
                <a:gridCol w="540068"/>
                <a:gridCol w="540068"/>
                <a:gridCol w="540068"/>
                <a:gridCol w="540068"/>
                <a:gridCol w="540068"/>
              </a:tblGrid>
              <a:tr h="539750">
                <a:tc>
                  <a:txBody>
                    <a:bodyPr/>
                    <a:lstStyle/>
                    <a:p>
                      <a:pPr algn="ctr"/>
                      <a:r>
                        <a:rPr lang="en-US" altLang="zh-CN" sz="1800" b="1" dirty="0" smtClean="0"/>
                        <a:t>A</a:t>
                      </a:r>
                      <a:endParaRPr lang="zh-CN" altLang="en-US" sz="1800" b="1" dirty="0"/>
                    </a:p>
                  </a:txBody>
                  <a:tcPr marL="91451" marR="91451" marT="45699" marB="45699" anchor="ctr"/>
                </a:tc>
                <a:tc>
                  <a:txBody>
                    <a:bodyPr/>
                    <a:lstStyle/>
                    <a:p>
                      <a:pPr algn="ctr"/>
                      <a:r>
                        <a:rPr lang="en-US" altLang="zh-CN" sz="1800" b="1" dirty="0" smtClean="0"/>
                        <a:t>B</a:t>
                      </a:r>
                      <a:endParaRPr lang="zh-CN" altLang="en-US" sz="1800" b="1" dirty="0"/>
                    </a:p>
                  </a:txBody>
                  <a:tcPr marL="91451" marR="91451" marT="45699" marB="45699" anchor="ctr"/>
                </a:tc>
                <a:tc>
                  <a:txBody>
                    <a:bodyPr/>
                    <a:lstStyle/>
                    <a:p>
                      <a:pPr algn="ctr"/>
                      <a:r>
                        <a:rPr lang="en-US" altLang="zh-CN" sz="1800" b="1" dirty="0" smtClean="0"/>
                        <a:t>C</a:t>
                      </a:r>
                      <a:endParaRPr lang="zh-CN" altLang="en-US" sz="1800" b="1" dirty="0"/>
                    </a:p>
                  </a:txBody>
                  <a:tcPr marL="91451" marR="91451" marT="45699" marB="45699" anchor="ctr"/>
                </a:tc>
                <a:tc>
                  <a:txBody>
                    <a:bodyPr/>
                    <a:lstStyle/>
                    <a:p>
                      <a:pPr algn="ctr"/>
                      <a:r>
                        <a:rPr lang="en-US" altLang="zh-CN" sz="1800" b="1" dirty="0" smtClean="0"/>
                        <a:t>D</a:t>
                      </a:r>
                      <a:endParaRPr lang="zh-CN" altLang="en-US" sz="1800" b="1" dirty="0"/>
                    </a:p>
                  </a:txBody>
                  <a:tcPr marL="91451" marR="91451" marT="45699" marB="45699" anchor="ctr"/>
                </a:tc>
                <a:tc>
                  <a:txBody>
                    <a:bodyPr/>
                    <a:lstStyle/>
                    <a:p>
                      <a:pPr algn="ctr"/>
                      <a:r>
                        <a:rPr lang="en-US" altLang="zh-CN" sz="1800" b="1" dirty="0" smtClean="0"/>
                        <a:t>E</a:t>
                      </a:r>
                      <a:endParaRPr lang="zh-CN" altLang="en-US" sz="1800" b="1" dirty="0"/>
                    </a:p>
                  </a:txBody>
                  <a:tcPr marL="91451" marR="91451" marT="45699" marB="45699" anchor="ctr"/>
                </a:tc>
              </a:tr>
            </a:tbl>
          </a:graphicData>
        </a:graphic>
      </p:graphicFrame>
      <p:sp>
        <p:nvSpPr>
          <p:cNvPr id="23" name="右箭头 22"/>
          <p:cNvSpPr/>
          <p:nvPr/>
        </p:nvSpPr>
        <p:spPr>
          <a:xfrm>
            <a:off x="9006527" y="4697707"/>
            <a:ext cx="541338" cy="44450"/>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4" name="矩形 23"/>
          <p:cNvSpPr/>
          <p:nvPr/>
        </p:nvSpPr>
        <p:spPr>
          <a:xfrm>
            <a:off x="9439915" y="3111794"/>
            <a:ext cx="1692275" cy="611188"/>
          </a:xfrm>
          <a:prstGeom prst="rect">
            <a:avLst/>
          </a:prstGeom>
          <a:solidFill>
            <a:schemeClr val="lt1">
              <a:alpha val="0"/>
            </a:schemeClr>
          </a:solidFill>
          <a:ln w="31750"/>
        </p:spPr>
        <p:style>
          <a:lnRef idx="2">
            <a:schemeClr val="dk1"/>
          </a:lnRef>
          <a:fillRef idx="1">
            <a:schemeClr val="lt1"/>
          </a:fillRef>
          <a:effectRef idx="0">
            <a:schemeClr val="dk1"/>
          </a:effectRef>
          <a:fontRef idx="minor">
            <a:schemeClr val="dk1"/>
          </a:fontRef>
        </p:style>
        <p:txBody>
          <a:bodyPr anchor="ctr"/>
          <a:lstStyle/>
          <a:p>
            <a:pPr algn="ctr">
              <a:defRPr/>
            </a:pPr>
            <a:endParaRPr lang="zh-CN" altLang="en-US"/>
          </a:p>
        </p:txBody>
      </p:sp>
      <p:sp>
        <p:nvSpPr>
          <p:cNvPr id="25" name="右箭头 24"/>
          <p:cNvSpPr/>
          <p:nvPr/>
        </p:nvSpPr>
        <p:spPr>
          <a:xfrm>
            <a:off x="9744715" y="3029244"/>
            <a:ext cx="541337" cy="44450"/>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27" name="直接连接符 26"/>
          <p:cNvCxnSpPr/>
          <p:nvPr/>
        </p:nvCxnSpPr>
        <p:spPr>
          <a:xfrm>
            <a:off x="6055365" y="2714920"/>
            <a:ext cx="0" cy="324282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7606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步长</a:t>
            </a:r>
          </a:p>
        </p:txBody>
      </p:sp>
      <p:sp>
        <p:nvSpPr>
          <p:cNvPr id="3" name="内容占位符 2"/>
          <p:cNvSpPr>
            <a:spLocks noGrp="1"/>
          </p:cNvSpPr>
          <p:nvPr>
            <p:ph sz="quarter" idx="13"/>
          </p:nvPr>
        </p:nvSpPr>
        <p:spPr/>
        <p:txBody>
          <a:bodyPr/>
          <a:lstStyle/>
          <a:p>
            <a:r>
              <a:rPr lang="zh-CN" altLang="en-US" dirty="0" smtClean="0"/>
              <a:t>现在我们定义步长为</a:t>
            </a:r>
            <a:r>
              <a:rPr lang="en-US" altLang="zh-CN" dirty="0" smtClean="0"/>
              <a:t>2</a:t>
            </a:r>
            <a:r>
              <a:rPr lang="zh-CN" altLang="en-US" dirty="0" smtClean="0"/>
              <a:t>。使用同样的输入向量和卷积核计算。</a:t>
            </a:r>
            <a:endParaRPr lang="en-US" altLang="zh-CN" dirty="0" smtClean="0"/>
          </a:p>
          <a:p>
            <a:r>
              <a:rPr lang="zh-CN" altLang="en-US" dirty="0" smtClean="0"/>
              <a:t>最终得到一个大小为</a:t>
            </a:r>
            <a:r>
              <a:rPr lang="en-US" altLang="zh-CN" dirty="0" smtClean="0"/>
              <a:t>(1,3</a:t>
            </a:r>
            <a:r>
              <a:rPr lang="en-US" altLang="zh-CN" dirty="0"/>
              <a:t>) </a:t>
            </a:r>
            <a:r>
              <a:rPr lang="zh-CN" altLang="en-US" dirty="0"/>
              <a:t>的</a:t>
            </a:r>
            <a:r>
              <a:rPr lang="zh-CN" altLang="en-US" dirty="0" smtClean="0"/>
              <a:t>向量</a:t>
            </a:r>
            <a:r>
              <a:rPr lang="zh-CN" altLang="en-US" dirty="0"/>
              <a:t>。</a:t>
            </a:r>
            <a:endParaRPr lang="en-US" altLang="zh-CN" dirty="0" smtClean="0"/>
          </a:p>
        </p:txBody>
      </p:sp>
      <p:graphicFrame>
        <p:nvGraphicFramePr>
          <p:cNvPr id="4" name="表格 3"/>
          <p:cNvGraphicFramePr>
            <a:graphicFrameLocks noGrp="1"/>
          </p:cNvGraphicFramePr>
          <p:nvPr>
            <p:extLst>
              <p:ext uri="{D42A27DB-BD31-4B8C-83A1-F6EECF244321}">
                <p14:modId xmlns:p14="http://schemas.microsoft.com/office/powerpoint/2010/main" val="2747789837"/>
              </p:ext>
            </p:extLst>
          </p:nvPr>
        </p:nvGraphicFramePr>
        <p:xfrm>
          <a:off x="7359901" y="3120124"/>
          <a:ext cx="3781428" cy="539750"/>
        </p:xfrm>
        <a:graphic>
          <a:graphicData uri="http://schemas.openxmlformats.org/drawingml/2006/table">
            <a:tbl>
              <a:tblPr firstRow="1" bandRow="1">
                <a:tableStyleId>{5940675A-B579-460E-94D1-54222C63F5DA}</a:tableStyleId>
              </a:tblPr>
              <a:tblGrid>
                <a:gridCol w="540204"/>
                <a:gridCol w="540204"/>
                <a:gridCol w="540204"/>
                <a:gridCol w="540204"/>
                <a:gridCol w="540204"/>
                <a:gridCol w="540204"/>
                <a:gridCol w="540204"/>
              </a:tblGrid>
              <a:tr h="539750">
                <a:tc>
                  <a:txBody>
                    <a:bodyPr/>
                    <a:lstStyle/>
                    <a:p>
                      <a:pPr algn="ctr"/>
                      <a:r>
                        <a:rPr lang="en-US" altLang="zh-CN" sz="1800" dirty="0" smtClean="0"/>
                        <a:t>5</a:t>
                      </a:r>
                      <a:endParaRPr lang="zh-CN" altLang="en-US" sz="1800" dirty="0"/>
                    </a:p>
                  </a:txBody>
                  <a:tcPr marL="91474" marR="91474" marT="45699" marB="45699" anchor="ctr"/>
                </a:tc>
                <a:tc>
                  <a:txBody>
                    <a:bodyPr/>
                    <a:lstStyle/>
                    <a:p>
                      <a:pPr algn="ctr"/>
                      <a:r>
                        <a:rPr lang="en-US" altLang="zh-CN" sz="1800" dirty="0" smtClean="0"/>
                        <a:t>2</a:t>
                      </a:r>
                      <a:endParaRPr lang="zh-CN" altLang="en-US" sz="1800" dirty="0"/>
                    </a:p>
                  </a:txBody>
                  <a:tcPr marL="91474" marR="91474" marT="45699" marB="45699" anchor="ctr"/>
                </a:tc>
                <a:tc>
                  <a:txBody>
                    <a:bodyPr/>
                    <a:lstStyle/>
                    <a:p>
                      <a:pPr algn="ctr"/>
                      <a:r>
                        <a:rPr lang="en-US" altLang="zh-CN" sz="1800" dirty="0" smtClean="0"/>
                        <a:t>6</a:t>
                      </a:r>
                      <a:endParaRPr lang="zh-CN" altLang="en-US" sz="1800" dirty="0"/>
                    </a:p>
                  </a:txBody>
                  <a:tcPr marL="91474" marR="91474" marT="45699" marB="45699" anchor="ctr"/>
                </a:tc>
                <a:tc>
                  <a:txBody>
                    <a:bodyPr/>
                    <a:lstStyle/>
                    <a:p>
                      <a:pPr algn="ctr"/>
                      <a:r>
                        <a:rPr lang="en-US" altLang="zh-CN" sz="1800" dirty="0" smtClean="0"/>
                        <a:t>10</a:t>
                      </a:r>
                      <a:endParaRPr lang="zh-CN" altLang="en-US" sz="1800" dirty="0"/>
                    </a:p>
                  </a:txBody>
                  <a:tcPr marL="91474" marR="91474" marT="45699" marB="45699" anchor="ctr"/>
                </a:tc>
                <a:tc>
                  <a:txBody>
                    <a:bodyPr/>
                    <a:lstStyle/>
                    <a:p>
                      <a:pPr algn="ctr"/>
                      <a:r>
                        <a:rPr lang="en-US" altLang="zh-CN" sz="1800" dirty="0" smtClean="0"/>
                        <a:t>7</a:t>
                      </a:r>
                      <a:endParaRPr lang="zh-CN" altLang="en-US" sz="1800" dirty="0"/>
                    </a:p>
                  </a:txBody>
                  <a:tcPr marL="91474" marR="91474" marT="45699" marB="45699" anchor="ctr"/>
                </a:tc>
                <a:tc>
                  <a:txBody>
                    <a:bodyPr/>
                    <a:lstStyle/>
                    <a:p>
                      <a:pPr algn="ctr"/>
                      <a:r>
                        <a:rPr lang="en-US" altLang="zh-CN" sz="1800" dirty="0" smtClean="0"/>
                        <a:t>12</a:t>
                      </a:r>
                      <a:endParaRPr lang="zh-CN" altLang="en-US" sz="1800" dirty="0"/>
                    </a:p>
                  </a:txBody>
                  <a:tcPr marL="91474" marR="91474" marT="45699" marB="45699" anchor="ctr"/>
                </a:tc>
                <a:tc>
                  <a:txBody>
                    <a:bodyPr/>
                    <a:lstStyle/>
                    <a:p>
                      <a:pPr algn="ctr"/>
                      <a:r>
                        <a:rPr lang="en-US" altLang="zh-CN" sz="1800" dirty="0" smtClean="0"/>
                        <a:t>8</a:t>
                      </a:r>
                      <a:endParaRPr lang="zh-CN" altLang="en-US" sz="1800" dirty="0"/>
                    </a:p>
                  </a:txBody>
                  <a:tcPr marL="91474" marR="91474" marT="45699" marB="45699" anchor="ctr"/>
                </a:tc>
              </a:tr>
            </a:tbl>
          </a:graphicData>
        </a:graphic>
      </p:graphicFrame>
      <p:sp>
        <p:nvSpPr>
          <p:cNvPr id="5" name="文本框 23"/>
          <p:cNvSpPr txBox="1">
            <a:spLocks noChangeArrowheads="1"/>
          </p:cNvSpPr>
          <p:nvPr/>
        </p:nvSpPr>
        <p:spPr bwMode="auto">
          <a:xfrm>
            <a:off x="6350251" y="3231249"/>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a:t>输入</a:t>
            </a:r>
          </a:p>
        </p:txBody>
      </p:sp>
      <p:sp>
        <p:nvSpPr>
          <p:cNvPr id="6" name="文本框 23"/>
          <p:cNvSpPr txBox="1">
            <a:spLocks noChangeArrowheads="1"/>
          </p:cNvSpPr>
          <p:nvPr/>
        </p:nvSpPr>
        <p:spPr bwMode="auto">
          <a:xfrm>
            <a:off x="6093076" y="3953561"/>
            <a:ext cx="13099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a:t>1×3</a:t>
            </a:r>
            <a:r>
              <a:rPr lang="zh-CN" altLang="en-US" b="1"/>
              <a:t>卷积核</a:t>
            </a:r>
          </a:p>
        </p:txBody>
      </p:sp>
      <p:graphicFrame>
        <p:nvGraphicFramePr>
          <p:cNvPr id="7" name="表格 6"/>
          <p:cNvGraphicFramePr>
            <a:graphicFrameLocks noGrp="1"/>
          </p:cNvGraphicFramePr>
          <p:nvPr>
            <p:extLst>
              <p:ext uri="{D42A27DB-BD31-4B8C-83A1-F6EECF244321}">
                <p14:modId xmlns:p14="http://schemas.microsoft.com/office/powerpoint/2010/main" val="2204525314"/>
              </p:ext>
            </p:extLst>
          </p:nvPr>
        </p:nvGraphicFramePr>
        <p:xfrm>
          <a:off x="8439401" y="3791636"/>
          <a:ext cx="1620837" cy="539750"/>
        </p:xfrm>
        <a:graphic>
          <a:graphicData uri="http://schemas.openxmlformats.org/drawingml/2006/table">
            <a:tbl>
              <a:tblPr firstRow="1" bandRow="1">
                <a:tableStyleId>{5940675A-B579-460E-94D1-54222C63F5DA}</a:tableStyleId>
              </a:tblPr>
              <a:tblGrid>
                <a:gridCol w="540279"/>
                <a:gridCol w="540279"/>
                <a:gridCol w="540279"/>
              </a:tblGrid>
              <a:tr h="539750">
                <a:tc>
                  <a:txBody>
                    <a:bodyPr/>
                    <a:lstStyle/>
                    <a:p>
                      <a:pPr algn="ctr"/>
                      <a:r>
                        <a:rPr lang="en-US" altLang="zh-CN" sz="1800" dirty="0" smtClean="0"/>
                        <a:t>10</a:t>
                      </a:r>
                      <a:endParaRPr lang="zh-CN" altLang="en-US" sz="1800" dirty="0"/>
                    </a:p>
                  </a:txBody>
                  <a:tcPr marL="91487" marR="91487" marT="45699" marB="45699" anchor="ctr"/>
                </a:tc>
                <a:tc>
                  <a:txBody>
                    <a:bodyPr/>
                    <a:lstStyle/>
                    <a:p>
                      <a:pPr algn="ctr"/>
                      <a:r>
                        <a:rPr lang="en-US" altLang="zh-CN" sz="1800" dirty="0" smtClean="0"/>
                        <a:t>5</a:t>
                      </a:r>
                      <a:endParaRPr lang="zh-CN" altLang="en-US" sz="1800" dirty="0"/>
                    </a:p>
                  </a:txBody>
                  <a:tcPr marL="91487" marR="91487" marT="45699" marB="45699" anchor="ctr"/>
                </a:tc>
                <a:tc>
                  <a:txBody>
                    <a:bodyPr/>
                    <a:lstStyle/>
                    <a:p>
                      <a:pPr algn="ctr"/>
                      <a:r>
                        <a:rPr lang="en-US" altLang="zh-CN" sz="1800" dirty="0" smtClean="0"/>
                        <a:t>11</a:t>
                      </a:r>
                      <a:endParaRPr lang="zh-CN" altLang="en-US" sz="1800" dirty="0"/>
                    </a:p>
                  </a:txBody>
                  <a:tcPr marL="91487" marR="91487" marT="45699" marB="45699" anchor="ctr"/>
                </a:tc>
              </a:tr>
            </a:tbl>
          </a:graphicData>
        </a:graphic>
      </p:graphicFrame>
      <p:sp>
        <p:nvSpPr>
          <p:cNvPr id="8" name="文本框 23"/>
          <p:cNvSpPr txBox="1">
            <a:spLocks noChangeArrowheads="1"/>
          </p:cNvSpPr>
          <p:nvPr/>
        </p:nvSpPr>
        <p:spPr bwMode="auto">
          <a:xfrm>
            <a:off x="6350251" y="5058461"/>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a:t>输出</a:t>
            </a:r>
          </a:p>
        </p:txBody>
      </p:sp>
      <p:cxnSp>
        <p:nvCxnSpPr>
          <p:cNvPr id="9" name="直接连接符 8"/>
          <p:cNvCxnSpPr/>
          <p:nvPr/>
        </p:nvCxnSpPr>
        <p:spPr>
          <a:xfrm>
            <a:off x="8399713" y="4399649"/>
            <a:ext cx="523875" cy="5635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a:off x="9472863" y="4391711"/>
            <a:ext cx="611188" cy="5635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表格 10"/>
          <p:cNvGraphicFramePr>
            <a:graphicFrameLocks noGrp="1"/>
          </p:cNvGraphicFramePr>
          <p:nvPr>
            <p:extLst>
              <p:ext uri="{D42A27DB-BD31-4B8C-83A1-F6EECF244321}">
                <p14:modId xmlns:p14="http://schemas.microsoft.com/office/powerpoint/2010/main" val="3617446397"/>
              </p:ext>
            </p:extLst>
          </p:nvPr>
        </p:nvGraphicFramePr>
        <p:xfrm>
          <a:off x="8391776" y="4991786"/>
          <a:ext cx="1620837" cy="539750"/>
        </p:xfrm>
        <a:graphic>
          <a:graphicData uri="http://schemas.openxmlformats.org/drawingml/2006/table">
            <a:tbl>
              <a:tblPr firstRow="1" bandRow="1">
                <a:tableStyleId>{5940675A-B579-460E-94D1-54222C63F5DA}</a:tableStyleId>
              </a:tblPr>
              <a:tblGrid>
                <a:gridCol w="540279"/>
                <a:gridCol w="540279"/>
                <a:gridCol w="540279"/>
              </a:tblGrid>
              <a:tr h="539750">
                <a:tc>
                  <a:txBody>
                    <a:bodyPr/>
                    <a:lstStyle/>
                    <a:p>
                      <a:pPr algn="ctr"/>
                      <a:r>
                        <a:rPr lang="en-US" altLang="zh-CN" sz="1800" b="1" dirty="0" smtClean="0"/>
                        <a:t>A</a:t>
                      </a:r>
                      <a:endParaRPr lang="zh-CN" altLang="en-US" sz="1800" b="1" dirty="0"/>
                    </a:p>
                  </a:txBody>
                  <a:tcPr marL="91487" marR="91487" marT="45699" marB="45699" anchor="ctr"/>
                </a:tc>
                <a:tc>
                  <a:txBody>
                    <a:bodyPr/>
                    <a:lstStyle/>
                    <a:p>
                      <a:pPr algn="ctr"/>
                      <a:r>
                        <a:rPr lang="en-US" altLang="zh-CN" sz="1800" b="1" dirty="0" smtClean="0"/>
                        <a:t>B</a:t>
                      </a:r>
                      <a:endParaRPr lang="zh-CN" altLang="en-US" sz="1800" b="1" dirty="0"/>
                    </a:p>
                  </a:txBody>
                  <a:tcPr marL="91487" marR="91487" marT="45699" marB="45699" anchor="ctr">
                    <a:lnR w="12700" cap="flat" cmpd="sng" algn="ctr">
                      <a:solidFill>
                        <a:schemeClr val="tx1"/>
                      </a:solidFill>
                      <a:prstDash val="solid"/>
                      <a:round/>
                      <a:headEnd type="none" w="med" len="med"/>
                      <a:tailEnd type="none" w="med" len="med"/>
                    </a:lnR>
                  </a:tcPr>
                </a:tc>
                <a:tc>
                  <a:txBody>
                    <a:bodyPr/>
                    <a:lstStyle/>
                    <a:p>
                      <a:pPr algn="ctr"/>
                      <a:r>
                        <a:rPr lang="en-US" altLang="zh-CN" sz="1800" b="1" dirty="0" smtClean="0"/>
                        <a:t>C</a:t>
                      </a:r>
                      <a:endParaRPr lang="zh-CN" altLang="en-US" sz="1800" b="1" dirty="0"/>
                    </a:p>
                  </a:txBody>
                  <a:tcPr marL="91487" marR="91487" marT="45699" marB="45699" anchor="ct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r>
            </a:tbl>
          </a:graphicData>
        </a:graphic>
      </p:graphicFrame>
      <p:sp>
        <p:nvSpPr>
          <p:cNvPr id="12" name="矩形 11"/>
          <p:cNvSpPr/>
          <p:nvPr/>
        </p:nvSpPr>
        <p:spPr>
          <a:xfrm>
            <a:off x="8399713" y="3082024"/>
            <a:ext cx="1692275" cy="612775"/>
          </a:xfrm>
          <a:prstGeom prst="rect">
            <a:avLst/>
          </a:prstGeom>
          <a:solidFill>
            <a:schemeClr val="lt1">
              <a:alpha val="0"/>
            </a:schemeClr>
          </a:solidFill>
          <a:ln w="31750"/>
        </p:spPr>
        <p:style>
          <a:lnRef idx="2">
            <a:schemeClr val="dk1"/>
          </a:lnRef>
          <a:fillRef idx="1">
            <a:schemeClr val="lt1"/>
          </a:fillRef>
          <a:effectRef idx="0">
            <a:schemeClr val="dk1"/>
          </a:effectRef>
          <a:fontRef idx="minor">
            <a:schemeClr val="dk1"/>
          </a:fontRef>
        </p:style>
        <p:txBody>
          <a:bodyPr anchor="ctr"/>
          <a:lstStyle/>
          <a:p>
            <a:pPr algn="ctr">
              <a:defRPr/>
            </a:pPr>
            <a:endParaRPr lang="zh-CN" altLang="en-US"/>
          </a:p>
        </p:txBody>
      </p:sp>
      <p:sp>
        <p:nvSpPr>
          <p:cNvPr id="13" name="右箭头 12"/>
          <p:cNvSpPr/>
          <p:nvPr/>
        </p:nvSpPr>
        <p:spPr>
          <a:xfrm flipV="1">
            <a:off x="8123488" y="3013761"/>
            <a:ext cx="1122363" cy="46038"/>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aphicFrame>
        <p:nvGraphicFramePr>
          <p:cNvPr id="14" name="表格 13"/>
          <p:cNvGraphicFramePr>
            <a:graphicFrameLocks noGrp="1"/>
          </p:cNvGraphicFramePr>
          <p:nvPr>
            <p:extLst>
              <p:ext uri="{D42A27DB-BD31-4B8C-83A1-F6EECF244321}">
                <p14:modId xmlns:p14="http://schemas.microsoft.com/office/powerpoint/2010/main" val="1427021662"/>
              </p:ext>
            </p:extLst>
          </p:nvPr>
        </p:nvGraphicFramePr>
        <p:xfrm>
          <a:off x="2162426" y="3083611"/>
          <a:ext cx="3779839" cy="539750"/>
        </p:xfrm>
        <a:graphic>
          <a:graphicData uri="http://schemas.openxmlformats.org/drawingml/2006/table">
            <a:tbl>
              <a:tblPr firstRow="1" bandRow="1">
                <a:tableStyleId>{5940675A-B579-460E-94D1-54222C63F5DA}</a:tableStyleId>
              </a:tblPr>
              <a:tblGrid>
                <a:gridCol w="539977"/>
                <a:gridCol w="539977"/>
                <a:gridCol w="539977"/>
                <a:gridCol w="539977"/>
                <a:gridCol w="539977"/>
                <a:gridCol w="539977"/>
                <a:gridCol w="539977"/>
              </a:tblGrid>
              <a:tr h="539750">
                <a:tc>
                  <a:txBody>
                    <a:bodyPr/>
                    <a:lstStyle/>
                    <a:p>
                      <a:pPr algn="ctr"/>
                      <a:r>
                        <a:rPr lang="en-US" altLang="zh-CN" sz="1800" dirty="0" smtClean="0"/>
                        <a:t>5</a:t>
                      </a:r>
                      <a:endParaRPr lang="zh-CN" altLang="en-US" sz="1800" dirty="0"/>
                    </a:p>
                  </a:txBody>
                  <a:tcPr marL="91436" marR="91436" marT="45699" marB="45699" anchor="ctr"/>
                </a:tc>
                <a:tc>
                  <a:txBody>
                    <a:bodyPr/>
                    <a:lstStyle/>
                    <a:p>
                      <a:pPr algn="ctr"/>
                      <a:r>
                        <a:rPr lang="en-US" altLang="zh-CN" sz="1800" dirty="0" smtClean="0"/>
                        <a:t>2</a:t>
                      </a:r>
                      <a:endParaRPr lang="zh-CN" altLang="en-US" sz="1800" dirty="0"/>
                    </a:p>
                  </a:txBody>
                  <a:tcPr marL="91436" marR="91436" marT="45699" marB="45699" anchor="ctr"/>
                </a:tc>
                <a:tc>
                  <a:txBody>
                    <a:bodyPr/>
                    <a:lstStyle/>
                    <a:p>
                      <a:pPr algn="ctr"/>
                      <a:r>
                        <a:rPr lang="en-US" altLang="zh-CN" sz="1800" dirty="0" smtClean="0"/>
                        <a:t>6</a:t>
                      </a:r>
                      <a:endParaRPr lang="zh-CN" altLang="en-US" sz="1800" dirty="0"/>
                    </a:p>
                  </a:txBody>
                  <a:tcPr marL="91436" marR="91436" marT="45699" marB="45699" anchor="ctr"/>
                </a:tc>
                <a:tc>
                  <a:txBody>
                    <a:bodyPr/>
                    <a:lstStyle/>
                    <a:p>
                      <a:pPr algn="ctr"/>
                      <a:r>
                        <a:rPr lang="en-US" altLang="zh-CN" sz="1800" dirty="0" smtClean="0"/>
                        <a:t>10</a:t>
                      </a:r>
                      <a:endParaRPr lang="zh-CN" altLang="en-US" sz="1800" dirty="0"/>
                    </a:p>
                  </a:txBody>
                  <a:tcPr marL="91436" marR="91436" marT="45699" marB="45699" anchor="ctr"/>
                </a:tc>
                <a:tc>
                  <a:txBody>
                    <a:bodyPr/>
                    <a:lstStyle/>
                    <a:p>
                      <a:pPr algn="ctr"/>
                      <a:r>
                        <a:rPr lang="en-US" altLang="zh-CN" sz="1800" dirty="0" smtClean="0"/>
                        <a:t>7</a:t>
                      </a:r>
                      <a:endParaRPr lang="zh-CN" altLang="en-US" sz="1800" dirty="0"/>
                    </a:p>
                  </a:txBody>
                  <a:tcPr marL="91436" marR="91436" marT="45699" marB="45699" anchor="ctr"/>
                </a:tc>
                <a:tc>
                  <a:txBody>
                    <a:bodyPr/>
                    <a:lstStyle/>
                    <a:p>
                      <a:pPr algn="ctr"/>
                      <a:r>
                        <a:rPr lang="en-US" altLang="zh-CN" sz="1800" dirty="0" smtClean="0"/>
                        <a:t>12</a:t>
                      </a:r>
                      <a:endParaRPr lang="zh-CN" altLang="en-US" sz="1800" dirty="0"/>
                    </a:p>
                  </a:txBody>
                  <a:tcPr marL="91436" marR="91436" marT="45699" marB="45699" anchor="ctr"/>
                </a:tc>
                <a:tc>
                  <a:txBody>
                    <a:bodyPr/>
                    <a:lstStyle/>
                    <a:p>
                      <a:pPr algn="ctr"/>
                      <a:r>
                        <a:rPr lang="en-US" altLang="zh-CN" sz="1800" dirty="0" smtClean="0"/>
                        <a:t>8</a:t>
                      </a:r>
                      <a:endParaRPr lang="zh-CN" altLang="en-US" sz="1800" dirty="0"/>
                    </a:p>
                  </a:txBody>
                  <a:tcPr marL="91436" marR="91436" marT="45699" marB="45699" anchor="ctr"/>
                </a:tc>
              </a:tr>
            </a:tbl>
          </a:graphicData>
        </a:graphic>
      </p:graphicFrame>
      <p:sp>
        <p:nvSpPr>
          <p:cNvPr id="15" name="文本框 23"/>
          <p:cNvSpPr txBox="1">
            <a:spLocks noChangeArrowheads="1"/>
          </p:cNvSpPr>
          <p:nvPr/>
        </p:nvSpPr>
        <p:spPr bwMode="auto">
          <a:xfrm>
            <a:off x="1151188" y="3194736"/>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a:t>输入</a:t>
            </a:r>
          </a:p>
        </p:txBody>
      </p:sp>
      <p:sp>
        <p:nvSpPr>
          <p:cNvPr id="16" name="文本框 23"/>
          <p:cNvSpPr txBox="1">
            <a:spLocks noChangeArrowheads="1"/>
          </p:cNvSpPr>
          <p:nvPr/>
        </p:nvSpPr>
        <p:spPr bwMode="auto">
          <a:xfrm>
            <a:off x="894013" y="3917049"/>
            <a:ext cx="13099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a:t>1×3</a:t>
            </a:r>
            <a:r>
              <a:rPr lang="zh-CN" altLang="en-US" b="1"/>
              <a:t>卷积核</a:t>
            </a:r>
          </a:p>
        </p:txBody>
      </p:sp>
      <p:graphicFrame>
        <p:nvGraphicFramePr>
          <p:cNvPr id="17" name="表格 16"/>
          <p:cNvGraphicFramePr>
            <a:graphicFrameLocks noGrp="1"/>
          </p:cNvGraphicFramePr>
          <p:nvPr>
            <p:extLst>
              <p:ext uri="{D42A27DB-BD31-4B8C-83A1-F6EECF244321}">
                <p14:modId xmlns:p14="http://schemas.microsoft.com/office/powerpoint/2010/main" val="323265365"/>
              </p:ext>
            </p:extLst>
          </p:nvPr>
        </p:nvGraphicFramePr>
        <p:xfrm>
          <a:off x="2167188" y="3801161"/>
          <a:ext cx="1620837" cy="539750"/>
        </p:xfrm>
        <a:graphic>
          <a:graphicData uri="http://schemas.openxmlformats.org/drawingml/2006/table">
            <a:tbl>
              <a:tblPr firstRow="1" bandRow="1">
                <a:tableStyleId>{5940675A-B579-460E-94D1-54222C63F5DA}</a:tableStyleId>
              </a:tblPr>
              <a:tblGrid>
                <a:gridCol w="540279"/>
                <a:gridCol w="540279"/>
                <a:gridCol w="540279"/>
              </a:tblGrid>
              <a:tr h="539750">
                <a:tc>
                  <a:txBody>
                    <a:bodyPr/>
                    <a:lstStyle/>
                    <a:p>
                      <a:pPr algn="ctr"/>
                      <a:r>
                        <a:rPr lang="en-US" altLang="zh-CN" sz="1800" dirty="0" smtClean="0"/>
                        <a:t>10</a:t>
                      </a:r>
                      <a:endParaRPr lang="zh-CN" altLang="en-US" sz="1800" dirty="0"/>
                    </a:p>
                  </a:txBody>
                  <a:tcPr marL="91487" marR="91487" marT="45699" marB="45699" anchor="ctr"/>
                </a:tc>
                <a:tc>
                  <a:txBody>
                    <a:bodyPr/>
                    <a:lstStyle/>
                    <a:p>
                      <a:pPr algn="ctr"/>
                      <a:r>
                        <a:rPr lang="en-US" altLang="zh-CN" sz="1800" dirty="0" smtClean="0"/>
                        <a:t>5</a:t>
                      </a:r>
                      <a:endParaRPr lang="zh-CN" altLang="en-US" sz="1800" dirty="0"/>
                    </a:p>
                  </a:txBody>
                  <a:tcPr marL="91487" marR="91487" marT="45699" marB="45699" anchor="ctr"/>
                </a:tc>
                <a:tc>
                  <a:txBody>
                    <a:bodyPr/>
                    <a:lstStyle/>
                    <a:p>
                      <a:pPr algn="ctr"/>
                      <a:r>
                        <a:rPr lang="en-US" altLang="zh-CN" sz="1800" dirty="0" smtClean="0"/>
                        <a:t>11</a:t>
                      </a:r>
                      <a:endParaRPr lang="zh-CN" altLang="en-US" sz="1800" dirty="0"/>
                    </a:p>
                  </a:txBody>
                  <a:tcPr marL="91487" marR="91487" marT="45699" marB="45699" anchor="ctr"/>
                </a:tc>
              </a:tr>
            </a:tbl>
          </a:graphicData>
        </a:graphic>
      </p:graphicFrame>
      <p:sp>
        <p:nvSpPr>
          <p:cNvPr id="18" name="文本框 23"/>
          <p:cNvSpPr txBox="1">
            <a:spLocks noChangeArrowheads="1"/>
          </p:cNvSpPr>
          <p:nvPr/>
        </p:nvSpPr>
        <p:spPr bwMode="auto">
          <a:xfrm>
            <a:off x="1151188" y="5021949"/>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a:t>输出</a:t>
            </a:r>
          </a:p>
        </p:txBody>
      </p:sp>
      <p:graphicFrame>
        <p:nvGraphicFramePr>
          <p:cNvPr id="19" name="表格 18"/>
          <p:cNvGraphicFramePr>
            <a:graphicFrameLocks noGrp="1"/>
          </p:cNvGraphicFramePr>
          <p:nvPr>
            <p:extLst>
              <p:ext uri="{D42A27DB-BD31-4B8C-83A1-F6EECF244321}">
                <p14:modId xmlns:p14="http://schemas.microsoft.com/office/powerpoint/2010/main" val="2360264977"/>
              </p:ext>
            </p:extLst>
          </p:nvPr>
        </p:nvGraphicFramePr>
        <p:xfrm>
          <a:off x="2651376" y="4998136"/>
          <a:ext cx="539750" cy="541338"/>
        </p:xfrm>
        <a:graphic>
          <a:graphicData uri="http://schemas.openxmlformats.org/drawingml/2006/table">
            <a:tbl>
              <a:tblPr firstRow="1" bandRow="1">
                <a:tableStyleId>{5940675A-B579-460E-94D1-54222C63F5DA}</a:tableStyleId>
              </a:tblPr>
              <a:tblGrid>
                <a:gridCol w="539750"/>
              </a:tblGrid>
              <a:tr h="541338">
                <a:tc>
                  <a:txBody>
                    <a:bodyPr/>
                    <a:lstStyle/>
                    <a:p>
                      <a:pPr algn="ctr"/>
                      <a:r>
                        <a:rPr lang="en-US" altLang="zh-CN" sz="1800" b="1" dirty="0" smtClean="0"/>
                        <a:t>A</a:t>
                      </a:r>
                      <a:endParaRPr lang="zh-CN" altLang="en-US" sz="1800" b="1" dirty="0"/>
                    </a:p>
                  </a:txBody>
                  <a:tcPr marL="91398" marR="91398" marT="45833" marB="45833" anchor="ctr"/>
                </a:tc>
              </a:tr>
            </a:tbl>
          </a:graphicData>
        </a:graphic>
      </p:graphicFrame>
      <p:sp>
        <p:nvSpPr>
          <p:cNvPr id="20" name="矩形 19"/>
          <p:cNvSpPr/>
          <p:nvPr/>
        </p:nvSpPr>
        <p:spPr>
          <a:xfrm>
            <a:off x="2113213" y="3043924"/>
            <a:ext cx="1692275" cy="611187"/>
          </a:xfrm>
          <a:prstGeom prst="rect">
            <a:avLst/>
          </a:prstGeom>
          <a:solidFill>
            <a:schemeClr val="lt1">
              <a:alpha val="0"/>
            </a:schemeClr>
          </a:solidFill>
          <a:ln w="31750"/>
        </p:spPr>
        <p:style>
          <a:lnRef idx="2">
            <a:schemeClr val="dk1"/>
          </a:lnRef>
          <a:fillRef idx="1">
            <a:schemeClr val="lt1"/>
          </a:fillRef>
          <a:effectRef idx="0">
            <a:schemeClr val="dk1"/>
          </a:effectRef>
          <a:fontRef idx="minor">
            <a:schemeClr val="dk1"/>
          </a:fontRef>
        </p:style>
        <p:txBody>
          <a:bodyPr anchor="ctr"/>
          <a:lstStyle/>
          <a:p>
            <a:pPr algn="ctr">
              <a:defRPr/>
            </a:pPr>
            <a:endParaRPr lang="zh-CN" altLang="en-US"/>
          </a:p>
        </p:txBody>
      </p:sp>
      <p:cxnSp>
        <p:nvCxnSpPr>
          <p:cNvPr id="21" name="直接连接符 20"/>
          <p:cNvCxnSpPr/>
          <p:nvPr/>
        </p:nvCxnSpPr>
        <p:spPr>
          <a:xfrm>
            <a:off x="2178301" y="4363136"/>
            <a:ext cx="522287" cy="5635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3173663" y="4363136"/>
            <a:ext cx="611188" cy="5635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右箭头 22"/>
          <p:cNvSpPr/>
          <p:nvPr/>
        </p:nvSpPr>
        <p:spPr>
          <a:xfrm flipV="1">
            <a:off x="8075863" y="4658411"/>
            <a:ext cx="1122363" cy="46038"/>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4" name="矩形 23"/>
          <p:cNvSpPr/>
          <p:nvPr/>
        </p:nvSpPr>
        <p:spPr>
          <a:xfrm>
            <a:off x="9474451" y="3082024"/>
            <a:ext cx="1692275" cy="612775"/>
          </a:xfrm>
          <a:prstGeom prst="rect">
            <a:avLst/>
          </a:prstGeom>
          <a:solidFill>
            <a:schemeClr val="lt1">
              <a:alpha val="0"/>
            </a:schemeClr>
          </a:solidFill>
          <a:ln w="31750">
            <a:solidFill>
              <a:schemeClr val="tx1"/>
            </a:solidFill>
            <a:prstDash val="sysDot"/>
          </a:ln>
        </p:spPr>
        <p:style>
          <a:lnRef idx="2">
            <a:schemeClr val="dk1"/>
          </a:lnRef>
          <a:fillRef idx="1">
            <a:schemeClr val="lt1"/>
          </a:fillRef>
          <a:effectRef idx="0">
            <a:schemeClr val="dk1"/>
          </a:effectRef>
          <a:fontRef idx="minor">
            <a:schemeClr val="dk1"/>
          </a:fontRef>
        </p:style>
        <p:txBody>
          <a:bodyPr anchor="ctr"/>
          <a:lstStyle/>
          <a:p>
            <a:pPr algn="ctr">
              <a:defRPr/>
            </a:pPr>
            <a:endParaRPr lang="zh-CN" altLang="en-US"/>
          </a:p>
        </p:txBody>
      </p:sp>
    </p:spTree>
    <p:extLst>
      <p:ext uri="{BB962C8B-B14F-4D97-AF65-F5344CB8AC3E}">
        <p14:creationId xmlns:p14="http://schemas.microsoft.com/office/powerpoint/2010/main" val="38059044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填充</a:t>
            </a:r>
            <a:endParaRPr lang="zh-CN" altLang="en-US" dirty="0"/>
          </a:p>
        </p:txBody>
      </p:sp>
      <p:sp>
        <p:nvSpPr>
          <p:cNvPr id="3" name="内容占位符 2"/>
          <p:cNvSpPr>
            <a:spLocks noGrp="1"/>
          </p:cNvSpPr>
          <p:nvPr>
            <p:ph sz="quarter" idx="13"/>
          </p:nvPr>
        </p:nvSpPr>
        <p:spPr/>
        <p:txBody>
          <a:bodyPr/>
          <a:lstStyle/>
          <a:p>
            <a:r>
              <a:rPr lang="zh-CN" altLang="en-US" dirty="0" smtClean="0"/>
              <a:t>填充（</a:t>
            </a:r>
            <a:r>
              <a:rPr lang="en-US" altLang="zh-CN" dirty="0" smtClean="0"/>
              <a:t>padding</a:t>
            </a:r>
            <a:r>
              <a:rPr lang="zh-CN" altLang="en-US" dirty="0" smtClean="0"/>
              <a:t>）是卷积计算中另一个重要的概念：</a:t>
            </a:r>
            <a:endParaRPr lang="en-US" altLang="zh-CN" dirty="0"/>
          </a:p>
          <a:p>
            <a:pPr lvl="1"/>
            <a:r>
              <a:rPr lang="zh-CN" altLang="en-US" dirty="0" smtClean="0"/>
              <a:t>表示向输入特征图的周围填入固定的数据（比如</a:t>
            </a:r>
            <a:r>
              <a:rPr lang="en-US" altLang="zh-CN" dirty="0" smtClean="0"/>
              <a:t>0</a:t>
            </a:r>
            <a:r>
              <a:rPr lang="zh-CN" altLang="en-US" dirty="0" smtClean="0"/>
              <a:t>）</a:t>
            </a:r>
            <a:endParaRPr lang="en-US" altLang="zh-CN" dirty="0" smtClean="0"/>
          </a:p>
          <a:p>
            <a:r>
              <a:rPr lang="zh-CN" altLang="en-US" dirty="0" smtClean="0"/>
              <a:t>使用填充可以调整输出特征图的大小。</a:t>
            </a:r>
            <a:endParaRPr lang="en-US" altLang="zh-CN" dirty="0" smtClean="0"/>
          </a:p>
          <a:p>
            <a:r>
              <a:rPr lang="zh-CN" altLang="en-US" dirty="0" smtClean="0"/>
              <a:t>不使用填充，反复卷积计算后会导致特征图尺寸</a:t>
            </a:r>
            <a:r>
              <a:rPr lang="zh-CN" altLang="en-US" dirty="0"/>
              <a:t>越来越小</a:t>
            </a:r>
            <a:r>
              <a:rPr lang="zh-CN" altLang="en-US" dirty="0" smtClean="0"/>
              <a:t>。</a:t>
            </a:r>
            <a:endParaRPr lang="en-US" altLang="zh-CN" dirty="0" smtClean="0"/>
          </a:p>
          <a:p>
            <a:r>
              <a:rPr lang="zh-CN" altLang="en-US" dirty="0" smtClean="0"/>
              <a:t>通常填充的值为</a:t>
            </a:r>
            <a:r>
              <a:rPr lang="en-US" altLang="zh-CN" dirty="0" smtClean="0"/>
              <a:t>0</a:t>
            </a:r>
            <a:r>
              <a:rPr lang="zh-CN" altLang="en-US" dirty="0" smtClean="0"/>
              <a:t>：</a:t>
            </a:r>
            <a:endParaRPr lang="en-US" altLang="zh-CN" dirty="0"/>
          </a:p>
          <a:p>
            <a:pPr lvl="1"/>
            <a:r>
              <a:rPr lang="en-US" altLang="zh-CN" dirty="0" smtClean="0"/>
              <a:t>0</a:t>
            </a:r>
            <a:r>
              <a:rPr lang="zh-CN" altLang="en-US" dirty="0" smtClean="0"/>
              <a:t>在</a:t>
            </a:r>
            <a:r>
              <a:rPr lang="zh-CN" altLang="en-US" dirty="0"/>
              <a:t>权重乘积和运算中对最终结果不造成</a:t>
            </a:r>
            <a:r>
              <a:rPr lang="zh-CN" altLang="en-US" dirty="0" smtClean="0"/>
              <a:t>影响</a:t>
            </a:r>
            <a:endParaRPr lang="en-US" altLang="zh-CN" dirty="0" smtClean="0"/>
          </a:p>
          <a:p>
            <a:pPr lvl="1"/>
            <a:r>
              <a:rPr lang="zh-CN" altLang="en-US" dirty="0"/>
              <a:t>避免了图片增加额外的干扰信息</a:t>
            </a:r>
            <a:endParaRPr lang="en-US" altLang="zh-CN" dirty="0" smtClean="0"/>
          </a:p>
        </p:txBody>
      </p:sp>
      <p:graphicFrame>
        <p:nvGraphicFramePr>
          <p:cNvPr id="4" name="表格 3"/>
          <p:cNvGraphicFramePr>
            <a:graphicFrameLocks noGrp="1"/>
          </p:cNvGraphicFramePr>
          <p:nvPr>
            <p:extLst>
              <p:ext uri="{D42A27DB-BD31-4B8C-83A1-F6EECF244321}">
                <p14:modId xmlns:p14="http://schemas.microsoft.com/office/powerpoint/2010/main" val="5353111"/>
              </p:ext>
            </p:extLst>
          </p:nvPr>
        </p:nvGraphicFramePr>
        <p:xfrm>
          <a:off x="5696521" y="2888218"/>
          <a:ext cx="2879724" cy="2879724"/>
        </p:xfrm>
        <a:graphic>
          <a:graphicData uri="http://schemas.openxmlformats.org/drawingml/2006/table">
            <a:tbl>
              <a:tblPr firstRow="1" bandRow="1">
                <a:tableStyleId>{5940675A-B579-460E-94D1-54222C63F5DA}</a:tableStyleId>
              </a:tblPr>
              <a:tblGrid>
                <a:gridCol w="719931"/>
                <a:gridCol w="719931"/>
                <a:gridCol w="719931"/>
                <a:gridCol w="719931"/>
              </a:tblGrid>
              <a:tr h="719931">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3</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2</a:t>
                      </a:r>
                      <a:endParaRPr lang="zh-CN" altLang="en-US" sz="1800" b="1" dirty="0"/>
                    </a:p>
                  </a:txBody>
                  <a:tcPr marL="91431" marR="91431" marT="45716" marB="45716" anchor="ctr"/>
                </a:tc>
              </a:tr>
              <a:tr h="719931">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0</a:t>
                      </a:r>
                      <a:endParaRPr lang="zh-CN" altLang="en-US" sz="1800" b="1" dirty="0"/>
                    </a:p>
                  </a:txBody>
                  <a:tcPr marL="91431" marR="91431" marT="45716" marB="45716" anchor="ctr"/>
                </a:tc>
                <a:tc>
                  <a:txBody>
                    <a:bodyPr/>
                    <a:lstStyle/>
                    <a:p>
                      <a:pPr algn="ctr"/>
                      <a:r>
                        <a:rPr lang="en-US" altLang="zh-CN" sz="1800" b="1" dirty="0" smtClean="0"/>
                        <a:t>0</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r>
              <a:tr h="719931">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3</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0</a:t>
                      </a:r>
                      <a:endParaRPr lang="zh-CN" altLang="en-US" sz="1800" b="1" dirty="0"/>
                    </a:p>
                  </a:txBody>
                  <a:tcPr marL="91431" marR="91431" marT="45716" marB="45716" anchor="ctr"/>
                </a:tc>
              </a:tr>
              <a:tr h="719931">
                <a:tc>
                  <a:txBody>
                    <a:bodyPr/>
                    <a:lstStyle/>
                    <a:p>
                      <a:pPr algn="ctr"/>
                      <a:r>
                        <a:rPr lang="en-US" altLang="zh-CN" sz="1800" b="1" dirty="0" smtClean="0"/>
                        <a:t>1</a:t>
                      </a:r>
                      <a:endParaRPr lang="zh-CN" altLang="en-US" sz="1800" b="1" dirty="0"/>
                    </a:p>
                  </a:txBody>
                  <a:tcPr marL="91431" marR="91431" marT="45716" marB="45716" anchor="ctr"/>
                </a:tc>
                <a:tc>
                  <a:txBody>
                    <a:bodyPr/>
                    <a:lstStyle/>
                    <a:p>
                      <a:pPr algn="ctr"/>
                      <a:r>
                        <a:rPr lang="en-US" altLang="zh-CN" sz="1800" b="1" dirty="0" smtClean="0"/>
                        <a:t>5</a:t>
                      </a:r>
                      <a:endParaRPr lang="zh-CN" altLang="en-US" sz="1800" b="1" dirty="0"/>
                    </a:p>
                  </a:txBody>
                  <a:tcPr marL="91431" marR="91431" marT="45716" marB="45716" anchor="ctr"/>
                </a:tc>
                <a:tc>
                  <a:txBody>
                    <a:bodyPr/>
                    <a:lstStyle/>
                    <a:p>
                      <a:pPr algn="ctr"/>
                      <a:r>
                        <a:rPr lang="en-US" altLang="zh-CN" sz="1800" b="1" dirty="0" smtClean="0"/>
                        <a:t>2</a:t>
                      </a:r>
                      <a:endParaRPr lang="zh-CN" altLang="en-US" sz="1800" b="1" dirty="0"/>
                    </a:p>
                  </a:txBody>
                  <a:tcPr marL="91431" marR="91431" marT="45716" marB="45716" anchor="ctr"/>
                </a:tc>
                <a:tc>
                  <a:txBody>
                    <a:bodyPr/>
                    <a:lstStyle/>
                    <a:p>
                      <a:pPr algn="ctr"/>
                      <a:r>
                        <a:rPr lang="en-US" altLang="zh-CN" sz="1800" b="1" dirty="0" smtClean="0"/>
                        <a:t>1</a:t>
                      </a:r>
                      <a:endParaRPr lang="zh-CN" altLang="en-US" sz="1800" b="1" dirty="0"/>
                    </a:p>
                  </a:txBody>
                  <a:tcPr marL="91431" marR="91431" marT="45716" marB="45716" anchor="ctr"/>
                </a:tc>
              </a:tr>
            </a:tbl>
          </a:graphicData>
        </a:graphic>
      </p:graphicFrame>
      <p:sp>
        <p:nvSpPr>
          <p:cNvPr id="5" name="文本框 23"/>
          <p:cNvSpPr txBox="1">
            <a:spLocks noChangeArrowheads="1"/>
          </p:cNvSpPr>
          <p:nvPr/>
        </p:nvSpPr>
        <p:spPr bwMode="auto">
          <a:xfrm>
            <a:off x="6566547" y="5767942"/>
            <a:ext cx="11208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smtClean="0"/>
              <a:t>输入</a:t>
            </a:r>
            <a:r>
              <a:rPr lang="en-US" altLang="zh-CN" b="1" dirty="0" smtClean="0"/>
              <a:t>(4,4)</a:t>
            </a:r>
            <a:endParaRPr lang="zh-CN" altLang="en-US" b="1" dirty="0"/>
          </a:p>
        </p:txBody>
      </p:sp>
      <p:graphicFrame>
        <p:nvGraphicFramePr>
          <p:cNvPr id="6" name="表格 5"/>
          <p:cNvGraphicFramePr>
            <a:graphicFrameLocks noGrp="1"/>
          </p:cNvGraphicFramePr>
          <p:nvPr>
            <p:extLst>
              <p:ext uri="{D42A27DB-BD31-4B8C-83A1-F6EECF244321}">
                <p14:modId xmlns:p14="http://schemas.microsoft.com/office/powerpoint/2010/main" val="1726103556"/>
              </p:ext>
            </p:extLst>
          </p:nvPr>
        </p:nvGraphicFramePr>
        <p:xfrm>
          <a:off x="9213637" y="3622957"/>
          <a:ext cx="1439862" cy="1441450"/>
        </p:xfrm>
        <a:graphic>
          <a:graphicData uri="http://schemas.openxmlformats.org/drawingml/2006/table">
            <a:tbl>
              <a:tblPr firstRow="1" bandRow="1">
                <a:tableStyleId>{5940675A-B579-460E-94D1-54222C63F5DA}</a:tableStyleId>
              </a:tblPr>
              <a:tblGrid>
                <a:gridCol w="719931"/>
                <a:gridCol w="719931"/>
              </a:tblGrid>
              <a:tr h="720725">
                <a:tc>
                  <a:txBody>
                    <a:bodyPr/>
                    <a:lstStyle/>
                    <a:p>
                      <a:pPr algn="ctr"/>
                      <a:r>
                        <a:rPr lang="en-US" altLang="zh-CN" sz="1800" b="1" dirty="0" smtClean="0">
                          <a:solidFill>
                            <a:schemeClr val="tx1"/>
                          </a:solidFill>
                        </a:rPr>
                        <a:t>10</a:t>
                      </a:r>
                      <a:endParaRPr lang="zh-CN" altLang="en-US" sz="1800" b="1" dirty="0">
                        <a:solidFill>
                          <a:schemeClr val="tx1"/>
                        </a:solidFill>
                      </a:endParaRPr>
                    </a:p>
                  </a:txBody>
                  <a:tcPr marL="91431" marR="91431" marT="45766" marB="45766" anchor="ctr"/>
                </a:tc>
                <a:tc>
                  <a:txBody>
                    <a:bodyPr/>
                    <a:lstStyle/>
                    <a:p>
                      <a:pPr algn="ctr"/>
                      <a:r>
                        <a:rPr lang="en-US" altLang="zh-CN" sz="1800" b="1" dirty="0" smtClean="0">
                          <a:solidFill>
                            <a:schemeClr val="tx1"/>
                          </a:solidFill>
                        </a:rPr>
                        <a:t>5</a:t>
                      </a:r>
                      <a:endParaRPr lang="zh-CN" altLang="en-US" sz="1800" b="1" dirty="0">
                        <a:solidFill>
                          <a:schemeClr val="tx1"/>
                        </a:solidFill>
                      </a:endParaRPr>
                    </a:p>
                  </a:txBody>
                  <a:tcPr marL="91431" marR="91431" marT="45766" marB="45766" anchor="ctr"/>
                </a:tc>
              </a:tr>
              <a:tr h="720725">
                <a:tc>
                  <a:txBody>
                    <a:bodyPr/>
                    <a:lstStyle/>
                    <a:p>
                      <a:pPr algn="ctr"/>
                      <a:r>
                        <a:rPr lang="en-US" altLang="zh-CN" sz="1800" b="1" dirty="0" smtClean="0">
                          <a:solidFill>
                            <a:schemeClr val="tx1"/>
                          </a:solidFill>
                        </a:rPr>
                        <a:t>-2</a:t>
                      </a:r>
                      <a:endParaRPr lang="zh-CN" altLang="en-US" sz="1800" b="1" dirty="0">
                        <a:solidFill>
                          <a:schemeClr val="tx1"/>
                        </a:solidFill>
                      </a:endParaRPr>
                    </a:p>
                  </a:txBody>
                  <a:tcPr marL="91431" marR="91431" marT="45766" marB="45766" anchor="ctr"/>
                </a:tc>
                <a:tc>
                  <a:txBody>
                    <a:bodyPr/>
                    <a:lstStyle/>
                    <a:p>
                      <a:pPr algn="ctr"/>
                      <a:r>
                        <a:rPr lang="en-US" altLang="zh-CN" sz="1800" b="1" dirty="0" smtClean="0">
                          <a:solidFill>
                            <a:schemeClr val="tx1"/>
                          </a:solidFill>
                        </a:rPr>
                        <a:t>3</a:t>
                      </a:r>
                      <a:endParaRPr lang="zh-CN" altLang="en-US" sz="1800" b="1" dirty="0">
                        <a:solidFill>
                          <a:schemeClr val="tx1"/>
                        </a:solidFill>
                      </a:endParaRPr>
                    </a:p>
                  </a:txBody>
                  <a:tcPr marL="91431" marR="91431" marT="45766" marB="45766" anchor="ctr"/>
                </a:tc>
              </a:tr>
            </a:tbl>
          </a:graphicData>
        </a:graphic>
      </p:graphicFrame>
      <p:sp>
        <p:nvSpPr>
          <p:cNvPr id="7" name="文本框 23"/>
          <p:cNvSpPr txBox="1">
            <a:spLocks noChangeArrowheads="1"/>
          </p:cNvSpPr>
          <p:nvPr/>
        </p:nvSpPr>
        <p:spPr bwMode="auto">
          <a:xfrm>
            <a:off x="9377305" y="5767942"/>
            <a:ext cx="11208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smtClean="0"/>
              <a:t>输</a:t>
            </a:r>
            <a:r>
              <a:rPr lang="zh-CN" altLang="en-US" b="1" dirty="0"/>
              <a:t>出</a:t>
            </a:r>
            <a:r>
              <a:rPr lang="en-US" altLang="zh-CN" b="1" dirty="0" smtClean="0"/>
              <a:t>(2,2)</a:t>
            </a:r>
            <a:endParaRPr lang="zh-CN" altLang="en-US" b="1" dirty="0"/>
          </a:p>
        </p:txBody>
      </p:sp>
    </p:spTree>
    <p:extLst>
      <p:ext uri="{BB962C8B-B14F-4D97-AF65-F5344CB8AC3E}">
        <p14:creationId xmlns:p14="http://schemas.microsoft.com/office/powerpoint/2010/main" val="1113185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填充</a:t>
            </a:r>
            <a:endParaRPr lang="zh-CN" altLang="en-US" dirty="0"/>
          </a:p>
        </p:txBody>
      </p:sp>
      <p:sp>
        <p:nvSpPr>
          <p:cNvPr id="3" name="内容占位符 2"/>
          <p:cNvSpPr>
            <a:spLocks noGrp="1"/>
          </p:cNvSpPr>
          <p:nvPr>
            <p:ph sz="quarter" idx="13"/>
          </p:nvPr>
        </p:nvSpPr>
        <p:spPr/>
        <p:txBody>
          <a:bodyPr/>
          <a:lstStyle/>
          <a:p>
            <a:r>
              <a:rPr lang="zh-CN" altLang="en-US" dirty="0" smtClean="0"/>
              <a:t>以之前的例子为基础，定义填充为</a:t>
            </a:r>
            <a:r>
              <a:rPr lang="en-US" altLang="zh-CN" dirty="0" smtClean="0"/>
              <a:t>1</a:t>
            </a:r>
            <a:r>
              <a:rPr lang="zh-CN" altLang="en-US" dirty="0" smtClean="0"/>
              <a:t>，填充默认值为</a:t>
            </a:r>
            <a:r>
              <a:rPr lang="en-US" altLang="zh-CN" dirty="0" smtClean="0"/>
              <a:t>0</a:t>
            </a:r>
            <a:r>
              <a:rPr lang="zh-CN" altLang="en-US" dirty="0" smtClean="0"/>
              <a:t>。</a:t>
            </a:r>
            <a:endParaRPr lang="en-US" altLang="zh-CN" dirty="0" smtClean="0"/>
          </a:p>
          <a:p>
            <a:r>
              <a:rPr lang="zh-CN" altLang="en-US" dirty="0" smtClean="0"/>
              <a:t>输出特征图的尺寸保持为原来的</a:t>
            </a:r>
            <a:r>
              <a:rPr lang="en-US" altLang="zh-CN" dirty="0"/>
              <a:t>(4,4) , </a:t>
            </a:r>
            <a:r>
              <a:rPr lang="zh-CN" altLang="en-US" dirty="0"/>
              <a:t>且有效地避免了边缘信息的</a:t>
            </a:r>
            <a:r>
              <a:rPr lang="zh-CN" altLang="en-US" dirty="0" smtClean="0"/>
              <a:t>丢失。</a:t>
            </a:r>
            <a:endParaRPr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2596253842"/>
              </p:ext>
            </p:extLst>
          </p:nvPr>
        </p:nvGraphicFramePr>
        <p:xfrm>
          <a:off x="988076" y="2219323"/>
          <a:ext cx="3238500" cy="3240090"/>
        </p:xfrm>
        <a:graphic>
          <a:graphicData uri="http://schemas.openxmlformats.org/drawingml/2006/table">
            <a:tbl>
              <a:tblPr firstRow="1" bandRow="1">
                <a:tableStyleId>{5940675A-B579-460E-94D1-54222C63F5DA}</a:tableStyleId>
              </a:tblPr>
              <a:tblGrid>
                <a:gridCol w="539750"/>
                <a:gridCol w="539750"/>
                <a:gridCol w="539750"/>
                <a:gridCol w="539750"/>
                <a:gridCol w="539750"/>
                <a:gridCol w="539750"/>
              </a:tblGrid>
              <a:tr h="540015">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r>
              <a:tr h="540015">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1</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3</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1</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2</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tc>
              </a:tr>
              <a:tr h="540015">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2</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1</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tc>
              </a:tr>
              <a:tr h="540015">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2</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3</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1</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tc>
              </a:tr>
              <a:tr h="540015">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1</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5</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2</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1</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tc>
              </a:tr>
              <a:tr h="540015">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r>
            </a:tbl>
          </a:graphicData>
        </a:graphic>
      </p:graphicFrame>
      <p:sp>
        <p:nvSpPr>
          <p:cNvPr id="6" name="文本框 21"/>
          <p:cNvSpPr txBox="1">
            <a:spLocks noChangeArrowheads="1"/>
          </p:cNvSpPr>
          <p:nvPr/>
        </p:nvSpPr>
        <p:spPr bwMode="auto">
          <a:xfrm>
            <a:off x="1455100" y="5616223"/>
            <a:ext cx="20441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a:t>填充后的</a:t>
            </a:r>
            <a:r>
              <a:rPr lang="zh-CN" altLang="en-US" b="1" dirty="0" smtClean="0"/>
              <a:t>输入</a:t>
            </a:r>
            <a:r>
              <a:rPr lang="en-US" altLang="zh-CN" b="1" dirty="0" smtClean="0"/>
              <a:t>(6,6)</a:t>
            </a:r>
            <a:endParaRPr lang="zh-CN" altLang="en-US" b="1" dirty="0"/>
          </a:p>
        </p:txBody>
      </p:sp>
      <p:graphicFrame>
        <p:nvGraphicFramePr>
          <p:cNvPr id="7" name="表格 6"/>
          <p:cNvGraphicFramePr>
            <a:graphicFrameLocks noGrp="1"/>
          </p:cNvGraphicFramePr>
          <p:nvPr>
            <p:extLst>
              <p:ext uri="{D42A27DB-BD31-4B8C-83A1-F6EECF244321}">
                <p14:modId xmlns:p14="http://schemas.microsoft.com/office/powerpoint/2010/main" val="3867261388"/>
              </p:ext>
            </p:extLst>
          </p:nvPr>
        </p:nvGraphicFramePr>
        <p:xfrm>
          <a:off x="4780305" y="3008311"/>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r>
                        <a:rPr lang="en-US" altLang="zh-CN" sz="1800" b="1" dirty="0" smtClean="0"/>
                        <a:t>0</a:t>
                      </a:r>
                      <a:endParaRPr lang="zh-CN" altLang="en-US" sz="1800" b="1" dirty="0"/>
                    </a:p>
                  </a:txBody>
                  <a:tcPr marL="91409" marR="91409" marT="45723" marB="45723"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09" marR="91409" marT="45723" marB="45723" anchor="ctr">
                    <a:solidFill>
                      <a:schemeClr val="accent2">
                        <a:lumMod val="20000"/>
                        <a:lumOff val="80000"/>
                      </a:schemeClr>
                    </a:solidFill>
                  </a:tcPr>
                </a:tc>
                <a:tc>
                  <a:txBody>
                    <a:bodyPr/>
                    <a:lstStyle/>
                    <a:p>
                      <a:pPr algn="ctr"/>
                      <a:r>
                        <a:rPr lang="en-US" altLang="zh-CN" sz="1800" b="1" dirty="0" smtClean="0"/>
                        <a:t>0</a:t>
                      </a: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r>
                        <a:rPr lang="en-US" altLang="zh-CN" sz="1800" b="1" dirty="0" smtClean="0"/>
                        <a:t>1</a:t>
                      </a:r>
                      <a:endParaRPr lang="zh-CN" altLang="en-US" sz="1800" b="1" dirty="0"/>
                    </a:p>
                  </a:txBody>
                  <a:tcPr marL="91409" marR="91409" marT="45723" marB="45723" anchor="ctr">
                    <a:solidFill>
                      <a:schemeClr val="accent2">
                        <a:lumMod val="20000"/>
                        <a:lumOff val="80000"/>
                      </a:schemeClr>
                    </a:solidFill>
                  </a:tcPr>
                </a:tc>
                <a:tc>
                  <a:txBody>
                    <a:bodyPr/>
                    <a:lstStyle/>
                    <a:p>
                      <a:pPr algn="ctr"/>
                      <a:r>
                        <a:rPr lang="en-US" altLang="zh-CN" sz="1800" b="1" dirty="0" smtClean="0"/>
                        <a:t>-4</a:t>
                      </a:r>
                      <a:endParaRPr lang="zh-CN" altLang="en-US" sz="1800" b="1" dirty="0"/>
                    </a:p>
                  </a:txBody>
                  <a:tcPr marL="91409" marR="91409" marT="45723" marB="45723"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r>
                        <a:rPr lang="en-US" altLang="zh-CN" sz="1800" b="1" dirty="0" smtClean="0"/>
                        <a:t>0</a:t>
                      </a:r>
                      <a:endParaRPr lang="zh-CN" altLang="en-US" sz="1800" b="1" dirty="0"/>
                    </a:p>
                  </a:txBody>
                  <a:tcPr marL="91409" marR="91409" marT="45723" marB="45723"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09" marR="91409" marT="45723" marB="45723" anchor="ctr">
                    <a:solidFill>
                      <a:schemeClr val="accent2">
                        <a:lumMod val="20000"/>
                        <a:lumOff val="80000"/>
                      </a:schemeClr>
                    </a:solidFill>
                  </a:tcPr>
                </a:tc>
                <a:tc>
                  <a:txBody>
                    <a:bodyPr/>
                    <a:lstStyle/>
                    <a:p>
                      <a:pPr algn="ctr"/>
                      <a:r>
                        <a:rPr lang="en-US" altLang="zh-CN" sz="1800" b="1" dirty="0" smtClean="0"/>
                        <a:t>0</a:t>
                      </a:r>
                      <a:endParaRPr lang="zh-CN" altLang="en-US" sz="1800" b="1" dirty="0"/>
                    </a:p>
                  </a:txBody>
                  <a:tcPr marL="91409" marR="91409" marT="45723" marB="45723" anchor="ctr">
                    <a:solidFill>
                      <a:schemeClr val="accent2">
                        <a:lumMod val="20000"/>
                        <a:lumOff val="80000"/>
                      </a:schemeClr>
                    </a:solidFill>
                  </a:tcPr>
                </a:tc>
              </a:tr>
            </a:tbl>
          </a:graphicData>
        </a:graphic>
      </p:graphicFrame>
      <p:sp>
        <p:nvSpPr>
          <p:cNvPr id="8" name="文本框 22"/>
          <p:cNvSpPr txBox="1">
            <a:spLocks noChangeArrowheads="1"/>
          </p:cNvSpPr>
          <p:nvPr/>
        </p:nvSpPr>
        <p:spPr bwMode="auto">
          <a:xfrm>
            <a:off x="4895736" y="5616223"/>
            <a:ext cx="13099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3×3</a:t>
            </a:r>
            <a:r>
              <a:rPr lang="zh-CN" altLang="en-US" b="1" dirty="0"/>
              <a:t>卷积核</a:t>
            </a:r>
          </a:p>
        </p:txBody>
      </p:sp>
      <p:sp>
        <p:nvSpPr>
          <p:cNvPr id="10" name="文本框 21"/>
          <p:cNvSpPr txBox="1">
            <a:spLocks noChangeArrowheads="1"/>
          </p:cNvSpPr>
          <p:nvPr/>
        </p:nvSpPr>
        <p:spPr bwMode="auto">
          <a:xfrm>
            <a:off x="8577398" y="5613218"/>
            <a:ext cx="11208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smtClean="0"/>
              <a:t>输出</a:t>
            </a:r>
            <a:r>
              <a:rPr lang="en-US" altLang="zh-CN" b="1" dirty="0" smtClean="0"/>
              <a:t>(4,4)</a:t>
            </a:r>
            <a:endParaRPr lang="zh-CN" altLang="en-US" b="1" dirty="0"/>
          </a:p>
        </p:txBody>
      </p:sp>
      <p:sp>
        <p:nvSpPr>
          <p:cNvPr id="11" name="文本框 6"/>
          <p:cNvSpPr txBox="1">
            <a:spLocks noChangeArrowheads="1"/>
          </p:cNvSpPr>
          <p:nvPr/>
        </p:nvSpPr>
        <p:spPr bwMode="auto">
          <a:xfrm>
            <a:off x="4311143" y="3633786"/>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a:sym typeface="Wingdings 2" panose="05020102010507070707" pitchFamily="18" charset="2"/>
              </a:rPr>
              <a:t></a:t>
            </a:r>
            <a:endParaRPr lang="zh-CN" altLang="en-US"/>
          </a:p>
        </p:txBody>
      </p:sp>
      <p:sp>
        <p:nvSpPr>
          <p:cNvPr id="12" name="文本框 24"/>
          <p:cNvSpPr txBox="1">
            <a:spLocks noChangeArrowheads="1"/>
          </p:cNvSpPr>
          <p:nvPr/>
        </p:nvSpPr>
        <p:spPr bwMode="auto">
          <a:xfrm>
            <a:off x="6473607" y="3645521"/>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dirty="0">
                <a:sym typeface="Symbol" panose="05050102010706020507" pitchFamily="18" charset="2"/>
              </a:rPr>
              <a:t></a:t>
            </a:r>
            <a:endParaRPr lang="zh-CN" altLang="en-US" dirty="0"/>
          </a:p>
        </p:txBody>
      </p:sp>
      <p:graphicFrame>
        <p:nvGraphicFramePr>
          <p:cNvPr id="13" name="表格 12"/>
          <p:cNvGraphicFramePr>
            <a:graphicFrameLocks noGrp="1"/>
          </p:cNvGraphicFramePr>
          <p:nvPr>
            <p:extLst>
              <p:ext uri="{D42A27DB-BD31-4B8C-83A1-F6EECF244321}">
                <p14:modId xmlns:p14="http://schemas.microsoft.com/office/powerpoint/2010/main" val="3426324050"/>
              </p:ext>
            </p:extLst>
          </p:nvPr>
        </p:nvGraphicFramePr>
        <p:xfrm>
          <a:off x="6868894" y="3548061"/>
          <a:ext cx="541338" cy="541338"/>
        </p:xfrm>
        <a:graphic>
          <a:graphicData uri="http://schemas.openxmlformats.org/drawingml/2006/table">
            <a:tbl>
              <a:tblPr firstRow="1" bandRow="1">
                <a:tableStyleId>{5C22544A-7EE6-4342-B048-85BDC9FD1C3A}</a:tableStyleId>
              </a:tblPr>
              <a:tblGrid>
                <a:gridCol w="541338"/>
              </a:tblGrid>
              <a:tr h="541338">
                <a:tc>
                  <a:txBody>
                    <a:bodyPr/>
                    <a:lstStyle/>
                    <a:p>
                      <a:pPr algn="ctr"/>
                      <a:r>
                        <a:rPr lang="en-US" altLang="zh-CN" sz="1800" b="1" dirty="0" smtClean="0">
                          <a:solidFill>
                            <a:schemeClr val="tx1"/>
                          </a:solidFill>
                        </a:rPr>
                        <a:t>2</a:t>
                      </a:r>
                      <a:endParaRPr lang="zh-CN" altLang="en-US" sz="1800" b="1" dirty="0">
                        <a:solidFill>
                          <a:schemeClr val="tx1"/>
                        </a:solidFill>
                      </a:endParaRPr>
                    </a:p>
                  </a:txBody>
                  <a:tcPr marL="91678" marR="91678" marT="45839" marB="4583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r>
            </a:tbl>
          </a:graphicData>
        </a:graphic>
      </p:graphicFrame>
      <p:sp>
        <p:nvSpPr>
          <p:cNvPr id="14" name="文本框 23"/>
          <p:cNvSpPr txBox="1">
            <a:spLocks noChangeArrowheads="1"/>
          </p:cNvSpPr>
          <p:nvPr/>
        </p:nvSpPr>
        <p:spPr bwMode="auto">
          <a:xfrm>
            <a:off x="6868894" y="5613218"/>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a:t>偏置</a:t>
            </a:r>
          </a:p>
        </p:txBody>
      </p:sp>
      <p:graphicFrame>
        <p:nvGraphicFramePr>
          <p:cNvPr id="15" name="表格 14"/>
          <p:cNvGraphicFramePr>
            <a:graphicFrameLocks noGrp="1"/>
          </p:cNvGraphicFramePr>
          <p:nvPr>
            <p:extLst>
              <p:ext uri="{D42A27DB-BD31-4B8C-83A1-F6EECF244321}">
                <p14:modId xmlns:p14="http://schemas.microsoft.com/office/powerpoint/2010/main" val="246509239"/>
              </p:ext>
            </p:extLst>
          </p:nvPr>
        </p:nvGraphicFramePr>
        <p:xfrm>
          <a:off x="8114397" y="2750965"/>
          <a:ext cx="2160588" cy="2159000"/>
        </p:xfrm>
        <a:graphic>
          <a:graphicData uri="http://schemas.openxmlformats.org/drawingml/2006/table">
            <a:tbl>
              <a:tblPr firstRow="1" bandRow="1">
                <a:tableStyleId>{5940675A-B579-460E-94D1-54222C63F5DA}</a:tableStyleId>
              </a:tblPr>
              <a:tblGrid>
                <a:gridCol w="540147"/>
                <a:gridCol w="540147"/>
                <a:gridCol w="540147"/>
                <a:gridCol w="540147"/>
              </a:tblGrid>
              <a:tr h="539750">
                <a:tc>
                  <a:txBody>
                    <a:bodyPr/>
                    <a:lstStyle/>
                    <a:p>
                      <a:pPr algn="ctr"/>
                      <a:r>
                        <a:rPr lang="en-US" altLang="zh-CN" sz="1800" b="1" dirty="0" smtClean="0"/>
                        <a:t>3</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-8</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3</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-4</a:t>
                      </a:r>
                      <a:endParaRPr lang="zh-CN" altLang="en-US" sz="1800" b="1" dirty="0"/>
                    </a:p>
                  </a:txBody>
                  <a:tcPr marL="91456" marR="91456" marT="45695" marB="45695" anchor="ctr">
                    <a:solidFill>
                      <a:schemeClr val="bg2">
                        <a:lumMod val="90000"/>
                      </a:schemeClr>
                    </a:solidFill>
                  </a:tcPr>
                </a:tc>
              </a:tr>
              <a:tr h="539750">
                <a:tc>
                  <a:txBody>
                    <a:bodyPr/>
                    <a:lstStyle/>
                    <a:p>
                      <a:pPr algn="ctr"/>
                      <a:r>
                        <a:rPr lang="en-US" altLang="zh-CN" sz="1800" b="1" dirty="0" smtClean="0"/>
                        <a:t>-3</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10</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5</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0</a:t>
                      </a:r>
                      <a:endParaRPr lang="zh-CN" altLang="en-US" sz="1800" b="1" dirty="0"/>
                    </a:p>
                  </a:txBody>
                  <a:tcPr marL="91456" marR="91456" marT="45695" marB="45695" anchor="ctr">
                    <a:solidFill>
                      <a:schemeClr val="bg2">
                        <a:lumMod val="90000"/>
                      </a:schemeClr>
                    </a:solidFill>
                  </a:tcPr>
                </a:tc>
              </a:tr>
              <a:tr h="539750">
                <a:tc>
                  <a:txBody>
                    <a:bodyPr/>
                    <a:lstStyle/>
                    <a:p>
                      <a:pPr algn="ctr"/>
                      <a:r>
                        <a:rPr lang="en-US" altLang="zh-CN" sz="1800" b="1" dirty="0" smtClean="0"/>
                        <a:t>0</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-2</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3</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5</a:t>
                      </a:r>
                      <a:endParaRPr lang="zh-CN" altLang="en-US" sz="1800" b="1" dirty="0"/>
                    </a:p>
                  </a:txBody>
                  <a:tcPr marL="91456" marR="91456" marT="45695" marB="45695" anchor="ctr">
                    <a:solidFill>
                      <a:schemeClr val="bg2">
                        <a:lumMod val="90000"/>
                      </a:schemeClr>
                    </a:solidFill>
                  </a:tcPr>
                </a:tc>
              </a:tr>
              <a:tr h="539750">
                <a:tc>
                  <a:txBody>
                    <a:bodyPr/>
                    <a:lstStyle/>
                    <a:p>
                      <a:pPr algn="ctr"/>
                      <a:r>
                        <a:rPr lang="en-US" altLang="zh-CN" sz="1800" b="1" dirty="0" smtClean="0"/>
                        <a:t>5</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-12</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1</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0</a:t>
                      </a:r>
                      <a:endParaRPr lang="zh-CN" altLang="en-US" sz="1800" b="1" dirty="0"/>
                    </a:p>
                  </a:txBody>
                  <a:tcPr marL="91456" marR="91456" marT="45695" marB="45695" anchor="ctr">
                    <a:solidFill>
                      <a:schemeClr val="bg2">
                        <a:lumMod val="90000"/>
                      </a:schemeClr>
                    </a:solidFill>
                  </a:tcPr>
                </a:tc>
              </a:tr>
            </a:tbl>
          </a:graphicData>
        </a:graphic>
      </p:graphicFrame>
      <p:sp>
        <p:nvSpPr>
          <p:cNvPr id="16" name="文本框 23"/>
          <p:cNvSpPr txBox="1">
            <a:spLocks noChangeArrowheads="1"/>
          </p:cNvSpPr>
          <p:nvPr/>
        </p:nvSpPr>
        <p:spPr bwMode="auto">
          <a:xfrm>
            <a:off x="7515225" y="3646077"/>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a:t>
            </a:r>
            <a:endParaRPr lang="zh-CN" altLang="en-US" b="1" dirty="0"/>
          </a:p>
        </p:txBody>
      </p:sp>
    </p:spTree>
    <p:extLst>
      <p:ext uri="{BB962C8B-B14F-4D97-AF65-F5344CB8AC3E}">
        <p14:creationId xmlns:p14="http://schemas.microsoft.com/office/powerpoint/2010/main" val="42254752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latin typeface="微软雅黑" panose="020B0503020204020204" pitchFamily="34" charset="-122"/>
                <a:cs typeface="微软雅黑" panose="020B0503020204020204" pitchFamily="34" charset="-122"/>
              </a:rPr>
              <a:t>步长与填充</a:t>
            </a:r>
            <a:r>
              <a:rPr lang="zh-CN" altLang="en-US" noProof="1" smtClean="0">
                <a:latin typeface="微软雅黑" panose="020B0503020204020204" pitchFamily="34" charset="-122"/>
                <a:cs typeface="微软雅黑" panose="020B0503020204020204" pitchFamily="34" charset="-122"/>
              </a:rPr>
              <a:t>总结</a:t>
            </a:r>
            <a:endParaRPr lang="zh-CN" altLang="en-US" dirty="0"/>
          </a:p>
        </p:txBody>
      </p:sp>
      <p:sp>
        <p:nvSpPr>
          <p:cNvPr id="3" name="内容占位符 2"/>
          <p:cNvSpPr>
            <a:spLocks noGrp="1"/>
          </p:cNvSpPr>
          <p:nvPr>
            <p:ph sz="quarter" idx="13"/>
          </p:nvPr>
        </p:nvSpPr>
        <p:spPr/>
        <p:txBody>
          <a:bodyPr/>
          <a:lstStyle/>
          <a:p>
            <a:r>
              <a:rPr lang="zh-CN" altLang="en-US" dirty="0"/>
              <a:t>接下来我们学习一种更为通用的卷积形式，总结步长、填充、卷积核大小与输入输出特征图尺寸的关系</a:t>
            </a:r>
            <a:r>
              <a:rPr lang="zh-CN" altLang="en-US" dirty="0" smtClean="0"/>
              <a:t>。</a:t>
            </a:r>
            <a:endParaRPr lang="en-US" altLang="zh-CN" dirty="0" smtClean="0"/>
          </a:p>
          <a:p>
            <a:r>
              <a:rPr lang="zh-CN" altLang="en-US" dirty="0" smtClean="0"/>
              <a:t>给定所有的参数：</a:t>
            </a:r>
            <a:endParaRPr lang="en-US" altLang="zh-CN" dirty="0" smtClean="0"/>
          </a:p>
          <a:p>
            <a:pPr lvl="1"/>
            <a:r>
              <a:rPr lang="zh-CN" altLang="en-US" dirty="0" smtClean="0"/>
              <a:t>输入特征图</a:t>
            </a:r>
            <a:endParaRPr lang="en-US" altLang="zh-CN" dirty="0"/>
          </a:p>
          <a:p>
            <a:pPr lvl="2"/>
            <a:r>
              <a:rPr lang="zh-CN" altLang="en-US" dirty="0" smtClean="0"/>
              <a:t>宽：</a:t>
            </a:r>
            <a:r>
              <a:rPr lang="en-US" altLang="zh-CN" dirty="0" smtClean="0"/>
              <a:t>W</a:t>
            </a:r>
            <a:r>
              <a:rPr lang="en-US" altLang="zh-CN" baseline="-25000" dirty="0" smtClean="0"/>
              <a:t>1</a:t>
            </a:r>
            <a:r>
              <a:rPr lang="zh-CN" altLang="en-US" dirty="0" smtClean="0"/>
              <a:t>（像素）</a:t>
            </a:r>
            <a:endParaRPr lang="en-US" altLang="zh-CN" dirty="0" smtClean="0"/>
          </a:p>
          <a:p>
            <a:pPr lvl="2"/>
            <a:r>
              <a:rPr lang="zh-CN" altLang="en-US" dirty="0" smtClean="0"/>
              <a:t>高：</a:t>
            </a:r>
            <a:r>
              <a:rPr lang="en-US" altLang="zh-CN" dirty="0" smtClean="0"/>
              <a:t>H</a:t>
            </a:r>
            <a:r>
              <a:rPr lang="en-US" altLang="zh-CN" baseline="-25000" dirty="0" smtClean="0"/>
              <a:t>1</a:t>
            </a:r>
            <a:r>
              <a:rPr lang="zh-CN" altLang="en-US" dirty="0" smtClean="0"/>
              <a:t>（像素）</a:t>
            </a:r>
            <a:endParaRPr lang="en-US" altLang="zh-CN" dirty="0" smtClean="0"/>
          </a:p>
          <a:p>
            <a:pPr lvl="2"/>
            <a:r>
              <a:rPr lang="zh-CN" altLang="en-US" dirty="0"/>
              <a:t>通道</a:t>
            </a:r>
            <a:r>
              <a:rPr lang="zh-CN" altLang="en-US" dirty="0" smtClean="0"/>
              <a:t>数：</a:t>
            </a:r>
            <a:r>
              <a:rPr lang="en-US" altLang="zh-CN" dirty="0" smtClean="0"/>
              <a:t>D</a:t>
            </a:r>
            <a:r>
              <a:rPr lang="en-US" altLang="zh-CN" baseline="-25000" dirty="0" smtClean="0"/>
              <a:t>1</a:t>
            </a:r>
          </a:p>
          <a:p>
            <a:pPr lvl="1"/>
            <a:r>
              <a:rPr lang="zh-CN" altLang="en-US" dirty="0" smtClean="0"/>
              <a:t>卷积核大小（</a:t>
            </a:r>
            <a:r>
              <a:rPr lang="en-US" altLang="zh-CN" dirty="0" smtClean="0"/>
              <a:t>F</a:t>
            </a:r>
            <a:r>
              <a:rPr lang="zh-CN" altLang="en-US" dirty="0" smtClean="0"/>
              <a:t>，</a:t>
            </a:r>
            <a:r>
              <a:rPr lang="en-US" altLang="zh-CN" dirty="0" smtClean="0"/>
              <a:t>F</a:t>
            </a:r>
            <a:r>
              <a:rPr lang="zh-CN" altLang="en-US" dirty="0" smtClean="0"/>
              <a:t>），即</a:t>
            </a:r>
            <a:r>
              <a:rPr lang="en-US" altLang="zh-CN" dirty="0" smtClean="0"/>
              <a:t>F× F×D</a:t>
            </a:r>
            <a:r>
              <a:rPr lang="en-US" altLang="zh-CN" baseline="-25000" dirty="0" smtClean="0"/>
              <a:t>1</a:t>
            </a:r>
            <a:endParaRPr lang="en-US" altLang="zh-CN" dirty="0" smtClean="0"/>
          </a:p>
          <a:p>
            <a:pPr lvl="1"/>
            <a:r>
              <a:rPr lang="zh-CN" altLang="en-US" dirty="0" smtClean="0"/>
              <a:t>步长：</a:t>
            </a:r>
            <a:r>
              <a:rPr lang="en-US" altLang="zh-CN" dirty="0" smtClean="0"/>
              <a:t>S</a:t>
            </a:r>
          </a:p>
          <a:p>
            <a:pPr lvl="1"/>
            <a:r>
              <a:rPr lang="zh-CN" altLang="en-US" dirty="0" smtClean="0"/>
              <a:t>填充大小：</a:t>
            </a:r>
            <a:r>
              <a:rPr lang="en-US" altLang="zh-CN" dirty="0" smtClean="0"/>
              <a:t>P</a:t>
            </a:r>
          </a:p>
          <a:p>
            <a:pPr lvl="1"/>
            <a:r>
              <a:rPr lang="zh-CN" altLang="en-US" dirty="0"/>
              <a:t>卷积</a:t>
            </a:r>
            <a:r>
              <a:rPr lang="zh-CN" altLang="en-US" dirty="0" smtClean="0"/>
              <a:t>核个数：</a:t>
            </a:r>
            <a:r>
              <a:rPr lang="en-US" altLang="zh-CN" dirty="0" smtClean="0"/>
              <a:t>K</a:t>
            </a:r>
          </a:p>
          <a:p>
            <a:r>
              <a:rPr lang="zh-CN" altLang="en-US" dirty="0" smtClean="0"/>
              <a:t>那么经过卷积计算后，输出特征图图像：</a:t>
            </a:r>
            <a:endParaRPr lang="en-US" altLang="zh-CN" dirty="0"/>
          </a:p>
          <a:p>
            <a:pPr lvl="1"/>
            <a:r>
              <a:rPr lang="en-US" altLang="zh-CN" dirty="0" smtClean="0"/>
              <a:t>W</a:t>
            </a:r>
            <a:r>
              <a:rPr lang="en-US" altLang="zh-CN" baseline="-25000" dirty="0" smtClean="0"/>
              <a:t>2 </a:t>
            </a:r>
            <a:r>
              <a:rPr lang="en-US" altLang="zh-CN" dirty="0" smtClean="0"/>
              <a:t>= ( W</a:t>
            </a:r>
            <a:r>
              <a:rPr lang="en-US" altLang="zh-CN" baseline="-25000" dirty="0" smtClean="0"/>
              <a:t>1 </a:t>
            </a:r>
            <a:r>
              <a:rPr lang="en-US" altLang="zh-CN" dirty="0" smtClean="0"/>
              <a:t>- F +2P ) / S + 1</a:t>
            </a:r>
          </a:p>
          <a:p>
            <a:pPr lvl="1"/>
            <a:r>
              <a:rPr lang="en-US" altLang="zh-CN" dirty="0" smtClean="0"/>
              <a:t>H</a:t>
            </a:r>
            <a:r>
              <a:rPr lang="en-US" altLang="zh-CN" baseline="-25000" dirty="0" smtClean="0"/>
              <a:t>2 </a:t>
            </a:r>
            <a:r>
              <a:rPr lang="en-US" altLang="zh-CN" dirty="0" smtClean="0"/>
              <a:t>= </a:t>
            </a:r>
            <a:r>
              <a:rPr lang="en-US" altLang="zh-CN" dirty="0"/>
              <a:t>( W</a:t>
            </a:r>
            <a:r>
              <a:rPr lang="en-US" altLang="zh-CN" baseline="-25000" dirty="0"/>
              <a:t>1 </a:t>
            </a:r>
            <a:r>
              <a:rPr lang="en-US" altLang="zh-CN" dirty="0"/>
              <a:t>- F +2P ) / S + </a:t>
            </a:r>
            <a:r>
              <a:rPr lang="en-US" altLang="zh-CN" dirty="0" smtClean="0"/>
              <a:t>1</a:t>
            </a:r>
          </a:p>
          <a:p>
            <a:pPr lvl="1"/>
            <a:r>
              <a:rPr lang="en-US" altLang="zh-CN" dirty="0" smtClean="0"/>
              <a:t>D</a:t>
            </a:r>
            <a:r>
              <a:rPr lang="en-US" altLang="zh-CN" baseline="-25000" dirty="0" smtClean="0"/>
              <a:t>2</a:t>
            </a:r>
            <a:r>
              <a:rPr lang="en-US" altLang="zh-CN" dirty="0" smtClean="0"/>
              <a:t> = K</a:t>
            </a:r>
            <a:endParaRPr lang="en-US" altLang="zh-CN" dirty="0"/>
          </a:p>
          <a:p>
            <a:pPr lvl="1"/>
            <a:endParaRPr lang="zh-CN" altLang="en-US" dirty="0"/>
          </a:p>
        </p:txBody>
      </p:sp>
    </p:spTree>
    <p:extLst>
      <p:ext uri="{BB962C8B-B14F-4D97-AF65-F5344CB8AC3E}">
        <p14:creationId xmlns:p14="http://schemas.microsoft.com/office/powerpoint/2010/main" val="5071319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步长与填充总结</a:t>
            </a:r>
            <a:endParaRPr lang="zh-CN" altLang="en-US" dirty="0"/>
          </a:p>
        </p:txBody>
      </p:sp>
      <p:sp>
        <p:nvSpPr>
          <p:cNvPr id="3" name="内容占位符 2"/>
          <p:cNvSpPr>
            <a:spLocks noGrp="1"/>
          </p:cNvSpPr>
          <p:nvPr>
            <p:ph sz="quarter" idx="13"/>
          </p:nvPr>
        </p:nvSpPr>
        <p:spPr/>
        <p:txBody>
          <a:bodyPr/>
          <a:lstStyle/>
          <a:p>
            <a:pPr marL="228600" lvl="1">
              <a:spcBef>
                <a:spcPts val="1000"/>
              </a:spcBef>
            </a:pPr>
            <a:r>
              <a:rPr lang="en-US" altLang="zh-CN" dirty="0"/>
              <a:t>W</a:t>
            </a:r>
            <a:r>
              <a:rPr lang="en-US" altLang="zh-CN" baseline="-25000" dirty="0"/>
              <a:t>2 </a:t>
            </a:r>
            <a:r>
              <a:rPr lang="en-US" altLang="zh-CN" dirty="0"/>
              <a:t>= ( W</a:t>
            </a:r>
            <a:r>
              <a:rPr lang="en-US" altLang="zh-CN" baseline="-25000" dirty="0"/>
              <a:t>1 </a:t>
            </a:r>
            <a:r>
              <a:rPr lang="en-US" altLang="zh-CN" dirty="0"/>
              <a:t>- F +2P ) / S + </a:t>
            </a:r>
            <a:r>
              <a:rPr lang="en-US" altLang="zh-CN" dirty="0" smtClean="0"/>
              <a:t>1 </a:t>
            </a:r>
            <a:r>
              <a:rPr lang="zh-CN" altLang="en-US" dirty="0" smtClean="0"/>
              <a:t>， </a:t>
            </a:r>
            <a:r>
              <a:rPr lang="en-US" altLang="zh-CN" dirty="0"/>
              <a:t>W</a:t>
            </a:r>
            <a:r>
              <a:rPr lang="en-US" altLang="zh-CN" baseline="-25000" dirty="0"/>
              <a:t>2 </a:t>
            </a:r>
            <a:r>
              <a:rPr lang="en-US" altLang="zh-CN" dirty="0" smtClean="0"/>
              <a:t>=</a:t>
            </a:r>
            <a:r>
              <a:rPr lang="zh-CN" altLang="en-US" dirty="0" smtClean="0"/>
              <a:t>（</a:t>
            </a:r>
            <a:r>
              <a:rPr lang="en-US" altLang="zh-CN" dirty="0"/>
              <a:t>4</a:t>
            </a:r>
            <a:r>
              <a:rPr lang="en-US" altLang="zh-CN" dirty="0" smtClean="0"/>
              <a:t> – 3 + 2 × 1) / 1 + 1 = 4</a:t>
            </a:r>
            <a:endParaRPr lang="en-US" altLang="zh-CN" dirty="0"/>
          </a:p>
          <a:p>
            <a:pPr marL="228600" lvl="1">
              <a:spcBef>
                <a:spcPts val="1000"/>
              </a:spcBef>
            </a:pPr>
            <a:r>
              <a:rPr lang="en-US" altLang="zh-CN" dirty="0"/>
              <a:t>H</a:t>
            </a:r>
            <a:r>
              <a:rPr lang="en-US" altLang="zh-CN" baseline="-25000" dirty="0"/>
              <a:t>2 </a:t>
            </a:r>
            <a:r>
              <a:rPr lang="en-US" altLang="zh-CN" dirty="0"/>
              <a:t>= ( W</a:t>
            </a:r>
            <a:r>
              <a:rPr lang="en-US" altLang="zh-CN" baseline="-25000" dirty="0"/>
              <a:t>1 </a:t>
            </a:r>
            <a:r>
              <a:rPr lang="en-US" altLang="zh-CN" dirty="0"/>
              <a:t>- F +2P ) / S + </a:t>
            </a:r>
            <a:r>
              <a:rPr lang="en-US" altLang="zh-CN" dirty="0" smtClean="0"/>
              <a:t>1</a:t>
            </a:r>
            <a:r>
              <a:rPr lang="zh-CN" altLang="en-US" dirty="0" smtClean="0"/>
              <a:t>， </a:t>
            </a:r>
            <a:r>
              <a:rPr lang="en-US" altLang="zh-CN" dirty="0"/>
              <a:t>H</a:t>
            </a:r>
            <a:r>
              <a:rPr lang="en-US" altLang="zh-CN" baseline="-25000" dirty="0" smtClean="0"/>
              <a:t>2 </a:t>
            </a:r>
            <a:r>
              <a:rPr lang="en-US" altLang="zh-CN" dirty="0"/>
              <a:t>=</a:t>
            </a:r>
            <a:r>
              <a:rPr lang="zh-CN" altLang="en-US" dirty="0"/>
              <a:t>（</a:t>
            </a:r>
            <a:r>
              <a:rPr lang="en-US" altLang="zh-CN" dirty="0"/>
              <a:t>4 – 3 + 2 × 1) / 1 + 1 = </a:t>
            </a:r>
            <a:r>
              <a:rPr lang="en-US" altLang="zh-CN" dirty="0" smtClean="0"/>
              <a:t>4</a:t>
            </a:r>
            <a:endParaRPr lang="en-US" altLang="zh-CN" dirty="0"/>
          </a:p>
          <a:p>
            <a:pPr marL="228600" lvl="1">
              <a:spcBef>
                <a:spcPts val="1000"/>
              </a:spcBef>
            </a:pPr>
            <a:r>
              <a:rPr lang="en-US" altLang="zh-CN" dirty="0"/>
              <a:t>D</a:t>
            </a:r>
            <a:r>
              <a:rPr lang="en-US" altLang="zh-CN" baseline="-25000" dirty="0"/>
              <a:t>2</a:t>
            </a:r>
            <a:r>
              <a:rPr lang="en-US" altLang="zh-CN" dirty="0"/>
              <a:t> = </a:t>
            </a:r>
            <a:r>
              <a:rPr lang="en-US" altLang="zh-CN" dirty="0" smtClean="0"/>
              <a:t>K </a:t>
            </a:r>
            <a:r>
              <a:rPr lang="zh-CN" altLang="en-US" dirty="0" smtClean="0"/>
              <a:t>，</a:t>
            </a:r>
            <a:r>
              <a:rPr lang="en-US" altLang="zh-CN" dirty="0"/>
              <a:t> </a:t>
            </a:r>
            <a:r>
              <a:rPr lang="en-US" altLang="zh-CN" dirty="0" smtClean="0"/>
              <a:t>D</a:t>
            </a:r>
            <a:r>
              <a:rPr lang="en-US" altLang="zh-CN" baseline="-25000" dirty="0" smtClean="0"/>
              <a:t>2 </a:t>
            </a:r>
            <a:r>
              <a:rPr lang="en-US" altLang="zh-CN" dirty="0"/>
              <a:t>= </a:t>
            </a:r>
            <a:r>
              <a:rPr lang="en-US" altLang="zh-CN" dirty="0" smtClean="0"/>
              <a:t>1</a:t>
            </a:r>
            <a:endParaRPr lang="en-US" altLang="zh-CN" dirty="0"/>
          </a:p>
        </p:txBody>
      </p:sp>
      <p:graphicFrame>
        <p:nvGraphicFramePr>
          <p:cNvPr id="4" name="表格 3"/>
          <p:cNvGraphicFramePr>
            <a:graphicFrameLocks noGrp="1"/>
          </p:cNvGraphicFramePr>
          <p:nvPr>
            <p:extLst>
              <p:ext uri="{D42A27DB-BD31-4B8C-83A1-F6EECF244321}">
                <p14:modId xmlns:p14="http://schemas.microsoft.com/office/powerpoint/2010/main" val="3898376023"/>
              </p:ext>
            </p:extLst>
          </p:nvPr>
        </p:nvGraphicFramePr>
        <p:xfrm>
          <a:off x="1223749" y="2549259"/>
          <a:ext cx="3238500" cy="3240090"/>
        </p:xfrm>
        <a:graphic>
          <a:graphicData uri="http://schemas.openxmlformats.org/drawingml/2006/table">
            <a:tbl>
              <a:tblPr firstRow="1" bandRow="1">
                <a:tableStyleId>{5940675A-B579-460E-94D1-54222C63F5DA}</a:tableStyleId>
              </a:tblPr>
              <a:tblGrid>
                <a:gridCol w="539750"/>
                <a:gridCol w="539750"/>
                <a:gridCol w="539750"/>
                <a:gridCol w="539750"/>
                <a:gridCol w="539750"/>
                <a:gridCol w="539750"/>
              </a:tblGrid>
              <a:tr h="540015">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r>
              <a:tr h="540015">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1</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3</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1</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2</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tc>
              </a:tr>
              <a:tr h="540015">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2</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1</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tc>
              </a:tr>
              <a:tr h="540015">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2</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3</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1</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tc>
              </a:tr>
              <a:tr h="540015">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1</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5</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2</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1</a:t>
                      </a:r>
                      <a:endParaRPr lang="zh-CN" altLang="en-US" sz="1800" b="1" dirty="0"/>
                    </a:p>
                  </a:txBody>
                  <a:tcPr marL="91389" marR="91389" marT="45717" marB="45717" anchor="ctr">
                    <a:solidFill>
                      <a:schemeClr val="bg2">
                        <a:lumMod val="90000"/>
                      </a:schemeClr>
                    </a:solidFill>
                  </a:tcPr>
                </a:tc>
                <a:tc>
                  <a:txBody>
                    <a:bodyPr/>
                    <a:lstStyle/>
                    <a:p>
                      <a:pPr algn="ctr"/>
                      <a:r>
                        <a:rPr lang="en-US" altLang="zh-CN" sz="1800" b="1" dirty="0" smtClean="0"/>
                        <a:t>0</a:t>
                      </a:r>
                      <a:endParaRPr lang="zh-CN" altLang="en-US" sz="1800" b="1" dirty="0"/>
                    </a:p>
                  </a:txBody>
                  <a:tcPr marL="91389" marR="91389" marT="45717" marB="45717" anchor="ctr"/>
                </a:tc>
              </a:tr>
              <a:tr h="540015">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c>
                  <a:txBody>
                    <a:bodyPr/>
                    <a:lstStyle/>
                    <a:p>
                      <a:pPr algn="ctr"/>
                      <a:r>
                        <a:rPr lang="en-US" altLang="zh-CN" sz="1800" b="1" dirty="0" smtClean="0"/>
                        <a:t>0</a:t>
                      </a:r>
                      <a:endParaRPr lang="zh-CN" altLang="en-US" sz="1800" b="1" dirty="0"/>
                    </a:p>
                  </a:txBody>
                  <a:tcPr marL="91389" marR="91389" marT="45717" marB="45717" anchor="ctr"/>
                </a:tc>
              </a:tr>
            </a:tbl>
          </a:graphicData>
        </a:graphic>
      </p:graphicFrame>
      <p:sp>
        <p:nvSpPr>
          <p:cNvPr id="5" name="文本框 21"/>
          <p:cNvSpPr txBox="1">
            <a:spLocks noChangeArrowheads="1"/>
          </p:cNvSpPr>
          <p:nvPr/>
        </p:nvSpPr>
        <p:spPr bwMode="auto">
          <a:xfrm>
            <a:off x="1464526" y="5946159"/>
            <a:ext cx="26340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smtClean="0"/>
              <a:t>输入</a:t>
            </a:r>
            <a:r>
              <a:rPr lang="en-US" altLang="zh-CN" b="1" dirty="0" smtClean="0"/>
              <a:t>(4,4)</a:t>
            </a:r>
            <a:r>
              <a:rPr lang="zh-CN" altLang="en-US" b="1" dirty="0" smtClean="0"/>
              <a:t>，</a:t>
            </a:r>
            <a:r>
              <a:rPr lang="zh-CN" altLang="en-US" b="1" dirty="0"/>
              <a:t>单通道</a:t>
            </a:r>
            <a:r>
              <a:rPr lang="zh-CN" altLang="en-US" b="1" dirty="0" smtClean="0"/>
              <a:t>填充</a:t>
            </a:r>
            <a:r>
              <a:rPr lang="en-US" altLang="zh-CN" b="1" dirty="0" smtClean="0"/>
              <a:t>1</a:t>
            </a:r>
            <a:endParaRPr lang="zh-CN" altLang="en-US" b="1" dirty="0"/>
          </a:p>
        </p:txBody>
      </p:sp>
      <p:graphicFrame>
        <p:nvGraphicFramePr>
          <p:cNvPr id="6" name="表格 5"/>
          <p:cNvGraphicFramePr>
            <a:graphicFrameLocks noGrp="1"/>
          </p:cNvGraphicFramePr>
          <p:nvPr>
            <p:extLst>
              <p:ext uri="{D42A27DB-BD31-4B8C-83A1-F6EECF244321}">
                <p14:modId xmlns:p14="http://schemas.microsoft.com/office/powerpoint/2010/main" val="1887281796"/>
              </p:ext>
            </p:extLst>
          </p:nvPr>
        </p:nvGraphicFramePr>
        <p:xfrm>
          <a:off x="5015978" y="3338247"/>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r>
                        <a:rPr lang="en-US" altLang="zh-CN" sz="1800" b="1" dirty="0" smtClean="0"/>
                        <a:t>0</a:t>
                      </a:r>
                      <a:endParaRPr lang="zh-CN" altLang="en-US" sz="1800" b="1" dirty="0"/>
                    </a:p>
                  </a:txBody>
                  <a:tcPr marL="91409" marR="91409" marT="45723" marB="45723"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09" marR="91409" marT="45723" marB="45723" anchor="ctr">
                    <a:solidFill>
                      <a:schemeClr val="accent2">
                        <a:lumMod val="20000"/>
                        <a:lumOff val="80000"/>
                      </a:schemeClr>
                    </a:solidFill>
                  </a:tcPr>
                </a:tc>
                <a:tc>
                  <a:txBody>
                    <a:bodyPr/>
                    <a:lstStyle/>
                    <a:p>
                      <a:pPr algn="ctr"/>
                      <a:r>
                        <a:rPr lang="en-US" altLang="zh-CN" sz="1800" b="1" dirty="0" smtClean="0"/>
                        <a:t>0</a:t>
                      </a: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r>
                        <a:rPr lang="en-US" altLang="zh-CN" sz="1800" b="1" dirty="0" smtClean="0"/>
                        <a:t>1</a:t>
                      </a:r>
                      <a:endParaRPr lang="zh-CN" altLang="en-US" sz="1800" b="1" dirty="0"/>
                    </a:p>
                  </a:txBody>
                  <a:tcPr marL="91409" marR="91409" marT="45723" marB="45723" anchor="ctr">
                    <a:solidFill>
                      <a:schemeClr val="accent2">
                        <a:lumMod val="20000"/>
                        <a:lumOff val="80000"/>
                      </a:schemeClr>
                    </a:solidFill>
                  </a:tcPr>
                </a:tc>
                <a:tc>
                  <a:txBody>
                    <a:bodyPr/>
                    <a:lstStyle/>
                    <a:p>
                      <a:pPr algn="ctr"/>
                      <a:r>
                        <a:rPr lang="en-US" altLang="zh-CN" sz="1800" b="1" dirty="0" smtClean="0"/>
                        <a:t>-4</a:t>
                      </a:r>
                      <a:endParaRPr lang="zh-CN" altLang="en-US" sz="1800" b="1" dirty="0"/>
                    </a:p>
                  </a:txBody>
                  <a:tcPr marL="91409" marR="91409" marT="45723" marB="45723"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r>
                        <a:rPr lang="en-US" altLang="zh-CN" sz="1800" b="1" dirty="0" smtClean="0"/>
                        <a:t>0</a:t>
                      </a:r>
                      <a:endParaRPr lang="zh-CN" altLang="en-US" sz="1800" b="1" dirty="0"/>
                    </a:p>
                  </a:txBody>
                  <a:tcPr marL="91409" marR="91409" marT="45723" marB="45723" anchor="ctr">
                    <a:solidFill>
                      <a:schemeClr val="accent2">
                        <a:lumMod val="20000"/>
                        <a:lumOff val="80000"/>
                      </a:schemeClr>
                    </a:solidFill>
                  </a:tcPr>
                </a:tc>
                <a:tc>
                  <a:txBody>
                    <a:bodyPr/>
                    <a:lstStyle/>
                    <a:p>
                      <a:pPr algn="ctr"/>
                      <a:r>
                        <a:rPr lang="en-US" altLang="zh-CN" sz="1800" b="1" dirty="0" smtClean="0"/>
                        <a:t>1</a:t>
                      </a:r>
                      <a:endParaRPr lang="zh-CN" altLang="en-US" sz="1800" b="1" dirty="0"/>
                    </a:p>
                  </a:txBody>
                  <a:tcPr marL="91409" marR="91409" marT="45723" marB="45723" anchor="ctr">
                    <a:solidFill>
                      <a:schemeClr val="accent2">
                        <a:lumMod val="20000"/>
                        <a:lumOff val="80000"/>
                      </a:schemeClr>
                    </a:solidFill>
                  </a:tcPr>
                </a:tc>
                <a:tc>
                  <a:txBody>
                    <a:bodyPr/>
                    <a:lstStyle/>
                    <a:p>
                      <a:pPr algn="ctr"/>
                      <a:r>
                        <a:rPr lang="en-US" altLang="zh-CN" sz="1800" b="1" dirty="0" smtClean="0"/>
                        <a:t>0</a:t>
                      </a:r>
                      <a:endParaRPr lang="zh-CN" altLang="en-US" sz="1800" b="1" dirty="0"/>
                    </a:p>
                  </a:txBody>
                  <a:tcPr marL="91409" marR="91409" marT="45723" marB="45723" anchor="ctr">
                    <a:solidFill>
                      <a:schemeClr val="accent2">
                        <a:lumMod val="20000"/>
                        <a:lumOff val="80000"/>
                      </a:schemeClr>
                    </a:solidFill>
                  </a:tcPr>
                </a:tc>
              </a:tr>
            </a:tbl>
          </a:graphicData>
        </a:graphic>
      </p:graphicFrame>
      <p:sp>
        <p:nvSpPr>
          <p:cNvPr id="7" name="文本框 22"/>
          <p:cNvSpPr txBox="1">
            <a:spLocks noChangeArrowheads="1"/>
          </p:cNvSpPr>
          <p:nvPr/>
        </p:nvSpPr>
        <p:spPr bwMode="auto">
          <a:xfrm>
            <a:off x="4999433" y="5946159"/>
            <a:ext cx="16690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smtClean="0"/>
              <a:t>1</a:t>
            </a:r>
            <a:r>
              <a:rPr lang="zh-CN" altLang="en-US" b="1" dirty="0" smtClean="0"/>
              <a:t>个</a:t>
            </a:r>
            <a:r>
              <a:rPr lang="en-US" altLang="zh-CN" b="1" dirty="0" smtClean="0"/>
              <a:t>3×3</a:t>
            </a:r>
            <a:r>
              <a:rPr lang="zh-CN" altLang="en-US" b="1" dirty="0"/>
              <a:t>卷积核</a:t>
            </a:r>
          </a:p>
        </p:txBody>
      </p:sp>
      <p:sp>
        <p:nvSpPr>
          <p:cNvPr id="8" name="文本框 21"/>
          <p:cNvSpPr txBox="1">
            <a:spLocks noChangeArrowheads="1"/>
          </p:cNvSpPr>
          <p:nvPr/>
        </p:nvSpPr>
        <p:spPr bwMode="auto">
          <a:xfrm>
            <a:off x="8511413" y="5943154"/>
            <a:ext cx="20441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smtClean="0"/>
              <a:t>输出</a:t>
            </a:r>
            <a:r>
              <a:rPr lang="en-US" altLang="zh-CN" b="1" dirty="0" smtClean="0"/>
              <a:t>(4,4)</a:t>
            </a:r>
            <a:r>
              <a:rPr lang="zh-CN" altLang="en-US" b="1" dirty="0" smtClean="0"/>
              <a:t>，单通道</a:t>
            </a:r>
            <a:endParaRPr lang="zh-CN" altLang="en-US" b="1" dirty="0"/>
          </a:p>
        </p:txBody>
      </p:sp>
      <p:sp>
        <p:nvSpPr>
          <p:cNvPr id="9" name="文本框 6"/>
          <p:cNvSpPr txBox="1">
            <a:spLocks noChangeArrowheads="1"/>
          </p:cNvSpPr>
          <p:nvPr/>
        </p:nvSpPr>
        <p:spPr bwMode="auto">
          <a:xfrm>
            <a:off x="4546816" y="3963722"/>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a:sym typeface="Wingdings 2" panose="05020102010507070707" pitchFamily="18" charset="2"/>
              </a:rPr>
              <a:t></a:t>
            </a:r>
            <a:endParaRPr lang="zh-CN" altLang="en-US"/>
          </a:p>
        </p:txBody>
      </p:sp>
      <p:sp>
        <p:nvSpPr>
          <p:cNvPr id="10" name="文本框 24"/>
          <p:cNvSpPr txBox="1">
            <a:spLocks noChangeArrowheads="1"/>
          </p:cNvSpPr>
          <p:nvPr/>
        </p:nvSpPr>
        <p:spPr bwMode="auto">
          <a:xfrm>
            <a:off x="6709280" y="3975457"/>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dirty="0">
                <a:sym typeface="Symbol" panose="05050102010706020507" pitchFamily="18" charset="2"/>
              </a:rPr>
              <a:t></a:t>
            </a:r>
            <a:endParaRPr lang="zh-CN" altLang="en-US" dirty="0"/>
          </a:p>
        </p:txBody>
      </p:sp>
      <p:graphicFrame>
        <p:nvGraphicFramePr>
          <p:cNvPr id="11" name="表格 10"/>
          <p:cNvGraphicFramePr>
            <a:graphicFrameLocks noGrp="1"/>
          </p:cNvGraphicFramePr>
          <p:nvPr>
            <p:extLst>
              <p:ext uri="{D42A27DB-BD31-4B8C-83A1-F6EECF244321}">
                <p14:modId xmlns:p14="http://schemas.microsoft.com/office/powerpoint/2010/main" val="1971240551"/>
              </p:ext>
            </p:extLst>
          </p:nvPr>
        </p:nvGraphicFramePr>
        <p:xfrm>
          <a:off x="7104567" y="3877997"/>
          <a:ext cx="541338" cy="541338"/>
        </p:xfrm>
        <a:graphic>
          <a:graphicData uri="http://schemas.openxmlformats.org/drawingml/2006/table">
            <a:tbl>
              <a:tblPr firstRow="1" bandRow="1">
                <a:tableStyleId>{5C22544A-7EE6-4342-B048-85BDC9FD1C3A}</a:tableStyleId>
              </a:tblPr>
              <a:tblGrid>
                <a:gridCol w="541338"/>
              </a:tblGrid>
              <a:tr h="541338">
                <a:tc>
                  <a:txBody>
                    <a:bodyPr/>
                    <a:lstStyle/>
                    <a:p>
                      <a:pPr algn="ctr"/>
                      <a:r>
                        <a:rPr lang="en-US" altLang="zh-CN" sz="1800" b="1" dirty="0" smtClean="0">
                          <a:solidFill>
                            <a:schemeClr val="tx1"/>
                          </a:solidFill>
                        </a:rPr>
                        <a:t>2</a:t>
                      </a:r>
                      <a:endParaRPr lang="zh-CN" altLang="en-US" sz="1800" b="1" dirty="0">
                        <a:solidFill>
                          <a:schemeClr val="tx1"/>
                        </a:solidFill>
                      </a:endParaRPr>
                    </a:p>
                  </a:txBody>
                  <a:tcPr marL="91678" marR="91678" marT="45839" marB="4583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r>
            </a:tbl>
          </a:graphicData>
        </a:graphic>
      </p:graphicFrame>
      <p:sp>
        <p:nvSpPr>
          <p:cNvPr id="12" name="文本框 23"/>
          <p:cNvSpPr txBox="1">
            <a:spLocks noChangeArrowheads="1"/>
          </p:cNvSpPr>
          <p:nvPr/>
        </p:nvSpPr>
        <p:spPr bwMode="auto">
          <a:xfrm>
            <a:off x="7104567" y="594315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a:t>偏置</a:t>
            </a:r>
          </a:p>
        </p:txBody>
      </p:sp>
      <p:graphicFrame>
        <p:nvGraphicFramePr>
          <p:cNvPr id="13" name="表格 12"/>
          <p:cNvGraphicFramePr>
            <a:graphicFrameLocks noGrp="1"/>
          </p:cNvGraphicFramePr>
          <p:nvPr>
            <p:extLst>
              <p:ext uri="{D42A27DB-BD31-4B8C-83A1-F6EECF244321}">
                <p14:modId xmlns:p14="http://schemas.microsoft.com/office/powerpoint/2010/main" val="1219436720"/>
              </p:ext>
            </p:extLst>
          </p:nvPr>
        </p:nvGraphicFramePr>
        <p:xfrm>
          <a:off x="8350070" y="3080901"/>
          <a:ext cx="2160588" cy="2159000"/>
        </p:xfrm>
        <a:graphic>
          <a:graphicData uri="http://schemas.openxmlformats.org/drawingml/2006/table">
            <a:tbl>
              <a:tblPr firstRow="1" bandRow="1">
                <a:tableStyleId>{5940675A-B579-460E-94D1-54222C63F5DA}</a:tableStyleId>
              </a:tblPr>
              <a:tblGrid>
                <a:gridCol w="540147"/>
                <a:gridCol w="540147"/>
                <a:gridCol w="540147"/>
                <a:gridCol w="540147"/>
              </a:tblGrid>
              <a:tr h="539750">
                <a:tc>
                  <a:txBody>
                    <a:bodyPr/>
                    <a:lstStyle/>
                    <a:p>
                      <a:pPr algn="ctr"/>
                      <a:r>
                        <a:rPr lang="en-US" altLang="zh-CN" sz="1800" b="1" dirty="0" smtClean="0"/>
                        <a:t>3</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-8</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3</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-4</a:t>
                      </a:r>
                      <a:endParaRPr lang="zh-CN" altLang="en-US" sz="1800" b="1" dirty="0"/>
                    </a:p>
                  </a:txBody>
                  <a:tcPr marL="91456" marR="91456" marT="45695" marB="45695" anchor="ctr">
                    <a:solidFill>
                      <a:schemeClr val="bg2">
                        <a:lumMod val="90000"/>
                      </a:schemeClr>
                    </a:solidFill>
                  </a:tcPr>
                </a:tc>
              </a:tr>
              <a:tr h="539750">
                <a:tc>
                  <a:txBody>
                    <a:bodyPr/>
                    <a:lstStyle/>
                    <a:p>
                      <a:pPr algn="ctr"/>
                      <a:r>
                        <a:rPr lang="en-US" altLang="zh-CN" sz="1800" b="1" dirty="0" smtClean="0"/>
                        <a:t>-3</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10</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5</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0</a:t>
                      </a:r>
                      <a:endParaRPr lang="zh-CN" altLang="en-US" sz="1800" b="1" dirty="0"/>
                    </a:p>
                  </a:txBody>
                  <a:tcPr marL="91456" marR="91456" marT="45695" marB="45695" anchor="ctr">
                    <a:solidFill>
                      <a:schemeClr val="bg2">
                        <a:lumMod val="90000"/>
                      </a:schemeClr>
                    </a:solidFill>
                  </a:tcPr>
                </a:tc>
              </a:tr>
              <a:tr h="539750">
                <a:tc>
                  <a:txBody>
                    <a:bodyPr/>
                    <a:lstStyle/>
                    <a:p>
                      <a:pPr algn="ctr"/>
                      <a:r>
                        <a:rPr lang="en-US" altLang="zh-CN" sz="1800" b="1" dirty="0" smtClean="0"/>
                        <a:t>0</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-2</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3</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5</a:t>
                      </a:r>
                      <a:endParaRPr lang="zh-CN" altLang="en-US" sz="1800" b="1" dirty="0"/>
                    </a:p>
                  </a:txBody>
                  <a:tcPr marL="91456" marR="91456" marT="45695" marB="45695" anchor="ctr">
                    <a:solidFill>
                      <a:schemeClr val="bg2">
                        <a:lumMod val="90000"/>
                      </a:schemeClr>
                    </a:solidFill>
                  </a:tcPr>
                </a:tc>
              </a:tr>
              <a:tr h="539750">
                <a:tc>
                  <a:txBody>
                    <a:bodyPr/>
                    <a:lstStyle/>
                    <a:p>
                      <a:pPr algn="ctr"/>
                      <a:r>
                        <a:rPr lang="en-US" altLang="zh-CN" sz="1800" b="1" dirty="0" smtClean="0"/>
                        <a:t>5</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-12</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1</a:t>
                      </a:r>
                      <a:endParaRPr lang="zh-CN" altLang="en-US" sz="1800" b="1" dirty="0"/>
                    </a:p>
                  </a:txBody>
                  <a:tcPr marL="91456" marR="91456" marT="45695" marB="45695" anchor="ctr">
                    <a:solidFill>
                      <a:schemeClr val="bg2">
                        <a:lumMod val="90000"/>
                      </a:schemeClr>
                    </a:solidFill>
                  </a:tcPr>
                </a:tc>
                <a:tc>
                  <a:txBody>
                    <a:bodyPr/>
                    <a:lstStyle/>
                    <a:p>
                      <a:pPr algn="ctr"/>
                      <a:r>
                        <a:rPr lang="en-US" altLang="zh-CN" sz="1800" b="1" dirty="0" smtClean="0"/>
                        <a:t>0</a:t>
                      </a:r>
                      <a:endParaRPr lang="zh-CN" altLang="en-US" sz="1800" b="1" dirty="0"/>
                    </a:p>
                  </a:txBody>
                  <a:tcPr marL="91456" marR="91456" marT="45695" marB="45695" anchor="ctr">
                    <a:solidFill>
                      <a:schemeClr val="bg2">
                        <a:lumMod val="90000"/>
                      </a:schemeClr>
                    </a:solidFill>
                  </a:tcPr>
                </a:tc>
              </a:tr>
            </a:tbl>
          </a:graphicData>
        </a:graphic>
      </p:graphicFrame>
      <p:sp>
        <p:nvSpPr>
          <p:cNvPr id="14" name="文本框 23"/>
          <p:cNvSpPr txBox="1">
            <a:spLocks noChangeArrowheads="1"/>
          </p:cNvSpPr>
          <p:nvPr/>
        </p:nvSpPr>
        <p:spPr bwMode="auto">
          <a:xfrm>
            <a:off x="7750898" y="3976013"/>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a:t>
            </a:r>
            <a:endParaRPr lang="zh-CN" altLang="en-US" b="1" dirty="0"/>
          </a:p>
        </p:txBody>
      </p:sp>
    </p:spTree>
    <p:extLst>
      <p:ext uri="{BB962C8B-B14F-4D97-AF65-F5344CB8AC3E}">
        <p14:creationId xmlns:p14="http://schemas.microsoft.com/office/powerpoint/2010/main" val="29262503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 name="表格 33"/>
          <p:cNvGraphicFramePr>
            <a:graphicFrameLocks noGrp="1"/>
          </p:cNvGraphicFramePr>
          <p:nvPr>
            <p:extLst>
              <p:ext uri="{D42A27DB-BD31-4B8C-83A1-F6EECF244321}">
                <p14:modId xmlns:p14="http://schemas.microsoft.com/office/powerpoint/2010/main" val="1383369030"/>
              </p:ext>
            </p:extLst>
          </p:nvPr>
        </p:nvGraphicFramePr>
        <p:xfrm>
          <a:off x="9600530" y="2528351"/>
          <a:ext cx="2160588" cy="2159000"/>
        </p:xfrm>
        <a:graphic>
          <a:graphicData uri="http://schemas.openxmlformats.org/drawingml/2006/table">
            <a:tbl>
              <a:tblPr firstRow="1" bandRow="1">
                <a:tableStyleId>{5940675A-B579-460E-94D1-54222C63F5DA}</a:tableStyleId>
              </a:tblPr>
              <a:tblGrid>
                <a:gridCol w="540147"/>
                <a:gridCol w="540147"/>
                <a:gridCol w="540147"/>
                <a:gridCol w="540147"/>
              </a:tblGrid>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bl>
          </a:graphicData>
        </a:graphic>
      </p:graphicFrame>
      <p:graphicFrame>
        <p:nvGraphicFramePr>
          <p:cNvPr id="33" name="表格 32"/>
          <p:cNvGraphicFramePr>
            <a:graphicFrameLocks noGrp="1"/>
          </p:cNvGraphicFramePr>
          <p:nvPr>
            <p:extLst>
              <p:ext uri="{D42A27DB-BD31-4B8C-83A1-F6EECF244321}">
                <p14:modId xmlns:p14="http://schemas.microsoft.com/office/powerpoint/2010/main" val="2114749413"/>
              </p:ext>
            </p:extLst>
          </p:nvPr>
        </p:nvGraphicFramePr>
        <p:xfrm>
          <a:off x="9229235" y="2874860"/>
          <a:ext cx="2160588" cy="2159000"/>
        </p:xfrm>
        <a:graphic>
          <a:graphicData uri="http://schemas.openxmlformats.org/drawingml/2006/table">
            <a:tbl>
              <a:tblPr firstRow="1" bandRow="1">
                <a:tableStyleId>{5940675A-B579-460E-94D1-54222C63F5DA}</a:tableStyleId>
              </a:tblPr>
              <a:tblGrid>
                <a:gridCol w="540147"/>
                <a:gridCol w="540147"/>
                <a:gridCol w="540147"/>
                <a:gridCol w="540147"/>
              </a:tblGrid>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bl>
          </a:graphicData>
        </a:graphic>
      </p:graphicFrame>
      <p:graphicFrame>
        <p:nvGraphicFramePr>
          <p:cNvPr id="32" name="表格 31"/>
          <p:cNvGraphicFramePr>
            <a:graphicFrameLocks noGrp="1"/>
          </p:cNvGraphicFramePr>
          <p:nvPr>
            <p:extLst>
              <p:ext uri="{D42A27DB-BD31-4B8C-83A1-F6EECF244321}">
                <p14:modId xmlns:p14="http://schemas.microsoft.com/office/powerpoint/2010/main" val="4219560104"/>
              </p:ext>
            </p:extLst>
          </p:nvPr>
        </p:nvGraphicFramePr>
        <p:xfrm>
          <a:off x="9098165" y="3019238"/>
          <a:ext cx="2160588" cy="2159000"/>
        </p:xfrm>
        <a:graphic>
          <a:graphicData uri="http://schemas.openxmlformats.org/drawingml/2006/table">
            <a:tbl>
              <a:tblPr firstRow="1" bandRow="1">
                <a:tableStyleId>{5940675A-B579-460E-94D1-54222C63F5DA}</a:tableStyleId>
              </a:tblPr>
              <a:tblGrid>
                <a:gridCol w="540147"/>
                <a:gridCol w="540147"/>
                <a:gridCol w="540147"/>
                <a:gridCol w="540147"/>
              </a:tblGrid>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bl>
          </a:graphicData>
        </a:graphic>
      </p:graphicFrame>
      <p:graphicFrame>
        <p:nvGraphicFramePr>
          <p:cNvPr id="16" name="表格 15"/>
          <p:cNvGraphicFramePr>
            <a:graphicFrameLocks noGrp="1"/>
          </p:cNvGraphicFramePr>
          <p:nvPr>
            <p:extLst>
              <p:ext uri="{D42A27DB-BD31-4B8C-83A1-F6EECF244321}">
                <p14:modId xmlns:p14="http://schemas.microsoft.com/office/powerpoint/2010/main" val="2399120193"/>
              </p:ext>
            </p:extLst>
          </p:nvPr>
        </p:nvGraphicFramePr>
        <p:xfrm>
          <a:off x="1105170" y="2247223"/>
          <a:ext cx="3238500" cy="3240090"/>
        </p:xfrm>
        <a:graphic>
          <a:graphicData uri="http://schemas.openxmlformats.org/drawingml/2006/table">
            <a:tbl>
              <a:tblPr firstRow="1" bandRow="1">
                <a:effectLst>
                  <a:outerShdw blurRad="50800" dist="50800" dir="5400000" algn="ctr" rotWithShape="0">
                    <a:srgbClr val="000000">
                      <a:alpha val="30000"/>
                    </a:srgbClr>
                  </a:outerShdw>
                </a:effectLst>
                <a:tableStyleId>{5940675A-B579-460E-94D1-54222C63F5DA}</a:tableStyleId>
              </a:tblPr>
              <a:tblGrid>
                <a:gridCol w="539750"/>
                <a:gridCol w="539750"/>
                <a:gridCol w="539750"/>
                <a:gridCol w="539750"/>
                <a:gridCol w="539750"/>
                <a:gridCol w="539750"/>
              </a:tblGrid>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r>
            </a:tbl>
          </a:graphicData>
        </a:graphic>
      </p:graphicFrame>
      <p:graphicFrame>
        <p:nvGraphicFramePr>
          <p:cNvPr id="15" name="表格 14"/>
          <p:cNvGraphicFramePr>
            <a:graphicFrameLocks noGrp="1"/>
          </p:cNvGraphicFramePr>
          <p:nvPr>
            <p:extLst>
              <p:ext uri="{D42A27DB-BD31-4B8C-83A1-F6EECF244321}">
                <p14:modId xmlns:p14="http://schemas.microsoft.com/office/powerpoint/2010/main" val="357681744"/>
              </p:ext>
            </p:extLst>
          </p:nvPr>
        </p:nvGraphicFramePr>
        <p:xfrm>
          <a:off x="960773" y="2364023"/>
          <a:ext cx="3238500" cy="3240090"/>
        </p:xfrm>
        <a:graphic>
          <a:graphicData uri="http://schemas.openxmlformats.org/drawingml/2006/table">
            <a:tbl>
              <a:tblPr firstRow="1" bandRow="1">
                <a:effectLst>
                  <a:outerShdw blurRad="50800" dist="50800" dir="5400000" algn="ctr" rotWithShape="0">
                    <a:srgbClr val="000000">
                      <a:alpha val="30000"/>
                    </a:srgbClr>
                  </a:outerShdw>
                </a:effectLst>
                <a:tableStyleId>{5940675A-B579-460E-94D1-54222C63F5DA}</a:tableStyleId>
              </a:tblPr>
              <a:tblGrid>
                <a:gridCol w="539750"/>
                <a:gridCol w="539750"/>
                <a:gridCol w="539750"/>
                <a:gridCol w="539750"/>
                <a:gridCol w="539750"/>
                <a:gridCol w="539750"/>
              </a:tblGrid>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r>
            </a:tbl>
          </a:graphicData>
        </a:graphic>
      </p:graphicFrame>
      <p:sp>
        <p:nvSpPr>
          <p:cNvPr id="2" name="标题 1"/>
          <p:cNvSpPr>
            <a:spLocks noGrp="1"/>
          </p:cNvSpPr>
          <p:nvPr>
            <p:ph type="title"/>
          </p:nvPr>
        </p:nvSpPr>
        <p:spPr/>
        <p:txBody>
          <a:bodyPr/>
          <a:lstStyle/>
          <a:p>
            <a:r>
              <a:rPr lang="zh-CN" altLang="en-US" dirty="0" smtClean="0"/>
              <a:t>步长与填充总结</a:t>
            </a:r>
            <a:endParaRPr lang="zh-CN" altLang="en-US" dirty="0"/>
          </a:p>
        </p:txBody>
      </p:sp>
      <p:sp>
        <p:nvSpPr>
          <p:cNvPr id="3" name="内容占位符 2"/>
          <p:cNvSpPr>
            <a:spLocks noGrp="1"/>
          </p:cNvSpPr>
          <p:nvPr>
            <p:ph sz="quarter" idx="13"/>
          </p:nvPr>
        </p:nvSpPr>
        <p:spPr/>
        <p:txBody>
          <a:bodyPr/>
          <a:lstStyle/>
          <a:p>
            <a:r>
              <a:rPr lang="zh-CN" altLang="en-US" dirty="0" smtClean="0"/>
              <a:t>一般情况：</a:t>
            </a:r>
            <a:endParaRPr lang="en-US" altLang="zh-CN" dirty="0" smtClean="0"/>
          </a:p>
          <a:p>
            <a:r>
              <a:rPr lang="zh-CN" altLang="en-US" dirty="0" smtClean="0"/>
              <a:t>该卷积层所含参数数量为</a:t>
            </a:r>
            <a:r>
              <a:rPr lang="en-US" altLang="zh-CN" dirty="0" smtClean="0"/>
              <a:t>F</a:t>
            </a:r>
            <a:r>
              <a:rPr lang="en-US" altLang="zh-CN" baseline="30000" dirty="0" smtClean="0"/>
              <a:t>2</a:t>
            </a:r>
            <a:r>
              <a:rPr lang="en-US" altLang="zh-CN" b="1" dirty="0" smtClean="0"/>
              <a:t>×</a:t>
            </a:r>
            <a:r>
              <a:rPr lang="en-US" altLang="zh-CN" dirty="0" smtClean="0"/>
              <a:t>D</a:t>
            </a:r>
            <a:r>
              <a:rPr lang="en-US" altLang="zh-CN" baseline="-25000" dirty="0" smtClean="0"/>
              <a:t>1</a:t>
            </a:r>
            <a:r>
              <a:rPr lang="en-US" altLang="zh-CN" b="1" dirty="0"/>
              <a:t>×</a:t>
            </a:r>
            <a:r>
              <a:rPr lang="en-US" altLang="zh-CN" dirty="0" smtClean="0"/>
              <a:t>K + K</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4135534624"/>
              </p:ext>
            </p:extLst>
          </p:nvPr>
        </p:nvGraphicFramePr>
        <p:xfrm>
          <a:off x="830184" y="2482361"/>
          <a:ext cx="3238500" cy="3240090"/>
        </p:xfrm>
        <a:graphic>
          <a:graphicData uri="http://schemas.openxmlformats.org/drawingml/2006/table">
            <a:tbl>
              <a:tblPr firstRow="1" bandRow="1">
                <a:tableStyleId>{5940675A-B579-460E-94D1-54222C63F5DA}</a:tableStyleId>
              </a:tblPr>
              <a:tblGrid>
                <a:gridCol w="539750"/>
                <a:gridCol w="539750"/>
                <a:gridCol w="539750"/>
                <a:gridCol w="539750"/>
                <a:gridCol w="539750"/>
                <a:gridCol w="539750"/>
              </a:tblGrid>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solidFill>
                      <a:schemeClr val="bg2">
                        <a:lumMod val="90000"/>
                      </a:schemeClr>
                    </a:solidFill>
                  </a:tcPr>
                </a:tc>
                <a:tc>
                  <a:txBody>
                    <a:bodyPr/>
                    <a:lstStyle/>
                    <a:p>
                      <a:pPr algn="ctr"/>
                      <a:endParaRPr lang="zh-CN" altLang="en-US" sz="1800" b="1" dirty="0"/>
                    </a:p>
                  </a:txBody>
                  <a:tcPr marL="91389" marR="91389" marT="45717" marB="45717" anchor="ctr"/>
                </a:tc>
              </a:tr>
              <a:tr h="540015">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c>
                  <a:txBody>
                    <a:bodyPr/>
                    <a:lstStyle/>
                    <a:p>
                      <a:pPr algn="ctr"/>
                      <a:endParaRPr lang="zh-CN" altLang="en-US" sz="1800" b="1" dirty="0"/>
                    </a:p>
                  </a:txBody>
                  <a:tcPr marL="91389" marR="91389" marT="45717" marB="45717" anchor="ctr"/>
                </a:tc>
              </a:tr>
            </a:tbl>
          </a:graphicData>
        </a:graphic>
      </p:graphicFrame>
      <p:sp>
        <p:nvSpPr>
          <p:cNvPr id="5" name="文本框 21"/>
          <p:cNvSpPr txBox="1">
            <a:spLocks noChangeArrowheads="1"/>
          </p:cNvSpPr>
          <p:nvPr/>
        </p:nvSpPr>
        <p:spPr bwMode="auto">
          <a:xfrm>
            <a:off x="669925" y="5767942"/>
            <a:ext cx="39917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smtClean="0"/>
              <a:t>输入</a:t>
            </a:r>
            <a:r>
              <a:rPr lang="en-US" altLang="zh-CN" b="1" dirty="0" smtClean="0"/>
              <a:t>(W</a:t>
            </a:r>
            <a:r>
              <a:rPr lang="en-US" altLang="zh-CN" b="1" baseline="-25000" dirty="0" smtClean="0"/>
              <a:t>1</a:t>
            </a:r>
            <a:r>
              <a:rPr lang="zh-CN" altLang="en-US" b="1" dirty="0" smtClean="0"/>
              <a:t>，</a:t>
            </a:r>
            <a:r>
              <a:rPr lang="en-US" altLang="zh-CN" b="1" dirty="0" smtClean="0"/>
              <a:t>H</a:t>
            </a:r>
            <a:r>
              <a:rPr lang="en-US" altLang="zh-CN" b="1" baseline="-25000" dirty="0" smtClean="0"/>
              <a:t>1</a:t>
            </a:r>
            <a:r>
              <a:rPr lang="en-US" altLang="zh-CN" b="1" dirty="0" smtClean="0"/>
              <a:t>)</a:t>
            </a:r>
            <a:r>
              <a:rPr lang="zh-CN" altLang="en-US" b="1" dirty="0" smtClean="0"/>
              <a:t>，通道</a:t>
            </a:r>
            <a:r>
              <a:rPr lang="en-US" altLang="zh-CN" b="1" dirty="0" smtClean="0"/>
              <a:t>D</a:t>
            </a:r>
            <a:r>
              <a:rPr lang="en-US" altLang="zh-CN" b="1" baseline="-25000" dirty="0" smtClean="0"/>
              <a:t>1</a:t>
            </a:r>
            <a:r>
              <a:rPr lang="zh-CN" altLang="en-US" b="1" dirty="0" smtClean="0"/>
              <a:t>填充</a:t>
            </a:r>
            <a:r>
              <a:rPr lang="en-US" altLang="zh-CN" b="1" dirty="0" smtClean="0"/>
              <a:t>P</a:t>
            </a:r>
            <a:r>
              <a:rPr lang="zh-CN" altLang="en-US" b="1" dirty="0" smtClean="0"/>
              <a:t>，步长</a:t>
            </a:r>
            <a:r>
              <a:rPr lang="en-US" altLang="zh-CN" b="1" dirty="0" smtClean="0"/>
              <a:t>S</a:t>
            </a:r>
            <a:endParaRPr lang="zh-CN" altLang="en-US" b="1" dirty="0"/>
          </a:p>
        </p:txBody>
      </p:sp>
      <p:sp>
        <p:nvSpPr>
          <p:cNvPr id="7" name="文本框 22"/>
          <p:cNvSpPr txBox="1">
            <a:spLocks noChangeArrowheads="1"/>
          </p:cNvSpPr>
          <p:nvPr/>
        </p:nvSpPr>
        <p:spPr bwMode="auto">
          <a:xfrm>
            <a:off x="4988330" y="5762658"/>
            <a:ext cx="246259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smtClean="0"/>
              <a:t>K</a:t>
            </a:r>
            <a:r>
              <a:rPr lang="zh-CN" altLang="en-US" b="1" dirty="0" smtClean="0"/>
              <a:t>个</a:t>
            </a:r>
            <a:r>
              <a:rPr lang="en-US" altLang="zh-CN" b="1" dirty="0" smtClean="0"/>
              <a:t>(F,F)</a:t>
            </a:r>
            <a:r>
              <a:rPr lang="zh-CN" altLang="en-US" b="1" dirty="0" smtClean="0"/>
              <a:t>通道</a:t>
            </a:r>
            <a:r>
              <a:rPr lang="en-US" altLang="zh-CN" b="1" dirty="0"/>
              <a:t>D</a:t>
            </a:r>
            <a:r>
              <a:rPr lang="en-US" altLang="zh-CN" b="1" baseline="-25000" dirty="0"/>
              <a:t>1</a:t>
            </a:r>
            <a:r>
              <a:rPr lang="zh-CN" altLang="en-US" b="1" dirty="0" smtClean="0"/>
              <a:t>卷积</a:t>
            </a:r>
            <a:r>
              <a:rPr lang="zh-CN" altLang="en-US" b="1" dirty="0"/>
              <a:t>核</a:t>
            </a:r>
          </a:p>
        </p:txBody>
      </p:sp>
      <p:sp>
        <p:nvSpPr>
          <p:cNvPr id="8" name="文本框 21"/>
          <p:cNvSpPr txBox="1">
            <a:spLocks noChangeArrowheads="1"/>
          </p:cNvSpPr>
          <p:nvPr/>
        </p:nvSpPr>
        <p:spPr bwMode="auto">
          <a:xfrm>
            <a:off x="8867333" y="5767942"/>
            <a:ext cx="27286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smtClean="0"/>
              <a:t>输出</a:t>
            </a:r>
            <a:r>
              <a:rPr lang="en-US" altLang="zh-CN" b="1" dirty="0" smtClean="0"/>
              <a:t>(W</a:t>
            </a:r>
            <a:r>
              <a:rPr lang="en-US" altLang="zh-CN" b="1" baseline="-25000" dirty="0" smtClean="0"/>
              <a:t>2</a:t>
            </a:r>
            <a:r>
              <a:rPr lang="en-US" altLang="zh-CN" b="1" dirty="0" smtClean="0"/>
              <a:t>,H</a:t>
            </a:r>
            <a:r>
              <a:rPr lang="en-US" altLang="zh-CN" b="1" baseline="-25000" dirty="0" smtClean="0"/>
              <a:t>2</a:t>
            </a:r>
            <a:r>
              <a:rPr lang="en-US" altLang="zh-CN" b="1" dirty="0" smtClean="0"/>
              <a:t>)</a:t>
            </a:r>
            <a:r>
              <a:rPr lang="zh-CN" altLang="en-US" b="1" dirty="0" smtClean="0"/>
              <a:t>，</a:t>
            </a:r>
            <a:r>
              <a:rPr lang="en-US" altLang="zh-CN" b="1" dirty="0"/>
              <a:t> </a:t>
            </a:r>
            <a:r>
              <a:rPr lang="en-US" altLang="zh-CN" b="1" dirty="0" smtClean="0"/>
              <a:t>D</a:t>
            </a:r>
            <a:r>
              <a:rPr lang="en-US" altLang="zh-CN" b="1" baseline="-25000" dirty="0"/>
              <a:t>2</a:t>
            </a:r>
            <a:r>
              <a:rPr lang="en-US" altLang="zh-CN" b="1" dirty="0" smtClean="0"/>
              <a:t>=K</a:t>
            </a:r>
            <a:r>
              <a:rPr lang="zh-CN" altLang="en-US" b="1" dirty="0" smtClean="0"/>
              <a:t>通道</a:t>
            </a:r>
            <a:endParaRPr lang="zh-CN" altLang="en-US" b="1" dirty="0"/>
          </a:p>
        </p:txBody>
      </p:sp>
      <p:sp>
        <p:nvSpPr>
          <p:cNvPr id="9" name="文本框 6"/>
          <p:cNvSpPr txBox="1">
            <a:spLocks noChangeArrowheads="1"/>
          </p:cNvSpPr>
          <p:nvPr/>
        </p:nvSpPr>
        <p:spPr bwMode="auto">
          <a:xfrm>
            <a:off x="4449859" y="3661013"/>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dirty="0">
                <a:sym typeface="Wingdings 2" panose="05020102010507070707" pitchFamily="18" charset="2"/>
              </a:rPr>
              <a:t></a:t>
            </a:r>
            <a:endParaRPr lang="zh-CN" altLang="en-US" dirty="0"/>
          </a:p>
        </p:txBody>
      </p:sp>
      <p:sp>
        <p:nvSpPr>
          <p:cNvPr id="10" name="文本框 24"/>
          <p:cNvSpPr txBox="1">
            <a:spLocks noChangeArrowheads="1"/>
          </p:cNvSpPr>
          <p:nvPr/>
        </p:nvSpPr>
        <p:spPr bwMode="auto">
          <a:xfrm>
            <a:off x="7148614" y="3661013"/>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dirty="0">
                <a:sym typeface="Symbol" panose="05050102010706020507" pitchFamily="18" charset="2"/>
              </a:rPr>
              <a:t></a:t>
            </a:r>
            <a:endParaRPr lang="zh-CN" altLang="en-US" dirty="0"/>
          </a:p>
        </p:txBody>
      </p:sp>
      <p:graphicFrame>
        <p:nvGraphicFramePr>
          <p:cNvPr id="11" name="表格 10"/>
          <p:cNvGraphicFramePr>
            <a:graphicFrameLocks noGrp="1"/>
          </p:cNvGraphicFramePr>
          <p:nvPr>
            <p:extLst>
              <p:ext uri="{D42A27DB-BD31-4B8C-83A1-F6EECF244321}">
                <p14:modId xmlns:p14="http://schemas.microsoft.com/office/powerpoint/2010/main" val="30749019"/>
              </p:ext>
            </p:extLst>
          </p:nvPr>
        </p:nvGraphicFramePr>
        <p:xfrm>
          <a:off x="7535324" y="1851452"/>
          <a:ext cx="541338" cy="541338"/>
        </p:xfrm>
        <a:graphic>
          <a:graphicData uri="http://schemas.openxmlformats.org/drawingml/2006/table">
            <a:tbl>
              <a:tblPr firstRow="1" bandRow="1">
                <a:tableStyleId>{5C22544A-7EE6-4342-B048-85BDC9FD1C3A}</a:tableStyleId>
              </a:tblPr>
              <a:tblGrid>
                <a:gridCol w="541338"/>
              </a:tblGrid>
              <a:tr h="541338">
                <a:tc>
                  <a:txBody>
                    <a:bodyPr/>
                    <a:lstStyle/>
                    <a:p>
                      <a:pPr algn="ctr"/>
                      <a:endParaRPr lang="zh-CN" altLang="en-US" sz="1800" b="1" dirty="0">
                        <a:solidFill>
                          <a:schemeClr val="tx1"/>
                        </a:solidFill>
                      </a:endParaRPr>
                    </a:p>
                  </a:txBody>
                  <a:tcPr marL="91678" marR="91678" marT="45839" marB="4583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r>
            </a:tbl>
          </a:graphicData>
        </a:graphic>
      </p:graphicFrame>
      <p:sp>
        <p:nvSpPr>
          <p:cNvPr id="12" name="文本框 23"/>
          <p:cNvSpPr txBox="1">
            <a:spLocks noChangeArrowheads="1"/>
          </p:cNvSpPr>
          <p:nvPr/>
        </p:nvSpPr>
        <p:spPr bwMode="auto">
          <a:xfrm>
            <a:off x="7413946" y="5767942"/>
            <a:ext cx="10823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smtClean="0"/>
              <a:t>K</a:t>
            </a:r>
            <a:r>
              <a:rPr lang="zh-CN" altLang="en-US" b="1" dirty="0" smtClean="0"/>
              <a:t>个偏置</a:t>
            </a:r>
            <a:endParaRPr lang="zh-CN" altLang="en-US" b="1" dirty="0"/>
          </a:p>
        </p:txBody>
      </p:sp>
      <p:graphicFrame>
        <p:nvGraphicFramePr>
          <p:cNvPr id="13" name="表格 12"/>
          <p:cNvGraphicFramePr>
            <a:graphicFrameLocks noGrp="1"/>
          </p:cNvGraphicFramePr>
          <p:nvPr>
            <p:extLst>
              <p:ext uri="{D42A27DB-BD31-4B8C-83A1-F6EECF244321}">
                <p14:modId xmlns:p14="http://schemas.microsoft.com/office/powerpoint/2010/main" val="2997190911"/>
              </p:ext>
            </p:extLst>
          </p:nvPr>
        </p:nvGraphicFramePr>
        <p:xfrm>
          <a:off x="8972490" y="3145971"/>
          <a:ext cx="2160588" cy="2159000"/>
        </p:xfrm>
        <a:graphic>
          <a:graphicData uri="http://schemas.openxmlformats.org/drawingml/2006/table">
            <a:tbl>
              <a:tblPr firstRow="1" bandRow="1">
                <a:tableStyleId>{5940675A-B579-460E-94D1-54222C63F5DA}</a:tableStyleId>
              </a:tblPr>
              <a:tblGrid>
                <a:gridCol w="540147"/>
                <a:gridCol w="540147"/>
                <a:gridCol w="540147"/>
                <a:gridCol w="540147"/>
              </a:tblGrid>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bl>
          </a:graphicData>
        </a:graphic>
      </p:graphicFrame>
      <p:sp>
        <p:nvSpPr>
          <p:cNvPr id="14" name="文本框 23"/>
          <p:cNvSpPr txBox="1">
            <a:spLocks noChangeArrowheads="1"/>
          </p:cNvSpPr>
          <p:nvPr/>
        </p:nvSpPr>
        <p:spPr bwMode="auto">
          <a:xfrm>
            <a:off x="8529792" y="3658929"/>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a:t>
            </a:r>
            <a:endParaRPr lang="zh-CN" altLang="en-US" b="1" dirty="0"/>
          </a:p>
        </p:txBody>
      </p:sp>
      <p:graphicFrame>
        <p:nvGraphicFramePr>
          <p:cNvPr id="19" name="表格 18"/>
          <p:cNvGraphicFramePr>
            <a:graphicFrameLocks noGrp="1"/>
          </p:cNvGraphicFramePr>
          <p:nvPr>
            <p:extLst>
              <p:ext uri="{D42A27DB-BD31-4B8C-83A1-F6EECF244321}">
                <p14:modId xmlns:p14="http://schemas.microsoft.com/office/powerpoint/2010/main" val="3631778699"/>
              </p:ext>
            </p:extLst>
          </p:nvPr>
        </p:nvGraphicFramePr>
        <p:xfrm>
          <a:off x="5364093" y="3819494"/>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graphicFrame>
        <p:nvGraphicFramePr>
          <p:cNvPr id="20" name="表格 19"/>
          <p:cNvGraphicFramePr>
            <a:graphicFrameLocks noGrp="1"/>
          </p:cNvGraphicFramePr>
          <p:nvPr>
            <p:extLst>
              <p:ext uri="{D42A27DB-BD31-4B8C-83A1-F6EECF244321}">
                <p14:modId xmlns:p14="http://schemas.microsoft.com/office/powerpoint/2010/main" val="2347070496"/>
              </p:ext>
            </p:extLst>
          </p:nvPr>
        </p:nvGraphicFramePr>
        <p:xfrm>
          <a:off x="5220059" y="3946058"/>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graphicFrame>
        <p:nvGraphicFramePr>
          <p:cNvPr id="21" name="表格 20"/>
          <p:cNvGraphicFramePr>
            <a:graphicFrameLocks noGrp="1"/>
          </p:cNvGraphicFramePr>
          <p:nvPr>
            <p:extLst>
              <p:ext uri="{D42A27DB-BD31-4B8C-83A1-F6EECF244321}">
                <p14:modId xmlns:p14="http://schemas.microsoft.com/office/powerpoint/2010/main" val="4058419113"/>
              </p:ext>
            </p:extLst>
          </p:nvPr>
        </p:nvGraphicFramePr>
        <p:xfrm>
          <a:off x="5117962" y="4062262"/>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graphicFrame>
        <p:nvGraphicFramePr>
          <p:cNvPr id="22" name="表格 21"/>
          <p:cNvGraphicFramePr>
            <a:graphicFrameLocks noGrp="1"/>
          </p:cNvGraphicFramePr>
          <p:nvPr>
            <p:extLst>
              <p:ext uri="{D42A27DB-BD31-4B8C-83A1-F6EECF244321}">
                <p14:modId xmlns:p14="http://schemas.microsoft.com/office/powerpoint/2010/main" val="3662276177"/>
              </p:ext>
            </p:extLst>
          </p:nvPr>
        </p:nvGraphicFramePr>
        <p:xfrm>
          <a:off x="5429868" y="1209435"/>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graphicFrame>
        <p:nvGraphicFramePr>
          <p:cNvPr id="23" name="表格 22"/>
          <p:cNvGraphicFramePr>
            <a:graphicFrameLocks noGrp="1"/>
          </p:cNvGraphicFramePr>
          <p:nvPr>
            <p:extLst>
              <p:ext uri="{D42A27DB-BD31-4B8C-83A1-F6EECF244321}">
                <p14:modId xmlns:p14="http://schemas.microsoft.com/office/powerpoint/2010/main" val="3969256859"/>
              </p:ext>
            </p:extLst>
          </p:nvPr>
        </p:nvGraphicFramePr>
        <p:xfrm>
          <a:off x="5285834" y="1335999"/>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graphicFrame>
        <p:nvGraphicFramePr>
          <p:cNvPr id="24" name="表格 23"/>
          <p:cNvGraphicFramePr>
            <a:graphicFrameLocks noGrp="1"/>
          </p:cNvGraphicFramePr>
          <p:nvPr>
            <p:extLst>
              <p:ext uri="{D42A27DB-BD31-4B8C-83A1-F6EECF244321}">
                <p14:modId xmlns:p14="http://schemas.microsoft.com/office/powerpoint/2010/main" val="1341885079"/>
              </p:ext>
            </p:extLst>
          </p:nvPr>
        </p:nvGraphicFramePr>
        <p:xfrm>
          <a:off x="5183737" y="1452203"/>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sp>
        <p:nvSpPr>
          <p:cNvPr id="25" name="文本框 24"/>
          <p:cNvSpPr txBox="1"/>
          <p:nvPr/>
        </p:nvSpPr>
        <p:spPr>
          <a:xfrm>
            <a:off x="5743470" y="3176337"/>
            <a:ext cx="461665" cy="553998"/>
          </a:xfrm>
          <a:prstGeom prst="rect">
            <a:avLst/>
          </a:prstGeom>
          <a:noFill/>
        </p:spPr>
        <p:txBody>
          <a:bodyPr vert="eaVert" wrap="none" rtlCol="0">
            <a:spAutoFit/>
          </a:bodyPr>
          <a:lstStyle/>
          <a:p>
            <a:r>
              <a:rPr lang="en-US" altLang="zh-CN" dirty="0" smtClean="0"/>
              <a:t>······</a:t>
            </a:r>
            <a:endParaRPr lang="zh-CN" altLang="en-US" dirty="0"/>
          </a:p>
        </p:txBody>
      </p:sp>
      <p:sp>
        <p:nvSpPr>
          <p:cNvPr id="26" name="文本框 25"/>
          <p:cNvSpPr txBox="1"/>
          <p:nvPr/>
        </p:nvSpPr>
        <p:spPr>
          <a:xfrm>
            <a:off x="7525108" y="3140964"/>
            <a:ext cx="461665" cy="553998"/>
          </a:xfrm>
          <a:prstGeom prst="rect">
            <a:avLst/>
          </a:prstGeom>
          <a:noFill/>
        </p:spPr>
        <p:txBody>
          <a:bodyPr vert="eaVert" wrap="none" rtlCol="0">
            <a:spAutoFit/>
          </a:bodyPr>
          <a:lstStyle/>
          <a:p>
            <a:r>
              <a:rPr lang="en-US" altLang="zh-CN" dirty="0" smtClean="0"/>
              <a:t>······</a:t>
            </a:r>
            <a:endParaRPr lang="zh-CN" altLang="en-US" dirty="0"/>
          </a:p>
        </p:txBody>
      </p:sp>
      <p:graphicFrame>
        <p:nvGraphicFramePr>
          <p:cNvPr id="28" name="表格 27"/>
          <p:cNvGraphicFramePr>
            <a:graphicFrameLocks noGrp="1"/>
          </p:cNvGraphicFramePr>
          <p:nvPr>
            <p:extLst>
              <p:ext uri="{D42A27DB-BD31-4B8C-83A1-F6EECF244321}">
                <p14:modId xmlns:p14="http://schemas.microsoft.com/office/powerpoint/2010/main" val="1896164751"/>
              </p:ext>
            </p:extLst>
          </p:nvPr>
        </p:nvGraphicFramePr>
        <p:xfrm>
          <a:off x="7535324" y="4476362"/>
          <a:ext cx="541338" cy="541338"/>
        </p:xfrm>
        <a:graphic>
          <a:graphicData uri="http://schemas.openxmlformats.org/drawingml/2006/table">
            <a:tbl>
              <a:tblPr firstRow="1" bandRow="1">
                <a:tableStyleId>{5C22544A-7EE6-4342-B048-85BDC9FD1C3A}</a:tableStyleId>
              </a:tblPr>
              <a:tblGrid>
                <a:gridCol w="541338"/>
              </a:tblGrid>
              <a:tr h="541338">
                <a:tc>
                  <a:txBody>
                    <a:bodyPr/>
                    <a:lstStyle/>
                    <a:p>
                      <a:pPr algn="ctr"/>
                      <a:endParaRPr lang="zh-CN" altLang="en-US" sz="1800" b="1" dirty="0">
                        <a:solidFill>
                          <a:schemeClr val="tx1"/>
                        </a:solidFill>
                      </a:endParaRPr>
                    </a:p>
                  </a:txBody>
                  <a:tcPr marL="91678" marR="91678" marT="45839" marB="4583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2">
                        <a:lumMod val="20000"/>
                        <a:lumOff val="80000"/>
                      </a:schemeClr>
                    </a:solidFill>
                  </a:tcPr>
                </a:tc>
              </a:tr>
            </a:tbl>
          </a:graphicData>
        </a:graphic>
      </p:graphicFrame>
      <p:sp>
        <p:nvSpPr>
          <p:cNvPr id="30" name="文本框 29"/>
          <p:cNvSpPr txBox="1"/>
          <p:nvPr/>
        </p:nvSpPr>
        <p:spPr>
          <a:xfrm>
            <a:off x="5924517" y="3114782"/>
            <a:ext cx="322524" cy="584775"/>
          </a:xfrm>
          <a:prstGeom prst="rect">
            <a:avLst/>
          </a:prstGeom>
          <a:noFill/>
        </p:spPr>
        <p:txBody>
          <a:bodyPr wrap="none" rtlCol="0">
            <a:spAutoFit/>
          </a:bodyPr>
          <a:lstStyle/>
          <a:p>
            <a:r>
              <a:rPr lang="en-US" altLang="zh-CN" sz="3200" dirty="0" smtClean="0"/>
              <a:t>}</a:t>
            </a:r>
            <a:endParaRPr lang="zh-CN" altLang="en-US" sz="3200" dirty="0"/>
          </a:p>
        </p:txBody>
      </p:sp>
      <p:sp>
        <p:nvSpPr>
          <p:cNvPr id="31" name="文本框 30"/>
          <p:cNvSpPr txBox="1"/>
          <p:nvPr/>
        </p:nvSpPr>
        <p:spPr>
          <a:xfrm>
            <a:off x="7708805" y="3074593"/>
            <a:ext cx="322524" cy="584775"/>
          </a:xfrm>
          <a:prstGeom prst="rect">
            <a:avLst/>
          </a:prstGeom>
          <a:noFill/>
        </p:spPr>
        <p:txBody>
          <a:bodyPr wrap="none" rtlCol="0">
            <a:spAutoFit/>
          </a:bodyPr>
          <a:lstStyle/>
          <a:p>
            <a:r>
              <a:rPr lang="en-US" altLang="zh-CN" sz="3200" dirty="0" smtClean="0"/>
              <a:t>}</a:t>
            </a:r>
            <a:endParaRPr lang="zh-CN" altLang="en-US" sz="3200" dirty="0"/>
          </a:p>
        </p:txBody>
      </p:sp>
      <p:sp>
        <p:nvSpPr>
          <p:cNvPr id="35" name="文本框 34"/>
          <p:cNvSpPr txBox="1"/>
          <p:nvPr/>
        </p:nvSpPr>
        <p:spPr>
          <a:xfrm rot="2700000">
            <a:off x="9207440" y="2578227"/>
            <a:ext cx="461665" cy="323165"/>
          </a:xfrm>
          <a:prstGeom prst="rect">
            <a:avLst/>
          </a:prstGeom>
          <a:noFill/>
        </p:spPr>
        <p:txBody>
          <a:bodyPr vert="eaVert" wrap="none" rtlCol="0">
            <a:spAutoFit/>
          </a:bodyPr>
          <a:lstStyle/>
          <a:p>
            <a:r>
              <a:rPr lang="en-US" altLang="zh-CN" dirty="0" smtClean="0"/>
              <a:t>···</a:t>
            </a:r>
            <a:endParaRPr lang="zh-CN" altLang="en-US" dirty="0"/>
          </a:p>
        </p:txBody>
      </p:sp>
      <p:sp>
        <p:nvSpPr>
          <p:cNvPr id="37" name="文本框 36"/>
          <p:cNvSpPr txBox="1"/>
          <p:nvPr/>
        </p:nvSpPr>
        <p:spPr>
          <a:xfrm rot="2700000">
            <a:off x="9226650" y="2448212"/>
            <a:ext cx="261610" cy="369332"/>
          </a:xfrm>
          <a:prstGeom prst="rect">
            <a:avLst/>
          </a:prstGeom>
          <a:noFill/>
        </p:spPr>
        <p:txBody>
          <a:bodyPr wrap="none" rtlCol="0">
            <a:spAutoFit/>
          </a:bodyPr>
          <a:lstStyle/>
          <a:p>
            <a:r>
              <a:rPr lang="en-US" altLang="zh-CN" dirty="0" smtClean="0"/>
              <a:t>{</a:t>
            </a:r>
            <a:endParaRPr lang="zh-CN" altLang="en-US" dirty="0"/>
          </a:p>
        </p:txBody>
      </p:sp>
      <p:sp>
        <p:nvSpPr>
          <p:cNvPr id="38" name="文本框 37"/>
          <p:cNvSpPr txBox="1"/>
          <p:nvPr/>
        </p:nvSpPr>
        <p:spPr>
          <a:xfrm rot="-2700000">
            <a:off x="8791683" y="2277665"/>
            <a:ext cx="800219" cy="369332"/>
          </a:xfrm>
          <a:prstGeom prst="rect">
            <a:avLst/>
          </a:prstGeom>
          <a:noFill/>
        </p:spPr>
        <p:txBody>
          <a:bodyPr wrap="none" rtlCol="0">
            <a:spAutoFit/>
          </a:bodyPr>
          <a:lstStyle/>
          <a:p>
            <a:r>
              <a:rPr lang="en-US" altLang="zh-CN" dirty="0" smtClean="0"/>
              <a:t>K</a:t>
            </a:r>
            <a:r>
              <a:rPr lang="zh-CN" altLang="en-US" dirty="0" smtClean="0"/>
              <a:t>通道</a:t>
            </a:r>
            <a:endParaRPr lang="zh-CN" altLang="en-US" dirty="0"/>
          </a:p>
        </p:txBody>
      </p:sp>
      <p:sp>
        <p:nvSpPr>
          <p:cNvPr id="40" name="文本框 39"/>
          <p:cNvSpPr txBox="1"/>
          <p:nvPr/>
        </p:nvSpPr>
        <p:spPr>
          <a:xfrm>
            <a:off x="6123842" y="3261813"/>
            <a:ext cx="569387" cy="369332"/>
          </a:xfrm>
          <a:prstGeom prst="rect">
            <a:avLst/>
          </a:prstGeom>
          <a:noFill/>
        </p:spPr>
        <p:txBody>
          <a:bodyPr wrap="none" rtlCol="0">
            <a:spAutoFit/>
          </a:bodyPr>
          <a:lstStyle/>
          <a:p>
            <a:r>
              <a:rPr lang="en-US" altLang="zh-CN" dirty="0" smtClean="0"/>
              <a:t>K</a:t>
            </a:r>
            <a:r>
              <a:rPr lang="zh-CN" altLang="en-US" dirty="0" smtClean="0"/>
              <a:t>个</a:t>
            </a:r>
            <a:endParaRPr lang="zh-CN" altLang="en-US" dirty="0"/>
          </a:p>
        </p:txBody>
      </p:sp>
      <p:sp>
        <p:nvSpPr>
          <p:cNvPr id="41" name="文本框 40"/>
          <p:cNvSpPr txBox="1"/>
          <p:nvPr/>
        </p:nvSpPr>
        <p:spPr>
          <a:xfrm>
            <a:off x="7911539" y="3222503"/>
            <a:ext cx="569387" cy="369332"/>
          </a:xfrm>
          <a:prstGeom prst="rect">
            <a:avLst/>
          </a:prstGeom>
          <a:noFill/>
        </p:spPr>
        <p:txBody>
          <a:bodyPr wrap="none" rtlCol="0">
            <a:spAutoFit/>
          </a:bodyPr>
          <a:lstStyle/>
          <a:p>
            <a:r>
              <a:rPr lang="en-US" altLang="zh-CN" dirty="0" smtClean="0"/>
              <a:t>K</a:t>
            </a:r>
            <a:r>
              <a:rPr lang="zh-CN" altLang="en-US" dirty="0" smtClean="0"/>
              <a:t>个</a:t>
            </a:r>
            <a:endParaRPr lang="zh-CN" altLang="en-US" dirty="0"/>
          </a:p>
        </p:txBody>
      </p:sp>
      <p:sp>
        <p:nvSpPr>
          <p:cNvPr id="43" name="矩形 42"/>
          <p:cNvSpPr/>
          <p:nvPr/>
        </p:nvSpPr>
        <p:spPr>
          <a:xfrm>
            <a:off x="4986779" y="1130299"/>
            <a:ext cx="3610466" cy="5001691"/>
          </a:xfrm>
          <a:prstGeom prst="rect">
            <a:avLst/>
          </a:prstGeom>
          <a:solidFill>
            <a:schemeClr val="accent1">
              <a:alpha val="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397655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激活层</a:t>
            </a:r>
            <a:endParaRPr lang="zh-CN" altLang="en-US" dirty="0"/>
          </a:p>
        </p:txBody>
      </p:sp>
      <p:sp>
        <p:nvSpPr>
          <p:cNvPr id="3" name="内容占位符 2"/>
          <p:cNvSpPr>
            <a:spLocks noGrp="1"/>
          </p:cNvSpPr>
          <p:nvPr>
            <p:ph sz="quarter" idx="13"/>
          </p:nvPr>
        </p:nvSpPr>
        <p:spPr/>
        <p:txBody>
          <a:bodyPr/>
          <a:lstStyle/>
          <a:p>
            <a:r>
              <a:rPr lang="zh-CN" altLang="en-US" dirty="0" smtClean="0"/>
              <a:t>卷积神经网络就是由一系列卷积层经过激活而得。</a:t>
            </a:r>
            <a:endParaRPr lang="en-US" altLang="zh-CN" dirty="0" smtClean="0"/>
          </a:p>
          <a:p>
            <a:r>
              <a:rPr lang="zh-CN" altLang="en-US" dirty="0" smtClean="0"/>
              <a:t>神经网络常用的激活函数：</a:t>
            </a:r>
            <a:endParaRPr lang="en-US" altLang="zh-CN" dirty="0" smtClean="0"/>
          </a:p>
          <a:p>
            <a:pPr lvl="1"/>
            <a:r>
              <a:rPr lang="en-US" altLang="zh-CN" dirty="0" smtClean="0"/>
              <a:t>Sigmoid</a:t>
            </a:r>
          </a:p>
          <a:p>
            <a:pPr lvl="1"/>
            <a:r>
              <a:rPr lang="en-US" altLang="zh-CN" dirty="0" err="1"/>
              <a:t>tanh</a:t>
            </a:r>
            <a:endParaRPr lang="en-US" altLang="zh-CN" dirty="0"/>
          </a:p>
          <a:p>
            <a:pPr lvl="1"/>
            <a:r>
              <a:rPr lang="en-US" altLang="zh-CN" dirty="0" err="1" smtClean="0"/>
              <a:t>ReLU</a:t>
            </a:r>
            <a:endParaRPr lang="en-US" altLang="zh-CN" dirty="0" smtClean="0"/>
          </a:p>
          <a:p>
            <a:pPr lvl="1"/>
            <a:r>
              <a:rPr lang="en-US" altLang="zh-CN" dirty="0" smtClean="0"/>
              <a:t>Leaky </a:t>
            </a:r>
            <a:r>
              <a:rPr lang="en-US" altLang="zh-CN" dirty="0" err="1" smtClean="0"/>
              <a:t>ReLU</a:t>
            </a:r>
            <a:endParaRPr lang="en-US" altLang="zh-CN" dirty="0" smtClean="0"/>
          </a:p>
          <a:p>
            <a:pPr lvl="1"/>
            <a:r>
              <a:rPr lang="en-US" altLang="zh-CN" dirty="0" err="1" smtClean="0"/>
              <a:t>Maxout</a:t>
            </a:r>
            <a:endParaRPr lang="en-US" altLang="zh-CN" dirty="0" smtClean="0"/>
          </a:p>
          <a:p>
            <a:pPr lvl="1"/>
            <a:r>
              <a:rPr lang="en-US" altLang="zh-CN" dirty="0" smtClean="0"/>
              <a:t>ELU</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06860" y="2331560"/>
            <a:ext cx="8440714" cy="3805714"/>
          </a:xfrm>
          <a:prstGeom prst="rect">
            <a:avLst/>
          </a:prstGeom>
        </p:spPr>
      </p:pic>
    </p:spTree>
    <p:extLst>
      <p:ext uri="{BB962C8B-B14F-4D97-AF65-F5344CB8AC3E}">
        <p14:creationId xmlns:p14="http://schemas.microsoft.com/office/powerpoint/2010/main" val="8433409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池化层</a:t>
            </a:r>
            <a:endParaRPr lang="zh-CN" altLang="en-US" dirty="0"/>
          </a:p>
        </p:txBody>
      </p:sp>
      <p:sp>
        <p:nvSpPr>
          <p:cNvPr id="3" name="内容占位符 2"/>
          <p:cNvSpPr>
            <a:spLocks noGrp="1"/>
          </p:cNvSpPr>
          <p:nvPr>
            <p:ph sz="quarter" idx="13"/>
          </p:nvPr>
        </p:nvSpPr>
        <p:spPr/>
        <p:txBody>
          <a:bodyPr/>
          <a:lstStyle/>
          <a:p>
            <a:r>
              <a:rPr lang="zh-CN" altLang="en-US" dirty="0" smtClean="0"/>
              <a:t>池化是对图像进行压缩的一种方法：</a:t>
            </a:r>
            <a:endParaRPr lang="en-US" altLang="zh-CN" dirty="0" smtClean="0"/>
          </a:p>
          <a:p>
            <a:pPr lvl="1"/>
            <a:r>
              <a:rPr lang="zh-CN" altLang="en-US" dirty="0" smtClean="0"/>
              <a:t>本质是一个下采样</a:t>
            </a:r>
            <a:endParaRPr lang="en-US" altLang="zh-CN" dirty="0" smtClean="0"/>
          </a:p>
          <a:p>
            <a:pPr lvl="1"/>
            <a:r>
              <a:rPr lang="zh-CN" altLang="en-US" dirty="0" smtClean="0"/>
              <a:t>减少参数与后续计算量</a:t>
            </a:r>
            <a:endParaRPr lang="en-US" altLang="zh-CN" dirty="0" smtClean="0"/>
          </a:p>
          <a:p>
            <a:pPr lvl="1"/>
            <a:r>
              <a:rPr lang="zh-CN" altLang="en-US" dirty="0" smtClean="0"/>
              <a:t>基本不影响特征提取</a:t>
            </a:r>
            <a:endParaRPr lang="en-US" altLang="zh-CN" dirty="0" smtClean="0"/>
          </a:p>
          <a:p>
            <a:pPr lvl="1"/>
            <a:r>
              <a:rPr lang="zh-CN" altLang="en-US" dirty="0" smtClean="0"/>
              <a:t>没有要学习的参数，计算非常简单</a:t>
            </a:r>
            <a:endParaRPr lang="en-US" altLang="zh-CN" dirty="0" smtClean="0"/>
          </a:p>
          <a:p>
            <a:pPr lvl="1"/>
            <a:r>
              <a:rPr lang="zh-CN" altLang="en-US" dirty="0"/>
              <a:t>不</a:t>
            </a:r>
            <a:r>
              <a:rPr lang="zh-CN" altLang="en-US" dirty="0" smtClean="0"/>
              <a:t>改变输入特征图的通道数</a:t>
            </a:r>
            <a:endParaRPr lang="en-US" altLang="zh-CN" dirty="0"/>
          </a:p>
          <a:p>
            <a:r>
              <a:rPr lang="zh-CN" altLang="en-US" dirty="0"/>
              <a:t>池</a:t>
            </a:r>
            <a:r>
              <a:rPr lang="zh-CN" altLang="en-US" dirty="0" smtClean="0"/>
              <a:t>化常见方法：</a:t>
            </a:r>
            <a:endParaRPr lang="en-US" altLang="zh-CN" dirty="0" smtClean="0"/>
          </a:p>
          <a:p>
            <a:pPr lvl="1"/>
            <a:r>
              <a:rPr lang="zh-CN" altLang="en-US" dirty="0" smtClean="0"/>
              <a:t>最大池化</a:t>
            </a:r>
            <a:endParaRPr lang="en-US" altLang="zh-CN" dirty="0" smtClean="0"/>
          </a:p>
          <a:p>
            <a:pPr lvl="1"/>
            <a:r>
              <a:rPr lang="zh-CN" altLang="en-US" dirty="0" smtClean="0"/>
              <a:t>平均池化</a:t>
            </a:r>
          </a:p>
        </p:txBody>
      </p:sp>
      <p:pic>
        <p:nvPicPr>
          <p:cNvPr id="6" name="图片 5"/>
          <p:cNvPicPr>
            <a:picLocks noChangeAspect="1"/>
          </p:cNvPicPr>
          <p:nvPr/>
        </p:nvPicPr>
        <p:blipFill>
          <a:blip r:embed="rId3"/>
          <a:stretch>
            <a:fillRect/>
          </a:stretch>
        </p:blipFill>
        <p:spPr>
          <a:xfrm>
            <a:off x="5383061" y="1532269"/>
            <a:ext cx="6137427" cy="4605005"/>
          </a:xfrm>
          <a:prstGeom prst="rect">
            <a:avLst/>
          </a:prstGeom>
        </p:spPr>
      </p:pic>
    </p:spTree>
    <p:extLst>
      <p:ext uri="{BB962C8B-B14F-4D97-AF65-F5344CB8AC3E}">
        <p14:creationId xmlns:p14="http://schemas.microsoft.com/office/powerpoint/2010/main" val="12873846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池化层计算</a:t>
            </a:r>
            <a:endParaRPr lang="zh-CN" altLang="en-US" dirty="0"/>
          </a:p>
        </p:txBody>
      </p:sp>
      <p:sp>
        <p:nvSpPr>
          <p:cNvPr id="3" name="内容占位符 2"/>
          <p:cNvSpPr>
            <a:spLocks noGrp="1"/>
          </p:cNvSpPr>
          <p:nvPr>
            <p:ph sz="quarter" idx="13"/>
          </p:nvPr>
        </p:nvSpPr>
        <p:spPr/>
        <p:txBody>
          <a:bodyPr/>
          <a:lstStyle/>
          <a:p>
            <a:r>
              <a:rPr lang="zh-CN" altLang="en-US" dirty="0" smtClean="0"/>
              <a:t>池化层的计算非常简单：</a:t>
            </a:r>
            <a:endParaRPr lang="en-US" altLang="zh-CN" dirty="0" smtClean="0"/>
          </a:p>
          <a:p>
            <a:pPr lvl="1"/>
            <a:r>
              <a:rPr lang="zh-CN" altLang="en-US" dirty="0"/>
              <a:t>池</a:t>
            </a:r>
            <a:r>
              <a:rPr lang="zh-CN" altLang="en-US" dirty="0" smtClean="0"/>
              <a:t>化卷积核尺寸（</a:t>
            </a:r>
            <a:r>
              <a:rPr lang="en-US" altLang="zh-CN" dirty="0" smtClean="0"/>
              <a:t>F</a:t>
            </a:r>
            <a:r>
              <a:rPr lang="zh-CN" altLang="en-US" dirty="0" smtClean="0"/>
              <a:t>，</a:t>
            </a:r>
            <a:r>
              <a:rPr lang="en-US" altLang="zh-CN" dirty="0" smtClean="0"/>
              <a:t>F</a:t>
            </a:r>
            <a:r>
              <a:rPr lang="zh-CN" altLang="en-US" dirty="0" smtClean="0"/>
              <a:t>）</a:t>
            </a:r>
            <a:endParaRPr lang="en-US" altLang="zh-CN" dirty="0" smtClean="0"/>
          </a:p>
          <a:p>
            <a:pPr lvl="1"/>
            <a:r>
              <a:rPr lang="zh-CN" altLang="en-US" dirty="0" smtClean="0"/>
              <a:t>步长为</a:t>
            </a:r>
            <a:r>
              <a:rPr lang="en-US" altLang="zh-CN" dirty="0" smtClean="0"/>
              <a:t>S</a:t>
            </a:r>
          </a:p>
          <a:p>
            <a:pPr lvl="1"/>
            <a:r>
              <a:rPr lang="zh-CN" altLang="en-US" dirty="0" smtClean="0"/>
              <a:t>填充为</a:t>
            </a:r>
            <a:r>
              <a:rPr lang="en-US" altLang="zh-CN" dirty="0" smtClean="0"/>
              <a:t>P</a:t>
            </a:r>
            <a:r>
              <a:rPr lang="zh-CN" altLang="en-US" dirty="0" smtClean="0"/>
              <a:t>（一般不做填充）</a:t>
            </a:r>
            <a:endParaRPr lang="en-US" altLang="zh-CN" dirty="0" smtClean="0"/>
          </a:p>
          <a:p>
            <a:r>
              <a:rPr lang="zh-CN" altLang="en-US" dirty="0" smtClean="0"/>
              <a:t>右图是一个典型的池化示例。</a:t>
            </a:r>
            <a:endParaRPr lang="en-US" altLang="zh-CN" dirty="0" smtClean="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3270" y="1610385"/>
            <a:ext cx="5907218" cy="4046802"/>
          </a:xfrm>
          <a:prstGeom prst="rect">
            <a:avLst/>
          </a:prstGeom>
        </p:spPr>
      </p:pic>
    </p:spTree>
    <p:extLst>
      <p:ext uri="{BB962C8B-B14F-4D97-AF65-F5344CB8AC3E}">
        <p14:creationId xmlns:p14="http://schemas.microsoft.com/office/powerpoint/2010/main" val="39227468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池化层</a:t>
            </a:r>
            <a:endParaRPr lang="zh-CN" altLang="en-US" dirty="0"/>
          </a:p>
        </p:txBody>
      </p:sp>
      <p:sp>
        <p:nvSpPr>
          <p:cNvPr id="5" name="内容占位符 4"/>
          <p:cNvSpPr>
            <a:spLocks noGrp="1"/>
          </p:cNvSpPr>
          <p:nvPr>
            <p:ph sz="quarter" idx="13"/>
          </p:nvPr>
        </p:nvSpPr>
        <p:spPr/>
        <p:txBody>
          <a:bodyPr/>
          <a:lstStyle/>
          <a:p>
            <a:r>
              <a:rPr lang="zh-CN" altLang="en-US" dirty="0" smtClean="0"/>
              <a:t>池化层优点：</a:t>
            </a:r>
            <a:endParaRPr lang="en-US" altLang="zh-CN" dirty="0" smtClean="0"/>
          </a:p>
          <a:p>
            <a:pPr lvl="1"/>
            <a:r>
              <a:rPr lang="zh-CN" altLang="en-US" dirty="0" smtClean="0"/>
              <a:t>降低尺寸，减少参数，提高计算速度</a:t>
            </a:r>
            <a:endParaRPr lang="en-US" altLang="zh-CN" dirty="0" smtClean="0"/>
          </a:p>
          <a:p>
            <a:pPr lvl="1"/>
            <a:r>
              <a:rPr lang="zh-CN" altLang="en-US" dirty="0" smtClean="0"/>
              <a:t>保留主要特征，不影响特征提取</a:t>
            </a:r>
            <a:endParaRPr lang="en-US" altLang="zh-CN" dirty="0" smtClean="0"/>
          </a:p>
          <a:p>
            <a:pPr lvl="1"/>
            <a:r>
              <a:rPr lang="zh-CN" altLang="en-US" dirty="0"/>
              <a:t>增大卷积核</a:t>
            </a:r>
            <a:r>
              <a:rPr lang="zh-CN" altLang="en-US" dirty="0" smtClean="0"/>
              <a:t>感受野，防止过拟合</a:t>
            </a:r>
            <a:endParaRPr lang="en-US" altLang="zh-CN" dirty="0" smtClean="0"/>
          </a:p>
          <a:p>
            <a:r>
              <a:rPr lang="zh-CN" altLang="en-US" dirty="0"/>
              <a:t>右图是一个完整的卷积神经网络处理过程</a:t>
            </a:r>
            <a:endParaRPr lang="en-US" altLang="zh-CN" dirty="0"/>
          </a:p>
          <a:p>
            <a:pPr lvl="1"/>
            <a:r>
              <a:rPr lang="zh-CN" altLang="en-US" dirty="0" smtClean="0"/>
              <a:t>卷积层，池化层，激活层通常一同出现</a:t>
            </a:r>
            <a:endParaRPr lang="en-US" altLang="zh-CN" dirty="0" smtClean="0"/>
          </a:p>
          <a:p>
            <a:pPr lvl="1"/>
            <a:r>
              <a:rPr lang="zh-CN" altLang="en-US" dirty="0"/>
              <a:t>三</a:t>
            </a:r>
            <a:r>
              <a:rPr lang="zh-CN" altLang="en-US" dirty="0" smtClean="0"/>
              <a:t>者结合使用提取不同维度的特征</a:t>
            </a:r>
            <a:endParaRPr lang="en-US" altLang="zh-CN" dirty="0" smtClean="0"/>
          </a:p>
          <a:p>
            <a:pPr lvl="1"/>
            <a:r>
              <a:rPr lang="zh-CN" altLang="en-US" dirty="0" smtClean="0"/>
              <a:t>通常多卷积层</a:t>
            </a:r>
            <a:r>
              <a:rPr lang="en-US" altLang="zh-CN" dirty="0" smtClean="0"/>
              <a:t>+</a:t>
            </a:r>
            <a:r>
              <a:rPr lang="zh-CN" altLang="en-US" dirty="0" smtClean="0"/>
              <a:t>激活层后进行一次池化</a:t>
            </a:r>
            <a:endParaRPr lang="en-US" altLang="zh-CN" dirty="0"/>
          </a:p>
          <a:p>
            <a:pPr lvl="1"/>
            <a:endParaRPr lang="zh-CN" alt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4495" y="1980185"/>
            <a:ext cx="5545993" cy="3307202"/>
          </a:xfrm>
          <a:prstGeom prst="rect">
            <a:avLst/>
          </a:prstGeom>
        </p:spPr>
      </p:pic>
    </p:spTree>
    <p:extLst>
      <p:ext uri="{BB962C8B-B14F-4D97-AF65-F5344CB8AC3E}">
        <p14:creationId xmlns:p14="http://schemas.microsoft.com/office/powerpoint/2010/main" val="18903854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全连接层</a:t>
            </a:r>
            <a:endParaRPr lang="zh-CN" altLang="en-US" dirty="0"/>
          </a:p>
        </p:txBody>
      </p:sp>
      <p:sp>
        <p:nvSpPr>
          <p:cNvPr id="3" name="内容占位符 2"/>
          <p:cNvSpPr>
            <a:spLocks noGrp="1"/>
          </p:cNvSpPr>
          <p:nvPr>
            <p:ph sz="quarter" idx="13"/>
          </p:nvPr>
        </p:nvSpPr>
        <p:spPr/>
        <p:txBody>
          <a:bodyPr/>
          <a:lstStyle/>
          <a:p>
            <a:r>
              <a:rPr lang="zh-CN" altLang="en-US" dirty="0" smtClean="0"/>
              <a:t>全连接层</a:t>
            </a:r>
            <a:endParaRPr lang="en-US" altLang="zh-CN" dirty="0" smtClean="0"/>
          </a:p>
          <a:p>
            <a:pPr lvl="1"/>
            <a:r>
              <a:rPr lang="zh-CN" altLang="en-US" dirty="0" smtClean="0"/>
              <a:t>包含权重向量</a:t>
            </a:r>
            <a:r>
              <a:rPr lang="en-US" altLang="zh-CN" dirty="0" smtClean="0"/>
              <a:t>W</a:t>
            </a:r>
            <a:r>
              <a:rPr lang="zh-CN" altLang="en-US" dirty="0" smtClean="0"/>
              <a:t>和激活函数</a:t>
            </a:r>
            <a:endParaRPr lang="en-US" altLang="zh-CN" dirty="0" smtClean="0"/>
          </a:p>
          <a:p>
            <a:pPr lvl="1"/>
            <a:r>
              <a:rPr lang="zh-CN" altLang="en-US" dirty="0" smtClean="0"/>
              <a:t>通常</a:t>
            </a:r>
            <a:r>
              <a:rPr lang="zh-CN" altLang="en-US" dirty="0"/>
              <a:t>不止一</a:t>
            </a:r>
            <a:r>
              <a:rPr lang="zh-CN" altLang="en-US" dirty="0" smtClean="0"/>
              <a:t>层，位于卷积神经网络末端</a:t>
            </a:r>
            <a:endParaRPr lang="en-US" altLang="zh-CN" dirty="0" smtClean="0"/>
          </a:p>
          <a:p>
            <a:pPr lvl="1"/>
            <a:r>
              <a:rPr lang="zh-CN" altLang="en-US" dirty="0" smtClean="0"/>
              <a:t>将最后</a:t>
            </a:r>
            <a:r>
              <a:rPr lang="zh-CN" altLang="en-US" dirty="0"/>
              <a:t>一层卷积得到的特征</a:t>
            </a:r>
            <a:r>
              <a:rPr lang="zh-CN" altLang="en-US" dirty="0" smtClean="0"/>
              <a:t>图</a:t>
            </a:r>
            <a:r>
              <a:rPr lang="zh-CN" altLang="en-US" dirty="0"/>
              <a:t>展开成一维</a:t>
            </a:r>
            <a:r>
              <a:rPr lang="zh-CN" altLang="en-US" dirty="0" smtClean="0"/>
              <a:t>向量</a:t>
            </a:r>
            <a:endParaRPr lang="en-US" altLang="zh-CN" dirty="0" smtClean="0"/>
          </a:p>
          <a:p>
            <a:pPr lvl="1"/>
            <a:r>
              <a:rPr lang="zh-CN" altLang="en-US" dirty="0"/>
              <a:t>起</a:t>
            </a:r>
            <a:r>
              <a:rPr lang="zh-CN" altLang="en-US" dirty="0" smtClean="0"/>
              <a:t>到分类的作用</a:t>
            </a:r>
            <a:endParaRPr lang="en-US" altLang="zh-CN" dirty="0" smtClean="0"/>
          </a:p>
          <a:p>
            <a:r>
              <a:rPr lang="zh-CN" altLang="en-US" dirty="0"/>
              <a:t>全连接</a:t>
            </a:r>
            <a:r>
              <a:rPr lang="zh-CN" altLang="en-US" dirty="0" smtClean="0"/>
              <a:t>层将上层特征图中所有的值拉伸成</a:t>
            </a:r>
            <a:r>
              <a:rPr lang="en-US" altLang="zh-CN" dirty="0" smtClean="0"/>
              <a:t>1×m</a:t>
            </a:r>
            <a:r>
              <a:rPr lang="zh-CN" altLang="en-US" dirty="0" smtClean="0"/>
              <a:t>作为输入</a:t>
            </a:r>
            <a:endParaRPr lang="en-US" altLang="zh-CN" dirty="0" smtClean="0"/>
          </a:p>
          <a:p>
            <a:r>
              <a:rPr lang="en-US" altLang="zh-CN" dirty="0"/>
              <a:t>n</a:t>
            </a:r>
            <a:r>
              <a:rPr lang="zh-CN" altLang="en-US" dirty="0" smtClean="0"/>
              <a:t>维权重向量</a:t>
            </a:r>
            <a:r>
              <a:rPr lang="en-US" altLang="zh-CN" dirty="0" smtClean="0"/>
              <a:t>W</a:t>
            </a:r>
            <a:r>
              <a:rPr lang="zh-CN" altLang="en-US" dirty="0" smtClean="0"/>
              <a:t>与输入点乘，得到</a:t>
            </a:r>
            <a:r>
              <a:rPr lang="en-US" altLang="zh-CN" dirty="0" smtClean="0"/>
              <a:t>1×n</a:t>
            </a:r>
            <a:r>
              <a:rPr lang="zh-CN" altLang="en-US" dirty="0" smtClean="0"/>
              <a:t>作为输出</a:t>
            </a:r>
          </a:p>
        </p:txBody>
      </p:sp>
      <p:pic>
        <p:nvPicPr>
          <p:cNvPr id="7" name="图片 6"/>
          <p:cNvPicPr>
            <a:picLocks noChangeAspect="1"/>
          </p:cNvPicPr>
          <p:nvPr/>
        </p:nvPicPr>
        <p:blipFill>
          <a:blip r:embed="rId3"/>
          <a:stretch>
            <a:fillRect/>
          </a:stretch>
        </p:blipFill>
        <p:spPr>
          <a:xfrm>
            <a:off x="2495206" y="4902731"/>
            <a:ext cx="7200000" cy="1234543"/>
          </a:xfrm>
          <a:prstGeom prst="rect">
            <a:avLst/>
          </a:prstGeom>
        </p:spPr>
      </p:pic>
    </p:spTree>
    <p:extLst>
      <p:ext uri="{BB962C8B-B14F-4D97-AF65-F5344CB8AC3E}">
        <p14:creationId xmlns:p14="http://schemas.microsoft.com/office/powerpoint/2010/main" val="8540036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全连接层</a:t>
            </a:r>
            <a:endParaRPr lang="zh-CN" altLang="en-US" dirty="0"/>
          </a:p>
        </p:txBody>
      </p:sp>
      <p:sp>
        <p:nvSpPr>
          <p:cNvPr id="3" name="内容占位符 2"/>
          <p:cNvSpPr>
            <a:spLocks noGrp="1"/>
          </p:cNvSpPr>
          <p:nvPr>
            <p:ph sz="quarter" idx="13"/>
          </p:nvPr>
        </p:nvSpPr>
        <p:spPr/>
        <p:txBody>
          <a:bodyPr/>
          <a:lstStyle/>
          <a:p>
            <a:r>
              <a:rPr lang="zh-CN" altLang="en-US" dirty="0" smtClean="0"/>
              <a:t>全连接层的参数数量巨大</a:t>
            </a:r>
            <a:endParaRPr lang="en-US" altLang="zh-CN" dirty="0" smtClean="0"/>
          </a:p>
          <a:p>
            <a:r>
              <a:rPr lang="zh-CN" altLang="en-US" dirty="0"/>
              <a:t>多</a:t>
            </a:r>
            <a:r>
              <a:rPr lang="zh-CN" altLang="en-US" dirty="0" smtClean="0"/>
              <a:t>层全连接层能够很好解决非线性问题</a:t>
            </a:r>
            <a:endParaRPr lang="en-US" altLang="zh-CN" dirty="0" smtClean="0"/>
          </a:p>
          <a:p>
            <a:r>
              <a:rPr lang="zh-CN" altLang="en-US" dirty="0" smtClean="0"/>
              <a:t>最后一层全连接层作为分类依据</a:t>
            </a:r>
            <a:endParaRPr lang="en-US" altLang="zh-CN" dirty="0" smtClean="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4495" y="1980185"/>
            <a:ext cx="5545993" cy="3307202"/>
          </a:xfrm>
          <a:prstGeom prst="rect">
            <a:avLst/>
          </a:prstGeom>
        </p:spPr>
      </p:pic>
    </p:spTree>
    <p:extLst>
      <p:ext uri="{BB962C8B-B14F-4D97-AF65-F5344CB8AC3E}">
        <p14:creationId xmlns:p14="http://schemas.microsoft.com/office/powerpoint/2010/main" val="32835387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三维数据的卷积运算</a:t>
            </a:r>
            <a:endParaRPr lang="zh-CN" altLang="en-US" dirty="0"/>
          </a:p>
        </p:txBody>
      </p:sp>
      <p:sp>
        <p:nvSpPr>
          <p:cNvPr id="3" name="内容占位符 2"/>
          <p:cNvSpPr>
            <a:spLocks noGrp="1"/>
          </p:cNvSpPr>
          <p:nvPr>
            <p:ph sz="quarter" idx="13"/>
          </p:nvPr>
        </p:nvSpPr>
        <p:spPr/>
        <p:txBody>
          <a:bodyPr/>
          <a:lstStyle/>
          <a:p>
            <a:r>
              <a:rPr lang="zh-CN" altLang="en-US" dirty="0" smtClean="0"/>
              <a:t>输入特征图和卷积核的通道数必须保持一致</a:t>
            </a:r>
            <a:endParaRPr lang="en-US" altLang="zh-CN" dirty="0" smtClean="0"/>
          </a:p>
          <a:p>
            <a:r>
              <a:rPr lang="zh-CN" altLang="en-US" dirty="0"/>
              <a:t>同一</a:t>
            </a:r>
            <a:r>
              <a:rPr lang="zh-CN" altLang="en-US" dirty="0" smtClean="0"/>
              <a:t>个通道内卷积核尺寸必须保持一致</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2526611120"/>
              </p:ext>
            </p:extLst>
          </p:nvPr>
        </p:nvGraphicFramePr>
        <p:xfrm>
          <a:off x="1491349" y="2153509"/>
          <a:ext cx="3238500" cy="3240090"/>
        </p:xfrm>
        <a:graphic>
          <a:graphicData uri="http://schemas.openxmlformats.org/drawingml/2006/table">
            <a:tbl>
              <a:tblPr firstRow="1" bandRow="1">
                <a:effectLst>
                  <a:outerShdw blurRad="50800" dist="50800" dir="5400000" algn="ctr" rotWithShape="0">
                    <a:srgbClr val="000000">
                      <a:alpha val="30000"/>
                    </a:srgbClr>
                  </a:outerShdw>
                </a:effectLst>
                <a:tableStyleId>{5940675A-B579-460E-94D1-54222C63F5DA}</a:tableStyleId>
              </a:tblPr>
              <a:tblGrid>
                <a:gridCol w="539750"/>
                <a:gridCol w="539750"/>
                <a:gridCol w="539750"/>
                <a:gridCol w="539750"/>
                <a:gridCol w="539750"/>
                <a:gridCol w="539750"/>
              </a:tblGrid>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03144631"/>
              </p:ext>
            </p:extLst>
          </p:nvPr>
        </p:nvGraphicFramePr>
        <p:xfrm>
          <a:off x="1310413" y="2317142"/>
          <a:ext cx="3238500" cy="3240090"/>
        </p:xfrm>
        <a:graphic>
          <a:graphicData uri="http://schemas.openxmlformats.org/drawingml/2006/table">
            <a:tbl>
              <a:tblPr firstRow="1" bandRow="1">
                <a:effectLst>
                  <a:outerShdw blurRad="50800" dist="50800" dir="5400000" algn="ctr" rotWithShape="0">
                    <a:srgbClr val="000000">
                      <a:alpha val="30000"/>
                    </a:srgbClr>
                  </a:outerShdw>
                </a:effectLst>
                <a:tableStyleId>{5940675A-B579-460E-94D1-54222C63F5DA}</a:tableStyleId>
              </a:tblPr>
              <a:tblGrid>
                <a:gridCol w="539750"/>
                <a:gridCol w="539750"/>
                <a:gridCol w="539750"/>
                <a:gridCol w="539750"/>
                <a:gridCol w="539750"/>
                <a:gridCol w="539750"/>
              </a:tblGrid>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451895034"/>
              </p:ext>
            </p:extLst>
          </p:nvPr>
        </p:nvGraphicFramePr>
        <p:xfrm>
          <a:off x="1131522" y="2482915"/>
          <a:ext cx="3238500" cy="3240090"/>
        </p:xfrm>
        <a:graphic>
          <a:graphicData uri="http://schemas.openxmlformats.org/drawingml/2006/table">
            <a:tbl>
              <a:tblPr firstRow="1" bandRow="1">
                <a:tableStyleId>{5940675A-B579-460E-94D1-54222C63F5DA}</a:tableStyleId>
              </a:tblPr>
              <a:tblGrid>
                <a:gridCol w="539750"/>
                <a:gridCol w="539750"/>
                <a:gridCol w="539750"/>
                <a:gridCol w="539750"/>
                <a:gridCol w="539750"/>
                <a:gridCol w="539750"/>
              </a:tblGrid>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bl>
          </a:graphicData>
        </a:graphic>
      </p:graphicFrame>
      <p:sp>
        <p:nvSpPr>
          <p:cNvPr id="7" name="文本框 6"/>
          <p:cNvSpPr txBox="1">
            <a:spLocks noChangeArrowheads="1"/>
          </p:cNvSpPr>
          <p:nvPr/>
        </p:nvSpPr>
        <p:spPr bwMode="auto">
          <a:xfrm>
            <a:off x="5109416" y="3561783"/>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dirty="0">
                <a:sym typeface="Wingdings 2" panose="05020102010507070707" pitchFamily="18" charset="2"/>
              </a:rPr>
              <a:t></a:t>
            </a:r>
            <a:endParaRPr lang="zh-CN" altLang="en-US" dirty="0"/>
          </a:p>
        </p:txBody>
      </p:sp>
      <p:graphicFrame>
        <p:nvGraphicFramePr>
          <p:cNvPr id="8" name="表格 7"/>
          <p:cNvGraphicFramePr>
            <a:graphicFrameLocks noGrp="1"/>
          </p:cNvGraphicFramePr>
          <p:nvPr>
            <p:extLst>
              <p:ext uri="{D42A27DB-BD31-4B8C-83A1-F6EECF244321}">
                <p14:modId xmlns:p14="http://schemas.microsoft.com/office/powerpoint/2010/main" val="3356875969"/>
              </p:ext>
            </p:extLst>
          </p:nvPr>
        </p:nvGraphicFramePr>
        <p:xfrm>
          <a:off x="6184012" y="2941268"/>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3212574892"/>
              </p:ext>
            </p:extLst>
          </p:nvPr>
        </p:nvGraphicFramePr>
        <p:xfrm>
          <a:off x="6039978" y="3067832"/>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3161014217"/>
              </p:ext>
            </p:extLst>
          </p:nvPr>
        </p:nvGraphicFramePr>
        <p:xfrm>
          <a:off x="5937881" y="3184036"/>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graphicFrame>
        <p:nvGraphicFramePr>
          <p:cNvPr id="11" name="表格 10"/>
          <p:cNvGraphicFramePr>
            <a:graphicFrameLocks noGrp="1"/>
          </p:cNvGraphicFramePr>
          <p:nvPr>
            <p:extLst>
              <p:ext uri="{D42A27DB-BD31-4B8C-83A1-F6EECF244321}">
                <p14:modId xmlns:p14="http://schemas.microsoft.com/office/powerpoint/2010/main" val="3545032945"/>
              </p:ext>
            </p:extLst>
          </p:nvPr>
        </p:nvGraphicFramePr>
        <p:xfrm>
          <a:off x="8557711" y="2721762"/>
          <a:ext cx="2160588" cy="2159000"/>
        </p:xfrm>
        <a:graphic>
          <a:graphicData uri="http://schemas.openxmlformats.org/drawingml/2006/table">
            <a:tbl>
              <a:tblPr firstRow="1" bandRow="1">
                <a:tableStyleId>{5940675A-B579-460E-94D1-54222C63F5DA}</a:tableStyleId>
              </a:tblPr>
              <a:tblGrid>
                <a:gridCol w="540147"/>
                <a:gridCol w="540147"/>
                <a:gridCol w="540147"/>
                <a:gridCol w="540147"/>
              </a:tblGrid>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bl>
          </a:graphicData>
        </a:graphic>
      </p:graphicFrame>
      <p:sp>
        <p:nvSpPr>
          <p:cNvPr id="12" name="文本框 23"/>
          <p:cNvSpPr txBox="1">
            <a:spLocks noChangeArrowheads="1"/>
          </p:cNvSpPr>
          <p:nvPr/>
        </p:nvSpPr>
        <p:spPr bwMode="auto">
          <a:xfrm>
            <a:off x="8117426" y="3567299"/>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a:t>
            </a:r>
            <a:endParaRPr lang="zh-CN" altLang="en-US" b="1" dirty="0"/>
          </a:p>
        </p:txBody>
      </p:sp>
      <p:sp>
        <p:nvSpPr>
          <p:cNvPr id="13" name="文本框 21"/>
          <p:cNvSpPr txBox="1">
            <a:spLocks noChangeArrowheads="1"/>
          </p:cNvSpPr>
          <p:nvPr/>
        </p:nvSpPr>
        <p:spPr bwMode="auto">
          <a:xfrm>
            <a:off x="2305395" y="5767942"/>
            <a:ext cx="9220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smtClean="0"/>
              <a:t>6×6×</a:t>
            </a:r>
            <a:r>
              <a:rPr lang="en-US" altLang="zh-CN" b="1" dirty="0" smtClean="0">
                <a:solidFill>
                  <a:srgbClr val="FF0000"/>
                </a:solidFill>
              </a:rPr>
              <a:t>3</a:t>
            </a:r>
            <a:endParaRPr lang="zh-CN" altLang="en-US" b="1" dirty="0">
              <a:solidFill>
                <a:srgbClr val="FF0000"/>
              </a:solidFill>
            </a:endParaRPr>
          </a:p>
        </p:txBody>
      </p:sp>
      <p:sp>
        <p:nvSpPr>
          <p:cNvPr id="14" name="文本框 21"/>
          <p:cNvSpPr txBox="1">
            <a:spLocks noChangeArrowheads="1"/>
          </p:cNvSpPr>
          <p:nvPr/>
        </p:nvSpPr>
        <p:spPr bwMode="auto">
          <a:xfrm>
            <a:off x="6451917" y="5767942"/>
            <a:ext cx="9220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3</a:t>
            </a:r>
            <a:r>
              <a:rPr lang="en-US" altLang="zh-CN" b="1" dirty="0" smtClean="0"/>
              <a:t>×3×</a:t>
            </a:r>
            <a:r>
              <a:rPr lang="en-US" altLang="zh-CN" b="1" dirty="0" smtClean="0">
                <a:solidFill>
                  <a:srgbClr val="FF0000"/>
                </a:solidFill>
              </a:rPr>
              <a:t>3</a:t>
            </a:r>
            <a:endParaRPr lang="zh-CN" altLang="en-US" b="1" dirty="0">
              <a:solidFill>
                <a:srgbClr val="FF0000"/>
              </a:solidFill>
            </a:endParaRPr>
          </a:p>
        </p:txBody>
      </p:sp>
      <p:sp>
        <p:nvSpPr>
          <p:cNvPr id="15" name="文本框 21"/>
          <p:cNvSpPr txBox="1">
            <a:spLocks noChangeArrowheads="1"/>
          </p:cNvSpPr>
          <p:nvPr/>
        </p:nvSpPr>
        <p:spPr bwMode="auto">
          <a:xfrm>
            <a:off x="9226240" y="5767942"/>
            <a:ext cx="9220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smtClean="0"/>
              <a:t>4×4×</a:t>
            </a:r>
            <a:r>
              <a:rPr lang="en-US" altLang="zh-CN" b="1" dirty="0">
                <a:solidFill>
                  <a:srgbClr val="FF0000"/>
                </a:solidFill>
              </a:rPr>
              <a:t>1</a:t>
            </a:r>
            <a:endParaRPr lang="zh-CN" altLang="en-US" b="1" dirty="0">
              <a:solidFill>
                <a:srgbClr val="FF0000"/>
              </a:solidFill>
            </a:endParaRPr>
          </a:p>
        </p:txBody>
      </p:sp>
      <p:sp>
        <p:nvSpPr>
          <p:cNvPr id="20" name="文本框 19"/>
          <p:cNvSpPr txBox="1"/>
          <p:nvPr/>
        </p:nvSpPr>
        <p:spPr>
          <a:xfrm>
            <a:off x="8797946" y="5398610"/>
            <a:ext cx="1800493" cy="369332"/>
          </a:xfrm>
          <a:prstGeom prst="rect">
            <a:avLst/>
          </a:prstGeom>
          <a:noFill/>
        </p:spPr>
        <p:txBody>
          <a:bodyPr wrap="none" rtlCol="0">
            <a:spAutoFit/>
          </a:bodyPr>
          <a:lstStyle/>
          <a:p>
            <a:r>
              <a:rPr lang="zh-CN" altLang="en-US" dirty="0" smtClean="0"/>
              <a:t>输出的是一维图</a:t>
            </a:r>
            <a:endParaRPr lang="zh-CN" altLang="en-US" dirty="0"/>
          </a:p>
        </p:txBody>
      </p:sp>
    </p:spTree>
    <p:extLst>
      <p:ext uri="{BB962C8B-B14F-4D97-AF65-F5344CB8AC3E}">
        <p14:creationId xmlns:p14="http://schemas.microsoft.com/office/powerpoint/2010/main" val="26598795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三维数据的卷积运算</a:t>
            </a:r>
            <a:endParaRPr lang="zh-CN" altLang="en-US" dirty="0"/>
          </a:p>
        </p:txBody>
      </p:sp>
      <p:sp>
        <p:nvSpPr>
          <p:cNvPr id="3" name="内容占位符 2"/>
          <p:cNvSpPr>
            <a:spLocks noGrp="1"/>
          </p:cNvSpPr>
          <p:nvPr>
            <p:ph sz="quarter" idx="13"/>
          </p:nvPr>
        </p:nvSpPr>
        <p:spPr/>
        <p:txBody>
          <a:bodyPr/>
          <a:lstStyle/>
          <a:p>
            <a:r>
              <a:rPr lang="zh-CN" altLang="en-US" dirty="0" smtClean="0"/>
              <a:t>采用</a:t>
            </a:r>
            <a:r>
              <a:rPr lang="en-US" altLang="zh-CN" dirty="0" smtClean="0"/>
              <a:t>n</a:t>
            </a:r>
            <a:r>
              <a:rPr lang="zh-CN" altLang="en-US" dirty="0" smtClean="0"/>
              <a:t>个卷积核运算，最终输出通道数为</a:t>
            </a:r>
            <a:r>
              <a:rPr lang="en-US" altLang="zh-CN" dirty="0" smtClean="0"/>
              <a:t>n</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1208921241"/>
              </p:ext>
            </p:extLst>
          </p:nvPr>
        </p:nvGraphicFramePr>
        <p:xfrm>
          <a:off x="1038863" y="1936695"/>
          <a:ext cx="3238500" cy="3240090"/>
        </p:xfrm>
        <a:graphic>
          <a:graphicData uri="http://schemas.openxmlformats.org/drawingml/2006/table">
            <a:tbl>
              <a:tblPr firstRow="1" bandRow="1">
                <a:effectLst>
                  <a:outerShdw blurRad="50800" dist="50800" dir="5400000" algn="ctr" rotWithShape="0">
                    <a:srgbClr val="000000">
                      <a:alpha val="30000"/>
                    </a:srgbClr>
                  </a:outerShdw>
                </a:effectLst>
                <a:tableStyleId>{5940675A-B579-460E-94D1-54222C63F5DA}</a:tableStyleId>
              </a:tblPr>
              <a:tblGrid>
                <a:gridCol w="539750"/>
                <a:gridCol w="539750"/>
                <a:gridCol w="539750"/>
                <a:gridCol w="539750"/>
                <a:gridCol w="539750"/>
                <a:gridCol w="539750"/>
              </a:tblGrid>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596370108"/>
              </p:ext>
            </p:extLst>
          </p:nvPr>
        </p:nvGraphicFramePr>
        <p:xfrm>
          <a:off x="857927" y="2100328"/>
          <a:ext cx="3238500" cy="3240090"/>
        </p:xfrm>
        <a:graphic>
          <a:graphicData uri="http://schemas.openxmlformats.org/drawingml/2006/table">
            <a:tbl>
              <a:tblPr firstRow="1" bandRow="1">
                <a:effectLst>
                  <a:outerShdw blurRad="50800" dist="50800" dir="5400000" algn="ctr" rotWithShape="0">
                    <a:srgbClr val="000000">
                      <a:alpha val="30000"/>
                    </a:srgbClr>
                  </a:outerShdw>
                </a:effectLst>
                <a:tableStyleId>{5940675A-B579-460E-94D1-54222C63F5DA}</a:tableStyleId>
              </a:tblPr>
              <a:tblGrid>
                <a:gridCol w="539750"/>
                <a:gridCol w="539750"/>
                <a:gridCol w="539750"/>
                <a:gridCol w="539750"/>
                <a:gridCol w="539750"/>
                <a:gridCol w="539750"/>
              </a:tblGrid>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1337610902"/>
              </p:ext>
            </p:extLst>
          </p:nvPr>
        </p:nvGraphicFramePr>
        <p:xfrm>
          <a:off x="679036" y="2266101"/>
          <a:ext cx="3238500" cy="3240090"/>
        </p:xfrm>
        <a:graphic>
          <a:graphicData uri="http://schemas.openxmlformats.org/drawingml/2006/table">
            <a:tbl>
              <a:tblPr firstRow="1" bandRow="1">
                <a:tableStyleId>{5940675A-B579-460E-94D1-54222C63F5DA}</a:tableStyleId>
              </a:tblPr>
              <a:tblGrid>
                <a:gridCol w="539750"/>
                <a:gridCol w="539750"/>
                <a:gridCol w="539750"/>
                <a:gridCol w="539750"/>
                <a:gridCol w="539750"/>
                <a:gridCol w="539750"/>
              </a:tblGrid>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r h="540015">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c>
                  <a:txBody>
                    <a:bodyPr/>
                    <a:lstStyle/>
                    <a:p>
                      <a:pPr algn="ctr"/>
                      <a:endParaRPr lang="zh-CN" altLang="en-US" sz="1800" b="1" dirty="0"/>
                    </a:p>
                  </a:txBody>
                  <a:tcPr marL="91389" marR="91389" marT="45717" marB="45717" anchor="ctr">
                    <a:solidFill>
                      <a:schemeClr val="bg1">
                        <a:alpha val="20000"/>
                      </a:schemeClr>
                    </a:solidFill>
                  </a:tcPr>
                </a:tc>
              </a:tr>
            </a:tbl>
          </a:graphicData>
        </a:graphic>
      </p:graphicFrame>
      <p:sp>
        <p:nvSpPr>
          <p:cNvPr id="7" name="文本框 6"/>
          <p:cNvSpPr txBox="1">
            <a:spLocks noChangeArrowheads="1"/>
          </p:cNvSpPr>
          <p:nvPr/>
        </p:nvSpPr>
        <p:spPr bwMode="auto">
          <a:xfrm>
            <a:off x="4280175" y="2383433"/>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dirty="0">
                <a:sym typeface="Wingdings 2" panose="05020102010507070707" pitchFamily="18" charset="2"/>
              </a:rPr>
              <a:t></a:t>
            </a:r>
            <a:endParaRPr lang="zh-CN" altLang="en-US" dirty="0"/>
          </a:p>
        </p:txBody>
      </p:sp>
      <p:graphicFrame>
        <p:nvGraphicFramePr>
          <p:cNvPr id="8" name="表格 7"/>
          <p:cNvGraphicFramePr>
            <a:graphicFrameLocks noGrp="1"/>
          </p:cNvGraphicFramePr>
          <p:nvPr>
            <p:extLst>
              <p:ext uri="{D42A27DB-BD31-4B8C-83A1-F6EECF244321}">
                <p14:modId xmlns:p14="http://schemas.microsoft.com/office/powerpoint/2010/main" val="800051890"/>
              </p:ext>
            </p:extLst>
          </p:nvPr>
        </p:nvGraphicFramePr>
        <p:xfrm>
          <a:off x="4921592" y="1581258"/>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2162683627"/>
              </p:ext>
            </p:extLst>
          </p:nvPr>
        </p:nvGraphicFramePr>
        <p:xfrm>
          <a:off x="4777558" y="1707822"/>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560299958"/>
              </p:ext>
            </p:extLst>
          </p:nvPr>
        </p:nvGraphicFramePr>
        <p:xfrm>
          <a:off x="4675461" y="1824026"/>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graphicFrame>
        <p:nvGraphicFramePr>
          <p:cNvPr id="11" name="表格 10"/>
          <p:cNvGraphicFramePr>
            <a:graphicFrameLocks noGrp="1"/>
          </p:cNvGraphicFramePr>
          <p:nvPr>
            <p:extLst>
              <p:ext uri="{D42A27DB-BD31-4B8C-83A1-F6EECF244321}">
                <p14:modId xmlns:p14="http://schemas.microsoft.com/office/powerpoint/2010/main" val="3513174420"/>
              </p:ext>
            </p:extLst>
          </p:nvPr>
        </p:nvGraphicFramePr>
        <p:xfrm>
          <a:off x="6896218" y="1474786"/>
          <a:ext cx="2160588" cy="2159000"/>
        </p:xfrm>
        <a:graphic>
          <a:graphicData uri="http://schemas.openxmlformats.org/drawingml/2006/table">
            <a:tbl>
              <a:tblPr firstRow="1" bandRow="1">
                <a:tableStyleId>{5940675A-B579-460E-94D1-54222C63F5DA}</a:tableStyleId>
              </a:tblPr>
              <a:tblGrid>
                <a:gridCol w="540147"/>
                <a:gridCol w="540147"/>
                <a:gridCol w="540147"/>
                <a:gridCol w="540147"/>
              </a:tblGrid>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bl>
          </a:graphicData>
        </a:graphic>
      </p:graphicFrame>
      <p:sp>
        <p:nvSpPr>
          <p:cNvPr id="12" name="文本框 23"/>
          <p:cNvSpPr txBox="1">
            <a:spLocks noChangeArrowheads="1"/>
          </p:cNvSpPr>
          <p:nvPr/>
        </p:nvSpPr>
        <p:spPr bwMode="auto">
          <a:xfrm>
            <a:off x="6524295" y="4440047"/>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a:t>
            </a:r>
            <a:endParaRPr lang="zh-CN" altLang="en-US" b="1" dirty="0"/>
          </a:p>
        </p:txBody>
      </p:sp>
      <p:sp>
        <p:nvSpPr>
          <p:cNvPr id="13" name="文本框 21"/>
          <p:cNvSpPr txBox="1">
            <a:spLocks noChangeArrowheads="1"/>
          </p:cNvSpPr>
          <p:nvPr/>
        </p:nvSpPr>
        <p:spPr bwMode="auto">
          <a:xfrm>
            <a:off x="1852908" y="5767942"/>
            <a:ext cx="9220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smtClean="0"/>
              <a:t>6×6×</a:t>
            </a:r>
            <a:r>
              <a:rPr lang="en-US" altLang="zh-CN" b="1" dirty="0" smtClean="0">
                <a:solidFill>
                  <a:srgbClr val="FF0000"/>
                </a:solidFill>
              </a:rPr>
              <a:t>3</a:t>
            </a:r>
            <a:endParaRPr lang="zh-CN" altLang="en-US" b="1" dirty="0">
              <a:solidFill>
                <a:srgbClr val="FF0000"/>
              </a:solidFill>
            </a:endParaRPr>
          </a:p>
        </p:txBody>
      </p:sp>
      <p:sp>
        <p:nvSpPr>
          <p:cNvPr id="14" name="文本框 21"/>
          <p:cNvSpPr txBox="1">
            <a:spLocks noChangeArrowheads="1"/>
          </p:cNvSpPr>
          <p:nvPr/>
        </p:nvSpPr>
        <p:spPr bwMode="auto">
          <a:xfrm>
            <a:off x="4955398" y="3449787"/>
            <a:ext cx="9220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3</a:t>
            </a:r>
            <a:r>
              <a:rPr lang="en-US" altLang="zh-CN" b="1" dirty="0" smtClean="0"/>
              <a:t>×3×</a:t>
            </a:r>
            <a:r>
              <a:rPr lang="en-US" altLang="zh-CN" b="1" dirty="0" smtClean="0">
                <a:solidFill>
                  <a:srgbClr val="FF0000"/>
                </a:solidFill>
              </a:rPr>
              <a:t>3</a:t>
            </a:r>
            <a:endParaRPr lang="zh-CN" altLang="en-US" b="1" dirty="0">
              <a:solidFill>
                <a:srgbClr val="FF0000"/>
              </a:solidFill>
            </a:endParaRPr>
          </a:p>
        </p:txBody>
      </p:sp>
      <p:sp>
        <p:nvSpPr>
          <p:cNvPr id="15" name="文本框 21"/>
          <p:cNvSpPr txBox="1">
            <a:spLocks noChangeArrowheads="1"/>
          </p:cNvSpPr>
          <p:nvPr/>
        </p:nvSpPr>
        <p:spPr bwMode="auto">
          <a:xfrm>
            <a:off x="7519988" y="3633786"/>
            <a:ext cx="9220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smtClean="0"/>
              <a:t>4×4×</a:t>
            </a:r>
            <a:r>
              <a:rPr lang="en-US" altLang="zh-CN" b="1" dirty="0">
                <a:solidFill>
                  <a:srgbClr val="FF0000"/>
                </a:solidFill>
              </a:rPr>
              <a:t>1</a:t>
            </a:r>
            <a:endParaRPr lang="zh-CN" altLang="en-US" b="1" dirty="0">
              <a:solidFill>
                <a:srgbClr val="FF0000"/>
              </a:solidFill>
            </a:endParaRPr>
          </a:p>
        </p:txBody>
      </p:sp>
      <p:sp>
        <p:nvSpPr>
          <p:cNvPr id="17" name="文本框 16"/>
          <p:cNvSpPr txBox="1">
            <a:spLocks noChangeArrowheads="1"/>
          </p:cNvSpPr>
          <p:nvPr/>
        </p:nvSpPr>
        <p:spPr bwMode="auto">
          <a:xfrm>
            <a:off x="4280174" y="4440047"/>
            <a:ext cx="39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dirty="0">
                <a:sym typeface="Wingdings 2" panose="05020102010507070707" pitchFamily="18" charset="2"/>
              </a:rPr>
              <a:t></a:t>
            </a:r>
            <a:endParaRPr lang="zh-CN" altLang="en-US" dirty="0"/>
          </a:p>
        </p:txBody>
      </p:sp>
      <p:graphicFrame>
        <p:nvGraphicFramePr>
          <p:cNvPr id="18" name="表格 17"/>
          <p:cNvGraphicFramePr>
            <a:graphicFrameLocks noGrp="1"/>
          </p:cNvGraphicFramePr>
          <p:nvPr>
            <p:extLst>
              <p:ext uri="{D42A27DB-BD31-4B8C-83A1-F6EECF244321}">
                <p14:modId xmlns:p14="http://schemas.microsoft.com/office/powerpoint/2010/main" val="420454101"/>
              </p:ext>
            </p:extLst>
          </p:nvPr>
        </p:nvGraphicFramePr>
        <p:xfrm>
          <a:off x="4909988" y="3878420"/>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graphicFrame>
        <p:nvGraphicFramePr>
          <p:cNvPr id="19" name="表格 18"/>
          <p:cNvGraphicFramePr>
            <a:graphicFrameLocks noGrp="1"/>
          </p:cNvGraphicFramePr>
          <p:nvPr>
            <p:extLst>
              <p:ext uri="{D42A27DB-BD31-4B8C-83A1-F6EECF244321}">
                <p14:modId xmlns:p14="http://schemas.microsoft.com/office/powerpoint/2010/main" val="3095856898"/>
              </p:ext>
            </p:extLst>
          </p:nvPr>
        </p:nvGraphicFramePr>
        <p:xfrm>
          <a:off x="4765954" y="4004984"/>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graphicFrame>
        <p:nvGraphicFramePr>
          <p:cNvPr id="20" name="表格 19"/>
          <p:cNvGraphicFramePr>
            <a:graphicFrameLocks noGrp="1"/>
          </p:cNvGraphicFramePr>
          <p:nvPr>
            <p:extLst>
              <p:ext uri="{D42A27DB-BD31-4B8C-83A1-F6EECF244321}">
                <p14:modId xmlns:p14="http://schemas.microsoft.com/office/powerpoint/2010/main" val="2176767948"/>
              </p:ext>
            </p:extLst>
          </p:nvPr>
        </p:nvGraphicFramePr>
        <p:xfrm>
          <a:off x="4663857" y="4121188"/>
          <a:ext cx="1619250" cy="1620837"/>
        </p:xfrm>
        <a:graphic>
          <a:graphicData uri="http://schemas.openxmlformats.org/drawingml/2006/table">
            <a:tbl>
              <a:tblPr firstRow="1" bandRow="1">
                <a:tableStyleId>{5940675A-B579-460E-94D1-54222C63F5DA}</a:tableStyleId>
              </a:tblPr>
              <a:tblGrid>
                <a:gridCol w="539750"/>
                <a:gridCol w="539750"/>
                <a:gridCol w="539750"/>
              </a:tblGrid>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r h="540279">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c>
                  <a:txBody>
                    <a:bodyPr/>
                    <a:lstStyle/>
                    <a:p>
                      <a:pPr algn="ctr"/>
                      <a:endParaRPr lang="zh-CN" altLang="en-US" sz="1800" b="1" dirty="0"/>
                    </a:p>
                  </a:txBody>
                  <a:tcPr marL="91409" marR="91409" marT="45723" marB="45723" anchor="ctr">
                    <a:solidFill>
                      <a:schemeClr val="accent2">
                        <a:lumMod val="20000"/>
                        <a:lumOff val="80000"/>
                      </a:schemeClr>
                    </a:solidFill>
                  </a:tcPr>
                </a:tc>
              </a:tr>
            </a:tbl>
          </a:graphicData>
        </a:graphic>
      </p:graphicFrame>
      <p:sp>
        <p:nvSpPr>
          <p:cNvPr id="21" name="文本框 21"/>
          <p:cNvSpPr txBox="1">
            <a:spLocks noChangeArrowheads="1"/>
          </p:cNvSpPr>
          <p:nvPr/>
        </p:nvSpPr>
        <p:spPr bwMode="auto">
          <a:xfrm>
            <a:off x="4942221" y="5787709"/>
            <a:ext cx="9220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3</a:t>
            </a:r>
            <a:r>
              <a:rPr lang="en-US" altLang="zh-CN" b="1" dirty="0" smtClean="0"/>
              <a:t>×3×</a:t>
            </a:r>
            <a:r>
              <a:rPr lang="en-US" altLang="zh-CN" b="1" dirty="0" smtClean="0">
                <a:solidFill>
                  <a:srgbClr val="FF0000"/>
                </a:solidFill>
              </a:rPr>
              <a:t>3</a:t>
            </a:r>
            <a:endParaRPr lang="zh-CN" altLang="en-US" b="1" dirty="0">
              <a:solidFill>
                <a:srgbClr val="FF0000"/>
              </a:solidFill>
            </a:endParaRPr>
          </a:p>
        </p:txBody>
      </p:sp>
      <p:graphicFrame>
        <p:nvGraphicFramePr>
          <p:cNvPr id="22" name="表格 21"/>
          <p:cNvGraphicFramePr>
            <a:graphicFrameLocks noGrp="1"/>
          </p:cNvGraphicFramePr>
          <p:nvPr>
            <p:extLst>
              <p:ext uri="{D42A27DB-BD31-4B8C-83A1-F6EECF244321}">
                <p14:modId xmlns:p14="http://schemas.microsoft.com/office/powerpoint/2010/main" val="3487253022"/>
              </p:ext>
            </p:extLst>
          </p:nvPr>
        </p:nvGraphicFramePr>
        <p:xfrm>
          <a:off x="6894678" y="4008731"/>
          <a:ext cx="2160588" cy="2159000"/>
        </p:xfrm>
        <a:graphic>
          <a:graphicData uri="http://schemas.openxmlformats.org/drawingml/2006/table">
            <a:tbl>
              <a:tblPr firstRow="1" bandRow="1">
                <a:tableStyleId>{5940675A-B579-460E-94D1-54222C63F5DA}</a:tableStyleId>
              </a:tblPr>
              <a:tblGrid>
                <a:gridCol w="540147"/>
                <a:gridCol w="540147"/>
                <a:gridCol w="540147"/>
                <a:gridCol w="540147"/>
              </a:tblGrid>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bl>
          </a:graphicData>
        </a:graphic>
      </p:graphicFrame>
      <p:sp>
        <p:nvSpPr>
          <p:cNvPr id="23" name="文本框 21"/>
          <p:cNvSpPr txBox="1">
            <a:spLocks noChangeArrowheads="1"/>
          </p:cNvSpPr>
          <p:nvPr/>
        </p:nvSpPr>
        <p:spPr bwMode="auto">
          <a:xfrm>
            <a:off x="7519987" y="6157401"/>
            <a:ext cx="9220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smtClean="0"/>
              <a:t>4×4×</a:t>
            </a:r>
            <a:r>
              <a:rPr lang="en-US" altLang="zh-CN" b="1" dirty="0">
                <a:solidFill>
                  <a:srgbClr val="FF0000"/>
                </a:solidFill>
              </a:rPr>
              <a:t>1</a:t>
            </a:r>
            <a:endParaRPr lang="zh-CN" altLang="en-US" b="1" dirty="0">
              <a:solidFill>
                <a:srgbClr val="FF0000"/>
              </a:solidFill>
            </a:endParaRPr>
          </a:p>
        </p:txBody>
      </p:sp>
      <p:graphicFrame>
        <p:nvGraphicFramePr>
          <p:cNvPr id="24" name="表格 23"/>
          <p:cNvGraphicFramePr>
            <a:graphicFrameLocks noGrp="1"/>
          </p:cNvGraphicFramePr>
          <p:nvPr>
            <p:extLst>
              <p:ext uri="{D42A27DB-BD31-4B8C-83A1-F6EECF244321}">
                <p14:modId xmlns:p14="http://schemas.microsoft.com/office/powerpoint/2010/main" val="3060789723"/>
              </p:ext>
            </p:extLst>
          </p:nvPr>
        </p:nvGraphicFramePr>
        <p:xfrm>
          <a:off x="9359900" y="2729525"/>
          <a:ext cx="2160588" cy="2159000"/>
        </p:xfrm>
        <a:graphic>
          <a:graphicData uri="http://schemas.openxmlformats.org/drawingml/2006/table">
            <a:tbl>
              <a:tblPr firstRow="1" bandRow="1">
                <a:tableStyleId>{5940675A-B579-460E-94D1-54222C63F5DA}</a:tableStyleId>
              </a:tblPr>
              <a:tblGrid>
                <a:gridCol w="540147"/>
                <a:gridCol w="540147"/>
                <a:gridCol w="540147"/>
                <a:gridCol w="540147"/>
              </a:tblGrid>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bl>
          </a:graphicData>
        </a:graphic>
      </p:graphicFrame>
      <p:graphicFrame>
        <p:nvGraphicFramePr>
          <p:cNvPr id="25" name="表格 24"/>
          <p:cNvGraphicFramePr>
            <a:graphicFrameLocks noGrp="1"/>
          </p:cNvGraphicFramePr>
          <p:nvPr>
            <p:extLst>
              <p:ext uri="{D42A27DB-BD31-4B8C-83A1-F6EECF244321}">
                <p14:modId xmlns:p14="http://schemas.microsoft.com/office/powerpoint/2010/main" val="135908785"/>
              </p:ext>
            </p:extLst>
          </p:nvPr>
        </p:nvGraphicFramePr>
        <p:xfrm>
          <a:off x="9204023" y="2899231"/>
          <a:ext cx="2160588" cy="2159000"/>
        </p:xfrm>
        <a:graphic>
          <a:graphicData uri="http://schemas.openxmlformats.org/drawingml/2006/table">
            <a:tbl>
              <a:tblPr firstRow="1" bandRow="1">
                <a:tableStyleId>{5940675A-B579-460E-94D1-54222C63F5DA}</a:tableStyleId>
              </a:tblPr>
              <a:tblGrid>
                <a:gridCol w="540147"/>
                <a:gridCol w="540147"/>
                <a:gridCol w="540147"/>
                <a:gridCol w="540147"/>
              </a:tblGrid>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r h="539750">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c>
                  <a:txBody>
                    <a:bodyPr/>
                    <a:lstStyle/>
                    <a:p>
                      <a:pPr algn="ctr"/>
                      <a:endParaRPr lang="zh-CN" altLang="en-US" sz="1800" b="1" dirty="0"/>
                    </a:p>
                  </a:txBody>
                  <a:tcPr marL="91456" marR="91456" marT="45695" marB="45695" anchor="ctr">
                    <a:solidFill>
                      <a:schemeClr val="bg2">
                        <a:lumMod val="90000"/>
                      </a:schemeClr>
                    </a:solidFill>
                  </a:tcPr>
                </a:tc>
              </a:tr>
            </a:tbl>
          </a:graphicData>
        </a:graphic>
      </p:graphicFrame>
      <p:sp>
        <p:nvSpPr>
          <p:cNvPr id="26" name="文本框 21"/>
          <p:cNvSpPr txBox="1">
            <a:spLocks noChangeArrowheads="1"/>
          </p:cNvSpPr>
          <p:nvPr/>
        </p:nvSpPr>
        <p:spPr bwMode="auto">
          <a:xfrm>
            <a:off x="9859406" y="5112597"/>
            <a:ext cx="9220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smtClean="0"/>
              <a:t>4×4×</a:t>
            </a:r>
            <a:r>
              <a:rPr lang="en-US" altLang="zh-CN" b="1" dirty="0" smtClean="0">
                <a:solidFill>
                  <a:srgbClr val="FF0000"/>
                </a:solidFill>
              </a:rPr>
              <a:t>2</a:t>
            </a:r>
            <a:endParaRPr lang="zh-CN" altLang="en-US" b="1" dirty="0">
              <a:solidFill>
                <a:srgbClr val="FF0000"/>
              </a:solidFill>
            </a:endParaRPr>
          </a:p>
        </p:txBody>
      </p:sp>
      <p:sp>
        <p:nvSpPr>
          <p:cNvPr id="30" name="右箭头 29"/>
          <p:cNvSpPr/>
          <p:nvPr/>
        </p:nvSpPr>
        <p:spPr>
          <a:xfrm rot="2700000">
            <a:off x="9049431" y="2109557"/>
            <a:ext cx="989814" cy="257177"/>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右箭头 30"/>
          <p:cNvSpPr/>
          <p:nvPr/>
        </p:nvSpPr>
        <p:spPr>
          <a:xfrm rot="-2700000">
            <a:off x="9049431" y="5353340"/>
            <a:ext cx="989814" cy="257177"/>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23"/>
          <p:cNvSpPr txBox="1">
            <a:spLocks noChangeArrowheads="1"/>
          </p:cNvSpPr>
          <p:nvPr/>
        </p:nvSpPr>
        <p:spPr bwMode="auto">
          <a:xfrm>
            <a:off x="6524295" y="2383433"/>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a:t>
            </a:r>
            <a:endParaRPr lang="zh-CN" altLang="en-US" b="1" dirty="0"/>
          </a:p>
        </p:txBody>
      </p:sp>
      <p:sp>
        <p:nvSpPr>
          <p:cNvPr id="33" name="文本框 32"/>
          <p:cNvSpPr txBox="1"/>
          <p:nvPr/>
        </p:nvSpPr>
        <p:spPr>
          <a:xfrm>
            <a:off x="4169926" y="6126773"/>
            <a:ext cx="2621230" cy="369332"/>
          </a:xfrm>
          <a:prstGeom prst="rect">
            <a:avLst/>
          </a:prstGeom>
          <a:noFill/>
        </p:spPr>
        <p:txBody>
          <a:bodyPr wrap="none" rtlCol="0">
            <a:spAutoFit/>
          </a:bodyPr>
          <a:lstStyle/>
          <a:p>
            <a:r>
              <a:rPr lang="en-US" altLang="zh-CN" b="1" dirty="0" smtClean="0">
                <a:solidFill>
                  <a:srgbClr val="FF0000"/>
                </a:solidFill>
              </a:rPr>
              <a:t>3</a:t>
            </a:r>
            <a:r>
              <a:rPr lang="zh-CN" altLang="en-US" dirty="0" smtClean="0"/>
              <a:t>表示单个卷积核的层数</a:t>
            </a:r>
            <a:endParaRPr lang="zh-CN" altLang="en-US" dirty="0"/>
          </a:p>
        </p:txBody>
      </p:sp>
    </p:spTree>
    <p:extLst>
      <p:ext uri="{BB962C8B-B14F-4D97-AF65-F5344CB8AC3E}">
        <p14:creationId xmlns:p14="http://schemas.microsoft.com/office/powerpoint/2010/main" val="29981843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批规范化层</a:t>
            </a:r>
            <a:endParaRPr lang="zh-CN" altLang="en-US" dirty="0"/>
          </a:p>
        </p:txBody>
      </p:sp>
      <p:sp>
        <p:nvSpPr>
          <p:cNvPr id="3" name="内容占位符 2"/>
          <p:cNvSpPr>
            <a:spLocks noGrp="1"/>
          </p:cNvSpPr>
          <p:nvPr>
            <p:ph sz="quarter" idx="13"/>
          </p:nvPr>
        </p:nvSpPr>
        <p:spPr/>
        <p:txBody>
          <a:bodyPr/>
          <a:lstStyle/>
          <a:p>
            <a:r>
              <a:rPr lang="zh-CN" altLang="en-US" dirty="0" smtClean="0"/>
              <a:t>批规范化（</a:t>
            </a:r>
            <a:r>
              <a:rPr lang="en-US" altLang="zh-CN" dirty="0" smtClean="0"/>
              <a:t>Batch Normalization</a:t>
            </a:r>
            <a:r>
              <a:rPr lang="zh-CN" altLang="en-US" dirty="0" smtClean="0"/>
              <a:t>，</a:t>
            </a:r>
            <a:r>
              <a:rPr lang="en-US" altLang="zh-CN" dirty="0" smtClean="0"/>
              <a:t>BN</a:t>
            </a:r>
            <a:r>
              <a:rPr lang="zh-CN" altLang="en-US" dirty="0" smtClean="0"/>
              <a:t>）层</a:t>
            </a:r>
            <a:endParaRPr lang="en-US" altLang="zh-CN" dirty="0" smtClean="0"/>
          </a:p>
          <a:p>
            <a:pPr lvl="1"/>
            <a:r>
              <a:rPr lang="en-US" altLang="zh-CN" dirty="0" err="1"/>
              <a:t>Ioffe</a:t>
            </a:r>
            <a:r>
              <a:rPr lang="zh-CN" altLang="en-US" dirty="0"/>
              <a:t>和</a:t>
            </a:r>
            <a:r>
              <a:rPr lang="en-US" altLang="zh-CN" dirty="0" err="1"/>
              <a:t>Szegedy</a:t>
            </a:r>
            <a:r>
              <a:rPr lang="zh-CN" altLang="en-US" dirty="0"/>
              <a:t>等</a:t>
            </a:r>
            <a:r>
              <a:rPr lang="zh-CN" altLang="en-US" dirty="0" smtClean="0"/>
              <a:t>人于</a:t>
            </a:r>
            <a:r>
              <a:rPr lang="en-US" altLang="zh-CN" dirty="0" smtClean="0"/>
              <a:t>2015</a:t>
            </a:r>
            <a:r>
              <a:rPr lang="zh-CN" altLang="en-US" dirty="0" smtClean="0"/>
              <a:t>年提出</a:t>
            </a:r>
            <a:endParaRPr lang="en-US" altLang="zh-CN" dirty="0" smtClean="0"/>
          </a:p>
          <a:p>
            <a:pPr lvl="1"/>
            <a:r>
              <a:rPr lang="zh-CN" altLang="en-US" dirty="0" smtClean="0"/>
              <a:t>加速神经网络收敛过程</a:t>
            </a:r>
            <a:endParaRPr lang="en-US" altLang="zh-CN" dirty="0" smtClean="0"/>
          </a:p>
          <a:p>
            <a:pPr lvl="1"/>
            <a:r>
              <a:rPr lang="zh-CN" altLang="en-US" dirty="0" smtClean="0"/>
              <a:t>提高训练过程中的稳定性</a:t>
            </a:r>
            <a:endParaRPr lang="en-US" altLang="zh-CN" dirty="0"/>
          </a:p>
          <a:p>
            <a:endParaRPr lang="zh-CN" altLang="en-US" dirty="0"/>
          </a:p>
        </p:txBody>
      </p:sp>
      <p:pic>
        <p:nvPicPr>
          <p:cNvPr id="4" name="图片 3"/>
          <p:cNvPicPr>
            <a:picLocks noChangeAspect="1"/>
          </p:cNvPicPr>
          <p:nvPr/>
        </p:nvPicPr>
        <p:blipFill>
          <a:blip r:embed="rId3"/>
          <a:stretch>
            <a:fillRect/>
          </a:stretch>
        </p:blipFill>
        <p:spPr>
          <a:xfrm>
            <a:off x="4625250" y="1514738"/>
            <a:ext cx="6895238" cy="4238095"/>
          </a:xfrm>
          <a:prstGeom prst="rect">
            <a:avLst/>
          </a:prstGeom>
        </p:spPr>
      </p:pic>
    </p:spTree>
    <p:extLst>
      <p:ext uri="{BB962C8B-B14F-4D97-AF65-F5344CB8AC3E}">
        <p14:creationId xmlns:p14="http://schemas.microsoft.com/office/powerpoint/2010/main" val="21252626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批规范化处理流程</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pPr marL="342900" indent="-342900">
                  <a:buFont typeface="+mj-lt"/>
                  <a:buAutoNum type="arabicPeriod"/>
                </a:pPr>
                <a:r>
                  <a:rPr lang="zh-CN" altLang="en-US" dirty="0" smtClean="0"/>
                  <a:t>获得</a:t>
                </a:r>
                <a:r>
                  <a:rPr lang="zh-CN" altLang="en-US" dirty="0"/>
                  <a:t>一个小批次的输入</a:t>
                </a:r>
                <a:r>
                  <a:rPr lang="en-US" altLang="zh-CN" dirty="0"/>
                  <a:t>β={x1</a:t>
                </a:r>
                <a:r>
                  <a:rPr lang="zh-CN" altLang="en-US" dirty="0"/>
                  <a:t>，</a:t>
                </a:r>
                <a:r>
                  <a:rPr lang="en-US" altLang="zh-CN" dirty="0"/>
                  <a:t>…</a:t>
                </a:r>
                <a:r>
                  <a:rPr lang="zh-CN" altLang="en-US" dirty="0"/>
                  <a:t>，</a:t>
                </a:r>
                <a:r>
                  <a:rPr lang="en-US" altLang="zh-CN" dirty="0" err="1"/>
                  <a:t>xm</a:t>
                </a:r>
                <a:r>
                  <a:rPr lang="en-US" altLang="zh-CN" dirty="0"/>
                  <a:t>}</a:t>
                </a:r>
                <a:r>
                  <a:rPr lang="zh-CN" altLang="en-US" dirty="0" smtClean="0"/>
                  <a:t>。可以</a:t>
                </a:r>
                <a:r>
                  <a:rPr lang="zh-CN" altLang="en-US" dirty="0"/>
                  <a:t>看出批次大小就是</a:t>
                </a:r>
                <a:r>
                  <a:rPr lang="en-US" altLang="zh-CN" dirty="0"/>
                  <a:t>m</a:t>
                </a:r>
                <a:r>
                  <a:rPr lang="zh-CN" altLang="en-US" dirty="0" smtClean="0"/>
                  <a:t>。</a:t>
                </a:r>
                <a:endParaRPr lang="en-US" altLang="zh-CN" dirty="0" smtClean="0"/>
              </a:p>
              <a:p>
                <a:pPr marL="342900" indent="-342900">
                  <a:buFont typeface="+mj-lt"/>
                  <a:buAutoNum type="arabicPeriod"/>
                </a:pPr>
                <a:r>
                  <a:rPr lang="zh-CN" altLang="en-US" dirty="0" smtClean="0"/>
                  <a:t>求</a:t>
                </a:r>
                <a:r>
                  <a:rPr lang="zh-CN" altLang="en-US" dirty="0"/>
                  <a:t>这个批次的均值</a:t>
                </a:r>
                <a:r>
                  <a:rPr lang="en-US" altLang="zh-CN" dirty="0"/>
                  <a:t>μ</a:t>
                </a:r>
                <a:r>
                  <a:rPr lang="zh-CN" altLang="en-US" dirty="0"/>
                  <a:t>和方差</a:t>
                </a:r>
                <a:r>
                  <a:rPr lang="en-US" altLang="zh-CN" dirty="0"/>
                  <a:t>σ</a:t>
                </a:r>
                <a:r>
                  <a:rPr lang="zh-CN" altLang="en-US" dirty="0" smtClean="0"/>
                  <a:t>。</a:t>
                </a:r>
                <a:endParaRPr lang="en-US" altLang="zh-CN" dirty="0" smtClean="0"/>
              </a:p>
              <a:p>
                <a:pPr marL="342900" indent="-342900">
                  <a:buFont typeface="+mj-lt"/>
                  <a:buAutoNum type="arabicPeriod"/>
                </a:pPr>
                <a:r>
                  <a:rPr lang="zh-CN" altLang="en-US" dirty="0" smtClean="0"/>
                  <a:t>对</a:t>
                </a:r>
                <a:r>
                  <a:rPr lang="zh-CN" altLang="en-US" dirty="0"/>
                  <a:t>所有</a:t>
                </a:r>
                <a:r>
                  <a:rPr lang="en-US" altLang="zh-CN" dirty="0"/>
                  <a:t>xi</a:t>
                </a:r>
                <a:r>
                  <a:rPr lang="zh-CN" altLang="en-US" dirty="0"/>
                  <a:t>进行标准化处理，</a:t>
                </a:r>
                <a:r>
                  <a:rPr lang="zh-CN" altLang="en-US" dirty="0" smtClean="0"/>
                  <a:t>得到</a:t>
                </a:r>
                <a14:m>
                  <m:oMath xmlns:m="http://schemas.openxmlformats.org/officeDocument/2006/math">
                    <m:acc>
                      <m:accPr>
                        <m:chr m:val="̂"/>
                        <m:ctrlPr>
                          <a:rPr lang="zh-CN" altLang="en-US" i="1" smtClean="0">
                            <a:latin typeface="Cambria Math" panose="02040503050406030204" pitchFamily="18" charset="0"/>
                          </a:rPr>
                        </m:ctrlPr>
                      </m:accPr>
                      <m:e>
                        <m:r>
                          <m:rPr>
                            <m:sty m:val="p"/>
                          </m:rPr>
                          <a:rPr lang="en-US" altLang="zh-CN" i="1">
                            <a:latin typeface="Cambria Math" panose="02040503050406030204" pitchFamily="18" charset="0"/>
                          </a:rPr>
                          <m:t>x</m:t>
                        </m:r>
                        <m:r>
                          <a:rPr lang="en-US" altLang="zh-CN" b="0" i="1" baseline="-25000" smtClean="0">
                            <a:latin typeface="Cambria Math" panose="02040503050406030204" pitchFamily="18" charset="0"/>
                          </a:rPr>
                          <m:t>𝑖</m:t>
                        </m:r>
                      </m:e>
                    </m:acc>
                  </m:oMath>
                </a14:m>
                <a:r>
                  <a:rPr lang="zh-CN" altLang="en-US" dirty="0" smtClean="0"/>
                  <a:t>。这里</a:t>
                </a:r>
                <a:r>
                  <a:rPr lang="zh-CN" altLang="en-US" dirty="0"/>
                  <a:t>的</a:t>
                </a:r>
                <a:r>
                  <a:rPr lang="en-US" altLang="zh-CN" dirty="0"/>
                  <a:t>ε</a:t>
                </a:r>
                <a:r>
                  <a:rPr lang="zh-CN" altLang="en-US" dirty="0"/>
                  <a:t>是一个很小的数，用于避免因分母等于</a:t>
                </a:r>
                <a:r>
                  <a:rPr lang="en-US" altLang="zh-CN" dirty="0"/>
                  <a:t>0</a:t>
                </a:r>
                <a:r>
                  <a:rPr lang="zh-CN" altLang="en-US" dirty="0"/>
                  <a:t>带来的系统错误</a:t>
                </a:r>
                <a:r>
                  <a:rPr lang="zh-CN" altLang="en-US" dirty="0" smtClean="0"/>
                  <a:t>。</a:t>
                </a:r>
                <a:endParaRPr lang="en-US" altLang="zh-CN" dirty="0" smtClean="0"/>
              </a:p>
              <a:p>
                <a:pPr marL="342900" indent="-342900">
                  <a:buFont typeface="+mj-lt"/>
                  <a:buAutoNum type="arabicPeriod"/>
                </a:pPr>
                <a:r>
                  <a:rPr lang="zh-CN" altLang="en-US" dirty="0" smtClean="0"/>
                  <a:t>第</a:t>
                </a:r>
                <a:r>
                  <a:rPr lang="en-US" altLang="zh-CN" dirty="0"/>
                  <a:t>4</a:t>
                </a:r>
                <a:r>
                  <a:rPr lang="zh-CN" altLang="en-US" dirty="0"/>
                  <a:t>步，</a:t>
                </a:r>
                <a:r>
                  <a:rPr lang="zh-CN" altLang="en-US" dirty="0" smtClean="0"/>
                  <a:t>对</a:t>
                </a:r>
                <a14:m>
                  <m:oMath xmlns:m="http://schemas.openxmlformats.org/officeDocument/2006/math">
                    <m:acc>
                      <m:accPr>
                        <m:chr m:val="̂"/>
                        <m:ctrlPr>
                          <a:rPr lang="zh-CN" altLang="en-US" i="1">
                            <a:latin typeface="Cambria Math" panose="02040503050406030204" pitchFamily="18" charset="0"/>
                          </a:rPr>
                        </m:ctrlPr>
                      </m:accPr>
                      <m:e>
                        <m:r>
                          <m:rPr>
                            <m:sty m:val="p"/>
                          </m:rPr>
                          <a:rPr lang="en-US" altLang="zh-CN" i="1">
                            <a:latin typeface="Cambria Math" panose="02040503050406030204" pitchFamily="18" charset="0"/>
                          </a:rPr>
                          <m:t>x</m:t>
                        </m:r>
                        <m:r>
                          <a:rPr lang="en-US" altLang="zh-CN" i="1" baseline="-25000">
                            <a:latin typeface="Cambria Math" panose="02040503050406030204" pitchFamily="18" charset="0"/>
                          </a:rPr>
                          <m:t>𝑖</m:t>
                        </m:r>
                      </m:e>
                    </m:acc>
                  </m:oMath>
                </a14:m>
                <a:r>
                  <a:rPr lang="zh-CN" altLang="en-US" dirty="0" smtClean="0"/>
                  <a:t>做</a:t>
                </a:r>
                <a:r>
                  <a:rPr lang="zh-CN" altLang="en-US" dirty="0"/>
                  <a:t>线性变换，得到输出</a:t>
                </a:r>
                <a:r>
                  <a:rPr lang="en-US" altLang="zh-CN" dirty="0" err="1"/>
                  <a:t>yi</a:t>
                </a:r>
                <a:r>
                  <a:rPr lang="zh-CN" altLang="en-US" dirty="0"/>
                  <a:t>。</a:t>
                </a:r>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pic>
        <p:nvPicPr>
          <p:cNvPr id="5" name="图片 4"/>
          <p:cNvPicPr>
            <a:picLocks noChangeAspect="1"/>
          </p:cNvPicPr>
          <p:nvPr/>
        </p:nvPicPr>
        <p:blipFill>
          <a:blip r:embed="rId4"/>
          <a:stretch>
            <a:fillRect/>
          </a:stretch>
        </p:blipFill>
        <p:spPr>
          <a:xfrm>
            <a:off x="7341068" y="2494081"/>
            <a:ext cx="4179420" cy="3643193"/>
          </a:xfrm>
          <a:prstGeom prst="rect">
            <a:avLst/>
          </a:prstGeom>
        </p:spPr>
      </p:pic>
    </p:spTree>
    <p:extLst>
      <p:ext uri="{BB962C8B-B14F-4D97-AF65-F5344CB8AC3E}">
        <p14:creationId xmlns:p14="http://schemas.microsoft.com/office/powerpoint/2010/main" val="18629782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批</a:t>
            </a:r>
            <a:r>
              <a:rPr lang="zh-CN" altLang="en-US" dirty="0" smtClean="0"/>
              <a:t>规范化处理</a:t>
            </a:r>
            <a:endParaRPr lang="zh-CN" altLang="en-US" dirty="0"/>
          </a:p>
        </p:txBody>
      </p:sp>
      <p:sp>
        <p:nvSpPr>
          <p:cNvPr id="3" name="内容占位符 2"/>
          <p:cNvSpPr>
            <a:spLocks noGrp="1"/>
          </p:cNvSpPr>
          <p:nvPr>
            <p:ph sz="quarter" idx="13"/>
          </p:nvPr>
        </p:nvSpPr>
        <p:spPr/>
        <p:txBody>
          <a:bodyPr/>
          <a:lstStyle/>
          <a:p>
            <a:r>
              <a:rPr lang="zh-CN" altLang="en-US" dirty="0" smtClean="0"/>
              <a:t>批规范化处理</a:t>
            </a:r>
            <a:endParaRPr lang="en-US" altLang="zh-CN" dirty="0" smtClean="0"/>
          </a:p>
          <a:p>
            <a:pPr lvl="1"/>
            <a:r>
              <a:rPr lang="zh-CN" altLang="en-US" dirty="0" smtClean="0"/>
              <a:t>通常用在卷积层之后，激活函数之前。</a:t>
            </a:r>
            <a:endParaRPr lang="en-US" altLang="zh-CN" dirty="0" smtClean="0"/>
          </a:p>
          <a:p>
            <a:pPr lvl="1"/>
            <a:r>
              <a:rPr lang="zh-CN" altLang="en-US" dirty="0" smtClean="0"/>
              <a:t>调整每层网络输出数据分布</a:t>
            </a:r>
            <a:endParaRPr lang="en-US" altLang="zh-CN" dirty="0" smtClean="0"/>
          </a:p>
          <a:p>
            <a:pPr lvl="1"/>
            <a:r>
              <a:rPr lang="zh-CN" altLang="en-US" dirty="0" smtClean="0"/>
              <a:t>加速收敛</a:t>
            </a:r>
            <a:endParaRPr lang="en-US" altLang="zh-CN" dirty="0" smtClean="0"/>
          </a:p>
          <a:p>
            <a:pPr lvl="1"/>
            <a:endParaRPr lang="en-US" altLang="zh-CN" dirty="0" smtClean="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4288" y="3060699"/>
            <a:ext cx="7696200" cy="3076575"/>
          </a:xfrm>
          <a:prstGeom prst="rect">
            <a:avLst/>
          </a:prstGeom>
        </p:spPr>
      </p:pic>
    </p:spTree>
    <p:extLst>
      <p:ext uri="{BB962C8B-B14F-4D97-AF65-F5344CB8AC3E}">
        <p14:creationId xmlns:p14="http://schemas.microsoft.com/office/powerpoint/2010/main" val="26715669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Dropout</a:t>
            </a:r>
            <a:r>
              <a:rPr lang="zh-CN" altLang="en-US" dirty="0" smtClean="0"/>
              <a:t>层</a:t>
            </a:r>
            <a:endParaRPr lang="zh-CN" altLang="en-US" dirty="0"/>
          </a:p>
        </p:txBody>
      </p:sp>
      <p:sp>
        <p:nvSpPr>
          <p:cNvPr id="3" name="内容占位符 2"/>
          <p:cNvSpPr>
            <a:spLocks noGrp="1"/>
          </p:cNvSpPr>
          <p:nvPr>
            <p:ph sz="quarter" idx="13"/>
          </p:nvPr>
        </p:nvSpPr>
        <p:spPr/>
        <p:txBody>
          <a:bodyPr/>
          <a:lstStyle/>
          <a:p>
            <a:r>
              <a:rPr lang="en-US" altLang="zh-CN" dirty="0" smtClean="0"/>
              <a:t>Dropout</a:t>
            </a:r>
            <a:r>
              <a:rPr lang="zh-CN" altLang="en-US" dirty="0" smtClean="0"/>
              <a:t>层是一种非常有效的神经网络模型平均方法：</a:t>
            </a:r>
            <a:endParaRPr lang="en-US" altLang="zh-CN" dirty="0" smtClean="0"/>
          </a:p>
          <a:p>
            <a:pPr lvl="1"/>
            <a:r>
              <a:rPr lang="zh-CN" altLang="en-US" dirty="0" smtClean="0"/>
              <a:t>可以看作一种模型平均</a:t>
            </a:r>
            <a:endParaRPr lang="en-US" altLang="zh-CN" dirty="0" smtClean="0"/>
          </a:p>
          <a:p>
            <a:pPr lvl="1"/>
            <a:r>
              <a:rPr lang="zh-CN" altLang="en-US" dirty="0" smtClean="0"/>
              <a:t>减少模型过拟合现象</a:t>
            </a:r>
            <a:endParaRPr lang="en-US" altLang="zh-CN" dirty="0" smtClean="0"/>
          </a:p>
          <a:p>
            <a:pPr lvl="1"/>
            <a:r>
              <a:rPr lang="zh-CN" altLang="en-US" dirty="0" smtClean="0"/>
              <a:t>以一定概率随机忽略隐层节点</a:t>
            </a:r>
            <a:endParaRPr lang="en-US" altLang="zh-CN" dirty="0" smtClean="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27820" y="2055322"/>
            <a:ext cx="6292668" cy="3156928"/>
          </a:xfrm>
          <a:prstGeom prst="rect">
            <a:avLst/>
          </a:prstGeom>
        </p:spPr>
      </p:pic>
      <p:sp>
        <p:nvSpPr>
          <p:cNvPr id="5" name="文本框 23"/>
          <p:cNvSpPr txBox="1">
            <a:spLocks noChangeArrowheads="1"/>
          </p:cNvSpPr>
          <p:nvPr/>
        </p:nvSpPr>
        <p:spPr bwMode="auto">
          <a:xfrm>
            <a:off x="5893720" y="5490096"/>
            <a:ext cx="23487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zh-CN" altLang="en-US" b="1" dirty="0" smtClean="0"/>
              <a:t>标准全连接神经网络</a:t>
            </a:r>
            <a:endParaRPr lang="zh-CN" altLang="en-US" b="1" dirty="0"/>
          </a:p>
        </p:txBody>
      </p:sp>
      <p:sp>
        <p:nvSpPr>
          <p:cNvPr id="6" name="文本框 23"/>
          <p:cNvSpPr txBox="1">
            <a:spLocks noChangeArrowheads="1"/>
          </p:cNvSpPr>
          <p:nvPr/>
        </p:nvSpPr>
        <p:spPr bwMode="auto">
          <a:xfrm>
            <a:off x="9340290" y="5490096"/>
            <a:ext cx="10823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14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Arial" panose="020B0604020202020204" pitchFamily="34" charset="0"/>
                <a:ea typeface="微软雅黑" panose="020B0503020204020204" pitchFamily="34" charset="-122"/>
              </a:defRPr>
            </a:lvl9pPr>
          </a:lstStyle>
          <a:p>
            <a:pPr>
              <a:lnSpc>
                <a:spcPct val="100000"/>
              </a:lnSpc>
              <a:spcBef>
                <a:spcPct val="0"/>
              </a:spcBef>
              <a:buFontTx/>
              <a:buNone/>
            </a:pPr>
            <a:r>
              <a:rPr lang="en-US" altLang="zh-CN" b="1" dirty="0"/>
              <a:t>Dropout</a:t>
            </a:r>
            <a:endParaRPr lang="zh-CN" altLang="en-US" b="1" dirty="0"/>
          </a:p>
        </p:txBody>
      </p:sp>
    </p:spTree>
    <p:extLst>
      <p:ext uri="{BB962C8B-B14F-4D97-AF65-F5344CB8AC3E}">
        <p14:creationId xmlns:p14="http://schemas.microsoft.com/office/powerpoint/2010/main" val="5279043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卷积神经网络总结</a:t>
            </a:r>
            <a:endParaRPr lang="zh-CN" altLang="en-US" dirty="0"/>
          </a:p>
        </p:txBody>
      </p:sp>
      <p:sp>
        <p:nvSpPr>
          <p:cNvPr id="3" name="内容占位符 2"/>
          <p:cNvSpPr>
            <a:spLocks noGrp="1"/>
          </p:cNvSpPr>
          <p:nvPr>
            <p:ph sz="quarter" idx="13"/>
          </p:nvPr>
        </p:nvSpPr>
        <p:spPr/>
        <p:txBody>
          <a:bodyPr/>
          <a:lstStyle/>
          <a:p>
            <a:r>
              <a:rPr lang="zh-CN" altLang="en-US" dirty="0" smtClean="0"/>
              <a:t>卷积神经网络各层作用</a:t>
            </a:r>
            <a:endParaRPr lang="en-US" altLang="zh-CN" dirty="0" smtClean="0"/>
          </a:p>
          <a:p>
            <a:pPr lvl="1"/>
            <a:r>
              <a:rPr lang="zh-CN" altLang="en-US" dirty="0"/>
              <a:t>卷积</a:t>
            </a:r>
            <a:r>
              <a:rPr lang="zh-CN" altLang="en-US" dirty="0" smtClean="0"/>
              <a:t>层</a:t>
            </a:r>
            <a:endParaRPr lang="en-US" altLang="zh-CN" dirty="0"/>
          </a:p>
          <a:p>
            <a:pPr lvl="2"/>
            <a:r>
              <a:rPr lang="zh-CN" altLang="en-US" dirty="0" smtClean="0"/>
              <a:t>特征提取主要层</a:t>
            </a:r>
            <a:endParaRPr lang="en-US" altLang="zh-CN" dirty="0" smtClean="0"/>
          </a:p>
          <a:p>
            <a:pPr lvl="1"/>
            <a:r>
              <a:rPr lang="zh-CN" altLang="en-US" dirty="0"/>
              <a:t>批</a:t>
            </a:r>
            <a:r>
              <a:rPr lang="zh-CN" altLang="en-US" dirty="0" smtClean="0"/>
              <a:t>规范化层</a:t>
            </a:r>
            <a:endParaRPr lang="en-US" altLang="zh-CN" dirty="0" smtClean="0"/>
          </a:p>
          <a:p>
            <a:pPr lvl="2"/>
            <a:r>
              <a:rPr lang="zh-CN" altLang="en-US" dirty="0" smtClean="0"/>
              <a:t>归一化层</a:t>
            </a:r>
            <a:endParaRPr lang="en-US" altLang="zh-CN" dirty="0" smtClean="0"/>
          </a:p>
          <a:p>
            <a:pPr lvl="2"/>
            <a:r>
              <a:rPr lang="zh-CN" altLang="en-US" dirty="0" smtClean="0"/>
              <a:t>加速模型收敛</a:t>
            </a:r>
            <a:endParaRPr lang="en-US" altLang="zh-CN" dirty="0" smtClean="0"/>
          </a:p>
          <a:p>
            <a:pPr lvl="1"/>
            <a:r>
              <a:rPr lang="zh-CN" altLang="en-US" dirty="0"/>
              <a:t>池化</a:t>
            </a:r>
            <a:r>
              <a:rPr lang="zh-CN" altLang="en-US" dirty="0" smtClean="0"/>
              <a:t>层</a:t>
            </a:r>
            <a:endParaRPr lang="en-US" altLang="zh-CN" dirty="0" smtClean="0"/>
          </a:p>
          <a:p>
            <a:pPr lvl="2"/>
            <a:r>
              <a:rPr lang="zh-CN" altLang="en-US" dirty="0" smtClean="0"/>
              <a:t>缩减特征图的维度</a:t>
            </a:r>
            <a:endParaRPr lang="en-US" altLang="zh-CN" dirty="0" smtClean="0"/>
          </a:p>
          <a:p>
            <a:pPr lvl="2"/>
            <a:r>
              <a:rPr lang="zh-CN" altLang="en-US" dirty="0" smtClean="0"/>
              <a:t>降低噪声</a:t>
            </a:r>
            <a:endParaRPr lang="en-US" altLang="zh-CN" dirty="0" smtClean="0"/>
          </a:p>
          <a:p>
            <a:pPr lvl="1"/>
            <a:r>
              <a:rPr lang="zh-CN" altLang="en-US" dirty="0"/>
              <a:t>全连接</a:t>
            </a:r>
            <a:r>
              <a:rPr lang="zh-CN" altLang="en-US" dirty="0" smtClean="0"/>
              <a:t>层</a:t>
            </a:r>
            <a:endParaRPr lang="en-US" altLang="zh-CN" dirty="0" smtClean="0"/>
          </a:p>
          <a:p>
            <a:pPr lvl="2"/>
            <a:r>
              <a:rPr lang="zh-CN" altLang="en-US" dirty="0" smtClean="0"/>
              <a:t>进行分类</a:t>
            </a:r>
            <a:endParaRPr lang="en-US" altLang="zh-CN" dirty="0"/>
          </a:p>
          <a:p>
            <a:pPr lvl="1"/>
            <a:r>
              <a:rPr lang="en-US" altLang="zh-CN" dirty="0" smtClean="0"/>
              <a:t>Dropout</a:t>
            </a:r>
          </a:p>
          <a:p>
            <a:pPr lvl="2"/>
            <a:r>
              <a:rPr lang="zh-CN" altLang="en-US" dirty="0" smtClean="0"/>
              <a:t>避免过拟合</a:t>
            </a:r>
            <a:endParaRPr lang="en-US" altLang="zh-CN" dirty="0" smtClean="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53905" y="1576378"/>
            <a:ext cx="7966583" cy="4114815"/>
          </a:xfrm>
          <a:prstGeom prst="rect">
            <a:avLst/>
          </a:prstGeom>
        </p:spPr>
      </p:pic>
      <p:sp>
        <p:nvSpPr>
          <p:cNvPr id="7" name="文本框 6"/>
          <p:cNvSpPr txBox="1"/>
          <p:nvPr/>
        </p:nvSpPr>
        <p:spPr>
          <a:xfrm>
            <a:off x="2988515" y="5767940"/>
            <a:ext cx="9097362" cy="369332"/>
          </a:xfrm>
          <a:prstGeom prst="rect">
            <a:avLst/>
          </a:prstGeom>
          <a:noFill/>
        </p:spPr>
        <p:txBody>
          <a:bodyPr wrap="none" rtlCol="0">
            <a:spAutoFit/>
          </a:bodyPr>
          <a:lstStyle/>
          <a:p>
            <a:r>
              <a:rPr lang="zh-CN" altLang="en-US" dirty="0" smtClean="0"/>
              <a:t>流程：输入图像➡</a:t>
            </a:r>
            <a:r>
              <a:rPr lang="zh-CN" altLang="en-US" dirty="0"/>
              <a:t>多卷积</a:t>
            </a:r>
            <a:r>
              <a:rPr lang="en-US" altLang="zh-CN" dirty="0" smtClean="0"/>
              <a:t>+BN</a:t>
            </a:r>
            <a:r>
              <a:rPr lang="zh-CN" altLang="en-US" dirty="0" smtClean="0"/>
              <a:t>层</a:t>
            </a:r>
            <a:r>
              <a:rPr lang="en-US" altLang="zh-CN" dirty="0" smtClean="0"/>
              <a:t>+</a:t>
            </a:r>
            <a:r>
              <a:rPr lang="zh-CN" altLang="en-US" dirty="0" smtClean="0"/>
              <a:t>激活层➡</a:t>
            </a:r>
            <a:r>
              <a:rPr lang="zh-CN" altLang="en-US" dirty="0"/>
              <a:t>池化</a:t>
            </a:r>
            <a:r>
              <a:rPr lang="zh-CN" altLang="en-US" dirty="0" smtClean="0"/>
              <a:t>层➡ </a:t>
            </a:r>
            <a:r>
              <a:rPr lang="en-US" altLang="zh-CN" dirty="0" smtClean="0"/>
              <a:t>···</a:t>
            </a:r>
            <a:r>
              <a:rPr lang="zh-CN" altLang="en-US" dirty="0"/>
              <a:t> ➡</a:t>
            </a:r>
            <a:r>
              <a:rPr lang="zh-CN" altLang="en-US" dirty="0" smtClean="0"/>
              <a:t>多全连接层</a:t>
            </a:r>
            <a:r>
              <a:rPr lang="en-US" altLang="zh-CN" dirty="0" smtClean="0"/>
              <a:t>(Dropout)</a:t>
            </a:r>
            <a:r>
              <a:rPr lang="zh-CN" altLang="en-US" dirty="0"/>
              <a:t> </a:t>
            </a:r>
            <a:r>
              <a:rPr lang="zh-CN" altLang="en-US" dirty="0" smtClean="0"/>
              <a:t>➡结果</a:t>
            </a:r>
            <a:endParaRPr lang="zh-CN" altLang="en-US" dirty="0"/>
          </a:p>
        </p:txBody>
      </p:sp>
    </p:spTree>
    <p:extLst>
      <p:ext uri="{BB962C8B-B14F-4D97-AF65-F5344CB8AC3E}">
        <p14:creationId xmlns:p14="http://schemas.microsoft.com/office/powerpoint/2010/main" val="21563402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02</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normAutofit fontScale="92500" lnSpcReduction="20000"/>
          </a:bodyPr>
          <a:lstStyle/>
          <a:p>
            <a:pPr>
              <a:lnSpc>
                <a:spcPct val="125000"/>
              </a:lnSpc>
            </a:pPr>
            <a:r>
              <a:rPr lang="zh-CN" altLang="en-US" dirty="0" smtClean="0"/>
              <a:t>常见卷积</a:t>
            </a:r>
            <a:r>
              <a:rPr lang="zh-CN" altLang="en-US" dirty="0"/>
              <a:t>神经网络结构</a:t>
            </a:r>
          </a:p>
        </p:txBody>
      </p:sp>
    </p:spTree>
    <p:extLst>
      <p:ext uri="{BB962C8B-B14F-4D97-AF65-F5344CB8AC3E}">
        <p14:creationId xmlns:p14="http://schemas.microsoft.com/office/powerpoint/2010/main" val="259515129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常见卷积神经网络结构</a:t>
            </a:r>
            <a:endParaRPr lang="zh-CN" altLang="en-US" dirty="0"/>
          </a:p>
        </p:txBody>
      </p:sp>
      <p:sp>
        <p:nvSpPr>
          <p:cNvPr id="3" name="内容占位符 2"/>
          <p:cNvSpPr>
            <a:spLocks noGrp="1"/>
          </p:cNvSpPr>
          <p:nvPr>
            <p:ph sz="quarter" idx="13"/>
          </p:nvPr>
        </p:nvSpPr>
        <p:spPr/>
        <p:txBody>
          <a:bodyPr/>
          <a:lstStyle/>
          <a:p>
            <a:r>
              <a:rPr lang="zh-CN" altLang="en-US" dirty="0" smtClean="0"/>
              <a:t>常见卷积神经网络结构</a:t>
            </a:r>
            <a:endParaRPr lang="en-US" altLang="zh-CN" dirty="0"/>
          </a:p>
          <a:p>
            <a:pPr lvl="1"/>
            <a:r>
              <a:rPr lang="en-US" altLang="zh-CN" dirty="0" err="1" smtClean="0"/>
              <a:t>LeNet</a:t>
            </a:r>
            <a:r>
              <a:rPr lang="zh-CN" altLang="en-US" dirty="0" smtClean="0"/>
              <a:t>神经网络</a:t>
            </a:r>
            <a:endParaRPr lang="en-US" altLang="zh-CN" dirty="0"/>
          </a:p>
          <a:p>
            <a:pPr lvl="1"/>
            <a:r>
              <a:rPr lang="en-US" altLang="zh-CN" dirty="0" err="1" smtClean="0"/>
              <a:t>AlexNet</a:t>
            </a:r>
            <a:r>
              <a:rPr lang="zh-CN" altLang="en-US" dirty="0" smtClean="0"/>
              <a:t>神经网络</a:t>
            </a:r>
            <a:endParaRPr lang="en-US" altLang="zh-CN" dirty="0" smtClean="0"/>
          </a:p>
          <a:p>
            <a:pPr lvl="1"/>
            <a:r>
              <a:rPr lang="en-US" altLang="zh-CN" dirty="0" err="1" smtClean="0"/>
              <a:t>VGGNet</a:t>
            </a:r>
            <a:r>
              <a:rPr lang="zh-CN" altLang="en-US" dirty="0" smtClean="0"/>
              <a:t>神经网络</a:t>
            </a:r>
            <a:endParaRPr lang="en-US" altLang="zh-CN" dirty="0" smtClean="0"/>
          </a:p>
          <a:p>
            <a:pPr lvl="1"/>
            <a:r>
              <a:rPr lang="en-US" altLang="zh-CN" dirty="0" err="1" smtClean="0"/>
              <a:t>GoogLeNet</a:t>
            </a:r>
            <a:r>
              <a:rPr lang="zh-CN" altLang="en-US" dirty="0" smtClean="0"/>
              <a:t>神经网络</a:t>
            </a:r>
            <a:endParaRPr lang="en-US" altLang="zh-CN" dirty="0" smtClean="0"/>
          </a:p>
          <a:p>
            <a:pPr lvl="1"/>
            <a:r>
              <a:rPr lang="en-US" altLang="zh-CN" dirty="0" err="1" smtClean="0"/>
              <a:t>ResNet</a:t>
            </a:r>
            <a:endParaRPr lang="en-US" altLang="zh-CN" dirty="0" smtClean="0"/>
          </a:p>
          <a:p>
            <a:pPr lvl="1"/>
            <a:r>
              <a:rPr lang="zh-CN" altLang="en-US" dirty="0" smtClean="0"/>
              <a:t>其他网络结构</a:t>
            </a:r>
            <a:endParaRPr lang="en-US" altLang="zh-CN" dirty="0" smtClean="0"/>
          </a:p>
          <a:p>
            <a:r>
              <a:rPr lang="zh-CN" altLang="en-US" dirty="0" smtClean="0"/>
              <a:t>工业界图像算法模型</a:t>
            </a:r>
            <a:endParaRPr lang="en-US" altLang="zh-CN" dirty="0" smtClean="0"/>
          </a:p>
          <a:p>
            <a:pPr lvl="1"/>
            <a:r>
              <a:rPr lang="zh-CN" altLang="en-US" dirty="0" smtClean="0"/>
              <a:t>基于</a:t>
            </a:r>
            <a:r>
              <a:rPr lang="en-US" altLang="zh-CN" dirty="0" err="1" smtClean="0"/>
              <a:t>ImageNet</a:t>
            </a:r>
            <a:r>
              <a:rPr lang="zh-CN" altLang="en-US" dirty="0" smtClean="0"/>
              <a:t>数据集的预训练模型</a:t>
            </a:r>
            <a:endParaRPr lang="en-US" altLang="zh-CN" dirty="0" smtClean="0"/>
          </a:p>
          <a:p>
            <a:pPr lvl="1"/>
            <a:r>
              <a:rPr lang="zh-CN" altLang="en-US" dirty="0" smtClean="0"/>
              <a:t>加快模型收敛速度</a:t>
            </a:r>
            <a:endParaRPr lang="en-US" altLang="zh-CN" dirty="0" smtClean="0"/>
          </a:p>
          <a:p>
            <a:pPr lvl="1"/>
            <a:r>
              <a:rPr lang="zh-CN" altLang="en-US" dirty="0" smtClean="0"/>
              <a:t>降低过拟合风险</a:t>
            </a:r>
            <a:endParaRPr lang="zh-CN" altLang="en-US"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26678" y="1079432"/>
            <a:ext cx="3896051" cy="2719815"/>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25070" y="4004040"/>
            <a:ext cx="4299268" cy="2549705"/>
          </a:xfrm>
          <a:prstGeom prst="rect">
            <a:avLst/>
          </a:prstGeom>
        </p:spPr>
      </p:pic>
    </p:spTree>
    <p:extLst>
      <p:ext uri="{BB962C8B-B14F-4D97-AF65-F5344CB8AC3E}">
        <p14:creationId xmlns:p14="http://schemas.microsoft.com/office/powerpoint/2010/main" val="384843350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LeNet</a:t>
            </a:r>
            <a:r>
              <a:rPr lang="zh-CN" altLang="en-US" dirty="0" smtClean="0"/>
              <a:t>神经网络</a:t>
            </a:r>
            <a:endParaRPr lang="zh-CN" altLang="en-US" dirty="0"/>
          </a:p>
        </p:txBody>
      </p:sp>
      <p:sp>
        <p:nvSpPr>
          <p:cNvPr id="3" name="内容占位符 2"/>
          <p:cNvSpPr>
            <a:spLocks noGrp="1"/>
          </p:cNvSpPr>
          <p:nvPr>
            <p:ph sz="quarter" idx="13"/>
          </p:nvPr>
        </p:nvSpPr>
        <p:spPr/>
        <p:txBody>
          <a:bodyPr/>
          <a:lstStyle/>
          <a:p>
            <a:r>
              <a:rPr lang="en-US" altLang="zh-CN" dirty="0" err="1" smtClean="0"/>
              <a:t>LeNet</a:t>
            </a:r>
            <a:endParaRPr lang="en-US" altLang="zh-CN" dirty="0"/>
          </a:p>
          <a:p>
            <a:pPr lvl="1"/>
            <a:r>
              <a:rPr lang="en-US" altLang="zh-CN" dirty="0" err="1" smtClean="0"/>
              <a:t>Yann</a:t>
            </a:r>
            <a:r>
              <a:rPr lang="en-US" altLang="zh-CN" dirty="0" smtClean="0"/>
              <a:t> </a:t>
            </a:r>
            <a:r>
              <a:rPr lang="en-US" altLang="zh-CN" dirty="0" err="1" smtClean="0"/>
              <a:t>LeCun</a:t>
            </a:r>
            <a:r>
              <a:rPr lang="zh-CN" altLang="en-US" dirty="0" smtClean="0"/>
              <a:t>于</a:t>
            </a:r>
            <a:r>
              <a:rPr lang="en-US" altLang="zh-CN" dirty="0" smtClean="0"/>
              <a:t>1998</a:t>
            </a:r>
            <a:r>
              <a:rPr lang="zh-CN" altLang="en-US" dirty="0" smtClean="0"/>
              <a:t>年提出</a:t>
            </a:r>
            <a:endParaRPr lang="en-US" altLang="zh-CN" dirty="0" smtClean="0"/>
          </a:p>
          <a:p>
            <a:pPr lvl="1"/>
            <a:r>
              <a:rPr lang="zh-CN" altLang="en-US" dirty="0" smtClean="0"/>
              <a:t>结构简单</a:t>
            </a:r>
            <a:endParaRPr lang="en-US" altLang="zh-CN" dirty="0" smtClean="0"/>
          </a:p>
          <a:p>
            <a:pPr lvl="1"/>
            <a:r>
              <a:rPr lang="zh-CN" altLang="en-US" dirty="0" smtClean="0"/>
              <a:t>最早的卷积神经网络</a:t>
            </a:r>
            <a:endParaRPr lang="en-US" altLang="zh-CN" dirty="0" smtClean="0"/>
          </a:p>
          <a:p>
            <a:r>
              <a:rPr lang="zh-CN" altLang="en-US" dirty="0" smtClean="0"/>
              <a:t>主要结构</a:t>
            </a:r>
            <a:endParaRPr lang="en-US" altLang="zh-CN" dirty="0" smtClean="0"/>
          </a:p>
          <a:p>
            <a:pPr lvl="1"/>
            <a:r>
              <a:rPr lang="zh-CN" altLang="en-US" dirty="0" smtClean="0"/>
              <a:t>输入图像</a:t>
            </a:r>
            <a:endParaRPr lang="en-US" altLang="zh-CN" dirty="0"/>
          </a:p>
          <a:p>
            <a:pPr lvl="1"/>
            <a:r>
              <a:rPr lang="zh-CN" altLang="en-US" dirty="0"/>
              <a:t>卷积</a:t>
            </a:r>
            <a:r>
              <a:rPr lang="zh-CN" altLang="en-US" dirty="0" smtClean="0"/>
              <a:t>层</a:t>
            </a:r>
            <a:r>
              <a:rPr lang="en-US" altLang="zh-CN" dirty="0" smtClean="0"/>
              <a:t>conv1</a:t>
            </a:r>
          </a:p>
          <a:p>
            <a:pPr lvl="1"/>
            <a:r>
              <a:rPr lang="zh-CN" altLang="en-US" dirty="0"/>
              <a:t>池化</a:t>
            </a:r>
            <a:r>
              <a:rPr lang="zh-CN" altLang="en-US" dirty="0" smtClean="0"/>
              <a:t>层</a:t>
            </a:r>
            <a:r>
              <a:rPr lang="en-US" altLang="zh-CN" dirty="0" smtClean="0"/>
              <a:t>pool1</a:t>
            </a:r>
          </a:p>
          <a:p>
            <a:pPr lvl="1"/>
            <a:r>
              <a:rPr lang="zh-CN" altLang="en-US" dirty="0" smtClean="0"/>
              <a:t>卷积层</a:t>
            </a:r>
            <a:r>
              <a:rPr lang="en-US" altLang="zh-CN" dirty="0" smtClean="0"/>
              <a:t>conv2</a:t>
            </a:r>
          </a:p>
          <a:p>
            <a:pPr lvl="1"/>
            <a:r>
              <a:rPr lang="zh-CN" altLang="en-US" dirty="0"/>
              <a:t>池化</a:t>
            </a:r>
            <a:r>
              <a:rPr lang="zh-CN" altLang="en-US" dirty="0" smtClean="0"/>
              <a:t>层</a:t>
            </a:r>
            <a:r>
              <a:rPr lang="en-US" altLang="zh-CN" dirty="0" smtClean="0"/>
              <a:t>pool2</a:t>
            </a:r>
          </a:p>
          <a:p>
            <a:pPr lvl="1"/>
            <a:r>
              <a:rPr lang="zh-CN" altLang="en-US" dirty="0"/>
              <a:t>全连接</a:t>
            </a:r>
            <a:r>
              <a:rPr lang="zh-CN" altLang="en-US" dirty="0" smtClean="0"/>
              <a:t>层</a:t>
            </a:r>
            <a:r>
              <a:rPr lang="en-US" altLang="zh-CN" dirty="0" smtClean="0"/>
              <a:t>f1</a:t>
            </a:r>
          </a:p>
          <a:p>
            <a:pPr lvl="1"/>
            <a:r>
              <a:rPr lang="zh-CN" altLang="en-US" dirty="0"/>
              <a:t>全</a:t>
            </a:r>
            <a:r>
              <a:rPr lang="zh-CN" altLang="en-US" dirty="0" smtClean="0"/>
              <a:t>连接层</a:t>
            </a:r>
            <a:r>
              <a:rPr lang="en-US" altLang="zh-CN" dirty="0" smtClean="0"/>
              <a:t>f2</a:t>
            </a:r>
          </a:p>
          <a:p>
            <a:pPr lvl="1"/>
            <a:r>
              <a:rPr lang="zh-CN" altLang="en-US" dirty="0" smtClean="0"/>
              <a:t>输出结果</a:t>
            </a:r>
            <a:endParaRPr lang="zh-CN" altLang="en-US" dirty="0"/>
          </a:p>
        </p:txBody>
      </p:sp>
      <p:pic>
        <p:nvPicPr>
          <p:cNvPr id="7" name="图片 6"/>
          <p:cNvPicPr>
            <a:picLocks noChangeAspect="1"/>
          </p:cNvPicPr>
          <p:nvPr/>
        </p:nvPicPr>
        <p:blipFill>
          <a:blip r:embed="rId3"/>
          <a:stretch>
            <a:fillRect/>
          </a:stretch>
        </p:blipFill>
        <p:spPr>
          <a:xfrm>
            <a:off x="4872869" y="2733786"/>
            <a:ext cx="6647619" cy="1800000"/>
          </a:xfrm>
          <a:prstGeom prst="rect">
            <a:avLst/>
          </a:prstGeom>
        </p:spPr>
      </p:pic>
    </p:spTree>
    <p:extLst>
      <p:ext uri="{BB962C8B-B14F-4D97-AF65-F5344CB8AC3E}">
        <p14:creationId xmlns:p14="http://schemas.microsoft.com/office/powerpoint/2010/main" val="167852276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LeNet</a:t>
            </a:r>
            <a:r>
              <a:rPr lang="zh-CN" altLang="en-US" dirty="0"/>
              <a:t>神经网络</a:t>
            </a:r>
          </a:p>
        </p:txBody>
      </p:sp>
      <p:sp>
        <p:nvSpPr>
          <p:cNvPr id="3" name="内容占位符 2"/>
          <p:cNvSpPr>
            <a:spLocks noGrp="1"/>
          </p:cNvSpPr>
          <p:nvPr>
            <p:ph sz="quarter" idx="13"/>
          </p:nvPr>
        </p:nvSpPr>
        <p:spPr/>
        <p:txBody>
          <a:bodyPr/>
          <a:lstStyle/>
          <a:p>
            <a:r>
              <a:rPr lang="zh-CN" altLang="en-US" dirty="0" smtClean="0"/>
              <a:t>使用参数少，结构简单，模型速度快</a:t>
            </a:r>
            <a:endParaRPr lang="en-US" altLang="zh-CN" dirty="0" smtClean="0"/>
          </a:p>
          <a:p>
            <a:r>
              <a:rPr lang="zh-CN" altLang="en-US" dirty="0" smtClean="0"/>
              <a:t>右图是使用</a:t>
            </a:r>
            <a:r>
              <a:rPr lang="en-US" altLang="zh-CN" dirty="0" smtClean="0"/>
              <a:t>LeNet-5</a:t>
            </a:r>
            <a:r>
              <a:rPr lang="zh-CN" altLang="en-US" dirty="0" smtClean="0"/>
              <a:t>识别数字</a:t>
            </a:r>
            <a:r>
              <a:rPr lang="en-US" altLang="zh-CN" dirty="0" smtClean="0"/>
              <a:t>3</a:t>
            </a:r>
            <a:r>
              <a:rPr lang="zh-CN" altLang="en-US" dirty="0" smtClean="0"/>
              <a:t>的过程。</a:t>
            </a:r>
            <a:endParaRPr lang="zh-CN" altLang="en-US" dirty="0"/>
          </a:p>
        </p:txBody>
      </p:sp>
      <p:pic>
        <p:nvPicPr>
          <p:cNvPr id="4" name="图片 3"/>
          <p:cNvPicPr>
            <a:picLocks noChangeAspect="1"/>
          </p:cNvPicPr>
          <p:nvPr/>
        </p:nvPicPr>
        <p:blipFill>
          <a:blip r:embed="rId3"/>
          <a:stretch>
            <a:fillRect/>
          </a:stretch>
        </p:blipFill>
        <p:spPr>
          <a:xfrm>
            <a:off x="6413626" y="1705214"/>
            <a:ext cx="5038095" cy="3857143"/>
          </a:xfrm>
          <a:prstGeom prst="rect">
            <a:avLst/>
          </a:prstGeom>
        </p:spPr>
      </p:pic>
    </p:spTree>
    <p:extLst>
      <p:ext uri="{BB962C8B-B14F-4D97-AF65-F5344CB8AC3E}">
        <p14:creationId xmlns:p14="http://schemas.microsoft.com/office/powerpoint/2010/main" val="6535069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AlexNet</a:t>
            </a:r>
            <a:r>
              <a:rPr lang="zh-CN" altLang="en-US" dirty="0" smtClean="0"/>
              <a:t>神经网络</a:t>
            </a:r>
            <a:endParaRPr lang="zh-CN" altLang="en-US" dirty="0"/>
          </a:p>
        </p:txBody>
      </p:sp>
      <p:sp>
        <p:nvSpPr>
          <p:cNvPr id="3" name="内容占位符 2"/>
          <p:cNvSpPr>
            <a:spLocks noGrp="1"/>
          </p:cNvSpPr>
          <p:nvPr>
            <p:ph sz="quarter" idx="13"/>
          </p:nvPr>
        </p:nvSpPr>
        <p:spPr/>
        <p:txBody>
          <a:bodyPr/>
          <a:lstStyle/>
          <a:p>
            <a:r>
              <a:rPr lang="en-US" altLang="zh-CN" dirty="0" err="1" smtClean="0"/>
              <a:t>AlexNet</a:t>
            </a:r>
            <a:endParaRPr lang="en-US" altLang="zh-CN" dirty="0" smtClean="0"/>
          </a:p>
          <a:p>
            <a:pPr lvl="1"/>
            <a:r>
              <a:rPr lang="zh-CN" altLang="en-US" dirty="0" smtClean="0"/>
              <a:t>由</a:t>
            </a:r>
            <a:r>
              <a:rPr lang="en-US" altLang="zh-CN" dirty="0" smtClean="0"/>
              <a:t>Hinton</a:t>
            </a:r>
            <a:r>
              <a:rPr lang="zh-CN" altLang="en-US" dirty="0" smtClean="0"/>
              <a:t>和</a:t>
            </a:r>
            <a:r>
              <a:rPr lang="en-US" altLang="zh-CN" dirty="0" smtClean="0"/>
              <a:t>Alex </a:t>
            </a:r>
            <a:r>
              <a:rPr lang="en-US" altLang="zh-CN" dirty="0" err="1" smtClean="0"/>
              <a:t>Krizhevsky</a:t>
            </a:r>
            <a:r>
              <a:rPr lang="zh-CN" altLang="en-US" dirty="0" smtClean="0"/>
              <a:t>于</a:t>
            </a:r>
            <a:r>
              <a:rPr lang="en-US" altLang="zh-CN" dirty="0" smtClean="0"/>
              <a:t>2012</a:t>
            </a:r>
            <a:r>
              <a:rPr lang="zh-CN" altLang="en-US" dirty="0" smtClean="0"/>
              <a:t>年设计</a:t>
            </a:r>
            <a:endParaRPr lang="en-US" altLang="zh-CN" dirty="0" smtClean="0"/>
          </a:p>
          <a:p>
            <a:pPr lvl="1"/>
            <a:r>
              <a:rPr lang="zh-CN" altLang="en-US" dirty="0" smtClean="0"/>
              <a:t>第一个在</a:t>
            </a:r>
            <a:r>
              <a:rPr lang="en-US" altLang="zh-CN" dirty="0" smtClean="0"/>
              <a:t>ILSVRC</a:t>
            </a:r>
            <a:r>
              <a:rPr lang="zh-CN" altLang="en-US" dirty="0" smtClean="0"/>
              <a:t>获得冠军的卷积神经网络</a:t>
            </a:r>
            <a:endParaRPr lang="en-US" altLang="zh-CN" dirty="0" smtClean="0"/>
          </a:p>
          <a:p>
            <a:r>
              <a:rPr lang="zh-CN" altLang="en-US" dirty="0" smtClean="0"/>
              <a:t>主要结构</a:t>
            </a:r>
            <a:endParaRPr lang="en-US" altLang="zh-CN" dirty="0" smtClean="0"/>
          </a:p>
          <a:p>
            <a:pPr lvl="1"/>
            <a:r>
              <a:rPr lang="zh-CN" altLang="en-US" dirty="0" smtClean="0"/>
              <a:t>输入图像</a:t>
            </a:r>
            <a:endParaRPr lang="en-US" altLang="zh-CN" dirty="0" smtClean="0"/>
          </a:p>
          <a:p>
            <a:pPr lvl="1"/>
            <a:r>
              <a:rPr lang="zh-CN" altLang="en-US" dirty="0" smtClean="0"/>
              <a:t>卷积层</a:t>
            </a:r>
            <a:r>
              <a:rPr lang="en-US" altLang="zh-CN" dirty="0" smtClean="0"/>
              <a:t>conv1+</a:t>
            </a:r>
            <a:r>
              <a:rPr lang="zh-CN" altLang="en-US" dirty="0" smtClean="0"/>
              <a:t>池化层</a:t>
            </a:r>
            <a:r>
              <a:rPr lang="en-US" altLang="zh-CN" dirty="0" smtClean="0"/>
              <a:t>pool1</a:t>
            </a:r>
          </a:p>
          <a:p>
            <a:pPr lvl="1"/>
            <a:r>
              <a:rPr lang="zh-CN" altLang="en-US" dirty="0"/>
              <a:t>卷积层</a:t>
            </a:r>
            <a:r>
              <a:rPr lang="en-US" altLang="zh-CN" dirty="0" smtClean="0"/>
              <a:t>conv2+</a:t>
            </a:r>
            <a:r>
              <a:rPr lang="zh-CN" altLang="en-US" dirty="0"/>
              <a:t>池化层</a:t>
            </a:r>
            <a:r>
              <a:rPr lang="en-US" altLang="zh-CN" dirty="0" smtClean="0"/>
              <a:t>pool2</a:t>
            </a:r>
            <a:endParaRPr lang="en-US" altLang="zh-CN" dirty="0"/>
          </a:p>
          <a:p>
            <a:pPr lvl="1"/>
            <a:r>
              <a:rPr lang="zh-CN" altLang="en-US" dirty="0"/>
              <a:t>卷积</a:t>
            </a:r>
            <a:r>
              <a:rPr lang="zh-CN" altLang="en-US" dirty="0" smtClean="0"/>
              <a:t>层</a:t>
            </a:r>
            <a:r>
              <a:rPr lang="en-US" altLang="zh-CN" dirty="0" smtClean="0"/>
              <a:t>conv3,conv4,conv5</a:t>
            </a:r>
          </a:p>
          <a:p>
            <a:pPr lvl="1"/>
            <a:r>
              <a:rPr lang="zh-CN" altLang="en-US" dirty="0"/>
              <a:t>池化</a:t>
            </a:r>
            <a:r>
              <a:rPr lang="zh-CN" altLang="en-US" dirty="0" smtClean="0"/>
              <a:t>层</a:t>
            </a:r>
            <a:r>
              <a:rPr lang="en-US" altLang="zh-CN" dirty="0" smtClean="0"/>
              <a:t>pool3</a:t>
            </a:r>
          </a:p>
          <a:p>
            <a:pPr lvl="1"/>
            <a:r>
              <a:rPr lang="zh-CN" altLang="en-US" dirty="0"/>
              <a:t>全连接</a:t>
            </a:r>
            <a:r>
              <a:rPr lang="zh-CN" altLang="en-US" dirty="0" smtClean="0"/>
              <a:t>层</a:t>
            </a:r>
            <a:r>
              <a:rPr lang="en-US" altLang="zh-CN" dirty="0" smtClean="0"/>
              <a:t>fc1</a:t>
            </a:r>
          </a:p>
          <a:p>
            <a:pPr lvl="1"/>
            <a:r>
              <a:rPr lang="zh-CN" altLang="en-US" dirty="0"/>
              <a:t>全连接</a:t>
            </a:r>
            <a:r>
              <a:rPr lang="zh-CN" altLang="en-US" dirty="0" smtClean="0"/>
              <a:t>层</a:t>
            </a:r>
            <a:r>
              <a:rPr lang="en-US" altLang="zh-CN" dirty="0" smtClean="0"/>
              <a:t>fc2</a:t>
            </a:r>
          </a:p>
          <a:p>
            <a:pPr lvl="1"/>
            <a:r>
              <a:rPr lang="zh-CN" altLang="en-US" dirty="0" smtClean="0"/>
              <a:t>输出结果</a:t>
            </a:r>
            <a:endParaRPr lang="en-US" altLang="zh-CN" dirty="0" smtClean="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7119" y="2529754"/>
            <a:ext cx="6413369" cy="3607520"/>
          </a:xfrm>
          <a:prstGeom prst="rect">
            <a:avLst/>
          </a:prstGeom>
        </p:spPr>
      </p:pic>
    </p:spTree>
    <p:extLst>
      <p:ext uri="{BB962C8B-B14F-4D97-AF65-F5344CB8AC3E}">
        <p14:creationId xmlns:p14="http://schemas.microsoft.com/office/powerpoint/2010/main" val="7137846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AlexNet</a:t>
            </a:r>
            <a:r>
              <a:rPr lang="zh-CN" altLang="en-US" dirty="0"/>
              <a:t>神经网络</a:t>
            </a:r>
          </a:p>
        </p:txBody>
      </p:sp>
      <p:sp>
        <p:nvSpPr>
          <p:cNvPr id="3" name="内容占位符 2"/>
          <p:cNvSpPr>
            <a:spLocks noGrp="1"/>
          </p:cNvSpPr>
          <p:nvPr>
            <p:ph sz="quarter" idx="13"/>
          </p:nvPr>
        </p:nvSpPr>
        <p:spPr/>
        <p:txBody>
          <a:bodyPr/>
          <a:lstStyle/>
          <a:p>
            <a:r>
              <a:rPr lang="zh-CN" altLang="en-US" dirty="0" smtClean="0"/>
              <a:t>使用</a:t>
            </a:r>
            <a:r>
              <a:rPr lang="en-US" altLang="zh-CN" dirty="0" err="1" smtClean="0"/>
              <a:t>ReLU</a:t>
            </a:r>
            <a:r>
              <a:rPr lang="zh-CN" altLang="en-US" dirty="0" smtClean="0"/>
              <a:t>作为激活函数</a:t>
            </a:r>
            <a:endParaRPr lang="en-US" altLang="zh-CN" dirty="0" smtClean="0"/>
          </a:p>
          <a:p>
            <a:pPr lvl="1"/>
            <a:r>
              <a:rPr lang="zh-CN" altLang="en-US" dirty="0" smtClean="0"/>
              <a:t>取代了原先的激活函数</a:t>
            </a:r>
            <a:r>
              <a:rPr lang="en-US" altLang="zh-CN" dirty="0" smtClean="0"/>
              <a:t>Sigmoid</a:t>
            </a:r>
            <a:r>
              <a:rPr lang="zh-CN" altLang="en-US" dirty="0"/>
              <a:t>或</a:t>
            </a:r>
            <a:r>
              <a:rPr lang="en-US" altLang="zh-CN" dirty="0" err="1" smtClean="0"/>
              <a:t>tanh</a:t>
            </a:r>
            <a:r>
              <a:rPr lang="en-US" altLang="zh-CN" dirty="0" smtClean="0"/>
              <a:t>(x</a:t>
            </a:r>
            <a:r>
              <a:rPr lang="en-US" altLang="zh-CN" dirty="0"/>
              <a:t>)</a:t>
            </a:r>
            <a:endParaRPr lang="en-US" altLang="zh-CN" dirty="0" smtClean="0"/>
          </a:p>
          <a:p>
            <a:r>
              <a:rPr lang="zh-CN" altLang="en-US" dirty="0" smtClean="0"/>
              <a:t>使用多种方法避免过拟合</a:t>
            </a:r>
            <a:endParaRPr lang="en-US" altLang="zh-CN" dirty="0" smtClean="0"/>
          </a:p>
          <a:p>
            <a:pPr lvl="1"/>
            <a:r>
              <a:rPr lang="zh-CN" altLang="en-US" dirty="0"/>
              <a:t>数据</a:t>
            </a:r>
            <a:r>
              <a:rPr lang="zh-CN" altLang="en-US" dirty="0" smtClean="0"/>
              <a:t>增强</a:t>
            </a:r>
            <a:endParaRPr lang="en-US" altLang="zh-CN" dirty="0"/>
          </a:p>
          <a:p>
            <a:pPr marL="1257300" lvl="2" indent="-342900">
              <a:buFont typeface="+mj-lt"/>
              <a:buAutoNum type="arabicPeriod"/>
            </a:pPr>
            <a:r>
              <a:rPr lang="zh-CN" altLang="en-US" dirty="0" smtClean="0"/>
              <a:t>随机裁剪</a:t>
            </a:r>
            <a:endParaRPr lang="en-US" altLang="zh-CN" dirty="0" smtClean="0"/>
          </a:p>
          <a:p>
            <a:pPr marL="1257300" lvl="2" indent="-342900">
              <a:buFont typeface="+mj-lt"/>
              <a:buAutoNum type="arabicPeriod"/>
            </a:pPr>
            <a:r>
              <a:rPr lang="zh-CN" altLang="en-US" dirty="0" smtClean="0"/>
              <a:t>随机翻转平移缩放等</a:t>
            </a:r>
            <a:endParaRPr lang="en-US" altLang="zh-CN" dirty="0" smtClean="0"/>
          </a:p>
          <a:p>
            <a:pPr lvl="1"/>
            <a:r>
              <a:rPr lang="zh-CN" altLang="en-US" dirty="0" smtClean="0"/>
              <a:t>使用</a:t>
            </a:r>
            <a:r>
              <a:rPr lang="en-US" altLang="zh-CN" dirty="0" smtClean="0"/>
              <a:t>dropout</a:t>
            </a: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5848" y="1814511"/>
            <a:ext cx="4391025" cy="3638550"/>
          </a:xfrm>
          <a:prstGeom prst="rect">
            <a:avLst/>
          </a:prstGeom>
        </p:spPr>
      </p:pic>
      <p:cxnSp>
        <p:nvCxnSpPr>
          <p:cNvPr id="7" name="直接连接符 6"/>
          <p:cNvCxnSpPr/>
          <p:nvPr/>
        </p:nvCxnSpPr>
        <p:spPr>
          <a:xfrm>
            <a:off x="9445658" y="1461155"/>
            <a:ext cx="6127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9445658" y="1736665"/>
            <a:ext cx="612742"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0058400" y="1338044"/>
            <a:ext cx="511679" cy="246221"/>
          </a:xfrm>
          <a:prstGeom prst="rect">
            <a:avLst/>
          </a:prstGeom>
          <a:noFill/>
        </p:spPr>
        <p:txBody>
          <a:bodyPr wrap="none" rtlCol="0">
            <a:spAutoFit/>
          </a:bodyPr>
          <a:lstStyle/>
          <a:p>
            <a:r>
              <a:rPr lang="en-US" altLang="zh-CN" sz="1000" dirty="0" err="1" smtClean="0"/>
              <a:t>ReLU</a:t>
            </a:r>
            <a:endParaRPr lang="zh-CN" altLang="en-US" sz="1000" dirty="0"/>
          </a:p>
        </p:txBody>
      </p:sp>
      <p:sp>
        <p:nvSpPr>
          <p:cNvPr id="10" name="文本框 9"/>
          <p:cNvSpPr txBox="1"/>
          <p:nvPr/>
        </p:nvSpPr>
        <p:spPr>
          <a:xfrm>
            <a:off x="10058400" y="1584265"/>
            <a:ext cx="431528" cy="246221"/>
          </a:xfrm>
          <a:prstGeom prst="rect">
            <a:avLst/>
          </a:prstGeom>
          <a:noFill/>
        </p:spPr>
        <p:txBody>
          <a:bodyPr wrap="none" rtlCol="0">
            <a:spAutoFit/>
          </a:bodyPr>
          <a:lstStyle/>
          <a:p>
            <a:r>
              <a:rPr lang="en-US" altLang="zh-CN" sz="1000" dirty="0" err="1" smtClean="0"/>
              <a:t>tanh</a:t>
            </a:r>
            <a:endParaRPr lang="zh-CN" altLang="en-US" sz="1000" dirty="0"/>
          </a:p>
        </p:txBody>
      </p:sp>
    </p:spTree>
    <p:extLst>
      <p:ext uri="{BB962C8B-B14F-4D97-AF65-F5344CB8AC3E}">
        <p14:creationId xmlns:p14="http://schemas.microsoft.com/office/powerpoint/2010/main" val="222263817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AlexNet</a:t>
            </a:r>
            <a:r>
              <a:rPr lang="zh-CN" altLang="en-US" dirty="0" smtClean="0"/>
              <a:t>神经网络</a:t>
            </a:r>
            <a:endParaRPr lang="zh-CN" altLang="en-US" dirty="0"/>
          </a:p>
        </p:txBody>
      </p:sp>
      <p:sp>
        <p:nvSpPr>
          <p:cNvPr id="3" name="内容占位符 2"/>
          <p:cNvSpPr>
            <a:spLocks noGrp="1"/>
          </p:cNvSpPr>
          <p:nvPr>
            <p:ph sz="quarter" idx="13"/>
          </p:nvPr>
        </p:nvSpPr>
        <p:spPr/>
        <p:txBody>
          <a:bodyPr/>
          <a:lstStyle/>
          <a:p>
            <a:r>
              <a:rPr lang="en-US" altLang="zh-CN" dirty="0" err="1" smtClean="0"/>
              <a:t>ZFNet</a:t>
            </a:r>
            <a:r>
              <a:rPr lang="zh-CN" altLang="en-US" dirty="0" smtClean="0"/>
              <a:t>在</a:t>
            </a:r>
            <a:r>
              <a:rPr lang="en-US" altLang="zh-CN" dirty="0" err="1" smtClean="0"/>
              <a:t>AlexNet</a:t>
            </a:r>
            <a:r>
              <a:rPr lang="zh-CN" altLang="en-US" dirty="0" smtClean="0"/>
              <a:t>的基础上做了超参数的调整：</a:t>
            </a:r>
            <a:endParaRPr lang="en-US" altLang="zh-CN" dirty="0" smtClean="0"/>
          </a:p>
          <a:p>
            <a:pPr lvl="1"/>
            <a:r>
              <a:rPr lang="en-US" altLang="zh-CN" dirty="0" smtClean="0"/>
              <a:t>Conv1</a:t>
            </a:r>
            <a:r>
              <a:rPr lang="zh-CN" altLang="en-US" dirty="0" smtClean="0"/>
              <a:t>尺寸由（</a:t>
            </a:r>
            <a:r>
              <a:rPr lang="en-US" altLang="zh-CN" dirty="0" smtClean="0"/>
              <a:t>11</a:t>
            </a:r>
            <a:r>
              <a:rPr lang="zh-CN" altLang="en-US" dirty="0" smtClean="0"/>
              <a:t>，</a:t>
            </a:r>
            <a:r>
              <a:rPr lang="en-US" altLang="zh-CN" dirty="0" smtClean="0"/>
              <a:t>11</a:t>
            </a:r>
            <a:r>
              <a:rPr lang="zh-CN" altLang="en-US" dirty="0" smtClean="0"/>
              <a:t>）变为（</a:t>
            </a:r>
            <a:r>
              <a:rPr lang="en-US" altLang="zh-CN" dirty="0" smtClean="0"/>
              <a:t>7</a:t>
            </a:r>
            <a:r>
              <a:rPr lang="zh-CN" altLang="en-US" dirty="0" smtClean="0"/>
              <a:t>，</a:t>
            </a:r>
            <a:r>
              <a:rPr lang="en-US" altLang="zh-CN" dirty="0" smtClean="0"/>
              <a:t>7</a:t>
            </a:r>
            <a:r>
              <a:rPr lang="zh-CN" altLang="en-US" dirty="0" smtClean="0"/>
              <a:t>），步长由</a:t>
            </a:r>
            <a:r>
              <a:rPr lang="en-US" altLang="zh-CN" dirty="0" smtClean="0"/>
              <a:t>4</a:t>
            </a:r>
            <a:r>
              <a:rPr lang="zh-CN" altLang="en-US" dirty="0" smtClean="0"/>
              <a:t>变为</a:t>
            </a:r>
            <a:r>
              <a:rPr lang="en-US" altLang="zh-CN" dirty="0" smtClean="0"/>
              <a:t>2</a:t>
            </a:r>
          </a:p>
          <a:p>
            <a:pPr lvl="1"/>
            <a:r>
              <a:rPr lang="en-US" altLang="zh-CN" dirty="0" smtClean="0"/>
              <a:t>Conv3~5</a:t>
            </a:r>
            <a:r>
              <a:rPr lang="zh-CN" altLang="en-US" dirty="0" smtClean="0"/>
              <a:t>卷积核个数分别从</a:t>
            </a:r>
            <a:r>
              <a:rPr lang="en-US" altLang="zh-CN" dirty="0" smtClean="0"/>
              <a:t>384</a:t>
            </a:r>
            <a:r>
              <a:rPr lang="zh-CN" altLang="en-US" dirty="0" smtClean="0"/>
              <a:t>、</a:t>
            </a:r>
            <a:r>
              <a:rPr lang="en-US" altLang="zh-CN" dirty="0" smtClean="0"/>
              <a:t>384</a:t>
            </a:r>
            <a:r>
              <a:rPr lang="zh-CN" altLang="en-US" dirty="0" smtClean="0"/>
              <a:t>、</a:t>
            </a:r>
            <a:r>
              <a:rPr lang="en-US" altLang="zh-CN" dirty="0" smtClean="0"/>
              <a:t>256</a:t>
            </a:r>
            <a:r>
              <a:rPr lang="zh-CN" altLang="en-US" dirty="0" smtClean="0"/>
              <a:t>改为</a:t>
            </a:r>
            <a:r>
              <a:rPr lang="en-US" altLang="zh-CN" dirty="0" smtClean="0"/>
              <a:t>512</a:t>
            </a:r>
            <a:r>
              <a:rPr lang="zh-CN" altLang="en-US" dirty="0" smtClean="0"/>
              <a:t>、</a:t>
            </a:r>
            <a:r>
              <a:rPr lang="en-US" altLang="zh-CN" dirty="0" smtClean="0"/>
              <a:t>1024</a:t>
            </a:r>
            <a:r>
              <a:rPr lang="zh-CN" altLang="en-US" dirty="0" smtClean="0"/>
              <a:t>、</a:t>
            </a:r>
            <a:r>
              <a:rPr lang="en-US" altLang="zh-CN" dirty="0" smtClean="0"/>
              <a:t>512</a:t>
            </a:r>
          </a:p>
          <a:p>
            <a:pPr lvl="1"/>
            <a:r>
              <a:rPr lang="zh-CN" altLang="en-US" dirty="0" smtClean="0"/>
              <a:t>获得</a:t>
            </a:r>
            <a:r>
              <a:rPr lang="en-US" altLang="zh-CN" dirty="0" smtClean="0"/>
              <a:t>2013</a:t>
            </a:r>
            <a:r>
              <a:rPr lang="zh-CN" altLang="en-US" dirty="0" smtClean="0"/>
              <a:t>年</a:t>
            </a:r>
            <a:r>
              <a:rPr lang="en-US" altLang="zh-CN" dirty="0" smtClean="0"/>
              <a:t>ILSVRC</a:t>
            </a:r>
            <a:r>
              <a:rPr lang="zh-CN" altLang="en-US" dirty="0" smtClean="0"/>
              <a:t>冠军</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556" y="2808292"/>
            <a:ext cx="6591300" cy="3533775"/>
          </a:xfrm>
          <a:prstGeom prst="rect">
            <a:avLst/>
          </a:prstGeom>
        </p:spPr>
      </p:pic>
    </p:spTree>
    <p:extLst>
      <p:ext uri="{BB962C8B-B14F-4D97-AF65-F5344CB8AC3E}">
        <p14:creationId xmlns:p14="http://schemas.microsoft.com/office/powerpoint/2010/main" val="169148499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VGG</a:t>
            </a:r>
            <a:r>
              <a:rPr lang="zh-CN" altLang="en-US" dirty="0" smtClean="0"/>
              <a:t>神经网络</a:t>
            </a:r>
            <a:endParaRPr lang="zh-CN" altLang="en-US" dirty="0"/>
          </a:p>
        </p:txBody>
      </p:sp>
      <p:sp>
        <p:nvSpPr>
          <p:cNvPr id="3" name="内容占位符 2"/>
          <p:cNvSpPr>
            <a:spLocks noGrp="1"/>
          </p:cNvSpPr>
          <p:nvPr>
            <p:ph sz="quarter" idx="13"/>
          </p:nvPr>
        </p:nvSpPr>
        <p:spPr/>
        <p:txBody>
          <a:bodyPr/>
          <a:lstStyle/>
          <a:p>
            <a:r>
              <a:rPr lang="en-US" altLang="zh-CN" dirty="0" smtClean="0"/>
              <a:t>VGG</a:t>
            </a:r>
            <a:r>
              <a:rPr lang="zh-CN" altLang="en-US" dirty="0" smtClean="0"/>
              <a:t>神经网络</a:t>
            </a:r>
            <a:endParaRPr lang="en-US" altLang="zh-CN" dirty="0" smtClean="0"/>
          </a:p>
          <a:p>
            <a:pPr lvl="1"/>
            <a:r>
              <a:rPr lang="zh-CN" altLang="en-US" dirty="0" smtClean="0"/>
              <a:t>由牛津大学的</a:t>
            </a:r>
            <a:r>
              <a:rPr lang="en-US" altLang="zh-CN" b="1" dirty="0" smtClean="0"/>
              <a:t>V</a:t>
            </a:r>
            <a:r>
              <a:rPr lang="en-US" altLang="zh-CN" dirty="0" smtClean="0"/>
              <a:t>isual</a:t>
            </a:r>
            <a:r>
              <a:rPr lang="en-US" altLang="zh-CN" dirty="0"/>
              <a:t> </a:t>
            </a:r>
            <a:r>
              <a:rPr lang="en-US" altLang="zh-CN" b="1" dirty="0"/>
              <a:t>G</a:t>
            </a:r>
            <a:r>
              <a:rPr lang="en-US" altLang="zh-CN" dirty="0"/>
              <a:t>eometry </a:t>
            </a:r>
            <a:r>
              <a:rPr lang="en-US" altLang="zh-CN" b="1" dirty="0" smtClean="0"/>
              <a:t>G</a:t>
            </a:r>
            <a:r>
              <a:rPr lang="en-US" altLang="zh-CN" dirty="0" smtClean="0"/>
              <a:t>roup</a:t>
            </a:r>
            <a:r>
              <a:rPr lang="zh-CN" altLang="en-US" dirty="0" smtClean="0"/>
              <a:t>于</a:t>
            </a:r>
            <a:r>
              <a:rPr lang="en-US" altLang="zh-CN" dirty="0" smtClean="0"/>
              <a:t>2014</a:t>
            </a:r>
            <a:r>
              <a:rPr lang="zh-CN" altLang="en-US" dirty="0" smtClean="0"/>
              <a:t>年提出</a:t>
            </a:r>
            <a:endParaRPr lang="en-US" altLang="zh-CN" dirty="0" smtClean="0"/>
          </a:p>
          <a:p>
            <a:pPr lvl="1"/>
            <a:r>
              <a:rPr lang="zh-CN" altLang="en-US" dirty="0" smtClean="0"/>
              <a:t>在</a:t>
            </a:r>
            <a:r>
              <a:rPr lang="en-US" altLang="zh-CN" dirty="0" smtClean="0"/>
              <a:t>2014</a:t>
            </a:r>
            <a:r>
              <a:rPr lang="zh-CN" altLang="en-US" dirty="0" smtClean="0"/>
              <a:t>的</a:t>
            </a:r>
            <a:r>
              <a:rPr lang="en-US" altLang="zh-CN" dirty="0" err="1" smtClean="0"/>
              <a:t>ImageNet</a:t>
            </a:r>
            <a:r>
              <a:rPr lang="zh-CN" altLang="en-US" dirty="0" smtClean="0"/>
              <a:t>比赛获得亚军</a:t>
            </a:r>
            <a:endParaRPr lang="en-US" altLang="zh-CN" dirty="0" smtClean="0"/>
          </a:p>
          <a:p>
            <a:pPr lvl="1"/>
            <a:r>
              <a:rPr lang="zh-CN" altLang="en-US" dirty="0" smtClean="0"/>
              <a:t>证明了增加网络深度能够影响网络性能</a:t>
            </a:r>
            <a:endParaRPr lang="en-US" altLang="zh-CN" dirty="0" smtClean="0"/>
          </a:p>
          <a:p>
            <a:r>
              <a:rPr lang="zh-CN" altLang="en-US" dirty="0" smtClean="0"/>
              <a:t>主要结构（以</a:t>
            </a:r>
            <a:r>
              <a:rPr lang="en-US" altLang="zh-CN" dirty="0" smtClean="0"/>
              <a:t>VGG16</a:t>
            </a:r>
            <a:r>
              <a:rPr lang="zh-CN" altLang="en-US" dirty="0" smtClean="0"/>
              <a:t>为例）</a:t>
            </a:r>
            <a:endParaRPr lang="en-US" altLang="zh-CN" dirty="0" smtClean="0"/>
          </a:p>
          <a:p>
            <a:pPr lvl="1"/>
            <a:r>
              <a:rPr lang="zh-CN" altLang="en-US" dirty="0"/>
              <a:t>输入</a:t>
            </a:r>
            <a:r>
              <a:rPr lang="zh-CN" altLang="en-US" dirty="0" smtClean="0"/>
              <a:t>图像</a:t>
            </a:r>
            <a:endParaRPr lang="en-US" altLang="zh-CN" dirty="0" smtClean="0"/>
          </a:p>
          <a:p>
            <a:pPr lvl="1"/>
            <a:r>
              <a:rPr lang="en-US" altLang="zh-CN" dirty="0" smtClean="0"/>
              <a:t>Block1:</a:t>
            </a:r>
            <a:r>
              <a:rPr lang="zh-CN" altLang="en-US" dirty="0" smtClean="0"/>
              <a:t>卷积层</a:t>
            </a:r>
            <a:r>
              <a:rPr lang="en-US" altLang="zh-CN" dirty="0" smtClean="0"/>
              <a:t>conv1,conv2,</a:t>
            </a:r>
            <a:r>
              <a:rPr lang="zh-CN" altLang="en-US" dirty="0" smtClean="0"/>
              <a:t>池化层</a:t>
            </a:r>
            <a:r>
              <a:rPr lang="en-US" altLang="zh-CN" dirty="0" smtClean="0"/>
              <a:t>pool1</a:t>
            </a:r>
          </a:p>
          <a:p>
            <a:pPr lvl="1"/>
            <a:r>
              <a:rPr lang="en-US" altLang="zh-CN" dirty="0" smtClean="0"/>
              <a:t>Block2:</a:t>
            </a:r>
            <a:r>
              <a:rPr lang="zh-CN" altLang="en-US" dirty="0" smtClean="0"/>
              <a:t>卷积层</a:t>
            </a:r>
            <a:r>
              <a:rPr lang="en-US" altLang="zh-CN" dirty="0" smtClean="0"/>
              <a:t>conv3,conv4,</a:t>
            </a:r>
            <a:r>
              <a:rPr lang="zh-CN" altLang="en-US" dirty="0" smtClean="0"/>
              <a:t>池化层</a:t>
            </a:r>
            <a:r>
              <a:rPr lang="en-US" altLang="zh-CN" dirty="0" smtClean="0"/>
              <a:t>pool2</a:t>
            </a:r>
          </a:p>
          <a:p>
            <a:pPr lvl="1"/>
            <a:r>
              <a:rPr lang="en-US" altLang="zh-CN" dirty="0" smtClean="0"/>
              <a:t>Block3:</a:t>
            </a:r>
            <a:r>
              <a:rPr lang="zh-CN" altLang="en-US" dirty="0" smtClean="0"/>
              <a:t>卷积层</a:t>
            </a:r>
            <a:r>
              <a:rPr lang="en-US" altLang="zh-CN" dirty="0" smtClean="0"/>
              <a:t>conv5-7</a:t>
            </a:r>
            <a:r>
              <a:rPr lang="zh-CN" altLang="en-US" dirty="0" smtClean="0"/>
              <a:t>，池化层</a:t>
            </a:r>
            <a:r>
              <a:rPr lang="en-US" altLang="zh-CN" dirty="0" smtClean="0"/>
              <a:t>pool3</a:t>
            </a:r>
          </a:p>
          <a:p>
            <a:pPr lvl="1"/>
            <a:r>
              <a:rPr lang="en-US" altLang="zh-CN" dirty="0" smtClean="0"/>
              <a:t>Block4:</a:t>
            </a:r>
            <a:r>
              <a:rPr lang="zh-CN" altLang="en-US" dirty="0" smtClean="0"/>
              <a:t>卷积层</a:t>
            </a:r>
            <a:r>
              <a:rPr lang="en-US" altLang="zh-CN" dirty="0" smtClean="0"/>
              <a:t>conv8-10</a:t>
            </a:r>
            <a:r>
              <a:rPr lang="zh-CN" altLang="en-US" dirty="0" smtClean="0"/>
              <a:t>，</a:t>
            </a:r>
            <a:r>
              <a:rPr lang="zh-CN" altLang="en-US" dirty="0"/>
              <a:t>池化层</a:t>
            </a:r>
            <a:r>
              <a:rPr lang="en-US" altLang="zh-CN" dirty="0" smtClean="0"/>
              <a:t>pool4</a:t>
            </a:r>
          </a:p>
          <a:p>
            <a:pPr lvl="1"/>
            <a:r>
              <a:rPr lang="en-US" altLang="zh-CN" dirty="0" smtClean="0"/>
              <a:t>Block5:</a:t>
            </a:r>
            <a:r>
              <a:rPr lang="zh-CN" altLang="en-US" dirty="0" smtClean="0"/>
              <a:t>卷积</a:t>
            </a:r>
            <a:r>
              <a:rPr lang="zh-CN" altLang="en-US" dirty="0"/>
              <a:t>层</a:t>
            </a:r>
            <a:r>
              <a:rPr lang="en-US" altLang="zh-CN" dirty="0" smtClean="0"/>
              <a:t>conv11-13</a:t>
            </a:r>
            <a:r>
              <a:rPr lang="zh-CN" altLang="en-US" dirty="0" smtClean="0"/>
              <a:t>，</a:t>
            </a:r>
            <a:r>
              <a:rPr lang="zh-CN" altLang="en-US" dirty="0"/>
              <a:t>池化层</a:t>
            </a:r>
            <a:r>
              <a:rPr lang="en-US" altLang="zh-CN" dirty="0" smtClean="0"/>
              <a:t>pool5</a:t>
            </a:r>
          </a:p>
          <a:p>
            <a:pPr lvl="1"/>
            <a:r>
              <a:rPr lang="zh-CN" altLang="en-US" dirty="0"/>
              <a:t>全连接</a:t>
            </a:r>
            <a:r>
              <a:rPr lang="zh-CN" altLang="en-US" dirty="0" smtClean="0"/>
              <a:t>层</a:t>
            </a:r>
            <a:r>
              <a:rPr lang="en-US" altLang="zh-CN" dirty="0" smtClean="0"/>
              <a:t>fc1,fc2,fc3</a:t>
            </a:r>
          </a:p>
          <a:p>
            <a:pPr lvl="1"/>
            <a:r>
              <a:rPr lang="zh-CN" altLang="en-US" dirty="0"/>
              <a:t>输出结果</a:t>
            </a:r>
            <a:endParaRPr lang="en-US" altLang="zh-CN" dirty="0"/>
          </a:p>
          <a:p>
            <a:pPr lvl="1"/>
            <a:endParaRPr lang="zh-CN" altLang="en-US" dirty="0"/>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0373" y="1130299"/>
            <a:ext cx="4320769" cy="5006975"/>
          </a:xfrm>
          <a:prstGeom prst="rect">
            <a:avLst/>
          </a:prstGeom>
        </p:spPr>
      </p:pic>
    </p:spTree>
    <p:extLst>
      <p:ext uri="{BB962C8B-B14F-4D97-AF65-F5344CB8AC3E}">
        <p14:creationId xmlns:p14="http://schemas.microsoft.com/office/powerpoint/2010/main" val="346697996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VGG</a:t>
            </a:r>
            <a:r>
              <a:rPr lang="zh-CN" altLang="en-US" dirty="0" smtClean="0"/>
              <a:t>神经网络</a:t>
            </a:r>
            <a:endParaRPr lang="zh-CN" altLang="en-US" dirty="0"/>
          </a:p>
        </p:txBody>
      </p:sp>
      <p:sp>
        <p:nvSpPr>
          <p:cNvPr id="3" name="内容占位符 2"/>
          <p:cNvSpPr>
            <a:spLocks noGrp="1"/>
          </p:cNvSpPr>
          <p:nvPr>
            <p:ph sz="quarter" idx="13"/>
          </p:nvPr>
        </p:nvSpPr>
        <p:spPr/>
        <p:txBody>
          <a:bodyPr/>
          <a:lstStyle/>
          <a:p>
            <a:r>
              <a:rPr lang="en-US" altLang="zh-CN" dirty="0" smtClean="0"/>
              <a:t>VGG</a:t>
            </a:r>
            <a:r>
              <a:rPr lang="zh-CN" altLang="en-US" dirty="0" smtClean="0"/>
              <a:t>神经网络的突出特点是简单：</a:t>
            </a:r>
            <a:endParaRPr lang="en-US" altLang="zh-CN" dirty="0" smtClean="0"/>
          </a:p>
          <a:p>
            <a:pPr lvl="1"/>
            <a:r>
              <a:rPr lang="zh-CN" altLang="en-US" dirty="0"/>
              <a:t>卷积</a:t>
            </a:r>
            <a:r>
              <a:rPr lang="zh-CN" altLang="en-US" dirty="0" smtClean="0"/>
              <a:t>层均采用相同的卷积核参数</a:t>
            </a:r>
            <a:endParaRPr lang="en-US" altLang="zh-CN" dirty="0" smtClean="0"/>
          </a:p>
          <a:p>
            <a:pPr lvl="1"/>
            <a:r>
              <a:rPr lang="zh-CN" altLang="en-US" dirty="0"/>
              <a:t>池化</a:t>
            </a:r>
            <a:r>
              <a:rPr lang="zh-CN" altLang="en-US" dirty="0" smtClean="0"/>
              <a:t>层均采用相同的池化核参数</a:t>
            </a:r>
            <a:endParaRPr lang="en-US" altLang="zh-CN" dirty="0" smtClean="0"/>
          </a:p>
          <a:p>
            <a:pPr lvl="1"/>
            <a:r>
              <a:rPr lang="zh-CN" altLang="en-US" dirty="0" smtClean="0"/>
              <a:t>由若干卷积层与池化层堆叠构成</a:t>
            </a:r>
            <a:endParaRPr lang="en-US" altLang="zh-CN" dirty="0" smtClean="0"/>
          </a:p>
          <a:p>
            <a:pPr lvl="1"/>
            <a:r>
              <a:rPr lang="zh-CN" altLang="en-US" dirty="0" smtClean="0"/>
              <a:t>卷积核小，网络层深</a:t>
            </a:r>
            <a:endParaRPr lang="en-US" altLang="zh-CN" dirty="0" smtClean="0"/>
          </a:p>
          <a:p>
            <a:pPr lvl="2"/>
            <a:r>
              <a:rPr lang="zh-CN" altLang="en-US" dirty="0" smtClean="0"/>
              <a:t>可以学习更复杂的非线性关系</a:t>
            </a:r>
            <a:endParaRPr lang="en-US" altLang="zh-CN" dirty="0" smtClean="0"/>
          </a:p>
          <a:p>
            <a:pPr lvl="2"/>
            <a:r>
              <a:rPr lang="zh-CN" altLang="en-US" dirty="0" smtClean="0"/>
              <a:t>权重参数数量减少</a:t>
            </a:r>
            <a:endParaRPr lang="en-US" altLang="zh-CN" dirty="0" smtClean="0"/>
          </a:p>
          <a:p>
            <a:pPr lvl="1"/>
            <a:r>
              <a:rPr lang="zh-CN" altLang="en-US" dirty="0"/>
              <a:t>参数</a:t>
            </a:r>
            <a:r>
              <a:rPr lang="zh-CN" altLang="en-US" dirty="0" smtClean="0"/>
              <a:t>数目巨大，训练时间长</a:t>
            </a:r>
            <a:endParaRPr lang="en-US" altLang="zh-CN" dirty="0" smtClean="0"/>
          </a:p>
          <a:p>
            <a:pPr lvl="1"/>
            <a:r>
              <a:rPr lang="zh-CN" altLang="en-US" dirty="0" smtClean="0"/>
              <a:t>需要存储容量大，不利于部署</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2202675590"/>
              </p:ext>
            </p:extLst>
          </p:nvPr>
        </p:nvGraphicFramePr>
        <p:xfrm>
          <a:off x="2173514" y="4366380"/>
          <a:ext cx="3024000" cy="432000"/>
        </p:xfrm>
        <a:graphic>
          <a:graphicData uri="http://schemas.openxmlformats.org/drawingml/2006/table">
            <a:tbl>
              <a:tblPr firstRow="1" bandRow="1">
                <a:tableStyleId>{5940675A-B579-460E-94D1-54222C63F5DA}</a:tableStyleId>
              </a:tblPr>
              <a:tblGrid>
                <a:gridCol w="432000"/>
                <a:gridCol w="432000"/>
                <a:gridCol w="432000"/>
                <a:gridCol w="432000"/>
                <a:gridCol w="432000"/>
                <a:gridCol w="432000"/>
                <a:gridCol w="432000"/>
              </a:tblGrid>
              <a:tr h="432000">
                <a:tc>
                  <a:txBody>
                    <a:bodyPr/>
                    <a:lstStyle/>
                    <a:p>
                      <a:pPr algn="ctr"/>
                      <a:r>
                        <a:rPr lang="en-US" altLang="zh-CN" dirty="0" smtClean="0"/>
                        <a:t>1</a:t>
                      </a:r>
                      <a:endParaRPr lang="zh-CN" altLang="en-US" dirty="0"/>
                    </a:p>
                  </a:txBody>
                  <a:tcPr anchor="ctr"/>
                </a:tc>
                <a:tc>
                  <a:txBody>
                    <a:bodyPr/>
                    <a:lstStyle/>
                    <a:p>
                      <a:pPr algn="ctr"/>
                      <a:r>
                        <a:rPr lang="en-US" altLang="zh-CN" dirty="0" smtClean="0"/>
                        <a:t>2</a:t>
                      </a:r>
                      <a:endParaRPr lang="zh-CN" altLang="en-US" dirty="0"/>
                    </a:p>
                  </a:txBody>
                  <a:tcPr anchor="ctr"/>
                </a:tc>
                <a:tc>
                  <a:txBody>
                    <a:bodyPr/>
                    <a:lstStyle/>
                    <a:p>
                      <a:pPr algn="ctr"/>
                      <a:r>
                        <a:rPr lang="en-US" altLang="zh-CN" dirty="0" smtClean="0"/>
                        <a:t>3</a:t>
                      </a:r>
                      <a:endParaRPr lang="zh-CN" altLang="en-US" dirty="0"/>
                    </a:p>
                  </a:txBody>
                  <a:tcPr anchor="ctr"/>
                </a:tc>
                <a:tc>
                  <a:txBody>
                    <a:bodyPr/>
                    <a:lstStyle/>
                    <a:p>
                      <a:pPr algn="ctr"/>
                      <a:r>
                        <a:rPr lang="en-US" altLang="zh-CN" dirty="0" smtClean="0"/>
                        <a:t>4</a:t>
                      </a:r>
                      <a:endParaRPr lang="zh-CN" altLang="en-US" dirty="0"/>
                    </a:p>
                  </a:txBody>
                  <a:tcPr anchor="ctr"/>
                </a:tc>
                <a:tc>
                  <a:txBody>
                    <a:bodyPr/>
                    <a:lstStyle/>
                    <a:p>
                      <a:pPr algn="ctr"/>
                      <a:r>
                        <a:rPr lang="en-US" altLang="zh-CN" dirty="0" smtClean="0"/>
                        <a:t>5</a:t>
                      </a:r>
                      <a:endParaRPr lang="zh-CN" altLang="en-US" dirty="0"/>
                    </a:p>
                  </a:txBody>
                  <a:tcPr anchor="ctr"/>
                </a:tc>
                <a:tc>
                  <a:txBody>
                    <a:bodyPr/>
                    <a:lstStyle/>
                    <a:p>
                      <a:pPr algn="ctr"/>
                      <a:r>
                        <a:rPr lang="en-US" altLang="zh-CN" dirty="0" smtClean="0"/>
                        <a:t>6</a:t>
                      </a:r>
                      <a:endParaRPr lang="zh-CN" altLang="en-US" dirty="0"/>
                    </a:p>
                  </a:txBody>
                  <a:tcPr anchor="ctr"/>
                </a:tc>
                <a:tc>
                  <a:txBody>
                    <a:bodyPr/>
                    <a:lstStyle/>
                    <a:p>
                      <a:pPr algn="ctr"/>
                      <a:r>
                        <a:rPr lang="en-US" altLang="zh-CN" dirty="0" smtClean="0"/>
                        <a:t>7</a:t>
                      </a:r>
                      <a:endParaRPr lang="zh-CN" altLang="en-US" dirty="0"/>
                    </a:p>
                  </a:txBody>
                  <a:tcPr anchor="ct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1755197950"/>
              </p:ext>
            </p:extLst>
          </p:nvPr>
        </p:nvGraphicFramePr>
        <p:xfrm>
          <a:off x="3468914" y="5454952"/>
          <a:ext cx="432000" cy="432000"/>
        </p:xfrm>
        <a:graphic>
          <a:graphicData uri="http://schemas.openxmlformats.org/drawingml/2006/table">
            <a:tbl>
              <a:tblPr firstRow="1" bandRow="1">
                <a:tableStyleId>{5940675A-B579-460E-94D1-54222C63F5DA}</a:tableStyleId>
              </a:tblPr>
              <a:tblGrid>
                <a:gridCol w="432000"/>
              </a:tblGrid>
              <a:tr h="432000">
                <a:tc>
                  <a:txBody>
                    <a:bodyPr/>
                    <a:lstStyle/>
                    <a:p>
                      <a:pPr algn="ctr"/>
                      <a:r>
                        <a:rPr lang="en-US" altLang="zh-CN" dirty="0" smtClean="0"/>
                        <a:t>1</a:t>
                      </a:r>
                      <a:endParaRPr lang="zh-CN" altLang="en-US" dirty="0"/>
                    </a:p>
                  </a:txBody>
                  <a:tcPr anchor="ctr"/>
                </a:tc>
              </a:tr>
            </a:tbl>
          </a:graphicData>
        </a:graphic>
      </p:graphicFrame>
      <p:cxnSp>
        <p:nvCxnSpPr>
          <p:cNvPr id="7" name="直接连接符 6"/>
          <p:cNvCxnSpPr/>
          <p:nvPr/>
        </p:nvCxnSpPr>
        <p:spPr>
          <a:xfrm>
            <a:off x="2166257" y="4800600"/>
            <a:ext cx="1284514" cy="653143"/>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9" name="直接连接符 8"/>
          <p:cNvCxnSpPr/>
          <p:nvPr/>
        </p:nvCxnSpPr>
        <p:spPr>
          <a:xfrm flipH="1">
            <a:off x="3886200" y="4800600"/>
            <a:ext cx="1295400" cy="653143"/>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
        <p:nvSpPr>
          <p:cNvPr id="11" name="文本框 10"/>
          <p:cNvSpPr txBox="1"/>
          <p:nvPr/>
        </p:nvSpPr>
        <p:spPr>
          <a:xfrm>
            <a:off x="1597030" y="5453743"/>
            <a:ext cx="1138453" cy="369332"/>
          </a:xfrm>
          <a:prstGeom prst="rect">
            <a:avLst/>
          </a:prstGeom>
          <a:noFill/>
        </p:spPr>
        <p:txBody>
          <a:bodyPr wrap="none" rtlCol="0">
            <a:spAutoFit/>
          </a:bodyPr>
          <a:lstStyle/>
          <a:p>
            <a:r>
              <a:rPr lang="en-US" altLang="zh-CN" dirty="0" smtClean="0"/>
              <a:t>7×7 </a:t>
            </a:r>
            <a:r>
              <a:rPr lang="zh-CN" altLang="en-US" dirty="0" smtClean="0"/>
              <a:t>卷积</a:t>
            </a:r>
            <a:endParaRPr lang="zh-CN" altLang="en-US" dirty="0"/>
          </a:p>
        </p:txBody>
      </p:sp>
      <p:graphicFrame>
        <p:nvGraphicFramePr>
          <p:cNvPr id="12" name="表格 11"/>
          <p:cNvGraphicFramePr>
            <a:graphicFrameLocks noGrp="1"/>
          </p:cNvGraphicFramePr>
          <p:nvPr>
            <p:extLst>
              <p:ext uri="{D42A27DB-BD31-4B8C-83A1-F6EECF244321}">
                <p14:modId xmlns:p14="http://schemas.microsoft.com/office/powerpoint/2010/main" val="3145796734"/>
              </p:ext>
            </p:extLst>
          </p:nvPr>
        </p:nvGraphicFramePr>
        <p:xfrm>
          <a:off x="7507514" y="2883505"/>
          <a:ext cx="3024000" cy="432000"/>
        </p:xfrm>
        <a:graphic>
          <a:graphicData uri="http://schemas.openxmlformats.org/drawingml/2006/table">
            <a:tbl>
              <a:tblPr firstRow="1" bandRow="1">
                <a:tableStyleId>{5940675A-B579-460E-94D1-54222C63F5DA}</a:tableStyleId>
              </a:tblPr>
              <a:tblGrid>
                <a:gridCol w="432000"/>
                <a:gridCol w="432000"/>
                <a:gridCol w="432000"/>
                <a:gridCol w="432000"/>
                <a:gridCol w="432000"/>
                <a:gridCol w="432000"/>
                <a:gridCol w="432000"/>
              </a:tblGrid>
              <a:tr h="432000">
                <a:tc>
                  <a:txBody>
                    <a:bodyPr/>
                    <a:lstStyle/>
                    <a:p>
                      <a:pPr algn="ctr"/>
                      <a:r>
                        <a:rPr lang="en-US" altLang="zh-CN" dirty="0" smtClean="0"/>
                        <a:t>1</a:t>
                      </a:r>
                      <a:endParaRPr lang="zh-CN" altLang="en-US" dirty="0"/>
                    </a:p>
                  </a:txBody>
                  <a:tcPr anchor="ctr"/>
                </a:tc>
                <a:tc>
                  <a:txBody>
                    <a:bodyPr/>
                    <a:lstStyle/>
                    <a:p>
                      <a:pPr algn="ctr"/>
                      <a:r>
                        <a:rPr lang="en-US" altLang="zh-CN" dirty="0" smtClean="0"/>
                        <a:t>2</a:t>
                      </a:r>
                      <a:endParaRPr lang="zh-CN" altLang="en-US" dirty="0"/>
                    </a:p>
                  </a:txBody>
                  <a:tcPr anchor="ctr"/>
                </a:tc>
                <a:tc>
                  <a:txBody>
                    <a:bodyPr/>
                    <a:lstStyle/>
                    <a:p>
                      <a:pPr algn="ctr"/>
                      <a:r>
                        <a:rPr lang="en-US" altLang="zh-CN" dirty="0" smtClean="0"/>
                        <a:t>3</a:t>
                      </a:r>
                      <a:endParaRPr lang="zh-CN" altLang="en-US" dirty="0"/>
                    </a:p>
                  </a:txBody>
                  <a:tcPr anchor="ctr"/>
                </a:tc>
                <a:tc>
                  <a:txBody>
                    <a:bodyPr/>
                    <a:lstStyle/>
                    <a:p>
                      <a:pPr algn="ctr"/>
                      <a:r>
                        <a:rPr lang="en-US" altLang="zh-CN" dirty="0" smtClean="0"/>
                        <a:t>4</a:t>
                      </a:r>
                      <a:endParaRPr lang="zh-CN" altLang="en-US" dirty="0"/>
                    </a:p>
                  </a:txBody>
                  <a:tcPr anchor="ctr"/>
                </a:tc>
                <a:tc>
                  <a:txBody>
                    <a:bodyPr/>
                    <a:lstStyle/>
                    <a:p>
                      <a:pPr algn="ctr"/>
                      <a:r>
                        <a:rPr lang="en-US" altLang="zh-CN" dirty="0" smtClean="0"/>
                        <a:t>5</a:t>
                      </a:r>
                      <a:endParaRPr lang="zh-CN" altLang="en-US" dirty="0"/>
                    </a:p>
                  </a:txBody>
                  <a:tcPr anchor="ctr"/>
                </a:tc>
                <a:tc>
                  <a:txBody>
                    <a:bodyPr/>
                    <a:lstStyle/>
                    <a:p>
                      <a:pPr algn="ctr"/>
                      <a:r>
                        <a:rPr lang="en-US" altLang="zh-CN" dirty="0" smtClean="0"/>
                        <a:t>6</a:t>
                      </a:r>
                      <a:endParaRPr lang="zh-CN" altLang="en-US" dirty="0"/>
                    </a:p>
                  </a:txBody>
                  <a:tcPr anchor="ctr"/>
                </a:tc>
                <a:tc>
                  <a:txBody>
                    <a:bodyPr/>
                    <a:lstStyle/>
                    <a:p>
                      <a:pPr algn="ctr"/>
                      <a:r>
                        <a:rPr lang="en-US" altLang="zh-CN" dirty="0" smtClean="0"/>
                        <a:t>7</a:t>
                      </a:r>
                      <a:endParaRPr lang="zh-CN" altLang="en-US" dirty="0"/>
                    </a:p>
                  </a:txBody>
                  <a:tcPr anchor="ctr"/>
                </a:tc>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1428039567"/>
              </p:ext>
            </p:extLst>
          </p:nvPr>
        </p:nvGraphicFramePr>
        <p:xfrm>
          <a:off x="7932256" y="3741256"/>
          <a:ext cx="2160000" cy="432000"/>
        </p:xfrm>
        <a:graphic>
          <a:graphicData uri="http://schemas.openxmlformats.org/drawingml/2006/table">
            <a:tbl>
              <a:tblPr firstRow="1" bandRow="1">
                <a:tableStyleId>{5940675A-B579-460E-94D1-54222C63F5DA}</a:tableStyleId>
              </a:tblPr>
              <a:tblGrid>
                <a:gridCol w="432000"/>
                <a:gridCol w="432000"/>
                <a:gridCol w="432000"/>
                <a:gridCol w="432000"/>
                <a:gridCol w="432000"/>
              </a:tblGrid>
              <a:tr h="432000">
                <a:tc>
                  <a:txBody>
                    <a:bodyPr/>
                    <a:lstStyle/>
                    <a:p>
                      <a:pPr algn="ctr"/>
                      <a:r>
                        <a:rPr lang="en-US" altLang="zh-CN" dirty="0" smtClean="0"/>
                        <a:t>1</a:t>
                      </a:r>
                      <a:endParaRPr lang="zh-CN" altLang="en-US" dirty="0"/>
                    </a:p>
                  </a:txBody>
                  <a:tcPr anchor="ctr"/>
                </a:tc>
                <a:tc>
                  <a:txBody>
                    <a:bodyPr/>
                    <a:lstStyle/>
                    <a:p>
                      <a:pPr algn="ctr"/>
                      <a:r>
                        <a:rPr lang="en-US" altLang="zh-CN" dirty="0" smtClean="0"/>
                        <a:t>2</a:t>
                      </a:r>
                      <a:endParaRPr lang="zh-CN" altLang="en-US" dirty="0"/>
                    </a:p>
                  </a:txBody>
                  <a:tcPr anchor="ctr"/>
                </a:tc>
                <a:tc>
                  <a:txBody>
                    <a:bodyPr/>
                    <a:lstStyle/>
                    <a:p>
                      <a:pPr algn="ctr"/>
                      <a:r>
                        <a:rPr lang="en-US" altLang="zh-CN" dirty="0" smtClean="0"/>
                        <a:t>3</a:t>
                      </a:r>
                      <a:endParaRPr lang="zh-CN" altLang="en-US" dirty="0"/>
                    </a:p>
                  </a:txBody>
                  <a:tcPr anchor="ctr"/>
                </a:tc>
                <a:tc>
                  <a:txBody>
                    <a:bodyPr/>
                    <a:lstStyle/>
                    <a:p>
                      <a:pPr algn="ctr"/>
                      <a:r>
                        <a:rPr lang="en-US" altLang="zh-CN" dirty="0" smtClean="0"/>
                        <a:t>4</a:t>
                      </a:r>
                      <a:endParaRPr lang="zh-CN" altLang="en-US" dirty="0"/>
                    </a:p>
                  </a:txBody>
                  <a:tcPr anchor="ctr"/>
                </a:tc>
                <a:tc>
                  <a:txBody>
                    <a:bodyPr/>
                    <a:lstStyle/>
                    <a:p>
                      <a:pPr algn="ctr"/>
                      <a:r>
                        <a:rPr lang="en-US" altLang="zh-CN" dirty="0" smtClean="0"/>
                        <a:t>5</a:t>
                      </a:r>
                      <a:endParaRPr lang="zh-CN" altLang="en-US" dirty="0"/>
                    </a:p>
                  </a:txBody>
                  <a:tcPr anchor="ctr"/>
                </a:tc>
              </a:tr>
            </a:tbl>
          </a:graphicData>
        </a:graphic>
      </p:graphicFrame>
      <p:cxnSp>
        <p:nvCxnSpPr>
          <p:cNvPr id="15" name="直接连接符 14"/>
          <p:cNvCxnSpPr/>
          <p:nvPr/>
        </p:nvCxnSpPr>
        <p:spPr>
          <a:xfrm>
            <a:off x="7500256" y="3309256"/>
            <a:ext cx="432000" cy="43200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20" name="直接连接符 19"/>
          <p:cNvCxnSpPr/>
          <p:nvPr/>
        </p:nvCxnSpPr>
        <p:spPr>
          <a:xfrm rot="5400000">
            <a:off x="10091056" y="3309256"/>
            <a:ext cx="432000" cy="432000"/>
          </a:xfrm>
          <a:prstGeom prst="line">
            <a:avLst/>
          </a:prstGeom>
          <a:ln>
            <a:solidFill>
              <a:schemeClr val="tx1"/>
            </a:solidFill>
            <a:prstDash val="sysDash"/>
          </a:ln>
        </p:spPr>
        <p:style>
          <a:lnRef idx="1">
            <a:schemeClr val="dk1"/>
          </a:lnRef>
          <a:fillRef idx="0">
            <a:schemeClr val="dk1"/>
          </a:fillRef>
          <a:effectRef idx="0">
            <a:schemeClr val="dk1"/>
          </a:effectRef>
          <a:fontRef idx="minor">
            <a:schemeClr val="tx1"/>
          </a:fontRef>
        </p:style>
      </p:cxnSp>
      <p:graphicFrame>
        <p:nvGraphicFramePr>
          <p:cNvPr id="21" name="表格 20"/>
          <p:cNvGraphicFramePr>
            <a:graphicFrameLocks noGrp="1"/>
          </p:cNvGraphicFramePr>
          <p:nvPr>
            <p:extLst>
              <p:ext uri="{D42A27DB-BD31-4B8C-83A1-F6EECF244321}">
                <p14:modId xmlns:p14="http://schemas.microsoft.com/office/powerpoint/2010/main" val="2570046326"/>
              </p:ext>
            </p:extLst>
          </p:nvPr>
        </p:nvGraphicFramePr>
        <p:xfrm>
          <a:off x="8366485" y="4595586"/>
          <a:ext cx="1296000" cy="432000"/>
        </p:xfrm>
        <a:graphic>
          <a:graphicData uri="http://schemas.openxmlformats.org/drawingml/2006/table">
            <a:tbl>
              <a:tblPr firstRow="1" bandRow="1">
                <a:tableStyleId>{5940675A-B579-460E-94D1-54222C63F5DA}</a:tableStyleId>
              </a:tblPr>
              <a:tblGrid>
                <a:gridCol w="432000"/>
                <a:gridCol w="432000"/>
                <a:gridCol w="432000"/>
              </a:tblGrid>
              <a:tr h="432000">
                <a:tc>
                  <a:txBody>
                    <a:bodyPr/>
                    <a:lstStyle/>
                    <a:p>
                      <a:pPr algn="ctr"/>
                      <a:r>
                        <a:rPr lang="en-US" altLang="zh-CN" dirty="0" smtClean="0"/>
                        <a:t>1</a:t>
                      </a:r>
                      <a:endParaRPr lang="zh-CN" altLang="en-US" dirty="0"/>
                    </a:p>
                  </a:txBody>
                  <a:tcPr anchor="ctr"/>
                </a:tc>
                <a:tc>
                  <a:txBody>
                    <a:bodyPr/>
                    <a:lstStyle/>
                    <a:p>
                      <a:pPr algn="ctr"/>
                      <a:r>
                        <a:rPr lang="en-US" altLang="zh-CN" dirty="0" smtClean="0"/>
                        <a:t>2</a:t>
                      </a:r>
                      <a:endParaRPr lang="zh-CN" altLang="en-US" dirty="0"/>
                    </a:p>
                  </a:txBody>
                  <a:tcPr anchor="ctr"/>
                </a:tc>
                <a:tc>
                  <a:txBody>
                    <a:bodyPr/>
                    <a:lstStyle/>
                    <a:p>
                      <a:pPr algn="ctr"/>
                      <a:r>
                        <a:rPr lang="en-US" altLang="zh-CN" dirty="0" smtClean="0"/>
                        <a:t>3</a:t>
                      </a:r>
                      <a:endParaRPr lang="zh-CN" altLang="en-US" dirty="0"/>
                    </a:p>
                  </a:txBody>
                  <a:tcPr anchor="ctr"/>
                </a:tc>
              </a:tr>
            </a:tbl>
          </a:graphicData>
        </a:graphic>
      </p:graphicFrame>
      <p:cxnSp>
        <p:nvCxnSpPr>
          <p:cNvPr id="22" name="直接连接符 21"/>
          <p:cNvCxnSpPr/>
          <p:nvPr/>
        </p:nvCxnSpPr>
        <p:spPr>
          <a:xfrm>
            <a:off x="7932256" y="4158341"/>
            <a:ext cx="432000" cy="43200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23" name="直接连接符 22"/>
          <p:cNvCxnSpPr/>
          <p:nvPr/>
        </p:nvCxnSpPr>
        <p:spPr>
          <a:xfrm rot="5400000">
            <a:off x="8790430" y="4158341"/>
            <a:ext cx="432000" cy="43200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graphicFrame>
        <p:nvGraphicFramePr>
          <p:cNvPr id="24" name="表格 23"/>
          <p:cNvGraphicFramePr>
            <a:graphicFrameLocks noGrp="1"/>
          </p:cNvGraphicFramePr>
          <p:nvPr>
            <p:extLst>
              <p:ext uri="{D42A27DB-BD31-4B8C-83A1-F6EECF244321}">
                <p14:modId xmlns:p14="http://schemas.microsoft.com/office/powerpoint/2010/main" val="3645821503"/>
              </p:ext>
            </p:extLst>
          </p:nvPr>
        </p:nvGraphicFramePr>
        <p:xfrm>
          <a:off x="8796256" y="5477227"/>
          <a:ext cx="432000" cy="432000"/>
        </p:xfrm>
        <a:graphic>
          <a:graphicData uri="http://schemas.openxmlformats.org/drawingml/2006/table">
            <a:tbl>
              <a:tblPr firstRow="1" bandRow="1">
                <a:tableStyleId>{5940675A-B579-460E-94D1-54222C63F5DA}</a:tableStyleId>
              </a:tblPr>
              <a:tblGrid>
                <a:gridCol w="432000"/>
              </a:tblGrid>
              <a:tr h="432000">
                <a:tc>
                  <a:txBody>
                    <a:bodyPr/>
                    <a:lstStyle/>
                    <a:p>
                      <a:pPr algn="ctr"/>
                      <a:r>
                        <a:rPr lang="en-US" altLang="zh-CN" dirty="0" smtClean="0"/>
                        <a:t>1</a:t>
                      </a:r>
                      <a:endParaRPr lang="zh-CN" altLang="en-US" dirty="0"/>
                    </a:p>
                  </a:txBody>
                  <a:tcPr anchor="ctr"/>
                </a:tc>
              </a:tr>
            </a:tbl>
          </a:graphicData>
        </a:graphic>
      </p:graphicFrame>
      <p:cxnSp>
        <p:nvCxnSpPr>
          <p:cNvPr id="25" name="直接连接符 24"/>
          <p:cNvCxnSpPr/>
          <p:nvPr/>
        </p:nvCxnSpPr>
        <p:spPr>
          <a:xfrm>
            <a:off x="8364256" y="5025769"/>
            <a:ext cx="432000" cy="43200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26" name="直接连接符 25"/>
          <p:cNvCxnSpPr/>
          <p:nvPr/>
        </p:nvCxnSpPr>
        <p:spPr>
          <a:xfrm rot="5400000">
            <a:off x="9227056" y="5044112"/>
            <a:ext cx="432000" cy="43200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
        <p:nvSpPr>
          <p:cNvPr id="27" name="文本框 26"/>
          <p:cNvSpPr txBox="1"/>
          <p:nvPr/>
        </p:nvSpPr>
        <p:spPr>
          <a:xfrm>
            <a:off x="6115273" y="3719487"/>
            <a:ext cx="1394934" cy="369332"/>
          </a:xfrm>
          <a:prstGeom prst="rect">
            <a:avLst/>
          </a:prstGeom>
          <a:noFill/>
        </p:spPr>
        <p:txBody>
          <a:bodyPr wrap="none" rtlCol="0">
            <a:spAutoFit/>
          </a:bodyPr>
          <a:lstStyle/>
          <a:p>
            <a:r>
              <a:rPr lang="en-US" altLang="zh-CN" dirty="0"/>
              <a:t>3</a:t>
            </a:r>
            <a:r>
              <a:rPr lang="en-US" altLang="zh-CN" dirty="0" smtClean="0"/>
              <a:t>×3   </a:t>
            </a:r>
            <a:r>
              <a:rPr lang="zh-CN" altLang="en-US" dirty="0" smtClean="0"/>
              <a:t>卷积</a:t>
            </a:r>
            <a:r>
              <a:rPr lang="en-US" altLang="zh-CN" dirty="0" smtClean="0"/>
              <a:t>1</a:t>
            </a:r>
            <a:endParaRPr lang="zh-CN" altLang="en-US" dirty="0"/>
          </a:p>
        </p:txBody>
      </p:sp>
      <p:cxnSp>
        <p:nvCxnSpPr>
          <p:cNvPr id="28" name="直接连接符 27"/>
          <p:cNvCxnSpPr/>
          <p:nvPr/>
        </p:nvCxnSpPr>
        <p:spPr>
          <a:xfrm rot="5400000">
            <a:off x="8364256" y="3301799"/>
            <a:ext cx="432000" cy="43200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29" name="直接连接符 28"/>
          <p:cNvCxnSpPr/>
          <p:nvPr/>
        </p:nvCxnSpPr>
        <p:spPr>
          <a:xfrm>
            <a:off x="9227056" y="3317519"/>
            <a:ext cx="432000" cy="432000"/>
          </a:xfrm>
          <a:prstGeom prst="line">
            <a:avLst/>
          </a:prstGeom>
          <a:ln>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30" name="直接连接符 29"/>
          <p:cNvCxnSpPr/>
          <p:nvPr/>
        </p:nvCxnSpPr>
        <p:spPr>
          <a:xfrm rot="5400000">
            <a:off x="8795658" y="3287487"/>
            <a:ext cx="432000" cy="432000"/>
          </a:xfrm>
          <a:prstGeom prst="line">
            <a:avLst/>
          </a:prstGeom>
          <a:ln>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31" name="直接连接符 30"/>
          <p:cNvCxnSpPr/>
          <p:nvPr/>
        </p:nvCxnSpPr>
        <p:spPr>
          <a:xfrm>
            <a:off x="7931658" y="3295750"/>
            <a:ext cx="432000" cy="432000"/>
          </a:xfrm>
          <a:prstGeom prst="line">
            <a:avLst/>
          </a:prstGeom>
          <a:ln>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32" name="直接连接符 31"/>
          <p:cNvCxnSpPr/>
          <p:nvPr/>
        </p:nvCxnSpPr>
        <p:spPr>
          <a:xfrm rot="5400000">
            <a:off x="9655627" y="4158342"/>
            <a:ext cx="432000" cy="432000"/>
          </a:xfrm>
          <a:prstGeom prst="line">
            <a:avLst/>
          </a:prstGeom>
          <a:ln>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33" name="直接连接符 32"/>
          <p:cNvCxnSpPr/>
          <p:nvPr/>
        </p:nvCxnSpPr>
        <p:spPr>
          <a:xfrm>
            <a:off x="8791627" y="4166605"/>
            <a:ext cx="432000" cy="432000"/>
          </a:xfrm>
          <a:prstGeom prst="line">
            <a:avLst/>
          </a:prstGeom>
          <a:ln>
            <a:solidFill>
              <a:schemeClr val="tx1"/>
            </a:solidFill>
            <a:prstDash val="sysDash"/>
          </a:ln>
        </p:spPr>
        <p:style>
          <a:lnRef idx="1">
            <a:schemeClr val="dk1"/>
          </a:lnRef>
          <a:fillRef idx="0">
            <a:schemeClr val="dk1"/>
          </a:fillRef>
          <a:effectRef idx="0">
            <a:schemeClr val="dk1"/>
          </a:effectRef>
          <a:fontRef idx="minor">
            <a:schemeClr val="tx1"/>
          </a:fontRef>
        </p:style>
      </p:cxnSp>
      <p:sp>
        <p:nvSpPr>
          <p:cNvPr id="34" name="文本框 33"/>
          <p:cNvSpPr txBox="1"/>
          <p:nvPr/>
        </p:nvSpPr>
        <p:spPr>
          <a:xfrm>
            <a:off x="6111148" y="4590341"/>
            <a:ext cx="1394934" cy="369332"/>
          </a:xfrm>
          <a:prstGeom prst="rect">
            <a:avLst/>
          </a:prstGeom>
          <a:noFill/>
        </p:spPr>
        <p:txBody>
          <a:bodyPr wrap="none" rtlCol="0">
            <a:spAutoFit/>
          </a:bodyPr>
          <a:lstStyle/>
          <a:p>
            <a:r>
              <a:rPr lang="en-US" altLang="zh-CN" dirty="0"/>
              <a:t>3</a:t>
            </a:r>
            <a:r>
              <a:rPr lang="en-US" altLang="zh-CN" dirty="0" smtClean="0"/>
              <a:t>×3   </a:t>
            </a:r>
            <a:r>
              <a:rPr lang="zh-CN" altLang="en-US" dirty="0" smtClean="0"/>
              <a:t>卷积</a:t>
            </a:r>
            <a:r>
              <a:rPr lang="en-US" altLang="zh-CN" dirty="0"/>
              <a:t>2</a:t>
            </a:r>
            <a:endParaRPr lang="zh-CN" altLang="en-US" dirty="0"/>
          </a:p>
        </p:txBody>
      </p:sp>
      <p:sp>
        <p:nvSpPr>
          <p:cNvPr id="35" name="文本框 34"/>
          <p:cNvSpPr txBox="1"/>
          <p:nvPr/>
        </p:nvSpPr>
        <p:spPr>
          <a:xfrm>
            <a:off x="6111148" y="5457769"/>
            <a:ext cx="1394934" cy="369332"/>
          </a:xfrm>
          <a:prstGeom prst="rect">
            <a:avLst/>
          </a:prstGeom>
          <a:noFill/>
        </p:spPr>
        <p:txBody>
          <a:bodyPr wrap="none" rtlCol="0">
            <a:spAutoFit/>
          </a:bodyPr>
          <a:lstStyle/>
          <a:p>
            <a:r>
              <a:rPr lang="en-US" altLang="zh-CN" dirty="0"/>
              <a:t>3</a:t>
            </a:r>
            <a:r>
              <a:rPr lang="en-US" altLang="zh-CN" dirty="0" smtClean="0"/>
              <a:t>×3   </a:t>
            </a:r>
            <a:r>
              <a:rPr lang="zh-CN" altLang="en-US" dirty="0" smtClean="0"/>
              <a:t>卷积</a:t>
            </a:r>
            <a:r>
              <a:rPr lang="en-US" altLang="zh-CN" dirty="0" smtClean="0"/>
              <a:t>3</a:t>
            </a:r>
            <a:endParaRPr lang="zh-CN" altLang="en-US" dirty="0"/>
          </a:p>
        </p:txBody>
      </p:sp>
    </p:spTree>
    <p:extLst>
      <p:ext uri="{BB962C8B-B14F-4D97-AF65-F5344CB8AC3E}">
        <p14:creationId xmlns:p14="http://schemas.microsoft.com/office/powerpoint/2010/main" val="40415200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GoogLeNet</a:t>
            </a:r>
            <a:r>
              <a:rPr lang="zh-CN" altLang="en-US" dirty="0" smtClean="0"/>
              <a:t>神经网络</a:t>
            </a:r>
            <a:endParaRPr lang="zh-CN" altLang="en-US" dirty="0"/>
          </a:p>
        </p:txBody>
      </p:sp>
      <p:sp>
        <p:nvSpPr>
          <p:cNvPr id="3" name="内容占位符 2"/>
          <p:cNvSpPr>
            <a:spLocks noGrp="1"/>
          </p:cNvSpPr>
          <p:nvPr>
            <p:ph sz="quarter" idx="13"/>
          </p:nvPr>
        </p:nvSpPr>
        <p:spPr/>
        <p:txBody>
          <a:bodyPr/>
          <a:lstStyle/>
          <a:p>
            <a:r>
              <a:rPr lang="en-US" altLang="zh-CN" dirty="0" err="1" smtClean="0"/>
              <a:t>GoogLeNet</a:t>
            </a:r>
            <a:r>
              <a:rPr lang="zh-CN" altLang="en-US" dirty="0"/>
              <a:t>于</a:t>
            </a:r>
            <a:r>
              <a:rPr lang="en-US" altLang="zh-CN" dirty="0" smtClean="0"/>
              <a:t>2014</a:t>
            </a:r>
            <a:r>
              <a:rPr lang="zh-CN" altLang="en-US" dirty="0" smtClean="0"/>
              <a:t>年由</a:t>
            </a:r>
            <a:r>
              <a:rPr lang="en-US" altLang="zh-CN" dirty="0" smtClean="0"/>
              <a:t>Christian </a:t>
            </a:r>
            <a:r>
              <a:rPr lang="en-US" altLang="zh-CN" dirty="0" err="1"/>
              <a:t>Szegedy</a:t>
            </a:r>
            <a:r>
              <a:rPr lang="zh-CN" altLang="en-US" dirty="0" smtClean="0"/>
              <a:t>提出</a:t>
            </a:r>
            <a:endParaRPr lang="en-US" altLang="zh-CN" dirty="0" smtClean="0"/>
          </a:p>
          <a:p>
            <a:pPr lvl="1"/>
            <a:r>
              <a:rPr lang="zh-CN" altLang="en-US" dirty="0" smtClean="0"/>
              <a:t>加深网络结构</a:t>
            </a:r>
            <a:endParaRPr lang="en-US" altLang="zh-CN" dirty="0" smtClean="0"/>
          </a:p>
          <a:p>
            <a:pPr lvl="1"/>
            <a:r>
              <a:rPr lang="zh-CN" altLang="en-US" dirty="0" smtClean="0"/>
              <a:t>引入了新的基本结构</a:t>
            </a:r>
            <a:r>
              <a:rPr lang="en-US" altLang="zh-CN" dirty="0" smtClean="0"/>
              <a:t>Inception</a:t>
            </a:r>
            <a:r>
              <a:rPr lang="zh-CN" altLang="en-US" dirty="0" smtClean="0"/>
              <a:t>模块</a:t>
            </a:r>
            <a:endParaRPr lang="en-US" altLang="zh-CN" dirty="0" smtClean="0"/>
          </a:p>
          <a:p>
            <a:pPr lvl="1"/>
            <a:r>
              <a:rPr lang="zh-CN" altLang="en-US" dirty="0" smtClean="0"/>
              <a:t>在</a:t>
            </a:r>
            <a:r>
              <a:rPr lang="en-US" altLang="zh-CN" dirty="0" smtClean="0"/>
              <a:t>2014</a:t>
            </a:r>
            <a:r>
              <a:rPr lang="zh-CN" altLang="en-US" dirty="0" smtClean="0"/>
              <a:t>年</a:t>
            </a:r>
            <a:r>
              <a:rPr lang="en-US" altLang="zh-CN" dirty="0" err="1" smtClean="0"/>
              <a:t>ImageNet</a:t>
            </a:r>
            <a:r>
              <a:rPr lang="zh-CN" altLang="en-US" dirty="0" smtClean="0"/>
              <a:t>比赛获得冠军</a:t>
            </a:r>
            <a:endParaRPr lang="en-US" altLang="zh-CN" dirty="0" smtClean="0"/>
          </a:p>
          <a:p>
            <a:r>
              <a:rPr lang="zh-CN" altLang="en-US" dirty="0" smtClean="0"/>
              <a:t>主要结构</a:t>
            </a:r>
            <a:endParaRPr lang="en-US" altLang="zh-CN" dirty="0" smtClean="0"/>
          </a:p>
          <a:p>
            <a:pPr lvl="1"/>
            <a:r>
              <a:rPr lang="zh-CN" altLang="en-US" dirty="0" smtClean="0"/>
              <a:t>输入图像</a:t>
            </a:r>
            <a:endParaRPr lang="en-US" altLang="zh-CN" dirty="0" smtClean="0"/>
          </a:p>
          <a:p>
            <a:pPr lvl="1"/>
            <a:r>
              <a:rPr lang="zh-CN" altLang="en-US" dirty="0" smtClean="0"/>
              <a:t>卷积层</a:t>
            </a:r>
            <a:r>
              <a:rPr lang="en-US" altLang="zh-CN" dirty="0" smtClean="0"/>
              <a:t>conv1+</a:t>
            </a:r>
            <a:r>
              <a:rPr lang="zh-CN" altLang="en-US" dirty="0" smtClean="0"/>
              <a:t>池化层</a:t>
            </a:r>
            <a:r>
              <a:rPr lang="en-US" altLang="zh-CN" dirty="0" smtClean="0"/>
              <a:t>pool1</a:t>
            </a:r>
          </a:p>
          <a:p>
            <a:pPr lvl="1"/>
            <a:r>
              <a:rPr lang="zh-CN" altLang="en-US" dirty="0"/>
              <a:t>卷积</a:t>
            </a:r>
            <a:r>
              <a:rPr lang="zh-CN" altLang="en-US" dirty="0" smtClean="0"/>
              <a:t>层</a:t>
            </a:r>
            <a:r>
              <a:rPr lang="en-US" altLang="zh-CN" dirty="0" smtClean="0"/>
              <a:t>conv2,conv3+</a:t>
            </a:r>
            <a:r>
              <a:rPr lang="zh-CN" altLang="en-US" dirty="0" smtClean="0"/>
              <a:t>池化层</a:t>
            </a:r>
            <a:r>
              <a:rPr lang="en-US" altLang="zh-CN" dirty="0" smtClean="0"/>
              <a:t>pool2</a:t>
            </a:r>
          </a:p>
          <a:p>
            <a:pPr lvl="1"/>
            <a:r>
              <a:rPr lang="en-US" altLang="zh-CN" dirty="0" smtClean="0"/>
              <a:t>Inception</a:t>
            </a:r>
            <a:r>
              <a:rPr lang="zh-CN" altLang="en-US" dirty="0"/>
              <a:t>块</a:t>
            </a:r>
            <a:r>
              <a:rPr lang="en-US" altLang="zh-CN" dirty="0" smtClean="0"/>
              <a:t>3a,3b+</a:t>
            </a:r>
            <a:r>
              <a:rPr lang="zh-CN" altLang="en-US" dirty="0" smtClean="0"/>
              <a:t>池化层</a:t>
            </a:r>
            <a:r>
              <a:rPr lang="en-US" altLang="zh-CN" dirty="0" smtClean="0"/>
              <a:t>pool3</a:t>
            </a:r>
          </a:p>
          <a:p>
            <a:pPr lvl="1"/>
            <a:r>
              <a:rPr lang="en-US" altLang="zh-CN" dirty="0" smtClean="0"/>
              <a:t>Inception</a:t>
            </a:r>
            <a:r>
              <a:rPr lang="zh-CN" altLang="en-US" dirty="0"/>
              <a:t>块</a:t>
            </a:r>
            <a:r>
              <a:rPr lang="en-US" altLang="zh-CN" dirty="0" smtClean="0"/>
              <a:t>4a~4e+</a:t>
            </a:r>
            <a:r>
              <a:rPr lang="zh-CN" altLang="en-US" dirty="0" smtClean="0"/>
              <a:t>池化层</a:t>
            </a:r>
            <a:r>
              <a:rPr lang="en-US" altLang="zh-CN" dirty="0"/>
              <a:t>p</a:t>
            </a:r>
            <a:r>
              <a:rPr lang="en-US" altLang="zh-CN" dirty="0" smtClean="0"/>
              <a:t>ool4</a:t>
            </a:r>
          </a:p>
          <a:p>
            <a:pPr lvl="1"/>
            <a:r>
              <a:rPr lang="en-US" altLang="zh-CN" dirty="0" smtClean="0"/>
              <a:t>Inception</a:t>
            </a:r>
            <a:r>
              <a:rPr lang="zh-CN" altLang="en-US" dirty="0"/>
              <a:t>块</a:t>
            </a:r>
            <a:r>
              <a:rPr lang="en-US" altLang="zh-CN" dirty="0" smtClean="0"/>
              <a:t>5a,5b+</a:t>
            </a:r>
            <a:r>
              <a:rPr lang="zh-CN" altLang="en-US" dirty="0" smtClean="0"/>
              <a:t>池化层</a:t>
            </a:r>
            <a:r>
              <a:rPr lang="en-US" altLang="zh-CN" dirty="0" smtClean="0"/>
              <a:t>pool5</a:t>
            </a:r>
          </a:p>
          <a:p>
            <a:pPr lvl="1"/>
            <a:r>
              <a:rPr lang="zh-CN" altLang="en-US" dirty="0"/>
              <a:t>全连接</a:t>
            </a:r>
            <a:r>
              <a:rPr lang="zh-CN" altLang="en-US" dirty="0" smtClean="0"/>
              <a:t>层分类</a:t>
            </a:r>
            <a:endParaRPr lang="en-US" altLang="zh-CN" dirty="0" smtClean="0"/>
          </a:p>
          <a:p>
            <a:pPr lvl="1"/>
            <a:r>
              <a:rPr lang="zh-CN" altLang="en-US" dirty="0" smtClean="0"/>
              <a:t>输出结果</a:t>
            </a:r>
            <a:endParaRPr lang="zh-CN" altLang="en-US" dirty="0"/>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34402" y="1553328"/>
            <a:ext cx="6986086" cy="4583946"/>
          </a:xfrm>
          <a:prstGeom prst="rect">
            <a:avLst/>
          </a:prstGeom>
        </p:spPr>
      </p:pic>
    </p:spTree>
    <p:extLst>
      <p:ext uri="{BB962C8B-B14F-4D97-AF65-F5344CB8AC3E}">
        <p14:creationId xmlns:p14="http://schemas.microsoft.com/office/powerpoint/2010/main" val="17039894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GoogLeNet</a:t>
            </a:r>
            <a:r>
              <a:rPr lang="zh-CN" altLang="en-US" dirty="0"/>
              <a:t>神经网络</a:t>
            </a:r>
          </a:p>
        </p:txBody>
      </p:sp>
      <p:sp>
        <p:nvSpPr>
          <p:cNvPr id="3" name="内容占位符 2"/>
          <p:cNvSpPr>
            <a:spLocks noGrp="1"/>
          </p:cNvSpPr>
          <p:nvPr>
            <p:ph sz="quarter" idx="13"/>
          </p:nvPr>
        </p:nvSpPr>
        <p:spPr/>
        <p:txBody>
          <a:bodyPr/>
          <a:lstStyle/>
          <a:p>
            <a:r>
              <a:rPr lang="en-US" altLang="zh-CN" dirty="0" smtClean="0"/>
              <a:t>Inception</a:t>
            </a:r>
            <a:r>
              <a:rPr lang="zh-CN" altLang="en-US" dirty="0"/>
              <a:t>结构</a:t>
            </a:r>
            <a:endParaRPr lang="en-US" altLang="zh-CN" dirty="0" smtClean="0"/>
          </a:p>
          <a:p>
            <a:pPr lvl="1"/>
            <a:r>
              <a:rPr lang="zh-CN" altLang="en-US" dirty="0" smtClean="0"/>
              <a:t>矩阵转换减少计算量</a:t>
            </a:r>
            <a:endParaRPr lang="en-US" altLang="zh-CN" dirty="0" smtClean="0"/>
          </a:p>
          <a:p>
            <a:pPr lvl="1"/>
            <a:r>
              <a:rPr lang="zh-CN" altLang="en-US" dirty="0"/>
              <a:t>应用</a:t>
            </a:r>
            <a:r>
              <a:rPr lang="zh-CN" altLang="en-US" dirty="0" smtClean="0"/>
              <a:t>在神经网络中就产生了</a:t>
            </a:r>
            <a:r>
              <a:rPr lang="en-US" altLang="zh-CN" dirty="0" smtClean="0"/>
              <a:t>Inception</a:t>
            </a:r>
            <a:r>
              <a:rPr lang="zh-CN" altLang="en-US" dirty="0" smtClean="0"/>
              <a:t>结构</a:t>
            </a:r>
            <a:endParaRPr lang="en-US" altLang="zh-CN" dirty="0" smtClean="0"/>
          </a:p>
          <a:p>
            <a:pPr lvl="1"/>
            <a:r>
              <a:rPr lang="zh-CN" altLang="en-US" dirty="0" smtClean="0"/>
              <a:t>特征转换成不同尺度的聚类</a:t>
            </a:r>
            <a:endParaRPr lang="en-US" altLang="zh-CN" dirty="0" smtClean="0"/>
          </a:p>
          <a:p>
            <a:pPr lvl="1"/>
            <a:r>
              <a:rPr lang="zh-CN" altLang="en-US" dirty="0" smtClean="0"/>
              <a:t>计算更有效，收敛更快</a:t>
            </a:r>
            <a:endParaRPr lang="en-US" altLang="zh-CN" dirty="0" smtClean="0"/>
          </a:p>
          <a:p>
            <a:endParaRPr lang="zh-CN" alt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0457" y="1734569"/>
            <a:ext cx="6230031" cy="4317075"/>
          </a:xfrm>
          <a:prstGeom prst="rect">
            <a:avLst/>
          </a:prstGeom>
        </p:spPr>
      </p:pic>
      <p:sp>
        <p:nvSpPr>
          <p:cNvPr id="7" name="文本框 6"/>
          <p:cNvSpPr txBox="1"/>
          <p:nvPr/>
        </p:nvSpPr>
        <p:spPr>
          <a:xfrm>
            <a:off x="7642212" y="3449511"/>
            <a:ext cx="1569660" cy="369332"/>
          </a:xfrm>
          <a:prstGeom prst="rect">
            <a:avLst/>
          </a:prstGeom>
          <a:noFill/>
        </p:spPr>
        <p:txBody>
          <a:bodyPr wrap="none" rtlCol="0">
            <a:spAutoFit/>
          </a:bodyPr>
          <a:lstStyle/>
          <a:p>
            <a:r>
              <a:rPr lang="zh-CN" altLang="en-US" dirty="0" smtClean="0"/>
              <a:t>矩阵转换方式</a:t>
            </a:r>
            <a:endParaRPr lang="zh-CN" altLang="en-US" dirty="0"/>
          </a:p>
        </p:txBody>
      </p:sp>
      <p:sp>
        <p:nvSpPr>
          <p:cNvPr id="8" name="文本框 7"/>
          <p:cNvSpPr txBox="1"/>
          <p:nvPr/>
        </p:nvSpPr>
        <p:spPr>
          <a:xfrm>
            <a:off x="7267981" y="5767942"/>
            <a:ext cx="2274982" cy="369332"/>
          </a:xfrm>
          <a:prstGeom prst="rect">
            <a:avLst/>
          </a:prstGeom>
          <a:noFill/>
        </p:spPr>
        <p:txBody>
          <a:bodyPr wrap="none" rtlCol="0">
            <a:spAutoFit/>
          </a:bodyPr>
          <a:lstStyle/>
          <a:p>
            <a:r>
              <a:rPr lang="zh-CN" altLang="en-US" dirty="0" smtClean="0"/>
              <a:t>简单的</a:t>
            </a:r>
            <a:r>
              <a:rPr lang="en-US" altLang="zh-CN" dirty="0" smtClean="0"/>
              <a:t>Inception</a:t>
            </a:r>
            <a:r>
              <a:rPr lang="zh-CN" altLang="en-US" dirty="0" smtClean="0"/>
              <a:t>结构</a:t>
            </a:r>
            <a:endParaRPr lang="zh-CN" altLang="en-US" dirty="0"/>
          </a:p>
        </p:txBody>
      </p:sp>
    </p:spTree>
    <p:extLst>
      <p:ext uri="{BB962C8B-B14F-4D97-AF65-F5344CB8AC3E}">
        <p14:creationId xmlns:p14="http://schemas.microsoft.com/office/powerpoint/2010/main" val="24524953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GoogLeNet</a:t>
            </a:r>
            <a:r>
              <a:rPr lang="zh-CN" altLang="en-US" dirty="0"/>
              <a:t>神经网络</a:t>
            </a:r>
          </a:p>
        </p:txBody>
      </p:sp>
      <p:sp>
        <p:nvSpPr>
          <p:cNvPr id="3" name="内容占位符 2"/>
          <p:cNvSpPr>
            <a:spLocks noGrp="1"/>
          </p:cNvSpPr>
          <p:nvPr>
            <p:ph sz="quarter" idx="13"/>
          </p:nvPr>
        </p:nvSpPr>
        <p:spPr/>
        <p:txBody>
          <a:bodyPr/>
          <a:lstStyle/>
          <a:p>
            <a:r>
              <a:rPr lang="en-US" altLang="zh-CN" dirty="0" smtClean="0"/>
              <a:t>Inception</a:t>
            </a:r>
            <a:r>
              <a:rPr lang="zh-CN" altLang="en-US" dirty="0" smtClean="0"/>
              <a:t>结构</a:t>
            </a:r>
            <a:endParaRPr lang="en-US" altLang="zh-CN" dirty="0" smtClean="0"/>
          </a:p>
          <a:p>
            <a:pPr lvl="1"/>
            <a:r>
              <a:rPr lang="zh-CN" altLang="en-US" dirty="0" smtClean="0"/>
              <a:t>简单的</a:t>
            </a:r>
            <a:r>
              <a:rPr lang="en-US" altLang="zh-CN" dirty="0" smtClean="0"/>
              <a:t>Inception</a:t>
            </a:r>
            <a:r>
              <a:rPr lang="zh-CN" altLang="en-US" dirty="0" smtClean="0"/>
              <a:t>计算量仍较大</a:t>
            </a:r>
            <a:endParaRPr lang="en-US" altLang="zh-CN" dirty="0" smtClean="0"/>
          </a:p>
          <a:p>
            <a:pPr lvl="1"/>
            <a:r>
              <a:rPr lang="zh-CN" altLang="en-US" dirty="0" smtClean="0"/>
              <a:t>引入小尺寸卷积核对结构降维</a:t>
            </a:r>
            <a:endParaRPr lang="en-US" altLang="zh-CN" dirty="0" smtClean="0"/>
          </a:p>
        </p:txBody>
      </p:sp>
      <p:graphicFrame>
        <p:nvGraphicFramePr>
          <p:cNvPr id="4" name="表格 3"/>
          <p:cNvGraphicFramePr>
            <a:graphicFrameLocks noGrp="1"/>
          </p:cNvGraphicFramePr>
          <p:nvPr>
            <p:extLst>
              <p:ext uri="{D42A27DB-BD31-4B8C-83A1-F6EECF244321}">
                <p14:modId xmlns:p14="http://schemas.microsoft.com/office/powerpoint/2010/main" val="1895651398"/>
              </p:ext>
            </p:extLst>
          </p:nvPr>
        </p:nvGraphicFramePr>
        <p:xfrm>
          <a:off x="1672773" y="3974495"/>
          <a:ext cx="9141600" cy="1854200"/>
        </p:xfrm>
        <a:graphic>
          <a:graphicData uri="http://schemas.openxmlformats.org/drawingml/2006/table">
            <a:tbl>
              <a:tblPr firstRow="1" bandRow="1">
                <a:tableStyleId>{5940675A-B579-460E-94D1-54222C63F5DA}</a:tableStyleId>
              </a:tblPr>
              <a:tblGrid>
                <a:gridCol w="2032000"/>
                <a:gridCol w="2032000"/>
                <a:gridCol w="2032000"/>
                <a:gridCol w="3045600"/>
              </a:tblGrid>
              <a:tr h="370840">
                <a:tc>
                  <a:txBody>
                    <a:bodyPr/>
                    <a:lstStyle/>
                    <a:p>
                      <a:pPr algn="ctr"/>
                      <a:r>
                        <a:rPr lang="zh-CN" altLang="en-US" b="1" dirty="0" smtClean="0"/>
                        <a:t>输入尺寸</a:t>
                      </a:r>
                      <a:endParaRPr lang="zh-CN" altLang="en-US" b="1" dirty="0"/>
                    </a:p>
                  </a:txBody>
                  <a:tcPr anchor="b"/>
                </a:tc>
                <a:tc>
                  <a:txBody>
                    <a:bodyPr/>
                    <a:lstStyle/>
                    <a:p>
                      <a:pPr algn="ctr"/>
                      <a:r>
                        <a:rPr lang="zh-CN" altLang="en-US" b="1" dirty="0" smtClean="0"/>
                        <a:t>层</a:t>
                      </a:r>
                      <a:endParaRPr lang="zh-CN" altLang="en-US" b="1" dirty="0"/>
                    </a:p>
                  </a:txBody>
                  <a:tcPr/>
                </a:tc>
                <a:tc>
                  <a:txBody>
                    <a:bodyPr/>
                    <a:lstStyle/>
                    <a:p>
                      <a:pPr algn="ctr"/>
                      <a:r>
                        <a:rPr lang="zh-CN" altLang="en-US" b="1" dirty="0" smtClean="0"/>
                        <a:t>输出尺寸</a:t>
                      </a:r>
                      <a:endParaRPr lang="zh-CN" altLang="en-US" b="1" dirty="0"/>
                    </a:p>
                  </a:txBody>
                  <a:tcPr/>
                </a:tc>
                <a:tc>
                  <a:txBody>
                    <a:bodyPr/>
                    <a:lstStyle/>
                    <a:p>
                      <a:pPr algn="ctr"/>
                      <a:r>
                        <a:rPr lang="zh-CN" altLang="en-US" b="1" dirty="0" smtClean="0"/>
                        <a:t>计算量</a:t>
                      </a:r>
                      <a:endParaRPr lang="zh-CN" altLang="en-US" b="1" dirty="0"/>
                    </a:p>
                  </a:txBody>
                  <a:tcPr/>
                </a:tc>
              </a:tr>
              <a:tr h="370840">
                <a:tc>
                  <a:txBody>
                    <a:bodyPr/>
                    <a:lstStyle/>
                    <a:p>
                      <a:pPr algn="ctr"/>
                      <a:r>
                        <a:rPr lang="en-US" altLang="zh-CN" dirty="0" smtClean="0"/>
                        <a:t>28×28×256</a:t>
                      </a:r>
                      <a:endParaRPr lang="zh-CN" altLang="en-US" dirty="0"/>
                    </a:p>
                  </a:txBody>
                  <a:tcPr/>
                </a:tc>
                <a:tc>
                  <a:txBody>
                    <a:bodyPr/>
                    <a:lstStyle/>
                    <a:p>
                      <a:pPr algn="just"/>
                      <a:r>
                        <a:rPr lang="en-US" altLang="zh-CN" dirty="0" smtClean="0"/>
                        <a:t>1×1×128 </a:t>
                      </a:r>
                      <a:r>
                        <a:rPr lang="en-US" altLang="zh-CN" dirty="0" err="1" smtClean="0"/>
                        <a:t>conv</a:t>
                      </a:r>
                      <a:endParaRPr lang="zh-CN" altLang="en-US" dirty="0"/>
                    </a:p>
                  </a:txBody>
                  <a:tcPr marL="360000" anchor="b"/>
                </a:tc>
                <a:tc>
                  <a:txBody>
                    <a:bodyPr/>
                    <a:lstStyle/>
                    <a:p>
                      <a:pPr algn="l"/>
                      <a:r>
                        <a:rPr lang="en-US" altLang="zh-CN" dirty="0" smtClean="0"/>
                        <a:t>28×28×128</a:t>
                      </a:r>
                      <a:endParaRPr lang="zh-CN" altLang="en-US" dirty="0"/>
                    </a:p>
                  </a:txBody>
                  <a:tcPr marL="360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28×28×128×1×1×256</a:t>
                      </a:r>
                      <a:endParaRPr lang="zh-CN" altLang="en-US" dirty="0" smtClean="0"/>
                    </a:p>
                  </a:txBody>
                  <a:tcPr marL="360000"/>
                </a:tc>
              </a:tr>
              <a:tr h="370840">
                <a:tc>
                  <a:txBody>
                    <a:bodyPr/>
                    <a:lstStyle/>
                    <a:p>
                      <a:pPr algn="ctr"/>
                      <a:endParaRPr lang="zh-CN" altLang="en-US"/>
                    </a:p>
                  </a:txBody>
                  <a:tcPr/>
                </a:tc>
                <a:tc>
                  <a:txBody>
                    <a:bodyPr/>
                    <a:lstStyle/>
                    <a:p>
                      <a:pPr algn="just"/>
                      <a:r>
                        <a:rPr lang="en-US" altLang="zh-CN" dirty="0" smtClean="0"/>
                        <a:t>3×3×192 </a:t>
                      </a:r>
                      <a:r>
                        <a:rPr lang="en-US" altLang="zh-CN" dirty="0" err="1" smtClean="0"/>
                        <a:t>conv</a:t>
                      </a:r>
                      <a:endParaRPr lang="zh-CN" altLang="en-US" dirty="0"/>
                    </a:p>
                  </a:txBody>
                  <a:tcPr marL="360000" anchor="b"/>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28×28×192</a:t>
                      </a:r>
                      <a:endParaRPr lang="zh-CN" altLang="en-US" dirty="0" smtClean="0"/>
                    </a:p>
                  </a:txBody>
                  <a:tcPr marL="360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28×28×192×3×3×256</a:t>
                      </a:r>
                      <a:endParaRPr lang="zh-CN" altLang="en-US" dirty="0" smtClean="0"/>
                    </a:p>
                  </a:txBody>
                  <a:tcPr marL="360000"/>
                </a:tc>
              </a:tr>
              <a:tr h="370840">
                <a:tc>
                  <a:txBody>
                    <a:bodyPr/>
                    <a:lstStyle/>
                    <a:p>
                      <a:pPr algn="ctr"/>
                      <a:endParaRPr lang="zh-CN" altLang="en-US" dirty="0"/>
                    </a:p>
                  </a:txBody>
                  <a:tcPr/>
                </a:tc>
                <a:tc>
                  <a:txBody>
                    <a:bodyPr/>
                    <a:lstStyle/>
                    <a:p>
                      <a:pPr algn="just"/>
                      <a:r>
                        <a:rPr lang="en-US" altLang="zh-CN" dirty="0" smtClean="0"/>
                        <a:t>5×5×96 </a:t>
                      </a:r>
                      <a:r>
                        <a:rPr lang="en-US" altLang="zh-CN" dirty="0" err="1" smtClean="0"/>
                        <a:t>conv</a:t>
                      </a:r>
                      <a:endParaRPr lang="zh-CN" altLang="en-US" dirty="0"/>
                    </a:p>
                  </a:txBody>
                  <a:tcPr marL="360000" anchor="b"/>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28×28×96</a:t>
                      </a:r>
                      <a:endParaRPr lang="zh-CN" altLang="en-US" dirty="0" smtClean="0"/>
                    </a:p>
                  </a:txBody>
                  <a:tcPr marL="360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28×28×96×5×5×256</a:t>
                      </a:r>
                      <a:endParaRPr lang="zh-CN" altLang="en-US" dirty="0" smtClean="0"/>
                    </a:p>
                  </a:txBody>
                  <a:tcPr marL="360000"/>
                </a:tc>
              </a:tr>
              <a:tr h="370840">
                <a:tc>
                  <a:txBody>
                    <a:bodyPr/>
                    <a:lstStyle/>
                    <a:p>
                      <a:pPr algn="ctr"/>
                      <a:endParaRPr lang="zh-CN" altLang="en-US" dirty="0"/>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dirty="0" smtClean="0"/>
                        <a:t>3×3 pool</a:t>
                      </a:r>
                      <a:endParaRPr lang="zh-CN" altLang="en-US" dirty="0" smtClean="0"/>
                    </a:p>
                  </a:txBody>
                  <a:tcPr marL="360000" anchor="b"/>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28×28×256</a:t>
                      </a:r>
                      <a:endParaRPr lang="zh-CN" altLang="en-US" dirty="0" smtClean="0"/>
                    </a:p>
                  </a:txBody>
                  <a:tcPr marL="360000"/>
                </a:tc>
                <a:tc>
                  <a:txBody>
                    <a:bodyPr/>
                    <a:lstStyle/>
                    <a:p>
                      <a:pPr algn="ctr"/>
                      <a:endParaRPr lang="zh-CN" altLang="en-US" dirty="0"/>
                    </a:p>
                  </a:txBody>
                  <a:tcPr/>
                </a:tc>
              </a:tr>
            </a:tbl>
          </a:graphicData>
        </a:graphic>
      </p:graphicFrame>
      <p:pic>
        <p:nvPicPr>
          <p:cNvPr id="5" name="图片 4"/>
          <p:cNvPicPr>
            <a:picLocks noChangeAspect="1"/>
          </p:cNvPicPr>
          <p:nvPr/>
        </p:nvPicPr>
        <p:blipFill>
          <a:blip r:embed="rId3"/>
          <a:stretch>
            <a:fillRect/>
          </a:stretch>
        </p:blipFill>
        <p:spPr>
          <a:xfrm>
            <a:off x="4952343" y="1621409"/>
            <a:ext cx="5946639" cy="2068848"/>
          </a:xfrm>
          <a:prstGeom prst="rect">
            <a:avLst/>
          </a:prstGeom>
        </p:spPr>
      </p:pic>
    </p:spTree>
    <p:extLst>
      <p:ext uri="{BB962C8B-B14F-4D97-AF65-F5344CB8AC3E}">
        <p14:creationId xmlns:p14="http://schemas.microsoft.com/office/powerpoint/2010/main" val="2729658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GoogLeNet</a:t>
            </a:r>
            <a:r>
              <a:rPr lang="zh-CN" altLang="en-US" dirty="0"/>
              <a:t>神经网络</a:t>
            </a:r>
          </a:p>
        </p:txBody>
      </p:sp>
      <p:sp>
        <p:nvSpPr>
          <p:cNvPr id="5" name="内容占位符 4"/>
          <p:cNvSpPr>
            <a:spLocks noGrp="1"/>
          </p:cNvSpPr>
          <p:nvPr>
            <p:ph sz="quarter" idx="13"/>
          </p:nvPr>
        </p:nvSpPr>
        <p:spPr/>
        <p:txBody>
          <a:bodyPr/>
          <a:lstStyle/>
          <a:p>
            <a:r>
              <a:rPr lang="en-US" altLang="zh-CN" dirty="0" smtClean="0"/>
              <a:t>Inception</a:t>
            </a:r>
            <a:r>
              <a:rPr lang="zh-CN" altLang="en-US" dirty="0" smtClean="0"/>
              <a:t>结构</a:t>
            </a:r>
            <a:endParaRPr lang="en-US" altLang="zh-CN" dirty="0" smtClean="0"/>
          </a:p>
          <a:p>
            <a:pPr lvl="1"/>
            <a:r>
              <a:rPr lang="zh-CN" altLang="en-US" dirty="0"/>
              <a:t>降</a:t>
            </a:r>
            <a:r>
              <a:rPr lang="zh-CN" altLang="en-US" dirty="0" smtClean="0"/>
              <a:t>维后降低计算量</a:t>
            </a:r>
            <a:endParaRPr lang="en-US" altLang="zh-CN" dirty="0" smtClean="0"/>
          </a:p>
          <a:p>
            <a:pPr lvl="1"/>
            <a:r>
              <a:rPr lang="zh-CN" altLang="en-US" dirty="0" smtClean="0"/>
              <a:t>不同大小卷积核提取不同尺度的特征</a:t>
            </a:r>
            <a:endParaRPr lang="en-US" altLang="zh-CN" dirty="0" smtClean="0"/>
          </a:p>
          <a:p>
            <a:r>
              <a:rPr lang="zh-CN" altLang="en-US" dirty="0" smtClean="0"/>
              <a:t>使用</a:t>
            </a:r>
            <a:r>
              <a:rPr lang="en-US" altLang="zh-CN" dirty="0" smtClean="0"/>
              <a:t>(1,1)</a:t>
            </a:r>
            <a:r>
              <a:rPr lang="zh-CN" altLang="en-US" dirty="0" smtClean="0"/>
              <a:t>卷积核的作用</a:t>
            </a:r>
            <a:endParaRPr lang="en-US" altLang="zh-CN" dirty="0" smtClean="0"/>
          </a:p>
          <a:p>
            <a:pPr lvl="1"/>
            <a:r>
              <a:rPr lang="zh-CN" altLang="en-US" dirty="0"/>
              <a:t>减小维</a:t>
            </a:r>
            <a:r>
              <a:rPr lang="zh-CN" altLang="en-US" dirty="0" smtClean="0"/>
              <a:t>度</a:t>
            </a:r>
            <a:endParaRPr lang="en-US" altLang="zh-CN" dirty="0" smtClean="0"/>
          </a:p>
          <a:p>
            <a:pPr lvl="1"/>
            <a:r>
              <a:rPr lang="zh-CN" altLang="en-US" dirty="0" smtClean="0"/>
              <a:t>修正线性激活函数</a:t>
            </a:r>
            <a:endParaRPr lang="en-US" altLang="zh-CN" dirty="0" smtClean="0"/>
          </a:p>
          <a:p>
            <a:pPr lvl="1">
              <a:buFont typeface="Wingdings" panose="05000000000000000000" pitchFamily="2" charset="2"/>
              <a:buChar char="n"/>
            </a:pPr>
            <a:r>
              <a:rPr lang="zh-CN" altLang="en-US" dirty="0" smtClean="0"/>
              <a:t>输入</a:t>
            </a:r>
            <a:r>
              <a:rPr lang="en-US" altLang="zh-CN" dirty="0" smtClean="0"/>
              <a:t>(100</a:t>
            </a:r>
            <a:r>
              <a:rPr lang="zh-CN" altLang="en-US" dirty="0" smtClean="0"/>
              <a:t>，</a:t>
            </a:r>
            <a:r>
              <a:rPr lang="en-US" altLang="zh-CN" dirty="0" smtClean="0"/>
              <a:t>100</a:t>
            </a:r>
            <a:r>
              <a:rPr lang="zh-CN" altLang="en-US" dirty="0" smtClean="0"/>
              <a:t>，</a:t>
            </a:r>
            <a:r>
              <a:rPr lang="en-US" altLang="zh-CN" dirty="0" smtClean="0"/>
              <a:t>128)</a:t>
            </a:r>
          </a:p>
          <a:p>
            <a:pPr lvl="1">
              <a:buFont typeface="Wingdings" panose="05000000000000000000" pitchFamily="2" charset="2"/>
              <a:buChar char="n"/>
            </a:pPr>
            <a:r>
              <a:rPr lang="en-US" altLang="zh-CN" dirty="0" smtClean="0"/>
              <a:t>256</a:t>
            </a:r>
            <a:r>
              <a:rPr lang="zh-CN" altLang="en-US" dirty="0" smtClean="0"/>
              <a:t>通道</a:t>
            </a:r>
            <a:r>
              <a:rPr lang="en-US" altLang="zh-CN" dirty="0" smtClean="0"/>
              <a:t>(5,5)</a:t>
            </a:r>
            <a:r>
              <a:rPr lang="zh-CN" altLang="en-US" dirty="0" smtClean="0"/>
              <a:t>卷积层</a:t>
            </a:r>
            <a:endParaRPr lang="en-US" altLang="zh-CN" dirty="0" smtClean="0"/>
          </a:p>
          <a:p>
            <a:pPr lvl="1">
              <a:buFont typeface="Wingdings" panose="05000000000000000000" pitchFamily="2" charset="2"/>
              <a:buChar char="n"/>
            </a:pPr>
            <a:r>
              <a:rPr lang="zh-CN" altLang="en-US" dirty="0" smtClean="0"/>
              <a:t>参数为</a:t>
            </a:r>
            <a:r>
              <a:rPr lang="en-US" altLang="zh-CN" dirty="0" smtClean="0"/>
              <a:t>128×5×5×256</a:t>
            </a:r>
          </a:p>
          <a:p>
            <a:pPr lvl="1">
              <a:buFont typeface="Wingdings" panose="05000000000000000000" pitchFamily="2" charset="2"/>
              <a:buChar char="u"/>
            </a:pPr>
            <a:r>
              <a:rPr lang="zh-CN" altLang="en-US" dirty="0" smtClean="0"/>
              <a:t>先经过</a:t>
            </a:r>
            <a:r>
              <a:rPr lang="en-US" altLang="zh-CN" dirty="0" smtClean="0"/>
              <a:t>32</a:t>
            </a:r>
            <a:r>
              <a:rPr lang="zh-CN" altLang="en-US" dirty="0" smtClean="0"/>
              <a:t>通道</a:t>
            </a:r>
            <a:r>
              <a:rPr lang="en-US" altLang="zh-CN" dirty="0" smtClean="0"/>
              <a:t>(1,1)</a:t>
            </a:r>
            <a:r>
              <a:rPr lang="zh-CN" altLang="en-US" dirty="0" smtClean="0"/>
              <a:t>卷积层</a:t>
            </a:r>
            <a:endParaRPr lang="en-US" altLang="zh-CN" dirty="0" smtClean="0"/>
          </a:p>
          <a:p>
            <a:pPr lvl="1">
              <a:buFont typeface="Wingdings" panose="05000000000000000000" pitchFamily="2" charset="2"/>
              <a:buChar char="u"/>
            </a:pPr>
            <a:r>
              <a:rPr lang="en-US" altLang="zh-CN" dirty="0"/>
              <a:t>256</a:t>
            </a:r>
            <a:r>
              <a:rPr lang="zh-CN" altLang="en-US" dirty="0"/>
              <a:t>通道</a:t>
            </a:r>
            <a:r>
              <a:rPr lang="en-US" altLang="zh-CN" dirty="0"/>
              <a:t>(5,5)</a:t>
            </a:r>
            <a:r>
              <a:rPr lang="zh-CN" altLang="en-US" dirty="0"/>
              <a:t>卷积层</a:t>
            </a:r>
            <a:endParaRPr lang="en-US" altLang="zh-CN" dirty="0"/>
          </a:p>
          <a:p>
            <a:pPr lvl="1">
              <a:buFont typeface="Wingdings" panose="05000000000000000000" pitchFamily="2" charset="2"/>
              <a:buChar char="u"/>
            </a:pPr>
            <a:r>
              <a:rPr lang="zh-CN" altLang="en-US" dirty="0" smtClean="0"/>
              <a:t>参数为</a:t>
            </a:r>
            <a:r>
              <a:rPr lang="en-US" altLang="zh-CN" dirty="0" smtClean="0"/>
              <a:t>128×1×1×32+32×5×5×256 </a:t>
            </a:r>
            <a:endParaRPr lang="zh-CN" altLang="en-US" dirty="0"/>
          </a:p>
        </p:txBody>
      </p:sp>
      <p:pic>
        <p:nvPicPr>
          <p:cNvPr id="7" name="图片 6"/>
          <p:cNvPicPr>
            <a:picLocks noChangeAspect="1"/>
          </p:cNvPicPr>
          <p:nvPr/>
        </p:nvPicPr>
        <p:blipFill>
          <a:blip r:embed="rId3"/>
          <a:stretch>
            <a:fillRect/>
          </a:stretch>
        </p:blipFill>
        <p:spPr>
          <a:xfrm>
            <a:off x="3874762" y="2151675"/>
            <a:ext cx="7645726" cy="2964222"/>
          </a:xfrm>
          <a:prstGeom prst="rect">
            <a:avLst/>
          </a:prstGeom>
        </p:spPr>
      </p:pic>
    </p:spTree>
    <p:extLst>
      <p:ext uri="{BB962C8B-B14F-4D97-AF65-F5344CB8AC3E}">
        <p14:creationId xmlns:p14="http://schemas.microsoft.com/office/powerpoint/2010/main" val="354740197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GoogLeNet</a:t>
            </a:r>
            <a:r>
              <a:rPr lang="zh-CN" altLang="en-US" dirty="0"/>
              <a:t>神经网络</a:t>
            </a:r>
          </a:p>
        </p:txBody>
      </p:sp>
      <p:sp>
        <p:nvSpPr>
          <p:cNvPr id="3" name="内容占位符 2"/>
          <p:cNvSpPr>
            <a:spLocks noGrp="1"/>
          </p:cNvSpPr>
          <p:nvPr>
            <p:ph sz="quarter" idx="13"/>
          </p:nvPr>
        </p:nvSpPr>
        <p:spPr/>
        <p:txBody>
          <a:bodyPr/>
          <a:lstStyle/>
          <a:p>
            <a:r>
              <a:rPr lang="en-US" altLang="zh-CN" dirty="0" err="1" smtClean="0"/>
              <a:t>GoogLeNet</a:t>
            </a:r>
            <a:r>
              <a:rPr lang="zh-CN" altLang="en-US" dirty="0" smtClean="0"/>
              <a:t>的演变</a:t>
            </a:r>
            <a:endParaRPr lang="en-US" altLang="zh-CN" dirty="0" smtClean="0"/>
          </a:p>
          <a:p>
            <a:pPr lvl="1"/>
            <a:r>
              <a:rPr lang="en-US" altLang="zh-CN" dirty="0" smtClean="0"/>
              <a:t>Inception</a:t>
            </a:r>
            <a:r>
              <a:rPr lang="zh-CN" altLang="en-US" dirty="0" smtClean="0"/>
              <a:t>第二版</a:t>
            </a:r>
            <a:endParaRPr lang="en-US" altLang="zh-CN" dirty="0" smtClean="0"/>
          </a:p>
          <a:p>
            <a:pPr lvl="2"/>
            <a:r>
              <a:rPr lang="zh-CN" altLang="en-US" dirty="0" smtClean="0"/>
              <a:t>加入批标准化操作（</a:t>
            </a:r>
            <a:r>
              <a:rPr lang="en-US" altLang="zh-CN" dirty="0" smtClean="0"/>
              <a:t>BN</a:t>
            </a:r>
            <a:r>
              <a:rPr lang="zh-CN" altLang="en-US" dirty="0" smtClean="0"/>
              <a:t>层）</a:t>
            </a:r>
            <a:endParaRPr lang="en-US" altLang="zh-CN" dirty="0" smtClean="0"/>
          </a:p>
          <a:p>
            <a:pPr lvl="2"/>
            <a:r>
              <a:rPr lang="zh-CN" altLang="en-US" dirty="0" smtClean="0"/>
              <a:t>训练模型收敛更快</a:t>
            </a:r>
            <a:endParaRPr lang="en-US" altLang="zh-CN" dirty="0" smtClean="0"/>
          </a:p>
          <a:p>
            <a:pPr lvl="2"/>
            <a:r>
              <a:rPr lang="zh-CN" altLang="en-US" dirty="0" smtClean="0"/>
              <a:t>增加深度，减少参数</a:t>
            </a:r>
            <a:endParaRPr lang="en-US" altLang="zh-CN" dirty="0" smtClean="0"/>
          </a:p>
          <a:p>
            <a:pPr lvl="1"/>
            <a:r>
              <a:rPr lang="en-US" altLang="zh-CN" dirty="0"/>
              <a:t>Inception</a:t>
            </a:r>
            <a:r>
              <a:rPr lang="zh-CN" altLang="en-US" dirty="0" smtClean="0"/>
              <a:t>第三版</a:t>
            </a:r>
            <a:endParaRPr lang="en-US" altLang="zh-CN" dirty="0" smtClean="0"/>
          </a:p>
          <a:p>
            <a:pPr lvl="2"/>
            <a:r>
              <a:rPr lang="en-US" altLang="zh-CN" dirty="0" smtClean="0"/>
              <a:t>(F,F)</a:t>
            </a:r>
            <a:r>
              <a:rPr lang="zh-CN" altLang="en-US" dirty="0" smtClean="0"/>
              <a:t>卷积变成</a:t>
            </a:r>
            <a:r>
              <a:rPr lang="en-US" altLang="zh-CN" dirty="0" smtClean="0"/>
              <a:t>(1,F)</a:t>
            </a:r>
            <a:r>
              <a:rPr lang="zh-CN" altLang="en-US" dirty="0" smtClean="0"/>
              <a:t>和</a:t>
            </a:r>
            <a:r>
              <a:rPr lang="en-US" altLang="zh-CN" dirty="0" smtClean="0"/>
              <a:t>(F,1)</a:t>
            </a:r>
            <a:r>
              <a:rPr lang="zh-CN" altLang="en-US" dirty="0" smtClean="0"/>
              <a:t>串联</a:t>
            </a:r>
            <a:endParaRPr lang="en-US" altLang="zh-CN" dirty="0" smtClean="0"/>
          </a:p>
          <a:p>
            <a:pPr lvl="2"/>
            <a:r>
              <a:rPr lang="zh-CN" altLang="en-US" dirty="0" smtClean="0"/>
              <a:t>加速计算，减小过拟合概率</a:t>
            </a:r>
            <a:endParaRPr lang="en-US" altLang="zh-CN" dirty="0" smtClean="0"/>
          </a:p>
          <a:p>
            <a:pPr lvl="2"/>
            <a:r>
              <a:rPr lang="zh-CN" altLang="en-US" dirty="0" smtClean="0"/>
              <a:t>输入特征图尺寸</a:t>
            </a:r>
            <a:r>
              <a:rPr lang="en-US" altLang="zh-CN" dirty="0" smtClean="0"/>
              <a:t>(224,224)</a:t>
            </a:r>
            <a:r>
              <a:rPr lang="zh-CN" altLang="en-US" dirty="0" smtClean="0"/>
              <a:t>变为</a:t>
            </a:r>
            <a:r>
              <a:rPr lang="en-US" altLang="zh-CN" dirty="0" smtClean="0"/>
              <a:t>(299,299)</a:t>
            </a:r>
            <a:endParaRPr lang="en-US" altLang="zh-CN" dirty="0"/>
          </a:p>
          <a:p>
            <a:pPr lvl="1"/>
            <a:r>
              <a:rPr lang="en-US" altLang="zh-CN" dirty="0"/>
              <a:t>Inception</a:t>
            </a:r>
            <a:r>
              <a:rPr lang="zh-CN" altLang="en-US" dirty="0" smtClean="0"/>
              <a:t>第四版</a:t>
            </a:r>
            <a:endParaRPr lang="en-US" altLang="zh-CN" dirty="0" smtClean="0"/>
          </a:p>
          <a:p>
            <a:pPr lvl="2"/>
            <a:r>
              <a:rPr lang="zh-CN" altLang="en-US" dirty="0" smtClean="0"/>
              <a:t>增加</a:t>
            </a:r>
            <a:r>
              <a:rPr lang="en-US" altLang="zh-CN" dirty="0" err="1" smtClean="0"/>
              <a:t>ResNet</a:t>
            </a:r>
            <a:r>
              <a:rPr lang="zh-CN" altLang="en-US" dirty="0" smtClean="0"/>
              <a:t>方法</a:t>
            </a:r>
            <a:endParaRPr lang="en-US" altLang="zh-CN" dirty="0" smtClean="0"/>
          </a:p>
          <a:p>
            <a:pPr lvl="2"/>
            <a:r>
              <a:rPr lang="zh-CN" altLang="en-US" dirty="0" smtClean="0"/>
              <a:t>提高训练速度</a:t>
            </a:r>
            <a:endParaRPr lang="en-US" altLang="zh-CN" dirty="0"/>
          </a:p>
          <a:p>
            <a:pPr lvl="1"/>
            <a:endParaRPr lang="en-US" altLang="zh-CN" dirty="0" smtClean="0"/>
          </a:p>
          <a:p>
            <a:pPr lvl="1"/>
            <a:endParaRPr lang="zh-CN" altLang="en-US" dirty="0"/>
          </a:p>
        </p:txBody>
      </p:sp>
      <p:sp>
        <p:nvSpPr>
          <p:cNvPr id="4" name="矩形 3"/>
          <p:cNvSpPr/>
          <p:nvPr/>
        </p:nvSpPr>
        <p:spPr>
          <a:xfrm>
            <a:off x="8305800" y="5398180"/>
            <a:ext cx="849086" cy="381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Base</a:t>
            </a:r>
            <a:endParaRPr lang="zh-CN" altLang="en-US" dirty="0"/>
          </a:p>
        </p:txBody>
      </p:sp>
      <p:sp>
        <p:nvSpPr>
          <p:cNvPr id="5" name="矩形 4"/>
          <p:cNvSpPr/>
          <p:nvPr/>
        </p:nvSpPr>
        <p:spPr>
          <a:xfrm>
            <a:off x="6248797" y="4659086"/>
            <a:ext cx="849086" cy="381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1×1</a:t>
            </a:r>
            <a:endParaRPr lang="zh-CN" altLang="en-US" dirty="0"/>
          </a:p>
        </p:txBody>
      </p:sp>
      <p:sp>
        <p:nvSpPr>
          <p:cNvPr id="6" name="矩形 5"/>
          <p:cNvSpPr/>
          <p:nvPr/>
        </p:nvSpPr>
        <p:spPr>
          <a:xfrm>
            <a:off x="7609114" y="4659086"/>
            <a:ext cx="849086" cy="381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1×1</a:t>
            </a:r>
            <a:endParaRPr lang="zh-CN" altLang="en-US" dirty="0"/>
          </a:p>
        </p:txBody>
      </p:sp>
      <p:sp>
        <p:nvSpPr>
          <p:cNvPr id="7" name="矩形 6"/>
          <p:cNvSpPr/>
          <p:nvPr/>
        </p:nvSpPr>
        <p:spPr>
          <a:xfrm>
            <a:off x="8969431" y="4659086"/>
            <a:ext cx="849086" cy="381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Pool</a:t>
            </a:r>
            <a:endParaRPr lang="zh-CN" altLang="en-US" dirty="0"/>
          </a:p>
        </p:txBody>
      </p:sp>
      <p:sp>
        <p:nvSpPr>
          <p:cNvPr id="8" name="矩形 7"/>
          <p:cNvSpPr/>
          <p:nvPr/>
        </p:nvSpPr>
        <p:spPr>
          <a:xfrm>
            <a:off x="10329748" y="4659086"/>
            <a:ext cx="849086" cy="381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1×1</a:t>
            </a:r>
            <a:endParaRPr lang="zh-CN" altLang="en-US" dirty="0"/>
          </a:p>
        </p:txBody>
      </p:sp>
      <p:sp>
        <p:nvSpPr>
          <p:cNvPr id="9" name="矩形 8"/>
          <p:cNvSpPr/>
          <p:nvPr/>
        </p:nvSpPr>
        <p:spPr>
          <a:xfrm>
            <a:off x="6243553" y="3985190"/>
            <a:ext cx="849086" cy="381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3</a:t>
            </a:r>
            <a:r>
              <a:rPr lang="en-US" altLang="zh-CN" dirty="0" smtClean="0"/>
              <a:t>×3</a:t>
            </a:r>
            <a:endParaRPr lang="zh-CN" altLang="en-US" dirty="0"/>
          </a:p>
        </p:txBody>
      </p:sp>
      <p:sp>
        <p:nvSpPr>
          <p:cNvPr id="10" name="矩形 9"/>
          <p:cNvSpPr/>
          <p:nvPr/>
        </p:nvSpPr>
        <p:spPr>
          <a:xfrm>
            <a:off x="7609114" y="3985190"/>
            <a:ext cx="849086" cy="381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3×3</a:t>
            </a:r>
            <a:endParaRPr lang="zh-CN" altLang="en-US" dirty="0"/>
          </a:p>
        </p:txBody>
      </p:sp>
      <p:sp>
        <p:nvSpPr>
          <p:cNvPr id="11" name="矩形 10"/>
          <p:cNvSpPr/>
          <p:nvPr/>
        </p:nvSpPr>
        <p:spPr>
          <a:xfrm>
            <a:off x="8969431" y="3980315"/>
            <a:ext cx="849086" cy="381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1×1</a:t>
            </a:r>
            <a:endParaRPr lang="zh-CN" altLang="en-US" dirty="0"/>
          </a:p>
        </p:txBody>
      </p:sp>
      <p:sp>
        <p:nvSpPr>
          <p:cNvPr id="13" name="矩形 12"/>
          <p:cNvSpPr/>
          <p:nvPr/>
        </p:nvSpPr>
        <p:spPr>
          <a:xfrm>
            <a:off x="6243553" y="3311294"/>
            <a:ext cx="849086" cy="381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3</a:t>
            </a:r>
            <a:r>
              <a:rPr lang="en-US" altLang="zh-CN" dirty="0" smtClean="0"/>
              <a:t>×3</a:t>
            </a:r>
            <a:endParaRPr lang="zh-CN" altLang="en-US" dirty="0"/>
          </a:p>
        </p:txBody>
      </p:sp>
      <p:sp>
        <p:nvSpPr>
          <p:cNvPr id="14" name="矩形 13"/>
          <p:cNvSpPr/>
          <p:nvPr/>
        </p:nvSpPr>
        <p:spPr>
          <a:xfrm>
            <a:off x="7391400" y="2171870"/>
            <a:ext cx="2677886" cy="381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Filter </a:t>
            </a:r>
            <a:r>
              <a:rPr lang="en-US" altLang="zh-CN" dirty="0" err="1" smtClean="0"/>
              <a:t>Concat</a:t>
            </a:r>
            <a:r>
              <a:rPr lang="zh-CN" altLang="en-US" dirty="0" smtClean="0"/>
              <a:t>操作</a:t>
            </a:r>
            <a:endParaRPr lang="zh-CN" altLang="en-US" dirty="0"/>
          </a:p>
        </p:txBody>
      </p:sp>
      <p:cxnSp>
        <p:nvCxnSpPr>
          <p:cNvPr id="16" name="直接箭头连接符 15"/>
          <p:cNvCxnSpPr>
            <a:stCxn id="4" idx="0"/>
            <a:endCxn id="5" idx="2"/>
          </p:cNvCxnSpPr>
          <p:nvPr/>
        </p:nvCxnSpPr>
        <p:spPr>
          <a:xfrm flipH="1" flipV="1">
            <a:off x="6673340" y="5040086"/>
            <a:ext cx="2057003" cy="35809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4" idx="0"/>
            <a:endCxn id="6" idx="2"/>
          </p:cNvCxnSpPr>
          <p:nvPr/>
        </p:nvCxnSpPr>
        <p:spPr>
          <a:xfrm flipH="1" flipV="1">
            <a:off x="8033657" y="5040086"/>
            <a:ext cx="696686" cy="35809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4" idx="0"/>
            <a:endCxn id="7" idx="2"/>
          </p:cNvCxnSpPr>
          <p:nvPr/>
        </p:nvCxnSpPr>
        <p:spPr>
          <a:xfrm flipV="1">
            <a:off x="8730343" y="5040086"/>
            <a:ext cx="663631" cy="35809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4" idx="0"/>
            <a:endCxn id="8" idx="2"/>
          </p:cNvCxnSpPr>
          <p:nvPr/>
        </p:nvCxnSpPr>
        <p:spPr>
          <a:xfrm flipV="1">
            <a:off x="8730343" y="5040086"/>
            <a:ext cx="2023948" cy="35809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5" idx="0"/>
            <a:endCxn id="9" idx="2"/>
          </p:cNvCxnSpPr>
          <p:nvPr/>
        </p:nvCxnSpPr>
        <p:spPr>
          <a:xfrm flipH="1" flipV="1">
            <a:off x="6668096" y="4366190"/>
            <a:ext cx="5244" cy="2928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H="1" flipV="1">
            <a:off x="8023169" y="4361315"/>
            <a:ext cx="5244" cy="2928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H="1" flipV="1">
            <a:off x="9388730" y="4349920"/>
            <a:ext cx="5244" cy="2928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flipH="1" flipV="1">
            <a:off x="6662852" y="3692294"/>
            <a:ext cx="5244" cy="2928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13" idx="0"/>
            <a:endCxn id="14" idx="2"/>
          </p:cNvCxnSpPr>
          <p:nvPr/>
        </p:nvCxnSpPr>
        <p:spPr>
          <a:xfrm flipV="1">
            <a:off x="6668096" y="2552870"/>
            <a:ext cx="2062247" cy="7584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10" idx="0"/>
            <a:endCxn id="14" idx="2"/>
          </p:cNvCxnSpPr>
          <p:nvPr/>
        </p:nvCxnSpPr>
        <p:spPr>
          <a:xfrm flipV="1">
            <a:off x="8033657" y="2552870"/>
            <a:ext cx="696686" cy="14323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11" idx="0"/>
            <a:endCxn id="14" idx="2"/>
          </p:cNvCxnSpPr>
          <p:nvPr/>
        </p:nvCxnSpPr>
        <p:spPr>
          <a:xfrm flipH="1" flipV="1">
            <a:off x="8730343" y="2552870"/>
            <a:ext cx="663631" cy="14274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stCxn id="8" idx="0"/>
            <a:endCxn id="14" idx="2"/>
          </p:cNvCxnSpPr>
          <p:nvPr/>
        </p:nvCxnSpPr>
        <p:spPr>
          <a:xfrm flipH="1" flipV="1">
            <a:off x="8730343" y="2552870"/>
            <a:ext cx="2023948" cy="21062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033935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GoogleNet</a:t>
            </a:r>
            <a:r>
              <a:rPr lang="zh-CN" altLang="en-US" dirty="0" smtClean="0"/>
              <a:t>神经网络</a:t>
            </a:r>
            <a:endParaRPr lang="zh-CN" altLang="en-US" dirty="0"/>
          </a:p>
        </p:txBody>
      </p:sp>
      <p:sp>
        <p:nvSpPr>
          <p:cNvPr id="5" name="内容占位符 4"/>
          <p:cNvSpPr>
            <a:spLocks noGrp="1"/>
          </p:cNvSpPr>
          <p:nvPr>
            <p:ph sz="quarter" idx="13"/>
          </p:nvPr>
        </p:nvSpPr>
        <p:spPr/>
        <p:txBody>
          <a:bodyPr/>
          <a:lstStyle/>
          <a:p>
            <a:r>
              <a:rPr lang="en-US" altLang="zh-CN" dirty="0" err="1" smtClean="0"/>
              <a:t>GoogLeNet</a:t>
            </a:r>
            <a:r>
              <a:rPr lang="zh-CN" altLang="en-US" dirty="0" smtClean="0"/>
              <a:t>神经网络：</a:t>
            </a:r>
            <a:endParaRPr lang="en-US" altLang="zh-CN" dirty="0" smtClean="0"/>
          </a:p>
          <a:p>
            <a:pPr marL="800100" lvl="1" indent="-342900">
              <a:buFont typeface="+mj-lt"/>
              <a:buAutoNum type="arabicPeriod"/>
            </a:pPr>
            <a:r>
              <a:rPr lang="zh-CN" altLang="en-US" dirty="0" smtClean="0"/>
              <a:t>模块化结构</a:t>
            </a:r>
            <a:endParaRPr lang="en-US" altLang="zh-CN" dirty="0" smtClean="0"/>
          </a:p>
          <a:p>
            <a:pPr marL="800100" lvl="1" indent="-342900">
              <a:buFont typeface="+mj-lt"/>
              <a:buAutoNum type="arabicPeriod"/>
            </a:pPr>
            <a:r>
              <a:rPr lang="zh-CN" altLang="en-US" dirty="0" smtClean="0"/>
              <a:t>最后采用</a:t>
            </a:r>
            <a:r>
              <a:rPr lang="en-US" altLang="zh-CN" dirty="0" err="1" smtClean="0"/>
              <a:t>avgpool</a:t>
            </a:r>
            <a:endParaRPr lang="en-US" altLang="zh-CN" dirty="0" smtClean="0"/>
          </a:p>
          <a:p>
            <a:pPr marL="800100" lvl="1" indent="-342900">
              <a:buFont typeface="+mj-lt"/>
              <a:buAutoNum type="arabicPeriod"/>
            </a:pPr>
            <a:r>
              <a:rPr lang="zh-CN" altLang="en-US" dirty="0" smtClean="0"/>
              <a:t>仍使用</a:t>
            </a:r>
            <a:r>
              <a:rPr lang="en-US" altLang="zh-CN" dirty="0" smtClean="0"/>
              <a:t>Dropout</a:t>
            </a:r>
          </a:p>
          <a:p>
            <a:pPr marL="800100" lvl="1" indent="-342900">
              <a:buFont typeface="+mj-lt"/>
              <a:buAutoNum type="arabicPeriod"/>
            </a:pPr>
            <a:r>
              <a:rPr lang="zh-CN" altLang="en-US" dirty="0" smtClean="0"/>
              <a:t>添加两个辅助分类器</a:t>
            </a:r>
            <a:endParaRPr lang="en-US" altLang="zh-CN" dirty="0" smtClean="0"/>
          </a:p>
          <a:p>
            <a:pPr lvl="1"/>
            <a:endParaRPr lang="zh-CN" altLang="en-US" dirty="0"/>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00909" y="1424734"/>
            <a:ext cx="8119579" cy="4712540"/>
          </a:xfrm>
          <a:prstGeom prst="rect">
            <a:avLst/>
          </a:prstGeom>
        </p:spPr>
      </p:pic>
    </p:spTree>
    <p:extLst>
      <p:ext uri="{BB962C8B-B14F-4D97-AF65-F5344CB8AC3E}">
        <p14:creationId xmlns:p14="http://schemas.microsoft.com/office/powerpoint/2010/main" val="76376761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ResNet</a:t>
            </a:r>
            <a:endParaRPr lang="zh-CN" altLang="en-US" dirty="0"/>
          </a:p>
        </p:txBody>
      </p:sp>
      <p:sp>
        <p:nvSpPr>
          <p:cNvPr id="3" name="内容占位符 2"/>
          <p:cNvSpPr>
            <a:spLocks noGrp="1"/>
          </p:cNvSpPr>
          <p:nvPr>
            <p:ph sz="quarter" idx="13"/>
          </p:nvPr>
        </p:nvSpPr>
        <p:spPr/>
        <p:txBody>
          <a:bodyPr/>
          <a:lstStyle/>
          <a:p>
            <a:r>
              <a:rPr lang="en-US" altLang="zh-CN" dirty="0" err="1" smtClean="0"/>
              <a:t>ResNet</a:t>
            </a:r>
            <a:endParaRPr lang="en-US" altLang="zh-CN" dirty="0" smtClean="0"/>
          </a:p>
          <a:p>
            <a:pPr lvl="1"/>
            <a:r>
              <a:rPr lang="en-US" altLang="zh-CN" dirty="0" smtClean="0"/>
              <a:t>2015</a:t>
            </a:r>
            <a:r>
              <a:rPr lang="zh-CN" altLang="en-US" dirty="0" smtClean="0"/>
              <a:t>年，何恺明提出了</a:t>
            </a:r>
            <a:r>
              <a:rPr lang="en-US" altLang="zh-CN" dirty="0" smtClean="0"/>
              <a:t>152</a:t>
            </a:r>
            <a:r>
              <a:rPr lang="zh-CN" altLang="en-US" dirty="0" smtClean="0"/>
              <a:t>层的</a:t>
            </a:r>
            <a:r>
              <a:rPr lang="en-US" altLang="zh-CN" dirty="0" err="1" smtClean="0"/>
              <a:t>ResNet</a:t>
            </a:r>
            <a:endParaRPr lang="en-US" altLang="zh-CN" dirty="0" smtClean="0"/>
          </a:p>
          <a:p>
            <a:pPr lvl="1"/>
            <a:r>
              <a:rPr lang="zh-CN" altLang="en-US" dirty="0" smtClean="0"/>
              <a:t>有效改善因网络深度导致的梯度消失</a:t>
            </a:r>
            <a:endParaRPr lang="en-US" altLang="zh-CN" dirty="0" smtClean="0"/>
          </a:p>
          <a:p>
            <a:pPr lvl="1"/>
            <a:r>
              <a:rPr lang="zh-CN" altLang="en-US" dirty="0"/>
              <a:t>在</a:t>
            </a:r>
            <a:r>
              <a:rPr lang="en-US" altLang="zh-CN" dirty="0" smtClean="0"/>
              <a:t>2015</a:t>
            </a:r>
            <a:r>
              <a:rPr lang="zh-CN" altLang="en-US" dirty="0" smtClean="0"/>
              <a:t>年</a:t>
            </a:r>
            <a:r>
              <a:rPr lang="en-US" altLang="zh-CN" dirty="0" err="1"/>
              <a:t>ImageNet</a:t>
            </a:r>
            <a:r>
              <a:rPr lang="zh-CN" altLang="en-US" dirty="0"/>
              <a:t>比赛获得冠军</a:t>
            </a:r>
            <a:endParaRPr lang="en-US" altLang="zh-CN" dirty="0"/>
          </a:p>
          <a:p>
            <a:r>
              <a:rPr lang="zh-CN" altLang="en-US" dirty="0" smtClean="0"/>
              <a:t>主要结构</a:t>
            </a:r>
            <a:endParaRPr lang="en-US" altLang="zh-CN" dirty="0" smtClean="0"/>
          </a:p>
          <a:p>
            <a:pPr lvl="1"/>
            <a:r>
              <a:rPr lang="zh-CN" altLang="en-US" dirty="0"/>
              <a:t>输入图像</a:t>
            </a:r>
            <a:endParaRPr lang="en-US" altLang="zh-CN" dirty="0" smtClean="0"/>
          </a:p>
          <a:p>
            <a:pPr lvl="1"/>
            <a:r>
              <a:rPr lang="zh-CN" altLang="en-US" dirty="0"/>
              <a:t>卷积</a:t>
            </a:r>
            <a:r>
              <a:rPr lang="zh-CN" altLang="en-US" dirty="0" smtClean="0"/>
              <a:t>层</a:t>
            </a:r>
            <a:r>
              <a:rPr lang="en-US" altLang="zh-CN" dirty="0" smtClean="0"/>
              <a:t>conv1</a:t>
            </a:r>
          </a:p>
          <a:p>
            <a:pPr lvl="1"/>
            <a:r>
              <a:rPr lang="zh-CN" altLang="en-US" dirty="0" smtClean="0"/>
              <a:t>卷积块</a:t>
            </a:r>
            <a:r>
              <a:rPr lang="en-US" altLang="zh-CN" dirty="0" smtClean="0"/>
              <a:t>conv2_x</a:t>
            </a:r>
          </a:p>
          <a:p>
            <a:pPr lvl="1"/>
            <a:r>
              <a:rPr lang="zh-CN" altLang="en-US" dirty="0"/>
              <a:t>卷积</a:t>
            </a:r>
            <a:r>
              <a:rPr lang="zh-CN" altLang="en-US" dirty="0" smtClean="0"/>
              <a:t>块</a:t>
            </a:r>
            <a:r>
              <a:rPr lang="en-US" altLang="zh-CN" dirty="0" smtClean="0"/>
              <a:t>conv3_x</a:t>
            </a:r>
          </a:p>
          <a:p>
            <a:pPr lvl="1"/>
            <a:r>
              <a:rPr lang="zh-CN" altLang="en-US" dirty="0"/>
              <a:t>卷积块</a:t>
            </a:r>
            <a:r>
              <a:rPr lang="en-US" altLang="zh-CN" dirty="0" smtClean="0"/>
              <a:t>conv4_x</a:t>
            </a:r>
            <a:endParaRPr lang="en-US" altLang="zh-CN" dirty="0"/>
          </a:p>
          <a:p>
            <a:pPr lvl="1"/>
            <a:r>
              <a:rPr lang="zh-CN" altLang="en-US" dirty="0"/>
              <a:t>卷积块</a:t>
            </a:r>
            <a:r>
              <a:rPr lang="en-US" altLang="zh-CN" dirty="0" smtClean="0"/>
              <a:t>conv5_x</a:t>
            </a:r>
            <a:endParaRPr lang="en-US" altLang="zh-CN" dirty="0"/>
          </a:p>
          <a:p>
            <a:pPr lvl="1"/>
            <a:r>
              <a:rPr lang="zh-CN" altLang="en-US" dirty="0" smtClean="0"/>
              <a:t>平均池化层</a:t>
            </a:r>
            <a:r>
              <a:rPr lang="en-US" altLang="zh-CN" dirty="0" smtClean="0"/>
              <a:t>+</a:t>
            </a:r>
            <a:r>
              <a:rPr lang="zh-CN" altLang="en-US" dirty="0" smtClean="0"/>
              <a:t>全连接层</a:t>
            </a:r>
            <a:endParaRPr lang="en-US" altLang="zh-CN" dirty="0" smtClean="0"/>
          </a:p>
          <a:p>
            <a:pPr lvl="1"/>
            <a:r>
              <a:rPr lang="zh-CN" altLang="en-US" dirty="0" smtClean="0"/>
              <a:t>输出结果</a:t>
            </a:r>
            <a:endParaRPr lang="zh-CN" altLang="en-US" dirty="0"/>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9486" y="2901573"/>
            <a:ext cx="7471002" cy="3235701"/>
          </a:xfrm>
          <a:prstGeom prst="rect">
            <a:avLst/>
          </a:prstGeom>
        </p:spPr>
      </p:pic>
    </p:spTree>
    <p:extLst>
      <p:ext uri="{BB962C8B-B14F-4D97-AF65-F5344CB8AC3E}">
        <p14:creationId xmlns:p14="http://schemas.microsoft.com/office/powerpoint/2010/main" val="178627383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ResNet</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梯度消失</a:t>
                </a:r>
                <a:endParaRPr lang="en-US" altLang="zh-CN" dirty="0" smtClean="0"/>
              </a:p>
              <a:p>
                <a:pPr lvl="1"/>
                <a:r>
                  <a:rPr lang="zh-CN" altLang="en-US" dirty="0" smtClean="0"/>
                  <a:t>由于网络结构深度导致</a:t>
                </a:r>
                <a:endParaRPr lang="en-US" altLang="zh-CN" dirty="0" smtClean="0"/>
              </a:p>
              <a:p>
                <a:pPr lvl="1"/>
                <a:r>
                  <a:rPr lang="zh-CN" altLang="en-US" dirty="0" smtClean="0"/>
                  <a:t>随着误差回传，前层网络梯度越来越小</a:t>
                </a:r>
                <a:endParaRPr lang="en-US" altLang="zh-CN" dirty="0" smtClean="0"/>
              </a:p>
              <a:p>
                <a:pPr marL="342900" indent="-342900">
                  <a:buFont typeface="+mj-lt"/>
                  <a:buAutoNum type="arabicPeriod"/>
                </a:pPr>
                <a14:m>
                  <m:oMath xmlns:m="http://schemas.openxmlformats.org/officeDocument/2006/math">
                    <m:r>
                      <a:rPr lang="en-US" altLang="zh-CN" i="1">
                        <a:latin typeface="Cambria Math" panose="02040503050406030204" pitchFamily="18" charset="0"/>
                      </a:rPr>
                      <m:t>𝐿𝑜𝑠𝑠</m:t>
                    </m:r>
                    <m:r>
                      <a:rPr lang="en-US" altLang="zh-CN" dirty="0" smtClean="0">
                        <a:latin typeface="Cambria Math" panose="02040503050406030204" pitchFamily="18" charset="0"/>
                        <a:ea typeface="Cambria Math" panose="02040503050406030204" pitchFamily="18" charset="0"/>
                      </a:rPr>
                      <m:t>=</m:t>
                    </m:r>
                    <m:r>
                      <m:rPr>
                        <m:sty m:val="p"/>
                      </m:rPr>
                      <a:rPr lang="en-US" altLang="zh-CN" b="0" i="0" dirty="0" smtClean="0">
                        <a:latin typeface="Cambria Math" panose="02040503050406030204" pitchFamily="18" charset="0"/>
                        <a:ea typeface="Cambria Math" panose="02040503050406030204" pitchFamily="18" charset="0"/>
                      </a:rPr>
                      <m:t>F</m:t>
                    </m:r>
                    <m:r>
                      <a:rPr lang="en-US" altLang="zh-CN" b="0" i="0"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𝑋</m:t>
                    </m:r>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𝑊</m:t>
                    </m:r>
                    <m:r>
                      <a:rPr lang="en-US" altLang="zh-CN" b="0" i="1" dirty="0" smtClean="0">
                        <a:latin typeface="Cambria Math" panose="02040503050406030204" pitchFamily="18" charset="0"/>
                        <a:ea typeface="Cambria Math" panose="02040503050406030204" pitchFamily="18" charset="0"/>
                      </a:rPr>
                      <m:t>)</m:t>
                    </m:r>
                  </m:oMath>
                </a14:m>
                <a:endParaRPr lang="en-US" altLang="zh-CN" b="0" dirty="0" smtClean="0"/>
              </a:p>
              <a:p>
                <a:pPr marL="342900" indent="-342900">
                  <a:buFont typeface="+mj-lt"/>
                  <a:buAutoNum type="arabicPeriod"/>
                </a:pPr>
                <a14:m>
                  <m:oMath xmlns:m="http://schemas.openxmlformats.org/officeDocument/2006/math">
                    <m:f>
                      <m:fPr>
                        <m:ctrlPr>
                          <a:rPr lang="en-US" altLang="zh-CN" b="0" i="1" smtClean="0">
                            <a:latin typeface="Cambria Math" panose="02040503050406030204" pitchFamily="18" charset="0"/>
                          </a:rPr>
                        </m:ctrlPr>
                      </m:fPr>
                      <m:num>
                        <m:r>
                          <a:rPr lang="zh-CN" altLang="en-US" b="0" i="1" smtClean="0">
                            <a:latin typeface="Cambria Math" panose="02040503050406030204" pitchFamily="18" charset="0"/>
                          </a:rPr>
                          <m:t>𝜕</m:t>
                        </m:r>
                        <m:r>
                          <a:rPr lang="en-US" altLang="zh-CN" i="1">
                            <a:latin typeface="Cambria Math" panose="02040503050406030204" pitchFamily="18" charset="0"/>
                          </a:rPr>
                          <m:t>𝐿𝑜𝑠𝑠</m:t>
                        </m:r>
                      </m:num>
                      <m:den>
                        <m:r>
                          <a:rPr lang="zh-CN" altLang="en-US" b="0" i="1" smtClean="0">
                            <a:latin typeface="Cambria Math" panose="02040503050406030204" pitchFamily="18" charset="0"/>
                          </a:rPr>
                          <m:t>𝜕</m:t>
                        </m:r>
                        <m:r>
                          <a:rPr lang="en-US" altLang="zh-CN" b="0" i="1" smtClean="0">
                            <a:latin typeface="Cambria Math" panose="02040503050406030204" pitchFamily="18" charset="0"/>
                          </a:rPr>
                          <m:t>𝑋</m:t>
                        </m:r>
                      </m:den>
                    </m:f>
                    <m:r>
                      <a:rPr lang="en-US" altLang="zh-CN" dirty="0">
                        <a:latin typeface="Cambria Math" panose="02040503050406030204" pitchFamily="18" charset="0"/>
                        <a:ea typeface="Cambria Math" panose="02040503050406030204" pitchFamily="18" charset="0"/>
                      </a:rPr>
                      <m:t>=</m:t>
                    </m:r>
                    <m:f>
                      <m:fPr>
                        <m:ctrlPr>
                          <a:rPr lang="en-US" altLang="zh-CN" i="1" dirty="0" smtClean="0">
                            <a:latin typeface="Cambria Math" panose="02040503050406030204" pitchFamily="18" charset="0"/>
                            <a:ea typeface="Cambria Math" panose="02040503050406030204" pitchFamily="18" charset="0"/>
                          </a:rPr>
                        </m:ctrlPr>
                      </m:fPr>
                      <m:num>
                        <m:r>
                          <a:rPr lang="zh-CN" altLang="en-US" i="1" dirty="0" smtClean="0">
                            <a:latin typeface="Cambria Math" panose="02040503050406030204" pitchFamily="18" charset="0"/>
                            <a:ea typeface="Cambria Math" panose="02040503050406030204" pitchFamily="18" charset="0"/>
                          </a:rPr>
                          <m:t>𝜕</m:t>
                        </m:r>
                        <m:r>
                          <m:rPr>
                            <m:sty m:val="p"/>
                          </m:rPr>
                          <a:rPr lang="en-US" altLang="zh-CN" i="1" dirty="0">
                            <a:latin typeface="Cambria Math" panose="02040503050406030204" pitchFamily="18" charset="0"/>
                            <a:ea typeface="Cambria Math" panose="02040503050406030204" pitchFamily="18" charset="0"/>
                          </a:rPr>
                          <m:t>F</m:t>
                        </m:r>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𝑋</m:t>
                        </m:r>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𝑊</m:t>
                        </m:r>
                        <m:r>
                          <a:rPr lang="en-US" altLang="zh-CN" b="0" i="1" dirty="0" smtClean="0">
                            <a:latin typeface="Cambria Math" panose="02040503050406030204" pitchFamily="18" charset="0"/>
                            <a:ea typeface="Cambria Math" panose="02040503050406030204" pitchFamily="18" charset="0"/>
                          </a:rPr>
                          <m:t>)</m:t>
                        </m:r>
                      </m:num>
                      <m:den>
                        <m:r>
                          <a:rPr lang="zh-CN" altLang="en-US"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𝑋</m:t>
                        </m:r>
                      </m:den>
                    </m:f>
                  </m:oMath>
                </a14:m>
                <a:r>
                  <a:rPr lang="en-US" altLang="zh-CN" b="0" dirty="0" smtClean="0"/>
                  <a:t> </a:t>
                </a:r>
              </a:p>
              <a:p>
                <a:pPr marL="342900" indent="-342900">
                  <a:buFont typeface="+mj-lt"/>
                  <a:buAutoNum type="arabicPeriod"/>
                </a:pPr>
                <a14:m>
                  <m:oMath xmlns:m="http://schemas.openxmlformats.org/officeDocument/2006/math">
                    <m:r>
                      <a:rPr lang="en-US" altLang="zh-CN" b="0" i="1" smtClean="0">
                        <a:latin typeface="Cambria Math" panose="02040503050406030204" pitchFamily="18" charset="0"/>
                      </a:rPr>
                      <m:t>𝐿𝑜𝑠𝑠</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m:rPr>
                            <m:sty m:val="p"/>
                          </m:rPr>
                          <a:rPr lang="en-US" altLang="zh-CN" i="1">
                            <a:latin typeface="Cambria Math" panose="02040503050406030204" pitchFamily="18" charset="0"/>
                          </a:rPr>
                          <m:t>n</m:t>
                        </m:r>
                      </m:sub>
                    </m:sSub>
                    <m:r>
                      <a:rPr lang="en-US" altLang="zh-CN" b="0" i="1" smtClean="0">
                        <a:latin typeface="Cambria Math" panose="02040503050406030204" pitchFamily="18" charset="0"/>
                      </a:rPr>
                      <m:t>,</m:t>
                    </m:r>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𝑊</m:t>
                        </m:r>
                      </m:e>
                      <m:sub>
                        <m:r>
                          <m:rPr>
                            <m:sty m:val="p"/>
                          </m:rPr>
                          <a:rPr lang="en-US" altLang="zh-CN" i="1">
                            <a:latin typeface="Cambria Math" panose="02040503050406030204" pitchFamily="18" charset="0"/>
                          </a:rPr>
                          <m:t>n</m:t>
                        </m:r>
                      </m:sub>
                    </m:sSub>
                  </m:oMath>
                </a14:m>
                <a:r>
                  <a:rPr lang="en-US" altLang="zh-CN" b="0" dirty="0" smtClean="0"/>
                  <a:t>)</a:t>
                </a:r>
                <a:r>
                  <a:rPr lang="zh-CN" altLang="en-US" b="0" dirty="0" smtClean="0"/>
                  <a:t>，</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𝐿</m:t>
                        </m:r>
                      </m:e>
                      <m:sub>
                        <m:r>
                          <a:rPr lang="en-US" altLang="zh-CN" b="0" i="1" dirty="0" smtClean="0">
                            <a:latin typeface="Cambria Math" panose="02040503050406030204" pitchFamily="18" charset="0"/>
                          </a:rPr>
                          <m:t>𝑛</m:t>
                        </m:r>
                      </m:sub>
                    </m:sSub>
                    <m:r>
                      <a:rPr lang="en-US" altLang="zh-CN" dirty="0">
                        <a:latin typeface="Cambria Math" panose="02040503050406030204" pitchFamily="18" charset="0"/>
                        <a:ea typeface="Cambria Math" panose="02040503050406030204" pitchFamily="18" charset="0"/>
                      </a:rPr>
                      <m:t>=</m:t>
                    </m:r>
                    <m:sSub>
                      <m:sSubPr>
                        <m:ctrlPr>
                          <a:rPr lang="en-US" altLang="zh-CN" i="1" dirty="0" smtClean="0">
                            <a:latin typeface="Cambria Math" panose="02040503050406030204" pitchFamily="18" charset="0"/>
                            <a:ea typeface="Cambria Math" panose="02040503050406030204" pitchFamily="18" charset="0"/>
                          </a:rPr>
                        </m:ctrlPr>
                      </m:sSubPr>
                      <m:e>
                        <m:r>
                          <a:rPr lang="en-US" altLang="zh-CN" b="0" i="1" dirty="0" smtClean="0">
                            <a:latin typeface="Cambria Math" panose="02040503050406030204" pitchFamily="18" charset="0"/>
                            <a:ea typeface="Cambria Math" panose="02040503050406030204" pitchFamily="18" charset="0"/>
                          </a:rPr>
                          <m:t>𝐹</m:t>
                        </m:r>
                      </m:e>
                      <m:sub>
                        <m:r>
                          <a:rPr lang="en-US" altLang="zh-CN" b="0" i="1" dirty="0" smtClean="0">
                            <a:latin typeface="Cambria Math" panose="02040503050406030204" pitchFamily="18" charset="0"/>
                            <a:ea typeface="Cambria Math" panose="02040503050406030204" pitchFamily="18" charset="0"/>
                          </a:rPr>
                          <m:t>𝑛</m:t>
                        </m:r>
                        <m:r>
                          <a:rPr lang="en-US" altLang="zh-CN" b="0" i="1" dirty="0" smtClean="0">
                            <a:latin typeface="Cambria Math" panose="02040503050406030204" pitchFamily="18" charset="0"/>
                            <a:ea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m:rPr>
                            <m:sty m:val="p"/>
                          </m:rPr>
                          <a:rPr lang="en-US" altLang="zh-CN" i="1">
                            <a:latin typeface="Cambria Math" panose="02040503050406030204" pitchFamily="18" charset="0"/>
                          </a:rPr>
                          <m:t>n</m:t>
                        </m:r>
                        <m:r>
                          <a:rPr lang="en-US" altLang="zh-CN" b="0" i="1" smtClean="0">
                            <a:latin typeface="Cambria Math" panose="02040503050406030204" pitchFamily="18" charset="0"/>
                          </a:rPr>
                          <m:t>−1</m:t>
                        </m:r>
                      </m:sub>
                    </m:sSub>
                    <m:r>
                      <a:rPr lang="en-US" altLang="zh-CN" i="1">
                        <a:latin typeface="Cambria Math" panose="02040503050406030204" pitchFamily="18" charset="0"/>
                      </a:rPr>
                      <m:t>,</m:t>
                    </m:r>
                    <m:r>
                      <m:rPr>
                        <m:nor/>
                      </m:rPr>
                      <a:rPr lang="en-US" altLang="zh-CN" dirty="0"/>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𝑊</m:t>
                        </m:r>
                      </m:e>
                      <m:sub>
                        <m:r>
                          <m:rPr>
                            <m:sty m:val="p"/>
                          </m:rPr>
                          <a:rPr lang="en-US" altLang="zh-CN" i="1">
                            <a:latin typeface="Cambria Math" panose="02040503050406030204" pitchFamily="18" charset="0"/>
                          </a:rPr>
                          <m:t>n</m:t>
                        </m:r>
                        <m:r>
                          <a:rPr lang="en-US" altLang="zh-CN" b="0" i="1" smtClean="0">
                            <a:latin typeface="Cambria Math" panose="02040503050406030204" pitchFamily="18" charset="0"/>
                          </a:rPr>
                          <m:t>−1</m:t>
                        </m:r>
                      </m:sub>
                    </m:sSub>
                    <m:r>
                      <m:rPr>
                        <m:nor/>
                      </m:rPr>
                      <a:rPr lang="en-US" altLang="zh-CN" dirty="0"/>
                      <m:t>)</m:t>
                    </m:r>
                    <m:r>
                      <m:rPr>
                        <m:nor/>
                      </m:rPr>
                      <a:rPr lang="en-US" altLang="zh-CN" b="0" i="0" dirty="0" smtClean="0"/>
                      <m:t>,</m:t>
                    </m:r>
                    <m:r>
                      <a:rPr lang="en-US" altLang="zh-CN" b="0" i="1" dirty="0" smtClean="0">
                        <a:latin typeface="Cambria Math" panose="02040503050406030204" pitchFamily="18" charset="0"/>
                        <a:ea typeface="Cambria Math" panose="02040503050406030204" pitchFamily="18" charset="0"/>
                      </a:rPr>
                      <m:t>⋯,</m:t>
                    </m:r>
                  </m:oMath>
                </a14:m>
                <a:r>
                  <a:rPr lang="en-US" altLang="zh-CN" dirty="0"/>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𝐿</m:t>
                        </m:r>
                      </m:e>
                      <m:sub>
                        <m:r>
                          <a:rPr lang="en-US" altLang="zh-CN" b="0" i="1" dirty="0" smtClean="0">
                            <a:latin typeface="Cambria Math" panose="02040503050406030204" pitchFamily="18" charset="0"/>
                          </a:rPr>
                          <m:t>2</m:t>
                        </m:r>
                      </m:sub>
                    </m:sSub>
                    <m:r>
                      <a:rPr lang="en-US" altLang="zh-CN" dirty="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𝐹</m:t>
                        </m:r>
                      </m:e>
                      <m:sub>
                        <m:r>
                          <a:rPr lang="en-US" altLang="zh-CN" i="1" dirty="0">
                            <a:latin typeface="Cambria Math" panose="02040503050406030204" pitchFamily="18" charset="0"/>
                            <a:ea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1</m:t>
                        </m:r>
                      </m:sub>
                    </m:sSub>
                    <m:r>
                      <a:rPr lang="en-US" altLang="zh-CN" i="1">
                        <a:latin typeface="Cambria Math" panose="02040503050406030204" pitchFamily="18" charset="0"/>
                      </a:rPr>
                      <m:t>,</m:t>
                    </m:r>
                    <m:r>
                      <m:rPr>
                        <m:nor/>
                      </m:rPr>
                      <a:rPr lang="en-US" altLang="zh-CN" dirty="0"/>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𝑊</m:t>
                        </m:r>
                      </m:e>
                      <m:sub>
                        <m:r>
                          <a:rPr lang="en-US" altLang="zh-CN" i="1">
                            <a:latin typeface="Cambria Math" panose="02040503050406030204" pitchFamily="18" charset="0"/>
                          </a:rPr>
                          <m:t>1</m:t>
                        </m:r>
                      </m:sub>
                    </m:sSub>
                    <m:r>
                      <m:rPr>
                        <m:nor/>
                      </m:rPr>
                      <a:rPr lang="en-US" altLang="zh-CN" dirty="0"/>
                      <m:t>)</m:t>
                    </m:r>
                  </m:oMath>
                </a14:m>
                <a:endParaRPr lang="en-US" altLang="zh-CN" b="0" dirty="0" smtClean="0"/>
              </a:p>
              <a:p>
                <a:pPr marL="342900" indent="-342900">
                  <a:buFont typeface="+mj-lt"/>
                  <a:buAutoNum type="arabicPeriod"/>
                </a:pPr>
                <a14:m>
                  <m:oMath xmlns:m="http://schemas.openxmlformats.org/officeDocument/2006/math">
                    <m:f>
                      <m:fPr>
                        <m:ctrlPr>
                          <a:rPr lang="en-US" altLang="zh-CN" b="0" i="1" smtClean="0">
                            <a:latin typeface="Cambria Math" panose="02040503050406030204" pitchFamily="18" charset="0"/>
                          </a:rPr>
                        </m:ctrlPr>
                      </m:fPr>
                      <m:num>
                        <m:r>
                          <a:rPr lang="zh-CN" altLang="en-US" b="0" i="1" smtClean="0">
                            <a:latin typeface="Cambria Math" panose="02040503050406030204" pitchFamily="18" charset="0"/>
                          </a:rPr>
                          <m:t>𝜕</m:t>
                        </m:r>
                        <m:r>
                          <a:rPr lang="en-US" altLang="zh-CN" b="0" i="1" smtClean="0">
                            <a:latin typeface="Cambria Math" panose="02040503050406030204" pitchFamily="18" charset="0"/>
                          </a:rPr>
                          <m:t>𝐿𝑜𝑠𝑠</m:t>
                        </m:r>
                      </m:num>
                      <m:den>
                        <m:r>
                          <a:rPr lang="zh-CN" altLang="en-US"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𝑖</m:t>
                            </m:r>
                          </m:sub>
                        </m:sSub>
                      </m:den>
                    </m:f>
                    <m:r>
                      <a:rPr lang="en-US" altLang="zh-CN" b="0" i="1" smtClean="0">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rPr>
                        </m:ctrlPr>
                      </m:fPr>
                      <m:num>
                        <m:r>
                          <a:rPr lang="zh-CN" altLang="en-US"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𝑊</m:t>
                            </m:r>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num>
                      <m:den>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b="0" i="1" smtClean="0">
                                <a:latin typeface="Cambria Math" panose="02040503050406030204" pitchFamily="18" charset="0"/>
                              </a:rPr>
                              <m:t>𝑛</m:t>
                            </m:r>
                          </m:sub>
                        </m:sSub>
                      </m:den>
                    </m:f>
                    <m:r>
                      <a:rPr lang="en-US" altLang="zh-CN" i="1" smtClean="0">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rPr>
                        </m:ctrlPr>
                      </m:fPr>
                      <m:num>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𝐹</m:t>
                            </m:r>
                          </m:e>
                          <m:sub>
                            <m:r>
                              <a:rPr lang="en-US" altLang="zh-CN" b="0" i="1" smtClean="0">
                                <a:latin typeface="Cambria Math" panose="02040503050406030204" pitchFamily="18" charset="0"/>
                              </a:rPr>
                              <m:t>2</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𝑊</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Sub>
                          </m:e>
                        </m:d>
                      </m:num>
                      <m:den>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b="0" i="1" smtClean="0">
                                <a:latin typeface="Cambria Math" panose="02040503050406030204" pitchFamily="18" charset="0"/>
                              </a:rPr>
                              <m:t>𝑖</m:t>
                            </m:r>
                          </m:sub>
                        </m:sSub>
                      </m:den>
                    </m:f>
                  </m:oMath>
                </a14:m>
                <a:endParaRPr lang="en-US" altLang="zh-CN" dirty="0" smtClean="0"/>
              </a:p>
              <a:p>
                <a:pPr marL="342900" indent="-342900">
                  <a:buFont typeface="+mj-lt"/>
                  <a:buAutoNum type="arabicPeriod"/>
                </a:pPr>
                <a14:m>
                  <m:oMath xmlns:m="http://schemas.openxmlformats.org/officeDocument/2006/math">
                    <m:f>
                      <m:fPr>
                        <m:ctrlPr>
                          <a:rPr lang="en-US" altLang="zh-CN" i="1">
                            <a:latin typeface="Cambria Math" panose="02040503050406030204" pitchFamily="18" charset="0"/>
                          </a:rPr>
                        </m:ctrlPr>
                      </m:fPr>
                      <m:num>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𝑖</m:t>
                            </m:r>
                            <m:r>
                              <a:rPr lang="en-US" altLang="zh-CN" b="0" i="1" smtClean="0">
                                <a:latin typeface="Cambria Math" panose="02040503050406030204" pitchFamily="18" charset="0"/>
                              </a:rPr>
                              <m:t>+1</m:t>
                            </m:r>
                          </m:sub>
                        </m:sSub>
                      </m:num>
                      <m:den>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𝑖</m:t>
                            </m:r>
                          </m:sub>
                        </m:sSub>
                      </m:den>
                    </m:f>
                    <m:r>
                      <a:rPr lang="en-US" altLang="zh-CN" i="1">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rPr>
                        </m:ctrlPr>
                      </m:fPr>
                      <m:num>
                        <m:r>
                          <a:rPr lang="zh-CN" altLang="en-US" i="1" smtClean="0">
                            <a:latin typeface="Cambria Math" panose="02040503050406030204" pitchFamily="18" charset="0"/>
                          </a:rPr>
                          <m:t>𝜕</m:t>
                        </m:r>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X</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zh-CN" altLang="en-US" i="1">
                            <a:latin typeface="Cambria Math" panose="02040503050406030204" pitchFamily="18" charset="0"/>
                          </a:rPr>
                          <m:t>𝜕</m:t>
                        </m:r>
                        <m:r>
                          <a:rPr lang="en-US" altLang="zh-CN" b="0" i="1" smtClean="0">
                            <a:latin typeface="Cambria Math" panose="02040503050406030204" pitchFamily="18" charset="0"/>
                          </a:rPr>
                          <m:t>𝐹</m:t>
                        </m:r>
                        <m:r>
                          <a:rPr lang="en-US" altLang="zh-CN" i="1" smtClean="0">
                            <a:latin typeface="Cambria Math" panose="02040503050406030204" pitchFamily="18" charset="0"/>
                          </a:rPr>
                          <m:t> </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X</m:t>
                            </m:r>
                          </m:e>
                          <m:sub>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𝑊</m:t>
                            </m:r>
                          </m:e>
                          <m:sub>
                            <m:r>
                              <a:rPr lang="en-US" altLang="zh-CN" i="1">
                                <a:latin typeface="Cambria Math" panose="02040503050406030204" pitchFamily="18" charset="0"/>
                              </a:rPr>
                              <m:t>𝑖</m:t>
                            </m:r>
                          </m:sub>
                        </m:sSub>
                        <m:r>
                          <a:rPr lang="en-US" altLang="zh-CN" i="1">
                            <a:latin typeface="Cambria Math" panose="02040503050406030204" pitchFamily="18" charset="0"/>
                          </a:rPr>
                          <m:t>)</m:t>
                        </m:r>
                      </m:num>
                      <m:den>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𝑖</m:t>
                            </m:r>
                          </m:sub>
                        </m:sSub>
                      </m:den>
                    </m:f>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m:t>
                    </m:r>
                    <m:f>
                      <m:fPr>
                        <m:ctrlPr>
                          <a:rPr lang="en-US" altLang="zh-CN" i="1">
                            <a:latin typeface="Cambria Math" panose="02040503050406030204" pitchFamily="18" charset="0"/>
                          </a:rPr>
                        </m:ctrlPr>
                      </m:fPr>
                      <m:num>
                        <m:r>
                          <a:rPr lang="zh-CN" altLang="en-US" i="1">
                            <a:latin typeface="Cambria Math" panose="02040503050406030204" pitchFamily="18" charset="0"/>
                          </a:rPr>
                          <m:t>𝜕</m:t>
                        </m:r>
                        <m:r>
                          <a:rPr lang="en-US" altLang="zh-CN" b="0" i="1" smtClean="0">
                            <a:latin typeface="Cambria Math" panose="02040503050406030204" pitchFamily="18" charset="0"/>
                          </a:rPr>
                          <m:t>𝐹</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𝑖</m:t>
                                </m:r>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𝑊</m:t>
                                </m:r>
                              </m:e>
                              <m:sub>
                                <m:r>
                                  <a:rPr lang="en-US" altLang="zh-CN" i="1">
                                    <a:latin typeface="Cambria Math" panose="02040503050406030204" pitchFamily="18" charset="0"/>
                                  </a:rPr>
                                  <m:t>𝑖</m:t>
                                </m:r>
                                <m:r>
                                  <a:rPr lang="en-US" altLang="zh-CN" i="1">
                                    <a:latin typeface="Cambria Math" panose="02040503050406030204" pitchFamily="18" charset="0"/>
                                  </a:rPr>
                                  <m:t>+1</m:t>
                                </m:r>
                              </m:sub>
                            </m:sSub>
                          </m:e>
                        </m:d>
                      </m:num>
                      <m:den>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𝑖</m:t>
                            </m:r>
                          </m:sub>
                        </m:sSub>
                      </m:den>
                    </m:f>
                  </m:oMath>
                </a14:m>
                <a:endParaRPr lang="en-US" altLang="zh-CN" dirty="0" smtClean="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449"/>
                </a:stretch>
              </a:blipFill>
            </p:spPr>
            <p:txBody>
              <a:bodyPr/>
              <a:lstStyle/>
              <a:p>
                <a:r>
                  <a:rPr lang="zh-CN" altLang="en-US">
                    <a:noFill/>
                  </a:rPr>
                  <a:t> </a:t>
                </a:r>
              </a:p>
            </p:txBody>
          </p:sp>
        </mc:Fallback>
      </mc:AlternateContent>
      <p:pic>
        <p:nvPicPr>
          <p:cNvPr id="4" name="图片 3"/>
          <p:cNvPicPr>
            <a:picLocks noChangeAspect="1"/>
          </p:cNvPicPr>
          <p:nvPr/>
        </p:nvPicPr>
        <p:blipFill>
          <a:blip r:embed="rId4"/>
          <a:stretch>
            <a:fillRect/>
          </a:stretch>
        </p:blipFill>
        <p:spPr>
          <a:xfrm>
            <a:off x="6091917" y="1130299"/>
            <a:ext cx="5428571" cy="1619048"/>
          </a:xfrm>
          <a:prstGeom prst="rect">
            <a:avLst/>
          </a:prstGeom>
        </p:spPr>
      </p:pic>
      <p:pic>
        <p:nvPicPr>
          <p:cNvPr id="6" name="图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73228" y="3927750"/>
            <a:ext cx="5371429" cy="2209524"/>
          </a:xfrm>
          <a:prstGeom prst="rect">
            <a:avLst/>
          </a:prstGeom>
        </p:spPr>
      </p:pic>
    </p:spTree>
    <p:extLst>
      <p:ext uri="{BB962C8B-B14F-4D97-AF65-F5344CB8AC3E}">
        <p14:creationId xmlns:p14="http://schemas.microsoft.com/office/powerpoint/2010/main" val="274573739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ResNet</a:t>
            </a:r>
            <a:endParaRPr lang="zh-CN" altLang="en-US" dirty="0"/>
          </a:p>
        </p:txBody>
      </p:sp>
      <p:sp>
        <p:nvSpPr>
          <p:cNvPr id="3" name="内容占位符 2"/>
          <p:cNvSpPr>
            <a:spLocks noGrp="1"/>
          </p:cNvSpPr>
          <p:nvPr>
            <p:ph sz="quarter" idx="13"/>
          </p:nvPr>
        </p:nvSpPr>
        <p:spPr/>
        <p:txBody>
          <a:bodyPr/>
          <a:lstStyle/>
          <a:p>
            <a:r>
              <a:rPr lang="zh-CN" altLang="en-US" dirty="0"/>
              <a:t>其他</a:t>
            </a:r>
            <a:r>
              <a:rPr lang="zh-CN" altLang="en-US" dirty="0" smtClean="0"/>
              <a:t>一些可以提升网络性能和效果的设计：</a:t>
            </a:r>
            <a:endParaRPr lang="en-US" altLang="zh-CN" dirty="0" smtClean="0"/>
          </a:p>
          <a:p>
            <a:pPr lvl="1"/>
            <a:r>
              <a:rPr lang="zh-CN" altLang="en-US" dirty="0" smtClean="0"/>
              <a:t>堆叠式残差结构</a:t>
            </a:r>
            <a:endParaRPr lang="en-US" altLang="zh-CN" dirty="0" smtClean="0"/>
          </a:p>
          <a:p>
            <a:pPr lvl="1"/>
            <a:r>
              <a:rPr lang="en-US" altLang="zh-CN" dirty="0" smtClean="0"/>
              <a:t>Bottleneck</a:t>
            </a:r>
            <a:r>
              <a:rPr lang="zh-CN" altLang="en-US" dirty="0" smtClean="0"/>
              <a:t>的设计方式</a:t>
            </a:r>
            <a:endParaRPr lang="en-US" altLang="zh-CN" dirty="0" smtClean="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7640" y="1130299"/>
            <a:ext cx="1595131" cy="5292560"/>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92771" y="2888323"/>
            <a:ext cx="4627715" cy="1769772"/>
          </a:xfrm>
          <a:prstGeom prst="rect">
            <a:avLst/>
          </a:prstGeom>
        </p:spPr>
      </p:pic>
      <p:sp>
        <p:nvSpPr>
          <p:cNvPr id="7" name="文本框 6"/>
          <p:cNvSpPr txBox="1"/>
          <p:nvPr/>
        </p:nvSpPr>
        <p:spPr>
          <a:xfrm>
            <a:off x="6892769" y="4658095"/>
            <a:ext cx="1608133" cy="369332"/>
          </a:xfrm>
          <a:prstGeom prst="rect">
            <a:avLst/>
          </a:prstGeom>
          <a:noFill/>
        </p:spPr>
        <p:txBody>
          <a:bodyPr wrap="none" rtlCol="0">
            <a:spAutoFit/>
          </a:bodyPr>
          <a:lstStyle/>
          <a:p>
            <a:r>
              <a:rPr lang="en-US" altLang="zh-CN" dirty="0" smtClean="0"/>
              <a:t>Building block</a:t>
            </a:r>
            <a:endParaRPr lang="zh-CN" altLang="en-US" dirty="0"/>
          </a:p>
        </p:txBody>
      </p:sp>
      <p:sp>
        <p:nvSpPr>
          <p:cNvPr id="8" name="文本框 7"/>
          <p:cNvSpPr txBox="1"/>
          <p:nvPr/>
        </p:nvSpPr>
        <p:spPr>
          <a:xfrm>
            <a:off x="9316038" y="4658095"/>
            <a:ext cx="2005677" cy="369332"/>
          </a:xfrm>
          <a:prstGeom prst="rect">
            <a:avLst/>
          </a:prstGeom>
          <a:noFill/>
        </p:spPr>
        <p:txBody>
          <a:bodyPr wrap="none" rtlCol="0">
            <a:spAutoFit/>
          </a:bodyPr>
          <a:lstStyle/>
          <a:p>
            <a:r>
              <a:rPr lang="en-US" altLang="zh-CN" dirty="0" smtClean="0"/>
              <a:t>Bottleneck design</a:t>
            </a:r>
            <a:endParaRPr lang="zh-CN" altLang="en-US" dirty="0"/>
          </a:p>
        </p:txBody>
      </p:sp>
    </p:spTree>
    <p:extLst>
      <p:ext uri="{BB962C8B-B14F-4D97-AF65-F5344CB8AC3E}">
        <p14:creationId xmlns:p14="http://schemas.microsoft.com/office/powerpoint/2010/main" val="289160600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常见卷积神经网络结构总结</a:t>
            </a:r>
            <a:endParaRPr lang="zh-CN" altLang="en-US" dirty="0"/>
          </a:p>
        </p:txBody>
      </p:sp>
      <p:pic>
        <p:nvPicPr>
          <p:cNvPr id="4" name="内容占位符 3"/>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758348" y="1786617"/>
            <a:ext cx="10673715" cy="3925253"/>
          </a:xfrm>
        </p:spPr>
      </p:pic>
      <p:sp>
        <p:nvSpPr>
          <p:cNvPr id="5" name="文本框 4"/>
          <p:cNvSpPr txBox="1"/>
          <p:nvPr/>
        </p:nvSpPr>
        <p:spPr>
          <a:xfrm>
            <a:off x="1730829" y="5711870"/>
            <a:ext cx="2954655" cy="369332"/>
          </a:xfrm>
          <a:prstGeom prst="rect">
            <a:avLst/>
          </a:prstGeom>
          <a:noFill/>
        </p:spPr>
        <p:txBody>
          <a:bodyPr wrap="none" rtlCol="0">
            <a:spAutoFit/>
          </a:bodyPr>
          <a:lstStyle/>
          <a:p>
            <a:r>
              <a:rPr lang="zh-CN" altLang="en-US" dirty="0" smtClean="0"/>
              <a:t>网络结构可达到的最高精度</a:t>
            </a:r>
            <a:endParaRPr lang="zh-CN" altLang="en-US" dirty="0"/>
          </a:p>
        </p:txBody>
      </p:sp>
      <p:sp>
        <p:nvSpPr>
          <p:cNvPr id="6" name="文本框 5"/>
          <p:cNvSpPr txBox="1"/>
          <p:nvPr/>
        </p:nvSpPr>
        <p:spPr>
          <a:xfrm>
            <a:off x="7249887" y="5711870"/>
            <a:ext cx="3647152" cy="369332"/>
          </a:xfrm>
          <a:prstGeom prst="rect">
            <a:avLst/>
          </a:prstGeom>
          <a:noFill/>
        </p:spPr>
        <p:txBody>
          <a:bodyPr wrap="none" rtlCol="0">
            <a:spAutoFit/>
          </a:bodyPr>
          <a:lstStyle/>
          <a:p>
            <a:r>
              <a:rPr lang="zh-CN" altLang="en-US" dirty="0" smtClean="0"/>
              <a:t>网络结构精度、计算量、内存消耗</a:t>
            </a:r>
            <a:endParaRPr lang="zh-CN" altLang="en-US" dirty="0"/>
          </a:p>
        </p:txBody>
      </p:sp>
    </p:spTree>
    <p:extLst>
      <p:ext uri="{BB962C8B-B14F-4D97-AF65-F5344CB8AC3E}">
        <p14:creationId xmlns:p14="http://schemas.microsoft.com/office/powerpoint/2010/main" val="16173349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其他网络结构</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en-US" altLang="zh-CN" dirty="0" err="1" smtClean="0"/>
              <a:t>ResNet</a:t>
            </a:r>
            <a:r>
              <a:rPr lang="zh-CN" altLang="en-US" dirty="0" smtClean="0"/>
              <a:t>的基础上，出现的一些其他的网络结构</a:t>
            </a:r>
            <a:endParaRPr lang="en-US" altLang="zh-CN" dirty="0" smtClean="0"/>
          </a:p>
          <a:p>
            <a:pPr lvl="1"/>
            <a:r>
              <a:rPr lang="en-US" altLang="zh-CN" dirty="0" smtClean="0"/>
              <a:t>Wide </a:t>
            </a:r>
            <a:r>
              <a:rPr lang="en-US" altLang="zh-CN" dirty="0" err="1" smtClean="0"/>
              <a:t>ResNet</a:t>
            </a:r>
            <a:endParaRPr lang="en-US" altLang="zh-CN" dirty="0" smtClean="0"/>
          </a:p>
          <a:p>
            <a:pPr lvl="1"/>
            <a:r>
              <a:rPr lang="en-US" altLang="zh-CN" dirty="0" err="1" smtClean="0"/>
              <a:t>ResNeXt</a:t>
            </a:r>
          </a:p>
          <a:p>
            <a:pPr lvl="1"/>
            <a:r>
              <a:rPr lang="en-US" altLang="zh-CN" dirty="0" err="1" smtClean="0"/>
              <a:t>DenseNet</a:t>
            </a:r>
            <a:endParaRPr lang="zh-CN" altLang="en-US" dirty="0"/>
          </a:p>
        </p:txBody>
      </p:sp>
    </p:spTree>
    <p:extLst>
      <p:ext uri="{BB962C8B-B14F-4D97-AF65-F5344CB8AC3E}">
        <p14:creationId xmlns:p14="http://schemas.microsoft.com/office/powerpoint/2010/main" val="29180723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其他网络结构</a:t>
            </a:r>
          </a:p>
        </p:txBody>
      </p:sp>
      <p:sp>
        <p:nvSpPr>
          <p:cNvPr id="3" name="内容占位符 2"/>
          <p:cNvSpPr>
            <a:spLocks noGrp="1"/>
          </p:cNvSpPr>
          <p:nvPr>
            <p:ph sz="quarter" idx="13"/>
          </p:nvPr>
        </p:nvSpPr>
        <p:spPr/>
        <p:txBody>
          <a:bodyPr/>
          <a:lstStyle/>
          <a:p>
            <a:r>
              <a:rPr lang="en-US" altLang="zh-CN" dirty="0" smtClean="0"/>
              <a:t>Wide </a:t>
            </a:r>
            <a:r>
              <a:rPr lang="en-US" altLang="zh-CN" dirty="0" err="1" smtClean="0"/>
              <a:t>ResNet</a:t>
            </a:r>
            <a:endParaRPr lang="en-US" altLang="zh-CN" dirty="0" smtClean="0"/>
          </a:p>
          <a:p>
            <a:pPr lvl="1"/>
            <a:r>
              <a:rPr lang="en-US" altLang="zh-CN" dirty="0" smtClean="0"/>
              <a:t>Wide </a:t>
            </a:r>
            <a:r>
              <a:rPr lang="en-US" altLang="zh-CN" dirty="0" err="1" smtClean="0"/>
              <a:t>ResNet</a:t>
            </a:r>
            <a:r>
              <a:rPr lang="zh-CN" altLang="en-US" dirty="0" smtClean="0"/>
              <a:t>由</a:t>
            </a:r>
            <a:r>
              <a:rPr lang="en-US" altLang="zh-CN" dirty="0" err="1" smtClean="0"/>
              <a:t>Zagoruyko</a:t>
            </a:r>
            <a:r>
              <a:rPr lang="zh-CN" altLang="en-US" dirty="0" smtClean="0"/>
              <a:t>等人于</a:t>
            </a:r>
            <a:r>
              <a:rPr lang="en-US" altLang="zh-CN" dirty="0" smtClean="0"/>
              <a:t>2016</a:t>
            </a:r>
            <a:r>
              <a:rPr lang="zh-CN" altLang="en-US" dirty="0" smtClean="0"/>
              <a:t>年提出</a:t>
            </a:r>
            <a:endParaRPr lang="en-US" altLang="zh-CN" dirty="0" smtClean="0"/>
          </a:p>
          <a:p>
            <a:pPr lvl="1"/>
            <a:r>
              <a:rPr lang="zh-CN" altLang="en-US" dirty="0" smtClean="0"/>
              <a:t>认为残差结构比深度更重要</a:t>
            </a:r>
            <a:endParaRPr lang="en-US" altLang="zh-CN" dirty="0" smtClean="0"/>
          </a:p>
          <a:p>
            <a:pPr lvl="1"/>
            <a:r>
              <a:rPr lang="zh-CN" altLang="en-US" dirty="0" smtClean="0"/>
              <a:t>设计了更宽的残差模块</a:t>
            </a:r>
            <a:endParaRPr lang="en-US" altLang="zh-CN" dirty="0" smtClean="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9151" y="1972807"/>
            <a:ext cx="5581337" cy="3321958"/>
          </a:xfrm>
          <a:prstGeom prst="rect">
            <a:avLst/>
          </a:prstGeom>
        </p:spPr>
      </p:pic>
    </p:spTree>
    <p:extLst>
      <p:ext uri="{BB962C8B-B14F-4D97-AF65-F5344CB8AC3E}">
        <p14:creationId xmlns:p14="http://schemas.microsoft.com/office/powerpoint/2010/main" val="4848019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其他网络结构</a:t>
            </a:r>
          </a:p>
        </p:txBody>
      </p:sp>
      <p:sp>
        <p:nvSpPr>
          <p:cNvPr id="3" name="内容占位符 2"/>
          <p:cNvSpPr>
            <a:spLocks noGrp="1"/>
          </p:cNvSpPr>
          <p:nvPr>
            <p:ph sz="quarter" idx="13"/>
          </p:nvPr>
        </p:nvSpPr>
        <p:spPr/>
        <p:txBody>
          <a:bodyPr/>
          <a:lstStyle/>
          <a:p>
            <a:r>
              <a:rPr lang="en-US" altLang="zh-CN" dirty="0" err="1"/>
              <a:t>ResNeXt</a:t>
            </a:r>
            <a:endParaRPr lang="en-US" altLang="zh-CN" dirty="0"/>
          </a:p>
          <a:p>
            <a:pPr lvl="1"/>
            <a:r>
              <a:rPr lang="en-US" altLang="zh-CN" dirty="0" err="1"/>
              <a:t>ResNeXt</a:t>
            </a:r>
            <a:r>
              <a:rPr lang="zh-CN" altLang="en-US" dirty="0"/>
              <a:t>由</a:t>
            </a:r>
            <a:r>
              <a:rPr lang="en-US" altLang="zh-CN" dirty="0" err="1"/>
              <a:t>Xie</a:t>
            </a:r>
            <a:r>
              <a:rPr lang="zh-CN" altLang="en-US" dirty="0"/>
              <a:t>等人于</a:t>
            </a:r>
            <a:r>
              <a:rPr lang="en-US" altLang="zh-CN" dirty="0"/>
              <a:t>2016</a:t>
            </a:r>
            <a:r>
              <a:rPr lang="zh-CN" altLang="en-US" dirty="0"/>
              <a:t>年提出</a:t>
            </a:r>
            <a:endParaRPr lang="en-US" altLang="zh-CN" dirty="0"/>
          </a:p>
          <a:p>
            <a:pPr lvl="1"/>
            <a:r>
              <a:rPr lang="zh-CN" altLang="en-US" dirty="0"/>
              <a:t>在</a:t>
            </a:r>
            <a:r>
              <a:rPr lang="en-US" altLang="zh-CN" dirty="0" err="1"/>
              <a:t>ResNet</a:t>
            </a:r>
            <a:r>
              <a:rPr lang="zh-CN" altLang="en-US" dirty="0"/>
              <a:t>基础上增加</a:t>
            </a:r>
            <a:r>
              <a:rPr lang="en-US" altLang="zh-CN" dirty="0"/>
              <a:t>inception</a:t>
            </a:r>
            <a:r>
              <a:rPr lang="zh-CN" altLang="en-US" dirty="0"/>
              <a:t>个数扩展残差模块</a:t>
            </a:r>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4915" y="2464804"/>
            <a:ext cx="7035574" cy="3672470"/>
          </a:xfrm>
          <a:prstGeom prst="rect">
            <a:avLst/>
          </a:prstGeom>
        </p:spPr>
      </p:pic>
    </p:spTree>
    <p:extLst>
      <p:ext uri="{BB962C8B-B14F-4D97-AF65-F5344CB8AC3E}">
        <p14:creationId xmlns:p14="http://schemas.microsoft.com/office/powerpoint/2010/main" val="356435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其他网络结构</a:t>
            </a:r>
            <a:endParaRPr lang="zh-CN" altLang="en-US" dirty="0"/>
          </a:p>
        </p:txBody>
      </p:sp>
      <p:sp>
        <p:nvSpPr>
          <p:cNvPr id="3" name="内容占位符 2"/>
          <p:cNvSpPr>
            <a:spLocks noGrp="1"/>
          </p:cNvSpPr>
          <p:nvPr>
            <p:ph sz="quarter" idx="13"/>
          </p:nvPr>
        </p:nvSpPr>
        <p:spPr/>
        <p:txBody>
          <a:bodyPr/>
          <a:lstStyle/>
          <a:p>
            <a:r>
              <a:rPr lang="en-US" altLang="zh-CN" dirty="0" err="1" smtClean="0"/>
              <a:t>DenseNet</a:t>
            </a:r>
            <a:endParaRPr lang="en-US" altLang="zh-CN" dirty="0" smtClean="0"/>
          </a:p>
          <a:p>
            <a:pPr lvl="1"/>
            <a:r>
              <a:rPr lang="en-US" altLang="zh-CN" dirty="0" err="1" smtClean="0"/>
              <a:t>DenseNet</a:t>
            </a:r>
            <a:r>
              <a:rPr lang="zh-CN" altLang="en-US" dirty="0" smtClean="0"/>
              <a:t>由</a:t>
            </a:r>
            <a:r>
              <a:rPr lang="en-US" altLang="zh-CN" dirty="0" smtClean="0"/>
              <a:t>Huang</a:t>
            </a:r>
            <a:r>
              <a:rPr lang="zh-CN" altLang="en-US" dirty="0" smtClean="0"/>
              <a:t>等人于</a:t>
            </a:r>
            <a:r>
              <a:rPr lang="en-US" altLang="zh-CN" dirty="0" smtClean="0"/>
              <a:t>2017</a:t>
            </a:r>
            <a:r>
              <a:rPr lang="zh-CN" altLang="en-US" dirty="0" smtClean="0"/>
              <a:t>年提出</a:t>
            </a:r>
            <a:endParaRPr lang="en-US" altLang="zh-CN" dirty="0" smtClean="0"/>
          </a:p>
          <a:p>
            <a:pPr lvl="1"/>
            <a:r>
              <a:rPr lang="zh-CN" altLang="en-US" dirty="0"/>
              <a:t>每</a:t>
            </a:r>
            <a:r>
              <a:rPr lang="zh-CN" altLang="en-US" dirty="0" smtClean="0"/>
              <a:t>一层都与其他层相关联</a:t>
            </a:r>
            <a:endParaRPr lang="en-US" altLang="zh-CN" dirty="0" smtClean="0"/>
          </a:p>
          <a:p>
            <a:pPr lvl="1"/>
            <a:r>
              <a:rPr lang="zh-CN" altLang="en-US" dirty="0" smtClean="0"/>
              <a:t>大大减轻梯度消失的问题</a:t>
            </a:r>
            <a:endParaRPr lang="en-US" altLang="zh-CN" dirty="0" smtClean="0"/>
          </a:p>
          <a:p>
            <a:pPr lvl="1"/>
            <a:r>
              <a:rPr lang="zh-CN" altLang="en-US" dirty="0" smtClean="0"/>
              <a:t>在跨</a:t>
            </a:r>
            <a:r>
              <a:rPr lang="zh-CN" altLang="en-US" dirty="0"/>
              <a:t>层</a:t>
            </a:r>
            <a:r>
              <a:rPr lang="zh-CN" altLang="en-US" dirty="0" smtClean="0"/>
              <a:t>连接</a:t>
            </a:r>
            <a:r>
              <a:rPr lang="zh-CN" altLang="en-US" dirty="0"/>
              <a:t>上</a:t>
            </a:r>
            <a:r>
              <a:rPr lang="zh-CN" altLang="en-US" dirty="0" smtClean="0"/>
              <a:t>使用</a:t>
            </a:r>
            <a:r>
              <a:rPr lang="zh-CN" altLang="en-US" dirty="0"/>
              <a:t>相连接</a:t>
            </a:r>
            <a:r>
              <a:rPr lang="zh-CN" altLang="en-US" dirty="0" smtClean="0"/>
              <a:t>的方法替代相加</a:t>
            </a:r>
            <a:endParaRPr lang="en-US" altLang="zh-CN" dirty="0" smtClean="0"/>
          </a:p>
          <a:p>
            <a:pPr lvl="1"/>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1148" y="1687965"/>
            <a:ext cx="5248275" cy="4048125"/>
          </a:xfrm>
          <a:prstGeom prst="rect">
            <a:avLst/>
          </a:prstGeom>
        </p:spPr>
      </p:pic>
    </p:spTree>
    <p:extLst>
      <p:ext uri="{BB962C8B-B14F-4D97-AF65-F5344CB8AC3E}">
        <p14:creationId xmlns:p14="http://schemas.microsoft.com/office/powerpoint/2010/main" val="34718865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其他网络结构</a:t>
            </a:r>
            <a:endParaRPr lang="zh-CN" altLang="en-US" dirty="0"/>
          </a:p>
        </p:txBody>
      </p:sp>
      <p:sp>
        <p:nvSpPr>
          <p:cNvPr id="3" name="内容占位符 2"/>
          <p:cNvSpPr>
            <a:spLocks noGrp="1"/>
          </p:cNvSpPr>
          <p:nvPr>
            <p:ph sz="quarter" idx="13"/>
          </p:nvPr>
        </p:nvSpPr>
        <p:spPr/>
        <p:txBody>
          <a:bodyPr/>
          <a:lstStyle/>
          <a:p>
            <a:r>
              <a:rPr lang="en-US" altLang="zh-CN" dirty="0" err="1" smtClean="0"/>
              <a:t>DenseNet</a:t>
            </a:r>
            <a:r>
              <a:rPr lang="zh-CN" altLang="en-US" dirty="0" smtClean="0"/>
              <a:t>与</a:t>
            </a:r>
            <a:r>
              <a:rPr lang="en-US" altLang="zh-CN" dirty="0" err="1" smtClean="0"/>
              <a:t>ResNet</a:t>
            </a:r>
            <a:r>
              <a:rPr lang="zh-CN" altLang="en-US" dirty="0" smtClean="0"/>
              <a:t>比较</a:t>
            </a:r>
            <a:endParaRPr lang="en-US" altLang="zh-CN" dirty="0" smtClean="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9147" y="1130299"/>
            <a:ext cx="5831341" cy="2016672"/>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89146" y="3415982"/>
            <a:ext cx="5831341" cy="2721292"/>
          </a:xfrm>
          <a:prstGeom prst="rect">
            <a:avLst/>
          </a:prstGeom>
        </p:spPr>
      </p:pic>
      <p:sp>
        <p:nvSpPr>
          <p:cNvPr id="6" name="文本框 5"/>
          <p:cNvSpPr txBox="1"/>
          <p:nvPr/>
        </p:nvSpPr>
        <p:spPr>
          <a:xfrm>
            <a:off x="8146998" y="3096811"/>
            <a:ext cx="954107" cy="369332"/>
          </a:xfrm>
          <a:prstGeom prst="rect">
            <a:avLst/>
          </a:prstGeom>
          <a:noFill/>
        </p:spPr>
        <p:txBody>
          <a:bodyPr wrap="none" rtlCol="0">
            <a:spAutoFit/>
          </a:bodyPr>
          <a:lstStyle/>
          <a:p>
            <a:r>
              <a:rPr lang="en-US" altLang="zh-CN" dirty="0" err="1" smtClean="0"/>
              <a:t>ResNet</a:t>
            </a:r>
            <a:endParaRPr lang="zh-CN" altLang="en-US" dirty="0"/>
          </a:p>
        </p:txBody>
      </p:sp>
      <p:sp>
        <p:nvSpPr>
          <p:cNvPr id="7" name="文本框 6"/>
          <p:cNvSpPr txBox="1"/>
          <p:nvPr/>
        </p:nvSpPr>
        <p:spPr>
          <a:xfrm>
            <a:off x="8018757" y="6124119"/>
            <a:ext cx="1210588" cy="369332"/>
          </a:xfrm>
          <a:prstGeom prst="rect">
            <a:avLst/>
          </a:prstGeom>
          <a:noFill/>
        </p:spPr>
        <p:txBody>
          <a:bodyPr wrap="none" rtlCol="0">
            <a:spAutoFit/>
          </a:bodyPr>
          <a:lstStyle/>
          <a:p>
            <a:r>
              <a:rPr lang="en-US" altLang="zh-CN" dirty="0" err="1" smtClean="0"/>
              <a:t>DenseNet</a:t>
            </a:r>
            <a:endParaRPr lang="zh-CN" altLang="en-US" dirty="0"/>
          </a:p>
        </p:txBody>
      </p:sp>
      <p:graphicFrame>
        <p:nvGraphicFramePr>
          <p:cNvPr id="8" name="表格 7"/>
          <p:cNvGraphicFramePr>
            <a:graphicFrameLocks noGrp="1"/>
          </p:cNvGraphicFramePr>
          <p:nvPr>
            <p:extLst>
              <p:ext uri="{D42A27DB-BD31-4B8C-83A1-F6EECF244321}">
                <p14:modId xmlns:p14="http://schemas.microsoft.com/office/powerpoint/2010/main" val="4012712309"/>
              </p:ext>
            </p:extLst>
          </p:nvPr>
        </p:nvGraphicFramePr>
        <p:xfrm>
          <a:off x="749535" y="1613451"/>
          <a:ext cx="4860000" cy="1483360"/>
        </p:xfrm>
        <a:graphic>
          <a:graphicData uri="http://schemas.openxmlformats.org/drawingml/2006/table">
            <a:tbl>
              <a:tblPr firstRow="1" bandRow="1">
                <a:tableStyleId>{5940675A-B579-460E-94D1-54222C63F5DA}</a:tableStyleId>
              </a:tblPr>
              <a:tblGrid>
                <a:gridCol w="1260000"/>
                <a:gridCol w="1800000"/>
                <a:gridCol w="1800000"/>
              </a:tblGrid>
              <a:tr h="370840">
                <a:tc>
                  <a:txBody>
                    <a:bodyPr/>
                    <a:lstStyle/>
                    <a:p>
                      <a:endParaRPr lang="zh-CN" altLang="en-US" dirty="0"/>
                    </a:p>
                  </a:txBody>
                  <a:tcPr/>
                </a:tc>
                <a:tc>
                  <a:txBody>
                    <a:bodyPr/>
                    <a:lstStyle/>
                    <a:p>
                      <a:r>
                        <a:rPr lang="en-US" altLang="zh-CN" dirty="0" err="1" smtClean="0"/>
                        <a:t>ResNet</a:t>
                      </a:r>
                      <a:endParaRPr lang="zh-CN" altLang="en-US" dirty="0"/>
                    </a:p>
                  </a:txBody>
                  <a:tcPr/>
                </a:tc>
                <a:tc>
                  <a:txBody>
                    <a:bodyPr/>
                    <a:lstStyle/>
                    <a:p>
                      <a:r>
                        <a:rPr lang="en-US" altLang="zh-CN" dirty="0" err="1" smtClean="0"/>
                        <a:t>DenseNet</a:t>
                      </a:r>
                      <a:endParaRPr lang="zh-CN" altLang="en-US" dirty="0"/>
                    </a:p>
                  </a:txBody>
                  <a:tcPr/>
                </a:tc>
              </a:tr>
              <a:tr h="370840">
                <a:tc>
                  <a:txBody>
                    <a:bodyPr/>
                    <a:lstStyle/>
                    <a:p>
                      <a:r>
                        <a:rPr lang="zh-CN" altLang="en-US" dirty="0" smtClean="0"/>
                        <a:t>拼接方式</a:t>
                      </a:r>
                      <a:endParaRPr lang="zh-CN" altLang="en-US" dirty="0"/>
                    </a:p>
                  </a:txBody>
                  <a:tcPr/>
                </a:tc>
                <a:tc>
                  <a:txBody>
                    <a:bodyPr/>
                    <a:lstStyle/>
                    <a:p>
                      <a:r>
                        <a:rPr lang="en-US" altLang="zh-CN" dirty="0" smtClean="0"/>
                        <a:t>Element</a:t>
                      </a:r>
                      <a:r>
                        <a:rPr lang="en-US" altLang="zh-CN" baseline="0" dirty="0" smtClean="0"/>
                        <a:t> </a:t>
                      </a:r>
                      <a:r>
                        <a:rPr lang="en-US" altLang="zh-CN" dirty="0" smtClean="0"/>
                        <a:t>add</a:t>
                      </a:r>
                      <a:endParaRPr lang="zh-CN" altLang="en-US" dirty="0"/>
                    </a:p>
                  </a:txBody>
                  <a:tcPr/>
                </a:tc>
                <a:tc>
                  <a:txBody>
                    <a:bodyPr/>
                    <a:lstStyle/>
                    <a:p>
                      <a:r>
                        <a:rPr lang="en-US" altLang="zh-CN" dirty="0" smtClean="0"/>
                        <a:t>Concatenate</a:t>
                      </a:r>
                      <a:endParaRPr lang="zh-CN" altLang="en-US" dirty="0"/>
                    </a:p>
                  </a:txBody>
                  <a:tcPr/>
                </a:tc>
              </a:tr>
              <a:tr h="370840">
                <a:tc>
                  <a:txBody>
                    <a:bodyPr/>
                    <a:lstStyle/>
                    <a:p>
                      <a:r>
                        <a:rPr lang="zh-CN" altLang="en-US" dirty="0" smtClean="0"/>
                        <a:t>训练速度</a:t>
                      </a:r>
                      <a:endParaRPr lang="zh-CN" altLang="en-US" dirty="0"/>
                    </a:p>
                  </a:txBody>
                  <a:tcPr/>
                </a:tc>
                <a:tc>
                  <a:txBody>
                    <a:bodyPr/>
                    <a:lstStyle/>
                    <a:p>
                      <a:r>
                        <a:rPr lang="zh-CN" altLang="en-US" dirty="0" smtClean="0"/>
                        <a:t>快</a:t>
                      </a:r>
                      <a:endParaRPr lang="zh-CN" altLang="en-US" dirty="0"/>
                    </a:p>
                  </a:txBody>
                  <a:tcPr/>
                </a:tc>
                <a:tc>
                  <a:txBody>
                    <a:bodyPr/>
                    <a:lstStyle/>
                    <a:p>
                      <a:r>
                        <a:rPr lang="zh-CN" altLang="en-US" dirty="0" smtClean="0"/>
                        <a:t>慢</a:t>
                      </a:r>
                      <a:endParaRPr lang="zh-CN" altLang="en-US" dirty="0"/>
                    </a:p>
                  </a:txBody>
                  <a:tcPr/>
                </a:tc>
              </a:tr>
              <a:tr h="370840">
                <a:tc>
                  <a:txBody>
                    <a:bodyPr/>
                    <a:lstStyle/>
                    <a:p>
                      <a:r>
                        <a:rPr lang="zh-CN" altLang="en-US" dirty="0" smtClean="0"/>
                        <a:t>参数量</a:t>
                      </a:r>
                      <a:endParaRPr lang="zh-CN" altLang="en-US" dirty="0"/>
                    </a:p>
                  </a:txBody>
                  <a:tcPr/>
                </a:tc>
                <a:tc>
                  <a:txBody>
                    <a:bodyPr/>
                    <a:lstStyle/>
                    <a:p>
                      <a:r>
                        <a:rPr lang="zh-CN" altLang="en-US" dirty="0" smtClean="0"/>
                        <a:t>多</a:t>
                      </a:r>
                      <a:endParaRPr lang="zh-CN" altLang="en-US" dirty="0"/>
                    </a:p>
                  </a:txBody>
                  <a:tcPr/>
                </a:tc>
                <a:tc>
                  <a:txBody>
                    <a:bodyPr/>
                    <a:lstStyle/>
                    <a:p>
                      <a:r>
                        <a:rPr lang="zh-CN" altLang="en-US" dirty="0" smtClean="0"/>
                        <a:t>少</a:t>
                      </a:r>
                      <a:endParaRPr lang="zh-CN" altLang="en-US" dirty="0"/>
                    </a:p>
                  </a:txBody>
                  <a:tcPr/>
                </a:tc>
              </a:tr>
            </a:tbl>
          </a:graphicData>
        </a:graphic>
      </p:graphicFrame>
    </p:spTree>
    <p:extLst>
      <p:ext uri="{BB962C8B-B14F-4D97-AF65-F5344CB8AC3E}">
        <p14:creationId xmlns:p14="http://schemas.microsoft.com/office/powerpoint/2010/main" val="22365870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课程小结</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zh-CN" altLang="zh-CN" dirty="0" smtClean="0"/>
              <a:t>本</a:t>
            </a:r>
            <a:r>
              <a:rPr lang="zh-CN" altLang="en-US" dirty="0" smtClean="0"/>
              <a:t>节课</a:t>
            </a:r>
            <a:r>
              <a:rPr lang="zh-CN" altLang="zh-CN" dirty="0" smtClean="0"/>
              <a:t>中</a:t>
            </a:r>
            <a:r>
              <a:rPr lang="zh-CN" altLang="zh-CN" dirty="0"/>
              <a:t>，</a:t>
            </a:r>
            <a:r>
              <a:rPr lang="zh-CN" altLang="zh-CN" dirty="0" smtClean="0"/>
              <a:t>我们</a:t>
            </a:r>
            <a:r>
              <a:rPr lang="zh-CN" altLang="en-US" dirty="0"/>
              <a:t>学习</a:t>
            </a:r>
            <a:r>
              <a:rPr lang="zh-CN" altLang="en-US" dirty="0" smtClean="0"/>
              <a:t>了：</a:t>
            </a:r>
            <a:endParaRPr lang="en-US" altLang="zh-CN" dirty="0" smtClean="0"/>
          </a:p>
          <a:p>
            <a:r>
              <a:rPr lang="zh-CN" altLang="en-US" dirty="0" smtClean="0"/>
              <a:t>目标检测的基本原理</a:t>
            </a:r>
            <a:endParaRPr lang="en-US" altLang="zh-CN" dirty="0" smtClean="0"/>
          </a:p>
          <a:p>
            <a:r>
              <a:rPr lang="zh-CN" altLang="en-US" dirty="0"/>
              <a:t>卷积</a:t>
            </a:r>
            <a:r>
              <a:rPr lang="zh-CN" altLang="en-US" dirty="0" smtClean="0"/>
              <a:t>神经网络各层的作用及原理</a:t>
            </a:r>
            <a:endParaRPr lang="en-US" altLang="zh-CN" dirty="0" smtClean="0"/>
          </a:p>
          <a:p>
            <a:r>
              <a:rPr lang="zh-CN" altLang="en-US" dirty="0" smtClean="0"/>
              <a:t>卷积计算</a:t>
            </a:r>
            <a:endParaRPr lang="en-US" altLang="zh-CN" dirty="0" smtClean="0"/>
          </a:p>
          <a:p>
            <a:r>
              <a:rPr lang="zh-CN" altLang="en-US" dirty="0" smtClean="0"/>
              <a:t>几种常用的卷积神经网络结构</a:t>
            </a:r>
            <a:endParaRPr lang="en-US" altLang="zh-CN" dirty="0" smtClean="0"/>
          </a:p>
          <a:p>
            <a:endParaRPr lang="en-US" altLang="zh-CN" dirty="0"/>
          </a:p>
          <a:p>
            <a:endParaRPr lang="zh-CN" altLang="en-US" dirty="0"/>
          </a:p>
        </p:txBody>
      </p:sp>
    </p:spTree>
    <p:extLst>
      <p:ext uri="{BB962C8B-B14F-4D97-AF65-F5344CB8AC3E}">
        <p14:creationId xmlns:p14="http://schemas.microsoft.com/office/powerpoint/2010/main" val="24237112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00044BE-8457-4074-8823-61E1394FBFA4}"/>
              </a:ext>
            </a:extLst>
          </p:cNvPr>
          <p:cNvSpPr>
            <a:spLocks noGrp="1"/>
          </p:cNvSpPr>
          <p:nvPr>
            <p:ph type="ctrTitle"/>
          </p:nvPr>
        </p:nvSpPr>
        <p:spPr/>
        <p:txBody>
          <a:bodyPr/>
          <a:lstStyle/>
          <a:p>
            <a:endParaRPr lang="zh-CN" altLang="en-US"/>
          </a:p>
        </p:txBody>
      </p:sp>
      <p:sp>
        <p:nvSpPr>
          <p:cNvPr id="3" name="文本占位符 2">
            <a:extLst>
              <a:ext uri="{FF2B5EF4-FFF2-40B4-BE49-F238E27FC236}">
                <a16:creationId xmlns:a16="http://schemas.microsoft.com/office/drawing/2014/main" xmlns="" id="{6CDD7759-BA71-41DE-BB7F-473ED21A855A}"/>
              </a:ext>
            </a:extLst>
          </p:cNvPr>
          <p:cNvSpPr>
            <a:spLocks noGrp="1"/>
          </p:cNvSpPr>
          <p:nvPr>
            <p:ph type="body" sz="quarter" idx="18"/>
          </p:nvPr>
        </p:nvSpPr>
        <p:spPr/>
        <p:txBody>
          <a:bodyPr/>
          <a:lstStyle/>
          <a:p>
            <a:endParaRPr lang="zh-CN" altLang="en-US"/>
          </a:p>
        </p:txBody>
      </p:sp>
      <p:sp>
        <p:nvSpPr>
          <p:cNvPr id="4" name="文本占位符 3">
            <a:extLst>
              <a:ext uri="{FF2B5EF4-FFF2-40B4-BE49-F238E27FC236}">
                <a16:creationId xmlns:a16="http://schemas.microsoft.com/office/drawing/2014/main" xmlns="" id="{B39E9368-67B8-448F-BCF0-D2F5A267509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4048329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LIDE.THEME" val="#21813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1D84"/>
      </a:accent1>
      <a:accent2>
        <a:srgbClr val="28528B"/>
      </a:accent2>
      <a:accent3>
        <a:srgbClr val="39AEC0"/>
      </a:accent3>
      <a:accent4>
        <a:srgbClr val="FBCB6A"/>
      </a:accent4>
      <a:accent5>
        <a:srgbClr val="757579"/>
      </a:accent5>
      <a:accent6>
        <a:srgbClr val="5C5E60"/>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lstStyle/>
      <a:style>
        <a:lnRef idx="2">
          <a:schemeClr val="dk1"/>
        </a:lnRef>
        <a:fillRef idx="1">
          <a:schemeClr val="lt1"/>
        </a:fillRef>
        <a:effectRef idx="0">
          <a:schemeClr val="dk1"/>
        </a:effectRef>
        <a:fontRef idx="minor">
          <a:schemeClr val="dk1"/>
        </a:fontRef>
      </a:style>
    </a:spDef>
    <a:lnDef>
      <a:spPr>
        <a:ln>
          <a:solidFill>
            <a:schemeClr val="tx1"/>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课件：模板.potx" id="{75A736F1-A9F4-4558-8520-289A7C5FD6F8}" vid="{6F499C35-6EEA-4591-8D01-5F89C10EE7D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1756</TotalTime>
  <Words>11188</Words>
  <Application>Microsoft Office PowerPoint</Application>
  <PresentationFormat>宽屏</PresentationFormat>
  <Paragraphs>1165</Paragraphs>
  <Slides>62</Slides>
  <Notes>53</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62</vt:i4>
      </vt:variant>
    </vt:vector>
  </HeadingPairs>
  <TitlesOfParts>
    <vt:vector size="73" baseType="lpstr">
      <vt:lpstr>等线</vt:lpstr>
      <vt:lpstr>宋体</vt:lpstr>
      <vt:lpstr>微软雅黑</vt:lpstr>
      <vt:lpstr>Arial</vt:lpstr>
      <vt:lpstr>Calibri</vt:lpstr>
      <vt:lpstr>Cambria Math</vt:lpstr>
      <vt:lpstr>Ebrima</vt:lpstr>
      <vt:lpstr>Symbol</vt:lpstr>
      <vt:lpstr>Wingdings</vt:lpstr>
      <vt:lpstr>Wingdings 2</vt:lpstr>
      <vt:lpstr>主题5</vt:lpstr>
      <vt:lpstr>目标检测的准备</vt:lpstr>
      <vt:lpstr>课程目标</vt:lpstr>
      <vt:lpstr>PowerPoint 演示文稿</vt:lpstr>
      <vt:lpstr>/01</vt:lpstr>
      <vt:lpstr>卷积神经网络基础</vt:lpstr>
      <vt:lpstr>卷积神经网络基础</vt:lpstr>
      <vt:lpstr>卷积层</vt:lpstr>
      <vt:lpstr>卷积核</vt:lpstr>
      <vt:lpstr>卷积计算</vt:lpstr>
      <vt:lpstr>卷积计算示例</vt:lpstr>
      <vt:lpstr>卷积计算示例</vt:lpstr>
      <vt:lpstr>卷积计算示例</vt:lpstr>
      <vt:lpstr>卷积计算示例</vt:lpstr>
      <vt:lpstr>卷积计算示例</vt:lpstr>
      <vt:lpstr>步长</vt:lpstr>
      <vt:lpstr>步长</vt:lpstr>
      <vt:lpstr>步长</vt:lpstr>
      <vt:lpstr>步长</vt:lpstr>
      <vt:lpstr>填充</vt:lpstr>
      <vt:lpstr>填充</vt:lpstr>
      <vt:lpstr>步长与填充总结</vt:lpstr>
      <vt:lpstr>步长与填充总结</vt:lpstr>
      <vt:lpstr>步长与填充总结</vt:lpstr>
      <vt:lpstr>激活层</vt:lpstr>
      <vt:lpstr>池化层</vt:lpstr>
      <vt:lpstr>池化层计算</vt:lpstr>
      <vt:lpstr>池化层</vt:lpstr>
      <vt:lpstr>全连接层</vt:lpstr>
      <vt:lpstr>全连接层</vt:lpstr>
      <vt:lpstr>三维数据的卷积运算</vt:lpstr>
      <vt:lpstr>三维数据的卷积运算</vt:lpstr>
      <vt:lpstr>批规范化层</vt:lpstr>
      <vt:lpstr>批规范化处理流程</vt:lpstr>
      <vt:lpstr>批规范化处理</vt:lpstr>
      <vt:lpstr>Dropout层</vt:lpstr>
      <vt:lpstr>卷积神经网络总结</vt:lpstr>
      <vt:lpstr>/02</vt:lpstr>
      <vt:lpstr>常见卷积神经网络结构</vt:lpstr>
      <vt:lpstr>LeNet神经网络</vt:lpstr>
      <vt:lpstr>LeNet神经网络</vt:lpstr>
      <vt:lpstr>AlexNet神经网络</vt:lpstr>
      <vt:lpstr>AlexNet神经网络</vt:lpstr>
      <vt:lpstr>AlexNet神经网络</vt:lpstr>
      <vt:lpstr>VGG神经网络</vt:lpstr>
      <vt:lpstr>VGG神经网络</vt:lpstr>
      <vt:lpstr>GoogLeNet神经网络</vt:lpstr>
      <vt:lpstr>GoogLeNet神经网络</vt:lpstr>
      <vt:lpstr>GoogLeNet神经网络</vt:lpstr>
      <vt:lpstr>GoogLeNet神经网络</vt:lpstr>
      <vt:lpstr>GoogLeNet神经网络</vt:lpstr>
      <vt:lpstr>GoogleNet神经网络</vt:lpstr>
      <vt:lpstr>ResNet</vt:lpstr>
      <vt:lpstr>ResNet</vt:lpstr>
      <vt:lpstr>ResNet</vt:lpstr>
      <vt:lpstr>常见卷积神经网络结构总结</vt:lpstr>
      <vt:lpstr>其他网络结构</vt:lpstr>
      <vt:lpstr>其他网络结构</vt:lpstr>
      <vt:lpstr>其他网络结构</vt:lpstr>
      <vt:lpstr>其他网络结构</vt:lpstr>
      <vt:lpstr>其他网络结构</vt:lpstr>
      <vt:lpstr>课程小结</vt:lpstr>
      <vt:lpstr>PowerPoint 演示文稿</vt:lpstr>
    </vt:vector>
  </TitlesOfParts>
  <Manager>iSlide</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107</cp:revision>
  <cp:lastPrinted>2018-09-20T16:00:00Z</cp:lastPrinted>
  <dcterms:created xsi:type="dcterms:W3CDTF">2022-06-27T01:42:48Z</dcterms:created>
  <dcterms:modified xsi:type="dcterms:W3CDTF">2022-12-27T09:29:41Z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73014DBFC45146CA96EB1D40049F1576</vt:lpwstr>
  </property>
  <property fmtid="{D5CDD505-2E9C-101B-9397-08002B2CF9AE}" pid="4" name="KSOProductBuildVer">
    <vt:lpwstr>2052-11.1.0.10667</vt:lpwstr>
  </property>
</Properties>
</file>