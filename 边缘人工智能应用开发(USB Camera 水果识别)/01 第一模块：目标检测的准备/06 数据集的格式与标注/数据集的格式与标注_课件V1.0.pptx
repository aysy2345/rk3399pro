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8" r:id="rId2"/>
    <p:sldId id="263" r:id="rId3"/>
    <p:sldId id="262" r:id="rId4"/>
    <p:sldId id="257" r:id="rId5"/>
    <p:sldId id="267" r:id="rId6"/>
    <p:sldId id="264" r:id="rId7"/>
    <p:sldId id="268" r:id="rId8"/>
    <p:sldId id="265" r:id="rId9"/>
    <p:sldId id="260" r:id="rId10"/>
    <p:sldId id="270" r:id="rId11"/>
    <p:sldId id="269" r:id="rId12"/>
    <p:sldId id="271" r:id="rId13"/>
    <p:sldId id="272" r:id="rId14"/>
    <p:sldId id="273" r:id="rId15"/>
    <p:sldId id="276" r:id="rId16"/>
    <p:sldId id="275" r:id="rId17"/>
    <p:sldId id="277" r:id="rId18"/>
    <p:sldId id="303" r:id="rId19"/>
    <p:sldId id="281" r:id="rId20"/>
    <p:sldId id="278" r:id="rId21"/>
    <p:sldId id="282" r:id="rId22"/>
    <p:sldId id="283" r:id="rId23"/>
    <p:sldId id="284" r:id="rId24"/>
    <p:sldId id="285" r:id="rId25"/>
    <p:sldId id="286" r:id="rId26"/>
    <p:sldId id="287" r:id="rId27"/>
    <p:sldId id="290" r:id="rId28"/>
    <p:sldId id="288" r:id="rId29"/>
    <p:sldId id="291" r:id="rId30"/>
    <p:sldId id="297" r:id="rId31"/>
    <p:sldId id="289" r:id="rId32"/>
    <p:sldId id="292" r:id="rId33"/>
    <p:sldId id="293" r:id="rId34"/>
    <p:sldId id="294" r:id="rId35"/>
    <p:sldId id="295" r:id="rId36"/>
    <p:sldId id="296" r:id="rId37"/>
    <p:sldId id="299" r:id="rId38"/>
    <p:sldId id="266" r:id="rId39"/>
    <p:sldId id="298" r:id="rId40"/>
    <p:sldId id="300" r:id="rId41"/>
    <p:sldId id="301" r:id="rId42"/>
    <p:sldId id="261" r:id="rId43"/>
  </p:sldIdLst>
  <p:sldSz cx="12192000" cy="6858000"/>
  <p:notesSz cx="6858000" cy="9144000"/>
  <p:custDataLst>
    <p:tags r:id="rId4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24" autoAdjust="0"/>
  </p:normalViewPr>
  <p:slideViewPr>
    <p:cSldViewPr snapToGrid="0" showGuides="1">
      <p:cViewPr varScale="1">
        <p:scale>
          <a:sx n="114" d="100"/>
          <a:sy n="114" d="100"/>
        </p:scale>
        <p:origin x="420" y="102"/>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安装</a:t>
          </a:r>
          <a:r>
            <a:rPr lang="en-US" altLang="zh-CN" dirty="0" err="1" smtClean="0"/>
            <a:t>Labelimg</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建立数据集文件夹</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bg1">
                  <a:lumMod val="85000"/>
                </a:schemeClr>
              </a:solidFill>
            </a:rPr>
            <a:t>Labelimg</a:t>
          </a:r>
          <a:r>
            <a:rPr lang="zh-CN" altLang="en-US" dirty="0" smtClean="0">
              <a:solidFill>
                <a:schemeClr val="bg1">
                  <a:lumMod val="85000"/>
                </a:schemeClr>
              </a:solidFill>
            </a:rPr>
            <a:t>的使用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7D0A6AA2-0FF6-491E-A3BC-D3A3EC07D3C5}"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2" destOrd="0" parTransId="{DE3ECBCB-59A7-4B29-8005-72F8BCC1C41D}" sibTransId="{FA81CD99-4C17-4421-BECF-3D861154DBDD}"/>
    <dgm:cxn modelId="{60B551CD-2DFB-4560-9A0C-57C6746CE588}" type="presOf" srcId="{BEAB6AAF-246B-444D-90D9-FB867EA43595}" destId="{FC4CA3E0-7A9C-47CB-88C9-7F81B89FD5AA}" srcOrd="0" destOrd="0" presId="urn:microsoft.com/office/officeart/2005/8/layout/chevron1"/>
    <dgm:cxn modelId="{697D747C-6EED-4B6E-8F90-C7A44FE5D5CE}" type="presOf" srcId="{211D359A-E621-4AEC-B365-EBCECA4D5608}" destId="{50739AC9-FC4E-42C3-B62E-1016634A724A}" srcOrd="0" destOrd="0" presId="urn:microsoft.com/office/officeart/2005/8/layout/chevron1"/>
    <dgm:cxn modelId="{BF6558B0-650E-4BA1-A1B1-1CA458E6EC49}" srcId="{314AE731-DFBF-4A5B-8171-86B7AA2F2858}" destId="{211D359A-E621-4AEC-B365-EBCECA4D5608}" srcOrd="1" destOrd="0" parTransId="{95B58C96-0D87-4CC9-A2F6-B9DFCA67DC5F}" sibTransId="{56BE99E8-BF29-4F85-BEC4-A54AC3654A13}"/>
    <dgm:cxn modelId="{DB31AED8-642A-4D5C-9820-D72DCFCF6B97}" type="presOf" srcId="{C6C44482-D821-4FAE-BB52-29931F8BCBDE}" destId="{E2DC7CE9-31B9-4959-914F-451EA2F3687E}" srcOrd="0" destOrd="0" presId="urn:microsoft.com/office/officeart/2005/8/layout/chevron1"/>
    <dgm:cxn modelId="{1DB4ABE4-67D2-42D0-B030-F78A69B3FAD1}" type="presParOf" srcId="{5653E5CF-63C1-4886-9DFE-DC4B36C44A33}" destId="{FC4CA3E0-7A9C-47CB-88C9-7F81B89FD5AA}" srcOrd="0" destOrd="0" presId="urn:microsoft.com/office/officeart/2005/8/layout/chevron1"/>
    <dgm:cxn modelId="{7FF76D06-65E2-484A-BB2F-C7B21132BE0E}" type="presParOf" srcId="{5653E5CF-63C1-4886-9DFE-DC4B36C44A33}" destId="{ED8D2DC7-F6B9-49A1-A3FB-6645AA0B27C9}" srcOrd="1" destOrd="0" presId="urn:microsoft.com/office/officeart/2005/8/layout/chevron1"/>
    <dgm:cxn modelId="{92F3C97B-F53B-4CD1-9C60-EC9B4C188542}" type="presParOf" srcId="{5653E5CF-63C1-4886-9DFE-DC4B36C44A33}" destId="{50739AC9-FC4E-42C3-B62E-1016634A724A}" srcOrd="2" destOrd="0" presId="urn:microsoft.com/office/officeart/2005/8/layout/chevron1"/>
    <dgm:cxn modelId="{9709E1F0-4A6E-4C18-8B80-10F3814A36E2}" type="presParOf" srcId="{5653E5CF-63C1-4886-9DFE-DC4B36C44A33}" destId="{BA7DB2C5-C694-4861-95D5-BF30690EE501}" srcOrd="3" destOrd="0" presId="urn:microsoft.com/office/officeart/2005/8/layout/chevron1"/>
    <dgm:cxn modelId="{FCAE4967-E6FB-475D-9EB1-BDC16995CD91}"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Labelimg</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建立数据集文件夹</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bg1">
                  <a:lumMod val="85000"/>
                </a:schemeClr>
              </a:solidFill>
            </a:rPr>
            <a:t>Labelimg</a:t>
          </a:r>
          <a:r>
            <a:rPr lang="zh-CN" altLang="en-US" dirty="0" smtClean="0">
              <a:solidFill>
                <a:schemeClr val="bg1">
                  <a:lumMod val="85000"/>
                </a:schemeClr>
              </a:solidFill>
            </a:rPr>
            <a:t>的使用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2" destOrd="0" parTransId="{DE3ECBCB-59A7-4B29-8005-72F8BCC1C41D}" sibTransId="{FA81CD99-4C17-4421-BECF-3D861154DBDD}"/>
    <dgm:cxn modelId="{6D18914F-9F5B-4203-8845-1FB5FC3EC6D4}" type="presOf" srcId="{314AE731-DFBF-4A5B-8171-86B7AA2F2858}" destId="{5653E5CF-63C1-4886-9DFE-DC4B36C44A33}" srcOrd="0" destOrd="0" presId="urn:microsoft.com/office/officeart/2005/8/layout/chevron1"/>
    <dgm:cxn modelId="{FBBAEC8D-A6B3-4D1E-BA40-CF72A996949B}" type="presOf" srcId="{C6C44482-D821-4FAE-BB52-29931F8BCBDE}" destId="{E2DC7CE9-31B9-4959-914F-451EA2F3687E}" srcOrd="0" destOrd="0" presId="urn:microsoft.com/office/officeart/2005/8/layout/chevron1"/>
    <dgm:cxn modelId="{BF6558B0-650E-4BA1-A1B1-1CA458E6EC49}" srcId="{314AE731-DFBF-4A5B-8171-86B7AA2F2858}" destId="{211D359A-E621-4AEC-B365-EBCECA4D5608}" srcOrd="1" destOrd="0" parTransId="{95B58C96-0D87-4CC9-A2F6-B9DFCA67DC5F}" sibTransId="{56BE99E8-BF29-4F85-BEC4-A54AC3654A13}"/>
    <dgm:cxn modelId="{9457483C-74F7-490E-B525-FB116AF55140}" type="presOf" srcId="{211D359A-E621-4AEC-B365-EBCECA4D5608}" destId="{50739AC9-FC4E-42C3-B62E-1016634A724A}" srcOrd="0" destOrd="0" presId="urn:microsoft.com/office/officeart/2005/8/layout/chevron1"/>
    <dgm:cxn modelId="{D41543B1-6BAA-4A88-806D-72672739C21B}" type="presOf" srcId="{BEAB6AAF-246B-444D-90D9-FB867EA43595}" destId="{FC4CA3E0-7A9C-47CB-88C9-7F81B89FD5AA}" srcOrd="0" destOrd="0" presId="urn:microsoft.com/office/officeart/2005/8/layout/chevron1"/>
    <dgm:cxn modelId="{5B690F93-8BA7-4B2B-8EDF-383547296B65}" type="presParOf" srcId="{5653E5CF-63C1-4886-9DFE-DC4B36C44A33}" destId="{FC4CA3E0-7A9C-47CB-88C9-7F81B89FD5AA}" srcOrd="0" destOrd="0" presId="urn:microsoft.com/office/officeart/2005/8/layout/chevron1"/>
    <dgm:cxn modelId="{05CE98D2-B59B-4C0E-9332-1E36A8EF33D5}" type="presParOf" srcId="{5653E5CF-63C1-4886-9DFE-DC4B36C44A33}" destId="{ED8D2DC7-F6B9-49A1-A3FB-6645AA0B27C9}" srcOrd="1" destOrd="0" presId="urn:microsoft.com/office/officeart/2005/8/layout/chevron1"/>
    <dgm:cxn modelId="{7B3A5C9F-B24F-41B4-8E47-B4A8F89C9EB7}" type="presParOf" srcId="{5653E5CF-63C1-4886-9DFE-DC4B36C44A33}" destId="{50739AC9-FC4E-42C3-B62E-1016634A724A}" srcOrd="2" destOrd="0" presId="urn:microsoft.com/office/officeart/2005/8/layout/chevron1"/>
    <dgm:cxn modelId="{9EF58BB6-7CAF-492E-876C-9EF2E697DD2C}" type="presParOf" srcId="{5653E5CF-63C1-4886-9DFE-DC4B36C44A33}" destId="{BA7DB2C5-C694-4861-95D5-BF30690EE501}" srcOrd="3" destOrd="0" presId="urn:microsoft.com/office/officeart/2005/8/layout/chevron1"/>
    <dgm:cxn modelId="{A6F96DEB-274F-42A9-BC32-7539B9BA3116}"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Labelimg</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建立数据集文件夹</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en-US" altLang="zh-CN" dirty="0" err="1" smtClean="0">
              <a:solidFill>
                <a:schemeClr val="tx1"/>
              </a:solidFill>
            </a:rPr>
            <a:t>Labelimg</a:t>
          </a:r>
          <a:r>
            <a:rPr lang="zh-CN" altLang="en-US" dirty="0" smtClean="0">
              <a:solidFill>
                <a:schemeClr val="tx1"/>
              </a:solidFill>
            </a:rPr>
            <a:t>的使用</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50739AC9-FC4E-42C3-B62E-1016634A724A}" type="pres">
      <dgm:prSet presAssocID="{211D359A-E621-4AEC-B365-EBCECA4D5608}" presName="parTxOnly" presStyleLbl="node1" presStyleIdx="1" presStyleCnt="3">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2" presStyleCnt="3">
        <dgm:presLayoutVars>
          <dgm:chMax val="0"/>
          <dgm:chPref val="0"/>
          <dgm:bulletEnabled val="1"/>
        </dgm:presLayoutVars>
      </dgm:prSet>
      <dgm:spPr/>
      <dgm:t>
        <a:bodyPr/>
        <a:lstStyle/>
        <a:p>
          <a:endParaRPr lang="zh-CN" altLang="en-US"/>
        </a:p>
      </dgm:t>
    </dgm:pt>
  </dgm:ptLst>
  <dgm:cxnLst>
    <dgm:cxn modelId="{F5A08127-43BB-46BA-9E45-540E2C69FE92}" type="presOf" srcId="{BEAB6AAF-246B-444D-90D9-FB867EA43595}" destId="{FC4CA3E0-7A9C-47CB-88C9-7F81B89FD5AA}" srcOrd="0" destOrd="0" presId="urn:microsoft.com/office/officeart/2005/8/layout/chevron1"/>
    <dgm:cxn modelId="{956109D1-0DCE-4506-A4D3-22B568869A3A}" type="presOf" srcId="{C6C44482-D821-4FAE-BB52-29931F8BCBDE}" destId="{E2DC7CE9-31B9-4959-914F-451EA2F3687E}"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2" destOrd="0" parTransId="{DE3ECBCB-59A7-4B29-8005-72F8BCC1C41D}" sibTransId="{FA81CD99-4C17-4421-BECF-3D861154DBDD}"/>
    <dgm:cxn modelId="{BF6558B0-650E-4BA1-A1B1-1CA458E6EC49}" srcId="{314AE731-DFBF-4A5B-8171-86B7AA2F2858}" destId="{211D359A-E621-4AEC-B365-EBCECA4D5608}" srcOrd="1" destOrd="0" parTransId="{95B58C96-0D87-4CC9-A2F6-B9DFCA67DC5F}" sibTransId="{56BE99E8-BF29-4F85-BEC4-A54AC3654A13}"/>
    <dgm:cxn modelId="{FC821E5D-3FBF-41D2-910B-BF47A1F7D4AE}" type="presOf" srcId="{314AE731-DFBF-4A5B-8171-86B7AA2F2858}" destId="{5653E5CF-63C1-4886-9DFE-DC4B36C44A33}" srcOrd="0" destOrd="0" presId="urn:microsoft.com/office/officeart/2005/8/layout/chevron1"/>
    <dgm:cxn modelId="{9D60F6F0-C34A-49FC-A334-F1D0A56265C6}" type="presOf" srcId="{211D359A-E621-4AEC-B365-EBCECA4D5608}" destId="{50739AC9-FC4E-42C3-B62E-1016634A724A}" srcOrd="0" destOrd="0" presId="urn:microsoft.com/office/officeart/2005/8/layout/chevron1"/>
    <dgm:cxn modelId="{5CD5490F-A4ED-4C44-94B6-2EBBD7FA660E}" type="presParOf" srcId="{5653E5CF-63C1-4886-9DFE-DC4B36C44A33}" destId="{FC4CA3E0-7A9C-47CB-88C9-7F81B89FD5AA}" srcOrd="0" destOrd="0" presId="urn:microsoft.com/office/officeart/2005/8/layout/chevron1"/>
    <dgm:cxn modelId="{BA8D4443-DD8C-4DE1-BB11-2A599090CD08}" type="presParOf" srcId="{5653E5CF-63C1-4886-9DFE-DC4B36C44A33}" destId="{ED8D2DC7-F6B9-49A1-A3FB-6645AA0B27C9}" srcOrd="1" destOrd="0" presId="urn:microsoft.com/office/officeart/2005/8/layout/chevron1"/>
    <dgm:cxn modelId="{73370F23-6226-4586-A8B6-EF6BF6884B31}" type="presParOf" srcId="{5653E5CF-63C1-4886-9DFE-DC4B36C44A33}" destId="{50739AC9-FC4E-42C3-B62E-1016634A724A}" srcOrd="2" destOrd="0" presId="urn:microsoft.com/office/officeart/2005/8/layout/chevron1"/>
    <dgm:cxn modelId="{6B99151A-9B46-4C0D-B71F-D893CBE83235}" type="presParOf" srcId="{5653E5CF-63C1-4886-9DFE-DC4B36C44A33}" destId="{BA7DB2C5-C694-4861-95D5-BF30690EE501}" srcOrd="3" destOrd="0" presId="urn:microsoft.com/office/officeart/2005/8/layout/chevron1"/>
    <dgm:cxn modelId="{C02D5854-4FF3-4EE8-B63E-494F13E81396}" type="presParOf" srcId="{5653E5CF-63C1-4886-9DFE-DC4B36C44A33}" destId="{E2DC7CE9-31B9-4959-914F-451EA2F3687E}"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681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xml</a:t>
            </a:r>
            <a:r>
              <a:rPr lang="zh-CN" altLang="en-US" dirty="0" smtClean="0"/>
              <a:t>与</a:t>
            </a:r>
            <a:r>
              <a:rPr lang="en-US" altLang="zh-CN" dirty="0" err="1" smtClean="0"/>
              <a:t>json</a:t>
            </a:r>
            <a:r>
              <a:rPr lang="zh-CN" altLang="en-US" dirty="0" smtClean="0"/>
              <a:t>格式采用非常浅显易懂的方式存储标签，</a:t>
            </a:r>
            <a:r>
              <a:rPr lang="en-US" altLang="zh-CN" dirty="0" err="1" smtClean="0"/>
              <a:t>yolo</a:t>
            </a:r>
            <a:r>
              <a:rPr lang="zh-CN" altLang="en-US" dirty="0" smtClean="0"/>
              <a:t>格式存储标签只有</a:t>
            </a:r>
            <a:r>
              <a:rPr lang="en-US" altLang="zh-CN" dirty="0" smtClean="0"/>
              <a:t>5</a:t>
            </a:r>
            <a:r>
              <a:rPr lang="zh-CN" altLang="en-US" dirty="0" smtClean="0"/>
              <a:t>个数值，且需要借助另一个文件</a:t>
            </a:r>
            <a:r>
              <a:rPr lang="en-US" altLang="zh-CN" dirty="0" smtClean="0"/>
              <a:t>classes.txt</a:t>
            </a:r>
            <a:r>
              <a:rPr lang="zh-CN" altLang="en-US" dirty="0" smtClean="0"/>
              <a:t>对应标签类别。</a:t>
            </a:r>
            <a:endParaRPr lang="en-US" altLang="zh-CN" dirty="0" smtClean="0"/>
          </a:p>
          <a:p>
            <a:r>
              <a:rPr lang="zh-CN" altLang="en-US" dirty="0" smtClean="0"/>
              <a:t>可以看到，尽管三种标签存储格式的表达形式不同，所存储的标签均为同一个，这意味着它们能够通过某种计算方式相互转化，感兴趣的同学可以自行探究。</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05078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tzutalin/labelImg"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实验：数据集的格式与标注</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a:t>目标检测的准备</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了解图像数据的标注格式</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掌握图像数据的标注方法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279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a:t>实验</a:t>
            </a:r>
            <a:r>
              <a:rPr lang="zh-CN" altLang="en-US" dirty="0" smtClean="0"/>
              <a:t>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r>
              <a:rPr lang="en-US" altLang="zh-CN" dirty="0" smtClean="0"/>
              <a:t>	</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smtClean="0"/>
              <a:t>了解图像数据的标注格式</a:t>
            </a:r>
            <a:endParaRPr lang="en-US" altLang="zh-CN" dirty="0" smtClean="0"/>
          </a:p>
          <a:p>
            <a:pPr marL="342900" indent="-342900">
              <a:buFont typeface="+mj-lt"/>
              <a:buAutoNum type="arabicPeriod"/>
            </a:pPr>
            <a:r>
              <a:rPr lang="zh-CN" altLang="en-US" dirty="0" smtClean="0"/>
              <a:t>学会使用标注工具对图像数据集进行人工标注（打标签）</a:t>
            </a:r>
            <a:endParaRPr lang="zh-CN" altLang="en-US" dirty="0"/>
          </a:p>
        </p:txBody>
      </p:sp>
    </p:spTree>
    <p:extLst>
      <p:ext uri="{BB962C8B-B14F-4D97-AF65-F5344CB8AC3E}">
        <p14:creationId xmlns:p14="http://schemas.microsoft.com/office/powerpoint/2010/main" val="293146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239302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实验环境</a:t>
            </a:r>
            <a:endParaRPr lang="zh-CN" altLang="en-US" dirty="0"/>
          </a:p>
        </p:txBody>
      </p:sp>
      <p:sp>
        <p:nvSpPr>
          <p:cNvPr id="3" name="内容占位符 2"/>
          <p:cNvSpPr>
            <a:spLocks noGrp="1"/>
          </p:cNvSpPr>
          <p:nvPr>
            <p:ph sz="quarter" idx="13"/>
          </p:nvPr>
        </p:nvSpPr>
        <p:spPr/>
        <p:txBody>
          <a:bodyPr/>
          <a:lstStyle/>
          <a:p>
            <a:r>
              <a:rPr lang="zh-CN" altLang="en-US" dirty="0" smtClean="0"/>
              <a:t>运行</a:t>
            </a:r>
            <a:r>
              <a:rPr lang="en-US" altLang="zh-CN" dirty="0" smtClean="0"/>
              <a:t>Windows</a:t>
            </a:r>
            <a:r>
              <a:rPr lang="zh-CN" altLang="en-US" dirty="0" smtClean="0"/>
              <a:t>系统的</a:t>
            </a:r>
            <a:r>
              <a:rPr lang="en-US" altLang="zh-CN" dirty="0" smtClean="0"/>
              <a:t>PC</a:t>
            </a:r>
            <a:r>
              <a:rPr lang="zh-CN" altLang="en-US" dirty="0" smtClean="0"/>
              <a:t>机一台，其中包含：</a:t>
            </a:r>
            <a:endParaRPr lang="en-US" altLang="zh-CN" dirty="0" smtClean="0"/>
          </a:p>
          <a:p>
            <a:pPr lvl="1"/>
            <a:r>
              <a:rPr lang="en-US" altLang="zh-CN" dirty="0"/>
              <a:t>Python</a:t>
            </a:r>
            <a:r>
              <a:rPr lang="zh-CN" altLang="zh-CN" dirty="0"/>
              <a:t>，版本</a:t>
            </a:r>
            <a:r>
              <a:rPr lang="en-US" altLang="zh-CN" dirty="0"/>
              <a:t>3.6</a:t>
            </a:r>
            <a:r>
              <a:rPr lang="zh-CN" altLang="zh-CN" dirty="0"/>
              <a:t>，其中包含：</a:t>
            </a:r>
          </a:p>
          <a:p>
            <a:pPr lvl="2"/>
            <a:r>
              <a:rPr lang="zh-CN" altLang="zh-CN" dirty="0"/>
              <a:t>解析命令行参数和选项的标准模块库</a:t>
            </a:r>
            <a:r>
              <a:rPr lang="en-US" altLang="zh-CN" dirty="0" err="1"/>
              <a:t>argparse</a:t>
            </a:r>
            <a:endParaRPr lang="zh-CN" altLang="zh-CN" dirty="0"/>
          </a:p>
          <a:p>
            <a:pPr lvl="2"/>
            <a:r>
              <a:rPr lang="zh-CN" altLang="zh-CN" dirty="0"/>
              <a:t>编码转换库</a:t>
            </a:r>
            <a:r>
              <a:rPr lang="en-US" altLang="zh-CN" dirty="0"/>
              <a:t>codecs</a:t>
            </a:r>
            <a:endParaRPr lang="zh-CN" altLang="zh-CN" dirty="0"/>
          </a:p>
          <a:p>
            <a:pPr lvl="2"/>
            <a:r>
              <a:rPr lang="zh-CN" altLang="zh-CN" dirty="0"/>
              <a:t>操作系统交互库</a:t>
            </a:r>
            <a:r>
              <a:rPr lang="en-US" altLang="zh-CN" dirty="0" err="1"/>
              <a:t>os</a:t>
            </a:r>
            <a:endParaRPr lang="zh-CN" altLang="zh-CN" dirty="0"/>
          </a:p>
          <a:p>
            <a:pPr lvl="2"/>
            <a:r>
              <a:rPr lang="zh-CN" altLang="zh-CN" dirty="0"/>
              <a:t>获取操作系统名称及版本号库</a:t>
            </a:r>
            <a:r>
              <a:rPr lang="en-US" altLang="zh-CN" dirty="0"/>
              <a:t>platform</a:t>
            </a:r>
            <a:endParaRPr lang="zh-CN" altLang="zh-CN" dirty="0"/>
          </a:p>
          <a:p>
            <a:pPr lvl="2"/>
            <a:r>
              <a:rPr lang="zh-CN" altLang="zh-CN" dirty="0"/>
              <a:t>高级文件操作库</a:t>
            </a:r>
            <a:r>
              <a:rPr lang="en-US" altLang="zh-CN" dirty="0" err="1"/>
              <a:t>shutil</a:t>
            </a:r>
            <a:endParaRPr lang="zh-CN" altLang="zh-CN" dirty="0"/>
          </a:p>
          <a:p>
            <a:pPr lvl="2"/>
            <a:r>
              <a:rPr lang="zh-CN" altLang="zh-CN" dirty="0"/>
              <a:t>系统交互库</a:t>
            </a:r>
            <a:r>
              <a:rPr lang="en-US" altLang="zh-CN" dirty="0"/>
              <a:t>sys</a:t>
            </a:r>
            <a:endParaRPr lang="zh-CN" altLang="zh-CN" dirty="0"/>
          </a:p>
          <a:p>
            <a:pPr lvl="2"/>
            <a:r>
              <a:rPr lang="zh-CN" altLang="zh-CN" dirty="0"/>
              <a:t>浏览器库</a:t>
            </a:r>
            <a:r>
              <a:rPr lang="en-US" altLang="zh-CN" dirty="0" err="1"/>
              <a:t>webbrowser</a:t>
            </a:r>
            <a:endParaRPr lang="zh-CN" altLang="zh-CN" dirty="0"/>
          </a:p>
          <a:p>
            <a:pPr lvl="2"/>
            <a:r>
              <a:rPr lang="zh-CN" altLang="zh-CN" dirty="0"/>
              <a:t>高级函数工具库</a:t>
            </a:r>
            <a:r>
              <a:rPr lang="en-US" altLang="zh-CN" dirty="0" err="1"/>
              <a:t>functools</a:t>
            </a:r>
            <a:endParaRPr lang="zh-CN" altLang="zh-CN" dirty="0"/>
          </a:p>
          <a:p>
            <a:pPr lvl="1"/>
            <a:r>
              <a:rPr lang="zh-CN" altLang="zh-CN" dirty="0"/>
              <a:t>创建</a:t>
            </a:r>
            <a:r>
              <a:rPr lang="en-US" altLang="zh-CN" dirty="0"/>
              <a:t>GUI</a:t>
            </a:r>
            <a:r>
              <a:rPr lang="zh-CN" altLang="zh-CN" dirty="0"/>
              <a:t>应用程序库</a:t>
            </a:r>
            <a:r>
              <a:rPr lang="en-US" altLang="zh-CN" dirty="0" err="1"/>
              <a:t>PyQt</a:t>
            </a:r>
            <a:r>
              <a:rPr lang="zh-CN" altLang="zh-CN" dirty="0"/>
              <a:t>，版本</a:t>
            </a:r>
            <a:r>
              <a:rPr lang="en-US" altLang="zh-CN" dirty="0"/>
              <a:t>5.9.2</a:t>
            </a:r>
            <a:endParaRPr lang="zh-CN" altLang="zh-CN" dirty="0"/>
          </a:p>
          <a:p>
            <a:pPr lvl="1"/>
            <a:r>
              <a:rPr lang="zh-CN" altLang="zh-CN" dirty="0"/>
              <a:t>支持</a:t>
            </a:r>
            <a:r>
              <a:rPr lang="en-US" altLang="zh-CN" dirty="0"/>
              <a:t>HTML</a:t>
            </a:r>
            <a:r>
              <a:rPr lang="zh-CN" altLang="zh-CN" dirty="0"/>
              <a:t>和</a:t>
            </a:r>
            <a:r>
              <a:rPr lang="en-US" altLang="zh-CN" dirty="0"/>
              <a:t>XML</a:t>
            </a:r>
            <a:r>
              <a:rPr lang="zh-CN" altLang="zh-CN" dirty="0"/>
              <a:t>的解析库</a:t>
            </a:r>
            <a:r>
              <a:rPr lang="en-US" altLang="zh-CN" dirty="0" err="1"/>
              <a:t>lxml</a:t>
            </a:r>
            <a:r>
              <a:rPr lang="zh-CN" altLang="zh-CN" dirty="0"/>
              <a:t>，版本</a:t>
            </a:r>
            <a:r>
              <a:rPr lang="en-US" altLang="zh-CN" dirty="0" smtClean="0"/>
              <a:t>4.6.3</a:t>
            </a:r>
            <a:endParaRPr lang="zh-CN" altLang="zh-CN" dirty="0"/>
          </a:p>
        </p:txBody>
      </p:sp>
    </p:spTree>
    <p:extLst>
      <p:ext uri="{BB962C8B-B14F-4D97-AF65-F5344CB8AC3E}">
        <p14:creationId xmlns:p14="http://schemas.microsoft.com/office/powerpoint/2010/main" val="3902648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381102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zh-CN" altLang="en-US" dirty="0" smtClean="0"/>
              <a:t>安装数据标注工具</a:t>
            </a:r>
            <a:r>
              <a:rPr lang="en-US" altLang="zh-CN" dirty="0" err="1" smtClean="0"/>
              <a:t>Labelimg</a:t>
            </a:r>
            <a:r>
              <a:rPr lang="zh-CN" altLang="en-US" dirty="0" smtClean="0"/>
              <a:t>及依赖库</a:t>
            </a:r>
            <a:endParaRPr lang="en-US" altLang="zh-CN" dirty="0" smtClean="0"/>
          </a:p>
          <a:p>
            <a:pPr>
              <a:lnSpc>
                <a:spcPct val="125000"/>
              </a:lnSpc>
            </a:pPr>
            <a:r>
              <a:rPr lang="zh-CN" altLang="en-US" dirty="0" smtClean="0"/>
              <a:t>建立数据集文件夹</a:t>
            </a:r>
            <a:endParaRPr lang="en-US" altLang="zh-CN" dirty="0" smtClean="0"/>
          </a:p>
          <a:p>
            <a:pPr>
              <a:lnSpc>
                <a:spcPct val="125000"/>
              </a:lnSpc>
            </a:pPr>
            <a:r>
              <a:rPr lang="en-US" altLang="zh-CN" dirty="0" err="1" smtClean="0"/>
              <a:t>Labelimg</a:t>
            </a:r>
            <a:r>
              <a:rPr lang="zh-CN" altLang="en-US" dirty="0" smtClean="0"/>
              <a:t>的使用</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43904105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00862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Labelimg</a:t>
            </a:r>
            <a:endParaRPr lang="zh-CN" altLang="en-US" dirty="0"/>
          </a:p>
        </p:txBody>
      </p:sp>
      <p:sp>
        <p:nvSpPr>
          <p:cNvPr id="3" name="内容占位符 2"/>
          <p:cNvSpPr>
            <a:spLocks noGrp="1"/>
          </p:cNvSpPr>
          <p:nvPr>
            <p:ph sz="quarter" idx="13"/>
          </p:nvPr>
        </p:nvSpPr>
        <p:spPr/>
        <p:txBody>
          <a:bodyPr/>
          <a:lstStyle/>
          <a:p>
            <a:r>
              <a:rPr lang="en-US" altLang="zh-CN" dirty="0" err="1" smtClean="0"/>
              <a:t>Labelimg</a:t>
            </a:r>
            <a:r>
              <a:rPr lang="zh-CN" altLang="en-US" dirty="0" smtClean="0"/>
              <a:t>是一种图形</a:t>
            </a:r>
            <a:r>
              <a:rPr lang="zh-CN" altLang="en-US" dirty="0"/>
              <a:t>图像注释</a:t>
            </a:r>
            <a:r>
              <a:rPr lang="zh-CN" altLang="en-US" dirty="0" smtClean="0"/>
              <a:t>工具</a:t>
            </a:r>
            <a:endParaRPr lang="en-US" altLang="zh-CN" dirty="0" smtClean="0"/>
          </a:p>
          <a:p>
            <a:pPr lvl="1"/>
            <a:r>
              <a:rPr lang="zh-CN" altLang="en-US" dirty="0"/>
              <a:t>用</a:t>
            </a:r>
            <a:r>
              <a:rPr lang="en-US" altLang="zh-CN" dirty="0"/>
              <a:t>Python</a:t>
            </a:r>
            <a:r>
              <a:rPr lang="zh-CN" altLang="en-US" dirty="0" smtClean="0"/>
              <a:t>编写</a:t>
            </a:r>
            <a:endParaRPr lang="en-US" altLang="zh-CN" dirty="0" smtClean="0"/>
          </a:p>
          <a:p>
            <a:pPr lvl="1"/>
            <a:r>
              <a:rPr lang="en-US" altLang="zh-CN" dirty="0" err="1"/>
              <a:t>Qt</a:t>
            </a:r>
            <a:r>
              <a:rPr lang="zh-CN" altLang="en-US" dirty="0"/>
              <a:t>用于其图形</a:t>
            </a:r>
            <a:r>
              <a:rPr lang="zh-CN" altLang="en-US" dirty="0" smtClean="0"/>
              <a:t>界面</a:t>
            </a:r>
            <a:endParaRPr lang="en-US" altLang="zh-CN" dirty="0" smtClean="0"/>
          </a:p>
          <a:p>
            <a:pPr lvl="1"/>
            <a:r>
              <a:rPr lang="zh-CN" altLang="en-US" dirty="0" smtClean="0"/>
              <a:t>可视化标注</a:t>
            </a:r>
            <a:endParaRPr lang="en-US" altLang="zh-CN" dirty="0" smtClean="0"/>
          </a:p>
          <a:p>
            <a:pPr lvl="1"/>
            <a:r>
              <a:rPr lang="zh-CN" altLang="en-US" dirty="0" smtClean="0"/>
              <a:t>支持三种标注格式</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9104" y="2414586"/>
            <a:ext cx="2438400" cy="2438400"/>
          </a:xfrm>
          <a:prstGeom prst="rect">
            <a:avLst/>
          </a:prstGeom>
        </p:spPr>
      </p:pic>
    </p:spTree>
    <p:extLst>
      <p:ext uri="{BB962C8B-B14F-4D97-AF65-F5344CB8AC3E}">
        <p14:creationId xmlns:p14="http://schemas.microsoft.com/office/powerpoint/2010/main" val="139575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打开浏览器，进入</a:t>
            </a:r>
            <a:r>
              <a:rPr lang="en-US" altLang="zh-CN" dirty="0" err="1"/>
              <a:t>labelimg</a:t>
            </a:r>
            <a:r>
              <a:rPr lang="zh-CN" altLang="zh-CN" dirty="0"/>
              <a:t>的下载地址：</a:t>
            </a:r>
            <a:r>
              <a:rPr lang="en-US" altLang="zh-CN" u="sng" dirty="0">
                <a:hlinkClick r:id="rId2"/>
              </a:rPr>
              <a:t>https://github.com/tzutalin/labelImg</a:t>
            </a:r>
            <a:endParaRPr lang="zh-CN" altLang="zh-CN" dirty="0"/>
          </a:p>
          <a:p>
            <a:r>
              <a:rPr lang="zh-CN" altLang="zh-CN" dirty="0"/>
              <a:t>点击</a:t>
            </a:r>
            <a:r>
              <a:rPr lang="en-US" altLang="zh-CN" dirty="0" err="1"/>
              <a:t>Code➡Download</a:t>
            </a:r>
            <a:r>
              <a:rPr lang="en-US" altLang="zh-CN" dirty="0"/>
              <a:t> ZIP</a:t>
            </a:r>
            <a:r>
              <a:rPr lang="zh-CN" altLang="zh-CN" dirty="0"/>
              <a:t>进行下载。</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7967" y="1760736"/>
            <a:ext cx="5022521" cy="4376538"/>
          </a:xfrm>
          <a:prstGeom prst="rect">
            <a:avLst/>
          </a:prstGeom>
        </p:spPr>
      </p:pic>
    </p:spTree>
    <p:extLst>
      <p:ext uri="{BB962C8B-B14F-4D97-AF65-F5344CB8AC3E}">
        <p14:creationId xmlns:p14="http://schemas.microsoft.com/office/powerpoint/2010/main" val="156684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下载完成后，解压压缩包至项目文件目录中。</a:t>
            </a:r>
          </a:p>
          <a:p>
            <a:r>
              <a:rPr lang="zh-CN" altLang="zh-CN" dirty="0"/>
              <a:t>解压后的文件夹中共有</a:t>
            </a:r>
            <a:r>
              <a:rPr lang="en-US" altLang="zh-CN" dirty="0"/>
              <a:t>24</a:t>
            </a:r>
            <a:r>
              <a:rPr lang="zh-CN" altLang="zh-CN" dirty="0"/>
              <a:t>个项目：</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2119" y="1608941"/>
            <a:ext cx="5838369" cy="4528333"/>
          </a:xfrm>
          <a:prstGeom prst="rect">
            <a:avLst/>
          </a:prstGeom>
        </p:spPr>
      </p:pic>
    </p:spTree>
    <p:extLst>
      <p:ext uri="{BB962C8B-B14F-4D97-AF65-F5344CB8AC3E}">
        <p14:creationId xmlns:p14="http://schemas.microsoft.com/office/powerpoint/2010/main" val="1378682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en-US" altLang="zh-CN" dirty="0" err="1"/>
              <a:t>Windows+R</a:t>
            </a:r>
            <a:r>
              <a:rPr lang="zh-CN" altLang="zh-CN" dirty="0"/>
              <a:t>输入</a:t>
            </a:r>
            <a:r>
              <a:rPr lang="en-US" altLang="zh-CN" dirty="0" err="1"/>
              <a:t>cmd</a:t>
            </a:r>
            <a:r>
              <a:rPr lang="zh-CN" altLang="zh-CN" dirty="0"/>
              <a:t>打开命令提示符，输入命令进入</a:t>
            </a:r>
            <a:r>
              <a:rPr lang="en-US" altLang="zh-CN" dirty="0"/>
              <a:t>anaconda python3.6</a:t>
            </a:r>
            <a:r>
              <a:rPr lang="zh-CN" altLang="zh-CN" dirty="0"/>
              <a:t>环境：</a:t>
            </a:r>
          </a:p>
          <a:p>
            <a:r>
              <a:rPr lang="en-US" altLang="zh-CN" dirty="0" err="1"/>
              <a:t>conda</a:t>
            </a:r>
            <a:r>
              <a:rPr lang="en-US" altLang="zh-CN" dirty="0"/>
              <a:t> activate python36</a:t>
            </a:r>
            <a:endParaRPr lang="zh-CN" altLang="zh-CN" dirty="0"/>
          </a:p>
          <a:p>
            <a:r>
              <a:rPr lang="zh-CN" altLang="zh-CN" dirty="0"/>
              <a:t>输入命令安装必需的库</a:t>
            </a:r>
            <a:r>
              <a:rPr lang="en-US" altLang="zh-CN" dirty="0" err="1"/>
              <a:t>lxml</a:t>
            </a:r>
            <a:r>
              <a:rPr lang="zh-CN" altLang="zh-CN" dirty="0"/>
              <a:t>和</a:t>
            </a:r>
            <a:r>
              <a:rPr lang="en-US" altLang="zh-CN" dirty="0" err="1"/>
              <a:t>PyQt</a:t>
            </a:r>
            <a:r>
              <a:rPr lang="zh-CN" altLang="zh-CN" dirty="0"/>
              <a:t>：</a:t>
            </a:r>
          </a:p>
          <a:p>
            <a:r>
              <a:rPr lang="en-US" altLang="zh-CN" dirty="0" err="1"/>
              <a:t>conda</a:t>
            </a:r>
            <a:r>
              <a:rPr lang="en-US" altLang="zh-CN" dirty="0"/>
              <a:t> install </a:t>
            </a:r>
            <a:r>
              <a:rPr lang="en-US" altLang="zh-CN" dirty="0" err="1"/>
              <a:t>pyqt</a:t>
            </a:r>
            <a:r>
              <a:rPr lang="en-US" altLang="zh-CN" dirty="0"/>
              <a:t>=5</a:t>
            </a:r>
            <a:endParaRPr lang="zh-CN" altLang="zh-CN" dirty="0"/>
          </a:p>
          <a:p>
            <a:r>
              <a:rPr lang="en-US" altLang="zh-CN" dirty="0" err="1"/>
              <a:t>conda</a:t>
            </a:r>
            <a:r>
              <a:rPr lang="en-US" altLang="zh-CN" dirty="0"/>
              <a:t> install -c anaconda </a:t>
            </a:r>
            <a:r>
              <a:rPr lang="en-US" altLang="zh-CN" dirty="0" err="1" smtClean="0"/>
              <a:t>lxml</a:t>
            </a:r>
            <a:endParaRPr lang="en-US" altLang="zh-CN" dirty="0" smtClean="0"/>
          </a:p>
          <a:p>
            <a:r>
              <a:rPr lang="zh-CN" altLang="en-US" dirty="0"/>
              <a:t>也</a:t>
            </a:r>
            <a:r>
              <a:rPr lang="zh-CN" altLang="en-US" dirty="0" smtClean="0"/>
              <a:t>可以通过</a:t>
            </a:r>
            <a:r>
              <a:rPr lang="en-US" altLang="zh-CN" dirty="0" err="1" smtClean="0"/>
              <a:t>Pycharm</a:t>
            </a:r>
            <a:r>
              <a:rPr lang="zh-CN" altLang="en-US" dirty="0" smtClean="0"/>
              <a:t>➡</a:t>
            </a:r>
            <a:r>
              <a:rPr lang="en-US" altLang="zh-CN" dirty="0" smtClean="0"/>
              <a:t>File</a:t>
            </a:r>
            <a:r>
              <a:rPr lang="zh-CN" altLang="en-US" dirty="0" smtClean="0"/>
              <a:t>➡</a:t>
            </a:r>
            <a:r>
              <a:rPr lang="en-US" altLang="zh-CN" dirty="0" smtClean="0"/>
              <a:t>Settings</a:t>
            </a:r>
            <a:r>
              <a:rPr lang="zh-CN" altLang="en-US" dirty="0"/>
              <a:t> ➡ </a:t>
            </a:r>
            <a:r>
              <a:rPr lang="en-US" altLang="zh-CN" dirty="0" smtClean="0"/>
              <a:t>Python Interpreter</a:t>
            </a:r>
            <a:r>
              <a:rPr lang="zh-CN" altLang="en-US" dirty="0" smtClean="0"/>
              <a:t>进行库的安装。</a:t>
            </a:r>
            <a:endParaRPr lang="en-US" altLang="zh-CN" dirty="0" smtClean="0"/>
          </a:p>
        </p:txBody>
      </p:sp>
    </p:spTree>
    <p:extLst>
      <p:ext uri="{BB962C8B-B14F-4D97-AF65-F5344CB8AC3E}">
        <p14:creationId xmlns:p14="http://schemas.microsoft.com/office/powerpoint/2010/main" val="1588033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输入命令进入</a:t>
            </a:r>
            <a:r>
              <a:rPr lang="en-US" altLang="zh-CN" dirty="0" err="1"/>
              <a:t>labelImg</a:t>
            </a:r>
            <a:r>
              <a:rPr lang="en-US" altLang="zh-CN" dirty="0"/>
              <a:t>-master</a:t>
            </a:r>
            <a:r>
              <a:rPr lang="zh-CN" altLang="zh-CN" dirty="0"/>
              <a:t>文件夹路径：</a:t>
            </a:r>
          </a:p>
          <a:p>
            <a:r>
              <a:rPr lang="en-US" altLang="zh-CN" dirty="0"/>
              <a:t>cd </a:t>
            </a:r>
            <a:r>
              <a:rPr lang="en-US" altLang="zh-CN" dirty="0" smtClean="0"/>
              <a:t>/d C</a:t>
            </a:r>
            <a:r>
              <a:rPr lang="en-US" altLang="zh-CN" dirty="0"/>
              <a:t>:\Users\1\Desktop\labelImg-master(</a:t>
            </a:r>
            <a:r>
              <a:rPr lang="zh-CN" altLang="zh-CN" dirty="0"/>
              <a:t>改成你自己的解压绝对路径</a:t>
            </a:r>
            <a:r>
              <a:rPr lang="en-US" altLang="zh-CN" dirty="0" smtClean="0"/>
              <a:t>)</a:t>
            </a:r>
          </a:p>
          <a:p>
            <a:pPr lvl="1"/>
            <a:r>
              <a:rPr lang="zh-CN" altLang="zh-CN" dirty="0"/>
              <a:t>注：进入非系统盘路径，须在</a:t>
            </a:r>
            <a:r>
              <a:rPr lang="en-US" altLang="zh-CN" dirty="0"/>
              <a:t>cd</a:t>
            </a:r>
            <a:r>
              <a:rPr lang="zh-CN" altLang="zh-CN" dirty="0"/>
              <a:t>指令后加上</a:t>
            </a:r>
            <a:r>
              <a:rPr lang="en-US" altLang="zh-CN" dirty="0"/>
              <a:t>“/d”</a:t>
            </a:r>
            <a:r>
              <a:rPr lang="zh-CN" altLang="zh-CN" dirty="0"/>
              <a:t>，如上所示。</a:t>
            </a:r>
          </a:p>
          <a:p>
            <a:r>
              <a:rPr lang="zh-CN" altLang="zh-CN" dirty="0" smtClean="0"/>
              <a:t>输入</a:t>
            </a:r>
            <a:r>
              <a:rPr lang="zh-CN" altLang="zh-CN" dirty="0"/>
              <a:t>命令将必要配置文件转换格式放入</a:t>
            </a:r>
            <a:r>
              <a:rPr lang="en-US" altLang="zh-CN" dirty="0"/>
              <a:t>libs</a:t>
            </a:r>
            <a:r>
              <a:rPr lang="zh-CN" altLang="zh-CN" dirty="0"/>
              <a:t>文件夹中：</a:t>
            </a:r>
          </a:p>
          <a:p>
            <a:r>
              <a:rPr lang="en-US" altLang="zh-CN" dirty="0"/>
              <a:t>pyrcc5 -o libs/resources.py </a:t>
            </a:r>
            <a:r>
              <a:rPr lang="en-US" altLang="zh-CN" dirty="0" err="1"/>
              <a:t>resources.qrc</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3290" y="2892634"/>
            <a:ext cx="6197198" cy="3244640"/>
          </a:xfrm>
          <a:prstGeom prst="rect">
            <a:avLst/>
          </a:prstGeom>
        </p:spPr>
      </p:pic>
    </p:spTree>
    <p:extLst>
      <p:ext uri="{BB962C8B-B14F-4D97-AF65-F5344CB8AC3E}">
        <p14:creationId xmlns:p14="http://schemas.microsoft.com/office/powerpoint/2010/main" val="2736487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en-US" dirty="0"/>
              <a:t>执行完上述步骤</a:t>
            </a:r>
            <a:r>
              <a:rPr lang="zh-CN" altLang="en-US" dirty="0" smtClean="0"/>
              <a:t>之后，</a:t>
            </a:r>
            <a:r>
              <a:rPr lang="en-US" altLang="zh-CN" dirty="0" smtClean="0"/>
              <a:t>libs</a:t>
            </a:r>
            <a:r>
              <a:rPr lang="zh-CN" altLang="en-US" dirty="0" smtClean="0"/>
              <a:t>文件夹中应当多了一个</a:t>
            </a:r>
            <a:r>
              <a:rPr lang="en-US" altLang="zh-CN" dirty="0" smtClean="0"/>
              <a:t>resources.py</a:t>
            </a:r>
            <a:r>
              <a:rPr lang="zh-CN" altLang="en-US" dirty="0" smtClean="0"/>
              <a:t>文件。</a:t>
            </a:r>
            <a:endParaRPr lang="zh-CN" altLang="en-US"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7625" y="1570047"/>
            <a:ext cx="5355161" cy="4567227"/>
          </a:xfrm>
          <a:prstGeom prst="rect">
            <a:avLst/>
          </a:prstGeom>
        </p:spPr>
      </p:pic>
    </p:spTree>
    <p:extLst>
      <p:ext uri="{BB962C8B-B14F-4D97-AF65-F5344CB8AC3E}">
        <p14:creationId xmlns:p14="http://schemas.microsoft.com/office/powerpoint/2010/main" val="11517580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在命令符中输入命令：</a:t>
            </a:r>
          </a:p>
          <a:p>
            <a:r>
              <a:rPr lang="en-US" altLang="zh-CN" dirty="0"/>
              <a:t>python labelImg.py</a:t>
            </a:r>
            <a:endParaRPr lang="zh-CN" altLang="zh-CN" dirty="0"/>
          </a:p>
          <a:p>
            <a:r>
              <a:rPr lang="zh-CN" altLang="zh-CN" dirty="0"/>
              <a:t>或直接在文件夹中打开</a:t>
            </a:r>
            <a:r>
              <a:rPr lang="en-US" altLang="zh-CN" dirty="0"/>
              <a:t>labelImg.py</a:t>
            </a:r>
            <a:r>
              <a:rPr lang="zh-CN" altLang="zh-CN" dirty="0"/>
              <a:t>并在</a:t>
            </a:r>
            <a:r>
              <a:rPr lang="en-US" altLang="zh-CN" dirty="0" err="1"/>
              <a:t>Pycharm</a:t>
            </a:r>
            <a:r>
              <a:rPr lang="zh-CN" altLang="zh-CN" dirty="0"/>
              <a:t>中运行，界面如下</a:t>
            </a:r>
            <a:r>
              <a:rPr lang="zh-CN" altLang="zh-CN" dirty="0" smtClean="0"/>
              <a:t>：</a:t>
            </a:r>
            <a:endParaRPr lang="zh-CN" altLang="zh-CN"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4190" y="2585719"/>
            <a:ext cx="6582032" cy="3551555"/>
          </a:xfrm>
          <a:prstGeom prst="rect">
            <a:avLst/>
          </a:prstGeom>
        </p:spPr>
      </p:pic>
    </p:spTree>
    <p:extLst>
      <p:ext uri="{BB962C8B-B14F-4D97-AF65-F5344CB8AC3E}">
        <p14:creationId xmlns:p14="http://schemas.microsoft.com/office/powerpoint/2010/main" val="3657104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Labelimg</a:t>
            </a:r>
            <a:endParaRPr lang="zh-CN" altLang="en-US" dirty="0"/>
          </a:p>
        </p:txBody>
      </p:sp>
      <p:sp>
        <p:nvSpPr>
          <p:cNvPr id="3" name="内容占位符 2"/>
          <p:cNvSpPr>
            <a:spLocks noGrp="1"/>
          </p:cNvSpPr>
          <p:nvPr>
            <p:ph sz="quarter" idx="13"/>
          </p:nvPr>
        </p:nvSpPr>
        <p:spPr/>
        <p:txBody>
          <a:bodyPr/>
          <a:lstStyle/>
          <a:p>
            <a:r>
              <a:rPr lang="zh-CN" altLang="zh-CN" dirty="0"/>
              <a:t>如果无法打开并出现运行报</a:t>
            </a:r>
            <a:r>
              <a:rPr lang="zh-CN" altLang="zh-CN" dirty="0" smtClean="0"/>
              <a:t>错</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这是由于</a:t>
            </a:r>
            <a:r>
              <a:rPr lang="en-US" altLang="zh-CN" dirty="0" err="1"/>
              <a:t>LabelImg</a:t>
            </a:r>
            <a:r>
              <a:rPr lang="zh-CN" altLang="zh-CN" dirty="0"/>
              <a:t>更新后，底层代码函数尚未更新产生运行报错</a:t>
            </a:r>
          </a:p>
          <a:p>
            <a:r>
              <a:rPr lang="zh-CN" altLang="zh-CN" dirty="0"/>
              <a:t>解决方法：打开</a:t>
            </a:r>
            <a:r>
              <a:rPr lang="en-US" altLang="zh-CN" dirty="0" err="1"/>
              <a:t>labelImg</a:t>
            </a:r>
            <a:r>
              <a:rPr lang="zh-CN" altLang="zh-CN" dirty="0"/>
              <a:t>文件夹下的</a:t>
            </a:r>
            <a:r>
              <a:rPr lang="en-US" altLang="zh-CN" dirty="0"/>
              <a:t>lib</a:t>
            </a:r>
            <a:r>
              <a:rPr lang="zh-CN" altLang="zh-CN" dirty="0"/>
              <a:t>文件夹下的</a:t>
            </a:r>
            <a:r>
              <a:rPr lang="en-US" altLang="zh-CN" dirty="0"/>
              <a:t>labelDialog.py</a:t>
            </a:r>
            <a:r>
              <a:rPr lang="zh-CN" altLang="zh-CN" dirty="0"/>
              <a:t>文件，</a:t>
            </a:r>
            <a:r>
              <a:rPr lang="zh-CN" altLang="zh-CN" dirty="0" smtClean="0"/>
              <a:t>修改</a:t>
            </a:r>
            <a:r>
              <a:rPr lang="zh-CN" altLang="en-US" dirty="0" smtClean="0"/>
              <a:t>第</a:t>
            </a:r>
            <a:r>
              <a:rPr lang="en-US" altLang="zh-CN" dirty="0" smtClean="0"/>
              <a:t>37</a:t>
            </a:r>
            <a:r>
              <a:rPr lang="zh-CN" altLang="en-US" dirty="0" smtClean="0"/>
              <a:t>行</a:t>
            </a:r>
            <a:r>
              <a:rPr lang="zh-CN" altLang="zh-CN" dirty="0" smtClean="0"/>
              <a:t>代码：</a:t>
            </a:r>
            <a:endParaRPr lang="en-US" altLang="zh-CN" dirty="0" smtClean="0"/>
          </a:p>
          <a:p>
            <a:endParaRPr lang="en-US" altLang="zh-CN" dirty="0"/>
          </a:p>
          <a:p>
            <a:r>
              <a:rPr lang="zh-CN" altLang="en-US" dirty="0" smtClean="0"/>
              <a:t>改为</a:t>
            </a:r>
            <a:endParaRPr lang="en-US" altLang="zh-CN" dirty="0" smtClean="0"/>
          </a:p>
          <a:p>
            <a:endParaRPr lang="en-US" altLang="zh-CN" dirty="0"/>
          </a:p>
          <a:p>
            <a:r>
              <a:rPr lang="zh-CN" altLang="zh-CN" dirty="0"/>
              <a:t>（即删除了</a:t>
            </a:r>
            <a:r>
              <a:rPr lang="en-US" altLang="zh-CN" dirty="0" err="1"/>
              <a:t>AlignmentFlag</a:t>
            </a:r>
            <a:r>
              <a:rPr lang="en-US" altLang="zh-CN" dirty="0"/>
              <a:t>.</a:t>
            </a:r>
            <a:r>
              <a:rPr lang="zh-CN" altLang="zh-CN" dirty="0"/>
              <a:t>）即可正常运行。</a:t>
            </a:r>
          </a:p>
          <a:p>
            <a:endParaRPr lang="zh-CN" altLang="zh-CN" dirty="0"/>
          </a:p>
          <a:p>
            <a:endParaRPr lang="zh-CN" altLang="zh-CN" dirty="0"/>
          </a:p>
          <a:p>
            <a:endParaRPr lang="zh-CN" altLang="en-US" dirty="0"/>
          </a:p>
        </p:txBody>
      </p:sp>
      <p:pic>
        <p:nvPicPr>
          <p:cNvPr id="4" name="图片 3"/>
          <p:cNvPicPr/>
          <p:nvPr/>
        </p:nvPicPr>
        <p:blipFill>
          <a:blip r:embed="rId2"/>
          <a:stretch>
            <a:fillRect/>
          </a:stretch>
        </p:blipFill>
        <p:spPr>
          <a:xfrm>
            <a:off x="3458051" y="1560847"/>
            <a:ext cx="5274310" cy="1891030"/>
          </a:xfrm>
          <a:prstGeom prst="rect">
            <a:avLst/>
          </a:prstGeom>
        </p:spPr>
      </p:pic>
      <p:pic>
        <p:nvPicPr>
          <p:cNvPr id="8" name="图片 7"/>
          <p:cNvPicPr>
            <a:picLocks noChangeAspect="1"/>
          </p:cNvPicPr>
          <p:nvPr/>
        </p:nvPicPr>
        <p:blipFill>
          <a:blip r:embed="rId3"/>
          <a:stretch>
            <a:fillRect/>
          </a:stretch>
        </p:blipFill>
        <p:spPr>
          <a:xfrm>
            <a:off x="669925" y="4594574"/>
            <a:ext cx="5314286" cy="200000"/>
          </a:xfrm>
          <a:prstGeom prst="rect">
            <a:avLst/>
          </a:prstGeom>
        </p:spPr>
      </p:pic>
      <p:pic>
        <p:nvPicPr>
          <p:cNvPr id="9" name="图片 8"/>
          <p:cNvPicPr>
            <a:picLocks noChangeAspect="1"/>
          </p:cNvPicPr>
          <p:nvPr/>
        </p:nvPicPr>
        <p:blipFill>
          <a:blip r:embed="rId4"/>
          <a:stretch>
            <a:fillRect/>
          </a:stretch>
        </p:blipFill>
        <p:spPr>
          <a:xfrm>
            <a:off x="669925" y="5435302"/>
            <a:ext cx="5314286" cy="209524"/>
          </a:xfrm>
          <a:prstGeom prst="rect">
            <a:avLst/>
          </a:prstGeom>
        </p:spPr>
      </p:pic>
    </p:spTree>
    <p:extLst>
      <p:ext uri="{BB962C8B-B14F-4D97-AF65-F5344CB8AC3E}">
        <p14:creationId xmlns:p14="http://schemas.microsoft.com/office/powerpoint/2010/main" val="141776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4015690819"/>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32267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在进行数据标注操作之前，我们需要整理数据并按照某一种数据集的格式建立我们的数据集文件夹</a:t>
            </a:r>
            <a:r>
              <a:rPr lang="zh-CN" altLang="zh-CN" dirty="0" smtClean="0"/>
              <a:t>。</a:t>
            </a:r>
            <a:endParaRPr lang="en-US" altLang="zh-CN" dirty="0" smtClean="0"/>
          </a:p>
          <a:p>
            <a:r>
              <a:rPr lang="zh-CN" altLang="zh-CN" dirty="0"/>
              <a:t>这里就有必要对采集图片进行人为的筛选，根据模型最终的检测目标人为地剔除一些图像</a:t>
            </a:r>
            <a:r>
              <a:rPr lang="zh-CN" altLang="zh-CN" dirty="0" smtClean="0"/>
              <a:t>。</a:t>
            </a:r>
            <a:endParaRPr lang="en-US" altLang="zh-CN" dirty="0" smtClean="0"/>
          </a:p>
          <a:p>
            <a:r>
              <a:rPr lang="zh-CN" altLang="zh-CN" dirty="0"/>
              <a:t>例如最终模型需要检测出一个完整的苹果，我们就需要尽量保存完整苹果特征的图像</a:t>
            </a:r>
            <a:r>
              <a:rPr lang="zh-CN" altLang="zh-CN" dirty="0" smtClean="0"/>
              <a:t>。</a:t>
            </a:r>
            <a:endParaRPr lang="en-US" altLang="zh-CN" dirty="0" smtClean="0"/>
          </a:p>
          <a:p>
            <a:r>
              <a:rPr lang="zh-CN" altLang="zh-CN" dirty="0"/>
              <a:t>对于切成一半的苹果，切碎的苹果以及遮挡严重的苹果应当予以剔除</a:t>
            </a:r>
            <a:r>
              <a:rPr lang="zh-CN" altLang="zh-CN" dirty="0" smtClean="0"/>
              <a:t>。</a:t>
            </a:r>
            <a:endParaRPr lang="en-US" altLang="zh-CN" dirty="0" smtClean="0"/>
          </a:p>
          <a:p>
            <a:r>
              <a:rPr lang="zh-CN" altLang="zh-CN" dirty="0" smtClean="0"/>
              <a:t>此外</a:t>
            </a:r>
            <a:r>
              <a:rPr lang="zh-CN" altLang="zh-CN" dirty="0"/>
              <a:t>，尽量选取单色背景的图片以减少背景颜色产生的误差</a:t>
            </a:r>
            <a:r>
              <a:rPr lang="zh-CN" altLang="zh-CN" dirty="0" smtClean="0"/>
              <a:t>。</a:t>
            </a:r>
            <a:endParaRPr lang="en-US" altLang="zh-CN" dirty="0" smtClean="0"/>
          </a:p>
        </p:txBody>
      </p:sp>
    </p:spTree>
    <p:extLst>
      <p:ext uri="{BB962C8B-B14F-4D97-AF65-F5344CB8AC3E}">
        <p14:creationId xmlns:p14="http://schemas.microsoft.com/office/powerpoint/2010/main" val="3748003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下面举了几</a:t>
            </a:r>
            <a:r>
              <a:rPr lang="zh-CN" altLang="zh-CN" dirty="0" smtClean="0"/>
              <a:t>个</a:t>
            </a:r>
            <a:r>
              <a:rPr lang="zh-CN" altLang="en-US" dirty="0"/>
              <a:t>筛选</a:t>
            </a:r>
            <a:r>
              <a:rPr lang="zh-CN" altLang="zh-CN" dirty="0" smtClean="0"/>
              <a:t>例子：</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第一张图可以截取到一个完整的苹果所包含的特征；</a:t>
            </a:r>
          </a:p>
          <a:p>
            <a:r>
              <a:rPr lang="zh-CN" altLang="zh-CN" dirty="0"/>
              <a:t>第二张图是苹果碎，不符合一个完整苹果的特征；</a:t>
            </a:r>
          </a:p>
          <a:p>
            <a:r>
              <a:rPr lang="zh-CN" altLang="zh-CN" dirty="0"/>
              <a:t>第三张图是切成一半的苹果，不符合一个完整苹果的特征（但如果最终检测目标是半个苹果横切面，就需要尽量采用这样的图像）；</a:t>
            </a:r>
          </a:p>
          <a:p>
            <a:r>
              <a:rPr lang="zh-CN" altLang="zh-CN" dirty="0"/>
              <a:t>第四张图苹果被大量遮挡，可见范围小，无法表达一个完整苹果的特征；</a:t>
            </a:r>
          </a:p>
          <a:p>
            <a:r>
              <a:rPr lang="zh-CN" altLang="zh-CN" dirty="0"/>
              <a:t>第五张图是苹果手机，不符合一个完整苹果的特征</a:t>
            </a:r>
            <a:r>
              <a:rPr lang="zh-CN" altLang="zh-CN" dirty="0" smtClean="0"/>
              <a:t>；</a:t>
            </a:r>
            <a:endParaRPr lang="en-US" altLang="zh-CN" dirty="0"/>
          </a:p>
          <a:p>
            <a:endParaRPr lang="en-US" altLang="zh-CN" dirty="0" smtClean="0"/>
          </a:p>
          <a:p>
            <a:endParaRPr lang="en-US" altLang="zh-CN" dirty="0" smtClean="0"/>
          </a:p>
          <a:p>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1639393987"/>
              </p:ext>
            </p:extLst>
          </p:nvPr>
        </p:nvGraphicFramePr>
        <p:xfrm>
          <a:off x="1595206" y="1558947"/>
          <a:ext cx="9000000" cy="1800000"/>
        </p:xfrm>
        <a:graphic>
          <a:graphicData uri="http://schemas.openxmlformats.org/drawingml/2006/table">
            <a:tbl>
              <a:tblPr firstRow="1" bandRow="1">
                <a:tableStyleId>{5940675A-B579-460E-94D1-54222C63F5DA}</a:tableStyleId>
              </a:tblPr>
              <a:tblGrid>
                <a:gridCol w="1800000"/>
                <a:gridCol w="1800000"/>
                <a:gridCol w="1800000"/>
                <a:gridCol w="1800000"/>
                <a:gridCol w="1800000"/>
              </a:tblGrid>
              <a:tr h="1800000">
                <a:tc>
                  <a:txBody>
                    <a:bodyPr/>
                    <a:lstStyle/>
                    <a:p>
                      <a:endParaRPr lang="zh-CN" altLang="en-US" dirty="0"/>
                    </a:p>
                  </a:txBody>
                  <a:tcPr>
                    <a:blipFill>
                      <a:blip r:embed="rId2"/>
                      <a:stretch>
                        <a:fillRect/>
                      </a:stretch>
                    </a:blipFill>
                  </a:tcPr>
                </a:tc>
                <a:tc>
                  <a:txBody>
                    <a:bodyPr/>
                    <a:lstStyle/>
                    <a:p>
                      <a:endParaRPr lang="zh-CN" altLang="en-US" dirty="0"/>
                    </a:p>
                  </a:txBody>
                  <a:tcPr>
                    <a:blipFill>
                      <a:blip r:embed="rId3"/>
                      <a:stretch>
                        <a:fillRect/>
                      </a:stretch>
                    </a:blipFill>
                  </a:tcPr>
                </a:tc>
                <a:tc>
                  <a:txBody>
                    <a:bodyPr/>
                    <a:lstStyle/>
                    <a:p>
                      <a:endParaRPr lang="zh-CN" altLang="en-US" dirty="0"/>
                    </a:p>
                  </a:txBody>
                  <a:tcPr>
                    <a:blipFill>
                      <a:blip r:embed="rId4"/>
                      <a:stretch>
                        <a:fillRect/>
                      </a:stretch>
                    </a:blipFill>
                  </a:tcPr>
                </a:tc>
                <a:tc>
                  <a:txBody>
                    <a:bodyPr/>
                    <a:lstStyle/>
                    <a:p>
                      <a:endParaRPr lang="zh-CN" altLang="en-US" dirty="0"/>
                    </a:p>
                  </a:txBody>
                  <a:tcPr>
                    <a:blipFill>
                      <a:blip r:embed="rId5"/>
                      <a:stretch>
                        <a:fillRect/>
                      </a:stretch>
                    </a:blipFill>
                  </a:tcPr>
                </a:tc>
                <a:tc>
                  <a:txBody>
                    <a:bodyPr/>
                    <a:lstStyle/>
                    <a:p>
                      <a:endParaRPr lang="zh-CN" altLang="en-US" dirty="0"/>
                    </a:p>
                  </a:txBody>
                  <a:tcPr>
                    <a:blipFill>
                      <a:blip r:embed="rId6"/>
                      <a:stretch>
                        <a:fillRect/>
                      </a:stretch>
                    </a:blipFill>
                  </a:tcPr>
                </a:tc>
              </a:tr>
            </a:tbl>
          </a:graphicData>
        </a:graphic>
      </p:graphicFrame>
    </p:spTree>
    <p:extLst>
      <p:ext uri="{BB962C8B-B14F-4D97-AF65-F5344CB8AC3E}">
        <p14:creationId xmlns:p14="http://schemas.microsoft.com/office/powerpoint/2010/main" val="2603898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整理完数据后，我们了解一下常见数据集的标签存放格式</a:t>
            </a:r>
            <a:r>
              <a:rPr lang="zh-CN" altLang="zh-CN" dirty="0" smtClean="0"/>
              <a:t>。</a:t>
            </a:r>
            <a:endParaRPr lang="en-US" altLang="zh-CN" dirty="0" smtClean="0"/>
          </a:p>
          <a:p>
            <a:r>
              <a:rPr lang="zh-CN" altLang="en-US" dirty="0" smtClean="0"/>
              <a:t>常见数据集的标签存放格式有</a:t>
            </a:r>
            <a:r>
              <a:rPr lang="en-US" altLang="zh-CN" dirty="0" smtClean="0"/>
              <a:t>3</a:t>
            </a:r>
            <a:r>
              <a:rPr lang="zh-CN" altLang="en-US" dirty="0" smtClean="0"/>
              <a:t>种：</a:t>
            </a:r>
            <a:endParaRPr lang="en-US" altLang="zh-CN" dirty="0" smtClean="0"/>
          </a:p>
          <a:p>
            <a:pPr lvl="1"/>
            <a:r>
              <a:rPr lang="en-US" altLang="zh-CN" dirty="0"/>
              <a:t>VOC</a:t>
            </a:r>
            <a:r>
              <a:rPr lang="zh-CN" altLang="zh-CN" dirty="0"/>
              <a:t>数据集的标签主要以</a:t>
            </a:r>
            <a:r>
              <a:rPr lang="en-US" altLang="zh-CN" dirty="0"/>
              <a:t>xml</a:t>
            </a:r>
            <a:r>
              <a:rPr lang="zh-CN" altLang="zh-CN" dirty="0"/>
              <a:t>形式进行</a:t>
            </a:r>
            <a:r>
              <a:rPr lang="zh-CN" altLang="zh-CN" dirty="0" smtClean="0"/>
              <a:t>存放</a:t>
            </a:r>
            <a:endParaRPr lang="en-US" altLang="zh-CN" dirty="0" smtClean="0"/>
          </a:p>
          <a:p>
            <a:pPr lvl="1"/>
            <a:r>
              <a:rPr lang="en-US" altLang="zh-CN" dirty="0" smtClean="0"/>
              <a:t>COCO</a:t>
            </a:r>
            <a:r>
              <a:rPr lang="zh-CN" altLang="zh-CN" dirty="0"/>
              <a:t>数据集标签主要以</a:t>
            </a:r>
            <a:r>
              <a:rPr lang="en-US" altLang="zh-CN" dirty="0" err="1"/>
              <a:t>json</a:t>
            </a:r>
            <a:r>
              <a:rPr lang="zh-CN" altLang="zh-CN" dirty="0"/>
              <a:t>形式进行</a:t>
            </a:r>
            <a:r>
              <a:rPr lang="zh-CN" altLang="zh-CN" dirty="0" smtClean="0"/>
              <a:t>存放</a:t>
            </a:r>
            <a:endParaRPr lang="en-US" altLang="zh-CN" dirty="0" smtClean="0"/>
          </a:p>
          <a:p>
            <a:pPr lvl="1"/>
            <a:r>
              <a:rPr lang="en-US" altLang="zh-CN" dirty="0" err="1" smtClean="0"/>
              <a:t>YoLo</a:t>
            </a:r>
            <a:r>
              <a:rPr lang="zh-CN" altLang="zh-CN" dirty="0"/>
              <a:t>数据集标签主要以</a:t>
            </a:r>
            <a:r>
              <a:rPr lang="en-US" altLang="zh-CN" dirty="0"/>
              <a:t>txt</a:t>
            </a:r>
            <a:r>
              <a:rPr lang="zh-CN" altLang="zh-CN" dirty="0"/>
              <a:t>形式进行</a:t>
            </a:r>
            <a:r>
              <a:rPr lang="zh-CN" altLang="zh-CN" dirty="0" smtClean="0"/>
              <a:t>存放</a:t>
            </a:r>
            <a:endParaRPr lang="zh-CN" altLang="zh-CN" dirty="0"/>
          </a:p>
          <a:p>
            <a:r>
              <a:rPr lang="zh-CN" altLang="en-US" dirty="0" smtClean="0"/>
              <a:t>以下图为例，下图是一张已经打好标签的图像数据：</a:t>
            </a:r>
            <a:endParaRPr lang="en-US" altLang="zh-CN" dirty="0" smtClean="0"/>
          </a:p>
          <a:p>
            <a:endParaRPr lang="zh-CN" altLang="en-US" dirty="0"/>
          </a:p>
        </p:txBody>
      </p:sp>
      <p:pic>
        <p:nvPicPr>
          <p:cNvPr id="4" name="图片 3"/>
          <p:cNvPicPr>
            <a:picLocks/>
          </p:cNvPicPr>
          <p:nvPr/>
        </p:nvPicPr>
        <p:blipFill>
          <a:blip r:embed="rId3"/>
          <a:stretch>
            <a:fillRect/>
          </a:stretch>
        </p:blipFill>
        <p:spPr>
          <a:xfrm>
            <a:off x="2951306" y="3873858"/>
            <a:ext cx="1800000" cy="1800000"/>
          </a:xfrm>
          <a:prstGeom prst="rect">
            <a:avLst/>
          </a:prstGeom>
        </p:spPr>
      </p:pic>
      <p:pic>
        <p:nvPicPr>
          <p:cNvPr id="5" name="图片 4"/>
          <p:cNvPicPr>
            <a:picLocks/>
          </p:cNvPicPr>
          <p:nvPr/>
        </p:nvPicPr>
        <p:blipFill>
          <a:blip r:embed="rId4"/>
          <a:stretch>
            <a:fillRect/>
          </a:stretch>
        </p:blipFill>
        <p:spPr>
          <a:xfrm>
            <a:off x="7032687" y="3873858"/>
            <a:ext cx="1800000" cy="1800000"/>
          </a:xfrm>
          <a:prstGeom prst="rect">
            <a:avLst/>
          </a:prstGeom>
          <a:ln>
            <a:solidFill>
              <a:schemeClr val="tx1"/>
            </a:solidFill>
          </a:ln>
        </p:spPr>
      </p:pic>
      <p:sp>
        <p:nvSpPr>
          <p:cNvPr id="6" name="文本框 5"/>
          <p:cNvSpPr txBox="1"/>
          <p:nvPr/>
        </p:nvSpPr>
        <p:spPr>
          <a:xfrm>
            <a:off x="1256618" y="4589192"/>
            <a:ext cx="1107996" cy="369332"/>
          </a:xfrm>
          <a:prstGeom prst="rect">
            <a:avLst/>
          </a:prstGeom>
          <a:noFill/>
        </p:spPr>
        <p:txBody>
          <a:bodyPr wrap="none" rtlCol="0">
            <a:spAutoFit/>
          </a:bodyPr>
          <a:lstStyle/>
          <a:p>
            <a:r>
              <a:rPr lang="zh-CN" altLang="en-US" dirty="0" smtClean="0"/>
              <a:t>原始图像</a:t>
            </a:r>
            <a:endParaRPr lang="zh-CN" altLang="en-US" dirty="0"/>
          </a:p>
        </p:txBody>
      </p:sp>
      <p:sp>
        <p:nvSpPr>
          <p:cNvPr id="7" name="文本框 6"/>
          <p:cNvSpPr txBox="1"/>
          <p:nvPr/>
        </p:nvSpPr>
        <p:spPr>
          <a:xfrm>
            <a:off x="5337998" y="4589192"/>
            <a:ext cx="1107996" cy="369332"/>
          </a:xfrm>
          <a:prstGeom prst="rect">
            <a:avLst/>
          </a:prstGeom>
          <a:noFill/>
        </p:spPr>
        <p:txBody>
          <a:bodyPr wrap="none" rtlCol="0">
            <a:spAutoFit/>
          </a:bodyPr>
          <a:lstStyle/>
          <a:p>
            <a:r>
              <a:rPr lang="zh-CN" altLang="en-US" dirty="0"/>
              <a:t>标签</a:t>
            </a:r>
            <a:r>
              <a:rPr lang="zh-CN" altLang="en-US" dirty="0" smtClean="0"/>
              <a:t>图像</a:t>
            </a:r>
            <a:endParaRPr lang="zh-CN" altLang="en-US" dirty="0"/>
          </a:p>
        </p:txBody>
      </p:sp>
    </p:spTree>
    <p:extLst>
      <p:ext uri="{BB962C8B-B14F-4D97-AF65-F5344CB8AC3E}">
        <p14:creationId xmlns:p14="http://schemas.microsoft.com/office/powerpoint/2010/main" val="1394330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smtClean="0"/>
              <a:t>VOC</a:t>
            </a:r>
            <a:r>
              <a:rPr lang="zh-CN" altLang="en-US" dirty="0" smtClean="0"/>
              <a:t>数据集的</a:t>
            </a:r>
            <a:r>
              <a:rPr lang="en-US" altLang="zh-CN" dirty="0" smtClean="0"/>
              <a:t>.xml</a:t>
            </a:r>
            <a:r>
              <a:rPr lang="zh-CN" altLang="en-US" dirty="0" smtClean="0"/>
              <a:t>格式：</a:t>
            </a:r>
            <a:endParaRPr lang="en-US" altLang="zh-CN" dirty="0" smtClean="0"/>
          </a:p>
          <a:p>
            <a:endParaRPr lang="zh-CN" altLang="en-US" dirty="0"/>
          </a:p>
        </p:txBody>
      </p:sp>
      <p:pic>
        <p:nvPicPr>
          <p:cNvPr id="6" name="图片 5"/>
          <p:cNvPicPr>
            <a:picLocks noChangeAspect="1"/>
          </p:cNvPicPr>
          <p:nvPr/>
        </p:nvPicPr>
        <p:blipFill>
          <a:blip r:embed="rId2"/>
          <a:stretch>
            <a:fillRect/>
          </a:stretch>
        </p:blipFill>
        <p:spPr>
          <a:xfrm>
            <a:off x="2409492" y="1642036"/>
            <a:ext cx="7371428" cy="4495238"/>
          </a:xfrm>
          <a:prstGeom prst="rect">
            <a:avLst/>
          </a:prstGeom>
        </p:spPr>
      </p:pic>
    </p:spTree>
    <p:extLst>
      <p:ext uri="{BB962C8B-B14F-4D97-AF65-F5344CB8AC3E}">
        <p14:creationId xmlns:p14="http://schemas.microsoft.com/office/powerpoint/2010/main" val="16233917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smtClean="0"/>
              <a:t>COCO</a:t>
            </a:r>
            <a:r>
              <a:rPr lang="zh-CN" altLang="en-US" dirty="0" smtClean="0"/>
              <a:t>数据集的</a:t>
            </a:r>
            <a:r>
              <a:rPr lang="en-US" altLang="zh-CN" dirty="0" smtClean="0"/>
              <a:t>.</a:t>
            </a:r>
            <a:r>
              <a:rPr lang="en-US" altLang="zh-CN" dirty="0" err="1" smtClean="0"/>
              <a:t>json</a:t>
            </a:r>
            <a:r>
              <a:rPr lang="zh-CN" altLang="en-US" dirty="0" smtClean="0"/>
              <a:t>格式：</a:t>
            </a:r>
            <a:endParaRPr lang="zh-CN" altLang="en-US" dirty="0"/>
          </a:p>
        </p:txBody>
      </p:sp>
      <p:pic>
        <p:nvPicPr>
          <p:cNvPr id="5" name="图片 4"/>
          <p:cNvPicPr>
            <a:picLocks noChangeAspect="1"/>
          </p:cNvPicPr>
          <p:nvPr/>
        </p:nvPicPr>
        <p:blipFill>
          <a:blip r:embed="rId2"/>
          <a:stretch>
            <a:fillRect/>
          </a:stretch>
        </p:blipFill>
        <p:spPr>
          <a:xfrm>
            <a:off x="885682" y="3038548"/>
            <a:ext cx="10419048" cy="1190476"/>
          </a:xfrm>
          <a:prstGeom prst="rect">
            <a:avLst/>
          </a:prstGeom>
        </p:spPr>
      </p:pic>
    </p:spTree>
    <p:extLst>
      <p:ext uri="{BB962C8B-B14F-4D97-AF65-F5344CB8AC3E}">
        <p14:creationId xmlns:p14="http://schemas.microsoft.com/office/powerpoint/2010/main" val="39665647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en-US" altLang="zh-CN" dirty="0" err="1" smtClean="0"/>
              <a:t>YoLo</a:t>
            </a:r>
            <a:r>
              <a:rPr lang="zh-CN" altLang="en-US" dirty="0" smtClean="0"/>
              <a:t>数据集的</a:t>
            </a:r>
            <a:r>
              <a:rPr lang="en-US" altLang="zh-CN" dirty="0" smtClean="0"/>
              <a:t>.txt</a:t>
            </a:r>
            <a:r>
              <a:rPr lang="zh-CN" altLang="en-US" dirty="0" smtClean="0"/>
              <a:t>格式：</a:t>
            </a:r>
            <a:endParaRPr lang="en-US" altLang="zh-CN" dirty="0" smtClean="0"/>
          </a:p>
          <a:p>
            <a:pPr lvl="1"/>
            <a:r>
              <a:rPr lang="zh-CN" altLang="en-US" dirty="0"/>
              <a:t>第一</a:t>
            </a:r>
            <a:r>
              <a:rPr lang="zh-CN" altLang="en-US" dirty="0" smtClean="0"/>
              <a:t>个值为标签类别，与自动生成的</a:t>
            </a:r>
            <a:r>
              <a:rPr lang="en-US" altLang="zh-CN" dirty="0" smtClean="0"/>
              <a:t>classes.txt</a:t>
            </a:r>
            <a:r>
              <a:rPr lang="zh-CN" altLang="en-US" dirty="0" smtClean="0"/>
              <a:t>相对应</a:t>
            </a:r>
            <a:endParaRPr lang="en-US" altLang="zh-CN" dirty="0" smtClean="0"/>
          </a:p>
          <a:p>
            <a:pPr lvl="1"/>
            <a:r>
              <a:rPr lang="zh-CN" altLang="en-US" dirty="0" smtClean="0"/>
              <a:t>如果标签目标为草莓</a:t>
            </a:r>
            <a:r>
              <a:rPr lang="en-US" altLang="zh-CN" dirty="0" smtClean="0"/>
              <a:t>(strawberry)</a:t>
            </a:r>
            <a:r>
              <a:rPr lang="zh-CN" altLang="en-US" dirty="0" smtClean="0"/>
              <a:t>则该值为</a:t>
            </a:r>
            <a:r>
              <a:rPr lang="en-US" altLang="zh-CN" dirty="0" smtClean="0"/>
              <a:t>4</a:t>
            </a:r>
            <a:r>
              <a:rPr lang="zh-CN" altLang="en-US" dirty="0" smtClean="0"/>
              <a:t>（第一类为</a:t>
            </a:r>
            <a:r>
              <a:rPr lang="en-US" altLang="zh-CN" dirty="0" smtClean="0"/>
              <a:t>0</a:t>
            </a:r>
            <a:r>
              <a:rPr lang="zh-CN" altLang="en-US" dirty="0" smtClean="0"/>
              <a:t>）</a:t>
            </a:r>
            <a:endParaRPr lang="en-US" altLang="zh-CN" dirty="0" smtClean="0"/>
          </a:p>
          <a:p>
            <a:pPr lvl="1"/>
            <a:r>
              <a:rPr lang="zh-CN" altLang="en-US" dirty="0" smtClean="0"/>
              <a:t>后面</a:t>
            </a:r>
            <a:r>
              <a:rPr lang="en-US" altLang="zh-CN" dirty="0" smtClean="0"/>
              <a:t>4</a:t>
            </a:r>
            <a:r>
              <a:rPr lang="zh-CN" altLang="en-US" dirty="0" smtClean="0"/>
              <a:t>个值均为“比例”值，因此取值范围是（</a:t>
            </a:r>
            <a:r>
              <a:rPr lang="en-US" altLang="zh-CN" dirty="0" smtClean="0"/>
              <a:t>0</a:t>
            </a:r>
            <a:r>
              <a:rPr lang="zh-CN" altLang="en-US" dirty="0" smtClean="0"/>
              <a:t>，</a:t>
            </a:r>
            <a:r>
              <a:rPr lang="en-US" altLang="zh-CN" dirty="0" smtClean="0"/>
              <a:t>1</a:t>
            </a:r>
            <a:r>
              <a:rPr lang="zh-CN" altLang="en-US" dirty="0" smtClean="0"/>
              <a:t>）</a:t>
            </a:r>
            <a:endParaRPr lang="zh-CN" altLang="en-US" dirty="0"/>
          </a:p>
        </p:txBody>
      </p:sp>
      <p:pic>
        <p:nvPicPr>
          <p:cNvPr id="4" name="图片 3"/>
          <p:cNvPicPr>
            <a:picLocks noChangeAspect="1"/>
          </p:cNvPicPr>
          <p:nvPr/>
        </p:nvPicPr>
        <p:blipFill>
          <a:blip r:embed="rId3"/>
          <a:stretch>
            <a:fillRect/>
          </a:stretch>
        </p:blipFill>
        <p:spPr>
          <a:xfrm>
            <a:off x="7863345" y="1205216"/>
            <a:ext cx="3657143" cy="1780952"/>
          </a:xfrm>
          <a:prstGeom prst="rect">
            <a:avLst/>
          </a:prstGeom>
        </p:spPr>
      </p:pic>
      <p:pic>
        <p:nvPicPr>
          <p:cNvPr id="5" name="图片 4"/>
          <p:cNvPicPr>
            <a:picLocks noChangeAspect="1"/>
          </p:cNvPicPr>
          <p:nvPr/>
        </p:nvPicPr>
        <p:blipFill>
          <a:blip r:embed="rId4"/>
          <a:stretch>
            <a:fillRect/>
          </a:stretch>
        </p:blipFill>
        <p:spPr>
          <a:xfrm>
            <a:off x="2023777" y="3061084"/>
            <a:ext cx="8142857" cy="3076190"/>
          </a:xfrm>
          <a:prstGeom prst="rect">
            <a:avLst/>
          </a:prstGeom>
        </p:spPr>
      </p:pic>
    </p:spTree>
    <p:extLst>
      <p:ext uri="{BB962C8B-B14F-4D97-AF65-F5344CB8AC3E}">
        <p14:creationId xmlns:p14="http://schemas.microsoft.com/office/powerpoint/2010/main" val="7018503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我们以</a:t>
            </a:r>
            <a:r>
              <a:rPr lang="en-US" altLang="zh-CN" dirty="0"/>
              <a:t>VOC</a:t>
            </a:r>
            <a:r>
              <a:rPr lang="zh-CN" altLang="zh-CN" dirty="0"/>
              <a:t>数据集格式为例建立我们的数据集文件夹。</a:t>
            </a:r>
          </a:p>
          <a:p>
            <a:r>
              <a:rPr lang="zh-CN" altLang="zh-CN" dirty="0"/>
              <a:t>按结构新建文件夹</a:t>
            </a:r>
            <a:r>
              <a:rPr lang="en-US" altLang="zh-CN" dirty="0"/>
              <a:t>VOC2007</a:t>
            </a:r>
            <a:r>
              <a:rPr lang="zh-CN" altLang="zh-CN" dirty="0"/>
              <a:t>（这个是约定俗称，取别的名字也行）：</a:t>
            </a:r>
          </a:p>
          <a:p>
            <a:pPr lvl="1"/>
            <a:r>
              <a:rPr lang="en-US" altLang="zh-CN" dirty="0"/>
              <a:t>Annotations</a:t>
            </a:r>
            <a:endParaRPr lang="zh-CN" altLang="zh-CN" dirty="0"/>
          </a:p>
          <a:p>
            <a:pPr lvl="1"/>
            <a:r>
              <a:rPr lang="en-US" altLang="zh-CN" dirty="0" err="1"/>
              <a:t>ImageSets</a:t>
            </a:r>
            <a:endParaRPr lang="zh-CN" altLang="zh-CN" dirty="0"/>
          </a:p>
          <a:p>
            <a:pPr lvl="2"/>
            <a:r>
              <a:rPr lang="en-US" altLang="zh-CN" dirty="0"/>
              <a:t>Main</a:t>
            </a:r>
            <a:endParaRPr lang="zh-CN" altLang="zh-CN" dirty="0"/>
          </a:p>
          <a:p>
            <a:pPr lvl="1"/>
            <a:r>
              <a:rPr lang="en-US" altLang="zh-CN" dirty="0" err="1"/>
              <a:t>JPEGImages</a:t>
            </a:r>
            <a:endParaRPr lang="zh-CN" altLang="zh-CN" dirty="0"/>
          </a:p>
          <a:p>
            <a:pPr lvl="1"/>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5682" y="3877180"/>
            <a:ext cx="6419048" cy="1742857"/>
          </a:xfrm>
          <a:prstGeom prst="rect">
            <a:avLst/>
          </a:prstGeom>
        </p:spPr>
      </p:pic>
    </p:spTree>
    <p:extLst>
      <p:ext uri="{BB962C8B-B14F-4D97-AF65-F5344CB8AC3E}">
        <p14:creationId xmlns:p14="http://schemas.microsoft.com/office/powerpoint/2010/main" val="23389211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其中，</a:t>
            </a:r>
            <a:r>
              <a:rPr lang="en-US" altLang="zh-CN" dirty="0"/>
              <a:t>Annotations</a:t>
            </a:r>
            <a:r>
              <a:rPr lang="zh-CN" altLang="zh-CN" dirty="0"/>
              <a:t>用于存放</a:t>
            </a:r>
            <a:r>
              <a:rPr lang="en-US" altLang="zh-CN" dirty="0"/>
              <a:t>xml</a:t>
            </a:r>
            <a:r>
              <a:rPr lang="zh-CN" altLang="zh-CN" dirty="0"/>
              <a:t>格式的标签文件，每个</a:t>
            </a:r>
            <a:r>
              <a:rPr lang="en-US" altLang="zh-CN" dirty="0"/>
              <a:t>xml</a:t>
            </a:r>
            <a:r>
              <a:rPr lang="zh-CN" altLang="zh-CN" dirty="0"/>
              <a:t>文件都对应于</a:t>
            </a:r>
            <a:r>
              <a:rPr lang="en-US" altLang="zh-CN" dirty="0" err="1"/>
              <a:t>JPEGImages</a:t>
            </a:r>
            <a:r>
              <a:rPr lang="zh-CN" altLang="zh-CN" dirty="0"/>
              <a:t>文件夹的一张图片；</a:t>
            </a:r>
          </a:p>
          <a:p>
            <a:r>
              <a:rPr lang="en-US" altLang="zh-CN" dirty="0" err="1"/>
              <a:t>ImageSets</a:t>
            </a:r>
            <a:r>
              <a:rPr lang="zh-CN" altLang="zh-CN" dirty="0"/>
              <a:t>中的</a:t>
            </a:r>
            <a:r>
              <a:rPr lang="en-US" altLang="zh-CN" dirty="0"/>
              <a:t>Main</a:t>
            </a:r>
            <a:r>
              <a:rPr lang="zh-CN" altLang="zh-CN" dirty="0"/>
              <a:t>文件夹用于存放</a:t>
            </a:r>
            <a:r>
              <a:rPr lang="en-US" altLang="zh-CN" dirty="0"/>
              <a:t>test.txt , train.txt, val.txt ,trainval.txt</a:t>
            </a:r>
            <a:r>
              <a:rPr lang="zh-CN" altLang="zh-CN" dirty="0"/>
              <a:t>等文件，用来保存调用训练集、验证集和测试集。这些文件会自动生成。</a:t>
            </a:r>
          </a:p>
          <a:p>
            <a:r>
              <a:rPr lang="en-US" altLang="zh-CN" dirty="0" err="1"/>
              <a:t>JPEGImages</a:t>
            </a:r>
            <a:r>
              <a:rPr lang="zh-CN" altLang="zh-CN" dirty="0"/>
              <a:t>中存放的是所有将要进入模型的图片，包括训练图片、验证图片和测试图片。 </a:t>
            </a:r>
          </a:p>
          <a:p>
            <a:pPr marL="0" indent="0">
              <a:buNone/>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5682" y="3877180"/>
            <a:ext cx="6419048" cy="1742857"/>
          </a:xfrm>
          <a:prstGeom prst="rect">
            <a:avLst/>
          </a:prstGeom>
        </p:spPr>
      </p:pic>
    </p:spTree>
    <p:extLst>
      <p:ext uri="{BB962C8B-B14F-4D97-AF65-F5344CB8AC3E}">
        <p14:creationId xmlns:p14="http://schemas.microsoft.com/office/powerpoint/2010/main" val="22766439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建立数据集文件夹</a:t>
            </a:r>
            <a:endParaRPr lang="zh-CN" altLang="en-US" dirty="0"/>
          </a:p>
        </p:txBody>
      </p:sp>
      <p:sp>
        <p:nvSpPr>
          <p:cNvPr id="3" name="内容占位符 2"/>
          <p:cNvSpPr>
            <a:spLocks noGrp="1"/>
          </p:cNvSpPr>
          <p:nvPr>
            <p:ph sz="quarter" idx="13"/>
          </p:nvPr>
        </p:nvSpPr>
        <p:spPr/>
        <p:txBody>
          <a:bodyPr/>
          <a:lstStyle/>
          <a:p>
            <a:r>
              <a:rPr lang="zh-CN" altLang="zh-CN" dirty="0"/>
              <a:t>将整理后的图像拷入</a:t>
            </a:r>
            <a:r>
              <a:rPr lang="en-US" altLang="zh-CN" dirty="0" err="1"/>
              <a:t>JPEGImages</a:t>
            </a:r>
            <a:r>
              <a:rPr lang="zh-CN" altLang="zh-CN" dirty="0"/>
              <a:t>文件夹</a:t>
            </a:r>
            <a:r>
              <a:rPr lang="zh-CN" altLang="zh-CN" dirty="0" smtClean="0"/>
              <a:t>，</a:t>
            </a:r>
            <a:r>
              <a:rPr lang="zh-CN" altLang="en-US" dirty="0" smtClean="0"/>
              <a:t>建议对</a:t>
            </a:r>
            <a:r>
              <a:rPr lang="en-US" altLang="zh-CN" dirty="0" err="1" smtClean="0"/>
              <a:t>JPEGImages</a:t>
            </a:r>
            <a:r>
              <a:rPr lang="zh-CN" altLang="en-US" dirty="0" smtClean="0"/>
              <a:t>中的图像进行统一的重命名，</a:t>
            </a:r>
            <a:r>
              <a:rPr lang="zh-CN" altLang="zh-CN" dirty="0" smtClean="0"/>
              <a:t>进入</a:t>
            </a:r>
            <a:r>
              <a:rPr lang="zh-CN" altLang="zh-CN" dirty="0"/>
              <a:t>下一步数据标注的工作。</a:t>
            </a:r>
          </a:p>
          <a:p>
            <a:pPr lvl="1"/>
            <a:r>
              <a:rPr lang="zh-CN" altLang="zh-CN" dirty="0"/>
              <a:t>（图片仅为示例，文件夹中应当包含所有种类的大量图像）</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5206" y="2786167"/>
            <a:ext cx="6200000" cy="1695238"/>
          </a:xfrm>
          <a:prstGeom prst="rect">
            <a:avLst/>
          </a:prstGeom>
        </p:spPr>
      </p:pic>
    </p:spTree>
    <p:extLst>
      <p:ext uri="{BB962C8B-B14F-4D97-AF65-F5344CB8AC3E}">
        <p14:creationId xmlns:p14="http://schemas.microsoft.com/office/powerpoint/2010/main" val="138429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759078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90196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en-US" dirty="0"/>
              <a:t>数据标注是大部分人工智能算法得以有效运行的关键</a:t>
            </a:r>
            <a:r>
              <a:rPr lang="zh-CN" altLang="en-US" dirty="0" smtClean="0"/>
              <a:t>环节。</a:t>
            </a:r>
            <a:endParaRPr lang="en-US" altLang="zh-CN" dirty="0" smtClean="0"/>
          </a:p>
          <a:p>
            <a:r>
              <a:rPr lang="zh-CN" altLang="en-US" dirty="0" smtClean="0"/>
              <a:t>数据标注的好坏会直接影响算法模型最终的结果。</a:t>
            </a:r>
            <a:endParaRPr lang="en-US" altLang="zh-CN" dirty="0" smtClean="0"/>
          </a:p>
          <a:p>
            <a:r>
              <a:rPr lang="zh-CN" altLang="en-US" dirty="0" smtClean="0"/>
              <a:t>数据</a:t>
            </a:r>
            <a:r>
              <a:rPr lang="zh-CN" altLang="en-US" dirty="0"/>
              <a:t>标注越准确、标注的数据量越大，算法的性能就越</a:t>
            </a:r>
            <a:r>
              <a:rPr lang="zh-CN" altLang="en-US" dirty="0" smtClean="0"/>
              <a:t>好。</a:t>
            </a:r>
            <a:endParaRPr lang="en-US" altLang="zh-CN" dirty="0" smtClean="0"/>
          </a:p>
          <a:p>
            <a:r>
              <a:rPr lang="zh-CN" altLang="en-US" dirty="0" smtClean="0"/>
              <a:t>下面我们使用图像数据标注工具</a:t>
            </a:r>
            <a:r>
              <a:rPr lang="en-US" altLang="zh-CN" dirty="0" err="1" smtClean="0"/>
              <a:t>Labelimg</a:t>
            </a:r>
            <a:r>
              <a:rPr lang="zh-CN" altLang="en-US" dirty="0" smtClean="0"/>
              <a:t>对图像进行数据标注（打标签）。</a:t>
            </a:r>
            <a:endParaRPr lang="zh-CN" altLang="en-US" dirty="0"/>
          </a:p>
        </p:txBody>
      </p:sp>
    </p:spTree>
    <p:extLst>
      <p:ext uri="{BB962C8B-B14F-4D97-AF65-F5344CB8AC3E}">
        <p14:creationId xmlns:p14="http://schemas.microsoft.com/office/powerpoint/2010/main" val="16505579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err="1"/>
              <a:t>Labelimg</a:t>
            </a:r>
            <a:r>
              <a:rPr lang="zh-CN" altLang="zh-CN" dirty="0"/>
              <a:t>，左上角选择</a:t>
            </a:r>
            <a:r>
              <a:rPr lang="en-US" altLang="zh-CN" dirty="0"/>
              <a:t> “</a:t>
            </a:r>
            <a:r>
              <a:rPr lang="zh-CN" altLang="zh-CN" dirty="0"/>
              <a:t>打开目录</a:t>
            </a:r>
            <a:r>
              <a:rPr lang="en-US" altLang="zh-CN" dirty="0"/>
              <a:t>”</a:t>
            </a:r>
            <a:r>
              <a:rPr lang="zh-CN" altLang="zh-CN" dirty="0"/>
              <a:t>（选项</a:t>
            </a:r>
            <a:r>
              <a:rPr lang="en-US" altLang="zh-CN" dirty="0"/>
              <a:t>1</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3602" y="1130299"/>
            <a:ext cx="2560907" cy="5009657"/>
          </a:xfrm>
          <a:prstGeom prst="rect">
            <a:avLst/>
          </a:prstGeom>
        </p:spPr>
      </p:pic>
    </p:spTree>
    <p:extLst>
      <p:ext uri="{BB962C8B-B14F-4D97-AF65-F5344CB8AC3E}">
        <p14:creationId xmlns:p14="http://schemas.microsoft.com/office/powerpoint/2010/main" val="19525724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在弹出的界面中，选择我们刚才建好的</a:t>
            </a:r>
            <a:r>
              <a:rPr lang="en-US" altLang="zh-CN" dirty="0" err="1"/>
              <a:t>JPEGImages</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6206" y="1607127"/>
            <a:ext cx="6997999" cy="4530147"/>
          </a:xfrm>
          <a:prstGeom prst="rect">
            <a:avLst/>
          </a:prstGeom>
        </p:spPr>
      </p:pic>
    </p:spTree>
    <p:extLst>
      <p:ext uri="{BB962C8B-B14F-4D97-AF65-F5344CB8AC3E}">
        <p14:creationId xmlns:p14="http://schemas.microsoft.com/office/powerpoint/2010/main" val="19152921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可以发现界面已经显示出了文件夹下的图像：</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06" y="1939618"/>
            <a:ext cx="10058400" cy="4197656"/>
          </a:xfrm>
          <a:prstGeom prst="rect">
            <a:avLst/>
          </a:prstGeom>
        </p:spPr>
      </p:pic>
    </p:spTree>
    <p:extLst>
      <p:ext uri="{BB962C8B-B14F-4D97-AF65-F5344CB8AC3E}">
        <p14:creationId xmlns:p14="http://schemas.microsoft.com/office/powerpoint/2010/main" val="34065898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a:xfrm>
            <a:off x="669925" y="1130299"/>
            <a:ext cx="8289655" cy="5006975"/>
          </a:xfrm>
        </p:spPr>
        <p:txBody>
          <a:bodyPr/>
          <a:lstStyle/>
          <a:p>
            <a:r>
              <a:rPr lang="zh-CN" altLang="zh-CN" dirty="0"/>
              <a:t>选择左上角</a:t>
            </a:r>
            <a:r>
              <a:rPr lang="en-US" altLang="zh-CN" dirty="0"/>
              <a:t>“</a:t>
            </a:r>
            <a:r>
              <a:rPr lang="zh-CN" altLang="zh-CN" dirty="0"/>
              <a:t>改变存放目录</a:t>
            </a:r>
            <a:r>
              <a:rPr lang="en-US" altLang="zh-CN" dirty="0"/>
              <a:t>”</a:t>
            </a:r>
            <a:r>
              <a:rPr lang="zh-CN" altLang="zh-CN" dirty="0"/>
              <a:t>（选项</a:t>
            </a:r>
            <a:r>
              <a:rPr lang="en-US" altLang="zh-CN" dirty="0"/>
              <a:t>2</a:t>
            </a:r>
            <a:r>
              <a:rPr lang="zh-CN" altLang="zh-CN" dirty="0"/>
              <a:t>），将存放目录选择在刚在新建的</a:t>
            </a:r>
            <a:r>
              <a:rPr lang="en-US" altLang="zh-CN" dirty="0"/>
              <a:t>Annotations</a:t>
            </a:r>
            <a:r>
              <a:rPr lang="zh-CN" altLang="zh-CN" dirty="0"/>
              <a:t>文件夹中。</a:t>
            </a:r>
          </a:p>
          <a:p>
            <a:r>
              <a:rPr lang="zh-CN" altLang="zh-CN" dirty="0"/>
              <a:t>可以使用</a:t>
            </a:r>
            <a:r>
              <a:rPr lang="en-US" altLang="zh-CN" dirty="0"/>
              <a:t>“</a:t>
            </a:r>
            <a:r>
              <a:rPr lang="zh-CN" altLang="zh-CN" dirty="0"/>
              <a:t>下一个图像</a:t>
            </a:r>
            <a:r>
              <a:rPr lang="en-US" altLang="zh-CN" dirty="0"/>
              <a:t>”</a:t>
            </a:r>
            <a:r>
              <a:rPr lang="zh-CN" altLang="zh-CN" dirty="0"/>
              <a:t>（快捷键</a:t>
            </a:r>
            <a:r>
              <a:rPr lang="en-US" altLang="zh-CN" dirty="0"/>
              <a:t>D</a:t>
            </a:r>
            <a:r>
              <a:rPr lang="zh-CN" altLang="zh-CN" dirty="0"/>
              <a:t>）与</a:t>
            </a:r>
            <a:r>
              <a:rPr lang="en-US" altLang="zh-CN" dirty="0"/>
              <a:t>“</a:t>
            </a:r>
            <a:r>
              <a:rPr lang="zh-CN" altLang="zh-CN" dirty="0"/>
              <a:t>上一个图像</a:t>
            </a:r>
            <a:r>
              <a:rPr lang="en-US" altLang="zh-CN" dirty="0"/>
              <a:t>”</a:t>
            </a:r>
            <a:r>
              <a:rPr lang="zh-CN" altLang="zh-CN" dirty="0"/>
              <a:t>（快捷键</a:t>
            </a:r>
            <a:r>
              <a:rPr lang="en-US" altLang="zh-CN" dirty="0"/>
              <a:t>A</a:t>
            </a:r>
            <a:r>
              <a:rPr lang="zh-CN" altLang="zh-CN" dirty="0"/>
              <a:t>）切换文件夹中的图像。（选项</a:t>
            </a:r>
            <a:r>
              <a:rPr lang="en-US" altLang="zh-CN" dirty="0"/>
              <a:t>3</a:t>
            </a:r>
            <a:r>
              <a:rPr lang="zh-CN" altLang="zh-CN" dirty="0"/>
              <a:t>）</a:t>
            </a:r>
          </a:p>
          <a:p>
            <a:r>
              <a:rPr lang="zh-CN" altLang="zh-CN" dirty="0"/>
              <a:t>点击</a:t>
            </a:r>
            <a:r>
              <a:rPr lang="en-US" altLang="zh-CN" dirty="0" err="1"/>
              <a:t>PascalVOC</a:t>
            </a:r>
            <a:r>
              <a:rPr lang="zh-CN" altLang="zh-CN" dirty="0"/>
              <a:t>（选项</a:t>
            </a:r>
            <a:r>
              <a:rPr lang="en-US" altLang="zh-CN" dirty="0"/>
              <a:t>4</a:t>
            </a:r>
            <a:r>
              <a:rPr lang="zh-CN" altLang="zh-CN" dirty="0"/>
              <a:t>），可以切换标签储存的格式，有</a:t>
            </a:r>
            <a:r>
              <a:rPr lang="en-US" altLang="zh-CN" dirty="0" err="1"/>
              <a:t>PascalVOC</a:t>
            </a:r>
            <a:r>
              <a:rPr lang="zh-CN" altLang="zh-CN" dirty="0"/>
              <a:t>，</a:t>
            </a:r>
            <a:r>
              <a:rPr lang="en-US" altLang="zh-CN" dirty="0" err="1"/>
              <a:t>yolo</a:t>
            </a:r>
            <a:r>
              <a:rPr lang="zh-CN" altLang="zh-CN" dirty="0"/>
              <a:t>，</a:t>
            </a:r>
            <a:r>
              <a:rPr lang="en-US" altLang="zh-CN" dirty="0" err="1"/>
              <a:t>CreateML</a:t>
            </a:r>
            <a:r>
              <a:rPr lang="zh-CN" altLang="zh-CN" dirty="0"/>
              <a:t>三种格式，我们选择</a:t>
            </a:r>
            <a:r>
              <a:rPr lang="en-US" altLang="zh-CN" dirty="0" err="1"/>
              <a:t>PascalVOC</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9581" y="1127617"/>
            <a:ext cx="2560907" cy="5009657"/>
          </a:xfrm>
          <a:prstGeom prst="rect">
            <a:avLst/>
          </a:prstGeom>
        </p:spPr>
      </p:pic>
    </p:spTree>
    <p:extLst>
      <p:ext uri="{BB962C8B-B14F-4D97-AF65-F5344CB8AC3E}">
        <p14:creationId xmlns:p14="http://schemas.microsoft.com/office/powerpoint/2010/main" val="14365744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左边栏点击创建区块（快捷键</a:t>
            </a:r>
            <a:r>
              <a:rPr lang="en-US" altLang="zh-CN" dirty="0"/>
              <a:t>W</a:t>
            </a:r>
            <a:r>
              <a:rPr lang="zh-CN" altLang="zh-CN" dirty="0"/>
              <a:t>）后，在图像上框选出</a:t>
            </a:r>
            <a:r>
              <a:rPr lang="zh-CN" altLang="zh-CN" dirty="0">
                <a:solidFill>
                  <a:srgbClr val="FF0000"/>
                </a:solidFill>
              </a:rPr>
              <a:t>完整</a:t>
            </a:r>
            <a:r>
              <a:rPr lang="zh-CN" altLang="zh-CN" dirty="0"/>
              <a:t>的检测目标：</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485" y="2443310"/>
            <a:ext cx="1780952" cy="2380952"/>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997" y="1588365"/>
            <a:ext cx="6290491" cy="4548909"/>
          </a:xfrm>
          <a:prstGeom prst="rect">
            <a:avLst/>
          </a:prstGeom>
        </p:spPr>
      </p:pic>
    </p:spTree>
    <p:extLst>
      <p:ext uri="{BB962C8B-B14F-4D97-AF65-F5344CB8AC3E}">
        <p14:creationId xmlns:p14="http://schemas.microsoft.com/office/powerpoint/2010/main" val="17146274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Labelimg</a:t>
            </a:r>
            <a:r>
              <a:rPr lang="zh-CN" altLang="en-US" dirty="0" smtClean="0"/>
              <a:t>的使用</a:t>
            </a:r>
            <a:endParaRPr lang="zh-CN" altLang="en-US" dirty="0"/>
          </a:p>
        </p:txBody>
      </p:sp>
      <p:sp>
        <p:nvSpPr>
          <p:cNvPr id="3" name="内容占位符 2"/>
          <p:cNvSpPr>
            <a:spLocks noGrp="1"/>
          </p:cNvSpPr>
          <p:nvPr>
            <p:ph sz="quarter" idx="13"/>
          </p:nvPr>
        </p:nvSpPr>
        <p:spPr/>
        <p:txBody>
          <a:bodyPr/>
          <a:lstStyle/>
          <a:p>
            <a:r>
              <a:rPr lang="zh-CN" altLang="zh-CN" dirty="0"/>
              <a:t>输入想要的标签，点击</a:t>
            </a:r>
            <a:r>
              <a:rPr lang="en-US" altLang="zh-CN" dirty="0"/>
              <a:t>ok</a:t>
            </a:r>
            <a:r>
              <a:rPr lang="zh-CN" altLang="zh-CN" dirty="0"/>
              <a:t>后左边栏点击保存（快捷键</a:t>
            </a:r>
            <a:r>
              <a:rPr lang="en-US" altLang="zh-CN" dirty="0" err="1"/>
              <a:t>Ctrl+S</a:t>
            </a:r>
            <a:r>
              <a:rPr lang="zh-CN" altLang="zh-CN" dirty="0"/>
              <a:t>），一张图片的标签就打好了。在</a:t>
            </a:r>
            <a:r>
              <a:rPr lang="en-US" altLang="zh-CN" dirty="0"/>
              <a:t>Annotations</a:t>
            </a:r>
            <a:r>
              <a:rPr lang="zh-CN" altLang="zh-CN" dirty="0"/>
              <a:t>文件夹下，可以看到与图片同名的</a:t>
            </a:r>
            <a:r>
              <a:rPr lang="en-US" altLang="zh-CN" dirty="0"/>
              <a:t>.xml</a:t>
            </a:r>
            <a:r>
              <a:rPr lang="zh-CN" altLang="zh-CN" dirty="0"/>
              <a:t>标签文件。</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253" y="3052833"/>
            <a:ext cx="6961905" cy="1161905"/>
          </a:xfrm>
          <a:prstGeom prst="rect">
            <a:avLst/>
          </a:prstGeom>
        </p:spPr>
      </p:pic>
    </p:spTree>
    <p:extLst>
      <p:ext uri="{BB962C8B-B14F-4D97-AF65-F5344CB8AC3E}">
        <p14:creationId xmlns:p14="http://schemas.microsoft.com/office/powerpoint/2010/main" val="602647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最终在建立好的文件夹下，</a:t>
            </a:r>
            <a:r>
              <a:rPr lang="en-US" altLang="zh-CN" dirty="0" err="1"/>
              <a:t>JPEGImages</a:t>
            </a:r>
            <a:r>
              <a:rPr lang="zh-CN" altLang="zh-CN" dirty="0"/>
              <a:t>文件夹保存图片文件，</a:t>
            </a:r>
            <a:r>
              <a:rPr lang="en-US" altLang="zh-CN" dirty="0"/>
              <a:t>Annotations</a:t>
            </a:r>
            <a:r>
              <a:rPr lang="zh-CN" altLang="zh-CN" dirty="0"/>
              <a:t>文件夹保存对应的同名标签文件，本例中使用的是</a:t>
            </a:r>
            <a:r>
              <a:rPr lang="en-US" altLang="zh-CN" dirty="0" err="1"/>
              <a:t>PascalVOC</a:t>
            </a:r>
            <a:r>
              <a:rPr lang="zh-CN" altLang="zh-CN" dirty="0"/>
              <a:t>格式，标签文件后缀为</a:t>
            </a:r>
            <a:r>
              <a:rPr lang="en-US" altLang="zh-CN" dirty="0"/>
              <a:t>.xml</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444" y="2190652"/>
            <a:ext cx="5409524" cy="1809524"/>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4730" y="4154439"/>
            <a:ext cx="6180952" cy="1828571"/>
          </a:xfrm>
          <a:prstGeom prst="rect">
            <a:avLst/>
          </a:prstGeom>
        </p:spPr>
      </p:pic>
    </p:spTree>
    <p:extLst>
      <p:ext uri="{BB962C8B-B14F-4D97-AF65-F5344CB8AC3E}">
        <p14:creationId xmlns:p14="http://schemas.microsoft.com/office/powerpoint/2010/main" val="1164784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a:t>注意事项</a:t>
            </a:r>
          </a:p>
        </p:txBody>
      </p:sp>
    </p:spTree>
    <p:extLst>
      <p:ext uri="{BB962C8B-B14F-4D97-AF65-F5344CB8AC3E}">
        <p14:creationId xmlns:p14="http://schemas.microsoft.com/office/powerpoint/2010/main" val="3327623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zh-CN" dirty="0"/>
              <a:t>可以修改</a:t>
            </a:r>
            <a:r>
              <a:rPr lang="en-US" altLang="zh-CN" dirty="0" err="1"/>
              <a:t>labelimg</a:t>
            </a:r>
            <a:r>
              <a:rPr lang="zh-CN" altLang="zh-CN" dirty="0"/>
              <a:t>文件夹下</a:t>
            </a:r>
            <a:r>
              <a:rPr lang="en-US" altLang="zh-CN" dirty="0"/>
              <a:t>data</a:t>
            </a:r>
            <a:r>
              <a:rPr lang="zh-CN" altLang="zh-CN" dirty="0"/>
              <a:t>文件夹的</a:t>
            </a:r>
            <a:r>
              <a:rPr lang="en-US" altLang="zh-CN" dirty="0" smtClean="0"/>
              <a:t>predefined_classes.txt</a:t>
            </a:r>
            <a:r>
              <a:rPr lang="zh-CN" altLang="en-US" dirty="0"/>
              <a:t>。</a:t>
            </a:r>
            <a:r>
              <a:rPr lang="zh-CN" altLang="zh-CN" dirty="0" smtClean="0"/>
              <a:t>该</a:t>
            </a:r>
            <a:r>
              <a:rPr lang="zh-CN" altLang="zh-CN" dirty="0"/>
              <a:t>文本中存放预设标签，改为想要检测的各类目标的标签后在</a:t>
            </a:r>
            <a:r>
              <a:rPr lang="en-US" altLang="zh-CN" dirty="0" err="1"/>
              <a:t>labelimg</a:t>
            </a:r>
            <a:r>
              <a:rPr lang="zh-CN" altLang="zh-CN" dirty="0"/>
              <a:t>界面右栏选择</a:t>
            </a:r>
            <a:r>
              <a:rPr lang="en-US" altLang="zh-CN" dirty="0"/>
              <a:t>“</a:t>
            </a:r>
            <a:r>
              <a:rPr lang="zh-CN" altLang="zh-CN" dirty="0"/>
              <a:t>使用预设标签</a:t>
            </a:r>
            <a:r>
              <a:rPr lang="en-US" altLang="zh-CN" dirty="0"/>
              <a:t>”</a:t>
            </a:r>
            <a:r>
              <a:rPr lang="zh-CN" altLang="zh-CN" dirty="0"/>
              <a:t>可以使打标签效率更高，但当图像中的目标种类变换时不要忘记</a:t>
            </a:r>
            <a:r>
              <a:rPr lang="zh-CN" altLang="zh-CN" dirty="0" smtClean="0"/>
              <a:t>更改</a:t>
            </a:r>
            <a:r>
              <a:rPr lang="zh-CN" altLang="en-US" dirty="0" smtClean="0"/>
              <a:t>标签种类</a:t>
            </a:r>
            <a:r>
              <a:rPr lang="zh-CN" altLang="zh-CN" dirty="0" smtClean="0"/>
              <a:t>；</a:t>
            </a:r>
            <a:endParaRPr lang="en-US" altLang="zh-CN" dirty="0" smtClean="0"/>
          </a:p>
          <a:p>
            <a:pPr marL="342900" indent="-342900">
              <a:buFont typeface="+mj-lt"/>
              <a:buAutoNum type="arabicPeriod"/>
            </a:pPr>
            <a:endParaRPr lang="en-US" altLang="zh-CN" dirty="0"/>
          </a:p>
          <a:p>
            <a:pPr marL="342900" indent="-342900">
              <a:buFont typeface="+mj-lt"/>
              <a:buAutoNum type="arabicPeriod"/>
            </a:pPr>
            <a:endParaRPr lang="en-US" altLang="zh-CN" dirty="0" smtClean="0"/>
          </a:p>
          <a:p>
            <a:pPr marL="342900" indent="-342900">
              <a:buFont typeface="+mj-lt"/>
              <a:buAutoNum type="arabicPeriod"/>
            </a:pPr>
            <a:endParaRPr lang="en-US" altLang="zh-CN" dirty="0"/>
          </a:p>
          <a:p>
            <a:pPr marL="342900" indent="-342900">
              <a:buFont typeface="+mj-lt"/>
              <a:buAutoNum type="arabicPeriod"/>
            </a:pPr>
            <a:endParaRPr lang="en-US" altLang="zh-CN" dirty="0" smtClean="0"/>
          </a:p>
          <a:p>
            <a:pPr marL="342900" indent="-342900">
              <a:buFont typeface="+mj-lt"/>
              <a:buAutoNum type="arabicPeriod"/>
            </a:pPr>
            <a:endParaRPr lang="en-US" altLang="zh-CN" dirty="0"/>
          </a:p>
          <a:p>
            <a:endParaRPr lang="en-US" altLang="zh-CN" dirty="0" smtClean="0"/>
          </a:p>
          <a:p>
            <a:r>
              <a:rPr lang="zh-CN" altLang="en-US" dirty="0" smtClean="0"/>
              <a:t>注：</a:t>
            </a:r>
            <a:r>
              <a:rPr lang="zh-CN" altLang="zh-CN" dirty="0"/>
              <a:t>如果标签以</a:t>
            </a:r>
            <a:r>
              <a:rPr lang="en-US" altLang="zh-CN" dirty="0"/>
              <a:t>Yolo</a:t>
            </a:r>
            <a:r>
              <a:rPr lang="zh-CN" altLang="zh-CN" dirty="0"/>
              <a:t>格式存储，强烈建议修改此文件，系统将以</a:t>
            </a:r>
            <a:r>
              <a:rPr lang="en-US" altLang="zh-CN" dirty="0"/>
              <a:t>predefined_classes.txt</a:t>
            </a:r>
            <a:r>
              <a:rPr lang="zh-CN" altLang="zh-CN" dirty="0"/>
              <a:t>直接生成类别对应文件</a:t>
            </a:r>
            <a:r>
              <a:rPr lang="en-US" altLang="zh-CN" dirty="0"/>
              <a:t>classes.txt</a:t>
            </a:r>
            <a:r>
              <a:rPr lang="zh-CN" altLang="zh-CN" dirty="0"/>
              <a:t>，方便后续查看各类目标的对应规则。</a:t>
            </a:r>
          </a:p>
          <a:p>
            <a:endParaRPr lang="en-US" altLang="zh-CN" dirty="0" smtClean="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851" y="2662356"/>
            <a:ext cx="6276190" cy="1942857"/>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8431" y="2686166"/>
            <a:ext cx="2666667" cy="1895238"/>
          </a:xfrm>
          <a:prstGeom prst="rect">
            <a:avLst/>
          </a:prstGeom>
        </p:spPr>
      </p:pic>
    </p:spTree>
    <p:extLst>
      <p:ext uri="{BB962C8B-B14F-4D97-AF65-F5344CB8AC3E}">
        <p14:creationId xmlns:p14="http://schemas.microsoft.com/office/powerpoint/2010/main" val="183366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zh-CN" dirty="0" smtClean="0"/>
              <a:t>修改</a:t>
            </a:r>
            <a:r>
              <a:rPr lang="en-US" altLang="zh-CN" dirty="0" smtClean="0"/>
              <a:t>predefined_classes.txt</a:t>
            </a:r>
            <a:r>
              <a:rPr lang="zh-CN" altLang="en-US" dirty="0" smtClean="0"/>
              <a:t>。</a:t>
            </a:r>
            <a:endParaRPr lang="en-US" altLang="zh-CN" dirty="0" smtClean="0"/>
          </a:p>
          <a:p>
            <a:pPr marL="342900" lvl="0" indent="-342900">
              <a:buFont typeface="+mj-lt"/>
              <a:buAutoNum type="arabicPeriod"/>
            </a:pPr>
            <a:r>
              <a:rPr lang="en-US" altLang="zh-CN" dirty="0" err="1"/>
              <a:t>labelimg</a:t>
            </a:r>
            <a:r>
              <a:rPr lang="zh-CN" altLang="zh-CN" dirty="0"/>
              <a:t>使用时，出现只能标选方框（正方形）的解决方法：按下</a:t>
            </a:r>
            <a:r>
              <a:rPr lang="en-US" altLang="zh-CN" dirty="0" err="1"/>
              <a:t>ctrl+shift+R</a:t>
            </a:r>
            <a:r>
              <a:rPr lang="zh-CN" altLang="zh-CN" dirty="0"/>
              <a:t>，即可恢复矩形框的标</a:t>
            </a:r>
            <a:r>
              <a:rPr lang="zh-CN" altLang="zh-CN" dirty="0" smtClean="0"/>
              <a:t>选</a:t>
            </a:r>
            <a:r>
              <a:rPr lang="zh-CN" altLang="en-US" dirty="0" smtClean="0"/>
              <a:t>。</a:t>
            </a:r>
            <a:endParaRPr lang="zh-CN" altLang="zh-CN" dirty="0"/>
          </a:p>
          <a:p>
            <a:pPr marL="342900" indent="-342900">
              <a:buFont typeface="+mj-lt"/>
              <a:buAutoNum type="arabicPeriod"/>
            </a:pPr>
            <a:r>
              <a:rPr lang="zh-CN" altLang="zh-CN" dirty="0"/>
              <a:t>一张图像并非只能打一个标签框，同一张图像中可能包含多个需要的完整检测目标，可以打多个标签</a:t>
            </a:r>
            <a:r>
              <a:rPr lang="zh-CN" altLang="zh-CN" dirty="0" smtClean="0"/>
              <a:t>框</a:t>
            </a:r>
            <a:r>
              <a:rPr lang="zh-CN" altLang="en-US" dirty="0" smtClean="0"/>
              <a:t>。如下图：</a:t>
            </a:r>
            <a:endParaRPr lang="en-US" altLang="zh-CN" dirty="0" smtClean="0"/>
          </a:p>
          <a:p>
            <a:pPr marL="342900" lvl="0" indent="-342900">
              <a:buFont typeface="+mj-lt"/>
              <a:buAutoNum type="arabicPeriod"/>
            </a:pPr>
            <a:r>
              <a:rPr lang="en-US" altLang="zh-CN" dirty="0" err="1"/>
              <a:t>lableimg</a:t>
            </a:r>
            <a:r>
              <a:rPr lang="zh-CN" altLang="zh-CN" dirty="0"/>
              <a:t>进行数据标注时</a:t>
            </a:r>
            <a:r>
              <a:rPr lang="zh-CN" altLang="zh-CN" dirty="0" smtClean="0"/>
              <a:t>，可以</a:t>
            </a:r>
            <a:r>
              <a:rPr lang="zh-CN" altLang="zh-CN" dirty="0"/>
              <a:t>重新打开之前的图片进行</a:t>
            </a:r>
            <a:r>
              <a:rPr lang="zh-CN" altLang="zh-CN" dirty="0" smtClean="0"/>
              <a:t>修改</a:t>
            </a:r>
            <a:r>
              <a:rPr lang="zh-CN" altLang="en-US" dirty="0" smtClean="0"/>
              <a:t>。</a:t>
            </a:r>
            <a:endParaRPr lang="en-US" altLang="zh-CN" dirty="0" smtClean="0"/>
          </a:p>
          <a:p>
            <a:pPr marL="342900" indent="-342900">
              <a:buFont typeface="+mj-lt"/>
              <a:buAutoNum type="arabicPeriod"/>
            </a:pPr>
            <a:r>
              <a:rPr lang="en-US" altLang="zh-CN" dirty="0" err="1" smtClean="0"/>
              <a:t>JPEGImages</a:t>
            </a:r>
            <a:r>
              <a:rPr lang="zh-CN" altLang="zh-CN" dirty="0"/>
              <a:t>图像重命名时，文件名尽量不要</a:t>
            </a:r>
            <a:r>
              <a:rPr lang="zh-CN" altLang="zh-CN" dirty="0" smtClean="0"/>
              <a:t>出现</a:t>
            </a:r>
            <a:r>
              <a:rPr lang="zh-CN" altLang="en-US" dirty="0" smtClean="0"/>
              <a:t>特殊</a:t>
            </a:r>
            <a:r>
              <a:rPr lang="zh-CN" altLang="zh-CN" dirty="0" smtClean="0"/>
              <a:t>符号</a:t>
            </a:r>
            <a:r>
              <a:rPr lang="zh-CN" altLang="zh-CN" dirty="0"/>
              <a:t>与空格。</a:t>
            </a:r>
          </a:p>
          <a:p>
            <a:pPr marL="342900" lvl="0" indent="-342900">
              <a:buFont typeface="+mj-lt"/>
              <a:buAutoNum type="arabicPeriod"/>
            </a:pPr>
            <a:endParaRPr lang="zh-CN" altLang="zh-CN"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15741" y="3282863"/>
            <a:ext cx="3404747" cy="2854411"/>
          </a:xfrm>
          <a:prstGeom prst="rect">
            <a:avLst/>
          </a:prstGeom>
        </p:spPr>
      </p:pic>
    </p:spTree>
    <p:extLst>
      <p:ext uri="{BB962C8B-B14F-4D97-AF65-F5344CB8AC3E}">
        <p14:creationId xmlns:p14="http://schemas.microsoft.com/office/powerpoint/2010/main" val="2986116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图像数据标签的存储格式</a:t>
            </a:r>
            <a:endParaRPr lang="en-US" altLang="zh-CN" dirty="0" smtClean="0"/>
          </a:p>
          <a:p>
            <a:r>
              <a:rPr lang="zh-CN" altLang="en-US" dirty="0" smtClean="0"/>
              <a:t>图像数据标注工具</a:t>
            </a:r>
            <a:r>
              <a:rPr lang="en-US" altLang="zh-CN" dirty="0" err="1" smtClean="0"/>
              <a:t>Labelimg</a:t>
            </a:r>
            <a:r>
              <a:rPr lang="zh-CN" altLang="en-US" dirty="0" smtClean="0"/>
              <a:t>的使用</a:t>
            </a:r>
            <a:endParaRPr lang="en-US" altLang="zh-CN" dirty="0"/>
          </a:p>
          <a:p>
            <a:endParaRPr lang="zh-CN" altLang="en-US" dirty="0"/>
          </a:p>
        </p:txBody>
      </p:sp>
    </p:spTree>
    <p:extLst>
      <p:ext uri="{BB962C8B-B14F-4D97-AF65-F5344CB8AC3E}">
        <p14:creationId xmlns:p14="http://schemas.microsoft.com/office/powerpoint/2010/main" val="709156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175</TotalTime>
  <Words>1707</Words>
  <Application>Microsoft Office PowerPoint</Application>
  <PresentationFormat>宽屏</PresentationFormat>
  <Paragraphs>190</Paragraphs>
  <Slides>42</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42</vt:i4>
      </vt:variant>
    </vt:vector>
  </HeadingPairs>
  <TitlesOfParts>
    <vt:vector size="49" baseType="lpstr">
      <vt:lpstr>等线</vt:lpstr>
      <vt:lpstr>宋体</vt:lpstr>
      <vt:lpstr>微软雅黑</vt:lpstr>
      <vt:lpstr>Arial</vt:lpstr>
      <vt:lpstr>Calibri</vt:lpstr>
      <vt:lpstr>Ebrima</vt:lpstr>
      <vt:lpstr>主题5</vt:lpstr>
      <vt:lpstr>目标检测的准备</vt:lpstr>
      <vt:lpstr>课程目标</vt:lpstr>
      <vt:lpstr>PowerPoint 演示文稿</vt:lpstr>
      <vt:lpstr>/01</vt:lpstr>
      <vt:lpstr>实验介绍 </vt:lpstr>
      <vt:lpstr>/02</vt:lpstr>
      <vt:lpstr>实验环境</vt:lpstr>
      <vt:lpstr>/03</vt:lpstr>
      <vt:lpstr>实验步骤</vt:lpstr>
      <vt:lpstr>实验流程</vt:lpstr>
      <vt:lpstr>安装Labelimg</vt:lpstr>
      <vt:lpstr>安装Labelimg</vt:lpstr>
      <vt:lpstr>安装Labelimg</vt:lpstr>
      <vt:lpstr>安装Labelimg</vt:lpstr>
      <vt:lpstr>安装Labelimg</vt:lpstr>
      <vt:lpstr>安装Labelimg</vt:lpstr>
      <vt:lpstr>安装Labelimg</vt:lpstr>
      <vt:lpstr>安装Labelimg</vt:lpstr>
      <vt:lpstr>实验流程</vt:lpstr>
      <vt:lpstr>建立数据集文件夹</vt:lpstr>
      <vt:lpstr>建立数据集文件夹</vt:lpstr>
      <vt:lpstr>建立数据集文件夹</vt:lpstr>
      <vt:lpstr>建立数据集文件夹</vt:lpstr>
      <vt:lpstr>建立数据集文件夹</vt:lpstr>
      <vt:lpstr>建立数据集文件夹</vt:lpstr>
      <vt:lpstr>建立数据集文件夹</vt:lpstr>
      <vt:lpstr>建立数据集文件夹</vt:lpstr>
      <vt:lpstr>建立数据集文件夹</vt:lpstr>
      <vt:lpstr>实验流程</vt:lpstr>
      <vt:lpstr>Labelimg的使用</vt:lpstr>
      <vt:lpstr>Labelimg的使用</vt:lpstr>
      <vt:lpstr>Labelimg的使用</vt:lpstr>
      <vt:lpstr>Labelimg的使用</vt:lpstr>
      <vt:lpstr>Labelimg的使用</vt:lpstr>
      <vt:lpstr>Labelimg的使用</vt:lpstr>
      <vt:lpstr>Labelimg的使用</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24</cp:revision>
  <cp:lastPrinted>2018-09-20T16:00:00Z</cp:lastPrinted>
  <dcterms:created xsi:type="dcterms:W3CDTF">2022-06-27T01:42:48Z</dcterms:created>
  <dcterms:modified xsi:type="dcterms:W3CDTF">2022-12-27T09:30:51Z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