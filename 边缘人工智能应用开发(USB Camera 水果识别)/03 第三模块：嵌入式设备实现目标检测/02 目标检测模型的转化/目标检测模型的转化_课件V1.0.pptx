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258" r:id="rId2"/>
    <p:sldId id="265" r:id="rId3"/>
    <p:sldId id="262" r:id="rId4"/>
    <p:sldId id="257" r:id="rId5"/>
    <p:sldId id="260" r:id="rId6"/>
    <p:sldId id="266" r:id="rId7"/>
    <p:sldId id="270" r:id="rId8"/>
    <p:sldId id="276" r:id="rId9"/>
    <p:sldId id="267" r:id="rId10"/>
    <p:sldId id="271" r:id="rId11"/>
    <p:sldId id="275" r:id="rId12"/>
    <p:sldId id="278" r:id="rId13"/>
    <p:sldId id="280" r:id="rId14"/>
    <p:sldId id="281" r:id="rId15"/>
    <p:sldId id="282" r:id="rId16"/>
    <p:sldId id="283" r:id="rId17"/>
    <p:sldId id="284" r:id="rId18"/>
    <p:sldId id="285" r:id="rId19"/>
    <p:sldId id="286" r:id="rId20"/>
    <p:sldId id="287" r:id="rId21"/>
    <p:sldId id="296" r:id="rId22"/>
    <p:sldId id="297" r:id="rId23"/>
    <p:sldId id="298" r:id="rId24"/>
    <p:sldId id="306" r:id="rId25"/>
    <p:sldId id="307"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08" r:id="rId48"/>
    <p:sldId id="301" r:id="rId49"/>
    <p:sldId id="279" r:id="rId50"/>
    <p:sldId id="330" r:id="rId51"/>
    <p:sldId id="288" r:id="rId52"/>
    <p:sldId id="302" r:id="rId53"/>
    <p:sldId id="289" r:id="rId54"/>
    <p:sldId id="290" r:id="rId55"/>
    <p:sldId id="291" r:id="rId56"/>
    <p:sldId id="293" r:id="rId57"/>
    <p:sldId id="331" r:id="rId58"/>
    <p:sldId id="332" r:id="rId59"/>
    <p:sldId id="333" r:id="rId60"/>
    <p:sldId id="295" r:id="rId61"/>
    <p:sldId id="268" r:id="rId62"/>
    <p:sldId id="299" r:id="rId63"/>
    <p:sldId id="300" r:id="rId64"/>
    <p:sldId id="264" r:id="rId65"/>
    <p:sldId id="261" r:id="rId66"/>
  </p:sldIdLst>
  <p:sldSz cx="12192000" cy="6858000"/>
  <p:notesSz cx="6858000" cy="9144000"/>
  <p:custDataLst>
    <p:tags r:id="rId6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045" autoAdjust="0"/>
  </p:normalViewPr>
  <p:slideViewPr>
    <p:cSldViewPr snapToGrid="0" showGuides="1">
      <p:cViewPr varScale="1">
        <p:scale>
          <a:sx n="96" d="100"/>
          <a:sy n="96" d="100"/>
        </p:scale>
        <p:origin x="1092"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en-US" altLang="zh-CN" dirty="0" err="1" smtClean="0"/>
            <a:t>Pytorch</a:t>
          </a:r>
          <a:r>
            <a:rPr lang="zh-CN" altLang="en-US" dirty="0" smtClean="0"/>
            <a:t>转</a:t>
          </a:r>
          <a:r>
            <a:rPr lang="en-US" altLang="zh-CN" dirty="0" err="1" smtClean="0"/>
            <a:t>onnx</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虚拟机安装使用</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8B9CDC25-1636-446E-8332-802CA204EC39}">
      <dgm:prSet/>
      <dgm:spPr/>
      <dgm:t>
        <a:bodyPr/>
        <a:lstStyle/>
        <a:p>
          <a:r>
            <a:rPr lang="en-US" altLang="zh-CN" dirty="0" err="1" smtClean="0">
              <a:solidFill>
                <a:schemeClr val="bg1">
                  <a:lumMod val="85000"/>
                </a:schemeClr>
              </a:solidFill>
            </a:rPr>
            <a:t>onnx</a:t>
          </a:r>
          <a:r>
            <a:rPr lang="zh-CN" altLang="en-US" dirty="0" smtClean="0">
              <a:solidFill>
                <a:schemeClr val="bg1">
                  <a:lumMod val="85000"/>
                </a:schemeClr>
              </a:solidFill>
            </a:rPr>
            <a:t>转</a:t>
          </a:r>
          <a:r>
            <a:rPr lang="en-US" altLang="zh-CN" dirty="0" err="1" smtClean="0">
              <a:solidFill>
                <a:schemeClr val="bg1">
                  <a:lumMod val="85000"/>
                </a:schemeClr>
              </a:solidFill>
            </a:rPr>
            <a:t>rknn</a:t>
          </a:r>
          <a:endParaRPr lang="zh-CN" altLang="en-US" dirty="0"/>
        </a:p>
      </dgm:t>
    </dgm:pt>
    <dgm:pt modelId="{72D1C83D-944A-41BD-AAEE-1D40BD7FF6C0}" type="parTrans" cxnId="{35C37996-A20A-4E0E-82D8-7DD466A91F4D}">
      <dgm:prSet/>
      <dgm:spPr/>
      <dgm:t>
        <a:bodyPr/>
        <a:lstStyle/>
        <a:p>
          <a:endParaRPr lang="zh-CN" altLang="en-US"/>
        </a:p>
      </dgm:t>
    </dgm:pt>
    <dgm:pt modelId="{C610A82E-97CF-45D0-BFEC-934E82EDA969}" type="sibTrans" cxnId="{35C37996-A20A-4E0E-82D8-7DD466A91F4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3">
        <dgm:presLayoutVars>
          <dgm:chMax val="0"/>
          <dgm:chPref val="0"/>
          <dgm:bulletEnabled val="1"/>
        </dgm:presLayoutVars>
      </dgm:prSet>
      <dgm:spPr/>
      <dgm:t>
        <a:bodyPr/>
        <a:lstStyle/>
        <a:p>
          <a:endParaRPr lang="zh-CN" altLang="en-US"/>
        </a:p>
      </dgm:t>
    </dgm:pt>
    <dgm:pt modelId="{5F28EB89-162E-4C55-BE68-1FFECFC55206}" type="pres">
      <dgm:prSet presAssocID="{FA81CD99-4C17-4421-BECF-3D861154DBDD}" presName="parTxOnlySpace" presStyleCnt="0"/>
      <dgm:spPr/>
    </dgm:pt>
    <dgm:pt modelId="{FB6743F9-FDC1-4F52-A90E-DA8F51DE71FA}" type="pres">
      <dgm:prSet presAssocID="{8B9CDC25-1636-446E-8332-802CA204EC39}"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C7787033-9692-42DE-A1DE-BC1E15B1222B}" type="presOf" srcId="{C6C44482-D821-4FAE-BB52-29931F8BCBDE}" destId="{E2DC7CE9-31B9-4959-914F-451EA2F3687E}" srcOrd="0" destOrd="0" presId="urn:microsoft.com/office/officeart/2005/8/layout/chevron1"/>
    <dgm:cxn modelId="{80F8930D-5816-4EC5-A90F-461BE15645B6}" srcId="{314AE731-DFBF-4A5B-8171-86B7AA2F2858}" destId="{C6C44482-D821-4FAE-BB52-29931F8BCBDE}" srcOrd="1" destOrd="0" parTransId="{DE3ECBCB-59A7-4B29-8005-72F8BCC1C41D}" sibTransId="{FA81CD99-4C17-4421-BECF-3D861154DBDD}"/>
    <dgm:cxn modelId="{49C9BA12-7321-4431-AC00-E99D5CB75F63}" type="presOf" srcId="{BEAB6AAF-246B-444D-90D9-FB867EA43595}" destId="{FC4CA3E0-7A9C-47CB-88C9-7F81B89FD5AA}" srcOrd="0" destOrd="0" presId="urn:microsoft.com/office/officeart/2005/8/layout/chevron1"/>
    <dgm:cxn modelId="{8DB94DC7-836C-429B-BC18-42499EFFC39E}" type="presOf" srcId="{314AE731-DFBF-4A5B-8171-86B7AA2F2858}" destId="{5653E5CF-63C1-4886-9DFE-DC4B36C44A33}" srcOrd="0" destOrd="0" presId="urn:microsoft.com/office/officeart/2005/8/layout/chevron1"/>
    <dgm:cxn modelId="{DF64D9EA-2564-4F1A-9B8F-FDE9EB294EEC}" type="presOf" srcId="{8B9CDC25-1636-446E-8332-802CA204EC39}" destId="{FB6743F9-FDC1-4F52-A90E-DA8F51DE71FA}" srcOrd="0" destOrd="0" presId="urn:microsoft.com/office/officeart/2005/8/layout/chevron1"/>
    <dgm:cxn modelId="{35C37996-A20A-4E0E-82D8-7DD466A91F4D}" srcId="{314AE731-DFBF-4A5B-8171-86B7AA2F2858}" destId="{8B9CDC25-1636-446E-8332-802CA204EC39}" srcOrd="2" destOrd="0" parTransId="{72D1C83D-944A-41BD-AAEE-1D40BD7FF6C0}" sibTransId="{C610A82E-97CF-45D0-BFEC-934E82EDA969}"/>
    <dgm:cxn modelId="{6DDBC2C8-FF22-4C4C-A3D8-9EC66F065022}" type="presParOf" srcId="{5653E5CF-63C1-4886-9DFE-DC4B36C44A33}" destId="{FC4CA3E0-7A9C-47CB-88C9-7F81B89FD5AA}" srcOrd="0" destOrd="0" presId="urn:microsoft.com/office/officeart/2005/8/layout/chevron1"/>
    <dgm:cxn modelId="{CAD9BDAB-5448-4960-865A-3FA66FD02A47}" type="presParOf" srcId="{5653E5CF-63C1-4886-9DFE-DC4B36C44A33}" destId="{ED8D2DC7-F6B9-49A1-A3FB-6645AA0B27C9}" srcOrd="1" destOrd="0" presId="urn:microsoft.com/office/officeart/2005/8/layout/chevron1"/>
    <dgm:cxn modelId="{806F5495-EA44-4148-92B9-5A344F1D8BF5}" type="presParOf" srcId="{5653E5CF-63C1-4886-9DFE-DC4B36C44A33}" destId="{E2DC7CE9-31B9-4959-914F-451EA2F3687E}" srcOrd="2" destOrd="0" presId="urn:microsoft.com/office/officeart/2005/8/layout/chevron1"/>
    <dgm:cxn modelId="{4638C381-3CCC-43A2-941C-825BE25CADBD}" type="presParOf" srcId="{5653E5CF-63C1-4886-9DFE-DC4B36C44A33}" destId="{5F28EB89-162E-4C55-BE68-1FFECFC55206}" srcOrd="3" destOrd="0" presId="urn:microsoft.com/office/officeart/2005/8/layout/chevron1"/>
    <dgm:cxn modelId="{09636E79-C64B-420B-A38C-C52510F9328E}" type="presParOf" srcId="{5653E5CF-63C1-4886-9DFE-DC4B36C44A33}" destId="{FB6743F9-FDC1-4F52-A90E-DA8F51DE71F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en-US" altLang="zh-CN" dirty="0" err="1" smtClean="0">
              <a:solidFill>
                <a:schemeClr val="bg1">
                  <a:lumMod val="65000"/>
                </a:schemeClr>
              </a:solidFill>
            </a:rPr>
            <a:t>Pytorch</a:t>
          </a:r>
          <a:r>
            <a:rPr lang="zh-CN" altLang="en-US" dirty="0" smtClean="0">
              <a:solidFill>
                <a:schemeClr val="bg1">
                  <a:lumMod val="65000"/>
                </a:schemeClr>
              </a:solidFill>
            </a:rPr>
            <a:t>转</a:t>
          </a:r>
          <a:r>
            <a:rPr lang="en-US" altLang="zh-CN" dirty="0" err="1" smtClean="0">
              <a:solidFill>
                <a:schemeClr val="bg1">
                  <a:lumMod val="65000"/>
                </a:schemeClr>
              </a:solidFill>
            </a:rPr>
            <a:t>onnx</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tx1"/>
              </a:solidFill>
            </a:rPr>
            <a:t>虚拟机安装使用</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8B9CDC25-1636-446E-8332-802CA204EC39}">
      <dgm:prSet/>
      <dgm:spPr/>
      <dgm:t>
        <a:bodyPr/>
        <a:lstStyle/>
        <a:p>
          <a:r>
            <a:rPr lang="en-US" altLang="zh-CN" dirty="0" err="1" smtClean="0">
              <a:solidFill>
                <a:schemeClr val="bg1">
                  <a:lumMod val="85000"/>
                </a:schemeClr>
              </a:solidFill>
            </a:rPr>
            <a:t>onnx</a:t>
          </a:r>
          <a:r>
            <a:rPr lang="zh-CN" altLang="en-US" dirty="0" smtClean="0">
              <a:solidFill>
                <a:schemeClr val="bg1">
                  <a:lumMod val="85000"/>
                </a:schemeClr>
              </a:solidFill>
            </a:rPr>
            <a:t>转</a:t>
          </a:r>
          <a:r>
            <a:rPr lang="en-US" altLang="zh-CN" dirty="0" err="1" smtClean="0">
              <a:solidFill>
                <a:schemeClr val="bg1">
                  <a:lumMod val="85000"/>
                </a:schemeClr>
              </a:solidFill>
            </a:rPr>
            <a:t>rknn</a:t>
          </a:r>
          <a:endParaRPr lang="zh-CN" altLang="en-US" dirty="0"/>
        </a:p>
      </dgm:t>
    </dgm:pt>
    <dgm:pt modelId="{72D1C83D-944A-41BD-AAEE-1D40BD7FF6C0}" type="parTrans" cxnId="{35C37996-A20A-4E0E-82D8-7DD466A91F4D}">
      <dgm:prSet/>
      <dgm:spPr/>
      <dgm:t>
        <a:bodyPr/>
        <a:lstStyle/>
        <a:p>
          <a:endParaRPr lang="zh-CN" altLang="en-US"/>
        </a:p>
      </dgm:t>
    </dgm:pt>
    <dgm:pt modelId="{C610A82E-97CF-45D0-BFEC-934E82EDA969}" type="sibTrans" cxnId="{35C37996-A20A-4E0E-82D8-7DD466A91F4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3">
        <dgm:presLayoutVars>
          <dgm:chMax val="0"/>
          <dgm:chPref val="0"/>
          <dgm:bulletEnabled val="1"/>
        </dgm:presLayoutVars>
      </dgm:prSet>
      <dgm:spPr/>
      <dgm:t>
        <a:bodyPr/>
        <a:lstStyle/>
        <a:p>
          <a:endParaRPr lang="zh-CN" altLang="en-US"/>
        </a:p>
      </dgm:t>
    </dgm:pt>
    <dgm:pt modelId="{5F28EB89-162E-4C55-BE68-1FFECFC55206}" type="pres">
      <dgm:prSet presAssocID="{FA81CD99-4C17-4421-BECF-3D861154DBDD}" presName="parTxOnlySpace" presStyleCnt="0"/>
      <dgm:spPr/>
    </dgm:pt>
    <dgm:pt modelId="{FB6743F9-FDC1-4F52-A90E-DA8F51DE71FA}" type="pres">
      <dgm:prSet presAssocID="{8B9CDC25-1636-446E-8332-802CA204EC39}"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80F8930D-5816-4EC5-A90F-461BE15645B6}" srcId="{314AE731-DFBF-4A5B-8171-86B7AA2F2858}" destId="{C6C44482-D821-4FAE-BB52-29931F8BCBDE}" srcOrd="1" destOrd="0" parTransId="{DE3ECBCB-59A7-4B29-8005-72F8BCC1C41D}" sibTransId="{FA81CD99-4C17-4421-BECF-3D861154DBDD}"/>
    <dgm:cxn modelId="{A64D0F39-9448-49E9-8D05-E48F6D163FC6}" type="presOf" srcId="{314AE731-DFBF-4A5B-8171-86B7AA2F2858}" destId="{5653E5CF-63C1-4886-9DFE-DC4B36C44A33}" srcOrd="0" destOrd="0" presId="urn:microsoft.com/office/officeart/2005/8/layout/chevron1"/>
    <dgm:cxn modelId="{E3130522-A48B-481C-AD74-C9587C7B4AD0}" type="presOf" srcId="{BEAB6AAF-246B-444D-90D9-FB867EA43595}" destId="{FC4CA3E0-7A9C-47CB-88C9-7F81B89FD5AA}" srcOrd="0" destOrd="0" presId="urn:microsoft.com/office/officeart/2005/8/layout/chevron1"/>
    <dgm:cxn modelId="{B656ACBC-E6DB-441E-BA33-596AABCDB6DC}" type="presOf" srcId="{8B9CDC25-1636-446E-8332-802CA204EC39}" destId="{FB6743F9-FDC1-4F52-A90E-DA8F51DE71FA}" srcOrd="0" destOrd="0" presId="urn:microsoft.com/office/officeart/2005/8/layout/chevron1"/>
    <dgm:cxn modelId="{D86DDD56-AD14-4FFD-87AC-CF19A9C6C92E}" type="presOf" srcId="{C6C44482-D821-4FAE-BB52-29931F8BCBDE}" destId="{E2DC7CE9-31B9-4959-914F-451EA2F3687E}" srcOrd="0" destOrd="0" presId="urn:microsoft.com/office/officeart/2005/8/layout/chevron1"/>
    <dgm:cxn modelId="{35C37996-A20A-4E0E-82D8-7DD466A91F4D}" srcId="{314AE731-DFBF-4A5B-8171-86B7AA2F2858}" destId="{8B9CDC25-1636-446E-8332-802CA204EC39}" srcOrd="2" destOrd="0" parTransId="{72D1C83D-944A-41BD-AAEE-1D40BD7FF6C0}" sibTransId="{C610A82E-97CF-45D0-BFEC-934E82EDA969}"/>
    <dgm:cxn modelId="{45EED3F9-09AF-4707-8EEA-78F5B8653D8C}" type="presParOf" srcId="{5653E5CF-63C1-4886-9DFE-DC4B36C44A33}" destId="{FC4CA3E0-7A9C-47CB-88C9-7F81B89FD5AA}" srcOrd="0" destOrd="0" presId="urn:microsoft.com/office/officeart/2005/8/layout/chevron1"/>
    <dgm:cxn modelId="{3244633F-1939-4527-951F-527F92D877B5}" type="presParOf" srcId="{5653E5CF-63C1-4886-9DFE-DC4B36C44A33}" destId="{ED8D2DC7-F6B9-49A1-A3FB-6645AA0B27C9}" srcOrd="1" destOrd="0" presId="urn:microsoft.com/office/officeart/2005/8/layout/chevron1"/>
    <dgm:cxn modelId="{A2AC4FF3-C9F1-4DB6-AF7D-A2CEEFF6744D}" type="presParOf" srcId="{5653E5CF-63C1-4886-9DFE-DC4B36C44A33}" destId="{E2DC7CE9-31B9-4959-914F-451EA2F3687E}" srcOrd="2" destOrd="0" presId="urn:microsoft.com/office/officeart/2005/8/layout/chevron1"/>
    <dgm:cxn modelId="{EDEB20F2-C1CA-4F8B-B496-B8A7682C9CA5}" type="presParOf" srcId="{5653E5CF-63C1-4886-9DFE-DC4B36C44A33}" destId="{5F28EB89-162E-4C55-BE68-1FFECFC55206}" srcOrd="3" destOrd="0" presId="urn:microsoft.com/office/officeart/2005/8/layout/chevron1"/>
    <dgm:cxn modelId="{B94D4F43-A544-4614-B92D-662412FDFE2F}" type="presParOf" srcId="{5653E5CF-63C1-4886-9DFE-DC4B36C44A33}" destId="{FB6743F9-FDC1-4F52-A90E-DA8F51DE71F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en-US" altLang="zh-CN" dirty="0" err="1" smtClean="0">
              <a:solidFill>
                <a:schemeClr val="bg1">
                  <a:lumMod val="65000"/>
                </a:schemeClr>
              </a:solidFill>
            </a:rPr>
            <a:t>Pytorch</a:t>
          </a:r>
          <a:r>
            <a:rPr lang="zh-CN" altLang="en-US" dirty="0" smtClean="0">
              <a:solidFill>
                <a:schemeClr val="bg1">
                  <a:lumMod val="65000"/>
                </a:schemeClr>
              </a:solidFill>
            </a:rPr>
            <a:t>转</a:t>
          </a:r>
          <a:r>
            <a:rPr lang="en-US" altLang="zh-CN" dirty="0" err="1" smtClean="0">
              <a:solidFill>
                <a:schemeClr val="bg1">
                  <a:lumMod val="65000"/>
                </a:schemeClr>
              </a:solidFill>
            </a:rPr>
            <a:t>onnx</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65000"/>
                </a:schemeClr>
              </a:solidFill>
            </a:rPr>
            <a:t>虚拟机安装使用</a:t>
          </a:r>
          <a:endParaRPr lang="zh-CN" altLang="en-US" dirty="0">
            <a:solidFill>
              <a:schemeClr val="bg1">
                <a:lumMod val="6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8B9CDC25-1636-446E-8332-802CA204EC39}">
      <dgm:prSet/>
      <dgm:spPr/>
      <dgm:t>
        <a:bodyPr/>
        <a:lstStyle/>
        <a:p>
          <a:r>
            <a:rPr lang="en-US" altLang="zh-CN" dirty="0" err="1" smtClean="0">
              <a:solidFill>
                <a:schemeClr val="tx1"/>
              </a:solidFill>
            </a:rPr>
            <a:t>onnx</a:t>
          </a:r>
          <a:r>
            <a:rPr lang="zh-CN" altLang="en-US" dirty="0" smtClean="0">
              <a:solidFill>
                <a:schemeClr val="tx1"/>
              </a:solidFill>
            </a:rPr>
            <a:t>转</a:t>
          </a:r>
          <a:r>
            <a:rPr lang="en-US" altLang="zh-CN" dirty="0" err="1" smtClean="0">
              <a:solidFill>
                <a:schemeClr val="tx1"/>
              </a:solidFill>
            </a:rPr>
            <a:t>rknn</a:t>
          </a:r>
          <a:endParaRPr lang="zh-CN" altLang="en-US" dirty="0">
            <a:solidFill>
              <a:schemeClr val="tx1"/>
            </a:solidFill>
          </a:endParaRPr>
        </a:p>
      </dgm:t>
    </dgm:pt>
    <dgm:pt modelId="{72D1C83D-944A-41BD-AAEE-1D40BD7FF6C0}" type="parTrans" cxnId="{35C37996-A20A-4E0E-82D8-7DD466A91F4D}">
      <dgm:prSet/>
      <dgm:spPr/>
      <dgm:t>
        <a:bodyPr/>
        <a:lstStyle/>
        <a:p>
          <a:endParaRPr lang="zh-CN" altLang="en-US"/>
        </a:p>
      </dgm:t>
    </dgm:pt>
    <dgm:pt modelId="{C610A82E-97CF-45D0-BFEC-934E82EDA969}" type="sibTrans" cxnId="{35C37996-A20A-4E0E-82D8-7DD466A91F4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3">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3">
        <dgm:presLayoutVars>
          <dgm:chMax val="0"/>
          <dgm:chPref val="0"/>
          <dgm:bulletEnabled val="1"/>
        </dgm:presLayoutVars>
      </dgm:prSet>
      <dgm:spPr/>
      <dgm:t>
        <a:bodyPr/>
        <a:lstStyle/>
        <a:p>
          <a:endParaRPr lang="zh-CN" altLang="en-US"/>
        </a:p>
      </dgm:t>
    </dgm:pt>
    <dgm:pt modelId="{5F28EB89-162E-4C55-BE68-1FFECFC55206}" type="pres">
      <dgm:prSet presAssocID="{FA81CD99-4C17-4421-BECF-3D861154DBDD}" presName="parTxOnlySpace" presStyleCnt="0"/>
      <dgm:spPr/>
    </dgm:pt>
    <dgm:pt modelId="{FB6743F9-FDC1-4F52-A90E-DA8F51DE71FA}" type="pres">
      <dgm:prSet presAssocID="{8B9CDC25-1636-446E-8332-802CA204EC39}" presName="parTxOnly" presStyleLbl="node1" presStyleIdx="2" presStyleCnt="3">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80F8930D-5816-4EC5-A90F-461BE15645B6}" srcId="{314AE731-DFBF-4A5B-8171-86B7AA2F2858}" destId="{C6C44482-D821-4FAE-BB52-29931F8BCBDE}" srcOrd="1" destOrd="0" parTransId="{DE3ECBCB-59A7-4B29-8005-72F8BCC1C41D}" sibTransId="{FA81CD99-4C17-4421-BECF-3D861154DBDD}"/>
    <dgm:cxn modelId="{B7AFB9EC-5CE4-432A-9185-BE73722A6FD5}" type="presOf" srcId="{C6C44482-D821-4FAE-BB52-29931F8BCBDE}" destId="{E2DC7CE9-31B9-4959-914F-451EA2F3687E}" srcOrd="0" destOrd="0" presId="urn:microsoft.com/office/officeart/2005/8/layout/chevron1"/>
    <dgm:cxn modelId="{A06A8C57-2009-4B2F-8846-5E7338E9D810}" type="presOf" srcId="{BEAB6AAF-246B-444D-90D9-FB867EA43595}" destId="{FC4CA3E0-7A9C-47CB-88C9-7F81B89FD5AA}" srcOrd="0" destOrd="0" presId="urn:microsoft.com/office/officeart/2005/8/layout/chevron1"/>
    <dgm:cxn modelId="{6C29199A-1D4E-4ACE-8754-B9449C1652A7}" type="presOf" srcId="{8B9CDC25-1636-446E-8332-802CA204EC39}" destId="{FB6743F9-FDC1-4F52-A90E-DA8F51DE71FA}" srcOrd="0" destOrd="0" presId="urn:microsoft.com/office/officeart/2005/8/layout/chevron1"/>
    <dgm:cxn modelId="{1E2AC63D-A74D-4C1A-B670-7610DC2F0DC9}" type="presOf" srcId="{314AE731-DFBF-4A5B-8171-86B7AA2F2858}" destId="{5653E5CF-63C1-4886-9DFE-DC4B36C44A33}" srcOrd="0" destOrd="0" presId="urn:microsoft.com/office/officeart/2005/8/layout/chevron1"/>
    <dgm:cxn modelId="{35C37996-A20A-4E0E-82D8-7DD466A91F4D}" srcId="{314AE731-DFBF-4A5B-8171-86B7AA2F2858}" destId="{8B9CDC25-1636-446E-8332-802CA204EC39}" srcOrd="2" destOrd="0" parTransId="{72D1C83D-944A-41BD-AAEE-1D40BD7FF6C0}" sibTransId="{C610A82E-97CF-45D0-BFEC-934E82EDA969}"/>
    <dgm:cxn modelId="{951E4B63-11D1-4326-874E-4FD3309323D2}" type="presParOf" srcId="{5653E5CF-63C1-4886-9DFE-DC4B36C44A33}" destId="{FC4CA3E0-7A9C-47CB-88C9-7F81B89FD5AA}" srcOrd="0" destOrd="0" presId="urn:microsoft.com/office/officeart/2005/8/layout/chevron1"/>
    <dgm:cxn modelId="{DDE11EEC-E956-4E09-8F62-9056C54CB931}" type="presParOf" srcId="{5653E5CF-63C1-4886-9DFE-DC4B36C44A33}" destId="{ED8D2DC7-F6B9-49A1-A3FB-6645AA0B27C9}" srcOrd="1" destOrd="0" presId="urn:microsoft.com/office/officeart/2005/8/layout/chevron1"/>
    <dgm:cxn modelId="{5D004AA1-8CA2-41EB-8240-11EC508B5FEF}" type="presParOf" srcId="{5653E5CF-63C1-4886-9DFE-DC4B36C44A33}" destId="{E2DC7CE9-31B9-4959-914F-451EA2F3687E}" srcOrd="2" destOrd="0" presId="urn:microsoft.com/office/officeart/2005/8/layout/chevron1"/>
    <dgm:cxn modelId="{193445F9-4BE3-442A-8DDF-30E05B97BFCD}" type="presParOf" srcId="{5653E5CF-63C1-4886-9DFE-DC4B36C44A33}" destId="{5F28EB89-162E-4C55-BE68-1FFECFC55206}" srcOrd="3" destOrd="0" presId="urn:microsoft.com/office/officeart/2005/8/layout/chevron1"/>
    <dgm:cxn modelId="{218DF79F-5C80-4DBD-B938-937A86272D0C}" type="presParOf" srcId="{5653E5CF-63C1-4886-9DFE-DC4B36C44A33}" destId="{FB6743F9-FDC1-4F52-A90E-DA8F51DE71FA}" srcOrd="4"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简单描述一下官方介绍，开放神经网络交换（</a:t>
            </a:r>
            <a:r>
              <a:rPr lang="en-US" altLang="zh-CN" sz="1200" b="0" i="0" kern="1200" dirty="0" smtClean="0">
                <a:solidFill>
                  <a:schemeClr val="tx1"/>
                </a:solidFill>
                <a:effectLst/>
                <a:latin typeface="+mn-lt"/>
                <a:ea typeface="+mn-ea"/>
                <a:cs typeface="+mn-cs"/>
              </a:rPr>
              <a:t>Open Neural Network Exchange</a:t>
            </a:r>
            <a:r>
              <a:rPr lang="zh-CN" altLang="en-US" sz="1200" b="0" i="0" kern="1200" dirty="0" smtClean="0">
                <a:solidFill>
                  <a:schemeClr val="tx1"/>
                </a:solidFill>
                <a:effectLst/>
                <a:latin typeface="+mn-lt"/>
                <a:ea typeface="+mn-ea"/>
                <a:cs typeface="+mn-cs"/>
              </a:rPr>
              <a:t>）简称</a:t>
            </a:r>
            <a:r>
              <a:rPr lang="en-US" altLang="zh-CN" sz="1200" b="0" i="0" kern="1200" dirty="0" smtClean="0">
                <a:solidFill>
                  <a:schemeClr val="tx1"/>
                </a:solidFill>
                <a:effectLst/>
                <a:latin typeface="+mn-lt"/>
                <a:ea typeface="+mn-ea"/>
                <a:cs typeface="+mn-cs"/>
              </a:rPr>
              <a:t>ONNX</a:t>
            </a:r>
            <a:r>
              <a:rPr lang="zh-CN" altLang="en-US" sz="1200" b="0" i="0" kern="1200" dirty="0" smtClean="0">
                <a:solidFill>
                  <a:schemeClr val="tx1"/>
                </a:solidFill>
                <a:effectLst/>
                <a:latin typeface="+mn-lt"/>
                <a:ea typeface="+mn-ea"/>
                <a:cs typeface="+mn-cs"/>
              </a:rPr>
              <a:t>是微软和</a:t>
            </a:r>
            <a:r>
              <a:rPr lang="en-US" altLang="zh-CN" sz="1200" b="0" i="0" kern="1200" dirty="0" smtClean="0">
                <a:solidFill>
                  <a:schemeClr val="tx1"/>
                </a:solidFill>
                <a:effectLst/>
                <a:latin typeface="+mn-lt"/>
                <a:ea typeface="+mn-ea"/>
                <a:cs typeface="+mn-cs"/>
              </a:rPr>
              <a:t>Facebook</a:t>
            </a:r>
            <a:r>
              <a:rPr lang="zh-CN" altLang="en-US" sz="1200" b="0" i="0" kern="1200" dirty="0" smtClean="0">
                <a:solidFill>
                  <a:schemeClr val="tx1"/>
                </a:solidFill>
                <a:effectLst/>
                <a:latin typeface="+mn-lt"/>
                <a:ea typeface="+mn-ea"/>
                <a:cs typeface="+mn-cs"/>
              </a:rPr>
              <a:t>提出用来表示深度学习模型的</a:t>
            </a:r>
            <a:r>
              <a:rPr lang="zh-CN" altLang="en-US" sz="1200" b="1" i="0" kern="1200" dirty="0" smtClean="0">
                <a:solidFill>
                  <a:schemeClr val="tx1"/>
                </a:solidFill>
                <a:effectLst/>
                <a:latin typeface="+mn-lt"/>
                <a:ea typeface="+mn-ea"/>
                <a:cs typeface="+mn-cs"/>
              </a:rPr>
              <a:t>开放</a:t>
            </a:r>
            <a:r>
              <a:rPr lang="zh-CN" altLang="en-US" sz="1200" b="0" i="0" kern="1200" dirty="0" smtClean="0">
                <a:solidFill>
                  <a:schemeClr val="tx1"/>
                </a:solidFill>
                <a:effectLst/>
                <a:latin typeface="+mn-lt"/>
                <a:ea typeface="+mn-ea"/>
                <a:cs typeface="+mn-cs"/>
              </a:rPr>
              <a:t>格式。所谓开放就是</a:t>
            </a:r>
            <a:r>
              <a:rPr lang="en-US" altLang="zh-CN" sz="1200" b="0" i="0" kern="1200" dirty="0" smtClean="0">
                <a:solidFill>
                  <a:schemeClr val="tx1"/>
                </a:solidFill>
                <a:effectLst/>
                <a:latin typeface="+mn-lt"/>
                <a:ea typeface="+mn-ea"/>
                <a:cs typeface="+mn-cs"/>
              </a:rPr>
              <a:t>ONNX</a:t>
            </a:r>
            <a:r>
              <a:rPr lang="zh-CN" altLang="en-US" sz="1200" b="0" i="0" kern="1200" dirty="0" smtClean="0">
                <a:solidFill>
                  <a:schemeClr val="tx1"/>
                </a:solidFill>
                <a:effectLst/>
                <a:latin typeface="+mn-lt"/>
                <a:ea typeface="+mn-ea"/>
                <a:cs typeface="+mn-cs"/>
              </a:rPr>
              <a:t>定义了一组和环境，平台均无关的标准格式，来增强各种</a:t>
            </a:r>
            <a:r>
              <a:rPr lang="en-US" altLang="zh-CN" sz="1200" b="0" i="0" kern="1200" dirty="0" smtClean="0">
                <a:solidFill>
                  <a:schemeClr val="tx1"/>
                </a:solidFill>
                <a:effectLst/>
                <a:latin typeface="+mn-lt"/>
                <a:ea typeface="+mn-ea"/>
                <a:cs typeface="+mn-cs"/>
              </a:rPr>
              <a:t>AI</a:t>
            </a:r>
            <a:r>
              <a:rPr lang="zh-CN" altLang="en-US" sz="1200" b="0" i="0" kern="1200" dirty="0" smtClean="0">
                <a:solidFill>
                  <a:schemeClr val="tx1"/>
                </a:solidFill>
                <a:effectLst/>
                <a:latin typeface="+mn-lt"/>
                <a:ea typeface="+mn-ea"/>
                <a:cs typeface="+mn-cs"/>
              </a:rPr>
              <a:t>模型的可交互性。</a:t>
            </a:r>
          </a:p>
          <a:p>
            <a:r>
              <a:rPr lang="zh-CN" altLang="en-US" sz="1200" b="0" i="0" kern="1200" dirty="0" smtClean="0">
                <a:solidFill>
                  <a:schemeClr val="tx1"/>
                </a:solidFill>
                <a:effectLst/>
                <a:latin typeface="+mn-lt"/>
                <a:ea typeface="+mn-ea"/>
                <a:cs typeface="+mn-cs"/>
              </a:rPr>
              <a:t>换句话说，无论你使用何种训练框架训练模型（比如</a:t>
            </a:r>
            <a:r>
              <a:rPr lang="en-US" altLang="zh-CN" sz="1200" b="0" i="0" kern="1200" dirty="0" err="1" smtClean="0">
                <a:solidFill>
                  <a:schemeClr val="tx1"/>
                </a:solidFill>
                <a:effectLst/>
                <a:latin typeface="+mn-lt"/>
                <a:ea typeface="+mn-ea"/>
                <a:cs typeface="+mn-cs"/>
              </a:rPr>
              <a:t>TensorFlow</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Pytorch</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OneFlow</a:t>
            </a:r>
            <a:r>
              <a:rPr lang="en-US" altLang="zh-CN" sz="1200" b="0" i="0" kern="1200" dirty="0" smtClean="0">
                <a:solidFill>
                  <a:schemeClr val="tx1"/>
                </a:solidFill>
                <a:effectLst/>
                <a:latin typeface="+mn-lt"/>
                <a:ea typeface="+mn-ea"/>
                <a:cs typeface="+mn-cs"/>
              </a:rPr>
              <a:t>/Paddle</a:t>
            </a:r>
            <a:r>
              <a:rPr lang="zh-CN" altLang="en-US" sz="1200" b="0" i="0" kern="1200" dirty="0" smtClean="0">
                <a:solidFill>
                  <a:schemeClr val="tx1"/>
                </a:solidFill>
                <a:effectLst/>
                <a:latin typeface="+mn-lt"/>
                <a:ea typeface="+mn-ea"/>
                <a:cs typeface="+mn-cs"/>
              </a:rPr>
              <a:t>），在训练完毕后你都可以将这些框架的模型统一转换为</a:t>
            </a:r>
            <a:r>
              <a:rPr lang="en-US" altLang="zh-CN" sz="1200" b="0" i="0" kern="1200" dirty="0" smtClean="0">
                <a:solidFill>
                  <a:schemeClr val="tx1"/>
                </a:solidFill>
                <a:effectLst/>
                <a:latin typeface="+mn-lt"/>
                <a:ea typeface="+mn-ea"/>
                <a:cs typeface="+mn-cs"/>
              </a:rPr>
              <a:t>ONNX</a:t>
            </a:r>
            <a:r>
              <a:rPr lang="zh-CN" altLang="en-US" sz="1200" b="0" i="0" kern="1200" dirty="0" smtClean="0">
                <a:solidFill>
                  <a:schemeClr val="tx1"/>
                </a:solidFill>
                <a:effectLst/>
                <a:latin typeface="+mn-lt"/>
                <a:ea typeface="+mn-ea"/>
                <a:cs typeface="+mn-cs"/>
              </a:rPr>
              <a:t>这种统一的格式进行存储。注意</a:t>
            </a:r>
            <a:r>
              <a:rPr lang="en-US" altLang="zh-CN" sz="1200" b="0" i="0" kern="1200" dirty="0" smtClean="0">
                <a:solidFill>
                  <a:schemeClr val="tx1"/>
                </a:solidFill>
                <a:effectLst/>
                <a:latin typeface="+mn-lt"/>
                <a:ea typeface="+mn-ea"/>
                <a:cs typeface="+mn-cs"/>
              </a:rPr>
              <a:t>ONNX</a:t>
            </a:r>
            <a:r>
              <a:rPr lang="zh-CN" altLang="en-US" sz="1200" b="0" i="0" kern="1200" dirty="0" smtClean="0">
                <a:solidFill>
                  <a:schemeClr val="tx1"/>
                </a:solidFill>
                <a:effectLst/>
                <a:latin typeface="+mn-lt"/>
                <a:ea typeface="+mn-ea"/>
                <a:cs typeface="+mn-cs"/>
              </a:rPr>
              <a:t>文件不仅仅存储了神经网络模型的权重，同时也存储了模型的结构信息以及网络中每一层的输入输出和一些其它的辅助信息。</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66460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04373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b="1" kern="1200" dirty="0" smtClean="0">
                <a:solidFill>
                  <a:schemeClr val="tx1"/>
                </a:solidFill>
                <a:effectLst/>
                <a:latin typeface="+mn-lt"/>
                <a:ea typeface="+mn-ea"/>
                <a:cs typeface="+mn-cs"/>
              </a:rPr>
              <a:t>同样地，如果选择使用</a:t>
            </a:r>
            <a:r>
              <a:rPr lang="en-US" altLang="zh-CN" sz="1200" b="1" kern="1200" dirty="0" smtClean="0">
                <a:solidFill>
                  <a:schemeClr val="tx1"/>
                </a:solidFill>
                <a:effectLst/>
                <a:latin typeface="+mn-lt"/>
                <a:ea typeface="+mn-ea"/>
                <a:cs typeface="+mn-cs"/>
              </a:rPr>
              <a:t>CPU</a:t>
            </a:r>
            <a:r>
              <a:rPr lang="zh-CN" altLang="zh-CN" sz="1200" b="1" kern="1200" dirty="0" smtClean="0">
                <a:solidFill>
                  <a:schemeClr val="tx1"/>
                </a:solidFill>
                <a:effectLst/>
                <a:latin typeface="+mn-lt"/>
                <a:ea typeface="+mn-ea"/>
                <a:cs typeface="+mn-cs"/>
              </a:rPr>
              <a:t>进行实验，先前安装的</a:t>
            </a:r>
            <a:r>
              <a:rPr lang="en-US" altLang="zh-CN" sz="1200" b="1" kern="1200" dirty="0" err="1" smtClean="0">
                <a:solidFill>
                  <a:schemeClr val="tx1"/>
                </a:solidFill>
                <a:effectLst/>
                <a:latin typeface="+mn-lt"/>
                <a:ea typeface="+mn-ea"/>
                <a:cs typeface="+mn-cs"/>
              </a:rPr>
              <a:t>pytorch</a:t>
            </a:r>
            <a:r>
              <a:rPr lang="zh-CN" altLang="zh-CN" sz="1200" b="1" kern="1200" dirty="0" smtClean="0">
                <a:solidFill>
                  <a:schemeClr val="tx1"/>
                </a:solidFill>
                <a:effectLst/>
                <a:latin typeface="+mn-lt"/>
                <a:ea typeface="+mn-ea"/>
                <a:cs typeface="+mn-cs"/>
              </a:rPr>
              <a:t>为</a:t>
            </a:r>
            <a:r>
              <a:rPr lang="en-US" altLang="zh-CN" sz="1200" b="1" kern="1200" dirty="0" smtClean="0">
                <a:solidFill>
                  <a:schemeClr val="tx1"/>
                </a:solidFill>
                <a:effectLst/>
                <a:latin typeface="+mn-lt"/>
                <a:ea typeface="+mn-ea"/>
                <a:cs typeface="+mn-cs"/>
              </a:rPr>
              <a:t>CPU</a:t>
            </a:r>
            <a:r>
              <a:rPr lang="zh-CN" altLang="zh-CN" sz="1200" b="1" kern="1200" dirty="0" smtClean="0">
                <a:solidFill>
                  <a:schemeClr val="tx1"/>
                </a:solidFill>
                <a:effectLst/>
                <a:latin typeface="+mn-lt"/>
                <a:ea typeface="+mn-ea"/>
                <a:cs typeface="+mn-cs"/>
              </a:rPr>
              <a:t>版本，</a:t>
            </a:r>
            <a:r>
              <a:rPr lang="en-US" altLang="zh-CN" sz="1200" b="1" kern="1200" dirty="0" smtClean="0">
                <a:solidFill>
                  <a:schemeClr val="tx1"/>
                </a:solidFill>
                <a:effectLst/>
                <a:latin typeface="+mn-lt"/>
                <a:ea typeface="+mn-ea"/>
                <a:cs typeface="+mn-cs"/>
              </a:rPr>
              <a:t>yolo.py</a:t>
            </a:r>
            <a:r>
              <a:rPr lang="zh-CN" altLang="zh-CN" sz="1200" b="1" kern="1200" dirty="0" smtClean="0">
                <a:solidFill>
                  <a:schemeClr val="tx1"/>
                </a:solidFill>
                <a:effectLst/>
                <a:latin typeface="+mn-lt"/>
                <a:ea typeface="+mn-ea"/>
                <a:cs typeface="+mn-cs"/>
              </a:rPr>
              <a:t>中应设置为</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cuda</a:t>
            </a:r>
            <a:r>
              <a:rPr lang="en-US" altLang="zh-CN" sz="1200" b="1" kern="1200" dirty="0" smtClean="0">
                <a:solidFill>
                  <a:schemeClr val="tx1"/>
                </a:solidFill>
                <a:effectLst/>
                <a:latin typeface="+mn-lt"/>
                <a:ea typeface="+mn-ea"/>
                <a:cs typeface="+mn-cs"/>
              </a:rPr>
              <a:t>":False</a:t>
            </a:r>
            <a:r>
              <a:rPr lang="zh-CN" altLang="zh-CN" sz="1200" b="1"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32558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77685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1668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图为自己训练的</a:t>
            </a:r>
            <a:r>
              <a:rPr lang="en-US" altLang="zh-CN" dirty="0" smtClean="0"/>
              <a:t>yolov4</a:t>
            </a:r>
            <a:r>
              <a:rPr lang="zh-CN" altLang="en-US" dirty="0" smtClean="0"/>
              <a:t>模型结构，原图应该为从上至下的长图。</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8138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18047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1" dirty="0" smtClean="0"/>
              <a:t>注：若虚拟机空间不足，可以删除除了</a:t>
            </a:r>
            <a:r>
              <a:rPr lang="en-US" altLang="zh-CN" b="1" dirty="0" smtClean="0"/>
              <a:t>rknn_toolkit-1.7.1-cp36-cp36m-linux_x86_64.whl</a:t>
            </a:r>
            <a:r>
              <a:rPr lang="zh-CN" altLang="zh-CN" b="1" dirty="0" smtClean="0"/>
              <a:t>的其他</a:t>
            </a:r>
            <a:r>
              <a:rPr lang="en-US" altLang="zh-CN" b="1" dirty="0" err="1" smtClean="0"/>
              <a:t>whl</a:t>
            </a:r>
            <a:r>
              <a:rPr lang="zh-CN" altLang="zh-CN" b="1" dirty="0" smtClean="0"/>
              <a:t>删除后再拷贝至虚拟机，本实验仅使用该安装包。</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12717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注意以下</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点：</a:t>
            </a:r>
          </a:p>
          <a:p>
            <a:pPr lvl="0"/>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终端路径是安装包的</a:t>
            </a:r>
            <a:r>
              <a:rPr lang="en-US" altLang="zh-CN" sz="1200" kern="1200" dirty="0" smtClean="0">
                <a:solidFill>
                  <a:schemeClr val="tx1"/>
                </a:solidFill>
                <a:effectLst/>
                <a:latin typeface="+mn-lt"/>
                <a:ea typeface="+mn-ea"/>
                <a:cs typeface="+mn-cs"/>
              </a:rPr>
              <a:t>package</a:t>
            </a:r>
            <a:r>
              <a:rPr lang="zh-CN" altLang="zh-CN" sz="1200" kern="1200" dirty="0" smtClean="0">
                <a:solidFill>
                  <a:schemeClr val="tx1"/>
                </a:solidFill>
                <a:effectLst/>
                <a:latin typeface="+mn-lt"/>
                <a:ea typeface="+mn-ea"/>
                <a:cs typeface="+mn-cs"/>
              </a:rPr>
              <a:t>文件夹；</a:t>
            </a:r>
          </a:p>
          <a:p>
            <a:pPr lvl="0"/>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虚拟环境是刚才新建的虚拟环境</a:t>
            </a:r>
            <a:r>
              <a:rPr lang="en-US" altLang="zh-CN" sz="1200" kern="1200" dirty="0" smtClean="0">
                <a:solidFill>
                  <a:schemeClr val="tx1"/>
                </a:solidFill>
                <a:effectLst/>
                <a:latin typeface="+mn-lt"/>
                <a:ea typeface="+mn-ea"/>
                <a:cs typeface="+mn-cs"/>
              </a:rPr>
              <a:t>2</a:t>
            </a:r>
            <a:endParaRPr lang="zh-CN" altLang="zh-CN" sz="1200" kern="1200" dirty="0" smtClean="0">
              <a:solidFill>
                <a:schemeClr val="tx1"/>
              </a:solidFill>
              <a:effectLst/>
              <a:latin typeface="+mn-lt"/>
              <a:ea typeface="+mn-ea"/>
              <a:cs typeface="+mn-cs"/>
            </a:endParaRPr>
          </a:p>
          <a:p>
            <a:pPr lvl="0"/>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安装指令，根据自身配置选择</a:t>
            </a:r>
            <a:r>
              <a:rPr lang="en-US" altLang="zh-CN" sz="1200" kern="1200" dirty="0" err="1" smtClean="0">
                <a:solidFill>
                  <a:schemeClr val="tx1"/>
                </a:solidFill>
                <a:effectLst/>
                <a:latin typeface="+mn-lt"/>
                <a:ea typeface="+mn-ea"/>
                <a:cs typeface="+mn-cs"/>
              </a:rPr>
              <a:t>gpu</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版本</a:t>
            </a:r>
          </a:p>
          <a:p>
            <a:r>
              <a:rPr lang="zh-CN" altLang="zh-CN" sz="1200" kern="1200" dirty="0" smtClean="0">
                <a:solidFill>
                  <a:schemeClr val="tx1"/>
                </a:solidFill>
                <a:effectLst/>
                <a:latin typeface="+mn-lt"/>
                <a:ea typeface="+mn-ea"/>
                <a:cs typeface="+mn-cs"/>
              </a:rPr>
              <a:t>安装比较慢，请耐心等待。</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144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b="1" kern="1200" dirty="0" smtClean="0">
                <a:solidFill>
                  <a:schemeClr val="tx1"/>
                </a:solidFill>
                <a:effectLst/>
                <a:latin typeface="+mn-lt"/>
                <a:ea typeface="+mn-ea"/>
                <a:cs typeface="+mn-cs"/>
              </a:rPr>
              <a:t>注：若虚拟机空间不足，可以只拷贝项目文件夹中的</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model_data</a:t>
            </a:r>
            <a:r>
              <a:rPr lang="en-US" altLang="zh-CN" sz="1200" b="1" kern="1200" dirty="0" smtClean="0">
                <a:solidFill>
                  <a:schemeClr val="tx1"/>
                </a:solidFill>
                <a:effectLst/>
                <a:latin typeface="+mn-lt"/>
                <a:ea typeface="+mn-ea"/>
                <a:cs typeface="+mn-cs"/>
              </a:rPr>
              <a:t>”</a:t>
            </a:r>
            <a:r>
              <a:rPr lang="zh-CN" altLang="zh-CN" sz="1200" b="1" kern="1200" dirty="0" smtClean="0">
                <a:solidFill>
                  <a:schemeClr val="tx1"/>
                </a:solidFill>
                <a:effectLst/>
                <a:latin typeface="+mn-lt"/>
                <a:ea typeface="+mn-ea"/>
                <a:cs typeface="+mn-cs"/>
              </a:rPr>
              <a:t>文件夹（该文件夹存放</a:t>
            </a:r>
            <a:r>
              <a:rPr lang="en-US" altLang="zh-CN" sz="1200" b="1" kern="1200" dirty="0" err="1" smtClean="0">
                <a:solidFill>
                  <a:schemeClr val="tx1"/>
                </a:solidFill>
                <a:effectLst/>
                <a:latin typeface="+mn-lt"/>
                <a:ea typeface="+mn-ea"/>
                <a:cs typeface="+mn-cs"/>
              </a:rPr>
              <a:t>onnx</a:t>
            </a:r>
            <a:r>
              <a:rPr lang="zh-CN" altLang="zh-CN" sz="1200" b="1" kern="1200" dirty="0" smtClean="0">
                <a:solidFill>
                  <a:schemeClr val="tx1"/>
                </a:solidFill>
                <a:effectLst/>
                <a:latin typeface="+mn-lt"/>
                <a:ea typeface="+mn-ea"/>
                <a:cs typeface="+mn-cs"/>
              </a:rPr>
              <a:t>模型），</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VOCdevkit</a:t>
            </a:r>
            <a:r>
              <a:rPr lang="en-US" altLang="zh-CN" sz="1200" b="1" kern="1200" dirty="0" smtClean="0">
                <a:solidFill>
                  <a:schemeClr val="tx1"/>
                </a:solidFill>
                <a:effectLst/>
                <a:latin typeface="+mn-lt"/>
                <a:ea typeface="+mn-ea"/>
                <a:cs typeface="+mn-cs"/>
              </a:rPr>
              <a:t>”</a:t>
            </a:r>
            <a:r>
              <a:rPr lang="zh-CN" altLang="zh-CN" sz="1200" b="1" kern="1200" dirty="0" smtClean="0">
                <a:solidFill>
                  <a:schemeClr val="tx1"/>
                </a:solidFill>
                <a:effectLst/>
                <a:latin typeface="+mn-lt"/>
                <a:ea typeface="+mn-ea"/>
                <a:cs typeface="+mn-cs"/>
              </a:rPr>
              <a:t>文件夹（包含图片及标注），</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rknn_convert_tools</a:t>
            </a:r>
            <a:r>
              <a:rPr lang="en-US" altLang="zh-CN" sz="1200" b="1" kern="1200" dirty="0" smtClean="0">
                <a:solidFill>
                  <a:schemeClr val="tx1"/>
                </a:solidFill>
                <a:effectLst/>
                <a:latin typeface="+mn-lt"/>
                <a:ea typeface="+mn-ea"/>
                <a:cs typeface="+mn-cs"/>
              </a:rPr>
              <a:t>”</a:t>
            </a:r>
            <a:r>
              <a:rPr lang="zh-CN" altLang="zh-CN" sz="1200" b="1" kern="1200" dirty="0" smtClean="0">
                <a:solidFill>
                  <a:schemeClr val="tx1"/>
                </a:solidFill>
                <a:effectLst/>
                <a:latin typeface="+mn-lt"/>
                <a:ea typeface="+mn-ea"/>
                <a:cs typeface="+mn-cs"/>
              </a:rPr>
              <a:t>文件夹（包含转化文件）</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29384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71243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pytorch.org/get-started/previous-versions/"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netron.app/"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pypi.mirrors.ustc.edu.cn/simple/" TargetMode="External"/><Relationship Id="rId2" Type="http://schemas.openxmlformats.org/officeDocument/2006/relationships/hyperlink" Target="http://mirrors.aliyun.com/pypi/simple/" TargetMode="External"/><Relationship Id="rId1" Type="http://schemas.openxmlformats.org/officeDocument/2006/relationships/slideLayout" Target="../slideLayouts/slideLayout3.xml"/><Relationship Id="rId5" Type="http://schemas.openxmlformats.org/officeDocument/2006/relationships/hyperlink" Target="https://pypi.tuna.tsinghua.edu.cn/simple/" TargetMode="External"/><Relationship Id="rId4" Type="http://schemas.openxmlformats.org/officeDocument/2006/relationships/hyperlink" Target="http://pypi.douban.com/simple/"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实验：目标</a:t>
            </a:r>
            <a:r>
              <a:rPr lang="zh-CN" altLang="en-US" dirty="0" smtClean="0"/>
              <a:t>检测模型的转化</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a:xfrm>
            <a:off x="948718" y="1785931"/>
            <a:ext cx="6022533" cy="1198382"/>
          </a:xfrm>
        </p:spPr>
        <p:txBody>
          <a:bodyPr/>
          <a:lstStyle/>
          <a:p>
            <a:r>
              <a:rPr lang="zh-CN" altLang="en-US" dirty="0" smtClean="0"/>
              <a:t>嵌入式设备实现目标检测</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将</a:t>
            </a:r>
            <a:r>
              <a:rPr kumimoji="1" lang="en-US" altLang="zh-CN" dirty="0" err="1" smtClean="0">
                <a:latin typeface="微软雅黑" panose="020B0503020204020204" pitchFamily="34" charset="-122"/>
                <a:ea typeface="微软雅黑" panose="020B0503020204020204" pitchFamily="34" charset="-122"/>
              </a:rPr>
              <a:t>Pytorch</a:t>
            </a:r>
            <a:r>
              <a:rPr kumimoji="1" lang="zh-CN" altLang="en-US" dirty="0" smtClean="0">
                <a:latin typeface="微软雅黑" panose="020B0503020204020204" pitchFamily="34" charset="-122"/>
                <a:ea typeface="微软雅黑" panose="020B0503020204020204" pitchFamily="34" charset="-122"/>
              </a:rPr>
              <a:t>框架模型转化为通用的开放格式</a:t>
            </a:r>
            <a:r>
              <a:rPr kumimoji="1" lang="en-US" altLang="zh-CN" dirty="0" err="1" smtClean="0">
                <a:latin typeface="微软雅黑" panose="020B0503020204020204" pitchFamily="34" charset="-122"/>
                <a:ea typeface="微软雅黑" panose="020B0503020204020204" pitchFamily="34" charset="-122"/>
              </a:rPr>
              <a:t>onnx</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使用</a:t>
            </a:r>
            <a:r>
              <a:rPr kumimoji="1" lang="en-US" altLang="zh-CN" dirty="0" smtClean="0">
                <a:latin typeface="微软雅黑" panose="020B0503020204020204" pitchFamily="34" charset="-122"/>
                <a:ea typeface="微软雅黑" panose="020B0503020204020204" pitchFamily="34" charset="-122"/>
              </a:rPr>
              <a:t>Linux</a:t>
            </a:r>
            <a:r>
              <a:rPr kumimoji="1" lang="zh-CN" altLang="en-US" dirty="0" smtClean="0">
                <a:latin typeface="微软雅黑" panose="020B0503020204020204" pitchFamily="34" charset="-122"/>
                <a:ea typeface="微软雅黑" panose="020B0503020204020204" pitchFamily="34" charset="-122"/>
              </a:rPr>
              <a:t>指令在</a:t>
            </a:r>
            <a:r>
              <a:rPr kumimoji="1" lang="en-US" altLang="zh-CN" dirty="0" smtClean="0">
                <a:latin typeface="微软雅黑" panose="020B0503020204020204" pitchFamily="34" charset="-122"/>
                <a:ea typeface="微软雅黑" panose="020B0503020204020204" pitchFamily="34" charset="-122"/>
              </a:rPr>
              <a:t>Linux</a:t>
            </a:r>
            <a:r>
              <a:rPr kumimoji="1" lang="zh-CN" altLang="en-US" dirty="0">
                <a:latin typeface="微软雅黑" panose="020B0503020204020204" pitchFamily="34" charset="-122"/>
                <a:ea typeface="微软雅黑" panose="020B0503020204020204" pitchFamily="34" charset="-122"/>
              </a:rPr>
              <a:t>系统下将</a:t>
            </a:r>
            <a:r>
              <a:rPr kumimoji="1" lang="en-US" altLang="zh-CN" dirty="0" err="1">
                <a:latin typeface="微软雅黑" panose="020B0503020204020204" pitchFamily="34" charset="-122"/>
                <a:ea typeface="微软雅黑" panose="020B0503020204020204" pitchFamily="34" charset="-122"/>
              </a:rPr>
              <a:t>onnx</a:t>
            </a:r>
            <a:r>
              <a:rPr kumimoji="1" lang="zh-CN" altLang="en-US" dirty="0">
                <a:latin typeface="微软雅黑" panose="020B0503020204020204" pitchFamily="34" charset="-122"/>
                <a:ea typeface="微软雅黑" panose="020B0503020204020204" pitchFamily="34" charset="-122"/>
              </a:rPr>
              <a:t>模型转化为嵌入式开发板读取的格式</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indent="-342900">
              <a:buFont typeface="+mj-lt"/>
              <a:buAutoNum type="arabicPeriod"/>
            </a:pPr>
            <a:r>
              <a:rPr lang="zh-CN" altLang="zh-CN" dirty="0"/>
              <a:t>在</a:t>
            </a:r>
            <a:r>
              <a:rPr lang="en-US" altLang="zh-CN" dirty="0"/>
              <a:t>PC</a:t>
            </a:r>
            <a:r>
              <a:rPr lang="zh-CN" altLang="zh-CN" dirty="0" smtClean="0"/>
              <a:t>端</a:t>
            </a:r>
            <a:r>
              <a:rPr lang="zh-CN" altLang="en-US" dirty="0" smtClean="0"/>
              <a:t>将</a:t>
            </a:r>
            <a:r>
              <a:rPr lang="zh-CN" altLang="zh-CN" dirty="0" smtClean="0"/>
              <a:t>训练好的</a:t>
            </a:r>
            <a:r>
              <a:rPr lang="en-US" altLang="zh-CN" dirty="0" err="1" smtClean="0"/>
              <a:t>Pytorch</a:t>
            </a:r>
            <a:r>
              <a:rPr lang="zh-CN" altLang="zh-CN" dirty="0" smtClean="0"/>
              <a:t>模型转化</a:t>
            </a:r>
            <a:r>
              <a:rPr lang="zh-CN" altLang="en-US" dirty="0" smtClean="0"/>
              <a:t>为</a:t>
            </a:r>
            <a:r>
              <a:rPr lang="zh-CN" altLang="zh-CN" dirty="0"/>
              <a:t>通用的开放格式</a:t>
            </a:r>
            <a:r>
              <a:rPr lang="en-US" altLang="zh-CN" dirty="0" err="1" smtClean="0"/>
              <a:t>onnx</a:t>
            </a:r>
            <a:endParaRPr lang="en-US" altLang="zh-CN" dirty="0" smtClean="0"/>
          </a:p>
          <a:p>
            <a:pPr marL="342900" indent="-342900">
              <a:buFont typeface="+mj-lt"/>
              <a:buAutoNum type="arabicPeriod"/>
            </a:pPr>
            <a:r>
              <a:rPr lang="zh-CN" altLang="en-US" dirty="0" smtClean="0"/>
              <a:t>将</a:t>
            </a:r>
            <a:r>
              <a:rPr lang="en-US" altLang="zh-CN" dirty="0" err="1" smtClean="0"/>
              <a:t>onnx</a:t>
            </a:r>
            <a:r>
              <a:rPr lang="zh-CN" altLang="en-US" dirty="0" smtClean="0"/>
              <a:t>模型根据不同的</a:t>
            </a:r>
            <a:r>
              <a:rPr lang="zh-CN" altLang="zh-CN" dirty="0" smtClean="0"/>
              <a:t>嵌入式</a:t>
            </a:r>
            <a:r>
              <a:rPr lang="zh-CN" altLang="en-US" dirty="0"/>
              <a:t>开发板</a:t>
            </a:r>
            <a:r>
              <a:rPr lang="zh-CN" altLang="zh-CN" dirty="0" smtClean="0"/>
              <a:t>转化</a:t>
            </a:r>
            <a:r>
              <a:rPr lang="zh-CN" altLang="zh-CN" dirty="0"/>
              <a:t>为特殊的格式</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lvl="0"/>
            <a:r>
              <a:rPr lang="zh-CN" altLang="zh-CN" dirty="0"/>
              <a:t>运行</a:t>
            </a:r>
            <a:r>
              <a:rPr lang="en-US" altLang="zh-CN" dirty="0"/>
              <a:t>Windows</a:t>
            </a:r>
            <a:r>
              <a:rPr lang="zh-CN" altLang="zh-CN" dirty="0"/>
              <a:t>系统的</a:t>
            </a:r>
            <a:r>
              <a:rPr lang="en-US" altLang="zh-CN" dirty="0"/>
              <a:t>PC</a:t>
            </a:r>
            <a:r>
              <a:rPr lang="zh-CN" altLang="zh-CN" dirty="0"/>
              <a:t>机一台，其中包含（以</a:t>
            </a:r>
            <a:r>
              <a:rPr lang="en-US" altLang="zh-CN" dirty="0"/>
              <a:t>GPU</a:t>
            </a:r>
            <a:r>
              <a:rPr lang="zh-CN" altLang="zh-CN" dirty="0"/>
              <a:t>版本为例，需自行配置</a:t>
            </a:r>
            <a:r>
              <a:rPr lang="en-US" altLang="zh-CN" dirty="0"/>
              <a:t>CUDA</a:t>
            </a:r>
            <a:r>
              <a:rPr lang="zh-CN" altLang="zh-CN" dirty="0"/>
              <a:t>）：</a:t>
            </a:r>
          </a:p>
          <a:p>
            <a:pPr lvl="1"/>
            <a:r>
              <a:rPr lang="zh-CN" altLang="zh-CN" dirty="0"/>
              <a:t>环境</a:t>
            </a:r>
            <a:r>
              <a:rPr lang="en-US" altLang="zh-CN" dirty="0"/>
              <a:t>1</a:t>
            </a:r>
            <a:r>
              <a:rPr lang="zh-CN" altLang="zh-CN" dirty="0" smtClean="0"/>
              <a:t>：</a:t>
            </a:r>
            <a:endParaRPr lang="zh-CN" altLang="zh-CN" dirty="0"/>
          </a:p>
          <a:p>
            <a:pPr lvl="2"/>
            <a:r>
              <a:rPr lang="en-US" altLang="zh-CN" dirty="0"/>
              <a:t>Python</a:t>
            </a:r>
            <a:r>
              <a:rPr lang="zh-CN" altLang="zh-CN" dirty="0"/>
              <a:t>，版本</a:t>
            </a:r>
            <a:r>
              <a:rPr lang="en-US" altLang="zh-CN" dirty="0"/>
              <a:t>3.7.13</a:t>
            </a:r>
            <a:r>
              <a:rPr lang="zh-CN" altLang="zh-CN" dirty="0"/>
              <a:t>，其中包含：</a:t>
            </a:r>
          </a:p>
          <a:p>
            <a:pPr lvl="3"/>
            <a:r>
              <a:rPr lang="en-US" altLang="zh-CN" dirty="0" err="1"/>
              <a:t>numpy</a:t>
            </a:r>
            <a:r>
              <a:rPr lang="zh-CN" altLang="zh-CN" dirty="0"/>
              <a:t>库，版本</a:t>
            </a:r>
            <a:r>
              <a:rPr lang="en-US" altLang="zh-CN" dirty="0"/>
              <a:t>1.21.6</a:t>
            </a:r>
            <a:endParaRPr lang="zh-CN" altLang="zh-CN" dirty="0"/>
          </a:p>
          <a:p>
            <a:pPr lvl="3"/>
            <a:r>
              <a:rPr lang="en-US" altLang="zh-CN" dirty="0" err="1"/>
              <a:t>matplotlib</a:t>
            </a:r>
            <a:r>
              <a:rPr lang="zh-CN" altLang="zh-CN" dirty="0"/>
              <a:t>库，版本</a:t>
            </a:r>
            <a:r>
              <a:rPr lang="en-US" altLang="zh-CN" dirty="0"/>
              <a:t>3.5.2</a:t>
            </a:r>
            <a:endParaRPr lang="zh-CN" altLang="zh-CN" dirty="0"/>
          </a:p>
          <a:p>
            <a:pPr lvl="3"/>
            <a:r>
              <a:rPr lang="en-US" altLang="zh-CN" dirty="0" err="1"/>
              <a:t>opencv</a:t>
            </a:r>
            <a:r>
              <a:rPr lang="en-US" altLang="zh-CN" dirty="0"/>
              <a:t>-python</a:t>
            </a:r>
            <a:r>
              <a:rPr lang="zh-CN" altLang="zh-CN" dirty="0"/>
              <a:t>库，版本</a:t>
            </a:r>
            <a:r>
              <a:rPr lang="en-US" altLang="zh-CN" dirty="0"/>
              <a:t>4.6.0.66</a:t>
            </a:r>
            <a:endParaRPr lang="zh-CN" altLang="zh-CN" dirty="0"/>
          </a:p>
          <a:p>
            <a:pPr lvl="3"/>
            <a:r>
              <a:rPr lang="en-US" altLang="zh-CN" dirty="0" err="1"/>
              <a:t>onnx</a:t>
            </a:r>
            <a:r>
              <a:rPr lang="zh-CN" altLang="zh-CN" dirty="0"/>
              <a:t>库，版本</a:t>
            </a:r>
            <a:r>
              <a:rPr lang="en-US" altLang="zh-CN" dirty="0"/>
              <a:t>1.12.0</a:t>
            </a:r>
            <a:endParaRPr lang="zh-CN" altLang="zh-CN" dirty="0"/>
          </a:p>
          <a:p>
            <a:pPr lvl="3"/>
            <a:r>
              <a:rPr lang="en-US" altLang="zh-CN" dirty="0" err="1"/>
              <a:t>onnxsim</a:t>
            </a:r>
            <a:r>
              <a:rPr lang="zh-CN" altLang="zh-CN" dirty="0"/>
              <a:t>库，版本</a:t>
            </a:r>
            <a:r>
              <a:rPr lang="en-US" altLang="zh-CN" dirty="0"/>
              <a:t>0.4.1</a:t>
            </a:r>
            <a:endParaRPr lang="zh-CN" altLang="zh-CN" dirty="0"/>
          </a:p>
          <a:p>
            <a:pPr lvl="3"/>
            <a:r>
              <a:rPr lang="en-US" altLang="zh-CN" dirty="0" err="1"/>
              <a:t>onnxruntime</a:t>
            </a:r>
            <a:r>
              <a:rPr lang="zh-CN" altLang="zh-CN" dirty="0"/>
              <a:t>库，版本</a:t>
            </a:r>
            <a:r>
              <a:rPr lang="en-US" altLang="zh-CN" dirty="0"/>
              <a:t>1.11.1</a:t>
            </a:r>
            <a:endParaRPr lang="zh-CN" altLang="zh-CN" dirty="0"/>
          </a:p>
          <a:p>
            <a:pPr lvl="3"/>
            <a:r>
              <a:rPr lang="en-US" altLang="zh-CN" dirty="0"/>
              <a:t>Pillow</a:t>
            </a:r>
            <a:r>
              <a:rPr lang="zh-CN" altLang="zh-CN" dirty="0"/>
              <a:t>库，版本</a:t>
            </a:r>
            <a:r>
              <a:rPr lang="en-US" altLang="zh-CN" dirty="0"/>
              <a:t>9.2.0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1.7.1</a:t>
            </a:r>
            <a:r>
              <a:rPr lang="zh-CN" altLang="zh-CN" dirty="0"/>
              <a:t>，其中包含：</a:t>
            </a:r>
          </a:p>
          <a:p>
            <a:pPr lvl="4"/>
            <a:r>
              <a:rPr lang="en-US" altLang="zh-CN" dirty="0" err="1"/>
              <a:t>torchvision</a:t>
            </a:r>
            <a:r>
              <a:rPr lang="zh-CN" altLang="zh-CN" dirty="0"/>
              <a:t>，版本</a:t>
            </a:r>
            <a:r>
              <a:rPr lang="en-US" altLang="zh-CN" dirty="0"/>
              <a:t>0.8.2</a:t>
            </a:r>
            <a:endParaRPr lang="zh-CN" altLang="zh-CN" dirty="0"/>
          </a:p>
          <a:p>
            <a:pPr lvl="4"/>
            <a:r>
              <a:rPr lang="en-US" altLang="zh-CN" dirty="0" err="1"/>
              <a:t>torchaudio</a:t>
            </a:r>
            <a:r>
              <a:rPr lang="zh-CN" altLang="zh-CN" dirty="0"/>
              <a:t>，版本</a:t>
            </a:r>
            <a:r>
              <a:rPr lang="en-US" altLang="zh-CN" dirty="0"/>
              <a:t>0.7.2</a:t>
            </a:r>
            <a:endParaRPr lang="zh-CN" altLang="zh-CN" dirty="0"/>
          </a:p>
          <a:p>
            <a:pPr lvl="4"/>
            <a:endParaRPr lang="zh-CN" altLang="zh-CN" dirty="0" smtClean="0"/>
          </a:p>
          <a:p>
            <a:pPr marL="685800" lvl="2">
              <a:spcBef>
                <a:spcPts val="1000"/>
              </a:spcBef>
            </a:pPr>
            <a:endParaRPr lang="zh-CN" altLang="zh-CN" dirty="0"/>
          </a:p>
          <a:p>
            <a:pPr>
              <a:lnSpc>
                <a:spcPct val="125000"/>
              </a:lnSpc>
            </a:pPr>
            <a:endParaRPr lang="zh-CN" altLang="en-US" dirty="0"/>
          </a:p>
        </p:txBody>
      </p:sp>
    </p:spTree>
    <p:extLst>
      <p:ext uri="{BB962C8B-B14F-4D97-AF65-F5344CB8AC3E}">
        <p14:creationId xmlns:p14="http://schemas.microsoft.com/office/powerpoint/2010/main" val="335341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zh-CN" altLang="zh-CN" dirty="0"/>
              <a:t>运行</a:t>
            </a:r>
            <a:r>
              <a:rPr lang="en-US" altLang="zh-CN" dirty="0"/>
              <a:t>Linux</a:t>
            </a:r>
            <a:r>
              <a:rPr lang="zh-CN" altLang="zh-CN" dirty="0"/>
              <a:t>系统</a:t>
            </a:r>
            <a:r>
              <a:rPr lang="en-US" altLang="zh-CN" dirty="0"/>
              <a:t>Ubuntu18.04</a:t>
            </a:r>
            <a:r>
              <a:rPr lang="zh-CN" altLang="zh-CN" dirty="0"/>
              <a:t>的</a:t>
            </a:r>
            <a:r>
              <a:rPr lang="en-US" altLang="zh-CN" dirty="0"/>
              <a:t>PC</a:t>
            </a:r>
            <a:r>
              <a:rPr lang="zh-CN" altLang="zh-CN" dirty="0"/>
              <a:t>机或虚拟机一台，其中包含：</a:t>
            </a:r>
          </a:p>
          <a:p>
            <a:pPr lvl="1"/>
            <a:r>
              <a:rPr lang="zh-CN" altLang="zh-CN" dirty="0" smtClean="0"/>
              <a:t>环境</a:t>
            </a:r>
            <a:r>
              <a:rPr lang="en-US" altLang="zh-CN" dirty="0"/>
              <a:t>2</a:t>
            </a:r>
            <a:r>
              <a:rPr lang="zh-CN" altLang="zh-CN" dirty="0"/>
              <a:t>：</a:t>
            </a:r>
          </a:p>
          <a:p>
            <a:pPr lvl="2"/>
            <a:r>
              <a:rPr lang="en-US" altLang="zh-CN" dirty="0"/>
              <a:t>Python</a:t>
            </a:r>
            <a:r>
              <a:rPr lang="zh-CN" altLang="zh-CN" dirty="0"/>
              <a:t>，版本</a:t>
            </a:r>
            <a:r>
              <a:rPr lang="en-US" altLang="zh-CN" dirty="0"/>
              <a:t>3.6.9</a:t>
            </a:r>
            <a:r>
              <a:rPr lang="zh-CN" altLang="zh-CN" dirty="0"/>
              <a:t>，其中包含：</a:t>
            </a:r>
          </a:p>
          <a:p>
            <a:pPr lvl="3"/>
            <a:r>
              <a:rPr lang="en-US" altLang="zh-CN" dirty="0" err="1"/>
              <a:t>numpy</a:t>
            </a:r>
            <a:r>
              <a:rPr lang="zh-CN" altLang="zh-CN" dirty="0"/>
              <a:t>库，版本</a:t>
            </a:r>
            <a:r>
              <a:rPr lang="en-US" altLang="zh-CN" dirty="0"/>
              <a:t>1.16.3</a:t>
            </a:r>
            <a:endParaRPr lang="zh-CN" altLang="zh-CN" dirty="0"/>
          </a:p>
          <a:p>
            <a:pPr lvl="3"/>
            <a:r>
              <a:rPr lang="en-US" altLang="zh-CN" dirty="0" err="1"/>
              <a:t>scipy</a:t>
            </a:r>
            <a:r>
              <a:rPr lang="zh-CN" altLang="zh-CN" dirty="0"/>
              <a:t>库，版本</a:t>
            </a:r>
            <a:r>
              <a:rPr lang="en-US" altLang="zh-CN" dirty="0"/>
              <a:t>1.2.1</a:t>
            </a:r>
            <a:endParaRPr lang="zh-CN" altLang="zh-CN" dirty="0"/>
          </a:p>
          <a:p>
            <a:pPr lvl="3"/>
            <a:r>
              <a:rPr lang="en-US" altLang="zh-CN" dirty="0"/>
              <a:t>Pillow</a:t>
            </a:r>
            <a:r>
              <a:rPr lang="zh-CN" altLang="zh-CN" dirty="0"/>
              <a:t>库，版本</a:t>
            </a:r>
            <a:r>
              <a:rPr lang="en-US" altLang="zh-CN" dirty="0"/>
              <a:t>5.3.0</a:t>
            </a:r>
            <a:endParaRPr lang="zh-CN" altLang="zh-CN" dirty="0"/>
          </a:p>
          <a:p>
            <a:pPr lvl="3"/>
            <a:r>
              <a:rPr lang="en-US" altLang="zh-CN" dirty="0" err="1"/>
              <a:t>tensorflow-gpu</a:t>
            </a:r>
            <a:r>
              <a:rPr lang="zh-CN" altLang="zh-CN" dirty="0"/>
              <a:t>库（若是虚拟机则为</a:t>
            </a:r>
            <a:r>
              <a:rPr lang="en-US" altLang="zh-CN" dirty="0" err="1"/>
              <a:t>tensorflow</a:t>
            </a:r>
            <a:r>
              <a:rPr lang="zh-CN" altLang="zh-CN" dirty="0"/>
              <a:t>），版本</a:t>
            </a:r>
            <a:r>
              <a:rPr lang="en-US" altLang="zh-CN" dirty="0"/>
              <a:t>1.14.0</a:t>
            </a:r>
            <a:endParaRPr lang="zh-CN" altLang="zh-CN" dirty="0"/>
          </a:p>
          <a:p>
            <a:pPr lvl="3"/>
            <a:r>
              <a:rPr lang="en-US" altLang="zh-CN" dirty="0" err="1"/>
              <a:t>mxnet</a:t>
            </a:r>
            <a:r>
              <a:rPr lang="zh-CN" altLang="zh-CN" dirty="0"/>
              <a:t>库，版本</a:t>
            </a:r>
            <a:r>
              <a:rPr lang="en-US" altLang="zh-CN" dirty="0"/>
              <a:t>1.5.0</a:t>
            </a:r>
            <a:endParaRPr lang="zh-CN" altLang="zh-CN" dirty="0"/>
          </a:p>
          <a:p>
            <a:pPr lvl="3"/>
            <a:r>
              <a:rPr lang="en-US" altLang="zh-CN" dirty="0" err="1"/>
              <a:t>yaml</a:t>
            </a:r>
            <a:r>
              <a:rPr lang="zh-CN" altLang="zh-CN" dirty="0"/>
              <a:t>库，版本</a:t>
            </a:r>
            <a:r>
              <a:rPr lang="en-US" altLang="zh-CN" dirty="0"/>
              <a:t>6.0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1.5.1</a:t>
            </a:r>
            <a:r>
              <a:rPr lang="zh-CN" altLang="zh-CN" dirty="0"/>
              <a:t>（若是虚拟机则为</a:t>
            </a:r>
            <a:r>
              <a:rPr lang="en-US" altLang="zh-CN" dirty="0"/>
              <a:t>CPU</a:t>
            </a:r>
            <a:r>
              <a:rPr lang="zh-CN" altLang="zh-CN" dirty="0"/>
              <a:t>版本），其中包含：</a:t>
            </a:r>
          </a:p>
          <a:p>
            <a:pPr lvl="4"/>
            <a:r>
              <a:rPr lang="en-US" altLang="zh-CN" dirty="0" err="1"/>
              <a:t>torchvision</a:t>
            </a:r>
            <a:r>
              <a:rPr lang="zh-CN" altLang="zh-CN" dirty="0"/>
              <a:t>，版本</a:t>
            </a:r>
            <a:r>
              <a:rPr lang="en-US" altLang="zh-CN" dirty="0"/>
              <a:t>0.6.1</a:t>
            </a:r>
            <a:endParaRPr lang="zh-CN" altLang="zh-CN" dirty="0"/>
          </a:p>
          <a:p>
            <a:pPr lvl="4"/>
            <a:endParaRPr lang="zh-CN" altLang="zh-CN" dirty="0"/>
          </a:p>
          <a:p>
            <a:pPr lvl="4"/>
            <a:endParaRPr lang="zh-CN" altLang="zh-CN" dirty="0"/>
          </a:p>
          <a:p>
            <a:pPr marL="685800" lvl="2">
              <a:spcBef>
                <a:spcPts val="1000"/>
              </a:spcBef>
            </a:pPr>
            <a:endParaRPr lang="zh-CN" altLang="zh-CN" dirty="0"/>
          </a:p>
          <a:p>
            <a:pPr>
              <a:lnSpc>
                <a:spcPct val="125000"/>
              </a:lnSpc>
            </a:pPr>
            <a:endParaRPr lang="zh-CN" altLang="en-US" dirty="0"/>
          </a:p>
        </p:txBody>
      </p:sp>
    </p:spTree>
    <p:extLst>
      <p:ext uri="{BB962C8B-B14F-4D97-AF65-F5344CB8AC3E}">
        <p14:creationId xmlns:p14="http://schemas.microsoft.com/office/powerpoint/2010/main" val="1458619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a:lnSpc>
                <a:spcPct val="125000"/>
              </a:lnSpc>
            </a:pPr>
            <a:r>
              <a:rPr lang="en-US" altLang="zh-CN" dirty="0" err="1" smtClean="0"/>
              <a:t>Pytorch</a:t>
            </a:r>
            <a:r>
              <a:rPr lang="zh-CN" altLang="en-US" dirty="0" smtClean="0"/>
              <a:t>转</a:t>
            </a:r>
            <a:r>
              <a:rPr lang="en-US" altLang="zh-CN" dirty="0" err="1" smtClean="0"/>
              <a:t>onnx</a:t>
            </a:r>
            <a:endParaRPr lang="en-US" altLang="zh-CN" dirty="0" smtClean="0"/>
          </a:p>
          <a:p>
            <a:pPr>
              <a:lnSpc>
                <a:spcPct val="125000"/>
              </a:lnSpc>
            </a:pPr>
            <a:r>
              <a:rPr lang="zh-CN" altLang="en-US" dirty="0" smtClean="0"/>
              <a:t>虚拟机安装使用</a:t>
            </a:r>
            <a:endParaRPr lang="en-US" altLang="zh-CN" dirty="0" smtClean="0"/>
          </a:p>
          <a:p>
            <a:pPr>
              <a:lnSpc>
                <a:spcPct val="125000"/>
              </a:lnSpc>
            </a:pPr>
            <a:r>
              <a:rPr lang="en-US" altLang="zh-CN" dirty="0" err="1" smtClean="0"/>
              <a:t>onnx</a:t>
            </a:r>
            <a:r>
              <a:rPr lang="zh-CN" altLang="en-US" dirty="0" smtClean="0"/>
              <a:t>转</a:t>
            </a:r>
            <a:r>
              <a:rPr lang="en-US" altLang="zh-CN" dirty="0" err="1" smtClean="0"/>
              <a:t>rknn</a:t>
            </a:r>
            <a:endParaRPr lang="en-US" altLang="zh-CN" dirty="0" smtClean="0"/>
          </a:p>
          <a:p>
            <a:pPr>
              <a:lnSpc>
                <a:spcPct val="125000"/>
              </a:lnSpc>
            </a:pPr>
            <a:endParaRPr lang="en-US" altLang="zh-CN" dirty="0"/>
          </a:p>
          <a:p>
            <a:pPr>
              <a:lnSpc>
                <a:spcPct val="125000"/>
              </a:lnSpc>
            </a:pPr>
            <a:endParaRPr lang="zh-CN" altLang="en-US" dirty="0"/>
          </a:p>
        </p:txBody>
      </p:sp>
    </p:spTree>
    <p:extLst>
      <p:ext uri="{BB962C8B-B14F-4D97-AF65-F5344CB8AC3E}">
        <p14:creationId xmlns:p14="http://schemas.microsoft.com/office/powerpoint/2010/main" val="2880115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771086203"/>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19663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en-US" altLang="zh-CN" dirty="0" err="1" smtClean="0"/>
              <a:t>Onnx</a:t>
            </a:r>
            <a:r>
              <a:rPr lang="zh-CN" altLang="en-US" dirty="0" smtClean="0"/>
              <a:t>（</a:t>
            </a:r>
            <a:r>
              <a:rPr lang="en-US" altLang="zh-CN" dirty="0" smtClean="0"/>
              <a:t>Open Neural Network Exchange</a:t>
            </a:r>
            <a:r>
              <a:rPr lang="zh-CN" altLang="en-US" dirty="0" smtClean="0"/>
              <a:t>，开放神经网络交换）：</a:t>
            </a:r>
            <a:endParaRPr lang="en-US" altLang="zh-CN" dirty="0" smtClean="0"/>
          </a:p>
          <a:p>
            <a:pPr lvl="1"/>
            <a:r>
              <a:rPr lang="zh-CN" altLang="en-US" dirty="0" smtClean="0"/>
              <a:t>一种深度学习模型的开放格式</a:t>
            </a:r>
            <a:endParaRPr lang="en-US" altLang="zh-CN" dirty="0" smtClean="0"/>
          </a:p>
          <a:p>
            <a:pPr lvl="1"/>
            <a:r>
              <a:rPr lang="zh-CN" altLang="en-US" dirty="0" smtClean="0"/>
              <a:t>由微软和</a:t>
            </a:r>
            <a:r>
              <a:rPr lang="en-US" altLang="zh-CN" dirty="0" smtClean="0"/>
              <a:t>Facebook</a:t>
            </a:r>
            <a:r>
              <a:rPr lang="zh-CN" altLang="en-US" dirty="0" smtClean="0"/>
              <a:t>提出</a:t>
            </a:r>
            <a:endParaRPr lang="en-US" altLang="zh-CN" dirty="0" smtClean="0"/>
          </a:p>
          <a:p>
            <a:pPr lvl="1"/>
            <a:r>
              <a:rPr lang="zh-CN" altLang="en-US" dirty="0" smtClean="0"/>
              <a:t>增强各种</a:t>
            </a:r>
            <a:r>
              <a:rPr lang="en-US" altLang="zh-CN" dirty="0" smtClean="0"/>
              <a:t>AI</a:t>
            </a:r>
            <a:r>
              <a:rPr lang="zh-CN" altLang="en-US" dirty="0" smtClean="0"/>
              <a:t>模型的可交互性</a:t>
            </a:r>
            <a:endParaRPr lang="en-US" altLang="zh-CN" dirty="0" smtClean="0"/>
          </a:p>
          <a:p>
            <a:pPr lvl="1"/>
            <a:r>
              <a:rPr lang="zh-CN" altLang="en-US" dirty="0" smtClean="0"/>
              <a:t>存储模型权重、结构以及每一层网络的信息</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270" y="3188665"/>
            <a:ext cx="5897218" cy="2948609"/>
          </a:xfrm>
          <a:prstGeom prst="rect">
            <a:avLst/>
          </a:prstGeom>
        </p:spPr>
      </p:pic>
    </p:spTree>
    <p:extLst>
      <p:ext uri="{BB962C8B-B14F-4D97-AF65-F5344CB8AC3E}">
        <p14:creationId xmlns:p14="http://schemas.microsoft.com/office/powerpoint/2010/main" val="322478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首先我们先利用上一章节的</a:t>
            </a:r>
            <a:r>
              <a:rPr lang="en-US" altLang="zh-CN" dirty="0" err="1"/>
              <a:t>yolo</a:t>
            </a:r>
            <a:r>
              <a:rPr lang="zh-CN" altLang="zh-CN" dirty="0"/>
              <a:t>模型项目文件夹，将模型文件转化为</a:t>
            </a:r>
            <a:r>
              <a:rPr lang="en-US" altLang="zh-CN" dirty="0" err="1"/>
              <a:t>onnx</a:t>
            </a:r>
            <a:r>
              <a:rPr lang="zh-CN" altLang="zh-CN" dirty="0"/>
              <a:t>格式。</a:t>
            </a:r>
          </a:p>
          <a:p>
            <a:r>
              <a:rPr lang="zh-CN" altLang="zh-CN" dirty="0"/>
              <a:t>转化为</a:t>
            </a:r>
            <a:r>
              <a:rPr lang="en-US" altLang="zh-CN" dirty="0" err="1"/>
              <a:t>onnx</a:t>
            </a:r>
            <a:r>
              <a:rPr lang="zh-CN" altLang="zh-CN" dirty="0"/>
              <a:t>模型所需</a:t>
            </a:r>
            <a:r>
              <a:rPr lang="en-US" altLang="zh-CN" dirty="0" err="1"/>
              <a:t>pytorch</a:t>
            </a:r>
            <a:r>
              <a:rPr lang="zh-CN" altLang="zh-CN" dirty="0"/>
              <a:t>版本为</a:t>
            </a:r>
            <a:r>
              <a:rPr lang="en-US" altLang="zh-CN" dirty="0"/>
              <a:t>1.7.1</a:t>
            </a:r>
            <a:r>
              <a:rPr lang="zh-CN" altLang="zh-CN" dirty="0"/>
              <a:t>以上，部分依赖库需要</a:t>
            </a:r>
            <a:r>
              <a:rPr lang="en-US" altLang="zh-CN" dirty="0"/>
              <a:t>python3.7</a:t>
            </a:r>
            <a:r>
              <a:rPr lang="zh-CN" altLang="zh-CN" dirty="0"/>
              <a:t>版本以上，因此需要重新配置一个虚拟环境。</a:t>
            </a:r>
          </a:p>
          <a:p>
            <a:r>
              <a:rPr lang="en-US" altLang="zh-CN" dirty="0" err="1"/>
              <a:t>Win+R</a:t>
            </a:r>
            <a:r>
              <a:rPr lang="zh-CN" altLang="zh-CN" dirty="0"/>
              <a:t>输入</a:t>
            </a:r>
            <a:r>
              <a:rPr lang="en-US" altLang="zh-CN" dirty="0" err="1"/>
              <a:t>cmd</a:t>
            </a:r>
            <a:r>
              <a:rPr lang="zh-CN" altLang="zh-CN" dirty="0"/>
              <a:t>打开命令提示符，输入指令新建环境（这里以</a:t>
            </a:r>
            <a:r>
              <a:rPr lang="en-US" altLang="zh-CN" dirty="0"/>
              <a:t>trans2onnx</a:t>
            </a:r>
            <a:r>
              <a:rPr lang="zh-CN" altLang="zh-CN" dirty="0"/>
              <a:t>命名为例）：</a:t>
            </a:r>
          </a:p>
          <a:p>
            <a:pPr lvl="1"/>
            <a:r>
              <a:rPr lang="en-US" altLang="zh-CN" dirty="0" err="1"/>
              <a:t>conda</a:t>
            </a:r>
            <a:r>
              <a:rPr lang="en-US" altLang="zh-CN" dirty="0"/>
              <a:t> create -n trans2onnx pip python=3.7.13</a:t>
            </a:r>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8063" y="3559955"/>
            <a:ext cx="9314286" cy="1447619"/>
          </a:xfrm>
          <a:prstGeom prst="rect">
            <a:avLst/>
          </a:prstGeom>
        </p:spPr>
      </p:pic>
    </p:spTree>
    <p:extLst>
      <p:ext uri="{BB962C8B-B14F-4D97-AF65-F5344CB8AC3E}">
        <p14:creationId xmlns:p14="http://schemas.microsoft.com/office/powerpoint/2010/main" val="2739897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在确认行中输入</a:t>
            </a:r>
            <a:r>
              <a:rPr lang="en-US" altLang="zh-CN" dirty="0"/>
              <a:t>“y”</a:t>
            </a:r>
            <a:r>
              <a:rPr lang="zh-CN" altLang="zh-CN" dirty="0"/>
              <a:t>，等待环境配置。</a:t>
            </a:r>
            <a:r>
              <a:rPr lang="zh-CN" altLang="zh-CN" dirty="0" smtClean="0"/>
              <a:t>出现</a:t>
            </a:r>
            <a:r>
              <a:rPr lang="zh-CN" altLang="en-US" dirty="0" smtClean="0"/>
              <a:t>以下</a:t>
            </a:r>
            <a:r>
              <a:rPr lang="zh-CN" altLang="zh-CN" dirty="0" smtClean="0"/>
              <a:t>界面</a:t>
            </a:r>
            <a:r>
              <a:rPr lang="zh-CN" altLang="zh-CN" dirty="0"/>
              <a:t>说明配置完成。</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同样输入指令切换至该环境：</a:t>
            </a:r>
          </a:p>
          <a:p>
            <a:pPr lvl="1"/>
            <a:r>
              <a:rPr lang="en-US" altLang="zh-CN" dirty="0" err="1"/>
              <a:t>conda</a:t>
            </a:r>
            <a:r>
              <a:rPr lang="en-US" altLang="zh-CN" dirty="0"/>
              <a:t> activate trans2onnx</a:t>
            </a:r>
          </a:p>
          <a:p>
            <a:r>
              <a:rPr lang="zh-CN" altLang="zh-CN" dirty="0" smtClean="0"/>
              <a:t>在</a:t>
            </a:r>
            <a:r>
              <a:rPr lang="en-US" altLang="zh-CN" dirty="0" err="1"/>
              <a:t>Pytorch</a:t>
            </a:r>
            <a:r>
              <a:rPr lang="zh-CN" altLang="en-US" dirty="0"/>
              <a:t>转</a:t>
            </a:r>
            <a:r>
              <a:rPr lang="en-US" altLang="zh-CN" dirty="0" err="1"/>
              <a:t>onnx</a:t>
            </a:r>
            <a:r>
              <a:rPr lang="zh-CN" altLang="zh-CN" dirty="0" smtClean="0"/>
              <a:t>步骤中</a:t>
            </a:r>
            <a:r>
              <a:rPr lang="zh-CN" altLang="zh-CN" dirty="0"/>
              <a:t>，所有指令均在新建的该虚拟环境下运行。</a:t>
            </a:r>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920" y="1646740"/>
            <a:ext cx="4228571" cy="2542857"/>
          </a:xfrm>
          <a:prstGeom prst="rect">
            <a:avLst/>
          </a:prstGeom>
        </p:spPr>
      </p:pic>
    </p:spTree>
    <p:extLst>
      <p:ext uri="{BB962C8B-B14F-4D97-AF65-F5344CB8AC3E}">
        <p14:creationId xmlns:p14="http://schemas.microsoft.com/office/powerpoint/2010/main" val="2814600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进入</a:t>
            </a:r>
            <a:r>
              <a:rPr lang="en-US" altLang="zh-CN" dirty="0" err="1"/>
              <a:t>Pytorch</a:t>
            </a:r>
            <a:r>
              <a:rPr lang="zh-CN" altLang="zh-CN" dirty="0"/>
              <a:t>的官方下载网站：</a:t>
            </a:r>
            <a:r>
              <a:rPr lang="en-US" altLang="zh-CN" u="sng" dirty="0">
                <a:hlinkClick r:id="rId2"/>
              </a:rPr>
              <a:t>https://pytorch.org/get-started/previous-versions/</a:t>
            </a:r>
            <a:endParaRPr lang="zh-CN" altLang="zh-CN" dirty="0"/>
          </a:p>
          <a:p>
            <a:r>
              <a:rPr lang="zh-CN" altLang="zh-CN" dirty="0"/>
              <a:t>安装</a:t>
            </a:r>
            <a:r>
              <a:rPr lang="en-US" altLang="zh-CN" dirty="0"/>
              <a:t>1.7.1</a:t>
            </a:r>
            <a:r>
              <a:rPr lang="zh-CN" altLang="zh-CN" dirty="0"/>
              <a:t>版本，指令如下图</a:t>
            </a:r>
            <a:r>
              <a:rPr lang="zh-CN" altLang="zh-CN" dirty="0" smtClean="0"/>
              <a:t>，</a:t>
            </a:r>
            <a:r>
              <a:rPr lang="zh-CN" altLang="zh-CN" dirty="0"/>
              <a:t>根据自身配置情况选择</a:t>
            </a:r>
            <a:r>
              <a:rPr lang="en-US" altLang="zh-CN" dirty="0"/>
              <a:t>CPU/GPU</a:t>
            </a:r>
            <a:r>
              <a:rPr lang="zh-CN" altLang="zh-CN" dirty="0"/>
              <a:t>版本，本实验以</a:t>
            </a:r>
            <a:r>
              <a:rPr lang="en-US" altLang="zh-CN" dirty="0"/>
              <a:t>GPU</a:t>
            </a:r>
            <a:r>
              <a:rPr lang="zh-CN" altLang="zh-CN" dirty="0"/>
              <a:t>版本为例</a:t>
            </a:r>
            <a:r>
              <a:rPr lang="zh-CN" altLang="zh-CN" dirty="0" smtClean="0"/>
              <a:t>，</a:t>
            </a:r>
            <a:r>
              <a:rPr lang="zh-CN" altLang="zh-CN" dirty="0"/>
              <a:t>还需要对应相应的</a:t>
            </a:r>
            <a:r>
              <a:rPr lang="en-US" altLang="zh-CN" dirty="0"/>
              <a:t>CUDA</a:t>
            </a:r>
            <a:r>
              <a:rPr lang="zh-CN" altLang="zh-CN" dirty="0"/>
              <a:t>版本，</a:t>
            </a:r>
            <a:r>
              <a:rPr lang="zh-CN" altLang="zh-CN" dirty="0" smtClean="0"/>
              <a:t>具体页面</a:t>
            </a:r>
            <a:r>
              <a:rPr lang="zh-CN" altLang="en-US" dirty="0" smtClean="0"/>
              <a:t>如下所示。</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9411" y="2424428"/>
            <a:ext cx="5971589" cy="3712846"/>
          </a:xfrm>
          <a:prstGeom prst="rect">
            <a:avLst/>
          </a:prstGeom>
        </p:spPr>
      </p:pic>
    </p:spTree>
    <p:extLst>
      <p:ext uri="{BB962C8B-B14F-4D97-AF65-F5344CB8AC3E}">
        <p14:creationId xmlns:p14="http://schemas.microsoft.com/office/powerpoint/2010/main" val="1919945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在刚才创建好的环境</a:t>
            </a:r>
            <a:r>
              <a:rPr lang="en-US" altLang="zh-CN" dirty="0"/>
              <a:t>1</a:t>
            </a:r>
            <a:r>
              <a:rPr lang="zh-CN" altLang="zh-CN" dirty="0"/>
              <a:t>下输入该指令，等待安装完成：</a:t>
            </a:r>
          </a:p>
          <a:p>
            <a:pPr lvl="1"/>
            <a:r>
              <a:rPr lang="en-US" altLang="zh-CN" dirty="0" smtClean="0"/>
              <a:t>pip </a:t>
            </a:r>
            <a:r>
              <a:rPr lang="en-US" altLang="zh-CN" dirty="0"/>
              <a:t>install torch==1.7.1+cu101 </a:t>
            </a:r>
            <a:r>
              <a:rPr lang="en-US" altLang="zh-CN" dirty="0" err="1"/>
              <a:t>torchvision</a:t>
            </a:r>
            <a:r>
              <a:rPr lang="en-US" altLang="zh-CN" dirty="0"/>
              <a:t>==0.8.2+cu101 </a:t>
            </a:r>
            <a:r>
              <a:rPr lang="en-US" altLang="zh-CN" dirty="0" err="1"/>
              <a:t>torchaudio</a:t>
            </a:r>
            <a:r>
              <a:rPr lang="en-US" altLang="zh-CN" dirty="0"/>
              <a:t>==0.7.2 –</a:t>
            </a:r>
            <a:r>
              <a:rPr lang="en-US" altLang="zh-CN" dirty="0" smtClean="0"/>
              <a:t>f https</a:t>
            </a:r>
            <a:r>
              <a:rPr lang="en-US" altLang="zh-CN" dirty="0"/>
              <a:t>://download.pytorch.org/whl/torch_stable.html</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3301" y="2386167"/>
            <a:ext cx="9323809" cy="2495238"/>
          </a:xfrm>
          <a:prstGeom prst="rect">
            <a:avLst/>
          </a:prstGeom>
        </p:spPr>
      </p:pic>
    </p:spTree>
    <p:extLst>
      <p:ext uri="{BB962C8B-B14F-4D97-AF65-F5344CB8AC3E}">
        <p14:creationId xmlns:p14="http://schemas.microsoft.com/office/powerpoint/2010/main" val="1033621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en-US" altLang="zh-CN" dirty="0" err="1"/>
              <a:t>Pytorch</a:t>
            </a:r>
            <a:r>
              <a:rPr lang="zh-CN" altLang="zh-CN" dirty="0"/>
              <a:t>安装完成后，进入文件夹路径，在同样的环境下输入指令安装其他必需库：</a:t>
            </a:r>
          </a:p>
          <a:p>
            <a:pPr lvl="1"/>
            <a:r>
              <a:rPr lang="en-US" altLang="zh-CN" dirty="0"/>
              <a:t>cd /d G:yolov4-tiny-pytorch-master</a:t>
            </a:r>
            <a:endParaRPr lang="zh-CN" altLang="zh-CN" dirty="0"/>
          </a:p>
          <a:p>
            <a:pPr lvl="1"/>
            <a:r>
              <a:rPr lang="en-US" altLang="zh-CN" dirty="0" smtClean="0"/>
              <a:t>pip install –r trans_requirement.txt</a:t>
            </a:r>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smtClean="0"/>
          </a:p>
          <a:p>
            <a:r>
              <a:rPr lang="zh-CN" altLang="zh-CN" dirty="0"/>
              <a:t>注：一些其他的必需库如</a:t>
            </a:r>
            <a:r>
              <a:rPr lang="en-US" altLang="zh-CN" dirty="0" err="1"/>
              <a:t>numpy</a:t>
            </a:r>
            <a:r>
              <a:rPr lang="zh-CN" altLang="zh-CN" dirty="0"/>
              <a:t>、</a:t>
            </a:r>
            <a:r>
              <a:rPr lang="en-US" altLang="zh-CN" dirty="0" err="1"/>
              <a:t>matplotlib</a:t>
            </a:r>
            <a:r>
              <a:rPr lang="zh-CN" altLang="zh-CN" dirty="0"/>
              <a:t>等已经在安装</a:t>
            </a:r>
            <a:r>
              <a:rPr lang="en-US" altLang="zh-CN" dirty="0" err="1"/>
              <a:t>Pytorch</a:t>
            </a:r>
            <a:r>
              <a:rPr lang="zh-CN" altLang="zh-CN" dirty="0"/>
              <a:t>时安装完毕。</a:t>
            </a:r>
          </a:p>
          <a:p>
            <a:r>
              <a:rPr lang="zh-CN" altLang="zh-CN" dirty="0"/>
              <a:t>等待所有库安装完成，安装出现超时中断可以多执行几次安装或单独输入指令安装。</a:t>
            </a:r>
          </a:p>
          <a:p>
            <a:endParaRPr lang="zh-CN" altLang="zh-CN" dirty="0"/>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b="67937"/>
          <a:stretch/>
        </p:blipFill>
        <p:spPr>
          <a:xfrm>
            <a:off x="1433301" y="2852060"/>
            <a:ext cx="9323809" cy="1563452"/>
          </a:xfrm>
          <a:prstGeom prst="rect">
            <a:avLst/>
          </a:prstGeom>
        </p:spPr>
      </p:pic>
    </p:spTree>
    <p:extLst>
      <p:ext uri="{BB962C8B-B14F-4D97-AF65-F5344CB8AC3E}">
        <p14:creationId xmlns:p14="http://schemas.microsoft.com/office/powerpoint/2010/main" val="2236775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所有依赖库安装完毕后，使用</a:t>
            </a:r>
            <a:r>
              <a:rPr lang="en-US" altLang="zh-CN" dirty="0" err="1"/>
              <a:t>pycharm</a:t>
            </a:r>
            <a:r>
              <a:rPr lang="zh-CN" altLang="zh-CN" dirty="0"/>
              <a:t>打开项目文件，打开</a:t>
            </a:r>
            <a:r>
              <a:rPr lang="en-US" altLang="zh-CN" dirty="0"/>
              <a:t>yolo.py</a:t>
            </a:r>
            <a:r>
              <a:rPr lang="zh-CN" altLang="zh-CN" dirty="0"/>
              <a:t>文件，修改</a:t>
            </a:r>
            <a:r>
              <a:rPr lang="en-US" altLang="zh-CN" dirty="0" err="1"/>
              <a:t>model_path</a:t>
            </a:r>
            <a:r>
              <a:rPr lang="zh-CN" altLang="zh-CN" dirty="0"/>
              <a:t>和</a:t>
            </a:r>
            <a:r>
              <a:rPr lang="en-US" altLang="zh-CN" dirty="0" err="1"/>
              <a:t>classes_path</a:t>
            </a:r>
            <a:r>
              <a:rPr lang="zh-CN" altLang="zh-CN" dirty="0"/>
              <a:t>的值，如</a:t>
            </a:r>
            <a:r>
              <a:rPr lang="zh-CN" altLang="zh-CN" dirty="0" smtClean="0"/>
              <a:t>图所</a:t>
            </a:r>
            <a:r>
              <a:rPr lang="zh-CN" altLang="zh-CN" dirty="0"/>
              <a:t>示（在之前</a:t>
            </a:r>
            <a:r>
              <a:rPr lang="en-US" altLang="zh-CN" dirty="0"/>
              <a:t>“</a:t>
            </a:r>
            <a:r>
              <a:rPr lang="zh-CN" altLang="zh-CN" dirty="0"/>
              <a:t>实验：一阶段算法模型的测试</a:t>
            </a:r>
            <a:r>
              <a:rPr lang="en-US" altLang="zh-CN" dirty="0"/>
              <a:t>”</a:t>
            </a:r>
            <a:r>
              <a:rPr lang="zh-CN" altLang="zh-CN" dirty="0"/>
              <a:t>步骤中已经改过此路径）。</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965551"/>
            <a:ext cx="10058400" cy="4171723"/>
          </a:xfrm>
          <a:prstGeom prst="rect">
            <a:avLst/>
          </a:prstGeom>
        </p:spPr>
      </p:pic>
    </p:spTree>
    <p:extLst>
      <p:ext uri="{BB962C8B-B14F-4D97-AF65-F5344CB8AC3E}">
        <p14:creationId xmlns:p14="http://schemas.microsoft.com/office/powerpoint/2010/main" val="4207096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打开</a:t>
            </a:r>
            <a:r>
              <a:rPr lang="en-US" altLang="zh-CN" dirty="0"/>
              <a:t>predict.py</a:t>
            </a:r>
            <a:r>
              <a:rPr lang="zh-CN" altLang="zh-CN" dirty="0"/>
              <a:t>，修改</a:t>
            </a:r>
            <a:r>
              <a:rPr lang="en-US" altLang="zh-CN" dirty="0"/>
              <a:t>mode = “</a:t>
            </a:r>
            <a:r>
              <a:rPr lang="en-US" altLang="zh-CN" dirty="0" err="1"/>
              <a:t>export_onnx</a:t>
            </a:r>
            <a:r>
              <a:rPr lang="en-US" altLang="zh-CN" dirty="0" smtClean="0"/>
              <a:t>”</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默认保存的路径在</a:t>
            </a:r>
            <a:r>
              <a:rPr lang="en-US" altLang="zh-CN" dirty="0" err="1"/>
              <a:t>model_data</a:t>
            </a:r>
            <a:r>
              <a:rPr lang="zh-CN" altLang="zh-CN" dirty="0"/>
              <a:t>文件夹下，也可以修改</a:t>
            </a:r>
            <a:r>
              <a:rPr lang="en-US" altLang="zh-CN" dirty="0"/>
              <a:t>predict.py</a:t>
            </a:r>
            <a:r>
              <a:rPr lang="zh-CN" altLang="zh-CN" dirty="0"/>
              <a:t>中的保存路径。</a:t>
            </a:r>
          </a:p>
          <a:p>
            <a:endParaRPr lang="zh-CN" altLang="zh-CN" dirty="0"/>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825" y="2067119"/>
            <a:ext cx="9504762" cy="3133333"/>
          </a:xfrm>
          <a:prstGeom prst="rect">
            <a:avLst/>
          </a:prstGeom>
        </p:spPr>
      </p:pic>
    </p:spTree>
    <p:extLst>
      <p:ext uri="{BB962C8B-B14F-4D97-AF65-F5344CB8AC3E}">
        <p14:creationId xmlns:p14="http://schemas.microsoft.com/office/powerpoint/2010/main" val="3607517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Pytorch</a:t>
            </a:r>
            <a:r>
              <a:rPr lang="zh-CN" altLang="en-US" dirty="0" smtClean="0"/>
              <a:t>转</a:t>
            </a:r>
            <a:r>
              <a:rPr lang="en-US" altLang="zh-CN" dirty="0" err="1" smtClean="0"/>
              <a:t>onnx</a:t>
            </a:r>
            <a:endParaRPr lang="zh-CN" altLang="en-US" dirty="0"/>
          </a:p>
        </p:txBody>
      </p:sp>
      <p:sp>
        <p:nvSpPr>
          <p:cNvPr id="3" name="内容占位符 2"/>
          <p:cNvSpPr>
            <a:spLocks noGrp="1"/>
          </p:cNvSpPr>
          <p:nvPr>
            <p:ph sz="quarter" idx="13"/>
          </p:nvPr>
        </p:nvSpPr>
        <p:spPr/>
        <p:txBody>
          <a:bodyPr/>
          <a:lstStyle/>
          <a:p>
            <a:r>
              <a:rPr lang="zh-CN" altLang="zh-CN" dirty="0"/>
              <a:t>将</a:t>
            </a:r>
            <a:r>
              <a:rPr lang="en-US" altLang="zh-CN" dirty="0" err="1"/>
              <a:t>pycharm</a:t>
            </a:r>
            <a:r>
              <a:rPr lang="zh-CN" altLang="zh-CN" dirty="0"/>
              <a:t>使用的环境切换至本实验步骤创建好的环境，直接在</a:t>
            </a:r>
            <a:r>
              <a:rPr lang="en-US" altLang="zh-CN" dirty="0" err="1"/>
              <a:t>pycharm</a:t>
            </a:r>
            <a:r>
              <a:rPr lang="zh-CN" altLang="zh-CN" dirty="0"/>
              <a:t>中运行</a:t>
            </a:r>
            <a:r>
              <a:rPr lang="en-US" altLang="zh-CN" dirty="0" smtClean="0"/>
              <a:t>predict.py</a:t>
            </a:r>
            <a:r>
              <a:rPr lang="zh-CN" altLang="en-US" dirty="0" smtClean="0"/>
              <a:t>：</a:t>
            </a:r>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8412" y="1709530"/>
            <a:ext cx="7133588" cy="4427744"/>
          </a:xfrm>
          <a:prstGeom prst="rect">
            <a:avLst/>
          </a:prstGeom>
        </p:spPr>
      </p:pic>
    </p:spTree>
    <p:extLst>
      <p:ext uri="{BB962C8B-B14F-4D97-AF65-F5344CB8AC3E}">
        <p14:creationId xmlns:p14="http://schemas.microsoft.com/office/powerpoint/2010/main" val="4128564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Pytorch</a:t>
            </a:r>
            <a:r>
              <a:rPr lang="zh-CN" altLang="en-US" dirty="0"/>
              <a:t>转</a:t>
            </a:r>
            <a:r>
              <a:rPr lang="en-US" altLang="zh-CN" dirty="0" err="1"/>
              <a:t>onnx</a:t>
            </a:r>
            <a:endParaRPr lang="zh-CN" altLang="en-US" dirty="0"/>
          </a:p>
        </p:txBody>
      </p:sp>
      <p:sp>
        <p:nvSpPr>
          <p:cNvPr id="3" name="内容占位符 2"/>
          <p:cNvSpPr>
            <a:spLocks noGrp="1"/>
          </p:cNvSpPr>
          <p:nvPr>
            <p:ph sz="quarter" idx="13"/>
          </p:nvPr>
        </p:nvSpPr>
        <p:spPr/>
        <p:txBody>
          <a:bodyPr/>
          <a:lstStyle/>
          <a:p>
            <a:r>
              <a:rPr lang="zh-CN" altLang="zh-CN" dirty="0"/>
              <a:t>出现以上结果则说明转化为</a:t>
            </a:r>
            <a:r>
              <a:rPr lang="en-US" altLang="zh-CN" dirty="0" err="1"/>
              <a:t>onnx</a:t>
            </a:r>
            <a:r>
              <a:rPr lang="zh-CN" altLang="zh-CN" dirty="0"/>
              <a:t>成功，所保存的</a:t>
            </a:r>
            <a:r>
              <a:rPr lang="en-US" altLang="zh-CN" dirty="0" err="1"/>
              <a:t>onnx</a:t>
            </a:r>
            <a:r>
              <a:rPr lang="zh-CN" altLang="zh-CN" dirty="0"/>
              <a:t>文件在</a:t>
            </a:r>
            <a:r>
              <a:rPr lang="en-US" altLang="zh-CN" dirty="0" err="1"/>
              <a:t>model_data</a:t>
            </a:r>
            <a:r>
              <a:rPr lang="zh-CN" altLang="zh-CN" dirty="0"/>
              <a:t>文件夹下：</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015" y="2157595"/>
            <a:ext cx="7752381" cy="2952381"/>
          </a:xfrm>
          <a:prstGeom prst="rect">
            <a:avLst/>
          </a:prstGeom>
        </p:spPr>
      </p:pic>
    </p:spTree>
    <p:extLst>
      <p:ext uri="{BB962C8B-B14F-4D97-AF65-F5344CB8AC3E}">
        <p14:creationId xmlns:p14="http://schemas.microsoft.com/office/powerpoint/2010/main" val="2611429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Pytorch</a:t>
            </a:r>
            <a:r>
              <a:rPr lang="zh-CN" altLang="en-US" dirty="0"/>
              <a:t>转</a:t>
            </a:r>
            <a:r>
              <a:rPr lang="en-US" altLang="zh-CN" dirty="0" err="1"/>
              <a:t>onnx</a:t>
            </a:r>
            <a:endParaRPr lang="zh-CN" altLang="en-US" dirty="0"/>
          </a:p>
        </p:txBody>
      </p:sp>
      <p:sp>
        <p:nvSpPr>
          <p:cNvPr id="3" name="内容占位符 2"/>
          <p:cNvSpPr>
            <a:spLocks noGrp="1"/>
          </p:cNvSpPr>
          <p:nvPr>
            <p:ph sz="quarter" idx="13"/>
          </p:nvPr>
        </p:nvSpPr>
        <p:spPr/>
        <p:txBody>
          <a:bodyPr/>
          <a:lstStyle/>
          <a:p>
            <a:r>
              <a:rPr lang="zh-CN" altLang="en-US" dirty="0" smtClean="0"/>
              <a:t>推荐一个查看模型结构与参数的网站：</a:t>
            </a:r>
            <a:r>
              <a:rPr lang="en-US" altLang="zh-CN" dirty="0">
                <a:hlinkClick r:id="rId3"/>
              </a:rPr>
              <a:t>https://</a:t>
            </a:r>
            <a:r>
              <a:rPr lang="en-US" altLang="zh-CN" dirty="0" smtClean="0">
                <a:hlinkClick r:id="rId3"/>
              </a:rPr>
              <a:t>netron.app</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该</a:t>
            </a:r>
            <a:r>
              <a:rPr lang="zh-CN" altLang="zh-CN" dirty="0"/>
              <a:t>网站可以在线检测模型，直观反映模型的整个网络结构，方便理解。导入</a:t>
            </a:r>
            <a:r>
              <a:rPr lang="en-US" altLang="zh-CN" dirty="0" err="1"/>
              <a:t>pth</a:t>
            </a:r>
            <a:r>
              <a:rPr lang="zh-CN" altLang="zh-CN" dirty="0"/>
              <a:t>模型显示结果没有</a:t>
            </a:r>
            <a:r>
              <a:rPr lang="en-US" altLang="zh-CN" dirty="0" err="1"/>
              <a:t>onnx</a:t>
            </a:r>
            <a:r>
              <a:rPr lang="zh-CN" altLang="zh-CN" dirty="0"/>
              <a:t>模型直观，推荐导入</a:t>
            </a:r>
            <a:r>
              <a:rPr lang="en-US" altLang="zh-CN" dirty="0" err="1"/>
              <a:t>onnx</a:t>
            </a:r>
            <a:r>
              <a:rPr lang="zh-CN" altLang="zh-CN" dirty="0"/>
              <a:t>模型，观察模型网络各层结构以及各层的参数量。</a:t>
            </a:r>
          </a:p>
          <a:p>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7111" y="2581405"/>
            <a:ext cx="5276190" cy="2104762"/>
          </a:xfrm>
          <a:prstGeom prst="rect">
            <a:avLst/>
          </a:prstGeom>
        </p:spPr>
      </p:pic>
    </p:spTree>
    <p:extLst>
      <p:ext uri="{BB962C8B-B14F-4D97-AF65-F5344CB8AC3E}">
        <p14:creationId xmlns:p14="http://schemas.microsoft.com/office/powerpoint/2010/main" val="39605413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9250363" y="1140239"/>
            <a:ext cx="1982947" cy="5492832"/>
          </a:xfrm>
          <a:prstGeom prst="rect">
            <a:avLst/>
          </a:prstGeom>
        </p:spPr>
      </p:pic>
      <p:sp>
        <p:nvSpPr>
          <p:cNvPr id="2" name="标题 1"/>
          <p:cNvSpPr>
            <a:spLocks noGrp="1"/>
          </p:cNvSpPr>
          <p:nvPr>
            <p:ph type="title"/>
          </p:nvPr>
        </p:nvSpPr>
        <p:spPr/>
        <p:txBody>
          <a:bodyPr/>
          <a:lstStyle/>
          <a:p>
            <a:r>
              <a:rPr lang="en-US" altLang="zh-CN" dirty="0" err="1"/>
              <a:t>Pytorch</a:t>
            </a:r>
            <a:r>
              <a:rPr lang="zh-CN" altLang="en-US" dirty="0"/>
              <a:t>转</a:t>
            </a:r>
            <a:r>
              <a:rPr lang="en-US" altLang="zh-CN" dirty="0" err="1"/>
              <a:t>onnx</a:t>
            </a:r>
            <a:endParaRPr lang="zh-CN" altLang="en-US" dirty="0"/>
          </a:p>
        </p:txBody>
      </p:sp>
      <p:pic>
        <p:nvPicPr>
          <p:cNvPr id="4" name="内容占位符 3"/>
          <p:cNvPicPr>
            <a:picLocks noGrp="1" noChangeAspect="1"/>
          </p:cNvPicPr>
          <p:nvPr>
            <p:ph sz="quarter" idx="13"/>
          </p:nvPr>
        </p:nvPicPr>
        <p:blipFill>
          <a:blip r:embed="rId4"/>
          <a:stretch>
            <a:fillRect/>
          </a:stretch>
        </p:blipFill>
        <p:spPr>
          <a:xfrm>
            <a:off x="669925" y="1140239"/>
            <a:ext cx="2407463" cy="5006975"/>
          </a:xfrm>
          <a:prstGeom prst="rect">
            <a:avLst/>
          </a:prstGeom>
        </p:spPr>
      </p:pic>
      <p:pic>
        <p:nvPicPr>
          <p:cNvPr id="5" name="图片 4"/>
          <p:cNvPicPr>
            <a:picLocks noChangeAspect="1"/>
          </p:cNvPicPr>
          <p:nvPr/>
        </p:nvPicPr>
        <p:blipFill>
          <a:blip r:embed="rId5"/>
          <a:stretch>
            <a:fillRect/>
          </a:stretch>
        </p:blipFill>
        <p:spPr>
          <a:xfrm>
            <a:off x="2988587" y="1140239"/>
            <a:ext cx="2342343" cy="5006975"/>
          </a:xfrm>
          <a:prstGeom prst="rect">
            <a:avLst/>
          </a:prstGeom>
        </p:spPr>
      </p:pic>
      <p:pic>
        <p:nvPicPr>
          <p:cNvPr id="6" name="图片 5"/>
          <p:cNvPicPr>
            <a:picLocks noChangeAspect="1"/>
          </p:cNvPicPr>
          <p:nvPr/>
        </p:nvPicPr>
        <p:blipFill>
          <a:blip r:embed="rId6"/>
          <a:stretch>
            <a:fillRect/>
          </a:stretch>
        </p:blipFill>
        <p:spPr>
          <a:xfrm>
            <a:off x="5330930" y="1140239"/>
            <a:ext cx="1812160" cy="5006975"/>
          </a:xfrm>
          <a:prstGeom prst="rect">
            <a:avLst/>
          </a:prstGeom>
        </p:spPr>
      </p:pic>
      <p:pic>
        <p:nvPicPr>
          <p:cNvPr id="7" name="图片 6"/>
          <p:cNvPicPr>
            <a:picLocks noChangeAspect="1"/>
          </p:cNvPicPr>
          <p:nvPr/>
        </p:nvPicPr>
        <p:blipFill>
          <a:blip r:embed="rId7"/>
          <a:stretch>
            <a:fillRect/>
          </a:stretch>
        </p:blipFill>
        <p:spPr>
          <a:xfrm>
            <a:off x="7143090" y="1140239"/>
            <a:ext cx="2107273" cy="5006975"/>
          </a:xfrm>
          <a:prstGeom prst="rect">
            <a:avLst/>
          </a:prstGeom>
        </p:spPr>
      </p:pic>
    </p:spTree>
    <p:extLst>
      <p:ext uri="{BB962C8B-B14F-4D97-AF65-F5344CB8AC3E}">
        <p14:creationId xmlns:p14="http://schemas.microsoft.com/office/powerpoint/2010/main" val="20795012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148001712"/>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21721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在进行下一步之前，需要先准备一个</a:t>
            </a:r>
            <a:r>
              <a:rPr lang="en-US" altLang="zh-CN" dirty="0"/>
              <a:t>x86</a:t>
            </a:r>
            <a:r>
              <a:rPr lang="zh-CN" altLang="zh-CN" dirty="0"/>
              <a:t>架构的</a:t>
            </a:r>
            <a:r>
              <a:rPr lang="en-US" altLang="zh-CN" dirty="0" err="1"/>
              <a:t>linux</a:t>
            </a:r>
            <a:r>
              <a:rPr lang="zh-CN" altLang="zh-CN" dirty="0"/>
              <a:t>系统并配置转化环境。本步骤介绍如何在</a:t>
            </a:r>
            <a:r>
              <a:rPr lang="en-US" altLang="zh-CN" dirty="0"/>
              <a:t>Windows</a:t>
            </a:r>
            <a:r>
              <a:rPr lang="zh-CN" altLang="zh-CN" dirty="0"/>
              <a:t>系统下通过安装</a:t>
            </a:r>
            <a:r>
              <a:rPr lang="en-US" altLang="zh-CN" dirty="0"/>
              <a:t>Linux</a:t>
            </a:r>
            <a:r>
              <a:rPr lang="zh-CN" altLang="zh-CN" dirty="0"/>
              <a:t>虚拟机完成操作，</a:t>
            </a:r>
            <a:r>
              <a:rPr lang="zh-CN" altLang="zh-CN" b="1" dirty="0"/>
              <a:t>如果已经有</a:t>
            </a:r>
            <a:r>
              <a:rPr lang="en-US" altLang="zh-CN" b="1" dirty="0"/>
              <a:t>x86</a:t>
            </a:r>
            <a:r>
              <a:rPr lang="zh-CN" altLang="zh-CN" b="1" dirty="0"/>
              <a:t>架构的</a:t>
            </a:r>
            <a:r>
              <a:rPr lang="en-US" altLang="zh-CN" b="1" dirty="0"/>
              <a:t>PC</a:t>
            </a:r>
            <a:r>
              <a:rPr lang="zh-CN" altLang="zh-CN" b="1" dirty="0"/>
              <a:t>机拥有</a:t>
            </a:r>
            <a:r>
              <a:rPr lang="en-US" altLang="zh-CN" b="1" dirty="0"/>
              <a:t>Linux</a:t>
            </a:r>
            <a:r>
              <a:rPr lang="zh-CN" altLang="zh-CN" b="1" dirty="0"/>
              <a:t>系统，可忽略该步骤。</a:t>
            </a:r>
            <a:endParaRPr lang="zh-CN" altLang="zh-CN" dirty="0"/>
          </a:p>
          <a:p>
            <a:r>
              <a:rPr lang="zh-CN" altLang="zh-CN" dirty="0"/>
              <a:t>打开</a:t>
            </a:r>
            <a:r>
              <a:rPr lang="en-US" altLang="zh-CN" dirty="0"/>
              <a:t>VMWare Workstation </a:t>
            </a:r>
            <a:r>
              <a:rPr lang="zh-CN" altLang="zh-CN" dirty="0"/>
              <a:t>安装程序，按指示步骤进行安装。该步可能会要求重启电脑。</a:t>
            </a:r>
          </a:p>
          <a:p>
            <a:r>
              <a:rPr lang="zh-CN" altLang="zh-CN" dirty="0"/>
              <a:t>接受许可</a:t>
            </a:r>
            <a:r>
              <a:rPr lang="zh-CN" altLang="zh-CN" dirty="0" smtClean="0"/>
              <a:t>协议</a:t>
            </a:r>
            <a:r>
              <a:rPr lang="zh-CN" altLang="en-US" dirty="0" smtClean="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8063" y="2403941"/>
            <a:ext cx="4714286" cy="3733333"/>
          </a:xfrm>
          <a:prstGeom prst="rect">
            <a:avLst/>
          </a:prstGeom>
        </p:spPr>
      </p:pic>
    </p:spTree>
    <p:extLst>
      <p:ext uri="{BB962C8B-B14F-4D97-AF65-F5344CB8AC3E}">
        <p14:creationId xmlns:p14="http://schemas.microsoft.com/office/powerpoint/2010/main" val="1768788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en-US" altLang="zh-CN" dirty="0"/>
              <a:t>“</a:t>
            </a:r>
            <a:r>
              <a:rPr lang="zh-CN" altLang="zh-CN" dirty="0"/>
              <a:t>自定义安装</a:t>
            </a:r>
            <a:r>
              <a:rPr lang="en-US" altLang="zh-CN" dirty="0"/>
              <a:t>”</a:t>
            </a:r>
            <a:r>
              <a:rPr lang="zh-CN" altLang="zh-CN" dirty="0"/>
              <a:t>中，安装位置建议选择空间较为充裕的盘符，并勾选添加到系统</a:t>
            </a:r>
            <a:r>
              <a:rPr lang="en-US" altLang="zh-CN" dirty="0"/>
              <a:t>PATH</a:t>
            </a:r>
            <a:r>
              <a:rPr lang="zh-CN" altLang="zh-CN" dirty="0"/>
              <a:t>。这里建议在盘符中创建一个文件夹作为安装位置，不要像图示中直接选择</a:t>
            </a:r>
            <a:r>
              <a:rPr lang="zh-CN" altLang="zh-CN" dirty="0" smtClean="0"/>
              <a:t>盘符</a:t>
            </a:r>
            <a:r>
              <a:rPr lang="zh-CN" altLang="en-US" dirty="0" smtClean="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8063" y="2432512"/>
            <a:ext cx="4714286" cy="3704762"/>
          </a:xfrm>
          <a:prstGeom prst="rect">
            <a:avLst/>
          </a:prstGeom>
        </p:spPr>
      </p:pic>
    </p:spTree>
    <p:extLst>
      <p:ext uri="{BB962C8B-B14F-4D97-AF65-F5344CB8AC3E}">
        <p14:creationId xmlns:p14="http://schemas.microsoft.com/office/powerpoint/2010/main" val="1904337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en-US" altLang="zh-CN" dirty="0"/>
              <a:t>“</a:t>
            </a:r>
            <a:r>
              <a:rPr lang="zh-CN" altLang="zh-CN" dirty="0"/>
              <a:t>用户体验设置</a:t>
            </a:r>
            <a:r>
              <a:rPr lang="en-US" altLang="zh-CN" dirty="0"/>
              <a:t>”</a:t>
            </a:r>
            <a:r>
              <a:rPr lang="zh-CN" altLang="zh-CN" dirty="0"/>
              <a:t>及</a:t>
            </a:r>
            <a:r>
              <a:rPr lang="en-US" altLang="zh-CN" dirty="0"/>
              <a:t>“</a:t>
            </a:r>
            <a:r>
              <a:rPr lang="zh-CN" altLang="zh-CN" dirty="0"/>
              <a:t>快捷方式</a:t>
            </a:r>
            <a:r>
              <a:rPr lang="en-US" altLang="zh-CN" dirty="0"/>
              <a:t>”</a:t>
            </a:r>
            <a:r>
              <a:rPr lang="zh-CN" altLang="zh-CN" dirty="0"/>
              <a:t>根据实际情况自行选择，不影响实际使用。</a:t>
            </a:r>
          </a:p>
          <a:p>
            <a:r>
              <a:rPr lang="zh-CN" altLang="zh-CN" dirty="0"/>
              <a:t>开始安装。出现询问输入文件所在路径，根据之前选择的安装路径，点击</a:t>
            </a:r>
            <a:r>
              <a:rPr lang="en-US" altLang="zh-CN" dirty="0"/>
              <a:t>“</a:t>
            </a:r>
            <a:r>
              <a:rPr lang="zh-CN" altLang="zh-CN" dirty="0"/>
              <a:t>浏览</a:t>
            </a:r>
            <a:r>
              <a:rPr lang="en-US" altLang="zh-CN" dirty="0"/>
              <a:t>”</a:t>
            </a:r>
            <a:r>
              <a:rPr lang="zh-CN" altLang="zh-CN" dirty="0"/>
              <a:t>，找到位于安装路径下的</a:t>
            </a:r>
            <a:r>
              <a:rPr lang="en-US" altLang="zh-CN" dirty="0"/>
              <a:t>‘vmnetbridge.dll’</a:t>
            </a:r>
            <a:r>
              <a:rPr lang="zh-CN" altLang="zh-CN" dirty="0"/>
              <a:t>文件后点击</a:t>
            </a:r>
            <a:r>
              <a:rPr lang="en-US" altLang="zh-CN" dirty="0"/>
              <a:t>“</a:t>
            </a:r>
            <a:r>
              <a:rPr lang="zh-CN" altLang="zh-CN" dirty="0"/>
              <a:t>确定</a:t>
            </a:r>
            <a:r>
              <a:rPr lang="en-US" altLang="zh-CN" dirty="0"/>
              <a:t>”</a:t>
            </a:r>
            <a:r>
              <a:rPr lang="zh-CN" altLang="zh-CN" dirty="0"/>
              <a:t>即可。</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2825" y="3413465"/>
            <a:ext cx="4704762" cy="2723809"/>
          </a:xfrm>
          <a:prstGeom prst="rect">
            <a:avLst/>
          </a:prstGeom>
        </p:spPr>
      </p:pic>
    </p:spTree>
    <p:extLst>
      <p:ext uri="{BB962C8B-B14F-4D97-AF65-F5344CB8AC3E}">
        <p14:creationId xmlns:p14="http://schemas.microsoft.com/office/powerpoint/2010/main" val="2743851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最终安装完成界面如下，点击</a:t>
            </a:r>
            <a:r>
              <a:rPr lang="en-US" altLang="zh-CN" dirty="0"/>
              <a:t>“</a:t>
            </a:r>
            <a:r>
              <a:rPr lang="zh-CN" altLang="zh-CN" dirty="0"/>
              <a:t>完成</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7587" y="2422988"/>
            <a:ext cx="4695238" cy="3714286"/>
          </a:xfrm>
          <a:prstGeom prst="rect">
            <a:avLst/>
          </a:prstGeom>
        </p:spPr>
      </p:pic>
    </p:spTree>
    <p:extLst>
      <p:ext uri="{BB962C8B-B14F-4D97-AF65-F5344CB8AC3E}">
        <p14:creationId xmlns:p14="http://schemas.microsoft.com/office/powerpoint/2010/main" val="2410522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打开</a:t>
            </a:r>
            <a:r>
              <a:rPr lang="en-US" altLang="zh-CN" dirty="0"/>
              <a:t>VMware Workstation Pro</a:t>
            </a:r>
            <a:r>
              <a:rPr lang="zh-CN" altLang="zh-CN" dirty="0"/>
              <a:t>软件，需要输入许可证密钥：</a:t>
            </a:r>
          </a:p>
          <a:p>
            <a:pPr lvl="1"/>
            <a:r>
              <a:rPr lang="en-US" altLang="zh-CN" dirty="0" smtClean="0"/>
              <a:t>4Y09U-AJK97-089Z0-A3054-83KLA</a:t>
            </a:r>
          </a:p>
          <a:p>
            <a:r>
              <a:rPr lang="zh-CN" altLang="zh-CN" dirty="0"/>
              <a:t>继续</a:t>
            </a:r>
            <a:r>
              <a:rPr lang="zh-CN" altLang="zh-CN" dirty="0" smtClean="0"/>
              <a:t>，下</a:t>
            </a:r>
            <a:r>
              <a:rPr lang="zh-CN" altLang="zh-CN" dirty="0"/>
              <a:t>一个界面选择完成后，可以正常使用软件了。</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3777" y="3146798"/>
            <a:ext cx="3542857" cy="2990476"/>
          </a:xfrm>
          <a:prstGeom prst="rect">
            <a:avLst/>
          </a:prstGeom>
        </p:spPr>
      </p:pic>
    </p:spTree>
    <p:extLst>
      <p:ext uri="{BB962C8B-B14F-4D97-AF65-F5344CB8AC3E}">
        <p14:creationId xmlns:p14="http://schemas.microsoft.com/office/powerpoint/2010/main" val="313706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进入界面后，左上角</a:t>
            </a:r>
            <a:r>
              <a:rPr lang="en-US" altLang="zh-CN" dirty="0"/>
              <a:t>“</a:t>
            </a:r>
            <a:r>
              <a:rPr lang="zh-CN" altLang="zh-CN" dirty="0"/>
              <a:t>文件</a:t>
            </a:r>
            <a:r>
              <a:rPr lang="en-US" altLang="zh-CN" dirty="0"/>
              <a:t>”</a:t>
            </a:r>
            <a:r>
              <a:rPr lang="zh-CN" altLang="zh-CN" dirty="0"/>
              <a:t>选择</a:t>
            </a:r>
            <a:r>
              <a:rPr lang="en-US" altLang="zh-CN" dirty="0"/>
              <a:t>“</a:t>
            </a:r>
            <a:r>
              <a:rPr lang="zh-CN" altLang="zh-CN" dirty="0"/>
              <a:t>新建虚拟机</a:t>
            </a:r>
            <a:r>
              <a:rPr lang="en-US" altLang="zh-CN" dirty="0" smtClean="0"/>
              <a:t>”</a:t>
            </a:r>
            <a:r>
              <a:rPr lang="zh-CN" altLang="en-US"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4253" y="2200452"/>
            <a:ext cx="4561905" cy="2866667"/>
          </a:xfrm>
          <a:prstGeom prst="rect">
            <a:avLst/>
          </a:prstGeom>
        </p:spPr>
      </p:pic>
    </p:spTree>
    <p:extLst>
      <p:ext uri="{BB962C8B-B14F-4D97-AF65-F5344CB8AC3E}">
        <p14:creationId xmlns:p14="http://schemas.microsoft.com/office/powerpoint/2010/main" val="4157554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在接下来的</a:t>
            </a:r>
            <a:r>
              <a:rPr lang="en-US" altLang="zh-CN" dirty="0"/>
              <a:t>“</a:t>
            </a:r>
            <a:r>
              <a:rPr lang="zh-CN" altLang="zh-CN" dirty="0"/>
              <a:t>新建虚拟机向导</a:t>
            </a:r>
            <a:r>
              <a:rPr lang="en-US" altLang="zh-CN" dirty="0"/>
              <a:t>”</a:t>
            </a:r>
            <a:r>
              <a:rPr lang="zh-CN" altLang="zh-CN" dirty="0"/>
              <a:t>界面中，选择</a:t>
            </a:r>
            <a:r>
              <a:rPr lang="en-US" altLang="zh-CN" dirty="0"/>
              <a:t>“</a:t>
            </a:r>
            <a:r>
              <a:rPr lang="zh-CN" altLang="zh-CN" dirty="0"/>
              <a:t>典型（推荐）</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9491" y="2022988"/>
            <a:ext cx="4771429" cy="4114286"/>
          </a:xfrm>
          <a:prstGeom prst="rect">
            <a:avLst/>
          </a:prstGeom>
        </p:spPr>
      </p:pic>
    </p:spTree>
    <p:extLst>
      <p:ext uri="{BB962C8B-B14F-4D97-AF65-F5344CB8AC3E}">
        <p14:creationId xmlns:p14="http://schemas.microsoft.com/office/powerpoint/2010/main" val="509951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安装操作系统界面中，我们直接选择</a:t>
            </a:r>
            <a:r>
              <a:rPr lang="en-US" altLang="zh-CN" dirty="0"/>
              <a:t>Ubuntu18.04.6</a:t>
            </a:r>
            <a:r>
              <a:rPr lang="zh-CN" altLang="zh-CN" dirty="0"/>
              <a:t>的光盘映像文件进行安装，选择文件路径后会自动提示</a:t>
            </a:r>
            <a:r>
              <a:rPr lang="en-US" altLang="zh-CN" dirty="0"/>
              <a:t>“</a:t>
            </a:r>
            <a:r>
              <a:rPr lang="zh-CN" altLang="zh-CN" dirty="0"/>
              <a:t>已检测到</a:t>
            </a:r>
            <a:r>
              <a:rPr lang="en-US" altLang="zh-CN" dirty="0"/>
              <a:t>Ubuntu 64</a:t>
            </a:r>
            <a:r>
              <a:rPr lang="zh-CN" altLang="zh-CN" dirty="0"/>
              <a:t>位</a:t>
            </a:r>
            <a:r>
              <a:rPr lang="en-US" altLang="zh-CN" dirty="0"/>
              <a:t>18.04.6”</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9015" y="2032512"/>
            <a:ext cx="4752381" cy="4104762"/>
          </a:xfrm>
          <a:prstGeom prst="rect">
            <a:avLst/>
          </a:prstGeom>
        </p:spPr>
      </p:pic>
    </p:spTree>
    <p:extLst>
      <p:ext uri="{BB962C8B-B14F-4D97-AF65-F5344CB8AC3E}">
        <p14:creationId xmlns:p14="http://schemas.microsoft.com/office/powerpoint/2010/main" val="23879328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设置名称与用户名</a:t>
            </a:r>
            <a:r>
              <a:rPr lang="en-US" altLang="zh-CN" dirty="0"/>
              <a:t>/</a:t>
            </a:r>
            <a:r>
              <a:rPr lang="zh-CN" altLang="zh-CN" dirty="0"/>
              <a:t>密码，这里为了方便演示全部设置为</a:t>
            </a:r>
            <a:r>
              <a:rPr lang="en-US" altLang="zh-CN" dirty="0" err="1"/>
              <a:t>iot</a:t>
            </a:r>
            <a:r>
              <a:rPr lang="zh-CN" altLang="zh-CN" dirty="0"/>
              <a:t>，可根据需求自行修改。</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253" y="2022988"/>
            <a:ext cx="4761905" cy="4114286"/>
          </a:xfrm>
          <a:prstGeom prst="rect">
            <a:avLst/>
          </a:prstGeom>
        </p:spPr>
      </p:pic>
    </p:spTree>
    <p:extLst>
      <p:ext uri="{BB962C8B-B14F-4D97-AF65-F5344CB8AC3E}">
        <p14:creationId xmlns:p14="http://schemas.microsoft.com/office/powerpoint/2010/main" val="3374124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虚拟机的位置与命名，名称为了演示，改为了同样建议安装在空间充裕的盘符下，最好能够预留</a:t>
            </a:r>
            <a:r>
              <a:rPr lang="en-US" altLang="zh-CN" dirty="0"/>
              <a:t>32GB</a:t>
            </a:r>
            <a:r>
              <a:rPr lang="zh-CN" altLang="zh-CN" dirty="0" smtClean="0"/>
              <a:t>以上</a:t>
            </a:r>
            <a:r>
              <a:rPr lang="zh-CN" altLang="en-US" dirty="0" smtClean="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3777" y="2022988"/>
            <a:ext cx="4742857" cy="4114286"/>
          </a:xfrm>
          <a:prstGeom prst="rect">
            <a:avLst/>
          </a:prstGeom>
        </p:spPr>
      </p:pic>
    </p:spTree>
    <p:extLst>
      <p:ext uri="{BB962C8B-B14F-4D97-AF65-F5344CB8AC3E}">
        <p14:creationId xmlns:p14="http://schemas.microsoft.com/office/powerpoint/2010/main" val="2652631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指定磁盘容量，根据实际情况调整，</a:t>
            </a:r>
            <a:r>
              <a:rPr lang="zh-CN" altLang="zh-CN" b="1" dirty="0"/>
              <a:t>本实验建议</a:t>
            </a:r>
            <a:r>
              <a:rPr lang="en-US" altLang="zh-CN" b="1" dirty="0"/>
              <a:t>32GB</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3777" y="2022988"/>
            <a:ext cx="4742857" cy="4114286"/>
          </a:xfrm>
          <a:prstGeom prst="rect">
            <a:avLst/>
          </a:prstGeom>
        </p:spPr>
      </p:pic>
    </p:spTree>
    <p:extLst>
      <p:ext uri="{BB962C8B-B14F-4D97-AF65-F5344CB8AC3E}">
        <p14:creationId xmlns:p14="http://schemas.microsoft.com/office/powerpoint/2010/main" val="1842143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全部设置选择完毕后，最终</a:t>
            </a:r>
            <a:r>
              <a:rPr lang="zh-CN" altLang="zh-CN" dirty="0" smtClean="0"/>
              <a:t>确认</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点击完成自动启动虚拟机。</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301" y="1581405"/>
            <a:ext cx="4723809" cy="4104762"/>
          </a:xfrm>
          <a:prstGeom prst="rect">
            <a:avLst/>
          </a:prstGeom>
        </p:spPr>
      </p:pic>
    </p:spTree>
    <p:extLst>
      <p:ext uri="{BB962C8B-B14F-4D97-AF65-F5344CB8AC3E}">
        <p14:creationId xmlns:p14="http://schemas.microsoft.com/office/powerpoint/2010/main" val="1205113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第一次启动时，</a:t>
            </a:r>
            <a:r>
              <a:rPr lang="en-US" altLang="zh-CN" dirty="0"/>
              <a:t>Ubuntu</a:t>
            </a:r>
            <a:r>
              <a:rPr lang="zh-CN" altLang="zh-CN" dirty="0"/>
              <a:t>系统仍需要进行安装，时间较长，请耐心等待，界面可能如下：</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675" y="1817274"/>
            <a:ext cx="7983061" cy="4320000"/>
          </a:xfrm>
          <a:prstGeom prst="rect">
            <a:avLst/>
          </a:prstGeom>
        </p:spPr>
      </p:pic>
    </p:spTree>
    <p:extLst>
      <p:ext uri="{BB962C8B-B14F-4D97-AF65-F5344CB8AC3E}">
        <p14:creationId xmlns:p14="http://schemas.microsoft.com/office/powerpoint/2010/main" val="24374785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dirty="0"/>
              <a:t>等待很长时间后，输入之前设置好的密码进入系统。进入系统界面如</a:t>
            </a:r>
            <a:r>
              <a:rPr lang="zh-CN" altLang="zh-CN" dirty="0" smtClean="0"/>
              <a:t>图所</a:t>
            </a:r>
            <a:r>
              <a:rPr lang="zh-CN" altLang="zh-CN" dirty="0"/>
              <a:t>示：</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5333" y="1817274"/>
            <a:ext cx="8139745" cy="4320000"/>
          </a:xfrm>
          <a:prstGeom prst="rect">
            <a:avLst/>
          </a:prstGeom>
        </p:spPr>
      </p:pic>
    </p:spTree>
    <p:extLst>
      <p:ext uri="{BB962C8B-B14F-4D97-AF65-F5344CB8AC3E}">
        <p14:creationId xmlns:p14="http://schemas.microsoft.com/office/powerpoint/2010/main" val="29542049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虚拟机安装</a:t>
            </a:r>
            <a:r>
              <a:rPr lang="zh-CN" altLang="en-US" dirty="0" smtClean="0"/>
              <a:t>使用</a:t>
            </a:r>
            <a:endParaRPr lang="zh-CN" altLang="en-US" dirty="0"/>
          </a:p>
        </p:txBody>
      </p:sp>
      <p:sp>
        <p:nvSpPr>
          <p:cNvPr id="3" name="内容占位符 2"/>
          <p:cNvSpPr>
            <a:spLocks noGrp="1"/>
          </p:cNvSpPr>
          <p:nvPr>
            <p:ph sz="quarter" idx="13"/>
          </p:nvPr>
        </p:nvSpPr>
        <p:spPr/>
        <p:txBody>
          <a:bodyPr/>
          <a:lstStyle/>
          <a:p>
            <a:r>
              <a:rPr lang="zh-CN" altLang="zh-CN" b="1" dirty="0"/>
              <a:t>第一次登录系统时，弹出框全部选择右上角选项</a:t>
            </a:r>
            <a:r>
              <a:rPr lang="en-US" altLang="zh-CN" b="1" dirty="0"/>
              <a:t>Next</a:t>
            </a:r>
            <a:r>
              <a:rPr lang="zh-CN" altLang="zh-CN" b="1" dirty="0"/>
              <a:t>和</a:t>
            </a:r>
            <a:r>
              <a:rPr lang="en-US" altLang="zh-CN" b="1" dirty="0"/>
              <a:t>Done</a:t>
            </a:r>
            <a:r>
              <a:rPr lang="zh-CN" altLang="zh-CN" b="1" dirty="0"/>
              <a:t>。涉及到系统更新（如</a:t>
            </a:r>
            <a:r>
              <a:rPr lang="en-US" altLang="zh-CN" b="1" dirty="0"/>
              <a:t>20.04</a:t>
            </a:r>
            <a:r>
              <a:rPr lang="zh-CN" altLang="zh-CN" b="1" dirty="0"/>
              <a:t>）以及软件更新的弹出框一律选择不更新（</a:t>
            </a:r>
            <a:r>
              <a:rPr lang="en-US" altLang="zh-CN" b="1" dirty="0"/>
              <a:t>Later</a:t>
            </a:r>
            <a:r>
              <a:rPr lang="zh-CN" altLang="zh-CN" b="1" dirty="0"/>
              <a:t>或</a:t>
            </a:r>
            <a:r>
              <a:rPr lang="en-US" altLang="zh-CN" b="1" dirty="0"/>
              <a:t>Don’t</a:t>
            </a:r>
            <a:r>
              <a:rPr lang="zh-CN" altLang="zh-CN" b="1" dirty="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25" y="2897274"/>
            <a:ext cx="4443295" cy="3240000"/>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3579" y="2897274"/>
            <a:ext cx="4916909" cy="3240000"/>
          </a:xfrm>
          <a:prstGeom prst="rect">
            <a:avLst/>
          </a:prstGeom>
        </p:spPr>
      </p:pic>
    </p:spTree>
    <p:extLst>
      <p:ext uri="{BB962C8B-B14F-4D97-AF65-F5344CB8AC3E}">
        <p14:creationId xmlns:p14="http://schemas.microsoft.com/office/powerpoint/2010/main" val="123416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尽管</a:t>
            </a:r>
            <a:r>
              <a:rPr lang="en-US" altLang="zh-CN" dirty="0"/>
              <a:t>Ubuntu18.04.6</a:t>
            </a:r>
            <a:r>
              <a:rPr lang="zh-CN" altLang="zh-CN" dirty="0"/>
              <a:t>自带默认</a:t>
            </a:r>
            <a:r>
              <a:rPr lang="en-US" altLang="zh-CN" dirty="0"/>
              <a:t>python</a:t>
            </a:r>
            <a:r>
              <a:rPr lang="zh-CN" altLang="zh-CN" dirty="0"/>
              <a:t>版本就为</a:t>
            </a:r>
            <a:r>
              <a:rPr lang="en-US" altLang="zh-CN" dirty="0"/>
              <a:t>3.6.9</a:t>
            </a:r>
            <a:r>
              <a:rPr lang="zh-CN" altLang="zh-CN" dirty="0"/>
              <a:t>，还是推荐使用</a:t>
            </a:r>
            <a:r>
              <a:rPr lang="en-US" altLang="zh-CN" dirty="0"/>
              <a:t>Anaconda</a:t>
            </a:r>
            <a:r>
              <a:rPr lang="zh-CN" altLang="zh-CN" dirty="0"/>
              <a:t>创建虚拟环境来管理</a:t>
            </a:r>
            <a:r>
              <a:rPr lang="en-US" altLang="zh-CN" dirty="0"/>
              <a:t>Python</a:t>
            </a:r>
            <a:r>
              <a:rPr lang="zh-CN" altLang="zh-CN" dirty="0"/>
              <a:t>环境。直接将</a:t>
            </a:r>
            <a:r>
              <a:rPr lang="en-US" altLang="zh-CN" dirty="0"/>
              <a:t>Anaconda3-Linux-x86_64.sh</a:t>
            </a:r>
            <a:r>
              <a:rPr lang="zh-CN" altLang="zh-CN" dirty="0"/>
              <a:t>安装文件拖入虚拟机中</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可以发现文件已经复制在虚拟机桌面上。后续复制步骤同理，通过鼠标拖入文件至虚拟机</a:t>
            </a:r>
            <a:r>
              <a:rPr lang="en-US" altLang="zh-CN" dirty="0"/>
              <a:t>/</a:t>
            </a:r>
            <a:r>
              <a:rPr lang="zh-CN" altLang="zh-CN" dirty="0"/>
              <a:t>主机完成文件的拷贝。</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8539" y="2957595"/>
            <a:ext cx="4533333" cy="1352381"/>
          </a:xfrm>
          <a:prstGeom prst="rect">
            <a:avLst/>
          </a:prstGeom>
        </p:spPr>
      </p:pic>
    </p:spTree>
    <p:extLst>
      <p:ext uri="{BB962C8B-B14F-4D97-AF65-F5344CB8AC3E}">
        <p14:creationId xmlns:p14="http://schemas.microsoft.com/office/powerpoint/2010/main" val="4006203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在</a:t>
            </a:r>
            <a:r>
              <a:rPr lang="en-US" altLang="zh-CN" dirty="0"/>
              <a:t>Linux</a:t>
            </a:r>
            <a:r>
              <a:rPr lang="zh-CN" altLang="zh-CN" dirty="0"/>
              <a:t>系统中，终端类似于</a:t>
            </a:r>
            <a:r>
              <a:rPr lang="en-US" altLang="zh-CN" dirty="0"/>
              <a:t>Windows</a:t>
            </a:r>
            <a:r>
              <a:rPr lang="zh-CN" altLang="zh-CN" dirty="0"/>
              <a:t>系统下的命令提示符，可以通过指令执行程序或实现功能，通过组合键</a:t>
            </a:r>
            <a:r>
              <a:rPr lang="en-US" altLang="zh-CN" dirty="0"/>
              <a:t>“</a:t>
            </a:r>
            <a:r>
              <a:rPr lang="en-US" altLang="zh-CN" dirty="0" err="1"/>
              <a:t>ctrl+alt+T</a:t>
            </a:r>
            <a:r>
              <a:rPr lang="en-US" altLang="zh-CN" dirty="0"/>
              <a:t>”</a:t>
            </a:r>
            <a:r>
              <a:rPr lang="zh-CN" altLang="zh-CN" dirty="0"/>
              <a:t>打开终端，或鼠标右键选择</a:t>
            </a:r>
            <a:r>
              <a:rPr lang="en-US" altLang="zh-CN" dirty="0"/>
              <a:t>“Open Terminal”</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206" y="2565845"/>
            <a:ext cx="5400000" cy="3571429"/>
          </a:xfrm>
          <a:prstGeom prst="rect">
            <a:avLst/>
          </a:prstGeom>
        </p:spPr>
      </p:pic>
    </p:spTree>
    <p:extLst>
      <p:ext uri="{BB962C8B-B14F-4D97-AF65-F5344CB8AC3E}">
        <p14:creationId xmlns:p14="http://schemas.microsoft.com/office/powerpoint/2010/main" val="2447996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打开终端后，我们需要使用</a:t>
            </a:r>
            <a:r>
              <a:rPr lang="en-US" altLang="zh-CN" dirty="0"/>
              <a:t>Linux</a:t>
            </a:r>
            <a:r>
              <a:rPr lang="zh-CN" altLang="zh-CN" dirty="0"/>
              <a:t>指令对</a:t>
            </a:r>
            <a:r>
              <a:rPr lang="en-US" altLang="zh-CN" dirty="0"/>
              <a:t>Linux</a:t>
            </a:r>
            <a:r>
              <a:rPr lang="zh-CN" altLang="zh-CN" dirty="0"/>
              <a:t>系统进行操作。后续</a:t>
            </a:r>
            <a:r>
              <a:rPr lang="en-US" altLang="zh-CN" dirty="0"/>
              <a:t>RKNN</a:t>
            </a:r>
            <a:r>
              <a:rPr lang="zh-CN" altLang="zh-CN" dirty="0"/>
              <a:t>开发板上使用的也是</a:t>
            </a:r>
            <a:r>
              <a:rPr lang="en-US" altLang="zh-CN" dirty="0"/>
              <a:t>Linux</a:t>
            </a:r>
            <a:r>
              <a:rPr lang="zh-CN" altLang="zh-CN" dirty="0"/>
              <a:t>系统，可以先熟悉部分简单的</a:t>
            </a:r>
            <a:r>
              <a:rPr lang="en-US" altLang="zh-CN" dirty="0"/>
              <a:t>Linux</a:t>
            </a:r>
            <a:r>
              <a:rPr lang="zh-CN" altLang="zh-CN" dirty="0"/>
              <a:t>指令。我们先尝试在终端输入指令安装</a:t>
            </a:r>
            <a:r>
              <a:rPr lang="en-US" altLang="zh-CN" dirty="0"/>
              <a:t>Anaconda</a:t>
            </a:r>
            <a:r>
              <a:rPr lang="zh-CN" altLang="zh-CN" dirty="0"/>
              <a:t>。</a:t>
            </a:r>
          </a:p>
          <a:p>
            <a:r>
              <a:rPr lang="zh-CN" altLang="zh-CN" dirty="0"/>
              <a:t>终端输入指令</a:t>
            </a:r>
            <a:r>
              <a:rPr lang="zh-CN" altLang="zh-CN" dirty="0" smtClean="0"/>
              <a:t>：</a:t>
            </a:r>
            <a:endParaRPr lang="en-US" altLang="zh-CN" dirty="0" smtClean="0"/>
          </a:p>
          <a:p>
            <a:pPr lvl="1"/>
            <a:r>
              <a:rPr lang="en-US" altLang="zh-CN" dirty="0"/>
              <a:t>cd Desktop</a:t>
            </a:r>
            <a:endParaRPr lang="zh-CN" altLang="zh-CN" dirty="0"/>
          </a:p>
          <a:p>
            <a:pPr lvl="1"/>
            <a:r>
              <a:rPr lang="en-US" altLang="zh-CN" dirty="0"/>
              <a:t>bash Anaconda3-2022.10-Linux-x86_64.sh</a:t>
            </a:r>
            <a:endParaRPr lang="zh-CN" altLang="zh-CN" dirty="0"/>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39048"/>
          <a:stretch/>
        </p:blipFill>
        <p:spPr>
          <a:xfrm>
            <a:off x="2590444" y="3316092"/>
            <a:ext cx="7009524" cy="2821182"/>
          </a:xfrm>
          <a:prstGeom prst="rect">
            <a:avLst/>
          </a:prstGeom>
        </p:spPr>
      </p:pic>
    </p:spTree>
    <p:extLst>
      <p:ext uri="{BB962C8B-B14F-4D97-AF65-F5344CB8AC3E}">
        <p14:creationId xmlns:p14="http://schemas.microsoft.com/office/powerpoint/2010/main" val="12019766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可以发现已经开始安装了，与</a:t>
            </a:r>
            <a:r>
              <a:rPr lang="en-US" altLang="zh-CN" dirty="0"/>
              <a:t>Windows</a:t>
            </a:r>
            <a:r>
              <a:rPr lang="zh-CN" altLang="zh-CN" dirty="0"/>
              <a:t>有图形化界面不同，</a:t>
            </a:r>
            <a:r>
              <a:rPr lang="en-US" altLang="zh-CN" dirty="0"/>
              <a:t>Linux</a:t>
            </a:r>
            <a:r>
              <a:rPr lang="zh-CN" altLang="zh-CN" dirty="0"/>
              <a:t>大多通过指令进行操作。在后续的步骤中，一直按回车直到这一</a:t>
            </a:r>
            <a:r>
              <a:rPr lang="zh-CN" altLang="zh-CN" dirty="0" smtClean="0"/>
              <a:t>步</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这里输入</a:t>
            </a:r>
            <a:r>
              <a:rPr lang="en-US" altLang="zh-CN" dirty="0"/>
              <a:t>yes</a:t>
            </a:r>
            <a:r>
              <a:rPr lang="zh-CN" altLang="zh-CN" dirty="0"/>
              <a:t>再回车，确认路径也建议选择默认路径，回车两次，等待安装完毕。</a:t>
            </a:r>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74100"/>
          <a:stretch/>
        </p:blipFill>
        <p:spPr>
          <a:xfrm>
            <a:off x="2585682" y="3035615"/>
            <a:ext cx="7019048" cy="1196341"/>
          </a:xfrm>
          <a:prstGeom prst="rect">
            <a:avLst/>
          </a:prstGeom>
        </p:spPr>
      </p:pic>
    </p:spTree>
    <p:extLst>
      <p:ext uri="{BB962C8B-B14F-4D97-AF65-F5344CB8AC3E}">
        <p14:creationId xmlns:p14="http://schemas.microsoft.com/office/powerpoint/2010/main" val="5222241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b="1" dirty="0"/>
              <a:t>安装完毕后会询问是否初始化</a:t>
            </a:r>
            <a:r>
              <a:rPr lang="en-US" altLang="zh-CN" b="1" dirty="0"/>
              <a:t>Anaconda</a:t>
            </a:r>
            <a:r>
              <a:rPr lang="zh-CN" altLang="zh-CN" b="1" dirty="0"/>
              <a:t>（添加环境变量等），这里输入</a:t>
            </a:r>
            <a:r>
              <a:rPr lang="en-US" altLang="zh-CN" b="1" dirty="0"/>
              <a:t>yes</a:t>
            </a:r>
            <a:r>
              <a:rPr lang="zh-CN" altLang="zh-CN" b="1" dirty="0"/>
              <a:t>并回车：</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0356" y="1699591"/>
            <a:ext cx="6661062" cy="4437683"/>
          </a:xfrm>
          <a:prstGeom prst="rect">
            <a:avLst/>
          </a:prstGeom>
        </p:spPr>
      </p:pic>
    </p:spTree>
    <p:extLst>
      <p:ext uri="{BB962C8B-B14F-4D97-AF65-F5344CB8AC3E}">
        <p14:creationId xmlns:p14="http://schemas.microsoft.com/office/powerpoint/2010/main" val="9526554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dirty="0"/>
              <a:t>安装</a:t>
            </a:r>
            <a:r>
              <a:rPr lang="zh-CN" altLang="zh-CN" dirty="0" smtClean="0"/>
              <a:t>完毕</a:t>
            </a:r>
            <a:r>
              <a:rPr lang="zh-CN" altLang="en-US"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6634" y="1537274"/>
            <a:ext cx="7057143" cy="4600000"/>
          </a:xfrm>
          <a:prstGeom prst="rect">
            <a:avLst/>
          </a:prstGeom>
        </p:spPr>
      </p:pic>
    </p:spTree>
    <p:extLst>
      <p:ext uri="{BB962C8B-B14F-4D97-AF65-F5344CB8AC3E}">
        <p14:creationId xmlns:p14="http://schemas.microsoft.com/office/powerpoint/2010/main" val="72051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虚拟机安装使用</a:t>
            </a:r>
          </a:p>
        </p:txBody>
      </p:sp>
      <p:sp>
        <p:nvSpPr>
          <p:cNvPr id="3" name="内容占位符 2"/>
          <p:cNvSpPr>
            <a:spLocks noGrp="1"/>
          </p:cNvSpPr>
          <p:nvPr>
            <p:ph sz="quarter" idx="13"/>
          </p:nvPr>
        </p:nvSpPr>
        <p:spPr/>
        <p:txBody>
          <a:bodyPr/>
          <a:lstStyle/>
          <a:p>
            <a:r>
              <a:rPr lang="zh-CN" altLang="zh-CN" b="1" dirty="0"/>
              <a:t>关掉该终端重新启动一个终端</a:t>
            </a:r>
            <a:r>
              <a:rPr lang="zh-CN" altLang="zh-CN" dirty="0"/>
              <a:t>，便可以正常输入</a:t>
            </a:r>
            <a:r>
              <a:rPr lang="en-US" altLang="zh-CN" dirty="0" err="1"/>
              <a:t>conda</a:t>
            </a:r>
            <a:r>
              <a:rPr lang="zh-CN" altLang="zh-CN" dirty="0"/>
              <a:t>指令了。而且可以发现终端显示的路径前会出现“（</a:t>
            </a:r>
            <a:r>
              <a:rPr lang="en-US" altLang="zh-CN" dirty="0"/>
              <a:t>base</a:t>
            </a:r>
            <a:r>
              <a:rPr lang="zh-CN" altLang="zh-CN" dirty="0"/>
              <a:t>）”字样，表示目前所选择的环境。测试完毕后可以删除桌面的</a:t>
            </a:r>
            <a:r>
              <a:rPr lang="en-US" altLang="zh-CN" dirty="0"/>
              <a:t>Anaconda3-2022.10-Linux-x86_64.sh</a:t>
            </a:r>
            <a:r>
              <a:rPr lang="zh-CN" altLang="zh-CN" dirty="0"/>
              <a:t>文件以节省虚拟机空间。</a:t>
            </a:r>
          </a:p>
          <a:p>
            <a:r>
              <a:rPr lang="zh-CN" altLang="zh-CN" dirty="0"/>
              <a:t>在终端输入指令安装</a:t>
            </a:r>
            <a:r>
              <a:rPr lang="en-US" altLang="zh-CN" dirty="0" err="1"/>
              <a:t>gcc</a:t>
            </a:r>
            <a:r>
              <a:rPr lang="zh-CN" altLang="zh-CN" dirty="0"/>
              <a:t>等编译库：</a:t>
            </a:r>
          </a:p>
          <a:p>
            <a:pPr lvl="1"/>
            <a:r>
              <a:rPr lang="en-US" altLang="zh-CN" dirty="0" err="1"/>
              <a:t>sudo</a:t>
            </a:r>
            <a:r>
              <a:rPr lang="en-US" altLang="zh-CN" dirty="0"/>
              <a:t> apt-get install </a:t>
            </a:r>
            <a:r>
              <a:rPr lang="en-US" altLang="zh-CN" dirty="0" err="1"/>
              <a:t>cmake</a:t>
            </a:r>
            <a:r>
              <a:rPr lang="en-US" altLang="zh-CN" dirty="0"/>
              <a:t> </a:t>
            </a:r>
            <a:r>
              <a:rPr lang="en-US" altLang="zh-CN" dirty="0" err="1"/>
              <a:t>gcc</a:t>
            </a:r>
            <a:r>
              <a:rPr lang="en-US" altLang="zh-CN" dirty="0"/>
              <a:t> g++ </a:t>
            </a:r>
            <a:r>
              <a:rPr lang="en-US" altLang="zh-CN" dirty="0" err="1"/>
              <a:t>libprotobuf-dev</a:t>
            </a:r>
            <a:r>
              <a:rPr lang="en-US" altLang="zh-CN" dirty="0"/>
              <a:t> </a:t>
            </a:r>
            <a:r>
              <a:rPr lang="en-US" altLang="zh-CN" dirty="0" err="1"/>
              <a:t>protobuf</a:t>
            </a:r>
            <a:r>
              <a:rPr lang="en-US" altLang="zh-CN" dirty="0"/>
              <a:t>-compiler </a:t>
            </a:r>
            <a:r>
              <a:rPr lang="en-US" altLang="zh-CN" dirty="0" smtClean="0"/>
              <a:t>–y</a:t>
            </a:r>
          </a:p>
          <a:p>
            <a:r>
              <a:rPr lang="zh-CN" altLang="zh-CN" dirty="0"/>
              <a:t>输入</a:t>
            </a:r>
            <a:r>
              <a:rPr lang="en-US" altLang="zh-CN" dirty="0" err="1"/>
              <a:t>sudo</a:t>
            </a:r>
            <a:r>
              <a:rPr lang="zh-CN" altLang="zh-CN" dirty="0"/>
              <a:t>指令可能还需要确认密码，本实验演示密码为</a:t>
            </a:r>
            <a:r>
              <a:rPr lang="en-US" altLang="zh-CN" dirty="0" err="1"/>
              <a:t>iot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9492" y="4461084"/>
            <a:ext cx="6971428" cy="1676190"/>
          </a:xfrm>
          <a:prstGeom prst="rect">
            <a:avLst/>
          </a:prstGeom>
        </p:spPr>
      </p:pic>
    </p:spTree>
    <p:extLst>
      <p:ext uri="{BB962C8B-B14F-4D97-AF65-F5344CB8AC3E}">
        <p14:creationId xmlns:p14="http://schemas.microsoft.com/office/powerpoint/2010/main" val="4132387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475272886"/>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94547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en-US" altLang="zh-CN" dirty="0" smtClean="0"/>
              <a:t>RKNN-Toolkit</a:t>
            </a:r>
            <a:r>
              <a:rPr lang="zh-CN" altLang="en-US" dirty="0" smtClean="0"/>
              <a:t>：</a:t>
            </a:r>
            <a:endParaRPr lang="en-US" altLang="zh-CN" dirty="0" smtClean="0"/>
          </a:p>
          <a:p>
            <a:pPr lvl="1"/>
            <a:r>
              <a:rPr lang="en-US" altLang="zh-CN" dirty="0" err="1" smtClean="0"/>
              <a:t>Rockchip</a:t>
            </a:r>
            <a:r>
              <a:rPr lang="zh-CN" altLang="en-US" dirty="0" smtClean="0"/>
              <a:t>提供</a:t>
            </a:r>
            <a:r>
              <a:rPr lang="en-US" altLang="zh-CN" dirty="0" smtClean="0"/>
              <a:t>RKNN-Toolkit</a:t>
            </a:r>
            <a:r>
              <a:rPr lang="zh-CN" altLang="en-US" dirty="0"/>
              <a:t>开发套件进行模型转换、推理运行和性能评估。</a:t>
            </a:r>
          </a:p>
          <a:p>
            <a:pPr lvl="1"/>
            <a:r>
              <a:rPr lang="zh-CN" altLang="en-US" dirty="0"/>
              <a:t>用户通过提供的 </a:t>
            </a:r>
            <a:r>
              <a:rPr lang="en-US" altLang="zh-CN" dirty="0"/>
              <a:t>python </a:t>
            </a:r>
            <a:r>
              <a:rPr lang="zh-CN" altLang="en-US" dirty="0"/>
              <a:t>接口可以便捷地完成以下功能：</a:t>
            </a:r>
          </a:p>
          <a:p>
            <a:pPr marL="800100" lvl="1" indent="-342900">
              <a:buFont typeface="+mj-lt"/>
              <a:buAutoNum type="arabicPeriod"/>
            </a:pPr>
            <a:r>
              <a:rPr lang="zh-CN" altLang="en-US" dirty="0" smtClean="0"/>
              <a:t>模型</a:t>
            </a:r>
            <a:r>
              <a:rPr lang="zh-CN" altLang="en-US" dirty="0"/>
              <a:t>转换：支持 </a:t>
            </a:r>
            <a:r>
              <a:rPr lang="en-US" altLang="zh-CN" dirty="0" err="1"/>
              <a:t>Caffe</a:t>
            </a:r>
            <a:r>
              <a:rPr lang="zh-CN" altLang="en-US" dirty="0"/>
              <a:t>、</a:t>
            </a:r>
            <a:r>
              <a:rPr lang="en-US" altLang="zh-CN" dirty="0" err="1"/>
              <a:t>Tensorflow</a:t>
            </a:r>
            <a:r>
              <a:rPr lang="zh-CN" altLang="en-US" dirty="0"/>
              <a:t>、</a:t>
            </a:r>
            <a:r>
              <a:rPr lang="en-US" altLang="zh-CN" dirty="0" err="1"/>
              <a:t>TensorFlow</a:t>
            </a:r>
            <a:r>
              <a:rPr lang="en-US" altLang="zh-CN" dirty="0"/>
              <a:t> Lite</a:t>
            </a:r>
            <a:r>
              <a:rPr lang="zh-CN" altLang="en-US" dirty="0"/>
              <a:t>、</a:t>
            </a:r>
            <a:r>
              <a:rPr lang="en-US" altLang="zh-CN" dirty="0"/>
              <a:t>ONNX</a:t>
            </a:r>
            <a:r>
              <a:rPr lang="zh-CN" altLang="en-US" dirty="0"/>
              <a:t>、</a:t>
            </a:r>
            <a:r>
              <a:rPr lang="en-US" altLang="zh-CN" dirty="0" err="1"/>
              <a:t>Darknet</a:t>
            </a:r>
            <a:r>
              <a:rPr lang="en-US" altLang="zh-CN" dirty="0"/>
              <a:t> </a:t>
            </a:r>
            <a:r>
              <a:rPr lang="zh-CN" altLang="en-US" dirty="0"/>
              <a:t>模型，支持</a:t>
            </a:r>
            <a:r>
              <a:rPr lang="en-US" altLang="zh-CN" dirty="0"/>
              <a:t>RKNN </a:t>
            </a:r>
            <a:r>
              <a:rPr lang="zh-CN" altLang="en-US" dirty="0"/>
              <a:t>模型导入导出，后续能够在硬件平台上加载使用。</a:t>
            </a:r>
          </a:p>
          <a:p>
            <a:pPr marL="800100" lvl="1" indent="-342900">
              <a:buFont typeface="+mj-lt"/>
              <a:buAutoNum type="arabicPeriod"/>
            </a:pPr>
            <a:r>
              <a:rPr lang="zh-CN" altLang="en-US" dirty="0" smtClean="0"/>
              <a:t>模型</a:t>
            </a:r>
            <a:r>
              <a:rPr lang="zh-CN" altLang="en-US" dirty="0"/>
              <a:t>推理：能够在 </a:t>
            </a:r>
            <a:r>
              <a:rPr lang="en-US" altLang="zh-CN" dirty="0"/>
              <a:t>PC </a:t>
            </a:r>
            <a:r>
              <a:rPr lang="zh-CN" altLang="en-US" dirty="0"/>
              <a:t>上模拟运行模型并获取推理结果，也可以在指定硬件平台</a:t>
            </a:r>
            <a:r>
              <a:rPr lang="en-US" altLang="zh-CN" dirty="0"/>
              <a:t>RK3399Pro Linux</a:t>
            </a:r>
            <a:r>
              <a:rPr lang="zh-CN" altLang="en-US" dirty="0"/>
              <a:t>上运行模型并获取推理结果。</a:t>
            </a:r>
          </a:p>
          <a:p>
            <a:pPr marL="800100" lvl="1" indent="-342900">
              <a:buFont typeface="+mj-lt"/>
              <a:buAutoNum type="arabicPeriod"/>
            </a:pPr>
            <a:r>
              <a:rPr lang="zh-CN" altLang="en-US" dirty="0" smtClean="0"/>
              <a:t>性能</a:t>
            </a:r>
            <a:r>
              <a:rPr lang="zh-CN" altLang="en-US" dirty="0"/>
              <a:t>评估：能够在 </a:t>
            </a:r>
            <a:r>
              <a:rPr lang="en-US" altLang="zh-CN" dirty="0"/>
              <a:t>PC </a:t>
            </a:r>
            <a:r>
              <a:rPr lang="zh-CN" altLang="en-US" dirty="0"/>
              <a:t>上模拟运行并获取模型总耗时及每一层的耗时信息，也可以通过联机调试的方式在指定硬件平台 </a:t>
            </a:r>
            <a:r>
              <a:rPr lang="en-US" altLang="zh-CN" dirty="0"/>
              <a:t>RK3399Pro Linux</a:t>
            </a:r>
            <a:r>
              <a:rPr lang="zh-CN" altLang="en-US" dirty="0"/>
              <a:t>上运行模型，并获取模型在硬件上运行时的总时间和每一层的耗时信息。</a:t>
            </a:r>
          </a:p>
          <a:p>
            <a:endParaRPr lang="zh-CN" altLang="en-US" dirty="0"/>
          </a:p>
          <a:p>
            <a:endParaRPr lang="zh-CN" altLang="en-US" dirty="0"/>
          </a:p>
        </p:txBody>
      </p:sp>
    </p:spTree>
    <p:extLst>
      <p:ext uri="{BB962C8B-B14F-4D97-AF65-F5344CB8AC3E}">
        <p14:creationId xmlns:p14="http://schemas.microsoft.com/office/powerpoint/2010/main" val="17570215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下一步我们将</a:t>
            </a:r>
            <a:r>
              <a:rPr lang="en-US" altLang="zh-CN" dirty="0" err="1"/>
              <a:t>onnx</a:t>
            </a:r>
            <a:r>
              <a:rPr lang="zh-CN" altLang="zh-CN" dirty="0"/>
              <a:t>模型转化为嵌入式开发板</a:t>
            </a:r>
            <a:r>
              <a:rPr lang="en-US" altLang="zh-CN" dirty="0"/>
              <a:t>RK3399</a:t>
            </a:r>
            <a:r>
              <a:rPr lang="zh-CN" altLang="zh-CN" dirty="0"/>
              <a:t>使用的</a:t>
            </a:r>
            <a:r>
              <a:rPr lang="en-US" altLang="zh-CN" dirty="0" err="1"/>
              <a:t>rknn</a:t>
            </a:r>
            <a:r>
              <a:rPr lang="zh-CN" altLang="zh-CN" dirty="0"/>
              <a:t>文件格式，转化格式需要使用官方提供的</a:t>
            </a:r>
            <a:r>
              <a:rPr lang="en-US" altLang="zh-CN" dirty="0" err="1"/>
              <a:t>rknn</a:t>
            </a:r>
            <a:r>
              <a:rPr lang="en-US" altLang="zh-CN" dirty="0"/>
              <a:t>-toolkit</a:t>
            </a:r>
            <a:r>
              <a:rPr lang="zh-CN" altLang="zh-CN" dirty="0"/>
              <a:t>工具包，版本为</a:t>
            </a:r>
            <a:r>
              <a:rPr lang="en-US" altLang="zh-CN" dirty="0"/>
              <a:t>1.7.1</a:t>
            </a:r>
            <a:r>
              <a:rPr lang="zh-CN" altLang="zh-CN" dirty="0"/>
              <a:t>。</a:t>
            </a:r>
          </a:p>
          <a:p>
            <a:r>
              <a:rPr lang="zh-CN" altLang="zh-CN" dirty="0"/>
              <a:t>将工具包文件夹中的</a:t>
            </a:r>
            <a:r>
              <a:rPr lang="en-US" altLang="zh-CN" b="1" dirty="0"/>
              <a:t>package</a:t>
            </a:r>
            <a:r>
              <a:rPr lang="zh-CN" altLang="zh-CN" b="1" dirty="0"/>
              <a:t>文件夹</a:t>
            </a:r>
            <a:r>
              <a:rPr lang="zh-CN" altLang="zh-CN" dirty="0"/>
              <a:t>从</a:t>
            </a:r>
            <a:r>
              <a:rPr lang="en-US" altLang="zh-CN" dirty="0"/>
              <a:t>PC</a:t>
            </a:r>
            <a:r>
              <a:rPr lang="zh-CN" altLang="zh-CN" dirty="0"/>
              <a:t>端拖入虚拟机桌面。进入</a:t>
            </a:r>
            <a:r>
              <a:rPr lang="en-US" altLang="zh-CN" dirty="0"/>
              <a:t>package</a:t>
            </a:r>
            <a:r>
              <a:rPr lang="zh-CN" altLang="zh-CN" dirty="0" smtClean="0"/>
              <a:t>文件夹</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zh-CN" dirty="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1676" y="2897274"/>
            <a:ext cx="8047060" cy="3240000"/>
          </a:xfrm>
          <a:prstGeom prst="rect">
            <a:avLst/>
          </a:prstGeom>
        </p:spPr>
      </p:pic>
    </p:spTree>
    <p:extLst>
      <p:ext uri="{BB962C8B-B14F-4D97-AF65-F5344CB8AC3E}">
        <p14:creationId xmlns:p14="http://schemas.microsoft.com/office/powerpoint/2010/main" val="24134766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en-US" altLang="zh-CN" dirty="0"/>
              <a:t>requirements-cpu.txt</a:t>
            </a:r>
            <a:r>
              <a:rPr lang="zh-CN" altLang="zh-CN" dirty="0"/>
              <a:t>指使用</a:t>
            </a:r>
            <a:r>
              <a:rPr lang="en-US" altLang="zh-CN" dirty="0" err="1"/>
              <a:t>cpu</a:t>
            </a:r>
            <a:r>
              <a:rPr lang="zh-CN" altLang="zh-CN" dirty="0"/>
              <a:t>性能调用工具包的依赖库，</a:t>
            </a:r>
            <a:r>
              <a:rPr lang="en-US" altLang="zh-CN" dirty="0"/>
              <a:t>requirements-gpu.txt</a:t>
            </a:r>
            <a:r>
              <a:rPr lang="zh-CN" altLang="zh-CN" dirty="0"/>
              <a:t>指使用</a:t>
            </a:r>
            <a:r>
              <a:rPr lang="en-US" altLang="zh-CN" dirty="0" err="1"/>
              <a:t>gpu</a:t>
            </a:r>
            <a:r>
              <a:rPr lang="zh-CN" altLang="zh-CN" dirty="0"/>
              <a:t>性能调用工具包的依赖库，根据自身配置实际情况进行选择</a:t>
            </a:r>
            <a:r>
              <a:rPr lang="zh-CN" altLang="zh-CN" dirty="0" smtClean="0"/>
              <a:t>。</a:t>
            </a:r>
            <a:r>
              <a:rPr lang="zh-CN" altLang="zh-CN" b="1" dirty="0"/>
              <a:t>由于虚拟机无法调用</a:t>
            </a:r>
            <a:r>
              <a:rPr lang="en-US" altLang="zh-CN" b="1" dirty="0"/>
              <a:t>GPU</a:t>
            </a:r>
            <a:r>
              <a:rPr lang="zh-CN" altLang="zh-CN" b="1" dirty="0"/>
              <a:t>性能</a:t>
            </a:r>
            <a:r>
              <a:rPr lang="zh-CN" altLang="zh-CN" dirty="0"/>
              <a:t>，本实验中以</a:t>
            </a:r>
            <a:r>
              <a:rPr lang="en-US" altLang="zh-CN" dirty="0"/>
              <a:t>CPU</a:t>
            </a:r>
            <a:r>
              <a:rPr lang="zh-CN" altLang="zh-CN" dirty="0"/>
              <a:t>版本为例进行安装</a:t>
            </a:r>
            <a:r>
              <a:rPr lang="zh-CN" altLang="zh-CN" dirty="0" smtClean="0"/>
              <a:t>，</a:t>
            </a:r>
            <a:r>
              <a:rPr lang="zh-CN" altLang="zh-CN" dirty="0"/>
              <a:t>需要新建一个虚拟环境。如果已有配置好</a:t>
            </a:r>
            <a:r>
              <a:rPr lang="en-US" altLang="zh-CN" dirty="0"/>
              <a:t>GPU</a:t>
            </a:r>
            <a:r>
              <a:rPr lang="zh-CN" altLang="zh-CN" dirty="0"/>
              <a:t>及</a:t>
            </a:r>
            <a:r>
              <a:rPr lang="en-US" altLang="zh-CN" dirty="0"/>
              <a:t>CUDA</a:t>
            </a:r>
            <a:r>
              <a:rPr lang="zh-CN" altLang="zh-CN" dirty="0"/>
              <a:t>环境的</a:t>
            </a:r>
            <a:r>
              <a:rPr lang="en-US" altLang="zh-CN" dirty="0"/>
              <a:t>Linux-x86_64</a:t>
            </a:r>
            <a:r>
              <a:rPr lang="zh-CN" altLang="zh-CN" dirty="0"/>
              <a:t>的</a:t>
            </a:r>
            <a:r>
              <a:rPr lang="en-US" altLang="zh-CN" dirty="0"/>
              <a:t>PC</a:t>
            </a:r>
            <a:r>
              <a:rPr lang="zh-CN" altLang="zh-CN" dirty="0"/>
              <a:t>机，可以按</a:t>
            </a:r>
            <a:r>
              <a:rPr lang="en-US" altLang="zh-CN" dirty="0"/>
              <a:t>GPU</a:t>
            </a:r>
            <a:r>
              <a:rPr lang="zh-CN" altLang="zh-CN" dirty="0"/>
              <a:t>版本进行安装。</a:t>
            </a:r>
          </a:p>
          <a:p>
            <a:r>
              <a:rPr lang="zh-CN" altLang="zh-CN" dirty="0"/>
              <a:t>在</a:t>
            </a:r>
            <a:r>
              <a:rPr lang="en-US" altLang="zh-CN" dirty="0"/>
              <a:t>package</a:t>
            </a:r>
            <a:r>
              <a:rPr lang="zh-CN" altLang="zh-CN" dirty="0"/>
              <a:t>文件夹下打开终端，即在该文件夹下右键选择</a:t>
            </a:r>
            <a:r>
              <a:rPr lang="en-US" altLang="zh-CN" dirty="0"/>
              <a:t>“Open in Terminal”</a:t>
            </a:r>
            <a:r>
              <a:rPr lang="zh-CN" altLang="zh-CN" dirty="0"/>
              <a:t>，输入指令创建环境</a:t>
            </a:r>
            <a:r>
              <a:rPr lang="en-US" altLang="zh-CN" dirty="0"/>
              <a:t>2</a:t>
            </a:r>
            <a:r>
              <a:rPr lang="zh-CN" altLang="zh-CN" dirty="0"/>
              <a:t>，这里以</a:t>
            </a:r>
            <a:r>
              <a:rPr lang="en-US" altLang="zh-CN" dirty="0"/>
              <a:t>onnx2rknn</a:t>
            </a:r>
            <a:r>
              <a:rPr lang="zh-CN" altLang="zh-CN" dirty="0"/>
              <a:t>命名为例，</a:t>
            </a:r>
            <a:r>
              <a:rPr lang="zh-CN" altLang="zh-CN" dirty="0" smtClean="0"/>
              <a:t>后续都</a:t>
            </a:r>
            <a:r>
              <a:rPr lang="zh-CN" altLang="zh-CN" dirty="0"/>
              <a:t>以环境</a:t>
            </a:r>
            <a:r>
              <a:rPr lang="en-US" altLang="zh-CN" dirty="0"/>
              <a:t>2</a:t>
            </a:r>
            <a:r>
              <a:rPr lang="zh-CN" altLang="zh-CN" dirty="0"/>
              <a:t>指代该环境：</a:t>
            </a:r>
          </a:p>
          <a:p>
            <a:pPr lvl="1"/>
            <a:r>
              <a:rPr lang="en-US" altLang="zh-CN" dirty="0" err="1"/>
              <a:t>conda</a:t>
            </a:r>
            <a:r>
              <a:rPr lang="en-US" altLang="zh-CN" dirty="0"/>
              <a:t> create –n onnx2rknn pip </a:t>
            </a:r>
            <a:r>
              <a:rPr lang="en-US" altLang="zh-CN" dirty="0" smtClean="0"/>
              <a:t>python=3.6.9 –y</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9492" y="4156322"/>
            <a:ext cx="6971428" cy="1980952"/>
          </a:xfrm>
          <a:prstGeom prst="rect">
            <a:avLst/>
          </a:prstGeom>
        </p:spPr>
      </p:pic>
    </p:spTree>
    <p:extLst>
      <p:ext uri="{BB962C8B-B14F-4D97-AF65-F5344CB8AC3E}">
        <p14:creationId xmlns:p14="http://schemas.microsoft.com/office/powerpoint/2010/main" val="13696325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新建虚拟环境具体步骤与上一步相同，只不过</a:t>
            </a:r>
            <a:r>
              <a:rPr lang="en-US" altLang="zh-CN" dirty="0"/>
              <a:t>Windows</a:t>
            </a:r>
            <a:r>
              <a:rPr lang="zh-CN" altLang="zh-CN" dirty="0"/>
              <a:t>系统是在命令提示符中输入指令，</a:t>
            </a:r>
            <a:r>
              <a:rPr lang="en-US" altLang="zh-CN" dirty="0"/>
              <a:t>Linux</a:t>
            </a:r>
            <a:r>
              <a:rPr lang="zh-CN" altLang="zh-CN" dirty="0"/>
              <a:t>是在终端输入指令，这里不再复述。该步骤中，所有指令均在该虚拟环境下运行。</a:t>
            </a:r>
          </a:p>
          <a:p>
            <a:r>
              <a:rPr lang="zh-CN" altLang="zh-CN" dirty="0" smtClean="0"/>
              <a:t>安装</a:t>
            </a:r>
            <a:r>
              <a:rPr lang="en-US" altLang="zh-CN" dirty="0" err="1"/>
              <a:t>Pytorch</a:t>
            </a:r>
            <a:r>
              <a:rPr lang="zh-CN" altLang="zh-CN" dirty="0"/>
              <a:t>，版本</a:t>
            </a:r>
            <a:r>
              <a:rPr lang="en-US" altLang="zh-CN" dirty="0"/>
              <a:t>1.5.1</a:t>
            </a:r>
            <a:r>
              <a:rPr lang="zh-CN" altLang="zh-CN" dirty="0" smtClean="0"/>
              <a:t>，</a:t>
            </a:r>
            <a:r>
              <a:rPr lang="zh-CN" altLang="en-US" dirty="0"/>
              <a:t>同样</a:t>
            </a:r>
            <a:r>
              <a:rPr lang="zh-CN" altLang="zh-CN" dirty="0" smtClean="0"/>
              <a:t>根据</a:t>
            </a:r>
            <a:r>
              <a:rPr lang="zh-CN" altLang="zh-CN" dirty="0"/>
              <a:t>自身</a:t>
            </a:r>
            <a:r>
              <a:rPr lang="en-US" altLang="zh-CN" dirty="0"/>
              <a:t>GPU/CPU</a:t>
            </a:r>
            <a:r>
              <a:rPr lang="zh-CN" altLang="zh-CN" dirty="0"/>
              <a:t>配置选择指令</a:t>
            </a:r>
            <a:r>
              <a:rPr lang="zh-CN" altLang="zh-CN" dirty="0" smtClean="0"/>
              <a:t>，如果</a:t>
            </a:r>
            <a:r>
              <a:rPr lang="zh-CN" altLang="zh-CN" dirty="0"/>
              <a:t>安装</a:t>
            </a:r>
            <a:r>
              <a:rPr lang="en-US" altLang="zh-CN" dirty="0"/>
              <a:t>GPU</a:t>
            </a:r>
            <a:r>
              <a:rPr lang="zh-CN" altLang="zh-CN" dirty="0"/>
              <a:t>版本</a:t>
            </a:r>
            <a:r>
              <a:rPr lang="zh-CN" altLang="zh-CN" dirty="0" smtClean="0"/>
              <a:t>，</a:t>
            </a:r>
            <a:r>
              <a:rPr lang="zh-CN" altLang="en-US" dirty="0" smtClean="0"/>
              <a:t>还</a:t>
            </a:r>
            <a:r>
              <a:rPr lang="zh-CN" altLang="zh-CN" dirty="0" smtClean="0"/>
              <a:t>需要</a:t>
            </a:r>
            <a:r>
              <a:rPr lang="zh-CN" altLang="zh-CN" dirty="0"/>
              <a:t>注意与</a:t>
            </a:r>
            <a:r>
              <a:rPr lang="en-US" altLang="zh-CN" dirty="0"/>
              <a:t>CUDA</a:t>
            </a:r>
            <a:r>
              <a:rPr lang="zh-CN" altLang="zh-CN" dirty="0"/>
              <a:t>版本适配。</a:t>
            </a:r>
          </a:p>
          <a:p>
            <a:pPr lvl="1"/>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071" y="2537274"/>
            <a:ext cx="6150269" cy="3600000"/>
          </a:xfrm>
          <a:prstGeom prst="rect">
            <a:avLst/>
          </a:prstGeom>
        </p:spPr>
      </p:pic>
    </p:spTree>
    <p:extLst>
      <p:ext uri="{BB962C8B-B14F-4D97-AF65-F5344CB8AC3E}">
        <p14:creationId xmlns:p14="http://schemas.microsoft.com/office/powerpoint/2010/main" val="18031376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本实验以</a:t>
            </a:r>
            <a:r>
              <a:rPr lang="en-US" altLang="zh-CN" dirty="0"/>
              <a:t>CPU</a:t>
            </a:r>
            <a:r>
              <a:rPr lang="zh-CN" altLang="zh-CN" dirty="0"/>
              <a:t>版本为例，命令提示符中进入刚才新建好的环境</a:t>
            </a:r>
            <a:r>
              <a:rPr lang="en-US" altLang="zh-CN" dirty="0"/>
              <a:t>2</a:t>
            </a:r>
            <a:r>
              <a:rPr lang="zh-CN" altLang="zh-CN" dirty="0"/>
              <a:t>并输入指令：</a:t>
            </a:r>
          </a:p>
          <a:p>
            <a:pPr lvl="1"/>
            <a:r>
              <a:rPr lang="en-US" altLang="zh-CN" dirty="0" err="1"/>
              <a:t>conda</a:t>
            </a:r>
            <a:r>
              <a:rPr lang="en-US" altLang="zh-CN" dirty="0"/>
              <a:t> activate onnx2rknn</a:t>
            </a:r>
            <a:endParaRPr lang="zh-CN" altLang="zh-CN" dirty="0"/>
          </a:p>
          <a:p>
            <a:pPr lvl="1"/>
            <a:r>
              <a:rPr lang="en-US" altLang="zh-CN" dirty="0"/>
              <a:t>pip3 install torch==1.5.1+cpu </a:t>
            </a:r>
            <a:r>
              <a:rPr lang="en-US" altLang="zh-CN" dirty="0" err="1"/>
              <a:t>torchvision</a:t>
            </a:r>
            <a:r>
              <a:rPr lang="en-US" altLang="zh-CN" dirty="0"/>
              <a:t>==0.6.1+cpu -f https://download.pytorch.org/whl/torch_stable.html</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5206" y="2367119"/>
            <a:ext cx="7000000" cy="2533333"/>
          </a:xfrm>
          <a:prstGeom prst="rect">
            <a:avLst/>
          </a:prstGeom>
        </p:spPr>
      </p:pic>
    </p:spTree>
    <p:extLst>
      <p:ext uri="{BB962C8B-B14F-4D97-AF65-F5344CB8AC3E}">
        <p14:creationId xmlns:p14="http://schemas.microsoft.com/office/powerpoint/2010/main" val="35317147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在环境</a:t>
            </a:r>
            <a:r>
              <a:rPr lang="en-US" altLang="zh-CN" dirty="0"/>
              <a:t>2</a:t>
            </a:r>
            <a:r>
              <a:rPr lang="zh-CN" altLang="zh-CN" dirty="0"/>
              <a:t>安装</a:t>
            </a:r>
            <a:r>
              <a:rPr lang="en-US" altLang="zh-CN" dirty="0" err="1"/>
              <a:t>rknn</a:t>
            </a:r>
            <a:r>
              <a:rPr lang="zh-CN" altLang="zh-CN" dirty="0"/>
              <a:t>工具包前需要先安装其他必需的依赖库，在环境</a:t>
            </a:r>
            <a:r>
              <a:rPr lang="en-US" altLang="zh-CN" dirty="0"/>
              <a:t>2</a:t>
            </a:r>
            <a:r>
              <a:rPr lang="zh-CN" altLang="zh-CN" dirty="0"/>
              <a:t>下输入指令安装：</a:t>
            </a:r>
          </a:p>
          <a:p>
            <a:pPr lvl="1"/>
            <a:r>
              <a:rPr lang="en-US" altLang="zh-CN" dirty="0"/>
              <a:t>pip3 install -r requirements-cpu.txt</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2340" y="2177274"/>
            <a:ext cx="6025731" cy="3960000"/>
          </a:xfrm>
          <a:prstGeom prst="rect">
            <a:avLst/>
          </a:prstGeom>
        </p:spPr>
      </p:pic>
    </p:spTree>
    <p:extLst>
      <p:ext uri="{BB962C8B-B14F-4D97-AF65-F5344CB8AC3E}">
        <p14:creationId xmlns:p14="http://schemas.microsoft.com/office/powerpoint/2010/main" val="14965703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最后在同样环境同样路径下输入指令安装</a:t>
            </a:r>
            <a:r>
              <a:rPr lang="en-US" altLang="zh-CN" dirty="0" err="1"/>
              <a:t>rknn</a:t>
            </a:r>
            <a:r>
              <a:rPr lang="en-US" altLang="zh-CN" dirty="0"/>
              <a:t>-toolkit</a:t>
            </a:r>
            <a:r>
              <a:rPr lang="zh-CN" altLang="zh-CN" dirty="0"/>
              <a:t>，选择唯一一个</a:t>
            </a:r>
            <a:r>
              <a:rPr lang="en-US" altLang="zh-CN" dirty="0"/>
              <a:t>python3.6</a:t>
            </a:r>
            <a:r>
              <a:rPr lang="zh-CN" altLang="zh-CN" dirty="0"/>
              <a:t>，</a:t>
            </a:r>
            <a:r>
              <a:rPr lang="en-US" altLang="zh-CN" dirty="0"/>
              <a:t>linux_x86_64</a:t>
            </a:r>
            <a:r>
              <a:rPr lang="zh-CN" altLang="zh-CN" dirty="0"/>
              <a:t>操作系统的文件，选择中科大镜像源下载：</a:t>
            </a:r>
          </a:p>
          <a:p>
            <a:pPr lvl="1"/>
            <a:r>
              <a:rPr lang="en-US" altLang="zh-CN" dirty="0"/>
              <a:t>pip3 install rknn_toolkit-1.7.1-cp36-cp36m-linux_x86_64.whl -</a:t>
            </a:r>
            <a:r>
              <a:rPr lang="en-US" altLang="zh-CN" dirty="0" err="1"/>
              <a:t>i</a:t>
            </a:r>
            <a:r>
              <a:rPr lang="en-US" altLang="zh-CN" dirty="0"/>
              <a:t> https://pypi.mirrors.ustc.edu.cn/simple/</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9492" y="2900452"/>
            <a:ext cx="7171428" cy="1466667"/>
          </a:xfrm>
          <a:prstGeom prst="rect">
            <a:avLst/>
          </a:prstGeom>
        </p:spPr>
      </p:pic>
    </p:spTree>
    <p:extLst>
      <p:ext uri="{BB962C8B-B14F-4D97-AF65-F5344CB8AC3E}">
        <p14:creationId xmlns:p14="http://schemas.microsoft.com/office/powerpoint/2010/main" val="21237472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安装完成后，将模型文件夹拖入虚拟机的桌面，打开项目主目录下的</a:t>
            </a:r>
            <a:r>
              <a:rPr lang="en-US" altLang="zh-CN" dirty="0" err="1"/>
              <a:t>rknn_convert_tools</a:t>
            </a:r>
            <a:r>
              <a:rPr lang="zh-CN" altLang="zh-CN" dirty="0" smtClean="0"/>
              <a:t>文件夹</a:t>
            </a:r>
            <a:r>
              <a:rPr lang="zh-CN" altLang="en-US" dirty="0" smtClean="0"/>
              <a:t>：</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2825" y="2576643"/>
            <a:ext cx="6504762" cy="2114286"/>
          </a:xfrm>
          <a:prstGeom prst="rect">
            <a:avLst/>
          </a:prstGeom>
        </p:spPr>
      </p:pic>
    </p:spTree>
    <p:extLst>
      <p:ext uri="{BB962C8B-B14F-4D97-AF65-F5344CB8AC3E}">
        <p14:creationId xmlns:p14="http://schemas.microsoft.com/office/powerpoint/2010/main" val="29414071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o</a:t>
            </a:r>
            <a:r>
              <a:rPr lang="en-US" altLang="zh-CN" dirty="0" err="1" smtClean="0"/>
              <a:t>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转化过程需要原始数据集进行验证评价，由于虚拟机没有安装</a:t>
            </a:r>
            <a:r>
              <a:rPr lang="en-US" altLang="zh-CN" dirty="0" err="1"/>
              <a:t>Pycharm</a:t>
            </a:r>
            <a:r>
              <a:rPr lang="zh-CN" altLang="zh-CN" dirty="0"/>
              <a:t>，需要在终端执行</a:t>
            </a:r>
            <a:r>
              <a:rPr lang="en-US" altLang="zh-CN" dirty="0"/>
              <a:t>Python</a:t>
            </a:r>
            <a:r>
              <a:rPr lang="zh-CN" altLang="zh-CN" dirty="0"/>
              <a:t>程序。</a:t>
            </a:r>
            <a:r>
              <a:rPr lang="zh-CN" altLang="zh-CN" b="1" dirty="0"/>
              <a:t>在该文件夹下重新打开一个终端输入指令</a:t>
            </a:r>
            <a:r>
              <a:rPr lang="zh-CN" altLang="zh-CN" dirty="0"/>
              <a:t>，新打开的终端会自动指向该文件夹路径。首先需要切换至虚拟环境</a:t>
            </a:r>
            <a:r>
              <a:rPr lang="en-US" altLang="zh-CN" dirty="0"/>
              <a:t>2</a:t>
            </a:r>
            <a:r>
              <a:rPr lang="zh-CN" altLang="zh-CN" dirty="0"/>
              <a:t>（之后所有新打开的终端都需要先切换环境），在路径前面由（</a:t>
            </a:r>
            <a:r>
              <a:rPr lang="en-US" altLang="zh-CN" dirty="0"/>
              <a:t>base</a:t>
            </a:r>
            <a:r>
              <a:rPr lang="zh-CN" altLang="zh-CN" dirty="0"/>
              <a:t>）变为（</a:t>
            </a:r>
            <a:r>
              <a:rPr lang="en-US" altLang="zh-CN" dirty="0"/>
              <a:t>onnx2rknn</a:t>
            </a:r>
            <a:r>
              <a:rPr lang="zh-CN" altLang="zh-CN" dirty="0"/>
              <a:t>）后，表示在该环境下执行指令。输入指令：</a:t>
            </a:r>
          </a:p>
          <a:p>
            <a:pPr lvl="1"/>
            <a:r>
              <a:rPr lang="en-US" altLang="zh-CN" dirty="0" err="1"/>
              <a:t>conda</a:t>
            </a:r>
            <a:r>
              <a:rPr lang="en-US" altLang="zh-CN" dirty="0"/>
              <a:t> activate onnx2rknn</a:t>
            </a:r>
            <a:endParaRPr lang="zh-CN" altLang="zh-CN" dirty="0"/>
          </a:p>
          <a:p>
            <a:pPr lvl="1"/>
            <a:r>
              <a:rPr lang="en-US" altLang="zh-CN" dirty="0"/>
              <a:t>python3 get_data.py</a:t>
            </a:r>
            <a:endParaRPr lang="en-US" altLang="zh-CN" dirty="0" smtClean="0"/>
          </a:p>
          <a:p>
            <a:endParaRPr lang="en-US" altLang="zh-CN" dirty="0" smtClean="0"/>
          </a:p>
          <a:p>
            <a:endParaRPr lang="en-US" altLang="zh-CN" dirty="0"/>
          </a:p>
          <a:p>
            <a:endParaRPr lang="en-US" altLang="zh-CN" dirty="0" smtClean="0"/>
          </a:p>
          <a:p>
            <a:endParaRPr lang="en-US" altLang="zh-CN" dirty="0" smtClean="0"/>
          </a:p>
          <a:p>
            <a:endParaRPr lang="zh-CN" altLang="zh-CN" dirty="0"/>
          </a:p>
          <a:p>
            <a:endParaRPr lang="en-US" altLang="zh-CN" dirty="0"/>
          </a:p>
          <a:p>
            <a:endParaRPr lang="zh-CN" altLang="zh-CN" dirty="0"/>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19168"/>
          <a:stretch/>
        </p:blipFill>
        <p:spPr>
          <a:xfrm>
            <a:off x="2563928" y="3257274"/>
            <a:ext cx="7062555" cy="2880000"/>
          </a:xfrm>
          <a:prstGeom prst="rect">
            <a:avLst/>
          </a:prstGeom>
        </p:spPr>
      </p:pic>
    </p:spTree>
    <p:extLst>
      <p:ext uri="{BB962C8B-B14F-4D97-AF65-F5344CB8AC3E}">
        <p14:creationId xmlns:p14="http://schemas.microsoft.com/office/powerpoint/2010/main" val="29752204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运行完成后，会在当前文件夹下生成</a:t>
            </a:r>
            <a:r>
              <a:rPr lang="en-US" altLang="zh-CN" dirty="0"/>
              <a:t>“1.txt”</a:t>
            </a:r>
            <a:r>
              <a:rPr lang="zh-CN" altLang="zh-CN" dirty="0"/>
              <a:t>文件，该文件包含数据集路径。</a:t>
            </a:r>
          </a:p>
          <a:p>
            <a:r>
              <a:rPr lang="zh-CN" altLang="zh-CN" dirty="0"/>
              <a:t>然后修改配置文件</a:t>
            </a:r>
            <a:r>
              <a:rPr lang="en-US" altLang="zh-CN" dirty="0" err="1" smtClean="0"/>
              <a:t>config.yaml</a:t>
            </a:r>
            <a:r>
              <a:rPr lang="zh-CN" altLang="en-US" dirty="0" smtClean="0"/>
              <a:t>：</a:t>
            </a:r>
            <a:endParaRPr lang="en-US" altLang="zh-CN" dirty="0" smtClean="0"/>
          </a:p>
          <a:p>
            <a:pPr lvl="1"/>
            <a:r>
              <a:rPr lang="en-US" altLang="zh-CN" dirty="0" err="1"/>
              <a:t>model_type</a:t>
            </a:r>
            <a:r>
              <a:rPr lang="zh-CN" altLang="zh-CN" dirty="0"/>
              <a:t>修改为</a:t>
            </a:r>
            <a:r>
              <a:rPr lang="en-US" altLang="zh-CN" dirty="0" err="1"/>
              <a:t>onnx</a:t>
            </a:r>
            <a:r>
              <a:rPr lang="zh-CN" altLang="zh-CN" dirty="0"/>
              <a:t>，表示源模型文件类型为</a:t>
            </a:r>
            <a:r>
              <a:rPr lang="en-US" altLang="zh-CN" dirty="0" err="1"/>
              <a:t>onnx</a:t>
            </a:r>
            <a:r>
              <a:rPr lang="zh-CN" altLang="zh-CN" dirty="0"/>
              <a:t>（即刚才的实验步骤转化而得）。</a:t>
            </a:r>
          </a:p>
          <a:p>
            <a:pPr lvl="1"/>
            <a:r>
              <a:rPr lang="en-US" altLang="zh-CN" dirty="0" err="1"/>
              <a:t>onnx</a:t>
            </a:r>
            <a:r>
              <a:rPr lang="zh-CN" altLang="zh-CN" dirty="0"/>
              <a:t>下</a:t>
            </a:r>
            <a:r>
              <a:rPr lang="en-US" altLang="zh-CN" dirty="0"/>
              <a:t>model</a:t>
            </a:r>
            <a:r>
              <a:rPr lang="zh-CN" altLang="zh-CN" dirty="0"/>
              <a:t>修改路径，默认路径为</a:t>
            </a:r>
            <a:r>
              <a:rPr lang="en-US" altLang="zh-CN" dirty="0"/>
              <a:t>“../</a:t>
            </a:r>
            <a:r>
              <a:rPr lang="en-US" altLang="zh-CN" dirty="0" err="1"/>
              <a:t>model_data</a:t>
            </a:r>
            <a:r>
              <a:rPr lang="en-US" altLang="zh-CN" dirty="0"/>
              <a:t>/</a:t>
            </a:r>
            <a:r>
              <a:rPr lang="en-US" altLang="zh-CN" dirty="0" err="1"/>
              <a:t>models.onnx</a:t>
            </a:r>
            <a:r>
              <a:rPr lang="en-US" altLang="zh-CN" dirty="0"/>
              <a:t>”</a:t>
            </a:r>
            <a:r>
              <a:rPr lang="zh-CN" altLang="zh-CN" dirty="0"/>
              <a:t>。（如果按步骤进行，此处不用修改）。</a:t>
            </a:r>
          </a:p>
          <a:p>
            <a:pPr lvl="1"/>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9451" y="2897274"/>
            <a:ext cx="5751510" cy="3240000"/>
          </a:xfrm>
          <a:prstGeom prst="rect">
            <a:avLst/>
          </a:prstGeom>
        </p:spPr>
      </p:pic>
    </p:spTree>
    <p:extLst>
      <p:ext uri="{BB962C8B-B14F-4D97-AF65-F5344CB8AC3E}">
        <p14:creationId xmlns:p14="http://schemas.microsoft.com/office/powerpoint/2010/main" val="37655218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然后修改配置文件</a:t>
            </a:r>
            <a:r>
              <a:rPr lang="en-US" altLang="zh-CN" dirty="0" err="1"/>
              <a:t>config.yaml</a:t>
            </a:r>
            <a:r>
              <a:rPr lang="zh-CN" altLang="en-US" dirty="0"/>
              <a:t>：</a:t>
            </a:r>
            <a:endParaRPr lang="en-US" altLang="zh-CN" dirty="0" smtClean="0"/>
          </a:p>
          <a:p>
            <a:pPr lvl="1"/>
            <a:r>
              <a:rPr lang="en-US" altLang="zh-CN" dirty="0" smtClean="0"/>
              <a:t>build</a:t>
            </a:r>
            <a:r>
              <a:rPr lang="zh-CN" altLang="zh-CN" dirty="0"/>
              <a:t>下</a:t>
            </a:r>
            <a:r>
              <a:rPr lang="en-US" altLang="zh-CN" dirty="0" err="1"/>
              <a:t>do_quantization</a:t>
            </a:r>
            <a:r>
              <a:rPr lang="zh-CN" altLang="zh-CN" dirty="0"/>
              <a:t>（量化）改为</a:t>
            </a:r>
            <a:r>
              <a:rPr lang="en-US" altLang="zh-CN" dirty="0"/>
              <a:t>True</a:t>
            </a:r>
            <a:r>
              <a:rPr lang="zh-CN" altLang="zh-CN" dirty="0"/>
              <a:t>，</a:t>
            </a:r>
            <a:r>
              <a:rPr lang="en-US" altLang="zh-CN" dirty="0"/>
              <a:t>dataset</a:t>
            </a:r>
            <a:r>
              <a:rPr lang="zh-CN" altLang="zh-CN" dirty="0"/>
              <a:t>改为刚才生成的</a:t>
            </a:r>
            <a:r>
              <a:rPr lang="en-US" altLang="zh-CN" dirty="0"/>
              <a:t>“./1.txt”</a:t>
            </a:r>
            <a:r>
              <a:rPr lang="zh-CN" altLang="zh-CN" dirty="0"/>
              <a:t>，</a:t>
            </a:r>
            <a:r>
              <a:rPr lang="en-US" altLang="zh-CN" dirty="0" err="1"/>
              <a:t>pre_compile</a:t>
            </a:r>
            <a:r>
              <a:rPr lang="zh-CN" altLang="zh-CN" dirty="0"/>
              <a:t>（预编译）改为</a:t>
            </a:r>
            <a:r>
              <a:rPr lang="en-US" altLang="zh-CN" dirty="0"/>
              <a:t>True</a:t>
            </a:r>
            <a:r>
              <a:rPr lang="zh-CN" altLang="zh-CN" dirty="0" smtClean="0"/>
              <a:t>。</a:t>
            </a:r>
            <a:endParaRPr lang="en-US" altLang="zh-CN" dirty="0" smtClean="0"/>
          </a:p>
          <a:p>
            <a:pPr lvl="2"/>
            <a:r>
              <a:rPr lang="zh-CN" altLang="zh-CN" b="1" dirty="0"/>
              <a:t>注：目前只有</a:t>
            </a:r>
            <a:r>
              <a:rPr lang="en-US" altLang="zh-CN" b="1" dirty="0"/>
              <a:t>x86_64 Ubuntu</a:t>
            </a:r>
            <a:r>
              <a:rPr lang="zh-CN" altLang="zh-CN" b="1" dirty="0"/>
              <a:t>平台支持直接从原始模型生成预编译</a:t>
            </a:r>
            <a:r>
              <a:rPr lang="en-US" altLang="zh-CN" b="1" dirty="0"/>
              <a:t>RKNN</a:t>
            </a:r>
            <a:r>
              <a:rPr lang="zh-CN" altLang="zh-CN" b="1" dirty="0"/>
              <a:t>模型，因此该步骤需要通过</a:t>
            </a:r>
            <a:r>
              <a:rPr lang="zh-CN" altLang="zh-CN" b="1" dirty="0" smtClean="0"/>
              <a:t>虚拟机</a:t>
            </a:r>
            <a:r>
              <a:rPr lang="en-US" altLang="zh-CN" b="1" dirty="0" smtClean="0"/>
              <a:t>/</a:t>
            </a:r>
            <a:r>
              <a:rPr lang="en-US" altLang="zh-CN" b="1" dirty="0"/>
              <a:t>x86_64Ubuntu</a:t>
            </a:r>
            <a:r>
              <a:rPr lang="zh-CN" altLang="zh-CN" b="1" dirty="0"/>
              <a:t>的</a:t>
            </a:r>
            <a:r>
              <a:rPr lang="en-US" altLang="zh-CN" b="1" dirty="0"/>
              <a:t>PC</a:t>
            </a:r>
            <a:r>
              <a:rPr lang="zh-CN" altLang="zh-CN" b="1" dirty="0"/>
              <a:t>机完成。</a:t>
            </a:r>
            <a:endParaRPr lang="zh-CN" altLang="zh-CN" dirty="0"/>
          </a:p>
          <a:p>
            <a:pPr lvl="1"/>
            <a:r>
              <a:rPr lang="en-US" altLang="zh-CN" dirty="0" err="1"/>
              <a:t>export_rknn</a:t>
            </a:r>
            <a:r>
              <a:rPr lang="zh-CN" altLang="zh-CN" dirty="0"/>
              <a:t>下</a:t>
            </a:r>
            <a:r>
              <a:rPr lang="en-US" altLang="zh-CN" dirty="0" err="1"/>
              <a:t>export_path</a:t>
            </a:r>
            <a:r>
              <a:rPr lang="zh-CN" altLang="zh-CN" dirty="0"/>
              <a:t>为生成</a:t>
            </a:r>
            <a:r>
              <a:rPr lang="en-US" altLang="zh-CN" dirty="0" err="1"/>
              <a:t>rknn</a:t>
            </a:r>
            <a:r>
              <a:rPr lang="zh-CN" altLang="zh-CN" dirty="0"/>
              <a:t>模型的存储路径，默认路径为</a:t>
            </a:r>
            <a:r>
              <a:rPr lang="en-US" altLang="zh-CN" dirty="0"/>
              <a:t>“./</a:t>
            </a:r>
            <a:r>
              <a:rPr lang="en-US" altLang="zh-CN" dirty="0" err="1"/>
              <a:t>models.rknn</a:t>
            </a:r>
            <a:r>
              <a:rPr lang="en-US" altLang="zh-CN" dirty="0"/>
              <a:t>”</a:t>
            </a:r>
            <a:r>
              <a:rPr lang="zh-CN" altLang="zh-CN" dirty="0"/>
              <a:t>。</a:t>
            </a:r>
          </a:p>
          <a:p>
            <a:pPr lvl="1"/>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0664" y="2897274"/>
            <a:ext cx="4949084" cy="3240000"/>
          </a:xfrm>
          <a:prstGeom prst="rect">
            <a:avLst/>
          </a:prstGeom>
        </p:spPr>
      </p:pic>
    </p:spTree>
    <p:extLst>
      <p:ext uri="{BB962C8B-B14F-4D97-AF65-F5344CB8AC3E}">
        <p14:creationId xmlns:p14="http://schemas.microsoft.com/office/powerpoint/2010/main" val="27937756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onnx</a:t>
            </a:r>
            <a:r>
              <a:rPr lang="zh-CN" altLang="en-US" dirty="0" smtClean="0"/>
              <a:t>转</a:t>
            </a:r>
            <a:r>
              <a:rPr lang="en-US" altLang="zh-CN" dirty="0" err="1" smtClean="0"/>
              <a:t>rknn</a:t>
            </a:r>
            <a:endParaRPr lang="zh-CN" altLang="en-US" dirty="0"/>
          </a:p>
        </p:txBody>
      </p:sp>
      <p:sp>
        <p:nvSpPr>
          <p:cNvPr id="3" name="内容占位符 2"/>
          <p:cNvSpPr>
            <a:spLocks noGrp="1"/>
          </p:cNvSpPr>
          <p:nvPr>
            <p:ph sz="quarter" idx="13"/>
          </p:nvPr>
        </p:nvSpPr>
        <p:spPr/>
        <p:txBody>
          <a:bodyPr/>
          <a:lstStyle/>
          <a:p>
            <a:r>
              <a:rPr lang="zh-CN" altLang="zh-CN" dirty="0"/>
              <a:t>修改完毕后保存并关闭</a:t>
            </a:r>
            <a:r>
              <a:rPr lang="en-US" altLang="zh-CN" dirty="0" err="1"/>
              <a:t>config.yaml</a:t>
            </a:r>
            <a:r>
              <a:rPr lang="zh-CN" altLang="zh-CN" dirty="0"/>
              <a:t>，在刚才的终端中输入指令：</a:t>
            </a:r>
          </a:p>
          <a:p>
            <a:pPr lvl="1"/>
            <a:r>
              <a:rPr lang="en-US" altLang="zh-CN" dirty="0"/>
              <a:t>python3 </a:t>
            </a:r>
            <a:r>
              <a:rPr lang="en-US" altLang="zh-CN" dirty="0" smtClean="0"/>
              <a:t>rknn_convert.py</a:t>
            </a:r>
          </a:p>
          <a:p>
            <a:r>
              <a:rPr lang="zh-CN" altLang="zh-CN" dirty="0"/>
              <a:t>运行</a:t>
            </a:r>
            <a:r>
              <a:rPr lang="en-US" altLang="zh-CN" dirty="0"/>
              <a:t>rknn_convert.py</a:t>
            </a:r>
            <a:r>
              <a:rPr lang="zh-CN" altLang="zh-CN" dirty="0"/>
              <a:t>开始转化。转化比较慢，需要消耗大量资源，请耐心等待。转化完成后，会在当前目录生成转化日志</a:t>
            </a:r>
            <a:r>
              <a:rPr lang="en-US" altLang="zh-CN" dirty="0"/>
              <a:t>log_feedback_*****.log</a:t>
            </a:r>
            <a:r>
              <a:rPr lang="zh-CN" altLang="zh-CN" dirty="0"/>
              <a:t>文件以及所需模型文件</a:t>
            </a:r>
            <a:r>
              <a:rPr lang="en-US" altLang="zh-CN" dirty="0" err="1"/>
              <a:t>models.rknn</a:t>
            </a:r>
            <a:r>
              <a:rPr lang="zh-CN" altLang="zh-CN" dirty="0"/>
              <a:t>。如果是</a:t>
            </a:r>
            <a:r>
              <a:rPr lang="en-US" altLang="zh-CN" dirty="0" err="1"/>
              <a:t>cpu</a:t>
            </a:r>
            <a:r>
              <a:rPr lang="zh-CN" altLang="zh-CN" dirty="0"/>
              <a:t>转化方式，还会生成一个</a:t>
            </a:r>
            <a:r>
              <a:rPr lang="en-US" altLang="zh-CN" dirty="0"/>
              <a:t>snapshot</a:t>
            </a:r>
            <a:r>
              <a:rPr lang="zh-CN" altLang="zh-CN" dirty="0"/>
              <a:t>文件夹。</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206" y="3257274"/>
            <a:ext cx="8640000" cy="2880000"/>
          </a:xfrm>
          <a:prstGeom prst="rect">
            <a:avLst/>
          </a:prstGeom>
        </p:spPr>
      </p:pic>
    </p:spTree>
    <p:extLst>
      <p:ext uri="{BB962C8B-B14F-4D97-AF65-F5344CB8AC3E}">
        <p14:creationId xmlns:p14="http://schemas.microsoft.com/office/powerpoint/2010/main" val="33328256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smtClean="0"/>
              <a:t>最终</a:t>
            </a:r>
            <a:r>
              <a:rPr lang="en-US" altLang="zh-CN" dirty="0" err="1"/>
              <a:t>rknn_convert_tools</a:t>
            </a:r>
            <a:r>
              <a:rPr lang="zh-CN" altLang="zh-CN" dirty="0"/>
              <a:t>文件夹内容如下，其中</a:t>
            </a:r>
            <a:r>
              <a:rPr lang="en-US" altLang="zh-CN" dirty="0" err="1"/>
              <a:t>models.rknn</a:t>
            </a:r>
            <a:r>
              <a:rPr lang="zh-CN" altLang="zh-CN" dirty="0"/>
              <a:t>是最终要使用的模型</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3777" y="1838548"/>
            <a:ext cx="6542857" cy="3590476"/>
          </a:xfrm>
          <a:prstGeom prst="rect">
            <a:avLst/>
          </a:prstGeom>
        </p:spPr>
      </p:pic>
    </p:spTree>
    <p:extLst>
      <p:ext uri="{BB962C8B-B14F-4D97-AF65-F5344CB8AC3E}">
        <p14:creationId xmlns:p14="http://schemas.microsoft.com/office/powerpoint/2010/main" val="7400486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按照</a:t>
            </a:r>
            <a:r>
              <a:rPr lang="en-US" altLang="zh-CN" dirty="0"/>
              <a:t>requirements.txt</a:t>
            </a:r>
            <a:r>
              <a:rPr lang="zh-CN" altLang="zh-CN" dirty="0"/>
              <a:t>下载必需库时，可以使用国内镜像源加快下载速度，也可以避免因超时产生的报错。指令为</a:t>
            </a:r>
            <a:r>
              <a:rPr lang="zh-CN" altLang="zh-CN" dirty="0" smtClean="0"/>
              <a:t>：</a:t>
            </a:r>
            <a:endParaRPr lang="en-US" altLang="zh-CN" dirty="0" smtClean="0"/>
          </a:p>
          <a:p>
            <a:pPr lvl="1"/>
            <a:r>
              <a:rPr lang="en-US" altLang="zh-CN" dirty="0"/>
              <a:t>pip install -r requirements.txt –</a:t>
            </a:r>
            <a:r>
              <a:rPr lang="en-US" altLang="zh-CN" dirty="0" err="1"/>
              <a:t>i</a:t>
            </a:r>
            <a:r>
              <a:rPr lang="en-US" altLang="zh-CN" dirty="0"/>
              <a:t> https://************</a:t>
            </a:r>
            <a:r>
              <a:rPr lang="zh-CN" altLang="zh-CN" dirty="0"/>
              <a:t>（国内镜像源）</a:t>
            </a:r>
          </a:p>
          <a:p>
            <a:r>
              <a:rPr lang="zh-CN" altLang="zh-CN" dirty="0"/>
              <a:t>常用国内镜像源地址：</a:t>
            </a:r>
          </a:p>
          <a:p>
            <a:pPr lvl="1"/>
            <a:r>
              <a:rPr lang="zh-CN" altLang="zh-CN" dirty="0"/>
              <a:t>阿里云：</a:t>
            </a:r>
            <a:r>
              <a:rPr lang="en-US" altLang="zh-CN" u="sng" dirty="0">
                <a:hlinkClick r:id="rId2"/>
              </a:rPr>
              <a:t>http://mirrors.aliyun.com/pypi/simple/</a:t>
            </a:r>
            <a:endParaRPr lang="zh-CN" altLang="zh-CN" dirty="0"/>
          </a:p>
          <a:p>
            <a:pPr lvl="1"/>
            <a:r>
              <a:rPr lang="zh-CN" altLang="zh-CN" dirty="0"/>
              <a:t>中科大：</a:t>
            </a:r>
            <a:r>
              <a:rPr lang="en-US" altLang="zh-CN" u="sng" dirty="0">
                <a:hlinkClick r:id="rId3"/>
              </a:rPr>
              <a:t>https://pypi.mirrors.ustc.edu.cn/simple/</a:t>
            </a:r>
            <a:endParaRPr lang="zh-CN" altLang="zh-CN" dirty="0"/>
          </a:p>
          <a:p>
            <a:pPr lvl="1"/>
            <a:r>
              <a:rPr lang="zh-CN" altLang="zh-CN" dirty="0"/>
              <a:t>豆瓣：</a:t>
            </a:r>
            <a:r>
              <a:rPr lang="en-US" altLang="zh-CN" u="sng" dirty="0">
                <a:hlinkClick r:id="rId4"/>
              </a:rPr>
              <a:t>http://pypi.douban.com/simple/</a:t>
            </a:r>
            <a:endParaRPr lang="zh-CN" altLang="zh-CN" dirty="0"/>
          </a:p>
          <a:p>
            <a:pPr lvl="1"/>
            <a:r>
              <a:rPr lang="zh-CN" altLang="zh-CN" dirty="0"/>
              <a:t>清华大学：</a:t>
            </a:r>
            <a:r>
              <a:rPr lang="en-US" altLang="zh-CN" u="sng" dirty="0">
                <a:hlinkClick r:id="rId5"/>
              </a:rPr>
              <a:t>https://pypi.tuna.tsinghua.edu.cn/simple/</a:t>
            </a:r>
            <a:endParaRPr lang="zh-CN" altLang="zh-CN" dirty="0"/>
          </a:p>
          <a:p>
            <a:r>
              <a:rPr lang="zh-CN" altLang="zh-CN" dirty="0"/>
              <a:t>部分库的安装会出现下载超时等情况，换源多尝试几次或单独输入一条指令安装：</a:t>
            </a:r>
          </a:p>
          <a:p>
            <a:pPr lvl="1"/>
            <a:r>
              <a:rPr lang="en-US" altLang="zh-CN" dirty="0"/>
              <a:t>pip install &lt;</a:t>
            </a:r>
            <a:r>
              <a:rPr lang="zh-CN" altLang="zh-CN" dirty="0"/>
              <a:t>库的名称</a:t>
            </a:r>
            <a:r>
              <a:rPr lang="en-US" altLang="zh-CN" dirty="0"/>
              <a:t>&gt; == &lt;</a:t>
            </a:r>
            <a:r>
              <a:rPr lang="zh-CN" altLang="zh-CN" dirty="0"/>
              <a:t>库的版本</a:t>
            </a:r>
            <a:r>
              <a:rPr lang="en-US" altLang="zh-CN" dirty="0"/>
              <a:t>&gt; -</a:t>
            </a:r>
            <a:r>
              <a:rPr lang="en-US" altLang="zh-CN" dirty="0" err="1"/>
              <a:t>i</a:t>
            </a:r>
            <a:r>
              <a:rPr lang="en-US" altLang="zh-CN" dirty="0"/>
              <a:t> https://************（</a:t>
            </a:r>
            <a:r>
              <a:rPr lang="en-US" altLang="zh-CN" dirty="0" err="1"/>
              <a:t>国内镜像源</a:t>
            </a:r>
            <a:r>
              <a:rPr lang="zh-CN" altLang="zh-CN" dirty="0"/>
              <a:t>）</a:t>
            </a:r>
          </a:p>
          <a:p>
            <a:endParaRPr lang="zh-CN" altLang="zh-CN"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72565356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2"/>
            </a:pPr>
            <a:r>
              <a:rPr lang="zh-CN" altLang="zh-CN" dirty="0"/>
              <a:t>转化</a:t>
            </a:r>
            <a:r>
              <a:rPr lang="en-US" altLang="zh-CN" dirty="0" err="1"/>
              <a:t>rknn</a:t>
            </a:r>
            <a:r>
              <a:rPr lang="zh-CN" altLang="zh-CN" dirty="0"/>
              <a:t>过程中出现大量</a:t>
            </a:r>
            <a:r>
              <a:rPr lang="en-US" altLang="zh-CN" dirty="0" smtClean="0"/>
              <a:t>Error</a:t>
            </a:r>
            <a:r>
              <a:rPr lang="zh-CN" altLang="en-US" dirty="0" smtClean="0"/>
              <a:t>语句</a:t>
            </a:r>
            <a:r>
              <a:rPr lang="zh-CN" altLang="zh-CN" dirty="0" smtClean="0"/>
              <a:t>：</a:t>
            </a:r>
            <a:endParaRPr lang="en-US" altLang="zh-CN" dirty="0" smtClean="0"/>
          </a:p>
          <a:p>
            <a:pPr marL="342900" lvl="0" indent="-342900">
              <a:buFont typeface="+mj-lt"/>
              <a:buAutoNum type="arabicPeriod" startAt="2"/>
            </a:pPr>
            <a:endParaRPr lang="en-US" altLang="zh-CN" dirty="0"/>
          </a:p>
          <a:p>
            <a:pPr marL="342900" lvl="0" indent="-342900">
              <a:buFont typeface="+mj-lt"/>
              <a:buAutoNum type="arabicPeriod" startAt="2"/>
            </a:pPr>
            <a:endParaRPr lang="en-US" altLang="zh-CN" dirty="0" smtClean="0"/>
          </a:p>
          <a:p>
            <a:pPr marL="342900" lvl="0" indent="-342900">
              <a:buFont typeface="+mj-lt"/>
              <a:buAutoNum type="arabicPeriod" startAt="2"/>
            </a:pPr>
            <a:endParaRPr lang="en-US" altLang="zh-CN" dirty="0"/>
          </a:p>
          <a:p>
            <a:pPr marL="342900" lvl="0" indent="-342900">
              <a:buFont typeface="+mj-lt"/>
              <a:buAutoNum type="arabicPeriod" startAt="2"/>
            </a:pPr>
            <a:endParaRPr lang="en-US" altLang="zh-CN" dirty="0" smtClean="0"/>
          </a:p>
          <a:p>
            <a:pPr marL="342900" lvl="0" indent="-342900">
              <a:buFont typeface="+mj-lt"/>
              <a:buAutoNum type="arabicPeriod" startAt="2"/>
            </a:pPr>
            <a:endParaRPr lang="en-US" altLang="zh-CN" dirty="0"/>
          </a:p>
          <a:p>
            <a:pPr marL="342900" lvl="0" indent="-342900">
              <a:buFont typeface="+mj-lt"/>
              <a:buAutoNum type="arabicPeriod" startAt="2"/>
            </a:pPr>
            <a:endParaRPr lang="en-US" altLang="zh-CN" dirty="0" smtClean="0"/>
          </a:p>
          <a:p>
            <a:pPr marL="342900" lvl="0" indent="-342900">
              <a:buFont typeface="+mj-lt"/>
              <a:buAutoNum type="arabicPeriod" startAt="2"/>
            </a:pPr>
            <a:endParaRPr lang="en-US" altLang="zh-CN" dirty="0"/>
          </a:p>
          <a:p>
            <a:r>
              <a:rPr lang="zh-CN" altLang="zh-CN" dirty="0" smtClean="0"/>
              <a:t>原因</a:t>
            </a:r>
            <a:r>
              <a:rPr lang="zh-CN" altLang="zh-CN" dirty="0"/>
              <a:t>是转化过程没有连接</a:t>
            </a:r>
            <a:r>
              <a:rPr lang="en-US" altLang="zh-CN" dirty="0" err="1"/>
              <a:t>rknn</a:t>
            </a:r>
            <a:r>
              <a:rPr lang="zh-CN" altLang="zh-CN" dirty="0"/>
              <a:t>设备报错，但不影响正常转化，可以无视。</a:t>
            </a:r>
          </a:p>
          <a:p>
            <a:pPr marL="342900" lvl="0" indent="-342900">
              <a:buFont typeface="+mj-lt"/>
              <a:buAutoNum type="arabicPeriod" startAt="3"/>
            </a:pPr>
            <a:r>
              <a:rPr lang="zh-CN" altLang="zh-CN" dirty="0" smtClean="0"/>
              <a:t>若</a:t>
            </a:r>
            <a:r>
              <a:rPr lang="zh-CN" altLang="zh-CN" dirty="0"/>
              <a:t>通过官方下载的</a:t>
            </a:r>
            <a:r>
              <a:rPr lang="en-US" altLang="zh-CN" dirty="0" err="1"/>
              <a:t>rknn</a:t>
            </a:r>
            <a:r>
              <a:rPr lang="en-US" altLang="zh-CN" dirty="0"/>
              <a:t>-toolkit</a:t>
            </a:r>
            <a:r>
              <a:rPr lang="zh-CN" altLang="zh-CN" dirty="0"/>
              <a:t>，</a:t>
            </a:r>
            <a:r>
              <a:rPr lang="en-US" altLang="zh-CN" dirty="0"/>
              <a:t>requirements-cpu.txt/requirements-gpu.txt</a:t>
            </a:r>
            <a:r>
              <a:rPr lang="zh-CN" altLang="zh-CN" dirty="0"/>
              <a:t>需要删除</a:t>
            </a:r>
            <a:r>
              <a:rPr lang="en-US" altLang="zh-CN" dirty="0"/>
              <a:t>torch</a:t>
            </a:r>
            <a:r>
              <a:rPr lang="zh-CN" altLang="zh-CN" dirty="0"/>
              <a:t>和</a:t>
            </a:r>
            <a:r>
              <a:rPr lang="en-US" altLang="zh-CN" dirty="0" err="1"/>
              <a:t>torchvision</a:t>
            </a:r>
            <a:r>
              <a:rPr lang="en-US" altLang="zh-CN" dirty="0"/>
              <a:t>(</a:t>
            </a:r>
            <a:r>
              <a:rPr lang="zh-CN" altLang="zh-CN" dirty="0"/>
              <a:t>通过官网指令单独下载</a:t>
            </a:r>
            <a:r>
              <a:rPr lang="en-US" altLang="zh-CN" dirty="0"/>
              <a:t>)</a:t>
            </a:r>
            <a:r>
              <a:rPr lang="zh-CN" altLang="zh-CN" dirty="0"/>
              <a:t>，并加上</a:t>
            </a:r>
            <a:r>
              <a:rPr lang="en-US" altLang="zh-CN" dirty="0" err="1"/>
              <a:t>tqdm</a:t>
            </a:r>
            <a:r>
              <a:rPr lang="en-US" altLang="zh-CN" dirty="0"/>
              <a:t>==4.64.1</a:t>
            </a:r>
            <a:r>
              <a:rPr lang="zh-CN" altLang="zh-CN" dirty="0"/>
              <a:t>。</a:t>
            </a:r>
            <a:endParaRPr lang="en-US" altLang="zh-CN" dirty="0"/>
          </a:p>
          <a:p>
            <a:endParaRPr lang="zh-CN" altLang="zh-CN" dirty="0"/>
          </a:p>
          <a:p>
            <a:pPr marL="342900" indent="-342900">
              <a:buFont typeface="+mj-lt"/>
              <a:buAutoNum type="arabicPeriod" startAt="2"/>
            </a:pP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5729" y="1586137"/>
            <a:ext cx="7658953" cy="3240000"/>
          </a:xfrm>
          <a:prstGeom prst="rect">
            <a:avLst/>
          </a:prstGeom>
        </p:spPr>
      </p:pic>
    </p:spTree>
    <p:extLst>
      <p:ext uri="{BB962C8B-B14F-4D97-AF65-F5344CB8AC3E}">
        <p14:creationId xmlns:p14="http://schemas.microsoft.com/office/powerpoint/2010/main" val="4086346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en-US" altLang="zh-CN" dirty="0" err="1" smtClean="0"/>
              <a:t>Pytorch</a:t>
            </a:r>
            <a:r>
              <a:rPr lang="zh-CN" altLang="en-US" dirty="0" smtClean="0"/>
              <a:t>框架模型转化成开放格式</a:t>
            </a:r>
            <a:r>
              <a:rPr lang="en-US" altLang="zh-CN" dirty="0" err="1" smtClean="0"/>
              <a:t>onnx</a:t>
            </a:r>
            <a:endParaRPr lang="en-US" altLang="zh-CN" dirty="0" smtClean="0"/>
          </a:p>
          <a:p>
            <a:r>
              <a:rPr lang="zh-CN" altLang="en-US" dirty="0" smtClean="0"/>
              <a:t>通过</a:t>
            </a:r>
            <a:r>
              <a:rPr lang="en-US" altLang="zh-CN" dirty="0" smtClean="0"/>
              <a:t>Linux</a:t>
            </a:r>
            <a:r>
              <a:rPr lang="zh-CN" altLang="en-US" dirty="0" smtClean="0"/>
              <a:t>指令将</a:t>
            </a:r>
            <a:r>
              <a:rPr lang="en-US" altLang="zh-CN" dirty="0" err="1" smtClean="0"/>
              <a:t>onnx</a:t>
            </a:r>
            <a:r>
              <a:rPr lang="zh-CN" altLang="en-US" dirty="0" smtClean="0"/>
              <a:t>转化成嵌入式</a:t>
            </a:r>
            <a:r>
              <a:rPr lang="zh-CN" altLang="en-US" dirty="0"/>
              <a:t>开发板</a:t>
            </a:r>
            <a:r>
              <a:rPr lang="zh-CN" altLang="en-US" dirty="0" smtClean="0"/>
              <a:t>格式</a:t>
            </a:r>
            <a:r>
              <a:rPr lang="en-US" altLang="zh-CN" dirty="0" err="1" smtClean="0"/>
              <a:t>rknn</a:t>
            </a:r>
            <a:endParaRPr lang="en-US" altLang="zh-CN" dirty="0" smtClean="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1749</TotalTime>
  <Words>3129</Words>
  <Application>Microsoft Office PowerPoint</Application>
  <PresentationFormat>宽屏</PresentationFormat>
  <Paragraphs>339</Paragraphs>
  <Slides>65</Slides>
  <Notes>11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65</vt:i4>
      </vt:variant>
    </vt:vector>
  </HeadingPairs>
  <TitlesOfParts>
    <vt:vector size="72" baseType="lpstr">
      <vt:lpstr>等线</vt:lpstr>
      <vt:lpstr>宋体</vt:lpstr>
      <vt:lpstr>微软雅黑</vt:lpstr>
      <vt:lpstr>Arial</vt:lpstr>
      <vt:lpstr>Calibri</vt:lpstr>
      <vt:lpstr>Ebrima</vt:lpstr>
      <vt:lpstr>主题5</vt:lpstr>
      <vt:lpstr>嵌入式设备实现目标检测</vt:lpstr>
      <vt:lpstr>课程目标</vt:lpstr>
      <vt:lpstr>PowerPoint 演示文稿</vt:lpstr>
      <vt:lpstr>/01</vt:lpstr>
      <vt:lpstr>实验介绍</vt:lpstr>
      <vt:lpstr>/02</vt:lpstr>
      <vt:lpstr>实验环境</vt:lpstr>
      <vt:lpstr>实验环境</vt:lpstr>
      <vt:lpstr>/03</vt:lpstr>
      <vt:lpstr>实验步骤</vt:lpstr>
      <vt:lpstr>实验流程</vt:lpstr>
      <vt:lpstr>Pytorch转onnx</vt:lpstr>
      <vt:lpstr>Pytorch转onnx</vt:lpstr>
      <vt:lpstr>Pytorch转onnx</vt:lpstr>
      <vt:lpstr>Pytorch转onnx</vt:lpstr>
      <vt:lpstr>Pytorch转onnx</vt:lpstr>
      <vt:lpstr>Pytorch转onnx</vt:lpstr>
      <vt:lpstr>Pytorch转onnx</vt:lpstr>
      <vt:lpstr>Pytorch转onnx</vt:lpstr>
      <vt:lpstr>Pytorch转onnx</vt:lpstr>
      <vt:lpstr>Pytorch转onnx</vt:lpstr>
      <vt:lpstr>Pytorch转onnx</vt:lpstr>
      <vt:lpstr>Pytorch转onnx</vt:lpstr>
      <vt:lpstr>实验流程</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虚拟机安装使用</vt:lpstr>
      <vt:lpstr>实验流程</vt:lpstr>
      <vt:lpstr>onnx转rknn</vt:lpstr>
      <vt:lpstr>onnx转rknn</vt:lpstr>
      <vt:lpstr>onnx转rknn</vt:lpstr>
      <vt:lpstr>onnx转rknn</vt:lpstr>
      <vt:lpstr>onnx转rknn</vt:lpstr>
      <vt:lpstr>onnx转rknn</vt:lpstr>
      <vt:lpstr>onnx转rknn</vt:lpstr>
      <vt:lpstr>onnx转rknn</vt:lpstr>
      <vt:lpstr>onnx转rknn</vt:lpstr>
      <vt:lpstr>onnx转rknn</vt:lpstr>
      <vt:lpstr>onnx转rknn</vt:lpstr>
      <vt:lpstr>onnx转rknn</vt:lpstr>
      <vt:lpstr>实验结果</vt:lpstr>
      <vt:lpstr>/04</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51</cp:revision>
  <cp:lastPrinted>2018-09-20T16:00:00Z</cp:lastPrinted>
  <dcterms:created xsi:type="dcterms:W3CDTF">2022-06-27T01:42:48Z</dcterms:created>
  <dcterms:modified xsi:type="dcterms:W3CDTF">2022-12-27T09:36:26Z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