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6" r:id="rId2"/>
    <p:sldId id="265" r:id="rId3"/>
    <p:sldId id="262" r:id="rId4"/>
    <p:sldId id="257" r:id="rId5"/>
    <p:sldId id="260" r:id="rId6"/>
    <p:sldId id="266" r:id="rId7"/>
    <p:sldId id="270" r:id="rId8"/>
    <p:sldId id="267" r:id="rId9"/>
    <p:sldId id="271" r:id="rId10"/>
    <p:sldId id="275" r:id="rId11"/>
    <p:sldId id="279" r:id="rId12"/>
    <p:sldId id="283" r:id="rId13"/>
    <p:sldId id="284" r:id="rId14"/>
    <p:sldId id="285" r:id="rId15"/>
    <p:sldId id="286" r:id="rId16"/>
    <p:sldId id="282" r:id="rId17"/>
    <p:sldId id="280" r:id="rId18"/>
    <p:sldId id="288" r:id="rId19"/>
    <p:sldId id="289" r:id="rId20"/>
    <p:sldId id="290" r:id="rId21"/>
    <p:sldId id="291" r:id="rId22"/>
    <p:sldId id="268" r:id="rId23"/>
    <p:sldId id="272" r:id="rId24"/>
    <p:sldId id="264" r:id="rId25"/>
    <p:sldId id="261" r:id="rId26"/>
  </p:sldIdLst>
  <p:sldSz cx="12192000" cy="6858000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24" autoAdjust="0"/>
  </p:normalViewPr>
  <p:slideViewPr>
    <p:cSldViewPr snapToGrid="0" showGuides="1">
      <p:cViewPr varScale="1">
        <p:scale>
          <a:sx n="114" d="100"/>
          <a:sy n="114" d="100"/>
        </p:scale>
        <p:origin x="420" y="102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/>
            <a:t>修改原始代码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推理模型检测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7787033-9692-42DE-A1DE-BC1E15B1222B}" type="presOf" srcId="{C6C44482-D821-4FAE-BB52-29931F8BCBDE}" destId="{E2DC7CE9-31B9-4959-914F-451EA2F3687E}" srcOrd="0" destOrd="0" presId="urn:microsoft.com/office/officeart/2005/8/layout/chevron1"/>
    <dgm:cxn modelId="{80F8930D-5816-4EC5-A90F-461BE15645B6}" srcId="{314AE731-DFBF-4A5B-8171-86B7AA2F2858}" destId="{C6C44482-D821-4FAE-BB52-29931F8BCBDE}" srcOrd="1" destOrd="0" parTransId="{DE3ECBCB-59A7-4B29-8005-72F8BCC1C41D}" sibTransId="{FA81CD99-4C17-4421-BECF-3D861154DBDD}"/>
    <dgm:cxn modelId="{8DB94DC7-836C-429B-BC18-42499EFFC39E}" type="presOf" srcId="{314AE731-DFBF-4A5B-8171-86B7AA2F2858}" destId="{5653E5CF-63C1-4886-9DFE-DC4B36C44A33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49C9BA12-7321-4431-AC00-E99D5CB75F63}" type="presOf" srcId="{BEAB6AAF-246B-444D-90D9-FB867EA43595}" destId="{FC4CA3E0-7A9C-47CB-88C9-7F81B89FD5AA}" srcOrd="0" destOrd="0" presId="urn:microsoft.com/office/officeart/2005/8/layout/chevron1"/>
    <dgm:cxn modelId="{6DDBC2C8-FF22-4C4C-A3D8-9EC66F065022}" type="presParOf" srcId="{5653E5CF-63C1-4886-9DFE-DC4B36C44A33}" destId="{FC4CA3E0-7A9C-47CB-88C9-7F81B89FD5AA}" srcOrd="0" destOrd="0" presId="urn:microsoft.com/office/officeart/2005/8/layout/chevron1"/>
    <dgm:cxn modelId="{CAD9BDAB-5448-4960-865A-3FA66FD02A47}" type="presParOf" srcId="{5653E5CF-63C1-4886-9DFE-DC4B36C44A33}" destId="{ED8D2DC7-F6B9-49A1-A3FB-6645AA0B27C9}" srcOrd="1" destOrd="0" presId="urn:microsoft.com/office/officeart/2005/8/layout/chevron1"/>
    <dgm:cxn modelId="{806F5495-EA44-4148-92B9-5A344F1D8BF5}" type="presParOf" srcId="{5653E5CF-63C1-4886-9DFE-DC4B36C44A33}" destId="{E2DC7CE9-31B9-4959-914F-451EA2F3687E}" srcOrd="2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修改原始代码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推理模型检测</a:t>
          </a:r>
          <a:endParaRPr lang="zh-CN" altLang="en-US" dirty="0">
            <a:solidFill>
              <a:schemeClr val="tx1"/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0F8930D-5816-4EC5-A90F-461BE15645B6}" srcId="{314AE731-DFBF-4A5B-8171-86B7AA2F2858}" destId="{C6C44482-D821-4FAE-BB52-29931F8BCBDE}" srcOrd="1" destOrd="0" parTransId="{DE3ECBCB-59A7-4B29-8005-72F8BCC1C41D}" sibTransId="{FA81CD99-4C17-4421-BECF-3D861154DBDD}"/>
    <dgm:cxn modelId="{9E4FCCD4-5E39-48EC-BFD4-660F6901EBC6}" type="presOf" srcId="{BEAB6AAF-246B-444D-90D9-FB867EA43595}" destId="{FC4CA3E0-7A9C-47CB-88C9-7F81B89FD5AA}" srcOrd="0" destOrd="0" presId="urn:microsoft.com/office/officeart/2005/8/layout/chevron1"/>
    <dgm:cxn modelId="{3286A3F9-7037-4C0D-9D47-C6DECF4DF276}" type="presOf" srcId="{314AE731-DFBF-4A5B-8171-86B7AA2F2858}" destId="{5653E5CF-63C1-4886-9DFE-DC4B36C44A33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D07F9184-6197-4BC6-A712-45C35E99BCEF}" type="presOf" srcId="{C6C44482-D821-4FAE-BB52-29931F8BCBDE}" destId="{E2DC7CE9-31B9-4959-914F-451EA2F3687E}" srcOrd="0" destOrd="0" presId="urn:microsoft.com/office/officeart/2005/8/layout/chevron1"/>
    <dgm:cxn modelId="{00C60AB1-7213-48B7-B183-C240AA231D25}" type="presParOf" srcId="{5653E5CF-63C1-4886-9DFE-DC4B36C44A33}" destId="{FC4CA3E0-7A9C-47CB-88C9-7F81B89FD5AA}" srcOrd="0" destOrd="0" presId="urn:microsoft.com/office/officeart/2005/8/layout/chevron1"/>
    <dgm:cxn modelId="{CF5EB34F-E850-4369-A405-3E99CB174092}" type="presParOf" srcId="{5653E5CF-63C1-4886-9DFE-DC4B36C44A33}" destId="{ED8D2DC7-F6B9-49A1-A3FB-6645AA0B27C9}" srcOrd="1" destOrd="0" presId="urn:microsoft.com/office/officeart/2005/8/layout/chevron1"/>
    <dgm:cxn modelId="{73DFECA0-EE07-450A-BDA2-442BEB03A3DC}" type="presParOf" srcId="{5653E5CF-63C1-4886-9DFE-DC4B36C44A33}" destId="{E2DC7CE9-31B9-4959-914F-451EA2F3687E}" srcOrd="2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325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="" xmlns:a16="http://schemas.microsoft.com/office/drawing/2014/main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="" xmlns:a16="http://schemas.microsoft.com/office/drawing/2014/main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="" xmlns:a16="http://schemas.microsoft.com/office/drawing/2014/main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="" xmlns:a16="http://schemas.microsoft.com/office/drawing/2014/main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关于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预设锚框的值，采用的是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yolov4-tiny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的默认锚框，该默认锚框通过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数据集中数以万计的图像得出。在实验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一阶段算法模型训练与测试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代码包中有一个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kmeans_for_anchors.py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文件，采用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k-means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聚类算法根据自己特定的数据集确定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预设锚框，代码中有大量注释，感兴趣的同学可以自行尝试，用自己的锚框进行推理。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15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4634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="" xmlns:a16="http://schemas.microsoft.com/office/drawing/2014/main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="" xmlns:a16="http://schemas.microsoft.com/office/drawing/2014/main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="" xmlns:a16="http://schemas.microsoft.com/office/drawing/2014/main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="" xmlns:a16="http://schemas.microsoft.com/office/drawing/2014/main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="" xmlns:a16="http://schemas.microsoft.com/office/drawing/2014/main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="" xmlns:a16="http://schemas.microsoft.com/office/drawing/2014/main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="" xmlns:a16="http://schemas.microsoft.com/office/drawing/2014/main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="" xmlns:a16="http://schemas.microsoft.com/office/drawing/2014/main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="" xmlns:a16="http://schemas.microsoft.com/office/drawing/2014/main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="" xmlns:a16="http://schemas.microsoft.com/office/drawing/2014/main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="" xmlns:a16="http://schemas.microsoft.com/office/drawing/2014/main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="" xmlns:a16="http://schemas.microsoft.com/office/drawing/2014/main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="" xmlns:a16="http://schemas.microsoft.com/office/drawing/2014/main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="" xmlns:a16="http://schemas.microsoft.com/office/drawing/2014/main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="" xmlns:a16="http://schemas.microsoft.com/office/drawing/2014/main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="" xmlns:a16="http://schemas.microsoft.com/office/drawing/2014/main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="" xmlns:a16="http://schemas.microsoft.com/office/drawing/2014/main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="" xmlns:a16="http://schemas.microsoft.com/office/drawing/2014/main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="" xmlns:a16="http://schemas.microsoft.com/office/drawing/2014/main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="" xmlns:a16="http://schemas.microsoft.com/office/drawing/2014/main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="" xmlns:a16="http://schemas.microsoft.com/office/drawing/2014/main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="" xmlns:a16="http://schemas.microsoft.com/office/drawing/2014/main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="" xmlns:a16="http://schemas.microsoft.com/office/drawing/2014/main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="" xmlns:a16="http://schemas.microsoft.com/office/drawing/2014/main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="" xmlns:a16="http://schemas.microsoft.com/office/drawing/2014/main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="" xmlns:a16="http://schemas.microsoft.com/office/drawing/2014/main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="" xmlns:a16="http://schemas.microsoft.com/office/drawing/2014/main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="" xmlns:a16="http://schemas.microsoft.com/office/drawing/2014/main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="" xmlns:a16="http://schemas.microsoft.com/office/drawing/2014/main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="" xmlns:a16="http://schemas.microsoft.com/office/drawing/2014/main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="" xmlns:a16="http://schemas.microsoft.com/office/drawing/2014/main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="" xmlns:a16="http://schemas.microsoft.com/office/drawing/2014/main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="" xmlns:a16="http://schemas.microsoft.com/office/drawing/2014/main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="" xmlns:a16="http://schemas.microsoft.com/office/drawing/2014/main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="" xmlns:a16="http://schemas.microsoft.com/office/drawing/2014/main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="" xmlns:a16="http://schemas.microsoft.com/office/drawing/2014/main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="" xmlns:a16="http://schemas.microsoft.com/office/drawing/2014/main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="" xmlns:a16="http://schemas.microsoft.com/office/drawing/2014/main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="" xmlns:a16="http://schemas.microsoft.com/office/drawing/2014/main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="" xmlns:a16="http://schemas.microsoft.com/office/drawing/2014/main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="" xmlns:a16="http://schemas.microsoft.com/office/drawing/2014/main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="" xmlns:a16="http://schemas.microsoft.com/office/drawing/2014/main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="" xmlns:a16="http://schemas.microsoft.com/office/drawing/2014/main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="" xmlns:a16="http://schemas.microsoft.com/office/drawing/2014/main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="" xmlns:a16="http://schemas.microsoft.com/office/drawing/2014/main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="" xmlns:a16="http://schemas.microsoft.com/office/drawing/2014/main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="" xmlns:a16="http://schemas.microsoft.com/office/drawing/2014/main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="" xmlns:a16="http://schemas.microsoft.com/office/drawing/2014/main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="" xmlns:a16="http://schemas.microsoft.com/office/drawing/2014/main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="" xmlns:a16="http://schemas.microsoft.com/office/drawing/2014/main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="" xmlns:a16="http://schemas.microsoft.com/office/drawing/2014/main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="" xmlns:a16="http://schemas.microsoft.com/office/drawing/2014/main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="" xmlns:a16="http://schemas.microsoft.com/office/drawing/2014/main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="" xmlns:a16="http://schemas.microsoft.com/office/drawing/2014/main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="" xmlns:a16="http://schemas.microsoft.com/office/drawing/2014/main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="" xmlns:a16="http://schemas.microsoft.com/office/drawing/2014/main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="" xmlns:a16="http://schemas.microsoft.com/office/drawing/2014/main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="" xmlns:a16="http://schemas.microsoft.com/office/drawing/2014/main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="" xmlns:a16="http://schemas.microsoft.com/office/drawing/2014/main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="" xmlns:a16="http://schemas.microsoft.com/office/drawing/2014/main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="" xmlns:a16="http://schemas.microsoft.com/office/drawing/2014/main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="" xmlns:a16="http://schemas.microsoft.com/office/drawing/2014/main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="" xmlns:a16="http://schemas.microsoft.com/office/drawing/2014/main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="" xmlns:a16="http://schemas.microsoft.com/office/drawing/2014/main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="" xmlns:a16="http://schemas.microsoft.com/office/drawing/2014/main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="" xmlns:a16="http://schemas.microsoft.com/office/drawing/2014/main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="" xmlns:a16="http://schemas.microsoft.com/office/drawing/2014/main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="" xmlns:a16="http://schemas.microsoft.com/office/drawing/2014/main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="" xmlns:a16="http://schemas.microsoft.com/office/drawing/2014/main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="" xmlns:a16="http://schemas.microsoft.com/office/drawing/2014/main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="" xmlns:a16="http://schemas.microsoft.com/office/drawing/2014/main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="" xmlns:a16="http://schemas.microsoft.com/office/drawing/2014/main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="" xmlns:a16="http://schemas.microsoft.com/office/drawing/2014/main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="" xmlns:a16="http://schemas.microsoft.com/office/drawing/2014/main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="" xmlns:a16="http://schemas.microsoft.com/office/drawing/2014/main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="" xmlns:a16="http://schemas.microsoft.com/office/drawing/2014/main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="" xmlns:a16="http://schemas.microsoft.com/office/drawing/2014/main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="" xmlns:a16="http://schemas.microsoft.com/office/drawing/2014/main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="" xmlns:a16="http://schemas.microsoft.com/office/drawing/2014/main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="" xmlns:a16="http://schemas.microsoft.com/office/drawing/2014/main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="" xmlns:a16="http://schemas.microsoft.com/office/drawing/2014/main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="" xmlns:a16="http://schemas.microsoft.com/office/drawing/2014/main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="" xmlns:a16="http://schemas.microsoft.com/office/drawing/2014/main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="" xmlns:a16="http://schemas.microsoft.com/office/drawing/2014/main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="" xmlns:a16="http://schemas.microsoft.com/office/drawing/2014/main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="" xmlns:a16="http://schemas.microsoft.com/office/drawing/2014/main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="" xmlns:a16="http://schemas.microsoft.com/office/drawing/2014/main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="" xmlns:a16="http://schemas.microsoft.com/office/drawing/2014/main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="" xmlns:a16="http://schemas.microsoft.com/office/drawing/2014/main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="" xmlns:a16="http://schemas.microsoft.com/office/drawing/2014/main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="" xmlns:a16="http://schemas.microsoft.com/office/drawing/2014/main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="" xmlns:a16="http://schemas.microsoft.com/office/drawing/2014/main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="" xmlns:a16="http://schemas.microsoft.com/office/drawing/2014/main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="" xmlns:a16="http://schemas.microsoft.com/office/drawing/2014/main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="" xmlns:a16="http://schemas.microsoft.com/office/drawing/2014/main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="" xmlns:a16="http://schemas.microsoft.com/office/drawing/2014/main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="" xmlns:a16="http://schemas.microsoft.com/office/drawing/2014/main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="" xmlns:a16="http://schemas.microsoft.com/office/drawing/2014/main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="" xmlns:a16="http://schemas.microsoft.com/office/drawing/2014/main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="" xmlns:a16="http://schemas.microsoft.com/office/drawing/2014/main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="" xmlns:a16="http://schemas.microsoft.com/office/drawing/2014/main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="" xmlns:a16="http://schemas.microsoft.com/office/drawing/2014/main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="" xmlns:a16="http://schemas.microsoft.com/office/drawing/2014/main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="" xmlns:a16="http://schemas.microsoft.com/office/drawing/2014/main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="" xmlns:a16="http://schemas.microsoft.com/office/drawing/2014/main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="" xmlns:a16="http://schemas.microsoft.com/office/drawing/2014/main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="" xmlns:a16="http://schemas.microsoft.com/office/drawing/2014/main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="" xmlns:a16="http://schemas.microsoft.com/office/drawing/2014/main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="" xmlns:a16="http://schemas.microsoft.com/office/drawing/2014/main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="" xmlns:a16="http://schemas.microsoft.com/office/drawing/2014/main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="" xmlns:a16="http://schemas.microsoft.com/office/drawing/2014/main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="" xmlns:a16="http://schemas.microsoft.com/office/drawing/2014/main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="" xmlns:a16="http://schemas.microsoft.com/office/drawing/2014/main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="" xmlns:a16="http://schemas.microsoft.com/office/drawing/2014/main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="" xmlns:a16="http://schemas.microsoft.com/office/drawing/2014/main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="" xmlns:a16="http://schemas.microsoft.com/office/drawing/2014/main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="" xmlns:a16="http://schemas.microsoft.com/office/drawing/2014/main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="" xmlns:a16="http://schemas.microsoft.com/office/drawing/2014/main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="" xmlns:a16="http://schemas.microsoft.com/office/drawing/2014/main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="" xmlns:a16="http://schemas.microsoft.com/office/drawing/2014/main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="" xmlns:a16="http://schemas.microsoft.com/office/drawing/2014/main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="" xmlns:a16="http://schemas.microsoft.com/office/drawing/2014/main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="" xmlns:a16="http://schemas.microsoft.com/office/drawing/2014/main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="" xmlns:a16="http://schemas.microsoft.com/office/drawing/2014/main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="" xmlns:a16="http://schemas.microsoft.com/office/drawing/2014/main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="" xmlns:a16="http://schemas.microsoft.com/office/drawing/2014/main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="" xmlns:a16="http://schemas.microsoft.com/office/drawing/2014/main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="" xmlns:a16="http://schemas.microsoft.com/office/drawing/2014/main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="" xmlns:a16="http://schemas.microsoft.com/office/drawing/2014/main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="" xmlns:a16="http://schemas.microsoft.com/office/drawing/2014/main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="" xmlns:a16="http://schemas.microsoft.com/office/drawing/2014/main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="" xmlns:a16="http://schemas.microsoft.com/office/drawing/2014/main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="" xmlns:a16="http://schemas.microsoft.com/office/drawing/2014/main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="" xmlns:a16="http://schemas.microsoft.com/office/drawing/2014/main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="" xmlns:a16="http://schemas.microsoft.com/office/drawing/2014/main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="" xmlns:a16="http://schemas.microsoft.com/office/drawing/2014/main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="" xmlns:a16="http://schemas.microsoft.com/office/drawing/2014/main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="" xmlns:a16="http://schemas.microsoft.com/office/drawing/2014/main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="" xmlns:a16="http://schemas.microsoft.com/office/drawing/2014/main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="" xmlns:a16="http://schemas.microsoft.com/office/drawing/2014/main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="" xmlns:a16="http://schemas.microsoft.com/office/drawing/2014/main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="" xmlns:a16="http://schemas.microsoft.com/office/drawing/2014/main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="" xmlns:a16="http://schemas.microsoft.com/office/drawing/2014/main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="" xmlns:a16="http://schemas.microsoft.com/office/drawing/2014/main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="" xmlns:a16="http://schemas.microsoft.com/office/drawing/2014/main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="" xmlns:a16="http://schemas.microsoft.com/office/drawing/2014/main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="" xmlns:a16="http://schemas.microsoft.com/office/drawing/2014/main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="" xmlns:a16="http://schemas.microsoft.com/office/drawing/2014/main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="" xmlns:a16="http://schemas.microsoft.com/office/drawing/2014/main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="" xmlns:a16="http://schemas.microsoft.com/office/drawing/2014/main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="" xmlns:a16="http://schemas.microsoft.com/office/drawing/2014/main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="" xmlns:a16="http://schemas.microsoft.com/office/drawing/2014/main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="" xmlns:a16="http://schemas.microsoft.com/office/drawing/2014/main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="" xmlns:a16="http://schemas.microsoft.com/office/drawing/2014/main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="" xmlns:a16="http://schemas.microsoft.com/office/drawing/2014/main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="" xmlns:a16="http://schemas.microsoft.com/office/drawing/2014/main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="" xmlns:a16="http://schemas.microsoft.com/office/drawing/2014/main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="" xmlns:a16="http://schemas.microsoft.com/office/drawing/2014/main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="" xmlns:a16="http://schemas.microsoft.com/office/drawing/2014/main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="" xmlns:a16="http://schemas.microsoft.com/office/drawing/2014/main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="" xmlns:a16="http://schemas.microsoft.com/office/drawing/2014/main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="" xmlns:a16="http://schemas.microsoft.com/office/drawing/2014/main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="" xmlns:a16="http://schemas.microsoft.com/office/drawing/2014/main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="" xmlns:a16="http://schemas.microsoft.com/office/drawing/2014/main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="" xmlns:a16="http://schemas.microsoft.com/office/drawing/2014/main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="" xmlns:a16="http://schemas.microsoft.com/office/drawing/2014/main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="" xmlns:a16="http://schemas.microsoft.com/office/drawing/2014/main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="" xmlns:a16="http://schemas.microsoft.com/office/drawing/2014/main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="" xmlns:a16="http://schemas.microsoft.com/office/drawing/2014/main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="" xmlns:a16="http://schemas.microsoft.com/office/drawing/2014/main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="" xmlns:a16="http://schemas.microsoft.com/office/drawing/2014/main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="" xmlns:a16="http://schemas.microsoft.com/office/drawing/2014/main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="" xmlns:a16="http://schemas.microsoft.com/office/drawing/2014/main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="" xmlns:a16="http://schemas.microsoft.com/office/drawing/2014/main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="" xmlns:a16="http://schemas.microsoft.com/office/drawing/2014/main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="" xmlns:a16="http://schemas.microsoft.com/office/drawing/2014/main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="" xmlns:a16="http://schemas.microsoft.com/office/drawing/2014/main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="" xmlns:a16="http://schemas.microsoft.com/office/drawing/2014/main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="" xmlns:a16="http://schemas.microsoft.com/office/drawing/2014/main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="" xmlns:a16="http://schemas.microsoft.com/office/drawing/2014/main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="" xmlns:a16="http://schemas.microsoft.com/office/drawing/2014/main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="" xmlns:a16="http://schemas.microsoft.com/office/drawing/2014/main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="" xmlns:a16="http://schemas.microsoft.com/office/drawing/2014/main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="" xmlns:a16="http://schemas.microsoft.com/office/drawing/2014/main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="" xmlns:a16="http://schemas.microsoft.com/office/drawing/2014/main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="" xmlns:a16="http://schemas.microsoft.com/office/drawing/2014/main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="" xmlns:a16="http://schemas.microsoft.com/office/drawing/2014/main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="" xmlns:a16="http://schemas.microsoft.com/office/drawing/2014/main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="" xmlns:a16="http://schemas.microsoft.com/office/drawing/2014/main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="" xmlns:a16="http://schemas.microsoft.com/office/drawing/2014/main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="" xmlns:a16="http://schemas.microsoft.com/office/drawing/2014/main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="" xmlns:a16="http://schemas.microsoft.com/office/drawing/2014/main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="" xmlns:a16="http://schemas.microsoft.com/office/drawing/2014/main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="" xmlns:a16="http://schemas.microsoft.com/office/drawing/2014/main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="" xmlns:a16="http://schemas.microsoft.com/office/drawing/2014/main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="" xmlns:a16="http://schemas.microsoft.com/office/drawing/2014/main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="" xmlns:a16="http://schemas.microsoft.com/office/drawing/2014/main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="" xmlns:a16="http://schemas.microsoft.com/office/drawing/2014/main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="" xmlns:a16="http://schemas.microsoft.com/office/drawing/2014/main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="" xmlns:a16="http://schemas.microsoft.com/office/drawing/2014/main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="" xmlns:a16="http://schemas.microsoft.com/office/drawing/2014/main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="" xmlns:a16="http://schemas.microsoft.com/office/drawing/2014/main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="" xmlns:a16="http://schemas.microsoft.com/office/drawing/2014/main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="" xmlns:a16="http://schemas.microsoft.com/office/drawing/2014/main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="" xmlns:a16="http://schemas.microsoft.com/office/drawing/2014/main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="" xmlns:a16="http://schemas.microsoft.com/office/drawing/2014/main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="" xmlns:a16="http://schemas.microsoft.com/office/drawing/2014/main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="" xmlns:a16="http://schemas.microsoft.com/office/drawing/2014/main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="" xmlns:a16="http://schemas.microsoft.com/office/drawing/2014/main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="" xmlns:a16="http://schemas.microsoft.com/office/drawing/2014/main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="" xmlns:a16="http://schemas.microsoft.com/office/drawing/2014/main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="" xmlns:a16="http://schemas.microsoft.com/office/drawing/2014/main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="" xmlns:a16="http://schemas.microsoft.com/office/drawing/2014/main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="" xmlns:a16="http://schemas.microsoft.com/office/drawing/2014/main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="" xmlns:a16="http://schemas.microsoft.com/office/drawing/2014/main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="" xmlns:a16="http://schemas.microsoft.com/office/drawing/2014/main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="" xmlns:a16="http://schemas.microsoft.com/office/drawing/2014/main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="" xmlns:a16="http://schemas.microsoft.com/office/drawing/2014/main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="" xmlns:a16="http://schemas.microsoft.com/office/drawing/2014/main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="" xmlns:a16="http://schemas.microsoft.com/office/drawing/2014/main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="" xmlns:a16="http://schemas.microsoft.com/office/drawing/2014/main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="" xmlns:a16="http://schemas.microsoft.com/office/drawing/2014/main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="" xmlns:a16="http://schemas.microsoft.com/office/drawing/2014/main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="" xmlns:a16="http://schemas.microsoft.com/office/drawing/2014/main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="" xmlns:a16="http://schemas.microsoft.com/office/drawing/2014/main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="" xmlns:a16="http://schemas.microsoft.com/office/drawing/2014/main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="" xmlns:a16="http://schemas.microsoft.com/office/drawing/2014/main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="" xmlns:a16="http://schemas.microsoft.com/office/drawing/2014/main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="" xmlns:a16="http://schemas.microsoft.com/office/drawing/2014/main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="" xmlns:a16="http://schemas.microsoft.com/office/drawing/2014/main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="" xmlns:a16="http://schemas.microsoft.com/office/drawing/2014/main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="" xmlns:a16="http://schemas.microsoft.com/office/drawing/2014/main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="" xmlns:a16="http://schemas.microsoft.com/office/drawing/2014/main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="" xmlns:a16="http://schemas.microsoft.com/office/drawing/2014/main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="" xmlns:a16="http://schemas.microsoft.com/office/drawing/2014/main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="" xmlns:a16="http://schemas.microsoft.com/office/drawing/2014/main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="" xmlns:a16="http://schemas.microsoft.com/office/drawing/2014/main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="" xmlns:a16="http://schemas.microsoft.com/office/drawing/2014/main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="" xmlns:a16="http://schemas.microsoft.com/office/drawing/2014/main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="" xmlns:a16="http://schemas.microsoft.com/office/drawing/2014/main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="" xmlns:a16="http://schemas.microsoft.com/office/drawing/2014/main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="" xmlns:a16="http://schemas.microsoft.com/office/drawing/2014/main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="" xmlns:a16="http://schemas.microsoft.com/office/drawing/2014/main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="" xmlns:a16="http://schemas.microsoft.com/office/drawing/2014/main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="" xmlns:a16="http://schemas.microsoft.com/office/drawing/2014/main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="" xmlns:a16="http://schemas.microsoft.com/office/drawing/2014/main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="" xmlns:a16="http://schemas.microsoft.com/office/drawing/2014/main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="" xmlns:a16="http://schemas.microsoft.com/office/drawing/2014/main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="" xmlns:a16="http://schemas.microsoft.com/office/drawing/2014/main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="" xmlns:a16="http://schemas.microsoft.com/office/drawing/2014/main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="" xmlns:a16="http://schemas.microsoft.com/office/drawing/2014/main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="" xmlns:a16="http://schemas.microsoft.com/office/drawing/2014/main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="" xmlns:a16="http://schemas.microsoft.com/office/drawing/2014/main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="" xmlns:a16="http://schemas.microsoft.com/office/drawing/2014/main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="" xmlns:a16="http://schemas.microsoft.com/office/drawing/2014/main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="" xmlns:a16="http://schemas.microsoft.com/office/drawing/2014/main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="" xmlns:a16="http://schemas.microsoft.com/office/drawing/2014/main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="" xmlns:a16="http://schemas.microsoft.com/office/drawing/2014/main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="" xmlns:a16="http://schemas.microsoft.com/office/drawing/2014/main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="" xmlns:a16="http://schemas.microsoft.com/office/drawing/2014/main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="" xmlns:a16="http://schemas.microsoft.com/office/drawing/2014/main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="" xmlns:a16="http://schemas.microsoft.com/office/drawing/2014/main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="" xmlns:a16="http://schemas.microsoft.com/office/drawing/2014/main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="" xmlns:a16="http://schemas.microsoft.com/office/drawing/2014/main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="" xmlns:a16="http://schemas.microsoft.com/office/drawing/2014/main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="" xmlns:a16="http://schemas.microsoft.com/office/drawing/2014/main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="" xmlns:a16="http://schemas.microsoft.com/office/drawing/2014/main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="" xmlns:a16="http://schemas.microsoft.com/office/drawing/2014/main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="" xmlns:a16="http://schemas.microsoft.com/office/drawing/2014/main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="" xmlns:a16="http://schemas.microsoft.com/office/drawing/2014/main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="" xmlns:a16="http://schemas.microsoft.com/office/drawing/2014/main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="" xmlns:a16="http://schemas.microsoft.com/office/drawing/2014/main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="" xmlns:a16="http://schemas.microsoft.com/office/drawing/2014/main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="" xmlns:a16="http://schemas.microsoft.com/office/drawing/2014/main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="" xmlns:a16="http://schemas.microsoft.com/office/drawing/2014/main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="" xmlns:a16="http://schemas.microsoft.com/office/drawing/2014/main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="" xmlns:a16="http://schemas.microsoft.com/office/drawing/2014/main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="" xmlns:a16="http://schemas.microsoft.com/office/drawing/2014/main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="" xmlns:a16="http://schemas.microsoft.com/office/drawing/2014/main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="" xmlns:a16="http://schemas.microsoft.com/office/drawing/2014/main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="" xmlns:a16="http://schemas.microsoft.com/office/drawing/2014/main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="" xmlns:a16="http://schemas.microsoft.com/office/drawing/2014/main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="" xmlns:a16="http://schemas.microsoft.com/office/drawing/2014/main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="" xmlns:a16="http://schemas.microsoft.com/office/drawing/2014/main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="" xmlns:a16="http://schemas.microsoft.com/office/drawing/2014/main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="" xmlns:a16="http://schemas.microsoft.com/office/drawing/2014/main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="" xmlns:a16="http://schemas.microsoft.com/office/drawing/2014/main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="" xmlns:a16="http://schemas.microsoft.com/office/drawing/2014/main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="" xmlns:a16="http://schemas.microsoft.com/office/drawing/2014/main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="" xmlns:a16="http://schemas.microsoft.com/office/drawing/2014/main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="" xmlns:a16="http://schemas.microsoft.com/office/drawing/2014/main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="" xmlns:a16="http://schemas.microsoft.com/office/drawing/2014/main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="" xmlns:a16="http://schemas.microsoft.com/office/drawing/2014/main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="" xmlns:a16="http://schemas.microsoft.com/office/drawing/2014/main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="" xmlns:a16="http://schemas.microsoft.com/office/drawing/2014/main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="" xmlns:a16="http://schemas.microsoft.com/office/drawing/2014/main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="" xmlns:a16="http://schemas.microsoft.com/office/drawing/2014/main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="" xmlns:a16="http://schemas.microsoft.com/office/drawing/2014/main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="" xmlns:a16="http://schemas.microsoft.com/office/drawing/2014/main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="" xmlns:a16="http://schemas.microsoft.com/office/drawing/2014/main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="" xmlns:a16="http://schemas.microsoft.com/office/drawing/2014/main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="" xmlns:a16="http://schemas.microsoft.com/office/drawing/2014/main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="" xmlns:a16="http://schemas.microsoft.com/office/drawing/2014/main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="" xmlns:a16="http://schemas.microsoft.com/office/drawing/2014/main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="" xmlns:a16="http://schemas.microsoft.com/office/drawing/2014/main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="" xmlns:a16="http://schemas.microsoft.com/office/drawing/2014/main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="" xmlns:a16="http://schemas.microsoft.com/office/drawing/2014/main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="" xmlns:a16="http://schemas.microsoft.com/office/drawing/2014/main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="" xmlns:a16="http://schemas.microsoft.com/office/drawing/2014/main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="" xmlns:a16="http://schemas.microsoft.com/office/drawing/2014/main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="" xmlns:a16="http://schemas.microsoft.com/office/drawing/2014/main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="" xmlns:a16="http://schemas.microsoft.com/office/drawing/2014/main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="" xmlns:a16="http://schemas.microsoft.com/office/drawing/2014/main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="" xmlns:a16="http://schemas.microsoft.com/office/drawing/2014/main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="" xmlns:a16="http://schemas.microsoft.com/office/drawing/2014/main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="" xmlns:a16="http://schemas.microsoft.com/office/drawing/2014/main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="" xmlns:a16="http://schemas.microsoft.com/office/drawing/2014/main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="" xmlns:a16="http://schemas.microsoft.com/office/drawing/2014/main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="" xmlns:a16="http://schemas.microsoft.com/office/drawing/2014/main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="" xmlns:a16="http://schemas.microsoft.com/office/drawing/2014/main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="" xmlns:a16="http://schemas.microsoft.com/office/drawing/2014/main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="" xmlns:a16="http://schemas.microsoft.com/office/drawing/2014/main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="" xmlns:a16="http://schemas.microsoft.com/office/drawing/2014/main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="" xmlns:a16="http://schemas.microsoft.com/office/drawing/2014/main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="" xmlns:a16="http://schemas.microsoft.com/office/drawing/2014/main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="" xmlns:a16="http://schemas.microsoft.com/office/drawing/2014/main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="" xmlns:a16="http://schemas.microsoft.com/office/drawing/2014/main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="" xmlns:a16="http://schemas.microsoft.com/office/drawing/2014/main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="" xmlns:a16="http://schemas.microsoft.com/office/drawing/2014/main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="" xmlns:a16="http://schemas.microsoft.com/office/drawing/2014/main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="" xmlns:a16="http://schemas.microsoft.com/office/drawing/2014/main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="" xmlns:a16="http://schemas.microsoft.com/office/drawing/2014/main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="" xmlns:a16="http://schemas.microsoft.com/office/drawing/2014/main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="" xmlns:a16="http://schemas.microsoft.com/office/drawing/2014/main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="" xmlns:a16="http://schemas.microsoft.com/office/drawing/2014/main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="" xmlns:a16="http://schemas.microsoft.com/office/drawing/2014/main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="" xmlns:a16="http://schemas.microsoft.com/office/drawing/2014/main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="" xmlns:a16="http://schemas.microsoft.com/office/drawing/2014/main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="" xmlns:a16="http://schemas.microsoft.com/office/drawing/2014/main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="" xmlns:a16="http://schemas.microsoft.com/office/drawing/2014/main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="" xmlns:a16="http://schemas.microsoft.com/office/drawing/2014/main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="" xmlns:a16="http://schemas.microsoft.com/office/drawing/2014/main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="" xmlns:a16="http://schemas.microsoft.com/office/drawing/2014/main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="" xmlns:a16="http://schemas.microsoft.com/office/drawing/2014/main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="" xmlns:a16="http://schemas.microsoft.com/office/drawing/2014/main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="" xmlns:a16="http://schemas.microsoft.com/office/drawing/2014/main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="" xmlns:a16="http://schemas.microsoft.com/office/drawing/2014/main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="" xmlns:a16="http://schemas.microsoft.com/office/drawing/2014/main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="" xmlns:a16="http://schemas.microsoft.com/office/drawing/2014/main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="" xmlns:a16="http://schemas.microsoft.com/office/drawing/2014/main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="" xmlns:a16="http://schemas.microsoft.com/office/drawing/2014/main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="" xmlns:a16="http://schemas.microsoft.com/office/drawing/2014/main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="" xmlns:a16="http://schemas.microsoft.com/office/drawing/2014/main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="" xmlns:a16="http://schemas.microsoft.com/office/drawing/2014/main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="" xmlns:a16="http://schemas.microsoft.com/office/drawing/2014/main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="" xmlns:a16="http://schemas.microsoft.com/office/drawing/2014/main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="" xmlns:a16="http://schemas.microsoft.com/office/drawing/2014/main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="" xmlns:a16="http://schemas.microsoft.com/office/drawing/2014/main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="" xmlns:a16="http://schemas.microsoft.com/office/drawing/2014/main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="" xmlns:a16="http://schemas.microsoft.com/office/drawing/2014/main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="" xmlns:a16="http://schemas.microsoft.com/office/drawing/2014/main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="" xmlns:a16="http://schemas.microsoft.com/office/drawing/2014/main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="" xmlns:a16="http://schemas.microsoft.com/office/drawing/2014/main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="" xmlns:a16="http://schemas.microsoft.com/office/drawing/2014/main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="" xmlns:a16="http://schemas.microsoft.com/office/drawing/2014/main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="" xmlns:a16="http://schemas.microsoft.com/office/drawing/2014/main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="" xmlns:a16="http://schemas.microsoft.com/office/drawing/2014/main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="" xmlns:a16="http://schemas.microsoft.com/office/drawing/2014/main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="" xmlns:a16="http://schemas.microsoft.com/office/drawing/2014/main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="" xmlns:a16="http://schemas.microsoft.com/office/drawing/2014/main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="" xmlns:a16="http://schemas.microsoft.com/office/drawing/2014/main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="" xmlns:a16="http://schemas.microsoft.com/office/drawing/2014/main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="" xmlns:a16="http://schemas.microsoft.com/office/drawing/2014/main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="" xmlns:a16="http://schemas.microsoft.com/office/drawing/2014/main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="" xmlns:a16="http://schemas.microsoft.com/office/drawing/2014/main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="" xmlns:a16="http://schemas.microsoft.com/office/drawing/2014/main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="" xmlns:a16="http://schemas.microsoft.com/office/drawing/2014/main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="" xmlns:a16="http://schemas.microsoft.com/office/drawing/2014/main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="" xmlns:a16="http://schemas.microsoft.com/office/drawing/2014/main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="" xmlns:a16="http://schemas.microsoft.com/office/drawing/2014/main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="" xmlns:a16="http://schemas.microsoft.com/office/drawing/2014/main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="" xmlns:a16="http://schemas.microsoft.com/office/drawing/2014/main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="" xmlns:a16="http://schemas.microsoft.com/office/drawing/2014/main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="" xmlns:a16="http://schemas.microsoft.com/office/drawing/2014/main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="" xmlns:a16="http://schemas.microsoft.com/office/drawing/2014/main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="" xmlns:a16="http://schemas.microsoft.com/office/drawing/2014/main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="" xmlns:a16="http://schemas.microsoft.com/office/drawing/2014/main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="" xmlns:a16="http://schemas.microsoft.com/office/drawing/2014/main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="" xmlns:a16="http://schemas.microsoft.com/office/drawing/2014/main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="" xmlns:a16="http://schemas.microsoft.com/office/drawing/2014/main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="" xmlns:a16="http://schemas.microsoft.com/office/drawing/2014/main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="" xmlns:a16="http://schemas.microsoft.com/office/drawing/2014/main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="" xmlns:a16="http://schemas.microsoft.com/office/drawing/2014/main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实验：嵌入式</a:t>
            </a:r>
            <a:r>
              <a:rPr lang="zh-CN" altLang="en-US" dirty="0" smtClean="0"/>
              <a:t>设备实现目标检测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718" y="1785931"/>
            <a:ext cx="6022533" cy="1198382"/>
          </a:xfrm>
        </p:spPr>
        <p:txBody>
          <a:bodyPr/>
          <a:lstStyle/>
          <a:p>
            <a:r>
              <a:rPr lang="zh-CN" altLang="en-US" dirty="0" smtClean="0"/>
              <a:t>嵌入式设备实现目标检测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6822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</a:t>
            </a:r>
            <a:r>
              <a:rPr kumimoji="1"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在嵌入式开发板上推理模型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实现边缘端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目标检测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68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="" xmlns:a16="http://schemas.microsoft.com/office/drawing/2014/main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注意</a:t>
            </a:r>
            <a:r>
              <a:rPr lang="zh-CN" altLang="en-US" dirty="0" smtClean="0"/>
              <a:t>事项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9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9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嵌入式开发板上推理目标检测模型</a:t>
            </a:r>
            <a:endParaRPr lang="en-US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连接摄像头进行边缘端实时目标检测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6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77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zh-CN" altLang="zh-CN" dirty="0"/>
              <a:t>运行</a:t>
            </a:r>
            <a:r>
              <a:rPr lang="en-US" altLang="zh-CN" dirty="0"/>
              <a:t>Ubuntu18.04</a:t>
            </a:r>
            <a:r>
              <a:rPr lang="zh-CN" altLang="zh-CN" dirty="0"/>
              <a:t>操作系统的嵌入式开发板</a:t>
            </a:r>
            <a:r>
              <a:rPr lang="en-US" altLang="zh-CN" dirty="0"/>
              <a:t>RK3399Pro</a:t>
            </a:r>
            <a:r>
              <a:rPr lang="zh-CN" altLang="zh-CN" dirty="0"/>
              <a:t>一块，其中包含：</a:t>
            </a:r>
          </a:p>
          <a:p>
            <a:pPr lvl="1"/>
            <a:r>
              <a:rPr lang="zh-CN" altLang="zh-CN" dirty="0"/>
              <a:t>运行</a:t>
            </a:r>
            <a:r>
              <a:rPr lang="en-US" altLang="zh-CN" smtClean="0"/>
              <a:t>Python3.7</a:t>
            </a:r>
            <a:r>
              <a:rPr lang="zh-CN" altLang="zh-CN" smtClean="0"/>
              <a:t>版本</a:t>
            </a:r>
            <a:r>
              <a:rPr lang="zh-CN" altLang="zh-CN" dirty="0"/>
              <a:t>的虚拟环境，其中包含：</a:t>
            </a:r>
          </a:p>
          <a:p>
            <a:pPr lvl="2"/>
            <a:r>
              <a:rPr lang="en-US" altLang="zh-CN" dirty="0" err="1"/>
              <a:t>rknn</a:t>
            </a:r>
            <a:r>
              <a:rPr lang="en-US" altLang="zh-CN" dirty="0"/>
              <a:t>-toolkit-lite</a:t>
            </a:r>
            <a:r>
              <a:rPr lang="zh-CN" altLang="zh-CN" dirty="0"/>
              <a:t>库，版本</a:t>
            </a:r>
            <a:r>
              <a:rPr lang="en-US" altLang="zh-CN" dirty="0"/>
              <a:t>1.7.1</a:t>
            </a:r>
            <a:endParaRPr lang="zh-CN" altLang="zh-CN" dirty="0"/>
          </a:p>
          <a:p>
            <a:pPr lvl="2"/>
            <a:r>
              <a:rPr lang="en-US" altLang="zh-CN" dirty="0" err="1"/>
              <a:t>opencv</a:t>
            </a:r>
            <a:r>
              <a:rPr lang="zh-CN" altLang="zh-CN" dirty="0"/>
              <a:t>库，版本</a:t>
            </a:r>
            <a:r>
              <a:rPr lang="en-US" altLang="zh-CN" dirty="0"/>
              <a:t>4.5.4.60</a:t>
            </a:r>
            <a:endParaRPr lang="zh-CN" altLang="zh-CN" dirty="0"/>
          </a:p>
          <a:p>
            <a:pPr lvl="2"/>
            <a:r>
              <a:rPr lang="en-US" altLang="zh-CN" dirty="0" err="1"/>
              <a:t>numpy</a:t>
            </a:r>
            <a:r>
              <a:rPr lang="zh-CN" altLang="zh-CN" dirty="0"/>
              <a:t>库，版本</a:t>
            </a:r>
            <a:r>
              <a:rPr lang="en-US" altLang="zh-CN" dirty="0" smtClean="0"/>
              <a:t>1.16.3</a:t>
            </a:r>
          </a:p>
          <a:p>
            <a:pPr lvl="2"/>
            <a:r>
              <a:rPr lang="en-US" altLang="zh-CN" dirty="0" smtClean="0"/>
              <a:t>Pillow</a:t>
            </a:r>
            <a:r>
              <a:rPr lang="zh-CN" altLang="en-US" dirty="0" smtClean="0"/>
              <a:t>库，版本</a:t>
            </a:r>
            <a:r>
              <a:rPr lang="en-US" altLang="zh-CN" dirty="0" smtClean="0"/>
              <a:t>9.2.0</a:t>
            </a:r>
            <a:endParaRPr lang="zh-CN" altLang="zh-CN" dirty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外接摄像头若干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3417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538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 smtClean="0"/>
              <a:t>修改原始代码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推理模型检测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115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981602290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196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将转化好的</a:t>
            </a:r>
            <a:r>
              <a:rPr lang="en-US" altLang="zh-CN" dirty="0" err="1"/>
              <a:t>rknn</a:t>
            </a:r>
            <a:r>
              <a:rPr lang="zh-CN" altLang="zh-CN" dirty="0"/>
              <a:t>模型拷入开发板。在推理模型前，我们修改原始文件</a:t>
            </a:r>
            <a:r>
              <a:rPr lang="en-US" altLang="zh-CN" dirty="0"/>
              <a:t>yolov4-tiny-fruit.py</a:t>
            </a:r>
            <a:r>
              <a:rPr lang="zh-CN" altLang="zh-CN" dirty="0"/>
              <a:t>并分析部分代码。</a:t>
            </a:r>
          </a:p>
          <a:p>
            <a:r>
              <a:rPr lang="zh-CN" altLang="zh-CN" dirty="0"/>
              <a:t>修改全局变量，如下图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LISTSIZE </a:t>
            </a:r>
            <a:r>
              <a:rPr lang="en-US" altLang="zh-CN" dirty="0"/>
              <a:t>= NUM_CLS+5</a:t>
            </a:r>
            <a:endParaRPr lang="zh-CN" altLang="zh-CN" dirty="0"/>
          </a:p>
          <a:p>
            <a:pPr lvl="1"/>
            <a:r>
              <a:rPr lang="en-US" altLang="zh-CN" dirty="0"/>
              <a:t>NUM_CLS = </a:t>
            </a:r>
            <a:r>
              <a:rPr lang="zh-CN" altLang="zh-CN" dirty="0"/>
              <a:t>检测目标的种类</a:t>
            </a:r>
            <a:r>
              <a:rPr lang="zh-CN" altLang="zh-CN" dirty="0" smtClean="0"/>
              <a:t>，要</a:t>
            </a:r>
            <a:r>
              <a:rPr lang="zh-CN" altLang="zh-CN" dirty="0"/>
              <a:t>检测</a:t>
            </a:r>
            <a:r>
              <a:rPr lang="en-US" altLang="zh-CN" dirty="0"/>
              <a:t>5</a:t>
            </a:r>
            <a:r>
              <a:rPr lang="zh-CN" altLang="zh-CN" dirty="0"/>
              <a:t>种水果。</a:t>
            </a:r>
          </a:p>
          <a:p>
            <a:pPr lvl="1"/>
            <a:r>
              <a:rPr lang="en-US" altLang="zh-CN" dirty="0" smtClean="0"/>
              <a:t>OBJ_THRESH</a:t>
            </a:r>
            <a:r>
              <a:rPr lang="zh-CN" altLang="en-US" dirty="0" smtClean="0"/>
              <a:t>：</a:t>
            </a:r>
            <a:r>
              <a:rPr lang="zh-CN" altLang="zh-CN" dirty="0"/>
              <a:t>检测目标置信度的</a:t>
            </a:r>
            <a:r>
              <a:rPr lang="zh-CN" altLang="zh-CN" dirty="0" smtClean="0"/>
              <a:t>阈值</a:t>
            </a:r>
            <a:r>
              <a:rPr lang="zh-CN" altLang="en-US" dirty="0" smtClean="0"/>
              <a:t>，</a:t>
            </a:r>
            <a:r>
              <a:rPr lang="zh-CN" altLang="zh-CN" dirty="0" smtClean="0"/>
              <a:t>建议</a:t>
            </a:r>
            <a:r>
              <a:rPr lang="zh-CN" altLang="zh-CN" dirty="0"/>
              <a:t>设置为</a:t>
            </a:r>
            <a:r>
              <a:rPr lang="en-US" altLang="zh-CN" dirty="0"/>
              <a:t>0.5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NMS_THRESH</a:t>
            </a:r>
            <a:r>
              <a:rPr lang="zh-CN" altLang="zh-CN" dirty="0" smtClean="0"/>
              <a:t>：</a:t>
            </a:r>
            <a:r>
              <a:rPr lang="zh-CN" altLang="en-US" dirty="0" smtClean="0"/>
              <a:t>非</a:t>
            </a:r>
            <a:r>
              <a:rPr lang="zh-CN" altLang="zh-CN" dirty="0" smtClean="0"/>
              <a:t>极大值</a:t>
            </a:r>
            <a:r>
              <a:rPr lang="zh-CN" altLang="zh-CN" dirty="0"/>
              <a:t>抑制的</a:t>
            </a:r>
            <a:r>
              <a:rPr lang="zh-CN" altLang="zh-CN" dirty="0" smtClean="0"/>
              <a:t>阈值</a:t>
            </a:r>
            <a:r>
              <a:rPr lang="zh-CN" altLang="en-US" dirty="0" smtClean="0"/>
              <a:t>，建议设置为</a:t>
            </a:r>
            <a:r>
              <a:rPr lang="en-US" altLang="zh-CN" dirty="0" smtClean="0"/>
              <a:t>0.6</a:t>
            </a:r>
            <a:endParaRPr lang="zh-CN" altLang="zh-CN" dirty="0"/>
          </a:p>
          <a:p>
            <a:pPr lvl="1"/>
            <a:r>
              <a:rPr lang="en-US" altLang="zh-CN" dirty="0" smtClean="0"/>
              <a:t>CLASSES</a:t>
            </a:r>
            <a:r>
              <a:rPr lang="zh-CN" altLang="zh-CN" dirty="0"/>
              <a:t>：按照之前设定的检测目标种类填写，注意顺序不能打乱。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"/>
          <a:stretch/>
        </p:blipFill>
        <p:spPr>
          <a:xfrm>
            <a:off x="4555524" y="1878375"/>
            <a:ext cx="5597483" cy="2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6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def</a:t>
            </a:r>
            <a:r>
              <a:rPr lang="en-US" altLang="zh-CN" dirty="0"/>
              <a:t> sigmoid(x)</a:t>
            </a:r>
            <a:r>
              <a:rPr lang="zh-CN" altLang="zh-CN" dirty="0"/>
              <a:t>：激活函数</a:t>
            </a:r>
            <a:r>
              <a:rPr lang="en-US" altLang="zh-CN" dirty="0"/>
              <a:t>sigmoid</a:t>
            </a:r>
            <a:r>
              <a:rPr lang="zh-CN" altLang="zh-CN" dirty="0"/>
              <a:t>。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process(input , mask , anchors)</a:t>
            </a:r>
            <a:r>
              <a:rPr lang="zh-CN" altLang="zh-CN" dirty="0"/>
              <a:t>：程序流程，输入参数有输入尺寸，检测目标置信度以及检测框。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filter_boxes</a:t>
            </a:r>
            <a:r>
              <a:rPr lang="en-US" altLang="zh-CN" dirty="0"/>
              <a:t> (boxes, </a:t>
            </a:r>
            <a:r>
              <a:rPr lang="en-US" altLang="zh-CN" dirty="0" err="1"/>
              <a:t>box_confidences</a:t>
            </a:r>
            <a:r>
              <a:rPr lang="en-US" altLang="zh-CN" dirty="0"/>
              <a:t>, </a:t>
            </a:r>
            <a:r>
              <a:rPr lang="en-US" altLang="zh-CN" dirty="0" err="1"/>
              <a:t>box_class_probs</a:t>
            </a:r>
            <a:r>
              <a:rPr lang="en-US" altLang="zh-CN" dirty="0"/>
              <a:t>)</a:t>
            </a:r>
            <a:r>
              <a:rPr lang="zh-CN" altLang="zh-CN" dirty="0"/>
              <a:t>：计算检测框位置与</a:t>
            </a:r>
            <a:r>
              <a:rPr lang="zh-CN" altLang="zh-CN"/>
              <a:t>置信</a:t>
            </a:r>
            <a:r>
              <a:rPr lang="zh-CN" altLang="zh-CN" smtClean="0"/>
              <a:t>度</a:t>
            </a:r>
            <a:r>
              <a:rPr lang="zh-CN" altLang="en-US" smtClean="0"/>
              <a:t>。</a:t>
            </a:r>
            <a:endParaRPr lang="zh-CN" altLang="zh-CN" dirty="0"/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nms_boxes</a:t>
            </a:r>
            <a:r>
              <a:rPr lang="en-US" altLang="zh-CN" dirty="0"/>
              <a:t>(boxes , scores)</a:t>
            </a:r>
            <a:r>
              <a:rPr lang="zh-CN" altLang="zh-CN" dirty="0"/>
              <a:t>：根据各检测框与阈值进行非极大值抑制处理。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206" y="3246252"/>
            <a:ext cx="5200000" cy="2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1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smtClean="0"/>
              <a:t>yolov4_post_process(</a:t>
            </a:r>
            <a:r>
              <a:rPr lang="en-US" altLang="zh-CN" dirty="0" err="1" smtClean="0"/>
              <a:t>input_data</a:t>
            </a:r>
            <a:r>
              <a:rPr lang="en-US" altLang="zh-CN" dirty="0"/>
              <a:t>)</a:t>
            </a:r>
            <a:r>
              <a:rPr lang="zh-CN" altLang="zh-CN" dirty="0"/>
              <a:t>：</a:t>
            </a:r>
            <a:r>
              <a:rPr lang="en-US" altLang="zh-CN" dirty="0"/>
              <a:t>yolov4</a:t>
            </a:r>
            <a:r>
              <a:rPr lang="zh-CN" altLang="zh-CN" dirty="0"/>
              <a:t>使用锚框检测过程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en-US" altLang="zh-CN" dirty="0" err="1" smtClean="0"/>
              <a:t>def</a:t>
            </a:r>
            <a:r>
              <a:rPr lang="en-US" altLang="zh-CN" dirty="0" smtClean="0"/>
              <a:t> </a:t>
            </a:r>
            <a:r>
              <a:rPr lang="en-US" altLang="zh-CN" dirty="0"/>
              <a:t>draw(image, boxes, scores, classes)</a:t>
            </a:r>
            <a:r>
              <a:rPr lang="zh-CN" altLang="zh-CN" dirty="0"/>
              <a:t>：在图上画检测框以及显示检测种类</a:t>
            </a:r>
            <a:r>
              <a:rPr lang="en-US" altLang="zh-CN" dirty="0"/>
              <a:t>+</a:t>
            </a:r>
            <a:r>
              <a:rPr lang="zh-CN" altLang="zh-CN" dirty="0"/>
              <a:t>置信度。</a:t>
            </a:r>
          </a:p>
          <a:p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load_model</a:t>
            </a:r>
            <a:r>
              <a:rPr lang="en-US" altLang="zh-CN" dirty="0"/>
              <a:t>()</a:t>
            </a:r>
            <a:r>
              <a:rPr lang="zh-CN" altLang="zh-CN" dirty="0"/>
              <a:t>：加载模型</a:t>
            </a:r>
            <a:r>
              <a:rPr lang="zh-CN" altLang="zh-CN" dirty="0" smtClean="0"/>
              <a:t>权重</a:t>
            </a:r>
            <a:r>
              <a:rPr lang="zh-CN" altLang="en-US" dirty="0" smtClean="0"/>
              <a:t>。</a:t>
            </a:r>
            <a:endParaRPr lang="zh-CN" altLang="zh-CN" dirty="0"/>
          </a:p>
          <a:p>
            <a:r>
              <a:rPr lang="en-US" altLang="zh-CN" dirty="0"/>
              <a:t>if __name__ == '__main__'</a:t>
            </a:r>
            <a:r>
              <a:rPr lang="zh-CN" altLang="zh-CN" dirty="0"/>
              <a:t>：主函数，执行模型推理并调用摄像头。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730" y="3633786"/>
            <a:ext cx="3780952" cy="2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78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除之前提到的全局变量外，以下参数必须修改：</a:t>
            </a:r>
          </a:p>
          <a:p>
            <a:r>
              <a:rPr lang="zh-CN" altLang="zh-CN" dirty="0"/>
              <a:t>函数</a:t>
            </a:r>
            <a:r>
              <a:rPr lang="en-US" altLang="zh-CN" dirty="0" err="1"/>
              <a:t>load_model</a:t>
            </a:r>
            <a:r>
              <a:rPr lang="en-US" altLang="zh-CN" dirty="0"/>
              <a:t>()</a:t>
            </a:r>
            <a:r>
              <a:rPr lang="zh-CN" altLang="zh-CN" dirty="0"/>
              <a:t>中，</a:t>
            </a:r>
            <a:r>
              <a:rPr lang="en-US" altLang="zh-CN" dirty="0" err="1"/>
              <a:t>rknn.load_rknn</a:t>
            </a:r>
            <a:r>
              <a:rPr lang="en-US" altLang="zh-CN" dirty="0"/>
              <a:t> ()</a:t>
            </a:r>
            <a:r>
              <a:rPr lang="zh-CN" altLang="zh-CN" dirty="0"/>
              <a:t>，括号内改为开发板上模型的绝对路径。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634" y="2876643"/>
            <a:ext cx="6257143" cy="1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3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修改原始代码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除全局变量外，以下参数可以修改：</a:t>
            </a:r>
          </a:p>
          <a:p>
            <a:r>
              <a:rPr lang="zh-CN" altLang="zh-CN" dirty="0"/>
              <a:t>函数</a:t>
            </a:r>
            <a:r>
              <a:rPr lang="en-US" altLang="zh-CN" dirty="0"/>
              <a:t>yolov4_post_process(</a:t>
            </a:r>
            <a:r>
              <a:rPr lang="en-US" altLang="zh-CN" dirty="0" err="1"/>
              <a:t>input_data</a:t>
            </a:r>
            <a:r>
              <a:rPr lang="en-US" altLang="zh-CN" dirty="0"/>
              <a:t>)</a:t>
            </a:r>
            <a:r>
              <a:rPr lang="zh-CN" altLang="zh-CN" dirty="0"/>
              <a:t>中，</a:t>
            </a:r>
            <a:r>
              <a:rPr lang="en-US" altLang="zh-CN" dirty="0" err="1"/>
              <a:t>yolo</a:t>
            </a:r>
            <a:r>
              <a:rPr lang="zh-CN" altLang="zh-CN" dirty="0"/>
              <a:t>预设锚框的值。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015" y="2301408"/>
            <a:ext cx="8952381" cy="3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44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088434041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51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推理模型检测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将修改好的</a:t>
            </a:r>
            <a:r>
              <a:rPr lang="en-US" altLang="zh-CN" dirty="0"/>
              <a:t>yolov4-tiny-fruit.py</a:t>
            </a:r>
            <a:r>
              <a:rPr lang="zh-CN" altLang="zh-CN" dirty="0"/>
              <a:t>文件拷入开发板中，与</a:t>
            </a:r>
            <a:r>
              <a:rPr lang="en-US" altLang="zh-CN" dirty="0" err="1"/>
              <a:t>rknn</a:t>
            </a:r>
            <a:r>
              <a:rPr lang="zh-CN" altLang="zh-CN" dirty="0"/>
              <a:t>模型放置在同一文件夹下。</a:t>
            </a:r>
          </a:p>
          <a:p>
            <a:r>
              <a:rPr lang="zh-CN" altLang="zh-CN" dirty="0"/>
              <a:t>进入开发板界面，点击左上角黑色</a:t>
            </a:r>
            <a:r>
              <a:rPr lang="en-US" altLang="zh-CN" dirty="0"/>
              <a:t>Terminal</a:t>
            </a:r>
            <a:r>
              <a:rPr lang="zh-CN" altLang="zh-CN" dirty="0"/>
              <a:t>打开终端：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824" y="2065470"/>
            <a:ext cx="7238763" cy="40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53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推理模型检测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在终端中输入指令切换至配置好的虚拟环境：</a:t>
            </a:r>
          </a:p>
          <a:p>
            <a:pPr lvl="1"/>
            <a:r>
              <a:rPr lang="en-US" altLang="zh-CN" dirty="0"/>
              <a:t>source </a:t>
            </a:r>
            <a:r>
              <a:rPr lang="en-US" altLang="zh-CN" dirty="0" err="1"/>
              <a:t>venv</a:t>
            </a:r>
            <a:r>
              <a:rPr lang="en-US" altLang="zh-CN" dirty="0"/>
              <a:t>/bin/activate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196" y="2108886"/>
            <a:ext cx="7161578" cy="402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3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推理模型检测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输入指令切换至模型文件存储文件夹下，根据自己的路径修改：</a:t>
            </a:r>
          </a:p>
          <a:p>
            <a:pPr lvl="1"/>
            <a:r>
              <a:rPr lang="en-US" altLang="zh-CN" dirty="0"/>
              <a:t>cd /home/firefly/Desktop/demo      </a:t>
            </a:r>
            <a:r>
              <a:rPr lang="zh-CN" altLang="zh-CN" dirty="0"/>
              <a:t>（修改为你自己的模型文件存储路径）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030" y="2150076"/>
            <a:ext cx="7088352" cy="398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23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推理模型检测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开发板</a:t>
            </a:r>
            <a:r>
              <a:rPr lang="zh-CN" altLang="zh-CN" dirty="0" smtClean="0"/>
              <a:t>连接</a:t>
            </a:r>
            <a:r>
              <a:rPr lang="zh-CN" altLang="zh-CN" dirty="0"/>
              <a:t>摄像头，输入指令运行</a:t>
            </a:r>
            <a:r>
              <a:rPr lang="en-US" altLang="zh-CN" dirty="0"/>
              <a:t>yolov4-tiny-fruit.py</a:t>
            </a:r>
            <a:r>
              <a:rPr lang="zh-CN" altLang="zh-CN" dirty="0"/>
              <a:t>进行模型推理：</a:t>
            </a:r>
          </a:p>
          <a:p>
            <a:pPr lvl="1"/>
            <a:r>
              <a:rPr lang="en-US" altLang="zh-CN" dirty="0"/>
              <a:t>python3 </a:t>
            </a:r>
            <a:r>
              <a:rPr lang="en-US" altLang="zh-CN" dirty="0" smtClean="0"/>
              <a:t>yolov4-tiny-fruit.py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r>
              <a:rPr lang="zh-CN" altLang="zh-CN" dirty="0"/>
              <a:t>出现</a:t>
            </a:r>
            <a:r>
              <a:rPr lang="en-US" altLang="zh-CN" dirty="0"/>
              <a:t>loading model</a:t>
            </a:r>
            <a:r>
              <a:rPr lang="zh-CN" altLang="zh-CN" dirty="0"/>
              <a:t>即为成功，模型的加载需要等待一段时间</a:t>
            </a:r>
            <a:r>
              <a:rPr lang="zh-CN" altLang="zh-CN" dirty="0" smtClean="0"/>
              <a:t>。</a:t>
            </a:r>
            <a:r>
              <a:rPr lang="zh-CN" altLang="zh-CN" dirty="0"/>
              <a:t>按</a:t>
            </a:r>
            <a:r>
              <a:rPr lang="en-US" altLang="zh-CN" dirty="0"/>
              <a:t>“ESC”</a:t>
            </a:r>
            <a:r>
              <a:rPr lang="zh-CN" altLang="zh-CN" dirty="0"/>
              <a:t>中止程序退出检测。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504" y="1919415"/>
            <a:ext cx="6596632" cy="37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7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将摄像头对准检测目标完成检测</a:t>
            </a:r>
            <a:r>
              <a:rPr lang="zh-CN" altLang="zh-CN" dirty="0" smtClean="0"/>
              <a:t>。</a:t>
            </a:r>
            <a:r>
              <a:rPr lang="zh-CN" altLang="zh-CN" dirty="0"/>
              <a:t>画面中不仅会显示目标检测结果，左上角还会显示</a:t>
            </a:r>
            <a:r>
              <a:rPr lang="en-US" altLang="zh-CN" dirty="0"/>
              <a:t>fps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在终端还可以看到输出的各类目标的个数，没有检测目标会输出</a:t>
            </a:r>
            <a:r>
              <a:rPr lang="en-US" altLang="zh-CN" dirty="0"/>
              <a:t>“None”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注：最终检测效果除了与模型有关外，也与摄像头性能有关。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567" y="2096883"/>
            <a:ext cx="639327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0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13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修改</a:t>
            </a:r>
            <a:r>
              <a:rPr lang="en-US" altLang="zh-CN" dirty="0"/>
              <a:t>CLASSES</a:t>
            </a:r>
            <a:r>
              <a:rPr lang="zh-CN" altLang="en-US" dirty="0"/>
              <a:t>时一定要严格按照之前“</a:t>
            </a:r>
            <a:r>
              <a:rPr lang="en-US" altLang="zh-CN" dirty="0"/>
              <a:t>predefined_classes.txt”</a:t>
            </a:r>
            <a:r>
              <a:rPr lang="zh-CN" altLang="en-US" dirty="0"/>
              <a:t>中的顺序填写。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开发</a:t>
            </a:r>
            <a:r>
              <a:rPr lang="zh-CN" altLang="en-US" dirty="0"/>
              <a:t>板无法在目标</a:t>
            </a:r>
            <a:r>
              <a:rPr lang="zh-CN" altLang="en-US"/>
              <a:t>文件夹</a:t>
            </a:r>
            <a:r>
              <a:rPr lang="zh-CN" altLang="en-US" smtClean="0"/>
              <a:t>下右键选择</a:t>
            </a:r>
            <a:r>
              <a:rPr lang="zh-CN" altLang="en-US" dirty="0"/>
              <a:t>“在终端打开”，只能通过</a:t>
            </a:r>
            <a:r>
              <a:rPr lang="en-US" altLang="zh-CN" dirty="0"/>
              <a:t>cd</a:t>
            </a:r>
            <a:r>
              <a:rPr lang="zh-CN" altLang="en-US" dirty="0"/>
              <a:t>指令切换至文件夹，一定要切换至模型文件夹路径。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连接</a:t>
            </a:r>
            <a:r>
              <a:rPr lang="zh-CN" altLang="en-US" dirty="0"/>
              <a:t>摄像头运行文件推理模型后，实时检测没有检测出所有待检测目标，可能是模型的性能问题，可以改小</a:t>
            </a:r>
            <a:r>
              <a:rPr lang="en-US" altLang="zh-CN" dirty="0"/>
              <a:t>OBJ_THRESH</a:t>
            </a:r>
            <a:r>
              <a:rPr lang="zh-CN" altLang="en-US" dirty="0"/>
              <a:t>和</a:t>
            </a:r>
            <a:r>
              <a:rPr lang="en-US" altLang="zh-CN" dirty="0"/>
              <a:t>NMS_THRESH</a:t>
            </a:r>
            <a:r>
              <a:rPr lang="zh-CN" altLang="en-US" dirty="0"/>
              <a:t>的值重新推理观察结果。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195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zh-CN" altLang="en-US" dirty="0" smtClean="0"/>
              <a:t>在嵌入式开发板上推理模型</a:t>
            </a:r>
            <a:endParaRPr lang="en-US" altLang="zh-CN" dirty="0" smtClean="0"/>
          </a:p>
          <a:p>
            <a:r>
              <a:rPr lang="zh-CN" altLang="en-US" smtClean="0"/>
              <a:t>边缘端实现目标检测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93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1194</TotalTime>
  <Words>824</Words>
  <Application>Microsoft Office PowerPoint</Application>
  <PresentationFormat>宽屏</PresentationFormat>
  <Paragraphs>116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嵌入式设备实现目标检测</vt:lpstr>
      <vt:lpstr>课程目标</vt:lpstr>
      <vt:lpstr>PowerPoint 演示文稿</vt:lpstr>
      <vt:lpstr>/01</vt:lpstr>
      <vt:lpstr>实验介绍</vt:lpstr>
      <vt:lpstr>/02</vt:lpstr>
      <vt:lpstr>实验环境</vt:lpstr>
      <vt:lpstr>/03</vt:lpstr>
      <vt:lpstr>实验步骤</vt:lpstr>
      <vt:lpstr>实验流程</vt:lpstr>
      <vt:lpstr>修改原始代码</vt:lpstr>
      <vt:lpstr>修改原始代码</vt:lpstr>
      <vt:lpstr>修改原始代码</vt:lpstr>
      <vt:lpstr>修改原始代码</vt:lpstr>
      <vt:lpstr>修改原始代码</vt:lpstr>
      <vt:lpstr>实验流程</vt:lpstr>
      <vt:lpstr>推理模型检测</vt:lpstr>
      <vt:lpstr>推理模型检测</vt:lpstr>
      <vt:lpstr>推理模型检测</vt:lpstr>
      <vt:lpstr>推理模型检测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32</cp:revision>
  <cp:lastPrinted>2018-09-20T16:00:00Z</cp:lastPrinted>
  <dcterms:created xsi:type="dcterms:W3CDTF">2022-06-27T01:42:48Z</dcterms:created>
  <dcterms:modified xsi:type="dcterms:W3CDTF">2022-12-27T09:37:54Z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